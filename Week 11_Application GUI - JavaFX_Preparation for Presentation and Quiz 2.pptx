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1"/>
  </p:notesMasterIdLst>
  <p:sldIdLst>
    <p:sldId id="2522" r:id="rId3"/>
    <p:sldId id="2443" r:id="rId4"/>
    <p:sldId id="2633" r:id="rId5"/>
    <p:sldId id="2467" r:id="rId6"/>
    <p:sldId id="3241" r:id="rId7"/>
    <p:sldId id="3242" r:id="rId8"/>
    <p:sldId id="3243" r:id="rId9"/>
    <p:sldId id="3244" r:id="rId10"/>
    <p:sldId id="3245" r:id="rId11"/>
    <p:sldId id="3246" r:id="rId12"/>
    <p:sldId id="3247" r:id="rId13"/>
    <p:sldId id="3334" r:id="rId14"/>
    <p:sldId id="3335" r:id="rId15"/>
    <p:sldId id="3177" r:id="rId16"/>
    <p:sldId id="3255" r:id="rId17"/>
    <p:sldId id="3256" r:id="rId18"/>
    <p:sldId id="3257" r:id="rId19"/>
    <p:sldId id="3258" r:id="rId20"/>
    <p:sldId id="3259" r:id="rId21"/>
    <p:sldId id="3260" r:id="rId22"/>
    <p:sldId id="3261" r:id="rId23"/>
    <p:sldId id="3262" r:id="rId24"/>
    <p:sldId id="3263" r:id="rId25"/>
    <p:sldId id="3264" r:id="rId26"/>
    <p:sldId id="3265" r:id="rId27"/>
    <p:sldId id="3266" r:id="rId28"/>
    <p:sldId id="3267" r:id="rId29"/>
    <p:sldId id="3268" r:id="rId30"/>
    <p:sldId id="3269" r:id="rId31"/>
    <p:sldId id="3271" r:id="rId32"/>
    <p:sldId id="3270" r:id="rId33"/>
    <p:sldId id="3278" r:id="rId34"/>
    <p:sldId id="3279" r:id="rId35"/>
    <p:sldId id="3281" r:id="rId36"/>
    <p:sldId id="3276" r:id="rId37"/>
    <p:sldId id="3273" r:id="rId38"/>
    <p:sldId id="3274" r:id="rId39"/>
    <p:sldId id="3275" r:id="rId40"/>
    <p:sldId id="3272" r:id="rId41"/>
    <p:sldId id="3282" r:id="rId42"/>
    <p:sldId id="3283" r:id="rId43"/>
    <p:sldId id="3284" r:id="rId44"/>
    <p:sldId id="3285" r:id="rId45"/>
    <p:sldId id="3287" r:id="rId46"/>
    <p:sldId id="3286" r:id="rId47"/>
    <p:sldId id="3288" r:id="rId48"/>
    <p:sldId id="3277" r:id="rId49"/>
    <p:sldId id="3289" r:id="rId50"/>
    <p:sldId id="3290" r:id="rId51"/>
    <p:sldId id="3292" r:id="rId52"/>
    <p:sldId id="3291" r:id="rId53"/>
    <p:sldId id="3293" r:id="rId54"/>
    <p:sldId id="3294" r:id="rId55"/>
    <p:sldId id="3295" r:id="rId56"/>
    <p:sldId id="3296" r:id="rId57"/>
    <p:sldId id="3297" r:id="rId58"/>
    <p:sldId id="3298" r:id="rId59"/>
    <p:sldId id="3299" r:id="rId60"/>
    <p:sldId id="3301" r:id="rId61"/>
    <p:sldId id="3303" r:id="rId62"/>
    <p:sldId id="3302" r:id="rId63"/>
    <p:sldId id="3304" r:id="rId64"/>
    <p:sldId id="3306" r:id="rId65"/>
    <p:sldId id="3308" r:id="rId66"/>
    <p:sldId id="3307" r:id="rId67"/>
    <p:sldId id="3309" r:id="rId68"/>
    <p:sldId id="3310" r:id="rId69"/>
    <p:sldId id="3311" r:id="rId70"/>
    <p:sldId id="3312" r:id="rId71"/>
    <p:sldId id="3313" r:id="rId72"/>
    <p:sldId id="3314" r:id="rId73"/>
    <p:sldId id="3315" r:id="rId74"/>
    <p:sldId id="3316" r:id="rId75"/>
    <p:sldId id="3317" r:id="rId76"/>
    <p:sldId id="3318" r:id="rId77"/>
    <p:sldId id="3323" r:id="rId78"/>
    <p:sldId id="3324" r:id="rId79"/>
    <p:sldId id="3325" r:id="rId80"/>
    <p:sldId id="3326" r:id="rId81"/>
    <p:sldId id="3327" r:id="rId82"/>
    <p:sldId id="3328" r:id="rId83"/>
    <p:sldId id="3329" r:id="rId84"/>
    <p:sldId id="3330" r:id="rId85"/>
    <p:sldId id="3331" r:id="rId86"/>
    <p:sldId id="3332" r:id="rId87"/>
    <p:sldId id="3305" r:id="rId88"/>
    <p:sldId id="3320" r:id="rId89"/>
    <p:sldId id="3321" r:id="rId90"/>
    <p:sldId id="3322" r:id="rId91"/>
    <p:sldId id="3333" r:id="rId92"/>
    <p:sldId id="3047" r:id="rId93"/>
    <p:sldId id="3248" r:id="rId94"/>
    <p:sldId id="3249" r:id="rId95"/>
    <p:sldId id="3250" r:id="rId96"/>
    <p:sldId id="3251" r:id="rId97"/>
    <p:sldId id="3252" r:id="rId98"/>
    <p:sldId id="3253" r:id="rId99"/>
    <p:sldId id="749" r:id="rId10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954" y="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14/10/2026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14/10/2026</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14/10/2026</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14/10/2026</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14/10/2026</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68.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908454" y="1360481"/>
            <a:ext cx="4605340" cy="2387600"/>
          </a:xfrm>
        </p:spPr>
        <p:txBody>
          <a:bodyPr>
            <a:normAutofit/>
          </a:bodyPr>
          <a:lstStyle/>
          <a:p>
            <a:pPr algn="l"/>
            <a:r>
              <a:rPr lang="en-US" sz="3900" dirty="0">
                <a:solidFill>
                  <a:schemeClr val="bg1"/>
                </a:solidFill>
                <a:latin typeface="Calibir"/>
              </a:rPr>
              <a:t>32555 – Fundamentals of Software Development</a:t>
            </a:r>
            <a:endParaRPr lang="en-AU" sz="3900" dirty="0">
              <a:solidFill>
                <a:schemeClr val="bg1"/>
              </a:solidFill>
              <a:latin typeface="Calibir"/>
            </a:endParaRPr>
          </a:p>
        </p:txBody>
      </p:sp>
      <p:pic>
        <p:nvPicPr>
          <p:cNvPr id="3" name="Picture 2">
            <a:extLst>
              <a:ext uri="{FF2B5EF4-FFF2-40B4-BE49-F238E27FC236}">
                <a16:creationId xmlns:a16="http://schemas.microsoft.com/office/drawing/2014/main" id="{A98A4EEB-3C3C-78E4-5144-CBDE3AFA8CA8}"/>
              </a:ext>
            </a:extLst>
          </p:cNvPr>
          <p:cNvPicPr>
            <a:picLocks noChangeAspect="1"/>
          </p:cNvPicPr>
          <p:nvPr/>
        </p:nvPicPr>
        <p:blipFill>
          <a:blip r:embed="rId2">
            <a:alphaModFix/>
            <a:extLst>
              <a:ext uri="{28A0092B-C50C-407E-A947-70E740481C1C}">
                <a14:useLocalDpi xmlns:a14="http://schemas.microsoft.com/office/drawing/2010/main" val="0"/>
              </a:ext>
            </a:extLst>
          </a:blip>
          <a:srcRect l="3847" r="98" b="1"/>
          <a:stretch>
            <a:fillRect/>
          </a:stretch>
        </p:blipFill>
        <p:spPr>
          <a:xfrm>
            <a:off x="5800734" y="1057275"/>
            <a:ext cx="5917401" cy="4743450"/>
          </a:xfrm>
          <a:prstGeom prst="rect">
            <a:avLst/>
          </a:prstGeom>
        </p:spPr>
      </p:pic>
      <p:sp>
        <p:nvSpPr>
          <p:cNvPr id="22" name="Rectangle 21">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485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7A11-47AE-C133-8206-569A0BB07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E1848-8E74-13DF-C09C-3CC64A483572}"/>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sp>
        <p:nvSpPr>
          <p:cNvPr id="5" name="Rectangle 1">
            <a:extLst>
              <a:ext uri="{FF2B5EF4-FFF2-40B4-BE49-F238E27FC236}">
                <a16:creationId xmlns:a16="http://schemas.microsoft.com/office/drawing/2014/main" id="{F5185FC6-5CEA-DC1B-A1DF-D2D8A89484E9}"/>
              </a:ext>
            </a:extLst>
          </p:cNvPr>
          <p:cNvSpPr>
            <a:spLocks noChangeArrowheads="1"/>
          </p:cNvSpPr>
          <p:nvPr/>
        </p:nvSpPr>
        <p:spPr bwMode="auto">
          <a:xfrm>
            <a:off x="0" y="837669"/>
            <a:ext cx="12192000" cy="596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ir"/>
                <a:ea typeface="+mn-ea"/>
                <a:cs typeface="+mn-cs"/>
              </a:rPr>
              <a:t>Your Teaching Team:</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ir"/>
                <a:ea typeface="+mn-ea"/>
                <a:cs typeface="+mn-cs"/>
              </a:rPr>
              <a:t>Dr. Yining Hu | Subject Coordinator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Yining is a Lecturer in Software Engineering. She works with many SMEs to develop software and AI solutions through student and research projects at UTS.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yining.hu@uts.edu.au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Xiaojie (Zoe) Lin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Zoe is a full-stack software engineer with an interest in data analysis, specializing in JAVA, R, Python, JavaScript, PHP, Bash, and MATLAB; familiar with AWS.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Xiaojie.Lin@uts.edu.au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Farshid Keivanian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Dr. Farshid Keivanian is an experienced university lecturer and researcher with a PhD in Information Technology. He has over 15 years of teaching experience across Australian institutions, </a:t>
            </a:r>
            <a:r>
              <a:rPr kumimoji="0" lang="en-US" sz="1600" b="0" i="0" u="none" strike="noStrike" kern="1200" cap="none" spc="0" normalizeH="0" baseline="0" noProof="0" dirty="0" err="1">
                <a:ln>
                  <a:noFill/>
                </a:ln>
                <a:solidFill>
                  <a:prstClr val="black"/>
                </a:solidFill>
                <a:effectLst/>
                <a:uLnTx/>
                <a:uFillTx/>
                <a:latin typeface="Calibir"/>
                <a:ea typeface="+mn-ea"/>
                <a:cs typeface="+mn-cs"/>
              </a:rPr>
              <a:t>specialising</a:t>
            </a:r>
            <a:r>
              <a:rPr kumimoji="0" lang="en-US" sz="1600" b="0" i="0" u="none" strike="noStrike" kern="1200" cap="none" spc="0" normalizeH="0" baseline="0" noProof="0" dirty="0">
                <a:ln>
                  <a:noFill/>
                </a:ln>
                <a:solidFill>
                  <a:prstClr val="black"/>
                </a:solidFill>
                <a:effectLst/>
                <a:uLnTx/>
                <a:uFillTx/>
                <a:latin typeface="Calibir"/>
                <a:ea typeface="+mn-ea"/>
                <a:cs typeface="+mn-cs"/>
              </a:rPr>
              <a:t> in software engineering, data science, AI, and cybersecurity.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Farshid.Keivanian@uts.edu.au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Yong Pov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Yong is a full-stack software engineer with experience in React, JavaScript, TypeScript, Java, Python, SQL, and AI-assisted learning platforms.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Yong.Pov@uts.edu.au</a:t>
            </a:r>
          </a:p>
        </p:txBody>
      </p:sp>
    </p:spTree>
    <p:extLst>
      <p:ext uri="{BB962C8B-B14F-4D97-AF65-F5344CB8AC3E}">
        <p14:creationId xmlns:p14="http://schemas.microsoft.com/office/powerpoint/2010/main" val="79433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6DC6-424A-EAE3-87C1-E5765B094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5FDA-B4C2-6DD5-17BE-680D628581FF}"/>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graphicFrame>
        <p:nvGraphicFramePr>
          <p:cNvPr id="3" name="Table 2">
            <a:extLst>
              <a:ext uri="{FF2B5EF4-FFF2-40B4-BE49-F238E27FC236}">
                <a16:creationId xmlns:a16="http://schemas.microsoft.com/office/drawing/2014/main" id="{EE98AB95-B27E-184F-3760-418B8D55B79F}"/>
              </a:ext>
            </a:extLst>
          </p:cNvPr>
          <p:cNvGraphicFramePr>
            <a:graphicFrameLocks noGrp="1"/>
          </p:cNvGraphicFramePr>
          <p:nvPr/>
        </p:nvGraphicFramePr>
        <p:xfrm>
          <a:off x="722671" y="1816610"/>
          <a:ext cx="9792928" cy="3681218"/>
        </p:xfrm>
        <a:graphic>
          <a:graphicData uri="http://schemas.openxmlformats.org/drawingml/2006/table">
            <a:tbl>
              <a:tblPr>
                <a:tableStyleId>{BC89EF96-8CEA-46FF-86C4-4CE0E7609802}</a:tableStyleId>
              </a:tblPr>
              <a:tblGrid>
                <a:gridCol w="1613329">
                  <a:extLst>
                    <a:ext uri="{9D8B030D-6E8A-4147-A177-3AD203B41FA5}">
                      <a16:colId xmlns:a16="http://schemas.microsoft.com/office/drawing/2014/main" val="79494275"/>
                    </a:ext>
                  </a:extLst>
                </a:gridCol>
                <a:gridCol w="2230244">
                  <a:extLst>
                    <a:ext uri="{9D8B030D-6E8A-4147-A177-3AD203B41FA5}">
                      <a16:colId xmlns:a16="http://schemas.microsoft.com/office/drawing/2014/main" val="2506284612"/>
                    </a:ext>
                  </a:extLst>
                </a:gridCol>
                <a:gridCol w="2864347">
                  <a:extLst>
                    <a:ext uri="{9D8B030D-6E8A-4147-A177-3AD203B41FA5}">
                      <a16:colId xmlns:a16="http://schemas.microsoft.com/office/drawing/2014/main" val="2357989121"/>
                    </a:ext>
                  </a:extLst>
                </a:gridCol>
                <a:gridCol w="3085008">
                  <a:extLst>
                    <a:ext uri="{9D8B030D-6E8A-4147-A177-3AD203B41FA5}">
                      <a16:colId xmlns:a16="http://schemas.microsoft.com/office/drawing/2014/main" val="192731506"/>
                    </a:ext>
                  </a:extLst>
                </a:gridCol>
              </a:tblGrid>
              <a:tr h="37063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Cmp1 #</a:t>
                      </a:r>
                      <a:endParaRPr lang="en-US" sz="2800" b="0" i="0" dirty="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Location</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Time</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Tutor</a:t>
                      </a:r>
                      <a:endParaRPr lang="en-US" sz="2800" b="0" i="0">
                        <a:solidFill>
                          <a:srgbClr val="252B2B"/>
                        </a:solidFill>
                        <a:effectLst/>
                        <a:latin typeface="Calibir"/>
                      </a:endParaRPr>
                    </a:p>
                  </a:txBody>
                  <a:tcPr anchor="ctr"/>
                </a:tc>
                <a:extLst>
                  <a:ext uri="{0D108BD9-81ED-4DB2-BD59-A6C34878D82A}">
                    <a16:rowId xmlns:a16="http://schemas.microsoft.com/office/drawing/2014/main" val="4280461216"/>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01</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16:00-18:00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Xiaojie (Zoe) Lin</a:t>
                      </a:r>
                      <a:endParaRPr lang="en-US" sz="2800" b="0" i="0">
                        <a:solidFill>
                          <a:srgbClr val="252B2B"/>
                        </a:solidFill>
                        <a:effectLst/>
                        <a:latin typeface="Calibir"/>
                      </a:endParaRPr>
                    </a:p>
                  </a:txBody>
                  <a:tcPr marL="14630" marR="14630" marT="14630" marB="14630" anchor="ctr"/>
                </a:tc>
                <a:extLst>
                  <a:ext uri="{0D108BD9-81ED-4DB2-BD59-A6C34878D82A}">
                    <a16:rowId xmlns:a16="http://schemas.microsoft.com/office/drawing/2014/main" val="3707997205"/>
                  </a:ext>
                </a:extLst>
              </a:tr>
              <a:tr h="38526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07</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10:00-12:00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2266278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08</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12:00-14:00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Yong Pov</a:t>
                      </a:r>
                      <a:endParaRPr lang="en-US" sz="2800" b="0" i="0" dirty="0">
                        <a:solidFill>
                          <a:srgbClr val="252B2B"/>
                        </a:solidFill>
                        <a:effectLst/>
                        <a:latin typeface="Calibir"/>
                      </a:endParaRPr>
                    </a:p>
                  </a:txBody>
                  <a:tcPr marL="14630" marR="14630" marT="14630" marB="14630" anchor="ctr"/>
                </a:tc>
                <a:extLst>
                  <a:ext uri="{0D108BD9-81ED-4DB2-BD59-A6C34878D82A}">
                    <a16:rowId xmlns:a16="http://schemas.microsoft.com/office/drawing/2014/main" val="13359214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09</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CB11.B1.103</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16:00-18:00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4247187035"/>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10</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12:00-14:00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1381140912"/>
                  </a:ext>
                </a:extLst>
              </a:tr>
            </a:tbl>
          </a:graphicData>
        </a:graphic>
      </p:graphicFrame>
    </p:spTree>
    <p:extLst>
      <p:ext uri="{BB962C8B-B14F-4D97-AF65-F5344CB8AC3E}">
        <p14:creationId xmlns:p14="http://schemas.microsoft.com/office/powerpoint/2010/main" val="158468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11 Outline</a:t>
            </a:r>
            <a:endParaRPr lang="en-AU" sz="4000" b="1" dirty="0">
              <a:latin typeface="Calibir"/>
            </a:endParaRPr>
          </a:p>
        </p:txBody>
      </p:sp>
      <p:sp>
        <p:nvSpPr>
          <p:cNvPr id="4" name="TextBox 3">
            <a:extLst>
              <a:ext uri="{FF2B5EF4-FFF2-40B4-BE49-F238E27FC236}">
                <a16:creationId xmlns:a16="http://schemas.microsoft.com/office/drawing/2014/main" id="{8F27E07D-3152-877C-5DB6-99289A67CE5B}"/>
              </a:ext>
            </a:extLst>
          </p:cNvPr>
          <p:cNvSpPr txBox="1"/>
          <p:nvPr/>
        </p:nvSpPr>
        <p:spPr>
          <a:xfrm>
            <a:off x="-1" y="1387367"/>
            <a:ext cx="12191999" cy="2610843"/>
          </a:xfrm>
          <a:prstGeom prst="rect">
            <a:avLst/>
          </a:prstGeom>
          <a:noFill/>
        </p:spPr>
        <p:txBody>
          <a:bodyPr wrap="square">
            <a:spAutoFit/>
          </a:bodyPr>
          <a:lstStyle/>
          <a:p>
            <a:pPr marL="514350" indent="-514350">
              <a:lnSpc>
                <a:spcPct val="150000"/>
              </a:lnSpc>
              <a:buFont typeface="+mj-lt"/>
              <a:buAutoNum type="arabicPeriod"/>
            </a:pPr>
            <a:r>
              <a:rPr lang="en-US" sz="2800" kern="100">
                <a:latin typeface="Calibir"/>
                <a:ea typeface="Aptos" panose="020B0004020202020204" pitchFamily="34" charset="0"/>
                <a:cs typeface="Arial" panose="020B0604020202020204" pitchFamily="34" charset="0"/>
              </a:rPr>
              <a:t>Question and Answer about Presentation (Showcase Part)</a:t>
            </a:r>
          </a:p>
          <a:p>
            <a:pPr marL="514350" lvl="0" indent="-514350" rtl="0">
              <a:lnSpc>
                <a:spcPct val="150000"/>
              </a:lnSpc>
              <a:buFont typeface="+mj-lt"/>
              <a:buAutoNum type="arabicPeriod"/>
            </a:pPr>
            <a:r>
              <a:rPr lang="en-US" sz="2800" kern="100">
                <a:effectLst/>
                <a:latin typeface="Calibir"/>
                <a:ea typeface="Aptos" panose="020B0004020202020204" pitchFamily="34" charset="0"/>
                <a:cs typeface="Arial" panose="020B0604020202020204" pitchFamily="34" charset="0"/>
              </a:rPr>
              <a:t>Introduction </a:t>
            </a:r>
            <a:r>
              <a:rPr lang="en-US" sz="2800" kern="100" dirty="0">
                <a:effectLst/>
                <a:latin typeface="Calibir"/>
                <a:ea typeface="Aptos" panose="020B0004020202020204" pitchFamily="34" charset="0"/>
                <a:cs typeface="Arial" panose="020B0604020202020204" pitchFamily="34" charset="0"/>
              </a:rPr>
              <a:t>to JavaFX</a:t>
            </a:r>
          </a:p>
          <a:p>
            <a:pPr marL="514350" lvl="0" indent="-514350">
              <a:lnSpc>
                <a:spcPct val="150000"/>
              </a:lnSpc>
              <a:buFont typeface="+mj-lt"/>
              <a:buAutoNum type="arabicPeriod"/>
            </a:pPr>
            <a:r>
              <a:rPr lang="en-US" sz="2800" kern="100" dirty="0">
                <a:effectLst/>
                <a:latin typeface="Calibir"/>
                <a:ea typeface="Aptos" panose="020B0004020202020204" pitchFamily="34" charset="0"/>
                <a:cs typeface="Arial" panose="020B0604020202020204" pitchFamily="34" charset="0"/>
              </a:rPr>
              <a:t>Creating Your First JavaFX Window and Handling Common Errors</a:t>
            </a:r>
          </a:p>
          <a:p>
            <a:pPr marL="514350" lvl="0" indent="-514350">
              <a:lnSpc>
                <a:spcPct val="150000"/>
              </a:lnSpc>
              <a:spcAft>
                <a:spcPts val="800"/>
              </a:spcAft>
              <a:buFont typeface="+mj-lt"/>
              <a:buAutoNum type="arabicPeriod"/>
            </a:pPr>
            <a:r>
              <a:rPr lang="en-US" sz="2800" kern="100" dirty="0">
                <a:effectLst/>
                <a:latin typeface="Calibir"/>
                <a:ea typeface="Aptos" panose="020B0004020202020204" pitchFamily="34" charset="0"/>
                <a:cs typeface="Arial" panose="020B0604020202020204" pitchFamily="34" charset="0"/>
              </a:rPr>
              <a:t>MQs designed in Week 11 (JavaFX)</a:t>
            </a:r>
          </a:p>
        </p:txBody>
      </p:sp>
    </p:spTree>
    <p:extLst>
      <p:ext uri="{BB962C8B-B14F-4D97-AF65-F5344CB8AC3E}">
        <p14:creationId xmlns:p14="http://schemas.microsoft.com/office/powerpoint/2010/main" val="3000910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E0976-5D2F-5BCD-D2CF-0ED72F5D9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0D50A-D55B-1C88-0E26-2D68A4D56BA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9E049CD0-8BA9-9FAF-DDEE-115247E1D41B}"/>
              </a:ext>
            </a:extLst>
          </p:cNvPr>
          <p:cNvSpPr txBox="1"/>
          <p:nvPr/>
        </p:nvSpPr>
        <p:spPr>
          <a:xfrm>
            <a:off x="0" y="525647"/>
            <a:ext cx="11971282" cy="6488828"/>
          </a:xfrm>
          <a:prstGeom prst="rect">
            <a:avLst/>
          </a:prstGeom>
          <a:noFill/>
        </p:spPr>
        <p:txBody>
          <a:bodyPr wrap="square">
            <a:spAutoFit/>
          </a:bodyPr>
          <a:lstStyle/>
          <a:p>
            <a:pPr>
              <a:lnSpc>
                <a:spcPct val="150000"/>
              </a:lnSpc>
            </a:pPr>
            <a:r>
              <a:rPr lang="en-US" sz="2800" dirty="0">
                <a:latin typeface="Calibir"/>
              </a:rPr>
              <a:t>Presentation Guidelines</a:t>
            </a:r>
          </a:p>
          <a:p>
            <a:pPr>
              <a:lnSpc>
                <a:spcPct val="150000"/>
              </a:lnSpc>
            </a:pPr>
            <a:r>
              <a:rPr lang="en-US" sz="2800" dirty="0">
                <a:latin typeface="Calibir"/>
              </a:rPr>
              <a:t>Each group will have 15 minutes in total (including Q&amp;A). Within this time, please ensure the following:</a:t>
            </a:r>
          </a:p>
          <a:p>
            <a:pPr marL="714375" indent="-457200">
              <a:lnSpc>
                <a:spcPct val="150000"/>
              </a:lnSpc>
              <a:buFont typeface="Arial" panose="020B0604020202020204" pitchFamily="34" charset="0"/>
              <a:buChar char="•"/>
            </a:pPr>
            <a:r>
              <a:rPr lang="en-US" sz="2800" dirty="0">
                <a:latin typeface="Calibir"/>
              </a:rPr>
              <a:t>Present the working software (CLI and/or GUI) live.</a:t>
            </a:r>
          </a:p>
          <a:p>
            <a:pPr marL="714375" indent="-457200">
              <a:lnSpc>
                <a:spcPct val="150000"/>
              </a:lnSpc>
              <a:buFont typeface="Arial" panose="020B0604020202020204" pitchFamily="34" charset="0"/>
              <a:buChar char="•"/>
            </a:pPr>
            <a:r>
              <a:rPr lang="en-US" sz="2800" dirty="0">
                <a:latin typeface="Calibir"/>
              </a:rPr>
              <a:t>Each member should explain their own code contribution (around 2–3 minutes each).</a:t>
            </a:r>
          </a:p>
          <a:p>
            <a:pPr marL="714375" indent="-457200">
              <a:lnSpc>
                <a:spcPct val="150000"/>
              </a:lnSpc>
              <a:buFont typeface="Arial" panose="020B0604020202020204" pitchFamily="34" charset="0"/>
              <a:buChar char="•"/>
            </a:pPr>
            <a:r>
              <a:rPr lang="en-US" sz="2800" dirty="0">
                <a:latin typeface="Calibir"/>
              </a:rPr>
              <a:t>Demonstrate all key functionalities (register/login, </a:t>
            </a:r>
            <a:r>
              <a:rPr lang="en-US" sz="2800" dirty="0" err="1">
                <a:latin typeface="Calibir"/>
              </a:rPr>
              <a:t>enrol</a:t>
            </a:r>
            <a:r>
              <a:rPr lang="en-US" sz="2800" dirty="0">
                <a:latin typeface="Calibir"/>
              </a:rPr>
              <a:t>/remove subjects, file operations, admin features, etc.).</a:t>
            </a:r>
          </a:p>
          <a:p>
            <a:pPr marL="714375" indent="-457200">
              <a:lnSpc>
                <a:spcPct val="150000"/>
              </a:lnSpc>
              <a:buFont typeface="Arial" panose="020B0604020202020204" pitchFamily="34" charset="0"/>
              <a:buChar char="•"/>
            </a:pPr>
            <a:r>
              <a:rPr lang="en-US" sz="2800" dirty="0">
                <a:latin typeface="Calibir"/>
              </a:rPr>
              <a:t>Be prepared for a brief Q&amp;A at the end — I’ll ask 1–2 short questions to confirm understanding and contribution.</a:t>
            </a:r>
          </a:p>
        </p:txBody>
      </p:sp>
    </p:spTree>
    <p:extLst>
      <p:ext uri="{BB962C8B-B14F-4D97-AF65-F5344CB8AC3E}">
        <p14:creationId xmlns:p14="http://schemas.microsoft.com/office/powerpoint/2010/main" val="4179996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434C8-B3C8-8874-35F7-9C5FFCC8C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F4D9C8-2159-EC46-24C8-FA133F154CD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5E4BC9A7-F66F-C6AD-5C22-389996D3B968}"/>
              </a:ext>
            </a:extLst>
          </p:cNvPr>
          <p:cNvSpPr txBox="1"/>
          <p:nvPr/>
        </p:nvSpPr>
        <p:spPr>
          <a:xfrm>
            <a:off x="0" y="1072057"/>
            <a:ext cx="11971282" cy="3257174"/>
          </a:xfrm>
          <a:prstGeom prst="rect">
            <a:avLst/>
          </a:prstGeom>
          <a:noFill/>
        </p:spPr>
        <p:txBody>
          <a:bodyPr wrap="square">
            <a:spAutoFit/>
          </a:bodyPr>
          <a:lstStyle/>
          <a:p>
            <a:pPr>
              <a:lnSpc>
                <a:spcPct val="150000"/>
              </a:lnSpc>
            </a:pPr>
            <a:r>
              <a:rPr lang="en-US" sz="2800" dirty="0">
                <a:latin typeface="Calibir"/>
              </a:rPr>
              <a:t>Please select your preferred online presentation timeslot between 5:15 PM and 7:15 PM (Tuesday, 28</a:t>
            </a:r>
            <a:r>
              <a:rPr lang="en-US" sz="2800" baseline="30000" dirty="0">
                <a:latin typeface="Calibir"/>
              </a:rPr>
              <a:t>th</a:t>
            </a:r>
            <a:r>
              <a:rPr lang="en-US" sz="2800" dirty="0">
                <a:latin typeface="Calibir"/>
              </a:rPr>
              <a:t> Oct), and I’ll confirm it in the schedule.</a:t>
            </a:r>
          </a:p>
          <a:p>
            <a:pPr>
              <a:lnSpc>
                <a:spcPct val="150000"/>
              </a:lnSpc>
            </a:pPr>
            <a:r>
              <a:rPr lang="en-US" sz="2800" dirty="0">
                <a:latin typeface="Calibir"/>
              </a:rPr>
              <a:t>Kind regards,</a:t>
            </a:r>
            <a:br>
              <a:rPr lang="en-US" sz="2800" dirty="0">
                <a:latin typeface="Calibir"/>
              </a:rPr>
            </a:br>
            <a:r>
              <a:rPr lang="en-US" sz="2800" dirty="0">
                <a:latin typeface="Calibir"/>
              </a:rPr>
              <a:t>Farshid Keivanian</a:t>
            </a:r>
            <a:br>
              <a:rPr lang="en-US" sz="2800" dirty="0">
                <a:latin typeface="Calibir"/>
              </a:rPr>
            </a:br>
            <a:r>
              <a:rPr lang="en-US" sz="2800" dirty="0">
                <a:latin typeface="Calibir"/>
              </a:rPr>
              <a:t>Fundamentals of Software Development</a:t>
            </a:r>
          </a:p>
        </p:txBody>
      </p:sp>
    </p:spTree>
    <p:extLst>
      <p:ext uri="{BB962C8B-B14F-4D97-AF65-F5344CB8AC3E}">
        <p14:creationId xmlns:p14="http://schemas.microsoft.com/office/powerpoint/2010/main" val="3526208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A15E7-3094-AF9F-6BA6-795962770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2AF28-E77B-0E06-C1E3-ED143F80D02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2AC587E1-4D72-ED65-A1BA-2F9473A8A416}"/>
              </a:ext>
            </a:extLst>
          </p:cNvPr>
          <p:cNvSpPr txBox="1"/>
          <p:nvPr/>
        </p:nvSpPr>
        <p:spPr>
          <a:xfrm>
            <a:off x="0" y="756745"/>
            <a:ext cx="11971282" cy="5626027"/>
          </a:xfrm>
          <a:prstGeom prst="rect">
            <a:avLst/>
          </a:prstGeom>
          <a:noFill/>
        </p:spPr>
        <p:txBody>
          <a:bodyPr wrap="square">
            <a:spAutoFit/>
          </a:bodyPr>
          <a:lstStyle/>
          <a:p>
            <a:pPr fontAlgn="base">
              <a:lnSpc>
                <a:spcPct val="150000"/>
              </a:lnSpc>
            </a:pPr>
            <a:r>
              <a:rPr lang="en-US" sz="2200" dirty="0">
                <a:latin typeface="Calibir"/>
              </a:rPr>
              <a:t>Dear Prof. Farshid,</a:t>
            </a:r>
          </a:p>
          <a:p>
            <a:pPr fontAlgn="base">
              <a:lnSpc>
                <a:spcPct val="150000"/>
              </a:lnSpc>
            </a:pPr>
            <a:r>
              <a:rPr lang="en-US" sz="2200" dirty="0">
                <a:latin typeface="Calibir"/>
              </a:rPr>
              <a:t>I hope you’re doing great. I wanted to follow up regarding the remote quiz and also clarify what exactly needs to be covered in the video for our presentation particularly the questions or sections I need to answer.</a:t>
            </a:r>
          </a:p>
          <a:p>
            <a:pPr fontAlgn="base">
              <a:lnSpc>
                <a:spcPct val="150000"/>
              </a:lnSpc>
            </a:pPr>
            <a:r>
              <a:rPr lang="en-US" sz="2200" dirty="0">
                <a:latin typeface="Calibir"/>
              </a:rPr>
              <a:t>As I mentioned earlier, I’m flying back due to some unavoidable professional work related to my startup(on 7th Oct, FSD lab 4:00 PM - 6:00 PM). I’ll make sure to stay updated with the class and complete all required components remotely. As per our last discussion and last mail that you’ll be sharing the code with me on the day for the remote quiz just wanted to confirm if there’s anything specific I should prepare for that.</a:t>
            </a:r>
          </a:p>
          <a:p>
            <a:pPr fontAlgn="base">
              <a:lnSpc>
                <a:spcPct val="150000"/>
              </a:lnSpc>
            </a:pPr>
            <a:r>
              <a:rPr lang="en-US" sz="2200" dirty="0">
                <a:latin typeface="Calibir"/>
              </a:rPr>
              <a:t>Thank you so much for your understanding and support.</a:t>
            </a:r>
          </a:p>
          <a:p>
            <a:pPr fontAlgn="base">
              <a:lnSpc>
                <a:spcPct val="150000"/>
              </a:lnSpc>
            </a:pPr>
            <a:r>
              <a:rPr lang="en-US" sz="2200" dirty="0">
                <a:latin typeface="Calibir"/>
              </a:rPr>
              <a:t>Best regards</a:t>
            </a:r>
          </a:p>
        </p:txBody>
      </p:sp>
    </p:spTree>
    <p:extLst>
      <p:ext uri="{BB962C8B-B14F-4D97-AF65-F5344CB8AC3E}">
        <p14:creationId xmlns:p14="http://schemas.microsoft.com/office/powerpoint/2010/main" val="2191589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69836-EF0A-05CE-AC1D-09713AFDE7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42C96-A684-2A08-0ED6-06D40ED4CE7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CFA93F1E-DE14-E03C-3DC1-59372B13DB8E}"/>
              </a:ext>
            </a:extLst>
          </p:cNvPr>
          <p:cNvSpPr txBox="1"/>
          <p:nvPr/>
        </p:nvSpPr>
        <p:spPr>
          <a:xfrm>
            <a:off x="0" y="756745"/>
            <a:ext cx="11971282" cy="3359061"/>
          </a:xfrm>
          <a:prstGeom prst="rect">
            <a:avLst/>
          </a:prstGeom>
          <a:noFill/>
        </p:spPr>
        <p:txBody>
          <a:bodyPr wrap="square">
            <a:spAutoFit/>
          </a:bodyPr>
          <a:lstStyle/>
          <a:p>
            <a:pPr>
              <a:lnSpc>
                <a:spcPct val="150000"/>
              </a:lnSpc>
            </a:pPr>
            <a:r>
              <a:rPr lang="en-US" sz="2400" dirty="0">
                <a:latin typeface="Calibir"/>
              </a:rPr>
              <a:t>Dear Pranav,</a:t>
            </a:r>
          </a:p>
          <a:p>
            <a:pPr>
              <a:lnSpc>
                <a:spcPct val="150000"/>
              </a:lnSpc>
            </a:pPr>
            <a:r>
              <a:rPr lang="en-US" sz="2400" dirty="0">
                <a:latin typeface="Calibir"/>
              </a:rPr>
              <a:t>Thanks for the update, and noted on your travel for the startup work.</a:t>
            </a:r>
          </a:p>
          <a:p>
            <a:pPr>
              <a:lnSpc>
                <a:spcPct val="150000"/>
              </a:lnSpc>
            </a:pPr>
            <a:r>
              <a:rPr lang="en-US" sz="2400" dirty="0">
                <a:latin typeface="Calibir"/>
              </a:rPr>
              <a:t>I will include the quiz code in the Week 12 slides, and I’ll also share a Microsoft Teams link with you to join for your showcase presentation.</a:t>
            </a:r>
          </a:p>
          <a:p>
            <a:pPr>
              <a:lnSpc>
                <a:spcPct val="150000"/>
              </a:lnSpc>
            </a:pPr>
            <a:r>
              <a:rPr lang="en-US" sz="2400" dirty="0">
                <a:latin typeface="Calibir"/>
              </a:rPr>
              <a:t>Please send me an email (and cc your group members if applicable) to confirm which week you plan to present — Week 12 or Week 13.</a:t>
            </a:r>
          </a:p>
        </p:txBody>
      </p:sp>
    </p:spTree>
    <p:extLst>
      <p:ext uri="{BB962C8B-B14F-4D97-AF65-F5344CB8AC3E}">
        <p14:creationId xmlns:p14="http://schemas.microsoft.com/office/powerpoint/2010/main" val="2100953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BE71B-A5F9-B345-5BBE-E0F20DA430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498E7-BF9A-8B35-5513-519FEE8CBBC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C88CB264-3BAD-FCED-92A8-ADB606B2FA51}"/>
              </a:ext>
            </a:extLst>
          </p:cNvPr>
          <p:cNvSpPr txBox="1"/>
          <p:nvPr/>
        </p:nvSpPr>
        <p:spPr>
          <a:xfrm>
            <a:off x="0" y="756745"/>
            <a:ext cx="11971282" cy="6129050"/>
          </a:xfrm>
          <a:prstGeom prst="rect">
            <a:avLst/>
          </a:prstGeom>
          <a:noFill/>
        </p:spPr>
        <p:txBody>
          <a:bodyPr wrap="square">
            <a:spAutoFit/>
          </a:bodyPr>
          <a:lstStyle/>
          <a:p>
            <a:pPr>
              <a:lnSpc>
                <a:spcPct val="150000"/>
              </a:lnSpc>
            </a:pPr>
            <a:r>
              <a:rPr lang="en-US" sz="2400" dirty="0">
                <a:latin typeface="Calibir"/>
              </a:rPr>
              <a:t>What to Cover for Solo Presentation</a:t>
            </a:r>
          </a:p>
          <a:p>
            <a:pPr>
              <a:lnSpc>
                <a:spcPct val="150000"/>
              </a:lnSpc>
            </a:pPr>
            <a:r>
              <a:rPr lang="en-US" sz="2400" dirty="0">
                <a:latin typeface="Calibir"/>
              </a:rPr>
              <a:t>Each student completing the showcase individually should include the following in their video or live demo:</a:t>
            </a:r>
          </a:p>
          <a:p>
            <a:pPr marL="342900" indent="-342900">
              <a:lnSpc>
                <a:spcPct val="150000"/>
              </a:lnSpc>
              <a:buFont typeface="Arial" panose="020B0604020202020204" pitchFamily="34" charset="0"/>
              <a:buChar char="•"/>
            </a:pPr>
            <a:r>
              <a:rPr lang="en-US" sz="2400" dirty="0">
                <a:latin typeface="Calibir"/>
              </a:rPr>
              <a:t>Intro (10–15s): Your name, student ID, group number, and your role(s).</a:t>
            </a:r>
          </a:p>
          <a:p>
            <a:pPr marL="342900" indent="-342900">
              <a:lnSpc>
                <a:spcPct val="150000"/>
              </a:lnSpc>
              <a:buFont typeface="Arial" panose="020B0604020202020204" pitchFamily="34" charset="0"/>
              <a:buChar char="•"/>
            </a:pPr>
            <a:r>
              <a:rPr lang="en-US" sz="2400" dirty="0">
                <a:latin typeface="Calibir"/>
              </a:rPr>
              <a:t>Live demo (2–3 min): Show the running app (CLI and/or GUI) performing key tasks you worked on.</a:t>
            </a:r>
          </a:p>
          <a:p>
            <a:pPr marL="342900" indent="-342900">
              <a:lnSpc>
                <a:spcPct val="150000"/>
              </a:lnSpc>
              <a:buFont typeface="Arial" panose="020B0604020202020204" pitchFamily="34" charset="0"/>
              <a:buChar char="•"/>
            </a:pPr>
            <a:r>
              <a:rPr lang="en-US" sz="2400" dirty="0">
                <a:latin typeface="Calibir"/>
              </a:rPr>
              <a:t>Your code walkthrough (2–3 min):</a:t>
            </a:r>
          </a:p>
          <a:p>
            <a:pPr marL="800100" lvl="1" indent="-342900">
              <a:lnSpc>
                <a:spcPct val="150000"/>
              </a:lnSpc>
              <a:buFont typeface="Arial" panose="020B0604020202020204" pitchFamily="34" charset="0"/>
              <a:buChar char="•"/>
            </a:pPr>
            <a:r>
              <a:rPr lang="en-US" sz="2400" dirty="0">
                <a:latin typeface="Calibir"/>
              </a:rPr>
              <a:t>Classes/methods you implemented (e.g., </a:t>
            </a:r>
            <a:r>
              <a:rPr lang="en-US" sz="2400" dirty="0" err="1">
                <a:latin typeface="Calibir"/>
              </a:rPr>
              <a:t>enrol</a:t>
            </a:r>
            <a:r>
              <a:rPr lang="en-US" sz="2400" dirty="0">
                <a:latin typeface="Calibir"/>
              </a:rPr>
              <a:t>/remove, file I/O, regex validation, grouping/partitioning).</a:t>
            </a:r>
          </a:p>
          <a:p>
            <a:pPr marL="800100" lvl="1" indent="-342900">
              <a:lnSpc>
                <a:spcPct val="150000"/>
              </a:lnSpc>
              <a:buFont typeface="Arial" panose="020B0604020202020204" pitchFamily="34" charset="0"/>
              <a:buChar char="•"/>
            </a:pPr>
            <a:r>
              <a:rPr lang="en-US" sz="2400" dirty="0">
                <a:latin typeface="Calibir"/>
              </a:rPr>
              <a:t>How your code fits within the Model–Controller–(View) design.</a:t>
            </a:r>
          </a:p>
          <a:p>
            <a:pPr marL="800100" lvl="1" indent="-342900">
              <a:lnSpc>
                <a:spcPct val="150000"/>
              </a:lnSpc>
              <a:buFont typeface="Arial" panose="020B0604020202020204" pitchFamily="34" charset="0"/>
              <a:buChar char="•"/>
            </a:pPr>
            <a:r>
              <a:rPr lang="en-US" sz="2400" dirty="0">
                <a:latin typeface="Calibir"/>
              </a:rPr>
              <a:t>Any exception handling or edge cases you addressed.</a:t>
            </a:r>
          </a:p>
        </p:txBody>
      </p:sp>
    </p:spTree>
    <p:extLst>
      <p:ext uri="{BB962C8B-B14F-4D97-AF65-F5344CB8AC3E}">
        <p14:creationId xmlns:p14="http://schemas.microsoft.com/office/powerpoint/2010/main" val="1000898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45971-457E-075E-622F-6D5D23B348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630D2-D9B8-6273-CF36-8D4DD34C9C2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EB05F621-1493-4975-A9B4-56A147CB01CC}"/>
              </a:ext>
            </a:extLst>
          </p:cNvPr>
          <p:cNvSpPr txBox="1"/>
          <p:nvPr/>
        </p:nvSpPr>
        <p:spPr>
          <a:xfrm>
            <a:off x="0" y="756745"/>
            <a:ext cx="11971282" cy="28050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Calibir"/>
              </a:rPr>
              <a:t>Testing &amp; evidence (30–60s): Show sample I/O matching the specification or explain your testing approach.</a:t>
            </a:r>
          </a:p>
          <a:p>
            <a:pPr marL="342900" indent="-342900">
              <a:lnSpc>
                <a:spcPct val="150000"/>
              </a:lnSpc>
              <a:buFont typeface="Arial" panose="020B0604020202020204" pitchFamily="34" charset="0"/>
              <a:buChar char="•"/>
            </a:pPr>
            <a:r>
              <a:rPr lang="en-US" sz="2400" dirty="0">
                <a:latin typeface="Calibir"/>
              </a:rPr>
              <a:t>Reflection (30–45s): Briefly mention the biggest challenge you faced, how you solved it, and one possible improvement.</a:t>
            </a:r>
          </a:p>
          <a:p>
            <a:pPr>
              <a:lnSpc>
                <a:spcPct val="150000"/>
              </a:lnSpc>
            </a:pPr>
            <a:r>
              <a:rPr lang="en-US" sz="2400" dirty="0">
                <a:latin typeface="Calibir"/>
              </a:rPr>
              <a:t>Length: Approximately 5–7 minutes in total.</a:t>
            </a:r>
          </a:p>
        </p:txBody>
      </p:sp>
    </p:spTree>
    <p:extLst>
      <p:ext uri="{BB962C8B-B14F-4D97-AF65-F5344CB8AC3E}">
        <p14:creationId xmlns:p14="http://schemas.microsoft.com/office/powerpoint/2010/main" val="515056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FCBE0-BEE2-5CFC-7B5F-E894B0EFA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13778-A7A2-E209-3944-7A8DA5C9CDC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8B57AAAA-1CE9-2D4C-EA78-195C696CB7FD}"/>
              </a:ext>
            </a:extLst>
          </p:cNvPr>
          <p:cNvSpPr txBox="1"/>
          <p:nvPr/>
        </p:nvSpPr>
        <p:spPr>
          <a:xfrm>
            <a:off x="0" y="756745"/>
            <a:ext cx="11971282" cy="3359061"/>
          </a:xfrm>
          <a:prstGeom prst="rect">
            <a:avLst/>
          </a:prstGeom>
          <a:noFill/>
        </p:spPr>
        <p:txBody>
          <a:bodyPr wrap="square">
            <a:spAutoFit/>
          </a:bodyPr>
          <a:lstStyle/>
          <a:p>
            <a:pPr>
              <a:lnSpc>
                <a:spcPct val="150000"/>
              </a:lnSpc>
            </a:pPr>
            <a:r>
              <a:rPr lang="en-US" sz="2400" dirty="0">
                <a:latin typeface="Calibir"/>
              </a:rPr>
              <a:t>Please also confirm the following:</a:t>
            </a:r>
          </a:p>
          <a:p>
            <a:pPr>
              <a:lnSpc>
                <a:spcPct val="150000"/>
              </a:lnSpc>
            </a:pPr>
            <a:r>
              <a:rPr lang="en-US" sz="2400" dirty="0">
                <a:latin typeface="Calibir"/>
              </a:rPr>
              <a:t>That you have Microsoft Teams access for the quiz.</a:t>
            </a:r>
          </a:p>
          <a:p>
            <a:pPr>
              <a:lnSpc>
                <a:spcPct val="150000"/>
              </a:lnSpc>
            </a:pPr>
            <a:r>
              <a:rPr lang="en-US" sz="2400" dirty="0">
                <a:latin typeface="Calibir"/>
              </a:rPr>
              <a:t>Your preferred language/IDE (Java or Python) so I can tailor the starter code accordingly.</a:t>
            </a:r>
          </a:p>
          <a:p>
            <a:pPr>
              <a:lnSpc>
                <a:spcPct val="150000"/>
              </a:lnSpc>
            </a:pPr>
            <a:r>
              <a:rPr lang="en-US" sz="2400" dirty="0">
                <a:latin typeface="Calibir"/>
              </a:rPr>
              <a:t>Kind regards,</a:t>
            </a:r>
            <a:br>
              <a:rPr lang="en-US" sz="2400" dirty="0">
                <a:latin typeface="Calibir"/>
              </a:rPr>
            </a:br>
            <a:r>
              <a:rPr lang="en-US" sz="2400" dirty="0">
                <a:latin typeface="Calibir"/>
              </a:rPr>
              <a:t>Farshid Keivanian</a:t>
            </a:r>
            <a:br>
              <a:rPr lang="en-US" sz="2400" dirty="0">
                <a:latin typeface="Calibir"/>
              </a:rPr>
            </a:br>
            <a:r>
              <a:rPr lang="en-US" sz="2400" dirty="0">
                <a:latin typeface="Calibir"/>
              </a:rPr>
              <a:t>Fundamentals of Software Development</a:t>
            </a:r>
          </a:p>
        </p:txBody>
      </p:sp>
    </p:spTree>
    <p:extLst>
      <p:ext uri="{BB962C8B-B14F-4D97-AF65-F5344CB8AC3E}">
        <p14:creationId xmlns:p14="http://schemas.microsoft.com/office/powerpoint/2010/main" val="2571144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F0E5B-B479-398F-B978-62AE9D247D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94A2E-EB0F-8F4B-C245-16AC1941832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D0CF7119-B0B9-2280-97B4-232F63E85E50}"/>
              </a:ext>
            </a:extLst>
          </p:cNvPr>
          <p:cNvSpPr txBox="1"/>
          <p:nvPr/>
        </p:nvSpPr>
        <p:spPr>
          <a:xfrm>
            <a:off x="0" y="756745"/>
            <a:ext cx="11971282" cy="2251065"/>
          </a:xfrm>
          <a:prstGeom prst="rect">
            <a:avLst/>
          </a:prstGeom>
          <a:noFill/>
        </p:spPr>
        <p:txBody>
          <a:bodyPr wrap="square">
            <a:spAutoFit/>
          </a:bodyPr>
          <a:lstStyle/>
          <a:p>
            <a:pPr>
              <a:lnSpc>
                <a:spcPct val="150000"/>
              </a:lnSpc>
            </a:pPr>
            <a:r>
              <a:rPr lang="en-US" sz="2400" dirty="0">
                <a:latin typeface="Calibir"/>
              </a:rPr>
              <a:t>Question from Students on Friday Class (12 PM – 2 PM)</a:t>
            </a:r>
          </a:p>
          <a:p>
            <a:pPr>
              <a:lnSpc>
                <a:spcPct val="150000"/>
              </a:lnSpc>
            </a:pPr>
            <a:r>
              <a:rPr lang="en-US" sz="2400" dirty="0">
                <a:latin typeface="Calibir"/>
              </a:rPr>
              <a:t>Can we present it in first half of week 12 (24</a:t>
            </a:r>
            <a:r>
              <a:rPr lang="en-US" sz="2400" baseline="30000" dirty="0">
                <a:latin typeface="Calibir"/>
              </a:rPr>
              <a:t>th</a:t>
            </a:r>
            <a:r>
              <a:rPr lang="en-US" sz="2400" dirty="0">
                <a:latin typeface="Calibir"/>
              </a:rPr>
              <a:t> Oct)?</a:t>
            </a:r>
            <a:br>
              <a:rPr lang="en-US" sz="2400" dirty="0">
                <a:latin typeface="Calibir"/>
              </a:rPr>
            </a:br>
            <a:r>
              <a:rPr lang="en-US" sz="2400" dirty="0">
                <a:latin typeface="Calibir"/>
              </a:rPr>
              <a:t>Yes, just send me an email, cc your group members and confirm a timeslot (e.g., 12:15 PM to 12:30 PM, or 12:30 to 12:45 PM)</a:t>
            </a:r>
          </a:p>
        </p:txBody>
      </p:sp>
    </p:spTree>
    <p:extLst>
      <p:ext uri="{BB962C8B-B14F-4D97-AF65-F5344CB8AC3E}">
        <p14:creationId xmlns:p14="http://schemas.microsoft.com/office/powerpoint/2010/main" val="3065664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DB31C-C080-71D2-B088-687A8D636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CA09C-1BB7-1FAB-7091-35F25FFD2A5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 and Answer about Presentation (Showcase Part)</a:t>
            </a:r>
          </a:p>
        </p:txBody>
      </p:sp>
      <p:sp>
        <p:nvSpPr>
          <p:cNvPr id="6" name="TextBox 5">
            <a:extLst>
              <a:ext uri="{FF2B5EF4-FFF2-40B4-BE49-F238E27FC236}">
                <a16:creationId xmlns:a16="http://schemas.microsoft.com/office/drawing/2014/main" id="{D100E49E-9AB4-F207-508A-C18A277AB437}"/>
              </a:ext>
            </a:extLst>
          </p:cNvPr>
          <p:cNvSpPr txBox="1"/>
          <p:nvPr/>
        </p:nvSpPr>
        <p:spPr>
          <a:xfrm>
            <a:off x="0" y="756745"/>
            <a:ext cx="11971282" cy="5196166"/>
          </a:xfrm>
          <a:prstGeom prst="rect">
            <a:avLst/>
          </a:prstGeom>
          <a:noFill/>
        </p:spPr>
        <p:txBody>
          <a:bodyPr wrap="square">
            <a:spAutoFit/>
          </a:bodyPr>
          <a:lstStyle/>
          <a:p>
            <a:pPr>
              <a:lnSpc>
                <a:spcPct val="150000"/>
              </a:lnSpc>
            </a:pPr>
            <a:r>
              <a:rPr lang="en-US" sz="2800" dirty="0">
                <a:latin typeface="Calibir"/>
              </a:rPr>
              <a:t>Some students have asked whether they can present during the student vacation week (31st October).</a:t>
            </a:r>
          </a:p>
          <a:p>
            <a:pPr>
              <a:lnSpc>
                <a:spcPct val="150000"/>
              </a:lnSpc>
            </a:pPr>
            <a:r>
              <a:rPr lang="en-US" sz="2800" dirty="0">
                <a:latin typeface="Calibir"/>
              </a:rPr>
              <a:t>Generally, this is not advised, as no official class sessions are scheduled during that week. However, if your group strongly prefers to present then, please send me an email (and cc all group members) to confirm your availability for online presentation and select a timeslot such as:</a:t>
            </a:r>
          </a:p>
          <a:p>
            <a:pPr>
              <a:lnSpc>
                <a:spcPct val="150000"/>
              </a:lnSpc>
            </a:pPr>
            <a:r>
              <a:rPr lang="en-US" sz="2800" dirty="0">
                <a:latin typeface="Calibir"/>
              </a:rPr>
              <a:t>12 PM – 12:15 PM, 12:15 PM – 12:30 PM, …, or 1:45 PM – 2 PM</a:t>
            </a:r>
          </a:p>
          <a:p>
            <a:pPr>
              <a:lnSpc>
                <a:spcPct val="150000"/>
              </a:lnSpc>
            </a:pPr>
            <a:r>
              <a:rPr lang="en-US" sz="2800" dirty="0">
                <a:latin typeface="Calibir"/>
              </a:rPr>
              <a:t>I’ll review the requests and confirm your presentation time accordingly.</a:t>
            </a:r>
          </a:p>
        </p:txBody>
      </p:sp>
    </p:spTree>
    <p:extLst>
      <p:ext uri="{BB962C8B-B14F-4D97-AF65-F5344CB8AC3E}">
        <p14:creationId xmlns:p14="http://schemas.microsoft.com/office/powerpoint/2010/main" val="987659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417EA-43B0-A126-6794-57BC88979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E576B-E3DE-E878-5536-FB0594A0E8D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Introduction to JavaFX</a:t>
            </a:r>
          </a:p>
        </p:txBody>
      </p:sp>
      <p:sp>
        <p:nvSpPr>
          <p:cNvPr id="6" name="TextBox 5">
            <a:extLst>
              <a:ext uri="{FF2B5EF4-FFF2-40B4-BE49-F238E27FC236}">
                <a16:creationId xmlns:a16="http://schemas.microsoft.com/office/drawing/2014/main" id="{9A7A17EC-FFBF-A419-DCC3-1C4B73BD332C}"/>
              </a:ext>
            </a:extLst>
          </p:cNvPr>
          <p:cNvSpPr txBox="1"/>
          <p:nvPr/>
        </p:nvSpPr>
        <p:spPr>
          <a:xfrm>
            <a:off x="0" y="1072057"/>
            <a:ext cx="11971282" cy="325717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JavaFX helps us create modern and interactive user interfaces for Java programs.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It works smoothly in tools like IntelliJ, VS Code, and NetBeans.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Think of it like the front desk at UTS – it’s the friendly face that connects users with the main system behind the scenes.</a:t>
            </a:r>
          </a:p>
        </p:txBody>
      </p:sp>
    </p:spTree>
    <p:extLst>
      <p:ext uri="{BB962C8B-B14F-4D97-AF65-F5344CB8AC3E}">
        <p14:creationId xmlns:p14="http://schemas.microsoft.com/office/powerpoint/2010/main" val="2337816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FB1C8-A51E-17E7-429E-654137089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627EC-9A99-C9F9-B4C5-5CBC7F7533A4}"/>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6" name="TextBox 5">
            <a:extLst>
              <a:ext uri="{FF2B5EF4-FFF2-40B4-BE49-F238E27FC236}">
                <a16:creationId xmlns:a16="http://schemas.microsoft.com/office/drawing/2014/main" id="{FBBDC42B-3E7A-7107-1087-C9ACD040BD86}"/>
              </a:ext>
            </a:extLst>
          </p:cNvPr>
          <p:cNvSpPr txBox="1"/>
          <p:nvPr/>
        </p:nvSpPr>
        <p:spPr>
          <a:xfrm>
            <a:off x="0" y="1072057"/>
            <a:ext cx="11971282" cy="671851"/>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In VS Code </a:t>
            </a:r>
            <a:r>
              <a:rPr lang="en-US" altLang="en-US" sz="2800" dirty="0">
                <a:latin typeface="Calibir"/>
                <a:sym typeface="Wingdings" panose="05000000000000000000" pitchFamily="2" charset="2"/>
              </a:rPr>
              <a:t> click ‘Open Folder’ (on the left sidebar)</a:t>
            </a:r>
            <a:endParaRPr lang="en-US" altLang="en-US" sz="2800" dirty="0">
              <a:latin typeface="Calibir"/>
            </a:endParaRPr>
          </a:p>
        </p:txBody>
      </p:sp>
      <p:pic>
        <p:nvPicPr>
          <p:cNvPr id="4" name="Picture 3">
            <a:extLst>
              <a:ext uri="{FF2B5EF4-FFF2-40B4-BE49-F238E27FC236}">
                <a16:creationId xmlns:a16="http://schemas.microsoft.com/office/drawing/2014/main" id="{E92AF1A9-AEC5-7382-8D67-57F54526473C}"/>
              </a:ext>
            </a:extLst>
          </p:cNvPr>
          <p:cNvPicPr>
            <a:picLocks noChangeAspect="1"/>
          </p:cNvPicPr>
          <p:nvPr/>
        </p:nvPicPr>
        <p:blipFill>
          <a:blip r:embed="rId2"/>
          <a:srcRect b="5863"/>
          <a:stretch>
            <a:fillRect/>
          </a:stretch>
        </p:blipFill>
        <p:spPr>
          <a:xfrm>
            <a:off x="3129458" y="2059219"/>
            <a:ext cx="9062541" cy="4798779"/>
          </a:xfrm>
          <a:prstGeom prst="rect">
            <a:avLst/>
          </a:prstGeom>
        </p:spPr>
      </p:pic>
      <p:sp>
        <p:nvSpPr>
          <p:cNvPr id="5" name="Rectangle: Rounded Corners 4">
            <a:extLst>
              <a:ext uri="{FF2B5EF4-FFF2-40B4-BE49-F238E27FC236}">
                <a16:creationId xmlns:a16="http://schemas.microsoft.com/office/drawing/2014/main" id="{7F9E5C1E-170D-DD85-C5CB-E15F5A85688E}"/>
              </a:ext>
            </a:extLst>
          </p:cNvPr>
          <p:cNvSpPr/>
          <p:nvPr/>
        </p:nvSpPr>
        <p:spPr>
          <a:xfrm>
            <a:off x="5530974" y="3888954"/>
            <a:ext cx="2985571" cy="27542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D8006530-FD1F-F87F-7C4B-ECC88CE3B66F}"/>
              </a:ext>
            </a:extLst>
          </p:cNvPr>
          <p:cNvSpPr/>
          <p:nvPr/>
        </p:nvSpPr>
        <p:spPr>
          <a:xfrm>
            <a:off x="3560285" y="2375338"/>
            <a:ext cx="1852544" cy="34885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0361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4383-C4B1-EF23-A46F-69A5DC7C18BB}"/>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62AA6D55-23E2-7E2A-2F3E-76B1E2B4BF42}"/>
              </a:ext>
            </a:extLst>
          </p:cNvPr>
          <p:cNvPicPr>
            <a:picLocks noChangeAspect="1"/>
          </p:cNvPicPr>
          <p:nvPr/>
        </p:nvPicPr>
        <p:blipFill>
          <a:blip r:embed="rId2"/>
          <a:srcRect l="8966" r="3793" b="20766"/>
          <a:stretch>
            <a:fillRect/>
          </a:stretch>
        </p:blipFill>
        <p:spPr>
          <a:xfrm>
            <a:off x="0" y="856269"/>
            <a:ext cx="10636469" cy="5433848"/>
          </a:xfrm>
          <a:prstGeom prst="rect">
            <a:avLst/>
          </a:prstGeom>
        </p:spPr>
      </p:pic>
      <p:sp>
        <p:nvSpPr>
          <p:cNvPr id="2" name="Title 1">
            <a:extLst>
              <a:ext uri="{FF2B5EF4-FFF2-40B4-BE49-F238E27FC236}">
                <a16:creationId xmlns:a16="http://schemas.microsoft.com/office/drawing/2014/main" id="{4503BDEF-E72A-DA6A-954A-14914EA9AEA5}"/>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6" name="TextBox 5">
            <a:extLst>
              <a:ext uri="{FF2B5EF4-FFF2-40B4-BE49-F238E27FC236}">
                <a16:creationId xmlns:a16="http://schemas.microsoft.com/office/drawing/2014/main" id="{811C7940-D14C-DEED-E18F-FA43D3047228}"/>
              </a:ext>
            </a:extLst>
          </p:cNvPr>
          <p:cNvSpPr txBox="1"/>
          <p:nvPr/>
        </p:nvSpPr>
        <p:spPr>
          <a:xfrm>
            <a:off x="6568964" y="756745"/>
            <a:ext cx="5623035" cy="5196166"/>
          </a:xfrm>
          <a:prstGeom prst="rect">
            <a:avLst/>
          </a:prstGeom>
          <a:solidFill>
            <a:schemeClr val="bg1"/>
          </a:solidFill>
          <a:ln>
            <a:solidFill>
              <a:srgbClr val="FF0000"/>
            </a:solidFill>
          </a:ln>
        </p:spPr>
        <p:txBody>
          <a:bodyPr wrap="square">
            <a:spAutoFit/>
          </a:bodyPr>
          <a:lstStyle/>
          <a:p>
            <a:pPr lvl="0" eaLnBrk="0" fontAlgn="base" hangingPunct="0">
              <a:lnSpc>
                <a:spcPct val="150000"/>
              </a:lnSpc>
              <a:spcBef>
                <a:spcPct val="0"/>
              </a:spcBef>
              <a:spcAft>
                <a:spcPct val="0"/>
              </a:spcAft>
            </a:pPr>
            <a:r>
              <a:rPr lang="en-US" sz="2800" dirty="0">
                <a:latin typeface="Calibir"/>
              </a:rPr>
              <a:t>Create or open a folder like:</a:t>
            </a:r>
          </a:p>
          <a:p>
            <a:pPr>
              <a:lnSpc>
                <a:spcPct val="150000"/>
              </a:lnSpc>
            </a:pPr>
            <a:r>
              <a:rPr lang="en-US" sz="2800" dirty="0">
                <a:latin typeface="Calibir"/>
              </a:rPr>
              <a:t>C:\Users\&lt;YourName&gt;\JavaFXProjects\Week11  (or similar)</a:t>
            </a:r>
          </a:p>
          <a:p>
            <a:pPr>
              <a:lnSpc>
                <a:spcPct val="150000"/>
              </a:lnSpc>
            </a:pPr>
            <a:r>
              <a:rPr lang="en-US" sz="2800" dirty="0">
                <a:latin typeface="Calibir"/>
              </a:rPr>
              <a:t>Save your file inside this folder (e.g., HelloFX.java).</a:t>
            </a:r>
          </a:p>
          <a:p>
            <a:pPr>
              <a:lnSpc>
                <a:spcPct val="150000"/>
              </a:lnSpc>
            </a:pPr>
            <a:r>
              <a:rPr lang="en-US" sz="2800" dirty="0">
                <a:latin typeface="Calibir"/>
              </a:rPr>
              <a:t>If you see “No folder opened” on the left — VS Code can’t build/run anything.</a:t>
            </a:r>
          </a:p>
        </p:txBody>
      </p:sp>
      <p:sp>
        <p:nvSpPr>
          <p:cNvPr id="15" name="Rectangle: Rounded Corners 14">
            <a:extLst>
              <a:ext uri="{FF2B5EF4-FFF2-40B4-BE49-F238E27FC236}">
                <a16:creationId xmlns:a16="http://schemas.microsoft.com/office/drawing/2014/main" id="{A45B8C17-4779-498A-E32D-7B511F1735E0}"/>
              </a:ext>
            </a:extLst>
          </p:cNvPr>
          <p:cNvSpPr/>
          <p:nvPr/>
        </p:nvSpPr>
        <p:spPr>
          <a:xfrm>
            <a:off x="8681545" y="6022751"/>
            <a:ext cx="1040524" cy="28838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6303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B7F1A-5989-A66F-B301-D86B83A1439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49B2C18-917F-6F22-A27D-873C089C324E}"/>
              </a:ext>
            </a:extLst>
          </p:cNvPr>
          <p:cNvPicPr>
            <a:picLocks noChangeAspect="1"/>
          </p:cNvPicPr>
          <p:nvPr/>
        </p:nvPicPr>
        <p:blipFill>
          <a:blip r:embed="rId2"/>
          <a:srcRect b="5441"/>
          <a:stretch>
            <a:fillRect/>
          </a:stretch>
        </p:blipFill>
        <p:spPr>
          <a:xfrm>
            <a:off x="2143974" y="1513490"/>
            <a:ext cx="10048025" cy="5344510"/>
          </a:xfrm>
          <a:prstGeom prst="rect">
            <a:avLst/>
          </a:prstGeom>
        </p:spPr>
      </p:pic>
      <p:sp>
        <p:nvSpPr>
          <p:cNvPr id="2" name="Title 1">
            <a:extLst>
              <a:ext uri="{FF2B5EF4-FFF2-40B4-BE49-F238E27FC236}">
                <a16:creationId xmlns:a16="http://schemas.microsoft.com/office/drawing/2014/main" id="{F1B12D50-5517-D76C-9910-8C594659FF0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15" name="Rectangle: Rounded Corners 14">
            <a:extLst>
              <a:ext uri="{FF2B5EF4-FFF2-40B4-BE49-F238E27FC236}">
                <a16:creationId xmlns:a16="http://schemas.microsoft.com/office/drawing/2014/main" id="{00425FED-3CB2-E58C-4918-49275F8585CA}"/>
              </a:ext>
            </a:extLst>
          </p:cNvPr>
          <p:cNvSpPr/>
          <p:nvPr/>
        </p:nvSpPr>
        <p:spPr>
          <a:xfrm>
            <a:off x="5139558" y="5781013"/>
            <a:ext cx="2469931" cy="29396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7589214-E280-002B-61C8-24E2F3A456A3}"/>
              </a:ext>
            </a:extLst>
          </p:cNvPr>
          <p:cNvSpPr txBox="1"/>
          <p:nvPr/>
        </p:nvSpPr>
        <p:spPr>
          <a:xfrm>
            <a:off x="0" y="841639"/>
            <a:ext cx="11971282" cy="671851"/>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Check Trust and Click Yes, I trust the authors</a:t>
            </a:r>
          </a:p>
        </p:txBody>
      </p:sp>
    </p:spTree>
    <p:extLst>
      <p:ext uri="{BB962C8B-B14F-4D97-AF65-F5344CB8AC3E}">
        <p14:creationId xmlns:p14="http://schemas.microsoft.com/office/powerpoint/2010/main" val="3110725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006B5-8EBF-A285-1D3F-066766E9560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7C3D07F-68B6-2B83-FE74-6D12BDF98A04}"/>
              </a:ext>
            </a:extLst>
          </p:cNvPr>
          <p:cNvPicPr>
            <a:picLocks noChangeAspect="1"/>
          </p:cNvPicPr>
          <p:nvPr/>
        </p:nvPicPr>
        <p:blipFill>
          <a:blip r:embed="rId2"/>
          <a:srcRect b="6207"/>
          <a:stretch>
            <a:fillRect/>
          </a:stretch>
        </p:blipFill>
        <p:spPr>
          <a:xfrm>
            <a:off x="2081806" y="1513490"/>
            <a:ext cx="10110194" cy="5333999"/>
          </a:xfrm>
          <a:prstGeom prst="rect">
            <a:avLst/>
          </a:prstGeom>
        </p:spPr>
      </p:pic>
      <p:sp>
        <p:nvSpPr>
          <p:cNvPr id="2" name="Title 1">
            <a:extLst>
              <a:ext uri="{FF2B5EF4-FFF2-40B4-BE49-F238E27FC236}">
                <a16:creationId xmlns:a16="http://schemas.microsoft.com/office/drawing/2014/main" id="{3BE96E55-B1F3-06C5-E3FC-3BC8E2208AC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15" name="Rectangle: Rounded Corners 14">
            <a:extLst>
              <a:ext uri="{FF2B5EF4-FFF2-40B4-BE49-F238E27FC236}">
                <a16:creationId xmlns:a16="http://schemas.microsoft.com/office/drawing/2014/main" id="{A59082FF-CB0D-7B84-082F-D736DAF7B09D}"/>
              </a:ext>
            </a:extLst>
          </p:cNvPr>
          <p:cNvSpPr/>
          <p:nvPr/>
        </p:nvSpPr>
        <p:spPr>
          <a:xfrm>
            <a:off x="2659118" y="2291255"/>
            <a:ext cx="1524000" cy="31466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1F0392-62E5-E07C-86B8-911F593F1839}"/>
              </a:ext>
            </a:extLst>
          </p:cNvPr>
          <p:cNvSpPr txBox="1"/>
          <p:nvPr/>
        </p:nvSpPr>
        <p:spPr>
          <a:xfrm>
            <a:off x="0" y="841639"/>
            <a:ext cx="11971282" cy="671851"/>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You will see this folder and welcome message</a:t>
            </a:r>
          </a:p>
        </p:txBody>
      </p:sp>
    </p:spTree>
    <p:extLst>
      <p:ext uri="{BB962C8B-B14F-4D97-AF65-F5344CB8AC3E}">
        <p14:creationId xmlns:p14="http://schemas.microsoft.com/office/powerpoint/2010/main" val="41764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0F557-0697-2714-F7B0-498C7890144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C231420-1C02-FED5-F509-28B67C16E96F}"/>
              </a:ext>
            </a:extLst>
          </p:cNvPr>
          <p:cNvPicPr>
            <a:picLocks noChangeAspect="1"/>
          </p:cNvPicPr>
          <p:nvPr/>
        </p:nvPicPr>
        <p:blipFill>
          <a:blip r:embed="rId2"/>
          <a:srcRect b="5900"/>
          <a:stretch>
            <a:fillRect/>
          </a:stretch>
        </p:blipFill>
        <p:spPr>
          <a:xfrm>
            <a:off x="872358" y="866395"/>
            <a:ext cx="11319641" cy="5991603"/>
          </a:xfrm>
          <a:prstGeom prst="rect">
            <a:avLst/>
          </a:prstGeom>
        </p:spPr>
      </p:pic>
      <p:sp>
        <p:nvSpPr>
          <p:cNvPr id="2" name="Title 1">
            <a:extLst>
              <a:ext uri="{FF2B5EF4-FFF2-40B4-BE49-F238E27FC236}">
                <a16:creationId xmlns:a16="http://schemas.microsoft.com/office/drawing/2014/main" id="{9E54E3B4-E17A-AEDE-A7E0-01C236B8FB94}"/>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15" name="Rectangle: Rounded Corners 14">
            <a:extLst>
              <a:ext uri="{FF2B5EF4-FFF2-40B4-BE49-F238E27FC236}">
                <a16:creationId xmlns:a16="http://schemas.microsoft.com/office/drawing/2014/main" id="{5F2BD997-FA49-DD81-B0DA-DB21BA0B6AA3}"/>
              </a:ext>
            </a:extLst>
          </p:cNvPr>
          <p:cNvSpPr/>
          <p:nvPr/>
        </p:nvSpPr>
        <p:spPr>
          <a:xfrm>
            <a:off x="4466896" y="5623164"/>
            <a:ext cx="2060027" cy="36844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8A26110-7622-8966-C037-7B45D2B95395}"/>
              </a:ext>
            </a:extLst>
          </p:cNvPr>
          <p:cNvSpPr txBox="1"/>
          <p:nvPr/>
        </p:nvSpPr>
        <p:spPr>
          <a:xfrm>
            <a:off x="4351283" y="1445820"/>
            <a:ext cx="5176344" cy="671851"/>
          </a:xfrm>
          <a:prstGeom prst="rect">
            <a:avLst/>
          </a:prstGeom>
          <a:solidFill>
            <a:schemeClr val="bg1"/>
          </a:solidFill>
          <a:ln>
            <a:solidFill>
              <a:srgbClr val="FF0000"/>
            </a:solidFill>
          </a:ln>
        </p:spPr>
        <p:txBody>
          <a:bodyPr wrap="square">
            <a:spAutoFit/>
          </a:bodyPr>
          <a:lstStyle/>
          <a:p>
            <a:pPr lvl="0" eaLnBrk="0" fontAlgn="base" hangingPunct="0">
              <a:lnSpc>
                <a:spcPct val="150000"/>
              </a:lnSpc>
              <a:spcBef>
                <a:spcPct val="0"/>
              </a:spcBef>
              <a:spcAft>
                <a:spcPct val="0"/>
              </a:spcAft>
            </a:pPr>
            <a:r>
              <a:rPr lang="en-US" sz="2800" dirty="0">
                <a:latin typeface="Calibir"/>
              </a:rPr>
              <a:t>Select Terminal</a:t>
            </a:r>
            <a:endParaRPr lang="en-US" altLang="en-US" sz="2800" dirty="0">
              <a:latin typeface="Calibir"/>
            </a:endParaRPr>
          </a:p>
        </p:txBody>
      </p:sp>
    </p:spTree>
    <p:extLst>
      <p:ext uri="{BB962C8B-B14F-4D97-AF65-F5344CB8AC3E}">
        <p14:creationId xmlns:p14="http://schemas.microsoft.com/office/powerpoint/2010/main" val="1739268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A76AF-48AE-8BAB-0290-FFD5D10BD34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DC85498-E2BF-BB7D-EB51-9D82CF6EE983}"/>
              </a:ext>
            </a:extLst>
          </p:cNvPr>
          <p:cNvPicPr>
            <a:picLocks noChangeAspect="1"/>
          </p:cNvPicPr>
          <p:nvPr/>
        </p:nvPicPr>
        <p:blipFill>
          <a:blip r:embed="rId2"/>
          <a:srcRect b="5748"/>
          <a:stretch>
            <a:fillRect/>
          </a:stretch>
        </p:blipFill>
        <p:spPr>
          <a:xfrm>
            <a:off x="493986" y="656036"/>
            <a:ext cx="11698014" cy="6201964"/>
          </a:xfrm>
          <a:prstGeom prst="rect">
            <a:avLst/>
          </a:prstGeom>
        </p:spPr>
      </p:pic>
      <p:sp>
        <p:nvSpPr>
          <p:cNvPr id="2" name="Title 1">
            <a:extLst>
              <a:ext uri="{FF2B5EF4-FFF2-40B4-BE49-F238E27FC236}">
                <a16:creationId xmlns:a16="http://schemas.microsoft.com/office/drawing/2014/main" id="{30C78391-5C72-C740-DF88-28A91CE5134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15" name="Rectangle: Rounded Corners 14">
            <a:extLst>
              <a:ext uri="{FF2B5EF4-FFF2-40B4-BE49-F238E27FC236}">
                <a16:creationId xmlns:a16="http://schemas.microsoft.com/office/drawing/2014/main" id="{B897836C-4DF3-E2BC-2E6F-B65C2258FFB0}"/>
              </a:ext>
            </a:extLst>
          </p:cNvPr>
          <p:cNvSpPr/>
          <p:nvPr/>
        </p:nvSpPr>
        <p:spPr>
          <a:xfrm>
            <a:off x="4035974" y="4771860"/>
            <a:ext cx="1177158" cy="36769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77AE9BD-B4B9-BF05-13A3-1C1E486089E8}"/>
              </a:ext>
            </a:extLst>
          </p:cNvPr>
          <p:cNvSpPr txBox="1"/>
          <p:nvPr/>
        </p:nvSpPr>
        <p:spPr>
          <a:xfrm>
            <a:off x="4046483" y="1445820"/>
            <a:ext cx="4445876" cy="671851"/>
          </a:xfrm>
          <a:prstGeom prst="rect">
            <a:avLst/>
          </a:prstGeom>
          <a:solidFill>
            <a:schemeClr val="bg1"/>
          </a:solidFill>
          <a:ln>
            <a:solidFill>
              <a:srgbClr val="FF0000"/>
            </a:solidFill>
          </a:ln>
        </p:spPr>
        <p:txBody>
          <a:bodyPr wrap="square">
            <a:spAutoFit/>
          </a:bodyPr>
          <a:lstStyle/>
          <a:p>
            <a:pPr lvl="0" eaLnBrk="0" fontAlgn="base" hangingPunct="0">
              <a:lnSpc>
                <a:spcPct val="150000"/>
              </a:lnSpc>
              <a:spcBef>
                <a:spcPct val="0"/>
              </a:spcBef>
              <a:spcAft>
                <a:spcPct val="0"/>
              </a:spcAft>
            </a:pPr>
            <a:r>
              <a:rPr lang="en-US" sz="2800" dirty="0">
                <a:latin typeface="Calibir"/>
              </a:rPr>
              <a:t>Click on Arrow to </a:t>
            </a:r>
            <a:r>
              <a:rPr lang="en-US" sz="2800" dirty="0" err="1">
                <a:latin typeface="Calibir"/>
              </a:rPr>
              <a:t>minimise</a:t>
            </a:r>
            <a:r>
              <a:rPr lang="en-US" sz="2800" dirty="0">
                <a:latin typeface="Calibir"/>
              </a:rPr>
              <a:t> it</a:t>
            </a:r>
            <a:endParaRPr lang="en-US" altLang="en-US" sz="2800" dirty="0">
              <a:latin typeface="Calibir"/>
            </a:endParaRPr>
          </a:p>
        </p:txBody>
      </p:sp>
    </p:spTree>
    <p:extLst>
      <p:ext uri="{BB962C8B-B14F-4D97-AF65-F5344CB8AC3E}">
        <p14:creationId xmlns:p14="http://schemas.microsoft.com/office/powerpoint/2010/main" val="7612849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D2E9-42A5-5D67-D00B-9BEDCA975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82EBB-7091-7D2D-9628-26967456FA3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15" name="Rectangle: Rounded Corners 14">
            <a:extLst>
              <a:ext uri="{FF2B5EF4-FFF2-40B4-BE49-F238E27FC236}">
                <a16:creationId xmlns:a16="http://schemas.microsoft.com/office/drawing/2014/main" id="{9F086FD1-B4D7-276D-D152-3175276B00F9}"/>
              </a:ext>
            </a:extLst>
          </p:cNvPr>
          <p:cNvSpPr/>
          <p:nvPr/>
        </p:nvSpPr>
        <p:spPr>
          <a:xfrm>
            <a:off x="2039007" y="3603074"/>
            <a:ext cx="1891861" cy="598926"/>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C535B5D-E3E1-7E4B-6CCF-C1925C30945B}"/>
              </a:ext>
            </a:extLst>
          </p:cNvPr>
          <p:cNvSpPr txBox="1"/>
          <p:nvPr/>
        </p:nvSpPr>
        <p:spPr>
          <a:xfrm>
            <a:off x="0" y="780718"/>
            <a:ext cx="8492359" cy="2610843"/>
          </a:xfrm>
          <a:prstGeom prst="rect">
            <a:avLst/>
          </a:prstGeom>
          <a:solidFill>
            <a:schemeClr val="bg1"/>
          </a:solidFill>
          <a:ln>
            <a:solidFill>
              <a:srgbClr val="FF0000"/>
            </a:solidFill>
          </a:ln>
        </p:spPr>
        <p:txBody>
          <a:bodyPr wrap="square">
            <a:spAutoFit/>
          </a:bodyPr>
          <a:lstStyle/>
          <a:p>
            <a:pPr lvl="0" eaLnBrk="0" fontAlgn="base" hangingPunct="0">
              <a:lnSpc>
                <a:spcPct val="150000"/>
              </a:lnSpc>
              <a:spcBef>
                <a:spcPct val="0"/>
              </a:spcBef>
              <a:spcAft>
                <a:spcPct val="0"/>
              </a:spcAft>
            </a:pPr>
            <a:r>
              <a:rPr lang="en-US" sz="2800" dirty="0">
                <a:latin typeface="Calibir"/>
              </a:rPr>
              <a:t>Check You Have These Installed</a:t>
            </a:r>
          </a:p>
          <a:p>
            <a:pPr lvl="0" eaLnBrk="0" fontAlgn="base" hangingPunct="0">
              <a:lnSpc>
                <a:spcPct val="150000"/>
              </a:lnSpc>
              <a:spcBef>
                <a:spcPct val="0"/>
              </a:spcBef>
              <a:spcAft>
                <a:spcPct val="0"/>
              </a:spcAft>
            </a:pPr>
            <a:r>
              <a:rPr lang="en-US" sz="2800" dirty="0"/>
              <a:t>In VS Code terminal:</a:t>
            </a:r>
          </a:p>
          <a:p>
            <a:pPr marL="273050" lvl="0" eaLnBrk="0" fontAlgn="base" hangingPunct="0">
              <a:lnSpc>
                <a:spcPct val="150000"/>
              </a:lnSpc>
              <a:spcBef>
                <a:spcPct val="0"/>
              </a:spcBef>
              <a:spcAft>
                <a:spcPct val="0"/>
              </a:spcAft>
            </a:pPr>
            <a:r>
              <a:rPr lang="en-US" altLang="en-US" sz="2800" dirty="0">
                <a:latin typeface="Calibir"/>
              </a:rPr>
              <a:t>java -version</a:t>
            </a:r>
          </a:p>
          <a:p>
            <a:pPr marL="273050" lvl="0" eaLnBrk="0" fontAlgn="base" hangingPunct="0">
              <a:lnSpc>
                <a:spcPct val="150000"/>
              </a:lnSpc>
              <a:spcBef>
                <a:spcPct val="0"/>
              </a:spcBef>
              <a:spcAft>
                <a:spcPct val="0"/>
              </a:spcAft>
            </a:pPr>
            <a:r>
              <a:rPr lang="en-US" altLang="en-US" sz="2800" dirty="0" err="1">
                <a:latin typeface="Calibir"/>
              </a:rPr>
              <a:t>javac</a:t>
            </a:r>
            <a:r>
              <a:rPr lang="en-US" altLang="en-US" sz="2800" dirty="0">
                <a:latin typeface="Calibir"/>
              </a:rPr>
              <a:t> -version</a:t>
            </a:r>
          </a:p>
        </p:txBody>
      </p:sp>
      <p:sp>
        <p:nvSpPr>
          <p:cNvPr id="9" name="TextBox 8">
            <a:extLst>
              <a:ext uri="{FF2B5EF4-FFF2-40B4-BE49-F238E27FC236}">
                <a16:creationId xmlns:a16="http://schemas.microsoft.com/office/drawing/2014/main" id="{66F87A00-82D1-3CE3-3954-61A8FC86A065}"/>
              </a:ext>
            </a:extLst>
          </p:cNvPr>
          <p:cNvSpPr txBox="1"/>
          <p:nvPr/>
        </p:nvSpPr>
        <p:spPr>
          <a:xfrm>
            <a:off x="0" y="3466440"/>
            <a:ext cx="12192000" cy="2610843"/>
          </a:xfrm>
          <a:prstGeom prst="rect">
            <a:avLst/>
          </a:prstGeom>
          <a:noFill/>
        </p:spPr>
        <p:txBody>
          <a:bodyPr wrap="square">
            <a:spAutoFit/>
          </a:bodyPr>
          <a:lstStyle/>
          <a:p>
            <a:pPr>
              <a:lnSpc>
                <a:spcPct val="150000"/>
              </a:lnSpc>
              <a:buNone/>
            </a:pPr>
            <a:r>
              <a:rPr lang="en-US" sz="2800" dirty="0">
                <a:latin typeface="Calibir"/>
              </a:rPr>
              <a:t>….\Week 11&gt; java -version </a:t>
            </a:r>
          </a:p>
          <a:p>
            <a:pPr>
              <a:lnSpc>
                <a:spcPct val="150000"/>
              </a:lnSpc>
              <a:buNone/>
            </a:pPr>
            <a:r>
              <a:rPr lang="en-US" sz="2800" dirty="0">
                <a:latin typeface="Calibir"/>
              </a:rPr>
              <a:t>java version "22.0.2" 2024-07-16 </a:t>
            </a:r>
          </a:p>
          <a:p>
            <a:pPr>
              <a:lnSpc>
                <a:spcPct val="150000"/>
              </a:lnSpc>
              <a:buNone/>
            </a:pPr>
            <a:r>
              <a:rPr lang="en-US" sz="2800" dirty="0">
                <a:latin typeface="Calibir"/>
              </a:rPr>
              <a:t>Java(TM) SE Runtime Environment (build 22.0.2+9-70) </a:t>
            </a:r>
          </a:p>
          <a:p>
            <a:pPr>
              <a:lnSpc>
                <a:spcPct val="150000"/>
              </a:lnSpc>
              <a:buNone/>
            </a:pPr>
            <a:r>
              <a:rPr lang="en-US" sz="2800" dirty="0">
                <a:latin typeface="Calibir"/>
              </a:rPr>
              <a:t>Java </a:t>
            </a:r>
            <a:r>
              <a:rPr lang="en-US" sz="2800" dirty="0" err="1">
                <a:latin typeface="Calibir"/>
              </a:rPr>
              <a:t>HotSpot</a:t>
            </a:r>
            <a:r>
              <a:rPr lang="en-US" sz="2800" dirty="0">
                <a:latin typeface="Calibir"/>
              </a:rPr>
              <a:t>(TM) 64-Bit Server VM (build 22.0.2+9-70, mixed mode, sharing) </a:t>
            </a:r>
          </a:p>
        </p:txBody>
      </p:sp>
      <p:pic>
        <p:nvPicPr>
          <p:cNvPr id="11" name="Picture 10">
            <a:extLst>
              <a:ext uri="{FF2B5EF4-FFF2-40B4-BE49-F238E27FC236}">
                <a16:creationId xmlns:a16="http://schemas.microsoft.com/office/drawing/2014/main" id="{D9B2D3DF-CC2A-B854-3D60-1D6D1206CC31}"/>
              </a:ext>
            </a:extLst>
          </p:cNvPr>
          <p:cNvPicPr>
            <a:picLocks noChangeAspect="1"/>
          </p:cNvPicPr>
          <p:nvPr/>
        </p:nvPicPr>
        <p:blipFill>
          <a:blip r:embed="rId2"/>
          <a:srcRect l="23966" t="47462" r="25258" b="8659"/>
          <a:stretch>
            <a:fillRect/>
          </a:stretch>
        </p:blipFill>
        <p:spPr>
          <a:xfrm>
            <a:off x="5969875" y="1762621"/>
            <a:ext cx="6190593" cy="3009240"/>
          </a:xfrm>
          <a:prstGeom prst="rect">
            <a:avLst/>
          </a:prstGeom>
        </p:spPr>
      </p:pic>
    </p:spTree>
    <p:extLst>
      <p:ext uri="{BB962C8B-B14F-4D97-AF65-F5344CB8AC3E}">
        <p14:creationId xmlns:p14="http://schemas.microsoft.com/office/powerpoint/2010/main" val="35071494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1ADEC-7A41-A566-F0B6-6EF8D13F3C7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AE24A2-4D03-EE92-4BA1-BB83805BFB7A}"/>
              </a:ext>
            </a:extLst>
          </p:cNvPr>
          <p:cNvSpPr txBox="1"/>
          <p:nvPr/>
        </p:nvSpPr>
        <p:spPr>
          <a:xfrm>
            <a:off x="0" y="179968"/>
            <a:ext cx="12192000" cy="651140"/>
          </a:xfrm>
          <a:prstGeom prst="rect">
            <a:avLst/>
          </a:prstGeom>
          <a:solidFill>
            <a:schemeClr val="bg1"/>
          </a:solidFill>
          <a:ln>
            <a:solidFill>
              <a:srgbClr val="FF0000"/>
            </a:solidFill>
          </a:ln>
        </p:spPr>
        <p:txBody>
          <a:bodyPr wrap="square">
            <a:spAutoFit/>
          </a:bodyPr>
          <a:lstStyle/>
          <a:p>
            <a:pPr lvl="0" eaLnBrk="0" fontAlgn="base" hangingPunct="0">
              <a:lnSpc>
                <a:spcPct val="150000"/>
              </a:lnSpc>
              <a:spcBef>
                <a:spcPct val="0"/>
              </a:spcBef>
              <a:spcAft>
                <a:spcPct val="0"/>
              </a:spcAft>
            </a:pPr>
            <a:r>
              <a:rPr lang="en-US" sz="2700" dirty="0">
                <a:latin typeface="Calibir"/>
              </a:rPr>
              <a:t>Java 22 installation is excellent for all Week 11 / Part 2 / Part 3 JavaFX work.</a:t>
            </a:r>
          </a:p>
        </p:txBody>
      </p:sp>
      <p:sp>
        <p:nvSpPr>
          <p:cNvPr id="5" name="TextBox 4">
            <a:extLst>
              <a:ext uri="{FF2B5EF4-FFF2-40B4-BE49-F238E27FC236}">
                <a16:creationId xmlns:a16="http://schemas.microsoft.com/office/drawing/2014/main" id="{21463915-8B9C-BEC0-B64B-0CC17C038989}"/>
              </a:ext>
            </a:extLst>
          </p:cNvPr>
          <p:cNvSpPr txBox="1"/>
          <p:nvPr/>
        </p:nvSpPr>
        <p:spPr>
          <a:xfrm>
            <a:off x="1" y="897244"/>
            <a:ext cx="12191999" cy="1897635"/>
          </a:xfrm>
          <a:prstGeom prst="rect">
            <a:avLst/>
          </a:prstGeom>
          <a:noFill/>
        </p:spPr>
        <p:txBody>
          <a:bodyPr wrap="square">
            <a:spAutoFit/>
          </a:bodyPr>
          <a:lstStyle/>
          <a:p>
            <a:pPr>
              <a:lnSpc>
                <a:spcPct val="150000"/>
              </a:lnSpc>
              <a:buNone/>
            </a:pPr>
            <a:r>
              <a:rPr lang="en-US" sz="2700" dirty="0">
                <a:latin typeface="Calibir"/>
              </a:rPr>
              <a:t>Install Required Extensions</a:t>
            </a:r>
          </a:p>
          <a:p>
            <a:pPr>
              <a:lnSpc>
                <a:spcPct val="150000"/>
              </a:lnSpc>
              <a:buNone/>
            </a:pPr>
            <a:r>
              <a:rPr lang="en-US" sz="2700" dirty="0">
                <a:latin typeface="Calibir"/>
              </a:rPr>
              <a:t>Go to Extensions (</a:t>
            </a:r>
            <a:r>
              <a:rPr lang="en-US" sz="2700" dirty="0" err="1">
                <a:latin typeface="Calibir"/>
              </a:rPr>
              <a:t>Ctrl+Shift+X</a:t>
            </a:r>
            <a:r>
              <a:rPr lang="en-US" sz="2700" dirty="0">
                <a:latin typeface="Calibir"/>
              </a:rPr>
              <a:t>) and make sure these are installed:</a:t>
            </a:r>
          </a:p>
          <a:p>
            <a:pPr marL="457200" indent="-457200">
              <a:lnSpc>
                <a:spcPct val="150000"/>
              </a:lnSpc>
              <a:buFont typeface="Arial" panose="020B0604020202020204" pitchFamily="34" charset="0"/>
              <a:buChar char="•"/>
            </a:pPr>
            <a:r>
              <a:rPr lang="en-US" sz="2700" b="1" dirty="0">
                <a:highlight>
                  <a:srgbClr val="FFFF00"/>
                </a:highlight>
                <a:latin typeface="Calibir"/>
              </a:rPr>
              <a:t>Extension Pack for Java</a:t>
            </a:r>
          </a:p>
        </p:txBody>
      </p:sp>
      <p:pic>
        <p:nvPicPr>
          <p:cNvPr id="7" name="Picture 6">
            <a:extLst>
              <a:ext uri="{FF2B5EF4-FFF2-40B4-BE49-F238E27FC236}">
                <a16:creationId xmlns:a16="http://schemas.microsoft.com/office/drawing/2014/main" id="{4AC86CE9-11C2-5BF1-2BAC-7E34D8D834C6}"/>
              </a:ext>
            </a:extLst>
          </p:cNvPr>
          <p:cNvPicPr>
            <a:picLocks noChangeAspect="1"/>
          </p:cNvPicPr>
          <p:nvPr/>
        </p:nvPicPr>
        <p:blipFill>
          <a:blip r:embed="rId2"/>
          <a:srcRect r="14052" b="60613"/>
          <a:stretch>
            <a:fillRect/>
          </a:stretch>
        </p:blipFill>
        <p:spPr>
          <a:xfrm>
            <a:off x="1713186" y="2756014"/>
            <a:ext cx="10478814" cy="2701159"/>
          </a:xfrm>
          <a:prstGeom prst="rect">
            <a:avLst/>
          </a:prstGeom>
        </p:spPr>
      </p:pic>
      <p:sp>
        <p:nvSpPr>
          <p:cNvPr id="8" name="Rectangle: Rounded Corners 7">
            <a:extLst>
              <a:ext uri="{FF2B5EF4-FFF2-40B4-BE49-F238E27FC236}">
                <a16:creationId xmlns:a16="http://schemas.microsoft.com/office/drawing/2014/main" id="{2763DD0E-223E-B164-AE89-FED2729F7B8A}"/>
              </a:ext>
            </a:extLst>
          </p:cNvPr>
          <p:cNvSpPr/>
          <p:nvPr/>
        </p:nvSpPr>
        <p:spPr>
          <a:xfrm>
            <a:off x="2606567" y="3804421"/>
            <a:ext cx="2081048" cy="42041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5B6E81B-645C-A94E-4D96-418CA0501C91}"/>
              </a:ext>
            </a:extLst>
          </p:cNvPr>
          <p:cNvSpPr/>
          <p:nvPr/>
        </p:nvSpPr>
        <p:spPr>
          <a:xfrm>
            <a:off x="4871544" y="3499621"/>
            <a:ext cx="2948153" cy="42041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D86FBEE-202D-7FDE-4E95-765D35BAC426}"/>
              </a:ext>
            </a:extLst>
          </p:cNvPr>
          <p:cNvSpPr txBox="1"/>
          <p:nvPr/>
        </p:nvSpPr>
        <p:spPr>
          <a:xfrm>
            <a:off x="0" y="5802455"/>
            <a:ext cx="12192001" cy="1055545"/>
          </a:xfrm>
          <a:prstGeom prst="rect">
            <a:avLst/>
          </a:prstGeom>
          <a:solidFill>
            <a:schemeClr val="bg1"/>
          </a:solidFill>
          <a:ln>
            <a:solidFill>
              <a:srgbClr val="FF0000"/>
            </a:solidFill>
          </a:ln>
        </p:spPr>
        <p:txBody>
          <a:bodyPr wrap="square">
            <a:spAutoFit/>
          </a:bodyPr>
          <a:lstStyle/>
          <a:p>
            <a:pPr>
              <a:lnSpc>
                <a:spcPct val="150000"/>
              </a:lnSpc>
            </a:pPr>
            <a:r>
              <a:rPr lang="en-US" sz="2200" i="1" dirty="0">
                <a:latin typeface="Calibir"/>
              </a:rPr>
              <a:t>Why:</a:t>
            </a:r>
            <a:r>
              <a:rPr lang="en-US" sz="2200" dirty="0">
                <a:latin typeface="Calibir"/>
              </a:rPr>
              <a:t> Installs all the key Java tools together — saves setup time and ensures your IDE supports coding, compiling, debugging, Maven, and project management (all needed for CLI and GUI apps).</a:t>
            </a:r>
          </a:p>
        </p:txBody>
      </p:sp>
    </p:spTree>
    <p:extLst>
      <p:ext uri="{BB962C8B-B14F-4D97-AF65-F5344CB8AC3E}">
        <p14:creationId xmlns:p14="http://schemas.microsoft.com/office/powerpoint/2010/main" val="1977171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9CE4-C1B7-588B-6603-64710842A31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41F1B97-ECFE-AFAB-D0AE-CE49D6BECCB3}"/>
              </a:ext>
            </a:extLst>
          </p:cNvPr>
          <p:cNvPicPr>
            <a:picLocks noChangeAspect="1"/>
          </p:cNvPicPr>
          <p:nvPr/>
        </p:nvPicPr>
        <p:blipFill>
          <a:blip r:embed="rId2"/>
          <a:srcRect b="56781"/>
          <a:stretch>
            <a:fillRect/>
          </a:stretch>
        </p:blipFill>
        <p:spPr>
          <a:xfrm>
            <a:off x="21020" y="1947041"/>
            <a:ext cx="12192000" cy="2963917"/>
          </a:xfrm>
          <a:prstGeom prst="rect">
            <a:avLst/>
          </a:prstGeom>
        </p:spPr>
      </p:pic>
      <p:sp>
        <p:nvSpPr>
          <p:cNvPr id="2" name="Title 1">
            <a:extLst>
              <a:ext uri="{FF2B5EF4-FFF2-40B4-BE49-F238E27FC236}">
                <a16:creationId xmlns:a16="http://schemas.microsoft.com/office/drawing/2014/main" id="{00CE7EFF-9D59-71B5-B2EB-D411BD4AAFA1}"/>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846F0708-668F-7069-41BC-A0469D93D421}"/>
              </a:ext>
            </a:extLst>
          </p:cNvPr>
          <p:cNvSpPr txBox="1"/>
          <p:nvPr/>
        </p:nvSpPr>
        <p:spPr>
          <a:xfrm>
            <a:off x="21020" y="727841"/>
            <a:ext cx="12191999" cy="131818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highlight>
                  <a:srgbClr val="FFFF00"/>
                </a:highlight>
                <a:latin typeface="Calibir"/>
              </a:rPr>
              <a:t>Debugger for Java </a:t>
            </a:r>
            <a:r>
              <a:rPr lang="en-US" sz="2800" dirty="0">
                <a:latin typeface="Calibir"/>
              </a:rPr>
              <a:t>(Always install </a:t>
            </a:r>
            <a:r>
              <a:rPr lang="en-US" sz="2800" b="1" dirty="0">
                <a:latin typeface="Calibir"/>
              </a:rPr>
              <a:t>“Debugger for Java” by Microsoft</a:t>
            </a:r>
            <a:r>
              <a:rPr lang="en-US" sz="2800" dirty="0">
                <a:latin typeface="Calibir"/>
              </a:rPr>
              <a:t>, not Oracle. Oracle is old and no longer maintained)</a:t>
            </a:r>
          </a:p>
        </p:txBody>
      </p:sp>
      <p:sp>
        <p:nvSpPr>
          <p:cNvPr id="8" name="Rectangle: Rounded Corners 7">
            <a:extLst>
              <a:ext uri="{FF2B5EF4-FFF2-40B4-BE49-F238E27FC236}">
                <a16:creationId xmlns:a16="http://schemas.microsoft.com/office/drawing/2014/main" id="{083F663A-B407-4FC1-5CFE-D3C46B45032C}"/>
              </a:ext>
            </a:extLst>
          </p:cNvPr>
          <p:cNvSpPr/>
          <p:nvPr/>
        </p:nvSpPr>
        <p:spPr>
          <a:xfrm>
            <a:off x="893378" y="3008585"/>
            <a:ext cx="4035972" cy="42041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3C527D1-C97E-9751-0777-031F48BC575A}"/>
              </a:ext>
            </a:extLst>
          </p:cNvPr>
          <p:cNvSpPr txBox="1"/>
          <p:nvPr/>
        </p:nvSpPr>
        <p:spPr>
          <a:xfrm>
            <a:off x="0" y="4890849"/>
            <a:ext cx="12149960" cy="1964512"/>
          </a:xfrm>
          <a:prstGeom prst="rect">
            <a:avLst/>
          </a:prstGeom>
          <a:solidFill>
            <a:schemeClr val="bg1"/>
          </a:solidFill>
          <a:ln>
            <a:solidFill>
              <a:srgbClr val="FF0000"/>
            </a:solidFill>
          </a:ln>
        </p:spPr>
        <p:txBody>
          <a:bodyPr wrap="square">
            <a:spAutoFit/>
          </a:bodyPr>
          <a:lstStyle/>
          <a:p>
            <a:pPr>
              <a:lnSpc>
                <a:spcPct val="150000"/>
              </a:lnSpc>
            </a:pPr>
            <a:r>
              <a:rPr lang="en-US" sz="2800" i="1" dirty="0">
                <a:latin typeface="Calibir"/>
              </a:rPr>
              <a:t>Why:</a:t>
            </a:r>
            <a:r>
              <a:rPr lang="en-US" sz="2800" dirty="0">
                <a:latin typeface="Calibir"/>
              </a:rPr>
              <a:t> Lets you run and step through your JavaFX or CLI app line-by-line to check logic, handle runtime errors, and verify GUI event flow — essential for testing your login/enrolment systems.</a:t>
            </a:r>
          </a:p>
        </p:txBody>
      </p:sp>
    </p:spTree>
    <p:extLst>
      <p:ext uri="{BB962C8B-B14F-4D97-AF65-F5344CB8AC3E}">
        <p14:creationId xmlns:p14="http://schemas.microsoft.com/office/powerpoint/2010/main" val="2817157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E4279-4337-544C-E390-163D18378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C8770-B8BA-2B4C-B76C-62D6AFDBCFF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12242251-02E0-5CCB-D614-7E0B5D1AA6AA}"/>
              </a:ext>
            </a:extLst>
          </p:cNvPr>
          <p:cNvSpPr txBox="1"/>
          <p:nvPr/>
        </p:nvSpPr>
        <p:spPr>
          <a:xfrm>
            <a:off x="21020" y="727841"/>
            <a:ext cx="12191999" cy="67185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highlight>
                  <a:srgbClr val="FFFF00"/>
                </a:highlight>
                <a:latin typeface="Calibir"/>
              </a:rPr>
              <a:t>Maven for Java </a:t>
            </a:r>
            <a:r>
              <a:rPr lang="en-US" sz="2800" dirty="0">
                <a:latin typeface="Calibir"/>
              </a:rPr>
              <a:t>(recommended)</a:t>
            </a:r>
          </a:p>
        </p:txBody>
      </p:sp>
      <p:pic>
        <p:nvPicPr>
          <p:cNvPr id="4" name="Picture 3">
            <a:extLst>
              <a:ext uri="{FF2B5EF4-FFF2-40B4-BE49-F238E27FC236}">
                <a16:creationId xmlns:a16="http://schemas.microsoft.com/office/drawing/2014/main" id="{9DED8E37-A119-E364-36ED-625FB35A1E7E}"/>
              </a:ext>
            </a:extLst>
          </p:cNvPr>
          <p:cNvPicPr>
            <a:picLocks noChangeAspect="1"/>
          </p:cNvPicPr>
          <p:nvPr/>
        </p:nvPicPr>
        <p:blipFill>
          <a:blip r:embed="rId2"/>
          <a:srcRect b="60742"/>
          <a:stretch>
            <a:fillRect/>
          </a:stretch>
        </p:blipFill>
        <p:spPr>
          <a:xfrm>
            <a:off x="21020" y="1894560"/>
            <a:ext cx="12192000" cy="2692353"/>
          </a:xfrm>
          <a:prstGeom prst="rect">
            <a:avLst/>
          </a:prstGeom>
        </p:spPr>
      </p:pic>
      <p:sp>
        <p:nvSpPr>
          <p:cNvPr id="7" name="Rectangle: Rounded Corners 6">
            <a:extLst>
              <a:ext uri="{FF2B5EF4-FFF2-40B4-BE49-F238E27FC236}">
                <a16:creationId xmlns:a16="http://schemas.microsoft.com/office/drawing/2014/main" id="{823CE956-EED4-EA35-C1BC-CD13E7514F36}"/>
              </a:ext>
            </a:extLst>
          </p:cNvPr>
          <p:cNvSpPr/>
          <p:nvPr/>
        </p:nvSpPr>
        <p:spPr>
          <a:xfrm>
            <a:off x="914400" y="2911367"/>
            <a:ext cx="4035972" cy="48610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88CA352-ACF9-849D-EB70-E934B3DEAA4A}"/>
              </a:ext>
            </a:extLst>
          </p:cNvPr>
          <p:cNvSpPr txBox="1"/>
          <p:nvPr/>
        </p:nvSpPr>
        <p:spPr>
          <a:xfrm>
            <a:off x="0" y="4653862"/>
            <a:ext cx="12192000" cy="1964512"/>
          </a:xfrm>
          <a:prstGeom prst="rect">
            <a:avLst/>
          </a:prstGeom>
          <a:solidFill>
            <a:schemeClr val="bg1"/>
          </a:solidFill>
          <a:ln>
            <a:solidFill>
              <a:srgbClr val="FF0000"/>
            </a:solidFill>
          </a:ln>
        </p:spPr>
        <p:txBody>
          <a:bodyPr wrap="square">
            <a:spAutoFit/>
          </a:bodyPr>
          <a:lstStyle/>
          <a:p>
            <a:pPr>
              <a:lnSpc>
                <a:spcPct val="150000"/>
              </a:lnSpc>
            </a:pPr>
            <a:r>
              <a:rPr lang="en-US" sz="2800" i="1" dirty="0">
                <a:latin typeface="Calibir"/>
              </a:rPr>
              <a:t>Why:</a:t>
            </a:r>
            <a:r>
              <a:rPr lang="en-US" sz="2800" dirty="0">
                <a:latin typeface="Calibir"/>
              </a:rPr>
              <a:t> Handles dependencies like JavaFX libraries automatically — no need to manually configure module paths; ideal for large multi-file apps such as </a:t>
            </a:r>
            <a:r>
              <a:rPr lang="en-US" sz="2800" dirty="0" err="1">
                <a:latin typeface="Calibir"/>
              </a:rPr>
              <a:t>GUIUniApp</a:t>
            </a:r>
            <a:r>
              <a:rPr lang="en-US" sz="2800" dirty="0">
                <a:latin typeface="Calibir"/>
              </a:rPr>
              <a:t> or </a:t>
            </a:r>
            <a:r>
              <a:rPr lang="en-US" sz="2800" dirty="0" err="1">
                <a:latin typeface="Calibir"/>
              </a:rPr>
              <a:t>DeskBankApp</a:t>
            </a:r>
            <a:r>
              <a:rPr lang="en-US" sz="2800" dirty="0">
                <a:latin typeface="Calibir"/>
              </a:rPr>
              <a:t>.</a:t>
            </a:r>
          </a:p>
        </p:txBody>
      </p:sp>
    </p:spTree>
    <p:extLst>
      <p:ext uri="{BB962C8B-B14F-4D97-AF65-F5344CB8AC3E}">
        <p14:creationId xmlns:p14="http://schemas.microsoft.com/office/powerpoint/2010/main" val="3182677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D0CB4-1387-B3F7-C79D-8FCD3AFE52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FE5D5FB-3C09-3C36-6524-8A40F665F503}"/>
              </a:ext>
            </a:extLst>
          </p:cNvPr>
          <p:cNvPicPr>
            <a:picLocks noChangeAspect="1"/>
          </p:cNvPicPr>
          <p:nvPr/>
        </p:nvPicPr>
        <p:blipFill>
          <a:blip r:embed="rId2"/>
          <a:srcRect b="57548"/>
          <a:stretch>
            <a:fillRect/>
          </a:stretch>
        </p:blipFill>
        <p:spPr>
          <a:xfrm>
            <a:off x="21020" y="2154621"/>
            <a:ext cx="12192000" cy="2911367"/>
          </a:xfrm>
          <a:prstGeom prst="rect">
            <a:avLst/>
          </a:prstGeom>
        </p:spPr>
      </p:pic>
      <p:sp>
        <p:nvSpPr>
          <p:cNvPr id="2" name="Title 1">
            <a:extLst>
              <a:ext uri="{FF2B5EF4-FFF2-40B4-BE49-F238E27FC236}">
                <a16:creationId xmlns:a16="http://schemas.microsoft.com/office/drawing/2014/main" id="{7AB554D2-42A2-227F-D900-5A5692B10B6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C8F98507-42A5-A692-362F-9A0BC2738D4B}"/>
              </a:ext>
            </a:extLst>
          </p:cNvPr>
          <p:cNvSpPr txBox="1"/>
          <p:nvPr/>
        </p:nvSpPr>
        <p:spPr>
          <a:xfrm>
            <a:off x="21020" y="727841"/>
            <a:ext cx="12191999" cy="1318181"/>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highlight>
                  <a:srgbClr val="FFFF00"/>
                </a:highlight>
                <a:latin typeface="Calibir"/>
              </a:rPr>
              <a:t>Project Manager for Java </a:t>
            </a:r>
            <a:r>
              <a:rPr lang="en-US" sz="2800" dirty="0">
                <a:latin typeface="Calibir"/>
              </a:rPr>
              <a:t>(Microsoft)</a:t>
            </a:r>
          </a:p>
          <a:p>
            <a:pPr>
              <a:lnSpc>
                <a:spcPct val="150000"/>
              </a:lnSpc>
              <a:buNone/>
            </a:pPr>
            <a:r>
              <a:rPr lang="en-US" sz="2800" dirty="0">
                <a:latin typeface="Calibir"/>
              </a:rPr>
              <a:t>If “Java: Ready” doesn’t appear in the bottom bar, restart VS Code.</a:t>
            </a:r>
          </a:p>
        </p:txBody>
      </p:sp>
      <p:sp>
        <p:nvSpPr>
          <p:cNvPr id="7" name="Rectangle: Rounded Corners 6">
            <a:extLst>
              <a:ext uri="{FF2B5EF4-FFF2-40B4-BE49-F238E27FC236}">
                <a16:creationId xmlns:a16="http://schemas.microsoft.com/office/drawing/2014/main" id="{2C007F11-12B3-209F-09C1-1B81C516A827}"/>
              </a:ext>
            </a:extLst>
          </p:cNvPr>
          <p:cNvSpPr/>
          <p:nvPr/>
        </p:nvSpPr>
        <p:spPr>
          <a:xfrm>
            <a:off x="935421" y="3147850"/>
            <a:ext cx="4035972" cy="48610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317150F-0C88-ECE6-D418-D53445D04034}"/>
              </a:ext>
            </a:extLst>
          </p:cNvPr>
          <p:cNvSpPr txBox="1"/>
          <p:nvPr/>
        </p:nvSpPr>
        <p:spPr>
          <a:xfrm>
            <a:off x="21020" y="5140430"/>
            <a:ext cx="12149960" cy="1318181"/>
          </a:xfrm>
          <a:prstGeom prst="rect">
            <a:avLst/>
          </a:prstGeom>
          <a:solidFill>
            <a:schemeClr val="bg1"/>
          </a:solidFill>
          <a:ln>
            <a:solidFill>
              <a:srgbClr val="FF0000"/>
            </a:solidFill>
          </a:ln>
        </p:spPr>
        <p:txBody>
          <a:bodyPr wrap="square">
            <a:spAutoFit/>
          </a:bodyPr>
          <a:lstStyle/>
          <a:p>
            <a:pPr>
              <a:lnSpc>
                <a:spcPct val="150000"/>
              </a:lnSpc>
            </a:pPr>
            <a:r>
              <a:rPr lang="en-US" sz="2800" i="1" dirty="0">
                <a:latin typeface="Calibir"/>
              </a:rPr>
              <a:t>Why:</a:t>
            </a:r>
            <a:r>
              <a:rPr lang="en-US" sz="2800" dirty="0">
                <a:latin typeface="Calibir"/>
              </a:rPr>
              <a:t> Helps </a:t>
            </a:r>
            <a:r>
              <a:rPr lang="en-US" sz="2800" dirty="0" err="1">
                <a:latin typeface="Calibir"/>
              </a:rPr>
              <a:t>organise</a:t>
            </a:r>
            <a:r>
              <a:rPr lang="en-US" sz="2800" dirty="0">
                <a:latin typeface="Calibir"/>
              </a:rPr>
              <a:t> and manage multiple classes (Student, Subject, Database, Controller, etc.) inside one folder — crucial for team projects in Assessment 1.</a:t>
            </a:r>
          </a:p>
        </p:txBody>
      </p:sp>
    </p:spTree>
    <p:extLst>
      <p:ext uri="{BB962C8B-B14F-4D97-AF65-F5344CB8AC3E}">
        <p14:creationId xmlns:p14="http://schemas.microsoft.com/office/powerpoint/2010/main" val="3307038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8CFC2-62AB-F97A-11C2-B0389585A16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315239B-94DE-817D-E3B2-CAE76EF5FCED}"/>
              </a:ext>
            </a:extLst>
          </p:cNvPr>
          <p:cNvPicPr>
            <a:picLocks noChangeAspect="1"/>
          </p:cNvPicPr>
          <p:nvPr/>
        </p:nvPicPr>
        <p:blipFill>
          <a:blip r:embed="rId2"/>
          <a:srcRect b="56475"/>
          <a:stretch>
            <a:fillRect/>
          </a:stretch>
        </p:blipFill>
        <p:spPr>
          <a:xfrm>
            <a:off x="0" y="1484585"/>
            <a:ext cx="12192000" cy="2984938"/>
          </a:xfrm>
          <a:prstGeom prst="rect">
            <a:avLst/>
          </a:prstGeom>
        </p:spPr>
      </p:pic>
      <p:sp>
        <p:nvSpPr>
          <p:cNvPr id="2" name="Title 1">
            <a:extLst>
              <a:ext uri="{FF2B5EF4-FFF2-40B4-BE49-F238E27FC236}">
                <a16:creationId xmlns:a16="http://schemas.microsoft.com/office/drawing/2014/main" id="{3F4085B2-4838-1FD2-E1AA-D2967EA3AE40}"/>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683E268E-D1ED-ABC1-8CD5-C114E0748771}"/>
              </a:ext>
            </a:extLst>
          </p:cNvPr>
          <p:cNvSpPr txBox="1"/>
          <p:nvPr/>
        </p:nvSpPr>
        <p:spPr>
          <a:xfrm>
            <a:off x="21020" y="727841"/>
            <a:ext cx="12191999" cy="523220"/>
          </a:xfrm>
          <a:prstGeom prst="rect">
            <a:avLst/>
          </a:prstGeom>
          <a:noFill/>
        </p:spPr>
        <p:txBody>
          <a:bodyPr wrap="square">
            <a:spAutoFit/>
          </a:bodyPr>
          <a:lstStyle/>
          <a:p>
            <a:r>
              <a:rPr lang="en-US" sz="2800" dirty="0">
                <a:highlight>
                  <a:srgbClr val="FFFF00"/>
                </a:highlight>
                <a:latin typeface="Calibir"/>
              </a:rPr>
              <a:t>Test Runner for Java</a:t>
            </a:r>
          </a:p>
        </p:txBody>
      </p:sp>
      <p:sp>
        <p:nvSpPr>
          <p:cNvPr id="7" name="Rectangle: Rounded Corners 6">
            <a:extLst>
              <a:ext uri="{FF2B5EF4-FFF2-40B4-BE49-F238E27FC236}">
                <a16:creationId xmlns:a16="http://schemas.microsoft.com/office/drawing/2014/main" id="{EF3DA4F7-0562-2133-C9AD-9FAF8B44C969}"/>
              </a:ext>
            </a:extLst>
          </p:cNvPr>
          <p:cNvSpPr/>
          <p:nvPr/>
        </p:nvSpPr>
        <p:spPr>
          <a:xfrm>
            <a:off x="935421" y="2485698"/>
            <a:ext cx="4035972" cy="47821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B2B24EA-B6F7-4E7E-4307-7AE7DC38DBA6}"/>
              </a:ext>
            </a:extLst>
          </p:cNvPr>
          <p:cNvSpPr txBox="1"/>
          <p:nvPr/>
        </p:nvSpPr>
        <p:spPr>
          <a:xfrm>
            <a:off x="0" y="4538272"/>
            <a:ext cx="12181490" cy="1318181"/>
          </a:xfrm>
          <a:prstGeom prst="rect">
            <a:avLst/>
          </a:prstGeom>
          <a:solidFill>
            <a:schemeClr val="bg1"/>
          </a:solidFill>
          <a:ln>
            <a:solidFill>
              <a:srgbClr val="FF0000"/>
            </a:solidFill>
          </a:ln>
        </p:spPr>
        <p:txBody>
          <a:bodyPr wrap="square">
            <a:spAutoFit/>
          </a:bodyPr>
          <a:lstStyle/>
          <a:p>
            <a:pPr>
              <a:lnSpc>
                <a:spcPct val="150000"/>
              </a:lnSpc>
            </a:pPr>
            <a:r>
              <a:rPr lang="en-US" sz="2800" i="1" dirty="0">
                <a:latin typeface="Calibir"/>
              </a:rPr>
              <a:t>Why:</a:t>
            </a:r>
            <a:r>
              <a:rPr lang="en-US" sz="2800" dirty="0">
                <a:latin typeface="Calibir"/>
              </a:rPr>
              <a:t> Enables quick execution of JUnit or simple logic tests to verify password validation, regex checks, or exception handling in your code.</a:t>
            </a:r>
          </a:p>
        </p:txBody>
      </p:sp>
    </p:spTree>
    <p:extLst>
      <p:ext uri="{BB962C8B-B14F-4D97-AF65-F5344CB8AC3E}">
        <p14:creationId xmlns:p14="http://schemas.microsoft.com/office/powerpoint/2010/main" val="187473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FDBD7-C1DF-CE68-A60E-15E52ECEF12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7C75E39-3F05-1612-10DC-C31B5FF69B7B}"/>
              </a:ext>
            </a:extLst>
          </p:cNvPr>
          <p:cNvPicPr>
            <a:picLocks noChangeAspect="1"/>
          </p:cNvPicPr>
          <p:nvPr/>
        </p:nvPicPr>
        <p:blipFill>
          <a:blip r:embed="rId2"/>
          <a:srcRect b="60976"/>
          <a:stretch>
            <a:fillRect/>
          </a:stretch>
        </p:blipFill>
        <p:spPr>
          <a:xfrm>
            <a:off x="-10510" y="1484585"/>
            <a:ext cx="12192000" cy="2676293"/>
          </a:xfrm>
          <a:prstGeom prst="rect">
            <a:avLst/>
          </a:prstGeom>
        </p:spPr>
      </p:pic>
      <p:sp>
        <p:nvSpPr>
          <p:cNvPr id="2" name="Title 1">
            <a:extLst>
              <a:ext uri="{FF2B5EF4-FFF2-40B4-BE49-F238E27FC236}">
                <a16:creationId xmlns:a16="http://schemas.microsoft.com/office/drawing/2014/main" id="{5AFD5689-737D-922A-44D2-A05956FAB1F9}"/>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BF60F895-2519-ED47-B60E-E634FFE9BEB7}"/>
              </a:ext>
            </a:extLst>
          </p:cNvPr>
          <p:cNvSpPr txBox="1"/>
          <p:nvPr/>
        </p:nvSpPr>
        <p:spPr>
          <a:xfrm>
            <a:off x="21020" y="727841"/>
            <a:ext cx="12191999" cy="523220"/>
          </a:xfrm>
          <a:prstGeom prst="rect">
            <a:avLst/>
          </a:prstGeom>
          <a:noFill/>
        </p:spPr>
        <p:txBody>
          <a:bodyPr wrap="square">
            <a:spAutoFit/>
          </a:bodyPr>
          <a:lstStyle/>
          <a:p>
            <a:r>
              <a:rPr lang="en-US" sz="2800" dirty="0">
                <a:highlight>
                  <a:srgbClr val="FFFF00"/>
                </a:highlight>
                <a:latin typeface="Calibir"/>
              </a:rPr>
              <a:t>Language Support for Java™ by Red Hat</a:t>
            </a:r>
          </a:p>
        </p:txBody>
      </p:sp>
      <p:sp>
        <p:nvSpPr>
          <p:cNvPr id="7" name="Rectangle: Rounded Corners 6">
            <a:extLst>
              <a:ext uri="{FF2B5EF4-FFF2-40B4-BE49-F238E27FC236}">
                <a16:creationId xmlns:a16="http://schemas.microsoft.com/office/drawing/2014/main" id="{14125D8D-090A-81D7-3863-F5C2636905AD}"/>
              </a:ext>
            </a:extLst>
          </p:cNvPr>
          <p:cNvSpPr/>
          <p:nvPr/>
        </p:nvSpPr>
        <p:spPr>
          <a:xfrm>
            <a:off x="935421" y="2485698"/>
            <a:ext cx="4035972" cy="47821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D967480-148E-7771-00FA-44EFC4E9DE4E}"/>
              </a:ext>
            </a:extLst>
          </p:cNvPr>
          <p:cNvSpPr txBox="1"/>
          <p:nvPr/>
        </p:nvSpPr>
        <p:spPr>
          <a:xfrm>
            <a:off x="0" y="4538272"/>
            <a:ext cx="12181490" cy="1965153"/>
          </a:xfrm>
          <a:prstGeom prst="rect">
            <a:avLst/>
          </a:prstGeom>
          <a:solidFill>
            <a:schemeClr val="bg1"/>
          </a:solidFill>
          <a:ln>
            <a:solidFill>
              <a:srgbClr val="FF0000"/>
            </a:solidFill>
          </a:ln>
        </p:spPr>
        <p:txBody>
          <a:bodyPr wrap="square">
            <a:spAutoFit/>
          </a:bodyPr>
          <a:lstStyle/>
          <a:p>
            <a:pPr>
              <a:lnSpc>
                <a:spcPct val="150000"/>
              </a:lnSpc>
            </a:pPr>
            <a:r>
              <a:rPr lang="en-US" sz="2800" i="1" dirty="0">
                <a:latin typeface="Calibir"/>
              </a:rPr>
              <a:t>Why:</a:t>
            </a:r>
            <a:r>
              <a:rPr lang="en-US" sz="2800" dirty="0">
                <a:latin typeface="Calibir"/>
              </a:rPr>
              <a:t> Provides smart IntelliSense (auto-completion, syntax checking, refactoring, and formatting).</a:t>
            </a:r>
            <a:br>
              <a:rPr lang="en-US" sz="2800" dirty="0">
                <a:latin typeface="Calibir"/>
              </a:rPr>
            </a:br>
            <a:r>
              <a:rPr lang="en-US" sz="2800" i="1" dirty="0">
                <a:latin typeface="Calibir"/>
              </a:rPr>
              <a:t>Yes, the Red Hat one in your screenshot is the correct and official </a:t>
            </a:r>
            <a:r>
              <a:rPr lang="en-US" sz="2800" i="1" dirty="0" err="1">
                <a:latin typeface="Calibir"/>
              </a:rPr>
              <a:t>versio</a:t>
            </a:r>
            <a:endParaRPr lang="en-US" sz="2800" dirty="0">
              <a:latin typeface="Calibir"/>
            </a:endParaRPr>
          </a:p>
        </p:txBody>
      </p:sp>
    </p:spTree>
    <p:extLst>
      <p:ext uri="{BB962C8B-B14F-4D97-AF65-F5344CB8AC3E}">
        <p14:creationId xmlns:p14="http://schemas.microsoft.com/office/powerpoint/2010/main" val="1600528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157B9-D143-BA2B-4307-1F96F9725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ED964-354B-843A-7366-425BDDF8E390}"/>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graphicFrame>
        <p:nvGraphicFramePr>
          <p:cNvPr id="3" name="Table 2">
            <a:extLst>
              <a:ext uri="{FF2B5EF4-FFF2-40B4-BE49-F238E27FC236}">
                <a16:creationId xmlns:a16="http://schemas.microsoft.com/office/drawing/2014/main" id="{2E089334-696E-2187-3061-A971747FC715}"/>
              </a:ext>
            </a:extLst>
          </p:cNvPr>
          <p:cNvGraphicFramePr>
            <a:graphicFrameLocks noGrp="1"/>
          </p:cNvGraphicFramePr>
          <p:nvPr>
            <p:extLst>
              <p:ext uri="{D42A27DB-BD31-4B8C-83A1-F6EECF244321}">
                <p14:modId xmlns:p14="http://schemas.microsoft.com/office/powerpoint/2010/main" val="2324503869"/>
              </p:ext>
            </p:extLst>
          </p:nvPr>
        </p:nvGraphicFramePr>
        <p:xfrm>
          <a:off x="144966" y="1371678"/>
          <a:ext cx="11965258" cy="5297551"/>
        </p:xfrm>
        <a:graphic>
          <a:graphicData uri="http://schemas.openxmlformats.org/drawingml/2006/table">
            <a:tbl>
              <a:tblPr>
                <a:tableStyleId>{BDBED569-4797-4DF1-A0F4-6AAB3CD982D8}</a:tableStyleId>
              </a:tblPr>
              <a:tblGrid>
                <a:gridCol w="5486400">
                  <a:extLst>
                    <a:ext uri="{9D8B030D-6E8A-4147-A177-3AD203B41FA5}">
                      <a16:colId xmlns:a16="http://schemas.microsoft.com/office/drawing/2014/main" val="3816955650"/>
                    </a:ext>
                  </a:extLst>
                </a:gridCol>
                <a:gridCol w="6478858">
                  <a:extLst>
                    <a:ext uri="{9D8B030D-6E8A-4147-A177-3AD203B41FA5}">
                      <a16:colId xmlns:a16="http://schemas.microsoft.com/office/drawing/2014/main" val="3903188837"/>
                    </a:ext>
                  </a:extLst>
                </a:gridCol>
              </a:tblGrid>
              <a:tr h="0">
                <a:tc>
                  <a:txBody>
                    <a:bodyPr/>
                    <a:lstStyle/>
                    <a:p>
                      <a:pPr>
                        <a:lnSpc>
                          <a:spcPct val="150000"/>
                        </a:lnSpc>
                        <a:buNone/>
                      </a:pPr>
                      <a:r>
                        <a:rPr lang="en-US" sz="2800" b="0" dirty="0">
                          <a:latin typeface="Calibir"/>
                        </a:rPr>
                        <a:t>Extension</a:t>
                      </a:r>
                    </a:p>
                  </a:txBody>
                  <a:tcPr anchor="ctr">
                    <a:solidFill>
                      <a:schemeClr val="accent5">
                        <a:lumMod val="20000"/>
                        <a:lumOff val="80000"/>
                      </a:schemeClr>
                    </a:solidFill>
                  </a:tcPr>
                </a:tc>
                <a:tc>
                  <a:txBody>
                    <a:bodyPr/>
                    <a:lstStyle/>
                    <a:p>
                      <a:pPr>
                        <a:lnSpc>
                          <a:spcPct val="150000"/>
                        </a:lnSpc>
                        <a:buNone/>
                      </a:pPr>
                      <a:r>
                        <a:rPr lang="en-US" sz="2800" b="0" dirty="0">
                          <a:latin typeface="Calibir"/>
                        </a:rPr>
                        <a:t>Purpose for Assessment 1 Part 2 &amp; 3</a:t>
                      </a:r>
                    </a:p>
                  </a:txBody>
                  <a:tcPr anchor="ctr">
                    <a:solidFill>
                      <a:schemeClr val="accent5">
                        <a:lumMod val="20000"/>
                        <a:lumOff val="80000"/>
                      </a:schemeClr>
                    </a:solidFill>
                  </a:tcPr>
                </a:tc>
                <a:extLst>
                  <a:ext uri="{0D108BD9-81ED-4DB2-BD59-A6C34878D82A}">
                    <a16:rowId xmlns:a16="http://schemas.microsoft.com/office/drawing/2014/main" val="1584854059"/>
                  </a:ext>
                </a:extLst>
              </a:tr>
              <a:tr h="0">
                <a:tc>
                  <a:txBody>
                    <a:bodyPr/>
                    <a:lstStyle/>
                    <a:p>
                      <a:pPr>
                        <a:lnSpc>
                          <a:spcPct val="150000"/>
                        </a:lnSpc>
                        <a:buNone/>
                      </a:pPr>
                      <a:r>
                        <a:rPr lang="en-US" sz="2800" b="0" dirty="0">
                          <a:latin typeface="Calibir"/>
                        </a:rPr>
                        <a:t>Extension Pack for Java</a:t>
                      </a:r>
                    </a:p>
                  </a:txBody>
                  <a:tcPr anchor="ctr"/>
                </a:tc>
                <a:tc>
                  <a:txBody>
                    <a:bodyPr/>
                    <a:lstStyle/>
                    <a:p>
                      <a:pPr>
                        <a:lnSpc>
                          <a:spcPct val="150000"/>
                        </a:lnSpc>
                        <a:buNone/>
                      </a:pPr>
                      <a:r>
                        <a:rPr lang="en-US" sz="2800" b="0">
                          <a:latin typeface="Calibir"/>
                        </a:rPr>
                        <a:t>All-in-one setup (installs everything below)</a:t>
                      </a:r>
                    </a:p>
                  </a:txBody>
                  <a:tcPr anchor="ctr"/>
                </a:tc>
                <a:extLst>
                  <a:ext uri="{0D108BD9-81ED-4DB2-BD59-A6C34878D82A}">
                    <a16:rowId xmlns:a16="http://schemas.microsoft.com/office/drawing/2014/main" val="644227451"/>
                  </a:ext>
                </a:extLst>
              </a:tr>
              <a:tr h="0">
                <a:tc>
                  <a:txBody>
                    <a:bodyPr/>
                    <a:lstStyle/>
                    <a:p>
                      <a:pPr>
                        <a:lnSpc>
                          <a:spcPct val="150000"/>
                        </a:lnSpc>
                        <a:buNone/>
                      </a:pPr>
                      <a:r>
                        <a:rPr lang="en-US" sz="2800" b="0" dirty="0">
                          <a:latin typeface="Calibir"/>
                        </a:rPr>
                        <a:t>Debugger for Java</a:t>
                      </a:r>
                    </a:p>
                  </a:txBody>
                  <a:tcPr anchor="ctr"/>
                </a:tc>
                <a:tc>
                  <a:txBody>
                    <a:bodyPr/>
                    <a:lstStyle/>
                    <a:p>
                      <a:pPr>
                        <a:lnSpc>
                          <a:spcPct val="150000"/>
                        </a:lnSpc>
                        <a:buNone/>
                      </a:pPr>
                      <a:r>
                        <a:rPr lang="en-US" sz="2800" b="0">
                          <a:latin typeface="Calibir"/>
                        </a:rPr>
                        <a:t>Test and debug your GUI / CLI logic</a:t>
                      </a:r>
                    </a:p>
                  </a:txBody>
                  <a:tcPr anchor="ctr"/>
                </a:tc>
                <a:extLst>
                  <a:ext uri="{0D108BD9-81ED-4DB2-BD59-A6C34878D82A}">
                    <a16:rowId xmlns:a16="http://schemas.microsoft.com/office/drawing/2014/main" val="3546279188"/>
                  </a:ext>
                </a:extLst>
              </a:tr>
              <a:tr h="0">
                <a:tc>
                  <a:txBody>
                    <a:bodyPr/>
                    <a:lstStyle/>
                    <a:p>
                      <a:pPr>
                        <a:lnSpc>
                          <a:spcPct val="150000"/>
                        </a:lnSpc>
                        <a:buNone/>
                      </a:pPr>
                      <a:r>
                        <a:rPr lang="en-US" sz="2800" b="0" dirty="0">
                          <a:latin typeface="Calibir"/>
                        </a:rPr>
                        <a:t>Maven for Java</a:t>
                      </a:r>
                    </a:p>
                  </a:txBody>
                  <a:tcPr anchor="ctr"/>
                </a:tc>
                <a:tc>
                  <a:txBody>
                    <a:bodyPr/>
                    <a:lstStyle/>
                    <a:p>
                      <a:pPr>
                        <a:lnSpc>
                          <a:spcPct val="150000"/>
                        </a:lnSpc>
                        <a:buNone/>
                      </a:pPr>
                      <a:r>
                        <a:rPr lang="en-US" sz="2800" b="0" dirty="0">
                          <a:latin typeface="Calibir"/>
                        </a:rPr>
                        <a:t>Add &amp; manage JavaFX dependencies easily</a:t>
                      </a:r>
                    </a:p>
                  </a:txBody>
                  <a:tcPr anchor="ctr"/>
                </a:tc>
                <a:extLst>
                  <a:ext uri="{0D108BD9-81ED-4DB2-BD59-A6C34878D82A}">
                    <a16:rowId xmlns:a16="http://schemas.microsoft.com/office/drawing/2014/main" val="2078616160"/>
                  </a:ext>
                </a:extLst>
              </a:tr>
              <a:tr h="0">
                <a:tc>
                  <a:txBody>
                    <a:bodyPr/>
                    <a:lstStyle/>
                    <a:p>
                      <a:pPr>
                        <a:lnSpc>
                          <a:spcPct val="150000"/>
                        </a:lnSpc>
                        <a:buNone/>
                      </a:pPr>
                      <a:r>
                        <a:rPr lang="en-US" sz="2800" b="0">
                          <a:latin typeface="Calibir"/>
                        </a:rPr>
                        <a:t>Project Manager for Java</a:t>
                      </a:r>
                    </a:p>
                  </a:txBody>
                  <a:tcPr anchor="ctr"/>
                </a:tc>
                <a:tc>
                  <a:txBody>
                    <a:bodyPr/>
                    <a:lstStyle/>
                    <a:p>
                      <a:pPr>
                        <a:lnSpc>
                          <a:spcPct val="150000"/>
                        </a:lnSpc>
                        <a:buNone/>
                      </a:pPr>
                      <a:r>
                        <a:rPr lang="en-US" sz="2800" b="0" dirty="0">
                          <a:latin typeface="Calibir"/>
                        </a:rPr>
                        <a:t>Structure large multi-class projects</a:t>
                      </a:r>
                    </a:p>
                  </a:txBody>
                  <a:tcPr anchor="ctr"/>
                </a:tc>
                <a:extLst>
                  <a:ext uri="{0D108BD9-81ED-4DB2-BD59-A6C34878D82A}">
                    <a16:rowId xmlns:a16="http://schemas.microsoft.com/office/drawing/2014/main" val="1954306010"/>
                  </a:ext>
                </a:extLst>
              </a:tr>
              <a:tr h="0">
                <a:tc>
                  <a:txBody>
                    <a:bodyPr/>
                    <a:lstStyle/>
                    <a:p>
                      <a:pPr>
                        <a:lnSpc>
                          <a:spcPct val="150000"/>
                        </a:lnSpc>
                        <a:buNone/>
                      </a:pPr>
                      <a:r>
                        <a:rPr lang="en-US" sz="2800" b="0" dirty="0">
                          <a:latin typeface="Calibir"/>
                        </a:rPr>
                        <a:t>Test Runner for Java</a:t>
                      </a:r>
                    </a:p>
                  </a:txBody>
                  <a:tcPr anchor="ctr"/>
                </a:tc>
                <a:tc>
                  <a:txBody>
                    <a:bodyPr/>
                    <a:lstStyle/>
                    <a:p>
                      <a:pPr>
                        <a:lnSpc>
                          <a:spcPct val="150000"/>
                        </a:lnSpc>
                        <a:buNone/>
                      </a:pPr>
                      <a:r>
                        <a:rPr lang="en-US" sz="2800" b="0" dirty="0">
                          <a:latin typeface="Calibir"/>
                        </a:rPr>
                        <a:t>Validate logic &amp; exceptions quickly</a:t>
                      </a:r>
                    </a:p>
                  </a:txBody>
                  <a:tcPr anchor="ctr"/>
                </a:tc>
                <a:extLst>
                  <a:ext uri="{0D108BD9-81ED-4DB2-BD59-A6C34878D82A}">
                    <a16:rowId xmlns:a16="http://schemas.microsoft.com/office/drawing/2014/main" val="3674972907"/>
                  </a:ext>
                </a:extLst>
              </a:tr>
              <a:tr h="0">
                <a:tc>
                  <a:txBody>
                    <a:bodyPr/>
                    <a:lstStyle/>
                    <a:p>
                      <a:pPr>
                        <a:lnSpc>
                          <a:spcPct val="150000"/>
                        </a:lnSpc>
                        <a:buNone/>
                      </a:pPr>
                      <a:r>
                        <a:rPr lang="en-US" sz="2800" b="0" dirty="0">
                          <a:latin typeface="Calibir"/>
                        </a:rPr>
                        <a:t>Language Support for Java™ by Red Hat</a:t>
                      </a:r>
                    </a:p>
                  </a:txBody>
                  <a:tcPr anchor="ctr"/>
                </a:tc>
                <a:tc>
                  <a:txBody>
                    <a:bodyPr/>
                    <a:lstStyle/>
                    <a:p>
                      <a:pPr>
                        <a:lnSpc>
                          <a:spcPct val="150000"/>
                        </a:lnSpc>
                        <a:buNone/>
                      </a:pPr>
                      <a:r>
                        <a:rPr lang="en-US" sz="2800" b="0" dirty="0">
                          <a:latin typeface="Calibir"/>
                        </a:rPr>
                        <a:t>Smart coding help and syntax checking</a:t>
                      </a:r>
                    </a:p>
                  </a:txBody>
                  <a:tcPr anchor="ctr"/>
                </a:tc>
                <a:extLst>
                  <a:ext uri="{0D108BD9-81ED-4DB2-BD59-A6C34878D82A}">
                    <a16:rowId xmlns:a16="http://schemas.microsoft.com/office/drawing/2014/main" val="1271716718"/>
                  </a:ext>
                </a:extLst>
              </a:tr>
            </a:tbl>
          </a:graphicData>
        </a:graphic>
      </p:graphicFrame>
      <p:sp>
        <p:nvSpPr>
          <p:cNvPr id="4" name="Rectangle 1">
            <a:extLst>
              <a:ext uri="{FF2B5EF4-FFF2-40B4-BE49-F238E27FC236}">
                <a16:creationId xmlns:a16="http://schemas.microsoft.com/office/drawing/2014/main" id="{DCF8C48D-88E7-2770-5949-30177D9EA4EB}"/>
              </a:ext>
            </a:extLst>
          </p:cNvPr>
          <p:cNvSpPr>
            <a:spLocks noChangeArrowheads="1"/>
          </p:cNvSpPr>
          <p:nvPr/>
        </p:nvSpPr>
        <p:spPr bwMode="auto">
          <a:xfrm>
            <a:off x="0" y="756745"/>
            <a:ext cx="19511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In summary</a:t>
            </a:r>
          </a:p>
        </p:txBody>
      </p:sp>
    </p:spTree>
    <p:extLst>
      <p:ext uri="{BB962C8B-B14F-4D97-AF65-F5344CB8AC3E}">
        <p14:creationId xmlns:p14="http://schemas.microsoft.com/office/powerpoint/2010/main" val="2601176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72983-19A1-38F1-AE04-98A400B98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FA3F8-6288-EEED-E556-461B4194B18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513C415A-E4A5-8F9C-1891-47C96E418C06}"/>
              </a:ext>
            </a:extLst>
          </p:cNvPr>
          <p:cNvSpPr>
            <a:spLocks noChangeArrowheads="1"/>
          </p:cNvSpPr>
          <p:nvPr/>
        </p:nvSpPr>
        <p:spPr bwMode="auto">
          <a:xfrm>
            <a:off x="0" y="2446744"/>
            <a:ext cx="12192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If we simply install Extension Pack for Java (by Microsoft), it will automatically include all the others — then we just need to restart VS Code, open our project folder, and we’re ready to start building our </a:t>
            </a:r>
            <a:r>
              <a:rPr lang="en-US" sz="2800" dirty="0" err="1">
                <a:latin typeface="Calibir"/>
              </a:rPr>
              <a:t>GUIBankApp</a:t>
            </a:r>
            <a:r>
              <a:rPr lang="en-US" sz="2800" dirty="0">
                <a:latin typeface="Calibir"/>
              </a:rPr>
              <a:t> / </a:t>
            </a:r>
            <a:r>
              <a:rPr lang="en-US" sz="2800" dirty="0" err="1">
                <a:latin typeface="Calibir"/>
              </a:rPr>
              <a:t>GUIUniApp</a:t>
            </a:r>
            <a:r>
              <a:rPr lang="en-US" sz="2800" dirty="0">
                <a:latin typeface="Calibir"/>
              </a:rPr>
              <a:t>.</a:t>
            </a:r>
            <a:endParaRPr kumimoji="0" lang="en-US" altLang="en-US" sz="280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3617415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CFA9A-4068-402B-1FF6-ABCCA7331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C71BD-1909-2850-58EE-269F1FFF12F3}"/>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70BF0949-C0B2-9FE5-8139-692A22C94089}"/>
              </a:ext>
            </a:extLst>
          </p:cNvPr>
          <p:cNvSpPr>
            <a:spLocks noChangeArrowheads="1"/>
          </p:cNvSpPr>
          <p:nvPr/>
        </p:nvSpPr>
        <p:spPr bwMode="auto">
          <a:xfrm>
            <a:off x="0" y="1726241"/>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Use a Proper Java Project</a:t>
            </a:r>
          </a:p>
          <a:p>
            <a:pPr marL="457200" indent="-457200">
              <a:lnSpc>
                <a:spcPct val="150000"/>
              </a:lnSpc>
              <a:buFont typeface="Arial" panose="020B0604020202020204" pitchFamily="34" charset="0"/>
              <a:buChar char="•"/>
            </a:pPr>
            <a:r>
              <a:rPr lang="en-US" sz="2800" dirty="0">
                <a:latin typeface="Calibir"/>
              </a:rPr>
              <a:t>Press </a:t>
            </a:r>
            <a:r>
              <a:rPr lang="en-US" sz="2800" dirty="0" err="1">
                <a:latin typeface="Calibir"/>
              </a:rPr>
              <a:t>Ctrl+Shift+P</a:t>
            </a:r>
            <a:r>
              <a:rPr lang="en-US" sz="2800" dirty="0">
                <a:latin typeface="Calibir"/>
              </a:rPr>
              <a:t> → “</a:t>
            </a:r>
            <a:r>
              <a:rPr lang="en-US" sz="2800" dirty="0">
                <a:highlight>
                  <a:srgbClr val="FFFF00"/>
                </a:highlight>
                <a:latin typeface="Calibir"/>
              </a:rPr>
              <a:t>Java: Create Java Project</a:t>
            </a:r>
            <a:r>
              <a:rPr lang="en-US" sz="2800" dirty="0">
                <a:latin typeface="Calibir"/>
              </a:rPr>
              <a:t>”</a:t>
            </a:r>
          </a:p>
        </p:txBody>
      </p:sp>
      <p:pic>
        <p:nvPicPr>
          <p:cNvPr id="5" name="Picture 4">
            <a:extLst>
              <a:ext uri="{FF2B5EF4-FFF2-40B4-BE49-F238E27FC236}">
                <a16:creationId xmlns:a16="http://schemas.microsoft.com/office/drawing/2014/main" id="{C8359E0F-3480-889D-4F00-765F7B598B1B}"/>
              </a:ext>
            </a:extLst>
          </p:cNvPr>
          <p:cNvPicPr>
            <a:picLocks noChangeAspect="1"/>
          </p:cNvPicPr>
          <p:nvPr/>
        </p:nvPicPr>
        <p:blipFill>
          <a:blip r:embed="rId2"/>
          <a:srcRect r="18952" b="67097"/>
          <a:stretch>
            <a:fillRect/>
          </a:stretch>
        </p:blipFill>
        <p:spPr>
          <a:xfrm>
            <a:off x="1" y="4073856"/>
            <a:ext cx="12192000" cy="2784143"/>
          </a:xfrm>
          <a:prstGeom prst="rect">
            <a:avLst/>
          </a:prstGeom>
        </p:spPr>
      </p:pic>
      <p:sp>
        <p:nvSpPr>
          <p:cNvPr id="6" name="Rectangle: Rounded Corners 5">
            <a:extLst>
              <a:ext uri="{FF2B5EF4-FFF2-40B4-BE49-F238E27FC236}">
                <a16:creationId xmlns:a16="http://schemas.microsoft.com/office/drawing/2014/main" id="{7DD19A92-5290-35E0-6C4E-942D468A24DF}"/>
              </a:ext>
            </a:extLst>
          </p:cNvPr>
          <p:cNvSpPr/>
          <p:nvPr/>
        </p:nvSpPr>
        <p:spPr>
          <a:xfrm>
            <a:off x="2993923" y="4262284"/>
            <a:ext cx="9198077" cy="97339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8373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25268-8F2A-F260-AE8C-637BB6483599}"/>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085D8E92-1F5A-12B3-320A-296DA171E11B}"/>
              </a:ext>
            </a:extLst>
          </p:cNvPr>
          <p:cNvPicPr>
            <a:picLocks noChangeAspect="1"/>
          </p:cNvPicPr>
          <p:nvPr/>
        </p:nvPicPr>
        <p:blipFill>
          <a:blip r:embed="rId2"/>
          <a:srcRect r="18831" b="52505"/>
          <a:stretch>
            <a:fillRect/>
          </a:stretch>
        </p:blipFill>
        <p:spPr>
          <a:xfrm>
            <a:off x="3166246" y="3893574"/>
            <a:ext cx="9025753" cy="2970690"/>
          </a:xfrm>
          <a:prstGeom prst="rect">
            <a:avLst/>
          </a:prstGeom>
        </p:spPr>
      </p:pic>
      <p:sp>
        <p:nvSpPr>
          <p:cNvPr id="2" name="Title 1">
            <a:extLst>
              <a:ext uri="{FF2B5EF4-FFF2-40B4-BE49-F238E27FC236}">
                <a16:creationId xmlns:a16="http://schemas.microsoft.com/office/drawing/2014/main" id="{18FC088C-D48C-9C39-FA22-238E7677C35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A2D24567-B2D0-BED2-37BB-7AF8E8607BB8}"/>
              </a:ext>
            </a:extLst>
          </p:cNvPr>
          <p:cNvSpPr>
            <a:spLocks noChangeArrowheads="1"/>
          </p:cNvSpPr>
          <p:nvPr/>
        </p:nvSpPr>
        <p:spPr bwMode="auto">
          <a:xfrm>
            <a:off x="0" y="1079910"/>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Use a Proper Java Project</a:t>
            </a:r>
          </a:p>
          <a:p>
            <a:pPr marL="457200" indent="-457200">
              <a:lnSpc>
                <a:spcPct val="150000"/>
              </a:lnSpc>
              <a:buFont typeface="Arial" panose="020B0604020202020204" pitchFamily="34" charset="0"/>
              <a:buChar char="•"/>
            </a:pPr>
            <a:r>
              <a:rPr lang="en-US" sz="2800" dirty="0">
                <a:latin typeface="Calibir"/>
              </a:rPr>
              <a:t>Choose No build tools (for simple) or Maven (for advanced). </a:t>
            </a:r>
            <a:r>
              <a:rPr lang="en-US" sz="2800" dirty="0">
                <a:highlight>
                  <a:srgbClr val="FFFF00"/>
                </a:highlight>
                <a:latin typeface="Calibir"/>
              </a:rPr>
              <a:t>For a simple “Hello JavaFX” or small Week 11 lab, choose → “No build tools.”</a:t>
            </a:r>
          </a:p>
          <a:p>
            <a:pPr marL="457200" indent="-457200">
              <a:lnSpc>
                <a:spcPct val="150000"/>
              </a:lnSpc>
              <a:buFont typeface="Arial" panose="020B0604020202020204" pitchFamily="34" charset="0"/>
              <a:buChar char="•"/>
            </a:pPr>
            <a:r>
              <a:rPr lang="en-US" sz="2800" dirty="0">
                <a:highlight>
                  <a:srgbClr val="FFFF00"/>
                </a:highlight>
                <a:latin typeface="Calibir"/>
              </a:rPr>
              <a:t>For Assessment 1 Part 2 &amp; 3 (</a:t>
            </a:r>
            <a:r>
              <a:rPr lang="en-US" sz="2800" dirty="0" err="1">
                <a:highlight>
                  <a:srgbClr val="FFFF00"/>
                </a:highlight>
                <a:latin typeface="Calibir"/>
              </a:rPr>
              <a:t>GUIUniApp</a:t>
            </a:r>
            <a:r>
              <a:rPr lang="en-US" sz="2800" dirty="0">
                <a:highlight>
                  <a:srgbClr val="FFFF00"/>
                </a:highlight>
                <a:latin typeface="Calibir"/>
              </a:rPr>
              <a:t>) choose Maven</a:t>
            </a:r>
            <a:endParaRPr lang="en-US" sz="2800" dirty="0">
              <a:latin typeface="Calibir"/>
            </a:endParaRPr>
          </a:p>
        </p:txBody>
      </p:sp>
      <p:sp>
        <p:nvSpPr>
          <p:cNvPr id="6" name="Rectangle: Rounded Corners 5">
            <a:extLst>
              <a:ext uri="{FF2B5EF4-FFF2-40B4-BE49-F238E27FC236}">
                <a16:creationId xmlns:a16="http://schemas.microsoft.com/office/drawing/2014/main" id="{4E3868F1-8D37-47E6-5184-806F1ECDC9B8}"/>
              </a:ext>
            </a:extLst>
          </p:cNvPr>
          <p:cNvSpPr/>
          <p:nvPr/>
        </p:nvSpPr>
        <p:spPr>
          <a:xfrm>
            <a:off x="5294671" y="4013919"/>
            <a:ext cx="6897328" cy="97339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9286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09825-F704-640E-91D5-09BFDC5A8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B31B7-509F-4802-F2B4-1E93F7EF8567}"/>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5E5006BB-905A-2A6D-CB06-78A666579459}"/>
              </a:ext>
            </a:extLst>
          </p:cNvPr>
          <p:cNvSpPr>
            <a:spLocks noChangeArrowheads="1"/>
          </p:cNvSpPr>
          <p:nvPr/>
        </p:nvSpPr>
        <p:spPr bwMode="auto">
          <a:xfrm>
            <a:off x="-1" y="877090"/>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latin typeface="Calibir"/>
              </a:rPr>
              <a:t>Click “New Folder” : </a:t>
            </a:r>
            <a:r>
              <a:rPr lang="en-US" sz="2800" dirty="0" err="1">
                <a:highlight>
                  <a:srgbClr val="FFFF00"/>
                </a:highlight>
                <a:latin typeface="Calibir"/>
              </a:rPr>
              <a:t>HelloFX</a:t>
            </a:r>
            <a:r>
              <a:rPr lang="en-US" sz="2800" dirty="0">
                <a:latin typeface="Calibir"/>
              </a:rPr>
              <a:t> This will be our simple project folder.</a:t>
            </a:r>
          </a:p>
        </p:txBody>
      </p:sp>
      <p:sp>
        <p:nvSpPr>
          <p:cNvPr id="3" name="AutoShape 2" descr="Uploaded image">
            <a:extLst>
              <a:ext uri="{FF2B5EF4-FFF2-40B4-BE49-F238E27FC236}">
                <a16:creationId xmlns:a16="http://schemas.microsoft.com/office/drawing/2014/main" id="{A95CDEFA-56E3-7CD6-5FF8-00843745D61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C08FD1B0-422E-FBE0-8ECA-4C4DAA759809}"/>
              </a:ext>
            </a:extLst>
          </p:cNvPr>
          <p:cNvPicPr>
            <a:picLocks noChangeAspect="1"/>
          </p:cNvPicPr>
          <p:nvPr/>
        </p:nvPicPr>
        <p:blipFill>
          <a:blip r:embed="rId2"/>
          <a:srcRect l="11976" r="3710" b="19355"/>
          <a:stretch>
            <a:fillRect/>
          </a:stretch>
        </p:blipFill>
        <p:spPr>
          <a:xfrm>
            <a:off x="956186" y="1327355"/>
            <a:ext cx="10279626" cy="5530645"/>
          </a:xfrm>
          <a:prstGeom prst="rect">
            <a:avLst/>
          </a:prstGeom>
        </p:spPr>
      </p:pic>
      <p:sp>
        <p:nvSpPr>
          <p:cNvPr id="11" name="Rectangle: Rounded Corners 10">
            <a:extLst>
              <a:ext uri="{FF2B5EF4-FFF2-40B4-BE49-F238E27FC236}">
                <a16:creationId xmlns:a16="http://schemas.microsoft.com/office/drawing/2014/main" id="{96ACB4F6-F3CE-106D-E117-3AE892253AF0}"/>
              </a:ext>
            </a:extLst>
          </p:cNvPr>
          <p:cNvSpPr/>
          <p:nvPr/>
        </p:nvSpPr>
        <p:spPr>
          <a:xfrm>
            <a:off x="1356851" y="2433485"/>
            <a:ext cx="1533833" cy="42770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53022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B1AB4-CA08-98C4-5927-8D295044F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D5D247-5C3C-8DA2-7FE2-F76CC232070E}"/>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D5F33727-EE46-0E55-29EB-D88632968195}"/>
              </a:ext>
            </a:extLst>
          </p:cNvPr>
          <p:cNvSpPr>
            <a:spLocks noChangeArrowheads="1"/>
          </p:cNvSpPr>
          <p:nvPr/>
        </p:nvSpPr>
        <p:spPr bwMode="auto">
          <a:xfrm>
            <a:off x="-1" y="877090"/>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latin typeface="Calibir"/>
              </a:rPr>
              <a:t>Select the folder we just created → click “</a:t>
            </a:r>
            <a:r>
              <a:rPr lang="en-US" sz="2800" dirty="0">
                <a:highlight>
                  <a:srgbClr val="FFFF00"/>
                </a:highlight>
                <a:latin typeface="Calibir"/>
              </a:rPr>
              <a:t>Select the project location</a:t>
            </a:r>
            <a:r>
              <a:rPr lang="en-US" sz="2800" dirty="0">
                <a:latin typeface="Calibir"/>
              </a:rPr>
              <a:t>.”</a:t>
            </a:r>
          </a:p>
        </p:txBody>
      </p:sp>
      <p:sp>
        <p:nvSpPr>
          <p:cNvPr id="3" name="AutoShape 2" descr="Uploaded image">
            <a:extLst>
              <a:ext uri="{FF2B5EF4-FFF2-40B4-BE49-F238E27FC236}">
                <a16:creationId xmlns:a16="http://schemas.microsoft.com/office/drawing/2014/main" id="{D48E6B96-4C00-4B82-F9E1-48B605F3C3A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47C09502-985F-4746-5021-BE472E66F4D9}"/>
              </a:ext>
            </a:extLst>
          </p:cNvPr>
          <p:cNvPicPr>
            <a:picLocks noChangeAspect="1"/>
          </p:cNvPicPr>
          <p:nvPr/>
        </p:nvPicPr>
        <p:blipFill>
          <a:blip r:embed="rId2"/>
          <a:srcRect l="11976" r="3710" b="19355"/>
          <a:stretch>
            <a:fillRect/>
          </a:stretch>
        </p:blipFill>
        <p:spPr>
          <a:xfrm>
            <a:off x="956186" y="1327355"/>
            <a:ext cx="10279626" cy="5530645"/>
          </a:xfrm>
          <a:prstGeom prst="rect">
            <a:avLst/>
          </a:prstGeom>
        </p:spPr>
      </p:pic>
      <p:sp>
        <p:nvSpPr>
          <p:cNvPr id="5" name="Rectangle: Rounded Corners 4">
            <a:extLst>
              <a:ext uri="{FF2B5EF4-FFF2-40B4-BE49-F238E27FC236}">
                <a16:creationId xmlns:a16="http://schemas.microsoft.com/office/drawing/2014/main" id="{1A6C6B5A-3619-BD6A-29A2-D4D1D156B894}"/>
              </a:ext>
            </a:extLst>
          </p:cNvPr>
          <p:cNvSpPr/>
          <p:nvPr/>
        </p:nvSpPr>
        <p:spPr>
          <a:xfrm>
            <a:off x="8775290" y="6400801"/>
            <a:ext cx="1533833" cy="42770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7159382-E76E-79C6-FC15-5BB741F45184}"/>
              </a:ext>
            </a:extLst>
          </p:cNvPr>
          <p:cNvSpPr txBox="1"/>
          <p:nvPr/>
        </p:nvSpPr>
        <p:spPr>
          <a:xfrm>
            <a:off x="1474839" y="3214837"/>
            <a:ext cx="9615947" cy="1964512"/>
          </a:xfrm>
          <a:prstGeom prst="rect">
            <a:avLst/>
          </a:prstGeom>
          <a:noFill/>
          <a:ln>
            <a:solidFill>
              <a:srgbClr val="FF0000"/>
            </a:solidFill>
          </a:ln>
        </p:spPr>
        <p:txBody>
          <a:bodyPr wrap="square">
            <a:spAutoFit/>
          </a:bodyPr>
          <a:lstStyle/>
          <a:p>
            <a:pPr>
              <a:lnSpc>
                <a:spcPct val="150000"/>
              </a:lnSpc>
            </a:pPr>
            <a:r>
              <a:rPr lang="en-US" sz="2800" dirty="0">
                <a:latin typeface="Calibir"/>
              </a:rPr>
              <a:t>VS Code will now create a project structure under:</a:t>
            </a:r>
          </a:p>
          <a:p>
            <a:pPr>
              <a:lnSpc>
                <a:spcPct val="150000"/>
              </a:lnSpc>
            </a:pPr>
            <a:r>
              <a:rPr lang="en-US" sz="2800" dirty="0">
                <a:latin typeface="Calibir"/>
              </a:rPr>
              <a:t>E:\Job in Australia\UTS\Courses\Fundamentals of Software Development\Week 11\</a:t>
            </a:r>
            <a:r>
              <a:rPr lang="en-US" sz="2800" dirty="0" err="1">
                <a:latin typeface="Calibir"/>
              </a:rPr>
              <a:t>HelloFX</a:t>
            </a:r>
            <a:endParaRPr lang="en-US" sz="2800" dirty="0">
              <a:latin typeface="Calibir"/>
            </a:endParaRPr>
          </a:p>
        </p:txBody>
      </p:sp>
    </p:spTree>
    <p:extLst>
      <p:ext uri="{BB962C8B-B14F-4D97-AF65-F5344CB8AC3E}">
        <p14:creationId xmlns:p14="http://schemas.microsoft.com/office/powerpoint/2010/main" val="16953181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BD44A-2830-2C66-7723-01CB1733F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D3692-FE6D-97D5-9A58-69710D9F941E}"/>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CC3601F0-DF9B-835E-9112-D2BD619AE076}"/>
              </a:ext>
            </a:extLst>
          </p:cNvPr>
          <p:cNvSpPr>
            <a:spLocks noChangeArrowheads="1"/>
          </p:cNvSpPr>
          <p:nvPr/>
        </p:nvSpPr>
        <p:spPr bwMode="auto">
          <a:xfrm>
            <a:off x="-1" y="756745"/>
            <a:ext cx="1219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800" dirty="0">
                <a:latin typeface="Calibir"/>
              </a:rPr>
              <a:t>Choose a Name (e.g., </a:t>
            </a:r>
            <a:r>
              <a:rPr lang="en-US" sz="2800" dirty="0" err="1">
                <a:latin typeface="Calibir"/>
              </a:rPr>
              <a:t>HelloFX</a:t>
            </a:r>
            <a:r>
              <a:rPr lang="en-US" sz="2800" dirty="0">
                <a:latin typeface="Calibir"/>
              </a:rPr>
              <a:t>) and press Enter</a:t>
            </a:r>
          </a:p>
        </p:txBody>
      </p:sp>
      <p:sp>
        <p:nvSpPr>
          <p:cNvPr id="3" name="AutoShape 2" descr="Uploaded image">
            <a:extLst>
              <a:ext uri="{FF2B5EF4-FFF2-40B4-BE49-F238E27FC236}">
                <a16:creationId xmlns:a16="http://schemas.microsoft.com/office/drawing/2014/main" id="{B0D2E230-184F-21B4-319D-8178674685D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9D3AB60C-916D-86BD-9DC7-6B2C62F8EFFD}"/>
              </a:ext>
            </a:extLst>
          </p:cNvPr>
          <p:cNvPicPr>
            <a:picLocks noChangeAspect="1"/>
          </p:cNvPicPr>
          <p:nvPr/>
        </p:nvPicPr>
        <p:blipFill>
          <a:blip r:embed="rId2"/>
          <a:srcRect b="83656"/>
          <a:stretch>
            <a:fillRect/>
          </a:stretch>
        </p:blipFill>
        <p:spPr>
          <a:xfrm>
            <a:off x="-1" y="1279965"/>
            <a:ext cx="12192000" cy="1120877"/>
          </a:xfrm>
          <a:prstGeom prst="rect">
            <a:avLst/>
          </a:prstGeom>
          <a:ln>
            <a:solidFill>
              <a:srgbClr val="FF0000"/>
            </a:solidFill>
          </a:ln>
        </p:spPr>
      </p:pic>
      <p:pic>
        <p:nvPicPr>
          <p:cNvPr id="11" name="Picture 10">
            <a:extLst>
              <a:ext uri="{FF2B5EF4-FFF2-40B4-BE49-F238E27FC236}">
                <a16:creationId xmlns:a16="http://schemas.microsoft.com/office/drawing/2014/main" id="{12AFA930-0165-C085-009D-2F33B3D2E6FD}"/>
              </a:ext>
            </a:extLst>
          </p:cNvPr>
          <p:cNvPicPr>
            <a:picLocks noChangeAspect="1"/>
          </p:cNvPicPr>
          <p:nvPr/>
        </p:nvPicPr>
        <p:blipFill>
          <a:blip r:embed="rId3"/>
          <a:srcRect b="42270"/>
          <a:stretch>
            <a:fillRect/>
          </a:stretch>
        </p:blipFill>
        <p:spPr>
          <a:xfrm>
            <a:off x="0" y="2898893"/>
            <a:ext cx="12192000" cy="3959108"/>
          </a:xfrm>
          <a:prstGeom prst="rect">
            <a:avLst/>
          </a:prstGeom>
          <a:ln>
            <a:solidFill>
              <a:srgbClr val="FF0000"/>
            </a:solidFill>
          </a:ln>
        </p:spPr>
      </p:pic>
      <p:cxnSp>
        <p:nvCxnSpPr>
          <p:cNvPr id="13" name="Connector: Elbow 12">
            <a:extLst>
              <a:ext uri="{FF2B5EF4-FFF2-40B4-BE49-F238E27FC236}">
                <a16:creationId xmlns:a16="http://schemas.microsoft.com/office/drawing/2014/main" id="{0C6825B7-3285-72CC-E096-67FD16C4DD89}"/>
              </a:ext>
            </a:extLst>
          </p:cNvPr>
          <p:cNvCxnSpPr>
            <a:cxnSpLocks/>
            <a:endCxn id="11" idx="0"/>
          </p:cNvCxnSpPr>
          <p:nvPr/>
        </p:nvCxnSpPr>
        <p:spPr>
          <a:xfrm rot="16200000" flipH="1">
            <a:off x="5615918" y="2418811"/>
            <a:ext cx="498050" cy="462114"/>
          </a:xfrm>
          <a:prstGeom prst="bentConnector3">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69FF7028-4C48-1267-FB02-23CEEDCD9561}"/>
              </a:ext>
            </a:extLst>
          </p:cNvPr>
          <p:cNvSpPr txBox="1"/>
          <p:nvPr/>
        </p:nvSpPr>
        <p:spPr>
          <a:xfrm>
            <a:off x="6504038" y="5043948"/>
            <a:ext cx="5687961" cy="1769911"/>
          </a:xfrm>
          <a:prstGeom prst="rect">
            <a:avLst/>
          </a:prstGeom>
          <a:solidFill>
            <a:schemeClr val="bg1"/>
          </a:solidFill>
          <a:ln>
            <a:solidFill>
              <a:srgbClr val="FF0000"/>
            </a:solidFill>
          </a:ln>
        </p:spPr>
        <p:txBody>
          <a:bodyPr wrap="square">
            <a:spAutoFit/>
          </a:bodyPr>
          <a:lstStyle/>
          <a:p>
            <a:pPr>
              <a:lnSpc>
                <a:spcPct val="150000"/>
              </a:lnSpc>
            </a:pPr>
            <a:r>
              <a:rPr lang="en-US" sz="1800" b="1" dirty="0">
                <a:latin typeface="Calibir"/>
              </a:rPr>
              <a:t>Wait a few seconds</a:t>
            </a:r>
            <a:r>
              <a:rPr lang="en-US" sz="1800" dirty="0">
                <a:latin typeface="Calibir"/>
              </a:rPr>
              <a:t> → VS Code will open that folder automatically.</a:t>
            </a:r>
            <a:br>
              <a:rPr lang="en-US" sz="1800" dirty="0">
                <a:latin typeface="Calibir"/>
              </a:rPr>
            </a:br>
            <a:r>
              <a:rPr lang="en-US" sz="1800" dirty="0">
                <a:latin typeface="Calibir"/>
              </a:rPr>
              <a:t>We should see the folder name appear in the left sidebar (Explorer).</a:t>
            </a:r>
          </a:p>
        </p:txBody>
      </p:sp>
    </p:spTree>
    <p:extLst>
      <p:ext uri="{BB962C8B-B14F-4D97-AF65-F5344CB8AC3E}">
        <p14:creationId xmlns:p14="http://schemas.microsoft.com/office/powerpoint/2010/main" val="1829434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DD801-C5C7-1B99-B49C-E52624BA7CB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726E203-363D-BB5F-F898-DA26A329537F}"/>
              </a:ext>
            </a:extLst>
          </p:cNvPr>
          <p:cNvPicPr>
            <a:picLocks noChangeAspect="1"/>
          </p:cNvPicPr>
          <p:nvPr/>
        </p:nvPicPr>
        <p:blipFill>
          <a:blip r:embed="rId2"/>
          <a:srcRect r="18831" b="52505"/>
          <a:stretch>
            <a:fillRect/>
          </a:stretch>
        </p:blipFill>
        <p:spPr>
          <a:xfrm>
            <a:off x="3166246" y="3893574"/>
            <a:ext cx="9025753" cy="2970690"/>
          </a:xfrm>
          <a:prstGeom prst="rect">
            <a:avLst/>
          </a:prstGeom>
        </p:spPr>
      </p:pic>
      <p:sp>
        <p:nvSpPr>
          <p:cNvPr id="2" name="Title 1">
            <a:extLst>
              <a:ext uri="{FF2B5EF4-FFF2-40B4-BE49-F238E27FC236}">
                <a16:creationId xmlns:a16="http://schemas.microsoft.com/office/drawing/2014/main" id="{A3E630DA-0FA1-C140-9E2A-7088367054E3}"/>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8F98AD09-B621-86E3-3E23-EF186020F07D}"/>
              </a:ext>
            </a:extLst>
          </p:cNvPr>
          <p:cNvSpPr>
            <a:spLocks noChangeArrowheads="1"/>
          </p:cNvSpPr>
          <p:nvPr/>
        </p:nvSpPr>
        <p:spPr bwMode="auto">
          <a:xfrm>
            <a:off x="0" y="1078115"/>
            <a:ext cx="12192000" cy="261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i="1" dirty="0">
                <a:latin typeface="Calibir"/>
              </a:rPr>
              <a:t>Use this for</a:t>
            </a:r>
            <a:r>
              <a:rPr lang="en-US" sz="2800" dirty="0">
                <a:latin typeface="Calibir"/>
              </a:rPr>
              <a:t>: quick practice (e.g., HelloFX.java, one or two files).</a:t>
            </a:r>
            <a:br>
              <a:rPr lang="en-US" sz="2800" dirty="0">
                <a:latin typeface="Calibir"/>
              </a:rPr>
            </a:br>
            <a:r>
              <a:rPr lang="en-US" sz="2800" i="1" dirty="0">
                <a:latin typeface="Calibir"/>
              </a:rPr>
              <a:t>How it works</a:t>
            </a:r>
            <a:r>
              <a:rPr lang="en-US" sz="2800" dirty="0">
                <a:latin typeface="Calibir"/>
              </a:rPr>
              <a:t>: VS Code compiles .java files directly using our installed JDK.</a:t>
            </a:r>
            <a:br>
              <a:rPr lang="en-US" sz="2800" dirty="0">
                <a:latin typeface="Calibir"/>
              </a:rPr>
            </a:br>
            <a:r>
              <a:rPr lang="en-US" sz="2800" i="1" dirty="0">
                <a:latin typeface="Calibir"/>
              </a:rPr>
              <a:t>Limitation</a:t>
            </a:r>
            <a:r>
              <a:rPr lang="en-US" sz="2800" dirty="0">
                <a:latin typeface="Calibir"/>
              </a:rPr>
              <a:t>: We must manually configure the JavaFX SDK path or </a:t>
            </a:r>
            <a:r>
              <a:rPr lang="en-US" sz="2800" dirty="0" err="1">
                <a:latin typeface="Calibir"/>
              </a:rPr>
              <a:t>launch.json</a:t>
            </a:r>
            <a:r>
              <a:rPr lang="en-US" sz="2800" dirty="0">
                <a:latin typeface="Calibir"/>
              </a:rPr>
              <a:t> VM </a:t>
            </a:r>
            <a:r>
              <a:rPr lang="en-US" sz="2800" dirty="0" err="1">
                <a:latin typeface="Calibir"/>
              </a:rPr>
              <a:t>args</a:t>
            </a:r>
            <a:r>
              <a:rPr lang="en-US" sz="2800" dirty="0">
                <a:latin typeface="Calibir"/>
              </a:rPr>
              <a:t> later.</a:t>
            </a:r>
          </a:p>
        </p:txBody>
      </p:sp>
      <p:sp>
        <p:nvSpPr>
          <p:cNvPr id="6" name="Rectangle: Rounded Corners 5">
            <a:extLst>
              <a:ext uri="{FF2B5EF4-FFF2-40B4-BE49-F238E27FC236}">
                <a16:creationId xmlns:a16="http://schemas.microsoft.com/office/drawing/2014/main" id="{851B09C5-4482-7204-882B-8922495D0B95}"/>
              </a:ext>
            </a:extLst>
          </p:cNvPr>
          <p:cNvSpPr/>
          <p:nvPr/>
        </p:nvSpPr>
        <p:spPr>
          <a:xfrm>
            <a:off x="5294671" y="4013919"/>
            <a:ext cx="6897328" cy="97339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4894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AD453-BF6D-4927-812E-AC983F1DE6C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C605655-19CC-2586-8997-A09E5AB702FC}"/>
              </a:ext>
            </a:extLst>
          </p:cNvPr>
          <p:cNvPicPr>
            <a:picLocks noChangeAspect="1"/>
          </p:cNvPicPr>
          <p:nvPr/>
        </p:nvPicPr>
        <p:blipFill>
          <a:blip r:embed="rId2"/>
          <a:srcRect r="18831" b="52505"/>
          <a:stretch>
            <a:fillRect/>
          </a:stretch>
        </p:blipFill>
        <p:spPr>
          <a:xfrm>
            <a:off x="3166246" y="3893574"/>
            <a:ext cx="9025753" cy="2970690"/>
          </a:xfrm>
          <a:prstGeom prst="rect">
            <a:avLst/>
          </a:prstGeom>
        </p:spPr>
      </p:pic>
      <p:sp>
        <p:nvSpPr>
          <p:cNvPr id="2" name="Title 1">
            <a:extLst>
              <a:ext uri="{FF2B5EF4-FFF2-40B4-BE49-F238E27FC236}">
                <a16:creationId xmlns:a16="http://schemas.microsoft.com/office/drawing/2014/main" id="{571487E9-75B1-BD95-9261-F7AA2BCB815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F99E349C-0470-88E3-C031-12FD86E0D34A}"/>
              </a:ext>
            </a:extLst>
          </p:cNvPr>
          <p:cNvSpPr>
            <a:spLocks noChangeArrowheads="1"/>
          </p:cNvSpPr>
          <p:nvPr/>
        </p:nvSpPr>
        <p:spPr bwMode="auto">
          <a:xfrm>
            <a:off x="0" y="1078115"/>
            <a:ext cx="12192000" cy="261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i="1" dirty="0">
                <a:latin typeface="Calibir"/>
              </a:rPr>
              <a:t>Why for </a:t>
            </a:r>
            <a:r>
              <a:rPr lang="en-US" sz="2800" i="1" dirty="0">
                <a:highlight>
                  <a:srgbClr val="FFFF00"/>
                </a:highlight>
                <a:latin typeface="Calibir"/>
              </a:rPr>
              <a:t>Assessment 1 Part 2&amp;3</a:t>
            </a:r>
            <a:r>
              <a:rPr lang="en-US" sz="2800" dirty="0">
                <a:latin typeface="Calibir"/>
              </a:rPr>
              <a:t>: Maven automatically manages dependencies (like </a:t>
            </a:r>
            <a:r>
              <a:rPr lang="en-US" sz="2800" dirty="0" err="1">
                <a:latin typeface="Calibir"/>
              </a:rPr>
              <a:t>javafx</a:t>
            </a:r>
            <a:r>
              <a:rPr lang="en-US" sz="2800" dirty="0">
                <a:latin typeface="Calibir"/>
              </a:rPr>
              <a:t>-controls, </a:t>
            </a:r>
            <a:r>
              <a:rPr lang="en-US" sz="2800" dirty="0" err="1">
                <a:latin typeface="Calibir"/>
              </a:rPr>
              <a:t>javafx-fxml</a:t>
            </a:r>
            <a:r>
              <a:rPr lang="en-US" sz="2800" dirty="0">
                <a:latin typeface="Calibir"/>
              </a:rPr>
              <a:t>), project structure, and build scripts.</a:t>
            </a:r>
            <a:br>
              <a:rPr lang="en-US" sz="2800" dirty="0">
                <a:latin typeface="Calibir"/>
              </a:rPr>
            </a:br>
            <a:r>
              <a:rPr lang="en-US" sz="2800" i="1" dirty="0">
                <a:latin typeface="Calibir"/>
              </a:rPr>
              <a:t>Benefit</a:t>
            </a:r>
            <a:r>
              <a:rPr lang="en-US" sz="2800" dirty="0">
                <a:latin typeface="Calibir"/>
              </a:rPr>
              <a:t>: You just add JavaFX dependencies in pom.xml; no manual module-path setup.</a:t>
            </a:r>
          </a:p>
        </p:txBody>
      </p:sp>
      <p:sp>
        <p:nvSpPr>
          <p:cNvPr id="6" name="Rectangle: Rounded Corners 5">
            <a:extLst>
              <a:ext uri="{FF2B5EF4-FFF2-40B4-BE49-F238E27FC236}">
                <a16:creationId xmlns:a16="http://schemas.microsoft.com/office/drawing/2014/main" id="{56215F1E-360A-CE74-CB77-3D72042D915F}"/>
              </a:ext>
            </a:extLst>
          </p:cNvPr>
          <p:cNvSpPr/>
          <p:nvPr/>
        </p:nvSpPr>
        <p:spPr>
          <a:xfrm>
            <a:off x="5294671" y="4013919"/>
            <a:ext cx="6897328" cy="97339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4737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EAA48-D78F-7650-5E13-E2CFE314D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ACAF5A-2901-0463-520A-4650FA418830}"/>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3F72AE21-29F5-0D6F-A28A-DF5C69E5053E}"/>
              </a:ext>
            </a:extLst>
          </p:cNvPr>
          <p:cNvSpPr>
            <a:spLocks noChangeArrowheads="1"/>
          </p:cNvSpPr>
          <p:nvPr/>
        </p:nvSpPr>
        <p:spPr bwMode="auto">
          <a:xfrm>
            <a:off x="0" y="756745"/>
            <a:ext cx="12192000" cy="2610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i="1" dirty="0">
                <a:latin typeface="Calibir"/>
              </a:rPr>
              <a:t>Example folder structure for </a:t>
            </a:r>
            <a:r>
              <a:rPr lang="en-US" sz="2800" i="1" dirty="0">
                <a:highlight>
                  <a:srgbClr val="FFFF00"/>
                </a:highlight>
                <a:latin typeface="Calibir"/>
              </a:rPr>
              <a:t>Assessment 1 Part 2&amp;3 </a:t>
            </a:r>
            <a:r>
              <a:rPr lang="en-US" sz="2800" i="1" dirty="0">
                <a:latin typeface="Calibir"/>
              </a:rPr>
              <a:t>it creates</a:t>
            </a:r>
            <a:r>
              <a:rPr lang="en-US" sz="2800" dirty="0">
                <a:latin typeface="Calibir"/>
              </a:rPr>
              <a:t>:</a:t>
            </a:r>
          </a:p>
          <a:p>
            <a:pPr>
              <a:lnSpc>
                <a:spcPct val="150000"/>
              </a:lnSpc>
            </a:pPr>
            <a:r>
              <a:rPr lang="en-US" sz="2800" dirty="0" err="1">
                <a:latin typeface="Calibir"/>
              </a:rPr>
              <a:t>GUIUniApp</a:t>
            </a:r>
            <a:r>
              <a:rPr lang="en-US" sz="2800" dirty="0">
                <a:latin typeface="Calibir"/>
              </a:rPr>
              <a:t>/</a:t>
            </a:r>
          </a:p>
          <a:p>
            <a:pPr>
              <a:lnSpc>
                <a:spcPct val="150000"/>
              </a:lnSpc>
            </a:pPr>
            <a:r>
              <a:rPr lang="en-US" sz="2800" dirty="0">
                <a:latin typeface="Calibir"/>
              </a:rPr>
              <a:t>|── pom.xml</a:t>
            </a:r>
          </a:p>
          <a:p>
            <a:pPr>
              <a:lnSpc>
                <a:spcPct val="150000"/>
              </a:lnSpc>
            </a:pPr>
            <a:r>
              <a:rPr lang="en-US" sz="2800" dirty="0">
                <a:latin typeface="Calibir"/>
              </a:rPr>
              <a:t>└── </a:t>
            </a:r>
            <a:r>
              <a:rPr lang="en-US" sz="2800" dirty="0" err="1">
                <a:latin typeface="Calibir"/>
              </a:rPr>
              <a:t>src</a:t>
            </a:r>
            <a:r>
              <a:rPr lang="en-US" sz="2800" dirty="0">
                <a:latin typeface="Calibir"/>
              </a:rPr>
              <a:t>/main/java/</a:t>
            </a:r>
            <a:r>
              <a:rPr lang="en-US" sz="2800" dirty="0" err="1">
                <a:latin typeface="Calibir"/>
              </a:rPr>
              <a:t>edu</a:t>
            </a:r>
            <a:r>
              <a:rPr lang="en-US" sz="2800" dirty="0">
                <a:latin typeface="Calibir"/>
              </a:rPr>
              <a:t>/</a:t>
            </a:r>
            <a:r>
              <a:rPr lang="en-US" sz="2800" dirty="0" err="1">
                <a:latin typeface="Calibir"/>
              </a:rPr>
              <a:t>uts</a:t>
            </a:r>
            <a:r>
              <a:rPr lang="en-US" sz="2800" dirty="0">
                <a:latin typeface="Calibir"/>
              </a:rPr>
              <a:t>/</a:t>
            </a:r>
            <a:r>
              <a:rPr lang="en-US" sz="2800" dirty="0" err="1">
                <a:latin typeface="Calibir"/>
              </a:rPr>
              <a:t>guiuniapp</a:t>
            </a:r>
            <a:r>
              <a:rPr lang="en-US" sz="2800" dirty="0">
                <a:latin typeface="Calibir"/>
              </a:rPr>
              <a:t>/App.java</a:t>
            </a:r>
          </a:p>
        </p:txBody>
      </p:sp>
      <p:sp>
        <p:nvSpPr>
          <p:cNvPr id="5" name="TextBox 4">
            <a:extLst>
              <a:ext uri="{FF2B5EF4-FFF2-40B4-BE49-F238E27FC236}">
                <a16:creationId xmlns:a16="http://schemas.microsoft.com/office/drawing/2014/main" id="{35FFD703-ED1D-3A00-23BD-4EA6F91945F2}"/>
              </a:ext>
            </a:extLst>
          </p:cNvPr>
          <p:cNvSpPr txBox="1"/>
          <p:nvPr/>
        </p:nvSpPr>
        <p:spPr>
          <a:xfrm>
            <a:off x="0" y="3490413"/>
            <a:ext cx="11975690" cy="1318181"/>
          </a:xfrm>
          <a:prstGeom prst="rect">
            <a:avLst/>
          </a:prstGeom>
          <a:noFill/>
        </p:spPr>
        <p:txBody>
          <a:bodyPr wrap="square">
            <a:spAutoFit/>
          </a:bodyPr>
          <a:lstStyle/>
          <a:p>
            <a:pPr>
              <a:lnSpc>
                <a:spcPct val="150000"/>
              </a:lnSpc>
            </a:pPr>
            <a:r>
              <a:rPr lang="en-US" sz="2800" dirty="0">
                <a:latin typeface="Calibir"/>
              </a:rPr>
              <a:t>Maven keeps our model–controller–view code </a:t>
            </a:r>
            <a:r>
              <a:rPr lang="en-US" sz="2800" dirty="0" err="1">
                <a:latin typeface="Calibir"/>
              </a:rPr>
              <a:t>organised</a:t>
            </a:r>
            <a:r>
              <a:rPr lang="en-US" sz="2800" dirty="0">
                <a:latin typeface="Calibir"/>
              </a:rPr>
              <a:t>, handles .jar packaging, and is exactly what real industry IDEs use for JavaFX + file-based systems.</a:t>
            </a:r>
          </a:p>
        </p:txBody>
      </p:sp>
    </p:spTree>
    <p:extLst>
      <p:ext uri="{BB962C8B-B14F-4D97-AF65-F5344CB8AC3E}">
        <p14:creationId xmlns:p14="http://schemas.microsoft.com/office/powerpoint/2010/main" val="22759142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5C900-6DF7-C30C-452B-2206952A2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E5AF0-234F-1214-9790-F18C485B9997}"/>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graphicFrame>
        <p:nvGraphicFramePr>
          <p:cNvPr id="3" name="Table 2">
            <a:extLst>
              <a:ext uri="{FF2B5EF4-FFF2-40B4-BE49-F238E27FC236}">
                <a16:creationId xmlns:a16="http://schemas.microsoft.com/office/drawing/2014/main" id="{1713B5DB-7B6F-7893-4E17-FA00F1AEDF70}"/>
              </a:ext>
            </a:extLst>
          </p:cNvPr>
          <p:cNvGraphicFramePr>
            <a:graphicFrameLocks noGrp="1"/>
          </p:cNvGraphicFramePr>
          <p:nvPr>
            <p:extLst>
              <p:ext uri="{D42A27DB-BD31-4B8C-83A1-F6EECF244321}">
                <p14:modId xmlns:p14="http://schemas.microsoft.com/office/powerpoint/2010/main" val="586023924"/>
              </p:ext>
            </p:extLst>
          </p:nvPr>
        </p:nvGraphicFramePr>
        <p:xfrm>
          <a:off x="58994" y="1550056"/>
          <a:ext cx="12019935" cy="3688080"/>
        </p:xfrm>
        <a:graphic>
          <a:graphicData uri="http://schemas.openxmlformats.org/drawingml/2006/table">
            <a:tbl>
              <a:tblPr>
                <a:tableStyleId>{BDBED569-4797-4DF1-A0F4-6AAB3CD982D8}</a:tableStyleId>
              </a:tblPr>
              <a:tblGrid>
                <a:gridCol w="2882326">
                  <a:extLst>
                    <a:ext uri="{9D8B030D-6E8A-4147-A177-3AD203B41FA5}">
                      <a16:colId xmlns:a16="http://schemas.microsoft.com/office/drawing/2014/main" val="883314439"/>
                    </a:ext>
                  </a:extLst>
                </a:gridCol>
                <a:gridCol w="1630680">
                  <a:extLst>
                    <a:ext uri="{9D8B030D-6E8A-4147-A177-3AD203B41FA5}">
                      <a16:colId xmlns:a16="http://schemas.microsoft.com/office/drawing/2014/main" val="1384607904"/>
                    </a:ext>
                  </a:extLst>
                </a:gridCol>
                <a:gridCol w="2575560">
                  <a:extLst>
                    <a:ext uri="{9D8B030D-6E8A-4147-A177-3AD203B41FA5}">
                      <a16:colId xmlns:a16="http://schemas.microsoft.com/office/drawing/2014/main" val="2281587713"/>
                    </a:ext>
                  </a:extLst>
                </a:gridCol>
                <a:gridCol w="2103120">
                  <a:extLst>
                    <a:ext uri="{9D8B030D-6E8A-4147-A177-3AD203B41FA5}">
                      <a16:colId xmlns:a16="http://schemas.microsoft.com/office/drawing/2014/main" val="3884327208"/>
                    </a:ext>
                  </a:extLst>
                </a:gridCol>
                <a:gridCol w="2828249">
                  <a:extLst>
                    <a:ext uri="{9D8B030D-6E8A-4147-A177-3AD203B41FA5}">
                      <a16:colId xmlns:a16="http://schemas.microsoft.com/office/drawing/2014/main" val="3220552878"/>
                    </a:ext>
                  </a:extLst>
                </a:gridCol>
              </a:tblGrid>
              <a:tr h="0">
                <a:tc>
                  <a:txBody>
                    <a:bodyPr/>
                    <a:lstStyle/>
                    <a:p>
                      <a:pPr>
                        <a:buNone/>
                      </a:pPr>
                      <a:r>
                        <a:rPr lang="en-US" sz="2800" dirty="0">
                          <a:latin typeface="Calibir"/>
                        </a:rPr>
                        <a:t>Purpose</a:t>
                      </a:r>
                    </a:p>
                  </a:txBody>
                  <a:tcPr anchor="ctr">
                    <a:solidFill>
                      <a:schemeClr val="accent5">
                        <a:lumMod val="20000"/>
                        <a:lumOff val="80000"/>
                      </a:schemeClr>
                    </a:solidFill>
                  </a:tcPr>
                </a:tc>
                <a:tc>
                  <a:txBody>
                    <a:bodyPr/>
                    <a:lstStyle/>
                    <a:p>
                      <a:pPr>
                        <a:buNone/>
                      </a:pPr>
                      <a:r>
                        <a:rPr lang="en-US" sz="2800" dirty="0">
                          <a:latin typeface="Calibir"/>
                        </a:rPr>
                        <a:t>Option</a:t>
                      </a:r>
                    </a:p>
                  </a:txBody>
                  <a:tcPr anchor="ctr">
                    <a:solidFill>
                      <a:schemeClr val="accent5">
                        <a:lumMod val="20000"/>
                        <a:lumOff val="80000"/>
                      </a:schemeClr>
                    </a:solidFill>
                  </a:tcPr>
                </a:tc>
                <a:tc>
                  <a:txBody>
                    <a:bodyPr/>
                    <a:lstStyle/>
                    <a:p>
                      <a:pPr>
                        <a:buNone/>
                      </a:pPr>
                      <a:r>
                        <a:rPr lang="en-US" sz="2800">
                          <a:latin typeface="Calibir"/>
                        </a:rPr>
                        <a:t>Use When</a:t>
                      </a:r>
                    </a:p>
                  </a:txBody>
                  <a:tcPr anchor="ctr">
                    <a:solidFill>
                      <a:schemeClr val="accent5">
                        <a:lumMod val="20000"/>
                        <a:lumOff val="80000"/>
                      </a:schemeClr>
                    </a:solidFill>
                  </a:tcPr>
                </a:tc>
                <a:tc>
                  <a:txBody>
                    <a:bodyPr/>
                    <a:lstStyle/>
                    <a:p>
                      <a:pPr>
                        <a:buNone/>
                      </a:pPr>
                      <a:r>
                        <a:rPr lang="en-US" sz="2800" dirty="0">
                          <a:latin typeface="Calibir"/>
                        </a:rPr>
                        <a:t>Pros</a:t>
                      </a:r>
                    </a:p>
                  </a:txBody>
                  <a:tcPr anchor="ctr">
                    <a:solidFill>
                      <a:schemeClr val="accent5">
                        <a:lumMod val="20000"/>
                        <a:lumOff val="80000"/>
                      </a:schemeClr>
                    </a:solidFill>
                  </a:tcPr>
                </a:tc>
                <a:tc>
                  <a:txBody>
                    <a:bodyPr/>
                    <a:lstStyle/>
                    <a:p>
                      <a:pPr>
                        <a:buNone/>
                      </a:pPr>
                      <a:r>
                        <a:rPr lang="en-US" sz="2800" dirty="0">
                          <a:latin typeface="Calibir"/>
                        </a:rPr>
                        <a:t>Cons</a:t>
                      </a:r>
                    </a:p>
                  </a:txBody>
                  <a:tcPr anchor="ctr">
                    <a:solidFill>
                      <a:schemeClr val="accent5">
                        <a:lumMod val="20000"/>
                        <a:lumOff val="80000"/>
                      </a:schemeClr>
                    </a:solidFill>
                  </a:tcPr>
                </a:tc>
                <a:extLst>
                  <a:ext uri="{0D108BD9-81ED-4DB2-BD59-A6C34878D82A}">
                    <a16:rowId xmlns:a16="http://schemas.microsoft.com/office/drawing/2014/main" val="1566001632"/>
                  </a:ext>
                </a:extLst>
              </a:tr>
              <a:tr h="0">
                <a:tc>
                  <a:txBody>
                    <a:bodyPr/>
                    <a:lstStyle/>
                    <a:p>
                      <a:pPr>
                        <a:buNone/>
                      </a:pPr>
                      <a:r>
                        <a:rPr lang="en-US" sz="2800" b="0" dirty="0">
                          <a:latin typeface="Calibir"/>
                        </a:rPr>
                        <a:t>Week 11 </a:t>
                      </a:r>
                      <a:r>
                        <a:rPr lang="en-US" sz="2800" b="0" dirty="0" err="1">
                          <a:latin typeface="Calibir"/>
                        </a:rPr>
                        <a:t>HelloFX</a:t>
                      </a:r>
                      <a:endParaRPr lang="en-US" sz="2800" b="0" dirty="0">
                        <a:latin typeface="Calibir"/>
                      </a:endParaRPr>
                    </a:p>
                  </a:txBody>
                  <a:tcPr anchor="ctr"/>
                </a:tc>
                <a:tc>
                  <a:txBody>
                    <a:bodyPr/>
                    <a:lstStyle/>
                    <a:p>
                      <a:pPr>
                        <a:buNone/>
                      </a:pPr>
                      <a:r>
                        <a:rPr lang="en-US" sz="2800" b="0" dirty="0">
                          <a:latin typeface="Calibir"/>
                        </a:rPr>
                        <a:t>No build tools</a:t>
                      </a:r>
                    </a:p>
                  </a:txBody>
                  <a:tcPr anchor="ctr"/>
                </a:tc>
                <a:tc>
                  <a:txBody>
                    <a:bodyPr/>
                    <a:lstStyle/>
                    <a:p>
                      <a:pPr>
                        <a:buNone/>
                      </a:pPr>
                      <a:r>
                        <a:rPr lang="en-US" sz="2800">
                          <a:latin typeface="Calibir"/>
                        </a:rPr>
                        <a:t>Single-file demo</a:t>
                      </a:r>
                    </a:p>
                  </a:txBody>
                  <a:tcPr anchor="ctr"/>
                </a:tc>
                <a:tc>
                  <a:txBody>
                    <a:bodyPr/>
                    <a:lstStyle/>
                    <a:p>
                      <a:pPr>
                        <a:buNone/>
                      </a:pPr>
                      <a:r>
                        <a:rPr lang="en-US" sz="2800">
                          <a:latin typeface="Calibir"/>
                        </a:rPr>
                        <a:t>Quick setup</a:t>
                      </a:r>
                    </a:p>
                  </a:txBody>
                  <a:tcPr anchor="ctr"/>
                </a:tc>
                <a:tc>
                  <a:txBody>
                    <a:bodyPr/>
                    <a:lstStyle/>
                    <a:p>
                      <a:pPr>
                        <a:buNone/>
                      </a:pPr>
                      <a:r>
                        <a:rPr lang="en-US" sz="2800">
                          <a:latin typeface="Calibir"/>
                        </a:rPr>
                        <a:t>Manual JavaFX path setup</a:t>
                      </a:r>
                    </a:p>
                  </a:txBody>
                  <a:tcPr anchor="ctr"/>
                </a:tc>
                <a:extLst>
                  <a:ext uri="{0D108BD9-81ED-4DB2-BD59-A6C34878D82A}">
                    <a16:rowId xmlns:a16="http://schemas.microsoft.com/office/drawing/2014/main" val="1097445096"/>
                  </a:ext>
                </a:extLst>
              </a:tr>
              <a:tr h="0">
                <a:tc>
                  <a:txBody>
                    <a:bodyPr/>
                    <a:lstStyle/>
                    <a:p>
                      <a:pPr>
                        <a:buNone/>
                      </a:pPr>
                      <a:r>
                        <a:rPr lang="en-US" sz="2800" b="0">
                          <a:latin typeface="Calibir"/>
                        </a:rPr>
                        <a:t>Assessment 1 Part 2 &amp; 3 (GUIUniApp)</a:t>
                      </a:r>
                    </a:p>
                  </a:txBody>
                  <a:tcPr anchor="ctr"/>
                </a:tc>
                <a:tc>
                  <a:txBody>
                    <a:bodyPr/>
                    <a:lstStyle/>
                    <a:p>
                      <a:pPr>
                        <a:buNone/>
                      </a:pPr>
                      <a:r>
                        <a:rPr lang="en-US" sz="2800" b="0" dirty="0">
                          <a:latin typeface="Calibir"/>
                        </a:rPr>
                        <a:t>Maven</a:t>
                      </a:r>
                    </a:p>
                  </a:txBody>
                  <a:tcPr anchor="ctr"/>
                </a:tc>
                <a:tc>
                  <a:txBody>
                    <a:bodyPr/>
                    <a:lstStyle/>
                    <a:p>
                      <a:pPr>
                        <a:buNone/>
                      </a:pPr>
                      <a:r>
                        <a:rPr lang="en-US" sz="2800">
                          <a:latin typeface="Calibir"/>
                        </a:rPr>
                        <a:t>Multi-class project with dependencies</a:t>
                      </a:r>
                    </a:p>
                  </a:txBody>
                  <a:tcPr anchor="ctr"/>
                </a:tc>
                <a:tc>
                  <a:txBody>
                    <a:bodyPr/>
                    <a:lstStyle/>
                    <a:p>
                      <a:pPr>
                        <a:buNone/>
                      </a:pPr>
                      <a:r>
                        <a:rPr lang="en-US" sz="2800">
                          <a:latin typeface="Calibir"/>
                        </a:rPr>
                        <a:t>Auto-manages JavaFX libs, structured, scalable</a:t>
                      </a:r>
                    </a:p>
                  </a:txBody>
                  <a:tcPr anchor="ctr"/>
                </a:tc>
                <a:tc>
                  <a:txBody>
                    <a:bodyPr/>
                    <a:lstStyle/>
                    <a:p>
                      <a:pPr>
                        <a:buNone/>
                      </a:pPr>
                      <a:r>
                        <a:rPr lang="en-US" sz="2800" dirty="0">
                          <a:latin typeface="Calibir"/>
                        </a:rPr>
                        <a:t>Slightly more setup (one-time)</a:t>
                      </a:r>
                    </a:p>
                  </a:txBody>
                  <a:tcPr anchor="ctr"/>
                </a:tc>
                <a:extLst>
                  <a:ext uri="{0D108BD9-81ED-4DB2-BD59-A6C34878D82A}">
                    <a16:rowId xmlns:a16="http://schemas.microsoft.com/office/drawing/2014/main" val="1054983128"/>
                  </a:ext>
                </a:extLst>
              </a:tr>
            </a:tbl>
          </a:graphicData>
        </a:graphic>
      </p:graphicFrame>
    </p:spTree>
    <p:extLst>
      <p:ext uri="{BB962C8B-B14F-4D97-AF65-F5344CB8AC3E}">
        <p14:creationId xmlns:p14="http://schemas.microsoft.com/office/powerpoint/2010/main" val="22637223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D1125-40E6-9A8D-DA7B-E00595011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A0CD4-319D-CC68-E29E-CDB20C8B4039}"/>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CC2F8532-3EEF-F226-BB8A-F0B4C4407241}"/>
              </a:ext>
            </a:extLst>
          </p:cNvPr>
          <p:cNvSpPr>
            <a:spLocks noChangeArrowheads="1"/>
          </p:cNvSpPr>
          <p:nvPr/>
        </p:nvSpPr>
        <p:spPr bwMode="auto">
          <a:xfrm>
            <a:off x="0" y="793270"/>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If you see this warning, then:</a:t>
            </a:r>
          </a:p>
        </p:txBody>
      </p:sp>
      <p:pic>
        <p:nvPicPr>
          <p:cNvPr id="5" name="Picture 4">
            <a:extLst>
              <a:ext uri="{FF2B5EF4-FFF2-40B4-BE49-F238E27FC236}">
                <a16:creationId xmlns:a16="http://schemas.microsoft.com/office/drawing/2014/main" id="{1ED12DE8-87D0-A470-5170-E2095722093A}"/>
              </a:ext>
            </a:extLst>
          </p:cNvPr>
          <p:cNvPicPr>
            <a:picLocks noChangeAspect="1"/>
          </p:cNvPicPr>
          <p:nvPr/>
        </p:nvPicPr>
        <p:blipFill>
          <a:blip r:embed="rId2"/>
          <a:srcRect b="7096"/>
          <a:stretch>
            <a:fillRect/>
          </a:stretch>
        </p:blipFill>
        <p:spPr>
          <a:xfrm>
            <a:off x="5427406" y="3153396"/>
            <a:ext cx="6764593" cy="3704604"/>
          </a:xfrm>
          <a:prstGeom prst="rect">
            <a:avLst/>
          </a:prstGeom>
        </p:spPr>
      </p:pic>
      <p:pic>
        <p:nvPicPr>
          <p:cNvPr id="9" name="Picture 8">
            <a:extLst>
              <a:ext uri="{FF2B5EF4-FFF2-40B4-BE49-F238E27FC236}">
                <a16:creationId xmlns:a16="http://schemas.microsoft.com/office/drawing/2014/main" id="{AE2D5560-D708-928B-E419-6D0278DA94AA}"/>
              </a:ext>
            </a:extLst>
          </p:cNvPr>
          <p:cNvPicPr>
            <a:picLocks noChangeAspect="1"/>
          </p:cNvPicPr>
          <p:nvPr/>
        </p:nvPicPr>
        <p:blipFill>
          <a:blip r:embed="rId3"/>
          <a:srcRect l="47540" t="66236" r="17258" b="19570"/>
          <a:stretch>
            <a:fillRect/>
          </a:stretch>
        </p:blipFill>
        <p:spPr>
          <a:xfrm>
            <a:off x="0" y="1603465"/>
            <a:ext cx="6223819" cy="1411587"/>
          </a:xfrm>
          <a:prstGeom prst="rect">
            <a:avLst/>
          </a:prstGeom>
        </p:spPr>
      </p:pic>
      <p:sp>
        <p:nvSpPr>
          <p:cNvPr id="6" name="Rectangle: Rounded Corners 5">
            <a:extLst>
              <a:ext uri="{FF2B5EF4-FFF2-40B4-BE49-F238E27FC236}">
                <a16:creationId xmlns:a16="http://schemas.microsoft.com/office/drawing/2014/main" id="{6F795AC9-9C06-EB3C-4984-D76404A523DF}"/>
              </a:ext>
            </a:extLst>
          </p:cNvPr>
          <p:cNvSpPr/>
          <p:nvPr/>
        </p:nvSpPr>
        <p:spPr>
          <a:xfrm>
            <a:off x="7211960" y="3937819"/>
            <a:ext cx="2079523" cy="36871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3">
            <a:extLst>
              <a:ext uri="{FF2B5EF4-FFF2-40B4-BE49-F238E27FC236}">
                <a16:creationId xmlns:a16="http://schemas.microsoft.com/office/drawing/2014/main" id="{DD697115-25D0-F90B-D44F-20C58303DCC2}"/>
              </a:ext>
            </a:extLst>
          </p:cNvPr>
          <p:cNvSpPr>
            <a:spLocks noChangeArrowheads="1"/>
          </p:cNvSpPr>
          <p:nvPr/>
        </p:nvSpPr>
        <p:spPr bwMode="auto">
          <a:xfrm>
            <a:off x="0" y="3052150"/>
            <a:ext cx="5427406" cy="3907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Go to Extensions (Ctrl + Shift + X)</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Search for IBM Db2 for z/OS Developer Extension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Click  → Disable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Then continue — it won’t affect your JavaFX project.</a:t>
            </a:r>
            <a:endParaRPr kumimoji="0" lang="en-US" altLang="en-US" sz="2800" i="0" u="none" strike="noStrike" cap="none" normalizeH="0" baseline="0" dirty="0">
              <a:ln>
                <a:noFill/>
              </a:ln>
              <a:solidFill>
                <a:schemeClr val="tx1"/>
              </a:solidFill>
              <a:effectLst/>
              <a:latin typeface="Calibir"/>
            </a:endParaRPr>
          </a:p>
        </p:txBody>
      </p:sp>
      <p:cxnSp>
        <p:nvCxnSpPr>
          <p:cNvPr id="12" name="Connector: Elbow 11">
            <a:extLst>
              <a:ext uri="{FF2B5EF4-FFF2-40B4-BE49-F238E27FC236}">
                <a16:creationId xmlns:a16="http://schemas.microsoft.com/office/drawing/2014/main" id="{E1403644-E6FA-BCD4-FFEF-011E67B7F991}"/>
              </a:ext>
            </a:extLst>
          </p:cNvPr>
          <p:cNvCxnSpPr>
            <a:endCxn id="5" idx="0"/>
          </p:cNvCxnSpPr>
          <p:nvPr/>
        </p:nvCxnSpPr>
        <p:spPr>
          <a:xfrm>
            <a:off x="6312310" y="2212258"/>
            <a:ext cx="2497393" cy="941138"/>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5939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F1C65-EA49-C1E5-4909-D927F37AB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9EFB8C-6953-2785-61CB-C079BD8BEC5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CA6557BC-6F78-2557-592D-035A7D27DC76}"/>
              </a:ext>
            </a:extLst>
          </p:cNvPr>
          <p:cNvSpPr>
            <a:spLocks noChangeArrowheads="1"/>
          </p:cNvSpPr>
          <p:nvPr/>
        </p:nvSpPr>
        <p:spPr bwMode="auto">
          <a:xfrm>
            <a:off x="0" y="756745"/>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Here is out Folder Setup</a:t>
            </a:r>
            <a:endParaRPr lang="en-US" sz="2800" dirty="0">
              <a:latin typeface="Calibir"/>
            </a:endParaRPr>
          </a:p>
        </p:txBody>
      </p:sp>
      <p:pic>
        <p:nvPicPr>
          <p:cNvPr id="5" name="Picture 4">
            <a:extLst>
              <a:ext uri="{FF2B5EF4-FFF2-40B4-BE49-F238E27FC236}">
                <a16:creationId xmlns:a16="http://schemas.microsoft.com/office/drawing/2014/main" id="{3A92C395-6E44-EB10-D550-4525AAB13059}"/>
              </a:ext>
            </a:extLst>
          </p:cNvPr>
          <p:cNvPicPr>
            <a:picLocks noChangeAspect="1"/>
          </p:cNvPicPr>
          <p:nvPr/>
        </p:nvPicPr>
        <p:blipFill>
          <a:blip r:embed="rId2"/>
          <a:srcRect b="43656"/>
          <a:stretch>
            <a:fillRect/>
          </a:stretch>
        </p:blipFill>
        <p:spPr>
          <a:xfrm>
            <a:off x="0" y="1799303"/>
            <a:ext cx="12192000" cy="3864077"/>
          </a:xfrm>
          <a:prstGeom prst="rect">
            <a:avLst/>
          </a:prstGeom>
        </p:spPr>
      </p:pic>
    </p:spTree>
    <p:extLst>
      <p:ext uri="{BB962C8B-B14F-4D97-AF65-F5344CB8AC3E}">
        <p14:creationId xmlns:p14="http://schemas.microsoft.com/office/powerpoint/2010/main" val="1580432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27DAA-15ED-244E-15DC-3F05406FC3D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4044F317-6AA8-E1F8-BE55-4C4F30986D79}"/>
              </a:ext>
            </a:extLst>
          </p:cNvPr>
          <p:cNvPicPr>
            <a:picLocks noChangeAspect="1"/>
          </p:cNvPicPr>
          <p:nvPr/>
        </p:nvPicPr>
        <p:blipFill>
          <a:blip r:embed="rId2"/>
          <a:srcRect l="7984" r="8428" b="16775"/>
          <a:stretch>
            <a:fillRect/>
          </a:stretch>
        </p:blipFill>
        <p:spPr>
          <a:xfrm>
            <a:off x="0" y="0"/>
            <a:ext cx="12245162" cy="6858000"/>
          </a:xfrm>
          <a:prstGeom prst="rect">
            <a:avLst/>
          </a:prstGeom>
        </p:spPr>
      </p:pic>
    </p:spTree>
    <p:extLst>
      <p:ext uri="{BB962C8B-B14F-4D97-AF65-F5344CB8AC3E}">
        <p14:creationId xmlns:p14="http://schemas.microsoft.com/office/powerpoint/2010/main" val="2603564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73197-5B2B-F7B7-E057-B04B23892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7D7E1-5CB1-1A93-EA6D-CCA3857D5D9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TextBox 3">
            <a:extLst>
              <a:ext uri="{FF2B5EF4-FFF2-40B4-BE49-F238E27FC236}">
                <a16:creationId xmlns:a16="http://schemas.microsoft.com/office/drawing/2014/main" id="{8567FD40-38DD-194A-22B4-E6A9EA7012F3}"/>
              </a:ext>
            </a:extLst>
          </p:cNvPr>
          <p:cNvSpPr txBox="1"/>
          <p:nvPr/>
        </p:nvSpPr>
        <p:spPr>
          <a:xfrm>
            <a:off x="0" y="899653"/>
            <a:ext cx="12192000" cy="1318181"/>
          </a:xfrm>
          <a:prstGeom prst="rect">
            <a:avLst/>
          </a:prstGeom>
          <a:noFill/>
        </p:spPr>
        <p:txBody>
          <a:bodyPr wrap="square">
            <a:spAutoFit/>
          </a:bodyPr>
          <a:lstStyle/>
          <a:p>
            <a:pPr>
              <a:lnSpc>
                <a:spcPct val="150000"/>
              </a:lnSpc>
              <a:buNone/>
            </a:pPr>
            <a:r>
              <a:rPr lang="en-US" sz="2800" b="1" dirty="0">
                <a:latin typeface="Calibir"/>
              </a:rPr>
              <a:t>Configure VS Code to Run JavaFX</a:t>
            </a:r>
          </a:p>
          <a:p>
            <a:pPr marL="811213" indent="-514350">
              <a:lnSpc>
                <a:spcPct val="150000"/>
              </a:lnSpc>
              <a:buFont typeface="+mj-lt"/>
              <a:buAutoNum type="arabicPeriod"/>
            </a:pPr>
            <a:r>
              <a:rPr lang="en-US" sz="2800" dirty="0">
                <a:latin typeface="Calibir"/>
              </a:rPr>
              <a:t>On the left sidebar → click the Run and Debug icon (</a:t>
            </a:r>
            <a:r>
              <a:rPr lang="en-US" sz="2800" dirty="0">
                <a:highlight>
                  <a:srgbClr val="FFFF00"/>
                </a:highlight>
                <a:latin typeface="Calibir"/>
              </a:rPr>
              <a:t>Ctrl + Shift + D</a:t>
            </a:r>
            <a:r>
              <a:rPr lang="en-US" sz="2800" dirty="0">
                <a:latin typeface="Calibir"/>
              </a:rPr>
              <a:t>)</a:t>
            </a:r>
          </a:p>
        </p:txBody>
      </p:sp>
      <p:pic>
        <p:nvPicPr>
          <p:cNvPr id="6" name="Picture 5">
            <a:extLst>
              <a:ext uri="{FF2B5EF4-FFF2-40B4-BE49-F238E27FC236}">
                <a16:creationId xmlns:a16="http://schemas.microsoft.com/office/drawing/2014/main" id="{68BCAB26-02EE-3DBE-0399-D4C64FF182D2}"/>
              </a:ext>
            </a:extLst>
          </p:cNvPr>
          <p:cNvPicPr>
            <a:picLocks noChangeAspect="1"/>
          </p:cNvPicPr>
          <p:nvPr/>
        </p:nvPicPr>
        <p:blipFill>
          <a:blip r:embed="rId2"/>
          <a:srcRect b="50000"/>
          <a:stretch>
            <a:fillRect/>
          </a:stretch>
        </p:blipFill>
        <p:spPr>
          <a:xfrm>
            <a:off x="0" y="2360742"/>
            <a:ext cx="12192000" cy="3429000"/>
          </a:xfrm>
          <a:prstGeom prst="rect">
            <a:avLst/>
          </a:prstGeom>
        </p:spPr>
      </p:pic>
    </p:spTree>
    <p:extLst>
      <p:ext uri="{BB962C8B-B14F-4D97-AF65-F5344CB8AC3E}">
        <p14:creationId xmlns:p14="http://schemas.microsoft.com/office/powerpoint/2010/main" val="2044821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01D14-7992-D70C-171A-9370B19F3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7A937-C2FA-E5AE-AD5A-812A3A6A456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TextBox 3">
            <a:extLst>
              <a:ext uri="{FF2B5EF4-FFF2-40B4-BE49-F238E27FC236}">
                <a16:creationId xmlns:a16="http://schemas.microsoft.com/office/drawing/2014/main" id="{3F7767C9-BFFF-A8D3-A5E8-1522EF622484}"/>
              </a:ext>
            </a:extLst>
          </p:cNvPr>
          <p:cNvSpPr txBox="1"/>
          <p:nvPr/>
        </p:nvSpPr>
        <p:spPr>
          <a:xfrm>
            <a:off x="0" y="899653"/>
            <a:ext cx="12192000" cy="671851"/>
          </a:xfrm>
          <a:prstGeom prst="rect">
            <a:avLst/>
          </a:prstGeom>
          <a:noFill/>
        </p:spPr>
        <p:txBody>
          <a:bodyPr wrap="square">
            <a:spAutoFit/>
          </a:bodyPr>
          <a:lstStyle/>
          <a:p>
            <a:pPr marL="811213" indent="-514350">
              <a:lnSpc>
                <a:spcPct val="150000"/>
              </a:lnSpc>
              <a:buFont typeface="+mj-lt"/>
              <a:buAutoNum type="arabicPeriod" startAt="2"/>
            </a:pPr>
            <a:r>
              <a:rPr lang="en-US" sz="2800" dirty="0">
                <a:latin typeface="Calibir"/>
              </a:rPr>
              <a:t>Click “</a:t>
            </a:r>
            <a:r>
              <a:rPr lang="en-US" sz="2800" dirty="0">
                <a:highlight>
                  <a:srgbClr val="FFFF00"/>
                </a:highlight>
                <a:latin typeface="Calibir"/>
              </a:rPr>
              <a:t>create a </a:t>
            </a:r>
            <a:r>
              <a:rPr lang="en-US" sz="2800" dirty="0" err="1">
                <a:highlight>
                  <a:srgbClr val="FFFF00"/>
                </a:highlight>
                <a:latin typeface="Calibir"/>
              </a:rPr>
              <a:t>launch.json</a:t>
            </a:r>
            <a:r>
              <a:rPr lang="en-US" sz="2800" dirty="0">
                <a:highlight>
                  <a:srgbClr val="FFFF00"/>
                </a:highlight>
                <a:latin typeface="Calibir"/>
              </a:rPr>
              <a:t> file</a:t>
            </a:r>
            <a:r>
              <a:rPr lang="en-US" sz="2800" dirty="0">
                <a:latin typeface="Calibir"/>
              </a:rPr>
              <a:t>” → choose Java</a:t>
            </a:r>
          </a:p>
        </p:txBody>
      </p:sp>
      <p:pic>
        <p:nvPicPr>
          <p:cNvPr id="5" name="Picture 4">
            <a:extLst>
              <a:ext uri="{FF2B5EF4-FFF2-40B4-BE49-F238E27FC236}">
                <a16:creationId xmlns:a16="http://schemas.microsoft.com/office/drawing/2014/main" id="{A4722493-4E54-D23E-FD29-F07AC3C62FE9}"/>
              </a:ext>
            </a:extLst>
          </p:cNvPr>
          <p:cNvPicPr>
            <a:picLocks noChangeAspect="1"/>
          </p:cNvPicPr>
          <p:nvPr/>
        </p:nvPicPr>
        <p:blipFill>
          <a:blip r:embed="rId2"/>
          <a:srcRect b="55269"/>
          <a:stretch>
            <a:fillRect/>
          </a:stretch>
        </p:blipFill>
        <p:spPr>
          <a:xfrm>
            <a:off x="0" y="2492477"/>
            <a:ext cx="12192000" cy="3067665"/>
          </a:xfrm>
          <a:prstGeom prst="rect">
            <a:avLst/>
          </a:prstGeom>
        </p:spPr>
      </p:pic>
      <p:sp>
        <p:nvSpPr>
          <p:cNvPr id="7" name="Rectangle: Rounded Corners 6">
            <a:extLst>
              <a:ext uri="{FF2B5EF4-FFF2-40B4-BE49-F238E27FC236}">
                <a16:creationId xmlns:a16="http://schemas.microsoft.com/office/drawing/2014/main" id="{26EAE634-AF18-9B46-AF65-766AADEE91E8}"/>
              </a:ext>
            </a:extLst>
          </p:cNvPr>
          <p:cNvSpPr/>
          <p:nvPr/>
        </p:nvSpPr>
        <p:spPr>
          <a:xfrm>
            <a:off x="796413" y="4542503"/>
            <a:ext cx="2934929" cy="61943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69183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8602E-5AC2-A623-E1BE-96B86E26D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E2F9A-CD21-E1D9-A5BB-78F6097EB31E}"/>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TextBox 3">
            <a:extLst>
              <a:ext uri="{FF2B5EF4-FFF2-40B4-BE49-F238E27FC236}">
                <a16:creationId xmlns:a16="http://schemas.microsoft.com/office/drawing/2014/main" id="{C5B1D788-AB7D-9646-B6FA-21A5F7CB0893}"/>
              </a:ext>
            </a:extLst>
          </p:cNvPr>
          <p:cNvSpPr txBox="1"/>
          <p:nvPr/>
        </p:nvSpPr>
        <p:spPr>
          <a:xfrm>
            <a:off x="0" y="729538"/>
            <a:ext cx="12192000" cy="671851"/>
          </a:xfrm>
          <a:prstGeom prst="rect">
            <a:avLst/>
          </a:prstGeom>
          <a:noFill/>
        </p:spPr>
        <p:txBody>
          <a:bodyPr wrap="square">
            <a:spAutoFit/>
          </a:bodyPr>
          <a:lstStyle/>
          <a:p>
            <a:pPr marL="296863">
              <a:lnSpc>
                <a:spcPct val="150000"/>
              </a:lnSpc>
            </a:pPr>
            <a:r>
              <a:rPr lang="en-US" sz="2800" dirty="0">
                <a:latin typeface="Calibir"/>
              </a:rPr>
              <a:t>Disable </a:t>
            </a:r>
            <a:r>
              <a:rPr lang="en-US" sz="2800" dirty="0" err="1">
                <a:latin typeface="Calibir"/>
              </a:rPr>
              <a:t>CMake</a:t>
            </a:r>
            <a:endParaRPr lang="en-US" sz="2800" dirty="0">
              <a:latin typeface="Calibir"/>
            </a:endParaRPr>
          </a:p>
        </p:txBody>
      </p:sp>
      <p:pic>
        <p:nvPicPr>
          <p:cNvPr id="6" name="Picture 5">
            <a:extLst>
              <a:ext uri="{FF2B5EF4-FFF2-40B4-BE49-F238E27FC236}">
                <a16:creationId xmlns:a16="http://schemas.microsoft.com/office/drawing/2014/main" id="{3658E6EC-6002-B0BE-EC11-BCFB694347DC}"/>
              </a:ext>
            </a:extLst>
          </p:cNvPr>
          <p:cNvPicPr>
            <a:picLocks noChangeAspect="1"/>
          </p:cNvPicPr>
          <p:nvPr/>
        </p:nvPicPr>
        <p:blipFill>
          <a:blip r:embed="rId2"/>
          <a:srcRect l="46815" t="63225" b="13119"/>
          <a:stretch>
            <a:fillRect/>
          </a:stretch>
        </p:blipFill>
        <p:spPr>
          <a:xfrm>
            <a:off x="48531" y="1486282"/>
            <a:ext cx="11012759" cy="2755274"/>
          </a:xfrm>
          <a:prstGeom prst="rect">
            <a:avLst/>
          </a:prstGeom>
        </p:spPr>
      </p:pic>
      <p:pic>
        <p:nvPicPr>
          <p:cNvPr id="9" name="Picture 8">
            <a:extLst>
              <a:ext uri="{FF2B5EF4-FFF2-40B4-BE49-F238E27FC236}">
                <a16:creationId xmlns:a16="http://schemas.microsoft.com/office/drawing/2014/main" id="{F5ACDE57-97F1-E92A-C54C-D3D18BE582C8}"/>
              </a:ext>
            </a:extLst>
          </p:cNvPr>
          <p:cNvPicPr>
            <a:picLocks noChangeAspect="1"/>
          </p:cNvPicPr>
          <p:nvPr/>
        </p:nvPicPr>
        <p:blipFill>
          <a:blip r:embed="rId3"/>
          <a:srcRect l="7137" r="40967" b="63871"/>
          <a:stretch>
            <a:fillRect/>
          </a:stretch>
        </p:blipFill>
        <p:spPr>
          <a:xfrm>
            <a:off x="5864942" y="4380270"/>
            <a:ext cx="6327058" cy="2477729"/>
          </a:xfrm>
          <a:prstGeom prst="rect">
            <a:avLst/>
          </a:prstGeom>
        </p:spPr>
      </p:pic>
      <p:sp>
        <p:nvSpPr>
          <p:cNvPr id="10" name="Rectangle: Rounded Corners 9">
            <a:extLst>
              <a:ext uri="{FF2B5EF4-FFF2-40B4-BE49-F238E27FC236}">
                <a16:creationId xmlns:a16="http://schemas.microsoft.com/office/drawing/2014/main" id="{CB8AAB15-1B68-30AE-40E0-3148062589DC}"/>
              </a:ext>
            </a:extLst>
          </p:cNvPr>
          <p:cNvSpPr/>
          <p:nvPr/>
        </p:nvSpPr>
        <p:spPr>
          <a:xfrm>
            <a:off x="8406581" y="5722378"/>
            <a:ext cx="3229896" cy="4572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2223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69743-EA9D-A1E9-975B-AD0BE558CF3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F8D901F8-3F24-3CBF-CD33-FAC2EA6A88A2}"/>
              </a:ext>
            </a:extLst>
          </p:cNvPr>
          <p:cNvPicPr>
            <a:picLocks noChangeAspect="1"/>
          </p:cNvPicPr>
          <p:nvPr/>
        </p:nvPicPr>
        <p:blipFill>
          <a:blip r:embed="rId2"/>
          <a:srcRect l="8711" r="8185" b="13547"/>
          <a:stretch>
            <a:fillRect/>
          </a:stretch>
        </p:blipFill>
        <p:spPr>
          <a:xfrm>
            <a:off x="226142" y="-11529"/>
            <a:ext cx="11739716" cy="6869529"/>
          </a:xfrm>
          <a:prstGeom prst="rect">
            <a:avLst/>
          </a:prstGeom>
        </p:spPr>
      </p:pic>
    </p:spTree>
    <p:extLst>
      <p:ext uri="{BB962C8B-B14F-4D97-AF65-F5344CB8AC3E}">
        <p14:creationId xmlns:p14="http://schemas.microsoft.com/office/powerpoint/2010/main" val="3070268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FCF86-7C3C-E33F-E9BA-8DA4E68ECE13}"/>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9133D743-3101-7985-5C38-AEECDF6F01AA}"/>
              </a:ext>
            </a:extLst>
          </p:cNvPr>
          <p:cNvPicPr>
            <a:picLocks noChangeAspect="1"/>
          </p:cNvPicPr>
          <p:nvPr/>
        </p:nvPicPr>
        <p:blipFill>
          <a:blip r:embed="rId2"/>
          <a:srcRect l="49706" t="25573" r="9161" b="16702"/>
          <a:stretch>
            <a:fillRect/>
          </a:stretch>
        </p:blipFill>
        <p:spPr>
          <a:xfrm>
            <a:off x="6381136" y="1135626"/>
            <a:ext cx="5810864" cy="4586748"/>
          </a:xfrm>
          <a:prstGeom prst="rect">
            <a:avLst/>
          </a:prstGeom>
        </p:spPr>
      </p:pic>
      <p:graphicFrame>
        <p:nvGraphicFramePr>
          <p:cNvPr id="2" name="Table 1">
            <a:extLst>
              <a:ext uri="{FF2B5EF4-FFF2-40B4-BE49-F238E27FC236}">
                <a16:creationId xmlns:a16="http://schemas.microsoft.com/office/drawing/2014/main" id="{EEF2ACEF-07D1-E231-1BBE-4874E115EBB1}"/>
              </a:ext>
            </a:extLst>
          </p:cNvPr>
          <p:cNvGraphicFramePr>
            <a:graphicFrameLocks noGrp="1"/>
          </p:cNvGraphicFramePr>
          <p:nvPr>
            <p:extLst>
              <p:ext uri="{D42A27DB-BD31-4B8C-83A1-F6EECF244321}">
                <p14:modId xmlns:p14="http://schemas.microsoft.com/office/powerpoint/2010/main" val="3913478515"/>
              </p:ext>
            </p:extLst>
          </p:nvPr>
        </p:nvGraphicFramePr>
        <p:xfrm>
          <a:off x="0" y="243840"/>
          <a:ext cx="6393425" cy="6614160"/>
        </p:xfrm>
        <a:graphic>
          <a:graphicData uri="http://schemas.openxmlformats.org/drawingml/2006/table">
            <a:tbl>
              <a:tblPr>
                <a:tableStyleId>{BDBED569-4797-4DF1-A0F4-6AAB3CD982D8}</a:tableStyleId>
              </a:tblPr>
              <a:tblGrid>
                <a:gridCol w="2204883">
                  <a:extLst>
                    <a:ext uri="{9D8B030D-6E8A-4147-A177-3AD203B41FA5}">
                      <a16:colId xmlns:a16="http://schemas.microsoft.com/office/drawing/2014/main" val="3741646070"/>
                    </a:ext>
                  </a:extLst>
                </a:gridCol>
                <a:gridCol w="4188542">
                  <a:extLst>
                    <a:ext uri="{9D8B030D-6E8A-4147-A177-3AD203B41FA5}">
                      <a16:colId xmlns:a16="http://schemas.microsoft.com/office/drawing/2014/main" val="2260345785"/>
                    </a:ext>
                  </a:extLst>
                </a:gridCol>
              </a:tblGrid>
              <a:tr h="0">
                <a:tc>
                  <a:txBody>
                    <a:bodyPr/>
                    <a:lstStyle/>
                    <a:p>
                      <a:pPr>
                        <a:buNone/>
                      </a:pPr>
                      <a:r>
                        <a:rPr lang="en-US" sz="2800" b="1" dirty="0">
                          <a:latin typeface="Calibir"/>
                        </a:rPr>
                        <a:t>Setting</a:t>
                      </a:r>
                    </a:p>
                  </a:txBody>
                  <a:tcPr anchor="ctr">
                    <a:solidFill>
                      <a:schemeClr val="accent5">
                        <a:lumMod val="20000"/>
                        <a:lumOff val="80000"/>
                      </a:schemeClr>
                    </a:solidFill>
                  </a:tcPr>
                </a:tc>
                <a:tc>
                  <a:txBody>
                    <a:bodyPr/>
                    <a:lstStyle/>
                    <a:p>
                      <a:pPr>
                        <a:buNone/>
                      </a:pPr>
                      <a:r>
                        <a:rPr lang="en-US" sz="2800" b="1" dirty="0">
                          <a:latin typeface="Calibir"/>
                        </a:rPr>
                        <a:t>What it means</a:t>
                      </a:r>
                    </a:p>
                  </a:txBody>
                  <a:tcPr anchor="ctr">
                    <a:solidFill>
                      <a:schemeClr val="accent5">
                        <a:lumMod val="20000"/>
                        <a:lumOff val="80000"/>
                      </a:schemeClr>
                    </a:solidFill>
                  </a:tcPr>
                </a:tc>
                <a:extLst>
                  <a:ext uri="{0D108BD9-81ED-4DB2-BD59-A6C34878D82A}">
                    <a16:rowId xmlns:a16="http://schemas.microsoft.com/office/drawing/2014/main" val="3817753369"/>
                  </a:ext>
                </a:extLst>
              </a:tr>
              <a:tr h="0">
                <a:tc>
                  <a:txBody>
                    <a:bodyPr/>
                    <a:lstStyle/>
                    <a:p>
                      <a:pPr>
                        <a:buNone/>
                      </a:pPr>
                      <a:r>
                        <a:rPr lang="en-US" sz="2800" b="0">
                          <a:latin typeface="Calibir"/>
                        </a:rPr>
                        <a:t>"type": "java"</a:t>
                      </a:r>
                    </a:p>
                  </a:txBody>
                  <a:tcPr anchor="ctr"/>
                </a:tc>
                <a:tc>
                  <a:txBody>
                    <a:bodyPr/>
                    <a:lstStyle/>
                    <a:p>
                      <a:pPr>
                        <a:buNone/>
                      </a:pPr>
                      <a:r>
                        <a:rPr lang="en-US" sz="2800" b="0">
                          <a:latin typeface="Calibir"/>
                        </a:rPr>
                        <a:t>Tells VS Code this is a Java run configuration.</a:t>
                      </a:r>
                    </a:p>
                  </a:txBody>
                  <a:tcPr anchor="ctr"/>
                </a:tc>
                <a:extLst>
                  <a:ext uri="{0D108BD9-81ED-4DB2-BD59-A6C34878D82A}">
                    <a16:rowId xmlns:a16="http://schemas.microsoft.com/office/drawing/2014/main" val="2263088663"/>
                  </a:ext>
                </a:extLst>
              </a:tr>
              <a:tr h="0">
                <a:tc>
                  <a:txBody>
                    <a:bodyPr/>
                    <a:lstStyle/>
                    <a:p>
                      <a:pPr>
                        <a:buNone/>
                      </a:pPr>
                      <a:r>
                        <a:rPr lang="en-US" sz="2800" b="0">
                          <a:latin typeface="Calibir"/>
                        </a:rPr>
                        <a:t>"name"</a:t>
                      </a:r>
                    </a:p>
                  </a:txBody>
                  <a:tcPr anchor="ctr"/>
                </a:tc>
                <a:tc>
                  <a:txBody>
                    <a:bodyPr/>
                    <a:lstStyle/>
                    <a:p>
                      <a:pPr>
                        <a:buNone/>
                      </a:pPr>
                      <a:r>
                        <a:rPr lang="en-US" sz="2800" b="0" dirty="0">
                          <a:latin typeface="Calibir"/>
                        </a:rPr>
                        <a:t>The name shown in the Run and Debug dropdown.</a:t>
                      </a:r>
                    </a:p>
                  </a:txBody>
                  <a:tcPr anchor="ctr"/>
                </a:tc>
                <a:extLst>
                  <a:ext uri="{0D108BD9-81ED-4DB2-BD59-A6C34878D82A}">
                    <a16:rowId xmlns:a16="http://schemas.microsoft.com/office/drawing/2014/main" val="3464049341"/>
                  </a:ext>
                </a:extLst>
              </a:tr>
              <a:tr h="0">
                <a:tc>
                  <a:txBody>
                    <a:bodyPr/>
                    <a:lstStyle/>
                    <a:p>
                      <a:pPr>
                        <a:buNone/>
                      </a:pPr>
                      <a:r>
                        <a:rPr lang="en-US" sz="2800" b="0">
                          <a:latin typeface="Calibir"/>
                        </a:rPr>
                        <a:t>"request": "launch"</a:t>
                      </a:r>
                    </a:p>
                  </a:txBody>
                  <a:tcPr anchor="ctr"/>
                </a:tc>
                <a:tc>
                  <a:txBody>
                    <a:bodyPr/>
                    <a:lstStyle/>
                    <a:p>
                      <a:pPr>
                        <a:buNone/>
                      </a:pPr>
                      <a:r>
                        <a:rPr lang="en-US" sz="2800" b="0">
                          <a:latin typeface="Calibir"/>
                        </a:rPr>
                        <a:t>Run directly (not attach).</a:t>
                      </a:r>
                    </a:p>
                  </a:txBody>
                  <a:tcPr anchor="ctr"/>
                </a:tc>
                <a:extLst>
                  <a:ext uri="{0D108BD9-81ED-4DB2-BD59-A6C34878D82A}">
                    <a16:rowId xmlns:a16="http://schemas.microsoft.com/office/drawing/2014/main" val="3287786741"/>
                  </a:ext>
                </a:extLst>
              </a:tr>
              <a:tr h="0">
                <a:tc>
                  <a:txBody>
                    <a:bodyPr/>
                    <a:lstStyle/>
                    <a:p>
                      <a:pPr>
                        <a:buNone/>
                      </a:pPr>
                      <a:r>
                        <a:rPr lang="en-US" sz="2800" b="0">
                          <a:latin typeface="Calibir"/>
                        </a:rPr>
                        <a:t>"mainClass": "App"</a:t>
                      </a:r>
                    </a:p>
                  </a:txBody>
                  <a:tcPr anchor="ctr"/>
                </a:tc>
                <a:tc>
                  <a:txBody>
                    <a:bodyPr/>
                    <a:lstStyle/>
                    <a:p>
                      <a:pPr>
                        <a:buNone/>
                      </a:pPr>
                      <a:r>
                        <a:rPr lang="en-US" sz="2800" b="0">
                          <a:latin typeface="Calibir"/>
                        </a:rPr>
                        <a:t>The class that has the main() method.</a:t>
                      </a:r>
                    </a:p>
                  </a:txBody>
                  <a:tcPr anchor="ctr"/>
                </a:tc>
                <a:extLst>
                  <a:ext uri="{0D108BD9-81ED-4DB2-BD59-A6C34878D82A}">
                    <a16:rowId xmlns:a16="http://schemas.microsoft.com/office/drawing/2014/main" val="1869114091"/>
                  </a:ext>
                </a:extLst>
              </a:tr>
              <a:tr h="0">
                <a:tc>
                  <a:txBody>
                    <a:bodyPr/>
                    <a:lstStyle/>
                    <a:p>
                      <a:pPr>
                        <a:buNone/>
                      </a:pPr>
                      <a:r>
                        <a:rPr lang="en-US" sz="2800" b="0">
                          <a:latin typeface="Calibir"/>
                        </a:rPr>
                        <a:t>"cwd"</a:t>
                      </a:r>
                    </a:p>
                  </a:txBody>
                  <a:tcPr anchor="ctr"/>
                </a:tc>
                <a:tc>
                  <a:txBody>
                    <a:bodyPr/>
                    <a:lstStyle/>
                    <a:p>
                      <a:pPr>
                        <a:buNone/>
                      </a:pPr>
                      <a:r>
                        <a:rPr lang="en-US" sz="2800" b="0">
                          <a:latin typeface="Calibir"/>
                        </a:rPr>
                        <a:t>Current working directory → your src folder.</a:t>
                      </a:r>
                    </a:p>
                  </a:txBody>
                  <a:tcPr anchor="ctr"/>
                </a:tc>
                <a:extLst>
                  <a:ext uri="{0D108BD9-81ED-4DB2-BD59-A6C34878D82A}">
                    <a16:rowId xmlns:a16="http://schemas.microsoft.com/office/drawing/2014/main" val="901859418"/>
                  </a:ext>
                </a:extLst>
              </a:tr>
              <a:tr h="0">
                <a:tc>
                  <a:txBody>
                    <a:bodyPr/>
                    <a:lstStyle/>
                    <a:p>
                      <a:pPr>
                        <a:buNone/>
                      </a:pPr>
                      <a:r>
                        <a:rPr lang="en-US" sz="2800" b="0">
                          <a:latin typeface="Calibir"/>
                        </a:rPr>
                        <a:t>"vmArgs"</a:t>
                      </a:r>
                    </a:p>
                  </a:txBody>
                  <a:tcPr anchor="ctr"/>
                </a:tc>
                <a:tc>
                  <a:txBody>
                    <a:bodyPr/>
                    <a:lstStyle/>
                    <a:p>
                      <a:pPr>
                        <a:buNone/>
                      </a:pPr>
                      <a:r>
                        <a:rPr lang="en-US" sz="2800" b="0" dirty="0">
                          <a:latin typeface="Calibir"/>
                        </a:rPr>
                        <a:t>Tells Java where the JavaFX SDK lib folder is and which modules to load.</a:t>
                      </a:r>
                    </a:p>
                  </a:txBody>
                  <a:tcPr anchor="ctr"/>
                </a:tc>
                <a:extLst>
                  <a:ext uri="{0D108BD9-81ED-4DB2-BD59-A6C34878D82A}">
                    <a16:rowId xmlns:a16="http://schemas.microsoft.com/office/drawing/2014/main" val="672433077"/>
                  </a:ext>
                </a:extLst>
              </a:tr>
            </a:tbl>
          </a:graphicData>
        </a:graphic>
      </p:graphicFrame>
    </p:spTree>
    <p:extLst>
      <p:ext uri="{BB962C8B-B14F-4D97-AF65-F5344CB8AC3E}">
        <p14:creationId xmlns:p14="http://schemas.microsoft.com/office/powerpoint/2010/main" val="4260581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2714F-2677-1D51-E719-09654F42D8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142C8-1308-9C8F-ECA5-C946F3F935E3}"/>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2A7993C9-A712-7F44-58ED-7834A818011E}"/>
              </a:ext>
            </a:extLst>
          </p:cNvPr>
          <p:cNvSpPr>
            <a:spLocks noChangeArrowheads="1"/>
          </p:cNvSpPr>
          <p:nvPr/>
        </p:nvSpPr>
        <p:spPr bwMode="auto">
          <a:xfrm>
            <a:off x="0" y="557178"/>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Locate your JavaFX SDK /lib path</a:t>
            </a:r>
          </a:p>
          <a:p>
            <a:pPr>
              <a:lnSpc>
                <a:spcPct val="150000"/>
              </a:lnSpc>
            </a:pPr>
            <a:r>
              <a:rPr lang="en-US" sz="2800" dirty="0">
                <a:latin typeface="Calibir"/>
              </a:rPr>
              <a:t>If we already downloaded JavaFX SDK (e.g. javafx-sdk-21):</a:t>
            </a:r>
          </a:p>
          <a:p>
            <a:pPr>
              <a:lnSpc>
                <a:spcPct val="150000"/>
              </a:lnSpc>
            </a:pPr>
            <a:r>
              <a:rPr lang="en-US" sz="2800" dirty="0">
                <a:latin typeface="Calibir"/>
              </a:rPr>
              <a:t>Open File Explorer → go to</a:t>
            </a:r>
            <a:br>
              <a:rPr lang="en-US" sz="2800" dirty="0">
                <a:latin typeface="Calibir"/>
              </a:rPr>
            </a:br>
            <a:r>
              <a:rPr lang="en-US" sz="2800" dirty="0">
                <a:latin typeface="Calibir"/>
              </a:rPr>
              <a:t>C:\ or E:\Downloads and search for </a:t>
            </a:r>
            <a:r>
              <a:rPr lang="en-US" sz="2800" dirty="0" err="1">
                <a:latin typeface="Calibir"/>
              </a:rPr>
              <a:t>javafx-sdk</a:t>
            </a:r>
            <a:r>
              <a:rPr lang="en-US" sz="2800" dirty="0">
                <a:latin typeface="Calibir"/>
              </a:rPr>
              <a:t>.</a:t>
            </a:r>
          </a:p>
          <a:p>
            <a:pPr>
              <a:lnSpc>
                <a:spcPct val="150000"/>
              </a:lnSpc>
            </a:pPr>
            <a:r>
              <a:rPr lang="en-US" sz="2800" dirty="0">
                <a:latin typeface="Calibir"/>
              </a:rPr>
              <a:t>When we find it, open the folder — we’ll see something like</a:t>
            </a:r>
          </a:p>
        </p:txBody>
      </p:sp>
      <p:sp>
        <p:nvSpPr>
          <p:cNvPr id="5" name="TextBox 4">
            <a:extLst>
              <a:ext uri="{FF2B5EF4-FFF2-40B4-BE49-F238E27FC236}">
                <a16:creationId xmlns:a16="http://schemas.microsoft.com/office/drawing/2014/main" id="{FA62BA72-4D8A-8188-5D68-410B94F41AC0}"/>
              </a:ext>
            </a:extLst>
          </p:cNvPr>
          <p:cNvSpPr txBox="1"/>
          <p:nvPr/>
        </p:nvSpPr>
        <p:spPr>
          <a:xfrm>
            <a:off x="0" y="3711116"/>
            <a:ext cx="10200577" cy="3257174"/>
          </a:xfrm>
          <a:prstGeom prst="rect">
            <a:avLst/>
          </a:prstGeom>
          <a:noFill/>
        </p:spPr>
        <p:txBody>
          <a:bodyPr wrap="square">
            <a:spAutoFit/>
          </a:bodyPr>
          <a:lstStyle/>
          <a:p>
            <a:pPr>
              <a:lnSpc>
                <a:spcPct val="150000"/>
              </a:lnSpc>
            </a:pPr>
            <a:r>
              <a:rPr lang="en-US" sz="2800" dirty="0">
                <a:latin typeface="Calibir"/>
              </a:rPr>
              <a:t>javafx-sdk-21/</a:t>
            </a:r>
          </a:p>
          <a:p>
            <a:pPr>
              <a:lnSpc>
                <a:spcPct val="150000"/>
              </a:lnSpc>
            </a:pPr>
            <a:r>
              <a:rPr lang="en-US" sz="2800" dirty="0">
                <a:latin typeface="Calibir"/>
              </a:rPr>
              <a:t>  ├ bin/</a:t>
            </a:r>
          </a:p>
          <a:p>
            <a:pPr>
              <a:lnSpc>
                <a:spcPct val="150000"/>
              </a:lnSpc>
            </a:pPr>
            <a:r>
              <a:rPr lang="en-US" sz="2800" dirty="0">
                <a:latin typeface="Calibir"/>
              </a:rPr>
              <a:t>  ├ legal/</a:t>
            </a:r>
          </a:p>
          <a:p>
            <a:pPr>
              <a:lnSpc>
                <a:spcPct val="150000"/>
              </a:lnSpc>
            </a:pPr>
            <a:r>
              <a:rPr lang="en-US" sz="2800" dirty="0">
                <a:latin typeface="Calibir"/>
              </a:rPr>
              <a:t>  ├ lib/        ← THIS is the path we need</a:t>
            </a:r>
          </a:p>
          <a:p>
            <a:pPr>
              <a:lnSpc>
                <a:spcPct val="150000"/>
              </a:lnSpc>
            </a:pPr>
            <a:r>
              <a:rPr lang="en-US" sz="2800" dirty="0">
                <a:latin typeface="Calibir"/>
              </a:rPr>
              <a:t>   └─ readme.html</a:t>
            </a:r>
          </a:p>
        </p:txBody>
      </p:sp>
      <p:pic>
        <p:nvPicPr>
          <p:cNvPr id="8" name="Picture 7">
            <a:extLst>
              <a:ext uri="{FF2B5EF4-FFF2-40B4-BE49-F238E27FC236}">
                <a16:creationId xmlns:a16="http://schemas.microsoft.com/office/drawing/2014/main" id="{85488A46-F135-D3E2-098B-C12B69054080}"/>
              </a:ext>
            </a:extLst>
          </p:cNvPr>
          <p:cNvPicPr>
            <a:picLocks noChangeAspect="1"/>
          </p:cNvPicPr>
          <p:nvPr/>
        </p:nvPicPr>
        <p:blipFill>
          <a:blip r:embed="rId2"/>
          <a:srcRect l="10355" t="11034" r="42177" b="58710"/>
          <a:stretch>
            <a:fillRect/>
          </a:stretch>
        </p:blipFill>
        <p:spPr>
          <a:xfrm>
            <a:off x="5899355" y="3814352"/>
            <a:ext cx="6292645" cy="2256132"/>
          </a:xfrm>
          <a:prstGeom prst="rect">
            <a:avLst/>
          </a:prstGeom>
        </p:spPr>
      </p:pic>
    </p:spTree>
    <p:extLst>
      <p:ext uri="{BB962C8B-B14F-4D97-AF65-F5344CB8AC3E}">
        <p14:creationId xmlns:p14="http://schemas.microsoft.com/office/powerpoint/2010/main" val="1070726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13AC-50E6-B8C9-F6EF-556AB70E7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769B6-5F36-A758-F678-EF4FFA89F048}"/>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6E3F135F-EA8A-1E6A-2887-B57C1CAC3357}"/>
              </a:ext>
            </a:extLst>
          </p:cNvPr>
          <p:cNvSpPr>
            <a:spLocks noChangeArrowheads="1"/>
          </p:cNvSpPr>
          <p:nvPr/>
        </p:nvSpPr>
        <p:spPr bwMode="auto">
          <a:xfrm>
            <a:off x="0" y="756745"/>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Copy that full path, e.g.</a:t>
            </a:r>
          </a:p>
          <a:p>
            <a:pPr>
              <a:lnSpc>
                <a:spcPct val="150000"/>
              </a:lnSpc>
            </a:pPr>
            <a:r>
              <a:rPr lang="en-US" sz="2800" dirty="0">
                <a:latin typeface="Calibir"/>
              </a:rPr>
              <a:t>E:\JavaFX\openjfx-24_windows-x64_bin-sdk\javafx-sdk-24\lib</a:t>
            </a:r>
          </a:p>
        </p:txBody>
      </p:sp>
      <p:sp>
        <p:nvSpPr>
          <p:cNvPr id="6" name="TextBox 5">
            <a:extLst>
              <a:ext uri="{FF2B5EF4-FFF2-40B4-BE49-F238E27FC236}">
                <a16:creationId xmlns:a16="http://schemas.microsoft.com/office/drawing/2014/main" id="{B555ED15-0445-4FD1-8728-185444FBA415}"/>
              </a:ext>
            </a:extLst>
          </p:cNvPr>
          <p:cNvSpPr txBox="1"/>
          <p:nvPr/>
        </p:nvSpPr>
        <p:spPr>
          <a:xfrm>
            <a:off x="0" y="2071549"/>
            <a:ext cx="12192000" cy="1964512"/>
          </a:xfrm>
          <a:prstGeom prst="rect">
            <a:avLst/>
          </a:prstGeom>
          <a:noFill/>
        </p:spPr>
        <p:txBody>
          <a:bodyPr wrap="square">
            <a:spAutoFit/>
          </a:bodyPr>
          <a:lstStyle/>
          <a:p>
            <a:pPr>
              <a:lnSpc>
                <a:spcPct val="150000"/>
              </a:lnSpc>
            </a:pPr>
            <a:r>
              <a:rPr lang="en-US" sz="2800" dirty="0">
                <a:latin typeface="Calibir"/>
              </a:rPr>
              <a:t>If we prefer to keep everything inside our project, copy that </a:t>
            </a:r>
            <a:r>
              <a:rPr lang="en-US" sz="2800" dirty="0">
                <a:highlight>
                  <a:srgbClr val="FFFF00"/>
                </a:highlight>
                <a:latin typeface="Calibir"/>
              </a:rPr>
              <a:t>lib folder </a:t>
            </a:r>
            <a:r>
              <a:rPr lang="en-US" sz="2800" dirty="0">
                <a:latin typeface="Calibir"/>
              </a:rPr>
              <a:t>into</a:t>
            </a:r>
            <a:br>
              <a:rPr lang="en-US" sz="2800" dirty="0">
                <a:latin typeface="Calibir"/>
              </a:rPr>
            </a:br>
            <a:r>
              <a:rPr lang="en-US" sz="2800" dirty="0">
                <a:latin typeface="Calibir"/>
              </a:rPr>
              <a:t>E:\Job in Australia\UTS\Courses\Fundamentals of Software Development\Week 11\</a:t>
            </a:r>
            <a:r>
              <a:rPr lang="en-US" sz="2800" dirty="0" err="1">
                <a:latin typeface="Calibir"/>
              </a:rPr>
              <a:t>HelloFX</a:t>
            </a:r>
            <a:r>
              <a:rPr lang="en-US" sz="2800" dirty="0">
                <a:latin typeface="Calibir"/>
              </a:rPr>
              <a:t>\</a:t>
            </a:r>
            <a:r>
              <a:rPr lang="en-US" sz="2800" dirty="0" err="1">
                <a:latin typeface="Calibir"/>
              </a:rPr>
              <a:t>HelloFX</a:t>
            </a:r>
            <a:r>
              <a:rPr lang="en-US" sz="2800" dirty="0">
                <a:latin typeface="Calibir"/>
              </a:rPr>
              <a:t>\</a:t>
            </a:r>
            <a:r>
              <a:rPr lang="en-US" sz="2800" dirty="0">
                <a:highlight>
                  <a:srgbClr val="FFFF00"/>
                </a:highlight>
                <a:latin typeface="Calibir"/>
              </a:rPr>
              <a:t>lib</a:t>
            </a:r>
            <a:endParaRPr lang="en-US" sz="2800" dirty="0">
              <a:latin typeface="Calibir"/>
            </a:endParaRPr>
          </a:p>
        </p:txBody>
      </p:sp>
      <p:pic>
        <p:nvPicPr>
          <p:cNvPr id="9" name="Picture 8">
            <a:extLst>
              <a:ext uri="{FF2B5EF4-FFF2-40B4-BE49-F238E27FC236}">
                <a16:creationId xmlns:a16="http://schemas.microsoft.com/office/drawing/2014/main" id="{39A7646E-14A6-A21F-64C6-070F69788993}"/>
              </a:ext>
            </a:extLst>
          </p:cNvPr>
          <p:cNvPicPr>
            <a:picLocks noChangeAspect="1"/>
          </p:cNvPicPr>
          <p:nvPr/>
        </p:nvPicPr>
        <p:blipFill>
          <a:blip r:embed="rId2"/>
          <a:srcRect l="11976" t="11034" r="46048" b="61930"/>
          <a:stretch>
            <a:fillRect/>
          </a:stretch>
        </p:blipFill>
        <p:spPr>
          <a:xfrm>
            <a:off x="0" y="5003901"/>
            <a:ext cx="5117691" cy="1854098"/>
          </a:xfrm>
          <a:prstGeom prst="rect">
            <a:avLst/>
          </a:prstGeom>
        </p:spPr>
      </p:pic>
      <p:pic>
        <p:nvPicPr>
          <p:cNvPr id="11" name="Picture 10">
            <a:extLst>
              <a:ext uri="{FF2B5EF4-FFF2-40B4-BE49-F238E27FC236}">
                <a16:creationId xmlns:a16="http://schemas.microsoft.com/office/drawing/2014/main" id="{362AC0F7-1506-663D-B74B-DF5BF52E8326}"/>
              </a:ext>
            </a:extLst>
          </p:cNvPr>
          <p:cNvPicPr>
            <a:picLocks noChangeAspect="1"/>
          </p:cNvPicPr>
          <p:nvPr/>
        </p:nvPicPr>
        <p:blipFill>
          <a:blip r:embed="rId3"/>
          <a:srcRect l="12823" t="15053" r="45202" b="33119"/>
          <a:stretch>
            <a:fillRect/>
          </a:stretch>
        </p:blipFill>
        <p:spPr>
          <a:xfrm>
            <a:off x="7074310" y="3389730"/>
            <a:ext cx="5117690" cy="3554361"/>
          </a:xfrm>
          <a:prstGeom prst="rect">
            <a:avLst/>
          </a:prstGeom>
        </p:spPr>
      </p:pic>
    </p:spTree>
    <p:extLst>
      <p:ext uri="{BB962C8B-B14F-4D97-AF65-F5344CB8AC3E}">
        <p14:creationId xmlns:p14="http://schemas.microsoft.com/office/powerpoint/2010/main" val="10961481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C5053-B163-0E58-C52E-581A1A1CF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E98D6-F87F-3FFC-ECFA-93CD9122B914}"/>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AA9FA009-F20F-B551-3167-12722DBE69EA}"/>
              </a:ext>
            </a:extLst>
          </p:cNvPr>
          <p:cNvSpPr>
            <a:spLocks noChangeArrowheads="1"/>
          </p:cNvSpPr>
          <p:nvPr/>
        </p:nvSpPr>
        <p:spPr bwMode="auto">
          <a:xfrm>
            <a:off x="0" y="756745"/>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Since we copied all .jar files from</a:t>
            </a:r>
            <a:br>
              <a:rPr lang="en-US" sz="2800" dirty="0">
                <a:latin typeface="Calibir"/>
              </a:rPr>
            </a:br>
            <a:r>
              <a:rPr lang="en-US" sz="2800" dirty="0">
                <a:latin typeface="Calibir"/>
              </a:rPr>
              <a:t>E:\JavaFX\openjfx-24_windows-x64_bin-sdk\javafx-sdk-24\lib</a:t>
            </a:r>
            <a:br>
              <a:rPr lang="en-US" sz="2800" dirty="0">
                <a:latin typeface="Calibir"/>
              </a:rPr>
            </a:br>
            <a:r>
              <a:rPr lang="en-US" sz="2800" dirty="0">
                <a:latin typeface="Calibir"/>
              </a:rPr>
              <a:t>to our project folder:</a:t>
            </a:r>
            <a:br>
              <a:rPr lang="en-US" sz="2800" dirty="0">
                <a:latin typeface="Calibir"/>
              </a:rPr>
            </a:br>
            <a:r>
              <a:rPr lang="en-US" sz="2800" dirty="0">
                <a:latin typeface="Calibir"/>
              </a:rPr>
              <a:t>E:\Job in Australia\UTS\Courses\Fundamentals of Software Development\Week 11\</a:t>
            </a:r>
            <a:r>
              <a:rPr lang="en-US" sz="2800" dirty="0" err="1">
                <a:latin typeface="Calibir"/>
              </a:rPr>
              <a:t>HelloFX</a:t>
            </a:r>
            <a:r>
              <a:rPr lang="en-US" sz="2800" dirty="0">
                <a:latin typeface="Calibir"/>
              </a:rPr>
              <a:t>\</a:t>
            </a:r>
            <a:r>
              <a:rPr lang="en-US" sz="2800" dirty="0" err="1">
                <a:latin typeface="Calibir"/>
              </a:rPr>
              <a:t>HelloFX</a:t>
            </a:r>
            <a:r>
              <a:rPr lang="en-US" sz="2800" dirty="0">
                <a:latin typeface="Calibir"/>
              </a:rPr>
              <a:t>\lib</a:t>
            </a:r>
          </a:p>
          <a:p>
            <a:pPr>
              <a:lnSpc>
                <a:spcPct val="150000"/>
              </a:lnSpc>
            </a:pPr>
            <a:r>
              <a:rPr lang="en-US" sz="2800" dirty="0">
                <a:latin typeface="Calibir"/>
              </a:rPr>
              <a:t>we can now safely update our </a:t>
            </a:r>
            <a:br>
              <a:rPr lang="en-US" sz="2800" dirty="0">
                <a:latin typeface="Calibir"/>
              </a:rPr>
            </a:br>
            <a:r>
              <a:rPr lang="en-US" sz="2800" dirty="0" err="1">
                <a:latin typeface="Calibir"/>
              </a:rPr>
              <a:t>launch.json</a:t>
            </a:r>
            <a:r>
              <a:rPr lang="en-US" sz="2800" dirty="0">
                <a:latin typeface="Calibir"/>
              </a:rPr>
              <a:t> file.</a:t>
            </a:r>
          </a:p>
        </p:txBody>
      </p:sp>
      <p:pic>
        <p:nvPicPr>
          <p:cNvPr id="5" name="Picture 4">
            <a:extLst>
              <a:ext uri="{FF2B5EF4-FFF2-40B4-BE49-F238E27FC236}">
                <a16:creationId xmlns:a16="http://schemas.microsoft.com/office/drawing/2014/main" id="{EAE654AA-14F2-3492-DC39-8AC892CC455D}"/>
              </a:ext>
            </a:extLst>
          </p:cNvPr>
          <p:cNvPicPr>
            <a:picLocks noChangeAspect="1"/>
          </p:cNvPicPr>
          <p:nvPr/>
        </p:nvPicPr>
        <p:blipFill>
          <a:blip r:embed="rId2"/>
          <a:srcRect l="11250" t="11035" r="33589" b="42150"/>
          <a:stretch>
            <a:fillRect/>
          </a:stretch>
        </p:blipFill>
        <p:spPr>
          <a:xfrm>
            <a:off x="4715700" y="3288890"/>
            <a:ext cx="7476301" cy="3569109"/>
          </a:xfrm>
          <a:prstGeom prst="rect">
            <a:avLst/>
          </a:prstGeom>
        </p:spPr>
      </p:pic>
    </p:spTree>
    <p:extLst>
      <p:ext uri="{BB962C8B-B14F-4D97-AF65-F5344CB8AC3E}">
        <p14:creationId xmlns:p14="http://schemas.microsoft.com/office/powerpoint/2010/main" val="20618330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D28C-2585-A28C-78BC-5E39D5A9F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B981F-51E2-727F-D255-27DA85912A01}"/>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14560BB6-EB2E-1B6F-D162-AF54984FDAF1}"/>
              </a:ext>
            </a:extLst>
          </p:cNvPr>
          <p:cNvSpPr>
            <a:spLocks noChangeArrowheads="1"/>
          </p:cNvSpPr>
          <p:nvPr/>
        </p:nvSpPr>
        <p:spPr bwMode="auto">
          <a:xfrm>
            <a:off x="0" y="552676"/>
            <a:ext cx="12192000"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We use this content for </a:t>
            </a:r>
            <a:r>
              <a:rPr lang="en-US" sz="2800" dirty="0" err="1">
                <a:latin typeface="Calibir"/>
              </a:rPr>
              <a:t>launch.json</a:t>
            </a:r>
            <a:endParaRPr lang="en-US" sz="2800" dirty="0">
              <a:latin typeface="Calibir"/>
            </a:endParaRPr>
          </a:p>
        </p:txBody>
      </p:sp>
      <p:pic>
        <p:nvPicPr>
          <p:cNvPr id="11" name="Picture 10">
            <a:extLst>
              <a:ext uri="{FF2B5EF4-FFF2-40B4-BE49-F238E27FC236}">
                <a16:creationId xmlns:a16="http://schemas.microsoft.com/office/drawing/2014/main" id="{D37803F2-2FC4-496B-AE63-695819CC4561}"/>
              </a:ext>
            </a:extLst>
          </p:cNvPr>
          <p:cNvPicPr>
            <a:picLocks noChangeAspect="1"/>
          </p:cNvPicPr>
          <p:nvPr/>
        </p:nvPicPr>
        <p:blipFill>
          <a:blip r:embed="rId2"/>
          <a:srcRect l="7862" t="22796" r="23065" b="44516"/>
          <a:stretch>
            <a:fillRect/>
          </a:stretch>
        </p:blipFill>
        <p:spPr>
          <a:xfrm>
            <a:off x="0" y="1180283"/>
            <a:ext cx="12192000" cy="3245506"/>
          </a:xfrm>
          <a:prstGeom prst="rect">
            <a:avLst/>
          </a:prstGeom>
        </p:spPr>
      </p:pic>
      <p:graphicFrame>
        <p:nvGraphicFramePr>
          <p:cNvPr id="12" name="Table 11">
            <a:extLst>
              <a:ext uri="{FF2B5EF4-FFF2-40B4-BE49-F238E27FC236}">
                <a16:creationId xmlns:a16="http://schemas.microsoft.com/office/drawing/2014/main" id="{7A7B8262-B113-5D49-7F79-C38DF85A9BB7}"/>
              </a:ext>
            </a:extLst>
          </p:cNvPr>
          <p:cNvGraphicFramePr>
            <a:graphicFrameLocks noGrp="1"/>
          </p:cNvGraphicFramePr>
          <p:nvPr>
            <p:extLst>
              <p:ext uri="{D42A27DB-BD31-4B8C-83A1-F6EECF244321}">
                <p14:modId xmlns:p14="http://schemas.microsoft.com/office/powerpoint/2010/main" val="615587526"/>
              </p:ext>
            </p:extLst>
          </p:nvPr>
        </p:nvGraphicFramePr>
        <p:xfrm>
          <a:off x="766916" y="3840479"/>
          <a:ext cx="11425084" cy="3017520"/>
        </p:xfrm>
        <a:graphic>
          <a:graphicData uri="http://schemas.openxmlformats.org/drawingml/2006/table">
            <a:tbl>
              <a:tblPr>
                <a:tableStyleId>{BDBED569-4797-4DF1-A0F4-6AAB3CD982D8}</a:tableStyleId>
              </a:tblPr>
              <a:tblGrid>
                <a:gridCol w="3333136">
                  <a:extLst>
                    <a:ext uri="{9D8B030D-6E8A-4147-A177-3AD203B41FA5}">
                      <a16:colId xmlns:a16="http://schemas.microsoft.com/office/drawing/2014/main" val="962267438"/>
                    </a:ext>
                  </a:extLst>
                </a:gridCol>
                <a:gridCol w="8091948">
                  <a:extLst>
                    <a:ext uri="{9D8B030D-6E8A-4147-A177-3AD203B41FA5}">
                      <a16:colId xmlns:a16="http://schemas.microsoft.com/office/drawing/2014/main" val="541682391"/>
                    </a:ext>
                  </a:extLst>
                </a:gridCol>
              </a:tblGrid>
              <a:tr h="0">
                <a:tc>
                  <a:txBody>
                    <a:bodyPr/>
                    <a:lstStyle/>
                    <a:p>
                      <a:pPr>
                        <a:buNone/>
                      </a:pPr>
                      <a:r>
                        <a:rPr lang="en-US" sz="2400" b="0" dirty="0">
                          <a:latin typeface="Calibir"/>
                        </a:rPr>
                        <a:t>Key</a:t>
                      </a:r>
                    </a:p>
                  </a:txBody>
                  <a:tcPr anchor="ctr">
                    <a:solidFill>
                      <a:schemeClr val="accent5">
                        <a:lumMod val="20000"/>
                        <a:lumOff val="80000"/>
                      </a:schemeClr>
                    </a:solidFill>
                  </a:tcPr>
                </a:tc>
                <a:tc>
                  <a:txBody>
                    <a:bodyPr/>
                    <a:lstStyle/>
                    <a:p>
                      <a:pPr>
                        <a:buNone/>
                      </a:pPr>
                      <a:r>
                        <a:rPr lang="en-US" sz="2400" b="0" dirty="0">
                          <a:latin typeface="Calibir"/>
                        </a:rPr>
                        <a:t>Description</a:t>
                      </a:r>
                    </a:p>
                  </a:txBody>
                  <a:tcPr anchor="ctr">
                    <a:solidFill>
                      <a:schemeClr val="accent5">
                        <a:lumMod val="20000"/>
                        <a:lumOff val="80000"/>
                      </a:schemeClr>
                    </a:solidFill>
                  </a:tcPr>
                </a:tc>
                <a:extLst>
                  <a:ext uri="{0D108BD9-81ED-4DB2-BD59-A6C34878D82A}">
                    <a16:rowId xmlns:a16="http://schemas.microsoft.com/office/drawing/2014/main" val="938079663"/>
                  </a:ext>
                </a:extLst>
              </a:tr>
              <a:tr h="0">
                <a:tc>
                  <a:txBody>
                    <a:bodyPr/>
                    <a:lstStyle/>
                    <a:p>
                      <a:pPr>
                        <a:buNone/>
                      </a:pPr>
                      <a:r>
                        <a:rPr lang="en-US" sz="2400" b="0">
                          <a:latin typeface="Calibir"/>
                        </a:rPr>
                        <a:t>"type": "java"</a:t>
                      </a:r>
                    </a:p>
                  </a:txBody>
                  <a:tcPr anchor="ctr">
                    <a:solidFill>
                      <a:schemeClr val="bg1"/>
                    </a:solidFill>
                  </a:tcPr>
                </a:tc>
                <a:tc>
                  <a:txBody>
                    <a:bodyPr/>
                    <a:lstStyle/>
                    <a:p>
                      <a:pPr>
                        <a:buNone/>
                      </a:pPr>
                      <a:r>
                        <a:rPr lang="en-US" sz="2400" b="0">
                          <a:latin typeface="Calibir"/>
                        </a:rPr>
                        <a:t>Tells VS Code this is a Java program.</a:t>
                      </a:r>
                    </a:p>
                  </a:txBody>
                  <a:tcPr anchor="ctr">
                    <a:solidFill>
                      <a:schemeClr val="bg1"/>
                    </a:solidFill>
                  </a:tcPr>
                </a:tc>
                <a:extLst>
                  <a:ext uri="{0D108BD9-81ED-4DB2-BD59-A6C34878D82A}">
                    <a16:rowId xmlns:a16="http://schemas.microsoft.com/office/drawing/2014/main" val="2003533264"/>
                  </a:ext>
                </a:extLst>
              </a:tr>
              <a:tr h="0">
                <a:tc>
                  <a:txBody>
                    <a:bodyPr/>
                    <a:lstStyle/>
                    <a:p>
                      <a:pPr>
                        <a:buNone/>
                      </a:pPr>
                      <a:r>
                        <a:rPr lang="en-US" sz="2400" b="0">
                          <a:latin typeface="Calibir"/>
                        </a:rPr>
                        <a:t>"mainClass": "App"</a:t>
                      </a:r>
                    </a:p>
                  </a:txBody>
                  <a:tcPr anchor="ctr">
                    <a:solidFill>
                      <a:schemeClr val="bg1"/>
                    </a:solidFill>
                  </a:tcPr>
                </a:tc>
                <a:tc>
                  <a:txBody>
                    <a:bodyPr/>
                    <a:lstStyle/>
                    <a:p>
                      <a:pPr>
                        <a:buNone/>
                      </a:pPr>
                      <a:r>
                        <a:rPr lang="en-US" sz="2400" b="0" dirty="0">
                          <a:latin typeface="Calibir"/>
                        </a:rPr>
                        <a:t>Runs your App.java class that has main().</a:t>
                      </a:r>
                    </a:p>
                  </a:txBody>
                  <a:tcPr anchor="ctr">
                    <a:solidFill>
                      <a:schemeClr val="bg1"/>
                    </a:solidFill>
                  </a:tcPr>
                </a:tc>
                <a:extLst>
                  <a:ext uri="{0D108BD9-81ED-4DB2-BD59-A6C34878D82A}">
                    <a16:rowId xmlns:a16="http://schemas.microsoft.com/office/drawing/2014/main" val="2669700841"/>
                  </a:ext>
                </a:extLst>
              </a:tr>
              <a:tr h="0">
                <a:tc>
                  <a:txBody>
                    <a:bodyPr/>
                    <a:lstStyle/>
                    <a:p>
                      <a:pPr>
                        <a:buNone/>
                      </a:pPr>
                      <a:r>
                        <a:rPr lang="en-US" sz="2400" b="0">
                          <a:latin typeface="Calibir"/>
                        </a:rPr>
                        <a:t>"vmArgs"</a:t>
                      </a:r>
                    </a:p>
                  </a:txBody>
                  <a:tcPr anchor="ctr">
                    <a:solidFill>
                      <a:schemeClr val="bg1"/>
                    </a:solidFill>
                  </a:tcPr>
                </a:tc>
                <a:tc>
                  <a:txBody>
                    <a:bodyPr/>
                    <a:lstStyle/>
                    <a:p>
                      <a:pPr>
                        <a:buNone/>
                      </a:pPr>
                      <a:r>
                        <a:rPr lang="en-US" sz="2400" b="0" dirty="0">
                          <a:latin typeface="Calibir"/>
                        </a:rPr>
                        <a:t>Tells Java to include the JavaFX library (from your lib folder) and use two modules — </a:t>
                      </a:r>
                      <a:r>
                        <a:rPr lang="en-US" sz="2400" b="0" dirty="0" err="1">
                          <a:latin typeface="Calibir"/>
                        </a:rPr>
                        <a:t>javafx.controls</a:t>
                      </a:r>
                      <a:r>
                        <a:rPr lang="en-US" sz="2400" b="0" dirty="0">
                          <a:latin typeface="Calibir"/>
                        </a:rPr>
                        <a:t> and </a:t>
                      </a:r>
                      <a:r>
                        <a:rPr lang="en-US" sz="2400" b="0" dirty="0" err="1">
                          <a:latin typeface="Calibir"/>
                        </a:rPr>
                        <a:t>javafx.fxml</a:t>
                      </a:r>
                      <a:r>
                        <a:rPr lang="en-US" sz="2400" b="0" dirty="0">
                          <a:latin typeface="Calibir"/>
                        </a:rPr>
                        <a:t>.</a:t>
                      </a:r>
                    </a:p>
                  </a:txBody>
                  <a:tcPr anchor="ctr">
                    <a:solidFill>
                      <a:schemeClr val="bg1"/>
                    </a:solidFill>
                  </a:tcPr>
                </a:tc>
                <a:extLst>
                  <a:ext uri="{0D108BD9-81ED-4DB2-BD59-A6C34878D82A}">
                    <a16:rowId xmlns:a16="http://schemas.microsoft.com/office/drawing/2014/main" val="357781635"/>
                  </a:ext>
                </a:extLst>
              </a:tr>
              <a:tr h="0">
                <a:tc>
                  <a:txBody>
                    <a:bodyPr/>
                    <a:lstStyle/>
                    <a:p>
                      <a:pPr>
                        <a:buNone/>
                      </a:pPr>
                      <a:r>
                        <a:rPr lang="en-US" sz="2400" b="0">
                          <a:latin typeface="Calibir"/>
                        </a:rPr>
                        <a:t>"${workspaceFolder}/lib"</a:t>
                      </a:r>
                    </a:p>
                  </a:txBody>
                  <a:tcPr anchor="ctr">
                    <a:solidFill>
                      <a:schemeClr val="bg1"/>
                    </a:solidFill>
                  </a:tcPr>
                </a:tc>
                <a:tc>
                  <a:txBody>
                    <a:bodyPr/>
                    <a:lstStyle/>
                    <a:p>
                      <a:pPr>
                        <a:buNone/>
                      </a:pPr>
                      <a:r>
                        <a:rPr lang="en-US" sz="2400" b="0" dirty="0">
                          <a:latin typeface="Calibir"/>
                        </a:rPr>
                        <a:t>Automatically points to your lib folder inside the </a:t>
                      </a:r>
                      <a:r>
                        <a:rPr lang="en-US" sz="2400" b="0" dirty="0" err="1">
                          <a:latin typeface="Calibir"/>
                        </a:rPr>
                        <a:t>HelloFX</a:t>
                      </a:r>
                      <a:r>
                        <a:rPr lang="en-US" sz="2400" b="0" dirty="0">
                          <a:latin typeface="Calibir"/>
                        </a:rPr>
                        <a:t> project, no need to hardcode the long E:\... path.</a:t>
                      </a:r>
                    </a:p>
                  </a:txBody>
                  <a:tcPr anchor="ctr">
                    <a:solidFill>
                      <a:schemeClr val="bg1"/>
                    </a:solidFill>
                  </a:tcPr>
                </a:tc>
                <a:extLst>
                  <a:ext uri="{0D108BD9-81ED-4DB2-BD59-A6C34878D82A}">
                    <a16:rowId xmlns:a16="http://schemas.microsoft.com/office/drawing/2014/main" val="259250458"/>
                  </a:ext>
                </a:extLst>
              </a:tr>
            </a:tbl>
          </a:graphicData>
        </a:graphic>
      </p:graphicFrame>
    </p:spTree>
    <p:extLst>
      <p:ext uri="{BB962C8B-B14F-4D97-AF65-F5344CB8AC3E}">
        <p14:creationId xmlns:p14="http://schemas.microsoft.com/office/powerpoint/2010/main" val="26720002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BFF49-BD3A-8E7B-6F24-C7B227A33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A8AED-5165-D641-1FDC-6AD8AFC3B7F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B7602BB5-E642-B6F0-10DC-06B0EEB7D132}"/>
              </a:ext>
            </a:extLst>
          </p:cNvPr>
          <p:cNvSpPr>
            <a:spLocks noChangeArrowheads="1"/>
          </p:cNvSpPr>
          <p:nvPr/>
        </p:nvSpPr>
        <p:spPr bwMode="auto">
          <a:xfrm>
            <a:off x="0" y="638758"/>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Explorer &gt;&gt; </a:t>
            </a:r>
            <a:r>
              <a:rPr lang="en-US" sz="2800" dirty="0" err="1">
                <a:latin typeface="Calibir"/>
              </a:rPr>
              <a:t>src</a:t>
            </a:r>
            <a:r>
              <a:rPr lang="en-US" sz="2800" dirty="0">
                <a:latin typeface="Calibir"/>
              </a:rPr>
              <a:t> (double click)</a:t>
            </a:r>
          </a:p>
          <a:p>
            <a:pPr>
              <a:lnSpc>
                <a:spcPct val="150000"/>
              </a:lnSpc>
            </a:pPr>
            <a:r>
              <a:rPr lang="en-US" sz="2800" dirty="0">
                <a:latin typeface="Calibir"/>
              </a:rPr>
              <a:t>Save and Run App.java (Ctrl + Shift + D)</a:t>
            </a:r>
          </a:p>
        </p:txBody>
      </p:sp>
      <p:pic>
        <p:nvPicPr>
          <p:cNvPr id="8" name="Picture 7">
            <a:extLst>
              <a:ext uri="{FF2B5EF4-FFF2-40B4-BE49-F238E27FC236}">
                <a16:creationId xmlns:a16="http://schemas.microsoft.com/office/drawing/2014/main" id="{D103757D-7FB5-3462-419F-BA80FAEEBE87}"/>
              </a:ext>
            </a:extLst>
          </p:cNvPr>
          <p:cNvPicPr>
            <a:picLocks noChangeAspect="1"/>
          </p:cNvPicPr>
          <p:nvPr/>
        </p:nvPicPr>
        <p:blipFill>
          <a:blip r:embed="rId2"/>
          <a:srcRect r="28145" b="32688"/>
          <a:stretch>
            <a:fillRect/>
          </a:stretch>
        </p:blipFill>
        <p:spPr>
          <a:xfrm>
            <a:off x="4188542" y="2647315"/>
            <a:ext cx="8003458" cy="4217310"/>
          </a:xfrm>
          <a:prstGeom prst="rect">
            <a:avLst/>
          </a:prstGeom>
        </p:spPr>
      </p:pic>
      <p:pic>
        <p:nvPicPr>
          <p:cNvPr id="10" name="Picture 9">
            <a:extLst>
              <a:ext uri="{FF2B5EF4-FFF2-40B4-BE49-F238E27FC236}">
                <a16:creationId xmlns:a16="http://schemas.microsoft.com/office/drawing/2014/main" id="{F262DEB4-0981-2A49-C6F0-5C7B7027BD74}"/>
              </a:ext>
            </a:extLst>
          </p:cNvPr>
          <p:cNvPicPr>
            <a:picLocks noChangeAspect="1"/>
          </p:cNvPicPr>
          <p:nvPr/>
        </p:nvPicPr>
        <p:blipFill>
          <a:blip r:embed="rId3"/>
          <a:srcRect r="68065" b="54409"/>
          <a:stretch>
            <a:fillRect/>
          </a:stretch>
        </p:blipFill>
        <p:spPr>
          <a:xfrm>
            <a:off x="0" y="3731341"/>
            <a:ext cx="3893574" cy="3126658"/>
          </a:xfrm>
          <a:prstGeom prst="rect">
            <a:avLst/>
          </a:prstGeom>
        </p:spPr>
      </p:pic>
      <p:cxnSp>
        <p:nvCxnSpPr>
          <p:cNvPr id="12" name="Connector: Elbow 11">
            <a:extLst>
              <a:ext uri="{FF2B5EF4-FFF2-40B4-BE49-F238E27FC236}">
                <a16:creationId xmlns:a16="http://schemas.microsoft.com/office/drawing/2014/main" id="{BFD4161E-D1A4-5437-C9FA-4422DE586565}"/>
              </a:ext>
            </a:extLst>
          </p:cNvPr>
          <p:cNvCxnSpPr>
            <a:endCxn id="10" idx="0"/>
          </p:cNvCxnSpPr>
          <p:nvPr/>
        </p:nvCxnSpPr>
        <p:spPr>
          <a:xfrm rot="10800000" flipV="1">
            <a:off x="1946788" y="2684205"/>
            <a:ext cx="2241755" cy="1047135"/>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06504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54EA0-CFE5-4500-EBD0-4BFFCD6F3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375A7-66C8-1CD6-4DCB-C9890880C745}"/>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20C47EB8-23CF-F050-021F-2C13530B979F}"/>
              </a:ext>
            </a:extLst>
          </p:cNvPr>
          <p:cNvSpPr>
            <a:spLocks noChangeArrowheads="1"/>
          </p:cNvSpPr>
          <p:nvPr/>
        </p:nvSpPr>
        <p:spPr bwMode="auto">
          <a:xfrm>
            <a:off x="0" y="96012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Select </a:t>
            </a:r>
            <a:r>
              <a:rPr lang="en-US" sz="2800" b="1" dirty="0">
                <a:latin typeface="Calibir"/>
              </a:rPr>
              <a:t>Launch</a:t>
            </a:r>
            <a:r>
              <a:rPr lang="en-US" sz="2800" dirty="0">
                <a:latin typeface="Calibir"/>
              </a:rPr>
              <a:t> </a:t>
            </a:r>
            <a:r>
              <a:rPr lang="en-US" sz="2800" b="1" dirty="0" err="1">
                <a:latin typeface="Calibir"/>
              </a:rPr>
              <a:t>HelloFX</a:t>
            </a:r>
            <a:endParaRPr lang="en-US" sz="2800" b="1" dirty="0">
              <a:latin typeface="Calibir"/>
            </a:endParaRPr>
          </a:p>
        </p:txBody>
      </p:sp>
      <p:pic>
        <p:nvPicPr>
          <p:cNvPr id="6" name="Picture 5">
            <a:extLst>
              <a:ext uri="{FF2B5EF4-FFF2-40B4-BE49-F238E27FC236}">
                <a16:creationId xmlns:a16="http://schemas.microsoft.com/office/drawing/2014/main" id="{D2DA5A4A-DE10-FEB7-C30E-F955DB45CDB6}"/>
              </a:ext>
            </a:extLst>
          </p:cNvPr>
          <p:cNvPicPr>
            <a:picLocks noChangeAspect="1"/>
          </p:cNvPicPr>
          <p:nvPr/>
        </p:nvPicPr>
        <p:blipFill>
          <a:blip r:embed="rId2"/>
          <a:srcRect b="41075"/>
          <a:stretch>
            <a:fillRect/>
          </a:stretch>
        </p:blipFill>
        <p:spPr>
          <a:xfrm>
            <a:off x="0" y="1856814"/>
            <a:ext cx="12192000" cy="4041058"/>
          </a:xfrm>
          <a:prstGeom prst="rect">
            <a:avLst/>
          </a:prstGeom>
        </p:spPr>
      </p:pic>
      <p:sp>
        <p:nvSpPr>
          <p:cNvPr id="7" name="Rectangle: Rounded Corners 6">
            <a:extLst>
              <a:ext uri="{FF2B5EF4-FFF2-40B4-BE49-F238E27FC236}">
                <a16:creationId xmlns:a16="http://schemas.microsoft.com/office/drawing/2014/main" id="{B874679B-5527-CC21-1A40-90EC629B35C2}"/>
              </a:ext>
            </a:extLst>
          </p:cNvPr>
          <p:cNvSpPr/>
          <p:nvPr/>
        </p:nvSpPr>
        <p:spPr>
          <a:xfrm>
            <a:off x="840658" y="2448232"/>
            <a:ext cx="2536723" cy="67544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79138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A5B35-FE02-5E75-8D9A-8A5C492DD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834BB-5E66-893B-1A0D-837C7B64444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92DB5438-1952-8D8E-5304-37797D251397}"/>
              </a:ext>
            </a:extLst>
          </p:cNvPr>
          <p:cNvSpPr>
            <a:spLocks noChangeArrowheads="1"/>
          </p:cNvSpPr>
          <p:nvPr/>
        </p:nvSpPr>
        <p:spPr bwMode="auto">
          <a:xfrm>
            <a:off x="0" y="96012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F5 (Start Debugging)</a:t>
            </a:r>
            <a:endParaRPr lang="en-US" sz="2800" b="1" dirty="0">
              <a:latin typeface="Calibir"/>
            </a:endParaRPr>
          </a:p>
        </p:txBody>
      </p:sp>
      <p:pic>
        <p:nvPicPr>
          <p:cNvPr id="5" name="Picture 4">
            <a:extLst>
              <a:ext uri="{FF2B5EF4-FFF2-40B4-BE49-F238E27FC236}">
                <a16:creationId xmlns:a16="http://schemas.microsoft.com/office/drawing/2014/main" id="{A45C334E-661F-9FB4-67F1-AB5CE5500837}"/>
              </a:ext>
            </a:extLst>
          </p:cNvPr>
          <p:cNvPicPr>
            <a:picLocks noChangeAspect="1"/>
          </p:cNvPicPr>
          <p:nvPr/>
        </p:nvPicPr>
        <p:blipFill>
          <a:blip r:embed="rId2"/>
          <a:srcRect b="6022"/>
          <a:stretch>
            <a:fillRect/>
          </a:stretch>
        </p:blipFill>
        <p:spPr>
          <a:xfrm>
            <a:off x="3180522" y="2094271"/>
            <a:ext cx="9011477" cy="4763728"/>
          </a:xfrm>
          <a:prstGeom prst="rect">
            <a:avLst/>
          </a:prstGeom>
        </p:spPr>
      </p:pic>
      <p:sp>
        <p:nvSpPr>
          <p:cNvPr id="7" name="Rectangle: Rounded Corners 6">
            <a:extLst>
              <a:ext uri="{FF2B5EF4-FFF2-40B4-BE49-F238E27FC236}">
                <a16:creationId xmlns:a16="http://schemas.microsoft.com/office/drawing/2014/main" id="{C29CC1DE-28CC-DA84-D246-C5139E195B69}"/>
              </a:ext>
            </a:extLst>
          </p:cNvPr>
          <p:cNvSpPr/>
          <p:nvPr/>
        </p:nvSpPr>
        <p:spPr>
          <a:xfrm>
            <a:off x="3559277" y="2507225"/>
            <a:ext cx="2310581" cy="67544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71985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0A12C-F26A-1A70-1FBD-9EBE741E0BF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B89EE25-C010-2338-3FB1-EEE1BCCF62A2}"/>
              </a:ext>
            </a:extLst>
          </p:cNvPr>
          <p:cNvPicPr>
            <a:picLocks noChangeAspect="1"/>
          </p:cNvPicPr>
          <p:nvPr/>
        </p:nvPicPr>
        <p:blipFill>
          <a:blip r:embed="rId2"/>
          <a:srcRect l="32500" t="28817" r="32378" b="30753"/>
          <a:stretch>
            <a:fillRect/>
          </a:stretch>
        </p:blipFill>
        <p:spPr>
          <a:xfrm>
            <a:off x="2183014" y="1297848"/>
            <a:ext cx="7825972" cy="5067566"/>
          </a:xfrm>
          <a:prstGeom prst="rect">
            <a:avLst/>
          </a:prstGeom>
        </p:spPr>
      </p:pic>
      <p:sp>
        <p:nvSpPr>
          <p:cNvPr id="2" name="Title 1">
            <a:extLst>
              <a:ext uri="{FF2B5EF4-FFF2-40B4-BE49-F238E27FC236}">
                <a16:creationId xmlns:a16="http://schemas.microsoft.com/office/drawing/2014/main" id="{E84CBE64-32CB-D901-AF67-F5A2D484988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50A6A2C1-913D-0CFC-DA32-9A466EDEFE20}"/>
              </a:ext>
            </a:extLst>
          </p:cNvPr>
          <p:cNvSpPr>
            <a:spLocks noChangeArrowheads="1"/>
          </p:cNvSpPr>
          <p:nvPr/>
        </p:nvSpPr>
        <p:spPr bwMode="auto">
          <a:xfrm>
            <a:off x="0" y="960128"/>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Allow Access</a:t>
            </a:r>
            <a:endParaRPr lang="en-US" sz="2800" b="1" dirty="0">
              <a:latin typeface="Calibir"/>
            </a:endParaRPr>
          </a:p>
        </p:txBody>
      </p:sp>
      <p:sp>
        <p:nvSpPr>
          <p:cNvPr id="7" name="Rectangle: Rounded Corners 6">
            <a:extLst>
              <a:ext uri="{FF2B5EF4-FFF2-40B4-BE49-F238E27FC236}">
                <a16:creationId xmlns:a16="http://schemas.microsoft.com/office/drawing/2014/main" id="{44F06DA8-607A-8435-8885-B195D426FA20}"/>
              </a:ext>
            </a:extLst>
          </p:cNvPr>
          <p:cNvSpPr/>
          <p:nvPr/>
        </p:nvSpPr>
        <p:spPr>
          <a:xfrm>
            <a:off x="6915806" y="6000689"/>
            <a:ext cx="1739293" cy="38731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66556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8F2ED-C06F-0EB5-A7C8-2DC6309C0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E7778A-3E98-C998-5024-8DFA471A119F}"/>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6554743D-DEC3-46BA-2B51-18DF41AD4DEF}"/>
              </a:ext>
            </a:extLst>
          </p:cNvPr>
          <p:cNvSpPr>
            <a:spLocks noChangeArrowheads="1"/>
          </p:cNvSpPr>
          <p:nvPr/>
        </p:nvSpPr>
        <p:spPr bwMode="auto">
          <a:xfrm>
            <a:off x="0" y="969498"/>
            <a:ext cx="12192000" cy="1968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a:t>
            </a:r>
            <a:r>
              <a:rPr lang="en-US" sz="2800" dirty="0" err="1">
                <a:latin typeface="Calibir"/>
              </a:rPr>
              <a:t>TransportTimeoutException</a:t>
            </a:r>
            <a:r>
              <a:rPr lang="en-US" sz="2800" dirty="0">
                <a:latin typeface="Calibir"/>
              </a:rPr>
              <a:t>” is a common VS Code JavaFX setup issue.</a:t>
            </a:r>
            <a:br>
              <a:rPr lang="en-US" sz="2800" dirty="0">
                <a:latin typeface="Calibir"/>
              </a:rPr>
            </a:br>
            <a:r>
              <a:rPr lang="en-US" sz="2800" dirty="0">
                <a:latin typeface="Calibir"/>
              </a:rPr>
              <a:t>It usually means the debugger can’t connect because the JavaFX runtime or the project path isn’t configured quite right.</a:t>
            </a:r>
          </a:p>
        </p:txBody>
      </p:sp>
      <p:pic>
        <p:nvPicPr>
          <p:cNvPr id="5" name="Picture 4">
            <a:extLst>
              <a:ext uri="{FF2B5EF4-FFF2-40B4-BE49-F238E27FC236}">
                <a16:creationId xmlns:a16="http://schemas.microsoft.com/office/drawing/2014/main" id="{8AF7A93E-E355-A951-B02C-B0666FE6EE52}"/>
              </a:ext>
            </a:extLst>
          </p:cNvPr>
          <p:cNvPicPr>
            <a:picLocks noChangeAspect="1"/>
          </p:cNvPicPr>
          <p:nvPr/>
        </p:nvPicPr>
        <p:blipFill>
          <a:blip r:embed="rId2"/>
          <a:srcRect l="37305" t="44662" r="37580" b="44634"/>
          <a:stretch>
            <a:fillRect/>
          </a:stretch>
        </p:blipFill>
        <p:spPr>
          <a:xfrm>
            <a:off x="190179" y="3554362"/>
            <a:ext cx="11811642" cy="2831690"/>
          </a:xfrm>
          <a:prstGeom prst="rect">
            <a:avLst/>
          </a:prstGeom>
        </p:spPr>
      </p:pic>
      <p:sp>
        <p:nvSpPr>
          <p:cNvPr id="7" name="Rectangle: Rounded Corners 6">
            <a:extLst>
              <a:ext uri="{FF2B5EF4-FFF2-40B4-BE49-F238E27FC236}">
                <a16:creationId xmlns:a16="http://schemas.microsoft.com/office/drawing/2014/main" id="{AD6AD39D-E684-5A5A-B014-EE3E86810851}"/>
              </a:ext>
            </a:extLst>
          </p:cNvPr>
          <p:cNvSpPr/>
          <p:nvPr/>
        </p:nvSpPr>
        <p:spPr>
          <a:xfrm>
            <a:off x="7314013" y="5735218"/>
            <a:ext cx="2744387" cy="45910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44548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8210-924D-2AB2-E8D3-09E4FA8F9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6303D-1539-CCF2-1D65-4969D0438C37}"/>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B01348E8-148C-62C5-B29A-CDF4EE5A3E74}"/>
              </a:ext>
            </a:extLst>
          </p:cNvPr>
          <p:cNvSpPr>
            <a:spLocks noChangeArrowheads="1"/>
          </p:cNvSpPr>
          <p:nvPr/>
        </p:nvSpPr>
        <p:spPr bwMode="auto">
          <a:xfrm>
            <a:off x="0" y="756745"/>
            <a:ext cx="121920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Close the running debug session</a:t>
            </a:r>
          </a:p>
          <a:p>
            <a:pPr>
              <a:lnSpc>
                <a:spcPct val="150000"/>
              </a:lnSpc>
            </a:pPr>
            <a:r>
              <a:rPr lang="en-US" sz="2800" dirty="0">
                <a:latin typeface="Calibir"/>
              </a:rPr>
              <a:t>In VS Code:</a:t>
            </a:r>
          </a:p>
          <a:p>
            <a:pPr marL="811213" indent="-514350">
              <a:lnSpc>
                <a:spcPct val="150000"/>
              </a:lnSpc>
              <a:buFont typeface="+mj-lt"/>
              <a:buAutoNum type="arabicPeriod"/>
            </a:pPr>
            <a:r>
              <a:rPr lang="en-US" sz="2800" dirty="0">
                <a:latin typeface="Calibir"/>
              </a:rPr>
              <a:t>Click  Stop (Terminate) if any debug session is active.</a:t>
            </a:r>
          </a:p>
          <a:p>
            <a:pPr marL="811213" indent="-514350">
              <a:lnSpc>
                <a:spcPct val="150000"/>
              </a:lnSpc>
              <a:buFont typeface="+mj-lt"/>
              <a:buAutoNum type="arabicPeriod"/>
            </a:pPr>
            <a:r>
              <a:rPr lang="en-US" sz="2800" dirty="0">
                <a:latin typeface="Calibir"/>
              </a:rPr>
              <a:t>Then click View → Command Palette → Java: Clean the Java Language Server Workspace.</a:t>
            </a:r>
          </a:p>
        </p:txBody>
      </p:sp>
      <p:pic>
        <p:nvPicPr>
          <p:cNvPr id="6" name="Picture 5">
            <a:extLst>
              <a:ext uri="{FF2B5EF4-FFF2-40B4-BE49-F238E27FC236}">
                <a16:creationId xmlns:a16="http://schemas.microsoft.com/office/drawing/2014/main" id="{D9A1CC19-BDCA-9717-0078-BCD54372CD8D}"/>
              </a:ext>
            </a:extLst>
          </p:cNvPr>
          <p:cNvPicPr>
            <a:picLocks noChangeAspect="1"/>
          </p:cNvPicPr>
          <p:nvPr/>
        </p:nvPicPr>
        <p:blipFill>
          <a:blip r:embed="rId2"/>
          <a:srcRect r="18952" b="70753"/>
          <a:stretch>
            <a:fillRect/>
          </a:stretch>
        </p:blipFill>
        <p:spPr>
          <a:xfrm>
            <a:off x="0" y="4402827"/>
            <a:ext cx="12192001" cy="2474795"/>
          </a:xfrm>
          <a:prstGeom prst="rect">
            <a:avLst/>
          </a:prstGeom>
        </p:spPr>
      </p:pic>
    </p:spTree>
    <p:extLst>
      <p:ext uri="{BB962C8B-B14F-4D97-AF65-F5344CB8AC3E}">
        <p14:creationId xmlns:p14="http://schemas.microsoft.com/office/powerpoint/2010/main" val="10769609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7BE28-1876-D124-1461-BB671BED0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222A0-051A-B783-9816-835F14442FB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4" name="Rectangle 1">
            <a:extLst>
              <a:ext uri="{FF2B5EF4-FFF2-40B4-BE49-F238E27FC236}">
                <a16:creationId xmlns:a16="http://schemas.microsoft.com/office/drawing/2014/main" id="{2046C7E9-9CBB-EE2C-7877-9D0124CF8C60}"/>
              </a:ext>
            </a:extLst>
          </p:cNvPr>
          <p:cNvSpPr>
            <a:spLocks noChangeArrowheads="1"/>
          </p:cNvSpPr>
          <p:nvPr/>
        </p:nvSpPr>
        <p:spPr bwMode="auto">
          <a:xfrm>
            <a:off x="0" y="933726"/>
            <a:ext cx="12192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11213" indent="-514350">
              <a:lnSpc>
                <a:spcPct val="150000"/>
              </a:lnSpc>
              <a:buFont typeface="+mj-lt"/>
              <a:buAutoNum type="arabicPeriod" startAt="3"/>
            </a:pPr>
            <a:r>
              <a:rPr lang="en-US" sz="2800" dirty="0">
                <a:latin typeface="Calibir"/>
              </a:rPr>
              <a:t>When prompted, select Restart.</a:t>
            </a:r>
            <a:br>
              <a:rPr lang="en-US" sz="2800" dirty="0">
                <a:latin typeface="Calibir"/>
              </a:rPr>
            </a:br>
            <a:r>
              <a:rPr lang="en-US" sz="2800" dirty="0">
                <a:latin typeface="Calibir"/>
              </a:rPr>
              <a:t>This resets VS Code’s Java environment.</a:t>
            </a:r>
          </a:p>
        </p:txBody>
      </p:sp>
      <p:pic>
        <p:nvPicPr>
          <p:cNvPr id="5" name="Picture 4">
            <a:extLst>
              <a:ext uri="{FF2B5EF4-FFF2-40B4-BE49-F238E27FC236}">
                <a16:creationId xmlns:a16="http://schemas.microsoft.com/office/drawing/2014/main" id="{2AAED918-1E4A-BC25-1FA9-F5A5F8EC4009}"/>
              </a:ext>
            </a:extLst>
          </p:cNvPr>
          <p:cNvPicPr>
            <a:picLocks noChangeAspect="1"/>
          </p:cNvPicPr>
          <p:nvPr/>
        </p:nvPicPr>
        <p:blipFill>
          <a:blip r:embed="rId2"/>
          <a:srcRect l="46573" t="66451" b="10967"/>
          <a:stretch>
            <a:fillRect/>
          </a:stretch>
        </p:blipFill>
        <p:spPr>
          <a:xfrm>
            <a:off x="0" y="2750157"/>
            <a:ext cx="12192000" cy="2898474"/>
          </a:xfrm>
          <a:prstGeom prst="rect">
            <a:avLst/>
          </a:prstGeom>
        </p:spPr>
      </p:pic>
      <p:sp>
        <p:nvSpPr>
          <p:cNvPr id="7" name="Rectangle: Rounded Corners 6">
            <a:extLst>
              <a:ext uri="{FF2B5EF4-FFF2-40B4-BE49-F238E27FC236}">
                <a16:creationId xmlns:a16="http://schemas.microsoft.com/office/drawing/2014/main" id="{90FAA1CA-E513-B1C8-457C-C3D1AB07A39B}"/>
              </a:ext>
            </a:extLst>
          </p:cNvPr>
          <p:cNvSpPr/>
          <p:nvPr/>
        </p:nvSpPr>
        <p:spPr>
          <a:xfrm>
            <a:off x="8672052" y="4439265"/>
            <a:ext cx="3170903" cy="81116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52425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046C1-B425-EF6B-9350-24F6402CE9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181CC-65F5-724B-35EC-2674D0C8C7F9}"/>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6" name="TextBox 5">
            <a:extLst>
              <a:ext uri="{FF2B5EF4-FFF2-40B4-BE49-F238E27FC236}">
                <a16:creationId xmlns:a16="http://schemas.microsoft.com/office/drawing/2014/main" id="{12328F85-8E12-05D5-F64C-07A60F45A599}"/>
              </a:ext>
            </a:extLst>
          </p:cNvPr>
          <p:cNvSpPr txBox="1"/>
          <p:nvPr/>
        </p:nvSpPr>
        <p:spPr>
          <a:xfrm>
            <a:off x="0" y="707726"/>
            <a:ext cx="12192000" cy="3539430"/>
          </a:xfrm>
          <a:prstGeom prst="rect">
            <a:avLst/>
          </a:prstGeom>
          <a:solidFill>
            <a:schemeClr val="tx1"/>
          </a:solidFill>
        </p:spPr>
        <p:txBody>
          <a:bodyPr wrap="square">
            <a:spAutoFit/>
          </a:bodyPr>
          <a:lstStyle/>
          <a:p>
            <a:pPr>
              <a:buNone/>
            </a:pP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"version"</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"0.2.0"</a:t>
            </a: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"configurations"</a:t>
            </a:r>
            <a:r>
              <a:rPr lang="en-US" sz="1600" b="0" dirty="0">
                <a:solidFill>
                  <a:srgbClr val="CCCCCC"/>
                </a:solidFill>
                <a:effectLst/>
                <a:latin typeface="Consolas" panose="020B0609020204030204" pitchFamily="49" charset="0"/>
              </a:rPr>
              <a:t>: [</a:t>
            </a:r>
          </a:p>
          <a:p>
            <a:pPr>
              <a:buNone/>
            </a:pPr>
            <a:r>
              <a:rPr lang="en-US" sz="1600" b="0" dirty="0">
                <a:solidFill>
                  <a:srgbClr val="CCCCCC"/>
                </a:solidFill>
                <a:effectLst/>
                <a:latin typeface="Consolas" panose="020B0609020204030204" pitchFamily="49" charset="0"/>
              </a:rPr>
              <a:t>    {</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"type"</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"java"</a:t>
            </a: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"name"</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"Launch </a:t>
            </a:r>
            <a:r>
              <a:rPr lang="en-US" sz="1600" b="0" dirty="0" err="1">
                <a:solidFill>
                  <a:srgbClr val="CE9178"/>
                </a:solidFill>
                <a:effectLst/>
                <a:latin typeface="Consolas" panose="020B0609020204030204" pitchFamily="49" charset="0"/>
              </a:rPr>
              <a:t>HelloFX</a:t>
            </a:r>
            <a:r>
              <a:rPr lang="en-US" sz="1600" b="0" dirty="0">
                <a:solidFill>
                  <a:srgbClr val="CE9178"/>
                </a:solidFill>
                <a:effectLst/>
                <a:latin typeface="Consolas" panose="020B0609020204030204" pitchFamily="49" charset="0"/>
              </a:rPr>
              <a:t>"</a:t>
            </a: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"request"</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"launch"</a:t>
            </a: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a:t>
            </a:r>
            <a:r>
              <a:rPr lang="en-US" sz="1600" b="0" dirty="0" err="1">
                <a:solidFill>
                  <a:srgbClr val="9CDCFE"/>
                </a:solidFill>
                <a:effectLst/>
                <a:latin typeface="Consolas" panose="020B0609020204030204" pitchFamily="49" charset="0"/>
              </a:rPr>
              <a:t>mainClass</a:t>
            </a:r>
            <a:r>
              <a:rPr lang="en-US" sz="1600" b="0" dirty="0">
                <a:solidFill>
                  <a:srgbClr val="9CDCFE"/>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"App"</a:t>
            </a: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a:t>
            </a:r>
            <a:r>
              <a:rPr lang="en-US" sz="1600" b="0" dirty="0" err="1">
                <a:solidFill>
                  <a:srgbClr val="9CDCFE"/>
                </a:solidFill>
                <a:effectLst/>
                <a:latin typeface="Consolas" panose="020B0609020204030204" pitchFamily="49" charset="0"/>
              </a:rPr>
              <a:t>cwd</a:t>
            </a:r>
            <a:r>
              <a:rPr lang="en-US" sz="1600" b="0" dirty="0">
                <a:solidFill>
                  <a:srgbClr val="9CDCFE"/>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a:t>
            </a:r>
            <a:r>
              <a:rPr lang="en-US" sz="1600" b="0" dirty="0" err="1">
                <a:solidFill>
                  <a:srgbClr val="CE9178"/>
                </a:solidFill>
                <a:effectLst/>
                <a:latin typeface="Consolas" panose="020B0609020204030204" pitchFamily="49" charset="0"/>
              </a:rPr>
              <a:t>workspaceFolder</a:t>
            </a:r>
            <a:r>
              <a:rPr lang="en-US" sz="1600" b="0" dirty="0">
                <a:solidFill>
                  <a:srgbClr val="CE9178"/>
                </a:solidFill>
                <a:effectLst/>
                <a:latin typeface="Consolas" panose="020B0609020204030204" pitchFamily="49" charset="0"/>
              </a:rPr>
              <a:t>}/</a:t>
            </a:r>
            <a:r>
              <a:rPr lang="en-US" sz="1600" b="0" dirty="0" err="1">
                <a:solidFill>
                  <a:srgbClr val="CE9178"/>
                </a:solidFill>
                <a:effectLst/>
                <a:latin typeface="Consolas" panose="020B0609020204030204" pitchFamily="49" charset="0"/>
              </a:rPr>
              <a:t>src</a:t>
            </a:r>
            <a:r>
              <a:rPr lang="en-US" sz="1600" b="0" dirty="0">
                <a:solidFill>
                  <a:srgbClr val="CE9178"/>
                </a:solidFill>
                <a:effectLst/>
                <a:latin typeface="Consolas" panose="020B0609020204030204" pitchFamily="49" charset="0"/>
              </a:rPr>
              <a:t>"</a:t>
            </a: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a:t>
            </a:r>
            <a:r>
              <a:rPr lang="en-US" sz="1600" b="0" dirty="0" err="1">
                <a:solidFill>
                  <a:srgbClr val="9CDCFE"/>
                </a:solidFill>
                <a:effectLst/>
                <a:latin typeface="Consolas" panose="020B0609020204030204" pitchFamily="49" charset="0"/>
              </a:rPr>
              <a:t>vmArgs</a:t>
            </a:r>
            <a:r>
              <a:rPr lang="en-US" sz="1600" b="0" dirty="0">
                <a:solidFill>
                  <a:srgbClr val="9CDCFE"/>
                </a:solidFill>
                <a:effectLst/>
                <a:latin typeface="Consolas" panose="020B0609020204030204" pitchFamily="49" charset="0"/>
              </a:rPr>
              <a:t>"</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"--module-path </a:t>
            </a:r>
            <a:r>
              <a:rPr lang="en-US" sz="1600" b="0" dirty="0">
                <a:solidFill>
                  <a:srgbClr val="D7BA7D"/>
                </a:solidFill>
                <a:effectLst/>
                <a:latin typeface="Consolas" panose="020B0609020204030204" pitchFamily="49" charset="0"/>
              </a:rPr>
              <a:t>\"</a:t>
            </a:r>
            <a:r>
              <a:rPr lang="en-US" sz="1600" b="0" dirty="0">
                <a:solidFill>
                  <a:srgbClr val="CE9178"/>
                </a:solidFill>
                <a:effectLst/>
                <a:latin typeface="Consolas" panose="020B0609020204030204" pitchFamily="49" charset="0"/>
              </a:rPr>
              <a:t>${</a:t>
            </a:r>
            <a:r>
              <a:rPr lang="en-US" sz="1600" b="0" dirty="0" err="1">
                <a:solidFill>
                  <a:srgbClr val="CE9178"/>
                </a:solidFill>
                <a:effectLst/>
                <a:latin typeface="Consolas" panose="020B0609020204030204" pitchFamily="49" charset="0"/>
              </a:rPr>
              <a:t>workspaceFolder</a:t>
            </a:r>
            <a:r>
              <a:rPr lang="en-US" sz="1600" b="0" dirty="0">
                <a:solidFill>
                  <a:srgbClr val="CE9178"/>
                </a:solidFill>
                <a:effectLst/>
                <a:latin typeface="Consolas" panose="020B0609020204030204" pitchFamily="49" charset="0"/>
              </a:rPr>
              <a:t>}/lib</a:t>
            </a:r>
            <a:r>
              <a:rPr lang="en-US" sz="1600" b="0" dirty="0">
                <a:solidFill>
                  <a:srgbClr val="D7BA7D"/>
                </a:solidFill>
                <a:effectLst/>
                <a:latin typeface="Consolas" panose="020B0609020204030204" pitchFamily="49" charset="0"/>
              </a:rPr>
              <a:t>\"</a:t>
            </a:r>
            <a:r>
              <a:rPr lang="en-US" sz="1600" b="0" dirty="0">
                <a:solidFill>
                  <a:srgbClr val="CE9178"/>
                </a:solidFill>
                <a:effectLst/>
                <a:latin typeface="Consolas" panose="020B0609020204030204" pitchFamily="49" charset="0"/>
              </a:rPr>
              <a:t> --add-modules </a:t>
            </a:r>
            <a:r>
              <a:rPr lang="en-US" sz="1600" b="0" dirty="0" err="1">
                <a:solidFill>
                  <a:srgbClr val="CE9178"/>
                </a:solidFill>
                <a:effectLst/>
                <a:latin typeface="Consolas" panose="020B0609020204030204" pitchFamily="49" charset="0"/>
              </a:rPr>
              <a:t>javafx.controls,javafx.fxml</a:t>
            </a:r>
            <a:r>
              <a:rPr lang="en-US" sz="1600" b="0" dirty="0">
                <a:solidFill>
                  <a:srgbClr val="CE9178"/>
                </a:solidFill>
                <a:effectLst/>
                <a:latin typeface="Consolas" panose="020B0609020204030204" pitchFamily="49" charset="0"/>
              </a:rPr>
              <a:t>"</a:t>
            </a:r>
            <a:r>
              <a:rPr lang="en-US" sz="1600" b="0" dirty="0">
                <a:solidFill>
                  <a:srgbClr val="CCCCCC"/>
                </a:solidFill>
                <a:effectLst/>
                <a:latin typeface="Consolas" panose="020B0609020204030204" pitchFamily="49" charset="0"/>
              </a:rPr>
              <a:t>,</a:t>
            </a:r>
          </a:p>
          <a:p>
            <a:pPr>
              <a:buNone/>
            </a:pPr>
            <a:r>
              <a:rPr lang="en-US" sz="1600" b="0" dirty="0">
                <a:solidFill>
                  <a:srgbClr val="CCCCCC"/>
                </a:solidFill>
                <a:effectLst/>
                <a:latin typeface="Consolas" panose="020B0609020204030204" pitchFamily="49" charset="0"/>
              </a:rPr>
              <a:t>      </a:t>
            </a:r>
            <a:r>
              <a:rPr lang="en-US" sz="1600" b="0" dirty="0">
                <a:solidFill>
                  <a:srgbClr val="9CDCFE"/>
                </a:solidFill>
                <a:effectLst/>
                <a:latin typeface="Consolas" panose="020B0609020204030204" pitchFamily="49" charset="0"/>
              </a:rPr>
              <a:t>"console"</a:t>
            </a:r>
            <a:r>
              <a:rPr lang="en-US" sz="1600" b="0" dirty="0">
                <a:solidFill>
                  <a:srgbClr val="CCCCCC"/>
                </a:solidFill>
                <a:effectLst/>
                <a:latin typeface="Consolas" panose="020B0609020204030204" pitchFamily="49" charset="0"/>
              </a:rPr>
              <a:t>: </a:t>
            </a:r>
            <a:r>
              <a:rPr lang="en-US" sz="1600" b="0" dirty="0">
                <a:solidFill>
                  <a:srgbClr val="CE9178"/>
                </a:solidFill>
                <a:effectLst/>
                <a:latin typeface="Consolas" panose="020B0609020204030204" pitchFamily="49" charset="0"/>
              </a:rPr>
              <a:t>"</a:t>
            </a:r>
            <a:r>
              <a:rPr lang="en-US" sz="1600" b="0" dirty="0" err="1">
                <a:solidFill>
                  <a:srgbClr val="CE9178"/>
                </a:solidFill>
                <a:effectLst/>
                <a:latin typeface="Consolas" panose="020B0609020204030204" pitchFamily="49" charset="0"/>
              </a:rPr>
              <a:t>integratedTerminal</a:t>
            </a:r>
            <a:r>
              <a:rPr lang="en-US" sz="1600" b="0" dirty="0">
                <a:solidFill>
                  <a:srgbClr val="CE9178"/>
                </a:solidFill>
                <a:effectLst/>
                <a:latin typeface="Consolas" panose="020B0609020204030204" pitchFamily="49" charset="0"/>
              </a:rPr>
              <a:t>"</a:t>
            </a:r>
            <a:endParaRPr lang="en-US" sz="1600" b="0" dirty="0">
              <a:solidFill>
                <a:srgbClr val="CCCCCC"/>
              </a:solidFill>
              <a:effectLst/>
              <a:latin typeface="Consolas" panose="020B0609020204030204" pitchFamily="49" charset="0"/>
            </a:endParaRPr>
          </a:p>
          <a:p>
            <a:pPr>
              <a:buNone/>
            </a:pPr>
            <a:r>
              <a:rPr lang="en-US" sz="1600" b="0" dirty="0">
                <a:solidFill>
                  <a:srgbClr val="CCCCCC"/>
                </a:solidFill>
                <a:effectLst/>
                <a:latin typeface="Consolas" panose="020B0609020204030204" pitchFamily="49" charset="0"/>
              </a:rPr>
              <a:t>    }</a:t>
            </a:r>
          </a:p>
          <a:p>
            <a:pPr>
              <a:buNone/>
            </a:pPr>
            <a:r>
              <a:rPr lang="en-US" sz="1600" b="0" dirty="0">
                <a:solidFill>
                  <a:srgbClr val="CCCCCC"/>
                </a:solidFill>
                <a:effectLst/>
                <a:latin typeface="Consolas" panose="020B0609020204030204" pitchFamily="49" charset="0"/>
              </a:rPr>
              <a:t>  ]</a:t>
            </a:r>
          </a:p>
          <a:p>
            <a:pPr>
              <a:buNone/>
            </a:pPr>
            <a:r>
              <a:rPr lang="en-US" sz="1600" b="0" dirty="0">
                <a:solidFill>
                  <a:srgbClr val="CCCCCC"/>
                </a:solidFill>
                <a:effectLst/>
                <a:latin typeface="Consolas" panose="020B0609020204030204" pitchFamily="49" charset="0"/>
              </a:rPr>
              <a:t>}</a:t>
            </a:r>
          </a:p>
        </p:txBody>
      </p:sp>
      <p:sp>
        <p:nvSpPr>
          <p:cNvPr id="8" name="Rectangle 1">
            <a:extLst>
              <a:ext uri="{FF2B5EF4-FFF2-40B4-BE49-F238E27FC236}">
                <a16:creationId xmlns:a16="http://schemas.microsoft.com/office/drawing/2014/main" id="{92652B21-A6ED-E009-76B4-8A339914CB0E}"/>
              </a:ext>
            </a:extLst>
          </p:cNvPr>
          <p:cNvSpPr>
            <a:spLocks noChangeArrowheads="1"/>
          </p:cNvSpPr>
          <p:nvPr/>
        </p:nvSpPr>
        <p:spPr bwMode="auto">
          <a:xfrm>
            <a:off x="796412" y="4247156"/>
            <a:ext cx="11395587"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We check our </a:t>
            </a:r>
            <a:r>
              <a:rPr lang="en-US" sz="2800" b="1" dirty="0" err="1">
                <a:latin typeface="Calibir"/>
              </a:rPr>
              <a:t>launch.json</a:t>
            </a:r>
            <a:endParaRPr lang="en-US" sz="2800" b="1" dirty="0">
              <a:latin typeface="Calibir"/>
            </a:endParaRPr>
          </a:p>
          <a:p>
            <a:pPr>
              <a:lnSpc>
                <a:spcPct val="150000"/>
              </a:lnSpc>
            </a:pPr>
            <a:r>
              <a:rPr lang="en-US" sz="2800" dirty="0">
                <a:latin typeface="Calibir"/>
              </a:rPr>
              <a:t>We already have the right structure —we make it explicit to fix path and startup timing issues.</a:t>
            </a:r>
          </a:p>
          <a:p>
            <a:pPr>
              <a:lnSpc>
                <a:spcPct val="150000"/>
              </a:lnSpc>
            </a:pPr>
            <a:r>
              <a:rPr lang="en-US" sz="2800" dirty="0">
                <a:latin typeface="Calibir"/>
              </a:rPr>
              <a:t>Use this file content (adjusted for our exact folder layout)</a:t>
            </a:r>
          </a:p>
        </p:txBody>
      </p:sp>
      <p:sp>
        <p:nvSpPr>
          <p:cNvPr id="9" name="Rectangle 1">
            <a:extLst>
              <a:ext uri="{FF2B5EF4-FFF2-40B4-BE49-F238E27FC236}">
                <a16:creationId xmlns:a16="http://schemas.microsoft.com/office/drawing/2014/main" id="{BD94925F-556A-AEC6-7280-C08B1534B9C7}"/>
              </a:ext>
            </a:extLst>
          </p:cNvPr>
          <p:cNvSpPr>
            <a:spLocks noChangeArrowheads="1"/>
          </p:cNvSpPr>
          <p:nvPr/>
        </p:nvSpPr>
        <p:spPr bwMode="auto">
          <a:xfrm>
            <a:off x="4380270" y="707726"/>
            <a:ext cx="7811730" cy="1891287"/>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ir"/>
              </a:rPr>
              <a:t>"</a:t>
            </a:r>
            <a:r>
              <a:rPr kumimoji="0" lang="en-US" altLang="en-US" sz="2000" b="0" i="0" u="none" strike="noStrike" cap="none" normalizeH="0" baseline="0" dirty="0" err="1">
                <a:ln>
                  <a:noFill/>
                </a:ln>
                <a:solidFill>
                  <a:schemeClr val="tx1"/>
                </a:solidFill>
                <a:effectLst/>
                <a:latin typeface="Calibir"/>
              </a:rPr>
              <a:t>cwd</a:t>
            </a:r>
            <a:r>
              <a:rPr kumimoji="0" lang="en-US" altLang="en-US" sz="2000" b="0" i="0" u="none" strike="noStrike" cap="none" normalizeH="0" baseline="0" dirty="0">
                <a:ln>
                  <a:noFill/>
                </a:ln>
                <a:solidFill>
                  <a:schemeClr val="tx1"/>
                </a:solidFill>
                <a:effectLst/>
                <a:latin typeface="Calibir"/>
              </a:rPr>
              <a:t>": "${</a:t>
            </a:r>
            <a:r>
              <a:rPr kumimoji="0" lang="en-US" altLang="en-US" sz="2000" b="0" i="0" u="none" strike="noStrike" cap="none" normalizeH="0" baseline="0" dirty="0" err="1">
                <a:ln>
                  <a:noFill/>
                </a:ln>
                <a:solidFill>
                  <a:schemeClr val="tx1"/>
                </a:solidFill>
                <a:effectLst/>
                <a:latin typeface="Calibir"/>
              </a:rPr>
              <a:t>workspaceFolder</a:t>
            </a:r>
            <a:r>
              <a:rPr kumimoji="0" lang="en-US" altLang="en-US" sz="2000" b="0" i="0" u="none" strike="noStrike" cap="none" normalizeH="0" baseline="0" dirty="0">
                <a:ln>
                  <a:noFill/>
                </a:ln>
                <a:solidFill>
                  <a:schemeClr val="tx1"/>
                </a:solidFill>
                <a:effectLst/>
                <a:latin typeface="Calibir"/>
              </a:rPr>
              <a:t>}/</a:t>
            </a:r>
            <a:r>
              <a:rPr kumimoji="0" lang="en-US" altLang="en-US" sz="2000" b="0" i="0" u="none" strike="noStrike" cap="none" normalizeH="0" baseline="0" dirty="0" err="1">
                <a:ln>
                  <a:noFill/>
                </a:ln>
                <a:solidFill>
                  <a:schemeClr val="tx1"/>
                </a:solidFill>
                <a:effectLst/>
                <a:latin typeface="Calibir"/>
              </a:rPr>
              <a:t>src</a:t>
            </a:r>
            <a:r>
              <a:rPr kumimoji="0" lang="en-US" altLang="en-US" sz="2000" b="0" i="0" u="none" strike="noStrike" cap="none" normalizeH="0" baseline="0" dirty="0">
                <a:ln>
                  <a:noFill/>
                </a:ln>
                <a:solidFill>
                  <a:schemeClr val="tx1"/>
                </a:solidFill>
                <a:effectLst/>
                <a:latin typeface="Calibir"/>
              </a:rPr>
              <a:t>" ensures Java runs from your </a:t>
            </a:r>
            <a:r>
              <a:rPr kumimoji="0" lang="en-US" altLang="en-US" sz="2000" b="0" i="0" u="none" strike="noStrike" cap="none" normalizeH="0" baseline="0" dirty="0" err="1">
                <a:ln>
                  <a:noFill/>
                </a:ln>
                <a:solidFill>
                  <a:schemeClr val="tx1"/>
                </a:solidFill>
                <a:effectLst/>
                <a:latin typeface="Calibir"/>
              </a:rPr>
              <a:t>src</a:t>
            </a:r>
            <a:r>
              <a:rPr kumimoji="0" lang="en-US" altLang="en-US" sz="2000" b="0" i="0" u="none" strike="noStrike" cap="none" normalizeH="0" baseline="0" dirty="0">
                <a:ln>
                  <a:noFill/>
                </a:ln>
                <a:solidFill>
                  <a:schemeClr val="tx1"/>
                </a:solidFill>
                <a:effectLst/>
                <a:latin typeface="Calibir"/>
              </a:rPr>
              <a:t> folder.</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Calibir"/>
              </a:rPr>
              <a:t>"console": "</a:t>
            </a:r>
            <a:r>
              <a:rPr kumimoji="0" lang="en-US" altLang="en-US" sz="2000" b="0" i="0" u="none" strike="noStrike" cap="none" normalizeH="0" baseline="0" dirty="0" err="1">
                <a:ln>
                  <a:noFill/>
                </a:ln>
                <a:solidFill>
                  <a:schemeClr val="tx1"/>
                </a:solidFill>
                <a:effectLst/>
                <a:latin typeface="Calibir"/>
              </a:rPr>
              <a:t>integratedTerminal</a:t>
            </a:r>
            <a:r>
              <a:rPr kumimoji="0" lang="en-US" altLang="en-US" sz="2000" b="0" i="0" u="none" strike="noStrike" cap="none" normalizeH="0" baseline="0" dirty="0">
                <a:ln>
                  <a:noFill/>
                </a:ln>
                <a:solidFill>
                  <a:schemeClr val="tx1"/>
                </a:solidFill>
                <a:effectLst/>
                <a:latin typeface="Calibir"/>
              </a:rPr>
              <a:t>" forces VS Code to run it in the main terminal instead of a debugger shell (which prevents timeout).</a:t>
            </a:r>
          </a:p>
        </p:txBody>
      </p:sp>
    </p:spTree>
    <p:extLst>
      <p:ext uri="{BB962C8B-B14F-4D97-AF65-F5344CB8AC3E}">
        <p14:creationId xmlns:p14="http://schemas.microsoft.com/office/powerpoint/2010/main" val="22024255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F736-3C30-3906-24A7-F68F1CC2D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2E61E-F915-0967-2C48-AC98D4951C3D}"/>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878D80D5-8837-8553-4BF7-E68AD0D240AA}"/>
              </a:ext>
            </a:extLst>
          </p:cNvPr>
          <p:cNvSpPr>
            <a:spLocks noChangeArrowheads="1"/>
          </p:cNvSpPr>
          <p:nvPr/>
        </p:nvSpPr>
        <p:spPr bwMode="auto">
          <a:xfrm>
            <a:off x="0" y="756745"/>
            <a:ext cx="11395587" cy="67185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The Explorer should include our jar files</a:t>
            </a:r>
            <a:endParaRPr lang="en-US" sz="2800" dirty="0">
              <a:latin typeface="Calibir"/>
            </a:endParaRPr>
          </a:p>
        </p:txBody>
      </p:sp>
      <p:pic>
        <p:nvPicPr>
          <p:cNvPr id="4" name="Picture 3">
            <a:extLst>
              <a:ext uri="{FF2B5EF4-FFF2-40B4-BE49-F238E27FC236}">
                <a16:creationId xmlns:a16="http://schemas.microsoft.com/office/drawing/2014/main" id="{D885CCCD-01EB-F375-4553-D663C12BAE4F}"/>
              </a:ext>
            </a:extLst>
          </p:cNvPr>
          <p:cNvPicPr>
            <a:picLocks noChangeAspect="1"/>
          </p:cNvPicPr>
          <p:nvPr/>
        </p:nvPicPr>
        <p:blipFill>
          <a:blip r:embed="rId2"/>
          <a:srcRect b="20860"/>
          <a:stretch>
            <a:fillRect/>
          </a:stretch>
        </p:blipFill>
        <p:spPr>
          <a:xfrm>
            <a:off x="0" y="1428596"/>
            <a:ext cx="12192000" cy="5427406"/>
          </a:xfrm>
          <a:prstGeom prst="rect">
            <a:avLst/>
          </a:prstGeom>
        </p:spPr>
      </p:pic>
    </p:spTree>
    <p:extLst>
      <p:ext uri="{BB962C8B-B14F-4D97-AF65-F5344CB8AC3E}">
        <p14:creationId xmlns:p14="http://schemas.microsoft.com/office/powerpoint/2010/main" val="39226617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08BF-7769-FCF3-F1A4-80B06F9D4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B1732B-0768-3429-2D37-FA73950B499F}"/>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455E2137-3E1B-46BA-BE04-CF2931C026FD}"/>
              </a:ext>
            </a:extLst>
          </p:cNvPr>
          <p:cNvSpPr>
            <a:spLocks noChangeArrowheads="1"/>
          </p:cNvSpPr>
          <p:nvPr/>
        </p:nvSpPr>
        <p:spPr bwMode="auto">
          <a:xfrm>
            <a:off x="0" y="756745"/>
            <a:ext cx="11395587" cy="67185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Run it (Ctrl + Shift + D)</a:t>
            </a:r>
            <a:endParaRPr lang="en-US" sz="2800" dirty="0">
              <a:latin typeface="Calibir"/>
            </a:endParaRPr>
          </a:p>
        </p:txBody>
      </p:sp>
      <p:pic>
        <p:nvPicPr>
          <p:cNvPr id="5" name="Picture 4">
            <a:extLst>
              <a:ext uri="{FF2B5EF4-FFF2-40B4-BE49-F238E27FC236}">
                <a16:creationId xmlns:a16="http://schemas.microsoft.com/office/drawing/2014/main" id="{59B448A5-DD7C-16F3-9EEF-A1DCEA427ADF}"/>
              </a:ext>
            </a:extLst>
          </p:cNvPr>
          <p:cNvPicPr>
            <a:picLocks noChangeAspect="1"/>
          </p:cNvPicPr>
          <p:nvPr/>
        </p:nvPicPr>
        <p:blipFill>
          <a:blip r:embed="rId2"/>
          <a:srcRect b="39139"/>
          <a:stretch>
            <a:fillRect/>
          </a:stretch>
        </p:blipFill>
        <p:spPr>
          <a:xfrm>
            <a:off x="0" y="1513489"/>
            <a:ext cx="12192000" cy="4173794"/>
          </a:xfrm>
          <a:prstGeom prst="rect">
            <a:avLst/>
          </a:prstGeom>
        </p:spPr>
      </p:pic>
    </p:spTree>
    <p:extLst>
      <p:ext uri="{BB962C8B-B14F-4D97-AF65-F5344CB8AC3E}">
        <p14:creationId xmlns:p14="http://schemas.microsoft.com/office/powerpoint/2010/main" val="14645491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D781E-FECB-2240-A806-F1DC05886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59F52-FDDD-B2FD-924B-571E72847B1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62AF929B-D79B-5F35-6A07-C5C7B269E976}"/>
              </a:ext>
            </a:extLst>
          </p:cNvPr>
          <p:cNvSpPr>
            <a:spLocks noChangeArrowheads="1"/>
          </p:cNvSpPr>
          <p:nvPr/>
        </p:nvSpPr>
        <p:spPr bwMode="auto">
          <a:xfrm>
            <a:off x="0" y="1229993"/>
            <a:ext cx="11395587" cy="390350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If you see this Error:</a:t>
            </a:r>
          </a:p>
          <a:p>
            <a:pPr>
              <a:lnSpc>
                <a:spcPct val="150000"/>
              </a:lnSpc>
            </a:pPr>
            <a:r>
              <a:rPr lang="en-US" sz="2800" dirty="0" err="1">
                <a:highlight>
                  <a:srgbClr val="FFFF00"/>
                </a:highlight>
                <a:latin typeface="Calibir"/>
              </a:rPr>
              <a:t>InvalidModuleDescriptorException</a:t>
            </a:r>
            <a:r>
              <a:rPr lang="en-US" sz="2800" dirty="0">
                <a:highlight>
                  <a:srgbClr val="FFFF00"/>
                </a:highlight>
                <a:latin typeface="Calibir"/>
              </a:rPr>
              <a:t>: Unsupported </a:t>
            </a:r>
            <a:r>
              <a:rPr lang="en-US" sz="2800" dirty="0" err="1">
                <a:highlight>
                  <a:srgbClr val="FFFF00"/>
                </a:highlight>
                <a:latin typeface="Calibir"/>
              </a:rPr>
              <a:t>major.minor</a:t>
            </a:r>
            <a:r>
              <a:rPr lang="en-US" sz="2800" dirty="0">
                <a:highlight>
                  <a:srgbClr val="FFFF00"/>
                </a:highlight>
                <a:latin typeface="Calibir"/>
              </a:rPr>
              <a:t> version 66.0</a:t>
            </a:r>
          </a:p>
          <a:p>
            <a:pPr>
              <a:lnSpc>
                <a:spcPct val="150000"/>
              </a:lnSpc>
            </a:pPr>
            <a:r>
              <a:rPr lang="en-US" sz="2800" dirty="0">
                <a:latin typeface="Calibir"/>
              </a:rPr>
              <a:t>This means:</a:t>
            </a:r>
          </a:p>
          <a:p>
            <a:pPr>
              <a:lnSpc>
                <a:spcPct val="150000"/>
              </a:lnSpc>
            </a:pPr>
            <a:r>
              <a:rPr lang="en-US" sz="2800" dirty="0">
                <a:latin typeface="Calibir"/>
              </a:rPr>
              <a:t>You’re using Java 21 (jdk-21).</a:t>
            </a:r>
          </a:p>
          <a:p>
            <a:pPr>
              <a:lnSpc>
                <a:spcPct val="150000"/>
              </a:lnSpc>
            </a:pPr>
            <a:r>
              <a:rPr lang="en-US" sz="2800" dirty="0">
                <a:latin typeface="Calibir"/>
              </a:rPr>
              <a:t>But your JavaFX 24 SDK was compiled for Java 22 or later (major version 66).</a:t>
            </a:r>
          </a:p>
          <a:p>
            <a:pPr>
              <a:lnSpc>
                <a:spcPct val="150000"/>
              </a:lnSpc>
            </a:pPr>
            <a:r>
              <a:rPr lang="en-US" sz="2800" dirty="0">
                <a:latin typeface="Calibir"/>
              </a:rPr>
              <a:t>Java 21 can’t understand class files built with 66.0, so it fails during startup.</a:t>
            </a:r>
          </a:p>
        </p:txBody>
      </p:sp>
    </p:spTree>
    <p:extLst>
      <p:ext uri="{BB962C8B-B14F-4D97-AF65-F5344CB8AC3E}">
        <p14:creationId xmlns:p14="http://schemas.microsoft.com/office/powerpoint/2010/main" val="12941888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A8BB9-74C4-CA02-721A-435C7AD14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9BA52-B2EF-37A3-BD88-CCBBF734D343}"/>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934B8C2C-979A-50D3-07A2-BBD248E1EEA4}"/>
              </a:ext>
            </a:extLst>
          </p:cNvPr>
          <p:cNvSpPr>
            <a:spLocks noChangeArrowheads="1"/>
          </p:cNvSpPr>
          <p:nvPr/>
        </p:nvSpPr>
        <p:spPr bwMode="auto">
          <a:xfrm>
            <a:off x="0" y="206280"/>
            <a:ext cx="12192000" cy="325717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Upgrade to JDK 22 or 23</a:t>
            </a:r>
          </a:p>
          <a:p>
            <a:pPr>
              <a:lnSpc>
                <a:spcPct val="150000"/>
              </a:lnSpc>
            </a:pPr>
            <a:r>
              <a:rPr lang="en-US" sz="2800" dirty="0">
                <a:latin typeface="Calibir"/>
              </a:rPr>
              <a:t>To avoid version mismatches and errors like the one you just saw, both the JDK (Java Development Kit) and JavaFX SDK must come from the same generation.</a:t>
            </a:r>
          </a:p>
          <a:p>
            <a:pPr>
              <a:lnSpc>
                <a:spcPct val="150000"/>
              </a:lnSpc>
            </a:pPr>
            <a:r>
              <a:rPr lang="en-US" sz="2800" dirty="0">
                <a:latin typeface="Calibir"/>
              </a:rPr>
              <a:t>Download JDK 25 (the stable GA build)</a:t>
            </a:r>
          </a:p>
          <a:p>
            <a:pPr>
              <a:lnSpc>
                <a:spcPct val="150000"/>
              </a:lnSpc>
            </a:pPr>
            <a:r>
              <a:rPr lang="en-US" sz="2800" dirty="0">
                <a:latin typeface="Calibir"/>
              </a:rPr>
              <a:t>On the left side of that page, click:</a:t>
            </a:r>
          </a:p>
        </p:txBody>
      </p:sp>
      <p:pic>
        <p:nvPicPr>
          <p:cNvPr id="4" name="Picture 3">
            <a:extLst>
              <a:ext uri="{FF2B5EF4-FFF2-40B4-BE49-F238E27FC236}">
                <a16:creationId xmlns:a16="http://schemas.microsoft.com/office/drawing/2014/main" id="{9361279C-F78F-6DAF-4165-E396CBD0842C}"/>
              </a:ext>
            </a:extLst>
          </p:cNvPr>
          <p:cNvPicPr>
            <a:picLocks noChangeAspect="1"/>
          </p:cNvPicPr>
          <p:nvPr/>
        </p:nvPicPr>
        <p:blipFill>
          <a:blip r:embed="rId2"/>
          <a:srcRect b="13119"/>
          <a:stretch>
            <a:fillRect/>
          </a:stretch>
        </p:blipFill>
        <p:spPr>
          <a:xfrm>
            <a:off x="5117690" y="3356366"/>
            <a:ext cx="7074310" cy="3457283"/>
          </a:xfrm>
          <a:prstGeom prst="rect">
            <a:avLst/>
          </a:prstGeom>
        </p:spPr>
      </p:pic>
      <p:sp>
        <p:nvSpPr>
          <p:cNvPr id="5" name="Rectangle: Rounded Corners 4">
            <a:extLst>
              <a:ext uri="{FF2B5EF4-FFF2-40B4-BE49-F238E27FC236}">
                <a16:creationId xmlns:a16="http://schemas.microsoft.com/office/drawing/2014/main" id="{8F8F46C7-7D50-1EBF-A3BD-A17987BB169B}"/>
              </a:ext>
            </a:extLst>
          </p:cNvPr>
          <p:cNvSpPr/>
          <p:nvPr/>
        </p:nvSpPr>
        <p:spPr>
          <a:xfrm>
            <a:off x="6096000" y="5029199"/>
            <a:ext cx="1528916" cy="19172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41035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D300B-5B78-01FE-23F8-DA338647A70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288192E-C9C2-F497-C1F5-338CE84B1C48}"/>
              </a:ext>
            </a:extLst>
          </p:cNvPr>
          <p:cNvPicPr>
            <a:picLocks noChangeAspect="1"/>
          </p:cNvPicPr>
          <p:nvPr/>
        </p:nvPicPr>
        <p:blipFill>
          <a:blip r:embed="rId2"/>
          <a:srcRect b="6452"/>
          <a:stretch>
            <a:fillRect/>
          </a:stretch>
        </p:blipFill>
        <p:spPr>
          <a:xfrm>
            <a:off x="0" y="442451"/>
            <a:ext cx="12192000" cy="6415548"/>
          </a:xfrm>
          <a:prstGeom prst="rect">
            <a:avLst/>
          </a:prstGeom>
        </p:spPr>
      </p:pic>
      <p:sp>
        <p:nvSpPr>
          <p:cNvPr id="2" name="Title 1">
            <a:extLst>
              <a:ext uri="{FF2B5EF4-FFF2-40B4-BE49-F238E27FC236}">
                <a16:creationId xmlns:a16="http://schemas.microsoft.com/office/drawing/2014/main" id="{0BA74728-B8C0-A68C-67AE-3D811DA4993C}"/>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52819E20-AB07-D01E-5F1B-033B7B12B93A}"/>
              </a:ext>
            </a:extLst>
          </p:cNvPr>
          <p:cNvSpPr>
            <a:spLocks noChangeArrowheads="1"/>
          </p:cNvSpPr>
          <p:nvPr/>
        </p:nvSpPr>
        <p:spPr bwMode="auto">
          <a:xfrm>
            <a:off x="8273845" y="2308165"/>
            <a:ext cx="3918155" cy="4549835"/>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Then choose the Windows x64 .zip or .</a:t>
            </a:r>
            <a:r>
              <a:rPr lang="en-US" sz="2800" dirty="0" err="1">
                <a:latin typeface="Calibir"/>
              </a:rPr>
              <a:t>msi</a:t>
            </a:r>
            <a:r>
              <a:rPr lang="en-US" sz="2800" dirty="0">
                <a:latin typeface="Calibir"/>
              </a:rPr>
              <a:t> installer.</a:t>
            </a:r>
            <a:br>
              <a:rPr lang="en-US" sz="2800" dirty="0">
                <a:latin typeface="Calibir"/>
              </a:rPr>
            </a:br>
            <a:r>
              <a:rPr lang="en-US" sz="2800" dirty="0">
                <a:latin typeface="Calibir"/>
              </a:rPr>
              <a:t>This installs the latest JDK 25, fully stable and compatible with JavaFX 25.</a:t>
            </a:r>
          </a:p>
        </p:txBody>
      </p:sp>
      <p:sp>
        <p:nvSpPr>
          <p:cNvPr id="5" name="Rectangle: Rounded Corners 4">
            <a:extLst>
              <a:ext uri="{FF2B5EF4-FFF2-40B4-BE49-F238E27FC236}">
                <a16:creationId xmlns:a16="http://schemas.microsoft.com/office/drawing/2014/main" id="{99DD7916-0447-3775-FA2C-57C3511499F1}"/>
              </a:ext>
            </a:extLst>
          </p:cNvPr>
          <p:cNvSpPr/>
          <p:nvPr/>
        </p:nvSpPr>
        <p:spPr>
          <a:xfrm>
            <a:off x="2389240" y="5825613"/>
            <a:ext cx="1528916" cy="19172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D340A55-D901-ED1E-61FD-2BF70C983712}"/>
              </a:ext>
            </a:extLst>
          </p:cNvPr>
          <p:cNvSpPr/>
          <p:nvPr/>
        </p:nvSpPr>
        <p:spPr>
          <a:xfrm>
            <a:off x="2389240" y="5633883"/>
            <a:ext cx="1528916" cy="19172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4605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FEC9-B7AD-A899-CE2F-C7B62439D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C0B60E-2125-76DA-4082-D3927FCBFBFA}"/>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03CEFF6A-5042-01D7-CB30-75F5E741C316}"/>
              </a:ext>
            </a:extLst>
          </p:cNvPr>
          <p:cNvSpPr>
            <a:spLocks noChangeArrowheads="1"/>
          </p:cNvSpPr>
          <p:nvPr/>
        </p:nvSpPr>
        <p:spPr bwMode="auto">
          <a:xfrm>
            <a:off x="0" y="4129175"/>
            <a:ext cx="12192000" cy="1321772"/>
          </a:xfrm>
          <a:prstGeom prst="rect">
            <a:avLst/>
          </a:prstGeom>
          <a:solidFill>
            <a:schemeClr val="bg1"/>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Then choose the Windows x64 .zip or .</a:t>
            </a:r>
            <a:r>
              <a:rPr lang="en-US" sz="2800" dirty="0" err="1">
                <a:latin typeface="Calibir"/>
              </a:rPr>
              <a:t>msi</a:t>
            </a:r>
            <a:r>
              <a:rPr lang="en-US" sz="2800" dirty="0">
                <a:latin typeface="Calibir"/>
              </a:rPr>
              <a:t> installer.</a:t>
            </a:r>
            <a:br>
              <a:rPr lang="en-US" sz="2800" dirty="0">
                <a:latin typeface="Calibir"/>
              </a:rPr>
            </a:br>
            <a:r>
              <a:rPr lang="en-US" sz="2800" dirty="0">
                <a:latin typeface="Calibir"/>
              </a:rPr>
              <a:t>This installs the latest JDK 25, fully stable and compatible with JavaFX 25.</a:t>
            </a:r>
          </a:p>
        </p:txBody>
      </p:sp>
      <p:pic>
        <p:nvPicPr>
          <p:cNvPr id="4" name="Picture 3">
            <a:extLst>
              <a:ext uri="{FF2B5EF4-FFF2-40B4-BE49-F238E27FC236}">
                <a16:creationId xmlns:a16="http://schemas.microsoft.com/office/drawing/2014/main" id="{6C2CA63B-2FCB-8AD5-81BA-7EF402964234}"/>
              </a:ext>
            </a:extLst>
          </p:cNvPr>
          <p:cNvPicPr>
            <a:picLocks noChangeAspect="1"/>
          </p:cNvPicPr>
          <p:nvPr/>
        </p:nvPicPr>
        <p:blipFill>
          <a:blip r:embed="rId2"/>
          <a:srcRect r="23186" b="64086"/>
          <a:stretch>
            <a:fillRect/>
          </a:stretch>
        </p:blipFill>
        <p:spPr>
          <a:xfrm>
            <a:off x="0" y="840658"/>
            <a:ext cx="12192000" cy="3206400"/>
          </a:xfrm>
          <a:prstGeom prst="rect">
            <a:avLst/>
          </a:prstGeom>
        </p:spPr>
      </p:pic>
    </p:spTree>
    <p:extLst>
      <p:ext uri="{BB962C8B-B14F-4D97-AF65-F5344CB8AC3E}">
        <p14:creationId xmlns:p14="http://schemas.microsoft.com/office/powerpoint/2010/main" val="21270616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B168-B7E4-1E60-938E-920C5E4DA06C}"/>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B3AA3791-C50F-882F-E70F-4CF1DC0C0507}"/>
              </a:ext>
            </a:extLst>
          </p:cNvPr>
          <p:cNvPicPr>
            <a:picLocks noChangeAspect="1"/>
          </p:cNvPicPr>
          <p:nvPr/>
        </p:nvPicPr>
        <p:blipFill>
          <a:blip r:embed="rId2"/>
          <a:srcRect b="9677"/>
          <a:stretch>
            <a:fillRect/>
          </a:stretch>
        </p:blipFill>
        <p:spPr>
          <a:xfrm>
            <a:off x="3200400" y="2289687"/>
            <a:ext cx="8991598" cy="4568313"/>
          </a:xfrm>
          <a:prstGeom prst="rect">
            <a:avLst/>
          </a:prstGeom>
        </p:spPr>
      </p:pic>
      <p:sp>
        <p:nvSpPr>
          <p:cNvPr id="2" name="Title 1">
            <a:extLst>
              <a:ext uri="{FF2B5EF4-FFF2-40B4-BE49-F238E27FC236}">
                <a16:creationId xmlns:a16="http://schemas.microsoft.com/office/drawing/2014/main" id="{A93E447E-70B7-B511-FB5F-D1CA2B65CC0F}"/>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pic>
        <p:nvPicPr>
          <p:cNvPr id="10" name="Picture 9">
            <a:extLst>
              <a:ext uri="{FF2B5EF4-FFF2-40B4-BE49-F238E27FC236}">
                <a16:creationId xmlns:a16="http://schemas.microsoft.com/office/drawing/2014/main" id="{6D57E27C-4D07-E1AF-AF8F-B41899BCA9A4}"/>
              </a:ext>
            </a:extLst>
          </p:cNvPr>
          <p:cNvPicPr>
            <a:picLocks noChangeAspect="1"/>
          </p:cNvPicPr>
          <p:nvPr/>
        </p:nvPicPr>
        <p:blipFill>
          <a:blip r:embed="rId3"/>
          <a:srcRect l="19475" t="18495" r="66119" b="53979"/>
          <a:stretch>
            <a:fillRect/>
          </a:stretch>
        </p:blipFill>
        <p:spPr>
          <a:xfrm>
            <a:off x="0" y="890485"/>
            <a:ext cx="3156156" cy="3392351"/>
          </a:xfrm>
          <a:prstGeom prst="rect">
            <a:avLst/>
          </a:prstGeom>
        </p:spPr>
      </p:pic>
      <p:sp>
        <p:nvSpPr>
          <p:cNvPr id="13" name="Rectangle: Rounded Corners 12">
            <a:extLst>
              <a:ext uri="{FF2B5EF4-FFF2-40B4-BE49-F238E27FC236}">
                <a16:creationId xmlns:a16="http://schemas.microsoft.com/office/drawing/2014/main" id="{6F640D2A-2D5C-528A-B50A-1FC1D0C3C601}"/>
              </a:ext>
            </a:extLst>
          </p:cNvPr>
          <p:cNvSpPr/>
          <p:nvPr/>
        </p:nvSpPr>
        <p:spPr>
          <a:xfrm>
            <a:off x="11164529" y="6430297"/>
            <a:ext cx="1027471" cy="42770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Connector: Elbow 17">
            <a:extLst>
              <a:ext uri="{FF2B5EF4-FFF2-40B4-BE49-F238E27FC236}">
                <a16:creationId xmlns:a16="http://schemas.microsoft.com/office/drawing/2014/main" id="{D9AC4C0E-D896-7023-F0B8-4E2DDBF326EF}"/>
              </a:ext>
            </a:extLst>
          </p:cNvPr>
          <p:cNvCxnSpPr>
            <a:endCxn id="16" idx="0"/>
          </p:cNvCxnSpPr>
          <p:nvPr/>
        </p:nvCxnSpPr>
        <p:spPr>
          <a:xfrm>
            <a:off x="3156156" y="1415845"/>
            <a:ext cx="4540043" cy="873842"/>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06359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FA00B-6DF6-2DBF-CD30-CB9E7F6D25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BAF801-9571-CD13-347B-1707973697B5}"/>
              </a:ext>
            </a:extLst>
          </p:cNvPr>
          <p:cNvPicPr>
            <a:picLocks noChangeAspect="1"/>
          </p:cNvPicPr>
          <p:nvPr/>
        </p:nvPicPr>
        <p:blipFill>
          <a:blip r:embed="rId2"/>
          <a:srcRect l="1532" t="9462" r="1532" b="9462"/>
          <a:stretch>
            <a:fillRect/>
          </a:stretch>
        </p:blipFill>
        <p:spPr>
          <a:xfrm>
            <a:off x="186813" y="1084006"/>
            <a:ext cx="11818374" cy="5560142"/>
          </a:xfrm>
          <a:prstGeom prst="rect">
            <a:avLst/>
          </a:prstGeom>
        </p:spPr>
      </p:pic>
      <p:sp>
        <p:nvSpPr>
          <p:cNvPr id="2" name="Title 1">
            <a:extLst>
              <a:ext uri="{FF2B5EF4-FFF2-40B4-BE49-F238E27FC236}">
                <a16:creationId xmlns:a16="http://schemas.microsoft.com/office/drawing/2014/main" id="{579B8622-6D72-95CB-7FBB-FEC1CBB508D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13" name="Rectangle: Rounded Corners 12">
            <a:extLst>
              <a:ext uri="{FF2B5EF4-FFF2-40B4-BE49-F238E27FC236}">
                <a16:creationId xmlns:a16="http://schemas.microsoft.com/office/drawing/2014/main" id="{D3AE528D-95E9-8B1A-B573-1FB8E92D1DBC}"/>
              </a:ext>
            </a:extLst>
          </p:cNvPr>
          <p:cNvSpPr/>
          <p:nvPr/>
        </p:nvSpPr>
        <p:spPr>
          <a:xfrm>
            <a:off x="5781368" y="3628103"/>
            <a:ext cx="1297858" cy="2359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65493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2B7EA-4AA8-C057-A91E-EA5A9E35A22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DBC7D85-23DD-C772-0BD7-362E401F9EED}"/>
              </a:ext>
            </a:extLst>
          </p:cNvPr>
          <p:cNvPicPr>
            <a:picLocks noChangeAspect="1"/>
          </p:cNvPicPr>
          <p:nvPr/>
        </p:nvPicPr>
        <p:blipFill>
          <a:blip r:embed="rId2"/>
          <a:srcRect l="10283" t="11035" r="45442" b="59785"/>
          <a:stretch>
            <a:fillRect/>
          </a:stretch>
        </p:blipFill>
        <p:spPr>
          <a:xfrm>
            <a:off x="6356494" y="4572000"/>
            <a:ext cx="5835506" cy="2163436"/>
          </a:xfrm>
          <a:prstGeom prst="rect">
            <a:avLst/>
          </a:prstGeom>
        </p:spPr>
      </p:pic>
      <p:sp>
        <p:nvSpPr>
          <p:cNvPr id="2" name="Title 1">
            <a:extLst>
              <a:ext uri="{FF2B5EF4-FFF2-40B4-BE49-F238E27FC236}">
                <a16:creationId xmlns:a16="http://schemas.microsoft.com/office/drawing/2014/main" id="{52FEA71E-B608-E344-3181-4A17E71B2E3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13" name="Rectangle: Rounded Corners 12">
            <a:extLst>
              <a:ext uri="{FF2B5EF4-FFF2-40B4-BE49-F238E27FC236}">
                <a16:creationId xmlns:a16="http://schemas.microsoft.com/office/drawing/2014/main" id="{EAE27C07-F053-A616-29D4-26CCB89657E3}"/>
              </a:ext>
            </a:extLst>
          </p:cNvPr>
          <p:cNvSpPr/>
          <p:nvPr/>
        </p:nvSpPr>
        <p:spPr>
          <a:xfrm>
            <a:off x="6695768" y="6105833"/>
            <a:ext cx="1297858" cy="2359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2DFE78D-C2E0-078A-E46F-670079C0BFDE}"/>
              </a:ext>
            </a:extLst>
          </p:cNvPr>
          <p:cNvSpPr txBox="1"/>
          <p:nvPr/>
        </p:nvSpPr>
        <p:spPr>
          <a:xfrm>
            <a:off x="0" y="756745"/>
            <a:ext cx="6209070" cy="1318181"/>
          </a:xfrm>
          <a:prstGeom prst="rect">
            <a:avLst/>
          </a:prstGeom>
          <a:noFill/>
        </p:spPr>
        <p:txBody>
          <a:bodyPr wrap="square">
            <a:spAutoFit/>
          </a:bodyPr>
          <a:lstStyle/>
          <a:p>
            <a:pPr>
              <a:lnSpc>
                <a:spcPct val="150000"/>
              </a:lnSpc>
              <a:buNone/>
            </a:pPr>
            <a:r>
              <a:rPr lang="en-US" sz="2800" b="1" dirty="0">
                <a:latin typeface="Calibir"/>
              </a:rPr>
              <a:t>Move JDK 25 to </a:t>
            </a:r>
            <a:r>
              <a:rPr lang="en-US" sz="2800" b="1" dirty="0">
                <a:highlight>
                  <a:srgbClr val="FFFF00"/>
                </a:highlight>
                <a:latin typeface="Calibir"/>
              </a:rPr>
              <a:t>a permanent location</a:t>
            </a:r>
          </a:p>
          <a:p>
            <a:pPr>
              <a:lnSpc>
                <a:spcPct val="150000"/>
              </a:lnSpc>
              <a:buNone/>
            </a:pPr>
            <a:r>
              <a:rPr lang="en-US" sz="2800" dirty="0">
                <a:latin typeface="Calibir"/>
              </a:rPr>
              <a:t>Move or extract the folder:</a:t>
            </a:r>
          </a:p>
        </p:txBody>
      </p:sp>
      <p:pic>
        <p:nvPicPr>
          <p:cNvPr id="7" name="Picture 6">
            <a:extLst>
              <a:ext uri="{FF2B5EF4-FFF2-40B4-BE49-F238E27FC236}">
                <a16:creationId xmlns:a16="http://schemas.microsoft.com/office/drawing/2014/main" id="{FDA25A1D-8622-0BC3-683B-CF6F2B75F6C5}"/>
              </a:ext>
            </a:extLst>
          </p:cNvPr>
          <p:cNvPicPr>
            <a:picLocks noChangeAspect="1"/>
          </p:cNvPicPr>
          <p:nvPr/>
        </p:nvPicPr>
        <p:blipFill>
          <a:blip r:embed="rId3"/>
          <a:srcRect l="9798" t="11034" r="34315" b="43656"/>
          <a:stretch>
            <a:fillRect/>
          </a:stretch>
        </p:blipFill>
        <p:spPr>
          <a:xfrm>
            <a:off x="0" y="2310411"/>
            <a:ext cx="6209070" cy="2831572"/>
          </a:xfrm>
          <a:prstGeom prst="rect">
            <a:avLst/>
          </a:prstGeom>
        </p:spPr>
      </p:pic>
    </p:spTree>
    <p:extLst>
      <p:ext uri="{BB962C8B-B14F-4D97-AF65-F5344CB8AC3E}">
        <p14:creationId xmlns:p14="http://schemas.microsoft.com/office/powerpoint/2010/main" val="4261917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42F6-9C2B-E66D-AF19-3337EE3D8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3958A-E469-F661-62EF-2834BED2DF0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EE77648F-FAA2-9133-6F31-5C833B5A7AEE}"/>
              </a:ext>
            </a:extLst>
          </p:cNvPr>
          <p:cNvSpPr txBox="1"/>
          <p:nvPr/>
        </p:nvSpPr>
        <p:spPr>
          <a:xfrm>
            <a:off x="0" y="756745"/>
            <a:ext cx="12192000" cy="1964512"/>
          </a:xfrm>
          <a:prstGeom prst="rect">
            <a:avLst/>
          </a:prstGeom>
          <a:noFill/>
        </p:spPr>
        <p:txBody>
          <a:bodyPr wrap="square">
            <a:spAutoFit/>
          </a:bodyPr>
          <a:lstStyle/>
          <a:p>
            <a:pPr>
              <a:lnSpc>
                <a:spcPct val="150000"/>
              </a:lnSpc>
            </a:pPr>
            <a:r>
              <a:rPr lang="en-US" sz="2800" b="1" dirty="0">
                <a:latin typeface="Calibir"/>
              </a:rPr>
              <a:t>Set environment variables</a:t>
            </a:r>
          </a:p>
          <a:p>
            <a:pPr>
              <a:lnSpc>
                <a:spcPct val="150000"/>
              </a:lnSpc>
            </a:pPr>
            <a:r>
              <a:rPr lang="en-US" sz="2800" dirty="0">
                <a:latin typeface="Calibir"/>
              </a:rPr>
              <a:t>Press Win + S → type Environment Variables → open</a:t>
            </a:r>
            <a:br>
              <a:rPr lang="en-US" sz="2800" dirty="0">
                <a:latin typeface="Calibir"/>
              </a:rPr>
            </a:br>
            <a:r>
              <a:rPr lang="en-US" sz="2800" dirty="0">
                <a:latin typeface="Calibir"/>
              </a:rPr>
              <a:t>“Edit the system environment variables”.</a:t>
            </a:r>
          </a:p>
        </p:txBody>
      </p:sp>
      <p:pic>
        <p:nvPicPr>
          <p:cNvPr id="4" name="Picture 3">
            <a:extLst>
              <a:ext uri="{FF2B5EF4-FFF2-40B4-BE49-F238E27FC236}">
                <a16:creationId xmlns:a16="http://schemas.microsoft.com/office/drawing/2014/main" id="{1C04646E-08FC-908D-0C51-A64B50DDA448}"/>
              </a:ext>
            </a:extLst>
          </p:cNvPr>
          <p:cNvPicPr>
            <a:picLocks noChangeAspect="1"/>
          </p:cNvPicPr>
          <p:nvPr/>
        </p:nvPicPr>
        <p:blipFill>
          <a:blip r:embed="rId2"/>
          <a:srcRect l="9678" t="15914" r="38306" b="46237"/>
          <a:stretch>
            <a:fillRect/>
          </a:stretch>
        </p:blipFill>
        <p:spPr>
          <a:xfrm>
            <a:off x="4234132" y="3600826"/>
            <a:ext cx="7957868" cy="3257174"/>
          </a:xfrm>
          <a:prstGeom prst="rect">
            <a:avLst/>
          </a:prstGeom>
          <a:ln>
            <a:solidFill>
              <a:srgbClr val="FF0000"/>
            </a:solidFill>
          </a:ln>
        </p:spPr>
      </p:pic>
    </p:spTree>
    <p:extLst>
      <p:ext uri="{BB962C8B-B14F-4D97-AF65-F5344CB8AC3E}">
        <p14:creationId xmlns:p14="http://schemas.microsoft.com/office/powerpoint/2010/main" val="8274384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85566-A6A8-6FF7-12FB-0140432C0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AD89E-0A4D-688A-179C-FFA6021B25A5}"/>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707FF693-498E-DFF9-3B18-4798BBF593A7}"/>
              </a:ext>
            </a:extLst>
          </p:cNvPr>
          <p:cNvSpPr txBox="1"/>
          <p:nvPr/>
        </p:nvSpPr>
        <p:spPr>
          <a:xfrm>
            <a:off x="0" y="756745"/>
            <a:ext cx="6400800" cy="671851"/>
          </a:xfrm>
          <a:prstGeom prst="rect">
            <a:avLst/>
          </a:prstGeom>
          <a:noFill/>
        </p:spPr>
        <p:txBody>
          <a:bodyPr wrap="square">
            <a:spAutoFit/>
          </a:bodyPr>
          <a:lstStyle/>
          <a:p>
            <a:pPr>
              <a:lnSpc>
                <a:spcPct val="150000"/>
              </a:lnSpc>
            </a:pPr>
            <a:r>
              <a:rPr lang="en-US" sz="2800" dirty="0">
                <a:latin typeface="Calibir"/>
              </a:rPr>
              <a:t>Click Environment Variables…</a:t>
            </a:r>
          </a:p>
        </p:txBody>
      </p:sp>
      <p:pic>
        <p:nvPicPr>
          <p:cNvPr id="6" name="Picture 5">
            <a:extLst>
              <a:ext uri="{FF2B5EF4-FFF2-40B4-BE49-F238E27FC236}">
                <a16:creationId xmlns:a16="http://schemas.microsoft.com/office/drawing/2014/main" id="{6337DC07-C1B5-5733-578B-6CBA9A72AFFF}"/>
              </a:ext>
            </a:extLst>
          </p:cNvPr>
          <p:cNvPicPr>
            <a:picLocks noChangeAspect="1"/>
          </p:cNvPicPr>
          <p:nvPr/>
        </p:nvPicPr>
        <p:blipFill>
          <a:blip r:embed="rId2"/>
          <a:srcRect l="2419" t="3656" r="69879" b="43441"/>
          <a:stretch>
            <a:fillRect/>
          </a:stretch>
        </p:blipFill>
        <p:spPr>
          <a:xfrm>
            <a:off x="6400800" y="636885"/>
            <a:ext cx="5791200" cy="6221115"/>
          </a:xfrm>
          <a:prstGeom prst="rect">
            <a:avLst/>
          </a:prstGeom>
        </p:spPr>
      </p:pic>
      <p:sp>
        <p:nvSpPr>
          <p:cNvPr id="7" name="Rectangle: Rounded Corners 6">
            <a:extLst>
              <a:ext uri="{FF2B5EF4-FFF2-40B4-BE49-F238E27FC236}">
                <a16:creationId xmlns:a16="http://schemas.microsoft.com/office/drawing/2014/main" id="{219344A1-417C-9EC9-E227-5E0292A05601}"/>
              </a:ext>
            </a:extLst>
          </p:cNvPr>
          <p:cNvSpPr/>
          <p:nvPr/>
        </p:nvSpPr>
        <p:spPr>
          <a:xfrm>
            <a:off x="9925665" y="5515897"/>
            <a:ext cx="2094270" cy="47194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59383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33F25-2F19-41D3-51C8-AFDF60DD2C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44F6E4E-B340-D9E3-296A-34C7091B791A}"/>
              </a:ext>
            </a:extLst>
          </p:cNvPr>
          <p:cNvPicPr>
            <a:picLocks noChangeAspect="1"/>
          </p:cNvPicPr>
          <p:nvPr/>
        </p:nvPicPr>
        <p:blipFill>
          <a:blip r:embed="rId2"/>
          <a:srcRect l="29516" t="11035" r="29596" b="15269"/>
          <a:stretch>
            <a:fillRect/>
          </a:stretch>
        </p:blipFill>
        <p:spPr>
          <a:xfrm>
            <a:off x="6096001" y="677420"/>
            <a:ext cx="6096000" cy="6180580"/>
          </a:xfrm>
          <a:prstGeom prst="rect">
            <a:avLst/>
          </a:prstGeom>
        </p:spPr>
      </p:pic>
      <p:sp>
        <p:nvSpPr>
          <p:cNvPr id="2" name="Title 1">
            <a:extLst>
              <a:ext uri="{FF2B5EF4-FFF2-40B4-BE49-F238E27FC236}">
                <a16:creationId xmlns:a16="http://schemas.microsoft.com/office/drawing/2014/main" id="{6A85B9EB-C59B-6587-CB73-BDE5B144DD79}"/>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2D0C57BF-2528-D162-6BAD-7C0326FF20B9}"/>
              </a:ext>
            </a:extLst>
          </p:cNvPr>
          <p:cNvSpPr txBox="1"/>
          <p:nvPr/>
        </p:nvSpPr>
        <p:spPr>
          <a:xfrm>
            <a:off x="0" y="756745"/>
            <a:ext cx="6400800" cy="1318181"/>
          </a:xfrm>
          <a:prstGeom prst="rect">
            <a:avLst/>
          </a:prstGeom>
          <a:noFill/>
        </p:spPr>
        <p:txBody>
          <a:bodyPr wrap="square">
            <a:spAutoFit/>
          </a:bodyPr>
          <a:lstStyle/>
          <a:p>
            <a:pPr>
              <a:lnSpc>
                <a:spcPct val="150000"/>
              </a:lnSpc>
            </a:pPr>
            <a:r>
              <a:rPr lang="en-US" sz="2800" dirty="0">
                <a:latin typeface="Calibir"/>
              </a:rPr>
              <a:t>→ under System variables, select Path → Edit</a:t>
            </a:r>
          </a:p>
        </p:txBody>
      </p:sp>
      <p:sp>
        <p:nvSpPr>
          <p:cNvPr id="7" name="Rectangle: Rounded Corners 6">
            <a:extLst>
              <a:ext uri="{FF2B5EF4-FFF2-40B4-BE49-F238E27FC236}">
                <a16:creationId xmlns:a16="http://schemas.microsoft.com/office/drawing/2014/main" id="{FB38E1D2-EC68-895F-3BAE-4ACE44901582}"/>
              </a:ext>
            </a:extLst>
          </p:cNvPr>
          <p:cNvSpPr/>
          <p:nvPr/>
        </p:nvSpPr>
        <p:spPr>
          <a:xfrm flipV="1">
            <a:off x="6327060" y="5132439"/>
            <a:ext cx="5574890" cy="2359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8553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81DAB-F1FA-5A61-FB6B-3FC6E10CC48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608B700-D702-A0A2-5C4A-E81C85C5B2E7}"/>
              </a:ext>
            </a:extLst>
          </p:cNvPr>
          <p:cNvPicPr>
            <a:picLocks noChangeAspect="1"/>
          </p:cNvPicPr>
          <p:nvPr/>
        </p:nvPicPr>
        <p:blipFill>
          <a:blip r:embed="rId2"/>
          <a:srcRect l="32540" t="14409" r="32863" b="21721"/>
          <a:stretch>
            <a:fillRect/>
          </a:stretch>
        </p:blipFill>
        <p:spPr>
          <a:xfrm>
            <a:off x="6223819" y="660275"/>
            <a:ext cx="5968181" cy="6197726"/>
          </a:xfrm>
          <a:prstGeom prst="rect">
            <a:avLst/>
          </a:prstGeom>
        </p:spPr>
      </p:pic>
      <p:sp>
        <p:nvSpPr>
          <p:cNvPr id="2" name="Title 1">
            <a:extLst>
              <a:ext uri="{FF2B5EF4-FFF2-40B4-BE49-F238E27FC236}">
                <a16:creationId xmlns:a16="http://schemas.microsoft.com/office/drawing/2014/main" id="{E700E50E-CDE7-FC64-7D8E-AFA71971CC6F}"/>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C725CF43-EAF4-86AA-67E9-986EC090C7BB}"/>
              </a:ext>
            </a:extLst>
          </p:cNvPr>
          <p:cNvSpPr txBox="1"/>
          <p:nvPr/>
        </p:nvSpPr>
        <p:spPr>
          <a:xfrm>
            <a:off x="0" y="756745"/>
            <a:ext cx="6400800" cy="671851"/>
          </a:xfrm>
          <a:prstGeom prst="rect">
            <a:avLst/>
          </a:prstGeom>
          <a:noFill/>
        </p:spPr>
        <p:txBody>
          <a:bodyPr wrap="square">
            <a:spAutoFit/>
          </a:bodyPr>
          <a:lstStyle/>
          <a:p>
            <a:pPr>
              <a:lnSpc>
                <a:spcPct val="150000"/>
              </a:lnSpc>
            </a:pPr>
            <a:r>
              <a:rPr lang="en-US" sz="2800" dirty="0">
                <a:latin typeface="Calibir"/>
              </a:rPr>
              <a:t>→ New</a:t>
            </a:r>
          </a:p>
        </p:txBody>
      </p:sp>
      <p:sp>
        <p:nvSpPr>
          <p:cNvPr id="7" name="Rectangle: Rounded Corners 6">
            <a:extLst>
              <a:ext uri="{FF2B5EF4-FFF2-40B4-BE49-F238E27FC236}">
                <a16:creationId xmlns:a16="http://schemas.microsoft.com/office/drawing/2014/main" id="{37FC5CE9-132B-B89B-44C1-C014ACD21ED8}"/>
              </a:ext>
            </a:extLst>
          </p:cNvPr>
          <p:cNvSpPr/>
          <p:nvPr/>
        </p:nvSpPr>
        <p:spPr>
          <a:xfrm flipV="1">
            <a:off x="11076039" y="1269535"/>
            <a:ext cx="1007806" cy="32329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0448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104E-5EF0-BBA7-0A02-7DACDE0C2CC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EFADC1C-B201-5DC1-CF80-1987D86DB933}"/>
              </a:ext>
            </a:extLst>
          </p:cNvPr>
          <p:cNvPicPr>
            <a:picLocks noChangeAspect="1"/>
          </p:cNvPicPr>
          <p:nvPr/>
        </p:nvPicPr>
        <p:blipFill>
          <a:blip r:embed="rId2"/>
          <a:srcRect l="32298" t="14409" r="32863" b="20645"/>
          <a:stretch>
            <a:fillRect/>
          </a:stretch>
        </p:blipFill>
        <p:spPr>
          <a:xfrm>
            <a:off x="6400800" y="898697"/>
            <a:ext cx="5683045" cy="5959304"/>
          </a:xfrm>
          <a:prstGeom prst="rect">
            <a:avLst/>
          </a:prstGeom>
        </p:spPr>
      </p:pic>
      <p:sp>
        <p:nvSpPr>
          <p:cNvPr id="2" name="Title 1">
            <a:extLst>
              <a:ext uri="{FF2B5EF4-FFF2-40B4-BE49-F238E27FC236}">
                <a16:creationId xmlns:a16="http://schemas.microsoft.com/office/drawing/2014/main" id="{A5975204-DC75-FB8C-1229-C34355B6279A}"/>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7B9C4869-7089-12CE-564B-EF4290AB1007}"/>
              </a:ext>
            </a:extLst>
          </p:cNvPr>
          <p:cNvSpPr txBox="1"/>
          <p:nvPr/>
        </p:nvSpPr>
        <p:spPr>
          <a:xfrm>
            <a:off x="0" y="756745"/>
            <a:ext cx="6400800" cy="1968103"/>
          </a:xfrm>
          <a:prstGeom prst="rect">
            <a:avLst/>
          </a:prstGeom>
          <a:noFill/>
        </p:spPr>
        <p:txBody>
          <a:bodyPr wrap="square">
            <a:spAutoFit/>
          </a:bodyPr>
          <a:lstStyle/>
          <a:p>
            <a:pPr>
              <a:lnSpc>
                <a:spcPct val="150000"/>
              </a:lnSpc>
            </a:pPr>
            <a:r>
              <a:rPr lang="en-US" sz="2800" dirty="0">
                <a:latin typeface="Calibir"/>
              </a:rPr>
              <a:t>→ paste our JDK bin path:</a:t>
            </a:r>
          </a:p>
          <a:p>
            <a:pPr>
              <a:lnSpc>
                <a:spcPct val="150000"/>
              </a:lnSpc>
            </a:pPr>
            <a:r>
              <a:rPr lang="en-US" sz="2800" dirty="0">
                <a:latin typeface="Calibir"/>
              </a:rPr>
              <a:t>Click OK several times to close the windows.</a:t>
            </a:r>
          </a:p>
        </p:txBody>
      </p:sp>
      <p:sp>
        <p:nvSpPr>
          <p:cNvPr id="7" name="Rectangle: Rounded Corners 6">
            <a:extLst>
              <a:ext uri="{FF2B5EF4-FFF2-40B4-BE49-F238E27FC236}">
                <a16:creationId xmlns:a16="http://schemas.microsoft.com/office/drawing/2014/main" id="{E36DE3FC-67E5-6071-A4B5-19E545B6A9EA}"/>
              </a:ext>
            </a:extLst>
          </p:cNvPr>
          <p:cNvSpPr/>
          <p:nvPr/>
        </p:nvSpPr>
        <p:spPr>
          <a:xfrm flipV="1">
            <a:off x="6636773" y="5722373"/>
            <a:ext cx="3170903" cy="238103"/>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A9C07934-10CF-AC80-F584-E119EBB1F0F6}"/>
              </a:ext>
            </a:extLst>
          </p:cNvPr>
          <p:cNvSpPr/>
          <p:nvPr/>
        </p:nvSpPr>
        <p:spPr>
          <a:xfrm flipV="1">
            <a:off x="9969909" y="6297560"/>
            <a:ext cx="1022554" cy="390501"/>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47440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7781A-1501-9A06-5019-35CAD079B2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51E64-89E7-DEF2-B6C6-B3602FBF8D9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DB999184-C30F-6912-585B-F0010209EBF6}"/>
              </a:ext>
            </a:extLst>
          </p:cNvPr>
          <p:cNvSpPr txBox="1"/>
          <p:nvPr/>
        </p:nvSpPr>
        <p:spPr>
          <a:xfrm>
            <a:off x="0" y="756745"/>
            <a:ext cx="6400800" cy="2610843"/>
          </a:xfrm>
          <a:prstGeom prst="rect">
            <a:avLst/>
          </a:prstGeom>
          <a:noFill/>
        </p:spPr>
        <p:txBody>
          <a:bodyPr wrap="square">
            <a:spAutoFit/>
          </a:bodyPr>
          <a:lstStyle/>
          <a:p>
            <a:pPr>
              <a:lnSpc>
                <a:spcPct val="150000"/>
              </a:lnSpc>
            </a:pPr>
            <a:r>
              <a:rPr lang="en-US" sz="2800" dirty="0">
                <a:latin typeface="Calibir"/>
              </a:rPr>
              <a:t>Open a new terminal (important — restart it!) and check:</a:t>
            </a:r>
          </a:p>
          <a:p>
            <a:pPr>
              <a:lnSpc>
                <a:spcPct val="150000"/>
              </a:lnSpc>
            </a:pPr>
            <a:r>
              <a:rPr lang="en-US" sz="2800" dirty="0">
                <a:highlight>
                  <a:srgbClr val="FFFF00"/>
                </a:highlight>
                <a:latin typeface="Calibir"/>
              </a:rPr>
              <a:t>java -version</a:t>
            </a:r>
          </a:p>
          <a:p>
            <a:pPr>
              <a:lnSpc>
                <a:spcPct val="150000"/>
              </a:lnSpc>
            </a:pPr>
            <a:r>
              <a:rPr lang="en-US" sz="2800" dirty="0" err="1">
                <a:highlight>
                  <a:srgbClr val="FFFF00"/>
                </a:highlight>
                <a:latin typeface="Calibir"/>
              </a:rPr>
              <a:t>javac</a:t>
            </a:r>
            <a:r>
              <a:rPr lang="en-US" sz="2800" dirty="0">
                <a:highlight>
                  <a:srgbClr val="FFFF00"/>
                </a:highlight>
                <a:latin typeface="Calibir"/>
              </a:rPr>
              <a:t> -version</a:t>
            </a:r>
          </a:p>
        </p:txBody>
      </p:sp>
      <p:pic>
        <p:nvPicPr>
          <p:cNvPr id="6" name="Picture 5">
            <a:extLst>
              <a:ext uri="{FF2B5EF4-FFF2-40B4-BE49-F238E27FC236}">
                <a16:creationId xmlns:a16="http://schemas.microsoft.com/office/drawing/2014/main" id="{E0B5E2C6-A233-3F10-2DB5-1F06793A2E6B}"/>
              </a:ext>
            </a:extLst>
          </p:cNvPr>
          <p:cNvPicPr>
            <a:picLocks noChangeAspect="1"/>
          </p:cNvPicPr>
          <p:nvPr/>
        </p:nvPicPr>
        <p:blipFill>
          <a:blip r:embed="rId2"/>
          <a:srcRect r="35161" b="42366"/>
          <a:stretch>
            <a:fillRect/>
          </a:stretch>
        </p:blipFill>
        <p:spPr>
          <a:xfrm>
            <a:off x="2773377" y="2148687"/>
            <a:ext cx="9418623" cy="4709312"/>
          </a:xfrm>
          <a:prstGeom prst="rect">
            <a:avLst/>
          </a:prstGeom>
        </p:spPr>
      </p:pic>
    </p:spTree>
    <p:extLst>
      <p:ext uri="{BB962C8B-B14F-4D97-AF65-F5344CB8AC3E}">
        <p14:creationId xmlns:p14="http://schemas.microsoft.com/office/powerpoint/2010/main" val="19393050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548DE-B6A9-5DA1-E6C6-E2DCEF3E8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5CBE1-2B6F-B8A2-8AC3-1C7EC09EF7D4}"/>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E64B31E1-B4D2-CB78-B27B-E9BA5AE09EDE}"/>
              </a:ext>
            </a:extLst>
          </p:cNvPr>
          <p:cNvSpPr txBox="1"/>
          <p:nvPr/>
        </p:nvSpPr>
        <p:spPr>
          <a:xfrm>
            <a:off x="0" y="756745"/>
            <a:ext cx="6400800" cy="1318181"/>
          </a:xfrm>
          <a:prstGeom prst="rect">
            <a:avLst/>
          </a:prstGeom>
          <a:noFill/>
        </p:spPr>
        <p:txBody>
          <a:bodyPr wrap="square">
            <a:spAutoFit/>
          </a:bodyPr>
          <a:lstStyle/>
          <a:p>
            <a:pPr>
              <a:lnSpc>
                <a:spcPct val="150000"/>
              </a:lnSpc>
            </a:pPr>
            <a:r>
              <a:rPr lang="en-US" sz="2800" b="1" dirty="0">
                <a:latin typeface="Calibir"/>
              </a:rPr>
              <a:t>Download JavaFX 25 SDK</a:t>
            </a:r>
          </a:p>
          <a:p>
            <a:pPr>
              <a:lnSpc>
                <a:spcPct val="150000"/>
              </a:lnSpc>
            </a:pPr>
            <a:r>
              <a:rPr lang="en-US" sz="2800" dirty="0">
                <a:latin typeface="Calibir"/>
              </a:rPr>
              <a:t>In the same list, just below, click:</a:t>
            </a:r>
          </a:p>
        </p:txBody>
      </p:sp>
      <p:pic>
        <p:nvPicPr>
          <p:cNvPr id="4" name="Picture 3">
            <a:extLst>
              <a:ext uri="{FF2B5EF4-FFF2-40B4-BE49-F238E27FC236}">
                <a16:creationId xmlns:a16="http://schemas.microsoft.com/office/drawing/2014/main" id="{F8D260FD-9A91-9532-3A36-A6B5EB8CAC07}"/>
              </a:ext>
            </a:extLst>
          </p:cNvPr>
          <p:cNvPicPr>
            <a:picLocks noChangeAspect="1"/>
          </p:cNvPicPr>
          <p:nvPr/>
        </p:nvPicPr>
        <p:blipFill>
          <a:blip r:embed="rId2"/>
          <a:srcRect r="927" b="34193"/>
          <a:stretch>
            <a:fillRect/>
          </a:stretch>
        </p:blipFill>
        <p:spPr>
          <a:xfrm>
            <a:off x="56535" y="2344993"/>
            <a:ext cx="12078929" cy="4513006"/>
          </a:xfrm>
          <a:prstGeom prst="rect">
            <a:avLst/>
          </a:prstGeom>
        </p:spPr>
      </p:pic>
      <p:sp>
        <p:nvSpPr>
          <p:cNvPr id="7" name="Rectangle: Rounded Corners 6">
            <a:extLst>
              <a:ext uri="{FF2B5EF4-FFF2-40B4-BE49-F238E27FC236}">
                <a16:creationId xmlns:a16="http://schemas.microsoft.com/office/drawing/2014/main" id="{7E2D8A36-28F8-F57F-7655-C2212FAE7D0C}"/>
              </a:ext>
            </a:extLst>
          </p:cNvPr>
          <p:cNvSpPr/>
          <p:nvPr/>
        </p:nvSpPr>
        <p:spPr>
          <a:xfrm>
            <a:off x="4277032" y="5235678"/>
            <a:ext cx="1209368" cy="32446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23541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4A9EE-E6F9-8957-494E-2BD170F05DD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209B7D7-26F9-E196-3FF1-B38A994BDEA5}"/>
              </a:ext>
            </a:extLst>
          </p:cNvPr>
          <p:cNvPicPr>
            <a:picLocks noChangeAspect="1"/>
          </p:cNvPicPr>
          <p:nvPr/>
        </p:nvPicPr>
        <p:blipFill>
          <a:blip r:embed="rId2"/>
          <a:srcRect b="5591"/>
          <a:stretch>
            <a:fillRect/>
          </a:stretch>
        </p:blipFill>
        <p:spPr>
          <a:xfrm>
            <a:off x="3156154" y="2059528"/>
            <a:ext cx="9035845" cy="4798471"/>
          </a:xfrm>
          <a:prstGeom prst="rect">
            <a:avLst/>
          </a:prstGeom>
        </p:spPr>
      </p:pic>
      <p:sp>
        <p:nvSpPr>
          <p:cNvPr id="2" name="Title 1">
            <a:extLst>
              <a:ext uri="{FF2B5EF4-FFF2-40B4-BE49-F238E27FC236}">
                <a16:creationId xmlns:a16="http://schemas.microsoft.com/office/drawing/2014/main" id="{93BC259D-A329-C3C1-A67A-C02039AC2FC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EC64F162-F14D-DE65-C03B-00F0553F9F3C}"/>
              </a:ext>
            </a:extLst>
          </p:cNvPr>
          <p:cNvSpPr txBox="1"/>
          <p:nvPr/>
        </p:nvSpPr>
        <p:spPr>
          <a:xfrm>
            <a:off x="0" y="756745"/>
            <a:ext cx="6400800" cy="1318181"/>
          </a:xfrm>
          <a:prstGeom prst="rect">
            <a:avLst/>
          </a:prstGeom>
          <a:noFill/>
        </p:spPr>
        <p:txBody>
          <a:bodyPr wrap="square">
            <a:spAutoFit/>
          </a:bodyPr>
          <a:lstStyle/>
          <a:p>
            <a:pPr>
              <a:lnSpc>
                <a:spcPct val="150000"/>
              </a:lnSpc>
            </a:pPr>
            <a:r>
              <a:rPr lang="en-US" sz="2800" b="1" dirty="0">
                <a:latin typeface="Calibir"/>
              </a:rPr>
              <a:t>Download JavaFX 25 SDK</a:t>
            </a:r>
          </a:p>
          <a:p>
            <a:pPr>
              <a:lnSpc>
                <a:spcPct val="150000"/>
              </a:lnSpc>
            </a:pPr>
            <a:r>
              <a:rPr lang="en-US" sz="2800" dirty="0">
                <a:latin typeface="Calibir"/>
              </a:rPr>
              <a:t>In the same list, just below, click:</a:t>
            </a:r>
          </a:p>
        </p:txBody>
      </p:sp>
      <p:sp>
        <p:nvSpPr>
          <p:cNvPr id="7" name="Rectangle: Rounded Corners 6">
            <a:extLst>
              <a:ext uri="{FF2B5EF4-FFF2-40B4-BE49-F238E27FC236}">
                <a16:creationId xmlns:a16="http://schemas.microsoft.com/office/drawing/2014/main" id="{46341215-424F-5767-B08B-25236F2051A8}"/>
              </a:ext>
            </a:extLst>
          </p:cNvPr>
          <p:cNvSpPr/>
          <p:nvPr/>
        </p:nvSpPr>
        <p:spPr>
          <a:xfrm>
            <a:off x="4886631" y="5909527"/>
            <a:ext cx="2856271" cy="16223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37379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0EBE3-FC87-C942-0451-985F3E347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0C35A-6F90-77F4-5E14-0E9B4B8F926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23941A5E-BAC9-D90F-1BE9-07E3B00A2EDB}"/>
              </a:ext>
            </a:extLst>
          </p:cNvPr>
          <p:cNvSpPr txBox="1"/>
          <p:nvPr/>
        </p:nvSpPr>
        <p:spPr>
          <a:xfrm>
            <a:off x="0" y="756745"/>
            <a:ext cx="6400800" cy="671851"/>
          </a:xfrm>
          <a:prstGeom prst="rect">
            <a:avLst/>
          </a:prstGeom>
          <a:noFill/>
        </p:spPr>
        <p:txBody>
          <a:bodyPr wrap="square">
            <a:spAutoFit/>
          </a:bodyPr>
          <a:lstStyle/>
          <a:p>
            <a:pPr>
              <a:lnSpc>
                <a:spcPct val="150000"/>
              </a:lnSpc>
            </a:pPr>
            <a:r>
              <a:rPr lang="en-US" sz="2800" b="1" dirty="0">
                <a:latin typeface="Calibir"/>
              </a:rPr>
              <a:t>Unzip</a:t>
            </a:r>
            <a:endParaRPr lang="en-US" sz="2800" dirty="0">
              <a:latin typeface="Calibir"/>
            </a:endParaRPr>
          </a:p>
        </p:txBody>
      </p:sp>
      <p:pic>
        <p:nvPicPr>
          <p:cNvPr id="4" name="Picture 3">
            <a:extLst>
              <a:ext uri="{FF2B5EF4-FFF2-40B4-BE49-F238E27FC236}">
                <a16:creationId xmlns:a16="http://schemas.microsoft.com/office/drawing/2014/main" id="{04BB46AC-0586-43AB-A76B-120D3F398D0D}"/>
              </a:ext>
            </a:extLst>
          </p:cNvPr>
          <p:cNvPicPr>
            <a:picLocks noChangeAspect="1"/>
          </p:cNvPicPr>
          <p:nvPr/>
        </p:nvPicPr>
        <p:blipFill>
          <a:blip r:embed="rId2"/>
          <a:srcRect r="23186" b="63871"/>
          <a:stretch>
            <a:fillRect/>
          </a:stretch>
        </p:blipFill>
        <p:spPr>
          <a:xfrm>
            <a:off x="0" y="2185340"/>
            <a:ext cx="12192000" cy="3225600"/>
          </a:xfrm>
          <a:prstGeom prst="rect">
            <a:avLst/>
          </a:prstGeom>
        </p:spPr>
      </p:pic>
    </p:spTree>
    <p:extLst>
      <p:ext uri="{BB962C8B-B14F-4D97-AF65-F5344CB8AC3E}">
        <p14:creationId xmlns:p14="http://schemas.microsoft.com/office/powerpoint/2010/main" val="35289336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D306F-3A5F-C9EB-9A3D-14E9ACBCF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776CF-5FE3-3569-73C1-974C35ACC74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FE5B70E6-7FC3-3760-5E22-566876CBFB79}"/>
              </a:ext>
            </a:extLst>
          </p:cNvPr>
          <p:cNvSpPr txBox="1"/>
          <p:nvPr/>
        </p:nvSpPr>
        <p:spPr>
          <a:xfrm>
            <a:off x="0" y="756745"/>
            <a:ext cx="6400800" cy="671851"/>
          </a:xfrm>
          <a:prstGeom prst="rect">
            <a:avLst/>
          </a:prstGeom>
          <a:noFill/>
        </p:spPr>
        <p:txBody>
          <a:bodyPr wrap="square">
            <a:spAutoFit/>
          </a:bodyPr>
          <a:lstStyle/>
          <a:p>
            <a:pPr>
              <a:lnSpc>
                <a:spcPct val="150000"/>
              </a:lnSpc>
            </a:pPr>
            <a:r>
              <a:rPr lang="en-US" sz="2800" b="1" dirty="0">
                <a:latin typeface="Calibir"/>
              </a:rPr>
              <a:t>Unzip</a:t>
            </a:r>
            <a:endParaRPr lang="en-US" sz="2800" dirty="0">
              <a:latin typeface="Calibir"/>
            </a:endParaRPr>
          </a:p>
        </p:txBody>
      </p:sp>
      <p:pic>
        <p:nvPicPr>
          <p:cNvPr id="6" name="Picture 5">
            <a:extLst>
              <a:ext uri="{FF2B5EF4-FFF2-40B4-BE49-F238E27FC236}">
                <a16:creationId xmlns:a16="http://schemas.microsoft.com/office/drawing/2014/main" id="{50135DF7-25A4-8E74-5D83-4246C0C11E4C}"/>
              </a:ext>
            </a:extLst>
          </p:cNvPr>
          <p:cNvPicPr>
            <a:picLocks noChangeAspect="1"/>
          </p:cNvPicPr>
          <p:nvPr/>
        </p:nvPicPr>
        <p:blipFill>
          <a:blip r:embed="rId2"/>
          <a:srcRect l="19476" t="16774" r="64798" b="52903"/>
          <a:stretch>
            <a:fillRect/>
          </a:stretch>
        </p:blipFill>
        <p:spPr>
          <a:xfrm>
            <a:off x="0" y="1428596"/>
            <a:ext cx="4748981" cy="5150817"/>
          </a:xfrm>
          <a:prstGeom prst="rect">
            <a:avLst/>
          </a:prstGeom>
        </p:spPr>
      </p:pic>
    </p:spTree>
    <p:extLst>
      <p:ext uri="{BB962C8B-B14F-4D97-AF65-F5344CB8AC3E}">
        <p14:creationId xmlns:p14="http://schemas.microsoft.com/office/powerpoint/2010/main" val="33218157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6F8FA-589E-94CD-8515-4B3B52314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E36D1-3823-56AC-6F76-C8FED58114E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EECF644A-87EC-9403-C6DE-066E262D2EB0}"/>
              </a:ext>
            </a:extLst>
          </p:cNvPr>
          <p:cNvSpPr txBox="1"/>
          <p:nvPr/>
        </p:nvSpPr>
        <p:spPr>
          <a:xfrm>
            <a:off x="0" y="756745"/>
            <a:ext cx="6400800" cy="671851"/>
          </a:xfrm>
          <a:prstGeom prst="rect">
            <a:avLst/>
          </a:prstGeom>
          <a:noFill/>
        </p:spPr>
        <p:txBody>
          <a:bodyPr wrap="square">
            <a:spAutoFit/>
          </a:bodyPr>
          <a:lstStyle/>
          <a:p>
            <a:pPr>
              <a:lnSpc>
                <a:spcPct val="150000"/>
              </a:lnSpc>
            </a:pPr>
            <a:r>
              <a:rPr lang="en-US" sz="2800" b="1" dirty="0">
                <a:latin typeface="Calibir"/>
              </a:rPr>
              <a:t>Unzip</a:t>
            </a:r>
            <a:endParaRPr lang="en-US" sz="2800" dirty="0">
              <a:latin typeface="Calibir"/>
            </a:endParaRPr>
          </a:p>
        </p:txBody>
      </p:sp>
      <p:pic>
        <p:nvPicPr>
          <p:cNvPr id="4" name="Picture 3">
            <a:extLst>
              <a:ext uri="{FF2B5EF4-FFF2-40B4-BE49-F238E27FC236}">
                <a16:creationId xmlns:a16="http://schemas.microsoft.com/office/drawing/2014/main" id="{AE975DF1-B3AE-DCA9-DFC3-EF62F1346765}"/>
              </a:ext>
            </a:extLst>
          </p:cNvPr>
          <p:cNvPicPr>
            <a:picLocks noChangeAspect="1"/>
          </p:cNvPicPr>
          <p:nvPr/>
        </p:nvPicPr>
        <p:blipFill>
          <a:blip r:embed="rId2"/>
          <a:srcRect b="11035"/>
          <a:stretch>
            <a:fillRect/>
          </a:stretch>
        </p:blipFill>
        <p:spPr>
          <a:xfrm>
            <a:off x="786580" y="1544004"/>
            <a:ext cx="10618839" cy="5313996"/>
          </a:xfrm>
          <a:prstGeom prst="rect">
            <a:avLst/>
          </a:prstGeom>
        </p:spPr>
      </p:pic>
      <p:sp>
        <p:nvSpPr>
          <p:cNvPr id="7" name="Rectangle: Rounded Corners 6">
            <a:extLst>
              <a:ext uri="{FF2B5EF4-FFF2-40B4-BE49-F238E27FC236}">
                <a16:creationId xmlns:a16="http://schemas.microsoft.com/office/drawing/2014/main" id="{4ACE7F97-EC66-7C6D-0C22-396B88EFEA97}"/>
              </a:ext>
            </a:extLst>
          </p:cNvPr>
          <p:cNvSpPr/>
          <p:nvPr/>
        </p:nvSpPr>
        <p:spPr>
          <a:xfrm>
            <a:off x="10176387" y="6386051"/>
            <a:ext cx="1194619" cy="50144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36614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2EA59-853E-FD7F-63A2-B6DF6711B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9904E-7F5D-46CD-3F84-71DF243DA70C}"/>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5C833873-4DEB-EA31-230E-0EDD44B7F66F}"/>
              </a:ext>
            </a:extLst>
          </p:cNvPr>
          <p:cNvSpPr txBox="1"/>
          <p:nvPr/>
        </p:nvSpPr>
        <p:spPr>
          <a:xfrm>
            <a:off x="0" y="756745"/>
            <a:ext cx="6400800" cy="671851"/>
          </a:xfrm>
          <a:prstGeom prst="rect">
            <a:avLst/>
          </a:prstGeom>
          <a:noFill/>
        </p:spPr>
        <p:txBody>
          <a:bodyPr wrap="square">
            <a:spAutoFit/>
          </a:bodyPr>
          <a:lstStyle/>
          <a:p>
            <a:pPr>
              <a:lnSpc>
                <a:spcPct val="150000"/>
              </a:lnSpc>
            </a:pPr>
            <a:r>
              <a:rPr lang="en-US" sz="2800" b="1" dirty="0">
                <a:latin typeface="Calibir"/>
              </a:rPr>
              <a:t>Open Output Folder</a:t>
            </a:r>
            <a:endParaRPr lang="en-US" sz="2800" dirty="0">
              <a:latin typeface="Calibir"/>
            </a:endParaRPr>
          </a:p>
        </p:txBody>
      </p:sp>
      <p:pic>
        <p:nvPicPr>
          <p:cNvPr id="6" name="Picture 5">
            <a:extLst>
              <a:ext uri="{FF2B5EF4-FFF2-40B4-BE49-F238E27FC236}">
                <a16:creationId xmlns:a16="http://schemas.microsoft.com/office/drawing/2014/main" id="{1A77EB31-D007-A22D-2E8C-F60181F5C7F0}"/>
              </a:ext>
            </a:extLst>
          </p:cNvPr>
          <p:cNvPicPr>
            <a:picLocks noChangeAspect="1"/>
          </p:cNvPicPr>
          <p:nvPr/>
        </p:nvPicPr>
        <p:blipFill>
          <a:blip r:embed="rId2"/>
          <a:srcRect l="35806" t="36560" r="36129" b="49677"/>
          <a:stretch>
            <a:fillRect/>
          </a:stretch>
        </p:blipFill>
        <p:spPr>
          <a:xfrm>
            <a:off x="963568" y="2155553"/>
            <a:ext cx="10264864" cy="2831690"/>
          </a:xfrm>
          <a:prstGeom prst="rect">
            <a:avLst/>
          </a:prstGeom>
        </p:spPr>
      </p:pic>
      <p:sp>
        <p:nvSpPr>
          <p:cNvPr id="7" name="Rectangle: Rounded Corners 6">
            <a:extLst>
              <a:ext uri="{FF2B5EF4-FFF2-40B4-BE49-F238E27FC236}">
                <a16:creationId xmlns:a16="http://schemas.microsoft.com/office/drawing/2014/main" id="{231ABB4B-91B1-A703-EB96-FF3F9508CC21}"/>
              </a:ext>
            </a:extLst>
          </p:cNvPr>
          <p:cNvSpPr/>
          <p:nvPr/>
        </p:nvSpPr>
        <p:spPr>
          <a:xfrm>
            <a:off x="5498690" y="4367811"/>
            <a:ext cx="3424084" cy="49915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16459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93320-401B-4426-243F-087163452AF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1989AC3-7479-0AB1-174A-293388BECD37}"/>
              </a:ext>
            </a:extLst>
          </p:cNvPr>
          <p:cNvPicPr>
            <a:picLocks noChangeAspect="1"/>
          </p:cNvPicPr>
          <p:nvPr/>
        </p:nvPicPr>
        <p:blipFill>
          <a:blip r:embed="rId2"/>
          <a:srcRect l="9677" b="56129"/>
          <a:stretch>
            <a:fillRect/>
          </a:stretch>
        </p:blipFill>
        <p:spPr>
          <a:xfrm>
            <a:off x="1" y="1608718"/>
            <a:ext cx="12192000" cy="3331029"/>
          </a:xfrm>
          <a:prstGeom prst="rect">
            <a:avLst/>
          </a:prstGeom>
        </p:spPr>
      </p:pic>
      <p:sp>
        <p:nvSpPr>
          <p:cNvPr id="2" name="Title 1">
            <a:extLst>
              <a:ext uri="{FF2B5EF4-FFF2-40B4-BE49-F238E27FC236}">
                <a16:creationId xmlns:a16="http://schemas.microsoft.com/office/drawing/2014/main" id="{0C437C28-1627-7C39-2217-7D0ADC433E94}"/>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BC69E1F8-0196-92FA-808F-3FB985D3F842}"/>
              </a:ext>
            </a:extLst>
          </p:cNvPr>
          <p:cNvSpPr txBox="1"/>
          <p:nvPr/>
        </p:nvSpPr>
        <p:spPr>
          <a:xfrm>
            <a:off x="0" y="756745"/>
            <a:ext cx="6400800" cy="671851"/>
          </a:xfrm>
          <a:prstGeom prst="rect">
            <a:avLst/>
          </a:prstGeom>
          <a:noFill/>
        </p:spPr>
        <p:txBody>
          <a:bodyPr wrap="square">
            <a:spAutoFit/>
          </a:bodyPr>
          <a:lstStyle/>
          <a:p>
            <a:pPr>
              <a:lnSpc>
                <a:spcPct val="150000"/>
              </a:lnSpc>
            </a:pPr>
            <a:r>
              <a:rPr lang="en-US" sz="2800" b="1" dirty="0">
                <a:latin typeface="Calibir"/>
              </a:rPr>
              <a:t>Move it to C:\Program Files\Java</a:t>
            </a:r>
            <a:endParaRPr lang="en-US" sz="2800" dirty="0">
              <a:latin typeface="Calibir"/>
            </a:endParaRPr>
          </a:p>
        </p:txBody>
      </p:sp>
      <p:sp>
        <p:nvSpPr>
          <p:cNvPr id="7" name="Rectangle: Rounded Corners 6">
            <a:extLst>
              <a:ext uri="{FF2B5EF4-FFF2-40B4-BE49-F238E27FC236}">
                <a16:creationId xmlns:a16="http://schemas.microsoft.com/office/drawing/2014/main" id="{77D7E9F8-29CA-5838-656E-57EA477ED8FE}"/>
              </a:ext>
            </a:extLst>
          </p:cNvPr>
          <p:cNvSpPr/>
          <p:nvPr/>
        </p:nvSpPr>
        <p:spPr>
          <a:xfrm>
            <a:off x="395747" y="3126658"/>
            <a:ext cx="4603955" cy="302342"/>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41211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D1DA-2B2C-D16E-4218-782A794D2AE3}"/>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402E040-12DA-B2C0-9665-2D13261F6A48}"/>
              </a:ext>
            </a:extLst>
          </p:cNvPr>
          <p:cNvPicPr>
            <a:picLocks noChangeAspect="1"/>
          </p:cNvPicPr>
          <p:nvPr/>
        </p:nvPicPr>
        <p:blipFill>
          <a:blip r:embed="rId2"/>
          <a:srcRect l="9315" r="41814" b="32473"/>
          <a:stretch>
            <a:fillRect/>
          </a:stretch>
        </p:blipFill>
        <p:spPr>
          <a:xfrm>
            <a:off x="137649" y="1513488"/>
            <a:ext cx="6676105" cy="5188855"/>
          </a:xfrm>
          <a:prstGeom prst="rect">
            <a:avLst/>
          </a:prstGeom>
        </p:spPr>
      </p:pic>
      <p:sp>
        <p:nvSpPr>
          <p:cNvPr id="2" name="Title 1">
            <a:extLst>
              <a:ext uri="{FF2B5EF4-FFF2-40B4-BE49-F238E27FC236}">
                <a16:creationId xmlns:a16="http://schemas.microsoft.com/office/drawing/2014/main" id="{5BA1F358-CDAD-D645-0485-DCF03C61B437}"/>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FAC11A2C-7AD9-8F65-3C1F-68B47444627C}"/>
              </a:ext>
            </a:extLst>
          </p:cNvPr>
          <p:cNvSpPr txBox="1"/>
          <p:nvPr/>
        </p:nvSpPr>
        <p:spPr>
          <a:xfrm>
            <a:off x="-1" y="756745"/>
            <a:ext cx="12191999" cy="671851"/>
          </a:xfrm>
          <a:prstGeom prst="rect">
            <a:avLst/>
          </a:prstGeom>
          <a:noFill/>
        </p:spPr>
        <p:txBody>
          <a:bodyPr wrap="square">
            <a:spAutoFit/>
          </a:bodyPr>
          <a:lstStyle/>
          <a:p>
            <a:pPr>
              <a:lnSpc>
                <a:spcPct val="150000"/>
              </a:lnSpc>
            </a:pPr>
            <a:r>
              <a:rPr lang="en-US" sz="2800" b="1" dirty="0">
                <a:latin typeface="Calibir"/>
              </a:rPr>
              <a:t>Copy all JAR files from lib folder to the lib folder into our project</a:t>
            </a:r>
            <a:endParaRPr lang="en-US" sz="2800" dirty="0">
              <a:latin typeface="Calibir"/>
            </a:endParaRPr>
          </a:p>
        </p:txBody>
      </p:sp>
    </p:spTree>
    <p:extLst>
      <p:ext uri="{BB962C8B-B14F-4D97-AF65-F5344CB8AC3E}">
        <p14:creationId xmlns:p14="http://schemas.microsoft.com/office/powerpoint/2010/main" val="12095865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741FB-AF3A-68A1-895E-827D01EC9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BBBF9-CF36-AD9B-EAE2-469DD9BDDAA1}"/>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716EE6C3-7FB2-39A4-2CD3-5546667CF58D}"/>
              </a:ext>
            </a:extLst>
          </p:cNvPr>
          <p:cNvSpPr txBox="1"/>
          <p:nvPr/>
        </p:nvSpPr>
        <p:spPr>
          <a:xfrm>
            <a:off x="-1" y="756745"/>
            <a:ext cx="12191999" cy="671851"/>
          </a:xfrm>
          <a:prstGeom prst="rect">
            <a:avLst/>
          </a:prstGeom>
          <a:noFill/>
        </p:spPr>
        <p:txBody>
          <a:bodyPr wrap="square">
            <a:spAutoFit/>
          </a:bodyPr>
          <a:lstStyle/>
          <a:p>
            <a:pPr>
              <a:lnSpc>
                <a:spcPct val="150000"/>
              </a:lnSpc>
            </a:pPr>
            <a:r>
              <a:rPr lang="en-US" sz="2800" b="1" dirty="0">
                <a:latin typeface="Calibir"/>
              </a:rPr>
              <a:t>Copy all JAR files from lib folder to the lib folder into our project</a:t>
            </a:r>
            <a:endParaRPr lang="en-US" sz="2800" dirty="0">
              <a:latin typeface="Calibir"/>
            </a:endParaRPr>
          </a:p>
        </p:txBody>
      </p:sp>
      <p:pic>
        <p:nvPicPr>
          <p:cNvPr id="4" name="Picture 3">
            <a:extLst>
              <a:ext uri="{FF2B5EF4-FFF2-40B4-BE49-F238E27FC236}">
                <a16:creationId xmlns:a16="http://schemas.microsoft.com/office/drawing/2014/main" id="{7490DC08-AE5F-6A62-83AA-D16F878A939E}"/>
              </a:ext>
            </a:extLst>
          </p:cNvPr>
          <p:cNvPicPr>
            <a:picLocks noChangeAspect="1"/>
          </p:cNvPicPr>
          <p:nvPr/>
        </p:nvPicPr>
        <p:blipFill>
          <a:blip r:embed="rId2"/>
          <a:srcRect l="12581" r="18952" b="27742"/>
          <a:stretch>
            <a:fillRect/>
          </a:stretch>
        </p:blipFill>
        <p:spPr>
          <a:xfrm>
            <a:off x="0" y="1513489"/>
            <a:ext cx="8347587" cy="4955458"/>
          </a:xfrm>
          <a:prstGeom prst="rect">
            <a:avLst/>
          </a:prstGeom>
        </p:spPr>
      </p:pic>
    </p:spTree>
    <p:extLst>
      <p:ext uri="{BB962C8B-B14F-4D97-AF65-F5344CB8AC3E}">
        <p14:creationId xmlns:p14="http://schemas.microsoft.com/office/powerpoint/2010/main" val="36406857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DFB00-295C-0727-00D3-595EC1829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E881C-E3E6-08E1-4B37-D6732CBAA9B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TextBox 4">
            <a:extLst>
              <a:ext uri="{FF2B5EF4-FFF2-40B4-BE49-F238E27FC236}">
                <a16:creationId xmlns:a16="http://schemas.microsoft.com/office/drawing/2014/main" id="{279C353C-18DF-B997-BAB6-1B92C33B99DE}"/>
              </a:ext>
            </a:extLst>
          </p:cNvPr>
          <p:cNvSpPr txBox="1"/>
          <p:nvPr/>
        </p:nvSpPr>
        <p:spPr>
          <a:xfrm>
            <a:off x="-1" y="756745"/>
            <a:ext cx="12191999" cy="523220"/>
          </a:xfrm>
          <a:prstGeom prst="rect">
            <a:avLst/>
          </a:prstGeom>
          <a:noFill/>
        </p:spPr>
        <p:txBody>
          <a:bodyPr wrap="square">
            <a:spAutoFit/>
          </a:bodyPr>
          <a:lstStyle/>
          <a:p>
            <a:r>
              <a:rPr lang="en-US" sz="2800" dirty="0">
                <a:latin typeface="Calibir"/>
              </a:rPr>
              <a:t>We can safely delete any older JavaFX-21 or 24 files there.</a:t>
            </a:r>
          </a:p>
        </p:txBody>
      </p:sp>
      <p:pic>
        <p:nvPicPr>
          <p:cNvPr id="4" name="Picture 3">
            <a:extLst>
              <a:ext uri="{FF2B5EF4-FFF2-40B4-BE49-F238E27FC236}">
                <a16:creationId xmlns:a16="http://schemas.microsoft.com/office/drawing/2014/main" id="{E9C6890E-DB72-EE70-3734-BFEC41B33384}"/>
              </a:ext>
            </a:extLst>
          </p:cNvPr>
          <p:cNvPicPr>
            <a:picLocks noChangeAspect="1"/>
          </p:cNvPicPr>
          <p:nvPr/>
        </p:nvPicPr>
        <p:blipFill>
          <a:blip r:embed="rId2"/>
          <a:srcRect l="12581" r="18952" b="27742"/>
          <a:stretch>
            <a:fillRect/>
          </a:stretch>
        </p:blipFill>
        <p:spPr>
          <a:xfrm>
            <a:off x="0" y="1513489"/>
            <a:ext cx="8347587" cy="4955458"/>
          </a:xfrm>
          <a:prstGeom prst="rect">
            <a:avLst/>
          </a:prstGeom>
        </p:spPr>
      </p:pic>
    </p:spTree>
    <p:extLst>
      <p:ext uri="{BB962C8B-B14F-4D97-AF65-F5344CB8AC3E}">
        <p14:creationId xmlns:p14="http://schemas.microsoft.com/office/powerpoint/2010/main" val="18733673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F29B0-11FF-9FB9-1897-F209B6EBE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F7C8C-FE2E-70D5-8265-4DED9188514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graphicFrame>
        <p:nvGraphicFramePr>
          <p:cNvPr id="3" name="Table 2">
            <a:extLst>
              <a:ext uri="{FF2B5EF4-FFF2-40B4-BE49-F238E27FC236}">
                <a16:creationId xmlns:a16="http://schemas.microsoft.com/office/drawing/2014/main" id="{3962991C-2820-AE74-5B04-39B19614C656}"/>
              </a:ext>
            </a:extLst>
          </p:cNvPr>
          <p:cNvGraphicFramePr>
            <a:graphicFrameLocks noGrp="1"/>
          </p:cNvGraphicFramePr>
          <p:nvPr>
            <p:extLst>
              <p:ext uri="{D42A27DB-BD31-4B8C-83A1-F6EECF244321}">
                <p14:modId xmlns:p14="http://schemas.microsoft.com/office/powerpoint/2010/main" val="3012705341"/>
              </p:ext>
            </p:extLst>
          </p:nvPr>
        </p:nvGraphicFramePr>
        <p:xfrm>
          <a:off x="675968" y="2103177"/>
          <a:ext cx="10515600" cy="4632960"/>
        </p:xfrm>
        <a:graphic>
          <a:graphicData uri="http://schemas.openxmlformats.org/drawingml/2006/table">
            <a:tbl>
              <a:tblPr>
                <a:tableStyleId>{BDBED569-4797-4DF1-A0F4-6AAB3CD982D8}</a:tableStyleId>
              </a:tblPr>
              <a:tblGrid>
                <a:gridCol w="2288458">
                  <a:extLst>
                    <a:ext uri="{9D8B030D-6E8A-4147-A177-3AD203B41FA5}">
                      <a16:colId xmlns:a16="http://schemas.microsoft.com/office/drawing/2014/main" val="416869776"/>
                    </a:ext>
                  </a:extLst>
                </a:gridCol>
                <a:gridCol w="4721942">
                  <a:extLst>
                    <a:ext uri="{9D8B030D-6E8A-4147-A177-3AD203B41FA5}">
                      <a16:colId xmlns:a16="http://schemas.microsoft.com/office/drawing/2014/main" val="463792193"/>
                    </a:ext>
                  </a:extLst>
                </a:gridCol>
                <a:gridCol w="3505200">
                  <a:extLst>
                    <a:ext uri="{9D8B030D-6E8A-4147-A177-3AD203B41FA5}">
                      <a16:colId xmlns:a16="http://schemas.microsoft.com/office/drawing/2014/main" val="2615396870"/>
                    </a:ext>
                  </a:extLst>
                </a:gridCol>
              </a:tblGrid>
              <a:tr h="0">
                <a:tc>
                  <a:txBody>
                    <a:bodyPr/>
                    <a:lstStyle/>
                    <a:p>
                      <a:pPr>
                        <a:buNone/>
                      </a:pPr>
                      <a:r>
                        <a:rPr lang="en-US" sz="2800">
                          <a:latin typeface="Calibir"/>
                        </a:rPr>
                        <a:t>Component</a:t>
                      </a:r>
                    </a:p>
                  </a:txBody>
                  <a:tcPr anchor="ctr"/>
                </a:tc>
                <a:tc>
                  <a:txBody>
                    <a:bodyPr/>
                    <a:lstStyle/>
                    <a:p>
                      <a:pPr>
                        <a:buNone/>
                      </a:pPr>
                      <a:r>
                        <a:rPr lang="en-US" sz="2800">
                          <a:latin typeface="Calibir"/>
                        </a:rPr>
                        <a:t>Version</a:t>
                      </a:r>
                    </a:p>
                  </a:txBody>
                  <a:tcPr anchor="ctr"/>
                </a:tc>
                <a:tc>
                  <a:txBody>
                    <a:bodyPr/>
                    <a:lstStyle/>
                    <a:p>
                      <a:pPr>
                        <a:buNone/>
                      </a:pPr>
                      <a:r>
                        <a:rPr lang="en-US" sz="2800">
                          <a:latin typeface="Calibir"/>
                        </a:rPr>
                        <a:t>Folder</a:t>
                      </a:r>
                    </a:p>
                  </a:txBody>
                  <a:tcPr anchor="ctr"/>
                </a:tc>
                <a:extLst>
                  <a:ext uri="{0D108BD9-81ED-4DB2-BD59-A6C34878D82A}">
                    <a16:rowId xmlns:a16="http://schemas.microsoft.com/office/drawing/2014/main" val="2321393397"/>
                  </a:ext>
                </a:extLst>
              </a:tr>
              <a:tr h="0">
                <a:tc>
                  <a:txBody>
                    <a:bodyPr/>
                    <a:lstStyle/>
                    <a:p>
                      <a:pPr>
                        <a:buNone/>
                      </a:pPr>
                      <a:r>
                        <a:rPr lang="en-US" sz="2800" b="1">
                          <a:latin typeface="Calibir"/>
                        </a:rPr>
                        <a:t>JDK</a:t>
                      </a:r>
                      <a:endParaRPr lang="en-US" sz="2800">
                        <a:latin typeface="Calibir"/>
                      </a:endParaRPr>
                    </a:p>
                  </a:txBody>
                  <a:tcPr anchor="ctr"/>
                </a:tc>
                <a:tc>
                  <a:txBody>
                    <a:bodyPr/>
                    <a:lstStyle/>
                    <a:p>
                      <a:pPr>
                        <a:buNone/>
                      </a:pPr>
                      <a:r>
                        <a:rPr lang="en-US" sz="2800" dirty="0">
                          <a:latin typeface="Calibir"/>
                        </a:rPr>
                        <a:t>25</a:t>
                      </a:r>
                    </a:p>
                  </a:txBody>
                  <a:tcPr anchor="ctr"/>
                </a:tc>
                <a:tc>
                  <a:txBody>
                    <a:bodyPr/>
                    <a:lstStyle/>
                    <a:p>
                      <a:pPr>
                        <a:buNone/>
                      </a:pPr>
                      <a:r>
                        <a:rPr lang="pt-BR" sz="2800">
                          <a:latin typeface="Calibir"/>
                        </a:rPr>
                        <a:t>C:\Program Files\Java\jdk-25</a:t>
                      </a:r>
                    </a:p>
                  </a:txBody>
                  <a:tcPr anchor="ctr"/>
                </a:tc>
                <a:extLst>
                  <a:ext uri="{0D108BD9-81ED-4DB2-BD59-A6C34878D82A}">
                    <a16:rowId xmlns:a16="http://schemas.microsoft.com/office/drawing/2014/main" val="2806256148"/>
                  </a:ext>
                </a:extLst>
              </a:tr>
              <a:tr h="0">
                <a:tc>
                  <a:txBody>
                    <a:bodyPr/>
                    <a:lstStyle/>
                    <a:p>
                      <a:pPr>
                        <a:buNone/>
                      </a:pPr>
                      <a:r>
                        <a:rPr lang="en-US" sz="2800" b="1">
                          <a:latin typeface="Calibir"/>
                        </a:rPr>
                        <a:t>JavaFX SDK</a:t>
                      </a:r>
                      <a:endParaRPr lang="en-US" sz="2800">
                        <a:latin typeface="Calibir"/>
                      </a:endParaRPr>
                    </a:p>
                  </a:txBody>
                  <a:tcPr anchor="ctr"/>
                </a:tc>
                <a:tc>
                  <a:txBody>
                    <a:bodyPr/>
                    <a:lstStyle/>
                    <a:p>
                      <a:pPr>
                        <a:buNone/>
                      </a:pPr>
                      <a:r>
                        <a:rPr lang="en-US" sz="2800">
                          <a:latin typeface="Calibir"/>
                        </a:rPr>
                        <a:t>25</a:t>
                      </a:r>
                    </a:p>
                  </a:txBody>
                  <a:tcPr anchor="ctr"/>
                </a:tc>
                <a:tc>
                  <a:txBody>
                    <a:bodyPr/>
                    <a:lstStyle/>
                    <a:p>
                      <a:pPr>
                        <a:buNone/>
                      </a:pPr>
                      <a:r>
                        <a:rPr lang="en-US" sz="2800">
                          <a:latin typeface="Calibir"/>
                        </a:rPr>
                        <a:t>C:\JavaFX\javafx-sdk-25\lib (copied to project /lib)</a:t>
                      </a:r>
                    </a:p>
                  </a:txBody>
                  <a:tcPr anchor="ctr"/>
                </a:tc>
                <a:extLst>
                  <a:ext uri="{0D108BD9-81ED-4DB2-BD59-A6C34878D82A}">
                    <a16:rowId xmlns:a16="http://schemas.microsoft.com/office/drawing/2014/main" val="1328809028"/>
                  </a:ext>
                </a:extLst>
              </a:tr>
              <a:tr h="0">
                <a:tc>
                  <a:txBody>
                    <a:bodyPr/>
                    <a:lstStyle/>
                    <a:p>
                      <a:pPr>
                        <a:buNone/>
                      </a:pPr>
                      <a:r>
                        <a:rPr lang="en-US" sz="2800" b="1">
                          <a:latin typeface="Calibir"/>
                        </a:rPr>
                        <a:t>VS Code</a:t>
                      </a:r>
                      <a:endParaRPr lang="en-US" sz="2800">
                        <a:latin typeface="Calibir"/>
                      </a:endParaRPr>
                    </a:p>
                  </a:txBody>
                  <a:tcPr anchor="ctr"/>
                </a:tc>
                <a:tc>
                  <a:txBody>
                    <a:bodyPr/>
                    <a:lstStyle/>
                    <a:p>
                      <a:pPr>
                        <a:buNone/>
                      </a:pPr>
                      <a:r>
                        <a:rPr lang="en-US" sz="2800">
                          <a:latin typeface="Calibir"/>
                        </a:rPr>
                        <a:t>Launch.json uses --module-path "${workspaceFolder}/lib" --add-modules javafx.controls,javafx.fxml</a:t>
                      </a:r>
                    </a:p>
                  </a:txBody>
                  <a:tcPr anchor="ctr"/>
                </a:tc>
                <a:tc>
                  <a:txBody>
                    <a:bodyPr/>
                    <a:lstStyle/>
                    <a:p>
                      <a:endParaRPr lang="en-US" sz="2800" dirty="0">
                        <a:latin typeface="Calibir"/>
                      </a:endParaRPr>
                    </a:p>
                  </a:txBody>
                  <a:tcPr/>
                </a:tc>
                <a:extLst>
                  <a:ext uri="{0D108BD9-81ED-4DB2-BD59-A6C34878D82A}">
                    <a16:rowId xmlns:a16="http://schemas.microsoft.com/office/drawing/2014/main" val="3277339704"/>
                  </a:ext>
                </a:extLst>
              </a:tr>
            </a:tbl>
          </a:graphicData>
        </a:graphic>
      </p:graphicFrame>
      <p:sp>
        <p:nvSpPr>
          <p:cNvPr id="6" name="Rectangle 1">
            <a:extLst>
              <a:ext uri="{FF2B5EF4-FFF2-40B4-BE49-F238E27FC236}">
                <a16:creationId xmlns:a16="http://schemas.microsoft.com/office/drawing/2014/main" id="{757F4DFE-D07E-D088-FFA4-6281818F1F2D}"/>
              </a:ext>
            </a:extLst>
          </p:cNvPr>
          <p:cNvSpPr>
            <a:spLocks noChangeArrowheads="1"/>
          </p:cNvSpPr>
          <p:nvPr/>
        </p:nvSpPr>
        <p:spPr bwMode="auto">
          <a:xfrm>
            <a:off x="130277" y="645509"/>
            <a:ext cx="6837385"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check</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You should now have these working together:</a:t>
            </a:r>
          </a:p>
        </p:txBody>
      </p:sp>
    </p:spTree>
    <p:extLst>
      <p:ext uri="{BB962C8B-B14F-4D97-AF65-F5344CB8AC3E}">
        <p14:creationId xmlns:p14="http://schemas.microsoft.com/office/powerpoint/2010/main" val="400379307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42BCC-CAC4-CDB8-F102-E8CD4CF6A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6D17C-3B53-701E-7B70-EE87DD215EB0}"/>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6" name="Rectangle 1">
            <a:extLst>
              <a:ext uri="{FF2B5EF4-FFF2-40B4-BE49-F238E27FC236}">
                <a16:creationId xmlns:a16="http://schemas.microsoft.com/office/drawing/2014/main" id="{22FEE6AF-A8FD-B359-CA17-83711663D470}"/>
              </a:ext>
            </a:extLst>
          </p:cNvPr>
          <p:cNvSpPr>
            <a:spLocks noChangeArrowheads="1"/>
          </p:cNvSpPr>
          <p:nvPr/>
        </p:nvSpPr>
        <p:spPr bwMode="auto">
          <a:xfrm>
            <a:off x="130277" y="968674"/>
            <a:ext cx="3595921"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err="1">
                <a:ln>
                  <a:noFill/>
                </a:ln>
                <a:solidFill>
                  <a:schemeClr val="tx1"/>
                </a:solidFill>
                <a:effectLst/>
                <a:latin typeface="Calibir"/>
              </a:rPr>
              <a:t>Launch.JSON</a:t>
            </a:r>
            <a:r>
              <a:rPr kumimoji="0" lang="en-US" altLang="en-US" sz="2800" b="1" i="0" u="none" strike="noStrike" cap="none" normalizeH="0" baseline="0" dirty="0">
                <a:ln>
                  <a:noFill/>
                </a:ln>
                <a:solidFill>
                  <a:schemeClr val="tx1"/>
                </a:solidFill>
                <a:effectLst/>
                <a:latin typeface="Calibir"/>
              </a:rPr>
              <a:t>  (Update)</a:t>
            </a:r>
            <a:endParaRPr kumimoji="0" lang="en-US" altLang="en-US" sz="2800" b="0" i="0" u="none" strike="noStrike" cap="none" normalizeH="0" baseline="0" dirty="0">
              <a:ln>
                <a:noFill/>
              </a:ln>
              <a:solidFill>
                <a:schemeClr val="tx1"/>
              </a:solidFill>
              <a:effectLst/>
              <a:latin typeface="Calibir"/>
            </a:endParaRPr>
          </a:p>
        </p:txBody>
      </p:sp>
      <p:sp>
        <p:nvSpPr>
          <p:cNvPr id="5" name="TextBox 4">
            <a:extLst>
              <a:ext uri="{FF2B5EF4-FFF2-40B4-BE49-F238E27FC236}">
                <a16:creationId xmlns:a16="http://schemas.microsoft.com/office/drawing/2014/main" id="{BF7CE5AF-6B8F-4C2B-6C79-FF449E54799C}"/>
              </a:ext>
            </a:extLst>
          </p:cNvPr>
          <p:cNvSpPr txBox="1"/>
          <p:nvPr/>
        </p:nvSpPr>
        <p:spPr>
          <a:xfrm>
            <a:off x="130277" y="1909801"/>
            <a:ext cx="11715136" cy="3693319"/>
          </a:xfrm>
          <a:prstGeom prst="rect">
            <a:avLst/>
          </a:prstGeom>
          <a:solidFill>
            <a:schemeClr val="tx1"/>
          </a:solidFill>
        </p:spPr>
        <p:txBody>
          <a:bodyPr wrap="square">
            <a:spAutoFit/>
          </a:bodyPr>
          <a:lstStyle/>
          <a:p>
            <a:pPr>
              <a:buNone/>
            </a:pP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"version"</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"0.2.0"</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"configurations"</a:t>
            </a: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"type"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"java"</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"name"</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"Launch </a:t>
            </a:r>
            <a:r>
              <a:rPr lang="en-US" b="0" dirty="0" err="1">
                <a:solidFill>
                  <a:srgbClr val="CE9178"/>
                </a:solidFill>
                <a:effectLst/>
                <a:latin typeface="Consolas" panose="020B0609020204030204" pitchFamily="49" charset="0"/>
              </a:rPr>
              <a:t>HelloFX</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"request"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"launch"</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mainClass</a:t>
            </a:r>
            <a:r>
              <a:rPr lang="en-US" b="0" dirty="0">
                <a:solidFill>
                  <a:srgbClr val="9CDCFE"/>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"App"</a:t>
            </a:r>
            <a:r>
              <a:rPr lang="en-US" b="0" dirty="0">
                <a:solidFill>
                  <a:srgbClr val="CCCCCC"/>
                </a:solidFill>
                <a:effectLst/>
                <a:latin typeface="Consolas" panose="020B0609020204030204" pitchFamily="49" charset="0"/>
              </a:rPr>
              <a:t>,</a:t>
            </a:r>
          </a:p>
          <a:p>
            <a:pPr>
              <a:buNone/>
            </a:pPr>
            <a:r>
              <a:rPr lang="en-US" b="0" dirty="0">
                <a:solidFill>
                  <a:srgbClr val="CCCCCC"/>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vmArgs</a:t>
            </a:r>
            <a:r>
              <a:rPr lang="en-US" b="0" dirty="0">
                <a:solidFill>
                  <a:srgbClr val="9CDCFE"/>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"--module-path </a:t>
            </a:r>
            <a:r>
              <a:rPr lang="en-US" b="0" dirty="0">
                <a:solidFill>
                  <a:srgbClr val="D7BA7D"/>
                </a:solidFill>
                <a:effectLst/>
                <a:latin typeface="Consolas" panose="020B0609020204030204" pitchFamily="49" charset="0"/>
              </a:rPr>
              <a:t>\"</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workspaceFolder</a:t>
            </a:r>
            <a:r>
              <a:rPr lang="en-US" b="0" dirty="0">
                <a:solidFill>
                  <a:srgbClr val="CE9178"/>
                </a:solidFill>
                <a:effectLst/>
                <a:latin typeface="Consolas" panose="020B0609020204030204" pitchFamily="49" charset="0"/>
              </a:rPr>
              <a:t>}/lib</a:t>
            </a:r>
            <a:r>
              <a:rPr lang="en-US" b="0" dirty="0">
                <a:solidFill>
                  <a:srgbClr val="D7BA7D"/>
                </a:solidFill>
                <a:effectLst/>
                <a:latin typeface="Consolas" panose="020B0609020204030204" pitchFamily="49" charset="0"/>
              </a:rPr>
              <a:t>\"</a:t>
            </a:r>
            <a:r>
              <a:rPr lang="en-US" b="0" dirty="0">
                <a:solidFill>
                  <a:srgbClr val="CE9178"/>
                </a:solidFill>
                <a:effectLst/>
                <a:latin typeface="Consolas" panose="020B0609020204030204" pitchFamily="49" charset="0"/>
              </a:rPr>
              <a:t> --add-modules </a:t>
            </a:r>
            <a:r>
              <a:rPr lang="en-US" b="0" dirty="0" err="1">
                <a:solidFill>
                  <a:srgbClr val="CE9178"/>
                </a:solidFill>
                <a:effectLst/>
                <a:latin typeface="Consolas" panose="020B0609020204030204" pitchFamily="49" charset="0"/>
              </a:rPr>
              <a:t>javafx.controls,javafx.fxml</a:t>
            </a:r>
            <a:r>
              <a:rPr lang="en-US" b="0" dirty="0">
                <a:solidFill>
                  <a:srgbClr val="CE9178"/>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  ]</a:t>
            </a:r>
          </a:p>
          <a:p>
            <a:pPr>
              <a:buNone/>
            </a:pPr>
            <a:r>
              <a:rPr lang="en-US" b="0" dirty="0">
                <a:solidFill>
                  <a:srgbClr val="CCCCCC"/>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E4AF7CFD-8A72-EC17-EDAF-CBCCE26A45F8}"/>
              </a:ext>
            </a:extLst>
          </p:cNvPr>
          <p:cNvSpPr txBox="1"/>
          <p:nvPr/>
        </p:nvSpPr>
        <p:spPr>
          <a:xfrm>
            <a:off x="130277" y="5802069"/>
            <a:ext cx="9092380" cy="954107"/>
          </a:xfrm>
          <a:prstGeom prst="rect">
            <a:avLst/>
          </a:prstGeom>
          <a:solidFill>
            <a:schemeClr val="bg1"/>
          </a:solidFill>
        </p:spPr>
        <p:txBody>
          <a:bodyPr wrap="square">
            <a:spAutoFit/>
          </a:bodyPr>
          <a:lstStyle/>
          <a:p>
            <a:r>
              <a:rPr lang="en-US" sz="2800" i="1" dirty="0">
                <a:latin typeface="Calibir"/>
              </a:rPr>
              <a:t>If VS Code asks us to select a JDK, choose</a:t>
            </a:r>
            <a:br>
              <a:rPr lang="en-US" sz="2800" dirty="0">
                <a:latin typeface="Calibir"/>
              </a:rPr>
            </a:br>
            <a:r>
              <a:rPr lang="en-US" sz="2800" dirty="0">
                <a:latin typeface="Calibir"/>
              </a:rPr>
              <a:t>C:\Program Files\Java\jdk-25</a:t>
            </a:r>
          </a:p>
        </p:txBody>
      </p:sp>
    </p:spTree>
    <p:extLst>
      <p:ext uri="{BB962C8B-B14F-4D97-AF65-F5344CB8AC3E}">
        <p14:creationId xmlns:p14="http://schemas.microsoft.com/office/powerpoint/2010/main" val="11499865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A9DB-919D-3E67-726F-84FD00D3A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CA922-2AA5-8C82-00C4-A2BD7AC0AE1D}"/>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D8E632AD-8106-52F1-4380-3742BD8FE927}"/>
              </a:ext>
            </a:extLst>
          </p:cNvPr>
          <p:cNvSpPr>
            <a:spLocks noChangeArrowheads="1"/>
          </p:cNvSpPr>
          <p:nvPr/>
        </p:nvSpPr>
        <p:spPr bwMode="auto">
          <a:xfrm>
            <a:off x="0" y="632006"/>
            <a:ext cx="12192000"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Update VS Code settings</a:t>
            </a:r>
          </a:p>
          <a:p>
            <a:pPr>
              <a:lnSpc>
                <a:spcPct val="150000"/>
              </a:lnSpc>
            </a:pPr>
            <a:r>
              <a:rPr lang="en-US" sz="2800" dirty="0">
                <a:latin typeface="Calibir"/>
              </a:rPr>
              <a:t>Press Ctrl + Shift + P → “Java: Configure Java Runtime”</a:t>
            </a:r>
          </a:p>
          <a:p>
            <a:pPr>
              <a:lnSpc>
                <a:spcPct val="150000"/>
              </a:lnSpc>
            </a:pPr>
            <a:r>
              <a:rPr lang="en-US" sz="2800" dirty="0">
                <a:latin typeface="Calibir"/>
              </a:rPr>
              <a:t>Under Project JDK, select our new:</a:t>
            </a:r>
          </a:p>
          <a:p>
            <a:pPr>
              <a:lnSpc>
                <a:spcPct val="150000"/>
              </a:lnSpc>
            </a:pPr>
            <a:r>
              <a:rPr lang="pt-BR" sz="2800" dirty="0">
                <a:latin typeface="Calibir"/>
              </a:rPr>
              <a:t>C:\Program Files\Java\jdk-25</a:t>
            </a:r>
          </a:p>
        </p:txBody>
      </p:sp>
      <p:pic>
        <p:nvPicPr>
          <p:cNvPr id="4" name="Picture 3">
            <a:extLst>
              <a:ext uri="{FF2B5EF4-FFF2-40B4-BE49-F238E27FC236}">
                <a16:creationId xmlns:a16="http://schemas.microsoft.com/office/drawing/2014/main" id="{EA3FDF03-64EA-6569-EEB9-EF5F6861C68D}"/>
              </a:ext>
            </a:extLst>
          </p:cNvPr>
          <p:cNvPicPr>
            <a:picLocks noChangeAspect="1"/>
          </p:cNvPicPr>
          <p:nvPr/>
        </p:nvPicPr>
        <p:blipFill>
          <a:blip r:embed="rId2"/>
          <a:srcRect b="79750"/>
          <a:stretch>
            <a:fillRect/>
          </a:stretch>
        </p:blipFill>
        <p:spPr>
          <a:xfrm>
            <a:off x="0" y="3982064"/>
            <a:ext cx="12192000" cy="1388750"/>
          </a:xfrm>
          <a:prstGeom prst="rect">
            <a:avLst/>
          </a:prstGeom>
        </p:spPr>
      </p:pic>
    </p:spTree>
    <p:extLst>
      <p:ext uri="{BB962C8B-B14F-4D97-AF65-F5344CB8AC3E}">
        <p14:creationId xmlns:p14="http://schemas.microsoft.com/office/powerpoint/2010/main" val="25796423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AA1B9-9EA1-7A5C-2F14-41749CD3C7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4D6539-E528-8717-7682-EE48E0C9C8B9}"/>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70ADBDBB-0B5B-EDBB-E750-2DFCC62FC4ED}"/>
              </a:ext>
            </a:extLst>
          </p:cNvPr>
          <p:cNvSpPr>
            <a:spLocks noChangeArrowheads="1"/>
          </p:cNvSpPr>
          <p:nvPr/>
        </p:nvSpPr>
        <p:spPr bwMode="auto">
          <a:xfrm>
            <a:off x="0" y="956470"/>
            <a:ext cx="12192000" cy="2610843"/>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Copy all .jar files from</a:t>
            </a:r>
            <a:br>
              <a:rPr lang="en-US" sz="2800" dirty="0">
                <a:latin typeface="Calibir"/>
              </a:rPr>
            </a:br>
            <a:r>
              <a:rPr lang="en-US" sz="2800" dirty="0">
                <a:latin typeface="Calibir"/>
              </a:rPr>
              <a:t>C:\JavaFX\javafx-sdk-25\lib → our project’s</a:t>
            </a:r>
          </a:p>
          <a:p>
            <a:pPr>
              <a:lnSpc>
                <a:spcPct val="150000"/>
              </a:lnSpc>
            </a:pPr>
            <a:r>
              <a:rPr lang="en-US" sz="2800" dirty="0">
                <a:latin typeface="Calibir"/>
              </a:rPr>
              <a:t>E:\Job in Australia\UTS\Courses\Fundamentals of Software Development\Week 11\</a:t>
            </a:r>
            <a:r>
              <a:rPr lang="en-US" sz="2800" dirty="0" err="1">
                <a:latin typeface="Calibir"/>
              </a:rPr>
              <a:t>HelloFX</a:t>
            </a:r>
            <a:r>
              <a:rPr lang="en-US" sz="2800" dirty="0">
                <a:latin typeface="Calibir"/>
              </a:rPr>
              <a:t>\</a:t>
            </a:r>
            <a:r>
              <a:rPr lang="en-US" sz="2800" dirty="0" err="1">
                <a:latin typeface="Calibir"/>
              </a:rPr>
              <a:t>HelloFX</a:t>
            </a:r>
            <a:r>
              <a:rPr lang="en-US" sz="2800" dirty="0">
                <a:latin typeface="Calibir"/>
              </a:rPr>
              <a:t>\lib</a:t>
            </a:r>
          </a:p>
        </p:txBody>
      </p:sp>
    </p:spTree>
    <p:extLst>
      <p:ext uri="{BB962C8B-B14F-4D97-AF65-F5344CB8AC3E}">
        <p14:creationId xmlns:p14="http://schemas.microsoft.com/office/powerpoint/2010/main" val="424901133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EBD8A-409C-807F-F274-672489817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67D60-9A5C-5658-31BE-2CE0D2D15E02}"/>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8" name="Rectangle 1">
            <a:extLst>
              <a:ext uri="{FF2B5EF4-FFF2-40B4-BE49-F238E27FC236}">
                <a16:creationId xmlns:a16="http://schemas.microsoft.com/office/drawing/2014/main" id="{E2018A66-F90F-40C2-9C4A-C5B0EB9EA07B}"/>
              </a:ext>
            </a:extLst>
          </p:cNvPr>
          <p:cNvSpPr>
            <a:spLocks noChangeArrowheads="1"/>
          </p:cNvSpPr>
          <p:nvPr/>
        </p:nvSpPr>
        <p:spPr bwMode="auto">
          <a:xfrm>
            <a:off x="0" y="983369"/>
            <a:ext cx="12192000" cy="1318181"/>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Rebuild and run</a:t>
            </a:r>
          </a:p>
          <a:p>
            <a:pPr>
              <a:lnSpc>
                <a:spcPct val="150000"/>
              </a:lnSpc>
            </a:pPr>
            <a:r>
              <a:rPr lang="en-US" sz="2800" dirty="0">
                <a:latin typeface="Calibir"/>
              </a:rPr>
              <a:t>In VS Code → Terminal:</a:t>
            </a:r>
          </a:p>
        </p:txBody>
      </p:sp>
      <p:sp>
        <p:nvSpPr>
          <p:cNvPr id="4" name="TextBox 3">
            <a:extLst>
              <a:ext uri="{FF2B5EF4-FFF2-40B4-BE49-F238E27FC236}">
                <a16:creationId xmlns:a16="http://schemas.microsoft.com/office/drawing/2014/main" id="{4F86A637-FCF1-4482-7BB4-1EDC48161685}"/>
              </a:ext>
            </a:extLst>
          </p:cNvPr>
          <p:cNvSpPr txBox="1"/>
          <p:nvPr/>
        </p:nvSpPr>
        <p:spPr>
          <a:xfrm>
            <a:off x="0" y="2799339"/>
            <a:ext cx="12192000" cy="1318181"/>
          </a:xfrm>
          <a:prstGeom prst="rect">
            <a:avLst/>
          </a:prstGeom>
          <a:noFill/>
        </p:spPr>
        <p:txBody>
          <a:bodyPr wrap="square">
            <a:spAutoFit/>
          </a:bodyPr>
          <a:lstStyle/>
          <a:p>
            <a:pPr>
              <a:lnSpc>
                <a:spcPct val="150000"/>
              </a:lnSpc>
            </a:pPr>
            <a:r>
              <a:rPr lang="en-US" sz="2800" dirty="0" err="1">
                <a:latin typeface="Calibir"/>
              </a:rPr>
              <a:t>javac</a:t>
            </a:r>
            <a:r>
              <a:rPr lang="en-US" sz="2800" dirty="0">
                <a:latin typeface="Calibir"/>
              </a:rPr>
              <a:t> --module-path "../lib" --add-modules </a:t>
            </a:r>
            <a:r>
              <a:rPr lang="en-US" sz="2800" dirty="0" err="1">
                <a:latin typeface="Calibir"/>
              </a:rPr>
              <a:t>javafx.controls,javafx.fxml</a:t>
            </a:r>
            <a:r>
              <a:rPr lang="en-US" sz="2800" dirty="0">
                <a:latin typeface="Calibir"/>
              </a:rPr>
              <a:t> App.java</a:t>
            </a:r>
          </a:p>
          <a:p>
            <a:pPr>
              <a:lnSpc>
                <a:spcPct val="150000"/>
              </a:lnSpc>
            </a:pPr>
            <a:r>
              <a:rPr lang="en-US" sz="2800" dirty="0">
                <a:latin typeface="Calibir"/>
              </a:rPr>
              <a:t>java --module-path "../lib" --add-modules </a:t>
            </a:r>
            <a:r>
              <a:rPr lang="en-US" sz="2800" dirty="0" err="1">
                <a:latin typeface="Calibir"/>
              </a:rPr>
              <a:t>javafx.controls,javafx.fxml</a:t>
            </a:r>
            <a:r>
              <a:rPr lang="en-US" sz="2800" dirty="0">
                <a:latin typeface="Calibir"/>
              </a:rPr>
              <a:t> App</a:t>
            </a:r>
          </a:p>
        </p:txBody>
      </p:sp>
      <p:sp>
        <p:nvSpPr>
          <p:cNvPr id="6" name="TextBox 5">
            <a:extLst>
              <a:ext uri="{FF2B5EF4-FFF2-40B4-BE49-F238E27FC236}">
                <a16:creationId xmlns:a16="http://schemas.microsoft.com/office/drawing/2014/main" id="{3CBC84C8-E731-D193-C6E1-409455C9B2EF}"/>
              </a:ext>
            </a:extLst>
          </p:cNvPr>
          <p:cNvSpPr txBox="1"/>
          <p:nvPr/>
        </p:nvSpPr>
        <p:spPr>
          <a:xfrm>
            <a:off x="0" y="4615309"/>
            <a:ext cx="12192000" cy="671851"/>
          </a:xfrm>
          <a:prstGeom prst="rect">
            <a:avLst/>
          </a:prstGeom>
          <a:noFill/>
        </p:spPr>
        <p:txBody>
          <a:bodyPr wrap="square">
            <a:spAutoFit/>
          </a:bodyPr>
          <a:lstStyle/>
          <a:p>
            <a:pPr>
              <a:lnSpc>
                <a:spcPct val="150000"/>
              </a:lnSpc>
            </a:pPr>
            <a:r>
              <a:rPr lang="en-US" sz="2800" dirty="0">
                <a:latin typeface="Calibir"/>
              </a:rPr>
              <a:t>We’ll now see our Hello JavaFX from Australia! window open.</a:t>
            </a:r>
          </a:p>
        </p:txBody>
      </p:sp>
    </p:spTree>
    <p:extLst>
      <p:ext uri="{BB962C8B-B14F-4D97-AF65-F5344CB8AC3E}">
        <p14:creationId xmlns:p14="http://schemas.microsoft.com/office/powerpoint/2010/main" val="12819408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A5D9E-FE84-3288-967C-B4674F6ED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FC659-EEA1-7A50-1837-8485CB161B3B}"/>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graphicFrame>
        <p:nvGraphicFramePr>
          <p:cNvPr id="3" name="Table 2">
            <a:extLst>
              <a:ext uri="{FF2B5EF4-FFF2-40B4-BE49-F238E27FC236}">
                <a16:creationId xmlns:a16="http://schemas.microsoft.com/office/drawing/2014/main" id="{5FFFDB9A-D237-FC09-3422-82D95F485DCB}"/>
              </a:ext>
            </a:extLst>
          </p:cNvPr>
          <p:cNvGraphicFramePr>
            <a:graphicFrameLocks noGrp="1"/>
          </p:cNvGraphicFramePr>
          <p:nvPr>
            <p:extLst>
              <p:ext uri="{D42A27DB-BD31-4B8C-83A1-F6EECF244321}">
                <p14:modId xmlns:p14="http://schemas.microsoft.com/office/powerpoint/2010/main" val="1697695058"/>
              </p:ext>
            </p:extLst>
          </p:nvPr>
        </p:nvGraphicFramePr>
        <p:xfrm>
          <a:off x="838200" y="1954439"/>
          <a:ext cx="10515600" cy="420624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872930411"/>
                    </a:ext>
                  </a:extLst>
                </a:gridCol>
                <a:gridCol w="3505200">
                  <a:extLst>
                    <a:ext uri="{9D8B030D-6E8A-4147-A177-3AD203B41FA5}">
                      <a16:colId xmlns:a16="http://schemas.microsoft.com/office/drawing/2014/main" val="212121606"/>
                    </a:ext>
                  </a:extLst>
                </a:gridCol>
                <a:gridCol w="3505200">
                  <a:extLst>
                    <a:ext uri="{9D8B030D-6E8A-4147-A177-3AD203B41FA5}">
                      <a16:colId xmlns:a16="http://schemas.microsoft.com/office/drawing/2014/main" val="1288739406"/>
                    </a:ext>
                  </a:extLst>
                </a:gridCol>
              </a:tblGrid>
              <a:tr h="0">
                <a:tc>
                  <a:txBody>
                    <a:bodyPr/>
                    <a:lstStyle/>
                    <a:p>
                      <a:pPr>
                        <a:buNone/>
                      </a:pPr>
                      <a:r>
                        <a:rPr lang="en-US" sz="2800" dirty="0"/>
                        <a:t>Component</a:t>
                      </a:r>
                      <a:endParaRPr lang="en-US" sz="2800" dirty="0">
                        <a:latin typeface="Calibir"/>
                      </a:endParaRPr>
                    </a:p>
                  </a:txBody>
                  <a:tcPr anchor="ctr">
                    <a:solidFill>
                      <a:schemeClr val="accent5">
                        <a:lumMod val="20000"/>
                        <a:lumOff val="80000"/>
                      </a:schemeClr>
                    </a:solidFill>
                  </a:tcPr>
                </a:tc>
                <a:tc>
                  <a:txBody>
                    <a:bodyPr/>
                    <a:lstStyle/>
                    <a:p>
                      <a:pPr>
                        <a:buNone/>
                      </a:pPr>
                      <a:r>
                        <a:rPr lang="en-US" sz="2800" dirty="0"/>
                        <a:t>Version</a:t>
                      </a:r>
                      <a:endParaRPr lang="en-US" sz="2800" dirty="0">
                        <a:latin typeface="Calibir"/>
                      </a:endParaRPr>
                    </a:p>
                  </a:txBody>
                  <a:tcPr anchor="ctr">
                    <a:solidFill>
                      <a:schemeClr val="accent5">
                        <a:lumMod val="20000"/>
                        <a:lumOff val="80000"/>
                      </a:schemeClr>
                    </a:solidFill>
                  </a:tcPr>
                </a:tc>
                <a:tc>
                  <a:txBody>
                    <a:bodyPr/>
                    <a:lstStyle/>
                    <a:p>
                      <a:pPr>
                        <a:buNone/>
                      </a:pPr>
                      <a:r>
                        <a:rPr lang="en-US" sz="2800" dirty="0"/>
                        <a:t>Purpose</a:t>
                      </a:r>
                      <a:endParaRPr lang="en-US" sz="2800" dirty="0">
                        <a:latin typeface="Calibir"/>
                      </a:endParaRPr>
                    </a:p>
                  </a:txBody>
                  <a:tcPr anchor="ctr">
                    <a:solidFill>
                      <a:schemeClr val="accent5">
                        <a:lumMod val="20000"/>
                        <a:lumOff val="80000"/>
                      </a:schemeClr>
                    </a:solidFill>
                  </a:tcPr>
                </a:tc>
                <a:extLst>
                  <a:ext uri="{0D108BD9-81ED-4DB2-BD59-A6C34878D82A}">
                    <a16:rowId xmlns:a16="http://schemas.microsoft.com/office/drawing/2014/main" val="726955993"/>
                  </a:ext>
                </a:extLst>
              </a:tr>
              <a:tr h="0">
                <a:tc>
                  <a:txBody>
                    <a:bodyPr/>
                    <a:lstStyle/>
                    <a:p>
                      <a:pPr>
                        <a:buNone/>
                      </a:pPr>
                      <a:r>
                        <a:rPr lang="en-US" sz="2800" b="1" dirty="0"/>
                        <a:t>JDK 25</a:t>
                      </a:r>
                      <a:endParaRPr lang="en-US" sz="2800" dirty="0">
                        <a:latin typeface="Calibir"/>
                      </a:endParaRPr>
                    </a:p>
                  </a:txBody>
                  <a:tcPr anchor="ctr"/>
                </a:tc>
                <a:tc>
                  <a:txBody>
                    <a:bodyPr/>
                    <a:lstStyle/>
                    <a:p>
                      <a:pPr>
                        <a:buNone/>
                      </a:pPr>
                      <a:r>
                        <a:rPr lang="en-US" sz="2800"/>
                        <a:t>Latest GA Release</a:t>
                      </a:r>
                      <a:endParaRPr lang="en-US" sz="2800">
                        <a:latin typeface="Calibir"/>
                      </a:endParaRPr>
                    </a:p>
                  </a:txBody>
                  <a:tcPr anchor="ctr"/>
                </a:tc>
                <a:tc>
                  <a:txBody>
                    <a:bodyPr/>
                    <a:lstStyle/>
                    <a:p>
                      <a:pPr>
                        <a:buNone/>
                      </a:pPr>
                      <a:r>
                        <a:rPr lang="fr-FR" sz="2800"/>
                        <a:t>Runs &amp; compiles your Java code</a:t>
                      </a:r>
                      <a:endParaRPr lang="fr-FR" sz="2800">
                        <a:latin typeface="Calibir"/>
                      </a:endParaRPr>
                    </a:p>
                  </a:txBody>
                  <a:tcPr anchor="ctr"/>
                </a:tc>
                <a:extLst>
                  <a:ext uri="{0D108BD9-81ED-4DB2-BD59-A6C34878D82A}">
                    <a16:rowId xmlns:a16="http://schemas.microsoft.com/office/drawing/2014/main" val="2546172138"/>
                  </a:ext>
                </a:extLst>
              </a:tr>
              <a:tr h="0">
                <a:tc>
                  <a:txBody>
                    <a:bodyPr/>
                    <a:lstStyle/>
                    <a:p>
                      <a:pPr>
                        <a:buNone/>
                      </a:pPr>
                      <a:r>
                        <a:rPr lang="en-US" sz="2800" b="1"/>
                        <a:t>JavaFX 25 SDK</a:t>
                      </a:r>
                      <a:endParaRPr lang="en-US" sz="2800">
                        <a:latin typeface="Calibir"/>
                      </a:endParaRPr>
                    </a:p>
                  </a:txBody>
                  <a:tcPr anchor="ctr"/>
                </a:tc>
                <a:tc>
                  <a:txBody>
                    <a:bodyPr/>
                    <a:lstStyle/>
                    <a:p>
                      <a:pPr>
                        <a:buNone/>
                      </a:pPr>
                      <a:r>
                        <a:rPr lang="en-US" sz="2800"/>
                        <a:t>Same generation</a:t>
                      </a:r>
                      <a:endParaRPr lang="en-US" sz="2800">
                        <a:latin typeface="Calibir"/>
                      </a:endParaRPr>
                    </a:p>
                  </a:txBody>
                  <a:tcPr anchor="ctr"/>
                </a:tc>
                <a:tc>
                  <a:txBody>
                    <a:bodyPr/>
                    <a:lstStyle/>
                    <a:p>
                      <a:pPr>
                        <a:buNone/>
                      </a:pPr>
                      <a:r>
                        <a:rPr lang="en-US" sz="2800"/>
                        <a:t>Provides GUI features (Stage, Scene, Label, etc.)</a:t>
                      </a:r>
                      <a:endParaRPr lang="en-US" sz="2800">
                        <a:latin typeface="Calibir"/>
                      </a:endParaRPr>
                    </a:p>
                  </a:txBody>
                  <a:tcPr anchor="ctr"/>
                </a:tc>
                <a:extLst>
                  <a:ext uri="{0D108BD9-81ED-4DB2-BD59-A6C34878D82A}">
                    <a16:rowId xmlns:a16="http://schemas.microsoft.com/office/drawing/2014/main" val="2095794809"/>
                  </a:ext>
                </a:extLst>
              </a:tr>
              <a:tr h="0">
                <a:tc>
                  <a:txBody>
                    <a:bodyPr/>
                    <a:lstStyle/>
                    <a:p>
                      <a:pPr>
                        <a:buNone/>
                      </a:pPr>
                      <a:r>
                        <a:rPr lang="en-US" sz="2800" b="1" dirty="0"/>
                        <a:t>VS Code Extensions</a:t>
                      </a:r>
                      <a:endParaRPr lang="en-US" sz="2800" dirty="0">
                        <a:latin typeface="Calibir"/>
                      </a:endParaRPr>
                    </a:p>
                  </a:txBody>
                  <a:tcPr anchor="ctr"/>
                </a:tc>
                <a:tc>
                  <a:txBody>
                    <a:bodyPr/>
                    <a:lstStyle/>
                    <a:p>
                      <a:pPr>
                        <a:buNone/>
                      </a:pPr>
                      <a:r>
                        <a:rPr lang="en-US" sz="2800"/>
                        <a:t>Language Support + Extension Pack for Java</a:t>
                      </a:r>
                      <a:endParaRPr lang="en-US" sz="2800">
                        <a:latin typeface="Calibir"/>
                      </a:endParaRPr>
                    </a:p>
                  </a:txBody>
                  <a:tcPr anchor="ctr"/>
                </a:tc>
                <a:tc>
                  <a:txBody>
                    <a:bodyPr/>
                    <a:lstStyle/>
                    <a:p>
                      <a:pPr>
                        <a:buNone/>
                      </a:pPr>
                      <a:r>
                        <a:rPr lang="en-US" sz="2800" dirty="0"/>
                        <a:t>Allows you to build &amp; debug</a:t>
                      </a:r>
                      <a:endParaRPr lang="en-US" sz="2800" dirty="0">
                        <a:latin typeface="Calibir"/>
                      </a:endParaRPr>
                    </a:p>
                  </a:txBody>
                  <a:tcPr anchor="ctr"/>
                </a:tc>
                <a:extLst>
                  <a:ext uri="{0D108BD9-81ED-4DB2-BD59-A6C34878D82A}">
                    <a16:rowId xmlns:a16="http://schemas.microsoft.com/office/drawing/2014/main" val="2017184239"/>
                  </a:ext>
                </a:extLst>
              </a:tr>
            </a:tbl>
          </a:graphicData>
        </a:graphic>
      </p:graphicFrame>
      <p:sp>
        <p:nvSpPr>
          <p:cNvPr id="5" name="Rectangle 1">
            <a:extLst>
              <a:ext uri="{FF2B5EF4-FFF2-40B4-BE49-F238E27FC236}">
                <a16:creationId xmlns:a16="http://schemas.microsoft.com/office/drawing/2014/main" id="{77D4B918-B82B-5DA9-CC70-66F92968FA95}"/>
              </a:ext>
            </a:extLst>
          </p:cNvPr>
          <p:cNvSpPr>
            <a:spLocks noChangeArrowheads="1"/>
          </p:cNvSpPr>
          <p:nvPr/>
        </p:nvSpPr>
        <p:spPr bwMode="auto">
          <a:xfrm>
            <a:off x="34133" y="904709"/>
            <a:ext cx="160813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Summary</a:t>
            </a:r>
          </a:p>
        </p:txBody>
      </p:sp>
    </p:spTree>
    <p:extLst>
      <p:ext uri="{BB962C8B-B14F-4D97-AF65-F5344CB8AC3E}">
        <p14:creationId xmlns:p14="http://schemas.microsoft.com/office/powerpoint/2010/main" val="25198226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94684-C542-C7E4-F4D1-65697C2101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3DACE-2328-CB9A-7BCF-3E0B553FE7C6}"/>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Creating Your First JavaFX Window and Handling Common Errors</a:t>
            </a:r>
          </a:p>
        </p:txBody>
      </p:sp>
      <p:sp>
        <p:nvSpPr>
          <p:cNvPr id="5" name="Rectangle 1">
            <a:extLst>
              <a:ext uri="{FF2B5EF4-FFF2-40B4-BE49-F238E27FC236}">
                <a16:creationId xmlns:a16="http://schemas.microsoft.com/office/drawing/2014/main" id="{1B1EB63F-7E4C-6DEE-AE4B-C01719ADBF6E}"/>
              </a:ext>
            </a:extLst>
          </p:cNvPr>
          <p:cNvSpPr>
            <a:spLocks noChangeArrowheads="1"/>
          </p:cNvSpPr>
          <p:nvPr/>
        </p:nvSpPr>
        <p:spPr bwMode="auto">
          <a:xfrm>
            <a:off x="34133" y="904709"/>
            <a:ext cx="29361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Summary of Setup</a:t>
            </a:r>
          </a:p>
        </p:txBody>
      </p:sp>
      <p:graphicFrame>
        <p:nvGraphicFramePr>
          <p:cNvPr id="4" name="Table 3">
            <a:extLst>
              <a:ext uri="{FF2B5EF4-FFF2-40B4-BE49-F238E27FC236}">
                <a16:creationId xmlns:a16="http://schemas.microsoft.com/office/drawing/2014/main" id="{6F5C5E0E-141E-64D2-21C7-6337712DB123}"/>
              </a:ext>
            </a:extLst>
          </p:cNvPr>
          <p:cNvGraphicFramePr>
            <a:graphicFrameLocks noGrp="1"/>
          </p:cNvGraphicFramePr>
          <p:nvPr>
            <p:extLst>
              <p:ext uri="{D42A27DB-BD31-4B8C-83A1-F6EECF244321}">
                <p14:modId xmlns:p14="http://schemas.microsoft.com/office/powerpoint/2010/main" val="279592088"/>
              </p:ext>
            </p:extLst>
          </p:nvPr>
        </p:nvGraphicFramePr>
        <p:xfrm>
          <a:off x="838200" y="1706879"/>
          <a:ext cx="10515600" cy="515112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3785281103"/>
                    </a:ext>
                  </a:extLst>
                </a:gridCol>
                <a:gridCol w="3505200">
                  <a:extLst>
                    <a:ext uri="{9D8B030D-6E8A-4147-A177-3AD203B41FA5}">
                      <a16:colId xmlns:a16="http://schemas.microsoft.com/office/drawing/2014/main" val="120336617"/>
                    </a:ext>
                  </a:extLst>
                </a:gridCol>
                <a:gridCol w="3505200">
                  <a:extLst>
                    <a:ext uri="{9D8B030D-6E8A-4147-A177-3AD203B41FA5}">
                      <a16:colId xmlns:a16="http://schemas.microsoft.com/office/drawing/2014/main" val="1754493225"/>
                    </a:ext>
                  </a:extLst>
                </a:gridCol>
              </a:tblGrid>
              <a:tr h="0">
                <a:tc>
                  <a:txBody>
                    <a:bodyPr/>
                    <a:lstStyle/>
                    <a:p>
                      <a:pPr>
                        <a:buNone/>
                      </a:pPr>
                      <a:r>
                        <a:rPr lang="en-US" sz="2800" dirty="0">
                          <a:latin typeface="Calibir"/>
                        </a:rPr>
                        <a:t>Component</a:t>
                      </a:r>
                    </a:p>
                  </a:txBody>
                  <a:tcPr anchor="ctr">
                    <a:solidFill>
                      <a:schemeClr val="accent5">
                        <a:lumMod val="20000"/>
                        <a:lumOff val="80000"/>
                      </a:schemeClr>
                    </a:solidFill>
                  </a:tcPr>
                </a:tc>
                <a:tc>
                  <a:txBody>
                    <a:bodyPr/>
                    <a:lstStyle/>
                    <a:p>
                      <a:pPr>
                        <a:buNone/>
                      </a:pPr>
                      <a:r>
                        <a:rPr lang="en-US" sz="2800" dirty="0">
                          <a:latin typeface="Calibir"/>
                        </a:rPr>
                        <a:t>Path</a:t>
                      </a:r>
                    </a:p>
                  </a:txBody>
                  <a:tcPr anchor="ctr">
                    <a:solidFill>
                      <a:schemeClr val="accent5">
                        <a:lumMod val="20000"/>
                        <a:lumOff val="80000"/>
                      </a:schemeClr>
                    </a:solidFill>
                  </a:tcPr>
                </a:tc>
                <a:tc>
                  <a:txBody>
                    <a:bodyPr/>
                    <a:lstStyle/>
                    <a:p>
                      <a:pPr>
                        <a:buNone/>
                      </a:pPr>
                      <a:r>
                        <a:rPr lang="en-US" sz="2800" dirty="0">
                          <a:latin typeface="Calibir"/>
                        </a:rPr>
                        <a:t>Purpose</a:t>
                      </a:r>
                    </a:p>
                  </a:txBody>
                  <a:tcPr anchor="ctr">
                    <a:solidFill>
                      <a:schemeClr val="accent5">
                        <a:lumMod val="20000"/>
                        <a:lumOff val="80000"/>
                      </a:schemeClr>
                    </a:solidFill>
                  </a:tcPr>
                </a:tc>
                <a:extLst>
                  <a:ext uri="{0D108BD9-81ED-4DB2-BD59-A6C34878D82A}">
                    <a16:rowId xmlns:a16="http://schemas.microsoft.com/office/drawing/2014/main" val="1930461981"/>
                  </a:ext>
                </a:extLst>
              </a:tr>
              <a:tr h="0">
                <a:tc>
                  <a:txBody>
                    <a:bodyPr/>
                    <a:lstStyle/>
                    <a:p>
                      <a:pPr>
                        <a:buNone/>
                      </a:pPr>
                      <a:r>
                        <a:rPr lang="en-US" sz="2800">
                          <a:latin typeface="Calibir"/>
                        </a:rPr>
                        <a:t>JDK 25</a:t>
                      </a:r>
                    </a:p>
                  </a:txBody>
                  <a:tcPr anchor="ctr"/>
                </a:tc>
                <a:tc>
                  <a:txBody>
                    <a:bodyPr/>
                    <a:lstStyle/>
                    <a:p>
                      <a:pPr>
                        <a:buNone/>
                      </a:pPr>
                      <a:r>
                        <a:rPr lang="pt-BR" sz="2800">
                          <a:latin typeface="Calibir"/>
                        </a:rPr>
                        <a:t>C:\Program Files\Java\jdk-25</a:t>
                      </a:r>
                    </a:p>
                  </a:txBody>
                  <a:tcPr anchor="ctr"/>
                </a:tc>
                <a:tc>
                  <a:txBody>
                    <a:bodyPr/>
                    <a:lstStyle/>
                    <a:p>
                      <a:pPr>
                        <a:buNone/>
                      </a:pPr>
                      <a:r>
                        <a:rPr lang="en-US" sz="2800">
                          <a:latin typeface="Calibir"/>
                        </a:rPr>
                        <a:t>Compiles &amp; runs Java</a:t>
                      </a:r>
                    </a:p>
                  </a:txBody>
                  <a:tcPr anchor="ctr"/>
                </a:tc>
                <a:extLst>
                  <a:ext uri="{0D108BD9-81ED-4DB2-BD59-A6C34878D82A}">
                    <a16:rowId xmlns:a16="http://schemas.microsoft.com/office/drawing/2014/main" val="4143496398"/>
                  </a:ext>
                </a:extLst>
              </a:tr>
              <a:tr h="0">
                <a:tc>
                  <a:txBody>
                    <a:bodyPr/>
                    <a:lstStyle/>
                    <a:p>
                      <a:pPr>
                        <a:buNone/>
                      </a:pPr>
                      <a:r>
                        <a:rPr lang="en-US" sz="2800">
                          <a:latin typeface="Calibir"/>
                        </a:rPr>
                        <a:t>JavaFX SDK 25</a:t>
                      </a:r>
                    </a:p>
                  </a:txBody>
                  <a:tcPr anchor="ctr"/>
                </a:tc>
                <a:tc>
                  <a:txBody>
                    <a:bodyPr/>
                    <a:lstStyle/>
                    <a:p>
                      <a:pPr>
                        <a:buNone/>
                      </a:pPr>
                      <a:r>
                        <a:rPr lang="en-US" sz="2800">
                          <a:latin typeface="Calibir"/>
                        </a:rPr>
                        <a:t>C:\Program Files\Java\javafx-sdk-25</a:t>
                      </a:r>
                    </a:p>
                  </a:txBody>
                  <a:tcPr anchor="ctr"/>
                </a:tc>
                <a:tc>
                  <a:txBody>
                    <a:bodyPr/>
                    <a:lstStyle/>
                    <a:p>
                      <a:pPr>
                        <a:buNone/>
                      </a:pPr>
                      <a:r>
                        <a:rPr lang="en-US" sz="2800">
                          <a:latin typeface="Calibir"/>
                        </a:rPr>
                        <a:t>Provides GUI library jars</a:t>
                      </a:r>
                    </a:p>
                  </a:txBody>
                  <a:tcPr anchor="ctr"/>
                </a:tc>
                <a:extLst>
                  <a:ext uri="{0D108BD9-81ED-4DB2-BD59-A6C34878D82A}">
                    <a16:rowId xmlns:a16="http://schemas.microsoft.com/office/drawing/2014/main" val="2586954741"/>
                  </a:ext>
                </a:extLst>
              </a:tr>
              <a:tr h="0">
                <a:tc>
                  <a:txBody>
                    <a:bodyPr/>
                    <a:lstStyle/>
                    <a:p>
                      <a:pPr>
                        <a:buNone/>
                      </a:pPr>
                      <a:r>
                        <a:rPr lang="en-US" sz="2800">
                          <a:latin typeface="Calibir"/>
                        </a:rPr>
                        <a:t>Project Lib</a:t>
                      </a:r>
                    </a:p>
                  </a:txBody>
                  <a:tcPr anchor="ctr"/>
                </a:tc>
                <a:tc>
                  <a:txBody>
                    <a:bodyPr/>
                    <a:lstStyle/>
                    <a:p>
                      <a:pPr>
                        <a:buNone/>
                      </a:pPr>
                      <a:r>
                        <a:rPr lang="en-US" sz="2800">
                          <a:latin typeface="Calibir"/>
                        </a:rPr>
                        <a:t>E:\...\HelloFX\lib</a:t>
                      </a:r>
                    </a:p>
                  </a:txBody>
                  <a:tcPr anchor="ctr"/>
                </a:tc>
                <a:tc>
                  <a:txBody>
                    <a:bodyPr/>
                    <a:lstStyle/>
                    <a:p>
                      <a:pPr>
                        <a:buNone/>
                      </a:pPr>
                      <a:r>
                        <a:rPr lang="en-US" sz="2800">
                          <a:latin typeface="Calibir"/>
                        </a:rPr>
                        <a:t>Contains JavaFX jars for this project</a:t>
                      </a:r>
                    </a:p>
                  </a:txBody>
                  <a:tcPr anchor="ctr"/>
                </a:tc>
                <a:extLst>
                  <a:ext uri="{0D108BD9-81ED-4DB2-BD59-A6C34878D82A}">
                    <a16:rowId xmlns:a16="http://schemas.microsoft.com/office/drawing/2014/main" val="199633628"/>
                  </a:ext>
                </a:extLst>
              </a:tr>
              <a:tr h="0">
                <a:tc>
                  <a:txBody>
                    <a:bodyPr/>
                    <a:lstStyle/>
                    <a:p>
                      <a:pPr>
                        <a:buNone/>
                      </a:pPr>
                      <a:r>
                        <a:rPr lang="en-US" sz="2800">
                          <a:latin typeface="Calibir"/>
                        </a:rPr>
                        <a:t>launch.json</a:t>
                      </a:r>
                    </a:p>
                  </a:txBody>
                  <a:tcPr anchor="ctr"/>
                </a:tc>
                <a:tc>
                  <a:txBody>
                    <a:bodyPr/>
                    <a:lstStyle/>
                    <a:p>
                      <a:pPr>
                        <a:buNone/>
                      </a:pPr>
                      <a:r>
                        <a:rPr lang="en-US" sz="2800">
                          <a:latin typeface="Calibir"/>
                        </a:rPr>
                        <a:t>Points to ${workspaceFolder}/lib</a:t>
                      </a:r>
                    </a:p>
                  </a:txBody>
                  <a:tcPr anchor="ctr"/>
                </a:tc>
                <a:tc>
                  <a:txBody>
                    <a:bodyPr/>
                    <a:lstStyle/>
                    <a:p>
                      <a:pPr>
                        <a:buNone/>
                      </a:pPr>
                      <a:r>
                        <a:rPr lang="en-US" sz="2800" dirty="0">
                          <a:latin typeface="Calibir"/>
                        </a:rPr>
                        <a:t>Tells VS Code how to run the app</a:t>
                      </a:r>
                    </a:p>
                  </a:txBody>
                  <a:tcPr anchor="ctr"/>
                </a:tc>
                <a:extLst>
                  <a:ext uri="{0D108BD9-81ED-4DB2-BD59-A6C34878D82A}">
                    <a16:rowId xmlns:a16="http://schemas.microsoft.com/office/drawing/2014/main" val="2997039185"/>
                  </a:ext>
                </a:extLst>
              </a:tr>
            </a:tbl>
          </a:graphicData>
        </a:graphic>
      </p:graphicFrame>
    </p:spTree>
    <p:extLst>
      <p:ext uri="{BB962C8B-B14F-4D97-AF65-F5344CB8AC3E}">
        <p14:creationId xmlns:p14="http://schemas.microsoft.com/office/powerpoint/2010/main" val="42474043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74865-1DFA-130B-3250-240B311EA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2275F-5821-1C3C-37CB-AF4F099926A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11 (JavaFX)</a:t>
            </a:r>
          </a:p>
        </p:txBody>
      </p:sp>
      <p:sp>
        <p:nvSpPr>
          <p:cNvPr id="5" name="TextBox 4">
            <a:extLst>
              <a:ext uri="{FF2B5EF4-FFF2-40B4-BE49-F238E27FC236}">
                <a16:creationId xmlns:a16="http://schemas.microsoft.com/office/drawing/2014/main" id="{335210C4-0BDB-F1E7-1DE6-ABDBD283B752}"/>
              </a:ext>
            </a:extLst>
          </p:cNvPr>
          <p:cNvSpPr txBox="1"/>
          <p:nvPr/>
        </p:nvSpPr>
        <p:spPr>
          <a:xfrm>
            <a:off x="346587" y="1371966"/>
            <a:ext cx="11437374" cy="3260764"/>
          </a:xfrm>
          <a:prstGeom prst="rect">
            <a:avLst/>
          </a:prstGeom>
          <a:noFill/>
        </p:spPr>
        <p:txBody>
          <a:bodyPr wrap="square">
            <a:spAutoFit/>
          </a:bodyPr>
          <a:lstStyle/>
          <a:p>
            <a:pPr>
              <a:lnSpc>
                <a:spcPct val="150000"/>
              </a:lnSpc>
              <a:buNone/>
            </a:pPr>
            <a:r>
              <a:rPr lang="en-US" sz="2800" dirty="0">
                <a:latin typeface="Calibir"/>
              </a:rPr>
              <a:t>Which JavaFX control is used for single-line text input?</a:t>
            </a:r>
            <a:br>
              <a:rPr lang="en-US" sz="2800" dirty="0">
                <a:latin typeface="Calibir"/>
              </a:rPr>
            </a:br>
            <a:r>
              <a:rPr lang="en-US" sz="2800" dirty="0">
                <a:latin typeface="Calibir"/>
              </a:rPr>
              <a:t>A) Label</a:t>
            </a:r>
            <a:br>
              <a:rPr lang="en-US" sz="2800" dirty="0">
                <a:latin typeface="Calibir"/>
              </a:rPr>
            </a:br>
            <a:r>
              <a:rPr lang="en-US" sz="2800" dirty="0">
                <a:latin typeface="Calibir"/>
              </a:rPr>
              <a:t>B) </a:t>
            </a:r>
            <a:r>
              <a:rPr lang="en-US" sz="2800" dirty="0" err="1">
                <a:latin typeface="Calibir"/>
              </a:rPr>
              <a:t>TextField</a:t>
            </a:r>
            <a:br>
              <a:rPr lang="en-US" sz="2800" dirty="0">
                <a:latin typeface="Calibir"/>
              </a:rPr>
            </a:br>
            <a:r>
              <a:rPr lang="en-US" sz="2800" dirty="0">
                <a:latin typeface="Calibir"/>
              </a:rPr>
              <a:t>C) </a:t>
            </a:r>
            <a:r>
              <a:rPr lang="en-US" sz="2800" dirty="0" err="1">
                <a:latin typeface="Calibir"/>
              </a:rPr>
              <a:t>TextArea</a:t>
            </a:r>
            <a:br>
              <a:rPr lang="en-US" sz="2800" dirty="0">
                <a:latin typeface="Calibir"/>
              </a:rPr>
            </a:br>
            <a:r>
              <a:rPr lang="en-US" sz="2800" dirty="0">
                <a:latin typeface="Calibir"/>
              </a:rPr>
              <a:t>D) </a:t>
            </a:r>
            <a:r>
              <a:rPr lang="en-US" sz="2800" dirty="0" err="1">
                <a:latin typeface="Calibir"/>
              </a:rPr>
              <a:t>PasswordField</a:t>
            </a:r>
            <a:endParaRPr lang="en-US" sz="2800" dirty="0">
              <a:latin typeface="Calibir"/>
            </a:endParaRPr>
          </a:p>
        </p:txBody>
      </p:sp>
      <p:sp>
        <p:nvSpPr>
          <p:cNvPr id="8" name="TextBox 7">
            <a:extLst>
              <a:ext uri="{FF2B5EF4-FFF2-40B4-BE49-F238E27FC236}">
                <a16:creationId xmlns:a16="http://schemas.microsoft.com/office/drawing/2014/main" id="{F50A5BAE-078C-0774-31AC-F85A0ECEAC0E}"/>
              </a:ext>
            </a:extLst>
          </p:cNvPr>
          <p:cNvSpPr txBox="1"/>
          <p:nvPr/>
        </p:nvSpPr>
        <p:spPr>
          <a:xfrm>
            <a:off x="213852" y="4893488"/>
            <a:ext cx="11304638" cy="1318181"/>
          </a:xfrm>
          <a:prstGeom prst="rect">
            <a:avLst/>
          </a:prstGeom>
          <a:noFill/>
        </p:spPr>
        <p:txBody>
          <a:bodyPr wrap="square">
            <a:spAutoFit/>
          </a:bodyPr>
          <a:lstStyle/>
          <a:p>
            <a:pPr>
              <a:lnSpc>
                <a:spcPct val="150000"/>
              </a:lnSpc>
            </a:pPr>
            <a:r>
              <a:rPr lang="en-US" sz="2800" b="1" dirty="0">
                <a:latin typeface="Calibir"/>
              </a:rPr>
              <a:t>Answer: B - Reason:</a:t>
            </a:r>
            <a:r>
              <a:rPr lang="en-US" sz="2800" dirty="0">
                <a:latin typeface="Calibir"/>
              </a:rPr>
              <a:t> </a:t>
            </a:r>
            <a:r>
              <a:rPr lang="en-US" sz="2800" dirty="0" err="1">
                <a:latin typeface="Calibir"/>
              </a:rPr>
              <a:t>TextField</a:t>
            </a:r>
            <a:r>
              <a:rPr lang="en-US" sz="2800" dirty="0">
                <a:latin typeface="Calibir"/>
              </a:rPr>
              <a:t> accepts single-line input; </a:t>
            </a:r>
            <a:r>
              <a:rPr lang="en-US" sz="2800" dirty="0" err="1">
                <a:latin typeface="Calibir"/>
              </a:rPr>
              <a:t>TextArea</a:t>
            </a:r>
            <a:r>
              <a:rPr lang="en-US" sz="2800" dirty="0">
                <a:latin typeface="Calibir"/>
              </a:rPr>
              <a:t> allows multi-line.</a:t>
            </a:r>
          </a:p>
        </p:txBody>
      </p:sp>
      <p:sp>
        <p:nvSpPr>
          <p:cNvPr id="3" name="Rectangle: Rounded Corners 2">
            <a:extLst>
              <a:ext uri="{FF2B5EF4-FFF2-40B4-BE49-F238E27FC236}">
                <a16:creationId xmlns:a16="http://schemas.microsoft.com/office/drawing/2014/main" id="{457B2298-A153-C045-E15E-1454253FAFED}"/>
              </a:ext>
            </a:extLst>
          </p:cNvPr>
          <p:cNvSpPr/>
          <p:nvPr/>
        </p:nvSpPr>
        <p:spPr>
          <a:xfrm>
            <a:off x="178676" y="2806262"/>
            <a:ext cx="2963917" cy="6227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659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81AF0-DF00-FA35-F896-23412FFA53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B81183-57EE-C286-4465-86982557744F}"/>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11 (JavaFX)</a:t>
            </a:r>
          </a:p>
        </p:txBody>
      </p:sp>
      <p:sp>
        <p:nvSpPr>
          <p:cNvPr id="5" name="TextBox 4">
            <a:extLst>
              <a:ext uri="{FF2B5EF4-FFF2-40B4-BE49-F238E27FC236}">
                <a16:creationId xmlns:a16="http://schemas.microsoft.com/office/drawing/2014/main" id="{E7D68397-4F79-BE5E-639B-3FE3836D3359}"/>
              </a:ext>
            </a:extLst>
          </p:cNvPr>
          <p:cNvSpPr txBox="1"/>
          <p:nvPr/>
        </p:nvSpPr>
        <p:spPr>
          <a:xfrm>
            <a:off x="346587" y="1371966"/>
            <a:ext cx="11437374" cy="3260764"/>
          </a:xfrm>
          <a:prstGeom prst="rect">
            <a:avLst/>
          </a:prstGeom>
          <a:noFill/>
        </p:spPr>
        <p:txBody>
          <a:bodyPr wrap="square">
            <a:spAutoFit/>
          </a:bodyPr>
          <a:lstStyle/>
          <a:p>
            <a:pPr>
              <a:lnSpc>
                <a:spcPct val="150000"/>
              </a:lnSpc>
              <a:buNone/>
            </a:pPr>
            <a:r>
              <a:rPr lang="en-US" sz="2800" dirty="0">
                <a:latin typeface="Calibir"/>
              </a:rPr>
              <a:t>Which container arranges its child nodes vertically?</a:t>
            </a:r>
            <a:br>
              <a:rPr lang="en-US" sz="2800" dirty="0">
                <a:latin typeface="Calibir"/>
              </a:rPr>
            </a:br>
            <a:r>
              <a:rPr lang="en-US" sz="2800" dirty="0">
                <a:latin typeface="Calibir"/>
              </a:rPr>
              <a:t>A) </a:t>
            </a:r>
            <a:r>
              <a:rPr lang="en-US" sz="2800" dirty="0" err="1">
                <a:latin typeface="Calibir"/>
              </a:rPr>
              <a:t>HBox</a:t>
            </a:r>
            <a:br>
              <a:rPr lang="en-US" sz="2800" dirty="0">
                <a:latin typeface="Calibir"/>
              </a:rPr>
            </a:br>
            <a:r>
              <a:rPr lang="en-US" sz="2800" dirty="0">
                <a:latin typeface="Calibir"/>
              </a:rPr>
              <a:t>B) </a:t>
            </a:r>
            <a:r>
              <a:rPr lang="en-US" sz="2800" dirty="0" err="1">
                <a:latin typeface="Calibir"/>
              </a:rPr>
              <a:t>VBox</a:t>
            </a:r>
            <a:br>
              <a:rPr lang="en-US" sz="2800" dirty="0">
                <a:latin typeface="Calibir"/>
              </a:rPr>
            </a:br>
            <a:r>
              <a:rPr lang="en-US" sz="2800" dirty="0">
                <a:latin typeface="Calibir"/>
              </a:rPr>
              <a:t>C) </a:t>
            </a:r>
            <a:r>
              <a:rPr lang="en-US" sz="2800" dirty="0" err="1">
                <a:latin typeface="Calibir"/>
              </a:rPr>
              <a:t>BorderPane</a:t>
            </a:r>
            <a:br>
              <a:rPr lang="en-US" sz="2800" dirty="0">
                <a:latin typeface="Calibir"/>
              </a:rPr>
            </a:br>
            <a:r>
              <a:rPr lang="en-US" sz="2800" dirty="0">
                <a:latin typeface="Calibir"/>
              </a:rPr>
              <a:t>D) </a:t>
            </a:r>
            <a:r>
              <a:rPr lang="en-US" sz="2800" dirty="0" err="1">
                <a:latin typeface="Calibir"/>
              </a:rPr>
              <a:t>GridPane</a:t>
            </a:r>
            <a:endParaRPr lang="en-US" sz="2800" dirty="0">
              <a:latin typeface="Calibir"/>
            </a:endParaRPr>
          </a:p>
        </p:txBody>
      </p:sp>
      <p:sp>
        <p:nvSpPr>
          <p:cNvPr id="8" name="TextBox 7">
            <a:extLst>
              <a:ext uri="{FF2B5EF4-FFF2-40B4-BE49-F238E27FC236}">
                <a16:creationId xmlns:a16="http://schemas.microsoft.com/office/drawing/2014/main" id="{B8F58677-4D17-F2D9-46B4-D47E0BCEF34A}"/>
              </a:ext>
            </a:extLst>
          </p:cNvPr>
          <p:cNvSpPr txBox="1"/>
          <p:nvPr/>
        </p:nvSpPr>
        <p:spPr>
          <a:xfrm>
            <a:off x="213852" y="4893488"/>
            <a:ext cx="11304638" cy="1321772"/>
          </a:xfrm>
          <a:prstGeom prst="rect">
            <a:avLst/>
          </a:prstGeom>
          <a:noFill/>
        </p:spPr>
        <p:txBody>
          <a:bodyPr wrap="square">
            <a:spAutoFit/>
          </a:bodyPr>
          <a:lstStyle/>
          <a:p>
            <a:pPr>
              <a:lnSpc>
                <a:spcPct val="150000"/>
              </a:lnSpc>
            </a:pPr>
            <a:r>
              <a:rPr lang="en-US" sz="2800" b="1" dirty="0">
                <a:latin typeface="Calibir"/>
              </a:rPr>
              <a:t>Answer:</a:t>
            </a:r>
            <a:r>
              <a:rPr lang="en-US" sz="2800" dirty="0">
                <a:latin typeface="Calibir"/>
              </a:rPr>
              <a:t> B</a:t>
            </a:r>
            <a:br>
              <a:rPr lang="en-US" sz="2800" dirty="0">
                <a:latin typeface="Calibir"/>
              </a:rPr>
            </a:br>
            <a:r>
              <a:rPr lang="en-US" sz="2800" b="1" dirty="0">
                <a:latin typeface="Calibir"/>
              </a:rPr>
              <a:t>Reason:</a:t>
            </a:r>
            <a:r>
              <a:rPr lang="en-US" sz="2800" dirty="0">
                <a:latin typeface="Calibir"/>
              </a:rPr>
              <a:t> </a:t>
            </a:r>
            <a:r>
              <a:rPr lang="en-US" sz="2800" dirty="0" err="1">
                <a:latin typeface="Calibir"/>
              </a:rPr>
              <a:t>VBox</a:t>
            </a:r>
            <a:r>
              <a:rPr lang="en-US" sz="2800" dirty="0">
                <a:latin typeface="Calibir"/>
              </a:rPr>
              <a:t> stacks nodes one below another.</a:t>
            </a:r>
          </a:p>
        </p:txBody>
      </p:sp>
      <p:sp>
        <p:nvSpPr>
          <p:cNvPr id="3" name="Rectangle: Rounded Corners 2">
            <a:extLst>
              <a:ext uri="{FF2B5EF4-FFF2-40B4-BE49-F238E27FC236}">
                <a16:creationId xmlns:a16="http://schemas.microsoft.com/office/drawing/2014/main" id="{8D90281E-2BF9-0663-CFF1-F423A1D9C035}"/>
              </a:ext>
            </a:extLst>
          </p:cNvPr>
          <p:cNvSpPr/>
          <p:nvPr/>
        </p:nvSpPr>
        <p:spPr>
          <a:xfrm>
            <a:off x="178676" y="2806262"/>
            <a:ext cx="2963917" cy="6227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899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2E04-3F22-9529-2F04-4909CE4F0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B3DB5-D3ED-F607-D677-84FEAAA1A65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11 (JavaFX)</a:t>
            </a:r>
          </a:p>
        </p:txBody>
      </p:sp>
      <p:sp>
        <p:nvSpPr>
          <p:cNvPr id="5" name="TextBox 4">
            <a:extLst>
              <a:ext uri="{FF2B5EF4-FFF2-40B4-BE49-F238E27FC236}">
                <a16:creationId xmlns:a16="http://schemas.microsoft.com/office/drawing/2014/main" id="{55D57876-0C69-FD25-BCEC-EF1BB3DB5C1C}"/>
              </a:ext>
            </a:extLst>
          </p:cNvPr>
          <p:cNvSpPr txBox="1"/>
          <p:nvPr/>
        </p:nvSpPr>
        <p:spPr>
          <a:xfrm>
            <a:off x="346587" y="1371966"/>
            <a:ext cx="11437374" cy="3260764"/>
          </a:xfrm>
          <a:prstGeom prst="rect">
            <a:avLst/>
          </a:prstGeom>
          <a:noFill/>
        </p:spPr>
        <p:txBody>
          <a:bodyPr wrap="square">
            <a:spAutoFit/>
          </a:bodyPr>
          <a:lstStyle/>
          <a:p>
            <a:pPr>
              <a:lnSpc>
                <a:spcPct val="150000"/>
              </a:lnSpc>
              <a:buNone/>
            </a:pPr>
            <a:r>
              <a:rPr lang="en-US" sz="2800" dirty="0">
                <a:latin typeface="Calibir"/>
              </a:rPr>
              <a:t>Which method launches a JavaFX application?</a:t>
            </a:r>
            <a:br>
              <a:rPr lang="en-US" sz="2800" dirty="0">
                <a:latin typeface="Calibir"/>
              </a:rPr>
            </a:br>
            <a:r>
              <a:rPr lang="en-US" sz="2800" dirty="0">
                <a:latin typeface="Calibir"/>
              </a:rPr>
              <a:t>A) start()</a:t>
            </a:r>
            <a:br>
              <a:rPr lang="en-US" sz="2800" dirty="0">
                <a:latin typeface="Calibir"/>
              </a:rPr>
            </a:br>
            <a:r>
              <a:rPr lang="en-US" sz="2800" dirty="0">
                <a:latin typeface="Calibir"/>
              </a:rPr>
              <a:t>B) </a:t>
            </a:r>
            <a:r>
              <a:rPr lang="en-US" sz="2800" dirty="0" err="1">
                <a:latin typeface="Calibir"/>
              </a:rPr>
              <a:t>init</a:t>
            </a:r>
            <a:r>
              <a:rPr lang="en-US" sz="2800" dirty="0">
                <a:latin typeface="Calibir"/>
              </a:rPr>
              <a:t>()</a:t>
            </a:r>
            <a:br>
              <a:rPr lang="en-US" sz="2800" dirty="0">
                <a:latin typeface="Calibir"/>
              </a:rPr>
            </a:br>
            <a:r>
              <a:rPr lang="en-US" sz="2800" dirty="0">
                <a:latin typeface="Calibir"/>
              </a:rPr>
              <a:t>C) launch()</a:t>
            </a:r>
            <a:br>
              <a:rPr lang="en-US" sz="2800" dirty="0">
                <a:latin typeface="Calibir"/>
              </a:rPr>
            </a:br>
            <a:r>
              <a:rPr lang="en-US" sz="2800" dirty="0">
                <a:latin typeface="Calibir"/>
              </a:rPr>
              <a:t>D) run()</a:t>
            </a:r>
          </a:p>
        </p:txBody>
      </p:sp>
      <p:sp>
        <p:nvSpPr>
          <p:cNvPr id="8" name="TextBox 7">
            <a:extLst>
              <a:ext uri="{FF2B5EF4-FFF2-40B4-BE49-F238E27FC236}">
                <a16:creationId xmlns:a16="http://schemas.microsoft.com/office/drawing/2014/main" id="{37166091-5BF1-2FF5-333C-DAE5F45EFB5E}"/>
              </a:ext>
            </a:extLst>
          </p:cNvPr>
          <p:cNvSpPr txBox="1"/>
          <p:nvPr/>
        </p:nvSpPr>
        <p:spPr>
          <a:xfrm>
            <a:off x="213852" y="4893488"/>
            <a:ext cx="11304638" cy="1964512"/>
          </a:xfrm>
          <a:prstGeom prst="rect">
            <a:avLst/>
          </a:prstGeom>
          <a:noFill/>
        </p:spPr>
        <p:txBody>
          <a:bodyPr wrap="square">
            <a:spAutoFit/>
          </a:bodyPr>
          <a:lstStyle/>
          <a:p>
            <a:pPr>
              <a:lnSpc>
                <a:spcPct val="150000"/>
              </a:lnSpc>
            </a:pPr>
            <a:r>
              <a:rPr lang="en-US" sz="2800" b="1" dirty="0">
                <a:latin typeface="Calibir"/>
              </a:rPr>
              <a:t>Answer:</a:t>
            </a:r>
            <a:r>
              <a:rPr lang="en-US" sz="2800" dirty="0">
                <a:latin typeface="Calibir"/>
              </a:rPr>
              <a:t> C</a:t>
            </a:r>
            <a:br>
              <a:rPr lang="en-US" sz="2800" dirty="0">
                <a:latin typeface="Calibir"/>
              </a:rPr>
            </a:br>
            <a:r>
              <a:rPr lang="en-US" sz="2800" b="1" dirty="0">
                <a:latin typeface="Calibir"/>
              </a:rPr>
              <a:t>Reason:</a:t>
            </a:r>
            <a:r>
              <a:rPr lang="en-US" sz="2800" dirty="0">
                <a:latin typeface="Calibir"/>
              </a:rPr>
              <a:t> </a:t>
            </a:r>
            <a:r>
              <a:rPr lang="en-US" sz="2800" dirty="0" err="1">
                <a:latin typeface="Calibir"/>
              </a:rPr>
              <a:t>Application.launch</a:t>
            </a:r>
            <a:r>
              <a:rPr lang="en-US" sz="2800" dirty="0">
                <a:latin typeface="Calibir"/>
              </a:rPr>
              <a:t>(</a:t>
            </a:r>
            <a:r>
              <a:rPr lang="en-US" sz="2800" dirty="0" err="1">
                <a:latin typeface="Calibir"/>
              </a:rPr>
              <a:t>args</a:t>
            </a:r>
            <a:r>
              <a:rPr lang="en-US" sz="2800" dirty="0">
                <a:latin typeface="Calibir"/>
              </a:rPr>
              <a:t>) starts the JavaFX runtime and opens the first stage.</a:t>
            </a:r>
          </a:p>
        </p:txBody>
      </p:sp>
      <p:sp>
        <p:nvSpPr>
          <p:cNvPr id="3" name="Rectangle: Rounded Corners 2">
            <a:extLst>
              <a:ext uri="{FF2B5EF4-FFF2-40B4-BE49-F238E27FC236}">
                <a16:creationId xmlns:a16="http://schemas.microsoft.com/office/drawing/2014/main" id="{F3B90E7E-AA07-933A-E3CF-83118475EA3E}"/>
              </a:ext>
            </a:extLst>
          </p:cNvPr>
          <p:cNvSpPr/>
          <p:nvPr/>
        </p:nvSpPr>
        <p:spPr>
          <a:xfrm>
            <a:off x="213852" y="3342289"/>
            <a:ext cx="2963917" cy="6227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7224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C44C1-B27B-1544-6329-BB8864246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839CB-5D9D-F7A4-403F-68AC5677393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11 (JavaFX)</a:t>
            </a:r>
          </a:p>
        </p:txBody>
      </p:sp>
      <p:sp>
        <p:nvSpPr>
          <p:cNvPr id="5" name="TextBox 4">
            <a:extLst>
              <a:ext uri="{FF2B5EF4-FFF2-40B4-BE49-F238E27FC236}">
                <a16:creationId xmlns:a16="http://schemas.microsoft.com/office/drawing/2014/main" id="{C773C913-E69B-89A1-D95A-FEFC15F4DB57}"/>
              </a:ext>
            </a:extLst>
          </p:cNvPr>
          <p:cNvSpPr txBox="1"/>
          <p:nvPr/>
        </p:nvSpPr>
        <p:spPr>
          <a:xfrm>
            <a:off x="346587" y="1371966"/>
            <a:ext cx="11437374" cy="3257174"/>
          </a:xfrm>
          <a:prstGeom prst="rect">
            <a:avLst/>
          </a:prstGeom>
          <a:noFill/>
        </p:spPr>
        <p:txBody>
          <a:bodyPr wrap="square">
            <a:spAutoFit/>
          </a:bodyPr>
          <a:lstStyle/>
          <a:p>
            <a:pPr>
              <a:lnSpc>
                <a:spcPct val="150000"/>
              </a:lnSpc>
              <a:buNone/>
            </a:pPr>
            <a:r>
              <a:rPr lang="en-US" sz="2800" dirty="0">
                <a:latin typeface="Calibir"/>
              </a:rPr>
              <a:t>Which JavaFX control allows users to select </a:t>
            </a:r>
            <a:r>
              <a:rPr lang="en-US" sz="2800" b="1" dirty="0">
                <a:latin typeface="Calibir"/>
              </a:rPr>
              <a:t>one option</a:t>
            </a:r>
            <a:r>
              <a:rPr lang="en-US" sz="2800" dirty="0">
                <a:latin typeface="Calibir"/>
              </a:rPr>
              <a:t> from a list of choices?</a:t>
            </a:r>
            <a:br>
              <a:rPr lang="en-US" sz="2800" dirty="0">
                <a:latin typeface="Calibir"/>
              </a:rPr>
            </a:br>
            <a:r>
              <a:rPr lang="en-US" sz="2800" dirty="0">
                <a:latin typeface="Calibir"/>
              </a:rPr>
              <a:t>A) </a:t>
            </a:r>
            <a:r>
              <a:rPr lang="en-US" sz="2800" dirty="0" err="1">
                <a:latin typeface="Calibir"/>
              </a:rPr>
              <a:t>RadioButton</a:t>
            </a:r>
            <a:br>
              <a:rPr lang="en-US" sz="2800" dirty="0">
                <a:latin typeface="Calibir"/>
              </a:rPr>
            </a:br>
            <a:r>
              <a:rPr lang="en-US" sz="2800" dirty="0">
                <a:latin typeface="Calibir"/>
              </a:rPr>
              <a:t>B) </a:t>
            </a:r>
            <a:r>
              <a:rPr lang="en-US" sz="2800" dirty="0" err="1">
                <a:latin typeface="Calibir"/>
              </a:rPr>
              <a:t>CheckBox</a:t>
            </a:r>
            <a:br>
              <a:rPr lang="en-US" sz="2800" dirty="0">
                <a:latin typeface="Calibir"/>
              </a:rPr>
            </a:br>
            <a:r>
              <a:rPr lang="en-US" sz="2800" dirty="0">
                <a:latin typeface="Calibir"/>
              </a:rPr>
              <a:t>C) </a:t>
            </a:r>
            <a:r>
              <a:rPr lang="en-US" sz="2800" dirty="0" err="1">
                <a:latin typeface="Calibir"/>
              </a:rPr>
              <a:t>ListView</a:t>
            </a:r>
            <a:br>
              <a:rPr lang="en-US" sz="2800" dirty="0">
                <a:latin typeface="Calibir"/>
              </a:rPr>
            </a:br>
            <a:r>
              <a:rPr lang="en-US" sz="2800" dirty="0">
                <a:latin typeface="Calibir"/>
              </a:rPr>
              <a:t>D) Label</a:t>
            </a:r>
          </a:p>
        </p:txBody>
      </p:sp>
      <p:sp>
        <p:nvSpPr>
          <p:cNvPr id="8" name="TextBox 7">
            <a:extLst>
              <a:ext uri="{FF2B5EF4-FFF2-40B4-BE49-F238E27FC236}">
                <a16:creationId xmlns:a16="http://schemas.microsoft.com/office/drawing/2014/main" id="{1852ABC7-507C-B7EC-B728-77A8EB229FEB}"/>
              </a:ext>
            </a:extLst>
          </p:cNvPr>
          <p:cNvSpPr txBox="1"/>
          <p:nvPr/>
        </p:nvSpPr>
        <p:spPr>
          <a:xfrm>
            <a:off x="213852" y="4893488"/>
            <a:ext cx="11304638" cy="1968103"/>
          </a:xfrm>
          <a:prstGeom prst="rect">
            <a:avLst/>
          </a:prstGeom>
          <a:noFill/>
        </p:spPr>
        <p:txBody>
          <a:bodyPr wrap="square">
            <a:spAutoFit/>
          </a:bodyPr>
          <a:lstStyle/>
          <a:p>
            <a:pPr>
              <a:lnSpc>
                <a:spcPct val="150000"/>
              </a:lnSpc>
            </a:pPr>
            <a:r>
              <a:rPr lang="en-US" sz="2800" b="1" dirty="0">
                <a:latin typeface="Calibir"/>
              </a:rPr>
              <a:t>Answer:</a:t>
            </a:r>
            <a:r>
              <a:rPr lang="en-US" sz="2800" dirty="0">
                <a:latin typeface="Calibir"/>
              </a:rPr>
              <a:t> A</a:t>
            </a:r>
            <a:br>
              <a:rPr lang="en-US" sz="2800" dirty="0">
                <a:latin typeface="Calibir"/>
              </a:rPr>
            </a:br>
            <a:r>
              <a:rPr lang="en-US" sz="2800" b="1" dirty="0">
                <a:latin typeface="Calibir"/>
              </a:rPr>
              <a:t>Reason:</a:t>
            </a:r>
            <a:r>
              <a:rPr lang="en-US" sz="2800" dirty="0">
                <a:latin typeface="Calibir"/>
              </a:rPr>
              <a:t> </a:t>
            </a:r>
            <a:r>
              <a:rPr lang="en-US" sz="2800" dirty="0" err="1">
                <a:latin typeface="Calibir"/>
              </a:rPr>
              <a:t>RadioButton</a:t>
            </a:r>
            <a:r>
              <a:rPr lang="en-US" sz="2800" dirty="0">
                <a:latin typeface="Calibir"/>
              </a:rPr>
              <a:t> (often grouped in </a:t>
            </a:r>
            <a:r>
              <a:rPr lang="en-US" sz="2800" dirty="0" err="1">
                <a:latin typeface="Calibir"/>
              </a:rPr>
              <a:t>ToggleGroup</a:t>
            </a:r>
            <a:r>
              <a:rPr lang="en-US" sz="2800" dirty="0">
                <a:latin typeface="Calibir"/>
              </a:rPr>
              <a:t>) provides mutually exclusive selection.</a:t>
            </a:r>
          </a:p>
        </p:txBody>
      </p:sp>
      <p:sp>
        <p:nvSpPr>
          <p:cNvPr id="3" name="Rectangle: Rounded Corners 2">
            <a:extLst>
              <a:ext uri="{FF2B5EF4-FFF2-40B4-BE49-F238E27FC236}">
                <a16:creationId xmlns:a16="http://schemas.microsoft.com/office/drawing/2014/main" id="{BEE1CE16-9D27-42DC-4EA8-2340655DF14D}"/>
              </a:ext>
            </a:extLst>
          </p:cNvPr>
          <p:cNvSpPr/>
          <p:nvPr/>
        </p:nvSpPr>
        <p:spPr>
          <a:xfrm>
            <a:off x="213852" y="2202378"/>
            <a:ext cx="2963917" cy="6227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282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AFF2A-B964-A036-2871-E93D42F03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8922A-53BA-A62B-FA7A-6A39CDD8D0C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11 (JavaFX)</a:t>
            </a:r>
          </a:p>
        </p:txBody>
      </p:sp>
      <p:sp>
        <p:nvSpPr>
          <p:cNvPr id="5" name="TextBox 4">
            <a:extLst>
              <a:ext uri="{FF2B5EF4-FFF2-40B4-BE49-F238E27FC236}">
                <a16:creationId xmlns:a16="http://schemas.microsoft.com/office/drawing/2014/main" id="{3B1D6084-4359-D9BF-59B9-919A691761EE}"/>
              </a:ext>
            </a:extLst>
          </p:cNvPr>
          <p:cNvSpPr txBox="1"/>
          <p:nvPr/>
        </p:nvSpPr>
        <p:spPr>
          <a:xfrm>
            <a:off x="346587" y="1371966"/>
            <a:ext cx="11437374" cy="3257174"/>
          </a:xfrm>
          <a:prstGeom prst="rect">
            <a:avLst/>
          </a:prstGeom>
          <a:noFill/>
        </p:spPr>
        <p:txBody>
          <a:bodyPr wrap="square">
            <a:spAutoFit/>
          </a:bodyPr>
          <a:lstStyle/>
          <a:p>
            <a:pPr>
              <a:lnSpc>
                <a:spcPct val="150000"/>
              </a:lnSpc>
              <a:buNone/>
            </a:pPr>
            <a:r>
              <a:rPr lang="en-US" sz="2800" dirty="0">
                <a:latin typeface="Calibir"/>
              </a:rPr>
              <a:t>In an MVC JavaFX app, which component handles </a:t>
            </a:r>
            <a:r>
              <a:rPr lang="en-US" sz="2800" dirty="0" err="1">
                <a:latin typeface="Calibir"/>
              </a:rPr>
              <a:t>ActionEvent</a:t>
            </a:r>
            <a:r>
              <a:rPr lang="en-US" sz="2800" dirty="0">
                <a:latin typeface="Calibir"/>
              </a:rPr>
              <a:t> from a button?</a:t>
            </a:r>
            <a:br>
              <a:rPr lang="en-US" sz="2800" dirty="0">
                <a:latin typeface="Calibir"/>
              </a:rPr>
            </a:br>
            <a:r>
              <a:rPr lang="en-US" sz="2800" dirty="0">
                <a:latin typeface="Calibir"/>
              </a:rPr>
              <a:t>A) FXML file</a:t>
            </a:r>
            <a:br>
              <a:rPr lang="en-US" sz="2800" dirty="0">
                <a:latin typeface="Calibir"/>
              </a:rPr>
            </a:br>
            <a:r>
              <a:rPr lang="en-US" sz="2800" dirty="0">
                <a:latin typeface="Calibir"/>
              </a:rPr>
              <a:t>B) Controller class</a:t>
            </a:r>
            <a:br>
              <a:rPr lang="en-US" sz="2800" dirty="0">
                <a:latin typeface="Calibir"/>
              </a:rPr>
            </a:br>
            <a:r>
              <a:rPr lang="en-US" sz="2800" dirty="0">
                <a:latin typeface="Calibir"/>
              </a:rPr>
              <a:t>C) Stage</a:t>
            </a:r>
            <a:br>
              <a:rPr lang="en-US" sz="2800" dirty="0">
                <a:latin typeface="Calibir"/>
              </a:rPr>
            </a:br>
            <a:r>
              <a:rPr lang="en-US" sz="2800" dirty="0">
                <a:latin typeface="Calibir"/>
              </a:rPr>
              <a:t>D) Scene</a:t>
            </a:r>
          </a:p>
        </p:txBody>
      </p:sp>
      <p:sp>
        <p:nvSpPr>
          <p:cNvPr id="8" name="TextBox 7">
            <a:extLst>
              <a:ext uri="{FF2B5EF4-FFF2-40B4-BE49-F238E27FC236}">
                <a16:creationId xmlns:a16="http://schemas.microsoft.com/office/drawing/2014/main" id="{12EF6B2C-2C03-97D3-65EB-DE6CC04C05B2}"/>
              </a:ext>
            </a:extLst>
          </p:cNvPr>
          <p:cNvSpPr txBox="1"/>
          <p:nvPr/>
        </p:nvSpPr>
        <p:spPr>
          <a:xfrm>
            <a:off x="213852" y="4893488"/>
            <a:ext cx="11304638" cy="1321772"/>
          </a:xfrm>
          <a:prstGeom prst="rect">
            <a:avLst/>
          </a:prstGeom>
          <a:noFill/>
        </p:spPr>
        <p:txBody>
          <a:bodyPr wrap="square">
            <a:spAutoFit/>
          </a:bodyPr>
          <a:lstStyle/>
          <a:p>
            <a:pPr>
              <a:lnSpc>
                <a:spcPct val="150000"/>
              </a:lnSpc>
            </a:pPr>
            <a:r>
              <a:rPr lang="en-US" sz="2800" b="1" dirty="0">
                <a:latin typeface="Calibir"/>
              </a:rPr>
              <a:t>Answer:</a:t>
            </a:r>
            <a:r>
              <a:rPr lang="en-US" sz="2800" dirty="0">
                <a:latin typeface="Calibir"/>
              </a:rPr>
              <a:t> B</a:t>
            </a:r>
            <a:br>
              <a:rPr lang="en-US" sz="2800" dirty="0">
                <a:latin typeface="Calibir"/>
              </a:rPr>
            </a:br>
            <a:r>
              <a:rPr lang="en-US" sz="2800" b="1" dirty="0">
                <a:latin typeface="Calibir"/>
              </a:rPr>
              <a:t>Reason:</a:t>
            </a:r>
            <a:r>
              <a:rPr lang="en-US" sz="2800" dirty="0">
                <a:latin typeface="Calibir"/>
              </a:rPr>
              <a:t> The controller defines event-handling methods linked via </a:t>
            </a:r>
            <a:r>
              <a:rPr lang="en-US" sz="2800" dirty="0" err="1">
                <a:latin typeface="Calibir"/>
              </a:rPr>
              <a:t>onAction</a:t>
            </a:r>
            <a:r>
              <a:rPr lang="en-US" sz="2800" dirty="0">
                <a:latin typeface="Calibir"/>
              </a:rPr>
              <a:t>.</a:t>
            </a:r>
          </a:p>
        </p:txBody>
      </p:sp>
      <p:sp>
        <p:nvSpPr>
          <p:cNvPr id="3" name="Rectangle: Rounded Corners 2">
            <a:extLst>
              <a:ext uri="{FF2B5EF4-FFF2-40B4-BE49-F238E27FC236}">
                <a16:creationId xmlns:a16="http://schemas.microsoft.com/office/drawing/2014/main" id="{07717598-795F-3093-244B-D714B3F30379}"/>
              </a:ext>
            </a:extLst>
          </p:cNvPr>
          <p:cNvSpPr/>
          <p:nvPr/>
        </p:nvSpPr>
        <p:spPr>
          <a:xfrm>
            <a:off x="213852" y="2801468"/>
            <a:ext cx="2963917" cy="6227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350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4C6E9-18A2-1385-CCAC-89B6F6B09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BBFA15-6C5E-137A-2D95-451B5FAF15AF}"/>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11 (JavaFX)</a:t>
            </a:r>
          </a:p>
        </p:txBody>
      </p:sp>
      <p:sp>
        <p:nvSpPr>
          <p:cNvPr id="5" name="TextBox 4">
            <a:extLst>
              <a:ext uri="{FF2B5EF4-FFF2-40B4-BE49-F238E27FC236}">
                <a16:creationId xmlns:a16="http://schemas.microsoft.com/office/drawing/2014/main" id="{C592C80F-F913-7FF0-D5E3-E9A9CCC1210C}"/>
              </a:ext>
            </a:extLst>
          </p:cNvPr>
          <p:cNvSpPr txBox="1"/>
          <p:nvPr/>
        </p:nvSpPr>
        <p:spPr>
          <a:xfrm>
            <a:off x="346587" y="1371966"/>
            <a:ext cx="11437374" cy="3261855"/>
          </a:xfrm>
          <a:prstGeom prst="rect">
            <a:avLst/>
          </a:prstGeom>
          <a:noFill/>
        </p:spPr>
        <p:txBody>
          <a:bodyPr wrap="square">
            <a:spAutoFit/>
          </a:bodyPr>
          <a:lstStyle/>
          <a:p>
            <a:pPr>
              <a:lnSpc>
                <a:spcPct val="150000"/>
              </a:lnSpc>
              <a:buNone/>
            </a:pPr>
            <a:r>
              <a:rPr lang="en-US" sz="2800" dirty="0">
                <a:latin typeface="Calibir"/>
              </a:rPr>
              <a:t>Which FXML tag correctly defines a button label in the UI XML?</a:t>
            </a:r>
            <a:br>
              <a:rPr lang="en-US" sz="2800" dirty="0">
                <a:latin typeface="Calibir"/>
              </a:rPr>
            </a:br>
            <a:r>
              <a:rPr lang="en-US" sz="2800" dirty="0">
                <a:latin typeface="Calibir"/>
              </a:rPr>
              <a:t>A) &lt;Button </a:t>
            </a:r>
            <a:r>
              <a:rPr lang="en-US" sz="2800" dirty="0" err="1">
                <a:latin typeface="Calibir"/>
              </a:rPr>
              <a:t>fx:id</a:t>
            </a:r>
            <a:r>
              <a:rPr lang="en-US" sz="2800" dirty="0">
                <a:latin typeface="Calibir"/>
              </a:rPr>
              <a:t>="</a:t>
            </a:r>
            <a:r>
              <a:rPr lang="en-US" sz="2800" dirty="0" err="1">
                <a:latin typeface="Calibir"/>
              </a:rPr>
              <a:t>btn</a:t>
            </a:r>
            <a:r>
              <a:rPr lang="en-US" sz="2800" dirty="0">
                <a:latin typeface="Calibir"/>
              </a:rPr>
              <a:t>" text="Login"/&gt;</a:t>
            </a:r>
            <a:br>
              <a:rPr lang="en-US" sz="2800" dirty="0">
                <a:latin typeface="Calibir"/>
              </a:rPr>
            </a:br>
            <a:r>
              <a:rPr lang="en-US" sz="2800" dirty="0">
                <a:latin typeface="Calibir"/>
              </a:rPr>
              <a:t>B) &lt;Button id="</a:t>
            </a:r>
            <a:r>
              <a:rPr lang="en-US" sz="2800" dirty="0" err="1">
                <a:latin typeface="Calibir"/>
              </a:rPr>
              <a:t>btn</a:t>
            </a:r>
            <a:r>
              <a:rPr lang="en-US" sz="2800" dirty="0">
                <a:latin typeface="Calibir"/>
              </a:rPr>
              <a:t>" name="Login"/&gt;</a:t>
            </a:r>
            <a:br>
              <a:rPr lang="en-US" sz="2800" dirty="0">
                <a:latin typeface="Calibir"/>
              </a:rPr>
            </a:br>
            <a:r>
              <a:rPr lang="en-US" sz="2800" dirty="0">
                <a:latin typeface="Calibir"/>
              </a:rPr>
              <a:t>C) &lt;Button </a:t>
            </a:r>
            <a:r>
              <a:rPr lang="en-US" sz="2800" dirty="0" err="1">
                <a:latin typeface="Calibir"/>
              </a:rPr>
              <a:t>fx:id</a:t>
            </a:r>
            <a:r>
              <a:rPr lang="en-US" sz="2800" dirty="0">
                <a:latin typeface="Calibir"/>
              </a:rPr>
              <a:t>="</a:t>
            </a:r>
            <a:r>
              <a:rPr lang="en-US" sz="2800" dirty="0" err="1">
                <a:latin typeface="Calibir"/>
              </a:rPr>
              <a:t>btn</a:t>
            </a:r>
            <a:r>
              <a:rPr lang="en-US" sz="2800" dirty="0">
                <a:latin typeface="Calibir"/>
              </a:rPr>
              <a:t>"&gt;Login&lt;/Button&gt;</a:t>
            </a:r>
            <a:br>
              <a:rPr lang="en-US" sz="2800" dirty="0">
                <a:latin typeface="Calibir"/>
              </a:rPr>
            </a:br>
            <a:r>
              <a:rPr lang="en-US" sz="2800" dirty="0">
                <a:latin typeface="Calibir"/>
              </a:rPr>
              <a:t>D) &lt;Button label="Login"/&gt;</a:t>
            </a:r>
          </a:p>
        </p:txBody>
      </p:sp>
      <p:sp>
        <p:nvSpPr>
          <p:cNvPr id="8" name="TextBox 7">
            <a:extLst>
              <a:ext uri="{FF2B5EF4-FFF2-40B4-BE49-F238E27FC236}">
                <a16:creationId xmlns:a16="http://schemas.microsoft.com/office/drawing/2014/main" id="{5F39A405-CF56-FF85-D98F-D1D32FDBA1B4}"/>
              </a:ext>
            </a:extLst>
          </p:cNvPr>
          <p:cNvSpPr txBox="1"/>
          <p:nvPr/>
        </p:nvSpPr>
        <p:spPr>
          <a:xfrm>
            <a:off x="213852" y="4893488"/>
            <a:ext cx="11304638" cy="1968103"/>
          </a:xfrm>
          <a:prstGeom prst="rect">
            <a:avLst/>
          </a:prstGeom>
          <a:noFill/>
        </p:spPr>
        <p:txBody>
          <a:bodyPr wrap="square">
            <a:spAutoFit/>
          </a:bodyPr>
          <a:lstStyle/>
          <a:p>
            <a:pPr>
              <a:lnSpc>
                <a:spcPct val="150000"/>
              </a:lnSpc>
            </a:pPr>
            <a:r>
              <a:rPr lang="en-US" sz="2800" b="1" dirty="0">
                <a:latin typeface="Calibir"/>
              </a:rPr>
              <a:t>Answer:</a:t>
            </a:r>
            <a:r>
              <a:rPr lang="en-US" sz="2800" dirty="0">
                <a:latin typeface="Calibir"/>
              </a:rPr>
              <a:t> A</a:t>
            </a:r>
            <a:br>
              <a:rPr lang="en-US" sz="2800" dirty="0">
                <a:latin typeface="Calibir"/>
              </a:rPr>
            </a:br>
            <a:r>
              <a:rPr lang="en-US" sz="2800" b="1" dirty="0">
                <a:latin typeface="Calibir"/>
              </a:rPr>
              <a:t>Reason:</a:t>
            </a:r>
            <a:r>
              <a:rPr lang="en-US" sz="2800" dirty="0">
                <a:latin typeface="Calibir"/>
              </a:rPr>
              <a:t> </a:t>
            </a:r>
            <a:r>
              <a:rPr lang="en-US" sz="2800" dirty="0" err="1">
                <a:latin typeface="Calibir"/>
              </a:rPr>
              <a:t>fx:id</a:t>
            </a:r>
            <a:r>
              <a:rPr lang="en-US" sz="2800" dirty="0">
                <a:latin typeface="Calibir"/>
              </a:rPr>
              <a:t> links the button to the controller variable, and text defines the label text.</a:t>
            </a:r>
          </a:p>
        </p:txBody>
      </p:sp>
      <p:sp>
        <p:nvSpPr>
          <p:cNvPr id="3" name="Rectangle: Rounded Corners 2">
            <a:extLst>
              <a:ext uri="{FF2B5EF4-FFF2-40B4-BE49-F238E27FC236}">
                <a16:creationId xmlns:a16="http://schemas.microsoft.com/office/drawing/2014/main" id="{E30B2FB0-E2FC-3FB3-F1BD-FA9FA8A03DE3}"/>
              </a:ext>
            </a:extLst>
          </p:cNvPr>
          <p:cNvSpPr/>
          <p:nvPr/>
        </p:nvSpPr>
        <p:spPr>
          <a:xfrm>
            <a:off x="346587" y="2202378"/>
            <a:ext cx="5654820" cy="6227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5484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92372-1EAB-4FA9-3AC9-B8CB266AA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2AF30-3D61-32AD-C166-131DD07C68F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MQs designed in Week 11 (JavaFX)</a:t>
            </a:r>
          </a:p>
        </p:txBody>
      </p:sp>
      <p:sp>
        <p:nvSpPr>
          <p:cNvPr id="5" name="TextBox 4">
            <a:extLst>
              <a:ext uri="{FF2B5EF4-FFF2-40B4-BE49-F238E27FC236}">
                <a16:creationId xmlns:a16="http://schemas.microsoft.com/office/drawing/2014/main" id="{D7DEB079-8CB6-4B3F-AC87-E87038A081D6}"/>
              </a:ext>
            </a:extLst>
          </p:cNvPr>
          <p:cNvSpPr txBox="1"/>
          <p:nvPr/>
        </p:nvSpPr>
        <p:spPr>
          <a:xfrm>
            <a:off x="346587" y="1371966"/>
            <a:ext cx="11437374" cy="3261855"/>
          </a:xfrm>
          <a:prstGeom prst="rect">
            <a:avLst/>
          </a:prstGeom>
          <a:noFill/>
        </p:spPr>
        <p:txBody>
          <a:bodyPr wrap="square">
            <a:spAutoFit/>
          </a:bodyPr>
          <a:lstStyle/>
          <a:p>
            <a:pPr>
              <a:lnSpc>
                <a:spcPct val="150000"/>
              </a:lnSpc>
              <a:buNone/>
            </a:pPr>
            <a:r>
              <a:rPr lang="en-US" sz="2800" dirty="0">
                <a:latin typeface="Calibir"/>
              </a:rPr>
              <a:t>Which FXML tag correctly defines a button label in the UI XML?</a:t>
            </a:r>
            <a:br>
              <a:rPr lang="en-US" sz="2800" dirty="0">
                <a:latin typeface="Calibir"/>
              </a:rPr>
            </a:br>
            <a:r>
              <a:rPr lang="en-US" sz="2800" dirty="0">
                <a:latin typeface="Calibir"/>
              </a:rPr>
              <a:t>A) &lt;Button </a:t>
            </a:r>
            <a:r>
              <a:rPr lang="en-US" sz="2800" dirty="0" err="1">
                <a:latin typeface="Calibir"/>
              </a:rPr>
              <a:t>fx:id</a:t>
            </a:r>
            <a:r>
              <a:rPr lang="en-US" sz="2800" dirty="0">
                <a:latin typeface="Calibir"/>
              </a:rPr>
              <a:t>="</a:t>
            </a:r>
            <a:r>
              <a:rPr lang="en-US" sz="2800" dirty="0" err="1">
                <a:latin typeface="Calibir"/>
              </a:rPr>
              <a:t>btn</a:t>
            </a:r>
            <a:r>
              <a:rPr lang="en-US" sz="2800" dirty="0">
                <a:latin typeface="Calibir"/>
              </a:rPr>
              <a:t>" text="Login"/&gt;</a:t>
            </a:r>
            <a:br>
              <a:rPr lang="en-US" sz="2800" dirty="0">
                <a:latin typeface="Calibir"/>
              </a:rPr>
            </a:br>
            <a:r>
              <a:rPr lang="en-US" sz="2800" dirty="0">
                <a:latin typeface="Calibir"/>
              </a:rPr>
              <a:t>B) &lt;Button id="</a:t>
            </a:r>
            <a:r>
              <a:rPr lang="en-US" sz="2800" dirty="0" err="1">
                <a:latin typeface="Calibir"/>
              </a:rPr>
              <a:t>btn</a:t>
            </a:r>
            <a:r>
              <a:rPr lang="en-US" sz="2800" dirty="0">
                <a:latin typeface="Calibir"/>
              </a:rPr>
              <a:t>" name="Login"/&gt;</a:t>
            </a:r>
            <a:br>
              <a:rPr lang="en-US" sz="2800" dirty="0">
                <a:latin typeface="Calibir"/>
              </a:rPr>
            </a:br>
            <a:r>
              <a:rPr lang="en-US" sz="2800" dirty="0">
                <a:latin typeface="Calibir"/>
              </a:rPr>
              <a:t>C) &lt;Button </a:t>
            </a:r>
            <a:r>
              <a:rPr lang="en-US" sz="2800" dirty="0" err="1">
                <a:latin typeface="Calibir"/>
              </a:rPr>
              <a:t>fx:id</a:t>
            </a:r>
            <a:r>
              <a:rPr lang="en-US" sz="2800" dirty="0">
                <a:latin typeface="Calibir"/>
              </a:rPr>
              <a:t>="</a:t>
            </a:r>
            <a:r>
              <a:rPr lang="en-US" sz="2800" dirty="0" err="1">
                <a:latin typeface="Calibir"/>
              </a:rPr>
              <a:t>btn</a:t>
            </a:r>
            <a:r>
              <a:rPr lang="en-US" sz="2800" dirty="0">
                <a:latin typeface="Calibir"/>
              </a:rPr>
              <a:t>"&gt;Login&lt;/Button&gt;</a:t>
            </a:r>
            <a:br>
              <a:rPr lang="en-US" sz="2800" dirty="0">
                <a:latin typeface="Calibir"/>
              </a:rPr>
            </a:br>
            <a:r>
              <a:rPr lang="en-US" sz="2800" dirty="0">
                <a:latin typeface="Calibir"/>
              </a:rPr>
              <a:t>D) &lt;Button label="Login"/&gt;</a:t>
            </a:r>
          </a:p>
        </p:txBody>
      </p:sp>
      <p:sp>
        <p:nvSpPr>
          <p:cNvPr id="8" name="TextBox 7">
            <a:extLst>
              <a:ext uri="{FF2B5EF4-FFF2-40B4-BE49-F238E27FC236}">
                <a16:creationId xmlns:a16="http://schemas.microsoft.com/office/drawing/2014/main" id="{13A00BFC-E7C7-41C2-C448-1EB23F347887}"/>
              </a:ext>
            </a:extLst>
          </p:cNvPr>
          <p:cNvSpPr txBox="1"/>
          <p:nvPr/>
        </p:nvSpPr>
        <p:spPr>
          <a:xfrm>
            <a:off x="213852" y="4893488"/>
            <a:ext cx="11304638" cy="1968103"/>
          </a:xfrm>
          <a:prstGeom prst="rect">
            <a:avLst/>
          </a:prstGeom>
          <a:noFill/>
        </p:spPr>
        <p:txBody>
          <a:bodyPr wrap="square">
            <a:spAutoFit/>
          </a:bodyPr>
          <a:lstStyle/>
          <a:p>
            <a:pPr>
              <a:lnSpc>
                <a:spcPct val="150000"/>
              </a:lnSpc>
            </a:pPr>
            <a:r>
              <a:rPr lang="en-US" sz="2800" b="1" dirty="0">
                <a:latin typeface="Calibir"/>
              </a:rPr>
              <a:t>Answer:</a:t>
            </a:r>
            <a:r>
              <a:rPr lang="en-US" sz="2800" dirty="0">
                <a:latin typeface="Calibir"/>
              </a:rPr>
              <a:t> A</a:t>
            </a:r>
            <a:br>
              <a:rPr lang="en-US" sz="2800" dirty="0">
                <a:latin typeface="Calibir"/>
              </a:rPr>
            </a:br>
            <a:r>
              <a:rPr lang="en-US" sz="2800" b="1" dirty="0">
                <a:latin typeface="Calibir"/>
              </a:rPr>
              <a:t>Reason:</a:t>
            </a:r>
            <a:r>
              <a:rPr lang="en-US" sz="2800" dirty="0">
                <a:latin typeface="Calibir"/>
              </a:rPr>
              <a:t> </a:t>
            </a:r>
            <a:r>
              <a:rPr lang="en-US" sz="2800" dirty="0" err="1">
                <a:latin typeface="Calibir"/>
              </a:rPr>
              <a:t>fx:id</a:t>
            </a:r>
            <a:r>
              <a:rPr lang="en-US" sz="2800" dirty="0">
                <a:latin typeface="Calibir"/>
              </a:rPr>
              <a:t> links the button to the controller variable, and text defines the label text.</a:t>
            </a:r>
          </a:p>
        </p:txBody>
      </p:sp>
      <p:sp>
        <p:nvSpPr>
          <p:cNvPr id="3" name="Rectangle: Rounded Corners 2">
            <a:extLst>
              <a:ext uri="{FF2B5EF4-FFF2-40B4-BE49-F238E27FC236}">
                <a16:creationId xmlns:a16="http://schemas.microsoft.com/office/drawing/2014/main" id="{ED6A3D4F-2EA7-7CF9-BAAB-3F259A757E43}"/>
              </a:ext>
            </a:extLst>
          </p:cNvPr>
          <p:cNvSpPr/>
          <p:nvPr/>
        </p:nvSpPr>
        <p:spPr>
          <a:xfrm>
            <a:off x="346587" y="2202378"/>
            <a:ext cx="5654820" cy="62273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136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4194</TotalTime>
  <Words>4781</Words>
  <Application>Microsoft Office PowerPoint</Application>
  <PresentationFormat>Widescreen</PresentationFormat>
  <Paragraphs>457</Paragraphs>
  <Slides>98</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98</vt:i4>
      </vt:variant>
    </vt:vector>
  </HeadingPairs>
  <TitlesOfParts>
    <vt:vector size="107" baseType="lpstr">
      <vt:lpstr>Aptos</vt:lpstr>
      <vt:lpstr>Aptos Display</vt:lpstr>
      <vt:lpstr>Arial</vt:lpstr>
      <vt:lpstr>Calibir</vt:lpstr>
      <vt:lpstr>Calibri</vt:lpstr>
      <vt:lpstr>Calibri Light</vt:lpstr>
      <vt:lpstr>Consolas</vt:lpstr>
      <vt:lpstr>Office Theme</vt:lpstr>
      <vt:lpstr>1_Office Theme</vt:lpstr>
      <vt:lpstr>32555 – Fundamentals of Software Development</vt:lpstr>
      <vt:lpstr>Welcome to 32555 – Fundamentals of Software Development</vt:lpstr>
      <vt:lpstr>Welcome to 32555 – Fundamentals of Software Development</vt:lpstr>
      <vt:lpstr>Week 11 Outline</vt:lpstr>
      <vt:lpstr>Question and Answer about Presentation (Showcase Part)</vt:lpstr>
      <vt:lpstr>Question and Answer about Presentation (Showcase Part)</vt:lpstr>
      <vt:lpstr>Question and Answer about Presentation (Showcase Part)</vt:lpstr>
      <vt:lpstr>Question and Answer about Presentation (Showcase Part)</vt:lpstr>
      <vt:lpstr>Question and Answer about Presentation (Showcase Part)</vt:lpstr>
      <vt:lpstr>Question and Answer about Presentation (Showcase Part)</vt:lpstr>
      <vt:lpstr>Question and Answer about Presentation (Showcase Part)</vt:lpstr>
      <vt:lpstr>Question and Answer about Presentation (Showcase Part)</vt:lpstr>
      <vt:lpstr>Question and Answer about Presentation (Showcase Part)</vt:lpstr>
      <vt:lpstr>Introduction to JavaFX</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PowerPoint Presentation</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PowerPoint Presentation</vt:lpstr>
      <vt:lpstr>Creating Your First JavaFX Window and Handling Common Errors</vt:lpstr>
      <vt:lpstr>Creating Your First JavaFX Window and Handling Common Errors</vt:lpstr>
      <vt:lpstr>Creating Your First JavaFX Window and Handling Common Errors</vt:lpstr>
      <vt:lpstr>PowerPoint Presentation</vt:lpstr>
      <vt:lpstr>PowerPoint Presentation</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Creating Your First JavaFX Window and Handling Common Errors</vt:lpstr>
      <vt:lpstr>MQs designed in Week 11 (JavaFX)</vt:lpstr>
      <vt:lpstr>MQs designed in Week 11 (JavaFX)</vt:lpstr>
      <vt:lpstr>MQs designed in Week 11 (JavaFX)</vt:lpstr>
      <vt:lpstr>MQs designed in Week 11 (JavaFX)</vt:lpstr>
      <vt:lpstr>MQs designed in Week 11 (JavaFX)</vt:lpstr>
      <vt:lpstr>MQs designed in Week 11 (JavaFX)</vt:lpstr>
      <vt:lpstr>MQs designed in Week 11 (JavaFX)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1375</cp:revision>
  <dcterms:created xsi:type="dcterms:W3CDTF">2025-07-28T16:39:25Z</dcterms:created>
  <dcterms:modified xsi:type="dcterms:W3CDTF">2026-10-13T22:09:52Z</dcterms:modified>
</cp:coreProperties>
</file>