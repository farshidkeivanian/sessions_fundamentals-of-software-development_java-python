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10"/>
  </p:notesMasterIdLst>
  <p:sldIdLst>
    <p:sldId id="256" r:id="rId3"/>
    <p:sldId id="2467" r:id="rId4"/>
    <p:sldId id="3254" r:id="rId5"/>
    <p:sldId id="3299" r:id="rId6"/>
    <p:sldId id="3300" r:id="rId7"/>
    <p:sldId id="3301" r:id="rId8"/>
    <p:sldId id="749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0F2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0" d="100"/>
          <a:sy n="70" d="100"/>
        </p:scale>
        <p:origin x="253" y="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theme" Target="theme/theme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presProps" Target="presProps.xml"/><Relationship Id="rId5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14768A3-CE1D-4B38-9DB7-258A20660199}" type="datetimeFigureOut">
              <a:rPr lang="en-AU" smtClean="0"/>
              <a:t>28/10/2025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2ED24F3-C88E-4C15-8193-4E111B80EC5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4014191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67A289-FF3D-6221-0919-52B01AA8C7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594B72A-F72E-6F44-5F03-1418A0B231B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E6A39C-6018-18E9-5F8D-4A1EC20EB5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28/10/2025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120D52-2FFC-C9DF-2C1D-0D71439D00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806BD1-0781-7498-CBE7-882C85BCFF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959495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B06307-42D9-B52A-3FDF-879E60F0F6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3A6530-A555-4496-8091-721D1F8819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E4BAD6-101F-B851-1C08-7D894720DD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28/10/2025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7BE63D-2BAC-0771-6CDD-E58CA768C2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62B1F2-308D-04CF-0533-43636B4404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0211167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451970-B490-B69E-FCBD-212BA09108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EEDBB8-F6B9-F902-DDF8-399BEAD5FF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1A61F5-3BD9-1364-E269-EA50C8D5E5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28/10/2025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21C5DD-8DE3-E3A8-9502-3A87814DB8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97EB9C-AF45-B217-1DA1-31C1499BA9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9884477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4B327E-C2D8-2826-AC41-CBF55C1F5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81C1C5-C310-D6F8-E733-80DC724D8F6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6EB3D25-4FAE-3121-CD93-0C49A108AAD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2D4EAB2-5E1A-8619-3057-C3A1AB5D12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28/10/2025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B9F5A9-2584-E93E-6A0F-A4794EE1D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27E2D3-3374-99CB-1920-B67380A0E1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39729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B6ED3B-21CA-4495-94A5-BF0A071431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125D24-B245-8441-06C8-6FC24B1D70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10E5481-DAD5-42E9-A05C-FE17FB031DA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DEBF7B5-BC72-38B3-02F0-7BB1BC9D07F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2271FD1-022B-B62F-16CD-57BC6B42D6A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B1968B3-4251-2756-4B56-73ADD5061D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28/10/2025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37B1F6D-47C2-CAE3-A4E5-9BBEA27184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E390004-77A4-C994-6377-2D03957A94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7278435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2029FA-C545-B505-6C82-069457BDA1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EBCBFB8-D61F-8DA0-01D0-D4ABB1784B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28/10/2025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92936ED-D26E-6CDD-AE85-E69826C2BF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60F5E15-D044-ACA4-4FF1-4403C9CB1E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7308046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A00D06D-3A18-FF5D-39C8-EC1AC6D1C4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28/10/2025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F041F04-363D-EF82-F43A-1F85113374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F072FA-339B-371C-0059-8970DEB101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6805446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CB85B4-BB2F-E262-E02E-C1DC1BF008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F14E00-FACA-AA09-85E5-E01105E850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634EE9D-4DB5-87C6-C68D-3C076EA321B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C8988F-CF28-82C0-CDE6-5940AF6ADD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28/10/2025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8D6275B-7D78-C2DE-31FE-0C2CC24794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7BA9313-C86F-F87B-3741-AEE3F072D1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944482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015856-F0AB-56B5-BD98-57810EED58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87A74BD-4349-19E0-431D-8899C9B137A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9018E4-FE4E-963A-A372-8FF2993F1B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171D85-A2C7-2BA8-45B6-F761AF7901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28/10/2025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6B167D4-1A0A-BA70-330D-3FF1004FE0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572802A-72F4-775F-7C84-9B2F5770F4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61326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2CF791-333B-3959-5EB7-74857A0816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E30ACA7-4517-BC5B-569C-29CDA754F2E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472832-7FB6-BE62-8AC6-AC4630D929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28/10/2025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ED29DE-BC8E-969C-246D-FAB1068D1F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A5BE22-884E-FBF3-A25E-96D4186346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556977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9444B66-AC16-CCAB-AFE8-29D6415A761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31ACECC-B4A9-B0D4-C662-26E49071323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500766-BA84-C9DB-9E6F-3B62FB470E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28/10/2025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361B9B-7BB2-B7BE-929B-53D8853D77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3AB2A3-A938-DC24-C96A-DF2004F89A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4297360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153CF8-4CC4-7F3B-2E2C-B754C2E0B91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D47C4A4-F523-ACA9-5C84-1EB3B80F5B0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C56B62-F469-5355-6292-CF3055CB00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28/10/2025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B6D681-D058-06A0-CFA9-1ACBCF9DA9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491BDF-B5C2-115A-032D-5C46CBD97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931865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562C67-E368-7D38-83A4-DC56A3CE48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6983C6-8621-2FAD-A749-9E13A6E824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1A0925-44BC-4207-88BC-094591F655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28/10/2025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163BBE-E6DD-4BA0-5A98-015DA3DCEB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B556D0-7775-3B39-DE7E-B43E5937F2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876717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596912-D2E1-9F64-1372-FD29BECA18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B3F36E-92D4-F7A9-5611-D4EBA0BE88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BA57A2-4AEF-2382-EDA9-9845CA39B6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28/10/2025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F37D0E-8F76-6E7D-576B-3044ADA89E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82D88E-0EE8-C9D0-7C68-6610F7CEA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1695941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2A8EEF-DD28-69EB-29C5-D19A23E2AE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C7F8B3-1006-F7DE-14E9-62BEEF0BC35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079AB7C-879B-50DC-E53A-4393B966D1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50D7845-F396-BCEB-3205-F5CB38CB25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28/10/2025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BDFD3CE-E9A4-DBF3-1F0E-201F7D7F8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F8F1D0-0AD2-C539-20D2-851B13FB1D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20472494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F249C5-0226-85F6-8D4F-D4EA9199BD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F293AD-8E77-DFCC-2C3E-8937176F9D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44B92EC-30B6-5005-98C8-910D96DBBD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1EC2EA1-CEE9-87F1-74CA-7EA588BF2B9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A4F0A23-C285-3B5E-0EF8-4DF4263F034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2763897-C5FE-C3C3-0CDA-105871814A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28/10/2025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76D7EC9-F5EC-C2D4-DFE1-05F4CA0D1B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CEC484-2B60-830F-28B9-0BF2FCAECA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2065849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1555B2-54AC-E8D5-3367-D1C2415C82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CE7327B-BCFB-7F1B-0D11-15CDAFA5E9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28/10/2025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ACEA2D0-8DDC-C686-66FD-4DE83C5492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480BFAB-E28F-508B-19B8-6522D8ACFA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4496216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F769272-1C68-4E9F-DF2B-EFBD432E16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28/10/2025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F2DC98D-0E86-D36E-F380-6954CD1E0B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A1A426-B4F3-BBC6-83AE-7CC2B62FB7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89366784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0050BF-D428-3081-57B1-8789F77356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65AD68-6E43-EC2D-C33D-9C8C408CC5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07F6F4-D743-9E3B-ECD3-FC039ED7A9D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B4F5F1-6B2A-22C2-ECEA-5177C220AD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28/10/2025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90F1728-E389-E41B-E406-1E97CFE6A5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0B1710-9C83-7478-4B35-7F8EEFEF00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6909495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A26ED2-C254-312D-15C0-846C33DE56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5BD8503-8FCB-7F53-63D6-495FC6DA09E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35F4EB0-E8B0-EA92-3CF8-6A5D1F5C74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B7D7A35-CE5F-ECE8-2441-58A2C92021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28/10/2025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D0283E-7CC6-0CCE-C2FC-702F78F906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E77FBD-6EC1-3B80-4A79-3B5A0E2E3B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6282327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DE148A-761D-E27D-E888-B7E27FD8A1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5B74B11-2215-EBF3-BEA3-EF320EE386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67CD92-D758-240E-A2D2-4E195BC7FD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28/10/2025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DB3A7E-35BE-57C3-5A4F-F3FB5F4DA7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917621-F8C1-F075-FE92-FD0DDB6198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1698396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BAFC27C-709B-17D0-FA2E-D84DCAB7FAB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19340E5-47C9-4263-1E76-9BE55624B2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9996FD-B031-5E26-AF28-582721D53E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28/10/2025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19D959-5F65-A253-A7EB-99402547BC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8B7ADB-FEDC-6841-0342-4A29EDFCF4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278607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1CC3005-B647-9E32-CC60-5191277030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E7C51E-6DC2-39F3-9212-D582E0A9B5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0B9BBC-D295-7A76-2B27-6B12AD3F6F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BB67406-7D6A-427B-AE15-EA86D49A46C9}" type="datetimeFigureOut">
              <a:rPr lang="en-AU" smtClean="0"/>
              <a:t>28/10/2025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8185DA-FDEE-FA5B-E9B0-C02631270CF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1860BB-9B5C-C732-6BD6-2C0DFC8EE63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3469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DDAB3A-0A22-D024-CB1E-FB00658BEB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0D3B34-6582-BD11-4D42-366502C704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D8C151-0A35-D9DB-7435-13417BC8F31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FAA40DC-3820-4F90-B4E8-98BE2140A65D}" type="datetimeFigureOut">
              <a:rPr lang="en-AU" smtClean="0"/>
              <a:t>28/10/2025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2A9709-41CF-642F-7858-53BE89DAE63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52F23B-D3DD-D490-A64F-7E733F664E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6415423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teams.microsoft.com/l/meetup-join/19%3ameeting_YjkwYzFkYWUtZGU4OS00Y2FiLTkyNDEtZmQ3NjczMjBjOWVk%40thread.v2/0?context=%7b%22Tid%22%3a%22e8911c26-cf9f-4a9c-878e-527807be8791%22%2c%22Oid%22%3a%229506d58e-77d8-417d-a0ac-cbcbd8f071a2%22%7d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teams.microsoft.com/l/meetup-join/19%3ameeting_ODRlOTRmNjItNjlhYi00M2JlLTgxNWEtNzlkMjE4N2U4NTc3%40thread.v2/0?context=%7b%22Tid%22%3a%22e8911c26-cf9f-4a9c-878e-527807be8791%22%2c%22Oid%22%3a%229506d58e-77d8-417d-a0ac-cbcbd8f071a2%22%7d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teams.microsoft.com/l/meetup-join/19%3ameeting_YWYwNWU5MjgtYzNhZS00NmJiLTljZWUtMGU5YmZmNmYwMDE4%40thread.v2/0?context=%7b%22Tid%22%3a%22e8911c26-cf9f-4a9c-878e-527807be8791%22%2c%22Oid%22%3a%229506d58e-77d8-417d-a0ac-cbcbd8f071a2%22%7d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teams.microsoft.com/l/meetup-join/19%3ameeting_NzA2YTNhYWEtNDkxYy00ODg3LTg5ZjYtNTQ2NTU2YmRiNTNi%40thread.v2/0?context=%7b%22Tid%22%3a%22e8911c26-cf9f-4a9c-878e-527807be8791%22%2c%22Oid%22%3a%229506d58e-77d8-417d-a0ac-cbcbd8f071a2%22%7d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inkedin.com/in/farshid-keivanian" TargetMode="External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github.com/FarshidKeivanian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AF876F03-8BAA-72AB-E62A-1CEA6868C9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63992" y="1407171"/>
            <a:ext cx="8737863" cy="3105506"/>
          </a:xfrm>
        </p:spPr>
        <p:txBody>
          <a:bodyPr anchor="b">
            <a:noAutofit/>
          </a:bodyPr>
          <a:lstStyle/>
          <a:p>
            <a:pPr algn="l">
              <a:lnSpc>
                <a:spcPct val="150000"/>
              </a:lnSpc>
            </a:pPr>
            <a:r>
              <a:rPr lang="en-US" sz="4800" dirty="0">
                <a:latin typeface="Calibir"/>
              </a:rPr>
              <a:t>Introduction to Software Engineering (ISE102)</a:t>
            </a:r>
            <a:br>
              <a:rPr lang="en-US" sz="4800" dirty="0">
                <a:latin typeface="Calibir"/>
              </a:rPr>
            </a:br>
            <a:r>
              <a:rPr lang="en-US" sz="4800" dirty="0">
                <a:latin typeface="Calibir"/>
              </a:rPr>
              <a:t>Showcase Presentation</a:t>
            </a:r>
            <a:endParaRPr lang="en-AU" sz="4800" dirty="0">
              <a:latin typeface="Calibir"/>
            </a:endParaRPr>
          </a:p>
        </p:txBody>
      </p:sp>
      <p:pic>
        <p:nvPicPr>
          <p:cNvPr id="6" name="Picture 5" descr="A person wearing glasses and a blue shirt&#10;&#10;AI-generated content may be incorrect.">
            <a:extLst>
              <a:ext uri="{FF2B5EF4-FFF2-40B4-BE49-F238E27FC236}">
                <a16:creationId xmlns:a16="http://schemas.microsoft.com/office/drawing/2014/main" id="{6073E74C-6F0F-4134-F922-9D911600FF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390145" y="1199407"/>
            <a:ext cx="2673847" cy="35210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99402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1DA366-6BE2-EF72-FFA9-3FC1C60CAE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5B7095-A95E-A4AA-C9AB-75AB5D7B31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672661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Showcase Presentation</a:t>
            </a:r>
            <a:endParaRPr lang="en-AU" sz="4000" b="1" dirty="0">
              <a:latin typeface="Calibi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F27E07D-3152-877C-5DB6-99289A67CE5B}"/>
              </a:ext>
            </a:extLst>
          </p:cNvPr>
          <p:cNvSpPr txBox="1"/>
          <p:nvPr/>
        </p:nvSpPr>
        <p:spPr>
          <a:xfrm>
            <a:off x="-1" y="1387367"/>
            <a:ext cx="12191999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Link to join online presentation 28</a:t>
            </a:r>
            <a:r>
              <a:rPr lang="en-US" sz="2800" kern="100" baseline="300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th</a:t>
            </a:r>
            <a:r>
              <a:rPr lang="en-US" sz="28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 Oct 6:15 PM – 8:15 PM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Link to join online presentation 31</a:t>
            </a:r>
            <a:r>
              <a:rPr lang="en-US" sz="2800" kern="100" baseline="300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st</a:t>
            </a:r>
            <a:r>
              <a:rPr lang="en-US" sz="28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 Oct 12 PM -  2PM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Face-to-Face presentation 4</a:t>
            </a:r>
            <a:r>
              <a:rPr lang="en-US" sz="2800" kern="100" baseline="300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th</a:t>
            </a:r>
            <a:r>
              <a:rPr lang="en-US" sz="28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 Nov 4 PM – 6 PM with a link to join online if needed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Face-to-Face presentation 7</a:t>
            </a:r>
            <a:r>
              <a:rPr lang="en-US" sz="2800" kern="100" baseline="300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th</a:t>
            </a:r>
            <a:r>
              <a:rPr lang="en-US" sz="28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 Nov 12 PM – 2PM with a link to join online if needed</a:t>
            </a:r>
          </a:p>
        </p:txBody>
      </p:sp>
    </p:spTree>
    <p:extLst>
      <p:ext uri="{BB962C8B-B14F-4D97-AF65-F5344CB8AC3E}">
        <p14:creationId xmlns:p14="http://schemas.microsoft.com/office/powerpoint/2010/main" val="30009103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A5BDA7-0D0C-161A-B5A9-7678BB08E3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8E84EE-1F2D-82A4-1346-637499CD8B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Link to join online presentation 28th Oct 6:15 PM – 8:15 PM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3CC2F80-31AB-4993-813F-7BD5A913667E}"/>
              </a:ext>
            </a:extLst>
          </p:cNvPr>
          <p:cNvSpPr txBox="1"/>
          <p:nvPr/>
        </p:nvSpPr>
        <p:spPr>
          <a:xfrm>
            <a:off x="110359" y="756745"/>
            <a:ext cx="11971282" cy="6718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lnSpc>
                <a:spcPct val="150000"/>
              </a:lnSpc>
            </a:pPr>
            <a:r>
              <a:rPr lang="en-US" sz="2800" dirty="0">
                <a:latin typeface="Calibir"/>
              </a:rPr>
              <a:t>Here is the link for Tuesday 28</a:t>
            </a:r>
            <a:r>
              <a:rPr lang="en-US" sz="2800" baseline="30000" dirty="0">
                <a:latin typeface="Calibir"/>
              </a:rPr>
              <a:t>th</a:t>
            </a:r>
            <a:r>
              <a:rPr lang="en-US" sz="2800" dirty="0">
                <a:latin typeface="Calibir"/>
              </a:rPr>
              <a:t> Oct 6:15 PM – 8:15 PM</a:t>
            </a:r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CE1D07C6-401D-E9EE-C23D-E9811D2DA1DD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730119"/>
            <a:ext cx="12192000" cy="9541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accent4"/>
                </a:solidFill>
                <a:effectLst/>
                <a:latin typeface="Calibir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Online Presentation FSD Tuesday 28th Oct (6:15 PM - 8:15 PM) | Meeting-Join | Microsoft Teams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accent4"/>
              </a:solidFill>
              <a:effectLst/>
              <a:latin typeface="Calibir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B96E1D0-1263-2A51-9DDF-AF614B2E4C12}"/>
              </a:ext>
            </a:extLst>
          </p:cNvPr>
          <p:cNvSpPr txBox="1"/>
          <p:nvPr/>
        </p:nvSpPr>
        <p:spPr>
          <a:xfrm>
            <a:off x="0" y="2831670"/>
            <a:ext cx="6190592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https://teams.microsoft.com/l/meetup-join/19%3ameeting_YjkwYzFkYWUtZGU4OS00Y2FiLTkyNDEtZmQ3NjczMjBjOWVk%40thread.v2/0?context=%7b%22Tid%22%3a%22e8911c26-cf9f-4a9c-878e-527807be8791%22%2c%22Oid%22%3a%229506d58e-77d8-417d-a0ac-cbcbd8f071a2%22%7d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1441467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413C61-1003-949B-92E5-9E5A2707A8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957669-FAB4-C292-A5F6-4EC9EE4ECC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Link to join online presentation 31st Oct 12 PM -  2PM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67D750C-ECCC-4D74-6534-47B205BB4C60}"/>
              </a:ext>
            </a:extLst>
          </p:cNvPr>
          <p:cNvSpPr txBox="1"/>
          <p:nvPr/>
        </p:nvSpPr>
        <p:spPr>
          <a:xfrm>
            <a:off x="110359" y="756745"/>
            <a:ext cx="11971282" cy="6718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lnSpc>
                <a:spcPct val="150000"/>
              </a:lnSpc>
            </a:pPr>
            <a:r>
              <a:rPr lang="en-US" sz="2800" dirty="0">
                <a:latin typeface="Calibir"/>
              </a:rPr>
              <a:t>Here is the link for Friday 31st Oct 12 PM – 2 PM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9F0A179-D924-0040-5EE8-6BD867C7C3AD}"/>
              </a:ext>
            </a:extLst>
          </p:cNvPr>
          <p:cNvSpPr txBox="1"/>
          <p:nvPr/>
        </p:nvSpPr>
        <p:spPr>
          <a:xfrm>
            <a:off x="0" y="2831670"/>
            <a:ext cx="6190592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https://teams.microsoft.com/l/meetup-join/19%3ameeting_ODRlOTRmNjItNjlhYi00M2JlLTgxNWEtNzlkMjE4N2U4NTc3%40thread.v2/0?context=%7b%22Tid%22%3a%22e8911c26-cf9f-4a9c-878e-527807be8791%22%2c%22Oid%22%3a%229506d58e-77d8-417d-a0ac-cbcbd8f071a2%22%7d</a:t>
            </a:r>
            <a:r>
              <a:rPr lang="en-US" dirty="0"/>
              <a:t> 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04B3752A-3F83-76B6-CBE1-8D428DCB92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653079"/>
            <a:ext cx="12192000" cy="9541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accent4"/>
                </a:solidFill>
                <a:effectLst/>
                <a:latin typeface="Calibir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Online Presentation FSD Friday 31st Oct (12 PM - 2 PM) | Meeting-Join | Microsoft Teams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accent4"/>
              </a:solidFill>
              <a:effectLst/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28023937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6AE607-FBB1-028F-F81B-85348233FD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6B02DA-37CF-E90B-358F-5CB97DD2F0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40523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Face-to-Face presentation 4th Nov 4 PM – 6 PM with a link to join online if needed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B2DAB80-8CC0-FCFC-B2CC-45DEA714DAB2}"/>
              </a:ext>
            </a:extLst>
          </p:cNvPr>
          <p:cNvSpPr txBox="1"/>
          <p:nvPr/>
        </p:nvSpPr>
        <p:spPr>
          <a:xfrm>
            <a:off x="0" y="1265008"/>
            <a:ext cx="11971282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lnSpc>
                <a:spcPct val="150000"/>
              </a:lnSpc>
            </a:pPr>
            <a:r>
              <a:rPr lang="en-US" sz="2800" dirty="0">
                <a:latin typeface="Calibir"/>
              </a:rPr>
              <a:t>Tuesday 4</a:t>
            </a:r>
            <a:r>
              <a:rPr lang="en-US" sz="2800" baseline="30000" dirty="0">
                <a:latin typeface="Calibir"/>
              </a:rPr>
              <a:t>th</a:t>
            </a:r>
            <a:r>
              <a:rPr lang="en-US" sz="2800" dirty="0">
                <a:latin typeface="Calibir"/>
              </a:rPr>
              <a:t> Nov 4 – 6 PM is </a:t>
            </a:r>
            <a:r>
              <a:rPr lang="en-US" sz="2800">
                <a:latin typeface="Calibir"/>
              </a:rPr>
              <a:t>face-to-face presentation at CB11.B1.403. </a:t>
            </a:r>
            <a:r>
              <a:rPr lang="en-US" sz="2800" dirty="0">
                <a:latin typeface="Calibir"/>
              </a:rPr>
              <a:t>However, if needed here is the link to join online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635FAB5-8C22-E3F8-A369-09E4932B61AC}"/>
              </a:ext>
            </a:extLst>
          </p:cNvPr>
          <p:cNvSpPr txBox="1"/>
          <p:nvPr/>
        </p:nvSpPr>
        <p:spPr>
          <a:xfrm>
            <a:off x="21019" y="3798622"/>
            <a:ext cx="6190592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https://teams.microsoft.com/l/meetup-join/19%3ameeting_YWYwNWU5MjgtYzNhZS00NmJiLTljZWUtMGU5YmZmNmYwMDE4%40thread.v2/0?context=%7b%22Tid%22%3a%22e8911c26-cf9f-4a9c-878e-527807be8791%22%2c%22Oid%22%3a%229506d58e-77d8-417d-a0ac-cbcbd8f071a2%22%7d</a:t>
            </a:r>
            <a:r>
              <a:rPr lang="en-US" dirty="0"/>
              <a:t> 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DE7FF9D3-4654-FF2B-C8BC-02D29853ABD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019" y="2713852"/>
            <a:ext cx="12192000" cy="9541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accent4"/>
                </a:solidFill>
                <a:effectLst/>
                <a:latin typeface="Calibir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Tuesday 4th Nov 4 – 6 PM (Face-to-Face and Online) | Meeting-Join | Microsoft Teams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accent4"/>
              </a:solidFill>
              <a:effectLst/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19294403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139C31-F20E-7CC7-4DE6-B2105C8E0A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BED798-0015-D3C1-C19C-C67D4F2B24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40523"/>
          </a:xfrm>
        </p:spPr>
        <p:txBody>
          <a:bodyPr anchor="b">
            <a:normAutofit fontScale="90000"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Face-to-Face presentation 7th Nov 12 PM – 2 PM with a link to join online if needed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48DA49B-80BA-1D4D-0E5C-D1604B6371A2}"/>
              </a:ext>
            </a:extLst>
          </p:cNvPr>
          <p:cNvSpPr txBox="1"/>
          <p:nvPr/>
        </p:nvSpPr>
        <p:spPr>
          <a:xfrm>
            <a:off x="0" y="1265008"/>
            <a:ext cx="11971282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lnSpc>
                <a:spcPct val="150000"/>
              </a:lnSpc>
            </a:pPr>
            <a:r>
              <a:rPr lang="en-US" sz="2800" dirty="0">
                <a:latin typeface="Calibir"/>
              </a:rPr>
              <a:t>Friday 7</a:t>
            </a:r>
            <a:r>
              <a:rPr lang="en-US" sz="2800" baseline="30000" dirty="0">
                <a:latin typeface="Calibir"/>
              </a:rPr>
              <a:t>th</a:t>
            </a:r>
            <a:r>
              <a:rPr lang="en-US" sz="2800" dirty="0">
                <a:latin typeface="Calibir"/>
              </a:rPr>
              <a:t> Nov 12 – 2 PM is face-to-face presentation at CB11.B1.401. However, if needed here is the link to join online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0F3D7AD-D37C-4217-C4D5-47CBAC1A98F1}"/>
              </a:ext>
            </a:extLst>
          </p:cNvPr>
          <p:cNvSpPr txBox="1"/>
          <p:nvPr/>
        </p:nvSpPr>
        <p:spPr>
          <a:xfrm>
            <a:off x="21019" y="3798622"/>
            <a:ext cx="6190592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https://teams.microsoft.com/l/meetup-join/19%3ameeting_NzA2YTNhYWEtNDkxYy00ODg3LTg5ZjYtNTQ2NTU2YmRiNTNi%40thread.v2/0?context=%7b%22Tid%22%3a%22e8911c26-cf9f-4a9c-878e-527807be8791%22%2c%22Oid%22%3a%229506d58e-77d8-417d-a0ac-cbcbd8f071a2%22%7d</a:t>
            </a:r>
            <a:r>
              <a:rPr lang="en-US" dirty="0"/>
              <a:t> 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9D0E51FF-2877-A032-E240-5C6CBE85E33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019" y="2583189"/>
            <a:ext cx="12060622" cy="9541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accent4"/>
                </a:solidFill>
                <a:effectLst/>
                <a:latin typeface="Calibir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Friday 7th Nov 12 PM – 2 PM (Face-to-Face and Online) | Meeting-Join | Microsoft Teams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accent4"/>
              </a:solidFill>
              <a:effectLst/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37152270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C0C101F-C65F-1D84-0824-C2471518F0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7" name="Rectangle 36">
            <a:extLst>
              <a:ext uri="{FF2B5EF4-FFF2-40B4-BE49-F238E27FC236}">
                <a16:creationId xmlns:a16="http://schemas.microsoft.com/office/drawing/2014/main" id="{327D73B4-9F5C-4A64-A179-51B9500CB8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C1F06963-6374-4B48-844F-071A9BAAAE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2965" y="554152"/>
            <a:ext cx="5742189" cy="5742189"/>
          </a:xfrm>
          <a:prstGeom prst="ellipse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9" name="Picture 18" descr="Tying a bow in an arrangment of presents">
            <a:extLst>
              <a:ext uri="{FF2B5EF4-FFF2-40B4-BE49-F238E27FC236}">
                <a16:creationId xmlns:a16="http://schemas.microsoft.com/office/drawing/2014/main" id="{E6D721DE-1453-5AA6-9447-209B227E212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7081" r="16168" b="-2"/>
          <a:stretch/>
        </p:blipFill>
        <p:spPr>
          <a:xfrm>
            <a:off x="505418" y="554151"/>
            <a:ext cx="5742189" cy="5742189"/>
          </a:xfrm>
          <a:custGeom>
            <a:avLst/>
            <a:gdLst/>
            <a:ahLst/>
            <a:cxnLst/>
            <a:rect l="l" t="t" r="r" b="b"/>
            <a:pathLst>
              <a:path w="1838528" h="1838528">
                <a:moveTo>
                  <a:pt x="919264" y="0"/>
                </a:moveTo>
                <a:cubicBezTo>
                  <a:pt x="1426959" y="0"/>
                  <a:pt x="1838528" y="411569"/>
                  <a:pt x="1838528" y="919264"/>
                </a:cubicBezTo>
                <a:cubicBezTo>
                  <a:pt x="1838528" y="1426959"/>
                  <a:pt x="1426959" y="1838528"/>
                  <a:pt x="919264" y="1838528"/>
                </a:cubicBezTo>
                <a:cubicBezTo>
                  <a:pt x="411569" y="1838528"/>
                  <a:pt x="0" y="1426959"/>
                  <a:pt x="0" y="919264"/>
                </a:cubicBezTo>
                <a:cubicBezTo>
                  <a:pt x="0" y="411569"/>
                  <a:pt x="411569" y="0"/>
                  <a:pt x="919264" y="0"/>
                </a:cubicBezTo>
                <a:close/>
              </a:path>
            </a:pathLst>
          </a:custGeom>
        </p:spPr>
      </p:pic>
      <p:sp>
        <p:nvSpPr>
          <p:cNvPr id="41" name="!!plus graphic">
            <a:extLst>
              <a:ext uri="{FF2B5EF4-FFF2-40B4-BE49-F238E27FC236}">
                <a16:creationId xmlns:a16="http://schemas.microsoft.com/office/drawing/2014/main" id="{6CB927A4-E432-4310-9CD5-E89FF50631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04956" y="703679"/>
            <a:ext cx="171515" cy="171515"/>
          </a:xfrm>
          <a:custGeom>
            <a:avLst/>
            <a:gdLst>
              <a:gd name="connsiteX0" fmla="*/ 159874 w 171515"/>
              <a:gd name="connsiteY0" fmla="*/ 74116 h 171515"/>
              <a:gd name="connsiteX1" fmla="*/ 97399 w 171515"/>
              <a:gd name="connsiteY1" fmla="*/ 74116 h 171515"/>
              <a:gd name="connsiteX2" fmla="*/ 97399 w 171515"/>
              <a:gd name="connsiteY2" fmla="*/ 11641 h 171515"/>
              <a:gd name="connsiteX3" fmla="*/ 85758 w 171515"/>
              <a:gd name="connsiteY3" fmla="*/ 0 h 171515"/>
              <a:gd name="connsiteX4" fmla="*/ 74116 w 171515"/>
              <a:gd name="connsiteY4" fmla="*/ 11641 h 171515"/>
              <a:gd name="connsiteX5" fmla="*/ 74116 w 171515"/>
              <a:gd name="connsiteY5" fmla="*/ 74116 h 171515"/>
              <a:gd name="connsiteX6" fmla="*/ 11641 w 171515"/>
              <a:gd name="connsiteY6" fmla="*/ 74116 h 171515"/>
              <a:gd name="connsiteX7" fmla="*/ 0 w 171515"/>
              <a:gd name="connsiteY7" fmla="*/ 85758 h 171515"/>
              <a:gd name="connsiteX8" fmla="*/ 11641 w 171515"/>
              <a:gd name="connsiteY8" fmla="*/ 97399 h 171515"/>
              <a:gd name="connsiteX9" fmla="*/ 74116 w 171515"/>
              <a:gd name="connsiteY9" fmla="*/ 97399 h 171515"/>
              <a:gd name="connsiteX10" fmla="*/ 74116 w 171515"/>
              <a:gd name="connsiteY10" fmla="*/ 159874 h 171515"/>
              <a:gd name="connsiteX11" fmla="*/ 85758 w 171515"/>
              <a:gd name="connsiteY11" fmla="*/ 171515 h 171515"/>
              <a:gd name="connsiteX12" fmla="*/ 97399 w 171515"/>
              <a:gd name="connsiteY12" fmla="*/ 159874 h 171515"/>
              <a:gd name="connsiteX13" fmla="*/ 97399 w 171515"/>
              <a:gd name="connsiteY13" fmla="*/ 97399 h 171515"/>
              <a:gd name="connsiteX14" fmla="*/ 159874 w 171515"/>
              <a:gd name="connsiteY14" fmla="*/ 97399 h 171515"/>
              <a:gd name="connsiteX15" fmla="*/ 171515 w 171515"/>
              <a:gd name="connsiteY15" fmla="*/ 85758 h 171515"/>
              <a:gd name="connsiteX16" fmla="*/ 159874 w 171515"/>
              <a:gd name="connsiteY16" fmla="*/ 74116 h 1715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71515" h="171515">
                <a:moveTo>
                  <a:pt x="159874" y="74116"/>
                </a:moveTo>
                <a:lnTo>
                  <a:pt x="97399" y="74116"/>
                </a:lnTo>
                <a:lnTo>
                  <a:pt x="97399" y="11641"/>
                </a:lnTo>
                <a:cubicBezTo>
                  <a:pt x="97399" y="5212"/>
                  <a:pt x="92187" y="0"/>
                  <a:pt x="85758" y="0"/>
                </a:cubicBezTo>
                <a:cubicBezTo>
                  <a:pt x="79328" y="0"/>
                  <a:pt x="74116" y="5212"/>
                  <a:pt x="74116" y="11641"/>
                </a:cubicBezTo>
                <a:lnTo>
                  <a:pt x="74116" y="74116"/>
                </a:lnTo>
                <a:lnTo>
                  <a:pt x="11641" y="74116"/>
                </a:lnTo>
                <a:cubicBezTo>
                  <a:pt x="5212" y="74116"/>
                  <a:pt x="0" y="79328"/>
                  <a:pt x="0" y="85758"/>
                </a:cubicBezTo>
                <a:cubicBezTo>
                  <a:pt x="0" y="92187"/>
                  <a:pt x="5212" y="97399"/>
                  <a:pt x="11641" y="97399"/>
                </a:cubicBezTo>
                <a:lnTo>
                  <a:pt x="74116" y="97399"/>
                </a:lnTo>
                <a:lnTo>
                  <a:pt x="74116" y="159874"/>
                </a:lnTo>
                <a:cubicBezTo>
                  <a:pt x="74116" y="166303"/>
                  <a:pt x="79328" y="171515"/>
                  <a:pt x="85758" y="171515"/>
                </a:cubicBezTo>
                <a:cubicBezTo>
                  <a:pt x="92187" y="171515"/>
                  <a:pt x="97399" y="166303"/>
                  <a:pt x="97399" y="159874"/>
                </a:cubicBezTo>
                <a:lnTo>
                  <a:pt x="97399" y="97399"/>
                </a:lnTo>
                <a:lnTo>
                  <a:pt x="159874" y="97399"/>
                </a:lnTo>
                <a:cubicBezTo>
                  <a:pt x="166303" y="97399"/>
                  <a:pt x="171515" y="92187"/>
                  <a:pt x="171515" y="85758"/>
                </a:cubicBezTo>
                <a:cubicBezTo>
                  <a:pt x="171515" y="79328"/>
                  <a:pt x="166303" y="74116"/>
                  <a:pt x="159874" y="74116"/>
                </a:cubicBezTo>
                <a:close/>
              </a:path>
            </a:pathLst>
          </a:custGeom>
          <a:solidFill>
            <a:schemeClr val="accent1"/>
          </a:solidFill>
          <a:ln w="776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!!circle graphic">
            <a:extLst>
              <a:ext uri="{FF2B5EF4-FFF2-40B4-BE49-F238E27FC236}">
                <a16:creationId xmlns:a16="http://schemas.microsoft.com/office/drawing/2014/main" id="{1453BF6C-B012-48B7-B4E8-6D7AC7C27D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2753" y="1562696"/>
            <a:ext cx="157545" cy="157545"/>
          </a:xfrm>
          <a:custGeom>
            <a:avLst/>
            <a:gdLst>
              <a:gd name="connsiteX0" fmla="*/ 78773 w 157545"/>
              <a:gd name="connsiteY0" fmla="*/ 23283 h 157545"/>
              <a:gd name="connsiteX1" fmla="*/ 134262 w 157545"/>
              <a:gd name="connsiteY1" fmla="*/ 78773 h 157545"/>
              <a:gd name="connsiteX2" fmla="*/ 78773 w 157545"/>
              <a:gd name="connsiteY2" fmla="*/ 134262 h 157545"/>
              <a:gd name="connsiteX3" fmla="*/ 23283 w 157545"/>
              <a:gd name="connsiteY3" fmla="*/ 78773 h 157545"/>
              <a:gd name="connsiteX4" fmla="*/ 78773 w 157545"/>
              <a:gd name="connsiteY4" fmla="*/ 23283 h 157545"/>
              <a:gd name="connsiteX5" fmla="*/ 78773 w 157545"/>
              <a:gd name="connsiteY5" fmla="*/ 0 h 157545"/>
              <a:gd name="connsiteX6" fmla="*/ 0 w 157545"/>
              <a:gd name="connsiteY6" fmla="*/ 78773 h 157545"/>
              <a:gd name="connsiteX7" fmla="*/ 78773 w 157545"/>
              <a:gd name="connsiteY7" fmla="*/ 157545 h 157545"/>
              <a:gd name="connsiteX8" fmla="*/ 157545 w 157545"/>
              <a:gd name="connsiteY8" fmla="*/ 78773 h 157545"/>
              <a:gd name="connsiteX9" fmla="*/ 78773 w 157545"/>
              <a:gd name="connsiteY9" fmla="*/ 0 h 1575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57545" h="157545">
                <a:moveTo>
                  <a:pt x="78773" y="23283"/>
                </a:moveTo>
                <a:cubicBezTo>
                  <a:pt x="109419" y="23283"/>
                  <a:pt x="134262" y="48126"/>
                  <a:pt x="134262" y="78773"/>
                </a:cubicBezTo>
                <a:cubicBezTo>
                  <a:pt x="134262" y="109419"/>
                  <a:pt x="109419" y="134262"/>
                  <a:pt x="78773" y="134262"/>
                </a:cubicBezTo>
                <a:cubicBezTo>
                  <a:pt x="48126" y="134262"/>
                  <a:pt x="23283" y="109419"/>
                  <a:pt x="23283" y="78773"/>
                </a:cubicBezTo>
                <a:cubicBezTo>
                  <a:pt x="23312" y="48139"/>
                  <a:pt x="48139" y="23312"/>
                  <a:pt x="78773" y="23283"/>
                </a:cubicBezTo>
                <a:moveTo>
                  <a:pt x="78773" y="0"/>
                </a:moveTo>
                <a:cubicBezTo>
                  <a:pt x="35268" y="0"/>
                  <a:pt x="0" y="35268"/>
                  <a:pt x="0" y="78773"/>
                </a:cubicBezTo>
                <a:cubicBezTo>
                  <a:pt x="0" y="122277"/>
                  <a:pt x="35268" y="157545"/>
                  <a:pt x="78773" y="157545"/>
                </a:cubicBezTo>
                <a:cubicBezTo>
                  <a:pt x="122277" y="157545"/>
                  <a:pt x="157545" y="122277"/>
                  <a:pt x="157545" y="78773"/>
                </a:cubicBezTo>
                <a:cubicBezTo>
                  <a:pt x="157545" y="35268"/>
                  <a:pt x="122277" y="0"/>
                  <a:pt x="78773" y="0"/>
                </a:cubicBezTo>
                <a:close/>
              </a:path>
            </a:pathLst>
          </a:custGeom>
          <a:solidFill>
            <a:schemeClr val="accent1"/>
          </a:solidFill>
          <a:ln w="751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4845029-98A4-9C92-04B4-320B6AFDD1B8}"/>
              </a:ext>
            </a:extLst>
          </p:cNvPr>
          <p:cNvSpPr txBox="1"/>
          <p:nvPr/>
        </p:nvSpPr>
        <p:spPr>
          <a:xfrm>
            <a:off x="6388119" y="99483"/>
            <a:ext cx="5198044" cy="6651523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Happy Learning and Bright Futures Ahead!</a:t>
            </a:r>
            <a:b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</a:br>
            <a:r>
              <a:rPr kumimoji="0" lang="en-US" sz="2800" b="0" i="1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Dr. Farshid Keivanian</a:t>
            </a:r>
            <a:b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</a:b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Stay Connected:</a:t>
            </a:r>
            <a:b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</a:b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  <a:hlinkClick r:id="rId3"/>
              </a:rPr>
              <a:t>linkedin.com/in/farshid-keivanian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b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</a:b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  <a:hlinkClick r:id="rId4"/>
              </a:rPr>
              <a:t>github.com/FarshidKeivanian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</a:p>
          <a:p>
            <a:pPr marL="0" marR="0" lvl="0" indent="-22860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800" b="0" i="1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Education is the most powerful weapon you can use to change the world. 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— Nelson Mandela</a:t>
            </a:r>
          </a:p>
        </p:txBody>
      </p:sp>
      <p:sp>
        <p:nvSpPr>
          <p:cNvPr id="45" name="!!dot graphic">
            <a:extLst>
              <a:ext uri="{FF2B5EF4-FFF2-40B4-BE49-F238E27FC236}">
                <a16:creationId xmlns:a16="http://schemas.microsoft.com/office/drawing/2014/main" id="{E3020543-B24B-4EC4-8FFC-8DD88EEA91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54149" y="5775082"/>
            <a:ext cx="112426" cy="112426"/>
          </a:xfrm>
          <a:custGeom>
            <a:avLst/>
            <a:gdLst>
              <a:gd name="connsiteX0" fmla="*/ 112426 w 112426"/>
              <a:gd name="connsiteY0" fmla="*/ 56213 h 112426"/>
              <a:gd name="connsiteX1" fmla="*/ 56213 w 112426"/>
              <a:gd name="connsiteY1" fmla="*/ 112426 h 112426"/>
              <a:gd name="connsiteX2" fmla="*/ 0 w 112426"/>
              <a:gd name="connsiteY2" fmla="*/ 56213 h 112426"/>
              <a:gd name="connsiteX3" fmla="*/ 56213 w 112426"/>
              <a:gd name="connsiteY3" fmla="*/ 0 h 112426"/>
              <a:gd name="connsiteX4" fmla="*/ 112426 w 112426"/>
              <a:gd name="connsiteY4" fmla="*/ 56213 h 112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2426" h="112426">
                <a:moveTo>
                  <a:pt x="112426" y="56213"/>
                </a:moveTo>
                <a:cubicBezTo>
                  <a:pt x="112426" y="87259"/>
                  <a:pt x="87259" y="112426"/>
                  <a:pt x="56213" y="112426"/>
                </a:cubicBezTo>
                <a:cubicBezTo>
                  <a:pt x="25167" y="112426"/>
                  <a:pt x="0" y="87259"/>
                  <a:pt x="0" y="56213"/>
                </a:cubicBezTo>
                <a:cubicBezTo>
                  <a:pt x="0" y="25167"/>
                  <a:pt x="25167" y="0"/>
                  <a:pt x="56213" y="0"/>
                </a:cubicBezTo>
                <a:cubicBezTo>
                  <a:pt x="87259" y="0"/>
                  <a:pt x="112426" y="25167"/>
                  <a:pt x="112426" y="56213"/>
                </a:cubicBezTo>
                <a:close/>
              </a:path>
            </a:pathLst>
          </a:custGeom>
          <a:solidFill>
            <a:schemeClr val="accent1"/>
          </a:solidFill>
          <a:ln w="516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7" name="!!Straight Connector">
            <a:extLst>
              <a:ext uri="{FF2B5EF4-FFF2-40B4-BE49-F238E27FC236}">
                <a16:creationId xmlns:a16="http://schemas.microsoft.com/office/drawing/2014/main" id="{C49DA8F6-BCC1-4447-B54C-57856834B9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586162" y="3619272"/>
            <a:ext cx="0" cy="3238728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9086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4511</TotalTime>
  <Words>457</Words>
  <Application>Microsoft Office PowerPoint</Application>
  <PresentationFormat>Widescreen</PresentationFormat>
  <Paragraphs>24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Aptos</vt:lpstr>
      <vt:lpstr>Aptos Display</vt:lpstr>
      <vt:lpstr>Arial</vt:lpstr>
      <vt:lpstr>Calibir</vt:lpstr>
      <vt:lpstr>Calibri</vt:lpstr>
      <vt:lpstr>Calibri Light</vt:lpstr>
      <vt:lpstr>Office Theme</vt:lpstr>
      <vt:lpstr>1_Office Theme</vt:lpstr>
      <vt:lpstr>Introduction to Software Engineering (ISE102) Showcase Presentation</vt:lpstr>
      <vt:lpstr>Showcase Presentation</vt:lpstr>
      <vt:lpstr>Link to join online presentation 28th Oct 6:15 PM – 8:15 PM</vt:lpstr>
      <vt:lpstr>Link to join online presentation 31st Oct 12 PM -  2PM</vt:lpstr>
      <vt:lpstr>Face-to-Face presentation 4th Nov 4 PM – 6 PM with a link to join online if needed</vt:lpstr>
      <vt:lpstr>Face-to-Face presentation 7th Nov 12 PM – 2 PM with a link to join online if needed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Farshid Keivanian</dc:creator>
  <cp:lastModifiedBy>Farshid Keivanian</cp:lastModifiedBy>
  <cp:revision>1443</cp:revision>
  <dcterms:created xsi:type="dcterms:W3CDTF">2025-07-28T16:39:25Z</dcterms:created>
  <dcterms:modified xsi:type="dcterms:W3CDTF">2025-10-27T21:41:42Z</dcterms:modified>
</cp:coreProperties>
</file>