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9"/>
  </p:notesMasterIdLst>
  <p:sldIdLst>
    <p:sldId id="256" r:id="rId3"/>
    <p:sldId id="2467" r:id="rId4"/>
    <p:sldId id="2634" r:id="rId5"/>
    <p:sldId id="2592" r:id="rId6"/>
    <p:sldId id="2804" r:id="rId7"/>
    <p:sldId id="2764" r:id="rId8"/>
    <p:sldId id="2809" r:id="rId9"/>
    <p:sldId id="2773" r:id="rId10"/>
    <p:sldId id="2774" r:id="rId11"/>
    <p:sldId id="2765" r:id="rId12"/>
    <p:sldId id="2766" r:id="rId13"/>
    <p:sldId id="2805" r:id="rId14"/>
    <p:sldId id="2806" r:id="rId15"/>
    <p:sldId id="2807" r:id="rId16"/>
    <p:sldId id="2775" r:id="rId17"/>
    <p:sldId id="2776" r:id="rId18"/>
    <p:sldId id="2777" r:id="rId19"/>
    <p:sldId id="2778" r:id="rId20"/>
    <p:sldId id="2779" r:id="rId21"/>
    <p:sldId id="2812" r:id="rId22"/>
    <p:sldId id="2780" r:id="rId23"/>
    <p:sldId id="2814" r:id="rId24"/>
    <p:sldId id="2781" r:id="rId25"/>
    <p:sldId id="2784" r:id="rId26"/>
    <p:sldId id="2783" r:id="rId27"/>
    <p:sldId id="2816" r:id="rId28"/>
    <p:sldId id="2817" r:id="rId29"/>
    <p:sldId id="2782" r:id="rId30"/>
    <p:sldId id="2768" r:id="rId31"/>
    <p:sldId id="2769" r:id="rId32"/>
    <p:sldId id="2770" r:id="rId33"/>
    <p:sldId id="2815" r:id="rId34"/>
    <p:sldId id="2771" r:id="rId35"/>
    <p:sldId id="2772" r:id="rId36"/>
    <p:sldId id="2635" r:id="rId37"/>
    <p:sldId id="2795" r:id="rId38"/>
    <p:sldId id="2796" r:id="rId39"/>
    <p:sldId id="2797" r:id="rId40"/>
    <p:sldId id="2798" r:id="rId41"/>
    <p:sldId id="2799" r:id="rId42"/>
    <p:sldId id="2800" r:id="rId43"/>
    <p:sldId id="2801" r:id="rId44"/>
    <p:sldId id="2802" r:id="rId45"/>
    <p:sldId id="2803" r:id="rId46"/>
    <p:sldId id="2736" r:id="rId47"/>
    <p:sldId id="2740" r:id="rId48"/>
    <p:sldId id="2741" r:id="rId49"/>
    <p:sldId id="2742" r:id="rId50"/>
    <p:sldId id="2743" r:id="rId51"/>
    <p:sldId id="2739" r:id="rId52"/>
    <p:sldId id="2744" r:id="rId53"/>
    <p:sldId id="2746" r:id="rId54"/>
    <p:sldId id="2747" r:id="rId55"/>
    <p:sldId id="2737" r:id="rId56"/>
    <p:sldId id="2785" r:id="rId57"/>
    <p:sldId id="2749" r:id="rId58"/>
    <p:sldId id="2750" r:id="rId59"/>
    <p:sldId id="2751" r:id="rId60"/>
    <p:sldId id="2752" r:id="rId61"/>
    <p:sldId id="2748" r:id="rId62"/>
    <p:sldId id="2753" r:id="rId63"/>
    <p:sldId id="2754" r:id="rId64"/>
    <p:sldId id="2757" r:id="rId65"/>
    <p:sldId id="2758" r:id="rId66"/>
    <p:sldId id="2759" r:id="rId67"/>
    <p:sldId id="2760" r:id="rId68"/>
    <p:sldId id="2761" r:id="rId69"/>
    <p:sldId id="2756" r:id="rId70"/>
    <p:sldId id="2755" r:id="rId71"/>
    <p:sldId id="2762" r:id="rId72"/>
    <p:sldId id="2763" r:id="rId73"/>
    <p:sldId id="2738" r:id="rId74"/>
    <p:sldId id="2786" r:id="rId75"/>
    <p:sldId id="2788" r:id="rId76"/>
    <p:sldId id="2789" r:id="rId77"/>
    <p:sldId id="2787" r:id="rId78"/>
    <p:sldId id="2732" r:id="rId79"/>
    <p:sldId id="2733" r:id="rId80"/>
    <p:sldId id="2734" r:id="rId81"/>
    <p:sldId id="2735" r:id="rId82"/>
    <p:sldId id="2790" r:id="rId83"/>
    <p:sldId id="2791" r:id="rId84"/>
    <p:sldId id="2792" r:id="rId85"/>
    <p:sldId id="2793" r:id="rId86"/>
    <p:sldId id="2794" r:id="rId87"/>
    <p:sldId id="749"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954"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5/09/2025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5/09/2025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Farshid.Keivanian@uts.edu.au"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8.png"/></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image" Target="../media/image12.png"/></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7.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Tutorial Week 6</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6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11906"/>
            <a:ext cx="12192000" cy="6145272"/>
          </a:xfrm>
          <a:prstGeom prst="rect">
            <a:avLst/>
          </a:prstGeom>
          <a:noFill/>
        </p:spPr>
        <p:txBody>
          <a:bodyPr wrap="square">
            <a:spAutoFit/>
          </a:bodyPr>
          <a:lstStyle/>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Example &amp; Activity — Campus Parking Permit System</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Group Assignment – Part 1: What to do / submit / avoid</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Group Assignment – Part 1: Student Operations After Registration – Clarified</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Group Assignment – Part 1: Password Rules – Clarified</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Mini Coding Nudges (Email/Password, Marks, Pass/Fail etc.)</a:t>
            </a:r>
          </a:p>
          <a:p>
            <a:pPr marL="971550" lvl="1" indent="-514350">
              <a:spcAft>
                <a:spcPts val="800"/>
              </a:spcAft>
              <a:buFont typeface="Arial" panose="020B0604020202020204" pitchFamily="34" charset="0"/>
              <a:buChar char="•"/>
            </a:pPr>
            <a:r>
              <a:rPr lang="en-US" sz="2000" kern="100" dirty="0">
                <a:latin typeface="Calibir"/>
                <a:ea typeface="Aptos" panose="020B0004020202020204" pitchFamily="34" charset="0"/>
                <a:cs typeface="Arial" panose="020B0604020202020204" pitchFamily="34" charset="0"/>
              </a:rPr>
              <a:t>Allow student. subdomain too </a:t>
            </a:r>
          </a:p>
          <a:p>
            <a:pPr marL="971550" lvl="1" indent="-514350">
              <a:spcAft>
                <a:spcPts val="800"/>
              </a:spcAft>
              <a:buFont typeface="Arial" panose="020B0604020202020204" pitchFamily="34" charset="0"/>
              <a:buChar char="•"/>
            </a:pPr>
            <a:r>
              <a:rPr lang="en-US" sz="2000" kern="100" dirty="0">
                <a:latin typeface="Calibir"/>
                <a:ea typeface="Aptos" panose="020B0004020202020204" pitchFamily="34" charset="0"/>
                <a:cs typeface="Arial" panose="020B0604020202020204" pitchFamily="34" charset="0"/>
              </a:rPr>
              <a:t>Allow optional - or _ before digits in password</a:t>
            </a:r>
          </a:p>
          <a:p>
            <a:pPr marL="971550" lvl="1" indent="-514350">
              <a:spcAft>
                <a:spcPts val="800"/>
              </a:spcAft>
              <a:buFont typeface="Arial" panose="020B0604020202020204" pitchFamily="34" charset="0"/>
              <a:buChar char="•"/>
            </a:pPr>
            <a:r>
              <a:rPr lang="en-US" sz="2000" kern="100" dirty="0">
                <a:latin typeface="Calibir"/>
                <a:ea typeface="Aptos" panose="020B0004020202020204" pitchFamily="34" charset="0"/>
                <a:cs typeface="Arial" panose="020B0604020202020204" pitchFamily="34" charset="0"/>
              </a:rPr>
              <a:t>Generate Random Marks and Assign Grades</a:t>
            </a:r>
          </a:p>
          <a:p>
            <a:pPr marL="971550" lvl="1" indent="-514350">
              <a:spcAft>
                <a:spcPts val="800"/>
              </a:spcAft>
              <a:buFont typeface="Arial" panose="020B0604020202020204" pitchFamily="34" charset="0"/>
              <a:buChar char="•"/>
            </a:pPr>
            <a:r>
              <a:rPr lang="en-US" sz="2000" kern="100" dirty="0">
                <a:latin typeface="Calibir"/>
                <a:ea typeface="Aptos" panose="020B0004020202020204" pitchFamily="34" charset="0"/>
                <a:cs typeface="Arial" panose="020B0604020202020204" pitchFamily="34" charset="0"/>
              </a:rPr>
              <a:t>Make randomness reproducible</a:t>
            </a:r>
          </a:p>
          <a:p>
            <a:pPr marL="971550" lvl="1" indent="-514350">
              <a:spcAft>
                <a:spcPts val="800"/>
              </a:spcAft>
              <a:buFont typeface="Arial" panose="020B0604020202020204" pitchFamily="34" charset="0"/>
              <a:buChar char="•"/>
            </a:pPr>
            <a:r>
              <a:rPr lang="en-US" sz="2000" kern="100" dirty="0">
                <a:latin typeface="Calibir"/>
                <a:ea typeface="Aptos" panose="020B0004020202020204" pitchFamily="34" charset="0"/>
                <a:cs typeface="Arial" panose="020B0604020202020204" pitchFamily="34" charset="0"/>
              </a:rPr>
              <a:t>Add student ID and PASS/FAIL</a:t>
            </a:r>
          </a:p>
          <a:p>
            <a:pPr marL="971550" lvl="1" indent="-514350">
              <a:spcAft>
                <a:spcPts val="800"/>
              </a:spcAft>
              <a:buFont typeface="Arial" panose="020B0604020202020204" pitchFamily="34" charset="0"/>
              <a:buChar char="•"/>
            </a:pPr>
            <a:r>
              <a:rPr lang="en-US" sz="2000" kern="100" dirty="0">
                <a:latin typeface="Calibir"/>
                <a:ea typeface="Aptos" panose="020B0004020202020204" pitchFamily="34" charset="0"/>
                <a:cs typeface="Arial" panose="020B0604020202020204" pitchFamily="34" charset="0"/>
              </a:rPr>
              <a:t>Grade Classification Based on University Rules</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Group Assignment – Part 2: Build hints (Python-first, JavaFX minority)</a:t>
            </a:r>
          </a:p>
          <a:p>
            <a:pPr marL="514350" indent="-514350">
              <a:spcAft>
                <a:spcPts val="800"/>
              </a:spcAft>
              <a:buFont typeface="+mj-lt"/>
              <a:buAutoNum type="arabicPeriod"/>
            </a:pPr>
            <a:r>
              <a:rPr lang="en-US" sz="2000" kern="100" dirty="0">
                <a:latin typeface="Calibir"/>
                <a:ea typeface="Aptos" panose="020B0004020202020204" pitchFamily="34" charset="0"/>
                <a:cs typeface="Arial" panose="020B0604020202020204" pitchFamily="34" charset="0"/>
              </a:rPr>
              <a:t>Group Assignment – Part 3: Showcase tips</a:t>
            </a:r>
          </a:p>
          <a:p>
            <a:pPr marL="514350" indent="-514350">
              <a:spcAft>
                <a:spcPts val="800"/>
              </a:spcAft>
              <a:buFont typeface="+mj-lt"/>
              <a:buAutoNum type="arabicPeriod"/>
            </a:pPr>
            <a:r>
              <a:rPr lang="en-US" sz="2000" dirty="0">
                <a:latin typeface="Calibir"/>
              </a:rPr>
              <a:t>Example &amp; Activity — Event Ticketing Lite</a:t>
            </a:r>
            <a:endParaRPr lang="en-US" sz="2000" kern="100" dirty="0">
              <a:latin typeface="Calibir"/>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pic>
        <p:nvPicPr>
          <p:cNvPr id="3" name="Picture 2">
            <a:extLst>
              <a:ext uri="{FF2B5EF4-FFF2-40B4-BE49-F238E27FC236}">
                <a16:creationId xmlns:a16="http://schemas.microsoft.com/office/drawing/2014/main" id="{CD4C78DA-EA34-3EF7-4935-1E6251F4954C}"/>
              </a:ext>
            </a:extLst>
          </p:cNvPr>
          <p:cNvPicPr>
            <a:picLocks noChangeAspect="1"/>
          </p:cNvPicPr>
          <p:nvPr/>
        </p:nvPicPr>
        <p:blipFill>
          <a:blip r:embed="rId2"/>
          <a:srcRect b="5253"/>
          <a:stretch>
            <a:fillRect/>
          </a:stretch>
        </p:blipFill>
        <p:spPr>
          <a:xfrm>
            <a:off x="1698186" y="756745"/>
            <a:ext cx="8795628" cy="4687614"/>
          </a:xfrm>
          <a:prstGeom prst="rect">
            <a:avLst/>
          </a:prstGeom>
        </p:spPr>
      </p:pic>
      <p:sp>
        <p:nvSpPr>
          <p:cNvPr id="5" name="TextBox 4">
            <a:extLst>
              <a:ext uri="{FF2B5EF4-FFF2-40B4-BE49-F238E27FC236}">
                <a16:creationId xmlns:a16="http://schemas.microsoft.com/office/drawing/2014/main" id="{CC20B5C0-803C-5E96-374C-6D1E59E4C47A}"/>
              </a:ext>
            </a:extLst>
          </p:cNvPr>
          <p:cNvSpPr txBox="1"/>
          <p:nvPr/>
        </p:nvSpPr>
        <p:spPr>
          <a:xfrm>
            <a:off x="110359" y="5444359"/>
            <a:ext cx="11971282" cy="136280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Please send me an email listing your group members and kindly CC all members of your group in the same email. This will help us keep everything clear and ensure everyone is informed. </a:t>
            </a:r>
            <a:r>
              <a:rPr kumimoji="0" lang="en-US" sz="1900" b="0" i="0" u="none" strike="noStrike" kern="1200" cap="none" spc="0" normalizeH="0" baseline="0" noProof="0" dirty="0">
                <a:ln>
                  <a:noFill/>
                </a:ln>
                <a:solidFill>
                  <a:prstClr val="black"/>
                </a:solidFill>
                <a:effectLst/>
                <a:uLnTx/>
                <a:uFillTx/>
                <a:latin typeface="Calibir"/>
                <a:ea typeface="+mn-ea"/>
                <a:cs typeface="+mn-cs"/>
                <a:hlinkClick r:id="rId3"/>
              </a:rPr>
              <a:t>Farshid.Keivanian@uts.edu.au</a:t>
            </a:r>
            <a:r>
              <a:rPr kumimoji="0" lang="en-US" sz="1900" b="0" i="0" u="none" strike="noStrike" kern="1200" cap="none" spc="0" normalizeH="0" baseline="0" noProof="0" dirty="0">
                <a:ln>
                  <a:noFill/>
                </a:ln>
                <a:solidFill>
                  <a:prstClr val="black"/>
                </a:solidFill>
                <a:effectLst/>
                <a:uLnTx/>
                <a:uFillTx/>
                <a:latin typeface="Calibir"/>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Calibir"/>
                <a:ea typeface="+mn-ea"/>
                <a:cs typeface="+mn-cs"/>
              </a:rPr>
              <a:t>Once I receive your email, I will fill in the online sheet with your group details and share it with the Unit Coordinator.</a:t>
            </a:r>
          </a:p>
        </p:txBody>
      </p:sp>
    </p:spTree>
    <p:extLst>
      <p:ext uri="{BB962C8B-B14F-4D97-AF65-F5344CB8AC3E}">
        <p14:creationId xmlns:p14="http://schemas.microsoft.com/office/powerpoint/2010/main" val="2746331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5842497"/>
          </a:xfrm>
          <a:prstGeom prst="rect">
            <a:avLst/>
          </a:prstGeom>
          <a:noFill/>
        </p:spPr>
        <p:txBody>
          <a:bodyPr wrap="square">
            <a:spAutoFit/>
          </a:bodyPr>
          <a:lstStyle/>
          <a:p>
            <a:pPr>
              <a:lnSpc>
                <a:spcPct val="150000"/>
              </a:lnSpc>
              <a:buNone/>
            </a:pPr>
            <a:r>
              <a:rPr lang="en-US" sz="2800" i="1" dirty="0">
                <a:latin typeface="Calibir"/>
              </a:rPr>
              <a:t>(Associations, multiplicity, inheritance, composition, dependency)</a:t>
            </a:r>
            <a:endParaRPr lang="en-US" sz="2800" dirty="0">
              <a:latin typeface="Calibir"/>
            </a:endParaRPr>
          </a:p>
          <a:p>
            <a:pPr>
              <a:lnSpc>
                <a:spcPct val="150000"/>
              </a:lnSpc>
              <a:buNone/>
            </a:pPr>
            <a:r>
              <a:rPr lang="en-US" sz="2800" b="1" dirty="0">
                <a:latin typeface="Calibir"/>
              </a:rPr>
              <a:t>Mini case</a:t>
            </a:r>
          </a:p>
          <a:p>
            <a:pPr>
              <a:lnSpc>
                <a:spcPct val="150000"/>
              </a:lnSpc>
              <a:buNone/>
            </a:pPr>
            <a:r>
              <a:rPr lang="en-US" sz="2800" dirty="0">
                <a:latin typeface="Calibir"/>
              </a:rPr>
              <a:t>Students and staff request Parking Permits per semester. A Permit is for one vehicle (plate number) and is valid for one car park zone. Users can hold at most 1 active permit per semester. Security Officers can revoke permits. Payment is Card or Voucher (two subclasses of Payment). When revoked, the permit becomes inactive.</a:t>
            </a:r>
          </a:p>
          <a:p>
            <a:pPr>
              <a:lnSpc>
                <a:spcPct val="150000"/>
              </a:lnSpc>
              <a:buNone/>
            </a:pPr>
            <a:r>
              <a:rPr lang="en-US" sz="2800" dirty="0">
                <a:latin typeface="Calibir"/>
              </a:rPr>
              <a:t>Think about: Candidate Classes, </a:t>
            </a:r>
            <a:br>
              <a:rPr lang="en-US" sz="2800" dirty="0">
                <a:latin typeface="Calibir"/>
              </a:rPr>
            </a:br>
            <a:r>
              <a:rPr lang="en-US" sz="2800" dirty="0">
                <a:latin typeface="Calibir"/>
              </a:rPr>
              <a:t>Attributes, Methods, Key Relationship, Multiplicities, </a:t>
            </a:r>
            <a:r>
              <a:rPr lang="en-US" sz="2800" dirty="0" err="1">
                <a:latin typeface="Calibir"/>
              </a:rPr>
              <a:t>etc</a:t>
            </a:r>
            <a:endParaRPr lang="en-US" sz="2800" dirty="0">
              <a:latin typeface="Calibir"/>
            </a:endParaRPr>
          </a:p>
        </p:txBody>
      </p:sp>
    </p:spTree>
    <p:extLst>
      <p:ext uri="{BB962C8B-B14F-4D97-AF65-F5344CB8AC3E}">
        <p14:creationId xmlns:p14="http://schemas.microsoft.com/office/powerpoint/2010/main" val="257319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BEFF0-2376-0455-6025-ACEF006303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02C407A-2B54-9BFC-15E1-14DF4DE54228}"/>
              </a:ext>
            </a:extLst>
          </p:cNvPr>
          <p:cNvSpPr txBox="1"/>
          <p:nvPr/>
        </p:nvSpPr>
        <p:spPr>
          <a:xfrm>
            <a:off x="0" y="988143"/>
            <a:ext cx="12192000" cy="3903504"/>
          </a:xfrm>
          <a:prstGeom prst="rect">
            <a:avLst/>
          </a:prstGeom>
          <a:noFill/>
        </p:spPr>
        <p:txBody>
          <a:bodyPr wrap="square">
            <a:spAutoFit/>
          </a:bodyPr>
          <a:lstStyle/>
          <a:p>
            <a:pPr>
              <a:lnSpc>
                <a:spcPct val="150000"/>
              </a:lnSpc>
            </a:pPr>
            <a:r>
              <a:rPr lang="en-US" sz="2800" b="1" dirty="0">
                <a:latin typeface="Calibir"/>
              </a:rPr>
              <a:t>Scenario</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A university manages Parking Permits for students and staff.</a:t>
            </a:r>
          </a:p>
          <a:p>
            <a:pPr marL="914400" lvl="1" indent="-457200">
              <a:lnSpc>
                <a:spcPct val="150000"/>
              </a:lnSpc>
              <a:buFont typeface="Arial" panose="020B0604020202020204" pitchFamily="34" charset="0"/>
              <a:buChar char="•"/>
            </a:pPr>
            <a:r>
              <a:rPr lang="en-US" sz="2800" dirty="0">
                <a:latin typeface="Calibir"/>
              </a:rPr>
              <a:t>Each User (abstract class) can be either a Student or Staff.</a:t>
            </a:r>
          </a:p>
          <a:p>
            <a:pPr marL="914400" lvl="1" indent="-457200">
              <a:lnSpc>
                <a:spcPct val="150000"/>
              </a:lnSpc>
              <a:buFont typeface="Arial" panose="020B0604020202020204" pitchFamily="34" charset="0"/>
              <a:buChar char="•"/>
            </a:pPr>
            <a:r>
              <a:rPr lang="en-US" sz="2800" dirty="0">
                <a:latin typeface="Calibir"/>
              </a:rPr>
              <a:t>A User can apply for one or more Permits.</a:t>
            </a:r>
          </a:p>
          <a:p>
            <a:pPr marL="914400" lvl="1" indent="-457200">
              <a:lnSpc>
                <a:spcPct val="150000"/>
              </a:lnSpc>
              <a:buFont typeface="Arial" panose="020B0604020202020204" pitchFamily="34" charset="0"/>
              <a:buChar char="•"/>
            </a:pPr>
            <a:r>
              <a:rPr lang="en-US" sz="2800" dirty="0">
                <a:latin typeface="Calibir"/>
              </a:rPr>
              <a:t>Each Permit is for a specific Vehicle (identified by plate number).</a:t>
            </a:r>
          </a:p>
          <a:p>
            <a:pPr marL="914400" lvl="1" indent="-457200">
              <a:lnSpc>
                <a:spcPct val="150000"/>
              </a:lnSpc>
              <a:buFont typeface="Arial" panose="020B0604020202020204" pitchFamily="34" charset="0"/>
              <a:buChar char="•"/>
            </a:pPr>
            <a:r>
              <a:rPr lang="en-US" sz="2800" dirty="0">
                <a:latin typeface="Calibir"/>
              </a:rPr>
              <a:t>The System Admin approves or denies permit applications.</a:t>
            </a:r>
          </a:p>
        </p:txBody>
      </p:sp>
      <p:sp>
        <p:nvSpPr>
          <p:cNvPr id="5" name="Title 1">
            <a:extLst>
              <a:ext uri="{FF2B5EF4-FFF2-40B4-BE49-F238E27FC236}">
                <a16:creationId xmlns:a16="http://schemas.microsoft.com/office/drawing/2014/main" id="{7BD992B7-642E-46C3-B7CF-A68499E26678}"/>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665176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093FA69-7860-F88D-7261-9EFCD7048713}"/>
              </a:ext>
            </a:extLst>
          </p:cNvPr>
          <p:cNvSpPr txBox="1"/>
          <p:nvPr/>
        </p:nvSpPr>
        <p:spPr>
          <a:xfrm>
            <a:off x="0" y="988143"/>
            <a:ext cx="12192000" cy="2610843"/>
          </a:xfrm>
          <a:prstGeom prst="rect">
            <a:avLst/>
          </a:prstGeom>
          <a:noFill/>
        </p:spPr>
        <p:txBody>
          <a:bodyPr wrap="square">
            <a:spAutoFit/>
          </a:bodyPr>
          <a:lstStyle/>
          <a:p>
            <a:pPr>
              <a:lnSpc>
                <a:spcPct val="150000"/>
              </a:lnSpc>
            </a:pPr>
            <a:r>
              <a:rPr lang="en-US" sz="2800" b="1" dirty="0">
                <a:latin typeface="Calibir"/>
              </a:rPr>
              <a:t>1. Candidate Classes (Rectangles)</a:t>
            </a:r>
          </a:p>
          <a:p>
            <a:pPr>
              <a:lnSpc>
                <a:spcPct val="150000"/>
              </a:lnSpc>
            </a:pPr>
            <a:r>
              <a:rPr lang="en-US" sz="2800" dirty="0">
                <a:latin typeface="Calibir"/>
              </a:rPr>
              <a:t>Think of classes as blueprints, like a recipe card:</a:t>
            </a:r>
          </a:p>
          <a:p>
            <a:pPr marL="457200" indent="-457200">
              <a:lnSpc>
                <a:spcPct val="150000"/>
              </a:lnSpc>
              <a:buFont typeface="Arial" panose="020B0604020202020204" pitchFamily="34" charset="0"/>
              <a:buChar char="•"/>
            </a:pPr>
            <a:r>
              <a:rPr lang="en-US" sz="2800" dirty="0">
                <a:latin typeface="Calibir"/>
              </a:rPr>
              <a:t>User (abstract – means you can’t create a "User" directly, only Student or Staff)</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StudentUser</a:t>
            </a:r>
            <a:r>
              <a:rPr lang="en-US" sz="2800" dirty="0">
                <a:latin typeface="Calibir"/>
              </a:rPr>
              <a:t>, </a:t>
            </a:r>
            <a:r>
              <a:rPr lang="en-US" sz="2800" dirty="0" err="1">
                <a:latin typeface="Calibir"/>
              </a:rPr>
              <a:t>StaffUser</a:t>
            </a:r>
            <a:endParaRPr lang="en-US" sz="2800" dirty="0">
              <a:latin typeface="Calibir"/>
            </a:endParaRPr>
          </a:p>
        </p:txBody>
      </p:sp>
      <p:sp>
        <p:nvSpPr>
          <p:cNvPr id="5" name="Rectangle 4">
            <a:extLst>
              <a:ext uri="{FF2B5EF4-FFF2-40B4-BE49-F238E27FC236}">
                <a16:creationId xmlns:a16="http://schemas.microsoft.com/office/drawing/2014/main" id="{3C503604-97A8-528A-890D-BE51C42FF8D5}"/>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8" name="Rectangle 7">
            <a:extLst>
              <a:ext uri="{FF2B5EF4-FFF2-40B4-BE49-F238E27FC236}">
                <a16:creationId xmlns:a16="http://schemas.microsoft.com/office/drawing/2014/main" id="{6A76BE5E-899D-6313-BF03-094030D9D297}"/>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StudentUser</a:t>
            </a:r>
            <a:r>
              <a:rPr lang="en-US" sz="2800" dirty="0">
                <a:latin typeface="Calibir"/>
              </a:rPr>
              <a:t> (inherits User)</a:t>
            </a:r>
          </a:p>
        </p:txBody>
      </p:sp>
      <p:sp>
        <p:nvSpPr>
          <p:cNvPr id="9" name="Rectangle 8">
            <a:extLst>
              <a:ext uri="{FF2B5EF4-FFF2-40B4-BE49-F238E27FC236}">
                <a16:creationId xmlns:a16="http://schemas.microsoft.com/office/drawing/2014/main" id="{814FC595-507F-BA18-1C08-F514F07B6266}"/>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StaffUser</a:t>
            </a:r>
            <a:br>
              <a:rPr lang="en-US" sz="2800" dirty="0">
                <a:latin typeface="Calibir"/>
              </a:rPr>
            </a:br>
            <a:r>
              <a:rPr lang="en-US" sz="2800" dirty="0">
                <a:latin typeface="Calibir"/>
              </a:rPr>
              <a:t>(inherits User)</a:t>
            </a:r>
          </a:p>
        </p:txBody>
      </p:sp>
      <p:cxnSp>
        <p:nvCxnSpPr>
          <p:cNvPr id="11" name="Straight Arrow Connector 10">
            <a:extLst>
              <a:ext uri="{FF2B5EF4-FFF2-40B4-BE49-F238E27FC236}">
                <a16:creationId xmlns:a16="http://schemas.microsoft.com/office/drawing/2014/main" id="{6DBFFA68-0C8B-DDCD-A359-1B98DC0972AE}"/>
              </a:ext>
            </a:extLst>
          </p:cNvPr>
          <p:cNvCxnSpPr>
            <a:cxnSpLocks/>
            <a:stCxn id="5"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6A99516E-871E-662E-BCF6-350D786AFE7D}"/>
              </a:ext>
            </a:extLst>
          </p:cNvPr>
          <p:cNvCxnSpPr>
            <a:cxnSpLocks/>
            <a:stCxn id="5" idx="2"/>
            <a:endCxn id="9"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4" name="Title 1">
            <a:extLst>
              <a:ext uri="{FF2B5EF4-FFF2-40B4-BE49-F238E27FC236}">
                <a16:creationId xmlns:a16="http://schemas.microsoft.com/office/drawing/2014/main" id="{42A740CE-83C1-6A01-F07B-F36C335C53B8}"/>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4057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5CB9D-ED94-12BB-DC5A-E745079E035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4ECB379-36B5-A9B0-4036-EF21D4056A5F}"/>
              </a:ext>
            </a:extLst>
          </p:cNvPr>
          <p:cNvSpPr txBox="1"/>
          <p:nvPr/>
        </p:nvSpPr>
        <p:spPr>
          <a:xfrm>
            <a:off x="0" y="988143"/>
            <a:ext cx="12192000" cy="3257174"/>
          </a:xfrm>
          <a:prstGeom prst="rect">
            <a:avLst/>
          </a:prstGeom>
          <a:noFill/>
        </p:spPr>
        <p:txBody>
          <a:bodyPr wrap="square">
            <a:spAutoFit/>
          </a:bodyPr>
          <a:lstStyle/>
          <a:p>
            <a:pPr>
              <a:lnSpc>
                <a:spcPct val="150000"/>
              </a:lnSpc>
            </a:pPr>
            <a:r>
              <a:rPr lang="en-US" sz="2800" b="1" dirty="0">
                <a:latin typeface="Calibir"/>
              </a:rPr>
              <a:t>Generalization (Inheritance)</a:t>
            </a:r>
          </a:p>
          <a:p>
            <a:pPr marL="714375" indent="-457200">
              <a:lnSpc>
                <a:spcPct val="150000"/>
              </a:lnSpc>
              <a:buFont typeface="Arial" panose="020B0604020202020204" pitchFamily="34" charset="0"/>
              <a:buChar char="•"/>
            </a:pPr>
            <a:r>
              <a:rPr lang="en-US" sz="2800" dirty="0">
                <a:latin typeface="Calibir"/>
              </a:rPr>
              <a:t>A User can be either a Student or Staff.</a:t>
            </a:r>
          </a:p>
          <a:p>
            <a:pPr marL="714375" indent="-457200">
              <a:lnSpc>
                <a:spcPct val="150000"/>
              </a:lnSpc>
              <a:buFont typeface="Arial" panose="020B0604020202020204" pitchFamily="34" charset="0"/>
              <a:buChar char="•"/>
            </a:pPr>
            <a:r>
              <a:rPr lang="en-US" sz="2800" dirty="0">
                <a:latin typeface="Calibir"/>
              </a:rPr>
              <a:t>Think: </a:t>
            </a:r>
            <a:r>
              <a:rPr lang="en-US" sz="2800" i="1" dirty="0">
                <a:latin typeface="Calibir"/>
              </a:rPr>
              <a:t>“All users share common things (id, name, email), but each type has its own extras.”</a:t>
            </a:r>
            <a:endParaRPr lang="en-US" sz="2800" dirty="0">
              <a:latin typeface="Calibir"/>
            </a:endParaRPr>
          </a:p>
          <a:p>
            <a:pPr marL="714375" indent="-457200">
              <a:lnSpc>
                <a:spcPct val="150000"/>
              </a:lnSpc>
              <a:buFont typeface="Arial" panose="020B0604020202020204" pitchFamily="34" charset="0"/>
              <a:buChar char="•"/>
            </a:pPr>
            <a:r>
              <a:rPr lang="en-US" sz="2800" dirty="0">
                <a:latin typeface="Calibir"/>
              </a:rPr>
              <a:t>UML: User → Student / Staff</a:t>
            </a:r>
          </a:p>
        </p:txBody>
      </p:sp>
      <p:sp>
        <p:nvSpPr>
          <p:cNvPr id="5" name="Rectangle 4">
            <a:extLst>
              <a:ext uri="{FF2B5EF4-FFF2-40B4-BE49-F238E27FC236}">
                <a16:creationId xmlns:a16="http://schemas.microsoft.com/office/drawing/2014/main" id="{AC8366B0-1D6A-0669-66AB-5CAD3A735A60}"/>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8" name="Rectangle 7">
            <a:extLst>
              <a:ext uri="{FF2B5EF4-FFF2-40B4-BE49-F238E27FC236}">
                <a16:creationId xmlns:a16="http://schemas.microsoft.com/office/drawing/2014/main" id="{113F90DB-DFF2-8925-D6BC-F4881EE682EC}"/>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StudentUser</a:t>
            </a:r>
            <a:r>
              <a:rPr lang="en-US" sz="2800" dirty="0">
                <a:latin typeface="Calibir"/>
              </a:rPr>
              <a:t> (inherits User)</a:t>
            </a:r>
          </a:p>
        </p:txBody>
      </p:sp>
      <p:sp>
        <p:nvSpPr>
          <p:cNvPr id="9" name="Rectangle 8">
            <a:extLst>
              <a:ext uri="{FF2B5EF4-FFF2-40B4-BE49-F238E27FC236}">
                <a16:creationId xmlns:a16="http://schemas.microsoft.com/office/drawing/2014/main" id="{29BD6029-6891-B8B3-74CF-79DEB53B240D}"/>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StaffUser</a:t>
            </a:r>
            <a:br>
              <a:rPr lang="en-US" sz="2800" dirty="0">
                <a:latin typeface="Calibir"/>
              </a:rPr>
            </a:br>
            <a:r>
              <a:rPr lang="en-US" sz="2800" dirty="0">
                <a:latin typeface="Calibir"/>
              </a:rPr>
              <a:t>(inherits User)</a:t>
            </a:r>
          </a:p>
        </p:txBody>
      </p:sp>
      <p:cxnSp>
        <p:nvCxnSpPr>
          <p:cNvPr id="11" name="Straight Arrow Connector 10">
            <a:extLst>
              <a:ext uri="{FF2B5EF4-FFF2-40B4-BE49-F238E27FC236}">
                <a16:creationId xmlns:a16="http://schemas.microsoft.com/office/drawing/2014/main" id="{ED717370-D7FC-98BF-96C9-EF8898E4E20A}"/>
              </a:ext>
            </a:extLst>
          </p:cNvPr>
          <p:cNvCxnSpPr>
            <a:cxnSpLocks/>
            <a:stCxn id="5"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17F3DE6C-E47E-2DD2-BFBC-202C803BBBE8}"/>
              </a:ext>
            </a:extLst>
          </p:cNvPr>
          <p:cNvCxnSpPr>
            <a:cxnSpLocks/>
            <a:stCxn id="5" idx="2"/>
            <a:endCxn id="9"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4" name="Title 1">
            <a:extLst>
              <a:ext uri="{FF2B5EF4-FFF2-40B4-BE49-F238E27FC236}">
                <a16:creationId xmlns:a16="http://schemas.microsoft.com/office/drawing/2014/main" id="{982518E2-C044-5D20-5885-D68C28B50039}"/>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935915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2EFB-1FA9-81BA-E14A-045C38CFA3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EF3F42-DFD3-4AF6-DBDB-A2B48F1A9D6D}"/>
              </a:ext>
            </a:extLst>
          </p:cNvPr>
          <p:cNvSpPr txBox="1"/>
          <p:nvPr/>
        </p:nvSpPr>
        <p:spPr>
          <a:xfrm>
            <a:off x="0" y="988143"/>
            <a:ext cx="12192000"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Permit (id, zone, plate, status, semester)</a:t>
            </a:r>
          </a:p>
          <a:p>
            <a:pPr marL="457200" indent="-457200">
              <a:lnSpc>
                <a:spcPct val="150000"/>
              </a:lnSpc>
              <a:buFont typeface="Arial" panose="020B0604020202020204" pitchFamily="34" charset="0"/>
              <a:buChar char="•"/>
            </a:pPr>
            <a:r>
              <a:rPr lang="en-US" sz="2800" dirty="0">
                <a:latin typeface="Calibir"/>
              </a:rPr>
              <a:t>Payment (abstract)</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CardPayment</a:t>
            </a:r>
            <a:r>
              <a:rPr lang="en-US" sz="2800" dirty="0">
                <a:latin typeface="Calibir"/>
              </a:rPr>
              <a:t>, </a:t>
            </a:r>
            <a:r>
              <a:rPr lang="en-US" sz="2800" dirty="0" err="1">
                <a:latin typeface="Calibir"/>
              </a:rPr>
              <a:t>VoucherPayment</a:t>
            </a:r>
            <a:endParaRPr lang="en-US" sz="2800" dirty="0">
              <a:latin typeface="Calibir"/>
            </a:endParaRPr>
          </a:p>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a:latin typeface="Calibir"/>
              </a:rPr>
              <a:t>ParkingDB (acts like a system storage)</a:t>
            </a:r>
          </a:p>
        </p:txBody>
      </p:sp>
      <p:sp>
        <p:nvSpPr>
          <p:cNvPr id="3" name="Rectangle 2">
            <a:extLst>
              <a:ext uri="{FF2B5EF4-FFF2-40B4-BE49-F238E27FC236}">
                <a16:creationId xmlns:a16="http://schemas.microsoft.com/office/drawing/2014/main" id="{F233D850-0F36-E268-425E-1C643EDD56C6}"/>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Payment &lt;&lt;abstract&gt;&gt;</a:t>
            </a:r>
          </a:p>
        </p:txBody>
      </p:sp>
      <p:sp>
        <p:nvSpPr>
          <p:cNvPr id="4" name="Rectangle 3">
            <a:extLst>
              <a:ext uri="{FF2B5EF4-FFF2-40B4-BE49-F238E27FC236}">
                <a16:creationId xmlns:a16="http://schemas.microsoft.com/office/drawing/2014/main" id="{3C3E352D-4630-9C1F-312F-E2B5F766059D}"/>
              </a:ext>
            </a:extLst>
          </p:cNvPr>
          <p:cNvSpPr/>
          <p:nvPr/>
        </p:nvSpPr>
        <p:spPr>
          <a:xfrm>
            <a:off x="5297129"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CardPayment</a:t>
            </a:r>
            <a:r>
              <a:rPr lang="en-US" sz="2800" dirty="0">
                <a:latin typeface="Calibir"/>
              </a:rPr>
              <a:t> (inherits User)</a:t>
            </a:r>
          </a:p>
        </p:txBody>
      </p:sp>
      <p:sp>
        <p:nvSpPr>
          <p:cNvPr id="7" name="Rectangle 6">
            <a:extLst>
              <a:ext uri="{FF2B5EF4-FFF2-40B4-BE49-F238E27FC236}">
                <a16:creationId xmlns:a16="http://schemas.microsoft.com/office/drawing/2014/main" id="{7046671D-0A37-2258-0B73-404185756ADA}"/>
              </a:ext>
            </a:extLst>
          </p:cNvPr>
          <p:cNvSpPr/>
          <p:nvPr/>
        </p:nvSpPr>
        <p:spPr>
          <a:xfrm>
            <a:off x="8849032" y="5314331"/>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VoucherPayment</a:t>
            </a:r>
            <a:br>
              <a:rPr lang="en-US" sz="2800" dirty="0">
                <a:latin typeface="Calibir"/>
              </a:rPr>
            </a:br>
            <a:r>
              <a:rPr lang="en-US" sz="2800" dirty="0">
                <a:latin typeface="Calibir"/>
              </a:rPr>
              <a:t>(inherits User)</a:t>
            </a:r>
          </a:p>
        </p:txBody>
      </p:sp>
      <p:cxnSp>
        <p:nvCxnSpPr>
          <p:cNvPr id="8" name="Straight Arrow Connector 7">
            <a:extLst>
              <a:ext uri="{FF2B5EF4-FFF2-40B4-BE49-F238E27FC236}">
                <a16:creationId xmlns:a16="http://schemas.microsoft.com/office/drawing/2014/main" id="{56F36708-EC8F-1624-DC02-8D37F0653463}"/>
              </a:ext>
            </a:extLst>
          </p:cNvPr>
          <p:cNvCxnSpPr>
            <a:cxnSpLocks/>
            <a:stCxn id="3" idx="2"/>
          </p:cNvCxnSpPr>
          <p:nvPr/>
        </p:nvCxnSpPr>
        <p:spPr>
          <a:xfrm flipH="1">
            <a:off x="6961239" y="4611328"/>
            <a:ext cx="172310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929ACB55-1311-9E1A-7222-52C6D0459A47}"/>
              </a:ext>
            </a:extLst>
          </p:cNvPr>
          <p:cNvCxnSpPr>
            <a:cxnSpLocks/>
            <a:stCxn id="3" idx="2"/>
            <a:endCxn id="7" idx="0"/>
          </p:cNvCxnSpPr>
          <p:nvPr/>
        </p:nvCxnSpPr>
        <p:spPr>
          <a:xfrm>
            <a:off x="8684343" y="4611328"/>
            <a:ext cx="1784554" cy="703003"/>
          </a:xfrm>
          <a:prstGeom prst="straightConnector1">
            <a:avLst/>
          </a:prstGeom>
          <a:ln w="38100">
            <a:tailEnd type="triangle"/>
          </a:ln>
        </p:spPr>
        <p:style>
          <a:lnRef idx="1">
            <a:schemeClr val="accent6"/>
          </a:lnRef>
          <a:fillRef idx="0">
            <a:schemeClr val="accent6"/>
          </a:fillRef>
          <a:effectRef idx="0">
            <a:schemeClr val="accent6"/>
          </a:effectRef>
          <a:fontRef idx="minor">
            <a:schemeClr val="tx1"/>
          </a:fontRef>
        </p:style>
      </p:cxnSp>
      <p:sp>
        <p:nvSpPr>
          <p:cNvPr id="13" name="Rectangle 12">
            <a:extLst>
              <a:ext uri="{FF2B5EF4-FFF2-40B4-BE49-F238E27FC236}">
                <a16:creationId xmlns:a16="http://schemas.microsoft.com/office/drawing/2014/main" id="{A1649AFF-8CE3-C873-ACBB-4E805F2B8D5C}"/>
              </a:ext>
            </a:extLst>
          </p:cNvPr>
          <p:cNvSpPr/>
          <p:nvPr/>
        </p:nvSpPr>
        <p:spPr>
          <a:xfrm>
            <a:off x="7064478" y="754868"/>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a:t>
            </a:r>
          </a:p>
        </p:txBody>
      </p:sp>
      <p:sp>
        <p:nvSpPr>
          <p:cNvPr id="15" name="TextBox 14">
            <a:extLst>
              <a:ext uri="{FF2B5EF4-FFF2-40B4-BE49-F238E27FC236}">
                <a16:creationId xmlns:a16="http://schemas.microsoft.com/office/drawing/2014/main" id="{B8490423-87D1-D12F-487C-407FADDFCE39}"/>
              </a:ext>
            </a:extLst>
          </p:cNvPr>
          <p:cNvSpPr txBox="1"/>
          <p:nvPr/>
        </p:nvSpPr>
        <p:spPr>
          <a:xfrm>
            <a:off x="0" y="4887601"/>
            <a:ext cx="5230762" cy="1964512"/>
          </a:xfrm>
          <a:prstGeom prst="rect">
            <a:avLst/>
          </a:prstGeom>
          <a:noFill/>
        </p:spPr>
        <p:txBody>
          <a:bodyPr wrap="square">
            <a:spAutoFit/>
          </a:bodyPr>
          <a:lstStyle/>
          <a:p>
            <a:pPr>
              <a:lnSpc>
                <a:spcPct val="150000"/>
              </a:lnSpc>
            </a:pPr>
            <a:r>
              <a:rPr lang="en-US" sz="2800" dirty="0" err="1">
                <a:latin typeface="Calibir"/>
              </a:rPr>
              <a:t>CardPayment</a:t>
            </a:r>
            <a:r>
              <a:rPr lang="en-US" sz="2800" dirty="0">
                <a:latin typeface="Calibir"/>
              </a:rPr>
              <a:t> and </a:t>
            </a:r>
            <a:r>
              <a:rPr lang="en-US" sz="2800" dirty="0" err="1">
                <a:latin typeface="Calibir"/>
              </a:rPr>
              <a:t>VoucherPayment</a:t>
            </a:r>
            <a:r>
              <a:rPr lang="en-US" sz="2800" dirty="0">
                <a:latin typeface="Calibir"/>
              </a:rPr>
              <a:t> inherit from abstract Payment.</a:t>
            </a:r>
          </a:p>
        </p:txBody>
      </p:sp>
      <p:sp>
        <p:nvSpPr>
          <p:cNvPr id="10" name="Title 1">
            <a:extLst>
              <a:ext uri="{FF2B5EF4-FFF2-40B4-BE49-F238E27FC236}">
                <a16:creationId xmlns:a16="http://schemas.microsoft.com/office/drawing/2014/main" id="{F01FA66D-2E89-5438-0F4F-CC1D9BD86C8B}"/>
              </a:ext>
            </a:extLst>
          </p:cNvPr>
          <p:cNvSpPr>
            <a:spLocks noGrp="1"/>
          </p:cNvSpPr>
          <p:nvPr>
            <p:ph type="title"/>
          </p:nvPr>
        </p:nvSpPr>
        <p:spPr>
          <a:xfrm>
            <a:off x="0" y="0"/>
            <a:ext cx="12192000" cy="65792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967735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9880C-D1B9-1F8B-C59B-ED61CD361CB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38218C1-6B28-D786-3087-5B041EA81095}"/>
              </a:ext>
            </a:extLst>
          </p:cNvPr>
          <p:cNvSpPr txBox="1"/>
          <p:nvPr/>
        </p:nvSpPr>
        <p:spPr>
          <a:xfrm>
            <a:off x="0" y="988143"/>
            <a:ext cx="12192000"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Permit (id, zone, plate, status, semester)</a:t>
            </a:r>
          </a:p>
          <a:p>
            <a:pPr marL="457200" indent="-457200">
              <a:lnSpc>
                <a:spcPct val="150000"/>
              </a:lnSpc>
              <a:buFont typeface="Arial" panose="020B0604020202020204" pitchFamily="34" charset="0"/>
              <a:buChar char="•"/>
            </a:pPr>
            <a:r>
              <a:rPr lang="en-US" sz="2800" dirty="0">
                <a:latin typeface="Calibir"/>
              </a:rPr>
              <a:t>Payment (abstract)</a:t>
            </a:r>
          </a:p>
          <a:p>
            <a:pPr marL="914400" lvl="1" indent="-457200">
              <a:lnSpc>
                <a:spcPct val="150000"/>
              </a:lnSpc>
              <a:buFont typeface="Arial" panose="020B0604020202020204" pitchFamily="34" charset="0"/>
              <a:buChar char="•"/>
            </a:pPr>
            <a:r>
              <a:rPr lang="en-US" sz="2800" dirty="0">
                <a:latin typeface="Calibir"/>
              </a:rPr>
              <a:t>Subclasses: </a:t>
            </a:r>
            <a:r>
              <a:rPr lang="en-US" sz="2800" dirty="0" err="1">
                <a:latin typeface="Calibir"/>
              </a:rPr>
              <a:t>CardPayment</a:t>
            </a:r>
            <a:r>
              <a:rPr lang="en-US" sz="2800" dirty="0">
                <a:latin typeface="Calibir"/>
              </a:rPr>
              <a:t>, </a:t>
            </a:r>
            <a:r>
              <a:rPr lang="en-US" sz="2800" dirty="0" err="1">
                <a:latin typeface="Calibir"/>
              </a:rPr>
              <a:t>VoucherPayment</a:t>
            </a:r>
            <a:endParaRPr lang="en-US" sz="2800" dirty="0">
              <a:latin typeface="Calibir"/>
            </a:endParaRPr>
          </a:p>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a:latin typeface="Calibir"/>
              </a:rPr>
              <a:t>ParkingDB (acts like a system storage)</a:t>
            </a:r>
          </a:p>
        </p:txBody>
      </p:sp>
      <p:sp>
        <p:nvSpPr>
          <p:cNvPr id="3" name="Rectangle 2">
            <a:extLst>
              <a:ext uri="{FF2B5EF4-FFF2-40B4-BE49-F238E27FC236}">
                <a16:creationId xmlns:a16="http://schemas.microsoft.com/office/drawing/2014/main" id="{73006575-0932-442C-0034-1C90AFDF5BD2}"/>
              </a:ext>
            </a:extLst>
          </p:cNvPr>
          <p:cNvSpPr/>
          <p:nvPr/>
        </p:nvSpPr>
        <p:spPr>
          <a:xfrm>
            <a:off x="7064478" y="3217605"/>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ParkingDB</a:t>
            </a:r>
          </a:p>
        </p:txBody>
      </p:sp>
      <p:sp>
        <p:nvSpPr>
          <p:cNvPr id="13" name="Rectangle 12">
            <a:extLst>
              <a:ext uri="{FF2B5EF4-FFF2-40B4-BE49-F238E27FC236}">
                <a16:creationId xmlns:a16="http://schemas.microsoft.com/office/drawing/2014/main" id="{05A505A0-F01B-8C17-C0A3-3CC99E588EA0}"/>
              </a:ext>
            </a:extLst>
          </p:cNvPr>
          <p:cNvSpPr/>
          <p:nvPr/>
        </p:nvSpPr>
        <p:spPr>
          <a:xfrm>
            <a:off x="7064477" y="1055392"/>
            <a:ext cx="3239729" cy="139372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SecurityOfficer</a:t>
            </a:r>
            <a:endParaRPr lang="en-US" sz="2800" dirty="0">
              <a:latin typeface="Calibir"/>
            </a:endParaRPr>
          </a:p>
        </p:txBody>
      </p:sp>
      <p:sp>
        <p:nvSpPr>
          <p:cNvPr id="7" name="Title 1">
            <a:extLst>
              <a:ext uri="{FF2B5EF4-FFF2-40B4-BE49-F238E27FC236}">
                <a16:creationId xmlns:a16="http://schemas.microsoft.com/office/drawing/2014/main" id="{13CE8A54-551D-885A-746B-60E381BF58C6}"/>
              </a:ext>
            </a:extLst>
          </p:cNvPr>
          <p:cNvSpPr>
            <a:spLocks noGrp="1"/>
          </p:cNvSpPr>
          <p:nvPr>
            <p:ph type="title"/>
          </p:nvPr>
        </p:nvSpPr>
        <p:spPr>
          <a:xfrm>
            <a:off x="0" y="0"/>
            <a:ext cx="12192000" cy="74713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8636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D21D6-04E1-552E-F393-5E21C2A8878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E1C7307-6ECD-4F4B-3DB2-EC2EE9E0F12B}"/>
              </a:ext>
            </a:extLst>
          </p:cNvPr>
          <p:cNvSpPr txBox="1"/>
          <p:nvPr/>
        </p:nvSpPr>
        <p:spPr>
          <a:xfrm>
            <a:off x="0" y="988142"/>
            <a:ext cx="5127523" cy="4549835"/>
          </a:xfrm>
          <a:prstGeom prst="rect">
            <a:avLst/>
          </a:prstGeom>
          <a:noFill/>
        </p:spPr>
        <p:txBody>
          <a:bodyPr wrap="square">
            <a:spAutoFit/>
          </a:bodyPr>
          <a:lstStyle/>
          <a:p>
            <a:pPr>
              <a:lnSpc>
                <a:spcPct val="150000"/>
              </a:lnSpc>
            </a:pPr>
            <a:r>
              <a:rPr lang="en-US" sz="2800" b="1" dirty="0">
                <a:latin typeface="Calibir"/>
              </a:rPr>
              <a:t>2. Attributes (inside rectangles)</a:t>
            </a:r>
          </a:p>
          <a:p>
            <a:pPr>
              <a:lnSpc>
                <a:spcPct val="150000"/>
              </a:lnSpc>
            </a:pPr>
            <a:r>
              <a:rPr lang="en-US" sz="2800" dirty="0">
                <a:latin typeface="Calibir"/>
              </a:rPr>
              <a:t>Attributes are the "data fields."</a:t>
            </a:r>
            <a:br>
              <a:rPr lang="en-US" sz="2800" dirty="0">
                <a:latin typeface="Calibir"/>
              </a:rPr>
            </a:b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User → id, name, email, role (Student or Staff)</a:t>
            </a:r>
          </a:p>
          <a:p>
            <a:pPr marL="914400" lvl="1" indent="-457200">
              <a:lnSpc>
                <a:spcPct val="150000"/>
              </a:lnSpc>
              <a:buFont typeface="Arial" panose="020B0604020202020204" pitchFamily="34" charset="0"/>
              <a:buChar char="•"/>
            </a:pPr>
            <a:r>
              <a:rPr lang="en-US" sz="2800" dirty="0">
                <a:latin typeface="Calibir"/>
              </a:rPr>
              <a:t>Permit → id, zone, plate, status, semester</a:t>
            </a:r>
          </a:p>
        </p:txBody>
      </p:sp>
      <p:sp>
        <p:nvSpPr>
          <p:cNvPr id="15" name="Rectangle 14">
            <a:extLst>
              <a:ext uri="{FF2B5EF4-FFF2-40B4-BE49-F238E27FC236}">
                <a16:creationId xmlns:a16="http://schemas.microsoft.com/office/drawing/2014/main" id="{ABD6B752-270F-A7C1-B0B7-E37CF05C8373}"/>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6FB36EE1-6A9F-4E61-7BF8-6F724FE1BD7F}"/>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A1CB5FBB-32D4-967B-566A-5D8CC2F259D8}"/>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BF90537D-C7F4-BE03-63D0-E309D0D77FF8}"/>
              </a:ext>
            </a:extLst>
          </p:cNvPr>
          <p:cNvSpPr/>
          <p:nvPr/>
        </p:nvSpPr>
        <p:spPr>
          <a:xfrm>
            <a:off x="5444613" y="476503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C9CAA7D7-BD41-F2BD-5E49-D6D1402CBFF4}"/>
              </a:ext>
            </a:extLst>
          </p:cNvPr>
          <p:cNvSpPr/>
          <p:nvPr/>
        </p:nvSpPr>
        <p:spPr>
          <a:xfrm>
            <a:off x="5444613" y="544698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6AAD5FF0-6205-B31A-50EF-E96E14EC8595}"/>
              </a:ext>
            </a:extLst>
          </p:cNvPr>
          <p:cNvSpPr/>
          <p:nvPr/>
        </p:nvSpPr>
        <p:spPr>
          <a:xfrm>
            <a:off x="5444613" y="61103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9CC9BDE6-C1EC-F06A-2B32-CA7717FAB31E}"/>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F20FA66F-49E8-7D55-DCFC-23262DF3F69C}"/>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FCEA3440-C767-F624-CC08-954F335C31C4}"/>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AD95AF00-444A-E009-DA4A-4CDB0CC09305}"/>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EBA47345-2963-FC83-EAFF-392FF8C15060}"/>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CD6898F5-97B3-F49A-9681-7D9F2CCB56E5}"/>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022091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38692-7B7F-2834-A11F-7857494F0DC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0AFAE2A-3E22-4882-7346-CB8520B2E595}"/>
              </a:ext>
            </a:extLst>
          </p:cNvPr>
          <p:cNvSpPr txBox="1"/>
          <p:nvPr/>
        </p:nvSpPr>
        <p:spPr>
          <a:xfrm>
            <a:off x="0" y="184586"/>
            <a:ext cx="8834282" cy="6260368"/>
          </a:xfrm>
          <a:prstGeom prst="rect">
            <a:avLst/>
          </a:prstGeom>
          <a:noFill/>
        </p:spPr>
        <p:txBody>
          <a:bodyPr wrap="square">
            <a:spAutoFit/>
          </a:bodyPr>
          <a:lstStyle/>
          <a:p>
            <a:pPr>
              <a:lnSpc>
                <a:spcPct val="150000"/>
              </a:lnSpc>
            </a:pPr>
            <a:r>
              <a:rPr lang="en-US" sz="2700" b="1" dirty="0">
                <a:latin typeface="Calibir"/>
              </a:rPr>
              <a:t>What does the “+” mean?</a:t>
            </a:r>
          </a:p>
          <a:p>
            <a:pPr>
              <a:lnSpc>
                <a:spcPct val="150000"/>
              </a:lnSpc>
            </a:pPr>
            <a:r>
              <a:rPr lang="en-US" sz="2700" dirty="0">
                <a:latin typeface="Calibir"/>
              </a:rPr>
              <a:t>In UML, symbols in front of attributes/methods show visibility (who can access it):</a:t>
            </a:r>
          </a:p>
          <a:p>
            <a:pPr marL="457200" indent="-457200">
              <a:lnSpc>
                <a:spcPct val="150000"/>
              </a:lnSpc>
              <a:buFont typeface="Arial" panose="020B0604020202020204" pitchFamily="34" charset="0"/>
              <a:buChar char="•"/>
            </a:pPr>
            <a:r>
              <a:rPr lang="en-US" sz="2700" dirty="0">
                <a:latin typeface="Calibir"/>
              </a:rPr>
              <a:t>+ public – anyone can access it (other classes too).</a:t>
            </a:r>
          </a:p>
          <a:p>
            <a:pPr marL="457200" indent="-457200">
              <a:lnSpc>
                <a:spcPct val="150000"/>
              </a:lnSpc>
              <a:buFont typeface="Arial" panose="020B0604020202020204" pitchFamily="34" charset="0"/>
              <a:buChar char="•"/>
            </a:pPr>
            <a:r>
              <a:rPr lang="en-US" sz="2700" dirty="0">
                <a:latin typeface="Calibir"/>
              </a:rPr>
              <a:t>- private – only the class itself can access it.</a:t>
            </a:r>
          </a:p>
          <a:p>
            <a:pPr marL="457200" indent="-457200">
              <a:lnSpc>
                <a:spcPct val="150000"/>
              </a:lnSpc>
              <a:buFont typeface="Arial" panose="020B0604020202020204" pitchFamily="34" charset="0"/>
              <a:buChar char="•"/>
            </a:pPr>
            <a:r>
              <a:rPr lang="en-US" sz="2700" dirty="0">
                <a:latin typeface="Calibir"/>
              </a:rPr>
              <a:t># protected – the class and its subclasses (children) can access it.</a:t>
            </a:r>
          </a:p>
          <a:p>
            <a:pPr marL="457200" indent="-457200">
              <a:lnSpc>
                <a:spcPct val="150000"/>
              </a:lnSpc>
              <a:buFont typeface="Arial" panose="020B0604020202020204" pitchFamily="34" charset="0"/>
              <a:buChar char="•"/>
            </a:pPr>
            <a:r>
              <a:rPr lang="en-US" sz="2700" dirty="0">
                <a:latin typeface="Calibir"/>
              </a:rPr>
              <a:t>~ package – only classes in the same package/module can access it.</a:t>
            </a:r>
          </a:p>
          <a:p>
            <a:pPr>
              <a:lnSpc>
                <a:spcPct val="150000"/>
              </a:lnSpc>
            </a:pPr>
            <a:r>
              <a:rPr lang="en-US" sz="2700" dirty="0">
                <a:latin typeface="Calibir"/>
              </a:rPr>
              <a:t>So in the diagram we see, +name means </a:t>
            </a:r>
            <a:r>
              <a:rPr lang="en-US" sz="2700" i="1" dirty="0">
                <a:latin typeface="Calibir"/>
              </a:rPr>
              <a:t>name is public</a:t>
            </a:r>
            <a:r>
              <a:rPr lang="en-US" sz="2700" dirty="0">
                <a:latin typeface="Calibir"/>
              </a:rPr>
              <a:t>.</a:t>
            </a:r>
          </a:p>
        </p:txBody>
      </p:sp>
      <p:sp>
        <p:nvSpPr>
          <p:cNvPr id="3" name="Rectangle 2">
            <a:extLst>
              <a:ext uri="{FF2B5EF4-FFF2-40B4-BE49-F238E27FC236}">
                <a16:creationId xmlns:a16="http://schemas.microsoft.com/office/drawing/2014/main" id="{1A34D81F-0A4F-43EE-1893-9A4F00BC3D34}"/>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4" name="Rectangle 3">
            <a:extLst>
              <a:ext uri="{FF2B5EF4-FFF2-40B4-BE49-F238E27FC236}">
                <a16:creationId xmlns:a16="http://schemas.microsoft.com/office/drawing/2014/main" id="{C15BFAED-607B-75AB-C5DB-2E14C73154E0}"/>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5" name="Rectangle 4">
            <a:extLst>
              <a:ext uri="{FF2B5EF4-FFF2-40B4-BE49-F238E27FC236}">
                <a16:creationId xmlns:a16="http://schemas.microsoft.com/office/drawing/2014/main" id="{103603E5-7F97-AC4E-5616-F50914305FA5}"/>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7" name="Rectangle 6">
            <a:extLst>
              <a:ext uri="{FF2B5EF4-FFF2-40B4-BE49-F238E27FC236}">
                <a16:creationId xmlns:a16="http://schemas.microsoft.com/office/drawing/2014/main" id="{4B2B80B5-DEBA-9592-8BE7-FA9B43B287E2}"/>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8" name="Rectangle 7">
            <a:extLst>
              <a:ext uri="{FF2B5EF4-FFF2-40B4-BE49-F238E27FC236}">
                <a16:creationId xmlns:a16="http://schemas.microsoft.com/office/drawing/2014/main" id="{6B17BCD6-3798-22F7-E42F-54C436BC45F2}"/>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Tree>
    <p:extLst>
      <p:ext uri="{BB962C8B-B14F-4D97-AF65-F5344CB8AC3E}">
        <p14:creationId xmlns:p14="http://schemas.microsoft.com/office/powerpoint/2010/main" val="214046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500"/>
                                        <p:tgtEl>
                                          <p:spTgt spid="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500"/>
                                        <p:tgtEl>
                                          <p:spTgt spid="6">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500"/>
                                        <p:tgtEl>
                                          <p:spTgt spid="6">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4" end="4"/>
                                            </p:txEl>
                                          </p:spTgt>
                                        </p:tgtEl>
                                        <p:attrNameLst>
                                          <p:attrName>style.visibility</p:attrName>
                                        </p:attrNameLst>
                                      </p:cBhvr>
                                      <p:to>
                                        <p:strVal val="visible"/>
                                      </p:to>
                                    </p:set>
                                    <p:animEffect transition="in" filter="fade">
                                      <p:cBhvr>
                                        <p:cTn id="16" dur="500"/>
                                        <p:tgtEl>
                                          <p:spTgt spid="6">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animEffect transition="in" filter="fade">
                                      <p:cBhvr>
                                        <p:cTn id="19" dur="500"/>
                                        <p:tgtEl>
                                          <p:spTgt spid="6">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7A5FD-6E56-DD27-3F69-B3B7ECE048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6F837F0-CC94-457D-A48F-65597052BB30}"/>
              </a:ext>
            </a:extLst>
          </p:cNvPr>
          <p:cNvSpPr txBox="1"/>
          <p:nvPr/>
        </p:nvSpPr>
        <p:spPr>
          <a:xfrm>
            <a:off x="0" y="672662"/>
            <a:ext cx="5600430" cy="6260368"/>
          </a:xfrm>
          <a:prstGeom prst="rect">
            <a:avLst/>
          </a:prstGeom>
          <a:noFill/>
        </p:spPr>
        <p:txBody>
          <a:bodyPr wrap="square">
            <a:spAutoFit/>
          </a:bodyPr>
          <a:lstStyle/>
          <a:p>
            <a:pPr>
              <a:lnSpc>
                <a:spcPct val="150000"/>
              </a:lnSpc>
            </a:pPr>
            <a:r>
              <a:rPr lang="en-US" sz="2700" b="1" dirty="0">
                <a:latin typeface="Calibir"/>
              </a:rPr>
              <a:t>Why is #role Protected?</a:t>
            </a:r>
          </a:p>
          <a:p>
            <a:pPr>
              <a:lnSpc>
                <a:spcPct val="150000"/>
              </a:lnSpc>
            </a:pPr>
            <a:r>
              <a:rPr lang="en-US" sz="2700" dirty="0">
                <a:latin typeface="Calibir"/>
              </a:rPr>
              <a:t>In the diagram, +id, +name, +email are public because they need to be widely accessed (e.g., to display or look up a user).</a:t>
            </a:r>
          </a:p>
          <a:p>
            <a:pPr>
              <a:lnSpc>
                <a:spcPct val="150000"/>
              </a:lnSpc>
            </a:pPr>
            <a:r>
              <a:rPr lang="en-US" sz="2700" dirty="0">
                <a:latin typeface="Calibir"/>
              </a:rPr>
              <a:t>#role is protected because:</a:t>
            </a:r>
          </a:p>
          <a:p>
            <a:pPr marL="914400" lvl="1" indent="-457200">
              <a:lnSpc>
                <a:spcPct val="150000"/>
              </a:lnSpc>
              <a:buFont typeface="Arial" panose="020B0604020202020204" pitchFamily="34" charset="0"/>
              <a:buChar char="•"/>
            </a:pPr>
            <a:r>
              <a:rPr lang="en-US" sz="2700" dirty="0">
                <a:latin typeface="Calibir"/>
              </a:rPr>
              <a:t>It’s an internal property that only subclasses (like Student and Staff) and the system itself should use.</a:t>
            </a:r>
          </a:p>
        </p:txBody>
      </p:sp>
      <p:sp>
        <p:nvSpPr>
          <p:cNvPr id="15" name="Rectangle 14">
            <a:extLst>
              <a:ext uri="{FF2B5EF4-FFF2-40B4-BE49-F238E27FC236}">
                <a16:creationId xmlns:a16="http://schemas.microsoft.com/office/drawing/2014/main" id="{F16AA474-DBC1-01F0-2B09-144CB4FB2B88}"/>
              </a:ext>
            </a:extLst>
          </p:cNvPr>
          <p:cNvSpPr/>
          <p:nvPr/>
        </p:nvSpPr>
        <p:spPr>
          <a:xfrm>
            <a:off x="5656487" y="2134403"/>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E74FE3FA-4CC7-8E5C-F9E0-11C707BC2E3C}"/>
              </a:ext>
            </a:extLst>
          </p:cNvPr>
          <p:cNvSpPr/>
          <p:nvPr/>
        </p:nvSpPr>
        <p:spPr>
          <a:xfrm>
            <a:off x="5656486" y="3442897"/>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E5B77B30-D610-3004-74F7-DE82F9EF254B}"/>
              </a:ext>
            </a:extLst>
          </p:cNvPr>
          <p:cNvSpPr/>
          <p:nvPr/>
        </p:nvSpPr>
        <p:spPr>
          <a:xfrm>
            <a:off x="5656486" y="41155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F6D57A0D-967A-1657-2145-5C41B226FD9E}"/>
              </a:ext>
            </a:extLst>
          </p:cNvPr>
          <p:cNvSpPr/>
          <p:nvPr/>
        </p:nvSpPr>
        <p:spPr>
          <a:xfrm>
            <a:off x="5656486" y="477893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BE2F9CC1-C5FD-8009-4D65-67D5E70B0302}"/>
              </a:ext>
            </a:extLst>
          </p:cNvPr>
          <p:cNvSpPr/>
          <p:nvPr/>
        </p:nvSpPr>
        <p:spPr>
          <a:xfrm>
            <a:off x="5656486" y="546088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3F89A5A1-0D21-CA2D-C95C-1A1664B8030A}"/>
              </a:ext>
            </a:extLst>
          </p:cNvPr>
          <p:cNvSpPr/>
          <p:nvPr/>
        </p:nvSpPr>
        <p:spPr>
          <a:xfrm>
            <a:off x="5656486" y="61242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204572B0-5E60-DED0-A9C4-6BA4E8676841}"/>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A09E1D2C-3A3C-4B24-DE2A-5F779D41B5F2}"/>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689F8C3B-1957-B3D4-9DF7-E27F5A83B5E7}"/>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2328A068-D1CA-6C95-C259-31909FC6C71C}"/>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453AFA1D-8D15-E49C-FC43-D63D05CDF0AB}"/>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0224EA83-C644-C023-E7B4-35CF1B9AF478}"/>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70903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F5C31-AC15-2FCD-C382-18F05567529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930BD3-EA78-5665-AC9F-82A0B75A342E}"/>
              </a:ext>
            </a:extLst>
          </p:cNvPr>
          <p:cNvSpPr txBox="1"/>
          <p:nvPr/>
        </p:nvSpPr>
        <p:spPr>
          <a:xfrm>
            <a:off x="0" y="1299835"/>
            <a:ext cx="5600430" cy="5013873"/>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700" dirty="0">
                <a:latin typeface="Calibir"/>
              </a:rPr>
              <a:t>We don’t want every external class (like Vehicle or Permit) directly changing the role of a user.</a:t>
            </a:r>
          </a:p>
          <a:p>
            <a:pPr marL="914400" lvl="1" indent="-457200">
              <a:lnSpc>
                <a:spcPct val="150000"/>
              </a:lnSpc>
              <a:buFont typeface="Arial" panose="020B0604020202020204" pitchFamily="34" charset="0"/>
              <a:buChar char="•"/>
            </a:pPr>
            <a:r>
              <a:rPr lang="en-US" sz="2700" dirty="0">
                <a:latin typeface="Calibir"/>
              </a:rPr>
              <a:t>For example, only the User hierarchy should decide whether someone is a Student, Staff, or Admin.</a:t>
            </a:r>
          </a:p>
        </p:txBody>
      </p:sp>
      <p:sp>
        <p:nvSpPr>
          <p:cNvPr id="15" name="Rectangle 14">
            <a:extLst>
              <a:ext uri="{FF2B5EF4-FFF2-40B4-BE49-F238E27FC236}">
                <a16:creationId xmlns:a16="http://schemas.microsoft.com/office/drawing/2014/main" id="{1B65FB25-1504-07E0-556C-401161AA57E5}"/>
              </a:ext>
            </a:extLst>
          </p:cNvPr>
          <p:cNvSpPr/>
          <p:nvPr/>
        </p:nvSpPr>
        <p:spPr>
          <a:xfrm>
            <a:off x="5656487" y="2134403"/>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13446820-FF82-3345-EBBC-AC9884F4F60A}"/>
              </a:ext>
            </a:extLst>
          </p:cNvPr>
          <p:cNvSpPr/>
          <p:nvPr/>
        </p:nvSpPr>
        <p:spPr>
          <a:xfrm>
            <a:off x="5656486" y="3442897"/>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82682C9E-5759-6C2F-2745-266BC5CC0B7D}"/>
              </a:ext>
            </a:extLst>
          </p:cNvPr>
          <p:cNvSpPr/>
          <p:nvPr/>
        </p:nvSpPr>
        <p:spPr>
          <a:xfrm>
            <a:off x="5656486" y="41155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7FB2C775-AB48-8265-427D-476AF317B6A1}"/>
              </a:ext>
            </a:extLst>
          </p:cNvPr>
          <p:cNvSpPr/>
          <p:nvPr/>
        </p:nvSpPr>
        <p:spPr>
          <a:xfrm>
            <a:off x="5656486" y="477893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2488174A-59FA-1E20-FB69-772367C41302}"/>
              </a:ext>
            </a:extLst>
          </p:cNvPr>
          <p:cNvSpPr/>
          <p:nvPr/>
        </p:nvSpPr>
        <p:spPr>
          <a:xfrm>
            <a:off x="5656486" y="546088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EE9344C1-4464-5B09-2CE6-669C57793F5D}"/>
              </a:ext>
            </a:extLst>
          </p:cNvPr>
          <p:cNvSpPr/>
          <p:nvPr/>
        </p:nvSpPr>
        <p:spPr>
          <a:xfrm>
            <a:off x="5656486" y="61242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39F14FD0-782D-D575-5547-D87D239219F1}"/>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705B25AD-4E0C-2643-9A3F-6CD6E76941D2}"/>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A15529ED-DB91-2514-8F96-6A2229744C98}"/>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08CFAF4A-F958-7D88-A886-E4BEE89ED7B7}"/>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FC339270-AA27-45C6-7A47-4401DC02463D}"/>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8BD3C86C-FECA-A33D-8074-B1D6D8A7DC5A}"/>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462293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3401-94C0-D5AC-E2F5-33FF685E0CD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24356-25E4-EF71-2EF5-B97A85334933}"/>
              </a:ext>
            </a:extLst>
          </p:cNvPr>
          <p:cNvSpPr txBox="1"/>
          <p:nvPr/>
        </p:nvSpPr>
        <p:spPr>
          <a:xfrm>
            <a:off x="0" y="517754"/>
            <a:ext cx="5600430" cy="6488828"/>
          </a:xfrm>
          <a:prstGeom prst="rect">
            <a:avLst/>
          </a:prstGeom>
          <a:noFill/>
        </p:spPr>
        <p:txBody>
          <a:bodyPr wrap="square">
            <a:spAutoFit/>
          </a:bodyPr>
          <a:lstStyle/>
          <a:p>
            <a:pPr>
              <a:lnSpc>
                <a:spcPct val="150000"/>
              </a:lnSpc>
            </a:pPr>
            <a:r>
              <a:rPr lang="en-US" sz="2800" b="1" dirty="0">
                <a:latin typeface="Calibir"/>
              </a:rPr>
              <a:t>In simple words:</a:t>
            </a:r>
          </a:p>
          <a:p>
            <a:pPr marL="803275" indent="-457200">
              <a:lnSpc>
                <a:spcPct val="150000"/>
              </a:lnSpc>
              <a:buFont typeface="Arial" panose="020B0604020202020204" pitchFamily="34" charset="0"/>
              <a:buChar char="•"/>
            </a:pPr>
            <a:r>
              <a:rPr lang="en-US" sz="2800" dirty="0">
                <a:latin typeface="Calibir"/>
              </a:rPr>
              <a:t>public (+) → information we want everyone to see/use (e.g., name, id).</a:t>
            </a:r>
          </a:p>
          <a:p>
            <a:pPr marL="803275" indent="-457200">
              <a:lnSpc>
                <a:spcPct val="150000"/>
              </a:lnSpc>
              <a:buFont typeface="Arial" panose="020B0604020202020204" pitchFamily="34" charset="0"/>
              <a:buChar char="•"/>
            </a:pPr>
            <a:r>
              <a:rPr lang="en-US" sz="2800" dirty="0">
                <a:latin typeface="Calibir"/>
              </a:rPr>
              <a:t>protected (#) → information we only want </a:t>
            </a:r>
            <a:r>
              <a:rPr lang="en-US" sz="2800" i="1" dirty="0">
                <a:latin typeface="Calibir"/>
              </a:rPr>
              <a:t>children of User</a:t>
            </a:r>
            <a:r>
              <a:rPr lang="en-US" sz="2800" dirty="0">
                <a:latin typeface="Calibir"/>
              </a:rPr>
              <a:t> (Student, Staff) to use, but not outsiders.</a:t>
            </a:r>
          </a:p>
          <a:p>
            <a:pPr marL="803275" indent="-457200">
              <a:lnSpc>
                <a:spcPct val="150000"/>
              </a:lnSpc>
              <a:buFont typeface="Arial" panose="020B0604020202020204" pitchFamily="34" charset="0"/>
              <a:buChar char="•"/>
            </a:pPr>
            <a:r>
              <a:rPr lang="en-US" sz="2800" dirty="0">
                <a:latin typeface="Calibir"/>
              </a:rPr>
              <a:t>This keeps the system safe and structured.</a:t>
            </a:r>
          </a:p>
        </p:txBody>
      </p:sp>
      <p:sp>
        <p:nvSpPr>
          <p:cNvPr id="15" name="Rectangle 14">
            <a:extLst>
              <a:ext uri="{FF2B5EF4-FFF2-40B4-BE49-F238E27FC236}">
                <a16:creationId xmlns:a16="http://schemas.microsoft.com/office/drawing/2014/main" id="{ADDDB5A3-F94A-A694-A571-354BA3960451}"/>
              </a:ext>
            </a:extLst>
          </p:cNvPr>
          <p:cNvSpPr/>
          <p:nvPr/>
        </p:nvSpPr>
        <p:spPr>
          <a:xfrm>
            <a:off x="5656487" y="2134403"/>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6" name="Rectangle 15">
            <a:extLst>
              <a:ext uri="{FF2B5EF4-FFF2-40B4-BE49-F238E27FC236}">
                <a16:creationId xmlns:a16="http://schemas.microsoft.com/office/drawing/2014/main" id="{AD75178E-C051-A65F-9EA0-6FC1A0AC9FB3}"/>
              </a:ext>
            </a:extLst>
          </p:cNvPr>
          <p:cNvSpPr/>
          <p:nvPr/>
        </p:nvSpPr>
        <p:spPr>
          <a:xfrm>
            <a:off x="5656486" y="3442897"/>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7" name="Rectangle 16">
            <a:extLst>
              <a:ext uri="{FF2B5EF4-FFF2-40B4-BE49-F238E27FC236}">
                <a16:creationId xmlns:a16="http://schemas.microsoft.com/office/drawing/2014/main" id="{1B4847CD-0327-32CE-4455-31AA498FAFBA}"/>
              </a:ext>
            </a:extLst>
          </p:cNvPr>
          <p:cNvSpPr/>
          <p:nvPr/>
        </p:nvSpPr>
        <p:spPr>
          <a:xfrm>
            <a:off x="5656486" y="41155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8" name="Rectangle 17">
            <a:extLst>
              <a:ext uri="{FF2B5EF4-FFF2-40B4-BE49-F238E27FC236}">
                <a16:creationId xmlns:a16="http://schemas.microsoft.com/office/drawing/2014/main" id="{A9677309-CDA6-6702-3DF7-936625C14F64}"/>
              </a:ext>
            </a:extLst>
          </p:cNvPr>
          <p:cNvSpPr/>
          <p:nvPr/>
        </p:nvSpPr>
        <p:spPr>
          <a:xfrm>
            <a:off x="5656486" y="477893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9" name="Rectangle 18">
            <a:extLst>
              <a:ext uri="{FF2B5EF4-FFF2-40B4-BE49-F238E27FC236}">
                <a16:creationId xmlns:a16="http://schemas.microsoft.com/office/drawing/2014/main" id="{DACAC58B-9C43-E4E7-E678-93104EE6AA46}"/>
              </a:ext>
            </a:extLst>
          </p:cNvPr>
          <p:cNvSpPr/>
          <p:nvPr/>
        </p:nvSpPr>
        <p:spPr>
          <a:xfrm>
            <a:off x="5656486" y="5460884"/>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20" name="Rectangle 19">
            <a:extLst>
              <a:ext uri="{FF2B5EF4-FFF2-40B4-BE49-F238E27FC236}">
                <a16:creationId xmlns:a16="http://schemas.microsoft.com/office/drawing/2014/main" id="{E1C17092-1EC1-382B-714C-D1C3A8A58B82}"/>
              </a:ext>
            </a:extLst>
          </p:cNvPr>
          <p:cNvSpPr/>
          <p:nvPr/>
        </p:nvSpPr>
        <p:spPr>
          <a:xfrm>
            <a:off x="5656486" y="6124259"/>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1" name="Rectangle 20">
            <a:extLst>
              <a:ext uri="{FF2B5EF4-FFF2-40B4-BE49-F238E27FC236}">
                <a16:creationId xmlns:a16="http://schemas.microsoft.com/office/drawing/2014/main" id="{D2195C51-1500-842D-0891-87292A24A414}"/>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2" name="Rectangle 21">
            <a:extLst>
              <a:ext uri="{FF2B5EF4-FFF2-40B4-BE49-F238E27FC236}">
                <a16:creationId xmlns:a16="http://schemas.microsoft.com/office/drawing/2014/main" id="{13DF6FFC-C682-EF0F-E598-05D63034F904}"/>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23" name="Rectangle 22">
            <a:extLst>
              <a:ext uri="{FF2B5EF4-FFF2-40B4-BE49-F238E27FC236}">
                <a16:creationId xmlns:a16="http://schemas.microsoft.com/office/drawing/2014/main" id="{F09C1868-07ED-0C4E-65BC-BB93C1D22211}"/>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24" name="Rectangle 23">
            <a:extLst>
              <a:ext uri="{FF2B5EF4-FFF2-40B4-BE49-F238E27FC236}">
                <a16:creationId xmlns:a16="http://schemas.microsoft.com/office/drawing/2014/main" id="{0687E97F-DB28-170B-AB01-7F87AE0E7D81}"/>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25" name="Rectangle 24">
            <a:extLst>
              <a:ext uri="{FF2B5EF4-FFF2-40B4-BE49-F238E27FC236}">
                <a16:creationId xmlns:a16="http://schemas.microsoft.com/office/drawing/2014/main" id="{DCA06DCC-D1FB-E6A4-C19C-57D4B926FB22}"/>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8EAC8ECC-9C19-FF25-C815-043DE5A40515}"/>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980970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3A617-F877-42B5-2843-A648DA667A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87E48F-35B6-0B9A-BFA1-3F9011A995EB}"/>
              </a:ext>
            </a:extLst>
          </p:cNvPr>
          <p:cNvSpPr txBox="1"/>
          <p:nvPr/>
        </p:nvSpPr>
        <p:spPr>
          <a:xfrm>
            <a:off x="0" y="988142"/>
            <a:ext cx="5127523"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(name, id)</a:t>
            </a:r>
          </a:p>
          <a:p>
            <a:pPr marL="457200" indent="-457200">
              <a:lnSpc>
                <a:spcPct val="150000"/>
              </a:lnSpc>
              <a:buFont typeface="Arial" panose="020B0604020202020204" pitchFamily="34" charset="0"/>
              <a:buChar char="•"/>
            </a:pPr>
            <a:r>
              <a:rPr lang="en-US" sz="2800" dirty="0" err="1">
                <a:latin typeface="Calibir"/>
              </a:rPr>
              <a:t>VehicleInfo</a:t>
            </a:r>
            <a:r>
              <a:rPr lang="en-US" sz="2800" dirty="0">
                <a:latin typeface="Calibir"/>
              </a:rPr>
              <a:t> (plate, make)</a:t>
            </a:r>
          </a:p>
          <a:p>
            <a:pPr marL="457200" indent="-457200">
              <a:lnSpc>
                <a:spcPct val="150000"/>
              </a:lnSpc>
              <a:buFont typeface="Arial" panose="020B0604020202020204" pitchFamily="34" charset="0"/>
              <a:buChar char="•"/>
            </a:pPr>
            <a:r>
              <a:rPr lang="en-US" sz="2800" dirty="0">
                <a:latin typeface="Calibir"/>
              </a:rPr>
              <a:t>ParkingDB (</a:t>
            </a:r>
            <a:r>
              <a:rPr lang="en-US" sz="2800" dirty="0" err="1">
                <a:latin typeface="Calibir"/>
              </a:rPr>
              <a:t>savePermit</a:t>
            </a:r>
            <a:r>
              <a:rPr lang="en-US" sz="2800" dirty="0">
                <a:latin typeface="Calibir"/>
              </a:rPr>
              <a:t>(), </a:t>
            </a:r>
            <a:r>
              <a:rPr lang="en-US" sz="2800" dirty="0" err="1">
                <a:latin typeface="Calibir"/>
              </a:rPr>
              <a:t>readPermit</a:t>
            </a:r>
            <a:r>
              <a:rPr lang="en-US" sz="2800" dirty="0">
                <a:latin typeface="Calibir"/>
              </a:rPr>
              <a:t>())</a:t>
            </a:r>
          </a:p>
        </p:txBody>
      </p:sp>
      <p:sp>
        <p:nvSpPr>
          <p:cNvPr id="3" name="Rectangle 2">
            <a:extLst>
              <a:ext uri="{FF2B5EF4-FFF2-40B4-BE49-F238E27FC236}">
                <a16:creationId xmlns:a16="http://schemas.microsoft.com/office/drawing/2014/main" id="{833B77D5-D69B-5C7B-2F0A-AE5B65FBA186}"/>
              </a:ext>
            </a:extLst>
          </p:cNvPr>
          <p:cNvSpPr/>
          <p:nvPr/>
        </p:nvSpPr>
        <p:spPr>
          <a:xfrm>
            <a:off x="8952271" y="530942"/>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SecurityOfficer</a:t>
            </a:r>
            <a:endParaRPr lang="en-US" sz="2800" dirty="0">
              <a:latin typeface="Calibir"/>
            </a:endParaRPr>
          </a:p>
        </p:txBody>
      </p:sp>
      <p:sp>
        <p:nvSpPr>
          <p:cNvPr id="10" name="Rectangle 9">
            <a:extLst>
              <a:ext uri="{FF2B5EF4-FFF2-40B4-BE49-F238E27FC236}">
                <a16:creationId xmlns:a16="http://schemas.microsoft.com/office/drawing/2014/main" id="{E45ECF06-AA4E-5C13-E8CE-E202A582D610}"/>
              </a:ext>
            </a:extLst>
          </p:cNvPr>
          <p:cNvSpPr/>
          <p:nvPr/>
        </p:nvSpPr>
        <p:spPr>
          <a:xfrm>
            <a:off x="8952270" y="1839436"/>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11" name="Rectangle 10">
            <a:extLst>
              <a:ext uri="{FF2B5EF4-FFF2-40B4-BE49-F238E27FC236}">
                <a16:creationId xmlns:a16="http://schemas.microsoft.com/office/drawing/2014/main" id="{9AA21895-1D9F-A065-0E13-9355903F8A70}"/>
              </a:ext>
            </a:extLst>
          </p:cNvPr>
          <p:cNvSpPr/>
          <p:nvPr/>
        </p:nvSpPr>
        <p:spPr>
          <a:xfrm>
            <a:off x="8952270" y="2512098"/>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5" name="Rectangle 14">
            <a:extLst>
              <a:ext uri="{FF2B5EF4-FFF2-40B4-BE49-F238E27FC236}">
                <a16:creationId xmlns:a16="http://schemas.microsoft.com/office/drawing/2014/main" id="{34C41D10-EBD9-3B01-5A6F-BB1E029493CA}"/>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16" name="Rectangle 15">
            <a:extLst>
              <a:ext uri="{FF2B5EF4-FFF2-40B4-BE49-F238E27FC236}">
                <a16:creationId xmlns:a16="http://schemas.microsoft.com/office/drawing/2014/main" id="{0F6C5D30-AA3F-867E-9BC2-E1C9F16C123E}"/>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7" name="Rectangle 16">
            <a:extLst>
              <a:ext uri="{FF2B5EF4-FFF2-40B4-BE49-F238E27FC236}">
                <a16:creationId xmlns:a16="http://schemas.microsoft.com/office/drawing/2014/main" id="{0843170B-694D-4471-FC28-A8D53D695C9F}"/>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4" name="Rectangle 3">
            <a:extLst>
              <a:ext uri="{FF2B5EF4-FFF2-40B4-BE49-F238E27FC236}">
                <a16:creationId xmlns:a16="http://schemas.microsoft.com/office/drawing/2014/main" id="{9ADFE41B-60F3-0378-8507-204A99D7AD3B}"/>
              </a:ext>
            </a:extLst>
          </p:cNvPr>
          <p:cNvSpPr/>
          <p:nvPr/>
        </p:nvSpPr>
        <p:spPr>
          <a:xfrm>
            <a:off x="1757517" y="4120079"/>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ParkingDB</a:t>
            </a:r>
          </a:p>
        </p:txBody>
      </p:sp>
      <p:sp>
        <p:nvSpPr>
          <p:cNvPr id="5" name="Rectangle 4">
            <a:extLst>
              <a:ext uri="{FF2B5EF4-FFF2-40B4-BE49-F238E27FC236}">
                <a16:creationId xmlns:a16="http://schemas.microsoft.com/office/drawing/2014/main" id="{274D9E5F-D196-2FAB-E3C2-571F0180D0EC}"/>
              </a:ext>
            </a:extLst>
          </p:cNvPr>
          <p:cNvSpPr/>
          <p:nvPr/>
        </p:nvSpPr>
        <p:spPr>
          <a:xfrm>
            <a:off x="1757516" y="5428573"/>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savePermit</a:t>
            </a:r>
            <a:r>
              <a:rPr lang="en-US" sz="2800" dirty="0">
                <a:latin typeface="Calibir"/>
              </a:rPr>
              <a:t>()</a:t>
            </a:r>
          </a:p>
        </p:txBody>
      </p:sp>
      <p:sp>
        <p:nvSpPr>
          <p:cNvPr id="7" name="Rectangle 6">
            <a:extLst>
              <a:ext uri="{FF2B5EF4-FFF2-40B4-BE49-F238E27FC236}">
                <a16:creationId xmlns:a16="http://schemas.microsoft.com/office/drawing/2014/main" id="{5EB2F1AF-086E-D355-8DA9-2A514354475F}"/>
              </a:ext>
            </a:extLst>
          </p:cNvPr>
          <p:cNvSpPr/>
          <p:nvPr/>
        </p:nvSpPr>
        <p:spPr>
          <a:xfrm>
            <a:off x="1757516" y="6101235"/>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readPermit</a:t>
            </a:r>
            <a:r>
              <a:rPr lang="en-US" sz="2800" dirty="0">
                <a:latin typeface="Calibir"/>
              </a:rPr>
              <a:t>()</a:t>
            </a:r>
          </a:p>
        </p:txBody>
      </p:sp>
      <p:sp>
        <p:nvSpPr>
          <p:cNvPr id="14" name="Title 1">
            <a:extLst>
              <a:ext uri="{FF2B5EF4-FFF2-40B4-BE49-F238E27FC236}">
                <a16:creationId xmlns:a16="http://schemas.microsoft.com/office/drawing/2014/main" id="{61CE8868-FCCC-AE60-AE39-ED12196F7D80}"/>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15537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F28EB-0427-2AC1-C9D1-C8A862521F4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23F08A5-F545-5FDE-07F3-2E8B1193E5A5}"/>
              </a:ext>
            </a:extLst>
          </p:cNvPr>
          <p:cNvSpPr txBox="1"/>
          <p:nvPr/>
        </p:nvSpPr>
        <p:spPr>
          <a:xfrm>
            <a:off x="0" y="988142"/>
            <a:ext cx="5127523"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err="1">
                <a:latin typeface="Calibir"/>
              </a:rPr>
              <a:t>VoucherPayment</a:t>
            </a:r>
            <a:r>
              <a:rPr lang="en-US" sz="2800" dirty="0">
                <a:latin typeface="Calibir"/>
              </a:rPr>
              <a:t> (</a:t>
            </a:r>
            <a:r>
              <a:rPr lang="en-US" sz="2800" dirty="0" err="1">
                <a:latin typeface="Calibir"/>
              </a:rPr>
              <a:t>voucherid</a:t>
            </a:r>
            <a:r>
              <a:rPr lang="en-US" sz="2800" dirty="0">
                <a:latin typeface="Calibir"/>
              </a:rPr>
              <a:t>)</a:t>
            </a:r>
          </a:p>
          <a:p>
            <a:pPr marL="457200" indent="-457200">
              <a:lnSpc>
                <a:spcPct val="150000"/>
              </a:lnSpc>
              <a:buFont typeface="Arial" panose="020B0604020202020204" pitchFamily="34" charset="0"/>
              <a:buChar char="•"/>
            </a:pPr>
            <a:r>
              <a:rPr lang="en-US" sz="2800" dirty="0" err="1">
                <a:latin typeface="Calibir"/>
              </a:rPr>
              <a:t>CardPayment</a:t>
            </a:r>
            <a:r>
              <a:rPr lang="en-US" sz="2800" dirty="0">
                <a:latin typeface="Calibir"/>
              </a:rPr>
              <a:t> (</a:t>
            </a:r>
            <a:r>
              <a:rPr lang="en-US" sz="2800" dirty="0" err="1">
                <a:latin typeface="Calibir"/>
              </a:rPr>
              <a:t>cardNo</a:t>
            </a:r>
            <a:r>
              <a:rPr lang="en-US" sz="2800" dirty="0">
                <a:latin typeface="Calibir"/>
              </a:rPr>
              <a:t>, </a:t>
            </a:r>
            <a:r>
              <a:rPr lang="en-US" sz="2800" dirty="0" err="1">
                <a:latin typeface="Calibir"/>
              </a:rPr>
              <a:t>authNo</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Payment (amount, time)</a:t>
            </a:r>
          </a:p>
        </p:txBody>
      </p:sp>
      <p:sp>
        <p:nvSpPr>
          <p:cNvPr id="3" name="Rectangle 2">
            <a:extLst>
              <a:ext uri="{FF2B5EF4-FFF2-40B4-BE49-F238E27FC236}">
                <a16:creationId xmlns:a16="http://schemas.microsoft.com/office/drawing/2014/main" id="{D073E096-E5FE-0A72-210F-9DBD45F6F331}"/>
              </a:ext>
            </a:extLst>
          </p:cNvPr>
          <p:cNvSpPr/>
          <p:nvPr/>
        </p:nvSpPr>
        <p:spPr>
          <a:xfrm>
            <a:off x="8952271" y="530942"/>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VoucherPayment</a:t>
            </a:r>
            <a:endParaRPr lang="en-US" sz="2800" dirty="0">
              <a:latin typeface="Calibir"/>
            </a:endParaRPr>
          </a:p>
        </p:txBody>
      </p:sp>
      <p:sp>
        <p:nvSpPr>
          <p:cNvPr id="10" name="Rectangle 9">
            <a:extLst>
              <a:ext uri="{FF2B5EF4-FFF2-40B4-BE49-F238E27FC236}">
                <a16:creationId xmlns:a16="http://schemas.microsoft.com/office/drawing/2014/main" id="{8BDFB6D6-149E-4D98-07E1-675165BF1564}"/>
              </a:ext>
            </a:extLst>
          </p:cNvPr>
          <p:cNvSpPr/>
          <p:nvPr/>
        </p:nvSpPr>
        <p:spPr>
          <a:xfrm>
            <a:off x="8952270" y="1839436"/>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a:t>
            </a:r>
            <a:r>
              <a:rPr lang="en-US" sz="2800" dirty="0" err="1">
                <a:latin typeface="Calibir"/>
              </a:rPr>
              <a:t>voucherid</a:t>
            </a:r>
            <a:endParaRPr lang="en-US" sz="2800" dirty="0">
              <a:latin typeface="Calibir"/>
            </a:endParaRPr>
          </a:p>
        </p:txBody>
      </p:sp>
      <p:sp>
        <p:nvSpPr>
          <p:cNvPr id="15" name="Rectangle 14">
            <a:extLst>
              <a:ext uri="{FF2B5EF4-FFF2-40B4-BE49-F238E27FC236}">
                <a16:creationId xmlns:a16="http://schemas.microsoft.com/office/drawing/2014/main" id="{B6196047-B086-75A5-3034-4B4C4E7D29EA}"/>
              </a:ext>
            </a:extLst>
          </p:cNvPr>
          <p:cNvSpPr/>
          <p:nvPr/>
        </p:nvSpPr>
        <p:spPr>
          <a:xfrm>
            <a:off x="5444614" y="2120507"/>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CardPayment</a:t>
            </a:r>
            <a:endParaRPr lang="en-US" sz="2800" dirty="0">
              <a:latin typeface="Calibir"/>
            </a:endParaRPr>
          </a:p>
        </p:txBody>
      </p:sp>
      <p:sp>
        <p:nvSpPr>
          <p:cNvPr id="16" name="Rectangle 15">
            <a:extLst>
              <a:ext uri="{FF2B5EF4-FFF2-40B4-BE49-F238E27FC236}">
                <a16:creationId xmlns:a16="http://schemas.microsoft.com/office/drawing/2014/main" id="{183C2AC7-B32A-CFFE-782E-A6094C15AB50}"/>
              </a:ext>
            </a:extLst>
          </p:cNvPr>
          <p:cNvSpPr/>
          <p:nvPr/>
        </p:nvSpPr>
        <p:spPr>
          <a:xfrm>
            <a:off x="5444613" y="3429001"/>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cardNo</a:t>
            </a:r>
            <a:endParaRPr lang="en-US" sz="2800" dirty="0">
              <a:latin typeface="Calibir"/>
            </a:endParaRPr>
          </a:p>
        </p:txBody>
      </p:sp>
      <p:sp>
        <p:nvSpPr>
          <p:cNvPr id="17" name="Rectangle 16">
            <a:extLst>
              <a:ext uri="{FF2B5EF4-FFF2-40B4-BE49-F238E27FC236}">
                <a16:creationId xmlns:a16="http://schemas.microsoft.com/office/drawing/2014/main" id="{1498CC7A-136D-3BFA-BA3B-207ADC0D2384}"/>
              </a:ext>
            </a:extLst>
          </p:cNvPr>
          <p:cNvSpPr/>
          <p:nvPr/>
        </p:nvSpPr>
        <p:spPr>
          <a:xfrm>
            <a:off x="5444613" y="4101663"/>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authNo</a:t>
            </a:r>
            <a:endParaRPr lang="en-US" sz="2800" dirty="0">
              <a:latin typeface="Calibir"/>
            </a:endParaRPr>
          </a:p>
        </p:txBody>
      </p:sp>
      <p:sp>
        <p:nvSpPr>
          <p:cNvPr id="4" name="Rectangle 3">
            <a:extLst>
              <a:ext uri="{FF2B5EF4-FFF2-40B4-BE49-F238E27FC236}">
                <a16:creationId xmlns:a16="http://schemas.microsoft.com/office/drawing/2014/main" id="{B3DBDBF7-AADB-C7C4-A151-37B0CCFC4A60}"/>
              </a:ext>
            </a:extLst>
          </p:cNvPr>
          <p:cNvSpPr/>
          <p:nvPr/>
        </p:nvSpPr>
        <p:spPr>
          <a:xfrm>
            <a:off x="1757517" y="4120079"/>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Payment</a:t>
            </a:r>
          </a:p>
        </p:txBody>
      </p:sp>
      <p:sp>
        <p:nvSpPr>
          <p:cNvPr id="5" name="Rectangle 4">
            <a:extLst>
              <a:ext uri="{FF2B5EF4-FFF2-40B4-BE49-F238E27FC236}">
                <a16:creationId xmlns:a16="http://schemas.microsoft.com/office/drawing/2014/main" id="{6E39093E-1553-8BB3-740E-EE02C41CE451}"/>
              </a:ext>
            </a:extLst>
          </p:cNvPr>
          <p:cNvSpPr/>
          <p:nvPr/>
        </p:nvSpPr>
        <p:spPr>
          <a:xfrm>
            <a:off x="1757516" y="5428573"/>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+amount</a:t>
            </a:r>
          </a:p>
        </p:txBody>
      </p:sp>
      <p:sp>
        <p:nvSpPr>
          <p:cNvPr id="7" name="Rectangle 6">
            <a:extLst>
              <a:ext uri="{FF2B5EF4-FFF2-40B4-BE49-F238E27FC236}">
                <a16:creationId xmlns:a16="http://schemas.microsoft.com/office/drawing/2014/main" id="{7F624C04-5EBE-F43B-371B-A5E9970EEA7D}"/>
              </a:ext>
            </a:extLst>
          </p:cNvPr>
          <p:cNvSpPr/>
          <p:nvPr/>
        </p:nvSpPr>
        <p:spPr>
          <a:xfrm>
            <a:off x="1757516" y="6101235"/>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+time</a:t>
            </a:r>
          </a:p>
        </p:txBody>
      </p:sp>
      <p:sp>
        <p:nvSpPr>
          <p:cNvPr id="11" name="Title 1">
            <a:extLst>
              <a:ext uri="{FF2B5EF4-FFF2-40B4-BE49-F238E27FC236}">
                <a16:creationId xmlns:a16="http://schemas.microsoft.com/office/drawing/2014/main" id="{23A543AF-8667-2B6E-AAE5-7C35C24D6CAD}"/>
              </a:ext>
            </a:extLst>
          </p:cNvPr>
          <p:cNvSpPr>
            <a:spLocks noGrp="1"/>
          </p:cNvSpPr>
          <p:nvPr>
            <p:ph type="title"/>
          </p:nvPr>
        </p:nvSpPr>
        <p:spPr>
          <a:xfrm>
            <a:off x="0" y="0"/>
            <a:ext cx="12192000" cy="672662"/>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957348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6BC69-4C40-2E36-A5B4-829FCDEA35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98654B-6DF2-4F17-A863-F6686D80CDB2}"/>
              </a:ext>
            </a:extLst>
          </p:cNvPr>
          <p:cNvSpPr txBox="1"/>
          <p:nvPr/>
        </p:nvSpPr>
        <p:spPr>
          <a:xfrm>
            <a:off x="0" y="1064165"/>
            <a:ext cx="12192000" cy="4549835"/>
          </a:xfrm>
          <a:prstGeom prst="rect">
            <a:avLst/>
          </a:prstGeom>
          <a:noFill/>
        </p:spPr>
        <p:txBody>
          <a:bodyPr wrap="square">
            <a:spAutoFit/>
          </a:bodyPr>
          <a:lstStyle/>
          <a:p>
            <a:pPr>
              <a:lnSpc>
                <a:spcPct val="150000"/>
              </a:lnSpc>
            </a:pPr>
            <a:r>
              <a:rPr lang="en-US" sz="2800" b="1" dirty="0">
                <a:latin typeface="Calibir"/>
              </a:rPr>
              <a:t>3. Methods (actions, shown as ovals linked)</a:t>
            </a:r>
          </a:p>
          <a:p>
            <a:pPr>
              <a:lnSpc>
                <a:spcPct val="150000"/>
              </a:lnSpc>
            </a:pPr>
            <a:r>
              <a:rPr lang="en-US" sz="2800" dirty="0">
                <a:latin typeface="Calibir"/>
              </a:rPr>
              <a:t>Think of methods as actions the class can do:</a:t>
            </a:r>
          </a:p>
          <a:p>
            <a:pPr marL="914400" lvl="1" indent="-457200">
              <a:lnSpc>
                <a:spcPct val="150000"/>
              </a:lnSpc>
              <a:buFont typeface="Arial" panose="020B0604020202020204" pitchFamily="34" charset="0"/>
              <a:buChar char="•"/>
            </a:pPr>
            <a:r>
              <a:rPr lang="en-US" sz="2800" dirty="0">
                <a:latin typeface="Calibir"/>
              </a:rPr>
              <a:t>User: </a:t>
            </a:r>
            <a:r>
              <a:rPr lang="en-US" sz="2800" dirty="0" err="1">
                <a:latin typeface="Calibir"/>
              </a:rPr>
              <a:t>requestPermit</a:t>
            </a:r>
            <a:r>
              <a:rPr lang="en-US" sz="2800" dirty="0">
                <a:latin typeface="Calibir"/>
              </a:rPr>
              <a:t>(), login()</a:t>
            </a:r>
          </a:p>
          <a:p>
            <a:pPr marL="914400" lvl="1" indent="-457200">
              <a:lnSpc>
                <a:spcPct val="150000"/>
              </a:lnSpc>
              <a:buFont typeface="Arial" panose="020B0604020202020204" pitchFamily="34" charset="0"/>
              <a:buChar char="•"/>
            </a:pPr>
            <a:r>
              <a:rPr lang="en-US" sz="2800" dirty="0">
                <a:latin typeface="Calibir"/>
              </a:rPr>
              <a:t>Permit: activate(), revoke(), </a:t>
            </a:r>
            <a:r>
              <a:rPr lang="en-US" sz="2800" dirty="0" err="1">
                <a:latin typeface="Calibir"/>
              </a:rPr>
              <a:t>assignVehicle</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Payment: </a:t>
            </a:r>
            <a:r>
              <a:rPr lang="en-US" sz="2800" dirty="0" err="1">
                <a:latin typeface="Calibir"/>
              </a:rPr>
              <a:t>processPayment</a:t>
            </a:r>
            <a:r>
              <a:rPr lang="en-US" sz="2800" dirty="0">
                <a:latin typeface="Calibir"/>
              </a:rPr>
              <a:t>()</a:t>
            </a:r>
          </a:p>
          <a:p>
            <a:pPr marL="914400" lvl="1" indent="-457200">
              <a:lnSpc>
                <a:spcPct val="150000"/>
              </a:lnSpc>
              <a:buFont typeface="Arial" panose="020B0604020202020204" pitchFamily="34" charset="0"/>
              <a:buChar char="•"/>
            </a:pPr>
            <a:r>
              <a:rPr lang="en-US" sz="2800" dirty="0" err="1">
                <a:latin typeface="Calibir"/>
              </a:rPr>
              <a:t>SecurityOfficer</a:t>
            </a:r>
            <a:r>
              <a:rPr lang="en-US" sz="2800" dirty="0">
                <a:latin typeface="Calibir"/>
              </a:rPr>
              <a:t>: </a:t>
            </a:r>
            <a:r>
              <a:rPr lang="en-US" sz="2800" dirty="0" err="1">
                <a:latin typeface="Calibir"/>
              </a:rPr>
              <a:t>revokePermit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ParkingDB: </a:t>
            </a:r>
            <a:r>
              <a:rPr lang="en-US" sz="2800" dirty="0" err="1">
                <a:latin typeface="Calibir"/>
              </a:rPr>
              <a:t>savePermit</a:t>
            </a:r>
            <a:r>
              <a:rPr lang="en-US" sz="2800" dirty="0">
                <a:latin typeface="Calibir"/>
              </a:rPr>
              <a:t>(), </a:t>
            </a:r>
            <a:r>
              <a:rPr lang="en-US" sz="2800" dirty="0" err="1">
                <a:latin typeface="Calibir"/>
              </a:rPr>
              <a:t>readPermit</a:t>
            </a:r>
            <a:r>
              <a:rPr lang="en-US" sz="2800" dirty="0">
                <a:latin typeface="Calibir"/>
              </a:rPr>
              <a:t>()</a:t>
            </a:r>
          </a:p>
        </p:txBody>
      </p:sp>
      <p:sp>
        <p:nvSpPr>
          <p:cNvPr id="9" name="Rectangle 8">
            <a:extLst>
              <a:ext uri="{FF2B5EF4-FFF2-40B4-BE49-F238E27FC236}">
                <a16:creationId xmlns:a16="http://schemas.microsoft.com/office/drawing/2014/main" id="{69DBBBC3-9A74-53A9-6168-E96B9810E1DF}"/>
              </a:ext>
            </a:extLst>
          </p:cNvPr>
          <p:cNvSpPr/>
          <p:nvPr/>
        </p:nvSpPr>
        <p:spPr>
          <a:xfrm>
            <a:off x="8952271" y="825910"/>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10" name="Rectangle 9">
            <a:extLst>
              <a:ext uri="{FF2B5EF4-FFF2-40B4-BE49-F238E27FC236}">
                <a16:creationId xmlns:a16="http://schemas.microsoft.com/office/drawing/2014/main" id="{A48EFC43-69A2-5C05-17A6-158CB304860B}"/>
              </a:ext>
            </a:extLst>
          </p:cNvPr>
          <p:cNvSpPr/>
          <p:nvPr/>
        </p:nvSpPr>
        <p:spPr>
          <a:xfrm>
            <a:off x="8952270" y="2134404"/>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483FEB86-EA74-6EE5-1E08-3162DB2A88CD}"/>
              </a:ext>
            </a:extLst>
          </p:cNvPr>
          <p:cNvSpPr/>
          <p:nvPr/>
        </p:nvSpPr>
        <p:spPr>
          <a:xfrm>
            <a:off x="8952270" y="280706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a:t>
            </a:r>
          </a:p>
        </p:txBody>
      </p:sp>
      <p:sp>
        <p:nvSpPr>
          <p:cNvPr id="12" name="Rectangle 11">
            <a:extLst>
              <a:ext uri="{FF2B5EF4-FFF2-40B4-BE49-F238E27FC236}">
                <a16:creationId xmlns:a16="http://schemas.microsoft.com/office/drawing/2014/main" id="{86BC5C1F-C934-B146-D8D1-C36630822FD1}"/>
              </a:ext>
            </a:extLst>
          </p:cNvPr>
          <p:cNvSpPr/>
          <p:nvPr/>
        </p:nvSpPr>
        <p:spPr>
          <a:xfrm>
            <a:off x="8952270" y="347044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a:t>
            </a:r>
          </a:p>
        </p:txBody>
      </p:sp>
      <p:sp>
        <p:nvSpPr>
          <p:cNvPr id="13" name="Rectangle 12">
            <a:extLst>
              <a:ext uri="{FF2B5EF4-FFF2-40B4-BE49-F238E27FC236}">
                <a16:creationId xmlns:a16="http://schemas.microsoft.com/office/drawing/2014/main" id="{7D3FADC4-60D6-4FF0-20A4-546B70D9518B}"/>
              </a:ext>
            </a:extLst>
          </p:cNvPr>
          <p:cNvSpPr/>
          <p:nvPr/>
        </p:nvSpPr>
        <p:spPr>
          <a:xfrm>
            <a:off x="8952271" y="413381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a:t>
            </a:r>
          </a:p>
        </p:txBody>
      </p:sp>
      <p:sp>
        <p:nvSpPr>
          <p:cNvPr id="5" name="Title 1">
            <a:extLst>
              <a:ext uri="{FF2B5EF4-FFF2-40B4-BE49-F238E27FC236}">
                <a16:creationId xmlns:a16="http://schemas.microsoft.com/office/drawing/2014/main" id="{1BF08EED-F5EC-12EA-DF06-5FF307A3D99C}"/>
              </a:ext>
            </a:extLst>
          </p:cNvPr>
          <p:cNvSpPr>
            <a:spLocks noGrp="1"/>
          </p:cNvSpPr>
          <p:nvPr>
            <p:ph type="title"/>
          </p:nvPr>
        </p:nvSpPr>
        <p:spPr>
          <a:xfrm>
            <a:off x="0" y="0"/>
            <a:ext cx="12192000" cy="825909"/>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34183810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DC65B-2468-9439-1BD2-4A712A5D5F3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0E8E848-7487-CDF7-6FBB-F44BBC58EF7F}"/>
              </a:ext>
            </a:extLst>
          </p:cNvPr>
          <p:cNvSpPr txBox="1"/>
          <p:nvPr/>
        </p:nvSpPr>
        <p:spPr>
          <a:xfrm>
            <a:off x="0" y="0"/>
            <a:ext cx="8952269" cy="6387728"/>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500" b="1" dirty="0">
                <a:highlight>
                  <a:srgbClr val="FFFF00"/>
                </a:highlight>
                <a:latin typeface="Calibir"/>
              </a:rPr>
              <a:t>User Class</a:t>
            </a:r>
            <a:r>
              <a:rPr lang="en-US" altLang="en-US" sz="2500" dirty="0">
                <a:highlight>
                  <a:srgbClr val="FFFF00"/>
                </a:highlight>
                <a:latin typeface="Calibir"/>
              </a:rPr>
              <a:t> (Rectangle: data blueprint).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User (abstract)</a:t>
            </a:r>
            <a:r>
              <a:rPr lang="en-US" altLang="en-US" sz="2500" dirty="0">
                <a:latin typeface="Calibir"/>
              </a:rPr>
              <a:t>: we don’t create a plain User; you create </a:t>
            </a:r>
            <a:r>
              <a:rPr lang="en-US" altLang="en-US" sz="2500" b="1" dirty="0" err="1">
                <a:latin typeface="Calibir"/>
              </a:rPr>
              <a:t>StudentUser</a:t>
            </a:r>
            <a:r>
              <a:rPr lang="en-US" altLang="en-US" sz="2500" dirty="0">
                <a:latin typeface="Calibir"/>
              </a:rPr>
              <a:t> or </a:t>
            </a:r>
            <a:r>
              <a:rPr lang="en-US" altLang="en-US" sz="2500" b="1" dirty="0" err="1">
                <a:latin typeface="Calibir"/>
              </a:rPr>
              <a:t>StaffUser</a:t>
            </a:r>
            <a:r>
              <a:rPr lang="en-US" altLang="en-US" sz="2500" dirty="0">
                <a:latin typeface="Calibir"/>
              </a:rPr>
              <a:t> (inheritance shown by hollow-triangle arrows).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Attributes (top middle section)</a:t>
            </a:r>
            <a:endParaRPr lang="en-US" altLang="en-US" sz="25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+id: int, +name: string, +email: string are public.</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#role is protected (User + its children can see it).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b="1" dirty="0">
                <a:latin typeface="Calibir"/>
              </a:rPr>
              <a:t>Methods (bottom middle section)</a:t>
            </a:r>
            <a:endParaRPr lang="en-US" altLang="en-US" sz="25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+login(email, password): bool</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t>
            </a:r>
            <a:r>
              <a:rPr lang="en-US" altLang="en-US" sz="2500" dirty="0" err="1">
                <a:latin typeface="Calibir"/>
              </a:rPr>
              <a:t>requestPermit</a:t>
            </a:r>
            <a:r>
              <a:rPr lang="en-US" altLang="en-US" sz="2500" dirty="0">
                <a:latin typeface="Calibir"/>
              </a:rPr>
              <a:t>(plate, zone, semester): Permit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t>
            </a:r>
            <a:r>
              <a:rPr lang="en-US" altLang="en-US" sz="2500" dirty="0" err="1">
                <a:latin typeface="Calibir"/>
              </a:rPr>
              <a:t>cancelRequest</a:t>
            </a:r>
            <a:r>
              <a:rPr lang="en-US" altLang="en-US" sz="2500" dirty="0">
                <a:latin typeface="Calibir"/>
              </a:rPr>
              <a:t>() is package visibility (same module only).</a:t>
            </a:r>
          </a:p>
        </p:txBody>
      </p:sp>
      <p:sp>
        <p:nvSpPr>
          <p:cNvPr id="13" name="Rectangle 12">
            <a:extLst>
              <a:ext uri="{FF2B5EF4-FFF2-40B4-BE49-F238E27FC236}">
                <a16:creationId xmlns:a16="http://schemas.microsoft.com/office/drawing/2014/main" id="{AE1BA78E-619A-EC7A-400B-F507409C2A5A}"/>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14" name="Rectangle 13">
            <a:extLst>
              <a:ext uri="{FF2B5EF4-FFF2-40B4-BE49-F238E27FC236}">
                <a16:creationId xmlns:a16="http://schemas.microsoft.com/office/drawing/2014/main" id="{37D51F67-F96E-D641-101E-9D16F6121140}"/>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15" name="Rectangle 14">
            <a:extLst>
              <a:ext uri="{FF2B5EF4-FFF2-40B4-BE49-F238E27FC236}">
                <a16:creationId xmlns:a16="http://schemas.microsoft.com/office/drawing/2014/main" id="{DE0E122E-E87D-0048-8534-D340540E9E6F}"/>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16" name="Rectangle 15">
            <a:extLst>
              <a:ext uri="{FF2B5EF4-FFF2-40B4-BE49-F238E27FC236}">
                <a16:creationId xmlns:a16="http://schemas.microsoft.com/office/drawing/2014/main" id="{30C19380-BED8-C886-041B-B20BECA13D43}"/>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17" name="Rectangle 16">
            <a:extLst>
              <a:ext uri="{FF2B5EF4-FFF2-40B4-BE49-F238E27FC236}">
                <a16:creationId xmlns:a16="http://schemas.microsoft.com/office/drawing/2014/main" id="{C7BCEC73-0A38-7D2C-6A44-7765BDA3D803}"/>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20" name="Rectangle 19">
            <a:extLst>
              <a:ext uri="{FF2B5EF4-FFF2-40B4-BE49-F238E27FC236}">
                <a16:creationId xmlns:a16="http://schemas.microsoft.com/office/drawing/2014/main" id="{18E0B01D-A951-4D14-AAFD-61BAD6389F46}"/>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21" name="Oval 20">
            <a:extLst>
              <a:ext uri="{FF2B5EF4-FFF2-40B4-BE49-F238E27FC236}">
                <a16:creationId xmlns:a16="http://schemas.microsoft.com/office/drawing/2014/main" id="{5D8975A5-D04C-E93C-BAF9-CB0DAAC8C04D}"/>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24" name="Oval 23">
            <a:extLst>
              <a:ext uri="{FF2B5EF4-FFF2-40B4-BE49-F238E27FC236}">
                <a16:creationId xmlns:a16="http://schemas.microsoft.com/office/drawing/2014/main" id="{FAB1D955-D30C-F4FB-F00A-76E641314109}"/>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25" name="Oval 24">
            <a:extLst>
              <a:ext uri="{FF2B5EF4-FFF2-40B4-BE49-F238E27FC236}">
                <a16:creationId xmlns:a16="http://schemas.microsoft.com/office/drawing/2014/main" id="{AF1DB5F5-9004-145C-9509-3EF6FC4479FC}"/>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26" name="Rectangle 2">
            <a:extLst>
              <a:ext uri="{FF2B5EF4-FFF2-40B4-BE49-F238E27FC236}">
                <a16:creationId xmlns:a16="http://schemas.microsoft.com/office/drawing/2014/main" id="{C9DD9BF6-8E00-0F68-7DDD-F758C39DCA1A}"/>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6855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3E3CF-B896-6801-6BB3-9B7BA5EB797A}"/>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AF7F6C5B-8205-695F-36E6-A30C46D55A80}"/>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DDE7343C-C77A-447E-FD9D-7D10CC023037}"/>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3ED12868-EFCD-D7ED-758B-031A5C3C2A84}"/>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6" name="TextBox 5">
            <a:extLst>
              <a:ext uri="{FF2B5EF4-FFF2-40B4-BE49-F238E27FC236}">
                <a16:creationId xmlns:a16="http://schemas.microsoft.com/office/drawing/2014/main" id="{040C0682-00FC-15BB-2C6D-014231DA732D}"/>
              </a:ext>
            </a:extLst>
          </p:cNvPr>
          <p:cNvSpPr txBox="1"/>
          <p:nvPr/>
        </p:nvSpPr>
        <p:spPr>
          <a:xfrm>
            <a:off x="0" y="0"/>
            <a:ext cx="8952269" cy="1964512"/>
          </a:xfrm>
          <a:prstGeom prst="rect">
            <a:avLst/>
          </a:prstGeom>
          <a:noFill/>
        </p:spPr>
        <p:txBody>
          <a:bodyPr wrap="square">
            <a:spAutoFit/>
          </a:bodyPr>
          <a:lstStyle/>
          <a:p>
            <a:pPr>
              <a:lnSpc>
                <a:spcPct val="150000"/>
              </a:lnSpc>
            </a:pPr>
            <a:r>
              <a:rPr lang="en-US" sz="2800" b="1" dirty="0">
                <a:highlight>
                  <a:srgbClr val="FFFF00"/>
                </a:highlight>
                <a:latin typeface="Calibir"/>
              </a:rPr>
              <a:t>Association (Relationship)</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The line from User to Permit is labeled “requests” to use an action verb/or from Permit to User “requests by”.</a:t>
            </a:r>
          </a:p>
        </p:txBody>
      </p:sp>
      <p:sp>
        <p:nvSpPr>
          <p:cNvPr id="26" name="Rectangle 2">
            <a:extLst>
              <a:ext uri="{FF2B5EF4-FFF2-40B4-BE49-F238E27FC236}">
                <a16:creationId xmlns:a16="http://schemas.microsoft.com/office/drawing/2014/main" id="{0FEAC2C2-4AB5-8417-C46F-95828AE2CA3F}"/>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0AF2C3C6-AB9E-AAE9-8DBD-8C97080AC70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E5F2883D-DE82-C81E-3C12-CD9E2D296555}"/>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1E28DC36-50D7-7B6A-A5B0-BED49CBBDE11}"/>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2A197EFC-9EB8-FD62-12BE-771F63FEDD74}"/>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F3C986BE-EEC7-C450-26B3-1D04F05B0967}"/>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BA18A22B-BED8-E110-CAB4-BEB55A9020AF}"/>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EF38D2A5-3465-E2A6-FE59-01700E63F67E}"/>
              </a:ext>
            </a:extLst>
          </p:cNvPr>
          <p:cNvSpPr txBox="1"/>
          <p:nvPr/>
        </p:nvSpPr>
        <p:spPr>
          <a:xfrm>
            <a:off x="24583" y="1932016"/>
            <a:ext cx="4043509" cy="501387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700" dirty="0">
                <a:latin typeface="Calibir"/>
              </a:rPr>
              <a:t>Permit (per semester)</a:t>
            </a:r>
          </a:p>
          <a:p>
            <a:pPr lvl="1" eaLnBrk="0" fontAlgn="base" hangingPunct="0">
              <a:lnSpc>
                <a:spcPct val="150000"/>
              </a:lnSpc>
              <a:spcBef>
                <a:spcPct val="0"/>
              </a:spcBef>
              <a:spcAft>
                <a:spcPct val="0"/>
              </a:spcAft>
            </a:pPr>
            <a:r>
              <a:rPr lang="en-US" altLang="en-US" sz="2700" dirty="0">
                <a:latin typeface="Calibir"/>
              </a:rPr>
              <a:t>A</a:t>
            </a:r>
            <a:r>
              <a:rPr lang="en-US" altLang="en-US" sz="2700" i="1" dirty="0">
                <a:latin typeface="Calibir"/>
              </a:rPr>
              <a:t> user may have zero or one active permit in a semester</a:t>
            </a:r>
            <a:r>
              <a:rPr lang="en-US" altLang="en-US" sz="2700" dirty="0">
                <a:latin typeface="Calibir"/>
              </a:rPr>
              <a:t> (optional on the permit side).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A permit is requested by only one user at a time (mandatory)</a:t>
            </a:r>
          </a:p>
        </p:txBody>
      </p:sp>
      <p:sp>
        <p:nvSpPr>
          <p:cNvPr id="27" name="Rectangle 26">
            <a:extLst>
              <a:ext uri="{FF2B5EF4-FFF2-40B4-BE49-F238E27FC236}">
                <a16:creationId xmlns:a16="http://schemas.microsoft.com/office/drawing/2014/main" id="{EA41423C-5084-1AFB-C347-343C8422E7FC}"/>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3415F8D4-65C5-9871-7413-3B9007631F9F}"/>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FFCAD849-F3B8-A8E2-D2BF-60FA72D4C862}"/>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17FB6C6E-ED74-378D-DCE4-70716C696953}"/>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A5410973-D114-895D-35B7-92E15D3B23C4}"/>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570FBF02-CD59-F1A4-424E-E1D4FDE7AA14}"/>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043E2A28-5DD7-1ACF-3AE6-23893DC3D536}"/>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ACAA0684-0ED3-302E-29CA-598EDE10CF14}"/>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BD49019A-B241-F5FB-CDB6-80CFBD505016}"/>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93954BFE-D408-2F7B-9FBB-899C890C2CD6}"/>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D907E527-20AF-6D58-9385-7A8D0446A645}"/>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6A977301-0142-EDF3-CDC5-3BFE646961D5}"/>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1481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67D5D-BA20-5BE7-A34C-108DC8172FBB}"/>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C3660749-A76F-4B39-8934-46AE05B1C7AC}"/>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A331AF6D-8ABC-5F58-901B-1F9488235C9C}"/>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ED68D5EA-CCBE-CB4F-5698-D33AE759A72B}"/>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6" name="TextBox 5">
            <a:extLst>
              <a:ext uri="{FF2B5EF4-FFF2-40B4-BE49-F238E27FC236}">
                <a16:creationId xmlns:a16="http://schemas.microsoft.com/office/drawing/2014/main" id="{4CED8870-C584-B210-862F-B8BC3583C9B5}"/>
              </a:ext>
            </a:extLst>
          </p:cNvPr>
          <p:cNvSpPr txBox="1"/>
          <p:nvPr/>
        </p:nvSpPr>
        <p:spPr>
          <a:xfrm>
            <a:off x="0" y="0"/>
            <a:ext cx="8952269" cy="671851"/>
          </a:xfrm>
          <a:prstGeom prst="rect">
            <a:avLst/>
          </a:prstGeom>
          <a:noFill/>
        </p:spPr>
        <p:txBody>
          <a:bodyPr wrap="square">
            <a:spAutoFit/>
          </a:bodyPr>
          <a:lstStyle/>
          <a:p>
            <a:pPr>
              <a:lnSpc>
                <a:spcPct val="150000"/>
              </a:lnSpc>
            </a:pPr>
            <a:r>
              <a:rPr lang="en-US" sz="2800" b="1" dirty="0">
                <a:highlight>
                  <a:srgbClr val="FFFF00"/>
                </a:highlight>
                <a:latin typeface="Calibir"/>
              </a:rPr>
              <a:t>Association (Relationship)</a:t>
            </a:r>
          </a:p>
        </p:txBody>
      </p:sp>
      <p:sp>
        <p:nvSpPr>
          <p:cNvPr id="26" name="Rectangle 2">
            <a:extLst>
              <a:ext uri="{FF2B5EF4-FFF2-40B4-BE49-F238E27FC236}">
                <a16:creationId xmlns:a16="http://schemas.microsoft.com/office/drawing/2014/main" id="{EC0628E4-AC50-FDAD-3D15-BEE9294AA4D4}"/>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CDC6F416-F82E-30EC-A8DB-AE2FF8757FB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4BD43AAC-28BB-5D0C-D080-B7132CA646A9}"/>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324A3237-A971-7469-E3FF-7C384810DCDA}"/>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8AB8BA55-E9A2-E940-80EA-8B6D6D097307}"/>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888090A4-6B18-60F8-34D0-EA4231289BA7}"/>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94E2C7B4-66FA-A746-9874-6531EACA664C}"/>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C598E75A-9BE9-F93B-DFA7-8CF3A0CABE28}"/>
              </a:ext>
            </a:extLst>
          </p:cNvPr>
          <p:cNvSpPr txBox="1"/>
          <p:nvPr/>
        </p:nvSpPr>
        <p:spPr>
          <a:xfrm>
            <a:off x="38190" y="681790"/>
            <a:ext cx="4092674" cy="4831579"/>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Each User can have 0 or 1 permit (per semester).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Each Permit must belong to exactly 1 User.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600" dirty="0">
                <a:latin typeface="Calibir"/>
              </a:rPr>
              <a:t>Example: Ali (Student) applies → he can only hold one active permit for Semester 1.</a:t>
            </a:r>
          </a:p>
        </p:txBody>
      </p:sp>
      <p:sp>
        <p:nvSpPr>
          <p:cNvPr id="27" name="Rectangle 26">
            <a:extLst>
              <a:ext uri="{FF2B5EF4-FFF2-40B4-BE49-F238E27FC236}">
                <a16:creationId xmlns:a16="http://schemas.microsoft.com/office/drawing/2014/main" id="{87C7B0D7-AE96-7313-1792-28FEB29423AB}"/>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761BD8FB-0EFC-2B88-61EA-33E5AA7152C2}"/>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12CEE114-FB84-7E58-7B60-A1DB5CBC254B}"/>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82E2A218-8DCE-A8AA-D042-53AD07D43075}"/>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E48B2806-C145-1EDA-C17D-1D8C086DFE0E}"/>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27961E67-67D7-8130-FAEE-E89C90B17D18}"/>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85E2FF1B-DA46-ABBD-CF9C-C3B1F4257670}"/>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2E0395A9-AD1D-E844-4091-0D3AE6A12A22}"/>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538BE37E-B294-48AD-0CD4-082DBBB17475}"/>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C33C64BB-ED35-1D34-A595-E96F488090AC}"/>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F4C46C7F-872D-DF98-E8DD-72C38294A5BF}"/>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8594B2CB-ACAB-6A21-C3A9-FC19ADA7C940}"/>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8790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3B81F-0A99-EB46-CD16-F968D85CF595}"/>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99FD7A87-FE98-7DBC-DE48-A12653BF15FF}"/>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76C202C0-A9B2-2296-E208-1FCFBB0F742A}"/>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A4C9EEA9-9B27-21CF-4493-20714F9F86AA}"/>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26" name="Rectangle 2">
            <a:extLst>
              <a:ext uri="{FF2B5EF4-FFF2-40B4-BE49-F238E27FC236}">
                <a16:creationId xmlns:a16="http://schemas.microsoft.com/office/drawing/2014/main" id="{23452494-1857-DD09-295F-9D99BDF337A0}"/>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469175FD-438F-395B-7889-F0116C7D20A7}"/>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8B488DC9-E215-1465-AA95-9F344D6D37B2}"/>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C575DDC3-88EF-D5D6-9849-527B6B8FAB54}"/>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2499175E-8869-323D-3EBC-E58954A09AB8}"/>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144FC9CD-B56A-7E99-D0FF-2184A3AFBED3}"/>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259291A0-9EDA-EAA8-3247-D7F451F5F4BE}"/>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E6230F7D-664C-FD85-34A0-7174568450CC}"/>
              </a:ext>
            </a:extLst>
          </p:cNvPr>
          <p:cNvSpPr txBox="1"/>
          <p:nvPr/>
        </p:nvSpPr>
        <p:spPr>
          <a:xfrm>
            <a:off x="0" y="21486"/>
            <a:ext cx="4068089" cy="6883616"/>
          </a:xfrm>
          <a:prstGeom prst="rect">
            <a:avLst/>
          </a:prstGeom>
          <a:noFill/>
        </p:spPr>
        <p:txBody>
          <a:bodyPr wrap="square">
            <a:spAutoFit/>
          </a:bodyPr>
          <a:lstStyle/>
          <a:p>
            <a:pPr>
              <a:lnSpc>
                <a:spcPct val="150000"/>
              </a:lnSpc>
            </a:pPr>
            <a:r>
              <a:rPr lang="en-US" sz="2700" b="1" dirty="0">
                <a:highlight>
                  <a:srgbClr val="FFFF00"/>
                </a:highlight>
                <a:latin typeface="Calibir"/>
              </a:rPr>
              <a:t>Multiplicity (numbers on relationships)</a:t>
            </a:r>
          </a:p>
          <a:p>
            <a:pPr>
              <a:lnSpc>
                <a:spcPct val="150000"/>
              </a:lnSpc>
            </a:pPr>
            <a:r>
              <a:rPr lang="en-US" sz="2700" dirty="0">
                <a:latin typeface="Calibir"/>
              </a:rPr>
              <a:t>Multiplicity means "how many objects can connect."</a:t>
            </a:r>
          </a:p>
          <a:p>
            <a:pPr marL="457200" indent="-457200">
              <a:lnSpc>
                <a:spcPct val="150000"/>
              </a:lnSpc>
              <a:buFont typeface="Arial" panose="020B0604020202020204" pitchFamily="34" charset="0"/>
              <a:buChar char="•"/>
            </a:pPr>
            <a:r>
              <a:rPr lang="en-US" sz="2700" dirty="0">
                <a:latin typeface="Calibir"/>
              </a:rPr>
              <a:t>User (1) ── (0..1) Permit</a:t>
            </a:r>
            <a:br>
              <a:rPr lang="en-US" sz="2700" dirty="0">
                <a:latin typeface="Calibir"/>
              </a:rPr>
            </a:br>
            <a:r>
              <a:rPr lang="en-US" sz="2700" dirty="0">
                <a:latin typeface="Calibir"/>
              </a:rPr>
              <a:t>→ One user can have at most 1 permit per semester.</a:t>
            </a:r>
            <a:br>
              <a:rPr lang="en-US" sz="2700" dirty="0">
                <a:latin typeface="Calibir"/>
              </a:rPr>
            </a:br>
            <a:r>
              <a:rPr lang="en-US" sz="2700" dirty="0">
                <a:latin typeface="Calibir"/>
              </a:rPr>
              <a:t>→ Permit is optional (0..1 means may not exist).</a:t>
            </a:r>
          </a:p>
        </p:txBody>
      </p:sp>
      <p:sp>
        <p:nvSpPr>
          <p:cNvPr id="27" name="Rectangle 26">
            <a:extLst>
              <a:ext uri="{FF2B5EF4-FFF2-40B4-BE49-F238E27FC236}">
                <a16:creationId xmlns:a16="http://schemas.microsoft.com/office/drawing/2014/main" id="{976030E4-5C5E-2C95-8DEC-4468CA968C66}"/>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1D5DF6D9-694B-5317-E5BB-8E63C7926486}"/>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43D46B92-642F-9387-2710-20B42E5FC6D1}"/>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13411496-F7CA-A9F7-9508-B0724F20EB77}"/>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17FABA0F-9ED7-F0DC-2BCA-3E76AF81AF3F}"/>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949CBA13-EE17-2360-989E-C5F8FFB6BECB}"/>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95917CD3-FAC5-D52E-CB2E-2D7C82E57EA9}"/>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F9F52443-5154-3D93-488A-82E449D5752A}"/>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1E1C2469-ED01-E876-0290-8BBBCFDFCBDD}"/>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ED4BA837-FC39-B8C2-0758-054FAEB6F358}"/>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89B5E7FB-94EF-9075-6692-9FD5349F030A}"/>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D5D4B7C9-15C4-118D-C0BE-25AEDB8C1BD7}"/>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7721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71DCA-D1B2-3B59-D02B-0F826AFD14F6}"/>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C5B5DFF7-75EE-CF9A-85DD-0F21CBF17336}"/>
              </a:ext>
            </a:extLst>
          </p:cNvPr>
          <p:cNvSpPr txBox="1">
            <a:spLocks/>
          </p:cNvSpPr>
          <p:nvPr/>
        </p:nvSpPr>
        <p:spPr>
          <a:xfrm>
            <a:off x="8109153" y="147620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6" name="TextBox 45">
            <a:extLst>
              <a:ext uri="{FF2B5EF4-FFF2-40B4-BE49-F238E27FC236}">
                <a16:creationId xmlns:a16="http://schemas.microsoft.com/office/drawing/2014/main" id="{5BA64004-E707-A088-C699-CD10710D84F6}"/>
              </a:ext>
            </a:extLst>
          </p:cNvPr>
          <p:cNvSpPr txBox="1">
            <a:spLocks/>
          </p:cNvSpPr>
          <p:nvPr/>
        </p:nvSpPr>
        <p:spPr>
          <a:xfrm>
            <a:off x="7356986" y="2949254"/>
            <a:ext cx="1619868"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(0, 1)</a:t>
            </a:r>
          </a:p>
        </p:txBody>
      </p:sp>
      <p:sp>
        <p:nvSpPr>
          <p:cNvPr id="40" name="TextBox 39">
            <a:extLst>
              <a:ext uri="{FF2B5EF4-FFF2-40B4-BE49-F238E27FC236}">
                <a16:creationId xmlns:a16="http://schemas.microsoft.com/office/drawing/2014/main" id="{84A7CF8A-9AD1-68E0-B747-01985D02A708}"/>
              </a:ext>
            </a:extLst>
          </p:cNvPr>
          <p:cNvSpPr txBox="1">
            <a:spLocks/>
          </p:cNvSpPr>
          <p:nvPr/>
        </p:nvSpPr>
        <p:spPr>
          <a:xfrm>
            <a:off x="7356986" y="3585031"/>
            <a:ext cx="1619868" cy="131818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Requests by</a:t>
            </a:r>
          </a:p>
        </p:txBody>
      </p:sp>
      <p:sp>
        <p:nvSpPr>
          <p:cNvPr id="26" name="Rectangle 2">
            <a:extLst>
              <a:ext uri="{FF2B5EF4-FFF2-40B4-BE49-F238E27FC236}">
                <a16:creationId xmlns:a16="http://schemas.microsoft.com/office/drawing/2014/main" id="{D44A3142-CCC0-0D62-1182-4D2ADA0CFAEE}"/>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CAAF0864-8CAA-7C68-4848-EE8DFB3EAC65}"/>
              </a:ext>
            </a:extLst>
          </p:cNvPr>
          <p:cNvSpPr/>
          <p:nvPr/>
        </p:nvSpPr>
        <p:spPr>
          <a:xfrm>
            <a:off x="4092674" y="2177066"/>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10" name="Rectangle 9">
            <a:extLst>
              <a:ext uri="{FF2B5EF4-FFF2-40B4-BE49-F238E27FC236}">
                <a16:creationId xmlns:a16="http://schemas.microsoft.com/office/drawing/2014/main" id="{9204CC18-E56A-3778-49A4-513E1BF47EB5}"/>
              </a:ext>
            </a:extLst>
          </p:cNvPr>
          <p:cNvSpPr/>
          <p:nvPr/>
        </p:nvSpPr>
        <p:spPr>
          <a:xfrm>
            <a:off x="4092673" y="3485560"/>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11" name="Rectangle 10">
            <a:extLst>
              <a:ext uri="{FF2B5EF4-FFF2-40B4-BE49-F238E27FC236}">
                <a16:creationId xmlns:a16="http://schemas.microsoft.com/office/drawing/2014/main" id="{D8568E57-848A-408F-B837-DF45E3CD6CD3}"/>
              </a:ext>
            </a:extLst>
          </p:cNvPr>
          <p:cNvSpPr/>
          <p:nvPr/>
        </p:nvSpPr>
        <p:spPr>
          <a:xfrm>
            <a:off x="4092673" y="41582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12" name="Rectangle 11">
            <a:extLst>
              <a:ext uri="{FF2B5EF4-FFF2-40B4-BE49-F238E27FC236}">
                <a16:creationId xmlns:a16="http://schemas.microsoft.com/office/drawing/2014/main" id="{5B3B5720-28C5-B0D9-2FA0-EEC58EC11B04}"/>
              </a:ext>
            </a:extLst>
          </p:cNvPr>
          <p:cNvSpPr/>
          <p:nvPr/>
        </p:nvSpPr>
        <p:spPr>
          <a:xfrm>
            <a:off x="4092673" y="482159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18" name="Rectangle 17">
            <a:extLst>
              <a:ext uri="{FF2B5EF4-FFF2-40B4-BE49-F238E27FC236}">
                <a16:creationId xmlns:a16="http://schemas.microsoft.com/office/drawing/2014/main" id="{2C397565-499D-B873-60A3-A908DDE12B8F}"/>
              </a:ext>
            </a:extLst>
          </p:cNvPr>
          <p:cNvSpPr/>
          <p:nvPr/>
        </p:nvSpPr>
        <p:spPr>
          <a:xfrm>
            <a:off x="4092673" y="550354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19" name="Rectangle 18">
            <a:extLst>
              <a:ext uri="{FF2B5EF4-FFF2-40B4-BE49-F238E27FC236}">
                <a16:creationId xmlns:a16="http://schemas.microsoft.com/office/drawing/2014/main" id="{E40C82AF-5632-5187-87F2-D55A074F3F4E}"/>
              </a:ext>
            </a:extLst>
          </p:cNvPr>
          <p:cNvSpPr/>
          <p:nvPr/>
        </p:nvSpPr>
        <p:spPr>
          <a:xfrm>
            <a:off x="4092673" y="616692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sp>
        <p:nvSpPr>
          <p:cNvPr id="23" name="TextBox 22">
            <a:extLst>
              <a:ext uri="{FF2B5EF4-FFF2-40B4-BE49-F238E27FC236}">
                <a16:creationId xmlns:a16="http://schemas.microsoft.com/office/drawing/2014/main" id="{BBAC5F2B-C18E-D797-732D-745A2D15FBEC}"/>
              </a:ext>
            </a:extLst>
          </p:cNvPr>
          <p:cNvSpPr txBox="1"/>
          <p:nvPr/>
        </p:nvSpPr>
        <p:spPr>
          <a:xfrm>
            <a:off x="0" y="21486"/>
            <a:ext cx="4068089" cy="6488828"/>
          </a:xfrm>
          <a:prstGeom prst="rect">
            <a:avLst/>
          </a:prstGeom>
          <a:noFill/>
        </p:spPr>
        <p:txBody>
          <a:bodyPr wrap="square">
            <a:spAutoFit/>
          </a:bodyPr>
          <a:lstStyle/>
          <a:p>
            <a:pPr>
              <a:lnSpc>
                <a:spcPct val="150000"/>
              </a:lnSpc>
            </a:pPr>
            <a:r>
              <a:rPr lang="en-US" sz="2800" dirty="0">
                <a:highlight>
                  <a:srgbClr val="FFFF00"/>
                </a:highlight>
                <a:latin typeface="Calibir"/>
              </a:rPr>
              <a:t>Visibility (Access Control)</a:t>
            </a:r>
          </a:p>
          <a:p>
            <a:pPr marL="457200" indent="-457200">
              <a:lnSpc>
                <a:spcPct val="150000"/>
              </a:lnSpc>
              <a:buFont typeface="Arial" panose="020B0604020202020204" pitchFamily="34" charset="0"/>
              <a:buChar char="•"/>
            </a:pPr>
            <a:r>
              <a:rPr lang="en-US" sz="2800" dirty="0">
                <a:latin typeface="Calibir"/>
              </a:rPr>
              <a:t>+ (public): anyone can see it → e.g., +name, +email</a:t>
            </a:r>
          </a:p>
          <a:p>
            <a:pPr marL="457200" indent="-457200">
              <a:lnSpc>
                <a:spcPct val="150000"/>
              </a:lnSpc>
              <a:buFont typeface="Arial" panose="020B0604020202020204" pitchFamily="34" charset="0"/>
              <a:buChar char="•"/>
            </a:pPr>
            <a:r>
              <a:rPr lang="en-US" sz="2800" dirty="0">
                <a:latin typeface="Calibir"/>
              </a:rPr>
              <a:t>- (private): only the class itself → e.g., -password</a:t>
            </a:r>
          </a:p>
          <a:p>
            <a:pPr marL="457200" indent="-457200">
              <a:lnSpc>
                <a:spcPct val="150000"/>
              </a:lnSpc>
              <a:buFont typeface="Arial" panose="020B0604020202020204" pitchFamily="34" charset="0"/>
              <a:buChar char="•"/>
            </a:pPr>
            <a:r>
              <a:rPr lang="en-US" sz="2800" dirty="0">
                <a:latin typeface="Calibir"/>
              </a:rPr>
              <a:t># (protected): only the class &amp; subclasses → e.g., #role</a:t>
            </a:r>
          </a:p>
        </p:txBody>
      </p:sp>
      <p:sp>
        <p:nvSpPr>
          <p:cNvPr id="27" name="Rectangle 26">
            <a:extLst>
              <a:ext uri="{FF2B5EF4-FFF2-40B4-BE49-F238E27FC236}">
                <a16:creationId xmlns:a16="http://schemas.microsoft.com/office/drawing/2014/main" id="{9C0D315D-1F92-EE38-509F-79D9144430FC}"/>
              </a:ext>
            </a:extLst>
          </p:cNvPr>
          <p:cNvSpPr/>
          <p:nvPr/>
        </p:nvSpPr>
        <p:spPr>
          <a:xfrm>
            <a:off x="8952271" y="18415"/>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User &lt;&lt;abstract&gt;&gt;</a:t>
            </a:r>
          </a:p>
        </p:txBody>
      </p:sp>
      <p:sp>
        <p:nvSpPr>
          <p:cNvPr id="28" name="Rectangle 27">
            <a:extLst>
              <a:ext uri="{FF2B5EF4-FFF2-40B4-BE49-F238E27FC236}">
                <a16:creationId xmlns:a16="http://schemas.microsoft.com/office/drawing/2014/main" id="{E17D24EF-21D2-503E-FCE4-C76F1266CFA8}"/>
              </a:ext>
            </a:extLst>
          </p:cNvPr>
          <p:cNvSpPr/>
          <p:nvPr/>
        </p:nvSpPr>
        <p:spPr>
          <a:xfrm>
            <a:off x="8952270" y="1326909"/>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 int</a:t>
            </a:r>
          </a:p>
        </p:txBody>
      </p:sp>
      <p:sp>
        <p:nvSpPr>
          <p:cNvPr id="29" name="Rectangle 28">
            <a:extLst>
              <a:ext uri="{FF2B5EF4-FFF2-40B4-BE49-F238E27FC236}">
                <a16:creationId xmlns:a16="http://schemas.microsoft.com/office/drawing/2014/main" id="{30A07026-3266-09BB-7179-FEC628AEB48E}"/>
              </a:ext>
            </a:extLst>
          </p:cNvPr>
          <p:cNvSpPr/>
          <p:nvPr/>
        </p:nvSpPr>
        <p:spPr>
          <a:xfrm>
            <a:off x="8952270" y="199957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+name: string</a:t>
            </a:r>
          </a:p>
        </p:txBody>
      </p:sp>
      <p:sp>
        <p:nvSpPr>
          <p:cNvPr id="30" name="Rectangle 29">
            <a:extLst>
              <a:ext uri="{FF2B5EF4-FFF2-40B4-BE49-F238E27FC236}">
                <a16:creationId xmlns:a16="http://schemas.microsoft.com/office/drawing/2014/main" id="{2A9D5321-D603-137A-369A-263656415F3C}"/>
              </a:ext>
            </a:extLst>
          </p:cNvPr>
          <p:cNvSpPr/>
          <p:nvPr/>
        </p:nvSpPr>
        <p:spPr>
          <a:xfrm>
            <a:off x="8952270" y="2662946"/>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+email: string</a:t>
            </a:r>
          </a:p>
        </p:txBody>
      </p:sp>
      <p:sp>
        <p:nvSpPr>
          <p:cNvPr id="31" name="Rectangle 30">
            <a:extLst>
              <a:ext uri="{FF2B5EF4-FFF2-40B4-BE49-F238E27FC236}">
                <a16:creationId xmlns:a16="http://schemas.microsoft.com/office/drawing/2014/main" id="{D1A6FDD2-AE8A-F05B-AB37-42CA43E36A0B}"/>
              </a:ext>
            </a:extLst>
          </p:cNvPr>
          <p:cNvSpPr/>
          <p:nvPr/>
        </p:nvSpPr>
        <p:spPr>
          <a:xfrm>
            <a:off x="8952271" y="3326321"/>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#role {Student, Staff}</a:t>
            </a:r>
          </a:p>
        </p:txBody>
      </p:sp>
      <p:sp>
        <p:nvSpPr>
          <p:cNvPr id="32" name="Rectangle 31">
            <a:extLst>
              <a:ext uri="{FF2B5EF4-FFF2-40B4-BE49-F238E27FC236}">
                <a16:creationId xmlns:a16="http://schemas.microsoft.com/office/drawing/2014/main" id="{34468CFD-D9F6-2DCD-FDA5-15FEF35CE5CF}"/>
              </a:ext>
            </a:extLst>
          </p:cNvPr>
          <p:cNvSpPr/>
          <p:nvPr/>
        </p:nvSpPr>
        <p:spPr>
          <a:xfrm>
            <a:off x="8952269" y="3998984"/>
            <a:ext cx="3239729" cy="2840601"/>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latin typeface="Calibir"/>
            </a:endParaRPr>
          </a:p>
        </p:txBody>
      </p:sp>
      <p:sp>
        <p:nvSpPr>
          <p:cNvPr id="33" name="Oval 32">
            <a:extLst>
              <a:ext uri="{FF2B5EF4-FFF2-40B4-BE49-F238E27FC236}">
                <a16:creationId xmlns:a16="http://schemas.microsoft.com/office/drawing/2014/main" id="{19D3BFC3-2FAA-5D65-06AD-F2DB5DFC77D0}"/>
              </a:ext>
            </a:extLst>
          </p:cNvPr>
          <p:cNvSpPr/>
          <p:nvPr/>
        </p:nvSpPr>
        <p:spPr>
          <a:xfrm>
            <a:off x="8967021" y="4247535"/>
            <a:ext cx="320039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+login()</a:t>
            </a:r>
          </a:p>
        </p:txBody>
      </p:sp>
      <p:sp>
        <p:nvSpPr>
          <p:cNvPr id="34" name="Oval 33">
            <a:extLst>
              <a:ext uri="{FF2B5EF4-FFF2-40B4-BE49-F238E27FC236}">
                <a16:creationId xmlns:a16="http://schemas.microsoft.com/office/drawing/2014/main" id="{EC4DC25D-C1CF-266A-CD15-BCA3F495D4AC}"/>
              </a:ext>
            </a:extLst>
          </p:cNvPr>
          <p:cNvSpPr/>
          <p:nvPr/>
        </p:nvSpPr>
        <p:spPr>
          <a:xfrm>
            <a:off x="8976854" y="5007978"/>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requestPermit</a:t>
            </a:r>
            <a:r>
              <a:rPr lang="en-US" sz="2300" dirty="0">
                <a:latin typeface="Calibir"/>
              </a:rPr>
              <a:t>()</a:t>
            </a:r>
          </a:p>
        </p:txBody>
      </p:sp>
      <p:sp>
        <p:nvSpPr>
          <p:cNvPr id="35" name="Oval 34">
            <a:extLst>
              <a:ext uri="{FF2B5EF4-FFF2-40B4-BE49-F238E27FC236}">
                <a16:creationId xmlns:a16="http://schemas.microsoft.com/office/drawing/2014/main" id="{B2535E62-28F2-C441-9FC8-32079E682971}"/>
              </a:ext>
            </a:extLst>
          </p:cNvPr>
          <p:cNvSpPr/>
          <p:nvPr/>
        </p:nvSpPr>
        <p:spPr>
          <a:xfrm>
            <a:off x="8976854" y="5768421"/>
            <a:ext cx="3215146" cy="67266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latin typeface="Calibir"/>
              </a:rPr>
              <a:t>~</a:t>
            </a:r>
            <a:r>
              <a:rPr lang="en-US" sz="2300" dirty="0" err="1">
                <a:latin typeface="Calibir"/>
              </a:rPr>
              <a:t>cancelRequest</a:t>
            </a:r>
            <a:r>
              <a:rPr lang="en-US" sz="2300" dirty="0">
                <a:latin typeface="Calibir"/>
              </a:rPr>
              <a:t>()</a:t>
            </a:r>
          </a:p>
        </p:txBody>
      </p:sp>
      <p:sp>
        <p:nvSpPr>
          <p:cNvPr id="42" name="Oval 41">
            <a:extLst>
              <a:ext uri="{FF2B5EF4-FFF2-40B4-BE49-F238E27FC236}">
                <a16:creationId xmlns:a16="http://schemas.microsoft.com/office/drawing/2014/main" id="{A9A958DF-218A-CB65-75D2-33B8C82BD912}"/>
              </a:ext>
            </a:extLst>
          </p:cNvPr>
          <p:cNvSpPr/>
          <p:nvPr/>
        </p:nvSpPr>
        <p:spPr>
          <a:xfrm>
            <a:off x="7477434" y="2672234"/>
            <a:ext cx="265471" cy="321689"/>
          </a:xfrm>
          <a:prstGeom prst="ellipse">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991E8D87-FF67-E3AE-AEF1-152D2AD7BDEA}"/>
              </a:ext>
            </a:extLst>
          </p:cNvPr>
          <p:cNvCxnSpPr>
            <a:cxnSpLocks/>
            <a:endCxn id="9" idx="3"/>
          </p:cNvCxnSpPr>
          <p:nvPr/>
        </p:nvCxnSpPr>
        <p:spPr>
          <a:xfrm flipH="1">
            <a:off x="7332403" y="2816942"/>
            <a:ext cx="1619868" cy="14371"/>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93DB5654-0D5B-501F-490C-F14B90C76404}"/>
              </a:ext>
            </a:extLst>
          </p:cNvPr>
          <p:cNvCxnSpPr>
            <a:cxnSpLocks/>
          </p:cNvCxnSpPr>
          <p:nvPr/>
        </p:nvCxnSpPr>
        <p:spPr>
          <a:xfrm>
            <a:off x="8672052" y="2566222"/>
            <a:ext cx="0" cy="516193"/>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5729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7D1E0-8E02-C261-22EF-2E4B7BF7C6A3}"/>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6B1846A9-4AF2-6E55-D504-0B3BF22D4CF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619370C-4436-7CD6-ED77-E88462FD499B}"/>
              </a:ext>
            </a:extLst>
          </p:cNvPr>
          <p:cNvSpPr txBox="1"/>
          <p:nvPr/>
        </p:nvSpPr>
        <p:spPr>
          <a:xfrm>
            <a:off x="0" y="1002978"/>
            <a:ext cx="12192000" cy="4549835"/>
          </a:xfrm>
          <a:prstGeom prst="rect">
            <a:avLst/>
          </a:prstGeom>
          <a:noFill/>
        </p:spPr>
        <p:txBody>
          <a:bodyPr wrap="square">
            <a:spAutoFit/>
          </a:bodyPr>
          <a:lstStyle/>
          <a:p>
            <a:pPr>
              <a:lnSpc>
                <a:spcPct val="150000"/>
              </a:lnSpc>
            </a:pPr>
            <a:r>
              <a:rPr lang="en-US" sz="2800" dirty="0">
                <a:latin typeface="Calibir"/>
              </a:rPr>
              <a:t>We have completed the </a:t>
            </a:r>
            <a:r>
              <a:rPr lang="en-US" sz="2800" b="1" dirty="0">
                <a:latin typeface="Calibir"/>
              </a:rPr>
              <a:t>User–Permit</a:t>
            </a:r>
            <a:r>
              <a:rPr lang="en-US" sz="2800" dirty="0">
                <a:latin typeface="Calibir"/>
              </a:rPr>
              <a:t> part together. Now, please design the rest of the UML diagram by adding:</a:t>
            </a:r>
          </a:p>
          <a:p>
            <a:pPr marL="457200" indent="-457200">
              <a:lnSpc>
                <a:spcPct val="150000"/>
              </a:lnSpc>
              <a:buFont typeface="Arial" panose="020B0604020202020204" pitchFamily="34" charset="0"/>
              <a:buChar char="•"/>
            </a:pPr>
            <a:r>
              <a:rPr lang="en-US" sz="2800" b="1" dirty="0">
                <a:latin typeface="Calibir"/>
              </a:rPr>
              <a:t>Permit–Payment</a:t>
            </a:r>
            <a:r>
              <a:rPr lang="en-US" sz="2800" dirty="0">
                <a:latin typeface="Calibir"/>
              </a:rPr>
              <a:t> (mandatory relationship, action label ‘requires’).</a:t>
            </a:r>
          </a:p>
          <a:p>
            <a:pPr marL="457200" indent="-457200">
              <a:lnSpc>
                <a:spcPct val="150000"/>
              </a:lnSpc>
              <a:buFont typeface="Arial" panose="020B0604020202020204" pitchFamily="34" charset="0"/>
              <a:buChar char="•"/>
            </a:pPr>
            <a:r>
              <a:rPr lang="en-US" sz="2800" b="1" dirty="0" err="1">
                <a:latin typeface="Calibir"/>
              </a:rPr>
              <a:t>SecurityOfficer</a:t>
            </a:r>
            <a:r>
              <a:rPr lang="en-US" sz="2800" b="1" dirty="0">
                <a:latin typeface="Calibir"/>
              </a:rPr>
              <a:t>–Permit</a:t>
            </a:r>
            <a:r>
              <a:rPr lang="en-US" sz="2800" dirty="0">
                <a:latin typeface="Calibir"/>
              </a:rPr>
              <a:t> (dependency with revoke action).</a:t>
            </a:r>
          </a:p>
          <a:p>
            <a:pPr marL="457200" indent="-457200">
              <a:lnSpc>
                <a:spcPct val="150000"/>
              </a:lnSpc>
              <a:buFont typeface="Arial" panose="020B0604020202020204" pitchFamily="34" charset="0"/>
              <a:buChar char="•"/>
            </a:pPr>
            <a:r>
              <a:rPr lang="en-US" sz="2800" b="1" dirty="0">
                <a:latin typeface="Calibir"/>
              </a:rPr>
              <a:t>Permit–</a:t>
            </a:r>
            <a:r>
              <a:rPr lang="en-US" sz="2800" b="1" dirty="0" err="1">
                <a:latin typeface="Calibir"/>
              </a:rPr>
              <a:t>VehicleInfo</a:t>
            </a:r>
            <a:r>
              <a:rPr lang="en-US" sz="2800" dirty="0">
                <a:latin typeface="Calibir"/>
              </a:rPr>
              <a:t> (composition, black diamond).</a:t>
            </a:r>
            <a:br>
              <a:rPr lang="en-US" sz="2800" dirty="0">
                <a:latin typeface="Calibir"/>
              </a:rPr>
            </a:br>
            <a:r>
              <a:rPr lang="en-US" sz="2800" dirty="0">
                <a:latin typeface="Calibir"/>
              </a:rPr>
              <a:t>Remember to use rectangles for classes, ovals for methods, and mark multiplicity (0..1, 1, etc.).”</a:t>
            </a:r>
          </a:p>
        </p:txBody>
      </p:sp>
      <p:pic>
        <p:nvPicPr>
          <p:cNvPr id="4" name="Timer">
            <a:hlinkClick r:id="" action="ppaction://media"/>
            <a:extLst>
              <a:ext uri="{FF2B5EF4-FFF2-40B4-BE49-F238E27FC236}">
                <a16:creationId xmlns:a16="http://schemas.microsoft.com/office/drawing/2014/main" id="{ADC29056-D138-487B-B7DD-08245108F9C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892" t="44731" r="40718" b="40645"/>
          <a:stretch>
            <a:fillRect/>
          </a:stretch>
        </p:blipFill>
        <p:spPr>
          <a:xfrm>
            <a:off x="5117690" y="5257520"/>
            <a:ext cx="2241756" cy="1002890"/>
          </a:xfrm>
          <a:prstGeom prst="rect">
            <a:avLst/>
          </a:prstGeom>
          <a:ln w="38100">
            <a:solidFill>
              <a:srgbClr val="FF0000"/>
            </a:solidFill>
          </a:ln>
        </p:spPr>
      </p:pic>
      <p:sp>
        <p:nvSpPr>
          <p:cNvPr id="2" name="Title 1">
            <a:extLst>
              <a:ext uri="{FF2B5EF4-FFF2-40B4-BE49-F238E27FC236}">
                <a16:creationId xmlns:a16="http://schemas.microsoft.com/office/drawing/2014/main" id="{9EB49885-93A8-6CED-BCD7-36C123FE3101}"/>
              </a:ext>
            </a:extLst>
          </p:cNvPr>
          <p:cNvSpPr>
            <a:spLocks noGrp="1"/>
          </p:cNvSpPr>
          <p:nvPr>
            <p:ph type="title"/>
          </p:nvPr>
        </p:nvSpPr>
        <p:spPr>
          <a:xfrm>
            <a:off x="0" y="0"/>
            <a:ext cx="12192000" cy="769434"/>
          </a:xfrm>
        </p:spPr>
        <p:txBody>
          <a:bodyPr anchor="b">
            <a:normAutofit/>
          </a:bodyPr>
          <a:lstStyle/>
          <a:p>
            <a:r>
              <a:rPr lang="en-US" sz="4000" dirty="0">
                <a:latin typeface="Calibir"/>
              </a:rPr>
              <a:t>Example &amp; </a:t>
            </a:r>
            <a:r>
              <a:rPr lang="en-US" sz="4000" dirty="0">
                <a:highlight>
                  <a:srgbClr val="FFFF00"/>
                </a:highlight>
                <a:latin typeface="Calibir"/>
              </a:rPr>
              <a:t>Activity</a:t>
            </a:r>
            <a:r>
              <a:rPr lang="en-US" sz="4000" dirty="0">
                <a:latin typeface="Calibir"/>
              </a:rPr>
              <a:t> — Campus Parking Permit System</a:t>
            </a:r>
            <a:endParaRPr lang="en-AU" sz="4000" b="1" dirty="0">
              <a:latin typeface="Calibir"/>
            </a:endParaRPr>
          </a:p>
        </p:txBody>
      </p:sp>
    </p:spTree>
    <p:extLst>
      <p:ext uri="{BB962C8B-B14F-4D97-AF65-F5344CB8AC3E}">
        <p14:creationId xmlns:p14="http://schemas.microsoft.com/office/powerpoint/2010/main" val="3965028517"/>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1F24D-6074-C30A-9BB1-BA6C92ECC670}"/>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CE85CB4F-9819-78A7-AA87-A4D41ECA0E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679D5C65-FF75-C6D6-C65D-4B9A4E783D10}"/>
              </a:ext>
            </a:extLst>
          </p:cNvPr>
          <p:cNvSpPr txBox="1"/>
          <p:nvPr/>
        </p:nvSpPr>
        <p:spPr>
          <a:xfrm>
            <a:off x="0" y="1002978"/>
            <a:ext cx="12192000" cy="5637121"/>
          </a:xfrm>
          <a:prstGeom prst="rect">
            <a:avLst/>
          </a:prstGeom>
          <a:noFill/>
        </p:spPr>
        <p:txBody>
          <a:bodyPr wrap="square">
            <a:spAutoFit/>
          </a:bodyPr>
          <a:lstStyle/>
          <a:p>
            <a:pPr>
              <a:lnSpc>
                <a:spcPct val="150000"/>
              </a:lnSpc>
            </a:pPr>
            <a:r>
              <a:rPr lang="en-US" sz="2700" b="1" dirty="0">
                <a:latin typeface="Calibir"/>
              </a:rPr>
              <a:t>Complete the UML Relationships</a:t>
            </a:r>
          </a:p>
          <a:p>
            <a:pPr marL="514350" indent="-514350">
              <a:lnSpc>
                <a:spcPct val="150000"/>
              </a:lnSpc>
              <a:buFont typeface="+mj-lt"/>
              <a:buAutoNum type="arabicPeriod"/>
            </a:pPr>
            <a:r>
              <a:rPr lang="en-US" sz="2700" b="1" dirty="0">
                <a:latin typeface="Calibir"/>
              </a:rPr>
              <a:t>Permit–Payment (mandatory)</a:t>
            </a:r>
            <a:endParaRPr lang="en-US" sz="2700" dirty="0">
              <a:latin typeface="Calibir"/>
            </a:endParaRPr>
          </a:p>
          <a:p>
            <a:pPr marL="914400" lvl="1" indent="-457200">
              <a:lnSpc>
                <a:spcPct val="150000"/>
              </a:lnSpc>
              <a:buFont typeface="Arial" panose="020B0604020202020204" pitchFamily="34" charset="0"/>
              <a:buChar char="•"/>
            </a:pPr>
            <a:r>
              <a:rPr lang="en-US" sz="2700" dirty="0">
                <a:latin typeface="Calibir"/>
              </a:rPr>
              <a:t>Permit (1) ── (1) Payment</a:t>
            </a:r>
          </a:p>
          <a:p>
            <a:pPr marL="914400" lvl="1" indent="-457200">
              <a:lnSpc>
                <a:spcPct val="150000"/>
              </a:lnSpc>
              <a:buFont typeface="Arial" panose="020B0604020202020204" pitchFamily="34" charset="0"/>
              <a:buChar char="•"/>
            </a:pPr>
            <a:r>
              <a:rPr lang="en-US" sz="2700" dirty="0">
                <a:latin typeface="Calibir"/>
              </a:rPr>
              <a:t>Action: “requires”</a:t>
            </a:r>
          </a:p>
          <a:p>
            <a:pPr marL="914400" lvl="1" indent="-457200">
              <a:lnSpc>
                <a:spcPct val="150000"/>
              </a:lnSpc>
              <a:buFont typeface="Arial" panose="020B0604020202020204" pitchFamily="34" charset="0"/>
              <a:buChar char="•"/>
            </a:pPr>
            <a:r>
              <a:rPr lang="en-US" sz="2700" dirty="0">
                <a:latin typeface="Calibir"/>
              </a:rPr>
              <a:t>Explain: every permit must have exactly one payment when created.</a:t>
            </a:r>
          </a:p>
          <a:p>
            <a:pPr marL="514350" indent="-514350">
              <a:lnSpc>
                <a:spcPct val="150000"/>
              </a:lnSpc>
              <a:buFont typeface="+mj-lt"/>
              <a:buAutoNum type="arabicPeriod"/>
            </a:pPr>
            <a:r>
              <a:rPr lang="en-US" sz="2700" b="1" dirty="0" err="1">
                <a:latin typeface="Calibir"/>
              </a:rPr>
              <a:t>SecurityOfficer</a:t>
            </a:r>
            <a:r>
              <a:rPr lang="en-US" sz="2700" b="1" dirty="0">
                <a:latin typeface="Calibir"/>
              </a:rPr>
              <a:t>–Permit (dependency)</a:t>
            </a:r>
            <a:endParaRPr lang="en-US" sz="2700" dirty="0">
              <a:latin typeface="Calibir"/>
            </a:endParaRPr>
          </a:p>
          <a:p>
            <a:pPr marL="914400" lvl="1" indent="-457200">
              <a:lnSpc>
                <a:spcPct val="150000"/>
              </a:lnSpc>
              <a:buFont typeface="Arial" panose="020B0604020202020204" pitchFamily="34" charset="0"/>
              <a:buChar char="•"/>
            </a:pPr>
            <a:r>
              <a:rPr lang="en-US" sz="2700" dirty="0">
                <a:latin typeface="Calibir"/>
              </a:rPr>
              <a:t>Dashed arrow </a:t>
            </a:r>
            <a:r>
              <a:rPr lang="en-US" sz="2700" dirty="0" err="1">
                <a:latin typeface="Calibir"/>
              </a:rPr>
              <a:t>SecurityOfficer</a:t>
            </a:r>
            <a:r>
              <a:rPr lang="en-US" sz="2700" dirty="0">
                <a:latin typeface="Calibir"/>
              </a:rPr>
              <a:t> ──&gt; Permit</a:t>
            </a:r>
          </a:p>
          <a:p>
            <a:pPr marL="914400" lvl="1" indent="-457200">
              <a:lnSpc>
                <a:spcPct val="150000"/>
              </a:lnSpc>
              <a:buFont typeface="Arial" panose="020B0604020202020204" pitchFamily="34" charset="0"/>
              <a:buChar char="•"/>
            </a:pPr>
            <a:r>
              <a:rPr lang="en-US" sz="2700" dirty="0">
                <a:latin typeface="Calibir"/>
              </a:rPr>
              <a:t>Action: “revoke()”</a:t>
            </a:r>
          </a:p>
          <a:p>
            <a:pPr marL="914400" lvl="1" indent="-457200">
              <a:lnSpc>
                <a:spcPct val="150000"/>
              </a:lnSpc>
              <a:buFont typeface="Arial" panose="020B0604020202020204" pitchFamily="34" charset="0"/>
              <a:buChar char="•"/>
            </a:pPr>
            <a:r>
              <a:rPr lang="en-US" sz="2700" dirty="0">
                <a:latin typeface="Calibir"/>
              </a:rPr>
              <a:t>Explain: dependency, because </a:t>
            </a:r>
            <a:r>
              <a:rPr lang="en-US" sz="2700" dirty="0" err="1">
                <a:latin typeface="Calibir"/>
              </a:rPr>
              <a:t>SecurityOfficer</a:t>
            </a:r>
            <a:r>
              <a:rPr lang="en-US" sz="2700" dirty="0">
                <a:latin typeface="Calibir"/>
              </a:rPr>
              <a:t> needs Permit to perform revoke.</a:t>
            </a:r>
          </a:p>
        </p:txBody>
      </p:sp>
      <p:sp>
        <p:nvSpPr>
          <p:cNvPr id="6" name="Title 1">
            <a:extLst>
              <a:ext uri="{FF2B5EF4-FFF2-40B4-BE49-F238E27FC236}">
                <a16:creationId xmlns:a16="http://schemas.microsoft.com/office/drawing/2014/main" id="{D75478D2-BCDA-4D6C-96CE-3F5A017BD450}"/>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00616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8A597-A317-6FD3-99BB-DC7530320EEB}"/>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0E642B40-C1C4-459C-5F86-FD858E06967A}"/>
              </a:ext>
            </a:extLst>
          </p:cNvPr>
          <p:cNvSpPr txBox="1">
            <a:spLocks/>
          </p:cNvSpPr>
          <p:nvPr/>
        </p:nvSpPr>
        <p:spPr>
          <a:xfrm>
            <a:off x="8281220" y="4673300"/>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2" name="TextBox 41">
            <a:extLst>
              <a:ext uri="{FF2B5EF4-FFF2-40B4-BE49-F238E27FC236}">
                <a16:creationId xmlns:a16="http://schemas.microsoft.com/office/drawing/2014/main" id="{24227EB4-318F-4C1B-6051-5BE08C23BFB5}"/>
              </a:ext>
            </a:extLst>
          </p:cNvPr>
          <p:cNvSpPr txBox="1">
            <a:spLocks/>
          </p:cNvSpPr>
          <p:nvPr/>
        </p:nvSpPr>
        <p:spPr>
          <a:xfrm>
            <a:off x="9125564" y="3664715"/>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26" name="Rectangle 2">
            <a:extLst>
              <a:ext uri="{FF2B5EF4-FFF2-40B4-BE49-F238E27FC236}">
                <a16:creationId xmlns:a16="http://schemas.microsoft.com/office/drawing/2014/main" id="{92D77C22-A22D-E655-A716-83CF830F728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A6DC365D-9CA1-B79A-EA8F-1403A4EB06EC}"/>
              </a:ext>
            </a:extLst>
          </p:cNvPr>
          <p:cNvSpPr txBox="1"/>
          <p:nvPr/>
        </p:nvSpPr>
        <p:spPr>
          <a:xfrm>
            <a:off x="0" y="2792624"/>
            <a:ext cx="5041491" cy="4072269"/>
          </a:xfrm>
          <a:prstGeom prst="rect">
            <a:avLst/>
          </a:prstGeom>
          <a:noFill/>
        </p:spPr>
        <p:txBody>
          <a:bodyPr wrap="square">
            <a:spAutoFit/>
          </a:bodyPr>
          <a:lstStyle/>
          <a:p>
            <a:pPr marL="514350" indent="-514350">
              <a:lnSpc>
                <a:spcPct val="150000"/>
              </a:lnSpc>
              <a:buFont typeface="+mj-lt"/>
              <a:buAutoNum type="arabicPeriod" startAt="3"/>
            </a:pPr>
            <a:r>
              <a:rPr lang="en-US" sz="2500" b="1" dirty="0">
                <a:latin typeface="Calibir"/>
              </a:rPr>
              <a:t>Permit–</a:t>
            </a:r>
            <a:r>
              <a:rPr lang="en-US" sz="2500" b="1" dirty="0" err="1">
                <a:latin typeface="Calibir"/>
              </a:rPr>
              <a:t>VehicleInfo</a:t>
            </a:r>
            <a:r>
              <a:rPr lang="en-US" sz="2500" b="1" dirty="0">
                <a:latin typeface="Calibir"/>
              </a:rPr>
              <a:t> (composition)</a:t>
            </a:r>
            <a:endParaRPr lang="en-US" sz="2500" dirty="0">
              <a:latin typeface="Calibir"/>
            </a:endParaRPr>
          </a:p>
          <a:p>
            <a:pPr marL="914400" lvl="1" indent="-457200">
              <a:lnSpc>
                <a:spcPct val="150000"/>
              </a:lnSpc>
              <a:buFont typeface="Arial" panose="020B0604020202020204" pitchFamily="34" charset="0"/>
              <a:buChar char="•"/>
            </a:pPr>
            <a:r>
              <a:rPr lang="en-US" sz="2500" dirty="0">
                <a:latin typeface="Calibir"/>
              </a:rPr>
              <a:t>Black diamond at Permit side.</a:t>
            </a:r>
          </a:p>
          <a:p>
            <a:pPr marL="914400" lvl="1" indent="-457200">
              <a:lnSpc>
                <a:spcPct val="150000"/>
              </a:lnSpc>
              <a:buFont typeface="Arial" panose="020B0604020202020204" pitchFamily="34" charset="0"/>
              <a:buChar char="•"/>
            </a:pPr>
            <a:r>
              <a:rPr lang="en-US" sz="2500" dirty="0">
                <a:latin typeface="Calibir"/>
              </a:rPr>
              <a:t>Multiplicity: 1 Permit → 1 </a:t>
            </a:r>
            <a:r>
              <a:rPr lang="en-US" sz="2500" dirty="0" err="1">
                <a:latin typeface="Calibir"/>
              </a:rPr>
              <a:t>VehicleInfo</a:t>
            </a:r>
            <a:endParaRPr lang="en-US" sz="2500" dirty="0">
              <a:latin typeface="Calibir"/>
            </a:endParaRPr>
          </a:p>
          <a:p>
            <a:pPr marL="914400" lvl="1" indent="-457200">
              <a:lnSpc>
                <a:spcPct val="150000"/>
              </a:lnSpc>
              <a:buFont typeface="Arial" panose="020B0604020202020204" pitchFamily="34" charset="0"/>
              <a:buChar char="•"/>
            </a:pPr>
            <a:r>
              <a:rPr lang="en-US" sz="2500" dirty="0">
                <a:latin typeface="Calibir"/>
              </a:rPr>
              <a:t>Explain: if Permit is deleted, </a:t>
            </a:r>
            <a:r>
              <a:rPr lang="en-US" sz="2500" dirty="0" err="1">
                <a:latin typeface="Calibir"/>
              </a:rPr>
              <a:t>VehicleInfo</a:t>
            </a:r>
            <a:r>
              <a:rPr lang="en-US" sz="2500" dirty="0">
                <a:latin typeface="Calibir"/>
              </a:rPr>
              <a:t> is deleted too.</a:t>
            </a:r>
          </a:p>
        </p:txBody>
      </p:sp>
      <p:sp>
        <p:nvSpPr>
          <p:cNvPr id="2" name="TextBox 1">
            <a:extLst>
              <a:ext uri="{FF2B5EF4-FFF2-40B4-BE49-F238E27FC236}">
                <a16:creationId xmlns:a16="http://schemas.microsoft.com/office/drawing/2014/main" id="{4619370C-4436-7CD6-ED77-E88462FD499B}"/>
              </a:ext>
            </a:extLst>
          </p:cNvPr>
          <p:cNvSpPr txBox="1"/>
          <p:nvPr/>
        </p:nvSpPr>
        <p:spPr>
          <a:xfrm>
            <a:off x="0" y="0"/>
            <a:ext cx="12192000" cy="2607958"/>
          </a:xfrm>
          <a:prstGeom prst="rect">
            <a:avLst/>
          </a:prstGeom>
          <a:noFill/>
        </p:spPr>
        <p:txBody>
          <a:bodyPr wrap="square">
            <a:spAutoFit/>
          </a:bodyPr>
          <a:lstStyle/>
          <a:p>
            <a:pPr>
              <a:lnSpc>
                <a:spcPct val="150000"/>
              </a:lnSpc>
            </a:pPr>
            <a:r>
              <a:rPr lang="en-US" sz="2800" b="1" dirty="0">
                <a:highlight>
                  <a:srgbClr val="FFFF00"/>
                </a:highlight>
                <a:latin typeface="Calibir"/>
              </a:rPr>
              <a:t>Composition (Strong Link)</a:t>
            </a:r>
          </a:p>
          <a:p>
            <a:pPr marL="457200" indent="-457200">
              <a:lnSpc>
                <a:spcPct val="150000"/>
              </a:lnSpc>
              <a:buFont typeface="Arial" panose="020B0604020202020204" pitchFamily="34" charset="0"/>
              <a:buChar char="•"/>
            </a:pPr>
            <a:r>
              <a:rPr lang="en-US" sz="2800" dirty="0">
                <a:latin typeface="Calibir"/>
              </a:rPr>
              <a:t>Each Permit is tied to exactly one Vehicle (by plate number).</a:t>
            </a:r>
          </a:p>
          <a:p>
            <a:pPr marL="457200" indent="-457200">
              <a:lnSpc>
                <a:spcPct val="150000"/>
              </a:lnSpc>
              <a:buFont typeface="Arial" panose="020B0604020202020204" pitchFamily="34" charset="0"/>
              <a:buChar char="•"/>
            </a:pPr>
            <a:r>
              <a:rPr lang="en-US" sz="2800" dirty="0">
                <a:latin typeface="Calibir"/>
              </a:rPr>
              <a:t>If the permit is deleted, the vehicle link also disappears from the permit system.</a:t>
            </a:r>
          </a:p>
          <a:p>
            <a:pPr marL="457200" indent="-457200">
              <a:lnSpc>
                <a:spcPct val="150000"/>
              </a:lnSpc>
              <a:buFont typeface="Arial" panose="020B0604020202020204" pitchFamily="34" charset="0"/>
              <a:buChar char="•"/>
            </a:pPr>
            <a:r>
              <a:rPr lang="en-US" sz="2800" dirty="0">
                <a:latin typeface="Calibir"/>
              </a:rPr>
              <a:t>UML: Permit ♦─1..1 Vehicle</a:t>
            </a:r>
          </a:p>
        </p:txBody>
      </p:sp>
      <p:sp>
        <p:nvSpPr>
          <p:cNvPr id="29" name="Rectangle 28">
            <a:extLst>
              <a:ext uri="{FF2B5EF4-FFF2-40B4-BE49-F238E27FC236}">
                <a16:creationId xmlns:a16="http://schemas.microsoft.com/office/drawing/2014/main" id="{7287BCCE-04C9-0B0A-482C-E787EB997756}"/>
              </a:ext>
            </a:extLst>
          </p:cNvPr>
          <p:cNvSpPr/>
          <p:nvPr/>
        </p:nvSpPr>
        <p:spPr>
          <a:xfrm>
            <a:off x="9969910" y="3230787"/>
            <a:ext cx="2222090"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30" name="Rectangle 29">
            <a:extLst>
              <a:ext uri="{FF2B5EF4-FFF2-40B4-BE49-F238E27FC236}">
                <a16:creationId xmlns:a16="http://schemas.microsoft.com/office/drawing/2014/main" id="{409E5229-8987-C0AF-BAA7-7FD820B5C579}"/>
              </a:ext>
            </a:extLst>
          </p:cNvPr>
          <p:cNvSpPr/>
          <p:nvPr/>
        </p:nvSpPr>
        <p:spPr>
          <a:xfrm>
            <a:off x="9969909" y="4539281"/>
            <a:ext cx="2222090"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1" name="Rectangle 30">
            <a:extLst>
              <a:ext uri="{FF2B5EF4-FFF2-40B4-BE49-F238E27FC236}">
                <a16:creationId xmlns:a16="http://schemas.microsoft.com/office/drawing/2014/main" id="{B93E6791-6B05-D905-7AC2-6B4EF4CD4B68}"/>
              </a:ext>
            </a:extLst>
          </p:cNvPr>
          <p:cNvSpPr/>
          <p:nvPr/>
        </p:nvSpPr>
        <p:spPr>
          <a:xfrm>
            <a:off x="9969909" y="5211943"/>
            <a:ext cx="2222090"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32" name="Rectangle 31">
            <a:extLst>
              <a:ext uri="{FF2B5EF4-FFF2-40B4-BE49-F238E27FC236}">
                <a16:creationId xmlns:a16="http://schemas.microsoft.com/office/drawing/2014/main" id="{82B704D1-AD4F-302B-FACB-12C0AAEB7967}"/>
              </a:ext>
            </a:extLst>
          </p:cNvPr>
          <p:cNvSpPr/>
          <p:nvPr/>
        </p:nvSpPr>
        <p:spPr>
          <a:xfrm>
            <a:off x="5041492" y="2195481"/>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33" name="Rectangle 32">
            <a:extLst>
              <a:ext uri="{FF2B5EF4-FFF2-40B4-BE49-F238E27FC236}">
                <a16:creationId xmlns:a16="http://schemas.microsoft.com/office/drawing/2014/main" id="{6CBEF354-C5BC-D744-C29F-76B92DE20261}"/>
              </a:ext>
            </a:extLst>
          </p:cNvPr>
          <p:cNvSpPr/>
          <p:nvPr/>
        </p:nvSpPr>
        <p:spPr>
          <a:xfrm>
            <a:off x="5041491" y="3503975"/>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34" name="Rectangle 33">
            <a:extLst>
              <a:ext uri="{FF2B5EF4-FFF2-40B4-BE49-F238E27FC236}">
                <a16:creationId xmlns:a16="http://schemas.microsoft.com/office/drawing/2014/main" id="{A5C0AD7F-47A0-5C95-4B45-4B3BAB1C30B8}"/>
              </a:ext>
            </a:extLst>
          </p:cNvPr>
          <p:cNvSpPr/>
          <p:nvPr/>
        </p:nvSpPr>
        <p:spPr>
          <a:xfrm>
            <a:off x="5041491" y="41766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35" name="Rectangle 34">
            <a:extLst>
              <a:ext uri="{FF2B5EF4-FFF2-40B4-BE49-F238E27FC236}">
                <a16:creationId xmlns:a16="http://schemas.microsoft.com/office/drawing/2014/main" id="{34F37D28-22AD-CC28-6C8A-68E8C9E4D417}"/>
              </a:ext>
            </a:extLst>
          </p:cNvPr>
          <p:cNvSpPr/>
          <p:nvPr/>
        </p:nvSpPr>
        <p:spPr>
          <a:xfrm>
            <a:off x="5041491" y="484001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6" name="Rectangle 35">
            <a:extLst>
              <a:ext uri="{FF2B5EF4-FFF2-40B4-BE49-F238E27FC236}">
                <a16:creationId xmlns:a16="http://schemas.microsoft.com/office/drawing/2014/main" id="{DE1A0EC1-4830-E0C2-E49D-6AE017B2E553}"/>
              </a:ext>
            </a:extLst>
          </p:cNvPr>
          <p:cNvSpPr/>
          <p:nvPr/>
        </p:nvSpPr>
        <p:spPr>
          <a:xfrm>
            <a:off x="5041491" y="552196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37" name="Rectangle 36">
            <a:extLst>
              <a:ext uri="{FF2B5EF4-FFF2-40B4-BE49-F238E27FC236}">
                <a16:creationId xmlns:a16="http://schemas.microsoft.com/office/drawing/2014/main" id="{804B8F98-5424-F0DE-E626-47A32BFECC85}"/>
              </a:ext>
            </a:extLst>
          </p:cNvPr>
          <p:cNvSpPr/>
          <p:nvPr/>
        </p:nvSpPr>
        <p:spPr>
          <a:xfrm>
            <a:off x="5041491" y="61853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cxnSp>
        <p:nvCxnSpPr>
          <p:cNvPr id="38" name="Straight Connector 37">
            <a:extLst>
              <a:ext uri="{FF2B5EF4-FFF2-40B4-BE49-F238E27FC236}">
                <a16:creationId xmlns:a16="http://schemas.microsoft.com/office/drawing/2014/main" id="{8D557716-BBE5-A58D-98CB-AEA57C7B9276}"/>
              </a:ext>
            </a:extLst>
          </p:cNvPr>
          <p:cNvCxnSpPr>
            <a:cxnSpLocks/>
          </p:cNvCxnSpPr>
          <p:nvPr/>
        </p:nvCxnSpPr>
        <p:spPr>
          <a:xfrm flipH="1">
            <a:off x="8281220" y="4496496"/>
            <a:ext cx="1688689"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41" name="Flowchart: Decision 40">
            <a:extLst>
              <a:ext uri="{FF2B5EF4-FFF2-40B4-BE49-F238E27FC236}">
                <a16:creationId xmlns:a16="http://schemas.microsoft.com/office/drawing/2014/main" id="{CED2F066-420E-3579-0B91-116507F82FCB}"/>
              </a:ext>
            </a:extLst>
          </p:cNvPr>
          <p:cNvSpPr/>
          <p:nvPr/>
        </p:nvSpPr>
        <p:spPr>
          <a:xfrm>
            <a:off x="8598309" y="4176637"/>
            <a:ext cx="324465" cy="672659"/>
          </a:xfrm>
          <a:prstGeom prst="flowChartDecisi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6890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D2E4-43C8-3A95-9CF5-DA034FB80862}"/>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40A7DD9C-A54A-FBE4-8606-5D53C1E0DD3F}"/>
              </a:ext>
            </a:extLst>
          </p:cNvPr>
          <p:cNvSpPr txBox="1">
            <a:spLocks/>
          </p:cNvSpPr>
          <p:nvPr/>
        </p:nvSpPr>
        <p:spPr>
          <a:xfrm>
            <a:off x="8281220" y="4673300"/>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2" name="TextBox 41">
            <a:extLst>
              <a:ext uri="{FF2B5EF4-FFF2-40B4-BE49-F238E27FC236}">
                <a16:creationId xmlns:a16="http://schemas.microsoft.com/office/drawing/2014/main" id="{29B89456-6DDF-B90A-F19A-431188795A63}"/>
              </a:ext>
            </a:extLst>
          </p:cNvPr>
          <p:cNvSpPr txBox="1">
            <a:spLocks/>
          </p:cNvSpPr>
          <p:nvPr/>
        </p:nvSpPr>
        <p:spPr>
          <a:xfrm>
            <a:off x="9125564" y="3664715"/>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26" name="Rectangle 2">
            <a:extLst>
              <a:ext uri="{FF2B5EF4-FFF2-40B4-BE49-F238E27FC236}">
                <a16:creationId xmlns:a16="http://schemas.microsoft.com/office/drawing/2014/main" id="{212B75E4-4814-FE93-5D3A-7A5F610765D6}"/>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B272D144-2890-DD5E-FB6C-33EBF60B4C70}"/>
              </a:ext>
            </a:extLst>
          </p:cNvPr>
          <p:cNvSpPr txBox="1"/>
          <p:nvPr/>
        </p:nvSpPr>
        <p:spPr>
          <a:xfrm>
            <a:off x="0" y="2792624"/>
            <a:ext cx="5041491" cy="2610843"/>
          </a:xfrm>
          <a:prstGeom prst="rect">
            <a:avLst/>
          </a:prstGeom>
          <a:noFill/>
        </p:spPr>
        <p:txBody>
          <a:bodyPr wrap="square">
            <a:spAutoFit/>
          </a:bodyPr>
          <a:lstStyle/>
          <a:p>
            <a:pPr>
              <a:lnSpc>
                <a:spcPct val="150000"/>
              </a:lnSpc>
            </a:pPr>
            <a:r>
              <a:rPr lang="en-US" sz="2800" b="1" dirty="0">
                <a:highlight>
                  <a:srgbClr val="00FF00"/>
                </a:highlight>
                <a:latin typeface="Calibir"/>
              </a:rPr>
              <a:t>Multiplicity (1,1)</a:t>
            </a:r>
            <a:r>
              <a:rPr lang="en-US" sz="2800" b="1" dirty="0">
                <a:latin typeface="Calibir"/>
              </a:rPr>
              <a:t> </a:t>
            </a:r>
            <a:r>
              <a:rPr lang="en-US" sz="2800" dirty="0">
                <a:latin typeface="Calibir"/>
              </a:rPr>
              <a:t>→ each Permit is tied to exactly one </a:t>
            </a:r>
            <a:r>
              <a:rPr lang="en-US" sz="2800" dirty="0" err="1">
                <a:latin typeface="Calibir"/>
              </a:rPr>
              <a:t>VehicleInfo</a:t>
            </a:r>
            <a:r>
              <a:rPr lang="en-US" sz="2800" dirty="0">
                <a:latin typeface="Calibir"/>
              </a:rPr>
              <a:t>, and each </a:t>
            </a:r>
            <a:r>
              <a:rPr lang="en-US" sz="2800" dirty="0" err="1">
                <a:latin typeface="Calibir"/>
              </a:rPr>
              <a:t>VehicleInfo</a:t>
            </a:r>
            <a:r>
              <a:rPr lang="en-US" sz="2800" dirty="0">
                <a:latin typeface="Calibir"/>
              </a:rPr>
              <a:t> belongs to exactly one Permit.</a:t>
            </a:r>
          </a:p>
        </p:txBody>
      </p:sp>
      <p:sp>
        <p:nvSpPr>
          <p:cNvPr id="2" name="TextBox 1">
            <a:extLst>
              <a:ext uri="{FF2B5EF4-FFF2-40B4-BE49-F238E27FC236}">
                <a16:creationId xmlns:a16="http://schemas.microsoft.com/office/drawing/2014/main" id="{1D3B206C-1B7E-C5D6-11E8-7046EB0EAFDB}"/>
              </a:ext>
            </a:extLst>
          </p:cNvPr>
          <p:cNvSpPr txBox="1"/>
          <p:nvPr/>
        </p:nvSpPr>
        <p:spPr>
          <a:xfrm>
            <a:off x="0" y="0"/>
            <a:ext cx="12192000" cy="2614434"/>
          </a:xfrm>
          <a:prstGeom prst="rect">
            <a:avLst/>
          </a:prstGeom>
          <a:noFill/>
        </p:spPr>
        <p:txBody>
          <a:bodyPr wrap="square">
            <a:spAutoFit/>
          </a:bodyPr>
          <a:lstStyle/>
          <a:p>
            <a:pPr>
              <a:lnSpc>
                <a:spcPct val="150000"/>
              </a:lnSpc>
            </a:pPr>
            <a:r>
              <a:rPr lang="en-US" sz="2800" b="1" dirty="0">
                <a:highlight>
                  <a:srgbClr val="FFFF00"/>
                </a:highlight>
                <a:latin typeface="Calibir"/>
              </a:rPr>
              <a:t>Composition (Strong Link)</a:t>
            </a:r>
          </a:p>
          <a:p>
            <a:pPr marL="457200" indent="-457200">
              <a:lnSpc>
                <a:spcPct val="150000"/>
              </a:lnSpc>
              <a:buFont typeface="Arial" panose="020B0604020202020204" pitchFamily="34" charset="0"/>
              <a:buChar char="•"/>
            </a:pPr>
            <a:r>
              <a:rPr lang="en-US" sz="2800" dirty="0">
                <a:latin typeface="Calibir"/>
              </a:rPr>
              <a:t>Composition (black diamond at Permit side) → means a </a:t>
            </a:r>
            <a:r>
              <a:rPr lang="en-US" sz="2800" dirty="0" err="1">
                <a:latin typeface="Calibir"/>
              </a:rPr>
              <a:t>VehicleInfo</a:t>
            </a:r>
            <a:r>
              <a:rPr lang="en-US" sz="2800" dirty="0">
                <a:latin typeface="Calibir"/>
              </a:rPr>
              <a:t> cannot exist without its Permit. If the Permit is deleted, the </a:t>
            </a:r>
            <a:r>
              <a:rPr lang="en-US" sz="2800" dirty="0" err="1">
                <a:latin typeface="Calibir"/>
              </a:rPr>
              <a:t>VehicleInfo</a:t>
            </a:r>
            <a:r>
              <a:rPr lang="en-US" sz="2800" dirty="0">
                <a:latin typeface="Calibir"/>
              </a:rPr>
              <a:t> tied to it is also deleted.</a:t>
            </a:r>
          </a:p>
        </p:txBody>
      </p:sp>
      <p:sp>
        <p:nvSpPr>
          <p:cNvPr id="29" name="Rectangle 28">
            <a:extLst>
              <a:ext uri="{FF2B5EF4-FFF2-40B4-BE49-F238E27FC236}">
                <a16:creationId xmlns:a16="http://schemas.microsoft.com/office/drawing/2014/main" id="{BB94B184-CB80-2264-688E-577FFF2C0A25}"/>
              </a:ext>
            </a:extLst>
          </p:cNvPr>
          <p:cNvSpPr/>
          <p:nvPr/>
        </p:nvSpPr>
        <p:spPr>
          <a:xfrm>
            <a:off x="9969910" y="3230787"/>
            <a:ext cx="2222090"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30" name="Rectangle 29">
            <a:extLst>
              <a:ext uri="{FF2B5EF4-FFF2-40B4-BE49-F238E27FC236}">
                <a16:creationId xmlns:a16="http://schemas.microsoft.com/office/drawing/2014/main" id="{483FBACA-6D0D-C472-BCE1-4E03314B6EF0}"/>
              </a:ext>
            </a:extLst>
          </p:cNvPr>
          <p:cNvSpPr/>
          <p:nvPr/>
        </p:nvSpPr>
        <p:spPr>
          <a:xfrm>
            <a:off x="9969909" y="4539281"/>
            <a:ext cx="2222090"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1" name="Rectangle 30">
            <a:extLst>
              <a:ext uri="{FF2B5EF4-FFF2-40B4-BE49-F238E27FC236}">
                <a16:creationId xmlns:a16="http://schemas.microsoft.com/office/drawing/2014/main" id="{CC5A2CE5-7393-FD63-0467-1C162369D1C5}"/>
              </a:ext>
            </a:extLst>
          </p:cNvPr>
          <p:cNvSpPr/>
          <p:nvPr/>
        </p:nvSpPr>
        <p:spPr>
          <a:xfrm>
            <a:off x="9969909" y="5211943"/>
            <a:ext cx="2222090"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32" name="Rectangle 31">
            <a:extLst>
              <a:ext uri="{FF2B5EF4-FFF2-40B4-BE49-F238E27FC236}">
                <a16:creationId xmlns:a16="http://schemas.microsoft.com/office/drawing/2014/main" id="{1BCFCD09-1A2A-3CE7-EE0B-0FB08D9411C8}"/>
              </a:ext>
            </a:extLst>
          </p:cNvPr>
          <p:cNvSpPr/>
          <p:nvPr/>
        </p:nvSpPr>
        <p:spPr>
          <a:xfrm>
            <a:off x="5041492" y="2195481"/>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33" name="Rectangle 32">
            <a:extLst>
              <a:ext uri="{FF2B5EF4-FFF2-40B4-BE49-F238E27FC236}">
                <a16:creationId xmlns:a16="http://schemas.microsoft.com/office/drawing/2014/main" id="{80E0A7D0-C3B9-8CF4-EC57-FFA11620A075}"/>
              </a:ext>
            </a:extLst>
          </p:cNvPr>
          <p:cNvSpPr/>
          <p:nvPr/>
        </p:nvSpPr>
        <p:spPr>
          <a:xfrm>
            <a:off x="5041491" y="3503975"/>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34" name="Rectangle 33">
            <a:extLst>
              <a:ext uri="{FF2B5EF4-FFF2-40B4-BE49-F238E27FC236}">
                <a16:creationId xmlns:a16="http://schemas.microsoft.com/office/drawing/2014/main" id="{DC26A91E-23ED-86C4-30FA-82829C63C4A0}"/>
              </a:ext>
            </a:extLst>
          </p:cNvPr>
          <p:cNvSpPr/>
          <p:nvPr/>
        </p:nvSpPr>
        <p:spPr>
          <a:xfrm>
            <a:off x="5041491" y="41766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35" name="Rectangle 34">
            <a:extLst>
              <a:ext uri="{FF2B5EF4-FFF2-40B4-BE49-F238E27FC236}">
                <a16:creationId xmlns:a16="http://schemas.microsoft.com/office/drawing/2014/main" id="{D9DE7117-7009-884C-F3CD-769E6754E97F}"/>
              </a:ext>
            </a:extLst>
          </p:cNvPr>
          <p:cNvSpPr/>
          <p:nvPr/>
        </p:nvSpPr>
        <p:spPr>
          <a:xfrm>
            <a:off x="5041491" y="484001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6" name="Rectangle 35">
            <a:extLst>
              <a:ext uri="{FF2B5EF4-FFF2-40B4-BE49-F238E27FC236}">
                <a16:creationId xmlns:a16="http://schemas.microsoft.com/office/drawing/2014/main" id="{2A891554-9EE1-2548-5E3F-226522252198}"/>
              </a:ext>
            </a:extLst>
          </p:cNvPr>
          <p:cNvSpPr/>
          <p:nvPr/>
        </p:nvSpPr>
        <p:spPr>
          <a:xfrm>
            <a:off x="5041491" y="552196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37" name="Rectangle 36">
            <a:extLst>
              <a:ext uri="{FF2B5EF4-FFF2-40B4-BE49-F238E27FC236}">
                <a16:creationId xmlns:a16="http://schemas.microsoft.com/office/drawing/2014/main" id="{277BE622-54F0-E8D1-80B6-9CEB9DB683AF}"/>
              </a:ext>
            </a:extLst>
          </p:cNvPr>
          <p:cNvSpPr/>
          <p:nvPr/>
        </p:nvSpPr>
        <p:spPr>
          <a:xfrm>
            <a:off x="5041491" y="61853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cxnSp>
        <p:nvCxnSpPr>
          <p:cNvPr id="38" name="Straight Connector 37">
            <a:extLst>
              <a:ext uri="{FF2B5EF4-FFF2-40B4-BE49-F238E27FC236}">
                <a16:creationId xmlns:a16="http://schemas.microsoft.com/office/drawing/2014/main" id="{FDBD6C5F-4154-EAD8-1A06-026D42588624}"/>
              </a:ext>
            </a:extLst>
          </p:cNvPr>
          <p:cNvCxnSpPr>
            <a:cxnSpLocks/>
          </p:cNvCxnSpPr>
          <p:nvPr/>
        </p:nvCxnSpPr>
        <p:spPr>
          <a:xfrm flipH="1">
            <a:off x="8281220" y="4496496"/>
            <a:ext cx="1688689"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41" name="Flowchart: Decision 40">
            <a:extLst>
              <a:ext uri="{FF2B5EF4-FFF2-40B4-BE49-F238E27FC236}">
                <a16:creationId xmlns:a16="http://schemas.microsoft.com/office/drawing/2014/main" id="{E8F50F80-3379-7CD4-3F13-5B6F2147C4D1}"/>
              </a:ext>
            </a:extLst>
          </p:cNvPr>
          <p:cNvSpPr/>
          <p:nvPr/>
        </p:nvSpPr>
        <p:spPr>
          <a:xfrm>
            <a:off x="8598309" y="4176637"/>
            <a:ext cx="324465" cy="672659"/>
          </a:xfrm>
          <a:prstGeom prst="flowChartDecisi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3003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2A198-5050-9146-9584-D6579E31601B}"/>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9488D631-86CE-618E-32CE-48D4ACDBF2F9}"/>
              </a:ext>
            </a:extLst>
          </p:cNvPr>
          <p:cNvSpPr txBox="1">
            <a:spLocks/>
          </p:cNvSpPr>
          <p:nvPr/>
        </p:nvSpPr>
        <p:spPr>
          <a:xfrm>
            <a:off x="8281220" y="4673300"/>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42" name="TextBox 41">
            <a:extLst>
              <a:ext uri="{FF2B5EF4-FFF2-40B4-BE49-F238E27FC236}">
                <a16:creationId xmlns:a16="http://schemas.microsoft.com/office/drawing/2014/main" id="{7999E314-0EF1-5605-68F4-9146DC0699E6}"/>
              </a:ext>
            </a:extLst>
          </p:cNvPr>
          <p:cNvSpPr txBox="1">
            <a:spLocks/>
          </p:cNvSpPr>
          <p:nvPr/>
        </p:nvSpPr>
        <p:spPr>
          <a:xfrm>
            <a:off x="9125564" y="3664715"/>
            <a:ext cx="961105" cy="671851"/>
          </a:xfrm>
          <a:prstGeom prst="rect">
            <a:avLst/>
          </a:prstGeom>
          <a:solidFill>
            <a:schemeClr val="bg1"/>
          </a:solidFill>
          <a:ln>
            <a:noFill/>
          </a:ln>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(1, 1)</a:t>
            </a:r>
          </a:p>
        </p:txBody>
      </p:sp>
      <p:sp>
        <p:nvSpPr>
          <p:cNvPr id="26" name="Rectangle 2">
            <a:extLst>
              <a:ext uri="{FF2B5EF4-FFF2-40B4-BE49-F238E27FC236}">
                <a16:creationId xmlns:a16="http://schemas.microsoft.com/office/drawing/2014/main" id="{0803C56E-9FB2-37BF-9822-B5C4830719F8}"/>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50597953-BB4C-1F79-E2E3-C25911497896}"/>
              </a:ext>
            </a:extLst>
          </p:cNvPr>
          <p:cNvSpPr txBox="1"/>
          <p:nvPr/>
        </p:nvSpPr>
        <p:spPr>
          <a:xfrm>
            <a:off x="0" y="0"/>
            <a:ext cx="12192000" cy="2079928"/>
          </a:xfrm>
          <a:prstGeom prst="rect">
            <a:avLst/>
          </a:prstGeom>
          <a:noFill/>
        </p:spPr>
        <p:txBody>
          <a:bodyPr wrap="square">
            <a:spAutoFit/>
          </a:bodyPr>
          <a:lstStyle/>
          <a:p>
            <a:pPr>
              <a:lnSpc>
                <a:spcPct val="150000"/>
              </a:lnSpc>
            </a:pPr>
            <a:r>
              <a:rPr lang="en-US" sz="3300" b="1" dirty="0">
                <a:highlight>
                  <a:srgbClr val="FFFF00"/>
                </a:highlight>
                <a:latin typeface="Calibir"/>
              </a:rPr>
              <a:t>Attributes</a:t>
            </a:r>
            <a:r>
              <a:rPr lang="en-US" sz="3300" dirty="0">
                <a:highlight>
                  <a:srgbClr val="FFFF00"/>
                </a:highlight>
                <a:latin typeface="Calibir"/>
              </a:rPr>
              <a:t>:</a:t>
            </a:r>
          </a:p>
          <a:p>
            <a:pPr marL="457200" indent="-457200">
              <a:lnSpc>
                <a:spcPct val="150000"/>
              </a:lnSpc>
              <a:buFont typeface="Arial" panose="020B0604020202020204" pitchFamily="34" charset="0"/>
              <a:buChar char="•"/>
            </a:pPr>
            <a:r>
              <a:rPr lang="en-US" sz="2800" dirty="0">
                <a:latin typeface="Calibir"/>
              </a:rPr>
              <a:t>Permit has fields like id, zone, plate, status, semester.</a:t>
            </a:r>
          </a:p>
          <a:p>
            <a:pPr marL="457200" indent="-457200">
              <a:lnSpc>
                <a:spcPct val="150000"/>
              </a:lnSpc>
              <a:buFont typeface="Arial" panose="020B0604020202020204" pitchFamily="34" charset="0"/>
              <a:buChar char="•"/>
            </a:pPr>
            <a:r>
              <a:rPr lang="en-US" sz="2800" dirty="0" err="1">
                <a:latin typeface="Calibir"/>
              </a:rPr>
              <a:t>VehicleInfo</a:t>
            </a:r>
            <a:r>
              <a:rPr lang="en-US" sz="2800" dirty="0">
                <a:latin typeface="Calibir"/>
              </a:rPr>
              <a:t> has plate and make.</a:t>
            </a:r>
          </a:p>
        </p:txBody>
      </p:sp>
      <p:sp>
        <p:nvSpPr>
          <p:cNvPr id="29" name="Rectangle 28">
            <a:extLst>
              <a:ext uri="{FF2B5EF4-FFF2-40B4-BE49-F238E27FC236}">
                <a16:creationId xmlns:a16="http://schemas.microsoft.com/office/drawing/2014/main" id="{FC6FD47F-51DD-EE1E-4EE2-DB27E87BC616}"/>
              </a:ext>
            </a:extLst>
          </p:cNvPr>
          <p:cNvSpPr/>
          <p:nvPr/>
        </p:nvSpPr>
        <p:spPr>
          <a:xfrm>
            <a:off x="9969910" y="3230787"/>
            <a:ext cx="2222090"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latin typeface="Calibir"/>
              </a:rPr>
              <a:t>VehicleInfo</a:t>
            </a:r>
            <a:endParaRPr lang="en-US" sz="2800" dirty="0">
              <a:latin typeface="Calibir"/>
            </a:endParaRPr>
          </a:p>
        </p:txBody>
      </p:sp>
      <p:sp>
        <p:nvSpPr>
          <p:cNvPr id="30" name="Rectangle 29">
            <a:extLst>
              <a:ext uri="{FF2B5EF4-FFF2-40B4-BE49-F238E27FC236}">
                <a16:creationId xmlns:a16="http://schemas.microsoft.com/office/drawing/2014/main" id="{8867127A-4E33-9950-84F1-979AB7AD8654}"/>
              </a:ext>
            </a:extLst>
          </p:cNvPr>
          <p:cNvSpPr/>
          <p:nvPr/>
        </p:nvSpPr>
        <p:spPr>
          <a:xfrm>
            <a:off x="9969909" y="4539281"/>
            <a:ext cx="2222090"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1" name="Rectangle 30">
            <a:extLst>
              <a:ext uri="{FF2B5EF4-FFF2-40B4-BE49-F238E27FC236}">
                <a16:creationId xmlns:a16="http://schemas.microsoft.com/office/drawing/2014/main" id="{63FF1A32-5DDB-AC70-0F16-1887CBED7BFD}"/>
              </a:ext>
            </a:extLst>
          </p:cNvPr>
          <p:cNvSpPr/>
          <p:nvPr/>
        </p:nvSpPr>
        <p:spPr>
          <a:xfrm>
            <a:off x="9969909" y="5211943"/>
            <a:ext cx="2222090"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make</a:t>
            </a:r>
          </a:p>
        </p:txBody>
      </p:sp>
      <p:sp>
        <p:nvSpPr>
          <p:cNvPr id="32" name="Rectangle 31">
            <a:extLst>
              <a:ext uri="{FF2B5EF4-FFF2-40B4-BE49-F238E27FC236}">
                <a16:creationId xmlns:a16="http://schemas.microsoft.com/office/drawing/2014/main" id="{FB0F2C3A-3ED6-D866-C054-F0E1925E3632}"/>
              </a:ext>
            </a:extLst>
          </p:cNvPr>
          <p:cNvSpPr/>
          <p:nvPr/>
        </p:nvSpPr>
        <p:spPr>
          <a:xfrm>
            <a:off x="5041492" y="2195481"/>
            <a:ext cx="3239729" cy="130849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Permit &lt;&lt;abstract&gt;&gt;</a:t>
            </a:r>
          </a:p>
        </p:txBody>
      </p:sp>
      <p:sp>
        <p:nvSpPr>
          <p:cNvPr id="33" name="Rectangle 32">
            <a:extLst>
              <a:ext uri="{FF2B5EF4-FFF2-40B4-BE49-F238E27FC236}">
                <a16:creationId xmlns:a16="http://schemas.microsoft.com/office/drawing/2014/main" id="{A90BEBCD-EC45-10E3-C2B7-28469867089C}"/>
              </a:ext>
            </a:extLst>
          </p:cNvPr>
          <p:cNvSpPr/>
          <p:nvPr/>
        </p:nvSpPr>
        <p:spPr>
          <a:xfrm>
            <a:off x="5041491" y="3503975"/>
            <a:ext cx="3239729" cy="672662"/>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+id</a:t>
            </a:r>
          </a:p>
        </p:txBody>
      </p:sp>
      <p:sp>
        <p:nvSpPr>
          <p:cNvPr id="34" name="Rectangle 33">
            <a:extLst>
              <a:ext uri="{FF2B5EF4-FFF2-40B4-BE49-F238E27FC236}">
                <a16:creationId xmlns:a16="http://schemas.microsoft.com/office/drawing/2014/main" id="{BAA4D103-B8C3-9326-4431-97C389E84510}"/>
              </a:ext>
            </a:extLst>
          </p:cNvPr>
          <p:cNvSpPr/>
          <p:nvPr/>
        </p:nvSpPr>
        <p:spPr>
          <a:xfrm>
            <a:off x="5041491" y="41766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+zone</a:t>
            </a:r>
          </a:p>
        </p:txBody>
      </p:sp>
      <p:sp>
        <p:nvSpPr>
          <p:cNvPr id="35" name="Rectangle 34">
            <a:extLst>
              <a:ext uri="{FF2B5EF4-FFF2-40B4-BE49-F238E27FC236}">
                <a16:creationId xmlns:a16="http://schemas.microsoft.com/office/drawing/2014/main" id="{66335F3E-F8A2-8070-C851-2951414D8EC6}"/>
              </a:ext>
            </a:extLst>
          </p:cNvPr>
          <p:cNvSpPr/>
          <p:nvPr/>
        </p:nvSpPr>
        <p:spPr>
          <a:xfrm>
            <a:off x="5041491" y="484001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+plate</a:t>
            </a:r>
          </a:p>
        </p:txBody>
      </p:sp>
      <p:sp>
        <p:nvSpPr>
          <p:cNvPr id="36" name="Rectangle 35">
            <a:extLst>
              <a:ext uri="{FF2B5EF4-FFF2-40B4-BE49-F238E27FC236}">
                <a16:creationId xmlns:a16="http://schemas.microsoft.com/office/drawing/2014/main" id="{BE0005E7-12D5-A39A-16BF-85288A5C77BC}"/>
              </a:ext>
            </a:extLst>
          </p:cNvPr>
          <p:cNvSpPr/>
          <p:nvPr/>
        </p:nvSpPr>
        <p:spPr>
          <a:xfrm>
            <a:off x="5041491" y="5521962"/>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+status</a:t>
            </a:r>
          </a:p>
        </p:txBody>
      </p:sp>
      <p:sp>
        <p:nvSpPr>
          <p:cNvPr id="37" name="Rectangle 36">
            <a:extLst>
              <a:ext uri="{FF2B5EF4-FFF2-40B4-BE49-F238E27FC236}">
                <a16:creationId xmlns:a16="http://schemas.microsoft.com/office/drawing/2014/main" id="{2D83D19C-442D-0628-B638-DD75FB524803}"/>
              </a:ext>
            </a:extLst>
          </p:cNvPr>
          <p:cNvSpPr/>
          <p:nvPr/>
        </p:nvSpPr>
        <p:spPr>
          <a:xfrm>
            <a:off x="5041491" y="6185337"/>
            <a:ext cx="3239729" cy="672663"/>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Calibir"/>
              </a:rPr>
              <a:t>+semester</a:t>
            </a:r>
          </a:p>
        </p:txBody>
      </p:sp>
      <p:cxnSp>
        <p:nvCxnSpPr>
          <p:cNvPr id="38" name="Straight Connector 37">
            <a:extLst>
              <a:ext uri="{FF2B5EF4-FFF2-40B4-BE49-F238E27FC236}">
                <a16:creationId xmlns:a16="http://schemas.microsoft.com/office/drawing/2014/main" id="{3BE57CB0-36A7-513F-AC0A-3A0A90E7AB3E}"/>
              </a:ext>
            </a:extLst>
          </p:cNvPr>
          <p:cNvCxnSpPr>
            <a:cxnSpLocks/>
          </p:cNvCxnSpPr>
          <p:nvPr/>
        </p:nvCxnSpPr>
        <p:spPr>
          <a:xfrm flipH="1">
            <a:off x="8281220" y="4496496"/>
            <a:ext cx="1688689" cy="0"/>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41" name="Flowchart: Decision 40">
            <a:extLst>
              <a:ext uri="{FF2B5EF4-FFF2-40B4-BE49-F238E27FC236}">
                <a16:creationId xmlns:a16="http://schemas.microsoft.com/office/drawing/2014/main" id="{ECA9A34B-3205-0C47-47BE-4A3255B0C51E}"/>
              </a:ext>
            </a:extLst>
          </p:cNvPr>
          <p:cNvSpPr/>
          <p:nvPr/>
        </p:nvSpPr>
        <p:spPr>
          <a:xfrm>
            <a:off x="8598309" y="4176637"/>
            <a:ext cx="324465" cy="672659"/>
          </a:xfrm>
          <a:prstGeom prst="flowChartDecisio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0453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BD46-3A3A-6D8E-F935-C7C768B20FD4}"/>
            </a:ext>
          </a:extLst>
        </p:cNvPr>
        <p:cNvGrpSpPr/>
        <p:nvPr/>
      </p:nvGrpSpPr>
      <p:grpSpPr>
        <a:xfrm>
          <a:off x="0" y="0"/>
          <a:ext cx="0" cy="0"/>
          <a:chOff x="0" y="0"/>
          <a:chExt cx="0" cy="0"/>
        </a:xfrm>
      </p:grpSpPr>
      <p:sp>
        <p:nvSpPr>
          <p:cNvPr id="26" name="Rectangle 2">
            <a:extLst>
              <a:ext uri="{FF2B5EF4-FFF2-40B4-BE49-F238E27FC236}">
                <a16:creationId xmlns:a16="http://schemas.microsoft.com/office/drawing/2014/main" id="{9E935C70-0145-944C-23F3-0CEF4BE99C3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TextBox 22">
            <a:extLst>
              <a:ext uri="{FF2B5EF4-FFF2-40B4-BE49-F238E27FC236}">
                <a16:creationId xmlns:a16="http://schemas.microsoft.com/office/drawing/2014/main" id="{509012A7-0B51-5DD0-0365-9C2A5248B1F5}"/>
              </a:ext>
            </a:extLst>
          </p:cNvPr>
          <p:cNvSpPr txBox="1"/>
          <p:nvPr/>
        </p:nvSpPr>
        <p:spPr>
          <a:xfrm>
            <a:off x="0" y="1477248"/>
            <a:ext cx="12192000" cy="3903504"/>
          </a:xfrm>
          <a:prstGeom prst="rect">
            <a:avLst/>
          </a:prstGeom>
          <a:noFill/>
        </p:spPr>
        <p:txBody>
          <a:bodyPr wrap="square">
            <a:spAutoFit/>
          </a:bodyPr>
          <a:lstStyle/>
          <a:p>
            <a:pPr>
              <a:lnSpc>
                <a:spcPct val="150000"/>
              </a:lnSpc>
            </a:pPr>
            <a:r>
              <a:rPr lang="en-US" sz="2800" dirty="0">
                <a:latin typeface="Calibir"/>
              </a:rPr>
              <a:t>Permit (1) ── (1) Payment</a:t>
            </a:r>
            <a:br>
              <a:rPr lang="en-US" sz="2800" dirty="0">
                <a:latin typeface="Calibir"/>
              </a:rPr>
            </a:br>
            <a:r>
              <a:rPr lang="en-US" sz="2800" dirty="0">
                <a:latin typeface="Calibir"/>
              </a:rPr>
              <a:t>→ Every permit needs exactly one payment at the time of issue.</a:t>
            </a:r>
          </a:p>
          <a:p>
            <a:pPr>
              <a:lnSpc>
                <a:spcPct val="150000"/>
              </a:lnSpc>
            </a:pPr>
            <a:r>
              <a:rPr lang="en-US" sz="2800" dirty="0" err="1">
                <a:latin typeface="Calibir"/>
              </a:rPr>
              <a:t>SecurityOfficer</a:t>
            </a:r>
            <a:r>
              <a:rPr lang="en-US" sz="2800" dirty="0">
                <a:latin typeface="Calibir"/>
              </a:rPr>
              <a:t> ──&gt; Permit</a:t>
            </a:r>
            <a:br>
              <a:rPr lang="en-US" sz="2800" dirty="0">
                <a:latin typeface="Calibir"/>
              </a:rPr>
            </a:br>
            <a:r>
              <a:rPr lang="en-US" sz="2800" dirty="0">
                <a:latin typeface="Calibir"/>
              </a:rPr>
              <a:t>→ A Security Officer can revoke (dependency arrow).</a:t>
            </a:r>
          </a:p>
          <a:p>
            <a:pPr>
              <a:lnSpc>
                <a:spcPct val="150000"/>
              </a:lnSpc>
            </a:pPr>
            <a:r>
              <a:rPr lang="en-US" sz="2800" dirty="0">
                <a:latin typeface="Calibir"/>
              </a:rPr>
              <a:t>Permit ── </a:t>
            </a:r>
            <a:r>
              <a:rPr lang="en-US" sz="2800" dirty="0" err="1">
                <a:latin typeface="Calibir"/>
              </a:rPr>
              <a:t>VehicleInfo</a:t>
            </a:r>
            <a:r>
              <a:rPr lang="en-US" sz="2800" dirty="0">
                <a:latin typeface="Calibir"/>
              </a:rPr>
              <a:t> (composition)</a:t>
            </a:r>
            <a:br>
              <a:rPr lang="en-US" sz="2800" dirty="0">
                <a:latin typeface="Calibir"/>
              </a:rPr>
            </a:br>
            <a:r>
              <a:rPr lang="en-US" sz="2800" dirty="0">
                <a:latin typeface="Calibir"/>
              </a:rPr>
              <a:t>→ Permit owns vehicle info (plate, make). If permit deleted → vehicle info deleted.</a:t>
            </a:r>
          </a:p>
        </p:txBody>
      </p:sp>
      <p:sp>
        <p:nvSpPr>
          <p:cNvPr id="4" name="Title 1">
            <a:extLst>
              <a:ext uri="{FF2B5EF4-FFF2-40B4-BE49-F238E27FC236}">
                <a16:creationId xmlns:a16="http://schemas.microsoft.com/office/drawing/2014/main" id="{6E131795-A694-8243-CD4E-7E28148771D9}"/>
              </a:ext>
            </a:extLst>
          </p:cNvPr>
          <p:cNvSpPr>
            <a:spLocks noGrp="1"/>
          </p:cNvSpPr>
          <p:nvPr>
            <p:ph type="title"/>
          </p:nvPr>
        </p:nvSpPr>
        <p:spPr>
          <a:xfrm>
            <a:off x="0" y="0"/>
            <a:ext cx="12192000" cy="707923"/>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014931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504D2-3C7B-F19D-63A4-0CE03D8B9E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CBE576-7C68-44B2-8E76-2285D9F83B46}"/>
              </a:ext>
            </a:extLst>
          </p:cNvPr>
          <p:cNvSpPr txBox="1"/>
          <p:nvPr/>
        </p:nvSpPr>
        <p:spPr>
          <a:xfrm>
            <a:off x="0" y="1074106"/>
            <a:ext cx="12192000" cy="1964512"/>
          </a:xfrm>
          <a:prstGeom prst="rect">
            <a:avLst/>
          </a:prstGeom>
          <a:noFill/>
        </p:spPr>
        <p:txBody>
          <a:bodyPr wrap="square">
            <a:spAutoFit/>
          </a:bodyPr>
          <a:lstStyle/>
          <a:p>
            <a:pPr>
              <a:lnSpc>
                <a:spcPct val="150000"/>
              </a:lnSpc>
            </a:pPr>
            <a:r>
              <a:rPr lang="en-US" sz="2800" b="1" dirty="0">
                <a:latin typeface="Calibir"/>
              </a:rPr>
              <a:t>5. Optional vs Mandatory</a:t>
            </a:r>
          </a:p>
          <a:p>
            <a:pPr marL="914400" lvl="1" indent="-457200">
              <a:lnSpc>
                <a:spcPct val="150000"/>
              </a:lnSpc>
              <a:buFont typeface="Arial" panose="020B0604020202020204" pitchFamily="34" charset="0"/>
              <a:buChar char="•"/>
            </a:pPr>
            <a:r>
              <a:rPr lang="en-US" sz="2800" dirty="0">
                <a:latin typeface="Calibir"/>
              </a:rPr>
              <a:t>Optional: Permit for a User (not all users will request one).</a:t>
            </a:r>
          </a:p>
          <a:p>
            <a:pPr marL="914400" lvl="1" indent="-457200">
              <a:lnSpc>
                <a:spcPct val="150000"/>
              </a:lnSpc>
              <a:buFont typeface="Arial" panose="020B0604020202020204" pitchFamily="34" charset="0"/>
              <a:buChar char="•"/>
            </a:pPr>
            <a:r>
              <a:rPr lang="en-US" sz="2800" dirty="0">
                <a:latin typeface="Calibir"/>
              </a:rPr>
              <a:t>Mandatory: Payment for Permit (no free permits).</a:t>
            </a:r>
          </a:p>
        </p:txBody>
      </p:sp>
      <p:sp>
        <p:nvSpPr>
          <p:cNvPr id="3" name="Title 1">
            <a:extLst>
              <a:ext uri="{FF2B5EF4-FFF2-40B4-BE49-F238E27FC236}">
                <a16:creationId xmlns:a16="http://schemas.microsoft.com/office/drawing/2014/main" id="{4585EE6D-2273-B814-669C-E2F50FA13BD4}"/>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024589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C4C98-8BE6-5B09-5DE4-8713890AF0F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6A1F45-C5E2-B532-6E4F-069F54400FD7}"/>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6. Action Verbs</a:t>
            </a:r>
          </a:p>
          <a:p>
            <a:pPr>
              <a:lnSpc>
                <a:spcPct val="150000"/>
              </a:lnSpc>
            </a:pPr>
            <a:r>
              <a:rPr lang="en-US" sz="2800" dirty="0">
                <a:latin typeface="Calibir"/>
              </a:rPr>
              <a:t>Relationships should use verbs:</a:t>
            </a:r>
          </a:p>
          <a:p>
            <a:pPr marL="914400" lvl="1" indent="-457200">
              <a:lnSpc>
                <a:spcPct val="150000"/>
              </a:lnSpc>
              <a:buFont typeface="Arial" panose="020B0604020202020204" pitchFamily="34" charset="0"/>
              <a:buChar char="•"/>
            </a:pPr>
            <a:r>
              <a:rPr lang="en-US" sz="2800" dirty="0">
                <a:latin typeface="Calibir"/>
              </a:rPr>
              <a:t>User requests Permit.</a:t>
            </a:r>
          </a:p>
          <a:p>
            <a:pPr marL="914400" lvl="1" indent="-457200">
              <a:lnSpc>
                <a:spcPct val="150000"/>
              </a:lnSpc>
              <a:buFont typeface="Arial" panose="020B0604020202020204" pitchFamily="34" charset="0"/>
              <a:buChar char="•"/>
            </a:pPr>
            <a:r>
              <a:rPr lang="en-US" sz="2800" dirty="0">
                <a:latin typeface="Calibir"/>
              </a:rPr>
              <a:t>Permit requires Payment.</a:t>
            </a:r>
          </a:p>
          <a:p>
            <a:pPr marL="914400" lvl="1" indent="-457200">
              <a:lnSpc>
                <a:spcPct val="150000"/>
              </a:lnSpc>
              <a:buFont typeface="Arial" panose="020B0604020202020204" pitchFamily="34" charset="0"/>
              <a:buChar char="•"/>
            </a:pPr>
            <a:r>
              <a:rPr lang="en-US" sz="2800" dirty="0">
                <a:latin typeface="Calibir"/>
              </a:rPr>
              <a:t>Security Officer revokes Permit.</a:t>
            </a:r>
          </a:p>
          <a:p>
            <a:pPr marL="914400" lvl="1" indent="-457200">
              <a:lnSpc>
                <a:spcPct val="150000"/>
              </a:lnSpc>
              <a:buFont typeface="Arial" panose="020B0604020202020204" pitchFamily="34" charset="0"/>
              <a:buChar char="•"/>
            </a:pPr>
            <a:r>
              <a:rPr lang="en-US" sz="2800" dirty="0">
                <a:latin typeface="Calibir"/>
              </a:rPr>
              <a:t>ParkingDB stores Permits.</a:t>
            </a:r>
          </a:p>
        </p:txBody>
      </p:sp>
      <p:sp>
        <p:nvSpPr>
          <p:cNvPr id="3" name="Title 1">
            <a:extLst>
              <a:ext uri="{FF2B5EF4-FFF2-40B4-BE49-F238E27FC236}">
                <a16:creationId xmlns:a16="http://schemas.microsoft.com/office/drawing/2014/main" id="{5B958C0B-CF3A-F231-69E7-5ABD4DC1FC87}"/>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430793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3CEC9-CAC3-5090-289F-9832F91FCCA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48C125-7E70-C0A2-AC04-0F1C6486B01E}"/>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7. Include / Exclude (use cases)</a:t>
            </a:r>
          </a:p>
          <a:p>
            <a:pPr marL="914400" lvl="1" indent="-457200">
              <a:lnSpc>
                <a:spcPct val="150000"/>
              </a:lnSpc>
              <a:buFont typeface="Arial" panose="020B0604020202020204" pitchFamily="34" charset="0"/>
              <a:buChar char="•"/>
            </a:pPr>
            <a:r>
              <a:rPr lang="en-US" sz="2800" b="1" dirty="0">
                <a:latin typeface="Calibir"/>
              </a:rPr>
              <a:t>100 User logs in</a:t>
            </a:r>
            <a:r>
              <a:rPr lang="en-US" sz="2800" dirty="0">
                <a:latin typeface="Calibir"/>
              </a:rPr>
              <a:t> → </a:t>
            </a:r>
            <a:r>
              <a:rPr lang="en-US" sz="2800" i="1" dirty="0">
                <a:latin typeface="Calibir"/>
              </a:rPr>
              <a:t>include</a:t>
            </a:r>
            <a:r>
              <a:rPr lang="en-US" sz="2800" dirty="0">
                <a:latin typeface="Calibir"/>
              </a:rPr>
              <a:t> validate credentials.</a:t>
            </a:r>
          </a:p>
          <a:p>
            <a:pPr marL="914400" lvl="1" indent="-457200">
              <a:lnSpc>
                <a:spcPct val="150000"/>
              </a:lnSpc>
              <a:buFont typeface="Arial" panose="020B0604020202020204" pitchFamily="34" charset="0"/>
              <a:buChar char="•"/>
            </a:pPr>
            <a:r>
              <a:rPr lang="en-US" sz="2800" b="1" dirty="0">
                <a:latin typeface="Calibir"/>
              </a:rPr>
              <a:t>200 Request permit</a:t>
            </a:r>
            <a:r>
              <a:rPr lang="en-US" sz="2800" dirty="0">
                <a:latin typeface="Calibir"/>
              </a:rPr>
              <a:t> → </a:t>
            </a:r>
            <a:r>
              <a:rPr lang="en-US" sz="2800" i="1" dirty="0">
                <a:latin typeface="Calibir"/>
              </a:rPr>
              <a:t>include</a:t>
            </a:r>
            <a:r>
              <a:rPr lang="en-US" sz="2800" dirty="0">
                <a:latin typeface="Calibir"/>
              </a:rPr>
              <a:t> take payment, save record.</a:t>
            </a:r>
          </a:p>
          <a:p>
            <a:pPr marL="914400" lvl="1" indent="-457200">
              <a:lnSpc>
                <a:spcPct val="150000"/>
              </a:lnSpc>
              <a:buFont typeface="Arial" panose="020B0604020202020204" pitchFamily="34" charset="0"/>
              <a:buChar char="•"/>
            </a:pPr>
            <a:r>
              <a:rPr lang="en-US" sz="2800" b="1" dirty="0">
                <a:latin typeface="Calibir"/>
              </a:rPr>
              <a:t>210 Prevent &gt;1 active permit</a:t>
            </a:r>
            <a:r>
              <a:rPr lang="en-US" sz="2800" dirty="0">
                <a:latin typeface="Calibir"/>
              </a:rPr>
              <a:t> → </a:t>
            </a:r>
            <a:r>
              <a:rPr lang="en-US" sz="2800" i="1" dirty="0">
                <a:latin typeface="Calibir"/>
              </a:rPr>
              <a:t>exclude</a:t>
            </a:r>
            <a:r>
              <a:rPr lang="en-US" sz="2800" dirty="0">
                <a:latin typeface="Calibir"/>
              </a:rPr>
              <a:t> if user already has permit.</a:t>
            </a:r>
          </a:p>
          <a:p>
            <a:pPr marL="914400" lvl="1" indent="-457200">
              <a:lnSpc>
                <a:spcPct val="150000"/>
              </a:lnSpc>
              <a:buFont typeface="Arial" panose="020B0604020202020204" pitchFamily="34" charset="0"/>
              <a:buChar char="•"/>
            </a:pPr>
            <a:r>
              <a:rPr lang="en-US" sz="2800" b="1" dirty="0">
                <a:latin typeface="Calibir"/>
              </a:rPr>
              <a:t>300 Security revokes permit</a:t>
            </a:r>
            <a:r>
              <a:rPr lang="en-US" sz="2800" dirty="0">
                <a:latin typeface="Calibir"/>
              </a:rPr>
              <a:t> → </a:t>
            </a:r>
            <a:r>
              <a:rPr lang="en-US" sz="2800" i="1" dirty="0">
                <a:latin typeface="Calibir"/>
              </a:rPr>
              <a:t>include</a:t>
            </a:r>
            <a:r>
              <a:rPr lang="en-US" sz="2800" dirty="0">
                <a:latin typeface="Calibir"/>
              </a:rPr>
              <a:t> change status to inactive.</a:t>
            </a:r>
          </a:p>
          <a:p>
            <a:pPr marL="914400" lvl="1" indent="-457200">
              <a:lnSpc>
                <a:spcPct val="150000"/>
              </a:lnSpc>
              <a:buFont typeface="Arial" panose="020B0604020202020204" pitchFamily="34" charset="0"/>
              <a:buChar char="•"/>
            </a:pPr>
            <a:r>
              <a:rPr lang="en-US" sz="2800" b="1" dirty="0">
                <a:latin typeface="Calibir"/>
              </a:rPr>
              <a:t>400 Admin lists permits</a:t>
            </a:r>
            <a:r>
              <a:rPr lang="en-US" sz="2800" dirty="0">
                <a:latin typeface="Calibir"/>
              </a:rPr>
              <a:t> → </a:t>
            </a:r>
            <a:r>
              <a:rPr lang="en-US" sz="2800" i="1" dirty="0">
                <a:latin typeface="Calibir"/>
              </a:rPr>
              <a:t>include</a:t>
            </a:r>
            <a:r>
              <a:rPr lang="en-US" sz="2800" dirty="0">
                <a:latin typeface="Calibir"/>
              </a:rPr>
              <a:t> filter by zone, semester.</a:t>
            </a:r>
          </a:p>
        </p:txBody>
      </p:sp>
      <p:sp>
        <p:nvSpPr>
          <p:cNvPr id="3" name="Title 1">
            <a:extLst>
              <a:ext uri="{FF2B5EF4-FFF2-40B4-BE49-F238E27FC236}">
                <a16:creationId xmlns:a16="http://schemas.microsoft.com/office/drawing/2014/main" id="{ACB3D3D8-990C-0FB2-D8C2-EA001890EACA}"/>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680055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2F1A-9FCE-879F-DF2D-A2785FB786F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5C79968-C7EC-0243-324C-DAEA925CF41E}"/>
              </a:ext>
            </a:extLst>
          </p:cNvPr>
          <p:cNvSpPr txBox="1"/>
          <p:nvPr/>
        </p:nvSpPr>
        <p:spPr>
          <a:xfrm>
            <a:off x="0" y="1074106"/>
            <a:ext cx="12192000" cy="3257174"/>
          </a:xfrm>
          <a:prstGeom prst="rect">
            <a:avLst/>
          </a:prstGeom>
          <a:noFill/>
        </p:spPr>
        <p:txBody>
          <a:bodyPr wrap="square">
            <a:spAutoFit/>
          </a:bodyPr>
          <a:lstStyle/>
          <a:p>
            <a:pPr>
              <a:lnSpc>
                <a:spcPct val="150000"/>
              </a:lnSpc>
            </a:pPr>
            <a:r>
              <a:rPr lang="en-US" sz="2800" b="1" dirty="0">
                <a:highlight>
                  <a:srgbClr val="00FF00"/>
                </a:highlight>
                <a:latin typeface="Calibir"/>
              </a:rPr>
              <a:t>Simple Story Example</a:t>
            </a:r>
          </a:p>
          <a:p>
            <a:pPr>
              <a:lnSpc>
                <a:spcPct val="150000"/>
              </a:lnSpc>
            </a:pPr>
            <a:r>
              <a:rPr lang="en-US" sz="2800" dirty="0">
                <a:latin typeface="Calibir"/>
              </a:rPr>
              <a:t>Ali (Student) logs in and applies for a parking permit.</a:t>
            </a:r>
          </a:p>
          <a:p>
            <a:pPr marL="914400" lvl="1" indent="-457200">
              <a:lnSpc>
                <a:spcPct val="150000"/>
              </a:lnSpc>
              <a:buFont typeface="Arial" panose="020B0604020202020204" pitchFamily="34" charset="0"/>
              <a:buChar char="•"/>
            </a:pPr>
            <a:r>
              <a:rPr lang="en-US" sz="2800" dirty="0">
                <a:latin typeface="Calibir"/>
              </a:rPr>
              <a:t>His User account (Student) is linked to Permit #123.</a:t>
            </a:r>
          </a:p>
          <a:p>
            <a:pPr marL="914400" lvl="1" indent="-457200">
              <a:lnSpc>
                <a:spcPct val="150000"/>
              </a:lnSpc>
              <a:buFont typeface="Arial" panose="020B0604020202020204" pitchFamily="34" charset="0"/>
              <a:buChar char="•"/>
            </a:pPr>
            <a:r>
              <a:rPr lang="en-US" sz="2800" dirty="0">
                <a:latin typeface="Calibir"/>
              </a:rPr>
              <a:t>Permit #123 is tied to his Vehicle (plate ABC-123).</a:t>
            </a:r>
          </a:p>
          <a:p>
            <a:pPr marL="914400" lvl="1" indent="-457200">
              <a:lnSpc>
                <a:spcPct val="150000"/>
              </a:lnSpc>
              <a:buFont typeface="Arial" panose="020B0604020202020204" pitchFamily="34" charset="0"/>
              <a:buChar char="•"/>
            </a:pPr>
            <a:r>
              <a:rPr lang="en-US" sz="2800" dirty="0">
                <a:latin typeface="Calibir"/>
              </a:rPr>
              <a:t>If the permit is revoked, the vehicle–permit link is gone too.</a:t>
            </a:r>
          </a:p>
        </p:txBody>
      </p:sp>
      <p:sp>
        <p:nvSpPr>
          <p:cNvPr id="3" name="Title 1">
            <a:extLst>
              <a:ext uri="{FF2B5EF4-FFF2-40B4-BE49-F238E27FC236}">
                <a16:creationId xmlns:a16="http://schemas.microsoft.com/office/drawing/2014/main" id="{EA223015-0650-B609-047C-182548FAE3AA}"/>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7200124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E4EEB-432E-A5F9-FCEE-35F7ACD23CC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6003699-4997-53EA-7FBB-30C145609D7E}"/>
              </a:ext>
            </a:extLst>
          </p:cNvPr>
          <p:cNvSpPr txBox="1"/>
          <p:nvPr/>
        </p:nvSpPr>
        <p:spPr>
          <a:xfrm>
            <a:off x="0" y="1074106"/>
            <a:ext cx="12192000" cy="2610843"/>
          </a:xfrm>
          <a:prstGeom prst="rect">
            <a:avLst/>
          </a:prstGeom>
          <a:noFill/>
        </p:spPr>
        <p:txBody>
          <a:bodyPr wrap="square">
            <a:spAutoFit/>
          </a:bodyPr>
          <a:lstStyle/>
          <a:p>
            <a:pPr>
              <a:lnSpc>
                <a:spcPct val="150000"/>
              </a:lnSpc>
            </a:pPr>
            <a:r>
              <a:rPr lang="en-US" sz="2800" b="1" dirty="0">
                <a:latin typeface="Calibir"/>
              </a:rPr>
              <a:t>8. Dependency</a:t>
            </a:r>
          </a:p>
          <a:p>
            <a:pPr marL="914400" lvl="1" indent="-457200">
              <a:lnSpc>
                <a:spcPct val="150000"/>
              </a:lnSpc>
              <a:buFont typeface="Arial" panose="020B0604020202020204" pitchFamily="34" charset="0"/>
              <a:buChar char="•"/>
            </a:pPr>
            <a:r>
              <a:rPr lang="en-US" sz="2800" dirty="0">
                <a:latin typeface="Calibir"/>
              </a:rPr>
              <a:t>Dependency means one class needs another to do something.</a:t>
            </a:r>
          </a:p>
          <a:p>
            <a:pPr marL="914400" lvl="1" indent="-457200">
              <a:lnSpc>
                <a:spcPct val="150000"/>
              </a:lnSpc>
              <a:buFont typeface="Arial" panose="020B0604020202020204" pitchFamily="34" charset="0"/>
              <a:buChar char="•"/>
            </a:pPr>
            <a:r>
              <a:rPr lang="en-US" sz="2800" dirty="0">
                <a:latin typeface="Calibir"/>
              </a:rPr>
              <a:t>Example: </a:t>
            </a:r>
            <a:r>
              <a:rPr lang="en-US" sz="2800" dirty="0" err="1">
                <a:latin typeface="Calibir"/>
              </a:rPr>
              <a:t>SecurityOfficer</a:t>
            </a:r>
            <a:r>
              <a:rPr lang="en-US" sz="2800" dirty="0">
                <a:latin typeface="Calibir"/>
              </a:rPr>
              <a:t> → Permit (dependency: revoke()).</a:t>
            </a:r>
            <a:br>
              <a:rPr lang="en-US" sz="2800" dirty="0">
                <a:latin typeface="Calibir"/>
              </a:rPr>
            </a:br>
            <a:r>
              <a:rPr lang="en-US" sz="2800" dirty="0">
                <a:latin typeface="Calibir"/>
              </a:rPr>
              <a:t>Without Permit, revoke() makes no sense.</a:t>
            </a:r>
          </a:p>
        </p:txBody>
      </p:sp>
      <p:sp>
        <p:nvSpPr>
          <p:cNvPr id="3" name="Title 1">
            <a:extLst>
              <a:ext uri="{FF2B5EF4-FFF2-40B4-BE49-F238E27FC236}">
                <a16:creationId xmlns:a16="http://schemas.microsoft.com/office/drawing/2014/main" id="{E458516B-83C2-17D3-4B38-E63C5F6A8EDF}"/>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12852608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4C9-73EE-0C2D-FD16-CC99A6CC01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C0E711F-BAA4-EE8A-4972-2CED1729C937}"/>
              </a:ext>
            </a:extLst>
          </p:cNvPr>
          <p:cNvSpPr txBox="1"/>
          <p:nvPr/>
        </p:nvSpPr>
        <p:spPr>
          <a:xfrm>
            <a:off x="0" y="1074106"/>
            <a:ext cx="12192000" cy="3903504"/>
          </a:xfrm>
          <a:prstGeom prst="rect">
            <a:avLst/>
          </a:prstGeom>
          <a:noFill/>
        </p:spPr>
        <p:txBody>
          <a:bodyPr wrap="square">
            <a:spAutoFit/>
          </a:bodyPr>
          <a:lstStyle/>
          <a:p>
            <a:pPr>
              <a:lnSpc>
                <a:spcPct val="150000"/>
              </a:lnSpc>
            </a:pPr>
            <a:r>
              <a:rPr lang="en-US" sz="2800" b="1" dirty="0">
                <a:latin typeface="Calibir"/>
              </a:rPr>
              <a:t>9. Composition vs Aggregation</a:t>
            </a:r>
          </a:p>
          <a:p>
            <a:pPr marL="914400" lvl="1" indent="-457200">
              <a:lnSpc>
                <a:spcPct val="150000"/>
              </a:lnSpc>
              <a:buFont typeface="Arial" panose="020B0604020202020204" pitchFamily="34" charset="0"/>
              <a:buChar char="•"/>
            </a:pPr>
            <a:r>
              <a:rPr lang="en-US" sz="2800" dirty="0">
                <a:latin typeface="Calibir"/>
              </a:rPr>
              <a:t>Permit – </a:t>
            </a:r>
            <a:r>
              <a:rPr lang="en-US" sz="2800" dirty="0" err="1">
                <a:latin typeface="Calibir"/>
              </a:rPr>
              <a:t>VehicleInfo</a:t>
            </a:r>
            <a:r>
              <a:rPr lang="en-US" sz="2800" dirty="0">
                <a:latin typeface="Calibir"/>
              </a:rPr>
              <a:t> = Composition (solid diamond).</a:t>
            </a:r>
          </a:p>
          <a:p>
            <a:pPr marL="914400" lvl="1" indent="-457200">
              <a:lnSpc>
                <a:spcPct val="150000"/>
              </a:lnSpc>
              <a:buFont typeface="Arial" panose="020B0604020202020204" pitchFamily="34" charset="0"/>
              <a:buChar char="•"/>
            </a:pPr>
            <a:r>
              <a:rPr lang="en-US" sz="2800" dirty="0">
                <a:latin typeface="Calibir"/>
              </a:rPr>
              <a:t>Permit has </a:t>
            </a:r>
            <a:r>
              <a:rPr lang="en-US" sz="2800" dirty="0" err="1">
                <a:latin typeface="Calibir"/>
              </a:rPr>
              <a:t>VehicleInfo</a:t>
            </a:r>
            <a:r>
              <a:rPr lang="en-US" sz="2800" dirty="0">
                <a:latin typeface="Calibir"/>
              </a:rPr>
              <a:t> (plate, make) — if permit deleted, vehicle info goes too.</a:t>
            </a:r>
          </a:p>
          <a:p>
            <a:pPr marL="914400" lvl="1" indent="-457200">
              <a:lnSpc>
                <a:spcPct val="150000"/>
              </a:lnSpc>
              <a:buFont typeface="Arial" panose="020B0604020202020204" pitchFamily="34" charset="0"/>
              <a:buChar char="•"/>
            </a:pPr>
            <a:r>
              <a:rPr lang="en-US" sz="2800" dirty="0">
                <a:latin typeface="Calibir"/>
              </a:rPr>
              <a:t>Reason: Vehicle info cannot exist separately from Permit.</a:t>
            </a:r>
            <a:br>
              <a:rPr lang="en-US" sz="2800" dirty="0">
                <a:latin typeface="Calibir"/>
              </a:rPr>
            </a:br>
            <a:r>
              <a:rPr lang="en-US" sz="2800" dirty="0">
                <a:latin typeface="Calibir"/>
              </a:rPr>
              <a:t>(When permit deleted, vehicle info goes away too.)</a:t>
            </a:r>
          </a:p>
        </p:txBody>
      </p:sp>
      <p:sp>
        <p:nvSpPr>
          <p:cNvPr id="3" name="Title 1">
            <a:extLst>
              <a:ext uri="{FF2B5EF4-FFF2-40B4-BE49-F238E27FC236}">
                <a16:creationId xmlns:a16="http://schemas.microsoft.com/office/drawing/2014/main" id="{D5EF3E76-D4BF-5AF5-B393-F1B50CD4A5E1}"/>
              </a:ext>
            </a:extLst>
          </p:cNvPr>
          <p:cNvSpPr>
            <a:spLocks noGrp="1"/>
          </p:cNvSpPr>
          <p:nvPr>
            <p:ph type="title"/>
          </p:nvPr>
        </p:nvSpPr>
        <p:spPr>
          <a:xfrm>
            <a:off x="0" y="0"/>
            <a:ext cx="12192000" cy="1074106"/>
          </a:xfrm>
        </p:spPr>
        <p:txBody>
          <a:bodyPr anchor="b">
            <a:normAutofit/>
          </a:bodyPr>
          <a:lstStyle/>
          <a:p>
            <a:r>
              <a:rPr lang="en-US" sz="4000" dirty="0">
                <a:latin typeface="Calibir"/>
              </a:rPr>
              <a:t>Example &amp; Activity — Campus Parking Permit System</a:t>
            </a:r>
            <a:endParaRPr lang="en-AU" sz="4000" b="1" dirty="0">
              <a:latin typeface="Calibir"/>
            </a:endParaRPr>
          </a:p>
        </p:txBody>
      </p:sp>
    </p:spTree>
    <p:extLst>
      <p:ext uri="{BB962C8B-B14F-4D97-AF65-F5344CB8AC3E}">
        <p14:creationId xmlns:p14="http://schemas.microsoft.com/office/powerpoint/2010/main" val="650521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2E3-B0A5-6165-6115-B11BF5F57594}"/>
              </a:ext>
            </a:extLst>
          </p:cNvPr>
          <p:cNvSpPr>
            <a:spLocks noGrp="1"/>
          </p:cNvSpPr>
          <p:nvPr>
            <p:ph type="title"/>
          </p:nvPr>
        </p:nvSpPr>
        <p:spPr>
          <a:xfrm>
            <a:off x="0" y="0"/>
            <a:ext cx="12192000" cy="672662"/>
          </a:xfrm>
        </p:spPr>
        <p:txBody>
          <a:bodyPr anchor="b">
            <a:normAutofit/>
          </a:bodyPr>
          <a:lstStyle/>
          <a:p>
            <a:r>
              <a:rPr lang="en-US" sz="3300" b="1" dirty="0">
                <a:latin typeface="Calibir"/>
              </a:rPr>
              <a:t>Group Assignment – Part 1: What to do / submit / avoid</a:t>
            </a:r>
            <a:endParaRPr lang="en-AU" sz="3300" b="1" dirty="0">
              <a:latin typeface="Calibir"/>
            </a:endParaRPr>
          </a:p>
        </p:txBody>
      </p:sp>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774608"/>
            <a:ext cx="12192000" cy="584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Do:</a:t>
            </a:r>
          </a:p>
          <a:p>
            <a:pPr marL="914400" lvl="1" indent="-457200">
              <a:lnSpc>
                <a:spcPct val="150000"/>
              </a:lnSpc>
              <a:buFont typeface="Arial" panose="020B0604020202020204" pitchFamily="34" charset="0"/>
              <a:buChar char="•"/>
            </a:pPr>
            <a:r>
              <a:rPr lang="en-US" sz="2800" dirty="0">
                <a:latin typeface="Calibir"/>
              </a:rPr>
              <a:t>Scope summary (what’s in / out).</a:t>
            </a:r>
          </a:p>
          <a:p>
            <a:pPr marL="914400" lvl="1" indent="-457200">
              <a:lnSpc>
                <a:spcPct val="150000"/>
              </a:lnSpc>
              <a:buFont typeface="Arial" panose="020B0604020202020204" pitchFamily="34" charset="0"/>
              <a:buChar char="•"/>
            </a:pPr>
            <a:r>
              <a:rPr lang="en-US" sz="2800" dirty="0">
                <a:latin typeface="Calibir"/>
              </a:rPr>
              <a:t>Backlog table with 3-digit IDs grouped by feature.</a:t>
            </a:r>
          </a:p>
          <a:p>
            <a:pPr marL="914400" lvl="1" indent="-457200">
              <a:lnSpc>
                <a:spcPct val="150000"/>
              </a:lnSpc>
              <a:buFont typeface="Arial" panose="020B0604020202020204" pitchFamily="34" charset="0"/>
              <a:buChar char="•"/>
            </a:pPr>
            <a:r>
              <a:rPr lang="en-US" sz="2800" dirty="0">
                <a:latin typeface="Calibir"/>
              </a:rPr>
              <a:t>Use case diagram + 1–2 lines per actor/use case.</a:t>
            </a:r>
          </a:p>
          <a:p>
            <a:pPr marL="914400" lvl="1" indent="-457200">
              <a:lnSpc>
                <a:spcPct val="150000"/>
              </a:lnSpc>
              <a:buFont typeface="Arial" panose="020B0604020202020204" pitchFamily="34" charset="0"/>
              <a:buChar char="•"/>
            </a:pPr>
            <a:r>
              <a:rPr lang="en-US" sz="2800" dirty="0">
                <a:latin typeface="Calibir"/>
              </a:rPr>
              <a:t>Class diagram with visibility, multiplicity, relationships.</a:t>
            </a:r>
          </a:p>
          <a:p>
            <a:pPr marL="914400" lvl="1" indent="-457200">
              <a:lnSpc>
                <a:spcPct val="150000"/>
              </a:lnSpc>
              <a:buFont typeface="Arial" panose="020B0604020202020204" pitchFamily="34" charset="0"/>
              <a:buChar char="•"/>
            </a:pPr>
            <a:r>
              <a:rPr lang="en-US" sz="2800" dirty="0">
                <a:latin typeface="Calibir"/>
              </a:rPr>
              <a:t>Data file design (JSON/CSV example lines).</a:t>
            </a:r>
          </a:p>
          <a:p>
            <a:pPr marL="914400" lvl="1" indent="-457200">
              <a:lnSpc>
                <a:spcPct val="150000"/>
              </a:lnSpc>
              <a:buFont typeface="Arial" panose="020B0604020202020204" pitchFamily="34" charset="0"/>
              <a:buChar char="•"/>
            </a:pPr>
            <a:r>
              <a:rPr lang="en-US" sz="2800" dirty="0">
                <a:latin typeface="Calibir"/>
              </a:rPr>
              <a:t>Tiny traceability table.</a:t>
            </a:r>
          </a:p>
          <a:p>
            <a:pPr>
              <a:lnSpc>
                <a:spcPct val="150000"/>
              </a:lnSpc>
            </a:pPr>
            <a:r>
              <a:rPr lang="en-US" sz="2800" dirty="0">
                <a:latin typeface="Calibir"/>
              </a:rPr>
              <a:t>Avoid: broad stories, missing multiplicities, unlabeled include/extend, GUI detail (keep CLI focus), ignoring constraints (IDs, regex, grade rules).</a:t>
            </a:r>
          </a:p>
        </p:txBody>
      </p:sp>
    </p:spTree>
    <p:extLst>
      <p:ext uri="{BB962C8B-B14F-4D97-AF65-F5344CB8AC3E}">
        <p14:creationId xmlns:p14="http://schemas.microsoft.com/office/powerpoint/2010/main" val="799984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A591-B2BD-5043-BF3F-F44873CD0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FAC97-7898-89F7-FE14-2370B454FCAC}"/>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5" name="Picture 4">
            <a:extLst>
              <a:ext uri="{FF2B5EF4-FFF2-40B4-BE49-F238E27FC236}">
                <a16:creationId xmlns:a16="http://schemas.microsoft.com/office/drawing/2014/main" id="{F97E9268-0750-AAA2-C4DC-BAC5AB687408}"/>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
        <p:nvSpPr>
          <p:cNvPr id="7" name="TextBox 6">
            <a:extLst>
              <a:ext uri="{FF2B5EF4-FFF2-40B4-BE49-F238E27FC236}">
                <a16:creationId xmlns:a16="http://schemas.microsoft.com/office/drawing/2014/main" id="{4114C1C7-41BB-561D-FA1F-BBC7098A9A16}"/>
              </a:ext>
            </a:extLst>
          </p:cNvPr>
          <p:cNvSpPr txBox="1"/>
          <p:nvPr/>
        </p:nvSpPr>
        <p:spPr>
          <a:xfrm>
            <a:off x="78658" y="4149362"/>
            <a:ext cx="12034684" cy="1318181"/>
          </a:xfrm>
          <a:prstGeom prst="rect">
            <a:avLst/>
          </a:prstGeom>
          <a:noFill/>
        </p:spPr>
        <p:txBody>
          <a:bodyPr wrap="square">
            <a:spAutoFit/>
          </a:bodyPr>
          <a:lstStyle/>
          <a:p>
            <a:pPr>
              <a:lnSpc>
                <a:spcPct val="150000"/>
              </a:lnSpc>
              <a:buNone/>
            </a:pPr>
            <a:r>
              <a:rPr lang="en-US" sz="2800" b="1" dirty="0">
                <a:latin typeface="Calibir"/>
              </a:rPr>
              <a:t>Clarification of the Paragraph in Page 1</a:t>
            </a:r>
          </a:p>
          <a:p>
            <a:pPr marL="457200" indent="-457200">
              <a:lnSpc>
                <a:spcPct val="150000"/>
              </a:lnSpc>
              <a:buFont typeface="Arial" panose="020B0604020202020204" pitchFamily="34" charset="0"/>
              <a:buChar char="•"/>
            </a:pPr>
            <a:r>
              <a:rPr lang="en-US" sz="2800" dirty="0">
                <a:latin typeface="Calibir"/>
              </a:rPr>
              <a:t>Once a student has registered, they can log in and do 4 main things:</a:t>
            </a:r>
          </a:p>
        </p:txBody>
      </p:sp>
    </p:spTree>
    <p:extLst>
      <p:ext uri="{BB962C8B-B14F-4D97-AF65-F5344CB8AC3E}">
        <p14:creationId xmlns:p14="http://schemas.microsoft.com/office/powerpoint/2010/main" val="32437748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2EDD3-D7CE-9D8A-31F6-02DF8D76DA4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04527C-5201-C004-FE14-DDFD2FAC295A}"/>
              </a:ext>
            </a:extLst>
          </p:cNvPr>
          <p:cNvSpPr txBox="1"/>
          <p:nvPr/>
        </p:nvSpPr>
        <p:spPr>
          <a:xfrm>
            <a:off x="78658" y="4149362"/>
            <a:ext cx="12034684" cy="2430922"/>
          </a:xfrm>
          <a:prstGeom prst="rect">
            <a:avLst/>
          </a:prstGeom>
          <a:noFill/>
        </p:spPr>
        <p:txBody>
          <a:bodyPr wrap="square">
            <a:spAutoFit/>
          </a:bodyPr>
          <a:lstStyle/>
          <a:p>
            <a:pPr marL="971550" lvl="1" indent="-514350">
              <a:lnSpc>
                <a:spcPct val="150000"/>
              </a:lnSpc>
              <a:buFont typeface="+mj-lt"/>
              <a:buAutoNum type="arabicPeriod"/>
            </a:pPr>
            <a:r>
              <a:rPr lang="en-US" sz="2600" dirty="0" err="1">
                <a:latin typeface="Calibir"/>
              </a:rPr>
              <a:t>Enrol</a:t>
            </a:r>
            <a:r>
              <a:rPr lang="en-US" sz="2600" dirty="0">
                <a:latin typeface="Calibir"/>
              </a:rPr>
              <a:t> in a subject (system auto-adds a new subject, they don’t pick from a list).</a:t>
            </a:r>
          </a:p>
          <a:p>
            <a:pPr marL="971550" lvl="1" indent="-514350">
              <a:lnSpc>
                <a:spcPct val="150000"/>
              </a:lnSpc>
              <a:buFont typeface="+mj-lt"/>
              <a:buAutoNum type="arabicPeriod"/>
            </a:pPr>
            <a:r>
              <a:rPr lang="en-US" sz="2600" dirty="0">
                <a:latin typeface="Calibir"/>
              </a:rPr>
              <a:t>Remove a subject.</a:t>
            </a:r>
          </a:p>
          <a:p>
            <a:pPr marL="971550" lvl="1" indent="-514350">
              <a:lnSpc>
                <a:spcPct val="150000"/>
              </a:lnSpc>
              <a:buFont typeface="+mj-lt"/>
              <a:buAutoNum type="arabicPeriod"/>
            </a:pPr>
            <a:r>
              <a:rPr lang="en-US" sz="2600" dirty="0">
                <a:latin typeface="Calibir"/>
              </a:rPr>
              <a:t>View their current enrolment list.</a:t>
            </a:r>
          </a:p>
          <a:p>
            <a:pPr marL="971550" lvl="1" indent="-514350">
              <a:lnSpc>
                <a:spcPct val="150000"/>
              </a:lnSpc>
              <a:buFont typeface="+mj-lt"/>
              <a:buAutoNum type="arabicPeriod"/>
            </a:pPr>
            <a:r>
              <a:rPr lang="en-US" sz="2600" dirty="0">
                <a:latin typeface="Calibir"/>
              </a:rPr>
              <a:t>Change their password.</a:t>
            </a:r>
          </a:p>
        </p:txBody>
      </p:sp>
      <p:sp>
        <p:nvSpPr>
          <p:cNvPr id="6" name="Title 1">
            <a:extLst>
              <a:ext uri="{FF2B5EF4-FFF2-40B4-BE49-F238E27FC236}">
                <a16:creationId xmlns:a16="http://schemas.microsoft.com/office/drawing/2014/main" id="{90F58C92-ECFC-E09B-AD86-A816602EA508}"/>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4C327BFE-7257-26F2-1760-C04EE8D2C373}"/>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2291893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E553-8487-593B-C6FD-487881E8629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A90DD5C-20FC-781A-1116-0B66CFF48E7E}"/>
              </a:ext>
            </a:extLst>
          </p:cNvPr>
          <p:cNvSpPr txBox="1"/>
          <p:nvPr/>
        </p:nvSpPr>
        <p:spPr>
          <a:xfrm>
            <a:off x="78658" y="4149362"/>
            <a:ext cx="12034684" cy="243092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600" dirty="0">
                <a:latin typeface="Calibir"/>
              </a:rPr>
              <a:t>Each subject gets a 3-digit ID (like 007, 125), created by the system.</a:t>
            </a:r>
          </a:p>
          <a:p>
            <a:pPr marL="457200" indent="-457200">
              <a:lnSpc>
                <a:spcPct val="150000"/>
              </a:lnSpc>
              <a:buFont typeface="Arial" panose="020B0604020202020204" pitchFamily="34" charset="0"/>
              <a:buChar char="•"/>
            </a:pPr>
            <a:r>
              <a:rPr lang="en-US" sz="2600" dirty="0">
                <a:latin typeface="Calibir"/>
              </a:rPr>
              <a:t>When a student </a:t>
            </a:r>
            <a:r>
              <a:rPr lang="en-US" sz="2600" dirty="0" err="1">
                <a:latin typeface="Calibir"/>
              </a:rPr>
              <a:t>enrols</a:t>
            </a:r>
            <a:r>
              <a:rPr lang="en-US" sz="2600" dirty="0">
                <a:latin typeface="Calibir"/>
              </a:rPr>
              <a:t>, the system also generates:</a:t>
            </a:r>
          </a:p>
          <a:p>
            <a:pPr marL="914400" lvl="1" indent="-457200">
              <a:lnSpc>
                <a:spcPct val="150000"/>
              </a:lnSpc>
              <a:buFont typeface="Arial" panose="020B0604020202020204" pitchFamily="34" charset="0"/>
              <a:buChar char="•"/>
            </a:pPr>
            <a:r>
              <a:rPr lang="en-US" sz="2600" dirty="0">
                <a:latin typeface="Calibir"/>
              </a:rPr>
              <a:t>a random mark between 25–100,</a:t>
            </a:r>
          </a:p>
          <a:p>
            <a:pPr marL="914400" lvl="1" indent="-457200">
              <a:lnSpc>
                <a:spcPct val="150000"/>
              </a:lnSpc>
              <a:buFont typeface="Arial" panose="020B0604020202020204" pitchFamily="34" charset="0"/>
              <a:buChar char="•"/>
            </a:pPr>
            <a:r>
              <a:rPr lang="en-US" sz="2600" dirty="0">
                <a:latin typeface="Calibir"/>
              </a:rPr>
              <a:t>and a grade (Z, P, C, D, HD) based on UTS rules.</a:t>
            </a:r>
          </a:p>
        </p:txBody>
      </p:sp>
      <p:sp>
        <p:nvSpPr>
          <p:cNvPr id="6" name="Title 1">
            <a:extLst>
              <a:ext uri="{FF2B5EF4-FFF2-40B4-BE49-F238E27FC236}">
                <a16:creationId xmlns:a16="http://schemas.microsoft.com/office/drawing/2014/main" id="{5BA19EF9-390F-86D1-7C9E-8F45CB241A18}"/>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08106CBA-900B-A566-8CFD-A94B2364F777}"/>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3438394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9BD2D-3307-82F3-6F67-128E505F9E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4A04EC-98D9-8D40-819B-C7176720A184}"/>
              </a:ext>
            </a:extLst>
          </p:cNvPr>
          <p:cNvSpPr txBox="1"/>
          <p:nvPr/>
        </p:nvSpPr>
        <p:spPr>
          <a:xfrm>
            <a:off x="78658" y="4149362"/>
            <a:ext cx="12034684" cy="1830758"/>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600" dirty="0">
                <a:latin typeface="Calibir"/>
              </a:rPr>
              <a:t>Students can only </a:t>
            </a:r>
            <a:r>
              <a:rPr lang="en-US" sz="2600" dirty="0" err="1">
                <a:latin typeface="Calibir"/>
              </a:rPr>
              <a:t>enrol</a:t>
            </a:r>
            <a:r>
              <a:rPr lang="en-US" sz="2600" dirty="0">
                <a:latin typeface="Calibir"/>
              </a:rPr>
              <a:t> in up to 4 subjects. If they try for more, the system shows an error.</a:t>
            </a:r>
          </a:p>
          <a:p>
            <a:pPr marL="457200" indent="-457200">
              <a:lnSpc>
                <a:spcPct val="150000"/>
              </a:lnSpc>
              <a:buFont typeface="Arial" panose="020B0604020202020204" pitchFamily="34" charset="0"/>
              <a:buChar char="•"/>
            </a:pPr>
            <a:r>
              <a:rPr lang="en-US" sz="2600" dirty="0">
                <a:latin typeface="Calibir"/>
              </a:rPr>
              <a:t>All this info is stored in the file </a:t>
            </a:r>
            <a:r>
              <a:rPr lang="en-US" sz="2600" dirty="0" err="1">
                <a:latin typeface="Calibir"/>
              </a:rPr>
              <a:t>students.data</a:t>
            </a:r>
            <a:r>
              <a:rPr lang="en-US" sz="2600" dirty="0">
                <a:latin typeface="Calibir"/>
              </a:rPr>
              <a:t>.</a:t>
            </a:r>
          </a:p>
        </p:txBody>
      </p:sp>
      <p:sp>
        <p:nvSpPr>
          <p:cNvPr id="6" name="Title 1">
            <a:extLst>
              <a:ext uri="{FF2B5EF4-FFF2-40B4-BE49-F238E27FC236}">
                <a16:creationId xmlns:a16="http://schemas.microsoft.com/office/drawing/2014/main" id="{0073011A-D903-DA17-E318-9380B38693E7}"/>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pic>
        <p:nvPicPr>
          <p:cNvPr id="8" name="Picture 7">
            <a:extLst>
              <a:ext uri="{FF2B5EF4-FFF2-40B4-BE49-F238E27FC236}">
                <a16:creationId xmlns:a16="http://schemas.microsoft.com/office/drawing/2014/main" id="{6184E311-50E3-E361-9ADD-16D889B36927}"/>
              </a:ext>
            </a:extLst>
          </p:cNvPr>
          <p:cNvPicPr>
            <a:picLocks noChangeAspect="1"/>
          </p:cNvPicPr>
          <p:nvPr/>
        </p:nvPicPr>
        <p:blipFill>
          <a:blip r:embed="rId2"/>
          <a:srcRect l="12480" t="44081" r="61121" b="28720"/>
          <a:stretch>
            <a:fillRect/>
          </a:stretch>
        </p:blipFill>
        <p:spPr>
          <a:xfrm>
            <a:off x="0" y="804435"/>
            <a:ext cx="11813628" cy="3423360"/>
          </a:xfrm>
          <a:prstGeom prst="rect">
            <a:avLst/>
          </a:prstGeom>
          <a:ln w="38100">
            <a:solidFill>
              <a:srgbClr val="FF0000"/>
            </a:solidFill>
          </a:ln>
        </p:spPr>
      </p:pic>
    </p:spTree>
    <p:extLst>
      <p:ext uri="{BB962C8B-B14F-4D97-AF65-F5344CB8AC3E}">
        <p14:creationId xmlns:p14="http://schemas.microsoft.com/office/powerpoint/2010/main" val="1605780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405F-B954-A0C4-F9B8-0705D10CDF0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A51D4FF-969F-936A-348E-9E6422926806}"/>
              </a:ext>
            </a:extLst>
          </p:cNvPr>
          <p:cNvSpPr txBox="1"/>
          <p:nvPr/>
        </p:nvSpPr>
        <p:spPr>
          <a:xfrm>
            <a:off x="0" y="676560"/>
            <a:ext cx="12034684" cy="3903504"/>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Leila registers successfully.</a:t>
            </a:r>
          </a:p>
          <a:p>
            <a:pPr marL="914400" lvl="1" indent="-457200">
              <a:lnSpc>
                <a:spcPct val="150000"/>
              </a:lnSpc>
              <a:buFont typeface="Arial" panose="020B0604020202020204" pitchFamily="34" charset="0"/>
              <a:buChar char="•"/>
            </a:pPr>
            <a:r>
              <a:rPr lang="en-US" sz="2800" dirty="0">
                <a:latin typeface="Calibir"/>
              </a:rPr>
              <a:t>She </a:t>
            </a:r>
            <a:r>
              <a:rPr lang="en-US" sz="2800" dirty="0" err="1">
                <a:latin typeface="Calibir"/>
              </a:rPr>
              <a:t>enrols</a:t>
            </a:r>
            <a:r>
              <a:rPr lang="en-US" sz="2800" dirty="0">
                <a:latin typeface="Calibir"/>
              </a:rPr>
              <a:t> in a subject → system assigns subject ID = 042, mark = 78, grade = D.</a:t>
            </a:r>
          </a:p>
          <a:p>
            <a:pPr marL="914400" lvl="1" indent="-457200">
              <a:lnSpc>
                <a:spcPct val="150000"/>
              </a:lnSpc>
              <a:buFont typeface="Arial" panose="020B0604020202020204" pitchFamily="34" charset="0"/>
              <a:buChar char="•"/>
            </a:pPr>
            <a:r>
              <a:rPr lang="en-US" sz="2800" dirty="0">
                <a:latin typeface="Calibir"/>
              </a:rPr>
              <a:t>She </a:t>
            </a:r>
            <a:r>
              <a:rPr lang="en-US" sz="2800" dirty="0" err="1">
                <a:latin typeface="Calibir"/>
              </a:rPr>
              <a:t>enrols</a:t>
            </a:r>
            <a:r>
              <a:rPr lang="en-US" sz="2800" dirty="0">
                <a:latin typeface="Calibir"/>
              </a:rPr>
              <a:t> again → subject ID = 317, mark = 92, grade = HD.</a:t>
            </a:r>
          </a:p>
          <a:p>
            <a:pPr marL="914400" lvl="1" indent="-457200">
              <a:lnSpc>
                <a:spcPct val="150000"/>
              </a:lnSpc>
              <a:buFont typeface="Arial" panose="020B0604020202020204" pitchFamily="34" charset="0"/>
              <a:buChar char="•"/>
            </a:pPr>
            <a:r>
              <a:rPr lang="en-US" sz="2800" dirty="0">
                <a:latin typeface="Calibir"/>
              </a:rPr>
              <a:t>Now her enrolment list shows:</a:t>
            </a:r>
          </a:p>
        </p:txBody>
      </p:sp>
      <p:sp>
        <p:nvSpPr>
          <p:cNvPr id="4" name="TextBox 3">
            <a:extLst>
              <a:ext uri="{FF2B5EF4-FFF2-40B4-BE49-F238E27FC236}">
                <a16:creationId xmlns:a16="http://schemas.microsoft.com/office/drawing/2014/main" id="{45ECDDC0-03A8-A82A-CF2E-9BBC674AC3BD}"/>
              </a:ext>
            </a:extLst>
          </p:cNvPr>
          <p:cNvSpPr txBox="1"/>
          <p:nvPr/>
        </p:nvSpPr>
        <p:spPr>
          <a:xfrm>
            <a:off x="0" y="4399190"/>
            <a:ext cx="6179574" cy="1318181"/>
          </a:xfrm>
          <a:prstGeom prst="rect">
            <a:avLst/>
          </a:prstGeom>
          <a:noFill/>
        </p:spPr>
        <p:txBody>
          <a:bodyPr wrap="square">
            <a:spAutoFit/>
          </a:bodyPr>
          <a:lstStyle/>
          <a:p>
            <a:pPr>
              <a:lnSpc>
                <a:spcPct val="150000"/>
              </a:lnSpc>
            </a:pPr>
            <a:r>
              <a:rPr lang="en-US" sz="2800" dirty="0">
                <a:latin typeface="Calibir"/>
              </a:rPr>
              <a:t>Subject 042 → mark 78 → grade D</a:t>
            </a:r>
          </a:p>
          <a:p>
            <a:pPr>
              <a:lnSpc>
                <a:spcPct val="150000"/>
              </a:lnSpc>
            </a:pPr>
            <a:r>
              <a:rPr lang="en-US" sz="2800" dirty="0">
                <a:latin typeface="Calibir"/>
              </a:rPr>
              <a:t>Subject 317 → mark 92 → grade HD</a:t>
            </a:r>
          </a:p>
        </p:txBody>
      </p:sp>
      <p:sp>
        <p:nvSpPr>
          <p:cNvPr id="8" name="TextBox 7">
            <a:extLst>
              <a:ext uri="{FF2B5EF4-FFF2-40B4-BE49-F238E27FC236}">
                <a16:creationId xmlns:a16="http://schemas.microsoft.com/office/drawing/2014/main" id="{9BECBD22-28CD-EC33-F9F2-F2570569BC03}"/>
              </a:ext>
            </a:extLst>
          </p:cNvPr>
          <p:cNvSpPr txBox="1"/>
          <p:nvPr/>
        </p:nvSpPr>
        <p:spPr>
          <a:xfrm>
            <a:off x="1" y="5539819"/>
            <a:ext cx="12191999" cy="1318181"/>
          </a:xfrm>
          <a:prstGeom prst="rect">
            <a:avLst/>
          </a:prstGeom>
          <a:noFill/>
        </p:spPr>
        <p:txBody>
          <a:bodyPr wrap="square">
            <a:spAutoFit/>
          </a:bodyPr>
          <a:lstStyle/>
          <a:p>
            <a:pPr>
              <a:lnSpc>
                <a:spcPct val="150000"/>
              </a:lnSpc>
            </a:pPr>
            <a:r>
              <a:rPr lang="en-US" sz="2800" dirty="0">
                <a:latin typeface="Calibir"/>
              </a:rPr>
              <a:t>If she tries to </a:t>
            </a:r>
            <a:r>
              <a:rPr lang="en-US" sz="2800" dirty="0" err="1">
                <a:latin typeface="Calibir"/>
              </a:rPr>
              <a:t>enrol</a:t>
            </a:r>
            <a:r>
              <a:rPr lang="en-US" sz="2800" dirty="0">
                <a:latin typeface="Calibir"/>
              </a:rPr>
              <a:t> a 5th subject, system blocks it and shows:</a:t>
            </a:r>
            <a:br>
              <a:rPr lang="en-US" sz="2800" dirty="0">
                <a:latin typeface="Calibir"/>
              </a:rPr>
            </a:br>
            <a:r>
              <a:rPr lang="en-US" sz="2800" dirty="0">
                <a:latin typeface="Calibir"/>
              </a:rPr>
              <a:t>"You cannot </a:t>
            </a:r>
            <a:r>
              <a:rPr lang="en-US" sz="2800" dirty="0" err="1">
                <a:latin typeface="Calibir"/>
              </a:rPr>
              <a:t>enrol</a:t>
            </a:r>
            <a:r>
              <a:rPr lang="en-US" sz="2800" dirty="0">
                <a:latin typeface="Calibir"/>
              </a:rPr>
              <a:t> in more than 4 subjects."</a:t>
            </a:r>
          </a:p>
        </p:txBody>
      </p:sp>
      <p:sp>
        <p:nvSpPr>
          <p:cNvPr id="6" name="Title 1">
            <a:extLst>
              <a:ext uri="{FF2B5EF4-FFF2-40B4-BE49-F238E27FC236}">
                <a16:creationId xmlns:a16="http://schemas.microsoft.com/office/drawing/2014/main" id="{5A6D186E-0917-6948-9E8B-9A9A7FDFCAC9}"/>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spTree>
    <p:extLst>
      <p:ext uri="{BB962C8B-B14F-4D97-AF65-F5344CB8AC3E}">
        <p14:creationId xmlns:p14="http://schemas.microsoft.com/office/powerpoint/2010/main" val="1449678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8AD32-1C42-B25B-1DB1-CA0D16A767E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E2FC09-EC77-EEF2-F176-4CE5055349B1}"/>
              </a:ext>
            </a:extLst>
          </p:cNvPr>
          <p:cNvSpPr txBox="1"/>
          <p:nvPr/>
        </p:nvSpPr>
        <p:spPr>
          <a:xfrm>
            <a:off x="0" y="1292097"/>
            <a:ext cx="12034684" cy="3903504"/>
          </a:xfrm>
          <a:prstGeom prst="rect">
            <a:avLst/>
          </a:prstGeom>
          <a:noFill/>
        </p:spPr>
        <p:txBody>
          <a:bodyPr wrap="square">
            <a:spAutoFit/>
          </a:bodyPr>
          <a:lstStyle/>
          <a:p>
            <a:pPr>
              <a:lnSpc>
                <a:spcPct val="150000"/>
              </a:lnSpc>
            </a:pPr>
            <a:r>
              <a:rPr lang="en-US" sz="2800" dirty="0">
                <a:latin typeface="Calibir"/>
              </a:rPr>
              <a:t>In Part 1 of the assignment, students don’t implement the code — they </a:t>
            </a:r>
            <a:r>
              <a:rPr lang="en-US" sz="2800" dirty="0" err="1">
                <a:latin typeface="Calibir"/>
              </a:rPr>
              <a:t>analyse</a:t>
            </a:r>
            <a:r>
              <a:rPr lang="en-US" sz="2800" dirty="0">
                <a:latin typeface="Calibir"/>
              </a:rPr>
              <a:t> this </a:t>
            </a:r>
            <a:r>
              <a:rPr lang="en-US" sz="2800" dirty="0" err="1">
                <a:latin typeface="Calibir"/>
              </a:rPr>
              <a:t>behaviour</a:t>
            </a:r>
            <a:r>
              <a:rPr lang="en-US" sz="2800" dirty="0">
                <a:latin typeface="Calibir"/>
              </a:rPr>
              <a:t> and turn it into:</a:t>
            </a:r>
          </a:p>
          <a:p>
            <a:pPr marL="914400" lvl="1" indent="-457200">
              <a:lnSpc>
                <a:spcPct val="150000"/>
              </a:lnSpc>
              <a:buFont typeface="Arial" panose="020B0604020202020204" pitchFamily="34" charset="0"/>
              <a:buChar char="•"/>
            </a:pPr>
            <a:r>
              <a:rPr lang="en-US" sz="2800" dirty="0">
                <a:latin typeface="Calibir"/>
              </a:rPr>
              <a:t>User stories (e.g., “As a student, I </a:t>
            </a:r>
            <a:r>
              <a:rPr lang="en-US" sz="2800" dirty="0" err="1">
                <a:latin typeface="Calibir"/>
              </a:rPr>
              <a:t>enrol</a:t>
            </a:r>
            <a:r>
              <a:rPr lang="en-US" sz="2800" dirty="0">
                <a:latin typeface="Calibir"/>
              </a:rPr>
              <a:t> in a subject so that I can study it”).</a:t>
            </a:r>
          </a:p>
          <a:p>
            <a:pPr marL="914400" lvl="1" indent="-457200">
              <a:lnSpc>
                <a:spcPct val="150000"/>
              </a:lnSpc>
              <a:buFont typeface="Arial" panose="020B0604020202020204" pitchFamily="34" charset="0"/>
              <a:buChar char="•"/>
            </a:pPr>
            <a:r>
              <a:rPr lang="en-US" sz="2800" dirty="0">
                <a:latin typeface="Calibir"/>
              </a:rPr>
              <a:t>Use case diagram (showing Student actor connected to “</a:t>
            </a:r>
            <a:r>
              <a:rPr lang="en-US" sz="2800" dirty="0" err="1">
                <a:latin typeface="Calibir"/>
              </a:rPr>
              <a:t>Enrol</a:t>
            </a:r>
            <a:r>
              <a:rPr lang="en-US" sz="2800" dirty="0">
                <a:latin typeface="Calibir"/>
              </a:rPr>
              <a:t> in Subject”).</a:t>
            </a:r>
          </a:p>
          <a:p>
            <a:pPr marL="914400" lvl="1" indent="-457200">
              <a:lnSpc>
                <a:spcPct val="150000"/>
              </a:lnSpc>
              <a:buFont typeface="Arial" panose="020B0604020202020204" pitchFamily="34" charset="0"/>
              <a:buChar char="•"/>
            </a:pPr>
            <a:r>
              <a:rPr lang="en-US" sz="2800" dirty="0">
                <a:latin typeface="Calibir"/>
              </a:rPr>
              <a:t>Class diagram (showing classes like Student, Subject, Database).</a:t>
            </a:r>
          </a:p>
          <a:p>
            <a:pPr>
              <a:lnSpc>
                <a:spcPct val="150000"/>
              </a:lnSpc>
            </a:pPr>
            <a:r>
              <a:rPr lang="en-US" sz="2800" dirty="0">
                <a:latin typeface="Calibir"/>
              </a:rPr>
              <a:t>Later, in Part 2, they will write the actual program that makes it work.</a:t>
            </a:r>
          </a:p>
        </p:txBody>
      </p:sp>
      <p:sp>
        <p:nvSpPr>
          <p:cNvPr id="5" name="Title 1">
            <a:extLst>
              <a:ext uri="{FF2B5EF4-FFF2-40B4-BE49-F238E27FC236}">
                <a16:creationId xmlns:a16="http://schemas.microsoft.com/office/drawing/2014/main" id="{2961C455-340B-8A14-8251-9AA0DF3A9FB1}"/>
              </a:ext>
            </a:extLst>
          </p:cNvPr>
          <p:cNvSpPr>
            <a:spLocks noGrp="1"/>
          </p:cNvSpPr>
          <p:nvPr>
            <p:ph type="title"/>
          </p:nvPr>
        </p:nvSpPr>
        <p:spPr>
          <a:xfrm>
            <a:off x="0" y="-1"/>
            <a:ext cx="12192000" cy="882869"/>
          </a:xfrm>
        </p:spPr>
        <p:txBody>
          <a:bodyPr anchor="b">
            <a:normAutofit fontScale="90000"/>
          </a:bodyPr>
          <a:lstStyle/>
          <a:p>
            <a:r>
              <a:rPr lang="en-US" sz="3300" b="1" dirty="0">
                <a:latin typeface="Calibir"/>
              </a:rPr>
              <a:t>Group Assignment – Part 1: Student Operations After Registration – Clarified</a:t>
            </a:r>
            <a:endParaRPr lang="en-AU" sz="3300" b="1" dirty="0">
              <a:latin typeface="Calibir"/>
            </a:endParaRPr>
          </a:p>
        </p:txBody>
      </p:sp>
    </p:spTree>
    <p:extLst>
      <p:ext uri="{BB962C8B-B14F-4D97-AF65-F5344CB8AC3E}">
        <p14:creationId xmlns:p14="http://schemas.microsoft.com/office/powerpoint/2010/main" val="3438908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74A2-6FCA-F134-1D7A-8F9774CB52A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B93AAA0-EC2E-F603-ED21-80D22BB66C9C}"/>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pic>
        <p:nvPicPr>
          <p:cNvPr id="3" name="Picture 2">
            <a:extLst>
              <a:ext uri="{FF2B5EF4-FFF2-40B4-BE49-F238E27FC236}">
                <a16:creationId xmlns:a16="http://schemas.microsoft.com/office/drawing/2014/main" id="{493C07C6-9313-D896-D258-DE66D375AB36}"/>
              </a:ext>
            </a:extLst>
          </p:cNvPr>
          <p:cNvPicPr>
            <a:picLocks noChangeAspect="1"/>
          </p:cNvPicPr>
          <p:nvPr/>
        </p:nvPicPr>
        <p:blipFill>
          <a:blip r:embed="rId2"/>
          <a:stretch>
            <a:fillRect/>
          </a:stretch>
        </p:blipFill>
        <p:spPr>
          <a:xfrm>
            <a:off x="550127" y="627710"/>
            <a:ext cx="11091746" cy="5602580"/>
          </a:xfrm>
          <a:prstGeom prst="rect">
            <a:avLst/>
          </a:prstGeom>
        </p:spPr>
      </p:pic>
      <p:sp>
        <p:nvSpPr>
          <p:cNvPr id="4" name="Rectangle: Rounded Corners 3">
            <a:extLst>
              <a:ext uri="{FF2B5EF4-FFF2-40B4-BE49-F238E27FC236}">
                <a16:creationId xmlns:a16="http://schemas.microsoft.com/office/drawing/2014/main" id="{B0D77E83-23C9-5AC8-A2F8-BE3165AF29F5}"/>
              </a:ext>
            </a:extLst>
          </p:cNvPr>
          <p:cNvSpPr/>
          <p:nvPr/>
        </p:nvSpPr>
        <p:spPr>
          <a:xfrm>
            <a:off x="550128" y="2832410"/>
            <a:ext cx="11065726" cy="206297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9798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CDEEC-4E7E-D0A2-9602-08F2DC4FD08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AF77A34-1BFF-7E98-C408-309E90BE48E4}"/>
              </a:ext>
            </a:extLst>
          </p:cNvPr>
          <p:cNvSpPr>
            <a:spLocks noGrp="1"/>
          </p:cNvSpPr>
          <p:nvPr>
            <p:ph type="title"/>
          </p:nvPr>
        </p:nvSpPr>
        <p:spPr>
          <a:xfrm>
            <a:off x="0" y="0"/>
            <a:ext cx="12192000" cy="613318"/>
          </a:xfrm>
        </p:spPr>
        <p:txBody>
          <a:bodyPr anchor="b">
            <a:normAutofit/>
          </a:bodyPr>
          <a:lstStyle/>
          <a:p>
            <a:r>
              <a:rPr lang="en-US" sz="3300" b="1" dirty="0">
                <a:latin typeface="Calibir"/>
              </a:rPr>
              <a:t>Group Assignment – Part 1: Password Rules – Clarified</a:t>
            </a:r>
            <a:endParaRPr lang="en-AU" sz="3300" b="1" dirty="0">
              <a:latin typeface="Calibir"/>
            </a:endParaRPr>
          </a:p>
        </p:txBody>
      </p:sp>
      <p:pic>
        <p:nvPicPr>
          <p:cNvPr id="3" name="Picture 2">
            <a:extLst>
              <a:ext uri="{FF2B5EF4-FFF2-40B4-BE49-F238E27FC236}">
                <a16:creationId xmlns:a16="http://schemas.microsoft.com/office/drawing/2014/main" id="{73C8FFC0-C6F7-4314-657C-3435FA73B8CF}"/>
              </a:ext>
            </a:extLst>
          </p:cNvPr>
          <p:cNvPicPr>
            <a:picLocks noChangeAspect="1"/>
          </p:cNvPicPr>
          <p:nvPr/>
        </p:nvPicPr>
        <p:blipFill>
          <a:blip r:embed="rId2"/>
          <a:stretch>
            <a:fillRect/>
          </a:stretch>
        </p:blipFill>
        <p:spPr>
          <a:xfrm>
            <a:off x="550127" y="627710"/>
            <a:ext cx="5003180" cy="2527169"/>
          </a:xfrm>
          <a:prstGeom prst="rect">
            <a:avLst/>
          </a:prstGeom>
        </p:spPr>
      </p:pic>
      <p:sp>
        <p:nvSpPr>
          <p:cNvPr id="4" name="Rectangle: Rounded Corners 3">
            <a:extLst>
              <a:ext uri="{FF2B5EF4-FFF2-40B4-BE49-F238E27FC236}">
                <a16:creationId xmlns:a16="http://schemas.microsoft.com/office/drawing/2014/main" id="{58B5DCCE-DB3F-8063-44AB-97C7DCA9DF2A}"/>
              </a:ext>
            </a:extLst>
          </p:cNvPr>
          <p:cNvSpPr/>
          <p:nvPr/>
        </p:nvSpPr>
        <p:spPr>
          <a:xfrm>
            <a:off x="449767" y="1617844"/>
            <a:ext cx="5103540" cy="92463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3DA0F3D-F6C7-1C6D-4D45-3D10221ADA12}"/>
              </a:ext>
            </a:extLst>
          </p:cNvPr>
          <p:cNvSpPr txBox="1"/>
          <p:nvPr/>
        </p:nvSpPr>
        <p:spPr>
          <a:xfrm>
            <a:off x="0" y="3154879"/>
            <a:ext cx="12192000" cy="2610843"/>
          </a:xfrm>
          <a:prstGeom prst="rect">
            <a:avLst/>
          </a:prstGeom>
          <a:noFill/>
        </p:spPr>
        <p:txBody>
          <a:bodyPr wrap="square">
            <a:spAutoFit/>
          </a:bodyPr>
          <a:lstStyle/>
          <a:p>
            <a:pPr>
              <a:lnSpc>
                <a:spcPct val="150000"/>
              </a:lnSpc>
              <a:buNone/>
            </a:pPr>
            <a:r>
              <a:rPr lang="en-US" sz="2800" b="1" dirty="0">
                <a:latin typeface="Calibir"/>
              </a:rPr>
              <a:t>Clarification of Password Pattern</a:t>
            </a:r>
          </a:p>
          <a:p>
            <a:pPr marL="714375" indent="-457200">
              <a:lnSpc>
                <a:spcPct val="150000"/>
              </a:lnSpc>
              <a:buFont typeface="Arial" panose="020B0604020202020204" pitchFamily="34" charset="0"/>
              <a:buChar char="•"/>
            </a:pPr>
            <a:r>
              <a:rPr lang="en-US" sz="2800" dirty="0">
                <a:latin typeface="Calibir"/>
              </a:rPr>
              <a:t>The password must start with an uppercase letter (e.g., A, B, Z).</a:t>
            </a:r>
          </a:p>
          <a:p>
            <a:pPr marL="714375" indent="-457200">
              <a:lnSpc>
                <a:spcPct val="150000"/>
              </a:lnSpc>
              <a:buFont typeface="Arial" panose="020B0604020202020204" pitchFamily="34" charset="0"/>
              <a:buChar char="•"/>
            </a:pPr>
            <a:r>
              <a:rPr lang="en-US" sz="2800" dirty="0">
                <a:latin typeface="Calibir"/>
              </a:rPr>
              <a:t>After that, it must have at least 4 more letters (so minimum 5 letters in total including the first uppercase).</a:t>
            </a:r>
          </a:p>
        </p:txBody>
      </p:sp>
    </p:spTree>
    <p:extLst>
      <p:ext uri="{BB962C8B-B14F-4D97-AF65-F5344CB8AC3E}">
        <p14:creationId xmlns:p14="http://schemas.microsoft.com/office/powerpoint/2010/main" val="1336337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640F-EE93-4B90-07F1-DD9A37F080F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A323F1-FEE4-F046-BF69-64D7EE8FF8C9}"/>
              </a:ext>
            </a:extLst>
          </p:cNvPr>
          <p:cNvPicPr>
            <a:picLocks noChangeAspect="1"/>
          </p:cNvPicPr>
          <p:nvPr/>
        </p:nvPicPr>
        <p:blipFill>
          <a:blip r:embed="rId2"/>
          <a:stretch>
            <a:fillRect/>
          </a:stretch>
        </p:blipFill>
        <p:spPr>
          <a:xfrm>
            <a:off x="-1" y="15309"/>
            <a:ext cx="6646127" cy="3357042"/>
          </a:xfrm>
          <a:prstGeom prst="rect">
            <a:avLst/>
          </a:prstGeom>
        </p:spPr>
      </p:pic>
      <p:sp>
        <p:nvSpPr>
          <p:cNvPr id="4" name="Rectangle: Rounded Corners 3">
            <a:extLst>
              <a:ext uri="{FF2B5EF4-FFF2-40B4-BE49-F238E27FC236}">
                <a16:creationId xmlns:a16="http://schemas.microsoft.com/office/drawing/2014/main" id="{E696F71B-1BC4-ECF0-DA54-AB00CDE827D7}"/>
              </a:ext>
            </a:extLst>
          </p:cNvPr>
          <p:cNvSpPr/>
          <p:nvPr/>
        </p:nvSpPr>
        <p:spPr>
          <a:xfrm>
            <a:off x="0" y="1372516"/>
            <a:ext cx="6646126" cy="116996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7D7740-3A63-5BC9-055C-DF79F809728E}"/>
              </a:ext>
            </a:extLst>
          </p:cNvPr>
          <p:cNvSpPr txBox="1"/>
          <p:nvPr/>
        </p:nvSpPr>
        <p:spPr>
          <a:xfrm>
            <a:off x="0" y="3076820"/>
            <a:ext cx="12192000"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Finally, it must end with at least 3 digits (numbers).</a:t>
            </a:r>
          </a:p>
          <a:p>
            <a:pPr marL="803275" indent="-457200">
              <a:lnSpc>
                <a:spcPct val="150000"/>
              </a:lnSpc>
              <a:buFont typeface="Arial" panose="020B0604020202020204" pitchFamily="34" charset="0"/>
              <a:buChar char="•"/>
            </a:pPr>
            <a:r>
              <a:rPr lang="en-US" sz="2800" dirty="0">
                <a:highlight>
                  <a:srgbClr val="00FF00"/>
                </a:highlight>
                <a:latin typeface="Calibir"/>
                <a:sym typeface="Wingdings" panose="05000000000000000000" pitchFamily="2" charset="2"/>
              </a:rPr>
              <a:t></a:t>
            </a:r>
            <a:r>
              <a:rPr lang="en-US" sz="2800" dirty="0">
                <a:latin typeface="Calibir"/>
              </a:rPr>
              <a:t> Example valid: Abcde123</a:t>
            </a:r>
          </a:p>
          <a:p>
            <a:pPr marL="803275" indent="-457200">
              <a:lnSpc>
                <a:spcPct val="150000"/>
              </a:lnSpc>
              <a:buFont typeface="Arial" panose="020B0604020202020204" pitchFamily="34" charset="0"/>
              <a:buChar char="•"/>
            </a:pPr>
            <a:r>
              <a:rPr lang="en-US" sz="2800" dirty="0">
                <a:highlight>
                  <a:srgbClr val="FF0000"/>
                </a:highlight>
                <a:latin typeface="Calibir"/>
              </a:rPr>
              <a:t>X</a:t>
            </a:r>
            <a:r>
              <a:rPr lang="en-US" sz="2800" dirty="0">
                <a:latin typeface="Calibir"/>
              </a:rPr>
              <a:t> Invalid: abcde123 (no uppercase start), Ab12 (not enough letters), </a:t>
            </a:r>
            <a:r>
              <a:rPr lang="en-US" sz="2800" dirty="0" err="1">
                <a:latin typeface="Calibir"/>
              </a:rPr>
              <a:t>Abcdef</a:t>
            </a:r>
            <a:r>
              <a:rPr lang="en-US" sz="2800" dirty="0">
                <a:latin typeface="Calibir"/>
              </a:rPr>
              <a:t> (no digits).</a:t>
            </a:r>
          </a:p>
          <a:p>
            <a:pPr>
              <a:lnSpc>
                <a:spcPct val="150000"/>
              </a:lnSpc>
              <a:buNone/>
            </a:pPr>
            <a:r>
              <a:rPr lang="en-US" sz="2800" dirty="0">
                <a:latin typeface="Calibir"/>
              </a:rPr>
              <a:t>So the shortest valid password looks like: Aaaaa111 → 8 characters total.</a:t>
            </a:r>
            <a:br>
              <a:rPr lang="en-US" sz="2800" dirty="0">
                <a:latin typeface="Calibir"/>
              </a:rPr>
            </a:br>
            <a:r>
              <a:rPr lang="en-US" sz="2800" dirty="0">
                <a:latin typeface="Calibir"/>
              </a:rPr>
              <a:t>Longer ones are also fine, as long as they follow the same pattern.</a:t>
            </a:r>
          </a:p>
        </p:txBody>
      </p:sp>
    </p:spTree>
    <p:extLst>
      <p:ext uri="{BB962C8B-B14F-4D97-AF65-F5344CB8AC3E}">
        <p14:creationId xmlns:p14="http://schemas.microsoft.com/office/powerpoint/2010/main" val="1428417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A8C7-6992-3DE3-5215-DA420B13E14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D9E7E18-4F4A-A094-9679-9F2BD4C95390}"/>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5B7FBDEE-2D42-6643-5C80-CCFB5E8E471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6B789D03-E49A-6B0E-8C11-82EAEB12D1BC}"/>
              </a:ext>
            </a:extLst>
          </p:cNvPr>
          <p:cNvSpPr txBox="1"/>
          <p:nvPr/>
        </p:nvSpPr>
        <p:spPr>
          <a:xfrm>
            <a:off x="9807676" y="1616247"/>
            <a:ext cx="2197511" cy="3903504"/>
          </a:xfrm>
          <a:prstGeom prst="rect">
            <a:avLst/>
          </a:prstGeom>
          <a:noFill/>
        </p:spPr>
        <p:txBody>
          <a:bodyPr wrap="square">
            <a:spAutoFit/>
          </a:bodyPr>
          <a:lstStyle/>
          <a:p>
            <a:pPr>
              <a:lnSpc>
                <a:spcPct val="150000"/>
              </a:lnSpc>
            </a:pPr>
            <a:r>
              <a:rPr lang="en-US" sz="2800" b="1" dirty="0">
                <a:highlight>
                  <a:srgbClr val="FFFF00"/>
                </a:highlight>
                <a:latin typeface="Calibir"/>
              </a:rPr>
              <a:t>1. import re</a:t>
            </a:r>
            <a:br>
              <a:rPr lang="en-US" sz="2800" dirty="0">
                <a:latin typeface="Calibir"/>
              </a:rPr>
            </a:br>
            <a:r>
              <a:rPr lang="en-US" sz="2800" dirty="0">
                <a:latin typeface="Calibir"/>
              </a:rPr>
              <a:t>Loads Python’s regular expression module.</a:t>
            </a:r>
          </a:p>
        </p:txBody>
      </p:sp>
      <p:sp>
        <p:nvSpPr>
          <p:cNvPr id="14" name="Rectangle: Rounded Corners 13">
            <a:extLst>
              <a:ext uri="{FF2B5EF4-FFF2-40B4-BE49-F238E27FC236}">
                <a16:creationId xmlns:a16="http://schemas.microsoft.com/office/drawing/2014/main" id="{A1B3BD5E-EDE4-BE2C-9FAE-9DABC5B3A627}"/>
              </a:ext>
            </a:extLst>
          </p:cNvPr>
          <p:cNvSpPr/>
          <p:nvPr/>
        </p:nvSpPr>
        <p:spPr>
          <a:xfrm>
            <a:off x="0" y="1401094"/>
            <a:ext cx="2035277" cy="35396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6CF4DD9-9B51-27E4-9609-C324C54A45CC}"/>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p>
        </p:txBody>
      </p:sp>
    </p:spTree>
    <p:extLst>
      <p:ext uri="{BB962C8B-B14F-4D97-AF65-F5344CB8AC3E}">
        <p14:creationId xmlns:p14="http://schemas.microsoft.com/office/powerpoint/2010/main" val="26192864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18B73-6F81-6AB7-8717-FC42B03C3CF4}"/>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FF7A493-791C-1C00-09BF-1A28E725C01B}"/>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9D15A95C-ED46-C0D3-A527-C2B924F1A9E4}"/>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40C203C4-E152-D6F9-CB30-6F3BCB509367}"/>
              </a:ext>
            </a:extLst>
          </p:cNvPr>
          <p:cNvSpPr txBox="1"/>
          <p:nvPr/>
        </p:nvSpPr>
        <p:spPr>
          <a:xfrm>
            <a:off x="9807676" y="228190"/>
            <a:ext cx="2384324" cy="6641690"/>
          </a:xfrm>
          <a:prstGeom prst="rect">
            <a:avLst/>
          </a:prstGeom>
          <a:noFill/>
        </p:spPr>
        <p:txBody>
          <a:bodyPr wrap="square">
            <a:spAutoFit/>
          </a:bodyPr>
          <a:lstStyle/>
          <a:p>
            <a:pPr lvl="0" eaLnBrk="0" fontAlgn="base" hangingPunct="0">
              <a:lnSpc>
                <a:spcPct val="150000"/>
              </a:lnSpc>
              <a:spcBef>
                <a:spcPct val="0"/>
              </a:spcBef>
              <a:spcAft>
                <a:spcPct val="0"/>
              </a:spcAft>
            </a:pPr>
            <a:r>
              <a:rPr lang="en-US" sz="2200" b="1" dirty="0">
                <a:highlight>
                  <a:srgbClr val="FFFF00"/>
                </a:highlight>
                <a:latin typeface="Calibir"/>
              </a:rPr>
              <a:t>2. Patterns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 start; $ end → match the whole string</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[\w.\-]+ → one or more letters/digits/underscore/dot/hyphen before @</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@university\.com → literal domain (the dot is escaped)</a:t>
            </a:r>
          </a:p>
        </p:txBody>
      </p:sp>
      <p:sp>
        <p:nvSpPr>
          <p:cNvPr id="14" name="Rectangle: Rounded Corners 13">
            <a:extLst>
              <a:ext uri="{FF2B5EF4-FFF2-40B4-BE49-F238E27FC236}">
                <a16:creationId xmlns:a16="http://schemas.microsoft.com/office/drawing/2014/main" id="{CB08654B-999F-FDB1-545E-D2A6358F94B4}"/>
              </a:ext>
            </a:extLst>
          </p:cNvPr>
          <p:cNvSpPr/>
          <p:nvPr/>
        </p:nvSpPr>
        <p:spPr>
          <a:xfrm>
            <a:off x="-2" y="1755058"/>
            <a:ext cx="5707628" cy="57518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CB1E0F61-2DA0-FFD2-6B4C-6C660BE8748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4224067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A55F4-C476-2267-100B-B770EF9DDE3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8D30403-F057-8511-11A0-7D133FECDFBA}"/>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AA737974-7696-7CD8-6B42-8C93AC9D2717}"/>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99FAD95B-5493-F94C-EB0F-42803C8AC7FC}"/>
              </a:ext>
            </a:extLst>
          </p:cNvPr>
          <p:cNvSpPr txBox="1"/>
          <p:nvPr/>
        </p:nvSpPr>
        <p:spPr>
          <a:xfrm>
            <a:off x="9807676" y="0"/>
            <a:ext cx="2384324" cy="695767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Start with one uppercase [A-Z]</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Then ≥4 letters [A-Za-z]{4,} → total letters ≥5</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Then ≥3 digits \d{3,}</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Anchored with ^ and $</a:t>
            </a:r>
          </a:p>
        </p:txBody>
      </p:sp>
      <p:sp>
        <p:nvSpPr>
          <p:cNvPr id="14" name="Rectangle: Rounded Corners 13">
            <a:extLst>
              <a:ext uri="{FF2B5EF4-FFF2-40B4-BE49-F238E27FC236}">
                <a16:creationId xmlns:a16="http://schemas.microsoft.com/office/drawing/2014/main" id="{CE8547BB-8948-7A3F-807F-27D5610D826C}"/>
              </a:ext>
            </a:extLst>
          </p:cNvPr>
          <p:cNvSpPr/>
          <p:nvPr/>
        </p:nvSpPr>
        <p:spPr>
          <a:xfrm>
            <a:off x="-2" y="2300748"/>
            <a:ext cx="9719190" cy="61943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1C7327F0-FD14-8D05-D6D1-20CB744E8AA6}"/>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4481552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96121-14D2-7B93-7BF8-21CDF420814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A4E97B0-F2F0-C357-930C-A073997EB84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52A96B00-AB4F-FB11-9B3B-7FD4F07C4523}"/>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5394B218-FC28-8EC5-F174-5E48B8AF69F2}"/>
              </a:ext>
            </a:extLst>
          </p:cNvPr>
          <p:cNvSpPr txBox="1"/>
          <p:nvPr/>
        </p:nvSpPr>
        <p:spPr>
          <a:xfrm>
            <a:off x="9807676" y="0"/>
            <a:ext cx="2384324" cy="325717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3. Validators</a:t>
            </a:r>
          </a:p>
          <a:p>
            <a:pPr lvl="0" eaLnBrk="0" fontAlgn="base" hangingPunct="0">
              <a:lnSpc>
                <a:spcPct val="150000"/>
              </a:lnSpc>
              <a:spcBef>
                <a:spcPct val="0"/>
              </a:spcBef>
              <a:spcAft>
                <a:spcPct val="0"/>
              </a:spcAft>
            </a:pPr>
            <a:r>
              <a:rPr lang="en-US" sz="2800" dirty="0">
                <a:latin typeface="Calibir"/>
              </a:rPr>
              <a:t>Return True/False depending on pattern match.</a:t>
            </a:r>
            <a:endParaRPr lang="en-US" altLang="en-US" sz="2800" dirty="0">
              <a:latin typeface="Calibir"/>
            </a:endParaRPr>
          </a:p>
        </p:txBody>
      </p:sp>
      <p:sp>
        <p:nvSpPr>
          <p:cNvPr id="14" name="Rectangle: Rounded Corners 13">
            <a:extLst>
              <a:ext uri="{FF2B5EF4-FFF2-40B4-BE49-F238E27FC236}">
                <a16:creationId xmlns:a16="http://schemas.microsoft.com/office/drawing/2014/main" id="{1248388B-4ACE-62B0-69DD-5F0F9AA90DB5}"/>
              </a:ext>
            </a:extLst>
          </p:cNvPr>
          <p:cNvSpPr/>
          <p:nvPr/>
        </p:nvSpPr>
        <p:spPr>
          <a:xfrm>
            <a:off x="-2" y="2899423"/>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DE39F51D-2CB2-DDA8-978A-A7D047CE1118}"/>
              </a:ext>
            </a:extLst>
          </p:cNvPr>
          <p:cNvSpPr/>
          <p:nvPr/>
        </p:nvSpPr>
        <p:spPr>
          <a:xfrm>
            <a:off x="-2" y="3744507"/>
            <a:ext cx="9719190" cy="3157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7AADA02C-0411-0AAF-119E-BA1EEBF71614}"/>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0335514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48CE-D9C3-FE0F-DDFD-9F094692EBD9}"/>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133DE91E-36CA-5D8F-628E-05BF6CCA0F9D}"/>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Email &amp; password patterns (Python):</a:t>
            </a:r>
          </a:p>
        </p:txBody>
      </p:sp>
      <p:pic>
        <p:nvPicPr>
          <p:cNvPr id="9" name="Picture 8">
            <a:extLst>
              <a:ext uri="{FF2B5EF4-FFF2-40B4-BE49-F238E27FC236}">
                <a16:creationId xmlns:a16="http://schemas.microsoft.com/office/drawing/2014/main" id="{D19EB2D2-B71B-B675-C4AC-F864E063652C}"/>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sp>
        <p:nvSpPr>
          <p:cNvPr id="13" name="TextBox 12">
            <a:extLst>
              <a:ext uri="{FF2B5EF4-FFF2-40B4-BE49-F238E27FC236}">
                <a16:creationId xmlns:a16="http://schemas.microsoft.com/office/drawing/2014/main" id="{0C10C594-0DEC-34A8-0DBF-ECC7DA065640}"/>
              </a:ext>
            </a:extLst>
          </p:cNvPr>
          <p:cNvSpPr txBox="1"/>
          <p:nvPr/>
        </p:nvSpPr>
        <p:spPr>
          <a:xfrm>
            <a:off x="9807676" y="-5614"/>
            <a:ext cx="2384324" cy="3907095"/>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b="1" dirty="0">
                <a:latin typeface="Calibir"/>
              </a:rPr>
              <a:t>4.  Quick test</a:t>
            </a:r>
            <a:br>
              <a:rPr lang="en-US" sz="2800" dirty="0">
                <a:latin typeface="Calibir"/>
              </a:rPr>
            </a:br>
            <a:r>
              <a:rPr lang="en-US" sz="2800" dirty="0">
                <a:latin typeface="Calibir"/>
              </a:rPr>
              <a:t>Loops over sample emails/passwords and prints results.</a:t>
            </a:r>
            <a:endParaRPr lang="en-US" altLang="en-US" sz="2800" dirty="0">
              <a:latin typeface="Calibir"/>
            </a:endParaRPr>
          </a:p>
        </p:txBody>
      </p:sp>
      <p:sp>
        <p:nvSpPr>
          <p:cNvPr id="4" name="Rectangle: Rounded Corners 3">
            <a:extLst>
              <a:ext uri="{FF2B5EF4-FFF2-40B4-BE49-F238E27FC236}">
                <a16:creationId xmlns:a16="http://schemas.microsoft.com/office/drawing/2014/main" id="{FD9959F6-74BB-8FEC-E3F2-FBE2AA7322E4}"/>
              </a:ext>
            </a:extLst>
          </p:cNvPr>
          <p:cNvSpPr/>
          <p:nvPr/>
        </p:nvSpPr>
        <p:spPr>
          <a:xfrm>
            <a:off x="-2" y="4660095"/>
            <a:ext cx="9719190" cy="209466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02A31154-E406-5334-B2B0-E8E328F75D98}"/>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9334014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EE21-5469-E498-9419-BEAEA0394A6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8A040189-5F1C-C405-CFF3-C4CAD63B290C}"/>
              </a:ext>
            </a:extLst>
          </p:cNvPr>
          <p:cNvSpPr>
            <a:spLocks noChangeArrowheads="1"/>
          </p:cNvSpPr>
          <p:nvPr/>
        </p:nvSpPr>
        <p:spPr bwMode="auto">
          <a:xfrm>
            <a:off x="0" y="779035"/>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Results:</a:t>
            </a:r>
          </a:p>
        </p:txBody>
      </p:sp>
      <p:pic>
        <p:nvPicPr>
          <p:cNvPr id="9" name="Picture 8">
            <a:extLst>
              <a:ext uri="{FF2B5EF4-FFF2-40B4-BE49-F238E27FC236}">
                <a16:creationId xmlns:a16="http://schemas.microsoft.com/office/drawing/2014/main" id="{1D20BF2A-FC9E-1ED9-DF80-910FA4114356}"/>
              </a:ext>
            </a:extLst>
          </p:cNvPr>
          <p:cNvPicPr>
            <a:picLocks noChangeAspect="1"/>
          </p:cNvPicPr>
          <p:nvPr/>
        </p:nvPicPr>
        <p:blipFill>
          <a:blip r:embed="rId2"/>
          <a:srcRect l="7379" t="19481" r="24395" b="13548"/>
          <a:stretch>
            <a:fillRect/>
          </a:stretch>
        </p:blipFill>
        <p:spPr>
          <a:xfrm>
            <a:off x="-1" y="1454476"/>
            <a:ext cx="9807677" cy="5415404"/>
          </a:xfrm>
          <a:prstGeom prst="rect">
            <a:avLst/>
          </a:prstGeom>
        </p:spPr>
      </p:pic>
      <p:pic>
        <p:nvPicPr>
          <p:cNvPr id="11" name="Picture 10">
            <a:extLst>
              <a:ext uri="{FF2B5EF4-FFF2-40B4-BE49-F238E27FC236}">
                <a16:creationId xmlns:a16="http://schemas.microsoft.com/office/drawing/2014/main" id="{34270EC1-F932-0242-6840-C48A67966B57}"/>
              </a:ext>
            </a:extLst>
          </p:cNvPr>
          <p:cNvPicPr>
            <a:picLocks noChangeAspect="1"/>
          </p:cNvPicPr>
          <p:nvPr/>
        </p:nvPicPr>
        <p:blipFill>
          <a:blip r:embed="rId3"/>
          <a:srcRect l="54073" t="24946" r="20765" b="55699"/>
          <a:stretch>
            <a:fillRect/>
          </a:stretch>
        </p:blipFill>
        <p:spPr>
          <a:xfrm>
            <a:off x="7020232" y="4632979"/>
            <a:ext cx="5142271" cy="2225021"/>
          </a:xfrm>
          <a:prstGeom prst="rect">
            <a:avLst/>
          </a:prstGeom>
          <a:ln w="38100">
            <a:solidFill>
              <a:srgbClr val="FF0000"/>
            </a:solidFill>
          </a:ln>
        </p:spPr>
      </p:pic>
      <p:sp>
        <p:nvSpPr>
          <p:cNvPr id="10" name="Title 1">
            <a:extLst>
              <a:ext uri="{FF2B5EF4-FFF2-40B4-BE49-F238E27FC236}">
                <a16:creationId xmlns:a16="http://schemas.microsoft.com/office/drawing/2014/main" id="{E730E0F6-850B-4EAD-6E4D-8B638458DFD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4220771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13B8-E13A-5E3D-4FC7-FDD7353E7D1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93578E5F-2D1E-F891-E483-D96BDD101E86}"/>
              </a:ext>
            </a:extLst>
          </p:cNvPr>
          <p:cNvSpPr>
            <a:spLocks noChangeArrowheads="1"/>
          </p:cNvSpPr>
          <p:nvPr/>
        </p:nvSpPr>
        <p:spPr bwMode="auto">
          <a:xfrm>
            <a:off x="-29497" y="871919"/>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Allow student. Subdomain too</a:t>
            </a:r>
          </a:p>
          <a:p>
            <a:pPr>
              <a:lnSpc>
                <a:spcPct val="150000"/>
              </a:lnSpc>
            </a:pPr>
            <a:r>
              <a:rPr lang="en-US" sz="2800" dirty="0">
                <a:latin typeface="Calibir"/>
              </a:rPr>
              <a:t>Update the email rule so it accepts either </a:t>
            </a:r>
            <a:r>
              <a:rPr lang="en-US" sz="2800" dirty="0">
                <a:highlight>
                  <a:srgbClr val="FFFF00"/>
                </a:highlight>
                <a:latin typeface="Calibir"/>
              </a:rPr>
              <a:t>@university.com</a:t>
            </a:r>
            <a:r>
              <a:rPr lang="en-US" sz="2800" dirty="0">
                <a:latin typeface="Calibir"/>
              </a:rPr>
              <a:t> or </a:t>
            </a:r>
            <a:r>
              <a:rPr lang="en-US" sz="2800" dirty="0">
                <a:highlight>
                  <a:srgbClr val="FFFF00"/>
                </a:highlight>
                <a:latin typeface="Calibir"/>
              </a:rPr>
              <a:t>@student.university.com</a:t>
            </a:r>
            <a:r>
              <a:rPr lang="en-US" sz="2800" dirty="0">
                <a:latin typeface="Calibir"/>
              </a:rPr>
              <a:t>.</a:t>
            </a:r>
          </a:p>
        </p:txBody>
      </p:sp>
      <p:pic>
        <p:nvPicPr>
          <p:cNvPr id="5" name="Picture 4">
            <a:extLst>
              <a:ext uri="{FF2B5EF4-FFF2-40B4-BE49-F238E27FC236}">
                <a16:creationId xmlns:a16="http://schemas.microsoft.com/office/drawing/2014/main" id="{A9F742ED-2459-59BB-0D5A-8FC89AE5BB48}"/>
              </a:ext>
            </a:extLst>
          </p:cNvPr>
          <p:cNvPicPr>
            <a:picLocks noChangeAspect="1"/>
          </p:cNvPicPr>
          <p:nvPr/>
        </p:nvPicPr>
        <p:blipFill>
          <a:blip r:embed="rId4"/>
          <a:srcRect l="8346" t="11187" r="8913" b="51614"/>
          <a:stretch>
            <a:fillRect/>
          </a:stretch>
        </p:blipFill>
        <p:spPr>
          <a:xfrm>
            <a:off x="1" y="3111084"/>
            <a:ext cx="12191999" cy="3083239"/>
          </a:xfrm>
          <a:prstGeom prst="rect">
            <a:avLst/>
          </a:prstGeom>
        </p:spPr>
      </p:pic>
      <p:pic>
        <p:nvPicPr>
          <p:cNvPr id="4" name="Timer">
            <a:hlinkClick r:id="" action="ppaction://media"/>
            <a:extLst>
              <a:ext uri="{FF2B5EF4-FFF2-40B4-BE49-F238E27FC236}">
                <a16:creationId xmlns:a16="http://schemas.microsoft.com/office/drawing/2014/main" id="{147CAD8E-FD80-8E5F-40ED-0B331A36F629}"/>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9861753" y="1854175"/>
            <a:ext cx="2300750" cy="1076632"/>
          </a:xfrm>
          <a:prstGeom prst="rect">
            <a:avLst/>
          </a:prstGeom>
          <a:ln w="38100">
            <a:solidFill>
              <a:srgbClr val="FF0000"/>
            </a:solidFill>
          </a:ln>
        </p:spPr>
      </p:pic>
      <p:sp>
        <p:nvSpPr>
          <p:cNvPr id="10" name="Title 1">
            <a:extLst>
              <a:ext uri="{FF2B5EF4-FFF2-40B4-BE49-F238E27FC236}">
                <a16:creationId xmlns:a16="http://schemas.microsoft.com/office/drawing/2014/main" id="{DA7D0218-F0F8-7911-2820-D3CEE2EFD457}"/>
              </a:ext>
            </a:extLst>
          </p:cNvPr>
          <p:cNvSpPr>
            <a:spLocks noGrp="1"/>
          </p:cNvSpPr>
          <p:nvPr>
            <p:ph type="title"/>
          </p:nvPr>
        </p:nvSpPr>
        <p:spPr>
          <a:xfrm>
            <a:off x="0" y="1"/>
            <a:ext cx="9719188" cy="478454"/>
          </a:xfrm>
        </p:spPr>
        <p:txBody>
          <a:bodyPr anchor="b">
            <a:normAutofit fontScale="90000"/>
          </a:body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666637119"/>
      </p:ext>
    </p:extLst>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7C45-16C3-7D3F-5ED5-22AFD7DD86F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0AEB238-8BA6-99FC-D85F-84E272E44162}"/>
              </a:ext>
            </a:extLst>
          </p:cNvPr>
          <p:cNvPicPr>
            <a:picLocks noChangeAspect="1"/>
          </p:cNvPicPr>
          <p:nvPr/>
        </p:nvPicPr>
        <p:blipFill>
          <a:blip r:embed="rId2"/>
          <a:srcRect l="7863" r="7460" b="17144"/>
          <a:stretch>
            <a:fillRect/>
          </a:stretch>
        </p:blipFill>
        <p:spPr>
          <a:xfrm>
            <a:off x="0" y="73742"/>
            <a:ext cx="12192000" cy="6710516"/>
          </a:xfrm>
          <a:prstGeom prst="rect">
            <a:avLst/>
          </a:prstGeom>
        </p:spPr>
      </p:pic>
    </p:spTree>
    <p:extLst>
      <p:ext uri="{BB962C8B-B14F-4D97-AF65-F5344CB8AC3E}">
        <p14:creationId xmlns:p14="http://schemas.microsoft.com/office/powerpoint/2010/main" val="4191685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1A9E-7BF5-323B-5264-443A2D2A3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C5720-1FDB-5606-216B-F83D2996E4B5}"/>
              </a:ext>
            </a:extLst>
          </p:cNvPr>
          <p:cNvSpPr>
            <a:spLocks noGrp="1"/>
          </p:cNvSpPr>
          <p:nvPr>
            <p:ph type="title"/>
          </p:nvPr>
        </p:nvSpPr>
        <p:spPr>
          <a:xfrm>
            <a:off x="0" y="1066912"/>
            <a:ext cx="12192000" cy="669415"/>
          </a:xfrm>
        </p:spPr>
        <p:txBody>
          <a:bodyPr anchor="b">
            <a:normAutofit/>
          </a:bodyPr>
          <a:lstStyle/>
          <a:p>
            <a:r>
              <a:rPr lang="en-US" sz="2800" b="1" dirty="0">
                <a:latin typeface="Calibir"/>
              </a:rPr>
              <a:t>Allow optional </a:t>
            </a:r>
            <a:r>
              <a:rPr lang="en-US" sz="2800" b="1" dirty="0">
                <a:highlight>
                  <a:srgbClr val="FFFF00"/>
                </a:highlight>
                <a:latin typeface="Calibir"/>
              </a:rPr>
              <a:t>- or _ </a:t>
            </a:r>
            <a:r>
              <a:rPr lang="en-US" sz="2800" b="1" dirty="0">
                <a:latin typeface="Calibir"/>
              </a:rPr>
              <a:t>before digits in password</a:t>
            </a:r>
            <a:endParaRPr lang="en-AU" sz="2800" b="1" dirty="0">
              <a:latin typeface="Calibir"/>
            </a:endParaRPr>
          </a:p>
        </p:txBody>
      </p:sp>
      <p:sp>
        <p:nvSpPr>
          <p:cNvPr id="4" name="TextBox 3">
            <a:extLst>
              <a:ext uri="{FF2B5EF4-FFF2-40B4-BE49-F238E27FC236}">
                <a16:creationId xmlns:a16="http://schemas.microsoft.com/office/drawing/2014/main" id="{2FF89BED-24CE-A7B9-95C1-D2563B71442D}"/>
              </a:ext>
            </a:extLst>
          </p:cNvPr>
          <p:cNvSpPr txBox="1"/>
          <p:nvPr/>
        </p:nvSpPr>
        <p:spPr>
          <a:xfrm>
            <a:off x="-113070" y="1905648"/>
            <a:ext cx="6209070" cy="523220"/>
          </a:xfrm>
          <a:prstGeom prst="rect">
            <a:avLst/>
          </a:prstGeom>
          <a:noFill/>
        </p:spPr>
        <p:txBody>
          <a:bodyPr wrap="square">
            <a:spAutoFit/>
          </a:bodyPr>
          <a:lstStyle/>
          <a:p>
            <a:r>
              <a:rPr lang="en-US" sz="2800" dirty="0">
                <a:latin typeface="Calibir"/>
              </a:rPr>
              <a:t>Change just the password regex line:</a:t>
            </a:r>
          </a:p>
        </p:txBody>
      </p:sp>
      <p:sp>
        <p:nvSpPr>
          <p:cNvPr id="6" name="TextBox 5">
            <a:extLst>
              <a:ext uri="{FF2B5EF4-FFF2-40B4-BE49-F238E27FC236}">
                <a16:creationId xmlns:a16="http://schemas.microsoft.com/office/drawing/2014/main" id="{95A21027-EC31-1412-F0A9-90B5DA6336CA}"/>
              </a:ext>
            </a:extLst>
          </p:cNvPr>
          <p:cNvSpPr txBox="1"/>
          <p:nvPr/>
        </p:nvSpPr>
        <p:spPr>
          <a:xfrm>
            <a:off x="0" y="2428868"/>
            <a:ext cx="12192000" cy="669414"/>
          </a:xfrm>
          <a:prstGeom prst="rect">
            <a:avLst/>
          </a:prstGeom>
          <a:solidFill>
            <a:schemeClr val="tx1"/>
          </a:solidFill>
        </p:spPr>
        <p:txBody>
          <a:bodyPr wrap="square">
            <a:spAutoFit/>
          </a:bodyPr>
          <a:lstStyle/>
          <a:p>
            <a:pPr>
              <a:lnSpc>
                <a:spcPct val="150000"/>
              </a:lnSpc>
              <a:buNone/>
            </a:pPr>
            <a:r>
              <a:rPr lang="pl-PL" sz="2800" b="0" dirty="0">
                <a:solidFill>
                  <a:srgbClr val="4FC1FF"/>
                </a:solidFill>
                <a:effectLst/>
                <a:latin typeface="Consolas" panose="020B0609020204030204" pitchFamily="49" charset="0"/>
              </a:rPr>
              <a:t>PWD_RE</a:t>
            </a:r>
            <a:r>
              <a:rPr lang="pl-PL" sz="2800" b="0" dirty="0">
                <a:solidFill>
                  <a:srgbClr val="CCCCCC"/>
                </a:solidFill>
                <a:effectLst/>
                <a:latin typeface="Consolas" panose="020B0609020204030204" pitchFamily="49" charset="0"/>
              </a:rPr>
              <a:t>   </a:t>
            </a:r>
            <a:r>
              <a:rPr lang="pl-PL" sz="2800" b="0" dirty="0">
                <a:solidFill>
                  <a:srgbClr val="D4D4D4"/>
                </a:solidFill>
                <a:effectLst/>
                <a:latin typeface="Consolas" panose="020B0609020204030204" pitchFamily="49" charset="0"/>
              </a:rPr>
              <a:t>=</a:t>
            </a:r>
            <a:r>
              <a:rPr lang="pl-PL" sz="2800" b="0" dirty="0">
                <a:solidFill>
                  <a:srgbClr val="CCCCCC"/>
                </a:solidFill>
                <a:effectLst/>
                <a:latin typeface="Consolas" panose="020B0609020204030204" pitchFamily="49" charset="0"/>
              </a:rPr>
              <a:t> </a:t>
            </a:r>
            <a:r>
              <a:rPr lang="pl-PL" sz="2800" b="0" dirty="0">
                <a:solidFill>
                  <a:srgbClr val="569CD6"/>
                </a:solidFill>
                <a:effectLst/>
                <a:latin typeface="Consolas" panose="020B0609020204030204" pitchFamily="49" charset="0"/>
              </a:rPr>
              <a:t>r</a:t>
            </a:r>
            <a:r>
              <a:rPr lang="pl-PL" sz="2800" b="0" dirty="0">
                <a:solidFill>
                  <a:srgbClr val="D16969"/>
                </a:solidFill>
                <a:effectLst/>
                <a:latin typeface="Consolas" panose="020B0609020204030204" pitchFamily="49" charset="0"/>
              </a:rPr>
              <a:t>'^</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A-Za-z</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{4,}</a:t>
            </a:r>
            <a:r>
              <a:rPr lang="pl-PL" sz="2800" b="0" dirty="0">
                <a:solidFill>
                  <a:srgbClr val="D16969"/>
                </a:solidFill>
                <a:effectLst/>
                <a:latin typeface="Consolas" panose="020B0609020204030204" pitchFamily="49" charset="0"/>
              </a:rPr>
              <a:t>\d</a:t>
            </a:r>
            <a:r>
              <a:rPr lang="pl-PL" sz="2800" b="0" dirty="0">
                <a:solidFill>
                  <a:srgbClr val="D7BA7D"/>
                </a:solidFill>
                <a:effectLst/>
                <a:latin typeface="Consolas" panose="020B0609020204030204" pitchFamily="49" charset="0"/>
              </a:rPr>
              <a:t>{3,}</a:t>
            </a:r>
            <a:r>
              <a:rPr lang="pl-PL" sz="2800" b="0" dirty="0">
                <a:solidFill>
                  <a:srgbClr val="D16969"/>
                </a:solidFill>
                <a:effectLst/>
                <a:latin typeface="Consolas" panose="020B0609020204030204" pitchFamily="49" charset="0"/>
              </a:rPr>
              <a:t>$'</a:t>
            </a:r>
            <a:endParaRPr lang="pl-PL" sz="2800" b="0" dirty="0">
              <a:solidFill>
                <a:srgbClr val="CCCCCC"/>
              </a:solidFill>
              <a:effectLst/>
              <a:latin typeface="Consolas" panose="020B0609020204030204" pitchFamily="49" charset="0"/>
            </a:endParaRPr>
          </a:p>
        </p:txBody>
      </p:sp>
      <p:sp>
        <p:nvSpPr>
          <p:cNvPr id="8" name="TextBox 7">
            <a:extLst>
              <a:ext uri="{FF2B5EF4-FFF2-40B4-BE49-F238E27FC236}">
                <a16:creationId xmlns:a16="http://schemas.microsoft.com/office/drawing/2014/main" id="{528AF03B-714C-C1F0-1386-A25A40268B57}"/>
              </a:ext>
            </a:extLst>
          </p:cNvPr>
          <p:cNvSpPr txBox="1"/>
          <p:nvPr/>
        </p:nvSpPr>
        <p:spPr>
          <a:xfrm>
            <a:off x="0" y="3975240"/>
            <a:ext cx="12192000" cy="669414"/>
          </a:xfrm>
          <a:prstGeom prst="rect">
            <a:avLst/>
          </a:prstGeom>
          <a:solidFill>
            <a:schemeClr val="tx1"/>
          </a:solidFill>
        </p:spPr>
        <p:txBody>
          <a:bodyPr wrap="square">
            <a:spAutoFit/>
          </a:bodyPr>
          <a:lstStyle/>
          <a:p>
            <a:pPr>
              <a:lnSpc>
                <a:spcPct val="150000"/>
              </a:lnSpc>
              <a:buNone/>
            </a:pPr>
            <a:r>
              <a:rPr lang="pl-PL" sz="2800" b="0" dirty="0">
                <a:solidFill>
                  <a:srgbClr val="4FC1FF"/>
                </a:solidFill>
                <a:effectLst/>
                <a:latin typeface="Consolas" panose="020B0609020204030204" pitchFamily="49" charset="0"/>
              </a:rPr>
              <a:t>PWD_RE</a:t>
            </a:r>
            <a:r>
              <a:rPr lang="pl-PL" sz="2800" b="0" dirty="0">
                <a:solidFill>
                  <a:srgbClr val="CCCCCC"/>
                </a:solidFill>
                <a:effectLst/>
                <a:latin typeface="Consolas" panose="020B0609020204030204" pitchFamily="49" charset="0"/>
              </a:rPr>
              <a:t> </a:t>
            </a:r>
            <a:r>
              <a:rPr lang="pl-PL" sz="2800" b="0" dirty="0">
                <a:solidFill>
                  <a:srgbClr val="D4D4D4"/>
                </a:solidFill>
                <a:effectLst/>
                <a:latin typeface="Consolas" panose="020B0609020204030204" pitchFamily="49" charset="0"/>
              </a:rPr>
              <a:t>=</a:t>
            </a:r>
            <a:r>
              <a:rPr lang="pl-PL" sz="2800" b="0" dirty="0">
                <a:solidFill>
                  <a:srgbClr val="CCCCCC"/>
                </a:solidFill>
                <a:effectLst/>
                <a:latin typeface="Consolas" panose="020B0609020204030204" pitchFamily="49" charset="0"/>
              </a:rPr>
              <a:t> </a:t>
            </a:r>
            <a:r>
              <a:rPr lang="pl-PL" sz="2800" b="0" dirty="0">
                <a:solidFill>
                  <a:srgbClr val="569CD6"/>
                </a:solidFill>
                <a:effectLst/>
                <a:latin typeface="Consolas" panose="020B0609020204030204" pitchFamily="49" charset="0"/>
              </a:rPr>
              <a:t>r</a:t>
            </a:r>
            <a:r>
              <a:rPr lang="pl-PL" sz="2800" b="0" dirty="0">
                <a:solidFill>
                  <a:srgbClr val="D16969"/>
                </a:solidFill>
                <a:effectLst/>
                <a:latin typeface="Consolas" panose="020B0609020204030204" pitchFamily="49" charset="0"/>
              </a:rPr>
              <a:t>'^</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A-Za-z</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{4,}</a:t>
            </a:r>
            <a:r>
              <a:rPr lang="pl-PL" sz="2800" b="0" dirty="0">
                <a:solidFill>
                  <a:srgbClr val="CE9178"/>
                </a:solidFill>
                <a:effectLst/>
                <a:latin typeface="Consolas" panose="020B0609020204030204" pitchFamily="49" charset="0"/>
              </a:rPr>
              <a:t>[</a:t>
            </a:r>
            <a:r>
              <a:rPr lang="pl-PL" sz="2800" b="0" dirty="0">
                <a:solidFill>
                  <a:srgbClr val="D16969"/>
                </a:solidFill>
                <a:effectLst/>
                <a:latin typeface="Consolas" panose="020B0609020204030204" pitchFamily="49" charset="0"/>
              </a:rPr>
              <a:t>-_</a:t>
            </a:r>
            <a:r>
              <a:rPr lang="pl-PL" sz="2800" b="0" dirty="0">
                <a:solidFill>
                  <a:srgbClr val="CE9178"/>
                </a:solidFill>
                <a:effectLst/>
                <a:latin typeface="Consolas" panose="020B0609020204030204" pitchFamily="49" charset="0"/>
              </a:rPr>
              <a:t>]</a:t>
            </a:r>
            <a:r>
              <a:rPr lang="pl-PL" sz="2800" b="0" dirty="0">
                <a:solidFill>
                  <a:srgbClr val="D7BA7D"/>
                </a:solidFill>
                <a:effectLst/>
                <a:latin typeface="Consolas" panose="020B0609020204030204" pitchFamily="49" charset="0"/>
              </a:rPr>
              <a:t>?</a:t>
            </a:r>
            <a:r>
              <a:rPr lang="pl-PL" sz="2800" b="0" dirty="0">
                <a:solidFill>
                  <a:srgbClr val="D16969"/>
                </a:solidFill>
                <a:effectLst/>
                <a:latin typeface="Consolas" panose="020B0609020204030204" pitchFamily="49" charset="0"/>
              </a:rPr>
              <a:t>\d</a:t>
            </a:r>
            <a:r>
              <a:rPr lang="pl-PL" sz="2800" b="0" dirty="0">
                <a:solidFill>
                  <a:srgbClr val="D7BA7D"/>
                </a:solidFill>
                <a:effectLst/>
                <a:latin typeface="Consolas" panose="020B0609020204030204" pitchFamily="49" charset="0"/>
              </a:rPr>
              <a:t>{3,}</a:t>
            </a:r>
            <a:r>
              <a:rPr lang="pl-PL" sz="2800" b="0" dirty="0">
                <a:solidFill>
                  <a:srgbClr val="D16969"/>
                </a:solidFill>
                <a:effectLst/>
                <a:latin typeface="Consolas" panose="020B0609020204030204" pitchFamily="49" charset="0"/>
              </a:rPr>
              <a:t>$'</a:t>
            </a:r>
            <a:endParaRPr lang="pl-PL" sz="2800" b="0" dirty="0">
              <a:solidFill>
                <a:srgbClr val="CCCCCC"/>
              </a:solidFill>
              <a:effectLst/>
              <a:latin typeface="Consolas" panose="020B0609020204030204" pitchFamily="49" charset="0"/>
            </a:endParaRPr>
          </a:p>
        </p:txBody>
      </p:sp>
      <p:cxnSp>
        <p:nvCxnSpPr>
          <p:cNvPr id="10" name="Connector: Elbow 9">
            <a:extLst>
              <a:ext uri="{FF2B5EF4-FFF2-40B4-BE49-F238E27FC236}">
                <a16:creationId xmlns:a16="http://schemas.microsoft.com/office/drawing/2014/main" id="{A53400AC-4E6A-0530-A0E5-3125A8A70762}"/>
              </a:ext>
            </a:extLst>
          </p:cNvPr>
          <p:cNvCxnSpPr>
            <a:cxnSpLocks/>
            <a:endCxn id="8" idx="0"/>
          </p:cNvCxnSpPr>
          <p:nvPr/>
        </p:nvCxnSpPr>
        <p:spPr>
          <a:xfrm rot="16200000" flipH="1">
            <a:off x="5256856" y="3136096"/>
            <a:ext cx="876958" cy="801329"/>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Timer">
            <a:hlinkClick r:id="" action="ppaction://media"/>
            <a:extLst>
              <a:ext uri="{FF2B5EF4-FFF2-40B4-BE49-F238E27FC236}">
                <a16:creationId xmlns:a16="http://schemas.microsoft.com/office/drawing/2014/main" id="{28ED16FE-63F0-F48D-7F55-45B61DBB69D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4945625" y="4983296"/>
            <a:ext cx="2300750" cy="1076632"/>
          </a:xfrm>
          <a:prstGeom prst="rect">
            <a:avLst/>
          </a:prstGeom>
          <a:ln w="38100">
            <a:solidFill>
              <a:srgbClr val="FF0000"/>
            </a:solidFill>
          </a:ln>
        </p:spPr>
      </p:pic>
      <p:sp>
        <p:nvSpPr>
          <p:cNvPr id="3" name="Title 1">
            <a:extLst>
              <a:ext uri="{FF2B5EF4-FFF2-40B4-BE49-F238E27FC236}">
                <a16:creationId xmlns:a16="http://schemas.microsoft.com/office/drawing/2014/main" id="{10E3255A-CD70-9285-B3F9-6DA0B63522ED}"/>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639002003"/>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E2B45-44E4-F827-979C-0479E622B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E36A4-8D28-68CE-484A-55CBA5333CA1}"/>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5" name="TextBox 4">
            <a:extLst>
              <a:ext uri="{FF2B5EF4-FFF2-40B4-BE49-F238E27FC236}">
                <a16:creationId xmlns:a16="http://schemas.microsoft.com/office/drawing/2014/main" id="{241112B4-FC3B-E129-7352-A32F6E0975D7}"/>
              </a:ext>
            </a:extLst>
          </p:cNvPr>
          <p:cNvSpPr txBox="1"/>
          <p:nvPr/>
        </p:nvSpPr>
        <p:spPr>
          <a:xfrm>
            <a:off x="0" y="1267896"/>
            <a:ext cx="12021014" cy="2161104"/>
          </a:xfrm>
          <a:prstGeom prst="rect">
            <a:avLst/>
          </a:prstGeom>
          <a:noFill/>
        </p:spPr>
        <p:txBody>
          <a:bodyPr wrap="square">
            <a:spAutoFit/>
          </a:bodyPr>
          <a:lstStyle/>
          <a:p>
            <a:pPr marL="514350" indent="-514350">
              <a:lnSpc>
                <a:spcPct val="150000"/>
              </a:lnSpc>
              <a:buFont typeface="+mj-lt"/>
              <a:buAutoNum type="arabicPeriod"/>
            </a:pPr>
            <a:r>
              <a:rPr lang="en-US" sz="2300" dirty="0">
                <a:latin typeface="Calibir"/>
              </a:rPr>
              <a:t>Write a function (grade(mark)) that takes a numeric mark and returns a grade (Z, P, C, D, HD) based on the mark range.</a:t>
            </a:r>
          </a:p>
          <a:p>
            <a:pPr marL="514350" indent="-514350">
              <a:lnSpc>
                <a:spcPct val="150000"/>
              </a:lnSpc>
              <a:buFont typeface="+mj-lt"/>
              <a:buAutoNum type="arabicPeriod"/>
            </a:pPr>
            <a:r>
              <a:rPr lang="en-US" sz="2300" dirty="0">
                <a:latin typeface="Calibir"/>
              </a:rPr>
              <a:t>Generate a random mark between 25 and 100 using </a:t>
            </a:r>
            <a:r>
              <a:rPr lang="en-US" sz="2300" dirty="0" err="1">
                <a:latin typeface="Calibir"/>
              </a:rPr>
              <a:t>randint</a:t>
            </a:r>
            <a:r>
              <a:rPr lang="en-US" sz="2300" dirty="0">
                <a:latin typeface="Calibir"/>
              </a:rPr>
              <a:t>.</a:t>
            </a:r>
          </a:p>
          <a:p>
            <a:pPr marL="514350" indent="-514350">
              <a:lnSpc>
                <a:spcPct val="150000"/>
              </a:lnSpc>
              <a:buFont typeface="+mj-lt"/>
              <a:buAutoNum type="arabicPeriod"/>
            </a:pPr>
            <a:r>
              <a:rPr lang="en-US" sz="2300" dirty="0">
                <a:latin typeface="Calibir"/>
              </a:rPr>
              <a:t>Generate a random student ID (padded with zeros to 3 digits).</a:t>
            </a:r>
          </a:p>
        </p:txBody>
      </p:sp>
      <p:sp>
        <p:nvSpPr>
          <p:cNvPr id="6" name="TextBox 5">
            <a:extLst>
              <a:ext uri="{FF2B5EF4-FFF2-40B4-BE49-F238E27FC236}">
                <a16:creationId xmlns:a16="http://schemas.microsoft.com/office/drawing/2014/main" id="{DC040AE5-75E2-F6A9-59C1-514633F0CEC1}"/>
              </a:ext>
            </a:extLst>
          </p:cNvPr>
          <p:cNvSpPr txBox="1"/>
          <p:nvPr/>
        </p:nvSpPr>
        <p:spPr>
          <a:xfrm>
            <a:off x="0" y="3340791"/>
            <a:ext cx="12021014" cy="2692019"/>
          </a:xfrm>
          <a:prstGeom prst="rect">
            <a:avLst/>
          </a:prstGeom>
          <a:noFill/>
        </p:spPr>
        <p:txBody>
          <a:bodyPr wrap="square">
            <a:spAutoFit/>
          </a:bodyPr>
          <a:lstStyle/>
          <a:p>
            <a:pPr marL="514350" indent="-514350">
              <a:lnSpc>
                <a:spcPct val="150000"/>
              </a:lnSpc>
              <a:buFont typeface="+mj-lt"/>
              <a:buAutoNum type="arabicPeriod" startAt="4"/>
            </a:pPr>
            <a:r>
              <a:rPr lang="en-US" sz="2300" dirty="0">
                <a:latin typeface="Calibir"/>
              </a:rPr>
              <a:t>Store the results in a dictionary with keys:</a:t>
            </a:r>
          </a:p>
          <a:p>
            <a:pPr marL="914400" lvl="1" indent="-457200">
              <a:lnSpc>
                <a:spcPct val="150000"/>
              </a:lnSpc>
              <a:buFont typeface="Arial" panose="020B0604020202020204" pitchFamily="34" charset="0"/>
              <a:buChar char="•"/>
            </a:pPr>
            <a:r>
              <a:rPr lang="en-US" sz="2300" dirty="0">
                <a:latin typeface="Calibir"/>
              </a:rPr>
              <a:t>"id" → the random student ID</a:t>
            </a:r>
          </a:p>
          <a:p>
            <a:pPr marL="914400" lvl="1" indent="-457200">
              <a:lnSpc>
                <a:spcPct val="150000"/>
              </a:lnSpc>
              <a:buFont typeface="Arial" panose="020B0604020202020204" pitchFamily="34" charset="0"/>
              <a:buChar char="•"/>
            </a:pPr>
            <a:r>
              <a:rPr lang="en-US" sz="2300" dirty="0">
                <a:latin typeface="Calibir"/>
              </a:rPr>
              <a:t>"mark" → the generated mark</a:t>
            </a:r>
          </a:p>
          <a:p>
            <a:pPr marL="914400" lvl="1" indent="-457200">
              <a:lnSpc>
                <a:spcPct val="150000"/>
              </a:lnSpc>
              <a:buFont typeface="Arial" panose="020B0604020202020204" pitchFamily="34" charset="0"/>
              <a:buChar char="•"/>
            </a:pPr>
            <a:r>
              <a:rPr lang="en-US" sz="2300" dirty="0">
                <a:latin typeface="Calibir"/>
              </a:rPr>
              <a:t>"grade" → the grade returned by the function</a:t>
            </a:r>
          </a:p>
          <a:p>
            <a:pPr marL="514350" indent="-514350">
              <a:lnSpc>
                <a:spcPct val="150000"/>
              </a:lnSpc>
              <a:buFont typeface="+mj-lt"/>
              <a:buAutoNum type="arabicPeriod" startAt="5"/>
            </a:pPr>
            <a:r>
              <a:rPr lang="en-US" sz="2300" dirty="0">
                <a:latin typeface="Calibir"/>
              </a:rPr>
              <a:t>Print the dictionary showing one student’s mark and grade.</a:t>
            </a:r>
          </a:p>
        </p:txBody>
      </p:sp>
      <p:pic>
        <p:nvPicPr>
          <p:cNvPr id="7" name="Timer">
            <a:hlinkClick r:id="" action="ppaction://media"/>
            <a:extLst>
              <a:ext uri="{FF2B5EF4-FFF2-40B4-BE49-F238E27FC236}">
                <a16:creationId xmlns:a16="http://schemas.microsoft.com/office/drawing/2014/main" id="{E8BCF29E-CDF1-8484-15E1-689BAD3E6EF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7588464" y="3823569"/>
            <a:ext cx="2300750" cy="1076632"/>
          </a:xfrm>
          <a:prstGeom prst="rect">
            <a:avLst/>
          </a:prstGeom>
          <a:ln w="38100">
            <a:solidFill>
              <a:srgbClr val="FF0000"/>
            </a:solidFill>
          </a:ln>
        </p:spPr>
      </p:pic>
      <p:sp>
        <p:nvSpPr>
          <p:cNvPr id="9" name="TextBox 8">
            <a:extLst>
              <a:ext uri="{FF2B5EF4-FFF2-40B4-BE49-F238E27FC236}">
                <a16:creationId xmlns:a16="http://schemas.microsoft.com/office/drawing/2014/main" id="{B993442A-2118-FECA-ABDB-245C3202A87B}"/>
              </a:ext>
            </a:extLst>
          </p:cNvPr>
          <p:cNvSpPr txBox="1"/>
          <p:nvPr/>
        </p:nvSpPr>
        <p:spPr>
          <a:xfrm>
            <a:off x="0" y="5957895"/>
            <a:ext cx="12192000" cy="880369"/>
          </a:xfrm>
          <a:prstGeom prst="rect">
            <a:avLst/>
          </a:prstGeom>
          <a:noFill/>
        </p:spPr>
        <p:txBody>
          <a:bodyPr wrap="square">
            <a:spAutoFit/>
          </a:bodyPr>
          <a:lstStyle/>
          <a:p>
            <a:pPr>
              <a:lnSpc>
                <a:spcPct val="150000"/>
              </a:lnSpc>
            </a:pPr>
            <a:r>
              <a:rPr lang="en-US" dirty="0">
                <a:latin typeface="Calibir"/>
              </a:rPr>
              <a:t>In short, write a Python program that assigns a random mark to a student, calculates the grade, and prints the student’s ID, mark, and grade</a:t>
            </a:r>
          </a:p>
        </p:txBody>
      </p:sp>
      <p:sp>
        <p:nvSpPr>
          <p:cNvPr id="3" name="Title 1">
            <a:extLst>
              <a:ext uri="{FF2B5EF4-FFF2-40B4-BE49-F238E27FC236}">
                <a16:creationId xmlns:a16="http://schemas.microsoft.com/office/drawing/2014/main" id="{2E96C640-4F3E-EB4D-1243-5A6B363496F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704487026"/>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367B-2C16-5B04-81BE-71A749D87E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E19A9C0-BB75-2E41-164F-537769F0AF4E}"/>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C330A143-860C-FF8F-598D-866FCAE7B553}"/>
              </a:ext>
            </a:extLst>
          </p:cNvPr>
          <p:cNvSpPr txBox="1"/>
          <p:nvPr/>
        </p:nvSpPr>
        <p:spPr>
          <a:xfrm>
            <a:off x="108155" y="5395768"/>
            <a:ext cx="11975690" cy="671851"/>
          </a:xfrm>
          <a:prstGeom prst="rect">
            <a:avLst/>
          </a:prstGeom>
          <a:noFill/>
        </p:spPr>
        <p:txBody>
          <a:bodyPr wrap="square">
            <a:spAutoFit/>
          </a:bodyPr>
          <a:lstStyle/>
          <a:p>
            <a:pPr>
              <a:lnSpc>
                <a:spcPct val="150000"/>
              </a:lnSpc>
            </a:pPr>
            <a:r>
              <a:rPr lang="en-US" sz="2800" dirty="0">
                <a:latin typeface="Calibir"/>
              </a:rPr>
              <a:t>Imports </a:t>
            </a:r>
            <a:r>
              <a:rPr lang="en-US" sz="2800" dirty="0" err="1">
                <a:latin typeface="Calibir"/>
              </a:rPr>
              <a:t>randint</a:t>
            </a:r>
            <a:r>
              <a:rPr lang="en-US" sz="2800" dirty="0">
                <a:latin typeface="Calibir"/>
              </a:rPr>
              <a:t>(a, b) to make random integers including both ends.</a:t>
            </a:r>
          </a:p>
        </p:txBody>
      </p:sp>
      <p:sp>
        <p:nvSpPr>
          <p:cNvPr id="15" name="Rectangle: Rounded Corners 14">
            <a:extLst>
              <a:ext uri="{FF2B5EF4-FFF2-40B4-BE49-F238E27FC236}">
                <a16:creationId xmlns:a16="http://schemas.microsoft.com/office/drawing/2014/main" id="{DC98D152-5263-5A24-2FBB-87857293E246}"/>
              </a:ext>
            </a:extLst>
          </p:cNvPr>
          <p:cNvSpPr/>
          <p:nvPr/>
        </p:nvSpPr>
        <p:spPr>
          <a:xfrm>
            <a:off x="0" y="1336133"/>
            <a:ext cx="4970206" cy="52216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DF3CA20D-C574-02AA-C850-4624770A38D5}"/>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815E5BD9-A8B5-1F9A-BB91-E2D2CBCBF50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2473258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AE012-52EF-54F7-75F0-8E4B0104196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F1422A8-912E-5D27-03FB-46809221C7F7}"/>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6BA4513A-045B-0A12-E823-4F8AE4DDBF66}"/>
              </a:ext>
            </a:extLst>
          </p:cNvPr>
          <p:cNvSpPr txBox="1"/>
          <p:nvPr/>
        </p:nvSpPr>
        <p:spPr>
          <a:xfrm>
            <a:off x="108155" y="5395768"/>
            <a:ext cx="11975690" cy="131818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function that turns a numeric mark into a grade using the required bands:</a:t>
            </a:r>
          </a:p>
          <a:p>
            <a:pPr marL="914400" lvl="1" indent="-457200">
              <a:lnSpc>
                <a:spcPct val="150000"/>
              </a:lnSpc>
              <a:buFont typeface="Arial" panose="020B0604020202020204" pitchFamily="34" charset="0"/>
              <a:buChar char="•"/>
            </a:pPr>
            <a:r>
              <a:rPr lang="en-US" sz="2800" dirty="0">
                <a:latin typeface="Calibir"/>
              </a:rPr>
              <a:t>&lt;50 → Z, 50–64 → P, 65–74 → C, 75–84 → D, ≥85 → HD.</a:t>
            </a:r>
          </a:p>
        </p:txBody>
      </p:sp>
      <p:sp>
        <p:nvSpPr>
          <p:cNvPr id="15" name="Rectangle: Rounded Corners 14">
            <a:extLst>
              <a:ext uri="{FF2B5EF4-FFF2-40B4-BE49-F238E27FC236}">
                <a16:creationId xmlns:a16="http://schemas.microsoft.com/office/drawing/2014/main" id="{FBF0F1DA-C024-1A53-68C6-D6257448E4A6}"/>
              </a:ext>
            </a:extLst>
          </p:cNvPr>
          <p:cNvSpPr/>
          <p:nvPr/>
        </p:nvSpPr>
        <p:spPr>
          <a:xfrm>
            <a:off x="0" y="2280028"/>
            <a:ext cx="12192000" cy="114897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BDB623C-EE63-DDB4-9627-9A08E7909B39}"/>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A1AC3356-3192-74E7-B989-A5EF5F189C50}"/>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8594775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4AC7-5530-6213-E618-9A8EC8A31E1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93A5513-C570-041C-8C50-8FFC25D36342}"/>
              </a:ext>
            </a:extLst>
          </p:cNvPr>
          <p:cNvPicPr>
            <a:picLocks noChangeAspect="1"/>
          </p:cNvPicPr>
          <p:nvPr/>
        </p:nvPicPr>
        <p:blipFill>
          <a:blip r:embed="rId2"/>
          <a:srcRect l="8133" t="20722" r="7741" b="29479"/>
          <a:stretch>
            <a:fillRect/>
          </a:stretch>
        </p:blipFill>
        <p:spPr>
          <a:xfrm>
            <a:off x="0" y="1336133"/>
            <a:ext cx="12192000" cy="4059635"/>
          </a:xfrm>
          <a:prstGeom prst="rect">
            <a:avLst/>
          </a:prstGeom>
        </p:spPr>
      </p:pic>
      <p:sp>
        <p:nvSpPr>
          <p:cNvPr id="14" name="TextBox 13">
            <a:extLst>
              <a:ext uri="{FF2B5EF4-FFF2-40B4-BE49-F238E27FC236}">
                <a16:creationId xmlns:a16="http://schemas.microsoft.com/office/drawing/2014/main" id="{20329A1B-C980-72C3-C4AD-097FE25DFA21}"/>
              </a:ext>
            </a:extLst>
          </p:cNvPr>
          <p:cNvSpPr txBox="1"/>
          <p:nvPr/>
        </p:nvSpPr>
        <p:spPr>
          <a:xfrm>
            <a:off x="108155" y="5395768"/>
            <a:ext cx="11975690" cy="67544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Picks one random mark from 25 to 100.</a:t>
            </a:r>
          </a:p>
        </p:txBody>
      </p:sp>
      <p:sp>
        <p:nvSpPr>
          <p:cNvPr id="15" name="Rectangle: Rounded Corners 14">
            <a:extLst>
              <a:ext uri="{FF2B5EF4-FFF2-40B4-BE49-F238E27FC236}">
                <a16:creationId xmlns:a16="http://schemas.microsoft.com/office/drawing/2014/main" id="{2D0EA56E-A65E-9484-B47B-AFADBE0C98AC}"/>
              </a:ext>
            </a:extLst>
          </p:cNvPr>
          <p:cNvSpPr/>
          <p:nvPr/>
        </p:nvSpPr>
        <p:spPr>
          <a:xfrm>
            <a:off x="0" y="3952567"/>
            <a:ext cx="12192000" cy="44245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56062223-DE71-6511-E43E-75A13A938BDB}"/>
              </a:ext>
            </a:extLst>
          </p:cNvPr>
          <p:cNvSpPr>
            <a:spLocks noGrp="1"/>
          </p:cNvSpPr>
          <p:nvPr>
            <p:ph type="title"/>
          </p:nvPr>
        </p:nvSpPr>
        <p:spPr>
          <a:xfrm>
            <a:off x="0" y="603614"/>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B1316803-C762-3FD8-6FC9-9F001B9F533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2028541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BC31F-B20E-BF52-F272-B60B92A72DA6}"/>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82EC6D9-C61A-2A67-D7D8-5E7E796D8A13}"/>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870620F0-0FDE-2916-027E-5CD139D76214}"/>
              </a:ext>
            </a:extLst>
          </p:cNvPr>
          <p:cNvSpPr txBox="1"/>
          <p:nvPr/>
        </p:nvSpPr>
        <p:spPr>
          <a:xfrm>
            <a:off x="0" y="5146634"/>
            <a:ext cx="11975690" cy="171136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Calibir"/>
              </a:rPr>
              <a:t>Creates a small record (a Python </a:t>
            </a:r>
            <a:r>
              <a:rPr lang="en-US" dirty="0" err="1">
                <a:latin typeface="Calibir"/>
              </a:rPr>
              <a:t>dict</a:t>
            </a:r>
            <a:r>
              <a:rPr lang="en-US" dirty="0">
                <a:latin typeface="Calibir"/>
              </a:rPr>
              <a:t>) for one subject:</a:t>
            </a:r>
          </a:p>
          <a:p>
            <a:pPr marL="742950" lvl="1" indent="-285750">
              <a:lnSpc>
                <a:spcPct val="150000"/>
              </a:lnSpc>
              <a:buFont typeface="Arial" panose="020B0604020202020204" pitchFamily="34" charset="0"/>
              <a:buChar char="•"/>
            </a:pPr>
            <a:r>
              <a:rPr lang="en-US" dirty="0">
                <a:latin typeface="Calibir"/>
              </a:rPr>
              <a:t>"id" is a random number 1..999, padded to 3 digits like "007".</a:t>
            </a:r>
          </a:p>
          <a:p>
            <a:pPr marL="742950" lvl="1" indent="-285750">
              <a:lnSpc>
                <a:spcPct val="150000"/>
              </a:lnSpc>
              <a:buFont typeface="Arial" panose="020B0604020202020204" pitchFamily="34" charset="0"/>
              <a:buChar char="•"/>
            </a:pPr>
            <a:r>
              <a:rPr lang="en-US" dirty="0">
                <a:latin typeface="Calibir"/>
              </a:rPr>
              <a:t>"mark" is the number above.</a:t>
            </a:r>
          </a:p>
          <a:p>
            <a:pPr marL="742950" lvl="1" indent="-285750">
              <a:lnSpc>
                <a:spcPct val="150000"/>
              </a:lnSpc>
              <a:buFont typeface="Arial" panose="020B0604020202020204" pitchFamily="34" charset="0"/>
              <a:buChar char="•"/>
            </a:pPr>
            <a:r>
              <a:rPr lang="en-US" dirty="0">
                <a:latin typeface="Calibir"/>
              </a:rPr>
              <a:t>"grade" is computed by calling grade(mark).</a:t>
            </a:r>
          </a:p>
        </p:txBody>
      </p:sp>
      <p:sp>
        <p:nvSpPr>
          <p:cNvPr id="15" name="Rectangle: Rounded Corners 14">
            <a:extLst>
              <a:ext uri="{FF2B5EF4-FFF2-40B4-BE49-F238E27FC236}">
                <a16:creationId xmlns:a16="http://schemas.microsoft.com/office/drawing/2014/main" id="{358471D5-55CB-A03B-C7C5-E9A37AAE35F8}"/>
              </a:ext>
            </a:extLst>
          </p:cNvPr>
          <p:cNvSpPr/>
          <p:nvPr/>
        </p:nvSpPr>
        <p:spPr>
          <a:xfrm>
            <a:off x="0" y="4089471"/>
            <a:ext cx="12192000" cy="70375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5BBF0E66-D4D2-BC16-0F69-E9F613F0DF0E}"/>
              </a:ext>
            </a:extLst>
          </p:cNvPr>
          <p:cNvSpPr>
            <a:spLocks noGrp="1"/>
          </p:cNvSpPr>
          <p:nvPr>
            <p:ph type="title"/>
          </p:nvPr>
        </p:nvSpPr>
        <p:spPr>
          <a:xfrm>
            <a:off x="0" y="478455"/>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CC671D44-77F7-4B65-004E-DBBF330B8F6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9544541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4CFE-02DE-EDC6-74D7-CBF4ADA2346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2F2AE8EC-61F3-E4FA-05A3-5C3111E421A0}"/>
              </a:ext>
            </a:extLst>
          </p:cNvPr>
          <p:cNvPicPr>
            <a:picLocks noChangeAspect="1"/>
          </p:cNvPicPr>
          <p:nvPr/>
        </p:nvPicPr>
        <p:blipFill>
          <a:blip r:embed="rId2"/>
          <a:srcRect l="8133" t="20722" r="7741" b="29479"/>
          <a:stretch>
            <a:fillRect/>
          </a:stretch>
        </p:blipFill>
        <p:spPr>
          <a:xfrm>
            <a:off x="0" y="1100158"/>
            <a:ext cx="12192000" cy="4059635"/>
          </a:xfrm>
          <a:prstGeom prst="rect">
            <a:avLst/>
          </a:prstGeom>
        </p:spPr>
      </p:pic>
      <p:sp>
        <p:nvSpPr>
          <p:cNvPr id="14" name="TextBox 13">
            <a:extLst>
              <a:ext uri="{FF2B5EF4-FFF2-40B4-BE49-F238E27FC236}">
                <a16:creationId xmlns:a16="http://schemas.microsoft.com/office/drawing/2014/main" id="{CEAD2E2A-C7B4-14AC-B859-42BAB4C535A8}"/>
              </a:ext>
            </a:extLst>
          </p:cNvPr>
          <p:cNvSpPr txBox="1"/>
          <p:nvPr/>
        </p:nvSpPr>
        <p:spPr>
          <a:xfrm>
            <a:off x="0" y="5146634"/>
            <a:ext cx="11975690" cy="67185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800" dirty="0">
                <a:latin typeface="Calibir"/>
              </a:rPr>
              <a:t>Prints something like: {'id': '087', 'mark': 78, 'grade': 'D'}.</a:t>
            </a:r>
          </a:p>
        </p:txBody>
      </p:sp>
      <p:sp>
        <p:nvSpPr>
          <p:cNvPr id="15" name="Rectangle: Rounded Corners 14">
            <a:extLst>
              <a:ext uri="{FF2B5EF4-FFF2-40B4-BE49-F238E27FC236}">
                <a16:creationId xmlns:a16="http://schemas.microsoft.com/office/drawing/2014/main" id="{4D7E6645-ED8B-A605-3FF1-3C7C4C846E21}"/>
              </a:ext>
            </a:extLst>
          </p:cNvPr>
          <p:cNvSpPr/>
          <p:nvPr/>
        </p:nvSpPr>
        <p:spPr>
          <a:xfrm>
            <a:off x="0" y="4837471"/>
            <a:ext cx="12192000" cy="28383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1F87A46B-31E3-7FD3-07A6-97EE51C71500}"/>
              </a:ext>
            </a:extLst>
          </p:cNvPr>
          <p:cNvSpPr>
            <a:spLocks noGrp="1"/>
          </p:cNvSpPr>
          <p:nvPr>
            <p:ph type="title"/>
          </p:nvPr>
        </p:nvSpPr>
        <p:spPr>
          <a:xfrm>
            <a:off x="0" y="435876"/>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7A6238BB-31BE-5D51-A338-75D3F8D1219B}"/>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8334037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5331-CCD2-6446-2B66-2ED08EFF34A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4635C1B-2DF4-514E-9CDB-B3C0035F4DFD}"/>
              </a:ext>
            </a:extLst>
          </p:cNvPr>
          <p:cNvPicPr>
            <a:picLocks noChangeAspect="1"/>
          </p:cNvPicPr>
          <p:nvPr/>
        </p:nvPicPr>
        <p:blipFill>
          <a:blip r:embed="rId2"/>
          <a:srcRect l="8133" t="20722" r="7741" b="29479"/>
          <a:stretch>
            <a:fillRect/>
          </a:stretch>
        </p:blipFill>
        <p:spPr>
          <a:xfrm>
            <a:off x="0" y="1721385"/>
            <a:ext cx="12192000" cy="4059635"/>
          </a:xfrm>
          <a:prstGeom prst="rect">
            <a:avLst/>
          </a:prstGeom>
        </p:spPr>
      </p:pic>
      <p:pic>
        <p:nvPicPr>
          <p:cNvPr id="12" name="Picture 11">
            <a:extLst>
              <a:ext uri="{FF2B5EF4-FFF2-40B4-BE49-F238E27FC236}">
                <a16:creationId xmlns:a16="http://schemas.microsoft.com/office/drawing/2014/main" id="{E4C6CA85-346E-A380-5337-AD86681AC37B}"/>
              </a:ext>
            </a:extLst>
          </p:cNvPr>
          <p:cNvPicPr>
            <a:picLocks noChangeAspect="1"/>
          </p:cNvPicPr>
          <p:nvPr/>
        </p:nvPicPr>
        <p:blipFill>
          <a:blip r:embed="rId3"/>
          <a:srcRect l="55161" t="30752" r="5041" b="56129"/>
          <a:stretch>
            <a:fillRect/>
          </a:stretch>
        </p:blipFill>
        <p:spPr>
          <a:xfrm>
            <a:off x="6383373" y="5781020"/>
            <a:ext cx="5808627" cy="1076980"/>
          </a:xfrm>
          <a:prstGeom prst="rect">
            <a:avLst/>
          </a:prstGeom>
        </p:spPr>
      </p:pic>
      <p:sp>
        <p:nvSpPr>
          <p:cNvPr id="5" name="Title 1">
            <a:extLst>
              <a:ext uri="{FF2B5EF4-FFF2-40B4-BE49-F238E27FC236}">
                <a16:creationId xmlns:a16="http://schemas.microsoft.com/office/drawing/2014/main" id="{6D6A6488-EA23-AF76-6007-4DB734FAA079}"/>
              </a:ext>
            </a:extLst>
          </p:cNvPr>
          <p:cNvSpPr>
            <a:spLocks noGrp="1"/>
          </p:cNvSpPr>
          <p:nvPr>
            <p:ph type="title"/>
          </p:nvPr>
        </p:nvSpPr>
        <p:spPr>
          <a:xfrm>
            <a:off x="0" y="435876"/>
            <a:ext cx="12192000" cy="664282"/>
          </a:xfrm>
        </p:spPr>
        <p:txBody>
          <a:bodyPr anchor="b">
            <a:normAutofit/>
          </a:bodyPr>
          <a:lstStyle/>
          <a:p>
            <a:r>
              <a:rPr lang="en-US" sz="2800" b="1" dirty="0">
                <a:latin typeface="Calibir"/>
              </a:rPr>
              <a:t>Generate Random Marks and Assign Grades</a:t>
            </a:r>
            <a:endParaRPr lang="en-AU" sz="2800" b="1" dirty="0">
              <a:latin typeface="Calibir"/>
            </a:endParaRPr>
          </a:p>
        </p:txBody>
      </p:sp>
      <p:sp>
        <p:nvSpPr>
          <p:cNvPr id="7" name="Title 1">
            <a:extLst>
              <a:ext uri="{FF2B5EF4-FFF2-40B4-BE49-F238E27FC236}">
                <a16:creationId xmlns:a16="http://schemas.microsoft.com/office/drawing/2014/main" id="{3B5C3A73-5417-7CF7-5950-7B6446E8831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871585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2CF0-5702-4604-9C80-794302E1F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A7072-6CE9-52C7-B231-5DDEB675EDC2}"/>
              </a:ext>
            </a:extLst>
          </p:cNvPr>
          <p:cNvSpPr>
            <a:spLocks noGrp="1"/>
          </p:cNvSpPr>
          <p:nvPr>
            <p:ph type="title"/>
          </p:nvPr>
        </p:nvSpPr>
        <p:spPr>
          <a:xfrm>
            <a:off x="0" y="1014761"/>
            <a:ext cx="12192000" cy="675441"/>
          </a:xfrm>
        </p:spPr>
        <p:txBody>
          <a:bodyPr anchor="b">
            <a:normAutofit/>
          </a:bodyPr>
          <a:lstStyle/>
          <a:p>
            <a:r>
              <a:rPr lang="en-US" sz="2800" b="1" dirty="0">
                <a:latin typeface="Calibir"/>
              </a:rPr>
              <a:t>Make randomness reproducible</a:t>
            </a:r>
            <a:endParaRPr lang="en-AU" sz="2800" b="1" dirty="0">
              <a:latin typeface="Calibir"/>
            </a:endParaRPr>
          </a:p>
        </p:txBody>
      </p:sp>
      <p:sp>
        <p:nvSpPr>
          <p:cNvPr id="3" name="Rectangle 1">
            <a:extLst>
              <a:ext uri="{FF2B5EF4-FFF2-40B4-BE49-F238E27FC236}">
                <a16:creationId xmlns:a16="http://schemas.microsoft.com/office/drawing/2014/main" id="{4A61B51B-8ACA-78D6-766F-1A982FE62536}"/>
              </a:ext>
            </a:extLst>
          </p:cNvPr>
          <p:cNvSpPr>
            <a:spLocks noChangeArrowheads="1"/>
          </p:cNvSpPr>
          <p:nvPr/>
        </p:nvSpPr>
        <p:spPr bwMode="auto">
          <a:xfrm>
            <a:off x="0" y="1881947"/>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Task:</a:t>
            </a:r>
            <a:r>
              <a:rPr lang="en-US" sz="2800" dirty="0">
                <a:latin typeface="Calibir"/>
              </a:rPr>
              <a:t> Add a seed so repeated runs give the same result (useful for testing).</a:t>
            </a:r>
          </a:p>
        </p:txBody>
      </p:sp>
      <p:pic>
        <p:nvPicPr>
          <p:cNvPr id="11" name="Picture 10">
            <a:extLst>
              <a:ext uri="{FF2B5EF4-FFF2-40B4-BE49-F238E27FC236}">
                <a16:creationId xmlns:a16="http://schemas.microsoft.com/office/drawing/2014/main" id="{814D7886-54FA-3988-F773-9EAEA07B9581}"/>
              </a:ext>
            </a:extLst>
          </p:cNvPr>
          <p:cNvPicPr>
            <a:picLocks noChangeAspect="1"/>
          </p:cNvPicPr>
          <p:nvPr/>
        </p:nvPicPr>
        <p:blipFill>
          <a:blip r:embed="rId4"/>
          <a:srcRect l="8487" t="27311" r="8704" b="37850"/>
          <a:stretch>
            <a:fillRect/>
          </a:stretch>
        </p:blipFill>
        <p:spPr>
          <a:xfrm>
            <a:off x="0" y="2557388"/>
            <a:ext cx="12192000" cy="2837794"/>
          </a:xfrm>
          <a:prstGeom prst="rect">
            <a:avLst/>
          </a:prstGeom>
        </p:spPr>
      </p:pic>
      <p:pic>
        <p:nvPicPr>
          <p:cNvPr id="13" name="Timer">
            <a:hlinkClick r:id="" action="ppaction://media"/>
            <a:extLst>
              <a:ext uri="{FF2B5EF4-FFF2-40B4-BE49-F238E27FC236}">
                <a16:creationId xmlns:a16="http://schemas.microsoft.com/office/drawing/2014/main" id="{24B7B170-7046-7457-8430-E1C124EEB7F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08" t="44516" r="40718" b="39785"/>
          <a:stretch>
            <a:fillRect/>
          </a:stretch>
        </p:blipFill>
        <p:spPr>
          <a:xfrm>
            <a:off x="4945625" y="5395182"/>
            <a:ext cx="2300750" cy="1076632"/>
          </a:xfrm>
          <a:prstGeom prst="rect">
            <a:avLst/>
          </a:prstGeom>
          <a:ln w="38100">
            <a:solidFill>
              <a:srgbClr val="FF0000"/>
            </a:solidFill>
          </a:ln>
        </p:spPr>
      </p:pic>
      <p:sp>
        <p:nvSpPr>
          <p:cNvPr id="5" name="Title 1">
            <a:extLst>
              <a:ext uri="{FF2B5EF4-FFF2-40B4-BE49-F238E27FC236}">
                <a16:creationId xmlns:a16="http://schemas.microsoft.com/office/drawing/2014/main" id="{57CF1D60-54D3-534D-196B-5F1425D99E7E}"/>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527590904"/>
      </p:ext>
    </p:extLst>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B27A-A4D5-488E-393F-5FE5D8C68F3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1D265859-D071-9235-F972-61C5B0F17D05}"/>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8B86193B-75E3-A29D-19B9-34CA3C981327}"/>
              </a:ext>
            </a:extLst>
          </p:cNvPr>
          <p:cNvSpPr txBox="1"/>
          <p:nvPr/>
        </p:nvSpPr>
        <p:spPr>
          <a:xfrm>
            <a:off x="4918" y="4492093"/>
            <a:ext cx="12187082" cy="2341025"/>
          </a:xfrm>
          <a:prstGeom prst="rect">
            <a:avLst/>
          </a:prstGeom>
          <a:noFill/>
        </p:spPr>
        <p:txBody>
          <a:bodyPr wrap="square">
            <a:spAutoFit/>
          </a:bodyPr>
          <a:lstStyle/>
          <a:p>
            <a:pPr>
              <a:lnSpc>
                <a:spcPct val="150000"/>
              </a:lnSpc>
              <a:buNone/>
            </a:pPr>
            <a:r>
              <a:rPr lang="en-US" sz="2500" dirty="0">
                <a:latin typeface="Calibir"/>
              </a:rPr>
              <a:t>Brings in two functions from Python’s random library:</a:t>
            </a:r>
          </a:p>
          <a:p>
            <a:pPr marL="342900" indent="-342900">
              <a:lnSpc>
                <a:spcPct val="150000"/>
              </a:lnSpc>
              <a:buFont typeface="Arial" panose="020B0604020202020204" pitchFamily="34" charset="0"/>
              <a:buChar char="•"/>
            </a:pPr>
            <a:r>
              <a:rPr lang="en-US" sz="2500" b="1" dirty="0" err="1">
                <a:latin typeface="Calibir"/>
              </a:rPr>
              <a:t>randint</a:t>
            </a:r>
            <a:r>
              <a:rPr lang="en-US" sz="2500" b="1" dirty="0">
                <a:latin typeface="Calibir"/>
              </a:rPr>
              <a:t>(a, b):</a:t>
            </a:r>
            <a:r>
              <a:rPr lang="en-US" sz="2500" dirty="0">
                <a:latin typeface="Calibir"/>
              </a:rPr>
              <a:t> makes a random whole number between </a:t>
            </a:r>
            <a:r>
              <a:rPr lang="en-US" sz="2500" i="1" dirty="0">
                <a:latin typeface="Calibir"/>
              </a:rPr>
              <a:t>a</a:t>
            </a:r>
            <a:r>
              <a:rPr lang="en-US" sz="2500" dirty="0">
                <a:latin typeface="Calibir"/>
              </a:rPr>
              <a:t> and </a:t>
            </a:r>
            <a:r>
              <a:rPr lang="en-US" sz="2500" i="1" dirty="0">
                <a:latin typeface="Calibir"/>
              </a:rPr>
              <a:t>b</a:t>
            </a:r>
            <a:r>
              <a:rPr lang="en-US" sz="2500" dirty="0">
                <a:latin typeface="Calibir"/>
              </a:rPr>
              <a:t> (both included).</a:t>
            </a:r>
          </a:p>
          <a:p>
            <a:pPr marL="342900" indent="-342900">
              <a:lnSpc>
                <a:spcPct val="150000"/>
              </a:lnSpc>
              <a:buFont typeface="Arial" panose="020B0604020202020204" pitchFamily="34" charset="0"/>
              <a:buChar char="•"/>
            </a:pPr>
            <a:r>
              <a:rPr lang="en-US" sz="2500" b="1" dirty="0">
                <a:latin typeface="Calibir"/>
              </a:rPr>
              <a:t>seed(x):</a:t>
            </a:r>
            <a:r>
              <a:rPr lang="en-US" sz="2500" dirty="0">
                <a:latin typeface="Calibir"/>
              </a:rPr>
              <a:t> fixes the random numbers so you get the same result each time (useful for testing).</a:t>
            </a:r>
          </a:p>
        </p:txBody>
      </p:sp>
      <p:sp>
        <p:nvSpPr>
          <p:cNvPr id="17" name="Rectangle: Rounded Corners 16">
            <a:extLst>
              <a:ext uri="{FF2B5EF4-FFF2-40B4-BE49-F238E27FC236}">
                <a16:creationId xmlns:a16="http://schemas.microsoft.com/office/drawing/2014/main" id="{E092E793-7146-1455-BE4D-6410CDA0E657}"/>
              </a:ext>
            </a:extLst>
          </p:cNvPr>
          <p:cNvSpPr/>
          <p:nvPr/>
        </p:nvSpPr>
        <p:spPr>
          <a:xfrm>
            <a:off x="0" y="0"/>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92748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1B89-FA68-FB97-85BA-CEE0AB10F02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FEB327F-8552-9355-E0EE-52336C590B48}"/>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DC9CAD25-0B00-CC87-DE5F-24B3C074C940}"/>
              </a:ext>
            </a:extLst>
          </p:cNvPr>
          <p:cNvSpPr txBox="1"/>
          <p:nvPr/>
        </p:nvSpPr>
        <p:spPr>
          <a:xfrm>
            <a:off x="4918" y="4492093"/>
            <a:ext cx="12187082" cy="1964512"/>
          </a:xfrm>
          <a:prstGeom prst="rect">
            <a:avLst/>
          </a:prstGeom>
          <a:noFill/>
        </p:spPr>
        <p:txBody>
          <a:bodyPr wrap="square">
            <a:spAutoFit/>
          </a:bodyPr>
          <a:lstStyle/>
          <a:p>
            <a:pPr>
              <a:lnSpc>
                <a:spcPct val="150000"/>
              </a:lnSpc>
            </a:pPr>
            <a:r>
              <a:rPr lang="en-US" sz="2800" dirty="0">
                <a:latin typeface="Calibir"/>
              </a:rPr>
              <a:t>Sets the “starting point” for the random generator.</a:t>
            </a:r>
          </a:p>
          <a:p>
            <a:pPr marL="457200" indent="-457200">
              <a:lnSpc>
                <a:spcPct val="150000"/>
              </a:lnSpc>
              <a:buFont typeface="Arial" panose="020B0604020202020204" pitchFamily="34" charset="0"/>
              <a:buChar char="•"/>
            </a:pPr>
            <a:r>
              <a:rPr lang="en-US" sz="2800" dirty="0">
                <a:latin typeface="Calibir"/>
              </a:rPr>
              <a:t>Without this, each run gives different results.</a:t>
            </a:r>
          </a:p>
          <a:p>
            <a:pPr marL="457200" indent="-457200">
              <a:lnSpc>
                <a:spcPct val="150000"/>
              </a:lnSpc>
              <a:buFont typeface="Arial" panose="020B0604020202020204" pitchFamily="34" charset="0"/>
              <a:buChar char="•"/>
            </a:pPr>
            <a:r>
              <a:rPr lang="en-US" sz="2800" dirty="0">
                <a:latin typeface="Calibir"/>
              </a:rPr>
              <a:t>With it, the numbers repeat every time, which makes testing easier.</a:t>
            </a:r>
          </a:p>
        </p:txBody>
      </p:sp>
      <p:sp>
        <p:nvSpPr>
          <p:cNvPr id="17" name="Rectangle: Rounded Corners 16">
            <a:extLst>
              <a:ext uri="{FF2B5EF4-FFF2-40B4-BE49-F238E27FC236}">
                <a16:creationId xmlns:a16="http://schemas.microsoft.com/office/drawing/2014/main" id="{95081BA2-F5D7-82E9-829F-5161CE212529}"/>
              </a:ext>
            </a:extLst>
          </p:cNvPr>
          <p:cNvSpPr/>
          <p:nvPr/>
        </p:nvSpPr>
        <p:spPr>
          <a:xfrm>
            <a:off x="0" y="412955"/>
            <a:ext cx="609600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0356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3FF11-FA7F-4840-DD1C-AC3328B2C0D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78571E9-6E79-2214-EAA8-08E6AE43A32D}"/>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BCCBA27-6B87-3E76-EDE3-88CD9AAB314E}"/>
              </a:ext>
            </a:extLst>
          </p:cNvPr>
          <p:cNvSpPr txBox="1"/>
          <p:nvPr/>
        </p:nvSpPr>
        <p:spPr>
          <a:xfrm>
            <a:off x="4918" y="4549676"/>
            <a:ext cx="12187082" cy="2308324"/>
          </a:xfrm>
          <a:prstGeom prst="rect">
            <a:avLst/>
          </a:prstGeom>
          <a:noFill/>
        </p:spPr>
        <p:txBody>
          <a:bodyPr wrap="square">
            <a:spAutoFit/>
          </a:bodyPr>
          <a:lstStyle/>
          <a:p>
            <a:r>
              <a:rPr lang="en-US" dirty="0">
                <a:latin typeface="Calibir"/>
              </a:rPr>
              <a:t>Defines a function called grade:</a:t>
            </a:r>
          </a:p>
          <a:p>
            <a:pPr marL="285750" indent="-285750">
              <a:buFont typeface="Arial" panose="020B0604020202020204" pitchFamily="34" charset="0"/>
              <a:buChar char="•"/>
            </a:pPr>
            <a:r>
              <a:rPr lang="en-US" dirty="0">
                <a:latin typeface="Calibir"/>
              </a:rPr>
              <a:t>Input: a number (mark) between 25–100.</a:t>
            </a:r>
          </a:p>
          <a:p>
            <a:pPr marL="285750" indent="-285750">
              <a:buFont typeface="Arial" panose="020B0604020202020204" pitchFamily="34" charset="0"/>
              <a:buChar char="•"/>
            </a:pPr>
            <a:r>
              <a:rPr lang="en-US" dirty="0">
                <a:latin typeface="Calibir"/>
              </a:rPr>
              <a:t>Output: a single letter grade, based on rules:</a:t>
            </a:r>
          </a:p>
          <a:p>
            <a:pPr marL="742950" lvl="1" indent="-285750">
              <a:buFont typeface="Arial" panose="020B0604020202020204" pitchFamily="34" charset="0"/>
              <a:buChar char="•"/>
            </a:pPr>
            <a:r>
              <a:rPr lang="en-US" dirty="0">
                <a:latin typeface="Calibir"/>
              </a:rPr>
              <a:t>&lt;50 → 'Z'</a:t>
            </a:r>
          </a:p>
          <a:p>
            <a:pPr marL="742950" lvl="1" indent="-285750">
              <a:buFont typeface="Arial" panose="020B0604020202020204" pitchFamily="34" charset="0"/>
              <a:buChar char="•"/>
            </a:pPr>
            <a:r>
              <a:rPr lang="en-US" dirty="0">
                <a:latin typeface="Calibir"/>
              </a:rPr>
              <a:t>50–64 → 'P'</a:t>
            </a:r>
          </a:p>
          <a:p>
            <a:pPr marL="742950" lvl="1" indent="-285750">
              <a:buFont typeface="Arial" panose="020B0604020202020204" pitchFamily="34" charset="0"/>
              <a:buChar char="•"/>
            </a:pPr>
            <a:r>
              <a:rPr lang="en-US" dirty="0">
                <a:latin typeface="Calibir"/>
              </a:rPr>
              <a:t>65–74 → 'C'</a:t>
            </a:r>
          </a:p>
          <a:p>
            <a:pPr marL="742950" lvl="1" indent="-285750">
              <a:buFont typeface="Arial" panose="020B0604020202020204" pitchFamily="34" charset="0"/>
              <a:buChar char="•"/>
            </a:pPr>
            <a:r>
              <a:rPr lang="en-US" dirty="0">
                <a:latin typeface="Calibir"/>
              </a:rPr>
              <a:t>75–84 → 'D'</a:t>
            </a:r>
          </a:p>
          <a:p>
            <a:pPr marL="742950" lvl="1" indent="-285750">
              <a:buFont typeface="Arial" panose="020B0604020202020204" pitchFamily="34" charset="0"/>
              <a:buChar char="•"/>
            </a:pPr>
            <a:r>
              <a:rPr lang="en-US" dirty="0">
                <a:latin typeface="Calibir"/>
              </a:rPr>
              <a:t>≥85 → 'HD'</a:t>
            </a:r>
          </a:p>
        </p:txBody>
      </p:sp>
      <p:sp>
        <p:nvSpPr>
          <p:cNvPr id="17" name="Rectangle: Rounded Corners 16">
            <a:extLst>
              <a:ext uri="{FF2B5EF4-FFF2-40B4-BE49-F238E27FC236}">
                <a16:creationId xmlns:a16="http://schemas.microsoft.com/office/drawing/2014/main" id="{414CB668-00F5-BF6E-9D96-0D2E37211A05}"/>
              </a:ext>
            </a:extLst>
          </p:cNvPr>
          <p:cNvSpPr/>
          <p:nvPr/>
        </p:nvSpPr>
        <p:spPr>
          <a:xfrm>
            <a:off x="0" y="1194618"/>
            <a:ext cx="11446516" cy="144534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6009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6F8B-9A21-B81B-1E12-3CCC4E61F50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99C8307-B848-33E3-604B-A03E8A2A4AA9}"/>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F0F24D1F-9384-6C6D-3480-EA4AA3100F14}"/>
              </a:ext>
            </a:extLst>
          </p:cNvPr>
          <p:cNvSpPr txBox="1"/>
          <p:nvPr/>
        </p:nvSpPr>
        <p:spPr>
          <a:xfrm>
            <a:off x="4918" y="4549676"/>
            <a:ext cx="12187082" cy="1318181"/>
          </a:xfrm>
          <a:prstGeom prst="rect">
            <a:avLst/>
          </a:prstGeom>
          <a:noFill/>
        </p:spPr>
        <p:txBody>
          <a:bodyPr wrap="square">
            <a:spAutoFit/>
          </a:bodyPr>
          <a:lstStyle/>
          <a:p>
            <a:pPr>
              <a:lnSpc>
                <a:spcPct val="150000"/>
              </a:lnSpc>
            </a:pPr>
            <a:r>
              <a:rPr lang="en-US" sz="2800" dirty="0">
                <a:latin typeface="Calibir"/>
              </a:rPr>
              <a:t>Generates one random exam mark between 25 and 100 and stores it in the variable mark.</a:t>
            </a:r>
          </a:p>
        </p:txBody>
      </p:sp>
      <p:sp>
        <p:nvSpPr>
          <p:cNvPr id="17" name="Rectangle: Rounded Corners 16">
            <a:extLst>
              <a:ext uri="{FF2B5EF4-FFF2-40B4-BE49-F238E27FC236}">
                <a16:creationId xmlns:a16="http://schemas.microsoft.com/office/drawing/2014/main" id="{E69C6A40-43C6-CAD1-52DC-EFA83768B749}"/>
              </a:ext>
            </a:extLst>
          </p:cNvPr>
          <p:cNvSpPr/>
          <p:nvPr/>
        </p:nvSpPr>
        <p:spPr>
          <a:xfrm>
            <a:off x="0" y="2802193"/>
            <a:ext cx="11446516" cy="479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90911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BD3F-04CA-05D7-713E-E57E9C767F1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E3D06D8C-1779-4BC3-5344-E0D73482218E}"/>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6285111E-FECA-A8C4-5A9A-A6949FBC4C58}"/>
              </a:ext>
            </a:extLst>
          </p:cNvPr>
          <p:cNvSpPr txBox="1"/>
          <p:nvPr/>
        </p:nvSpPr>
        <p:spPr>
          <a:xfrm>
            <a:off x="4918" y="4549676"/>
            <a:ext cx="12187082" cy="2071208"/>
          </a:xfrm>
          <a:prstGeom prst="rect">
            <a:avLst/>
          </a:prstGeom>
          <a:noFill/>
        </p:spPr>
        <p:txBody>
          <a:bodyPr wrap="square">
            <a:spAutoFit/>
          </a:bodyPr>
          <a:lstStyle/>
          <a:p>
            <a:pPr>
              <a:lnSpc>
                <a:spcPct val="150000"/>
              </a:lnSpc>
            </a:pPr>
            <a:r>
              <a:rPr lang="en-US" sz="2200" dirty="0">
                <a:latin typeface="Calibir"/>
              </a:rPr>
              <a:t>Creates a dictionary (like a mini record) for one subject:</a:t>
            </a:r>
          </a:p>
          <a:p>
            <a:pPr marL="800100" lvl="1" indent="-342900">
              <a:lnSpc>
                <a:spcPct val="150000"/>
              </a:lnSpc>
              <a:buFont typeface="Arial" panose="020B0604020202020204" pitchFamily="34" charset="0"/>
              <a:buChar char="•"/>
            </a:pPr>
            <a:r>
              <a:rPr lang="en-US" sz="2200" dirty="0">
                <a:latin typeface="Calibir"/>
              </a:rPr>
              <a:t>"id" → random number 1–999, but .</a:t>
            </a:r>
            <a:r>
              <a:rPr lang="en-US" sz="2200" dirty="0" err="1">
                <a:latin typeface="Calibir"/>
              </a:rPr>
              <a:t>zfill</a:t>
            </a:r>
            <a:r>
              <a:rPr lang="en-US" sz="2200" dirty="0">
                <a:latin typeface="Calibir"/>
              </a:rPr>
              <a:t>(3) pads it with zeros so it always looks like 001, 045, 234.</a:t>
            </a:r>
          </a:p>
          <a:p>
            <a:pPr marL="800100" lvl="1" indent="-342900">
              <a:lnSpc>
                <a:spcPct val="150000"/>
              </a:lnSpc>
              <a:buFont typeface="Arial" panose="020B0604020202020204" pitchFamily="34" charset="0"/>
              <a:buChar char="•"/>
            </a:pPr>
            <a:r>
              <a:rPr lang="en-US" sz="2200" dirty="0">
                <a:latin typeface="Calibir"/>
              </a:rPr>
              <a:t>"mark" → the random mark generated above.</a:t>
            </a:r>
          </a:p>
          <a:p>
            <a:pPr marL="800100" lvl="1" indent="-342900">
              <a:lnSpc>
                <a:spcPct val="150000"/>
              </a:lnSpc>
              <a:buFont typeface="Arial" panose="020B0604020202020204" pitchFamily="34" charset="0"/>
              <a:buChar char="•"/>
            </a:pPr>
            <a:r>
              <a:rPr lang="en-US" sz="2200" dirty="0">
                <a:latin typeface="Calibir"/>
              </a:rPr>
              <a:t>"grade" → the letter grade, calculated by calling grade(mark).</a:t>
            </a:r>
          </a:p>
        </p:txBody>
      </p:sp>
      <p:sp>
        <p:nvSpPr>
          <p:cNvPr id="17" name="Rectangle: Rounded Corners 16">
            <a:extLst>
              <a:ext uri="{FF2B5EF4-FFF2-40B4-BE49-F238E27FC236}">
                <a16:creationId xmlns:a16="http://schemas.microsoft.com/office/drawing/2014/main" id="{4EC6C0CE-A446-8726-C5D2-D091CFBBF6CB}"/>
              </a:ext>
            </a:extLst>
          </p:cNvPr>
          <p:cNvSpPr/>
          <p:nvPr/>
        </p:nvSpPr>
        <p:spPr>
          <a:xfrm>
            <a:off x="0" y="3189337"/>
            <a:ext cx="11446516" cy="8959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8959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3371-0412-E369-5B8F-26C506D0B61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EB0AF30-011F-CB17-33B5-299991194184}"/>
              </a:ext>
            </a:extLst>
          </p:cNvPr>
          <p:cNvPicPr>
            <a:picLocks noChangeAspect="1"/>
          </p:cNvPicPr>
          <p:nvPr/>
        </p:nvPicPr>
        <p:blipFill>
          <a:blip r:embed="rId2"/>
          <a:srcRect l="8347" t="9463" r="8427" b="32473"/>
          <a:stretch>
            <a:fillRect/>
          </a:stretch>
        </p:blipFill>
        <p:spPr>
          <a:xfrm>
            <a:off x="0" y="0"/>
            <a:ext cx="11446516" cy="4492093"/>
          </a:xfrm>
          <a:prstGeom prst="rect">
            <a:avLst/>
          </a:prstGeom>
        </p:spPr>
      </p:pic>
      <p:sp>
        <p:nvSpPr>
          <p:cNvPr id="14" name="TextBox 13">
            <a:extLst>
              <a:ext uri="{FF2B5EF4-FFF2-40B4-BE49-F238E27FC236}">
                <a16:creationId xmlns:a16="http://schemas.microsoft.com/office/drawing/2014/main" id="{C9A34096-3988-2194-BE21-15BC119E1293}"/>
              </a:ext>
            </a:extLst>
          </p:cNvPr>
          <p:cNvSpPr txBox="1"/>
          <p:nvPr/>
        </p:nvSpPr>
        <p:spPr>
          <a:xfrm>
            <a:off x="4918" y="4549676"/>
            <a:ext cx="12187082" cy="671851"/>
          </a:xfrm>
          <a:prstGeom prst="rect">
            <a:avLst/>
          </a:prstGeom>
          <a:noFill/>
        </p:spPr>
        <p:txBody>
          <a:bodyPr wrap="square">
            <a:spAutoFit/>
          </a:bodyPr>
          <a:lstStyle/>
          <a:p>
            <a:pPr>
              <a:lnSpc>
                <a:spcPct val="150000"/>
              </a:lnSpc>
            </a:pPr>
            <a:r>
              <a:rPr lang="en-US" sz="2800" dirty="0">
                <a:latin typeface="Calibir"/>
              </a:rPr>
              <a:t>Shows the whole dictionary on screen.</a:t>
            </a:r>
          </a:p>
        </p:txBody>
      </p:sp>
      <p:sp>
        <p:nvSpPr>
          <p:cNvPr id="17" name="Rectangle: Rounded Corners 16">
            <a:extLst>
              <a:ext uri="{FF2B5EF4-FFF2-40B4-BE49-F238E27FC236}">
                <a16:creationId xmlns:a16="http://schemas.microsoft.com/office/drawing/2014/main" id="{3397D35E-4F8D-146D-27B6-C90B62DDA6B6}"/>
              </a:ext>
            </a:extLst>
          </p:cNvPr>
          <p:cNvSpPr/>
          <p:nvPr/>
        </p:nvSpPr>
        <p:spPr>
          <a:xfrm>
            <a:off x="0" y="4055805"/>
            <a:ext cx="11446516" cy="43628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92547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9F57A-D6C4-71BC-8329-D487A07FBBE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03CC8A6-03F2-7212-E5FF-1857EFF80198}"/>
              </a:ext>
            </a:extLst>
          </p:cNvPr>
          <p:cNvSpPr txBox="1"/>
          <p:nvPr/>
        </p:nvSpPr>
        <p:spPr>
          <a:xfrm>
            <a:off x="0" y="1327693"/>
            <a:ext cx="12192000" cy="4832092"/>
          </a:xfrm>
          <a:prstGeom prst="rect">
            <a:avLst/>
          </a:prstGeom>
          <a:solidFill>
            <a:schemeClr val="tx1"/>
          </a:solidFill>
        </p:spPr>
        <p:txBody>
          <a:bodyPr wrap="square">
            <a:spAutoFit/>
          </a:bodyPr>
          <a:lstStyle/>
          <a:p>
            <a:pPr>
              <a:buNone/>
            </a:pPr>
            <a:r>
              <a:rPr lang="en-US" sz="2800" b="0" dirty="0">
                <a:solidFill>
                  <a:srgbClr val="C586C0"/>
                </a:solidFill>
                <a:effectLst/>
                <a:latin typeface="Consolas" panose="020B0609020204030204" pitchFamily="49" charset="0"/>
              </a:rPr>
              <a:t>from</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random</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import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seed</a:t>
            </a: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seed</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42</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reproducible results</a:t>
            </a:r>
            <a:endParaRPr lang="en-US" sz="2800" b="0" dirty="0">
              <a:solidFill>
                <a:srgbClr val="CCCCCC"/>
              </a:solidFill>
              <a:effectLst/>
              <a:latin typeface="Consolas" panose="020B0609020204030204" pitchFamily="49" charset="0"/>
            </a:endParaRPr>
          </a:p>
          <a:p>
            <a:pPr>
              <a:buNone/>
            </a:pPr>
            <a:br>
              <a:rPr lang="en-US" sz="2800" b="0" dirty="0">
                <a:solidFill>
                  <a:srgbClr val="CCCCCC"/>
                </a:solidFill>
                <a:effectLst/>
                <a:latin typeface="Consolas" panose="020B0609020204030204" pitchFamily="49" charset="0"/>
              </a:rPr>
            </a:br>
            <a:r>
              <a:rPr lang="en-US" sz="2800" b="0" dirty="0">
                <a:solidFill>
                  <a:srgbClr val="569CD6"/>
                </a:solidFill>
                <a:effectLst/>
                <a:latin typeface="Consolas" panose="020B0609020204030204" pitchFamily="49" charset="0"/>
              </a:rPr>
              <a:t>def</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int</a:t>
            </a:r>
            <a:r>
              <a:rPr lang="en-US" sz="2800" b="0" dirty="0">
                <a:solidFill>
                  <a:srgbClr val="CCCCCC"/>
                </a:solidFill>
                <a:effectLst/>
                <a:latin typeface="Consolas" panose="020B0609020204030204" pitchFamily="49" charset="0"/>
              </a:rPr>
              <a:t>) -&gt; </a:t>
            </a:r>
            <a:r>
              <a:rPr lang="en-US" sz="2800" b="0" dirty="0">
                <a:solidFill>
                  <a:srgbClr val="4EC9B0"/>
                </a:solidFill>
                <a:effectLst/>
                <a:latin typeface="Consolas" panose="020B0609020204030204" pitchFamily="49" charset="0"/>
              </a:rPr>
              <a:t>str</a:t>
            </a:r>
            <a:r>
              <a:rPr lang="en-US" sz="2800" b="0" dirty="0">
                <a:solidFill>
                  <a:srgbClr val="CCCCCC"/>
                </a:solidFill>
                <a:effectLst/>
                <a:latin typeface="Consolas" panose="020B0609020204030204" pitchFamily="49" charset="0"/>
              </a:rPr>
              <a:t>:</a:t>
            </a:r>
          </a:p>
          <a:p>
            <a:pPr>
              <a:buNone/>
            </a:pP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return</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'Z'</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50</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'P'</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65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'C'</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75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'D'</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&lt;</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85</a:t>
            </a:r>
            <a:r>
              <a:rPr lang="en-US" sz="2800" b="0" dirty="0">
                <a:solidFill>
                  <a:srgbClr val="CCCCCC"/>
                </a:solidFill>
                <a:effectLst/>
                <a:latin typeface="Consolas" panose="020B0609020204030204" pitchFamily="49" charset="0"/>
              </a:rPr>
              <a:t> </a:t>
            </a:r>
            <a:r>
              <a:rPr lang="en-US" sz="2800" b="0" dirty="0">
                <a:solidFill>
                  <a:srgbClr val="C586C0"/>
                </a:solidFill>
                <a:effectLst/>
                <a:latin typeface="Consolas" panose="020B0609020204030204" pitchFamily="49" charset="0"/>
              </a:rPr>
              <a:t>else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'HD'</a:t>
            </a:r>
            <a:endParaRPr lang="en-US" sz="2800" b="0" dirty="0">
              <a:solidFill>
                <a:srgbClr val="CCCCCC"/>
              </a:solidFill>
              <a:effectLst/>
              <a:latin typeface="Consolas" panose="020B0609020204030204" pitchFamily="49" charset="0"/>
            </a:endParaRPr>
          </a:p>
          <a:p>
            <a:pPr>
              <a:buNone/>
            </a:pPr>
            <a:endParaRPr lang="en-US" sz="2800" b="0" dirty="0">
              <a:solidFill>
                <a:srgbClr val="CCCCCC"/>
              </a:solidFill>
              <a:effectLst/>
              <a:latin typeface="Consolas" panose="020B0609020204030204" pitchFamily="49" charset="0"/>
            </a:endParaRPr>
          </a:p>
          <a:p>
            <a:pPr>
              <a:buNone/>
            </a:pP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25</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100</a:t>
            </a:r>
            <a:r>
              <a:rPr lang="en-US" sz="2800" b="0" dirty="0">
                <a:solidFill>
                  <a:srgbClr val="CCCCCC"/>
                </a:solidFill>
                <a:effectLst/>
                <a:latin typeface="Consolas" panose="020B0609020204030204" pitchFamily="49" charset="0"/>
              </a:rPr>
              <a:t>)</a:t>
            </a:r>
          </a:p>
          <a:p>
            <a:pPr>
              <a:buNone/>
            </a:pPr>
            <a:r>
              <a:rPr lang="en-US" sz="2800" b="0" dirty="0">
                <a:solidFill>
                  <a:srgbClr val="9CDCFE"/>
                </a:solidFill>
                <a:effectLst/>
                <a:latin typeface="Consolas" panose="020B0609020204030204" pitchFamily="49" charset="0"/>
              </a:rPr>
              <a:t>subject</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"id"</a:t>
            </a:r>
            <a:r>
              <a:rPr lang="en-US" sz="2800" b="0" dirty="0">
                <a:solidFill>
                  <a:srgbClr val="CCCCCC"/>
                </a:solidFill>
                <a:effectLst/>
                <a:latin typeface="Consolas" panose="020B0609020204030204" pitchFamily="49" charset="0"/>
              </a:rPr>
              <a:t>: </a:t>
            </a:r>
            <a:r>
              <a:rPr lang="en-US" sz="2800" b="0" dirty="0">
                <a:solidFill>
                  <a:srgbClr val="4EC9B0"/>
                </a:solidFill>
                <a:effectLst/>
                <a:latin typeface="Consolas" panose="020B0609020204030204" pitchFamily="49" charset="0"/>
              </a:rPr>
              <a:t>str</a:t>
            </a:r>
            <a:r>
              <a:rPr lang="en-US" sz="2800" b="0" dirty="0">
                <a:solidFill>
                  <a:srgbClr val="CCCCCC"/>
                </a:solidFill>
                <a:effectLst/>
                <a:latin typeface="Consolas" panose="020B0609020204030204" pitchFamily="49" charset="0"/>
              </a:rPr>
              <a:t>(</a:t>
            </a:r>
            <a:r>
              <a:rPr lang="en-US" sz="2800" b="0" dirty="0" err="1">
                <a:solidFill>
                  <a:srgbClr val="9CDCFE"/>
                </a:solidFill>
                <a:effectLst/>
                <a:latin typeface="Consolas" panose="020B0609020204030204" pitchFamily="49" charset="0"/>
              </a:rPr>
              <a:t>randint</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1</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999</a:t>
            </a:r>
            <a:r>
              <a:rPr lang="en-US" sz="2800" b="0" dirty="0">
                <a:solidFill>
                  <a:srgbClr val="CCCCCC"/>
                </a:solidFill>
                <a:effectLst/>
                <a:latin typeface="Consolas" panose="020B0609020204030204" pitchFamily="49" charset="0"/>
              </a:rPr>
              <a:t>)).</a:t>
            </a:r>
            <a:r>
              <a:rPr lang="en-US" sz="2800" b="0" dirty="0" err="1">
                <a:solidFill>
                  <a:srgbClr val="DCDCAA"/>
                </a:solidFill>
                <a:effectLst/>
                <a:latin typeface="Consolas" panose="020B0609020204030204" pitchFamily="49" charset="0"/>
              </a:rPr>
              <a:t>zfill</a:t>
            </a:r>
            <a:r>
              <a:rPr lang="en-US" sz="2800" b="0" dirty="0">
                <a:solidFill>
                  <a:srgbClr val="CCCCCC"/>
                </a:solidFill>
                <a:effectLst/>
                <a:latin typeface="Consolas" panose="020B0609020204030204" pitchFamily="49" charset="0"/>
              </a:rPr>
              <a:t>(</a:t>
            </a:r>
            <a:r>
              <a:rPr lang="en-US" sz="2800" b="0" dirty="0">
                <a:solidFill>
                  <a:srgbClr val="B5CEA8"/>
                </a:solidFill>
                <a:effectLst/>
                <a:latin typeface="Consolas" panose="020B0609020204030204" pitchFamily="49" charset="0"/>
              </a:rPr>
              <a:t>3</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 </a:t>
            </a:r>
            <a:r>
              <a:rPr lang="en-US" sz="2800" b="0" dirty="0">
                <a:solidFill>
                  <a:srgbClr val="DCDCAA"/>
                </a:solidFill>
                <a:effectLst/>
                <a:latin typeface="Consolas" panose="020B0609020204030204" pitchFamily="49" charset="0"/>
              </a:rPr>
              <a:t>grade</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mark</a:t>
            </a:r>
            <a:r>
              <a:rPr lang="en-US" sz="2800" b="0" dirty="0">
                <a:solidFill>
                  <a:srgbClr val="CCCCCC"/>
                </a:solidFill>
                <a:effectLst/>
                <a:latin typeface="Consolas" panose="020B0609020204030204" pitchFamily="49" charset="0"/>
              </a:rPr>
              <a:t>)}</a:t>
            </a:r>
          </a:p>
          <a:p>
            <a:pPr>
              <a:buNone/>
            </a:pPr>
            <a:r>
              <a:rPr lang="en-US" sz="2800" b="0" dirty="0">
                <a:solidFill>
                  <a:srgbClr val="DCDCAA"/>
                </a:solidFill>
                <a:effectLst/>
                <a:latin typeface="Consolas" panose="020B0609020204030204" pitchFamily="49" charset="0"/>
              </a:rPr>
              <a:t>print</a:t>
            </a:r>
            <a:r>
              <a:rPr lang="en-US" sz="2800" b="0" dirty="0">
                <a:solidFill>
                  <a:srgbClr val="CCCCCC"/>
                </a:solidFill>
                <a:effectLst/>
                <a:latin typeface="Consolas" panose="020B0609020204030204" pitchFamily="49" charset="0"/>
              </a:rPr>
              <a:t>(</a:t>
            </a:r>
            <a:r>
              <a:rPr lang="en-US" sz="2800" b="0" dirty="0">
                <a:solidFill>
                  <a:srgbClr val="9CDCFE"/>
                </a:solidFill>
                <a:effectLst/>
                <a:latin typeface="Consolas" panose="020B0609020204030204" pitchFamily="49" charset="0"/>
              </a:rPr>
              <a:t>subject</a:t>
            </a:r>
            <a:r>
              <a:rPr lang="en-US" sz="2800" b="0" dirty="0">
                <a:solidFill>
                  <a:srgbClr val="CCCCCC"/>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F0948710-BB3E-0F79-6E57-3B78F0721129}"/>
              </a:ext>
            </a:extLst>
          </p:cNvPr>
          <p:cNvPicPr>
            <a:picLocks noChangeAspect="1"/>
          </p:cNvPicPr>
          <p:nvPr/>
        </p:nvPicPr>
        <p:blipFill>
          <a:blip r:embed="rId2"/>
          <a:srcRect l="54799" t="36344" r="4798" b="50000"/>
          <a:stretch>
            <a:fillRect/>
          </a:stretch>
        </p:blipFill>
        <p:spPr>
          <a:xfrm>
            <a:off x="4896465" y="5470975"/>
            <a:ext cx="7295535" cy="1387026"/>
          </a:xfrm>
          <a:prstGeom prst="rect">
            <a:avLst/>
          </a:prstGeom>
          <a:ln w="38100">
            <a:solidFill>
              <a:srgbClr val="FF0000"/>
            </a:solidFill>
          </a:ln>
        </p:spPr>
      </p:pic>
      <p:sp>
        <p:nvSpPr>
          <p:cNvPr id="4" name="TextBox 3">
            <a:extLst>
              <a:ext uri="{FF2B5EF4-FFF2-40B4-BE49-F238E27FC236}">
                <a16:creationId xmlns:a16="http://schemas.microsoft.com/office/drawing/2014/main" id="{90D7FA78-C385-F648-CE96-0F97FE053E87}"/>
              </a:ext>
            </a:extLst>
          </p:cNvPr>
          <p:cNvSpPr txBox="1"/>
          <p:nvPr/>
        </p:nvSpPr>
        <p:spPr>
          <a:xfrm>
            <a:off x="6581467" y="1283449"/>
            <a:ext cx="5610533" cy="1785104"/>
          </a:xfrm>
          <a:prstGeom prst="rect">
            <a:avLst/>
          </a:prstGeom>
          <a:solidFill>
            <a:schemeClr val="bg1"/>
          </a:solidFill>
          <a:ln w="38100">
            <a:solidFill>
              <a:srgbClr val="FF0000"/>
            </a:solidFill>
          </a:ln>
        </p:spPr>
        <p:txBody>
          <a:bodyPr wrap="square">
            <a:spAutoFit/>
          </a:bodyPr>
          <a:lstStyle/>
          <a:p>
            <a:pPr>
              <a:buNone/>
            </a:pPr>
            <a:r>
              <a:rPr lang="en-US" sz="2200" dirty="0">
                <a:latin typeface="Calibir"/>
              </a:rPr>
              <a:t>In short:</a:t>
            </a:r>
          </a:p>
          <a:p>
            <a:pPr marL="342900" indent="-342900">
              <a:buFont typeface="Arial" panose="020B0604020202020204" pitchFamily="34" charset="0"/>
              <a:buChar char="•"/>
            </a:pPr>
            <a:r>
              <a:rPr lang="en-US" sz="2200" dirty="0">
                <a:latin typeface="Calibir"/>
              </a:rPr>
              <a:t>Fix the random seed,</a:t>
            </a:r>
          </a:p>
          <a:p>
            <a:pPr marL="342900" indent="-342900">
              <a:buFont typeface="Arial" panose="020B0604020202020204" pitchFamily="34" charset="0"/>
              <a:buChar char="•"/>
            </a:pPr>
            <a:r>
              <a:rPr lang="en-US" sz="2200" dirty="0">
                <a:latin typeface="Calibir"/>
              </a:rPr>
              <a:t>Generate a random mark + subject ID,</a:t>
            </a:r>
          </a:p>
          <a:p>
            <a:pPr marL="342900" indent="-342900">
              <a:buFont typeface="Arial" panose="020B0604020202020204" pitchFamily="34" charset="0"/>
              <a:buChar char="•"/>
            </a:pPr>
            <a:r>
              <a:rPr lang="en-US" sz="2200" dirty="0">
                <a:latin typeface="Calibir"/>
              </a:rPr>
              <a:t>Work out the grade,</a:t>
            </a:r>
          </a:p>
          <a:p>
            <a:pPr marL="342900" indent="-342900">
              <a:buFont typeface="Arial" panose="020B0604020202020204" pitchFamily="34" charset="0"/>
              <a:buChar char="•"/>
            </a:pPr>
            <a:r>
              <a:rPr lang="en-US" sz="2200" dirty="0">
                <a:latin typeface="Calibir"/>
              </a:rPr>
              <a:t>Print the record.</a:t>
            </a:r>
          </a:p>
        </p:txBody>
      </p:sp>
      <p:sp>
        <p:nvSpPr>
          <p:cNvPr id="8" name="Title 1">
            <a:extLst>
              <a:ext uri="{FF2B5EF4-FFF2-40B4-BE49-F238E27FC236}">
                <a16:creationId xmlns:a16="http://schemas.microsoft.com/office/drawing/2014/main" id="{B58D9E25-77D4-94D4-7B5C-4BC07790135A}"/>
              </a:ext>
            </a:extLst>
          </p:cNvPr>
          <p:cNvSpPr>
            <a:spLocks noGrp="1"/>
          </p:cNvSpPr>
          <p:nvPr>
            <p:ph type="title"/>
          </p:nvPr>
        </p:nvSpPr>
        <p:spPr>
          <a:xfrm>
            <a:off x="0" y="625638"/>
            <a:ext cx="12192000" cy="675441"/>
          </a:xfrm>
        </p:spPr>
        <p:txBody>
          <a:bodyPr anchor="b">
            <a:normAutofit/>
          </a:bodyPr>
          <a:lstStyle/>
          <a:p>
            <a:r>
              <a:rPr lang="en-US" sz="2800" b="1" dirty="0">
                <a:latin typeface="Calibir"/>
              </a:rPr>
              <a:t>Make randomness reproducible</a:t>
            </a:r>
            <a:endParaRPr lang="en-AU" sz="2800" b="1" dirty="0">
              <a:latin typeface="Calibir"/>
            </a:endParaRPr>
          </a:p>
        </p:txBody>
      </p:sp>
      <p:sp>
        <p:nvSpPr>
          <p:cNvPr id="3" name="Title 1">
            <a:extLst>
              <a:ext uri="{FF2B5EF4-FFF2-40B4-BE49-F238E27FC236}">
                <a16:creationId xmlns:a16="http://schemas.microsoft.com/office/drawing/2014/main" id="{4338B31C-E3B2-E9EA-591C-E94519299684}"/>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3802968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5E17A-DFCD-2872-5B35-F441EDC718B3}"/>
              </a:ext>
            </a:extLst>
          </p:cNvPr>
          <p:cNvSpPr>
            <a:spLocks noGrp="1"/>
          </p:cNvSpPr>
          <p:nvPr>
            <p:ph type="title"/>
          </p:nvPr>
        </p:nvSpPr>
        <p:spPr>
          <a:xfrm>
            <a:off x="0" y="869795"/>
            <a:ext cx="12192000" cy="557561"/>
          </a:xfrm>
        </p:spPr>
        <p:txBody>
          <a:bodyPr anchor="b">
            <a:normAutofit/>
          </a:bodyPr>
          <a:lstStyle/>
          <a:p>
            <a:r>
              <a:rPr lang="en-US" sz="3300" b="1" dirty="0">
                <a:latin typeface="Calibir"/>
              </a:rPr>
              <a:t>Add student ID and PASS/FAIL</a:t>
            </a:r>
            <a:endParaRPr lang="en-AU" sz="3300" b="1" dirty="0">
              <a:latin typeface="Calibir"/>
            </a:endParaRPr>
          </a:p>
        </p:txBody>
      </p:sp>
      <p:sp>
        <p:nvSpPr>
          <p:cNvPr id="4" name="TextBox 3">
            <a:extLst>
              <a:ext uri="{FF2B5EF4-FFF2-40B4-BE49-F238E27FC236}">
                <a16:creationId xmlns:a16="http://schemas.microsoft.com/office/drawing/2014/main" id="{C655CE28-7134-0543-249D-22F7239F953D}"/>
              </a:ext>
            </a:extLst>
          </p:cNvPr>
          <p:cNvSpPr txBox="1"/>
          <p:nvPr/>
        </p:nvSpPr>
        <p:spPr>
          <a:xfrm>
            <a:off x="0" y="1427356"/>
            <a:ext cx="12192000" cy="1318181"/>
          </a:xfrm>
          <a:prstGeom prst="rect">
            <a:avLst/>
          </a:prstGeom>
          <a:noFill/>
        </p:spPr>
        <p:txBody>
          <a:bodyPr wrap="square">
            <a:spAutoFit/>
          </a:bodyPr>
          <a:lstStyle/>
          <a:p>
            <a:pPr>
              <a:lnSpc>
                <a:spcPct val="150000"/>
              </a:lnSpc>
            </a:pPr>
            <a:r>
              <a:rPr lang="en-US" sz="2800" b="1" dirty="0">
                <a:latin typeface="Calibir"/>
              </a:rPr>
              <a:t>Task: </a:t>
            </a:r>
            <a:r>
              <a:rPr lang="en-US" sz="2800" dirty="0">
                <a:latin typeface="Calibir"/>
              </a:rPr>
              <a:t>Add a 6-digit student ID and a pass/fail flag (pass if mark ≥ 50).</a:t>
            </a:r>
            <a:br>
              <a:rPr lang="en-US" sz="2800" dirty="0">
                <a:latin typeface="Calibir"/>
              </a:rPr>
            </a:br>
            <a:r>
              <a:rPr lang="en-US" sz="2800" b="1" dirty="0">
                <a:latin typeface="Calibir"/>
              </a:rPr>
              <a:t>Hint: </a:t>
            </a:r>
            <a:r>
              <a:rPr lang="en-US" sz="2800" dirty="0">
                <a:latin typeface="Calibir"/>
              </a:rPr>
              <a:t>Use </a:t>
            </a:r>
            <a:r>
              <a:rPr lang="en-US" sz="2800" dirty="0" err="1">
                <a:latin typeface="Calibir"/>
              </a:rPr>
              <a:t>zfill</a:t>
            </a:r>
            <a:r>
              <a:rPr lang="en-US" sz="2800" dirty="0">
                <a:latin typeface="Calibir"/>
              </a:rPr>
              <a:t>(6) for the student ID.</a:t>
            </a:r>
          </a:p>
        </p:txBody>
      </p:sp>
      <p:pic>
        <p:nvPicPr>
          <p:cNvPr id="6" name="Timer">
            <a:hlinkClick r:id="" action="ppaction://media"/>
            <a:extLst>
              <a:ext uri="{FF2B5EF4-FFF2-40B4-BE49-F238E27FC236}">
                <a16:creationId xmlns:a16="http://schemas.microsoft.com/office/drawing/2014/main" id="{606FD39E-5BD4-067B-6EB9-74F602A394B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6428736" y="2226466"/>
            <a:ext cx="2300750" cy="1076632"/>
          </a:xfrm>
          <a:prstGeom prst="rect">
            <a:avLst/>
          </a:prstGeom>
          <a:ln w="38100">
            <a:solidFill>
              <a:srgbClr val="FF0000"/>
            </a:solidFill>
          </a:ln>
        </p:spPr>
      </p:pic>
      <p:sp>
        <p:nvSpPr>
          <p:cNvPr id="3" name="Title 1">
            <a:extLst>
              <a:ext uri="{FF2B5EF4-FFF2-40B4-BE49-F238E27FC236}">
                <a16:creationId xmlns:a16="http://schemas.microsoft.com/office/drawing/2014/main" id="{7D3EE15A-DD02-654F-AC4B-8B5E43CCF658}"/>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326400137"/>
      </p:ext>
    </p:extLst>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B785-6B41-321F-8251-767F45BF3F4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0150E7F-8EEF-BA55-1D9E-E2C646D20FCE}"/>
              </a:ext>
            </a:extLst>
          </p:cNvPr>
          <p:cNvPicPr>
            <a:picLocks noChangeAspect="1"/>
          </p:cNvPicPr>
          <p:nvPr/>
        </p:nvPicPr>
        <p:blipFill>
          <a:blip r:embed="rId2"/>
          <a:srcRect l="8226" t="11188" r="8065" b="18495"/>
          <a:stretch>
            <a:fillRect/>
          </a:stretch>
        </p:blipFill>
        <p:spPr>
          <a:xfrm>
            <a:off x="0" y="680225"/>
            <a:ext cx="12192000" cy="5760844"/>
          </a:xfrm>
          <a:prstGeom prst="rect">
            <a:avLst/>
          </a:prstGeom>
        </p:spPr>
      </p:pic>
      <p:sp>
        <p:nvSpPr>
          <p:cNvPr id="5" name="Title 1">
            <a:extLst>
              <a:ext uri="{FF2B5EF4-FFF2-40B4-BE49-F238E27FC236}">
                <a16:creationId xmlns:a16="http://schemas.microsoft.com/office/drawing/2014/main" id="{EAC0A380-7E8E-0F65-C4E9-0423BC0F3006}"/>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7461884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7232E-93B2-4DE0-26D4-99AEF1F95CC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FD21DCC1-CDDB-5758-7DF2-A1CC75DAC53F}"/>
              </a:ext>
            </a:extLst>
          </p:cNvPr>
          <p:cNvPicPr>
            <a:picLocks noChangeAspect="1"/>
          </p:cNvPicPr>
          <p:nvPr/>
        </p:nvPicPr>
        <p:blipFill>
          <a:blip r:embed="rId2"/>
          <a:srcRect l="8226" t="11188" r="8065" b="18495"/>
          <a:stretch>
            <a:fillRect/>
          </a:stretch>
        </p:blipFill>
        <p:spPr>
          <a:xfrm>
            <a:off x="0" y="767255"/>
            <a:ext cx="12192000" cy="5760844"/>
          </a:xfrm>
          <a:prstGeom prst="rect">
            <a:avLst/>
          </a:prstGeom>
        </p:spPr>
      </p:pic>
      <p:sp>
        <p:nvSpPr>
          <p:cNvPr id="10" name="TextBox 9">
            <a:extLst>
              <a:ext uri="{FF2B5EF4-FFF2-40B4-BE49-F238E27FC236}">
                <a16:creationId xmlns:a16="http://schemas.microsoft.com/office/drawing/2014/main" id="{6BE2C579-DD2B-2976-D047-3DC4085AB51D}"/>
              </a:ext>
            </a:extLst>
          </p:cNvPr>
          <p:cNvSpPr txBox="1"/>
          <p:nvPr/>
        </p:nvSpPr>
        <p:spPr>
          <a:xfrm>
            <a:off x="4321277" y="4529054"/>
            <a:ext cx="7870723" cy="954107"/>
          </a:xfrm>
          <a:prstGeom prst="rect">
            <a:avLst/>
          </a:prstGeom>
          <a:solidFill>
            <a:schemeClr val="tx1"/>
          </a:solidFill>
          <a:ln w="38100">
            <a:solidFill>
              <a:srgbClr val="FF0000"/>
            </a:solidFill>
          </a:ln>
        </p:spPr>
        <p:txBody>
          <a:bodyPr wrap="square">
            <a:spAutoFit/>
          </a:bodyPr>
          <a:lstStyle/>
          <a:p>
            <a:r>
              <a:rPr lang="en-US" sz="2800" b="0" i="0" dirty="0">
                <a:solidFill>
                  <a:srgbClr val="CCCCCC"/>
                </a:solidFill>
                <a:effectLst/>
                <a:latin typeface="Consolas" panose="020B0609020204030204" pitchFamily="49" charset="0"/>
              </a:rPr>
              <a:t>Student 256788 → Subject 229: mark 60, grade P (PASS)</a:t>
            </a:r>
            <a:endParaRPr lang="en-US" sz="2800" dirty="0"/>
          </a:p>
        </p:txBody>
      </p:sp>
      <p:sp>
        <p:nvSpPr>
          <p:cNvPr id="4" name="Title 1">
            <a:extLst>
              <a:ext uri="{FF2B5EF4-FFF2-40B4-BE49-F238E27FC236}">
                <a16:creationId xmlns:a16="http://schemas.microsoft.com/office/drawing/2014/main" id="{57A6B440-CA15-BF3E-3BDF-7539A8DBCB77}"/>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2879547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BAF17-4BE6-44DA-7E53-495A484DB08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FE8980F-11DF-0BC6-1538-CE1A5603DCBC}"/>
              </a:ext>
            </a:extLst>
          </p:cNvPr>
          <p:cNvSpPr>
            <a:spLocks noGrp="1"/>
          </p:cNvSpPr>
          <p:nvPr>
            <p:ph type="title"/>
          </p:nvPr>
        </p:nvSpPr>
        <p:spPr>
          <a:xfrm>
            <a:off x="0" y="585590"/>
            <a:ext cx="12192000" cy="557561"/>
          </a:xfrm>
        </p:spPr>
        <p:txBody>
          <a:bodyPr anchor="b">
            <a:normAutofit/>
          </a:bodyPr>
          <a:lstStyle/>
          <a:p>
            <a:r>
              <a:rPr lang="en-US" sz="2800" b="1" dirty="0">
                <a:latin typeface="Calibir"/>
              </a:rPr>
              <a:t>Grade Classification Based on University Rules</a:t>
            </a:r>
            <a:endParaRPr lang="en-AU" sz="2800" b="1" dirty="0">
              <a:latin typeface="Calibir"/>
            </a:endParaRPr>
          </a:p>
        </p:txBody>
      </p:sp>
      <p:sp>
        <p:nvSpPr>
          <p:cNvPr id="9" name="TextBox 8">
            <a:extLst>
              <a:ext uri="{FF2B5EF4-FFF2-40B4-BE49-F238E27FC236}">
                <a16:creationId xmlns:a16="http://schemas.microsoft.com/office/drawing/2014/main" id="{C54E2F65-1097-5C3F-0D8F-37768829834D}"/>
              </a:ext>
            </a:extLst>
          </p:cNvPr>
          <p:cNvSpPr txBox="1"/>
          <p:nvPr/>
        </p:nvSpPr>
        <p:spPr>
          <a:xfrm>
            <a:off x="0" y="1143151"/>
            <a:ext cx="12021014" cy="5196166"/>
          </a:xfrm>
          <a:prstGeom prst="rect">
            <a:avLst/>
          </a:prstGeom>
          <a:noFill/>
        </p:spPr>
        <p:txBody>
          <a:bodyPr wrap="square">
            <a:spAutoFit/>
          </a:bodyPr>
          <a:lstStyle/>
          <a:p>
            <a:pPr marL="457200" indent="-457200">
              <a:lnSpc>
                <a:spcPct val="150000"/>
              </a:lnSpc>
              <a:buFont typeface="+mj-lt"/>
              <a:buAutoNum type="arabicPeriod"/>
            </a:pPr>
            <a:r>
              <a:rPr lang="en-US" sz="2800" dirty="0">
                <a:latin typeface="Calibir"/>
              </a:rPr>
              <a:t>Write a function grade(mark: int) -&gt; str that returns the grade according to UTS rules.</a:t>
            </a:r>
          </a:p>
          <a:p>
            <a:pPr marL="457200" indent="-457200">
              <a:lnSpc>
                <a:spcPct val="150000"/>
              </a:lnSpc>
              <a:buFont typeface="+mj-lt"/>
              <a:buAutoNum type="arabicPeriod"/>
            </a:pPr>
            <a:r>
              <a:rPr lang="en-US" sz="2800" dirty="0">
                <a:latin typeface="Calibir"/>
              </a:rPr>
              <a:t>Use if–else conditions (or chained expressions).</a:t>
            </a:r>
          </a:p>
          <a:p>
            <a:pPr marL="457200" indent="-457200">
              <a:lnSpc>
                <a:spcPct val="150000"/>
              </a:lnSpc>
              <a:buFont typeface="+mj-lt"/>
              <a:buAutoNum type="arabicPeriod"/>
            </a:pPr>
            <a:r>
              <a:rPr lang="en-US" sz="2800" dirty="0">
                <a:latin typeface="Calibir"/>
              </a:rPr>
              <a:t>Test your function with example marks [42, 58, 70, 82, 95].</a:t>
            </a:r>
          </a:p>
          <a:p>
            <a:pPr marL="457200" indent="-457200">
              <a:lnSpc>
                <a:spcPct val="150000"/>
              </a:lnSpc>
              <a:buFont typeface="+mj-lt"/>
              <a:buAutoNum type="arabicPeriod"/>
            </a:pPr>
            <a:r>
              <a:rPr lang="en-US" sz="2800" dirty="0">
                <a:latin typeface="Calibir"/>
              </a:rPr>
              <a:t>Print each mark alongside its grade.</a:t>
            </a:r>
          </a:p>
          <a:p>
            <a:pPr>
              <a:lnSpc>
                <a:spcPct val="150000"/>
              </a:lnSpc>
              <a:buNone/>
            </a:pPr>
            <a:r>
              <a:rPr lang="en-US" sz="2800" dirty="0">
                <a:latin typeface="Calibir"/>
              </a:rPr>
              <a:t>You’ve basically turned the earlier </a:t>
            </a:r>
            <a:r>
              <a:rPr lang="en-US" sz="2800" dirty="0" err="1">
                <a:latin typeface="Calibir"/>
              </a:rPr>
              <a:t>randomised</a:t>
            </a:r>
            <a:r>
              <a:rPr lang="en-US" sz="2800" dirty="0">
                <a:latin typeface="Calibir"/>
              </a:rPr>
              <a:t> activity into a deterministic grading demo — perfect for classroom explanation before students move to random generation.</a:t>
            </a:r>
          </a:p>
        </p:txBody>
      </p:sp>
      <p:pic>
        <p:nvPicPr>
          <p:cNvPr id="10" name="Timer">
            <a:hlinkClick r:id="" action="ppaction://media"/>
            <a:extLst>
              <a:ext uri="{FF2B5EF4-FFF2-40B4-BE49-F238E27FC236}">
                <a16:creationId xmlns:a16="http://schemas.microsoft.com/office/drawing/2014/main" id="{7D7E2DE4-45F3-2355-6727-029F22135757}"/>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32291"/>
            <a:ext cx="2300750" cy="1076632"/>
          </a:xfrm>
          <a:prstGeom prst="rect">
            <a:avLst/>
          </a:prstGeom>
          <a:ln w="38100">
            <a:solidFill>
              <a:srgbClr val="FF0000"/>
            </a:solidFill>
          </a:ln>
        </p:spPr>
      </p:pic>
      <p:sp>
        <p:nvSpPr>
          <p:cNvPr id="2" name="Title 1">
            <a:extLst>
              <a:ext uri="{FF2B5EF4-FFF2-40B4-BE49-F238E27FC236}">
                <a16:creationId xmlns:a16="http://schemas.microsoft.com/office/drawing/2014/main" id="{4EED0E53-4A10-EC62-0037-5BD5EFB55AAF}"/>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2037480726"/>
      </p:ext>
    </p:extLst>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1392-8C03-A9F6-0537-562820D5D9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1F1BD05-E900-DB68-2FBA-CF950FD9959C}"/>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5FF0D093-1C6E-7166-046E-9DCB66E8C2CD}"/>
              </a:ext>
            </a:extLst>
          </p:cNvPr>
          <p:cNvSpPr>
            <a:spLocks noChangeArrowheads="1"/>
          </p:cNvSpPr>
          <p:nvPr/>
        </p:nvSpPr>
        <p:spPr bwMode="auto">
          <a:xfrm>
            <a:off x="7393259" y="1218279"/>
            <a:ext cx="4616604"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mark: int -&gt; str are type hints: input is an integer, output is a string.</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The big return uses a chain of checks from lowest to highest.</a:t>
            </a:r>
          </a:p>
        </p:txBody>
      </p:sp>
      <p:sp>
        <p:nvSpPr>
          <p:cNvPr id="4" name="Title 1">
            <a:extLst>
              <a:ext uri="{FF2B5EF4-FFF2-40B4-BE49-F238E27FC236}">
                <a16:creationId xmlns:a16="http://schemas.microsoft.com/office/drawing/2014/main" id="{25B7EBE3-6C1F-25DD-BAD1-D3427DC4AC75}"/>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17831633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191E-03CC-1104-849C-B8859AEA9F4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5E500FA-7DEC-B4EF-798F-1CC310B0A616}"/>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A26851B0-BFEF-3CD6-402F-01B008882B95}"/>
              </a:ext>
            </a:extLst>
          </p:cNvPr>
          <p:cNvSpPr>
            <a:spLocks noChangeArrowheads="1"/>
          </p:cNvSpPr>
          <p:nvPr/>
        </p:nvSpPr>
        <p:spPr bwMode="auto">
          <a:xfrm>
            <a:off x="7393259" y="173789"/>
            <a:ext cx="4798741" cy="638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Python evaluates them in order:</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If mark &lt; 50, stop and return 'Z'.</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65, return 'P'.</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75, return 'C'.</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if mark &lt; 85, return 'D'.</a:t>
            </a:r>
          </a:p>
          <a:p>
            <a:pPr marL="514350" lvl="0" indent="-514350" eaLnBrk="0" fontAlgn="base" hangingPunct="0">
              <a:lnSpc>
                <a:spcPct val="150000"/>
              </a:lnSpc>
              <a:spcBef>
                <a:spcPct val="0"/>
              </a:spcBef>
              <a:spcAft>
                <a:spcPct val="0"/>
              </a:spcAft>
              <a:buFont typeface="+mj-lt"/>
              <a:buAutoNum type="arabicPeriod"/>
            </a:pPr>
            <a:r>
              <a:rPr lang="en-US" altLang="en-US" sz="2500" dirty="0">
                <a:latin typeface="Calibir"/>
              </a:rPr>
              <a:t>Otherwise (so mark ≥ 85), return 'HD'.</a:t>
            </a:r>
          </a:p>
        </p:txBody>
      </p:sp>
      <p:sp>
        <p:nvSpPr>
          <p:cNvPr id="4" name="Title 1">
            <a:extLst>
              <a:ext uri="{FF2B5EF4-FFF2-40B4-BE49-F238E27FC236}">
                <a16:creationId xmlns:a16="http://schemas.microsoft.com/office/drawing/2014/main" id="{441BA534-22AE-DF3B-7975-EE5A3FDA893C}"/>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5822395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07F30-6C04-A002-4136-BC0BE5146C9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B2B0F85-1E27-5D87-6CDD-6E8D72FC8574}"/>
              </a:ext>
            </a:extLst>
          </p:cNvPr>
          <p:cNvPicPr>
            <a:picLocks noChangeAspect="1"/>
          </p:cNvPicPr>
          <p:nvPr/>
        </p:nvPicPr>
        <p:blipFill>
          <a:blip r:embed="rId2"/>
          <a:srcRect l="6494" t="23171" r="76930" b="30388"/>
          <a:stretch>
            <a:fillRect/>
          </a:stretch>
        </p:blipFill>
        <p:spPr>
          <a:xfrm>
            <a:off x="0" y="858643"/>
            <a:ext cx="7393259" cy="5825568"/>
          </a:xfrm>
          <a:prstGeom prst="rect">
            <a:avLst/>
          </a:prstGeom>
        </p:spPr>
      </p:pic>
      <p:sp>
        <p:nvSpPr>
          <p:cNvPr id="11" name="Rectangle 1">
            <a:extLst>
              <a:ext uri="{FF2B5EF4-FFF2-40B4-BE49-F238E27FC236}">
                <a16:creationId xmlns:a16="http://schemas.microsoft.com/office/drawing/2014/main" id="{C8D5C90E-1F59-F0F0-1BB0-F7B4CB376ABB}"/>
              </a:ext>
            </a:extLst>
          </p:cNvPr>
          <p:cNvSpPr>
            <a:spLocks noChangeArrowheads="1"/>
          </p:cNvSpPr>
          <p:nvPr/>
        </p:nvSpPr>
        <p:spPr bwMode="auto">
          <a:xfrm>
            <a:off x="7393259" y="1735500"/>
            <a:ext cx="4798741"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Boundaries (exact edges)</a:t>
            </a:r>
          </a:p>
          <a:p>
            <a:pPr marL="914400" lvl="1" indent="-457200">
              <a:lnSpc>
                <a:spcPct val="150000"/>
              </a:lnSpc>
              <a:buFont typeface="Arial" panose="020B0604020202020204" pitchFamily="34" charset="0"/>
              <a:buChar char="•"/>
            </a:pPr>
            <a:r>
              <a:rPr lang="en-US" sz="2800" dirty="0">
                <a:latin typeface="Calibir"/>
              </a:rPr>
              <a:t>50 → P (not Z)</a:t>
            </a:r>
          </a:p>
          <a:p>
            <a:pPr marL="914400" lvl="1" indent="-457200">
              <a:lnSpc>
                <a:spcPct val="150000"/>
              </a:lnSpc>
              <a:buFont typeface="Arial" panose="020B0604020202020204" pitchFamily="34" charset="0"/>
              <a:buChar char="•"/>
            </a:pPr>
            <a:r>
              <a:rPr lang="en-US" sz="2800" dirty="0">
                <a:latin typeface="Calibir"/>
              </a:rPr>
              <a:t>65 → C</a:t>
            </a:r>
          </a:p>
          <a:p>
            <a:pPr marL="914400" lvl="1" indent="-457200">
              <a:lnSpc>
                <a:spcPct val="150000"/>
              </a:lnSpc>
              <a:buFont typeface="Arial" panose="020B0604020202020204" pitchFamily="34" charset="0"/>
              <a:buChar char="•"/>
            </a:pPr>
            <a:r>
              <a:rPr lang="en-US" sz="2800" dirty="0">
                <a:latin typeface="Calibir"/>
              </a:rPr>
              <a:t>75 → D</a:t>
            </a:r>
          </a:p>
          <a:p>
            <a:pPr marL="914400" lvl="1" indent="-457200">
              <a:lnSpc>
                <a:spcPct val="150000"/>
              </a:lnSpc>
              <a:buFont typeface="Arial" panose="020B0604020202020204" pitchFamily="34" charset="0"/>
              <a:buChar char="•"/>
            </a:pPr>
            <a:r>
              <a:rPr lang="en-US" sz="2800" dirty="0">
                <a:latin typeface="Calibir"/>
              </a:rPr>
              <a:t>85 → HD</a:t>
            </a:r>
          </a:p>
        </p:txBody>
      </p:sp>
      <p:sp>
        <p:nvSpPr>
          <p:cNvPr id="4" name="Title 1">
            <a:extLst>
              <a:ext uri="{FF2B5EF4-FFF2-40B4-BE49-F238E27FC236}">
                <a16:creationId xmlns:a16="http://schemas.microsoft.com/office/drawing/2014/main" id="{DCDC3F70-A762-C81E-1CAF-3A37BEF892A1}"/>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3347480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5AAD-3FC8-6C3C-2478-67F26A9EFDC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08A8AA2-268A-8943-1EBF-8B298079C096}"/>
              </a:ext>
            </a:extLst>
          </p:cNvPr>
          <p:cNvPicPr>
            <a:picLocks noChangeAspect="1"/>
          </p:cNvPicPr>
          <p:nvPr/>
        </p:nvPicPr>
        <p:blipFill>
          <a:blip r:embed="rId2"/>
          <a:srcRect l="6494" t="23171" r="66171" b="30388"/>
          <a:stretch>
            <a:fillRect/>
          </a:stretch>
        </p:blipFill>
        <p:spPr>
          <a:xfrm>
            <a:off x="0" y="858643"/>
            <a:ext cx="12192000" cy="5825568"/>
          </a:xfrm>
          <a:prstGeom prst="rect">
            <a:avLst/>
          </a:prstGeom>
        </p:spPr>
      </p:pic>
      <p:sp>
        <p:nvSpPr>
          <p:cNvPr id="3" name="TextBox 2">
            <a:extLst>
              <a:ext uri="{FF2B5EF4-FFF2-40B4-BE49-F238E27FC236}">
                <a16:creationId xmlns:a16="http://schemas.microsoft.com/office/drawing/2014/main" id="{D68416E2-49B4-7266-6F67-49449DB2B90D}"/>
              </a:ext>
            </a:extLst>
          </p:cNvPr>
          <p:cNvSpPr txBox="1"/>
          <p:nvPr/>
        </p:nvSpPr>
        <p:spPr>
          <a:xfrm>
            <a:off x="6012426" y="5521834"/>
            <a:ext cx="6179574" cy="1318181"/>
          </a:xfrm>
          <a:prstGeom prst="rect">
            <a:avLst/>
          </a:prstGeom>
          <a:solidFill>
            <a:schemeClr val="bg1"/>
          </a:solidFill>
          <a:ln w="38100">
            <a:solidFill>
              <a:srgbClr val="FF0000"/>
            </a:solidFill>
          </a:ln>
        </p:spPr>
        <p:txBody>
          <a:bodyPr wrap="square">
            <a:spAutoFit/>
          </a:bodyPr>
          <a:lstStyle/>
          <a:p>
            <a:pPr>
              <a:lnSpc>
                <a:spcPct val="150000"/>
              </a:lnSpc>
            </a:pPr>
            <a:r>
              <a:rPr lang="en-US" sz="2800" dirty="0">
                <a:latin typeface="Calibir"/>
              </a:rPr>
              <a:t>That’s all—it’s just a top-to-bottom check that stops at the first band that fits.</a:t>
            </a:r>
          </a:p>
        </p:txBody>
      </p:sp>
      <p:sp>
        <p:nvSpPr>
          <p:cNvPr id="5" name="Title 1">
            <a:extLst>
              <a:ext uri="{FF2B5EF4-FFF2-40B4-BE49-F238E27FC236}">
                <a16:creationId xmlns:a16="http://schemas.microsoft.com/office/drawing/2014/main" id="{0DDA1ADC-B12A-A65F-6379-7108AA46CEF6}"/>
              </a:ext>
            </a:extLst>
          </p:cNvPr>
          <p:cNvSpPr txBox="1">
            <a:spLocks/>
          </p:cNvSpPr>
          <p:nvPr/>
        </p:nvSpPr>
        <p:spPr>
          <a:xfrm>
            <a:off x="0" y="1"/>
            <a:ext cx="9719188" cy="47845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300" b="1" dirty="0">
                <a:latin typeface="Calibir"/>
              </a:rPr>
              <a:t>Mini Coding Nudges (Email/Password, Marks, Pass/Fail etc.)</a:t>
            </a:r>
            <a:endParaRPr lang="en-AU" sz="3300" b="1" dirty="0">
              <a:latin typeface="Calibir"/>
            </a:endParaRPr>
          </a:p>
        </p:txBody>
      </p:sp>
    </p:spTree>
    <p:extLst>
      <p:ext uri="{BB962C8B-B14F-4D97-AF65-F5344CB8AC3E}">
        <p14:creationId xmlns:p14="http://schemas.microsoft.com/office/powerpoint/2010/main" val="32415138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A188-5B14-DEF5-4D30-B150D73DB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6C6B1-BECF-FCE8-5EC7-705495936B1F}"/>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8E2FBC33-E30E-BA12-DC28-3631A47896F5}"/>
              </a:ext>
            </a:extLst>
          </p:cNvPr>
          <p:cNvSpPr>
            <a:spLocks noChangeArrowheads="1"/>
          </p:cNvSpPr>
          <p:nvPr/>
        </p:nvSpPr>
        <p:spPr bwMode="auto">
          <a:xfrm>
            <a:off x="0" y="1420939"/>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Python CLI structure (suggestion):</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models/Student.py, Subject.py</a:t>
            </a:r>
          </a:p>
          <a:p>
            <a:pPr marL="914400" lvl="1" indent="-457200">
              <a:lnSpc>
                <a:spcPct val="150000"/>
              </a:lnSpc>
              <a:buFont typeface="Arial" panose="020B0604020202020204" pitchFamily="34" charset="0"/>
              <a:buChar char="•"/>
            </a:pPr>
            <a:r>
              <a:rPr lang="en-US" sz="2800" dirty="0">
                <a:latin typeface="Calibir"/>
              </a:rPr>
              <a:t>services/auth.py, id_gen.py, grade.py, store.py</a:t>
            </a:r>
          </a:p>
          <a:p>
            <a:pPr marL="914400" lvl="1" indent="-457200">
              <a:lnSpc>
                <a:spcPct val="150000"/>
              </a:lnSpc>
              <a:buFont typeface="Arial" panose="020B0604020202020204" pitchFamily="34" charset="0"/>
              <a:buChar char="•"/>
            </a:pPr>
            <a:r>
              <a:rPr lang="en-US" sz="2800" dirty="0">
                <a:latin typeface="Calibir"/>
              </a:rPr>
              <a:t>cli/university_menu.py, student_menu.py, admin_menu.py</a:t>
            </a:r>
          </a:p>
          <a:p>
            <a:pPr marL="914400" lvl="1" indent="-457200">
              <a:lnSpc>
                <a:spcPct val="150000"/>
              </a:lnSpc>
              <a:buFont typeface="Arial" panose="020B0604020202020204" pitchFamily="34" charset="0"/>
              <a:buChar char="•"/>
            </a:pPr>
            <a:r>
              <a:rPr lang="en-US" sz="2800" dirty="0">
                <a:latin typeface="Calibir"/>
              </a:rPr>
              <a:t>Data file: </a:t>
            </a:r>
            <a:r>
              <a:rPr lang="en-US" sz="2800" dirty="0" err="1">
                <a:latin typeface="Calibir"/>
              </a:rPr>
              <a:t>students.data</a:t>
            </a:r>
            <a:r>
              <a:rPr lang="en-US" sz="2800" dirty="0">
                <a:latin typeface="Calibir"/>
              </a:rPr>
              <a:t> (JSONL).</a:t>
            </a:r>
          </a:p>
          <a:p>
            <a:pPr marL="914400" lvl="1" indent="-457200">
              <a:lnSpc>
                <a:spcPct val="150000"/>
              </a:lnSpc>
              <a:buFont typeface="Arial" panose="020B0604020202020204" pitchFamily="34" charset="0"/>
              <a:buChar char="•"/>
            </a:pPr>
            <a:r>
              <a:rPr lang="en-US" sz="2800" dirty="0">
                <a:latin typeface="Calibir"/>
              </a:rPr>
              <a:t>Keep regex as constants; wrap file I/O with try/except; always re-write the file after CRUD.</a:t>
            </a:r>
          </a:p>
        </p:txBody>
      </p:sp>
    </p:spTree>
    <p:extLst>
      <p:ext uri="{BB962C8B-B14F-4D97-AF65-F5344CB8AC3E}">
        <p14:creationId xmlns:p14="http://schemas.microsoft.com/office/powerpoint/2010/main" val="4947485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B3914-DFB1-7330-AA0D-02A4C6B8E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0CB54-B773-E0CE-14D7-9BB7ADE08829}"/>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B71F7D84-DBF4-B942-A278-8BEFF43A29F3}"/>
              </a:ext>
            </a:extLst>
          </p:cNvPr>
          <p:cNvSpPr>
            <a:spLocks noChangeArrowheads="1"/>
          </p:cNvSpPr>
          <p:nvPr/>
        </p:nvSpPr>
        <p:spPr bwMode="auto">
          <a:xfrm>
            <a:off x="0" y="2390436"/>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JavaFX (optional challenge later):</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MVC folders: model/, controller/, view/ (FXML).</a:t>
            </a:r>
          </a:p>
          <a:p>
            <a:pPr marL="914400" lvl="1" indent="-457200">
              <a:lnSpc>
                <a:spcPct val="150000"/>
              </a:lnSpc>
              <a:buFont typeface="Arial" panose="020B0604020202020204" pitchFamily="34" charset="0"/>
              <a:buChar char="•"/>
            </a:pPr>
            <a:r>
              <a:rPr lang="en-US" sz="2800" dirty="0">
                <a:latin typeface="Calibir"/>
              </a:rPr>
              <a:t>Start with login window → enrolment window.</a:t>
            </a:r>
          </a:p>
          <a:p>
            <a:pPr marL="914400" lvl="1" indent="-457200">
              <a:lnSpc>
                <a:spcPct val="150000"/>
              </a:lnSpc>
              <a:buFont typeface="Arial" panose="020B0604020202020204" pitchFamily="34" charset="0"/>
              <a:buChar char="•"/>
            </a:pPr>
            <a:r>
              <a:rPr lang="en-US" sz="2800" dirty="0">
                <a:latin typeface="Calibir"/>
              </a:rPr>
              <a:t>Read registered students from </a:t>
            </a:r>
            <a:r>
              <a:rPr lang="en-US" sz="2800" dirty="0" err="1">
                <a:latin typeface="Calibir"/>
              </a:rPr>
              <a:t>students.data</a:t>
            </a:r>
            <a:r>
              <a:rPr lang="en-US" sz="2800" dirty="0">
                <a:latin typeface="Calibir"/>
              </a:rPr>
              <a:t>.</a:t>
            </a:r>
          </a:p>
        </p:txBody>
      </p:sp>
    </p:spTree>
    <p:extLst>
      <p:ext uri="{BB962C8B-B14F-4D97-AF65-F5344CB8AC3E}">
        <p14:creationId xmlns:p14="http://schemas.microsoft.com/office/powerpoint/2010/main" val="38907648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1B6E0-D345-A311-4B34-F88736AC4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0CAAF1-F83B-6092-2219-929CE7742800}"/>
              </a:ext>
            </a:extLst>
          </p:cNvPr>
          <p:cNvSpPr>
            <a:spLocks noGrp="1"/>
          </p:cNvSpPr>
          <p:nvPr>
            <p:ph type="title"/>
          </p:nvPr>
        </p:nvSpPr>
        <p:spPr>
          <a:xfrm>
            <a:off x="0" y="0"/>
            <a:ext cx="12192000" cy="1051034"/>
          </a:xfrm>
        </p:spPr>
        <p:txBody>
          <a:bodyPr anchor="b">
            <a:normAutofit/>
          </a:bodyPr>
          <a:lstStyle/>
          <a:p>
            <a:r>
              <a:rPr lang="en-US" sz="3300" b="1" dirty="0">
                <a:latin typeface="Calibir"/>
              </a:rPr>
              <a:t>Group Assignment – Part 2: Build hints (Python-first, JavaFX minority)</a:t>
            </a:r>
            <a:endParaRPr lang="en-AU" sz="3300" b="1" dirty="0">
              <a:latin typeface="Calibir"/>
            </a:endParaRPr>
          </a:p>
        </p:txBody>
      </p:sp>
      <p:sp>
        <p:nvSpPr>
          <p:cNvPr id="3" name="Rectangle 1">
            <a:extLst>
              <a:ext uri="{FF2B5EF4-FFF2-40B4-BE49-F238E27FC236}">
                <a16:creationId xmlns:a16="http://schemas.microsoft.com/office/drawing/2014/main" id="{D8622D64-C2E7-AE96-9FFA-72EF3F66BA37}"/>
              </a:ext>
            </a:extLst>
          </p:cNvPr>
          <p:cNvSpPr>
            <a:spLocks noChangeArrowheads="1"/>
          </p:cNvSpPr>
          <p:nvPr/>
        </p:nvSpPr>
        <p:spPr bwMode="auto">
          <a:xfrm>
            <a:off x="0" y="1744106"/>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Coding do/avoid:</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Do unit-size functions (e.g., </a:t>
            </a:r>
            <a:r>
              <a:rPr lang="en-US" sz="2800" dirty="0" err="1">
                <a:latin typeface="Calibir"/>
              </a:rPr>
              <a:t>assign_mark_and_grade</a:t>
            </a:r>
            <a:r>
              <a:rPr lang="en-US" sz="2800" dirty="0">
                <a:latin typeface="Calibir"/>
              </a:rPr>
              <a:t>()), no giant methods.</a:t>
            </a:r>
          </a:p>
          <a:p>
            <a:pPr marL="914400" lvl="1" indent="-457200">
              <a:lnSpc>
                <a:spcPct val="150000"/>
              </a:lnSpc>
              <a:buFont typeface="Arial" panose="020B0604020202020204" pitchFamily="34" charset="0"/>
              <a:buChar char="•"/>
            </a:pPr>
            <a:r>
              <a:rPr lang="en-US" sz="2800" dirty="0">
                <a:latin typeface="Calibir"/>
              </a:rPr>
              <a:t>Do input validation; mirror sample I/O wording.</a:t>
            </a:r>
          </a:p>
          <a:p>
            <a:pPr marL="914400" lvl="1" indent="-457200">
              <a:lnSpc>
                <a:spcPct val="150000"/>
              </a:lnSpc>
              <a:buFont typeface="Arial" panose="020B0604020202020204" pitchFamily="34" charset="0"/>
              <a:buChar char="•"/>
            </a:pPr>
            <a:r>
              <a:rPr lang="en-US" sz="2800" dirty="0">
                <a:latin typeface="Calibir"/>
              </a:rPr>
              <a:t>Avoid plaintext passwords in examples (hash in design; for Part 2, at minimum note hashing TODO).</a:t>
            </a:r>
          </a:p>
          <a:p>
            <a:pPr marL="914400" lvl="1" indent="-457200">
              <a:lnSpc>
                <a:spcPct val="150000"/>
              </a:lnSpc>
              <a:buFont typeface="Arial" panose="020B0604020202020204" pitchFamily="34" charset="0"/>
              <a:buChar char="•"/>
            </a:pPr>
            <a:r>
              <a:rPr lang="en-US" sz="2800" dirty="0">
                <a:latin typeface="Calibir"/>
              </a:rPr>
              <a:t>Avoid mixing model and menu logic; keep menus thin.</a:t>
            </a:r>
          </a:p>
        </p:txBody>
      </p:sp>
    </p:spTree>
    <p:extLst>
      <p:ext uri="{BB962C8B-B14F-4D97-AF65-F5344CB8AC3E}">
        <p14:creationId xmlns:p14="http://schemas.microsoft.com/office/powerpoint/2010/main" val="25506061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2624-4228-858F-B9E8-7D8C334A5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7764C-CD11-2A9D-8F44-8CF5A33819E4}"/>
              </a:ext>
            </a:extLst>
          </p:cNvPr>
          <p:cNvSpPr>
            <a:spLocks noGrp="1"/>
          </p:cNvSpPr>
          <p:nvPr>
            <p:ph type="title"/>
          </p:nvPr>
        </p:nvSpPr>
        <p:spPr>
          <a:xfrm>
            <a:off x="0" y="0"/>
            <a:ext cx="12192000" cy="651641"/>
          </a:xfrm>
        </p:spPr>
        <p:txBody>
          <a:bodyPr anchor="b">
            <a:normAutofit/>
          </a:bodyPr>
          <a:lstStyle/>
          <a:p>
            <a:r>
              <a:rPr lang="en-US" sz="3300" b="1" dirty="0">
                <a:latin typeface="Calibir"/>
              </a:rPr>
              <a:t>Group Assignment – Part 3: Showcase tips</a:t>
            </a:r>
            <a:endParaRPr lang="en-AU" sz="3300" b="1" dirty="0">
              <a:latin typeface="Calibir"/>
            </a:endParaRPr>
          </a:p>
        </p:txBody>
      </p:sp>
      <p:sp>
        <p:nvSpPr>
          <p:cNvPr id="3" name="Rectangle 1">
            <a:extLst>
              <a:ext uri="{FF2B5EF4-FFF2-40B4-BE49-F238E27FC236}">
                <a16:creationId xmlns:a16="http://schemas.microsoft.com/office/drawing/2014/main" id="{D399C664-60C1-3319-A4A0-6081EC566515}"/>
              </a:ext>
            </a:extLst>
          </p:cNvPr>
          <p:cNvSpPr>
            <a:spLocks noChangeArrowheads="1"/>
          </p:cNvSpPr>
          <p:nvPr/>
        </p:nvSpPr>
        <p:spPr bwMode="auto">
          <a:xfrm>
            <a:off x="0" y="1097775"/>
            <a:ext cx="121920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Plan a 5–7 min script:</a:t>
            </a:r>
          </a:p>
          <a:p>
            <a:pPr marL="971550" lvl="1" indent="-514350">
              <a:lnSpc>
                <a:spcPct val="150000"/>
              </a:lnSpc>
              <a:buFont typeface="+mj-lt"/>
              <a:buAutoNum type="arabicPeriod"/>
            </a:pPr>
            <a:r>
              <a:rPr lang="en-US" sz="2800" dirty="0">
                <a:latin typeface="Calibir"/>
              </a:rPr>
              <a:t>Open app → show University → Student/Admin navigation.</a:t>
            </a:r>
          </a:p>
          <a:p>
            <a:pPr marL="971550" lvl="1" indent="-514350">
              <a:lnSpc>
                <a:spcPct val="150000"/>
              </a:lnSpc>
              <a:buFont typeface="+mj-lt"/>
              <a:buAutoNum type="arabicPeriod"/>
            </a:pPr>
            <a:r>
              <a:rPr lang="en-US" sz="2800" dirty="0">
                <a:latin typeface="Calibir"/>
              </a:rPr>
              <a:t>Student flow: register/login → </a:t>
            </a:r>
            <a:r>
              <a:rPr lang="en-US" sz="2800" dirty="0" err="1">
                <a:latin typeface="Calibir"/>
              </a:rPr>
              <a:t>enrol</a:t>
            </a:r>
            <a:r>
              <a:rPr lang="en-US" sz="2800" dirty="0">
                <a:latin typeface="Calibir"/>
              </a:rPr>
              <a:t> (cap at 4) → show → remove → change password.</a:t>
            </a:r>
          </a:p>
          <a:p>
            <a:pPr marL="971550" lvl="1" indent="-514350">
              <a:lnSpc>
                <a:spcPct val="150000"/>
              </a:lnSpc>
              <a:buFont typeface="+mj-lt"/>
              <a:buAutoNum type="arabicPeriod"/>
            </a:pPr>
            <a:r>
              <a:rPr lang="en-US" sz="2800" dirty="0">
                <a:latin typeface="Calibir"/>
              </a:rPr>
              <a:t>Admin flow: list → group by grade → PASS/FAIL → remove → clear.</a:t>
            </a:r>
          </a:p>
          <a:p>
            <a:pPr marL="971550" lvl="1" indent="-514350">
              <a:lnSpc>
                <a:spcPct val="150000"/>
              </a:lnSpc>
              <a:buFont typeface="+mj-lt"/>
              <a:buAutoNum type="arabicPeriod"/>
            </a:pPr>
            <a:r>
              <a:rPr lang="en-US" sz="2800" dirty="0">
                <a:latin typeface="Calibir"/>
              </a:rPr>
              <a:t>Code walkthrough: each member shows their class/function for ~45–60s (what it does, where it’s called).</a:t>
            </a:r>
            <a:br>
              <a:rPr lang="en-US" sz="2800" dirty="0">
                <a:latin typeface="Calibir"/>
              </a:rPr>
            </a:br>
            <a:r>
              <a:rPr lang="en-US" sz="2800" dirty="0">
                <a:latin typeface="Calibir"/>
              </a:rPr>
              <a:t>Avoid: live debugging on stage; changing scope; reading long code blocks.</a:t>
            </a:r>
          </a:p>
        </p:txBody>
      </p:sp>
    </p:spTree>
    <p:extLst>
      <p:ext uri="{BB962C8B-B14F-4D97-AF65-F5344CB8AC3E}">
        <p14:creationId xmlns:p14="http://schemas.microsoft.com/office/powerpoint/2010/main" val="11087220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6A9D-9039-9642-5CCF-67EA32DF8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F579FD-B7B2-6D6E-2A39-1FB7E494FC55}"/>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C05DAAD9-B5BE-B2CA-19CB-E4F747A7C518}"/>
              </a:ext>
            </a:extLst>
          </p:cNvPr>
          <p:cNvSpPr txBox="1"/>
          <p:nvPr/>
        </p:nvSpPr>
        <p:spPr>
          <a:xfrm>
            <a:off x="0" y="1114097"/>
            <a:ext cx="11939752" cy="4549835"/>
          </a:xfrm>
          <a:prstGeom prst="rect">
            <a:avLst/>
          </a:prstGeom>
          <a:noFill/>
        </p:spPr>
        <p:txBody>
          <a:bodyPr wrap="square">
            <a:spAutoFit/>
          </a:bodyPr>
          <a:lstStyle/>
          <a:p>
            <a:pPr>
              <a:lnSpc>
                <a:spcPct val="150000"/>
              </a:lnSpc>
              <a:buNone/>
            </a:pPr>
            <a:r>
              <a:rPr lang="en-US" sz="2800" b="1" dirty="0">
                <a:latin typeface="Calibir"/>
              </a:rPr>
              <a:t>Mini case</a:t>
            </a:r>
          </a:p>
          <a:p>
            <a:pPr>
              <a:lnSpc>
                <a:spcPct val="150000"/>
              </a:lnSpc>
              <a:buNone/>
            </a:pPr>
            <a:r>
              <a:rPr lang="en-US" sz="2800" dirty="0">
                <a:latin typeface="Calibir"/>
              </a:rPr>
              <a:t>Users create Events (title, date). Users can book Tickets. One user can book many tickets; an event has many tickets → many-to-many via Booking association class (</a:t>
            </a:r>
            <a:r>
              <a:rPr lang="en-US" sz="2800" dirty="0" err="1">
                <a:latin typeface="Calibir"/>
              </a:rPr>
              <a:t>bookingId</a:t>
            </a:r>
            <a:r>
              <a:rPr lang="en-US" sz="2800" dirty="0">
                <a:latin typeface="Calibir"/>
              </a:rPr>
              <a:t>, qty, timestamp). An event may have a parent event (series) → reflexive association. Tickets can be PENDING/CONFIRMED/CANCELLED (simple state).</a:t>
            </a:r>
          </a:p>
          <a:p>
            <a:pPr>
              <a:lnSpc>
                <a:spcPct val="150000"/>
              </a:lnSpc>
              <a:buNone/>
            </a:pPr>
            <a:r>
              <a:rPr lang="en-US" sz="2800" dirty="0">
                <a:latin typeface="Calibir"/>
              </a:rPr>
              <a:t>Think of Candidate Classes, Key Relationships, Sample Backlogs IDs, </a:t>
            </a:r>
          </a:p>
        </p:txBody>
      </p:sp>
      <p:pic>
        <p:nvPicPr>
          <p:cNvPr id="11" name="Timer">
            <a:hlinkClick r:id="" action="ppaction://media"/>
            <a:extLst>
              <a:ext uri="{FF2B5EF4-FFF2-40B4-BE49-F238E27FC236}">
                <a16:creationId xmlns:a16="http://schemas.microsoft.com/office/drawing/2014/main" id="{EF062D43-C47D-2B2E-C45C-C44A1087D169}"/>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63932"/>
            <a:ext cx="2300750" cy="1076632"/>
          </a:xfrm>
          <a:prstGeom prst="rect">
            <a:avLst/>
          </a:prstGeom>
          <a:ln w="38100">
            <a:solidFill>
              <a:srgbClr val="FF0000"/>
            </a:solidFill>
          </a:ln>
        </p:spPr>
      </p:pic>
    </p:spTree>
    <p:extLst>
      <p:ext uri="{BB962C8B-B14F-4D97-AF65-F5344CB8AC3E}">
        <p14:creationId xmlns:p14="http://schemas.microsoft.com/office/powerpoint/2010/main" val="1393456581"/>
      </p:ext>
    </p:extLst>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F6A9D-9039-9642-5CCF-67EA32DF83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0F579FD-B7B2-6D6E-2A39-1FB7E494FC55}"/>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C05DAAD9-B5BE-B2CA-19CB-E4F747A7C518}"/>
              </a:ext>
            </a:extLst>
          </p:cNvPr>
          <p:cNvSpPr txBox="1"/>
          <p:nvPr/>
        </p:nvSpPr>
        <p:spPr>
          <a:xfrm>
            <a:off x="0" y="1114097"/>
            <a:ext cx="11939752" cy="3903504"/>
          </a:xfrm>
          <a:prstGeom prst="rect">
            <a:avLst/>
          </a:prstGeom>
          <a:noFill/>
        </p:spPr>
        <p:txBody>
          <a:bodyPr wrap="square">
            <a:spAutoFit/>
          </a:bodyPr>
          <a:lstStyle/>
          <a:p>
            <a:pPr>
              <a:lnSpc>
                <a:spcPct val="150000"/>
              </a:lnSpc>
            </a:pPr>
            <a:r>
              <a:rPr lang="en-US" sz="2800" b="1" dirty="0">
                <a:latin typeface="Calibir"/>
              </a:rPr>
              <a:t>Candidate classes</a:t>
            </a:r>
          </a:p>
          <a:p>
            <a:pPr marL="914400" lvl="1" indent="-457200">
              <a:lnSpc>
                <a:spcPct val="150000"/>
              </a:lnSpc>
              <a:buFont typeface="Arial" panose="020B0604020202020204" pitchFamily="34" charset="0"/>
              <a:buChar char="•"/>
            </a:pPr>
            <a:r>
              <a:rPr lang="en-US" sz="2800" dirty="0">
                <a:latin typeface="Calibir"/>
              </a:rPr>
              <a:t>User (id, name, email)</a:t>
            </a:r>
          </a:p>
          <a:p>
            <a:pPr marL="914400" lvl="1" indent="-457200">
              <a:lnSpc>
                <a:spcPct val="150000"/>
              </a:lnSpc>
              <a:buFont typeface="Arial" panose="020B0604020202020204" pitchFamily="34" charset="0"/>
              <a:buChar char="•"/>
            </a:pPr>
            <a:r>
              <a:rPr lang="en-US" sz="2800" dirty="0">
                <a:latin typeface="Calibir"/>
              </a:rPr>
              <a:t>Event (id, title, date, </a:t>
            </a:r>
            <a:r>
              <a:rPr lang="en-US" sz="2800" dirty="0" err="1">
                <a:latin typeface="Calibir"/>
              </a:rPr>
              <a:t>parentEvent</a:t>
            </a:r>
            <a:r>
              <a:rPr lang="en-US" sz="2800" dirty="0">
                <a:latin typeface="Calibir"/>
              </a:rPr>
              <a:t>?) </a:t>
            </a:r>
            <a:r>
              <a:rPr lang="en-US" sz="2800" i="1" dirty="0">
                <a:latin typeface="Calibir"/>
              </a:rPr>
              <a:t>(reflexive)</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Ticket (id, price, state)</a:t>
            </a:r>
          </a:p>
          <a:p>
            <a:pPr marL="914400" lvl="1" indent="-457200">
              <a:lnSpc>
                <a:spcPct val="150000"/>
              </a:lnSpc>
              <a:buFont typeface="Arial" panose="020B0604020202020204" pitchFamily="34" charset="0"/>
              <a:buChar char="•"/>
            </a:pPr>
            <a:r>
              <a:rPr lang="en-US" sz="2800" dirty="0">
                <a:latin typeface="Calibir"/>
              </a:rPr>
              <a:t>Booking </a:t>
            </a:r>
            <a:r>
              <a:rPr lang="en-US" sz="2800" i="1" dirty="0">
                <a:latin typeface="Calibir"/>
              </a:rPr>
              <a:t>(association class between User and Event)</a:t>
            </a:r>
            <a:r>
              <a:rPr lang="en-US" sz="2800" dirty="0">
                <a:latin typeface="Calibir"/>
              </a:rPr>
              <a:t>: qty, timestamp</a:t>
            </a:r>
          </a:p>
          <a:p>
            <a:pPr marL="914400" lvl="1" indent="-457200">
              <a:lnSpc>
                <a:spcPct val="150000"/>
              </a:lnSpc>
              <a:buFont typeface="Arial" panose="020B0604020202020204" pitchFamily="34" charset="0"/>
              <a:buChar char="•"/>
            </a:pPr>
            <a:r>
              <a:rPr lang="en-US" sz="2800" dirty="0">
                <a:latin typeface="Calibir"/>
              </a:rPr>
              <a:t>Store for file I/O</a:t>
            </a:r>
          </a:p>
        </p:txBody>
      </p:sp>
    </p:spTree>
    <p:extLst>
      <p:ext uri="{BB962C8B-B14F-4D97-AF65-F5344CB8AC3E}">
        <p14:creationId xmlns:p14="http://schemas.microsoft.com/office/powerpoint/2010/main" val="312696872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51496-E844-AA00-56FD-97FBF3CF48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0A7EDC9-EAF9-4E85-715F-4E18B0042E07}"/>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931B7AAC-9D59-23E7-4CC2-4DC6A146186F}"/>
              </a:ext>
            </a:extLst>
          </p:cNvPr>
          <p:cNvSpPr txBox="1"/>
          <p:nvPr/>
        </p:nvSpPr>
        <p:spPr>
          <a:xfrm>
            <a:off x="0" y="1114097"/>
            <a:ext cx="11939752" cy="2610843"/>
          </a:xfrm>
          <a:prstGeom prst="rect">
            <a:avLst/>
          </a:prstGeom>
          <a:noFill/>
        </p:spPr>
        <p:txBody>
          <a:bodyPr wrap="square">
            <a:spAutoFit/>
          </a:bodyPr>
          <a:lstStyle/>
          <a:p>
            <a:pPr>
              <a:lnSpc>
                <a:spcPct val="150000"/>
              </a:lnSpc>
            </a:pPr>
            <a:r>
              <a:rPr lang="en-US" sz="2800" b="1" dirty="0">
                <a:latin typeface="Calibir"/>
              </a:rPr>
              <a:t>Key relationships</a:t>
            </a:r>
          </a:p>
          <a:p>
            <a:pPr marL="914400" lvl="1" indent="-457200">
              <a:lnSpc>
                <a:spcPct val="150000"/>
              </a:lnSpc>
              <a:buFont typeface="Arial" panose="020B0604020202020204" pitchFamily="34" charset="0"/>
              <a:buChar char="•"/>
            </a:pPr>
            <a:r>
              <a:rPr lang="en-US" sz="2800" dirty="0">
                <a:latin typeface="Calibir"/>
              </a:rPr>
              <a:t>User M ── M Event through Booking (association class)</a:t>
            </a:r>
          </a:p>
          <a:p>
            <a:pPr marL="914400" lvl="1" indent="-457200">
              <a:lnSpc>
                <a:spcPct val="150000"/>
              </a:lnSpc>
              <a:buFont typeface="Arial" panose="020B0604020202020204" pitchFamily="34" charset="0"/>
              <a:buChar char="•"/>
            </a:pPr>
            <a:r>
              <a:rPr lang="en-US" sz="2800" dirty="0">
                <a:latin typeface="Calibir"/>
              </a:rPr>
              <a:t>Event 0, 1 ── 0, M Event </a:t>
            </a:r>
            <a:r>
              <a:rPr lang="en-US" sz="2800" i="1" dirty="0">
                <a:latin typeface="Calibir"/>
              </a:rPr>
              <a:t>(reflexive “is part of series”)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Booking 1 ── M Ticket </a:t>
            </a:r>
            <a:r>
              <a:rPr lang="en-US" sz="2800" i="1" dirty="0">
                <a:latin typeface="Calibir"/>
              </a:rPr>
              <a:t>(composition: tickets belong to that booking)</a:t>
            </a:r>
            <a:endParaRPr lang="en-US" sz="2800" dirty="0">
              <a:latin typeface="Calibir"/>
            </a:endParaRPr>
          </a:p>
        </p:txBody>
      </p:sp>
    </p:spTree>
    <p:extLst>
      <p:ext uri="{BB962C8B-B14F-4D97-AF65-F5344CB8AC3E}">
        <p14:creationId xmlns:p14="http://schemas.microsoft.com/office/powerpoint/2010/main" val="27212171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C179-14D2-DADB-A460-B6A80F0985E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0A92F7-7CA9-F20D-D73D-C7BE8936E194}"/>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7145F417-5C3A-9844-D350-DEBB457E3305}"/>
              </a:ext>
            </a:extLst>
          </p:cNvPr>
          <p:cNvSpPr txBox="1"/>
          <p:nvPr/>
        </p:nvSpPr>
        <p:spPr>
          <a:xfrm>
            <a:off x="0" y="1114097"/>
            <a:ext cx="11939752" cy="3903504"/>
          </a:xfrm>
          <a:prstGeom prst="rect">
            <a:avLst/>
          </a:prstGeom>
          <a:noFill/>
        </p:spPr>
        <p:txBody>
          <a:bodyPr wrap="square">
            <a:spAutoFit/>
          </a:bodyPr>
          <a:lstStyle/>
          <a:p>
            <a:pPr>
              <a:lnSpc>
                <a:spcPct val="150000"/>
              </a:lnSpc>
            </a:pPr>
            <a:r>
              <a:rPr lang="en-US" sz="2800" b="1" dirty="0">
                <a:latin typeface="Calibir"/>
              </a:rPr>
              <a:t>Sample backlog IDs</a:t>
            </a:r>
          </a:p>
          <a:p>
            <a:pPr marL="914400" lvl="1" indent="-457200">
              <a:lnSpc>
                <a:spcPct val="150000"/>
              </a:lnSpc>
              <a:buFont typeface="Arial" panose="020B0604020202020204" pitchFamily="34" charset="0"/>
              <a:buChar char="•"/>
            </a:pPr>
            <a:r>
              <a:rPr lang="en-US" sz="2800" dirty="0">
                <a:latin typeface="Calibir"/>
              </a:rPr>
              <a:t>100 Register/login user</a:t>
            </a:r>
          </a:p>
          <a:p>
            <a:pPr marL="914400" lvl="1" indent="-457200">
              <a:lnSpc>
                <a:spcPct val="150000"/>
              </a:lnSpc>
              <a:buFont typeface="Arial" panose="020B0604020202020204" pitchFamily="34" charset="0"/>
              <a:buChar char="•"/>
            </a:pPr>
            <a:r>
              <a:rPr lang="en-US" sz="2800" dirty="0">
                <a:latin typeface="Calibir"/>
              </a:rPr>
              <a:t>200 Create event</a:t>
            </a:r>
          </a:p>
          <a:p>
            <a:pPr marL="914400" lvl="1" indent="-457200">
              <a:lnSpc>
                <a:spcPct val="150000"/>
              </a:lnSpc>
              <a:buFont typeface="Arial" panose="020B0604020202020204" pitchFamily="34" charset="0"/>
              <a:buChar char="•"/>
            </a:pPr>
            <a:r>
              <a:rPr lang="en-US" sz="2800" dirty="0">
                <a:latin typeface="Calibir"/>
              </a:rPr>
              <a:t>300 Book tickets / include check availability / include save</a:t>
            </a:r>
          </a:p>
          <a:p>
            <a:pPr marL="914400" lvl="1" indent="-457200">
              <a:lnSpc>
                <a:spcPct val="150000"/>
              </a:lnSpc>
              <a:buFont typeface="Arial" panose="020B0604020202020204" pitchFamily="34" charset="0"/>
              <a:buChar char="•"/>
            </a:pPr>
            <a:r>
              <a:rPr lang="en-US" sz="2800" dirty="0">
                <a:latin typeface="Calibir"/>
              </a:rPr>
              <a:t>310 Cancel booking / extend show refund notice</a:t>
            </a:r>
          </a:p>
          <a:p>
            <a:pPr marL="914400" lvl="1" indent="-457200">
              <a:lnSpc>
                <a:spcPct val="150000"/>
              </a:lnSpc>
              <a:buFont typeface="Arial" panose="020B0604020202020204" pitchFamily="34" charset="0"/>
              <a:buChar char="•"/>
            </a:pPr>
            <a:r>
              <a:rPr lang="en-US" sz="2800" dirty="0">
                <a:latin typeface="Calibir"/>
              </a:rPr>
              <a:t>400 List events and my bookings</a:t>
            </a:r>
          </a:p>
        </p:txBody>
      </p:sp>
    </p:spTree>
    <p:extLst>
      <p:ext uri="{BB962C8B-B14F-4D97-AF65-F5344CB8AC3E}">
        <p14:creationId xmlns:p14="http://schemas.microsoft.com/office/powerpoint/2010/main" val="39818987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D944C-D1D0-75E0-ABB0-35E64CC7551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8863223-E91C-C1AB-3067-BF2F6A12E9FF}"/>
              </a:ext>
            </a:extLst>
          </p:cNvPr>
          <p:cNvSpPr>
            <a:spLocks noGrp="1"/>
          </p:cNvSpPr>
          <p:nvPr>
            <p:ph type="title"/>
          </p:nvPr>
        </p:nvSpPr>
        <p:spPr>
          <a:xfrm>
            <a:off x="0" y="17986"/>
            <a:ext cx="12192000" cy="885904"/>
          </a:xfrm>
        </p:spPr>
        <p:txBody>
          <a:bodyPr>
            <a:normAutofit/>
          </a:bodyPr>
          <a:lstStyle/>
          <a:p>
            <a:r>
              <a:rPr lang="en-US" sz="3300" b="1" dirty="0">
                <a:latin typeface="Calibir"/>
              </a:rPr>
              <a:t>Example &amp; Activity — Event Ticketing Lite</a:t>
            </a:r>
          </a:p>
        </p:txBody>
      </p:sp>
      <p:sp>
        <p:nvSpPr>
          <p:cNvPr id="9" name="TextBox 8">
            <a:extLst>
              <a:ext uri="{FF2B5EF4-FFF2-40B4-BE49-F238E27FC236}">
                <a16:creationId xmlns:a16="http://schemas.microsoft.com/office/drawing/2014/main" id="{7434FC6D-DD37-ED20-F1F2-4A1A6C31D185}"/>
              </a:ext>
            </a:extLst>
          </p:cNvPr>
          <p:cNvSpPr txBox="1"/>
          <p:nvPr/>
        </p:nvSpPr>
        <p:spPr>
          <a:xfrm>
            <a:off x="0" y="1114097"/>
            <a:ext cx="11939752" cy="4549835"/>
          </a:xfrm>
          <a:prstGeom prst="rect">
            <a:avLst/>
          </a:prstGeom>
          <a:noFill/>
        </p:spPr>
        <p:txBody>
          <a:bodyPr wrap="square">
            <a:spAutoFit/>
          </a:bodyPr>
          <a:lstStyle/>
          <a:p>
            <a:pPr>
              <a:lnSpc>
                <a:spcPct val="150000"/>
              </a:lnSpc>
            </a:pPr>
            <a:r>
              <a:rPr lang="en-US" sz="2800" dirty="0">
                <a:latin typeface="Calibir"/>
              </a:rPr>
              <a:t>Activity:</a:t>
            </a:r>
          </a:p>
          <a:p>
            <a:pPr marL="514350" indent="-514350">
              <a:lnSpc>
                <a:spcPct val="150000"/>
              </a:lnSpc>
              <a:buFont typeface="+mj-lt"/>
              <a:buAutoNum type="arabicPeriod"/>
            </a:pPr>
            <a:r>
              <a:rPr lang="en-US" sz="2800" dirty="0">
                <a:latin typeface="Calibir"/>
              </a:rPr>
              <a:t>Association class practice: Draw Booking between User and Event with attributes; add multiplicities on both sides.</a:t>
            </a:r>
          </a:p>
          <a:p>
            <a:pPr marL="514350" indent="-514350">
              <a:lnSpc>
                <a:spcPct val="150000"/>
              </a:lnSpc>
              <a:buFont typeface="+mj-lt"/>
              <a:buAutoNum type="arabicPeriod"/>
            </a:pPr>
            <a:r>
              <a:rPr lang="en-US" sz="2800" dirty="0">
                <a:latin typeface="Calibir"/>
              </a:rPr>
              <a:t>Reflexive association: Add Event → Event “</a:t>
            </a:r>
            <a:r>
              <a:rPr lang="en-US" sz="2800" dirty="0" err="1">
                <a:latin typeface="Calibir"/>
              </a:rPr>
              <a:t>parentOf</a:t>
            </a:r>
            <a:r>
              <a:rPr lang="en-US" sz="2800" dirty="0">
                <a:latin typeface="Calibir"/>
              </a:rPr>
              <a:t>”; mark multiplicity 0..1 to 0..M.</a:t>
            </a:r>
          </a:p>
          <a:p>
            <a:pPr marL="514350" indent="-514350">
              <a:lnSpc>
                <a:spcPct val="150000"/>
              </a:lnSpc>
              <a:buFont typeface="+mj-lt"/>
              <a:buAutoNum type="arabicPeriod"/>
            </a:pPr>
            <a:r>
              <a:rPr lang="en-US" sz="2800" dirty="0">
                <a:latin typeface="Calibir"/>
              </a:rPr>
              <a:t>State note: Add a note listing </a:t>
            </a:r>
            <a:r>
              <a:rPr lang="en-US" sz="2800" dirty="0" err="1">
                <a:latin typeface="Calibir"/>
              </a:rPr>
              <a:t>Ticket.state</a:t>
            </a:r>
            <a:r>
              <a:rPr lang="en-US" sz="2800" dirty="0">
                <a:latin typeface="Calibir"/>
              </a:rPr>
              <a:t> ∈ {PENDING, CONFIRMED, CANCELLED} and link it to cancellation use case as an extend.</a:t>
            </a:r>
          </a:p>
        </p:txBody>
      </p:sp>
      <p:pic>
        <p:nvPicPr>
          <p:cNvPr id="2" name="Timer">
            <a:hlinkClick r:id="" action="ppaction://media"/>
            <a:extLst>
              <a:ext uri="{FF2B5EF4-FFF2-40B4-BE49-F238E27FC236}">
                <a16:creationId xmlns:a16="http://schemas.microsoft.com/office/drawing/2014/main" id="{60E3F09C-F4D3-3C5D-94B5-CF1883D0A883}"/>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40408" t="44516" r="40718" b="39785"/>
          <a:stretch>
            <a:fillRect/>
          </a:stretch>
        </p:blipFill>
        <p:spPr>
          <a:xfrm>
            <a:off x="5190950" y="5663932"/>
            <a:ext cx="2300750" cy="1076632"/>
          </a:xfrm>
          <a:prstGeom prst="rect">
            <a:avLst/>
          </a:prstGeom>
          <a:ln w="38100">
            <a:solidFill>
              <a:srgbClr val="FF0000"/>
            </a:solidFill>
          </a:ln>
        </p:spPr>
      </p:pic>
    </p:spTree>
    <p:extLst>
      <p:ext uri="{BB962C8B-B14F-4D97-AF65-F5344CB8AC3E}">
        <p14:creationId xmlns:p14="http://schemas.microsoft.com/office/powerpoint/2010/main" val="2940426533"/>
      </p:ext>
    </p:extLst>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2041</TotalTime>
  <Words>5423</Words>
  <Application>Microsoft Office PowerPoint</Application>
  <PresentationFormat>Widescreen</PresentationFormat>
  <Paragraphs>615</Paragraphs>
  <Slides>86</Slides>
  <Notes>0</Notes>
  <HiddenSlides>0</HiddenSlides>
  <MMClips>9</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86</vt:i4>
      </vt:variant>
    </vt:vector>
  </HeadingPairs>
  <TitlesOfParts>
    <vt:vector size="95" baseType="lpstr">
      <vt:lpstr>Aptos</vt:lpstr>
      <vt:lpstr>Aptos Display</vt:lpstr>
      <vt:lpstr>Arial</vt:lpstr>
      <vt:lpstr>Calibir</vt:lpstr>
      <vt:lpstr>Calibri</vt:lpstr>
      <vt:lpstr>Calibri Light</vt:lpstr>
      <vt:lpstr>Consolas</vt:lpstr>
      <vt:lpstr>Office Theme</vt:lpstr>
      <vt:lpstr>1_Office Theme</vt:lpstr>
      <vt:lpstr>Introduction to Software Engineering (ISE102) Tutorial Week 6</vt:lpstr>
      <vt:lpstr>Week 6 Outline</vt:lpstr>
      <vt:lpstr>Have you formed your group?</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PowerPoint Presentation</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PowerPoint Presentation</vt:lpstr>
      <vt:lpstr>PowerPoint Presentation</vt:lpstr>
      <vt:lpstr>PowerPoint Presentation</vt:lpstr>
      <vt:lpstr>PowerPoint Presentation</vt:lpstr>
      <vt:lpstr>PowerPoint Presentation</vt:lpstr>
      <vt:lpstr>Example &amp; Activity — Campus Parking Permit System</vt:lpstr>
      <vt:lpstr>Example &amp; Activity — Campus Parking Permit System</vt:lpstr>
      <vt:lpstr>PowerPoint Presentation</vt:lpstr>
      <vt:lpstr>PowerPoint Presentation</vt:lpstr>
      <vt:lpstr>PowerPoint Presentation</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Example &amp; Activity — Campus Parking Permit System</vt:lpstr>
      <vt:lpstr>Group Assignment – Part 1: What to do / submit / avoid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Student Operations After Registration – Clarified</vt:lpstr>
      <vt:lpstr>Group Assignment – Part 1: Password Rules – Clarified</vt:lpstr>
      <vt:lpstr>Group Assignment – Part 1: Password Rules – Clarified</vt:lpstr>
      <vt:lpstr>PowerPoint Presentation</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Mini Coding Nudges (Email/Password, Marks, Pass/Fail etc.)</vt:lpstr>
      <vt:lpstr>PowerPoint Presentation</vt:lpstr>
      <vt:lpstr>Allow optional - or _ before digits in password</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Generate Random Marks and Assign Grades</vt:lpstr>
      <vt:lpstr>Make randomness reproducible</vt:lpstr>
      <vt:lpstr>PowerPoint Presentation</vt:lpstr>
      <vt:lpstr>PowerPoint Presentation</vt:lpstr>
      <vt:lpstr>PowerPoint Presentation</vt:lpstr>
      <vt:lpstr>PowerPoint Presentation</vt:lpstr>
      <vt:lpstr>PowerPoint Presentation</vt:lpstr>
      <vt:lpstr>PowerPoint Presentation</vt:lpstr>
      <vt:lpstr>Make randomness reproducible</vt:lpstr>
      <vt:lpstr>Add student ID and PASS/FAIL</vt:lpstr>
      <vt:lpstr>PowerPoint Presentation</vt:lpstr>
      <vt:lpstr>PowerPoint Presentation</vt:lpstr>
      <vt:lpstr>Grade Classification Based on University Rules</vt:lpstr>
      <vt:lpstr>PowerPoint Presentation</vt:lpstr>
      <vt:lpstr>PowerPoint Presentation</vt:lpstr>
      <vt:lpstr>PowerPoint Presentation</vt:lpstr>
      <vt:lpstr>PowerPoint Presentation</vt:lpstr>
      <vt:lpstr>Group Assignment – Part 2: Build hints (Python-first, JavaFX minority)</vt:lpstr>
      <vt:lpstr>Group Assignment – Part 2: Build hints (Python-first, JavaFX minority)</vt:lpstr>
      <vt:lpstr>Group Assignment – Part 2: Build hints (Python-first, JavaFX minority)</vt:lpstr>
      <vt:lpstr>Group Assignment – Part 3: Showcase tips</vt:lpstr>
      <vt:lpstr>Example &amp; Activity — Event Ticketing Lite</vt:lpstr>
      <vt:lpstr>Example &amp; Activity — Event Ticketing Lite</vt:lpstr>
      <vt:lpstr>Example &amp; Activity — Event Ticketing Lite</vt:lpstr>
      <vt:lpstr>Example &amp; Activity — Event Ticketing Lite</vt:lpstr>
      <vt:lpstr>Example &amp; Activity — Event Ticketing Lite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616</cp:revision>
  <dcterms:created xsi:type="dcterms:W3CDTF">2025-07-28T16:39:25Z</dcterms:created>
  <dcterms:modified xsi:type="dcterms:W3CDTF">2025-09-05T02:08:23Z</dcterms:modified>
</cp:coreProperties>
</file>