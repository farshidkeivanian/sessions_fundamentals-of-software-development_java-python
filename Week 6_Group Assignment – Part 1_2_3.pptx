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94"/>
  </p:notesMasterIdLst>
  <p:sldIdLst>
    <p:sldId id="256" r:id="rId3"/>
    <p:sldId id="2467" r:id="rId4"/>
    <p:sldId id="2634" r:id="rId5"/>
    <p:sldId id="2592" r:id="rId6"/>
    <p:sldId id="2804" r:id="rId7"/>
    <p:sldId id="2764" r:id="rId8"/>
    <p:sldId id="2809" r:id="rId9"/>
    <p:sldId id="2773" r:id="rId10"/>
    <p:sldId id="2774" r:id="rId11"/>
    <p:sldId id="2765" r:id="rId12"/>
    <p:sldId id="2766" r:id="rId13"/>
    <p:sldId id="2805" r:id="rId14"/>
    <p:sldId id="2806" r:id="rId15"/>
    <p:sldId id="2807" r:id="rId16"/>
    <p:sldId id="2775" r:id="rId17"/>
    <p:sldId id="2776" r:id="rId18"/>
    <p:sldId id="2777" r:id="rId19"/>
    <p:sldId id="2778" r:id="rId20"/>
    <p:sldId id="2779" r:id="rId21"/>
    <p:sldId id="2812" r:id="rId22"/>
    <p:sldId id="2780" r:id="rId23"/>
    <p:sldId id="2814" r:id="rId24"/>
    <p:sldId id="2781" r:id="rId25"/>
    <p:sldId id="2784" r:id="rId26"/>
    <p:sldId id="2783" r:id="rId27"/>
    <p:sldId id="2816" r:id="rId28"/>
    <p:sldId id="2817" r:id="rId29"/>
    <p:sldId id="2782" r:id="rId30"/>
    <p:sldId id="2768" r:id="rId31"/>
    <p:sldId id="2769" r:id="rId32"/>
    <p:sldId id="2770" r:id="rId33"/>
    <p:sldId id="2815" r:id="rId34"/>
    <p:sldId id="2771" r:id="rId35"/>
    <p:sldId id="2772" r:id="rId36"/>
    <p:sldId id="2635" r:id="rId37"/>
    <p:sldId id="2795" r:id="rId38"/>
    <p:sldId id="2796" r:id="rId39"/>
    <p:sldId id="2797" r:id="rId40"/>
    <p:sldId id="2798" r:id="rId41"/>
    <p:sldId id="2799" r:id="rId42"/>
    <p:sldId id="2800" r:id="rId43"/>
    <p:sldId id="2801" r:id="rId44"/>
    <p:sldId id="2802" r:id="rId45"/>
    <p:sldId id="2803" r:id="rId46"/>
    <p:sldId id="2818" r:id="rId47"/>
    <p:sldId id="2819" r:id="rId48"/>
    <p:sldId id="2820" r:id="rId49"/>
    <p:sldId id="2821" r:id="rId50"/>
    <p:sldId id="2822" r:id="rId51"/>
    <p:sldId id="2736" r:id="rId52"/>
    <p:sldId id="2740" r:id="rId53"/>
    <p:sldId id="2741" r:id="rId54"/>
    <p:sldId id="2742" r:id="rId55"/>
    <p:sldId id="2743" r:id="rId56"/>
    <p:sldId id="2739" r:id="rId57"/>
    <p:sldId id="2744" r:id="rId58"/>
    <p:sldId id="2746" r:id="rId59"/>
    <p:sldId id="2747" r:id="rId60"/>
    <p:sldId id="2737" r:id="rId61"/>
    <p:sldId id="2785" r:id="rId62"/>
    <p:sldId id="2749" r:id="rId63"/>
    <p:sldId id="2750" r:id="rId64"/>
    <p:sldId id="2751" r:id="rId65"/>
    <p:sldId id="2752" r:id="rId66"/>
    <p:sldId id="2748" r:id="rId67"/>
    <p:sldId id="2753" r:id="rId68"/>
    <p:sldId id="2754" r:id="rId69"/>
    <p:sldId id="2757" r:id="rId70"/>
    <p:sldId id="2758" r:id="rId71"/>
    <p:sldId id="2759" r:id="rId72"/>
    <p:sldId id="2760" r:id="rId73"/>
    <p:sldId id="2761" r:id="rId74"/>
    <p:sldId id="2756" r:id="rId75"/>
    <p:sldId id="2755" r:id="rId76"/>
    <p:sldId id="2762" r:id="rId77"/>
    <p:sldId id="2763" r:id="rId78"/>
    <p:sldId id="2738" r:id="rId79"/>
    <p:sldId id="2786" r:id="rId80"/>
    <p:sldId id="2788" r:id="rId81"/>
    <p:sldId id="2789" r:id="rId82"/>
    <p:sldId id="2787" r:id="rId83"/>
    <p:sldId id="2732" r:id="rId84"/>
    <p:sldId id="2733" r:id="rId85"/>
    <p:sldId id="2734" r:id="rId86"/>
    <p:sldId id="2735" r:id="rId87"/>
    <p:sldId id="2790" r:id="rId88"/>
    <p:sldId id="2791" r:id="rId89"/>
    <p:sldId id="2792" r:id="rId90"/>
    <p:sldId id="2793" r:id="rId91"/>
    <p:sldId id="2794" r:id="rId92"/>
    <p:sldId id="749" r:id="rId9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66" d="100"/>
          <a:sy n="66" d="100"/>
        </p:scale>
        <p:origin x="1111" y="1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presProps" Target="presProps.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slide" Target="slides/slide78.xml"/><Relationship Id="rId85" Type="http://schemas.openxmlformats.org/officeDocument/2006/relationships/slide" Target="slides/slide83.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5/09/2025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image" Target="../media/image13.png"/></Relationships>
</file>

<file path=ppt/slides/_rels/slide6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7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18.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6</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6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11906"/>
            <a:ext cx="12192000" cy="6145272"/>
          </a:xfrm>
          <a:prstGeom prst="rect">
            <a:avLst/>
          </a:prstGeom>
          <a:noFill/>
        </p:spPr>
        <p:txBody>
          <a:bodyPr wrap="square">
            <a:spAutoFit/>
          </a:bodyPr>
          <a:lstStyle/>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Example &amp; Activity — Campus Parking Permit System</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1: What to do / submit / avoid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1: Student Operations After Registration –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1: Password Rules –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Mini Coding Nudges (Email/Password, Marks, Pass/Fail etc.)</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Allow student. subdomain too </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Allow optional - or _ before digits in password</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Generate Random Marks and Assign Grades</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Make randomness reproducible</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Add student ID and PASS/FAIL</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Grade Classification Based on University Rules</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2: Build hints (Python-first, JavaFX minority)</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3: Showcase tips</a:t>
            </a:r>
          </a:p>
          <a:p>
            <a:pPr marL="514350" indent="-514350">
              <a:spcAft>
                <a:spcPts val="800"/>
              </a:spcAft>
              <a:buFont typeface="+mj-lt"/>
              <a:buAutoNum type="arabicPeriod"/>
            </a:pPr>
            <a:r>
              <a:rPr lang="en-US" sz="2000" dirty="0">
                <a:latin typeface="Calibir"/>
              </a:rPr>
              <a:t>Example &amp; Activity — Event Ticketing Lite</a:t>
            </a:r>
            <a:endParaRPr lang="en-US" sz="2000" kern="100" dirty="0">
              <a:latin typeface="Calibir"/>
              <a:ea typeface="Aptos" panose="020B0004020202020204" pitchFamily="34" charset="0"/>
              <a:cs typeface="Arial" panose="020B0604020202020204" pitchFamily="34" charset="0"/>
            </a:endParaRP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CD4C78DA-EA34-3EF7-4935-1E6251F4954C}"/>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CC20B5C0-803C-5E96-374C-6D1E59E4C47A}"/>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2746331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
        <p:nvSpPr>
          <p:cNvPr id="6" name="TextBox 5">
            <a:extLst>
              <a:ext uri="{FF2B5EF4-FFF2-40B4-BE49-F238E27FC236}">
                <a16:creationId xmlns:a16="http://schemas.microsoft.com/office/drawing/2014/main" id="{B093FA69-7860-F88D-7261-9EFCD7048713}"/>
              </a:ext>
            </a:extLst>
          </p:cNvPr>
          <p:cNvSpPr txBox="1"/>
          <p:nvPr/>
        </p:nvSpPr>
        <p:spPr>
          <a:xfrm>
            <a:off x="0" y="988143"/>
            <a:ext cx="12192000" cy="5842497"/>
          </a:xfrm>
          <a:prstGeom prst="rect">
            <a:avLst/>
          </a:prstGeom>
          <a:noFill/>
        </p:spPr>
        <p:txBody>
          <a:bodyPr wrap="square">
            <a:spAutoFit/>
          </a:bodyPr>
          <a:lstStyle/>
          <a:p>
            <a:pPr>
              <a:lnSpc>
                <a:spcPct val="150000"/>
              </a:lnSpc>
              <a:buNone/>
            </a:pPr>
            <a:r>
              <a:rPr lang="en-US" sz="2800" i="1" dirty="0">
                <a:latin typeface="Calibir"/>
              </a:rPr>
              <a:t>(Associations, multiplicity, inheritance, composition, dependency)</a:t>
            </a:r>
            <a:endParaRPr lang="en-US" sz="2800" dirty="0">
              <a:latin typeface="Calibir"/>
            </a:endParaRPr>
          </a:p>
          <a:p>
            <a:pPr>
              <a:lnSpc>
                <a:spcPct val="150000"/>
              </a:lnSpc>
              <a:buNone/>
            </a:pPr>
            <a:r>
              <a:rPr lang="en-US" sz="2800" b="1" dirty="0">
                <a:latin typeface="Calibir"/>
              </a:rPr>
              <a:t>Mini case</a:t>
            </a:r>
          </a:p>
          <a:p>
            <a:pPr>
              <a:lnSpc>
                <a:spcPct val="150000"/>
              </a:lnSpc>
              <a:buNone/>
            </a:pPr>
            <a:r>
              <a:rPr lang="en-US" sz="2800" dirty="0">
                <a:latin typeface="Calibir"/>
              </a:rPr>
              <a:t>Students and staff request Parking Permits per semester. A Permit is for one vehicle (plate number) and is valid for one car park zone. Users can hold at most 1 active permit per semester. Security Officers can revoke permits. Payment is Card or Voucher (two subclasses of Payment). When revoked, the permit becomes inactive.</a:t>
            </a:r>
          </a:p>
          <a:p>
            <a:pPr>
              <a:lnSpc>
                <a:spcPct val="150000"/>
              </a:lnSpc>
              <a:buNone/>
            </a:pPr>
            <a:r>
              <a:rPr lang="en-US" sz="2800" dirty="0">
                <a:latin typeface="Calibir"/>
              </a:rPr>
              <a:t>Think about: Candidate Classes, </a:t>
            </a:r>
            <a:br>
              <a:rPr lang="en-US" sz="2800" dirty="0">
                <a:latin typeface="Calibir"/>
              </a:rPr>
            </a:br>
            <a:r>
              <a:rPr lang="en-US" sz="2800" dirty="0">
                <a:latin typeface="Calibir"/>
              </a:rPr>
              <a:t>Attributes, Methods, Key Relationship, Multiplicities, </a:t>
            </a:r>
            <a:r>
              <a:rPr lang="en-US" sz="2800" dirty="0" err="1">
                <a:latin typeface="Calibir"/>
              </a:rPr>
              <a:t>etc</a:t>
            </a:r>
            <a:endParaRPr lang="en-US" sz="2800" dirty="0">
              <a:latin typeface="Calibir"/>
            </a:endParaRPr>
          </a:p>
        </p:txBody>
      </p:sp>
    </p:spTree>
    <p:extLst>
      <p:ext uri="{BB962C8B-B14F-4D97-AF65-F5344CB8AC3E}">
        <p14:creationId xmlns:p14="http://schemas.microsoft.com/office/powerpoint/2010/main" val="2573199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BEFF0-2376-0455-6025-ACEF0063036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02C407A-2B54-9BFC-15E1-14DF4DE54228}"/>
              </a:ext>
            </a:extLst>
          </p:cNvPr>
          <p:cNvSpPr txBox="1"/>
          <p:nvPr/>
        </p:nvSpPr>
        <p:spPr>
          <a:xfrm>
            <a:off x="0" y="988143"/>
            <a:ext cx="12192000" cy="3903504"/>
          </a:xfrm>
          <a:prstGeom prst="rect">
            <a:avLst/>
          </a:prstGeom>
          <a:noFill/>
        </p:spPr>
        <p:txBody>
          <a:bodyPr wrap="square">
            <a:spAutoFit/>
          </a:bodyPr>
          <a:lstStyle/>
          <a:p>
            <a:pPr>
              <a:lnSpc>
                <a:spcPct val="150000"/>
              </a:lnSpc>
            </a:pPr>
            <a:r>
              <a:rPr lang="en-US" sz="2800" b="1" dirty="0">
                <a:latin typeface="Calibir"/>
              </a:rPr>
              <a:t>Scenario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A university manages Parking Permits for students and staff.</a:t>
            </a:r>
          </a:p>
          <a:p>
            <a:pPr marL="914400" lvl="1" indent="-457200">
              <a:lnSpc>
                <a:spcPct val="150000"/>
              </a:lnSpc>
              <a:buFont typeface="Arial" panose="020B0604020202020204" pitchFamily="34" charset="0"/>
              <a:buChar char="•"/>
            </a:pPr>
            <a:r>
              <a:rPr lang="en-US" sz="2800" dirty="0">
                <a:latin typeface="Calibir"/>
              </a:rPr>
              <a:t>Each User (abstract class) can be either a Student or Staff.</a:t>
            </a:r>
          </a:p>
          <a:p>
            <a:pPr marL="914400" lvl="1" indent="-457200">
              <a:lnSpc>
                <a:spcPct val="150000"/>
              </a:lnSpc>
              <a:buFont typeface="Arial" panose="020B0604020202020204" pitchFamily="34" charset="0"/>
              <a:buChar char="•"/>
            </a:pPr>
            <a:r>
              <a:rPr lang="en-US" sz="2800" dirty="0">
                <a:latin typeface="Calibir"/>
              </a:rPr>
              <a:t>A User can apply for one or more Permits.</a:t>
            </a:r>
          </a:p>
          <a:p>
            <a:pPr marL="914400" lvl="1" indent="-457200">
              <a:lnSpc>
                <a:spcPct val="150000"/>
              </a:lnSpc>
              <a:buFont typeface="Arial" panose="020B0604020202020204" pitchFamily="34" charset="0"/>
              <a:buChar char="•"/>
            </a:pPr>
            <a:r>
              <a:rPr lang="en-US" sz="2800" dirty="0">
                <a:latin typeface="Calibir"/>
              </a:rPr>
              <a:t>Each Permit is for a specific Vehicle (identified by plate number).</a:t>
            </a:r>
          </a:p>
          <a:p>
            <a:pPr marL="914400" lvl="1" indent="-457200">
              <a:lnSpc>
                <a:spcPct val="150000"/>
              </a:lnSpc>
              <a:buFont typeface="Arial" panose="020B0604020202020204" pitchFamily="34" charset="0"/>
              <a:buChar char="•"/>
            </a:pPr>
            <a:r>
              <a:rPr lang="en-US" sz="2800" dirty="0">
                <a:latin typeface="Calibir"/>
              </a:rPr>
              <a:t>The System Admin approves or denies permit applications.</a:t>
            </a:r>
          </a:p>
        </p:txBody>
      </p:sp>
      <p:sp>
        <p:nvSpPr>
          <p:cNvPr id="5" name="Title 1">
            <a:extLst>
              <a:ext uri="{FF2B5EF4-FFF2-40B4-BE49-F238E27FC236}">
                <a16:creationId xmlns:a16="http://schemas.microsoft.com/office/drawing/2014/main" id="{7BD992B7-642E-46C3-B7CF-A68499E26678}"/>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6651768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093FA69-7860-F88D-7261-9EFCD7048713}"/>
              </a:ext>
            </a:extLst>
          </p:cNvPr>
          <p:cNvSpPr txBox="1"/>
          <p:nvPr/>
        </p:nvSpPr>
        <p:spPr>
          <a:xfrm>
            <a:off x="0" y="988143"/>
            <a:ext cx="12192000" cy="2610843"/>
          </a:xfrm>
          <a:prstGeom prst="rect">
            <a:avLst/>
          </a:prstGeom>
          <a:noFill/>
        </p:spPr>
        <p:txBody>
          <a:bodyPr wrap="square">
            <a:spAutoFit/>
          </a:bodyPr>
          <a:lstStyle/>
          <a:p>
            <a:pPr>
              <a:lnSpc>
                <a:spcPct val="150000"/>
              </a:lnSpc>
            </a:pPr>
            <a:r>
              <a:rPr lang="en-US" sz="2800" b="1" dirty="0">
                <a:latin typeface="Calibir"/>
              </a:rPr>
              <a:t>1. Candidate Classes (Rectangles)</a:t>
            </a:r>
          </a:p>
          <a:p>
            <a:pPr>
              <a:lnSpc>
                <a:spcPct val="150000"/>
              </a:lnSpc>
            </a:pPr>
            <a:r>
              <a:rPr lang="en-US" sz="2800" dirty="0">
                <a:latin typeface="Calibir"/>
              </a:rPr>
              <a:t>Think of classes as blueprints, like a recipe card:</a:t>
            </a:r>
          </a:p>
          <a:p>
            <a:pPr marL="457200" indent="-457200">
              <a:lnSpc>
                <a:spcPct val="150000"/>
              </a:lnSpc>
              <a:buFont typeface="Arial" panose="020B0604020202020204" pitchFamily="34" charset="0"/>
              <a:buChar char="•"/>
            </a:pPr>
            <a:r>
              <a:rPr lang="en-US" sz="2800" dirty="0">
                <a:latin typeface="Calibir"/>
              </a:rPr>
              <a:t>User (abstract – means you can’t create a "User" directly, only Student or Staff)</a:t>
            </a:r>
          </a:p>
          <a:p>
            <a:pPr marL="914400" lvl="1" indent="-457200">
              <a:lnSpc>
                <a:spcPct val="150000"/>
              </a:lnSpc>
              <a:buFont typeface="Arial" panose="020B0604020202020204" pitchFamily="34" charset="0"/>
              <a:buChar char="•"/>
            </a:pPr>
            <a:r>
              <a:rPr lang="en-US" sz="2800" dirty="0">
                <a:latin typeface="Calibir"/>
              </a:rPr>
              <a:t>Subclasses: </a:t>
            </a:r>
            <a:r>
              <a:rPr lang="en-US" sz="2800" dirty="0" err="1">
                <a:latin typeface="Calibir"/>
              </a:rPr>
              <a:t>StudentUser</a:t>
            </a:r>
            <a:r>
              <a:rPr lang="en-US" sz="2800" dirty="0">
                <a:latin typeface="Calibir"/>
              </a:rPr>
              <a:t>, </a:t>
            </a:r>
            <a:r>
              <a:rPr lang="en-US" sz="2800" dirty="0" err="1">
                <a:latin typeface="Calibir"/>
              </a:rPr>
              <a:t>StaffUser</a:t>
            </a:r>
            <a:endParaRPr lang="en-US" sz="2800" dirty="0">
              <a:latin typeface="Calibir"/>
            </a:endParaRPr>
          </a:p>
        </p:txBody>
      </p:sp>
      <p:sp>
        <p:nvSpPr>
          <p:cNvPr id="5" name="Rectangle 4">
            <a:extLst>
              <a:ext uri="{FF2B5EF4-FFF2-40B4-BE49-F238E27FC236}">
                <a16:creationId xmlns:a16="http://schemas.microsoft.com/office/drawing/2014/main" id="{3C503604-97A8-528A-890D-BE51C42FF8D5}"/>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8" name="Rectangle 7">
            <a:extLst>
              <a:ext uri="{FF2B5EF4-FFF2-40B4-BE49-F238E27FC236}">
                <a16:creationId xmlns:a16="http://schemas.microsoft.com/office/drawing/2014/main" id="{6A76BE5E-899D-6313-BF03-094030D9D297}"/>
              </a:ext>
            </a:extLst>
          </p:cNvPr>
          <p:cNvSpPr/>
          <p:nvPr/>
        </p:nvSpPr>
        <p:spPr>
          <a:xfrm>
            <a:off x="5297129"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StudentUser</a:t>
            </a:r>
            <a:r>
              <a:rPr lang="en-US" sz="2800" dirty="0">
                <a:latin typeface="Calibir"/>
              </a:rPr>
              <a:t> (inherits User)</a:t>
            </a:r>
          </a:p>
        </p:txBody>
      </p:sp>
      <p:sp>
        <p:nvSpPr>
          <p:cNvPr id="9" name="Rectangle 8">
            <a:extLst>
              <a:ext uri="{FF2B5EF4-FFF2-40B4-BE49-F238E27FC236}">
                <a16:creationId xmlns:a16="http://schemas.microsoft.com/office/drawing/2014/main" id="{814FC595-507F-BA18-1C08-F514F07B6266}"/>
              </a:ext>
            </a:extLst>
          </p:cNvPr>
          <p:cNvSpPr/>
          <p:nvPr/>
        </p:nvSpPr>
        <p:spPr>
          <a:xfrm>
            <a:off x="8849032"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StaffUser</a:t>
            </a:r>
            <a:br>
              <a:rPr lang="en-US" sz="2800" dirty="0">
                <a:latin typeface="Calibir"/>
              </a:rPr>
            </a:br>
            <a:r>
              <a:rPr lang="en-US" sz="2800" dirty="0">
                <a:latin typeface="Calibir"/>
              </a:rPr>
              <a:t>(inherits User)</a:t>
            </a:r>
          </a:p>
        </p:txBody>
      </p:sp>
      <p:cxnSp>
        <p:nvCxnSpPr>
          <p:cNvPr id="11" name="Straight Arrow Connector 10">
            <a:extLst>
              <a:ext uri="{FF2B5EF4-FFF2-40B4-BE49-F238E27FC236}">
                <a16:creationId xmlns:a16="http://schemas.microsoft.com/office/drawing/2014/main" id="{6DBFFA68-0C8B-DDCD-A359-1B98DC0972AE}"/>
              </a:ext>
            </a:extLst>
          </p:cNvPr>
          <p:cNvCxnSpPr>
            <a:cxnSpLocks/>
            <a:stCxn id="5" idx="2"/>
          </p:cNvCxnSpPr>
          <p:nvPr/>
        </p:nvCxnSpPr>
        <p:spPr>
          <a:xfrm flipH="1">
            <a:off x="6961239" y="4611328"/>
            <a:ext cx="172310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cxnSp>
        <p:nvCxnSpPr>
          <p:cNvPr id="13" name="Straight Arrow Connector 12">
            <a:extLst>
              <a:ext uri="{FF2B5EF4-FFF2-40B4-BE49-F238E27FC236}">
                <a16:creationId xmlns:a16="http://schemas.microsoft.com/office/drawing/2014/main" id="{6A99516E-871E-662E-BCF6-350D786AFE7D}"/>
              </a:ext>
            </a:extLst>
          </p:cNvPr>
          <p:cNvCxnSpPr>
            <a:cxnSpLocks/>
            <a:stCxn id="5" idx="2"/>
            <a:endCxn id="9" idx="0"/>
          </p:cNvCxnSpPr>
          <p:nvPr/>
        </p:nvCxnSpPr>
        <p:spPr>
          <a:xfrm>
            <a:off x="8684343" y="4611328"/>
            <a:ext cx="178455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4" name="Title 1">
            <a:extLst>
              <a:ext uri="{FF2B5EF4-FFF2-40B4-BE49-F238E27FC236}">
                <a16:creationId xmlns:a16="http://schemas.microsoft.com/office/drawing/2014/main" id="{42A740CE-83C1-6A01-F07B-F36C335C53B8}"/>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405756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5CB9D-ED94-12BB-DC5A-E745079E035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4ECB379-36B5-A9B0-4036-EF21D4056A5F}"/>
              </a:ext>
            </a:extLst>
          </p:cNvPr>
          <p:cNvSpPr txBox="1"/>
          <p:nvPr/>
        </p:nvSpPr>
        <p:spPr>
          <a:xfrm>
            <a:off x="0" y="988143"/>
            <a:ext cx="12192000" cy="3257174"/>
          </a:xfrm>
          <a:prstGeom prst="rect">
            <a:avLst/>
          </a:prstGeom>
          <a:noFill/>
        </p:spPr>
        <p:txBody>
          <a:bodyPr wrap="square">
            <a:spAutoFit/>
          </a:bodyPr>
          <a:lstStyle/>
          <a:p>
            <a:pPr>
              <a:lnSpc>
                <a:spcPct val="150000"/>
              </a:lnSpc>
            </a:pPr>
            <a:r>
              <a:rPr lang="en-US" sz="2800" b="1" dirty="0">
                <a:latin typeface="Calibir"/>
              </a:rPr>
              <a:t>Generalization (Inheritance)</a:t>
            </a:r>
          </a:p>
          <a:p>
            <a:pPr marL="714375" indent="-457200">
              <a:lnSpc>
                <a:spcPct val="150000"/>
              </a:lnSpc>
              <a:buFont typeface="Arial" panose="020B0604020202020204" pitchFamily="34" charset="0"/>
              <a:buChar char="•"/>
            </a:pPr>
            <a:r>
              <a:rPr lang="en-US" sz="2800" dirty="0">
                <a:latin typeface="Calibir"/>
              </a:rPr>
              <a:t>A User can be either a Student or Staff.</a:t>
            </a:r>
          </a:p>
          <a:p>
            <a:pPr marL="714375" indent="-457200">
              <a:lnSpc>
                <a:spcPct val="150000"/>
              </a:lnSpc>
              <a:buFont typeface="Arial" panose="020B0604020202020204" pitchFamily="34" charset="0"/>
              <a:buChar char="•"/>
            </a:pPr>
            <a:r>
              <a:rPr lang="en-US" sz="2800" dirty="0">
                <a:latin typeface="Calibir"/>
              </a:rPr>
              <a:t>Think: </a:t>
            </a:r>
            <a:r>
              <a:rPr lang="en-US" sz="2800" i="1" dirty="0">
                <a:latin typeface="Calibir"/>
              </a:rPr>
              <a:t>“All users share common things (id, name, email), but each type has its own extras.”</a:t>
            </a:r>
            <a:endParaRPr lang="en-US" sz="2800" dirty="0">
              <a:latin typeface="Calibir"/>
            </a:endParaRPr>
          </a:p>
          <a:p>
            <a:pPr marL="714375" indent="-457200">
              <a:lnSpc>
                <a:spcPct val="150000"/>
              </a:lnSpc>
              <a:buFont typeface="Arial" panose="020B0604020202020204" pitchFamily="34" charset="0"/>
              <a:buChar char="•"/>
            </a:pPr>
            <a:r>
              <a:rPr lang="en-US" sz="2800" dirty="0">
                <a:latin typeface="Calibir"/>
              </a:rPr>
              <a:t>UML: User → Student / Staff</a:t>
            </a:r>
          </a:p>
        </p:txBody>
      </p:sp>
      <p:sp>
        <p:nvSpPr>
          <p:cNvPr id="5" name="Rectangle 4">
            <a:extLst>
              <a:ext uri="{FF2B5EF4-FFF2-40B4-BE49-F238E27FC236}">
                <a16:creationId xmlns:a16="http://schemas.microsoft.com/office/drawing/2014/main" id="{AC8366B0-1D6A-0669-66AB-5CAD3A735A60}"/>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8" name="Rectangle 7">
            <a:extLst>
              <a:ext uri="{FF2B5EF4-FFF2-40B4-BE49-F238E27FC236}">
                <a16:creationId xmlns:a16="http://schemas.microsoft.com/office/drawing/2014/main" id="{113F90DB-DFF2-8925-D6BC-F4881EE682EC}"/>
              </a:ext>
            </a:extLst>
          </p:cNvPr>
          <p:cNvSpPr/>
          <p:nvPr/>
        </p:nvSpPr>
        <p:spPr>
          <a:xfrm>
            <a:off x="5297129"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StudentUser</a:t>
            </a:r>
            <a:r>
              <a:rPr lang="en-US" sz="2800" dirty="0">
                <a:latin typeface="Calibir"/>
              </a:rPr>
              <a:t> (inherits User)</a:t>
            </a:r>
          </a:p>
        </p:txBody>
      </p:sp>
      <p:sp>
        <p:nvSpPr>
          <p:cNvPr id="9" name="Rectangle 8">
            <a:extLst>
              <a:ext uri="{FF2B5EF4-FFF2-40B4-BE49-F238E27FC236}">
                <a16:creationId xmlns:a16="http://schemas.microsoft.com/office/drawing/2014/main" id="{29BD6029-6891-B8B3-74CF-79DEB53B240D}"/>
              </a:ext>
            </a:extLst>
          </p:cNvPr>
          <p:cNvSpPr/>
          <p:nvPr/>
        </p:nvSpPr>
        <p:spPr>
          <a:xfrm>
            <a:off x="8849032"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StaffUser</a:t>
            </a:r>
            <a:br>
              <a:rPr lang="en-US" sz="2800" dirty="0">
                <a:latin typeface="Calibir"/>
              </a:rPr>
            </a:br>
            <a:r>
              <a:rPr lang="en-US" sz="2800" dirty="0">
                <a:latin typeface="Calibir"/>
              </a:rPr>
              <a:t>(inherits User)</a:t>
            </a:r>
          </a:p>
        </p:txBody>
      </p:sp>
      <p:cxnSp>
        <p:nvCxnSpPr>
          <p:cNvPr id="11" name="Straight Arrow Connector 10">
            <a:extLst>
              <a:ext uri="{FF2B5EF4-FFF2-40B4-BE49-F238E27FC236}">
                <a16:creationId xmlns:a16="http://schemas.microsoft.com/office/drawing/2014/main" id="{ED717370-D7FC-98BF-96C9-EF8898E4E20A}"/>
              </a:ext>
            </a:extLst>
          </p:cNvPr>
          <p:cNvCxnSpPr>
            <a:cxnSpLocks/>
            <a:stCxn id="5" idx="2"/>
          </p:cNvCxnSpPr>
          <p:nvPr/>
        </p:nvCxnSpPr>
        <p:spPr>
          <a:xfrm flipH="1">
            <a:off x="6961239" y="4611328"/>
            <a:ext cx="172310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cxnSp>
        <p:nvCxnSpPr>
          <p:cNvPr id="13" name="Straight Arrow Connector 12">
            <a:extLst>
              <a:ext uri="{FF2B5EF4-FFF2-40B4-BE49-F238E27FC236}">
                <a16:creationId xmlns:a16="http://schemas.microsoft.com/office/drawing/2014/main" id="{17F3DE6C-E47E-2DD2-BFBC-202C803BBBE8}"/>
              </a:ext>
            </a:extLst>
          </p:cNvPr>
          <p:cNvCxnSpPr>
            <a:cxnSpLocks/>
            <a:stCxn id="5" idx="2"/>
            <a:endCxn id="9" idx="0"/>
          </p:cNvCxnSpPr>
          <p:nvPr/>
        </p:nvCxnSpPr>
        <p:spPr>
          <a:xfrm>
            <a:off x="8684343" y="4611328"/>
            <a:ext cx="178455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4" name="Title 1">
            <a:extLst>
              <a:ext uri="{FF2B5EF4-FFF2-40B4-BE49-F238E27FC236}">
                <a16:creationId xmlns:a16="http://schemas.microsoft.com/office/drawing/2014/main" id="{982518E2-C044-5D20-5885-D68C28B50039}"/>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3935915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2EFB-1FA9-81BA-E14A-045C38CFA3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BEF3F42-DFD3-4AF6-DBDB-A2B48F1A9D6D}"/>
              </a:ext>
            </a:extLst>
          </p:cNvPr>
          <p:cNvSpPr txBox="1"/>
          <p:nvPr/>
        </p:nvSpPr>
        <p:spPr>
          <a:xfrm>
            <a:off x="0" y="988143"/>
            <a:ext cx="12192000"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Permit (id, zone, plate, status, semester)</a:t>
            </a:r>
          </a:p>
          <a:p>
            <a:pPr marL="457200" indent="-457200">
              <a:lnSpc>
                <a:spcPct val="150000"/>
              </a:lnSpc>
              <a:buFont typeface="Arial" panose="020B0604020202020204" pitchFamily="34" charset="0"/>
              <a:buChar char="•"/>
            </a:pPr>
            <a:r>
              <a:rPr lang="en-US" sz="2800" dirty="0">
                <a:latin typeface="Calibir"/>
              </a:rPr>
              <a:t>Payment (abstract)</a:t>
            </a:r>
          </a:p>
          <a:p>
            <a:pPr marL="914400" lvl="1" indent="-457200">
              <a:lnSpc>
                <a:spcPct val="150000"/>
              </a:lnSpc>
              <a:buFont typeface="Arial" panose="020B0604020202020204" pitchFamily="34" charset="0"/>
              <a:buChar char="•"/>
            </a:pPr>
            <a:r>
              <a:rPr lang="en-US" sz="2800" dirty="0">
                <a:latin typeface="Calibir"/>
              </a:rPr>
              <a:t>Subclasses: </a:t>
            </a:r>
            <a:r>
              <a:rPr lang="en-US" sz="2800" dirty="0" err="1">
                <a:latin typeface="Calibir"/>
              </a:rPr>
              <a:t>CardPayment</a:t>
            </a:r>
            <a:r>
              <a:rPr lang="en-US" sz="2800" dirty="0">
                <a:latin typeface="Calibir"/>
              </a:rPr>
              <a:t>, </a:t>
            </a:r>
            <a:r>
              <a:rPr lang="en-US" sz="2800" dirty="0" err="1">
                <a:latin typeface="Calibir"/>
              </a:rPr>
              <a:t>VoucherPayment</a:t>
            </a:r>
            <a:endParaRPr lang="en-US" sz="2800" dirty="0">
              <a:latin typeface="Calibir"/>
            </a:endParaRPr>
          </a:p>
          <a:p>
            <a:pPr marL="457200"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(name, id)</a:t>
            </a:r>
          </a:p>
          <a:p>
            <a:pPr marL="457200" indent="-457200">
              <a:lnSpc>
                <a:spcPct val="150000"/>
              </a:lnSpc>
              <a:buFont typeface="Arial" panose="020B0604020202020204" pitchFamily="34" charset="0"/>
              <a:buChar char="•"/>
            </a:pPr>
            <a:r>
              <a:rPr lang="en-US" sz="2800" dirty="0">
                <a:latin typeface="Calibir"/>
              </a:rPr>
              <a:t>ParkingDB (acts like a system storage)</a:t>
            </a:r>
          </a:p>
        </p:txBody>
      </p:sp>
      <p:sp>
        <p:nvSpPr>
          <p:cNvPr id="3" name="Rectangle 2">
            <a:extLst>
              <a:ext uri="{FF2B5EF4-FFF2-40B4-BE49-F238E27FC236}">
                <a16:creationId xmlns:a16="http://schemas.microsoft.com/office/drawing/2014/main" id="{F233D850-0F36-E268-425E-1C643EDD56C6}"/>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Payment &lt;&lt;abstract&gt;&gt;</a:t>
            </a:r>
          </a:p>
        </p:txBody>
      </p:sp>
      <p:sp>
        <p:nvSpPr>
          <p:cNvPr id="4" name="Rectangle 3">
            <a:extLst>
              <a:ext uri="{FF2B5EF4-FFF2-40B4-BE49-F238E27FC236}">
                <a16:creationId xmlns:a16="http://schemas.microsoft.com/office/drawing/2014/main" id="{3C3E352D-4630-9C1F-312F-E2B5F766059D}"/>
              </a:ext>
            </a:extLst>
          </p:cNvPr>
          <p:cNvSpPr/>
          <p:nvPr/>
        </p:nvSpPr>
        <p:spPr>
          <a:xfrm>
            <a:off x="5297129"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CardPayment</a:t>
            </a:r>
            <a:r>
              <a:rPr lang="en-US" sz="2800" dirty="0">
                <a:latin typeface="Calibir"/>
              </a:rPr>
              <a:t> (inherits User)</a:t>
            </a:r>
          </a:p>
        </p:txBody>
      </p:sp>
      <p:sp>
        <p:nvSpPr>
          <p:cNvPr id="7" name="Rectangle 6">
            <a:extLst>
              <a:ext uri="{FF2B5EF4-FFF2-40B4-BE49-F238E27FC236}">
                <a16:creationId xmlns:a16="http://schemas.microsoft.com/office/drawing/2014/main" id="{7046671D-0A37-2258-0B73-404185756ADA}"/>
              </a:ext>
            </a:extLst>
          </p:cNvPr>
          <p:cNvSpPr/>
          <p:nvPr/>
        </p:nvSpPr>
        <p:spPr>
          <a:xfrm>
            <a:off x="8849032"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VoucherPayment</a:t>
            </a:r>
            <a:br>
              <a:rPr lang="en-US" sz="2800" dirty="0">
                <a:latin typeface="Calibir"/>
              </a:rPr>
            </a:br>
            <a:r>
              <a:rPr lang="en-US" sz="2800" dirty="0">
                <a:latin typeface="Calibir"/>
              </a:rPr>
              <a:t>(inherits User)</a:t>
            </a:r>
          </a:p>
        </p:txBody>
      </p:sp>
      <p:cxnSp>
        <p:nvCxnSpPr>
          <p:cNvPr id="8" name="Straight Arrow Connector 7">
            <a:extLst>
              <a:ext uri="{FF2B5EF4-FFF2-40B4-BE49-F238E27FC236}">
                <a16:creationId xmlns:a16="http://schemas.microsoft.com/office/drawing/2014/main" id="{56F36708-EC8F-1624-DC02-8D37F0653463}"/>
              </a:ext>
            </a:extLst>
          </p:cNvPr>
          <p:cNvCxnSpPr>
            <a:cxnSpLocks/>
            <a:stCxn id="3" idx="2"/>
          </p:cNvCxnSpPr>
          <p:nvPr/>
        </p:nvCxnSpPr>
        <p:spPr>
          <a:xfrm flipH="1">
            <a:off x="6961239" y="4611328"/>
            <a:ext cx="172310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cxnSp>
        <p:nvCxnSpPr>
          <p:cNvPr id="9" name="Straight Arrow Connector 8">
            <a:extLst>
              <a:ext uri="{FF2B5EF4-FFF2-40B4-BE49-F238E27FC236}">
                <a16:creationId xmlns:a16="http://schemas.microsoft.com/office/drawing/2014/main" id="{929ACB55-1311-9E1A-7222-52C6D0459A47}"/>
              </a:ext>
            </a:extLst>
          </p:cNvPr>
          <p:cNvCxnSpPr>
            <a:cxnSpLocks/>
            <a:stCxn id="3" idx="2"/>
            <a:endCxn id="7" idx="0"/>
          </p:cNvCxnSpPr>
          <p:nvPr/>
        </p:nvCxnSpPr>
        <p:spPr>
          <a:xfrm>
            <a:off x="8684343" y="4611328"/>
            <a:ext cx="178455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13" name="Rectangle 12">
            <a:extLst>
              <a:ext uri="{FF2B5EF4-FFF2-40B4-BE49-F238E27FC236}">
                <a16:creationId xmlns:a16="http://schemas.microsoft.com/office/drawing/2014/main" id="{A1649AFF-8CE3-C873-ACBB-4E805F2B8D5C}"/>
              </a:ext>
            </a:extLst>
          </p:cNvPr>
          <p:cNvSpPr/>
          <p:nvPr/>
        </p:nvSpPr>
        <p:spPr>
          <a:xfrm>
            <a:off x="7064478" y="754868"/>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a:t>
            </a:r>
          </a:p>
        </p:txBody>
      </p:sp>
      <p:sp>
        <p:nvSpPr>
          <p:cNvPr id="15" name="TextBox 14">
            <a:extLst>
              <a:ext uri="{FF2B5EF4-FFF2-40B4-BE49-F238E27FC236}">
                <a16:creationId xmlns:a16="http://schemas.microsoft.com/office/drawing/2014/main" id="{B8490423-87D1-D12F-487C-407FADDFCE39}"/>
              </a:ext>
            </a:extLst>
          </p:cNvPr>
          <p:cNvSpPr txBox="1"/>
          <p:nvPr/>
        </p:nvSpPr>
        <p:spPr>
          <a:xfrm>
            <a:off x="0" y="4887601"/>
            <a:ext cx="5230762" cy="1964512"/>
          </a:xfrm>
          <a:prstGeom prst="rect">
            <a:avLst/>
          </a:prstGeom>
          <a:noFill/>
        </p:spPr>
        <p:txBody>
          <a:bodyPr wrap="square">
            <a:spAutoFit/>
          </a:bodyPr>
          <a:lstStyle/>
          <a:p>
            <a:pPr>
              <a:lnSpc>
                <a:spcPct val="150000"/>
              </a:lnSpc>
            </a:pPr>
            <a:r>
              <a:rPr lang="en-US" sz="2800" dirty="0" err="1">
                <a:latin typeface="Calibir"/>
              </a:rPr>
              <a:t>CardPayment</a:t>
            </a:r>
            <a:r>
              <a:rPr lang="en-US" sz="2800" dirty="0">
                <a:latin typeface="Calibir"/>
              </a:rPr>
              <a:t> and </a:t>
            </a:r>
            <a:r>
              <a:rPr lang="en-US" sz="2800" dirty="0" err="1">
                <a:latin typeface="Calibir"/>
              </a:rPr>
              <a:t>VoucherPayment</a:t>
            </a:r>
            <a:r>
              <a:rPr lang="en-US" sz="2800" dirty="0">
                <a:latin typeface="Calibir"/>
              </a:rPr>
              <a:t> inherit from abstract Payment.</a:t>
            </a:r>
          </a:p>
        </p:txBody>
      </p:sp>
      <p:sp>
        <p:nvSpPr>
          <p:cNvPr id="10" name="Title 1">
            <a:extLst>
              <a:ext uri="{FF2B5EF4-FFF2-40B4-BE49-F238E27FC236}">
                <a16:creationId xmlns:a16="http://schemas.microsoft.com/office/drawing/2014/main" id="{F01FA66D-2E89-5438-0F4F-CC1D9BD86C8B}"/>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39677353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9880C-D1B9-1F8B-C59B-ED61CD361CB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38218C1-6B28-D786-3087-5B041EA81095}"/>
              </a:ext>
            </a:extLst>
          </p:cNvPr>
          <p:cNvSpPr txBox="1"/>
          <p:nvPr/>
        </p:nvSpPr>
        <p:spPr>
          <a:xfrm>
            <a:off x="0" y="988143"/>
            <a:ext cx="12192000"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Permit (id, zone, plate, status, semester)</a:t>
            </a:r>
          </a:p>
          <a:p>
            <a:pPr marL="457200" indent="-457200">
              <a:lnSpc>
                <a:spcPct val="150000"/>
              </a:lnSpc>
              <a:buFont typeface="Arial" panose="020B0604020202020204" pitchFamily="34" charset="0"/>
              <a:buChar char="•"/>
            </a:pPr>
            <a:r>
              <a:rPr lang="en-US" sz="2800" dirty="0">
                <a:latin typeface="Calibir"/>
              </a:rPr>
              <a:t>Payment (abstract)</a:t>
            </a:r>
          </a:p>
          <a:p>
            <a:pPr marL="914400" lvl="1" indent="-457200">
              <a:lnSpc>
                <a:spcPct val="150000"/>
              </a:lnSpc>
              <a:buFont typeface="Arial" panose="020B0604020202020204" pitchFamily="34" charset="0"/>
              <a:buChar char="•"/>
            </a:pPr>
            <a:r>
              <a:rPr lang="en-US" sz="2800" dirty="0">
                <a:latin typeface="Calibir"/>
              </a:rPr>
              <a:t>Subclasses: </a:t>
            </a:r>
            <a:r>
              <a:rPr lang="en-US" sz="2800" dirty="0" err="1">
                <a:latin typeface="Calibir"/>
              </a:rPr>
              <a:t>CardPayment</a:t>
            </a:r>
            <a:r>
              <a:rPr lang="en-US" sz="2800" dirty="0">
                <a:latin typeface="Calibir"/>
              </a:rPr>
              <a:t>, </a:t>
            </a:r>
            <a:r>
              <a:rPr lang="en-US" sz="2800" dirty="0" err="1">
                <a:latin typeface="Calibir"/>
              </a:rPr>
              <a:t>VoucherPayment</a:t>
            </a:r>
            <a:endParaRPr lang="en-US" sz="2800" dirty="0">
              <a:latin typeface="Calibir"/>
            </a:endParaRPr>
          </a:p>
          <a:p>
            <a:pPr marL="457200"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(name, id)</a:t>
            </a:r>
          </a:p>
          <a:p>
            <a:pPr marL="457200" indent="-457200">
              <a:lnSpc>
                <a:spcPct val="150000"/>
              </a:lnSpc>
              <a:buFont typeface="Arial" panose="020B0604020202020204" pitchFamily="34" charset="0"/>
              <a:buChar char="•"/>
            </a:pPr>
            <a:r>
              <a:rPr lang="en-US" sz="2800" dirty="0">
                <a:latin typeface="Calibir"/>
              </a:rPr>
              <a:t>ParkingDB (acts like a system storage)</a:t>
            </a:r>
          </a:p>
        </p:txBody>
      </p:sp>
      <p:sp>
        <p:nvSpPr>
          <p:cNvPr id="3" name="Rectangle 2">
            <a:extLst>
              <a:ext uri="{FF2B5EF4-FFF2-40B4-BE49-F238E27FC236}">
                <a16:creationId xmlns:a16="http://schemas.microsoft.com/office/drawing/2014/main" id="{73006575-0932-442C-0034-1C90AFDF5BD2}"/>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ParkingDB</a:t>
            </a:r>
          </a:p>
        </p:txBody>
      </p:sp>
      <p:sp>
        <p:nvSpPr>
          <p:cNvPr id="13" name="Rectangle 12">
            <a:extLst>
              <a:ext uri="{FF2B5EF4-FFF2-40B4-BE49-F238E27FC236}">
                <a16:creationId xmlns:a16="http://schemas.microsoft.com/office/drawing/2014/main" id="{05A505A0-F01B-8C17-C0A3-3CC99E588EA0}"/>
              </a:ext>
            </a:extLst>
          </p:cNvPr>
          <p:cNvSpPr/>
          <p:nvPr/>
        </p:nvSpPr>
        <p:spPr>
          <a:xfrm>
            <a:off x="7064477" y="1055392"/>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SecurityOfficer</a:t>
            </a:r>
            <a:endParaRPr lang="en-US" sz="2800" dirty="0">
              <a:latin typeface="Calibir"/>
            </a:endParaRPr>
          </a:p>
        </p:txBody>
      </p:sp>
      <p:sp>
        <p:nvSpPr>
          <p:cNvPr id="7" name="Title 1">
            <a:extLst>
              <a:ext uri="{FF2B5EF4-FFF2-40B4-BE49-F238E27FC236}">
                <a16:creationId xmlns:a16="http://schemas.microsoft.com/office/drawing/2014/main" id="{13CE8A54-551D-885A-746B-60E381BF58C6}"/>
              </a:ext>
            </a:extLst>
          </p:cNvPr>
          <p:cNvSpPr>
            <a:spLocks noGrp="1"/>
          </p:cNvSpPr>
          <p:nvPr>
            <p:ph type="title"/>
          </p:nvPr>
        </p:nvSpPr>
        <p:spPr>
          <a:xfrm>
            <a:off x="0" y="0"/>
            <a:ext cx="12192000" cy="74713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86367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D21D6-04E1-552E-F393-5E21C2A8878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E1C7307-6ECD-4F4B-3DB2-EC2EE9E0F12B}"/>
              </a:ext>
            </a:extLst>
          </p:cNvPr>
          <p:cNvSpPr txBox="1"/>
          <p:nvPr/>
        </p:nvSpPr>
        <p:spPr>
          <a:xfrm>
            <a:off x="0" y="988142"/>
            <a:ext cx="5127523" cy="4549835"/>
          </a:xfrm>
          <a:prstGeom prst="rect">
            <a:avLst/>
          </a:prstGeom>
          <a:noFill/>
        </p:spPr>
        <p:txBody>
          <a:bodyPr wrap="square">
            <a:spAutoFit/>
          </a:bodyPr>
          <a:lstStyle/>
          <a:p>
            <a:pPr>
              <a:lnSpc>
                <a:spcPct val="150000"/>
              </a:lnSpc>
            </a:pPr>
            <a:r>
              <a:rPr lang="en-US" sz="2800" b="1" dirty="0">
                <a:latin typeface="Calibir"/>
              </a:rPr>
              <a:t>2. Attributes (inside rectangles)</a:t>
            </a:r>
          </a:p>
          <a:p>
            <a:pPr>
              <a:lnSpc>
                <a:spcPct val="150000"/>
              </a:lnSpc>
            </a:pPr>
            <a:r>
              <a:rPr lang="en-US" sz="2800" dirty="0">
                <a:latin typeface="Calibir"/>
              </a:rPr>
              <a:t>Attributes are the "data fields."</a:t>
            </a:r>
            <a:br>
              <a:rPr lang="en-US" sz="2800" dirty="0">
                <a:latin typeface="Calibir"/>
              </a:rPr>
            </a:b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User → id, name, email, role (Student or Staff)</a:t>
            </a:r>
          </a:p>
          <a:p>
            <a:pPr marL="914400" lvl="1" indent="-457200">
              <a:lnSpc>
                <a:spcPct val="150000"/>
              </a:lnSpc>
              <a:buFont typeface="Arial" panose="020B0604020202020204" pitchFamily="34" charset="0"/>
              <a:buChar char="•"/>
            </a:pPr>
            <a:r>
              <a:rPr lang="en-US" sz="2800" dirty="0">
                <a:latin typeface="Calibir"/>
              </a:rPr>
              <a:t>Permit → id, zone, plate, status, semester</a:t>
            </a:r>
          </a:p>
        </p:txBody>
      </p:sp>
      <p:sp>
        <p:nvSpPr>
          <p:cNvPr id="15" name="Rectangle 14">
            <a:extLst>
              <a:ext uri="{FF2B5EF4-FFF2-40B4-BE49-F238E27FC236}">
                <a16:creationId xmlns:a16="http://schemas.microsoft.com/office/drawing/2014/main" id="{ABD6B752-270F-A7C1-B0B7-E37CF05C8373}"/>
              </a:ext>
            </a:extLst>
          </p:cNvPr>
          <p:cNvSpPr/>
          <p:nvPr/>
        </p:nvSpPr>
        <p:spPr>
          <a:xfrm>
            <a:off x="5444614" y="2120507"/>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6FB36EE1-6A9F-4E61-7BF8-6F724FE1BD7F}"/>
              </a:ext>
            </a:extLst>
          </p:cNvPr>
          <p:cNvSpPr/>
          <p:nvPr/>
        </p:nvSpPr>
        <p:spPr>
          <a:xfrm>
            <a:off x="5444613" y="3429001"/>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A1CB5FBB-32D4-967B-566A-5D8CC2F259D8}"/>
              </a:ext>
            </a:extLst>
          </p:cNvPr>
          <p:cNvSpPr/>
          <p:nvPr/>
        </p:nvSpPr>
        <p:spPr>
          <a:xfrm>
            <a:off x="5444613" y="41016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BF90537D-C7F4-BE03-63D0-E309D0D77FF8}"/>
              </a:ext>
            </a:extLst>
          </p:cNvPr>
          <p:cNvSpPr/>
          <p:nvPr/>
        </p:nvSpPr>
        <p:spPr>
          <a:xfrm>
            <a:off x="5444613" y="4765038"/>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C9CAA7D7-BD41-F2BD-5E49-D6D1402CBFF4}"/>
              </a:ext>
            </a:extLst>
          </p:cNvPr>
          <p:cNvSpPr/>
          <p:nvPr/>
        </p:nvSpPr>
        <p:spPr>
          <a:xfrm>
            <a:off x="5444613" y="5446988"/>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6AAD5FF0-6205-B31A-50EF-E96E14EC8595}"/>
              </a:ext>
            </a:extLst>
          </p:cNvPr>
          <p:cNvSpPr/>
          <p:nvPr/>
        </p:nvSpPr>
        <p:spPr>
          <a:xfrm>
            <a:off x="5444613" y="61103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9CC9BDE6-C1EC-F06A-2B32-CA7717FAB31E}"/>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F20FA66F-49E8-7D55-DCFC-23262DF3F69C}"/>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FCEA3440-C767-F624-CC08-954F335C31C4}"/>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AD95AF00-444A-E009-DA4A-4CDB0CC09305}"/>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EBA47345-2963-FC83-EAFF-392FF8C15060}"/>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CD6898F5-97B3-F49A-9681-7D9F2CCB56E5}"/>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022091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38692-7B7F-2834-A11F-7857494F0DC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0AFAE2A-3E22-4882-7346-CB8520B2E595}"/>
              </a:ext>
            </a:extLst>
          </p:cNvPr>
          <p:cNvSpPr txBox="1"/>
          <p:nvPr/>
        </p:nvSpPr>
        <p:spPr>
          <a:xfrm>
            <a:off x="0" y="184586"/>
            <a:ext cx="8834282" cy="6260368"/>
          </a:xfrm>
          <a:prstGeom prst="rect">
            <a:avLst/>
          </a:prstGeom>
          <a:noFill/>
        </p:spPr>
        <p:txBody>
          <a:bodyPr wrap="square">
            <a:spAutoFit/>
          </a:bodyPr>
          <a:lstStyle/>
          <a:p>
            <a:pPr>
              <a:lnSpc>
                <a:spcPct val="150000"/>
              </a:lnSpc>
            </a:pPr>
            <a:r>
              <a:rPr lang="en-US" sz="2700" b="1" dirty="0">
                <a:latin typeface="Calibir"/>
              </a:rPr>
              <a:t>What does the “+” mean?</a:t>
            </a:r>
          </a:p>
          <a:p>
            <a:pPr>
              <a:lnSpc>
                <a:spcPct val="150000"/>
              </a:lnSpc>
            </a:pPr>
            <a:r>
              <a:rPr lang="en-US" sz="2700" dirty="0">
                <a:latin typeface="Calibir"/>
              </a:rPr>
              <a:t>In UML, symbols in front of attributes/methods show visibility (who can access it):</a:t>
            </a:r>
          </a:p>
          <a:p>
            <a:pPr marL="457200" indent="-457200">
              <a:lnSpc>
                <a:spcPct val="150000"/>
              </a:lnSpc>
              <a:buFont typeface="Arial" panose="020B0604020202020204" pitchFamily="34" charset="0"/>
              <a:buChar char="•"/>
            </a:pPr>
            <a:r>
              <a:rPr lang="en-US" sz="2700" dirty="0">
                <a:latin typeface="Calibir"/>
              </a:rPr>
              <a:t>+ public – anyone can access it (other classes too).</a:t>
            </a:r>
          </a:p>
          <a:p>
            <a:pPr marL="457200" indent="-457200">
              <a:lnSpc>
                <a:spcPct val="150000"/>
              </a:lnSpc>
              <a:buFont typeface="Arial" panose="020B0604020202020204" pitchFamily="34" charset="0"/>
              <a:buChar char="•"/>
            </a:pPr>
            <a:r>
              <a:rPr lang="en-US" sz="2700" dirty="0">
                <a:latin typeface="Calibir"/>
              </a:rPr>
              <a:t>- private – only the class itself can access it.</a:t>
            </a:r>
          </a:p>
          <a:p>
            <a:pPr marL="457200" indent="-457200">
              <a:lnSpc>
                <a:spcPct val="150000"/>
              </a:lnSpc>
              <a:buFont typeface="Arial" panose="020B0604020202020204" pitchFamily="34" charset="0"/>
              <a:buChar char="•"/>
            </a:pPr>
            <a:r>
              <a:rPr lang="en-US" sz="2700" dirty="0">
                <a:latin typeface="Calibir"/>
              </a:rPr>
              <a:t># protected – the class and its subclasses (children) can access it.</a:t>
            </a:r>
          </a:p>
          <a:p>
            <a:pPr marL="457200" indent="-457200">
              <a:lnSpc>
                <a:spcPct val="150000"/>
              </a:lnSpc>
              <a:buFont typeface="Arial" panose="020B0604020202020204" pitchFamily="34" charset="0"/>
              <a:buChar char="•"/>
            </a:pPr>
            <a:r>
              <a:rPr lang="en-US" sz="2700" dirty="0">
                <a:latin typeface="Calibir"/>
              </a:rPr>
              <a:t>~ package – only classes in the same package/module can access it.</a:t>
            </a:r>
          </a:p>
          <a:p>
            <a:pPr>
              <a:lnSpc>
                <a:spcPct val="150000"/>
              </a:lnSpc>
            </a:pPr>
            <a:r>
              <a:rPr lang="en-US" sz="2700" dirty="0">
                <a:latin typeface="Calibir"/>
              </a:rPr>
              <a:t>So in the diagram we see, +name means </a:t>
            </a:r>
            <a:r>
              <a:rPr lang="en-US" sz="2700" i="1" dirty="0">
                <a:latin typeface="Calibir"/>
              </a:rPr>
              <a:t>name is public</a:t>
            </a:r>
            <a:r>
              <a:rPr lang="en-US" sz="2700" dirty="0">
                <a:latin typeface="Calibir"/>
              </a:rPr>
              <a:t>.</a:t>
            </a:r>
          </a:p>
        </p:txBody>
      </p:sp>
      <p:sp>
        <p:nvSpPr>
          <p:cNvPr id="3" name="Rectangle 2">
            <a:extLst>
              <a:ext uri="{FF2B5EF4-FFF2-40B4-BE49-F238E27FC236}">
                <a16:creationId xmlns:a16="http://schemas.microsoft.com/office/drawing/2014/main" id="{1A34D81F-0A4F-43EE-1893-9A4F00BC3D34}"/>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4" name="Rectangle 3">
            <a:extLst>
              <a:ext uri="{FF2B5EF4-FFF2-40B4-BE49-F238E27FC236}">
                <a16:creationId xmlns:a16="http://schemas.microsoft.com/office/drawing/2014/main" id="{C15BFAED-607B-75AB-C5DB-2E14C73154E0}"/>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5" name="Rectangle 4">
            <a:extLst>
              <a:ext uri="{FF2B5EF4-FFF2-40B4-BE49-F238E27FC236}">
                <a16:creationId xmlns:a16="http://schemas.microsoft.com/office/drawing/2014/main" id="{103603E5-7F97-AC4E-5616-F50914305FA5}"/>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7" name="Rectangle 6">
            <a:extLst>
              <a:ext uri="{FF2B5EF4-FFF2-40B4-BE49-F238E27FC236}">
                <a16:creationId xmlns:a16="http://schemas.microsoft.com/office/drawing/2014/main" id="{4B2B80B5-DEBA-9592-8BE7-FA9B43B287E2}"/>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8" name="Rectangle 7">
            <a:extLst>
              <a:ext uri="{FF2B5EF4-FFF2-40B4-BE49-F238E27FC236}">
                <a16:creationId xmlns:a16="http://schemas.microsoft.com/office/drawing/2014/main" id="{6B17BCD6-3798-22F7-E42F-54C436BC45F2}"/>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Tree>
    <p:extLst>
      <p:ext uri="{BB962C8B-B14F-4D97-AF65-F5344CB8AC3E}">
        <p14:creationId xmlns:p14="http://schemas.microsoft.com/office/powerpoint/2010/main" val="2140469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500"/>
                                        <p:tgtEl>
                                          <p:spTgt spid="6">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fade">
                                      <p:cBhvr>
                                        <p:cTn id="10" dur="500"/>
                                        <p:tgtEl>
                                          <p:spTgt spid="6">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animEffect transition="in" filter="fade">
                                      <p:cBhvr>
                                        <p:cTn id="13" dur="500"/>
                                        <p:tgtEl>
                                          <p:spTgt spid="6">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6">
                                            <p:txEl>
                                              <p:pRg st="4" end="4"/>
                                            </p:txEl>
                                          </p:spTgt>
                                        </p:tgtEl>
                                        <p:attrNameLst>
                                          <p:attrName>style.visibility</p:attrName>
                                        </p:attrNameLst>
                                      </p:cBhvr>
                                      <p:to>
                                        <p:strVal val="visible"/>
                                      </p:to>
                                    </p:set>
                                    <p:animEffect transition="in" filter="fade">
                                      <p:cBhvr>
                                        <p:cTn id="16" dur="500"/>
                                        <p:tgtEl>
                                          <p:spTgt spid="6">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animEffect transition="in" filter="fade">
                                      <p:cBhvr>
                                        <p:cTn id="19" dur="500"/>
                                        <p:tgtEl>
                                          <p:spTgt spid="6">
                                            <p:txEl>
                                              <p:pRg st="5" end="5"/>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6">
                                            <p:txEl>
                                              <p:pRg st="6" end="6"/>
                                            </p:txEl>
                                          </p:spTgt>
                                        </p:tgtEl>
                                        <p:attrNameLst>
                                          <p:attrName>style.visibility</p:attrName>
                                        </p:attrNameLst>
                                      </p:cBhvr>
                                      <p:to>
                                        <p:strVal val="visible"/>
                                      </p:to>
                                    </p:set>
                                    <p:animEffect transition="in" filter="fade">
                                      <p:cBhvr>
                                        <p:cTn id="22" dur="500"/>
                                        <p:tgtEl>
                                          <p:spTgt spid="6">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7A5FD-6E56-DD27-3F69-B3B7ECE0486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6F837F0-CC94-457D-A48F-65597052BB30}"/>
              </a:ext>
            </a:extLst>
          </p:cNvPr>
          <p:cNvSpPr txBox="1"/>
          <p:nvPr/>
        </p:nvSpPr>
        <p:spPr>
          <a:xfrm>
            <a:off x="0" y="672662"/>
            <a:ext cx="5600430" cy="6260368"/>
          </a:xfrm>
          <a:prstGeom prst="rect">
            <a:avLst/>
          </a:prstGeom>
          <a:noFill/>
        </p:spPr>
        <p:txBody>
          <a:bodyPr wrap="square">
            <a:spAutoFit/>
          </a:bodyPr>
          <a:lstStyle/>
          <a:p>
            <a:pPr>
              <a:lnSpc>
                <a:spcPct val="150000"/>
              </a:lnSpc>
            </a:pPr>
            <a:r>
              <a:rPr lang="en-US" sz="2700" b="1" dirty="0">
                <a:latin typeface="Calibir"/>
              </a:rPr>
              <a:t>Why is #role Protected?</a:t>
            </a:r>
          </a:p>
          <a:p>
            <a:pPr>
              <a:lnSpc>
                <a:spcPct val="150000"/>
              </a:lnSpc>
            </a:pPr>
            <a:r>
              <a:rPr lang="en-US" sz="2700" dirty="0">
                <a:latin typeface="Calibir"/>
              </a:rPr>
              <a:t>In the diagram, +id, +name, +email are public because they need to be widely accessed (e.g., to display or look up a user).</a:t>
            </a:r>
          </a:p>
          <a:p>
            <a:pPr>
              <a:lnSpc>
                <a:spcPct val="150000"/>
              </a:lnSpc>
            </a:pPr>
            <a:r>
              <a:rPr lang="en-US" sz="2700" dirty="0">
                <a:latin typeface="Calibir"/>
              </a:rPr>
              <a:t>#role is protected because:</a:t>
            </a:r>
          </a:p>
          <a:p>
            <a:pPr marL="914400" lvl="1" indent="-457200">
              <a:lnSpc>
                <a:spcPct val="150000"/>
              </a:lnSpc>
              <a:buFont typeface="Arial" panose="020B0604020202020204" pitchFamily="34" charset="0"/>
              <a:buChar char="•"/>
            </a:pPr>
            <a:r>
              <a:rPr lang="en-US" sz="2700" dirty="0">
                <a:latin typeface="Calibir"/>
              </a:rPr>
              <a:t>It’s an internal property that only subclasses (like Student and Staff) and the system itself should use.</a:t>
            </a:r>
          </a:p>
        </p:txBody>
      </p:sp>
      <p:sp>
        <p:nvSpPr>
          <p:cNvPr id="15" name="Rectangle 14">
            <a:extLst>
              <a:ext uri="{FF2B5EF4-FFF2-40B4-BE49-F238E27FC236}">
                <a16:creationId xmlns:a16="http://schemas.microsoft.com/office/drawing/2014/main" id="{F16AA474-DBC1-01F0-2B09-144CB4FB2B88}"/>
              </a:ext>
            </a:extLst>
          </p:cNvPr>
          <p:cNvSpPr/>
          <p:nvPr/>
        </p:nvSpPr>
        <p:spPr>
          <a:xfrm>
            <a:off x="5656487" y="2134403"/>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E74FE3FA-4CC7-8E5C-F9E0-11C707BC2E3C}"/>
              </a:ext>
            </a:extLst>
          </p:cNvPr>
          <p:cNvSpPr/>
          <p:nvPr/>
        </p:nvSpPr>
        <p:spPr>
          <a:xfrm>
            <a:off x="5656486" y="3442897"/>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E5B77B30-D610-3004-74F7-DE82F9EF254B}"/>
              </a:ext>
            </a:extLst>
          </p:cNvPr>
          <p:cNvSpPr/>
          <p:nvPr/>
        </p:nvSpPr>
        <p:spPr>
          <a:xfrm>
            <a:off x="5656486" y="41155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F6D57A0D-967A-1657-2145-5C41B226FD9E}"/>
              </a:ext>
            </a:extLst>
          </p:cNvPr>
          <p:cNvSpPr/>
          <p:nvPr/>
        </p:nvSpPr>
        <p:spPr>
          <a:xfrm>
            <a:off x="5656486" y="477893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BE2F9CC1-C5FD-8009-4D65-67D5E70B0302}"/>
              </a:ext>
            </a:extLst>
          </p:cNvPr>
          <p:cNvSpPr/>
          <p:nvPr/>
        </p:nvSpPr>
        <p:spPr>
          <a:xfrm>
            <a:off x="5656486" y="546088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3F89A5A1-0D21-CA2D-C95C-1A1664B8030A}"/>
              </a:ext>
            </a:extLst>
          </p:cNvPr>
          <p:cNvSpPr/>
          <p:nvPr/>
        </p:nvSpPr>
        <p:spPr>
          <a:xfrm>
            <a:off x="5656486" y="61242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204572B0-5E60-DED0-A9C4-6BA4E8676841}"/>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A09E1D2C-3A3C-4B24-DE2A-5F779D41B5F2}"/>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689F8C3B-1957-B3D4-9DF7-E27F5A83B5E7}"/>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2328A068-D1CA-6C95-C259-31909FC6C71C}"/>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453AFA1D-8D15-E49C-FC43-D63D05CDF0AB}"/>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0224EA83-C644-C023-E7B4-35CF1B9AF478}"/>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709033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1000"/>
                                        <p:tgtEl>
                                          <p:spTgt spid="6">
                                            <p:txEl>
                                              <p:pRg st="1" end="1"/>
                                            </p:txEl>
                                          </p:spTgt>
                                        </p:tgtEl>
                                      </p:cBhvr>
                                    </p:animEffect>
                                    <p:anim calcmode="lin" valueType="num">
                                      <p:cBhvr>
                                        <p:cTn id="8"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2" end="2"/>
                                            </p:txEl>
                                          </p:spTgt>
                                        </p:tgtEl>
                                        <p:attrNameLst>
                                          <p:attrName>style.visibility</p:attrName>
                                        </p:attrNameLst>
                                      </p:cBhvr>
                                      <p:to>
                                        <p:strVal val="visible"/>
                                      </p:to>
                                    </p:set>
                                    <p:animEffect transition="in" filter="fade">
                                      <p:cBhvr>
                                        <p:cTn id="12" dur="1000"/>
                                        <p:tgtEl>
                                          <p:spTgt spid="6">
                                            <p:txEl>
                                              <p:pRg st="2" end="2"/>
                                            </p:txEl>
                                          </p:spTgt>
                                        </p:tgtEl>
                                      </p:cBhvr>
                                    </p:animEffect>
                                    <p:anim calcmode="lin" valueType="num">
                                      <p:cBhvr>
                                        <p:cTn id="13"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animEffect transition="in" filter="fade">
                                      <p:cBhvr>
                                        <p:cTn id="17" dur="1000"/>
                                        <p:tgtEl>
                                          <p:spTgt spid="6">
                                            <p:txEl>
                                              <p:pRg st="3" end="3"/>
                                            </p:txEl>
                                          </p:spTgt>
                                        </p:tgtEl>
                                      </p:cBhvr>
                                    </p:animEffect>
                                    <p:anim calcmode="lin" valueType="num">
                                      <p:cBhvr>
                                        <p:cTn id="18"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6">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F5C31-AC15-2FCD-C382-18F05567529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6930BD3-EA78-5665-AC9F-82A0B75A342E}"/>
              </a:ext>
            </a:extLst>
          </p:cNvPr>
          <p:cNvSpPr txBox="1"/>
          <p:nvPr/>
        </p:nvSpPr>
        <p:spPr>
          <a:xfrm>
            <a:off x="0" y="1299835"/>
            <a:ext cx="5600430" cy="5013873"/>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700" dirty="0">
                <a:latin typeface="Calibir"/>
              </a:rPr>
              <a:t>We don’t want every external class (like Vehicle or Permit) directly changing the role of a user.</a:t>
            </a:r>
          </a:p>
          <a:p>
            <a:pPr marL="914400" lvl="1" indent="-457200">
              <a:lnSpc>
                <a:spcPct val="150000"/>
              </a:lnSpc>
              <a:buFont typeface="Arial" panose="020B0604020202020204" pitchFamily="34" charset="0"/>
              <a:buChar char="•"/>
            </a:pPr>
            <a:r>
              <a:rPr lang="en-US" sz="2700" dirty="0">
                <a:latin typeface="Calibir"/>
              </a:rPr>
              <a:t>For example, only the User hierarchy should decide whether someone is a Student, Staff, or Admin.</a:t>
            </a:r>
          </a:p>
        </p:txBody>
      </p:sp>
      <p:sp>
        <p:nvSpPr>
          <p:cNvPr id="15" name="Rectangle 14">
            <a:extLst>
              <a:ext uri="{FF2B5EF4-FFF2-40B4-BE49-F238E27FC236}">
                <a16:creationId xmlns:a16="http://schemas.microsoft.com/office/drawing/2014/main" id="{1B65FB25-1504-07E0-556C-401161AA57E5}"/>
              </a:ext>
            </a:extLst>
          </p:cNvPr>
          <p:cNvSpPr/>
          <p:nvPr/>
        </p:nvSpPr>
        <p:spPr>
          <a:xfrm>
            <a:off x="5656487" y="2134403"/>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13446820-FF82-3345-EBBC-AC9884F4F60A}"/>
              </a:ext>
            </a:extLst>
          </p:cNvPr>
          <p:cNvSpPr/>
          <p:nvPr/>
        </p:nvSpPr>
        <p:spPr>
          <a:xfrm>
            <a:off x="5656486" y="3442897"/>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82682C9E-5759-6C2F-2745-266BC5CC0B7D}"/>
              </a:ext>
            </a:extLst>
          </p:cNvPr>
          <p:cNvSpPr/>
          <p:nvPr/>
        </p:nvSpPr>
        <p:spPr>
          <a:xfrm>
            <a:off x="5656486" y="41155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7FB2C775-AB48-8265-427D-476AF317B6A1}"/>
              </a:ext>
            </a:extLst>
          </p:cNvPr>
          <p:cNvSpPr/>
          <p:nvPr/>
        </p:nvSpPr>
        <p:spPr>
          <a:xfrm>
            <a:off x="5656486" y="477893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2488174A-59FA-1E20-FB69-772367C41302}"/>
              </a:ext>
            </a:extLst>
          </p:cNvPr>
          <p:cNvSpPr/>
          <p:nvPr/>
        </p:nvSpPr>
        <p:spPr>
          <a:xfrm>
            <a:off x="5656486" y="546088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EE9344C1-4464-5B09-2CE6-669C57793F5D}"/>
              </a:ext>
            </a:extLst>
          </p:cNvPr>
          <p:cNvSpPr/>
          <p:nvPr/>
        </p:nvSpPr>
        <p:spPr>
          <a:xfrm>
            <a:off x="5656486" y="61242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39F14FD0-782D-D575-5547-D87D239219F1}"/>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705B25AD-4E0C-2643-9A3F-6CD6E76941D2}"/>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A15529ED-DB91-2514-8F96-6A2229744C98}"/>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08CFAF4A-F958-7D88-A886-E4BEE89ED7B7}"/>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FC339270-AA27-45C6-7A47-4401DC02463D}"/>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8BD3C86C-FECA-A33D-8074-B1D6D8A7DC5A}"/>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4622939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E3401-94C0-D5AC-E2F5-33FF685E0CD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4E24356-25E4-EF71-2EF5-B97A85334933}"/>
              </a:ext>
            </a:extLst>
          </p:cNvPr>
          <p:cNvSpPr txBox="1"/>
          <p:nvPr/>
        </p:nvSpPr>
        <p:spPr>
          <a:xfrm>
            <a:off x="0" y="517754"/>
            <a:ext cx="5600430" cy="6488828"/>
          </a:xfrm>
          <a:prstGeom prst="rect">
            <a:avLst/>
          </a:prstGeom>
          <a:noFill/>
        </p:spPr>
        <p:txBody>
          <a:bodyPr wrap="square">
            <a:spAutoFit/>
          </a:bodyPr>
          <a:lstStyle/>
          <a:p>
            <a:pPr>
              <a:lnSpc>
                <a:spcPct val="150000"/>
              </a:lnSpc>
            </a:pPr>
            <a:r>
              <a:rPr lang="en-US" sz="2800" b="1" dirty="0">
                <a:latin typeface="Calibir"/>
              </a:rPr>
              <a:t>In simple words:</a:t>
            </a:r>
          </a:p>
          <a:p>
            <a:pPr marL="803275" indent="-457200">
              <a:lnSpc>
                <a:spcPct val="150000"/>
              </a:lnSpc>
              <a:buFont typeface="Arial" panose="020B0604020202020204" pitchFamily="34" charset="0"/>
              <a:buChar char="•"/>
            </a:pPr>
            <a:r>
              <a:rPr lang="en-US" sz="2800" dirty="0">
                <a:latin typeface="Calibir"/>
              </a:rPr>
              <a:t>public (+) → information we want everyone to see/use (e.g., name, id).</a:t>
            </a:r>
          </a:p>
          <a:p>
            <a:pPr marL="803275" indent="-457200">
              <a:lnSpc>
                <a:spcPct val="150000"/>
              </a:lnSpc>
              <a:buFont typeface="Arial" panose="020B0604020202020204" pitchFamily="34" charset="0"/>
              <a:buChar char="•"/>
            </a:pPr>
            <a:r>
              <a:rPr lang="en-US" sz="2800" dirty="0">
                <a:latin typeface="Calibir"/>
              </a:rPr>
              <a:t>protected (#) → information we only want </a:t>
            </a:r>
            <a:r>
              <a:rPr lang="en-US" sz="2800" i="1" dirty="0">
                <a:latin typeface="Calibir"/>
              </a:rPr>
              <a:t>children of User</a:t>
            </a:r>
            <a:r>
              <a:rPr lang="en-US" sz="2800" dirty="0">
                <a:latin typeface="Calibir"/>
              </a:rPr>
              <a:t> (Student, Staff) to use, but not outsiders.</a:t>
            </a:r>
          </a:p>
          <a:p>
            <a:pPr marL="803275" indent="-457200">
              <a:lnSpc>
                <a:spcPct val="150000"/>
              </a:lnSpc>
              <a:buFont typeface="Arial" panose="020B0604020202020204" pitchFamily="34" charset="0"/>
              <a:buChar char="•"/>
            </a:pPr>
            <a:r>
              <a:rPr lang="en-US" sz="2800" dirty="0">
                <a:latin typeface="Calibir"/>
              </a:rPr>
              <a:t>This keeps the system safe and structured.</a:t>
            </a:r>
          </a:p>
        </p:txBody>
      </p:sp>
      <p:sp>
        <p:nvSpPr>
          <p:cNvPr id="15" name="Rectangle 14">
            <a:extLst>
              <a:ext uri="{FF2B5EF4-FFF2-40B4-BE49-F238E27FC236}">
                <a16:creationId xmlns:a16="http://schemas.microsoft.com/office/drawing/2014/main" id="{ADDDB5A3-F94A-A694-A571-354BA3960451}"/>
              </a:ext>
            </a:extLst>
          </p:cNvPr>
          <p:cNvSpPr/>
          <p:nvPr/>
        </p:nvSpPr>
        <p:spPr>
          <a:xfrm>
            <a:off x="5656487" y="2134403"/>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AD75178E-C051-A65F-9EA0-6FC1A0AC9FB3}"/>
              </a:ext>
            </a:extLst>
          </p:cNvPr>
          <p:cNvSpPr/>
          <p:nvPr/>
        </p:nvSpPr>
        <p:spPr>
          <a:xfrm>
            <a:off x="5656486" y="3442897"/>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1B4847CD-0327-32CE-4455-31AA498FAFBA}"/>
              </a:ext>
            </a:extLst>
          </p:cNvPr>
          <p:cNvSpPr/>
          <p:nvPr/>
        </p:nvSpPr>
        <p:spPr>
          <a:xfrm>
            <a:off x="5656486" y="41155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A9677309-CDA6-6702-3DF7-936625C14F64}"/>
              </a:ext>
            </a:extLst>
          </p:cNvPr>
          <p:cNvSpPr/>
          <p:nvPr/>
        </p:nvSpPr>
        <p:spPr>
          <a:xfrm>
            <a:off x="5656486" y="477893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DACAC58B-9C43-E4E7-E678-93104EE6AA46}"/>
              </a:ext>
            </a:extLst>
          </p:cNvPr>
          <p:cNvSpPr/>
          <p:nvPr/>
        </p:nvSpPr>
        <p:spPr>
          <a:xfrm>
            <a:off x="5656486" y="546088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E1C17092-1EC1-382B-714C-D1C3A8A58B82}"/>
              </a:ext>
            </a:extLst>
          </p:cNvPr>
          <p:cNvSpPr/>
          <p:nvPr/>
        </p:nvSpPr>
        <p:spPr>
          <a:xfrm>
            <a:off x="5656486" y="61242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D2195C51-1500-842D-0891-87292A24A414}"/>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13DF6FFC-C682-EF0F-E598-05D63034F904}"/>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F09C1868-07ED-0C4E-65BC-BB93C1D22211}"/>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0687E97F-DB28-170B-AB01-7F87AE0E7D81}"/>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DCA06DCC-D1FB-E6A4-C19C-57D4B926FB22}"/>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8EAC8ECC-9C19-FF25-C815-043DE5A40515}"/>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9809706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3A617-F877-42B5-2843-A648DA667A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B87E48F-35B6-0B9A-BFA1-3F9011A995EB}"/>
              </a:ext>
            </a:extLst>
          </p:cNvPr>
          <p:cNvSpPr txBox="1"/>
          <p:nvPr/>
        </p:nvSpPr>
        <p:spPr>
          <a:xfrm>
            <a:off x="0" y="988142"/>
            <a:ext cx="5127523"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(name, id)</a:t>
            </a:r>
          </a:p>
          <a:p>
            <a:pPr marL="457200" indent="-457200">
              <a:lnSpc>
                <a:spcPct val="150000"/>
              </a:lnSpc>
              <a:buFont typeface="Arial" panose="020B0604020202020204" pitchFamily="34" charset="0"/>
              <a:buChar char="•"/>
            </a:pPr>
            <a:r>
              <a:rPr lang="en-US" sz="2800" dirty="0" err="1">
                <a:latin typeface="Calibir"/>
              </a:rPr>
              <a:t>VehicleInfo</a:t>
            </a:r>
            <a:r>
              <a:rPr lang="en-US" sz="2800" dirty="0">
                <a:latin typeface="Calibir"/>
              </a:rPr>
              <a:t> (plate, make)</a:t>
            </a:r>
          </a:p>
          <a:p>
            <a:pPr marL="457200" indent="-457200">
              <a:lnSpc>
                <a:spcPct val="150000"/>
              </a:lnSpc>
              <a:buFont typeface="Arial" panose="020B0604020202020204" pitchFamily="34" charset="0"/>
              <a:buChar char="•"/>
            </a:pPr>
            <a:r>
              <a:rPr lang="en-US" sz="2800" dirty="0">
                <a:latin typeface="Calibir"/>
              </a:rPr>
              <a:t>ParkingDB (</a:t>
            </a:r>
            <a:r>
              <a:rPr lang="en-US" sz="2800" dirty="0" err="1">
                <a:latin typeface="Calibir"/>
              </a:rPr>
              <a:t>savePermit</a:t>
            </a:r>
            <a:r>
              <a:rPr lang="en-US" sz="2800" dirty="0">
                <a:latin typeface="Calibir"/>
              </a:rPr>
              <a:t>(), </a:t>
            </a:r>
            <a:r>
              <a:rPr lang="en-US" sz="2800" dirty="0" err="1">
                <a:latin typeface="Calibir"/>
              </a:rPr>
              <a:t>readPermit</a:t>
            </a:r>
            <a:r>
              <a:rPr lang="en-US" sz="2800" dirty="0">
                <a:latin typeface="Calibir"/>
              </a:rPr>
              <a:t>())</a:t>
            </a:r>
          </a:p>
        </p:txBody>
      </p:sp>
      <p:sp>
        <p:nvSpPr>
          <p:cNvPr id="3" name="Rectangle 2">
            <a:extLst>
              <a:ext uri="{FF2B5EF4-FFF2-40B4-BE49-F238E27FC236}">
                <a16:creationId xmlns:a16="http://schemas.microsoft.com/office/drawing/2014/main" id="{833B77D5-D69B-5C7B-2F0A-AE5B65FBA186}"/>
              </a:ext>
            </a:extLst>
          </p:cNvPr>
          <p:cNvSpPr/>
          <p:nvPr/>
        </p:nvSpPr>
        <p:spPr>
          <a:xfrm>
            <a:off x="8952271" y="530942"/>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SecurityOfficer</a:t>
            </a:r>
            <a:endParaRPr lang="en-US" sz="2800" dirty="0">
              <a:latin typeface="Calibir"/>
            </a:endParaRPr>
          </a:p>
        </p:txBody>
      </p:sp>
      <p:sp>
        <p:nvSpPr>
          <p:cNvPr id="10" name="Rectangle 9">
            <a:extLst>
              <a:ext uri="{FF2B5EF4-FFF2-40B4-BE49-F238E27FC236}">
                <a16:creationId xmlns:a16="http://schemas.microsoft.com/office/drawing/2014/main" id="{E45ECF06-AA4E-5C13-E8CE-E202A582D610}"/>
              </a:ext>
            </a:extLst>
          </p:cNvPr>
          <p:cNvSpPr/>
          <p:nvPr/>
        </p:nvSpPr>
        <p:spPr>
          <a:xfrm>
            <a:off x="8952270" y="1839436"/>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11" name="Rectangle 10">
            <a:extLst>
              <a:ext uri="{FF2B5EF4-FFF2-40B4-BE49-F238E27FC236}">
                <a16:creationId xmlns:a16="http://schemas.microsoft.com/office/drawing/2014/main" id="{9AA21895-1D9F-A065-0E13-9355903F8A70}"/>
              </a:ext>
            </a:extLst>
          </p:cNvPr>
          <p:cNvSpPr/>
          <p:nvPr/>
        </p:nvSpPr>
        <p:spPr>
          <a:xfrm>
            <a:off x="8952270" y="2512098"/>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5" name="Rectangle 14">
            <a:extLst>
              <a:ext uri="{FF2B5EF4-FFF2-40B4-BE49-F238E27FC236}">
                <a16:creationId xmlns:a16="http://schemas.microsoft.com/office/drawing/2014/main" id="{34C41D10-EBD9-3B01-5A6F-BB1E029493CA}"/>
              </a:ext>
            </a:extLst>
          </p:cNvPr>
          <p:cNvSpPr/>
          <p:nvPr/>
        </p:nvSpPr>
        <p:spPr>
          <a:xfrm>
            <a:off x="5444614" y="2120507"/>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VehicleInfo</a:t>
            </a:r>
            <a:endParaRPr lang="en-US" sz="2800" dirty="0">
              <a:latin typeface="Calibir"/>
            </a:endParaRPr>
          </a:p>
        </p:txBody>
      </p:sp>
      <p:sp>
        <p:nvSpPr>
          <p:cNvPr id="16" name="Rectangle 15">
            <a:extLst>
              <a:ext uri="{FF2B5EF4-FFF2-40B4-BE49-F238E27FC236}">
                <a16:creationId xmlns:a16="http://schemas.microsoft.com/office/drawing/2014/main" id="{0F6C5D30-AA3F-867E-9BC2-E1C9F16C123E}"/>
              </a:ext>
            </a:extLst>
          </p:cNvPr>
          <p:cNvSpPr/>
          <p:nvPr/>
        </p:nvSpPr>
        <p:spPr>
          <a:xfrm>
            <a:off x="5444613" y="3429001"/>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7" name="Rectangle 16">
            <a:extLst>
              <a:ext uri="{FF2B5EF4-FFF2-40B4-BE49-F238E27FC236}">
                <a16:creationId xmlns:a16="http://schemas.microsoft.com/office/drawing/2014/main" id="{0843170B-694D-4471-FC28-A8D53D695C9F}"/>
              </a:ext>
            </a:extLst>
          </p:cNvPr>
          <p:cNvSpPr/>
          <p:nvPr/>
        </p:nvSpPr>
        <p:spPr>
          <a:xfrm>
            <a:off x="5444613" y="41016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make</a:t>
            </a:r>
          </a:p>
        </p:txBody>
      </p:sp>
      <p:sp>
        <p:nvSpPr>
          <p:cNvPr id="4" name="Rectangle 3">
            <a:extLst>
              <a:ext uri="{FF2B5EF4-FFF2-40B4-BE49-F238E27FC236}">
                <a16:creationId xmlns:a16="http://schemas.microsoft.com/office/drawing/2014/main" id="{9ADFE41B-60F3-0378-8507-204A99D7AD3B}"/>
              </a:ext>
            </a:extLst>
          </p:cNvPr>
          <p:cNvSpPr/>
          <p:nvPr/>
        </p:nvSpPr>
        <p:spPr>
          <a:xfrm>
            <a:off x="1757517" y="4120079"/>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ParkingDB</a:t>
            </a:r>
          </a:p>
        </p:txBody>
      </p:sp>
      <p:sp>
        <p:nvSpPr>
          <p:cNvPr id="5" name="Rectangle 4">
            <a:extLst>
              <a:ext uri="{FF2B5EF4-FFF2-40B4-BE49-F238E27FC236}">
                <a16:creationId xmlns:a16="http://schemas.microsoft.com/office/drawing/2014/main" id="{274D9E5F-D196-2FAB-E3C2-571F0180D0EC}"/>
              </a:ext>
            </a:extLst>
          </p:cNvPr>
          <p:cNvSpPr/>
          <p:nvPr/>
        </p:nvSpPr>
        <p:spPr>
          <a:xfrm>
            <a:off x="1757516" y="5428573"/>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savePermit</a:t>
            </a:r>
            <a:r>
              <a:rPr lang="en-US" sz="2800" dirty="0">
                <a:latin typeface="Calibir"/>
              </a:rPr>
              <a:t>()</a:t>
            </a:r>
          </a:p>
        </p:txBody>
      </p:sp>
      <p:sp>
        <p:nvSpPr>
          <p:cNvPr id="7" name="Rectangle 6">
            <a:extLst>
              <a:ext uri="{FF2B5EF4-FFF2-40B4-BE49-F238E27FC236}">
                <a16:creationId xmlns:a16="http://schemas.microsoft.com/office/drawing/2014/main" id="{5EB2F1AF-086E-D355-8DA9-2A514354475F}"/>
              </a:ext>
            </a:extLst>
          </p:cNvPr>
          <p:cNvSpPr/>
          <p:nvPr/>
        </p:nvSpPr>
        <p:spPr>
          <a:xfrm>
            <a:off x="1757516" y="6101235"/>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readPermit</a:t>
            </a:r>
            <a:r>
              <a:rPr lang="en-US" sz="2800" dirty="0">
                <a:latin typeface="Calibir"/>
              </a:rPr>
              <a:t>()</a:t>
            </a:r>
          </a:p>
        </p:txBody>
      </p:sp>
      <p:sp>
        <p:nvSpPr>
          <p:cNvPr id="14" name="Title 1">
            <a:extLst>
              <a:ext uri="{FF2B5EF4-FFF2-40B4-BE49-F238E27FC236}">
                <a16:creationId xmlns:a16="http://schemas.microsoft.com/office/drawing/2014/main" id="{61CE8868-FCCC-AE60-AE39-ED12196F7D80}"/>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155378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F28EB-0427-2AC1-C9D1-C8A862521F4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23F08A5-F545-5FDE-07F3-2E8B1193E5A5}"/>
              </a:ext>
            </a:extLst>
          </p:cNvPr>
          <p:cNvSpPr txBox="1"/>
          <p:nvPr/>
        </p:nvSpPr>
        <p:spPr>
          <a:xfrm>
            <a:off x="0" y="988142"/>
            <a:ext cx="5127523"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err="1">
                <a:latin typeface="Calibir"/>
              </a:rPr>
              <a:t>VoucherPayment</a:t>
            </a:r>
            <a:r>
              <a:rPr lang="en-US" sz="2800" dirty="0">
                <a:latin typeface="Calibir"/>
              </a:rPr>
              <a:t> (</a:t>
            </a:r>
            <a:r>
              <a:rPr lang="en-US" sz="2800" dirty="0" err="1">
                <a:latin typeface="Calibir"/>
              </a:rPr>
              <a:t>voucherid</a:t>
            </a:r>
            <a:r>
              <a:rPr lang="en-US" sz="2800" dirty="0">
                <a:latin typeface="Calibir"/>
              </a:rPr>
              <a:t>)</a:t>
            </a:r>
          </a:p>
          <a:p>
            <a:pPr marL="457200" indent="-457200">
              <a:lnSpc>
                <a:spcPct val="150000"/>
              </a:lnSpc>
              <a:buFont typeface="Arial" panose="020B0604020202020204" pitchFamily="34" charset="0"/>
              <a:buChar char="•"/>
            </a:pPr>
            <a:r>
              <a:rPr lang="en-US" sz="2800" dirty="0" err="1">
                <a:latin typeface="Calibir"/>
              </a:rPr>
              <a:t>CardPayment</a:t>
            </a:r>
            <a:r>
              <a:rPr lang="en-US" sz="2800" dirty="0">
                <a:latin typeface="Calibir"/>
              </a:rPr>
              <a:t> (</a:t>
            </a:r>
            <a:r>
              <a:rPr lang="en-US" sz="2800" dirty="0" err="1">
                <a:latin typeface="Calibir"/>
              </a:rPr>
              <a:t>cardNo</a:t>
            </a:r>
            <a:r>
              <a:rPr lang="en-US" sz="2800" dirty="0">
                <a:latin typeface="Calibir"/>
              </a:rPr>
              <a:t>, </a:t>
            </a:r>
            <a:r>
              <a:rPr lang="en-US" sz="2800" dirty="0" err="1">
                <a:latin typeface="Calibir"/>
              </a:rPr>
              <a:t>authNo</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Payment (amount, time)</a:t>
            </a:r>
          </a:p>
        </p:txBody>
      </p:sp>
      <p:sp>
        <p:nvSpPr>
          <p:cNvPr id="3" name="Rectangle 2">
            <a:extLst>
              <a:ext uri="{FF2B5EF4-FFF2-40B4-BE49-F238E27FC236}">
                <a16:creationId xmlns:a16="http://schemas.microsoft.com/office/drawing/2014/main" id="{D073E096-E5FE-0A72-210F-9DBD45F6F331}"/>
              </a:ext>
            </a:extLst>
          </p:cNvPr>
          <p:cNvSpPr/>
          <p:nvPr/>
        </p:nvSpPr>
        <p:spPr>
          <a:xfrm>
            <a:off x="8952271" y="530942"/>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VoucherPayment</a:t>
            </a:r>
            <a:endParaRPr lang="en-US" sz="2800" dirty="0">
              <a:latin typeface="Calibir"/>
            </a:endParaRPr>
          </a:p>
        </p:txBody>
      </p:sp>
      <p:sp>
        <p:nvSpPr>
          <p:cNvPr id="10" name="Rectangle 9">
            <a:extLst>
              <a:ext uri="{FF2B5EF4-FFF2-40B4-BE49-F238E27FC236}">
                <a16:creationId xmlns:a16="http://schemas.microsoft.com/office/drawing/2014/main" id="{8BDFB6D6-149E-4D98-07E1-675165BF1564}"/>
              </a:ext>
            </a:extLst>
          </p:cNvPr>
          <p:cNvSpPr/>
          <p:nvPr/>
        </p:nvSpPr>
        <p:spPr>
          <a:xfrm>
            <a:off x="8952270" y="1839436"/>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a:t>
            </a:r>
            <a:r>
              <a:rPr lang="en-US" sz="2800" dirty="0" err="1">
                <a:latin typeface="Calibir"/>
              </a:rPr>
              <a:t>voucherid</a:t>
            </a:r>
            <a:endParaRPr lang="en-US" sz="2800" dirty="0">
              <a:latin typeface="Calibir"/>
            </a:endParaRPr>
          </a:p>
        </p:txBody>
      </p:sp>
      <p:sp>
        <p:nvSpPr>
          <p:cNvPr id="15" name="Rectangle 14">
            <a:extLst>
              <a:ext uri="{FF2B5EF4-FFF2-40B4-BE49-F238E27FC236}">
                <a16:creationId xmlns:a16="http://schemas.microsoft.com/office/drawing/2014/main" id="{B6196047-B086-75A5-3034-4B4C4E7D29EA}"/>
              </a:ext>
            </a:extLst>
          </p:cNvPr>
          <p:cNvSpPr/>
          <p:nvPr/>
        </p:nvSpPr>
        <p:spPr>
          <a:xfrm>
            <a:off x="5444614" y="2120507"/>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CardPayment</a:t>
            </a:r>
            <a:endParaRPr lang="en-US" sz="2800" dirty="0">
              <a:latin typeface="Calibir"/>
            </a:endParaRPr>
          </a:p>
        </p:txBody>
      </p:sp>
      <p:sp>
        <p:nvSpPr>
          <p:cNvPr id="16" name="Rectangle 15">
            <a:extLst>
              <a:ext uri="{FF2B5EF4-FFF2-40B4-BE49-F238E27FC236}">
                <a16:creationId xmlns:a16="http://schemas.microsoft.com/office/drawing/2014/main" id="{183C2AC7-B32A-CFFE-782E-A6094C15AB50}"/>
              </a:ext>
            </a:extLst>
          </p:cNvPr>
          <p:cNvSpPr/>
          <p:nvPr/>
        </p:nvSpPr>
        <p:spPr>
          <a:xfrm>
            <a:off x="5444613" y="3429001"/>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cardNo</a:t>
            </a:r>
            <a:endParaRPr lang="en-US" sz="2800" dirty="0">
              <a:latin typeface="Calibir"/>
            </a:endParaRPr>
          </a:p>
        </p:txBody>
      </p:sp>
      <p:sp>
        <p:nvSpPr>
          <p:cNvPr id="17" name="Rectangle 16">
            <a:extLst>
              <a:ext uri="{FF2B5EF4-FFF2-40B4-BE49-F238E27FC236}">
                <a16:creationId xmlns:a16="http://schemas.microsoft.com/office/drawing/2014/main" id="{1498CC7A-136D-3BFA-BA3B-207ADC0D2384}"/>
              </a:ext>
            </a:extLst>
          </p:cNvPr>
          <p:cNvSpPr/>
          <p:nvPr/>
        </p:nvSpPr>
        <p:spPr>
          <a:xfrm>
            <a:off x="5444613" y="41016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authNo</a:t>
            </a:r>
            <a:endParaRPr lang="en-US" sz="2800" dirty="0">
              <a:latin typeface="Calibir"/>
            </a:endParaRPr>
          </a:p>
        </p:txBody>
      </p:sp>
      <p:sp>
        <p:nvSpPr>
          <p:cNvPr id="4" name="Rectangle 3">
            <a:extLst>
              <a:ext uri="{FF2B5EF4-FFF2-40B4-BE49-F238E27FC236}">
                <a16:creationId xmlns:a16="http://schemas.microsoft.com/office/drawing/2014/main" id="{B3DBDBF7-AADB-C7C4-A151-37B0CCFC4A60}"/>
              </a:ext>
            </a:extLst>
          </p:cNvPr>
          <p:cNvSpPr/>
          <p:nvPr/>
        </p:nvSpPr>
        <p:spPr>
          <a:xfrm>
            <a:off x="1757517" y="4120079"/>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Payment</a:t>
            </a:r>
          </a:p>
        </p:txBody>
      </p:sp>
      <p:sp>
        <p:nvSpPr>
          <p:cNvPr id="5" name="Rectangle 4">
            <a:extLst>
              <a:ext uri="{FF2B5EF4-FFF2-40B4-BE49-F238E27FC236}">
                <a16:creationId xmlns:a16="http://schemas.microsoft.com/office/drawing/2014/main" id="{6E39093E-1553-8BB3-740E-EE02C41CE451}"/>
              </a:ext>
            </a:extLst>
          </p:cNvPr>
          <p:cNvSpPr/>
          <p:nvPr/>
        </p:nvSpPr>
        <p:spPr>
          <a:xfrm>
            <a:off x="1757516" y="5428573"/>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+amount</a:t>
            </a:r>
          </a:p>
        </p:txBody>
      </p:sp>
      <p:sp>
        <p:nvSpPr>
          <p:cNvPr id="7" name="Rectangle 6">
            <a:extLst>
              <a:ext uri="{FF2B5EF4-FFF2-40B4-BE49-F238E27FC236}">
                <a16:creationId xmlns:a16="http://schemas.microsoft.com/office/drawing/2014/main" id="{7F624C04-5EBE-F43B-371B-A5E9970EEA7D}"/>
              </a:ext>
            </a:extLst>
          </p:cNvPr>
          <p:cNvSpPr/>
          <p:nvPr/>
        </p:nvSpPr>
        <p:spPr>
          <a:xfrm>
            <a:off x="1757516" y="6101235"/>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+time</a:t>
            </a:r>
          </a:p>
        </p:txBody>
      </p:sp>
      <p:sp>
        <p:nvSpPr>
          <p:cNvPr id="11" name="Title 1">
            <a:extLst>
              <a:ext uri="{FF2B5EF4-FFF2-40B4-BE49-F238E27FC236}">
                <a16:creationId xmlns:a16="http://schemas.microsoft.com/office/drawing/2014/main" id="{23A543AF-8667-2B6E-AAE5-7C35C24D6CAD}"/>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39573489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6BC69-4C40-2E36-A5B4-829FCDEA353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698654B-6DF2-4F17-A863-F6686D80CDB2}"/>
              </a:ext>
            </a:extLst>
          </p:cNvPr>
          <p:cNvSpPr txBox="1"/>
          <p:nvPr/>
        </p:nvSpPr>
        <p:spPr>
          <a:xfrm>
            <a:off x="0" y="1064165"/>
            <a:ext cx="12192000" cy="4549835"/>
          </a:xfrm>
          <a:prstGeom prst="rect">
            <a:avLst/>
          </a:prstGeom>
          <a:noFill/>
        </p:spPr>
        <p:txBody>
          <a:bodyPr wrap="square">
            <a:spAutoFit/>
          </a:bodyPr>
          <a:lstStyle/>
          <a:p>
            <a:pPr>
              <a:lnSpc>
                <a:spcPct val="150000"/>
              </a:lnSpc>
            </a:pPr>
            <a:r>
              <a:rPr lang="en-US" sz="2800" b="1" dirty="0">
                <a:latin typeface="Calibir"/>
              </a:rPr>
              <a:t>3. Methods (actions, shown as ovals linked)</a:t>
            </a:r>
          </a:p>
          <a:p>
            <a:pPr>
              <a:lnSpc>
                <a:spcPct val="150000"/>
              </a:lnSpc>
            </a:pPr>
            <a:r>
              <a:rPr lang="en-US" sz="2800" dirty="0">
                <a:latin typeface="Calibir"/>
              </a:rPr>
              <a:t>Think of methods as actions the class can do:</a:t>
            </a:r>
          </a:p>
          <a:p>
            <a:pPr marL="914400" lvl="1" indent="-457200">
              <a:lnSpc>
                <a:spcPct val="150000"/>
              </a:lnSpc>
              <a:buFont typeface="Arial" panose="020B0604020202020204" pitchFamily="34" charset="0"/>
              <a:buChar char="•"/>
            </a:pPr>
            <a:r>
              <a:rPr lang="en-US" sz="2800" dirty="0">
                <a:latin typeface="Calibir"/>
              </a:rPr>
              <a:t>User: </a:t>
            </a:r>
            <a:r>
              <a:rPr lang="en-US" sz="2800" dirty="0" err="1">
                <a:latin typeface="Calibir"/>
              </a:rPr>
              <a:t>requestPermit</a:t>
            </a:r>
            <a:r>
              <a:rPr lang="en-US" sz="2800" dirty="0">
                <a:latin typeface="Calibir"/>
              </a:rPr>
              <a:t>(), login()</a:t>
            </a:r>
          </a:p>
          <a:p>
            <a:pPr marL="914400" lvl="1" indent="-457200">
              <a:lnSpc>
                <a:spcPct val="150000"/>
              </a:lnSpc>
              <a:buFont typeface="Arial" panose="020B0604020202020204" pitchFamily="34" charset="0"/>
              <a:buChar char="•"/>
            </a:pPr>
            <a:r>
              <a:rPr lang="en-US" sz="2800" dirty="0">
                <a:latin typeface="Calibir"/>
              </a:rPr>
              <a:t>Permit: activate(), revoke(), </a:t>
            </a:r>
            <a:r>
              <a:rPr lang="en-US" sz="2800" dirty="0" err="1">
                <a:latin typeface="Calibir"/>
              </a:rPr>
              <a:t>assignVehicle</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Payment: </a:t>
            </a:r>
            <a:r>
              <a:rPr lang="en-US" sz="2800" dirty="0" err="1">
                <a:latin typeface="Calibir"/>
              </a:rPr>
              <a:t>processPayment</a:t>
            </a:r>
            <a:r>
              <a:rPr lang="en-US" sz="2800" dirty="0">
                <a:latin typeface="Calibir"/>
              </a:rPr>
              <a:t>()</a:t>
            </a:r>
          </a:p>
          <a:p>
            <a:pPr marL="914400" lvl="1"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a:t>
            </a:r>
            <a:r>
              <a:rPr lang="en-US" sz="2800" dirty="0" err="1">
                <a:latin typeface="Calibir"/>
              </a:rPr>
              <a:t>revokePermit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ParkingDB: </a:t>
            </a:r>
            <a:r>
              <a:rPr lang="en-US" sz="2800" dirty="0" err="1">
                <a:latin typeface="Calibir"/>
              </a:rPr>
              <a:t>savePermit</a:t>
            </a:r>
            <a:r>
              <a:rPr lang="en-US" sz="2800" dirty="0">
                <a:latin typeface="Calibir"/>
              </a:rPr>
              <a:t>(), </a:t>
            </a:r>
            <a:r>
              <a:rPr lang="en-US" sz="2800" dirty="0" err="1">
                <a:latin typeface="Calibir"/>
              </a:rPr>
              <a:t>readPermit</a:t>
            </a:r>
            <a:r>
              <a:rPr lang="en-US" sz="2800" dirty="0">
                <a:latin typeface="Calibir"/>
              </a:rPr>
              <a:t>()</a:t>
            </a:r>
          </a:p>
        </p:txBody>
      </p:sp>
      <p:sp>
        <p:nvSpPr>
          <p:cNvPr id="9" name="Rectangle 8">
            <a:extLst>
              <a:ext uri="{FF2B5EF4-FFF2-40B4-BE49-F238E27FC236}">
                <a16:creationId xmlns:a16="http://schemas.microsoft.com/office/drawing/2014/main" id="{69DBBBC3-9A74-53A9-6168-E96B9810E1DF}"/>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10" name="Rectangle 9">
            <a:extLst>
              <a:ext uri="{FF2B5EF4-FFF2-40B4-BE49-F238E27FC236}">
                <a16:creationId xmlns:a16="http://schemas.microsoft.com/office/drawing/2014/main" id="{A48EFC43-69A2-5C05-17A6-158CB304860B}"/>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483FEB86-EA74-6EE5-1E08-3162DB2A88CD}"/>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12" name="Rectangle 11">
            <a:extLst>
              <a:ext uri="{FF2B5EF4-FFF2-40B4-BE49-F238E27FC236}">
                <a16:creationId xmlns:a16="http://schemas.microsoft.com/office/drawing/2014/main" id="{86BC5C1F-C934-B146-D8D1-C36630822FD1}"/>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13" name="Rectangle 12">
            <a:extLst>
              <a:ext uri="{FF2B5EF4-FFF2-40B4-BE49-F238E27FC236}">
                <a16:creationId xmlns:a16="http://schemas.microsoft.com/office/drawing/2014/main" id="{7D3FADC4-60D6-4FF0-20A4-546B70D9518B}"/>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1BF08EED-F5EC-12EA-DF06-5FF307A3D99C}"/>
              </a:ext>
            </a:extLst>
          </p:cNvPr>
          <p:cNvSpPr>
            <a:spLocks noGrp="1"/>
          </p:cNvSpPr>
          <p:nvPr>
            <p:ph type="title"/>
          </p:nvPr>
        </p:nvSpPr>
        <p:spPr>
          <a:xfrm>
            <a:off x="0" y="0"/>
            <a:ext cx="12192000" cy="825909"/>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34183810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DC65B-2468-9439-1BD2-4A712A5D5F3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0E8E848-7487-CDF7-6FBB-F44BBC58EF7F}"/>
              </a:ext>
            </a:extLst>
          </p:cNvPr>
          <p:cNvSpPr txBox="1"/>
          <p:nvPr/>
        </p:nvSpPr>
        <p:spPr>
          <a:xfrm>
            <a:off x="0" y="0"/>
            <a:ext cx="8952269" cy="6387728"/>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500" b="1" dirty="0">
                <a:highlight>
                  <a:srgbClr val="FFFF00"/>
                </a:highlight>
                <a:latin typeface="Calibir"/>
              </a:rPr>
              <a:t>User Class</a:t>
            </a:r>
            <a:r>
              <a:rPr lang="en-US" altLang="en-US" sz="2500" dirty="0">
                <a:highlight>
                  <a:srgbClr val="FFFF00"/>
                </a:highlight>
                <a:latin typeface="Calibir"/>
              </a:rPr>
              <a:t> (Rectangle: data blueprint).</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User (abstract)</a:t>
            </a:r>
            <a:r>
              <a:rPr lang="en-US" altLang="en-US" sz="2500" dirty="0">
                <a:latin typeface="Calibir"/>
              </a:rPr>
              <a:t>: we don’t create a plain User; you create </a:t>
            </a:r>
            <a:r>
              <a:rPr lang="en-US" altLang="en-US" sz="2500" b="1" dirty="0" err="1">
                <a:latin typeface="Calibir"/>
              </a:rPr>
              <a:t>StudentUser</a:t>
            </a:r>
            <a:r>
              <a:rPr lang="en-US" altLang="en-US" sz="2500" dirty="0">
                <a:latin typeface="Calibir"/>
              </a:rPr>
              <a:t> or </a:t>
            </a:r>
            <a:r>
              <a:rPr lang="en-US" altLang="en-US" sz="2500" b="1" dirty="0" err="1">
                <a:latin typeface="Calibir"/>
              </a:rPr>
              <a:t>StaffUser</a:t>
            </a:r>
            <a:r>
              <a:rPr lang="en-US" altLang="en-US" sz="2500" dirty="0">
                <a:latin typeface="Calibir"/>
              </a:rPr>
              <a:t> (inheritance shown by hollow-triangle arrows).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Attributes (top middle section)</a:t>
            </a:r>
            <a:endParaRPr lang="en-US" altLang="en-US" sz="2500" dirty="0">
              <a:latin typeface="Calibir"/>
            </a:endParaRP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+id: int, +name: string, +email: string are public.</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#role is protected (User + its children can see it).</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Methods (bottom middle section)</a:t>
            </a:r>
            <a:endParaRPr lang="en-US" altLang="en-US" sz="2500" dirty="0">
              <a:latin typeface="Calibir"/>
            </a:endParaRP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+login(email, password): bool</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a:t>
            </a:r>
            <a:r>
              <a:rPr lang="en-US" altLang="en-US" sz="2500" dirty="0" err="1">
                <a:latin typeface="Calibir"/>
              </a:rPr>
              <a:t>requestPermit</a:t>
            </a:r>
            <a:r>
              <a:rPr lang="en-US" altLang="en-US" sz="2500" dirty="0">
                <a:latin typeface="Calibir"/>
              </a:rPr>
              <a:t>(plate, zone, semester): Permit</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a:t>
            </a:r>
            <a:r>
              <a:rPr lang="en-US" altLang="en-US" sz="2500" dirty="0" err="1">
                <a:latin typeface="Calibir"/>
              </a:rPr>
              <a:t>cancelRequest</a:t>
            </a:r>
            <a:r>
              <a:rPr lang="en-US" altLang="en-US" sz="2500" dirty="0">
                <a:latin typeface="Calibir"/>
              </a:rPr>
              <a:t>() is package visibility (same module only).</a:t>
            </a:r>
          </a:p>
        </p:txBody>
      </p:sp>
      <p:sp>
        <p:nvSpPr>
          <p:cNvPr id="13" name="Rectangle 12">
            <a:extLst>
              <a:ext uri="{FF2B5EF4-FFF2-40B4-BE49-F238E27FC236}">
                <a16:creationId xmlns:a16="http://schemas.microsoft.com/office/drawing/2014/main" id="{AE1BA78E-619A-EC7A-400B-F507409C2A5A}"/>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14" name="Rectangle 13">
            <a:extLst>
              <a:ext uri="{FF2B5EF4-FFF2-40B4-BE49-F238E27FC236}">
                <a16:creationId xmlns:a16="http://schemas.microsoft.com/office/drawing/2014/main" id="{37D51F67-F96E-D641-101E-9D16F6121140}"/>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15" name="Rectangle 14">
            <a:extLst>
              <a:ext uri="{FF2B5EF4-FFF2-40B4-BE49-F238E27FC236}">
                <a16:creationId xmlns:a16="http://schemas.microsoft.com/office/drawing/2014/main" id="{DE0E122E-E87D-0048-8534-D340540E9E6F}"/>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16" name="Rectangle 15">
            <a:extLst>
              <a:ext uri="{FF2B5EF4-FFF2-40B4-BE49-F238E27FC236}">
                <a16:creationId xmlns:a16="http://schemas.microsoft.com/office/drawing/2014/main" id="{30C19380-BED8-C886-041B-B20BECA13D43}"/>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17" name="Rectangle 16">
            <a:extLst>
              <a:ext uri="{FF2B5EF4-FFF2-40B4-BE49-F238E27FC236}">
                <a16:creationId xmlns:a16="http://schemas.microsoft.com/office/drawing/2014/main" id="{C7BCEC73-0A38-7D2C-6A44-7765BDA3D803}"/>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20" name="Rectangle 19">
            <a:extLst>
              <a:ext uri="{FF2B5EF4-FFF2-40B4-BE49-F238E27FC236}">
                <a16:creationId xmlns:a16="http://schemas.microsoft.com/office/drawing/2014/main" id="{18E0B01D-A951-4D14-AAFD-61BAD6389F46}"/>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21" name="Oval 20">
            <a:extLst>
              <a:ext uri="{FF2B5EF4-FFF2-40B4-BE49-F238E27FC236}">
                <a16:creationId xmlns:a16="http://schemas.microsoft.com/office/drawing/2014/main" id="{5D8975A5-D04C-E93C-BAF9-CB0DAAC8C04D}"/>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24" name="Oval 23">
            <a:extLst>
              <a:ext uri="{FF2B5EF4-FFF2-40B4-BE49-F238E27FC236}">
                <a16:creationId xmlns:a16="http://schemas.microsoft.com/office/drawing/2014/main" id="{FAB1D955-D30C-F4FB-F00A-76E641314109}"/>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25" name="Oval 24">
            <a:extLst>
              <a:ext uri="{FF2B5EF4-FFF2-40B4-BE49-F238E27FC236}">
                <a16:creationId xmlns:a16="http://schemas.microsoft.com/office/drawing/2014/main" id="{AF1DB5F5-9004-145C-9509-3EF6FC4479FC}"/>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26" name="Rectangle 2">
            <a:extLst>
              <a:ext uri="{FF2B5EF4-FFF2-40B4-BE49-F238E27FC236}">
                <a16:creationId xmlns:a16="http://schemas.microsoft.com/office/drawing/2014/main" id="{C9DD9BF6-8E00-0F68-7DDD-F758C39DCA1A}"/>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968553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3E3CF-B896-6801-6BB3-9B7BA5EB797A}"/>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AF7F6C5B-8205-695F-36E6-A30C46D55A80}"/>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DDE7343C-C77A-447E-FD9D-7D10CC023037}"/>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3ED12868-EFCD-D7ED-758B-031A5C3C2A84}"/>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6" name="TextBox 5">
            <a:extLst>
              <a:ext uri="{FF2B5EF4-FFF2-40B4-BE49-F238E27FC236}">
                <a16:creationId xmlns:a16="http://schemas.microsoft.com/office/drawing/2014/main" id="{040C0682-00FC-15BB-2C6D-014231DA732D}"/>
              </a:ext>
            </a:extLst>
          </p:cNvPr>
          <p:cNvSpPr txBox="1"/>
          <p:nvPr/>
        </p:nvSpPr>
        <p:spPr>
          <a:xfrm>
            <a:off x="0" y="0"/>
            <a:ext cx="8952269" cy="1964512"/>
          </a:xfrm>
          <a:prstGeom prst="rect">
            <a:avLst/>
          </a:prstGeom>
          <a:noFill/>
        </p:spPr>
        <p:txBody>
          <a:bodyPr wrap="square">
            <a:spAutoFit/>
          </a:bodyPr>
          <a:lstStyle/>
          <a:p>
            <a:pPr>
              <a:lnSpc>
                <a:spcPct val="150000"/>
              </a:lnSpc>
            </a:pPr>
            <a:r>
              <a:rPr lang="en-US" sz="2800" b="1" dirty="0">
                <a:highlight>
                  <a:srgbClr val="FFFF00"/>
                </a:highlight>
                <a:latin typeface="Calibir"/>
              </a:rPr>
              <a:t>Association (Relationship)</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line from User to Permit is labeled “requests” to use an action verb/or from Permit to User “requests by”.</a:t>
            </a:r>
          </a:p>
        </p:txBody>
      </p:sp>
      <p:sp>
        <p:nvSpPr>
          <p:cNvPr id="26" name="Rectangle 2">
            <a:extLst>
              <a:ext uri="{FF2B5EF4-FFF2-40B4-BE49-F238E27FC236}">
                <a16:creationId xmlns:a16="http://schemas.microsoft.com/office/drawing/2014/main" id="{0FEAC2C2-4AB5-8417-C46F-95828AE2CA3F}"/>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0AF2C3C6-AB9E-AAE9-8DBD-8C97080AC705}"/>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E5F2883D-DE82-C81E-3C12-CD9E2D296555}"/>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1E28DC36-50D7-7B6A-A5B0-BED49CBBDE11}"/>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2A197EFC-9EB8-FD62-12BE-771F63FEDD74}"/>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F3C986BE-EEC7-C450-26B3-1D04F05B0967}"/>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BA18A22B-BED8-E110-CAB4-BEB55A9020AF}"/>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EF38D2A5-3465-E2A6-FE59-01700E63F67E}"/>
              </a:ext>
            </a:extLst>
          </p:cNvPr>
          <p:cNvSpPr txBox="1"/>
          <p:nvPr/>
        </p:nvSpPr>
        <p:spPr>
          <a:xfrm>
            <a:off x="24583" y="1932016"/>
            <a:ext cx="4043509" cy="5013873"/>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700" dirty="0">
                <a:latin typeface="Calibir"/>
              </a:rPr>
              <a:t>Permit (per semester)</a:t>
            </a:r>
          </a:p>
          <a:p>
            <a:pPr lvl="1" eaLnBrk="0" fontAlgn="base" hangingPunct="0">
              <a:lnSpc>
                <a:spcPct val="150000"/>
              </a:lnSpc>
              <a:spcBef>
                <a:spcPct val="0"/>
              </a:spcBef>
              <a:spcAft>
                <a:spcPct val="0"/>
              </a:spcAft>
            </a:pPr>
            <a:r>
              <a:rPr lang="en-US" altLang="en-US" sz="2700" dirty="0">
                <a:latin typeface="Calibir"/>
              </a:rPr>
              <a:t>A</a:t>
            </a:r>
            <a:r>
              <a:rPr lang="en-US" altLang="en-US" sz="2700" i="1" dirty="0">
                <a:latin typeface="Calibir"/>
              </a:rPr>
              <a:t> user may have zero or one active permit in a semester</a:t>
            </a:r>
            <a:r>
              <a:rPr lang="en-US" altLang="en-US" sz="2700" dirty="0">
                <a:latin typeface="Calibir"/>
              </a:rPr>
              <a:t> (optional on the permit side).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700" dirty="0">
                <a:latin typeface="Calibir"/>
              </a:rPr>
              <a:t>A permit is requested by only one user at a time (mandatory)</a:t>
            </a:r>
          </a:p>
        </p:txBody>
      </p:sp>
      <p:sp>
        <p:nvSpPr>
          <p:cNvPr id="27" name="Rectangle 26">
            <a:extLst>
              <a:ext uri="{FF2B5EF4-FFF2-40B4-BE49-F238E27FC236}">
                <a16:creationId xmlns:a16="http://schemas.microsoft.com/office/drawing/2014/main" id="{EA41423C-5084-1AFB-C347-343C8422E7FC}"/>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3415F8D4-65C5-9871-7413-3B9007631F9F}"/>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FFCAD849-F3B8-A8E2-D2BF-60FA72D4C862}"/>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17FB6C6E-ED74-378D-DCE4-70716C696953}"/>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A5410973-D114-895D-35B7-92E15D3B23C4}"/>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570FBF02-CD59-F1A4-424E-E1D4FDE7AA14}"/>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043E2A28-5DD7-1ACF-3AE6-23893DC3D536}"/>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ACAA0684-0ED3-302E-29CA-598EDE10CF14}"/>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BD49019A-B241-F5FB-CDB6-80CFBD505016}"/>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93954BFE-D408-2F7B-9FBB-899C890C2CD6}"/>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D907E527-20AF-6D58-9385-7A8D0446A645}"/>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6A977301-0142-EDF3-CDC5-3BFE646961D5}"/>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814818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67D5D-BA20-5BE7-A34C-108DC8172FBB}"/>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C3660749-A76F-4B39-8934-46AE05B1C7AC}"/>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A331AF6D-8ABC-5F58-901B-1F9488235C9C}"/>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ED68D5EA-CCBE-CB4F-5698-D33AE759A72B}"/>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6" name="TextBox 5">
            <a:extLst>
              <a:ext uri="{FF2B5EF4-FFF2-40B4-BE49-F238E27FC236}">
                <a16:creationId xmlns:a16="http://schemas.microsoft.com/office/drawing/2014/main" id="{4CED8870-C584-B210-862F-B8BC3583C9B5}"/>
              </a:ext>
            </a:extLst>
          </p:cNvPr>
          <p:cNvSpPr txBox="1"/>
          <p:nvPr/>
        </p:nvSpPr>
        <p:spPr>
          <a:xfrm>
            <a:off x="0" y="0"/>
            <a:ext cx="8952269" cy="671851"/>
          </a:xfrm>
          <a:prstGeom prst="rect">
            <a:avLst/>
          </a:prstGeom>
          <a:noFill/>
        </p:spPr>
        <p:txBody>
          <a:bodyPr wrap="square">
            <a:spAutoFit/>
          </a:bodyPr>
          <a:lstStyle/>
          <a:p>
            <a:pPr>
              <a:lnSpc>
                <a:spcPct val="150000"/>
              </a:lnSpc>
            </a:pPr>
            <a:r>
              <a:rPr lang="en-US" sz="2800" b="1" dirty="0">
                <a:highlight>
                  <a:srgbClr val="FFFF00"/>
                </a:highlight>
                <a:latin typeface="Calibir"/>
              </a:rPr>
              <a:t>Association (Relationship)</a:t>
            </a:r>
          </a:p>
        </p:txBody>
      </p:sp>
      <p:sp>
        <p:nvSpPr>
          <p:cNvPr id="26" name="Rectangle 2">
            <a:extLst>
              <a:ext uri="{FF2B5EF4-FFF2-40B4-BE49-F238E27FC236}">
                <a16:creationId xmlns:a16="http://schemas.microsoft.com/office/drawing/2014/main" id="{EC0628E4-AC50-FDAD-3D15-BEE9294AA4D4}"/>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CDC6F416-F82E-30EC-A8DB-AE2FF8757FB5}"/>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4BD43AAC-28BB-5D0C-D080-B7132CA646A9}"/>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324A3237-A971-7469-E3FF-7C384810DCDA}"/>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8AB8BA55-E9A2-E940-80EA-8B6D6D097307}"/>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888090A4-6B18-60F8-34D0-EA4231289BA7}"/>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94E2C7B4-66FA-A746-9874-6531EACA664C}"/>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C598E75A-9BE9-F93B-DFA7-8CF3A0CABE28}"/>
              </a:ext>
            </a:extLst>
          </p:cNvPr>
          <p:cNvSpPr txBox="1"/>
          <p:nvPr/>
        </p:nvSpPr>
        <p:spPr>
          <a:xfrm>
            <a:off x="38190" y="681790"/>
            <a:ext cx="4092674" cy="4831579"/>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Each User can have 0 or 1 permit (per semester).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Each Permit must belong to exactly 1 User.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Example: Ali (Student) applies → he can only hold one active permit for Semester 1.</a:t>
            </a:r>
          </a:p>
        </p:txBody>
      </p:sp>
      <p:sp>
        <p:nvSpPr>
          <p:cNvPr id="27" name="Rectangle 26">
            <a:extLst>
              <a:ext uri="{FF2B5EF4-FFF2-40B4-BE49-F238E27FC236}">
                <a16:creationId xmlns:a16="http://schemas.microsoft.com/office/drawing/2014/main" id="{87C7B0D7-AE96-7313-1792-28FEB29423AB}"/>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761BD8FB-0EFC-2B88-61EA-33E5AA7152C2}"/>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12CEE114-FB84-7E58-7B60-A1DB5CBC254B}"/>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82E2A218-8DCE-A8AA-D042-53AD07D43075}"/>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E48B2806-C145-1EDA-C17D-1D8C086DFE0E}"/>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27961E67-67D7-8130-FAEE-E89C90B17D18}"/>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85E2FF1B-DA46-ABBD-CF9C-C3B1F4257670}"/>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2E0395A9-AD1D-E844-4091-0D3AE6A12A22}"/>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538BE37E-B294-48AD-0CD4-082DBBB17475}"/>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C33C64BB-ED35-1D34-A595-E96F488090AC}"/>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F4C46C7F-872D-DF98-E8DD-72C38294A5BF}"/>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8594B2CB-ACAB-6A21-C3A9-FC19ADA7C940}"/>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8790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3B81F-0A99-EB46-CD16-F968D85CF595}"/>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99FD7A87-FE98-7DBC-DE48-A12653BF15FF}"/>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76C202C0-A9B2-2296-E208-1FCFBB0F742A}"/>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A4C9EEA9-9B27-21CF-4493-20714F9F86AA}"/>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26" name="Rectangle 2">
            <a:extLst>
              <a:ext uri="{FF2B5EF4-FFF2-40B4-BE49-F238E27FC236}">
                <a16:creationId xmlns:a16="http://schemas.microsoft.com/office/drawing/2014/main" id="{23452494-1857-DD09-295F-9D99BDF337A0}"/>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469175FD-438F-395B-7889-F0116C7D20A7}"/>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8B488DC9-E215-1465-AA95-9F344D6D37B2}"/>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C575DDC3-88EF-D5D6-9849-527B6B8FAB54}"/>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2499175E-8869-323D-3EBC-E58954A09AB8}"/>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144FC9CD-B56A-7E99-D0FF-2184A3AFBED3}"/>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259291A0-9EDA-EAA8-3247-D7F451F5F4BE}"/>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E6230F7D-664C-FD85-34A0-7174568450CC}"/>
              </a:ext>
            </a:extLst>
          </p:cNvPr>
          <p:cNvSpPr txBox="1"/>
          <p:nvPr/>
        </p:nvSpPr>
        <p:spPr>
          <a:xfrm>
            <a:off x="0" y="21486"/>
            <a:ext cx="4068089" cy="6883616"/>
          </a:xfrm>
          <a:prstGeom prst="rect">
            <a:avLst/>
          </a:prstGeom>
          <a:noFill/>
        </p:spPr>
        <p:txBody>
          <a:bodyPr wrap="square">
            <a:spAutoFit/>
          </a:bodyPr>
          <a:lstStyle/>
          <a:p>
            <a:pPr>
              <a:lnSpc>
                <a:spcPct val="150000"/>
              </a:lnSpc>
            </a:pPr>
            <a:r>
              <a:rPr lang="en-US" sz="2700" b="1" dirty="0">
                <a:highlight>
                  <a:srgbClr val="FFFF00"/>
                </a:highlight>
                <a:latin typeface="Calibir"/>
              </a:rPr>
              <a:t>Multiplicity (numbers on relationships)</a:t>
            </a:r>
          </a:p>
          <a:p>
            <a:pPr>
              <a:lnSpc>
                <a:spcPct val="150000"/>
              </a:lnSpc>
            </a:pPr>
            <a:r>
              <a:rPr lang="en-US" sz="2700" dirty="0">
                <a:latin typeface="Calibir"/>
              </a:rPr>
              <a:t>Multiplicity means "how many objects can connect."</a:t>
            </a:r>
          </a:p>
          <a:p>
            <a:pPr marL="457200" indent="-457200">
              <a:lnSpc>
                <a:spcPct val="150000"/>
              </a:lnSpc>
              <a:buFont typeface="Arial" panose="020B0604020202020204" pitchFamily="34" charset="0"/>
              <a:buChar char="•"/>
            </a:pPr>
            <a:r>
              <a:rPr lang="en-US" sz="2700" dirty="0">
                <a:latin typeface="Calibir"/>
              </a:rPr>
              <a:t>User (1) ── (0..1) Permit</a:t>
            </a:r>
            <a:br>
              <a:rPr lang="en-US" sz="2700" dirty="0">
                <a:latin typeface="Calibir"/>
              </a:rPr>
            </a:br>
            <a:r>
              <a:rPr lang="en-US" sz="2700" dirty="0">
                <a:latin typeface="Calibir"/>
              </a:rPr>
              <a:t>→ One user can have at most 1 permit per semester.</a:t>
            </a:r>
            <a:br>
              <a:rPr lang="en-US" sz="2700" dirty="0">
                <a:latin typeface="Calibir"/>
              </a:rPr>
            </a:br>
            <a:r>
              <a:rPr lang="en-US" sz="2700" dirty="0">
                <a:latin typeface="Calibir"/>
              </a:rPr>
              <a:t>→ Permit is optional (0..1 means may not exist).</a:t>
            </a:r>
          </a:p>
        </p:txBody>
      </p:sp>
      <p:sp>
        <p:nvSpPr>
          <p:cNvPr id="27" name="Rectangle 26">
            <a:extLst>
              <a:ext uri="{FF2B5EF4-FFF2-40B4-BE49-F238E27FC236}">
                <a16:creationId xmlns:a16="http://schemas.microsoft.com/office/drawing/2014/main" id="{976030E4-5C5E-2C95-8DEC-4468CA968C66}"/>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1D5DF6D9-694B-5317-E5BB-8E63C7926486}"/>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43D46B92-642F-9387-2710-20B42E5FC6D1}"/>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13411496-F7CA-A9F7-9508-B0724F20EB77}"/>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17FABA0F-9ED7-F0DC-2BCA-3E76AF81AF3F}"/>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949CBA13-EE17-2360-989E-C5F8FFB6BECB}"/>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95917CD3-FAC5-D52E-CB2E-2D7C82E57EA9}"/>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F9F52443-5154-3D93-488A-82E449D5752A}"/>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1E1C2469-ED01-E876-0290-8BBBCFDFCBDD}"/>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ED4BA837-FC39-B8C2-0758-054FAEB6F358}"/>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89B5E7FB-94EF-9075-6692-9FD5349F030A}"/>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D5D4B7C9-15C4-118D-C0BE-25AEDB8C1BD7}"/>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77219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71DCA-D1B2-3B59-D02B-0F826AFD14F6}"/>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C5B5DFF7-75EE-CF9A-85DD-0F21CBF17336}"/>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5BA64004-E707-A088-C699-CD10710D84F6}"/>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84A7CF8A-9AD1-68E0-B747-01985D02A708}"/>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26" name="Rectangle 2">
            <a:extLst>
              <a:ext uri="{FF2B5EF4-FFF2-40B4-BE49-F238E27FC236}">
                <a16:creationId xmlns:a16="http://schemas.microsoft.com/office/drawing/2014/main" id="{D44A3142-CCC0-0D62-1182-4D2ADA0CFAEE}"/>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CAAF0864-8CAA-7C68-4848-EE8DFB3EAC65}"/>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9204CC18-E56A-3778-49A4-513E1BF47EB5}"/>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D8568E57-848A-408F-B837-DF45E3CD6CD3}"/>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5B3B5720-28C5-B0D9-2FA0-EEC58EC11B04}"/>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2C397565-499D-B873-60A3-A908DDE12B8F}"/>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E40C82AF-5632-5187-87F2-D55A074F3F4E}"/>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BBAC5F2B-C18E-D797-732D-745A2D15FBEC}"/>
              </a:ext>
            </a:extLst>
          </p:cNvPr>
          <p:cNvSpPr txBox="1"/>
          <p:nvPr/>
        </p:nvSpPr>
        <p:spPr>
          <a:xfrm>
            <a:off x="0" y="21486"/>
            <a:ext cx="4068089" cy="6488828"/>
          </a:xfrm>
          <a:prstGeom prst="rect">
            <a:avLst/>
          </a:prstGeom>
          <a:noFill/>
        </p:spPr>
        <p:txBody>
          <a:bodyPr wrap="square">
            <a:spAutoFit/>
          </a:bodyPr>
          <a:lstStyle/>
          <a:p>
            <a:pPr>
              <a:lnSpc>
                <a:spcPct val="150000"/>
              </a:lnSpc>
            </a:pPr>
            <a:r>
              <a:rPr lang="en-US" sz="2800" dirty="0">
                <a:highlight>
                  <a:srgbClr val="FFFF00"/>
                </a:highlight>
                <a:latin typeface="Calibir"/>
              </a:rPr>
              <a:t>Visibility (Access Control)</a:t>
            </a:r>
          </a:p>
          <a:p>
            <a:pPr marL="457200" indent="-457200">
              <a:lnSpc>
                <a:spcPct val="150000"/>
              </a:lnSpc>
              <a:buFont typeface="Arial" panose="020B0604020202020204" pitchFamily="34" charset="0"/>
              <a:buChar char="•"/>
            </a:pPr>
            <a:r>
              <a:rPr lang="en-US" sz="2800" dirty="0">
                <a:latin typeface="Calibir"/>
              </a:rPr>
              <a:t>+ (public): anyone can see it → e.g., +name, +email</a:t>
            </a:r>
          </a:p>
          <a:p>
            <a:pPr marL="457200" indent="-457200">
              <a:lnSpc>
                <a:spcPct val="150000"/>
              </a:lnSpc>
              <a:buFont typeface="Arial" panose="020B0604020202020204" pitchFamily="34" charset="0"/>
              <a:buChar char="•"/>
            </a:pPr>
            <a:r>
              <a:rPr lang="en-US" sz="2800" dirty="0">
                <a:latin typeface="Calibir"/>
              </a:rPr>
              <a:t>- (private): only the class itself → e.g., -password</a:t>
            </a:r>
          </a:p>
          <a:p>
            <a:pPr marL="457200" indent="-457200">
              <a:lnSpc>
                <a:spcPct val="150000"/>
              </a:lnSpc>
              <a:buFont typeface="Arial" panose="020B0604020202020204" pitchFamily="34" charset="0"/>
              <a:buChar char="•"/>
            </a:pPr>
            <a:r>
              <a:rPr lang="en-US" sz="2800" dirty="0">
                <a:latin typeface="Calibir"/>
              </a:rPr>
              <a:t># (protected): only the class &amp; subclasses → e.g., #role</a:t>
            </a:r>
          </a:p>
        </p:txBody>
      </p:sp>
      <p:sp>
        <p:nvSpPr>
          <p:cNvPr id="27" name="Rectangle 26">
            <a:extLst>
              <a:ext uri="{FF2B5EF4-FFF2-40B4-BE49-F238E27FC236}">
                <a16:creationId xmlns:a16="http://schemas.microsoft.com/office/drawing/2014/main" id="{9C0D315D-1F92-EE38-509F-79D9144430FC}"/>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E17D24EF-21D2-503E-FCE4-C76F1266CFA8}"/>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30A07026-3266-09BB-7179-FEC628AEB48E}"/>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2A9D5321-D603-137A-369A-263656415F3C}"/>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D1A6FDD2-AE8A-F05B-AB37-42CA43E36A0B}"/>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34468CFD-D9F6-2DCD-FDA5-15FEF35CE5CF}"/>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19D3BFC3-2FAA-5D65-06AD-F2DB5DFC77D0}"/>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EC4DC25D-C1CF-266A-CD15-BCA3F495D4AC}"/>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B2535E62-28F2-C441-9FC8-32079E682971}"/>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A9A958DF-218A-CB65-75D2-33B8C82BD912}"/>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991E8D87-FF67-E3AE-AEF1-152D2AD7BDEA}"/>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93DB5654-0D5B-501F-490C-F14B90C76404}"/>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57297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7D1E0-8E02-C261-22EF-2E4B7BF7C6A3}"/>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6B1846A9-4AF2-6E55-D504-0B3BF22D4CF7}"/>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4619370C-4436-7CD6-ED77-E88462FD499B}"/>
              </a:ext>
            </a:extLst>
          </p:cNvPr>
          <p:cNvSpPr txBox="1"/>
          <p:nvPr/>
        </p:nvSpPr>
        <p:spPr>
          <a:xfrm>
            <a:off x="0" y="1002978"/>
            <a:ext cx="12192000" cy="4549835"/>
          </a:xfrm>
          <a:prstGeom prst="rect">
            <a:avLst/>
          </a:prstGeom>
          <a:noFill/>
        </p:spPr>
        <p:txBody>
          <a:bodyPr wrap="square">
            <a:spAutoFit/>
          </a:bodyPr>
          <a:lstStyle/>
          <a:p>
            <a:pPr>
              <a:lnSpc>
                <a:spcPct val="150000"/>
              </a:lnSpc>
            </a:pPr>
            <a:r>
              <a:rPr lang="en-US" sz="2800" dirty="0">
                <a:latin typeface="Calibir"/>
              </a:rPr>
              <a:t>We have completed the </a:t>
            </a:r>
            <a:r>
              <a:rPr lang="en-US" sz="2800" b="1" dirty="0">
                <a:latin typeface="Calibir"/>
              </a:rPr>
              <a:t>User–Permit</a:t>
            </a:r>
            <a:r>
              <a:rPr lang="en-US" sz="2800" dirty="0">
                <a:latin typeface="Calibir"/>
              </a:rPr>
              <a:t> part together. Now, please design the rest of the UML diagram by adding:</a:t>
            </a:r>
          </a:p>
          <a:p>
            <a:pPr marL="457200" indent="-457200">
              <a:lnSpc>
                <a:spcPct val="150000"/>
              </a:lnSpc>
              <a:buFont typeface="Arial" panose="020B0604020202020204" pitchFamily="34" charset="0"/>
              <a:buChar char="•"/>
            </a:pPr>
            <a:r>
              <a:rPr lang="en-US" sz="2800" b="1" dirty="0">
                <a:latin typeface="Calibir"/>
              </a:rPr>
              <a:t>Permit–Payment</a:t>
            </a:r>
            <a:r>
              <a:rPr lang="en-US" sz="2800" dirty="0">
                <a:latin typeface="Calibir"/>
              </a:rPr>
              <a:t> (mandatory relationship, action label ‘requires’).</a:t>
            </a:r>
          </a:p>
          <a:p>
            <a:pPr marL="457200" indent="-457200">
              <a:lnSpc>
                <a:spcPct val="150000"/>
              </a:lnSpc>
              <a:buFont typeface="Arial" panose="020B0604020202020204" pitchFamily="34" charset="0"/>
              <a:buChar char="•"/>
            </a:pPr>
            <a:r>
              <a:rPr lang="en-US" sz="2800" b="1" dirty="0" err="1">
                <a:latin typeface="Calibir"/>
              </a:rPr>
              <a:t>SecurityOfficer</a:t>
            </a:r>
            <a:r>
              <a:rPr lang="en-US" sz="2800" b="1" dirty="0">
                <a:latin typeface="Calibir"/>
              </a:rPr>
              <a:t>–Permit</a:t>
            </a:r>
            <a:r>
              <a:rPr lang="en-US" sz="2800" dirty="0">
                <a:latin typeface="Calibir"/>
              </a:rPr>
              <a:t> (dependency with revoke action).</a:t>
            </a:r>
          </a:p>
          <a:p>
            <a:pPr marL="457200" indent="-457200">
              <a:lnSpc>
                <a:spcPct val="150000"/>
              </a:lnSpc>
              <a:buFont typeface="Arial" panose="020B0604020202020204" pitchFamily="34" charset="0"/>
              <a:buChar char="•"/>
            </a:pPr>
            <a:r>
              <a:rPr lang="en-US" sz="2800" b="1" dirty="0">
                <a:latin typeface="Calibir"/>
              </a:rPr>
              <a:t>Permit–</a:t>
            </a:r>
            <a:r>
              <a:rPr lang="en-US" sz="2800" b="1" dirty="0" err="1">
                <a:latin typeface="Calibir"/>
              </a:rPr>
              <a:t>VehicleInfo</a:t>
            </a:r>
            <a:r>
              <a:rPr lang="en-US" sz="2800" dirty="0">
                <a:latin typeface="Calibir"/>
              </a:rPr>
              <a:t> (composition, black diamond).</a:t>
            </a:r>
            <a:br>
              <a:rPr lang="en-US" sz="2800" dirty="0">
                <a:latin typeface="Calibir"/>
              </a:rPr>
            </a:br>
            <a:r>
              <a:rPr lang="en-US" sz="2800" dirty="0">
                <a:latin typeface="Calibir"/>
              </a:rPr>
              <a:t>Remember to use rectangles for classes, ovals for methods, and mark multiplicity (0..1, 1, etc.).”</a:t>
            </a:r>
          </a:p>
        </p:txBody>
      </p:sp>
      <p:pic>
        <p:nvPicPr>
          <p:cNvPr id="4" name="Timer">
            <a:hlinkClick r:id="" action="ppaction://media"/>
            <a:extLst>
              <a:ext uri="{FF2B5EF4-FFF2-40B4-BE49-F238E27FC236}">
                <a16:creationId xmlns:a16="http://schemas.microsoft.com/office/drawing/2014/main" id="{ADC29056-D138-487B-B7DD-08245108F9C6}"/>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892" t="44731" r="40718" b="40645"/>
          <a:stretch>
            <a:fillRect/>
          </a:stretch>
        </p:blipFill>
        <p:spPr>
          <a:xfrm>
            <a:off x="5117690" y="5257520"/>
            <a:ext cx="2241756" cy="1002890"/>
          </a:xfrm>
          <a:prstGeom prst="rect">
            <a:avLst/>
          </a:prstGeom>
          <a:ln w="38100">
            <a:solidFill>
              <a:srgbClr val="FF0000"/>
            </a:solidFill>
          </a:ln>
        </p:spPr>
      </p:pic>
      <p:sp>
        <p:nvSpPr>
          <p:cNvPr id="2" name="Title 1">
            <a:extLst>
              <a:ext uri="{FF2B5EF4-FFF2-40B4-BE49-F238E27FC236}">
                <a16:creationId xmlns:a16="http://schemas.microsoft.com/office/drawing/2014/main" id="{9EB49885-93A8-6CED-BCD7-36C123FE3101}"/>
              </a:ext>
            </a:extLst>
          </p:cNvPr>
          <p:cNvSpPr>
            <a:spLocks noGrp="1"/>
          </p:cNvSpPr>
          <p:nvPr>
            <p:ph type="title"/>
          </p:nvPr>
        </p:nvSpPr>
        <p:spPr>
          <a:xfrm>
            <a:off x="0" y="0"/>
            <a:ext cx="12192000" cy="769434"/>
          </a:xfrm>
        </p:spPr>
        <p:txBody>
          <a:bodyPr anchor="b">
            <a:normAutofit/>
          </a:bodyPr>
          <a:lstStyle/>
          <a:p>
            <a:r>
              <a:rPr lang="en-US" sz="4000" dirty="0">
                <a:latin typeface="Calibir"/>
              </a:rPr>
              <a:t>Example &amp; </a:t>
            </a:r>
            <a:r>
              <a:rPr lang="en-US" sz="4000" dirty="0">
                <a:highlight>
                  <a:srgbClr val="FFFF00"/>
                </a:highlight>
                <a:latin typeface="Calibir"/>
              </a:rPr>
              <a:t>Activity</a:t>
            </a:r>
            <a:r>
              <a:rPr lang="en-US" sz="4000" dirty="0">
                <a:latin typeface="Calibir"/>
              </a:rPr>
              <a:t> — Campus Parking Permit System</a:t>
            </a:r>
            <a:endParaRPr lang="en-AU" sz="4000" b="1" dirty="0">
              <a:latin typeface="Calibir"/>
            </a:endParaRPr>
          </a:p>
        </p:txBody>
      </p:sp>
    </p:spTree>
    <p:extLst>
      <p:ext uri="{BB962C8B-B14F-4D97-AF65-F5344CB8AC3E}">
        <p14:creationId xmlns:p14="http://schemas.microsoft.com/office/powerpoint/2010/main" val="3965028517"/>
      </p:ext>
    </p:extLst>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1F24D-6074-C30A-9BB1-BA6C92ECC670}"/>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CE85CB4F-9819-78A7-AA87-A4D41ECA0E8C}"/>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679D5C65-FF75-C6D6-C65D-4B9A4E783D10}"/>
              </a:ext>
            </a:extLst>
          </p:cNvPr>
          <p:cNvSpPr txBox="1"/>
          <p:nvPr/>
        </p:nvSpPr>
        <p:spPr>
          <a:xfrm>
            <a:off x="0" y="1002978"/>
            <a:ext cx="12192000" cy="5637121"/>
          </a:xfrm>
          <a:prstGeom prst="rect">
            <a:avLst/>
          </a:prstGeom>
          <a:noFill/>
        </p:spPr>
        <p:txBody>
          <a:bodyPr wrap="square">
            <a:spAutoFit/>
          </a:bodyPr>
          <a:lstStyle/>
          <a:p>
            <a:pPr>
              <a:lnSpc>
                <a:spcPct val="150000"/>
              </a:lnSpc>
            </a:pPr>
            <a:r>
              <a:rPr lang="en-US" sz="2700" b="1" dirty="0">
                <a:latin typeface="Calibir"/>
              </a:rPr>
              <a:t>Complete the UML Relationships</a:t>
            </a:r>
          </a:p>
          <a:p>
            <a:pPr marL="514350" indent="-514350">
              <a:lnSpc>
                <a:spcPct val="150000"/>
              </a:lnSpc>
              <a:buFont typeface="+mj-lt"/>
              <a:buAutoNum type="arabicPeriod"/>
            </a:pPr>
            <a:r>
              <a:rPr lang="en-US" sz="2700" b="1" dirty="0">
                <a:latin typeface="Calibir"/>
              </a:rPr>
              <a:t>Permit–Payment (mandatory)</a:t>
            </a:r>
            <a:endParaRPr lang="en-US" sz="2700" dirty="0">
              <a:latin typeface="Calibir"/>
            </a:endParaRPr>
          </a:p>
          <a:p>
            <a:pPr marL="914400" lvl="1" indent="-457200">
              <a:lnSpc>
                <a:spcPct val="150000"/>
              </a:lnSpc>
              <a:buFont typeface="Arial" panose="020B0604020202020204" pitchFamily="34" charset="0"/>
              <a:buChar char="•"/>
            </a:pPr>
            <a:r>
              <a:rPr lang="en-US" sz="2700" dirty="0">
                <a:latin typeface="Calibir"/>
              </a:rPr>
              <a:t>Permit (1) ── (1) Payment</a:t>
            </a:r>
          </a:p>
          <a:p>
            <a:pPr marL="914400" lvl="1" indent="-457200">
              <a:lnSpc>
                <a:spcPct val="150000"/>
              </a:lnSpc>
              <a:buFont typeface="Arial" panose="020B0604020202020204" pitchFamily="34" charset="0"/>
              <a:buChar char="•"/>
            </a:pPr>
            <a:r>
              <a:rPr lang="en-US" sz="2700" dirty="0">
                <a:latin typeface="Calibir"/>
              </a:rPr>
              <a:t>Action: “requires”</a:t>
            </a:r>
          </a:p>
          <a:p>
            <a:pPr marL="914400" lvl="1" indent="-457200">
              <a:lnSpc>
                <a:spcPct val="150000"/>
              </a:lnSpc>
              <a:buFont typeface="Arial" panose="020B0604020202020204" pitchFamily="34" charset="0"/>
              <a:buChar char="•"/>
            </a:pPr>
            <a:r>
              <a:rPr lang="en-US" sz="2700" dirty="0">
                <a:latin typeface="Calibir"/>
              </a:rPr>
              <a:t>Explain: every permit must have exactly one payment when created.</a:t>
            </a:r>
          </a:p>
          <a:p>
            <a:pPr marL="514350" indent="-514350">
              <a:lnSpc>
                <a:spcPct val="150000"/>
              </a:lnSpc>
              <a:buFont typeface="+mj-lt"/>
              <a:buAutoNum type="arabicPeriod"/>
            </a:pPr>
            <a:r>
              <a:rPr lang="en-US" sz="2700" b="1" dirty="0" err="1">
                <a:latin typeface="Calibir"/>
              </a:rPr>
              <a:t>SecurityOfficer</a:t>
            </a:r>
            <a:r>
              <a:rPr lang="en-US" sz="2700" b="1" dirty="0">
                <a:latin typeface="Calibir"/>
              </a:rPr>
              <a:t>–Permit (dependency)</a:t>
            </a:r>
            <a:endParaRPr lang="en-US" sz="2700" dirty="0">
              <a:latin typeface="Calibir"/>
            </a:endParaRPr>
          </a:p>
          <a:p>
            <a:pPr marL="914400" lvl="1" indent="-457200">
              <a:lnSpc>
                <a:spcPct val="150000"/>
              </a:lnSpc>
              <a:buFont typeface="Arial" panose="020B0604020202020204" pitchFamily="34" charset="0"/>
              <a:buChar char="•"/>
            </a:pPr>
            <a:r>
              <a:rPr lang="en-US" sz="2700" dirty="0">
                <a:latin typeface="Calibir"/>
              </a:rPr>
              <a:t>Dashed arrow </a:t>
            </a:r>
            <a:r>
              <a:rPr lang="en-US" sz="2700" dirty="0" err="1">
                <a:latin typeface="Calibir"/>
              </a:rPr>
              <a:t>SecurityOfficer</a:t>
            </a:r>
            <a:r>
              <a:rPr lang="en-US" sz="2700" dirty="0">
                <a:latin typeface="Calibir"/>
              </a:rPr>
              <a:t> ──&gt; Permit</a:t>
            </a:r>
          </a:p>
          <a:p>
            <a:pPr marL="914400" lvl="1" indent="-457200">
              <a:lnSpc>
                <a:spcPct val="150000"/>
              </a:lnSpc>
              <a:buFont typeface="Arial" panose="020B0604020202020204" pitchFamily="34" charset="0"/>
              <a:buChar char="•"/>
            </a:pPr>
            <a:r>
              <a:rPr lang="en-US" sz="2700" dirty="0">
                <a:latin typeface="Calibir"/>
              </a:rPr>
              <a:t>Action: “revoke()”</a:t>
            </a:r>
          </a:p>
          <a:p>
            <a:pPr marL="914400" lvl="1" indent="-457200">
              <a:lnSpc>
                <a:spcPct val="150000"/>
              </a:lnSpc>
              <a:buFont typeface="Arial" panose="020B0604020202020204" pitchFamily="34" charset="0"/>
              <a:buChar char="•"/>
            </a:pPr>
            <a:r>
              <a:rPr lang="en-US" sz="2700" dirty="0">
                <a:latin typeface="Calibir"/>
              </a:rPr>
              <a:t>Explain: dependency, because </a:t>
            </a:r>
            <a:r>
              <a:rPr lang="en-US" sz="2700" dirty="0" err="1">
                <a:latin typeface="Calibir"/>
              </a:rPr>
              <a:t>SecurityOfficer</a:t>
            </a:r>
            <a:r>
              <a:rPr lang="en-US" sz="2700" dirty="0">
                <a:latin typeface="Calibir"/>
              </a:rPr>
              <a:t> needs Permit to perform revoke.</a:t>
            </a:r>
          </a:p>
        </p:txBody>
      </p:sp>
      <p:sp>
        <p:nvSpPr>
          <p:cNvPr id="6" name="Title 1">
            <a:extLst>
              <a:ext uri="{FF2B5EF4-FFF2-40B4-BE49-F238E27FC236}">
                <a16:creationId xmlns:a16="http://schemas.microsoft.com/office/drawing/2014/main" id="{D75478D2-BCDA-4D6C-96CE-3F5A017BD450}"/>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006166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8A597-A317-6FD3-99BB-DC7530320EEB}"/>
            </a:ext>
          </a:extLst>
        </p:cNvPr>
        <p:cNvGrpSpPr/>
        <p:nvPr/>
      </p:nvGrpSpPr>
      <p:grpSpPr>
        <a:xfrm>
          <a:off x="0" y="0"/>
          <a:ext cx="0" cy="0"/>
          <a:chOff x="0" y="0"/>
          <a:chExt cx="0" cy="0"/>
        </a:xfrm>
      </p:grpSpPr>
      <p:sp>
        <p:nvSpPr>
          <p:cNvPr id="43" name="TextBox 42">
            <a:extLst>
              <a:ext uri="{FF2B5EF4-FFF2-40B4-BE49-F238E27FC236}">
                <a16:creationId xmlns:a16="http://schemas.microsoft.com/office/drawing/2014/main" id="{0E642B40-C1C4-459C-5F86-FD858E06967A}"/>
              </a:ext>
            </a:extLst>
          </p:cNvPr>
          <p:cNvSpPr txBox="1">
            <a:spLocks/>
          </p:cNvSpPr>
          <p:nvPr/>
        </p:nvSpPr>
        <p:spPr>
          <a:xfrm>
            <a:off x="8281220" y="4673300"/>
            <a:ext cx="961105"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2" name="TextBox 41">
            <a:extLst>
              <a:ext uri="{FF2B5EF4-FFF2-40B4-BE49-F238E27FC236}">
                <a16:creationId xmlns:a16="http://schemas.microsoft.com/office/drawing/2014/main" id="{24227EB4-318F-4C1B-6051-5BE08C23BFB5}"/>
              </a:ext>
            </a:extLst>
          </p:cNvPr>
          <p:cNvSpPr txBox="1">
            <a:spLocks/>
          </p:cNvSpPr>
          <p:nvPr/>
        </p:nvSpPr>
        <p:spPr>
          <a:xfrm>
            <a:off x="9125564" y="3664715"/>
            <a:ext cx="961105"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26" name="Rectangle 2">
            <a:extLst>
              <a:ext uri="{FF2B5EF4-FFF2-40B4-BE49-F238E27FC236}">
                <a16:creationId xmlns:a16="http://schemas.microsoft.com/office/drawing/2014/main" id="{92D77C22-A22D-E655-A716-83CF830F728C}"/>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A6DC365D-9CA1-B79A-EA8F-1403A4EB06EC}"/>
              </a:ext>
            </a:extLst>
          </p:cNvPr>
          <p:cNvSpPr txBox="1"/>
          <p:nvPr/>
        </p:nvSpPr>
        <p:spPr>
          <a:xfrm>
            <a:off x="0" y="2792624"/>
            <a:ext cx="5041491" cy="4072269"/>
          </a:xfrm>
          <a:prstGeom prst="rect">
            <a:avLst/>
          </a:prstGeom>
          <a:noFill/>
        </p:spPr>
        <p:txBody>
          <a:bodyPr wrap="square">
            <a:spAutoFit/>
          </a:bodyPr>
          <a:lstStyle/>
          <a:p>
            <a:pPr marL="514350" indent="-514350">
              <a:lnSpc>
                <a:spcPct val="150000"/>
              </a:lnSpc>
              <a:buFont typeface="+mj-lt"/>
              <a:buAutoNum type="arabicPeriod" startAt="3"/>
            </a:pPr>
            <a:r>
              <a:rPr lang="en-US" sz="2500" b="1" dirty="0">
                <a:latin typeface="Calibir"/>
              </a:rPr>
              <a:t>Permit–</a:t>
            </a:r>
            <a:r>
              <a:rPr lang="en-US" sz="2500" b="1" dirty="0" err="1">
                <a:latin typeface="Calibir"/>
              </a:rPr>
              <a:t>VehicleInfo</a:t>
            </a:r>
            <a:r>
              <a:rPr lang="en-US" sz="2500" b="1" dirty="0">
                <a:latin typeface="Calibir"/>
              </a:rPr>
              <a:t> (composition)</a:t>
            </a:r>
            <a:endParaRPr lang="en-US" sz="2500" dirty="0">
              <a:latin typeface="Calibir"/>
            </a:endParaRPr>
          </a:p>
          <a:p>
            <a:pPr marL="914400" lvl="1" indent="-457200">
              <a:lnSpc>
                <a:spcPct val="150000"/>
              </a:lnSpc>
              <a:buFont typeface="Arial" panose="020B0604020202020204" pitchFamily="34" charset="0"/>
              <a:buChar char="•"/>
            </a:pPr>
            <a:r>
              <a:rPr lang="en-US" sz="2500" dirty="0">
                <a:latin typeface="Calibir"/>
              </a:rPr>
              <a:t>Black diamond at Permit side.</a:t>
            </a:r>
          </a:p>
          <a:p>
            <a:pPr marL="914400" lvl="1" indent="-457200">
              <a:lnSpc>
                <a:spcPct val="150000"/>
              </a:lnSpc>
              <a:buFont typeface="Arial" panose="020B0604020202020204" pitchFamily="34" charset="0"/>
              <a:buChar char="•"/>
            </a:pPr>
            <a:r>
              <a:rPr lang="en-US" sz="2500" dirty="0">
                <a:latin typeface="Calibir"/>
              </a:rPr>
              <a:t>Multiplicity: 1 Permit → 1 </a:t>
            </a:r>
            <a:r>
              <a:rPr lang="en-US" sz="2500" dirty="0" err="1">
                <a:latin typeface="Calibir"/>
              </a:rPr>
              <a:t>VehicleInfo</a:t>
            </a:r>
            <a:endParaRPr lang="en-US" sz="2500" dirty="0">
              <a:latin typeface="Calibir"/>
            </a:endParaRPr>
          </a:p>
          <a:p>
            <a:pPr marL="914400" lvl="1" indent="-457200">
              <a:lnSpc>
                <a:spcPct val="150000"/>
              </a:lnSpc>
              <a:buFont typeface="Arial" panose="020B0604020202020204" pitchFamily="34" charset="0"/>
              <a:buChar char="•"/>
            </a:pPr>
            <a:r>
              <a:rPr lang="en-US" sz="2500" dirty="0">
                <a:latin typeface="Calibir"/>
              </a:rPr>
              <a:t>Explain: if Permit is deleted, </a:t>
            </a:r>
            <a:r>
              <a:rPr lang="en-US" sz="2500" dirty="0" err="1">
                <a:latin typeface="Calibir"/>
              </a:rPr>
              <a:t>VehicleInfo</a:t>
            </a:r>
            <a:r>
              <a:rPr lang="en-US" sz="2500" dirty="0">
                <a:latin typeface="Calibir"/>
              </a:rPr>
              <a:t> is deleted too.</a:t>
            </a:r>
          </a:p>
        </p:txBody>
      </p:sp>
      <p:sp>
        <p:nvSpPr>
          <p:cNvPr id="2" name="TextBox 1">
            <a:extLst>
              <a:ext uri="{FF2B5EF4-FFF2-40B4-BE49-F238E27FC236}">
                <a16:creationId xmlns:a16="http://schemas.microsoft.com/office/drawing/2014/main" id="{4619370C-4436-7CD6-ED77-E88462FD499B}"/>
              </a:ext>
            </a:extLst>
          </p:cNvPr>
          <p:cNvSpPr txBox="1"/>
          <p:nvPr/>
        </p:nvSpPr>
        <p:spPr>
          <a:xfrm>
            <a:off x="0" y="0"/>
            <a:ext cx="12192000" cy="2607958"/>
          </a:xfrm>
          <a:prstGeom prst="rect">
            <a:avLst/>
          </a:prstGeom>
          <a:noFill/>
        </p:spPr>
        <p:txBody>
          <a:bodyPr wrap="square">
            <a:spAutoFit/>
          </a:bodyPr>
          <a:lstStyle/>
          <a:p>
            <a:pPr>
              <a:lnSpc>
                <a:spcPct val="150000"/>
              </a:lnSpc>
            </a:pPr>
            <a:r>
              <a:rPr lang="en-US" sz="2800" b="1" dirty="0">
                <a:highlight>
                  <a:srgbClr val="FFFF00"/>
                </a:highlight>
                <a:latin typeface="Calibir"/>
              </a:rPr>
              <a:t>Composition (Strong Link)</a:t>
            </a:r>
          </a:p>
          <a:p>
            <a:pPr marL="457200" indent="-457200">
              <a:lnSpc>
                <a:spcPct val="150000"/>
              </a:lnSpc>
              <a:buFont typeface="Arial" panose="020B0604020202020204" pitchFamily="34" charset="0"/>
              <a:buChar char="•"/>
            </a:pPr>
            <a:r>
              <a:rPr lang="en-US" sz="2800" dirty="0">
                <a:latin typeface="Calibir"/>
              </a:rPr>
              <a:t>Each Permit is tied to exactly one Vehicle (by plate number).</a:t>
            </a:r>
          </a:p>
          <a:p>
            <a:pPr marL="457200" indent="-457200">
              <a:lnSpc>
                <a:spcPct val="150000"/>
              </a:lnSpc>
              <a:buFont typeface="Arial" panose="020B0604020202020204" pitchFamily="34" charset="0"/>
              <a:buChar char="•"/>
            </a:pPr>
            <a:r>
              <a:rPr lang="en-US" sz="2800" dirty="0">
                <a:latin typeface="Calibir"/>
              </a:rPr>
              <a:t>If the permit is deleted, the vehicle link also disappears from the permit system.</a:t>
            </a:r>
          </a:p>
          <a:p>
            <a:pPr marL="457200" indent="-457200">
              <a:lnSpc>
                <a:spcPct val="150000"/>
              </a:lnSpc>
              <a:buFont typeface="Arial" panose="020B0604020202020204" pitchFamily="34" charset="0"/>
              <a:buChar char="•"/>
            </a:pPr>
            <a:r>
              <a:rPr lang="en-US" sz="2800" dirty="0">
                <a:latin typeface="Calibir"/>
              </a:rPr>
              <a:t>UML: Permit ♦─1..1 Vehicle</a:t>
            </a:r>
          </a:p>
        </p:txBody>
      </p:sp>
      <p:sp>
        <p:nvSpPr>
          <p:cNvPr id="29" name="Rectangle 28">
            <a:extLst>
              <a:ext uri="{FF2B5EF4-FFF2-40B4-BE49-F238E27FC236}">
                <a16:creationId xmlns:a16="http://schemas.microsoft.com/office/drawing/2014/main" id="{7287BCCE-04C9-0B0A-482C-E787EB997756}"/>
              </a:ext>
            </a:extLst>
          </p:cNvPr>
          <p:cNvSpPr/>
          <p:nvPr/>
        </p:nvSpPr>
        <p:spPr>
          <a:xfrm>
            <a:off x="9969910" y="3230787"/>
            <a:ext cx="2222090"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VehicleInfo</a:t>
            </a:r>
            <a:endParaRPr lang="en-US" sz="2800" dirty="0">
              <a:latin typeface="Calibir"/>
            </a:endParaRPr>
          </a:p>
        </p:txBody>
      </p:sp>
      <p:sp>
        <p:nvSpPr>
          <p:cNvPr id="30" name="Rectangle 29">
            <a:extLst>
              <a:ext uri="{FF2B5EF4-FFF2-40B4-BE49-F238E27FC236}">
                <a16:creationId xmlns:a16="http://schemas.microsoft.com/office/drawing/2014/main" id="{409E5229-8987-C0AF-BAA7-7FD820B5C579}"/>
              </a:ext>
            </a:extLst>
          </p:cNvPr>
          <p:cNvSpPr/>
          <p:nvPr/>
        </p:nvSpPr>
        <p:spPr>
          <a:xfrm>
            <a:off x="9969909" y="4539281"/>
            <a:ext cx="2222090"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31" name="Rectangle 30">
            <a:extLst>
              <a:ext uri="{FF2B5EF4-FFF2-40B4-BE49-F238E27FC236}">
                <a16:creationId xmlns:a16="http://schemas.microsoft.com/office/drawing/2014/main" id="{B93E6791-6B05-D905-7AC2-6B4EF4CD4B68}"/>
              </a:ext>
            </a:extLst>
          </p:cNvPr>
          <p:cNvSpPr/>
          <p:nvPr/>
        </p:nvSpPr>
        <p:spPr>
          <a:xfrm>
            <a:off x="9969909" y="5211943"/>
            <a:ext cx="2222090"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make</a:t>
            </a:r>
          </a:p>
        </p:txBody>
      </p:sp>
      <p:sp>
        <p:nvSpPr>
          <p:cNvPr id="32" name="Rectangle 31">
            <a:extLst>
              <a:ext uri="{FF2B5EF4-FFF2-40B4-BE49-F238E27FC236}">
                <a16:creationId xmlns:a16="http://schemas.microsoft.com/office/drawing/2014/main" id="{82B704D1-AD4F-302B-FACB-12C0AAEB7967}"/>
              </a:ext>
            </a:extLst>
          </p:cNvPr>
          <p:cNvSpPr/>
          <p:nvPr/>
        </p:nvSpPr>
        <p:spPr>
          <a:xfrm>
            <a:off x="5041492" y="2195481"/>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33" name="Rectangle 32">
            <a:extLst>
              <a:ext uri="{FF2B5EF4-FFF2-40B4-BE49-F238E27FC236}">
                <a16:creationId xmlns:a16="http://schemas.microsoft.com/office/drawing/2014/main" id="{6CBEF354-C5BC-D744-C29F-76B92DE20261}"/>
              </a:ext>
            </a:extLst>
          </p:cNvPr>
          <p:cNvSpPr/>
          <p:nvPr/>
        </p:nvSpPr>
        <p:spPr>
          <a:xfrm>
            <a:off x="5041491" y="3503975"/>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34" name="Rectangle 33">
            <a:extLst>
              <a:ext uri="{FF2B5EF4-FFF2-40B4-BE49-F238E27FC236}">
                <a16:creationId xmlns:a16="http://schemas.microsoft.com/office/drawing/2014/main" id="{A5C0AD7F-47A0-5C95-4B45-4B3BAB1C30B8}"/>
              </a:ext>
            </a:extLst>
          </p:cNvPr>
          <p:cNvSpPr/>
          <p:nvPr/>
        </p:nvSpPr>
        <p:spPr>
          <a:xfrm>
            <a:off x="5041491" y="417663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35" name="Rectangle 34">
            <a:extLst>
              <a:ext uri="{FF2B5EF4-FFF2-40B4-BE49-F238E27FC236}">
                <a16:creationId xmlns:a16="http://schemas.microsoft.com/office/drawing/2014/main" id="{34F37D28-22AD-CC28-6C8A-68E8C9E4D417}"/>
              </a:ext>
            </a:extLst>
          </p:cNvPr>
          <p:cNvSpPr/>
          <p:nvPr/>
        </p:nvSpPr>
        <p:spPr>
          <a:xfrm>
            <a:off x="5041491" y="484001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36" name="Rectangle 35">
            <a:extLst>
              <a:ext uri="{FF2B5EF4-FFF2-40B4-BE49-F238E27FC236}">
                <a16:creationId xmlns:a16="http://schemas.microsoft.com/office/drawing/2014/main" id="{DE1A0EC1-4830-E0C2-E49D-6AE017B2E553}"/>
              </a:ext>
            </a:extLst>
          </p:cNvPr>
          <p:cNvSpPr/>
          <p:nvPr/>
        </p:nvSpPr>
        <p:spPr>
          <a:xfrm>
            <a:off x="5041491" y="552196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37" name="Rectangle 36">
            <a:extLst>
              <a:ext uri="{FF2B5EF4-FFF2-40B4-BE49-F238E27FC236}">
                <a16:creationId xmlns:a16="http://schemas.microsoft.com/office/drawing/2014/main" id="{804B8F98-5424-F0DE-E626-47A32BFECC85}"/>
              </a:ext>
            </a:extLst>
          </p:cNvPr>
          <p:cNvSpPr/>
          <p:nvPr/>
        </p:nvSpPr>
        <p:spPr>
          <a:xfrm>
            <a:off x="5041491" y="618533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cxnSp>
        <p:nvCxnSpPr>
          <p:cNvPr id="38" name="Straight Connector 37">
            <a:extLst>
              <a:ext uri="{FF2B5EF4-FFF2-40B4-BE49-F238E27FC236}">
                <a16:creationId xmlns:a16="http://schemas.microsoft.com/office/drawing/2014/main" id="{8D557716-BBE5-A58D-98CB-AEA57C7B9276}"/>
              </a:ext>
            </a:extLst>
          </p:cNvPr>
          <p:cNvCxnSpPr>
            <a:cxnSpLocks/>
          </p:cNvCxnSpPr>
          <p:nvPr/>
        </p:nvCxnSpPr>
        <p:spPr>
          <a:xfrm flipH="1">
            <a:off x="8281220" y="4496496"/>
            <a:ext cx="1688689" cy="0"/>
          </a:xfrm>
          <a:prstGeom prst="line">
            <a:avLst/>
          </a:prstGeom>
          <a:ln w="38100"/>
        </p:spPr>
        <p:style>
          <a:lnRef idx="1">
            <a:schemeClr val="accent6"/>
          </a:lnRef>
          <a:fillRef idx="0">
            <a:schemeClr val="accent6"/>
          </a:fillRef>
          <a:effectRef idx="0">
            <a:schemeClr val="accent6"/>
          </a:effectRef>
          <a:fontRef idx="minor">
            <a:schemeClr val="tx1"/>
          </a:fontRef>
        </p:style>
      </p:cxnSp>
      <p:sp>
        <p:nvSpPr>
          <p:cNvPr id="41" name="Flowchart: Decision 40">
            <a:extLst>
              <a:ext uri="{FF2B5EF4-FFF2-40B4-BE49-F238E27FC236}">
                <a16:creationId xmlns:a16="http://schemas.microsoft.com/office/drawing/2014/main" id="{CED2F066-420E-3579-0B91-116507F82FCB}"/>
              </a:ext>
            </a:extLst>
          </p:cNvPr>
          <p:cNvSpPr/>
          <p:nvPr/>
        </p:nvSpPr>
        <p:spPr>
          <a:xfrm>
            <a:off x="8598309" y="4176637"/>
            <a:ext cx="324465" cy="672659"/>
          </a:xfrm>
          <a:prstGeom prst="flowChartDecision">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68904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0D2E4-43C8-3A95-9CF5-DA034FB80862}"/>
            </a:ext>
          </a:extLst>
        </p:cNvPr>
        <p:cNvGrpSpPr/>
        <p:nvPr/>
      </p:nvGrpSpPr>
      <p:grpSpPr>
        <a:xfrm>
          <a:off x="0" y="0"/>
          <a:ext cx="0" cy="0"/>
          <a:chOff x="0" y="0"/>
          <a:chExt cx="0" cy="0"/>
        </a:xfrm>
      </p:grpSpPr>
      <p:sp>
        <p:nvSpPr>
          <p:cNvPr id="43" name="TextBox 42">
            <a:extLst>
              <a:ext uri="{FF2B5EF4-FFF2-40B4-BE49-F238E27FC236}">
                <a16:creationId xmlns:a16="http://schemas.microsoft.com/office/drawing/2014/main" id="{40A7DD9C-A54A-FBE4-8606-5D53C1E0DD3F}"/>
              </a:ext>
            </a:extLst>
          </p:cNvPr>
          <p:cNvSpPr txBox="1">
            <a:spLocks/>
          </p:cNvSpPr>
          <p:nvPr/>
        </p:nvSpPr>
        <p:spPr>
          <a:xfrm>
            <a:off x="8281220" y="4673300"/>
            <a:ext cx="961105"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2" name="TextBox 41">
            <a:extLst>
              <a:ext uri="{FF2B5EF4-FFF2-40B4-BE49-F238E27FC236}">
                <a16:creationId xmlns:a16="http://schemas.microsoft.com/office/drawing/2014/main" id="{29B89456-6DDF-B90A-F19A-431188795A63}"/>
              </a:ext>
            </a:extLst>
          </p:cNvPr>
          <p:cNvSpPr txBox="1">
            <a:spLocks/>
          </p:cNvSpPr>
          <p:nvPr/>
        </p:nvSpPr>
        <p:spPr>
          <a:xfrm>
            <a:off x="9125564" y="3664715"/>
            <a:ext cx="961105"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26" name="Rectangle 2">
            <a:extLst>
              <a:ext uri="{FF2B5EF4-FFF2-40B4-BE49-F238E27FC236}">
                <a16:creationId xmlns:a16="http://schemas.microsoft.com/office/drawing/2014/main" id="{212B75E4-4814-FE93-5D3A-7A5F610765D6}"/>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B272D144-2890-DD5E-FB6C-33EBF60B4C70}"/>
              </a:ext>
            </a:extLst>
          </p:cNvPr>
          <p:cNvSpPr txBox="1"/>
          <p:nvPr/>
        </p:nvSpPr>
        <p:spPr>
          <a:xfrm>
            <a:off x="0" y="2792624"/>
            <a:ext cx="5041491" cy="2610843"/>
          </a:xfrm>
          <a:prstGeom prst="rect">
            <a:avLst/>
          </a:prstGeom>
          <a:noFill/>
        </p:spPr>
        <p:txBody>
          <a:bodyPr wrap="square">
            <a:spAutoFit/>
          </a:bodyPr>
          <a:lstStyle/>
          <a:p>
            <a:pPr>
              <a:lnSpc>
                <a:spcPct val="150000"/>
              </a:lnSpc>
            </a:pPr>
            <a:r>
              <a:rPr lang="en-US" sz="2800" b="1" dirty="0">
                <a:highlight>
                  <a:srgbClr val="00FF00"/>
                </a:highlight>
                <a:latin typeface="Calibir"/>
              </a:rPr>
              <a:t>Multiplicity (1,1)</a:t>
            </a:r>
            <a:r>
              <a:rPr lang="en-US" sz="2800" b="1" dirty="0">
                <a:latin typeface="Calibir"/>
              </a:rPr>
              <a:t> </a:t>
            </a:r>
            <a:r>
              <a:rPr lang="en-US" sz="2800" dirty="0">
                <a:latin typeface="Calibir"/>
              </a:rPr>
              <a:t>→ each Permit is tied to exactly one </a:t>
            </a:r>
            <a:r>
              <a:rPr lang="en-US" sz="2800" dirty="0" err="1">
                <a:latin typeface="Calibir"/>
              </a:rPr>
              <a:t>VehicleInfo</a:t>
            </a:r>
            <a:r>
              <a:rPr lang="en-US" sz="2800" dirty="0">
                <a:latin typeface="Calibir"/>
              </a:rPr>
              <a:t>, and each </a:t>
            </a:r>
            <a:r>
              <a:rPr lang="en-US" sz="2800" dirty="0" err="1">
                <a:latin typeface="Calibir"/>
              </a:rPr>
              <a:t>VehicleInfo</a:t>
            </a:r>
            <a:r>
              <a:rPr lang="en-US" sz="2800" dirty="0">
                <a:latin typeface="Calibir"/>
              </a:rPr>
              <a:t> belongs to exactly one Permit.</a:t>
            </a:r>
          </a:p>
        </p:txBody>
      </p:sp>
      <p:sp>
        <p:nvSpPr>
          <p:cNvPr id="2" name="TextBox 1">
            <a:extLst>
              <a:ext uri="{FF2B5EF4-FFF2-40B4-BE49-F238E27FC236}">
                <a16:creationId xmlns:a16="http://schemas.microsoft.com/office/drawing/2014/main" id="{1D3B206C-1B7E-C5D6-11E8-7046EB0EAFDB}"/>
              </a:ext>
            </a:extLst>
          </p:cNvPr>
          <p:cNvSpPr txBox="1"/>
          <p:nvPr/>
        </p:nvSpPr>
        <p:spPr>
          <a:xfrm>
            <a:off x="0" y="0"/>
            <a:ext cx="12192000" cy="2614434"/>
          </a:xfrm>
          <a:prstGeom prst="rect">
            <a:avLst/>
          </a:prstGeom>
          <a:noFill/>
        </p:spPr>
        <p:txBody>
          <a:bodyPr wrap="square">
            <a:spAutoFit/>
          </a:bodyPr>
          <a:lstStyle/>
          <a:p>
            <a:pPr>
              <a:lnSpc>
                <a:spcPct val="150000"/>
              </a:lnSpc>
            </a:pPr>
            <a:r>
              <a:rPr lang="en-US" sz="2800" b="1" dirty="0">
                <a:highlight>
                  <a:srgbClr val="FFFF00"/>
                </a:highlight>
                <a:latin typeface="Calibir"/>
              </a:rPr>
              <a:t>Composition (Strong Link)</a:t>
            </a:r>
          </a:p>
          <a:p>
            <a:pPr marL="457200" indent="-457200">
              <a:lnSpc>
                <a:spcPct val="150000"/>
              </a:lnSpc>
              <a:buFont typeface="Arial" panose="020B0604020202020204" pitchFamily="34" charset="0"/>
              <a:buChar char="•"/>
            </a:pPr>
            <a:r>
              <a:rPr lang="en-US" sz="2800" dirty="0">
                <a:latin typeface="Calibir"/>
              </a:rPr>
              <a:t>Composition (black diamond at Permit side) → means a </a:t>
            </a:r>
            <a:r>
              <a:rPr lang="en-US" sz="2800" dirty="0" err="1">
                <a:latin typeface="Calibir"/>
              </a:rPr>
              <a:t>VehicleInfo</a:t>
            </a:r>
            <a:r>
              <a:rPr lang="en-US" sz="2800" dirty="0">
                <a:latin typeface="Calibir"/>
              </a:rPr>
              <a:t> cannot exist without its Permit. If the Permit is deleted, the </a:t>
            </a:r>
            <a:r>
              <a:rPr lang="en-US" sz="2800" dirty="0" err="1">
                <a:latin typeface="Calibir"/>
              </a:rPr>
              <a:t>VehicleInfo</a:t>
            </a:r>
            <a:r>
              <a:rPr lang="en-US" sz="2800" dirty="0">
                <a:latin typeface="Calibir"/>
              </a:rPr>
              <a:t> tied to it is also deleted.</a:t>
            </a:r>
          </a:p>
        </p:txBody>
      </p:sp>
      <p:sp>
        <p:nvSpPr>
          <p:cNvPr id="29" name="Rectangle 28">
            <a:extLst>
              <a:ext uri="{FF2B5EF4-FFF2-40B4-BE49-F238E27FC236}">
                <a16:creationId xmlns:a16="http://schemas.microsoft.com/office/drawing/2014/main" id="{BB94B184-CB80-2264-688E-577FFF2C0A25}"/>
              </a:ext>
            </a:extLst>
          </p:cNvPr>
          <p:cNvSpPr/>
          <p:nvPr/>
        </p:nvSpPr>
        <p:spPr>
          <a:xfrm>
            <a:off x="9969910" y="3230787"/>
            <a:ext cx="2222090"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VehicleInfo</a:t>
            </a:r>
            <a:endParaRPr lang="en-US" sz="2800" dirty="0">
              <a:latin typeface="Calibir"/>
            </a:endParaRPr>
          </a:p>
        </p:txBody>
      </p:sp>
      <p:sp>
        <p:nvSpPr>
          <p:cNvPr id="30" name="Rectangle 29">
            <a:extLst>
              <a:ext uri="{FF2B5EF4-FFF2-40B4-BE49-F238E27FC236}">
                <a16:creationId xmlns:a16="http://schemas.microsoft.com/office/drawing/2014/main" id="{483FBACA-6D0D-C472-BCE1-4E03314B6EF0}"/>
              </a:ext>
            </a:extLst>
          </p:cNvPr>
          <p:cNvSpPr/>
          <p:nvPr/>
        </p:nvSpPr>
        <p:spPr>
          <a:xfrm>
            <a:off x="9969909" y="4539281"/>
            <a:ext cx="2222090"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31" name="Rectangle 30">
            <a:extLst>
              <a:ext uri="{FF2B5EF4-FFF2-40B4-BE49-F238E27FC236}">
                <a16:creationId xmlns:a16="http://schemas.microsoft.com/office/drawing/2014/main" id="{CC5A2CE5-7393-FD63-0467-1C162369D1C5}"/>
              </a:ext>
            </a:extLst>
          </p:cNvPr>
          <p:cNvSpPr/>
          <p:nvPr/>
        </p:nvSpPr>
        <p:spPr>
          <a:xfrm>
            <a:off x="9969909" y="5211943"/>
            <a:ext cx="2222090"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make</a:t>
            </a:r>
          </a:p>
        </p:txBody>
      </p:sp>
      <p:sp>
        <p:nvSpPr>
          <p:cNvPr id="32" name="Rectangle 31">
            <a:extLst>
              <a:ext uri="{FF2B5EF4-FFF2-40B4-BE49-F238E27FC236}">
                <a16:creationId xmlns:a16="http://schemas.microsoft.com/office/drawing/2014/main" id="{1BCFCD09-1A2A-3CE7-EE0B-0FB08D9411C8}"/>
              </a:ext>
            </a:extLst>
          </p:cNvPr>
          <p:cNvSpPr/>
          <p:nvPr/>
        </p:nvSpPr>
        <p:spPr>
          <a:xfrm>
            <a:off x="5041492" y="2195481"/>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33" name="Rectangle 32">
            <a:extLst>
              <a:ext uri="{FF2B5EF4-FFF2-40B4-BE49-F238E27FC236}">
                <a16:creationId xmlns:a16="http://schemas.microsoft.com/office/drawing/2014/main" id="{80E0A7D0-C3B9-8CF4-EC57-FFA11620A075}"/>
              </a:ext>
            </a:extLst>
          </p:cNvPr>
          <p:cNvSpPr/>
          <p:nvPr/>
        </p:nvSpPr>
        <p:spPr>
          <a:xfrm>
            <a:off x="5041491" y="3503975"/>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34" name="Rectangle 33">
            <a:extLst>
              <a:ext uri="{FF2B5EF4-FFF2-40B4-BE49-F238E27FC236}">
                <a16:creationId xmlns:a16="http://schemas.microsoft.com/office/drawing/2014/main" id="{DC26A91E-23ED-86C4-30FA-82829C63C4A0}"/>
              </a:ext>
            </a:extLst>
          </p:cNvPr>
          <p:cNvSpPr/>
          <p:nvPr/>
        </p:nvSpPr>
        <p:spPr>
          <a:xfrm>
            <a:off x="5041491" y="417663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35" name="Rectangle 34">
            <a:extLst>
              <a:ext uri="{FF2B5EF4-FFF2-40B4-BE49-F238E27FC236}">
                <a16:creationId xmlns:a16="http://schemas.microsoft.com/office/drawing/2014/main" id="{D9DE7117-7009-884C-F3CD-769E6754E97F}"/>
              </a:ext>
            </a:extLst>
          </p:cNvPr>
          <p:cNvSpPr/>
          <p:nvPr/>
        </p:nvSpPr>
        <p:spPr>
          <a:xfrm>
            <a:off x="5041491" y="484001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36" name="Rectangle 35">
            <a:extLst>
              <a:ext uri="{FF2B5EF4-FFF2-40B4-BE49-F238E27FC236}">
                <a16:creationId xmlns:a16="http://schemas.microsoft.com/office/drawing/2014/main" id="{2A891554-9EE1-2548-5E3F-226522252198}"/>
              </a:ext>
            </a:extLst>
          </p:cNvPr>
          <p:cNvSpPr/>
          <p:nvPr/>
        </p:nvSpPr>
        <p:spPr>
          <a:xfrm>
            <a:off x="5041491" y="552196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37" name="Rectangle 36">
            <a:extLst>
              <a:ext uri="{FF2B5EF4-FFF2-40B4-BE49-F238E27FC236}">
                <a16:creationId xmlns:a16="http://schemas.microsoft.com/office/drawing/2014/main" id="{277BE622-54F0-E8D1-80B6-9CEB9DB683AF}"/>
              </a:ext>
            </a:extLst>
          </p:cNvPr>
          <p:cNvSpPr/>
          <p:nvPr/>
        </p:nvSpPr>
        <p:spPr>
          <a:xfrm>
            <a:off x="5041491" y="618533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cxnSp>
        <p:nvCxnSpPr>
          <p:cNvPr id="38" name="Straight Connector 37">
            <a:extLst>
              <a:ext uri="{FF2B5EF4-FFF2-40B4-BE49-F238E27FC236}">
                <a16:creationId xmlns:a16="http://schemas.microsoft.com/office/drawing/2014/main" id="{FDBD6C5F-4154-EAD8-1A06-026D42588624}"/>
              </a:ext>
            </a:extLst>
          </p:cNvPr>
          <p:cNvCxnSpPr>
            <a:cxnSpLocks/>
          </p:cNvCxnSpPr>
          <p:nvPr/>
        </p:nvCxnSpPr>
        <p:spPr>
          <a:xfrm flipH="1">
            <a:off x="8281220" y="4496496"/>
            <a:ext cx="1688689" cy="0"/>
          </a:xfrm>
          <a:prstGeom prst="line">
            <a:avLst/>
          </a:prstGeom>
          <a:ln w="38100"/>
        </p:spPr>
        <p:style>
          <a:lnRef idx="1">
            <a:schemeClr val="accent6"/>
          </a:lnRef>
          <a:fillRef idx="0">
            <a:schemeClr val="accent6"/>
          </a:fillRef>
          <a:effectRef idx="0">
            <a:schemeClr val="accent6"/>
          </a:effectRef>
          <a:fontRef idx="minor">
            <a:schemeClr val="tx1"/>
          </a:fontRef>
        </p:style>
      </p:cxnSp>
      <p:sp>
        <p:nvSpPr>
          <p:cNvPr id="41" name="Flowchart: Decision 40">
            <a:extLst>
              <a:ext uri="{FF2B5EF4-FFF2-40B4-BE49-F238E27FC236}">
                <a16:creationId xmlns:a16="http://schemas.microsoft.com/office/drawing/2014/main" id="{E8F50F80-3379-7CD4-3F13-5B6F2147C4D1}"/>
              </a:ext>
            </a:extLst>
          </p:cNvPr>
          <p:cNvSpPr/>
          <p:nvPr/>
        </p:nvSpPr>
        <p:spPr>
          <a:xfrm>
            <a:off x="8598309" y="4176637"/>
            <a:ext cx="324465" cy="672659"/>
          </a:xfrm>
          <a:prstGeom prst="flowChartDecision">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30034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2A198-5050-9146-9584-D6579E31601B}"/>
            </a:ext>
          </a:extLst>
        </p:cNvPr>
        <p:cNvGrpSpPr/>
        <p:nvPr/>
      </p:nvGrpSpPr>
      <p:grpSpPr>
        <a:xfrm>
          <a:off x="0" y="0"/>
          <a:ext cx="0" cy="0"/>
          <a:chOff x="0" y="0"/>
          <a:chExt cx="0" cy="0"/>
        </a:xfrm>
      </p:grpSpPr>
      <p:sp>
        <p:nvSpPr>
          <p:cNvPr id="43" name="TextBox 42">
            <a:extLst>
              <a:ext uri="{FF2B5EF4-FFF2-40B4-BE49-F238E27FC236}">
                <a16:creationId xmlns:a16="http://schemas.microsoft.com/office/drawing/2014/main" id="{9488D631-86CE-618E-32CE-48D4ACDBF2F9}"/>
              </a:ext>
            </a:extLst>
          </p:cNvPr>
          <p:cNvSpPr txBox="1">
            <a:spLocks/>
          </p:cNvSpPr>
          <p:nvPr/>
        </p:nvSpPr>
        <p:spPr>
          <a:xfrm>
            <a:off x="8281220" y="4673300"/>
            <a:ext cx="961105"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2" name="TextBox 41">
            <a:extLst>
              <a:ext uri="{FF2B5EF4-FFF2-40B4-BE49-F238E27FC236}">
                <a16:creationId xmlns:a16="http://schemas.microsoft.com/office/drawing/2014/main" id="{7999E314-0EF1-5605-68F4-9146DC0699E6}"/>
              </a:ext>
            </a:extLst>
          </p:cNvPr>
          <p:cNvSpPr txBox="1">
            <a:spLocks/>
          </p:cNvSpPr>
          <p:nvPr/>
        </p:nvSpPr>
        <p:spPr>
          <a:xfrm>
            <a:off x="9125564" y="3664715"/>
            <a:ext cx="961105"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26" name="Rectangle 2">
            <a:extLst>
              <a:ext uri="{FF2B5EF4-FFF2-40B4-BE49-F238E27FC236}">
                <a16:creationId xmlns:a16="http://schemas.microsoft.com/office/drawing/2014/main" id="{0803C56E-9FB2-37BF-9822-B5C4830719F8}"/>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50597953-BB4C-1F79-E2E3-C25911497896}"/>
              </a:ext>
            </a:extLst>
          </p:cNvPr>
          <p:cNvSpPr txBox="1"/>
          <p:nvPr/>
        </p:nvSpPr>
        <p:spPr>
          <a:xfrm>
            <a:off x="0" y="0"/>
            <a:ext cx="12192000" cy="2079928"/>
          </a:xfrm>
          <a:prstGeom prst="rect">
            <a:avLst/>
          </a:prstGeom>
          <a:noFill/>
        </p:spPr>
        <p:txBody>
          <a:bodyPr wrap="square">
            <a:spAutoFit/>
          </a:bodyPr>
          <a:lstStyle/>
          <a:p>
            <a:pPr>
              <a:lnSpc>
                <a:spcPct val="150000"/>
              </a:lnSpc>
            </a:pPr>
            <a:r>
              <a:rPr lang="en-US" sz="3300" b="1" dirty="0">
                <a:highlight>
                  <a:srgbClr val="FFFF00"/>
                </a:highlight>
                <a:latin typeface="Calibir"/>
              </a:rPr>
              <a:t>Attributes</a:t>
            </a:r>
            <a:r>
              <a:rPr lang="en-US" sz="3300" dirty="0">
                <a:highlight>
                  <a:srgbClr val="FFFF00"/>
                </a:highlight>
                <a:latin typeface="Calibir"/>
              </a:rPr>
              <a:t>:</a:t>
            </a:r>
          </a:p>
          <a:p>
            <a:pPr marL="457200" indent="-457200">
              <a:lnSpc>
                <a:spcPct val="150000"/>
              </a:lnSpc>
              <a:buFont typeface="Arial" panose="020B0604020202020204" pitchFamily="34" charset="0"/>
              <a:buChar char="•"/>
            </a:pPr>
            <a:r>
              <a:rPr lang="en-US" sz="2800" dirty="0">
                <a:latin typeface="Calibir"/>
              </a:rPr>
              <a:t>Permit has fields like id, zone, plate, status, semester.</a:t>
            </a:r>
          </a:p>
          <a:p>
            <a:pPr marL="457200" indent="-457200">
              <a:lnSpc>
                <a:spcPct val="150000"/>
              </a:lnSpc>
              <a:buFont typeface="Arial" panose="020B0604020202020204" pitchFamily="34" charset="0"/>
              <a:buChar char="•"/>
            </a:pPr>
            <a:r>
              <a:rPr lang="en-US" sz="2800" dirty="0" err="1">
                <a:latin typeface="Calibir"/>
              </a:rPr>
              <a:t>VehicleInfo</a:t>
            </a:r>
            <a:r>
              <a:rPr lang="en-US" sz="2800" dirty="0">
                <a:latin typeface="Calibir"/>
              </a:rPr>
              <a:t> has plate and make.</a:t>
            </a:r>
          </a:p>
        </p:txBody>
      </p:sp>
      <p:sp>
        <p:nvSpPr>
          <p:cNvPr id="29" name="Rectangle 28">
            <a:extLst>
              <a:ext uri="{FF2B5EF4-FFF2-40B4-BE49-F238E27FC236}">
                <a16:creationId xmlns:a16="http://schemas.microsoft.com/office/drawing/2014/main" id="{FC6FD47F-51DD-EE1E-4EE2-DB27E87BC616}"/>
              </a:ext>
            </a:extLst>
          </p:cNvPr>
          <p:cNvSpPr/>
          <p:nvPr/>
        </p:nvSpPr>
        <p:spPr>
          <a:xfrm>
            <a:off x="9969910" y="3230787"/>
            <a:ext cx="2222090"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VehicleInfo</a:t>
            </a:r>
            <a:endParaRPr lang="en-US" sz="2800" dirty="0">
              <a:latin typeface="Calibir"/>
            </a:endParaRPr>
          </a:p>
        </p:txBody>
      </p:sp>
      <p:sp>
        <p:nvSpPr>
          <p:cNvPr id="30" name="Rectangle 29">
            <a:extLst>
              <a:ext uri="{FF2B5EF4-FFF2-40B4-BE49-F238E27FC236}">
                <a16:creationId xmlns:a16="http://schemas.microsoft.com/office/drawing/2014/main" id="{8867127A-4E33-9950-84F1-979AB7AD8654}"/>
              </a:ext>
            </a:extLst>
          </p:cNvPr>
          <p:cNvSpPr/>
          <p:nvPr/>
        </p:nvSpPr>
        <p:spPr>
          <a:xfrm>
            <a:off x="9969909" y="4539281"/>
            <a:ext cx="2222090"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31" name="Rectangle 30">
            <a:extLst>
              <a:ext uri="{FF2B5EF4-FFF2-40B4-BE49-F238E27FC236}">
                <a16:creationId xmlns:a16="http://schemas.microsoft.com/office/drawing/2014/main" id="{63FF1A32-5DDB-AC70-0F16-1887CBED7BFD}"/>
              </a:ext>
            </a:extLst>
          </p:cNvPr>
          <p:cNvSpPr/>
          <p:nvPr/>
        </p:nvSpPr>
        <p:spPr>
          <a:xfrm>
            <a:off x="9969909" y="5211943"/>
            <a:ext cx="2222090"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make</a:t>
            </a:r>
          </a:p>
        </p:txBody>
      </p:sp>
      <p:sp>
        <p:nvSpPr>
          <p:cNvPr id="32" name="Rectangle 31">
            <a:extLst>
              <a:ext uri="{FF2B5EF4-FFF2-40B4-BE49-F238E27FC236}">
                <a16:creationId xmlns:a16="http://schemas.microsoft.com/office/drawing/2014/main" id="{FB0F2C3A-3ED6-D866-C054-F0E1925E3632}"/>
              </a:ext>
            </a:extLst>
          </p:cNvPr>
          <p:cNvSpPr/>
          <p:nvPr/>
        </p:nvSpPr>
        <p:spPr>
          <a:xfrm>
            <a:off x="5041492" y="2195481"/>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33" name="Rectangle 32">
            <a:extLst>
              <a:ext uri="{FF2B5EF4-FFF2-40B4-BE49-F238E27FC236}">
                <a16:creationId xmlns:a16="http://schemas.microsoft.com/office/drawing/2014/main" id="{A90BEBCD-EC45-10E3-C2B7-28469867089C}"/>
              </a:ext>
            </a:extLst>
          </p:cNvPr>
          <p:cNvSpPr/>
          <p:nvPr/>
        </p:nvSpPr>
        <p:spPr>
          <a:xfrm>
            <a:off x="5041491" y="3503975"/>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34" name="Rectangle 33">
            <a:extLst>
              <a:ext uri="{FF2B5EF4-FFF2-40B4-BE49-F238E27FC236}">
                <a16:creationId xmlns:a16="http://schemas.microsoft.com/office/drawing/2014/main" id="{BAA4D103-B8C3-9326-4431-97C389E84510}"/>
              </a:ext>
            </a:extLst>
          </p:cNvPr>
          <p:cNvSpPr/>
          <p:nvPr/>
        </p:nvSpPr>
        <p:spPr>
          <a:xfrm>
            <a:off x="5041491" y="417663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35" name="Rectangle 34">
            <a:extLst>
              <a:ext uri="{FF2B5EF4-FFF2-40B4-BE49-F238E27FC236}">
                <a16:creationId xmlns:a16="http://schemas.microsoft.com/office/drawing/2014/main" id="{66335F3E-F8A2-8070-C851-2951414D8EC6}"/>
              </a:ext>
            </a:extLst>
          </p:cNvPr>
          <p:cNvSpPr/>
          <p:nvPr/>
        </p:nvSpPr>
        <p:spPr>
          <a:xfrm>
            <a:off x="5041491" y="484001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36" name="Rectangle 35">
            <a:extLst>
              <a:ext uri="{FF2B5EF4-FFF2-40B4-BE49-F238E27FC236}">
                <a16:creationId xmlns:a16="http://schemas.microsoft.com/office/drawing/2014/main" id="{BE0005E7-12D5-A39A-16BF-85288A5C77BC}"/>
              </a:ext>
            </a:extLst>
          </p:cNvPr>
          <p:cNvSpPr/>
          <p:nvPr/>
        </p:nvSpPr>
        <p:spPr>
          <a:xfrm>
            <a:off x="5041491" y="552196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37" name="Rectangle 36">
            <a:extLst>
              <a:ext uri="{FF2B5EF4-FFF2-40B4-BE49-F238E27FC236}">
                <a16:creationId xmlns:a16="http://schemas.microsoft.com/office/drawing/2014/main" id="{2D83D19C-442D-0628-B638-DD75FB524803}"/>
              </a:ext>
            </a:extLst>
          </p:cNvPr>
          <p:cNvSpPr/>
          <p:nvPr/>
        </p:nvSpPr>
        <p:spPr>
          <a:xfrm>
            <a:off x="5041491" y="618533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cxnSp>
        <p:nvCxnSpPr>
          <p:cNvPr id="38" name="Straight Connector 37">
            <a:extLst>
              <a:ext uri="{FF2B5EF4-FFF2-40B4-BE49-F238E27FC236}">
                <a16:creationId xmlns:a16="http://schemas.microsoft.com/office/drawing/2014/main" id="{3BE57CB0-36A7-513F-AC0A-3A0A90E7AB3E}"/>
              </a:ext>
            </a:extLst>
          </p:cNvPr>
          <p:cNvCxnSpPr>
            <a:cxnSpLocks/>
          </p:cNvCxnSpPr>
          <p:nvPr/>
        </p:nvCxnSpPr>
        <p:spPr>
          <a:xfrm flipH="1">
            <a:off x="8281220" y="4496496"/>
            <a:ext cx="1688689" cy="0"/>
          </a:xfrm>
          <a:prstGeom prst="line">
            <a:avLst/>
          </a:prstGeom>
          <a:ln w="38100"/>
        </p:spPr>
        <p:style>
          <a:lnRef idx="1">
            <a:schemeClr val="accent6"/>
          </a:lnRef>
          <a:fillRef idx="0">
            <a:schemeClr val="accent6"/>
          </a:fillRef>
          <a:effectRef idx="0">
            <a:schemeClr val="accent6"/>
          </a:effectRef>
          <a:fontRef idx="minor">
            <a:schemeClr val="tx1"/>
          </a:fontRef>
        </p:style>
      </p:cxnSp>
      <p:sp>
        <p:nvSpPr>
          <p:cNvPr id="41" name="Flowchart: Decision 40">
            <a:extLst>
              <a:ext uri="{FF2B5EF4-FFF2-40B4-BE49-F238E27FC236}">
                <a16:creationId xmlns:a16="http://schemas.microsoft.com/office/drawing/2014/main" id="{ECA9A34B-3205-0C47-47BE-4A3255B0C51E}"/>
              </a:ext>
            </a:extLst>
          </p:cNvPr>
          <p:cNvSpPr/>
          <p:nvPr/>
        </p:nvSpPr>
        <p:spPr>
          <a:xfrm>
            <a:off x="8598309" y="4176637"/>
            <a:ext cx="324465" cy="672659"/>
          </a:xfrm>
          <a:prstGeom prst="flowChartDecision">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3045331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ABD46-3A3A-6D8E-F935-C7C768B20FD4}"/>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9E935C70-0145-944C-23F3-0CEF4BE99C37}"/>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3" name="TextBox 22">
            <a:extLst>
              <a:ext uri="{FF2B5EF4-FFF2-40B4-BE49-F238E27FC236}">
                <a16:creationId xmlns:a16="http://schemas.microsoft.com/office/drawing/2014/main" id="{509012A7-0B51-5DD0-0365-9C2A5248B1F5}"/>
              </a:ext>
            </a:extLst>
          </p:cNvPr>
          <p:cNvSpPr txBox="1"/>
          <p:nvPr/>
        </p:nvSpPr>
        <p:spPr>
          <a:xfrm>
            <a:off x="0" y="1477248"/>
            <a:ext cx="12192000" cy="3903504"/>
          </a:xfrm>
          <a:prstGeom prst="rect">
            <a:avLst/>
          </a:prstGeom>
          <a:noFill/>
        </p:spPr>
        <p:txBody>
          <a:bodyPr wrap="square">
            <a:spAutoFit/>
          </a:bodyPr>
          <a:lstStyle/>
          <a:p>
            <a:pPr>
              <a:lnSpc>
                <a:spcPct val="150000"/>
              </a:lnSpc>
            </a:pPr>
            <a:r>
              <a:rPr lang="en-US" sz="2800" dirty="0">
                <a:latin typeface="Calibir"/>
              </a:rPr>
              <a:t>Permit (1) ── (1) Payment</a:t>
            </a:r>
            <a:br>
              <a:rPr lang="en-US" sz="2800" dirty="0">
                <a:latin typeface="Calibir"/>
              </a:rPr>
            </a:br>
            <a:r>
              <a:rPr lang="en-US" sz="2800" dirty="0">
                <a:latin typeface="Calibir"/>
              </a:rPr>
              <a:t>→ Every permit needs exactly one payment at the time of issue.</a:t>
            </a:r>
          </a:p>
          <a:p>
            <a:pPr>
              <a:lnSpc>
                <a:spcPct val="150000"/>
              </a:lnSpc>
            </a:pPr>
            <a:r>
              <a:rPr lang="en-US" sz="2800" dirty="0" err="1">
                <a:latin typeface="Calibir"/>
              </a:rPr>
              <a:t>SecurityOfficer</a:t>
            </a:r>
            <a:r>
              <a:rPr lang="en-US" sz="2800" dirty="0">
                <a:latin typeface="Calibir"/>
              </a:rPr>
              <a:t> ──&gt; Permit</a:t>
            </a:r>
            <a:br>
              <a:rPr lang="en-US" sz="2800" dirty="0">
                <a:latin typeface="Calibir"/>
              </a:rPr>
            </a:br>
            <a:r>
              <a:rPr lang="en-US" sz="2800" dirty="0">
                <a:latin typeface="Calibir"/>
              </a:rPr>
              <a:t>→ A Security Officer can revoke (dependency arrow).</a:t>
            </a:r>
          </a:p>
          <a:p>
            <a:pPr>
              <a:lnSpc>
                <a:spcPct val="150000"/>
              </a:lnSpc>
            </a:pPr>
            <a:r>
              <a:rPr lang="en-US" sz="2800" dirty="0">
                <a:latin typeface="Calibir"/>
              </a:rPr>
              <a:t>Permit ── </a:t>
            </a:r>
            <a:r>
              <a:rPr lang="en-US" sz="2800" dirty="0" err="1">
                <a:latin typeface="Calibir"/>
              </a:rPr>
              <a:t>VehicleInfo</a:t>
            </a:r>
            <a:r>
              <a:rPr lang="en-US" sz="2800" dirty="0">
                <a:latin typeface="Calibir"/>
              </a:rPr>
              <a:t> (composition)</a:t>
            </a:r>
            <a:br>
              <a:rPr lang="en-US" sz="2800" dirty="0">
                <a:latin typeface="Calibir"/>
              </a:rPr>
            </a:br>
            <a:r>
              <a:rPr lang="en-US" sz="2800" dirty="0">
                <a:latin typeface="Calibir"/>
              </a:rPr>
              <a:t>→ Permit owns vehicle info (plate, make). If permit deleted → vehicle info deleted.</a:t>
            </a:r>
          </a:p>
        </p:txBody>
      </p:sp>
      <p:sp>
        <p:nvSpPr>
          <p:cNvPr id="4" name="Title 1">
            <a:extLst>
              <a:ext uri="{FF2B5EF4-FFF2-40B4-BE49-F238E27FC236}">
                <a16:creationId xmlns:a16="http://schemas.microsoft.com/office/drawing/2014/main" id="{6E131795-A694-8243-CD4E-7E28148771D9}"/>
              </a:ext>
            </a:extLst>
          </p:cNvPr>
          <p:cNvSpPr>
            <a:spLocks noGrp="1"/>
          </p:cNvSpPr>
          <p:nvPr>
            <p:ph type="title"/>
          </p:nvPr>
        </p:nvSpPr>
        <p:spPr>
          <a:xfrm>
            <a:off x="0" y="0"/>
            <a:ext cx="12192000" cy="707923"/>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0149312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504D2-3C7B-F19D-63A4-0CE03D8B9EC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5CBE576-7C68-44B2-8E76-2285D9F83B46}"/>
              </a:ext>
            </a:extLst>
          </p:cNvPr>
          <p:cNvSpPr txBox="1"/>
          <p:nvPr/>
        </p:nvSpPr>
        <p:spPr>
          <a:xfrm>
            <a:off x="0" y="1074106"/>
            <a:ext cx="12192000" cy="1964512"/>
          </a:xfrm>
          <a:prstGeom prst="rect">
            <a:avLst/>
          </a:prstGeom>
          <a:noFill/>
        </p:spPr>
        <p:txBody>
          <a:bodyPr wrap="square">
            <a:spAutoFit/>
          </a:bodyPr>
          <a:lstStyle/>
          <a:p>
            <a:pPr>
              <a:lnSpc>
                <a:spcPct val="150000"/>
              </a:lnSpc>
            </a:pPr>
            <a:r>
              <a:rPr lang="en-US" sz="2800" b="1" dirty="0">
                <a:latin typeface="Calibir"/>
              </a:rPr>
              <a:t>5. Optional vs Mandatory</a:t>
            </a:r>
          </a:p>
          <a:p>
            <a:pPr marL="914400" lvl="1" indent="-457200">
              <a:lnSpc>
                <a:spcPct val="150000"/>
              </a:lnSpc>
              <a:buFont typeface="Arial" panose="020B0604020202020204" pitchFamily="34" charset="0"/>
              <a:buChar char="•"/>
            </a:pPr>
            <a:r>
              <a:rPr lang="en-US" sz="2800" dirty="0">
                <a:latin typeface="Calibir"/>
              </a:rPr>
              <a:t>Optional: Permit for a User (not all users will request one).</a:t>
            </a:r>
          </a:p>
          <a:p>
            <a:pPr marL="914400" lvl="1" indent="-457200">
              <a:lnSpc>
                <a:spcPct val="150000"/>
              </a:lnSpc>
              <a:buFont typeface="Arial" panose="020B0604020202020204" pitchFamily="34" charset="0"/>
              <a:buChar char="•"/>
            </a:pPr>
            <a:r>
              <a:rPr lang="en-US" sz="2800" dirty="0">
                <a:latin typeface="Calibir"/>
              </a:rPr>
              <a:t>Mandatory: Payment for Permit (no free permits).</a:t>
            </a:r>
          </a:p>
        </p:txBody>
      </p:sp>
      <p:sp>
        <p:nvSpPr>
          <p:cNvPr id="3" name="Title 1">
            <a:extLst>
              <a:ext uri="{FF2B5EF4-FFF2-40B4-BE49-F238E27FC236}">
                <a16:creationId xmlns:a16="http://schemas.microsoft.com/office/drawing/2014/main" id="{4585EE6D-2273-B814-669C-E2F50FA13BD4}"/>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0245897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C4C98-8BE6-5B09-5DE4-8713890AF0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B6A1F45-C5E2-B532-6E4F-069F54400FD7}"/>
              </a:ext>
            </a:extLst>
          </p:cNvPr>
          <p:cNvSpPr txBox="1"/>
          <p:nvPr/>
        </p:nvSpPr>
        <p:spPr>
          <a:xfrm>
            <a:off x="0" y="1074106"/>
            <a:ext cx="12192000" cy="3903504"/>
          </a:xfrm>
          <a:prstGeom prst="rect">
            <a:avLst/>
          </a:prstGeom>
          <a:noFill/>
        </p:spPr>
        <p:txBody>
          <a:bodyPr wrap="square">
            <a:spAutoFit/>
          </a:bodyPr>
          <a:lstStyle/>
          <a:p>
            <a:pPr>
              <a:lnSpc>
                <a:spcPct val="150000"/>
              </a:lnSpc>
            </a:pPr>
            <a:r>
              <a:rPr lang="en-US" sz="2800" b="1" dirty="0">
                <a:latin typeface="Calibir"/>
              </a:rPr>
              <a:t>6. Action Verbs</a:t>
            </a:r>
          </a:p>
          <a:p>
            <a:pPr>
              <a:lnSpc>
                <a:spcPct val="150000"/>
              </a:lnSpc>
            </a:pPr>
            <a:r>
              <a:rPr lang="en-US" sz="2800" dirty="0">
                <a:latin typeface="Calibir"/>
              </a:rPr>
              <a:t>Relationships should use verbs:</a:t>
            </a:r>
          </a:p>
          <a:p>
            <a:pPr marL="914400" lvl="1" indent="-457200">
              <a:lnSpc>
                <a:spcPct val="150000"/>
              </a:lnSpc>
              <a:buFont typeface="Arial" panose="020B0604020202020204" pitchFamily="34" charset="0"/>
              <a:buChar char="•"/>
            </a:pPr>
            <a:r>
              <a:rPr lang="en-US" sz="2800" dirty="0">
                <a:latin typeface="Calibir"/>
              </a:rPr>
              <a:t>User requests Permit.</a:t>
            </a:r>
          </a:p>
          <a:p>
            <a:pPr marL="914400" lvl="1" indent="-457200">
              <a:lnSpc>
                <a:spcPct val="150000"/>
              </a:lnSpc>
              <a:buFont typeface="Arial" panose="020B0604020202020204" pitchFamily="34" charset="0"/>
              <a:buChar char="•"/>
            </a:pPr>
            <a:r>
              <a:rPr lang="en-US" sz="2800" dirty="0">
                <a:latin typeface="Calibir"/>
              </a:rPr>
              <a:t>Permit requires Payment.</a:t>
            </a:r>
          </a:p>
          <a:p>
            <a:pPr marL="914400" lvl="1" indent="-457200">
              <a:lnSpc>
                <a:spcPct val="150000"/>
              </a:lnSpc>
              <a:buFont typeface="Arial" panose="020B0604020202020204" pitchFamily="34" charset="0"/>
              <a:buChar char="•"/>
            </a:pPr>
            <a:r>
              <a:rPr lang="en-US" sz="2800" dirty="0">
                <a:latin typeface="Calibir"/>
              </a:rPr>
              <a:t>Security Officer revokes Permit.</a:t>
            </a:r>
          </a:p>
          <a:p>
            <a:pPr marL="914400" lvl="1" indent="-457200">
              <a:lnSpc>
                <a:spcPct val="150000"/>
              </a:lnSpc>
              <a:buFont typeface="Arial" panose="020B0604020202020204" pitchFamily="34" charset="0"/>
              <a:buChar char="•"/>
            </a:pPr>
            <a:r>
              <a:rPr lang="en-US" sz="2800" dirty="0">
                <a:latin typeface="Calibir"/>
              </a:rPr>
              <a:t>ParkingDB stores Permits.</a:t>
            </a:r>
          </a:p>
        </p:txBody>
      </p:sp>
      <p:sp>
        <p:nvSpPr>
          <p:cNvPr id="3" name="Title 1">
            <a:extLst>
              <a:ext uri="{FF2B5EF4-FFF2-40B4-BE49-F238E27FC236}">
                <a16:creationId xmlns:a16="http://schemas.microsoft.com/office/drawing/2014/main" id="{5B958C0B-CF3A-F231-69E7-5ABD4DC1FC87}"/>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307932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3CEC9-CAC3-5090-289F-9832F91FCCA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F48C125-7E70-C0A2-AC04-0F1C6486B01E}"/>
              </a:ext>
            </a:extLst>
          </p:cNvPr>
          <p:cNvSpPr txBox="1"/>
          <p:nvPr/>
        </p:nvSpPr>
        <p:spPr>
          <a:xfrm>
            <a:off x="0" y="1074106"/>
            <a:ext cx="12192000" cy="3903504"/>
          </a:xfrm>
          <a:prstGeom prst="rect">
            <a:avLst/>
          </a:prstGeom>
          <a:noFill/>
        </p:spPr>
        <p:txBody>
          <a:bodyPr wrap="square">
            <a:spAutoFit/>
          </a:bodyPr>
          <a:lstStyle/>
          <a:p>
            <a:pPr>
              <a:lnSpc>
                <a:spcPct val="150000"/>
              </a:lnSpc>
            </a:pPr>
            <a:r>
              <a:rPr lang="en-US" sz="2800" b="1" dirty="0">
                <a:latin typeface="Calibir"/>
              </a:rPr>
              <a:t>7. Include / Exclude (use cases)</a:t>
            </a:r>
          </a:p>
          <a:p>
            <a:pPr marL="914400" lvl="1" indent="-457200">
              <a:lnSpc>
                <a:spcPct val="150000"/>
              </a:lnSpc>
              <a:buFont typeface="Arial" panose="020B0604020202020204" pitchFamily="34" charset="0"/>
              <a:buChar char="•"/>
            </a:pPr>
            <a:r>
              <a:rPr lang="en-US" sz="2800" b="1" dirty="0">
                <a:latin typeface="Calibir"/>
              </a:rPr>
              <a:t>100 User logs in</a:t>
            </a:r>
            <a:r>
              <a:rPr lang="en-US" sz="2800" dirty="0">
                <a:latin typeface="Calibir"/>
              </a:rPr>
              <a:t> → </a:t>
            </a:r>
            <a:r>
              <a:rPr lang="en-US" sz="2800" i="1" dirty="0">
                <a:latin typeface="Calibir"/>
              </a:rPr>
              <a:t>include</a:t>
            </a:r>
            <a:r>
              <a:rPr lang="en-US" sz="2800" dirty="0">
                <a:latin typeface="Calibir"/>
              </a:rPr>
              <a:t> validate credentials.</a:t>
            </a:r>
          </a:p>
          <a:p>
            <a:pPr marL="914400" lvl="1" indent="-457200">
              <a:lnSpc>
                <a:spcPct val="150000"/>
              </a:lnSpc>
              <a:buFont typeface="Arial" panose="020B0604020202020204" pitchFamily="34" charset="0"/>
              <a:buChar char="•"/>
            </a:pPr>
            <a:r>
              <a:rPr lang="en-US" sz="2800" b="1" dirty="0">
                <a:latin typeface="Calibir"/>
              </a:rPr>
              <a:t>200 Request permit</a:t>
            </a:r>
            <a:r>
              <a:rPr lang="en-US" sz="2800" dirty="0">
                <a:latin typeface="Calibir"/>
              </a:rPr>
              <a:t> → </a:t>
            </a:r>
            <a:r>
              <a:rPr lang="en-US" sz="2800" i="1" dirty="0">
                <a:latin typeface="Calibir"/>
              </a:rPr>
              <a:t>include</a:t>
            </a:r>
            <a:r>
              <a:rPr lang="en-US" sz="2800" dirty="0">
                <a:latin typeface="Calibir"/>
              </a:rPr>
              <a:t> take payment, save record.</a:t>
            </a:r>
          </a:p>
          <a:p>
            <a:pPr marL="914400" lvl="1" indent="-457200">
              <a:lnSpc>
                <a:spcPct val="150000"/>
              </a:lnSpc>
              <a:buFont typeface="Arial" panose="020B0604020202020204" pitchFamily="34" charset="0"/>
              <a:buChar char="•"/>
            </a:pPr>
            <a:r>
              <a:rPr lang="en-US" sz="2800" b="1" dirty="0">
                <a:latin typeface="Calibir"/>
              </a:rPr>
              <a:t>210 Prevent &gt;1 active permit</a:t>
            </a:r>
            <a:r>
              <a:rPr lang="en-US" sz="2800" dirty="0">
                <a:latin typeface="Calibir"/>
              </a:rPr>
              <a:t> → </a:t>
            </a:r>
            <a:r>
              <a:rPr lang="en-US" sz="2800" i="1" dirty="0">
                <a:latin typeface="Calibir"/>
              </a:rPr>
              <a:t>exclude</a:t>
            </a:r>
            <a:r>
              <a:rPr lang="en-US" sz="2800" dirty="0">
                <a:latin typeface="Calibir"/>
              </a:rPr>
              <a:t> if user already has permit.</a:t>
            </a:r>
          </a:p>
          <a:p>
            <a:pPr marL="914400" lvl="1" indent="-457200">
              <a:lnSpc>
                <a:spcPct val="150000"/>
              </a:lnSpc>
              <a:buFont typeface="Arial" panose="020B0604020202020204" pitchFamily="34" charset="0"/>
              <a:buChar char="•"/>
            </a:pPr>
            <a:r>
              <a:rPr lang="en-US" sz="2800" b="1" dirty="0">
                <a:latin typeface="Calibir"/>
              </a:rPr>
              <a:t>300 Security revokes permit</a:t>
            </a:r>
            <a:r>
              <a:rPr lang="en-US" sz="2800" dirty="0">
                <a:latin typeface="Calibir"/>
              </a:rPr>
              <a:t> → </a:t>
            </a:r>
            <a:r>
              <a:rPr lang="en-US" sz="2800" i="1" dirty="0">
                <a:latin typeface="Calibir"/>
              </a:rPr>
              <a:t>include</a:t>
            </a:r>
            <a:r>
              <a:rPr lang="en-US" sz="2800" dirty="0">
                <a:latin typeface="Calibir"/>
              </a:rPr>
              <a:t> change status to inactive.</a:t>
            </a:r>
          </a:p>
          <a:p>
            <a:pPr marL="914400" lvl="1" indent="-457200">
              <a:lnSpc>
                <a:spcPct val="150000"/>
              </a:lnSpc>
              <a:buFont typeface="Arial" panose="020B0604020202020204" pitchFamily="34" charset="0"/>
              <a:buChar char="•"/>
            </a:pPr>
            <a:r>
              <a:rPr lang="en-US" sz="2800" b="1" dirty="0">
                <a:latin typeface="Calibir"/>
              </a:rPr>
              <a:t>400 Admin lists permits</a:t>
            </a:r>
            <a:r>
              <a:rPr lang="en-US" sz="2800" dirty="0">
                <a:latin typeface="Calibir"/>
              </a:rPr>
              <a:t> → </a:t>
            </a:r>
            <a:r>
              <a:rPr lang="en-US" sz="2800" i="1" dirty="0">
                <a:latin typeface="Calibir"/>
              </a:rPr>
              <a:t>include</a:t>
            </a:r>
            <a:r>
              <a:rPr lang="en-US" sz="2800" dirty="0">
                <a:latin typeface="Calibir"/>
              </a:rPr>
              <a:t> filter by zone, semester.</a:t>
            </a:r>
          </a:p>
        </p:txBody>
      </p:sp>
      <p:sp>
        <p:nvSpPr>
          <p:cNvPr id="3" name="Title 1">
            <a:extLst>
              <a:ext uri="{FF2B5EF4-FFF2-40B4-BE49-F238E27FC236}">
                <a16:creationId xmlns:a16="http://schemas.microsoft.com/office/drawing/2014/main" id="{ACB3D3D8-990C-0FB2-D8C2-EA001890EACA}"/>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6800555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2F1A-9FCE-879F-DF2D-A2785FB786F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5C79968-C7EC-0243-324C-DAEA925CF41E}"/>
              </a:ext>
            </a:extLst>
          </p:cNvPr>
          <p:cNvSpPr txBox="1"/>
          <p:nvPr/>
        </p:nvSpPr>
        <p:spPr>
          <a:xfrm>
            <a:off x="0" y="1074106"/>
            <a:ext cx="12192000" cy="3257174"/>
          </a:xfrm>
          <a:prstGeom prst="rect">
            <a:avLst/>
          </a:prstGeom>
          <a:noFill/>
        </p:spPr>
        <p:txBody>
          <a:bodyPr wrap="square">
            <a:spAutoFit/>
          </a:bodyPr>
          <a:lstStyle/>
          <a:p>
            <a:pPr>
              <a:lnSpc>
                <a:spcPct val="150000"/>
              </a:lnSpc>
            </a:pPr>
            <a:r>
              <a:rPr lang="en-US" sz="2800" b="1" dirty="0">
                <a:highlight>
                  <a:srgbClr val="00FF00"/>
                </a:highlight>
                <a:latin typeface="Calibir"/>
              </a:rPr>
              <a:t>Simple Story Example</a:t>
            </a:r>
          </a:p>
          <a:p>
            <a:pPr>
              <a:lnSpc>
                <a:spcPct val="150000"/>
              </a:lnSpc>
            </a:pPr>
            <a:r>
              <a:rPr lang="en-US" sz="2800" dirty="0">
                <a:latin typeface="Calibir"/>
              </a:rPr>
              <a:t>Ali (Student) logs in and applies for a parking permit.</a:t>
            </a:r>
          </a:p>
          <a:p>
            <a:pPr marL="914400" lvl="1" indent="-457200">
              <a:lnSpc>
                <a:spcPct val="150000"/>
              </a:lnSpc>
              <a:buFont typeface="Arial" panose="020B0604020202020204" pitchFamily="34" charset="0"/>
              <a:buChar char="•"/>
            </a:pPr>
            <a:r>
              <a:rPr lang="en-US" sz="2800" dirty="0">
                <a:latin typeface="Calibir"/>
              </a:rPr>
              <a:t>His User account (Student) is linked to Permit #123.</a:t>
            </a:r>
          </a:p>
          <a:p>
            <a:pPr marL="914400" lvl="1" indent="-457200">
              <a:lnSpc>
                <a:spcPct val="150000"/>
              </a:lnSpc>
              <a:buFont typeface="Arial" panose="020B0604020202020204" pitchFamily="34" charset="0"/>
              <a:buChar char="•"/>
            </a:pPr>
            <a:r>
              <a:rPr lang="en-US" sz="2800" dirty="0">
                <a:latin typeface="Calibir"/>
              </a:rPr>
              <a:t>Permit #123 is tied to his Vehicle (plate ABC-123).</a:t>
            </a:r>
          </a:p>
          <a:p>
            <a:pPr marL="914400" lvl="1" indent="-457200">
              <a:lnSpc>
                <a:spcPct val="150000"/>
              </a:lnSpc>
              <a:buFont typeface="Arial" panose="020B0604020202020204" pitchFamily="34" charset="0"/>
              <a:buChar char="•"/>
            </a:pPr>
            <a:r>
              <a:rPr lang="en-US" sz="2800" dirty="0">
                <a:latin typeface="Calibir"/>
              </a:rPr>
              <a:t>If the permit is revoked, the vehicle–permit link is gone too.</a:t>
            </a:r>
          </a:p>
        </p:txBody>
      </p:sp>
      <p:sp>
        <p:nvSpPr>
          <p:cNvPr id="3" name="Title 1">
            <a:extLst>
              <a:ext uri="{FF2B5EF4-FFF2-40B4-BE49-F238E27FC236}">
                <a16:creationId xmlns:a16="http://schemas.microsoft.com/office/drawing/2014/main" id="{EA223015-0650-B609-047C-182548FAE3AA}"/>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7200124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E4EEB-432E-A5F9-FCEE-35F7ACD23CC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6003699-4997-53EA-7FBB-30C145609D7E}"/>
              </a:ext>
            </a:extLst>
          </p:cNvPr>
          <p:cNvSpPr txBox="1"/>
          <p:nvPr/>
        </p:nvSpPr>
        <p:spPr>
          <a:xfrm>
            <a:off x="0" y="1074106"/>
            <a:ext cx="12192000" cy="2610843"/>
          </a:xfrm>
          <a:prstGeom prst="rect">
            <a:avLst/>
          </a:prstGeom>
          <a:noFill/>
        </p:spPr>
        <p:txBody>
          <a:bodyPr wrap="square">
            <a:spAutoFit/>
          </a:bodyPr>
          <a:lstStyle/>
          <a:p>
            <a:pPr>
              <a:lnSpc>
                <a:spcPct val="150000"/>
              </a:lnSpc>
            </a:pPr>
            <a:r>
              <a:rPr lang="en-US" sz="2800" b="1" dirty="0">
                <a:latin typeface="Calibir"/>
              </a:rPr>
              <a:t>8. Dependency</a:t>
            </a:r>
          </a:p>
          <a:p>
            <a:pPr marL="914400" lvl="1" indent="-457200">
              <a:lnSpc>
                <a:spcPct val="150000"/>
              </a:lnSpc>
              <a:buFont typeface="Arial" panose="020B0604020202020204" pitchFamily="34" charset="0"/>
              <a:buChar char="•"/>
            </a:pPr>
            <a:r>
              <a:rPr lang="en-US" sz="2800" dirty="0">
                <a:latin typeface="Calibir"/>
              </a:rPr>
              <a:t>Dependency means one class needs another to do something.</a:t>
            </a:r>
          </a:p>
          <a:p>
            <a:pPr marL="914400" lvl="1" indent="-457200">
              <a:lnSpc>
                <a:spcPct val="150000"/>
              </a:lnSpc>
              <a:buFont typeface="Arial" panose="020B0604020202020204" pitchFamily="34" charset="0"/>
              <a:buChar char="•"/>
            </a:pPr>
            <a:r>
              <a:rPr lang="en-US" sz="2800" dirty="0">
                <a:latin typeface="Calibir"/>
              </a:rPr>
              <a:t>Example: </a:t>
            </a:r>
            <a:r>
              <a:rPr lang="en-US" sz="2800" dirty="0" err="1">
                <a:latin typeface="Calibir"/>
              </a:rPr>
              <a:t>SecurityOfficer</a:t>
            </a:r>
            <a:r>
              <a:rPr lang="en-US" sz="2800" dirty="0">
                <a:latin typeface="Calibir"/>
              </a:rPr>
              <a:t> → Permit (dependency: revoke()).</a:t>
            </a:r>
            <a:br>
              <a:rPr lang="en-US" sz="2800" dirty="0">
                <a:latin typeface="Calibir"/>
              </a:rPr>
            </a:br>
            <a:r>
              <a:rPr lang="en-US" sz="2800" dirty="0">
                <a:latin typeface="Calibir"/>
              </a:rPr>
              <a:t>Without Permit, revoke() makes no sense.</a:t>
            </a:r>
          </a:p>
        </p:txBody>
      </p:sp>
      <p:sp>
        <p:nvSpPr>
          <p:cNvPr id="3" name="Title 1">
            <a:extLst>
              <a:ext uri="{FF2B5EF4-FFF2-40B4-BE49-F238E27FC236}">
                <a16:creationId xmlns:a16="http://schemas.microsoft.com/office/drawing/2014/main" id="{E458516B-83C2-17D3-4B38-E63C5F6A8EDF}"/>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2852608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834C9-73EE-0C2D-FD16-CC99A6CC01D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C0E711F-BAA4-EE8A-4972-2CED1729C937}"/>
              </a:ext>
            </a:extLst>
          </p:cNvPr>
          <p:cNvSpPr txBox="1"/>
          <p:nvPr/>
        </p:nvSpPr>
        <p:spPr>
          <a:xfrm>
            <a:off x="0" y="1074106"/>
            <a:ext cx="12192000" cy="3903504"/>
          </a:xfrm>
          <a:prstGeom prst="rect">
            <a:avLst/>
          </a:prstGeom>
          <a:noFill/>
        </p:spPr>
        <p:txBody>
          <a:bodyPr wrap="square">
            <a:spAutoFit/>
          </a:bodyPr>
          <a:lstStyle/>
          <a:p>
            <a:pPr>
              <a:lnSpc>
                <a:spcPct val="150000"/>
              </a:lnSpc>
            </a:pPr>
            <a:r>
              <a:rPr lang="en-US" sz="2800" b="1" dirty="0">
                <a:latin typeface="Calibir"/>
              </a:rPr>
              <a:t>9. Composition vs Aggregation</a:t>
            </a:r>
          </a:p>
          <a:p>
            <a:pPr marL="914400" lvl="1" indent="-457200">
              <a:lnSpc>
                <a:spcPct val="150000"/>
              </a:lnSpc>
              <a:buFont typeface="Arial" panose="020B0604020202020204" pitchFamily="34" charset="0"/>
              <a:buChar char="•"/>
            </a:pPr>
            <a:r>
              <a:rPr lang="en-US" sz="2800" dirty="0">
                <a:latin typeface="Calibir"/>
              </a:rPr>
              <a:t>Permit – </a:t>
            </a:r>
            <a:r>
              <a:rPr lang="en-US" sz="2800" dirty="0" err="1">
                <a:latin typeface="Calibir"/>
              </a:rPr>
              <a:t>VehicleInfo</a:t>
            </a:r>
            <a:r>
              <a:rPr lang="en-US" sz="2800" dirty="0">
                <a:latin typeface="Calibir"/>
              </a:rPr>
              <a:t> = Composition (solid diamond).</a:t>
            </a:r>
          </a:p>
          <a:p>
            <a:pPr marL="914400" lvl="1" indent="-457200">
              <a:lnSpc>
                <a:spcPct val="150000"/>
              </a:lnSpc>
              <a:buFont typeface="Arial" panose="020B0604020202020204" pitchFamily="34" charset="0"/>
              <a:buChar char="•"/>
            </a:pPr>
            <a:r>
              <a:rPr lang="en-US" sz="2800" dirty="0">
                <a:latin typeface="Calibir"/>
              </a:rPr>
              <a:t>Permit has </a:t>
            </a:r>
            <a:r>
              <a:rPr lang="en-US" sz="2800" dirty="0" err="1">
                <a:latin typeface="Calibir"/>
              </a:rPr>
              <a:t>VehicleInfo</a:t>
            </a:r>
            <a:r>
              <a:rPr lang="en-US" sz="2800" dirty="0">
                <a:latin typeface="Calibir"/>
              </a:rPr>
              <a:t> (plate, make) — if permit deleted, vehicle info goes too.</a:t>
            </a:r>
          </a:p>
          <a:p>
            <a:pPr marL="914400" lvl="1" indent="-457200">
              <a:lnSpc>
                <a:spcPct val="150000"/>
              </a:lnSpc>
              <a:buFont typeface="Arial" panose="020B0604020202020204" pitchFamily="34" charset="0"/>
              <a:buChar char="•"/>
            </a:pPr>
            <a:r>
              <a:rPr lang="en-US" sz="2800" dirty="0">
                <a:latin typeface="Calibir"/>
              </a:rPr>
              <a:t>Reason: Vehicle info cannot exist separately from Permit.</a:t>
            </a:r>
            <a:br>
              <a:rPr lang="en-US" sz="2800" dirty="0">
                <a:latin typeface="Calibir"/>
              </a:rPr>
            </a:br>
            <a:r>
              <a:rPr lang="en-US" sz="2800" dirty="0">
                <a:latin typeface="Calibir"/>
              </a:rPr>
              <a:t>(When permit deleted, vehicle info goes away too.)</a:t>
            </a:r>
          </a:p>
        </p:txBody>
      </p:sp>
      <p:sp>
        <p:nvSpPr>
          <p:cNvPr id="3" name="Title 1">
            <a:extLst>
              <a:ext uri="{FF2B5EF4-FFF2-40B4-BE49-F238E27FC236}">
                <a16:creationId xmlns:a16="http://schemas.microsoft.com/office/drawing/2014/main" id="{D5EF3E76-D4BF-5AF5-B393-F1B50CD4A5E1}"/>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6505217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4AF4D-CE09-92F4-C8F3-5BBBA4D93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B62E3-B0A5-6165-6115-B11BF5F57594}"/>
              </a:ext>
            </a:extLst>
          </p:cNvPr>
          <p:cNvSpPr>
            <a:spLocks noGrp="1"/>
          </p:cNvSpPr>
          <p:nvPr>
            <p:ph type="title"/>
          </p:nvPr>
        </p:nvSpPr>
        <p:spPr>
          <a:xfrm>
            <a:off x="0" y="0"/>
            <a:ext cx="12192000" cy="672662"/>
          </a:xfrm>
        </p:spPr>
        <p:txBody>
          <a:bodyPr anchor="b">
            <a:normAutofit/>
          </a:bodyPr>
          <a:lstStyle/>
          <a:p>
            <a:r>
              <a:rPr lang="en-US" sz="3300" b="1" dirty="0">
                <a:latin typeface="Calibir"/>
              </a:rPr>
              <a:t>Group Assignment – Part 1: What to do / submit / avoid</a:t>
            </a:r>
            <a:endParaRPr lang="en-AU" sz="3300" b="1" dirty="0">
              <a:latin typeface="Calibir"/>
            </a:endParaRPr>
          </a:p>
        </p:txBody>
      </p:sp>
      <p:sp>
        <p:nvSpPr>
          <p:cNvPr id="3" name="Rectangle 1">
            <a:extLst>
              <a:ext uri="{FF2B5EF4-FFF2-40B4-BE49-F238E27FC236}">
                <a16:creationId xmlns:a16="http://schemas.microsoft.com/office/drawing/2014/main" id="{04E865F2-2F56-2554-3B7F-410CC6B90348}"/>
              </a:ext>
            </a:extLst>
          </p:cNvPr>
          <p:cNvSpPr>
            <a:spLocks noChangeArrowheads="1"/>
          </p:cNvSpPr>
          <p:nvPr/>
        </p:nvSpPr>
        <p:spPr bwMode="auto">
          <a:xfrm>
            <a:off x="0" y="774608"/>
            <a:ext cx="12192000" cy="58424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Do:</a:t>
            </a:r>
          </a:p>
          <a:p>
            <a:pPr marL="914400" lvl="1" indent="-457200">
              <a:lnSpc>
                <a:spcPct val="150000"/>
              </a:lnSpc>
              <a:buFont typeface="Arial" panose="020B0604020202020204" pitchFamily="34" charset="0"/>
              <a:buChar char="•"/>
            </a:pPr>
            <a:r>
              <a:rPr lang="en-US" sz="2800" dirty="0">
                <a:latin typeface="Calibir"/>
              </a:rPr>
              <a:t>Scope summary (what’s in / out).</a:t>
            </a:r>
          </a:p>
          <a:p>
            <a:pPr marL="914400" lvl="1" indent="-457200">
              <a:lnSpc>
                <a:spcPct val="150000"/>
              </a:lnSpc>
              <a:buFont typeface="Arial" panose="020B0604020202020204" pitchFamily="34" charset="0"/>
              <a:buChar char="•"/>
            </a:pPr>
            <a:r>
              <a:rPr lang="en-US" sz="2800" dirty="0">
                <a:latin typeface="Calibir"/>
              </a:rPr>
              <a:t>Backlog table with 3-digit IDs grouped by feature.</a:t>
            </a:r>
          </a:p>
          <a:p>
            <a:pPr marL="914400" lvl="1" indent="-457200">
              <a:lnSpc>
                <a:spcPct val="150000"/>
              </a:lnSpc>
              <a:buFont typeface="Arial" panose="020B0604020202020204" pitchFamily="34" charset="0"/>
              <a:buChar char="•"/>
            </a:pPr>
            <a:r>
              <a:rPr lang="en-US" sz="2800" dirty="0">
                <a:latin typeface="Calibir"/>
              </a:rPr>
              <a:t>Use case diagram + 1–2 lines per actor/use case.</a:t>
            </a:r>
          </a:p>
          <a:p>
            <a:pPr marL="914400" lvl="1" indent="-457200">
              <a:lnSpc>
                <a:spcPct val="150000"/>
              </a:lnSpc>
              <a:buFont typeface="Arial" panose="020B0604020202020204" pitchFamily="34" charset="0"/>
              <a:buChar char="•"/>
            </a:pPr>
            <a:r>
              <a:rPr lang="en-US" sz="2800" dirty="0">
                <a:latin typeface="Calibir"/>
              </a:rPr>
              <a:t>Class diagram with visibility, multiplicity, relationships.</a:t>
            </a:r>
          </a:p>
          <a:p>
            <a:pPr marL="914400" lvl="1" indent="-457200">
              <a:lnSpc>
                <a:spcPct val="150000"/>
              </a:lnSpc>
              <a:buFont typeface="Arial" panose="020B0604020202020204" pitchFamily="34" charset="0"/>
              <a:buChar char="•"/>
            </a:pPr>
            <a:r>
              <a:rPr lang="en-US" sz="2800" dirty="0">
                <a:latin typeface="Calibir"/>
              </a:rPr>
              <a:t>Data file design (JSON/CSV example lines).</a:t>
            </a:r>
          </a:p>
          <a:p>
            <a:pPr marL="914400" lvl="1" indent="-457200">
              <a:lnSpc>
                <a:spcPct val="150000"/>
              </a:lnSpc>
              <a:buFont typeface="Arial" panose="020B0604020202020204" pitchFamily="34" charset="0"/>
              <a:buChar char="•"/>
            </a:pPr>
            <a:r>
              <a:rPr lang="en-US" sz="2800" dirty="0">
                <a:latin typeface="Calibir"/>
              </a:rPr>
              <a:t>Tiny traceability table.</a:t>
            </a:r>
          </a:p>
          <a:p>
            <a:pPr>
              <a:lnSpc>
                <a:spcPct val="150000"/>
              </a:lnSpc>
            </a:pPr>
            <a:r>
              <a:rPr lang="en-US" sz="2800" dirty="0">
                <a:latin typeface="Calibir"/>
              </a:rPr>
              <a:t>Avoid: broad stories, missing multiplicities, unlabeled include/extend, GUI detail (keep CLI focus), ignoring constraints (IDs, regex, grade rules).</a:t>
            </a:r>
          </a:p>
        </p:txBody>
      </p:sp>
    </p:spTree>
    <p:extLst>
      <p:ext uri="{BB962C8B-B14F-4D97-AF65-F5344CB8AC3E}">
        <p14:creationId xmlns:p14="http://schemas.microsoft.com/office/powerpoint/2010/main" val="799984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7A591-B2BD-5043-BF3F-F44873CD09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FAC97-7898-89F7-FE14-2370B454FCAC}"/>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pic>
        <p:nvPicPr>
          <p:cNvPr id="5" name="Picture 4">
            <a:extLst>
              <a:ext uri="{FF2B5EF4-FFF2-40B4-BE49-F238E27FC236}">
                <a16:creationId xmlns:a16="http://schemas.microsoft.com/office/drawing/2014/main" id="{F97E9268-0750-AAA2-C4DC-BAC5AB687408}"/>
              </a:ext>
            </a:extLst>
          </p:cNvPr>
          <p:cNvPicPr>
            <a:picLocks noChangeAspect="1"/>
          </p:cNvPicPr>
          <p:nvPr/>
        </p:nvPicPr>
        <p:blipFill>
          <a:blip r:embed="rId2"/>
          <a:srcRect l="12480" t="44081" r="61121" b="28720"/>
          <a:stretch>
            <a:fillRect/>
          </a:stretch>
        </p:blipFill>
        <p:spPr>
          <a:xfrm>
            <a:off x="0" y="804435"/>
            <a:ext cx="11813628" cy="3423360"/>
          </a:xfrm>
          <a:prstGeom prst="rect">
            <a:avLst/>
          </a:prstGeom>
          <a:ln w="38100">
            <a:solidFill>
              <a:srgbClr val="FF0000"/>
            </a:solidFill>
          </a:ln>
        </p:spPr>
      </p:pic>
      <p:sp>
        <p:nvSpPr>
          <p:cNvPr id="7" name="TextBox 6">
            <a:extLst>
              <a:ext uri="{FF2B5EF4-FFF2-40B4-BE49-F238E27FC236}">
                <a16:creationId xmlns:a16="http://schemas.microsoft.com/office/drawing/2014/main" id="{4114C1C7-41BB-561D-FA1F-BBC7098A9A16}"/>
              </a:ext>
            </a:extLst>
          </p:cNvPr>
          <p:cNvSpPr txBox="1"/>
          <p:nvPr/>
        </p:nvSpPr>
        <p:spPr>
          <a:xfrm>
            <a:off x="78658" y="4149362"/>
            <a:ext cx="12034684" cy="1318181"/>
          </a:xfrm>
          <a:prstGeom prst="rect">
            <a:avLst/>
          </a:prstGeom>
          <a:noFill/>
        </p:spPr>
        <p:txBody>
          <a:bodyPr wrap="square">
            <a:spAutoFit/>
          </a:bodyPr>
          <a:lstStyle/>
          <a:p>
            <a:pPr>
              <a:lnSpc>
                <a:spcPct val="150000"/>
              </a:lnSpc>
              <a:buNone/>
            </a:pPr>
            <a:r>
              <a:rPr lang="en-US" sz="2800" b="1" dirty="0">
                <a:latin typeface="Calibir"/>
              </a:rPr>
              <a:t>Clarification of the Paragraph in Page 1</a:t>
            </a:r>
          </a:p>
          <a:p>
            <a:pPr marL="457200" indent="-457200">
              <a:lnSpc>
                <a:spcPct val="150000"/>
              </a:lnSpc>
              <a:buFont typeface="Arial" panose="020B0604020202020204" pitchFamily="34" charset="0"/>
              <a:buChar char="•"/>
            </a:pPr>
            <a:r>
              <a:rPr lang="en-US" sz="2800" dirty="0">
                <a:latin typeface="Calibir"/>
              </a:rPr>
              <a:t>Once a student has registered, they can log in and do 4 main things:</a:t>
            </a:r>
          </a:p>
        </p:txBody>
      </p:sp>
    </p:spTree>
    <p:extLst>
      <p:ext uri="{BB962C8B-B14F-4D97-AF65-F5344CB8AC3E}">
        <p14:creationId xmlns:p14="http://schemas.microsoft.com/office/powerpoint/2010/main" val="32437748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2EDD3-D7CE-9D8A-31F6-02DF8D76DA4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404527C-5201-C004-FE14-DDFD2FAC295A}"/>
              </a:ext>
            </a:extLst>
          </p:cNvPr>
          <p:cNvSpPr txBox="1"/>
          <p:nvPr/>
        </p:nvSpPr>
        <p:spPr>
          <a:xfrm>
            <a:off x="78658" y="4149362"/>
            <a:ext cx="12034684" cy="2430922"/>
          </a:xfrm>
          <a:prstGeom prst="rect">
            <a:avLst/>
          </a:prstGeom>
          <a:noFill/>
        </p:spPr>
        <p:txBody>
          <a:bodyPr wrap="square">
            <a:spAutoFit/>
          </a:bodyPr>
          <a:lstStyle/>
          <a:p>
            <a:pPr marL="971550" lvl="1" indent="-514350">
              <a:lnSpc>
                <a:spcPct val="150000"/>
              </a:lnSpc>
              <a:buFont typeface="+mj-lt"/>
              <a:buAutoNum type="arabicPeriod"/>
            </a:pPr>
            <a:r>
              <a:rPr lang="en-US" sz="2600" dirty="0" err="1">
                <a:latin typeface="Calibir"/>
              </a:rPr>
              <a:t>Enrol</a:t>
            </a:r>
            <a:r>
              <a:rPr lang="en-US" sz="2600" dirty="0">
                <a:latin typeface="Calibir"/>
              </a:rPr>
              <a:t> in a subject (system auto-adds a new subject, they don’t pick from a list).</a:t>
            </a:r>
          </a:p>
          <a:p>
            <a:pPr marL="971550" lvl="1" indent="-514350">
              <a:lnSpc>
                <a:spcPct val="150000"/>
              </a:lnSpc>
              <a:buFont typeface="+mj-lt"/>
              <a:buAutoNum type="arabicPeriod"/>
            </a:pPr>
            <a:r>
              <a:rPr lang="en-US" sz="2600" dirty="0">
                <a:latin typeface="Calibir"/>
              </a:rPr>
              <a:t>Remove a subject.</a:t>
            </a:r>
          </a:p>
          <a:p>
            <a:pPr marL="971550" lvl="1" indent="-514350">
              <a:lnSpc>
                <a:spcPct val="150000"/>
              </a:lnSpc>
              <a:buFont typeface="+mj-lt"/>
              <a:buAutoNum type="arabicPeriod"/>
            </a:pPr>
            <a:r>
              <a:rPr lang="en-US" sz="2600" dirty="0">
                <a:latin typeface="Calibir"/>
              </a:rPr>
              <a:t>View their current enrolment list.</a:t>
            </a:r>
          </a:p>
          <a:p>
            <a:pPr marL="971550" lvl="1" indent="-514350">
              <a:lnSpc>
                <a:spcPct val="150000"/>
              </a:lnSpc>
              <a:buFont typeface="+mj-lt"/>
              <a:buAutoNum type="arabicPeriod"/>
            </a:pPr>
            <a:r>
              <a:rPr lang="en-US" sz="2600" dirty="0">
                <a:latin typeface="Calibir"/>
              </a:rPr>
              <a:t>Change their password.</a:t>
            </a:r>
          </a:p>
        </p:txBody>
      </p:sp>
      <p:sp>
        <p:nvSpPr>
          <p:cNvPr id="6" name="Title 1">
            <a:extLst>
              <a:ext uri="{FF2B5EF4-FFF2-40B4-BE49-F238E27FC236}">
                <a16:creationId xmlns:a16="http://schemas.microsoft.com/office/drawing/2014/main" id="{90F58C92-ECFC-E09B-AD86-A816602EA508}"/>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pic>
        <p:nvPicPr>
          <p:cNvPr id="8" name="Picture 7">
            <a:extLst>
              <a:ext uri="{FF2B5EF4-FFF2-40B4-BE49-F238E27FC236}">
                <a16:creationId xmlns:a16="http://schemas.microsoft.com/office/drawing/2014/main" id="{4C327BFE-7257-26F2-1760-C04EE8D2C373}"/>
              </a:ext>
            </a:extLst>
          </p:cNvPr>
          <p:cNvPicPr>
            <a:picLocks noChangeAspect="1"/>
          </p:cNvPicPr>
          <p:nvPr/>
        </p:nvPicPr>
        <p:blipFill>
          <a:blip r:embed="rId2"/>
          <a:srcRect l="12480" t="44081" r="61121" b="28720"/>
          <a:stretch>
            <a:fillRect/>
          </a:stretch>
        </p:blipFill>
        <p:spPr>
          <a:xfrm>
            <a:off x="0" y="804435"/>
            <a:ext cx="11813628" cy="3423360"/>
          </a:xfrm>
          <a:prstGeom prst="rect">
            <a:avLst/>
          </a:prstGeom>
          <a:ln w="38100">
            <a:solidFill>
              <a:srgbClr val="FF0000"/>
            </a:solidFill>
          </a:ln>
        </p:spPr>
      </p:pic>
    </p:spTree>
    <p:extLst>
      <p:ext uri="{BB962C8B-B14F-4D97-AF65-F5344CB8AC3E}">
        <p14:creationId xmlns:p14="http://schemas.microsoft.com/office/powerpoint/2010/main" val="22918933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4E553-8487-593B-C6FD-487881E8629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A90DD5C-20FC-781A-1116-0B66CFF48E7E}"/>
              </a:ext>
            </a:extLst>
          </p:cNvPr>
          <p:cNvSpPr txBox="1"/>
          <p:nvPr/>
        </p:nvSpPr>
        <p:spPr>
          <a:xfrm>
            <a:off x="78658" y="4149362"/>
            <a:ext cx="12034684" cy="2430922"/>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600" dirty="0">
                <a:latin typeface="Calibir"/>
              </a:rPr>
              <a:t>Each subject gets a 3-digit ID (like 007, 125), created by the system.</a:t>
            </a:r>
          </a:p>
          <a:p>
            <a:pPr marL="457200" indent="-457200">
              <a:lnSpc>
                <a:spcPct val="150000"/>
              </a:lnSpc>
              <a:buFont typeface="Arial" panose="020B0604020202020204" pitchFamily="34" charset="0"/>
              <a:buChar char="•"/>
            </a:pPr>
            <a:r>
              <a:rPr lang="en-US" sz="2600" dirty="0">
                <a:latin typeface="Calibir"/>
              </a:rPr>
              <a:t>When a student </a:t>
            </a:r>
            <a:r>
              <a:rPr lang="en-US" sz="2600" dirty="0" err="1">
                <a:latin typeface="Calibir"/>
              </a:rPr>
              <a:t>enrols</a:t>
            </a:r>
            <a:r>
              <a:rPr lang="en-US" sz="2600" dirty="0">
                <a:latin typeface="Calibir"/>
              </a:rPr>
              <a:t>, the system also generates:</a:t>
            </a:r>
          </a:p>
          <a:p>
            <a:pPr marL="914400" lvl="1" indent="-457200">
              <a:lnSpc>
                <a:spcPct val="150000"/>
              </a:lnSpc>
              <a:buFont typeface="Arial" panose="020B0604020202020204" pitchFamily="34" charset="0"/>
              <a:buChar char="•"/>
            </a:pPr>
            <a:r>
              <a:rPr lang="en-US" sz="2600" dirty="0">
                <a:latin typeface="Calibir"/>
              </a:rPr>
              <a:t>a random mark between 25–100,</a:t>
            </a:r>
          </a:p>
          <a:p>
            <a:pPr marL="914400" lvl="1" indent="-457200">
              <a:lnSpc>
                <a:spcPct val="150000"/>
              </a:lnSpc>
              <a:buFont typeface="Arial" panose="020B0604020202020204" pitchFamily="34" charset="0"/>
              <a:buChar char="•"/>
            </a:pPr>
            <a:r>
              <a:rPr lang="en-US" sz="2600" dirty="0">
                <a:latin typeface="Calibir"/>
              </a:rPr>
              <a:t>and a grade (Z, P, C, D, HD) based on UTS rules.</a:t>
            </a:r>
          </a:p>
        </p:txBody>
      </p:sp>
      <p:sp>
        <p:nvSpPr>
          <p:cNvPr id="6" name="Title 1">
            <a:extLst>
              <a:ext uri="{FF2B5EF4-FFF2-40B4-BE49-F238E27FC236}">
                <a16:creationId xmlns:a16="http://schemas.microsoft.com/office/drawing/2014/main" id="{5BA19EF9-390F-86D1-7C9E-8F45CB241A18}"/>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pic>
        <p:nvPicPr>
          <p:cNvPr id="8" name="Picture 7">
            <a:extLst>
              <a:ext uri="{FF2B5EF4-FFF2-40B4-BE49-F238E27FC236}">
                <a16:creationId xmlns:a16="http://schemas.microsoft.com/office/drawing/2014/main" id="{08106CBA-900B-A566-8CFD-A94B2364F777}"/>
              </a:ext>
            </a:extLst>
          </p:cNvPr>
          <p:cNvPicPr>
            <a:picLocks noChangeAspect="1"/>
          </p:cNvPicPr>
          <p:nvPr/>
        </p:nvPicPr>
        <p:blipFill>
          <a:blip r:embed="rId2"/>
          <a:srcRect l="12480" t="44081" r="61121" b="28720"/>
          <a:stretch>
            <a:fillRect/>
          </a:stretch>
        </p:blipFill>
        <p:spPr>
          <a:xfrm>
            <a:off x="0" y="804435"/>
            <a:ext cx="11813628" cy="3423360"/>
          </a:xfrm>
          <a:prstGeom prst="rect">
            <a:avLst/>
          </a:prstGeom>
          <a:ln w="38100">
            <a:solidFill>
              <a:srgbClr val="FF0000"/>
            </a:solidFill>
          </a:ln>
        </p:spPr>
      </p:pic>
    </p:spTree>
    <p:extLst>
      <p:ext uri="{BB962C8B-B14F-4D97-AF65-F5344CB8AC3E}">
        <p14:creationId xmlns:p14="http://schemas.microsoft.com/office/powerpoint/2010/main" val="34383942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9BD2D-3307-82F3-6F67-128E505F9E9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54A04EC-98D9-8D40-819B-C7176720A184}"/>
              </a:ext>
            </a:extLst>
          </p:cNvPr>
          <p:cNvSpPr txBox="1"/>
          <p:nvPr/>
        </p:nvSpPr>
        <p:spPr>
          <a:xfrm>
            <a:off x="78658" y="4149362"/>
            <a:ext cx="12034684" cy="1830758"/>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600" dirty="0">
                <a:latin typeface="Calibir"/>
              </a:rPr>
              <a:t>Students can only </a:t>
            </a:r>
            <a:r>
              <a:rPr lang="en-US" sz="2600" dirty="0" err="1">
                <a:latin typeface="Calibir"/>
              </a:rPr>
              <a:t>enrol</a:t>
            </a:r>
            <a:r>
              <a:rPr lang="en-US" sz="2600" dirty="0">
                <a:latin typeface="Calibir"/>
              </a:rPr>
              <a:t> in up to 4 subjects. If they try for more, the system shows an error.</a:t>
            </a:r>
          </a:p>
          <a:p>
            <a:pPr marL="457200" indent="-457200">
              <a:lnSpc>
                <a:spcPct val="150000"/>
              </a:lnSpc>
              <a:buFont typeface="Arial" panose="020B0604020202020204" pitchFamily="34" charset="0"/>
              <a:buChar char="•"/>
            </a:pPr>
            <a:r>
              <a:rPr lang="en-US" sz="2600" dirty="0">
                <a:latin typeface="Calibir"/>
              </a:rPr>
              <a:t>All this info is stored in the file </a:t>
            </a:r>
            <a:r>
              <a:rPr lang="en-US" sz="2600" dirty="0" err="1">
                <a:latin typeface="Calibir"/>
              </a:rPr>
              <a:t>students.data</a:t>
            </a:r>
            <a:r>
              <a:rPr lang="en-US" sz="2600" dirty="0">
                <a:latin typeface="Calibir"/>
              </a:rPr>
              <a:t>.</a:t>
            </a:r>
          </a:p>
        </p:txBody>
      </p:sp>
      <p:sp>
        <p:nvSpPr>
          <p:cNvPr id="6" name="Title 1">
            <a:extLst>
              <a:ext uri="{FF2B5EF4-FFF2-40B4-BE49-F238E27FC236}">
                <a16:creationId xmlns:a16="http://schemas.microsoft.com/office/drawing/2014/main" id="{0073011A-D903-DA17-E318-9380B38693E7}"/>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pic>
        <p:nvPicPr>
          <p:cNvPr id="8" name="Picture 7">
            <a:extLst>
              <a:ext uri="{FF2B5EF4-FFF2-40B4-BE49-F238E27FC236}">
                <a16:creationId xmlns:a16="http://schemas.microsoft.com/office/drawing/2014/main" id="{6184E311-50E3-E361-9ADD-16D889B36927}"/>
              </a:ext>
            </a:extLst>
          </p:cNvPr>
          <p:cNvPicPr>
            <a:picLocks noChangeAspect="1"/>
          </p:cNvPicPr>
          <p:nvPr/>
        </p:nvPicPr>
        <p:blipFill>
          <a:blip r:embed="rId2"/>
          <a:srcRect l="12480" t="44081" r="61121" b="28720"/>
          <a:stretch>
            <a:fillRect/>
          </a:stretch>
        </p:blipFill>
        <p:spPr>
          <a:xfrm>
            <a:off x="0" y="804435"/>
            <a:ext cx="11813628" cy="3423360"/>
          </a:xfrm>
          <a:prstGeom prst="rect">
            <a:avLst/>
          </a:prstGeom>
          <a:ln w="38100">
            <a:solidFill>
              <a:srgbClr val="FF0000"/>
            </a:solidFill>
          </a:ln>
        </p:spPr>
      </p:pic>
    </p:spTree>
    <p:extLst>
      <p:ext uri="{BB962C8B-B14F-4D97-AF65-F5344CB8AC3E}">
        <p14:creationId xmlns:p14="http://schemas.microsoft.com/office/powerpoint/2010/main" val="16057802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9405F-B954-A0C4-F9B8-0705D10CDF0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A51D4FF-969F-936A-348E-9E6422926806}"/>
              </a:ext>
            </a:extLst>
          </p:cNvPr>
          <p:cNvSpPr txBox="1"/>
          <p:nvPr/>
        </p:nvSpPr>
        <p:spPr>
          <a:xfrm>
            <a:off x="0" y="676560"/>
            <a:ext cx="12034684" cy="3903504"/>
          </a:xfrm>
          <a:prstGeom prst="rect">
            <a:avLst/>
          </a:prstGeom>
          <a:noFill/>
        </p:spPr>
        <p:txBody>
          <a:bodyPr wrap="square">
            <a:spAutoFit/>
          </a:bodyPr>
          <a:lstStyle/>
          <a:p>
            <a:pPr>
              <a:lnSpc>
                <a:spcPct val="150000"/>
              </a:lnSpc>
            </a:pPr>
            <a:r>
              <a:rPr lang="en-US" sz="2800" b="1" dirty="0">
                <a:latin typeface="Calibir"/>
              </a:rPr>
              <a:t>Example</a:t>
            </a:r>
          </a:p>
          <a:p>
            <a:pPr>
              <a:lnSpc>
                <a:spcPct val="150000"/>
              </a:lnSpc>
            </a:pPr>
            <a:r>
              <a:rPr lang="en-US" sz="2800" dirty="0">
                <a:latin typeface="Calibir"/>
              </a:rPr>
              <a:t>Leila registers successfully.</a:t>
            </a:r>
          </a:p>
          <a:p>
            <a:pPr marL="914400" lvl="1" indent="-457200">
              <a:lnSpc>
                <a:spcPct val="150000"/>
              </a:lnSpc>
              <a:buFont typeface="Arial" panose="020B0604020202020204" pitchFamily="34" charset="0"/>
              <a:buChar char="•"/>
            </a:pPr>
            <a:r>
              <a:rPr lang="en-US" sz="2800" dirty="0">
                <a:latin typeface="Calibir"/>
              </a:rPr>
              <a:t>She </a:t>
            </a:r>
            <a:r>
              <a:rPr lang="en-US" sz="2800" dirty="0" err="1">
                <a:latin typeface="Calibir"/>
              </a:rPr>
              <a:t>enrols</a:t>
            </a:r>
            <a:r>
              <a:rPr lang="en-US" sz="2800" dirty="0">
                <a:latin typeface="Calibir"/>
              </a:rPr>
              <a:t> in a subject → system assigns subject ID = 042, mark = 78, grade = D.</a:t>
            </a:r>
          </a:p>
          <a:p>
            <a:pPr marL="914400" lvl="1" indent="-457200">
              <a:lnSpc>
                <a:spcPct val="150000"/>
              </a:lnSpc>
              <a:buFont typeface="Arial" panose="020B0604020202020204" pitchFamily="34" charset="0"/>
              <a:buChar char="•"/>
            </a:pPr>
            <a:r>
              <a:rPr lang="en-US" sz="2800" dirty="0">
                <a:latin typeface="Calibir"/>
              </a:rPr>
              <a:t>She </a:t>
            </a:r>
            <a:r>
              <a:rPr lang="en-US" sz="2800" dirty="0" err="1">
                <a:latin typeface="Calibir"/>
              </a:rPr>
              <a:t>enrols</a:t>
            </a:r>
            <a:r>
              <a:rPr lang="en-US" sz="2800" dirty="0">
                <a:latin typeface="Calibir"/>
              </a:rPr>
              <a:t> again → subject ID = 317, mark = 92, grade = HD.</a:t>
            </a:r>
          </a:p>
          <a:p>
            <a:pPr marL="914400" lvl="1" indent="-457200">
              <a:lnSpc>
                <a:spcPct val="150000"/>
              </a:lnSpc>
              <a:buFont typeface="Arial" panose="020B0604020202020204" pitchFamily="34" charset="0"/>
              <a:buChar char="•"/>
            </a:pPr>
            <a:r>
              <a:rPr lang="en-US" sz="2800" dirty="0">
                <a:latin typeface="Calibir"/>
              </a:rPr>
              <a:t>Now her enrolment list shows:</a:t>
            </a:r>
          </a:p>
        </p:txBody>
      </p:sp>
      <p:sp>
        <p:nvSpPr>
          <p:cNvPr id="4" name="TextBox 3">
            <a:extLst>
              <a:ext uri="{FF2B5EF4-FFF2-40B4-BE49-F238E27FC236}">
                <a16:creationId xmlns:a16="http://schemas.microsoft.com/office/drawing/2014/main" id="{45ECDDC0-03A8-A82A-CF2E-9BBC674AC3BD}"/>
              </a:ext>
            </a:extLst>
          </p:cNvPr>
          <p:cNvSpPr txBox="1"/>
          <p:nvPr/>
        </p:nvSpPr>
        <p:spPr>
          <a:xfrm>
            <a:off x="0" y="4399190"/>
            <a:ext cx="6179574" cy="1318181"/>
          </a:xfrm>
          <a:prstGeom prst="rect">
            <a:avLst/>
          </a:prstGeom>
          <a:noFill/>
        </p:spPr>
        <p:txBody>
          <a:bodyPr wrap="square">
            <a:spAutoFit/>
          </a:bodyPr>
          <a:lstStyle/>
          <a:p>
            <a:pPr>
              <a:lnSpc>
                <a:spcPct val="150000"/>
              </a:lnSpc>
            </a:pPr>
            <a:r>
              <a:rPr lang="en-US" sz="2800" dirty="0">
                <a:latin typeface="Calibir"/>
              </a:rPr>
              <a:t>Subject 042 → mark 78 → grade D</a:t>
            </a:r>
          </a:p>
          <a:p>
            <a:pPr>
              <a:lnSpc>
                <a:spcPct val="150000"/>
              </a:lnSpc>
            </a:pPr>
            <a:r>
              <a:rPr lang="en-US" sz="2800" dirty="0">
                <a:latin typeface="Calibir"/>
              </a:rPr>
              <a:t>Subject 317 → mark 92 → grade HD</a:t>
            </a:r>
          </a:p>
        </p:txBody>
      </p:sp>
      <p:sp>
        <p:nvSpPr>
          <p:cNvPr id="8" name="TextBox 7">
            <a:extLst>
              <a:ext uri="{FF2B5EF4-FFF2-40B4-BE49-F238E27FC236}">
                <a16:creationId xmlns:a16="http://schemas.microsoft.com/office/drawing/2014/main" id="{9BECBD22-28CD-EC33-F9F2-F2570569BC03}"/>
              </a:ext>
            </a:extLst>
          </p:cNvPr>
          <p:cNvSpPr txBox="1"/>
          <p:nvPr/>
        </p:nvSpPr>
        <p:spPr>
          <a:xfrm>
            <a:off x="1" y="5539819"/>
            <a:ext cx="12191999" cy="1318181"/>
          </a:xfrm>
          <a:prstGeom prst="rect">
            <a:avLst/>
          </a:prstGeom>
          <a:noFill/>
        </p:spPr>
        <p:txBody>
          <a:bodyPr wrap="square">
            <a:spAutoFit/>
          </a:bodyPr>
          <a:lstStyle/>
          <a:p>
            <a:pPr>
              <a:lnSpc>
                <a:spcPct val="150000"/>
              </a:lnSpc>
            </a:pPr>
            <a:r>
              <a:rPr lang="en-US" sz="2800" dirty="0">
                <a:latin typeface="Calibir"/>
              </a:rPr>
              <a:t>If she tries to </a:t>
            </a:r>
            <a:r>
              <a:rPr lang="en-US" sz="2800" dirty="0" err="1">
                <a:latin typeface="Calibir"/>
              </a:rPr>
              <a:t>enrol</a:t>
            </a:r>
            <a:r>
              <a:rPr lang="en-US" sz="2800" dirty="0">
                <a:latin typeface="Calibir"/>
              </a:rPr>
              <a:t> a 5th subject, system blocks it and shows:</a:t>
            </a:r>
            <a:br>
              <a:rPr lang="en-US" sz="2800" dirty="0">
                <a:latin typeface="Calibir"/>
              </a:rPr>
            </a:br>
            <a:r>
              <a:rPr lang="en-US" sz="2800" dirty="0">
                <a:latin typeface="Calibir"/>
              </a:rPr>
              <a:t>"You cannot </a:t>
            </a:r>
            <a:r>
              <a:rPr lang="en-US" sz="2800" dirty="0" err="1">
                <a:latin typeface="Calibir"/>
              </a:rPr>
              <a:t>enrol</a:t>
            </a:r>
            <a:r>
              <a:rPr lang="en-US" sz="2800" dirty="0">
                <a:latin typeface="Calibir"/>
              </a:rPr>
              <a:t> in more than 4 subjects."</a:t>
            </a:r>
          </a:p>
        </p:txBody>
      </p:sp>
      <p:sp>
        <p:nvSpPr>
          <p:cNvPr id="6" name="Title 1">
            <a:extLst>
              <a:ext uri="{FF2B5EF4-FFF2-40B4-BE49-F238E27FC236}">
                <a16:creationId xmlns:a16="http://schemas.microsoft.com/office/drawing/2014/main" id="{5A6D186E-0917-6948-9E8B-9A9A7FDFCAC9}"/>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spTree>
    <p:extLst>
      <p:ext uri="{BB962C8B-B14F-4D97-AF65-F5344CB8AC3E}">
        <p14:creationId xmlns:p14="http://schemas.microsoft.com/office/powerpoint/2010/main" val="1449678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8AD32-1C42-B25B-1DB1-CA0D16A767E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AE2FC09-EC77-EEF2-F176-4CE5055349B1}"/>
              </a:ext>
            </a:extLst>
          </p:cNvPr>
          <p:cNvSpPr txBox="1"/>
          <p:nvPr/>
        </p:nvSpPr>
        <p:spPr>
          <a:xfrm>
            <a:off x="0" y="1292097"/>
            <a:ext cx="12034684" cy="3903504"/>
          </a:xfrm>
          <a:prstGeom prst="rect">
            <a:avLst/>
          </a:prstGeom>
          <a:noFill/>
        </p:spPr>
        <p:txBody>
          <a:bodyPr wrap="square">
            <a:spAutoFit/>
          </a:bodyPr>
          <a:lstStyle/>
          <a:p>
            <a:pPr>
              <a:lnSpc>
                <a:spcPct val="150000"/>
              </a:lnSpc>
            </a:pPr>
            <a:r>
              <a:rPr lang="en-US" sz="2800" dirty="0">
                <a:latin typeface="Calibir"/>
              </a:rPr>
              <a:t>In Part 1 of the assignment, students don’t implement the code — they </a:t>
            </a:r>
            <a:r>
              <a:rPr lang="en-US" sz="2800" dirty="0" err="1">
                <a:latin typeface="Calibir"/>
              </a:rPr>
              <a:t>analyse</a:t>
            </a:r>
            <a:r>
              <a:rPr lang="en-US" sz="2800" dirty="0">
                <a:latin typeface="Calibir"/>
              </a:rPr>
              <a:t> this </a:t>
            </a:r>
            <a:r>
              <a:rPr lang="en-US" sz="2800" dirty="0" err="1">
                <a:latin typeface="Calibir"/>
              </a:rPr>
              <a:t>behaviour</a:t>
            </a:r>
            <a:r>
              <a:rPr lang="en-US" sz="2800" dirty="0">
                <a:latin typeface="Calibir"/>
              </a:rPr>
              <a:t> and turn it into:</a:t>
            </a:r>
          </a:p>
          <a:p>
            <a:pPr marL="914400" lvl="1" indent="-457200">
              <a:lnSpc>
                <a:spcPct val="150000"/>
              </a:lnSpc>
              <a:buFont typeface="Arial" panose="020B0604020202020204" pitchFamily="34" charset="0"/>
              <a:buChar char="•"/>
            </a:pPr>
            <a:r>
              <a:rPr lang="en-US" sz="2800" dirty="0">
                <a:latin typeface="Calibir"/>
              </a:rPr>
              <a:t>User stories (e.g., “As a student, I </a:t>
            </a:r>
            <a:r>
              <a:rPr lang="en-US" sz="2800" dirty="0" err="1">
                <a:latin typeface="Calibir"/>
              </a:rPr>
              <a:t>enrol</a:t>
            </a:r>
            <a:r>
              <a:rPr lang="en-US" sz="2800" dirty="0">
                <a:latin typeface="Calibir"/>
              </a:rPr>
              <a:t> in a subject so that I can study it”).</a:t>
            </a:r>
          </a:p>
          <a:p>
            <a:pPr marL="914400" lvl="1" indent="-457200">
              <a:lnSpc>
                <a:spcPct val="150000"/>
              </a:lnSpc>
              <a:buFont typeface="Arial" panose="020B0604020202020204" pitchFamily="34" charset="0"/>
              <a:buChar char="•"/>
            </a:pPr>
            <a:r>
              <a:rPr lang="en-US" sz="2800" dirty="0">
                <a:latin typeface="Calibir"/>
              </a:rPr>
              <a:t>Use case diagram (showing Student actor connected to “</a:t>
            </a:r>
            <a:r>
              <a:rPr lang="en-US" sz="2800" dirty="0" err="1">
                <a:latin typeface="Calibir"/>
              </a:rPr>
              <a:t>Enrol</a:t>
            </a:r>
            <a:r>
              <a:rPr lang="en-US" sz="2800" dirty="0">
                <a:latin typeface="Calibir"/>
              </a:rPr>
              <a:t> in Subject”).</a:t>
            </a:r>
          </a:p>
          <a:p>
            <a:pPr marL="914400" lvl="1" indent="-457200">
              <a:lnSpc>
                <a:spcPct val="150000"/>
              </a:lnSpc>
              <a:buFont typeface="Arial" panose="020B0604020202020204" pitchFamily="34" charset="0"/>
              <a:buChar char="•"/>
            </a:pPr>
            <a:r>
              <a:rPr lang="en-US" sz="2800" dirty="0">
                <a:latin typeface="Calibir"/>
              </a:rPr>
              <a:t>Class diagram (showing classes like Student, Subject, Database).</a:t>
            </a:r>
          </a:p>
          <a:p>
            <a:pPr>
              <a:lnSpc>
                <a:spcPct val="150000"/>
              </a:lnSpc>
            </a:pPr>
            <a:r>
              <a:rPr lang="en-US" sz="2800" dirty="0">
                <a:latin typeface="Calibir"/>
              </a:rPr>
              <a:t>Later, in Part 2, they will write the actual program that makes it work.</a:t>
            </a:r>
          </a:p>
        </p:txBody>
      </p:sp>
      <p:sp>
        <p:nvSpPr>
          <p:cNvPr id="5" name="Title 1">
            <a:extLst>
              <a:ext uri="{FF2B5EF4-FFF2-40B4-BE49-F238E27FC236}">
                <a16:creationId xmlns:a16="http://schemas.microsoft.com/office/drawing/2014/main" id="{2961C455-340B-8A14-8251-9AA0DF3A9FB1}"/>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spTree>
    <p:extLst>
      <p:ext uri="{BB962C8B-B14F-4D97-AF65-F5344CB8AC3E}">
        <p14:creationId xmlns:p14="http://schemas.microsoft.com/office/powerpoint/2010/main" val="34389089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C74A2-6FCA-F134-1D7A-8F9774CB52A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B93AAA0-EC2E-F603-ED21-80D22BB66C9C}"/>
              </a:ext>
            </a:extLst>
          </p:cNvPr>
          <p:cNvSpPr>
            <a:spLocks noGrp="1"/>
          </p:cNvSpPr>
          <p:nvPr>
            <p:ph type="title"/>
          </p:nvPr>
        </p:nvSpPr>
        <p:spPr>
          <a:xfrm>
            <a:off x="0" y="0"/>
            <a:ext cx="12192000" cy="613318"/>
          </a:xfrm>
        </p:spPr>
        <p:txBody>
          <a:bodyPr anchor="b">
            <a:normAutofit/>
          </a:bodyPr>
          <a:lstStyle/>
          <a:p>
            <a:r>
              <a:rPr lang="en-US" sz="3300" b="1" dirty="0">
                <a:latin typeface="Calibir"/>
              </a:rPr>
              <a:t>Group Assignment – Part 1: Password Rules – Clarified</a:t>
            </a:r>
            <a:endParaRPr lang="en-AU" sz="3300" b="1" dirty="0">
              <a:latin typeface="Calibir"/>
            </a:endParaRPr>
          </a:p>
        </p:txBody>
      </p:sp>
      <p:pic>
        <p:nvPicPr>
          <p:cNvPr id="3" name="Picture 2">
            <a:extLst>
              <a:ext uri="{FF2B5EF4-FFF2-40B4-BE49-F238E27FC236}">
                <a16:creationId xmlns:a16="http://schemas.microsoft.com/office/drawing/2014/main" id="{493C07C6-9313-D896-D258-DE66D375AB36}"/>
              </a:ext>
            </a:extLst>
          </p:cNvPr>
          <p:cNvPicPr>
            <a:picLocks noChangeAspect="1"/>
          </p:cNvPicPr>
          <p:nvPr/>
        </p:nvPicPr>
        <p:blipFill>
          <a:blip r:embed="rId2"/>
          <a:stretch>
            <a:fillRect/>
          </a:stretch>
        </p:blipFill>
        <p:spPr>
          <a:xfrm>
            <a:off x="550127" y="627710"/>
            <a:ext cx="11091746" cy="5602580"/>
          </a:xfrm>
          <a:prstGeom prst="rect">
            <a:avLst/>
          </a:prstGeom>
        </p:spPr>
      </p:pic>
      <p:sp>
        <p:nvSpPr>
          <p:cNvPr id="4" name="Rectangle: Rounded Corners 3">
            <a:extLst>
              <a:ext uri="{FF2B5EF4-FFF2-40B4-BE49-F238E27FC236}">
                <a16:creationId xmlns:a16="http://schemas.microsoft.com/office/drawing/2014/main" id="{B0D77E83-23C9-5AC8-A2F8-BE3165AF29F5}"/>
              </a:ext>
            </a:extLst>
          </p:cNvPr>
          <p:cNvSpPr/>
          <p:nvPr/>
        </p:nvSpPr>
        <p:spPr>
          <a:xfrm>
            <a:off x="550128" y="2832410"/>
            <a:ext cx="11065726" cy="206297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197987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CDEEC-4E7E-D0A2-9602-08F2DC4FD08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AF77A34-1BFF-7E98-C408-309E90BE48E4}"/>
              </a:ext>
            </a:extLst>
          </p:cNvPr>
          <p:cNvSpPr>
            <a:spLocks noGrp="1"/>
          </p:cNvSpPr>
          <p:nvPr>
            <p:ph type="title"/>
          </p:nvPr>
        </p:nvSpPr>
        <p:spPr>
          <a:xfrm>
            <a:off x="0" y="0"/>
            <a:ext cx="12192000" cy="613318"/>
          </a:xfrm>
        </p:spPr>
        <p:txBody>
          <a:bodyPr anchor="b">
            <a:normAutofit/>
          </a:bodyPr>
          <a:lstStyle/>
          <a:p>
            <a:r>
              <a:rPr lang="en-US" sz="3300" b="1" dirty="0">
                <a:latin typeface="Calibir"/>
              </a:rPr>
              <a:t>Group Assignment – Part 1: Password Rules – Clarified</a:t>
            </a:r>
            <a:endParaRPr lang="en-AU" sz="3300" b="1" dirty="0">
              <a:latin typeface="Calibir"/>
            </a:endParaRPr>
          </a:p>
        </p:txBody>
      </p:sp>
      <p:pic>
        <p:nvPicPr>
          <p:cNvPr id="3" name="Picture 2">
            <a:extLst>
              <a:ext uri="{FF2B5EF4-FFF2-40B4-BE49-F238E27FC236}">
                <a16:creationId xmlns:a16="http://schemas.microsoft.com/office/drawing/2014/main" id="{73C8FFC0-C6F7-4314-657C-3435FA73B8CF}"/>
              </a:ext>
            </a:extLst>
          </p:cNvPr>
          <p:cNvPicPr>
            <a:picLocks noChangeAspect="1"/>
          </p:cNvPicPr>
          <p:nvPr/>
        </p:nvPicPr>
        <p:blipFill>
          <a:blip r:embed="rId2"/>
          <a:stretch>
            <a:fillRect/>
          </a:stretch>
        </p:blipFill>
        <p:spPr>
          <a:xfrm>
            <a:off x="550127" y="627710"/>
            <a:ext cx="5003180" cy="2527169"/>
          </a:xfrm>
          <a:prstGeom prst="rect">
            <a:avLst/>
          </a:prstGeom>
        </p:spPr>
      </p:pic>
      <p:sp>
        <p:nvSpPr>
          <p:cNvPr id="4" name="Rectangle: Rounded Corners 3">
            <a:extLst>
              <a:ext uri="{FF2B5EF4-FFF2-40B4-BE49-F238E27FC236}">
                <a16:creationId xmlns:a16="http://schemas.microsoft.com/office/drawing/2014/main" id="{58B5DCCE-DB3F-8063-44AB-97C7DCA9DF2A}"/>
              </a:ext>
            </a:extLst>
          </p:cNvPr>
          <p:cNvSpPr/>
          <p:nvPr/>
        </p:nvSpPr>
        <p:spPr>
          <a:xfrm>
            <a:off x="449767" y="1617844"/>
            <a:ext cx="5103540" cy="92463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93DA0F3D-F6C7-1C6D-4D45-3D10221ADA12}"/>
              </a:ext>
            </a:extLst>
          </p:cNvPr>
          <p:cNvSpPr txBox="1"/>
          <p:nvPr/>
        </p:nvSpPr>
        <p:spPr>
          <a:xfrm>
            <a:off x="0" y="3154879"/>
            <a:ext cx="12192000" cy="2610843"/>
          </a:xfrm>
          <a:prstGeom prst="rect">
            <a:avLst/>
          </a:prstGeom>
          <a:noFill/>
        </p:spPr>
        <p:txBody>
          <a:bodyPr wrap="square">
            <a:spAutoFit/>
          </a:bodyPr>
          <a:lstStyle/>
          <a:p>
            <a:pPr>
              <a:lnSpc>
                <a:spcPct val="150000"/>
              </a:lnSpc>
              <a:buNone/>
            </a:pPr>
            <a:r>
              <a:rPr lang="en-US" sz="2800" b="1" dirty="0">
                <a:latin typeface="Calibir"/>
              </a:rPr>
              <a:t>Clarification of Password Pattern</a:t>
            </a:r>
          </a:p>
          <a:p>
            <a:pPr marL="714375" indent="-457200">
              <a:lnSpc>
                <a:spcPct val="150000"/>
              </a:lnSpc>
              <a:buFont typeface="Arial" panose="020B0604020202020204" pitchFamily="34" charset="0"/>
              <a:buChar char="•"/>
            </a:pPr>
            <a:r>
              <a:rPr lang="en-US" sz="2800" dirty="0">
                <a:latin typeface="Calibir"/>
              </a:rPr>
              <a:t>The password must start with an uppercase letter (e.g., A, B, Z).</a:t>
            </a:r>
          </a:p>
          <a:p>
            <a:pPr marL="714375" indent="-457200">
              <a:lnSpc>
                <a:spcPct val="150000"/>
              </a:lnSpc>
              <a:buFont typeface="Arial" panose="020B0604020202020204" pitchFamily="34" charset="0"/>
              <a:buChar char="•"/>
            </a:pPr>
            <a:r>
              <a:rPr lang="en-US" sz="2800" dirty="0">
                <a:latin typeface="Calibir"/>
              </a:rPr>
              <a:t>After that, it must have at least 4 more letters (so minimum 5 letters in total including the first uppercase).</a:t>
            </a:r>
          </a:p>
        </p:txBody>
      </p:sp>
    </p:spTree>
    <p:extLst>
      <p:ext uri="{BB962C8B-B14F-4D97-AF65-F5344CB8AC3E}">
        <p14:creationId xmlns:p14="http://schemas.microsoft.com/office/powerpoint/2010/main" val="13363375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D640F-EE93-4B90-07F1-DD9A37F080F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8A323F1-FEE4-F046-BF69-64D7EE8FF8C9}"/>
              </a:ext>
            </a:extLst>
          </p:cNvPr>
          <p:cNvPicPr>
            <a:picLocks noChangeAspect="1"/>
          </p:cNvPicPr>
          <p:nvPr/>
        </p:nvPicPr>
        <p:blipFill>
          <a:blip r:embed="rId2"/>
          <a:stretch>
            <a:fillRect/>
          </a:stretch>
        </p:blipFill>
        <p:spPr>
          <a:xfrm>
            <a:off x="-1" y="15309"/>
            <a:ext cx="6646127" cy="3357042"/>
          </a:xfrm>
          <a:prstGeom prst="rect">
            <a:avLst/>
          </a:prstGeom>
        </p:spPr>
      </p:pic>
      <p:sp>
        <p:nvSpPr>
          <p:cNvPr id="4" name="Rectangle: Rounded Corners 3">
            <a:extLst>
              <a:ext uri="{FF2B5EF4-FFF2-40B4-BE49-F238E27FC236}">
                <a16:creationId xmlns:a16="http://schemas.microsoft.com/office/drawing/2014/main" id="{E696F71B-1BC4-ECF0-DA54-AB00CDE827D7}"/>
              </a:ext>
            </a:extLst>
          </p:cNvPr>
          <p:cNvSpPr/>
          <p:nvPr/>
        </p:nvSpPr>
        <p:spPr>
          <a:xfrm>
            <a:off x="0" y="1372516"/>
            <a:ext cx="6646126" cy="116996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97D7740-3A63-5BC9-055C-DF79F809728E}"/>
              </a:ext>
            </a:extLst>
          </p:cNvPr>
          <p:cNvSpPr txBox="1"/>
          <p:nvPr/>
        </p:nvSpPr>
        <p:spPr>
          <a:xfrm>
            <a:off x="0" y="3076820"/>
            <a:ext cx="12192000"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Finally, it must end with at least 3 digits (numbers).</a:t>
            </a:r>
          </a:p>
          <a:p>
            <a:pPr marL="803275" indent="-457200">
              <a:lnSpc>
                <a:spcPct val="150000"/>
              </a:lnSpc>
              <a:buFont typeface="Arial" panose="020B0604020202020204" pitchFamily="34" charset="0"/>
              <a:buChar char="•"/>
            </a:pPr>
            <a:r>
              <a:rPr lang="en-US" sz="2800" dirty="0">
                <a:highlight>
                  <a:srgbClr val="00FF00"/>
                </a:highlight>
                <a:latin typeface="Calibir"/>
                <a:sym typeface="Wingdings" panose="05000000000000000000" pitchFamily="2" charset="2"/>
              </a:rPr>
              <a:t></a:t>
            </a:r>
            <a:r>
              <a:rPr lang="en-US" sz="2800" dirty="0">
                <a:latin typeface="Calibir"/>
              </a:rPr>
              <a:t> Example valid: Abcde123</a:t>
            </a:r>
          </a:p>
          <a:p>
            <a:pPr marL="803275" indent="-457200">
              <a:lnSpc>
                <a:spcPct val="150000"/>
              </a:lnSpc>
              <a:buFont typeface="Arial" panose="020B0604020202020204" pitchFamily="34" charset="0"/>
              <a:buChar char="•"/>
            </a:pPr>
            <a:r>
              <a:rPr lang="en-US" sz="2800" dirty="0">
                <a:highlight>
                  <a:srgbClr val="FF0000"/>
                </a:highlight>
                <a:latin typeface="Calibir"/>
              </a:rPr>
              <a:t>X</a:t>
            </a:r>
            <a:r>
              <a:rPr lang="en-US" sz="2800" dirty="0">
                <a:latin typeface="Calibir"/>
              </a:rPr>
              <a:t> Invalid: abcde123 (no uppercase start), Ab12 (not enough letters), </a:t>
            </a:r>
            <a:r>
              <a:rPr lang="en-US" sz="2800" dirty="0" err="1">
                <a:latin typeface="Calibir"/>
              </a:rPr>
              <a:t>Abcdef</a:t>
            </a:r>
            <a:r>
              <a:rPr lang="en-US" sz="2800" dirty="0">
                <a:latin typeface="Calibir"/>
              </a:rPr>
              <a:t> (no digits).</a:t>
            </a:r>
          </a:p>
          <a:p>
            <a:pPr>
              <a:lnSpc>
                <a:spcPct val="150000"/>
              </a:lnSpc>
              <a:buNone/>
            </a:pPr>
            <a:r>
              <a:rPr lang="en-US" sz="2800" dirty="0">
                <a:latin typeface="Calibir"/>
              </a:rPr>
              <a:t>So the shortest valid password looks like: Aaaaa111 → 8 characters total.</a:t>
            </a:r>
            <a:br>
              <a:rPr lang="en-US" sz="2800" dirty="0">
                <a:latin typeface="Calibir"/>
              </a:rPr>
            </a:br>
            <a:r>
              <a:rPr lang="en-US" sz="2800" dirty="0">
                <a:latin typeface="Calibir"/>
              </a:rPr>
              <a:t>Longer ones are also fine, as long as they follow the same pattern.</a:t>
            </a:r>
          </a:p>
        </p:txBody>
      </p:sp>
    </p:spTree>
    <p:extLst>
      <p:ext uri="{BB962C8B-B14F-4D97-AF65-F5344CB8AC3E}">
        <p14:creationId xmlns:p14="http://schemas.microsoft.com/office/powerpoint/2010/main" val="14284178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8E880-FACF-5954-3882-874A9AA5F73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F6F72CE-DC85-4DBD-7AB2-FBDB9887D36B}"/>
              </a:ext>
            </a:extLst>
          </p:cNvPr>
          <p:cNvSpPr>
            <a:spLocks noGrp="1"/>
          </p:cNvSpPr>
          <p:nvPr>
            <p:ph type="title"/>
          </p:nvPr>
        </p:nvSpPr>
        <p:spPr>
          <a:xfrm>
            <a:off x="0" y="0"/>
            <a:ext cx="12192000" cy="613318"/>
          </a:xfrm>
        </p:spPr>
        <p:txBody>
          <a:bodyPr anchor="b">
            <a:normAutofit/>
          </a:bodyPr>
          <a:lstStyle/>
          <a:p>
            <a:r>
              <a:rPr lang="en-US" sz="3300" b="1" dirty="0">
                <a:latin typeface="Calibir"/>
              </a:rPr>
              <a:t>Group Assignment – Part 1: Password Rules – Clarified</a:t>
            </a:r>
            <a:endParaRPr lang="en-AU" sz="3300" b="1" dirty="0">
              <a:latin typeface="Calibir"/>
            </a:endParaRPr>
          </a:p>
        </p:txBody>
      </p:sp>
      <p:sp>
        <p:nvSpPr>
          <p:cNvPr id="7" name="TextBox 6">
            <a:extLst>
              <a:ext uri="{FF2B5EF4-FFF2-40B4-BE49-F238E27FC236}">
                <a16:creationId xmlns:a16="http://schemas.microsoft.com/office/drawing/2014/main" id="{9DA6C6A7-E399-6ACD-4543-81D72F8BDDB7}"/>
              </a:ext>
            </a:extLst>
          </p:cNvPr>
          <p:cNvSpPr txBox="1"/>
          <p:nvPr/>
        </p:nvSpPr>
        <p:spPr>
          <a:xfrm>
            <a:off x="0" y="725215"/>
            <a:ext cx="12023834" cy="5842497"/>
          </a:xfrm>
          <a:prstGeom prst="rect">
            <a:avLst/>
          </a:prstGeom>
          <a:noFill/>
        </p:spPr>
        <p:txBody>
          <a:bodyPr wrap="square">
            <a:spAutoFit/>
          </a:bodyPr>
          <a:lstStyle/>
          <a:p>
            <a:pPr marL="514350" indent="-514350">
              <a:lnSpc>
                <a:spcPct val="150000"/>
              </a:lnSpc>
              <a:buAutoNum type="arabicPeriod"/>
            </a:pPr>
            <a:r>
              <a:rPr lang="en-US" sz="2800" b="1" dirty="0">
                <a:latin typeface="Calibir"/>
              </a:rPr>
              <a:t>What are actors?</a:t>
            </a:r>
          </a:p>
          <a:p>
            <a:pPr marL="457200" indent="-457200">
              <a:lnSpc>
                <a:spcPct val="150000"/>
              </a:lnSpc>
              <a:buFont typeface="Arial" panose="020B0604020202020204" pitchFamily="34" charset="0"/>
              <a:buChar char="•"/>
            </a:pPr>
            <a:r>
              <a:rPr lang="en-US" sz="2800" dirty="0">
                <a:latin typeface="Calibir"/>
              </a:rPr>
              <a:t>In UML, actors are the people or external systems that interact with the application.</a:t>
            </a:r>
          </a:p>
          <a:p>
            <a:pPr marL="457200" indent="-457200">
              <a:lnSpc>
                <a:spcPct val="150000"/>
              </a:lnSpc>
              <a:buFont typeface="Arial" panose="020B0604020202020204" pitchFamily="34" charset="0"/>
              <a:buChar char="•"/>
            </a:pPr>
            <a:r>
              <a:rPr lang="en-US" sz="2800" dirty="0">
                <a:latin typeface="Calibir"/>
              </a:rPr>
              <a:t>They are outside the system but they use it or get something from it.</a:t>
            </a:r>
          </a:p>
          <a:p>
            <a:pPr marL="457200" indent="-457200">
              <a:lnSpc>
                <a:spcPct val="150000"/>
              </a:lnSpc>
              <a:buFont typeface="Arial" panose="020B0604020202020204" pitchFamily="34" charset="0"/>
              <a:buChar char="•"/>
            </a:pPr>
            <a:r>
              <a:rPr lang="en-US" sz="2800" dirty="0">
                <a:latin typeface="Calibir"/>
              </a:rPr>
              <a:t>In our assignment:</a:t>
            </a:r>
          </a:p>
          <a:p>
            <a:pPr marL="914400" lvl="1" indent="-457200">
              <a:lnSpc>
                <a:spcPct val="150000"/>
              </a:lnSpc>
              <a:buFont typeface="Arial" panose="020B0604020202020204" pitchFamily="34" charset="0"/>
              <a:buChar char="•"/>
            </a:pPr>
            <a:r>
              <a:rPr lang="en-US" sz="2800" dirty="0">
                <a:latin typeface="Calibir"/>
              </a:rPr>
              <a:t>Student → can register, login, </a:t>
            </a:r>
            <a:r>
              <a:rPr lang="en-US" sz="2800" dirty="0" err="1">
                <a:latin typeface="Calibir"/>
              </a:rPr>
              <a:t>enrol</a:t>
            </a:r>
            <a:r>
              <a:rPr lang="en-US" sz="2800" dirty="0">
                <a:latin typeface="Calibir"/>
              </a:rPr>
              <a:t>, drop subject, view enrolments, change password.</a:t>
            </a:r>
          </a:p>
          <a:p>
            <a:pPr marL="914400" lvl="1" indent="-457200">
              <a:lnSpc>
                <a:spcPct val="150000"/>
              </a:lnSpc>
              <a:buFont typeface="Arial" panose="020B0604020202020204" pitchFamily="34" charset="0"/>
              <a:buChar char="•"/>
            </a:pPr>
            <a:r>
              <a:rPr lang="en-US" sz="2800" dirty="0">
                <a:latin typeface="Calibir"/>
              </a:rPr>
              <a:t>Admin → can view students, group by grade, PASS/FAIL lists, remove students, clear data.</a:t>
            </a:r>
          </a:p>
        </p:txBody>
      </p:sp>
    </p:spTree>
    <p:extLst>
      <p:ext uri="{BB962C8B-B14F-4D97-AF65-F5344CB8AC3E}">
        <p14:creationId xmlns:p14="http://schemas.microsoft.com/office/powerpoint/2010/main" val="2062874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1000"/>
                                        <p:tgtEl>
                                          <p:spTgt spid="7">
                                            <p:txEl>
                                              <p:pRg st="1" end="1"/>
                                            </p:txEl>
                                          </p:spTgt>
                                        </p:tgtEl>
                                      </p:cBhvr>
                                    </p:animEffect>
                                    <p:anim calcmode="lin" valueType="num">
                                      <p:cBhvr>
                                        <p:cTn id="8"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1000"/>
                                        <p:tgtEl>
                                          <p:spTgt spid="7">
                                            <p:txEl>
                                              <p:pRg st="2" end="2"/>
                                            </p:txEl>
                                          </p:spTgt>
                                        </p:tgtEl>
                                      </p:cBhvr>
                                    </p:animEffect>
                                    <p:anim calcmode="lin" valueType="num">
                                      <p:cBhvr>
                                        <p:cTn id="13"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1000"/>
                                        <p:tgtEl>
                                          <p:spTgt spid="7">
                                            <p:txEl>
                                              <p:pRg st="3" end="3"/>
                                            </p:txEl>
                                          </p:spTgt>
                                        </p:tgtEl>
                                      </p:cBhvr>
                                    </p:animEffect>
                                    <p:anim calcmode="lin" valueType="num">
                                      <p:cBhvr>
                                        <p:cTn id="18"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7">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1000"/>
                                        <p:tgtEl>
                                          <p:spTgt spid="7">
                                            <p:txEl>
                                              <p:pRg st="4" end="4"/>
                                            </p:txEl>
                                          </p:spTgt>
                                        </p:tgtEl>
                                      </p:cBhvr>
                                    </p:animEffect>
                                    <p:anim calcmode="lin" valueType="num">
                                      <p:cBhvr>
                                        <p:cTn id="2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7">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animEffect transition="in" filter="fade">
                                      <p:cBhvr>
                                        <p:cTn id="27" dur="1000"/>
                                        <p:tgtEl>
                                          <p:spTgt spid="7">
                                            <p:txEl>
                                              <p:pRg st="5" end="5"/>
                                            </p:txEl>
                                          </p:spTgt>
                                        </p:tgtEl>
                                      </p:cBhvr>
                                    </p:animEffect>
                                    <p:anim calcmode="lin" valueType="num">
                                      <p:cBhvr>
                                        <p:cTn id="28"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C83EE5-F9EB-490A-B17C-047F91CF763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147579E-CC99-16EF-6B55-676280D888B2}"/>
              </a:ext>
            </a:extLst>
          </p:cNvPr>
          <p:cNvSpPr>
            <a:spLocks noGrp="1"/>
          </p:cNvSpPr>
          <p:nvPr>
            <p:ph type="title"/>
          </p:nvPr>
        </p:nvSpPr>
        <p:spPr>
          <a:xfrm>
            <a:off x="0" y="0"/>
            <a:ext cx="12192000" cy="613318"/>
          </a:xfrm>
        </p:spPr>
        <p:txBody>
          <a:bodyPr anchor="b">
            <a:normAutofit/>
          </a:bodyPr>
          <a:lstStyle/>
          <a:p>
            <a:r>
              <a:rPr lang="en-US" sz="3300" b="1" dirty="0">
                <a:latin typeface="Calibir"/>
              </a:rPr>
              <a:t>Group Assignment – Part 1: Password Rules – Clarified</a:t>
            </a:r>
            <a:endParaRPr lang="en-AU" sz="3300" b="1" dirty="0">
              <a:latin typeface="Calibir"/>
            </a:endParaRPr>
          </a:p>
        </p:txBody>
      </p:sp>
      <p:sp>
        <p:nvSpPr>
          <p:cNvPr id="7" name="TextBox 6">
            <a:extLst>
              <a:ext uri="{FF2B5EF4-FFF2-40B4-BE49-F238E27FC236}">
                <a16:creationId xmlns:a16="http://schemas.microsoft.com/office/drawing/2014/main" id="{E86C34AA-0CF8-2D21-1CEB-DC000B897DED}"/>
              </a:ext>
            </a:extLst>
          </p:cNvPr>
          <p:cNvSpPr txBox="1"/>
          <p:nvPr/>
        </p:nvSpPr>
        <p:spPr>
          <a:xfrm>
            <a:off x="0" y="725215"/>
            <a:ext cx="12023834" cy="1964512"/>
          </a:xfrm>
          <a:prstGeom prst="rect">
            <a:avLst/>
          </a:prstGeom>
          <a:noFill/>
        </p:spPr>
        <p:txBody>
          <a:bodyPr wrap="square">
            <a:spAutoFit/>
          </a:bodyPr>
          <a:lstStyle/>
          <a:p>
            <a:pPr>
              <a:lnSpc>
                <a:spcPct val="150000"/>
              </a:lnSpc>
            </a:pPr>
            <a:r>
              <a:rPr lang="en-US" sz="2800" dirty="0">
                <a:latin typeface="Calibir"/>
              </a:rPr>
              <a:t>So:</a:t>
            </a:r>
          </a:p>
          <a:p>
            <a:pPr marL="742950" lvl="1" indent="-285750">
              <a:lnSpc>
                <a:spcPct val="150000"/>
              </a:lnSpc>
              <a:buFont typeface="Arial" panose="020B0604020202020204" pitchFamily="34" charset="0"/>
              <a:buChar char="•"/>
            </a:pPr>
            <a:r>
              <a:rPr lang="en-US" sz="2800" dirty="0">
                <a:latin typeface="Calibir"/>
              </a:rPr>
              <a:t>Actor = “who uses the system”.</a:t>
            </a:r>
          </a:p>
          <a:p>
            <a:pPr marL="742950" lvl="1" indent="-285750">
              <a:lnSpc>
                <a:spcPct val="150000"/>
              </a:lnSpc>
              <a:buFont typeface="Arial" panose="020B0604020202020204" pitchFamily="34" charset="0"/>
              <a:buChar char="•"/>
            </a:pPr>
            <a:r>
              <a:rPr lang="en-US" sz="2800" dirty="0">
                <a:latin typeface="Calibir"/>
              </a:rPr>
              <a:t>Use case = “what they can do in the system.”</a:t>
            </a:r>
          </a:p>
        </p:txBody>
      </p:sp>
    </p:spTree>
    <p:extLst>
      <p:ext uri="{BB962C8B-B14F-4D97-AF65-F5344CB8AC3E}">
        <p14:creationId xmlns:p14="http://schemas.microsoft.com/office/powerpoint/2010/main" val="15615607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FD58A-0D4D-E3CB-A95D-49FBB7116595}"/>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9760A38-19A7-0057-F9F3-0FE97FB09403}"/>
              </a:ext>
            </a:extLst>
          </p:cNvPr>
          <p:cNvSpPr>
            <a:spLocks noGrp="1"/>
          </p:cNvSpPr>
          <p:nvPr>
            <p:ph type="title"/>
          </p:nvPr>
        </p:nvSpPr>
        <p:spPr>
          <a:xfrm>
            <a:off x="0" y="0"/>
            <a:ext cx="12192000" cy="613318"/>
          </a:xfrm>
        </p:spPr>
        <p:txBody>
          <a:bodyPr anchor="b">
            <a:normAutofit/>
          </a:bodyPr>
          <a:lstStyle/>
          <a:p>
            <a:r>
              <a:rPr lang="en-US" sz="3300" b="1" dirty="0">
                <a:latin typeface="Calibir"/>
              </a:rPr>
              <a:t>Group Assignment – Part 1: Password Rules – Clarified</a:t>
            </a:r>
            <a:endParaRPr lang="en-AU" sz="3300" b="1" dirty="0">
              <a:latin typeface="Calibir"/>
            </a:endParaRPr>
          </a:p>
        </p:txBody>
      </p:sp>
      <p:sp>
        <p:nvSpPr>
          <p:cNvPr id="7" name="TextBox 6">
            <a:extLst>
              <a:ext uri="{FF2B5EF4-FFF2-40B4-BE49-F238E27FC236}">
                <a16:creationId xmlns:a16="http://schemas.microsoft.com/office/drawing/2014/main" id="{21B98881-BF8C-A754-EEC6-C5144CE7446B}"/>
              </a:ext>
            </a:extLst>
          </p:cNvPr>
          <p:cNvSpPr txBox="1"/>
          <p:nvPr/>
        </p:nvSpPr>
        <p:spPr>
          <a:xfrm>
            <a:off x="0" y="479893"/>
            <a:ext cx="12023834" cy="2974660"/>
          </a:xfrm>
          <a:prstGeom prst="rect">
            <a:avLst/>
          </a:prstGeom>
          <a:noFill/>
        </p:spPr>
        <p:txBody>
          <a:bodyPr wrap="square">
            <a:spAutoFit/>
          </a:bodyPr>
          <a:lstStyle/>
          <a:p>
            <a:pPr>
              <a:lnSpc>
                <a:spcPct val="150000"/>
              </a:lnSpc>
            </a:pPr>
            <a:r>
              <a:rPr lang="en-US" sz="2550" b="1" dirty="0">
                <a:latin typeface="Calibir"/>
              </a:rPr>
              <a:t>2. If students register, will they manually pick a unit or automatically system will </a:t>
            </a:r>
            <a:r>
              <a:rPr lang="en-US" sz="2550" b="1" dirty="0" err="1">
                <a:latin typeface="Calibir"/>
              </a:rPr>
              <a:t>enrol</a:t>
            </a:r>
            <a:r>
              <a:rPr lang="en-US" sz="2550" b="1" dirty="0">
                <a:latin typeface="Calibir"/>
              </a:rPr>
              <a:t> them?</a:t>
            </a:r>
          </a:p>
          <a:p>
            <a:pPr marL="457200" indent="-457200">
              <a:lnSpc>
                <a:spcPct val="150000"/>
              </a:lnSpc>
              <a:buFont typeface="Arial" panose="020B0604020202020204" pitchFamily="34" charset="0"/>
              <a:buChar char="•"/>
            </a:pPr>
            <a:r>
              <a:rPr lang="en-US" sz="2550" dirty="0">
                <a:latin typeface="Calibir"/>
              </a:rPr>
              <a:t>According to the brief:</a:t>
            </a:r>
          </a:p>
          <a:p>
            <a:pPr>
              <a:lnSpc>
                <a:spcPct val="150000"/>
              </a:lnSpc>
            </a:pPr>
            <a:r>
              <a:rPr lang="en-US" sz="2550" dirty="0">
                <a:latin typeface="Calibir"/>
              </a:rPr>
              <a:t>“Students do not need to select a specific subject when enrolling, a new subject will be added automatically…”</a:t>
            </a:r>
          </a:p>
        </p:txBody>
      </p:sp>
      <p:pic>
        <p:nvPicPr>
          <p:cNvPr id="3" name="Picture 2">
            <a:extLst>
              <a:ext uri="{FF2B5EF4-FFF2-40B4-BE49-F238E27FC236}">
                <a16:creationId xmlns:a16="http://schemas.microsoft.com/office/drawing/2014/main" id="{F0ED8617-9070-892B-09D3-CBCBAD85364C}"/>
              </a:ext>
            </a:extLst>
          </p:cNvPr>
          <p:cNvPicPr>
            <a:picLocks noChangeAspect="1"/>
          </p:cNvPicPr>
          <p:nvPr/>
        </p:nvPicPr>
        <p:blipFill>
          <a:blip r:embed="rId2"/>
          <a:srcRect l="12256" t="29675" r="61860" b="41382"/>
          <a:stretch>
            <a:fillRect/>
          </a:stretch>
        </p:blipFill>
        <p:spPr>
          <a:xfrm>
            <a:off x="3754145" y="3011219"/>
            <a:ext cx="8437855" cy="2653599"/>
          </a:xfrm>
          <a:prstGeom prst="rect">
            <a:avLst/>
          </a:prstGeom>
          <a:ln w="38100">
            <a:solidFill>
              <a:srgbClr val="FF0000"/>
            </a:solidFill>
          </a:ln>
        </p:spPr>
      </p:pic>
    </p:spTree>
    <p:extLst>
      <p:ext uri="{BB962C8B-B14F-4D97-AF65-F5344CB8AC3E}">
        <p14:creationId xmlns:p14="http://schemas.microsoft.com/office/powerpoint/2010/main" val="1656169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1000"/>
                                        <p:tgtEl>
                                          <p:spTgt spid="7">
                                            <p:txEl>
                                              <p:pRg st="1" end="1"/>
                                            </p:txEl>
                                          </p:spTgt>
                                        </p:tgtEl>
                                      </p:cBhvr>
                                    </p:animEffect>
                                    <p:anim calcmode="lin" valueType="num">
                                      <p:cBhvr>
                                        <p:cTn id="8"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1000"/>
                                        <p:tgtEl>
                                          <p:spTgt spid="7">
                                            <p:txEl>
                                              <p:pRg st="2" end="2"/>
                                            </p:txEl>
                                          </p:spTgt>
                                        </p:tgtEl>
                                      </p:cBhvr>
                                    </p:animEffect>
                                    <p:anim calcmode="lin" valueType="num">
                                      <p:cBhvr>
                                        <p:cTn id="13"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4481A-989B-3195-6F82-BBE49A86EE8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5B0D2E8-1391-9A3D-578C-6124D4C9FF53}"/>
              </a:ext>
            </a:extLst>
          </p:cNvPr>
          <p:cNvSpPr>
            <a:spLocks noGrp="1"/>
          </p:cNvSpPr>
          <p:nvPr>
            <p:ph type="title"/>
          </p:nvPr>
        </p:nvSpPr>
        <p:spPr>
          <a:xfrm>
            <a:off x="0" y="0"/>
            <a:ext cx="12192000" cy="613318"/>
          </a:xfrm>
        </p:spPr>
        <p:txBody>
          <a:bodyPr anchor="b">
            <a:normAutofit/>
          </a:bodyPr>
          <a:lstStyle/>
          <a:p>
            <a:r>
              <a:rPr lang="en-US" sz="3300" b="1" dirty="0">
                <a:latin typeface="Calibir"/>
              </a:rPr>
              <a:t>Group Assignment – Part 1: Password Rules – Clarified</a:t>
            </a:r>
            <a:endParaRPr lang="en-AU" sz="3300" b="1" dirty="0">
              <a:latin typeface="Calibir"/>
            </a:endParaRPr>
          </a:p>
        </p:txBody>
      </p:sp>
      <p:sp>
        <p:nvSpPr>
          <p:cNvPr id="7" name="TextBox 6">
            <a:extLst>
              <a:ext uri="{FF2B5EF4-FFF2-40B4-BE49-F238E27FC236}">
                <a16:creationId xmlns:a16="http://schemas.microsoft.com/office/drawing/2014/main" id="{43125841-1B64-9F51-6A04-6FCBD922DEE2}"/>
              </a:ext>
            </a:extLst>
          </p:cNvPr>
          <p:cNvSpPr txBox="1"/>
          <p:nvPr/>
        </p:nvSpPr>
        <p:spPr>
          <a:xfrm>
            <a:off x="0" y="816982"/>
            <a:ext cx="12023834" cy="5329151"/>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550" dirty="0">
                <a:latin typeface="Calibir"/>
              </a:rPr>
              <a:t>This means:</a:t>
            </a:r>
          </a:p>
          <a:p>
            <a:pPr marL="914400" lvl="1" indent="-457200">
              <a:lnSpc>
                <a:spcPct val="150000"/>
              </a:lnSpc>
              <a:buFont typeface="Arial" panose="020B0604020202020204" pitchFamily="34" charset="0"/>
              <a:buChar char="•"/>
            </a:pPr>
            <a:r>
              <a:rPr lang="en-US" sz="2550" dirty="0">
                <a:latin typeface="Calibir"/>
              </a:rPr>
              <a:t>The system automatically generates a subject with an auto ID (3 digits).</a:t>
            </a:r>
          </a:p>
          <a:p>
            <a:pPr marL="914400" lvl="1" indent="-457200">
              <a:lnSpc>
                <a:spcPct val="150000"/>
              </a:lnSpc>
              <a:buFont typeface="Arial" panose="020B0604020202020204" pitchFamily="34" charset="0"/>
              <a:buChar char="•"/>
            </a:pPr>
            <a:r>
              <a:rPr lang="en-US" sz="2550" dirty="0">
                <a:latin typeface="Calibir"/>
              </a:rPr>
              <a:t>It also gives the student a random mark (25–100) and then assigns a grade (Z, P, C, D, HD).</a:t>
            </a:r>
          </a:p>
          <a:p>
            <a:pPr marL="914400" lvl="1" indent="-457200">
              <a:lnSpc>
                <a:spcPct val="150000"/>
              </a:lnSpc>
              <a:buFont typeface="Arial" panose="020B0604020202020204" pitchFamily="34" charset="0"/>
              <a:buChar char="•"/>
            </a:pPr>
            <a:r>
              <a:rPr lang="en-US" sz="2550" dirty="0">
                <a:latin typeface="Calibir"/>
              </a:rPr>
              <a:t>So students do not </a:t>
            </a:r>
            <a:br>
              <a:rPr lang="en-US" sz="2550" dirty="0">
                <a:latin typeface="Calibir"/>
              </a:rPr>
            </a:br>
            <a:r>
              <a:rPr lang="en-US" sz="2550" dirty="0">
                <a:latin typeface="Calibir"/>
              </a:rPr>
              <a:t>manually choose </a:t>
            </a:r>
            <a:br>
              <a:rPr lang="en-US" sz="2550" dirty="0">
                <a:latin typeface="Calibir"/>
              </a:rPr>
            </a:br>
            <a:r>
              <a:rPr lang="en-US" sz="2550" dirty="0">
                <a:latin typeface="Calibir"/>
              </a:rPr>
              <a:t>subjects.</a:t>
            </a:r>
          </a:p>
          <a:p>
            <a:pPr>
              <a:lnSpc>
                <a:spcPct val="150000"/>
              </a:lnSpc>
            </a:pPr>
            <a:r>
              <a:rPr lang="en-US" sz="2550" dirty="0">
                <a:latin typeface="Calibir"/>
              </a:rPr>
              <a:t>They just click “</a:t>
            </a:r>
            <a:r>
              <a:rPr lang="en-US" sz="2550" dirty="0" err="1">
                <a:latin typeface="Calibir"/>
              </a:rPr>
              <a:t>enrol</a:t>
            </a:r>
            <a:r>
              <a:rPr lang="en-US" sz="2550" dirty="0">
                <a:latin typeface="Calibir"/>
              </a:rPr>
              <a:t>”, and </a:t>
            </a:r>
            <a:br>
              <a:rPr lang="en-US" sz="2550" dirty="0">
                <a:latin typeface="Calibir"/>
              </a:rPr>
            </a:br>
            <a:r>
              <a:rPr lang="en-US" sz="2550" dirty="0">
                <a:latin typeface="Calibir"/>
              </a:rPr>
              <a:t>the system adds a subject for them.</a:t>
            </a:r>
          </a:p>
        </p:txBody>
      </p:sp>
      <p:pic>
        <p:nvPicPr>
          <p:cNvPr id="2" name="Picture 1">
            <a:extLst>
              <a:ext uri="{FF2B5EF4-FFF2-40B4-BE49-F238E27FC236}">
                <a16:creationId xmlns:a16="http://schemas.microsoft.com/office/drawing/2014/main" id="{1FC81AE2-AB1D-2B9F-1E12-FAC7E80F9E5C}"/>
              </a:ext>
            </a:extLst>
          </p:cNvPr>
          <p:cNvPicPr>
            <a:picLocks noChangeAspect="1"/>
          </p:cNvPicPr>
          <p:nvPr/>
        </p:nvPicPr>
        <p:blipFill>
          <a:blip r:embed="rId2"/>
          <a:srcRect l="12256" t="29675" r="61860" b="41382"/>
          <a:stretch>
            <a:fillRect/>
          </a:stretch>
        </p:blipFill>
        <p:spPr>
          <a:xfrm>
            <a:off x="3754145" y="3011219"/>
            <a:ext cx="8437855" cy="2653599"/>
          </a:xfrm>
          <a:prstGeom prst="rect">
            <a:avLst/>
          </a:prstGeom>
          <a:ln w="38100">
            <a:solidFill>
              <a:srgbClr val="FF0000"/>
            </a:solidFill>
          </a:ln>
        </p:spPr>
      </p:pic>
    </p:spTree>
    <p:extLst>
      <p:ext uri="{BB962C8B-B14F-4D97-AF65-F5344CB8AC3E}">
        <p14:creationId xmlns:p14="http://schemas.microsoft.com/office/powerpoint/2010/main" val="40596083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DD11-E4EC-2EDC-7778-0EA95B27A3F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A1A5C74-829B-252C-B5EB-CE1D97E73DFA}"/>
              </a:ext>
            </a:extLst>
          </p:cNvPr>
          <p:cNvSpPr>
            <a:spLocks noGrp="1"/>
          </p:cNvSpPr>
          <p:nvPr>
            <p:ph type="title"/>
          </p:nvPr>
        </p:nvSpPr>
        <p:spPr>
          <a:xfrm>
            <a:off x="0" y="0"/>
            <a:ext cx="12192000" cy="613318"/>
          </a:xfrm>
        </p:spPr>
        <p:txBody>
          <a:bodyPr anchor="b">
            <a:normAutofit/>
          </a:bodyPr>
          <a:lstStyle/>
          <a:p>
            <a:r>
              <a:rPr lang="en-US" sz="3300" b="1" dirty="0">
                <a:latin typeface="Calibir"/>
              </a:rPr>
              <a:t>Group Assignment – Part 1: Password Rules – Clarified</a:t>
            </a:r>
            <a:endParaRPr lang="en-AU" sz="3300" b="1" dirty="0">
              <a:latin typeface="Calibir"/>
            </a:endParaRPr>
          </a:p>
        </p:txBody>
      </p:sp>
      <p:sp>
        <p:nvSpPr>
          <p:cNvPr id="7" name="TextBox 6">
            <a:extLst>
              <a:ext uri="{FF2B5EF4-FFF2-40B4-BE49-F238E27FC236}">
                <a16:creationId xmlns:a16="http://schemas.microsoft.com/office/drawing/2014/main" id="{5968CC31-36BC-634E-AF69-3B1AC7DB854B}"/>
              </a:ext>
            </a:extLst>
          </p:cNvPr>
          <p:cNvSpPr txBox="1"/>
          <p:nvPr/>
        </p:nvSpPr>
        <p:spPr>
          <a:xfrm>
            <a:off x="0" y="816982"/>
            <a:ext cx="12023834" cy="2610843"/>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b="1" dirty="0">
                <a:latin typeface="Calibir"/>
              </a:rPr>
              <a:t>In short,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Actors = Student + Admin.</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Students don’t choose subjects manually; the system auto-</a:t>
            </a:r>
            <a:r>
              <a:rPr lang="en-US" altLang="en-US" sz="2800" dirty="0" err="1">
                <a:latin typeface="Calibir"/>
              </a:rPr>
              <a:t>enrols</a:t>
            </a:r>
            <a:r>
              <a:rPr lang="en-US" altLang="en-US" sz="2800" dirty="0">
                <a:latin typeface="Calibir"/>
              </a:rPr>
              <a:t> them when they select </a:t>
            </a:r>
            <a:r>
              <a:rPr lang="en-US" altLang="en-US" sz="2800" dirty="0" err="1">
                <a:latin typeface="Calibir"/>
              </a:rPr>
              <a:t>enrol</a:t>
            </a:r>
            <a:r>
              <a:rPr lang="en-US" altLang="en-US" sz="2800" dirty="0">
                <a:latin typeface="Calibir"/>
              </a:rPr>
              <a:t>.</a:t>
            </a:r>
          </a:p>
        </p:txBody>
      </p:sp>
      <p:pic>
        <p:nvPicPr>
          <p:cNvPr id="2" name="Picture 1">
            <a:extLst>
              <a:ext uri="{FF2B5EF4-FFF2-40B4-BE49-F238E27FC236}">
                <a16:creationId xmlns:a16="http://schemas.microsoft.com/office/drawing/2014/main" id="{702853F9-6E8A-E125-A738-CFF3FAFBAD07}"/>
              </a:ext>
            </a:extLst>
          </p:cNvPr>
          <p:cNvPicPr>
            <a:picLocks noChangeAspect="1"/>
          </p:cNvPicPr>
          <p:nvPr/>
        </p:nvPicPr>
        <p:blipFill>
          <a:blip r:embed="rId2"/>
          <a:srcRect l="12256" t="29675" r="61860" b="41382"/>
          <a:stretch>
            <a:fillRect/>
          </a:stretch>
        </p:blipFill>
        <p:spPr>
          <a:xfrm>
            <a:off x="3754145" y="3011219"/>
            <a:ext cx="8437855" cy="2653599"/>
          </a:xfrm>
          <a:prstGeom prst="rect">
            <a:avLst/>
          </a:prstGeom>
          <a:ln w="38100">
            <a:solidFill>
              <a:srgbClr val="FF0000"/>
            </a:solidFill>
          </a:ln>
        </p:spPr>
      </p:pic>
    </p:spTree>
    <p:extLst>
      <p:ext uri="{BB962C8B-B14F-4D97-AF65-F5344CB8AC3E}">
        <p14:creationId xmlns:p14="http://schemas.microsoft.com/office/powerpoint/2010/main" val="30444459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2A8C7-6992-3DE3-5215-DA420B13E14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D9E7E18-4F4A-A094-9679-9F2BD4C95390}"/>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5B7FBDEE-2D42-6643-5C80-CCFB5E8E4714}"/>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6B789D03-E49A-6B0E-8C11-82EAEB12D1BC}"/>
              </a:ext>
            </a:extLst>
          </p:cNvPr>
          <p:cNvSpPr txBox="1"/>
          <p:nvPr/>
        </p:nvSpPr>
        <p:spPr>
          <a:xfrm>
            <a:off x="9807676" y="1616247"/>
            <a:ext cx="2197511" cy="3903504"/>
          </a:xfrm>
          <a:prstGeom prst="rect">
            <a:avLst/>
          </a:prstGeom>
          <a:noFill/>
        </p:spPr>
        <p:txBody>
          <a:bodyPr wrap="square">
            <a:spAutoFit/>
          </a:bodyPr>
          <a:lstStyle/>
          <a:p>
            <a:pPr>
              <a:lnSpc>
                <a:spcPct val="150000"/>
              </a:lnSpc>
            </a:pPr>
            <a:r>
              <a:rPr lang="en-US" sz="2800" b="1" dirty="0">
                <a:highlight>
                  <a:srgbClr val="FFFF00"/>
                </a:highlight>
                <a:latin typeface="Calibir"/>
              </a:rPr>
              <a:t>1. import re</a:t>
            </a:r>
            <a:br>
              <a:rPr lang="en-US" sz="2800" dirty="0">
                <a:latin typeface="Calibir"/>
              </a:rPr>
            </a:br>
            <a:r>
              <a:rPr lang="en-US" sz="2800" dirty="0">
                <a:latin typeface="Calibir"/>
              </a:rPr>
              <a:t>Loads Python’s regular expression module.</a:t>
            </a:r>
          </a:p>
        </p:txBody>
      </p:sp>
      <p:sp>
        <p:nvSpPr>
          <p:cNvPr id="14" name="Rectangle: Rounded Corners 13">
            <a:extLst>
              <a:ext uri="{FF2B5EF4-FFF2-40B4-BE49-F238E27FC236}">
                <a16:creationId xmlns:a16="http://schemas.microsoft.com/office/drawing/2014/main" id="{A1B3BD5E-EDE4-BE2C-9FAE-9DABC5B3A627}"/>
              </a:ext>
            </a:extLst>
          </p:cNvPr>
          <p:cNvSpPr/>
          <p:nvPr/>
        </p:nvSpPr>
        <p:spPr>
          <a:xfrm>
            <a:off x="0" y="1401094"/>
            <a:ext cx="2035277" cy="35396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56CF4DD9-9B51-27E4-9609-C324C54A45CC}"/>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p>
        </p:txBody>
      </p:sp>
    </p:spTree>
    <p:extLst>
      <p:ext uri="{BB962C8B-B14F-4D97-AF65-F5344CB8AC3E}">
        <p14:creationId xmlns:p14="http://schemas.microsoft.com/office/powerpoint/2010/main" val="261928642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18B73-6F81-6AB7-8717-FC42B03C3CF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FF7A493-791C-1C00-09BF-1A28E725C01B}"/>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9D15A95C-ED46-C0D3-A527-C2B924F1A9E4}"/>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40C203C4-E152-D6F9-CB30-6F3BCB509367}"/>
              </a:ext>
            </a:extLst>
          </p:cNvPr>
          <p:cNvSpPr txBox="1"/>
          <p:nvPr/>
        </p:nvSpPr>
        <p:spPr>
          <a:xfrm>
            <a:off x="9807676" y="228190"/>
            <a:ext cx="2384324" cy="6641690"/>
          </a:xfrm>
          <a:prstGeom prst="rect">
            <a:avLst/>
          </a:prstGeom>
          <a:noFill/>
        </p:spPr>
        <p:txBody>
          <a:bodyPr wrap="square">
            <a:spAutoFit/>
          </a:bodyPr>
          <a:lstStyle/>
          <a:p>
            <a:pPr lvl="0" eaLnBrk="0" fontAlgn="base" hangingPunct="0">
              <a:lnSpc>
                <a:spcPct val="150000"/>
              </a:lnSpc>
              <a:spcBef>
                <a:spcPct val="0"/>
              </a:spcBef>
              <a:spcAft>
                <a:spcPct val="0"/>
              </a:spcAft>
            </a:pPr>
            <a:r>
              <a:rPr lang="en-US" sz="2200" b="1" dirty="0">
                <a:highlight>
                  <a:srgbClr val="FFFF00"/>
                </a:highlight>
                <a:latin typeface="Calibir"/>
              </a:rPr>
              <a:t>2. Patterns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 start; $ end → match the whole string</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[\w.\-]+ → one or more letters/digits/underscore/dot/hyphen before @</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@university\.com → literal domain (the dot is escaped)</a:t>
            </a:r>
          </a:p>
        </p:txBody>
      </p:sp>
      <p:sp>
        <p:nvSpPr>
          <p:cNvPr id="14" name="Rectangle: Rounded Corners 13">
            <a:extLst>
              <a:ext uri="{FF2B5EF4-FFF2-40B4-BE49-F238E27FC236}">
                <a16:creationId xmlns:a16="http://schemas.microsoft.com/office/drawing/2014/main" id="{CB08654B-999F-FDB1-545E-D2A6358F94B4}"/>
              </a:ext>
            </a:extLst>
          </p:cNvPr>
          <p:cNvSpPr/>
          <p:nvPr/>
        </p:nvSpPr>
        <p:spPr>
          <a:xfrm>
            <a:off x="-2" y="1755058"/>
            <a:ext cx="5707628" cy="57518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CB1E0F61-2DA0-FFD2-6B4C-6C660BE87488}"/>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4224067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A55F4-C476-2267-100B-B770EF9DDE3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8D30403-F057-8511-11A0-7D133FECDFBA}"/>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AA737974-7696-7CD8-6B42-8C93AC9D2717}"/>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99FAD95B-5493-F94C-EB0F-42803C8AC7FC}"/>
              </a:ext>
            </a:extLst>
          </p:cNvPr>
          <p:cNvSpPr txBox="1"/>
          <p:nvPr/>
        </p:nvSpPr>
        <p:spPr>
          <a:xfrm>
            <a:off x="9807676" y="0"/>
            <a:ext cx="2384324" cy="695767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Start with one uppercase [A-Z]</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Then ≥4 letters [A-Za-z]{4,} → total letters ≥5</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Then ≥3 digits \d{3,}</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Anchored with ^ and $</a:t>
            </a:r>
          </a:p>
        </p:txBody>
      </p:sp>
      <p:sp>
        <p:nvSpPr>
          <p:cNvPr id="14" name="Rectangle: Rounded Corners 13">
            <a:extLst>
              <a:ext uri="{FF2B5EF4-FFF2-40B4-BE49-F238E27FC236}">
                <a16:creationId xmlns:a16="http://schemas.microsoft.com/office/drawing/2014/main" id="{CE8547BB-8948-7A3F-807F-27D5610D826C}"/>
              </a:ext>
            </a:extLst>
          </p:cNvPr>
          <p:cNvSpPr/>
          <p:nvPr/>
        </p:nvSpPr>
        <p:spPr>
          <a:xfrm>
            <a:off x="-2" y="2300748"/>
            <a:ext cx="9719190" cy="6194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1C7327F0-FD14-8D05-D6D1-20CB744E8AA6}"/>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44815520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96121-14D2-7B93-7BF8-21CDF420814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A4E97B0-F2F0-C357-930C-A073997EB84D}"/>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52A96B00-AB4F-FB11-9B3B-7FD4F07C4523}"/>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5394B218-FC28-8EC5-F174-5E48B8AF69F2}"/>
              </a:ext>
            </a:extLst>
          </p:cNvPr>
          <p:cNvSpPr txBox="1"/>
          <p:nvPr/>
        </p:nvSpPr>
        <p:spPr>
          <a:xfrm>
            <a:off x="9807676" y="0"/>
            <a:ext cx="2384324" cy="3257174"/>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b="1" dirty="0">
                <a:latin typeface="Calibir"/>
              </a:rPr>
              <a:t>3. Validators</a:t>
            </a:r>
          </a:p>
          <a:p>
            <a:pPr lvl="0" eaLnBrk="0" fontAlgn="base" hangingPunct="0">
              <a:lnSpc>
                <a:spcPct val="150000"/>
              </a:lnSpc>
              <a:spcBef>
                <a:spcPct val="0"/>
              </a:spcBef>
              <a:spcAft>
                <a:spcPct val="0"/>
              </a:spcAft>
            </a:pPr>
            <a:r>
              <a:rPr lang="en-US" sz="2800" dirty="0">
                <a:latin typeface="Calibir"/>
              </a:rPr>
              <a:t>Return True/False depending on pattern match.</a:t>
            </a:r>
            <a:endParaRPr lang="en-US" altLang="en-US" sz="2800" dirty="0">
              <a:latin typeface="Calibir"/>
            </a:endParaRPr>
          </a:p>
        </p:txBody>
      </p:sp>
      <p:sp>
        <p:nvSpPr>
          <p:cNvPr id="14" name="Rectangle: Rounded Corners 13">
            <a:extLst>
              <a:ext uri="{FF2B5EF4-FFF2-40B4-BE49-F238E27FC236}">
                <a16:creationId xmlns:a16="http://schemas.microsoft.com/office/drawing/2014/main" id="{1248388B-4ACE-62B0-69DD-5F0F9AA90DB5}"/>
              </a:ext>
            </a:extLst>
          </p:cNvPr>
          <p:cNvSpPr/>
          <p:nvPr/>
        </p:nvSpPr>
        <p:spPr>
          <a:xfrm>
            <a:off x="-2" y="2899423"/>
            <a:ext cx="9719190" cy="3157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DE39F51D-2CB2-DDA8-978A-A7D047CE1118}"/>
              </a:ext>
            </a:extLst>
          </p:cNvPr>
          <p:cNvSpPr/>
          <p:nvPr/>
        </p:nvSpPr>
        <p:spPr>
          <a:xfrm>
            <a:off x="-2" y="3744507"/>
            <a:ext cx="9719190" cy="3157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itle 1">
            <a:extLst>
              <a:ext uri="{FF2B5EF4-FFF2-40B4-BE49-F238E27FC236}">
                <a16:creationId xmlns:a16="http://schemas.microsoft.com/office/drawing/2014/main" id="{7AADA02C-0411-0AAF-119E-BA1EEBF71614}"/>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0335514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148CE-D9C3-FE0F-DDFD-9F094692EBD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33DE91E-36CA-5D8F-628E-05BF6CCA0F9D}"/>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D19EB2D2-B71B-B675-C4AC-F864E063652C}"/>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0C10C594-0DEC-34A8-0DBF-ECC7DA065640}"/>
              </a:ext>
            </a:extLst>
          </p:cNvPr>
          <p:cNvSpPr txBox="1"/>
          <p:nvPr/>
        </p:nvSpPr>
        <p:spPr>
          <a:xfrm>
            <a:off x="9807676" y="-5614"/>
            <a:ext cx="2384324" cy="3907095"/>
          </a:xfrm>
          <a:prstGeom prst="rect">
            <a:avLst/>
          </a:prstGeom>
          <a:noFill/>
        </p:spPr>
        <p:txBody>
          <a:bodyPr wrap="square">
            <a:spAutoFit/>
          </a:bodyPr>
          <a:lstStyle/>
          <a:p>
            <a:pPr lvl="0" eaLnBrk="0" fontAlgn="base" hangingPunct="0">
              <a:lnSpc>
                <a:spcPct val="150000"/>
              </a:lnSpc>
              <a:spcBef>
                <a:spcPct val="0"/>
              </a:spcBef>
              <a:spcAft>
                <a:spcPct val="0"/>
              </a:spcAft>
            </a:pPr>
            <a:r>
              <a:rPr lang="en-US" sz="2800" b="1" dirty="0">
                <a:latin typeface="Calibir"/>
              </a:rPr>
              <a:t>4.  Quick test</a:t>
            </a:r>
            <a:br>
              <a:rPr lang="en-US" sz="2800" dirty="0">
                <a:latin typeface="Calibir"/>
              </a:rPr>
            </a:br>
            <a:r>
              <a:rPr lang="en-US" sz="2800" dirty="0">
                <a:latin typeface="Calibir"/>
              </a:rPr>
              <a:t>Loops over sample emails/passwords and prints results.</a:t>
            </a:r>
            <a:endParaRPr lang="en-US" altLang="en-US" sz="2800" dirty="0">
              <a:latin typeface="Calibir"/>
            </a:endParaRPr>
          </a:p>
        </p:txBody>
      </p:sp>
      <p:sp>
        <p:nvSpPr>
          <p:cNvPr id="4" name="Rectangle: Rounded Corners 3">
            <a:extLst>
              <a:ext uri="{FF2B5EF4-FFF2-40B4-BE49-F238E27FC236}">
                <a16:creationId xmlns:a16="http://schemas.microsoft.com/office/drawing/2014/main" id="{FD9959F6-74BB-8FEC-E3F2-FBE2AA7322E4}"/>
              </a:ext>
            </a:extLst>
          </p:cNvPr>
          <p:cNvSpPr/>
          <p:nvPr/>
        </p:nvSpPr>
        <p:spPr>
          <a:xfrm>
            <a:off x="-2" y="4660095"/>
            <a:ext cx="9719190" cy="209466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02A31154-E406-5334-B2B0-E8E328F75D98}"/>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9334014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CEE21-5469-E498-9419-BEAEA0394A6C}"/>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A040189-5F1C-C405-CFF3-C4CAD63B290C}"/>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Results:</a:t>
            </a:r>
          </a:p>
        </p:txBody>
      </p:sp>
      <p:pic>
        <p:nvPicPr>
          <p:cNvPr id="9" name="Picture 8">
            <a:extLst>
              <a:ext uri="{FF2B5EF4-FFF2-40B4-BE49-F238E27FC236}">
                <a16:creationId xmlns:a16="http://schemas.microsoft.com/office/drawing/2014/main" id="{1D20BF2A-FC9E-1ED9-DF80-910FA4114356}"/>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pic>
        <p:nvPicPr>
          <p:cNvPr id="11" name="Picture 10">
            <a:extLst>
              <a:ext uri="{FF2B5EF4-FFF2-40B4-BE49-F238E27FC236}">
                <a16:creationId xmlns:a16="http://schemas.microsoft.com/office/drawing/2014/main" id="{34270EC1-F932-0242-6840-C48A67966B57}"/>
              </a:ext>
            </a:extLst>
          </p:cNvPr>
          <p:cNvPicPr>
            <a:picLocks noChangeAspect="1"/>
          </p:cNvPicPr>
          <p:nvPr/>
        </p:nvPicPr>
        <p:blipFill>
          <a:blip r:embed="rId3"/>
          <a:srcRect l="54073" t="24946" r="20765" b="55699"/>
          <a:stretch>
            <a:fillRect/>
          </a:stretch>
        </p:blipFill>
        <p:spPr>
          <a:xfrm>
            <a:off x="7020232" y="4632979"/>
            <a:ext cx="5142271" cy="2225021"/>
          </a:xfrm>
          <a:prstGeom prst="rect">
            <a:avLst/>
          </a:prstGeom>
          <a:ln w="38100">
            <a:solidFill>
              <a:srgbClr val="FF0000"/>
            </a:solidFill>
          </a:ln>
        </p:spPr>
      </p:pic>
      <p:sp>
        <p:nvSpPr>
          <p:cNvPr id="10" name="Title 1">
            <a:extLst>
              <a:ext uri="{FF2B5EF4-FFF2-40B4-BE49-F238E27FC236}">
                <a16:creationId xmlns:a16="http://schemas.microsoft.com/office/drawing/2014/main" id="{E730E0F6-850B-4EAD-6E4D-8B638458DFD7}"/>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42207715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513B8-E13A-5E3D-4FC7-FDD7353E7D1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3578E5F-2D1E-F891-E483-D96BDD101E86}"/>
              </a:ext>
            </a:extLst>
          </p:cNvPr>
          <p:cNvSpPr>
            <a:spLocks noChangeArrowheads="1"/>
          </p:cNvSpPr>
          <p:nvPr/>
        </p:nvSpPr>
        <p:spPr bwMode="auto">
          <a:xfrm>
            <a:off x="-29497" y="871919"/>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Allow student. Subdomain too</a:t>
            </a:r>
          </a:p>
          <a:p>
            <a:pPr>
              <a:lnSpc>
                <a:spcPct val="150000"/>
              </a:lnSpc>
            </a:pPr>
            <a:r>
              <a:rPr lang="en-US" sz="2800" dirty="0">
                <a:latin typeface="Calibir"/>
              </a:rPr>
              <a:t>Update the email rule so it accepts either </a:t>
            </a:r>
            <a:r>
              <a:rPr lang="en-US" sz="2800" dirty="0">
                <a:highlight>
                  <a:srgbClr val="FFFF00"/>
                </a:highlight>
                <a:latin typeface="Calibir"/>
              </a:rPr>
              <a:t>@university.com</a:t>
            </a:r>
            <a:r>
              <a:rPr lang="en-US" sz="2800" dirty="0">
                <a:latin typeface="Calibir"/>
              </a:rPr>
              <a:t> or </a:t>
            </a:r>
            <a:r>
              <a:rPr lang="en-US" sz="2800" dirty="0">
                <a:highlight>
                  <a:srgbClr val="FFFF00"/>
                </a:highlight>
                <a:latin typeface="Calibir"/>
              </a:rPr>
              <a:t>@student.university.com</a:t>
            </a:r>
            <a:r>
              <a:rPr lang="en-US" sz="2800" dirty="0">
                <a:latin typeface="Calibir"/>
              </a:rPr>
              <a:t>.</a:t>
            </a:r>
          </a:p>
        </p:txBody>
      </p:sp>
      <p:pic>
        <p:nvPicPr>
          <p:cNvPr id="5" name="Picture 4">
            <a:extLst>
              <a:ext uri="{FF2B5EF4-FFF2-40B4-BE49-F238E27FC236}">
                <a16:creationId xmlns:a16="http://schemas.microsoft.com/office/drawing/2014/main" id="{A9F742ED-2459-59BB-0D5A-8FC89AE5BB48}"/>
              </a:ext>
            </a:extLst>
          </p:cNvPr>
          <p:cNvPicPr>
            <a:picLocks noChangeAspect="1"/>
          </p:cNvPicPr>
          <p:nvPr/>
        </p:nvPicPr>
        <p:blipFill>
          <a:blip r:embed="rId4"/>
          <a:srcRect l="8346" t="11187" r="8913" b="51614"/>
          <a:stretch>
            <a:fillRect/>
          </a:stretch>
        </p:blipFill>
        <p:spPr>
          <a:xfrm>
            <a:off x="1" y="3111084"/>
            <a:ext cx="12191999" cy="3083239"/>
          </a:xfrm>
          <a:prstGeom prst="rect">
            <a:avLst/>
          </a:prstGeom>
        </p:spPr>
      </p:pic>
      <p:pic>
        <p:nvPicPr>
          <p:cNvPr id="4" name="Timer">
            <a:hlinkClick r:id="" action="ppaction://media"/>
            <a:extLst>
              <a:ext uri="{FF2B5EF4-FFF2-40B4-BE49-F238E27FC236}">
                <a16:creationId xmlns:a16="http://schemas.microsoft.com/office/drawing/2014/main" id="{147CAD8E-FD80-8E5F-40ED-0B331A36F629}"/>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408" t="44516" r="40718" b="39785"/>
          <a:stretch>
            <a:fillRect/>
          </a:stretch>
        </p:blipFill>
        <p:spPr>
          <a:xfrm>
            <a:off x="9861753" y="1854175"/>
            <a:ext cx="2300750" cy="1076632"/>
          </a:xfrm>
          <a:prstGeom prst="rect">
            <a:avLst/>
          </a:prstGeom>
          <a:ln w="38100">
            <a:solidFill>
              <a:srgbClr val="FF0000"/>
            </a:solidFill>
          </a:ln>
        </p:spPr>
      </p:pic>
      <p:sp>
        <p:nvSpPr>
          <p:cNvPr id="10" name="Title 1">
            <a:extLst>
              <a:ext uri="{FF2B5EF4-FFF2-40B4-BE49-F238E27FC236}">
                <a16:creationId xmlns:a16="http://schemas.microsoft.com/office/drawing/2014/main" id="{DA7D0218-F0F8-7911-2820-D3CEE2EFD457}"/>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666637119"/>
      </p:ext>
    </p:extLst>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57C45-16C3-7D3F-5ED5-22AFD7DD86F4}"/>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80AEB238-8BA6-99FC-D85F-84E272E44162}"/>
              </a:ext>
            </a:extLst>
          </p:cNvPr>
          <p:cNvPicPr>
            <a:picLocks noChangeAspect="1"/>
          </p:cNvPicPr>
          <p:nvPr/>
        </p:nvPicPr>
        <p:blipFill>
          <a:blip r:embed="rId2"/>
          <a:srcRect l="7863" r="7460" b="17144"/>
          <a:stretch>
            <a:fillRect/>
          </a:stretch>
        </p:blipFill>
        <p:spPr>
          <a:xfrm>
            <a:off x="0" y="73742"/>
            <a:ext cx="12192000" cy="6710516"/>
          </a:xfrm>
          <a:prstGeom prst="rect">
            <a:avLst/>
          </a:prstGeom>
        </p:spPr>
      </p:pic>
    </p:spTree>
    <p:extLst>
      <p:ext uri="{BB962C8B-B14F-4D97-AF65-F5344CB8AC3E}">
        <p14:creationId xmlns:p14="http://schemas.microsoft.com/office/powerpoint/2010/main" val="4191685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F1A9E-7BF5-323B-5264-443A2D2A3E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EC5720-1FDB-5606-216B-F83D2996E4B5}"/>
              </a:ext>
            </a:extLst>
          </p:cNvPr>
          <p:cNvSpPr>
            <a:spLocks noGrp="1"/>
          </p:cNvSpPr>
          <p:nvPr>
            <p:ph type="title"/>
          </p:nvPr>
        </p:nvSpPr>
        <p:spPr>
          <a:xfrm>
            <a:off x="0" y="1066912"/>
            <a:ext cx="12192000" cy="669415"/>
          </a:xfrm>
        </p:spPr>
        <p:txBody>
          <a:bodyPr anchor="b">
            <a:normAutofit/>
          </a:bodyPr>
          <a:lstStyle/>
          <a:p>
            <a:r>
              <a:rPr lang="en-US" sz="2800" b="1" dirty="0">
                <a:latin typeface="Calibir"/>
              </a:rPr>
              <a:t>Allow optional </a:t>
            </a:r>
            <a:r>
              <a:rPr lang="en-US" sz="2800" b="1" dirty="0">
                <a:highlight>
                  <a:srgbClr val="FFFF00"/>
                </a:highlight>
                <a:latin typeface="Calibir"/>
              </a:rPr>
              <a:t>- or _ </a:t>
            </a:r>
            <a:r>
              <a:rPr lang="en-US" sz="2800" b="1" dirty="0">
                <a:latin typeface="Calibir"/>
              </a:rPr>
              <a:t>before digits in password</a:t>
            </a:r>
            <a:endParaRPr lang="en-AU" sz="2800" b="1" dirty="0">
              <a:latin typeface="Calibir"/>
            </a:endParaRPr>
          </a:p>
        </p:txBody>
      </p:sp>
      <p:sp>
        <p:nvSpPr>
          <p:cNvPr id="4" name="TextBox 3">
            <a:extLst>
              <a:ext uri="{FF2B5EF4-FFF2-40B4-BE49-F238E27FC236}">
                <a16:creationId xmlns:a16="http://schemas.microsoft.com/office/drawing/2014/main" id="{2FF89BED-24CE-A7B9-95C1-D2563B71442D}"/>
              </a:ext>
            </a:extLst>
          </p:cNvPr>
          <p:cNvSpPr txBox="1"/>
          <p:nvPr/>
        </p:nvSpPr>
        <p:spPr>
          <a:xfrm>
            <a:off x="-113070" y="1905648"/>
            <a:ext cx="6209070" cy="523220"/>
          </a:xfrm>
          <a:prstGeom prst="rect">
            <a:avLst/>
          </a:prstGeom>
          <a:noFill/>
        </p:spPr>
        <p:txBody>
          <a:bodyPr wrap="square">
            <a:spAutoFit/>
          </a:bodyPr>
          <a:lstStyle/>
          <a:p>
            <a:r>
              <a:rPr lang="en-US" sz="2800" dirty="0">
                <a:latin typeface="Calibir"/>
              </a:rPr>
              <a:t>Change just the password regex line:</a:t>
            </a:r>
          </a:p>
        </p:txBody>
      </p:sp>
      <p:sp>
        <p:nvSpPr>
          <p:cNvPr id="6" name="TextBox 5">
            <a:extLst>
              <a:ext uri="{FF2B5EF4-FFF2-40B4-BE49-F238E27FC236}">
                <a16:creationId xmlns:a16="http://schemas.microsoft.com/office/drawing/2014/main" id="{95A21027-EC31-1412-F0A9-90B5DA6336CA}"/>
              </a:ext>
            </a:extLst>
          </p:cNvPr>
          <p:cNvSpPr txBox="1"/>
          <p:nvPr/>
        </p:nvSpPr>
        <p:spPr>
          <a:xfrm>
            <a:off x="0" y="2428868"/>
            <a:ext cx="12192000" cy="669414"/>
          </a:xfrm>
          <a:prstGeom prst="rect">
            <a:avLst/>
          </a:prstGeom>
          <a:solidFill>
            <a:schemeClr val="tx1"/>
          </a:solidFill>
        </p:spPr>
        <p:txBody>
          <a:bodyPr wrap="square">
            <a:spAutoFit/>
          </a:bodyPr>
          <a:lstStyle/>
          <a:p>
            <a:pPr>
              <a:lnSpc>
                <a:spcPct val="150000"/>
              </a:lnSpc>
              <a:buNone/>
            </a:pPr>
            <a:r>
              <a:rPr lang="pl-PL" sz="2800" b="0" dirty="0">
                <a:solidFill>
                  <a:srgbClr val="4FC1FF"/>
                </a:solidFill>
                <a:effectLst/>
                <a:latin typeface="Consolas" panose="020B0609020204030204" pitchFamily="49" charset="0"/>
              </a:rPr>
              <a:t>PWD_RE</a:t>
            </a:r>
            <a:r>
              <a:rPr lang="pl-PL" sz="2800" b="0" dirty="0">
                <a:solidFill>
                  <a:srgbClr val="CCCCCC"/>
                </a:solidFill>
                <a:effectLst/>
                <a:latin typeface="Consolas" panose="020B0609020204030204" pitchFamily="49" charset="0"/>
              </a:rPr>
              <a:t>   </a:t>
            </a:r>
            <a:r>
              <a:rPr lang="pl-PL" sz="2800" b="0" dirty="0">
                <a:solidFill>
                  <a:srgbClr val="D4D4D4"/>
                </a:solidFill>
                <a:effectLst/>
                <a:latin typeface="Consolas" panose="020B0609020204030204" pitchFamily="49" charset="0"/>
              </a:rPr>
              <a:t>=</a:t>
            </a:r>
            <a:r>
              <a:rPr lang="pl-PL" sz="2800" b="0" dirty="0">
                <a:solidFill>
                  <a:srgbClr val="CCCCCC"/>
                </a:solidFill>
                <a:effectLst/>
                <a:latin typeface="Consolas" panose="020B0609020204030204" pitchFamily="49" charset="0"/>
              </a:rPr>
              <a:t> </a:t>
            </a:r>
            <a:r>
              <a:rPr lang="pl-PL" sz="2800" b="0" dirty="0">
                <a:solidFill>
                  <a:srgbClr val="569CD6"/>
                </a:solidFill>
                <a:effectLst/>
                <a:latin typeface="Consolas" panose="020B0609020204030204" pitchFamily="49" charset="0"/>
              </a:rPr>
              <a:t>r</a:t>
            </a:r>
            <a:r>
              <a:rPr lang="pl-PL" sz="2800" b="0" dirty="0">
                <a:solidFill>
                  <a:srgbClr val="D16969"/>
                </a:solidFill>
                <a:effectLst/>
                <a:latin typeface="Consolas" panose="020B0609020204030204" pitchFamily="49" charset="0"/>
              </a:rPr>
              <a:t>'^</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A-Za-z</a:t>
            </a:r>
            <a:r>
              <a:rPr lang="pl-PL" sz="2800" b="0" dirty="0">
                <a:solidFill>
                  <a:srgbClr val="CE9178"/>
                </a:solidFill>
                <a:effectLst/>
                <a:latin typeface="Consolas" panose="020B0609020204030204" pitchFamily="49" charset="0"/>
              </a:rPr>
              <a:t>]</a:t>
            </a:r>
            <a:r>
              <a:rPr lang="pl-PL" sz="2800" b="0" dirty="0">
                <a:solidFill>
                  <a:srgbClr val="D7BA7D"/>
                </a:solidFill>
                <a:effectLst/>
                <a:latin typeface="Consolas" panose="020B0609020204030204" pitchFamily="49" charset="0"/>
              </a:rPr>
              <a:t>{4,}</a:t>
            </a:r>
            <a:r>
              <a:rPr lang="pl-PL" sz="2800" b="0" dirty="0">
                <a:solidFill>
                  <a:srgbClr val="D16969"/>
                </a:solidFill>
                <a:effectLst/>
                <a:latin typeface="Consolas" panose="020B0609020204030204" pitchFamily="49" charset="0"/>
              </a:rPr>
              <a:t>\d</a:t>
            </a:r>
            <a:r>
              <a:rPr lang="pl-PL" sz="2800" b="0" dirty="0">
                <a:solidFill>
                  <a:srgbClr val="D7BA7D"/>
                </a:solidFill>
                <a:effectLst/>
                <a:latin typeface="Consolas" panose="020B0609020204030204" pitchFamily="49" charset="0"/>
              </a:rPr>
              <a:t>{3,}</a:t>
            </a:r>
            <a:r>
              <a:rPr lang="pl-PL" sz="2800" b="0" dirty="0">
                <a:solidFill>
                  <a:srgbClr val="D16969"/>
                </a:solidFill>
                <a:effectLst/>
                <a:latin typeface="Consolas" panose="020B0609020204030204" pitchFamily="49" charset="0"/>
              </a:rPr>
              <a:t>$'</a:t>
            </a:r>
            <a:endParaRPr lang="pl-PL" sz="2800" b="0" dirty="0">
              <a:solidFill>
                <a:srgbClr val="CCCCCC"/>
              </a:solidFill>
              <a:effectLst/>
              <a:latin typeface="Consolas" panose="020B0609020204030204" pitchFamily="49" charset="0"/>
            </a:endParaRPr>
          </a:p>
        </p:txBody>
      </p:sp>
      <p:sp>
        <p:nvSpPr>
          <p:cNvPr id="8" name="TextBox 7">
            <a:extLst>
              <a:ext uri="{FF2B5EF4-FFF2-40B4-BE49-F238E27FC236}">
                <a16:creationId xmlns:a16="http://schemas.microsoft.com/office/drawing/2014/main" id="{528AF03B-714C-C1F0-1386-A25A40268B57}"/>
              </a:ext>
            </a:extLst>
          </p:cNvPr>
          <p:cNvSpPr txBox="1"/>
          <p:nvPr/>
        </p:nvSpPr>
        <p:spPr>
          <a:xfrm>
            <a:off x="0" y="3975240"/>
            <a:ext cx="12192000" cy="669414"/>
          </a:xfrm>
          <a:prstGeom prst="rect">
            <a:avLst/>
          </a:prstGeom>
          <a:solidFill>
            <a:schemeClr val="tx1"/>
          </a:solidFill>
        </p:spPr>
        <p:txBody>
          <a:bodyPr wrap="square">
            <a:spAutoFit/>
          </a:bodyPr>
          <a:lstStyle/>
          <a:p>
            <a:pPr>
              <a:lnSpc>
                <a:spcPct val="150000"/>
              </a:lnSpc>
              <a:buNone/>
            </a:pPr>
            <a:r>
              <a:rPr lang="pl-PL" sz="2800" b="0" dirty="0">
                <a:solidFill>
                  <a:srgbClr val="4FC1FF"/>
                </a:solidFill>
                <a:effectLst/>
                <a:latin typeface="Consolas" panose="020B0609020204030204" pitchFamily="49" charset="0"/>
              </a:rPr>
              <a:t>PWD_RE</a:t>
            </a:r>
            <a:r>
              <a:rPr lang="pl-PL" sz="2800" b="0" dirty="0">
                <a:solidFill>
                  <a:srgbClr val="CCCCCC"/>
                </a:solidFill>
                <a:effectLst/>
                <a:latin typeface="Consolas" panose="020B0609020204030204" pitchFamily="49" charset="0"/>
              </a:rPr>
              <a:t> </a:t>
            </a:r>
            <a:r>
              <a:rPr lang="pl-PL" sz="2800" b="0" dirty="0">
                <a:solidFill>
                  <a:srgbClr val="D4D4D4"/>
                </a:solidFill>
                <a:effectLst/>
                <a:latin typeface="Consolas" panose="020B0609020204030204" pitchFamily="49" charset="0"/>
              </a:rPr>
              <a:t>=</a:t>
            </a:r>
            <a:r>
              <a:rPr lang="pl-PL" sz="2800" b="0" dirty="0">
                <a:solidFill>
                  <a:srgbClr val="CCCCCC"/>
                </a:solidFill>
                <a:effectLst/>
                <a:latin typeface="Consolas" panose="020B0609020204030204" pitchFamily="49" charset="0"/>
              </a:rPr>
              <a:t> </a:t>
            </a:r>
            <a:r>
              <a:rPr lang="pl-PL" sz="2800" b="0" dirty="0">
                <a:solidFill>
                  <a:srgbClr val="569CD6"/>
                </a:solidFill>
                <a:effectLst/>
                <a:latin typeface="Consolas" panose="020B0609020204030204" pitchFamily="49" charset="0"/>
              </a:rPr>
              <a:t>r</a:t>
            </a:r>
            <a:r>
              <a:rPr lang="pl-PL" sz="2800" b="0" dirty="0">
                <a:solidFill>
                  <a:srgbClr val="D16969"/>
                </a:solidFill>
                <a:effectLst/>
                <a:latin typeface="Consolas" panose="020B0609020204030204" pitchFamily="49" charset="0"/>
              </a:rPr>
              <a:t>'^</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A-Za-z</a:t>
            </a:r>
            <a:r>
              <a:rPr lang="pl-PL" sz="2800" b="0" dirty="0">
                <a:solidFill>
                  <a:srgbClr val="CE9178"/>
                </a:solidFill>
                <a:effectLst/>
                <a:latin typeface="Consolas" panose="020B0609020204030204" pitchFamily="49" charset="0"/>
              </a:rPr>
              <a:t>]</a:t>
            </a:r>
            <a:r>
              <a:rPr lang="pl-PL" sz="2800" b="0" dirty="0">
                <a:solidFill>
                  <a:srgbClr val="D7BA7D"/>
                </a:solidFill>
                <a:effectLst/>
                <a:latin typeface="Consolas" panose="020B0609020204030204" pitchFamily="49" charset="0"/>
              </a:rPr>
              <a:t>{4,}</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-_</a:t>
            </a:r>
            <a:r>
              <a:rPr lang="pl-PL" sz="2800" b="0" dirty="0">
                <a:solidFill>
                  <a:srgbClr val="CE9178"/>
                </a:solidFill>
                <a:effectLst/>
                <a:latin typeface="Consolas" panose="020B0609020204030204" pitchFamily="49" charset="0"/>
              </a:rPr>
              <a:t>]</a:t>
            </a:r>
            <a:r>
              <a:rPr lang="pl-PL" sz="2800" b="0" dirty="0">
                <a:solidFill>
                  <a:srgbClr val="D7BA7D"/>
                </a:solidFill>
                <a:effectLst/>
                <a:latin typeface="Consolas" panose="020B0609020204030204" pitchFamily="49" charset="0"/>
              </a:rPr>
              <a:t>?</a:t>
            </a:r>
            <a:r>
              <a:rPr lang="pl-PL" sz="2800" b="0" dirty="0">
                <a:solidFill>
                  <a:srgbClr val="D16969"/>
                </a:solidFill>
                <a:effectLst/>
                <a:latin typeface="Consolas" panose="020B0609020204030204" pitchFamily="49" charset="0"/>
              </a:rPr>
              <a:t>\d</a:t>
            </a:r>
            <a:r>
              <a:rPr lang="pl-PL" sz="2800" b="0" dirty="0">
                <a:solidFill>
                  <a:srgbClr val="D7BA7D"/>
                </a:solidFill>
                <a:effectLst/>
                <a:latin typeface="Consolas" panose="020B0609020204030204" pitchFamily="49" charset="0"/>
              </a:rPr>
              <a:t>{3,}</a:t>
            </a:r>
            <a:r>
              <a:rPr lang="pl-PL" sz="2800" b="0" dirty="0">
                <a:solidFill>
                  <a:srgbClr val="D16969"/>
                </a:solidFill>
                <a:effectLst/>
                <a:latin typeface="Consolas" panose="020B0609020204030204" pitchFamily="49" charset="0"/>
              </a:rPr>
              <a:t>$'</a:t>
            </a:r>
            <a:endParaRPr lang="pl-PL" sz="2800" b="0" dirty="0">
              <a:solidFill>
                <a:srgbClr val="CCCCCC"/>
              </a:solidFill>
              <a:effectLst/>
              <a:latin typeface="Consolas" panose="020B0609020204030204" pitchFamily="49" charset="0"/>
            </a:endParaRPr>
          </a:p>
        </p:txBody>
      </p:sp>
      <p:cxnSp>
        <p:nvCxnSpPr>
          <p:cNvPr id="10" name="Connector: Elbow 9">
            <a:extLst>
              <a:ext uri="{FF2B5EF4-FFF2-40B4-BE49-F238E27FC236}">
                <a16:creationId xmlns:a16="http://schemas.microsoft.com/office/drawing/2014/main" id="{A53400AC-4E6A-0530-A0E5-3125A8A70762}"/>
              </a:ext>
            </a:extLst>
          </p:cNvPr>
          <p:cNvCxnSpPr>
            <a:cxnSpLocks/>
            <a:endCxn id="8" idx="0"/>
          </p:cNvCxnSpPr>
          <p:nvPr/>
        </p:nvCxnSpPr>
        <p:spPr>
          <a:xfrm rot="16200000" flipH="1">
            <a:off x="5256856" y="3136096"/>
            <a:ext cx="876958" cy="801329"/>
          </a:xfrm>
          <a:prstGeom prst="bentConnector3">
            <a:avLst>
              <a:gd name="adj1" fmla="val 50000"/>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13" name="Timer">
            <a:hlinkClick r:id="" action="ppaction://media"/>
            <a:extLst>
              <a:ext uri="{FF2B5EF4-FFF2-40B4-BE49-F238E27FC236}">
                <a16:creationId xmlns:a16="http://schemas.microsoft.com/office/drawing/2014/main" id="{28ED16FE-63F0-F48D-7F55-45B61DBB69D2}"/>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4945625" y="4983296"/>
            <a:ext cx="2300750" cy="1076632"/>
          </a:xfrm>
          <a:prstGeom prst="rect">
            <a:avLst/>
          </a:prstGeom>
          <a:ln w="38100">
            <a:solidFill>
              <a:srgbClr val="FF0000"/>
            </a:solidFill>
          </a:ln>
        </p:spPr>
      </p:pic>
      <p:sp>
        <p:nvSpPr>
          <p:cNvPr id="3" name="Title 1">
            <a:extLst>
              <a:ext uri="{FF2B5EF4-FFF2-40B4-BE49-F238E27FC236}">
                <a16:creationId xmlns:a16="http://schemas.microsoft.com/office/drawing/2014/main" id="{10E3255A-CD70-9285-B3F9-6DA0B63522ED}"/>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639002003"/>
      </p:ext>
    </p:extLst>
  </p:cSld>
  <p:clrMapOvr>
    <a:masterClrMapping/>
  </p:clrMapOvr>
  <p:timing>
    <p:tnLst>
      <p:par>
        <p:cTn id="1" dur="indefinite" restart="never" nodeType="tmRoot">
          <p:childTnLst>
            <p:video>
              <p:cMediaNode vol="80000">
                <p:cTn id="2" fill="hold" display="0">
                  <p:stCondLst>
                    <p:cond delay="indefinite"/>
                  </p:stCondLst>
                </p:cTn>
                <p:tgtEl>
                  <p:spTgt spid="13"/>
                </p:tgtEl>
              </p:cMediaNode>
            </p:video>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E2B45-44E4-F827-979C-0479E622BC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AE36A4-8D28-68CE-484A-55CBA5333CA1}"/>
              </a:ext>
            </a:extLst>
          </p:cNvPr>
          <p:cNvSpPr>
            <a:spLocks noGrp="1"/>
          </p:cNvSpPr>
          <p:nvPr>
            <p:ph type="title"/>
          </p:nvPr>
        </p:nvSpPr>
        <p:spPr>
          <a:xfrm>
            <a:off x="0" y="603614"/>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5" name="TextBox 4">
            <a:extLst>
              <a:ext uri="{FF2B5EF4-FFF2-40B4-BE49-F238E27FC236}">
                <a16:creationId xmlns:a16="http://schemas.microsoft.com/office/drawing/2014/main" id="{241112B4-FC3B-E129-7352-A32F6E0975D7}"/>
              </a:ext>
            </a:extLst>
          </p:cNvPr>
          <p:cNvSpPr txBox="1"/>
          <p:nvPr/>
        </p:nvSpPr>
        <p:spPr>
          <a:xfrm>
            <a:off x="0" y="1267896"/>
            <a:ext cx="12021014" cy="2161104"/>
          </a:xfrm>
          <a:prstGeom prst="rect">
            <a:avLst/>
          </a:prstGeom>
          <a:noFill/>
        </p:spPr>
        <p:txBody>
          <a:bodyPr wrap="square">
            <a:spAutoFit/>
          </a:bodyPr>
          <a:lstStyle/>
          <a:p>
            <a:pPr marL="514350" indent="-514350">
              <a:lnSpc>
                <a:spcPct val="150000"/>
              </a:lnSpc>
              <a:buFont typeface="+mj-lt"/>
              <a:buAutoNum type="arabicPeriod"/>
            </a:pPr>
            <a:r>
              <a:rPr lang="en-US" sz="2300" dirty="0">
                <a:latin typeface="Calibir"/>
              </a:rPr>
              <a:t>Write a function (grade(mark)) that takes a numeric mark and returns a grade (Z, P, C, D, HD) based on the mark range.</a:t>
            </a:r>
          </a:p>
          <a:p>
            <a:pPr marL="514350" indent="-514350">
              <a:lnSpc>
                <a:spcPct val="150000"/>
              </a:lnSpc>
              <a:buFont typeface="+mj-lt"/>
              <a:buAutoNum type="arabicPeriod"/>
            </a:pPr>
            <a:r>
              <a:rPr lang="en-US" sz="2300" dirty="0">
                <a:latin typeface="Calibir"/>
              </a:rPr>
              <a:t>Generate a random mark between 25 and 100 using </a:t>
            </a:r>
            <a:r>
              <a:rPr lang="en-US" sz="2300" dirty="0" err="1">
                <a:latin typeface="Calibir"/>
              </a:rPr>
              <a:t>randint</a:t>
            </a:r>
            <a:r>
              <a:rPr lang="en-US" sz="2300" dirty="0">
                <a:latin typeface="Calibir"/>
              </a:rPr>
              <a:t>.</a:t>
            </a:r>
          </a:p>
          <a:p>
            <a:pPr marL="514350" indent="-514350">
              <a:lnSpc>
                <a:spcPct val="150000"/>
              </a:lnSpc>
              <a:buFont typeface="+mj-lt"/>
              <a:buAutoNum type="arabicPeriod"/>
            </a:pPr>
            <a:r>
              <a:rPr lang="en-US" sz="2300" dirty="0">
                <a:latin typeface="Calibir"/>
              </a:rPr>
              <a:t>Generate a random student ID (padded with zeros to 3 digits).</a:t>
            </a:r>
          </a:p>
        </p:txBody>
      </p:sp>
      <p:sp>
        <p:nvSpPr>
          <p:cNvPr id="6" name="TextBox 5">
            <a:extLst>
              <a:ext uri="{FF2B5EF4-FFF2-40B4-BE49-F238E27FC236}">
                <a16:creationId xmlns:a16="http://schemas.microsoft.com/office/drawing/2014/main" id="{DC040AE5-75E2-F6A9-59C1-514633F0CEC1}"/>
              </a:ext>
            </a:extLst>
          </p:cNvPr>
          <p:cNvSpPr txBox="1"/>
          <p:nvPr/>
        </p:nvSpPr>
        <p:spPr>
          <a:xfrm>
            <a:off x="0" y="3340791"/>
            <a:ext cx="12021014" cy="2692019"/>
          </a:xfrm>
          <a:prstGeom prst="rect">
            <a:avLst/>
          </a:prstGeom>
          <a:noFill/>
        </p:spPr>
        <p:txBody>
          <a:bodyPr wrap="square">
            <a:spAutoFit/>
          </a:bodyPr>
          <a:lstStyle/>
          <a:p>
            <a:pPr marL="514350" indent="-514350">
              <a:lnSpc>
                <a:spcPct val="150000"/>
              </a:lnSpc>
              <a:buFont typeface="+mj-lt"/>
              <a:buAutoNum type="arabicPeriod" startAt="4"/>
            </a:pPr>
            <a:r>
              <a:rPr lang="en-US" sz="2300" dirty="0">
                <a:latin typeface="Calibir"/>
              </a:rPr>
              <a:t>Store the results in a dictionary with keys:</a:t>
            </a:r>
          </a:p>
          <a:p>
            <a:pPr marL="914400" lvl="1" indent="-457200">
              <a:lnSpc>
                <a:spcPct val="150000"/>
              </a:lnSpc>
              <a:buFont typeface="Arial" panose="020B0604020202020204" pitchFamily="34" charset="0"/>
              <a:buChar char="•"/>
            </a:pPr>
            <a:r>
              <a:rPr lang="en-US" sz="2300" dirty="0">
                <a:latin typeface="Calibir"/>
              </a:rPr>
              <a:t>"id" → the random student ID</a:t>
            </a:r>
          </a:p>
          <a:p>
            <a:pPr marL="914400" lvl="1" indent="-457200">
              <a:lnSpc>
                <a:spcPct val="150000"/>
              </a:lnSpc>
              <a:buFont typeface="Arial" panose="020B0604020202020204" pitchFamily="34" charset="0"/>
              <a:buChar char="•"/>
            </a:pPr>
            <a:r>
              <a:rPr lang="en-US" sz="2300" dirty="0">
                <a:latin typeface="Calibir"/>
              </a:rPr>
              <a:t>"mark" → the generated mark</a:t>
            </a:r>
          </a:p>
          <a:p>
            <a:pPr marL="914400" lvl="1" indent="-457200">
              <a:lnSpc>
                <a:spcPct val="150000"/>
              </a:lnSpc>
              <a:buFont typeface="Arial" panose="020B0604020202020204" pitchFamily="34" charset="0"/>
              <a:buChar char="•"/>
            </a:pPr>
            <a:r>
              <a:rPr lang="en-US" sz="2300" dirty="0">
                <a:latin typeface="Calibir"/>
              </a:rPr>
              <a:t>"grade" → the grade returned by the function</a:t>
            </a:r>
          </a:p>
          <a:p>
            <a:pPr marL="514350" indent="-514350">
              <a:lnSpc>
                <a:spcPct val="150000"/>
              </a:lnSpc>
              <a:buFont typeface="+mj-lt"/>
              <a:buAutoNum type="arabicPeriod" startAt="5"/>
            </a:pPr>
            <a:r>
              <a:rPr lang="en-US" sz="2300" dirty="0">
                <a:latin typeface="Calibir"/>
              </a:rPr>
              <a:t>Print the dictionary showing one student’s mark and grade.</a:t>
            </a:r>
          </a:p>
        </p:txBody>
      </p:sp>
      <p:pic>
        <p:nvPicPr>
          <p:cNvPr id="7" name="Timer">
            <a:hlinkClick r:id="" action="ppaction://media"/>
            <a:extLst>
              <a:ext uri="{FF2B5EF4-FFF2-40B4-BE49-F238E27FC236}">
                <a16:creationId xmlns:a16="http://schemas.microsoft.com/office/drawing/2014/main" id="{E8BCF29E-CDF1-8484-15E1-689BAD3E6EF2}"/>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7588464" y="3823569"/>
            <a:ext cx="2300750" cy="1076632"/>
          </a:xfrm>
          <a:prstGeom prst="rect">
            <a:avLst/>
          </a:prstGeom>
          <a:ln w="38100">
            <a:solidFill>
              <a:srgbClr val="FF0000"/>
            </a:solidFill>
          </a:ln>
        </p:spPr>
      </p:pic>
      <p:sp>
        <p:nvSpPr>
          <p:cNvPr id="9" name="TextBox 8">
            <a:extLst>
              <a:ext uri="{FF2B5EF4-FFF2-40B4-BE49-F238E27FC236}">
                <a16:creationId xmlns:a16="http://schemas.microsoft.com/office/drawing/2014/main" id="{B993442A-2118-FECA-ABDB-245C3202A87B}"/>
              </a:ext>
            </a:extLst>
          </p:cNvPr>
          <p:cNvSpPr txBox="1"/>
          <p:nvPr/>
        </p:nvSpPr>
        <p:spPr>
          <a:xfrm>
            <a:off x="0" y="5957895"/>
            <a:ext cx="12192000" cy="880369"/>
          </a:xfrm>
          <a:prstGeom prst="rect">
            <a:avLst/>
          </a:prstGeom>
          <a:noFill/>
        </p:spPr>
        <p:txBody>
          <a:bodyPr wrap="square">
            <a:spAutoFit/>
          </a:bodyPr>
          <a:lstStyle/>
          <a:p>
            <a:pPr>
              <a:lnSpc>
                <a:spcPct val="150000"/>
              </a:lnSpc>
            </a:pPr>
            <a:r>
              <a:rPr lang="en-US" dirty="0">
                <a:latin typeface="Calibir"/>
              </a:rPr>
              <a:t>In short, write a Python program that assigns a random mark to a student, calculates the grade, and prints the student’s ID, mark, and grade</a:t>
            </a:r>
          </a:p>
        </p:txBody>
      </p:sp>
      <p:sp>
        <p:nvSpPr>
          <p:cNvPr id="3" name="Title 1">
            <a:extLst>
              <a:ext uri="{FF2B5EF4-FFF2-40B4-BE49-F238E27FC236}">
                <a16:creationId xmlns:a16="http://schemas.microsoft.com/office/drawing/2014/main" id="{2E96C640-4F3E-EB4D-1243-5A6B363496F7}"/>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704487026"/>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4367B-2C16-5B04-81BE-71A749D87E60}"/>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7E19A9C0-BB75-2E41-164F-537769F0AF4E}"/>
              </a:ext>
            </a:extLst>
          </p:cNvPr>
          <p:cNvPicPr>
            <a:picLocks noChangeAspect="1"/>
          </p:cNvPicPr>
          <p:nvPr/>
        </p:nvPicPr>
        <p:blipFill>
          <a:blip r:embed="rId2"/>
          <a:srcRect l="8133" t="20722" r="7741" b="29479"/>
          <a:stretch>
            <a:fillRect/>
          </a:stretch>
        </p:blipFill>
        <p:spPr>
          <a:xfrm>
            <a:off x="0" y="1336133"/>
            <a:ext cx="12192000" cy="4059635"/>
          </a:xfrm>
          <a:prstGeom prst="rect">
            <a:avLst/>
          </a:prstGeom>
        </p:spPr>
      </p:pic>
      <p:sp>
        <p:nvSpPr>
          <p:cNvPr id="14" name="TextBox 13">
            <a:extLst>
              <a:ext uri="{FF2B5EF4-FFF2-40B4-BE49-F238E27FC236}">
                <a16:creationId xmlns:a16="http://schemas.microsoft.com/office/drawing/2014/main" id="{C330A143-860C-FF8F-598D-866FCAE7B553}"/>
              </a:ext>
            </a:extLst>
          </p:cNvPr>
          <p:cNvSpPr txBox="1"/>
          <p:nvPr/>
        </p:nvSpPr>
        <p:spPr>
          <a:xfrm>
            <a:off x="108155" y="5395768"/>
            <a:ext cx="11975690" cy="671851"/>
          </a:xfrm>
          <a:prstGeom prst="rect">
            <a:avLst/>
          </a:prstGeom>
          <a:noFill/>
        </p:spPr>
        <p:txBody>
          <a:bodyPr wrap="square">
            <a:spAutoFit/>
          </a:bodyPr>
          <a:lstStyle/>
          <a:p>
            <a:pPr>
              <a:lnSpc>
                <a:spcPct val="150000"/>
              </a:lnSpc>
            </a:pPr>
            <a:r>
              <a:rPr lang="en-US" sz="2800" dirty="0">
                <a:latin typeface="Calibir"/>
              </a:rPr>
              <a:t>Imports </a:t>
            </a:r>
            <a:r>
              <a:rPr lang="en-US" sz="2800" dirty="0" err="1">
                <a:latin typeface="Calibir"/>
              </a:rPr>
              <a:t>randint</a:t>
            </a:r>
            <a:r>
              <a:rPr lang="en-US" sz="2800" dirty="0">
                <a:latin typeface="Calibir"/>
              </a:rPr>
              <a:t>(a, b) to make random integers including both ends.</a:t>
            </a:r>
          </a:p>
        </p:txBody>
      </p:sp>
      <p:sp>
        <p:nvSpPr>
          <p:cNvPr id="15" name="Rectangle: Rounded Corners 14">
            <a:extLst>
              <a:ext uri="{FF2B5EF4-FFF2-40B4-BE49-F238E27FC236}">
                <a16:creationId xmlns:a16="http://schemas.microsoft.com/office/drawing/2014/main" id="{DC98D152-5263-5A24-2FBB-87857293E246}"/>
              </a:ext>
            </a:extLst>
          </p:cNvPr>
          <p:cNvSpPr/>
          <p:nvPr/>
        </p:nvSpPr>
        <p:spPr>
          <a:xfrm>
            <a:off x="0" y="1336133"/>
            <a:ext cx="4970206" cy="52216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DF3CA20D-C574-02AA-C850-4624770A38D5}"/>
              </a:ext>
            </a:extLst>
          </p:cNvPr>
          <p:cNvSpPr>
            <a:spLocks noGrp="1"/>
          </p:cNvSpPr>
          <p:nvPr>
            <p:ph type="title"/>
          </p:nvPr>
        </p:nvSpPr>
        <p:spPr>
          <a:xfrm>
            <a:off x="0" y="603614"/>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815E5BD9-A8B5-1F9A-BB91-E2D2CBCBF507}"/>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24732581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AE012-52EF-54F7-75F0-8E4B0104196B}"/>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F1422A8-912E-5D27-03FB-46809221C7F7}"/>
              </a:ext>
            </a:extLst>
          </p:cNvPr>
          <p:cNvPicPr>
            <a:picLocks noChangeAspect="1"/>
          </p:cNvPicPr>
          <p:nvPr/>
        </p:nvPicPr>
        <p:blipFill>
          <a:blip r:embed="rId2"/>
          <a:srcRect l="8133" t="20722" r="7741" b="29479"/>
          <a:stretch>
            <a:fillRect/>
          </a:stretch>
        </p:blipFill>
        <p:spPr>
          <a:xfrm>
            <a:off x="0" y="1336133"/>
            <a:ext cx="12192000" cy="4059635"/>
          </a:xfrm>
          <a:prstGeom prst="rect">
            <a:avLst/>
          </a:prstGeom>
        </p:spPr>
      </p:pic>
      <p:sp>
        <p:nvSpPr>
          <p:cNvPr id="14" name="TextBox 13">
            <a:extLst>
              <a:ext uri="{FF2B5EF4-FFF2-40B4-BE49-F238E27FC236}">
                <a16:creationId xmlns:a16="http://schemas.microsoft.com/office/drawing/2014/main" id="{6BA4513A-045B-0A12-E823-4F8AE4DDBF66}"/>
              </a:ext>
            </a:extLst>
          </p:cNvPr>
          <p:cNvSpPr txBox="1"/>
          <p:nvPr/>
        </p:nvSpPr>
        <p:spPr>
          <a:xfrm>
            <a:off x="108155" y="5395768"/>
            <a:ext cx="11975690" cy="1318181"/>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function that turns a numeric mark into a grade using the required bands:</a:t>
            </a:r>
          </a:p>
          <a:p>
            <a:pPr marL="914400" lvl="1" indent="-457200">
              <a:lnSpc>
                <a:spcPct val="150000"/>
              </a:lnSpc>
              <a:buFont typeface="Arial" panose="020B0604020202020204" pitchFamily="34" charset="0"/>
              <a:buChar char="•"/>
            </a:pPr>
            <a:r>
              <a:rPr lang="en-US" sz="2800" dirty="0">
                <a:latin typeface="Calibir"/>
              </a:rPr>
              <a:t>&lt;50 → Z, 50–64 → P, 65–74 → C, 75–84 → D, ≥85 → HD.</a:t>
            </a:r>
          </a:p>
        </p:txBody>
      </p:sp>
      <p:sp>
        <p:nvSpPr>
          <p:cNvPr id="15" name="Rectangle: Rounded Corners 14">
            <a:extLst>
              <a:ext uri="{FF2B5EF4-FFF2-40B4-BE49-F238E27FC236}">
                <a16:creationId xmlns:a16="http://schemas.microsoft.com/office/drawing/2014/main" id="{FBF0F1DA-C024-1A53-68C6-D6257448E4A6}"/>
              </a:ext>
            </a:extLst>
          </p:cNvPr>
          <p:cNvSpPr/>
          <p:nvPr/>
        </p:nvSpPr>
        <p:spPr>
          <a:xfrm>
            <a:off x="0" y="2280028"/>
            <a:ext cx="12192000" cy="114897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ABDB623C-EE63-DDB4-9627-9A08E7909B39}"/>
              </a:ext>
            </a:extLst>
          </p:cNvPr>
          <p:cNvSpPr>
            <a:spLocks noGrp="1"/>
          </p:cNvSpPr>
          <p:nvPr>
            <p:ph type="title"/>
          </p:nvPr>
        </p:nvSpPr>
        <p:spPr>
          <a:xfrm>
            <a:off x="0" y="603614"/>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A1AC3356-3192-74E7-B989-A5EF5F189C50}"/>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8594775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D4AC7-5530-6213-E618-9A8EC8A31E18}"/>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093A5513-C570-041C-8C50-8FFC25D36342}"/>
              </a:ext>
            </a:extLst>
          </p:cNvPr>
          <p:cNvPicPr>
            <a:picLocks noChangeAspect="1"/>
          </p:cNvPicPr>
          <p:nvPr/>
        </p:nvPicPr>
        <p:blipFill>
          <a:blip r:embed="rId2"/>
          <a:srcRect l="8133" t="20722" r="7741" b="29479"/>
          <a:stretch>
            <a:fillRect/>
          </a:stretch>
        </p:blipFill>
        <p:spPr>
          <a:xfrm>
            <a:off x="0" y="1336133"/>
            <a:ext cx="12192000" cy="4059635"/>
          </a:xfrm>
          <a:prstGeom prst="rect">
            <a:avLst/>
          </a:prstGeom>
        </p:spPr>
      </p:pic>
      <p:sp>
        <p:nvSpPr>
          <p:cNvPr id="14" name="TextBox 13">
            <a:extLst>
              <a:ext uri="{FF2B5EF4-FFF2-40B4-BE49-F238E27FC236}">
                <a16:creationId xmlns:a16="http://schemas.microsoft.com/office/drawing/2014/main" id="{20329A1B-C980-72C3-C4AD-097FE25DFA21}"/>
              </a:ext>
            </a:extLst>
          </p:cNvPr>
          <p:cNvSpPr txBox="1"/>
          <p:nvPr/>
        </p:nvSpPr>
        <p:spPr>
          <a:xfrm>
            <a:off x="108155" y="5395768"/>
            <a:ext cx="11975690" cy="675441"/>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Picks one random mark from 25 to 100.</a:t>
            </a:r>
          </a:p>
        </p:txBody>
      </p:sp>
      <p:sp>
        <p:nvSpPr>
          <p:cNvPr id="15" name="Rectangle: Rounded Corners 14">
            <a:extLst>
              <a:ext uri="{FF2B5EF4-FFF2-40B4-BE49-F238E27FC236}">
                <a16:creationId xmlns:a16="http://schemas.microsoft.com/office/drawing/2014/main" id="{2D0EA56E-A65E-9484-B47B-AFADBE0C98AC}"/>
              </a:ext>
            </a:extLst>
          </p:cNvPr>
          <p:cNvSpPr/>
          <p:nvPr/>
        </p:nvSpPr>
        <p:spPr>
          <a:xfrm>
            <a:off x="0" y="3952567"/>
            <a:ext cx="12192000" cy="44245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56062223-DE71-6511-E43E-75A13A938BDB}"/>
              </a:ext>
            </a:extLst>
          </p:cNvPr>
          <p:cNvSpPr>
            <a:spLocks noGrp="1"/>
          </p:cNvSpPr>
          <p:nvPr>
            <p:ph type="title"/>
          </p:nvPr>
        </p:nvSpPr>
        <p:spPr>
          <a:xfrm>
            <a:off x="0" y="603614"/>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B1316803-C762-3FD8-6FC9-9F001B9F5331}"/>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20285419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BC31F-B20E-BF52-F272-B60B92A72DA6}"/>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082EC6D9-C61A-2A67-D7D8-5E7E796D8A13}"/>
              </a:ext>
            </a:extLst>
          </p:cNvPr>
          <p:cNvPicPr>
            <a:picLocks noChangeAspect="1"/>
          </p:cNvPicPr>
          <p:nvPr/>
        </p:nvPicPr>
        <p:blipFill>
          <a:blip r:embed="rId2"/>
          <a:srcRect l="8133" t="20722" r="7741" b="29479"/>
          <a:stretch>
            <a:fillRect/>
          </a:stretch>
        </p:blipFill>
        <p:spPr>
          <a:xfrm>
            <a:off x="0" y="1100158"/>
            <a:ext cx="12192000" cy="4059635"/>
          </a:xfrm>
          <a:prstGeom prst="rect">
            <a:avLst/>
          </a:prstGeom>
        </p:spPr>
      </p:pic>
      <p:sp>
        <p:nvSpPr>
          <p:cNvPr id="14" name="TextBox 13">
            <a:extLst>
              <a:ext uri="{FF2B5EF4-FFF2-40B4-BE49-F238E27FC236}">
                <a16:creationId xmlns:a16="http://schemas.microsoft.com/office/drawing/2014/main" id="{870620F0-0FDE-2916-027E-5CD139D76214}"/>
              </a:ext>
            </a:extLst>
          </p:cNvPr>
          <p:cNvSpPr txBox="1"/>
          <p:nvPr/>
        </p:nvSpPr>
        <p:spPr>
          <a:xfrm>
            <a:off x="0" y="5146634"/>
            <a:ext cx="11975690" cy="171136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latin typeface="Calibir"/>
              </a:rPr>
              <a:t>Creates a small record (a Python </a:t>
            </a:r>
            <a:r>
              <a:rPr lang="en-US" dirty="0" err="1">
                <a:latin typeface="Calibir"/>
              </a:rPr>
              <a:t>dict</a:t>
            </a:r>
            <a:r>
              <a:rPr lang="en-US" dirty="0">
                <a:latin typeface="Calibir"/>
              </a:rPr>
              <a:t>) for one subject:</a:t>
            </a:r>
          </a:p>
          <a:p>
            <a:pPr marL="742950" lvl="1" indent="-285750">
              <a:lnSpc>
                <a:spcPct val="150000"/>
              </a:lnSpc>
              <a:buFont typeface="Arial" panose="020B0604020202020204" pitchFamily="34" charset="0"/>
              <a:buChar char="•"/>
            </a:pPr>
            <a:r>
              <a:rPr lang="en-US" dirty="0">
                <a:latin typeface="Calibir"/>
              </a:rPr>
              <a:t>"id" is a random number 1..999, padded to 3 digits like "007".</a:t>
            </a:r>
          </a:p>
          <a:p>
            <a:pPr marL="742950" lvl="1" indent="-285750">
              <a:lnSpc>
                <a:spcPct val="150000"/>
              </a:lnSpc>
              <a:buFont typeface="Arial" panose="020B0604020202020204" pitchFamily="34" charset="0"/>
              <a:buChar char="•"/>
            </a:pPr>
            <a:r>
              <a:rPr lang="en-US" dirty="0">
                <a:latin typeface="Calibir"/>
              </a:rPr>
              <a:t>"mark" is the number above.</a:t>
            </a:r>
          </a:p>
          <a:p>
            <a:pPr marL="742950" lvl="1" indent="-285750">
              <a:lnSpc>
                <a:spcPct val="150000"/>
              </a:lnSpc>
              <a:buFont typeface="Arial" panose="020B0604020202020204" pitchFamily="34" charset="0"/>
              <a:buChar char="•"/>
            </a:pPr>
            <a:r>
              <a:rPr lang="en-US" dirty="0">
                <a:latin typeface="Calibir"/>
              </a:rPr>
              <a:t>"grade" is computed by calling grade(mark).</a:t>
            </a:r>
          </a:p>
        </p:txBody>
      </p:sp>
      <p:sp>
        <p:nvSpPr>
          <p:cNvPr id="15" name="Rectangle: Rounded Corners 14">
            <a:extLst>
              <a:ext uri="{FF2B5EF4-FFF2-40B4-BE49-F238E27FC236}">
                <a16:creationId xmlns:a16="http://schemas.microsoft.com/office/drawing/2014/main" id="{358471D5-55CB-A03B-C7C5-E9A37AAE35F8}"/>
              </a:ext>
            </a:extLst>
          </p:cNvPr>
          <p:cNvSpPr/>
          <p:nvPr/>
        </p:nvSpPr>
        <p:spPr>
          <a:xfrm>
            <a:off x="0" y="4089471"/>
            <a:ext cx="12192000" cy="70375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5BBF0E66-D4D2-BC16-0F69-E9F613F0DF0E}"/>
              </a:ext>
            </a:extLst>
          </p:cNvPr>
          <p:cNvSpPr>
            <a:spLocks noGrp="1"/>
          </p:cNvSpPr>
          <p:nvPr>
            <p:ph type="title"/>
          </p:nvPr>
        </p:nvSpPr>
        <p:spPr>
          <a:xfrm>
            <a:off x="0" y="478455"/>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CC671D44-77F7-4B65-004E-DBBF330B8F67}"/>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95445414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34CFE-02DE-EDC6-74D7-CBF4ADA23460}"/>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2F2AE8EC-61F3-E4FA-05A3-5C3111E421A0}"/>
              </a:ext>
            </a:extLst>
          </p:cNvPr>
          <p:cNvPicPr>
            <a:picLocks noChangeAspect="1"/>
          </p:cNvPicPr>
          <p:nvPr/>
        </p:nvPicPr>
        <p:blipFill>
          <a:blip r:embed="rId2"/>
          <a:srcRect l="8133" t="20722" r="7741" b="29479"/>
          <a:stretch>
            <a:fillRect/>
          </a:stretch>
        </p:blipFill>
        <p:spPr>
          <a:xfrm>
            <a:off x="0" y="1100158"/>
            <a:ext cx="12192000" cy="4059635"/>
          </a:xfrm>
          <a:prstGeom prst="rect">
            <a:avLst/>
          </a:prstGeom>
        </p:spPr>
      </p:pic>
      <p:sp>
        <p:nvSpPr>
          <p:cNvPr id="14" name="TextBox 13">
            <a:extLst>
              <a:ext uri="{FF2B5EF4-FFF2-40B4-BE49-F238E27FC236}">
                <a16:creationId xmlns:a16="http://schemas.microsoft.com/office/drawing/2014/main" id="{CEAD2E2A-C7B4-14AC-B859-42BAB4C535A8}"/>
              </a:ext>
            </a:extLst>
          </p:cNvPr>
          <p:cNvSpPr txBox="1"/>
          <p:nvPr/>
        </p:nvSpPr>
        <p:spPr>
          <a:xfrm>
            <a:off x="0" y="5146634"/>
            <a:ext cx="11975690" cy="67185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800" dirty="0">
                <a:latin typeface="Calibir"/>
              </a:rPr>
              <a:t>Prints something like: {'id': '087', 'mark': 78, 'grade': 'D'}.</a:t>
            </a:r>
          </a:p>
        </p:txBody>
      </p:sp>
      <p:sp>
        <p:nvSpPr>
          <p:cNvPr id="15" name="Rectangle: Rounded Corners 14">
            <a:extLst>
              <a:ext uri="{FF2B5EF4-FFF2-40B4-BE49-F238E27FC236}">
                <a16:creationId xmlns:a16="http://schemas.microsoft.com/office/drawing/2014/main" id="{4D7E6645-ED8B-A605-3FF1-3C7C4C846E21}"/>
              </a:ext>
            </a:extLst>
          </p:cNvPr>
          <p:cNvSpPr/>
          <p:nvPr/>
        </p:nvSpPr>
        <p:spPr>
          <a:xfrm>
            <a:off x="0" y="4837471"/>
            <a:ext cx="12192000" cy="28383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1F87A46B-31E3-7FD3-07A6-97EE51C71500}"/>
              </a:ext>
            </a:extLst>
          </p:cNvPr>
          <p:cNvSpPr>
            <a:spLocks noGrp="1"/>
          </p:cNvSpPr>
          <p:nvPr>
            <p:ph type="title"/>
          </p:nvPr>
        </p:nvSpPr>
        <p:spPr>
          <a:xfrm>
            <a:off x="0" y="435876"/>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7A6238BB-31BE-5D51-A338-75D3F8D1219B}"/>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8334037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55331-CCD2-6446-2B66-2ED08EFF34A1}"/>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E4635C1B-2DF4-514E-9CDB-B3C0035F4DFD}"/>
              </a:ext>
            </a:extLst>
          </p:cNvPr>
          <p:cNvPicPr>
            <a:picLocks noChangeAspect="1"/>
          </p:cNvPicPr>
          <p:nvPr/>
        </p:nvPicPr>
        <p:blipFill>
          <a:blip r:embed="rId2"/>
          <a:srcRect l="8133" t="20722" r="7741" b="29479"/>
          <a:stretch>
            <a:fillRect/>
          </a:stretch>
        </p:blipFill>
        <p:spPr>
          <a:xfrm>
            <a:off x="0" y="1721385"/>
            <a:ext cx="12192000" cy="4059635"/>
          </a:xfrm>
          <a:prstGeom prst="rect">
            <a:avLst/>
          </a:prstGeom>
        </p:spPr>
      </p:pic>
      <p:pic>
        <p:nvPicPr>
          <p:cNvPr id="12" name="Picture 11">
            <a:extLst>
              <a:ext uri="{FF2B5EF4-FFF2-40B4-BE49-F238E27FC236}">
                <a16:creationId xmlns:a16="http://schemas.microsoft.com/office/drawing/2014/main" id="{E4C6CA85-346E-A380-5337-AD86681AC37B}"/>
              </a:ext>
            </a:extLst>
          </p:cNvPr>
          <p:cNvPicPr>
            <a:picLocks noChangeAspect="1"/>
          </p:cNvPicPr>
          <p:nvPr/>
        </p:nvPicPr>
        <p:blipFill>
          <a:blip r:embed="rId3"/>
          <a:srcRect l="55161" t="30752" r="5041" b="56129"/>
          <a:stretch>
            <a:fillRect/>
          </a:stretch>
        </p:blipFill>
        <p:spPr>
          <a:xfrm>
            <a:off x="6383373" y="5781020"/>
            <a:ext cx="5808627" cy="1076980"/>
          </a:xfrm>
          <a:prstGeom prst="rect">
            <a:avLst/>
          </a:prstGeom>
        </p:spPr>
      </p:pic>
      <p:sp>
        <p:nvSpPr>
          <p:cNvPr id="5" name="Title 1">
            <a:extLst>
              <a:ext uri="{FF2B5EF4-FFF2-40B4-BE49-F238E27FC236}">
                <a16:creationId xmlns:a16="http://schemas.microsoft.com/office/drawing/2014/main" id="{6D6A6488-EA23-AF76-6007-4DB734FAA079}"/>
              </a:ext>
            </a:extLst>
          </p:cNvPr>
          <p:cNvSpPr>
            <a:spLocks noGrp="1"/>
          </p:cNvSpPr>
          <p:nvPr>
            <p:ph type="title"/>
          </p:nvPr>
        </p:nvSpPr>
        <p:spPr>
          <a:xfrm>
            <a:off x="0" y="435876"/>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3B5C3A73-5417-7CF7-5950-7B6446E88311}"/>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8715859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C2CF0-5702-4604-9C80-794302E1F1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5A7072-6CE9-52C7-B231-5DDEB675EDC2}"/>
              </a:ext>
            </a:extLst>
          </p:cNvPr>
          <p:cNvSpPr>
            <a:spLocks noGrp="1"/>
          </p:cNvSpPr>
          <p:nvPr>
            <p:ph type="title"/>
          </p:nvPr>
        </p:nvSpPr>
        <p:spPr>
          <a:xfrm>
            <a:off x="0" y="1014761"/>
            <a:ext cx="12192000" cy="675441"/>
          </a:xfrm>
        </p:spPr>
        <p:txBody>
          <a:bodyPr anchor="b">
            <a:normAutofit/>
          </a:bodyPr>
          <a:lstStyle/>
          <a:p>
            <a:r>
              <a:rPr lang="en-US" sz="2800" b="1" dirty="0">
                <a:latin typeface="Calibir"/>
              </a:rPr>
              <a:t>Make randomness reproducible</a:t>
            </a:r>
            <a:endParaRPr lang="en-AU" sz="2800" b="1" dirty="0">
              <a:latin typeface="Calibir"/>
            </a:endParaRPr>
          </a:p>
        </p:txBody>
      </p:sp>
      <p:sp>
        <p:nvSpPr>
          <p:cNvPr id="3" name="Rectangle 1">
            <a:extLst>
              <a:ext uri="{FF2B5EF4-FFF2-40B4-BE49-F238E27FC236}">
                <a16:creationId xmlns:a16="http://schemas.microsoft.com/office/drawing/2014/main" id="{4A61B51B-8ACA-78D6-766F-1A982FE62536}"/>
              </a:ext>
            </a:extLst>
          </p:cNvPr>
          <p:cNvSpPr>
            <a:spLocks noChangeArrowheads="1"/>
          </p:cNvSpPr>
          <p:nvPr/>
        </p:nvSpPr>
        <p:spPr bwMode="auto">
          <a:xfrm>
            <a:off x="0" y="1881947"/>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Task:</a:t>
            </a:r>
            <a:r>
              <a:rPr lang="en-US" sz="2800" dirty="0">
                <a:latin typeface="Calibir"/>
              </a:rPr>
              <a:t> Add a seed so repeated runs give the same result (useful for testing).</a:t>
            </a:r>
          </a:p>
        </p:txBody>
      </p:sp>
      <p:pic>
        <p:nvPicPr>
          <p:cNvPr id="11" name="Picture 10">
            <a:extLst>
              <a:ext uri="{FF2B5EF4-FFF2-40B4-BE49-F238E27FC236}">
                <a16:creationId xmlns:a16="http://schemas.microsoft.com/office/drawing/2014/main" id="{814D7886-54FA-3988-F773-9EAEA07B9581}"/>
              </a:ext>
            </a:extLst>
          </p:cNvPr>
          <p:cNvPicPr>
            <a:picLocks noChangeAspect="1"/>
          </p:cNvPicPr>
          <p:nvPr/>
        </p:nvPicPr>
        <p:blipFill>
          <a:blip r:embed="rId4"/>
          <a:srcRect l="8487" t="27311" r="8704" b="37850"/>
          <a:stretch>
            <a:fillRect/>
          </a:stretch>
        </p:blipFill>
        <p:spPr>
          <a:xfrm>
            <a:off x="0" y="2557388"/>
            <a:ext cx="12192000" cy="2837794"/>
          </a:xfrm>
          <a:prstGeom prst="rect">
            <a:avLst/>
          </a:prstGeom>
        </p:spPr>
      </p:pic>
      <p:pic>
        <p:nvPicPr>
          <p:cNvPr id="13" name="Timer">
            <a:hlinkClick r:id="" action="ppaction://media"/>
            <a:extLst>
              <a:ext uri="{FF2B5EF4-FFF2-40B4-BE49-F238E27FC236}">
                <a16:creationId xmlns:a16="http://schemas.microsoft.com/office/drawing/2014/main" id="{24B7B170-7046-7457-8430-E1C124EEB7FE}"/>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408" t="44516" r="40718" b="39785"/>
          <a:stretch>
            <a:fillRect/>
          </a:stretch>
        </p:blipFill>
        <p:spPr>
          <a:xfrm>
            <a:off x="4945625" y="5395182"/>
            <a:ext cx="2300750" cy="1076632"/>
          </a:xfrm>
          <a:prstGeom prst="rect">
            <a:avLst/>
          </a:prstGeom>
          <a:ln w="38100">
            <a:solidFill>
              <a:srgbClr val="FF0000"/>
            </a:solidFill>
          </a:ln>
        </p:spPr>
      </p:pic>
      <p:sp>
        <p:nvSpPr>
          <p:cNvPr id="5" name="Title 1">
            <a:extLst>
              <a:ext uri="{FF2B5EF4-FFF2-40B4-BE49-F238E27FC236}">
                <a16:creationId xmlns:a16="http://schemas.microsoft.com/office/drawing/2014/main" id="{57CF1D60-54D3-534D-196B-5F1425D99E7E}"/>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527590904"/>
      </p:ext>
    </p:extLst>
  </p:cSld>
  <p:clrMapOvr>
    <a:masterClrMapping/>
  </p:clrMapOvr>
  <p:timing>
    <p:tnLst>
      <p:par>
        <p:cTn id="1" dur="indefinite" restart="never" nodeType="tmRoot">
          <p:childTnLst>
            <p:video>
              <p:cMediaNode vol="80000">
                <p:cTn id="2" fill="hold" display="0">
                  <p:stCondLst>
                    <p:cond delay="indefinite"/>
                  </p:stCondLst>
                </p:cTn>
                <p:tgtEl>
                  <p:spTgt spid="13"/>
                </p:tgtEl>
              </p:cMediaNode>
            </p:video>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5B27A-A4D5-488E-393F-5FE5D8C68F3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1D265859-D071-9235-F972-61C5B0F17D05}"/>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8B86193B-75E3-A29D-19B9-34CA3C981327}"/>
              </a:ext>
            </a:extLst>
          </p:cNvPr>
          <p:cNvSpPr txBox="1"/>
          <p:nvPr/>
        </p:nvSpPr>
        <p:spPr>
          <a:xfrm>
            <a:off x="4918" y="4492093"/>
            <a:ext cx="12187082" cy="2341025"/>
          </a:xfrm>
          <a:prstGeom prst="rect">
            <a:avLst/>
          </a:prstGeom>
          <a:noFill/>
        </p:spPr>
        <p:txBody>
          <a:bodyPr wrap="square">
            <a:spAutoFit/>
          </a:bodyPr>
          <a:lstStyle/>
          <a:p>
            <a:pPr>
              <a:lnSpc>
                <a:spcPct val="150000"/>
              </a:lnSpc>
              <a:buNone/>
            </a:pPr>
            <a:r>
              <a:rPr lang="en-US" sz="2500" dirty="0">
                <a:latin typeface="Calibir"/>
              </a:rPr>
              <a:t>Brings in two functions from Python’s random library:</a:t>
            </a:r>
          </a:p>
          <a:p>
            <a:pPr marL="342900" indent="-342900">
              <a:lnSpc>
                <a:spcPct val="150000"/>
              </a:lnSpc>
              <a:buFont typeface="Arial" panose="020B0604020202020204" pitchFamily="34" charset="0"/>
              <a:buChar char="•"/>
            </a:pPr>
            <a:r>
              <a:rPr lang="en-US" sz="2500" b="1" dirty="0" err="1">
                <a:latin typeface="Calibir"/>
              </a:rPr>
              <a:t>randint</a:t>
            </a:r>
            <a:r>
              <a:rPr lang="en-US" sz="2500" b="1" dirty="0">
                <a:latin typeface="Calibir"/>
              </a:rPr>
              <a:t>(a, b):</a:t>
            </a:r>
            <a:r>
              <a:rPr lang="en-US" sz="2500" dirty="0">
                <a:latin typeface="Calibir"/>
              </a:rPr>
              <a:t> makes a random whole number between </a:t>
            </a:r>
            <a:r>
              <a:rPr lang="en-US" sz="2500" i="1" dirty="0">
                <a:latin typeface="Calibir"/>
              </a:rPr>
              <a:t>a</a:t>
            </a:r>
            <a:r>
              <a:rPr lang="en-US" sz="2500" dirty="0">
                <a:latin typeface="Calibir"/>
              </a:rPr>
              <a:t> and </a:t>
            </a:r>
            <a:r>
              <a:rPr lang="en-US" sz="2500" i="1" dirty="0">
                <a:latin typeface="Calibir"/>
              </a:rPr>
              <a:t>b</a:t>
            </a:r>
            <a:r>
              <a:rPr lang="en-US" sz="2500" dirty="0">
                <a:latin typeface="Calibir"/>
              </a:rPr>
              <a:t> (both included).</a:t>
            </a:r>
          </a:p>
          <a:p>
            <a:pPr marL="342900" indent="-342900">
              <a:lnSpc>
                <a:spcPct val="150000"/>
              </a:lnSpc>
              <a:buFont typeface="Arial" panose="020B0604020202020204" pitchFamily="34" charset="0"/>
              <a:buChar char="•"/>
            </a:pPr>
            <a:r>
              <a:rPr lang="en-US" sz="2500" b="1" dirty="0">
                <a:latin typeface="Calibir"/>
              </a:rPr>
              <a:t>seed(x):</a:t>
            </a:r>
            <a:r>
              <a:rPr lang="en-US" sz="2500" dirty="0">
                <a:latin typeface="Calibir"/>
              </a:rPr>
              <a:t> fixes the random numbers so you get the same result each time (useful for testing).</a:t>
            </a:r>
          </a:p>
        </p:txBody>
      </p:sp>
      <p:sp>
        <p:nvSpPr>
          <p:cNvPr id="17" name="Rectangle: Rounded Corners 16">
            <a:extLst>
              <a:ext uri="{FF2B5EF4-FFF2-40B4-BE49-F238E27FC236}">
                <a16:creationId xmlns:a16="http://schemas.microsoft.com/office/drawing/2014/main" id="{E092E793-7146-1455-BE4D-6410CDA0E657}"/>
              </a:ext>
            </a:extLst>
          </p:cNvPr>
          <p:cNvSpPr/>
          <p:nvPr/>
        </p:nvSpPr>
        <p:spPr>
          <a:xfrm>
            <a:off x="0" y="0"/>
            <a:ext cx="6096000" cy="47194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927480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01B89-FA68-FB97-85BA-CEE0AB10F02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EFEB327F-8552-9355-E0EE-52336C590B48}"/>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DC9CAD25-0B00-CC87-DE5F-24B3C074C940}"/>
              </a:ext>
            </a:extLst>
          </p:cNvPr>
          <p:cNvSpPr txBox="1"/>
          <p:nvPr/>
        </p:nvSpPr>
        <p:spPr>
          <a:xfrm>
            <a:off x="4918" y="4492093"/>
            <a:ext cx="12187082" cy="1964512"/>
          </a:xfrm>
          <a:prstGeom prst="rect">
            <a:avLst/>
          </a:prstGeom>
          <a:noFill/>
        </p:spPr>
        <p:txBody>
          <a:bodyPr wrap="square">
            <a:spAutoFit/>
          </a:bodyPr>
          <a:lstStyle/>
          <a:p>
            <a:pPr>
              <a:lnSpc>
                <a:spcPct val="150000"/>
              </a:lnSpc>
            </a:pPr>
            <a:r>
              <a:rPr lang="en-US" sz="2800" dirty="0">
                <a:latin typeface="Calibir"/>
              </a:rPr>
              <a:t>Sets the “starting point” for the random generator.</a:t>
            </a:r>
          </a:p>
          <a:p>
            <a:pPr marL="457200" indent="-457200">
              <a:lnSpc>
                <a:spcPct val="150000"/>
              </a:lnSpc>
              <a:buFont typeface="Arial" panose="020B0604020202020204" pitchFamily="34" charset="0"/>
              <a:buChar char="•"/>
            </a:pPr>
            <a:r>
              <a:rPr lang="en-US" sz="2800" dirty="0">
                <a:latin typeface="Calibir"/>
              </a:rPr>
              <a:t>Without this, each run gives different results.</a:t>
            </a:r>
          </a:p>
          <a:p>
            <a:pPr marL="457200" indent="-457200">
              <a:lnSpc>
                <a:spcPct val="150000"/>
              </a:lnSpc>
              <a:buFont typeface="Arial" panose="020B0604020202020204" pitchFamily="34" charset="0"/>
              <a:buChar char="•"/>
            </a:pPr>
            <a:r>
              <a:rPr lang="en-US" sz="2800" dirty="0">
                <a:latin typeface="Calibir"/>
              </a:rPr>
              <a:t>With it, the numbers repeat every time, which makes testing easier.</a:t>
            </a:r>
          </a:p>
        </p:txBody>
      </p:sp>
      <p:sp>
        <p:nvSpPr>
          <p:cNvPr id="17" name="Rectangle: Rounded Corners 16">
            <a:extLst>
              <a:ext uri="{FF2B5EF4-FFF2-40B4-BE49-F238E27FC236}">
                <a16:creationId xmlns:a16="http://schemas.microsoft.com/office/drawing/2014/main" id="{95081BA2-F5D7-82E9-829F-5161CE212529}"/>
              </a:ext>
            </a:extLst>
          </p:cNvPr>
          <p:cNvSpPr/>
          <p:nvPr/>
        </p:nvSpPr>
        <p:spPr>
          <a:xfrm>
            <a:off x="0" y="412955"/>
            <a:ext cx="6096000" cy="47194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203566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3FF11-FA7F-4840-DD1C-AC3328B2C0D3}"/>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78571E9-6E79-2214-EAA8-08E6AE43A32D}"/>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CBCCBA27-6B87-3E76-EDE3-88CD9AAB314E}"/>
              </a:ext>
            </a:extLst>
          </p:cNvPr>
          <p:cNvSpPr txBox="1"/>
          <p:nvPr/>
        </p:nvSpPr>
        <p:spPr>
          <a:xfrm>
            <a:off x="4918" y="4549676"/>
            <a:ext cx="12187082" cy="2308324"/>
          </a:xfrm>
          <a:prstGeom prst="rect">
            <a:avLst/>
          </a:prstGeom>
          <a:noFill/>
        </p:spPr>
        <p:txBody>
          <a:bodyPr wrap="square">
            <a:spAutoFit/>
          </a:bodyPr>
          <a:lstStyle/>
          <a:p>
            <a:r>
              <a:rPr lang="en-US" dirty="0">
                <a:latin typeface="Calibir"/>
              </a:rPr>
              <a:t>Defines a function called grade:</a:t>
            </a:r>
          </a:p>
          <a:p>
            <a:pPr marL="285750" indent="-285750">
              <a:buFont typeface="Arial" panose="020B0604020202020204" pitchFamily="34" charset="0"/>
              <a:buChar char="•"/>
            </a:pPr>
            <a:r>
              <a:rPr lang="en-US" dirty="0">
                <a:latin typeface="Calibir"/>
              </a:rPr>
              <a:t>Input: a number (mark) between 25–100.</a:t>
            </a:r>
          </a:p>
          <a:p>
            <a:pPr marL="285750" indent="-285750">
              <a:buFont typeface="Arial" panose="020B0604020202020204" pitchFamily="34" charset="0"/>
              <a:buChar char="•"/>
            </a:pPr>
            <a:r>
              <a:rPr lang="en-US" dirty="0">
                <a:latin typeface="Calibir"/>
              </a:rPr>
              <a:t>Output: a single letter grade, based on rules:</a:t>
            </a:r>
          </a:p>
          <a:p>
            <a:pPr marL="742950" lvl="1" indent="-285750">
              <a:buFont typeface="Arial" panose="020B0604020202020204" pitchFamily="34" charset="0"/>
              <a:buChar char="•"/>
            </a:pPr>
            <a:r>
              <a:rPr lang="en-US" dirty="0">
                <a:latin typeface="Calibir"/>
              </a:rPr>
              <a:t>&lt;50 → 'Z'</a:t>
            </a:r>
          </a:p>
          <a:p>
            <a:pPr marL="742950" lvl="1" indent="-285750">
              <a:buFont typeface="Arial" panose="020B0604020202020204" pitchFamily="34" charset="0"/>
              <a:buChar char="•"/>
            </a:pPr>
            <a:r>
              <a:rPr lang="en-US" dirty="0">
                <a:latin typeface="Calibir"/>
              </a:rPr>
              <a:t>50–64 → 'P'</a:t>
            </a:r>
          </a:p>
          <a:p>
            <a:pPr marL="742950" lvl="1" indent="-285750">
              <a:buFont typeface="Arial" panose="020B0604020202020204" pitchFamily="34" charset="0"/>
              <a:buChar char="•"/>
            </a:pPr>
            <a:r>
              <a:rPr lang="en-US" dirty="0">
                <a:latin typeface="Calibir"/>
              </a:rPr>
              <a:t>65–74 → 'C'</a:t>
            </a:r>
          </a:p>
          <a:p>
            <a:pPr marL="742950" lvl="1" indent="-285750">
              <a:buFont typeface="Arial" panose="020B0604020202020204" pitchFamily="34" charset="0"/>
              <a:buChar char="•"/>
            </a:pPr>
            <a:r>
              <a:rPr lang="en-US" dirty="0">
                <a:latin typeface="Calibir"/>
              </a:rPr>
              <a:t>75–84 → 'D'</a:t>
            </a:r>
          </a:p>
          <a:p>
            <a:pPr marL="742950" lvl="1" indent="-285750">
              <a:buFont typeface="Arial" panose="020B0604020202020204" pitchFamily="34" charset="0"/>
              <a:buChar char="•"/>
            </a:pPr>
            <a:r>
              <a:rPr lang="en-US" dirty="0">
                <a:latin typeface="Calibir"/>
              </a:rPr>
              <a:t>≥85 → 'HD'</a:t>
            </a:r>
          </a:p>
        </p:txBody>
      </p:sp>
      <p:sp>
        <p:nvSpPr>
          <p:cNvPr id="17" name="Rectangle: Rounded Corners 16">
            <a:extLst>
              <a:ext uri="{FF2B5EF4-FFF2-40B4-BE49-F238E27FC236}">
                <a16:creationId xmlns:a16="http://schemas.microsoft.com/office/drawing/2014/main" id="{414CB668-00F5-BF6E-9D96-0D2E37211A05}"/>
              </a:ext>
            </a:extLst>
          </p:cNvPr>
          <p:cNvSpPr/>
          <p:nvPr/>
        </p:nvSpPr>
        <p:spPr>
          <a:xfrm>
            <a:off x="0" y="1194618"/>
            <a:ext cx="11446516" cy="144534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360097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6F8B-9A21-B81B-1E12-3CCC4E61F50D}"/>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699C8307-B848-33E3-604B-A03E8A2A4AA9}"/>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F0F24D1F-9384-6C6D-3480-EA4AA3100F14}"/>
              </a:ext>
            </a:extLst>
          </p:cNvPr>
          <p:cNvSpPr txBox="1"/>
          <p:nvPr/>
        </p:nvSpPr>
        <p:spPr>
          <a:xfrm>
            <a:off x="4918" y="4549676"/>
            <a:ext cx="12187082" cy="1318181"/>
          </a:xfrm>
          <a:prstGeom prst="rect">
            <a:avLst/>
          </a:prstGeom>
          <a:noFill/>
        </p:spPr>
        <p:txBody>
          <a:bodyPr wrap="square">
            <a:spAutoFit/>
          </a:bodyPr>
          <a:lstStyle/>
          <a:p>
            <a:pPr>
              <a:lnSpc>
                <a:spcPct val="150000"/>
              </a:lnSpc>
            </a:pPr>
            <a:r>
              <a:rPr lang="en-US" sz="2800" dirty="0">
                <a:latin typeface="Calibir"/>
              </a:rPr>
              <a:t>Generates one random exam mark between 25 and 100 and stores it in the variable mark.</a:t>
            </a:r>
          </a:p>
        </p:txBody>
      </p:sp>
      <p:sp>
        <p:nvSpPr>
          <p:cNvPr id="17" name="Rectangle: Rounded Corners 16">
            <a:extLst>
              <a:ext uri="{FF2B5EF4-FFF2-40B4-BE49-F238E27FC236}">
                <a16:creationId xmlns:a16="http://schemas.microsoft.com/office/drawing/2014/main" id="{E69C6A40-43C6-CAD1-52DC-EFA83768B749}"/>
              </a:ext>
            </a:extLst>
          </p:cNvPr>
          <p:cNvSpPr/>
          <p:nvPr/>
        </p:nvSpPr>
        <p:spPr>
          <a:xfrm>
            <a:off x="0" y="2802193"/>
            <a:ext cx="11446516" cy="479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909114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8BD3F-04CA-05D7-713E-E57E9C767F14}"/>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E3D06D8C-1779-4BC3-5344-E0D73482218E}"/>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6285111E-FECA-A8C4-5A9A-A6949FBC4C58}"/>
              </a:ext>
            </a:extLst>
          </p:cNvPr>
          <p:cNvSpPr txBox="1"/>
          <p:nvPr/>
        </p:nvSpPr>
        <p:spPr>
          <a:xfrm>
            <a:off x="4918" y="4549676"/>
            <a:ext cx="12187082" cy="2071208"/>
          </a:xfrm>
          <a:prstGeom prst="rect">
            <a:avLst/>
          </a:prstGeom>
          <a:noFill/>
        </p:spPr>
        <p:txBody>
          <a:bodyPr wrap="square">
            <a:spAutoFit/>
          </a:bodyPr>
          <a:lstStyle/>
          <a:p>
            <a:pPr>
              <a:lnSpc>
                <a:spcPct val="150000"/>
              </a:lnSpc>
            </a:pPr>
            <a:r>
              <a:rPr lang="en-US" sz="2200" dirty="0">
                <a:latin typeface="Calibir"/>
              </a:rPr>
              <a:t>Creates a dictionary (like a mini record) for one subject:</a:t>
            </a:r>
          </a:p>
          <a:p>
            <a:pPr marL="800100" lvl="1" indent="-342900">
              <a:lnSpc>
                <a:spcPct val="150000"/>
              </a:lnSpc>
              <a:buFont typeface="Arial" panose="020B0604020202020204" pitchFamily="34" charset="0"/>
              <a:buChar char="•"/>
            </a:pPr>
            <a:r>
              <a:rPr lang="en-US" sz="2200" dirty="0">
                <a:latin typeface="Calibir"/>
              </a:rPr>
              <a:t>"id" → random number 1–999, but .</a:t>
            </a:r>
            <a:r>
              <a:rPr lang="en-US" sz="2200" dirty="0" err="1">
                <a:latin typeface="Calibir"/>
              </a:rPr>
              <a:t>zfill</a:t>
            </a:r>
            <a:r>
              <a:rPr lang="en-US" sz="2200" dirty="0">
                <a:latin typeface="Calibir"/>
              </a:rPr>
              <a:t>(3) pads it with zeros so it always looks like 001, 045, 234.</a:t>
            </a:r>
          </a:p>
          <a:p>
            <a:pPr marL="800100" lvl="1" indent="-342900">
              <a:lnSpc>
                <a:spcPct val="150000"/>
              </a:lnSpc>
              <a:buFont typeface="Arial" panose="020B0604020202020204" pitchFamily="34" charset="0"/>
              <a:buChar char="•"/>
            </a:pPr>
            <a:r>
              <a:rPr lang="en-US" sz="2200" dirty="0">
                <a:latin typeface="Calibir"/>
              </a:rPr>
              <a:t>"mark" → the random mark generated above.</a:t>
            </a:r>
          </a:p>
          <a:p>
            <a:pPr marL="800100" lvl="1" indent="-342900">
              <a:lnSpc>
                <a:spcPct val="150000"/>
              </a:lnSpc>
              <a:buFont typeface="Arial" panose="020B0604020202020204" pitchFamily="34" charset="0"/>
              <a:buChar char="•"/>
            </a:pPr>
            <a:r>
              <a:rPr lang="en-US" sz="2200" dirty="0">
                <a:latin typeface="Calibir"/>
              </a:rPr>
              <a:t>"grade" → the letter grade, calculated by calling grade(mark).</a:t>
            </a:r>
          </a:p>
        </p:txBody>
      </p:sp>
      <p:sp>
        <p:nvSpPr>
          <p:cNvPr id="17" name="Rectangle: Rounded Corners 16">
            <a:extLst>
              <a:ext uri="{FF2B5EF4-FFF2-40B4-BE49-F238E27FC236}">
                <a16:creationId xmlns:a16="http://schemas.microsoft.com/office/drawing/2014/main" id="{4EC6C0CE-A446-8726-C5D2-D091CFBBF6CB}"/>
              </a:ext>
            </a:extLst>
          </p:cNvPr>
          <p:cNvSpPr/>
          <p:nvPr/>
        </p:nvSpPr>
        <p:spPr>
          <a:xfrm>
            <a:off x="0" y="3189337"/>
            <a:ext cx="11446516" cy="89596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689591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93371-0412-E369-5B8F-26C506D0B612}"/>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0EB0AF30-011F-CB17-33B5-299991194184}"/>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C9A34096-3988-2194-BE21-15BC119E1293}"/>
              </a:ext>
            </a:extLst>
          </p:cNvPr>
          <p:cNvSpPr txBox="1"/>
          <p:nvPr/>
        </p:nvSpPr>
        <p:spPr>
          <a:xfrm>
            <a:off x="4918" y="4549676"/>
            <a:ext cx="12187082" cy="671851"/>
          </a:xfrm>
          <a:prstGeom prst="rect">
            <a:avLst/>
          </a:prstGeom>
          <a:noFill/>
        </p:spPr>
        <p:txBody>
          <a:bodyPr wrap="square">
            <a:spAutoFit/>
          </a:bodyPr>
          <a:lstStyle/>
          <a:p>
            <a:pPr>
              <a:lnSpc>
                <a:spcPct val="150000"/>
              </a:lnSpc>
            </a:pPr>
            <a:r>
              <a:rPr lang="en-US" sz="2800" dirty="0">
                <a:latin typeface="Calibir"/>
              </a:rPr>
              <a:t>Shows the whole dictionary on screen.</a:t>
            </a:r>
          </a:p>
        </p:txBody>
      </p:sp>
      <p:sp>
        <p:nvSpPr>
          <p:cNvPr id="17" name="Rectangle: Rounded Corners 16">
            <a:extLst>
              <a:ext uri="{FF2B5EF4-FFF2-40B4-BE49-F238E27FC236}">
                <a16:creationId xmlns:a16="http://schemas.microsoft.com/office/drawing/2014/main" id="{3397D35E-4F8D-146D-27B6-C90B62DDA6B6}"/>
              </a:ext>
            </a:extLst>
          </p:cNvPr>
          <p:cNvSpPr/>
          <p:nvPr/>
        </p:nvSpPr>
        <p:spPr>
          <a:xfrm>
            <a:off x="0" y="4055805"/>
            <a:ext cx="11446516" cy="43628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925478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9F57A-D6C4-71BC-8329-D487A07FBBE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03CC8A6-03F2-7212-E5FF-1857EFF80198}"/>
              </a:ext>
            </a:extLst>
          </p:cNvPr>
          <p:cNvSpPr txBox="1"/>
          <p:nvPr/>
        </p:nvSpPr>
        <p:spPr>
          <a:xfrm>
            <a:off x="0" y="1327693"/>
            <a:ext cx="12192000" cy="4832092"/>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random</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randint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seed</a:t>
            </a:r>
            <a:endParaRPr lang="en-US" sz="2800" b="0" dirty="0">
              <a:solidFill>
                <a:srgbClr val="CCCCCC"/>
              </a:solidFill>
              <a:effectLst/>
              <a:latin typeface="Consolas" panose="020B0609020204030204" pitchFamily="49" charset="0"/>
            </a:endParaRPr>
          </a:p>
          <a:p>
            <a:pPr>
              <a:buNone/>
            </a:pPr>
            <a:r>
              <a:rPr lang="en-US" sz="2800" b="0" dirty="0">
                <a:solidFill>
                  <a:srgbClr val="9CDCFE"/>
                </a:solidFill>
                <a:effectLst/>
                <a:latin typeface="Consolas" panose="020B0609020204030204" pitchFamily="49" charset="0"/>
              </a:rPr>
              <a:t>seed</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42</a:t>
            </a:r>
            <a:r>
              <a:rPr lang="en-US" sz="2800" b="0" dirty="0">
                <a:solidFill>
                  <a:srgbClr val="CCCCCC"/>
                </a:solidFill>
                <a:effectLst/>
                <a:latin typeface="Consolas" panose="020B0609020204030204" pitchFamily="49" charset="0"/>
              </a:rPr>
              <a:t>)  </a:t>
            </a:r>
            <a:r>
              <a:rPr lang="en-US" sz="2800" b="0" dirty="0">
                <a:solidFill>
                  <a:srgbClr val="6A9955"/>
                </a:solidFill>
                <a:effectLst/>
                <a:latin typeface="Consolas" panose="020B0609020204030204" pitchFamily="49" charset="0"/>
              </a:rPr>
              <a:t># reproducible results</a:t>
            </a:r>
            <a:endParaRPr lang="en-US" sz="2800" b="0" dirty="0">
              <a:solidFill>
                <a:srgbClr val="CCCCCC"/>
              </a:solidFill>
              <a:effectLst/>
              <a:latin typeface="Consolas" panose="020B0609020204030204" pitchFamily="49" charset="0"/>
            </a:endParaRPr>
          </a:p>
          <a:p>
            <a:pPr>
              <a:buNone/>
            </a:pPr>
            <a:br>
              <a:rPr lang="en-US" sz="2800" b="0" dirty="0">
                <a:solidFill>
                  <a:srgbClr val="CCCCCC"/>
                </a:solidFill>
                <a:effectLst/>
                <a:latin typeface="Consolas" panose="020B0609020204030204" pitchFamily="49" charset="0"/>
              </a:rPr>
            </a:b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grade</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-&gt; </a:t>
            </a:r>
            <a:r>
              <a:rPr lang="en-US" sz="2800" b="0" dirty="0">
                <a:solidFill>
                  <a:srgbClr val="4EC9B0"/>
                </a:solidFill>
                <a:effectLst/>
                <a:latin typeface="Consolas" panose="020B0609020204030204" pitchFamily="49" charset="0"/>
              </a:rPr>
              <a:t>str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return</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'Z'</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50</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'P'</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65</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'C'</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75</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'D'</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85</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'HD'</a:t>
            </a:r>
            <a:endParaRPr lang="en-US" sz="2800" b="0" dirty="0">
              <a:solidFill>
                <a:srgbClr val="CCCCCC"/>
              </a:solidFill>
              <a:effectLst/>
              <a:latin typeface="Consolas" panose="020B0609020204030204" pitchFamily="49" charset="0"/>
            </a:endParaRPr>
          </a:p>
          <a:p>
            <a:pPr>
              <a:buNone/>
            </a:pPr>
            <a:endParaRPr lang="en-US" sz="2800" b="0" dirty="0">
              <a:solidFill>
                <a:srgbClr val="CCCCCC"/>
              </a:solidFill>
              <a:effectLst/>
              <a:latin typeface="Consolas" panose="020B0609020204030204" pitchFamily="49" charset="0"/>
            </a:endParaRPr>
          </a:p>
          <a:p>
            <a:pPr>
              <a:buNone/>
            </a:pP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randint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25</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100</a:t>
            </a:r>
            <a:r>
              <a:rPr lang="en-US" sz="2800" b="0" dirty="0">
                <a:solidFill>
                  <a:srgbClr val="CCCCCC"/>
                </a:solidFill>
                <a:effectLst/>
                <a:latin typeface="Consolas" panose="020B0609020204030204" pitchFamily="49" charset="0"/>
              </a:rPr>
              <a:t>)</a:t>
            </a:r>
          </a:p>
          <a:p>
            <a:pPr>
              <a:buNone/>
            </a:pPr>
            <a:r>
              <a:rPr lang="en-US" sz="2800" b="0" dirty="0">
                <a:solidFill>
                  <a:srgbClr val="9CDCFE"/>
                </a:solidFill>
                <a:effectLst/>
                <a:latin typeface="Consolas" panose="020B0609020204030204" pitchFamily="49" charset="0"/>
              </a:rPr>
              <a:t>subject</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"id"</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str</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randint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999</a:t>
            </a:r>
            <a:r>
              <a:rPr lang="en-US" sz="2800" b="0" dirty="0">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zfill</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3</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"grade"</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grade</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a:t>
            </a:r>
          </a:p>
          <a:p>
            <a:pPr>
              <a:buNone/>
            </a:pP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subject</a:t>
            </a:r>
            <a:r>
              <a:rPr lang="en-US" sz="2800" b="0" dirty="0">
                <a:solidFill>
                  <a:srgbClr val="CCCCCC"/>
                </a:solidFill>
                <a:effectLst/>
                <a:latin typeface="Consolas" panose="020B0609020204030204" pitchFamily="49" charset="0"/>
              </a:rPr>
              <a:t>)</a:t>
            </a:r>
          </a:p>
        </p:txBody>
      </p:sp>
      <p:pic>
        <p:nvPicPr>
          <p:cNvPr id="7" name="Picture 6">
            <a:extLst>
              <a:ext uri="{FF2B5EF4-FFF2-40B4-BE49-F238E27FC236}">
                <a16:creationId xmlns:a16="http://schemas.microsoft.com/office/drawing/2014/main" id="{F0948710-BB3E-0F79-6E57-3B78F0721129}"/>
              </a:ext>
            </a:extLst>
          </p:cNvPr>
          <p:cNvPicPr>
            <a:picLocks noChangeAspect="1"/>
          </p:cNvPicPr>
          <p:nvPr/>
        </p:nvPicPr>
        <p:blipFill>
          <a:blip r:embed="rId2"/>
          <a:srcRect l="54799" t="36344" r="4798" b="50000"/>
          <a:stretch>
            <a:fillRect/>
          </a:stretch>
        </p:blipFill>
        <p:spPr>
          <a:xfrm>
            <a:off x="4896465" y="5470975"/>
            <a:ext cx="7295535" cy="1387026"/>
          </a:xfrm>
          <a:prstGeom prst="rect">
            <a:avLst/>
          </a:prstGeom>
          <a:ln w="38100">
            <a:solidFill>
              <a:srgbClr val="FF0000"/>
            </a:solidFill>
          </a:ln>
        </p:spPr>
      </p:pic>
      <p:sp>
        <p:nvSpPr>
          <p:cNvPr id="4" name="TextBox 3">
            <a:extLst>
              <a:ext uri="{FF2B5EF4-FFF2-40B4-BE49-F238E27FC236}">
                <a16:creationId xmlns:a16="http://schemas.microsoft.com/office/drawing/2014/main" id="{90D7FA78-C385-F648-CE96-0F97FE053E87}"/>
              </a:ext>
            </a:extLst>
          </p:cNvPr>
          <p:cNvSpPr txBox="1"/>
          <p:nvPr/>
        </p:nvSpPr>
        <p:spPr>
          <a:xfrm>
            <a:off x="6581467" y="1283449"/>
            <a:ext cx="5610533" cy="1785104"/>
          </a:xfrm>
          <a:prstGeom prst="rect">
            <a:avLst/>
          </a:prstGeom>
          <a:solidFill>
            <a:schemeClr val="bg1"/>
          </a:solidFill>
          <a:ln w="38100">
            <a:solidFill>
              <a:srgbClr val="FF0000"/>
            </a:solidFill>
          </a:ln>
        </p:spPr>
        <p:txBody>
          <a:bodyPr wrap="square">
            <a:spAutoFit/>
          </a:bodyPr>
          <a:lstStyle/>
          <a:p>
            <a:pPr>
              <a:buNone/>
            </a:pPr>
            <a:r>
              <a:rPr lang="en-US" sz="2200" dirty="0">
                <a:latin typeface="Calibir"/>
              </a:rPr>
              <a:t>In short:</a:t>
            </a:r>
          </a:p>
          <a:p>
            <a:pPr marL="342900" indent="-342900">
              <a:buFont typeface="Arial" panose="020B0604020202020204" pitchFamily="34" charset="0"/>
              <a:buChar char="•"/>
            </a:pPr>
            <a:r>
              <a:rPr lang="en-US" sz="2200" dirty="0">
                <a:latin typeface="Calibir"/>
              </a:rPr>
              <a:t>Fix the random seed,</a:t>
            </a:r>
          </a:p>
          <a:p>
            <a:pPr marL="342900" indent="-342900">
              <a:buFont typeface="Arial" panose="020B0604020202020204" pitchFamily="34" charset="0"/>
              <a:buChar char="•"/>
            </a:pPr>
            <a:r>
              <a:rPr lang="en-US" sz="2200" dirty="0">
                <a:latin typeface="Calibir"/>
              </a:rPr>
              <a:t>Generate a random mark + subject ID,</a:t>
            </a:r>
          </a:p>
          <a:p>
            <a:pPr marL="342900" indent="-342900">
              <a:buFont typeface="Arial" panose="020B0604020202020204" pitchFamily="34" charset="0"/>
              <a:buChar char="•"/>
            </a:pPr>
            <a:r>
              <a:rPr lang="en-US" sz="2200" dirty="0">
                <a:latin typeface="Calibir"/>
              </a:rPr>
              <a:t>Work out the grade,</a:t>
            </a:r>
          </a:p>
          <a:p>
            <a:pPr marL="342900" indent="-342900">
              <a:buFont typeface="Arial" panose="020B0604020202020204" pitchFamily="34" charset="0"/>
              <a:buChar char="•"/>
            </a:pPr>
            <a:r>
              <a:rPr lang="en-US" sz="2200" dirty="0">
                <a:latin typeface="Calibir"/>
              </a:rPr>
              <a:t>Print the record.</a:t>
            </a:r>
          </a:p>
        </p:txBody>
      </p:sp>
      <p:sp>
        <p:nvSpPr>
          <p:cNvPr id="8" name="Title 1">
            <a:extLst>
              <a:ext uri="{FF2B5EF4-FFF2-40B4-BE49-F238E27FC236}">
                <a16:creationId xmlns:a16="http://schemas.microsoft.com/office/drawing/2014/main" id="{B58D9E25-77D4-94D4-7B5C-4BC07790135A}"/>
              </a:ext>
            </a:extLst>
          </p:cNvPr>
          <p:cNvSpPr>
            <a:spLocks noGrp="1"/>
          </p:cNvSpPr>
          <p:nvPr>
            <p:ph type="title"/>
          </p:nvPr>
        </p:nvSpPr>
        <p:spPr>
          <a:xfrm>
            <a:off x="0" y="625638"/>
            <a:ext cx="12192000" cy="675441"/>
          </a:xfrm>
        </p:spPr>
        <p:txBody>
          <a:bodyPr anchor="b">
            <a:normAutofit/>
          </a:bodyPr>
          <a:lstStyle/>
          <a:p>
            <a:r>
              <a:rPr lang="en-US" sz="2800" b="1" dirty="0">
                <a:latin typeface="Calibir"/>
              </a:rPr>
              <a:t>Make randomness reproducible</a:t>
            </a:r>
            <a:endParaRPr lang="en-AU" sz="2800" b="1" dirty="0">
              <a:latin typeface="Calibir"/>
            </a:endParaRPr>
          </a:p>
        </p:txBody>
      </p:sp>
      <p:sp>
        <p:nvSpPr>
          <p:cNvPr id="3" name="Title 1">
            <a:extLst>
              <a:ext uri="{FF2B5EF4-FFF2-40B4-BE49-F238E27FC236}">
                <a16:creationId xmlns:a16="http://schemas.microsoft.com/office/drawing/2014/main" id="{4338B31C-E3B2-E9EA-591C-E94519299684}"/>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38029687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B785-6B41-321F-8251-767F45BF3F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B5E17A-DFCD-2872-5B35-F441EDC718B3}"/>
              </a:ext>
            </a:extLst>
          </p:cNvPr>
          <p:cNvSpPr>
            <a:spLocks noGrp="1"/>
          </p:cNvSpPr>
          <p:nvPr>
            <p:ph type="title"/>
          </p:nvPr>
        </p:nvSpPr>
        <p:spPr>
          <a:xfrm>
            <a:off x="0" y="869795"/>
            <a:ext cx="12192000" cy="557561"/>
          </a:xfrm>
        </p:spPr>
        <p:txBody>
          <a:bodyPr anchor="b">
            <a:normAutofit/>
          </a:bodyPr>
          <a:lstStyle/>
          <a:p>
            <a:r>
              <a:rPr lang="en-US" sz="3300" b="1" dirty="0">
                <a:latin typeface="Calibir"/>
              </a:rPr>
              <a:t>Add student ID and PASS/FAIL</a:t>
            </a:r>
            <a:endParaRPr lang="en-AU" sz="3300" b="1" dirty="0">
              <a:latin typeface="Calibir"/>
            </a:endParaRPr>
          </a:p>
        </p:txBody>
      </p:sp>
      <p:sp>
        <p:nvSpPr>
          <p:cNvPr id="4" name="TextBox 3">
            <a:extLst>
              <a:ext uri="{FF2B5EF4-FFF2-40B4-BE49-F238E27FC236}">
                <a16:creationId xmlns:a16="http://schemas.microsoft.com/office/drawing/2014/main" id="{C655CE28-7134-0543-249D-22F7239F953D}"/>
              </a:ext>
            </a:extLst>
          </p:cNvPr>
          <p:cNvSpPr txBox="1"/>
          <p:nvPr/>
        </p:nvSpPr>
        <p:spPr>
          <a:xfrm>
            <a:off x="0" y="1427356"/>
            <a:ext cx="12192000" cy="1318181"/>
          </a:xfrm>
          <a:prstGeom prst="rect">
            <a:avLst/>
          </a:prstGeom>
          <a:noFill/>
        </p:spPr>
        <p:txBody>
          <a:bodyPr wrap="square">
            <a:spAutoFit/>
          </a:bodyPr>
          <a:lstStyle/>
          <a:p>
            <a:pPr>
              <a:lnSpc>
                <a:spcPct val="150000"/>
              </a:lnSpc>
            </a:pPr>
            <a:r>
              <a:rPr lang="en-US" sz="2800" b="1" dirty="0">
                <a:latin typeface="Calibir"/>
              </a:rPr>
              <a:t>Task: </a:t>
            </a:r>
            <a:r>
              <a:rPr lang="en-US" sz="2800" dirty="0">
                <a:latin typeface="Calibir"/>
              </a:rPr>
              <a:t>Add a 6-digit student ID and a pass/fail flag (pass if mark ≥ 50).</a:t>
            </a:r>
            <a:br>
              <a:rPr lang="en-US" sz="2800" dirty="0">
                <a:latin typeface="Calibir"/>
              </a:rPr>
            </a:br>
            <a:r>
              <a:rPr lang="en-US" sz="2800" b="1" dirty="0">
                <a:latin typeface="Calibir"/>
              </a:rPr>
              <a:t>Hint: </a:t>
            </a:r>
            <a:r>
              <a:rPr lang="en-US" sz="2800" dirty="0">
                <a:latin typeface="Calibir"/>
              </a:rPr>
              <a:t>Use </a:t>
            </a:r>
            <a:r>
              <a:rPr lang="en-US" sz="2800" dirty="0" err="1">
                <a:latin typeface="Calibir"/>
              </a:rPr>
              <a:t>zfill</a:t>
            </a:r>
            <a:r>
              <a:rPr lang="en-US" sz="2800" dirty="0">
                <a:latin typeface="Calibir"/>
              </a:rPr>
              <a:t>(6) for the student ID.</a:t>
            </a:r>
          </a:p>
        </p:txBody>
      </p:sp>
      <p:pic>
        <p:nvPicPr>
          <p:cNvPr id="6" name="Timer">
            <a:hlinkClick r:id="" action="ppaction://media"/>
            <a:extLst>
              <a:ext uri="{FF2B5EF4-FFF2-40B4-BE49-F238E27FC236}">
                <a16:creationId xmlns:a16="http://schemas.microsoft.com/office/drawing/2014/main" id="{606FD39E-5BD4-067B-6EB9-74F602A394B2}"/>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6428736" y="2226466"/>
            <a:ext cx="2300750" cy="1076632"/>
          </a:xfrm>
          <a:prstGeom prst="rect">
            <a:avLst/>
          </a:prstGeom>
          <a:ln w="38100">
            <a:solidFill>
              <a:srgbClr val="FF0000"/>
            </a:solidFill>
          </a:ln>
        </p:spPr>
      </p:pic>
      <p:sp>
        <p:nvSpPr>
          <p:cNvPr id="3" name="Title 1">
            <a:extLst>
              <a:ext uri="{FF2B5EF4-FFF2-40B4-BE49-F238E27FC236}">
                <a16:creationId xmlns:a16="http://schemas.microsoft.com/office/drawing/2014/main" id="{7D3EE15A-DD02-654F-AC4B-8B5E43CCF658}"/>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326400137"/>
      </p:ext>
    </p:extLst>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B785-6B41-321F-8251-767F45BF3F4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0150E7F-8EEF-BA55-1D9E-E2C646D20FCE}"/>
              </a:ext>
            </a:extLst>
          </p:cNvPr>
          <p:cNvPicPr>
            <a:picLocks noChangeAspect="1"/>
          </p:cNvPicPr>
          <p:nvPr/>
        </p:nvPicPr>
        <p:blipFill>
          <a:blip r:embed="rId2"/>
          <a:srcRect l="8226" t="11188" r="8065" b="18495"/>
          <a:stretch>
            <a:fillRect/>
          </a:stretch>
        </p:blipFill>
        <p:spPr>
          <a:xfrm>
            <a:off x="0" y="680225"/>
            <a:ext cx="12192000" cy="5760844"/>
          </a:xfrm>
          <a:prstGeom prst="rect">
            <a:avLst/>
          </a:prstGeom>
        </p:spPr>
      </p:pic>
      <p:sp>
        <p:nvSpPr>
          <p:cNvPr id="5" name="Title 1">
            <a:extLst>
              <a:ext uri="{FF2B5EF4-FFF2-40B4-BE49-F238E27FC236}">
                <a16:creationId xmlns:a16="http://schemas.microsoft.com/office/drawing/2014/main" id="{EAC0A380-7E8E-0F65-C4E9-0423BC0F3006}"/>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7461884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7232E-93B2-4DE0-26D4-99AEF1F95CC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FD21DCC1-CDDB-5758-7DF2-A1CC75DAC53F}"/>
              </a:ext>
            </a:extLst>
          </p:cNvPr>
          <p:cNvPicPr>
            <a:picLocks noChangeAspect="1"/>
          </p:cNvPicPr>
          <p:nvPr/>
        </p:nvPicPr>
        <p:blipFill>
          <a:blip r:embed="rId2"/>
          <a:srcRect l="8226" t="11188" r="8065" b="18495"/>
          <a:stretch>
            <a:fillRect/>
          </a:stretch>
        </p:blipFill>
        <p:spPr>
          <a:xfrm>
            <a:off x="0" y="767255"/>
            <a:ext cx="12192000" cy="5760844"/>
          </a:xfrm>
          <a:prstGeom prst="rect">
            <a:avLst/>
          </a:prstGeom>
        </p:spPr>
      </p:pic>
      <p:sp>
        <p:nvSpPr>
          <p:cNvPr id="10" name="TextBox 9">
            <a:extLst>
              <a:ext uri="{FF2B5EF4-FFF2-40B4-BE49-F238E27FC236}">
                <a16:creationId xmlns:a16="http://schemas.microsoft.com/office/drawing/2014/main" id="{6BE2C579-DD2B-2976-D047-3DC4085AB51D}"/>
              </a:ext>
            </a:extLst>
          </p:cNvPr>
          <p:cNvSpPr txBox="1"/>
          <p:nvPr/>
        </p:nvSpPr>
        <p:spPr>
          <a:xfrm>
            <a:off x="4321277" y="4529054"/>
            <a:ext cx="7870723" cy="954107"/>
          </a:xfrm>
          <a:prstGeom prst="rect">
            <a:avLst/>
          </a:prstGeom>
          <a:solidFill>
            <a:schemeClr val="tx1"/>
          </a:solidFill>
          <a:ln w="38100">
            <a:solidFill>
              <a:srgbClr val="FF0000"/>
            </a:solidFill>
          </a:ln>
        </p:spPr>
        <p:txBody>
          <a:bodyPr wrap="square">
            <a:spAutoFit/>
          </a:bodyPr>
          <a:lstStyle/>
          <a:p>
            <a:r>
              <a:rPr lang="en-US" sz="2800" b="0" i="0" dirty="0">
                <a:solidFill>
                  <a:srgbClr val="CCCCCC"/>
                </a:solidFill>
                <a:effectLst/>
                <a:latin typeface="Consolas" panose="020B0609020204030204" pitchFamily="49" charset="0"/>
              </a:rPr>
              <a:t>Student 256788 → Subject 229: mark 60, grade P (PASS)</a:t>
            </a:r>
            <a:endParaRPr lang="en-US" sz="2800" dirty="0"/>
          </a:p>
        </p:txBody>
      </p:sp>
      <p:sp>
        <p:nvSpPr>
          <p:cNvPr id="4" name="Title 1">
            <a:extLst>
              <a:ext uri="{FF2B5EF4-FFF2-40B4-BE49-F238E27FC236}">
                <a16:creationId xmlns:a16="http://schemas.microsoft.com/office/drawing/2014/main" id="{57A6B440-CA15-BF3E-3BDF-7539A8DBCB77}"/>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28795477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BAF17-4BE6-44DA-7E53-495A484DB08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2FE8980F-11DF-0BC6-1538-CE1A5603DCBC}"/>
              </a:ext>
            </a:extLst>
          </p:cNvPr>
          <p:cNvSpPr>
            <a:spLocks noGrp="1"/>
          </p:cNvSpPr>
          <p:nvPr>
            <p:ph type="title"/>
          </p:nvPr>
        </p:nvSpPr>
        <p:spPr>
          <a:xfrm>
            <a:off x="0" y="585590"/>
            <a:ext cx="12192000" cy="557561"/>
          </a:xfrm>
        </p:spPr>
        <p:txBody>
          <a:bodyPr anchor="b">
            <a:normAutofit/>
          </a:bodyPr>
          <a:lstStyle/>
          <a:p>
            <a:r>
              <a:rPr lang="en-US" sz="2800" b="1" dirty="0">
                <a:latin typeface="Calibir"/>
              </a:rPr>
              <a:t>Grade Classification Based on University Rules</a:t>
            </a:r>
            <a:endParaRPr lang="en-AU" sz="2800" b="1" dirty="0">
              <a:latin typeface="Calibir"/>
            </a:endParaRPr>
          </a:p>
        </p:txBody>
      </p:sp>
      <p:sp>
        <p:nvSpPr>
          <p:cNvPr id="9" name="TextBox 8">
            <a:extLst>
              <a:ext uri="{FF2B5EF4-FFF2-40B4-BE49-F238E27FC236}">
                <a16:creationId xmlns:a16="http://schemas.microsoft.com/office/drawing/2014/main" id="{C54E2F65-1097-5C3F-0D8F-37768829834D}"/>
              </a:ext>
            </a:extLst>
          </p:cNvPr>
          <p:cNvSpPr txBox="1"/>
          <p:nvPr/>
        </p:nvSpPr>
        <p:spPr>
          <a:xfrm>
            <a:off x="0" y="1143151"/>
            <a:ext cx="12021014" cy="5196166"/>
          </a:xfrm>
          <a:prstGeom prst="rect">
            <a:avLst/>
          </a:prstGeom>
          <a:noFill/>
        </p:spPr>
        <p:txBody>
          <a:bodyPr wrap="square">
            <a:spAutoFit/>
          </a:bodyPr>
          <a:lstStyle/>
          <a:p>
            <a:pPr marL="457200" indent="-457200">
              <a:lnSpc>
                <a:spcPct val="150000"/>
              </a:lnSpc>
              <a:buFont typeface="+mj-lt"/>
              <a:buAutoNum type="arabicPeriod"/>
            </a:pPr>
            <a:r>
              <a:rPr lang="en-US" sz="2800" dirty="0">
                <a:latin typeface="Calibir"/>
              </a:rPr>
              <a:t>Write a function grade(mark: int) -&gt; str that returns the grade according to UTS rules.</a:t>
            </a:r>
          </a:p>
          <a:p>
            <a:pPr marL="457200" indent="-457200">
              <a:lnSpc>
                <a:spcPct val="150000"/>
              </a:lnSpc>
              <a:buFont typeface="+mj-lt"/>
              <a:buAutoNum type="arabicPeriod"/>
            </a:pPr>
            <a:r>
              <a:rPr lang="en-US" sz="2800" dirty="0">
                <a:latin typeface="Calibir"/>
              </a:rPr>
              <a:t>Use if–else conditions (or chained expressions).</a:t>
            </a:r>
          </a:p>
          <a:p>
            <a:pPr marL="457200" indent="-457200">
              <a:lnSpc>
                <a:spcPct val="150000"/>
              </a:lnSpc>
              <a:buFont typeface="+mj-lt"/>
              <a:buAutoNum type="arabicPeriod"/>
            </a:pPr>
            <a:r>
              <a:rPr lang="en-US" sz="2800" dirty="0">
                <a:latin typeface="Calibir"/>
              </a:rPr>
              <a:t>Test your function with example marks [42, 58, 70, 82, 95].</a:t>
            </a:r>
          </a:p>
          <a:p>
            <a:pPr marL="457200" indent="-457200">
              <a:lnSpc>
                <a:spcPct val="150000"/>
              </a:lnSpc>
              <a:buFont typeface="+mj-lt"/>
              <a:buAutoNum type="arabicPeriod"/>
            </a:pPr>
            <a:r>
              <a:rPr lang="en-US" sz="2800" dirty="0">
                <a:latin typeface="Calibir"/>
              </a:rPr>
              <a:t>Print each mark alongside its grade.</a:t>
            </a:r>
          </a:p>
          <a:p>
            <a:pPr>
              <a:lnSpc>
                <a:spcPct val="150000"/>
              </a:lnSpc>
              <a:buNone/>
            </a:pPr>
            <a:r>
              <a:rPr lang="en-US" sz="2800" dirty="0">
                <a:latin typeface="Calibir"/>
              </a:rPr>
              <a:t>You’ve basically turned the earlier </a:t>
            </a:r>
            <a:r>
              <a:rPr lang="en-US" sz="2800" dirty="0" err="1">
                <a:latin typeface="Calibir"/>
              </a:rPr>
              <a:t>randomised</a:t>
            </a:r>
            <a:r>
              <a:rPr lang="en-US" sz="2800" dirty="0">
                <a:latin typeface="Calibir"/>
              </a:rPr>
              <a:t> activity into a deterministic grading demo — perfect for classroom explanation before students move to random generation.</a:t>
            </a:r>
          </a:p>
        </p:txBody>
      </p:sp>
      <p:pic>
        <p:nvPicPr>
          <p:cNvPr id="10" name="Timer">
            <a:hlinkClick r:id="" action="ppaction://media"/>
            <a:extLst>
              <a:ext uri="{FF2B5EF4-FFF2-40B4-BE49-F238E27FC236}">
                <a16:creationId xmlns:a16="http://schemas.microsoft.com/office/drawing/2014/main" id="{7D7E2DE4-45F3-2355-6727-029F22135757}"/>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5190950" y="5632291"/>
            <a:ext cx="2300750" cy="1076632"/>
          </a:xfrm>
          <a:prstGeom prst="rect">
            <a:avLst/>
          </a:prstGeom>
          <a:ln w="38100">
            <a:solidFill>
              <a:srgbClr val="FF0000"/>
            </a:solidFill>
          </a:ln>
        </p:spPr>
      </p:pic>
      <p:sp>
        <p:nvSpPr>
          <p:cNvPr id="2" name="Title 1">
            <a:extLst>
              <a:ext uri="{FF2B5EF4-FFF2-40B4-BE49-F238E27FC236}">
                <a16:creationId xmlns:a16="http://schemas.microsoft.com/office/drawing/2014/main" id="{4EED0E53-4A10-EC62-0037-5BD5EFB55AAF}"/>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037480726"/>
      </p:ext>
    </p:extLst>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41392-8C03-A9F6-0537-562820D5D9C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71F1BD05-E900-DB68-2FBA-CF950FD9959C}"/>
              </a:ext>
            </a:extLst>
          </p:cNvPr>
          <p:cNvPicPr>
            <a:picLocks noChangeAspect="1"/>
          </p:cNvPicPr>
          <p:nvPr/>
        </p:nvPicPr>
        <p:blipFill>
          <a:blip r:embed="rId2"/>
          <a:srcRect l="6494" t="23171" r="76930" b="30388"/>
          <a:stretch>
            <a:fillRect/>
          </a:stretch>
        </p:blipFill>
        <p:spPr>
          <a:xfrm>
            <a:off x="0" y="858643"/>
            <a:ext cx="7393259" cy="5825568"/>
          </a:xfrm>
          <a:prstGeom prst="rect">
            <a:avLst/>
          </a:prstGeom>
        </p:spPr>
      </p:pic>
      <p:sp>
        <p:nvSpPr>
          <p:cNvPr id="11" name="Rectangle 1">
            <a:extLst>
              <a:ext uri="{FF2B5EF4-FFF2-40B4-BE49-F238E27FC236}">
                <a16:creationId xmlns:a16="http://schemas.microsoft.com/office/drawing/2014/main" id="{5FF0D093-1C6E-7166-046E-9DCB66E8C2CD}"/>
              </a:ext>
            </a:extLst>
          </p:cNvPr>
          <p:cNvSpPr>
            <a:spLocks noChangeArrowheads="1"/>
          </p:cNvSpPr>
          <p:nvPr/>
        </p:nvSpPr>
        <p:spPr bwMode="auto">
          <a:xfrm>
            <a:off x="7393259" y="1218279"/>
            <a:ext cx="4616604"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mark: int -&gt; str are type hints: input is an integer, output is a string.</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The big return uses a chain of checks from lowest to highest.</a:t>
            </a:r>
          </a:p>
        </p:txBody>
      </p:sp>
      <p:sp>
        <p:nvSpPr>
          <p:cNvPr id="4" name="Title 1">
            <a:extLst>
              <a:ext uri="{FF2B5EF4-FFF2-40B4-BE49-F238E27FC236}">
                <a16:creationId xmlns:a16="http://schemas.microsoft.com/office/drawing/2014/main" id="{25B7EBE3-6C1F-25DD-BAD1-D3427DC4AC75}"/>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78316334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A191E-03CC-1104-849C-B8859AEA9F4E}"/>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65E500FA-7DEC-B4EF-798F-1CC310B0A616}"/>
              </a:ext>
            </a:extLst>
          </p:cNvPr>
          <p:cNvPicPr>
            <a:picLocks noChangeAspect="1"/>
          </p:cNvPicPr>
          <p:nvPr/>
        </p:nvPicPr>
        <p:blipFill>
          <a:blip r:embed="rId2"/>
          <a:srcRect l="6494" t="23171" r="76930" b="30388"/>
          <a:stretch>
            <a:fillRect/>
          </a:stretch>
        </p:blipFill>
        <p:spPr>
          <a:xfrm>
            <a:off x="0" y="858643"/>
            <a:ext cx="7393259" cy="5825568"/>
          </a:xfrm>
          <a:prstGeom prst="rect">
            <a:avLst/>
          </a:prstGeom>
        </p:spPr>
      </p:pic>
      <p:sp>
        <p:nvSpPr>
          <p:cNvPr id="11" name="Rectangle 1">
            <a:extLst>
              <a:ext uri="{FF2B5EF4-FFF2-40B4-BE49-F238E27FC236}">
                <a16:creationId xmlns:a16="http://schemas.microsoft.com/office/drawing/2014/main" id="{A26851B0-BFEF-3CD6-402F-01B008882B95}"/>
              </a:ext>
            </a:extLst>
          </p:cNvPr>
          <p:cNvSpPr>
            <a:spLocks noChangeArrowheads="1"/>
          </p:cNvSpPr>
          <p:nvPr/>
        </p:nvSpPr>
        <p:spPr bwMode="auto">
          <a:xfrm>
            <a:off x="7393259" y="173789"/>
            <a:ext cx="4798741" cy="6380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Python evaluates them in order:</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If mark &lt; 50, stop and return 'Z'.</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if mark &lt; 65, return 'P'.</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if mark &lt; 75, return 'C'.</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if mark &lt; 85, return 'D'.</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(so mark ≥ 85), return 'HD'.</a:t>
            </a:r>
          </a:p>
        </p:txBody>
      </p:sp>
      <p:sp>
        <p:nvSpPr>
          <p:cNvPr id="4" name="Title 1">
            <a:extLst>
              <a:ext uri="{FF2B5EF4-FFF2-40B4-BE49-F238E27FC236}">
                <a16:creationId xmlns:a16="http://schemas.microsoft.com/office/drawing/2014/main" id="{441BA534-22AE-DF3B-7975-EE5A3FDA893C}"/>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58223956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07F30-6C04-A002-4136-BC0BE5146C94}"/>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7B2B0F85-1E27-5D87-6CDD-6E8D72FC8574}"/>
              </a:ext>
            </a:extLst>
          </p:cNvPr>
          <p:cNvPicPr>
            <a:picLocks noChangeAspect="1"/>
          </p:cNvPicPr>
          <p:nvPr/>
        </p:nvPicPr>
        <p:blipFill>
          <a:blip r:embed="rId2"/>
          <a:srcRect l="6494" t="23171" r="76930" b="30388"/>
          <a:stretch>
            <a:fillRect/>
          </a:stretch>
        </p:blipFill>
        <p:spPr>
          <a:xfrm>
            <a:off x="0" y="858643"/>
            <a:ext cx="7393259" cy="5825568"/>
          </a:xfrm>
          <a:prstGeom prst="rect">
            <a:avLst/>
          </a:prstGeom>
        </p:spPr>
      </p:pic>
      <p:sp>
        <p:nvSpPr>
          <p:cNvPr id="11" name="Rectangle 1">
            <a:extLst>
              <a:ext uri="{FF2B5EF4-FFF2-40B4-BE49-F238E27FC236}">
                <a16:creationId xmlns:a16="http://schemas.microsoft.com/office/drawing/2014/main" id="{C8D5C90E-1F59-F0F0-1BB0-F7B4CB376ABB}"/>
              </a:ext>
            </a:extLst>
          </p:cNvPr>
          <p:cNvSpPr>
            <a:spLocks noChangeArrowheads="1"/>
          </p:cNvSpPr>
          <p:nvPr/>
        </p:nvSpPr>
        <p:spPr bwMode="auto">
          <a:xfrm>
            <a:off x="7393259" y="1735500"/>
            <a:ext cx="4798741"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Boundaries (exact edges)</a:t>
            </a:r>
          </a:p>
          <a:p>
            <a:pPr marL="914400" lvl="1" indent="-457200">
              <a:lnSpc>
                <a:spcPct val="150000"/>
              </a:lnSpc>
              <a:buFont typeface="Arial" panose="020B0604020202020204" pitchFamily="34" charset="0"/>
              <a:buChar char="•"/>
            </a:pPr>
            <a:r>
              <a:rPr lang="en-US" sz="2800" dirty="0">
                <a:latin typeface="Calibir"/>
              </a:rPr>
              <a:t>50 → P (not Z)</a:t>
            </a:r>
          </a:p>
          <a:p>
            <a:pPr marL="914400" lvl="1" indent="-457200">
              <a:lnSpc>
                <a:spcPct val="150000"/>
              </a:lnSpc>
              <a:buFont typeface="Arial" panose="020B0604020202020204" pitchFamily="34" charset="0"/>
              <a:buChar char="•"/>
            </a:pPr>
            <a:r>
              <a:rPr lang="en-US" sz="2800" dirty="0">
                <a:latin typeface="Calibir"/>
              </a:rPr>
              <a:t>65 → C</a:t>
            </a:r>
          </a:p>
          <a:p>
            <a:pPr marL="914400" lvl="1" indent="-457200">
              <a:lnSpc>
                <a:spcPct val="150000"/>
              </a:lnSpc>
              <a:buFont typeface="Arial" panose="020B0604020202020204" pitchFamily="34" charset="0"/>
              <a:buChar char="•"/>
            </a:pPr>
            <a:r>
              <a:rPr lang="en-US" sz="2800" dirty="0">
                <a:latin typeface="Calibir"/>
              </a:rPr>
              <a:t>75 → D</a:t>
            </a:r>
          </a:p>
          <a:p>
            <a:pPr marL="914400" lvl="1" indent="-457200">
              <a:lnSpc>
                <a:spcPct val="150000"/>
              </a:lnSpc>
              <a:buFont typeface="Arial" panose="020B0604020202020204" pitchFamily="34" charset="0"/>
              <a:buChar char="•"/>
            </a:pPr>
            <a:r>
              <a:rPr lang="en-US" sz="2800" dirty="0">
                <a:latin typeface="Calibir"/>
              </a:rPr>
              <a:t>85 → HD</a:t>
            </a:r>
          </a:p>
        </p:txBody>
      </p:sp>
      <p:sp>
        <p:nvSpPr>
          <p:cNvPr id="4" name="Title 1">
            <a:extLst>
              <a:ext uri="{FF2B5EF4-FFF2-40B4-BE49-F238E27FC236}">
                <a16:creationId xmlns:a16="http://schemas.microsoft.com/office/drawing/2014/main" id="{DCDC3F70-A762-C81E-1CAF-3A37BEF892A1}"/>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33474800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95AAD-3FC8-6C3C-2478-67F26A9EFDC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08A8AA2-268A-8943-1EBF-8B298079C096}"/>
              </a:ext>
            </a:extLst>
          </p:cNvPr>
          <p:cNvPicPr>
            <a:picLocks noChangeAspect="1"/>
          </p:cNvPicPr>
          <p:nvPr/>
        </p:nvPicPr>
        <p:blipFill>
          <a:blip r:embed="rId2"/>
          <a:srcRect l="6494" t="23171" r="66171" b="30388"/>
          <a:stretch>
            <a:fillRect/>
          </a:stretch>
        </p:blipFill>
        <p:spPr>
          <a:xfrm>
            <a:off x="0" y="858643"/>
            <a:ext cx="12192000" cy="5825568"/>
          </a:xfrm>
          <a:prstGeom prst="rect">
            <a:avLst/>
          </a:prstGeom>
        </p:spPr>
      </p:pic>
      <p:sp>
        <p:nvSpPr>
          <p:cNvPr id="3" name="TextBox 2">
            <a:extLst>
              <a:ext uri="{FF2B5EF4-FFF2-40B4-BE49-F238E27FC236}">
                <a16:creationId xmlns:a16="http://schemas.microsoft.com/office/drawing/2014/main" id="{D68416E2-49B4-7266-6F67-49449DB2B90D}"/>
              </a:ext>
            </a:extLst>
          </p:cNvPr>
          <p:cNvSpPr txBox="1"/>
          <p:nvPr/>
        </p:nvSpPr>
        <p:spPr>
          <a:xfrm>
            <a:off x="6012426" y="5521834"/>
            <a:ext cx="6179574" cy="1318181"/>
          </a:xfrm>
          <a:prstGeom prst="rect">
            <a:avLst/>
          </a:prstGeom>
          <a:solidFill>
            <a:schemeClr val="bg1"/>
          </a:solidFill>
          <a:ln w="38100">
            <a:solidFill>
              <a:srgbClr val="FF0000"/>
            </a:solidFill>
          </a:ln>
        </p:spPr>
        <p:txBody>
          <a:bodyPr wrap="square">
            <a:spAutoFit/>
          </a:bodyPr>
          <a:lstStyle/>
          <a:p>
            <a:pPr>
              <a:lnSpc>
                <a:spcPct val="150000"/>
              </a:lnSpc>
            </a:pPr>
            <a:r>
              <a:rPr lang="en-US" sz="2800" dirty="0">
                <a:latin typeface="Calibir"/>
              </a:rPr>
              <a:t>That’s all—it’s just a top-to-bottom check that stops at the first band that fits.</a:t>
            </a:r>
          </a:p>
        </p:txBody>
      </p:sp>
      <p:sp>
        <p:nvSpPr>
          <p:cNvPr id="5" name="Title 1">
            <a:extLst>
              <a:ext uri="{FF2B5EF4-FFF2-40B4-BE49-F238E27FC236}">
                <a16:creationId xmlns:a16="http://schemas.microsoft.com/office/drawing/2014/main" id="{0DDA1ADC-B12A-A65F-6379-7108AA46CEF6}"/>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24151389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0A188-5B14-DEF5-4D30-B150D73DBF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96C6B1-BECF-FCE8-5EC7-705495936B1F}"/>
              </a:ext>
            </a:extLst>
          </p:cNvPr>
          <p:cNvSpPr>
            <a:spLocks noGrp="1"/>
          </p:cNvSpPr>
          <p:nvPr>
            <p:ph type="title"/>
          </p:nvPr>
        </p:nvSpPr>
        <p:spPr>
          <a:xfrm>
            <a:off x="0" y="0"/>
            <a:ext cx="12192000" cy="1051034"/>
          </a:xfrm>
        </p:spPr>
        <p:txBody>
          <a:bodyPr anchor="b">
            <a:normAutofit/>
          </a:bodyPr>
          <a:lstStyle/>
          <a:p>
            <a:r>
              <a:rPr lang="en-US" sz="3300" b="1" dirty="0">
                <a:latin typeface="Calibir"/>
              </a:rPr>
              <a:t>Group Assignment – Part 2: Build hints (Python-first, JavaFX minority)</a:t>
            </a:r>
            <a:endParaRPr lang="en-AU" sz="3300" b="1" dirty="0">
              <a:latin typeface="Calibir"/>
            </a:endParaRPr>
          </a:p>
        </p:txBody>
      </p:sp>
      <p:sp>
        <p:nvSpPr>
          <p:cNvPr id="3" name="Rectangle 1">
            <a:extLst>
              <a:ext uri="{FF2B5EF4-FFF2-40B4-BE49-F238E27FC236}">
                <a16:creationId xmlns:a16="http://schemas.microsoft.com/office/drawing/2014/main" id="{8E2FBC33-E30E-BA12-DC28-3631A47896F5}"/>
              </a:ext>
            </a:extLst>
          </p:cNvPr>
          <p:cNvSpPr>
            <a:spLocks noChangeArrowheads="1"/>
          </p:cNvSpPr>
          <p:nvPr/>
        </p:nvSpPr>
        <p:spPr bwMode="auto">
          <a:xfrm>
            <a:off x="0" y="1420939"/>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Python CLI structure (suggestion):</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models/Student.py, Subject.py</a:t>
            </a:r>
          </a:p>
          <a:p>
            <a:pPr marL="914400" lvl="1" indent="-457200">
              <a:lnSpc>
                <a:spcPct val="150000"/>
              </a:lnSpc>
              <a:buFont typeface="Arial" panose="020B0604020202020204" pitchFamily="34" charset="0"/>
              <a:buChar char="•"/>
            </a:pPr>
            <a:r>
              <a:rPr lang="en-US" sz="2800" dirty="0">
                <a:latin typeface="Calibir"/>
              </a:rPr>
              <a:t>services/auth.py, id_gen.py, grade.py, store.py</a:t>
            </a:r>
          </a:p>
          <a:p>
            <a:pPr marL="914400" lvl="1" indent="-457200">
              <a:lnSpc>
                <a:spcPct val="150000"/>
              </a:lnSpc>
              <a:buFont typeface="Arial" panose="020B0604020202020204" pitchFamily="34" charset="0"/>
              <a:buChar char="•"/>
            </a:pPr>
            <a:r>
              <a:rPr lang="en-US" sz="2800" dirty="0">
                <a:latin typeface="Calibir"/>
              </a:rPr>
              <a:t>cli/university_menu.py, student_menu.py, admin_menu.py</a:t>
            </a:r>
          </a:p>
          <a:p>
            <a:pPr marL="914400" lvl="1" indent="-457200">
              <a:lnSpc>
                <a:spcPct val="150000"/>
              </a:lnSpc>
              <a:buFont typeface="Arial" panose="020B0604020202020204" pitchFamily="34" charset="0"/>
              <a:buChar char="•"/>
            </a:pPr>
            <a:r>
              <a:rPr lang="en-US" sz="2800" dirty="0">
                <a:latin typeface="Calibir"/>
              </a:rPr>
              <a:t>Data file: </a:t>
            </a:r>
            <a:r>
              <a:rPr lang="en-US" sz="2800" dirty="0" err="1">
                <a:latin typeface="Calibir"/>
              </a:rPr>
              <a:t>students.data</a:t>
            </a:r>
            <a:r>
              <a:rPr lang="en-US" sz="2800" dirty="0">
                <a:latin typeface="Calibir"/>
              </a:rPr>
              <a:t> (JSONL).</a:t>
            </a:r>
          </a:p>
          <a:p>
            <a:pPr marL="914400" lvl="1" indent="-457200">
              <a:lnSpc>
                <a:spcPct val="150000"/>
              </a:lnSpc>
              <a:buFont typeface="Arial" panose="020B0604020202020204" pitchFamily="34" charset="0"/>
              <a:buChar char="•"/>
            </a:pPr>
            <a:r>
              <a:rPr lang="en-US" sz="2800" dirty="0">
                <a:latin typeface="Calibir"/>
              </a:rPr>
              <a:t>Keep regex as constants; wrap file I/O with try/except; always re-write the file after CRUD.</a:t>
            </a:r>
          </a:p>
        </p:txBody>
      </p:sp>
    </p:spTree>
    <p:extLst>
      <p:ext uri="{BB962C8B-B14F-4D97-AF65-F5344CB8AC3E}">
        <p14:creationId xmlns:p14="http://schemas.microsoft.com/office/powerpoint/2010/main" val="49474850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B3914-DFB1-7330-AA0D-02A4C6B8E3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C0CB54-B773-E0CE-14D7-9BB7ADE08829}"/>
              </a:ext>
            </a:extLst>
          </p:cNvPr>
          <p:cNvSpPr>
            <a:spLocks noGrp="1"/>
          </p:cNvSpPr>
          <p:nvPr>
            <p:ph type="title"/>
          </p:nvPr>
        </p:nvSpPr>
        <p:spPr>
          <a:xfrm>
            <a:off x="0" y="0"/>
            <a:ext cx="12192000" cy="1051034"/>
          </a:xfrm>
        </p:spPr>
        <p:txBody>
          <a:bodyPr anchor="b">
            <a:normAutofit/>
          </a:bodyPr>
          <a:lstStyle/>
          <a:p>
            <a:r>
              <a:rPr lang="en-US" sz="3300" b="1" dirty="0">
                <a:latin typeface="Calibir"/>
              </a:rPr>
              <a:t>Group Assignment – Part 2: Build hints (Python-first, JavaFX minority)</a:t>
            </a:r>
            <a:endParaRPr lang="en-AU" sz="3300" b="1" dirty="0">
              <a:latin typeface="Calibir"/>
            </a:endParaRPr>
          </a:p>
        </p:txBody>
      </p:sp>
      <p:sp>
        <p:nvSpPr>
          <p:cNvPr id="3" name="Rectangle 1">
            <a:extLst>
              <a:ext uri="{FF2B5EF4-FFF2-40B4-BE49-F238E27FC236}">
                <a16:creationId xmlns:a16="http://schemas.microsoft.com/office/drawing/2014/main" id="{B71F7D84-DBF4-B942-A278-8BEFF43A29F3}"/>
              </a:ext>
            </a:extLst>
          </p:cNvPr>
          <p:cNvSpPr>
            <a:spLocks noChangeArrowheads="1"/>
          </p:cNvSpPr>
          <p:nvPr/>
        </p:nvSpPr>
        <p:spPr bwMode="auto">
          <a:xfrm>
            <a:off x="0" y="2390436"/>
            <a:ext cx="1219200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JavaFX (optional challenge later):</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MVC folders: model/, controller/, view/ (FXML).</a:t>
            </a:r>
          </a:p>
          <a:p>
            <a:pPr marL="914400" lvl="1" indent="-457200">
              <a:lnSpc>
                <a:spcPct val="150000"/>
              </a:lnSpc>
              <a:buFont typeface="Arial" panose="020B0604020202020204" pitchFamily="34" charset="0"/>
              <a:buChar char="•"/>
            </a:pPr>
            <a:r>
              <a:rPr lang="en-US" sz="2800" dirty="0">
                <a:latin typeface="Calibir"/>
              </a:rPr>
              <a:t>Start with login window → enrolment window.</a:t>
            </a:r>
          </a:p>
          <a:p>
            <a:pPr marL="914400" lvl="1" indent="-457200">
              <a:lnSpc>
                <a:spcPct val="150000"/>
              </a:lnSpc>
              <a:buFont typeface="Arial" panose="020B0604020202020204" pitchFamily="34" charset="0"/>
              <a:buChar char="•"/>
            </a:pPr>
            <a:r>
              <a:rPr lang="en-US" sz="2800" dirty="0">
                <a:latin typeface="Calibir"/>
              </a:rPr>
              <a:t>Read registered students from </a:t>
            </a:r>
            <a:r>
              <a:rPr lang="en-US" sz="2800" dirty="0" err="1">
                <a:latin typeface="Calibir"/>
              </a:rPr>
              <a:t>students.data</a:t>
            </a:r>
            <a:r>
              <a:rPr lang="en-US" sz="2800" dirty="0">
                <a:latin typeface="Calibir"/>
              </a:rPr>
              <a:t>.</a:t>
            </a:r>
          </a:p>
        </p:txBody>
      </p:sp>
    </p:spTree>
    <p:extLst>
      <p:ext uri="{BB962C8B-B14F-4D97-AF65-F5344CB8AC3E}">
        <p14:creationId xmlns:p14="http://schemas.microsoft.com/office/powerpoint/2010/main" val="38907648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1B6E0-D345-A311-4B34-F88736AC45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AAF1-F83B-6092-2219-929CE7742800}"/>
              </a:ext>
            </a:extLst>
          </p:cNvPr>
          <p:cNvSpPr>
            <a:spLocks noGrp="1"/>
          </p:cNvSpPr>
          <p:nvPr>
            <p:ph type="title"/>
          </p:nvPr>
        </p:nvSpPr>
        <p:spPr>
          <a:xfrm>
            <a:off x="0" y="0"/>
            <a:ext cx="12192000" cy="1051034"/>
          </a:xfrm>
        </p:spPr>
        <p:txBody>
          <a:bodyPr anchor="b">
            <a:normAutofit/>
          </a:bodyPr>
          <a:lstStyle/>
          <a:p>
            <a:r>
              <a:rPr lang="en-US" sz="3300" b="1" dirty="0">
                <a:latin typeface="Calibir"/>
              </a:rPr>
              <a:t>Group Assignment – Part 2: Build hints (Python-first, JavaFX minority)</a:t>
            </a:r>
            <a:endParaRPr lang="en-AU" sz="3300" b="1" dirty="0">
              <a:latin typeface="Calibir"/>
            </a:endParaRPr>
          </a:p>
        </p:txBody>
      </p:sp>
      <p:sp>
        <p:nvSpPr>
          <p:cNvPr id="3" name="Rectangle 1">
            <a:extLst>
              <a:ext uri="{FF2B5EF4-FFF2-40B4-BE49-F238E27FC236}">
                <a16:creationId xmlns:a16="http://schemas.microsoft.com/office/drawing/2014/main" id="{D8622D64-C2E7-AE96-9FFA-72EF3F66BA37}"/>
              </a:ext>
            </a:extLst>
          </p:cNvPr>
          <p:cNvSpPr>
            <a:spLocks noChangeArrowheads="1"/>
          </p:cNvSpPr>
          <p:nvPr/>
        </p:nvSpPr>
        <p:spPr bwMode="auto">
          <a:xfrm>
            <a:off x="0" y="1744106"/>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Coding do/avoid:</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Do unit-size functions (e.g., </a:t>
            </a:r>
            <a:r>
              <a:rPr lang="en-US" sz="2800" dirty="0" err="1">
                <a:latin typeface="Calibir"/>
              </a:rPr>
              <a:t>assign_mark_and_grade</a:t>
            </a:r>
            <a:r>
              <a:rPr lang="en-US" sz="2800" dirty="0">
                <a:latin typeface="Calibir"/>
              </a:rPr>
              <a:t>()), no giant methods.</a:t>
            </a:r>
          </a:p>
          <a:p>
            <a:pPr marL="914400" lvl="1" indent="-457200">
              <a:lnSpc>
                <a:spcPct val="150000"/>
              </a:lnSpc>
              <a:buFont typeface="Arial" panose="020B0604020202020204" pitchFamily="34" charset="0"/>
              <a:buChar char="•"/>
            </a:pPr>
            <a:r>
              <a:rPr lang="en-US" sz="2800" dirty="0">
                <a:latin typeface="Calibir"/>
              </a:rPr>
              <a:t>Do input validation; mirror sample I/O wording.</a:t>
            </a:r>
          </a:p>
          <a:p>
            <a:pPr marL="914400" lvl="1" indent="-457200">
              <a:lnSpc>
                <a:spcPct val="150000"/>
              </a:lnSpc>
              <a:buFont typeface="Arial" panose="020B0604020202020204" pitchFamily="34" charset="0"/>
              <a:buChar char="•"/>
            </a:pPr>
            <a:r>
              <a:rPr lang="en-US" sz="2800" dirty="0">
                <a:latin typeface="Calibir"/>
              </a:rPr>
              <a:t>Avoid plaintext passwords in examples (hash in design; for Part 2, at minimum note hashing TODO).</a:t>
            </a:r>
          </a:p>
          <a:p>
            <a:pPr marL="914400" lvl="1" indent="-457200">
              <a:lnSpc>
                <a:spcPct val="150000"/>
              </a:lnSpc>
              <a:buFont typeface="Arial" panose="020B0604020202020204" pitchFamily="34" charset="0"/>
              <a:buChar char="•"/>
            </a:pPr>
            <a:r>
              <a:rPr lang="en-US" sz="2800" dirty="0">
                <a:latin typeface="Calibir"/>
              </a:rPr>
              <a:t>Avoid mixing model and menu logic; keep menus thin.</a:t>
            </a:r>
          </a:p>
        </p:txBody>
      </p:sp>
    </p:spTree>
    <p:extLst>
      <p:ext uri="{BB962C8B-B14F-4D97-AF65-F5344CB8AC3E}">
        <p14:creationId xmlns:p14="http://schemas.microsoft.com/office/powerpoint/2010/main" val="255060612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52624-4228-858F-B9E8-7D8C334A53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97764C-CD11-2A9D-8F44-8CF5A33819E4}"/>
              </a:ext>
            </a:extLst>
          </p:cNvPr>
          <p:cNvSpPr>
            <a:spLocks noGrp="1"/>
          </p:cNvSpPr>
          <p:nvPr>
            <p:ph type="title"/>
          </p:nvPr>
        </p:nvSpPr>
        <p:spPr>
          <a:xfrm>
            <a:off x="0" y="0"/>
            <a:ext cx="12192000" cy="651641"/>
          </a:xfrm>
        </p:spPr>
        <p:txBody>
          <a:bodyPr anchor="b">
            <a:normAutofit/>
          </a:bodyPr>
          <a:lstStyle/>
          <a:p>
            <a:r>
              <a:rPr lang="en-US" sz="3300" b="1" dirty="0">
                <a:latin typeface="Calibir"/>
              </a:rPr>
              <a:t>Group Assignment – Part 3: Showcase tips</a:t>
            </a:r>
            <a:endParaRPr lang="en-AU" sz="3300" b="1" dirty="0">
              <a:latin typeface="Calibir"/>
            </a:endParaRPr>
          </a:p>
        </p:txBody>
      </p:sp>
      <p:sp>
        <p:nvSpPr>
          <p:cNvPr id="3" name="Rectangle 1">
            <a:extLst>
              <a:ext uri="{FF2B5EF4-FFF2-40B4-BE49-F238E27FC236}">
                <a16:creationId xmlns:a16="http://schemas.microsoft.com/office/drawing/2014/main" id="{D399C664-60C1-3319-A4A0-6081EC566515}"/>
              </a:ext>
            </a:extLst>
          </p:cNvPr>
          <p:cNvSpPr>
            <a:spLocks noChangeArrowheads="1"/>
          </p:cNvSpPr>
          <p:nvPr/>
        </p:nvSpPr>
        <p:spPr bwMode="auto">
          <a:xfrm>
            <a:off x="0" y="1097775"/>
            <a:ext cx="12192000"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Plan a 5–7 min script:</a:t>
            </a:r>
          </a:p>
          <a:p>
            <a:pPr marL="971550" lvl="1" indent="-514350">
              <a:lnSpc>
                <a:spcPct val="150000"/>
              </a:lnSpc>
              <a:buFont typeface="+mj-lt"/>
              <a:buAutoNum type="arabicPeriod"/>
            </a:pPr>
            <a:r>
              <a:rPr lang="en-US" sz="2800" dirty="0">
                <a:latin typeface="Calibir"/>
              </a:rPr>
              <a:t>Open app → show University → Student/Admin navigation.</a:t>
            </a:r>
          </a:p>
          <a:p>
            <a:pPr marL="971550" lvl="1" indent="-514350">
              <a:lnSpc>
                <a:spcPct val="150000"/>
              </a:lnSpc>
              <a:buFont typeface="+mj-lt"/>
              <a:buAutoNum type="arabicPeriod"/>
            </a:pPr>
            <a:r>
              <a:rPr lang="en-US" sz="2800" dirty="0">
                <a:latin typeface="Calibir"/>
              </a:rPr>
              <a:t>Student flow: register/login → </a:t>
            </a:r>
            <a:r>
              <a:rPr lang="en-US" sz="2800" dirty="0" err="1">
                <a:latin typeface="Calibir"/>
              </a:rPr>
              <a:t>enrol</a:t>
            </a:r>
            <a:r>
              <a:rPr lang="en-US" sz="2800" dirty="0">
                <a:latin typeface="Calibir"/>
              </a:rPr>
              <a:t> (cap at 4) → show → remove → change password.</a:t>
            </a:r>
          </a:p>
          <a:p>
            <a:pPr marL="971550" lvl="1" indent="-514350">
              <a:lnSpc>
                <a:spcPct val="150000"/>
              </a:lnSpc>
              <a:buFont typeface="+mj-lt"/>
              <a:buAutoNum type="arabicPeriod"/>
            </a:pPr>
            <a:r>
              <a:rPr lang="en-US" sz="2800" dirty="0">
                <a:latin typeface="Calibir"/>
              </a:rPr>
              <a:t>Admin flow: list → group by grade → PASS/FAIL → remove → clear.</a:t>
            </a:r>
          </a:p>
          <a:p>
            <a:pPr marL="971550" lvl="1" indent="-514350">
              <a:lnSpc>
                <a:spcPct val="150000"/>
              </a:lnSpc>
              <a:buFont typeface="+mj-lt"/>
              <a:buAutoNum type="arabicPeriod"/>
            </a:pPr>
            <a:r>
              <a:rPr lang="en-US" sz="2800" dirty="0">
                <a:latin typeface="Calibir"/>
              </a:rPr>
              <a:t>Code walkthrough: each member shows their class/function for ~45–60s (what it does, where it’s called).</a:t>
            </a:r>
            <a:br>
              <a:rPr lang="en-US" sz="2800" dirty="0">
                <a:latin typeface="Calibir"/>
              </a:rPr>
            </a:br>
            <a:r>
              <a:rPr lang="en-US" sz="2800" dirty="0">
                <a:latin typeface="Calibir"/>
              </a:rPr>
              <a:t>Avoid: live debugging on stage; changing scope; reading long code blocks.</a:t>
            </a:r>
          </a:p>
        </p:txBody>
      </p:sp>
    </p:spTree>
    <p:extLst>
      <p:ext uri="{BB962C8B-B14F-4D97-AF65-F5344CB8AC3E}">
        <p14:creationId xmlns:p14="http://schemas.microsoft.com/office/powerpoint/2010/main" val="110872201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6A9D-9039-9642-5CCF-67EA32DF834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F579FD-B7B2-6D6E-2A39-1FB7E494FC55}"/>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C05DAAD9-B5BE-B2CA-19CB-E4F747A7C518}"/>
              </a:ext>
            </a:extLst>
          </p:cNvPr>
          <p:cNvSpPr txBox="1"/>
          <p:nvPr/>
        </p:nvSpPr>
        <p:spPr>
          <a:xfrm>
            <a:off x="0" y="1114097"/>
            <a:ext cx="11939752" cy="4549835"/>
          </a:xfrm>
          <a:prstGeom prst="rect">
            <a:avLst/>
          </a:prstGeom>
          <a:noFill/>
        </p:spPr>
        <p:txBody>
          <a:bodyPr wrap="square">
            <a:spAutoFit/>
          </a:bodyPr>
          <a:lstStyle/>
          <a:p>
            <a:pPr>
              <a:lnSpc>
                <a:spcPct val="150000"/>
              </a:lnSpc>
              <a:buNone/>
            </a:pPr>
            <a:r>
              <a:rPr lang="en-US" sz="2800" b="1" dirty="0">
                <a:latin typeface="Calibir"/>
              </a:rPr>
              <a:t>Mini case</a:t>
            </a:r>
          </a:p>
          <a:p>
            <a:pPr>
              <a:lnSpc>
                <a:spcPct val="150000"/>
              </a:lnSpc>
              <a:buNone/>
            </a:pPr>
            <a:r>
              <a:rPr lang="en-US" sz="2800" dirty="0">
                <a:latin typeface="Calibir"/>
              </a:rPr>
              <a:t>Users create Events (title, date). Users can book Tickets. One user can book many tickets; an event has many tickets → many-to-many via Booking association class (</a:t>
            </a:r>
            <a:r>
              <a:rPr lang="en-US" sz="2800" dirty="0" err="1">
                <a:latin typeface="Calibir"/>
              </a:rPr>
              <a:t>bookingId</a:t>
            </a:r>
            <a:r>
              <a:rPr lang="en-US" sz="2800" dirty="0">
                <a:latin typeface="Calibir"/>
              </a:rPr>
              <a:t>, qty, timestamp). An event may have a parent event (series) → reflexive association. Tickets can be PENDING/CONFIRMED/CANCELLED (simple state).</a:t>
            </a:r>
          </a:p>
          <a:p>
            <a:pPr>
              <a:lnSpc>
                <a:spcPct val="150000"/>
              </a:lnSpc>
              <a:buNone/>
            </a:pPr>
            <a:r>
              <a:rPr lang="en-US" sz="2800" dirty="0">
                <a:latin typeface="Calibir"/>
              </a:rPr>
              <a:t>Think of Candidate Classes, Key Relationships, Sample Backlogs IDs, </a:t>
            </a:r>
          </a:p>
        </p:txBody>
      </p:sp>
      <p:pic>
        <p:nvPicPr>
          <p:cNvPr id="11" name="Timer">
            <a:hlinkClick r:id="" action="ppaction://media"/>
            <a:extLst>
              <a:ext uri="{FF2B5EF4-FFF2-40B4-BE49-F238E27FC236}">
                <a16:creationId xmlns:a16="http://schemas.microsoft.com/office/drawing/2014/main" id="{EF062D43-C47D-2B2E-C45C-C44A1087D169}"/>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5190950" y="5663932"/>
            <a:ext cx="2300750" cy="1076632"/>
          </a:xfrm>
          <a:prstGeom prst="rect">
            <a:avLst/>
          </a:prstGeom>
          <a:ln w="38100">
            <a:solidFill>
              <a:srgbClr val="FF0000"/>
            </a:solidFill>
          </a:ln>
        </p:spPr>
      </p:pic>
    </p:spTree>
    <p:extLst>
      <p:ext uri="{BB962C8B-B14F-4D97-AF65-F5344CB8AC3E}">
        <p14:creationId xmlns:p14="http://schemas.microsoft.com/office/powerpoint/2010/main" val="1393456581"/>
      </p:ext>
    </p:extLst>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6A9D-9039-9642-5CCF-67EA32DF834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F579FD-B7B2-6D6E-2A39-1FB7E494FC55}"/>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C05DAAD9-B5BE-B2CA-19CB-E4F747A7C518}"/>
              </a:ext>
            </a:extLst>
          </p:cNvPr>
          <p:cNvSpPr txBox="1"/>
          <p:nvPr/>
        </p:nvSpPr>
        <p:spPr>
          <a:xfrm>
            <a:off x="0" y="1114097"/>
            <a:ext cx="11939752" cy="3903504"/>
          </a:xfrm>
          <a:prstGeom prst="rect">
            <a:avLst/>
          </a:prstGeom>
          <a:noFill/>
        </p:spPr>
        <p:txBody>
          <a:bodyPr wrap="square">
            <a:spAutoFit/>
          </a:bodyPr>
          <a:lstStyle/>
          <a:p>
            <a:pPr>
              <a:lnSpc>
                <a:spcPct val="150000"/>
              </a:lnSpc>
            </a:pPr>
            <a:r>
              <a:rPr lang="en-US" sz="2800" b="1" dirty="0">
                <a:latin typeface="Calibir"/>
              </a:rPr>
              <a:t>Candidate classes</a:t>
            </a:r>
          </a:p>
          <a:p>
            <a:pPr marL="914400" lvl="1" indent="-457200">
              <a:lnSpc>
                <a:spcPct val="150000"/>
              </a:lnSpc>
              <a:buFont typeface="Arial" panose="020B0604020202020204" pitchFamily="34" charset="0"/>
              <a:buChar char="•"/>
            </a:pPr>
            <a:r>
              <a:rPr lang="en-US" sz="2800" dirty="0">
                <a:latin typeface="Calibir"/>
              </a:rPr>
              <a:t>User (id, name, email)</a:t>
            </a:r>
          </a:p>
          <a:p>
            <a:pPr marL="914400" lvl="1" indent="-457200">
              <a:lnSpc>
                <a:spcPct val="150000"/>
              </a:lnSpc>
              <a:buFont typeface="Arial" panose="020B0604020202020204" pitchFamily="34" charset="0"/>
              <a:buChar char="•"/>
            </a:pPr>
            <a:r>
              <a:rPr lang="en-US" sz="2800" dirty="0">
                <a:latin typeface="Calibir"/>
              </a:rPr>
              <a:t>Event (id, title, date, </a:t>
            </a:r>
            <a:r>
              <a:rPr lang="en-US" sz="2800" dirty="0" err="1">
                <a:latin typeface="Calibir"/>
              </a:rPr>
              <a:t>parentEvent</a:t>
            </a:r>
            <a:r>
              <a:rPr lang="en-US" sz="2800" dirty="0">
                <a:latin typeface="Calibir"/>
              </a:rPr>
              <a:t>?) </a:t>
            </a:r>
            <a:r>
              <a:rPr lang="en-US" sz="2800" i="1" dirty="0">
                <a:latin typeface="Calibir"/>
              </a:rPr>
              <a:t>(reflexive)</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Ticket (id, price, state)</a:t>
            </a:r>
          </a:p>
          <a:p>
            <a:pPr marL="914400" lvl="1" indent="-457200">
              <a:lnSpc>
                <a:spcPct val="150000"/>
              </a:lnSpc>
              <a:buFont typeface="Arial" panose="020B0604020202020204" pitchFamily="34" charset="0"/>
              <a:buChar char="•"/>
            </a:pPr>
            <a:r>
              <a:rPr lang="en-US" sz="2800" dirty="0">
                <a:latin typeface="Calibir"/>
              </a:rPr>
              <a:t>Booking </a:t>
            </a:r>
            <a:r>
              <a:rPr lang="en-US" sz="2800" i="1" dirty="0">
                <a:latin typeface="Calibir"/>
              </a:rPr>
              <a:t>(association class between User and Event)</a:t>
            </a:r>
            <a:r>
              <a:rPr lang="en-US" sz="2800" dirty="0">
                <a:latin typeface="Calibir"/>
              </a:rPr>
              <a:t>: qty, timestamp</a:t>
            </a:r>
          </a:p>
          <a:p>
            <a:pPr marL="914400" lvl="1" indent="-457200">
              <a:lnSpc>
                <a:spcPct val="150000"/>
              </a:lnSpc>
              <a:buFont typeface="Arial" panose="020B0604020202020204" pitchFamily="34" charset="0"/>
              <a:buChar char="•"/>
            </a:pPr>
            <a:r>
              <a:rPr lang="en-US" sz="2800" dirty="0">
                <a:latin typeface="Calibir"/>
              </a:rPr>
              <a:t>Store for file I/O</a:t>
            </a:r>
          </a:p>
        </p:txBody>
      </p:sp>
    </p:spTree>
    <p:extLst>
      <p:ext uri="{BB962C8B-B14F-4D97-AF65-F5344CB8AC3E}">
        <p14:creationId xmlns:p14="http://schemas.microsoft.com/office/powerpoint/2010/main" val="312696872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51496-E844-AA00-56FD-97FBF3CF483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A7EDC9-EAF9-4E85-715F-4E18B0042E07}"/>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931B7AAC-9D59-23E7-4CC2-4DC6A146186F}"/>
              </a:ext>
            </a:extLst>
          </p:cNvPr>
          <p:cNvSpPr txBox="1"/>
          <p:nvPr/>
        </p:nvSpPr>
        <p:spPr>
          <a:xfrm>
            <a:off x="0" y="1114097"/>
            <a:ext cx="11939752" cy="2610843"/>
          </a:xfrm>
          <a:prstGeom prst="rect">
            <a:avLst/>
          </a:prstGeom>
          <a:noFill/>
        </p:spPr>
        <p:txBody>
          <a:bodyPr wrap="square">
            <a:spAutoFit/>
          </a:bodyPr>
          <a:lstStyle/>
          <a:p>
            <a:pPr>
              <a:lnSpc>
                <a:spcPct val="150000"/>
              </a:lnSpc>
            </a:pPr>
            <a:r>
              <a:rPr lang="en-US" sz="2800" b="1" dirty="0">
                <a:latin typeface="Calibir"/>
              </a:rPr>
              <a:t>Key relationships</a:t>
            </a:r>
          </a:p>
          <a:p>
            <a:pPr marL="914400" lvl="1" indent="-457200">
              <a:lnSpc>
                <a:spcPct val="150000"/>
              </a:lnSpc>
              <a:buFont typeface="Arial" panose="020B0604020202020204" pitchFamily="34" charset="0"/>
              <a:buChar char="•"/>
            </a:pPr>
            <a:r>
              <a:rPr lang="en-US" sz="2800" dirty="0">
                <a:latin typeface="Calibir"/>
              </a:rPr>
              <a:t>User M ── M Event through Booking (association class)</a:t>
            </a:r>
          </a:p>
          <a:p>
            <a:pPr marL="914400" lvl="1" indent="-457200">
              <a:lnSpc>
                <a:spcPct val="150000"/>
              </a:lnSpc>
              <a:buFont typeface="Arial" panose="020B0604020202020204" pitchFamily="34" charset="0"/>
              <a:buChar char="•"/>
            </a:pPr>
            <a:r>
              <a:rPr lang="en-US" sz="2800" dirty="0">
                <a:latin typeface="Calibir"/>
              </a:rPr>
              <a:t>Event 0, 1 ── 0, M Event </a:t>
            </a:r>
            <a:r>
              <a:rPr lang="en-US" sz="2800" i="1" dirty="0">
                <a:latin typeface="Calibir"/>
              </a:rPr>
              <a:t>(reflexive “is part of series”)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Booking 1 ── M Ticket </a:t>
            </a:r>
            <a:r>
              <a:rPr lang="en-US" sz="2800" i="1" dirty="0">
                <a:latin typeface="Calibir"/>
              </a:rPr>
              <a:t>(composition: tickets belong to that booking)</a:t>
            </a:r>
            <a:endParaRPr lang="en-US" sz="2800" dirty="0">
              <a:latin typeface="Calibir"/>
            </a:endParaRPr>
          </a:p>
        </p:txBody>
      </p:sp>
    </p:spTree>
    <p:extLst>
      <p:ext uri="{BB962C8B-B14F-4D97-AF65-F5344CB8AC3E}">
        <p14:creationId xmlns:p14="http://schemas.microsoft.com/office/powerpoint/2010/main" val="27212171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EC179-14D2-DADB-A460-B6A80F0985E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0A92F7-7CA9-F20D-D73D-C7BE8936E194}"/>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7145F417-5C3A-9844-D350-DEBB457E3305}"/>
              </a:ext>
            </a:extLst>
          </p:cNvPr>
          <p:cNvSpPr txBox="1"/>
          <p:nvPr/>
        </p:nvSpPr>
        <p:spPr>
          <a:xfrm>
            <a:off x="0" y="1114097"/>
            <a:ext cx="11939752" cy="3903504"/>
          </a:xfrm>
          <a:prstGeom prst="rect">
            <a:avLst/>
          </a:prstGeom>
          <a:noFill/>
        </p:spPr>
        <p:txBody>
          <a:bodyPr wrap="square">
            <a:spAutoFit/>
          </a:bodyPr>
          <a:lstStyle/>
          <a:p>
            <a:pPr>
              <a:lnSpc>
                <a:spcPct val="150000"/>
              </a:lnSpc>
            </a:pPr>
            <a:r>
              <a:rPr lang="en-US" sz="2800" b="1" dirty="0">
                <a:latin typeface="Calibir"/>
              </a:rPr>
              <a:t>Sample backlog IDs</a:t>
            </a:r>
          </a:p>
          <a:p>
            <a:pPr marL="914400" lvl="1" indent="-457200">
              <a:lnSpc>
                <a:spcPct val="150000"/>
              </a:lnSpc>
              <a:buFont typeface="Arial" panose="020B0604020202020204" pitchFamily="34" charset="0"/>
              <a:buChar char="•"/>
            </a:pPr>
            <a:r>
              <a:rPr lang="en-US" sz="2800" dirty="0">
                <a:latin typeface="Calibir"/>
              </a:rPr>
              <a:t>100 Register/login user</a:t>
            </a:r>
          </a:p>
          <a:p>
            <a:pPr marL="914400" lvl="1" indent="-457200">
              <a:lnSpc>
                <a:spcPct val="150000"/>
              </a:lnSpc>
              <a:buFont typeface="Arial" panose="020B0604020202020204" pitchFamily="34" charset="0"/>
              <a:buChar char="•"/>
            </a:pPr>
            <a:r>
              <a:rPr lang="en-US" sz="2800" dirty="0">
                <a:latin typeface="Calibir"/>
              </a:rPr>
              <a:t>200 Create event</a:t>
            </a:r>
          </a:p>
          <a:p>
            <a:pPr marL="914400" lvl="1" indent="-457200">
              <a:lnSpc>
                <a:spcPct val="150000"/>
              </a:lnSpc>
              <a:buFont typeface="Arial" panose="020B0604020202020204" pitchFamily="34" charset="0"/>
              <a:buChar char="•"/>
            </a:pPr>
            <a:r>
              <a:rPr lang="en-US" sz="2800" dirty="0">
                <a:latin typeface="Calibir"/>
              </a:rPr>
              <a:t>300 Book tickets / include check availability / include save</a:t>
            </a:r>
          </a:p>
          <a:p>
            <a:pPr marL="914400" lvl="1" indent="-457200">
              <a:lnSpc>
                <a:spcPct val="150000"/>
              </a:lnSpc>
              <a:buFont typeface="Arial" panose="020B0604020202020204" pitchFamily="34" charset="0"/>
              <a:buChar char="•"/>
            </a:pPr>
            <a:r>
              <a:rPr lang="en-US" sz="2800" dirty="0">
                <a:latin typeface="Calibir"/>
              </a:rPr>
              <a:t>310 Cancel booking / extend show refund notice</a:t>
            </a:r>
          </a:p>
          <a:p>
            <a:pPr marL="914400" lvl="1" indent="-457200">
              <a:lnSpc>
                <a:spcPct val="150000"/>
              </a:lnSpc>
              <a:buFont typeface="Arial" panose="020B0604020202020204" pitchFamily="34" charset="0"/>
              <a:buChar char="•"/>
            </a:pPr>
            <a:r>
              <a:rPr lang="en-US" sz="2800" dirty="0">
                <a:latin typeface="Calibir"/>
              </a:rPr>
              <a:t>400 List events and my bookings</a:t>
            </a:r>
          </a:p>
        </p:txBody>
      </p:sp>
    </p:spTree>
    <p:extLst>
      <p:ext uri="{BB962C8B-B14F-4D97-AF65-F5344CB8AC3E}">
        <p14:creationId xmlns:p14="http://schemas.microsoft.com/office/powerpoint/2010/main" val="39818987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D944C-D1D0-75E0-ABB0-35E64CC7551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863223-E91C-C1AB-3067-BF2F6A12E9FF}"/>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7434FC6D-DD37-ED20-F1F2-4A1A6C31D185}"/>
              </a:ext>
            </a:extLst>
          </p:cNvPr>
          <p:cNvSpPr txBox="1"/>
          <p:nvPr/>
        </p:nvSpPr>
        <p:spPr>
          <a:xfrm>
            <a:off x="0" y="1114097"/>
            <a:ext cx="11939752" cy="4549835"/>
          </a:xfrm>
          <a:prstGeom prst="rect">
            <a:avLst/>
          </a:prstGeom>
          <a:noFill/>
        </p:spPr>
        <p:txBody>
          <a:bodyPr wrap="square">
            <a:spAutoFit/>
          </a:bodyPr>
          <a:lstStyle/>
          <a:p>
            <a:pPr>
              <a:lnSpc>
                <a:spcPct val="150000"/>
              </a:lnSpc>
            </a:pPr>
            <a:r>
              <a:rPr lang="en-US" sz="2800" dirty="0">
                <a:latin typeface="Calibir"/>
              </a:rPr>
              <a:t>Activity:</a:t>
            </a:r>
          </a:p>
          <a:p>
            <a:pPr marL="514350" indent="-514350">
              <a:lnSpc>
                <a:spcPct val="150000"/>
              </a:lnSpc>
              <a:buFont typeface="+mj-lt"/>
              <a:buAutoNum type="arabicPeriod"/>
            </a:pPr>
            <a:r>
              <a:rPr lang="en-US" sz="2800" dirty="0">
                <a:latin typeface="Calibir"/>
              </a:rPr>
              <a:t>Association class practice: Draw Booking between User and Event with attributes; add multiplicities on both sides.</a:t>
            </a:r>
          </a:p>
          <a:p>
            <a:pPr marL="514350" indent="-514350">
              <a:lnSpc>
                <a:spcPct val="150000"/>
              </a:lnSpc>
              <a:buFont typeface="+mj-lt"/>
              <a:buAutoNum type="arabicPeriod"/>
            </a:pPr>
            <a:r>
              <a:rPr lang="en-US" sz="2800" dirty="0">
                <a:latin typeface="Calibir"/>
              </a:rPr>
              <a:t>Reflexive association: Add Event → Event “</a:t>
            </a:r>
            <a:r>
              <a:rPr lang="en-US" sz="2800" dirty="0" err="1">
                <a:latin typeface="Calibir"/>
              </a:rPr>
              <a:t>parentOf</a:t>
            </a:r>
            <a:r>
              <a:rPr lang="en-US" sz="2800" dirty="0">
                <a:latin typeface="Calibir"/>
              </a:rPr>
              <a:t>”; mark multiplicity 0..1 to 0..M.</a:t>
            </a:r>
          </a:p>
          <a:p>
            <a:pPr marL="514350" indent="-514350">
              <a:lnSpc>
                <a:spcPct val="150000"/>
              </a:lnSpc>
              <a:buFont typeface="+mj-lt"/>
              <a:buAutoNum type="arabicPeriod"/>
            </a:pPr>
            <a:r>
              <a:rPr lang="en-US" sz="2800" dirty="0">
                <a:latin typeface="Calibir"/>
              </a:rPr>
              <a:t>State note: Add a note listing </a:t>
            </a:r>
            <a:r>
              <a:rPr lang="en-US" sz="2800" dirty="0" err="1">
                <a:latin typeface="Calibir"/>
              </a:rPr>
              <a:t>Ticket.state</a:t>
            </a:r>
            <a:r>
              <a:rPr lang="en-US" sz="2800" dirty="0">
                <a:latin typeface="Calibir"/>
              </a:rPr>
              <a:t> ∈ {PENDING, CONFIRMED, CANCELLED} and link it to cancellation use case as an extend.</a:t>
            </a:r>
          </a:p>
        </p:txBody>
      </p:sp>
      <p:pic>
        <p:nvPicPr>
          <p:cNvPr id="2" name="Timer">
            <a:hlinkClick r:id="" action="ppaction://media"/>
            <a:extLst>
              <a:ext uri="{FF2B5EF4-FFF2-40B4-BE49-F238E27FC236}">
                <a16:creationId xmlns:a16="http://schemas.microsoft.com/office/drawing/2014/main" id="{60E3F09C-F4D3-3C5D-94B5-CF1883D0A883}"/>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5190950" y="5663932"/>
            <a:ext cx="2300750" cy="1076632"/>
          </a:xfrm>
          <a:prstGeom prst="rect">
            <a:avLst/>
          </a:prstGeom>
          <a:ln w="38100">
            <a:solidFill>
              <a:srgbClr val="FF0000"/>
            </a:solidFill>
          </a:ln>
        </p:spPr>
      </p:pic>
    </p:spTree>
    <p:extLst>
      <p:ext uri="{BB962C8B-B14F-4D97-AF65-F5344CB8AC3E}">
        <p14:creationId xmlns:p14="http://schemas.microsoft.com/office/powerpoint/2010/main" val="2940426533"/>
      </p:ext>
    </p:extLst>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2136</TotalTime>
  <Words>5712</Words>
  <Application>Microsoft Office PowerPoint</Application>
  <PresentationFormat>Widescreen</PresentationFormat>
  <Paragraphs>640</Paragraphs>
  <Slides>91</Slides>
  <Notes>0</Notes>
  <HiddenSlides>0</HiddenSlides>
  <MMClips>9</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91</vt:i4>
      </vt:variant>
    </vt:vector>
  </HeadingPairs>
  <TitlesOfParts>
    <vt:vector size="100"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6</vt:lpstr>
      <vt:lpstr>Week 6 Outline</vt:lpstr>
      <vt:lpstr>Have you formed your group?</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PowerPoint Presentation</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PowerPoint Presentation</vt:lpstr>
      <vt:lpstr>PowerPoint Presentation</vt:lpstr>
      <vt:lpstr>PowerPoint Presentation</vt:lpstr>
      <vt:lpstr>PowerPoint Presentation</vt:lpstr>
      <vt:lpstr>PowerPoint Presentation</vt:lpstr>
      <vt:lpstr>Example &amp; Activity — Campus Parking Permit System</vt:lpstr>
      <vt:lpstr>Example &amp; Activity — Campus Parking Permit System</vt:lpstr>
      <vt:lpstr>PowerPoint Presentation</vt:lpstr>
      <vt:lpstr>PowerPoint Presentation</vt:lpstr>
      <vt:lpstr>PowerPoint Presentation</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Group Assignment – Part 1: What to do / submit / avoid</vt:lpstr>
      <vt:lpstr>Group Assignment – Part 1: Student Operations After Registration – Clarified</vt:lpstr>
      <vt:lpstr>Group Assignment – Part 1: Student Operations After Registration – Clarified</vt:lpstr>
      <vt:lpstr>Group Assignment – Part 1: Student Operations After Registration – Clarified</vt:lpstr>
      <vt:lpstr>Group Assignment – Part 1: Student Operations After Registration – Clarified</vt:lpstr>
      <vt:lpstr>Group Assignment – Part 1: Student Operations After Registration – Clarified</vt:lpstr>
      <vt:lpstr>Group Assignment – Part 1: Student Operations After Registration – Clarified</vt:lpstr>
      <vt:lpstr>Group Assignment – Part 1: Password Rules – Clarified</vt:lpstr>
      <vt:lpstr>Group Assignment – Part 1: Password Rules – Clarified</vt:lpstr>
      <vt:lpstr>PowerPoint Presentation</vt:lpstr>
      <vt:lpstr>Group Assignment – Part 1: Password Rules – Clarified</vt:lpstr>
      <vt:lpstr>Group Assignment – Part 1: Password Rules – Clarified</vt:lpstr>
      <vt:lpstr>Group Assignment – Part 1: Password Rules – Clarified</vt:lpstr>
      <vt:lpstr>Group Assignment – Part 1: Password Rules – Clarified</vt:lpstr>
      <vt:lpstr>Group Assignment – Part 1: Password Rules – Clarified</vt:lpstr>
      <vt:lpstr>Mini Coding Nudges (Email/Password, Marks, Pass/Fail etc.)</vt:lpstr>
      <vt:lpstr>Mini Coding Nudges (Email/Password, Marks, Pass/Fail etc.)</vt:lpstr>
      <vt:lpstr>Mini Coding Nudges (Email/Password, Marks, Pass/Fail etc.)</vt:lpstr>
      <vt:lpstr>Mini Coding Nudges (Email/Password, Marks, Pass/Fail etc.)</vt:lpstr>
      <vt:lpstr>Mini Coding Nudges (Email/Password, Marks, Pass/Fail etc.)</vt:lpstr>
      <vt:lpstr>Mini Coding Nudges (Email/Password, Marks, Pass/Fail etc.)</vt:lpstr>
      <vt:lpstr>Mini Coding Nudges (Email/Password, Marks, Pass/Fail etc.)</vt:lpstr>
      <vt:lpstr>PowerPoint Presentation</vt:lpstr>
      <vt:lpstr>Allow optional - or _ before digits in password</vt:lpstr>
      <vt:lpstr>Generate Random Marks and Assign Grades</vt:lpstr>
      <vt:lpstr>Generate Random Marks and Assign Grades</vt:lpstr>
      <vt:lpstr>Generate Random Marks and Assign Grades</vt:lpstr>
      <vt:lpstr>Generate Random Marks and Assign Grades</vt:lpstr>
      <vt:lpstr>Generate Random Marks and Assign Grades</vt:lpstr>
      <vt:lpstr>Generate Random Marks and Assign Grades</vt:lpstr>
      <vt:lpstr>Generate Random Marks and Assign Grades</vt:lpstr>
      <vt:lpstr>Make randomness reproducible</vt:lpstr>
      <vt:lpstr>PowerPoint Presentation</vt:lpstr>
      <vt:lpstr>PowerPoint Presentation</vt:lpstr>
      <vt:lpstr>PowerPoint Presentation</vt:lpstr>
      <vt:lpstr>PowerPoint Presentation</vt:lpstr>
      <vt:lpstr>PowerPoint Presentation</vt:lpstr>
      <vt:lpstr>PowerPoint Presentation</vt:lpstr>
      <vt:lpstr>Make randomness reproducible</vt:lpstr>
      <vt:lpstr>Add student ID and PASS/FAIL</vt:lpstr>
      <vt:lpstr>PowerPoint Presentation</vt:lpstr>
      <vt:lpstr>PowerPoint Presentation</vt:lpstr>
      <vt:lpstr>Grade Classification Based on University Rules</vt:lpstr>
      <vt:lpstr>PowerPoint Presentation</vt:lpstr>
      <vt:lpstr>PowerPoint Presentation</vt:lpstr>
      <vt:lpstr>PowerPoint Presentation</vt:lpstr>
      <vt:lpstr>PowerPoint Presentation</vt:lpstr>
      <vt:lpstr>Group Assignment – Part 2: Build hints (Python-first, JavaFX minority)</vt:lpstr>
      <vt:lpstr>Group Assignment – Part 2: Build hints (Python-first, JavaFX minority)</vt:lpstr>
      <vt:lpstr>Group Assignment – Part 2: Build hints (Python-first, JavaFX minority)</vt:lpstr>
      <vt:lpstr>Group Assignment – Part 3: Showcase tips</vt:lpstr>
      <vt:lpstr>Example &amp; Activity — Event Ticketing Lite</vt:lpstr>
      <vt:lpstr>Example &amp; Activity — Event Ticketing Lite</vt:lpstr>
      <vt:lpstr>Example &amp; Activity — Event Ticketing Lite</vt:lpstr>
      <vt:lpstr>Example &amp; Activity — Event Ticketing Lite</vt:lpstr>
      <vt:lpstr>Example &amp; Activity — Event Ticketing Lite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621</cp:revision>
  <dcterms:created xsi:type="dcterms:W3CDTF">2025-07-28T16:39:25Z</dcterms:created>
  <dcterms:modified xsi:type="dcterms:W3CDTF">2025-09-05T03:43:00Z</dcterms:modified>
</cp:coreProperties>
</file>