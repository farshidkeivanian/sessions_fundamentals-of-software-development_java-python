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5"/>
  </p:notesMasterIdLst>
  <p:sldIdLst>
    <p:sldId id="256" r:id="rId3"/>
    <p:sldId id="2443" r:id="rId4"/>
    <p:sldId id="2480" r:id="rId5"/>
    <p:sldId id="2444" r:id="rId6"/>
    <p:sldId id="2503" r:id="rId7"/>
    <p:sldId id="2481" r:id="rId8"/>
    <p:sldId id="2482" r:id="rId9"/>
    <p:sldId id="396" r:id="rId10"/>
    <p:sldId id="2483" r:id="rId11"/>
    <p:sldId id="2484" r:id="rId12"/>
    <p:sldId id="2485" r:id="rId13"/>
    <p:sldId id="397" r:id="rId14"/>
    <p:sldId id="2486" r:id="rId15"/>
    <p:sldId id="2487" r:id="rId16"/>
    <p:sldId id="2504" r:id="rId17"/>
    <p:sldId id="2505" r:id="rId18"/>
    <p:sldId id="2488" r:id="rId19"/>
    <p:sldId id="2489" r:id="rId20"/>
    <p:sldId id="2490" r:id="rId21"/>
    <p:sldId id="2491" r:id="rId22"/>
    <p:sldId id="2492" r:id="rId23"/>
    <p:sldId id="2493" r:id="rId24"/>
    <p:sldId id="2506" r:id="rId25"/>
    <p:sldId id="2507" r:id="rId26"/>
    <p:sldId id="2508" r:id="rId27"/>
    <p:sldId id="2509" r:id="rId28"/>
    <p:sldId id="2510" r:id="rId29"/>
    <p:sldId id="2494" r:id="rId30"/>
    <p:sldId id="2495" r:id="rId31"/>
    <p:sldId id="2496" r:id="rId32"/>
    <p:sldId id="2497" r:id="rId33"/>
    <p:sldId id="2517" r:id="rId34"/>
    <p:sldId id="2522" r:id="rId35"/>
    <p:sldId id="2523" r:id="rId36"/>
    <p:sldId id="2518" r:id="rId37"/>
    <p:sldId id="2519" r:id="rId38"/>
    <p:sldId id="2520" r:id="rId39"/>
    <p:sldId id="2521" r:id="rId40"/>
    <p:sldId id="2524" r:id="rId41"/>
    <p:sldId id="2511" r:id="rId42"/>
    <p:sldId id="2512" r:id="rId43"/>
    <p:sldId id="2513" r:id="rId44"/>
    <p:sldId id="2514" r:id="rId45"/>
    <p:sldId id="2515" r:id="rId46"/>
    <p:sldId id="2528" r:id="rId47"/>
    <p:sldId id="2527" r:id="rId48"/>
    <p:sldId id="2498" r:id="rId49"/>
    <p:sldId id="2500" r:id="rId50"/>
    <p:sldId id="2502" r:id="rId51"/>
    <p:sldId id="2501" r:id="rId52"/>
    <p:sldId id="2529" r:id="rId53"/>
    <p:sldId id="2530" r:id="rId54"/>
    <p:sldId id="2531" r:id="rId55"/>
    <p:sldId id="2532" r:id="rId56"/>
    <p:sldId id="2533" r:id="rId57"/>
    <p:sldId id="2534" r:id="rId58"/>
    <p:sldId id="2535" r:id="rId59"/>
    <p:sldId id="2536" r:id="rId60"/>
    <p:sldId id="2537" r:id="rId61"/>
    <p:sldId id="2538" r:id="rId62"/>
    <p:sldId id="2539" r:id="rId63"/>
    <p:sldId id="2540" r:id="rId64"/>
    <p:sldId id="2541" r:id="rId65"/>
    <p:sldId id="2542" r:id="rId66"/>
    <p:sldId id="2543" r:id="rId67"/>
    <p:sldId id="2544" r:id="rId68"/>
    <p:sldId id="2545" r:id="rId69"/>
    <p:sldId id="2546" r:id="rId70"/>
    <p:sldId id="2547" r:id="rId71"/>
    <p:sldId id="2548" r:id="rId72"/>
    <p:sldId id="2549" r:id="rId73"/>
    <p:sldId id="2550" r:id="rId74"/>
    <p:sldId id="2551" r:id="rId75"/>
    <p:sldId id="2552" r:id="rId76"/>
    <p:sldId id="2553" r:id="rId77"/>
    <p:sldId id="2554" r:id="rId78"/>
    <p:sldId id="2555" r:id="rId79"/>
    <p:sldId id="2556" r:id="rId80"/>
    <p:sldId id="2557" r:id="rId81"/>
    <p:sldId id="2558" r:id="rId82"/>
    <p:sldId id="2559" r:id="rId83"/>
    <p:sldId id="2560" r:id="rId84"/>
    <p:sldId id="2561" r:id="rId85"/>
    <p:sldId id="2455" r:id="rId86"/>
    <p:sldId id="2563" r:id="rId87"/>
    <p:sldId id="2562" r:id="rId88"/>
    <p:sldId id="257" r:id="rId89"/>
    <p:sldId id="258" r:id="rId90"/>
    <p:sldId id="259" r:id="rId91"/>
    <p:sldId id="260" r:id="rId92"/>
    <p:sldId id="261" r:id="rId93"/>
    <p:sldId id="262" r:id="rId94"/>
    <p:sldId id="263" r:id="rId95"/>
    <p:sldId id="264" r:id="rId96"/>
    <p:sldId id="265" r:id="rId97"/>
    <p:sldId id="266" r:id="rId98"/>
    <p:sldId id="267" r:id="rId99"/>
    <p:sldId id="354" r:id="rId100"/>
    <p:sldId id="2456" r:id="rId101"/>
    <p:sldId id="2457" r:id="rId102"/>
    <p:sldId id="2458" r:id="rId103"/>
    <p:sldId id="2459" r:id="rId104"/>
    <p:sldId id="2460" r:id="rId105"/>
    <p:sldId id="2461" r:id="rId106"/>
    <p:sldId id="527" r:id="rId107"/>
    <p:sldId id="488" r:id="rId108"/>
    <p:sldId id="489" r:id="rId109"/>
    <p:sldId id="491" r:id="rId110"/>
    <p:sldId id="490" r:id="rId111"/>
    <p:sldId id="493" r:id="rId112"/>
    <p:sldId id="494" r:id="rId113"/>
    <p:sldId id="495" r:id="rId114"/>
    <p:sldId id="501" r:id="rId115"/>
    <p:sldId id="502" r:id="rId116"/>
    <p:sldId id="503" r:id="rId117"/>
    <p:sldId id="504" r:id="rId118"/>
    <p:sldId id="505" r:id="rId119"/>
    <p:sldId id="506" r:id="rId120"/>
    <p:sldId id="496" r:id="rId121"/>
    <p:sldId id="497" r:id="rId122"/>
    <p:sldId id="498" r:id="rId123"/>
    <p:sldId id="499" r:id="rId124"/>
    <p:sldId id="1763" r:id="rId125"/>
    <p:sldId id="2469" r:id="rId126"/>
    <p:sldId id="2470" r:id="rId127"/>
    <p:sldId id="2471" r:id="rId128"/>
    <p:sldId id="2472" r:id="rId129"/>
    <p:sldId id="2473" r:id="rId130"/>
    <p:sldId id="2474" r:id="rId131"/>
    <p:sldId id="2475" r:id="rId132"/>
    <p:sldId id="2476" r:id="rId133"/>
    <p:sldId id="2477" r:id="rId134"/>
    <p:sldId id="2478" r:id="rId135"/>
    <p:sldId id="2479" r:id="rId136"/>
    <p:sldId id="2448" r:id="rId137"/>
    <p:sldId id="2462" r:id="rId138"/>
    <p:sldId id="2463" r:id="rId139"/>
    <p:sldId id="2467" r:id="rId140"/>
    <p:sldId id="2468" r:id="rId141"/>
    <p:sldId id="2569" r:id="rId142"/>
    <p:sldId id="2570" r:id="rId143"/>
    <p:sldId id="2571" r:id="rId144"/>
    <p:sldId id="2572" r:id="rId145"/>
    <p:sldId id="1182" r:id="rId146"/>
    <p:sldId id="2574" r:id="rId147"/>
    <p:sldId id="2576" r:id="rId148"/>
    <p:sldId id="2577" r:id="rId149"/>
    <p:sldId id="2564" r:id="rId150"/>
    <p:sldId id="2565" r:id="rId151"/>
    <p:sldId id="2566" r:id="rId152"/>
    <p:sldId id="2567" r:id="rId153"/>
    <p:sldId id="2578" r:id="rId154"/>
    <p:sldId id="2579" r:id="rId155"/>
    <p:sldId id="2580" r:id="rId156"/>
    <p:sldId id="2581" r:id="rId157"/>
    <p:sldId id="2582" r:id="rId158"/>
    <p:sldId id="2583" r:id="rId159"/>
    <p:sldId id="2584" r:id="rId160"/>
    <p:sldId id="2585" r:id="rId161"/>
    <p:sldId id="2586" r:id="rId162"/>
    <p:sldId id="2587" r:id="rId163"/>
    <p:sldId id="2588" r:id="rId164"/>
    <p:sldId id="2589" r:id="rId165"/>
    <p:sldId id="2590" r:id="rId166"/>
    <p:sldId id="2591" r:id="rId167"/>
    <p:sldId id="2592" r:id="rId168"/>
    <p:sldId id="2593" r:id="rId169"/>
    <p:sldId id="2594" r:id="rId170"/>
    <p:sldId id="2595" r:id="rId171"/>
    <p:sldId id="2568" r:id="rId172"/>
    <p:sldId id="1889" r:id="rId173"/>
    <p:sldId id="749" r:id="rId1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53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77" Type="http://schemas.openxmlformats.org/officeDocument/2006/relationships/viewProps" Target="viewProps.xml"/><Relationship Id="rId172" Type="http://schemas.openxmlformats.org/officeDocument/2006/relationships/slide" Target="slides/slide170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theme" Target="theme/theme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tableStyles" Target="tableStyle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presProps" Target="presProps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3A2C16-135F-43FB-B311-684848C416FA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80F913-C176-42E4-B57D-A61D91556D39}">
      <dgm:prSet phldrT="[Text]" custT="1"/>
      <dgm:spPr>
        <a:solidFill>
          <a:srgbClr val="1C4B58"/>
        </a:solidFill>
      </dgm:spPr>
      <dgm:t>
        <a:bodyPr/>
        <a:lstStyle/>
        <a:p>
          <a:r>
            <a:rPr lang="en-US" sz="2000" b="1" dirty="0">
              <a:latin typeface="Economica" panose="020B0604020202020204" charset="0"/>
            </a:rPr>
            <a:t>Weeks 1-2: from user requirements to design</a:t>
          </a:r>
          <a:endParaRPr lang="en-US" sz="1600" dirty="0">
            <a:latin typeface="Economica" panose="020B0604020202020204" charset="0"/>
          </a:endParaRPr>
        </a:p>
      </dgm:t>
    </dgm:pt>
    <dgm:pt modelId="{526DF0EA-CA0B-40FD-8838-5F8BE3D6032A}" type="parTrans" cxnId="{2BEA0E77-AAF2-4B44-BB17-B9863624FE50}">
      <dgm:prSet/>
      <dgm:spPr/>
      <dgm:t>
        <a:bodyPr/>
        <a:lstStyle/>
        <a:p>
          <a:endParaRPr lang="en-US"/>
        </a:p>
      </dgm:t>
    </dgm:pt>
    <dgm:pt modelId="{12A0FE56-985C-4D0C-A9AB-0D19CDC3829A}" type="sibTrans" cxnId="{2BEA0E77-AAF2-4B44-BB17-B9863624FE50}">
      <dgm:prSet/>
      <dgm:spPr/>
      <dgm:t>
        <a:bodyPr/>
        <a:lstStyle/>
        <a:p>
          <a:endParaRPr lang="en-US"/>
        </a:p>
      </dgm:t>
    </dgm:pt>
    <dgm:pt modelId="{A5C6193E-02B1-4E4A-9D95-6794022DDBC8}">
      <dgm:prSet phldrT="[Text]" custT="1"/>
      <dgm:spPr>
        <a:solidFill>
          <a:srgbClr val="08777A"/>
        </a:solidFill>
      </dgm:spPr>
      <dgm:t>
        <a:bodyPr/>
        <a:lstStyle/>
        <a:p>
          <a:r>
            <a:rPr lang="en-US" sz="2000" b="1" dirty="0">
              <a:latin typeface="Economica" panose="020B0604020202020204" charset="0"/>
            </a:rPr>
            <a:t>Weeks 3-9: from design to software – CLI software development in iterations</a:t>
          </a:r>
          <a:endParaRPr lang="en-US" sz="1600" dirty="0">
            <a:latin typeface="Economica" panose="020B0604020202020204" charset="0"/>
          </a:endParaRPr>
        </a:p>
      </dgm:t>
    </dgm:pt>
    <dgm:pt modelId="{1A1FFBBF-9250-40B2-B9B9-84E42BCE4F34}" type="parTrans" cxnId="{23C659E5-B64D-4A60-80C1-2FFFFDB03B83}">
      <dgm:prSet/>
      <dgm:spPr/>
      <dgm:t>
        <a:bodyPr/>
        <a:lstStyle/>
        <a:p>
          <a:endParaRPr lang="en-US"/>
        </a:p>
      </dgm:t>
    </dgm:pt>
    <dgm:pt modelId="{35323911-C34A-423F-A787-BE6926657343}" type="sibTrans" cxnId="{23C659E5-B64D-4A60-80C1-2FFFFDB03B83}">
      <dgm:prSet/>
      <dgm:spPr/>
      <dgm:t>
        <a:bodyPr/>
        <a:lstStyle/>
        <a:p>
          <a:endParaRPr lang="en-US"/>
        </a:p>
      </dgm:t>
    </dgm:pt>
    <dgm:pt modelId="{8BA39953-B3F5-40CE-9243-2BAFC745E5A5}">
      <dgm:prSet phldrT="[Text]" custT="1"/>
      <dgm:spPr>
        <a:solidFill>
          <a:srgbClr val="216D45"/>
        </a:solidFill>
      </dgm:spPr>
      <dgm:t>
        <a:bodyPr/>
        <a:lstStyle/>
        <a:p>
          <a:r>
            <a:rPr lang="en-US" sz="2000" b="1" dirty="0">
              <a:latin typeface="Economica" panose="020B0604020202020204" charset="0"/>
            </a:rPr>
            <a:t>Weeks 10-11: GUI implementation</a:t>
          </a:r>
        </a:p>
      </dgm:t>
    </dgm:pt>
    <dgm:pt modelId="{F42C37C9-30D5-4510-8101-F097100CB255}" type="parTrans" cxnId="{1C9E7434-79E1-4D36-BE11-966B669B236F}">
      <dgm:prSet/>
      <dgm:spPr/>
      <dgm:t>
        <a:bodyPr/>
        <a:lstStyle/>
        <a:p>
          <a:endParaRPr lang="en-US"/>
        </a:p>
      </dgm:t>
    </dgm:pt>
    <dgm:pt modelId="{AB56C8E5-FAB4-4DE2-8622-B5D876277CC4}" type="sibTrans" cxnId="{1C9E7434-79E1-4D36-BE11-966B669B236F}">
      <dgm:prSet/>
      <dgm:spPr/>
      <dgm:t>
        <a:bodyPr/>
        <a:lstStyle/>
        <a:p>
          <a:endParaRPr lang="en-US"/>
        </a:p>
      </dgm:t>
    </dgm:pt>
    <dgm:pt modelId="{32678FEF-848A-4DD0-87A7-FABF374BE45A}" type="pres">
      <dgm:prSet presAssocID="{7A3A2C16-135F-43FB-B311-684848C416FA}" presName="linearFlow" presStyleCnt="0">
        <dgm:presLayoutVars>
          <dgm:resizeHandles val="exact"/>
        </dgm:presLayoutVars>
      </dgm:prSet>
      <dgm:spPr/>
    </dgm:pt>
    <dgm:pt modelId="{ED979B64-83E5-4498-9037-C60A94DBE48D}" type="pres">
      <dgm:prSet presAssocID="{5B80F913-C176-42E4-B57D-A61D91556D39}" presName="node" presStyleLbl="node1" presStyleIdx="0" presStyleCnt="3">
        <dgm:presLayoutVars>
          <dgm:bulletEnabled val="1"/>
        </dgm:presLayoutVars>
      </dgm:prSet>
      <dgm:spPr/>
    </dgm:pt>
    <dgm:pt modelId="{D619EE69-0526-43D2-A8CF-7FEB7B84E9FB}" type="pres">
      <dgm:prSet presAssocID="{12A0FE56-985C-4D0C-A9AB-0D19CDC3829A}" presName="sibTrans" presStyleLbl="sibTrans2D1" presStyleIdx="0" presStyleCnt="2"/>
      <dgm:spPr/>
    </dgm:pt>
    <dgm:pt modelId="{74651C37-7164-4A76-8306-1BFA9BEF1A53}" type="pres">
      <dgm:prSet presAssocID="{12A0FE56-985C-4D0C-A9AB-0D19CDC3829A}" presName="connectorText" presStyleLbl="sibTrans2D1" presStyleIdx="0" presStyleCnt="2"/>
      <dgm:spPr/>
    </dgm:pt>
    <dgm:pt modelId="{CB3EA6BF-1B00-470E-BBC4-337D7EAC8367}" type="pres">
      <dgm:prSet presAssocID="{A5C6193E-02B1-4E4A-9D95-6794022DDBC8}" presName="node" presStyleLbl="node1" presStyleIdx="1" presStyleCnt="3">
        <dgm:presLayoutVars>
          <dgm:bulletEnabled val="1"/>
        </dgm:presLayoutVars>
      </dgm:prSet>
      <dgm:spPr/>
    </dgm:pt>
    <dgm:pt modelId="{DE95126C-DC7F-41FB-AF16-FD1785DE52D1}" type="pres">
      <dgm:prSet presAssocID="{35323911-C34A-423F-A787-BE6926657343}" presName="sibTrans" presStyleLbl="sibTrans2D1" presStyleIdx="1" presStyleCnt="2"/>
      <dgm:spPr/>
    </dgm:pt>
    <dgm:pt modelId="{7868B681-7824-46AB-8164-EA08A58D2073}" type="pres">
      <dgm:prSet presAssocID="{35323911-C34A-423F-A787-BE6926657343}" presName="connectorText" presStyleLbl="sibTrans2D1" presStyleIdx="1" presStyleCnt="2"/>
      <dgm:spPr/>
    </dgm:pt>
    <dgm:pt modelId="{81C5177F-6A20-46DC-9F88-7CDF836ED105}" type="pres">
      <dgm:prSet presAssocID="{8BA39953-B3F5-40CE-9243-2BAFC745E5A5}" presName="node" presStyleLbl="node1" presStyleIdx="2" presStyleCnt="3">
        <dgm:presLayoutVars>
          <dgm:bulletEnabled val="1"/>
        </dgm:presLayoutVars>
      </dgm:prSet>
      <dgm:spPr/>
    </dgm:pt>
  </dgm:ptLst>
  <dgm:cxnLst>
    <dgm:cxn modelId="{3238600E-1D5B-480D-B124-7C64439AEBB2}" type="presOf" srcId="{8BA39953-B3F5-40CE-9243-2BAFC745E5A5}" destId="{81C5177F-6A20-46DC-9F88-7CDF836ED105}" srcOrd="0" destOrd="0" presId="urn:microsoft.com/office/officeart/2005/8/layout/process2"/>
    <dgm:cxn modelId="{1C9E7434-79E1-4D36-BE11-966B669B236F}" srcId="{7A3A2C16-135F-43FB-B311-684848C416FA}" destId="{8BA39953-B3F5-40CE-9243-2BAFC745E5A5}" srcOrd="2" destOrd="0" parTransId="{F42C37C9-30D5-4510-8101-F097100CB255}" sibTransId="{AB56C8E5-FAB4-4DE2-8622-B5D876277CC4}"/>
    <dgm:cxn modelId="{E16B9040-8426-419A-B07D-623419AF2671}" type="presOf" srcId="{7A3A2C16-135F-43FB-B311-684848C416FA}" destId="{32678FEF-848A-4DD0-87A7-FABF374BE45A}" srcOrd="0" destOrd="0" presId="urn:microsoft.com/office/officeart/2005/8/layout/process2"/>
    <dgm:cxn modelId="{AE6F725D-703E-4132-9BF5-0C1A2CDE634F}" type="presOf" srcId="{35323911-C34A-423F-A787-BE6926657343}" destId="{DE95126C-DC7F-41FB-AF16-FD1785DE52D1}" srcOrd="0" destOrd="0" presId="urn:microsoft.com/office/officeart/2005/8/layout/process2"/>
    <dgm:cxn modelId="{2BEA0E77-AAF2-4B44-BB17-B9863624FE50}" srcId="{7A3A2C16-135F-43FB-B311-684848C416FA}" destId="{5B80F913-C176-42E4-B57D-A61D91556D39}" srcOrd="0" destOrd="0" parTransId="{526DF0EA-CA0B-40FD-8838-5F8BE3D6032A}" sibTransId="{12A0FE56-985C-4D0C-A9AB-0D19CDC3829A}"/>
    <dgm:cxn modelId="{0CD35284-08CA-4F7B-80C1-DAB6ABDFA1C8}" type="presOf" srcId="{12A0FE56-985C-4D0C-A9AB-0D19CDC3829A}" destId="{74651C37-7164-4A76-8306-1BFA9BEF1A53}" srcOrd="1" destOrd="0" presId="urn:microsoft.com/office/officeart/2005/8/layout/process2"/>
    <dgm:cxn modelId="{9A77F88C-387B-4584-8243-8D1198B3506B}" type="presOf" srcId="{A5C6193E-02B1-4E4A-9D95-6794022DDBC8}" destId="{CB3EA6BF-1B00-470E-BBC4-337D7EAC8367}" srcOrd="0" destOrd="0" presId="urn:microsoft.com/office/officeart/2005/8/layout/process2"/>
    <dgm:cxn modelId="{32D383BE-2B6F-44A8-AF8C-E3F698B1BD17}" type="presOf" srcId="{5B80F913-C176-42E4-B57D-A61D91556D39}" destId="{ED979B64-83E5-4498-9037-C60A94DBE48D}" srcOrd="0" destOrd="0" presId="urn:microsoft.com/office/officeart/2005/8/layout/process2"/>
    <dgm:cxn modelId="{23C659E5-B64D-4A60-80C1-2FFFFDB03B83}" srcId="{7A3A2C16-135F-43FB-B311-684848C416FA}" destId="{A5C6193E-02B1-4E4A-9D95-6794022DDBC8}" srcOrd="1" destOrd="0" parTransId="{1A1FFBBF-9250-40B2-B9B9-84E42BCE4F34}" sibTransId="{35323911-C34A-423F-A787-BE6926657343}"/>
    <dgm:cxn modelId="{758E3FEA-A862-4B64-9E9C-F1AC4760E0A2}" type="presOf" srcId="{35323911-C34A-423F-A787-BE6926657343}" destId="{7868B681-7824-46AB-8164-EA08A58D2073}" srcOrd="1" destOrd="0" presId="urn:microsoft.com/office/officeart/2005/8/layout/process2"/>
    <dgm:cxn modelId="{8346F99F-C685-4793-8516-4B56DE1C5DDA}" type="presOf" srcId="{12A0FE56-985C-4D0C-A9AB-0D19CDC3829A}" destId="{D619EE69-0526-43D2-A8CF-7FEB7B84E9FB}" srcOrd="0" destOrd="0" presId="urn:microsoft.com/office/officeart/2005/8/layout/process2"/>
    <dgm:cxn modelId="{8B69745D-63BA-42FB-B0D4-C8A1A1D5E1FB}" type="presParOf" srcId="{32678FEF-848A-4DD0-87A7-FABF374BE45A}" destId="{ED979B64-83E5-4498-9037-C60A94DBE48D}" srcOrd="0" destOrd="0" presId="urn:microsoft.com/office/officeart/2005/8/layout/process2"/>
    <dgm:cxn modelId="{69FDABC7-4DAA-40FA-9810-716B4BA2D23A}" type="presParOf" srcId="{32678FEF-848A-4DD0-87A7-FABF374BE45A}" destId="{D619EE69-0526-43D2-A8CF-7FEB7B84E9FB}" srcOrd="1" destOrd="0" presId="urn:microsoft.com/office/officeart/2005/8/layout/process2"/>
    <dgm:cxn modelId="{5366426A-F845-4E8C-94D9-CF8BD617BB3A}" type="presParOf" srcId="{D619EE69-0526-43D2-A8CF-7FEB7B84E9FB}" destId="{74651C37-7164-4A76-8306-1BFA9BEF1A53}" srcOrd="0" destOrd="0" presId="urn:microsoft.com/office/officeart/2005/8/layout/process2"/>
    <dgm:cxn modelId="{7CB0BCD9-D945-4CFD-8122-28BD1763B904}" type="presParOf" srcId="{32678FEF-848A-4DD0-87A7-FABF374BE45A}" destId="{CB3EA6BF-1B00-470E-BBC4-337D7EAC8367}" srcOrd="2" destOrd="0" presId="urn:microsoft.com/office/officeart/2005/8/layout/process2"/>
    <dgm:cxn modelId="{22EF20CE-7134-466E-8311-89B2E1704E3A}" type="presParOf" srcId="{32678FEF-848A-4DD0-87A7-FABF374BE45A}" destId="{DE95126C-DC7F-41FB-AF16-FD1785DE52D1}" srcOrd="3" destOrd="0" presId="urn:microsoft.com/office/officeart/2005/8/layout/process2"/>
    <dgm:cxn modelId="{875D8409-DE9D-4DDD-A45B-DA855342A654}" type="presParOf" srcId="{DE95126C-DC7F-41FB-AF16-FD1785DE52D1}" destId="{7868B681-7824-46AB-8164-EA08A58D2073}" srcOrd="0" destOrd="0" presId="urn:microsoft.com/office/officeart/2005/8/layout/process2"/>
    <dgm:cxn modelId="{7E5E3ED9-2576-46DE-8411-523F9B5D8369}" type="presParOf" srcId="{32678FEF-848A-4DD0-87A7-FABF374BE45A}" destId="{81C5177F-6A20-46DC-9F88-7CDF836ED105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3A2C16-135F-43FB-B311-684848C416FA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80F913-C176-42E4-B57D-A61D91556D39}">
      <dgm:prSet phldrT="[Text]" custT="1"/>
      <dgm:spPr>
        <a:solidFill>
          <a:srgbClr val="1C4B58"/>
        </a:solidFill>
      </dgm:spPr>
      <dgm:t>
        <a:bodyPr/>
        <a:lstStyle/>
        <a:p>
          <a:r>
            <a:rPr lang="en-US" sz="1600" b="1" dirty="0">
              <a:latin typeface="+mn-lt"/>
            </a:rPr>
            <a:t>Quiz 1 (15)</a:t>
          </a:r>
          <a:endParaRPr lang="en-US" sz="1600" dirty="0">
            <a:latin typeface="+mn-lt"/>
          </a:endParaRPr>
        </a:p>
      </dgm:t>
    </dgm:pt>
    <dgm:pt modelId="{526DF0EA-CA0B-40FD-8838-5F8BE3D6032A}" type="parTrans" cxnId="{2BEA0E77-AAF2-4B44-BB17-B9863624FE50}">
      <dgm:prSet/>
      <dgm:spPr/>
      <dgm:t>
        <a:bodyPr/>
        <a:lstStyle/>
        <a:p>
          <a:endParaRPr lang="en-US" sz="1600">
            <a:latin typeface="+mn-lt"/>
          </a:endParaRPr>
        </a:p>
      </dgm:t>
    </dgm:pt>
    <dgm:pt modelId="{12A0FE56-985C-4D0C-A9AB-0D19CDC3829A}" type="sibTrans" cxnId="{2BEA0E77-AAF2-4B44-BB17-B9863624FE50}">
      <dgm:prSet/>
      <dgm:spPr/>
      <dgm:t>
        <a:bodyPr/>
        <a:lstStyle/>
        <a:p>
          <a:endParaRPr lang="en-US" sz="1600">
            <a:latin typeface="+mn-lt"/>
          </a:endParaRPr>
        </a:p>
      </dgm:t>
    </dgm:pt>
    <dgm:pt modelId="{8BA39953-B3F5-40CE-9243-2BAFC745E5A5}">
      <dgm:prSet phldrT="[Text]" custT="1"/>
      <dgm:spPr>
        <a:solidFill>
          <a:srgbClr val="216D45"/>
        </a:solidFill>
      </dgm:spPr>
      <dgm:t>
        <a:bodyPr/>
        <a:lstStyle/>
        <a:p>
          <a:r>
            <a:rPr lang="en-US" sz="1600" b="1" dirty="0">
              <a:latin typeface="+mn-lt"/>
            </a:rPr>
            <a:t>Project (70):</a:t>
          </a:r>
          <a:endParaRPr lang="en-US" sz="1600" dirty="0">
            <a:latin typeface="+mn-lt"/>
          </a:endParaRPr>
        </a:p>
      </dgm:t>
    </dgm:pt>
    <dgm:pt modelId="{F42C37C9-30D5-4510-8101-F097100CB255}" type="parTrans" cxnId="{1C9E7434-79E1-4D36-BE11-966B669B236F}">
      <dgm:prSet/>
      <dgm:spPr/>
      <dgm:t>
        <a:bodyPr/>
        <a:lstStyle/>
        <a:p>
          <a:endParaRPr lang="en-US" sz="1600">
            <a:latin typeface="+mn-lt"/>
          </a:endParaRPr>
        </a:p>
      </dgm:t>
    </dgm:pt>
    <dgm:pt modelId="{AB56C8E5-FAB4-4DE2-8622-B5D876277CC4}" type="sibTrans" cxnId="{1C9E7434-79E1-4D36-BE11-966B669B236F}">
      <dgm:prSet/>
      <dgm:spPr/>
      <dgm:t>
        <a:bodyPr/>
        <a:lstStyle/>
        <a:p>
          <a:endParaRPr lang="en-US" sz="1600">
            <a:latin typeface="+mn-lt"/>
          </a:endParaRPr>
        </a:p>
      </dgm:t>
    </dgm:pt>
    <dgm:pt modelId="{A5C6193E-02B1-4E4A-9D95-6794022DDBC8}">
      <dgm:prSet phldrT="[Text]" custT="1"/>
      <dgm:spPr>
        <a:solidFill>
          <a:srgbClr val="08777A"/>
        </a:solidFill>
      </dgm:spPr>
      <dgm:t>
        <a:bodyPr/>
        <a:lstStyle/>
        <a:p>
          <a:r>
            <a:rPr lang="en-US" sz="1600" b="1" dirty="0">
              <a:latin typeface="+mn-lt"/>
            </a:rPr>
            <a:t>Quiz 2 (15)</a:t>
          </a:r>
          <a:endParaRPr lang="en-US" sz="1600" dirty="0">
            <a:latin typeface="+mn-lt"/>
          </a:endParaRPr>
        </a:p>
      </dgm:t>
    </dgm:pt>
    <dgm:pt modelId="{35323911-C34A-423F-A787-BE6926657343}" type="sibTrans" cxnId="{23C659E5-B64D-4A60-80C1-2FFFFDB03B83}">
      <dgm:prSet/>
      <dgm:spPr/>
      <dgm:t>
        <a:bodyPr/>
        <a:lstStyle/>
        <a:p>
          <a:endParaRPr lang="en-US" sz="1600">
            <a:latin typeface="+mn-lt"/>
          </a:endParaRPr>
        </a:p>
      </dgm:t>
    </dgm:pt>
    <dgm:pt modelId="{1A1FFBBF-9250-40B2-B9B9-84E42BCE4F34}" type="parTrans" cxnId="{23C659E5-B64D-4A60-80C1-2FFFFDB03B83}">
      <dgm:prSet/>
      <dgm:spPr/>
      <dgm:t>
        <a:bodyPr/>
        <a:lstStyle/>
        <a:p>
          <a:endParaRPr lang="en-US" sz="1600">
            <a:latin typeface="+mn-lt"/>
          </a:endParaRPr>
        </a:p>
      </dgm:t>
    </dgm:pt>
    <dgm:pt modelId="{4F5CA4D2-148A-4F48-AEC1-7DF2DA13DE66}">
      <dgm:prSet phldrT="[Text]" custT="1"/>
      <dgm:spPr>
        <a:solidFill>
          <a:srgbClr val="1C4B58"/>
        </a:solidFill>
      </dgm:spPr>
      <dgm:t>
        <a:bodyPr/>
        <a:lstStyle/>
        <a:p>
          <a:r>
            <a:rPr lang="en-US" sz="1600" b="1" dirty="0">
              <a:solidFill>
                <a:schemeClr val="bg1"/>
              </a:solidFill>
              <a:latin typeface="+mn-lt"/>
            </a:rPr>
            <a:t>Week 7; in-class; content of Weeks 1-2</a:t>
          </a:r>
          <a:endParaRPr lang="en-AU" sz="1600" dirty="0">
            <a:solidFill>
              <a:schemeClr val="bg1"/>
            </a:solidFill>
            <a:latin typeface="+mn-lt"/>
          </a:endParaRPr>
        </a:p>
      </dgm:t>
    </dgm:pt>
    <dgm:pt modelId="{53929814-9F26-47FD-9DFB-5751E04E369D}" type="parTrans" cxnId="{3591D823-4D4A-47CD-92FA-49E494A1BAA5}">
      <dgm:prSet/>
      <dgm:spPr/>
      <dgm:t>
        <a:bodyPr/>
        <a:lstStyle/>
        <a:p>
          <a:endParaRPr lang="en-AU" sz="1600">
            <a:latin typeface="+mn-lt"/>
          </a:endParaRPr>
        </a:p>
      </dgm:t>
    </dgm:pt>
    <dgm:pt modelId="{FFB72397-4471-4A8B-A0C2-47925CDE16A3}" type="sibTrans" cxnId="{3591D823-4D4A-47CD-92FA-49E494A1BAA5}">
      <dgm:prSet/>
      <dgm:spPr/>
      <dgm:t>
        <a:bodyPr/>
        <a:lstStyle/>
        <a:p>
          <a:endParaRPr lang="en-AU" sz="1600">
            <a:latin typeface="+mn-lt"/>
          </a:endParaRPr>
        </a:p>
      </dgm:t>
    </dgm:pt>
    <dgm:pt modelId="{2F8CE1DB-AE13-4268-A08D-F27AB2D4B4D0}">
      <dgm:prSet phldrT="[Text]" custT="1"/>
      <dgm:spPr>
        <a:solidFill>
          <a:srgbClr val="08777A"/>
        </a:solidFill>
      </dgm:spPr>
      <dgm:t>
        <a:bodyPr/>
        <a:lstStyle/>
        <a:p>
          <a:r>
            <a:rPr lang="en-US" sz="1600" b="1" dirty="0">
              <a:solidFill>
                <a:schemeClr val="bg1"/>
              </a:solidFill>
              <a:latin typeface="+mn-lt"/>
            </a:rPr>
            <a:t>Week 12; in-class; content of Weeks 3-11</a:t>
          </a:r>
          <a:endParaRPr lang="en-AU" sz="1600" b="1" dirty="0">
            <a:solidFill>
              <a:schemeClr val="bg1"/>
            </a:solidFill>
            <a:latin typeface="+mn-lt"/>
          </a:endParaRPr>
        </a:p>
      </dgm:t>
    </dgm:pt>
    <dgm:pt modelId="{1CAF3AC5-3675-45AF-9FA2-46A6C2BCDF22}" type="parTrans" cxnId="{A8FEEE2E-B2A2-4896-A784-C4FA3CEFA745}">
      <dgm:prSet/>
      <dgm:spPr/>
      <dgm:t>
        <a:bodyPr/>
        <a:lstStyle/>
        <a:p>
          <a:endParaRPr lang="en-AU" sz="1600">
            <a:latin typeface="+mn-lt"/>
          </a:endParaRPr>
        </a:p>
      </dgm:t>
    </dgm:pt>
    <dgm:pt modelId="{EA2F5657-34AF-4791-A6CD-F7178EFEC359}" type="sibTrans" cxnId="{A8FEEE2E-B2A2-4896-A784-C4FA3CEFA745}">
      <dgm:prSet/>
      <dgm:spPr/>
      <dgm:t>
        <a:bodyPr/>
        <a:lstStyle/>
        <a:p>
          <a:endParaRPr lang="en-AU" sz="1600">
            <a:latin typeface="+mn-lt"/>
          </a:endParaRPr>
        </a:p>
      </dgm:t>
    </dgm:pt>
    <dgm:pt modelId="{45EBA6B6-E16B-435C-AB29-7497D9B651B6}">
      <dgm:prSet phldrT="[Text]" custT="1"/>
      <dgm:spPr>
        <a:solidFill>
          <a:srgbClr val="216D45"/>
        </a:solidFill>
      </dgm:spPr>
      <dgm:t>
        <a:bodyPr/>
        <a:lstStyle/>
        <a:p>
          <a:r>
            <a:rPr lang="en-US" sz="1600" b="1" dirty="0">
              <a:solidFill>
                <a:schemeClr val="bg1"/>
              </a:solidFill>
              <a:latin typeface="+mn-lt"/>
            </a:rPr>
            <a:t>Part 1 (end of Week 7): requirement analysis (group, </a:t>
          </a:r>
          <a:r>
            <a:rPr lang="en-US" sz="1600" b="1" dirty="0" err="1">
              <a:solidFill>
                <a:schemeClr val="bg1"/>
              </a:solidFill>
              <a:latin typeface="+mn-lt"/>
            </a:rPr>
            <a:t>Sparkplus</a:t>
          </a:r>
          <a:r>
            <a:rPr lang="en-US" sz="1600" b="1" dirty="0">
              <a:solidFill>
                <a:schemeClr val="bg1"/>
              </a:solidFill>
              <a:latin typeface="+mn-lt"/>
            </a:rPr>
            <a:t> peer rating)</a:t>
          </a:r>
          <a:endParaRPr lang="en-AU" sz="1600" b="1" dirty="0">
            <a:solidFill>
              <a:schemeClr val="bg1"/>
            </a:solidFill>
            <a:latin typeface="+mn-lt"/>
          </a:endParaRPr>
        </a:p>
      </dgm:t>
    </dgm:pt>
    <dgm:pt modelId="{4FF23E41-18E8-4E73-9C29-954CAFBF202E}" type="parTrans" cxnId="{BA6B0D0F-78A5-4A25-8C2E-0DC118D60586}">
      <dgm:prSet/>
      <dgm:spPr/>
      <dgm:t>
        <a:bodyPr/>
        <a:lstStyle/>
        <a:p>
          <a:endParaRPr lang="en-AU" sz="1600">
            <a:latin typeface="+mn-lt"/>
          </a:endParaRPr>
        </a:p>
      </dgm:t>
    </dgm:pt>
    <dgm:pt modelId="{4973D98E-F434-42AC-AEA4-0C64D7EACC88}" type="sibTrans" cxnId="{BA6B0D0F-78A5-4A25-8C2E-0DC118D60586}">
      <dgm:prSet/>
      <dgm:spPr/>
      <dgm:t>
        <a:bodyPr/>
        <a:lstStyle/>
        <a:p>
          <a:endParaRPr lang="en-AU" sz="1600">
            <a:latin typeface="+mn-lt"/>
          </a:endParaRPr>
        </a:p>
      </dgm:t>
    </dgm:pt>
    <dgm:pt modelId="{0E095831-80FE-45A1-AEC2-1B3673C22890}">
      <dgm:prSet phldrT="[Text]" custT="1"/>
      <dgm:spPr>
        <a:solidFill>
          <a:srgbClr val="216D45"/>
        </a:solidFill>
      </dgm:spPr>
      <dgm:t>
        <a:bodyPr/>
        <a:lstStyle/>
        <a:p>
          <a:r>
            <a:rPr lang="en-US" sz="1600" b="1" dirty="0">
              <a:solidFill>
                <a:schemeClr val="bg1"/>
              </a:solidFill>
              <a:latin typeface="+mn-lt"/>
            </a:rPr>
            <a:t>Part 2 (end of Week 13): software development (individual)</a:t>
          </a:r>
          <a:endParaRPr lang="en-AU" sz="1600" b="1" dirty="0">
            <a:solidFill>
              <a:schemeClr val="bg1"/>
            </a:solidFill>
            <a:latin typeface="+mn-lt"/>
          </a:endParaRPr>
        </a:p>
      </dgm:t>
    </dgm:pt>
    <dgm:pt modelId="{7835E726-085E-49A6-92D9-86CB670291F3}" type="parTrans" cxnId="{6BDF530A-94E0-49A3-A259-8E4553B39917}">
      <dgm:prSet/>
      <dgm:spPr/>
      <dgm:t>
        <a:bodyPr/>
        <a:lstStyle/>
        <a:p>
          <a:endParaRPr lang="en-AU" sz="1600">
            <a:latin typeface="+mn-lt"/>
          </a:endParaRPr>
        </a:p>
      </dgm:t>
    </dgm:pt>
    <dgm:pt modelId="{E611B6E3-BD1A-49D3-BEEF-CAC15F90FB9E}" type="sibTrans" cxnId="{6BDF530A-94E0-49A3-A259-8E4553B39917}">
      <dgm:prSet/>
      <dgm:spPr/>
      <dgm:t>
        <a:bodyPr/>
        <a:lstStyle/>
        <a:p>
          <a:endParaRPr lang="en-AU" sz="1600">
            <a:latin typeface="+mn-lt"/>
          </a:endParaRPr>
        </a:p>
      </dgm:t>
    </dgm:pt>
    <dgm:pt modelId="{A32BC41E-E837-4C62-BC9A-1AD05E0C6935}">
      <dgm:prSet phldrT="[Text]" custT="1"/>
      <dgm:spPr>
        <a:solidFill>
          <a:srgbClr val="216D45"/>
        </a:solidFill>
      </dgm:spPr>
      <dgm:t>
        <a:bodyPr/>
        <a:lstStyle/>
        <a:p>
          <a:r>
            <a:rPr lang="en-US" sz="1600" b="1" dirty="0">
              <a:solidFill>
                <a:schemeClr val="bg1"/>
              </a:solidFill>
              <a:latin typeface="+mn-lt"/>
            </a:rPr>
            <a:t>Part 3 (Week 12 &amp; Week 13): Showcase</a:t>
          </a:r>
          <a:endParaRPr lang="en-AU" sz="1600" b="1" dirty="0">
            <a:solidFill>
              <a:schemeClr val="bg1"/>
            </a:solidFill>
            <a:latin typeface="+mn-lt"/>
          </a:endParaRPr>
        </a:p>
      </dgm:t>
    </dgm:pt>
    <dgm:pt modelId="{F61EB77B-B953-469A-84A8-EA98BE95805D}" type="parTrans" cxnId="{13FB8597-8680-48FD-9548-F6476167883C}">
      <dgm:prSet/>
      <dgm:spPr/>
      <dgm:t>
        <a:bodyPr/>
        <a:lstStyle/>
        <a:p>
          <a:endParaRPr lang="en-AU" sz="1600">
            <a:latin typeface="+mn-lt"/>
          </a:endParaRPr>
        </a:p>
      </dgm:t>
    </dgm:pt>
    <dgm:pt modelId="{4AF025D9-3A6A-45AC-B1BF-385E191E1B3E}" type="sibTrans" cxnId="{13FB8597-8680-48FD-9548-F6476167883C}">
      <dgm:prSet/>
      <dgm:spPr/>
      <dgm:t>
        <a:bodyPr/>
        <a:lstStyle/>
        <a:p>
          <a:endParaRPr lang="en-AU" sz="1600">
            <a:latin typeface="+mn-lt"/>
          </a:endParaRPr>
        </a:p>
      </dgm:t>
    </dgm:pt>
    <dgm:pt modelId="{1716C007-A1BA-444B-936C-36CED93D59E9}" type="pres">
      <dgm:prSet presAssocID="{7A3A2C16-135F-43FB-B311-684848C416FA}" presName="linearFlow" presStyleCnt="0">
        <dgm:presLayoutVars>
          <dgm:dir/>
          <dgm:animLvl val="lvl"/>
          <dgm:resizeHandles val="exact"/>
        </dgm:presLayoutVars>
      </dgm:prSet>
      <dgm:spPr/>
    </dgm:pt>
    <dgm:pt modelId="{A71BDA80-F4B4-4694-B87F-6DABD9CF40C2}" type="pres">
      <dgm:prSet presAssocID="{5B80F913-C176-42E4-B57D-A61D91556D39}" presName="composite" presStyleCnt="0"/>
      <dgm:spPr/>
    </dgm:pt>
    <dgm:pt modelId="{94C27B1A-239E-4322-87B5-F101218D60D6}" type="pres">
      <dgm:prSet presAssocID="{5B80F913-C176-42E4-B57D-A61D91556D3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0E468848-2031-4D31-9DC0-B4B0BE937535}" type="pres">
      <dgm:prSet presAssocID="{5B80F913-C176-42E4-B57D-A61D91556D39}" presName="descendantText" presStyleLbl="alignAcc1" presStyleIdx="0" presStyleCnt="3">
        <dgm:presLayoutVars>
          <dgm:bulletEnabled val="1"/>
        </dgm:presLayoutVars>
      </dgm:prSet>
      <dgm:spPr/>
    </dgm:pt>
    <dgm:pt modelId="{028BC093-E37F-4D7F-A3F3-06B56141CE84}" type="pres">
      <dgm:prSet presAssocID="{12A0FE56-985C-4D0C-A9AB-0D19CDC3829A}" presName="sp" presStyleCnt="0"/>
      <dgm:spPr/>
    </dgm:pt>
    <dgm:pt modelId="{61E917CE-93DB-488B-A44C-8B315AC3FA8F}" type="pres">
      <dgm:prSet presAssocID="{A5C6193E-02B1-4E4A-9D95-6794022DDBC8}" presName="composite" presStyleCnt="0"/>
      <dgm:spPr/>
    </dgm:pt>
    <dgm:pt modelId="{73CC1E48-0624-40CB-AD2D-C61F8FC02A79}" type="pres">
      <dgm:prSet presAssocID="{A5C6193E-02B1-4E4A-9D95-6794022DDBC8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A337E4C2-14FB-4556-B8E1-05263E1B2F87}" type="pres">
      <dgm:prSet presAssocID="{A5C6193E-02B1-4E4A-9D95-6794022DDBC8}" presName="descendantText" presStyleLbl="alignAcc1" presStyleIdx="1" presStyleCnt="3">
        <dgm:presLayoutVars>
          <dgm:bulletEnabled val="1"/>
        </dgm:presLayoutVars>
      </dgm:prSet>
      <dgm:spPr/>
    </dgm:pt>
    <dgm:pt modelId="{2611CCD3-1257-4546-A379-4C532A1E3D78}" type="pres">
      <dgm:prSet presAssocID="{35323911-C34A-423F-A787-BE6926657343}" presName="sp" presStyleCnt="0"/>
      <dgm:spPr/>
    </dgm:pt>
    <dgm:pt modelId="{B682372F-4B6F-439D-B8BA-B82112A5CE16}" type="pres">
      <dgm:prSet presAssocID="{8BA39953-B3F5-40CE-9243-2BAFC745E5A5}" presName="composite" presStyleCnt="0"/>
      <dgm:spPr/>
    </dgm:pt>
    <dgm:pt modelId="{204FBED8-B5E1-49E7-B561-A6CF6F377BFC}" type="pres">
      <dgm:prSet presAssocID="{8BA39953-B3F5-40CE-9243-2BAFC745E5A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E83FB87F-CC09-4403-8242-18D0D1890383}" type="pres">
      <dgm:prSet presAssocID="{8BA39953-B3F5-40CE-9243-2BAFC745E5A5}" presName="descendantText" presStyleLbl="alignAcc1" presStyleIdx="2" presStyleCnt="3" custScaleY="175829">
        <dgm:presLayoutVars>
          <dgm:bulletEnabled val="1"/>
        </dgm:presLayoutVars>
      </dgm:prSet>
      <dgm:spPr/>
    </dgm:pt>
  </dgm:ptLst>
  <dgm:cxnLst>
    <dgm:cxn modelId="{BAC3E901-E6AD-430B-971A-EB0339ED1F64}" type="presOf" srcId="{A32BC41E-E837-4C62-BC9A-1AD05E0C6935}" destId="{E83FB87F-CC09-4403-8242-18D0D1890383}" srcOrd="0" destOrd="2" presId="urn:microsoft.com/office/officeart/2005/8/layout/chevron2"/>
    <dgm:cxn modelId="{6BDF530A-94E0-49A3-A259-8E4553B39917}" srcId="{8BA39953-B3F5-40CE-9243-2BAFC745E5A5}" destId="{0E095831-80FE-45A1-AEC2-1B3673C22890}" srcOrd="1" destOrd="0" parTransId="{7835E726-085E-49A6-92D9-86CB670291F3}" sibTransId="{E611B6E3-BD1A-49D3-BEEF-CAC15F90FB9E}"/>
    <dgm:cxn modelId="{96DCCC0C-9F1E-49E0-A758-081E7602D1A0}" type="presOf" srcId="{45EBA6B6-E16B-435C-AB29-7497D9B651B6}" destId="{E83FB87F-CC09-4403-8242-18D0D1890383}" srcOrd="0" destOrd="0" presId="urn:microsoft.com/office/officeart/2005/8/layout/chevron2"/>
    <dgm:cxn modelId="{A03BC10E-AF52-43C0-8E72-AD6296A81C59}" type="presOf" srcId="{A5C6193E-02B1-4E4A-9D95-6794022DDBC8}" destId="{73CC1E48-0624-40CB-AD2D-C61F8FC02A79}" srcOrd="0" destOrd="0" presId="urn:microsoft.com/office/officeart/2005/8/layout/chevron2"/>
    <dgm:cxn modelId="{BA6B0D0F-78A5-4A25-8C2E-0DC118D60586}" srcId="{8BA39953-B3F5-40CE-9243-2BAFC745E5A5}" destId="{45EBA6B6-E16B-435C-AB29-7497D9B651B6}" srcOrd="0" destOrd="0" parTransId="{4FF23E41-18E8-4E73-9C29-954CAFBF202E}" sibTransId="{4973D98E-F434-42AC-AEA4-0C64D7EACC88}"/>
    <dgm:cxn modelId="{77E80521-087B-47A1-B40C-BDA0B2E14A1F}" type="presOf" srcId="{8BA39953-B3F5-40CE-9243-2BAFC745E5A5}" destId="{204FBED8-B5E1-49E7-B561-A6CF6F377BFC}" srcOrd="0" destOrd="0" presId="urn:microsoft.com/office/officeart/2005/8/layout/chevron2"/>
    <dgm:cxn modelId="{3591D823-4D4A-47CD-92FA-49E494A1BAA5}" srcId="{5B80F913-C176-42E4-B57D-A61D91556D39}" destId="{4F5CA4D2-148A-4F48-AEC1-7DF2DA13DE66}" srcOrd="0" destOrd="0" parTransId="{53929814-9F26-47FD-9DFB-5751E04E369D}" sibTransId="{FFB72397-4471-4A8B-A0C2-47925CDE16A3}"/>
    <dgm:cxn modelId="{A8FEEE2E-B2A2-4896-A784-C4FA3CEFA745}" srcId="{A5C6193E-02B1-4E4A-9D95-6794022DDBC8}" destId="{2F8CE1DB-AE13-4268-A08D-F27AB2D4B4D0}" srcOrd="0" destOrd="0" parTransId="{1CAF3AC5-3675-45AF-9FA2-46A6C2BCDF22}" sibTransId="{EA2F5657-34AF-4791-A6CD-F7178EFEC359}"/>
    <dgm:cxn modelId="{1C9E7434-79E1-4D36-BE11-966B669B236F}" srcId="{7A3A2C16-135F-43FB-B311-684848C416FA}" destId="{8BA39953-B3F5-40CE-9243-2BAFC745E5A5}" srcOrd="2" destOrd="0" parTransId="{F42C37C9-30D5-4510-8101-F097100CB255}" sibTransId="{AB56C8E5-FAB4-4DE2-8622-B5D876277CC4}"/>
    <dgm:cxn modelId="{46F85A4A-613E-4475-96E1-C1EFD6EB4921}" type="presOf" srcId="{0E095831-80FE-45A1-AEC2-1B3673C22890}" destId="{E83FB87F-CC09-4403-8242-18D0D1890383}" srcOrd="0" destOrd="1" presId="urn:microsoft.com/office/officeart/2005/8/layout/chevron2"/>
    <dgm:cxn modelId="{2BEA0E77-AAF2-4B44-BB17-B9863624FE50}" srcId="{7A3A2C16-135F-43FB-B311-684848C416FA}" destId="{5B80F913-C176-42E4-B57D-A61D91556D39}" srcOrd="0" destOrd="0" parTransId="{526DF0EA-CA0B-40FD-8838-5F8BE3D6032A}" sibTransId="{12A0FE56-985C-4D0C-A9AB-0D19CDC3829A}"/>
    <dgm:cxn modelId="{94D0E889-6146-441F-9DB6-5A9A7D123942}" type="presOf" srcId="{7A3A2C16-135F-43FB-B311-684848C416FA}" destId="{1716C007-A1BA-444B-936C-36CED93D59E9}" srcOrd="0" destOrd="0" presId="urn:microsoft.com/office/officeart/2005/8/layout/chevron2"/>
    <dgm:cxn modelId="{13FB8597-8680-48FD-9548-F6476167883C}" srcId="{8BA39953-B3F5-40CE-9243-2BAFC745E5A5}" destId="{A32BC41E-E837-4C62-BC9A-1AD05E0C6935}" srcOrd="2" destOrd="0" parTransId="{F61EB77B-B953-469A-84A8-EA98BE95805D}" sibTransId="{4AF025D9-3A6A-45AC-B1BF-385E191E1B3E}"/>
    <dgm:cxn modelId="{2B1B07BB-0BFF-4F17-8ECA-E83C34555F86}" type="presOf" srcId="{2F8CE1DB-AE13-4268-A08D-F27AB2D4B4D0}" destId="{A337E4C2-14FB-4556-B8E1-05263E1B2F87}" srcOrd="0" destOrd="0" presId="urn:microsoft.com/office/officeart/2005/8/layout/chevron2"/>
    <dgm:cxn modelId="{03574DBE-4C92-437E-975B-38EBAEE23870}" type="presOf" srcId="{5B80F913-C176-42E4-B57D-A61D91556D39}" destId="{94C27B1A-239E-4322-87B5-F101218D60D6}" srcOrd="0" destOrd="0" presId="urn:microsoft.com/office/officeart/2005/8/layout/chevron2"/>
    <dgm:cxn modelId="{B74439E2-A314-4156-B301-1516CF7E02B2}" type="presOf" srcId="{4F5CA4D2-148A-4F48-AEC1-7DF2DA13DE66}" destId="{0E468848-2031-4D31-9DC0-B4B0BE937535}" srcOrd="0" destOrd="0" presId="urn:microsoft.com/office/officeart/2005/8/layout/chevron2"/>
    <dgm:cxn modelId="{23C659E5-B64D-4A60-80C1-2FFFFDB03B83}" srcId="{7A3A2C16-135F-43FB-B311-684848C416FA}" destId="{A5C6193E-02B1-4E4A-9D95-6794022DDBC8}" srcOrd="1" destOrd="0" parTransId="{1A1FFBBF-9250-40B2-B9B9-84E42BCE4F34}" sibTransId="{35323911-C34A-423F-A787-BE6926657343}"/>
    <dgm:cxn modelId="{14DD3EF2-7C54-426E-8334-95147900B692}" type="presParOf" srcId="{1716C007-A1BA-444B-936C-36CED93D59E9}" destId="{A71BDA80-F4B4-4694-B87F-6DABD9CF40C2}" srcOrd="0" destOrd="0" presId="urn:microsoft.com/office/officeart/2005/8/layout/chevron2"/>
    <dgm:cxn modelId="{2B099C07-01A1-4916-B870-69E35B55A244}" type="presParOf" srcId="{A71BDA80-F4B4-4694-B87F-6DABD9CF40C2}" destId="{94C27B1A-239E-4322-87B5-F101218D60D6}" srcOrd="0" destOrd="0" presId="urn:microsoft.com/office/officeart/2005/8/layout/chevron2"/>
    <dgm:cxn modelId="{1EAA8CBD-1ED2-4593-A58A-0017F24F2B39}" type="presParOf" srcId="{A71BDA80-F4B4-4694-B87F-6DABD9CF40C2}" destId="{0E468848-2031-4D31-9DC0-B4B0BE937535}" srcOrd="1" destOrd="0" presId="urn:microsoft.com/office/officeart/2005/8/layout/chevron2"/>
    <dgm:cxn modelId="{A8C64DB4-A816-4E18-AA87-472BB2EEBF6C}" type="presParOf" srcId="{1716C007-A1BA-444B-936C-36CED93D59E9}" destId="{028BC093-E37F-4D7F-A3F3-06B56141CE84}" srcOrd="1" destOrd="0" presId="urn:microsoft.com/office/officeart/2005/8/layout/chevron2"/>
    <dgm:cxn modelId="{BC7161A0-C056-4F25-B303-C1F20DB1F0AC}" type="presParOf" srcId="{1716C007-A1BA-444B-936C-36CED93D59E9}" destId="{61E917CE-93DB-488B-A44C-8B315AC3FA8F}" srcOrd="2" destOrd="0" presId="urn:microsoft.com/office/officeart/2005/8/layout/chevron2"/>
    <dgm:cxn modelId="{0D6694C3-833E-4A85-9458-5B1FC3B4D85F}" type="presParOf" srcId="{61E917CE-93DB-488B-A44C-8B315AC3FA8F}" destId="{73CC1E48-0624-40CB-AD2D-C61F8FC02A79}" srcOrd="0" destOrd="0" presId="urn:microsoft.com/office/officeart/2005/8/layout/chevron2"/>
    <dgm:cxn modelId="{B348F5BD-E432-4D05-8234-483BD382AB14}" type="presParOf" srcId="{61E917CE-93DB-488B-A44C-8B315AC3FA8F}" destId="{A337E4C2-14FB-4556-B8E1-05263E1B2F87}" srcOrd="1" destOrd="0" presId="urn:microsoft.com/office/officeart/2005/8/layout/chevron2"/>
    <dgm:cxn modelId="{85D9AFA4-078B-4021-8E97-6F6A6A84B46A}" type="presParOf" srcId="{1716C007-A1BA-444B-936C-36CED93D59E9}" destId="{2611CCD3-1257-4546-A379-4C532A1E3D78}" srcOrd="3" destOrd="0" presId="urn:microsoft.com/office/officeart/2005/8/layout/chevron2"/>
    <dgm:cxn modelId="{410B53DC-665C-43CA-87C0-E91D597FB11B}" type="presParOf" srcId="{1716C007-A1BA-444B-936C-36CED93D59E9}" destId="{B682372F-4B6F-439D-B8BA-B82112A5CE16}" srcOrd="4" destOrd="0" presId="urn:microsoft.com/office/officeart/2005/8/layout/chevron2"/>
    <dgm:cxn modelId="{73568010-1C2A-441D-9072-C9A6C277E76B}" type="presParOf" srcId="{B682372F-4B6F-439D-B8BA-B82112A5CE16}" destId="{204FBED8-B5E1-49E7-B561-A6CF6F377BFC}" srcOrd="0" destOrd="0" presId="urn:microsoft.com/office/officeart/2005/8/layout/chevron2"/>
    <dgm:cxn modelId="{4E3D7358-CE88-4132-A7F7-A8289A552AD0}" type="presParOf" srcId="{B682372F-4B6F-439D-B8BA-B82112A5CE16}" destId="{E83FB87F-CC09-4403-8242-18D0D189038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979B64-83E5-4498-9037-C60A94DBE48D}">
      <dsp:nvSpPr>
        <dsp:cNvPr id="0" name=""/>
        <dsp:cNvSpPr/>
      </dsp:nvSpPr>
      <dsp:spPr>
        <a:xfrm>
          <a:off x="2500198" y="0"/>
          <a:ext cx="3026003" cy="1193800"/>
        </a:xfrm>
        <a:prstGeom prst="roundRect">
          <a:avLst>
            <a:gd name="adj" fmla="val 10000"/>
          </a:avLst>
        </a:prstGeom>
        <a:solidFill>
          <a:srgbClr val="1C4B58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Economica" panose="020B0604020202020204" charset="0"/>
            </a:rPr>
            <a:t>Weeks 1-2: from user requirements to design</a:t>
          </a:r>
          <a:endParaRPr lang="en-US" sz="1600" kern="1200" dirty="0">
            <a:latin typeface="Economica" panose="020B0604020202020204" charset="0"/>
          </a:endParaRPr>
        </a:p>
      </dsp:txBody>
      <dsp:txXfrm>
        <a:off x="2535163" y="34965"/>
        <a:ext cx="2956073" cy="1123870"/>
      </dsp:txXfrm>
    </dsp:sp>
    <dsp:sp modelId="{D619EE69-0526-43D2-A8CF-7FEB7B84E9FB}">
      <dsp:nvSpPr>
        <dsp:cNvPr id="0" name=""/>
        <dsp:cNvSpPr/>
      </dsp:nvSpPr>
      <dsp:spPr>
        <a:xfrm rot="5400000">
          <a:off x="3789362" y="1223644"/>
          <a:ext cx="447675" cy="5372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 rot="-5400000">
        <a:off x="3852037" y="1268411"/>
        <a:ext cx="322326" cy="313373"/>
      </dsp:txXfrm>
    </dsp:sp>
    <dsp:sp modelId="{CB3EA6BF-1B00-470E-BBC4-337D7EAC8367}">
      <dsp:nvSpPr>
        <dsp:cNvPr id="0" name=""/>
        <dsp:cNvSpPr/>
      </dsp:nvSpPr>
      <dsp:spPr>
        <a:xfrm>
          <a:off x="2500198" y="1790700"/>
          <a:ext cx="3026003" cy="1193800"/>
        </a:xfrm>
        <a:prstGeom prst="roundRect">
          <a:avLst>
            <a:gd name="adj" fmla="val 10000"/>
          </a:avLst>
        </a:prstGeom>
        <a:solidFill>
          <a:srgbClr val="08777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Economica" panose="020B0604020202020204" charset="0"/>
            </a:rPr>
            <a:t>Weeks 3-9: from design to software – CLI software development in iterations</a:t>
          </a:r>
          <a:endParaRPr lang="en-US" sz="1600" kern="1200" dirty="0">
            <a:latin typeface="Economica" panose="020B0604020202020204" charset="0"/>
          </a:endParaRPr>
        </a:p>
      </dsp:txBody>
      <dsp:txXfrm>
        <a:off x="2535163" y="1825665"/>
        <a:ext cx="2956073" cy="1123870"/>
      </dsp:txXfrm>
    </dsp:sp>
    <dsp:sp modelId="{DE95126C-DC7F-41FB-AF16-FD1785DE52D1}">
      <dsp:nvSpPr>
        <dsp:cNvPr id="0" name=""/>
        <dsp:cNvSpPr/>
      </dsp:nvSpPr>
      <dsp:spPr>
        <a:xfrm rot="5400000">
          <a:off x="3789362" y="3014344"/>
          <a:ext cx="447674" cy="5372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 rot="-5400000">
        <a:off x="3852036" y="3059112"/>
        <a:ext cx="322326" cy="313372"/>
      </dsp:txXfrm>
    </dsp:sp>
    <dsp:sp modelId="{81C5177F-6A20-46DC-9F88-7CDF836ED105}">
      <dsp:nvSpPr>
        <dsp:cNvPr id="0" name=""/>
        <dsp:cNvSpPr/>
      </dsp:nvSpPr>
      <dsp:spPr>
        <a:xfrm>
          <a:off x="2500198" y="3581399"/>
          <a:ext cx="3026003" cy="1193800"/>
        </a:xfrm>
        <a:prstGeom prst="roundRect">
          <a:avLst>
            <a:gd name="adj" fmla="val 10000"/>
          </a:avLst>
        </a:prstGeom>
        <a:solidFill>
          <a:srgbClr val="216D4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Economica" panose="020B0604020202020204" charset="0"/>
            </a:rPr>
            <a:t>Weeks 10-11: GUI implementation</a:t>
          </a:r>
        </a:p>
      </dsp:txBody>
      <dsp:txXfrm>
        <a:off x="2535163" y="3616364"/>
        <a:ext cx="2956073" cy="11238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27B1A-239E-4322-87B5-F101218D60D6}">
      <dsp:nvSpPr>
        <dsp:cNvPr id="0" name=""/>
        <dsp:cNvSpPr/>
      </dsp:nvSpPr>
      <dsp:spPr>
        <a:xfrm rot="5400000">
          <a:off x="-218013" y="221301"/>
          <a:ext cx="1453423" cy="1017396"/>
        </a:xfrm>
        <a:prstGeom prst="chevron">
          <a:avLst/>
        </a:prstGeom>
        <a:solidFill>
          <a:srgbClr val="1C4B58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</a:rPr>
            <a:t>Quiz 1 (15)</a:t>
          </a:r>
          <a:endParaRPr lang="en-US" sz="1600" kern="1200" dirty="0">
            <a:latin typeface="+mn-lt"/>
          </a:endParaRPr>
        </a:p>
      </dsp:txBody>
      <dsp:txXfrm rot="-5400000">
        <a:off x="1" y="511985"/>
        <a:ext cx="1017396" cy="436027"/>
      </dsp:txXfrm>
    </dsp:sp>
    <dsp:sp modelId="{0E468848-2031-4D31-9DC0-B4B0BE937535}">
      <dsp:nvSpPr>
        <dsp:cNvPr id="0" name=""/>
        <dsp:cNvSpPr/>
      </dsp:nvSpPr>
      <dsp:spPr>
        <a:xfrm rot="5400000">
          <a:off x="5755935" y="-4735251"/>
          <a:ext cx="944725" cy="10421803"/>
        </a:xfrm>
        <a:prstGeom prst="round2SameRect">
          <a:avLst/>
        </a:prstGeom>
        <a:solidFill>
          <a:srgbClr val="1C4B58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chemeClr val="bg1"/>
              </a:solidFill>
              <a:latin typeface="+mn-lt"/>
            </a:rPr>
            <a:t>Week 7; in-class; content of Weeks 1-2</a:t>
          </a:r>
          <a:endParaRPr lang="en-AU" sz="1600" kern="1200" dirty="0">
            <a:solidFill>
              <a:schemeClr val="bg1"/>
            </a:solidFill>
            <a:latin typeface="+mn-lt"/>
          </a:endParaRPr>
        </a:p>
      </dsp:txBody>
      <dsp:txXfrm rot="-5400000">
        <a:off x="1017396" y="49406"/>
        <a:ext cx="10375685" cy="852489"/>
      </dsp:txXfrm>
    </dsp:sp>
    <dsp:sp modelId="{73CC1E48-0624-40CB-AD2D-C61F8FC02A79}">
      <dsp:nvSpPr>
        <dsp:cNvPr id="0" name=""/>
        <dsp:cNvSpPr/>
      </dsp:nvSpPr>
      <dsp:spPr>
        <a:xfrm rot="5400000">
          <a:off x="-218013" y="1496513"/>
          <a:ext cx="1453423" cy="1017396"/>
        </a:xfrm>
        <a:prstGeom prst="chevron">
          <a:avLst/>
        </a:prstGeom>
        <a:solidFill>
          <a:srgbClr val="08777A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</a:rPr>
            <a:t>Quiz 2 (15)</a:t>
          </a:r>
          <a:endParaRPr lang="en-US" sz="1600" kern="1200" dirty="0">
            <a:latin typeface="+mn-lt"/>
          </a:endParaRPr>
        </a:p>
      </dsp:txBody>
      <dsp:txXfrm rot="-5400000">
        <a:off x="1" y="1787197"/>
        <a:ext cx="1017396" cy="436027"/>
      </dsp:txXfrm>
    </dsp:sp>
    <dsp:sp modelId="{A337E4C2-14FB-4556-B8E1-05263E1B2F87}">
      <dsp:nvSpPr>
        <dsp:cNvPr id="0" name=""/>
        <dsp:cNvSpPr/>
      </dsp:nvSpPr>
      <dsp:spPr>
        <a:xfrm rot="5400000">
          <a:off x="5755935" y="-3460038"/>
          <a:ext cx="944725" cy="10421803"/>
        </a:xfrm>
        <a:prstGeom prst="round2SameRect">
          <a:avLst/>
        </a:prstGeom>
        <a:solidFill>
          <a:srgbClr val="08777A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chemeClr val="bg1"/>
              </a:solidFill>
              <a:latin typeface="+mn-lt"/>
            </a:rPr>
            <a:t>Week 12; in-class; content of Weeks 3-11</a:t>
          </a:r>
          <a:endParaRPr lang="en-AU" sz="1600" b="1" kern="1200" dirty="0">
            <a:solidFill>
              <a:schemeClr val="bg1"/>
            </a:solidFill>
            <a:latin typeface="+mn-lt"/>
          </a:endParaRPr>
        </a:p>
      </dsp:txBody>
      <dsp:txXfrm rot="-5400000">
        <a:off x="1017396" y="1324619"/>
        <a:ext cx="10375685" cy="852489"/>
      </dsp:txXfrm>
    </dsp:sp>
    <dsp:sp modelId="{204FBED8-B5E1-49E7-B561-A6CF6F377BFC}">
      <dsp:nvSpPr>
        <dsp:cNvPr id="0" name=""/>
        <dsp:cNvSpPr/>
      </dsp:nvSpPr>
      <dsp:spPr>
        <a:xfrm rot="5400000">
          <a:off x="-218013" y="3130102"/>
          <a:ext cx="1453423" cy="1017396"/>
        </a:xfrm>
        <a:prstGeom prst="chevron">
          <a:avLst/>
        </a:prstGeom>
        <a:solidFill>
          <a:srgbClr val="216D45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n-lt"/>
            </a:rPr>
            <a:t>Project (70):</a:t>
          </a:r>
          <a:endParaRPr lang="en-US" sz="1600" kern="1200" dirty="0">
            <a:latin typeface="+mn-lt"/>
          </a:endParaRPr>
        </a:p>
      </dsp:txBody>
      <dsp:txXfrm rot="-5400000">
        <a:off x="1" y="3420786"/>
        <a:ext cx="1017396" cy="436027"/>
      </dsp:txXfrm>
    </dsp:sp>
    <dsp:sp modelId="{E83FB87F-CC09-4403-8242-18D0D1890383}">
      <dsp:nvSpPr>
        <dsp:cNvPr id="0" name=""/>
        <dsp:cNvSpPr/>
      </dsp:nvSpPr>
      <dsp:spPr>
        <a:xfrm rot="5400000">
          <a:off x="5397310" y="-1826201"/>
          <a:ext cx="1661974" cy="10421803"/>
        </a:xfrm>
        <a:prstGeom prst="round2SameRect">
          <a:avLst/>
        </a:prstGeom>
        <a:solidFill>
          <a:srgbClr val="216D45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chemeClr val="bg1"/>
              </a:solidFill>
              <a:latin typeface="+mn-lt"/>
            </a:rPr>
            <a:t>Part 1 (end of Week 7): requirement analysis (group, </a:t>
          </a:r>
          <a:r>
            <a:rPr lang="en-US" sz="1600" b="1" kern="1200" dirty="0" err="1">
              <a:solidFill>
                <a:schemeClr val="bg1"/>
              </a:solidFill>
              <a:latin typeface="+mn-lt"/>
            </a:rPr>
            <a:t>Sparkplus</a:t>
          </a:r>
          <a:r>
            <a:rPr lang="en-US" sz="1600" b="1" kern="1200" dirty="0">
              <a:solidFill>
                <a:schemeClr val="bg1"/>
              </a:solidFill>
              <a:latin typeface="+mn-lt"/>
            </a:rPr>
            <a:t> peer rating)</a:t>
          </a:r>
          <a:endParaRPr lang="en-AU" sz="1600" b="1" kern="1200" dirty="0">
            <a:solidFill>
              <a:schemeClr val="bg1"/>
            </a:solidFill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chemeClr val="bg1"/>
              </a:solidFill>
              <a:latin typeface="+mn-lt"/>
            </a:rPr>
            <a:t>Part 2 (end of Week 13): software development (individual)</a:t>
          </a:r>
          <a:endParaRPr lang="en-AU" sz="1600" b="1" kern="1200" dirty="0">
            <a:solidFill>
              <a:schemeClr val="bg1"/>
            </a:solidFill>
            <a:latin typeface="+mn-lt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>
              <a:solidFill>
                <a:schemeClr val="bg1"/>
              </a:solidFill>
              <a:latin typeface="+mn-lt"/>
            </a:rPr>
            <a:t>Part 3 (Week 12 &amp; Week 13): Showcase</a:t>
          </a:r>
          <a:endParaRPr lang="en-AU" sz="1600" b="1" kern="1200" dirty="0">
            <a:solidFill>
              <a:schemeClr val="bg1"/>
            </a:solidFill>
            <a:latin typeface="+mn-lt"/>
          </a:endParaRPr>
        </a:p>
      </dsp:txBody>
      <dsp:txXfrm rot="-5400000">
        <a:off x="1017396" y="2634844"/>
        <a:ext cx="10340672" cy="1499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FEA0A-84D0-1F80-1D4B-7DBF6650B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C1150E-4269-9D4F-B15C-591B06251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58742-8D41-B004-8D60-6B6A7FF16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317500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96889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FDEAC-0B83-939C-41E7-745B0C08E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592F8-BB9C-DD0B-98D4-7EBDE3948F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E0AC9-37BB-69AC-6365-D775C32D2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317500"/>
            <a:r>
              <a:rPr lang="en-US" dirty="0"/>
              <a:t>For lecture demos, labs, assignments, quizzes – code in both java and python </a:t>
            </a:r>
          </a:p>
          <a:p>
            <a:pPr marL="457200" indent="-317500"/>
            <a:r>
              <a:rPr lang="en-US" dirty="0"/>
              <a:t>Java -&gt; demonstrates OOP</a:t>
            </a:r>
          </a:p>
          <a:p>
            <a:pPr marL="457200" indent="-317500"/>
            <a:r>
              <a:rPr lang="en-US" dirty="0"/>
              <a:t>Python -&gt; flexible, modern, easy to use</a:t>
            </a:r>
          </a:p>
          <a:p>
            <a:pPr marL="457200" indent="-317500"/>
            <a:r>
              <a:rPr lang="en-US" dirty="0"/>
              <a:t>Subject offered to all students in MIT and MAI – some are advanced some are beginners</a:t>
            </a:r>
          </a:p>
          <a:p>
            <a:pPr marL="457200" indent="-317500"/>
            <a:endParaRPr lang="en-US" dirty="0"/>
          </a:p>
          <a:p>
            <a:pPr marL="457200" indent="-317500"/>
            <a:r>
              <a:rPr lang="en-US" dirty="0"/>
              <a:t>Show </a:t>
            </a:r>
            <a:r>
              <a:rPr lang="en-US" dirty="0" err="1"/>
              <a:t>uts</a:t>
            </a:r>
            <a:r>
              <a:rPr lang="en-US" dirty="0"/>
              <a:t> calendar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1145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A88B7A32-F6CF-064E-A525-2D61C66BA7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940BE0AB-6F15-7844-99DF-A1D3F9BCD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510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A88B7A32-F6CF-064E-A525-2D61C66BA7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940BE0AB-6F15-7844-99DF-A1D3F9BCD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9207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D24F3-C88E-4C15-8193-4E111B80EC59}" type="slidenum">
              <a:rPr lang="en-AU" smtClean="0"/>
              <a:t>169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292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3CF8-4CC4-7F3B-2E2C-B754C2E0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7C4A4-F523-ACA9-5C84-1EB3B80F5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6B62-F469-5355-6292-CF3055CB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681-D058-06A0-CFA9-1ACBCF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BDF-B5C2-115A-032D-5C46CBD9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18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671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6912-D2E1-9F64-1372-FD29BEC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F36E-92D4-F7A9-5611-D4EBA0B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57A2-4AEF-2382-EDA9-9845CA39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D0E-8F76-6E7D-576B-3044ADA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D88E-0EE8-C9D0-7C68-6610F7CE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959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EEF-DD28-69EB-29C5-D19A23E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8B3-1006-F7DE-14E9-62BEEF0B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AB7C-879B-50DC-E53A-4393B966D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D7845-F396-BCEB-3205-F5CB38CB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D3CE-E9A4-DBF3-1F0E-201F7D7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F1D0-0AD2-C539-20D2-851B13F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724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C5-0226-85F6-8D4F-D4EA919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93AD-8E77-DFCC-2C3E-8937176F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B92EC-30B6-5005-98C8-910D96DB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C2EA1-CEE9-87F1-74CA-7EA588BF2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0A23-C285-3B5E-0EF8-4DF4263F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3897-C5FE-C3C3-0CDA-10587181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D7EC9-F5EC-C2D4-DFE1-05F4CA0D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EC484-2B60-830F-28B9-0BF2FCAE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65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55B2-54AC-E8D5-3367-D1C2415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7327B-BCFB-7F1B-0D11-15CDAFA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EA2D0-8DDC-C686-66FD-4DE83C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0BFAB-E28F-508B-19B8-6522D8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962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69272-1C68-4E9F-DF2B-EFBD432E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C98D-0E86-D36E-F380-6954CD1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A426-B4F3-BBC6-83AE-7CC2B62F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667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0BF-D428-3081-57B1-8789F77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AD68-6E43-EC2D-C33D-9C8C408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F6F4-D743-9E3B-ECD3-FC039ED7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F5F1-6B2A-22C2-ECEA-5177C220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F1728-E389-E41B-E406-1E97CFE6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1710-9C83-7478-4B35-7F8EEFE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094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6ED2-C254-312D-15C0-846C33DE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8503-8FCB-7F53-63D6-495FC6DA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4EB0-E8B0-EA92-3CF8-6A5D1F5C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7A35-CE5F-ECE8-2441-58A2C920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283E-7CC6-0CCE-C2FC-702F78F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7FBD-6EC1-3B80-4A79-3B5A0E2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823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48A-761D-E27D-E888-B7E27FD8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4B11-2215-EBF3-BEA3-EF320EE3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CD92-D758-240E-A2D2-4E195BC7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3A7E-35BE-57C3-5A4F-F3FB5F4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7621-F8C1-F075-FE92-FD0DDB6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98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C27C-709B-17D0-FA2E-D84DCAB7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40E5-47C9-4263-1E76-9BE55624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96FD-B031-5E26-AF28-582721D5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D959-5F65-A253-A7EB-99402547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7ADB-FEDC-6841-0342-4A29EDF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786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AB3A-0A22-D024-CB1E-FB00658B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3B34-6582-BD11-4D42-366502C7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C151-0A35-D9DB-7435-13417BC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DC-3820-4F90-B4E8-98BE2140A65D}" type="datetimeFigureOut">
              <a:rPr lang="en-AU" smtClean="0"/>
              <a:t>5/08/2026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A9709-41CF-642F-7858-53BE89DAE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F23B-D3DD-D490-A64F-7E733F66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54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au/java/technologies/downloads/#jdk22-window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au/java/technologies/downloads/#jdk22-window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acle.com/au/java/technologies/downloads/#jdk22-windows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eclipse.org/downloads/" TargetMode="Externa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eclipse.org/downloads/" TargetMode="Externa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mac-osx/" TargetMode="Externa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code.visualstudio.com/" TargetMode="Externa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raw.io/" TargetMode="Externa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hyperlink" Target="https://www.visual-paradigm.com/download/community.jsp" TargetMode="Externa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454" y="1360481"/>
            <a:ext cx="4605340" cy="2387600"/>
          </a:xfrm>
        </p:spPr>
        <p:txBody>
          <a:bodyPr>
            <a:normAutofit/>
          </a:bodyPr>
          <a:lstStyle/>
          <a:p>
            <a:pPr algn="l"/>
            <a:r>
              <a:rPr lang="en-US" sz="3900" dirty="0">
                <a:solidFill>
                  <a:schemeClr val="bg1"/>
                </a:solidFill>
                <a:latin typeface="Calibir"/>
              </a:rPr>
              <a:t>32555 – Fundamentals of Software Development</a:t>
            </a:r>
            <a:endParaRPr lang="en-AU" sz="3900" dirty="0">
              <a:solidFill>
                <a:schemeClr val="bg1"/>
              </a:solidFill>
              <a:latin typeface="Calibir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A4EEB-3C3C-78E4-5144-CBDE3AFA8C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7" r="98" b="1"/>
          <a:stretch>
            <a:fillRect/>
          </a:stretch>
        </p:blipFill>
        <p:spPr>
          <a:xfrm>
            <a:off x="5800734" y="1057275"/>
            <a:ext cx="5917401" cy="47434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4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D7A11-47AE-C133-8206-569A0BB0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1848-8E74-13DF-C09C-3CC64A483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85FC6-5CEA-DC1B-A1DF-D2D8A8948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37669"/>
            <a:ext cx="12192000" cy="596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i="1" dirty="0">
                <a:latin typeface="Calibir"/>
              </a:rPr>
              <a:t>Your Teaching Team:</a:t>
            </a:r>
            <a:endParaRPr lang="en-US" sz="16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Calibir"/>
              </a:rPr>
              <a:t>Dr. Yining Hu | Subject Coordinator</a:t>
            </a:r>
            <a:endParaRPr lang="en-US" sz="16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Yining is a Lecturer in Software Engineering. She works with many SMEs to develop software and AI solutions through student and research projects at UTS.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Contact: yining.hu@uts.edu.au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 </a:t>
            </a:r>
            <a:r>
              <a:rPr lang="en-US" sz="1600" b="1" dirty="0">
                <a:latin typeface="Calibir"/>
              </a:rPr>
              <a:t>Dr. Xiaojie (Zoe) Lin | Tutor</a:t>
            </a:r>
            <a:endParaRPr lang="en-US" sz="16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Zoe is a full-stack software engineer with an interest in data analysis, specializing in JAVA, R, Python, JavaScript, PHP, Bash, and MATLAB; familiar with AWS.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Contact:  Xiaojie.Lin@uts.edu.au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 </a:t>
            </a:r>
            <a:r>
              <a:rPr lang="en-US" sz="1600" b="1" dirty="0">
                <a:latin typeface="Calibir"/>
              </a:rPr>
              <a:t>Dr. Farshid Keivanian | Tutor</a:t>
            </a:r>
            <a:endParaRPr lang="en-US" sz="16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Dr. Farshid Keivanian is an experienced university lecturer and researcher with a PhD in Information Technology. He has over 15 years of teaching experience across Australian institutions, </a:t>
            </a:r>
            <a:r>
              <a:rPr lang="en-US" sz="1600" dirty="0" err="1">
                <a:latin typeface="Calibir"/>
              </a:rPr>
              <a:t>specialising</a:t>
            </a:r>
            <a:r>
              <a:rPr lang="en-US" sz="1600" dirty="0">
                <a:latin typeface="Calibir"/>
              </a:rPr>
              <a:t> in software engineering, data science, AI, and cybersecurity.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Contact: Farshid.Keivanian@uts.edu.au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 </a:t>
            </a:r>
            <a:r>
              <a:rPr lang="en-US" sz="1600" b="1" dirty="0">
                <a:latin typeface="Calibir"/>
              </a:rPr>
              <a:t>Yong Pov | Tutor</a:t>
            </a:r>
            <a:endParaRPr lang="en-US" sz="16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Yong is a full-stack software engineer with experience in React, JavaScript, TypeScript, Java, Python, SQL, and AI-assisted learning platforms.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libir"/>
              </a:rPr>
              <a:t>Contact: Yong.Pov@uts.edu.au</a:t>
            </a:r>
          </a:p>
        </p:txBody>
      </p:sp>
    </p:spTree>
    <p:extLst>
      <p:ext uri="{BB962C8B-B14F-4D97-AF65-F5344CB8AC3E}">
        <p14:creationId xmlns:p14="http://schemas.microsoft.com/office/powerpoint/2010/main" val="794337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6DC6-424A-EAE3-87C1-E5765B09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E5FDA-B4C2-6DD5-17BE-680D6285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– Fundamentals of Software Development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98AB95-B27E-184F-3760-418B8D55B7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257982"/>
              </p:ext>
            </p:extLst>
          </p:nvPr>
        </p:nvGraphicFramePr>
        <p:xfrm>
          <a:off x="722671" y="1816610"/>
          <a:ext cx="9792928" cy="368121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613329">
                  <a:extLst>
                    <a:ext uri="{9D8B030D-6E8A-4147-A177-3AD203B41FA5}">
                      <a16:colId xmlns:a16="http://schemas.microsoft.com/office/drawing/2014/main" val="79494275"/>
                    </a:ext>
                  </a:extLst>
                </a:gridCol>
                <a:gridCol w="2230244">
                  <a:extLst>
                    <a:ext uri="{9D8B030D-6E8A-4147-A177-3AD203B41FA5}">
                      <a16:colId xmlns:a16="http://schemas.microsoft.com/office/drawing/2014/main" val="2506284612"/>
                    </a:ext>
                  </a:extLst>
                </a:gridCol>
                <a:gridCol w="2864347">
                  <a:extLst>
                    <a:ext uri="{9D8B030D-6E8A-4147-A177-3AD203B41FA5}">
                      <a16:colId xmlns:a16="http://schemas.microsoft.com/office/drawing/2014/main" val="2357989121"/>
                    </a:ext>
                  </a:extLst>
                </a:gridCol>
                <a:gridCol w="3085008">
                  <a:extLst>
                    <a:ext uri="{9D8B030D-6E8A-4147-A177-3AD203B41FA5}">
                      <a16:colId xmlns:a16="http://schemas.microsoft.com/office/drawing/2014/main" val="192731506"/>
                    </a:ext>
                  </a:extLst>
                </a:gridCol>
              </a:tblGrid>
              <a:tr h="3706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Cmp1 #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Location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Time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Tutor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461216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01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Xiaojie (Zoe) Lin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370799720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07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10:00-12:00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278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08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Fri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Yong Pov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/>
                </a:tc>
                <a:extLst>
                  <a:ext uri="{0D108BD9-81ED-4DB2-BD59-A6C34878D82A}">
                    <a16:rowId xmlns:a16="http://schemas.microsoft.com/office/drawing/2014/main" val="1335921487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09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CB11.B1.103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16:00-18:00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187035"/>
                  </a:ext>
                </a:extLst>
              </a:tr>
              <a:tr h="38526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10</a:t>
                      </a:r>
                      <a:endParaRPr lang="en-US" sz="2800" b="0" i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CB11.B1.401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Wed 12:00-14:00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50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252B2B"/>
                          </a:solidFill>
                          <a:effectLst/>
                          <a:latin typeface="Calibir"/>
                        </a:rPr>
                        <a:t>Farshid Keivanian</a:t>
                      </a:r>
                      <a:endParaRPr lang="en-US" sz="2800" b="0" i="0" dirty="0">
                        <a:solidFill>
                          <a:srgbClr val="252B2B"/>
                        </a:solidFill>
                        <a:effectLst/>
                        <a:latin typeface="Calibir"/>
                      </a:endParaRPr>
                    </a:p>
                  </a:txBody>
                  <a:tcPr marL="14630" marR="14630" marT="14630" marB="1463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6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D9C1C-4E65-0A2D-3344-DB49366EE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CEA13-CFA7-19D8-5585-42E7C34A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Fundamentals of Software Development.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87EDA06-E13A-BD41-FC40-350B122F8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77407"/>
            <a:ext cx="12026407" cy="6380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During this subject you will learn how software is:</a:t>
            </a:r>
          </a:p>
          <a:p>
            <a:pPr marL="6334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Calibir"/>
              </a:rPr>
              <a:t>Analysed</a:t>
            </a:r>
            <a:r>
              <a:rPr lang="en-US" sz="2500" dirty="0">
                <a:latin typeface="Calibir"/>
              </a:rPr>
              <a:t> </a:t>
            </a:r>
          </a:p>
          <a:p>
            <a:pPr marL="6334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Designed </a:t>
            </a:r>
          </a:p>
          <a:p>
            <a:pPr marL="6334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Developed </a:t>
            </a:r>
          </a:p>
          <a:p>
            <a:pPr marL="6334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Tested 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using</a:t>
            </a:r>
          </a:p>
          <a:p>
            <a:pPr marL="6334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Java </a:t>
            </a:r>
          </a:p>
          <a:p>
            <a:pPr marL="6334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Python </a:t>
            </a:r>
          </a:p>
          <a:p>
            <a:pPr marL="6334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UML (UML = Unified Modeling Language)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By the end of the semester you will be able to build a small software system from beginning to end.</a:t>
            </a:r>
          </a:p>
        </p:txBody>
      </p:sp>
    </p:spTree>
    <p:extLst>
      <p:ext uri="{BB962C8B-B14F-4D97-AF65-F5344CB8AC3E}">
        <p14:creationId xmlns:p14="http://schemas.microsoft.com/office/powerpoint/2010/main" val="1978860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49E5E-551D-B506-B666-2709A7CB0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3597C-7CEF-E2FF-66F5-649FEEFB6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Welcome to 32555 Fundamentals of Software Development.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C26A9C8-6AC0-69AF-AC00-CFCEEBA2B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3290"/>
            <a:ext cx="12026407" cy="648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UML is a standard visual language used to plan and design software before writing code.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Instead of writing code immediately,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we first draw diagrams showing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users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classes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relationships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dirty="0">
                <a:latin typeface="Calibir"/>
              </a:rPr>
              <a:t>system </a:t>
            </a:r>
            <a:r>
              <a:rPr lang="en-US" sz="2700" dirty="0" err="1">
                <a:latin typeface="Calibir"/>
              </a:rPr>
              <a:t>behaviour</a:t>
            </a:r>
            <a:r>
              <a:rPr lang="en-US" sz="2700" dirty="0">
                <a:latin typeface="Calibir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2700" dirty="0">
                <a:latin typeface="Calibir"/>
              </a:rPr>
              <a:t>This helps developers understand the software before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65293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11F1-8436-A8D7-53F0-A32C844FB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4F6BB-4A86-B233-B3EE-FCD81763E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What will we learn?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365E32B-69E0-12BC-C594-82CE8EB10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28950"/>
            <a:ext cx="12026407" cy="6129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This subject covers the complete software development process.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Topics include: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Software Development Process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Requirements Analysis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UML Modelling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Object-Oriented Programming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Java Programming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Python Programming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GUI Development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File Handling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Software Testing</a:t>
            </a:r>
          </a:p>
        </p:txBody>
      </p:sp>
    </p:spTree>
    <p:extLst>
      <p:ext uri="{BB962C8B-B14F-4D97-AF65-F5344CB8AC3E}">
        <p14:creationId xmlns:p14="http://schemas.microsoft.com/office/powerpoint/2010/main" val="2549716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5231B-6A7C-FB57-0A1D-20C76DB02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2ED6-E619-C83C-9606-A14DAD494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Subject Learning Outcomes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A3E1B3C-E49B-9484-4240-DB2E4481A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3165"/>
            <a:ext cx="12026407" cy="3900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By the end of this subject you should be able to:</a:t>
            </a:r>
          </a:p>
          <a:p>
            <a:pPr marL="722313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 err="1">
                <a:latin typeface="Calibir"/>
              </a:rPr>
              <a:t>Analyse</a:t>
            </a:r>
            <a:r>
              <a:rPr lang="en-US" sz="2800" dirty="0">
                <a:latin typeface="Calibir"/>
              </a:rPr>
              <a:t> software requirements</a:t>
            </a:r>
          </a:p>
          <a:p>
            <a:pPr marL="722313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Design software using UML</a:t>
            </a:r>
          </a:p>
          <a:p>
            <a:pPr marL="722313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Develop software using Java or Python</a:t>
            </a:r>
          </a:p>
          <a:p>
            <a:pPr marL="722313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Test software</a:t>
            </a:r>
          </a:p>
          <a:p>
            <a:pPr marL="722313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Build software that satisfies user requirements</a:t>
            </a:r>
          </a:p>
        </p:txBody>
      </p:sp>
    </p:spTree>
    <p:extLst>
      <p:ext uri="{BB962C8B-B14F-4D97-AF65-F5344CB8AC3E}">
        <p14:creationId xmlns:p14="http://schemas.microsoft.com/office/powerpoint/2010/main" val="3259761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46515-912C-E4CA-DAF4-6474581B8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2FEB-511E-5199-E3E5-3ADFC6DB4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60800" cy="1108400"/>
          </a:xfrm>
        </p:spPr>
        <p:txBody>
          <a:bodyPr/>
          <a:lstStyle/>
          <a:p>
            <a:r>
              <a:rPr lang="en-US" dirty="0"/>
              <a:t>Subject Structure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3ACCCBC-489E-C2E6-BB2B-7F4CE3FCA5B8}"/>
              </a:ext>
            </a:extLst>
          </p:cNvPr>
          <p:cNvGraphicFramePr/>
          <p:nvPr/>
        </p:nvGraphicFramePr>
        <p:xfrm>
          <a:off x="2032000" y="1397000"/>
          <a:ext cx="80264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1670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BE6EE-3E65-80AE-2614-728BFF76A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32F1-9806-B1A1-2E78-34A01BC8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Weekly Learning Style</a:t>
            </a:r>
            <a:endParaRPr lang="en-AU" sz="4000" b="1" dirty="0">
              <a:latin typeface="Calibi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C731B5-53E0-9054-B8B2-3CE49A5F3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 b="33656"/>
          <a:stretch>
            <a:fillRect/>
          </a:stretch>
        </p:blipFill>
        <p:spPr>
          <a:xfrm>
            <a:off x="6916994" y="0"/>
            <a:ext cx="5275005" cy="3937074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E67AAF-A99B-0CEC-59B5-9C3AFCF7CE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016" b="36990"/>
          <a:stretch>
            <a:fillRect/>
          </a:stretch>
        </p:blipFill>
        <p:spPr>
          <a:xfrm>
            <a:off x="6784258" y="4038662"/>
            <a:ext cx="5407742" cy="281933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F0F04F8-DB14-3F6A-0775-C0E784E9B44C}"/>
              </a:ext>
            </a:extLst>
          </p:cNvPr>
          <p:cNvSpPr/>
          <p:nvPr/>
        </p:nvSpPr>
        <p:spPr>
          <a:xfrm>
            <a:off x="9247239" y="5574890"/>
            <a:ext cx="2779168" cy="47194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5BBC78-19DA-C3E0-120C-5DFD1B40F05C}"/>
              </a:ext>
            </a:extLst>
          </p:cNvPr>
          <p:cNvSpPr txBox="1"/>
          <p:nvPr/>
        </p:nvSpPr>
        <p:spPr>
          <a:xfrm>
            <a:off x="-1" y="573111"/>
            <a:ext cx="6784256" cy="19645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Google &gt;&gt; Farshid Keivanian GitHub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Repository &gt;&gt;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Sessions_Fundamentals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-of-Software-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Development_Java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-Python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A81628-554E-7B45-0EE3-137B920FABDF}"/>
              </a:ext>
            </a:extLst>
          </p:cNvPr>
          <p:cNvSpPr/>
          <p:nvPr/>
        </p:nvSpPr>
        <p:spPr>
          <a:xfrm>
            <a:off x="7349613" y="5048865"/>
            <a:ext cx="717755" cy="21630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1F4EC8-65C9-77F1-B9C8-E5416795471A}"/>
              </a:ext>
            </a:extLst>
          </p:cNvPr>
          <p:cNvSpPr txBox="1"/>
          <p:nvPr/>
        </p:nvSpPr>
        <p:spPr>
          <a:xfrm>
            <a:off x="-1" y="2653644"/>
            <a:ext cx="6751401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It includes:</a:t>
            </a:r>
          </a:p>
          <a:p>
            <a:pPr marL="446088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Weekly examples </a:t>
            </a:r>
          </a:p>
          <a:p>
            <a:pPr marL="446088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Java examples </a:t>
            </a:r>
          </a:p>
          <a:p>
            <a:pPr marL="446088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Python examples </a:t>
            </a:r>
          </a:p>
          <a:p>
            <a:pPr marL="446088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OOP examples </a:t>
            </a:r>
          </a:p>
          <a:p>
            <a:pPr marL="446088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Practice programs </a:t>
            </a:r>
          </a:p>
          <a:p>
            <a:pPr marL="446088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libir"/>
              </a:rPr>
              <a:t>Additional code discussed in class 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I will continue uploading new materials every week.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Please check the repository regularly.</a:t>
            </a:r>
          </a:p>
        </p:txBody>
      </p:sp>
    </p:spTree>
    <p:extLst>
      <p:ext uri="{BB962C8B-B14F-4D97-AF65-F5344CB8AC3E}">
        <p14:creationId xmlns:p14="http://schemas.microsoft.com/office/powerpoint/2010/main" val="84389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DCB16-4680-C59A-A437-58FD22941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456E-2FDC-BEE8-135D-C5BD56F0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Weekly Learning Style</a:t>
            </a:r>
            <a:endParaRPr lang="en-AU" sz="4000" b="1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AC073A-8C65-C9FA-FF30-16FBB24C6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78605"/>
            <a:ext cx="12026407" cy="5859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00" dirty="0">
                <a:latin typeface="Calibir"/>
              </a:rPr>
              <a:t>Before class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Read slides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Calibir"/>
              </a:rPr>
              <a:t>During workshop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Mini lecture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Live coding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UML examples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Practice activities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Questions and discussion </a:t>
            </a:r>
          </a:p>
          <a:p>
            <a:pPr>
              <a:lnSpc>
                <a:spcPct val="150000"/>
              </a:lnSpc>
            </a:pPr>
            <a:r>
              <a:rPr lang="en-US" sz="2100" dirty="0">
                <a:latin typeface="Calibir"/>
              </a:rPr>
              <a:t>After class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Practice programming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Review slides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latin typeface="Calibir"/>
              </a:rPr>
              <a:t>Complete exercises</a:t>
            </a:r>
          </a:p>
        </p:txBody>
      </p:sp>
    </p:spTree>
    <p:extLst>
      <p:ext uri="{BB962C8B-B14F-4D97-AF65-F5344CB8AC3E}">
        <p14:creationId xmlns:p14="http://schemas.microsoft.com/office/powerpoint/2010/main" val="2993077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08F08-67CA-CCFF-9336-39DA147C0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507F-1099-88FE-8577-51CAF2C84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Assessment Overview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8BBA4C-E403-937B-B965-0887EF211C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046252"/>
              </p:ext>
            </p:extLst>
          </p:nvPr>
        </p:nvGraphicFramePr>
        <p:xfrm>
          <a:off x="838200" y="2098294"/>
          <a:ext cx="10515600" cy="266141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60549975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695434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Assessment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Weight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23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Calibir"/>
                        </a:rPr>
                        <a:t>Assessment 1 – Case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Calibir"/>
                        </a:rPr>
                        <a:t>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7209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Calibir"/>
                        </a:rPr>
                        <a:t>Quiz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Calibir"/>
                        </a:rPr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65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>
                          <a:latin typeface="Calibir"/>
                        </a:rPr>
                        <a:t>Quiz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5881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5519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46B45-EECD-8F68-EA4C-EF8F40BD7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6C99B-C1A0-99B8-C764-DD62A0A5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60800" cy="1108400"/>
          </a:xfrm>
        </p:spPr>
        <p:txBody>
          <a:bodyPr/>
          <a:lstStyle/>
          <a:p>
            <a:r>
              <a:rPr lang="en-US" dirty="0"/>
              <a:t>Assessment Overview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2CC8AB1-957C-5A18-DA1F-0EA53A39FED4}"/>
              </a:ext>
            </a:extLst>
          </p:cNvPr>
          <p:cNvGraphicFramePr/>
          <p:nvPr/>
        </p:nvGraphicFramePr>
        <p:xfrm>
          <a:off x="508000" y="1701800"/>
          <a:ext cx="11439200" cy="4368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8139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420EF-DCA2-8AF2-61C0-593769323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2A75-B091-99A2-EAA0-23D60A104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Assessment 1 (70%)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163755-B43B-FD0D-C70D-478D9EEE5ED4}"/>
              </a:ext>
            </a:extLst>
          </p:cNvPr>
          <p:cNvSpPr txBox="1"/>
          <p:nvPr/>
        </p:nvSpPr>
        <p:spPr>
          <a:xfrm>
            <a:off x="-1" y="521500"/>
            <a:ext cx="10216055" cy="638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This is the major assessment.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It is completed in groups.  </a:t>
            </a:r>
            <a:r>
              <a:rPr lang="en-US" sz="2500" dirty="0">
                <a:highlight>
                  <a:srgbClr val="FFFF00"/>
                </a:highlight>
                <a:latin typeface="Calibir"/>
              </a:rPr>
              <a:t>Select your group in weeks 1 to 4</a:t>
            </a:r>
            <a:r>
              <a:rPr lang="en-US" sz="2500" dirty="0">
                <a:latin typeface="Calibir"/>
              </a:rPr>
              <a:t>	</a:t>
            </a:r>
            <a:endParaRPr lang="en-US" sz="2500" dirty="0"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It contains three parts.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Part 1 (15%)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Analysis and Design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Week 7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Includes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Requirements 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Use Cases 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UML Use Case Diagram 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UML Class Diagram</a:t>
            </a:r>
            <a:endParaRPr lang="en-US" sz="2800" dirty="0">
              <a:latin typeface="Calibi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6EDC8F-F046-E3A8-4C2B-3B1A58CF27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98" r="17742" b="5591"/>
          <a:stretch>
            <a:fillRect/>
          </a:stretch>
        </p:blipFill>
        <p:spPr>
          <a:xfrm>
            <a:off x="4196940" y="1798127"/>
            <a:ext cx="7995060" cy="453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145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5CFE3-4671-5E00-276A-1DACA934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04154-EEC5-94B2-EC7B-D83D41FB6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Assessment 1 (70%)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754CE-3E2A-DC5E-21BF-B5CC72B03945}"/>
              </a:ext>
            </a:extLst>
          </p:cNvPr>
          <p:cNvSpPr txBox="1"/>
          <p:nvPr/>
        </p:nvSpPr>
        <p:spPr>
          <a:xfrm>
            <a:off x="0" y="521500"/>
            <a:ext cx="7624916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Part 2 (50%)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Software Development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Week 13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Develop the software using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Java OR Python 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Implement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Classes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File handling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Exception handling 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CLI (Command-Line Interface)</a:t>
            </a:r>
          </a:p>
          <a:p>
            <a:pPr marL="72231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GUI (Graphical User Interface)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F19319-EFA4-3101-D631-6DDD4F0AC3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98" r="17742" b="5591"/>
          <a:stretch>
            <a:fillRect/>
          </a:stretch>
        </p:blipFill>
        <p:spPr>
          <a:xfrm>
            <a:off x="4683158" y="2074127"/>
            <a:ext cx="7508842" cy="42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88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EF5B-1022-816D-0CE5-FC8D5406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F31B-1F2C-7B5F-2330-6C9E5539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Assessment 1 (70%)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4876E-50F4-2C3B-7A42-49D7395832A0}"/>
              </a:ext>
            </a:extLst>
          </p:cNvPr>
          <p:cNvSpPr txBox="1"/>
          <p:nvPr/>
        </p:nvSpPr>
        <p:spPr>
          <a:xfrm>
            <a:off x="0" y="521500"/>
            <a:ext cx="7624916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CLI = Command-Line Interface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Simple explanation: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Users interact with software by typing commands.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89A56-F828-BD11-D4B3-E342D77A4B06}"/>
              </a:ext>
            </a:extLst>
          </p:cNvPr>
          <p:cNvSpPr txBox="1"/>
          <p:nvPr/>
        </p:nvSpPr>
        <p:spPr>
          <a:xfrm>
            <a:off x="91998" y="2486012"/>
            <a:ext cx="6205652" cy="32571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alibir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alibir"/>
              </a:rPr>
              <a:t>1. Add Student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alibir"/>
              </a:rPr>
              <a:t>2. Search Student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alibir"/>
              </a:rPr>
              <a:t>3. Exit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  <a:latin typeface="Calibir"/>
              </a:rPr>
              <a:t>Enter your choice: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B39323-C2DC-F24E-A40D-0667E442C474}"/>
              </a:ext>
            </a:extLst>
          </p:cNvPr>
          <p:cNvSpPr txBox="1"/>
          <p:nvPr/>
        </p:nvSpPr>
        <p:spPr>
          <a:xfrm>
            <a:off x="6297650" y="2608217"/>
            <a:ext cx="589435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There are no buttons.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Everything is entered using the keyboard.</a:t>
            </a:r>
          </a:p>
        </p:txBody>
      </p:sp>
    </p:spTree>
    <p:extLst>
      <p:ext uri="{BB962C8B-B14F-4D97-AF65-F5344CB8AC3E}">
        <p14:creationId xmlns:p14="http://schemas.microsoft.com/office/powerpoint/2010/main" val="2518746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A85DC-6F90-20CB-C3AD-E508AA707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4B2B8-D86C-47BC-E35C-5324E512B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Assessment 1 (70%)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3D2EF-2610-3191-0288-9741824840A6}"/>
              </a:ext>
            </a:extLst>
          </p:cNvPr>
          <p:cNvSpPr txBox="1"/>
          <p:nvPr/>
        </p:nvSpPr>
        <p:spPr>
          <a:xfrm>
            <a:off x="0" y="521500"/>
            <a:ext cx="7624916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GUI = Graphical User Interface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Windows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Buttons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Menus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Icons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Mouse clicks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Most desktop applications use a GUI.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F02933-A06F-89CC-1C4E-BAB001F10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06" r="39675" b="56911"/>
          <a:stretch>
            <a:fillRect/>
          </a:stretch>
        </p:blipFill>
        <p:spPr>
          <a:xfrm>
            <a:off x="5519855" y="36363"/>
            <a:ext cx="6672146" cy="5875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23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BD93F-FB17-AAAB-C1EB-CA920AD79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C3D6-D35B-822E-4185-3BEAF7075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Assessment 1 (70%)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A9B045-A552-9D1A-D2F6-6A7A83C82990}"/>
              </a:ext>
            </a:extLst>
          </p:cNvPr>
          <p:cNvSpPr txBox="1"/>
          <p:nvPr/>
        </p:nvSpPr>
        <p:spPr>
          <a:xfrm>
            <a:off x="0" y="521500"/>
            <a:ext cx="3569464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Part 3 (5%)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Project Showcase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Week 13 (19 to 23 Oct)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Each student demonstrates their software during lab.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0C794C-F3F6-DCD5-2137-6B11F0E66A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04" r="20391" b="12771"/>
          <a:stretch>
            <a:fillRect/>
          </a:stretch>
        </p:blipFill>
        <p:spPr>
          <a:xfrm>
            <a:off x="3569464" y="2006836"/>
            <a:ext cx="8622535" cy="485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47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6EABD-516C-7C66-8972-CFB477AA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D225-2C25-4625-22C2-62BDD2CF8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Quiz 1 (15%)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AF2FB-29B5-FDC2-C7E6-D40BBF3334CF}"/>
              </a:ext>
            </a:extLst>
          </p:cNvPr>
          <p:cNvSpPr txBox="1"/>
          <p:nvPr/>
        </p:nvSpPr>
        <p:spPr>
          <a:xfrm>
            <a:off x="0" y="576152"/>
            <a:ext cx="4246179" cy="613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Week 7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Individual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30 minutes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Single attempt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Restricted Open Book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Topics</a:t>
            </a:r>
          </a:p>
          <a:p>
            <a:pPr marL="5365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Software Development </a:t>
            </a:r>
          </a:p>
          <a:p>
            <a:pPr marL="5365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SDLC </a:t>
            </a:r>
          </a:p>
          <a:p>
            <a:pPr marL="5365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Requirements </a:t>
            </a:r>
          </a:p>
          <a:p>
            <a:pPr marL="5365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UML </a:t>
            </a:r>
          </a:p>
          <a:p>
            <a:pPr marL="5365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Classes </a:t>
            </a:r>
          </a:p>
          <a:p>
            <a:pPr marL="5365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Objects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78B482-0C61-8B1E-4104-F704F6280760}"/>
              </a:ext>
            </a:extLst>
          </p:cNvPr>
          <p:cNvSpPr txBox="1"/>
          <p:nvPr/>
        </p:nvSpPr>
        <p:spPr>
          <a:xfrm>
            <a:off x="5115910" y="2647311"/>
            <a:ext cx="6206358" cy="1563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Only subject materials may be used.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No Generative AI.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No collaboration.</a:t>
            </a:r>
          </a:p>
        </p:txBody>
      </p:sp>
    </p:spTree>
    <p:extLst>
      <p:ext uri="{BB962C8B-B14F-4D97-AF65-F5344CB8AC3E}">
        <p14:creationId xmlns:p14="http://schemas.microsoft.com/office/powerpoint/2010/main" val="3967286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65F9B-2717-B6A5-7974-602948E42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29ADE-A76B-7D90-E7F7-710512A0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Quiz 2 (15%)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338A5-9345-03C3-AC5B-4B95F9B7AD85}"/>
              </a:ext>
            </a:extLst>
          </p:cNvPr>
          <p:cNvSpPr txBox="1"/>
          <p:nvPr/>
        </p:nvSpPr>
        <p:spPr>
          <a:xfrm>
            <a:off x="0" y="576152"/>
            <a:ext cx="941726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Week 12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Individual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30 minutes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Topics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Programming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Java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Python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(depending on your stream)</a:t>
            </a:r>
          </a:p>
        </p:txBody>
      </p:sp>
    </p:spTree>
    <p:extLst>
      <p:ext uri="{BB962C8B-B14F-4D97-AF65-F5344CB8AC3E}">
        <p14:creationId xmlns:p14="http://schemas.microsoft.com/office/powerpoint/2010/main" val="3692182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D513B-DA18-0521-E6FA-5229CF57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68103-3C31-5BB5-3FAD-AAD233B41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Passing the Subject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AC6E1-8B91-F449-9078-EEEB5EAC2C43}"/>
              </a:ext>
            </a:extLst>
          </p:cNvPr>
          <p:cNvSpPr txBox="1"/>
          <p:nvPr/>
        </p:nvSpPr>
        <p:spPr>
          <a:xfrm>
            <a:off x="0" y="576152"/>
            <a:ext cx="941726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To pass this subject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must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achieve at least 50% overall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submit assessments before deadlines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maintain academic integrity</a:t>
            </a:r>
          </a:p>
        </p:txBody>
      </p:sp>
    </p:spTree>
    <p:extLst>
      <p:ext uri="{BB962C8B-B14F-4D97-AF65-F5344CB8AC3E}">
        <p14:creationId xmlns:p14="http://schemas.microsoft.com/office/powerpoint/2010/main" val="1191065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2C904-7306-C042-AF52-9D7C7306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3D0E-A792-DDBD-425C-5E92BC340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Academic Integrity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13D7E4-753A-0419-12E3-15C31CF8AA9B}"/>
              </a:ext>
            </a:extLst>
          </p:cNvPr>
          <p:cNvSpPr txBox="1"/>
          <p:nvPr/>
        </p:nvSpPr>
        <p:spPr>
          <a:xfrm>
            <a:off x="0" y="576152"/>
            <a:ext cx="9417269" cy="583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Your work must be your own.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may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discuss ideas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ask questions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attend consultations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may NOT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0000"/>
                </a:highlight>
                <a:latin typeface="Calibir"/>
              </a:rPr>
              <a:t>✖</a:t>
            </a:r>
            <a:r>
              <a:rPr lang="en-US" sz="2800" dirty="0">
                <a:latin typeface="Calibir"/>
              </a:rPr>
              <a:t> copy another student's work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0000"/>
                </a:highlight>
                <a:latin typeface="Calibir"/>
              </a:rPr>
              <a:t>✖</a:t>
            </a:r>
            <a:r>
              <a:rPr lang="en-US" sz="2800" dirty="0">
                <a:latin typeface="Calibir"/>
              </a:rPr>
              <a:t> use Generative AI during restricted quizzes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0000"/>
                </a:highlight>
                <a:latin typeface="Calibir"/>
              </a:rPr>
              <a:t>✖</a:t>
            </a:r>
            <a:r>
              <a:rPr lang="en-US" sz="2800" dirty="0">
                <a:latin typeface="Calibir"/>
              </a:rPr>
              <a:t> submit someone else's code</a:t>
            </a:r>
          </a:p>
        </p:txBody>
      </p:sp>
    </p:spTree>
    <p:extLst>
      <p:ext uri="{BB962C8B-B14F-4D97-AF65-F5344CB8AC3E}">
        <p14:creationId xmlns:p14="http://schemas.microsoft.com/office/powerpoint/2010/main" val="263676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B270C-9759-9EFF-B861-A9CD8EFDA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8604-D4F7-5D6C-985D-BE5C62F77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Life Cycle (SDLC)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C5D654-2900-3736-7EE4-9A8F7706C040}"/>
              </a:ext>
            </a:extLst>
          </p:cNvPr>
          <p:cNvSpPr txBox="1"/>
          <p:nvPr/>
        </p:nvSpPr>
        <p:spPr>
          <a:xfrm>
            <a:off x="0" y="507751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Software is usually developed step by step.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Imagine we want to build a Library Management System.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1. Requirements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 does the customer need?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Borrow books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Return books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Search books</a:t>
            </a:r>
          </a:p>
        </p:txBody>
      </p:sp>
    </p:spTree>
    <p:extLst>
      <p:ext uri="{BB962C8B-B14F-4D97-AF65-F5344CB8AC3E}">
        <p14:creationId xmlns:p14="http://schemas.microsoft.com/office/powerpoint/2010/main" val="25982741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B2A9-43AD-94FE-7D45-876861E8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34A3A-2053-96A8-B4F8-E5FC8484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Life Cycle (SDLC)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5575C-3B3F-9781-C7C5-C8221B14C03A}"/>
              </a:ext>
            </a:extLst>
          </p:cNvPr>
          <p:cNvSpPr txBox="1"/>
          <p:nvPr/>
        </p:nvSpPr>
        <p:spPr>
          <a:xfrm>
            <a:off x="0" y="1154082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2. Analysis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Understand the problem.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Questions: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Who will use the system?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Students?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Librarians?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Administrators?</a:t>
            </a:r>
          </a:p>
        </p:txBody>
      </p:sp>
    </p:spTree>
    <p:extLst>
      <p:ext uri="{BB962C8B-B14F-4D97-AF65-F5344CB8AC3E}">
        <p14:creationId xmlns:p14="http://schemas.microsoft.com/office/powerpoint/2010/main" val="704512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C2F1-3868-E08A-7ED5-397D1570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C98CD-D346-C064-D2E6-75F43067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Life Cycle (SDLC)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4C7BC-6427-6C9C-C0F8-69419221048D}"/>
              </a:ext>
            </a:extLst>
          </p:cNvPr>
          <p:cNvSpPr txBox="1"/>
          <p:nvPr/>
        </p:nvSpPr>
        <p:spPr>
          <a:xfrm>
            <a:off x="0" y="1154082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3. Design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Plan the solution.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Draw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Case Diagram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2246079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E71A4-FFB5-0AC7-8C5A-5CE9089D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B076D-AE0B-5136-6F7E-1870DD6CB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Life Cycle (SDLC)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1D0B0-292A-EEBF-49CC-9C695D77585E}"/>
              </a:ext>
            </a:extLst>
          </p:cNvPr>
          <p:cNvSpPr txBox="1"/>
          <p:nvPr/>
        </p:nvSpPr>
        <p:spPr>
          <a:xfrm>
            <a:off x="0" y="1154082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4. Coding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Write the software in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Java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or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Python </a:t>
            </a:r>
          </a:p>
        </p:txBody>
      </p:sp>
    </p:spTree>
    <p:extLst>
      <p:ext uri="{BB962C8B-B14F-4D97-AF65-F5344CB8AC3E}">
        <p14:creationId xmlns:p14="http://schemas.microsoft.com/office/powerpoint/2010/main" val="3148101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BE8A3-920F-1C62-3DFF-F0DBEC642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A3711-6E36-F61A-9DBC-36406BC7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Life Cycle (SDLC)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CB08C-A121-3801-7C77-B4490CE311FD}"/>
              </a:ext>
            </a:extLst>
          </p:cNvPr>
          <p:cNvSpPr txBox="1"/>
          <p:nvPr/>
        </p:nvSpPr>
        <p:spPr>
          <a:xfrm>
            <a:off x="0" y="1154082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5. Testing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Check whether everything works correctly.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Does "Borrow Book" work?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Can invalid input be detected?</a:t>
            </a:r>
          </a:p>
        </p:txBody>
      </p:sp>
    </p:spTree>
    <p:extLst>
      <p:ext uri="{BB962C8B-B14F-4D97-AF65-F5344CB8AC3E}">
        <p14:creationId xmlns:p14="http://schemas.microsoft.com/office/powerpoint/2010/main" val="1704271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C235-3EB8-C802-507E-4272AD96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DA14D-50EA-71F7-2849-BA36F4219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Life Cycle (SDLC)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FD15D6-84AE-CD33-DE1F-7A2980ED5E1C}"/>
              </a:ext>
            </a:extLst>
          </p:cNvPr>
          <p:cNvSpPr txBox="1"/>
          <p:nvPr/>
        </p:nvSpPr>
        <p:spPr>
          <a:xfrm>
            <a:off x="0" y="546859"/>
            <a:ext cx="12192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6. Deployment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Install the software for users.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Install it in the university library.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7. Maintenance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Fix bugs.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Add new features.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Later the library requests: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"Please add online reservations."</a:t>
            </a:r>
          </a:p>
        </p:txBody>
      </p:sp>
    </p:spTree>
    <p:extLst>
      <p:ext uri="{BB962C8B-B14F-4D97-AF65-F5344CB8AC3E}">
        <p14:creationId xmlns:p14="http://schemas.microsoft.com/office/powerpoint/2010/main" val="2513127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2FDF5-D52D-B1E1-EA12-FF1C108B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0FC2-9BAA-E4AC-9660-F4C6E241E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Why do we need a Software Development Methodology?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F4C77-3D9A-CF2F-EB68-F3F75BAFD2DF}"/>
              </a:ext>
            </a:extLst>
          </p:cNvPr>
          <p:cNvSpPr txBox="1"/>
          <p:nvPr/>
        </p:nvSpPr>
        <p:spPr>
          <a:xfrm>
            <a:off x="0" y="471049"/>
            <a:ext cx="121920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Imagine building a house.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Would you start building before making a plan?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Software is the same.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 methodology provides a structured way to build software successfully.</a:t>
            </a:r>
          </a:p>
        </p:txBody>
      </p:sp>
    </p:spTree>
    <p:extLst>
      <p:ext uri="{BB962C8B-B14F-4D97-AF65-F5344CB8AC3E}">
        <p14:creationId xmlns:p14="http://schemas.microsoft.com/office/powerpoint/2010/main" val="2354806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6279C-82ED-8528-0F0C-73121F8A6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A8802-F958-E616-146E-2790C164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Methodologies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5E133-8C50-F438-53AB-D7EC9CCF7D00}"/>
              </a:ext>
            </a:extLst>
          </p:cNvPr>
          <p:cNvSpPr txBox="1"/>
          <p:nvPr/>
        </p:nvSpPr>
        <p:spPr>
          <a:xfrm>
            <a:off x="0" y="1103829"/>
            <a:ext cx="12192000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libir"/>
              </a:rPr>
              <a:t>A methodology is how we </a:t>
            </a:r>
            <a:r>
              <a:rPr lang="en-US" sz="2000" dirty="0" err="1">
                <a:latin typeface="Calibir"/>
              </a:rPr>
              <a:t>organise</a:t>
            </a:r>
            <a:r>
              <a:rPr lang="en-US" sz="2000" dirty="0">
                <a:latin typeface="Calibir"/>
              </a:rPr>
              <a:t> the software development process.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75D10-A4A7-17C6-FC82-86FDB8E28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" t="44114" r="39340" b="29057"/>
          <a:stretch>
            <a:fillRect/>
          </a:stretch>
        </p:blipFill>
        <p:spPr>
          <a:xfrm>
            <a:off x="1" y="1610121"/>
            <a:ext cx="12191999" cy="363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371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9B030-F668-D56C-D2E4-5DAD3211F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6881-5BD9-AA27-42AF-B19B3D105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Object-Oriented Programming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D3184-6A4F-54E5-759E-460B59E77169}"/>
              </a:ext>
            </a:extLst>
          </p:cNvPr>
          <p:cNvSpPr txBox="1"/>
          <p:nvPr/>
        </p:nvSpPr>
        <p:spPr>
          <a:xfrm>
            <a:off x="0" y="507751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subject focuses on Object-Oriented Programming (OOP).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Main concepts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Classes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Objects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Encapsulation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Inheritance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Polymorphism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Abstraction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 will learn these step-by-step.</a:t>
            </a:r>
          </a:p>
        </p:txBody>
      </p:sp>
    </p:spTree>
    <p:extLst>
      <p:ext uri="{BB962C8B-B14F-4D97-AF65-F5344CB8AC3E}">
        <p14:creationId xmlns:p14="http://schemas.microsoft.com/office/powerpoint/2010/main" val="34161962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0F051-D181-4C02-99CC-6A153632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D3CE1-068B-1D6C-9B7B-A2BE8ADE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Tools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3D208-6B8C-C0B2-4016-562603D9DE9F}"/>
              </a:ext>
            </a:extLst>
          </p:cNvPr>
          <p:cNvSpPr txBox="1"/>
          <p:nvPr/>
        </p:nvSpPr>
        <p:spPr>
          <a:xfrm>
            <a:off x="0" y="471049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During this semester we will use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Python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Java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VS Code / IDE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UML tools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Canvas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GitHub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3FEBC1-26E8-35DD-7862-6E92228E90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00" t="80365" r="1834" b="11167"/>
          <a:stretch>
            <a:fillRect/>
          </a:stretch>
        </p:blipFill>
        <p:spPr>
          <a:xfrm>
            <a:off x="0" y="5118410"/>
            <a:ext cx="12192000" cy="173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84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B9E78-3965-1C30-4A2D-810E9AF2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D50B-4CA6-41CC-EF43-4B4647A8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Tools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49F4F9-13CA-073E-5073-D34FEB8589FC}"/>
              </a:ext>
            </a:extLst>
          </p:cNvPr>
          <p:cNvSpPr txBox="1"/>
          <p:nvPr/>
        </p:nvSpPr>
        <p:spPr>
          <a:xfrm>
            <a:off x="0" y="471049"/>
            <a:ext cx="12192000" cy="613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What is Postman used for?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Postman is a tool for testing APIs (Application Programming Interfaces).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Suppose a program provides weather information.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Instead of opening a website, Postman can send a request directly to the server.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Example: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GET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FFF00"/>
                </a:highlight>
                <a:latin typeface="Calibir"/>
              </a:rPr>
              <a:t>https://api.weather.com/current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The server replies: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"temperature":22,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    "</a:t>
            </a:r>
            <a:r>
              <a:rPr lang="en-US" sz="2200" dirty="0" err="1">
                <a:latin typeface="Calibir"/>
              </a:rPr>
              <a:t>city":"Sydney</a:t>
            </a:r>
            <a:r>
              <a:rPr lang="en-US" sz="2200" dirty="0">
                <a:latin typeface="Calibir"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0653E-FD61-D7A6-4620-8CB1D6F01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00" t="80365" r="1834" b="11167"/>
          <a:stretch>
            <a:fillRect/>
          </a:stretch>
        </p:blipFill>
        <p:spPr>
          <a:xfrm>
            <a:off x="2720898" y="5506635"/>
            <a:ext cx="9471102" cy="135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69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DA0AA-9D4F-1BA1-5107-EC4F2C2C3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D0E0B-4285-2C2B-DA09-DD40DD6B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Tools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29D32E-F523-AFB3-644E-D89F4B408414}"/>
              </a:ext>
            </a:extLst>
          </p:cNvPr>
          <p:cNvSpPr txBox="1"/>
          <p:nvPr/>
        </p:nvSpPr>
        <p:spPr>
          <a:xfrm>
            <a:off x="0" y="471049"/>
            <a:ext cx="12192000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What is Notion?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Notion is an all-in-one workspace used to </a:t>
            </a:r>
            <a:r>
              <a:rPr lang="en-US" sz="2400" dirty="0" err="1">
                <a:latin typeface="Calibir"/>
              </a:rPr>
              <a:t>organise</a:t>
            </a:r>
            <a:r>
              <a:rPr lang="en-US" sz="2400" dirty="0">
                <a:latin typeface="Calibir"/>
              </a:rPr>
              <a:t> information, notes, projects, and team collaboration.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Think of it as a combination of: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Microsoft Word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OneNote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Trello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Planner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Wiki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all in one application.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9004A9-6462-60BA-7663-139ED90CD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00" t="80365" r="1834" b="11167"/>
          <a:stretch>
            <a:fillRect/>
          </a:stretch>
        </p:blipFill>
        <p:spPr>
          <a:xfrm>
            <a:off x="2720898" y="5506635"/>
            <a:ext cx="9471102" cy="135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5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D867F-494F-F442-7199-B2833CFCA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84C47-F7AC-9241-AD28-770C6F50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Tools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F6F20C-F3C0-6A1A-6BF3-2271316A8458}"/>
              </a:ext>
            </a:extLst>
          </p:cNvPr>
          <p:cNvSpPr txBox="1"/>
          <p:nvPr/>
        </p:nvSpPr>
        <p:spPr>
          <a:xfrm>
            <a:off x="0" y="471049"/>
            <a:ext cx="12192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Students do not need to use for this unit. What can students use Notion for?</a:t>
            </a:r>
          </a:p>
          <a:p>
            <a:pPr marL="534988" indent="-355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Organising</a:t>
            </a:r>
            <a:r>
              <a:rPr lang="en-US" sz="2800" dirty="0">
                <a:latin typeface="Calibir"/>
              </a:rPr>
              <a:t> lecture notes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Managing assessment deadlines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Planning a group project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Recording meeting notes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Creating a personal study planner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Tracking weekly progress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Writing project documentation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CA8E6-9DAB-8511-DBED-7903F2B61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00" t="80365" r="1834" b="11167"/>
          <a:stretch>
            <a:fillRect/>
          </a:stretch>
        </p:blipFill>
        <p:spPr>
          <a:xfrm>
            <a:off x="2720898" y="5506635"/>
            <a:ext cx="9471102" cy="135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902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F880B-991E-39F3-3BFA-D18414D5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5474-121F-A2CE-5911-505BDB39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Tools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BDE81B-ACD3-57DA-024C-CB23CCB1FECC}"/>
              </a:ext>
            </a:extLst>
          </p:cNvPr>
          <p:cNvSpPr txBox="1"/>
          <p:nvPr/>
        </p:nvSpPr>
        <p:spPr>
          <a:xfrm>
            <a:off x="0" y="415294"/>
            <a:ext cx="12192000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>
                <a:latin typeface="Calibir"/>
              </a:rPr>
              <a:t>Why do software developers use Postman?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latin typeface="Calibir"/>
              </a:rPr>
              <a:t>Postman allows developers to: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Test REST APIs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Send GET requests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Send POST requests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Update data (PUT/PATCH)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Delete data (DELETE)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View JSON responses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Test authentication (API keys, tokens)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Calibir"/>
              </a:rPr>
              <a:t>Debug backend services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9D9668-2512-67B7-E1E2-38AB8F904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00" t="80365" r="1834" b="11167"/>
          <a:stretch>
            <a:fillRect/>
          </a:stretch>
        </p:blipFill>
        <p:spPr>
          <a:xfrm>
            <a:off x="4282068" y="5729386"/>
            <a:ext cx="7909931" cy="1128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43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E5CB8-235A-7089-2DB3-C8DB03E5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DD96-A693-8D27-354E-EA519BE8E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Tools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B8B914-AD40-9464-099F-16E6D9A1A84E}"/>
              </a:ext>
            </a:extLst>
          </p:cNvPr>
          <p:cNvSpPr txBox="1"/>
          <p:nvPr/>
        </p:nvSpPr>
        <p:spPr>
          <a:xfrm>
            <a:off x="0" y="872494"/>
            <a:ext cx="12192000" cy="562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Will students use Postman in this unit?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Based on the subject outline, no.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This subject focuses on: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Software development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UML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Java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Python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CLI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GUI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Testing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No need to build or test web APIs.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880356-ACF7-D89D-126A-A8B689E3E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00" t="80365" r="1834" b="11167"/>
          <a:stretch>
            <a:fillRect/>
          </a:stretch>
        </p:blipFill>
        <p:spPr>
          <a:xfrm>
            <a:off x="5274527" y="5870994"/>
            <a:ext cx="6917473" cy="98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2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046BD-E31E-79A2-CCCE-EDFFD44B2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7213-D01A-2E8D-2D63-D3E0EB33A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Tools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F570BC-C0FC-9031-4741-27D43B54582E}"/>
              </a:ext>
            </a:extLst>
          </p:cNvPr>
          <p:cNvSpPr txBox="1"/>
          <p:nvPr/>
        </p:nvSpPr>
        <p:spPr>
          <a:xfrm>
            <a:off x="0" y="872494"/>
            <a:ext cx="12192000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For this unit, I would recommend: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Required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Canvas 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Python 3 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Java JDK 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VS Code or IntelliJ IDEA 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GitHub (recommended for group work) </a:t>
            </a:r>
          </a:p>
          <a:p>
            <a:pPr marL="6238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diagrams.net (Draw.io) for UML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B61B02-24AE-1C8D-5450-23B050A4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00" t="80365" r="1834" b="11167"/>
          <a:stretch>
            <a:fillRect/>
          </a:stretch>
        </p:blipFill>
        <p:spPr>
          <a:xfrm>
            <a:off x="5274527" y="5870994"/>
            <a:ext cx="6917473" cy="98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9590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3B4B4-62B2-36BF-29E6-52D23C22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BAE5-BAF7-210E-5EF7-439B5E1D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Tools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84BCA-E7E0-179A-191E-5B4CFF502211}"/>
              </a:ext>
            </a:extLst>
          </p:cNvPr>
          <p:cNvSpPr txBox="1"/>
          <p:nvPr/>
        </p:nvSpPr>
        <p:spPr>
          <a:xfrm>
            <a:off x="0" y="950552"/>
            <a:ext cx="12192000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Useful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GitHub Desktop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Notepad++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Microsoft Office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Calibir"/>
              </a:rPr>
              <a:t>Later (for further development)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JavaFX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ir"/>
              </a:rPr>
              <a:t>Tkinter</a:t>
            </a:r>
            <a:r>
              <a:rPr lang="en-US" sz="2400" dirty="0">
                <a:latin typeface="Calibir"/>
              </a:rPr>
              <a:t>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JUnit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ir"/>
              </a:rPr>
              <a:t>Maven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This list is more closely aligned with the learning outcomes and assessment tasks for the subject.</a:t>
            </a:r>
          </a:p>
        </p:txBody>
      </p:sp>
    </p:spTree>
    <p:extLst>
      <p:ext uri="{BB962C8B-B14F-4D97-AF65-F5344CB8AC3E}">
        <p14:creationId xmlns:p14="http://schemas.microsoft.com/office/powerpoint/2010/main" val="30133579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9A39-FC8A-8EE3-5955-84C9DC117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C93C3-A7B9-AA77-3613-5F3D90936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Software Development Tools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69887F-7BE4-EC82-31EF-99CC8CE043A0}"/>
              </a:ext>
            </a:extLst>
          </p:cNvPr>
          <p:cNvSpPr txBox="1"/>
          <p:nvPr/>
        </p:nvSpPr>
        <p:spPr>
          <a:xfrm>
            <a:off x="0" y="602614"/>
            <a:ext cx="12192000" cy="6408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b="1" dirty="0">
                <a:latin typeface="Calibir"/>
              </a:rPr>
              <a:t>GitHub Desktop (Recommended for Beginners)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Calibir"/>
              </a:rPr>
              <a:t>Many first-year and postgraduate students prefer GitHub Desktop because they don't need to remember Git commands.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Calibir"/>
              </a:rPr>
              <a:t>The typical workflow is:</a:t>
            </a:r>
          </a:p>
          <a:p>
            <a:pPr marL="714375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Calibir"/>
              </a:rPr>
              <a:t>Clone the repository (first time only). </a:t>
            </a:r>
          </a:p>
          <a:p>
            <a:pPr marL="714375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Calibir"/>
              </a:rPr>
              <a:t>Open the project and make changes. </a:t>
            </a:r>
          </a:p>
          <a:p>
            <a:pPr marL="714375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Calibir"/>
              </a:rPr>
              <a:t>GitHub Desktop automatically shows the changed files. </a:t>
            </a:r>
          </a:p>
          <a:p>
            <a:pPr marL="714375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Calibir"/>
              </a:rPr>
              <a:t>Enter a short commit message, such as </a:t>
            </a:r>
            <a:r>
              <a:rPr lang="en-US" sz="2300" i="1" dirty="0">
                <a:latin typeface="Calibir"/>
              </a:rPr>
              <a:t>"Added login feature"</a:t>
            </a:r>
            <a:r>
              <a:rPr lang="en-US" sz="2300" dirty="0">
                <a:latin typeface="Calibir"/>
              </a:rPr>
              <a:t>. </a:t>
            </a:r>
          </a:p>
          <a:p>
            <a:pPr marL="714375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Calibir"/>
              </a:rPr>
              <a:t>Click Commit to main. </a:t>
            </a:r>
          </a:p>
          <a:p>
            <a:pPr marL="714375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Calibir"/>
              </a:rPr>
              <a:t>Click Push origin to upload the changes to GitHub. </a:t>
            </a:r>
          </a:p>
          <a:p>
            <a:pPr>
              <a:lnSpc>
                <a:spcPct val="150000"/>
              </a:lnSpc>
            </a:pPr>
            <a:r>
              <a:rPr lang="en-US" sz="2300" dirty="0">
                <a:latin typeface="Calibir"/>
              </a:rPr>
              <a:t>Students can complete most common Git tasks using the graphical interface without using the command line.</a:t>
            </a:r>
          </a:p>
        </p:txBody>
      </p:sp>
    </p:spTree>
    <p:extLst>
      <p:ext uri="{BB962C8B-B14F-4D97-AF65-F5344CB8AC3E}">
        <p14:creationId xmlns:p14="http://schemas.microsoft.com/office/powerpoint/2010/main" val="1726391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F1587-B966-1E56-C263-D75AB7268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FDBE9-564D-FA5E-154F-270088318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Roadmap – Highly In Demand Skills (2026 – 2028)</a:t>
            </a:r>
            <a:endParaRPr lang="en-AU" sz="4000" b="1" dirty="0">
              <a:latin typeface="Calibi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0317A4-A0DF-A2CE-97BF-D2BF8DCE0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" t="73670" r="44866" b="8615"/>
          <a:stretch>
            <a:fillRect/>
          </a:stretch>
        </p:blipFill>
        <p:spPr>
          <a:xfrm>
            <a:off x="0" y="1349298"/>
            <a:ext cx="12192000" cy="266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520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4BB36-94C9-B7D8-6555-394CC69B5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F3B5-EF50-4A38-429A-D5D226354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Can I use AI Tools?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2CD6E-E7C0-B487-13DD-320604E19D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22" t="26707" r="396" b="51437"/>
          <a:stretch>
            <a:fillRect/>
          </a:stretch>
        </p:blipFill>
        <p:spPr>
          <a:xfrm>
            <a:off x="0" y="1120819"/>
            <a:ext cx="12192000" cy="461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6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3F9BF-7B1F-FDCA-695A-F4FAD1D43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966C-15EA-7224-5381-60C78182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Should we use GitHub for the group project?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659EA-A6E8-9218-BE75-636203E5DBE9}"/>
              </a:ext>
            </a:extLst>
          </p:cNvPr>
          <p:cNvSpPr txBox="1"/>
          <p:nvPr/>
        </p:nvSpPr>
        <p:spPr>
          <a:xfrm>
            <a:off x="0" y="490654"/>
            <a:ext cx="11965258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Yes, I strongly recommend it.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GitHub helps your team: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Store your project safely online.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Work together without overwriting each other's code.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Keep a history of changes.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Restore previous versions if something goes wrong.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Demonstrate your contribution to the project.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Many software companies use GitHub every day.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Note: GitHub is recommended for collaboration. Always follow the assessment instructions provided by the Subject Coordinator.</a:t>
            </a:r>
          </a:p>
        </p:txBody>
      </p:sp>
    </p:spTree>
    <p:extLst>
      <p:ext uri="{BB962C8B-B14F-4D97-AF65-F5344CB8AC3E}">
        <p14:creationId xmlns:p14="http://schemas.microsoft.com/office/powerpoint/2010/main" val="1524871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7D4F6-1ECC-3958-D9C0-EDF6047BF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0856B-BA3F-0FC7-FDC1-892E3D52E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Should we use GitHub for the group project?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13201-B86E-9785-41AA-CCA7F1CB8409}"/>
              </a:ext>
            </a:extLst>
          </p:cNvPr>
          <p:cNvSpPr txBox="1"/>
          <p:nvPr/>
        </p:nvSpPr>
        <p:spPr>
          <a:xfrm>
            <a:off x="0" y="1800413"/>
            <a:ext cx="1196525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Each student: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writes code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commits changes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pushes to GitHub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Everyone can then pull the latest version.</a:t>
            </a:r>
          </a:p>
        </p:txBody>
      </p:sp>
    </p:spTree>
    <p:extLst>
      <p:ext uri="{BB962C8B-B14F-4D97-AF65-F5344CB8AC3E}">
        <p14:creationId xmlns:p14="http://schemas.microsoft.com/office/powerpoint/2010/main" val="28466843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B4CAD-4BC7-4C5F-BC81-7B5225A69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9A5C7-4AF8-6F09-CF39-78DC0910F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Git vs GitHub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C3D1F8-6D3E-3576-7002-EB52A7D29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048220"/>
              </p:ext>
            </p:extLst>
          </p:nvPr>
        </p:nvGraphicFramePr>
        <p:xfrm>
          <a:off x="838200" y="3595705"/>
          <a:ext cx="10515600" cy="31216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137703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0337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 dirty="0">
                          <a:latin typeface="Calibir"/>
                        </a:rPr>
                        <a:t>Git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 dirty="0">
                          <a:latin typeface="Calibir"/>
                        </a:rPr>
                        <a:t>GitHub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536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>
                          <a:latin typeface="Calibir"/>
                        </a:rPr>
                        <a:t>Software installed on your computer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>
                          <a:latin typeface="Calibir"/>
                        </a:rPr>
                        <a:t>Website for hosting Git repositories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056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>
                          <a:latin typeface="Calibir"/>
                        </a:rPr>
                        <a:t>Tracks code changes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>
                          <a:latin typeface="Calibir"/>
                        </a:rPr>
                        <a:t>Stores projects online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524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>
                          <a:latin typeface="Calibir"/>
                        </a:rPr>
                        <a:t>Used with the command line or 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>
                          <a:latin typeface="Calibir"/>
                        </a:rPr>
                        <a:t>Used for collaboration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582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>
                          <a:latin typeface="Calibir"/>
                        </a:rPr>
                        <a:t>Works offline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600" dirty="0">
                          <a:latin typeface="Calibir"/>
                        </a:rPr>
                        <a:t>Requires internet for syncing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12830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06A4CDA-262F-E1E8-3251-917A6C57B24F}"/>
              </a:ext>
            </a:extLst>
          </p:cNvPr>
          <p:cNvSpPr txBox="1"/>
          <p:nvPr/>
        </p:nvSpPr>
        <p:spPr>
          <a:xfrm>
            <a:off x="0" y="860645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Students often confuse these.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Git is the version control tool. GitHub is the online service that stores Git projects and allows teams to collaborate.</a:t>
            </a:r>
          </a:p>
        </p:txBody>
      </p:sp>
    </p:spTree>
    <p:extLst>
      <p:ext uri="{BB962C8B-B14F-4D97-AF65-F5344CB8AC3E}">
        <p14:creationId xmlns:p14="http://schemas.microsoft.com/office/powerpoint/2010/main" val="33127452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6CFEC-E00C-5FCA-7838-DE45B2D5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70B27-89A2-64D0-5E47-ADC8CB98F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GitHub workflow for a Group Project</a:t>
            </a:r>
            <a:endParaRPr lang="en-AU" sz="4000" b="1" dirty="0">
              <a:latin typeface="Calibi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F7DB89-C67A-6BF5-45B2-D08279809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4" t="9109" r="58507" b="6805"/>
          <a:stretch>
            <a:fillRect/>
          </a:stretch>
        </p:blipFill>
        <p:spPr>
          <a:xfrm>
            <a:off x="0" y="745817"/>
            <a:ext cx="4173794" cy="611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2658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5DAD0-D0B3-D99B-8B07-9F7A78615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33DF2-E788-C29A-03E7-4056459E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My recommendation</a:t>
            </a:r>
            <a:endParaRPr lang="en-AU" sz="4000" b="1" dirty="0">
              <a:latin typeface="Calibir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1352B3-50EB-C9ED-067D-929D3822A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2" t="55055" r="5889" b="30231"/>
          <a:stretch>
            <a:fillRect/>
          </a:stretch>
        </p:blipFill>
        <p:spPr>
          <a:xfrm>
            <a:off x="0" y="812509"/>
            <a:ext cx="12192000" cy="26315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386AB39-E81C-824B-58AC-1FCEB0ABE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75" t="87619" r="8377" b="4515"/>
          <a:stretch>
            <a:fillRect/>
          </a:stretch>
        </p:blipFill>
        <p:spPr>
          <a:xfrm>
            <a:off x="0" y="3952566"/>
            <a:ext cx="12192000" cy="15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655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524E2-4150-3144-65AE-ECF2888C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EB67-A6B2-BE29-00E0-BFA919CED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Python Installation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CE76E1-E34B-664D-FC26-64461A36DA70}"/>
              </a:ext>
            </a:extLst>
          </p:cNvPr>
          <p:cNvSpPr txBox="1"/>
          <p:nvPr/>
        </p:nvSpPr>
        <p:spPr>
          <a:xfrm>
            <a:off x="0" y="471049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Please install the latest version of Python.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Also install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VS Code (or another IDE)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Tkinter</a:t>
            </a:r>
            <a:r>
              <a:rPr lang="en-US" sz="2800" dirty="0">
                <a:latin typeface="Calibir"/>
              </a:rPr>
              <a:t> support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Installation guides are available on Canvas.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you experience any problems, let me know during the workshop.</a:t>
            </a:r>
          </a:p>
        </p:txBody>
      </p:sp>
    </p:spTree>
    <p:extLst>
      <p:ext uri="{BB962C8B-B14F-4D97-AF65-F5344CB8AC3E}">
        <p14:creationId xmlns:p14="http://schemas.microsoft.com/office/powerpoint/2010/main" val="14164042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27CDE-84A2-A163-3235-B08618ADD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27620-7661-8FFE-CF9B-F5B64DC0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Communication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53046D-2CB5-D6AF-9570-8B6B36660326}"/>
              </a:ext>
            </a:extLst>
          </p:cNvPr>
          <p:cNvSpPr txBox="1"/>
          <p:nvPr/>
        </p:nvSpPr>
        <p:spPr>
          <a:xfrm>
            <a:off x="0" y="1800413"/>
            <a:ext cx="12192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you have questions,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please contact me through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Discussion Forums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Canvas Inbox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UTS Email (Farshid.Keivanian@uts.edu.au)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 regularly monitor my emails and will reply as soon as possible.</a:t>
            </a:r>
          </a:p>
        </p:txBody>
      </p:sp>
    </p:spTree>
    <p:extLst>
      <p:ext uri="{BB962C8B-B14F-4D97-AF65-F5344CB8AC3E}">
        <p14:creationId xmlns:p14="http://schemas.microsoft.com/office/powerpoint/2010/main" val="33983999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E2867-8BFB-7E22-5C0B-9E43D9DFB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4C998-83B2-ED05-CA87-CC6262BFB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7 Reminder (include around Week 7)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9DB60-318D-0012-478D-7F8C212CA847}"/>
              </a:ext>
            </a:extLst>
          </p:cNvPr>
          <p:cNvSpPr txBox="1"/>
          <p:nvPr/>
        </p:nvSpPr>
        <p:spPr>
          <a:xfrm>
            <a:off x="0" y="1154081"/>
            <a:ext cx="486193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Quiz 1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Assessment Task 2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Worth 15%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During your scheduled lab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30 minutes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Single attempt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Restricted Open Book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34841A-E9B1-E7EB-FC27-141EE63FA377}"/>
              </a:ext>
            </a:extLst>
          </p:cNvPr>
          <p:cNvSpPr txBox="1"/>
          <p:nvPr/>
        </p:nvSpPr>
        <p:spPr>
          <a:xfrm>
            <a:off x="5435291" y="1159657"/>
            <a:ext cx="6663782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Remember: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the lab computer only.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may refer to subject materials only.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 not use Generative AI.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Do not collaborate with other students.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For code questions, read and </a:t>
            </a:r>
            <a:r>
              <a:rPr lang="en-US" sz="2800" dirty="0" err="1">
                <a:latin typeface="Calibir"/>
              </a:rPr>
              <a:t>analyse</a:t>
            </a:r>
            <a:r>
              <a:rPr lang="en-US" sz="2800" dirty="0">
                <a:latin typeface="Calibir"/>
              </a:rPr>
              <a:t> the code without running it. </a:t>
            </a:r>
          </a:p>
        </p:txBody>
      </p:sp>
    </p:spTree>
    <p:extLst>
      <p:ext uri="{BB962C8B-B14F-4D97-AF65-F5344CB8AC3E}">
        <p14:creationId xmlns:p14="http://schemas.microsoft.com/office/powerpoint/2010/main" val="15272290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BB5D2-546E-4EAC-A24E-E0DB9219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22C30-2FE0-1FC8-2DDA-81DFCE86E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49869C-55C1-D500-7914-6D1E10DAC365}"/>
              </a:ext>
            </a:extLst>
          </p:cNvPr>
          <p:cNvSpPr txBox="1"/>
          <p:nvPr/>
        </p:nvSpPr>
        <p:spPr>
          <a:xfrm>
            <a:off x="39330" y="658369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1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Week 1 Practice Quiz: Question 1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of the following best describes a software development methodology?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Software methodology is a way to test functions.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Software methodology is the process used to create programs.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Software methodology is only used in procedural programming.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Software methodology is only used for object-oriented programming.</a:t>
            </a:r>
          </a:p>
        </p:txBody>
      </p:sp>
    </p:spTree>
    <p:extLst>
      <p:ext uri="{BB962C8B-B14F-4D97-AF65-F5344CB8AC3E}">
        <p14:creationId xmlns:p14="http://schemas.microsoft.com/office/powerpoint/2010/main" val="5699649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D66C-B145-AF92-8F01-28C8EE5A5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28B6-CFB1-93E5-9BF9-39E9D0CC1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EBE54-5910-C292-F7C4-07103050DDAD}"/>
              </a:ext>
            </a:extLst>
          </p:cNvPr>
          <p:cNvSpPr txBox="1"/>
          <p:nvPr/>
        </p:nvSpPr>
        <p:spPr>
          <a:xfrm>
            <a:off x="39330" y="540385"/>
            <a:ext cx="12191999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Correct answer: B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Software methodology is the process used to create programs.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software development methodology provides a structured approach for: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Planning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Analysing</a:t>
            </a:r>
            <a:r>
              <a:rPr lang="en-US" sz="2800" dirty="0">
                <a:latin typeface="Calibir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Designing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Coding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Testing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Deploying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Maintaining software</a:t>
            </a:r>
          </a:p>
        </p:txBody>
      </p:sp>
    </p:spTree>
    <p:extLst>
      <p:ext uri="{BB962C8B-B14F-4D97-AF65-F5344CB8AC3E}">
        <p14:creationId xmlns:p14="http://schemas.microsoft.com/office/powerpoint/2010/main" val="29941472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693DF-7D82-E637-7E94-051193F0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E20E4-3ABA-B215-E99E-7106A1D8A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B2BA97-4FED-6E60-0BA8-6A92B3BE3092}"/>
              </a:ext>
            </a:extLst>
          </p:cNvPr>
          <p:cNvSpPr txBox="1"/>
          <p:nvPr/>
        </p:nvSpPr>
        <p:spPr>
          <a:xfrm>
            <a:off x="39330" y="540385"/>
            <a:ext cx="12191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Examples include Waterfall and Agile.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Why are the other options incorrect?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Incorrect: Testing functions is only one part of software development.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Incorrect: Methodologies are not limited to procedural programming.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Incorrect: Methodologies are not limited to object-oriented programming.</a:t>
            </a:r>
          </a:p>
        </p:txBody>
      </p:sp>
    </p:spTree>
    <p:extLst>
      <p:ext uri="{BB962C8B-B14F-4D97-AF65-F5344CB8AC3E}">
        <p14:creationId xmlns:p14="http://schemas.microsoft.com/office/powerpoint/2010/main" val="15162993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2BA65-0E1A-FBE7-DF0E-4E3044935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A7A75-75D4-AFB7-061B-B6811C613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56B2A-394E-554B-E9F6-E8150CB8853C}"/>
              </a:ext>
            </a:extLst>
          </p:cNvPr>
          <p:cNvSpPr txBox="1"/>
          <p:nvPr/>
        </p:nvSpPr>
        <p:spPr>
          <a:xfrm>
            <a:off x="39330" y="540385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2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of the following is not a characteristic of Agile?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At the end of every Agile cycle, a new version of the software is released.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Agile repeats Software Development Life Cycle steps.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Agile completes the Software Development Life Cycle in sequential order with fixed project requirements.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Agile allows new requirements after a prototype has been released.</a:t>
            </a:r>
          </a:p>
        </p:txBody>
      </p:sp>
    </p:spTree>
    <p:extLst>
      <p:ext uri="{BB962C8B-B14F-4D97-AF65-F5344CB8AC3E}">
        <p14:creationId xmlns:p14="http://schemas.microsoft.com/office/powerpoint/2010/main" val="4430921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5048-A6F7-06A2-893E-50CE205CC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C14A9-5D55-C6C0-273A-EF4369438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6A0C6-32E6-DF28-0842-720E68D09915}"/>
              </a:ext>
            </a:extLst>
          </p:cNvPr>
          <p:cNvSpPr txBox="1"/>
          <p:nvPr/>
        </p:nvSpPr>
        <p:spPr>
          <a:xfrm>
            <a:off x="39330" y="540385"/>
            <a:ext cx="12191999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Select the option that does not describe Agile.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Correct answer: C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Agile completes the Software Development Life Cycle in sequential order with fixed project requirements.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statement describes the Waterfall methodology, not Agile.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Explanation of the options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Agile characteristic: Each cycle may produce a new or improved version of the software.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Agile characteristic: Planning, development, and testing are repeated during multiple cycles.</a:t>
            </a:r>
          </a:p>
        </p:txBody>
      </p:sp>
    </p:spTree>
    <p:extLst>
      <p:ext uri="{BB962C8B-B14F-4D97-AF65-F5344CB8AC3E}">
        <p14:creationId xmlns:p14="http://schemas.microsoft.com/office/powerpoint/2010/main" val="28236017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B9842-2D7C-1A28-B6BD-C35CF89BE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42384-E3B9-7780-4CDE-49887047D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6C17D-BC92-E923-7144-9C8BAD6F3DC3}"/>
              </a:ext>
            </a:extLst>
          </p:cNvPr>
          <p:cNvSpPr txBox="1"/>
          <p:nvPr/>
        </p:nvSpPr>
        <p:spPr>
          <a:xfrm>
            <a:off x="39330" y="540385"/>
            <a:ext cx="121919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Not an Agile characteristic: Agile does not require all stages to be completed once in a fixed sequence.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Agile characteristic: New or changed requirements can be considered during later cycles.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Simple example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customer tests an early version of an online shopping system and asks for a </a:t>
            </a:r>
            <a:r>
              <a:rPr lang="en-US" sz="2800" dirty="0" err="1">
                <a:latin typeface="Calibir"/>
              </a:rPr>
              <a:t>wishlist</a:t>
            </a:r>
            <a:r>
              <a:rPr lang="en-US" sz="2800" dirty="0">
                <a:latin typeface="Calibir"/>
              </a:rPr>
              <a:t> feature. Agile allows the development team to add this request to a future cycle.</a:t>
            </a:r>
          </a:p>
        </p:txBody>
      </p:sp>
    </p:spTree>
    <p:extLst>
      <p:ext uri="{BB962C8B-B14F-4D97-AF65-F5344CB8AC3E}">
        <p14:creationId xmlns:p14="http://schemas.microsoft.com/office/powerpoint/2010/main" val="35047029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9EE79-FFE2-4190-7C11-02C55F974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C4C0-47E0-6F4C-0B25-99044E166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001A3C-A630-AA6E-D0AD-107A468537D0}"/>
              </a:ext>
            </a:extLst>
          </p:cNvPr>
          <p:cNvSpPr txBox="1"/>
          <p:nvPr/>
        </p:nvSpPr>
        <p:spPr>
          <a:xfrm>
            <a:off x="39330" y="540385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3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Week 1 Practice Quiz: Question 3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of the following is an imperative programming paradigm type?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Mathematical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Logical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Functional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Object-Oriented</a:t>
            </a:r>
          </a:p>
        </p:txBody>
      </p:sp>
    </p:spTree>
    <p:extLst>
      <p:ext uri="{BB962C8B-B14F-4D97-AF65-F5344CB8AC3E}">
        <p14:creationId xmlns:p14="http://schemas.microsoft.com/office/powerpoint/2010/main" val="11177190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B73F-00EB-3AD7-3829-ECEF17E84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2D53-7C56-6694-0CBD-3F24D75CD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C4AB9-F77B-A856-B3F4-FAA1A8336B69}"/>
              </a:ext>
            </a:extLst>
          </p:cNvPr>
          <p:cNvSpPr txBox="1"/>
          <p:nvPr/>
        </p:nvSpPr>
        <p:spPr>
          <a:xfrm>
            <a:off x="39330" y="540385"/>
            <a:ext cx="12191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of the following is an imperative programming paradigm type ?</a:t>
            </a:r>
          </a:p>
          <a:p>
            <a:pPr marL="722313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Mathematical</a:t>
            </a:r>
          </a:p>
          <a:p>
            <a:pPr marL="722313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Logical</a:t>
            </a:r>
          </a:p>
          <a:p>
            <a:pPr marL="722313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Functional</a:t>
            </a:r>
          </a:p>
          <a:p>
            <a:pPr marL="722313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Object-Oriented</a:t>
            </a:r>
          </a:p>
        </p:txBody>
      </p:sp>
    </p:spTree>
    <p:extLst>
      <p:ext uri="{BB962C8B-B14F-4D97-AF65-F5344CB8AC3E}">
        <p14:creationId xmlns:p14="http://schemas.microsoft.com/office/powerpoint/2010/main" val="16864644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4AC6-DA64-2FED-FA5F-0DFCAE0B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1DD4-0615-BB33-B290-7512EBB58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7D1AA-08C5-CE85-52EF-088CE3971E68}"/>
              </a:ext>
            </a:extLst>
          </p:cNvPr>
          <p:cNvSpPr txBox="1"/>
          <p:nvPr/>
        </p:nvSpPr>
        <p:spPr>
          <a:xfrm>
            <a:off x="39330" y="466645"/>
            <a:ext cx="12191999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Correct answer: D – Object-Oriented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Imperative programming describes a program as a sequence of instructions that changes the program’s state.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Object-oriented programming commonly uses this step-by-step approach through: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Objects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Methods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Variables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Assignment statements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Control structures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Java and Python both support object-oriented programming.</a:t>
            </a:r>
          </a:p>
        </p:txBody>
      </p:sp>
    </p:spTree>
    <p:extLst>
      <p:ext uri="{BB962C8B-B14F-4D97-AF65-F5344CB8AC3E}">
        <p14:creationId xmlns:p14="http://schemas.microsoft.com/office/powerpoint/2010/main" val="9885813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F82A6-9B3E-1C9F-5D73-5421EB00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C6DD-598F-2584-89F9-EFB9FA01F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5E9556-2B64-8AC2-DFE7-D5B0C77512AA}"/>
              </a:ext>
            </a:extLst>
          </p:cNvPr>
          <p:cNvSpPr txBox="1"/>
          <p:nvPr/>
        </p:nvSpPr>
        <p:spPr>
          <a:xfrm>
            <a:off x="39330" y="540385"/>
            <a:ext cx="12191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Why are the other options incorrect?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Mathematical: This is not normally listed as a main programming paradigm.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Logical: Logic programming is a declarative paradigm. Prolog is an example.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Functional: Functional programming focuses on functions and expressions. Haskell is an example.</a:t>
            </a:r>
          </a:p>
        </p:txBody>
      </p:sp>
    </p:spTree>
    <p:extLst>
      <p:ext uri="{BB962C8B-B14F-4D97-AF65-F5344CB8AC3E}">
        <p14:creationId xmlns:p14="http://schemas.microsoft.com/office/powerpoint/2010/main" val="35319878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BBF47-B28D-D682-D7AD-8B492B03C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DC32C-4406-4D7A-5A9C-CF0AD3BC2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332542-C2E9-5C38-70E3-A194B8C40A4A}"/>
              </a:ext>
            </a:extLst>
          </p:cNvPr>
          <p:cNvSpPr txBox="1"/>
          <p:nvPr/>
        </p:nvSpPr>
        <p:spPr>
          <a:xfrm>
            <a:off x="39330" y="540385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4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statement best describes procedural programming?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All system functions can access the same global variables.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Functions are encapsulated with the data.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C++ is a procedural programming language.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Procedural programming </a:t>
            </a:r>
            <a:r>
              <a:rPr lang="en-US" sz="2800" dirty="0" err="1">
                <a:latin typeface="Calibir"/>
              </a:rPr>
              <a:t>organises</a:t>
            </a:r>
            <a:r>
              <a:rPr lang="en-US" sz="2800" dirty="0">
                <a:latin typeface="Calibir"/>
              </a:rPr>
              <a:t> goals into classes.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Select the best answer from the options provided.</a:t>
            </a:r>
          </a:p>
        </p:txBody>
      </p:sp>
    </p:spTree>
    <p:extLst>
      <p:ext uri="{BB962C8B-B14F-4D97-AF65-F5344CB8AC3E}">
        <p14:creationId xmlns:p14="http://schemas.microsoft.com/office/powerpoint/2010/main" val="27463281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90EBA-11F6-C78D-E0AF-4A143C13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1E9EE-A8AC-6182-6CBB-781761C8C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9605E7-4B25-4ABC-EB4D-1A0CF66288AF}"/>
              </a:ext>
            </a:extLst>
          </p:cNvPr>
          <p:cNvSpPr txBox="1"/>
          <p:nvPr/>
        </p:nvSpPr>
        <p:spPr>
          <a:xfrm>
            <a:off x="39330" y="540385"/>
            <a:ext cx="1219199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Intended answer: A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All system functions can access the same global variables.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Traditional procedural programs may use shared global data that can be accessed by different procedures or functions.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Explanation of the options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Intended correct answer: Procedural programs may use functions that operate on shared data.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Incorrect: Combining data and related operations describes encapsulation in object-oriented programming.</a:t>
            </a:r>
          </a:p>
        </p:txBody>
      </p:sp>
    </p:spTree>
    <p:extLst>
      <p:ext uri="{BB962C8B-B14F-4D97-AF65-F5344CB8AC3E}">
        <p14:creationId xmlns:p14="http://schemas.microsoft.com/office/powerpoint/2010/main" val="7188711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C11B0-9534-413A-F726-2A06D4E11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580E7-B11C-C640-5D15-E364A310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C5A230-13D4-246B-86E0-F9625C183080}"/>
              </a:ext>
            </a:extLst>
          </p:cNvPr>
          <p:cNvSpPr txBox="1"/>
          <p:nvPr/>
        </p:nvSpPr>
        <p:spPr>
          <a:xfrm>
            <a:off x="39330" y="540385"/>
            <a:ext cx="1219199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Not the best answer: C++ supports procedural programming, but it is a multi-paradigm language and also strongly supports object-oriented programming.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Incorrect: Classes are mainly associated with object-oriented programming.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Important clarification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clearer definition of procedural programming is: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Procedural programming </a:t>
            </a:r>
            <a:r>
              <a:rPr lang="en-US" sz="2800" dirty="0" err="1">
                <a:latin typeface="Calibir"/>
              </a:rPr>
              <a:t>organises</a:t>
            </a:r>
            <a:r>
              <a:rPr lang="en-US" sz="2800" dirty="0">
                <a:latin typeface="Calibir"/>
              </a:rPr>
              <a:t> a program into procedures or functions that perform a sequence of instructions.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use of global variables is possible, but it is not required in every procedural program.</a:t>
            </a:r>
          </a:p>
        </p:txBody>
      </p:sp>
    </p:spTree>
    <p:extLst>
      <p:ext uri="{BB962C8B-B14F-4D97-AF65-F5344CB8AC3E}">
        <p14:creationId xmlns:p14="http://schemas.microsoft.com/office/powerpoint/2010/main" val="9252934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DB9C5-708E-0ECD-60D0-BE6E9EA1A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5CBB-7E59-2A40-2FB3-6AC879167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6275D-745F-C329-FB32-40C9D684D219}"/>
              </a:ext>
            </a:extLst>
          </p:cNvPr>
          <p:cNvSpPr txBox="1"/>
          <p:nvPr/>
        </p:nvSpPr>
        <p:spPr>
          <a:xfrm>
            <a:off x="39330" y="540385"/>
            <a:ext cx="121919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5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statement is not correct?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Object-oriented programs are better designed.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Object-oriented operation definitions are hidden; only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 is exposed to other classes.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Object-oriented class data is available to all system functions.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An object-oriented program can create many objects from the same class.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Select the statement that is incorrect.</a:t>
            </a:r>
          </a:p>
        </p:txBody>
      </p:sp>
    </p:spTree>
    <p:extLst>
      <p:ext uri="{BB962C8B-B14F-4D97-AF65-F5344CB8AC3E}">
        <p14:creationId xmlns:p14="http://schemas.microsoft.com/office/powerpoint/2010/main" val="36917256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1620B-A45D-5E40-C7A5-A0BF555B1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2EF7-4C2D-1A3A-D1F9-2F246749D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422FE7-8D03-2947-E372-3DC01D6BF9FB}"/>
              </a:ext>
            </a:extLst>
          </p:cNvPr>
          <p:cNvSpPr txBox="1"/>
          <p:nvPr/>
        </p:nvSpPr>
        <p:spPr>
          <a:xfrm>
            <a:off x="39330" y="540385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Correct answer: C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Object-oriented class data is available to all system functions.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statement is incorrect because object-oriented programming commonly uses encapsulation to control access to data.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private double balance;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Because balance is private, other classes cannot access it directly.</a:t>
            </a:r>
          </a:p>
        </p:txBody>
      </p:sp>
    </p:spTree>
    <p:extLst>
      <p:ext uri="{BB962C8B-B14F-4D97-AF65-F5344CB8AC3E}">
        <p14:creationId xmlns:p14="http://schemas.microsoft.com/office/powerpoint/2010/main" val="35174693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023A9-D936-8F05-FA26-7EF9D9850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8E99C-2EAD-91CB-BE42-D98F9D3B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4DB436-DE87-9927-B02A-EBF10F26D4EF}"/>
              </a:ext>
            </a:extLst>
          </p:cNvPr>
          <p:cNvSpPr txBox="1"/>
          <p:nvPr/>
        </p:nvSpPr>
        <p:spPr>
          <a:xfrm>
            <a:off x="39330" y="540385"/>
            <a:ext cx="12191999" cy="612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Explanation of the options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A. Generally correct: Object-oriented design can improve </a:t>
            </a:r>
            <a:r>
              <a:rPr lang="en-US" sz="2400" dirty="0" err="1">
                <a:latin typeface="Calibir"/>
              </a:rPr>
              <a:t>organisation</a:t>
            </a:r>
            <a:r>
              <a:rPr lang="en-US" sz="2400" dirty="0">
                <a:latin typeface="Calibir"/>
              </a:rPr>
              <a:t>, modularity, maintainability, and reuse.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B. Correct: Internal implementation details can be hidden while required </a:t>
            </a:r>
            <a:r>
              <a:rPr lang="en-US" sz="2400" dirty="0" err="1">
                <a:latin typeface="Calibir"/>
              </a:rPr>
              <a:t>behaviour</a:t>
            </a:r>
            <a:r>
              <a:rPr lang="en-US" sz="2400" dirty="0">
                <a:latin typeface="Calibir"/>
              </a:rPr>
              <a:t> is provided through public methods.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C. Incorrect: Class data should not automatically be available to every function in the system.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D. Correct: One class can be used to create many objects.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Student student1 = new Student();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Calibir"/>
              </a:rPr>
              <a:t>Student student2 = new Student();</a:t>
            </a:r>
          </a:p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ir"/>
              </a:rPr>
              <a:t>Both objects are created from the same Student class.</a:t>
            </a:r>
            <a:endParaRPr 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5126264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75C91-2736-9925-B812-F4EA9547F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79EC5-7E74-59A3-FB56-409C49D1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2553EA-7A86-F685-2A93-89B94021D4AB}"/>
              </a:ext>
            </a:extLst>
          </p:cNvPr>
          <p:cNvSpPr txBox="1"/>
          <p:nvPr/>
        </p:nvSpPr>
        <p:spPr>
          <a:xfrm>
            <a:off x="39330" y="540385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6 –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statement best describes software requirements analysis?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Requirements analysis is a way to create software architecture.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Requirements analysis refines and transforms requirements into user stories.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Requirements analysis identifies classes and their attributes.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Requirements analysis is used to create software design.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Select the best answer.</a:t>
            </a:r>
          </a:p>
        </p:txBody>
      </p:sp>
    </p:spTree>
    <p:extLst>
      <p:ext uri="{BB962C8B-B14F-4D97-AF65-F5344CB8AC3E}">
        <p14:creationId xmlns:p14="http://schemas.microsoft.com/office/powerpoint/2010/main" val="29474908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2965A-3920-3FD7-B993-15E6B193E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34FC7-81C1-14CE-41B2-8AB1FD31A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F2C99-0B51-0C78-4627-25B3C9B5D82E}"/>
              </a:ext>
            </a:extLst>
          </p:cNvPr>
          <p:cNvSpPr txBox="1"/>
          <p:nvPr/>
        </p:nvSpPr>
        <p:spPr>
          <a:xfrm>
            <a:off x="39330" y="540385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Correct answer: B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Requirements analysis refines and transforms requirements into user stories.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Requirements analysis helps the development team understand: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users need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the system must do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Who will use the system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conditions or limitations apply </a:t>
            </a:r>
          </a:p>
        </p:txBody>
      </p:sp>
    </p:spTree>
    <p:extLst>
      <p:ext uri="{BB962C8B-B14F-4D97-AF65-F5344CB8AC3E}">
        <p14:creationId xmlns:p14="http://schemas.microsoft.com/office/powerpoint/2010/main" val="1688793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3C2DE-13E9-0732-B71C-7DE24F79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EDABC-A19C-ED6B-9A1A-F194E04C2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644B6-0987-FDF0-1E77-A8E6B69A4BAA}"/>
              </a:ext>
            </a:extLst>
          </p:cNvPr>
          <p:cNvSpPr txBox="1"/>
          <p:nvPr/>
        </p:nvSpPr>
        <p:spPr>
          <a:xfrm>
            <a:off x="39330" y="540385"/>
            <a:ext cx="12191999" cy="6031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Explanation of the options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A. Incorrect: Software architecture is normally developed during system design.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B. Correct: User needs may be refined and documented as requirements or user stories.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C. Incorrect: Identifying classes and attributes is usually part of object-oriented analysis and design.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D. Incorrect: Requirements analysis provides information for the design, but it is not the same as creating the design.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Example user story</a:t>
            </a:r>
          </a:p>
          <a:p>
            <a:pPr>
              <a:lnSpc>
                <a:spcPct val="150000"/>
              </a:lnSpc>
              <a:buNone/>
            </a:pPr>
            <a:r>
              <a:rPr lang="en-US" sz="2600" dirty="0">
                <a:latin typeface="Calibir"/>
              </a:rPr>
              <a:t>As a library member, I want to search for a book so that I can check whether it is available.</a:t>
            </a:r>
            <a:endParaRPr 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5280493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EFA28-8015-ED07-DDEB-AEF47497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E7FE-0BCE-A3EB-1439-E14882F8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59E22-37E9-9ED7-5171-F690A0380349}"/>
              </a:ext>
            </a:extLst>
          </p:cNvPr>
          <p:cNvSpPr txBox="1"/>
          <p:nvPr/>
        </p:nvSpPr>
        <p:spPr>
          <a:xfrm>
            <a:off x="39330" y="540385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7 –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Why is documentation testing necessary?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To have morning coffee with stakeholders.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To create the project development schedule.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To identify classes in the software.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To ensure the correctness of the requirements.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Select the best answer.</a:t>
            </a:r>
          </a:p>
        </p:txBody>
      </p:sp>
    </p:spTree>
    <p:extLst>
      <p:ext uri="{BB962C8B-B14F-4D97-AF65-F5344CB8AC3E}">
        <p14:creationId xmlns:p14="http://schemas.microsoft.com/office/powerpoint/2010/main" val="4106169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DCF08-22BA-6862-4D0E-196428A70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4E16-AC37-0C10-7BF5-C1EFC043C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B869C0-A3C5-13D9-E318-BF0D5A32F51E}"/>
              </a:ext>
            </a:extLst>
          </p:cNvPr>
          <p:cNvSpPr txBox="1"/>
          <p:nvPr/>
        </p:nvSpPr>
        <p:spPr>
          <a:xfrm>
            <a:off x="39330" y="540385"/>
            <a:ext cx="121919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Correct answer: 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Documentation testing is necessary to ensure the correctness of the requirements.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Reviewing requirements documentation helps identify: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Missing information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Contradictions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Unclear statements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Incorrect assumptions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Requirements that cannot be tested </a:t>
            </a:r>
          </a:p>
        </p:txBody>
      </p:sp>
    </p:spTree>
    <p:extLst>
      <p:ext uri="{BB962C8B-B14F-4D97-AF65-F5344CB8AC3E}">
        <p14:creationId xmlns:p14="http://schemas.microsoft.com/office/powerpoint/2010/main" val="35960628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286FC-2BA1-7C98-73F9-934FA6FF7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F5BD-0205-1498-608D-A1AB7961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65ADEB-3D72-20E9-0FEE-28F5525B01D8}"/>
              </a:ext>
            </a:extLst>
          </p:cNvPr>
          <p:cNvSpPr txBox="1"/>
          <p:nvPr/>
        </p:nvSpPr>
        <p:spPr>
          <a:xfrm>
            <a:off x="39330" y="540385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Explanation of the options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Incorrect: This is unrelated to documentation testing.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Incorrect: Creating a schedule is a project management activity.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Incorrect: Classes are normally identified during object-oriented analysis and design.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Correct: Reviewing documentation helps ensure that the requirements are clear and correct.</a:t>
            </a:r>
          </a:p>
        </p:txBody>
      </p:sp>
    </p:spTree>
    <p:extLst>
      <p:ext uri="{BB962C8B-B14F-4D97-AF65-F5344CB8AC3E}">
        <p14:creationId xmlns:p14="http://schemas.microsoft.com/office/powerpoint/2010/main" val="399311135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89691-B321-BF9D-217F-30D44DD6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09185-1599-C934-CA34-7D931B3B9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506CD5-BD5F-096A-A00C-8156E35DC42C}"/>
              </a:ext>
            </a:extLst>
          </p:cNvPr>
          <p:cNvSpPr txBox="1"/>
          <p:nvPr/>
        </p:nvSpPr>
        <p:spPr>
          <a:xfrm>
            <a:off x="39330" y="540385"/>
            <a:ext cx="1219199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Example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requirement states: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system must support online payments.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development team should clarify: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Which payment methods?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Which currencies?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happens if payment fails?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Is a receipt required?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It is easier to correct these issues before coding begins.</a:t>
            </a:r>
          </a:p>
        </p:txBody>
      </p:sp>
    </p:spTree>
    <p:extLst>
      <p:ext uri="{BB962C8B-B14F-4D97-AF65-F5344CB8AC3E}">
        <p14:creationId xmlns:p14="http://schemas.microsoft.com/office/powerpoint/2010/main" val="9787156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9165-331C-C878-829E-E5599554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E230-67AA-93C7-11B5-7D006DB3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446BD8-D1ED-1AC8-B05E-C616233FE2C4}"/>
              </a:ext>
            </a:extLst>
          </p:cNvPr>
          <p:cNvSpPr txBox="1"/>
          <p:nvPr/>
        </p:nvSpPr>
        <p:spPr>
          <a:xfrm>
            <a:off x="39330" y="540385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8 –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of the following is not a step in the requirements analysis process?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Create a class diagram.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Create a use-case diagram.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Map user stories to a table.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Convert requirements into user stories.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Select the activity that does not belong directly to requirements analysis.</a:t>
            </a:r>
          </a:p>
        </p:txBody>
      </p:sp>
    </p:spTree>
    <p:extLst>
      <p:ext uri="{BB962C8B-B14F-4D97-AF65-F5344CB8AC3E}">
        <p14:creationId xmlns:p14="http://schemas.microsoft.com/office/powerpoint/2010/main" val="10261655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2A01C-5C6F-A243-9340-B385F360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6C78-2A7F-A15D-25DD-189BEA5F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D27D7-1BAE-05E9-B703-A1F20DF8CE9D}"/>
              </a:ext>
            </a:extLst>
          </p:cNvPr>
          <p:cNvSpPr txBox="1"/>
          <p:nvPr/>
        </p:nvSpPr>
        <p:spPr>
          <a:xfrm>
            <a:off x="39330" y="540385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8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Which of the following is not a step of the requirement analysis process ?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Group of answer choices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Create a class diagram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Create a use-case diagram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Map the user-stories to a table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dirty="0">
                <a:latin typeface="Calibir"/>
              </a:rPr>
              <a:t>Convert requirements to user-stories</a:t>
            </a:r>
          </a:p>
        </p:txBody>
      </p:sp>
    </p:spTree>
    <p:extLst>
      <p:ext uri="{BB962C8B-B14F-4D97-AF65-F5344CB8AC3E}">
        <p14:creationId xmlns:p14="http://schemas.microsoft.com/office/powerpoint/2010/main" val="403702144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18799-7698-7B34-6CC6-D71396116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9E9B-FF1D-BFE8-A173-149192826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4A35C-5822-0014-4B67-FD27C4E6F8CF}"/>
              </a:ext>
            </a:extLst>
          </p:cNvPr>
          <p:cNvSpPr txBox="1"/>
          <p:nvPr/>
        </p:nvSpPr>
        <p:spPr>
          <a:xfrm>
            <a:off x="39330" y="540385"/>
            <a:ext cx="121919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Correct answer: A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Create a class diagram.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class diagram is mainly used during object-oriented analysis and system design to represent: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Classes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Attributes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Methods </a:t>
            </a:r>
          </a:p>
          <a:p>
            <a:pPr marL="7223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Relationships between classes </a:t>
            </a:r>
          </a:p>
        </p:txBody>
      </p:sp>
    </p:spTree>
    <p:extLst>
      <p:ext uri="{BB962C8B-B14F-4D97-AF65-F5344CB8AC3E}">
        <p14:creationId xmlns:p14="http://schemas.microsoft.com/office/powerpoint/2010/main" val="32731777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2CA04-00C6-DC04-DE9C-57A708603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84282-C52F-0C6C-7CAD-6AFA1FBB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652683-E7A5-6E2C-32D0-C62C796EDA01}"/>
              </a:ext>
            </a:extLst>
          </p:cNvPr>
          <p:cNvSpPr txBox="1"/>
          <p:nvPr/>
        </p:nvSpPr>
        <p:spPr>
          <a:xfrm>
            <a:off x="0" y="830917"/>
            <a:ext cx="121919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Explanation of the options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Correct answer: Creating a class diagram normally belongs to a later analysis or design activity.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Part of requirements analysis: A use-case diagram shows how actors interact with the system.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Part of requirements analysis: A table can help </a:t>
            </a:r>
            <a:r>
              <a:rPr lang="en-US" sz="2800" dirty="0" err="1">
                <a:latin typeface="Calibir"/>
              </a:rPr>
              <a:t>organise</a:t>
            </a:r>
            <a:r>
              <a:rPr lang="en-US" sz="2800" dirty="0">
                <a:latin typeface="Calibir"/>
              </a:rPr>
              <a:t> and trace user stories.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Part of requirements analysis: User needs can be converted into clear user stories.</a:t>
            </a:r>
          </a:p>
        </p:txBody>
      </p:sp>
    </p:spTree>
    <p:extLst>
      <p:ext uri="{BB962C8B-B14F-4D97-AF65-F5344CB8AC3E}">
        <p14:creationId xmlns:p14="http://schemas.microsoft.com/office/powerpoint/2010/main" val="2172120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ABF23-CADF-7031-FFEF-A04982F32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25B4-2543-CB37-493C-261D6F7D0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09EE9-05F8-C744-247A-D8B91F5D21A3}"/>
              </a:ext>
            </a:extLst>
          </p:cNvPr>
          <p:cNvSpPr txBox="1"/>
          <p:nvPr/>
        </p:nvSpPr>
        <p:spPr>
          <a:xfrm>
            <a:off x="0" y="830917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9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Which of the following cannot be an actor in a use-case diagram?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Person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Cash register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Login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Printer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Select the option that is not an actor.</a:t>
            </a:r>
          </a:p>
        </p:txBody>
      </p:sp>
    </p:spTree>
    <p:extLst>
      <p:ext uri="{BB962C8B-B14F-4D97-AF65-F5344CB8AC3E}">
        <p14:creationId xmlns:p14="http://schemas.microsoft.com/office/powerpoint/2010/main" val="148407570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CDF94-45C0-FC8F-0CA2-BCE976608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625A-BBB1-FACD-A971-B2AED0E60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9D2E9-CE33-2CF5-C98B-F90FAC1AD365}"/>
              </a:ext>
            </a:extLst>
          </p:cNvPr>
          <p:cNvSpPr txBox="1"/>
          <p:nvPr/>
        </p:nvSpPr>
        <p:spPr>
          <a:xfrm>
            <a:off x="0" y="830917"/>
            <a:ext cx="1219199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Correct answer: C – Login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An actor is a person, </a:t>
            </a:r>
            <a:r>
              <a:rPr lang="en-US" sz="2800" dirty="0" err="1">
                <a:latin typeface="Calibir"/>
              </a:rPr>
              <a:t>organisation</a:t>
            </a:r>
            <a:r>
              <a:rPr lang="en-US" sz="2800" dirty="0">
                <a:latin typeface="Calibir"/>
              </a:rPr>
              <a:t>, external device, or external system that interacts with the software.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Login is an action or system function. It is therefore more suitable as a use case, not an actor.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Explanation of the options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Person: Can be an actor, such as a customer or administrator.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Cash register: Can be an external device or system interacting with another system.</a:t>
            </a:r>
          </a:p>
        </p:txBody>
      </p:sp>
    </p:spTree>
    <p:extLst>
      <p:ext uri="{BB962C8B-B14F-4D97-AF65-F5344CB8AC3E}">
        <p14:creationId xmlns:p14="http://schemas.microsoft.com/office/powerpoint/2010/main" val="326857813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4888B-1CAD-2005-25F4-D53167995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7EB58-2AF3-FA86-4C19-5CE27FF21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2E333-61C8-A123-9D9D-30C8B2750E01}"/>
              </a:ext>
            </a:extLst>
          </p:cNvPr>
          <p:cNvSpPr txBox="1"/>
          <p:nvPr/>
        </p:nvSpPr>
        <p:spPr>
          <a:xfrm>
            <a:off x="0" y="830917"/>
            <a:ext cx="12191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Login: This is an action performed by an actor.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D. Printer: Can be an external device interacting with the system.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Simple use-case example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Actor: Student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Use case: Log in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System: Student portal</a:t>
            </a:r>
          </a:p>
        </p:txBody>
      </p:sp>
    </p:spTree>
    <p:extLst>
      <p:ext uri="{BB962C8B-B14F-4D97-AF65-F5344CB8AC3E}">
        <p14:creationId xmlns:p14="http://schemas.microsoft.com/office/powerpoint/2010/main" val="12482329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EB47D-0096-ADFB-D9FC-90FC11E5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298D-A7D2-8B98-124B-BBF817BA9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3BEAD9-9406-A68D-7D0B-41B71718000C}"/>
              </a:ext>
            </a:extLst>
          </p:cNvPr>
          <p:cNvSpPr txBox="1"/>
          <p:nvPr/>
        </p:nvSpPr>
        <p:spPr>
          <a:xfrm>
            <a:off x="0" y="830917"/>
            <a:ext cx="12191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Question 10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sequence diagram is an example of a: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 diagram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Interaction diagram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Structure diagram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Select the most specific answer.</a:t>
            </a:r>
          </a:p>
        </p:txBody>
      </p:sp>
    </p:spTree>
    <p:extLst>
      <p:ext uri="{BB962C8B-B14F-4D97-AF65-F5344CB8AC3E}">
        <p14:creationId xmlns:p14="http://schemas.microsoft.com/office/powerpoint/2010/main" val="36123658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3844-041C-C500-3F3B-02772496C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663DD-7CDC-3E60-255C-5788F3DB9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6E899-CEBA-265F-A26B-5B2DB3F1C934}"/>
              </a:ext>
            </a:extLst>
          </p:cNvPr>
          <p:cNvSpPr txBox="1"/>
          <p:nvPr/>
        </p:nvSpPr>
        <p:spPr>
          <a:xfrm>
            <a:off x="0" y="830917"/>
            <a:ext cx="12191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Correct answer: B – Interaction diagram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 sequence diagram shows: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Objects or participants 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Messages exchanged between them 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order in which interactions occur </a:t>
            </a:r>
          </a:p>
          <a:p>
            <a:pPr marL="81121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the interaction changes over time </a:t>
            </a:r>
          </a:p>
        </p:txBody>
      </p:sp>
    </p:spTree>
    <p:extLst>
      <p:ext uri="{BB962C8B-B14F-4D97-AF65-F5344CB8AC3E}">
        <p14:creationId xmlns:p14="http://schemas.microsoft.com/office/powerpoint/2010/main" val="37352143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CF49E-3011-C2BE-C490-FE07959F7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20676-FD94-84DB-A3C5-22C5A9CDA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AA73F-F0FE-2664-FA8C-628803500B47}"/>
              </a:ext>
            </a:extLst>
          </p:cNvPr>
          <p:cNvSpPr txBox="1"/>
          <p:nvPr/>
        </p:nvSpPr>
        <p:spPr>
          <a:xfrm>
            <a:off x="0" y="830917"/>
            <a:ext cx="12191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Explanation of the options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A.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 diagram: Sequence diagrams are broadly included within UML </a:t>
            </a:r>
            <a:r>
              <a:rPr lang="en-US" sz="2800" dirty="0" err="1">
                <a:latin typeface="Calibir"/>
              </a:rPr>
              <a:t>behaviour</a:t>
            </a:r>
            <a:r>
              <a:rPr lang="en-US" sz="2800" dirty="0">
                <a:latin typeface="Calibir"/>
              </a:rPr>
              <a:t> diagrams, but this is not the most specific answer.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B. Interaction diagram: This is the best and most specific classification.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C. Structure diagram: Structure diagrams show the static parts of a system. A class diagram is an example.</a:t>
            </a:r>
          </a:p>
        </p:txBody>
      </p:sp>
    </p:spTree>
    <p:extLst>
      <p:ext uri="{BB962C8B-B14F-4D97-AF65-F5344CB8AC3E}">
        <p14:creationId xmlns:p14="http://schemas.microsoft.com/office/powerpoint/2010/main" val="260675839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C0AE9-695D-7201-306A-E38659545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BE04-FACF-5FB6-5380-3286FF571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Week 1 Practice Quiz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B3F93B-53DA-27D6-8047-3B2B9227704D}"/>
              </a:ext>
            </a:extLst>
          </p:cNvPr>
          <p:cNvSpPr txBox="1"/>
          <p:nvPr/>
        </p:nvSpPr>
        <p:spPr>
          <a:xfrm>
            <a:off x="0" y="830917"/>
            <a:ext cx="12191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Simple example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Customer → ATM: Insert card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ATM → Customer: Request PIN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Customer → ATM: Enter PIN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ATM → Bank System: Validate PIN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Bank System → ATM: PIN accepted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sequence diagram shows the order in which these messages are exchanged.</a:t>
            </a:r>
          </a:p>
        </p:txBody>
      </p:sp>
    </p:spTree>
    <p:extLst>
      <p:ext uri="{BB962C8B-B14F-4D97-AF65-F5344CB8AC3E}">
        <p14:creationId xmlns:p14="http://schemas.microsoft.com/office/powerpoint/2010/main" val="314291509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3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Choosing Your Development Environment (IDE)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AD04ABD-82F7-37B0-C8F1-3CA942217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150771"/>
              </p:ext>
            </p:extLst>
          </p:nvPr>
        </p:nvGraphicFramePr>
        <p:xfrm>
          <a:off x="838200" y="989674"/>
          <a:ext cx="10515600" cy="472440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199968">
                  <a:extLst>
                    <a:ext uri="{9D8B030D-6E8A-4147-A177-3AD203B41FA5}">
                      <a16:colId xmlns:a16="http://schemas.microsoft.com/office/drawing/2014/main" val="1298676710"/>
                    </a:ext>
                  </a:extLst>
                </a:gridCol>
                <a:gridCol w="2123767">
                  <a:extLst>
                    <a:ext uri="{9D8B030D-6E8A-4147-A177-3AD203B41FA5}">
                      <a16:colId xmlns:a16="http://schemas.microsoft.com/office/drawing/2014/main" val="3514375929"/>
                    </a:ext>
                  </a:extLst>
                </a:gridCol>
                <a:gridCol w="2816942">
                  <a:extLst>
                    <a:ext uri="{9D8B030D-6E8A-4147-A177-3AD203B41FA5}">
                      <a16:colId xmlns:a16="http://schemas.microsoft.com/office/drawing/2014/main" val="1790674396"/>
                    </a:ext>
                  </a:extLst>
                </a:gridCol>
                <a:gridCol w="3374923">
                  <a:extLst>
                    <a:ext uri="{9D8B030D-6E8A-4147-A177-3AD203B41FA5}">
                      <a16:colId xmlns:a16="http://schemas.microsoft.com/office/drawing/2014/main" val="691085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Recommended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83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VS Code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ü"/>
                      </a:pPr>
                      <a:r>
                        <a:rPr lang="en-US" sz="2800" dirty="0">
                          <a:latin typeface="Calibir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ü"/>
                      </a:pPr>
                      <a:r>
                        <a:rPr lang="en-US" sz="2800" dirty="0">
                          <a:latin typeface="Calibir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Recommended (supports both Java and Python)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5548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latin typeface="Calibir"/>
                        </a:rPr>
                        <a:t>IntelliJ IDEA Community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ü"/>
                      </a:pPr>
                      <a:r>
                        <a:rPr lang="en-US" sz="2800" dirty="0">
                          <a:latin typeface="Calibir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Limited (requires plugin)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Excellent for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8034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Calibir"/>
                        </a:rPr>
                        <a:t>Eclipse IDE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ü"/>
                      </a:pPr>
                      <a:r>
                        <a:rPr lang="en-US" sz="2800" dirty="0">
                          <a:latin typeface="Calibir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Possible with PyDev plugin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Good for 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562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latin typeface="Calibir"/>
                        </a:rPr>
                        <a:t>PyCharm Community</a:t>
                      </a:r>
                      <a:endParaRPr lang="en-US" sz="2800">
                        <a:latin typeface="Calibir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highlight>
                            <a:srgbClr val="FF0000"/>
                          </a:highlight>
                          <a:latin typeface="Calibir"/>
                        </a:rPr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>
                        <a:buFont typeface="Wingdings" panose="05000000000000000000" pitchFamily="2" charset="2"/>
                        <a:buChar char="ü"/>
                      </a:pPr>
                      <a:r>
                        <a:rPr lang="en-US" sz="2800" dirty="0">
                          <a:latin typeface="Calibir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Excellent for 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235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2908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02116-880F-1A57-663A-56303192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B569988-0C6A-B2AA-FEBB-E9421E8EC028}"/>
              </a:ext>
            </a:extLst>
          </p:cNvPr>
          <p:cNvSpPr txBox="1"/>
          <p:nvPr/>
        </p:nvSpPr>
        <p:spPr>
          <a:xfrm>
            <a:off x="0" y="0"/>
            <a:ext cx="12192000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3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Choosing Your Development Environment (IDE)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3DCEC8-2C59-F5BF-BFCA-B3A753B0AFF1}"/>
              </a:ext>
            </a:extLst>
          </p:cNvPr>
          <p:cNvSpPr txBox="1"/>
          <p:nvPr/>
        </p:nvSpPr>
        <p:spPr>
          <a:xfrm>
            <a:off x="0" y="830918"/>
            <a:ext cx="12034684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You are welcome to use the IDE that you are most comfortable with, provided it supports the required programming language and you can successfully complete the assessment tasks.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If you are developing in Java, IntelliJ IDEA or Eclipse are both excellent choices.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If you are developing in Python, VS Code or PyCharm are recommended.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If you would like to use one IDE for both Java and Python, VS Code is probably the easiest option.</a:t>
            </a:r>
          </a:p>
        </p:txBody>
      </p:sp>
    </p:spTree>
    <p:extLst>
      <p:ext uri="{BB962C8B-B14F-4D97-AF65-F5344CB8AC3E}">
        <p14:creationId xmlns:p14="http://schemas.microsoft.com/office/powerpoint/2010/main" val="6168475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BA2AA-3B61-78DC-573B-C57B591E2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6ABBF7-FE3D-1F0C-3FCB-885B4A3A02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66"/>
          <a:stretch/>
        </p:blipFill>
        <p:spPr>
          <a:xfrm>
            <a:off x="1499037" y="2031190"/>
            <a:ext cx="9193925" cy="4826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DED5F7-3604-A4C8-D386-C48A32FBFBB3}"/>
              </a:ext>
            </a:extLst>
          </p:cNvPr>
          <p:cNvSpPr txBox="1"/>
          <p:nvPr/>
        </p:nvSpPr>
        <p:spPr>
          <a:xfrm>
            <a:off x="0" y="0"/>
            <a:ext cx="12192000" cy="2056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and install the idk package </a:t>
            </a:r>
            <a:r>
              <a:rPr kumimoji="0" lang="en-AU" sz="2800" b="0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https://www.oracle.com/au/java/technologies/downloads/#jdk22-windows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BEC41F-ECF3-EC86-EA3E-CEC9F03B1DCA}"/>
              </a:ext>
            </a:extLst>
          </p:cNvPr>
          <p:cNvSpPr/>
          <p:nvPr/>
        </p:nvSpPr>
        <p:spPr>
          <a:xfrm>
            <a:off x="5234152" y="5812221"/>
            <a:ext cx="4761186" cy="3783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FFBF93-18C5-A8AD-B616-7EC2768BF458}"/>
              </a:ext>
            </a:extLst>
          </p:cNvPr>
          <p:cNvSpPr/>
          <p:nvPr/>
        </p:nvSpPr>
        <p:spPr>
          <a:xfrm>
            <a:off x="5234152" y="6190593"/>
            <a:ext cx="4761186" cy="3783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996648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892184-5FE3-20A6-5C19-A07F3585CD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51" t="22223" r="33707" b="29992"/>
          <a:stretch/>
        </p:blipFill>
        <p:spPr>
          <a:xfrm>
            <a:off x="1497519" y="1888088"/>
            <a:ext cx="9196962" cy="49699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2056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and install the idk package </a:t>
            </a:r>
            <a:r>
              <a:rPr kumimoji="0" lang="en-AU" sz="2800" b="0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https://www.oracle.com/au/java/technologies/downloads/#jdk22-windows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551CAF-716B-D31F-BC05-C120083FB8BC}"/>
              </a:ext>
            </a:extLst>
          </p:cNvPr>
          <p:cNvSpPr/>
          <p:nvPr/>
        </p:nvSpPr>
        <p:spPr>
          <a:xfrm>
            <a:off x="8282152" y="6327228"/>
            <a:ext cx="1219200" cy="3783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15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E58EC1-067D-6041-1F1D-7FE8B9C415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07" t="31494" r="33707" b="31494"/>
          <a:stretch/>
        </p:blipFill>
        <p:spPr>
          <a:xfrm>
            <a:off x="2859271" y="2569780"/>
            <a:ext cx="6473458" cy="41358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2056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and install the idk package </a:t>
            </a:r>
            <a:r>
              <a:rPr kumimoji="0" lang="en-AU" sz="2800" b="0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https://www.oracle.com/au/java/technologies/downloads/#jdk22-windows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551CAF-716B-D31F-BC05-C120083FB8BC}"/>
              </a:ext>
            </a:extLst>
          </p:cNvPr>
          <p:cNvSpPr/>
          <p:nvPr/>
        </p:nvSpPr>
        <p:spPr>
          <a:xfrm>
            <a:off x="6768662" y="6327228"/>
            <a:ext cx="1219200" cy="37837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65313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420394-D342-F3CB-58B1-3033643A5B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1418" r="21293" b="17701"/>
          <a:stretch/>
        </p:blipFill>
        <p:spPr>
          <a:xfrm>
            <a:off x="112985" y="2186152"/>
            <a:ext cx="11966030" cy="43512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Command Prompt Windows / Terminal in MAC: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java –show-version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551CAF-716B-D31F-BC05-C120083FB8BC}"/>
              </a:ext>
            </a:extLst>
          </p:cNvPr>
          <p:cNvSpPr/>
          <p:nvPr/>
        </p:nvSpPr>
        <p:spPr>
          <a:xfrm>
            <a:off x="112985" y="2270234"/>
            <a:ext cx="3744312" cy="2942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897600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Eclipse Software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https://www.eclipse.org/downloads/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00FD27-2FFB-D9E2-E3AD-E0135E0C66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41" b="7280"/>
          <a:stretch/>
        </p:blipFill>
        <p:spPr>
          <a:xfrm>
            <a:off x="1458554" y="1547148"/>
            <a:ext cx="9274892" cy="4948245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B0BE66-030C-C7F4-65FA-E8A72CF3A7E4}"/>
              </a:ext>
            </a:extLst>
          </p:cNvPr>
          <p:cNvSpPr/>
          <p:nvPr/>
        </p:nvSpPr>
        <p:spPr>
          <a:xfrm>
            <a:off x="5864772" y="3668110"/>
            <a:ext cx="1618594" cy="52551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518435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DDBDD9-E519-B2C4-BD88-F61C84A78A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58" b="16475"/>
          <a:stretch/>
        </p:blipFill>
        <p:spPr>
          <a:xfrm>
            <a:off x="730468" y="1601239"/>
            <a:ext cx="10731063" cy="51847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Download Eclipse Software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B0BE66-030C-C7F4-65FA-E8A72CF3A7E4}"/>
              </a:ext>
            </a:extLst>
          </p:cNvPr>
          <p:cNvSpPr/>
          <p:nvPr/>
        </p:nvSpPr>
        <p:spPr>
          <a:xfrm>
            <a:off x="5181603" y="4550977"/>
            <a:ext cx="1912883" cy="62011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279611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0714C02-F325-A25A-22C6-6608DE9140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24" t="17165" r="29914" b="66360"/>
          <a:stretch/>
        </p:blipFill>
        <p:spPr>
          <a:xfrm>
            <a:off x="343257" y="2422634"/>
            <a:ext cx="11589574" cy="20127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B0BE66-030C-C7F4-65FA-E8A72CF3A7E4}"/>
              </a:ext>
            </a:extLst>
          </p:cNvPr>
          <p:cNvSpPr/>
          <p:nvPr/>
        </p:nvSpPr>
        <p:spPr>
          <a:xfrm>
            <a:off x="343261" y="3531475"/>
            <a:ext cx="3408932" cy="62011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15528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AD33D-AB9B-D7A5-8E41-9B32D71A7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370" y="1501480"/>
            <a:ext cx="7725259" cy="5011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B0BE66-030C-C7F4-65FA-E8A72CF3A7E4}"/>
              </a:ext>
            </a:extLst>
          </p:cNvPr>
          <p:cNvSpPr/>
          <p:nvPr/>
        </p:nvSpPr>
        <p:spPr>
          <a:xfrm>
            <a:off x="2233369" y="2291253"/>
            <a:ext cx="7725259" cy="88287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00554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11EA7D-22B9-BAAB-9EBD-AED3425CE4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620" t="20568" r="10604" b="19234"/>
          <a:stretch/>
        </p:blipFill>
        <p:spPr>
          <a:xfrm>
            <a:off x="1691793" y="1510362"/>
            <a:ext cx="8808410" cy="5347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10798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https://www.eclipse.org/downloads/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32F907-4C70-B590-097C-4BFE82D8C2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811" t="20568" r="12931" b="23525"/>
          <a:stretch/>
        </p:blipFill>
        <p:spPr>
          <a:xfrm>
            <a:off x="1914836" y="1708993"/>
            <a:ext cx="8362328" cy="4759058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DAEEDB-9883-C600-795C-F47FC7EE9C09}"/>
              </a:ext>
            </a:extLst>
          </p:cNvPr>
          <p:cNvSpPr/>
          <p:nvPr/>
        </p:nvSpPr>
        <p:spPr>
          <a:xfrm>
            <a:off x="3321269" y="5034455"/>
            <a:ext cx="6463862" cy="33633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826262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906620-3880-BB2C-66FF-CC11EAAAC9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42" t="23295" r="29742" b="42530"/>
          <a:stretch/>
        </p:blipFill>
        <p:spPr>
          <a:xfrm>
            <a:off x="1322278" y="1786758"/>
            <a:ext cx="9547444" cy="4529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DAEEDB-9883-C600-795C-F47FC7EE9C09}"/>
              </a:ext>
            </a:extLst>
          </p:cNvPr>
          <p:cNvSpPr/>
          <p:nvPr/>
        </p:nvSpPr>
        <p:spPr>
          <a:xfrm>
            <a:off x="1502980" y="3520965"/>
            <a:ext cx="6463862" cy="33633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35036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C0C209-4130-88F6-3CA7-F339D4FAEC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982" b="10498"/>
          <a:stretch/>
        </p:blipFill>
        <p:spPr>
          <a:xfrm>
            <a:off x="1035269" y="1371100"/>
            <a:ext cx="10583917" cy="54362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E9C0D-9C26-22EB-F709-12FD97F8D778}"/>
              </a:ext>
            </a:extLst>
          </p:cNvPr>
          <p:cNvSpPr txBox="1"/>
          <p:nvPr/>
        </p:nvSpPr>
        <p:spPr>
          <a:xfrm>
            <a:off x="0" y="0"/>
            <a:ext cx="12192000" cy="1410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If you choose Eclipse IDE (Java)</a:t>
            </a: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Install Eclipse Software 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3"/>
              </a:rPr>
              <a:t>https://www.eclipse.org/downloads/</a:t>
            </a: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3DAEEDB-9883-C600-795C-F47FC7EE9C09}"/>
              </a:ext>
            </a:extLst>
          </p:cNvPr>
          <p:cNvSpPr/>
          <p:nvPr/>
        </p:nvSpPr>
        <p:spPr>
          <a:xfrm>
            <a:off x="1035269" y="1371100"/>
            <a:ext cx="3831021" cy="47872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148406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4">
            <a:extLst>
              <a:ext uri="{FF2B5EF4-FFF2-40B4-BE49-F238E27FC236}">
                <a16:creationId xmlns:a16="http://schemas.microsoft.com/office/drawing/2014/main" id="{9C52768A-FA0A-4340-87DB-B3A81C3622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6252733-1297-6541-9B7B-DA4B9EB3829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US" altLang="en-US" sz="14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4D2FDC85-0146-DD4A-A91D-18F118EB1D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6096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The First Java Program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E68226-E95A-9C2F-006D-AA85E587F025}"/>
              </a:ext>
            </a:extLst>
          </p:cNvPr>
          <p:cNvSpPr txBox="1"/>
          <p:nvPr/>
        </p:nvSpPr>
        <p:spPr>
          <a:xfrm>
            <a:off x="0" y="1800413"/>
            <a:ext cx="12192000" cy="2610843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We present a simple Java program (Listing 1.1) that prints "Welcome to Java!" to the console. We demonstrate the basic structure of a Java program, including the class definition and the main method, which is the entry point of any Java application.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81791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797AC-34C2-7275-04BD-232F4F2AD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BADD-BDC0-DB23-BF54-15F726563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0485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DB91D-A282-A13E-6B33-ED09B09AB4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99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E01F758-5685-A933-9885-33A3B5DA3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416769"/>
            <a:ext cx="91440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1. Click on "Create a new Java project":</a:t>
            </a:r>
            <a:endParaRPr lang="en-US" alt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This will open a new window where you can set up your project.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1EAF12-FD9F-6110-6F8D-F0DEC5C8B4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-1264" b="7916"/>
          <a:stretch/>
        </p:blipFill>
        <p:spPr>
          <a:xfrm>
            <a:off x="1728952" y="2390442"/>
            <a:ext cx="8734097" cy="446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597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E48D7-BB44-0F50-4B6A-3C291DDEC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B748D13-8222-E560-FA17-2DB6EB53054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74" t="17629" r="22874" b="7917"/>
          <a:stretch>
            <a:fillRect/>
          </a:stretch>
        </p:blipFill>
        <p:spPr>
          <a:xfrm>
            <a:off x="5644054" y="2979685"/>
            <a:ext cx="5023946" cy="38783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E7AB9-E97A-B7FF-E1C2-D5DE52515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F732D-98AB-EAC6-4F5C-D3558ED2D3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100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018870-45A4-DC4C-9DC8-8C48EC98B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39779"/>
            <a:ext cx="9144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2. Set up the new project:</a:t>
            </a: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Enter a project name (e.g., Welcome).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Click Finish.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88DD80-B203-F690-AFF0-EFA7B4DDC9CD}"/>
              </a:ext>
            </a:extLst>
          </p:cNvPr>
          <p:cNvSpPr/>
          <p:nvPr/>
        </p:nvSpPr>
        <p:spPr>
          <a:xfrm>
            <a:off x="9207062" y="6633580"/>
            <a:ext cx="735724" cy="215462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07488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FAAF3-7572-92E6-D8E9-B6DE852E8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F951A61-6D08-68AF-4DDD-0190A8966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22" t="20793" r="25862" b="29004"/>
          <a:stretch>
            <a:fillRect/>
          </a:stretch>
        </p:blipFill>
        <p:spPr>
          <a:xfrm>
            <a:off x="4876972" y="3429000"/>
            <a:ext cx="5791028" cy="3420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CD2C45-71C9-C538-A66E-7BA50488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748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85F88-B131-AD93-ABBA-0735830255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101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1E1DC57-DFED-2F88-A3AA-B9CDE7EB1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" y="1250578"/>
            <a:ext cx="9144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2. Set up the new project:</a:t>
            </a: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Enter a project name (e.g., Welcome).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Click Finish.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6F8BF63-5BBE-5ACE-98CC-222120D84D99}"/>
              </a:ext>
            </a:extLst>
          </p:cNvPr>
          <p:cNvSpPr/>
          <p:nvPr/>
        </p:nvSpPr>
        <p:spPr>
          <a:xfrm>
            <a:off x="8755117" y="6419671"/>
            <a:ext cx="956614" cy="215462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19045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D4AB-7B39-2807-614A-637118A5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FA07F-9F49-C56E-EBF7-128BB448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323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E6087-5A7F-6ABC-3C79-265A4E40C7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102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DFBF818-3F41-3C42-BA3A-4801838D3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864" y="1281708"/>
            <a:ext cx="8041769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3. Create a new Java class:</a:t>
            </a: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File &gt;&gt; Open Projects from File Systems &gt;&gt; Directory &gt;&gt; Choose the Direct where the Project is Saved ‘e.g. C:\Users\gaming 15\eclipse-workspace\Welcome\</a:t>
            </a:r>
            <a:r>
              <a:rPr lang="en-US" alt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Click on Select Folder</a:t>
            </a: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Select New &gt; Class.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B943C3-86F6-470D-45CF-B3BF50D21D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6207" b="46781"/>
          <a:stretch/>
        </p:blipFill>
        <p:spPr>
          <a:xfrm>
            <a:off x="8008884" y="1086884"/>
            <a:ext cx="2659117" cy="577111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6CCAF29-0CC5-AFCD-F21A-1EF753E2E050}"/>
              </a:ext>
            </a:extLst>
          </p:cNvPr>
          <p:cNvSpPr/>
          <p:nvPr/>
        </p:nvSpPr>
        <p:spPr>
          <a:xfrm>
            <a:off x="8135007" y="3142592"/>
            <a:ext cx="2448910" cy="22071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55E218-8727-9CFF-DCF5-4518F5B97260}"/>
              </a:ext>
            </a:extLst>
          </p:cNvPr>
          <p:cNvSpPr/>
          <p:nvPr/>
        </p:nvSpPr>
        <p:spPr>
          <a:xfrm>
            <a:off x="8050926" y="1677102"/>
            <a:ext cx="441433" cy="22071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72063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88DA6-AB98-5994-BAE9-76750476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54CD-5CFE-A8B3-BEE2-91FE15F03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748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00394-C993-3F59-9A1E-E4169DBA94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103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A3E7D05-6F3B-1601-12C4-60934ECA1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30682"/>
            <a:ext cx="916502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Enter a class name (e.g., Welcome).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Ensure the public static void main(String[] </a:t>
            </a:r>
            <a:r>
              <a:rPr lang="en-US" alt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) option is checked.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Click Finish.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Click on Hide (Front Page)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C96523-CBDB-7F00-D523-53AEEFED70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00" t="19883" r="30115" b="28595"/>
          <a:stretch>
            <a:fillRect/>
          </a:stretch>
        </p:blipFill>
        <p:spPr>
          <a:xfrm>
            <a:off x="5948856" y="3429000"/>
            <a:ext cx="4719145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1778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73912-DE07-FF87-4C4F-356BF16C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E3A4-12B8-412E-17D7-8298A30E3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751DF-83B7-D3FB-0ACC-544F8D31FB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104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0BCCBBB-B732-6E8E-13A1-5124E7DCB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35" y="1109923"/>
            <a:ext cx="9165021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4. Write your Java code: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Copy and paste the code into the newly created class:</a:t>
            </a:r>
          </a:p>
        </p:txBody>
      </p:sp>
    </p:spTree>
    <p:extLst>
      <p:ext uri="{BB962C8B-B14F-4D97-AF65-F5344CB8AC3E}">
        <p14:creationId xmlns:p14="http://schemas.microsoft.com/office/powerpoint/2010/main" val="328281100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D9244C6-2CA5-92C0-60F0-0B0C39119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293" b="9566"/>
          <a:stretch/>
        </p:blipFill>
        <p:spPr>
          <a:xfrm>
            <a:off x="5816450" y="12680"/>
            <a:ext cx="4851550" cy="341632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E31FEDB5-40AE-FE56-24EF-C46DCA4CE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429000"/>
            <a:ext cx="9144000" cy="341632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public class Welcome: Defines a public class named Welcome.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public static void main(String[]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): The main method is the entry point of the program.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("Welcome to Java!");: Prints the message "Welcome to Java!" to the console.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This simple program introduces you to the fundamental components of a Java program, such as classes, methods, and the standard output function. By running this program, you get a practical understanding of how Java code is structured and executed.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093D3F-6323-BBDC-6024-F17A2A7C3B4A}"/>
              </a:ext>
            </a:extLst>
          </p:cNvPr>
          <p:cNvSpPr txBox="1"/>
          <p:nvPr/>
        </p:nvSpPr>
        <p:spPr>
          <a:xfrm>
            <a:off x="1524000" y="12680"/>
            <a:ext cx="4292450" cy="341632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package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welcome_to_java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Welcome_to_Java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main(String[] </a:t>
            </a:r>
            <a:r>
              <a:rPr lang="en-US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Comment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b="1" i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.println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"Welcome to Java!"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9737886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1E88-6AD8-AED5-0FE5-B4144D5F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B9E20-41C6-6814-BA03-6B96A6B72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106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07CDF0-2119-791A-D88F-5D7D3FB36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416769"/>
            <a:ext cx="9144000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1. Click on "Create a new Java project":</a:t>
            </a:r>
            <a:endParaRPr lang="en-US" alt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This will open a new window where you can set up your project.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AE4D91-CE87-FC9C-9125-9640E7D139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-1264" b="7916"/>
          <a:stretch/>
        </p:blipFill>
        <p:spPr>
          <a:xfrm>
            <a:off x="1728952" y="2390442"/>
            <a:ext cx="8734097" cy="4467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21671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DC77D43-DA27-FB7B-C20A-06DF30B6F6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874" t="90" r="22874" b="7917"/>
          <a:stretch/>
        </p:blipFill>
        <p:spPr>
          <a:xfrm>
            <a:off x="5644054" y="2066083"/>
            <a:ext cx="5023946" cy="47919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561E88-6AD8-AED5-0FE5-B4144D5F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B9E20-41C6-6814-BA03-6B96A6B72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107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07CDF0-2119-791A-D88F-5D7D3FB36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264386"/>
            <a:ext cx="9144000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2. Set up the new project:</a:t>
            </a:r>
            <a:endParaRPr lang="en-US" alt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Enter a project name (e.g., </a:t>
            </a:r>
            <a:r>
              <a:rPr lang="en-US" altLang="en-US" sz="2500" dirty="0" err="1">
                <a:latin typeface="Calibri" panose="020F0502020204030204" pitchFamily="34" charset="0"/>
                <a:cs typeface="Calibri" panose="020F0502020204030204" pitchFamily="34" charset="0"/>
              </a:rPr>
              <a:t>UserInputOutputProject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Click Finish.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3A15FC-DCBA-C07D-23F0-4B39D1256108}"/>
              </a:ext>
            </a:extLst>
          </p:cNvPr>
          <p:cNvSpPr/>
          <p:nvPr/>
        </p:nvSpPr>
        <p:spPr>
          <a:xfrm>
            <a:off x="9207062" y="6633580"/>
            <a:ext cx="735724" cy="215462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258E418-22E0-CBCA-CF14-D6388C3955E9}"/>
              </a:ext>
            </a:extLst>
          </p:cNvPr>
          <p:cNvSpPr/>
          <p:nvPr/>
        </p:nvSpPr>
        <p:spPr>
          <a:xfrm>
            <a:off x="5707115" y="2764223"/>
            <a:ext cx="4834759" cy="215462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36853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06090E-3FC1-5EFA-01F1-4DE5944DD3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322" t="1316" r="25862" b="29003"/>
          <a:stretch/>
        </p:blipFill>
        <p:spPr>
          <a:xfrm>
            <a:off x="4876972" y="2102070"/>
            <a:ext cx="5791028" cy="47469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561E88-6AD8-AED5-0FE5-B4144D5F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957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B9E20-41C6-6814-BA03-6B96A6B72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108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07CDF0-2119-791A-D88F-5D7D3FB36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264386"/>
            <a:ext cx="9144000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2. Set up the new project:</a:t>
            </a:r>
            <a:endParaRPr lang="en-US" alt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Enter a project name (e.g., </a:t>
            </a:r>
            <a:r>
              <a:rPr lang="en-US" altLang="en-US" sz="2500" dirty="0" err="1">
                <a:latin typeface="Calibri" panose="020F0502020204030204" pitchFamily="34" charset="0"/>
                <a:cs typeface="Calibri" panose="020F0502020204030204" pitchFamily="34" charset="0"/>
              </a:rPr>
              <a:t>UserInputOutputProject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Click Finish.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3A15FC-DCBA-C07D-23F0-4B39D1256108}"/>
              </a:ext>
            </a:extLst>
          </p:cNvPr>
          <p:cNvSpPr/>
          <p:nvPr/>
        </p:nvSpPr>
        <p:spPr>
          <a:xfrm>
            <a:off x="8755117" y="6419671"/>
            <a:ext cx="956614" cy="215462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258E418-22E0-CBCA-CF14-D6388C3955E9}"/>
              </a:ext>
            </a:extLst>
          </p:cNvPr>
          <p:cNvSpPr/>
          <p:nvPr/>
        </p:nvSpPr>
        <p:spPr>
          <a:xfrm>
            <a:off x="4876973" y="2992032"/>
            <a:ext cx="4834759" cy="215462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520264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1E88-6AD8-AED5-0FE5-B4144D5F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B9E20-41C6-6814-BA03-6B96A6B72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109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07CDF0-2119-791A-D88F-5D7D3FB36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2980" y="1086884"/>
            <a:ext cx="642182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3. Create a new Java class:</a:t>
            </a:r>
            <a:endParaRPr lang="en-US" alt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File &gt;&gt; Open Projects from File Systems &gt;&gt; Directory &gt;&gt; Choose the Direct where the Project is Saved ‘e.g. C:\Users\gaming 15\eclipse-workspace\</a:t>
            </a:r>
            <a:r>
              <a:rPr lang="en-US" altLang="en-US" sz="2500" dirty="0" err="1">
                <a:latin typeface="Calibri" panose="020F0502020204030204" pitchFamily="34" charset="0"/>
                <a:cs typeface="Calibri" panose="020F0502020204030204" pitchFamily="34" charset="0"/>
              </a:rPr>
              <a:t>UserInputOutputProject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\</a:t>
            </a:r>
            <a:r>
              <a:rPr lang="en-US" altLang="en-US" sz="2500" dirty="0" err="1">
                <a:latin typeface="Calibri" panose="020F0502020204030204" pitchFamily="34" charset="0"/>
                <a:cs typeface="Calibri" panose="020F0502020204030204" pitchFamily="34" charset="0"/>
              </a:rPr>
              <a:t>src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’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Click on Select Folder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Select New &gt; Class.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0388A2-F998-8298-DEF8-5B0D4377C0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6207" b="46781"/>
          <a:stretch/>
        </p:blipFill>
        <p:spPr>
          <a:xfrm>
            <a:off x="8008884" y="1086884"/>
            <a:ext cx="2659117" cy="577111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C0FC55-9019-8FFD-D396-50FD33A382BA}"/>
              </a:ext>
            </a:extLst>
          </p:cNvPr>
          <p:cNvSpPr/>
          <p:nvPr/>
        </p:nvSpPr>
        <p:spPr>
          <a:xfrm>
            <a:off x="8135007" y="3142592"/>
            <a:ext cx="2448910" cy="22071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C8C3E3-4F51-91C7-432E-F956F74991C4}"/>
              </a:ext>
            </a:extLst>
          </p:cNvPr>
          <p:cNvSpPr/>
          <p:nvPr/>
        </p:nvSpPr>
        <p:spPr>
          <a:xfrm>
            <a:off x="8050926" y="1677102"/>
            <a:ext cx="441433" cy="22071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387062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1E88-6AD8-AED5-0FE5-B4144D5F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B9E20-41C6-6814-BA03-6B96A6B72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110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07CDF0-2119-791A-D88F-5D7D3FB36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2980" y="1264385"/>
            <a:ext cx="9165021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Enter a class name (e.g., </a:t>
            </a:r>
            <a:r>
              <a:rPr lang="en-US" altLang="en-US" sz="2500" dirty="0" err="1">
                <a:latin typeface="Calibri" panose="020F0502020204030204" pitchFamily="34" charset="0"/>
                <a:cs typeface="Calibri" panose="020F0502020204030204" pitchFamily="34" charset="0"/>
              </a:rPr>
              <a:t>UserInputOutput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Ensure the public static void main(String[] </a:t>
            </a:r>
            <a:r>
              <a:rPr lang="en-US" altLang="en-US" sz="2500" dirty="0" err="1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) option is checked.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Click Finish.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Click on Hide (Front Page)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E0DB94-28BF-9CFC-7ADC-C36CEBBEF2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00" r="30115" b="28595"/>
          <a:stretch/>
        </p:blipFill>
        <p:spPr>
          <a:xfrm>
            <a:off x="5948856" y="2105708"/>
            <a:ext cx="4719145" cy="475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9170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1E88-6AD8-AED5-0FE5-B4144D5F9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598979" cy="1264385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 User Input and Output Analysis in Java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B9E20-41C6-6814-BA03-6B96A6B729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829505-C404-A846-9CAA-62B13CEE92C3}" type="slidenum">
              <a:rPr lang="en-US" altLang="en-US" smtClean="0"/>
              <a:pPr>
                <a:defRPr/>
              </a:pPr>
              <a:t>111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07CDF0-2119-791A-D88F-5D7D3FB368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264385"/>
            <a:ext cx="9165021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4. Write your Java code:</a:t>
            </a:r>
            <a:endParaRPr 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Copy and paste the code into the newly created class: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BC6A3E-C526-2D84-4F67-ADB6966EAA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845"/>
          <a:stretch/>
        </p:blipFill>
        <p:spPr>
          <a:xfrm>
            <a:off x="1534510" y="2066554"/>
            <a:ext cx="9144000" cy="479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5018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CEDE56-7161-405E-1AC6-2D85B7206BF0}"/>
              </a:ext>
            </a:extLst>
          </p:cNvPr>
          <p:cNvSpPr txBox="1"/>
          <p:nvPr/>
        </p:nvSpPr>
        <p:spPr>
          <a:xfrm>
            <a:off x="1524001" y="1687354"/>
            <a:ext cx="900480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package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java.util.Scanner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main(String[]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Scanner object to read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Scanner(System.</a:t>
            </a:r>
            <a:r>
              <a:rPr lang="en-US" sz="2200" b="1" i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Prompt the user for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your name: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.nextLine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Process the input and produce output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u="sng" dirty="0" err="1">
                <a:solidFill>
                  <a:srgbClr val="0066C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.println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"Welcome,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"!"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Close the scanner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.close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D92B20-5416-8B09-932D-4A8D582A5D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1724" b="34521"/>
          <a:stretch/>
        </p:blipFill>
        <p:spPr>
          <a:xfrm>
            <a:off x="5895278" y="0"/>
            <a:ext cx="4783873" cy="22510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7C51AE-71D8-1566-49EE-773F3C02DE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60" t="16139" r="29635" b="31680"/>
          <a:stretch/>
        </p:blipFill>
        <p:spPr>
          <a:xfrm>
            <a:off x="1524000" y="1"/>
            <a:ext cx="4360127" cy="178419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64295243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CEDE56-7161-405E-1AC6-2D85B7206BF0}"/>
              </a:ext>
            </a:extLst>
          </p:cNvPr>
          <p:cNvSpPr txBox="1"/>
          <p:nvPr/>
        </p:nvSpPr>
        <p:spPr>
          <a:xfrm>
            <a:off x="1524000" y="0"/>
            <a:ext cx="9144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package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java.util.Scanner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main(String[]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Scanner object to read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Scanner(System.</a:t>
            </a:r>
            <a:r>
              <a:rPr lang="en-US" sz="2200" b="1" i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Prompt the user for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your name: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.nextLine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Process the input and produce output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u="sng" dirty="0" err="1">
                <a:solidFill>
                  <a:srgbClr val="0066C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.println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"Welcome,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"!"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Close the scanner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.close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1EF6-9503-E97D-BBE7-8B9F1EC1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411450"/>
            <a:ext cx="9144000" cy="1446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1. Import Statement: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java.util.Scanner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This line imports the Scanner class, which is used for reading input from the user.</a:t>
            </a:r>
          </a:p>
        </p:txBody>
      </p:sp>
    </p:spTree>
    <p:extLst>
      <p:ext uri="{BB962C8B-B14F-4D97-AF65-F5344CB8AC3E}">
        <p14:creationId xmlns:p14="http://schemas.microsoft.com/office/powerpoint/2010/main" val="134017122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CEDE56-7161-405E-1AC6-2D85B7206BF0}"/>
              </a:ext>
            </a:extLst>
          </p:cNvPr>
          <p:cNvSpPr txBox="1"/>
          <p:nvPr/>
        </p:nvSpPr>
        <p:spPr>
          <a:xfrm>
            <a:off x="1524000" y="0"/>
            <a:ext cx="9144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package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java.util.Scanner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main(String[]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Scanner object to read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Scanner(System.</a:t>
            </a:r>
            <a:r>
              <a:rPr lang="en-US" sz="2200" b="1" i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Prompt the user for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your name: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.nextLine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Process the input and produce output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u="sng" dirty="0" err="1">
                <a:solidFill>
                  <a:srgbClr val="0066C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.println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"Welcome,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"!"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Close the scanner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.close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1EF6-9503-E97D-BBE7-8B9F1EC1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580727"/>
            <a:ext cx="9144000" cy="110799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2. Class Declaration: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public class </a:t>
            </a: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UserInputOutput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{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This line declares a public class named </a:t>
            </a: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UserInputOutput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482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CEDE56-7161-405E-1AC6-2D85B7206BF0}"/>
              </a:ext>
            </a:extLst>
          </p:cNvPr>
          <p:cNvSpPr txBox="1"/>
          <p:nvPr/>
        </p:nvSpPr>
        <p:spPr>
          <a:xfrm>
            <a:off x="1524000" y="0"/>
            <a:ext cx="9144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package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java.util.Scanner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main(String[]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Scanner object to read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Scanner(System.</a:t>
            </a:r>
            <a:r>
              <a:rPr lang="en-US" sz="2200" b="1" i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Prompt the user for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your name: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.nextLine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Process the input and produce output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u="sng" dirty="0" err="1">
                <a:solidFill>
                  <a:srgbClr val="0066C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.println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"Welcome,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"!"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Close the scanner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.close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1EF6-9503-E97D-BBE7-8B9F1EC1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580726"/>
            <a:ext cx="9144000" cy="110799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3. Main Method: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public static void main(String[] </a:t>
            </a: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This is the entry point of the program where execution begins.</a:t>
            </a:r>
          </a:p>
        </p:txBody>
      </p:sp>
    </p:spTree>
    <p:extLst>
      <p:ext uri="{BB962C8B-B14F-4D97-AF65-F5344CB8AC3E}">
        <p14:creationId xmlns:p14="http://schemas.microsoft.com/office/powerpoint/2010/main" val="70302313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CEDE56-7161-405E-1AC6-2D85B7206BF0}"/>
              </a:ext>
            </a:extLst>
          </p:cNvPr>
          <p:cNvSpPr txBox="1"/>
          <p:nvPr/>
        </p:nvSpPr>
        <p:spPr>
          <a:xfrm>
            <a:off x="1524000" y="0"/>
            <a:ext cx="9144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package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java.util.Scanner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main(String[]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Scanner object to read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Scanner(System.</a:t>
            </a:r>
            <a:r>
              <a:rPr lang="en-US" sz="2200" b="1" i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Prompt the user for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your name: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.nextLine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Process the input and produce output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u="sng" dirty="0" err="1">
                <a:solidFill>
                  <a:srgbClr val="0066C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.println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"Welcome,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"!"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Close the scanner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.close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1EF6-9503-E97D-BBE7-8B9F1EC1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5411449"/>
            <a:ext cx="9144000" cy="14465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4. Scanner Object Creation: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Scanner </a:t>
            </a: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scanner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= new Scanner(System.in);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This line creates a Scanner object to read input from the standard input stream (keyboard).</a:t>
            </a:r>
          </a:p>
        </p:txBody>
      </p:sp>
    </p:spTree>
    <p:extLst>
      <p:ext uri="{BB962C8B-B14F-4D97-AF65-F5344CB8AC3E}">
        <p14:creationId xmlns:p14="http://schemas.microsoft.com/office/powerpoint/2010/main" val="201877552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CEDE56-7161-405E-1AC6-2D85B7206BF0}"/>
              </a:ext>
            </a:extLst>
          </p:cNvPr>
          <p:cNvSpPr txBox="1"/>
          <p:nvPr/>
        </p:nvSpPr>
        <p:spPr>
          <a:xfrm>
            <a:off x="1524000" y="0"/>
            <a:ext cx="9144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package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java.util.Scanner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main(String[]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Scanner object to read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Scanner(System.</a:t>
            </a:r>
            <a:r>
              <a:rPr lang="en-US" sz="2200" b="1" i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Prompt the user for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your name: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.nextLine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Process the input and produce output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u="sng" dirty="0" err="1">
                <a:solidFill>
                  <a:srgbClr val="0066C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.println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"Welcome,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"!"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Close the scanner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.close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1EF6-9503-E97D-BBE7-8B9F1EC1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562" y="4734342"/>
            <a:ext cx="8586439" cy="2123658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5. Prompting for Input: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System.out.print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("Enter your name: ");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This line prompts the user to enter their name.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6. Reading Input: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String name = </a:t>
            </a: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scanner.nextLine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This line reads the user's input and stores it in a variable named name.</a:t>
            </a:r>
          </a:p>
        </p:txBody>
      </p:sp>
    </p:spTree>
    <p:extLst>
      <p:ext uri="{BB962C8B-B14F-4D97-AF65-F5344CB8AC3E}">
        <p14:creationId xmlns:p14="http://schemas.microsoft.com/office/powerpoint/2010/main" val="106844814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5CEDE56-7161-405E-1AC6-2D85B7206BF0}"/>
              </a:ext>
            </a:extLst>
          </p:cNvPr>
          <p:cNvSpPr txBox="1"/>
          <p:nvPr/>
        </p:nvSpPr>
        <p:spPr>
          <a:xfrm>
            <a:off x="1524000" y="0"/>
            <a:ext cx="9144000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package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import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java.util.Scanner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UserInputOutput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main(String[]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{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Create a Scanner object to read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b="1" dirty="0">
                <a:solidFill>
                  <a:srgbClr val="7F005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Scanner(System.</a:t>
            </a:r>
            <a:r>
              <a:rPr lang="en-US" sz="2200" b="1" i="1" dirty="0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Prompt the user for input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dirty="0" err="1">
                <a:solidFill>
                  <a:srgbClr val="0000C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"Enter your name: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.nextLine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Process the input and produce output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System.</a:t>
            </a:r>
            <a:r>
              <a:rPr lang="en-US" sz="2200" b="1" i="1" u="sng" dirty="0" err="1">
                <a:solidFill>
                  <a:srgbClr val="0066CC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out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.println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"Welcome, 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name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+ </a:t>
            </a:r>
            <a:r>
              <a:rPr lang="en-US" sz="2200" dirty="0">
                <a:solidFill>
                  <a:srgbClr val="2A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"!"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2200" dirty="0">
                <a:solidFill>
                  <a:srgbClr val="3F7F5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Close the scanner</a:t>
            </a:r>
            <a:endParaRPr lang="en-US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sz="2200" dirty="0" err="1">
                <a:solidFill>
                  <a:srgbClr val="6A3E3E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scanner</a:t>
            </a:r>
            <a:r>
              <a:rPr lang="en-US" sz="22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.close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01EF6-9503-E97D-BBE7-8B9F1EC1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562" y="4734342"/>
            <a:ext cx="8586439" cy="2123658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7. Producing Output: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System.out.println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("Welcome, " + name + "!");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This line outputs a welcome message that includes the user's name.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8. Closing the Scanner:</a:t>
            </a:r>
            <a:endParaRPr lang="en-US" alt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scanner.close</a:t>
            </a: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This line closes the Scanner object to free up resources.</a:t>
            </a:r>
          </a:p>
        </p:txBody>
      </p:sp>
    </p:spTree>
    <p:extLst>
      <p:ext uri="{BB962C8B-B14F-4D97-AF65-F5344CB8AC3E}">
        <p14:creationId xmlns:p14="http://schemas.microsoft.com/office/powerpoint/2010/main" val="146403201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8251F0-128F-CA13-F54E-1A26D99EC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486984"/>
            <a:ext cx="7833363" cy="1246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5. Run your Java program:</a:t>
            </a:r>
            <a:endParaRPr lang="en-US" alt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Right-click on your Java file (e.g., UserInputOutput.java).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Select Run As &gt; Java Application.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3A049-16B7-1532-4E25-EF22C045B4CE}"/>
              </a:ext>
            </a:extLst>
          </p:cNvPr>
          <p:cNvSpPr txBox="1"/>
          <p:nvPr/>
        </p:nvSpPr>
        <p:spPr>
          <a:xfrm>
            <a:off x="1529944" y="1982476"/>
            <a:ext cx="9144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Calibri" panose="020F0502020204030204" pitchFamily="34" charset="0"/>
                <a:cs typeface="Calibri" panose="020F0502020204030204" pitchFamily="34" charset="0"/>
              </a:rPr>
              <a:t>This will execute your Java program, allowing you to enter your name and see the welcome message displayed in the console.</a:t>
            </a:r>
            <a:endParaRPr lang="en-AU" sz="2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5A3FF1-F997-463E-4D89-0ECCD4CF86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8171" b="26910"/>
          <a:stretch/>
        </p:blipFill>
        <p:spPr>
          <a:xfrm>
            <a:off x="1524000" y="3098646"/>
            <a:ext cx="7482468" cy="375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4260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8251F0-128F-CA13-F54E-1A26D99EC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0"/>
            <a:ext cx="3126177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Select and Click on OK</a:t>
            </a:r>
            <a:endParaRPr lang="en-US" alt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FDA8C-48B1-01A0-CD2E-D6CD54EEBF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0487" b="31247"/>
          <a:stretch/>
        </p:blipFill>
        <p:spPr>
          <a:xfrm>
            <a:off x="1819078" y="1348757"/>
            <a:ext cx="8553844" cy="416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1037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8251F0-128F-CA13-F54E-1A26D99EC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113685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US" alt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4C44D0-74F6-FB4E-3E4D-A7F8E244E6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65"/>
          <a:stretch/>
        </p:blipFill>
        <p:spPr>
          <a:xfrm>
            <a:off x="1524000" y="1036367"/>
            <a:ext cx="9144000" cy="478526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6D41D6-3843-C165-8BB7-511530749EC1}"/>
              </a:ext>
            </a:extLst>
          </p:cNvPr>
          <p:cNvSpPr/>
          <p:nvPr/>
        </p:nvSpPr>
        <p:spPr>
          <a:xfrm>
            <a:off x="3776546" y="4661207"/>
            <a:ext cx="6891454" cy="1059366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405463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FAA617-A0A6-8DB3-2E79-0A38188C0E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566"/>
          <a:stretch/>
        </p:blipFill>
        <p:spPr>
          <a:xfrm>
            <a:off x="1524000" y="1137427"/>
            <a:ext cx="9144000" cy="4651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78251F0-128F-CA13-F54E-1A26D99EC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0"/>
            <a:ext cx="113685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500" b="1" dirty="0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lang="en-US" altLang="en-US" sz="2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6D41D6-3843-C165-8BB7-511530749EC1}"/>
              </a:ext>
            </a:extLst>
          </p:cNvPr>
          <p:cNvSpPr/>
          <p:nvPr/>
        </p:nvSpPr>
        <p:spPr>
          <a:xfrm>
            <a:off x="3776546" y="4672355"/>
            <a:ext cx="6891454" cy="1059366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757928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9CC5-0445-BB57-62DA-6D97F6CD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A8CF794D-73F8-6682-561E-6030DA1D9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9C488E-A26C-72AF-261D-CEB601A56FDE}"/>
              </a:ext>
            </a:extLst>
          </p:cNvPr>
          <p:cNvSpPr txBox="1"/>
          <p:nvPr/>
        </p:nvSpPr>
        <p:spPr>
          <a:xfrm>
            <a:off x="0" y="630621"/>
            <a:ext cx="11899888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Step 1: Install Python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For Windows 11: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Go to the official site: </a:t>
            </a:r>
            <a:r>
              <a:rPr lang="en-US" altLang="en-US" sz="2800" dirty="0">
                <a:latin typeface="Calibir"/>
                <a:hlinkClick r:id="rId2"/>
              </a:rPr>
              <a:t>https://www.python.org/downloads/</a:t>
            </a:r>
            <a:endParaRPr lang="en-US" altLang="en-US" sz="2800" dirty="0">
              <a:latin typeface="Calibir"/>
            </a:endParaRP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Download the latest Python 3.x Windows Installer.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Important: During installation, check the box that says Add Python 3.x to PATH before clicking Install Now.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After installation, open Command Prompt (</a:t>
            </a:r>
            <a:r>
              <a:rPr lang="en-US" altLang="en-US" sz="2800" dirty="0" err="1">
                <a:latin typeface="Calibir"/>
              </a:rPr>
              <a:t>cmd</a:t>
            </a:r>
            <a:r>
              <a:rPr lang="en-US" altLang="en-US" sz="2800" dirty="0">
                <a:latin typeface="Calibir"/>
              </a:rPr>
              <a:t>) and type: </a:t>
            </a:r>
            <a:r>
              <a:rPr lang="en-US" altLang="en-US" sz="2800" dirty="0">
                <a:highlight>
                  <a:srgbClr val="FFFF00"/>
                </a:highlight>
                <a:latin typeface="Calibir"/>
              </a:rPr>
              <a:t>python --version</a:t>
            </a:r>
            <a:endParaRPr lang="en-US" altLang="en-US" sz="2800" dirty="0">
              <a:latin typeface="Calibir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D09C10-D2F1-4471-C241-7EF9339B8D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63333"/>
          <a:stretch>
            <a:fillRect/>
          </a:stretch>
        </p:blipFill>
        <p:spPr>
          <a:xfrm>
            <a:off x="92365" y="5311901"/>
            <a:ext cx="6650181" cy="137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A03029-3EE0-98FE-9C64-4D8F888D358A}"/>
              </a:ext>
            </a:extLst>
          </p:cNvPr>
          <p:cNvSpPr txBox="1"/>
          <p:nvPr/>
        </p:nvSpPr>
        <p:spPr>
          <a:xfrm>
            <a:off x="6742546" y="5311901"/>
            <a:ext cx="5357089" cy="1563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You should see the Python version printed. This confirms it's correctly installed and added to PATH.</a:t>
            </a:r>
            <a:endParaRPr lang="en-AU" sz="2200" dirty="0">
              <a:latin typeface="Calibir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F2FA2F1-9D99-B434-0ABE-323B5D1C7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50311628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AB24A-2DBB-7EDB-9284-FE44D3A52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58B916C2-D8A4-149C-C3D7-5F1320C35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83690-4886-EBD5-F728-A4E248B75FE5}"/>
              </a:ext>
            </a:extLst>
          </p:cNvPr>
          <p:cNvSpPr txBox="1"/>
          <p:nvPr/>
        </p:nvSpPr>
        <p:spPr>
          <a:xfrm>
            <a:off x="0" y="630621"/>
            <a:ext cx="1189988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For macOS: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Download the macOS installer from </a:t>
            </a:r>
            <a:r>
              <a:rPr lang="en-US" sz="2800" dirty="0">
                <a:latin typeface="Calibir"/>
                <a:hlinkClick r:id="rId2"/>
              </a:rPr>
              <a:t>https://www.python.org/downloads/mac-osx/</a:t>
            </a:r>
            <a:endParaRPr lang="en-US" sz="2800" dirty="0">
              <a:latin typeface="Calibir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Follow the installer instructions.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To verify, open Terminal and run: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293FE-625B-AFB9-EB13-FD65D6269CB8}"/>
              </a:ext>
            </a:extLst>
          </p:cNvPr>
          <p:cNvSpPr txBox="1"/>
          <p:nvPr/>
        </p:nvSpPr>
        <p:spPr>
          <a:xfrm>
            <a:off x="0" y="3769989"/>
            <a:ext cx="5357089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python3 --version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CBE28-B7B7-9F94-185F-D69773611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441840"/>
            <a:ext cx="7824643" cy="671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(On Mac, we often use python3 instead of python.)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E0470D-64E1-A0FD-CD0D-B527306EA470}"/>
              </a:ext>
            </a:extLst>
          </p:cNvPr>
          <p:cNvSpPr txBox="1"/>
          <p:nvPr/>
        </p:nvSpPr>
        <p:spPr>
          <a:xfrm>
            <a:off x="4604" y="5311901"/>
            <a:ext cx="61590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latin typeface="Calibir"/>
              </a:rPr>
              <a:t>To update:</a:t>
            </a:r>
          </a:p>
          <a:p>
            <a:r>
              <a:rPr lang="en-AU" sz="2800" dirty="0">
                <a:highlight>
                  <a:srgbClr val="FFFF00"/>
                </a:highlight>
                <a:latin typeface="Calibir"/>
              </a:rPr>
              <a:t>python -m pip install --upgrade pip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9C42264-2D4C-5B1D-2750-8C5B8DD08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27346988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B94C5-EA40-6D02-3166-AD0B1D9B9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CF21985-B8A3-387E-192E-559C83E37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87E93C-15CD-0A08-6C1A-3B2EFABE9252}"/>
              </a:ext>
            </a:extLst>
          </p:cNvPr>
          <p:cNvSpPr txBox="1"/>
          <p:nvPr/>
        </p:nvSpPr>
        <p:spPr>
          <a:xfrm>
            <a:off x="0" y="630621"/>
            <a:ext cx="1189988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2: Install VS Code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Download VS Code: </a:t>
            </a:r>
            <a:r>
              <a:rPr lang="en-US" sz="2800" dirty="0">
                <a:latin typeface="Calibir"/>
                <a:hlinkClick r:id="rId2"/>
              </a:rPr>
              <a:t>https://code.visualstudio.com/</a:t>
            </a:r>
            <a:r>
              <a:rPr lang="en-US" sz="2800" dirty="0">
                <a:latin typeface="Calibir"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Install it like any other application.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Open VS Code.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3D2881-4729-5CAA-FEF5-183ECEFB77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287"/>
          <a:stretch>
            <a:fillRect/>
          </a:stretch>
        </p:blipFill>
        <p:spPr>
          <a:xfrm>
            <a:off x="3668109" y="2601910"/>
            <a:ext cx="7893269" cy="420520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E7B3D53-8492-028B-B711-A0E36EC12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10341002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03B16-329D-1F62-4B08-451694D98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6AC8891-9C9B-15B4-AB14-07910C5A5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865BCE-3684-F62D-F71A-9C8074BD5C5D}"/>
              </a:ext>
            </a:extLst>
          </p:cNvPr>
          <p:cNvSpPr txBox="1"/>
          <p:nvPr/>
        </p:nvSpPr>
        <p:spPr>
          <a:xfrm>
            <a:off x="4604" y="735725"/>
            <a:ext cx="11899888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Search and Install: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Search: Python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Install the Python extension by Microsoft (most important!).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(Optional but helpful) Install: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>
                <a:latin typeface="Calibir"/>
              </a:rPr>
              <a:t>Jupyter</a:t>
            </a:r>
            <a:r>
              <a:rPr lang="en-US" altLang="en-US" sz="2800" dirty="0">
                <a:latin typeface="Calibir"/>
              </a:rPr>
              <a:t> (for .</a:t>
            </a:r>
            <a:r>
              <a:rPr lang="en-US" altLang="en-US" sz="2800" dirty="0" err="1">
                <a:latin typeface="Calibir"/>
              </a:rPr>
              <a:t>ipynb</a:t>
            </a:r>
            <a:r>
              <a:rPr lang="en-US" altLang="en-US" sz="2800" dirty="0">
                <a:latin typeface="Calibir"/>
              </a:rPr>
              <a:t> interactive notebook support)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>
                <a:latin typeface="Calibir"/>
              </a:rPr>
              <a:t>Pylance</a:t>
            </a:r>
            <a:r>
              <a:rPr lang="en-US" altLang="en-US" sz="2800" dirty="0">
                <a:latin typeface="Calibir"/>
              </a:rPr>
              <a:t> (for IntelliSense)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Code Runner (if students want simpler one-click run for .</a:t>
            </a:r>
            <a:r>
              <a:rPr lang="en-US" altLang="en-US" sz="2800" dirty="0" err="1">
                <a:latin typeface="Calibir"/>
              </a:rPr>
              <a:t>py</a:t>
            </a:r>
            <a:r>
              <a:rPr lang="en-US" altLang="en-US" sz="2800" dirty="0">
                <a:latin typeface="Calibir"/>
              </a:rPr>
              <a:t> files)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EB7DD35-4057-32DC-5B85-0E66C8877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07736028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45D92-B545-A236-12AD-CCD39DCBD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7870F5D8-6B10-DC5B-2419-1A8D45E48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FDFCC8-ACA6-CA19-0F3B-58F009F5216E}"/>
              </a:ext>
            </a:extLst>
          </p:cNvPr>
          <p:cNvSpPr txBox="1"/>
          <p:nvPr/>
        </p:nvSpPr>
        <p:spPr>
          <a:xfrm>
            <a:off x="4604" y="735725"/>
            <a:ext cx="11899888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Step 4: Enable the Run Button (play) with Interactive Window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Open a .</a:t>
            </a:r>
            <a:r>
              <a:rPr lang="en-US" altLang="en-US" sz="2800" dirty="0" err="1">
                <a:latin typeface="Calibir"/>
              </a:rPr>
              <a:t>py</a:t>
            </a:r>
            <a:r>
              <a:rPr lang="en-US" altLang="en-US" sz="2800" dirty="0">
                <a:latin typeface="Calibir"/>
              </a:rPr>
              <a:t> file or create a new file and save it as yourfile.py.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After the Python extension is installed, VS Code will show a play Run button in the top right.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Click the dropdown arrow next to the play and choose: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"Run Current File in Interactive Window".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If you are using a .</a:t>
            </a:r>
            <a:r>
              <a:rPr lang="en-US" altLang="en-US" sz="2800" dirty="0" err="1">
                <a:latin typeface="Calibir"/>
              </a:rPr>
              <a:t>ipynb</a:t>
            </a:r>
            <a:r>
              <a:rPr lang="en-US" altLang="en-US" sz="2800" dirty="0">
                <a:latin typeface="Calibir"/>
              </a:rPr>
              <a:t> (</a:t>
            </a:r>
            <a:r>
              <a:rPr lang="en-US" altLang="en-US" sz="2800" dirty="0" err="1">
                <a:latin typeface="Calibir"/>
              </a:rPr>
              <a:t>Jupyter</a:t>
            </a:r>
            <a:r>
              <a:rPr lang="en-US" altLang="en-US" sz="2800" dirty="0">
                <a:latin typeface="Calibir"/>
              </a:rPr>
              <a:t> Notebook) file, it will automatically show “Run Cell” and work interactively once the </a:t>
            </a:r>
            <a:r>
              <a:rPr lang="en-US" altLang="en-US" sz="2800" dirty="0" err="1">
                <a:latin typeface="Calibir"/>
              </a:rPr>
              <a:t>Jupyter</a:t>
            </a:r>
            <a:r>
              <a:rPr lang="en-US" altLang="en-US" sz="2800" dirty="0">
                <a:latin typeface="Calibir"/>
              </a:rPr>
              <a:t> extension is installed.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3D4B92F-8A47-5916-B671-D2EBC5D164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63257483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199A5-028C-83AD-FE14-0A5E71E4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40BC0C3-B6FC-C0D6-B130-D91F602820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F0B119-DC1A-76E1-B7BA-603A6D0A1B44}"/>
              </a:ext>
            </a:extLst>
          </p:cNvPr>
          <p:cNvSpPr txBox="1"/>
          <p:nvPr/>
        </p:nvSpPr>
        <p:spPr>
          <a:xfrm>
            <a:off x="4604" y="735725"/>
            <a:ext cx="11899888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Step 5: Select Python Interpreter (If Not Detected)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Press </a:t>
            </a:r>
            <a:r>
              <a:rPr lang="en-US" altLang="en-US" sz="2800" dirty="0" err="1">
                <a:latin typeface="Calibir"/>
              </a:rPr>
              <a:t>Ctrl+Shift+P</a:t>
            </a:r>
            <a:r>
              <a:rPr lang="en-US" altLang="en-US" sz="2800" dirty="0">
                <a:latin typeface="Calibir"/>
              </a:rPr>
              <a:t> (or </a:t>
            </a:r>
            <a:r>
              <a:rPr lang="en-US" altLang="en-US" sz="2800" dirty="0" err="1">
                <a:latin typeface="Calibir"/>
              </a:rPr>
              <a:t>Cmd+Shift+P</a:t>
            </a:r>
            <a:r>
              <a:rPr lang="en-US" altLang="en-US" sz="2800" dirty="0">
                <a:latin typeface="Calibir"/>
              </a:rPr>
              <a:t> on Mac) to open the command palette.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Type: Python: Select Interpreter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Choose the one that shows your installed Python path (e.g., Python 3.x with correct version).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B7B56AE-6BB9-D170-16C3-5A8A58C5A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25038807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083A-4A2C-0542-1947-D5366F62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2EAF6847-99E1-B5B8-DAF6-00D9C573F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54CAC-A9BF-EEAC-C933-AF2188B3D647}"/>
              </a:ext>
            </a:extLst>
          </p:cNvPr>
          <p:cNvSpPr txBox="1"/>
          <p:nvPr/>
        </p:nvSpPr>
        <p:spPr>
          <a:xfrm>
            <a:off x="4604" y="735725"/>
            <a:ext cx="11899888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Troubleshooting Common Issues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Run Button Not Appearing?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Make sure: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Python extension is installed.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File is saved with .</a:t>
            </a:r>
            <a:r>
              <a:rPr lang="en-US" altLang="en-US" sz="2800" dirty="0" err="1">
                <a:latin typeface="Calibir"/>
              </a:rPr>
              <a:t>py</a:t>
            </a:r>
            <a:r>
              <a:rPr lang="en-US" altLang="en-US" sz="2800" dirty="0">
                <a:latin typeface="Calibir"/>
              </a:rPr>
              <a:t> or .</a:t>
            </a:r>
            <a:r>
              <a:rPr lang="en-US" altLang="en-US" sz="2800" dirty="0" err="1">
                <a:latin typeface="Calibir"/>
              </a:rPr>
              <a:t>ipynb</a:t>
            </a:r>
            <a:r>
              <a:rPr lang="en-US" altLang="en-US" sz="2800" dirty="0">
                <a:latin typeface="Calibir"/>
              </a:rPr>
              <a:t> extension.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Python interpreter is selected in bottom-left/status bar.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Getting “Python not found”?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On Windows, make sure Add to PATH was checked during installation.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On macOS, use python3 instead of python.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102221C-B462-B00B-8E6A-F82C80B67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70364799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B424B-F89F-5383-8C72-99C271AE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D77A0680-ADB8-7794-436A-D2118BED1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CE1F618-B0BE-52D1-7AE1-57DA57FBF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10364"/>
              </p:ext>
            </p:extLst>
          </p:nvPr>
        </p:nvGraphicFramePr>
        <p:xfrm>
          <a:off x="669106" y="1658171"/>
          <a:ext cx="10515600" cy="48158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907252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890385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032762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397494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Windows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Mac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577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Install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[ Add to PATH]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[Use python3]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4114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Install VS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800" dirty="0">
                          <a:latin typeface="Calibir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Wingdings" panose="05000000000000000000" pitchFamily="2" charset="2"/>
                        <a:buChar char="ü"/>
                      </a:pPr>
                      <a:r>
                        <a:rPr lang="en-US" sz="2800" dirty="0">
                          <a:latin typeface="Calibir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1026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Install Extensions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Python, Jupyter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483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Configure Interpreter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Ctrl+Shift+P → Select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340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Run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Play → Interactive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Play works the same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613985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D9B2505A-07DB-5B32-F31E-6947B3A6BD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9779" y="566677"/>
            <a:ext cx="30179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Summary Checklist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424E278-9A59-60B1-AC61-3561814E0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08106013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B4640-2215-ADB5-3AED-F7F32EDD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3CF81CEB-AD54-0FDD-4CA6-9A11BFEF4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3F87320-D04E-80B0-D0EF-5D8A615E7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4264"/>
            <a:ext cx="12192000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Sometimes, students may see an error like: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"Cannot run cells, </a:t>
            </a:r>
            <a:r>
              <a:rPr lang="en-US" altLang="en-US" sz="2800" dirty="0" err="1">
                <a:latin typeface="Calibir"/>
              </a:rPr>
              <a:t>ipykernel</a:t>
            </a:r>
            <a:r>
              <a:rPr lang="en-US" altLang="en-US" sz="2800" dirty="0">
                <a:latin typeface="Calibir"/>
              </a:rPr>
              <a:t> is not installed."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or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"Kernel 'Python 3' cannot be started using the selected interpreter."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This happens if: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They installed Python but haven't installed any packages (especially in a new/clean environment).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They’re using a virtual environment that doesn’t have </a:t>
            </a:r>
            <a:r>
              <a:rPr lang="en-US" altLang="en-US" sz="2800" dirty="0" err="1">
                <a:latin typeface="Calibir"/>
              </a:rPr>
              <a:t>ipykernel</a:t>
            </a:r>
            <a:r>
              <a:rPr lang="en-US" altLang="en-US" sz="2800" dirty="0">
                <a:latin typeface="Calibir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04594E-544F-1C95-9AFC-16CF0DF47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34107004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3AFB0-E38C-D382-C38E-54035C282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487C91AD-C5CF-0406-B1FE-415710637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C9FCDF1-1ADD-1422-C16F-9CC1D50C0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10091"/>
            <a:ext cx="12192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To fix it (if needed), they can run: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On Windows (Command Prompt):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pip install </a:t>
            </a:r>
            <a:r>
              <a:rPr lang="en-US" altLang="en-US" sz="2800" dirty="0" err="1">
                <a:latin typeface="Calibir"/>
              </a:rPr>
              <a:t>ipykernel</a:t>
            </a:r>
            <a:endParaRPr lang="en-US" altLang="en-US" sz="2800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9722C0-813A-0288-4683-92383CCBE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088594401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2667E-C51C-3E72-6182-4A0CAE000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A3662096-747A-2B0D-CD39-310558D2E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B526E02-2ED2-4A82-1587-B425ED845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33257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On macOS (Terminal):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pip3 install </a:t>
            </a:r>
            <a:r>
              <a:rPr lang="en-US" altLang="en-US" sz="2800" dirty="0" err="1">
                <a:latin typeface="Calibir"/>
              </a:rPr>
              <a:t>ipykernel</a:t>
            </a:r>
            <a:endParaRPr lang="en-US" altLang="en-US" sz="2800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EF931A-6D54-FB65-1825-AD2FA0881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71846155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3D1DC-1EB5-F199-63B6-B3BD17E17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87AB3E68-CAEC-E175-C5CC-08BE4DE71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8163" y="1968227"/>
            <a:ext cx="125972" cy="3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818" b="1">
              <a:latin typeface="+mj-lt"/>
            </a:endParaRPr>
          </a:p>
          <a:p>
            <a:pPr defTabSz="623438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27">
              <a:latin typeface="+mj-l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E723A0-E592-B27B-2C6A-DA0521FDE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33256"/>
            <a:ext cx="12192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Or from inside VS Code's terminal (Ctrl + ~), run: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Calibir"/>
              </a:rPr>
              <a:t>python -m pip install </a:t>
            </a:r>
            <a:r>
              <a:rPr lang="en-US" altLang="en-US" sz="2800" dirty="0" err="1">
                <a:latin typeface="Calibir"/>
              </a:rPr>
              <a:t>ipykernel</a:t>
            </a:r>
            <a:endParaRPr lang="en-US" altLang="en-US" sz="2800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62BB29-0846-719E-9570-48287FBE5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974538" cy="642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2345" tIns="31173" rIns="62345" bIns="31173" numCol="1" anchor="ctr" anchorCtr="0" compatLnSpc="1">
            <a:prstTxWarp prst="textNoShape">
              <a:avLst/>
            </a:prstTxWarp>
            <a:spAutoFit/>
          </a:bodyPr>
          <a:lstStyle/>
          <a:p>
            <a:pPr defTabSz="623438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If you choose VS Code (Python)</a:t>
            </a:r>
            <a:endParaRPr lang="en-US" alt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71501773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5938A-EC20-EF4F-12B9-9122BEEDF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AF4E9-42A0-E3C8-DF43-5712E7256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How to Succeed in the Unit</a:t>
            </a:r>
            <a:endParaRPr lang="en-AU" sz="4000" b="1" dirty="0">
              <a:latin typeface="Calibir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6354748-CC7E-508C-3DDD-5D674D027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96" y="1800413"/>
            <a:ext cx="12026407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Pro Tips: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Pick one language (Java or Python) and stick with it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UML tools to map your ideas before coding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Git for version control from the start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Reach out if you’re stuck — don’t wait until it’s too late!</a:t>
            </a:r>
          </a:p>
        </p:txBody>
      </p:sp>
    </p:spTree>
    <p:extLst>
      <p:ext uri="{BB962C8B-B14F-4D97-AF65-F5344CB8AC3E}">
        <p14:creationId xmlns:p14="http://schemas.microsoft.com/office/powerpoint/2010/main" val="79030127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0F071-1074-3212-B986-D8C1A2A03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ED124-681A-4E0E-FD32-262DE15D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UML Diagrams</a:t>
            </a:r>
            <a:endParaRPr lang="en-AU" sz="4000" b="1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0AD735-8559-4A63-6552-C7FB4C7BC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34527"/>
            <a:ext cx="11987641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Draw.io is Suitable: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Free and browser-based — no installation needed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Supports all standard UML diagram types: use case, activity, class, sequence, etc.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Can save files to local storage or Google Drive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Easy to export as .</a:t>
            </a:r>
            <a:r>
              <a:rPr lang="en-US" sz="2800" dirty="0" err="1">
                <a:latin typeface="Calibir"/>
              </a:rPr>
              <a:t>png</a:t>
            </a:r>
            <a:r>
              <a:rPr lang="en-US" sz="2800" dirty="0">
                <a:latin typeface="Calibir"/>
              </a:rPr>
              <a:t>, .pdf, or .</a:t>
            </a:r>
            <a:r>
              <a:rPr lang="en-US" sz="2800" dirty="0" err="1">
                <a:latin typeface="Calibir"/>
              </a:rPr>
              <a:t>drawio</a:t>
            </a:r>
            <a:r>
              <a:rPr lang="en-US" sz="2800" dirty="0">
                <a:latin typeface="Calibir"/>
              </a:rPr>
              <a:t> files for submission</a:t>
            </a:r>
          </a:p>
        </p:txBody>
      </p:sp>
    </p:spTree>
    <p:extLst>
      <p:ext uri="{BB962C8B-B14F-4D97-AF65-F5344CB8AC3E}">
        <p14:creationId xmlns:p14="http://schemas.microsoft.com/office/powerpoint/2010/main" val="99412265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BCBF2-441A-5CB0-8ACA-2C2FF1041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033A1-C407-7502-6C4A-99B639AF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58369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UML Diagrams</a:t>
            </a:r>
            <a:endParaRPr lang="en-AU" sz="4000" b="1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23B577-8107-9857-DEC4-9F19269E5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31" y="2123578"/>
            <a:ext cx="12192000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UML Tool Recommendation: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You can use </a:t>
            </a:r>
            <a:r>
              <a:rPr lang="en-US" altLang="en-US" sz="2800" dirty="0">
                <a:latin typeface="Calibir"/>
                <a:hlinkClick r:id="rId2"/>
              </a:rPr>
              <a:t>Draw.io (diagrams.net)</a:t>
            </a:r>
            <a:r>
              <a:rPr lang="en-US" altLang="en-US" sz="2800" dirty="0">
                <a:latin typeface="Calibir"/>
              </a:rPr>
              <a:t> to create UML diagrams like Use Case, Activity, or Class Diagrams. Export your diagrams as .</a:t>
            </a:r>
            <a:r>
              <a:rPr lang="en-US" altLang="en-US" sz="2800" dirty="0" err="1">
                <a:latin typeface="Calibir"/>
              </a:rPr>
              <a:t>png</a:t>
            </a:r>
            <a:r>
              <a:rPr lang="en-US" altLang="en-US" sz="2800" dirty="0">
                <a:latin typeface="Calibir"/>
              </a:rPr>
              <a:t> or .</a:t>
            </a:r>
            <a:r>
              <a:rPr lang="en-US" altLang="en-US" sz="2800" dirty="0" err="1">
                <a:latin typeface="Calibir"/>
              </a:rPr>
              <a:t>drawio</a:t>
            </a:r>
            <a:r>
              <a:rPr lang="en-US" altLang="en-US" sz="2800" dirty="0">
                <a:latin typeface="Calibir"/>
              </a:rPr>
              <a:t> and upload with your lab submission. </a:t>
            </a:r>
          </a:p>
        </p:txBody>
      </p:sp>
    </p:spTree>
    <p:extLst>
      <p:ext uri="{BB962C8B-B14F-4D97-AF65-F5344CB8AC3E}">
        <p14:creationId xmlns:p14="http://schemas.microsoft.com/office/powerpoint/2010/main" val="71882316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38380"/>
          </a:xfrm>
        </p:spPr>
        <p:txBody>
          <a:bodyPr anchor="b">
            <a:normAutofit fontScale="90000"/>
          </a:bodyPr>
          <a:lstStyle/>
          <a:p>
            <a:r>
              <a:rPr lang="en-US" sz="4000" dirty="0">
                <a:latin typeface="Calibir"/>
              </a:rPr>
              <a:t>Recommended Software Configuration Management (SCM): Git &amp; Git Bash</a:t>
            </a:r>
            <a:endParaRPr lang="en-AU" sz="4000" b="1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FC1A8C-D064-CC28-D14C-1486BE507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31" y="2123578"/>
            <a:ext cx="12007269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Why Use Git?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Git is a fast, distributed version control system ideal for tracking code changes and collaborating with others.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It's widely used in industry (e.g., GitHub, GitLab, Bitbucket).</a:t>
            </a:r>
          </a:p>
        </p:txBody>
      </p:sp>
    </p:spTree>
    <p:extLst>
      <p:ext uri="{BB962C8B-B14F-4D97-AF65-F5344CB8AC3E}">
        <p14:creationId xmlns:p14="http://schemas.microsoft.com/office/powerpoint/2010/main" val="1755792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A5EB-2D46-07AC-5A46-300754515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6E98B-778C-EFDC-08E2-9CC0A80D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38380"/>
          </a:xfrm>
        </p:spPr>
        <p:txBody>
          <a:bodyPr anchor="b">
            <a:normAutofit fontScale="90000"/>
          </a:bodyPr>
          <a:lstStyle/>
          <a:p>
            <a:r>
              <a:rPr lang="en-US" sz="4000">
                <a:latin typeface="Calibir"/>
              </a:rPr>
              <a:t>Recommended Software Configuration Management (SCM): Git &amp; Git Bash</a:t>
            </a:r>
            <a:endParaRPr lang="en-AU" sz="4000" b="1" dirty="0">
              <a:latin typeface="Calibir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BBC12E-592A-0C4E-B5D8-A0F88AFFE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5" y="1130769"/>
            <a:ext cx="12007269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Recommended Tools: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Git Bash</a:t>
            </a:r>
            <a:r>
              <a:rPr lang="en-US" sz="2800" dirty="0">
                <a:latin typeface="Calibir"/>
              </a:rPr>
              <a:t> (Windows): A command-line interface that provides Unix-style commands to use Git on Windows easily.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Git for Windows</a:t>
            </a:r>
            <a:r>
              <a:rPr lang="en-US" sz="2800" dirty="0">
                <a:latin typeface="Calibir"/>
              </a:rPr>
              <a:t> (latest: v2.50.1, released 8 July 2025):</a:t>
            </a:r>
          </a:p>
          <a:p>
            <a:pPr marL="90328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	</a:t>
            </a:r>
            <a:r>
              <a:rPr lang="en-US" sz="2800" dirty="0">
                <a:latin typeface="Calibir"/>
                <a:hlinkClick r:id="rId2"/>
              </a:rPr>
              <a:t>Downloads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  <a:hlinkClick r:id="rId3"/>
              </a:rPr>
              <a:t>Download Git for Windows (x64)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Install using terminal (if Winget is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available):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2178F-41AB-F9D8-F3A0-BB7C734A97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658" b="6494"/>
          <a:stretch>
            <a:fillRect/>
          </a:stretch>
        </p:blipFill>
        <p:spPr>
          <a:xfrm>
            <a:off x="5937662" y="3728852"/>
            <a:ext cx="6254338" cy="29850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8AA421-AA8D-AF6F-5DA7-DD6552C76BBD}"/>
              </a:ext>
            </a:extLst>
          </p:cNvPr>
          <p:cNvSpPr txBox="1"/>
          <p:nvPr/>
        </p:nvSpPr>
        <p:spPr>
          <a:xfrm>
            <a:off x="961901" y="6419323"/>
            <a:ext cx="49757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 err="1">
                <a:latin typeface="Calibir"/>
              </a:rPr>
              <a:t>winget</a:t>
            </a:r>
            <a:r>
              <a:rPr lang="en-AU" dirty="0">
                <a:latin typeface="Calibir"/>
              </a:rPr>
              <a:t> install --id </a:t>
            </a:r>
            <a:r>
              <a:rPr lang="en-AU" dirty="0" err="1">
                <a:latin typeface="Calibir"/>
              </a:rPr>
              <a:t>Git.Git</a:t>
            </a:r>
            <a:r>
              <a:rPr lang="en-AU" dirty="0">
                <a:latin typeface="Calibir"/>
              </a:rPr>
              <a:t> -e --source </a:t>
            </a:r>
            <a:r>
              <a:rPr lang="en-AU" dirty="0" err="1">
                <a:latin typeface="Calibir"/>
              </a:rPr>
              <a:t>winget</a:t>
            </a:r>
            <a:endParaRPr lang="en-AU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336738599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645C1-E576-8F2F-CE1D-9E81255C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EB967-5B29-095B-DBBF-BC296D59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4382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Modern Software Development Tools (2026–2028)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4075A1-8CC8-9BA4-D66D-D014499D20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719929"/>
              </p:ext>
            </p:extLst>
          </p:nvPr>
        </p:nvGraphicFramePr>
        <p:xfrm>
          <a:off x="147145" y="1634157"/>
          <a:ext cx="11897710" cy="522384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771441">
                  <a:extLst>
                    <a:ext uri="{9D8B030D-6E8A-4147-A177-3AD203B41FA5}">
                      <a16:colId xmlns:a16="http://schemas.microsoft.com/office/drawing/2014/main" val="566925498"/>
                    </a:ext>
                  </a:extLst>
                </a:gridCol>
                <a:gridCol w="8126269">
                  <a:extLst>
                    <a:ext uri="{9D8B030D-6E8A-4147-A177-3AD203B41FA5}">
                      <a16:colId xmlns:a16="http://schemas.microsoft.com/office/drawing/2014/main" val="2161598672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Category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Common Tools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998324680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Programming Languages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Java, Python, JavaScript, TypeScript, C#, Go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055997721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IDEs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VS Code, IntelliJ IDEA, Eclipse, PyCharm, Visual Studio</a:t>
                      </a:r>
                      <a:endParaRPr lang="en-US" sz="2200" dirty="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36027612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Version Control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Git, GitHub, GitHub Desktop, GitLab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81285609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Project Management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Jira, Confluence, Azure DevOps, Trello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87239967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UML &amp; Design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diagrams.net (Draw.io), Lucidchart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78226097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Databases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MySQL, PostgreSQL, SQL Server, MongoDB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08248652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Cloud Platforms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Microsoft Azure, AWS, Google Cloud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27114508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Containers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Docker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14577200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Testing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JUnit, PyTest, Selenium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65173709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CI/CD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/>
                        <a:t>GitHub Actions, Azure DevOps, Jenkins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84709853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/>
                        <a:t>Communication</a:t>
                      </a:r>
                      <a:endParaRPr lang="en-US" sz="220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/>
                        <a:t>Microsoft Teams, Slack</a:t>
                      </a:r>
                      <a:endParaRPr lang="en-US" sz="2200" dirty="0">
                        <a:latin typeface="Calibir"/>
                      </a:endParaRP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3640379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CDE5BC0-FDC1-4D11-9932-8788684BC0C1}"/>
              </a:ext>
            </a:extLst>
          </p:cNvPr>
          <p:cNvSpPr txBox="1"/>
          <p:nvPr/>
        </p:nvSpPr>
        <p:spPr>
          <a:xfrm>
            <a:off x="0" y="1012980"/>
            <a:ext cx="10146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alibir"/>
              </a:rPr>
              <a:t>What do software developers use in industry?</a:t>
            </a:r>
          </a:p>
        </p:txBody>
      </p:sp>
    </p:spTree>
    <p:extLst>
      <p:ext uri="{BB962C8B-B14F-4D97-AF65-F5344CB8AC3E}">
        <p14:creationId xmlns:p14="http://schemas.microsoft.com/office/powerpoint/2010/main" val="651058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1357E-292E-ECAB-A77B-8A932D67E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A52A0-AC5D-D842-8688-CB1B10F26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4382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Modern Software Development Tools (2026–2028)</a:t>
            </a:r>
            <a:endParaRPr lang="en-AU" sz="4000" b="1" dirty="0">
              <a:latin typeface="Calibi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F7A344-B2F0-1B47-F4D0-7CFD71DE22EB}"/>
              </a:ext>
            </a:extLst>
          </p:cNvPr>
          <p:cNvSpPr txBox="1"/>
          <p:nvPr/>
        </p:nvSpPr>
        <p:spPr>
          <a:xfrm>
            <a:off x="0" y="533479"/>
            <a:ext cx="12192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AI Tools Used by Software Developers (2026–2028)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Artificial Intelligence is becoming a standard part of software development.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Developers commonly use AI to: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sz="2800" dirty="0">
                <a:latin typeface="Calibir"/>
              </a:rPr>
              <a:t>Generate code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sz="2800" dirty="0">
                <a:latin typeface="Calibir"/>
              </a:rPr>
              <a:t>Explain code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sz="2800" dirty="0">
                <a:latin typeface="Calibir"/>
              </a:rPr>
              <a:t>Debug programs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sz="2800" dirty="0">
                <a:latin typeface="Calibir"/>
              </a:rPr>
              <a:t>Write documentation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sz="2800" dirty="0">
                <a:latin typeface="Calibir"/>
              </a:rPr>
              <a:t>Create unit tests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sz="2800" dirty="0">
                <a:latin typeface="Calibir"/>
              </a:rPr>
              <a:t>Improve code quality </a:t>
            </a:r>
          </a:p>
          <a:p>
            <a:pPr marL="623888" indent="-4572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803275" algn="l"/>
              </a:tabLst>
            </a:pPr>
            <a:r>
              <a:rPr lang="en-US" sz="2800" dirty="0">
                <a:latin typeface="Calibir"/>
              </a:rPr>
              <a:t>Learn new programming concepts</a:t>
            </a:r>
          </a:p>
        </p:txBody>
      </p:sp>
    </p:spTree>
    <p:extLst>
      <p:ext uri="{BB962C8B-B14F-4D97-AF65-F5344CB8AC3E}">
        <p14:creationId xmlns:p14="http://schemas.microsoft.com/office/powerpoint/2010/main" val="3228601375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B8800-D6BA-4574-5A62-799C020E6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C2A7-F121-DD1B-8FB7-8BD91173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4382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Modern Software Development Tools (2026–2028)</a:t>
            </a:r>
            <a:endParaRPr lang="en-AU" sz="4000" b="1" dirty="0">
              <a:latin typeface="Calibir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4F5D72-DC6B-DF58-C9B0-D957292EC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27646"/>
              </p:ext>
            </p:extLst>
          </p:nvPr>
        </p:nvGraphicFramePr>
        <p:xfrm>
          <a:off x="14868" y="1716410"/>
          <a:ext cx="12177132" cy="466344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3410415">
                  <a:extLst>
                    <a:ext uri="{9D8B030D-6E8A-4147-A177-3AD203B41FA5}">
                      <a16:colId xmlns:a16="http://schemas.microsoft.com/office/drawing/2014/main" val="1170746538"/>
                    </a:ext>
                  </a:extLst>
                </a:gridCol>
                <a:gridCol w="8766717">
                  <a:extLst>
                    <a:ext uri="{9D8B030D-6E8A-4147-A177-3AD203B41FA5}">
                      <a16:colId xmlns:a16="http://schemas.microsoft.com/office/drawing/2014/main" val="4027313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AI Tool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Common Use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9779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GitHub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AI coding assistant inside the 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0642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ChatGPT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Code explanations, debugging, learning, documentation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1803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Microsoft Copilot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Programming, Microsoft 365, Azure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71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Gemini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Programming assistance and code 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9764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Claude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Software design, documentation, code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147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Amazon Q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AWS development and cloud 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7283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Cursor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AI-powered code editor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599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>
                          <a:latin typeface="Calibir"/>
                        </a:rPr>
                        <a:t>JetBrains AI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0" dirty="0">
                          <a:latin typeface="Calibir"/>
                        </a:rPr>
                        <a:t>AI integrated into IntelliJ IDEA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3710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206A7C4-B9D9-2F28-62FD-4C9C87D188EC}"/>
              </a:ext>
            </a:extLst>
          </p:cNvPr>
          <p:cNvSpPr txBox="1"/>
          <p:nvPr/>
        </p:nvSpPr>
        <p:spPr>
          <a:xfrm>
            <a:off x="147754" y="927022"/>
            <a:ext cx="62056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Calibir"/>
              </a:rPr>
              <a:t>Popular AI Tools</a:t>
            </a:r>
          </a:p>
        </p:txBody>
      </p:sp>
    </p:spTree>
    <p:extLst>
      <p:ext uri="{BB962C8B-B14F-4D97-AF65-F5344CB8AC3E}">
        <p14:creationId xmlns:p14="http://schemas.microsoft.com/office/powerpoint/2010/main" val="44645210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4111B-7D18-D2CA-467F-98B45B756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09F8-5101-F4CB-FBB5-71786187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43826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Modern Software Development Tools (2026–2028)</a:t>
            </a:r>
            <a:endParaRPr lang="en-AU" sz="4000" b="1" dirty="0">
              <a:latin typeface="Calibir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3CBCC-EB1C-BCEB-7659-CFD1A624642A}"/>
              </a:ext>
            </a:extLst>
          </p:cNvPr>
          <p:cNvSpPr txBox="1"/>
          <p:nvPr/>
        </p:nvSpPr>
        <p:spPr>
          <a:xfrm>
            <a:off x="147754" y="927022"/>
            <a:ext cx="12044246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AI does not replace software developers.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Developers still need to: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Understand the problem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Design the solution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Verify AI-generated code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Test the software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Ensure security and privacy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Communicate with users and team members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Your understanding is more important than AI-generated code.</a:t>
            </a:r>
          </a:p>
        </p:txBody>
      </p:sp>
    </p:spTree>
    <p:extLst>
      <p:ext uri="{BB962C8B-B14F-4D97-AF65-F5344CB8AC3E}">
        <p14:creationId xmlns:p14="http://schemas.microsoft.com/office/powerpoint/2010/main" val="190096471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E437B-9BB4-77C1-EBAA-7FF0CF9BA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5A8E2C9-432C-2CCF-352B-C92339E3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Skills Employers Look For (2026–2028)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1B5A7-1C08-C7CF-2815-18012B44B67D}"/>
              </a:ext>
            </a:extLst>
          </p:cNvPr>
          <p:cNvSpPr txBox="1"/>
          <p:nvPr/>
        </p:nvSpPr>
        <p:spPr>
          <a:xfrm>
            <a:off x="1" y="516338"/>
            <a:ext cx="12191998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Technical Skills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Programming (Java, Python)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Object-Oriented Programming (OOP)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SQL and Databases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Git and GitHub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Cloud Computing (Azure or AWS)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Software Testing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APIs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Problem Solving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AI-assisted Software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014882604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5E7F-E207-212A-D6EC-D3CDB414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E7B83E-F50E-D64D-A723-10F2EF894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Skills Employers Look For (2026–2028)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2C78C6-2733-3813-D711-76470F40A4C0}"/>
              </a:ext>
            </a:extLst>
          </p:cNvPr>
          <p:cNvSpPr txBox="1"/>
          <p:nvPr/>
        </p:nvSpPr>
        <p:spPr>
          <a:xfrm>
            <a:off x="0" y="752638"/>
            <a:ext cx="10958861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Professional Skills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Communication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Teamwork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Time Management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Critical Thinking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Continuous Learning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Ethical and Responsible AI Use</a:t>
            </a:r>
          </a:p>
        </p:txBody>
      </p:sp>
    </p:spTree>
    <p:extLst>
      <p:ext uri="{BB962C8B-B14F-4D97-AF65-F5344CB8AC3E}">
        <p14:creationId xmlns:p14="http://schemas.microsoft.com/office/powerpoint/2010/main" val="242864539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7D549-2C25-9507-9FB2-C3A40B78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1DB5DAA-5FA7-DA10-D9A7-E3838F092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Suggested Learning Roadmap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80495C-EAFB-4E86-479A-275F587F3204}"/>
              </a:ext>
            </a:extLst>
          </p:cNvPr>
          <p:cNvSpPr txBox="1"/>
          <p:nvPr/>
        </p:nvSpPr>
        <p:spPr>
          <a:xfrm>
            <a:off x="0" y="752638"/>
            <a:ext cx="10958861" cy="6133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Don't try to learn everything at once.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Instead, become confident in:</a:t>
            </a:r>
          </a:p>
          <a:p>
            <a:pPr marL="534988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Calibir"/>
              </a:rPr>
              <a:t> Java or Python</a:t>
            </a:r>
          </a:p>
          <a:p>
            <a:pPr marL="534988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Calibir"/>
              </a:rPr>
              <a:t> GitHub</a:t>
            </a:r>
          </a:p>
          <a:p>
            <a:pPr marL="534988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Calibir"/>
              </a:rPr>
              <a:t> Object-Oriented Programming</a:t>
            </a:r>
          </a:p>
          <a:p>
            <a:pPr marL="534988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Calibir"/>
              </a:rPr>
              <a:t> UML</a:t>
            </a:r>
          </a:p>
          <a:p>
            <a:pPr marL="534988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200" dirty="0">
                <a:latin typeface="Calibir"/>
              </a:rPr>
              <a:t> SQL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Then gradually build additional skills in: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Cloud Computing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Artificial Intelligence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DevOps </a:t>
            </a:r>
          </a:p>
          <a:p>
            <a:pPr marL="534988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Cybersecurity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F01868-6838-E725-6A55-7A59E90B0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1"/>
          <a:stretch>
            <a:fillRect/>
          </a:stretch>
        </p:blipFill>
        <p:spPr>
          <a:xfrm>
            <a:off x="6523463" y="12742"/>
            <a:ext cx="5668537" cy="684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3271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93CEB-B8D1-4FC1-1656-1C4682313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8F96F7B-3833-CACF-A95E-EE92DDFBF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Suggested Learning Roadmap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7F15A0-72CF-81FF-4A36-CA819DDA539B}"/>
              </a:ext>
            </a:extLst>
          </p:cNvPr>
          <p:cNvSpPr txBox="1"/>
          <p:nvPr/>
        </p:nvSpPr>
        <p:spPr>
          <a:xfrm>
            <a:off x="0" y="2035028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Companies are not looking for developers who can </a:t>
            </a:r>
            <a:r>
              <a:rPr lang="en-US" sz="2800" dirty="0" err="1">
                <a:latin typeface="Calibir"/>
              </a:rPr>
              <a:t>memorise</a:t>
            </a:r>
            <a:r>
              <a:rPr lang="en-US" sz="2800" dirty="0">
                <a:latin typeface="Calibir"/>
              </a:rPr>
              <a:t> syntax. They are looking for developers who can </a:t>
            </a:r>
            <a:r>
              <a:rPr lang="en-US" sz="2800" dirty="0" err="1">
                <a:latin typeface="Calibir"/>
              </a:rPr>
              <a:t>analyse</a:t>
            </a:r>
            <a:r>
              <a:rPr lang="en-US" sz="2800" dirty="0">
                <a:latin typeface="Calibir"/>
              </a:rPr>
              <a:t> problems, design solutions, collaborate with others, use modern tools—including AI—responsibly, and continue learning throughout their careers.</a:t>
            </a:r>
          </a:p>
        </p:txBody>
      </p:sp>
    </p:spTree>
    <p:extLst>
      <p:ext uri="{BB962C8B-B14F-4D97-AF65-F5344CB8AC3E}">
        <p14:creationId xmlns:p14="http://schemas.microsoft.com/office/powerpoint/2010/main" val="204317019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F9D05-8BE3-B7E9-2016-9743BB85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A29B010-08F3-8261-614B-6C848BE7D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Week 1 Summary and Key Takeaways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ABAD99-519B-E246-ABD9-A57E08A7258E}"/>
              </a:ext>
            </a:extLst>
          </p:cNvPr>
          <p:cNvSpPr txBox="1"/>
          <p:nvPr/>
        </p:nvSpPr>
        <p:spPr>
          <a:xfrm>
            <a:off x="0" y="560942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This Week You Learned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Software Development Fundamentals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software development is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Software Development Life Cycle (SDLC)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Waterfall and Agile methodologies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Software Modelling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Introduction to UML (Unified Modeling Language)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Requirements analysis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cases and actors </a:t>
            </a:r>
          </a:p>
        </p:txBody>
      </p:sp>
    </p:spTree>
    <p:extLst>
      <p:ext uri="{BB962C8B-B14F-4D97-AF65-F5344CB8AC3E}">
        <p14:creationId xmlns:p14="http://schemas.microsoft.com/office/powerpoint/2010/main" val="241175818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6FFAC-EF89-27D6-5BC7-EEF5D92B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C332E21-C050-871B-3D36-5B8C29EEA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Week 1 Summary and Key Takeaways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92B29F-B9B5-49AE-843A-1E91082882B2}"/>
              </a:ext>
            </a:extLst>
          </p:cNvPr>
          <p:cNvSpPr txBox="1"/>
          <p:nvPr/>
        </p:nvSpPr>
        <p:spPr>
          <a:xfrm>
            <a:off x="0" y="560942"/>
            <a:ext cx="12192000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Programming Concepts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Introduction to Object-Oriented Programming (OOP)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Difference between CLI and GUI applications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Java and Python development environments 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Development Tools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Canvas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GitHub and GitHub Desktop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VS Code, IntelliJ IDEA, Eclipse, or PyCharm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diagrams.net (Draw.io) </a:t>
            </a:r>
          </a:p>
        </p:txBody>
      </p:sp>
    </p:spTree>
    <p:extLst>
      <p:ext uri="{BB962C8B-B14F-4D97-AF65-F5344CB8AC3E}">
        <p14:creationId xmlns:p14="http://schemas.microsoft.com/office/powerpoint/2010/main" val="115229631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94CC8-5727-55C9-3E29-6ACF1ABD2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1CC9A1-02CA-CA22-5D49-15A280E4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Week 1 Summary and Key Takeaways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FE168-BD1A-1A0D-E47A-767A459BE894}"/>
              </a:ext>
            </a:extLst>
          </p:cNvPr>
          <p:cNvSpPr txBox="1"/>
          <p:nvPr/>
        </p:nvSpPr>
        <p:spPr>
          <a:xfrm>
            <a:off x="0" y="560942"/>
            <a:ext cx="12192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Assessments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Assessment 1 (Case Study) – 70%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Quiz 1 – 15%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Quiz 2 – 15%</a:t>
            </a:r>
          </a:p>
        </p:txBody>
      </p:sp>
    </p:spTree>
    <p:extLst>
      <p:ext uri="{BB962C8B-B14F-4D97-AF65-F5344CB8AC3E}">
        <p14:creationId xmlns:p14="http://schemas.microsoft.com/office/powerpoint/2010/main" val="286215099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2395D-A798-8783-D2C0-0B8C3D3C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23F3C7-DC0F-538F-E172-D32D8772F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Week 1 Summary and Key Takeaways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249E8-0575-C990-7424-6A80D8A1F6F7}"/>
              </a:ext>
            </a:extLst>
          </p:cNvPr>
          <p:cNvSpPr txBox="1"/>
          <p:nvPr/>
        </p:nvSpPr>
        <p:spPr>
          <a:xfrm>
            <a:off x="0" y="1154082"/>
            <a:ext cx="12192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Remember</a:t>
            </a:r>
          </a:p>
          <a:p>
            <a:pPr marL="714375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Programming is learned by </a:t>
            </a:r>
            <a:r>
              <a:rPr lang="en-US" sz="2800" dirty="0" err="1">
                <a:latin typeface="Calibir"/>
              </a:rPr>
              <a:t>practising</a:t>
            </a:r>
            <a:r>
              <a:rPr lang="en-US" sz="2800" dirty="0">
                <a:latin typeface="Calibir"/>
              </a:rPr>
              <a:t>, not just reading.</a:t>
            </a:r>
          </a:p>
          <a:p>
            <a:pPr marL="714375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Make mistakes—they are part of learning.</a:t>
            </a:r>
          </a:p>
          <a:p>
            <a:pPr marL="714375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Ask questions during tutorials.</a:t>
            </a:r>
          </a:p>
          <a:p>
            <a:pPr marL="714375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Start assessments early.</a:t>
            </a:r>
          </a:p>
          <a:p>
            <a:pPr marL="714375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Work consistently each week rather than leaving everything until the deadline.</a:t>
            </a:r>
          </a:p>
        </p:txBody>
      </p:sp>
    </p:spTree>
    <p:extLst>
      <p:ext uri="{BB962C8B-B14F-4D97-AF65-F5344CB8AC3E}">
        <p14:creationId xmlns:p14="http://schemas.microsoft.com/office/powerpoint/2010/main" val="316850992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E0340-843D-B27B-EE93-08763EDBD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19134C-2F73-D827-DAF6-55BB3C05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7A4B88-8460-316F-E0B3-E48E4403B224}"/>
              </a:ext>
            </a:extLst>
          </p:cNvPr>
          <p:cNvSpPr txBox="1"/>
          <p:nvPr/>
        </p:nvSpPr>
        <p:spPr>
          <a:xfrm>
            <a:off x="1166648" y="2314592"/>
            <a:ext cx="9858704" cy="168219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dirty="0">
                <a:latin typeface="Economica" panose="020B0604020202020204" charset="0"/>
              </a:rPr>
              <a:t>Complete the Lab 1 Exercises exercises as a team </a:t>
            </a:r>
          </a:p>
          <a:p>
            <a:pPr algn="ctr">
              <a:lnSpc>
                <a:spcPct val="200000"/>
              </a:lnSpc>
            </a:pPr>
            <a:r>
              <a:rPr lang="en-US" sz="2800" dirty="0">
                <a:latin typeface="Economica" panose="020B0604020202020204" charset="0"/>
              </a:rPr>
              <a:t>(form groups of 3-4 students, one student acts as the client) </a:t>
            </a:r>
            <a:endParaRPr lang="en-US" sz="2800" dirty="0">
              <a:solidFill>
                <a:srgbClr val="00B0F0"/>
              </a:solidFill>
              <a:latin typeface="Economic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54327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8DB23-5227-96E8-E0F5-B831A3305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1B385B-E11A-AFF5-064E-C808E5B1E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EF883-5C9A-B950-A82E-9F4781AC853C}"/>
              </a:ext>
            </a:extLst>
          </p:cNvPr>
          <p:cNvSpPr txBox="1"/>
          <p:nvPr/>
        </p:nvSpPr>
        <p:spPr>
          <a:xfrm>
            <a:off x="2062655" y="1676340"/>
            <a:ext cx="8253199" cy="3505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Economica" panose="020B0604020202020204" charset="0"/>
              </a:rPr>
              <a:t>Lab Tools:</a:t>
            </a:r>
          </a:p>
          <a:p>
            <a:pPr>
              <a:lnSpc>
                <a:spcPct val="150000"/>
              </a:lnSpc>
            </a:pPr>
            <a:endParaRPr lang="en-US" sz="1800" b="1" dirty="0">
              <a:latin typeface="Economica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Economica" panose="020B0604020202020204" charset="0"/>
              </a:rPr>
              <a:t>The following tools are recommended to complete Lab 1 Exercises activities: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rgbClr val="000000"/>
                </a:solidFill>
                <a:effectLst/>
                <a:latin typeface="Economica" panose="020B0604020202020204" charset="0"/>
                <a:ea typeface="Times New Roman" panose="02020603050405020304" pitchFamily="18" charset="0"/>
              </a:rPr>
              <a:t>Download and use </a:t>
            </a:r>
            <a:r>
              <a:rPr lang="en-AU" sz="1600" u="sng" dirty="0">
                <a:solidFill>
                  <a:srgbClr val="00B050"/>
                </a:solidFill>
                <a:effectLst/>
                <a:latin typeface="Economica" panose="020B0604020202020204" charset="0"/>
                <a:ea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Visual Paradigm Community Edition</a:t>
            </a:r>
            <a:endParaRPr lang="en-AU" sz="1600" u="sng" dirty="0">
              <a:solidFill>
                <a:srgbClr val="00B050"/>
              </a:solidFill>
              <a:effectLst/>
              <a:latin typeface="Economica" panose="020B0604020202020204" charset="0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1600" dirty="0">
                <a:latin typeface="Economica" panose="020B0604020202020204" charset="0"/>
              </a:rPr>
              <a:t>Use the </a:t>
            </a:r>
            <a:r>
              <a:rPr lang="en-AU" sz="1600" dirty="0">
                <a:solidFill>
                  <a:srgbClr val="000000"/>
                </a:solidFill>
                <a:effectLst/>
                <a:latin typeface="Economica" panose="020B0604020202020204" charset="0"/>
                <a:ea typeface="Times New Roman" panose="02020603050405020304" pitchFamily="18" charset="0"/>
              </a:rPr>
              <a:t>online drawing tool: </a:t>
            </a:r>
            <a:r>
              <a:rPr lang="en-AU" sz="1600" dirty="0">
                <a:solidFill>
                  <a:srgbClr val="00B050"/>
                </a:solidFill>
                <a:effectLst/>
                <a:latin typeface="Economica" panose="020B0604020202020204" charset="0"/>
                <a:ea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draw.io</a:t>
            </a:r>
            <a:endParaRPr lang="en-AU" sz="1600" dirty="0">
              <a:solidFill>
                <a:srgbClr val="00B050"/>
              </a:solidFill>
              <a:effectLst/>
              <a:latin typeface="Economica" panose="020B0604020202020204" charset="0"/>
              <a:ea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AU" sz="1600" dirty="0">
              <a:latin typeface="Economica" panose="020B060402020202020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AU" sz="1600" dirty="0">
              <a:latin typeface="Economica" panose="020B0604020202020204" charset="0"/>
            </a:endParaRPr>
          </a:p>
          <a:p>
            <a:pPr>
              <a:lnSpc>
                <a:spcPct val="150000"/>
              </a:lnSpc>
            </a:pPr>
            <a:endParaRPr lang="en-AU" sz="1600" dirty="0">
              <a:latin typeface="Economica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AU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Economica" panose="020B0604020202020204" charset="0"/>
              </a:rPr>
              <a:t>Feel free to use other tools of choice!</a:t>
            </a:r>
            <a:endParaRPr lang="en-US" sz="1600" i="1" dirty="0">
              <a:solidFill>
                <a:schemeClr val="tx1">
                  <a:lumMod val="50000"/>
                  <a:lumOff val="50000"/>
                </a:schemeClr>
              </a:solidFill>
              <a:latin typeface="Economic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03596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A0313-3990-AEE7-C8F5-E9079924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3C4911D-E1EC-D60F-6B62-753E4923B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DAAB3-D21B-EB0F-B26A-83A98C95A520}"/>
              </a:ext>
            </a:extLst>
          </p:cNvPr>
          <p:cNvSpPr txBox="1"/>
          <p:nvPr/>
        </p:nvSpPr>
        <p:spPr>
          <a:xfrm>
            <a:off x="550504" y="1430939"/>
            <a:ext cx="10853221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Economica" panose="020B0604020202020204" charset="0"/>
              </a:rPr>
              <a:t>Lab Case Study: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Economica" panose="020B0604020202020204" charset="0"/>
              </a:rPr>
              <a:t>The bank system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Economica" panose="020B0604020202020204" charset="0"/>
              </a:rPr>
              <a:t>Your team is hired to develop a desktop banking application for local bank. The bank manager has general IT knowledge but does not know programming too well.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Economica" panose="020B0604020202020204" charset="0"/>
              </a:rPr>
              <a:t>The bank currently operates a web-based application. The objective is to have an in-branch desktop application that includes two types of banking interactions: CLI and GUI.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Economica" panose="020B0604020202020204" charset="0"/>
              </a:rPr>
              <a:t>Both interfaces should be accessible using the branch computers where the application is installed. After consultation with the bank manager, the decision was to name the new application: </a:t>
            </a:r>
            <a:r>
              <a:rPr lang="en-US" sz="1800" dirty="0" err="1">
                <a:latin typeface="Economica" panose="020B0604020202020204" charset="0"/>
              </a:rPr>
              <a:t>DeskBankApp</a:t>
            </a:r>
            <a:r>
              <a:rPr lang="en-US" sz="1800" dirty="0">
                <a:latin typeface="Economica" panose="020B060402020202020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>
                <a:latin typeface="Economica" panose="020B0604020202020204" charset="0"/>
              </a:rPr>
              <a:t>DeskBankApp</a:t>
            </a:r>
            <a:r>
              <a:rPr lang="en-US" sz="1800" dirty="0">
                <a:latin typeface="Economica" panose="020B0604020202020204" charset="0"/>
              </a:rPr>
              <a:t> enables registered bank customers and bank employees (Manager) to access the system.</a:t>
            </a:r>
          </a:p>
          <a:p>
            <a:pPr algn="just">
              <a:lnSpc>
                <a:spcPct val="150000"/>
              </a:lnSpc>
            </a:pPr>
            <a:r>
              <a:rPr lang="en-US" sz="1800" dirty="0" err="1">
                <a:latin typeface="Economica" panose="020B0604020202020204" charset="0"/>
              </a:rPr>
              <a:t>DeskBankApp</a:t>
            </a:r>
            <a:r>
              <a:rPr lang="en-US" sz="1800" dirty="0">
                <a:latin typeface="Economica" panose="020B0604020202020204" charset="0"/>
              </a:rPr>
              <a:t> computers are mounted on top of small ATMs to allow customers make deposits or withdraws.</a:t>
            </a:r>
          </a:p>
        </p:txBody>
      </p:sp>
    </p:spTree>
    <p:extLst>
      <p:ext uri="{BB962C8B-B14F-4D97-AF65-F5344CB8AC3E}">
        <p14:creationId xmlns:p14="http://schemas.microsoft.com/office/powerpoint/2010/main" val="214687501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097E7-01BC-9B52-2377-46E25B3FB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E42AE53-360F-B0FE-DB59-3D27ED96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AC456-E561-72D9-CB94-8E867A0386D4}"/>
              </a:ext>
            </a:extLst>
          </p:cNvPr>
          <p:cNvSpPr txBox="1"/>
          <p:nvPr/>
        </p:nvSpPr>
        <p:spPr>
          <a:xfrm>
            <a:off x="1969400" y="1546553"/>
            <a:ext cx="8253199" cy="4191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Economica" panose="020B0604020202020204" charset="0"/>
              </a:rPr>
              <a:t>Lab Case Study: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Economica" panose="020B0604020202020204" charset="0"/>
              </a:rPr>
              <a:t>The bank system – The manager’s requirements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Economica" panose="020B0604020202020204" charset="0"/>
              </a:rPr>
              <a:t>The bank manager requires the following functionalities in </a:t>
            </a:r>
            <a:r>
              <a:rPr lang="en-US" sz="1800" dirty="0" err="1">
                <a:latin typeface="Economica" panose="020B0604020202020204" charset="0"/>
              </a:rPr>
              <a:t>DeskBankApp</a:t>
            </a:r>
            <a:r>
              <a:rPr lang="en-US" sz="1800" dirty="0">
                <a:latin typeface="Economica" panose="020B0604020202020204" charset="0"/>
              </a:rPr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Economica" panose="020B0604020202020204" charset="0"/>
              </a:rPr>
              <a:t>Customer can log in to the system (assume either GUI or CLI)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Economica" panose="020B0604020202020204" charset="0"/>
              </a:rPr>
              <a:t>Manager can log in to the system (assume either GUI or CLI)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Economica" panose="020B0604020202020204" charset="0"/>
              </a:rPr>
              <a:t>Customer can view their bank accounts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Economica" panose="020B0604020202020204" charset="0"/>
              </a:rPr>
              <a:t>Customer can make a deposit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Economica" panose="020B0604020202020204" charset="0"/>
              </a:rPr>
              <a:t>Customer can pay (an account or a credit card)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Economica" panose="020B0604020202020204" charset="0"/>
              </a:rPr>
              <a:t>Customer can withdraw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Economica" panose="020B0604020202020204" charset="0"/>
              </a:rPr>
              <a:t>Manager can view all customers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Economica" panose="020B0604020202020204" charset="0"/>
              </a:rPr>
              <a:t>Manager can add/remove a customer</a:t>
            </a:r>
          </a:p>
        </p:txBody>
      </p:sp>
    </p:spTree>
    <p:extLst>
      <p:ext uri="{BB962C8B-B14F-4D97-AF65-F5344CB8AC3E}">
        <p14:creationId xmlns:p14="http://schemas.microsoft.com/office/powerpoint/2010/main" val="399917630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A7C69-DCBD-B0AC-3FE4-D869C8138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1822FB1-D7CE-F7A2-6BCB-DF4D1B7BC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456D7-A60D-FECE-5DA9-04662882B81A}"/>
              </a:ext>
            </a:extLst>
          </p:cNvPr>
          <p:cNvSpPr txBox="1"/>
          <p:nvPr/>
        </p:nvSpPr>
        <p:spPr>
          <a:xfrm>
            <a:off x="990599" y="1581150"/>
            <a:ext cx="9645869" cy="293829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  <a:latin typeface="Economica" panose="020B0604020202020204" charset="0"/>
              </a:rPr>
              <a:t>Read and understand the requirements, discuss the requirements within your team.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  <a:latin typeface="Economica" panose="020B0604020202020204" charset="0"/>
              </a:rPr>
              <a:t>Perform requirements validation with stakeholders (client, tutor – as the delivery manager). [</a:t>
            </a:r>
            <a:r>
              <a:rPr lang="en-GB" sz="1800" dirty="0">
                <a:latin typeface="Economica" panose="020B0604020202020204" charset="0"/>
                <a:sym typeface="Wingdings" panose="05000000000000000000" pitchFamily="2" charset="2"/>
              </a:rPr>
              <a:t>check for: compliance, correctness, completeness, consistency</a:t>
            </a:r>
            <a:r>
              <a:rPr lang="en-GB" sz="1800" dirty="0">
                <a:solidFill>
                  <a:schemeClr val="tx1"/>
                </a:solidFill>
                <a:latin typeface="Economica" panose="020B0604020202020204" charset="0"/>
              </a:rPr>
              <a:t>]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  <a:latin typeface="Economica" panose="020B0604020202020204" charset="0"/>
              </a:rPr>
              <a:t>Identify use cases.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  <a:latin typeface="Economica" panose="020B0604020202020204" charset="0"/>
              </a:rPr>
              <a:t>Map use cases into a use case backlog.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800" dirty="0">
                <a:solidFill>
                  <a:schemeClr val="tx1"/>
                </a:solidFill>
                <a:latin typeface="Economica" panose="020B0604020202020204" charset="0"/>
              </a:rPr>
              <a:t>Draw a use case diagram for the new </a:t>
            </a:r>
            <a:r>
              <a:rPr lang="en-GB" sz="1800" dirty="0" err="1">
                <a:solidFill>
                  <a:schemeClr val="tx1"/>
                </a:solidFill>
                <a:latin typeface="Economica" panose="020B0604020202020204" charset="0"/>
              </a:rPr>
              <a:t>DeskBankApp</a:t>
            </a:r>
            <a:r>
              <a:rPr lang="en-GB" sz="1800" dirty="0">
                <a:solidFill>
                  <a:schemeClr val="tx1"/>
                </a:solidFill>
                <a:latin typeface="Economica" panose="020B0604020202020204" charset="0"/>
              </a:rPr>
              <a:t> system.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GB" sz="1800" dirty="0">
              <a:solidFill>
                <a:schemeClr val="tx1"/>
              </a:solidFill>
              <a:latin typeface="Economica" panose="020B0604020202020204" charset="0"/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18178687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FFB70-7F51-8A29-608C-9FCE57237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CD3F278-D80B-D7AC-3F3B-94F38BCAC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2A5FC-AED0-218D-C3D1-3285EB410EF3}"/>
              </a:ext>
            </a:extLst>
          </p:cNvPr>
          <p:cNvSpPr txBox="1"/>
          <p:nvPr/>
        </p:nvSpPr>
        <p:spPr>
          <a:xfrm>
            <a:off x="2326752" y="1798802"/>
            <a:ext cx="8253199" cy="2945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Economica" panose="020B0604020202020204" charset="0"/>
              </a:rPr>
              <a:t>From Requirements to Use Case Diagram: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latin typeface="Economica" panose="020B0604020202020204" charset="0"/>
              </a:rPr>
              <a:t>Gather and analyze requirements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latin typeface="Economica" panose="020B0604020202020204" charset="0"/>
              </a:rPr>
              <a:t>Identify external actors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latin typeface="Economica" panose="020B0604020202020204" charset="0"/>
              </a:rPr>
              <a:t>Define use cases based on user goals; focus on verbs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latin typeface="Economica" panose="020B0604020202020204" charset="0"/>
              </a:rPr>
              <a:t>Draw system boundary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latin typeface="Economica" panose="020B0604020202020204" charset="0"/>
              </a:rPr>
              <a:t>Connect actors to use cases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latin typeface="Economica" panose="020B0604020202020204" charset="0"/>
              </a:rPr>
              <a:t>Identify relationships and denote them on the diagram</a:t>
            </a:r>
          </a:p>
        </p:txBody>
      </p:sp>
    </p:spTree>
    <p:extLst>
      <p:ext uri="{BB962C8B-B14F-4D97-AF65-F5344CB8AC3E}">
        <p14:creationId xmlns:p14="http://schemas.microsoft.com/office/powerpoint/2010/main" val="160547514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90254-7A87-9DF4-B6D9-747A495B2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7A9B5A1-575F-30D7-E066-F65FD245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FDF978-4A5D-91F7-CF5A-A47A937C1339}"/>
              </a:ext>
            </a:extLst>
          </p:cNvPr>
          <p:cNvSpPr txBox="1"/>
          <p:nvPr/>
        </p:nvSpPr>
        <p:spPr>
          <a:xfrm>
            <a:off x="1422862" y="2009009"/>
            <a:ext cx="9917800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Economica" panose="020B0604020202020204" charset="0"/>
              </a:rPr>
              <a:t>Focus on the what not the how: </a:t>
            </a:r>
            <a:endParaRPr lang="en-US" sz="1800" dirty="0">
              <a:latin typeface="Economica" panose="020B0604020202020204" charset="0"/>
            </a:endParaRP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latin typeface="Economica" panose="020B0604020202020204" charset="0"/>
              </a:rPr>
              <a:t>Some use cases can simply be mapped to functions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sz="1800" dirty="0">
                <a:latin typeface="Economica" panose="020B0604020202020204" charset="0"/>
              </a:rPr>
              <a:t>Some use cases are high-level and involve multiple steps or actions – and it also doesn’t mean that each step corresponds to a function, e.g., a Marketplace application relies on a 3</a:t>
            </a:r>
            <a:r>
              <a:rPr lang="en-US" sz="1800" baseline="30000" dirty="0">
                <a:latin typeface="Economica" panose="020B0604020202020204" charset="0"/>
              </a:rPr>
              <a:t>rd</a:t>
            </a:r>
            <a:r>
              <a:rPr lang="en-US" sz="1800" dirty="0">
                <a:latin typeface="Economica" panose="020B0604020202020204" charset="0"/>
              </a:rPr>
              <a:t> party payment gateway integration through APIs.</a:t>
            </a:r>
          </a:p>
        </p:txBody>
      </p:sp>
    </p:spTree>
    <p:extLst>
      <p:ext uri="{BB962C8B-B14F-4D97-AF65-F5344CB8AC3E}">
        <p14:creationId xmlns:p14="http://schemas.microsoft.com/office/powerpoint/2010/main" val="178946581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085E7-B5BA-1140-706D-960BD02F3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545AA59-14FE-847F-EC1F-6AE1F1D61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3604A-A061-7CAE-3FF9-6C161F4FFCFA}"/>
              </a:ext>
            </a:extLst>
          </p:cNvPr>
          <p:cNvSpPr txBox="1"/>
          <p:nvPr/>
        </p:nvSpPr>
        <p:spPr>
          <a:xfrm>
            <a:off x="124810" y="1215990"/>
            <a:ext cx="11942379" cy="442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1</a:t>
            </a:r>
            <a:endParaRPr lang="en-US" sz="2400" kern="100" dirty="0">
              <a:effectLst/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is the name of the new banking application?</a:t>
            </a: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The application is called </a:t>
            </a:r>
            <a:r>
              <a:rPr lang="en-US" sz="2400" kern="0" dirty="0" err="1">
                <a:effectLst/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DeskBankApp</a:t>
            </a:r>
            <a:r>
              <a:rPr lang="en-US" sz="2400" kern="0" dirty="0">
                <a:effectLst/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n-US" sz="2400" kern="100" dirty="0">
              <a:effectLst/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2</a:t>
            </a:r>
            <a:endParaRPr lang="en-US" sz="2400" kern="100" dirty="0">
              <a:effectLst/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effectLst/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Why is </a:t>
            </a:r>
            <a:r>
              <a:rPr lang="en-US" sz="2400" b="1" kern="0" dirty="0" err="1">
                <a:effectLst/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DeskBankApp</a:t>
            </a:r>
            <a:r>
              <a:rPr lang="en-US" sz="2400" b="1" kern="0" dirty="0">
                <a:effectLst/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 being developed?</a:t>
            </a:r>
            <a:endParaRPr lang="en-US" sz="2400" b="1" kern="0" dirty="0">
              <a:latin typeface="Calibir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The bank already has a web-based system, but it also wants an in-branch desktop application for branch computers.</a:t>
            </a:r>
            <a:endParaRPr lang="en-US" sz="2400" kern="100" dirty="0">
              <a:effectLst/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040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AD282-298D-B19E-CD3E-E914B850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C1BB1E9-DCCF-3AA7-8591-265A8ABBB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0B3252-9FD9-623D-A739-DCE1A1255008}"/>
              </a:ext>
            </a:extLst>
          </p:cNvPr>
          <p:cNvSpPr txBox="1"/>
          <p:nvPr/>
        </p:nvSpPr>
        <p:spPr>
          <a:xfrm>
            <a:off x="124810" y="1215990"/>
            <a:ext cx="11942379" cy="321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3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two types of interfaces must </a:t>
            </a:r>
            <a:r>
              <a:rPr lang="en-US" sz="2400" b="1" kern="0" dirty="0" err="1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DeskBankApp</a:t>
            </a: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 provide?</a:t>
            </a:r>
            <a:endParaRPr lang="en-US" sz="2400" b="1" kern="100" dirty="0">
              <a:latin typeface="Calibir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 err="1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DeskBankApp</a:t>
            </a: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 must provide: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CLI — Command-Line Interface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GUI — Graphical User Interface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873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9712F-92C0-A4E9-34F6-AE07F59F5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6409F9-DADE-2CBC-3A2A-8153A9E0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E85780-50FA-1B1F-2571-A4B7CC5078F5}"/>
              </a:ext>
            </a:extLst>
          </p:cNvPr>
          <p:cNvSpPr txBox="1"/>
          <p:nvPr/>
        </p:nvSpPr>
        <p:spPr>
          <a:xfrm>
            <a:off x="124810" y="1215990"/>
            <a:ext cx="11942379" cy="3872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4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Who can use </a:t>
            </a:r>
            <a:r>
              <a:rPr lang="en-US" sz="2400" b="1" kern="0" dirty="0" err="1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DeskBankApp</a:t>
            </a: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?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There are two main users: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Customer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Manager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These users are called actors in a use-case diagram.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65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499E7-FC7E-323F-C647-F8924CDB2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D341CBB-44C9-9790-23EA-99A7E7B08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A28B0-5FC7-4A94-C8E9-B544B5595228}"/>
              </a:ext>
            </a:extLst>
          </p:cNvPr>
          <p:cNvSpPr txBox="1"/>
          <p:nvPr/>
        </p:nvSpPr>
        <p:spPr>
          <a:xfrm>
            <a:off x="124810" y="1215990"/>
            <a:ext cx="11942379" cy="5185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5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can a customer do?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A customer can: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Log in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View bank accounts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Make a deposit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Make a payment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Withdraw money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620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A2688-6E63-E1CA-FB83-A26E0050A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4C70E6E-A935-6CA7-00FA-7020B149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73CE72-5AB0-EACA-3BC7-0B1CC75179E1}"/>
              </a:ext>
            </a:extLst>
          </p:cNvPr>
          <p:cNvSpPr txBox="1"/>
          <p:nvPr/>
        </p:nvSpPr>
        <p:spPr>
          <a:xfrm>
            <a:off x="124810" y="1215990"/>
            <a:ext cx="11942379" cy="4528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6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can a manager do?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A manager can: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Log in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View all customers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Add a customer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Remove a customer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162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0E3F1-0C25-93E6-E7CD-FE2791E22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9DC0A1C-8DB5-3071-076F-D7E00F507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F4679-4517-589A-FF8D-CBE56A32E3CC}"/>
              </a:ext>
            </a:extLst>
          </p:cNvPr>
          <p:cNvSpPr txBox="1"/>
          <p:nvPr/>
        </p:nvSpPr>
        <p:spPr>
          <a:xfrm>
            <a:off x="124810" y="1215990"/>
            <a:ext cx="11942379" cy="57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7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is requirements validation?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Requirements validation means checking whether the requirements are suitable before design and coding begin.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Check for: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Compliance</a:t>
            </a: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 — Do the requirements follow relevant rules?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Correctness</a:t>
            </a: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 — Do they describe what the bank actually needs?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Completeness</a:t>
            </a: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 — Is anything important missing?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Consistency</a:t>
            </a: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 — Do any requirements contradict each other?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27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8B1C6-24C6-1A6D-2E09-DB3B25E4F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D350B-9F74-3544-03DC-CBE827E14639}"/>
              </a:ext>
            </a:extLst>
          </p:cNvPr>
          <p:cNvSpPr txBox="1"/>
          <p:nvPr/>
        </p:nvSpPr>
        <p:spPr>
          <a:xfrm>
            <a:off x="124810" y="0"/>
            <a:ext cx="11942379" cy="6958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8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questions should we ask the bank manager?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information is required for customer login? </a:t>
            </a:r>
            <a:endParaRPr lang="en-US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Can a customer have more than one account? </a:t>
            </a:r>
            <a:endParaRPr lang="en-US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types of accounts are supported? </a:t>
            </a:r>
            <a:endParaRPr lang="en-US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Are there withdrawal limits? </a:t>
            </a:r>
            <a:endParaRPr lang="en-US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Can a customer pay another bank account? </a:t>
            </a:r>
            <a:endParaRPr lang="en-US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How is a credit-card payment processed? </a:t>
            </a:r>
            <a:endParaRPr lang="en-US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Can a manager edit customer information? </a:t>
            </a:r>
            <a:endParaRPr lang="en-US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happens after several failed login attempts? </a:t>
            </a:r>
            <a:endParaRPr lang="en-US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Should transactions be stored in a file or database? </a:t>
            </a:r>
            <a:endParaRPr lang="en-US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Does the system need to print receipts? </a:t>
            </a:r>
            <a:endParaRPr lang="en-US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These questions help make the requirements more complete.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95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D42BF-88EE-D268-7F68-DE996C06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2A16AAF-C221-D714-14BF-7C022D6F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82E057-78F6-B938-F65E-9FC8EA601F18}"/>
              </a:ext>
            </a:extLst>
          </p:cNvPr>
          <p:cNvSpPr txBox="1"/>
          <p:nvPr/>
        </p:nvSpPr>
        <p:spPr>
          <a:xfrm>
            <a:off x="524107" y="1215990"/>
            <a:ext cx="11028556" cy="3872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9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is an actor?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An actor is a person, device, or external system that interacts with the application.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For </a:t>
            </a:r>
            <a:r>
              <a:rPr lang="en-US" sz="2400" kern="0" dirty="0" err="1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DeskBankApp</a:t>
            </a: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Customer</a:t>
            </a: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 is an actor.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Manager</a:t>
            </a: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 is an actor.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14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3F02F-A70C-405E-05D0-84804E3C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EBAC915-F2E7-963A-E13B-AC5DDDDDF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84A874-495A-CD15-9C38-4E1307C79D09}"/>
              </a:ext>
            </a:extLst>
          </p:cNvPr>
          <p:cNvSpPr txBox="1"/>
          <p:nvPr/>
        </p:nvSpPr>
        <p:spPr>
          <a:xfrm>
            <a:off x="0" y="412173"/>
            <a:ext cx="12192000" cy="6498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10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What is a use case?</a:t>
            </a:r>
            <a:endParaRPr lang="en-US" sz="2400" b="1" kern="100" dirty="0">
              <a:latin typeface="Calibir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A use case describes a goal that an actor wants to achieve using the system.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Examples: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Log in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View accounts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Make deposit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Withdraw money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Add customer 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Use cases are normally written using verbs because they describe actions.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20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28837-9296-241B-45A3-6A5F46752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1B9CA68-8555-0461-F643-CCF824ADAB47}"/>
              </a:ext>
            </a:extLst>
          </p:cNvPr>
          <p:cNvSpPr txBox="1"/>
          <p:nvPr/>
        </p:nvSpPr>
        <p:spPr>
          <a:xfrm>
            <a:off x="0" y="0"/>
            <a:ext cx="12192000" cy="6888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400" b="1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Question 11) Why should we focus on “what” rather than “how”?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A use-case diagram shows what the system must do, not the programming details.</a:t>
            </a:r>
            <a:endParaRPr lang="en-US" sz="2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For example:</a:t>
            </a:r>
            <a:endParaRPr lang="en-US" sz="2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Make Payment</a:t>
            </a:r>
            <a:endParaRPr lang="en-US" sz="2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is a suitable use case.</a:t>
            </a:r>
            <a:endParaRPr lang="en-US" sz="2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The diagram does not need to show:</a:t>
            </a:r>
            <a:endParaRPr lang="en-US" sz="2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Python functions </a:t>
            </a:r>
            <a:endParaRPr lang="en-US" sz="2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Java methods </a:t>
            </a:r>
            <a:endParaRPr lang="en-US" sz="2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SQL queries </a:t>
            </a:r>
            <a:endParaRPr lang="en-US" sz="2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API code </a:t>
            </a:r>
            <a:endParaRPr lang="en-US" sz="2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Button-click code </a:t>
            </a:r>
            <a:endParaRPr lang="en-US" sz="20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2000" kern="0" dirty="0">
                <a:latin typeface="Calibir"/>
                <a:ea typeface="Times New Roman" panose="02020603050405020304" pitchFamily="18" charset="0"/>
                <a:cs typeface="Arial" panose="020B0604020202020204" pitchFamily="34" charset="0"/>
              </a:rPr>
              <a:t>Those details are considered later during design and development.</a:t>
            </a:r>
            <a:endParaRPr lang="en-US" sz="2400" kern="100" dirty="0">
              <a:latin typeface="Calibir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29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32D23-069A-3EB7-2D18-E9E1A7CEC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6A3857-8699-6EF7-E626-2F9404DE2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" t="59436" r="1452" b="16046"/>
          <a:stretch>
            <a:fillRect/>
          </a:stretch>
        </p:blipFill>
        <p:spPr>
          <a:xfrm>
            <a:off x="147145" y="2459421"/>
            <a:ext cx="11887200" cy="1999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56B4D4-8AF3-7508-44F7-ED6C75525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Lab 1 Exercises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9052868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43147-7C07-5A29-01AE-AC4EFD417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E46B9A0-7B12-5A56-D13D-D56692D7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988"/>
            <a:ext cx="8205355" cy="475954"/>
          </a:xfrm>
        </p:spPr>
        <p:txBody>
          <a:bodyPr>
            <a:normAutofit fontScale="90000"/>
          </a:bodyPr>
          <a:lstStyle/>
          <a:p>
            <a:r>
              <a:rPr lang="en-US" dirty="0"/>
              <a:t>Week 1 Summary and Key Takeaways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7275F-5941-96F7-8FC4-C19832A4AF48}"/>
              </a:ext>
            </a:extLst>
          </p:cNvPr>
          <p:cNvSpPr txBox="1"/>
          <p:nvPr/>
        </p:nvSpPr>
        <p:spPr>
          <a:xfrm>
            <a:off x="0" y="2446744"/>
            <a:ext cx="12192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Every expert programmer was once a beginner. Focus on understanding the concepts, </a:t>
            </a:r>
            <a:r>
              <a:rPr lang="en-US" sz="2800" dirty="0" err="1">
                <a:latin typeface="Calibir"/>
              </a:rPr>
              <a:t>practise</a:t>
            </a:r>
            <a:r>
              <a:rPr lang="en-US" sz="2800" dirty="0">
                <a:latin typeface="Calibir"/>
              </a:rPr>
              <a:t> regularly, and don't be afraid to ask questions. Small improvements every week lead to big achievements by the end of the semester.</a:t>
            </a:r>
          </a:p>
        </p:txBody>
      </p:sp>
    </p:spTree>
    <p:extLst>
      <p:ext uri="{BB962C8B-B14F-4D97-AF65-F5344CB8AC3E}">
        <p14:creationId xmlns:p14="http://schemas.microsoft.com/office/powerpoint/2010/main" val="383005049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BCADA-C2BC-8C89-F224-6C84B30E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E8AB4A3-BE79-06FA-AC7C-BEC57E78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042"/>
            <a:ext cx="9144000" cy="577517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  <a:latin typeface="Calibir"/>
                <a:cs typeface="Arial" panose="020B0604020202020204" pitchFamily="34" charset="0"/>
              </a:rPr>
              <a:t>Let’s Answer Your Questions</a:t>
            </a:r>
            <a:endParaRPr lang="en-AU" dirty="0">
              <a:solidFill>
                <a:schemeClr val="tx1"/>
              </a:solidFill>
              <a:latin typeface="Calibir"/>
              <a:cs typeface="Arial" panose="020B0604020202020204" pitchFamily="34" charset="0"/>
            </a:endParaRPr>
          </a:p>
        </p:txBody>
      </p:sp>
      <p:pic>
        <p:nvPicPr>
          <p:cNvPr id="1028" name="Picture 4" descr="Answering Questions In Complete Sentences">
            <a:extLst>
              <a:ext uri="{FF2B5EF4-FFF2-40B4-BE49-F238E27FC236}">
                <a16:creationId xmlns:a16="http://schemas.microsoft.com/office/drawing/2014/main" id="{84E5527E-4D0B-667B-4471-EFDB8B314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245" y="1041882"/>
            <a:ext cx="3385511" cy="2115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BBB43-1E60-3AC7-6893-6AAB3EFF1E14}"/>
              </a:ext>
            </a:extLst>
          </p:cNvPr>
          <p:cNvSpPr txBox="1"/>
          <p:nvPr/>
        </p:nvSpPr>
        <p:spPr>
          <a:xfrm>
            <a:off x="49443" y="3572103"/>
            <a:ext cx="12093114" cy="3261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ir"/>
              </a:rPr>
              <a:t>Canvas Inbox</a:t>
            </a:r>
            <a:r>
              <a:rPr lang="en-US" sz="2800" dirty="0">
                <a:latin typeface="Calibir"/>
              </a:rPr>
              <a:t> – For academic queries.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ir"/>
              </a:rPr>
              <a:t>Email</a:t>
            </a:r>
            <a:r>
              <a:rPr lang="en-US" sz="2800" dirty="0">
                <a:latin typeface="Calibir"/>
              </a:rPr>
              <a:t> – For formal communication and attachments.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ir"/>
              </a:rPr>
              <a:t>Canvas Discussion</a:t>
            </a:r>
            <a:r>
              <a:rPr lang="en-US" sz="2800" dirty="0">
                <a:latin typeface="Calibir"/>
              </a:rPr>
              <a:t> – For academic discussions and general queries.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Calibir"/>
              </a:rPr>
              <a:t>Reminder</a:t>
            </a:r>
            <a:r>
              <a:rPr lang="en-US" sz="2800" dirty="0">
                <a:latin typeface="Calibir"/>
              </a:rPr>
              <a:t> – Please follow up if you do not receive a response within 3 business days.</a:t>
            </a:r>
          </a:p>
        </p:txBody>
      </p:sp>
    </p:spTree>
    <p:extLst>
      <p:ext uri="{BB962C8B-B14F-4D97-AF65-F5344CB8AC3E}">
        <p14:creationId xmlns:p14="http://schemas.microsoft.com/office/powerpoint/2010/main" val="219122358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  <p:sp>
        <p:nvSpPr>
          <p:cNvPr id="45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8791</Words>
  <Application>Microsoft Office PowerPoint</Application>
  <PresentationFormat>Widescreen</PresentationFormat>
  <Paragraphs>1362</Paragraphs>
  <Slides>172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172</vt:i4>
      </vt:variant>
    </vt:vector>
  </HeadingPairs>
  <TitlesOfParts>
    <vt:vector size="184" baseType="lpstr">
      <vt:lpstr>Aptos</vt:lpstr>
      <vt:lpstr>Aptos Display</vt:lpstr>
      <vt:lpstr>Arial</vt:lpstr>
      <vt:lpstr>Calibir</vt:lpstr>
      <vt:lpstr>Calibri</vt:lpstr>
      <vt:lpstr>Calibri Light</vt:lpstr>
      <vt:lpstr>Consolas</vt:lpstr>
      <vt:lpstr>Economica</vt:lpstr>
      <vt:lpstr>Symbol</vt:lpstr>
      <vt:lpstr>Wingdings</vt:lpstr>
      <vt:lpstr>Office Theme</vt:lpstr>
      <vt:lpstr>1_Office Theme</vt:lpstr>
      <vt:lpstr>32555 – Fundamentals of Software Development</vt:lpstr>
      <vt:lpstr>Welcome to 32555 – Fundamentals of Software Development</vt:lpstr>
      <vt:lpstr>Welcome to 32555 – Fundamentals of Software Development</vt:lpstr>
      <vt:lpstr>Welcome to 32555 Fundamentals of Software Development.</vt:lpstr>
      <vt:lpstr>Welcome to 32555 Fundamentals of Software Development.</vt:lpstr>
      <vt:lpstr>What will we learn?</vt:lpstr>
      <vt:lpstr>Subject Learning Outcomes</vt:lpstr>
      <vt:lpstr>Subject Structure</vt:lpstr>
      <vt:lpstr>Weekly Learning Style</vt:lpstr>
      <vt:lpstr>Weekly Learning Style</vt:lpstr>
      <vt:lpstr>Assessment Overview</vt:lpstr>
      <vt:lpstr>Assessment Overview</vt:lpstr>
      <vt:lpstr>Assessment 1 (70%)</vt:lpstr>
      <vt:lpstr>Assessment 1 (70%)</vt:lpstr>
      <vt:lpstr>Assessment 1 (70%)</vt:lpstr>
      <vt:lpstr>Assessment 1 (70%)</vt:lpstr>
      <vt:lpstr>Assessment 1 (70%)</vt:lpstr>
      <vt:lpstr>Quiz 1 (15%)</vt:lpstr>
      <vt:lpstr>Quiz 2 (15%)</vt:lpstr>
      <vt:lpstr>Passing the Subject</vt:lpstr>
      <vt:lpstr>Academic Integrity</vt:lpstr>
      <vt:lpstr>Software Development Life Cycle (SDLC)</vt:lpstr>
      <vt:lpstr>Software Development Life Cycle (SDLC)</vt:lpstr>
      <vt:lpstr>Software Development Life Cycle (SDLC)</vt:lpstr>
      <vt:lpstr>Software Development Life Cycle (SDLC)</vt:lpstr>
      <vt:lpstr>Software Development Life Cycle (SDLC)</vt:lpstr>
      <vt:lpstr>Software Development Life Cycle (SDLC)</vt:lpstr>
      <vt:lpstr>Why do we need a Software Development Methodology?</vt:lpstr>
      <vt:lpstr>Software Development Methodologies</vt:lpstr>
      <vt:lpstr>Object-Oriented Programming</vt:lpstr>
      <vt:lpstr>Software Development Tools</vt:lpstr>
      <vt:lpstr>Software Development Tools</vt:lpstr>
      <vt:lpstr>Software Development Tools</vt:lpstr>
      <vt:lpstr>Software Development Tools</vt:lpstr>
      <vt:lpstr>Software Development Tools</vt:lpstr>
      <vt:lpstr>Software Development Tools</vt:lpstr>
      <vt:lpstr>Software Development Tools</vt:lpstr>
      <vt:lpstr>Software Development Tools</vt:lpstr>
      <vt:lpstr>Software Development Tools</vt:lpstr>
      <vt:lpstr>Roadmap – Highly In Demand Skills (2026 – 2028)</vt:lpstr>
      <vt:lpstr>Can I use AI Tools?</vt:lpstr>
      <vt:lpstr>Should we use GitHub for the group project?</vt:lpstr>
      <vt:lpstr>Should we use GitHub for the group project?</vt:lpstr>
      <vt:lpstr>Git vs GitHub</vt:lpstr>
      <vt:lpstr>GitHub workflow for a Group Project</vt:lpstr>
      <vt:lpstr>My recommendation</vt:lpstr>
      <vt:lpstr>Python Installation</vt:lpstr>
      <vt:lpstr>Communication</vt:lpstr>
      <vt:lpstr>Week 7 Reminder (include around Week 7)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Week 1 Practice Quiz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First Java Program</vt:lpstr>
      <vt:lpstr>Simple User Input and Output Analysis in Java</vt:lpstr>
      <vt:lpstr>Simple User Input and Output Analysis in Java</vt:lpstr>
      <vt:lpstr>Simple User Input and Output Analysis in Java</vt:lpstr>
      <vt:lpstr>Simple User Input and Output Analysis in Java</vt:lpstr>
      <vt:lpstr>Simple User Input and Output Analysis in Java</vt:lpstr>
      <vt:lpstr>Simple User Input and Output Analysis in Java</vt:lpstr>
      <vt:lpstr>PowerPoint Presentation</vt:lpstr>
      <vt:lpstr>Simple User Input and Output Analysis in Java</vt:lpstr>
      <vt:lpstr>Simple User Input and Output Analysis in Java</vt:lpstr>
      <vt:lpstr>Simple User Input and Output Analysis in Java</vt:lpstr>
      <vt:lpstr>Simple User Input and Output Analysis in Java</vt:lpstr>
      <vt:lpstr>Simple User Input and Output Analysis in Java</vt:lpstr>
      <vt:lpstr>Simple User Input and Output Analysis in 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Succeed in the Unit</vt:lpstr>
      <vt:lpstr>UML Diagrams</vt:lpstr>
      <vt:lpstr>UML Diagrams</vt:lpstr>
      <vt:lpstr>Recommended Software Configuration Management (SCM): Git &amp; Git Bash</vt:lpstr>
      <vt:lpstr>Recommended Software Configuration Management (SCM): Git &amp; Git Bash</vt:lpstr>
      <vt:lpstr>Modern Software Development Tools (2026–2028)</vt:lpstr>
      <vt:lpstr>Modern Software Development Tools (2026–2028)</vt:lpstr>
      <vt:lpstr>Modern Software Development Tools (2026–2028)</vt:lpstr>
      <vt:lpstr>Modern Software Development Tools (2026–2028)</vt:lpstr>
      <vt:lpstr>Skills Employers Look For (2026–2028)</vt:lpstr>
      <vt:lpstr>Skills Employers Look For (2026–2028)</vt:lpstr>
      <vt:lpstr>Suggested Learning Roadmap</vt:lpstr>
      <vt:lpstr>Suggested Learning Roadmap</vt:lpstr>
      <vt:lpstr>Week 1 Summary and Key Takeaways</vt:lpstr>
      <vt:lpstr>Week 1 Summary and Key Takeaways</vt:lpstr>
      <vt:lpstr>Week 1 Summary and Key Takeaways</vt:lpstr>
      <vt:lpstr>Week 1 Summary and Key Takeaways</vt:lpstr>
      <vt:lpstr>Lab 1 Exercises</vt:lpstr>
      <vt:lpstr>Lab 1 Exercises</vt:lpstr>
      <vt:lpstr>Lab 1 Exercises</vt:lpstr>
      <vt:lpstr>Lab 1 Exercises</vt:lpstr>
      <vt:lpstr>Lab 1 Exercises</vt:lpstr>
      <vt:lpstr>Lab 1 Exercises</vt:lpstr>
      <vt:lpstr>Lab 1 Exercises</vt:lpstr>
      <vt:lpstr>Lab 1 Exercises</vt:lpstr>
      <vt:lpstr>Lab 1 Exercises</vt:lpstr>
      <vt:lpstr>Lab 1 Exercises</vt:lpstr>
      <vt:lpstr>Lab 1 Exercises</vt:lpstr>
      <vt:lpstr>Lab 1 Exercises</vt:lpstr>
      <vt:lpstr>Lab 1 Exercises</vt:lpstr>
      <vt:lpstr>PowerPoint Presentation</vt:lpstr>
      <vt:lpstr>Lab 1 Exercises</vt:lpstr>
      <vt:lpstr>Lab 1 Exercises</vt:lpstr>
      <vt:lpstr>PowerPoint Presentation</vt:lpstr>
      <vt:lpstr>Lab 1 Exercises</vt:lpstr>
      <vt:lpstr>Week 1 Summary and Key Takeaways</vt:lpstr>
      <vt:lpstr>Let’s Answer Your Questions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161</cp:revision>
  <dcterms:created xsi:type="dcterms:W3CDTF">2025-07-28T16:39:25Z</dcterms:created>
  <dcterms:modified xsi:type="dcterms:W3CDTF">2026-08-04T18:30:54Z</dcterms:modified>
</cp:coreProperties>
</file>