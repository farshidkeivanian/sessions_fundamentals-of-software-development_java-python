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tags/tag7.xml" ContentType="application/vnd.openxmlformats-officedocument.presentationml.tags+xml"/>
  <Override PartName="/ppt/notesSlides/notesSlide11.xml" ContentType="application/vnd.openxmlformats-officedocument.presentationml.notesSlide+xml"/>
  <Override PartName="/ppt/tags/tag8.xml" ContentType="application/vnd.openxmlformats-officedocument.presentationml.tags+xml"/>
  <Override PartName="/ppt/notesSlides/notesSlide12.xml" ContentType="application/vnd.openxmlformats-officedocument.presentationml.notesSlide+xml"/>
  <Override PartName="/ppt/tags/tag9.xml" ContentType="application/vnd.openxmlformats-officedocument.presentationml.tags+xml"/>
  <Override PartName="/ppt/notesSlides/notesSlide13.xml" ContentType="application/vnd.openxmlformats-officedocument.presentationml.notesSlide+xml"/>
  <Override PartName="/ppt/tags/tag10.xml" ContentType="application/vnd.openxmlformats-officedocument.presentationml.tags+xml"/>
  <Override PartName="/ppt/notesSlides/notesSlide14.xml" ContentType="application/vnd.openxmlformats-officedocument.presentationml.notesSlide+xml"/>
  <Override PartName="/ppt/tags/tag11.xml" ContentType="application/vnd.openxmlformats-officedocument.presentationml.tags+xml"/>
  <Override PartName="/ppt/notesSlides/notesSlide15.xml" ContentType="application/vnd.openxmlformats-officedocument.presentationml.notesSlide+xml"/>
  <Override PartName="/ppt/tags/tag12.xml" ContentType="application/vnd.openxmlformats-officedocument.presentationml.tags+xml"/>
  <Override PartName="/ppt/notesSlides/notesSlide16.xml" ContentType="application/vnd.openxmlformats-officedocument.presentationml.notesSlide+xml"/>
  <Override PartName="/ppt/tags/tag13.xml" ContentType="application/vnd.openxmlformats-officedocument.presentationml.tags+xml"/>
  <Override PartName="/ppt/notesSlides/notesSlide17.xml" ContentType="application/vnd.openxmlformats-officedocument.presentationml.notesSlide+xml"/>
  <Override PartName="/ppt/tags/tag14.xml" ContentType="application/vnd.openxmlformats-officedocument.presentationml.tags+xml"/>
  <Override PartName="/ppt/notesSlides/notesSlide18.xml" ContentType="application/vnd.openxmlformats-officedocument.presentationml.notesSlide+xml"/>
  <Override PartName="/ppt/tags/tag15.xml" ContentType="application/vnd.openxmlformats-officedocument.presentationml.tags+xml"/>
  <Override PartName="/ppt/notesSlides/notesSlide19.xml" ContentType="application/vnd.openxmlformats-officedocument.presentationml.notesSlide+xml"/>
  <Override PartName="/ppt/tags/tag16.xml" ContentType="application/vnd.openxmlformats-officedocument.presentationml.tags+xml"/>
  <Override PartName="/ppt/notesSlides/notesSlide20.xml" ContentType="application/vnd.openxmlformats-officedocument.presentationml.notesSlide+xml"/>
  <Override PartName="/ppt/tags/tag17.xml" ContentType="application/vnd.openxmlformats-officedocument.presentationml.tags+xml"/>
  <Override PartName="/ppt/notesSlides/notesSlide21.xml" ContentType="application/vnd.openxmlformats-officedocument.presentationml.notesSlide+xml"/>
  <Override PartName="/ppt/tags/tag18.xml" ContentType="application/vnd.openxmlformats-officedocument.presentationml.tags+xml"/>
  <Override PartName="/ppt/notesSlides/notesSlide22.xml" ContentType="application/vnd.openxmlformats-officedocument.presentationml.notesSlide+xml"/>
  <Override PartName="/ppt/tags/tag19.xml" ContentType="application/vnd.openxmlformats-officedocument.presentationml.tags+xml"/>
  <Override PartName="/ppt/notesSlides/notesSlide23.xml" ContentType="application/vnd.openxmlformats-officedocument.presentationml.notesSlide+xml"/>
  <Override PartName="/ppt/tags/tag20.xml" ContentType="application/vnd.openxmlformats-officedocument.presentationml.tags+xml"/>
  <Override PartName="/ppt/notesSlides/notesSlide24.xml" ContentType="application/vnd.openxmlformats-officedocument.presentationml.notesSlide+xml"/>
  <Override PartName="/ppt/tags/tag21.xml" ContentType="application/vnd.openxmlformats-officedocument.presentationml.tags+xml"/>
  <Override PartName="/ppt/notesSlides/notesSlide25.xml" ContentType="application/vnd.openxmlformats-officedocument.presentationml.notesSlide+xml"/>
  <Override PartName="/ppt/tags/tag22.xml" ContentType="application/vnd.openxmlformats-officedocument.presentationml.tags+xml"/>
  <Override PartName="/ppt/notesSlides/notesSlide26.xml" ContentType="application/vnd.openxmlformats-officedocument.presentationml.notesSlide+xml"/>
  <Override PartName="/ppt/tags/tag23.xml" ContentType="application/vnd.openxmlformats-officedocument.presentationml.tags+xml"/>
  <Override PartName="/ppt/notesSlides/notesSlide27.xml" ContentType="application/vnd.openxmlformats-officedocument.presentationml.notesSlide+xml"/>
  <Override PartName="/ppt/tags/tag24.xml" ContentType="application/vnd.openxmlformats-officedocument.presentationml.tags+xml"/>
  <Override PartName="/ppt/notesSlides/notesSlide28.xml" ContentType="application/vnd.openxmlformats-officedocument.presentationml.notesSlide+xml"/>
  <Override PartName="/ppt/tags/tag25.xml" ContentType="application/vnd.openxmlformats-officedocument.presentationml.tags+xml"/>
  <Override PartName="/ppt/notesSlides/notesSlide29.xml" ContentType="application/vnd.openxmlformats-officedocument.presentationml.notesSlide+xml"/>
  <Override PartName="/ppt/tags/tag26.xml" ContentType="application/vnd.openxmlformats-officedocument.presentationml.tags+xml"/>
  <Override PartName="/ppt/notesSlides/notesSlide30.xml" ContentType="application/vnd.openxmlformats-officedocument.presentationml.notesSlide+xml"/>
  <Override PartName="/ppt/tags/tag27.xml" ContentType="application/vnd.openxmlformats-officedocument.presentationml.tags+xml"/>
  <Override PartName="/ppt/notesSlides/notesSlide31.xml" ContentType="application/vnd.openxmlformats-officedocument.presentationml.notesSlide+xml"/>
  <Override PartName="/ppt/tags/tag28.xml" ContentType="application/vnd.openxmlformats-officedocument.presentationml.tags+xml"/>
  <Override PartName="/ppt/notesSlides/notesSlide32.xml" ContentType="application/vnd.openxmlformats-officedocument.presentationml.notesSlide+xml"/>
  <Override PartName="/ppt/tags/tag29.xml" ContentType="application/vnd.openxmlformats-officedocument.presentationml.tags+xml"/>
  <Override PartName="/ppt/notesSlides/notesSlide33.xml" ContentType="application/vnd.openxmlformats-officedocument.presentationml.notesSlide+xml"/>
  <Override PartName="/ppt/tags/tag30.xml" ContentType="application/vnd.openxmlformats-officedocument.presentationml.tags+xml"/>
  <Override PartName="/ppt/notesSlides/notesSlide34.xml" ContentType="application/vnd.openxmlformats-officedocument.presentationml.notesSlide+xml"/>
  <Override PartName="/ppt/tags/tag31.xml" ContentType="application/vnd.openxmlformats-officedocument.presentationml.tags+xml"/>
  <Override PartName="/ppt/notesSlides/notesSlide35.xml" ContentType="application/vnd.openxmlformats-officedocument.presentationml.notesSlide+xml"/>
  <Override PartName="/ppt/tags/tag32.xml" ContentType="application/vnd.openxmlformats-officedocument.presentationml.tags+xml"/>
  <Override PartName="/ppt/notesSlides/notesSlide36.xml" ContentType="application/vnd.openxmlformats-officedocument.presentationml.notesSlide+xml"/>
  <Override PartName="/ppt/tags/tag33.xml" ContentType="application/vnd.openxmlformats-officedocument.presentationml.tags+xml"/>
  <Override PartName="/ppt/notesSlides/notesSlide37.xml" ContentType="application/vnd.openxmlformats-officedocument.presentationml.notesSlide+xml"/>
  <Override PartName="/ppt/tags/tag34.xml" ContentType="application/vnd.openxmlformats-officedocument.presentationml.tags+xml"/>
  <Override PartName="/ppt/notesSlides/notesSlide38.xml" ContentType="application/vnd.openxmlformats-officedocument.presentationml.notesSlide+xml"/>
  <Override PartName="/ppt/tags/tag35.xml" ContentType="application/vnd.openxmlformats-officedocument.presentationml.tags+xml"/>
  <Override PartName="/ppt/notesSlides/notesSlide39.xml" ContentType="application/vnd.openxmlformats-officedocument.presentationml.notesSlide+xml"/>
  <Override PartName="/ppt/tags/tag36.xml" ContentType="application/vnd.openxmlformats-officedocument.presentationml.tags+xml"/>
  <Override PartName="/ppt/notesSlides/notesSlide40.xml" ContentType="application/vnd.openxmlformats-officedocument.presentationml.notesSlide+xml"/>
  <Override PartName="/ppt/tags/tag37.xml" ContentType="application/vnd.openxmlformats-officedocument.presentationml.tags+xml"/>
  <Override PartName="/ppt/notesSlides/notesSlide41.xml" ContentType="application/vnd.openxmlformats-officedocument.presentationml.notesSlide+xml"/>
  <Override PartName="/ppt/tags/tag38.xml" ContentType="application/vnd.openxmlformats-officedocument.presentationml.tags+xml"/>
  <Override PartName="/ppt/notesSlides/notesSlide42.xml" ContentType="application/vnd.openxmlformats-officedocument.presentationml.notesSlide+xml"/>
  <Override PartName="/ppt/tags/tag39.xml" ContentType="application/vnd.openxmlformats-officedocument.presentationml.tags+xml"/>
  <Override PartName="/ppt/notesSlides/notesSlide43.xml" ContentType="application/vnd.openxmlformats-officedocument.presentationml.notesSlide+xml"/>
  <Override PartName="/ppt/tags/tag40.xml" ContentType="application/vnd.openxmlformats-officedocument.presentationml.tags+xml"/>
  <Override PartName="/ppt/notesSlides/notesSlide44.xml" ContentType="application/vnd.openxmlformats-officedocument.presentationml.notesSlide+xml"/>
  <Override PartName="/ppt/tags/tag41.xml" ContentType="application/vnd.openxmlformats-officedocument.presentationml.tags+xml"/>
  <Override PartName="/ppt/notesSlides/notesSlide45.xml" ContentType="application/vnd.openxmlformats-officedocument.presentationml.notesSlide+xml"/>
  <Override PartName="/ppt/tags/tag42.xml" ContentType="application/vnd.openxmlformats-officedocument.presentationml.tags+xml"/>
  <Override PartName="/ppt/notesSlides/notesSlide46.xml" ContentType="application/vnd.openxmlformats-officedocument.presentationml.notesSlide+xml"/>
  <Override PartName="/ppt/tags/tag43.xml" ContentType="application/vnd.openxmlformats-officedocument.presentationml.tags+xml"/>
  <Override PartName="/ppt/notesSlides/notesSlide47.xml" ContentType="application/vnd.openxmlformats-officedocument.presentationml.notesSlide+xml"/>
  <Override PartName="/ppt/tags/tag44.xml" ContentType="application/vnd.openxmlformats-officedocument.presentationml.tags+xml"/>
  <Override PartName="/ppt/notesSlides/notesSlide48.xml" ContentType="application/vnd.openxmlformats-officedocument.presentationml.notesSlide+xml"/>
  <Override PartName="/ppt/tags/tag45.xml" ContentType="application/vnd.openxmlformats-officedocument.presentationml.tags+xml"/>
  <Override PartName="/ppt/notesSlides/notesSlide49.xml" ContentType="application/vnd.openxmlformats-officedocument.presentationml.notesSlide+xml"/>
  <Override PartName="/ppt/tags/tag46.xml" ContentType="application/vnd.openxmlformats-officedocument.presentationml.tags+xml"/>
  <Override PartName="/ppt/notesSlides/notesSlide50.xml" ContentType="application/vnd.openxmlformats-officedocument.presentationml.notesSlide+xml"/>
  <Override PartName="/ppt/tags/tag47.xml" ContentType="application/vnd.openxmlformats-officedocument.presentationml.tags+xml"/>
  <Override PartName="/ppt/notesSlides/notesSlide51.xml" ContentType="application/vnd.openxmlformats-officedocument.presentationml.notesSlide+xml"/>
  <Override PartName="/ppt/tags/tag48.xml" ContentType="application/vnd.openxmlformats-officedocument.presentationml.tags+xml"/>
  <Override PartName="/ppt/notesSlides/notesSlide52.xml" ContentType="application/vnd.openxmlformats-officedocument.presentationml.notesSlide+xml"/>
  <Override PartName="/ppt/tags/tag49.xml" ContentType="application/vnd.openxmlformats-officedocument.presentationml.tags+xml"/>
  <Override PartName="/ppt/notesSlides/notesSlide53.xml" ContentType="application/vnd.openxmlformats-officedocument.presentationml.notesSlide+xml"/>
  <Override PartName="/ppt/tags/tag50.xml" ContentType="application/vnd.openxmlformats-officedocument.presentationml.tags+xml"/>
  <Override PartName="/ppt/notesSlides/notesSlide54.xml" ContentType="application/vnd.openxmlformats-officedocument.presentationml.notesSlide+xml"/>
  <Override PartName="/ppt/tags/tag51.xml" ContentType="application/vnd.openxmlformats-officedocument.presentationml.tags+xml"/>
  <Override PartName="/ppt/notesSlides/notesSlide55.xml" ContentType="application/vnd.openxmlformats-officedocument.presentationml.notesSlide+xml"/>
  <Override PartName="/ppt/tags/tag52.xml" ContentType="application/vnd.openxmlformats-officedocument.presentationml.tags+xml"/>
  <Override PartName="/ppt/notesSlides/notesSlide56.xml" ContentType="application/vnd.openxmlformats-officedocument.presentationml.notesSlide+xml"/>
  <Override PartName="/ppt/tags/tag53.xml" ContentType="application/vnd.openxmlformats-officedocument.presentationml.tags+xml"/>
  <Override PartName="/ppt/notesSlides/notesSlide57.xml" ContentType="application/vnd.openxmlformats-officedocument.presentationml.notesSlide+xml"/>
  <Override PartName="/ppt/tags/tag54.xml" ContentType="application/vnd.openxmlformats-officedocument.presentationml.tags+xml"/>
  <Override PartName="/ppt/notesSlides/notesSlide58.xml" ContentType="application/vnd.openxmlformats-officedocument.presentationml.notesSlide+xml"/>
  <Override PartName="/ppt/tags/tag55.xml" ContentType="application/vnd.openxmlformats-officedocument.presentationml.tags+xml"/>
  <Override PartName="/ppt/notesSlides/notesSlide59.xml" ContentType="application/vnd.openxmlformats-officedocument.presentationml.notesSlide+xml"/>
  <Override PartName="/ppt/tags/tag56.xml" ContentType="application/vnd.openxmlformats-officedocument.presentationml.tags+xml"/>
  <Override PartName="/ppt/notesSlides/notesSlide60.xml" ContentType="application/vnd.openxmlformats-officedocument.presentationml.notesSlide+xml"/>
  <Override PartName="/ppt/tags/tag57.xml" ContentType="application/vnd.openxmlformats-officedocument.presentationml.tags+xml"/>
  <Override PartName="/ppt/notesSlides/notesSlide61.xml" ContentType="application/vnd.openxmlformats-officedocument.presentationml.notesSlide+xml"/>
  <Override PartName="/ppt/tags/tag58.xml" ContentType="application/vnd.openxmlformats-officedocument.presentationml.tags+xml"/>
  <Override PartName="/ppt/notesSlides/notesSlide62.xml" ContentType="application/vnd.openxmlformats-officedocument.presentationml.notesSlide+xml"/>
  <Override PartName="/ppt/tags/tag59.xml" ContentType="application/vnd.openxmlformats-officedocument.presentationml.tags+xml"/>
  <Override PartName="/ppt/notesSlides/notesSlide63.xml" ContentType="application/vnd.openxmlformats-officedocument.presentationml.notesSlide+xml"/>
  <Override PartName="/ppt/tags/tag60.xml" ContentType="application/vnd.openxmlformats-officedocument.presentationml.tags+xml"/>
  <Override PartName="/ppt/notesSlides/notesSlide64.xml" ContentType="application/vnd.openxmlformats-officedocument.presentationml.notesSlide+xml"/>
  <Override PartName="/ppt/tags/tag61.xml" ContentType="application/vnd.openxmlformats-officedocument.presentationml.tags+xml"/>
  <Override PartName="/ppt/notesSlides/notesSlide65.xml" ContentType="application/vnd.openxmlformats-officedocument.presentationml.notesSlide+xml"/>
  <Override PartName="/ppt/tags/tag62.xml" ContentType="application/vnd.openxmlformats-officedocument.presentationml.tags+xml"/>
  <Override PartName="/ppt/notesSlides/notesSlide66.xml" ContentType="application/vnd.openxmlformats-officedocument.presentationml.notesSlide+xml"/>
  <Override PartName="/ppt/tags/tag63.xml" ContentType="application/vnd.openxmlformats-officedocument.presentationml.tags+xml"/>
  <Override PartName="/ppt/notesSlides/notesSlide67.xml" ContentType="application/vnd.openxmlformats-officedocument.presentationml.notesSlide+xml"/>
  <Override PartName="/ppt/tags/tag64.xml" ContentType="application/vnd.openxmlformats-officedocument.presentationml.tags+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96"/>
  </p:notesMasterIdLst>
  <p:sldIdLst>
    <p:sldId id="2522" r:id="rId3"/>
    <p:sldId id="2443" r:id="rId4"/>
    <p:sldId id="2633" r:id="rId5"/>
    <p:sldId id="2467" r:id="rId6"/>
    <p:sldId id="2632" r:id="rId7"/>
    <p:sldId id="2592" r:id="rId8"/>
    <p:sldId id="2826" r:id="rId9"/>
    <p:sldId id="2827" r:id="rId10"/>
    <p:sldId id="2828" r:id="rId11"/>
    <p:sldId id="2829" r:id="rId12"/>
    <p:sldId id="2830" r:id="rId13"/>
    <p:sldId id="2831" r:id="rId14"/>
    <p:sldId id="2832" r:id="rId15"/>
    <p:sldId id="2833" r:id="rId16"/>
    <p:sldId id="2834" r:id="rId17"/>
    <p:sldId id="2835" r:id="rId18"/>
    <p:sldId id="2836" r:id="rId19"/>
    <p:sldId id="2837" r:id="rId20"/>
    <p:sldId id="2838" r:id="rId21"/>
    <p:sldId id="2839" r:id="rId22"/>
    <p:sldId id="2840" r:id="rId23"/>
    <p:sldId id="2841" r:id="rId24"/>
    <p:sldId id="2842" r:id="rId25"/>
    <p:sldId id="2843" r:id="rId26"/>
    <p:sldId id="2844" r:id="rId27"/>
    <p:sldId id="2845" r:id="rId28"/>
    <p:sldId id="2846" r:id="rId29"/>
    <p:sldId id="2847" r:id="rId30"/>
    <p:sldId id="2848" r:id="rId31"/>
    <p:sldId id="2849" r:id="rId32"/>
    <p:sldId id="2850" r:id="rId33"/>
    <p:sldId id="2851" r:id="rId34"/>
    <p:sldId id="2852" r:id="rId35"/>
    <p:sldId id="2853" r:id="rId36"/>
    <p:sldId id="2854" r:id="rId37"/>
    <p:sldId id="2855" r:id="rId38"/>
    <p:sldId id="2635" r:id="rId39"/>
    <p:sldId id="2795" r:id="rId40"/>
    <p:sldId id="2796" r:id="rId41"/>
    <p:sldId id="2797" r:id="rId42"/>
    <p:sldId id="2798" r:id="rId43"/>
    <p:sldId id="2799" r:id="rId44"/>
    <p:sldId id="2800" r:id="rId45"/>
    <p:sldId id="2801" r:id="rId46"/>
    <p:sldId id="2802" r:id="rId47"/>
    <p:sldId id="2803" r:id="rId48"/>
    <p:sldId id="2818" r:id="rId49"/>
    <p:sldId id="2819" r:id="rId50"/>
    <p:sldId id="2820" r:id="rId51"/>
    <p:sldId id="2821" r:id="rId52"/>
    <p:sldId id="2822" r:id="rId53"/>
    <p:sldId id="2736" r:id="rId54"/>
    <p:sldId id="2740" r:id="rId55"/>
    <p:sldId id="2741" r:id="rId56"/>
    <p:sldId id="2742" r:id="rId57"/>
    <p:sldId id="2743" r:id="rId58"/>
    <p:sldId id="2739" r:id="rId59"/>
    <p:sldId id="2744" r:id="rId60"/>
    <p:sldId id="2746" r:id="rId61"/>
    <p:sldId id="2747" r:id="rId62"/>
    <p:sldId id="2737" r:id="rId63"/>
    <p:sldId id="2785" r:id="rId64"/>
    <p:sldId id="2749" r:id="rId65"/>
    <p:sldId id="2750" r:id="rId66"/>
    <p:sldId id="2751" r:id="rId67"/>
    <p:sldId id="2752" r:id="rId68"/>
    <p:sldId id="2748" r:id="rId69"/>
    <p:sldId id="2753" r:id="rId70"/>
    <p:sldId id="2754" r:id="rId71"/>
    <p:sldId id="2757" r:id="rId72"/>
    <p:sldId id="2758" r:id="rId73"/>
    <p:sldId id="2759" r:id="rId74"/>
    <p:sldId id="2760" r:id="rId75"/>
    <p:sldId id="2761" r:id="rId76"/>
    <p:sldId id="2756" r:id="rId77"/>
    <p:sldId id="2755" r:id="rId78"/>
    <p:sldId id="2762" r:id="rId79"/>
    <p:sldId id="2763" r:id="rId80"/>
    <p:sldId id="2738" r:id="rId81"/>
    <p:sldId id="2786" r:id="rId82"/>
    <p:sldId id="2788" r:id="rId83"/>
    <p:sldId id="2789" r:id="rId84"/>
    <p:sldId id="2787" r:id="rId85"/>
    <p:sldId id="2732" r:id="rId86"/>
    <p:sldId id="2733" r:id="rId87"/>
    <p:sldId id="2734" r:id="rId88"/>
    <p:sldId id="2735" r:id="rId89"/>
    <p:sldId id="2823" r:id="rId90"/>
    <p:sldId id="257" r:id="rId91"/>
    <p:sldId id="352" r:id="rId92"/>
    <p:sldId id="356" r:id="rId93"/>
    <p:sldId id="357" r:id="rId94"/>
    <p:sldId id="401" r:id="rId95"/>
    <p:sldId id="2857" r:id="rId96"/>
    <p:sldId id="2859" r:id="rId97"/>
    <p:sldId id="2860" r:id="rId98"/>
    <p:sldId id="2861" r:id="rId99"/>
    <p:sldId id="2862" r:id="rId100"/>
    <p:sldId id="2863" r:id="rId101"/>
    <p:sldId id="2864" r:id="rId102"/>
    <p:sldId id="2865" r:id="rId103"/>
    <p:sldId id="2866" r:id="rId104"/>
    <p:sldId id="2867" r:id="rId105"/>
    <p:sldId id="2868" r:id="rId106"/>
    <p:sldId id="2869" r:id="rId107"/>
    <p:sldId id="2870" r:id="rId108"/>
    <p:sldId id="2871" r:id="rId109"/>
    <p:sldId id="2872" r:id="rId110"/>
    <p:sldId id="2873" r:id="rId111"/>
    <p:sldId id="2874" r:id="rId112"/>
    <p:sldId id="2875" r:id="rId113"/>
    <p:sldId id="2876" r:id="rId114"/>
    <p:sldId id="2877" r:id="rId115"/>
    <p:sldId id="2878" r:id="rId116"/>
    <p:sldId id="2879" r:id="rId117"/>
    <p:sldId id="2880" r:id="rId118"/>
    <p:sldId id="2881" r:id="rId119"/>
    <p:sldId id="2882" r:id="rId120"/>
    <p:sldId id="2883" r:id="rId121"/>
    <p:sldId id="2884" r:id="rId122"/>
    <p:sldId id="2858" r:id="rId123"/>
    <p:sldId id="2885" r:id="rId124"/>
    <p:sldId id="2886" r:id="rId125"/>
    <p:sldId id="2887" r:id="rId126"/>
    <p:sldId id="2888" r:id="rId127"/>
    <p:sldId id="2889" r:id="rId128"/>
    <p:sldId id="2890" r:id="rId129"/>
    <p:sldId id="2891" r:id="rId130"/>
    <p:sldId id="2892" r:id="rId131"/>
    <p:sldId id="2893" r:id="rId132"/>
    <p:sldId id="2894" r:id="rId133"/>
    <p:sldId id="2895" r:id="rId134"/>
    <p:sldId id="2896" r:id="rId135"/>
    <p:sldId id="2897" r:id="rId136"/>
    <p:sldId id="2856" r:id="rId137"/>
    <p:sldId id="462" r:id="rId138"/>
    <p:sldId id="2898" r:id="rId139"/>
    <p:sldId id="2899" r:id="rId140"/>
    <p:sldId id="2900" r:id="rId141"/>
    <p:sldId id="2901" r:id="rId142"/>
    <p:sldId id="2902" r:id="rId143"/>
    <p:sldId id="2903" r:id="rId144"/>
    <p:sldId id="2904" r:id="rId145"/>
    <p:sldId id="2905" r:id="rId146"/>
    <p:sldId id="2906" r:id="rId147"/>
    <p:sldId id="2907" r:id="rId148"/>
    <p:sldId id="2908" r:id="rId149"/>
    <p:sldId id="2909" r:id="rId150"/>
    <p:sldId id="2910" r:id="rId151"/>
    <p:sldId id="2911" r:id="rId152"/>
    <p:sldId id="2912" r:id="rId153"/>
    <p:sldId id="2913" r:id="rId154"/>
    <p:sldId id="2914" r:id="rId155"/>
    <p:sldId id="2915" r:id="rId156"/>
    <p:sldId id="2916" r:id="rId157"/>
    <p:sldId id="2917" r:id="rId158"/>
    <p:sldId id="351" r:id="rId159"/>
    <p:sldId id="478" r:id="rId160"/>
    <p:sldId id="479" r:id="rId161"/>
    <p:sldId id="480" r:id="rId162"/>
    <p:sldId id="481" r:id="rId163"/>
    <p:sldId id="2918" r:id="rId164"/>
    <p:sldId id="2919" r:id="rId165"/>
    <p:sldId id="2920" r:id="rId166"/>
    <p:sldId id="2921" r:id="rId167"/>
    <p:sldId id="2922" r:id="rId168"/>
    <p:sldId id="2923" r:id="rId169"/>
    <p:sldId id="2924" r:id="rId170"/>
    <p:sldId id="2925" r:id="rId171"/>
    <p:sldId id="2926" r:id="rId172"/>
    <p:sldId id="2927" r:id="rId173"/>
    <p:sldId id="2928" r:id="rId174"/>
    <p:sldId id="2929" r:id="rId175"/>
    <p:sldId id="2930" r:id="rId176"/>
    <p:sldId id="2931" r:id="rId177"/>
    <p:sldId id="2932" r:id="rId178"/>
    <p:sldId id="2933" r:id="rId179"/>
    <p:sldId id="2934" r:id="rId180"/>
    <p:sldId id="2935" r:id="rId181"/>
    <p:sldId id="2936" r:id="rId182"/>
    <p:sldId id="2937" r:id="rId183"/>
    <p:sldId id="2938" r:id="rId184"/>
    <p:sldId id="2939" r:id="rId185"/>
    <p:sldId id="2940" r:id="rId186"/>
    <p:sldId id="2941" r:id="rId187"/>
    <p:sldId id="2942" r:id="rId188"/>
    <p:sldId id="2943" r:id="rId189"/>
    <p:sldId id="2944" r:id="rId190"/>
    <p:sldId id="2945" r:id="rId191"/>
    <p:sldId id="2946" r:id="rId192"/>
    <p:sldId id="2947" r:id="rId193"/>
    <p:sldId id="2948" r:id="rId194"/>
    <p:sldId id="749" r:id="rId19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839" y="4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slide" Target="slides/slide18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199"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190" Type="http://schemas.openxmlformats.org/officeDocument/2006/relationships/slide" Target="slides/slide188.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notesMaster" Target="notesMasters/notesMaster1.xml"/><Relationship Id="rId200" Type="http://schemas.openxmlformats.org/officeDocument/2006/relationships/tableStyles" Target="tableStyles.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presProps" Target="presProps.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viewProps" Target="viewProps.xml"/><Relationship Id="rId18" Type="http://schemas.openxmlformats.org/officeDocument/2006/relationships/slide" Target="slides/slide16.xml"/><Relationship Id="rId39" Type="http://schemas.openxmlformats.org/officeDocument/2006/relationships/slide" Target="slides/slide37.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4768A3-CE1D-4B38-9DB7-258A20660199}" type="datetimeFigureOut">
              <a:rPr lang="en-AU" smtClean="0"/>
              <a:t>2/09/2026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ED24F3-C88E-4C15-8193-4E111B80EC59}" type="slidenum">
              <a:rPr lang="en-AU" smtClean="0"/>
              <a:t>‹#›</a:t>
            </a:fld>
            <a:endParaRPr lang="en-AU"/>
          </a:p>
        </p:txBody>
      </p:sp>
    </p:spTree>
    <p:extLst>
      <p:ext uri="{BB962C8B-B14F-4D97-AF65-F5344CB8AC3E}">
        <p14:creationId xmlns:p14="http://schemas.microsoft.com/office/powerpoint/2010/main" val="340141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1ef0b59b6e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1ef0b59b6e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78dea5054f_1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40536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78dea5054f_1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8283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78dea5054f_1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69261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93</a:t>
            </a:fld>
            <a:endParaRPr lang="en-US" altLang="en-US"/>
          </a:p>
        </p:txBody>
      </p:sp>
      <p:sp>
        <p:nvSpPr>
          <p:cNvPr id="48130" name="Rectangle 2"/>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2982208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7B3ED-63F1-939F-1DF5-5E0A62B85D21}"/>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2E8574A0-6EEF-3485-8F62-2676FC744C2A}"/>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FAE511E1-2C99-C31F-8E37-CF38AAE3A5BC}"/>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9B633654-CCB0-629D-B13E-5814E3AAD057}"/>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94</a:t>
            </a:fld>
            <a:endParaRPr lang="en-US" altLang="en-US"/>
          </a:p>
        </p:txBody>
      </p:sp>
      <p:sp>
        <p:nvSpPr>
          <p:cNvPr id="48130" name="Rectangle 2">
            <a:extLst>
              <a:ext uri="{FF2B5EF4-FFF2-40B4-BE49-F238E27FC236}">
                <a16:creationId xmlns:a16="http://schemas.microsoft.com/office/drawing/2014/main" id="{7838C512-E207-3F3A-8BB6-884BBC565042}"/>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9877F35F-84AE-98F9-AE11-997A48728CD6}"/>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5215634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91154-7020-C854-0258-F26FAD67598A}"/>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0D04092A-12E2-D850-EDA8-8DC759AF4E41}"/>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588153E6-8124-917B-0AEC-01EF5A4C0F57}"/>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6B192540-E2D9-6E7F-C5DC-C5F0239B680E}"/>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95</a:t>
            </a:fld>
            <a:endParaRPr lang="en-US" altLang="en-US"/>
          </a:p>
        </p:txBody>
      </p:sp>
      <p:sp>
        <p:nvSpPr>
          <p:cNvPr id="48130" name="Rectangle 2">
            <a:extLst>
              <a:ext uri="{FF2B5EF4-FFF2-40B4-BE49-F238E27FC236}">
                <a16:creationId xmlns:a16="http://schemas.microsoft.com/office/drawing/2014/main" id="{C3CA122C-379F-D428-871C-4EE01FA7EB75}"/>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F27FD08F-6359-B42B-1424-07801E4A338B}"/>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2561703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63B7C-F396-B462-2DD4-22D5259AD719}"/>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33920046-EA1B-1D80-70DB-445548DFCD7D}"/>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2F28E3D0-FEC7-468A-8F34-651781BD6972}"/>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C6D0A446-714E-9A28-46F5-ADE8E5EB5EBD}"/>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96</a:t>
            </a:fld>
            <a:endParaRPr lang="en-US" altLang="en-US"/>
          </a:p>
        </p:txBody>
      </p:sp>
      <p:sp>
        <p:nvSpPr>
          <p:cNvPr id="48130" name="Rectangle 2">
            <a:extLst>
              <a:ext uri="{FF2B5EF4-FFF2-40B4-BE49-F238E27FC236}">
                <a16:creationId xmlns:a16="http://schemas.microsoft.com/office/drawing/2014/main" id="{7E711941-F9C5-7BAA-4F33-FA6C9996302B}"/>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FF63270B-6704-40CE-8CC9-85C36F5E8CA7}"/>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32657322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F2D13-50A0-1D5C-8EC2-C7DE7FD30A40}"/>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3C09031F-2AFA-2F4A-AB1C-545146C9217A}"/>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38BE9430-498E-43D1-6EA2-6A4363A0C690}"/>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15F97AEE-1BB8-404E-0D7A-033A14023C52}"/>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97</a:t>
            </a:fld>
            <a:endParaRPr lang="en-US" altLang="en-US"/>
          </a:p>
        </p:txBody>
      </p:sp>
      <p:sp>
        <p:nvSpPr>
          <p:cNvPr id="48130" name="Rectangle 2">
            <a:extLst>
              <a:ext uri="{FF2B5EF4-FFF2-40B4-BE49-F238E27FC236}">
                <a16:creationId xmlns:a16="http://schemas.microsoft.com/office/drawing/2014/main" id="{BC767C0A-9275-74C7-1534-31C6CC26478D}"/>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8529B632-CC42-7419-5D05-58B113EFF86C}"/>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737307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DED49-E1E7-FAB5-1967-BD7859134779}"/>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F8C83629-BD80-0DA3-3AA6-AFDB3DD871F1}"/>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956B5A53-5CE9-1A91-9908-E6A6878C0A82}"/>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5EBBEED2-BB65-4974-1F1B-8483275949BE}"/>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98</a:t>
            </a:fld>
            <a:endParaRPr lang="en-US" altLang="en-US"/>
          </a:p>
        </p:txBody>
      </p:sp>
      <p:sp>
        <p:nvSpPr>
          <p:cNvPr id="48130" name="Rectangle 2">
            <a:extLst>
              <a:ext uri="{FF2B5EF4-FFF2-40B4-BE49-F238E27FC236}">
                <a16:creationId xmlns:a16="http://schemas.microsoft.com/office/drawing/2014/main" id="{9B213B76-6D1C-8C69-96EB-49F6EFBF4F97}"/>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147AA70E-6EA3-C739-A6BD-029A9BD43367}"/>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4308526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71B1-2DDD-5459-1B1C-8F797170ECB5}"/>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5D66ADD2-FA0F-6EB3-B7E6-48981C29767E}"/>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6803F670-BB40-8AFC-92CA-1E661B840419}"/>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937A0A91-61BA-9DFE-B4E2-387A2B356F04}"/>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99</a:t>
            </a:fld>
            <a:endParaRPr lang="en-US" altLang="en-US"/>
          </a:p>
        </p:txBody>
      </p:sp>
      <p:sp>
        <p:nvSpPr>
          <p:cNvPr id="48130" name="Rectangle 2">
            <a:extLst>
              <a:ext uri="{FF2B5EF4-FFF2-40B4-BE49-F238E27FC236}">
                <a16:creationId xmlns:a16="http://schemas.microsoft.com/office/drawing/2014/main" id="{BEC3F1AF-4376-DD58-55F2-79717603091A}"/>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C2629AD7-7A98-6462-D456-4A04CA121BD1}"/>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25241347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0CC02-7987-7789-75ED-FB9C73A67DEB}"/>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59DAC725-AF44-887B-2AEE-FA5F9BBE653F}"/>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C23EFD4D-821F-61C4-A03B-0B720BEBD411}"/>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5369E830-255D-9F34-9481-02821EDE5760}"/>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100</a:t>
            </a:fld>
            <a:endParaRPr lang="en-US" altLang="en-US"/>
          </a:p>
        </p:txBody>
      </p:sp>
      <p:sp>
        <p:nvSpPr>
          <p:cNvPr id="48130" name="Rectangle 2">
            <a:extLst>
              <a:ext uri="{FF2B5EF4-FFF2-40B4-BE49-F238E27FC236}">
                <a16:creationId xmlns:a16="http://schemas.microsoft.com/office/drawing/2014/main" id="{42CFF598-DC34-1A1F-0757-3E6C7299E556}"/>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DDE2A73C-2C0B-E901-ECC5-DE43979ED63A}"/>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3391291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426D6-131A-AAB9-2BF1-786B76CFA47F}"/>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5C1305A0-61C9-64F4-96AE-0D4766EF9FE9}"/>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8E0CDD8B-56AC-1FE3-E4E8-B9E3E5DCFE49}"/>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78F901F0-FE22-0C32-E016-1569A546F204}"/>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101</a:t>
            </a:fld>
            <a:endParaRPr lang="en-US" altLang="en-US"/>
          </a:p>
        </p:txBody>
      </p:sp>
      <p:sp>
        <p:nvSpPr>
          <p:cNvPr id="48130" name="Rectangle 2">
            <a:extLst>
              <a:ext uri="{FF2B5EF4-FFF2-40B4-BE49-F238E27FC236}">
                <a16:creationId xmlns:a16="http://schemas.microsoft.com/office/drawing/2014/main" id="{8E6710AA-50C7-4B05-7AFF-9F064926C322}"/>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68FB8E9F-B7AF-2481-0847-E361D17E5828}"/>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31295146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9E590-F420-DC19-A23A-C536FEB47CF7}"/>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837BA62B-9775-DA2D-A30C-E95B651844CA}"/>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123BB184-D3BC-3394-40A9-311746FC5FBC}"/>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4A168602-F768-7643-5116-87138658CAA1}"/>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102</a:t>
            </a:fld>
            <a:endParaRPr lang="en-US" altLang="en-US"/>
          </a:p>
        </p:txBody>
      </p:sp>
      <p:sp>
        <p:nvSpPr>
          <p:cNvPr id="48130" name="Rectangle 2">
            <a:extLst>
              <a:ext uri="{FF2B5EF4-FFF2-40B4-BE49-F238E27FC236}">
                <a16:creationId xmlns:a16="http://schemas.microsoft.com/office/drawing/2014/main" id="{E3C670BF-CE02-4888-00C6-3093DE4952FE}"/>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61759102-E26C-89A9-DF67-D4031D6B527C}"/>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28582297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FCBAD-9E2A-A4D3-8249-D81E07B4C65F}"/>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D3982563-8B5E-62D1-6C67-91BCC0BB1804}"/>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34C8CE29-5A02-74E7-E433-5BED9A28ACC6}"/>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C887CB82-7945-88CD-4588-7D7E89087285}"/>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103</a:t>
            </a:fld>
            <a:endParaRPr lang="en-US" altLang="en-US"/>
          </a:p>
        </p:txBody>
      </p:sp>
      <p:sp>
        <p:nvSpPr>
          <p:cNvPr id="48130" name="Rectangle 2">
            <a:extLst>
              <a:ext uri="{FF2B5EF4-FFF2-40B4-BE49-F238E27FC236}">
                <a16:creationId xmlns:a16="http://schemas.microsoft.com/office/drawing/2014/main" id="{AE2A66AA-4794-2D6C-CDDA-728D85D25CC7}"/>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BD110FDC-9339-DB13-55A0-E5FEEEC26953}"/>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39053916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4E861-D80F-5C1A-879C-DC207EB97001}"/>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FAD3693A-F5CD-003A-022B-4B4071F798D3}"/>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4F19F196-49EB-CC15-68BA-E8FDD2A5E981}"/>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42482631-C979-C238-3CB1-D7E90B4EB7E0}"/>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104</a:t>
            </a:fld>
            <a:endParaRPr lang="en-US" altLang="en-US"/>
          </a:p>
        </p:txBody>
      </p:sp>
      <p:sp>
        <p:nvSpPr>
          <p:cNvPr id="48130" name="Rectangle 2">
            <a:extLst>
              <a:ext uri="{FF2B5EF4-FFF2-40B4-BE49-F238E27FC236}">
                <a16:creationId xmlns:a16="http://schemas.microsoft.com/office/drawing/2014/main" id="{7587865F-C10B-E9B9-514A-8DB0105CC612}"/>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066638B9-A543-D584-B096-4C3D4D77AD1A}"/>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29567458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2FAAF-CD4B-E869-07A4-7E684895F7EF}"/>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6AEF93CE-C5CC-BD53-D078-0CA597A15EAA}"/>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AD2B91BA-064D-C06C-FA12-1B60CDEE3E05}"/>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28C12BA8-374A-BC34-B62D-3910B2FF93D4}"/>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105</a:t>
            </a:fld>
            <a:endParaRPr lang="en-US" altLang="en-US"/>
          </a:p>
        </p:txBody>
      </p:sp>
      <p:sp>
        <p:nvSpPr>
          <p:cNvPr id="48130" name="Rectangle 2">
            <a:extLst>
              <a:ext uri="{FF2B5EF4-FFF2-40B4-BE49-F238E27FC236}">
                <a16:creationId xmlns:a16="http://schemas.microsoft.com/office/drawing/2014/main" id="{B96996E2-1747-140E-2B83-0BFB1E73A2D2}"/>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FC102C1E-6C4B-2C40-60A5-B8CCA891BA06}"/>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42480491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02689-9689-F8AD-CFEA-74F3893960B7}"/>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FACFA682-2753-D077-619F-7C8D935EC17A}"/>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D3726B60-5325-32D2-C19C-310EA94FF4A7}"/>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64CA743C-FDB4-F8D3-691A-1639E726F170}"/>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106</a:t>
            </a:fld>
            <a:endParaRPr lang="en-US" altLang="en-US"/>
          </a:p>
        </p:txBody>
      </p:sp>
      <p:sp>
        <p:nvSpPr>
          <p:cNvPr id="48130" name="Rectangle 2">
            <a:extLst>
              <a:ext uri="{FF2B5EF4-FFF2-40B4-BE49-F238E27FC236}">
                <a16:creationId xmlns:a16="http://schemas.microsoft.com/office/drawing/2014/main" id="{0E47E499-BAFD-F226-8169-88663792C636}"/>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CFA659B7-F03F-60BA-F778-EF46E29223A7}"/>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17409445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6E6BF-2806-B620-6F6C-2F14E89BA816}"/>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DE168F2E-772C-BAB5-5B71-7871AAA5B0AF}"/>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85A4D87D-776D-3F2B-9C52-12EE63B31CDD}"/>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DD07E19F-9419-E982-F5E3-121441352A32}"/>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107</a:t>
            </a:fld>
            <a:endParaRPr lang="en-US" altLang="en-US"/>
          </a:p>
        </p:txBody>
      </p:sp>
      <p:sp>
        <p:nvSpPr>
          <p:cNvPr id="48130" name="Rectangle 2">
            <a:extLst>
              <a:ext uri="{FF2B5EF4-FFF2-40B4-BE49-F238E27FC236}">
                <a16:creationId xmlns:a16="http://schemas.microsoft.com/office/drawing/2014/main" id="{5A91CE20-CB84-C2C5-23D3-14C5655B293E}"/>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B090700C-DE6F-3253-90B7-55A26BB9BB5E}"/>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32855685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B169A-A1FE-D08B-A85A-B6DFBF0DF682}"/>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140AA4EA-5983-EA09-9717-3DFEFEE4F5F0}"/>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CA7DCF68-1511-83D1-FC4C-0FF10B5C69F0}"/>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6725D65E-6356-E62A-F734-315C16F86F98}"/>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108</a:t>
            </a:fld>
            <a:endParaRPr lang="en-US" altLang="en-US"/>
          </a:p>
        </p:txBody>
      </p:sp>
      <p:sp>
        <p:nvSpPr>
          <p:cNvPr id="48130" name="Rectangle 2">
            <a:extLst>
              <a:ext uri="{FF2B5EF4-FFF2-40B4-BE49-F238E27FC236}">
                <a16:creationId xmlns:a16="http://schemas.microsoft.com/office/drawing/2014/main" id="{A4C783A8-011C-D880-38E4-3850C738A3E1}"/>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3C221D81-DF7C-CF46-9388-DB1C1DB65C19}"/>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16010891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F8D18-1C5B-FCC8-4B1D-2B169B467746}"/>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543C95E7-C04F-4E44-8A18-D159FB3C2244}"/>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6C76F372-1858-4B1B-8A60-C5D9E5552B55}"/>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4BBACC37-CADC-7FE7-D164-4E2AE0FE2E05}"/>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109</a:t>
            </a:fld>
            <a:endParaRPr lang="en-US" altLang="en-US"/>
          </a:p>
        </p:txBody>
      </p:sp>
      <p:sp>
        <p:nvSpPr>
          <p:cNvPr id="48130" name="Rectangle 2">
            <a:extLst>
              <a:ext uri="{FF2B5EF4-FFF2-40B4-BE49-F238E27FC236}">
                <a16:creationId xmlns:a16="http://schemas.microsoft.com/office/drawing/2014/main" id="{D09F5CF7-D379-CFFB-F7E6-B1482B77593E}"/>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4CF254F0-735A-7FD5-41FC-4D3D78394B4B}"/>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29778636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25A2F-9E52-A810-2410-C43275107CF0}"/>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0906B998-4575-B102-846F-4474B57CB6F7}"/>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53E22747-7B7B-E018-5DDB-581A16EB52A6}"/>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16B4AB4A-9924-1732-F3E3-93C12A9F5FFF}"/>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110</a:t>
            </a:fld>
            <a:endParaRPr lang="en-US" altLang="en-US"/>
          </a:p>
        </p:txBody>
      </p:sp>
      <p:sp>
        <p:nvSpPr>
          <p:cNvPr id="48130" name="Rectangle 2">
            <a:extLst>
              <a:ext uri="{FF2B5EF4-FFF2-40B4-BE49-F238E27FC236}">
                <a16:creationId xmlns:a16="http://schemas.microsoft.com/office/drawing/2014/main" id="{3B466DF3-18EB-7621-C704-02BB5CFC7E53}"/>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88C29ED6-1956-96D2-8EAA-CA8741E75782}"/>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35932857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7B0FB-1420-2EE3-7F64-F1601FF8B0DB}"/>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173B0D85-EE4B-0945-DCA2-9876ABBF367C}"/>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2ACA75C4-C12A-1F24-030F-C732DDB3C0F5}"/>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132D6F58-A543-8EC8-DCB0-A9F39E28A656}"/>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111</a:t>
            </a:fld>
            <a:endParaRPr lang="en-US" altLang="en-US"/>
          </a:p>
        </p:txBody>
      </p:sp>
      <p:sp>
        <p:nvSpPr>
          <p:cNvPr id="48130" name="Rectangle 2">
            <a:extLst>
              <a:ext uri="{FF2B5EF4-FFF2-40B4-BE49-F238E27FC236}">
                <a16:creationId xmlns:a16="http://schemas.microsoft.com/office/drawing/2014/main" id="{0DFF0F09-F2EF-329F-79E7-53C3FC2387F6}"/>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86DCA7C7-1A6F-B61B-8A73-6A9116D8AB41}"/>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20868321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A050-05BC-E369-4A03-C9E81457D448}"/>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22059C1F-D299-6A24-A7FD-0569ED4C5B8F}"/>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BBFD8D32-CDA5-82D6-3FA3-921F23757129}"/>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A6D649CC-285D-ADC4-3BC4-ABA74D2834B3}"/>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112</a:t>
            </a:fld>
            <a:endParaRPr lang="en-US" altLang="en-US"/>
          </a:p>
        </p:txBody>
      </p:sp>
      <p:sp>
        <p:nvSpPr>
          <p:cNvPr id="48130" name="Rectangle 2">
            <a:extLst>
              <a:ext uri="{FF2B5EF4-FFF2-40B4-BE49-F238E27FC236}">
                <a16:creationId xmlns:a16="http://schemas.microsoft.com/office/drawing/2014/main" id="{439D9D8E-C7F9-FA2C-B460-FD5947EB1510}"/>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60BE839A-CEF2-1628-FA08-F3DBA1DEC851}"/>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3469979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C7353-E18F-1E26-E61E-0579630533B9}"/>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28AEF8BD-7597-61B6-CBA8-F6D2E5CA9B60}"/>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7C3928C6-87A3-8763-623A-FFB03B6A8916}"/>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DB7574E5-18BC-942B-AACE-C1B650BF32E4}"/>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113</a:t>
            </a:fld>
            <a:endParaRPr lang="en-US" altLang="en-US"/>
          </a:p>
        </p:txBody>
      </p:sp>
      <p:sp>
        <p:nvSpPr>
          <p:cNvPr id="48130" name="Rectangle 2">
            <a:extLst>
              <a:ext uri="{FF2B5EF4-FFF2-40B4-BE49-F238E27FC236}">
                <a16:creationId xmlns:a16="http://schemas.microsoft.com/office/drawing/2014/main" id="{FB4F68F1-E7DA-AFB6-03CA-ACF692C3486C}"/>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41C6B034-9496-94E1-28F1-0780401FD64C}"/>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27034202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090B2-032F-69DA-1108-91C6553F2B7F}"/>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BF9ADF1E-279D-0891-3A4B-B2B697BE9980}"/>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F0F02D64-F5BE-B138-615E-5CEDD700BAF9}"/>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CA5ED540-62BC-41B2-59E7-02D6912B18A5}"/>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114</a:t>
            </a:fld>
            <a:endParaRPr lang="en-US" altLang="en-US"/>
          </a:p>
        </p:txBody>
      </p:sp>
      <p:sp>
        <p:nvSpPr>
          <p:cNvPr id="48130" name="Rectangle 2">
            <a:extLst>
              <a:ext uri="{FF2B5EF4-FFF2-40B4-BE49-F238E27FC236}">
                <a16:creationId xmlns:a16="http://schemas.microsoft.com/office/drawing/2014/main" id="{FD27E677-B68C-30F3-5221-32846B6BF390}"/>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DDD7ED6A-5DA9-8481-0653-197B9D060824}"/>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36692844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39CE3-A07A-852A-C148-01F14AFB09C0}"/>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D3FF28EF-70A2-2E0D-5394-E453F94C03FE}"/>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1B36D088-C1E7-84AE-F942-D1F2CEAD7BB0}"/>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10C8DB37-14B1-8ECB-6781-0C5B37FF44A2}"/>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115</a:t>
            </a:fld>
            <a:endParaRPr lang="en-US" altLang="en-US"/>
          </a:p>
        </p:txBody>
      </p:sp>
      <p:sp>
        <p:nvSpPr>
          <p:cNvPr id="48130" name="Rectangle 2">
            <a:extLst>
              <a:ext uri="{FF2B5EF4-FFF2-40B4-BE49-F238E27FC236}">
                <a16:creationId xmlns:a16="http://schemas.microsoft.com/office/drawing/2014/main" id="{76847E2A-175A-E5C3-0BF1-10A6362DD865}"/>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8E830BDF-E48A-185A-E3E9-AE4090357A78}"/>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26148815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43292-CE63-AA7F-DBC9-334CC926DB0B}"/>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24D4886B-B8CB-F286-C8CE-3FF3683B62A7}"/>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AC9C63C0-9632-7698-2A12-C083EDD30F73}"/>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561E1537-10EB-1054-383E-7DD45924F594}"/>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116</a:t>
            </a:fld>
            <a:endParaRPr lang="en-US" altLang="en-US"/>
          </a:p>
        </p:txBody>
      </p:sp>
      <p:sp>
        <p:nvSpPr>
          <p:cNvPr id="48130" name="Rectangle 2">
            <a:extLst>
              <a:ext uri="{FF2B5EF4-FFF2-40B4-BE49-F238E27FC236}">
                <a16:creationId xmlns:a16="http://schemas.microsoft.com/office/drawing/2014/main" id="{5036E98E-5BAB-5D99-735A-78E695929576}"/>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76D743C0-C8A7-2F10-7B21-0DF86EA36B8C}"/>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10651700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A2D23-14BE-9B98-F81D-5D8DC0E3B166}"/>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6958F721-E9F8-2793-FD1A-53286BE666AE}"/>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92467B89-0993-8288-FFD1-8A89D3D6EA26}"/>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42241AF6-79AB-6D9D-3285-EDB1748318F1}"/>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117</a:t>
            </a:fld>
            <a:endParaRPr lang="en-US" altLang="en-US"/>
          </a:p>
        </p:txBody>
      </p:sp>
      <p:sp>
        <p:nvSpPr>
          <p:cNvPr id="48130" name="Rectangle 2">
            <a:extLst>
              <a:ext uri="{FF2B5EF4-FFF2-40B4-BE49-F238E27FC236}">
                <a16:creationId xmlns:a16="http://schemas.microsoft.com/office/drawing/2014/main" id="{631E39EA-24C7-3FE9-1434-E339F5104EA6}"/>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42CE208E-09FE-7D29-0F74-2BC00207C8F9}"/>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4007598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23B6B-1672-51FC-0A89-23BF6EFC12A2}"/>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803BBEA7-6809-5AD4-1642-95A24E30DD70}"/>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8B0916ED-156E-5FB2-16B0-04647746C737}"/>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44D47968-4CB2-7EDA-8BEE-F6753DBE9D31}"/>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118</a:t>
            </a:fld>
            <a:endParaRPr lang="en-US" altLang="en-US"/>
          </a:p>
        </p:txBody>
      </p:sp>
      <p:sp>
        <p:nvSpPr>
          <p:cNvPr id="48130" name="Rectangle 2">
            <a:extLst>
              <a:ext uri="{FF2B5EF4-FFF2-40B4-BE49-F238E27FC236}">
                <a16:creationId xmlns:a16="http://schemas.microsoft.com/office/drawing/2014/main" id="{59A1A39D-0F9A-17F5-165F-15F74F850F31}"/>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0257257A-177E-7E37-2823-4709907B0383}"/>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37430590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1F8F0-314A-9238-713E-E77BE57AC507}"/>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48DB4284-726C-B44F-61EF-517214B0E1F5}"/>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0227E5A8-96E3-E932-7749-B3313A160F15}"/>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66E5F4FD-FCA0-AB8E-A617-E839B3FCCBB6}"/>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119</a:t>
            </a:fld>
            <a:endParaRPr lang="en-US" altLang="en-US"/>
          </a:p>
        </p:txBody>
      </p:sp>
      <p:sp>
        <p:nvSpPr>
          <p:cNvPr id="48130" name="Rectangle 2">
            <a:extLst>
              <a:ext uri="{FF2B5EF4-FFF2-40B4-BE49-F238E27FC236}">
                <a16:creationId xmlns:a16="http://schemas.microsoft.com/office/drawing/2014/main" id="{230D49D8-CA66-7ADF-2474-575CD0182DF5}"/>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B93644D5-EBE0-ED09-769E-E8660EF6F610}"/>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14952261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CA44C-EC51-DAE5-822E-9DA3CB0709B7}"/>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74338E97-A099-293C-CFA4-4A625B86A074}"/>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F62F4707-78C4-1D73-8F17-F3CD2B673B40}"/>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548CF435-3378-B165-BD98-BAFE798900FA}"/>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120</a:t>
            </a:fld>
            <a:endParaRPr lang="en-US" altLang="en-US"/>
          </a:p>
        </p:txBody>
      </p:sp>
      <p:sp>
        <p:nvSpPr>
          <p:cNvPr id="48130" name="Rectangle 2">
            <a:extLst>
              <a:ext uri="{FF2B5EF4-FFF2-40B4-BE49-F238E27FC236}">
                <a16:creationId xmlns:a16="http://schemas.microsoft.com/office/drawing/2014/main" id="{EAA9DDA2-16AE-686C-89E7-7B6548961BF6}"/>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F24E1ECE-8FF7-77A8-52F6-B5649CF18116}"/>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6051104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AD547-D8D5-EE26-3FB2-42D8B40CF641}"/>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63C630DB-02E8-9415-956E-016F154A5218}"/>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A4B233A3-9246-03BF-B2E7-C4BD8826AAFA}"/>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39419B72-5424-E0D3-3CB3-BDFB1FC7C8FB}"/>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121</a:t>
            </a:fld>
            <a:endParaRPr lang="en-US" altLang="en-US"/>
          </a:p>
        </p:txBody>
      </p:sp>
      <p:sp>
        <p:nvSpPr>
          <p:cNvPr id="48130" name="Rectangle 2">
            <a:extLst>
              <a:ext uri="{FF2B5EF4-FFF2-40B4-BE49-F238E27FC236}">
                <a16:creationId xmlns:a16="http://schemas.microsoft.com/office/drawing/2014/main" id="{1E82417E-39DB-6BA7-D39F-09DD652AB243}"/>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808A35E1-3D7E-761A-9DA0-A4CE8B75B33E}"/>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35270932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290B3-65B5-330B-A3DB-E9E94B010E45}"/>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DAE47C15-18EF-DEF5-886D-F34B3048F4BB}"/>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52C3FD4F-B87D-FBD8-4CBF-4B2534F9047B}"/>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FD956C76-1C99-DB6F-D65F-5DE9035E75F6}"/>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122</a:t>
            </a:fld>
            <a:endParaRPr lang="en-US" altLang="en-US"/>
          </a:p>
        </p:txBody>
      </p:sp>
      <p:sp>
        <p:nvSpPr>
          <p:cNvPr id="48130" name="Rectangle 2">
            <a:extLst>
              <a:ext uri="{FF2B5EF4-FFF2-40B4-BE49-F238E27FC236}">
                <a16:creationId xmlns:a16="http://schemas.microsoft.com/office/drawing/2014/main" id="{B425B685-9E8E-E6FD-7A49-E51421B9776F}"/>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A09374CD-17B6-71DA-4FEF-236A4C818DA7}"/>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39947464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38A0-A2E7-7975-9090-A0B96C00B4E2}"/>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8E4E0F0A-E440-3C81-1335-839EF926AB10}"/>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080458B3-4692-5893-E5A2-D9B615E307AA}"/>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13DD18FF-A9B5-F20A-D506-1F44E8B3DBF0}"/>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123</a:t>
            </a:fld>
            <a:endParaRPr lang="en-US" altLang="en-US"/>
          </a:p>
        </p:txBody>
      </p:sp>
      <p:sp>
        <p:nvSpPr>
          <p:cNvPr id="48130" name="Rectangle 2">
            <a:extLst>
              <a:ext uri="{FF2B5EF4-FFF2-40B4-BE49-F238E27FC236}">
                <a16:creationId xmlns:a16="http://schemas.microsoft.com/office/drawing/2014/main" id="{205A4630-0919-8501-A348-2E0C25AD8DBB}"/>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B847B4CB-62FF-AD77-5B16-FCC4BDC3FF91}"/>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2030845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04403-5BD7-579D-AD41-4464347C2D88}"/>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46133721-B314-A065-1C23-88DA4187A155}"/>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1F0293C3-E602-9A49-22C5-F628B9AAD2F6}"/>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D1551637-5248-40B6-7BB0-77EDEC871EA5}"/>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124</a:t>
            </a:fld>
            <a:endParaRPr lang="en-US" altLang="en-US"/>
          </a:p>
        </p:txBody>
      </p:sp>
      <p:sp>
        <p:nvSpPr>
          <p:cNvPr id="48130" name="Rectangle 2">
            <a:extLst>
              <a:ext uri="{FF2B5EF4-FFF2-40B4-BE49-F238E27FC236}">
                <a16:creationId xmlns:a16="http://schemas.microsoft.com/office/drawing/2014/main" id="{60F6882B-0486-3F0C-57CB-83423CA02A8A}"/>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0D36126D-C5D6-0DF9-2925-276CF4C7DFD0}"/>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21507179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C2613-491E-FAC0-7F92-60442125B5A6}"/>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A7F91945-4A05-15F9-E02F-C30C2C840B52}"/>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F05F1566-EC29-0151-88EC-85C7DD1AA9D1}"/>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A9A0CB45-E23B-4277-AB8C-220B7C375876}"/>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125</a:t>
            </a:fld>
            <a:endParaRPr lang="en-US" altLang="en-US"/>
          </a:p>
        </p:txBody>
      </p:sp>
      <p:sp>
        <p:nvSpPr>
          <p:cNvPr id="48130" name="Rectangle 2">
            <a:extLst>
              <a:ext uri="{FF2B5EF4-FFF2-40B4-BE49-F238E27FC236}">
                <a16:creationId xmlns:a16="http://schemas.microsoft.com/office/drawing/2014/main" id="{EA569489-D6AE-EDC6-65B7-19F91CC28040}"/>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9E13E4C5-43CD-69C3-B446-AA4769E0E5EB}"/>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2570915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A1019-E27A-1069-6CB2-8A2EF84F4B93}"/>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E600CB7B-C4BE-3B65-4947-E09B24416182}"/>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7E52C4D8-E011-4949-6DE8-7F114794F779}"/>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8BB9A861-E490-B37C-4DA3-B38034CEA769}"/>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126</a:t>
            </a:fld>
            <a:endParaRPr lang="en-US" altLang="en-US"/>
          </a:p>
        </p:txBody>
      </p:sp>
      <p:sp>
        <p:nvSpPr>
          <p:cNvPr id="48130" name="Rectangle 2">
            <a:extLst>
              <a:ext uri="{FF2B5EF4-FFF2-40B4-BE49-F238E27FC236}">
                <a16:creationId xmlns:a16="http://schemas.microsoft.com/office/drawing/2014/main" id="{39611CF6-7A47-4744-9C21-986BA6D5E7BA}"/>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0EA6D068-AAE8-A843-11A9-C7FAB62AE06F}"/>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19930580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A14F8-AA6C-E9EB-5BDC-E77383AFBD9A}"/>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B1A01ECA-8204-DF99-43CB-720828B0212B}"/>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BBAA5471-11AB-11B0-09A6-DC7BA8293D94}"/>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C8FA64D3-DBF0-54C7-B7EA-E8137563ACE6}"/>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127</a:t>
            </a:fld>
            <a:endParaRPr lang="en-US" altLang="en-US"/>
          </a:p>
        </p:txBody>
      </p:sp>
      <p:sp>
        <p:nvSpPr>
          <p:cNvPr id="48130" name="Rectangle 2">
            <a:extLst>
              <a:ext uri="{FF2B5EF4-FFF2-40B4-BE49-F238E27FC236}">
                <a16:creationId xmlns:a16="http://schemas.microsoft.com/office/drawing/2014/main" id="{9A86FDD8-534F-B5B5-D7B6-0199C93BB77F}"/>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6F0DB9B8-5850-590A-5CEF-D3565A4AEF1E}"/>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26456436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52D7F-BA0F-5FBA-EB41-78D186AC29C8}"/>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6E5EFD81-9A47-AD52-0E99-5E16BE2B8ABC}"/>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F4C960FC-3738-94DD-37A1-535458F9BCE5}"/>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CC25F8EE-5821-F912-0A64-798F41B9C50D}"/>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128</a:t>
            </a:fld>
            <a:endParaRPr lang="en-US" altLang="en-US"/>
          </a:p>
        </p:txBody>
      </p:sp>
      <p:sp>
        <p:nvSpPr>
          <p:cNvPr id="48130" name="Rectangle 2">
            <a:extLst>
              <a:ext uri="{FF2B5EF4-FFF2-40B4-BE49-F238E27FC236}">
                <a16:creationId xmlns:a16="http://schemas.microsoft.com/office/drawing/2014/main" id="{AF278529-A172-CB37-D3D0-78CEF55D9E62}"/>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FE133148-52F9-E756-797B-ED1F68261924}"/>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337973326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BEA69-73BD-FE63-C28D-85B9C9425C08}"/>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6C08873F-3114-BE74-3B31-B37EAB2D6064}"/>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069B6C53-9B8E-6299-99A7-EC476F6CE485}"/>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36078360-BDE4-83B5-8A10-E96A86CA434E}"/>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129</a:t>
            </a:fld>
            <a:endParaRPr lang="en-US" altLang="en-US"/>
          </a:p>
        </p:txBody>
      </p:sp>
      <p:sp>
        <p:nvSpPr>
          <p:cNvPr id="48130" name="Rectangle 2">
            <a:extLst>
              <a:ext uri="{FF2B5EF4-FFF2-40B4-BE49-F238E27FC236}">
                <a16:creationId xmlns:a16="http://schemas.microsoft.com/office/drawing/2014/main" id="{362BFC92-7580-A92A-116F-B1A4577F964D}"/>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13303CD4-8F42-D913-77DE-1C3DD0A44BA5}"/>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2051610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B3A00-72E3-B4A1-7516-85F2B4A3912B}"/>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BC9FD418-F7E0-650E-5014-4ED94A3001E4}"/>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9B60AD60-C76B-FB42-69EC-6E4EB628E752}"/>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5395757E-7D9C-0250-2075-7221413133B2}"/>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130</a:t>
            </a:fld>
            <a:endParaRPr lang="en-US" altLang="en-US"/>
          </a:p>
        </p:txBody>
      </p:sp>
      <p:sp>
        <p:nvSpPr>
          <p:cNvPr id="48130" name="Rectangle 2">
            <a:extLst>
              <a:ext uri="{FF2B5EF4-FFF2-40B4-BE49-F238E27FC236}">
                <a16:creationId xmlns:a16="http://schemas.microsoft.com/office/drawing/2014/main" id="{4C8E22E7-B38E-48A1-A62A-1D03F2C7578E}"/>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066F5119-026C-7719-8418-4B7510B504B3}"/>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35014203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E142C-2980-5F65-A088-C4DE0229C565}"/>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D410C912-BEF2-0EAF-87A4-A37BD18BE643}"/>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A2EE8243-E207-9842-EA97-9D49707C0E94}"/>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ACEE99F5-1AC7-1E12-51B7-9E28479F3D51}"/>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131</a:t>
            </a:fld>
            <a:endParaRPr lang="en-US" altLang="en-US"/>
          </a:p>
        </p:txBody>
      </p:sp>
      <p:sp>
        <p:nvSpPr>
          <p:cNvPr id="48130" name="Rectangle 2">
            <a:extLst>
              <a:ext uri="{FF2B5EF4-FFF2-40B4-BE49-F238E27FC236}">
                <a16:creationId xmlns:a16="http://schemas.microsoft.com/office/drawing/2014/main" id="{1B8F38BB-D825-CF3F-BF6E-FBB3BF346FF5}"/>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0B06E1EF-5C17-3A11-CC07-E3A2598815B6}"/>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19122184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F3250-2B2E-D2C2-999C-321D30D31C6B}"/>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6924301D-78B4-9AB1-E3B6-E46C33A5C230}"/>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C6B648CB-CF39-6B1C-E3AA-C840E5EB1E69}"/>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8D36FC6C-8031-85AD-8E72-DF2B80AAAA2D}"/>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132</a:t>
            </a:fld>
            <a:endParaRPr lang="en-US" altLang="en-US"/>
          </a:p>
        </p:txBody>
      </p:sp>
      <p:sp>
        <p:nvSpPr>
          <p:cNvPr id="48130" name="Rectangle 2">
            <a:extLst>
              <a:ext uri="{FF2B5EF4-FFF2-40B4-BE49-F238E27FC236}">
                <a16:creationId xmlns:a16="http://schemas.microsoft.com/office/drawing/2014/main" id="{5EEEA4B6-45A2-F323-7CC9-B251141FFBA3}"/>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94FEF9D8-1056-B2B2-0EEB-8961441FA1DB}"/>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10166672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DDD7E-07FC-267B-2438-7C2C82F94A80}"/>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2F76D903-1E6C-2163-1784-8C2B64983E81}"/>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FB078022-1896-0201-7052-0A2931825E51}"/>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4E736B97-FA73-0EDF-77F2-7C0260E97D23}"/>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133</a:t>
            </a:fld>
            <a:endParaRPr lang="en-US" altLang="en-US"/>
          </a:p>
        </p:txBody>
      </p:sp>
      <p:sp>
        <p:nvSpPr>
          <p:cNvPr id="48130" name="Rectangle 2">
            <a:extLst>
              <a:ext uri="{FF2B5EF4-FFF2-40B4-BE49-F238E27FC236}">
                <a16:creationId xmlns:a16="http://schemas.microsoft.com/office/drawing/2014/main" id="{55842C46-2FCF-9B79-F9E9-1D334BAAA470}"/>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45C0D1CD-00B6-BF1B-18F3-57073664C55D}"/>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41920031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EAC2B-13C8-7CEC-A7CF-8F1C705B7404}"/>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DD28A5F0-4EF7-D804-972C-78E91B2EF428}"/>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BA24221D-613C-5ADC-A556-624CB22A8FD5}"/>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937BD7CC-287C-E4BC-C720-84AAADDCDECE}"/>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134</a:t>
            </a:fld>
            <a:endParaRPr lang="en-US" altLang="en-US"/>
          </a:p>
        </p:txBody>
      </p:sp>
      <p:sp>
        <p:nvSpPr>
          <p:cNvPr id="48130" name="Rectangle 2">
            <a:extLst>
              <a:ext uri="{FF2B5EF4-FFF2-40B4-BE49-F238E27FC236}">
                <a16:creationId xmlns:a16="http://schemas.microsoft.com/office/drawing/2014/main" id="{CC0B0843-4195-31E6-9445-EDA8E855C512}"/>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13A5A709-6105-5C55-BA14-2378CC698245}"/>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19951571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16A8-778D-D666-8DED-1058D07DB6D3}"/>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0BE50713-27E8-8F3C-0C2D-65A8F1E56271}"/>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F25E2F67-0379-ECF1-631E-6924C71845DE}"/>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5D991527-30F2-E512-5F5A-C9CFE2D7771D}"/>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135</a:t>
            </a:fld>
            <a:endParaRPr lang="en-US" altLang="en-US"/>
          </a:p>
        </p:txBody>
      </p:sp>
      <p:sp>
        <p:nvSpPr>
          <p:cNvPr id="48130" name="Rectangle 2">
            <a:extLst>
              <a:ext uri="{FF2B5EF4-FFF2-40B4-BE49-F238E27FC236}">
                <a16:creationId xmlns:a16="http://schemas.microsoft.com/office/drawing/2014/main" id="{6236CBF1-A1C4-B453-3F25-820B20FC395A}"/>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F5B56CD9-4AF0-A671-E7E5-00F1338CA7DA}"/>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41627378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136</a:t>
            </a:fld>
            <a:endParaRPr lang="en-US" altLang="en-US"/>
          </a:p>
        </p:txBody>
      </p:sp>
      <p:sp>
        <p:nvSpPr>
          <p:cNvPr id="48130" name="Rectangle 2"/>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33314937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70D15-3B2C-002D-71D3-BB4D020BB09B}"/>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CAFC3ED6-1FC4-6E34-7FC4-C643EF74B192}"/>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EDA7FD5F-990B-292A-9081-2E54BFF5D235}"/>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425A8D87-72F3-2C79-5023-E27D3DE7F6DE}"/>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137</a:t>
            </a:fld>
            <a:endParaRPr lang="en-US" altLang="en-US"/>
          </a:p>
        </p:txBody>
      </p:sp>
      <p:sp>
        <p:nvSpPr>
          <p:cNvPr id="48130" name="Rectangle 2">
            <a:extLst>
              <a:ext uri="{FF2B5EF4-FFF2-40B4-BE49-F238E27FC236}">
                <a16:creationId xmlns:a16="http://schemas.microsoft.com/office/drawing/2014/main" id="{9767E56E-BCC9-9843-F369-B197A8F2F60B}"/>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F571AAF0-054A-8468-F986-F5E09776BA3F}"/>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12664182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A52F6-587B-E163-5F89-BC1C3C3D6DF0}"/>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3B67C9E0-03E6-33F0-F7FD-D163F38EB0A6}"/>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7D680350-393E-B76A-F30E-31CCFA0A6EEC}"/>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B362B8C4-6B71-8890-4109-CA85D0A6DF76}"/>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138</a:t>
            </a:fld>
            <a:endParaRPr lang="en-US" altLang="en-US"/>
          </a:p>
        </p:txBody>
      </p:sp>
      <p:sp>
        <p:nvSpPr>
          <p:cNvPr id="48130" name="Rectangle 2">
            <a:extLst>
              <a:ext uri="{FF2B5EF4-FFF2-40B4-BE49-F238E27FC236}">
                <a16:creationId xmlns:a16="http://schemas.microsoft.com/office/drawing/2014/main" id="{EDE13765-C872-DA8A-DA1A-72C6D3D3F98E}"/>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C361BD43-E0BB-9D93-11E3-8469F5441245}"/>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152539907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36E4A-3C84-2714-4F16-BC40791257A5}"/>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6A6646C6-6581-DD97-65A4-B7B7D1602D59}"/>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E2BA5797-3766-EED6-BAF9-7207291A360F}"/>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71EA14CC-8CD8-CF90-279A-126CAE3745B1}"/>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139</a:t>
            </a:fld>
            <a:endParaRPr lang="en-US" altLang="en-US"/>
          </a:p>
        </p:txBody>
      </p:sp>
      <p:sp>
        <p:nvSpPr>
          <p:cNvPr id="48130" name="Rectangle 2">
            <a:extLst>
              <a:ext uri="{FF2B5EF4-FFF2-40B4-BE49-F238E27FC236}">
                <a16:creationId xmlns:a16="http://schemas.microsoft.com/office/drawing/2014/main" id="{2C072FEB-8D2E-49E7-E91F-2C61912CBBE1}"/>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6994C718-012F-DA1C-E46C-FE030B37D148}"/>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17923419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2C0EF-3ECA-7CF2-B894-9C59698D9768}"/>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73282929-3C40-DF2C-C6CD-FAF3AD02A5B7}"/>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1E10E08A-80AE-653F-9A25-91F36EF72525}"/>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8F078B81-326F-52BF-7970-ACC58D637BC2}"/>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140</a:t>
            </a:fld>
            <a:endParaRPr lang="en-US" altLang="en-US"/>
          </a:p>
        </p:txBody>
      </p:sp>
      <p:sp>
        <p:nvSpPr>
          <p:cNvPr id="48130" name="Rectangle 2">
            <a:extLst>
              <a:ext uri="{FF2B5EF4-FFF2-40B4-BE49-F238E27FC236}">
                <a16:creationId xmlns:a16="http://schemas.microsoft.com/office/drawing/2014/main" id="{BBD12246-A78D-9EED-8B93-1757DD38DEA4}"/>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B893F0A5-60A0-8F9D-9ECA-F038D29D04D2}"/>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83231280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8C813-BC63-55B7-627C-0D60C815B867}"/>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42511790-068B-0711-C39B-0B9C2B257F70}"/>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A684F022-57C9-FBCD-2B74-1EE9F16AD6F1}"/>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4CDC5302-736D-1AC9-96EC-296210564DEF}"/>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141</a:t>
            </a:fld>
            <a:endParaRPr lang="en-US" altLang="en-US"/>
          </a:p>
        </p:txBody>
      </p:sp>
      <p:sp>
        <p:nvSpPr>
          <p:cNvPr id="48130" name="Rectangle 2">
            <a:extLst>
              <a:ext uri="{FF2B5EF4-FFF2-40B4-BE49-F238E27FC236}">
                <a16:creationId xmlns:a16="http://schemas.microsoft.com/office/drawing/2014/main" id="{54D5F976-6155-CAD0-012A-22F4F594CC01}"/>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7AD71A62-1EAA-A5B7-CF74-0E9707411A43}"/>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134969480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53FF5-1B45-8257-FDB3-A87764AAA1CB}"/>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6B8BBA83-7036-C58E-1135-238131724DCD}"/>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1874CA2E-B1D7-42F8-06A2-DE86C25FA5A2}"/>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B252F0B9-469E-3351-B8BB-55D95D8E4CBB}"/>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142</a:t>
            </a:fld>
            <a:endParaRPr lang="en-US" altLang="en-US"/>
          </a:p>
        </p:txBody>
      </p:sp>
      <p:sp>
        <p:nvSpPr>
          <p:cNvPr id="48130" name="Rectangle 2">
            <a:extLst>
              <a:ext uri="{FF2B5EF4-FFF2-40B4-BE49-F238E27FC236}">
                <a16:creationId xmlns:a16="http://schemas.microsoft.com/office/drawing/2014/main" id="{74559B0E-131D-BF02-27F3-3AE4CD6F4BB3}"/>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18D1DF96-5DBA-5FE7-C625-897E06FB75A2}"/>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237596297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BDFE0-1A05-BE40-53E1-C4BB0AEADBB6}"/>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F961010C-58C3-B1D9-FC6C-9FC024B7FD10}"/>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F2B22937-0E7F-55E6-48FC-731626FC9444}"/>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D911B39A-0B41-71CE-E47C-FC9F05657420}"/>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143</a:t>
            </a:fld>
            <a:endParaRPr lang="en-US" altLang="en-US"/>
          </a:p>
        </p:txBody>
      </p:sp>
      <p:sp>
        <p:nvSpPr>
          <p:cNvPr id="48130" name="Rectangle 2">
            <a:extLst>
              <a:ext uri="{FF2B5EF4-FFF2-40B4-BE49-F238E27FC236}">
                <a16:creationId xmlns:a16="http://schemas.microsoft.com/office/drawing/2014/main" id="{BB9BC889-F42D-3EB3-0705-C68F38ECCF09}"/>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3EE4F254-B865-B5A1-E771-A198BE42075B}"/>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10974469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4A49-38E9-AD7E-D00B-EBDF6819A0FE}"/>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1D1459C8-CD70-203F-3D74-0452970C9B6B}"/>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9645F31F-071E-2A71-7D5E-BF59AA961F4E}"/>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80F9E147-AFEF-B6EF-731C-C92EB883E95B}"/>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144</a:t>
            </a:fld>
            <a:endParaRPr lang="en-US" altLang="en-US"/>
          </a:p>
        </p:txBody>
      </p:sp>
      <p:sp>
        <p:nvSpPr>
          <p:cNvPr id="48130" name="Rectangle 2">
            <a:extLst>
              <a:ext uri="{FF2B5EF4-FFF2-40B4-BE49-F238E27FC236}">
                <a16:creationId xmlns:a16="http://schemas.microsoft.com/office/drawing/2014/main" id="{5467AB78-C094-2465-34AF-4A83ABB6ADAC}"/>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E43413DC-A67D-4443-3569-04B062A508C6}"/>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281088231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FA147-E6A8-0BB3-F75B-4A27639A8BF9}"/>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6560F886-92B1-CDEA-7E10-16769CA7B225}"/>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F62BBC1B-2256-F148-93E5-34B709110013}"/>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4655F247-C026-E5B7-DC8A-22CAE07A58E0}"/>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145</a:t>
            </a:fld>
            <a:endParaRPr lang="en-US" altLang="en-US"/>
          </a:p>
        </p:txBody>
      </p:sp>
      <p:sp>
        <p:nvSpPr>
          <p:cNvPr id="48130" name="Rectangle 2">
            <a:extLst>
              <a:ext uri="{FF2B5EF4-FFF2-40B4-BE49-F238E27FC236}">
                <a16:creationId xmlns:a16="http://schemas.microsoft.com/office/drawing/2014/main" id="{079F3E77-E89E-0593-ECDC-7557BCA02548}"/>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DA9E00C7-E38D-1B27-C1B4-FF7CD94A4D09}"/>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2317432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EFDD6-A243-A4A5-FBE4-29C373620FD2}"/>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9E936C1E-9ED7-9231-E5C4-CC57EE84E907}"/>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76082851-3228-BF6A-5F6F-3D0505AA2956}"/>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29F3789C-6699-E0A9-4568-533F36846E4B}"/>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146</a:t>
            </a:fld>
            <a:endParaRPr lang="en-US" altLang="en-US"/>
          </a:p>
        </p:txBody>
      </p:sp>
      <p:sp>
        <p:nvSpPr>
          <p:cNvPr id="48130" name="Rectangle 2">
            <a:extLst>
              <a:ext uri="{FF2B5EF4-FFF2-40B4-BE49-F238E27FC236}">
                <a16:creationId xmlns:a16="http://schemas.microsoft.com/office/drawing/2014/main" id="{CC563299-1315-0353-32DB-2463D072222A}"/>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99307F7B-6F2A-CA16-4A4F-6CA370CD914D}"/>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86630446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51BA8-8991-7808-9E41-FD6F88C9A879}"/>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A2665340-FD2C-A972-7B5F-B768EC9A1B1C}"/>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AE713958-7FFC-51BC-0DB9-880A537C2B9D}"/>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C60C6441-4365-518B-0C8C-D61C6DACD62A}"/>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147</a:t>
            </a:fld>
            <a:endParaRPr lang="en-US" altLang="en-US"/>
          </a:p>
        </p:txBody>
      </p:sp>
      <p:sp>
        <p:nvSpPr>
          <p:cNvPr id="48130" name="Rectangle 2">
            <a:extLst>
              <a:ext uri="{FF2B5EF4-FFF2-40B4-BE49-F238E27FC236}">
                <a16:creationId xmlns:a16="http://schemas.microsoft.com/office/drawing/2014/main" id="{42C7020B-1A2E-0003-FAE0-D7A3ABAB8C0F}"/>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97857AB8-4776-C0C1-A0B6-C8EEC09BEADA}"/>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404986090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55D9F-A614-92C8-17C8-F527C44625DD}"/>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ED9CE56A-34A7-654B-C69C-38823F3280B0}"/>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2443BF48-04D5-BE58-2E50-760127CDCE4A}"/>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DBEA6DF2-F556-0980-138F-5A80E34658E2}"/>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148</a:t>
            </a:fld>
            <a:endParaRPr lang="en-US" altLang="en-US"/>
          </a:p>
        </p:txBody>
      </p:sp>
      <p:sp>
        <p:nvSpPr>
          <p:cNvPr id="48130" name="Rectangle 2">
            <a:extLst>
              <a:ext uri="{FF2B5EF4-FFF2-40B4-BE49-F238E27FC236}">
                <a16:creationId xmlns:a16="http://schemas.microsoft.com/office/drawing/2014/main" id="{FABA804F-549E-FA30-4D05-523EAA48F9BE}"/>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B58304DE-1637-0C4E-CAFC-3B9043984137}"/>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248500691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9504D-CE65-6C09-DCAA-6AB0EBF8B55A}"/>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A7E38BD2-FB77-AF85-5449-548EAAAB1FEA}"/>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EFEA8078-54A5-E82F-0969-44DC0BCD2C41}"/>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C4DE8536-145A-252E-FF9B-300FB017AD60}"/>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149</a:t>
            </a:fld>
            <a:endParaRPr lang="en-US" altLang="en-US"/>
          </a:p>
        </p:txBody>
      </p:sp>
      <p:sp>
        <p:nvSpPr>
          <p:cNvPr id="48130" name="Rectangle 2">
            <a:extLst>
              <a:ext uri="{FF2B5EF4-FFF2-40B4-BE49-F238E27FC236}">
                <a16:creationId xmlns:a16="http://schemas.microsoft.com/office/drawing/2014/main" id="{EBA4CBBA-4D80-E7A6-072D-0F811DC39742}"/>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ACB342BB-5C9C-3ACB-AAA9-7B944399A348}"/>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175285689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CE79A-74BA-7B88-BC03-BB47DF4651F3}"/>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408E7155-8350-CC09-38E8-F89967365206}"/>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DF8D6534-7B70-B822-4D14-7CF940CA034D}"/>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9943F6AB-54A1-ED75-A9B5-F370EBDFA3CA}"/>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150</a:t>
            </a:fld>
            <a:endParaRPr lang="en-US" altLang="en-US"/>
          </a:p>
        </p:txBody>
      </p:sp>
      <p:sp>
        <p:nvSpPr>
          <p:cNvPr id="48130" name="Rectangle 2">
            <a:extLst>
              <a:ext uri="{FF2B5EF4-FFF2-40B4-BE49-F238E27FC236}">
                <a16:creationId xmlns:a16="http://schemas.microsoft.com/office/drawing/2014/main" id="{F725EDFD-5F5B-1EAA-0D27-B0C0B1473173}"/>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F7433477-1A81-4F58-DF13-D89810515841}"/>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134564026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AB159-4487-623C-2B41-850F2DA5CAD9}"/>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047BAFA4-FC87-BD2E-CC90-08DBA99C48B0}"/>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9F50F0A9-677B-EB61-85DC-724BA95C6E08}"/>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7053DC6A-8DE6-73D2-A50A-FE5D90294811}"/>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151</a:t>
            </a:fld>
            <a:endParaRPr lang="en-US" altLang="en-US"/>
          </a:p>
        </p:txBody>
      </p:sp>
      <p:sp>
        <p:nvSpPr>
          <p:cNvPr id="48130" name="Rectangle 2">
            <a:extLst>
              <a:ext uri="{FF2B5EF4-FFF2-40B4-BE49-F238E27FC236}">
                <a16:creationId xmlns:a16="http://schemas.microsoft.com/office/drawing/2014/main" id="{A84EEA93-2702-0411-1A25-2D87459C2B8F}"/>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44EF6C8A-E422-7B86-BE4D-BDF40B0DFE86}"/>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192634163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6A390-6E39-BC7D-6441-B71FFC6B6A9A}"/>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2B916B25-F02E-5D42-F977-156B4D472282}"/>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0A11290C-5F8B-DD6E-8A98-8F38982D3D14}"/>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F42F4C84-741E-F8C2-2646-0B7AAC480205}"/>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152</a:t>
            </a:fld>
            <a:endParaRPr lang="en-US" altLang="en-US"/>
          </a:p>
        </p:txBody>
      </p:sp>
      <p:sp>
        <p:nvSpPr>
          <p:cNvPr id="48130" name="Rectangle 2">
            <a:extLst>
              <a:ext uri="{FF2B5EF4-FFF2-40B4-BE49-F238E27FC236}">
                <a16:creationId xmlns:a16="http://schemas.microsoft.com/office/drawing/2014/main" id="{486A4701-0120-A66F-2F15-B0E77FE6D6DC}"/>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38E1A6C1-42E6-B645-F43E-10B268DBD3D4}"/>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217655737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A11A3-4F7B-66C5-F394-2B6AB2759CE3}"/>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6F7F6C56-EE24-AE00-99D2-2CAF6E29822B}"/>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4A1E2771-4B64-0DE6-9A46-9BF637015A0E}"/>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86734A90-F2EE-FA7F-2A71-877FEDDE6EDB}"/>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153</a:t>
            </a:fld>
            <a:endParaRPr lang="en-US" altLang="en-US"/>
          </a:p>
        </p:txBody>
      </p:sp>
      <p:sp>
        <p:nvSpPr>
          <p:cNvPr id="48130" name="Rectangle 2">
            <a:extLst>
              <a:ext uri="{FF2B5EF4-FFF2-40B4-BE49-F238E27FC236}">
                <a16:creationId xmlns:a16="http://schemas.microsoft.com/office/drawing/2014/main" id="{96082EA7-1B4E-1DD8-0760-C5B670ED8B38}"/>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2177E60A-B0FD-133E-6555-72B980FEA10B}"/>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231016740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50B99-822D-8EC6-24D8-66959A2A916E}"/>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DA66A3F5-A427-323E-9907-DEE055113D69}"/>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86B76DC3-CBED-10F3-60C7-6A8CD7D0B2C9}"/>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141D1D2C-C649-30B0-2D3F-B65913B7B556}"/>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154</a:t>
            </a:fld>
            <a:endParaRPr lang="en-US" altLang="en-US"/>
          </a:p>
        </p:txBody>
      </p:sp>
      <p:sp>
        <p:nvSpPr>
          <p:cNvPr id="48130" name="Rectangle 2">
            <a:extLst>
              <a:ext uri="{FF2B5EF4-FFF2-40B4-BE49-F238E27FC236}">
                <a16:creationId xmlns:a16="http://schemas.microsoft.com/office/drawing/2014/main" id="{DFAF0D23-24B5-5D95-5D9E-D6BF7847FD65}"/>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BF778FC4-E538-5B42-8A6F-038956C6B82B}"/>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152857827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8FA93-AB08-9757-B3BA-4EF92BE548CB}"/>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FBB87FC7-D4A4-341B-5017-68744C57C265}"/>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A0C07C2F-9C92-F306-18C5-54E650572AF8}"/>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94A13B0F-BC6B-B8C7-5F57-4B4185E5B83E}"/>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155</a:t>
            </a:fld>
            <a:endParaRPr lang="en-US" altLang="en-US"/>
          </a:p>
        </p:txBody>
      </p:sp>
      <p:sp>
        <p:nvSpPr>
          <p:cNvPr id="48130" name="Rectangle 2">
            <a:extLst>
              <a:ext uri="{FF2B5EF4-FFF2-40B4-BE49-F238E27FC236}">
                <a16:creationId xmlns:a16="http://schemas.microsoft.com/office/drawing/2014/main" id="{9A73AD70-E7A6-525E-C087-D3CF08C21002}"/>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9EDB7572-E10E-08AC-21BA-D1B2BA54EB33}"/>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307567781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ECB19-2577-022D-741E-47B43B03CEB9}"/>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18AA634C-3F3A-D5B3-91E6-AF82E1E1D371}"/>
              </a:ext>
            </a:extLst>
          </p:cNvPr>
          <p:cNvSpPr>
            <a:spLocks noGrp="1" noChangeArrowheads="1"/>
          </p:cNvSpPr>
          <p:nvPr>
            <p:ph type="hdr" sz="quarter"/>
          </p:nvPr>
        </p:nvSpPr>
        <p:spPr>
          <a:xfrm>
            <a:off x="0" y="0"/>
            <a:ext cx="2971800" cy="457200"/>
          </a:xfrm>
          <a:prstGeom prst="rect">
            <a:avLst/>
          </a:prstGeom>
          <a:ln/>
        </p:spPr>
        <p:txBody>
          <a:bodyPr/>
          <a:lstStyle/>
          <a:p>
            <a:r>
              <a:rPr lang="en-US" altLang="en-US"/>
              <a:t>Intro to OOP with Java, C. Thomas Wu</a:t>
            </a:r>
          </a:p>
        </p:txBody>
      </p:sp>
      <p:sp>
        <p:nvSpPr>
          <p:cNvPr id="6" name="Rectangle 6">
            <a:extLst>
              <a:ext uri="{FF2B5EF4-FFF2-40B4-BE49-F238E27FC236}">
                <a16:creationId xmlns:a16="http://schemas.microsoft.com/office/drawing/2014/main" id="{F001087F-2816-FAB4-006F-4D07144775FB}"/>
              </a:ext>
            </a:extLst>
          </p:cNvPr>
          <p:cNvSpPr>
            <a:spLocks noGrp="1" noChangeArrowheads="1"/>
          </p:cNvSpPr>
          <p:nvPr>
            <p:ph type="ftr" sz="quarter" idx="4"/>
          </p:nvPr>
        </p:nvSpPr>
        <p:spPr>
          <a:xfrm>
            <a:off x="0" y="8685213"/>
            <a:ext cx="2971800" cy="457200"/>
          </a:xfrm>
          <a:prstGeom prst="rect">
            <a:avLst/>
          </a:prstGeom>
          <a:ln/>
        </p:spPr>
        <p:txBody>
          <a:bodyPr/>
          <a:lstStyle/>
          <a:p>
            <a:r>
              <a:rPr lang="en-US" altLang="en-US"/>
              <a:t>©The McGraw-Hill Companies, Inc.</a:t>
            </a:r>
          </a:p>
        </p:txBody>
      </p:sp>
      <p:sp>
        <p:nvSpPr>
          <p:cNvPr id="7" name="Rectangle 7">
            <a:extLst>
              <a:ext uri="{FF2B5EF4-FFF2-40B4-BE49-F238E27FC236}">
                <a16:creationId xmlns:a16="http://schemas.microsoft.com/office/drawing/2014/main" id="{4A1D4E06-850E-B0F5-879C-11FABF56565B}"/>
              </a:ext>
            </a:extLst>
          </p:cNvPr>
          <p:cNvSpPr>
            <a:spLocks noGrp="1" noChangeArrowheads="1"/>
          </p:cNvSpPr>
          <p:nvPr>
            <p:ph type="sldNum" sz="quarter" idx="5"/>
          </p:nvPr>
        </p:nvSpPr>
        <p:spPr>
          <a:xfrm>
            <a:off x="3884613" y="8685213"/>
            <a:ext cx="2971800" cy="457200"/>
          </a:xfrm>
          <a:prstGeom prst="rect">
            <a:avLst/>
          </a:prstGeom>
          <a:ln/>
        </p:spPr>
        <p:txBody>
          <a:bodyPr/>
          <a:lstStyle/>
          <a:p>
            <a:fld id="{FA2246B3-552B-427E-A8F3-57B36BBBE244}" type="slidenum">
              <a:rPr lang="en-US" altLang="en-US"/>
              <a:pPr/>
              <a:t>156</a:t>
            </a:fld>
            <a:endParaRPr lang="en-US" altLang="en-US"/>
          </a:p>
        </p:txBody>
      </p:sp>
      <p:sp>
        <p:nvSpPr>
          <p:cNvPr id="48130" name="Rectangle 2">
            <a:extLst>
              <a:ext uri="{FF2B5EF4-FFF2-40B4-BE49-F238E27FC236}">
                <a16:creationId xmlns:a16="http://schemas.microsoft.com/office/drawing/2014/main" id="{33D341D1-497E-05CF-F738-34D62CA88254}"/>
              </a:ext>
            </a:extLst>
          </p:cNvPr>
          <p:cNvSpPr>
            <a:spLocks noGrp="1" noRot="1" noChangeAspect="1" noChangeArrowheads="1" noTextEdit="1"/>
          </p:cNvSpPr>
          <p:nvPr>
            <p:ph type="sldImg"/>
          </p:nvPr>
        </p:nvSpPr>
        <p:spPr bwMode="auto">
          <a:xfrm>
            <a:off x="382588" y="685800"/>
            <a:ext cx="6096000" cy="3429000"/>
          </a:xfrm>
          <a:prstGeom prst="rect">
            <a:avLst/>
          </a:prstGeom>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C7F39DB2-1B40-CA25-4598-3AAB77A69108}"/>
              </a:ext>
            </a:extLst>
          </p:cNvPr>
          <p:cNvSpPr>
            <a:spLocks noGrp="1" noChangeArrowheads="1"/>
          </p:cNvSpPr>
          <p:nvPr>
            <p:ph type="body" idx="1"/>
          </p:nvPr>
        </p:nvSpPr>
        <p:spPr bwMode="auto">
          <a:xfrm>
            <a:off x="914400" y="4343400"/>
            <a:ext cx="5029200" cy="411480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pPr marL="139700" indent="0">
              <a:buNone/>
            </a:pPr>
            <a:endParaRPr lang="en-US" altLang="en-US" sz="1000" dirty="0"/>
          </a:p>
        </p:txBody>
      </p:sp>
    </p:spTree>
    <p:extLst>
      <p:ext uri="{BB962C8B-B14F-4D97-AF65-F5344CB8AC3E}">
        <p14:creationId xmlns:p14="http://schemas.microsoft.com/office/powerpoint/2010/main" val="131314611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78dea5054f_1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392200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78dea5054f_1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662717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78dea5054f_1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138954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78dea5054f_1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600038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78dea5054f_1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611500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5D9A0A39-4DCF-CC2C-EFAE-084D4AF853D2}"/>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DBC1D354-D119-07A4-773D-F152C3DEB2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46AAFDD6-84D9-B90A-3B20-F0DFC2B140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516246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FC5E2564-8ADB-4C0E-613E-68140D661CF6}"/>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DFB51748-D756-DD12-6E35-BBD834F3E7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26EB8E6C-4194-0D21-D744-55E85D9815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5020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38CE1B6-4E69-5605-235E-ADF5F057E5FA}"/>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DC4A8066-622D-ABA2-4450-38AA47CE16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7C1412D7-820E-3731-FEFF-F2F43B0DDA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709089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96ACC46-648A-4BBA-E125-FBD57E9DFEB6}"/>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4C602B90-6BEF-30E6-5237-14457064A5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6BA8CC1D-51BD-DB03-BE66-3ABF82F58F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374542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5E7431FB-C2E9-B345-432D-CF3061DDF110}"/>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C87CA9E8-54EF-5B18-BAB2-7EA20825CF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2164069A-5298-4294-9782-AC2010A467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146786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008A2A43-2CDC-9DED-8740-74ACEF0CCDA5}"/>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6C641F7E-03EA-D47B-BBFE-BFA6A7F33E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355DE134-2878-A5C5-6CD6-07AEF0E77C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506805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47C32E3-855A-4846-6026-26A25A63D38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7FF8FBBE-15C4-36D5-B18B-BE1A34C287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F6FBDE59-FE74-4951-4011-39CF348344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392736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28C2BBF-31F5-6C3C-4264-5BB3120491A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C43190B1-0F95-F31D-141F-AE3981806D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E90C162A-C65A-CB95-119A-9A4C5CBF08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068760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9A0817A6-0A75-058F-7BE8-F4C15B57927D}"/>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4BDEDD17-4A30-E57A-FC32-FEEFA5A1DA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7E637E69-3583-135C-5A1A-1053430DF7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676345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7F515668-4214-75A4-4234-7A0FAA5A0EDF}"/>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47E5FF81-E15C-739B-0914-704102171B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9D6E12C1-3304-5678-49F8-7FF452EEBA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800613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110E570-7153-11C6-9919-9C0717D0C6A9}"/>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8D7EC84B-0B14-F79D-2F29-F76AD81593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3C1F09E3-7B71-3836-3544-D80B9B77B0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55866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EC0C2014-2A55-D1B0-8099-B7C3F922708A}"/>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70A90DAD-0F8E-FC31-D592-0F89D04737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262E9023-0BFA-429D-E3C7-48100B06D4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70139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57D3330C-A582-2D75-8E71-1F58F9715421}"/>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F85D11C5-692B-7A76-4D4A-65DCAD869F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A4631298-9E3F-F450-4CD9-7A585AC781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525693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A42861A9-F01C-D52D-FF81-5794BAF75AF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55B6C632-1CB7-6BC5-D6DF-944831CD92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7534A155-CF8E-026A-BB35-C9D71A7A11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950820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0535E1C-E990-536E-84B8-9C992D6C8C7F}"/>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E9EBA6D7-7477-6CB9-51DC-DF17DC9AC0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99A3A22A-3C37-3925-5D2D-BA78FFF426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815747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86373F4-2E8C-CA01-E563-A65E74C0E287}"/>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0A90AC69-1CAF-4D37-FC57-7B4211FA32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E309FB4A-0782-013C-6A18-E4D10EC458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036677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4C0C1101-A857-7458-42D6-541897829941}"/>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93B8DA38-A992-F067-DBED-439FC91A77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9663396A-5099-C962-72DE-A2A2D298DE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548975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0728C719-9776-2E5B-FAC0-44BBCCF1A8BE}"/>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CD650182-647E-05E2-B165-63BB5D901F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DCA8C142-BC72-8A50-F945-90149B7631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633789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3EF684D1-3AF6-2F60-5696-33B4EB9B1A79}"/>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F6F9ED43-827F-8310-A41A-E9F95A0163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C5D5EAD9-D87A-2479-0CDD-BCA7A9F813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778032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4EBBE895-5609-17DF-3BB7-4F438BFB2B53}"/>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0A80043D-679F-FAD1-FD86-B56A9EF6C9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1B93362B-A40E-E310-AABE-D3781EDD28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583171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49E3450-ABE6-EB4C-C402-3993F004F5ED}"/>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03005430-66C3-8DFB-65C2-EBA5BC9355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08E9BA3E-D8AE-E929-DEDA-FFB8C4F290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889909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A7A4B904-6364-24AC-EBDF-404A2F8DF0F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B34DEE10-F54F-A928-F924-D322D56B30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1934BD22-3E0C-0AAA-C4C3-6F834A6793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949122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0AAA2CB5-5099-3082-7050-239BAD1D1135}"/>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1C72A97A-B834-A958-98FF-DC8F28BE43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E739461C-7107-9954-085C-0AA3B8D81A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187447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61887C18-5A02-15FC-0D0E-A5C2CA8D292C}"/>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D9960091-6625-0097-2BCB-3F3565079F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F87BDA6D-868C-4833-F87E-4876453FA6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922969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3BCA70DA-1710-C666-3A6A-8F131F143B9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F2DA3C43-8741-2411-FF14-ADD0EF03A0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C54F8649-F4BC-6358-F2E1-973D05B67F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05068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389DC9F7-F055-F6AE-7FBB-3B6EB0748BA9}"/>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AD9DFA3C-A6F5-4CB0-79AB-504D3208AF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06A21ACB-B786-CEA0-2C64-7ACC1BE956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791570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48EF9DAD-1B46-5A5E-5E47-993BB91706C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ED111E5D-E625-EDF5-8CFD-4D024C1208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C61E8270-A90B-BE66-05FF-139F0A59D9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919891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3E5604D-F0DF-F4F8-B441-4733775837D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4A3518DC-FB5F-3AB1-2FA8-E83C4B68FA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F82C8576-76BD-DA9A-BE2E-5D47F02DA2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894987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BCF0504-CE7D-D441-8F4F-714956CB972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E666F534-85B1-D0C7-C45E-932455569D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35FEC894-1A38-14C9-6FA7-0540DB7ABE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269123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E820A182-DE2E-3663-36A4-B163A5603F6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9076D6D2-F6BF-41FE-6B4D-2FAA6BAB8B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8FD79F9A-0F02-BAEC-B2A6-2C4154014A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820294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3BB71B1C-0D14-F6B2-AD88-DA2504F87865}"/>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ACEACDFB-7E9B-536D-3FA8-FC6B87F21E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DA010DAD-8341-DFC3-B791-A2C6142D3B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73763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7A289-FF3D-6221-0919-52B01AA8C7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594B72A-F72E-6F44-5F03-1418A0B231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9E6A39C-6018-18E9-5F8D-4A1EC20EB561}"/>
              </a:ext>
            </a:extLst>
          </p:cNvPr>
          <p:cNvSpPr>
            <a:spLocks noGrp="1"/>
          </p:cNvSpPr>
          <p:nvPr>
            <p:ph type="dt" sz="half" idx="10"/>
          </p:nvPr>
        </p:nvSpPr>
        <p:spPr/>
        <p:txBody>
          <a:bodyPr/>
          <a:lstStyle/>
          <a:p>
            <a:fld id="{1BB67406-7D6A-427B-AE15-EA86D49A46C9}" type="datetimeFigureOut">
              <a:rPr lang="en-AU" smtClean="0"/>
              <a:t>2/09/2026</a:t>
            </a:fld>
            <a:endParaRPr lang="en-AU"/>
          </a:p>
        </p:txBody>
      </p:sp>
      <p:sp>
        <p:nvSpPr>
          <p:cNvPr id="5" name="Footer Placeholder 4">
            <a:extLst>
              <a:ext uri="{FF2B5EF4-FFF2-40B4-BE49-F238E27FC236}">
                <a16:creationId xmlns:a16="http://schemas.microsoft.com/office/drawing/2014/main" id="{37120D52-2FFC-C9DF-2C1D-0D71439D00F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B806BD1-0781-7498-CBE7-882C85BCFF1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3695949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06307-42D9-B52A-3FDF-879E60F0F6A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D3A6530-A555-4496-8091-721D1F8819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7E4BAD6-101F-B851-1C08-7D894720DD0B}"/>
              </a:ext>
            </a:extLst>
          </p:cNvPr>
          <p:cNvSpPr>
            <a:spLocks noGrp="1"/>
          </p:cNvSpPr>
          <p:nvPr>
            <p:ph type="dt" sz="half" idx="10"/>
          </p:nvPr>
        </p:nvSpPr>
        <p:spPr/>
        <p:txBody>
          <a:bodyPr/>
          <a:lstStyle/>
          <a:p>
            <a:fld id="{1BB67406-7D6A-427B-AE15-EA86D49A46C9}" type="datetimeFigureOut">
              <a:rPr lang="en-AU" smtClean="0"/>
              <a:t>2/09/2026</a:t>
            </a:fld>
            <a:endParaRPr lang="en-AU"/>
          </a:p>
        </p:txBody>
      </p:sp>
      <p:sp>
        <p:nvSpPr>
          <p:cNvPr id="5" name="Footer Placeholder 4">
            <a:extLst>
              <a:ext uri="{FF2B5EF4-FFF2-40B4-BE49-F238E27FC236}">
                <a16:creationId xmlns:a16="http://schemas.microsoft.com/office/drawing/2014/main" id="{7D7BE63D-2BAC-0771-6CDD-E58CA768C29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762B1F2-308D-04CF-0533-43636B44042E}"/>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021116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1970-B490-B69E-FCBD-212BA09108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2DEEDBB8-F6B9-F902-DDF8-399BEAD5FF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A61F5-3BD9-1364-E269-EA50C8D5E589}"/>
              </a:ext>
            </a:extLst>
          </p:cNvPr>
          <p:cNvSpPr>
            <a:spLocks noGrp="1"/>
          </p:cNvSpPr>
          <p:nvPr>
            <p:ph type="dt" sz="half" idx="10"/>
          </p:nvPr>
        </p:nvSpPr>
        <p:spPr/>
        <p:txBody>
          <a:bodyPr/>
          <a:lstStyle/>
          <a:p>
            <a:fld id="{1BB67406-7D6A-427B-AE15-EA86D49A46C9}" type="datetimeFigureOut">
              <a:rPr lang="en-AU" smtClean="0"/>
              <a:t>2/09/2026</a:t>
            </a:fld>
            <a:endParaRPr lang="en-AU"/>
          </a:p>
        </p:txBody>
      </p:sp>
      <p:sp>
        <p:nvSpPr>
          <p:cNvPr id="5" name="Footer Placeholder 4">
            <a:extLst>
              <a:ext uri="{FF2B5EF4-FFF2-40B4-BE49-F238E27FC236}">
                <a16:creationId xmlns:a16="http://schemas.microsoft.com/office/drawing/2014/main" id="{2921C5DD-8DE3-E3A8-9502-3A87814DB8C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697EB9C-AF45-B217-1DA1-31C1499BA96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988447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B327E-C2D8-2826-AC41-CBF55C1F57D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781C1C5-C310-D6F8-E733-80DC724D8F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86EB3D25-4FAE-3121-CD93-0C49A108AA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2D4EAB2-5E1A-8619-3057-C3A1AB5D12B6}"/>
              </a:ext>
            </a:extLst>
          </p:cNvPr>
          <p:cNvSpPr>
            <a:spLocks noGrp="1"/>
          </p:cNvSpPr>
          <p:nvPr>
            <p:ph type="dt" sz="half" idx="10"/>
          </p:nvPr>
        </p:nvSpPr>
        <p:spPr/>
        <p:txBody>
          <a:bodyPr/>
          <a:lstStyle/>
          <a:p>
            <a:fld id="{1BB67406-7D6A-427B-AE15-EA86D49A46C9}" type="datetimeFigureOut">
              <a:rPr lang="en-AU" smtClean="0"/>
              <a:t>2/09/2026</a:t>
            </a:fld>
            <a:endParaRPr lang="en-AU"/>
          </a:p>
        </p:txBody>
      </p:sp>
      <p:sp>
        <p:nvSpPr>
          <p:cNvPr id="6" name="Footer Placeholder 5">
            <a:extLst>
              <a:ext uri="{FF2B5EF4-FFF2-40B4-BE49-F238E27FC236}">
                <a16:creationId xmlns:a16="http://schemas.microsoft.com/office/drawing/2014/main" id="{8BB9F5A9-2584-E93E-6A0F-A4794EE1DC5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727E2D3-3374-99CB-1920-B67380A0E1D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33972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6ED3B-21CA-4495-94A5-BF0A0714315D}"/>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5125D24-B245-8441-06C8-6FC24B1D70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0E5481-DAD5-42E9-A05C-FE17FB031D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DEBF7B5-BC72-38B3-02F0-7BB1BC9D07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271FD1-022B-B62F-16CD-57BC6B42D6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B1968B3-4251-2756-4B56-73ADD5061DB9}"/>
              </a:ext>
            </a:extLst>
          </p:cNvPr>
          <p:cNvSpPr>
            <a:spLocks noGrp="1"/>
          </p:cNvSpPr>
          <p:nvPr>
            <p:ph type="dt" sz="half" idx="10"/>
          </p:nvPr>
        </p:nvSpPr>
        <p:spPr/>
        <p:txBody>
          <a:bodyPr/>
          <a:lstStyle/>
          <a:p>
            <a:fld id="{1BB67406-7D6A-427B-AE15-EA86D49A46C9}" type="datetimeFigureOut">
              <a:rPr lang="en-AU" smtClean="0"/>
              <a:t>2/09/2026</a:t>
            </a:fld>
            <a:endParaRPr lang="en-AU"/>
          </a:p>
        </p:txBody>
      </p:sp>
      <p:sp>
        <p:nvSpPr>
          <p:cNvPr id="8" name="Footer Placeholder 7">
            <a:extLst>
              <a:ext uri="{FF2B5EF4-FFF2-40B4-BE49-F238E27FC236}">
                <a16:creationId xmlns:a16="http://schemas.microsoft.com/office/drawing/2014/main" id="{B37B1F6D-47C2-CAE3-A4E5-9BBEA271841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E390004-77A4-C994-6377-2D03957A9478}"/>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27843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029FA-C545-B505-6C82-069457BDA1FA}"/>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6EBCBFB8-D61F-8DA0-01D0-D4ABB1784B6C}"/>
              </a:ext>
            </a:extLst>
          </p:cNvPr>
          <p:cNvSpPr>
            <a:spLocks noGrp="1"/>
          </p:cNvSpPr>
          <p:nvPr>
            <p:ph type="dt" sz="half" idx="10"/>
          </p:nvPr>
        </p:nvSpPr>
        <p:spPr/>
        <p:txBody>
          <a:bodyPr/>
          <a:lstStyle/>
          <a:p>
            <a:fld id="{1BB67406-7D6A-427B-AE15-EA86D49A46C9}" type="datetimeFigureOut">
              <a:rPr lang="en-AU" smtClean="0"/>
              <a:t>2/09/2026</a:t>
            </a:fld>
            <a:endParaRPr lang="en-AU"/>
          </a:p>
        </p:txBody>
      </p:sp>
      <p:sp>
        <p:nvSpPr>
          <p:cNvPr id="4" name="Footer Placeholder 3">
            <a:extLst>
              <a:ext uri="{FF2B5EF4-FFF2-40B4-BE49-F238E27FC236}">
                <a16:creationId xmlns:a16="http://schemas.microsoft.com/office/drawing/2014/main" id="{892936ED-D26E-6CDD-AE85-E69826C2BF6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60F5E15-D044-ACA4-4FF1-4403C9CB1E0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30804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00D06D-3A18-FF5D-39C8-EC1AC6D1C47F}"/>
              </a:ext>
            </a:extLst>
          </p:cNvPr>
          <p:cNvSpPr>
            <a:spLocks noGrp="1"/>
          </p:cNvSpPr>
          <p:nvPr>
            <p:ph type="dt" sz="half" idx="10"/>
          </p:nvPr>
        </p:nvSpPr>
        <p:spPr/>
        <p:txBody>
          <a:bodyPr/>
          <a:lstStyle/>
          <a:p>
            <a:fld id="{1BB67406-7D6A-427B-AE15-EA86D49A46C9}" type="datetimeFigureOut">
              <a:rPr lang="en-AU" smtClean="0"/>
              <a:t>2/09/2026</a:t>
            </a:fld>
            <a:endParaRPr lang="en-AU"/>
          </a:p>
        </p:txBody>
      </p:sp>
      <p:sp>
        <p:nvSpPr>
          <p:cNvPr id="3" name="Footer Placeholder 2">
            <a:extLst>
              <a:ext uri="{FF2B5EF4-FFF2-40B4-BE49-F238E27FC236}">
                <a16:creationId xmlns:a16="http://schemas.microsoft.com/office/drawing/2014/main" id="{5F041F04-363D-EF82-F43A-1F851133744D}"/>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3F072FA-339B-371C-0059-8970DEB101C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680544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B85B4-BB2F-E262-E02E-C1DC1BF00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2F14E00-FACA-AA09-85E5-E01105E850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634EE9D-4DB5-87C6-C68D-3C076EA321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C8988F-CF28-82C0-CDE6-5940AF6ADD36}"/>
              </a:ext>
            </a:extLst>
          </p:cNvPr>
          <p:cNvSpPr>
            <a:spLocks noGrp="1"/>
          </p:cNvSpPr>
          <p:nvPr>
            <p:ph type="dt" sz="half" idx="10"/>
          </p:nvPr>
        </p:nvSpPr>
        <p:spPr/>
        <p:txBody>
          <a:bodyPr/>
          <a:lstStyle/>
          <a:p>
            <a:fld id="{1BB67406-7D6A-427B-AE15-EA86D49A46C9}" type="datetimeFigureOut">
              <a:rPr lang="en-AU" smtClean="0"/>
              <a:t>2/09/2026</a:t>
            </a:fld>
            <a:endParaRPr lang="en-AU"/>
          </a:p>
        </p:txBody>
      </p:sp>
      <p:sp>
        <p:nvSpPr>
          <p:cNvPr id="6" name="Footer Placeholder 5">
            <a:extLst>
              <a:ext uri="{FF2B5EF4-FFF2-40B4-BE49-F238E27FC236}">
                <a16:creationId xmlns:a16="http://schemas.microsoft.com/office/drawing/2014/main" id="{58D6275B-7D78-C2DE-31FE-0C2CC24794F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7BA9313-C86F-F87B-3741-AEE3F072D1D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894448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5856-F0AB-56B5-BD98-57810EED58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987A74BD-4349-19E0-431D-8899C9B137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C09018E4-FE4E-963A-A372-8FF2993F1B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171D85-A2C7-2BA8-45B6-F761AF7901E9}"/>
              </a:ext>
            </a:extLst>
          </p:cNvPr>
          <p:cNvSpPr>
            <a:spLocks noGrp="1"/>
          </p:cNvSpPr>
          <p:nvPr>
            <p:ph type="dt" sz="half" idx="10"/>
          </p:nvPr>
        </p:nvSpPr>
        <p:spPr/>
        <p:txBody>
          <a:bodyPr/>
          <a:lstStyle/>
          <a:p>
            <a:fld id="{1BB67406-7D6A-427B-AE15-EA86D49A46C9}" type="datetimeFigureOut">
              <a:rPr lang="en-AU" smtClean="0"/>
              <a:t>2/09/2026</a:t>
            </a:fld>
            <a:endParaRPr lang="en-AU"/>
          </a:p>
        </p:txBody>
      </p:sp>
      <p:sp>
        <p:nvSpPr>
          <p:cNvPr id="6" name="Footer Placeholder 5">
            <a:extLst>
              <a:ext uri="{FF2B5EF4-FFF2-40B4-BE49-F238E27FC236}">
                <a16:creationId xmlns:a16="http://schemas.microsoft.com/office/drawing/2014/main" id="{B6B167D4-1A0A-BA70-330D-3FF1004FE0D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572802A-72F4-775F-7C84-9B2F5770F435}"/>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76132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CF791-333B-3959-5EB7-74857A08161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E30ACA7-4517-BC5B-569C-29CDA754F2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8472832-7FB6-BE62-8AC6-AC4630D92954}"/>
              </a:ext>
            </a:extLst>
          </p:cNvPr>
          <p:cNvSpPr>
            <a:spLocks noGrp="1"/>
          </p:cNvSpPr>
          <p:nvPr>
            <p:ph type="dt" sz="half" idx="10"/>
          </p:nvPr>
        </p:nvSpPr>
        <p:spPr/>
        <p:txBody>
          <a:bodyPr/>
          <a:lstStyle/>
          <a:p>
            <a:fld id="{1BB67406-7D6A-427B-AE15-EA86D49A46C9}" type="datetimeFigureOut">
              <a:rPr lang="en-AU" smtClean="0"/>
              <a:t>2/09/2026</a:t>
            </a:fld>
            <a:endParaRPr lang="en-AU"/>
          </a:p>
        </p:txBody>
      </p:sp>
      <p:sp>
        <p:nvSpPr>
          <p:cNvPr id="5" name="Footer Placeholder 4">
            <a:extLst>
              <a:ext uri="{FF2B5EF4-FFF2-40B4-BE49-F238E27FC236}">
                <a16:creationId xmlns:a16="http://schemas.microsoft.com/office/drawing/2014/main" id="{11ED29DE-BC8E-969C-246D-FAB1068D1F2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A5BE22-884E-FBF3-A25E-96D41863467F}"/>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955697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444B66-AC16-CCAB-AFE8-29D6415A76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31ACECC-B4A9-B0D4-C662-26E4907132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5500766-BA84-C9DB-9E6F-3B62FB470ED9}"/>
              </a:ext>
            </a:extLst>
          </p:cNvPr>
          <p:cNvSpPr>
            <a:spLocks noGrp="1"/>
          </p:cNvSpPr>
          <p:nvPr>
            <p:ph type="dt" sz="half" idx="10"/>
          </p:nvPr>
        </p:nvSpPr>
        <p:spPr/>
        <p:txBody>
          <a:bodyPr/>
          <a:lstStyle/>
          <a:p>
            <a:fld id="{1BB67406-7D6A-427B-AE15-EA86D49A46C9}" type="datetimeFigureOut">
              <a:rPr lang="en-AU" smtClean="0"/>
              <a:t>2/09/2026</a:t>
            </a:fld>
            <a:endParaRPr lang="en-AU"/>
          </a:p>
        </p:txBody>
      </p:sp>
      <p:sp>
        <p:nvSpPr>
          <p:cNvPr id="5" name="Footer Placeholder 4">
            <a:extLst>
              <a:ext uri="{FF2B5EF4-FFF2-40B4-BE49-F238E27FC236}">
                <a16:creationId xmlns:a16="http://schemas.microsoft.com/office/drawing/2014/main" id="{A0361B9B-7BB2-B7BE-929B-53D8853D771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63AB2A3-A938-DC24-C96A-DF2004F89AD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042973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3CF8-4CC4-7F3B-2E2C-B754C2E0B9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DD47C4A4-F523-ACA9-5C84-1EB3B80F5B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CC56B62-F469-5355-6292-CF3055CB002C}"/>
              </a:ext>
            </a:extLst>
          </p:cNvPr>
          <p:cNvSpPr>
            <a:spLocks noGrp="1"/>
          </p:cNvSpPr>
          <p:nvPr>
            <p:ph type="dt" sz="half" idx="10"/>
          </p:nvPr>
        </p:nvSpPr>
        <p:spPr/>
        <p:txBody>
          <a:bodyPr/>
          <a:lstStyle/>
          <a:p>
            <a:fld id="{BFAA40DC-3820-4F90-B4E8-98BE2140A65D}" type="datetimeFigureOut">
              <a:rPr lang="en-AU" smtClean="0"/>
              <a:t>2/09/2026</a:t>
            </a:fld>
            <a:endParaRPr lang="en-AU"/>
          </a:p>
        </p:txBody>
      </p:sp>
      <p:sp>
        <p:nvSpPr>
          <p:cNvPr id="5" name="Footer Placeholder 4">
            <a:extLst>
              <a:ext uri="{FF2B5EF4-FFF2-40B4-BE49-F238E27FC236}">
                <a16:creationId xmlns:a16="http://schemas.microsoft.com/office/drawing/2014/main" id="{07B6D681-D058-06A0-CFA9-1ACBCF9DA98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5491BDF-B5C2-115A-032D-5C46CBD97B88}"/>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9581883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2C67-E368-7D38-83A4-DC56A3CE481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06983C6-8621-2FAD-A749-9E13A6E824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B1A0925-44BC-4207-88BC-094591F65504}"/>
              </a:ext>
            </a:extLst>
          </p:cNvPr>
          <p:cNvSpPr>
            <a:spLocks noGrp="1"/>
          </p:cNvSpPr>
          <p:nvPr>
            <p:ph type="dt" sz="half" idx="10"/>
          </p:nvPr>
        </p:nvSpPr>
        <p:spPr/>
        <p:txBody>
          <a:bodyPr/>
          <a:lstStyle/>
          <a:p>
            <a:fld id="{BFAA40DC-3820-4F90-B4E8-98BE2140A65D}" type="datetimeFigureOut">
              <a:rPr lang="en-AU" smtClean="0"/>
              <a:t>2/09/2026</a:t>
            </a:fld>
            <a:endParaRPr lang="en-AU"/>
          </a:p>
        </p:txBody>
      </p:sp>
      <p:sp>
        <p:nvSpPr>
          <p:cNvPr id="5" name="Footer Placeholder 4">
            <a:extLst>
              <a:ext uri="{FF2B5EF4-FFF2-40B4-BE49-F238E27FC236}">
                <a16:creationId xmlns:a16="http://schemas.microsoft.com/office/drawing/2014/main" id="{88163BBE-E6DD-4BA0-5A98-015DA3DCEBB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0B556D0-7775-3B39-DE7E-B43E5937F23A}"/>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6549780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96912-D2E1-9F64-1372-FD29BECA18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CCB3F36E-92D4-F7A9-5611-D4EBA0BE88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BA57A2-4AEF-2382-EDA9-9845CA39B6F5}"/>
              </a:ext>
            </a:extLst>
          </p:cNvPr>
          <p:cNvSpPr>
            <a:spLocks noGrp="1"/>
          </p:cNvSpPr>
          <p:nvPr>
            <p:ph type="dt" sz="half" idx="10"/>
          </p:nvPr>
        </p:nvSpPr>
        <p:spPr/>
        <p:txBody>
          <a:bodyPr/>
          <a:lstStyle/>
          <a:p>
            <a:fld id="{BFAA40DC-3820-4F90-B4E8-98BE2140A65D}" type="datetimeFigureOut">
              <a:rPr lang="en-AU" smtClean="0"/>
              <a:t>2/09/2026</a:t>
            </a:fld>
            <a:endParaRPr lang="en-AU"/>
          </a:p>
        </p:txBody>
      </p:sp>
      <p:sp>
        <p:nvSpPr>
          <p:cNvPr id="5" name="Footer Placeholder 4">
            <a:extLst>
              <a:ext uri="{FF2B5EF4-FFF2-40B4-BE49-F238E27FC236}">
                <a16:creationId xmlns:a16="http://schemas.microsoft.com/office/drawing/2014/main" id="{A6F37D0E-8F76-6E7D-576B-3044ADA89E4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D82D88E-0EE8-C9D0-7C68-6610F7CEA951}"/>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1851511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A8EEF-DD28-69EB-29C5-D19A23E2AE8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9C7F8B3-1006-F7DE-14E9-62BEEF0BC3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079AB7C-879B-50DC-E53A-4393B966D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50D7845-F396-BCEB-3205-F5CB38CB2530}"/>
              </a:ext>
            </a:extLst>
          </p:cNvPr>
          <p:cNvSpPr>
            <a:spLocks noGrp="1"/>
          </p:cNvSpPr>
          <p:nvPr>
            <p:ph type="dt" sz="half" idx="10"/>
          </p:nvPr>
        </p:nvSpPr>
        <p:spPr/>
        <p:txBody>
          <a:bodyPr/>
          <a:lstStyle/>
          <a:p>
            <a:fld id="{BFAA40DC-3820-4F90-B4E8-98BE2140A65D}" type="datetimeFigureOut">
              <a:rPr lang="en-AU" smtClean="0"/>
              <a:t>2/09/2026</a:t>
            </a:fld>
            <a:endParaRPr lang="en-AU"/>
          </a:p>
        </p:txBody>
      </p:sp>
      <p:sp>
        <p:nvSpPr>
          <p:cNvPr id="6" name="Footer Placeholder 5">
            <a:extLst>
              <a:ext uri="{FF2B5EF4-FFF2-40B4-BE49-F238E27FC236}">
                <a16:creationId xmlns:a16="http://schemas.microsoft.com/office/drawing/2014/main" id="{3BDFD3CE-E9A4-DBF3-1F0E-201F7D7F870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5F8F1D0-0AD2-C539-20D2-851B13FB1D5D}"/>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9724946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249C5-0226-85F6-8D4F-D4EA9199BD3E}"/>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BF293AD-8E77-DFCC-2C3E-8937176F9D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4B92EC-30B6-5005-98C8-910D96DBBD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1EC2EA1-CEE9-87F1-74CA-7EA588BF2B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4F0A23-C285-3B5E-0EF8-4DF4263F03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2763897-C5FE-C3C3-0CDA-105871814ACD}"/>
              </a:ext>
            </a:extLst>
          </p:cNvPr>
          <p:cNvSpPr>
            <a:spLocks noGrp="1"/>
          </p:cNvSpPr>
          <p:nvPr>
            <p:ph type="dt" sz="half" idx="10"/>
          </p:nvPr>
        </p:nvSpPr>
        <p:spPr/>
        <p:txBody>
          <a:bodyPr/>
          <a:lstStyle/>
          <a:p>
            <a:fld id="{BFAA40DC-3820-4F90-B4E8-98BE2140A65D}" type="datetimeFigureOut">
              <a:rPr lang="en-AU" smtClean="0"/>
              <a:t>2/09/2026</a:t>
            </a:fld>
            <a:endParaRPr lang="en-AU"/>
          </a:p>
        </p:txBody>
      </p:sp>
      <p:sp>
        <p:nvSpPr>
          <p:cNvPr id="8" name="Footer Placeholder 7">
            <a:extLst>
              <a:ext uri="{FF2B5EF4-FFF2-40B4-BE49-F238E27FC236}">
                <a16:creationId xmlns:a16="http://schemas.microsoft.com/office/drawing/2014/main" id="{C76D7EC9-F5EC-C2D4-DFE1-05F4CA0D1B2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5CEC484-2B60-830F-28B9-0BF2FCAECAF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4528842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555B2-54AC-E8D5-3367-D1C2415C8223}"/>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CE7327B-BCFB-7F1B-0D11-15CDAFA5E939}"/>
              </a:ext>
            </a:extLst>
          </p:cNvPr>
          <p:cNvSpPr>
            <a:spLocks noGrp="1"/>
          </p:cNvSpPr>
          <p:nvPr>
            <p:ph type="dt" sz="half" idx="10"/>
          </p:nvPr>
        </p:nvSpPr>
        <p:spPr/>
        <p:txBody>
          <a:bodyPr/>
          <a:lstStyle/>
          <a:p>
            <a:fld id="{BFAA40DC-3820-4F90-B4E8-98BE2140A65D}" type="datetimeFigureOut">
              <a:rPr lang="en-AU" smtClean="0"/>
              <a:t>2/09/2026</a:t>
            </a:fld>
            <a:endParaRPr lang="en-AU"/>
          </a:p>
        </p:txBody>
      </p:sp>
      <p:sp>
        <p:nvSpPr>
          <p:cNvPr id="4" name="Footer Placeholder 3">
            <a:extLst>
              <a:ext uri="{FF2B5EF4-FFF2-40B4-BE49-F238E27FC236}">
                <a16:creationId xmlns:a16="http://schemas.microsoft.com/office/drawing/2014/main" id="{AACEA2D0-8DDC-C686-66FD-4DE83C54922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480BFAB-E28F-508B-19B8-6522D8ACFABF}"/>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3211664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769272-1C68-4E9F-DF2B-EFBD432E16F1}"/>
              </a:ext>
            </a:extLst>
          </p:cNvPr>
          <p:cNvSpPr>
            <a:spLocks noGrp="1"/>
          </p:cNvSpPr>
          <p:nvPr>
            <p:ph type="dt" sz="half" idx="10"/>
          </p:nvPr>
        </p:nvSpPr>
        <p:spPr/>
        <p:txBody>
          <a:bodyPr/>
          <a:lstStyle/>
          <a:p>
            <a:fld id="{BFAA40DC-3820-4F90-B4E8-98BE2140A65D}" type="datetimeFigureOut">
              <a:rPr lang="en-AU" smtClean="0"/>
              <a:t>2/09/2026</a:t>
            </a:fld>
            <a:endParaRPr lang="en-AU"/>
          </a:p>
        </p:txBody>
      </p:sp>
      <p:sp>
        <p:nvSpPr>
          <p:cNvPr id="3" name="Footer Placeholder 2">
            <a:extLst>
              <a:ext uri="{FF2B5EF4-FFF2-40B4-BE49-F238E27FC236}">
                <a16:creationId xmlns:a16="http://schemas.microsoft.com/office/drawing/2014/main" id="{9F2DC98D-0E86-D36E-F380-6954CD1E0BF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AA1A426-B4F3-BBC6-83AE-7CC2B62FB732}"/>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2957703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050BF-D428-3081-57B1-8789F7735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E65AD68-6E43-EC2D-C33D-9C8C408CC5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F607F6F4-D743-9E3B-ECD3-FC039ED7A9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4F5F1-6B2A-22C2-ECEA-5177C220ADF5}"/>
              </a:ext>
            </a:extLst>
          </p:cNvPr>
          <p:cNvSpPr>
            <a:spLocks noGrp="1"/>
          </p:cNvSpPr>
          <p:nvPr>
            <p:ph type="dt" sz="half" idx="10"/>
          </p:nvPr>
        </p:nvSpPr>
        <p:spPr/>
        <p:txBody>
          <a:bodyPr/>
          <a:lstStyle/>
          <a:p>
            <a:fld id="{BFAA40DC-3820-4F90-B4E8-98BE2140A65D}" type="datetimeFigureOut">
              <a:rPr lang="en-AU" smtClean="0"/>
              <a:t>2/09/2026</a:t>
            </a:fld>
            <a:endParaRPr lang="en-AU"/>
          </a:p>
        </p:txBody>
      </p:sp>
      <p:sp>
        <p:nvSpPr>
          <p:cNvPr id="6" name="Footer Placeholder 5">
            <a:extLst>
              <a:ext uri="{FF2B5EF4-FFF2-40B4-BE49-F238E27FC236}">
                <a16:creationId xmlns:a16="http://schemas.microsoft.com/office/drawing/2014/main" id="{790F1728-E389-E41B-E406-1E97CFE6A5D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A0B1710-9C83-7478-4B35-7F8EEFEF0033}"/>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1564702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26ED2-C254-312D-15C0-846C33DE56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5BD8503-8FCB-7F53-63D6-495FC6DA09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B35F4EB0-E8B0-EA92-3CF8-6A5D1F5C74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7D7A35-CE5F-ECE8-2441-58A2C920217D}"/>
              </a:ext>
            </a:extLst>
          </p:cNvPr>
          <p:cNvSpPr>
            <a:spLocks noGrp="1"/>
          </p:cNvSpPr>
          <p:nvPr>
            <p:ph type="dt" sz="half" idx="10"/>
          </p:nvPr>
        </p:nvSpPr>
        <p:spPr/>
        <p:txBody>
          <a:bodyPr/>
          <a:lstStyle/>
          <a:p>
            <a:fld id="{BFAA40DC-3820-4F90-B4E8-98BE2140A65D}" type="datetimeFigureOut">
              <a:rPr lang="en-AU" smtClean="0"/>
              <a:t>2/09/2026</a:t>
            </a:fld>
            <a:endParaRPr lang="en-AU"/>
          </a:p>
        </p:txBody>
      </p:sp>
      <p:sp>
        <p:nvSpPr>
          <p:cNvPr id="6" name="Footer Placeholder 5">
            <a:extLst>
              <a:ext uri="{FF2B5EF4-FFF2-40B4-BE49-F238E27FC236}">
                <a16:creationId xmlns:a16="http://schemas.microsoft.com/office/drawing/2014/main" id="{97D0283E-7CC6-0CCE-C2FC-702F78F9062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7E77FBD-6EC1-3B80-4A79-3B5A0E2E3B8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7250123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E148A-761D-E27D-E888-B7E27FD8A10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5B74B11-2215-EBF3-BEA3-EF320EE386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767CD92-D758-240E-A2D2-4E195BC7FDA4}"/>
              </a:ext>
            </a:extLst>
          </p:cNvPr>
          <p:cNvSpPr>
            <a:spLocks noGrp="1"/>
          </p:cNvSpPr>
          <p:nvPr>
            <p:ph type="dt" sz="half" idx="10"/>
          </p:nvPr>
        </p:nvSpPr>
        <p:spPr/>
        <p:txBody>
          <a:bodyPr/>
          <a:lstStyle/>
          <a:p>
            <a:fld id="{BFAA40DC-3820-4F90-B4E8-98BE2140A65D}" type="datetimeFigureOut">
              <a:rPr lang="en-AU" smtClean="0"/>
              <a:t>2/09/2026</a:t>
            </a:fld>
            <a:endParaRPr lang="en-AU"/>
          </a:p>
        </p:txBody>
      </p:sp>
      <p:sp>
        <p:nvSpPr>
          <p:cNvPr id="5" name="Footer Placeholder 4">
            <a:extLst>
              <a:ext uri="{FF2B5EF4-FFF2-40B4-BE49-F238E27FC236}">
                <a16:creationId xmlns:a16="http://schemas.microsoft.com/office/drawing/2014/main" id="{CCDB3A7E-35BE-57C3-5A4F-F3FB5F4DA79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B917621-F8C1-F075-FE92-FD0DDB6198E6}"/>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8217778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AFC27C-709B-17D0-FA2E-D84DCAB7FA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19340E5-47C9-4263-1E76-9BE55624B2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99996FD-B031-5E26-AF28-582721D53E74}"/>
              </a:ext>
            </a:extLst>
          </p:cNvPr>
          <p:cNvSpPr>
            <a:spLocks noGrp="1"/>
          </p:cNvSpPr>
          <p:nvPr>
            <p:ph type="dt" sz="half" idx="10"/>
          </p:nvPr>
        </p:nvSpPr>
        <p:spPr/>
        <p:txBody>
          <a:bodyPr/>
          <a:lstStyle/>
          <a:p>
            <a:fld id="{BFAA40DC-3820-4F90-B4E8-98BE2140A65D}" type="datetimeFigureOut">
              <a:rPr lang="en-AU" smtClean="0"/>
              <a:t>2/09/2026</a:t>
            </a:fld>
            <a:endParaRPr lang="en-AU"/>
          </a:p>
        </p:txBody>
      </p:sp>
      <p:sp>
        <p:nvSpPr>
          <p:cNvPr id="5" name="Footer Placeholder 4">
            <a:extLst>
              <a:ext uri="{FF2B5EF4-FFF2-40B4-BE49-F238E27FC236}">
                <a16:creationId xmlns:a16="http://schemas.microsoft.com/office/drawing/2014/main" id="{8C19D959-5F65-A253-A7EB-99402547BC7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98B7ADB-FEDC-6841-0342-4A29EDFCF45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446726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CC3005-B647-9E32-CC60-5191277030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1E7C51E-6DC2-39F3-9212-D582E0A9B5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90B9BBC-D295-7A76-2B27-6B12AD3F6F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B67406-7D6A-427B-AE15-EA86D49A46C9}" type="datetimeFigureOut">
              <a:rPr lang="en-AU" smtClean="0"/>
              <a:t>2/09/2026</a:t>
            </a:fld>
            <a:endParaRPr lang="en-AU"/>
          </a:p>
        </p:txBody>
      </p:sp>
      <p:sp>
        <p:nvSpPr>
          <p:cNvPr id="5" name="Footer Placeholder 4">
            <a:extLst>
              <a:ext uri="{FF2B5EF4-FFF2-40B4-BE49-F238E27FC236}">
                <a16:creationId xmlns:a16="http://schemas.microsoft.com/office/drawing/2014/main" id="{D88185DA-FDEE-FA5B-E9B0-C02631270C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81860BB-9B5C-C732-6BD6-2C0DFC8EE6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B5C574-5640-4986-AA8B-BE8048252EF2}" type="slidenum">
              <a:rPr lang="en-AU" smtClean="0"/>
              <a:t>‹#›</a:t>
            </a:fld>
            <a:endParaRPr lang="en-AU"/>
          </a:p>
        </p:txBody>
      </p:sp>
    </p:spTree>
    <p:extLst>
      <p:ext uri="{BB962C8B-B14F-4D97-AF65-F5344CB8AC3E}">
        <p14:creationId xmlns:p14="http://schemas.microsoft.com/office/powerpoint/2010/main" val="13346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DDAB3A-0A22-D024-CB1E-FB00658BEB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90D3B34-6582-BD11-4D42-366502C704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1D8C151-0A35-D9DB-7435-13417BC8F3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AA40DC-3820-4F90-B4E8-98BE2140A65D}" type="datetimeFigureOut">
              <a:rPr lang="en-AU" smtClean="0"/>
              <a:t>2/09/2026</a:t>
            </a:fld>
            <a:endParaRPr lang="en-AU"/>
          </a:p>
        </p:txBody>
      </p:sp>
      <p:sp>
        <p:nvSpPr>
          <p:cNvPr id="5" name="Footer Placeholder 4">
            <a:extLst>
              <a:ext uri="{FF2B5EF4-FFF2-40B4-BE49-F238E27FC236}">
                <a16:creationId xmlns:a16="http://schemas.microsoft.com/office/drawing/2014/main" id="{4B2A9709-41CF-642F-7858-53BE89DAE6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9752F23B-D3DD-D490-A64F-7E733F664E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4F4E00-A0CE-455C-B0DA-A2CE083CA5E3}" type="slidenum">
              <a:rPr lang="en-AU" smtClean="0"/>
              <a:t>‹#›</a:t>
            </a:fld>
            <a:endParaRPr lang="en-AU"/>
          </a:p>
        </p:txBody>
      </p:sp>
    </p:spTree>
    <p:extLst>
      <p:ext uri="{BB962C8B-B14F-4D97-AF65-F5344CB8AC3E}">
        <p14:creationId xmlns:p14="http://schemas.microsoft.com/office/powerpoint/2010/main" val="42580476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profiles.uts.edu.au/Farshid.Keivanian" TargetMode="External"/><Relationship Id="rId2" Type="http://schemas.openxmlformats.org/officeDocument/2006/relationships/hyperlink" Target="mailto:Farshid.Keivanian@uts.edu.au" TargetMode="External"/><Relationship Id="rId1" Type="http://schemas.openxmlformats.org/officeDocument/2006/relationships/slideLayout" Target="../slideLayouts/slideLayout2.xml"/><Relationship Id="rId6" Type="http://schemas.openxmlformats.org/officeDocument/2006/relationships/hyperlink" Target="https://orcid.org/0000-0002-9425-9018" TargetMode="External"/><Relationship Id="rId5" Type="http://schemas.openxmlformats.org/officeDocument/2006/relationships/hyperlink" Target="https://github.com/FarshidKeivanian" TargetMode="External"/><Relationship Id="rId4" Type="http://schemas.openxmlformats.org/officeDocument/2006/relationships/hyperlink" Target="https://www.linkedin.com/in/farshid-keivanian"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9.png"/><Relationship Id="rId4" Type="http://schemas.openxmlformats.org/officeDocument/2006/relationships/image" Target="../media/image8.png"/></Relationships>
</file>

<file path=ppt/slides/_rels/slide5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9.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9.png"/></Relationships>
</file>

<file path=ppt/slides/_rels/slide6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8.pn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9.png"/></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0.png"/></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143.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144.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145.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147.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148.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149.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150.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tags" Target="../tags/tag58.xml"/><Relationship Id="rId4" Type="http://schemas.openxmlformats.org/officeDocument/2006/relationships/image" Target="../media/image21.png"/></Relationships>
</file>

<file path=ppt/slides/_rels/slide151.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152.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153.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154.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155.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156.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24.jpeg"/><Relationship Id="rId1" Type="http://schemas.openxmlformats.org/officeDocument/2006/relationships/slideLayout" Target="../slideLayouts/slideLayout13.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Title 1">
            <a:extLst>
              <a:ext uri="{FF2B5EF4-FFF2-40B4-BE49-F238E27FC236}">
                <a16:creationId xmlns:a16="http://schemas.microsoft.com/office/drawing/2014/main" id="{AF876F03-8BAA-72AB-E62A-1CEA6868C9B9}"/>
              </a:ext>
            </a:extLst>
          </p:cNvPr>
          <p:cNvSpPr>
            <a:spLocks noGrp="1"/>
          </p:cNvSpPr>
          <p:nvPr>
            <p:ph type="ctrTitle"/>
          </p:nvPr>
        </p:nvSpPr>
        <p:spPr>
          <a:xfrm>
            <a:off x="908454" y="1360481"/>
            <a:ext cx="4605340" cy="2387600"/>
          </a:xfrm>
        </p:spPr>
        <p:txBody>
          <a:bodyPr>
            <a:normAutofit/>
          </a:bodyPr>
          <a:lstStyle/>
          <a:p>
            <a:pPr algn="l"/>
            <a:r>
              <a:rPr lang="en-US" sz="3900" dirty="0">
                <a:solidFill>
                  <a:schemeClr val="bg1"/>
                </a:solidFill>
                <a:latin typeface="Calibir"/>
              </a:rPr>
              <a:t>32555 – Fundamentals of Software Development</a:t>
            </a:r>
            <a:endParaRPr lang="en-AU" sz="3900" dirty="0">
              <a:solidFill>
                <a:schemeClr val="bg1"/>
              </a:solidFill>
              <a:latin typeface="Calibir"/>
            </a:endParaRPr>
          </a:p>
        </p:txBody>
      </p:sp>
      <p:pic>
        <p:nvPicPr>
          <p:cNvPr id="3" name="Picture 2">
            <a:extLst>
              <a:ext uri="{FF2B5EF4-FFF2-40B4-BE49-F238E27FC236}">
                <a16:creationId xmlns:a16="http://schemas.microsoft.com/office/drawing/2014/main" id="{A98A4EEB-3C3C-78E4-5144-CBDE3AFA8CA8}"/>
              </a:ext>
            </a:extLst>
          </p:cNvPr>
          <p:cNvPicPr>
            <a:picLocks noChangeAspect="1"/>
          </p:cNvPicPr>
          <p:nvPr/>
        </p:nvPicPr>
        <p:blipFill>
          <a:blip r:embed="rId2">
            <a:alphaModFix/>
            <a:extLst>
              <a:ext uri="{28A0092B-C50C-407E-A947-70E740481C1C}">
                <a14:useLocalDpi xmlns:a14="http://schemas.microsoft.com/office/drawing/2010/main" val="0"/>
              </a:ext>
            </a:extLst>
          </a:blip>
          <a:srcRect l="3847" r="98" b="1"/>
          <a:stretch>
            <a:fillRect/>
          </a:stretch>
        </p:blipFill>
        <p:spPr>
          <a:xfrm>
            <a:off x="5800734" y="1057275"/>
            <a:ext cx="5917401" cy="4743450"/>
          </a:xfrm>
          <a:prstGeom prst="rect">
            <a:avLst/>
          </a:prstGeom>
        </p:spPr>
      </p:pic>
      <p:sp>
        <p:nvSpPr>
          <p:cNvPr id="22" name="Rectangle 21">
            <a:extLst>
              <a:ext uri="{FF2B5EF4-FFF2-40B4-BE49-F238E27FC236}">
                <a16:creationId xmlns:a16="http://schemas.microsoft.com/office/drawing/2014/main" id="{D84C2E9E-0B5D-4B5F-9A1F-70EBDCE390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461" y="1197769"/>
            <a:ext cx="10987078" cy="4462463"/>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4851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D7A11-47AE-C133-8206-569A0BB07A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E1848-8E74-13DF-C09C-3CC64A483572}"/>
              </a:ext>
            </a:extLst>
          </p:cNvPr>
          <p:cNvSpPr>
            <a:spLocks noGrp="1"/>
          </p:cNvSpPr>
          <p:nvPr>
            <p:ph type="title"/>
          </p:nvPr>
        </p:nvSpPr>
        <p:spPr>
          <a:xfrm>
            <a:off x="0" y="0"/>
            <a:ext cx="12192000" cy="658369"/>
          </a:xfrm>
        </p:spPr>
        <p:txBody>
          <a:bodyPr anchor="b">
            <a:normAutofit fontScale="90000"/>
          </a:bodyPr>
          <a:lstStyle/>
          <a:p>
            <a:r>
              <a:rPr lang="en-US" sz="4000" dirty="0">
                <a:latin typeface="Calibir"/>
              </a:rPr>
              <a:t>Welcome to 32555 – Fundamentals of Software Development</a:t>
            </a:r>
            <a:endParaRPr lang="en-AU" sz="4000" b="1" dirty="0">
              <a:latin typeface="Calibir"/>
            </a:endParaRPr>
          </a:p>
        </p:txBody>
      </p:sp>
      <p:sp>
        <p:nvSpPr>
          <p:cNvPr id="5" name="Rectangle 1">
            <a:extLst>
              <a:ext uri="{FF2B5EF4-FFF2-40B4-BE49-F238E27FC236}">
                <a16:creationId xmlns:a16="http://schemas.microsoft.com/office/drawing/2014/main" id="{F5185FC6-5CEA-DC1B-A1DF-D2D8A89484E9}"/>
              </a:ext>
            </a:extLst>
          </p:cNvPr>
          <p:cNvSpPr>
            <a:spLocks noChangeArrowheads="1"/>
          </p:cNvSpPr>
          <p:nvPr/>
        </p:nvSpPr>
        <p:spPr bwMode="auto">
          <a:xfrm>
            <a:off x="0" y="837669"/>
            <a:ext cx="12192000" cy="5963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alibir"/>
                <a:ea typeface="+mn-ea"/>
                <a:cs typeface="+mn-cs"/>
              </a:rPr>
              <a:t>Your Teaching Team:</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ir"/>
                <a:ea typeface="+mn-ea"/>
                <a:cs typeface="+mn-cs"/>
              </a:rPr>
              <a:t>Dr. Yining Hu | Subject Coordinator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Yining is a Lecturer in Software Engineering. She works with many SMEs to develop software and AI solutions through student and research projects at UTS.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yining.hu@uts.edu.au</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 </a:t>
            </a:r>
            <a:r>
              <a:rPr kumimoji="0" lang="en-US" sz="1600" b="1" i="0" u="none" strike="noStrike" kern="1200" cap="none" spc="0" normalizeH="0" baseline="0" noProof="0" dirty="0">
                <a:ln>
                  <a:noFill/>
                </a:ln>
                <a:solidFill>
                  <a:prstClr val="black"/>
                </a:solidFill>
                <a:effectLst/>
                <a:uLnTx/>
                <a:uFillTx/>
                <a:latin typeface="Calibir"/>
                <a:ea typeface="+mn-ea"/>
                <a:cs typeface="+mn-cs"/>
              </a:rPr>
              <a:t>Dr. Xiaojie (Zoe) Lin | Tutor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Zoe is a full-stack software engineer with an interest in data analysis, specializing in JAVA, R, Python, JavaScript, PHP, Bash, and MATLAB; familiar with AWS.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Xiaojie.Lin@uts.edu.au</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 </a:t>
            </a:r>
            <a:r>
              <a:rPr kumimoji="0" lang="en-US" sz="1600" b="1" i="0" u="none" strike="noStrike" kern="1200" cap="none" spc="0" normalizeH="0" baseline="0" noProof="0" dirty="0">
                <a:ln>
                  <a:noFill/>
                </a:ln>
                <a:solidFill>
                  <a:prstClr val="black"/>
                </a:solidFill>
                <a:effectLst/>
                <a:uLnTx/>
                <a:uFillTx/>
                <a:latin typeface="Calibir"/>
                <a:ea typeface="+mn-ea"/>
                <a:cs typeface="+mn-cs"/>
              </a:rPr>
              <a:t>Dr. Farshid Keivanian | Tutor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Dr. Farshid Keivanian is an experienced university lecturer and researcher with a PhD in Information Technology. He has over 15 years of teaching experience across Australian institutions, </a:t>
            </a:r>
            <a:r>
              <a:rPr kumimoji="0" lang="en-US" sz="1600" b="0" i="0" u="none" strike="noStrike" kern="1200" cap="none" spc="0" normalizeH="0" baseline="0" noProof="0" dirty="0" err="1">
                <a:ln>
                  <a:noFill/>
                </a:ln>
                <a:solidFill>
                  <a:prstClr val="black"/>
                </a:solidFill>
                <a:effectLst/>
                <a:uLnTx/>
                <a:uFillTx/>
                <a:latin typeface="Calibir"/>
                <a:ea typeface="+mn-ea"/>
                <a:cs typeface="+mn-cs"/>
              </a:rPr>
              <a:t>specialising</a:t>
            </a:r>
            <a:r>
              <a:rPr kumimoji="0" lang="en-US" sz="1600" b="0" i="0" u="none" strike="noStrike" kern="1200" cap="none" spc="0" normalizeH="0" baseline="0" noProof="0" dirty="0">
                <a:ln>
                  <a:noFill/>
                </a:ln>
                <a:solidFill>
                  <a:prstClr val="black"/>
                </a:solidFill>
                <a:effectLst/>
                <a:uLnTx/>
                <a:uFillTx/>
                <a:latin typeface="Calibir"/>
                <a:ea typeface="+mn-ea"/>
                <a:cs typeface="+mn-cs"/>
              </a:rPr>
              <a:t> in software engineering, data science, AI, and cybersecurity.</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Farshid.Keivanian@uts.edu.au</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 </a:t>
            </a:r>
            <a:r>
              <a:rPr kumimoji="0" lang="en-US" sz="1600" b="1" i="0" u="none" strike="noStrike" kern="1200" cap="none" spc="0" normalizeH="0" baseline="0" noProof="0" dirty="0">
                <a:ln>
                  <a:noFill/>
                </a:ln>
                <a:solidFill>
                  <a:prstClr val="black"/>
                </a:solidFill>
                <a:effectLst/>
                <a:uLnTx/>
                <a:uFillTx/>
                <a:latin typeface="Calibir"/>
                <a:ea typeface="+mn-ea"/>
                <a:cs typeface="+mn-cs"/>
              </a:rPr>
              <a:t>Yong Pov | Tutor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Yong is a full-stack software engineer with experience in React, JavaScript, TypeScript, Java, Python, SQL, and AI-assisted learning platforms.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Yong.Pov@uts.edu.au</a:t>
            </a:r>
          </a:p>
        </p:txBody>
      </p:sp>
    </p:spTree>
    <p:extLst>
      <p:ext uri="{BB962C8B-B14F-4D97-AF65-F5344CB8AC3E}">
        <p14:creationId xmlns:p14="http://schemas.microsoft.com/office/powerpoint/2010/main" val="794337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96DC6-424A-EAE3-87C1-E5765B094D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E5FDA-B4C2-6DD5-17BE-680D628581FF}"/>
              </a:ext>
            </a:extLst>
          </p:cNvPr>
          <p:cNvSpPr>
            <a:spLocks noGrp="1"/>
          </p:cNvSpPr>
          <p:nvPr>
            <p:ph type="title"/>
          </p:nvPr>
        </p:nvSpPr>
        <p:spPr>
          <a:xfrm>
            <a:off x="0" y="0"/>
            <a:ext cx="12192000" cy="658369"/>
          </a:xfrm>
        </p:spPr>
        <p:txBody>
          <a:bodyPr anchor="b">
            <a:normAutofit fontScale="90000"/>
          </a:bodyPr>
          <a:lstStyle/>
          <a:p>
            <a:r>
              <a:rPr lang="en-US" sz="4000" dirty="0">
                <a:latin typeface="Calibir"/>
              </a:rPr>
              <a:t>Welcome to 32555 – Fundamentals of Software Development</a:t>
            </a:r>
            <a:endParaRPr lang="en-AU" sz="4000" b="1" dirty="0">
              <a:latin typeface="Calibir"/>
            </a:endParaRPr>
          </a:p>
        </p:txBody>
      </p:sp>
      <p:graphicFrame>
        <p:nvGraphicFramePr>
          <p:cNvPr id="3" name="Table 2">
            <a:extLst>
              <a:ext uri="{FF2B5EF4-FFF2-40B4-BE49-F238E27FC236}">
                <a16:creationId xmlns:a16="http://schemas.microsoft.com/office/drawing/2014/main" id="{EE98AB95-B27E-184F-3760-418B8D55B79F}"/>
              </a:ext>
            </a:extLst>
          </p:cNvPr>
          <p:cNvGraphicFramePr>
            <a:graphicFrameLocks noGrp="1"/>
          </p:cNvGraphicFramePr>
          <p:nvPr/>
        </p:nvGraphicFramePr>
        <p:xfrm>
          <a:off x="722671" y="1816610"/>
          <a:ext cx="9792928" cy="3681218"/>
        </p:xfrm>
        <a:graphic>
          <a:graphicData uri="http://schemas.openxmlformats.org/drawingml/2006/table">
            <a:tbl>
              <a:tblPr>
                <a:tableStyleId>{BC89EF96-8CEA-46FF-86C4-4CE0E7609802}</a:tableStyleId>
              </a:tblPr>
              <a:tblGrid>
                <a:gridCol w="1613329">
                  <a:extLst>
                    <a:ext uri="{9D8B030D-6E8A-4147-A177-3AD203B41FA5}">
                      <a16:colId xmlns:a16="http://schemas.microsoft.com/office/drawing/2014/main" val="79494275"/>
                    </a:ext>
                  </a:extLst>
                </a:gridCol>
                <a:gridCol w="2230244">
                  <a:extLst>
                    <a:ext uri="{9D8B030D-6E8A-4147-A177-3AD203B41FA5}">
                      <a16:colId xmlns:a16="http://schemas.microsoft.com/office/drawing/2014/main" val="2506284612"/>
                    </a:ext>
                  </a:extLst>
                </a:gridCol>
                <a:gridCol w="2864347">
                  <a:extLst>
                    <a:ext uri="{9D8B030D-6E8A-4147-A177-3AD203B41FA5}">
                      <a16:colId xmlns:a16="http://schemas.microsoft.com/office/drawing/2014/main" val="2357989121"/>
                    </a:ext>
                  </a:extLst>
                </a:gridCol>
                <a:gridCol w="3085008">
                  <a:extLst>
                    <a:ext uri="{9D8B030D-6E8A-4147-A177-3AD203B41FA5}">
                      <a16:colId xmlns:a16="http://schemas.microsoft.com/office/drawing/2014/main" val="192731506"/>
                    </a:ext>
                  </a:extLst>
                </a:gridCol>
              </a:tblGrid>
              <a:tr h="370632">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Cmp1 #</a:t>
                      </a:r>
                      <a:endParaRPr lang="en-US" sz="2800" b="0" i="0" dirty="0">
                        <a:solidFill>
                          <a:srgbClr val="252B2B"/>
                        </a:solidFill>
                        <a:effectLst/>
                        <a:latin typeface="Calibir"/>
                      </a:endParaRPr>
                    </a:p>
                  </a:txBody>
                  <a:tcPr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Location</a:t>
                      </a:r>
                      <a:endParaRPr lang="en-US" sz="2800" b="0" i="0">
                        <a:solidFill>
                          <a:srgbClr val="252B2B"/>
                        </a:solidFill>
                        <a:effectLst/>
                        <a:latin typeface="Calibir"/>
                      </a:endParaRPr>
                    </a:p>
                  </a:txBody>
                  <a:tcPr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Time</a:t>
                      </a:r>
                      <a:endParaRPr lang="en-US" sz="2800" b="0" i="0">
                        <a:solidFill>
                          <a:srgbClr val="252B2B"/>
                        </a:solidFill>
                        <a:effectLst/>
                        <a:latin typeface="Calibir"/>
                      </a:endParaRPr>
                    </a:p>
                  </a:txBody>
                  <a:tcPr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Tutor</a:t>
                      </a:r>
                      <a:endParaRPr lang="en-US" sz="2800" b="0" i="0">
                        <a:solidFill>
                          <a:srgbClr val="252B2B"/>
                        </a:solidFill>
                        <a:effectLst/>
                        <a:latin typeface="Calibir"/>
                      </a:endParaRPr>
                    </a:p>
                  </a:txBody>
                  <a:tcPr anchor="ctr"/>
                </a:tc>
                <a:extLst>
                  <a:ext uri="{0D108BD9-81ED-4DB2-BD59-A6C34878D82A}">
                    <a16:rowId xmlns:a16="http://schemas.microsoft.com/office/drawing/2014/main" val="4280461216"/>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01</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CB11.B1.400</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Fri 16:00-18:00</a:t>
                      </a:r>
                      <a:endParaRPr lang="en-US" sz="2800" b="0" i="0" dirty="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Xiaojie (Zoe) Lin</a:t>
                      </a:r>
                      <a:endParaRPr lang="en-US" sz="2800" b="0" i="0">
                        <a:solidFill>
                          <a:srgbClr val="252B2B"/>
                        </a:solidFill>
                        <a:effectLst/>
                        <a:latin typeface="Calibir"/>
                      </a:endParaRPr>
                    </a:p>
                  </a:txBody>
                  <a:tcPr marL="14630" marR="14630" marT="14630" marB="14630" anchor="ctr"/>
                </a:tc>
                <a:extLst>
                  <a:ext uri="{0D108BD9-81ED-4DB2-BD59-A6C34878D82A}">
                    <a16:rowId xmlns:a16="http://schemas.microsoft.com/office/drawing/2014/main" val="3707997205"/>
                  </a:ext>
                </a:extLst>
              </a:tr>
              <a:tr h="385262">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07</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CB11.B1.401</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Wed 10:00-12:00</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Farshid Keivanian</a:t>
                      </a:r>
                      <a:endParaRPr lang="en-US" sz="2800" b="0" i="0" dirty="0">
                        <a:solidFill>
                          <a:srgbClr val="252B2B"/>
                        </a:solidFill>
                        <a:effectLst/>
                        <a:latin typeface="Calibir"/>
                      </a:endParaRPr>
                    </a:p>
                  </a:txBody>
                  <a:tcPr marL="14630" marR="14630" marT="14630" marB="14630" anchor="ctr">
                    <a:solidFill>
                      <a:srgbClr val="FFC000"/>
                    </a:solidFill>
                  </a:tcPr>
                </a:tc>
                <a:extLst>
                  <a:ext uri="{0D108BD9-81ED-4DB2-BD59-A6C34878D82A}">
                    <a16:rowId xmlns:a16="http://schemas.microsoft.com/office/drawing/2014/main" val="226627887"/>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08</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CB11.B1.400</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Fri 12:00-14:00</a:t>
                      </a:r>
                      <a:endParaRPr lang="en-US" sz="2800" b="0" i="0" dirty="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Yong Pov</a:t>
                      </a:r>
                      <a:endParaRPr lang="en-US" sz="2800" b="0" i="0" dirty="0">
                        <a:solidFill>
                          <a:srgbClr val="252B2B"/>
                        </a:solidFill>
                        <a:effectLst/>
                        <a:latin typeface="Calibir"/>
                      </a:endParaRPr>
                    </a:p>
                  </a:txBody>
                  <a:tcPr marL="14630" marR="14630" marT="14630" marB="14630" anchor="ctr"/>
                </a:tc>
                <a:extLst>
                  <a:ext uri="{0D108BD9-81ED-4DB2-BD59-A6C34878D82A}">
                    <a16:rowId xmlns:a16="http://schemas.microsoft.com/office/drawing/2014/main" val="1335921487"/>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09</a:t>
                      </a:r>
                      <a:endParaRPr lang="en-US" sz="2800" b="0" i="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a:solidFill>
                            <a:srgbClr val="252B2B"/>
                          </a:solidFill>
                          <a:effectLst/>
                          <a:latin typeface="Calibir"/>
                        </a:rPr>
                        <a:t>CB11.B1.103</a:t>
                      </a:r>
                      <a:endParaRPr lang="en-US" sz="2800" b="0" i="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Wed 16:00-18:00</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Farshid Keivanian</a:t>
                      </a:r>
                      <a:endParaRPr lang="en-US" sz="2800" b="0" i="0" dirty="0">
                        <a:solidFill>
                          <a:srgbClr val="252B2B"/>
                        </a:solidFill>
                        <a:effectLst/>
                        <a:latin typeface="Calibir"/>
                      </a:endParaRPr>
                    </a:p>
                  </a:txBody>
                  <a:tcPr marL="14630" marR="14630" marT="14630" marB="14630" anchor="ctr">
                    <a:solidFill>
                      <a:srgbClr val="FFC000"/>
                    </a:solidFill>
                  </a:tcPr>
                </a:tc>
                <a:extLst>
                  <a:ext uri="{0D108BD9-81ED-4DB2-BD59-A6C34878D82A}">
                    <a16:rowId xmlns:a16="http://schemas.microsoft.com/office/drawing/2014/main" val="4247187035"/>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10</a:t>
                      </a:r>
                      <a:endParaRPr lang="en-US" sz="2800" b="0" i="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CB11.B1.401</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Wed 12:00-14:00</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Farshid Keivanian</a:t>
                      </a:r>
                      <a:endParaRPr lang="en-US" sz="2800" b="0" i="0" dirty="0">
                        <a:solidFill>
                          <a:srgbClr val="252B2B"/>
                        </a:solidFill>
                        <a:effectLst/>
                        <a:latin typeface="Calibir"/>
                      </a:endParaRPr>
                    </a:p>
                  </a:txBody>
                  <a:tcPr marL="14630" marR="14630" marT="14630" marB="14630" anchor="ctr">
                    <a:solidFill>
                      <a:srgbClr val="FFC000"/>
                    </a:solidFill>
                  </a:tcPr>
                </a:tc>
                <a:extLst>
                  <a:ext uri="{0D108BD9-81ED-4DB2-BD59-A6C34878D82A}">
                    <a16:rowId xmlns:a16="http://schemas.microsoft.com/office/drawing/2014/main" val="1381140912"/>
                  </a:ext>
                </a:extLst>
              </a:tr>
            </a:tbl>
          </a:graphicData>
        </a:graphic>
      </p:graphicFrame>
    </p:spTree>
    <p:extLst>
      <p:ext uri="{BB962C8B-B14F-4D97-AF65-F5344CB8AC3E}">
        <p14:creationId xmlns:p14="http://schemas.microsoft.com/office/powerpoint/2010/main" val="1584682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DA366-6BE2-EF72-FFA9-3FC1C60CA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B7095-A95E-A4AA-C9AB-75AB5D7B3193}"/>
              </a:ext>
            </a:extLst>
          </p:cNvPr>
          <p:cNvSpPr>
            <a:spLocks noGrp="1"/>
          </p:cNvSpPr>
          <p:nvPr>
            <p:ph type="title"/>
          </p:nvPr>
        </p:nvSpPr>
        <p:spPr>
          <a:xfrm>
            <a:off x="0" y="1"/>
            <a:ext cx="12192000" cy="672661"/>
          </a:xfrm>
        </p:spPr>
        <p:txBody>
          <a:bodyPr anchor="b">
            <a:normAutofit/>
          </a:bodyPr>
          <a:lstStyle/>
          <a:p>
            <a:r>
              <a:rPr lang="en-US" sz="4000" dirty="0">
                <a:latin typeface="Calibir"/>
              </a:rPr>
              <a:t>Week 6 Outline</a:t>
            </a:r>
            <a:endParaRPr lang="en-AU" sz="4000" b="1" dirty="0">
              <a:latin typeface="Calibir"/>
            </a:endParaRPr>
          </a:p>
        </p:txBody>
      </p:sp>
      <p:sp>
        <p:nvSpPr>
          <p:cNvPr id="5" name="TextBox 4">
            <a:extLst>
              <a:ext uri="{FF2B5EF4-FFF2-40B4-BE49-F238E27FC236}">
                <a16:creationId xmlns:a16="http://schemas.microsoft.com/office/drawing/2014/main" id="{71F7037C-CC18-B6E2-C69F-FD0450DC4355}"/>
              </a:ext>
            </a:extLst>
          </p:cNvPr>
          <p:cNvSpPr txBox="1"/>
          <p:nvPr/>
        </p:nvSpPr>
        <p:spPr>
          <a:xfrm>
            <a:off x="0" y="794802"/>
            <a:ext cx="12192000" cy="5991384"/>
          </a:xfrm>
          <a:prstGeom prst="rect">
            <a:avLst/>
          </a:prstGeom>
          <a:noFill/>
        </p:spPr>
        <p:txBody>
          <a:bodyPr wrap="square">
            <a:spAutoFit/>
          </a:bodyPr>
          <a:lstStyle/>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Assessment 1 Part 1 – Clarifications and Quality Check</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Have you formed your group?</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Lab 6 Exercises</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Example &amp; Activity — Campus Parking Permit System</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Group Assignment – Part 1: What to do / submit / avoid</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Group Assignment – Part 1: Student Operations After Registration – Clarified</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Group Assignment – Part 1: Password Rules – Clarified</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Mini Coding Nudges (Email/Password, Marks, Pass/Fail etc.)</a:t>
            </a:r>
          </a:p>
          <a:p>
            <a:pPr marL="971550" lvl="1" indent="-514350">
              <a:spcAft>
                <a:spcPts val="800"/>
              </a:spcAft>
              <a:buFont typeface="Arial" panose="020B0604020202020204" pitchFamily="34" charset="0"/>
              <a:buChar char="•"/>
            </a:pPr>
            <a:r>
              <a:rPr lang="en-US" sz="1500" kern="100" dirty="0">
                <a:latin typeface="Calibir"/>
                <a:ea typeface="Aptos" panose="020B0004020202020204" pitchFamily="34" charset="0"/>
                <a:cs typeface="Arial" panose="020B0604020202020204" pitchFamily="34" charset="0"/>
              </a:rPr>
              <a:t>Allow student. subdomain too </a:t>
            </a:r>
          </a:p>
          <a:p>
            <a:pPr marL="971550" lvl="1" indent="-514350">
              <a:spcAft>
                <a:spcPts val="800"/>
              </a:spcAft>
              <a:buFont typeface="Arial" panose="020B0604020202020204" pitchFamily="34" charset="0"/>
              <a:buChar char="•"/>
            </a:pPr>
            <a:r>
              <a:rPr lang="en-US" sz="1500" kern="100" dirty="0">
                <a:latin typeface="Calibir"/>
                <a:ea typeface="Aptos" panose="020B0004020202020204" pitchFamily="34" charset="0"/>
                <a:cs typeface="Arial" panose="020B0604020202020204" pitchFamily="34" charset="0"/>
              </a:rPr>
              <a:t>Allow optional - or _ before digits in password</a:t>
            </a:r>
          </a:p>
          <a:p>
            <a:pPr marL="971550" lvl="1" indent="-514350">
              <a:spcAft>
                <a:spcPts val="800"/>
              </a:spcAft>
              <a:buFont typeface="Arial" panose="020B0604020202020204" pitchFamily="34" charset="0"/>
              <a:buChar char="•"/>
            </a:pPr>
            <a:r>
              <a:rPr lang="en-US" sz="1500" kern="100" dirty="0">
                <a:latin typeface="Calibir"/>
                <a:ea typeface="Aptos" panose="020B0004020202020204" pitchFamily="34" charset="0"/>
                <a:cs typeface="Arial" panose="020B0604020202020204" pitchFamily="34" charset="0"/>
              </a:rPr>
              <a:t>Generate Random Marks and Assign Grades</a:t>
            </a:r>
          </a:p>
          <a:p>
            <a:pPr marL="971550" lvl="1" indent="-514350">
              <a:spcAft>
                <a:spcPts val="800"/>
              </a:spcAft>
              <a:buFont typeface="Arial" panose="020B0604020202020204" pitchFamily="34" charset="0"/>
              <a:buChar char="•"/>
            </a:pPr>
            <a:r>
              <a:rPr lang="en-US" sz="1500" kern="100" dirty="0">
                <a:latin typeface="Calibir"/>
                <a:ea typeface="Aptos" panose="020B0004020202020204" pitchFamily="34" charset="0"/>
                <a:cs typeface="Arial" panose="020B0604020202020204" pitchFamily="34" charset="0"/>
              </a:rPr>
              <a:t>Make randomness reproducible</a:t>
            </a:r>
          </a:p>
          <a:p>
            <a:pPr marL="971550" lvl="1" indent="-514350">
              <a:spcAft>
                <a:spcPts val="800"/>
              </a:spcAft>
              <a:buFont typeface="Arial" panose="020B0604020202020204" pitchFamily="34" charset="0"/>
              <a:buChar char="•"/>
            </a:pPr>
            <a:r>
              <a:rPr lang="en-US" sz="1500" kern="100" dirty="0">
                <a:latin typeface="Calibir"/>
                <a:ea typeface="Aptos" panose="020B0004020202020204" pitchFamily="34" charset="0"/>
                <a:cs typeface="Arial" panose="020B0604020202020204" pitchFamily="34" charset="0"/>
              </a:rPr>
              <a:t>Add student ID and PASS/FAIL</a:t>
            </a:r>
          </a:p>
          <a:p>
            <a:pPr marL="971550" lvl="1" indent="-514350">
              <a:spcAft>
                <a:spcPts val="800"/>
              </a:spcAft>
              <a:buFont typeface="Arial" panose="020B0604020202020204" pitchFamily="34" charset="0"/>
              <a:buChar char="•"/>
            </a:pPr>
            <a:r>
              <a:rPr lang="en-US" sz="1500" kern="100" dirty="0">
                <a:latin typeface="Calibir"/>
                <a:ea typeface="Aptos" panose="020B0004020202020204" pitchFamily="34" charset="0"/>
                <a:cs typeface="Arial" panose="020B0604020202020204" pitchFamily="34" charset="0"/>
              </a:rPr>
              <a:t>Grade Classification Based on University Rules</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Group Assignment – Part 2: Build hints (Python-first, JavaFX minority)</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Group Assignment – Part 3: Showcase tips</a:t>
            </a:r>
          </a:p>
          <a:p>
            <a:pPr marL="514350" indent="-514350">
              <a:spcAft>
                <a:spcPts val="800"/>
              </a:spcAft>
              <a:buFont typeface="+mj-lt"/>
              <a:buAutoNum type="arabicPeriod"/>
            </a:pPr>
            <a:r>
              <a:rPr lang="en-US" sz="1500" dirty="0">
                <a:latin typeface="Calibir"/>
              </a:rPr>
              <a:t>Example &amp; Activity — Event Ticketing Lite</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Reference Note for Students</a:t>
            </a:r>
          </a:p>
        </p:txBody>
      </p:sp>
    </p:spTree>
    <p:extLst>
      <p:ext uri="{BB962C8B-B14F-4D97-AF65-F5344CB8AC3E}">
        <p14:creationId xmlns:p14="http://schemas.microsoft.com/office/powerpoint/2010/main" val="3000910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C6ACD-49F2-24CE-AC1F-DDBC965D159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5A3044B-48C9-B6DF-0C57-B7874504D203}"/>
              </a:ext>
            </a:extLst>
          </p:cNvPr>
          <p:cNvPicPr>
            <a:picLocks noChangeAspect="1"/>
          </p:cNvPicPr>
          <p:nvPr/>
        </p:nvPicPr>
        <p:blipFill>
          <a:blip r:embed="rId2"/>
          <a:srcRect t="8122" b="5594"/>
          <a:stretch>
            <a:fillRect/>
          </a:stretch>
        </p:blipFill>
        <p:spPr>
          <a:xfrm>
            <a:off x="0" y="830317"/>
            <a:ext cx="12192000" cy="5917324"/>
          </a:xfrm>
          <a:prstGeom prst="rect">
            <a:avLst/>
          </a:prstGeom>
        </p:spPr>
      </p:pic>
      <p:sp>
        <p:nvSpPr>
          <p:cNvPr id="2" name="Title 1">
            <a:extLst>
              <a:ext uri="{FF2B5EF4-FFF2-40B4-BE49-F238E27FC236}">
                <a16:creationId xmlns:a16="http://schemas.microsoft.com/office/drawing/2014/main" id="{3E9D3CC2-FAB6-B3F9-8D54-BBEE84C9200A}"/>
              </a:ext>
            </a:extLst>
          </p:cNvPr>
          <p:cNvSpPr>
            <a:spLocks noGrp="1"/>
          </p:cNvSpPr>
          <p:nvPr>
            <p:ph type="title"/>
          </p:nvPr>
        </p:nvSpPr>
        <p:spPr>
          <a:xfrm>
            <a:off x="0" y="1"/>
            <a:ext cx="12192000" cy="756744"/>
          </a:xfrm>
        </p:spPr>
        <p:txBody>
          <a:bodyPr anchor="b">
            <a:normAutofit/>
          </a:bodyPr>
          <a:lstStyle/>
          <a:p>
            <a:r>
              <a:rPr lang="en-US" sz="4000" dirty="0">
                <a:latin typeface="Calibir"/>
              </a:rPr>
              <a:t>Have you formed your group?</a:t>
            </a:r>
            <a:endParaRPr lang="en-AU" sz="4000" b="1" dirty="0">
              <a:latin typeface="Calibir"/>
            </a:endParaRPr>
          </a:p>
        </p:txBody>
      </p:sp>
      <p:sp>
        <p:nvSpPr>
          <p:cNvPr id="7" name="Rectangle: Rounded Corners 6">
            <a:extLst>
              <a:ext uri="{FF2B5EF4-FFF2-40B4-BE49-F238E27FC236}">
                <a16:creationId xmlns:a16="http://schemas.microsoft.com/office/drawing/2014/main" id="{3BA04DA3-19B2-DF1C-9F2D-482521C70A0E}"/>
              </a:ext>
            </a:extLst>
          </p:cNvPr>
          <p:cNvSpPr/>
          <p:nvPr/>
        </p:nvSpPr>
        <p:spPr>
          <a:xfrm>
            <a:off x="772132" y="5404586"/>
            <a:ext cx="531151" cy="207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75697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4A34-D50B-087E-6CE7-9E96328A0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80D92-1C36-14F1-12AF-0629FC927545}"/>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6" name="TextBox 5">
            <a:extLst>
              <a:ext uri="{FF2B5EF4-FFF2-40B4-BE49-F238E27FC236}">
                <a16:creationId xmlns:a16="http://schemas.microsoft.com/office/drawing/2014/main" id="{B093FA69-7860-F88D-7261-9EFCD7048713}"/>
              </a:ext>
            </a:extLst>
          </p:cNvPr>
          <p:cNvSpPr txBox="1"/>
          <p:nvPr/>
        </p:nvSpPr>
        <p:spPr>
          <a:xfrm>
            <a:off x="0" y="988143"/>
            <a:ext cx="12192000" cy="4549835"/>
          </a:xfrm>
          <a:prstGeom prst="rect">
            <a:avLst/>
          </a:prstGeom>
          <a:noFill/>
        </p:spPr>
        <p:txBody>
          <a:bodyPr wrap="square">
            <a:spAutoFit/>
          </a:bodyPr>
          <a:lstStyle/>
          <a:p>
            <a:pPr>
              <a:lnSpc>
                <a:spcPct val="150000"/>
              </a:lnSpc>
            </a:pPr>
            <a:r>
              <a:rPr lang="en-US" sz="2800" dirty="0">
                <a:latin typeface="Calibir"/>
              </a:rPr>
              <a:t>1. Backlog User vs UML Actor</a:t>
            </a:r>
          </a:p>
          <a:p>
            <a:pPr>
              <a:lnSpc>
                <a:spcPct val="150000"/>
              </a:lnSpc>
            </a:pPr>
            <a:r>
              <a:rPr lang="en-US" sz="2800" b="1" dirty="0">
                <a:latin typeface="Calibir"/>
              </a:rPr>
              <a:t>Question</a:t>
            </a:r>
          </a:p>
          <a:p>
            <a:pPr>
              <a:lnSpc>
                <a:spcPct val="150000"/>
              </a:lnSpc>
            </a:pPr>
            <a:r>
              <a:rPr lang="en-US" sz="2800" dirty="0">
                <a:latin typeface="Calibir"/>
              </a:rPr>
              <a:t>Can System appear in the User column of the backlog?</a:t>
            </a:r>
          </a:p>
          <a:p>
            <a:pPr>
              <a:lnSpc>
                <a:spcPct val="150000"/>
              </a:lnSpc>
            </a:pPr>
            <a:r>
              <a:rPr lang="en-US" sz="2800" dirty="0">
                <a:latin typeface="Calibir"/>
              </a:rPr>
              <a:t>Yes, where appropriate.</a:t>
            </a:r>
          </a:p>
          <a:p>
            <a:pPr>
              <a:lnSpc>
                <a:spcPct val="150000"/>
              </a:lnSpc>
            </a:pPr>
            <a:r>
              <a:rPr lang="en-US" sz="2800" dirty="0">
                <a:latin typeface="Calibir"/>
              </a:rPr>
              <a:t>The backlog defines the User as the person or entity taking the action.</a:t>
            </a:r>
          </a:p>
          <a:p>
            <a:pPr>
              <a:lnSpc>
                <a:spcPct val="150000"/>
              </a:lnSpc>
            </a:pPr>
            <a:r>
              <a:rPr lang="en-US" sz="2800" dirty="0">
                <a:latin typeface="Calibir"/>
              </a:rPr>
              <a:t>For example, if the application automatically performs a validation or generates something, the entity performing that action may be the System.</a:t>
            </a:r>
          </a:p>
        </p:txBody>
      </p:sp>
    </p:spTree>
    <p:extLst>
      <p:ext uri="{BB962C8B-B14F-4D97-AF65-F5344CB8AC3E}">
        <p14:creationId xmlns:p14="http://schemas.microsoft.com/office/powerpoint/2010/main" val="2573199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animEffect transition="in" filter="fade">
                                      <p:cBhvr>
                                        <p:cTn id="7" dur="1000"/>
                                        <p:tgtEl>
                                          <p:spTgt spid="6">
                                            <p:txEl>
                                              <p:pRg st="3" end="3"/>
                                            </p:txEl>
                                          </p:spTgt>
                                        </p:tgtEl>
                                      </p:cBhvr>
                                    </p:animEffect>
                                    <p:anim calcmode="lin" valueType="num">
                                      <p:cBhvr>
                                        <p:cTn id="8"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3" end="3"/>
                                            </p:txEl>
                                          </p:spTgt>
                                        </p:tgtEl>
                                        <p:attrNameLst>
                                          <p:attrName>ppt_y</p:attrName>
                                        </p:attrNameLst>
                                      </p:cBhvr>
                                      <p:tavLst>
                                        <p:tav tm="0">
                                          <p:val>
                                            <p:strVal val="#ppt_y+.1"/>
                                          </p:val>
                                        </p:tav>
                                        <p:tav tm="100000">
                                          <p:val>
                                            <p:strVal val="#ppt_y"/>
                                          </p:val>
                                        </p:tav>
                                      </p:tavLst>
                                    </p:anim>
                                  </p:childTnLst>
                                </p:cTn>
                              </p:par>
                              <p:par>
                                <p:cTn id="10" presetID="16" presetClass="entr" presetSubtype="21" fill="hold" nodeType="withEffect">
                                  <p:stCondLst>
                                    <p:cond delay="0"/>
                                  </p:stCondLst>
                                  <p:childTnLst>
                                    <p:set>
                                      <p:cBhvr>
                                        <p:cTn id="11" dur="1" fill="hold">
                                          <p:stCondLst>
                                            <p:cond delay="0"/>
                                          </p:stCondLst>
                                        </p:cTn>
                                        <p:tgtEl>
                                          <p:spTgt spid="6">
                                            <p:txEl>
                                              <p:pRg st="4" end="4"/>
                                            </p:txEl>
                                          </p:spTgt>
                                        </p:tgtEl>
                                        <p:attrNameLst>
                                          <p:attrName>style.visibility</p:attrName>
                                        </p:attrNameLst>
                                      </p:cBhvr>
                                      <p:to>
                                        <p:strVal val="visible"/>
                                      </p:to>
                                    </p:set>
                                    <p:animEffect transition="in" filter="barn(inVertical)">
                                      <p:cBhvr>
                                        <p:cTn id="12" dur="500"/>
                                        <p:tgtEl>
                                          <p:spTgt spid="6">
                                            <p:txEl>
                                              <p:pRg st="4" end="4"/>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animEffect transition="in" filter="barn(inVertical)">
                                      <p:cBhvr>
                                        <p:cTn id="15"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0BED9-1D81-744D-02D6-475E1D404E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4D2613-3625-9386-9E14-6AB7FF28B6BD}"/>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6" name="TextBox 5">
            <a:extLst>
              <a:ext uri="{FF2B5EF4-FFF2-40B4-BE49-F238E27FC236}">
                <a16:creationId xmlns:a16="http://schemas.microsoft.com/office/drawing/2014/main" id="{6B5BFE36-0A4C-E94A-9891-04BF9F13B892}"/>
              </a:ext>
            </a:extLst>
          </p:cNvPr>
          <p:cNvSpPr txBox="1"/>
          <p:nvPr/>
        </p:nvSpPr>
        <p:spPr>
          <a:xfrm>
            <a:off x="0" y="988143"/>
            <a:ext cx="12192000" cy="5842497"/>
          </a:xfrm>
          <a:prstGeom prst="rect">
            <a:avLst/>
          </a:prstGeom>
          <a:noFill/>
        </p:spPr>
        <p:txBody>
          <a:bodyPr wrap="square">
            <a:spAutoFit/>
          </a:bodyPr>
          <a:lstStyle/>
          <a:p>
            <a:pPr>
              <a:lnSpc>
                <a:spcPct val="150000"/>
              </a:lnSpc>
            </a:pPr>
            <a:r>
              <a:rPr lang="en-US" sz="2800" b="1" dirty="0">
                <a:latin typeface="Calibir"/>
              </a:rPr>
              <a:t>Question</a:t>
            </a:r>
          </a:p>
          <a:p>
            <a:pPr>
              <a:lnSpc>
                <a:spcPct val="150000"/>
              </a:lnSpc>
            </a:pPr>
            <a:r>
              <a:rPr lang="en-US" sz="2800" dirty="0">
                <a:latin typeface="Calibir"/>
              </a:rPr>
              <a:t>Does that mean System should also be an actor in the Use Case Diagram?</a:t>
            </a:r>
          </a:p>
          <a:p>
            <a:pPr>
              <a:lnSpc>
                <a:spcPct val="150000"/>
              </a:lnSpc>
            </a:pPr>
            <a:r>
              <a:rPr lang="en-US" sz="2800" dirty="0">
                <a:latin typeface="Calibir"/>
              </a:rPr>
              <a:t>No.</a:t>
            </a:r>
          </a:p>
          <a:p>
            <a:pPr>
              <a:lnSpc>
                <a:spcPct val="150000"/>
              </a:lnSpc>
            </a:pPr>
            <a:r>
              <a:rPr lang="en-US" sz="2800" dirty="0">
                <a:latin typeface="Calibir"/>
              </a:rPr>
              <a:t>For this project, the external UML actors are:</a:t>
            </a:r>
          </a:p>
          <a:p>
            <a:pPr>
              <a:lnSpc>
                <a:spcPct val="150000"/>
              </a:lnSpc>
            </a:pPr>
            <a:r>
              <a:rPr lang="en-US" sz="2800" dirty="0">
                <a:latin typeface="Calibir"/>
              </a:rPr>
              <a:t>Student</a:t>
            </a:r>
            <a:br>
              <a:rPr lang="en-US" sz="2800" dirty="0">
                <a:latin typeface="Calibir"/>
              </a:rPr>
            </a:br>
            <a:r>
              <a:rPr lang="en-US" sz="2800" dirty="0">
                <a:latin typeface="Calibir"/>
              </a:rPr>
              <a:t>Admin</a:t>
            </a:r>
          </a:p>
          <a:p>
            <a:pPr>
              <a:lnSpc>
                <a:spcPct val="150000"/>
              </a:lnSpc>
            </a:pPr>
            <a:r>
              <a:rPr lang="en-US" sz="2800" dirty="0">
                <a:latin typeface="Calibir"/>
              </a:rPr>
              <a:t>The application itself is shown using the system boundary.</a:t>
            </a:r>
          </a:p>
          <a:p>
            <a:pPr>
              <a:lnSpc>
                <a:spcPct val="150000"/>
              </a:lnSpc>
            </a:pPr>
            <a:r>
              <a:rPr lang="en-US" sz="2800" dirty="0">
                <a:latin typeface="Calibir"/>
              </a:rPr>
              <a:t>Remember Backlog “User” ≠ always UML “Actor”.</a:t>
            </a:r>
          </a:p>
          <a:p>
            <a:pPr>
              <a:lnSpc>
                <a:spcPct val="150000"/>
              </a:lnSpc>
            </a:pPr>
            <a:r>
              <a:rPr lang="en-US" sz="2800" dirty="0">
                <a:latin typeface="Calibir"/>
              </a:rPr>
              <a:t>This is an important difference between the two modelling activities.</a:t>
            </a:r>
          </a:p>
        </p:txBody>
      </p:sp>
    </p:spTree>
    <p:extLst>
      <p:ext uri="{BB962C8B-B14F-4D97-AF65-F5344CB8AC3E}">
        <p14:creationId xmlns:p14="http://schemas.microsoft.com/office/powerpoint/2010/main" val="1026637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1000"/>
                                        <p:tgtEl>
                                          <p:spTgt spid="6">
                                            <p:txEl>
                                              <p:pRg st="2" end="2"/>
                                            </p:txEl>
                                          </p:spTgt>
                                        </p:tgtEl>
                                      </p:cBhvr>
                                    </p:animEffect>
                                    <p:anim calcmode="lin" valueType="num">
                                      <p:cBhvr>
                                        <p:cTn id="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1000"/>
                                        <p:tgtEl>
                                          <p:spTgt spid="6">
                                            <p:txEl>
                                              <p:pRg st="3" end="3"/>
                                            </p:txEl>
                                          </p:spTgt>
                                        </p:tgtEl>
                                      </p:cBhvr>
                                    </p:animEffect>
                                    <p:anim calcmode="lin" valueType="num">
                                      <p:cBhvr>
                                        <p:cTn id="1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1000"/>
                                        <p:tgtEl>
                                          <p:spTgt spid="6">
                                            <p:txEl>
                                              <p:pRg st="4" end="4"/>
                                            </p:txEl>
                                          </p:spTgt>
                                        </p:tgtEl>
                                      </p:cBhvr>
                                    </p:animEffect>
                                    <p:anim calcmode="lin" valueType="num">
                                      <p:cBhvr>
                                        <p:cTn id="18"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fade">
                                      <p:cBhvr>
                                        <p:cTn id="22" dur="1000"/>
                                        <p:tgtEl>
                                          <p:spTgt spid="6">
                                            <p:txEl>
                                              <p:pRg st="5" end="5"/>
                                            </p:txEl>
                                          </p:spTgt>
                                        </p:tgtEl>
                                      </p:cBhvr>
                                    </p:animEffect>
                                    <p:anim calcmode="lin" valueType="num">
                                      <p:cBhvr>
                                        <p:cTn id="23"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fade">
                                      <p:cBhvr>
                                        <p:cTn id="27" dur="1000"/>
                                        <p:tgtEl>
                                          <p:spTgt spid="6">
                                            <p:txEl>
                                              <p:pRg st="6" end="6"/>
                                            </p:txEl>
                                          </p:spTgt>
                                        </p:tgtEl>
                                      </p:cBhvr>
                                    </p:animEffect>
                                    <p:anim calcmode="lin" valueType="num">
                                      <p:cBhvr>
                                        <p:cTn id="28"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6">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6">
                                            <p:txEl>
                                              <p:pRg st="7" end="7"/>
                                            </p:txEl>
                                          </p:spTgt>
                                        </p:tgtEl>
                                        <p:attrNameLst>
                                          <p:attrName>style.visibility</p:attrName>
                                        </p:attrNameLst>
                                      </p:cBhvr>
                                      <p:to>
                                        <p:strVal val="visible"/>
                                      </p:to>
                                    </p:set>
                                    <p:animEffect transition="in" filter="fade">
                                      <p:cBhvr>
                                        <p:cTn id="32" dur="1000"/>
                                        <p:tgtEl>
                                          <p:spTgt spid="6">
                                            <p:txEl>
                                              <p:pRg st="7" end="7"/>
                                            </p:txEl>
                                          </p:spTgt>
                                        </p:tgtEl>
                                      </p:cBhvr>
                                    </p:animEffect>
                                    <p:anim calcmode="lin" valueType="num">
                                      <p:cBhvr>
                                        <p:cTn id="33"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6B17C-CDC4-A7CA-6462-F41E15B9E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256A4-64AB-4969-B9CD-BB29BCA52695}"/>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6" name="TextBox 5">
            <a:extLst>
              <a:ext uri="{FF2B5EF4-FFF2-40B4-BE49-F238E27FC236}">
                <a16:creationId xmlns:a16="http://schemas.microsoft.com/office/drawing/2014/main" id="{0ECFF6BE-A587-B55B-B92F-2EA21605F217}"/>
              </a:ext>
            </a:extLst>
          </p:cNvPr>
          <p:cNvSpPr txBox="1"/>
          <p:nvPr/>
        </p:nvSpPr>
        <p:spPr>
          <a:xfrm>
            <a:off x="0" y="988143"/>
            <a:ext cx="12192000" cy="4549835"/>
          </a:xfrm>
          <a:prstGeom prst="rect">
            <a:avLst/>
          </a:prstGeom>
          <a:noFill/>
        </p:spPr>
        <p:txBody>
          <a:bodyPr wrap="square">
            <a:spAutoFit/>
          </a:bodyPr>
          <a:lstStyle/>
          <a:p>
            <a:pPr>
              <a:lnSpc>
                <a:spcPct val="150000"/>
              </a:lnSpc>
            </a:pPr>
            <a:r>
              <a:rPr lang="en-US" sz="2800" b="1" dirty="0">
                <a:latin typeface="Calibir"/>
              </a:rPr>
              <a:t>2. Start Every Decision from the Requirement</a:t>
            </a:r>
          </a:p>
          <a:p>
            <a:pPr>
              <a:lnSpc>
                <a:spcPct val="150000"/>
              </a:lnSpc>
            </a:pPr>
            <a:r>
              <a:rPr lang="en-US" sz="2800" dirty="0">
                <a:latin typeface="Calibir"/>
              </a:rPr>
              <a:t>Before adding something to your backlog or UML diagram, ask:</a:t>
            </a:r>
          </a:p>
          <a:p>
            <a:pPr>
              <a:lnSpc>
                <a:spcPct val="150000"/>
              </a:lnSpc>
            </a:pPr>
            <a:r>
              <a:rPr lang="en-US" sz="2800" b="1" dirty="0">
                <a:latin typeface="Calibir"/>
              </a:rPr>
              <a:t>Where does this come from in the project brief?</a:t>
            </a:r>
            <a:endParaRPr lang="en-US" sz="2800" dirty="0">
              <a:latin typeface="Calibir"/>
            </a:endParaRPr>
          </a:p>
          <a:p>
            <a:pPr>
              <a:lnSpc>
                <a:spcPct val="150000"/>
              </a:lnSpc>
            </a:pPr>
            <a:r>
              <a:rPr lang="en-US" sz="2800" dirty="0">
                <a:latin typeface="Calibir"/>
              </a:rPr>
              <a:t>If you cannot connect it to a requirement, ask whether it is really necessary.</a:t>
            </a:r>
          </a:p>
          <a:p>
            <a:pPr>
              <a:lnSpc>
                <a:spcPct val="150000"/>
              </a:lnSpc>
            </a:pPr>
            <a:r>
              <a:rPr lang="en-US" sz="2800" b="1" dirty="0">
                <a:latin typeface="Calibir"/>
              </a:rPr>
              <a:t>Example</a:t>
            </a:r>
          </a:p>
          <a:p>
            <a:pPr>
              <a:lnSpc>
                <a:spcPct val="150000"/>
              </a:lnSpc>
            </a:pPr>
            <a:r>
              <a:rPr lang="en-US" sz="2800" dirty="0">
                <a:latin typeface="Calibir"/>
              </a:rPr>
              <a:t>Requirement:</a:t>
            </a:r>
          </a:p>
          <a:p>
            <a:pPr>
              <a:lnSpc>
                <a:spcPct val="150000"/>
              </a:lnSpc>
            </a:pPr>
            <a:r>
              <a:rPr lang="en-US" sz="2800" dirty="0">
                <a:latin typeface="Calibir"/>
              </a:rPr>
              <a:t>A student can </a:t>
            </a:r>
            <a:r>
              <a:rPr lang="en-US" sz="2800" dirty="0" err="1">
                <a:latin typeface="Calibir"/>
              </a:rPr>
              <a:t>enrol</a:t>
            </a:r>
            <a:r>
              <a:rPr lang="en-US" sz="2800" dirty="0">
                <a:latin typeface="Calibir"/>
              </a:rPr>
              <a:t> in a maximum of four subjects.</a:t>
            </a:r>
          </a:p>
        </p:txBody>
      </p:sp>
    </p:spTree>
    <p:extLst>
      <p:ext uri="{BB962C8B-B14F-4D97-AF65-F5344CB8AC3E}">
        <p14:creationId xmlns:p14="http://schemas.microsoft.com/office/powerpoint/2010/main" val="1571699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B6930-A3E8-2930-E455-13E6EE4A6C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C68FDD-0D47-5D84-D6F4-AE6203B3AE35}"/>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6" name="TextBox 5">
            <a:extLst>
              <a:ext uri="{FF2B5EF4-FFF2-40B4-BE49-F238E27FC236}">
                <a16:creationId xmlns:a16="http://schemas.microsoft.com/office/drawing/2014/main" id="{95C7B052-0C8B-E7C7-850A-C4DC20412E50}"/>
              </a:ext>
            </a:extLst>
          </p:cNvPr>
          <p:cNvSpPr txBox="1"/>
          <p:nvPr/>
        </p:nvSpPr>
        <p:spPr>
          <a:xfrm>
            <a:off x="0" y="988143"/>
            <a:ext cx="12192000" cy="5196166"/>
          </a:xfrm>
          <a:prstGeom prst="rect">
            <a:avLst/>
          </a:prstGeom>
          <a:noFill/>
        </p:spPr>
        <p:txBody>
          <a:bodyPr wrap="square">
            <a:spAutoFit/>
          </a:bodyPr>
          <a:lstStyle/>
          <a:p>
            <a:pPr>
              <a:lnSpc>
                <a:spcPct val="150000"/>
              </a:lnSpc>
            </a:pPr>
            <a:r>
              <a:rPr lang="en-US" sz="2800" dirty="0">
                <a:latin typeface="Calibir"/>
              </a:rPr>
              <a:t>From this we can identify:</a:t>
            </a:r>
          </a:p>
          <a:p>
            <a:pPr>
              <a:lnSpc>
                <a:spcPct val="150000"/>
              </a:lnSpc>
            </a:pPr>
            <a:r>
              <a:rPr lang="en-US" sz="2800" b="1" dirty="0">
                <a:latin typeface="Calibir"/>
              </a:rPr>
              <a:t>User goal:</a:t>
            </a:r>
            <a:r>
              <a:rPr lang="en-US" sz="2800" dirty="0">
                <a:latin typeface="Calibir"/>
              </a:rPr>
              <a:t> </a:t>
            </a:r>
            <a:r>
              <a:rPr lang="en-US" sz="2800" dirty="0" err="1">
                <a:latin typeface="Calibir"/>
              </a:rPr>
              <a:t>Enrol</a:t>
            </a:r>
            <a:r>
              <a:rPr lang="en-US" sz="2800" dirty="0">
                <a:latin typeface="Calibir"/>
              </a:rPr>
              <a:t> in a subject</a:t>
            </a:r>
            <a:br>
              <a:rPr lang="en-US" sz="2800" dirty="0">
                <a:latin typeface="Calibir"/>
              </a:rPr>
            </a:br>
            <a:r>
              <a:rPr lang="en-US" sz="2800" b="1" dirty="0">
                <a:latin typeface="Calibir"/>
              </a:rPr>
              <a:t>Rule:</a:t>
            </a:r>
            <a:r>
              <a:rPr lang="en-US" sz="2800" dirty="0">
                <a:latin typeface="Calibir"/>
              </a:rPr>
              <a:t> Maximum four subjects</a:t>
            </a:r>
            <a:br>
              <a:rPr lang="en-US" sz="2800" dirty="0">
                <a:latin typeface="Calibir"/>
              </a:rPr>
            </a:br>
            <a:r>
              <a:rPr lang="en-US" sz="2800" b="1" dirty="0">
                <a:latin typeface="Calibir"/>
              </a:rPr>
              <a:t>System </a:t>
            </a:r>
            <a:r>
              <a:rPr lang="en-US" sz="2800" b="1" dirty="0" err="1">
                <a:latin typeface="Calibir"/>
              </a:rPr>
              <a:t>behaviour</a:t>
            </a:r>
            <a:r>
              <a:rPr lang="en-US" sz="2800" b="1" dirty="0">
                <a:latin typeface="Calibir"/>
              </a:rPr>
              <a:t>:</a:t>
            </a:r>
            <a:r>
              <a:rPr lang="en-US" sz="2800" dirty="0">
                <a:latin typeface="Calibir"/>
              </a:rPr>
              <a:t> Check whether another subject can be added</a:t>
            </a:r>
            <a:br>
              <a:rPr lang="en-US" sz="2800" dirty="0">
                <a:latin typeface="Calibir"/>
              </a:rPr>
            </a:br>
            <a:r>
              <a:rPr lang="en-US" sz="2800" b="1" dirty="0">
                <a:latin typeface="Calibir"/>
              </a:rPr>
              <a:t>Possible error:</a:t>
            </a:r>
            <a:r>
              <a:rPr lang="en-US" sz="2800" dirty="0">
                <a:latin typeface="Calibir"/>
              </a:rPr>
              <a:t> Inform the student if the limit has been reached</a:t>
            </a:r>
          </a:p>
          <a:p>
            <a:pPr>
              <a:lnSpc>
                <a:spcPct val="150000"/>
              </a:lnSpc>
            </a:pPr>
            <a:r>
              <a:rPr lang="en-US" sz="2800" b="1" dirty="0">
                <a:latin typeface="Calibir"/>
              </a:rPr>
              <a:t>Why?</a:t>
            </a:r>
          </a:p>
          <a:p>
            <a:pPr>
              <a:lnSpc>
                <a:spcPct val="150000"/>
              </a:lnSpc>
            </a:pPr>
            <a:r>
              <a:rPr lang="en-US" sz="2800" dirty="0">
                <a:latin typeface="Calibir"/>
              </a:rPr>
              <a:t>We are converting requirements into design rather than inventing new requirements.</a:t>
            </a:r>
          </a:p>
        </p:txBody>
      </p:sp>
    </p:spTree>
    <p:extLst>
      <p:ext uri="{BB962C8B-B14F-4D97-AF65-F5344CB8AC3E}">
        <p14:creationId xmlns:p14="http://schemas.microsoft.com/office/powerpoint/2010/main" val="3156394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C4C3B-EB95-8453-0BF1-17868A123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B8E7D-5C5B-7414-6896-BDA67D1DA5FB}"/>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6" name="TextBox 5">
            <a:extLst>
              <a:ext uri="{FF2B5EF4-FFF2-40B4-BE49-F238E27FC236}">
                <a16:creationId xmlns:a16="http://schemas.microsoft.com/office/drawing/2014/main" id="{D5278DE1-35AB-9014-AC83-C1A90D395C2E}"/>
              </a:ext>
            </a:extLst>
          </p:cNvPr>
          <p:cNvSpPr txBox="1"/>
          <p:nvPr/>
        </p:nvSpPr>
        <p:spPr>
          <a:xfrm>
            <a:off x="0" y="988143"/>
            <a:ext cx="12192000" cy="4549835"/>
          </a:xfrm>
          <a:prstGeom prst="rect">
            <a:avLst/>
          </a:prstGeom>
          <a:noFill/>
        </p:spPr>
        <p:txBody>
          <a:bodyPr wrap="square">
            <a:spAutoFit/>
          </a:bodyPr>
          <a:lstStyle/>
          <a:p>
            <a:pPr>
              <a:lnSpc>
                <a:spcPct val="150000"/>
              </a:lnSpc>
            </a:pPr>
            <a:r>
              <a:rPr lang="en-US" sz="2800" b="1" dirty="0">
                <a:latin typeface="Calibir"/>
              </a:rPr>
              <a:t>3. Do Not Turn Every Internal Step into a Use Case</a:t>
            </a:r>
          </a:p>
          <a:p>
            <a:pPr>
              <a:lnSpc>
                <a:spcPct val="150000"/>
              </a:lnSpc>
            </a:pPr>
            <a:r>
              <a:rPr lang="en-US" sz="2800" b="1" dirty="0">
                <a:latin typeface="Calibir"/>
              </a:rPr>
              <a:t>Question</a:t>
            </a:r>
          </a:p>
          <a:p>
            <a:pPr>
              <a:lnSpc>
                <a:spcPct val="150000"/>
              </a:lnSpc>
            </a:pPr>
            <a:r>
              <a:rPr lang="en-US" sz="2800" dirty="0">
                <a:latin typeface="Calibir"/>
              </a:rPr>
              <a:t>Should every validation, calculation, file read and variable update become its own use case?</a:t>
            </a:r>
          </a:p>
          <a:p>
            <a:pPr>
              <a:lnSpc>
                <a:spcPct val="150000"/>
              </a:lnSpc>
            </a:pPr>
            <a:r>
              <a:rPr lang="en-US" sz="2800" dirty="0">
                <a:latin typeface="Calibir"/>
              </a:rPr>
              <a:t>No.</a:t>
            </a:r>
          </a:p>
          <a:p>
            <a:pPr>
              <a:lnSpc>
                <a:spcPct val="150000"/>
              </a:lnSpc>
            </a:pPr>
            <a:r>
              <a:rPr lang="en-US" sz="2800" dirty="0">
                <a:latin typeface="Calibir"/>
              </a:rPr>
              <a:t>Use cases should mainly describe meaningful </a:t>
            </a:r>
            <a:r>
              <a:rPr lang="en-US" sz="2800" dirty="0" err="1">
                <a:latin typeface="Calibir"/>
              </a:rPr>
              <a:t>behaviour</a:t>
            </a:r>
            <a:r>
              <a:rPr lang="en-US" sz="2800" dirty="0">
                <a:latin typeface="Calibir"/>
              </a:rPr>
              <a:t> from the user's point of view.</a:t>
            </a:r>
          </a:p>
        </p:txBody>
      </p:sp>
    </p:spTree>
    <p:extLst>
      <p:ext uri="{BB962C8B-B14F-4D97-AF65-F5344CB8AC3E}">
        <p14:creationId xmlns:p14="http://schemas.microsoft.com/office/powerpoint/2010/main" val="584315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animEffect transition="in" filter="fade">
                                      <p:cBhvr>
                                        <p:cTn id="7" dur="1000"/>
                                        <p:tgtEl>
                                          <p:spTgt spid="6">
                                            <p:txEl>
                                              <p:pRg st="3" end="3"/>
                                            </p:txEl>
                                          </p:spTgt>
                                        </p:tgtEl>
                                      </p:cBhvr>
                                    </p:animEffect>
                                    <p:anim calcmode="lin" valueType="num">
                                      <p:cBhvr>
                                        <p:cTn id="8"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4" end="4"/>
                                            </p:txEl>
                                          </p:spTgt>
                                        </p:tgtEl>
                                        <p:attrNameLst>
                                          <p:attrName>style.visibility</p:attrName>
                                        </p:attrNameLst>
                                      </p:cBhvr>
                                      <p:to>
                                        <p:strVal val="visible"/>
                                      </p:to>
                                    </p:set>
                                    <p:animEffect transition="in" filter="fade">
                                      <p:cBhvr>
                                        <p:cTn id="12" dur="1000"/>
                                        <p:tgtEl>
                                          <p:spTgt spid="6">
                                            <p:txEl>
                                              <p:pRg st="4" end="4"/>
                                            </p:txEl>
                                          </p:spTgt>
                                        </p:tgtEl>
                                      </p:cBhvr>
                                    </p:animEffect>
                                    <p:anim calcmode="lin" valueType="num">
                                      <p:cBhvr>
                                        <p:cTn id="13"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C7C7E-E4C6-2BC0-EE9F-BAFD17E514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1572AA-6B6E-E8DA-9A7B-DC64F46BA138}"/>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6" name="TextBox 5">
            <a:extLst>
              <a:ext uri="{FF2B5EF4-FFF2-40B4-BE49-F238E27FC236}">
                <a16:creationId xmlns:a16="http://schemas.microsoft.com/office/drawing/2014/main" id="{F3F28E96-261E-BA45-D370-7DC53C9C4D96}"/>
              </a:ext>
            </a:extLst>
          </p:cNvPr>
          <p:cNvSpPr txBox="1"/>
          <p:nvPr/>
        </p:nvSpPr>
        <p:spPr>
          <a:xfrm>
            <a:off x="0" y="988143"/>
            <a:ext cx="12192000" cy="5196166"/>
          </a:xfrm>
          <a:prstGeom prst="rect">
            <a:avLst/>
          </a:prstGeom>
          <a:noFill/>
        </p:spPr>
        <p:txBody>
          <a:bodyPr wrap="square">
            <a:spAutoFit/>
          </a:bodyPr>
          <a:lstStyle/>
          <a:p>
            <a:pPr>
              <a:lnSpc>
                <a:spcPct val="150000"/>
              </a:lnSpc>
            </a:pPr>
            <a:r>
              <a:rPr lang="en-US" sz="2800" dirty="0">
                <a:latin typeface="Calibir"/>
              </a:rPr>
              <a:t>Some supporting </a:t>
            </a:r>
            <a:r>
              <a:rPr lang="en-US" sz="2800" dirty="0" err="1">
                <a:latin typeface="Calibir"/>
              </a:rPr>
              <a:t>behaviour</a:t>
            </a:r>
            <a:r>
              <a:rPr lang="en-US" sz="2800" dirty="0">
                <a:latin typeface="Calibir"/>
              </a:rPr>
              <a:t> may be represented using &lt;&lt;include&gt;&gt; when this makes the diagram clearer, but avoid making the diagram look like program code.</a:t>
            </a:r>
          </a:p>
          <a:p>
            <a:pPr>
              <a:lnSpc>
                <a:spcPct val="150000"/>
              </a:lnSpc>
            </a:pPr>
            <a:r>
              <a:rPr lang="en-US" sz="2800" b="1" dirty="0">
                <a:latin typeface="Calibir"/>
              </a:rPr>
              <a:t>Example</a:t>
            </a:r>
          </a:p>
          <a:p>
            <a:pPr>
              <a:lnSpc>
                <a:spcPct val="150000"/>
              </a:lnSpc>
            </a:pPr>
            <a:r>
              <a:rPr lang="en-US" sz="2800" dirty="0" err="1">
                <a:latin typeface="Calibir"/>
              </a:rPr>
              <a:t>Enrol</a:t>
            </a:r>
            <a:r>
              <a:rPr lang="en-US" sz="2800" dirty="0">
                <a:latin typeface="Calibir"/>
              </a:rPr>
              <a:t> in Subject</a:t>
            </a:r>
          </a:p>
          <a:p>
            <a:pPr>
              <a:lnSpc>
                <a:spcPct val="150000"/>
              </a:lnSpc>
            </a:pPr>
            <a:r>
              <a:rPr lang="en-US" sz="2800" dirty="0">
                <a:latin typeface="Calibir"/>
              </a:rPr>
              <a:t>is a meaningful Student goal.</a:t>
            </a:r>
          </a:p>
          <a:p>
            <a:pPr>
              <a:lnSpc>
                <a:spcPct val="150000"/>
              </a:lnSpc>
            </a:pPr>
            <a:r>
              <a:rPr lang="en-US" sz="2800" dirty="0">
                <a:latin typeface="Calibir"/>
              </a:rPr>
              <a:t>Checking the number of subjects is a rule required to complete that goal.</a:t>
            </a:r>
          </a:p>
          <a:p>
            <a:pPr>
              <a:lnSpc>
                <a:spcPct val="150000"/>
              </a:lnSpc>
            </a:pPr>
            <a:r>
              <a:rPr lang="en-US" sz="2800" dirty="0">
                <a:latin typeface="Calibir"/>
              </a:rPr>
              <a:t>You may model an important reusable check separately, but you do not need an oval for every internal programming statement.</a:t>
            </a:r>
          </a:p>
        </p:txBody>
      </p:sp>
    </p:spTree>
    <p:extLst>
      <p:ext uri="{BB962C8B-B14F-4D97-AF65-F5344CB8AC3E}">
        <p14:creationId xmlns:p14="http://schemas.microsoft.com/office/powerpoint/2010/main" val="1732744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55C88-4FCE-60B0-ECBD-A04C97C0F7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63CAAD-002D-BD8A-370B-A9C51ACB0CE6}"/>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6" name="TextBox 5">
            <a:extLst>
              <a:ext uri="{FF2B5EF4-FFF2-40B4-BE49-F238E27FC236}">
                <a16:creationId xmlns:a16="http://schemas.microsoft.com/office/drawing/2014/main" id="{6A00F180-444F-5E6F-D624-D804EB0C894C}"/>
              </a:ext>
            </a:extLst>
          </p:cNvPr>
          <p:cNvSpPr txBox="1"/>
          <p:nvPr/>
        </p:nvSpPr>
        <p:spPr>
          <a:xfrm>
            <a:off x="0" y="988143"/>
            <a:ext cx="12192000" cy="1964512"/>
          </a:xfrm>
          <a:prstGeom prst="rect">
            <a:avLst/>
          </a:prstGeom>
          <a:noFill/>
        </p:spPr>
        <p:txBody>
          <a:bodyPr wrap="square">
            <a:spAutoFit/>
          </a:bodyPr>
          <a:lstStyle/>
          <a:p>
            <a:pPr>
              <a:lnSpc>
                <a:spcPct val="150000"/>
              </a:lnSpc>
            </a:pPr>
            <a:r>
              <a:rPr lang="en-US" sz="2800" b="1" dirty="0">
                <a:latin typeface="Calibir"/>
              </a:rPr>
              <a:t>Skill</a:t>
            </a:r>
          </a:p>
          <a:p>
            <a:pPr>
              <a:lnSpc>
                <a:spcPct val="150000"/>
              </a:lnSpc>
            </a:pPr>
            <a:r>
              <a:rPr lang="en-US" sz="2800" dirty="0">
                <a:latin typeface="Calibir"/>
              </a:rPr>
              <a:t>This teaches you to separate: </a:t>
            </a:r>
            <a:r>
              <a:rPr lang="en-US" sz="2800" i="1" dirty="0">
                <a:latin typeface="Calibir"/>
              </a:rPr>
              <a:t>requirements modelling</a:t>
            </a:r>
          </a:p>
          <a:p>
            <a:pPr>
              <a:lnSpc>
                <a:spcPct val="150000"/>
              </a:lnSpc>
            </a:pPr>
            <a:r>
              <a:rPr lang="en-US" sz="2800" dirty="0">
                <a:latin typeface="Calibir"/>
              </a:rPr>
              <a:t>From </a:t>
            </a:r>
            <a:r>
              <a:rPr lang="en-US" sz="2800" i="1" dirty="0">
                <a:latin typeface="Calibir"/>
              </a:rPr>
              <a:t>implementation detail.</a:t>
            </a:r>
          </a:p>
        </p:txBody>
      </p:sp>
    </p:spTree>
    <p:extLst>
      <p:ext uri="{BB962C8B-B14F-4D97-AF65-F5344CB8AC3E}">
        <p14:creationId xmlns:p14="http://schemas.microsoft.com/office/powerpoint/2010/main" val="717473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1256B-1294-99C2-D6E7-44F2E9375C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BF9D4C-5464-5041-75E5-E1BCC4C3C3BE}"/>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6" name="TextBox 5">
            <a:extLst>
              <a:ext uri="{FF2B5EF4-FFF2-40B4-BE49-F238E27FC236}">
                <a16:creationId xmlns:a16="http://schemas.microsoft.com/office/drawing/2014/main" id="{5658CEDA-016A-1655-643B-9F9EA19582BA}"/>
              </a:ext>
            </a:extLst>
          </p:cNvPr>
          <p:cNvSpPr txBox="1"/>
          <p:nvPr/>
        </p:nvSpPr>
        <p:spPr>
          <a:xfrm>
            <a:off x="0" y="988143"/>
            <a:ext cx="12192000" cy="5196166"/>
          </a:xfrm>
          <a:prstGeom prst="rect">
            <a:avLst/>
          </a:prstGeom>
          <a:noFill/>
        </p:spPr>
        <p:txBody>
          <a:bodyPr wrap="square">
            <a:spAutoFit/>
          </a:bodyPr>
          <a:lstStyle/>
          <a:p>
            <a:pPr>
              <a:lnSpc>
                <a:spcPct val="150000"/>
              </a:lnSpc>
            </a:pPr>
            <a:r>
              <a:rPr lang="en-US" sz="2800" b="1" dirty="0">
                <a:latin typeface="Calibir"/>
              </a:rPr>
              <a:t>4. When Should I Use &lt;&lt;include&gt;&gt;?</a:t>
            </a:r>
          </a:p>
          <a:p>
            <a:pPr>
              <a:lnSpc>
                <a:spcPct val="150000"/>
              </a:lnSpc>
            </a:pPr>
            <a:r>
              <a:rPr lang="en-US" sz="2800" dirty="0">
                <a:latin typeface="Calibir"/>
              </a:rPr>
              <a:t>Ask) Does this </a:t>
            </a:r>
            <a:r>
              <a:rPr lang="en-US" sz="2800" dirty="0" err="1">
                <a:latin typeface="Calibir"/>
              </a:rPr>
              <a:t>behaviour</a:t>
            </a:r>
            <a:r>
              <a:rPr lang="en-US" sz="2800" dirty="0">
                <a:latin typeface="Calibir"/>
              </a:rPr>
              <a:t> have to happen as part of the main use case?</a:t>
            </a:r>
          </a:p>
          <a:p>
            <a:pPr>
              <a:lnSpc>
                <a:spcPct val="150000"/>
              </a:lnSpc>
            </a:pPr>
            <a:r>
              <a:rPr lang="en-US" sz="2800" dirty="0">
                <a:latin typeface="Calibir"/>
              </a:rPr>
              <a:t>If yes, &lt;&lt;include&gt;&gt; may be appropriate.</a:t>
            </a:r>
          </a:p>
          <a:p>
            <a:pPr>
              <a:lnSpc>
                <a:spcPct val="150000"/>
              </a:lnSpc>
            </a:pPr>
            <a:r>
              <a:rPr lang="en-US" sz="2800" b="1" dirty="0">
                <a:latin typeface="Calibir"/>
              </a:rPr>
              <a:t>Example) </a:t>
            </a:r>
            <a:r>
              <a:rPr lang="en-US" sz="2800" dirty="0">
                <a:latin typeface="Calibir"/>
              </a:rPr>
              <a:t>Registration requires valid registration details.</a:t>
            </a:r>
          </a:p>
          <a:p>
            <a:pPr>
              <a:lnSpc>
                <a:spcPct val="150000"/>
              </a:lnSpc>
            </a:pPr>
            <a:r>
              <a:rPr lang="en-US" sz="2800" dirty="0">
                <a:latin typeface="Calibir"/>
              </a:rPr>
              <a:t>If you model Validate Registration Details separately:</a:t>
            </a:r>
          </a:p>
          <a:p>
            <a:pPr>
              <a:lnSpc>
                <a:spcPct val="150000"/>
              </a:lnSpc>
            </a:pPr>
            <a:r>
              <a:rPr lang="en-US" sz="2800" dirty="0">
                <a:latin typeface="Calibir"/>
              </a:rPr>
              <a:t>Register &lt;&lt;include&gt;&gt; Validate Registration Details</a:t>
            </a:r>
          </a:p>
          <a:p>
            <a:pPr>
              <a:lnSpc>
                <a:spcPct val="150000"/>
              </a:lnSpc>
            </a:pPr>
            <a:r>
              <a:rPr lang="en-US" sz="2800" b="1" dirty="0">
                <a:latin typeface="Calibir"/>
              </a:rPr>
              <a:t>Remember) </a:t>
            </a:r>
            <a:r>
              <a:rPr lang="en-US" sz="2800" dirty="0">
                <a:latin typeface="Calibir"/>
              </a:rPr>
              <a:t>&lt;&lt;include&gt;&gt; = required/reused </a:t>
            </a:r>
            <a:r>
              <a:rPr lang="en-US" sz="2800" dirty="0" err="1">
                <a:latin typeface="Calibir"/>
              </a:rPr>
              <a:t>behaviour</a:t>
            </a:r>
            <a:endParaRPr lang="en-US" sz="2800" dirty="0">
              <a:latin typeface="Calibir"/>
            </a:endParaRPr>
          </a:p>
          <a:p>
            <a:pPr>
              <a:lnSpc>
                <a:spcPct val="150000"/>
              </a:lnSpc>
            </a:pPr>
            <a:r>
              <a:rPr lang="en-US" sz="2800" dirty="0">
                <a:latin typeface="Calibir"/>
              </a:rPr>
              <a:t>The arrow points toward the included use case.</a:t>
            </a:r>
          </a:p>
        </p:txBody>
      </p:sp>
    </p:spTree>
    <p:extLst>
      <p:ext uri="{BB962C8B-B14F-4D97-AF65-F5344CB8AC3E}">
        <p14:creationId xmlns:p14="http://schemas.microsoft.com/office/powerpoint/2010/main" val="3072148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309D-34FC-7FBD-33B4-63490CFBB8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646B9-D20F-9235-A92C-10F3E6016B2F}"/>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6" name="TextBox 5">
            <a:extLst>
              <a:ext uri="{FF2B5EF4-FFF2-40B4-BE49-F238E27FC236}">
                <a16:creationId xmlns:a16="http://schemas.microsoft.com/office/drawing/2014/main" id="{EB66EE06-9E3C-8D5A-3B84-97E90D7DF9AD}"/>
              </a:ext>
            </a:extLst>
          </p:cNvPr>
          <p:cNvSpPr txBox="1"/>
          <p:nvPr/>
        </p:nvSpPr>
        <p:spPr>
          <a:xfrm>
            <a:off x="0" y="988143"/>
            <a:ext cx="12192000" cy="4549835"/>
          </a:xfrm>
          <a:prstGeom prst="rect">
            <a:avLst/>
          </a:prstGeom>
          <a:noFill/>
        </p:spPr>
        <p:txBody>
          <a:bodyPr wrap="square">
            <a:spAutoFit/>
          </a:bodyPr>
          <a:lstStyle/>
          <a:p>
            <a:pPr>
              <a:lnSpc>
                <a:spcPct val="150000"/>
              </a:lnSpc>
            </a:pPr>
            <a:r>
              <a:rPr lang="en-US" sz="2800" b="1" dirty="0">
                <a:latin typeface="Calibir"/>
              </a:rPr>
              <a:t>5. When Should I Use &lt;&lt;extend&gt;&gt;?</a:t>
            </a:r>
          </a:p>
          <a:p>
            <a:pPr>
              <a:lnSpc>
                <a:spcPct val="150000"/>
              </a:lnSpc>
            </a:pPr>
            <a:r>
              <a:rPr lang="en-US" sz="2800" dirty="0">
                <a:latin typeface="Calibir"/>
              </a:rPr>
              <a:t>Ask: </a:t>
            </a:r>
            <a:r>
              <a:rPr lang="en-US" sz="2800" b="1" dirty="0">
                <a:latin typeface="Calibir"/>
              </a:rPr>
              <a:t>Does this </a:t>
            </a:r>
            <a:r>
              <a:rPr lang="en-US" sz="2800" b="1" dirty="0" err="1">
                <a:latin typeface="Calibir"/>
              </a:rPr>
              <a:t>behaviour</a:t>
            </a:r>
            <a:r>
              <a:rPr lang="en-US" sz="2800" b="1" dirty="0">
                <a:latin typeface="Calibir"/>
              </a:rPr>
              <a:t> happen only under a condition?</a:t>
            </a:r>
            <a:endParaRPr lang="en-US" sz="2800" dirty="0">
              <a:latin typeface="Calibir"/>
            </a:endParaRPr>
          </a:p>
          <a:p>
            <a:pPr>
              <a:lnSpc>
                <a:spcPct val="150000"/>
              </a:lnSpc>
            </a:pPr>
            <a:r>
              <a:rPr lang="en-US" sz="2800" dirty="0">
                <a:latin typeface="Calibir"/>
              </a:rPr>
              <a:t>If yes, &lt;&lt;extend&gt;&gt; may be appropriate.</a:t>
            </a:r>
          </a:p>
          <a:p>
            <a:pPr>
              <a:lnSpc>
                <a:spcPct val="150000"/>
              </a:lnSpc>
            </a:pPr>
            <a:r>
              <a:rPr lang="en-US" sz="2800" b="1" dirty="0">
                <a:latin typeface="Calibir"/>
              </a:rPr>
              <a:t>Example) </a:t>
            </a:r>
            <a:r>
              <a:rPr lang="en-US" sz="2800" dirty="0">
                <a:latin typeface="Calibir"/>
              </a:rPr>
              <a:t>An authentication error occurs only when authentication fails.</a:t>
            </a:r>
          </a:p>
          <a:p>
            <a:pPr>
              <a:lnSpc>
                <a:spcPct val="150000"/>
              </a:lnSpc>
            </a:pPr>
            <a:r>
              <a:rPr lang="en-US" sz="2800" dirty="0">
                <a:latin typeface="Calibir"/>
              </a:rPr>
              <a:t>It does not occur during every successful login.</a:t>
            </a:r>
          </a:p>
          <a:p>
            <a:pPr>
              <a:lnSpc>
                <a:spcPct val="150000"/>
              </a:lnSpc>
            </a:pPr>
            <a:r>
              <a:rPr lang="en-US" sz="2800" b="1" dirty="0">
                <a:latin typeface="Calibir"/>
              </a:rPr>
              <a:t>Remember) &lt;&lt;extend&gt;&gt; = conditional/optional additional </a:t>
            </a:r>
            <a:r>
              <a:rPr lang="en-US" sz="2800" b="1" dirty="0" err="1">
                <a:latin typeface="Calibir"/>
              </a:rPr>
              <a:t>behaviour</a:t>
            </a:r>
            <a:endParaRPr lang="en-US" sz="2800" dirty="0">
              <a:latin typeface="Calibir"/>
            </a:endParaRPr>
          </a:p>
          <a:p>
            <a:pPr>
              <a:lnSpc>
                <a:spcPct val="150000"/>
              </a:lnSpc>
            </a:pPr>
            <a:r>
              <a:rPr lang="en-US" sz="2800" dirty="0">
                <a:latin typeface="Calibir"/>
              </a:rPr>
              <a:t>Do not use &lt;&lt;extend&gt;&gt; simply because the tool exists.</a:t>
            </a:r>
          </a:p>
        </p:txBody>
      </p:sp>
    </p:spTree>
    <p:extLst>
      <p:ext uri="{BB962C8B-B14F-4D97-AF65-F5344CB8AC3E}">
        <p14:creationId xmlns:p14="http://schemas.microsoft.com/office/powerpoint/2010/main" val="659767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9E61D-8B35-D199-D640-D233B2F38D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24412-B51C-A7AF-2AF2-4C6F0EBB58C5}"/>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6" name="TextBox 5">
            <a:extLst>
              <a:ext uri="{FF2B5EF4-FFF2-40B4-BE49-F238E27FC236}">
                <a16:creationId xmlns:a16="http://schemas.microsoft.com/office/drawing/2014/main" id="{BC542418-734F-2209-F294-195260B4ABB4}"/>
              </a:ext>
            </a:extLst>
          </p:cNvPr>
          <p:cNvSpPr txBox="1"/>
          <p:nvPr/>
        </p:nvSpPr>
        <p:spPr>
          <a:xfrm>
            <a:off x="0" y="988143"/>
            <a:ext cx="12192000" cy="5196166"/>
          </a:xfrm>
          <a:prstGeom prst="rect">
            <a:avLst/>
          </a:prstGeom>
          <a:noFill/>
        </p:spPr>
        <p:txBody>
          <a:bodyPr wrap="square">
            <a:spAutoFit/>
          </a:bodyPr>
          <a:lstStyle/>
          <a:p>
            <a:pPr>
              <a:lnSpc>
                <a:spcPct val="150000"/>
              </a:lnSpc>
            </a:pPr>
            <a:r>
              <a:rPr lang="en-US" sz="2800" b="1" dirty="0">
                <a:latin typeface="Calibir"/>
              </a:rPr>
              <a:t>6. Student and Admin Responsibilities</a:t>
            </a:r>
          </a:p>
          <a:p>
            <a:pPr>
              <a:lnSpc>
                <a:spcPct val="150000"/>
              </a:lnSpc>
            </a:pPr>
            <a:r>
              <a:rPr lang="en-US" sz="2800" dirty="0">
                <a:latin typeface="Calibir"/>
              </a:rPr>
              <a:t>Ask yourself) </a:t>
            </a:r>
            <a:r>
              <a:rPr lang="en-US" sz="2800" b="1" dirty="0">
                <a:latin typeface="Calibir"/>
              </a:rPr>
              <a:t>Who initiates this action according to the requirement?</a:t>
            </a:r>
            <a:endParaRPr lang="en-US" sz="2800" dirty="0">
              <a:latin typeface="Calibir"/>
            </a:endParaRPr>
          </a:p>
          <a:p>
            <a:pPr>
              <a:lnSpc>
                <a:spcPct val="150000"/>
              </a:lnSpc>
            </a:pPr>
            <a:r>
              <a:rPr lang="en-US" sz="2800" dirty="0">
                <a:latin typeface="Calibir"/>
              </a:rPr>
              <a:t>A Student performs Student-related goals.</a:t>
            </a:r>
          </a:p>
          <a:p>
            <a:pPr>
              <a:lnSpc>
                <a:spcPct val="150000"/>
              </a:lnSpc>
            </a:pPr>
            <a:r>
              <a:rPr lang="en-US" sz="2800" dirty="0">
                <a:latin typeface="Calibir"/>
              </a:rPr>
              <a:t>An Admin performs student-management goals.</a:t>
            </a:r>
          </a:p>
          <a:p>
            <a:pPr>
              <a:lnSpc>
                <a:spcPct val="150000"/>
              </a:lnSpc>
            </a:pPr>
            <a:r>
              <a:rPr lang="en-US" sz="2800" dirty="0">
                <a:latin typeface="Calibir"/>
              </a:rPr>
              <a:t>Do not assign an automatic system action to Admin simply because Admin has management access.</a:t>
            </a:r>
          </a:p>
          <a:p>
            <a:pPr>
              <a:lnSpc>
                <a:spcPct val="150000"/>
              </a:lnSpc>
            </a:pPr>
            <a:r>
              <a:rPr lang="en-US" sz="2800" b="1" dirty="0">
                <a:latin typeface="Calibir"/>
              </a:rPr>
              <a:t>Example) </a:t>
            </a:r>
            <a:r>
              <a:rPr lang="en-US" sz="2800" dirty="0">
                <a:latin typeface="Calibir"/>
              </a:rPr>
              <a:t>If the system automatically calculates a grade from a mark, that does not mean Admin calculates the grade.</a:t>
            </a:r>
          </a:p>
        </p:txBody>
      </p:sp>
    </p:spTree>
    <p:extLst>
      <p:ext uri="{BB962C8B-B14F-4D97-AF65-F5344CB8AC3E}">
        <p14:creationId xmlns:p14="http://schemas.microsoft.com/office/powerpoint/2010/main" val="1232283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E4626-8DFD-6593-258F-78627E6885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ED3E96-520F-C2DD-D671-F5902B405271}"/>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4" name="TextBox 3">
            <a:extLst>
              <a:ext uri="{FF2B5EF4-FFF2-40B4-BE49-F238E27FC236}">
                <a16:creationId xmlns:a16="http://schemas.microsoft.com/office/drawing/2014/main" id="{D982E023-27F2-B681-70AE-59E755D33671}"/>
              </a:ext>
            </a:extLst>
          </p:cNvPr>
          <p:cNvSpPr txBox="1"/>
          <p:nvPr/>
        </p:nvSpPr>
        <p:spPr>
          <a:xfrm>
            <a:off x="0" y="657923"/>
            <a:ext cx="11998712" cy="4549835"/>
          </a:xfrm>
          <a:prstGeom prst="rect">
            <a:avLst/>
          </a:prstGeom>
          <a:noFill/>
        </p:spPr>
        <p:txBody>
          <a:bodyPr wrap="square">
            <a:spAutoFit/>
          </a:bodyPr>
          <a:lstStyle/>
          <a:p>
            <a:pPr>
              <a:lnSpc>
                <a:spcPct val="150000"/>
              </a:lnSpc>
              <a:buNone/>
            </a:pPr>
            <a:r>
              <a:rPr lang="en-US" sz="2800" b="1" dirty="0">
                <a:latin typeface="Calibir"/>
              </a:rPr>
              <a:t>7. Keep the Three Parts Consistent</a:t>
            </a:r>
          </a:p>
          <a:p>
            <a:pPr>
              <a:lnSpc>
                <a:spcPct val="150000"/>
              </a:lnSpc>
              <a:buNone/>
            </a:pPr>
            <a:r>
              <a:rPr lang="en-US" sz="2800" dirty="0">
                <a:latin typeface="Calibir"/>
              </a:rPr>
              <a:t>Your three assessed components are:</a:t>
            </a:r>
          </a:p>
          <a:p>
            <a:pPr marL="714375" indent="-457200">
              <a:lnSpc>
                <a:spcPct val="150000"/>
              </a:lnSpc>
              <a:buFont typeface="Arial" panose="020B0604020202020204" pitchFamily="34" charset="0"/>
              <a:buChar char="•"/>
            </a:pPr>
            <a:r>
              <a:rPr lang="en-US" sz="2800" dirty="0">
                <a:latin typeface="Calibir"/>
              </a:rPr>
              <a:t>User-Story Backlog</a:t>
            </a:r>
          </a:p>
          <a:p>
            <a:pPr marL="714375" indent="-457200">
              <a:lnSpc>
                <a:spcPct val="150000"/>
              </a:lnSpc>
              <a:buFont typeface="Arial" panose="020B0604020202020204" pitchFamily="34" charset="0"/>
              <a:buChar char="•"/>
            </a:pPr>
            <a:r>
              <a:rPr lang="en-US" sz="2800" dirty="0">
                <a:latin typeface="Calibir"/>
              </a:rPr>
              <a:t>UML Use Case Diagram</a:t>
            </a:r>
          </a:p>
          <a:p>
            <a:pPr marL="714375" indent="-457200">
              <a:lnSpc>
                <a:spcPct val="150000"/>
              </a:lnSpc>
              <a:buFont typeface="Arial" panose="020B0604020202020204" pitchFamily="34" charset="0"/>
              <a:buChar char="•"/>
            </a:pPr>
            <a:r>
              <a:rPr lang="en-US" sz="2800" dirty="0">
                <a:latin typeface="Calibir"/>
              </a:rPr>
              <a:t>UML Class Diagram</a:t>
            </a:r>
          </a:p>
          <a:p>
            <a:pPr>
              <a:lnSpc>
                <a:spcPct val="150000"/>
              </a:lnSpc>
              <a:buNone/>
            </a:pPr>
            <a:r>
              <a:rPr lang="en-US" sz="2800" dirty="0">
                <a:latin typeface="Calibir"/>
              </a:rPr>
              <a:t>The brief assigns 5 marks to each, for 15 marks total. </a:t>
            </a:r>
          </a:p>
          <a:p>
            <a:pPr>
              <a:lnSpc>
                <a:spcPct val="150000"/>
              </a:lnSpc>
              <a:buNone/>
            </a:pPr>
            <a:r>
              <a:rPr lang="en-US" sz="2800" dirty="0">
                <a:latin typeface="Calibir"/>
              </a:rPr>
              <a:t>They should tell the same story.</a:t>
            </a:r>
          </a:p>
        </p:txBody>
      </p:sp>
    </p:spTree>
    <p:extLst>
      <p:ext uri="{BB962C8B-B14F-4D97-AF65-F5344CB8AC3E}">
        <p14:creationId xmlns:p14="http://schemas.microsoft.com/office/powerpoint/2010/main" val="2347008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1ACE8-61DB-E916-CFA4-404015827F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C4F7F1-6102-0712-155D-B9710E062B31}"/>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4" name="TextBox 3">
            <a:extLst>
              <a:ext uri="{FF2B5EF4-FFF2-40B4-BE49-F238E27FC236}">
                <a16:creationId xmlns:a16="http://schemas.microsoft.com/office/drawing/2014/main" id="{97D38993-F6A5-597F-8A3A-E363D87B3851}"/>
              </a:ext>
            </a:extLst>
          </p:cNvPr>
          <p:cNvSpPr txBox="1"/>
          <p:nvPr/>
        </p:nvSpPr>
        <p:spPr>
          <a:xfrm>
            <a:off x="0" y="657923"/>
            <a:ext cx="11998712" cy="5842497"/>
          </a:xfrm>
          <a:prstGeom prst="rect">
            <a:avLst/>
          </a:prstGeom>
          <a:noFill/>
        </p:spPr>
        <p:txBody>
          <a:bodyPr wrap="square">
            <a:spAutoFit/>
          </a:bodyPr>
          <a:lstStyle/>
          <a:p>
            <a:pPr>
              <a:lnSpc>
                <a:spcPct val="150000"/>
              </a:lnSpc>
              <a:buNone/>
            </a:pPr>
            <a:r>
              <a:rPr lang="en-US" sz="2800" dirty="0">
                <a:latin typeface="Calibir"/>
              </a:rPr>
              <a:t>A useful check is:</a:t>
            </a:r>
          </a:p>
          <a:p>
            <a:pPr>
              <a:lnSpc>
                <a:spcPct val="150000"/>
              </a:lnSpc>
              <a:buNone/>
            </a:pPr>
            <a:r>
              <a:rPr lang="en-US" sz="2800" dirty="0">
                <a:latin typeface="Calibir"/>
              </a:rPr>
              <a:t>Requirement → Backlog → Use Case → Class/Operation</a:t>
            </a:r>
          </a:p>
          <a:p>
            <a:pPr>
              <a:lnSpc>
                <a:spcPct val="150000"/>
              </a:lnSpc>
              <a:buNone/>
            </a:pPr>
            <a:r>
              <a:rPr lang="en-US" sz="2800" dirty="0">
                <a:latin typeface="Calibir"/>
              </a:rPr>
              <a:t>Not every item has to map one-to-one, but important requirements should not disappear.</a:t>
            </a:r>
          </a:p>
          <a:p>
            <a:pPr>
              <a:lnSpc>
                <a:spcPct val="150000"/>
              </a:lnSpc>
              <a:buNone/>
            </a:pPr>
            <a:r>
              <a:rPr lang="en-US" sz="2800" b="1" dirty="0">
                <a:latin typeface="Calibir"/>
              </a:rPr>
              <a:t>Example</a:t>
            </a:r>
          </a:p>
          <a:p>
            <a:pPr>
              <a:lnSpc>
                <a:spcPct val="150000"/>
              </a:lnSpc>
              <a:buNone/>
            </a:pPr>
            <a:r>
              <a:rPr lang="en-US" sz="2800" dirty="0">
                <a:latin typeface="Calibir"/>
              </a:rPr>
              <a:t>If the requirement says students can change their password:</a:t>
            </a:r>
          </a:p>
          <a:p>
            <a:pPr marL="714375" lvl="0" indent="-457200">
              <a:lnSpc>
                <a:spcPct val="150000"/>
              </a:lnSpc>
              <a:buFont typeface="Arial" panose="020B0604020202020204" pitchFamily="34" charset="0"/>
              <a:buChar char="•"/>
            </a:pPr>
            <a:r>
              <a:rPr lang="en-US" sz="2800" dirty="0">
                <a:latin typeface="Calibir"/>
              </a:rPr>
              <a:t>the backlog should address that </a:t>
            </a:r>
            <a:r>
              <a:rPr lang="en-US" sz="2800" dirty="0" err="1">
                <a:latin typeface="Calibir"/>
              </a:rPr>
              <a:t>behaviour</a:t>
            </a:r>
            <a:r>
              <a:rPr lang="en-US" sz="2800" dirty="0">
                <a:latin typeface="Calibir"/>
              </a:rPr>
              <a:t>; </a:t>
            </a:r>
          </a:p>
          <a:p>
            <a:pPr marL="714375" lvl="0" indent="-457200">
              <a:lnSpc>
                <a:spcPct val="150000"/>
              </a:lnSpc>
              <a:buFont typeface="Arial" panose="020B0604020202020204" pitchFamily="34" charset="0"/>
              <a:buChar char="•"/>
            </a:pPr>
            <a:r>
              <a:rPr lang="en-US" sz="2800" dirty="0">
                <a:latin typeface="Calibir"/>
              </a:rPr>
              <a:t>the use case model should represent the Student's goal; </a:t>
            </a:r>
          </a:p>
          <a:p>
            <a:pPr marL="714375" lvl="0" indent="-457200">
              <a:lnSpc>
                <a:spcPct val="150000"/>
              </a:lnSpc>
              <a:buFont typeface="Arial" panose="020B0604020202020204" pitchFamily="34" charset="0"/>
              <a:buChar char="•"/>
            </a:pPr>
            <a:r>
              <a:rPr lang="en-US" sz="2800" dirty="0">
                <a:latin typeface="Calibir"/>
              </a:rPr>
              <a:t>the class design should provide appropriate data/</a:t>
            </a:r>
            <a:r>
              <a:rPr lang="en-US" sz="2800" dirty="0" err="1">
                <a:latin typeface="Calibir"/>
              </a:rPr>
              <a:t>behaviour</a:t>
            </a:r>
            <a:r>
              <a:rPr lang="en-US" sz="2800" dirty="0">
                <a:latin typeface="Calibir"/>
              </a:rPr>
              <a:t> to support it.</a:t>
            </a:r>
          </a:p>
        </p:txBody>
      </p:sp>
    </p:spTree>
    <p:extLst>
      <p:ext uri="{BB962C8B-B14F-4D97-AF65-F5344CB8AC3E}">
        <p14:creationId xmlns:p14="http://schemas.microsoft.com/office/powerpoint/2010/main" val="1060034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D8160-83D5-9EA7-0B29-83A6ABEE6C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B5A29B-6B1C-509D-CE70-F2627F630C90}"/>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5" name="TextBox 4">
            <a:extLst>
              <a:ext uri="{FF2B5EF4-FFF2-40B4-BE49-F238E27FC236}">
                <a16:creationId xmlns:a16="http://schemas.microsoft.com/office/drawing/2014/main" id="{8E8CFDD9-ABAB-EFBB-9A4F-21525D323DDC}"/>
              </a:ext>
            </a:extLst>
          </p:cNvPr>
          <p:cNvSpPr txBox="1"/>
          <p:nvPr/>
        </p:nvSpPr>
        <p:spPr>
          <a:xfrm>
            <a:off x="0" y="657922"/>
            <a:ext cx="11998712" cy="5196166"/>
          </a:xfrm>
          <a:prstGeom prst="rect">
            <a:avLst/>
          </a:prstGeom>
          <a:noFill/>
        </p:spPr>
        <p:txBody>
          <a:bodyPr wrap="square">
            <a:spAutoFit/>
          </a:bodyPr>
          <a:lstStyle/>
          <a:p>
            <a:pPr>
              <a:lnSpc>
                <a:spcPct val="150000"/>
              </a:lnSpc>
              <a:buNone/>
            </a:pPr>
            <a:r>
              <a:rPr lang="en-US" sz="2800" b="1" dirty="0">
                <a:latin typeface="Calibir"/>
              </a:rPr>
              <a:t>8. Class Diagram: Ask Five Questions</a:t>
            </a:r>
          </a:p>
          <a:p>
            <a:pPr>
              <a:lnSpc>
                <a:spcPct val="150000"/>
              </a:lnSpc>
              <a:buNone/>
            </a:pPr>
            <a:r>
              <a:rPr lang="en-US" sz="2800" dirty="0">
                <a:latin typeface="Calibir"/>
              </a:rPr>
              <a:t>For every class, ask:</a:t>
            </a:r>
          </a:p>
          <a:p>
            <a:pPr marL="514350" indent="-514350">
              <a:lnSpc>
                <a:spcPct val="150000"/>
              </a:lnSpc>
              <a:buAutoNum type="arabicPeriod"/>
            </a:pPr>
            <a:r>
              <a:rPr lang="en-US" sz="2800" b="1" dirty="0">
                <a:latin typeface="Calibir"/>
              </a:rPr>
              <a:t>Why does this class exist?</a:t>
            </a:r>
          </a:p>
          <a:p>
            <a:pPr>
              <a:lnSpc>
                <a:spcPct val="150000"/>
              </a:lnSpc>
            </a:pPr>
            <a:r>
              <a:rPr lang="en-US" sz="2800" dirty="0">
                <a:latin typeface="Calibir"/>
              </a:rPr>
              <a:t>Can I justify it from the requirements?</a:t>
            </a:r>
          </a:p>
          <a:p>
            <a:pPr>
              <a:lnSpc>
                <a:spcPct val="150000"/>
              </a:lnSpc>
              <a:buNone/>
            </a:pPr>
            <a:r>
              <a:rPr lang="en-US" sz="2800" b="1" dirty="0">
                <a:latin typeface="Calibir"/>
              </a:rPr>
              <a:t>2. What information does it need?</a:t>
            </a:r>
          </a:p>
          <a:p>
            <a:pPr>
              <a:lnSpc>
                <a:spcPct val="150000"/>
              </a:lnSpc>
              <a:buNone/>
            </a:pPr>
            <a:r>
              <a:rPr lang="en-US" sz="2800" dirty="0">
                <a:latin typeface="Calibir"/>
              </a:rPr>
              <a:t>These become attributes/fields.</a:t>
            </a:r>
          </a:p>
          <a:p>
            <a:pPr>
              <a:lnSpc>
                <a:spcPct val="150000"/>
              </a:lnSpc>
              <a:buNone/>
            </a:pPr>
            <a:r>
              <a:rPr lang="en-US" sz="2800" b="1" dirty="0">
                <a:latin typeface="Calibir"/>
              </a:rPr>
              <a:t>3. What can it do?</a:t>
            </a:r>
          </a:p>
          <a:p>
            <a:pPr>
              <a:lnSpc>
                <a:spcPct val="150000"/>
              </a:lnSpc>
              <a:buNone/>
            </a:pPr>
            <a:r>
              <a:rPr lang="en-US" sz="2800" dirty="0">
                <a:latin typeface="Calibir"/>
              </a:rPr>
              <a:t>These become methods/operations.</a:t>
            </a:r>
          </a:p>
        </p:txBody>
      </p:sp>
    </p:spTree>
    <p:extLst>
      <p:ext uri="{BB962C8B-B14F-4D97-AF65-F5344CB8AC3E}">
        <p14:creationId xmlns:p14="http://schemas.microsoft.com/office/powerpoint/2010/main" val="3803288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fade">
                                      <p:cBhvr>
                                        <p:cTn id="7" dur="1000"/>
                                        <p:tgtEl>
                                          <p:spTgt spid="5">
                                            <p:txEl>
                                              <p:pRg st="3" end="3"/>
                                            </p:txEl>
                                          </p:spTgt>
                                        </p:tgtEl>
                                      </p:cBhvr>
                                    </p:animEffect>
                                    <p:anim calcmode="lin" valueType="num">
                                      <p:cBhvr>
                                        <p:cTn id="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5" end="5"/>
                                            </p:txEl>
                                          </p:spTgt>
                                        </p:tgtEl>
                                        <p:attrNameLst>
                                          <p:attrName>style.visibility</p:attrName>
                                        </p:attrNameLst>
                                      </p:cBhvr>
                                      <p:to>
                                        <p:strVal val="visible"/>
                                      </p:to>
                                    </p:set>
                                    <p:animEffect transition="in" filter="fade">
                                      <p:cBhvr>
                                        <p:cTn id="12" dur="1000"/>
                                        <p:tgtEl>
                                          <p:spTgt spid="5">
                                            <p:txEl>
                                              <p:pRg st="5" end="5"/>
                                            </p:txEl>
                                          </p:spTgt>
                                        </p:tgtEl>
                                      </p:cBhvr>
                                    </p:animEffect>
                                    <p:anim calcmode="lin" valueType="num">
                                      <p:cBhvr>
                                        <p:cTn id="1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animEffect transition="in" filter="fade">
                                      <p:cBhvr>
                                        <p:cTn id="17" dur="1000"/>
                                        <p:tgtEl>
                                          <p:spTgt spid="5">
                                            <p:txEl>
                                              <p:pRg st="7" end="7"/>
                                            </p:txEl>
                                          </p:spTgt>
                                        </p:tgtEl>
                                      </p:cBhvr>
                                    </p:animEffect>
                                    <p:anim calcmode="lin" valueType="num">
                                      <p:cBhvr>
                                        <p:cTn id="18"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1C083-F176-1969-FFA2-89713DE583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0AD5AE-6BEE-B1FF-81EC-A244D6113330}"/>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5" name="TextBox 4">
            <a:extLst>
              <a:ext uri="{FF2B5EF4-FFF2-40B4-BE49-F238E27FC236}">
                <a16:creationId xmlns:a16="http://schemas.microsoft.com/office/drawing/2014/main" id="{DF83E2C8-A496-8042-A0C2-99131D533D6C}"/>
              </a:ext>
            </a:extLst>
          </p:cNvPr>
          <p:cNvSpPr txBox="1"/>
          <p:nvPr/>
        </p:nvSpPr>
        <p:spPr>
          <a:xfrm>
            <a:off x="0" y="657922"/>
            <a:ext cx="11998712" cy="3903504"/>
          </a:xfrm>
          <a:prstGeom prst="rect">
            <a:avLst/>
          </a:prstGeom>
          <a:noFill/>
        </p:spPr>
        <p:txBody>
          <a:bodyPr wrap="square">
            <a:spAutoFit/>
          </a:bodyPr>
          <a:lstStyle/>
          <a:p>
            <a:pPr>
              <a:lnSpc>
                <a:spcPct val="150000"/>
              </a:lnSpc>
              <a:buNone/>
            </a:pPr>
            <a:r>
              <a:rPr lang="en-US" sz="2800" b="1" dirty="0">
                <a:latin typeface="Calibir"/>
              </a:rPr>
              <a:t>4. How is it connected to other classes?</a:t>
            </a:r>
          </a:p>
          <a:p>
            <a:pPr>
              <a:lnSpc>
                <a:spcPct val="150000"/>
              </a:lnSpc>
              <a:buNone/>
            </a:pPr>
            <a:r>
              <a:rPr lang="en-US" sz="2800" dirty="0">
                <a:latin typeface="Calibir"/>
              </a:rPr>
              <a:t>These become relationships.</a:t>
            </a:r>
          </a:p>
          <a:p>
            <a:pPr>
              <a:lnSpc>
                <a:spcPct val="150000"/>
              </a:lnSpc>
              <a:buNone/>
            </a:pPr>
            <a:r>
              <a:rPr lang="en-US" sz="2800" b="1" dirty="0">
                <a:latin typeface="Calibir"/>
              </a:rPr>
              <a:t>5. How many objects can participate?</a:t>
            </a:r>
          </a:p>
          <a:p>
            <a:pPr>
              <a:lnSpc>
                <a:spcPct val="150000"/>
              </a:lnSpc>
              <a:buNone/>
            </a:pPr>
            <a:r>
              <a:rPr lang="en-US" sz="2800" dirty="0">
                <a:latin typeface="Calibir"/>
              </a:rPr>
              <a:t>This gives the multiplicity.</a:t>
            </a:r>
          </a:p>
          <a:p>
            <a:pPr>
              <a:lnSpc>
                <a:spcPct val="150000"/>
              </a:lnSpc>
              <a:buNone/>
            </a:pPr>
            <a:r>
              <a:rPr lang="en-US" sz="2800" dirty="0">
                <a:latin typeface="Calibir"/>
              </a:rPr>
              <a:t>The assessment explicitly requires classes, fields, methods, visibility, multiplicity and relationships.</a:t>
            </a:r>
          </a:p>
        </p:txBody>
      </p:sp>
    </p:spTree>
    <p:extLst>
      <p:ext uri="{BB962C8B-B14F-4D97-AF65-F5344CB8AC3E}">
        <p14:creationId xmlns:p14="http://schemas.microsoft.com/office/powerpoint/2010/main" val="786226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D5B30-6C85-37E3-94BF-6F7F66850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95985B-EDA5-2781-17E2-FF743DBC05A4}"/>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5" name="TextBox 4">
            <a:extLst>
              <a:ext uri="{FF2B5EF4-FFF2-40B4-BE49-F238E27FC236}">
                <a16:creationId xmlns:a16="http://schemas.microsoft.com/office/drawing/2014/main" id="{C7504CD9-7687-3D94-F2CC-C3BAD7A163ED}"/>
              </a:ext>
            </a:extLst>
          </p:cNvPr>
          <p:cNvSpPr txBox="1"/>
          <p:nvPr/>
        </p:nvSpPr>
        <p:spPr>
          <a:xfrm>
            <a:off x="0" y="657922"/>
            <a:ext cx="11998712" cy="5196166"/>
          </a:xfrm>
          <a:prstGeom prst="rect">
            <a:avLst/>
          </a:prstGeom>
          <a:noFill/>
        </p:spPr>
        <p:txBody>
          <a:bodyPr wrap="square">
            <a:spAutoFit/>
          </a:bodyPr>
          <a:lstStyle/>
          <a:p>
            <a:pPr>
              <a:lnSpc>
                <a:spcPct val="150000"/>
              </a:lnSpc>
            </a:pPr>
            <a:r>
              <a:rPr lang="en-US" sz="2800" b="1" dirty="0">
                <a:latin typeface="Calibir"/>
              </a:rPr>
              <a:t>9. Understanding Multiplicity</a:t>
            </a:r>
          </a:p>
          <a:p>
            <a:pPr>
              <a:lnSpc>
                <a:spcPct val="150000"/>
              </a:lnSpc>
            </a:pPr>
            <a:r>
              <a:rPr lang="en-US" sz="2800" dirty="0">
                <a:latin typeface="Calibir"/>
              </a:rPr>
              <a:t>Multiplicity tells us how many objects can participate in a relationship.</a:t>
            </a:r>
          </a:p>
          <a:p>
            <a:pPr>
              <a:lnSpc>
                <a:spcPct val="150000"/>
              </a:lnSpc>
            </a:pPr>
            <a:r>
              <a:rPr lang="en-US" sz="2800" dirty="0">
                <a:latin typeface="Calibir"/>
              </a:rPr>
              <a:t>Examples:</a:t>
            </a:r>
          </a:p>
          <a:p>
            <a:pPr>
              <a:lnSpc>
                <a:spcPct val="150000"/>
              </a:lnSpc>
            </a:pPr>
            <a:r>
              <a:rPr lang="en-US" sz="2800" dirty="0">
                <a:latin typeface="Calibir"/>
              </a:rPr>
              <a:t>1 = exactly one</a:t>
            </a:r>
          </a:p>
          <a:p>
            <a:pPr>
              <a:lnSpc>
                <a:spcPct val="150000"/>
              </a:lnSpc>
            </a:pPr>
            <a:r>
              <a:rPr lang="en-US" sz="2800" dirty="0">
                <a:latin typeface="Calibir"/>
              </a:rPr>
              <a:t>0..1 = zero or one</a:t>
            </a:r>
          </a:p>
          <a:p>
            <a:pPr>
              <a:lnSpc>
                <a:spcPct val="150000"/>
              </a:lnSpc>
            </a:pPr>
            <a:r>
              <a:rPr lang="en-US" sz="2800" dirty="0">
                <a:latin typeface="Calibir"/>
              </a:rPr>
              <a:t>0..* = zero or many</a:t>
            </a:r>
          </a:p>
          <a:p>
            <a:pPr>
              <a:lnSpc>
                <a:spcPct val="150000"/>
              </a:lnSpc>
            </a:pPr>
            <a:r>
              <a:rPr lang="en-US" sz="2800" dirty="0">
                <a:latin typeface="Calibir"/>
              </a:rPr>
              <a:t>1..* = one or many</a:t>
            </a:r>
          </a:p>
          <a:p>
            <a:pPr>
              <a:lnSpc>
                <a:spcPct val="150000"/>
              </a:lnSpc>
            </a:pPr>
            <a:r>
              <a:rPr lang="en-US" sz="2800" dirty="0">
                <a:latin typeface="Calibir"/>
              </a:rPr>
              <a:t>0..4 = zero to four</a:t>
            </a:r>
          </a:p>
        </p:txBody>
      </p:sp>
    </p:spTree>
    <p:extLst>
      <p:ext uri="{BB962C8B-B14F-4D97-AF65-F5344CB8AC3E}">
        <p14:creationId xmlns:p14="http://schemas.microsoft.com/office/powerpoint/2010/main" val="4213496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BEA12-85E5-9C5C-2476-5C19ABEFA6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4DE7FA-653B-1AD4-1C75-2B43EA96B820}"/>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5" name="TextBox 4">
            <a:extLst>
              <a:ext uri="{FF2B5EF4-FFF2-40B4-BE49-F238E27FC236}">
                <a16:creationId xmlns:a16="http://schemas.microsoft.com/office/drawing/2014/main" id="{9CB144D0-182D-806E-F067-ECFD7D8F84DE}"/>
              </a:ext>
            </a:extLst>
          </p:cNvPr>
          <p:cNvSpPr txBox="1"/>
          <p:nvPr/>
        </p:nvSpPr>
        <p:spPr>
          <a:xfrm>
            <a:off x="0" y="657922"/>
            <a:ext cx="11998712" cy="3257174"/>
          </a:xfrm>
          <a:prstGeom prst="rect">
            <a:avLst/>
          </a:prstGeom>
          <a:noFill/>
        </p:spPr>
        <p:txBody>
          <a:bodyPr wrap="square">
            <a:spAutoFit/>
          </a:bodyPr>
          <a:lstStyle/>
          <a:p>
            <a:pPr>
              <a:lnSpc>
                <a:spcPct val="150000"/>
              </a:lnSpc>
            </a:pPr>
            <a:r>
              <a:rPr lang="en-US" sz="2800" b="1" dirty="0">
                <a:latin typeface="Calibir"/>
              </a:rPr>
              <a:t>Example</a:t>
            </a:r>
          </a:p>
          <a:p>
            <a:pPr>
              <a:lnSpc>
                <a:spcPct val="150000"/>
              </a:lnSpc>
            </a:pPr>
            <a:r>
              <a:rPr lang="en-US" sz="2800" dirty="0">
                <a:latin typeface="Calibir"/>
              </a:rPr>
              <a:t>The requirement says one Student may </a:t>
            </a:r>
            <a:r>
              <a:rPr lang="en-US" sz="2800" dirty="0" err="1">
                <a:latin typeface="Calibir"/>
              </a:rPr>
              <a:t>enrol</a:t>
            </a:r>
            <a:r>
              <a:rPr lang="en-US" sz="2800" dirty="0">
                <a:latin typeface="Calibir"/>
              </a:rPr>
              <a:t> in a maximum of four Subjects.</a:t>
            </a:r>
          </a:p>
          <a:p>
            <a:pPr>
              <a:lnSpc>
                <a:spcPct val="150000"/>
              </a:lnSpc>
            </a:pPr>
            <a:r>
              <a:rPr lang="en-US" sz="2800" dirty="0">
                <a:latin typeface="Calibir"/>
              </a:rPr>
              <a:t>This requirement should influence the multiplicity in your class design.</a:t>
            </a:r>
          </a:p>
          <a:p>
            <a:pPr>
              <a:lnSpc>
                <a:spcPct val="150000"/>
              </a:lnSpc>
            </a:pPr>
            <a:r>
              <a:rPr lang="en-US" sz="2800" b="1" dirty="0">
                <a:latin typeface="Calibir"/>
              </a:rPr>
              <a:t>Why?</a:t>
            </a:r>
          </a:p>
          <a:p>
            <a:pPr>
              <a:lnSpc>
                <a:spcPct val="150000"/>
              </a:lnSpc>
            </a:pPr>
            <a:r>
              <a:rPr lang="en-US" sz="2800" dirty="0">
                <a:latin typeface="Calibir"/>
              </a:rPr>
              <a:t>Multiplicity converts a written business rule into a precise UML constraint.</a:t>
            </a:r>
          </a:p>
        </p:txBody>
      </p:sp>
    </p:spTree>
    <p:extLst>
      <p:ext uri="{BB962C8B-B14F-4D97-AF65-F5344CB8AC3E}">
        <p14:creationId xmlns:p14="http://schemas.microsoft.com/office/powerpoint/2010/main" val="893942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fade">
                                      <p:cBhvr>
                                        <p:cTn id="7" dur="1000"/>
                                        <p:tgtEl>
                                          <p:spTgt spid="5">
                                            <p:txEl>
                                              <p:pRg st="4" end="4"/>
                                            </p:txEl>
                                          </p:spTgt>
                                        </p:tgtEl>
                                      </p:cBhvr>
                                    </p:animEffect>
                                    <p:anim calcmode="lin" valueType="num">
                                      <p:cBhvr>
                                        <p:cTn id="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EDA5D-728F-C3DB-DFBE-BD314156E5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14FB4A-7F3B-93E5-8445-27D7EBE816F1}"/>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5" name="TextBox 4">
            <a:extLst>
              <a:ext uri="{FF2B5EF4-FFF2-40B4-BE49-F238E27FC236}">
                <a16:creationId xmlns:a16="http://schemas.microsoft.com/office/drawing/2014/main" id="{40A0C253-3894-DEFB-B455-50BADC689862}"/>
              </a:ext>
            </a:extLst>
          </p:cNvPr>
          <p:cNvSpPr txBox="1"/>
          <p:nvPr/>
        </p:nvSpPr>
        <p:spPr>
          <a:xfrm>
            <a:off x="96644" y="1800413"/>
            <a:ext cx="11998712" cy="3257174"/>
          </a:xfrm>
          <a:prstGeom prst="rect">
            <a:avLst/>
          </a:prstGeom>
          <a:noFill/>
        </p:spPr>
        <p:txBody>
          <a:bodyPr wrap="square">
            <a:spAutoFit/>
          </a:bodyPr>
          <a:lstStyle/>
          <a:p>
            <a:pPr>
              <a:lnSpc>
                <a:spcPct val="150000"/>
              </a:lnSpc>
            </a:pPr>
            <a:r>
              <a:rPr lang="en-US" sz="2800" b="1" dirty="0">
                <a:latin typeface="Calibir"/>
              </a:rPr>
              <a:t>10. </a:t>
            </a:r>
            <a:r>
              <a:rPr lang="en-US" sz="2800" b="1" dirty="0" err="1">
                <a:latin typeface="Calibir"/>
              </a:rPr>
              <a:t>students.data</a:t>
            </a:r>
            <a:r>
              <a:rPr lang="en-US" sz="2800" b="1" dirty="0">
                <a:latin typeface="Calibir"/>
              </a:rPr>
              <a:t> – What Do We Actually Need?</a:t>
            </a:r>
          </a:p>
          <a:p>
            <a:pPr>
              <a:lnSpc>
                <a:spcPct val="150000"/>
              </a:lnSpc>
            </a:pPr>
            <a:r>
              <a:rPr lang="en-US" sz="2800" dirty="0">
                <a:latin typeface="Calibir"/>
              </a:rPr>
              <a:t>The specification requires registered student data and enrolment details to be stored in:</a:t>
            </a:r>
          </a:p>
          <a:p>
            <a:pPr>
              <a:lnSpc>
                <a:spcPct val="150000"/>
              </a:lnSpc>
            </a:pPr>
            <a:r>
              <a:rPr lang="en-US" sz="2800" dirty="0" err="1">
                <a:latin typeface="Calibir"/>
              </a:rPr>
              <a:t>students.data</a:t>
            </a:r>
            <a:endParaRPr lang="en-US" sz="2800" dirty="0">
              <a:latin typeface="Calibir"/>
            </a:endParaRPr>
          </a:p>
          <a:p>
            <a:pPr>
              <a:lnSpc>
                <a:spcPct val="150000"/>
              </a:lnSpc>
            </a:pPr>
            <a:r>
              <a:rPr lang="en-US" sz="2800" dirty="0">
                <a:latin typeface="Calibir"/>
              </a:rPr>
              <a:t>All relevant CLI CRUD operations use this file. </a:t>
            </a:r>
          </a:p>
        </p:txBody>
      </p:sp>
    </p:spTree>
    <p:extLst>
      <p:ext uri="{BB962C8B-B14F-4D97-AF65-F5344CB8AC3E}">
        <p14:creationId xmlns:p14="http://schemas.microsoft.com/office/powerpoint/2010/main" val="1852865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1000"/>
                                        <p:tgtEl>
                                          <p:spTgt spid="5">
                                            <p:txEl>
                                              <p:pRg st="3" end="3"/>
                                            </p:txEl>
                                          </p:spTgt>
                                        </p:tgtEl>
                                      </p:cBhvr>
                                    </p:animEffect>
                                    <p:anim calcmode="lin" valueType="num">
                                      <p:cBhvr>
                                        <p:cTn id="1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A538F-1552-D640-8A43-4D57324FBE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0BF509-4D90-5BAE-2FF0-82FEEEBF76A4}"/>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5" name="TextBox 4">
            <a:extLst>
              <a:ext uri="{FF2B5EF4-FFF2-40B4-BE49-F238E27FC236}">
                <a16:creationId xmlns:a16="http://schemas.microsoft.com/office/drawing/2014/main" id="{C4644815-29E1-9E7E-DB27-0C853785103D}"/>
              </a:ext>
            </a:extLst>
          </p:cNvPr>
          <p:cNvSpPr txBox="1"/>
          <p:nvPr/>
        </p:nvSpPr>
        <p:spPr>
          <a:xfrm>
            <a:off x="-1" y="480946"/>
            <a:ext cx="12191999" cy="6488828"/>
          </a:xfrm>
          <a:prstGeom prst="rect">
            <a:avLst/>
          </a:prstGeom>
          <a:noFill/>
        </p:spPr>
        <p:txBody>
          <a:bodyPr wrap="square">
            <a:spAutoFit/>
          </a:bodyPr>
          <a:lstStyle/>
          <a:p>
            <a:pPr>
              <a:lnSpc>
                <a:spcPct val="150000"/>
              </a:lnSpc>
            </a:pPr>
            <a:r>
              <a:rPr lang="en-US" sz="2800" b="1" dirty="0">
                <a:latin typeface="Calibir"/>
              </a:rPr>
              <a:t>Does the assessment prescribe JSON?</a:t>
            </a:r>
          </a:p>
          <a:p>
            <a:pPr>
              <a:lnSpc>
                <a:spcPct val="150000"/>
              </a:lnSpc>
            </a:pPr>
            <a:r>
              <a:rPr lang="en-US" sz="2800" dirty="0">
                <a:latin typeface="Calibir"/>
              </a:rPr>
              <a:t>No.</a:t>
            </a:r>
          </a:p>
          <a:p>
            <a:pPr>
              <a:lnSpc>
                <a:spcPct val="150000"/>
              </a:lnSpc>
            </a:pPr>
            <a:r>
              <a:rPr lang="en-US" sz="2800" b="1" dirty="0">
                <a:latin typeface="Calibir"/>
              </a:rPr>
              <a:t>Does it prescribe CSV?</a:t>
            </a:r>
          </a:p>
          <a:p>
            <a:pPr>
              <a:lnSpc>
                <a:spcPct val="150000"/>
              </a:lnSpc>
            </a:pPr>
            <a:r>
              <a:rPr lang="en-US" sz="2800" dirty="0">
                <a:latin typeface="Calibir"/>
              </a:rPr>
              <a:t>No.</a:t>
            </a:r>
          </a:p>
          <a:p>
            <a:pPr>
              <a:lnSpc>
                <a:spcPct val="150000"/>
              </a:lnSpc>
            </a:pPr>
            <a:r>
              <a:rPr lang="en-US" sz="2800" b="1" dirty="0">
                <a:latin typeface="Calibir"/>
              </a:rPr>
              <a:t>Can we discuss a possible structure?</a:t>
            </a:r>
          </a:p>
          <a:p>
            <a:pPr>
              <a:lnSpc>
                <a:spcPct val="150000"/>
              </a:lnSpc>
            </a:pPr>
            <a:r>
              <a:rPr lang="en-US" sz="2800" dirty="0">
                <a:latin typeface="Calibir"/>
              </a:rPr>
              <a:t>Yes.</a:t>
            </a:r>
          </a:p>
          <a:p>
            <a:pPr>
              <a:lnSpc>
                <a:spcPct val="150000"/>
              </a:lnSpc>
            </a:pPr>
            <a:r>
              <a:rPr lang="en-US" sz="2800" dirty="0">
                <a:latin typeface="Calibir"/>
              </a:rPr>
              <a:t>For example, JSON or CSV may help you think about what information needs to be stored.</a:t>
            </a:r>
          </a:p>
          <a:p>
            <a:pPr>
              <a:lnSpc>
                <a:spcPct val="150000"/>
              </a:lnSpc>
            </a:pPr>
            <a:r>
              <a:rPr lang="en-US" sz="2800" dirty="0">
                <a:latin typeface="Calibir"/>
              </a:rPr>
              <a:t>But a separate file-format design is not one of the three assessed Part 1 deliverables.</a:t>
            </a:r>
          </a:p>
        </p:txBody>
      </p:sp>
    </p:spTree>
    <p:extLst>
      <p:ext uri="{BB962C8B-B14F-4D97-AF65-F5344CB8AC3E}">
        <p14:creationId xmlns:p14="http://schemas.microsoft.com/office/powerpoint/2010/main" val="3953922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animEffect transition="in" filter="fade">
                                      <p:cBhvr>
                                        <p:cTn id="17" dur="1000"/>
                                        <p:tgtEl>
                                          <p:spTgt spid="5">
                                            <p:txEl>
                                              <p:pRg st="5" end="5"/>
                                            </p:txEl>
                                          </p:spTgt>
                                        </p:tgtEl>
                                      </p:cBhvr>
                                    </p:animEffect>
                                    <p:anim calcmode="lin" valueType="num">
                                      <p:cBhvr>
                                        <p:cTn id="18"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fade">
                                      <p:cBhvr>
                                        <p:cTn id="22" dur="1000"/>
                                        <p:tgtEl>
                                          <p:spTgt spid="5">
                                            <p:txEl>
                                              <p:pRg st="6" end="6"/>
                                            </p:txEl>
                                          </p:spTgt>
                                        </p:tgtEl>
                                      </p:cBhvr>
                                    </p:animEffect>
                                    <p:anim calcmode="lin" valueType="num">
                                      <p:cBhvr>
                                        <p:cTn id="23"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fade">
                                      <p:cBhvr>
                                        <p:cTn id="27" dur="1000"/>
                                        <p:tgtEl>
                                          <p:spTgt spid="5">
                                            <p:txEl>
                                              <p:pRg st="7" end="7"/>
                                            </p:txEl>
                                          </p:spTgt>
                                        </p:tgtEl>
                                      </p:cBhvr>
                                    </p:animEffect>
                                    <p:anim calcmode="lin" valueType="num">
                                      <p:cBhvr>
                                        <p:cTn id="28"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F20B4-23B0-A917-A305-AAF5D7D95D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CD7514-F7F7-639A-4386-CDE24B41388F}"/>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5" name="TextBox 4">
            <a:extLst>
              <a:ext uri="{FF2B5EF4-FFF2-40B4-BE49-F238E27FC236}">
                <a16:creationId xmlns:a16="http://schemas.microsoft.com/office/drawing/2014/main" id="{7DBA358C-E37A-415D-759A-F422989B4817}"/>
              </a:ext>
            </a:extLst>
          </p:cNvPr>
          <p:cNvSpPr txBox="1"/>
          <p:nvPr/>
        </p:nvSpPr>
        <p:spPr>
          <a:xfrm>
            <a:off x="1" y="2123578"/>
            <a:ext cx="12191999" cy="2610843"/>
          </a:xfrm>
          <a:prstGeom prst="rect">
            <a:avLst/>
          </a:prstGeom>
          <a:noFill/>
        </p:spPr>
        <p:txBody>
          <a:bodyPr wrap="square">
            <a:spAutoFit/>
          </a:bodyPr>
          <a:lstStyle/>
          <a:p>
            <a:pPr>
              <a:lnSpc>
                <a:spcPct val="150000"/>
              </a:lnSpc>
            </a:pPr>
            <a:r>
              <a:rPr lang="en-US" sz="2800" b="1" dirty="0">
                <a:latin typeface="Calibir"/>
              </a:rPr>
              <a:t>Focus first on:</a:t>
            </a:r>
          </a:p>
          <a:p>
            <a:pPr marL="722313" indent="-457200">
              <a:lnSpc>
                <a:spcPct val="150000"/>
              </a:lnSpc>
              <a:buFont typeface="Arial" panose="020B0604020202020204" pitchFamily="34" charset="0"/>
              <a:buChar char="•"/>
            </a:pPr>
            <a:r>
              <a:rPr lang="en-US" sz="2800" dirty="0">
                <a:latin typeface="Calibir"/>
              </a:rPr>
              <a:t>Backlog</a:t>
            </a:r>
          </a:p>
          <a:p>
            <a:pPr marL="722313" indent="-457200">
              <a:lnSpc>
                <a:spcPct val="150000"/>
              </a:lnSpc>
              <a:buFont typeface="Arial" panose="020B0604020202020204" pitchFamily="34" charset="0"/>
              <a:buChar char="•"/>
            </a:pPr>
            <a:r>
              <a:rPr lang="en-US" sz="2800" dirty="0">
                <a:latin typeface="Calibir"/>
              </a:rPr>
              <a:t>Use Case Diagram</a:t>
            </a:r>
          </a:p>
          <a:p>
            <a:pPr marL="722313" indent="-457200">
              <a:lnSpc>
                <a:spcPct val="150000"/>
              </a:lnSpc>
              <a:buFont typeface="Arial" panose="020B0604020202020204" pitchFamily="34" charset="0"/>
              <a:buChar char="•"/>
            </a:pPr>
            <a:r>
              <a:rPr lang="en-US" sz="2800" dirty="0">
                <a:latin typeface="Calibir"/>
              </a:rPr>
              <a:t>Class Diagram</a:t>
            </a:r>
          </a:p>
        </p:txBody>
      </p:sp>
    </p:spTree>
    <p:extLst>
      <p:ext uri="{BB962C8B-B14F-4D97-AF65-F5344CB8AC3E}">
        <p14:creationId xmlns:p14="http://schemas.microsoft.com/office/powerpoint/2010/main" val="12403372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269E3-3C42-6E96-5B9B-4BAFAADDCB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77E5F-8679-3136-5579-28163EAF2020}"/>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5" name="TextBox 4">
            <a:extLst>
              <a:ext uri="{FF2B5EF4-FFF2-40B4-BE49-F238E27FC236}">
                <a16:creationId xmlns:a16="http://schemas.microsoft.com/office/drawing/2014/main" id="{979C4FFE-30D0-C2B0-CE99-FAD791ABE12A}"/>
              </a:ext>
            </a:extLst>
          </p:cNvPr>
          <p:cNvSpPr txBox="1"/>
          <p:nvPr/>
        </p:nvSpPr>
        <p:spPr>
          <a:xfrm>
            <a:off x="0" y="530752"/>
            <a:ext cx="12191999" cy="5196166"/>
          </a:xfrm>
          <a:prstGeom prst="rect">
            <a:avLst/>
          </a:prstGeom>
          <a:noFill/>
        </p:spPr>
        <p:txBody>
          <a:bodyPr wrap="square">
            <a:spAutoFit/>
          </a:bodyPr>
          <a:lstStyle/>
          <a:p>
            <a:pPr>
              <a:lnSpc>
                <a:spcPct val="150000"/>
              </a:lnSpc>
            </a:pPr>
            <a:r>
              <a:rPr lang="en-US" sz="2800" b="1" dirty="0">
                <a:latin typeface="Calibir"/>
              </a:rPr>
              <a:t>11. CLI and GUI Are Not Actors</a:t>
            </a:r>
          </a:p>
          <a:p>
            <a:pPr>
              <a:lnSpc>
                <a:spcPct val="150000"/>
              </a:lnSpc>
            </a:pPr>
            <a:r>
              <a:rPr lang="en-US" sz="2800" b="1" dirty="0">
                <a:latin typeface="Calibir"/>
              </a:rPr>
              <a:t>Question) </a:t>
            </a:r>
            <a:r>
              <a:rPr lang="en-US" sz="2800" dirty="0">
                <a:latin typeface="Calibir"/>
              </a:rPr>
              <a:t>Should </a:t>
            </a:r>
            <a:r>
              <a:rPr lang="en-US" sz="2800" dirty="0" err="1">
                <a:latin typeface="Calibir"/>
              </a:rPr>
              <a:t>CLIUniApp</a:t>
            </a:r>
            <a:r>
              <a:rPr lang="en-US" sz="2800" dirty="0">
                <a:latin typeface="Calibir"/>
              </a:rPr>
              <a:t> or </a:t>
            </a:r>
            <a:r>
              <a:rPr lang="en-US" sz="2800" dirty="0" err="1">
                <a:latin typeface="Calibir"/>
              </a:rPr>
              <a:t>GUIUniApp</a:t>
            </a:r>
            <a:r>
              <a:rPr lang="en-US" sz="2800" dirty="0">
                <a:latin typeface="Calibir"/>
              </a:rPr>
              <a:t> be actors?</a:t>
            </a:r>
          </a:p>
          <a:p>
            <a:pPr>
              <a:lnSpc>
                <a:spcPct val="150000"/>
              </a:lnSpc>
            </a:pPr>
            <a:r>
              <a:rPr lang="en-US" sz="2800" dirty="0">
                <a:latin typeface="Calibir"/>
              </a:rPr>
              <a:t>No.</a:t>
            </a:r>
          </a:p>
          <a:p>
            <a:pPr>
              <a:lnSpc>
                <a:spcPct val="150000"/>
              </a:lnSpc>
            </a:pPr>
            <a:r>
              <a:rPr lang="en-US" sz="2800" dirty="0">
                <a:latin typeface="Calibir"/>
              </a:rPr>
              <a:t>They are parts/interfaces of the application, not external users.</a:t>
            </a:r>
          </a:p>
          <a:p>
            <a:pPr>
              <a:lnSpc>
                <a:spcPct val="150000"/>
              </a:lnSpc>
            </a:pPr>
            <a:r>
              <a:rPr lang="en-US" sz="2800" dirty="0">
                <a:latin typeface="Calibir"/>
              </a:rPr>
              <a:t>The brief states that </a:t>
            </a:r>
            <a:r>
              <a:rPr lang="en-US" sz="2800" dirty="0" err="1">
                <a:latin typeface="Calibir"/>
              </a:rPr>
              <a:t>CLIUniApp</a:t>
            </a:r>
            <a:r>
              <a:rPr lang="en-US" sz="2800" dirty="0">
                <a:latin typeface="Calibir"/>
              </a:rPr>
              <a:t> provides Student and Admin subsystems, while </a:t>
            </a:r>
            <a:r>
              <a:rPr lang="en-US" sz="2800" dirty="0" err="1">
                <a:latin typeface="Calibir"/>
              </a:rPr>
              <a:t>GUIUniApp</a:t>
            </a:r>
            <a:r>
              <a:rPr lang="en-US" sz="2800" dirty="0">
                <a:latin typeface="Calibir"/>
              </a:rPr>
              <a:t> is a smaller Part 2 challenge for registered students. </a:t>
            </a:r>
          </a:p>
          <a:p>
            <a:pPr>
              <a:lnSpc>
                <a:spcPct val="150000"/>
              </a:lnSpc>
            </a:pPr>
            <a:r>
              <a:rPr lang="en-US" sz="2800" b="1" dirty="0">
                <a:latin typeface="Calibir"/>
              </a:rPr>
              <a:t>Remember</a:t>
            </a:r>
          </a:p>
          <a:p>
            <a:pPr>
              <a:lnSpc>
                <a:spcPct val="150000"/>
              </a:lnSpc>
            </a:pPr>
            <a:r>
              <a:rPr lang="en-US" sz="2800" dirty="0">
                <a:latin typeface="Calibir"/>
              </a:rPr>
              <a:t>An actor is outside the system and interacts with it.</a:t>
            </a:r>
          </a:p>
        </p:txBody>
      </p:sp>
    </p:spTree>
    <p:extLst>
      <p:ext uri="{BB962C8B-B14F-4D97-AF65-F5344CB8AC3E}">
        <p14:creationId xmlns:p14="http://schemas.microsoft.com/office/powerpoint/2010/main" val="2094985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EA1D7-8CEF-047B-36DF-D05E6B9D04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07C91C-83FF-3C26-AB28-0738A959C9B1}"/>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5" name="TextBox 4">
            <a:extLst>
              <a:ext uri="{FF2B5EF4-FFF2-40B4-BE49-F238E27FC236}">
                <a16:creationId xmlns:a16="http://schemas.microsoft.com/office/drawing/2014/main" id="{8539E6CA-038E-1909-BBE0-792DD1FA2CA5}"/>
              </a:ext>
            </a:extLst>
          </p:cNvPr>
          <p:cNvSpPr txBox="1"/>
          <p:nvPr/>
        </p:nvSpPr>
        <p:spPr>
          <a:xfrm>
            <a:off x="0" y="530752"/>
            <a:ext cx="12191999" cy="3903504"/>
          </a:xfrm>
          <a:prstGeom prst="rect">
            <a:avLst/>
          </a:prstGeom>
          <a:noFill/>
        </p:spPr>
        <p:txBody>
          <a:bodyPr wrap="square">
            <a:spAutoFit/>
          </a:bodyPr>
          <a:lstStyle/>
          <a:p>
            <a:pPr>
              <a:lnSpc>
                <a:spcPct val="150000"/>
              </a:lnSpc>
            </a:pPr>
            <a:r>
              <a:rPr lang="en-US" sz="2800" b="1" dirty="0">
                <a:latin typeface="Calibir"/>
              </a:rPr>
              <a:t>12. Don't Overdesign Part 1</a:t>
            </a:r>
          </a:p>
          <a:p>
            <a:pPr>
              <a:lnSpc>
                <a:spcPct val="150000"/>
              </a:lnSpc>
            </a:pPr>
            <a:r>
              <a:rPr lang="en-US" sz="2800" dirty="0">
                <a:latin typeface="Calibir"/>
              </a:rPr>
              <a:t>Part 1 is about: requirements analysis</a:t>
            </a:r>
          </a:p>
          <a:p>
            <a:pPr>
              <a:lnSpc>
                <a:spcPct val="150000"/>
              </a:lnSpc>
            </a:pPr>
            <a:r>
              <a:rPr lang="en-US" sz="2800" dirty="0">
                <a:latin typeface="Calibir"/>
              </a:rPr>
              <a:t>And software design.</a:t>
            </a:r>
          </a:p>
          <a:p>
            <a:pPr>
              <a:lnSpc>
                <a:spcPct val="150000"/>
              </a:lnSpc>
            </a:pPr>
            <a:r>
              <a:rPr lang="en-US" sz="2800" dirty="0">
                <a:latin typeface="Calibir"/>
              </a:rPr>
              <a:t>It is not necessary to implement the software for Part 1.</a:t>
            </a:r>
          </a:p>
          <a:p>
            <a:pPr>
              <a:lnSpc>
                <a:spcPct val="150000"/>
              </a:lnSpc>
            </a:pPr>
            <a:r>
              <a:rPr lang="en-US" sz="2800" dirty="0">
                <a:latin typeface="Calibir"/>
              </a:rPr>
              <a:t>The brief states that implementation happens in Part 2. </a:t>
            </a:r>
          </a:p>
          <a:p>
            <a:pPr>
              <a:lnSpc>
                <a:spcPct val="150000"/>
              </a:lnSpc>
            </a:pPr>
            <a:r>
              <a:rPr lang="en-US" sz="2800" dirty="0">
                <a:latin typeface="Calibir"/>
              </a:rPr>
              <a:t>So concentrate on producing a design that could later guide implementation.</a:t>
            </a:r>
          </a:p>
        </p:txBody>
      </p:sp>
    </p:spTree>
    <p:extLst>
      <p:ext uri="{BB962C8B-B14F-4D97-AF65-F5344CB8AC3E}">
        <p14:creationId xmlns:p14="http://schemas.microsoft.com/office/powerpoint/2010/main" val="1679045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37B6D-2C51-D932-6D46-961B1B8E9A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D713A5-A166-B9AE-CC20-F5CAFCB87128}"/>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5" name="TextBox 4">
            <a:extLst>
              <a:ext uri="{FF2B5EF4-FFF2-40B4-BE49-F238E27FC236}">
                <a16:creationId xmlns:a16="http://schemas.microsoft.com/office/drawing/2014/main" id="{1373DB26-B342-85D5-0DEC-1510D4F13595}"/>
              </a:ext>
            </a:extLst>
          </p:cNvPr>
          <p:cNvSpPr txBox="1"/>
          <p:nvPr/>
        </p:nvSpPr>
        <p:spPr>
          <a:xfrm>
            <a:off x="0" y="530752"/>
            <a:ext cx="12191999" cy="6488828"/>
          </a:xfrm>
          <a:prstGeom prst="rect">
            <a:avLst/>
          </a:prstGeom>
          <a:noFill/>
        </p:spPr>
        <p:txBody>
          <a:bodyPr wrap="square">
            <a:spAutoFit/>
          </a:bodyPr>
          <a:lstStyle/>
          <a:p>
            <a:pPr>
              <a:lnSpc>
                <a:spcPct val="150000"/>
              </a:lnSpc>
            </a:pPr>
            <a:r>
              <a:rPr lang="en-US" sz="2800" b="1" dirty="0">
                <a:latin typeface="Calibir"/>
              </a:rPr>
              <a:t>Group Activity) </a:t>
            </a:r>
          </a:p>
          <a:p>
            <a:pPr>
              <a:lnSpc>
                <a:spcPct val="150000"/>
              </a:lnSpc>
            </a:pPr>
            <a:r>
              <a:rPr lang="en-US" sz="2800" b="1" dirty="0">
                <a:latin typeface="Calibir"/>
              </a:rPr>
              <a:t>Requirement</a:t>
            </a:r>
          </a:p>
          <a:p>
            <a:pPr>
              <a:lnSpc>
                <a:spcPct val="150000"/>
              </a:lnSpc>
            </a:pPr>
            <a:r>
              <a:rPr lang="en-US" sz="2800" dirty="0">
                <a:latin typeface="Calibir"/>
              </a:rPr>
              <a:t>Upon enrolment, a random subject mark between 25 and 100 will be autogenerated and assigned. The grade will then be automatically calculated.</a:t>
            </a:r>
          </a:p>
          <a:p>
            <a:pPr>
              <a:lnSpc>
                <a:spcPct val="150000"/>
              </a:lnSpc>
            </a:pPr>
            <a:r>
              <a:rPr lang="en-US" sz="2800" b="1" dirty="0">
                <a:latin typeface="Calibir"/>
              </a:rPr>
              <a:t>Who starts the overall process?</a:t>
            </a:r>
          </a:p>
          <a:p>
            <a:pPr>
              <a:lnSpc>
                <a:spcPct val="150000"/>
              </a:lnSpc>
            </a:pPr>
            <a:r>
              <a:rPr lang="en-US" sz="2800" dirty="0">
                <a:latin typeface="Calibir"/>
              </a:rPr>
              <a:t>Student, by choosing to </a:t>
            </a:r>
            <a:r>
              <a:rPr lang="en-US" sz="2800" dirty="0" err="1">
                <a:latin typeface="Calibir"/>
              </a:rPr>
              <a:t>enrol</a:t>
            </a:r>
            <a:r>
              <a:rPr lang="en-US" sz="2800" dirty="0">
                <a:latin typeface="Calibir"/>
              </a:rPr>
              <a:t>.</a:t>
            </a:r>
          </a:p>
          <a:p>
            <a:pPr>
              <a:lnSpc>
                <a:spcPct val="150000"/>
              </a:lnSpc>
            </a:pPr>
            <a:r>
              <a:rPr lang="en-US" sz="2800" b="1" dirty="0">
                <a:latin typeface="Calibir"/>
              </a:rPr>
              <a:t>Who generates the mark?</a:t>
            </a:r>
          </a:p>
          <a:p>
            <a:pPr>
              <a:lnSpc>
                <a:spcPct val="150000"/>
              </a:lnSpc>
            </a:pPr>
            <a:r>
              <a:rPr lang="en-US" sz="2800" dirty="0">
                <a:latin typeface="Calibir"/>
              </a:rPr>
              <a:t>The system.</a:t>
            </a:r>
          </a:p>
          <a:p>
            <a:pPr>
              <a:lnSpc>
                <a:spcPct val="150000"/>
              </a:lnSpc>
            </a:pPr>
            <a:r>
              <a:rPr lang="en-US" sz="2800" b="1" dirty="0">
                <a:latin typeface="Calibir"/>
              </a:rPr>
              <a:t>Is generating the mark a separate external actor goal?</a:t>
            </a:r>
          </a:p>
          <a:p>
            <a:pPr>
              <a:lnSpc>
                <a:spcPct val="150000"/>
              </a:lnSpc>
            </a:pPr>
            <a:r>
              <a:rPr lang="en-US" sz="2800" dirty="0">
                <a:latin typeface="Calibir"/>
              </a:rPr>
              <a:t>No. It is automatic supporting </a:t>
            </a:r>
            <a:r>
              <a:rPr lang="en-US" sz="2800" dirty="0" err="1">
                <a:latin typeface="Calibir"/>
              </a:rPr>
              <a:t>behaviour</a:t>
            </a:r>
            <a:r>
              <a:rPr lang="en-US" sz="2800" dirty="0">
                <a:latin typeface="Calibir"/>
              </a:rPr>
              <a:t>.</a:t>
            </a:r>
          </a:p>
        </p:txBody>
      </p:sp>
    </p:spTree>
    <p:extLst>
      <p:ext uri="{BB962C8B-B14F-4D97-AF65-F5344CB8AC3E}">
        <p14:creationId xmlns:p14="http://schemas.microsoft.com/office/powerpoint/2010/main" val="3099179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fade">
                                      <p:cBhvr>
                                        <p:cTn id="7" dur="1000"/>
                                        <p:tgtEl>
                                          <p:spTgt spid="5">
                                            <p:txEl>
                                              <p:pRg st="4" end="4"/>
                                            </p:txEl>
                                          </p:spTgt>
                                        </p:tgtEl>
                                      </p:cBhvr>
                                    </p:animEffect>
                                    <p:anim calcmode="lin" valueType="num">
                                      <p:cBhvr>
                                        <p:cTn id="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6" end="6"/>
                                            </p:txEl>
                                          </p:spTgt>
                                        </p:tgtEl>
                                        <p:attrNameLst>
                                          <p:attrName>style.visibility</p:attrName>
                                        </p:attrNameLst>
                                      </p:cBhvr>
                                      <p:to>
                                        <p:strVal val="visible"/>
                                      </p:to>
                                    </p:set>
                                    <p:animEffect transition="in" filter="fade">
                                      <p:cBhvr>
                                        <p:cTn id="12" dur="1000"/>
                                        <p:tgtEl>
                                          <p:spTgt spid="5">
                                            <p:txEl>
                                              <p:pRg st="6" end="6"/>
                                            </p:txEl>
                                          </p:spTgt>
                                        </p:tgtEl>
                                      </p:cBhvr>
                                    </p:animEffect>
                                    <p:anim calcmode="lin" valueType="num">
                                      <p:cBhvr>
                                        <p:cTn id="13"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6" end="6"/>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8" end="8"/>
                                            </p:txEl>
                                          </p:spTgt>
                                        </p:tgtEl>
                                        <p:attrNameLst>
                                          <p:attrName>style.visibility</p:attrName>
                                        </p:attrNameLst>
                                      </p:cBhvr>
                                      <p:to>
                                        <p:strVal val="visible"/>
                                      </p:to>
                                    </p:set>
                                    <p:animEffect transition="in" filter="fade">
                                      <p:cBhvr>
                                        <p:cTn id="17" dur="1000"/>
                                        <p:tgtEl>
                                          <p:spTgt spid="5">
                                            <p:txEl>
                                              <p:pRg st="8" end="8"/>
                                            </p:txEl>
                                          </p:spTgt>
                                        </p:tgtEl>
                                      </p:cBhvr>
                                    </p:animEffect>
                                    <p:anim calcmode="lin" valueType="num">
                                      <p:cBhvr>
                                        <p:cTn id="18"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324A5-338C-7E01-F7F4-22CD06F9EE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3C95D6-11A8-1E78-7751-203051AAC8E7}"/>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5" name="TextBox 4">
            <a:extLst>
              <a:ext uri="{FF2B5EF4-FFF2-40B4-BE49-F238E27FC236}">
                <a16:creationId xmlns:a16="http://schemas.microsoft.com/office/drawing/2014/main" id="{A5DD42AC-FDD0-7575-F0D2-488780D10A73}"/>
              </a:ext>
            </a:extLst>
          </p:cNvPr>
          <p:cNvSpPr txBox="1"/>
          <p:nvPr/>
        </p:nvSpPr>
        <p:spPr>
          <a:xfrm>
            <a:off x="0" y="530752"/>
            <a:ext cx="12191999" cy="3257174"/>
          </a:xfrm>
          <a:prstGeom prst="rect">
            <a:avLst/>
          </a:prstGeom>
          <a:noFill/>
        </p:spPr>
        <p:txBody>
          <a:bodyPr wrap="square">
            <a:spAutoFit/>
          </a:bodyPr>
          <a:lstStyle/>
          <a:p>
            <a:pPr>
              <a:lnSpc>
                <a:spcPct val="150000"/>
              </a:lnSpc>
            </a:pPr>
            <a:r>
              <a:rPr lang="en-US" sz="2800" b="1" dirty="0">
                <a:latin typeface="Calibir"/>
              </a:rPr>
              <a:t>Where could this appear?</a:t>
            </a:r>
          </a:p>
          <a:p>
            <a:pPr>
              <a:lnSpc>
                <a:spcPct val="150000"/>
              </a:lnSpc>
            </a:pPr>
            <a:r>
              <a:rPr lang="en-US" sz="2800" dirty="0">
                <a:latin typeface="Calibir"/>
              </a:rPr>
              <a:t>It could be represented in the backlog as system </a:t>
            </a:r>
            <a:r>
              <a:rPr lang="en-US" sz="2800" dirty="0" err="1">
                <a:latin typeface="Calibir"/>
              </a:rPr>
              <a:t>behaviour</a:t>
            </a:r>
            <a:r>
              <a:rPr lang="en-US" sz="2800" dirty="0">
                <a:latin typeface="Calibir"/>
              </a:rPr>
              <a:t> and supported appropriately in the design.</a:t>
            </a:r>
          </a:p>
          <a:p>
            <a:pPr>
              <a:lnSpc>
                <a:spcPct val="150000"/>
              </a:lnSpc>
            </a:pPr>
            <a:r>
              <a:rPr lang="en-US" sz="2800" dirty="0">
                <a:latin typeface="Calibir"/>
              </a:rPr>
              <a:t>This is a very useful example because it reinforces the difference between Student as UML actor and System as an entity performing an automatic backlog action.</a:t>
            </a:r>
          </a:p>
        </p:txBody>
      </p:sp>
    </p:spTree>
    <p:extLst>
      <p:ext uri="{BB962C8B-B14F-4D97-AF65-F5344CB8AC3E}">
        <p14:creationId xmlns:p14="http://schemas.microsoft.com/office/powerpoint/2010/main" val="2172810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92552-FD1E-F9C5-4187-6868581396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3C46F-3F72-1A6C-B3FC-637BEADDA02E}"/>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
        <p:nvSpPr>
          <p:cNvPr id="5" name="TextBox 4">
            <a:extLst>
              <a:ext uri="{FF2B5EF4-FFF2-40B4-BE49-F238E27FC236}">
                <a16:creationId xmlns:a16="http://schemas.microsoft.com/office/drawing/2014/main" id="{DA61A6A6-F35F-A7E8-5AF6-0D98539B97C2}"/>
              </a:ext>
            </a:extLst>
          </p:cNvPr>
          <p:cNvSpPr txBox="1"/>
          <p:nvPr/>
        </p:nvSpPr>
        <p:spPr>
          <a:xfrm>
            <a:off x="0" y="530752"/>
            <a:ext cx="12191999" cy="6488828"/>
          </a:xfrm>
          <a:prstGeom prst="rect">
            <a:avLst/>
          </a:prstGeom>
          <a:noFill/>
        </p:spPr>
        <p:txBody>
          <a:bodyPr wrap="square">
            <a:spAutoFit/>
          </a:bodyPr>
          <a:lstStyle/>
          <a:p>
            <a:pPr>
              <a:lnSpc>
                <a:spcPct val="150000"/>
              </a:lnSpc>
            </a:pPr>
            <a:r>
              <a:rPr lang="en-US" sz="2800" b="1" dirty="0">
                <a:latin typeface="Calibir"/>
              </a:rPr>
              <a:t>Final Part 1 Check Before Submission</a:t>
            </a:r>
          </a:p>
          <a:p>
            <a:pPr marL="457200" indent="-457200">
              <a:lnSpc>
                <a:spcPct val="150000"/>
              </a:lnSpc>
              <a:buFont typeface="Wingdings" panose="05000000000000000000" pitchFamily="2" charset="2"/>
              <a:buChar char="q"/>
            </a:pPr>
            <a:r>
              <a:rPr lang="en-US" sz="2800" dirty="0">
                <a:latin typeface="Calibir"/>
              </a:rPr>
              <a:t>Students should be able to answer Yes to all of these:</a:t>
            </a:r>
          </a:p>
          <a:p>
            <a:pPr marL="457200" lvl="0" indent="-457200">
              <a:lnSpc>
                <a:spcPct val="150000"/>
              </a:lnSpc>
              <a:buFont typeface="Wingdings" panose="05000000000000000000" pitchFamily="2" charset="2"/>
              <a:buChar char="q"/>
            </a:pPr>
            <a:r>
              <a:rPr lang="en-US" sz="2800" dirty="0">
                <a:latin typeface="Calibir"/>
              </a:rPr>
              <a:t>My backlog uses ID | User | Action | Result/Outcome | Function. </a:t>
            </a:r>
          </a:p>
          <a:p>
            <a:pPr marL="457200" lvl="0" indent="-457200">
              <a:lnSpc>
                <a:spcPct val="150000"/>
              </a:lnSpc>
              <a:buFont typeface="Wingdings" panose="05000000000000000000" pitchFamily="2" charset="2"/>
              <a:buChar char="q"/>
            </a:pPr>
            <a:r>
              <a:rPr lang="en-US" sz="2800" dirty="0">
                <a:latin typeface="Calibir"/>
              </a:rPr>
              <a:t>Every story has a unique 3-digit ID. </a:t>
            </a:r>
          </a:p>
          <a:p>
            <a:pPr marL="457200" lvl="0" indent="-457200">
              <a:lnSpc>
                <a:spcPct val="150000"/>
              </a:lnSpc>
              <a:buFont typeface="Wingdings" panose="05000000000000000000" pitchFamily="2" charset="2"/>
              <a:buChar char="q"/>
            </a:pPr>
            <a:r>
              <a:rPr lang="en-US" sz="2800" dirty="0">
                <a:latin typeface="Calibir"/>
              </a:rPr>
              <a:t>Stories from the same feature use a consistent hundreds group. </a:t>
            </a:r>
          </a:p>
          <a:p>
            <a:pPr marL="457200" lvl="0" indent="-457200">
              <a:lnSpc>
                <a:spcPct val="150000"/>
              </a:lnSpc>
              <a:buFont typeface="Wingdings" panose="05000000000000000000" pitchFamily="2" charset="2"/>
              <a:buChar char="q"/>
            </a:pPr>
            <a:r>
              <a:rPr lang="en-US" sz="2800" dirty="0">
                <a:latin typeface="Calibir"/>
              </a:rPr>
              <a:t>Each backlog row describes one clear action and outcome. </a:t>
            </a:r>
          </a:p>
          <a:p>
            <a:pPr marL="457200" lvl="0" indent="-457200">
              <a:lnSpc>
                <a:spcPct val="150000"/>
              </a:lnSpc>
              <a:buFont typeface="Wingdings" panose="05000000000000000000" pitchFamily="2" charset="2"/>
              <a:buChar char="q"/>
            </a:pPr>
            <a:r>
              <a:rPr lang="en-US" sz="2800" dirty="0">
                <a:latin typeface="Calibir"/>
              </a:rPr>
              <a:t>I understand that System may appear as a backlog entity where appropriate. </a:t>
            </a:r>
          </a:p>
          <a:p>
            <a:pPr marL="457200" lvl="0" indent="-457200">
              <a:lnSpc>
                <a:spcPct val="150000"/>
              </a:lnSpc>
              <a:buFont typeface="Wingdings" panose="05000000000000000000" pitchFamily="2" charset="2"/>
              <a:buChar char="q"/>
            </a:pPr>
            <a:r>
              <a:rPr lang="en-US" sz="2800" dirty="0">
                <a:latin typeface="Calibir"/>
              </a:rPr>
              <a:t>My Use Case Diagram has Student and Admin as external actors. </a:t>
            </a:r>
          </a:p>
          <a:p>
            <a:pPr marL="457200" lvl="0" indent="-457200">
              <a:lnSpc>
                <a:spcPct val="150000"/>
              </a:lnSpc>
              <a:buFont typeface="Wingdings" panose="05000000000000000000" pitchFamily="2" charset="2"/>
              <a:buChar char="q"/>
            </a:pPr>
            <a:r>
              <a:rPr lang="en-US" sz="2800" dirty="0">
                <a:latin typeface="Calibir"/>
              </a:rPr>
              <a:t>I have not used System, </a:t>
            </a:r>
            <a:r>
              <a:rPr lang="en-US" sz="2800" dirty="0" err="1">
                <a:latin typeface="Calibir"/>
              </a:rPr>
              <a:t>CLIUniApp</a:t>
            </a:r>
            <a:r>
              <a:rPr lang="en-US" sz="2800" dirty="0">
                <a:latin typeface="Calibir"/>
              </a:rPr>
              <a:t>, </a:t>
            </a:r>
            <a:r>
              <a:rPr lang="en-US" sz="2800" dirty="0" err="1">
                <a:latin typeface="Calibir"/>
              </a:rPr>
              <a:t>GUIUniApp</a:t>
            </a:r>
            <a:r>
              <a:rPr lang="en-US" sz="2800" dirty="0">
                <a:latin typeface="Calibir"/>
              </a:rPr>
              <a:t> or </a:t>
            </a:r>
            <a:r>
              <a:rPr lang="en-US" sz="2800" dirty="0" err="1">
                <a:latin typeface="Calibir"/>
              </a:rPr>
              <a:t>students.data</a:t>
            </a:r>
            <a:r>
              <a:rPr lang="en-US" sz="2800" dirty="0">
                <a:latin typeface="Calibir"/>
              </a:rPr>
              <a:t> as human actors. </a:t>
            </a:r>
          </a:p>
        </p:txBody>
      </p:sp>
    </p:spTree>
    <p:extLst>
      <p:ext uri="{BB962C8B-B14F-4D97-AF65-F5344CB8AC3E}">
        <p14:creationId xmlns:p14="http://schemas.microsoft.com/office/powerpoint/2010/main" val="5367793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9DDAB-68F3-4482-3075-4EE4978422F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920FCB0-3CA4-E529-56AA-2346807327EA}"/>
              </a:ext>
            </a:extLst>
          </p:cNvPr>
          <p:cNvSpPr txBox="1"/>
          <p:nvPr/>
        </p:nvSpPr>
        <p:spPr>
          <a:xfrm>
            <a:off x="1" y="-138579"/>
            <a:ext cx="12191999" cy="7135158"/>
          </a:xfrm>
          <a:prstGeom prst="rect">
            <a:avLst/>
          </a:prstGeom>
          <a:noFill/>
        </p:spPr>
        <p:txBody>
          <a:bodyPr wrap="square">
            <a:spAutoFit/>
          </a:bodyPr>
          <a:lstStyle/>
          <a:p>
            <a:pPr marL="457200" lvl="0" indent="-457200">
              <a:lnSpc>
                <a:spcPct val="150000"/>
              </a:lnSpc>
              <a:buFont typeface="Wingdings" panose="05000000000000000000" pitchFamily="2" charset="2"/>
              <a:buChar char="q"/>
            </a:pPr>
            <a:r>
              <a:rPr lang="en-US" sz="2800" dirty="0">
                <a:latin typeface="Calibir"/>
              </a:rPr>
              <a:t>My use cases come from the requirements. </a:t>
            </a:r>
          </a:p>
          <a:p>
            <a:pPr marL="457200" lvl="0" indent="-457200">
              <a:lnSpc>
                <a:spcPct val="150000"/>
              </a:lnSpc>
              <a:buFont typeface="Wingdings" panose="05000000000000000000" pitchFamily="2" charset="2"/>
              <a:buChar char="q"/>
            </a:pPr>
            <a:r>
              <a:rPr lang="en-US" sz="2800" dirty="0">
                <a:latin typeface="Calibir"/>
              </a:rPr>
              <a:t>My associations connect the correct actor and use case. </a:t>
            </a:r>
          </a:p>
          <a:p>
            <a:pPr marL="457200" lvl="0" indent="-457200">
              <a:lnSpc>
                <a:spcPct val="150000"/>
              </a:lnSpc>
              <a:buFont typeface="Wingdings" panose="05000000000000000000" pitchFamily="2" charset="2"/>
              <a:buChar char="q"/>
            </a:pPr>
            <a:r>
              <a:rPr lang="en-US" sz="2800" dirty="0">
                <a:latin typeface="Calibir"/>
              </a:rPr>
              <a:t>My &lt;&lt;include&gt;&gt; and &lt;&lt;extend&gt;&gt; relationships have a clear reason. </a:t>
            </a:r>
          </a:p>
          <a:p>
            <a:pPr marL="457200" lvl="0" indent="-457200">
              <a:lnSpc>
                <a:spcPct val="150000"/>
              </a:lnSpc>
              <a:buFont typeface="Wingdings" panose="05000000000000000000" pitchFamily="2" charset="2"/>
              <a:buChar char="q"/>
            </a:pPr>
            <a:r>
              <a:rPr lang="en-US" sz="2800" dirty="0">
                <a:latin typeface="Calibir"/>
              </a:rPr>
              <a:t>My class diagram has justified classes. </a:t>
            </a:r>
          </a:p>
          <a:p>
            <a:pPr marL="457200" lvl="0" indent="-457200">
              <a:lnSpc>
                <a:spcPct val="150000"/>
              </a:lnSpc>
              <a:buFont typeface="Wingdings" panose="05000000000000000000" pitchFamily="2" charset="2"/>
              <a:buChar char="q"/>
            </a:pPr>
            <a:r>
              <a:rPr lang="en-US" sz="2800" dirty="0">
                <a:latin typeface="Calibir"/>
              </a:rPr>
              <a:t>My attributes and methods have appropriate visibility. </a:t>
            </a:r>
          </a:p>
          <a:p>
            <a:pPr marL="457200" lvl="0" indent="-457200">
              <a:lnSpc>
                <a:spcPct val="150000"/>
              </a:lnSpc>
              <a:buFont typeface="Wingdings" panose="05000000000000000000" pitchFamily="2" charset="2"/>
              <a:buChar char="q"/>
            </a:pPr>
            <a:r>
              <a:rPr lang="en-US" sz="2800" dirty="0">
                <a:latin typeface="Calibir"/>
              </a:rPr>
              <a:t>My methods have sensible parameters/return types where needed. </a:t>
            </a:r>
          </a:p>
          <a:p>
            <a:pPr marL="457200" lvl="0" indent="-457200">
              <a:lnSpc>
                <a:spcPct val="150000"/>
              </a:lnSpc>
              <a:buFont typeface="Wingdings" panose="05000000000000000000" pitchFamily="2" charset="2"/>
              <a:buChar char="q"/>
            </a:pPr>
            <a:r>
              <a:rPr lang="en-US" sz="2800" dirty="0">
                <a:latin typeface="Calibir"/>
              </a:rPr>
              <a:t>My class relationships make sense. </a:t>
            </a:r>
          </a:p>
          <a:p>
            <a:pPr marL="457200" lvl="0" indent="-457200">
              <a:lnSpc>
                <a:spcPct val="150000"/>
              </a:lnSpc>
              <a:buFont typeface="Wingdings" panose="05000000000000000000" pitchFamily="2" charset="2"/>
              <a:buChar char="q"/>
            </a:pPr>
            <a:r>
              <a:rPr lang="en-US" sz="2800" dirty="0">
                <a:latin typeface="Calibir"/>
              </a:rPr>
              <a:t>My multiplicities reflect the requirements. </a:t>
            </a:r>
          </a:p>
          <a:p>
            <a:pPr marL="457200" lvl="0" indent="-457200">
              <a:lnSpc>
                <a:spcPct val="150000"/>
              </a:lnSpc>
              <a:buFont typeface="Wingdings" panose="05000000000000000000" pitchFamily="2" charset="2"/>
              <a:buChar char="q"/>
            </a:pPr>
            <a:r>
              <a:rPr lang="en-US" sz="2800" dirty="0">
                <a:latin typeface="Calibir"/>
              </a:rPr>
              <a:t>My backlog, use case diagram and class diagram are consistent with each other. </a:t>
            </a:r>
          </a:p>
          <a:p>
            <a:pPr marL="457200" lvl="0" indent="-457200">
              <a:lnSpc>
                <a:spcPct val="150000"/>
              </a:lnSpc>
              <a:buFont typeface="Wingdings" panose="05000000000000000000" pitchFamily="2" charset="2"/>
              <a:buChar char="q"/>
            </a:pPr>
            <a:r>
              <a:rPr lang="en-US" sz="2800" dirty="0">
                <a:latin typeface="Calibir"/>
              </a:rPr>
              <a:t>My diagrams have written explanations as required. </a:t>
            </a:r>
          </a:p>
          <a:p>
            <a:pPr marL="457200" indent="-457200">
              <a:lnSpc>
                <a:spcPct val="150000"/>
              </a:lnSpc>
              <a:buFont typeface="Wingdings" panose="05000000000000000000" pitchFamily="2" charset="2"/>
              <a:buChar char="q"/>
            </a:pPr>
            <a:r>
              <a:rPr lang="en-US" sz="2800" dirty="0">
                <a:latin typeface="Calibir"/>
              </a:rPr>
              <a:t>My group submits one PDF or DOCX file. </a:t>
            </a:r>
          </a:p>
        </p:txBody>
      </p:sp>
    </p:spTree>
    <p:extLst>
      <p:ext uri="{BB962C8B-B14F-4D97-AF65-F5344CB8AC3E}">
        <p14:creationId xmlns:p14="http://schemas.microsoft.com/office/powerpoint/2010/main" val="40129546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FD96B-2687-2C66-AEBC-1C6C45DB01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2231F50-5FB9-4263-3408-811C8CBD9744}"/>
              </a:ext>
            </a:extLst>
          </p:cNvPr>
          <p:cNvSpPr txBox="1"/>
          <p:nvPr/>
        </p:nvSpPr>
        <p:spPr>
          <a:xfrm>
            <a:off x="0" y="657922"/>
            <a:ext cx="12196916" cy="6247864"/>
          </a:xfrm>
          <a:prstGeom prst="rect">
            <a:avLst/>
          </a:prstGeom>
          <a:noFill/>
        </p:spPr>
        <p:txBody>
          <a:bodyPr wrap="square">
            <a:spAutoFit/>
          </a:bodyPr>
          <a:lstStyle/>
          <a:p>
            <a:pPr marL="0" marR="0" indent="0" algn="l" fontAlgn="base">
              <a:buNone/>
            </a:pPr>
            <a:r>
              <a:rPr lang="en-US" sz="2500" b="0" i="0" dirty="0">
                <a:solidFill>
                  <a:schemeClr val="tx1"/>
                </a:solidFill>
                <a:effectLst/>
                <a:latin typeface="Calibir"/>
              </a:rPr>
              <a:t>Dear Dr. Keivanian,</a:t>
            </a:r>
          </a:p>
          <a:p>
            <a:pPr marL="0" marR="0" indent="0" algn="l" rtl="0" fontAlgn="base">
              <a:buNone/>
            </a:pPr>
            <a:endParaRPr lang="en-US" sz="2500" b="0" i="0" dirty="0">
              <a:solidFill>
                <a:schemeClr val="tx1"/>
              </a:solidFill>
              <a:effectLst/>
              <a:latin typeface="Calibir"/>
            </a:endParaRPr>
          </a:p>
          <a:p>
            <a:pPr marL="0" marR="0" indent="0" algn="l" fontAlgn="base">
              <a:buNone/>
            </a:pPr>
            <a:r>
              <a:rPr lang="en-US" sz="2500" b="0" i="0" dirty="0">
                <a:solidFill>
                  <a:schemeClr val="tx1"/>
                </a:solidFill>
                <a:effectLst/>
                <a:latin typeface="Calibir"/>
              </a:rPr>
              <a:t>My name is …, a student in 32555 Fundamentals of Software Development. I have two questions about Assessment Task 1 Part 1:</a:t>
            </a:r>
          </a:p>
          <a:p>
            <a:pPr marL="0" marR="0" indent="0" algn="l" rtl="0" fontAlgn="base">
              <a:buNone/>
            </a:pPr>
            <a:endParaRPr lang="en-US" sz="2500" b="0" i="0" dirty="0">
              <a:solidFill>
                <a:schemeClr val="tx1"/>
              </a:solidFill>
              <a:effectLst/>
              <a:latin typeface="Calibir"/>
            </a:endParaRPr>
          </a:p>
          <a:p>
            <a:pPr marL="442913" marR="0" lvl="0" indent="-342900" algn="l" fontAlgn="base">
              <a:buFont typeface="+mj-lt"/>
              <a:buAutoNum type="arabicPeriod"/>
            </a:pPr>
            <a:r>
              <a:rPr lang="en-US" sz="2500" b="0" i="0" dirty="0">
                <a:solidFill>
                  <a:schemeClr val="tx1"/>
                </a:solidFill>
                <a:effectLst/>
                <a:latin typeface="Calibir"/>
              </a:rPr>
              <a:t>Is there a template we should follow when we write the product backlog, the use case diagram, and the class diagram? I want to make sure the format and the level of detail match what you expect.</a:t>
            </a:r>
          </a:p>
          <a:p>
            <a:pPr marL="442913" marR="0" indent="-342900" algn="l" rtl="0" fontAlgn="base">
              <a:buNone/>
            </a:pPr>
            <a:endParaRPr lang="en-US" sz="2500" b="0" i="0" dirty="0">
              <a:solidFill>
                <a:schemeClr val="tx1"/>
              </a:solidFill>
              <a:effectLst/>
              <a:latin typeface="Calibir"/>
            </a:endParaRPr>
          </a:p>
          <a:p>
            <a:pPr marL="442913" marR="0" lvl="0" indent="-342900" algn="l" fontAlgn="base">
              <a:buFont typeface="+mj-lt"/>
              <a:buAutoNum type="arabicPeriod" startAt="2"/>
            </a:pPr>
            <a:r>
              <a:rPr lang="en-US" sz="2500" b="0" i="0" dirty="0">
                <a:solidFill>
                  <a:schemeClr val="tx1"/>
                </a:solidFill>
                <a:effectLst/>
                <a:latin typeface="Calibir"/>
              </a:rPr>
              <a:t>For the roles in the backlog, should we include the system itself as a role, or should we put those actions under an Admin role instead?</a:t>
            </a:r>
          </a:p>
          <a:p>
            <a:pPr marL="0" marR="0" indent="0" algn="l" rtl="0" fontAlgn="base">
              <a:buNone/>
            </a:pPr>
            <a:endParaRPr lang="en-US" sz="2500" b="0" i="0" dirty="0">
              <a:solidFill>
                <a:schemeClr val="tx1"/>
              </a:solidFill>
              <a:effectLst/>
              <a:latin typeface="Calibir"/>
            </a:endParaRPr>
          </a:p>
          <a:p>
            <a:pPr marL="0" marR="0" indent="0" algn="l" fontAlgn="base">
              <a:buNone/>
            </a:pPr>
            <a:r>
              <a:rPr lang="en-US" sz="2500" b="0" i="0" dirty="0">
                <a:solidFill>
                  <a:schemeClr val="tx1"/>
                </a:solidFill>
                <a:effectLst/>
                <a:latin typeface="Calibir"/>
              </a:rPr>
              <a:t>Thank you for your time. I look forward to your reply.</a:t>
            </a:r>
          </a:p>
          <a:p>
            <a:pPr marL="0" marR="0" indent="0" algn="l" rtl="0" fontAlgn="base">
              <a:buNone/>
            </a:pPr>
            <a:endParaRPr lang="en-US" sz="2500" b="0" i="0" dirty="0">
              <a:solidFill>
                <a:schemeClr val="tx1"/>
              </a:solidFill>
              <a:effectLst/>
              <a:latin typeface="Calibir"/>
            </a:endParaRPr>
          </a:p>
          <a:p>
            <a:pPr marL="0" marR="0" indent="0" algn="l" fontAlgn="base">
              <a:buNone/>
            </a:pPr>
            <a:r>
              <a:rPr lang="en-US" sz="2500" b="0" i="0" dirty="0">
                <a:solidFill>
                  <a:schemeClr val="tx1"/>
                </a:solidFill>
                <a:effectLst/>
                <a:latin typeface="Calibir"/>
              </a:rPr>
              <a:t>Kind regards,</a:t>
            </a:r>
          </a:p>
          <a:p>
            <a:pPr marL="0" marR="0" indent="0" algn="l" fontAlgn="base">
              <a:buNone/>
            </a:pPr>
            <a:r>
              <a:rPr lang="en-US" sz="2500" b="0" i="0" dirty="0">
                <a:solidFill>
                  <a:schemeClr val="tx1"/>
                </a:solidFill>
                <a:effectLst/>
                <a:latin typeface="Calibir"/>
              </a:rPr>
              <a:t>….</a:t>
            </a:r>
            <a:endParaRPr lang="en-US" sz="2500" b="0" i="0" dirty="0">
              <a:solidFill>
                <a:srgbClr val="242424"/>
              </a:solidFill>
              <a:effectLst/>
              <a:latin typeface="Calibir"/>
            </a:endParaRPr>
          </a:p>
        </p:txBody>
      </p:sp>
      <p:sp>
        <p:nvSpPr>
          <p:cNvPr id="4" name="Title 1">
            <a:extLst>
              <a:ext uri="{FF2B5EF4-FFF2-40B4-BE49-F238E27FC236}">
                <a16:creationId xmlns:a16="http://schemas.microsoft.com/office/drawing/2014/main" id="{E3D78247-DA2D-7DFC-6A01-E71B06AAD4A8}"/>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Tree>
    <p:extLst>
      <p:ext uri="{BB962C8B-B14F-4D97-AF65-F5344CB8AC3E}">
        <p14:creationId xmlns:p14="http://schemas.microsoft.com/office/powerpoint/2010/main" val="24451268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7E5F2-57A4-BE99-59B5-3A3C12B2F92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4594A59-B1B3-90DA-F3B4-1FF14B473B48}"/>
              </a:ext>
            </a:extLst>
          </p:cNvPr>
          <p:cNvSpPr txBox="1"/>
          <p:nvPr/>
        </p:nvSpPr>
        <p:spPr>
          <a:xfrm>
            <a:off x="0" y="1154082"/>
            <a:ext cx="12005186" cy="4549835"/>
          </a:xfrm>
          <a:prstGeom prst="rect">
            <a:avLst/>
          </a:prstGeom>
          <a:noFill/>
        </p:spPr>
        <p:txBody>
          <a:bodyPr wrap="square">
            <a:spAutoFit/>
          </a:bodyPr>
          <a:lstStyle/>
          <a:p>
            <a:pPr marL="0" marR="0" indent="0" algn="l" fontAlgn="base">
              <a:lnSpc>
                <a:spcPct val="150000"/>
              </a:lnSpc>
              <a:buNone/>
            </a:pPr>
            <a:r>
              <a:rPr lang="en-US" sz="2800" b="0" i="0" dirty="0">
                <a:solidFill>
                  <a:schemeClr val="tx1"/>
                </a:solidFill>
                <a:effectLst/>
                <a:latin typeface="Calibir"/>
              </a:rPr>
              <a:t>Dear Daniel,</a:t>
            </a:r>
          </a:p>
          <a:p>
            <a:pPr marL="0" marR="0" indent="0" algn="l" fontAlgn="base">
              <a:lnSpc>
                <a:spcPct val="150000"/>
              </a:lnSpc>
              <a:buNone/>
            </a:pPr>
            <a:r>
              <a:rPr lang="en-US" sz="2800" b="0" i="0" dirty="0">
                <a:solidFill>
                  <a:schemeClr val="tx1"/>
                </a:solidFill>
                <a:effectLst/>
                <a:latin typeface="Calibir"/>
              </a:rPr>
              <a:t>No worries at all, and thanks for checking. You are active student. These are good questions.</a:t>
            </a:r>
          </a:p>
          <a:p>
            <a:pPr marL="0" marR="0" indent="0" algn="l" fontAlgn="base">
              <a:lnSpc>
                <a:spcPct val="150000"/>
              </a:lnSpc>
              <a:buNone/>
            </a:pPr>
            <a:r>
              <a:rPr lang="en-US" sz="2800" b="0" i="0" dirty="0">
                <a:solidFill>
                  <a:schemeClr val="tx1"/>
                </a:solidFill>
                <a:effectLst/>
                <a:latin typeface="Calibir"/>
              </a:rPr>
              <a:t>For your first question, there isn’t a separate report template that you need to follow. Please use the requirements in the Assessment 1 Part 1 brief. For the user-story backlog, use the format provided in the brief: ID, User, Action, Result/Outcome, and Function, as we discussed in Week 5.</a:t>
            </a:r>
          </a:p>
        </p:txBody>
      </p:sp>
      <p:sp>
        <p:nvSpPr>
          <p:cNvPr id="8" name="Title 1">
            <a:extLst>
              <a:ext uri="{FF2B5EF4-FFF2-40B4-BE49-F238E27FC236}">
                <a16:creationId xmlns:a16="http://schemas.microsoft.com/office/drawing/2014/main" id="{321A0AA8-3AF4-B5FF-12B8-4FF0AFB7FA0C}"/>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Tree>
    <p:extLst>
      <p:ext uri="{BB962C8B-B14F-4D97-AF65-F5344CB8AC3E}">
        <p14:creationId xmlns:p14="http://schemas.microsoft.com/office/powerpoint/2010/main" val="30369827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E96D2-C1DC-76EF-B60C-095BF34FC5C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56B9A90-2350-73A2-C539-D4A284B84056}"/>
              </a:ext>
            </a:extLst>
          </p:cNvPr>
          <p:cNvSpPr txBox="1"/>
          <p:nvPr/>
        </p:nvSpPr>
        <p:spPr>
          <a:xfrm>
            <a:off x="93407" y="1154082"/>
            <a:ext cx="12005186" cy="4549835"/>
          </a:xfrm>
          <a:prstGeom prst="rect">
            <a:avLst/>
          </a:prstGeom>
          <a:noFill/>
        </p:spPr>
        <p:txBody>
          <a:bodyPr wrap="square">
            <a:spAutoFit/>
          </a:bodyPr>
          <a:lstStyle/>
          <a:p>
            <a:pPr fontAlgn="base">
              <a:lnSpc>
                <a:spcPct val="150000"/>
              </a:lnSpc>
            </a:pPr>
            <a:r>
              <a:rPr lang="en-US" sz="2800" dirty="0">
                <a:latin typeface="Calibir"/>
              </a:rPr>
              <a:t>For the Use Case and Class Diagrams, there is no fixed visual layout. Your group can </a:t>
            </a:r>
            <a:r>
              <a:rPr lang="en-US" sz="2800" dirty="0" err="1">
                <a:latin typeface="Calibir"/>
              </a:rPr>
              <a:t>organise</a:t>
            </a:r>
            <a:r>
              <a:rPr lang="en-US" sz="2800" dirty="0">
                <a:latin typeface="Calibir"/>
              </a:rPr>
              <a:t> the diagrams in a way that is clear and easy to follow, as we discussed in Week 4. Just make sure you include the elements required in the brief and that the diagrams are consistent with your written explanations.</a:t>
            </a:r>
          </a:p>
          <a:p>
            <a:pPr fontAlgn="base">
              <a:lnSpc>
                <a:spcPct val="150000"/>
              </a:lnSpc>
            </a:pPr>
            <a:r>
              <a:rPr lang="en-US" sz="2800" dirty="0">
                <a:latin typeface="Calibir"/>
              </a:rPr>
              <a:t>For your second question, there is an important distinction. In the Use Case Diagram, Student and Admin are the external actors. The system itself is not an external actor; it is represented by the system boundary, as discussed in Week 4.</a:t>
            </a:r>
          </a:p>
        </p:txBody>
      </p:sp>
      <p:sp>
        <p:nvSpPr>
          <p:cNvPr id="2" name="Title 1">
            <a:extLst>
              <a:ext uri="{FF2B5EF4-FFF2-40B4-BE49-F238E27FC236}">
                <a16:creationId xmlns:a16="http://schemas.microsoft.com/office/drawing/2014/main" id="{01E94555-DD5E-3A96-D699-DFEED2757228}"/>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Tree>
    <p:extLst>
      <p:ext uri="{BB962C8B-B14F-4D97-AF65-F5344CB8AC3E}">
        <p14:creationId xmlns:p14="http://schemas.microsoft.com/office/powerpoint/2010/main" val="4323679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B9E12-613B-6AE5-BAC1-4B255B10F2C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ED26067-64A1-D7BC-B0B8-22F9F3D02F69}"/>
              </a:ext>
            </a:extLst>
          </p:cNvPr>
          <p:cNvSpPr txBox="1"/>
          <p:nvPr/>
        </p:nvSpPr>
        <p:spPr>
          <a:xfrm>
            <a:off x="93407" y="1800413"/>
            <a:ext cx="12005186" cy="3257174"/>
          </a:xfrm>
          <a:prstGeom prst="rect">
            <a:avLst/>
          </a:prstGeom>
          <a:noFill/>
        </p:spPr>
        <p:txBody>
          <a:bodyPr wrap="square">
            <a:spAutoFit/>
          </a:bodyPr>
          <a:lstStyle/>
          <a:p>
            <a:pPr fontAlgn="base">
              <a:lnSpc>
                <a:spcPct val="150000"/>
              </a:lnSpc>
            </a:pPr>
            <a:r>
              <a:rPr lang="en-US" sz="2800" dirty="0">
                <a:latin typeface="Calibir"/>
              </a:rPr>
              <a:t>However, in the backlog, the brief defines the User column as the person or entity taking the action. This means that System can be used where appropriate when an action is performed automatically by the application. You should not put an automatic system action under Admin unless the Admin is actually initiating that action according to the requirements.</a:t>
            </a:r>
          </a:p>
        </p:txBody>
      </p:sp>
      <p:sp>
        <p:nvSpPr>
          <p:cNvPr id="2" name="Title 1">
            <a:extLst>
              <a:ext uri="{FF2B5EF4-FFF2-40B4-BE49-F238E27FC236}">
                <a16:creationId xmlns:a16="http://schemas.microsoft.com/office/drawing/2014/main" id="{CC26833B-4C88-57A6-92F6-EE6D9F578F5C}"/>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Tree>
    <p:extLst>
      <p:ext uri="{BB962C8B-B14F-4D97-AF65-F5344CB8AC3E}">
        <p14:creationId xmlns:p14="http://schemas.microsoft.com/office/powerpoint/2010/main" val="36401459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4A123-C650-E609-C564-0CB35A866E6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D990912-B1DF-64CC-827C-F9985639B1A8}"/>
              </a:ext>
            </a:extLst>
          </p:cNvPr>
          <p:cNvSpPr txBox="1"/>
          <p:nvPr/>
        </p:nvSpPr>
        <p:spPr>
          <a:xfrm>
            <a:off x="93407" y="830917"/>
            <a:ext cx="12005186" cy="5196166"/>
          </a:xfrm>
          <a:prstGeom prst="rect">
            <a:avLst/>
          </a:prstGeom>
          <a:noFill/>
        </p:spPr>
        <p:txBody>
          <a:bodyPr wrap="square">
            <a:spAutoFit/>
          </a:bodyPr>
          <a:lstStyle/>
          <a:p>
            <a:pPr fontAlgn="base">
              <a:lnSpc>
                <a:spcPct val="150000"/>
              </a:lnSpc>
            </a:pPr>
            <a:r>
              <a:rPr lang="en-US" sz="2800" dirty="0">
                <a:latin typeface="Calibir"/>
              </a:rPr>
              <a:t>A useful way to decide is to ask: “Who or what is actually performing this action?” If it is something the Student or Admin chooses to do, use the relevant user. If it is an automatic action carried out by the application, System may be appropriate.</a:t>
            </a:r>
          </a:p>
          <a:p>
            <a:pPr fontAlgn="base">
              <a:lnSpc>
                <a:spcPct val="150000"/>
              </a:lnSpc>
            </a:pPr>
            <a:r>
              <a:rPr lang="en-US" sz="2800" dirty="0">
                <a:latin typeface="Calibir"/>
              </a:rPr>
              <a:t>You are on the right track by checking this distinction. We’ll also clarify these points again in class before the Part 1 submission. Please make sure you attend Week 6, as that will be a good opportunity to ask any remaining face-to-face questions and get final clarification before submission.</a:t>
            </a:r>
          </a:p>
          <a:p>
            <a:pPr fontAlgn="base">
              <a:lnSpc>
                <a:spcPct val="150000"/>
              </a:lnSpc>
            </a:pPr>
            <a:r>
              <a:rPr lang="en-US" sz="2800" dirty="0">
                <a:latin typeface="Calibir"/>
              </a:rPr>
              <a:t>Hope this helps.</a:t>
            </a:r>
          </a:p>
        </p:txBody>
      </p:sp>
      <p:sp>
        <p:nvSpPr>
          <p:cNvPr id="2" name="Title 1">
            <a:extLst>
              <a:ext uri="{FF2B5EF4-FFF2-40B4-BE49-F238E27FC236}">
                <a16:creationId xmlns:a16="http://schemas.microsoft.com/office/drawing/2014/main" id="{77E2C9E7-0FAD-7B98-1A5B-907DE5D6D7C4}"/>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Tree>
    <p:extLst>
      <p:ext uri="{BB962C8B-B14F-4D97-AF65-F5344CB8AC3E}">
        <p14:creationId xmlns:p14="http://schemas.microsoft.com/office/powerpoint/2010/main" val="6610820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5070A-CD5F-F116-DB80-3310AC192DF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593574D-0904-5C1B-97A8-C4086589B4DA}"/>
              </a:ext>
            </a:extLst>
          </p:cNvPr>
          <p:cNvSpPr txBox="1"/>
          <p:nvPr/>
        </p:nvSpPr>
        <p:spPr>
          <a:xfrm>
            <a:off x="93407" y="507751"/>
            <a:ext cx="12005186" cy="5842497"/>
          </a:xfrm>
          <a:prstGeom prst="rect">
            <a:avLst/>
          </a:prstGeom>
          <a:noFill/>
        </p:spPr>
        <p:txBody>
          <a:bodyPr wrap="square">
            <a:spAutoFit/>
          </a:bodyPr>
          <a:lstStyle/>
          <a:p>
            <a:pPr fontAlgn="base">
              <a:lnSpc>
                <a:spcPct val="150000"/>
              </a:lnSpc>
            </a:pPr>
            <a:r>
              <a:rPr lang="en-US" sz="2800" dirty="0">
                <a:latin typeface="Calibir"/>
              </a:rPr>
              <a:t>Kind regards,</a:t>
            </a:r>
          </a:p>
          <a:p>
            <a:pPr fontAlgn="base">
              <a:lnSpc>
                <a:spcPct val="150000"/>
              </a:lnSpc>
            </a:pPr>
            <a:r>
              <a:rPr lang="en-US" sz="2800" b="1" dirty="0">
                <a:latin typeface="Calibir"/>
              </a:rPr>
              <a:t>Dr Farshid Keivanian, PhD</a:t>
            </a:r>
            <a:br>
              <a:rPr lang="en-US" sz="2800" dirty="0">
                <a:latin typeface="Calibir"/>
              </a:rPr>
            </a:br>
            <a:r>
              <a:rPr lang="en-US" sz="2800" dirty="0">
                <a:latin typeface="Calibir"/>
              </a:rPr>
              <a:t>School of Computer Science</a:t>
            </a:r>
            <a:br>
              <a:rPr lang="en-US" sz="2800" dirty="0">
                <a:latin typeface="Calibir"/>
              </a:rPr>
            </a:br>
            <a:r>
              <a:rPr lang="en-US" sz="2800" dirty="0">
                <a:latin typeface="Calibir"/>
              </a:rPr>
              <a:t>Faculty of Engineering and Information Technology</a:t>
            </a:r>
            <a:br>
              <a:rPr lang="en-US" sz="2800" dirty="0">
                <a:latin typeface="Calibir"/>
              </a:rPr>
            </a:br>
            <a:r>
              <a:rPr lang="en-US" sz="2800" dirty="0">
                <a:latin typeface="Calibir"/>
              </a:rPr>
              <a:t>University of Technology Sydney</a:t>
            </a:r>
          </a:p>
          <a:p>
            <a:pPr fontAlgn="base">
              <a:lnSpc>
                <a:spcPct val="150000"/>
              </a:lnSpc>
            </a:pPr>
            <a:r>
              <a:rPr lang="en-US" sz="2800" b="1" dirty="0">
                <a:latin typeface="Calibir"/>
              </a:rPr>
              <a:t>Research:</a:t>
            </a:r>
            <a:r>
              <a:rPr lang="en-US" sz="2800" dirty="0">
                <a:latin typeface="Calibir"/>
              </a:rPr>
              <a:t> Trustworthy AI | Secure Edge AI | Cybersecurity | Data Science | Intelligent Systems</a:t>
            </a:r>
          </a:p>
          <a:p>
            <a:pPr fontAlgn="base">
              <a:lnSpc>
                <a:spcPct val="150000"/>
              </a:lnSpc>
            </a:pPr>
            <a:r>
              <a:rPr lang="en-US" sz="2800" dirty="0">
                <a:latin typeface="Calibir"/>
              </a:rPr>
              <a:t>E: </a:t>
            </a:r>
            <a:r>
              <a:rPr lang="en-US" sz="2800" dirty="0">
                <a:latin typeface="Calibir"/>
                <a:hlinkClick r:id="rId2" tooltip="mailto:Farshid.Keivanian@uts.edu.au"/>
              </a:rPr>
              <a:t>Farshid.Keivanian@uts.edu.au</a:t>
            </a:r>
            <a:br>
              <a:rPr lang="en-US" sz="2800" dirty="0">
                <a:latin typeface="Calibir"/>
              </a:rPr>
            </a:br>
            <a:r>
              <a:rPr lang="en-US" sz="2800" dirty="0">
                <a:latin typeface="Calibir"/>
                <a:hlinkClick r:id="rId3"/>
              </a:rPr>
              <a:t>UTS Profile</a:t>
            </a:r>
            <a:r>
              <a:rPr lang="en-US" sz="2800" dirty="0">
                <a:latin typeface="Calibir"/>
              </a:rPr>
              <a:t> | </a:t>
            </a:r>
            <a:r>
              <a:rPr lang="en-US" sz="2800" dirty="0">
                <a:latin typeface="Calibir"/>
                <a:hlinkClick r:id="rId4" tooltip="https://www.linkedin.com/in/farshid-keivanian"/>
              </a:rPr>
              <a:t>LinkedIn</a:t>
            </a:r>
            <a:r>
              <a:rPr lang="en-US" sz="2800" dirty="0">
                <a:latin typeface="Calibir"/>
              </a:rPr>
              <a:t> | </a:t>
            </a:r>
            <a:r>
              <a:rPr lang="en-US" sz="2800" dirty="0">
                <a:latin typeface="Calibir"/>
                <a:hlinkClick r:id="rId5" tooltip="https://github.com/FarshidKeivanian"/>
              </a:rPr>
              <a:t>GitHub</a:t>
            </a:r>
            <a:r>
              <a:rPr lang="en-US" sz="2800" dirty="0">
                <a:latin typeface="Calibir"/>
              </a:rPr>
              <a:t> | </a:t>
            </a:r>
            <a:r>
              <a:rPr lang="en-US" sz="2800" dirty="0">
                <a:latin typeface="Calibir"/>
                <a:hlinkClick r:id="rId6" tooltip="https://orcid.org/0000-0002-9425-9018"/>
              </a:rPr>
              <a:t>ORCID</a:t>
            </a:r>
            <a:endParaRPr lang="en-US" sz="2800" dirty="0">
              <a:solidFill>
                <a:srgbClr val="000000"/>
              </a:solidFill>
              <a:latin typeface="Calibir"/>
            </a:endParaRPr>
          </a:p>
        </p:txBody>
      </p:sp>
      <p:sp>
        <p:nvSpPr>
          <p:cNvPr id="2" name="Title 1">
            <a:extLst>
              <a:ext uri="{FF2B5EF4-FFF2-40B4-BE49-F238E27FC236}">
                <a16:creationId xmlns:a16="http://schemas.microsoft.com/office/drawing/2014/main" id="{B07FECD0-6793-7B24-219E-CCA3980D21E5}"/>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Tree>
    <p:extLst>
      <p:ext uri="{BB962C8B-B14F-4D97-AF65-F5344CB8AC3E}">
        <p14:creationId xmlns:p14="http://schemas.microsoft.com/office/powerpoint/2010/main" val="4572455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4AF4D-CE09-92F4-C8F3-5BBBA4D93159}"/>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04E865F2-2F56-2554-3B7F-410CC6B90348}"/>
              </a:ext>
            </a:extLst>
          </p:cNvPr>
          <p:cNvSpPr>
            <a:spLocks noChangeArrowheads="1"/>
          </p:cNvSpPr>
          <p:nvPr/>
        </p:nvSpPr>
        <p:spPr bwMode="auto">
          <a:xfrm>
            <a:off x="0" y="774608"/>
            <a:ext cx="12192000" cy="584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Do:</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Scope summary (what’s in / out).</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Backlog table with 3-digit IDs grouped by feature.</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Use case diagram + 1–2 lines per actor/use case.</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Class diagram with visibility, multiplicity, relationships.</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Data file design (JSON/CSV example lines).</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Tiny traceability table.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Avoid: broad stories, missing multiplicities, unlabeled include/extend, GUI detail (keep CLI focus), ignoring constraints (IDs, regex, grade rules).</a:t>
            </a:r>
          </a:p>
        </p:txBody>
      </p:sp>
      <p:sp>
        <p:nvSpPr>
          <p:cNvPr id="6" name="Title 1">
            <a:extLst>
              <a:ext uri="{FF2B5EF4-FFF2-40B4-BE49-F238E27FC236}">
                <a16:creationId xmlns:a16="http://schemas.microsoft.com/office/drawing/2014/main" id="{98CF4ABB-B13A-0E33-9566-7737C6E2FD98}"/>
              </a:ext>
            </a:extLst>
          </p:cNvPr>
          <p:cNvSpPr>
            <a:spLocks noGrp="1"/>
          </p:cNvSpPr>
          <p:nvPr>
            <p:ph type="title"/>
          </p:nvPr>
        </p:nvSpPr>
        <p:spPr>
          <a:xfrm>
            <a:off x="0" y="0"/>
            <a:ext cx="12192000" cy="657922"/>
          </a:xfrm>
        </p:spPr>
        <p:txBody>
          <a:bodyPr anchor="b">
            <a:normAutofit/>
          </a:bodyPr>
          <a:lstStyle/>
          <a:p>
            <a:r>
              <a:rPr lang="en-US" sz="4000" b="1" dirty="0">
                <a:latin typeface="Calibir"/>
              </a:rPr>
              <a:t>Assessment 1 Part 1 – Clarifications and Quality Check</a:t>
            </a:r>
            <a:endParaRPr lang="en-AU" sz="4000" b="1" dirty="0">
              <a:latin typeface="Calibir"/>
            </a:endParaRPr>
          </a:p>
        </p:txBody>
      </p:sp>
    </p:spTree>
    <p:extLst>
      <p:ext uri="{BB962C8B-B14F-4D97-AF65-F5344CB8AC3E}">
        <p14:creationId xmlns:p14="http://schemas.microsoft.com/office/powerpoint/2010/main" val="7999841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7A591-B2BD-5043-BF3F-F44873CD09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9FAC97-7898-89F7-FE14-2370B454FCAC}"/>
              </a:ext>
            </a:extLst>
          </p:cNvPr>
          <p:cNvSpPr>
            <a:spLocks noGrp="1"/>
          </p:cNvSpPr>
          <p:nvPr>
            <p:ph type="title"/>
          </p:nvPr>
        </p:nvSpPr>
        <p:spPr>
          <a:xfrm>
            <a:off x="0" y="-1"/>
            <a:ext cx="12192000" cy="882869"/>
          </a:xfrm>
        </p:spPr>
        <p:txBody>
          <a:bodyPr anchor="b">
            <a:normAutofit fontScale="90000"/>
          </a:bodyPr>
          <a:lstStyle/>
          <a:p>
            <a:r>
              <a:rPr lang="en-US" sz="3300" b="1" dirty="0">
                <a:latin typeface="Calibir"/>
              </a:rPr>
              <a:t>Group Assignment – Part 1: Student Operations After Registration – Clarified</a:t>
            </a:r>
            <a:endParaRPr lang="en-AU" sz="3300" b="1" dirty="0">
              <a:latin typeface="Calibir"/>
            </a:endParaRPr>
          </a:p>
        </p:txBody>
      </p:sp>
      <p:pic>
        <p:nvPicPr>
          <p:cNvPr id="5" name="Picture 4">
            <a:extLst>
              <a:ext uri="{FF2B5EF4-FFF2-40B4-BE49-F238E27FC236}">
                <a16:creationId xmlns:a16="http://schemas.microsoft.com/office/drawing/2014/main" id="{F97E9268-0750-AAA2-C4DC-BAC5AB687408}"/>
              </a:ext>
            </a:extLst>
          </p:cNvPr>
          <p:cNvPicPr>
            <a:picLocks noChangeAspect="1"/>
          </p:cNvPicPr>
          <p:nvPr/>
        </p:nvPicPr>
        <p:blipFill>
          <a:blip r:embed="rId2"/>
          <a:srcRect l="12480" t="44081" r="61121" b="28720"/>
          <a:stretch>
            <a:fillRect/>
          </a:stretch>
        </p:blipFill>
        <p:spPr>
          <a:xfrm>
            <a:off x="0" y="804435"/>
            <a:ext cx="11813628" cy="3423360"/>
          </a:xfrm>
          <a:prstGeom prst="rect">
            <a:avLst/>
          </a:prstGeom>
          <a:ln w="38100">
            <a:solidFill>
              <a:srgbClr val="FF0000"/>
            </a:solidFill>
          </a:ln>
        </p:spPr>
      </p:pic>
      <p:sp>
        <p:nvSpPr>
          <p:cNvPr id="7" name="TextBox 6">
            <a:extLst>
              <a:ext uri="{FF2B5EF4-FFF2-40B4-BE49-F238E27FC236}">
                <a16:creationId xmlns:a16="http://schemas.microsoft.com/office/drawing/2014/main" id="{4114C1C7-41BB-561D-FA1F-BBC7098A9A16}"/>
              </a:ext>
            </a:extLst>
          </p:cNvPr>
          <p:cNvSpPr txBox="1"/>
          <p:nvPr/>
        </p:nvSpPr>
        <p:spPr>
          <a:xfrm>
            <a:off x="78658" y="4149362"/>
            <a:ext cx="12034684" cy="131818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Clarification of the Paragraph in Page 1</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Once a student has registered, they can log in and do 4 main things:</a:t>
            </a:r>
          </a:p>
        </p:txBody>
      </p:sp>
    </p:spTree>
    <p:extLst>
      <p:ext uri="{BB962C8B-B14F-4D97-AF65-F5344CB8AC3E}">
        <p14:creationId xmlns:p14="http://schemas.microsoft.com/office/powerpoint/2010/main" val="32437748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2EDD3-D7CE-9D8A-31F6-02DF8D76DA4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404527C-5201-C004-FE14-DDFD2FAC295A}"/>
              </a:ext>
            </a:extLst>
          </p:cNvPr>
          <p:cNvSpPr txBox="1"/>
          <p:nvPr/>
        </p:nvSpPr>
        <p:spPr>
          <a:xfrm>
            <a:off x="78658" y="4149362"/>
            <a:ext cx="12034684" cy="2430922"/>
          </a:xfrm>
          <a:prstGeom prst="rect">
            <a:avLst/>
          </a:prstGeom>
          <a:noFill/>
        </p:spPr>
        <p:txBody>
          <a:bodyPr wrap="square">
            <a:spAutoFit/>
          </a:bodyPr>
          <a:lstStyle/>
          <a:p>
            <a:pPr marL="971550" marR="0" lvl="1"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600" b="0" i="0" u="none" strike="noStrike" kern="1200" cap="none" spc="0" normalizeH="0" baseline="0" noProof="0" dirty="0" err="1">
                <a:ln>
                  <a:noFill/>
                </a:ln>
                <a:solidFill>
                  <a:prstClr val="black"/>
                </a:solidFill>
                <a:effectLst/>
                <a:uLnTx/>
                <a:uFillTx/>
                <a:latin typeface="Calibir"/>
                <a:ea typeface="+mn-ea"/>
                <a:cs typeface="+mn-cs"/>
              </a:rPr>
              <a:t>Enrol</a:t>
            </a:r>
            <a:r>
              <a:rPr kumimoji="0" lang="en-US" sz="2600" b="0" i="0" u="none" strike="noStrike" kern="1200" cap="none" spc="0" normalizeH="0" baseline="0" noProof="0" dirty="0">
                <a:ln>
                  <a:noFill/>
                </a:ln>
                <a:solidFill>
                  <a:prstClr val="black"/>
                </a:solidFill>
                <a:effectLst/>
                <a:uLnTx/>
                <a:uFillTx/>
                <a:latin typeface="Calibir"/>
                <a:ea typeface="+mn-ea"/>
                <a:cs typeface="+mn-cs"/>
              </a:rPr>
              <a:t> in a subject (system auto-adds a new subject, they don’t pick from a list).</a:t>
            </a:r>
          </a:p>
          <a:p>
            <a:pPr marL="971550" marR="0" lvl="1"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600" b="0" i="0" u="none" strike="noStrike" kern="1200" cap="none" spc="0" normalizeH="0" baseline="0" noProof="0" dirty="0">
                <a:ln>
                  <a:noFill/>
                </a:ln>
                <a:solidFill>
                  <a:prstClr val="black"/>
                </a:solidFill>
                <a:effectLst/>
                <a:uLnTx/>
                <a:uFillTx/>
                <a:latin typeface="Calibir"/>
                <a:ea typeface="+mn-ea"/>
                <a:cs typeface="+mn-cs"/>
              </a:rPr>
              <a:t>Remove a subject.</a:t>
            </a:r>
          </a:p>
          <a:p>
            <a:pPr marL="971550" marR="0" lvl="1"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600" b="0" i="0" u="none" strike="noStrike" kern="1200" cap="none" spc="0" normalizeH="0" baseline="0" noProof="0" dirty="0">
                <a:ln>
                  <a:noFill/>
                </a:ln>
                <a:solidFill>
                  <a:prstClr val="black"/>
                </a:solidFill>
                <a:effectLst/>
                <a:uLnTx/>
                <a:uFillTx/>
                <a:latin typeface="Calibir"/>
                <a:ea typeface="+mn-ea"/>
                <a:cs typeface="+mn-cs"/>
              </a:rPr>
              <a:t>View their current enrolment list.</a:t>
            </a:r>
          </a:p>
          <a:p>
            <a:pPr marL="971550" marR="0" lvl="1"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600" b="0" i="0" u="none" strike="noStrike" kern="1200" cap="none" spc="0" normalizeH="0" baseline="0" noProof="0" dirty="0">
                <a:ln>
                  <a:noFill/>
                </a:ln>
                <a:solidFill>
                  <a:prstClr val="black"/>
                </a:solidFill>
                <a:effectLst/>
                <a:uLnTx/>
                <a:uFillTx/>
                <a:latin typeface="Calibir"/>
                <a:ea typeface="+mn-ea"/>
                <a:cs typeface="+mn-cs"/>
              </a:rPr>
              <a:t>Change their password.</a:t>
            </a:r>
          </a:p>
        </p:txBody>
      </p:sp>
      <p:sp>
        <p:nvSpPr>
          <p:cNvPr id="6" name="Title 1">
            <a:extLst>
              <a:ext uri="{FF2B5EF4-FFF2-40B4-BE49-F238E27FC236}">
                <a16:creationId xmlns:a16="http://schemas.microsoft.com/office/drawing/2014/main" id="{90F58C92-ECFC-E09B-AD86-A816602EA508}"/>
              </a:ext>
            </a:extLst>
          </p:cNvPr>
          <p:cNvSpPr>
            <a:spLocks noGrp="1"/>
          </p:cNvSpPr>
          <p:nvPr>
            <p:ph type="title"/>
          </p:nvPr>
        </p:nvSpPr>
        <p:spPr>
          <a:xfrm>
            <a:off x="0" y="-1"/>
            <a:ext cx="12192000" cy="882869"/>
          </a:xfrm>
        </p:spPr>
        <p:txBody>
          <a:bodyPr anchor="b">
            <a:normAutofit fontScale="90000"/>
          </a:bodyPr>
          <a:lstStyle/>
          <a:p>
            <a:r>
              <a:rPr lang="en-US" sz="3300" b="1" dirty="0">
                <a:latin typeface="Calibir"/>
              </a:rPr>
              <a:t>Group Assignment – Part 1: Student Operations After Registration – Clarified</a:t>
            </a:r>
            <a:endParaRPr lang="en-AU" sz="3300" b="1" dirty="0">
              <a:latin typeface="Calibir"/>
            </a:endParaRPr>
          </a:p>
        </p:txBody>
      </p:sp>
      <p:pic>
        <p:nvPicPr>
          <p:cNvPr id="8" name="Picture 7">
            <a:extLst>
              <a:ext uri="{FF2B5EF4-FFF2-40B4-BE49-F238E27FC236}">
                <a16:creationId xmlns:a16="http://schemas.microsoft.com/office/drawing/2014/main" id="{4C327BFE-7257-26F2-1760-C04EE8D2C373}"/>
              </a:ext>
            </a:extLst>
          </p:cNvPr>
          <p:cNvPicPr>
            <a:picLocks noChangeAspect="1"/>
          </p:cNvPicPr>
          <p:nvPr/>
        </p:nvPicPr>
        <p:blipFill>
          <a:blip r:embed="rId2"/>
          <a:srcRect l="12480" t="44081" r="61121" b="28720"/>
          <a:stretch>
            <a:fillRect/>
          </a:stretch>
        </p:blipFill>
        <p:spPr>
          <a:xfrm>
            <a:off x="0" y="804435"/>
            <a:ext cx="11813628" cy="3423360"/>
          </a:xfrm>
          <a:prstGeom prst="rect">
            <a:avLst/>
          </a:prstGeom>
          <a:ln w="38100">
            <a:solidFill>
              <a:srgbClr val="FF0000"/>
            </a:solidFill>
          </a:ln>
        </p:spPr>
      </p:pic>
    </p:spTree>
    <p:extLst>
      <p:ext uri="{BB962C8B-B14F-4D97-AF65-F5344CB8AC3E}">
        <p14:creationId xmlns:p14="http://schemas.microsoft.com/office/powerpoint/2010/main" val="22918933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4E553-8487-593B-C6FD-487881E8629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A90DD5C-20FC-781A-1116-0B66CFF48E7E}"/>
              </a:ext>
            </a:extLst>
          </p:cNvPr>
          <p:cNvSpPr txBox="1"/>
          <p:nvPr/>
        </p:nvSpPr>
        <p:spPr>
          <a:xfrm>
            <a:off x="78658" y="4149362"/>
            <a:ext cx="12034684" cy="2430922"/>
          </a:xfrm>
          <a:prstGeom prst="rect">
            <a:avLst/>
          </a:prstGeom>
          <a:noFill/>
        </p:spPr>
        <p:txBody>
          <a:bodyPr wrap="square">
            <a:spAutoFit/>
          </a:bodyPr>
          <a:lstStyle/>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Calibir"/>
                <a:ea typeface="+mn-ea"/>
                <a:cs typeface="+mn-cs"/>
              </a:rPr>
              <a:t>Each subject gets a 3-digit ID (like 007, 125), created by the system.</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Calibir"/>
                <a:ea typeface="+mn-ea"/>
                <a:cs typeface="+mn-cs"/>
              </a:rPr>
              <a:t>When a student </a:t>
            </a:r>
            <a:r>
              <a:rPr kumimoji="0" lang="en-US" sz="2600" b="0" i="0" u="none" strike="noStrike" kern="1200" cap="none" spc="0" normalizeH="0" baseline="0" noProof="0" dirty="0" err="1">
                <a:ln>
                  <a:noFill/>
                </a:ln>
                <a:solidFill>
                  <a:prstClr val="black"/>
                </a:solidFill>
                <a:effectLst/>
                <a:uLnTx/>
                <a:uFillTx/>
                <a:latin typeface="Calibir"/>
                <a:ea typeface="+mn-ea"/>
                <a:cs typeface="+mn-cs"/>
              </a:rPr>
              <a:t>enrols</a:t>
            </a:r>
            <a:r>
              <a:rPr kumimoji="0" lang="en-US" sz="2600" b="0" i="0" u="none" strike="noStrike" kern="1200" cap="none" spc="0" normalizeH="0" baseline="0" noProof="0" dirty="0">
                <a:ln>
                  <a:noFill/>
                </a:ln>
                <a:solidFill>
                  <a:prstClr val="black"/>
                </a:solidFill>
                <a:effectLst/>
                <a:uLnTx/>
                <a:uFillTx/>
                <a:latin typeface="Calibir"/>
                <a:ea typeface="+mn-ea"/>
                <a:cs typeface="+mn-cs"/>
              </a:rPr>
              <a:t>, the system also generates:</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Calibir"/>
                <a:ea typeface="+mn-ea"/>
                <a:cs typeface="+mn-cs"/>
              </a:rPr>
              <a:t>a random mark between 25–100,</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Calibir"/>
                <a:ea typeface="+mn-ea"/>
                <a:cs typeface="+mn-cs"/>
              </a:rPr>
              <a:t>and a grade (Z, P, C, D, HD) based on UTS rules.</a:t>
            </a:r>
          </a:p>
        </p:txBody>
      </p:sp>
      <p:sp>
        <p:nvSpPr>
          <p:cNvPr id="6" name="Title 1">
            <a:extLst>
              <a:ext uri="{FF2B5EF4-FFF2-40B4-BE49-F238E27FC236}">
                <a16:creationId xmlns:a16="http://schemas.microsoft.com/office/drawing/2014/main" id="{5BA19EF9-390F-86D1-7C9E-8F45CB241A18}"/>
              </a:ext>
            </a:extLst>
          </p:cNvPr>
          <p:cNvSpPr>
            <a:spLocks noGrp="1"/>
          </p:cNvSpPr>
          <p:nvPr>
            <p:ph type="title"/>
          </p:nvPr>
        </p:nvSpPr>
        <p:spPr>
          <a:xfrm>
            <a:off x="0" y="-1"/>
            <a:ext cx="12192000" cy="882869"/>
          </a:xfrm>
        </p:spPr>
        <p:txBody>
          <a:bodyPr anchor="b">
            <a:normAutofit fontScale="90000"/>
          </a:bodyPr>
          <a:lstStyle/>
          <a:p>
            <a:r>
              <a:rPr lang="en-US" sz="3300" b="1" dirty="0">
                <a:latin typeface="Calibir"/>
              </a:rPr>
              <a:t>Group Assignment – Part 1: Student Operations After Registration – Clarified</a:t>
            </a:r>
            <a:endParaRPr lang="en-AU" sz="3300" b="1" dirty="0">
              <a:latin typeface="Calibir"/>
            </a:endParaRPr>
          </a:p>
        </p:txBody>
      </p:sp>
      <p:pic>
        <p:nvPicPr>
          <p:cNvPr id="8" name="Picture 7">
            <a:extLst>
              <a:ext uri="{FF2B5EF4-FFF2-40B4-BE49-F238E27FC236}">
                <a16:creationId xmlns:a16="http://schemas.microsoft.com/office/drawing/2014/main" id="{08106CBA-900B-A566-8CFD-A94B2364F777}"/>
              </a:ext>
            </a:extLst>
          </p:cNvPr>
          <p:cNvPicPr>
            <a:picLocks noChangeAspect="1"/>
          </p:cNvPicPr>
          <p:nvPr/>
        </p:nvPicPr>
        <p:blipFill>
          <a:blip r:embed="rId2"/>
          <a:srcRect l="12480" t="44081" r="61121" b="28720"/>
          <a:stretch>
            <a:fillRect/>
          </a:stretch>
        </p:blipFill>
        <p:spPr>
          <a:xfrm>
            <a:off x="0" y="804435"/>
            <a:ext cx="11813628" cy="3423360"/>
          </a:xfrm>
          <a:prstGeom prst="rect">
            <a:avLst/>
          </a:prstGeom>
          <a:ln w="38100">
            <a:solidFill>
              <a:srgbClr val="FF0000"/>
            </a:solidFill>
          </a:ln>
        </p:spPr>
      </p:pic>
    </p:spTree>
    <p:extLst>
      <p:ext uri="{BB962C8B-B14F-4D97-AF65-F5344CB8AC3E}">
        <p14:creationId xmlns:p14="http://schemas.microsoft.com/office/powerpoint/2010/main" val="34383942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9BD2D-3307-82F3-6F67-128E505F9E9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54A04EC-98D9-8D40-819B-C7176720A184}"/>
              </a:ext>
            </a:extLst>
          </p:cNvPr>
          <p:cNvSpPr txBox="1"/>
          <p:nvPr/>
        </p:nvSpPr>
        <p:spPr>
          <a:xfrm>
            <a:off x="78658" y="4149362"/>
            <a:ext cx="12034684" cy="1830758"/>
          </a:xfrm>
          <a:prstGeom prst="rect">
            <a:avLst/>
          </a:prstGeom>
          <a:noFill/>
        </p:spPr>
        <p:txBody>
          <a:bodyPr wrap="square">
            <a:spAutoFit/>
          </a:bodyPr>
          <a:lstStyle/>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Calibir"/>
                <a:ea typeface="+mn-ea"/>
                <a:cs typeface="+mn-cs"/>
              </a:rPr>
              <a:t>Students can only </a:t>
            </a:r>
            <a:r>
              <a:rPr kumimoji="0" lang="en-US" sz="2600" b="0" i="0" u="none" strike="noStrike" kern="1200" cap="none" spc="0" normalizeH="0" baseline="0" noProof="0" dirty="0" err="1">
                <a:ln>
                  <a:noFill/>
                </a:ln>
                <a:solidFill>
                  <a:prstClr val="black"/>
                </a:solidFill>
                <a:effectLst/>
                <a:uLnTx/>
                <a:uFillTx/>
                <a:latin typeface="Calibir"/>
                <a:ea typeface="+mn-ea"/>
                <a:cs typeface="+mn-cs"/>
              </a:rPr>
              <a:t>enrol</a:t>
            </a:r>
            <a:r>
              <a:rPr kumimoji="0" lang="en-US" sz="2600" b="0" i="0" u="none" strike="noStrike" kern="1200" cap="none" spc="0" normalizeH="0" baseline="0" noProof="0" dirty="0">
                <a:ln>
                  <a:noFill/>
                </a:ln>
                <a:solidFill>
                  <a:prstClr val="black"/>
                </a:solidFill>
                <a:effectLst/>
                <a:uLnTx/>
                <a:uFillTx/>
                <a:latin typeface="Calibir"/>
                <a:ea typeface="+mn-ea"/>
                <a:cs typeface="+mn-cs"/>
              </a:rPr>
              <a:t> in up to 4 subjects. If they try for more, the system shows an error.</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Calibir"/>
                <a:ea typeface="+mn-ea"/>
                <a:cs typeface="+mn-cs"/>
              </a:rPr>
              <a:t>All this info is stored in the file </a:t>
            </a:r>
            <a:r>
              <a:rPr kumimoji="0" lang="en-US" sz="2600" b="0" i="0" u="none" strike="noStrike" kern="1200" cap="none" spc="0" normalizeH="0" baseline="0" noProof="0" dirty="0" err="1">
                <a:ln>
                  <a:noFill/>
                </a:ln>
                <a:solidFill>
                  <a:prstClr val="black"/>
                </a:solidFill>
                <a:effectLst/>
                <a:uLnTx/>
                <a:uFillTx/>
                <a:latin typeface="Calibir"/>
                <a:ea typeface="+mn-ea"/>
                <a:cs typeface="+mn-cs"/>
              </a:rPr>
              <a:t>students.data</a:t>
            </a:r>
            <a:r>
              <a:rPr kumimoji="0" lang="en-US" sz="2600" b="0" i="0" u="none" strike="noStrike" kern="1200" cap="none" spc="0" normalizeH="0" baseline="0" noProof="0" dirty="0">
                <a:ln>
                  <a:noFill/>
                </a:ln>
                <a:solidFill>
                  <a:prstClr val="black"/>
                </a:solidFill>
                <a:effectLst/>
                <a:uLnTx/>
                <a:uFillTx/>
                <a:latin typeface="Calibir"/>
                <a:ea typeface="+mn-ea"/>
                <a:cs typeface="+mn-cs"/>
              </a:rPr>
              <a:t>.</a:t>
            </a:r>
          </a:p>
        </p:txBody>
      </p:sp>
      <p:sp>
        <p:nvSpPr>
          <p:cNvPr id="6" name="Title 1">
            <a:extLst>
              <a:ext uri="{FF2B5EF4-FFF2-40B4-BE49-F238E27FC236}">
                <a16:creationId xmlns:a16="http://schemas.microsoft.com/office/drawing/2014/main" id="{0073011A-D903-DA17-E318-9380B38693E7}"/>
              </a:ext>
            </a:extLst>
          </p:cNvPr>
          <p:cNvSpPr>
            <a:spLocks noGrp="1"/>
          </p:cNvSpPr>
          <p:nvPr>
            <p:ph type="title"/>
          </p:nvPr>
        </p:nvSpPr>
        <p:spPr>
          <a:xfrm>
            <a:off x="0" y="-1"/>
            <a:ext cx="12192000" cy="882869"/>
          </a:xfrm>
        </p:spPr>
        <p:txBody>
          <a:bodyPr anchor="b">
            <a:normAutofit fontScale="90000"/>
          </a:bodyPr>
          <a:lstStyle/>
          <a:p>
            <a:r>
              <a:rPr lang="en-US" sz="3300" b="1" dirty="0">
                <a:latin typeface="Calibir"/>
              </a:rPr>
              <a:t>Group Assignment – Part 1: Student Operations After Registration – Clarified</a:t>
            </a:r>
            <a:endParaRPr lang="en-AU" sz="3300" b="1" dirty="0">
              <a:latin typeface="Calibir"/>
            </a:endParaRPr>
          </a:p>
        </p:txBody>
      </p:sp>
      <p:pic>
        <p:nvPicPr>
          <p:cNvPr id="8" name="Picture 7">
            <a:extLst>
              <a:ext uri="{FF2B5EF4-FFF2-40B4-BE49-F238E27FC236}">
                <a16:creationId xmlns:a16="http://schemas.microsoft.com/office/drawing/2014/main" id="{6184E311-50E3-E361-9ADD-16D889B36927}"/>
              </a:ext>
            </a:extLst>
          </p:cNvPr>
          <p:cNvPicPr>
            <a:picLocks noChangeAspect="1"/>
          </p:cNvPicPr>
          <p:nvPr/>
        </p:nvPicPr>
        <p:blipFill>
          <a:blip r:embed="rId2"/>
          <a:srcRect l="12480" t="44081" r="61121" b="28720"/>
          <a:stretch>
            <a:fillRect/>
          </a:stretch>
        </p:blipFill>
        <p:spPr>
          <a:xfrm>
            <a:off x="0" y="804435"/>
            <a:ext cx="11813628" cy="3423360"/>
          </a:xfrm>
          <a:prstGeom prst="rect">
            <a:avLst/>
          </a:prstGeom>
          <a:ln w="38100">
            <a:solidFill>
              <a:srgbClr val="FF0000"/>
            </a:solidFill>
          </a:ln>
        </p:spPr>
      </p:pic>
    </p:spTree>
    <p:extLst>
      <p:ext uri="{BB962C8B-B14F-4D97-AF65-F5344CB8AC3E}">
        <p14:creationId xmlns:p14="http://schemas.microsoft.com/office/powerpoint/2010/main" val="16057802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9405F-B954-A0C4-F9B8-0705D10CDF0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A51D4FF-969F-936A-348E-9E6422926806}"/>
              </a:ext>
            </a:extLst>
          </p:cNvPr>
          <p:cNvSpPr txBox="1"/>
          <p:nvPr/>
        </p:nvSpPr>
        <p:spPr>
          <a:xfrm>
            <a:off x="0" y="676560"/>
            <a:ext cx="12034684" cy="3903504"/>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Example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Leila registers successfully.</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She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enrols</a:t>
            </a:r>
            <a:r>
              <a:rPr kumimoji="0" lang="en-US" sz="2800" b="0" i="0" u="none" strike="noStrike" kern="1200" cap="none" spc="0" normalizeH="0" baseline="0" noProof="0" dirty="0">
                <a:ln>
                  <a:noFill/>
                </a:ln>
                <a:solidFill>
                  <a:prstClr val="black"/>
                </a:solidFill>
                <a:effectLst/>
                <a:uLnTx/>
                <a:uFillTx/>
                <a:latin typeface="Calibir"/>
                <a:ea typeface="+mn-ea"/>
                <a:cs typeface="+mn-cs"/>
              </a:rPr>
              <a:t> in a subject → system assigns subject ID = 042, mark = 78, grade = D.</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She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enrols</a:t>
            </a:r>
            <a:r>
              <a:rPr kumimoji="0" lang="en-US" sz="2800" b="0" i="0" u="none" strike="noStrike" kern="1200" cap="none" spc="0" normalizeH="0" baseline="0" noProof="0" dirty="0">
                <a:ln>
                  <a:noFill/>
                </a:ln>
                <a:solidFill>
                  <a:prstClr val="black"/>
                </a:solidFill>
                <a:effectLst/>
                <a:uLnTx/>
                <a:uFillTx/>
                <a:latin typeface="Calibir"/>
                <a:ea typeface="+mn-ea"/>
                <a:cs typeface="+mn-cs"/>
              </a:rPr>
              <a:t> again → subject ID = 317, mark = 92, grade = HD.</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Now her enrolment list shows:</a:t>
            </a:r>
          </a:p>
        </p:txBody>
      </p:sp>
      <p:sp>
        <p:nvSpPr>
          <p:cNvPr id="4" name="TextBox 3">
            <a:extLst>
              <a:ext uri="{FF2B5EF4-FFF2-40B4-BE49-F238E27FC236}">
                <a16:creationId xmlns:a16="http://schemas.microsoft.com/office/drawing/2014/main" id="{45ECDDC0-03A8-A82A-CF2E-9BBC674AC3BD}"/>
              </a:ext>
            </a:extLst>
          </p:cNvPr>
          <p:cNvSpPr txBox="1"/>
          <p:nvPr/>
        </p:nvSpPr>
        <p:spPr>
          <a:xfrm>
            <a:off x="0" y="4399190"/>
            <a:ext cx="6179574" cy="131818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Subject 042 → mark 78 → grade D</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Subject 317 → mark 92 → grade HD</a:t>
            </a:r>
          </a:p>
        </p:txBody>
      </p:sp>
      <p:sp>
        <p:nvSpPr>
          <p:cNvPr id="8" name="TextBox 7">
            <a:extLst>
              <a:ext uri="{FF2B5EF4-FFF2-40B4-BE49-F238E27FC236}">
                <a16:creationId xmlns:a16="http://schemas.microsoft.com/office/drawing/2014/main" id="{9BECBD22-28CD-EC33-F9F2-F2570569BC03}"/>
              </a:ext>
            </a:extLst>
          </p:cNvPr>
          <p:cNvSpPr txBox="1"/>
          <p:nvPr/>
        </p:nvSpPr>
        <p:spPr>
          <a:xfrm>
            <a:off x="1" y="5539819"/>
            <a:ext cx="12191999" cy="131818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If she tries to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enrol</a:t>
            </a:r>
            <a:r>
              <a:rPr kumimoji="0" lang="en-US" sz="2800" b="0" i="0" u="none" strike="noStrike" kern="1200" cap="none" spc="0" normalizeH="0" baseline="0" noProof="0" dirty="0">
                <a:ln>
                  <a:noFill/>
                </a:ln>
                <a:solidFill>
                  <a:prstClr val="black"/>
                </a:solidFill>
                <a:effectLst/>
                <a:uLnTx/>
                <a:uFillTx/>
                <a:latin typeface="Calibir"/>
                <a:ea typeface="+mn-ea"/>
                <a:cs typeface="+mn-cs"/>
              </a:rPr>
              <a:t> a 5th subject, system blocks it and shows:</a:t>
            </a:r>
            <a:br>
              <a:rPr kumimoji="0" lang="en-US" sz="2800" b="0" i="0" u="none" strike="noStrike" kern="1200" cap="none" spc="0" normalizeH="0" baseline="0" noProof="0" dirty="0">
                <a:ln>
                  <a:noFill/>
                </a:ln>
                <a:solidFill>
                  <a:prstClr val="black"/>
                </a:solidFill>
                <a:effectLst/>
                <a:uLnTx/>
                <a:uFillTx/>
                <a:latin typeface="Calibir"/>
                <a:ea typeface="+mn-ea"/>
                <a:cs typeface="+mn-cs"/>
              </a:rPr>
            </a:br>
            <a:r>
              <a:rPr kumimoji="0" lang="en-US" sz="2800" b="0" i="0" u="none" strike="noStrike" kern="1200" cap="none" spc="0" normalizeH="0" baseline="0" noProof="0" dirty="0">
                <a:ln>
                  <a:noFill/>
                </a:ln>
                <a:solidFill>
                  <a:prstClr val="black"/>
                </a:solidFill>
                <a:effectLst/>
                <a:uLnTx/>
                <a:uFillTx/>
                <a:latin typeface="Calibir"/>
                <a:ea typeface="+mn-ea"/>
                <a:cs typeface="+mn-cs"/>
              </a:rPr>
              <a:t>"You cannot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enrol</a:t>
            </a:r>
            <a:r>
              <a:rPr kumimoji="0" lang="en-US" sz="2800" b="0" i="0" u="none" strike="noStrike" kern="1200" cap="none" spc="0" normalizeH="0" baseline="0" noProof="0" dirty="0">
                <a:ln>
                  <a:noFill/>
                </a:ln>
                <a:solidFill>
                  <a:prstClr val="black"/>
                </a:solidFill>
                <a:effectLst/>
                <a:uLnTx/>
                <a:uFillTx/>
                <a:latin typeface="Calibir"/>
                <a:ea typeface="+mn-ea"/>
                <a:cs typeface="+mn-cs"/>
              </a:rPr>
              <a:t> in more than 4 subjects."</a:t>
            </a:r>
          </a:p>
        </p:txBody>
      </p:sp>
      <p:sp>
        <p:nvSpPr>
          <p:cNvPr id="6" name="Title 1">
            <a:extLst>
              <a:ext uri="{FF2B5EF4-FFF2-40B4-BE49-F238E27FC236}">
                <a16:creationId xmlns:a16="http://schemas.microsoft.com/office/drawing/2014/main" id="{5A6D186E-0917-6948-9E8B-9A9A7FDFCAC9}"/>
              </a:ext>
            </a:extLst>
          </p:cNvPr>
          <p:cNvSpPr>
            <a:spLocks noGrp="1"/>
          </p:cNvSpPr>
          <p:nvPr>
            <p:ph type="title"/>
          </p:nvPr>
        </p:nvSpPr>
        <p:spPr>
          <a:xfrm>
            <a:off x="0" y="-1"/>
            <a:ext cx="12192000" cy="882869"/>
          </a:xfrm>
        </p:spPr>
        <p:txBody>
          <a:bodyPr anchor="b">
            <a:normAutofit fontScale="90000"/>
          </a:bodyPr>
          <a:lstStyle/>
          <a:p>
            <a:r>
              <a:rPr lang="en-US" sz="3300" b="1" dirty="0">
                <a:latin typeface="Calibir"/>
              </a:rPr>
              <a:t>Group Assignment – Part 1: Student Operations After Registration – Clarified</a:t>
            </a:r>
            <a:endParaRPr lang="en-AU" sz="3300" b="1" dirty="0">
              <a:latin typeface="Calibir"/>
            </a:endParaRPr>
          </a:p>
        </p:txBody>
      </p:sp>
    </p:spTree>
    <p:extLst>
      <p:ext uri="{BB962C8B-B14F-4D97-AF65-F5344CB8AC3E}">
        <p14:creationId xmlns:p14="http://schemas.microsoft.com/office/powerpoint/2010/main" val="14496785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8AD32-1C42-B25B-1DB1-CA0D16A767E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AE2FC09-EC77-EEF2-F176-4CE5055349B1}"/>
              </a:ext>
            </a:extLst>
          </p:cNvPr>
          <p:cNvSpPr txBox="1"/>
          <p:nvPr/>
        </p:nvSpPr>
        <p:spPr>
          <a:xfrm>
            <a:off x="0" y="1292097"/>
            <a:ext cx="12034684" cy="3903504"/>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In Part 1 of the assignment, students don’t implement the code — they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analyse</a:t>
            </a:r>
            <a:r>
              <a:rPr kumimoji="0" lang="en-US" sz="2800" b="0" i="0" u="none" strike="noStrike" kern="1200" cap="none" spc="0" normalizeH="0" baseline="0" noProof="0" dirty="0">
                <a:ln>
                  <a:noFill/>
                </a:ln>
                <a:solidFill>
                  <a:prstClr val="black"/>
                </a:solidFill>
                <a:effectLst/>
                <a:uLnTx/>
                <a:uFillTx/>
                <a:latin typeface="Calibir"/>
                <a:ea typeface="+mn-ea"/>
                <a:cs typeface="+mn-cs"/>
              </a:rPr>
              <a:t> this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behaviour</a:t>
            </a:r>
            <a:r>
              <a:rPr kumimoji="0" lang="en-US" sz="2800" b="0" i="0" u="none" strike="noStrike" kern="1200" cap="none" spc="0" normalizeH="0" baseline="0" noProof="0" dirty="0">
                <a:ln>
                  <a:noFill/>
                </a:ln>
                <a:solidFill>
                  <a:prstClr val="black"/>
                </a:solidFill>
                <a:effectLst/>
                <a:uLnTx/>
                <a:uFillTx/>
                <a:latin typeface="Calibir"/>
                <a:ea typeface="+mn-ea"/>
                <a:cs typeface="+mn-cs"/>
              </a:rPr>
              <a:t> and turn it into:</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User stories (e.g., “As a student, I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enrol</a:t>
            </a:r>
            <a:r>
              <a:rPr kumimoji="0" lang="en-US" sz="2800" b="0" i="0" u="none" strike="noStrike" kern="1200" cap="none" spc="0" normalizeH="0" baseline="0" noProof="0" dirty="0">
                <a:ln>
                  <a:noFill/>
                </a:ln>
                <a:solidFill>
                  <a:prstClr val="black"/>
                </a:solidFill>
                <a:effectLst/>
                <a:uLnTx/>
                <a:uFillTx/>
                <a:latin typeface="Calibir"/>
                <a:ea typeface="+mn-ea"/>
                <a:cs typeface="+mn-cs"/>
              </a:rPr>
              <a:t> in a subject so that I can study it”).</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Use case diagram (showing Student actor connected to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Enrol</a:t>
            </a:r>
            <a:r>
              <a:rPr kumimoji="0" lang="en-US" sz="2800" b="0" i="0" u="none" strike="noStrike" kern="1200" cap="none" spc="0" normalizeH="0" baseline="0" noProof="0" dirty="0">
                <a:ln>
                  <a:noFill/>
                </a:ln>
                <a:solidFill>
                  <a:prstClr val="black"/>
                </a:solidFill>
                <a:effectLst/>
                <a:uLnTx/>
                <a:uFillTx/>
                <a:latin typeface="Calibir"/>
                <a:ea typeface="+mn-ea"/>
                <a:cs typeface="+mn-cs"/>
              </a:rPr>
              <a:t> in Subject”).</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Class diagram (showing classes like Student, Subject, Database).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Later, in Part 2, they will write the actual program that makes it work.</a:t>
            </a:r>
          </a:p>
        </p:txBody>
      </p:sp>
      <p:sp>
        <p:nvSpPr>
          <p:cNvPr id="5" name="Title 1">
            <a:extLst>
              <a:ext uri="{FF2B5EF4-FFF2-40B4-BE49-F238E27FC236}">
                <a16:creationId xmlns:a16="http://schemas.microsoft.com/office/drawing/2014/main" id="{2961C455-340B-8A14-8251-9AA0DF3A9FB1}"/>
              </a:ext>
            </a:extLst>
          </p:cNvPr>
          <p:cNvSpPr>
            <a:spLocks noGrp="1"/>
          </p:cNvSpPr>
          <p:nvPr>
            <p:ph type="title"/>
          </p:nvPr>
        </p:nvSpPr>
        <p:spPr>
          <a:xfrm>
            <a:off x="0" y="-1"/>
            <a:ext cx="12192000" cy="882869"/>
          </a:xfrm>
        </p:spPr>
        <p:txBody>
          <a:bodyPr anchor="b">
            <a:normAutofit fontScale="90000"/>
          </a:bodyPr>
          <a:lstStyle/>
          <a:p>
            <a:r>
              <a:rPr lang="en-US" sz="3300" b="1" dirty="0">
                <a:latin typeface="Calibir"/>
              </a:rPr>
              <a:t>Group Assignment – Part 1: Student Operations After Registration – Clarified</a:t>
            </a:r>
            <a:endParaRPr lang="en-AU" sz="3300" b="1" dirty="0">
              <a:latin typeface="Calibir"/>
            </a:endParaRPr>
          </a:p>
        </p:txBody>
      </p:sp>
    </p:spTree>
    <p:extLst>
      <p:ext uri="{BB962C8B-B14F-4D97-AF65-F5344CB8AC3E}">
        <p14:creationId xmlns:p14="http://schemas.microsoft.com/office/powerpoint/2010/main" val="34389089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C74A2-6FCA-F134-1D7A-8F9774CB52A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B93AAA0-EC2E-F603-ED21-80D22BB66C9C}"/>
              </a:ext>
            </a:extLst>
          </p:cNvPr>
          <p:cNvSpPr>
            <a:spLocks noGrp="1"/>
          </p:cNvSpPr>
          <p:nvPr>
            <p:ph type="title"/>
          </p:nvPr>
        </p:nvSpPr>
        <p:spPr>
          <a:xfrm>
            <a:off x="0" y="0"/>
            <a:ext cx="12192000" cy="613318"/>
          </a:xfrm>
        </p:spPr>
        <p:txBody>
          <a:bodyPr anchor="b">
            <a:normAutofit/>
          </a:bodyPr>
          <a:lstStyle/>
          <a:p>
            <a:r>
              <a:rPr lang="en-US" sz="3300" b="1" dirty="0">
                <a:latin typeface="Calibir"/>
              </a:rPr>
              <a:t>Group Assignment – Part 1: Password Rules – Clarified</a:t>
            </a:r>
            <a:endParaRPr lang="en-AU" sz="3300" b="1" dirty="0">
              <a:latin typeface="Calibir"/>
            </a:endParaRPr>
          </a:p>
        </p:txBody>
      </p:sp>
      <p:pic>
        <p:nvPicPr>
          <p:cNvPr id="3" name="Picture 2">
            <a:extLst>
              <a:ext uri="{FF2B5EF4-FFF2-40B4-BE49-F238E27FC236}">
                <a16:creationId xmlns:a16="http://schemas.microsoft.com/office/drawing/2014/main" id="{493C07C6-9313-D896-D258-DE66D375AB36}"/>
              </a:ext>
            </a:extLst>
          </p:cNvPr>
          <p:cNvPicPr>
            <a:picLocks noChangeAspect="1"/>
          </p:cNvPicPr>
          <p:nvPr/>
        </p:nvPicPr>
        <p:blipFill>
          <a:blip r:embed="rId2"/>
          <a:stretch>
            <a:fillRect/>
          </a:stretch>
        </p:blipFill>
        <p:spPr>
          <a:xfrm>
            <a:off x="550127" y="627710"/>
            <a:ext cx="11091746" cy="5602580"/>
          </a:xfrm>
          <a:prstGeom prst="rect">
            <a:avLst/>
          </a:prstGeom>
        </p:spPr>
      </p:pic>
      <p:sp>
        <p:nvSpPr>
          <p:cNvPr id="4" name="Rectangle: Rounded Corners 3">
            <a:extLst>
              <a:ext uri="{FF2B5EF4-FFF2-40B4-BE49-F238E27FC236}">
                <a16:creationId xmlns:a16="http://schemas.microsoft.com/office/drawing/2014/main" id="{B0D77E83-23C9-5AC8-A2F8-BE3165AF29F5}"/>
              </a:ext>
            </a:extLst>
          </p:cNvPr>
          <p:cNvSpPr/>
          <p:nvPr/>
        </p:nvSpPr>
        <p:spPr>
          <a:xfrm>
            <a:off x="550128" y="2832410"/>
            <a:ext cx="11065726" cy="206297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197987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CDEEC-4E7E-D0A2-9602-08F2DC4FD08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AF77A34-1BFF-7E98-C408-309E90BE48E4}"/>
              </a:ext>
            </a:extLst>
          </p:cNvPr>
          <p:cNvSpPr>
            <a:spLocks noGrp="1"/>
          </p:cNvSpPr>
          <p:nvPr>
            <p:ph type="title"/>
          </p:nvPr>
        </p:nvSpPr>
        <p:spPr>
          <a:xfrm>
            <a:off x="0" y="0"/>
            <a:ext cx="12192000" cy="613318"/>
          </a:xfrm>
        </p:spPr>
        <p:txBody>
          <a:bodyPr anchor="b">
            <a:normAutofit/>
          </a:bodyPr>
          <a:lstStyle/>
          <a:p>
            <a:r>
              <a:rPr lang="en-US" sz="3300" b="1" dirty="0">
                <a:latin typeface="Calibir"/>
              </a:rPr>
              <a:t>Group Assignment – Part 1: Password Rules – Clarified</a:t>
            </a:r>
            <a:endParaRPr lang="en-AU" sz="3300" b="1" dirty="0">
              <a:latin typeface="Calibir"/>
            </a:endParaRPr>
          </a:p>
        </p:txBody>
      </p:sp>
      <p:pic>
        <p:nvPicPr>
          <p:cNvPr id="3" name="Picture 2">
            <a:extLst>
              <a:ext uri="{FF2B5EF4-FFF2-40B4-BE49-F238E27FC236}">
                <a16:creationId xmlns:a16="http://schemas.microsoft.com/office/drawing/2014/main" id="{73C8FFC0-C6F7-4314-657C-3435FA73B8CF}"/>
              </a:ext>
            </a:extLst>
          </p:cNvPr>
          <p:cNvPicPr>
            <a:picLocks noChangeAspect="1"/>
          </p:cNvPicPr>
          <p:nvPr/>
        </p:nvPicPr>
        <p:blipFill>
          <a:blip r:embed="rId2"/>
          <a:stretch>
            <a:fillRect/>
          </a:stretch>
        </p:blipFill>
        <p:spPr>
          <a:xfrm>
            <a:off x="550127" y="627710"/>
            <a:ext cx="5003180" cy="2527169"/>
          </a:xfrm>
          <a:prstGeom prst="rect">
            <a:avLst/>
          </a:prstGeom>
        </p:spPr>
      </p:pic>
      <p:sp>
        <p:nvSpPr>
          <p:cNvPr id="4" name="Rectangle: Rounded Corners 3">
            <a:extLst>
              <a:ext uri="{FF2B5EF4-FFF2-40B4-BE49-F238E27FC236}">
                <a16:creationId xmlns:a16="http://schemas.microsoft.com/office/drawing/2014/main" id="{58B5DCCE-DB3F-8063-44AB-97C7DCA9DF2A}"/>
              </a:ext>
            </a:extLst>
          </p:cNvPr>
          <p:cNvSpPr/>
          <p:nvPr/>
        </p:nvSpPr>
        <p:spPr>
          <a:xfrm>
            <a:off x="449767" y="1617844"/>
            <a:ext cx="5103540" cy="92463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93DA0F3D-F6C7-1C6D-4D45-3D10221ADA12}"/>
              </a:ext>
            </a:extLst>
          </p:cNvPr>
          <p:cNvSpPr txBox="1"/>
          <p:nvPr/>
        </p:nvSpPr>
        <p:spPr>
          <a:xfrm>
            <a:off x="0" y="3154879"/>
            <a:ext cx="12192000" cy="2610843"/>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Clarification of Password Pattern</a:t>
            </a:r>
          </a:p>
          <a:p>
            <a:pPr marL="714375"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The password must start with an uppercase letter (e.g., A, B, Z).</a:t>
            </a:r>
          </a:p>
          <a:p>
            <a:pPr marL="714375"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After that, it must have at least 4 more letters (so minimum 5 letters in total including the first uppercase).</a:t>
            </a:r>
          </a:p>
        </p:txBody>
      </p:sp>
    </p:spTree>
    <p:extLst>
      <p:ext uri="{BB962C8B-B14F-4D97-AF65-F5344CB8AC3E}">
        <p14:creationId xmlns:p14="http://schemas.microsoft.com/office/powerpoint/2010/main" val="13363375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D640F-EE93-4B90-07F1-DD9A37F080F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8A323F1-FEE4-F046-BF69-64D7EE8FF8C9}"/>
              </a:ext>
            </a:extLst>
          </p:cNvPr>
          <p:cNvPicPr>
            <a:picLocks noChangeAspect="1"/>
          </p:cNvPicPr>
          <p:nvPr/>
        </p:nvPicPr>
        <p:blipFill>
          <a:blip r:embed="rId2"/>
          <a:stretch>
            <a:fillRect/>
          </a:stretch>
        </p:blipFill>
        <p:spPr>
          <a:xfrm>
            <a:off x="-1" y="15309"/>
            <a:ext cx="6646127" cy="3357042"/>
          </a:xfrm>
          <a:prstGeom prst="rect">
            <a:avLst/>
          </a:prstGeom>
        </p:spPr>
      </p:pic>
      <p:sp>
        <p:nvSpPr>
          <p:cNvPr id="4" name="Rectangle: Rounded Corners 3">
            <a:extLst>
              <a:ext uri="{FF2B5EF4-FFF2-40B4-BE49-F238E27FC236}">
                <a16:creationId xmlns:a16="http://schemas.microsoft.com/office/drawing/2014/main" id="{E696F71B-1BC4-ECF0-DA54-AB00CDE827D7}"/>
              </a:ext>
            </a:extLst>
          </p:cNvPr>
          <p:cNvSpPr/>
          <p:nvPr/>
        </p:nvSpPr>
        <p:spPr>
          <a:xfrm>
            <a:off x="0" y="1372516"/>
            <a:ext cx="6646126" cy="116996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397D7740-3A63-5BC9-055C-DF79F809728E}"/>
              </a:ext>
            </a:extLst>
          </p:cNvPr>
          <p:cNvSpPr txBox="1"/>
          <p:nvPr/>
        </p:nvSpPr>
        <p:spPr>
          <a:xfrm>
            <a:off x="0" y="3076820"/>
            <a:ext cx="12192000" cy="3903504"/>
          </a:xfrm>
          <a:prstGeom prst="rect">
            <a:avLst/>
          </a:prstGeom>
          <a:noFill/>
        </p:spPr>
        <p:txBody>
          <a:bodyPr wrap="square">
            <a:spAutoFit/>
          </a:bodyPr>
          <a:lstStyle/>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Finally, it must end with at least 3 digits (numbers).</a:t>
            </a:r>
          </a:p>
          <a:p>
            <a:pPr marL="803275"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highlight>
                  <a:srgbClr val="00FF00"/>
                </a:highlight>
                <a:uLnTx/>
                <a:uFillTx/>
                <a:latin typeface="Calibir"/>
                <a:ea typeface="+mn-ea"/>
                <a:cs typeface="+mn-cs"/>
                <a:sym typeface="Wingdings" panose="05000000000000000000" pitchFamily="2" charset="2"/>
              </a:rPr>
              <a:t></a:t>
            </a:r>
            <a:r>
              <a:rPr kumimoji="0" lang="en-US" sz="2800" b="0" i="0" u="none" strike="noStrike" kern="1200" cap="none" spc="0" normalizeH="0" baseline="0" noProof="0" dirty="0">
                <a:ln>
                  <a:noFill/>
                </a:ln>
                <a:solidFill>
                  <a:prstClr val="black"/>
                </a:solidFill>
                <a:effectLst/>
                <a:uLnTx/>
                <a:uFillTx/>
                <a:latin typeface="Calibir"/>
                <a:ea typeface="+mn-ea"/>
                <a:cs typeface="+mn-cs"/>
              </a:rPr>
              <a:t> Example valid: Abcde123</a:t>
            </a:r>
          </a:p>
          <a:p>
            <a:pPr marL="803275"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highlight>
                  <a:srgbClr val="FF0000"/>
                </a:highlight>
                <a:uLnTx/>
                <a:uFillTx/>
                <a:latin typeface="Calibir"/>
                <a:ea typeface="+mn-ea"/>
                <a:cs typeface="+mn-cs"/>
              </a:rPr>
              <a:t>X</a:t>
            </a:r>
            <a:r>
              <a:rPr kumimoji="0" lang="en-US" sz="2800" b="0" i="0" u="none" strike="noStrike" kern="1200" cap="none" spc="0" normalizeH="0" baseline="0" noProof="0" dirty="0">
                <a:ln>
                  <a:noFill/>
                </a:ln>
                <a:solidFill>
                  <a:prstClr val="black"/>
                </a:solidFill>
                <a:effectLst/>
                <a:uLnTx/>
                <a:uFillTx/>
                <a:latin typeface="Calibir"/>
                <a:ea typeface="+mn-ea"/>
                <a:cs typeface="+mn-cs"/>
              </a:rPr>
              <a:t> Invalid: abcde123 (no uppercase start), Ab12 (not enough letters),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Abcdef</a:t>
            </a:r>
            <a:r>
              <a:rPr kumimoji="0" lang="en-US" sz="2800" b="0" i="0" u="none" strike="noStrike" kern="1200" cap="none" spc="0" normalizeH="0" baseline="0" noProof="0" dirty="0">
                <a:ln>
                  <a:noFill/>
                </a:ln>
                <a:solidFill>
                  <a:prstClr val="black"/>
                </a:solidFill>
                <a:effectLst/>
                <a:uLnTx/>
                <a:uFillTx/>
                <a:latin typeface="Calibir"/>
                <a:ea typeface="+mn-ea"/>
                <a:cs typeface="+mn-cs"/>
              </a:rPr>
              <a:t> (no digits).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So the shortest valid password looks like: Aaaaa111 → 8 characters total.</a:t>
            </a:r>
            <a:br>
              <a:rPr kumimoji="0" lang="en-US" sz="2800" b="0" i="0" u="none" strike="noStrike" kern="1200" cap="none" spc="0" normalizeH="0" baseline="0" noProof="0" dirty="0">
                <a:ln>
                  <a:noFill/>
                </a:ln>
                <a:solidFill>
                  <a:prstClr val="black"/>
                </a:solidFill>
                <a:effectLst/>
                <a:uLnTx/>
                <a:uFillTx/>
                <a:latin typeface="Calibir"/>
                <a:ea typeface="+mn-ea"/>
                <a:cs typeface="+mn-cs"/>
              </a:rPr>
            </a:br>
            <a:r>
              <a:rPr kumimoji="0" lang="en-US" sz="2800" b="0" i="0" u="none" strike="noStrike" kern="1200" cap="none" spc="0" normalizeH="0" baseline="0" noProof="0" dirty="0">
                <a:ln>
                  <a:noFill/>
                </a:ln>
                <a:solidFill>
                  <a:prstClr val="black"/>
                </a:solidFill>
                <a:effectLst/>
                <a:uLnTx/>
                <a:uFillTx/>
                <a:latin typeface="Calibir"/>
                <a:ea typeface="+mn-ea"/>
                <a:cs typeface="+mn-cs"/>
              </a:rPr>
              <a:t>Longer ones are also fine, as long as they follow the same pattern.</a:t>
            </a:r>
          </a:p>
        </p:txBody>
      </p:sp>
    </p:spTree>
    <p:extLst>
      <p:ext uri="{BB962C8B-B14F-4D97-AF65-F5344CB8AC3E}">
        <p14:creationId xmlns:p14="http://schemas.microsoft.com/office/powerpoint/2010/main" val="14284178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8E880-FACF-5954-3882-874A9AA5F73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F6F72CE-DC85-4DBD-7AB2-FBDB9887D36B}"/>
              </a:ext>
            </a:extLst>
          </p:cNvPr>
          <p:cNvSpPr>
            <a:spLocks noGrp="1"/>
          </p:cNvSpPr>
          <p:nvPr>
            <p:ph type="title"/>
          </p:nvPr>
        </p:nvSpPr>
        <p:spPr>
          <a:xfrm>
            <a:off x="0" y="0"/>
            <a:ext cx="12192000" cy="613318"/>
          </a:xfrm>
        </p:spPr>
        <p:txBody>
          <a:bodyPr anchor="b">
            <a:normAutofit/>
          </a:bodyPr>
          <a:lstStyle/>
          <a:p>
            <a:r>
              <a:rPr lang="en-US" sz="3300" b="1" dirty="0">
                <a:latin typeface="Calibir"/>
              </a:rPr>
              <a:t>Group Assignment – Part 1: Password Rules – Clarified</a:t>
            </a:r>
            <a:endParaRPr lang="en-AU" sz="3300" b="1" dirty="0">
              <a:latin typeface="Calibir"/>
            </a:endParaRPr>
          </a:p>
        </p:txBody>
      </p:sp>
      <p:sp>
        <p:nvSpPr>
          <p:cNvPr id="7" name="TextBox 6">
            <a:extLst>
              <a:ext uri="{FF2B5EF4-FFF2-40B4-BE49-F238E27FC236}">
                <a16:creationId xmlns:a16="http://schemas.microsoft.com/office/drawing/2014/main" id="{9DA6C6A7-E399-6ACD-4543-81D72F8BDDB7}"/>
              </a:ext>
            </a:extLst>
          </p:cNvPr>
          <p:cNvSpPr txBox="1"/>
          <p:nvPr/>
        </p:nvSpPr>
        <p:spPr>
          <a:xfrm>
            <a:off x="0" y="725215"/>
            <a:ext cx="12023834" cy="5842497"/>
          </a:xfrm>
          <a:prstGeom prst="rect">
            <a:avLst/>
          </a:prstGeom>
          <a:noFill/>
        </p:spPr>
        <p:txBody>
          <a:bodyPr wrap="square">
            <a:spAutoFit/>
          </a:bodyPr>
          <a:lstStyle/>
          <a:p>
            <a:pPr marL="514350" marR="0" lvl="0" indent="-514350" algn="l" defTabSz="914400" rtl="0" eaLnBrk="1" fontAlgn="auto" latinLnBrk="0" hangingPunct="1">
              <a:lnSpc>
                <a:spcPct val="150000"/>
              </a:lnSpc>
              <a:spcBef>
                <a:spcPts val="0"/>
              </a:spcBef>
              <a:spcAft>
                <a:spcPts val="0"/>
              </a:spcAft>
              <a:buClrTx/>
              <a:buSzTx/>
              <a:buFontTx/>
              <a:buAutoNum type="arabicPeriod"/>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What are actors?</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In UML, actors are the people or external systems that interact with the application.</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They are outside the system but they use it or get something from it.</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In our assignment:</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Student → can register, login,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enrol</a:t>
            </a:r>
            <a:r>
              <a:rPr kumimoji="0" lang="en-US" sz="2800" b="0" i="0" u="none" strike="noStrike" kern="1200" cap="none" spc="0" normalizeH="0" baseline="0" noProof="0" dirty="0">
                <a:ln>
                  <a:noFill/>
                </a:ln>
                <a:solidFill>
                  <a:prstClr val="black"/>
                </a:solidFill>
                <a:effectLst/>
                <a:uLnTx/>
                <a:uFillTx/>
                <a:latin typeface="Calibir"/>
                <a:ea typeface="+mn-ea"/>
                <a:cs typeface="+mn-cs"/>
              </a:rPr>
              <a:t>, drop subject, view enrolments, change password.</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Admin → can view students, group by grade, PASS/FAIL lists, remove students, clear data.</a:t>
            </a:r>
          </a:p>
        </p:txBody>
      </p:sp>
    </p:spTree>
    <p:extLst>
      <p:ext uri="{BB962C8B-B14F-4D97-AF65-F5344CB8AC3E}">
        <p14:creationId xmlns:p14="http://schemas.microsoft.com/office/powerpoint/2010/main" val="2062874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1000"/>
                                        <p:tgtEl>
                                          <p:spTgt spid="7">
                                            <p:txEl>
                                              <p:pRg st="2" end="2"/>
                                            </p:txEl>
                                          </p:spTgt>
                                        </p:tgtEl>
                                      </p:cBhvr>
                                    </p:animEffect>
                                    <p:anim calcmode="lin" valueType="num">
                                      <p:cBhvr>
                                        <p:cTn id="13"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1000"/>
                                        <p:tgtEl>
                                          <p:spTgt spid="7">
                                            <p:txEl>
                                              <p:pRg st="3" end="3"/>
                                            </p:txEl>
                                          </p:spTgt>
                                        </p:tgtEl>
                                      </p:cBhvr>
                                    </p:animEffect>
                                    <p:anim calcmode="lin" valueType="num">
                                      <p:cBhvr>
                                        <p:cTn id="1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1000"/>
                                        <p:tgtEl>
                                          <p:spTgt spid="7">
                                            <p:txEl>
                                              <p:pRg st="4" end="4"/>
                                            </p:txEl>
                                          </p:spTgt>
                                        </p:tgtEl>
                                      </p:cBhvr>
                                    </p:animEffect>
                                    <p:anim calcmode="lin" valueType="num">
                                      <p:cBhvr>
                                        <p:cTn id="2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1000"/>
                                        <p:tgtEl>
                                          <p:spTgt spid="7">
                                            <p:txEl>
                                              <p:pRg st="5" end="5"/>
                                            </p:txEl>
                                          </p:spTgt>
                                        </p:tgtEl>
                                      </p:cBhvr>
                                    </p:animEffect>
                                    <p:anim calcmode="lin" valueType="num">
                                      <p:cBhvr>
                                        <p:cTn id="28"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83EE5-F9EB-490A-B17C-047F91CF763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147579E-CC99-16EF-6B55-676280D888B2}"/>
              </a:ext>
            </a:extLst>
          </p:cNvPr>
          <p:cNvSpPr>
            <a:spLocks noGrp="1"/>
          </p:cNvSpPr>
          <p:nvPr>
            <p:ph type="title"/>
          </p:nvPr>
        </p:nvSpPr>
        <p:spPr>
          <a:xfrm>
            <a:off x="0" y="0"/>
            <a:ext cx="12192000" cy="613318"/>
          </a:xfrm>
        </p:spPr>
        <p:txBody>
          <a:bodyPr anchor="b">
            <a:normAutofit/>
          </a:bodyPr>
          <a:lstStyle/>
          <a:p>
            <a:r>
              <a:rPr lang="en-US" sz="3300" b="1" dirty="0">
                <a:latin typeface="Calibir"/>
              </a:rPr>
              <a:t>Group Assignment – Part 1: Password Rules – Clarified</a:t>
            </a:r>
            <a:endParaRPr lang="en-AU" sz="3300" b="1" dirty="0">
              <a:latin typeface="Calibir"/>
            </a:endParaRPr>
          </a:p>
        </p:txBody>
      </p:sp>
      <p:sp>
        <p:nvSpPr>
          <p:cNvPr id="7" name="TextBox 6">
            <a:extLst>
              <a:ext uri="{FF2B5EF4-FFF2-40B4-BE49-F238E27FC236}">
                <a16:creationId xmlns:a16="http://schemas.microsoft.com/office/drawing/2014/main" id="{E86C34AA-0CF8-2D21-1CEB-DC000B897DED}"/>
              </a:ext>
            </a:extLst>
          </p:cNvPr>
          <p:cNvSpPr txBox="1"/>
          <p:nvPr/>
        </p:nvSpPr>
        <p:spPr>
          <a:xfrm>
            <a:off x="0" y="725215"/>
            <a:ext cx="12023834" cy="1964512"/>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So:</a:t>
            </a: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Actor = “who uses the system”.</a:t>
            </a: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Use case = “what they can do in the system.”</a:t>
            </a:r>
          </a:p>
        </p:txBody>
      </p:sp>
    </p:spTree>
    <p:extLst>
      <p:ext uri="{BB962C8B-B14F-4D97-AF65-F5344CB8AC3E}">
        <p14:creationId xmlns:p14="http://schemas.microsoft.com/office/powerpoint/2010/main" val="15615607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FD58A-0D4D-E3CB-A95D-49FBB711659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9760A38-19A7-0057-F9F3-0FE97FB09403}"/>
              </a:ext>
            </a:extLst>
          </p:cNvPr>
          <p:cNvSpPr>
            <a:spLocks noGrp="1"/>
          </p:cNvSpPr>
          <p:nvPr>
            <p:ph type="title"/>
          </p:nvPr>
        </p:nvSpPr>
        <p:spPr>
          <a:xfrm>
            <a:off x="0" y="0"/>
            <a:ext cx="12192000" cy="613318"/>
          </a:xfrm>
        </p:spPr>
        <p:txBody>
          <a:bodyPr anchor="b">
            <a:normAutofit/>
          </a:bodyPr>
          <a:lstStyle/>
          <a:p>
            <a:r>
              <a:rPr lang="en-US" sz="3300" b="1" dirty="0">
                <a:latin typeface="Calibir"/>
              </a:rPr>
              <a:t>Group Assignment – Part 1: Password Rules – Clarified</a:t>
            </a:r>
            <a:endParaRPr lang="en-AU" sz="3300" b="1" dirty="0">
              <a:latin typeface="Calibir"/>
            </a:endParaRPr>
          </a:p>
        </p:txBody>
      </p:sp>
      <p:sp>
        <p:nvSpPr>
          <p:cNvPr id="7" name="TextBox 6">
            <a:extLst>
              <a:ext uri="{FF2B5EF4-FFF2-40B4-BE49-F238E27FC236}">
                <a16:creationId xmlns:a16="http://schemas.microsoft.com/office/drawing/2014/main" id="{21B98881-BF8C-A754-EEC6-C5144CE7446B}"/>
              </a:ext>
            </a:extLst>
          </p:cNvPr>
          <p:cNvSpPr txBox="1"/>
          <p:nvPr/>
        </p:nvSpPr>
        <p:spPr>
          <a:xfrm>
            <a:off x="0" y="479893"/>
            <a:ext cx="12023834" cy="2974660"/>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550" b="1" i="0" u="none" strike="noStrike" kern="1200" cap="none" spc="0" normalizeH="0" baseline="0" noProof="0" dirty="0">
                <a:ln>
                  <a:noFill/>
                </a:ln>
                <a:solidFill>
                  <a:prstClr val="black"/>
                </a:solidFill>
                <a:effectLst/>
                <a:uLnTx/>
                <a:uFillTx/>
                <a:latin typeface="Calibir"/>
                <a:ea typeface="+mn-ea"/>
                <a:cs typeface="+mn-cs"/>
              </a:rPr>
              <a:t>2. If students register, will they manually pick a unit or automatically system will </a:t>
            </a:r>
            <a:r>
              <a:rPr kumimoji="0" lang="en-US" sz="2550" b="1" i="0" u="none" strike="noStrike" kern="1200" cap="none" spc="0" normalizeH="0" baseline="0" noProof="0" dirty="0" err="1">
                <a:ln>
                  <a:noFill/>
                </a:ln>
                <a:solidFill>
                  <a:prstClr val="black"/>
                </a:solidFill>
                <a:effectLst/>
                <a:uLnTx/>
                <a:uFillTx/>
                <a:latin typeface="Calibir"/>
                <a:ea typeface="+mn-ea"/>
                <a:cs typeface="+mn-cs"/>
              </a:rPr>
              <a:t>enrol</a:t>
            </a:r>
            <a:r>
              <a:rPr kumimoji="0" lang="en-US" sz="2550" b="1" i="0" u="none" strike="noStrike" kern="1200" cap="none" spc="0" normalizeH="0" baseline="0" noProof="0" dirty="0">
                <a:ln>
                  <a:noFill/>
                </a:ln>
                <a:solidFill>
                  <a:prstClr val="black"/>
                </a:solidFill>
                <a:effectLst/>
                <a:uLnTx/>
                <a:uFillTx/>
                <a:latin typeface="Calibir"/>
                <a:ea typeface="+mn-ea"/>
                <a:cs typeface="+mn-cs"/>
              </a:rPr>
              <a:t> them?</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550" b="0" i="0" u="none" strike="noStrike" kern="1200" cap="none" spc="0" normalizeH="0" baseline="0" noProof="0" dirty="0">
                <a:ln>
                  <a:noFill/>
                </a:ln>
                <a:solidFill>
                  <a:prstClr val="black"/>
                </a:solidFill>
                <a:effectLst/>
                <a:uLnTx/>
                <a:uFillTx/>
                <a:latin typeface="Calibir"/>
                <a:ea typeface="+mn-ea"/>
                <a:cs typeface="+mn-cs"/>
              </a:rPr>
              <a:t>According to the brief:</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550" b="0" i="0" u="none" strike="noStrike" kern="1200" cap="none" spc="0" normalizeH="0" baseline="0" noProof="0" dirty="0">
                <a:ln>
                  <a:noFill/>
                </a:ln>
                <a:solidFill>
                  <a:prstClr val="black"/>
                </a:solidFill>
                <a:effectLst/>
                <a:uLnTx/>
                <a:uFillTx/>
                <a:latin typeface="Calibir"/>
                <a:ea typeface="+mn-ea"/>
                <a:cs typeface="+mn-cs"/>
              </a:rPr>
              <a:t>“Students do not need to select a specific subject when enrolling, a new subject will be added automatically…”</a:t>
            </a:r>
          </a:p>
        </p:txBody>
      </p:sp>
      <p:pic>
        <p:nvPicPr>
          <p:cNvPr id="3" name="Picture 2">
            <a:extLst>
              <a:ext uri="{FF2B5EF4-FFF2-40B4-BE49-F238E27FC236}">
                <a16:creationId xmlns:a16="http://schemas.microsoft.com/office/drawing/2014/main" id="{F0ED8617-9070-892B-09D3-CBCBAD85364C}"/>
              </a:ext>
            </a:extLst>
          </p:cNvPr>
          <p:cNvPicPr>
            <a:picLocks noChangeAspect="1"/>
          </p:cNvPicPr>
          <p:nvPr/>
        </p:nvPicPr>
        <p:blipFill>
          <a:blip r:embed="rId2"/>
          <a:srcRect l="12256" t="29675" r="61860" b="41382"/>
          <a:stretch>
            <a:fillRect/>
          </a:stretch>
        </p:blipFill>
        <p:spPr>
          <a:xfrm>
            <a:off x="3754145" y="3011219"/>
            <a:ext cx="8437855" cy="2653599"/>
          </a:xfrm>
          <a:prstGeom prst="rect">
            <a:avLst/>
          </a:prstGeom>
          <a:ln w="38100">
            <a:solidFill>
              <a:srgbClr val="FF0000"/>
            </a:solidFill>
          </a:ln>
        </p:spPr>
      </p:pic>
    </p:spTree>
    <p:extLst>
      <p:ext uri="{BB962C8B-B14F-4D97-AF65-F5344CB8AC3E}">
        <p14:creationId xmlns:p14="http://schemas.microsoft.com/office/powerpoint/2010/main" val="1656169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1000"/>
                                        <p:tgtEl>
                                          <p:spTgt spid="7">
                                            <p:txEl>
                                              <p:pRg st="2" end="2"/>
                                            </p:txEl>
                                          </p:spTgt>
                                        </p:tgtEl>
                                      </p:cBhvr>
                                    </p:animEffect>
                                    <p:anim calcmode="lin" valueType="num">
                                      <p:cBhvr>
                                        <p:cTn id="13"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4481A-989B-3195-6F82-BBE49A86EE8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5B0D2E8-1391-9A3D-578C-6124D4C9FF53}"/>
              </a:ext>
            </a:extLst>
          </p:cNvPr>
          <p:cNvSpPr>
            <a:spLocks noGrp="1"/>
          </p:cNvSpPr>
          <p:nvPr>
            <p:ph type="title"/>
          </p:nvPr>
        </p:nvSpPr>
        <p:spPr>
          <a:xfrm>
            <a:off x="0" y="0"/>
            <a:ext cx="12192000" cy="613318"/>
          </a:xfrm>
        </p:spPr>
        <p:txBody>
          <a:bodyPr anchor="b">
            <a:normAutofit/>
          </a:bodyPr>
          <a:lstStyle/>
          <a:p>
            <a:r>
              <a:rPr lang="en-US" sz="3300" b="1" dirty="0">
                <a:latin typeface="Calibir"/>
              </a:rPr>
              <a:t>Group Assignment – Part 1: Password Rules – Clarified</a:t>
            </a:r>
            <a:endParaRPr lang="en-AU" sz="3300" b="1" dirty="0">
              <a:latin typeface="Calibir"/>
            </a:endParaRPr>
          </a:p>
        </p:txBody>
      </p:sp>
      <p:sp>
        <p:nvSpPr>
          <p:cNvPr id="7" name="TextBox 6">
            <a:extLst>
              <a:ext uri="{FF2B5EF4-FFF2-40B4-BE49-F238E27FC236}">
                <a16:creationId xmlns:a16="http://schemas.microsoft.com/office/drawing/2014/main" id="{43125841-1B64-9F51-6A04-6FCBD922DEE2}"/>
              </a:ext>
            </a:extLst>
          </p:cNvPr>
          <p:cNvSpPr txBox="1"/>
          <p:nvPr/>
        </p:nvSpPr>
        <p:spPr>
          <a:xfrm>
            <a:off x="0" y="816982"/>
            <a:ext cx="12023834" cy="5329151"/>
          </a:xfrm>
          <a:prstGeom prst="rect">
            <a:avLst/>
          </a:prstGeom>
          <a:noFill/>
        </p:spPr>
        <p:txBody>
          <a:bodyPr wrap="square">
            <a:spAutoFit/>
          </a:bodyPr>
          <a:lstStyle/>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550" b="0" i="0" u="none" strike="noStrike" kern="1200" cap="none" spc="0" normalizeH="0" baseline="0" noProof="0" dirty="0">
                <a:ln>
                  <a:noFill/>
                </a:ln>
                <a:solidFill>
                  <a:prstClr val="black"/>
                </a:solidFill>
                <a:effectLst/>
                <a:uLnTx/>
                <a:uFillTx/>
                <a:latin typeface="Calibir"/>
                <a:ea typeface="+mn-ea"/>
                <a:cs typeface="+mn-cs"/>
              </a:rPr>
              <a:t>This means:</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550" b="0" i="0" u="none" strike="noStrike" kern="1200" cap="none" spc="0" normalizeH="0" baseline="0" noProof="0" dirty="0">
                <a:ln>
                  <a:noFill/>
                </a:ln>
                <a:solidFill>
                  <a:prstClr val="black"/>
                </a:solidFill>
                <a:effectLst/>
                <a:uLnTx/>
                <a:uFillTx/>
                <a:latin typeface="Calibir"/>
                <a:ea typeface="+mn-ea"/>
                <a:cs typeface="+mn-cs"/>
              </a:rPr>
              <a:t>The system automatically generates a subject with an auto ID (3 digits).</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550" b="0" i="0" u="none" strike="noStrike" kern="1200" cap="none" spc="0" normalizeH="0" baseline="0" noProof="0" dirty="0">
                <a:ln>
                  <a:noFill/>
                </a:ln>
                <a:solidFill>
                  <a:prstClr val="black"/>
                </a:solidFill>
                <a:effectLst/>
                <a:uLnTx/>
                <a:uFillTx/>
                <a:latin typeface="Calibir"/>
                <a:ea typeface="+mn-ea"/>
                <a:cs typeface="+mn-cs"/>
              </a:rPr>
              <a:t>It also gives the student a random mark (25–100) and then assigns a grade (Z, P, C, D, HD).</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550" b="0" i="0" u="none" strike="noStrike" kern="1200" cap="none" spc="0" normalizeH="0" baseline="0" noProof="0" dirty="0">
                <a:ln>
                  <a:noFill/>
                </a:ln>
                <a:solidFill>
                  <a:prstClr val="black"/>
                </a:solidFill>
                <a:effectLst/>
                <a:uLnTx/>
                <a:uFillTx/>
                <a:latin typeface="Calibir"/>
                <a:ea typeface="+mn-ea"/>
                <a:cs typeface="+mn-cs"/>
              </a:rPr>
              <a:t>So students do not </a:t>
            </a:r>
            <a:br>
              <a:rPr kumimoji="0" lang="en-US" sz="2550" b="0" i="0" u="none" strike="noStrike" kern="1200" cap="none" spc="0" normalizeH="0" baseline="0" noProof="0" dirty="0">
                <a:ln>
                  <a:noFill/>
                </a:ln>
                <a:solidFill>
                  <a:prstClr val="black"/>
                </a:solidFill>
                <a:effectLst/>
                <a:uLnTx/>
                <a:uFillTx/>
                <a:latin typeface="Calibir"/>
                <a:ea typeface="+mn-ea"/>
                <a:cs typeface="+mn-cs"/>
              </a:rPr>
            </a:br>
            <a:r>
              <a:rPr kumimoji="0" lang="en-US" sz="2550" b="0" i="0" u="none" strike="noStrike" kern="1200" cap="none" spc="0" normalizeH="0" baseline="0" noProof="0" dirty="0">
                <a:ln>
                  <a:noFill/>
                </a:ln>
                <a:solidFill>
                  <a:prstClr val="black"/>
                </a:solidFill>
                <a:effectLst/>
                <a:uLnTx/>
                <a:uFillTx/>
                <a:latin typeface="Calibir"/>
                <a:ea typeface="+mn-ea"/>
                <a:cs typeface="+mn-cs"/>
              </a:rPr>
              <a:t>manually choose </a:t>
            </a:r>
            <a:br>
              <a:rPr kumimoji="0" lang="en-US" sz="2550" b="0" i="0" u="none" strike="noStrike" kern="1200" cap="none" spc="0" normalizeH="0" baseline="0" noProof="0" dirty="0">
                <a:ln>
                  <a:noFill/>
                </a:ln>
                <a:solidFill>
                  <a:prstClr val="black"/>
                </a:solidFill>
                <a:effectLst/>
                <a:uLnTx/>
                <a:uFillTx/>
                <a:latin typeface="Calibir"/>
                <a:ea typeface="+mn-ea"/>
                <a:cs typeface="+mn-cs"/>
              </a:rPr>
            </a:br>
            <a:r>
              <a:rPr kumimoji="0" lang="en-US" sz="2550" b="0" i="0" u="none" strike="noStrike" kern="1200" cap="none" spc="0" normalizeH="0" baseline="0" noProof="0" dirty="0">
                <a:ln>
                  <a:noFill/>
                </a:ln>
                <a:solidFill>
                  <a:prstClr val="black"/>
                </a:solidFill>
                <a:effectLst/>
                <a:uLnTx/>
                <a:uFillTx/>
                <a:latin typeface="Calibir"/>
                <a:ea typeface="+mn-ea"/>
                <a:cs typeface="+mn-cs"/>
              </a:rPr>
              <a:t>subjects.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550" b="0" i="0" u="none" strike="noStrike" kern="1200" cap="none" spc="0" normalizeH="0" baseline="0" noProof="0" dirty="0">
                <a:ln>
                  <a:noFill/>
                </a:ln>
                <a:solidFill>
                  <a:prstClr val="black"/>
                </a:solidFill>
                <a:effectLst/>
                <a:uLnTx/>
                <a:uFillTx/>
                <a:latin typeface="Calibir"/>
                <a:ea typeface="+mn-ea"/>
                <a:cs typeface="+mn-cs"/>
              </a:rPr>
              <a:t>They just click “</a:t>
            </a:r>
            <a:r>
              <a:rPr kumimoji="0" lang="en-US" sz="2550" b="0" i="0" u="none" strike="noStrike" kern="1200" cap="none" spc="0" normalizeH="0" baseline="0" noProof="0" dirty="0" err="1">
                <a:ln>
                  <a:noFill/>
                </a:ln>
                <a:solidFill>
                  <a:prstClr val="black"/>
                </a:solidFill>
                <a:effectLst/>
                <a:uLnTx/>
                <a:uFillTx/>
                <a:latin typeface="Calibir"/>
                <a:ea typeface="+mn-ea"/>
                <a:cs typeface="+mn-cs"/>
              </a:rPr>
              <a:t>enrol</a:t>
            </a:r>
            <a:r>
              <a:rPr kumimoji="0" lang="en-US" sz="2550" b="0" i="0" u="none" strike="noStrike" kern="1200" cap="none" spc="0" normalizeH="0" baseline="0" noProof="0" dirty="0">
                <a:ln>
                  <a:noFill/>
                </a:ln>
                <a:solidFill>
                  <a:prstClr val="black"/>
                </a:solidFill>
                <a:effectLst/>
                <a:uLnTx/>
                <a:uFillTx/>
                <a:latin typeface="Calibir"/>
                <a:ea typeface="+mn-ea"/>
                <a:cs typeface="+mn-cs"/>
              </a:rPr>
              <a:t>”, and </a:t>
            </a:r>
            <a:br>
              <a:rPr kumimoji="0" lang="en-US" sz="2550" b="0" i="0" u="none" strike="noStrike" kern="1200" cap="none" spc="0" normalizeH="0" baseline="0" noProof="0" dirty="0">
                <a:ln>
                  <a:noFill/>
                </a:ln>
                <a:solidFill>
                  <a:prstClr val="black"/>
                </a:solidFill>
                <a:effectLst/>
                <a:uLnTx/>
                <a:uFillTx/>
                <a:latin typeface="Calibir"/>
                <a:ea typeface="+mn-ea"/>
                <a:cs typeface="+mn-cs"/>
              </a:rPr>
            </a:br>
            <a:r>
              <a:rPr kumimoji="0" lang="en-US" sz="2550" b="0" i="0" u="none" strike="noStrike" kern="1200" cap="none" spc="0" normalizeH="0" baseline="0" noProof="0" dirty="0">
                <a:ln>
                  <a:noFill/>
                </a:ln>
                <a:solidFill>
                  <a:prstClr val="black"/>
                </a:solidFill>
                <a:effectLst/>
                <a:uLnTx/>
                <a:uFillTx/>
                <a:latin typeface="Calibir"/>
                <a:ea typeface="+mn-ea"/>
                <a:cs typeface="+mn-cs"/>
              </a:rPr>
              <a:t>the system adds a subject for them.</a:t>
            </a:r>
          </a:p>
        </p:txBody>
      </p:sp>
      <p:pic>
        <p:nvPicPr>
          <p:cNvPr id="2" name="Picture 1">
            <a:extLst>
              <a:ext uri="{FF2B5EF4-FFF2-40B4-BE49-F238E27FC236}">
                <a16:creationId xmlns:a16="http://schemas.microsoft.com/office/drawing/2014/main" id="{1FC81AE2-AB1D-2B9F-1E12-FAC7E80F9E5C}"/>
              </a:ext>
            </a:extLst>
          </p:cNvPr>
          <p:cNvPicPr>
            <a:picLocks noChangeAspect="1"/>
          </p:cNvPicPr>
          <p:nvPr/>
        </p:nvPicPr>
        <p:blipFill>
          <a:blip r:embed="rId2"/>
          <a:srcRect l="12256" t="29675" r="61860" b="41382"/>
          <a:stretch>
            <a:fillRect/>
          </a:stretch>
        </p:blipFill>
        <p:spPr>
          <a:xfrm>
            <a:off x="3754145" y="3011219"/>
            <a:ext cx="8437855" cy="2653599"/>
          </a:xfrm>
          <a:prstGeom prst="rect">
            <a:avLst/>
          </a:prstGeom>
          <a:ln w="38100">
            <a:solidFill>
              <a:srgbClr val="FF0000"/>
            </a:solidFill>
          </a:ln>
        </p:spPr>
      </p:pic>
    </p:spTree>
    <p:extLst>
      <p:ext uri="{BB962C8B-B14F-4D97-AF65-F5344CB8AC3E}">
        <p14:creationId xmlns:p14="http://schemas.microsoft.com/office/powerpoint/2010/main" val="40596083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3DD11-E4EC-2EDC-7778-0EA95B27A3F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A1A5C74-829B-252C-B5EB-CE1D97E73DFA}"/>
              </a:ext>
            </a:extLst>
          </p:cNvPr>
          <p:cNvSpPr>
            <a:spLocks noGrp="1"/>
          </p:cNvSpPr>
          <p:nvPr>
            <p:ph type="title"/>
          </p:nvPr>
        </p:nvSpPr>
        <p:spPr>
          <a:xfrm>
            <a:off x="0" y="0"/>
            <a:ext cx="12192000" cy="613318"/>
          </a:xfrm>
        </p:spPr>
        <p:txBody>
          <a:bodyPr anchor="b">
            <a:normAutofit/>
          </a:bodyPr>
          <a:lstStyle/>
          <a:p>
            <a:r>
              <a:rPr lang="en-US" sz="3300" b="1" dirty="0">
                <a:latin typeface="Calibir"/>
              </a:rPr>
              <a:t>Group Assignment – Part 1: Password Rules – Clarified</a:t>
            </a:r>
            <a:endParaRPr lang="en-AU" sz="3300" b="1" dirty="0">
              <a:latin typeface="Calibir"/>
            </a:endParaRPr>
          </a:p>
        </p:txBody>
      </p:sp>
      <p:sp>
        <p:nvSpPr>
          <p:cNvPr id="7" name="TextBox 6">
            <a:extLst>
              <a:ext uri="{FF2B5EF4-FFF2-40B4-BE49-F238E27FC236}">
                <a16:creationId xmlns:a16="http://schemas.microsoft.com/office/drawing/2014/main" id="{5968CC31-36BC-634E-AF69-3B1AC7DB854B}"/>
              </a:ext>
            </a:extLst>
          </p:cNvPr>
          <p:cNvSpPr txBox="1"/>
          <p:nvPr/>
        </p:nvSpPr>
        <p:spPr>
          <a:xfrm>
            <a:off x="0" y="816982"/>
            <a:ext cx="12023834" cy="2610843"/>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prstClr val="black"/>
                </a:solidFill>
                <a:effectLst/>
                <a:uLnTx/>
                <a:uFillTx/>
                <a:latin typeface="Calibir"/>
                <a:ea typeface="+mn-ea"/>
                <a:cs typeface="+mn-cs"/>
              </a:rPr>
              <a:t>In short,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Actors = Student + Admin.</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Students don’t choose subjects manually; the system auto-</a:t>
            </a: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enrols</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them when they select </a:t>
            </a: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enrol</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a:t>
            </a:r>
          </a:p>
        </p:txBody>
      </p:sp>
      <p:pic>
        <p:nvPicPr>
          <p:cNvPr id="2" name="Picture 1">
            <a:extLst>
              <a:ext uri="{FF2B5EF4-FFF2-40B4-BE49-F238E27FC236}">
                <a16:creationId xmlns:a16="http://schemas.microsoft.com/office/drawing/2014/main" id="{702853F9-6E8A-E125-A738-CFF3FAFBAD07}"/>
              </a:ext>
            </a:extLst>
          </p:cNvPr>
          <p:cNvPicPr>
            <a:picLocks noChangeAspect="1"/>
          </p:cNvPicPr>
          <p:nvPr/>
        </p:nvPicPr>
        <p:blipFill>
          <a:blip r:embed="rId2"/>
          <a:srcRect l="12256" t="29675" r="61860" b="41382"/>
          <a:stretch>
            <a:fillRect/>
          </a:stretch>
        </p:blipFill>
        <p:spPr>
          <a:xfrm>
            <a:off x="3754145" y="3011219"/>
            <a:ext cx="8437855" cy="2653599"/>
          </a:xfrm>
          <a:prstGeom prst="rect">
            <a:avLst/>
          </a:prstGeom>
          <a:ln w="38100">
            <a:solidFill>
              <a:srgbClr val="FF0000"/>
            </a:solidFill>
          </a:ln>
        </p:spPr>
      </p:pic>
    </p:spTree>
    <p:extLst>
      <p:ext uri="{BB962C8B-B14F-4D97-AF65-F5344CB8AC3E}">
        <p14:creationId xmlns:p14="http://schemas.microsoft.com/office/powerpoint/2010/main" val="30444459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2A8C7-6992-3DE3-5215-DA420B13E148}"/>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5D9E7E18-4F4A-A094-9679-9F2BD4C95390}"/>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Email &amp; password patterns (Python):</a:t>
            </a:r>
          </a:p>
        </p:txBody>
      </p:sp>
      <p:pic>
        <p:nvPicPr>
          <p:cNvPr id="9" name="Picture 8">
            <a:extLst>
              <a:ext uri="{FF2B5EF4-FFF2-40B4-BE49-F238E27FC236}">
                <a16:creationId xmlns:a16="http://schemas.microsoft.com/office/drawing/2014/main" id="{5B7FBDEE-2D42-6643-5C80-CCFB5E8E4714}"/>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sp>
        <p:nvSpPr>
          <p:cNvPr id="13" name="TextBox 12">
            <a:extLst>
              <a:ext uri="{FF2B5EF4-FFF2-40B4-BE49-F238E27FC236}">
                <a16:creationId xmlns:a16="http://schemas.microsoft.com/office/drawing/2014/main" id="{6B789D03-E49A-6B0E-8C11-82EAEB12D1BC}"/>
              </a:ext>
            </a:extLst>
          </p:cNvPr>
          <p:cNvSpPr txBox="1"/>
          <p:nvPr/>
        </p:nvSpPr>
        <p:spPr>
          <a:xfrm>
            <a:off x="9807676" y="1616247"/>
            <a:ext cx="2197511" cy="3903504"/>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highlight>
                  <a:srgbClr val="FFFF00"/>
                </a:highlight>
                <a:uLnTx/>
                <a:uFillTx/>
                <a:latin typeface="Calibir"/>
                <a:ea typeface="+mn-ea"/>
                <a:cs typeface="+mn-cs"/>
              </a:rPr>
              <a:t>1. import re</a:t>
            </a:r>
            <a:br>
              <a:rPr kumimoji="0" lang="en-US" sz="2800" b="0" i="0" u="none" strike="noStrike" kern="1200" cap="none" spc="0" normalizeH="0" baseline="0" noProof="0" dirty="0">
                <a:ln>
                  <a:noFill/>
                </a:ln>
                <a:solidFill>
                  <a:prstClr val="black"/>
                </a:solidFill>
                <a:effectLst/>
                <a:uLnTx/>
                <a:uFillTx/>
                <a:latin typeface="Calibir"/>
                <a:ea typeface="+mn-ea"/>
                <a:cs typeface="+mn-cs"/>
              </a:rPr>
            </a:br>
            <a:r>
              <a:rPr kumimoji="0" lang="en-US" sz="2800" b="0" i="0" u="none" strike="noStrike" kern="1200" cap="none" spc="0" normalizeH="0" baseline="0" noProof="0" dirty="0">
                <a:ln>
                  <a:noFill/>
                </a:ln>
                <a:solidFill>
                  <a:prstClr val="black"/>
                </a:solidFill>
                <a:effectLst/>
                <a:uLnTx/>
                <a:uFillTx/>
                <a:latin typeface="Calibir"/>
                <a:ea typeface="+mn-ea"/>
                <a:cs typeface="+mn-cs"/>
              </a:rPr>
              <a:t>Loads Python’s regular expression module.</a:t>
            </a:r>
          </a:p>
        </p:txBody>
      </p:sp>
      <p:sp>
        <p:nvSpPr>
          <p:cNvPr id="14" name="Rectangle: Rounded Corners 13">
            <a:extLst>
              <a:ext uri="{FF2B5EF4-FFF2-40B4-BE49-F238E27FC236}">
                <a16:creationId xmlns:a16="http://schemas.microsoft.com/office/drawing/2014/main" id="{A1B3BD5E-EDE4-BE2C-9FAE-9DABC5B3A627}"/>
              </a:ext>
            </a:extLst>
          </p:cNvPr>
          <p:cNvSpPr/>
          <p:nvPr/>
        </p:nvSpPr>
        <p:spPr>
          <a:xfrm>
            <a:off x="0" y="1401094"/>
            <a:ext cx="2035277" cy="35396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56CF4DD9-9B51-27E4-9609-C324C54A45CC}"/>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Mini Coding Nudges (Email/Password, Marks, Pass/Fail etc.)</a:t>
            </a:r>
          </a:p>
        </p:txBody>
      </p:sp>
    </p:spTree>
    <p:extLst>
      <p:ext uri="{BB962C8B-B14F-4D97-AF65-F5344CB8AC3E}">
        <p14:creationId xmlns:p14="http://schemas.microsoft.com/office/powerpoint/2010/main" val="26192864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18B73-6F81-6AB7-8717-FC42B03C3CF4}"/>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FFF7A493-791C-1C00-09BF-1A28E725C01B}"/>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Email &amp; password patterns (Python):</a:t>
            </a:r>
          </a:p>
        </p:txBody>
      </p:sp>
      <p:pic>
        <p:nvPicPr>
          <p:cNvPr id="9" name="Picture 8">
            <a:extLst>
              <a:ext uri="{FF2B5EF4-FFF2-40B4-BE49-F238E27FC236}">
                <a16:creationId xmlns:a16="http://schemas.microsoft.com/office/drawing/2014/main" id="{9D15A95C-ED46-C0D3-A527-C2B924F1A9E4}"/>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sp>
        <p:nvSpPr>
          <p:cNvPr id="13" name="TextBox 12">
            <a:extLst>
              <a:ext uri="{FF2B5EF4-FFF2-40B4-BE49-F238E27FC236}">
                <a16:creationId xmlns:a16="http://schemas.microsoft.com/office/drawing/2014/main" id="{40C203C4-E152-D6F9-CB30-6F3BCB509367}"/>
              </a:ext>
            </a:extLst>
          </p:cNvPr>
          <p:cNvSpPr txBox="1"/>
          <p:nvPr/>
        </p:nvSpPr>
        <p:spPr>
          <a:xfrm>
            <a:off x="9807676" y="228190"/>
            <a:ext cx="2384324" cy="6641690"/>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sz="2200" b="1" i="0" u="none" strike="noStrike" kern="1200" cap="none" spc="0" normalizeH="0" baseline="0" noProof="0" dirty="0">
                <a:ln>
                  <a:noFill/>
                </a:ln>
                <a:solidFill>
                  <a:prstClr val="black"/>
                </a:solidFill>
                <a:effectLst/>
                <a:highlight>
                  <a:srgbClr val="FFFF00"/>
                </a:highlight>
                <a:uLnTx/>
                <a:uFillTx/>
                <a:latin typeface="Calibir"/>
                <a:ea typeface="+mn-ea"/>
                <a:cs typeface="+mn-cs"/>
              </a:rPr>
              <a:t>2. Patterns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 start; $ end → match the whole string</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[\w.\-]+ → one or more letters/digits/underscore/dot/hyphen before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@university\.com → literal domain (the dot is escaped)</a:t>
            </a:r>
          </a:p>
        </p:txBody>
      </p:sp>
      <p:sp>
        <p:nvSpPr>
          <p:cNvPr id="14" name="Rectangle: Rounded Corners 13">
            <a:extLst>
              <a:ext uri="{FF2B5EF4-FFF2-40B4-BE49-F238E27FC236}">
                <a16:creationId xmlns:a16="http://schemas.microsoft.com/office/drawing/2014/main" id="{CB08654B-999F-FDB1-545E-D2A6358F94B4}"/>
              </a:ext>
            </a:extLst>
          </p:cNvPr>
          <p:cNvSpPr/>
          <p:nvPr/>
        </p:nvSpPr>
        <p:spPr>
          <a:xfrm>
            <a:off x="-2" y="1755058"/>
            <a:ext cx="5707628" cy="57518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Title 1">
            <a:extLst>
              <a:ext uri="{FF2B5EF4-FFF2-40B4-BE49-F238E27FC236}">
                <a16:creationId xmlns:a16="http://schemas.microsoft.com/office/drawing/2014/main" id="{CB1E0F61-2DA0-FFD2-6B4C-6C660BE87488}"/>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4224067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A55F4-C476-2267-100B-B770EF9DDE3B}"/>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88D30403-F057-8511-11A0-7D133FECDFBA}"/>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Email &amp; password patterns (Python):</a:t>
            </a:r>
          </a:p>
        </p:txBody>
      </p:sp>
      <p:pic>
        <p:nvPicPr>
          <p:cNvPr id="9" name="Picture 8">
            <a:extLst>
              <a:ext uri="{FF2B5EF4-FFF2-40B4-BE49-F238E27FC236}">
                <a16:creationId xmlns:a16="http://schemas.microsoft.com/office/drawing/2014/main" id="{AA737974-7696-7CD8-6B42-8C93AC9D2717}"/>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sp>
        <p:nvSpPr>
          <p:cNvPr id="13" name="TextBox 12">
            <a:extLst>
              <a:ext uri="{FF2B5EF4-FFF2-40B4-BE49-F238E27FC236}">
                <a16:creationId xmlns:a16="http://schemas.microsoft.com/office/drawing/2014/main" id="{99FAD95B-5493-F94C-EB0F-42803C8AC7FC}"/>
              </a:ext>
            </a:extLst>
          </p:cNvPr>
          <p:cNvSpPr txBox="1"/>
          <p:nvPr/>
        </p:nvSpPr>
        <p:spPr>
          <a:xfrm>
            <a:off x="9807676" y="0"/>
            <a:ext cx="2384324" cy="6957674"/>
          </a:xfrm>
          <a:prstGeom prst="rect">
            <a:avLst/>
          </a:prstGeom>
          <a:noFill/>
        </p:spPr>
        <p:txBody>
          <a:bodyPr wrap="square">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500" b="0" i="0" u="none" strike="noStrike" kern="1200" cap="none" spc="0" normalizeH="0" baseline="0" noProof="0" dirty="0">
                <a:ln>
                  <a:noFill/>
                </a:ln>
                <a:solidFill>
                  <a:prstClr val="black"/>
                </a:solidFill>
                <a:effectLst/>
                <a:uLnTx/>
                <a:uFillTx/>
                <a:latin typeface="Calibir"/>
                <a:ea typeface="+mn-ea"/>
                <a:cs typeface="+mn-cs"/>
              </a:rPr>
              <a:t>Start with one uppercase [A-Z]</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500" b="0" i="0" u="none" strike="noStrike" kern="1200" cap="none" spc="0" normalizeH="0" baseline="0" noProof="0" dirty="0">
                <a:ln>
                  <a:noFill/>
                </a:ln>
                <a:solidFill>
                  <a:prstClr val="black"/>
                </a:solidFill>
                <a:effectLst/>
                <a:uLnTx/>
                <a:uFillTx/>
                <a:latin typeface="Calibir"/>
                <a:ea typeface="+mn-ea"/>
                <a:cs typeface="+mn-cs"/>
              </a:rPr>
              <a:t>Then ≥4 letters [A-Za-z]{4,} → total letters ≥5</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500" b="0" i="0" u="none" strike="noStrike" kern="1200" cap="none" spc="0" normalizeH="0" baseline="0" noProof="0" dirty="0">
                <a:ln>
                  <a:noFill/>
                </a:ln>
                <a:solidFill>
                  <a:prstClr val="black"/>
                </a:solidFill>
                <a:effectLst/>
                <a:uLnTx/>
                <a:uFillTx/>
                <a:latin typeface="Calibir"/>
                <a:ea typeface="+mn-ea"/>
                <a:cs typeface="+mn-cs"/>
              </a:rPr>
              <a:t>Then ≥3 digits \d{3,}</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500" b="0" i="0" u="none" strike="noStrike" kern="1200" cap="none" spc="0" normalizeH="0" baseline="0" noProof="0" dirty="0">
                <a:ln>
                  <a:noFill/>
                </a:ln>
                <a:solidFill>
                  <a:prstClr val="black"/>
                </a:solidFill>
                <a:effectLst/>
                <a:uLnTx/>
                <a:uFillTx/>
                <a:latin typeface="Calibir"/>
                <a:ea typeface="+mn-ea"/>
                <a:cs typeface="+mn-cs"/>
              </a:rPr>
              <a:t>Anchored with ^ and $</a:t>
            </a:r>
          </a:p>
        </p:txBody>
      </p:sp>
      <p:sp>
        <p:nvSpPr>
          <p:cNvPr id="14" name="Rectangle: Rounded Corners 13">
            <a:extLst>
              <a:ext uri="{FF2B5EF4-FFF2-40B4-BE49-F238E27FC236}">
                <a16:creationId xmlns:a16="http://schemas.microsoft.com/office/drawing/2014/main" id="{CE8547BB-8948-7A3F-807F-27D5610D826C}"/>
              </a:ext>
            </a:extLst>
          </p:cNvPr>
          <p:cNvSpPr/>
          <p:nvPr/>
        </p:nvSpPr>
        <p:spPr>
          <a:xfrm>
            <a:off x="-2" y="2300748"/>
            <a:ext cx="9719190" cy="61943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Title 1">
            <a:extLst>
              <a:ext uri="{FF2B5EF4-FFF2-40B4-BE49-F238E27FC236}">
                <a16:creationId xmlns:a16="http://schemas.microsoft.com/office/drawing/2014/main" id="{1C7327F0-FD14-8D05-D6D1-20CB744E8AA6}"/>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24481552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96121-14D2-7B93-7BF8-21CDF4208140}"/>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5A4E97B0-F2F0-C357-930C-A073997EB84D}"/>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Email &amp; password patterns (Python):</a:t>
            </a:r>
          </a:p>
        </p:txBody>
      </p:sp>
      <p:pic>
        <p:nvPicPr>
          <p:cNvPr id="9" name="Picture 8">
            <a:extLst>
              <a:ext uri="{FF2B5EF4-FFF2-40B4-BE49-F238E27FC236}">
                <a16:creationId xmlns:a16="http://schemas.microsoft.com/office/drawing/2014/main" id="{52A96B00-AB4F-FB11-9B3B-7FD4F07C4523}"/>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sp>
        <p:nvSpPr>
          <p:cNvPr id="13" name="TextBox 12">
            <a:extLst>
              <a:ext uri="{FF2B5EF4-FFF2-40B4-BE49-F238E27FC236}">
                <a16:creationId xmlns:a16="http://schemas.microsoft.com/office/drawing/2014/main" id="{5394B218-FC28-8EC5-F174-5E48B8AF69F2}"/>
              </a:ext>
            </a:extLst>
          </p:cNvPr>
          <p:cNvSpPr txBox="1"/>
          <p:nvPr/>
        </p:nvSpPr>
        <p:spPr>
          <a:xfrm>
            <a:off x="9807676" y="0"/>
            <a:ext cx="2384324" cy="3257174"/>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prstClr val="black"/>
                </a:solidFill>
                <a:effectLst/>
                <a:uLnTx/>
                <a:uFillTx/>
                <a:latin typeface="Calibir"/>
                <a:ea typeface="+mn-ea"/>
                <a:cs typeface="+mn-cs"/>
              </a:rPr>
              <a:t>3. Validators</a:t>
            </a: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Return True/False depending on pattern match.</a:t>
            </a:r>
            <a:endParaRPr kumimoji="0" lang="en-US" altLang="en-US" sz="2800" b="0" i="0" u="none" strike="noStrike" kern="1200" cap="none" spc="0" normalizeH="0" baseline="0" noProof="0" dirty="0">
              <a:ln>
                <a:noFill/>
              </a:ln>
              <a:solidFill>
                <a:prstClr val="black"/>
              </a:solidFill>
              <a:effectLst/>
              <a:uLnTx/>
              <a:uFillTx/>
              <a:latin typeface="Calibir"/>
              <a:ea typeface="+mn-ea"/>
              <a:cs typeface="+mn-cs"/>
            </a:endParaRPr>
          </a:p>
        </p:txBody>
      </p:sp>
      <p:sp>
        <p:nvSpPr>
          <p:cNvPr id="14" name="Rectangle: Rounded Corners 13">
            <a:extLst>
              <a:ext uri="{FF2B5EF4-FFF2-40B4-BE49-F238E27FC236}">
                <a16:creationId xmlns:a16="http://schemas.microsoft.com/office/drawing/2014/main" id="{1248388B-4ACE-62B0-69DD-5F0F9AA90DB5}"/>
              </a:ext>
            </a:extLst>
          </p:cNvPr>
          <p:cNvSpPr/>
          <p:nvPr/>
        </p:nvSpPr>
        <p:spPr>
          <a:xfrm>
            <a:off x="-2" y="2899423"/>
            <a:ext cx="9719190" cy="31572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Rounded Corners 3">
            <a:extLst>
              <a:ext uri="{FF2B5EF4-FFF2-40B4-BE49-F238E27FC236}">
                <a16:creationId xmlns:a16="http://schemas.microsoft.com/office/drawing/2014/main" id="{DE39F51D-2CB2-DDA8-978A-A7D047CE1118}"/>
              </a:ext>
            </a:extLst>
          </p:cNvPr>
          <p:cNvSpPr/>
          <p:nvPr/>
        </p:nvSpPr>
        <p:spPr>
          <a:xfrm>
            <a:off x="-2" y="3744507"/>
            <a:ext cx="9719190" cy="31572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itle 1">
            <a:extLst>
              <a:ext uri="{FF2B5EF4-FFF2-40B4-BE49-F238E27FC236}">
                <a16:creationId xmlns:a16="http://schemas.microsoft.com/office/drawing/2014/main" id="{7AADA02C-0411-0AAF-119E-BA1EEBF71614}"/>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0335514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148CE-D9C3-FE0F-DDFD-9F094692EBD9}"/>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133DE91E-36CA-5D8F-628E-05BF6CCA0F9D}"/>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Email &amp; password patterns (Python):</a:t>
            </a:r>
          </a:p>
        </p:txBody>
      </p:sp>
      <p:pic>
        <p:nvPicPr>
          <p:cNvPr id="9" name="Picture 8">
            <a:extLst>
              <a:ext uri="{FF2B5EF4-FFF2-40B4-BE49-F238E27FC236}">
                <a16:creationId xmlns:a16="http://schemas.microsoft.com/office/drawing/2014/main" id="{D19EB2D2-B71B-B675-C4AC-F864E063652C}"/>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sp>
        <p:nvSpPr>
          <p:cNvPr id="13" name="TextBox 12">
            <a:extLst>
              <a:ext uri="{FF2B5EF4-FFF2-40B4-BE49-F238E27FC236}">
                <a16:creationId xmlns:a16="http://schemas.microsoft.com/office/drawing/2014/main" id="{0C10C594-0DEC-34A8-0DBF-ECC7DA065640}"/>
              </a:ext>
            </a:extLst>
          </p:cNvPr>
          <p:cNvSpPr txBox="1"/>
          <p:nvPr/>
        </p:nvSpPr>
        <p:spPr>
          <a:xfrm>
            <a:off x="9807676" y="-5614"/>
            <a:ext cx="2384324" cy="3907095"/>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4.  Quick test</a:t>
            </a:r>
            <a:br>
              <a:rPr kumimoji="0" lang="en-US" sz="2800" b="0" i="0" u="none" strike="noStrike" kern="1200" cap="none" spc="0" normalizeH="0" baseline="0" noProof="0" dirty="0">
                <a:ln>
                  <a:noFill/>
                </a:ln>
                <a:solidFill>
                  <a:prstClr val="black"/>
                </a:solidFill>
                <a:effectLst/>
                <a:uLnTx/>
                <a:uFillTx/>
                <a:latin typeface="Calibir"/>
                <a:ea typeface="+mn-ea"/>
                <a:cs typeface="+mn-cs"/>
              </a:rPr>
            </a:br>
            <a:r>
              <a:rPr kumimoji="0" lang="en-US" sz="2800" b="0" i="0" u="none" strike="noStrike" kern="1200" cap="none" spc="0" normalizeH="0" baseline="0" noProof="0" dirty="0">
                <a:ln>
                  <a:noFill/>
                </a:ln>
                <a:solidFill>
                  <a:prstClr val="black"/>
                </a:solidFill>
                <a:effectLst/>
                <a:uLnTx/>
                <a:uFillTx/>
                <a:latin typeface="Calibir"/>
                <a:ea typeface="+mn-ea"/>
                <a:cs typeface="+mn-cs"/>
              </a:rPr>
              <a:t>Loops over sample emails/passwords and prints results.</a:t>
            </a:r>
            <a:endParaRPr kumimoji="0" lang="en-US" altLang="en-US" sz="2800" b="0" i="0" u="none" strike="noStrike" kern="1200" cap="none" spc="0" normalizeH="0" baseline="0" noProof="0" dirty="0">
              <a:ln>
                <a:noFill/>
              </a:ln>
              <a:solidFill>
                <a:prstClr val="black"/>
              </a:solidFill>
              <a:effectLst/>
              <a:uLnTx/>
              <a:uFillTx/>
              <a:latin typeface="Calibir"/>
              <a:ea typeface="+mn-ea"/>
              <a:cs typeface="+mn-cs"/>
            </a:endParaRPr>
          </a:p>
        </p:txBody>
      </p:sp>
      <p:sp>
        <p:nvSpPr>
          <p:cNvPr id="4" name="Rectangle: Rounded Corners 3">
            <a:extLst>
              <a:ext uri="{FF2B5EF4-FFF2-40B4-BE49-F238E27FC236}">
                <a16:creationId xmlns:a16="http://schemas.microsoft.com/office/drawing/2014/main" id="{FD9959F6-74BB-8FEC-E3F2-FBE2AA7322E4}"/>
              </a:ext>
            </a:extLst>
          </p:cNvPr>
          <p:cNvSpPr/>
          <p:nvPr/>
        </p:nvSpPr>
        <p:spPr>
          <a:xfrm>
            <a:off x="-2" y="4660095"/>
            <a:ext cx="9719190" cy="209466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Title 1">
            <a:extLst>
              <a:ext uri="{FF2B5EF4-FFF2-40B4-BE49-F238E27FC236}">
                <a16:creationId xmlns:a16="http://schemas.microsoft.com/office/drawing/2014/main" id="{02A31154-E406-5334-B2B0-E8E328F75D98}"/>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29334014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CEE21-5469-E498-9419-BEAEA0394A6C}"/>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8A040189-5F1C-C405-CFF3-C4CAD63B290C}"/>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Results:</a:t>
            </a:r>
          </a:p>
        </p:txBody>
      </p:sp>
      <p:pic>
        <p:nvPicPr>
          <p:cNvPr id="9" name="Picture 8">
            <a:extLst>
              <a:ext uri="{FF2B5EF4-FFF2-40B4-BE49-F238E27FC236}">
                <a16:creationId xmlns:a16="http://schemas.microsoft.com/office/drawing/2014/main" id="{1D20BF2A-FC9E-1ED9-DF80-910FA4114356}"/>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pic>
        <p:nvPicPr>
          <p:cNvPr id="11" name="Picture 10">
            <a:extLst>
              <a:ext uri="{FF2B5EF4-FFF2-40B4-BE49-F238E27FC236}">
                <a16:creationId xmlns:a16="http://schemas.microsoft.com/office/drawing/2014/main" id="{34270EC1-F932-0242-6840-C48A67966B57}"/>
              </a:ext>
            </a:extLst>
          </p:cNvPr>
          <p:cNvPicPr>
            <a:picLocks noChangeAspect="1"/>
          </p:cNvPicPr>
          <p:nvPr/>
        </p:nvPicPr>
        <p:blipFill>
          <a:blip r:embed="rId3"/>
          <a:srcRect l="54073" t="24946" r="20765" b="55699"/>
          <a:stretch>
            <a:fillRect/>
          </a:stretch>
        </p:blipFill>
        <p:spPr>
          <a:xfrm>
            <a:off x="7020232" y="4632979"/>
            <a:ext cx="5142271" cy="2225021"/>
          </a:xfrm>
          <a:prstGeom prst="rect">
            <a:avLst/>
          </a:prstGeom>
          <a:ln w="38100">
            <a:solidFill>
              <a:srgbClr val="FF0000"/>
            </a:solidFill>
          </a:ln>
        </p:spPr>
      </p:pic>
      <p:sp>
        <p:nvSpPr>
          <p:cNvPr id="10" name="Title 1">
            <a:extLst>
              <a:ext uri="{FF2B5EF4-FFF2-40B4-BE49-F238E27FC236}">
                <a16:creationId xmlns:a16="http://schemas.microsoft.com/office/drawing/2014/main" id="{E730E0F6-850B-4EAD-6E4D-8B638458DFD7}"/>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4220771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513B8-E13A-5E3D-4FC7-FDD7353E7D1A}"/>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93578E5F-2D1E-F891-E483-D96BDD101E86}"/>
              </a:ext>
            </a:extLst>
          </p:cNvPr>
          <p:cNvSpPr>
            <a:spLocks noChangeArrowheads="1"/>
          </p:cNvSpPr>
          <p:nvPr/>
        </p:nvSpPr>
        <p:spPr bwMode="auto">
          <a:xfrm>
            <a:off x="-29497" y="871919"/>
            <a:ext cx="12192000"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Allow student. Subdomain too</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Update the email rule so it accepts either </a:t>
            </a:r>
            <a:r>
              <a:rPr kumimoji="0" lang="en-US" sz="2800" b="0" i="0" u="none" strike="noStrike" kern="1200" cap="none" spc="0" normalizeH="0" baseline="0" noProof="0" dirty="0">
                <a:ln>
                  <a:noFill/>
                </a:ln>
                <a:solidFill>
                  <a:prstClr val="black"/>
                </a:solidFill>
                <a:effectLst/>
                <a:highlight>
                  <a:srgbClr val="FFFF00"/>
                </a:highlight>
                <a:uLnTx/>
                <a:uFillTx/>
                <a:latin typeface="Calibir"/>
                <a:ea typeface="+mn-ea"/>
                <a:cs typeface="+mn-cs"/>
              </a:rPr>
              <a:t>@university.com</a:t>
            </a:r>
            <a:r>
              <a:rPr kumimoji="0" lang="en-US" sz="2800" b="0" i="0" u="none" strike="noStrike" kern="1200" cap="none" spc="0" normalizeH="0" baseline="0" noProof="0" dirty="0">
                <a:ln>
                  <a:noFill/>
                </a:ln>
                <a:solidFill>
                  <a:prstClr val="black"/>
                </a:solidFill>
                <a:effectLst/>
                <a:uLnTx/>
                <a:uFillTx/>
                <a:latin typeface="Calibir"/>
                <a:ea typeface="+mn-ea"/>
                <a:cs typeface="+mn-cs"/>
              </a:rPr>
              <a:t> or </a:t>
            </a:r>
            <a:r>
              <a:rPr kumimoji="0" lang="en-US" sz="2800" b="0" i="0" u="none" strike="noStrike" kern="1200" cap="none" spc="0" normalizeH="0" baseline="0" noProof="0" dirty="0">
                <a:ln>
                  <a:noFill/>
                </a:ln>
                <a:solidFill>
                  <a:prstClr val="black"/>
                </a:solidFill>
                <a:effectLst/>
                <a:highlight>
                  <a:srgbClr val="FFFF00"/>
                </a:highlight>
                <a:uLnTx/>
                <a:uFillTx/>
                <a:latin typeface="Calibir"/>
                <a:ea typeface="+mn-ea"/>
                <a:cs typeface="+mn-cs"/>
              </a:rPr>
              <a:t>@student.university.com</a:t>
            </a:r>
            <a:r>
              <a:rPr kumimoji="0" lang="en-US" sz="2800" b="0" i="0" u="none" strike="noStrike" kern="1200" cap="none" spc="0" normalizeH="0" baseline="0" noProof="0" dirty="0">
                <a:ln>
                  <a:noFill/>
                </a:ln>
                <a:solidFill>
                  <a:prstClr val="black"/>
                </a:solidFill>
                <a:effectLst/>
                <a:uLnTx/>
                <a:uFillTx/>
                <a:latin typeface="Calibir"/>
                <a:ea typeface="+mn-ea"/>
                <a:cs typeface="+mn-cs"/>
              </a:rPr>
              <a:t>.</a:t>
            </a:r>
          </a:p>
        </p:txBody>
      </p:sp>
      <p:pic>
        <p:nvPicPr>
          <p:cNvPr id="5" name="Picture 4">
            <a:extLst>
              <a:ext uri="{FF2B5EF4-FFF2-40B4-BE49-F238E27FC236}">
                <a16:creationId xmlns:a16="http://schemas.microsoft.com/office/drawing/2014/main" id="{A9F742ED-2459-59BB-0D5A-8FC89AE5BB48}"/>
              </a:ext>
            </a:extLst>
          </p:cNvPr>
          <p:cNvPicPr>
            <a:picLocks noChangeAspect="1"/>
          </p:cNvPicPr>
          <p:nvPr/>
        </p:nvPicPr>
        <p:blipFill>
          <a:blip r:embed="rId4"/>
          <a:srcRect l="8346" t="11187" r="8913" b="51614"/>
          <a:stretch>
            <a:fillRect/>
          </a:stretch>
        </p:blipFill>
        <p:spPr>
          <a:xfrm>
            <a:off x="1" y="3111084"/>
            <a:ext cx="12191999" cy="3083239"/>
          </a:xfrm>
          <a:prstGeom prst="rect">
            <a:avLst/>
          </a:prstGeom>
        </p:spPr>
      </p:pic>
      <p:pic>
        <p:nvPicPr>
          <p:cNvPr id="4" name="Timer">
            <a:hlinkClick r:id="" action="ppaction://media"/>
            <a:extLst>
              <a:ext uri="{FF2B5EF4-FFF2-40B4-BE49-F238E27FC236}">
                <a16:creationId xmlns:a16="http://schemas.microsoft.com/office/drawing/2014/main" id="{147CAD8E-FD80-8E5F-40ED-0B331A36F629}"/>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40408" t="44516" r="40718" b="39785"/>
          <a:stretch>
            <a:fillRect/>
          </a:stretch>
        </p:blipFill>
        <p:spPr>
          <a:xfrm>
            <a:off x="9861753" y="1854175"/>
            <a:ext cx="2300750" cy="1076632"/>
          </a:xfrm>
          <a:prstGeom prst="rect">
            <a:avLst/>
          </a:prstGeom>
          <a:ln w="38100">
            <a:solidFill>
              <a:srgbClr val="FF0000"/>
            </a:solidFill>
          </a:ln>
        </p:spPr>
      </p:pic>
      <p:sp>
        <p:nvSpPr>
          <p:cNvPr id="10" name="Title 1">
            <a:extLst>
              <a:ext uri="{FF2B5EF4-FFF2-40B4-BE49-F238E27FC236}">
                <a16:creationId xmlns:a16="http://schemas.microsoft.com/office/drawing/2014/main" id="{DA7D0218-F0F8-7911-2820-D3CEE2EFD457}"/>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666637119"/>
      </p:ext>
    </p:extLst>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57C45-16C3-7D3F-5ED5-22AFD7DD86F4}"/>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80AEB238-8BA6-99FC-D85F-84E272E44162}"/>
              </a:ext>
            </a:extLst>
          </p:cNvPr>
          <p:cNvPicPr>
            <a:picLocks noChangeAspect="1"/>
          </p:cNvPicPr>
          <p:nvPr/>
        </p:nvPicPr>
        <p:blipFill>
          <a:blip r:embed="rId2"/>
          <a:srcRect l="7863" r="7460" b="17144"/>
          <a:stretch>
            <a:fillRect/>
          </a:stretch>
        </p:blipFill>
        <p:spPr>
          <a:xfrm>
            <a:off x="0" y="73742"/>
            <a:ext cx="12192000" cy="6710516"/>
          </a:xfrm>
          <a:prstGeom prst="rect">
            <a:avLst/>
          </a:prstGeom>
        </p:spPr>
      </p:pic>
    </p:spTree>
    <p:extLst>
      <p:ext uri="{BB962C8B-B14F-4D97-AF65-F5344CB8AC3E}">
        <p14:creationId xmlns:p14="http://schemas.microsoft.com/office/powerpoint/2010/main" val="4191685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F1A9E-7BF5-323B-5264-443A2D2A3E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C5720-1FDB-5606-216B-F83D2996E4B5}"/>
              </a:ext>
            </a:extLst>
          </p:cNvPr>
          <p:cNvSpPr>
            <a:spLocks noGrp="1"/>
          </p:cNvSpPr>
          <p:nvPr>
            <p:ph type="title"/>
          </p:nvPr>
        </p:nvSpPr>
        <p:spPr>
          <a:xfrm>
            <a:off x="0" y="1066912"/>
            <a:ext cx="12192000" cy="669415"/>
          </a:xfrm>
        </p:spPr>
        <p:txBody>
          <a:bodyPr anchor="b">
            <a:normAutofit/>
          </a:bodyPr>
          <a:lstStyle/>
          <a:p>
            <a:r>
              <a:rPr lang="en-US" sz="2800" b="1" dirty="0">
                <a:latin typeface="Calibir"/>
              </a:rPr>
              <a:t>Allow optional </a:t>
            </a:r>
            <a:r>
              <a:rPr lang="en-US" sz="2800" b="1" dirty="0">
                <a:highlight>
                  <a:srgbClr val="FFFF00"/>
                </a:highlight>
                <a:latin typeface="Calibir"/>
              </a:rPr>
              <a:t>- or _ </a:t>
            </a:r>
            <a:r>
              <a:rPr lang="en-US" sz="2800" b="1" dirty="0">
                <a:latin typeface="Calibir"/>
              </a:rPr>
              <a:t>before digits in password</a:t>
            </a:r>
            <a:endParaRPr lang="en-AU" sz="2800" b="1" dirty="0">
              <a:latin typeface="Calibir"/>
            </a:endParaRPr>
          </a:p>
        </p:txBody>
      </p:sp>
      <p:sp>
        <p:nvSpPr>
          <p:cNvPr id="4" name="TextBox 3">
            <a:extLst>
              <a:ext uri="{FF2B5EF4-FFF2-40B4-BE49-F238E27FC236}">
                <a16:creationId xmlns:a16="http://schemas.microsoft.com/office/drawing/2014/main" id="{2FF89BED-24CE-A7B9-95C1-D2563B71442D}"/>
              </a:ext>
            </a:extLst>
          </p:cNvPr>
          <p:cNvSpPr txBox="1"/>
          <p:nvPr/>
        </p:nvSpPr>
        <p:spPr>
          <a:xfrm>
            <a:off x="-113070" y="1905648"/>
            <a:ext cx="620907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Change just the password regex line:</a:t>
            </a:r>
          </a:p>
        </p:txBody>
      </p:sp>
      <p:sp>
        <p:nvSpPr>
          <p:cNvPr id="6" name="TextBox 5">
            <a:extLst>
              <a:ext uri="{FF2B5EF4-FFF2-40B4-BE49-F238E27FC236}">
                <a16:creationId xmlns:a16="http://schemas.microsoft.com/office/drawing/2014/main" id="{95A21027-EC31-1412-F0A9-90B5DA6336CA}"/>
              </a:ext>
            </a:extLst>
          </p:cNvPr>
          <p:cNvSpPr txBox="1"/>
          <p:nvPr/>
        </p:nvSpPr>
        <p:spPr>
          <a:xfrm>
            <a:off x="0" y="2428868"/>
            <a:ext cx="12192000" cy="669414"/>
          </a:xfrm>
          <a:prstGeom prst="rect">
            <a:avLst/>
          </a:prstGeom>
          <a:solidFill>
            <a:schemeClr val="tx1"/>
          </a:solid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pl-PL" sz="2800" b="0" i="0" u="none" strike="noStrike" kern="1200" cap="none" spc="0" normalizeH="0" baseline="0" noProof="0" dirty="0">
                <a:ln>
                  <a:noFill/>
                </a:ln>
                <a:solidFill>
                  <a:srgbClr val="4FC1FF"/>
                </a:solidFill>
                <a:effectLst/>
                <a:uLnTx/>
                <a:uFillTx/>
                <a:latin typeface="Consolas" panose="020B0609020204030204" pitchFamily="49" charset="0"/>
                <a:ea typeface="+mn-ea"/>
                <a:cs typeface="+mn-cs"/>
              </a:rPr>
              <a:t>PWD_RE</a:t>
            </a:r>
            <a:r>
              <a:rPr kumimoji="0" lang="pl-PL"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pl-PL" sz="2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pl-PL"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pl-PL" sz="28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r</a:t>
            </a:r>
            <a:r>
              <a:rPr kumimoji="0" lang="pl-PL" sz="2800" b="0" i="0" u="none" strike="noStrike" kern="1200" cap="none" spc="0" normalizeH="0" baseline="0" noProof="0" dirty="0">
                <a:ln>
                  <a:noFill/>
                </a:ln>
                <a:solidFill>
                  <a:srgbClr val="D16969"/>
                </a:solidFill>
                <a:effectLst/>
                <a:uLnTx/>
                <a:uFillTx/>
                <a:latin typeface="Consolas" panose="020B0609020204030204" pitchFamily="49" charset="0"/>
                <a:ea typeface="+mn-ea"/>
                <a:cs typeface="+mn-cs"/>
              </a:rPr>
              <a:t>'^</a:t>
            </a:r>
            <a:r>
              <a:rPr kumimoji="0" lang="pl-PL"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pl-PL" sz="2800" b="0" i="0" u="none" strike="noStrike" kern="1200" cap="none" spc="0" normalizeH="0" baseline="0" noProof="0" dirty="0">
                <a:ln>
                  <a:noFill/>
                </a:ln>
                <a:solidFill>
                  <a:srgbClr val="D16969"/>
                </a:solidFill>
                <a:effectLst/>
                <a:uLnTx/>
                <a:uFillTx/>
                <a:latin typeface="Consolas" panose="020B0609020204030204" pitchFamily="49" charset="0"/>
                <a:ea typeface="+mn-ea"/>
                <a:cs typeface="+mn-cs"/>
              </a:rPr>
              <a:t>A-Z</a:t>
            </a:r>
            <a:r>
              <a:rPr kumimoji="0" lang="pl-PL"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pl-PL" sz="2800" b="0" i="0" u="none" strike="noStrike" kern="1200" cap="none" spc="0" normalizeH="0" baseline="0" noProof="0" dirty="0">
                <a:ln>
                  <a:noFill/>
                </a:ln>
                <a:solidFill>
                  <a:srgbClr val="D16969"/>
                </a:solidFill>
                <a:effectLst/>
                <a:uLnTx/>
                <a:uFillTx/>
                <a:latin typeface="Consolas" panose="020B0609020204030204" pitchFamily="49" charset="0"/>
                <a:ea typeface="+mn-ea"/>
                <a:cs typeface="+mn-cs"/>
              </a:rPr>
              <a:t>A-Za-z</a:t>
            </a:r>
            <a:r>
              <a:rPr kumimoji="0" lang="pl-PL"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pl-PL" sz="2800" b="0" i="0" u="none" strike="noStrike" kern="1200" cap="none" spc="0" normalizeH="0" baseline="0" noProof="0" dirty="0">
                <a:ln>
                  <a:noFill/>
                </a:ln>
                <a:solidFill>
                  <a:srgbClr val="D7BA7D"/>
                </a:solidFill>
                <a:effectLst/>
                <a:uLnTx/>
                <a:uFillTx/>
                <a:latin typeface="Consolas" panose="020B0609020204030204" pitchFamily="49" charset="0"/>
                <a:ea typeface="+mn-ea"/>
                <a:cs typeface="+mn-cs"/>
              </a:rPr>
              <a:t>{4,}</a:t>
            </a:r>
            <a:r>
              <a:rPr kumimoji="0" lang="pl-PL" sz="2800" b="0" i="0" u="none" strike="noStrike" kern="1200" cap="none" spc="0" normalizeH="0" baseline="0" noProof="0" dirty="0">
                <a:ln>
                  <a:noFill/>
                </a:ln>
                <a:solidFill>
                  <a:srgbClr val="D16969"/>
                </a:solidFill>
                <a:effectLst/>
                <a:uLnTx/>
                <a:uFillTx/>
                <a:latin typeface="Consolas" panose="020B0609020204030204" pitchFamily="49" charset="0"/>
                <a:ea typeface="+mn-ea"/>
                <a:cs typeface="+mn-cs"/>
              </a:rPr>
              <a:t>\d</a:t>
            </a:r>
            <a:r>
              <a:rPr kumimoji="0" lang="pl-PL" sz="2800" b="0" i="0" u="none" strike="noStrike" kern="1200" cap="none" spc="0" normalizeH="0" baseline="0" noProof="0" dirty="0">
                <a:ln>
                  <a:noFill/>
                </a:ln>
                <a:solidFill>
                  <a:srgbClr val="D7BA7D"/>
                </a:solidFill>
                <a:effectLst/>
                <a:uLnTx/>
                <a:uFillTx/>
                <a:latin typeface="Consolas" panose="020B0609020204030204" pitchFamily="49" charset="0"/>
                <a:ea typeface="+mn-ea"/>
                <a:cs typeface="+mn-cs"/>
              </a:rPr>
              <a:t>{3,}</a:t>
            </a:r>
            <a:r>
              <a:rPr kumimoji="0" lang="pl-PL" sz="2800" b="0" i="0" u="none" strike="noStrike" kern="1200" cap="none" spc="0" normalizeH="0" baseline="0" noProof="0" dirty="0">
                <a:ln>
                  <a:noFill/>
                </a:ln>
                <a:solidFill>
                  <a:srgbClr val="D16969"/>
                </a:solidFill>
                <a:effectLst/>
                <a:uLnTx/>
                <a:uFillTx/>
                <a:latin typeface="Consolas" panose="020B0609020204030204" pitchFamily="49" charset="0"/>
                <a:ea typeface="+mn-ea"/>
                <a:cs typeface="+mn-cs"/>
              </a:rPr>
              <a:t>$'</a:t>
            </a:r>
            <a:endParaRPr kumimoji="0" lang="pl-PL"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p:txBody>
      </p:sp>
      <p:sp>
        <p:nvSpPr>
          <p:cNvPr id="8" name="TextBox 7">
            <a:extLst>
              <a:ext uri="{FF2B5EF4-FFF2-40B4-BE49-F238E27FC236}">
                <a16:creationId xmlns:a16="http://schemas.microsoft.com/office/drawing/2014/main" id="{528AF03B-714C-C1F0-1386-A25A40268B57}"/>
              </a:ext>
            </a:extLst>
          </p:cNvPr>
          <p:cNvSpPr txBox="1"/>
          <p:nvPr/>
        </p:nvSpPr>
        <p:spPr>
          <a:xfrm>
            <a:off x="0" y="3975240"/>
            <a:ext cx="12192000" cy="669414"/>
          </a:xfrm>
          <a:prstGeom prst="rect">
            <a:avLst/>
          </a:prstGeom>
          <a:solidFill>
            <a:schemeClr val="tx1"/>
          </a:solid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pl-PL" sz="2800" b="0" i="0" u="none" strike="noStrike" kern="1200" cap="none" spc="0" normalizeH="0" baseline="0" noProof="0" dirty="0">
                <a:ln>
                  <a:noFill/>
                </a:ln>
                <a:solidFill>
                  <a:srgbClr val="4FC1FF"/>
                </a:solidFill>
                <a:effectLst/>
                <a:uLnTx/>
                <a:uFillTx/>
                <a:latin typeface="Consolas" panose="020B0609020204030204" pitchFamily="49" charset="0"/>
                <a:ea typeface="+mn-ea"/>
                <a:cs typeface="+mn-cs"/>
              </a:rPr>
              <a:t>PWD_RE</a:t>
            </a:r>
            <a:r>
              <a:rPr kumimoji="0" lang="pl-PL"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pl-PL" sz="2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pl-PL"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pl-PL" sz="28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r</a:t>
            </a:r>
            <a:r>
              <a:rPr kumimoji="0" lang="pl-PL" sz="2800" b="0" i="0" u="none" strike="noStrike" kern="1200" cap="none" spc="0" normalizeH="0" baseline="0" noProof="0" dirty="0">
                <a:ln>
                  <a:noFill/>
                </a:ln>
                <a:solidFill>
                  <a:srgbClr val="D16969"/>
                </a:solidFill>
                <a:effectLst/>
                <a:uLnTx/>
                <a:uFillTx/>
                <a:latin typeface="Consolas" panose="020B0609020204030204" pitchFamily="49" charset="0"/>
                <a:ea typeface="+mn-ea"/>
                <a:cs typeface="+mn-cs"/>
              </a:rPr>
              <a:t>'^</a:t>
            </a:r>
            <a:r>
              <a:rPr kumimoji="0" lang="pl-PL"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pl-PL" sz="2800" b="0" i="0" u="none" strike="noStrike" kern="1200" cap="none" spc="0" normalizeH="0" baseline="0" noProof="0" dirty="0">
                <a:ln>
                  <a:noFill/>
                </a:ln>
                <a:solidFill>
                  <a:srgbClr val="D16969"/>
                </a:solidFill>
                <a:effectLst/>
                <a:uLnTx/>
                <a:uFillTx/>
                <a:latin typeface="Consolas" panose="020B0609020204030204" pitchFamily="49" charset="0"/>
                <a:ea typeface="+mn-ea"/>
                <a:cs typeface="+mn-cs"/>
              </a:rPr>
              <a:t>A-Z</a:t>
            </a:r>
            <a:r>
              <a:rPr kumimoji="0" lang="pl-PL"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pl-PL" sz="2800" b="0" i="0" u="none" strike="noStrike" kern="1200" cap="none" spc="0" normalizeH="0" baseline="0" noProof="0" dirty="0">
                <a:ln>
                  <a:noFill/>
                </a:ln>
                <a:solidFill>
                  <a:srgbClr val="D16969"/>
                </a:solidFill>
                <a:effectLst/>
                <a:uLnTx/>
                <a:uFillTx/>
                <a:latin typeface="Consolas" panose="020B0609020204030204" pitchFamily="49" charset="0"/>
                <a:ea typeface="+mn-ea"/>
                <a:cs typeface="+mn-cs"/>
              </a:rPr>
              <a:t>A-Za-z</a:t>
            </a:r>
            <a:r>
              <a:rPr kumimoji="0" lang="pl-PL"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pl-PL" sz="2800" b="0" i="0" u="none" strike="noStrike" kern="1200" cap="none" spc="0" normalizeH="0" baseline="0" noProof="0" dirty="0">
                <a:ln>
                  <a:noFill/>
                </a:ln>
                <a:solidFill>
                  <a:srgbClr val="D7BA7D"/>
                </a:solidFill>
                <a:effectLst/>
                <a:uLnTx/>
                <a:uFillTx/>
                <a:latin typeface="Consolas" panose="020B0609020204030204" pitchFamily="49" charset="0"/>
                <a:ea typeface="+mn-ea"/>
                <a:cs typeface="+mn-cs"/>
              </a:rPr>
              <a:t>{4,}</a:t>
            </a:r>
            <a:r>
              <a:rPr kumimoji="0" lang="pl-PL"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pl-PL" sz="2800" b="0" i="0" u="none" strike="noStrike" kern="1200" cap="none" spc="0" normalizeH="0" baseline="0" noProof="0" dirty="0">
                <a:ln>
                  <a:noFill/>
                </a:ln>
                <a:solidFill>
                  <a:srgbClr val="D16969"/>
                </a:solidFill>
                <a:effectLst/>
                <a:uLnTx/>
                <a:uFillTx/>
                <a:latin typeface="Consolas" panose="020B0609020204030204" pitchFamily="49" charset="0"/>
                <a:ea typeface="+mn-ea"/>
                <a:cs typeface="+mn-cs"/>
              </a:rPr>
              <a:t>-_</a:t>
            </a:r>
            <a:r>
              <a:rPr kumimoji="0" lang="pl-PL"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pl-PL" sz="2800" b="0" i="0" u="none" strike="noStrike" kern="1200" cap="none" spc="0" normalizeH="0" baseline="0" noProof="0" dirty="0">
                <a:ln>
                  <a:noFill/>
                </a:ln>
                <a:solidFill>
                  <a:srgbClr val="D7BA7D"/>
                </a:solidFill>
                <a:effectLst/>
                <a:uLnTx/>
                <a:uFillTx/>
                <a:latin typeface="Consolas" panose="020B0609020204030204" pitchFamily="49" charset="0"/>
                <a:ea typeface="+mn-ea"/>
                <a:cs typeface="+mn-cs"/>
              </a:rPr>
              <a:t>?</a:t>
            </a:r>
            <a:r>
              <a:rPr kumimoji="0" lang="pl-PL" sz="2800" b="0" i="0" u="none" strike="noStrike" kern="1200" cap="none" spc="0" normalizeH="0" baseline="0" noProof="0" dirty="0">
                <a:ln>
                  <a:noFill/>
                </a:ln>
                <a:solidFill>
                  <a:srgbClr val="D16969"/>
                </a:solidFill>
                <a:effectLst/>
                <a:uLnTx/>
                <a:uFillTx/>
                <a:latin typeface="Consolas" panose="020B0609020204030204" pitchFamily="49" charset="0"/>
                <a:ea typeface="+mn-ea"/>
                <a:cs typeface="+mn-cs"/>
              </a:rPr>
              <a:t>\d</a:t>
            </a:r>
            <a:r>
              <a:rPr kumimoji="0" lang="pl-PL" sz="2800" b="0" i="0" u="none" strike="noStrike" kern="1200" cap="none" spc="0" normalizeH="0" baseline="0" noProof="0" dirty="0">
                <a:ln>
                  <a:noFill/>
                </a:ln>
                <a:solidFill>
                  <a:srgbClr val="D7BA7D"/>
                </a:solidFill>
                <a:effectLst/>
                <a:uLnTx/>
                <a:uFillTx/>
                <a:latin typeface="Consolas" panose="020B0609020204030204" pitchFamily="49" charset="0"/>
                <a:ea typeface="+mn-ea"/>
                <a:cs typeface="+mn-cs"/>
              </a:rPr>
              <a:t>{3,}</a:t>
            </a:r>
            <a:r>
              <a:rPr kumimoji="0" lang="pl-PL" sz="2800" b="0" i="0" u="none" strike="noStrike" kern="1200" cap="none" spc="0" normalizeH="0" baseline="0" noProof="0" dirty="0">
                <a:ln>
                  <a:noFill/>
                </a:ln>
                <a:solidFill>
                  <a:srgbClr val="D16969"/>
                </a:solidFill>
                <a:effectLst/>
                <a:uLnTx/>
                <a:uFillTx/>
                <a:latin typeface="Consolas" panose="020B0609020204030204" pitchFamily="49" charset="0"/>
                <a:ea typeface="+mn-ea"/>
                <a:cs typeface="+mn-cs"/>
              </a:rPr>
              <a:t>$'</a:t>
            </a:r>
            <a:endParaRPr kumimoji="0" lang="pl-PL"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p:txBody>
      </p:sp>
      <p:cxnSp>
        <p:nvCxnSpPr>
          <p:cNvPr id="10" name="Connector: Elbow 9">
            <a:extLst>
              <a:ext uri="{FF2B5EF4-FFF2-40B4-BE49-F238E27FC236}">
                <a16:creationId xmlns:a16="http://schemas.microsoft.com/office/drawing/2014/main" id="{A53400AC-4E6A-0530-A0E5-3125A8A70762}"/>
              </a:ext>
            </a:extLst>
          </p:cNvPr>
          <p:cNvCxnSpPr>
            <a:cxnSpLocks/>
            <a:endCxn id="8" idx="0"/>
          </p:cNvCxnSpPr>
          <p:nvPr/>
        </p:nvCxnSpPr>
        <p:spPr>
          <a:xfrm rot="16200000" flipH="1">
            <a:off x="5256856" y="3136096"/>
            <a:ext cx="876958" cy="801329"/>
          </a:xfrm>
          <a:prstGeom prst="bentConnector3">
            <a:avLst>
              <a:gd name="adj1" fmla="val 50000"/>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3" name="Timer">
            <a:hlinkClick r:id="" action="ppaction://media"/>
            <a:extLst>
              <a:ext uri="{FF2B5EF4-FFF2-40B4-BE49-F238E27FC236}">
                <a16:creationId xmlns:a16="http://schemas.microsoft.com/office/drawing/2014/main" id="{28ED16FE-63F0-F48D-7F55-45B61DBB69D2}"/>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08" t="44516" r="40718" b="39785"/>
          <a:stretch>
            <a:fillRect/>
          </a:stretch>
        </p:blipFill>
        <p:spPr>
          <a:xfrm>
            <a:off x="4945625" y="4983296"/>
            <a:ext cx="2300750" cy="1076632"/>
          </a:xfrm>
          <a:prstGeom prst="rect">
            <a:avLst/>
          </a:prstGeom>
          <a:ln w="38100">
            <a:solidFill>
              <a:srgbClr val="FF0000"/>
            </a:solidFill>
          </a:ln>
        </p:spPr>
      </p:pic>
      <p:sp>
        <p:nvSpPr>
          <p:cNvPr id="3" name="Title 1">
            <a:extLst>
              <a:ext uri="{FF2B5EF4-FFF2-40B4-BE49-F238E27FC236}">
                <a16:creationId xmlns:a16="http://schemas.microsoft.com/office/drawing/2014/main" id="{10E3255A-CD70-9285-B3F9-6DA0B63522ED}"/>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prstClr val="black"/>
                </a:solidFill>
                <a:effectLst/>
                <a:uLnTx/>
                <a:uFillTx/>
                <a:latin typeface="Calibir"/>
                <a:ea typeface="+mj-ea"/>
                <a:cs typeface="+mj-cs"/>
              </a:rPr>
              <a:t>Mini Coding Nudges (Email/Password, Marks, Pass/Fail etc.)</a:t>
            </a:r>
            <a:endParaRPr kumimoji="0" lang="en-AU" sz="3300" b="1" i="0" u="none" strike="noStrike" kern="1200" cap="none" spc="0" normalizeH="0" baseline="0" noProof="0" dirty="0">
              <a:ln>
                <a:noFill/>
              </a:ln>
              <a:solidFill>
                <a:prstClr val="black"/>
              </a:solidFill>
              <a:effectLst/>
              <a:uLnTx/>
              <a:uFillTx/>
              <a:latin typeface="Calibir"/>
              <a:ea typeface="+mj-ea"/>
              <a:cs typeface="+mj-cs"/>
            </a:endParaRPr>
          </a:p>
        </p:txBody>
      </p:sp>
    </p:spTree>
    <p:extLst>
      <p:ext uri="{BB962C8B-B14F-4D97-AF65-F5344CB8AC3E}">
        <p14:creationId xmlns:p14="http://schemas.microsoft.com/office/powerpoint/2010/main" val="1639002003"/>
      </p:ext>
    </p:extLst>
  </p:cSld>
  <p:clrMapOvr>
    <a:masterClrMapping/>
  </p:clrMapOvr>
  <p:timing>
    <p:tnLst>
      <p:par>
        <p:cTn id="1" dur="indefinite" restart="never" nodeType="tmRoot">
          <p:childTnLst>
            <p:video>
              <p:cMediaNode vol="80000">
                <p:cTn id="2" fill="hold" display="0">
                  <p:stCondLst>
                    <p:cond delay="indefinite"/>
                  </p:stCondLst>
                </p:cTn>
                <p:tgtEl>
                  <p:spTgt spid="13"/>
                </p:tgtEl>
              </p:cMediaNode>
            </p:video>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E2B45-44E4-F827-979C-0479E622BC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AE36A4-8D28-68CE-484A-55CBA5333CA1}"/>
              </a:ext>
            </a:extLst>
          </p:cNvPr>
          <p:cNvSpPr>
            <a:spLocks noGrp="1"/>
          </p:cNvSpPr>
          <p:nvPr>
            <p:ph type="title"/>
          </p:nvPr>
        </p:nvSpPr>
        <p:spPr>
          <a:xfrm>
            <a:off x="0" y="603614"/>
            <a:ext cx="12192000" cy="664282"/>
          </a:xfrm>
        </p:spPr>
        <p:txBody>
          <a:bodyPr anchor="b">
            <a:normAutofit/>
          </a:bodyPr>
          <a:lstStyle/>
          <a:p>
            <a:r>
              <a:rPr lang="en-US" sz="2800" b="1" dirty="0">
                <a:latin typeface="Calibir"/>
              </a:rPr>
              <a:t>Generate Random Marks and Assign Grades</a:t>
            </a:r>
            <a:endParaRPr lang="en-AU" sz="2800" b="1" dirty="0">
              <a:latin typeface="Calibir"/>
            </a:endParaRPr>
          </a:p>
        </p:txBody>
      </p:sp>
      <p:sp>
        <p:nvSpPr>
          <p:cNvPr id="5" name="TextBox 4">
            <a:extLst>
              <a:ext uri="{FF2B5EF4-FFF2-40B4-BE49-F238E27FC236}">
                <a16:creationId xmlns:a16="http://schemas.microsoft.com/office/drawing/2014/main" id="{241112B4-FC3B-E129-7352-A32F6E0975D7}"/>
              </a:ext>
            </a:extLst>
          </p:cNvPr>
          <p:cNvSpPr txBox="1"/>
          <p:nvPr/>
        </p:nvSpPr>
        <p:spPr>
          <a:xfrm>
            <a:off x="0" y="1267896"/>
            <a:ext cx="12021014" cy="2161104"/>
          </a:xfrm>
          <a:prstGeom prst="rect">
            <a:avLst/>
          </a:prstGeom>
          <a:noFill/>
        </p:spPr>
        <p:txBody>
          <a:bodyPr wrap="square">
            <a:spAutoFit/>
          </a:bodyPr>
          <a:lstStyle/>
          <a:p>
            <a:pPr marL="514350" marR="0" lvl="0"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300" b="0" i="0" u="none" strike="noStrike" kern="1200" cap="none" spc="0" normalizeH="0" baseline="0" noProof="0" dirty="0">
                <a:ln>
                  <a:noFill/>
                </a:ln>
                <a:solidFill>
                  <a:prstClr val="black"/>
                </a:solidFill>
                <a:effectLst/>
                <a:uLnTx/>
                <a:uFillTx/>
                <a:latin typeface="Calibir"/>
                <a:ea typeface="+mn-ea"/>
                <a:cs typeface="+mn-cs"/>
              </a:rPr>
              <a:t>Write a function (grade(mark)) that takes a numeric mark and returns a grade (Z, P, C, D, HD) based on the mark range.</a:t>
            </a:r>
          </a:p>
          <a:p>
            <a:pPr marL="514350" marR="0" lvl="0"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300" b="0" i="0" u="none" strike="noStrike" kern="1200" cap="none" spc="0" normalizeH="0" baseline="0" noProof="0" dirty="0">
                <a:ln>
                  <a:noFill/>
                </a:ln>
                <a:solidFill>
                  <a:prstClr val="black"/>
                </a:solidFill>
                <a:effectLst/>
                <a:uLnTx/>
                <a:uFillTx/>
                <a:latin typeface="Calibir"/>
                <a:ea typeface="+mn-ea"/>
                <a:cs typeface="+mn-cs"/>
              </a:rPr>
              <a:t>Generate a random mark between 25 and 100 using </a:t>
            </a:r>
            <a:r>
              <a:rPr kumimoji="0" lang="en-US" sz="2300" b="0" i="0" u="none" strike="noStrike" kern="1200" cap="none" spc="0" normalizeH="0" baseline="0" noProof="0" dirty="0" err="1">
                <a:ln>
                  <a:noFill/>
                </a:ln>
                <a:solidFill>
                  <a:prstClr val="black"/>
                </a:solidFill>
                <a:effectLst/>
                <a:uLnTx/>
                <a:uFillTx/>
                <a:latin typeface="Calibir"/>
                <a:ea typeface="+mn-ea"/>
                <a:cs typeface="+mn-cs"/>
              </a:rPr>
              <a:t>randint</a:t>
            </a:r>
            <a:r>
              <a:rPr kumimoji="0" lang="en-US" sz="2300" b="0" i="0" u="none" strike="noStrike" kern="1200" cap="none" spc="0" normalizeH="0" baseline="0" noProof="0" dirty="0">
                <a:ln>
                  <a:noFill/>
                </a:ln>
                <a:solidFill>
                  <a:prstClr val="black"/>
                </a:solidFill>
                <a:effectLst/>
                <a:uLnTx/>
                <a:uFillTx/>
                <a:latin typeface="Calibir"/>
                <a:ea typeface="+mn-ea"/>
                <a:cs typeface="+mn-cs"/>
              </a:rPr>
              <a:t>.</a:t>
            </a:r>
          </a:p>
          <a:p>
            <a:pPr marL="514350" marR="0" lvl="0"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300" b="0" i="0" u="none" strike="noStrike" kern="1200" cap="none" spc="0" normalizeH="0" baseline="0" noProof="0" dirty="0">
                <a:ln>
                  <a:noFill/>
                </a:ln>
                <a:solidFill>
                  <a:prstClr val="black"/>
                </a:solidFill>
                <a:effectLst/>
                <a:uLnTx/>
                <a:uFillTx/>
                <a:latin typeface="Calibir"/>
                <a:ea typeface="+mn-ea"/>
                <a:cs typeface="+mn-cs"/>
              </a:rPr>
              <a:t>Generate a random student ID (padded with zeros to 3 digits).</a:t>
            </a:r>
          </a:p>
        </p:txBody>
      </p:sp>
      <p:sp>
        <p:nvSpPr>
          <p:cNvPr id="6" name="TextBox 5">
            <a:extLst>
              <a:ext uri="{FF2B5EF4-FFF2-40B4-BE49-F238E27FC236}">
                <a16:creationId xmlns:a16="http://schemas.microsoft.com/office/drawing/2014/main" id="{DC040AE5-75E2-F6A9-59C1-514633F0CEC1}"/>
              </a:ext>
            </a:extLst>
          </p:cNvPr>
          <p:cNvSpPr txBox="1"/>
          <p:nvPr/>
        </p:nvSpPr>
        <p:spPr>
          <a:xfrm>
            <a:off x="0" y="3340791"/>
            <a:ext cx="12021014" cy="2692019"/>
          </a:xfrm>
          <a:prstGeom prst="rect">
            <a:avLst/>
          </a:prstGeom>
          <a:noFill/>
        </p:spPr>
        <p:txBody>
          <a:bodyPr wrap="square">
            <a:spAutoFit/>
          </a:bodyPr>
          <a:lstStyle/>
          <a:p>
            <a:pPr marL="514350" marR="0" lvl="0" indent="-514350" algn="l" defTabSz="914400" rtl="0" eaLnBrk="1" fontAlgn="auto" latinLnBrk="0" hangingPunct="1">
              <a:lnSpc>
                <a:spcPct val="150000"/>
              </a:lnSpc>
              <a:spcBef>
                <a:spcPts val="0"/>
              </a:spcBef>
              <a:spcAft>
                <a:spcPts val="0"/>
              </a:spcAft>
              <a:buClrTx/>
              <a:buSzTx/>
              <a:buFont typeface="+mj-lt"/>
              <a:buAutoNum type="arabicPeriod" startAt="4"/>
              <a:tabLst/>
              <a:defRPr/>
            </a:pPr>
            <a:r>
              <a:rPr kumimoji="0" lang="en-US" sz="2300" b="0" i="0" u="none" strike="noStrike" kern="1200" cap="none" spc="0" normalizeH="0" baseline="0" noProof="0" dirty="0">
                <a:ln>
                  <a:noFill/>
                </a:ln>
                <a:solidFill>
                  <a:prstClr val="black"/>
                </a:solidFill>
                <a:effectLst/>
                <a:uLnTx/>
                <a:uFillTx/>
                <a:latin typeface="Calibir"/>
                <a:ea typeface="+mn-ea"/>
                <a:cs typeface="+mn-cs"/>
              </a:rPr>
              <a:t>Store the results in a dictionary with keys:</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solidFill>
                <a:effectLst/>
                <a:uLnTx/>
                <a:uFillTx/>
                <a:latin typeface="Calibir"/>
                <a:ea typeface="+mn-ea"/>
                <a:cs typeface="+mn-cs"/>
              </a:rPr>
              <a:t>"id" → the random student ID</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solidFill>
                <a:effectLst/>
                <a:uLnTx/>
                <a:uFillTx/>
                <a:latin typeface="Calibir"/>
                <a:ea typeface="+mn-ea"/>
                <a:cs typeface="+mn-cs"/>
              </a:rPr>
              <a:t>"mark" → the generated mark</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solidFill>
                <a:effectLst/>
                <a:uLnTx/>
                <a:uFillTx/>
                <a:latin typeface="Calibir"/>
                <a:ea typeface="+mn-ea"/>
                <a:cs typeface="+mn-cs"/>
              </a:rPr>
              <a:t>"grade" → the grade returned by the function</a:t>
            </a:r>
          </a:p>
          <a:p>
            <a:pPr marL="514350" marR="0" lvl="0" indent="-514350" algn="l" defTabSz="914400" rtl="0" eaLnBrk="1" fontAlgn="auto" latinLnBrk="0" hangingPunct="1">
              <a:lnSpc>
                <a:spcPct val="150000"/>
              </a:lnSpc>
              <a:spcBef>
                <a:spcPts val="0"/>
              </a:spcBef>
              <a:spcAft>
                <a:spcPts val="0"/>
              </a:spcAft>
              <a:buClrTx/>
              <a:buSzTx/>
              <a:buFont typeface="+mj-lt"/>
              <a:buAutoNum type="arabicPeriod" startAt="5"/>
              <a:tabLst/>
              <a:defRPr/>
            </a:pPr>
            <a:r>
              <a:rPr kumimoji="0" lang="en-US" sz="2300" b="0" i="0" u="none" strike="noStrike" kern="1200" cap="none" spc="0" normalizeH="0" baseline="0" noProof="0" dirty="0">
                <a:ln>
                  <a:noFill/>
                </a:ln>
                <a:solidFill>
                  <a:prstClr val="black"/>
                </a:solidFill>
                <a:effectLst/>
                <a:uLnTx/>
                <a:uFillTx/>
                <a:latin typeface="Calibir"/>
                <a:ea typeface="+mn-ea"/>
                <a:cs typeface="+mn-cs"/>
              </a:rPr>
              <a:t>Print the dictionary showing one student’s mark and grade.</a:t>
            </a:r>
          </a:p>
        </p:txBody>
      </p:sp>
      <p:pic>
        <p:nvPicPr>
          <p:cNvPr id="7" name="Timer">
            <a:hlinkClick r:id="" action="ppaction://media"/>
            <a:extLst>
              <a:ext uri="{FF2B5EF4-FFF2-40B4-BE49-F238E27FC236}">
                <a16:creationId xmlns:a16="http://schemas.microsoft.com/office/drawing/2014/main" id="{E8BCF29E-CDF1-8484-15E1-689BAD3E6EF2}"/>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08" t="44516" r="40718" b="39785"/>
          <a:stretch>
            <a:fillRect/>
          </a:stretch>
        </p:blipFill>
        <p:spPr>
          <a:xfrm>
            <a:off x="7588464" y="3823569"/>
            <a:ext cx="2300750" cy="1076632"/>
          </a:xfrm>
          <a:prstGeom prst="rect">
            <a:avLst/>
          </a:prstGeom>
          <a:ln w="38100">
            <a:solidFill>
              <a:srgbClr val="FF0000"/>
            </a:solidFill>
          </a:ln>
        </p:spPr>
      </p:pic>
      <p:sp>
        <p:nvSpPr>
          <p:cNvPr id="9" name="TextBox 8">
            <a:extLst>
              <a:ext uri="{FF2B5EF4-FFF2-40B4-BE49-F238E27FC236}">
                <a16:creationId xmlns:a16="http://schemas.microsoft.com/office/drawing/2014/main" id="{B993442A-2118-FECA-ABDB-245C3202A87B}"/>
              </a:ext>
            </a:extLst>
          </p:cNvPr>
          <p:cNvSpPr txBox="1"/>
          <p:nvPr/>
        </p:nvSpPr>
        <p:spPr>
          <a:xfrm>
            <a:off x="0" y="5957895"/>
            <a:ext cx="12192000" cy="880369"/>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ir"/>
                <a:ea typeface="+mn-ea"/>
                <a:cs typeface="+mn-cs"/>
              </a:rPr>
              <a:t>In short, write a Python program that assigns a random mark to a student, calculates the grade, and prints the student’s ID, mark, and grade</a:t>
            </a:r>
          </a:p>
        </p:txBody>
      </p:sp>
      <p:sp>
        <p:nvSpPr>
          <p:cNvPr id="3" name="Title 1">
            <a:extLst>
              <a:ext uri="{FF2B5EF4-FFF2-40B4-BE49-F238E27FC236}">
                <a16:creationId xmlns:a16="http://schemas.microsoft.com/office/drawing/2014/main" id="{2E96C640-4F3E-EB4D-1243-5A6B363496F7}"/>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prstClr val="black"/>
                </a:solidFill>
                <a:effectLst/>
                <a:uLnTx/>
                <a:uFillTx/>
                <a:latin typeface="Calibir"/>
                <a:ea typeface="+mj-ea"/>
                <a:cs typeface="+mj-cs"/>
              </a:rPr>
              <a:t>Mini Coding Nudges (Email/Password, Marks, Pass/Fail etc.)</a:t>
            </a:r>
            <a:endParaRPr kumimoji="0" lang="en-AU" sz="3300" b="1" i="0" u="none" strike="noStrike" kern="1200" cap="none" spc="0" normalizeH="0" baseline="0" noProof="0" dirty="0">
              <a:ln>
                <a:noFill/>
              </a:ln>
              <a:solidFill>
                <a:prstClr val="black"/>
              </a:solidFill>
              <a:effectLst/>
              <a:uLnTx/>
              <a:uFillTx/>
              <a:latin typeface="Calibir"/>
              <a:ea typeface="+mj-ea"/>
              <a:cs typeface="+mj-cs"/>
            </a:endParaRPr>
          </a:p>
        </p:txBody>
      </p:sp>
    </p:spTree>
    <p:extLst>
      <p:ext uri="{BB962C8B-B14F-4D97-AF65-F5344CB8AC3E}">
        <p14:creationId xmlns:p14="http://schemas.microsoft.com/office/powerpoint/2010/main" val="3704487026"/>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4367B-2C16-5B04-81BE-71A749D87E60}"/>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7E19A9C0-BB75-2E41-164F-537769F0AF4E}"/>
              </a:ext>
            </a:extLst>
          </p:cNvPr>
          <p:cNvPicPr>
            <a:picLocks noChangeAspect="1"/>
          </p:cNvPicPr>
          <p:nvPr/>
        </p:nvPicPr>
        <p:blipFill>
          <a:blip r:embed="rId2"/>
          <a:srcRect l="8133" t="20722" r="7741" b="29479"/>
          <a:stretch>
            <a:fillRect/>
          </a:stretch>
        </p:blipFill>
        <p:spPr>
          <a:xfrm>
            <a:off x="0" y="1336133"/>
            <a:ext cx="12192000" cy="4059635"/>
          </a:xfrm>
          <a:prstGeom prst="rect">
            <a:avLst/>
          </a:prstGeom>
        </p:spPr>
      </p:pic>
      <p:sp>
        <p:nvSpPr>
          <p:cNvPr id="14" name="TextBox 13">
            <a:extLst>
              <a:ext uri="{FF2B5EF4-FFF2-40B4-BE49-F238E27FC236}">
                <a16:creationId xmlns:a16="http://schemas.microsoft.com/office/drawing/2014/main" id="{C330A143-860C-FF8F-598D-866FCAE7B553}"/>
              </a:ext>
            </a:extLst>
          </p:cNvPr>
          <p:cNvSpPr txBox="1"/>
          <p:nvPr/>
        </p:nvSpPr>
        <p:spPr>
          <a:xfrm>
            <a:off x="108155" y="5395768"/>
            <a:ext cx="11975690" cy="67185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Imports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randint</a:t>
            </a:r>
            <a:r>
              <a:rPr kumimoji="0" lang="en-US" sz="2800" b="0" i="0" u="none" strike="noStrike" kern="1200" cap="none" spc="0" normalizeH="0" baseline="0" noProof="0" dirty="0">
                <a:ln>
                  <a:noFill/>
                </a:ln>
                <a:solidFill>
                  <a:prstClr val="black"/>
                </a:solidFill>
                <a:effectLst/>
                <a:uLnTx/>
                <a:uFillTx/>
                <a:latin typeface="Calibir"/>
                <a:ea typeface="+mn-ea"/>
                <a:cs typeface="+mn-cs"/>
              </a:rPr>
              <a:t>(a, b) to make random integers including both ends.</a:t>
            </a:r>
          </a:p>
        </p:txBody>
      </p:sp>
      <p:sp>
        <p:nvSpPr>
          <p:cNvPr id="15" name="Rectangle: Rounded Corners 14">
            <a:extLst>
              <a:ext uri="{FF2B5EF4-FFF2-40B4-BE49-F238E27FC236}">
                <a16:creationId xmlns:a16="http://schemas.microsoft.com/office/drawing/2014/main" id="{DC98D152-5263-5A24-2FBB-87857293E246}"/>
              </a:ext>
            </a:extLst>
          </p:cNvPr>
          <p:cNvSpPr/>
          <p:nvPr/>
        </p:nvSpPr>
        <p:spPr>
          <a:xfrm>
            <a:off x="0" y="1336133"/>
            <a:ext cx="4970206" cy="52216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DF3CA20D-C574-02AA-C850-4624770A38D5}"/>
              </a:ext>
            </a:extLst>
          </p:cNvPr>
          <p:cNvSpPr>
            <a:spLocks noGrp="1"/>
          </p:cNvSpPr>
          <p:nvPr>
            <p:ph type="title"/>
          </p:nvPr>
        </p:nvSpPr>
        <p:spPr>
          <a:xfrm>
            <a:off x="0" y="603614"/>
            <a:ext cx="12192000" cy="664282"/>
          </a:xfrm>
        </p:spPr>
        <p:txBody>
          <a:bodyPr anchor="b">
            <a:normAutofit/>
          </a:bodyPr>
          <a:lstStyle/>
          <a:p>
            <a:r>
              <a:rPr lang="en-US" sz="2800" b="1" dirty="0">
                <a:latin typeface="Calibir"/>
              </a:rPr>
              <a:t>Generate Random Marks and Assign Grades</a:t>
            </a:r>
            <a:endParaRPr lang="en-AU" sz="2800" b="1" dirty="0">
              <a:latin typeface="Calibir"/>
            </a:endParaRPr>
          </a:p>
        </p:txBody>
      </p:sp>
      <p:sp>
        <p:nvSpPr>
          <p:cNvPr id="7" name="Title 1">
            <a:extLst>
              <a:ext uri="{FF2B5EF4-FFF2-40B4-BE49-F238E27FC236}">
                <a16:creationId xmlns:a16="http://schemas.microsoft.com/office/drawing/2014/main" id="{815E5BD9-A8B5-1F9A-BB91-E2D2CBCBF507}"/>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prstClr val="black"/>
                </a:solidFill>
                <a:effectLst/>
                <a:uLnTx/>
                <a:uFillTx/>
                <a:latin typeface="Calibir"/>
                <a:ea typeface="+mj-ea"/>
                <a:cs typeface="+mj-cs"/>
              </a:rPr>
              <a:t>Mini Coding Nudges (Email/Password, Marks, Pass/Fail etc.)</a:t>
            </a:r>
            <a:endParaRPr kumimoji="0" lang="en-AU" sz="3300" b="1" i="0" u="none" strike="noStrike" kern="1200" cap="none" spc="0" normalizeH="0" baseline="0" noProof="0" dirty="0">
              <a:ln>
                <a:noFill/>
              </a:ln>
              <a:solidFill>
                <a:prstClr val="black"/>
              </a:solidFill>
              <a:effectLst/>
              <a:uLnTx/>
              <a:uFillTx/>
              <a:latin typeface="Calibir"/>
              <a:ea typeface="+mj-ea"/>
              <a:cs typeface="+mj-cs"/>
            </a:endParaRPr>
          </a:p>
        </p:txBody>
      </p:sp>
    </p:spTree>
    <p:extLst>
      <p:ext uri="{BB962C8B-B14F-4D97-AF65-F5344CB8AC3E}">
        <p14:creationId xmlns:p14="http://schemas.microsoft.com/office/powerpoint/2010/main" val="12473258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AE012-52EF-54F7-75F0-8E4B0104196B}"/>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BF1422A8-912E-5D27-03FB-46809221C7F7}"/>
              </a:ext>
            </a:extLst>
          </p:cNvPr>
          <p:cNvPicPr>
            <a:picLocks noChangeAspect="1"/>
          </p:cNvPicPr>
          <p:nvPr/>
        </p:nvPicPr>
        <p:blipFill>
          <a:blip r:embed="rId2"/>
          <a:srcRect l="8133" t="20722" r="7741" b="29479"/>
          <a:stretch>
            <a:fillRect/>
          </a:stretch>
        </p:blipFill>
        <p:spPr>
          <a:xfrm>
            <a:off x="0" y="1336133"/>
            <a:ext cx="12192000" cy="4059635"/>
          </a:xfrm>
          <a:prstGeom prst="rect">
            <a:avLst/>
          </a:prstGeom>
        </p:spPr>
      </p:pic>
      <p:sp>
        <p:nvSpPr>
          <p:cNvPr id="14" name="TextBox 13">
            <a:extLst>
              <a:ext uri="{FF2B5EF4-FFF2-40B4-BE49-F238E27FC236}">
                <a16:creationId xmlns:a16="http://schemas.microsoft.com/office/drawing/2014/main" id="{6BA4513A-045B-0A12-E823-4F8AE4DDBF66}"/>
              </a:ext>
            </a:extLst>
          </p:cNvPr>
          <p:cNvSpPr txBox="1"/>
          <p:nvPr/>
        </p:nvSpPr>
        <p:spPr>
          <a:xfrm>
            <a:off x="108155" y="5395768"/>
            <a:ext cx="11975690" cy="1318181"/>
          </a:xfrm>
          <a:prstGeom prst="rect">
            <a:avLst/>
          </a:prstGeom>
          <a:noFill/>
        </p:spPr>
        <p:txBody>
          <a:bodyPr wrap="square">
            <a:spAutoFit/>
          </a:bodyPr>
          <a:lstStyle/>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A function that turns a numeric mark into a grade using the required bands:</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&lt;50 → Z, 50–64 → P, 65–74 → C, 75–84 → D, ≥85 → HD.</a:t>
            </a:r>
          </a:p>
        </p:txBody>
      </p:sp>
      <p:sp>
        <p:nvSpPr>
          <p:cNvPr id="15" name="Rectangle: Rounded Corners 14">
            <a:extLst>
              <a:ext uri="{FF2B5EF4-FFF2-40B4-BE49-F238E27FC236}">
                <a16:creationId xmlns:a16="http://schemas.microsoft.com/office/drawing/2014/main" id="{FBF0F1DA-C024-1A53-68C6-D6257448E4A6}"/>
              </a:ext>
            </a:extLst>
          </p:cNvPr>
          <p:cNvSpPr/>
          <p:nvPr/>
        </p:nvSpPr>
        <p:spPr>
          <a:xfrm>
            <a:off x="0" y="2280028"/>
            <a:ext cx="12192000" cy="114897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ABDB623C-EE63-DDB4-9627-9A08E7909B39}"/>
              </a:ext>
            </a:extLst>
          </p:cNvPr>
          <p:cNvSpPr>
            <a:spLocks noGrp="1"/>
          </p:cNvSpPr>
          <p:nvPr>
            <p:ph type="title"/>
          </p:nvPr>
        </p:nvSpPr>
        <p:spPr>
          <a:xfrm>
            <a:off x="0" y="603614"/>
            <a:ext cx="12192000" cy="664282"/>
          </a:xfrm>
        </p:spPr>
        <p:txBody>
          <a:bodyPr anchor="b">
            <a:normAutofit/>
          </a:bodyPr>
          <a:lstStyle/>
          <a:p>
            <a:r>
              <a:rPr lang="en-US" sz="2800" b="1" dirty="0">
                <a:latin typeface="Calibir"/>
              </a:rPr>
              <a:t>Generate Random Marks and Assign Grades</a:t>
            </a:r>
            <a:endParaRPr lang="en-AU" sz="2800" b="1" dirty="0">
              <a:latin typeface="Calibir"/>
            </a:endParaRPr>
          </a:p>
        </p:txBody>
      </p:sp>
      <p:sp>
        <p:nvSpPr>
          <p:cNvPr id="7" name="Title 1">
            <a:extLst>
              <a:ext uri="{FF2B5EF4-FFF2-40B4-BE49-F238E27FC236}">
                <a16:creationId xmlns:a16="http://schemas.microsoft.com/office/drawing/2014/main" id="{A1AC3356-3192-74E7-B989-A5EF5F189C50}"/>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prstClr val="black"/>
                </a:solidFill>
                <a:effectLst/>
                <a:uLnTx/>
                <a:uFillTx/>
                <a:latin typeface="Calibir"/>
                <a:ea typeface="+mj-ea"/>
                <a:cs typeface="+mj-cs"/>
              </a:rPr>
              <a:t>Mini Coding Nudges (Email/Password, Marks, Pass/Fail etc.)</a:t>
            </a:r>
            <a:endParaRPr kumimoji="0" lang="en-AU" sz="3300" b="1" i="0" u="none" strike="noStrike" kern="1200" cap="none" spc="0" normalizeH="0" baseline="0" noProof="0" dirty="0">
              <a:ln>
                <a:noFill/>
              </a:ln>
              <a:solidFill>
                <a:prstClr val="black"/>
              </a:solidFill>
              <a:effectLst/>
              <a:uLnTx/>
              <a:uFillTx/>
              <a:latin typeface="Calibir"/>
              <a:ea typeface="+mj-ea"/>
              <a:cs typeface="+mj-cs"/>
            </a:endParaRPr>
          </a:p>
        </p:txBody>
      </p:sp>
    </p:spTree>
    <p:extLst>
      <p:ext uri="{BB962C8B-B14F-4D97-AF65-F5344CB8AC3E}">
        <p14:creationId xmlns:p14="http://schemas.microsoft.com/office/powerpoint/2010/main" val="28594775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D4AC7-5530-6213-E618-9A8EC8A31E18}"/>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093A5513-C570-041C-8C50-8FFC25D36342}"/>
              </a:ext>
            </a:extLst>
          </p:cNvPr>
          <p:cNvPicPr>
            <a:picLocks noChangeAspect="1"/>
          </p:cNvPicPr>
          <p:nvPr/>
        </p:nvPicPr>
        <p:blipFill>
          <a:blip r:embed="rId2"/>
          <a:srcRect l="8133" t="20722" r="7741" b="29479"/>
          <a:stretch>
            <a:fillRect/>
          </a:stretch>
        </p:blipFill>
        <p:spPr>
          <a:xfrm>
            <a:off x="0" y="1336133"/>
            <a:ext cx="12192000" cy="4059635"/>
          </a:xfrm>
          <a:prstGeom prst="rect">
            <a:avLst/>
          </a:prstGeom>
        </p:spPr>
      </p:pic>
      <p:sp>
        <p:nvSpPr>
          <p:cNvPr id="14" name="TextBox 13">
            <a:extLst>
              <a:ext uri="{FF2B5EF4-FFF2-40B4-BE49-F238E27FC236}">
                <a16:creationId xmlns:a16="http://schemas.microsoft.com/office/drawing/2014/main" id="{20329A1B-C980-72C3-C4AD-097FE25DFA21}"/>
              </a:ext>
            </a:extLst>
          </p:cNvPr>
          <p:cNvSpPr txBox="1"/>
          <p:nvPr/>
        </p:nvSpPr>
        <p:spPr>
          <a:xfrm>
            <a:off x="108155" y="5395768"/>
            <a:ext cx="11975690" cy="675441"/>
          </a:xfrm>
          <a:prstGeom prst="rect">
            <a:avLst/>
          </a:prstGeom>
          <a:noFill/>
        </p:spPr>
        <p:txBody>
          <a:bodyPr wrap="square">
            <a:spAutoFit/>
          </a:bodyPr>
          <a:lstStyle/>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Picks one random mark from 25 to 100.</a:t>
            </a:r>
          </a:p>
        </p:txBody>
      </p:sp>
      <p:sp>
        <p:nvSpPr>
          <p:cNvPr id="15" name="Rectangle: Rounded Corners 14">
            <a:extLst>
              <a:ext uri="{FF2B5EF4-FFF2-40B4-BE49-F238E27FC236}">
                <a16:creationId xmlns:a16="http://schemas.microsoft.com/office/drawing/2014/main" id="{2D0EA56E-A65E-9484-B47B-AFADBE0C98AC}"/>
              </a:ext>
            </a:extLst>
          </p:cNvPr>
          <p:cNvSpPr/>
          <p:nvPr/>
        </p:nvSpPr>
        <p:spPr>
          <a:xfrm>
            <a:off x="0" y="3952567"/>
            <a:ext cx="12192000" cy="44245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itle 1">
            <a:extLst>
              <a:ext uri="{FF2B5EF4-FFF2-40B4-BE49-F238E27FC236}">
                <a16:creationId xmlns:a16="http://schemas.microsoft.com/office/drawing/2014/main" id="{56062223-DE71-6511-E43E-75A13A938BDB}"/>
              </a:ext>
            </a:extLst>
          </p:cNvPr>
          <p:cNvSpPr>
            <a:spLocks noGrp="1"/>
          </p:cNvSpPr>
          <p:nvPr>
            <p:ph type="title"/>
          </p:nvPr>
        </p:nvSpPr>
        <p:spPr>
          <a:xfrm>
            <a:off x="0" y="603614"/>
            <a:ext cx="12192000" cy="664282"/>
          </a:xfrm>
        </p:spPr>
        <p:txBody>
          <a:bodyPr anchor="b">
            <a:normAutofit/>
          </a:bodyPr>
          <a:lstStyle/>
          <a:p>
            <a:r>
              <a:rPr lang="en-US" sz="2800" b="1" dirty="0">
                <a:latin typeface="Calibir"/>
              </a:rPr>
              <a:t>Generate Random Marks and Assign Grades</a:t>
            </a:r>
            <a:endParaRPr lang="en-AU" sz="2800" b="1" dirty="0">
              <a:latin typeface="Calibir"/>
            </a:endParaRPr>
          </a:p>
        </p:txBody>
      </p:sp>
      <p:sp>
        <p:nvSpPr>
          <p:cNvPr id="7" name="Title 1">
            <a:extLst>
              <a:ext uri="{FF2B5EF4-FFF2-40B4-BE49-F238E27FC236}">
                <a16:creationId xmlns:a16="http://schemas.microsoft.com/office/drawing/2014/main" id="{B1316803-C762-3FD8-6FC9-9F001B9F5331}"/>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prstClr val="black"/>
                </a:solidFill>
                <a:effectLst/>
                <a:uLnTx/>
                <a:uFillTx/>
                <a:latin typeface="Calibir"/>
                <a:ea typeface="+mj-ea"/>
                <a:cs typeface="+mj-cs"/>
              </a:rPr>
              <a:t>Mini Coding Nudges (Email/Password, Marks, Pass/Fail etc.)</a:t>
            </a:r>
            <a:endParaRPr kumimoji="0" lang="en-AU" sz="3300" b="1" i="0" u="none" strike="noStrike" kern="1200" cap="none" spc="0" normalizeH="0" baseline="0" noProof="0" dirty="0">
              <a:ln>
                <a:noFill/>
              </a:ln>
              <a:solidFill>
                <a:prstClr val="black"/>
              </a:solidFill>
              <a:effectLst/>
              <a:uLnTx/>
              <a:uFillTx/>
              <a:latin typeface="Calibir"/>
              <a:ea typeface="+mj-ea"/>
              <a:cs typeface="+mj-cs"/>
            </a:endParaRPr>
          </a:p>
        </p:txBody>
      </p:sp>
    </p:spTree>
    <p:extLst>
      <p:ext uri="{BB962C8B-B14F-4D97-AF65-F5344CB8AC3E}">
        <p14:creationId xmlns:p14="http://schemas.microsoft.com/office/powerpoint/2010/main" val="32028541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BC31F-B20E-BF52-F272-B60B92A72DA6}"/>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082EC6D9-C61A-2A67-D7D8-5E7E796D8A13}"/>
              </a:ext>
            </a:extLst>
          </p:cNvPr>
          <p:cNvPicPr>
            <a:picLocks noChangeAspect="1"/>
          </p:cNvPicPr>
          <p:nvPr/>
        </p:nvPicPr>
        <p:blipFill>
          <a:blip r:embed="rId2"/>
          <a:srcRect l="8133" t="20722" r="7741" b="29479"/>
          <a:stretch>
            <a:fillRect/>
          </a:stretch>
        </p:blipFill>
        <p:spPr>
          <a:xfrm>
            <a:off x="0" y="1100158"/>
            <a:ext cx="12192000" cy="4059635"/>
          </a:xfrm>
          <a:prstGeom prst="rect">
            <a:avLst/>
          </a:prstGeom>
        </p:spPr>
      </p:pic>
      <p:sp>
        <p:nvSpPr>
          <p:cNvPr id="14" name="TextBox 13">
            <a:extLst>
              <a:ext uri="{FF2B5EF4-FFF2-40B4-BE49-F238E27FC236}">
                <a16:creationId xmlns:a16="http://schemas.microsoft.com/office/drawing/2014/main" id="{870620F0-0FDE-2916-027E-5CD139D76214}"/>
              </a:ext>
            </a:extLst>
          </p:cNvPr>
          <p:cNvSpPr txBox="1"/>
          <p:nvPr/>
        </p:nvSpPr>
        <p:spPr>
          <a:xfrm>
            <a:off x="0" y="5146634"/>
            <a:ext cx="11975690" cy="1711366"/>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ir"/>
                <a:ea typeface="+mn-ea"/>
                <a:cs typeface="+mn-cs"/>
              </a:rPr>
              <a:t>Creates a small record (a Python </a:t>
            </a:r>
            <a:r>
              <a:rPr kumimoji="0" lang="en-US" sz="1800" b="0" i="0" u="none" strike="noStrike" kern="1200" cap="none" spc="0" normalizeH="0" baseline="0" noProof="0" dirty="0" err="1">
                <a:ln>
                  <a:noFill/>
                </a:ln>
                <a:solidFill>
                  <a:prstClr val="black"/>
                </a:solidFill>
                <a:effectLst/>
                <a:uLnTx/>
                <a:uFillTx/>
                <a:latin typeface="Calibir"/>
                <a:ea typeface="+mn-ea"/>
                <a:cs typeface="+mn-cs"/>
              </a:rPr>
              <a:t>dict</a:t>
            </a:r>
            <a:r>
              <a:rPr kumimoji="0" lang="en-US" sz="1800" b="0" i="0" u="none" strike="noStrike" kern="1200" cap="none" spc="0" normalizeH="0" baseline="0" noProof="0" dirty="0">
                <a:ln>
                  <a:noFill/>
                </a:ln>
                <a:solidFill>
                  <a:prstClr val="black"/>
                </a:solidFill>
                <a:effectLst/>
                <a:uLnTx/>
                <a:uFillTx/>
                <a:latin typeface="Calibir"/>
                <a:ea typeface="+mn-ea"/>
                <a:cs typeface="+mn-cs"/>
              </a:rPr>
              <a:t>) for one subject:</a:t>
            </a: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ir"/>
                <a:ea typeface="+mn-ea"/>
                <a:cs typeface="+mn-cs"/>
              </a:rPr>
              <a:t>"id" is a random number 1..999, padded to 3 digits like "007".</a:t>
            </a: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ir"/>
                <a:ea typeface="+mn-ea"/>
                <a:cs typeface="+mn-cs"/>
              </a:rPr>
              <a:t>"mark" is the number above.</a:t>
            </a: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ir"/>
                <a:ea typeface="+mn-ea"/>
                <a:cs typeface="+mn-cs"/>
              </a:rPr>
              <a:t>"grade" is computed by calling grade(mark).</a:t>
            </a:r>
          </a:p>
        </p:txBody>
      </p:sp>
      <p:sp>
        <p:nvSpPr>
          <p:cNvPr id="15" name="Rectangle: Rounded Corners 14">
            <a:extLst>
              <a:ext uri="{FF2B5EF4-FFF2-40B4-BE49-F238E27FC236}">
                <a16:creationId xmlns:a16="http://schemas.microsoft.com/office/drawing/2014/main" id="{358471D5-55CB-A03B-C7C5-E9A37AAE35F8}"/>
              </a:ext>
            </a:extLst>
          </p:cNvPr>
          <p:cNvSpPr/>
          <p:nvPr/>
        </p:nvSpPr>
        <p:spPr>
          <a:xfrm>
            <a:off x="0" y="4089471"/>
            <a:ext cx="12192000" cy="70375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itle 1">
            <a:extLst>
              <a:ext uri="{FF2B5EF4-FFF2-40B4-BE49-F238E27FC236}">
                <a16:creationId xmlns:a16="http://schemas.microsoft.com/office/drawing/2014/main" id="{5BBF0E66-D4D2-BC16-0F69-E9F613F0DF0E}"/>
              </a:ext>
            </a:extLst>
          </p:cNvPr>
          <p:cNvSpPr>
            <a:spLocks noGrp="1"/>
          </p:cNvSpPr>
          <p:nvPr>
            <p:ph type="title"/>
          </p:nvPr>
        </p:nvSpPr>
        <p:spPr>
          <a:xfrm>
            <a:off x="0" y="478455"/>
            <a:ext cx="12192000" cy="664282"/>
          </a:xfrm>
        </p:spPr>
        <p:txBody>
          <a:bodyPr anchor="b">
            <a:normAutofit/>
          </a:bodyPr>
          <a:lstStyle/>
          <a:p>
            <a:r>
              <a:rPr lang="en-US" sz="2800" b="1" dirty="0">
                <a:latin typeface="Calibir"/>
              </a:rPr>
              <a:t>Generate Random Marks and Assign Grades</a:t>
            </a:r>
            <a:endParaRPr lang="en-AU" sz="2800" b="1" dirty="0">
              <a:latin typeface="Calibir"/>
            </a:endParaRPr>
          </a:p>
        </p:txBody>
      </p:sp>
      <p:sp>
        <p:nvSpPr>
          <p:cNvPr id="7" name="Title 1">
            <a:extLst>
              <a:ext uri="{FF2B5EF4-FFF2-40B4-BE49-F238E27FC236}">
                <a16:creationId xmlns:a16="http://schemas.microsoft.com/office/drawing/2014/main" id="{CC671D44-77F7-4B65-004E-DBBF330B8F67}"/>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prstClr val="black"/>
                </a:solidFill>
                <a:effectLst/>
                <a:uLnTx/>
                <a:uFillTx/>
                <a:latin typeface="Calibir"/>
                <a:ea typeface="+mj-ea"/>
                <a:cs typeface="+mj-cs"/>
              </a:rPr>
              <a:t>Mini Coding Nudges (Email/Password, Marks, Pass/Fail etc.)</a:t>
            </a:r>
            <a:endParaRPr kumimoji="0" lang="en-AU" sz="3300" b="1" i="0" u="none" strike="noStrike" kern="1200" cap="none" spc="0" normalizeH="0" baseline="0" noProof="0" dirty="0">
              <a:ln>
                <a:noFill/>
              </a:ln>
              <a:solidFill>
                <a:prstClr val="black"/>
              </a:solidFill>
              <a:effectLst/>
              <a:uLnTx/>
              <a:uFillTx/>
              <a:latin typeface="Calibir"/>
              <a:ea typeface="+mj-ea"/>
              <a:cs typeface="+mj-cs"/>
            </a:endParaRPr>
          </a:p>
        </p:txBody>
      </p:sp>
    </p:spTree>
    <p:extLst>
      <p:ext uri="{BB962C8B-B14F-4D97-AF65-F5344CB8AC3E}">
        <p14:creationId xmlns:p14="http://schemas.microsoft.com/office/powerpoint/2010/main" val="19544541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34CFE-02DE-EDC6-74D7-CBF4ADA23460}"/>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2F2AE8EC-61F3-E4FA-05A3-5C3111E421A0}"/>
              </a:ext>
            </a:extLst>
          </p:cNvPr>
          <p:cNvPicPr>
            <a:picLocks noChangeAspect="1"/>
          </p:cNvPicPr>
          <p:nvPr/>
        </p:nvPicPr>
        <p:blipFill>
          <a:blip r:embed="rId2"/>
          <a:srcRect l="8133" t="20722" r="7741" b="29479"/>
          <a:stretch>
            <a:fillRect/>
          </a:stretch>
        </p:blipFill>
        <p:spPr>
          <a:xfrm>
            <a:off x="0" y="1100158"/>
            <a:ext cx="12192000" cy="4059635"/>
          </a:xfrm>
          <a:prstGeom prst="rect">
            <a:avLst/>
          </a:prstGeom>
        </p:spPr>
      </p:pic>
      <p:sp>
        <p:nvSpPr>
          <p:cNvPr id="14" name="TextBox 13">
            <a:extLst>
              <a:ext uri="{FF2B5EF4-FFF2-40B4-BE49-F238E27FC236}">
                <a16:creationId xmlns:a16="http://schemas.microsoft.com/office/drawing/2014/main" id="{CEAD2E2A-C7B4-14AC-B859-42BAB4C535A8}"/>
              </a:ext>
            </a:extLst>
          </p:cNvPr>
          <p:cNvSpPr txBox="1"/>
          <p:nvPr/>
        </p:nvSpPr>
        <p:spPr>
          <a:xfrm>
            <a:off x="0" y="5146634"/>
            <a:ext cx="11975690" cy="671851"/>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Prints something like: {'id': '087', 'mark': 78, 'grade': 'D'}.</a:t>
            </a:r>
          </a:p>
        </p:txBody>
      </p:sp>
      <p:sp>
        <p:nvSpPr>
          <p:cNvPr id="15" name="Rectangle: Rounded Corners 14">
            <a:extLst>
              <a:ext uri="{FF2B5EF4-FFF2-40B4-BE49-F238E27FC236}">
                <a16:creationId xmlns:a16="http://schemas.microsoft.com/office/drawing/2014/main" id="{4D7E6645-ED8B-A605-3FF1-3C7C4C846E21}"/>
              </a:ext>
            </a:extLst>
          </p:cNvPr>
          <p:cNvSpPr/>
          <p:nvPr/>
        </p:nvSpPr>
        <p:spPr>
          <a:xfrm>
            <a:off x="0" y="4837471"/>
            <a:ext cx="12192000" cy="28383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itle 1">
            <a:extLst>
              <a:ext uri="{FF2B5EF4-FFF2-40B4-BE49-F238E27FC236}">
                <a16:creationId xmlns:a16="http://schemas.microsoft.com/office/drawing/2014/main" id="{1F87A46B-31E3-7FD3-07A6-97EE51C71500}"/>
              </a:ext>
            </a:extLst>
          </p:cNvPr>
          <p:cNvSpPr>
            <a:spLocks noGrp="1"/>
          </p:cNvSpPr>
          <p:nvPr>
            <p:ph type="title"/>
          </p:nvPr>
        </p:nvSpPr>
        <p:spPr>
          <a:xfrm>
            <a:off x="0" y="435876"/>
            <a:ext cx="12192000" cy="664282"/>
          </a:xfrm>
        </p:spPr>
        <p:txBody>
          <a:bodyPr anchor="b">
            <a:normAutofit/>
          </a:bodyPr>
          <a:lstStyle/>
          <a:p>
            <a:r>
              <a:rPr lang="en-US" sz="2800" b="1" dirty="0">
                <a:latin typeface="Calibir"/>
              </a:rPr>
              <a:t>Generate Random Marks and Assign Grades</a:t>
            </a:r>
            <a:endParaRPr lang="en-AU" sz="2800" b="1" dirty="0">
              <a:latin typeface="Calibir"/>
            </a:endParaRPr>
          </a:p>
        </p:txBody>
      </p:sp>
      <p:sp>
        <p:nvSpPr>
          <p:cNvPr id="7" name="Title 1">
            <a:extLst>
              <a:ext uri="{FF2B5EF4-FFF2-40B4-BE49-F238E27FC236}">
                <a16:creationId xmlns:a16="http://schemas.microsoft.com/office/drawing/2014/main" id="{7A6238BB-31BE-5D51-A338-75D3F8D1219B}"/>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prstClr val="black"/>
                </a:solidFill>
                <a:effectLst/>
                <a:uLnTx/>
                <a:uFillTx/>
                <a:latin typeface="Calibir"/>
                <a:ea typeface="+mj-ea"/>
                <a:cs typeface="+mj-cs"/>
              </a:rPr>
              <a:t>Mini Coding Nudges (Email/Password, Marks, Pass/Fail etc.)</a:t>
            </a:r>
            <a:endParaRPr kumimoji="0" lang="en-AU" sz="3300" b="1" i="0" u="none" strike="noStrike" kern="1200" cap="none" spc="0" normalizeH="0" baseline="0" noProof="0" dirty="0">
              <a:ln>
                <a:noFill/>
              </a:ln>
              <a:solidFill>
                <a:prstClr val="black"/>
              </a:solidFill>
              <a:effectLst/>
              <a:uLnTx/>
              <a:uFillTx/>
              <a:latin typeface="Calibir"/>
              <a:ea typeface="+mj-ea"/>
              <a:cs typeface="+mj-cs"/>
            </a:endParaRPr>
          </a:p>
        </p:txBody>
      </p:sp>
    </p:spTree>
    <p:extLst>
      <p:ext uri="{BB962C8B-B14F-4D97-AF65-F5344CB8AC3E}">
        <p14:creationId xmlns:p14="http://schemas.microsoft.com/office/powerpoint/2010/main" val="28334037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55331-CCD2-6446-2B66-2ED08EFF34A1}"/>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E4635C1B-2DF4-514E-9CDB-B3C0035F4DFD}"/>
              </a:ext>
            </a:extLst>
          </p:cNvPr>
          <p:cNvPicPr>
            <a:picLocks noChangeAspect="1"/>
          </p:cNvPicPr>
          <p:nvPr/>
        </p:nvPicPr>
        <p:blipFill>
          <a:blip r:embed="rId2"/>
          <a:srcRect l="8133" t="20722" r="7741" b="29479"/>
          <a:stretch>
            <a:fillRect/>
          </a:stretch>
        </p:blipFill>
        <p:spPr>
          <a:xfrm>
            <a:off x="0" y="1721385"/>
            <a:ext cx="12192000" cy="4059635"/>
          </a:xfrm>
          <a:prstGeom prst="rect">
            <a:avLst/>
          </a:prstGeom>
        </p:spPr>
      </p:pic>
      <p:pic>
        <p:nvPicPr>
          <p:cNvPr id="12" name="Picture 11">
            <a:extLst>
              <a:ext uri="{FF2B5EF4-FFF2-40B4-BE49-F238E27FC236}">
                <a16:creationId xmlns:a16="http://schemas.microsoft.com/office/drawing/2014/main" id="{E4C6CA85-346E-A380-5337-AD86681AC37B}"/>
              </a:ext>
            </a:extLst>
          </p:cNvPr>
          <p:cNvPicPr>
            <a:picLocks noChangeAspect="1"/>
          </p:cNvPicPr>
          <p:nvPr/>
        </p:nvPicPr>
        <p:blipFill>
          <a:blip r:embed="rId3"/>
          <a:srcRect l="55161" t="30752" r="5041" b="56129"/>
          <a:stretch>
            <a:fillRect/>
          </a:stretch>
        </p:blipFill>
        <p:spPr>
          <a:xfrm>
            <a:off x="6383373" y="5781020"/>
            <a:ext cx="5808627" cy="1076980"/>
          </a:xfrm>
          <a:prstGeom prst="rect">
            <a:avLst/>
          </a:prstGeom>
        </p:spPr>
      </p:pic>
      <p:sp>
        <p:nvSpPr>
          <p:cNvPr id="5" name="Title 1">
            <a:extLst>
              <a:ext uri="{FF2B5EF4-FFF2-40B4-BE49-F238E27FC236}">
                <a16:creationId xmlns:a16="http://schemas.microsoft.com/office/drawing/2014/main" id="{6D6A6488-EA23-AF76-6007-4DB734FAA079}"/>
              </a:ext>
            </a:extLst>
          </p:cNvPr>
          <p:cNvSpPr>
            <a:spLocks noGrp="1"/>
          </p:cNvSpPr>
          <p:nvPr>
            <p:ph type="title"/>
          </p:nvPr>
        </p:nvSpPr>
        <p:spPr>
          <a:xfrm>
            <a:off x="0" y="435876"/>
            <a:ext cx="12192000" cy="664282"/>
          </a:xfrm>
        </p:spPr>
        <p:txBody>
          <a:bodyPr anchor="b">
            <a:normAutofit/>
          </a:bodyPr>
          <a:lstStyle/>
          <a:p>
            <a:r>
              <a:rPr lang="en-US" sz="2800" b="1" dirty="0">
                <a:latin typeface="Calibir"/>
              </a:rPr>
              <a:t>Generate Random Marks and Assign Grades</a:t>
            </a:r>
            <a:endParaRPr lang="en-AU" sz="2800" b="1" dirty="0">
              <a:latin typeface="Calibir"/>
            </a:endParaRPr>
          </a:p>
        </p:txBody>
      </p:sp>
      <p:sp>
        <p:nvSpPr>
          <p:cNvPr id="7" name="Title 1">
            <a:extLst>
              <a:ext uri="{FF2B5EF4-FFF2-40B4-BE49-F238E27FC236}">
                <a16:creationId xmlns:a16="http://schemas.microsoft.com/office/drawing/2014/main" id="{3B5C3A73-5417-7CF7-5950-7B6446E88311}"/>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prstClr val="black"/>
                </a:solidFill>
                <a:effectLst/>
                <a:uLnTx/>
                <a:uFillTx/>
                <a:latin typeface="Calibir"/>
                <a:ea typeface="+mj-ea"/>
                <a:cs typeface="+mj-cs"/>
              </a:rPr>
              <a:t>Mini Coding Nudges (Email/Password, Marks, Pass/Fail etc.)</a:t>
            </a:r>
            <a:endParaRPr kumimoji="0" lang="en-AU" sz="3300" b="1" i="0" u="none" strike="noStrike" kern="1200" cap="none" spc="0" normalizeH="0" baseline="0" noProof="0" dirty="0">
              <a:ln>
                <a:noFill/>
              </a:ln>
              <a:solidFill>
                <a:prstClr val="black"/>
              </a:solidFill>
              <a:effectLst/>
              <a:uLnTx/>
              <a:uFillTx/>
              <a:latin typeface="Calibir"/>
              <a:ea typeface="+mj-ea"/>
              <a:cs typeface="+mj-cs"/>
            </a:endParaRPr>
          </a:p>
        </p:txBody>
      </p:sp>
    </p:spTree>
    <p:extLst>
      <p:ext uri="{BB962C8B-B14F-4D97-AF65-F5344CB8AC3E}">
        <p14:creationId xmlns:p14="http://schemas.microsoft.com/office/powerpoint/2010/main" val="28715859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2CF0-5702-4604-9C80-794302E1F1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5A7072-6CE9-52C7-B231-5DDEB675EDC2}"/>
              </a:ext>
            </a:extLst>
          </p:cNvPr>
          <p:cNvSpPr>
            <a:spLocks noGrp="1"/>
          </p:cNvSpPr>
          <p:nvPr>
            <p:ph type="title"/>
          </p:nvPr>
        </p:nvSpPr>
        <p:spPr>
          <a:xfrm>
            <a:off x="0" y="1014761"/>
            <a:ext cx="12192000" cy="675441"/>
          </a:xfrm>
        </p:spPr>
        <p:txBody>
          <a:bodyPr anchor="b">
            <a:normAutofit/>
          </a:bodyPr>
          <a:lstStyle/>
          <a:p>
            <a:r>
              <a:rPr lang="en-US" sz="2800" b="1" dirty="0">
                <a:latin typeface="Calibir"/>
              </a:rPr>
              <a:t>Make randomness reproducible</a:t>
            </a:r>
            <a:endParaRPr lang="en-AU" sz="2800" b="1" dirty="0">
              <a:latin typeface="Calibir"/>
            </a:endParaRPr>
          </a:p>
        </p:txBody>
      </p:sp>
      <p:sp>
        <p:nvSpPr>
          <p:cNvPr id="3" name="Rectangle 1">
            <a:extLst>
              <a:ext uri="{FF2B5EF4-FFF2-40B4-BE49-F238E27FC236}">
                <a16:creationId xmlns:a16="http://schemas.microsoft.com/office/drawing/2014/main" id="{4A61B51B-8ACA-78D6-766F-1A982FE62536}"/>
              </a:ext>
            </a:extLst>
          </p:cNvPr>
          <p:cNvSpPr>
            <a:spLocks noChangeArrowheads="1"/>
          </p:cNvSpPr>
          <p:nvPr/>
        </p:nvSpPr>
        <p:spPr bwMode="auto">
          <a:xfrm>
            <a:off x="0" y="1881947"/>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Task:</a:t>
            </a:r>
            <a:r>
              <a:rPr kumimoji="0" lang="en-US" sz="2800" b="0" i="0" u="none" strike="noStrike" kern="1200" cap="none" spc="0" normalizeH="0" baseline="0" noProof="0" dirty="0">
                <a:ln>
                  <a:noFill/>
                </a:ln>
                <a:solidFill>
                  <a:prstClr val="black"/>
                </a:solidFill>
                <a:effectLst/>
                <a:uLnTx/>
                <a:uFillTx/>
                <a:latin typeface="Calibir"/>
                <a:ea typeface="+mn-ea"/>
                <a:cs typeface="+mn-cs"/>
              </a:rPr>
              <a:t> Add a seed so repeated runs give the same result (useful for testing).</a:t>
            </a:r>
          </a:p>
        </p:txBody>
      </p:sp>
      <p:pic>
        <p:nvPicPr>
          <p:cNvPr id="11" name="Picture 10">
            <a:extLst>
              <a:ext uri="{FF2B5EF4-FFF2-40B4-BE49-F238E27FC236}">
                <a16:creationId xmlns:a16="http://schemas.microsoft.com/office/drawing/2014/main" id="{814D7886-54FA-3988-F773-9EAEA07B9581}"/>
              </a:ext>
            </a:extLst>
          </p:cNvPr>
          <p:cNvPicPr>
            <a:picLocks noChangeAspect="1"/>
          </p:cNvPicPr>
          <p:nvPr/>
        </p:nvPicPr>
        <p:blipFill>
          <a:blip r:embed="rId2"/>
          <a:srcRect l="8487" t="27311" r="8704" b="37850"/>
          <a:stretch>
            <a:fillRect/>
          </a:stretch>
        </p:blipFill>
        <p:spPr>
          <a:xfrm>
            <a:off x="0" y="2557388"/>
            <a:ext cx="12192000" cy="2837794"/>
          </a:xfrm>
          <a:prstGeom prst="rect">
            <a:avLst/>
          </a:prstGeom>
        </p:spPr>
      </p:pic>
      <p:sp>
        <p:nvSpPr>
          <p:cNvPr id="5" name="Title 1">
            <a:extLst>
              <a:ext uri="{FF2B5EF4-FFF2-40B4-BE49-F238E27FC236}">
                <a16:creationId xmlns:a16="http://schemas.microsoft.com/office/drawing/2014/main" id="{57CF1D60-54D3-534D-196B-5F1425D99E7E}"/>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prstClr val="black"/>
                </a:solidFill>
                <a:effectLst/>
                <a:uLnTx/>
                <a:uFillTx/>
                <a:latin typeface="Calibir"/>
                <a:ea typeface="+mj-ea"/>
                <a:cs typeface="+mj-cs"/>
              </a:rPr>
              <a:t>Mini Coding Nudges (Email/Password, Marks, Pass/Fail etc.)</a:t>
            </a:r>
            <a:endParaRPr kumimoji="0" lang="en-AU" sz="3300" b="1" i="0" u="none" strike="noStrike" kern="1200" cap="none" spc="0" normalizeH="0" baseline="0" noProof="0" dirty="0">
              <a:ln>
                <a:noFill/>
              </a:ln>
              <a:solidFill>
                <a:prstClr val="black"/>
              </a:solidFill>
              <a:effectLst/>
              <a:uLnTx/>
              <a:uFillTx/>
              <a:latin typeface="Calibir"/>
              <a:ea typeface="+mj-ea"/>
              <a:cs typeface="+mj-cs"/>
            </a:endParaRPr>
          </a:p>
        </p:txBody>
      </p:sp>
    </p:spTree>
    <p:extLst>
      <p:ext uri="{BB962C8B-B14F-4D97-AF65-F5344CB8AC3E}">
        <p14:creationId xmlns:p14="http://schemas.microsoft.com/office/powerpoint/2010/main" val="15275909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5B27A-A4D5-488E-393F-5FE5D8C68F3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1D265859-D071-9235-F972-61C5B0F17D05}"/>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8B86193B-75E3-A29D-19B9-34CA3C981327}"/>
              </a:ext>
            </a:extLst>
          </p:cNvPr>
          <p:cNvSpPr txBox="1"/>
          <p:nvPr/>
        </p:nvSpPr>
        <p:spPr>
          <a:xfrm>
            <a:off x="4918" y="4492093"/>
            <a:ext cx="12187082" cy="2341025"/>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500" b="0" i="0" u="none" strike="noStrike" kern="1200" cap="none" spc="0" normalizeH="0" baseline="0" noProof="0" dirty="0">
                <a:ln>
                  <a:noFill/>
                </a:ln>
                <a:solidFill>
                  <a:prstClr val="black"/>
                </a:solidFill>
                <a:effectLst/>
                <a:uLnTx/>
                <a:uFillTx/>
                <a:latin typeface="Calibir"/>
                <a:ea typeface="+mn-ea"/>
                <a:cs typeface="+mn-cs"/>
              </a:rPr>
              <a:t>Brings in two functions from Python’s random library:</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500" b="1" i="0" u="none" strike="noStrike" kern="1200" cap="none" spc="0" normalizeH="0" baseline="0" noProof="0" dirty="0" err="1">
                <a:ln>
                  <a:noFill/>
                </a:ln>
                <a:solidFill>
                  <a:prstClr val="black"/>
                </a:solidFill>
                <a:effectLst/>
                <a:uLnTx/>
                <a:uFillTx/>
                <a:latin typeface="Calibir"/>
                <a:ea typeface="+mn-ea"/>
                <a:cs typeface="+mn-cs"/>
              </a:rPr>
              <a:t>randint</a:t>
            </a:r>
            <a:r>
              <a:rPr kumimoji="0" lang="en-US" sz="2500" b="1" i="0" u="none" strike="noStrike" kern="1200" cap="none" spc="0" normalizeH="0" baseline="0" noProof="0" dirty="0">
                <a:ln>
                  <a:noFill/>
                </a:ln>
                <a:solidFill>
                  <a:prstClr val="black"/>
                </a:solidFill>
                <a:effectLst/>
                <a:uLnTx/>
                <a:uFillTx/>
                <a:latin typeface="Calibir"/>
                <a:ea typeface="+mn-ea"/>
                <a:cs typeface="+mn-cs"/>
              </a:rPr>
              <a:t>(a, b):</a:t>
            </a:r>
            <a:r>
              <a:rPr kumimoji="0" lang="en-US" sz="2500" b="0" i="0" u="none" strike="noStrike" kern="1200" cap="none" spc="0" normalizeH="0" baseline="0" noProof="0" dirty="0">
                <a:ln>
                  <a:noFill/>
                </a:ln>
                <a:solidFill>
                  <a:prstClr val="black"/>
                </a:solidFill>
                <a:effectLst/>
                <a:uLnTx/>
                <a:uFillTx/>
                <a:latin typeface="Calibir"/>
                <a:ea typeface="+mn-ea"/>
                <a:cs typeface="+mn-cs"/>
              </a:rPr>
              <a:t> makes a random whole number between </a:t>
            </a:r>
            <a:r>
              <a:rPr kumimoji="0" lang="en-US" sz="2500" b="0" i="1" u="none" strike="noStrike" kern="1200" cap="none" spc="0" normalizeH="0" baseline="0" noProof="0" dirty="0">
                <a:ln>
                  <a:noFill/>
                </a:ln>
                <a:solidFill>
                  <a:prstClr val="black"/>
                </a:solidFill>
                <a:effectLst/>
                <a:uLnTx/>
                <a:uFillTx/>
                <a:latin typeface="Calibir"/>
                <a:ea typeface="+mn-ea"/>
                <a:cs typeface="+mn-cs"/>
              </a:rPr>
              <a:t>a</a:t>
            </a:r>
            <a:r>
              <a:rPr kumimoji="0" lang="en-US" sz="2500" b="0" i="0" u="none" strike="noStrike" kern="1200" cap="none" spc="0" normalizeH="0" baseline="0" noProof="0" dirty="0">
                <a:ln>
                  <a:noFill/>
                </a:ln>
                <a:solidFill>
                  <a:prstClr val="black"/>
                </a:solidFill>
                <a:effectLst/>
                <a:uLnTx/>
                <a:uFillTx/>
                <a:latin typeface="Calibir"/>
                <a:ea typeface="+mn-ea"/>
                <a:cs typeface="+mn-cs"/>
              </a:rPr>
              <a:t> and </a:t>
            </a:r>
            <a:r>
              <a:rPr kumimoji="0" lang="en-US" sz="2500" b="0" i="1" u="none" strike="noStrike" kern="1200" cap="none" spc="0" normalizeH="0" baseline="0" noProof="0" dirty="0">
                <a:ln>
                  <a:noFill/>
                </a:ln>
                <a:solidFill>
                  <a:prstClr val="black"/>
                </a:solidFill>
                <a:effectLst/>
                <a:uLnTx/>
                <a:uFillTx/>
                <a:latin typeface="Calibir"/>
                <a:ea typeface="+mn-ea"/>
                <a:cs typeface="+mn-cs"/>
              </a:rPr>
              <a:t>b</a:t>
            </a:r>
            <a:r>
              <a:rPr kumimoji="0" lang="en-US" sz="2500" b="0" i="0" u="none" strike="noStrike" kern="1200" cap="none" spc="0" normalizeH="0" baseline="0" noProof="0" dirty="0">
                <a:ln>
                  <a:noFill/>
                </a:ln>
                <a:solidFill>
                  <a:prstClr val="black"/>
                </a:solidFill>
                <a:effectLst/>
                <a:uLnTx/>
                <a:uFillTx/>
                <a:latin typeface="Calibir"/>
                <a:ea typeface="+mn-ea"/>
                <a:cs typeface="+mn-cs"/>
              </a:rPr>
              <a:t> (both included).</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500" b="1" i="0" u="none" strike="noStrike" kern="1200" cap="none" spc="0" normalizeH="0" baseline="0" noProof="0" dirty="0">
                <a:ln>
                  <a:noFill/>
                </a:ln>
                <a:solidFill>
                  <a:prstClr val="black"/>
                </a:solidFill>
                <a:effectLst/>
                <a:uLnTx/>
                <a:uFillTx/>
                <a:latin typeface="Calibir"/>
                <a:ea typeface="+mn-ea"/>
                <a:cs typeface="+mn-cs"/>
              </a:rPr>
              <a:t>seed(x):</a:t>
            </a:r>
            <a:r>
              <a:rPr kumimoji="0" lang="en-US" sz="2500" b="0" i="0" u="none" strike="noStrike" kern="1200" cap="none" spc="0" normalizeH="0" baseline="0" noProof="0" dirty="0">
                <a:ln>
                  <a:noFill/>
                </a:ln>
                <a:solidFill>
                  <a:prstClr val="black"/>
                </a:solidFill>
                <a:effectLst/>
                <a:uLnTx/>
                <a:uFillTx/>
                <a:latin typeface="Calibir"/>
                <a:ea typeface="+mn-ea"/>
                <a:cs typeface="+mn-cs"/>
              </a:rPr>
              <a:t> fixes the random numbers so you get the same result each time (useful for testing).</a:t>
            </a:r>
          </a:p>
        </p:txBody>
      </p:sp>
      <p:sp>
        <p:nvSpPr>
          <p:cNvPr id="17" name="Rectangle: Rounded Corners 16">
            <a:extLst>
              <a:ext uri="{FF2B5EF4-FFF2-40B4-BE49-F238E27FC236}">
                <a16:creationId xmlns:a16="http://schemas.microsoft.com/office/drawing/2014/main" id="{E092E793-7146-1455-BE4D-6410CDA0E657}"/>
              </a:ext>
            </a:extLst>
          </p:cNvPr>
          <p:cNvSpPr/>
          <p:nvPr/>
        </p:nvSpPr>
        <p:spPr>
          <a:xfrm>
            <a:off x="0" y="0"/>
            <a:ext cx="6096000" cy="47194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692748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01B89-FA68-FB97-85BA-CEE0AB10F02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FEB327F-8552-9355-E0EE-52336C590B48}"/>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DC9CAD25-0B00-CC87-DE5F-24B3C074C940}"/>
              </a:ext>
            </a:extLst>
          </p:cNvPr>
          <p:cNvSpPr txBox="1"/>
          <p:nvPr/>
        </p:nvSpPr>
        <p:spPr>
          <a:xfrm>
            <a:off x="4918" y="4492093"/>
            <a:ext cx="12187082" cy="1964512"/>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Sets the “starting point” for the random generator.</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Without this, each run gives different results.</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With it, the numbers repeat every time, which makes testing easier.</a:t>
            </a:r>
          </a:p>
        </p:txBody>
      </p:sp>
      <p:sp>
        <p:nvSpPr>
          <p:cNvPr id="17" name="Rectangle: Rounded Corners 16">
            <a:extLst>
              <a:ext uri="{FF2B5EF4-FFF2-40B4-BE49-F238E27FC236}">
                <a16:creationId xmlns:a16="http://schemas.microsoft.com/office/drawing/2014/main" id="{95081BA2-F5D7-82E9-829F-5161CE212529}"/>
              </a:ext>
            </a:extLst>
          </p:cNvPr>
          <p:cNvSpPr/>
          <p:nvPr/>
        </p:nvSpPr>
        <p:spPr>
          <a:xfrm>
            <a:off x="0" y="412955"/>
            <a:ext cx="6096000" cy="47194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6203566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3FF11-FA7F-4840-DD1C-AC3328B2C0D3}"/>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F78571E9-6E79-2214-EAA8-08E6AE43A32D}"/>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CBCCBA27-6B87-3E76-EDE3-88CD9AAB314E}"/>
              </a:ext>
            </a:extLst>
          </p:cNvPr>
          <p:cNvSpPr txBox="1"/>
          <p:nvPr/>
        </p:nvSpPr>
        <p:spPr>
          <a:xfrm>
            <a:off x="4918" y="4549676"/>
            <a:ext cx="12187082" cy="230832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ir"/>
                <a:ea typeface="+mn-ea"/>
                <a:cs typeface="+mn-cs"/>
              </a:rPr>
              <a:t>Defines a function called grade: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ir"/>
                <a:ea typeface="+mn-ea"/>
                <a:cs typeface="+mn-cs"/>
              </a:rPr>
              <a:t>Input: a number (mark) between 25–100.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ir"/>
                <a:ea typeface="+mn-ea"/>
                <a:cs typeface="+mn-cs"/>
              </a:rPr>
              <a:t>Output: a single letter grade, based on rules: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ir"/>
                <a:ea typeface="+mn-ea"/>
                <a:cs typeface="+mn-cs"/>
              </a:rPr>
              <a:t>&lt;50 → 'Z'</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ir"/>
                <a:ea typeface="+mn-ea"/>
                <a:cs typeface="+mn-cs"/>
              </a:rPr>
              <a:t>50–64 → 'P'</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ir"/>
                <a:ea typeface="+mn-ea"/>
                <a:cs typeface="+mn-cs"/>
              </a:rPr>
              <a:t>65–74 → 'C'</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ir"/>
                <a:ea typeface="+mn-ea"/>
                <a:cs typeface="+mn-cs"/>
              </a:rPr>
              <a:t>75–84 → 'D'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ir"/>
                <a:ea typeface="+mn-ea"/>
                <a:cs typeface="+mn-cs"/>
              </a:rPr>
              <a:t>≥85 → 'HD'</a:t>
            </a:r>
          </a:p>
        </p:txBody>
      </p:sp>
      <p:sp>
        <p:nvSpPr>
          <p:cNvPr id="17" name="Rectangle: Rounded Corners 16">
            <a:extLst>
              <a:ext uri="{FF2B5EF4-FFF2-40B4-BE49-F238E27FC236}">
                <a16:creationId xmlns:a16="http://schemas.microsoft.com/office/drawing/2014/main" id="{414CB668-00F5-BF6E-9D96-0D2E37211A05}"/>
              </a:ext>
            </a:extLst>
          </p:cNvPr>
          <p:cNvSpPr/>
          <p:nvPr/>
        </p:nvSpPr>
        <p:spPr>
          <a:xfrm>
            <a:off x="0" y="1194618"/>
            <a:ext cx="11446516" cy="14453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7136009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56F8B-9A21-B81B-1E12-3CCC4E61F50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99C8307-B848-33E3-604B-A03E8A2A4AA9}"/>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F0F24D1F-9384-6C6D-3480-EA4AA3100F14}"/>
              </a:ext>
            </a:extLst>
          </p:cNvPr>
          <p:cNvSpPr txBox="1"/>
          <p:nvPr/>
        </p:nvSpPr>
        <p:spPr>
          <a:xfrm>
            <a:off x="4918" y="4549676"/>
            <a:ext cx="12187082" cy="131818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Generates one random exam mark between 25 and 100 and stores it in the variable mark.</a:t>
            </a:r>
          </a:p>
        </p:txBody>
      </p:sp>
      <p:sp>
        <p:nvSpPr>
          <p:cNvPr id="17" name="Rectangle: Rounded Corners 16">
            <a:extLst>
              <a:ext uri="{FF2B5EF4-FFF2-40B4-BE49-F238E27FC236}">
                <a16:creationId xmlns:a16="http://schemas.microsoft.com/office/drawing/2014/main" id="{E69C6A40-43C6-CAD1-52DC-EFA83768B749}"/>
              </a:ext>
            </a:extLst>
          </p:cNvPr>
          <p:cNvSpPr/>
          <p:nvPr/>
        </p:nvSpPr>
        <p:spPr>
          <a:xfrm>
            <a:off x="0" y="2802193"/>
            <a:ext cx="11446516" cy="47932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990911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8BD3F-04CA-05D7-713E-E57E9C767F14}"/>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3D06D8C-1779-4BC3-5344-E0D73482218E}"/>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6285111E-FECA-A8C4-5A9A-A6949FBC4C58}"/>
              </a:ext>
            </a:extLst>
          </p:cNvPr>
          <p:cNvSpPr txBox="1"/>
          <p:nvPr/>
        </p:nvSpPr>
        <p:spPr>
          <a:xfrm>
            <a:off x="4918" y="4549676"/>
            <a:ext cx="12187082" cy="2071208"/>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libir"/>
                <a:ea typeface="+mn-ea"/>
                <a:cs typeface="+mn-cs"/>
              </a:rPr>
              <a:t>Creates a dictionary (like a mini record) for one subject:</a:t>
            </a:r>
          </a:p>
          <a:p>
            <a:pPr marL="800100" marR="0" lvl="1"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ir"/>
                <a:ea typeface="+mn-ea"/>
                <a:cs typeface="+mn-cs"/>
              </a:rPr>
              <a:t>"id" → random number 1–999, but .</a:t>
            </a:r>
            <a:r>
              <a:rPr kumimoji="0" lang="en-US" sz="2200" b="0" i="0" u="none" strike="noStrike" kern="1200" cap="none" spc="0" normalizeH="0" baseline="0" noProof="0" dirty="0" err="1">
                <a:ln>
                  <a:noFill/>
                </a:ln>
                <a:solidFill>
                  <a:prstClr val="black"/>
                </a:solidFill>
                <a:effectLst/>
                <a:uLnTx/>
                <a:uFillTx/>
                <a:latin typeface="Calibir"/>
                <a:ea typeface="+mn-ea"/>
                <a:cs typeface="+mn-cs"/>
              </a:rPr>
              <a:t>zfill</a:t>
            </a:r>
            <a:r>
              <a:rPr kumimoji="0" lang="en-US" sz="2200" b="0" i="0" u="none" strike="noStrike" kern="1200" cap="none" spc="0" normalizeH="0" baseline="0" noProof="0" dirty="0">
                <a:ln>
                  <a:noFill/>
                </a:ln>
                <a:solidFill>
                  <a:prstClr val="black"/>
                </a:solidFill>
                <a:effectLst/>
                <a:uLnTx/>
                <a:uFillTx/>
                <a:latin typeface="Calibir"/>
                <a:ea typeface="+mn-ea"/>
                <a:cs typeface="+mn-cs"/>
              </a:rPr>
              <a:t>(3) pads it with zeros so it always looks like 001, 045, 234.</a:t>
            </a:r>
          </a:p>
          <a:p>
            <a:pPr marL="800100" marR="0" lvl="1"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ir"/>
                <a:ea typeface="+mn-ea"/>
                <a:cs typeface="+mn-cs"/>
              </a:rPr>
              <a:t>"mark" → the random mark generated above.</a:t>
            </a:r>
          </a:p>
          <a:p>
            <a:pPr marL="800100" marR="0" lvl="1"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ir"/>
                <a:ea typeface="+mn-ea"/>
                <a:cs typeface="+mn-cs"/>
              </a:rPr>
              <a:t>"grade" → the letter grade, calculated by calling grade(mark).</a:t>
            </a:r>
          </a:p>
        </p:txBody>
      </p:sp>
      <p:sp>
        <p:nvSpPr>
          <p:cNvPr id="17" name="Rectangle: Rounded Corners 16">
            <a:extLst>
              <a:ext uri="{FF2B5EF4-FFF2-40B4-BE49-F238E27FC236}">
                <a16:creationId xmlns:a16="http://schemas.microsoft.com/office/drawing/2014/main" id="{4EC6C0CE-A446-8726-C5D2-D091CFBBF6CB}"/>
              </a:ext>
            </a:extLst>
          </p:cNvPr>
          <p:cNvSpPr/>
          <p:nvPr/>
        </p:nvSpPr>
        <p:spPr>
          <a:xfrm>
            <a:off x="0" y="3189337"/>
            <a:ext cx="11446516" cy="89596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8689591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93371-0412-E369-5B8F-26C506D0B61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EB0AF30-011F-CB17-33B5-299991194184}"/>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C9A34096-3988-2194-BE21-15BC119E1293}"/>
              </a:ext>
            </a:extLst>
          </p:cNvPr>
          <p:cNvSpPr txBox="1"/>
          <p:nvPr/>
        </p:nvSpPr>
        <p:spPr>
          <a:xfrm>
            <a:off x="4918" y="4549676"/>
            <a:ext cx="12187082" cy="67185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Shows the whole dictionary on screen.</a:t>
            </a:r>
          </a:p>
        </p:txBody>
      </p:sp>
      <p:sp>
        <p:nvSpPr>
          <p:cNvPr id="17" name="Rectangle: Rounded Corners 16">
            <a:extLst>
              <a:ext uri="{FF2B5EF4-FFF2-40B4-BE49-F238E27FC236}">
                <a16:creationId xmlns:a16="http://schemas.microsoft.com/office/drawing/2014/main" id="{3397D35E-4F8D-146D-27B6-C90B62DDA6B6}"/>
              </a:ext>
            </a:extLst>
          </p:cNvPr>
          <p:cNvSpPr/>
          <p:nvPr/>
        </p:nvSpPr>
        <p:spPr>
          <a:xfrm>
            <a:off x="0" y="4055805"/>
            <a:ext cx="11446516" cy="43628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5925478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9F57A-D6C4-71BC-8329-D487A07FBBE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03CC8A6-03F2-7212-E5FF-1857EFF80198}"/>
              </a:ext>
            </a:extLst>
          </p:cNvPr>
          <p:cNvSpPr txBox="1"/>
          <p:nvPr/>
        </p:nvSpPr>
        <p:spPr>
          <a:xfrm>
            <a:off x="0" y="1327693"/>
            <a:ext cx="12192000" cy="4832092"/>
          </a:xfrm>
          <a:prstGeom prst="rect">
            <a:avLst/>
          </a:prstGeom>
          <a:solidFill>
            <a:schemeClr val="tx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from</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random</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import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randint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seed</a:t>
            </a:r>
            <a:endPar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seed</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42</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reproducible results</a:t>
            </a:r>
            <a:endPar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br>
            <a:r>
              <a:rPr kumimoji="0" lang="en-US" sz="28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def</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grade</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mark</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int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-&gt; </a:t>
            </a:r>
            <a:r>
              <a:rPr kumimoji="0" lang="en-US" sz="28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str</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return</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'Z'</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if</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mark</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&lt;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50</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else</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'P'</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if</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mark</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&lt;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65</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else</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'C'</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if</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mark</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&lt;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75</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else</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'D'</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if</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mark</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&lt;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85</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else</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'HD'</a:t>
            </a:r>
            <a:endPar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mark</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randint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25</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100</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subject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"id"</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str</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randint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999</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zfill</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3</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"mark"</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mark</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"grade"</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grade</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mark</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print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subject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p:txBody>
      </p:sp>
      <p:pic>
        <p:nvPicPr>
          <p:cNvPr id="7" name="Picture 6">
            <a:extLst>
              <a:ext uri="{FF2B5EF4-FFF2-40B4-BE49-F238E27FC236}">
                <a16:creationId xmlns:a16="http://schemas.microsoft.com/office/drawing/2014/main" id="{F0948710-BB3E-0F79-6E57-3B78F0721129}"/>
              </a:ext>
            </a:extLst>
          </p:cNvPr>
          <p:cNvPicPr>
            <a:picLocks noChangeAspect="1"/>
          </p:cNvPicPr>
          <p:nvPr/>
        </p:nvPicPr>
        <p:blipFill>
          <a:blip r:embed="rId2"/>
          <a:srcRect l="54799" t="36344" r="4798" b="50000"/>
          <a:stretch>
            <a:fillRect/>
          </a:stretch>
        </p:blipFill>
        <p:spPr>
          <a:xfrm>
            <a:off x="4896465" y="5470975"/>
            <a:ext cx="7295535" cy="1387026"/>
          </a:xfrm>
          <a:prstGeom prst="rect">
            <a:avLst/>
          </a:prstGeom>
          <a:ln w="38100">
            <a:solidFill>
              <a:srgbClr val="FF0000"/>
            </a:solidFill>
          </a:ln>
        </p:spPr>
      </p:pic>
      <p:sp>
        <p:nvSpPr>
          <p:cNvPr id="4" name="TextBox 3">
            <a:extLst>
              <a:ext uri="{FF2B5EF4-FFF2-40B4-BE49-F238E27FC236}">
                <a16:creationId xmlns:a16="http://schemas.microsoft.com/office/drawing/2014/main" id="{90D7FA78-C385-F648-CE96-0F97FE053E87}"/>
              </a:ext>
            </a:extLst>
          </p:cNvPr>
          <p:cNvSpPr txBox="1"/>
          <p:nvPr/>
        </p:nvSpPr>
        <p:spPr>
          <a:xfrm>
            <a:off x="6581467" y="1283449"/>
            <a:ext cx="5610533" cy="1785104"/>
          </a:xfrm>
          <a:prstGeom prst="rect">
            <a:avLst/>
          </a:prstGeom>
          <a:solidFill>
            <a:schemeClr val="bg1"/>
          </a:solidFill>
          <a:ln w="38100">
            <a:solidFill>
              <a:srgbClr val="FF0000"/>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libir"/>
                <a:ea typeface="+mn-ea"/>
                <a:cs typeface="+mn-cs"/>
              </a:rPr>
              <a:t>In short: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ir"/>
                <a:ea typeface="+mn-ea"/>
                <a:cs typeface="+mn-cs"/>
              </a:rPr>
              <a:t>Fix the random seed,</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ir"/>
                <a:ea typeface="+mn-ea"/>
                <a:cs typeface="+mn-cs"/>
              </a:rPr>
              <a:t>Generate a random mark + subject ID,</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ir"/>
                <a:ea typeface="+mn-ea"/>
                <a:cs typeface="+mn-cs"/>
              </a:rPr>
              <a:t>Work out the grade,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ir"/>
                <a:ea typeface="+mn-ea"/>
                <a:cs typeface="+mn-cs"/>
              </a:rPr>
              <a:t>Print the record.</a:t>
            </a:r>
          </a:p>
        </p:txBody>
      </p:sp>
      <p:sp>
        <p:nvSpPr>
          <p:cNvPr id="8" name="Title 1">
            <a:extLst>
              <a:ext uri="{FF2B5EF4-FFF2-40B4-BE49-F238E27FC236}">
                <a16:creationId xmlns:a16="http://schemas.microsoft.com/office/drawing/2014/main" id="{B58D9E25-77D4-94D4-7B5C-4BC07790135A}"/>
              </a:ext>
            </a:extLst>
          </p:cNvPr>
          <p:cNvSpPr>
            <a:spLocks noGrp="1"/>
          </p:cNvSpPr>
          <p:nvPr>
            <p:ph type="title"/>
          </p:nvPr>
        </p:nvSpPr>
        <p:spPr>
          <a:xfrm>
            <a:off x="0" y="625638"/>
            <a:ext cx="12192000" cy="675441"/>
          </a:xfrm>
        </p:spPr>
        <p:txBody>
          <a:bodyPr anchor="b">
            <a:normAutofit/>
          </a:bodyPr>
          <a:lstStyle/>
          <a:p>
            <a:r>
              <a:rPr lang="en-US" sz="2800" b="1" dirty="0">
                <a:latin typeface="Calibir"/>
              </a:rPr>
              <a:t>Make randomness reproducible</a:t>
            </a:r>
            <a:endParaRPr lang="en-AU" sz="2800" b="1" dirty="0">
              <a:latin typeface="Calibir"/>
            </a:endParaRPr>
          </a:p>
        </p:txBody>
      </p:sp>
      <p:sp>
        <p:nvSpPr>
          <p:cNvPr id="3" name="Title 1">
            <a:extLst>
              <a:ext uri="{FF2B5EF4-FFF2-40B4-BE49-F238E27FC236}">
                <a16:creationId xmlns:a16="http://schemas.microsoft.com/office/drawing/2014/main" id="{4338B31C-E3B2-E9EA-591C-E94519299684}"/>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prstClr val="black"/>
                </a:solidFill>
                <a:effectLst/>
                <a:uLnTx/>
                <a:uFillTx/>
                <a:latin typeface="Calibir"/>
                <a:ea typeface="+mj-ea"/>
                <a:cs typeface="+mj-cs"/>
              </a:rPr>
              <a:t>Mini Coding Nudges (Email/Password, Marks, Pass/Fail etc.)</a:t>
            </a:r>
            <a:endParaRPr kumimoji="0" lang="en-AU" sz="3300" b="1" i="0" u="none" strike="noStrike" kern="1200" cap="none" spc="0" normalizeH="0" baseline="0" noProof="0" dirty="0">
              <a:ln>
                <a:noFill/>
              </a:ln>
              <a:solidFill>
                <a:prstClr val="black"/>
              </a:solidFill>
              <a:effectLst/>
              <a:uLnTx/>
              <a:uFillTx/>
              <a:latin typeface="Calibir"/>
              <a:ea typeface="+mj-ea"/>
              <a:cs typeface="+mj-cs"/>
            </a:endParaRPr>
          </a:p>
        </p:txBody>
      </p:sp>
    </p:spTree>
    <p:extLst>
      <p:ext uri="{BB962C8B-B14F-4D97-AF65-F5344CB8AC3E}">
        <p14:creationId xmlns:p14="http://schemas.microsoft.com/office/powerpoint/2010/main" val="33802968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EB785-6B41-321F-8251-767F45BF3F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5E17A-DFCD-2872-5B35-F441EDC718B3}"/>
              </a:ext>
            </a:extLst>
          </p:cNvPr>
          <p:cNvSpPr>
            <a:spLocks noGrp="1"/>
          </p:cNvSpPr>
          <p:nvPr>
            <p:ph type="title"/>
          </p:nvPr>
        </p:nvSpPr>
        <p:spPr>
          <a:xfrm>
            <a:off x="0" y="869795"/>
            <a:ext cx="12192000" cy="557561"/>
          </a:xfrm>
        </p:spPr>
        <p:txBody>
          <a:bodyPr anchor="b">
            <a:normAutofit/>
          </a:bodyPr>
          <a:lstStyle/>
          <a:p>
            <a:r>
              <a:rPr lang="en-US" sz="3300" b="1" dirty="0">
                <a:latin typeface="Calibir"/>
              </a:rPr>
              <a:t>Add student ID and PASS/FAIL</a:t>
            </a:r>
            <a:endParaRPr lang="en-AU" sz="3300" b="1" dirty="0">
              <a:latin typeface="Calibir"/>
            </a:endParaRPr>
          </a:p>
        </p:txBody>
      </p:sp>
      <p:sp>
        <p:nvSpPr>
          <p:cNvPr id="4" name="TextBox 3">
            <a:extLst>
              <a:ext uri="{FF2B5EF4-FFF2-40B4-BE49-F238E27FC236}">
                <a16:creationId xmlns:a16="http://schemas.microsoft.com/office/drawing/2014/main" id="{C655CE28-7134-0543-249D-22F7239F953D}"/>
              </a:ext>
            </a:extLst>
          </p:cNvPr>
          <p:cNvSpPr txBox="1"/>
          <p:nvPr/>
        </p:nvSpPr>
        <p:spPr>
          <a:xfrm>
            <a:off x="0" y="1427356"/>
            <a:ext cx="12192000" cy="131818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Task: </a:t>
            </a:r>
            <a:r>
              <a:rPr kumimoji="0" lang="en-US" sz="2800" b="0" i="0" u="none" strike="noStrike" kern="1200" cap="none" spc="0" normalizeH="0" baseline="0" noProof="0" dirty="0">
                <a:ln>
                  <a:noFill/>
                </a:ln>
                <a:solidFill>
                  <a:prstClr val="black"/>
                </a:solidFill>
                <a:effectLst/>
                <a:uLnTx/>
                <a:uFillTx/>
                <a:latin typeface="Calibir"/>
                <a:ea typeface="+mn-ea"/>
                <a:cs typeface="+mn-cs"/>
              </a:rPr>
              <a:t>Add a 6-digit student ID and a pass/fail flag (pass if mark ≥ 50).</a:t>
            </a:r>
            <a:br>
              <a:rPr kumimoji="0" lang="en-US" sz="2800" b="0" i="0" u="none" strike="noStrike" kern="1200" cap="none" spc="0" normalizeH="0" baseline="0" noProof="0" dirty="0">
                <a:ln>
                  <a:noFill/>
                </a:ln>
                <a:solidFill>
                  <a:prstClr val="black"/>
                </a:solidFill>
                <a:effectLst/>
                <a:uLnTx/>
                <a:uFillTx/>
                <a:latin typeface="Calibir"/>
                <a:ea typeface="+mn-ea"/>
                <a:cs typeface="+mn-cs"/>
              </a:rPr>
            </a:br>
            <a:r>
              <a:rPr kumimoji="0" lang="en-US" sz="2800" b="1" i="0" u="none" strike="noStrike" kern="1200" cap="none" spc="0" normalizeH="0" baseline="0" noProof="0" dirty="0">
                <a:ln>
                  <a:noFill/>
                </a:ln>
                <a:solidFill>
                  <a:prstClr val="black"/>
                </a:solidFill>
                <a:effectLst/>
                <a:uLnTx/>
                <a:uFillTx/>
                <a:latin typeface="Calibir"/>
                <a:ea typeface="+mn-ea"/>
                <a:cs typeface="+mn-cs"/>
              </a:rPr>
              <a:t>Hint: </a:t>
            </a:r>
            <a:r>
              <a:rPr kumimoji="0" lang="en-US" sz="2800" b="0" i="0" u="none" strike="noStrike" kern="1200" cap="none" spc="0" normalizeH="0" baseline="0" noProof="0" dirty="0">
                <a:ln>
                  <a:noFill/>
                </a:ln>
                <a:solidFill>
                  <a:prstClr val="black"/>
                </a:solidFill>
                <a:effectLst/>
                <a:uLnTx/>
                <a:uFillTx/>
                <a:latin typeface="Calibir"/>
                <a:ea typeface="+mn-ea"/>
                <a:cs typeface="+mn-cs"/>
              </a:rPr>
              <a:t>Use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zfill</a:t>
            </a:r>
            <a:r>
              <a:rPr kumimoji="0" lang="en-US" sz="2800" b="0" i="0" u="none" strike="noStrike" kern="1200" cap="none" spc="0" normalizeH="0" baseline="0" noProof="0" dirty="0">
                <a:ln>
                  <a:noFill/>
                </a:ln>
                <a:solidFill>
                  <a:prstClr val="black"/>
                </a:solidFill>
                <a:effectLst/>
                <a:uLnTx/>
                <a:uFillTx/>
                <a:latin typeface="Calibir"/>
                <a:ea typeface="+mn-ea"/>
                <a:cs typeface="+mn-cs"/>
              </a:rPr>
              <a:t>(6) for the student ID.</a:t>
            </a:r>
          </a:p>
        </p:txBody>
      </p:sp>
      <p:sp>
        <p:nvSpPr>
          <p:cNvPr id="3" name="Title 1">
            <a:extLst>
              <a:ext uri="{FF2B5EF4-FFF2-40B4-BE49-F238E27FC236}">
                <a16:creationId xmlns:a16="http://schemas.microsoft.com/office/drawing/2014/main" id="{7D3EE15A-DD02-654F-AC4B-8B5E43CCF658}"/>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prstClr val="black"/>
                </a:solidFill>
                <a:effectLst/>
                <a:uLnTx/>
                <a:uFillTx/>
                <a:latin typeface="Calibir"/>
                <a:ea typeface="+mj-ea"/>
                <a:cs typeface="+mj-cs"/>
              </a:rPr>
              <a:t>Mini Coding Nudges (Email/Password, Marks, Pass/Fail etc.)</a:t>
            </a:r>
            <a:endParaRPr kumimoji="0" lang="en-AU" sz="3300" b="1" i="0" u="none" strike="noStrike" kern="1200" cap="none" spc="0" normalizeH="0" baseline="0" noProof="0" dirty="0">
              <a:ln>
                <a:noFill/>
              </a:ln>
              <a:solidFill>
                <a:prstClr val="black"/>
              </a:solidFill>
              <a:effectLst/>
              <a:uLnTx/>
              <a:uFillTx/>
              <a:latin typeface="Calibir"/>
              <a:ea typeface="+mj-ea"/>
              <a:cs typeface="+mj-cs"/>
            </a:endParaRPr>
          </a:p>
        </p:txBody>
      </p:sp>
    </p:spTree>
    <p:extLst>
      <p:ext uri="{BB962C8B-B14F-4D97-AF65-F5344CB8AC3E}">
        <p14:creationId xmlns:p14="http://schemas.microsoft.com/office/powerpoint/2010/main" val="33264001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EB785-6B41-321F-8251-767F45BF3F4D}"/>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0150E7F-8EEF-BA55-1D9E-E2C646D20FCE}"/>
              </a:ext>
            </a:extLst>
          </p:cNvPr>
          <p:cNvPicPr>
            <a:picLocks noChangeAspect="1"/>
          </p:cNvPicPr>
          <p:nvPr/>
        </p:nvPicPr>
        <p:blipFill>
          <a:blip r:embed="rId2"/>
          <a:srcRect l="8226" t="11188" r="8065" b="18495"/>
          <a:stretch>
            <a:fillRect/>
          </a:stretch>
        </p:blipFill>
        <p:spPr>
          <a:xfrm>
            <a:off x="0" y="680225"/>
            <a:ext cx="12192000" cy="5760844"/>
          </a:xfrm>
          <a:prstGeom prst="rect">
            <a:avLst/>
          </a:prstGeom>
        </p:spPr>
      </p:pic>
      <p:sp>
        <p:nvSpPr>
          <p:cNvPr id="5" name="Title 1">
            <a:extLst>
              <a:ext uri="{FF2B5EF4-FFF2-40B4-BE49-F238E27FC236}">
                <a16:creationId xmlns:a16="http://schemas.microsoft.com/office/drawing/2014/main" id="{EAC0A380-7E8E-0F65-C4E9-0423BC0F3006}"/>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prstClr val="black"/>
                </a:solidFill>
                <a:effectLst/>
                <a:uLnTx/>
                <a:uFillTx/>
                <a:latin typeface="Calibir"/>
                <a:ea typeface="+mj-ea"/>
                <a:cs typeface="+mj-cs"/>
              </a:rPr>
              <a:t>Mini Coding Nudges (Email/Password, Marks, Pass/Fail etc.)</a:t>
            </a:r>
            <a:endParaRPr kumimoji="0" lang="en-AU" sz="3300" b="1" i="0" u="none" strike="noStrike" kern="1200" cap="none" spc="0" normalizeH="0" baseline="0" noProof="0" dirty="0">
              <a:ln>
                <a:noFill/>
              </a:ln>
              <a:solidFill>
                <a:prstClr val="black"/>
              </a:solidFill>
              <a:effectLst/>
              <a:uLnTx/>
              <a:uFillTx/>
              <a:latin typeface="Calibir"/>
              <a:ea typeface="+mj-ea"/>
              <a:cs typeface="+mj-cs"/>
            </a:endParaRPr>
          </a:p>
        </p:txBody>
      </p:sp>
    </p:spTree>
    <p:extLst>
      <p:ext uri="{BB962C8B-B14F-4D97-AF65-F5344CB8AC3E}">
        <p14:creationId xmlns:p14="http://schemas.microsoft.com/office/powerpoint/2010/main" val="7461884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7232E-93B2-4DE0-26D4-99AEF1F95CC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FD21DCC1-CDDB-5758-7DF2-A1CC75DAC53F}"/>
              </a:ext>
            </a:extLst>
          </p:cNvPr>
          <p:cNvPicPr>
            <a:picLocks noChangeAspect="1"/>
          </p:cNvPicPr>
          <p:nvPr/>
        </p:nvPicPr>
        <p:blipFill>
          <a:blip r:embed="rId2"/>
          <a:srcRect l="8226" t="11188" r="8065" b="18495"/>
          <a:stretch>
            <a:fillRect/>
          </a:stretch>
        </p:blipFill>
        <p:spPr>
          <a:xfrm>
            <a:off x="0" y="767255"/>
            <a:ext cx="12192000" cy="5760844"/>
          </a:xfrm>
          <a:prstGeom prst="rect">
            <a:avLst/>
          </a:prstGeom>
        </p:spPr>
      </p:pic>
      <p:sp>
        <p:nvSpPr>
          <p:cNvPr id="10" name="TextBox 9">
            <a:extLst>
              <a:ext uri="{FF2B5EF4-FFF2-40B4-BE49-F238E27FC236}">
                <a16:creationId xmlns:a16="http://schemas.microsoft.com/office/drawing/2014/main" id="{6BE2C579-DD2B-2976-D047-3DC4085AB51D}"/>
              </a:ext>
            </a:extLst>
          </p:cNvPr>
          <p:cNvSpPr txBox="1"/>
          <p:nvPr/>
        </p:nvSpPr>
        <p:spPr>
          <a:xfrm>
            <a:off x="4321277" y="4529054"/>
            <a:ext cx="7870723" cy="954107"/>
          </a:xfrm>
          <a:prstGeom prst="rect">
            <a:avLst/>
          </a:prstGeom>
          <a:solidFill>
            <a:schemeClr val="tx1"/>
          </a:solidFill>
          <a:ln w="38100">
            <a:solidFill>
              <a:srgbClr val="FF0000"/>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Student 256788 → Subject 229: mark 60, grade P (PASS)</a:t>
            </a:r>
            <a:endPar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 name="Title 1">
            <a:extLst>
              <a:ext uri="{FF2B5EF4-FFF2-40B4-BE49-F238E27FC236}">
                <a16:creationId xmlns:a16="http://schemas.microsoft.com/office/drawing/2014/main" id="{57A6B440-CA15-BF3E-3BDF-7539A8DBCB77}"/>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prstClr val="black"/>
                </a:solidFill>
                <a:effectLst/>
                <a:uLnTx/>
                <a:uFillTx/>
                <a:latin typeface="Calibir"/>
                <a:ea typeface="+mj-ea"/>
                <a:cs typeface="+mj-cs"/>
              </a:rPr>
              <a:t>Mini Coding Nudges (Email/Password, Marks, Pass/Fail etc.)</a:t>
            </a:r>
            <a:endParaRPr kumimoji="0" lang="en-AU" sz="3300" b="1" i="0" u="none" strike="noStrike" kern="1200" cap="none" spc="0" normalizeH="0" baseline="0" noProof="0" dirty="0">
              <a:ln>
                <a:noFill/>
              </a:ln>
              <a:solidFill>
                <a:prstClr val="black"/>
              </a:solidFill>
              <a:effectLst/>
              <a:uLnTx/>
              <a:uFillTx/>
              <a:latin typeface="Calibir"/>
              <a:ea typeface="+mj-ea"/>
              <a:cs typeface="+mj-cs"/>
            </a:endParaRPr>
          </a:p>
        </p:txBody>
      </p:sp>
    </p:spTree>
    <p:extLst>
      <p:ext uri="{BB962C8B-B14F-4D97-AF65-F5344CB8AC3E}">
        <p14:creationId xmlns:p14="http://schemas.microsoft.com/office/powerpoint/2010/main" val="228795477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BAF17-4BE6-44DA-7E53-495A484DB08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FE8980F-11DF-0BC6-1538-CE1A5603DCBC}"/>
              </a:ext>
            </a:extLst>
          </p:cNvPr>
          <p:cNvSpPr>
            <a:spLocks noGrp="1"/>
          </p:cNvSpPr>
          <p:nvPr>
            <p:ph type="title"/>
          </p:nvPr>
        </p:nvSpPr>
        <p:spPr>
          <a:xfrm>
            <a:off x="0" y="585590"/>
            <a:ext cx="12192000" cy="557561"/>
          </a:xfrm>
        </p:spPr>
        <p:txBody>
          <a:bodyPr anchor="b">
            <a:normAutofit/>
          </a:bodyPr>
          <a:lstStyle/>
          <a:p>
            <a:r>
              <a:rPr lang="en-US" sz="2800" b="1" dirty="0">
                <a:latin typeface="Calibir"/>
              </a:rPr>
              <a:t>Grade Classification Based on University Rules</a:t>
            </a:r>
            <a:endParaRPr lang="en-AU" sz="2800" b="1" dirty="0">
              <a:latin typeface="Calibir"/>
            </a:endParaRPr>
          </a:p>
        </p:txBody>
      </p:sp>
      <p:sp>
        <p:nvSpPr>
          <p:cNvPr id="9" name="TextBox 8">
            <a:extLst>
              <a:ext uri="{FF2B5EF4-FFF2-40B4-BE49-F238E27FC236}">
                <a16:creationId xmlns:a16="http://schemas.microsoft.com/office/drawing/2014/main" id="{C54E2F65-1097-5C3F-0D8F-37768829834D}"/>
              </a:ext>
            </a:extLst>
          </p:cNvPr>
          <p:cNvSpPr txBox="1"/>
          <p:nvPr/>
        </p:nvSpPr>
        <p:spPr>
          <a:xfrm>
            <a:off x="0" y="1143151"/>
            <a:ext cx="12021014" cy="5196166"/>
          </a:xfrm>
          <a:prstGeom prst="rect">
            <a:avLst/>
          </a:prstGeom>
          <a:noFill/>
        </p:spPr>
        <p:txBody>
          <a:bodyPr wrap="square">
            <a:spAutoFit/>
          </a:bodyPr>
          <a:lstStyle/>
          <a:p>
            <a:pPr marL="457200" marR="0" lvl="0" indent="-4572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Write a function grade(mark: int) -&gt; str that returns the grade according to UTS rules.</a:t>
            </a:r>
          </a:p>
          <a:p>
            <a:pPr marL="457200" marR="0" lvl="0" indent="-4572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Use if–else conditions (or chained expressions).</a:t>
            </a:r>
          </a:p>
          <a:p>
            <a:pPr marL="457200" marR="0" lvl="0" indent="-4572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Test your function with example marks [42, 58, 70, 82, 95].</a:t>
            </a:r>
          </a:p>
          <a:p>
            <a:pPr marL="457200" marR="0" lvl="0" indent="-4572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Print each mark alongside its grade.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You’ve basically turned the earlier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randomised</a:t>
            </a:r>
            <a:r>
              <a:rPr kumimoji="0" lang="en-US" sz="2800" b="0" i="0" u="none" strike="noStrike" kern="1200" cap="none" spc="0" normalizeH="0" baseline="0" noProof="0" dirty="0">
                <a:ln>
                  <a:noFill/>
                </a:ln>
                <a:solidFill>
                  <a:prstClr val="black"/>
                </a:solidFill>
                <a:effectLst/>
                <a:uLnTx/>
                <a:uFillTx/>
                <a:latin typeface="Calibir"/>
                <a:ea typeface="+mn-ea"/>
                <a:cs typeface="+mn-cs"/>
              </a:rPr>
              <a:t> activity into a deterministic grading demo — perfect for classroom explanation before students move to random generation.</a:t>
            </a:r>
          </a:p>
        </p:txBody>
      </p:sp>
      <p:sp>
        <p:nvSpPr>
          <p:cNvPr id="2" name="Title 1">
            <a:extLst>
              <a:ext uri="{FF2B5EF4-FFF2-40B4-BE49-F238E27FC236}">
                <a16:creationId xmlns:a16="http://schemas.microsoft.com/office/drawing/2014/main" id="{4EED0E53-4A10-EC62-0037-5BD5EFB55AAF}"/>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prstClr val="black"/>
                </a:solidFill>
                <a:effectLst/>
                <a:uLnTx/>
                <a:uFillTx/>
                <a:latin typeface="Calibir"/>
                <a:ea typeface="+mj-ea"/>
                <a:cs typeface="+mj-cs"/>
              </a:rPr>
              <a:t>Mini Coding Nudges (Email/Password, Marks, Pass/Fail etc.)</a:t>
            </a:r>
            <a:endParaRPr kumimoji="0" lang="en-AU" sz="3300" b="1" i="0" u="none" strike="noStrike" kern="1200" cap="none" spc="0" normalizeH="0" baseline="0" noProof="0" dirty="0">
              <a:ln>
                <a:noFill/>
              </a:ln>
              <a:solidFill>
                <a:prstClr val="black"/>
              </a:solidFill>
              <a:effectLst/>
              <a:uLnTx/>
              <a:uFillTx/>
              <a:latin typeface="Calibir"/>
              <a:ea typeface="+mj-ea"/>
              <a:cs typeface="+mj-cs"/>
            </a:endParaRPr>
          </a:p>
        </p:txBody>
      </p:sp>
    </p:spTree>
    <p:extLst>
      <p:ext uri="{BB962C8B-B14F-4D97-AF65-F5344CB8AC3E}">
        <p14:creationId xmlns:p14="http://schemas.microsoft.com/office/powerpoint/2010/main" val="203748072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41392-8C03-A9F6-0537-562820D5D9C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71F1BD05-E900-DB68-2FBA-CF950FD9959C}"/>
              </a:ext>
            </a:extLst>
          </p:cNvPr>
          <p:cNvPicPr>
            <a:picLocks noChangeAspect="1"/>
          </p:cNvPicPr>
          <p:nvPr/>
        </p:nvPicPr>
        <p:blipFill>
          <a:blip r:embed="rId2"/>
          <a:srcRect l="6494" t="23171" r="76930" b="30388"/>
          <a:stretch>
            <a:fillRect/>
          </a:stretch>
        </p:blipFill>
        <p:spPr>
          <a:xfrm>
            <a:off x="0" y="858643"/>
            <a:ext cx="7393259" cy="5825568"/>
          </a:xfrm>
          <a:prstGeom prst="rect">
            <a:avLst/>
          </a:prstGeom>
        </p:spPr>
      </p:pic>
      <p:sp>
        <p:nvSpPr>
          <p:cNvPr id="11" name="Rectangle 1">
            <a:extLst>
              <a:ext uri="{FF2B5EF4-FFF2-40B4-BE49-F238E27FC236}">
                <a16:creationId xmlns:a16="http://schemas.microsoft.com/office/drawing/2014/main" id="{5FF0D093-1C6E-7166-046E-9DCB66E8C2CD}"/>
              </a:ext>
            </a:extLst>
          </p:cNvPr>
          <p:cNvSpPr>
            <a:spLocks noChangeArrowheads="1"/>
          </p:cNvSpPr>
          <p:nvPr/>
        </p:nvSpPr>
        <p:spPr bwMode="auto">
          <a:xfrm>
            <a:off x="7393259" y="1218279"/>
            <a:ext cx="4616604"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mark: int -&gt; str are type hints: input is an integer, output is a string.</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The big return uses a chain of checks from lowest to highest.</a:t>
            </a:r>
          </a:p>
        </p:txBody>
      </p:sp>
      <p:sp>
        <p:nvSpPr>
          <p:cNvPr id="4" name="Title 1">
            <a:extLst>
              <a:ext uri="{FF2B5EF4-FFF2-40B4-BE49-F238E27FC236}">
                <a16:creationId xmlns:a16="http://schemas.microsoft.com/office/drawing/2014/main" id="{25B7EBE3-6C1F-25DD-BAD1-D3427DC4AC75}"/>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prstClr val="black"/>
                </a:solidFill>
                <a:effectLst/>
                <a:uLnTx/>
                <a:uFillTx/>
                <a:latin typeface="Calibir"/>
                <a:ea typeface="+mj-ea"/>
                <a:cs typeface="+mj-cs"/>
              </a:rPr>
              <a:t>Mini Coding Nudges (Email/Password, Marks, Pass/Fail etc.)</a:t>
            </a:r>
            <a:endParaRPr kumimoji="0" lang="en-AU" sz="3300" b="1" i="0" u="none" strike="noStrike" kern="1200" cap="none" spc="0" normalizeH="0" baseline="0" noProof="0" dirty="0">
              <a:ln>
                <a:noFill/>
              </a:ln>
              <a:solidFill>
                <a:prstClr val="black"/>
              </a:solidFill>
              <a:effectLst/>
              <a:uLnTx/>
              <a:uFillTx/>
              <a:latin typeface="Calibir"/>
              <a:ea typeface="+mj-ea"/>
              <a:cs typeface="+mj-cs"/>
            </a:endParaRPr>
          </a:p>
        </p:txBody>
      </p:sp>
    </p:spTree>
    <p:extLst>
      <p:ext uri="{BB962C8B-B14F-4D97-AF65-F5344CB8AC3E}">
        <p14:creationId xmlns:p14="http://schemas.microsoft.com/office/powerpoint/2010/main" val="178316334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A191E-03CC-1104-849C-B8859AEA9F4E}"/>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65E500FA-7DEC-B4EF-798F-1CC310B0A616}"/>
              </a:ext>
            </a:extLst>
          </p:cNvPr>
          <p:cNvPicPr>
            <a:picLocks noChangeAspect="1"/>
          </p:cNvPicPr>
          <p:nvPr/>
        </p:nvPicPr>
        <p:blipFill>
          <a:blip r:embed="rId2"/>
          <a:srcRect l="6494" t="23171" r="76930" b="30388"/>
          <a:stretch>
            <a:fillRect/>
          </a:stretch>
        </p:blipFill>
        <p:spPr>
          <a:xfrm>
            <a:off x="0" y="858643"/>
            <a:ext cx="7393259" cy="5825568"/>
          </a:xfrm>
          <a:prstGeom prst="rect">
            <a:avLst/>
          </a:prstGeom>
        </p:spPr>
      </p:pic>
      <p:sp>
        <p:nvSpPr>
          <p:cNvPr id="11" name="Rectangle 1">
            <a:extLst>
              <a:ext uri="{FF2B5EF4-FFF2-40B4-BE49-F238E27FC236}">
                <a16:creationId xmlns:a16="http://schemas.microsoft.com/office/drawing/2014/main" id="{A26851B0-BFEF-3CD6-402F-01B008882B95}"/>
              </a:ext>
            </a:extLst>
          </p:cNvPr>
          <p:cNvSpPr>
            <a:spLocks noChangeArrowheads="1"/>
          </p:cNvSpPr>
          <p:nvPr/>
        </p:nvSpPr>
        <p:spPr bwMode="auto">
          <a:xfrm>
            <a:off x="7393259" y="173789"/>
            <a:ext cx="4798741" cy="6380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500" b="0" i="0" u="none" strike="noStrike" kern="1200" cap="none" spc="0" normalizeH="0" baseline="0" noProof="0" dirty="0">
                <a:ln>
                  <a:noFill/>
                </a:ln>
                <a:solidFill>
                  <a:prstClr val="black"/>
                </a:solidFill>
                <a:effectLst/>
                <a:uLnTx/>
                <a:uFillTx/>
                <a:latin typeface="Calibir"/>
                <a:ea typeface="+mn-ea"/>
                <a:cs typeface="+mn-cs"/>
              </a:rPr>
              <a:t>Python evaluates them in order:</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defRPr/>
            </a:pPr>
            <a:r>
              <a:rPr kumimoji="0" lang="en-US" altLang="en-US" sz="2500" b="0" i="0" u="none" strike="noStrike" kern="1200" cap="none" spc="0" normalizeH="0" baseline="0" noProof="0" dirty="0">
                <a:ln>
                  <a:noFill/>
                </a:ln>
                <a:solidFill>
                  <a:prstClr val="black"/>
                </a:solidFill>
                <a:effectLst/>
                <a:uLnTx/>
                <a:uFillTx/>
                <a:latin typeface="Calibir"/>
                <a:ea typeface="+mn-ea"/>
                <a:cs typeface="+mn-cs"/>
              </a:rPr>
              <a:t>If mark &lt; 50, stop and return 'Z'.</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defRPr/>
            </a:pPr>
            <a:r>
              <a:rPr kumimoji="0" lang="en-US" altLang="en-US" sz="2500" b="0" i="0" u="none" strike="noStrike" kern="1200" cap="none" spc="0" normalizeH="0" baseline="0" noProof="0" dirty="0">
                <a:ln>
                  <a:noFill/>
                </a:ln>
                <a:solidFill>
                  <a:prstClr val="black"/>
                </a:solidFill>
                <a:effectLst/>
                <a:uLnTx/>
                <a:uFillTx/>
                <a:latin typeface="Calibir"/>
                <a:ea typeface="+mn-ea"/>
                <a:cs typeface="+mn-cs"/>
              </a:rPr>
              <a:t>Otherwise, if mark &lt; 65, return 'P'.</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defRPr/>
            </a:pPr>
            <a:r>
              <a:rPr kumimoji="0" lang="en-US" altLang="en-US" sz="2500" b="0" i="0" u="none" strike="noStrike" kern="1200" cap="none" spc="0" normalizeH="0" baseline="0" noProof="0" dirty="0">
                <a:ln>
                  <a:noFill/>
                </a:ln>
                <a:solidFill>
                  <a:prstClr val="black"/>
                </a:solidFill>
                <a:effectLst/>
                <a:uLnTx/>
                <a:uFillTx/>
                <a:latin typeface="Calibir"/>
                <a:ea typeface="+mn-ea"/>
                <a:cs typeface="+mn-cs"/>
              </a:rPr>
              <a:t>Otherwise, if mark &lt; 75, return 'C'.</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defRPr/>
            </a:pPr>
            <a:r>
              <a:rPr kumimoji="0" lang="en-US" altLang="en-US" sz="2500" b="0" i="0" u="none" strike="noStrike" kern="1200" cap="none" spc="0" normalizeH="0" baseline="0" noProof="0" dirty="0">
                <a:ln>
                  <a:noFill/>
                </a:ln>
                <a:solidFill>
                  <a:prstClr val="black"/>
                </a:solidFill>
                <a:effectLst/>
                <a:uLnTx/>
                <a:uFillTx/>
                <a:latin typeface="Calibir"/>
                <a:ea typeface="+mn-ea"/>
                <a:cs typeface="+mn-cs"/>
              </a:rPr>
              <a:t>Otherwise, if mark &lt; 85, return 'D'.</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defRPr/>
            </a:pPr>
            <a:r>
              <a:rPr kumimoji="0" lang="en-US" altLang="en-US" sz="2500" b="0" i="0" u="none" strike="noStrike" kern="1200" cap="none" spc="0" normalizeH="0" baseline="0" noProof="0" dirty="0">
                <a:ln>
                  <a:noFill/>
                </a:ln>
                <a:solidFill>
                  <a:prstClr val="black"/>
                </a:solidFill>
                <a:effectLst/>
                <a:uLnTx/>
                <a:uFillTx/>
                <a:latin typeface="Calibir"/>
                <a:ea typeface="+mn-ea"/>
                <a:cs typeface="+mn-cs"/>
              </a:rPr>
              <a:t>Otherwise (so mark ≥ 85), return 'HD'.</a:t>
            </a:r>
          </a:p>
        </p:txBody>
      </p:sp>
      <p:sp>
        <p:nvSpPr>
          <p:cNvPr id="4" name="Title 1">
            <a:extLst>
              <a:ext uri="{FF2B5EF4-FFF2-40B4-BE49-F238E27FC236}">
                <a16:creationId xmlns:a16="http://schemas.microsoft.com/office/drawing/2014/main" id="{441BA534-22AE-DF3B-7975-EE5A3FDA893C}"/>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prstClr val="black"/>
                </a:solidFill>
                <a:effectLst/>
                <a:uLnTx/>
                <a:uFillTx/>
                <a:latin typeface="Calibir"/>
                <a:ea typeface="+mj-ea"/>
                <a:cs typeface="+mj-cs"/>
              </a:rPr>
              <a:t>Mini Coding Nudges (Email/Password, Marks, Pass/Fail etc.)</a:t>
            </a:r>
            <a:endParaRPr kumimoji="0" lang="en-AU" sz="3300" b="1" i="0" u="none" strike="noStrike" kern="1200" cap="none" spc="0" normalizeH="0" baseline="0" noProof="0" dirty="0">
              <a:ln>
                <a:noFill/>
              </a:ln>
              <a:solidFill>
                <a:prstClr val="black"/>
              </a:solidFill>
              <a:effectLst/>
              <a:uLnTx/>
              <a:uFillTx/>
              <a:latin typeface="Calibir"/>
              <a:ea typeface="+mj-ea"/>
              <a:cs typeface="+mj-cs"/>
            </a:endParaRPr>
          </a:p>
        </p:txBody>
      </p:sp>
    </p:spTree>
    <p:extLst>
      <p:ext uri="{BB962C8B-B14F-4D97-AF65-F5344CB8AC3E}">
        <p14:creationId xmlns:p14="http://schemas.microsoft.com/office/powerpoint/2010/main" val="5822395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07F30-6C04-A002-4136-BC0BE5146C94}"/>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7B2B0F85-1E27-5D87-6CDD-6E8D72FC8574}"/>
              </a:ext>
            </a:extLst>
          </p:cNvPr>
          <p:cNvPicPr>
            <a:picLocks noChangeAspect="1"/>
          </p:cNvPicPr>
          <p:nvPr/>
        </p:nvPicPr>
        <p:blipFill>
          <a:blip r:embed="rId2"/>
          <a:srcRect l="6494" t="23171" r="76930" b="30388"/>
          <a:stretch>
            <a:fillRect/>
          </a:stretch>
        </p:blipFill>
        <p:spPr>
          <a:xfrm>
            <a:off x="0" y="858643"/>
            <a:ext cx="7393259" cy="5825568"/>
          </a:xfrm>
          <a:prstGeom prst="rect">
            <a:avLst/>
          </a:prstGeom>
        </p:spPr>
      </p:pic>
      <p:sp>
        <p:nvSpPr>
          <p:cNvPr id="11" name="Rectangle 1">
            <a:extLst>
              <a:ext uri="{FF2B5EF4-FFF2-40B4-BE49-F238E27FC236}">
                <a16:creationId xmlns:a16="http://schemas.microsoft.com/office/drawing/2014/main" id="{C8D5C90E-1F59-F0F0-1BB0-F7B4CB376ABB}"/>
              </a:ext>
            </a:extLst>
          </p:cNvPr>
          <p:cNvSpPr>
            <a:spLocks noChangeArrowheads="1"/>
          </p:cNvSpPr>
          <p:nvPr/>
        </p:nvSpPr>
        <p:spPr bwMode="auto">
          <a:xfrm>
            <a:off x="7393259" y="1735500"/>
            <a:ext cx="4798741"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Boundaries (exact edges)</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50 → P (not Z)</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65 → C</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75 → D</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85 → HD</a:t>
            </a:r>
          </a:p>
        </p:txBody>
      </p:sp>
      <p:sp>
        <p:nvSpPr>
          <p:cNvPr id="4" name="Title 1">
            <a:extLst>
              <a:ext uri="{FF2B5EF4-FFF2-40B4-BE49-F238E27FC236}">
                <a16:creationId xmlns:a16="http://schemas.microsoft.com/office/drawing/2014/main" id="{DCDC3F70-A762-C81E-1CAF-3A37BEF892A1}"/>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prstClr val="black"/>
                </a:solidFill>
                <a:effectLst/>
                <a:uLnTx/>
                <a:uFillTx/>
                <a:latin typeface="Calibir"/>
                <a:ea typeface="+mj-ea"/>
                <a:cs typeface="+mj-cs"/>
              </a:rPr>
              <a:t>Mini Coding Nudges (Email/Password, Marks, Pass/Fail etc.)</a:t>
            </a:r>
            <a:endParaRPr kumimoji="0" lang="en-AU" sz="3300" b="1" i="0" u="none" strike="noStrike" kern="1200" cap="none" spc="0" normalizeH="0" baseline="0" noProof="0" dirty="0">
              <a:ln>
                <a:noFill/>
              </a:ln>
              <a:solidFill>
                <a:prstClr val="black"/>
              </a:solidFill>
              <a:effectLst/>
              <a:uLnTx/>
              <a:uFillTx/>
              <a:latin typeface="Calibir"/>
              <a:ea typeface="+mj-ea"/>
              <a:cs typeface="+mj-cs"/>
            </a:endParaRPr>
          </a:p>
        </p:txBody>
      </p:sp>
    </p:spTree>
    <p:extLst>
      <p:ext uri="{BB962C8B-B14F-4D97-AF65-F5344CB8AC3E}">
        <p14:creationId xmlns:p14="http://schemas.microsoft.com/office/powerpoint/2010/main" val="333474800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5AAD-3FC8-6C3C-2478-67F26A9EFDC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08A8AA2-268A-8943-1EBF-8B298079C096}"/>
              </a:ext>
            </a:extLst>
          </p:cNvPr>
          <p:cNvPicPr>
            <a:picLocks noChangeAspect="1"/>
          </p:cNvPicPr>
          <p:nvPr/>
        </p:nvPicPr>
        <p:blipFill>
          <a:blip r:embed="rId2"/>
          <a:srcRect l="6494" t="23171" r="66171" b="30388"/>
          <a:stretch>
            <a:fillRect/>
          </a:stretch>
        </p:blipFill>
        <p:spPr>
          <a:xfrm>
            <a:off x="0" y="858643"/>
            <a:ext cx="12192000" cy="5825568"/>
          </a:xfrm>
          <a:prstGeom prst="rect">
            <a:avLst/>
          </a:prstGeom>
        </p:spPr>
      </p:pic>
      <p:sp>
        <p:nvSpPr>
          <p:cNvPr id="3" name="TextBox 2">
            <a:extLst>
              <a:ext uri="{FF2B5EF4-FFF2-40B4-BE49-F238E27FC236}">
                <a16:creationId xmlns:a16="http://schemas.microsoft.com/office/drawing/2014/main" id="{D68416E2-49B4-7266-6F67-49449DB2B90D}"/>
              </a:ext>
            </a:extLst>
          </p:cNvPr>
          <p:cNvSpPr txBox="1"/>
          <p:nvPr/>
        </p:nvSpPr>
        <p:spPr>
          <a:xfrm>
            <a:off x="6012426" y="5521834"/>
            <a:ext cx="6179574" cy="1318181"/>
          </a:xfrm>
          <a:prstGeom prst="rect">
            <a:avLst/>
          </a:prstGeom>
          <a:solidFill>
            <a:schemeClr val="bg1"/>
          </a:solidFill>
          <a:ln w="38100">
            <a:solidFill>
              <a:srgbClr val="FF0000"/>
            </a:solidFill>
          </a:ln>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That’s all—it’s just a top-to-bottom check that stops at the first band that fits.</a:t>
            </a:r>
          </a:p>
        </p:txBody>
      </p:sp>
      <p:sp>
        <p:nvSpPr>
          <p:cNvPr id="5" name="Title 1">
            <a:extLst>
              <a:ext uri="{FF2B5EF4-FFF2-40B4-BE49-F238E27FC236}">
                <a16:creationId xmlns:a16="http://schemas.microsoft.com/office/drawing/2014/main" id="{0DDA1ADC-B12A-A65F-6379-7108AA46CEF6}"/>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prstClr val="black"/>
                </a:solidFill>
                <a:effectLst/>
                <a:uLnTx/>
                <a:uFillTx/>
                <a:latin typeface="Calibir"/>
                <a:ea typeface="+mj-ea"/>
                <a:cs typeface="+mj-cs"/>
              </a:rPr>
              <a:t>Mini Coding Nudges (Email/Password, Marks, Pass/Fail etc.)</a:t>
            </a:r>
            <a:endParaRPr kumimoji="0" lang="en-AU" sz="3300" b="1" i="0" u="none" strike="noStrike" kern="1200" cap="none" spc="0" normalizeH="0" baseline="0" noProof="0" dirty="0">
              <a:ln>
                <a:noFill/>
              </a:ln>
              <a:solidFill>
                <a:prstClr val="black"/>
              </a:solidFill>
              <a:effectLst/>
              <a:uLnTx/>
              <a:uFillTx/>
              <a:latin typeface="Calibir"/>
              <a:ea typeface="+mj-ea"/>
              <a:cs typeface="+mj-cs"/>
            </a:endParaRPr>
          </a:p>
        </p:txBody>
      </p:sp>
    </p:spTree>
    <p:extLst>
      <p:ext uri="{BB962C8B-B14F-4D97-AF65-F5344CB8AC3E}">
        <p14:creationId xmlns:p14="http://schemas.microsoft.com/office/powerpoint/2010/main" val="324151389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0A188-5B14-DEF5-4D30-B150D73DBF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96C6B1-BECF-FCE8-5EC7-705495936B1F}"/>
              </a:ext>
            </a:extLst>
          </p:cNvPr>
          <p:cNvSpPr>
            <a:spLocks noGrp="1"/>
          </p:cNvSpPr>
          <p:nvPr>
            <p:ph type="title"/>
          </p:nvPr>
        </p:nvSpPr>
        <p:spPr>
          <a:xfrm>
            <a:off x="0" y="0"/>
            <a:ext cx="12192000" cy="1051034"/>
          </a:xfrm>
        </p:spPr>
        <p:txBody>
          <a:bodyPr anchor="b">
            <a:normAutofit/>
          </a:bodyPr>
          <a:lstStyle/>
          <a:p>
            <a:r>
              <a:rPr lang="en-US" sz="3300" b="1" dirty="0">
                <a:latin typeface="Calibir"/>
              </a:rPr>
              <a:t>Group Assignment – Part 2: Build hints (Python-first, JavaFX minority)</a:t>
            </a:r>
            <a:endParaRPr lang="en-AU" sz="3300" b="1" dirty="0">
              <a:latin typeface="Calibir"/>
            </a:endParaRPr>
          </a:p>
        </p:txBody>
      </p:sp>
      <p:sp>
        <p:nvSpPr>
          <p:cNvPr id="3" name="Rectangle 1">
            <a:extLst>
              <a:ext uri="{FF2B5EF4-FFF2-40B4-BE49-F238E27FC236}">
                <a16:creationId xmlns:a16="http://schemas.microsoft.com/office/drawing/2014/main" id="{8E2FBC33-E30E-BA12-DC28-3631A47896F5}"/>
              </a:ext>
            </a:extLst>
          </p:cNvPr>
          <p:cNvSpPr>
            <a:spLocks noChangeArrowheads="1"/>
          </p:cNvSpPr>
          <p:nvPr/>
        </p:nvSpPr>
        <p:spPr bwMode="auto">
          <a:xfrm>
            <a:off x="0" y="1420939"/>
            <a:ext cx="12192000"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Python CLI structure (suggestion):</a:t>
            </a:r>
            <a:endParaRPr kumimoji="0" lang="en-US" sz="2800" b="0" i="0" u="none" strike="noStrike" kern="1200" cap="none" spc="0" normalizeH="0" baseline="0" noProof="0" dirty="0">
              <a:ln>
                <a:noFill/>
              </a:ln>
              <a:solidFill>
                <a:prstClr val="black"/>
              </a:solidFill>
              <a:effectLst/>
              <a:uLnTx/>
              <a:uFillTx/>
              <a:latin typeface="Calibir"/>
              <a:ea typeface="+mn-ea"/>
              <a:cs typeface="+mn-cs"/>
            </a:endParaRP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models/Student.py, Subject.py</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services/auth.py, id_gen.py, grade.py, store.py</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cli/university_menu.py, student_menu.py, admin_menu.py</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Data file: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students.data</a:t>
            </a:r>
            <a:r>
              <a:rPr kumimoji="0" lang="en-US" sz="2800" b="0" i="0" u="none" strike="noStrike" kern="1200" cap="none" spc="0" normalizeH="0" baseline="0" noProof="0" dirty="0">
                <a:ln>
                  <a:noFill/>
                </a:ln>
                <a:solidFill>
                  <a:prstClr val="black"/>
                </a:solidFill>
                <a:effectLst/>
                <a:uLnTx/>
                <a:uFillTx/>
                <a:latin typeface="Calibir"/>
                <a:ea typeface="+mn-ea"/>
                <a:cs typeface="+mn-cs"/>
              </a:rPr>
              <a:t> (JSONL).</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Keep regex as constants; wrap file I/O with try/except; always re-write the file after CRUD.</a:t>
            </a:r>
          </a:p>
        </p:txBody>
      </p:sp>
    </p:spTree>
    <p:extLst>
      <p:ext uri="{BB962C8B-B14F-4D97-AF65-F5344CB8AC3E}">
        <p14:creationId xmlns:p14="http://schemas.microsoft.com/office/powerpoint/2010/main" val="4947485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B3914-DFB1-7330-AA0D-02A4C6B8E3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0CB54-B773-E0CE-14D7-9BB7ADE08829}"/>
              </a:ext>
            </a:extLst>
          </p:cNvPr>
          <p:cNvSpPr>
            <a:spLocks noGrp="1"/>
          </p:cNvSpPr>
          <p:nvPr>
            <p:ph type="title"/>
          </p:nvPr>
        </p:nvSpPr>
        <p:spPr>
          <a:xfrm>
            <a:off x="0" y="0"/>
            <a:ext cx="12192000" cy="1051034"/>
          </a:xfrm>
        </p:spPr>
        <p:txBody>
          <a:bodyPr anchor="b">
            <a:normAutofit/>
          </a:bodyPr>
          <a:lstStyle/>
          <a:p>
            <a:r>
              <a:rPr lang="en-US" sz="3300" b="1" dirty="0">
                <a:latin typeface="Calibir"/>
              </a:rPr>
              <a:t>Group Assignment – Part 2: Build hints (Python-first, JavaFX minority)</a:t>
            </a:r>
            <a:endParaRPr lang="en-AU" sz="3300" b="1" dirty="0">
              <a:latin typeface="Calibir"/>
            </a:endParaRPr>
          </a:p>
        </p:txBody>
      </p:sp>
      <p:sp>
        <p:nvSpPr>
          <p:cNvPr id="3" name="Rectangle 1">
            <a:extLst>
              <a:ext uri="{FF2B5EF4-FFF2-40B4-BE49-F238E27FC236}">
                <a16:creationId xmlns:a16="http://schemas.microsoft.com/office/drawing/2014/main" id="{B71F7D84-DBF4-B942-A278-8BEFF43A29F3}"/>
              </a:ext>
            </a:extLst>
          </p:cNvPr>
          <p:cNvSpPr>
            <a:spLocks noChangeArrowheads="1"/>
          </p:cNvSpPr>
          <p:nvPr/>
        </p:nvSpPr>
        <p:spPr bwMode="auto">
          <a:xfrm>
            <a:off x="0" y="2390436"/>
            <a:ext cx="12192000"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JavaFX (optional challenge later):</a:t>
            </a:r>
            <a:endParaRPr kumimoji="0" lang="en-US" sz="2800" b="0" i="0" u="none" strike="noStrike" kern="1200" cap="none" spc="0" normalizeH="0" baseline="0" noProof="0" dirty="0">
              <a:ln>
                <a:noFill/>
              </a:ln>
              <a:solidFill>
                <a:prstClr val="black"/>
              </a:solidFill>
              <a:effectLst/>
              <a:uLnTx/>
              <a:uFillTx/>
              <a:latin typeface="Calibir"/>
              <a:ea typeface="+mn-ea"/>
              <a:cs typeface="+mn-cs"/>
            </a:endParaRP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MVC folders: model/, controller/, view/ (FXML).</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Start with login window → enrolment window.</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Read registered students from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students.data</a:t>
            </a:r>
            <a:r>
              <a:rPr kumimoji="0" lang="en-US" sz="2800" b="0" i="0" u="none" strike="noStrike" kern="1200" cap="none" spc="0" normalizeH="0" baseline="0" noProof="0" dirty="0">
                <a:ln>
                  <a:noFill/>
                </a:ln>
                <a:solidFill>
                  <a:prstClr val="black"/>
                </a:solidFill>
                <a:effectLst/>
                <a:uLnTx/>
                <a:uFillTx/>
                <a:latin typeface="Calibir"/>
                <a:ea typeface="+mn-ea"/>
                <a:cs typeface="+mn-cs"/>
              </a:rPr>
              <a:t>.</a:t>
            </a:r>
          </a:p>
        </p:txBody>
      </p:sp>
    </p:spTree>
    <p:extLst>
      <p:ext uri="{BB962C8B-B14F-4D97-AF65-F5344CB8AC3E}">
        <p14:creationId xmlns:p14="http://schemas.microsoft.com/office/powerpoint/2010/main" val="389076481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1B6E0-D345-A311-4B34-F88736AC45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0CAAF1-F83B-6092-2219-929CE7742800}"/>
              </a:ext>
            </a:extLst>
          </p:cNvPr>
          <p:cNvSpPr>
            <a:spLocks noGrp="1"/>
          </p:cNvSpPr>
          <p:nvPr>
            <p:ph type="title"/>
          </p:nvPr>
        </p:nvSpPr>
        <p:spPr>
          <a:xfrm>
            <a:off x="0" y="0"/>
            <a:ext cx="12192000" cy="1051034"/>
          </a:xfrm>
        </p:spPr>
        <p:txBody>
          <a:bodyPr anchor="b">
            <a:normAutofit/>
          </a:bodyPr>
          <a:lstStyle/>
          <a:p>
            <a:r>
              <a:rPr lang="en-US" sz="3300" b="1" dirty="0">
                <a:latin typeface="Calibir"/>
              </a:rPr>
              <a:t>Group Assignment – Part 2: Build hints (Python-first, JavaFX minority)</a:t>
            </a:r>
            <a:endParaRPr lang="en-AU" sz="3300" b="1" dirty="0">
              <a:latin typeface="Calibir"/>
            </a:endParaRPr>
          </a:p>
        </p:txBody>
      </p:sp>
      <p:sp>
        <p:nvSpPr>
          <p:cNvPr id="3" name="Rectangle 1">
            <a:extLst>
              <a:ext uri="{FF2B5EF4-FFF2-40B4-BE49-F238E27FC236}">
                <a16:creationId xmlns:a16="http://schemas.microsoft.com/office/drawing/2014/main" id="{D8622D64-C2E7-AE96-9FFA-72EF3F66BA37}"/>
              </a:ext>
            </a:extLst>
          </p:cNvPr>
          <p:cNvSpPr>
            <a:spLocks noChangeArrowheads="1"/>
          </p:cNvSpPr>
          <p:nvPr/>
        </p:nvSpPr>
        <p:spPr bwMode="auto">
          <a:xfrm>
            <a:off x="0" y="1744106"/>
            <a:ext cx="12192000"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Coding do/avoid:</a:t>
            </a:r>
            <a:endParaRPr kumimoji="0" lang="en-US" sz="2800" b="0" i="0" u="none" strike="noStrike" kern="1200" cap="none" spc="0" normalizeH="0" baseline="0" noProof="0" dirty="0">
              <a:ln>
                <a:noFill/>
              </a:ln>
              <a:solidFill>
                <a:prstClr val="black"/>
              </a:solidFill>
              <a:effectLst/>
              <a:uLnTx/>
              <a:uFillTx/>
              <a:latin typeface="Calibir"/>
              <a:ea typeface="+mn-ea"/>
              <a:cs typeface="+mn-cs"/>
            </a:endParaRP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Do unit-size functions (e.g.,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assign_mark_and_grade</a:t>
            </a:r>
            <a:r>
              <a:rPr kumimoji="0" lang="en-US" sz="2800" b="0" i="0" u="none" strike="noStrike" kern="1200" cap="none" spc="0" normalizeH="0" baseline="0" noProof="0" dirty="0">
                <a:ln>
                  <a:noFill/>
                </a:ln>
                <a:solidFill>
                  <a:prstClr val="black"/>
                </a:solidFill>
                <a:effectLst/>
                <a:uLnTx/>
                <a:uFillTx/>
                <a:latin typeface="Calibir"/>
                <a:ea typeface="+mn-ea"/>
                <a:cs typeface="+mn-cs"/>
              </a:rPr>
              <a:t>()), no giant methods.</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Do input validation; mirror sample I/O wording.</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Avoid plaintext passwords in examples (hash in design; for Part 2, at minimum note hashing TODO).</a:t>
            </a:r>
          </a:p>
          <a:p>
            <a:pPr marL="914400" marR="0" lvl="1"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Avoid mixing model and menu logic; keep menus thin.</a:t>
            </a:r>
          </a:p>
        </p:txBody>
      </p:sp>
    </p:spTree>
    <p:extLst>
      <p:ext uri="{BB962C8B-B14F-4D97-AF65-F5344CB8AC3E}">
        <p14:creationId xmlns:p14="http://schemas.microsoft.com/office/powerpoint/2010/main" val="255060612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52624-4228-858F-B9E8-7D8C334A53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7764C-CD11-2A9D-8F44-8CF5A33819E4}"/>
              </a:ext>
            </a:extLst>
          </p:cNvPr>
          <p:cNvSpPr>
            <a:spLocks noGrp="1"/>
          </p:cNvSpPr>
          <p:nvPr>
            <p:ph type="title"/>
          </p:nvPr>
        </p:nvSpPr>
        <p:spPr>
          <a:xfrm>
            <a:off x="0" y="0"/>
            <a:ext cx="12192000" cy="651641"/>
          </a:xfrm>
        </p:spPr>
        <p:txBody>
          <a:bodyPr anchor="b">
            <a:normAutofit/>
          </a:bodyPr>
          <a:lstStyle/>
          <a:p>
            <a:r>
              <a:rPr lang="en-US" sz="3300" b="1" dirty="0">
                <a:latin typeface="Calibir"/>
              </a:rPr>
              <a:t>Group Assignment – Part 3: Showcase tips</a:t>
            </a:r>
            <a:endParaRPr lang="en-AU" sz="3300" b="1" dirty="0">
              <a:latin typeface="Calibir"/>
            </a:endParaRPr>
          </a:p>
        </p:txBody>
      </p:sp>
      <p:sp>
        <p:nvSpPr>
          <p:cNvPr id="3" name="Rectangle 1">
            <a:extLst>
              <a:ext uri="{FF2B5EF4-FFF2-40B4-BE49-F238E27FC236}">
                <a16:creationId xmlns:a16="http://schemas.microsoft.com/office/drawing/2014/main" id="{D399C664-60C1-3319-A4A0-6081EC566515}"/>
              </a:ext>
            </a:extLst>
          </p:cNvPr>
          <p:cNvSpPr>
            <a:spLocks noChangeArrowheads="1"/>
          </p:cNvSpPr>
          <p:nvPr/>
        </p:nvSpPr>
        <p:spPr bwMode="auto">
          <a:xfrm>
            <a:off x="0" y="1097775"/>
            <a:ext cx="12192000" cy="5196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Plan a 5–7 min script:</a:t>
            </a:r>
          </a:p>
          <a:p>
            <a:pPr marL="971550" marR="0" lvl="1"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Open app → show University → Student/Admin navigation.</a:t>
            </a:r>
          </a:p>
          <a:p>
            <a:pPr marL="971550" marR="0" lvl="1"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Student flow: register/login →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enrol</a:t>
            </a:r>
            <a:r>
              <a:rPr kumimoji="0" lang="en-US" sz="2800" b="0" i="0" u="none" strike="noStrike" kern="1200" cap="none" spc="0" normalizeH="0" baseline="0" noProof="0" dirty="0">
                <a:ln>
                  <a:noFill/>
                </a:ln>
                <a:solidFill>
                  <a:prstClr val="black"/>
                </a:solidFill>
                <a:effectLst/>
                <a:uLnTx/>
                <a:uFillTx/>
                <a:latin typeface="Calibir"/>
                <a:ea typeface="+mn-ea"/>
                <a:cs typeface="+mn-cs"/>
              </a:rPr>
              <a:t> (cap at 4) → show → remove → change password.</a:t>
            </a:r>
          </a:p>
          <a:p>
            <a:pPr marL="971550" marR="0" lvl="1"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Admin flow: list → group by grade → PASS/FAIL → remove → clear.</a:t>
            </a:r>
          </a:p>
          <a:p>
            <a:pPr marL="971550" marR="0" lvl="1"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Code walkthrough: each member shows their class/function for ~45–60s (what it does, where it’s called).</a:t>
            </a:r>
            <a:br>
              <a:rPr kumimoji="0" lang="en-US" sz="2800" b="0" i="0" u="none" strike="noStrike" kern="1200" cap="none" spc="0" normalizeH="0" baseline="0" noProof="0" dirty="0">
                <a:ln>
                  <a:noFill/>
                </a:ln>
                <a:solidFill>
                  <a:prstClr val="black"/>
                </a:solidFill>
                <a:effectLst/>
                <a:uLnTx/>
                <a:uFillTx/>
                <a:latin typeface="Calibir"/>
                <a:ea typeface="+mn-ea"/>
                <a:cs typeface="+mn-cs"/>
              </a:rPr>
            </a:br>
            <a:r>
              <a:rPr kumimoji="0" lang="en-US" sz="2800" b="0" i="0" u="none" strike="noStrike" kern="1200" cap="none" spc="0" normalizeH="0" baseline="0" noProof="0" dirty="0">
                <a:ln>
                  <a:noFill/>
                </a:ln>
                <a:solidFill>
                  <a:prstClr val="black"/>
                </a:solidFill>
                <a:effectLst/>
                <a:uLnTx/>
                <a:uFillTx/>
                <a:latin typeface="Calibir"/>
                <a:ea typeface="+mn-ea"/>
                <a:cs typeface="+mn-cs"/>
              </a:rPr>
              <a:t>Avoid: live debugging on stage; changing scope; reading long code blocks.</a:t>
            </a:r>
          </a:p>
        </p:txBody>
      </p:sp>
    </p:spTree>
    <p:extLst>
      <p:ext uri="{BB962C8B-B14F-4D97-AF65-F5344CB8AC3E}">
        <p14:creationId xmlns:p14="http://schemas.microsoft.com/office/powerpoint/2010/main" val="110872201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2DF25-74D5-6826-EB6F-161357B8FEC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B9DB864-F051-AC0A-9FEF-C72B59528246}"/>
              </a:ext>
            </a:extLst>
          </p:cNvPr>
          <p:cNvSpPr>
            <a:spLocks noGrp="1"/>
          </p:cNvSpPr>
          <p:nvPr>
            <p:ph type="title"/>
          </p:nvPr>
        </p:nvSpPr>
        <p:spPr>
          <a:xfrm>
            <a:off x="0" y="0"/>
            <a:ext cx="12192000" cy="653428"/>
          </a:xfrm>
        </p:spPr>
        <p:txBody>
          <a:bodyPr anchor="b">
            <a:normAutofit/>
          </a:bodyPr>
          <a:lstStyle/>
          <a:p>
            <a:r>
              <a:rPr lang="en-US" sz="3600" b="1" dirty="0"/>
              <a:t>Reference Note for Students</a:t>
            </a:r>
            <a:endParaRPr lang="en-AU" sz="3600" b="1" dirty="0">
              <a:latin typeface="Calibir"/>
            </a:endParaRPr>
          </a:p>
        </p:txBody>
      </p:sp>
      <p:sp>
        <p:nvSpPr>
          <p:cNvPr id="5" name="TextBox 4">
            <a:extLst>
              <a:ext uri="{FF2B5EF4-FFF2-40B4-BE49-F238E27FC236}">
                <a16:creationId xmlns:a16="http://schemas.microsoft.com/office/drawing/2014/main" id="{B16CA4C2-BCCC-2D6B-3331-1123316546C4}"/>
              </a:ext>
            </a:extLst>
          </p:cNvPr>
          <p:cNvSpPr txBox="1"/>
          <p:nvPr/>
        </p:nvSpPr>
        <p:spPr>
          <a:xfrm>
            <a:off x="0" y="1303283"/>
            <a:ext cx="12002814" cy="4549835"/>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The main reference for this assignment is the official instructions provided on Canvas:</a:t>
            </a:r>
            <a:br>
              <a:rPr kumimoji="0" lang="en-US" sz="2800" b="0" i="0" u="none" strike="noStrike" kern="1200" cap="none" spc="0" normalizeH="0" baseline="0" noProof="0" dirty="0">
                <a:ln>
                  <a:noFill/>
                </a:ln>
                <a:solidFill>
                  <a:prstClr val="black"/>
                </a:solidFill>
                <a:effectLst/>
                <a:uLnTx/>
                <a:uFillTx/>
                <a:latin typeface="Calibir"/>
                <a:ea typeface="+mn-ea"/>
                <a:cs typeface="+mn-cs"/>
              </a:rPr>
            </a:br>
            <a:r>
              <a:rPr kumimoji="0" lang="en-US" sz="2800" b="0" i="0" u="none" strike="noStrike" kern="1200" cap="none" spc="0" normalizeH="0" baseline="0" noProof="0" dirty="0">
                <a:ln>
                  <a:noFill/>
                </a:ln>
                <a:solidFill>
                  <a:prstClr val="black"/>
                </a:solidFill>
                <a:effectLst/>
                <a:uLnTx/>
                <a:uFillTx/>
                <a:latin typeface="Calibir"/>
                <a:ea typeface="+mn-ea"/>
                <a:cs typeface="+mn-cs"/>
              </a:rPr>
              <a:t>Assignments – Part 1: Analysis and Design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This PowerPoint is designed to guide you and clarify the task where things might feel confusing.</a:t>
            </a:r>
            <a:br>
              <a:rPr kumimoji="0" lang="en-US" sz="2800" b="0" i="0" u="none" strike="noStrike" kern="1200" cap="none" spc="0" normalizeH="0" baseline="0" noProof="0" dirty="0">
                <a:ln>
                  <a:noFill/>
                </a:ln>
                <a:solidFill>
                  <a:prstClr val="black"/>
                </a:solidFill>
                <a:effectLst/>
                <a:uLnTx/>
                <a:uFillTx/>
                <a:latin typeface="Calibir"/>
                <a:ea typeface="+mn-ea"/>
                <a:cs typeface="+mn-cs"/>
              </a:rPr>
            </a:br>
            <a:r>
              <a:rPr kumimoji="0" lang="en-US" sz="2800" b="0" i="0" u="none" strike="noStrike" kern="1200" cap="none" spc="0" normalizeH="0" baseline="0" noProof="0" dirty="0">
                <a:ln>
                  <a:noFill/>
                </a:ln>
                <a:solidFill>
                  <a:prstClr val="black"/>
                </a:solidFill>
                <a:effectLst/>
                <a:uLnTx/>
                <a:uFillTx/>
                <a:latin typeface="Calibir"/>
                <a:ea typeface="+mn-ea"/>
                <a:cs typeface="+mn-cs"/>
              </a:rPr>
              <a:t>If you are ever unsure, please always go back to the official Canvas instructions as the source of truth.</a:t>
            </a:r>
          </a:p>
        </p:txBody>
      </p:sp>
    </p:spTree>
    <p:extLst>
      <p:ext uri="{BB962C8B-B14F-4D97-AF65-F5344CB8AC3E}">
        <p14:creationId xmlns:p14="http://schemas.microsoft.com/office/powerpoint/2010/main" val="261477970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70" name="Google Shape;70;p14"/>
          <p:cNvSpPr txBox="1"/>
          <p:nvPr/>
        </p:nvSpPr>
        <p:spPr>
          <a:xfrm>
            <a:off x="563366" y="1440933"/>
            <a:ext cx="10409433" cy="5053200"/>
          </a:xfrm>
          <a:prstGeom prst="rect">
            <a:avLst/>
          </a:prstGeom>
          <a:noFill/>
          <a:ln>
            <a:noFill/>
          </a:ln>
        </p:spPr>
        <p:txBody>
          <a:bodyPr spcFirstLastPara="1" wrap="square" lIns="121900" tIns="121900" rIns="121900" bIns="121900" anchor="t" anchorCtr="0">
            <a:noAutofit/>
          </a:bodyPr>
          <a:lstStyle/>
          <a:p>
            <a:r>
              <a:rPr lang="en-US" sz="3200" dirty="0">
                <a:latin typeface="Economica"/>
                <a:ea typeface="Economica"/>
                <a:cs typeface="Economica"/>
                <a:sym typeface="Economica"/>
              </a:rPr>
              <a:t>			 			       </a:t>
            </a:r>
            <a:r>
              <a:rPr lang="en-US" sz="3200" dirty="0">
                <a:solidFill>
                  <a:schemeClr val="accent6">
                    <a:lumMod val="75000"/>
                  </a:schemeClr>
                </a:solidFill>
                <a:latin typeface="Economica"/>
                <a:ea typeface="Economica"/>
                <a:cs typeface="Economica"/>
                <a:sym typeface="Economica"/>
              </a:rPr>
              <a:t>lab time: 120 minutes</a:t>
            </a:r>
            <a:endParaRPr sz="3200" dirty="0">
              <a:solidFill>
                <a:schemeClr val="accent6">
                  <a:lumMod val="75000"/>
                </a:schemeClr>
              </a:solidFill>
              <a:latin typeface="Economica"/>
              <a:ea typeface="Economica"/>
              <a:cs typeface="Economica"/>
              <a:sym typeface="Economica"/>
            </a:endParaRPr>
          </a:p>
        </p:txBody>
      </p:sp>
      <p:sp>
        <p:nvSpPr>
          <p:cNvPr id="2" name="TextBox 1">
            <a:extLst>
              <a:ext uri="{FF2B5EF4-FFF2-40B4-BE49-F238E27FC236}">
                <a16:creationId xmlns:a16="http://schemas.microsoft.com/office/drawing/2014/main" id="{9D0F1F70-F36A-7BAC-66A6-6BA207139BBF}"/>
              </a:ext>
            </a:extLst>
          </p:cNvPr>
          <p:cNvSpPr txBox="1"/>
          <p:nvPr/>
        </p:nvSpPr>
        <p:spPr>
          <a:xfrm>
            <a:off x="1625600" y="2514600"/>
            <a:ext cx="8940800" cy="3671133"/>
          </a:xfrm>
          <a:prstGeom prst="rect">
            <a:avLst/>
          </a:prstGeom>
          <a:noFill/>
          <a:ln w="19050">
            <a:solidFill>
              <a:schemeClr val="accent6">
                <a:lumMod val="75000"/>
              </a:schemeClr>
            </a:solidFill>
          </a:ln>
        </p:spPr>
        <p:txBody>
          <a:bodyPr wrap="square" rtlCol="0">
            <a:spAutoFit/>
          </a:bodyPr>
          <a:lstStyle/>
          <a:p>
            <a:pPr>
              <a:lnSpc>
                <a:spcPct val="200000"/>
              </a:lnSpc>
            </a:pPr>
            <a:r>
              <a:rPr lang="en-US" sz="2400" dirty="0">
                <a:latin typeface="Economica" panose="020B0604020202020204" charset="0"/>
              </a:rPr>
              <a:t>Lab 6 has two objectives:</a:t>
            </a:r>
          </a:p>
          <a:p>
            <a:pPr marL="380990" indent="-380990">
              <a:lnSpc>
                <a:spcPct val="200000"/>
              </a:lnSpc>
              <a:buFont typeface="Arial" panose="020B0604020202020204" pitchFamily="34" charset="0"/>
              <a:buChar char="•"/>
            </a:pPr>
            <a:r>
              <a:rPr lang="en-US" sz="2400" dirty="0">
                <a:latin typeface="Economica" panose="020B0604020202020204" charset="0"/>
              </a:rPr>
              <a:t>Primary: Implement the </a:t>
            </a:r>
            <a:r>
              <a:rPr lang="en-US" sz="2400" dirty="0" err="1">
                <a:latin typeface="Economica" panose="020B0604020202020204" charset="0"/>
              </a:rPr>
              <a:t>DeskBankApp</a:t>
            </a:r>
            <a:r>
              <a:rPr lang="en-US" sz="2400" dirty="0">
                <a:latin typeface="Economica" panose="020B0604020202020204" charset="0"/>
              </a:rPr>
              <a:t> [refer to Lab 5]</a:t>
            </a:r>
          </a:p>
          <a:p>
            <a:pPr marL="380990" indent="-380990">
              <a:lnSpc>
                <a:spcPct val="200000"/>
              </a:lnSpc>
              <a:buFont typeface="Arial" panose="020B0604020202020204" pitchFamily="34" charset="0"/>
              <a:buChar char="•"/>
            </a:pPr>
            <a:r>
              <a:rPr lang="en-US" sz="2400" dirty="0">
                <a:latin typeface="Economica" panose="020B0604020202020204" charset="0"/>
              </a:rPr>
              <a:t>Secondary: Complete the practice exercises [1 and 2] </a:t>
            </a:r>
          </a:p>
          <a:p>
            <a:pPr>
              <a:lnSpc>
                <a:spcPct val="200000"/>
              </a:lnSpc>
            </a:pPr>
            <a:r>
              <a:rPr lang="en-US" sz="2400" dirty="0">
                <a:latin typeface="Economica" panose="020B0604020202020204" charset="0"/>
              </a:rPr>
              <a:t>Complete the Lab 6 exercises using either Java or Python.</a:t>
            </a:r>
          </a:p>
          <a:p>
            <a:pPr>
              <a:lnSpc>
                <a:spcPct val="200000"/>
              </a:lnSpc>
            </a:pPr>
            <a:r>
              <a:rPr lang="en-US" sz="2400" dirty="0">
                <a:latin typeface="Economica" panose="020B0604020202020204" charset="0"/>
              </a:rPr>
              <a:t>Recommended IDE for Java and Python:  </a:t>
            </a:r>
            <a:r>
              <a:rPr lang="en-US" sz="2400" dirty="0" err="1">
                <a:solidFill>
                  <a:srgbClr val="00B0F0"/>
                </a:solidFill>
                <a:latin typeface="Economica" panose="020B0604020202020204" charset="0"/>
              </a:rPr>
              <a:t>vscode</a:t>
            </a:r>
            <a:endParaRPr lang="en-US" sz="2400" dirty="0">
              <a:solidFill>
                <a:srgbClr val="00B0F0"/>
              </a:solidFill>
              <a:latin typeface="Economica" panose="020B0604020202020204" charset="0"/>
            </a:endParaRPr>
          </a:p>
        </p:txBody>
      </p:sp>
      <p:sp>
        <p:nvSpPr>
          <p:cNvPr id="3" name="Title 1">
            <a:extLst>
              <a:ext uri="{FF2B5EF4-FFF2-40B4-BE49-F238E27FC236}">
                <a16:creationId xmlns:a16="http://schemas.microsoft.com/office/drawing/2014/main" id="{D603D220-E9F2-C5E3-A01A-CF52F10492A0}"/>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2" name="TextBox 1">
            <a:extLst>
              <a:ext uri="{FF2B5EF4-FFF2-40B4-BE49-F238E27FC236}">
                <a16:creationId xmlns:a16="http://schemas.microsoft.com/office/drawing/2014/main" id="{DD980C27-948C-5A74-3794-543E81ADB7CC}"/>
              </a:ext>
            </a:extLst>
          </p:cNvPr>
          <p:cNvSpPr txBox="1"/>
          <p:nvPr/>
        </p:nvSpPr>
        <p:spPr>
          <a:xfrm>
            <a:off x="406400" y="678673"/>
            <a:ext cx="11004265" cy="1131977"/>
          </a:xfrm>
          <a:prstGeom prst="rect">
            <a:avLst/>
          </a:prstGeom>
          <a:noFill/>
        </p:spPr>
        <p:txBody>
          <a:bodyPr wrap="square" rtlCol="0">
            <a:spAutoFit/>
          </a:bodyPr>
          <a:lstStyle/>
          <a:p>
            <a:pPr>
              <a:lnSpc>
                <a:spcPct val="150000"/>
              </a:lnSpc>
            </a:pPr>
            <a:r>
              <a:rPr lang="en-US" sz="2400" b="1" dirty="0">
                <a:latin typeface="Economica" panose="020B0604020202020204" charset="0"/>
              </a:rPr>
              <a:t>Case Study: </a:t>
            </a:r>
            <a:r>
              <a:rPr lang="en-GB" sz="2400" dirty="0">
                <a:latin typeface="Economica" panose="020B0604020202020204" charset="0"/>
              </a:rPr>
              <a:t>Develop the </a:t>
            </a:r>
            <a:r>
              <a:rPr lang="en-GB" sz="2400" dirty="0" err="1">
                <a:latin typeface="Economica" panose="020B0604020202020204" charset="0"/>
              </a:rPr>
              <a:t>DeskBankApp</a:t>
            </a:r>
            <a:r>
              <a:rPr lang="en-GB" sz="2400" dirty="0">
                <a:latin typeface="Economica" panose="020B0604020202020204" charset="0"/>
              </a:rPr>
              <a:t> system – Fourth Implementation</a:t>
            </a:r>
          </a:p>
          <a:p>
            <a:pPr>
              <a:lnSpc>
                <a:spcPct val="150000"/>
              </a:lnSpc>
            </a:pPr>
            <a:r>
              <a:rPr lang="en-GB" sz="2400" dirty="0">
                <a:latin typeface="Economica" panose="020B0604020202020204" charset="0"/>
              </a:rPr>
              <a:t>This exercise is the Fourth implementation of the </a:t>
            </a:r>
            <a:r>
              <a:rPr lang="en-GB" sz="2400" dirty="0" err="1">
                <a:latin typeface="Economica" panose="020B0604020202020204" charset="0"/>
              </a:rPr>
              <a:t>DeskBankApp</a:t>
            </a:r>
            <a:r>
              <a:rPr lang="en-GB" sz="2400" dirty="0">
                <a:latin typeface="Economica" panose="020B0604020202020204" charset="0"/>
              </a:rPr>
              <a:t> case study</a:t>
            </a:r>
            <a:endParaRPr lang="en-US" sz="2400" dirty="0">
              <a:latin typeface="Economica" panose="020B0604020202020204" charset="0"/>
            </a:endParaRPr>
          </a:p>
        </p:txBody>
      </p:sp>
      <p:sp>
        <p:nvSpPr>
          <p:cNvPr id="5" name="TextBox 4">
            <a:extLst>
              <a:ext uri="{FF2B5EF4-FFF2-40B4-BE49-F238E27FC236}">
                <a16:creationId xmlns:a16="http://schemas.microsoft.com/office/drawing/2014/main" id="{A85930FF-896D-3C89-A9F3-683F6473B8F5}"/>
              </a:ext>
            </a:extLst>
          </p:cNvPr>
          <p:cNvSpPr txBox="1"/>
          <p:nvPr/>
        </p:nvSpPr>
        <p:spPr>
          <a:xfrm>
            <a:off x="406400" y="2328792"/>
            <a:ext cx="8331200" cy="4351408"/>
          </a:xfrm>
          <a:prstGeom prst="rect">
            <a:avLst/>
          </a:prstGeom>
          <a:solidFill>
            <a:schemeClr val="bg1">
              <a:lumMod val="85000"/>
            </a:schemeClr>
          </a:solidFill>
          <a:ln>
            <a:solidFill>
              <a:schemeClr val="tx1"/>
            </a:solidFill>
          </a:ln>
        </p:spPr>
        <p:txBody>
          <a:bodyPr wrap="square" rtlCol="0">
            <a:noAutofit/>
          </a:bodyPr>
          <a:lstStyle/>
          <a:p>
            <a:pPr defTabSz="609585"/>
            <a:r>
              <a:rPr lang="en-GB" sz="1900" dirty="0">
                <a:latin typeface="Economica" panose="020B0604020202020204" charset="0"/>
              </a:rPr>
              <a:t> The Bank class is the main system class. Move the functionality methods (procedures and functions) to the appropriate classes (Customer, Account) and update the Bank, Account, and Customer classes as follows:</a:t>
            </a:r>
          </a:p>
          <a:p>
            <a:pPr marL="380990" indent="-380990" defTabSz="609585">
              <a:buFont typeface="Arial" panose="020B0604020202020204" pitchFamily="34" charset="0"/>
              <a:buChar char="•"/>
            </a:pPr>
            <a:r>
              <a:rPr lang="en-GB" sz="1900" dirty="0">
                <a:latin typeface="Economica" panose="020B0604020202020204" charset="0"/>
              </a:rPr>
              <a:t>The Bank Class:</a:t>
            </a:r>
          </a:p>
          <a:p>
            <a:pPr defTabSz="609585"/>
            <a:r>
              <a:rPr lang="en-GB" sz="1900" dirty="0">
                <a:latin typeface="Economica" panose="020B0604020202020204" charset="0"/>
              </a:rPr>
              <a:t>	- has one Customer (name = “John Smith”)</a:t>
            </a:r>
          </a:p>
          <a:p>
            <a:pPr defTabSz="609585"/>
            <a:r>
              <a:rPr lang="en-GB" sz="1900" dirty="0">
                <a:latin typeface="Economica" panose="020B0604020202020204" charset="0"/>
              </a:rPr>
              <a:t>	- uses the methods defined in the Customer class in its system menu, or menu() function</a:t>
            </a:r>
          </a:p>
          <a:p>
            <a:pPr defTabSz="609585"/>
            <a:r>
              <a:rPr lang="en-GB" sz="1900" dirty="0">
                <a:latin typeface="Economica" panose="020B0604020202020204" charset="0"/>
              </a:rPr>
              <a:t>	- The main() method in Bank executes menu() with the following options:</a:t>
            </a:r>
          </a:p>
          <a:p>
            <a:pPr defTabSz="609585"/>
            <a:r>
              <a:rPr lang="en-GB" sz="1900" dirty="0">
                <a:latin typeface="Economica" panose="020B0604020202020204" charset="0"/>
              </a:rPr>
              <a:t>		( d ) make a deposit </a:t>
            </a:r>
          </a:p>
          <a:p>
            <a:pPr defTabSz="609585"/>
            <a:r>
              <a:rPr lang="en-GB" sz="1900" dirty="0">
                <a:latin typeface="Economica" panose="020B0604020202020204" charset="0"/>
              </a:rPr>
              <a:t>		(w ) make a withdraw </a:t>
            </a:r>
          </a:p>
          <a:p>
            <a:pPr defTabSz="609585"/>
            <a:r>
              <a:rPr lang="en-GB" sz="1900" dirty="0">
                <a:latin typeface="Economica" panose="020B0604020202020204" charset="0"/>
              </a:rPr>
              <a:t>		( t ) make a transfer</a:t>
            </a:r>
          </a:p>
          <a:p>
            <a:pPr defTabSz="609585"/>
            <a:r>
              <a:rPr lang="en-GB" sz="1900" dirty="0">
                <a:latin typeface="Economica" panose="020B0604020202020204" charset="0"/>
              </a:rPr>
              <a:t>		( s ) show balance</a:t>
            </a:r>
          </a:p>
          <a:p>
            <a:pPr defTabSz="609585"/>
            <a:r>
              <a:rPr lang="en-GB" sz="1900" dirty="0">
                <a:latin typeface="Economica" panose="020B0604020202020204" charset="0"/>
              </a:rPr>
              <a:t>		( x ) exit the system</a:t>
            </a:r>
            <a:endParaRPr lang="en-US" sz="1900" dirty="0">
              <a:latin typeface="Economica" panose="020B0604020202020204" charset="0"/>
            </a:endParaRPr>
          </a:p>
        </p:txBody>
      </p:sp>
      <p:sp>
        <p:nvSpPr>
          <p:cNvPr id="6" name="TextBox 5">
            <a:extLst>
              <a:ext uri="{FF2B5EF4-FFF2-40B4-BE49-F238E27FC236}">
                <a16:creationId xmlns:a16="http://schemas.microsoft.com/office/drawing/2014/main" id="{222002D1-0669-8061-10C7-7D6C3A296896}"/>
              </a:ext>
            </a:extLst>
          </p:cNvPr>
          <p:cNvSpPr txBox="1"/>
          <p:nvPr/>
        </p:nvSpPr>
        <p:spPr>
          <a:xfrm>
            <a:off x="8839198" y="2801467"/>
            <a:ext cx="3097429" cy="3406058"/>
          </a:xfrm>
          <a:prstGeom prst="rect">
            <a:avLst/>
          </a:prstGeom>
          <a:noFill/>
          <a:ln>
            <a:solidFill>
              <a:schemeClr val="tx1"/>
            </a:solidFill>
            <a:prstDash val="sysDot"/>
          </a:ln>
        </p:spPr>
        <p:txBody>
          <a:bodyPr wrap="none" rtlCol="0">
            <a:noAutofit/>
          </a:bodyPr>
          <a:lstStyle/>
          <a:p>
            <a:r>
              <a:rPr lang="en-GB" sz="1600" dirty="0">
                <a:latin typeface="Economica" panose="020B0604020202020204" charset="0"/>
              </a:rPr>
              <a:t>Initial Savings balance: $1000</a:t>
            </a:r>
          </a:p>
          <a:p>
            <a:r>
              <a:rPr lang="en-GB" sz="1600" dirty="0">
                <a:latin typeface="Economica" panose="020B0604020202020204" charset="0"/>
              </a:rPr>
              <a:t>Initial Loan balance: $2000</a:t>
            </a:r>
          </a:p>
          <a:p>
            <a:r>
              <a:rPr lang="en-GB" sz="1600" dirty="0">
                <a:latin typeface="Economica" panose="020B0604020202020204" charset="0"/>
              </a:rPr>
              <a:t>Customer menu (d/w/t/s/x): s</a:t>
            </a:r>
          </a:p>
          <a:p>
            <a:r>
              <a:rPr lang="en-GB" sz="1600" dirty="0">
                <a:latin typeface="Economica" panose="020B0604020202020204" charset="0"/>
              </a:rPr>
              <a:t>John Smith accounts:</a:t>
            </a:r>
          </a:p>
          <a:p>
            <a:r>
              <a:rPr lang="en-GB" sz="1600" dirty="0">
                <a:latin typeface="Economica" panose="020B0604020202020204" charset="0"/>
              </a:rPr>
              <a:t>Savings account has $1,000.00</a:t>
            </a:r>
          </a:p>
          <a:p>
            <a:r>
              <a:rPr lang="en-GB" sz="1600" dirty="0">
                <a:latin typeface="Economica" panose="020B0604020202020204" charset="0"/>
              </a:rPr>
              <a:t>Loan account has $2,000.00</a:t>
            </a:r>
          </a:p>
          <a:p>
            <a:r>
              <a:rPr lang="en-GB" sz="1600" dirty="0">
                <a:latin typeface="Economica" panose="020B0604020202020204" charset="0"/>
              </a:rPr>
              <a:t>Customer menu (d/w/t/s/x): k</a:t>
            </a:r>
          </a:p>
          <a:p>
            <a:r>
              <a:rPr lang="en-GB" sz="1600" dirty="0">
                <a:latin typeface="Economica" panose="020B0604020202020204" charset="0"/>
              </a:rPr>
              <a:t>Menu options</a:t>
            </a:r>
          </a:p>
          <a:p>
            <a:r>
              <a:rPr lang="en-GB" sz="1600" dirty="0">
                <a:latin typeface="Economica" panose="020B0604020202020204" charset="0"/>
              </a:rPr>
              <a:t>d = deposit</a:t>
            </a:r>
          </a:p>
          <a:p>
            <a:r>
              <a:rPr lang="en-GB" sz="1600" dirty="0">
                <a:latin typeface="Economica" panose="020B0604020202020204" charset="0"/>
              </a:rPr>
              <a:t>w = withdraw</a:t>
            </a:r>
          </a:p>
          <a:p>
            <a:r>
              <a:rPr lang="en-GB" sz="1600" dirty="0">
                <a:latin typeface="Economica" panose="020B0604020202020204" charset="0"/>
              </a:rPr>
              <a:t>t = transfer</a:t>
            </a:r>
          </a:p>
          <a:p>
            <a:r>
              <a:rPr lang="en-GB" sz="1600" dirty="0">
                <a:latin typeface="Economica" panose="020B0604020202020204" charset="0"/>
              </a:rPr>
              <a:t>s = show</a:t>
            </a:r>
          </a:p>
          <a:p>
            <a:r>
              <a:rPr lang="en-GB" sz="1600" dirty="0">
                <a:latin typeface="Economica" panose="020B0604020202020204" charset="0"/>
              </a:rPr>
              <a:t>x = exit</a:t>
            </a:r>
            <a:endParaRPr lang="en-US" sz="1600" dirty="0">
              <a:latin typeface="Economica" panose="020B0604020202020204" charset="0"/>
            </a:endParaRPr>
          </a:p>
        </p:txBody>
      </p:sp>
      <p:sp>
        <p:nvSpPr>
          <p:cNvPr id="7" name="TextBox 6">
            <a:extLst>
              <a:ext uri="{FF2B5EF4-FFF2-40B4-BE49-F238E27FC236}">
                <a16:creationId xmlns:a16="http://schemas.microsoft.com/office/drawing/2014/main" id="{D026DD60-943F-D04F-A719-053A7D4D9190}"/>
              </a:ext>
            </a:extLst>
          </p:cNvPr>
          <p:cNvSpPr txBox="1"/>
          <p:nvPr/>
        </p:nvSpPr>
        <p:spPr>
          <a:xfrm>
            <a:off x="8839198" y="1810650"/>
            <a:ext cx="3097430" cy="917453"/>
          </a:xfrm>
          <a:prstGeom prst="rect">
            <a:avLst/>
          </a:prstGeom>
          <a:noFill/>
        </p:spPr>
        <p:txBody>
          <a:bodyPr wrap="square" rtlCol="0">
            <a:noAutofit/>
          </a:bodyPr>
          <a:lstStyle/>
          <a:p>
            <a:pPr algn="ctr"/>
            <a:r>
              <a:rPr lang="en-US" sz="2400" dirty="0">
                <a:latin typeface="Economica" panose="020B0604020202020204" charset="0"/>
              </a:rPr>
              <a:t>Sample I/O</a:t>
            </a:r>
          </a:p>
          <a:p>
            <a:pPr algn="ctr"/>
            <a:r>
              <a:rPr lang="en-US" sz="1600" dirty="0">
                <a:latin typeface="Economica" panose="020B0604020202020204" charset="0"/>
              </a:rPr>
              <a:t>  (show and incorrect command)</a:t>
            </a:r>
          </a:p>
        </p:txBody>
      </p:sp>
      <p:sp>
        <p:nvSpPr>
          <p:cNvPr id="4" name="Title 1">
            <a:extLst>
              <a:ext uri="{FF2B5EF4-FFF2-40B4-BE49-F238E27FC236}">
                <a16:creationId xmlns:a16="http://schemas.microsoft.com/office/drawing/2014/main" id="{B63D7215-126B-FC01-0EE0-DB6982B9F6EF}"/>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Tree>
    <p:extLst>
      <p:ext uri="{BB962C8B-B14F-4D97-AF65-F5344CB8AC3E}">
        <p14:creationId xmlns:p14="http://schemas.microsoft.com/office/powerpoint/2010/main" val="173719556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2" name="TextBox 1">
            <a:extLst>
              <a:ext uri="{FF2B5EF4-FFF2-40B4-BE49-F238E27FC236}">
                <a16:creationId xmlns:a16="http://schemas.microsoft.com/office/drawing/2014/main" id="{DD980C27-948C-5A74-3794-543E81ADB7CC}"/>
              </a:ext>
            </a:extLst>
          </p:cNvPr>
          <p:cNvSpPr txBox="1"/>
          <p:nvPr/>
        </p:nvSpPr>
        <p:spPr>
          <a:xfrm>
            <a:off x="347407" y="657922"/>
            <a:ext cx="11004265" cy="1131977"/>
          </a:xfrm>
          <a:prstGeom prst="rect">
            <a:avLst/>
          </a:prstGeom>
          <a:noFill/>
        </p:spPr>
        <p:txBody>
          <a:bodyPr wrap="square" rtlCol="0">
            <a:spAutoFit/>
          </a:bodyPr>
          <a:lstStyle/>
          <a:p>
            <a:pPr>
              <a:lnSpc>
                <a:spcPct val="150000"/>
              </a:lnSpc>
            </a:pPr>
            <a:r>
              <a:rPr lang="en-US" sz="2400" b="1" dirty="0">
                <a:latin typeface="Economica" panose="020B0604020202020204" charset="0"/>
              </a:rPr>
              <a:t>Case Study - continued: </a:t>
            </a:r>
            <a:r>
              <a:rPr lang="en-GB" sz="2400" dirty="0">
                <a:latin typeface="Economica" panose="020B0604020202020204" charset="0"/>
              </a:rPr>
              <a:t>Develop the </a:t>
            </a:r>
            <a:r>
              <a:rPr lang="en-GB" sz="2400" dirty="0" err="1">
                <a:latin typeface="Economica" panose="020B0604020202020204" charset="0"/>
              </a:rPr>
              <a:t>DeskBankApp</a:t>
            </a:r>
            <a:r>
              <a:rPr lang="en-GB" sz="2400" dirty="0">
                <a:latin typeface="Economica" panose="020B0604020202020204" charset="0"/>
              </a:rPr>
              <a:t> system – Fourth Implementation</a:t>
            </a:r>
          </a:p>
        </p:txBody>
      </p:sp>
      <p:sp>
        <p:nvSpPr>
          <p:cNvPr id="3" name="TextBox 2">
            <a:extLst>
              <a:ext uri="{FF2B5EF4-FFF2-40B4-BE49-F238E27FC236}">
                <a16:creationId xmlns:a16="http://schemas.microsoft.com/office/drawing/2014/main" id="{8F2E4BF9-C7FD-E400-D7FD-DF1253F29C44}"/>
              </a:ext>
            </a:extLst>
          </p:cNvPr>
          <p:cNvSpPr txBox="1"/>
          <p:nvPr/>
        </p:nvSpPr>
        <p:spPr>
          <a:xfrm>
            <a:off x="8839199" y="2565400"/>
            <a:ext cx="3097429" cy="4114800"/>
          </a:xfrm>
          <a:prstGeom prst="rect">
            <a:avLst/>
          </a:prstGeom>
          <a:noFill/>
          <a:ln>
            <a:solidFill>
              <a:schemeClr val="tx1"/>
            </a:solidFill>
            <a:prstDash val="sysDot"/>
          </a:ln>
        </p:spPr>
        <p:txBody>
          <a:bodyPr wrap="none" rtlCol="0">
            <a:noAutofit/>
          </a:bodyPr>
          <a:lstStyle/>
          <a:p>
            <a:r>
              <a:rPr lang="en-GB" sz="1600" dirty="0">
                <a:latin typeface="Economica" panose="020B0604020202020204" charset="0"/>
              </a:rPr>
              <a:t>Customer menu (d/w/t/s/x): d</a:t>
            </a:r>
          </a:p>
          <a:p>
            <a:r>
              <a:rPr lang="en-GB" sz="1600" dirty="0">
                <a:latin typeface="Economica" panose="020B0604020202020204" charset="0"/>
              </a:rPr>
              <a:t>Amount to deposit: $1000</a:t>
            </a:r>
          </a:p>
          <a:p>
            <a:r>
              <a:rPr lang="en-GB" sz="1600" dirty="0">
                <a:latin typeface="Economica" panose="020B0604020202020204" charset="0"/>
              </a:rPr>
              <a:t>Customer menu (d/w/t/s/x): s</a:t>
            </a:r>
          </a:p>
          <a:p>
            <a:r>
              <a:rPr lang="en-GB" sz="1600" dirty="0">
                <a:latin typeface="Economica" panose="020B0604020202020204" charset="0"/>
              </a:rPr>
              <a:t>John Smith accounts:</a:t>
            </a:r>
          </a:p>
          <a:p>
            <a:r>
              <a:rPr lang="en-GB" sz="1600" dirty="0">
                <a:latin typeface="Economica" panose="020B0604020202020204" charset="0"/>
              </a:rPr>
              <a:t>Savings account has $2,000.00</a:t>
            </a:r>
          </a:p>
          <a:p>
            <a:r>
              <a:rPr lang="en-GB" sz="1600" dirty="0">
                <a:latin typeface="Economica" panose="020B0604020202020204" charset="0"/>
              </a:rPr>
              <a:t>Loan account has $2,000.00</a:t>
            </a:r>
          </a:p>
          <a:p>
            <a:r>
              <a:rPr lang="en-GB" sz="1600" dirty="0">
                <a:latin typeface="Economica" panose="020B0604020202020204" charset="0"/>
              </a:rPr>
              <a:t>Customer menu (d/w/t/s/x): w</a:t>
            </a:r>
          </a:p>
          <a:p>
            <a:r>
              <a:rPr lang="en-GB" sz="1600" dirty="0">
                <a:latin typeface="Economica" panose="020B0604020202020204" charset="0"/>
              </a:rPr>
              <a:t>Amount to withdraw: $5000</a:t>
            </a:r>
          </a:p>
          <a:p>
            <a:r>
              <a:rPr lang="en-GB" sz="1600" dirty="0">
                <a:latin typeface="Economica" panose="020B0604020202020204" charset="0"/>
              </a:rPr>
              <a:t>Insufficient funds</a:t>
            </a:r>
          </a:p>
          <a:p>
            <a:r>
              <a:rPr lang="en-GB" sz="1600" dirty="0">
                <a:latin typeface="Economica" panose="020B0604020202020204" charset="0"/>
              </a:rPr>
              <a:t>Customer menu (d/w/t/s/x): w</a:t>
            </a:r>
          </a:p>
          <a:p>
            <a:r>
              <a:rPr lang="en-GB" sz="1600" dirty="0">
                <a:latin typeface="Economica" panose="020B0604020202020204" charset="0"/>
              </a:rPr>
              <a:t>Amount to withdraw: $500</a:t>
            </a:r>
          </a:p>
          <a:p>
            <a:r>
              <a:rPr lang="en-GB" sz="1600" dirty="0">
                <a:latin typeface="Economica" panose="020B0604020202020204" charset="0"/>
              </a:rPr>
              <a:t>Customer menu (d/w/t/s/x): s</a:t>
            </a:r>
          </a:p>
          <a:p>
            <a:r>
              <a:rPr lang="en-GB" sz="1600" dirty="0">
                <a:latin typeface="Economica" panose="020B0604020202020204" charset="0"/>
              </a:rPr>
              <a:t>John Smith accounts:</a:t>
            </a:r>
          </a:p>
          <a:p>
            <a:r>
              <a:rPr lang="en-GB" sz="1600" dirty="0">
                <a:latin typeface="Economica" panose="020B0604020202020204" charset="0"/>
              </a:rPr>
              <a:t>Savings account has $1,500.00</a:t>
            </a:r>
          </a:p>
          <a:p>
            <a:r>
              <a:rPr lang="en-GB" sz="1600" dirty="0">
                <a:latin typeface="Economica" panose="020B0604020202020204" charset="0"/>
              </a:rPr>
              <a:t>Loan account has $2,000.00</a:t>
            </a:r>
            <a:endParaRPr lang="en-US" sz="1600" dirty="0">
              <a:latin typeface="Economica" panose="020B0604020202020204" charset="0"/>
            </a:endParaRPr>
          </a:p>
        </p:txBody>
      </p:sp>
      <p:sp>
        <p:nvSpPr>
          <p:cNvPr id="4" name="TextBox 3">
            <a:extLst>
              <a:ext uri="{FF2B5EF4-FFF2-40B4-BE49-F238E27FC236}">
                <a16:creationId xmlns:a16="http://schemas.microsoft.com/office/drawing/2014/main" id="{C14BD407-337B-2AED-2239-16486355E6B8}"/>
              </a:ext>
            </a:extLst>
          </p:cNvPr>
          <p:cNvSpPr txBox="1"/>
          <p:nvPr/>
        </p:nvSpPr>
        <p:spPr>
          <a:xfrm>
            <a:off x="9117913" y="1810650"/>
            <a:ext cx="2540000" cy="917453"/>
          </a:xfrm>
          <a:prstGeom prst="rect">
            <a:avLst/>
          </a:prstGeom>
          <a:noFill/>
        </p:spPr>
        <p:txBody>
          <a:bodyPr wrap="square" rtlCol="0">
            <a:noAutofit/>
          </a:bodyPr>
          <a:lstStyle/>
          <a:p>
            <a:pPr algn="ctr"/>
            <a:r>
              <a:rPr lang="en-US" sz="2400" dirty="0">
                <a:latin typeface="Economica" panose="020B0604020202020204" charset="0"/>
              </a:rPr>
              <a:t>Sample I/O</a:t>
            </a:r>
          </a:p>
          <a:p>
            <a:pPr algn="ctr"/>
            <a:r>
              <a:rPr lang="en-US" sz="1600" dirty="0">
                <a:latin typeface="Economica" panose="020B0604020202020204" charset="0"/>
              </a:rPr>
              <a:t>(deposit and withdraw)</a:t>
            </a:r>
          </a:p>
        </p:txBody>
      </p:sp>
      <p:sp>
        <p:nvSpPr>
          <p:cNvPr id="5" name="TextBox 4">
            <a:extLst>
              <a:ext uri="{FF2B5EF4-FFF2-40B4-BE49-F238E27FC236}">
                <a16:creationId xmlns:a16="http://schemas.microsoft.com/office/drawing/2014/main" id="{A85930FF-896D-3C89-A9F3-683F6473B8F5}"/>
              </a:ext>
            </a:extLst>
          </p:cNvPr>
          <p:cNvSpPr txBox="1"/>
          <p:nvPr/>
        </p:nvSpPr>
        <p:spPr>
          <a:xfrm>
            <a:off x="609600" y="1803400"/>
            <a:ext cx="7721600" cy="4876800"/>
          </a:xfrm>
          <a:prstGeom prst="rect">
            <a:avLst/>
          </a:prstGeom>
          <a:solidFill>
            <a:schemeClr val="bg1">
              <a:lumMod val="85000"/>
            </a:schemeClr>
          </a:solidFill>
          <a:ln>
            <a:solidFill>
              <a:schemeClr val="tx1"/>
            </a:solidFill>
          </a:ln>
        </p:spPr>
        <p:txBody>
          <a:bodyPr wrap="square" rtlCol="0">
            <a:noAutofit/>
          </a:bodyPr>
          <a:lstStyle/>
          <a:p>
            <a:pPr defTabSz="609585"/>
            <a:r>
              <a:rPr lang="en-GB" sz="2000" dirty="0">
                <a:latin typeface="Economica" panose="020B0604020202020204" charset="0"/>
              </a:rPr>
              <a:t>The Account class has the following properties:</a:t>
            </a:r>
          </a:p>
          <a:p>
            <a:pPr marL="380990" indent="-380990" defTabSz="609585">
              <a:buFont typeface="Arial" panose="020B0604020202020204" pitchFamily="34" charset="0"/>
              <a:buChar char="•"/>
            </a:pPr>
            <a:r>
              <a:rPr lang="en-GB" sz="2000" dirty="0">
                <a:latin typeface="Economica" panose="020B0604020202020204" charset="0"/>
              </a:rPr>
              <a:t>Account has a type (String) and balance (double)</a:t>
            </a:r>
          </a:p>
          <a:p>
            <a:pPr defTabSz="609585"/>
            <a:endParaRPr lang="en-GB" sz="2000" dirty="0">
              <a:latin typeface="Economica" panose="020B0604020202020204" charset="0"/>
            </a:endParaRPr>
          </a:p>
          <a:p>
            <a:pPr marL="380990" indent="-380990" defTabSz="609585">
              <a:buFont typeface="Arial" panose="020B0604020202020204" pitchFamily="34" charset="0"/>
              <a:buChar char="•"/>
            </a:pPr>
            <a:r>
              <a:rPr lang="en-GB" sz="2000" dirty="0">
                <a:latin typeface="Economica" panose="020B0604020202020204" charset="0"/>
              </a:rPr>
              <a:t>Account constructor initializes type from parameter and balance from STDIN</a:t>
            </a:r>
          </a:p>
          <a:p>
            <a:pPr defTabSz="609585"/>
            <a:endParaRPr lang="en-GB" sz="2000" dirty="0">
              <a:latin typeface="Economica" panose="020B0604020202020204" charset="0"/>
            </a:endParaRPr>
          </a:p>
          <a:p>
            <a:pPr marL="380990" indent="-380990" defTabSz="609585">
              <a:buFont typeface="Arial" panose="020B0604020202020204" pitchFamily="34" charset="0"/>
              <a:buChar char="•"/>
            </a:pPr>
            <a:r>
              <a:rPr lang="en-GB" sz="2000" dirty="0">
                <a:latin typeface="Economica" panose="020B0604020202020204" charset="0"/>
              </a:rPr>
              <a:t>Account has the following operations:</a:t>
            </a:r>
          </a:p>
          <a:p>
            <a:pPr defTabSz="609585"/>
            <a:r>
              <a:rPr lang="en-GB" sz="2000" dirty="0">
                <a:latin typeface="Economica" panose="020B0604020202020204" charset="0"/>
              </a:rPr>
              <a:t>	- a function to read the initial balance from STDIN</a:t>
            </a:r>
          </a:p>
          <a:p>
            <a:pPr defTabSz="609585"/>
            <a:r>
              <a:rPr lang="en-GB" sz="2000" dirty="0">
                <a:latin typeface="Economica" panose="020B0604020202020204" charset="0"/>
              </a:rPr>
              <a:t>	- a procedure to make a deposit of a given amount</a:t>
            </a:r>
          </a:p>
          <a:p>
            <a:pPr defTabSz="609585"/>
            <a:r>
              <a:rPr lang="en-GB" sz="2000" dirty="0">
                <a:latin typeface="Economica" panose="020B0604020202020204" charset="0"/>
              </a:rPr>
              <a:t>	- a procedure to make a withdraw of a given amount</a:t>
            </a:r>
          </a:p>
          <a:p>
            <a:pPr defTabSz="609585"/>
            <a:r>
              <a:rPr lang="en-GB" sz="2000" dirty="0">
                <a:latin typeface="Economica" panose="020B0604020202020204" charset="0"/>
              </a:rPr>
              <a:t>	- a function to check if the current balance is greater than or equal to a certain amount</a:t>
            </a:r>
          </a:p>
          <a:p>
            <a:pPr defTabSz="609585"/>
            <a:r>
              <a:rPr lang="en-GB" sz="2000" dirty="0">
                <a:latin typeface="Economica" panose="020B0604020202020204" charset="0"/>
              </a:rPr>
              <a:t>	- a function to transfer amount to another account</a:t>
            </a:r>
          </a:p>
          <a:p>
            <a:pPr defTabSz="609585"/>
            <a:r>
              <a:rPr lang="en-GB" sz="2000" dirty="0">
                <a:latin typeface="Economica" panose="020B0604020202020204" charset="0"/>
              </a:rPr>
              <a:t>	- a function to return account information formatted as: </a:t>
            </a:r>
          </a:p>
          <a:p>
            <a:pPr defTabSz="609585"/>
            <a:r>
              <a:rPr lang="en-GB" sz="2000" dirty="0">
                <a:latin typeface="Economica" panose="020B0604020202020204" charset="0"/>
              </a:rPr>
              <a:t>		</a:t>
            </a:r>
            <a:r>
              <a:rPr lang="en-GB" sz="2000" dirty="0">
                <a:solidFill>
                  <a:schemeClr val="accent6">
                    <a:lumMod val="75000"/>
                  </a:schemeClr>
                </a:solidFill>
                <a:latin typeface="Economica" panose="020B0604020202020204" charset="0"/>
              </a:rPr>
              <a:t>&lt;type&gt; balance $:&lt;balance&gt;</a:t>
            </a:r>
          </a:p>
        </p:txBody>
      </p:sp>
      <p:sp>
        <p:nvSpPr>
          <p:cNvPr id="7" name="Title 1">
            <a:extLst>
              <a:ext uri="{FF2B5EF4-FFF2-40B4-BE49-F238E27FC236}">
                <a16:creationId xmlns:a16="http://schemas.microsoft.com/office/drawing/2014/main" id="{DEC60AA8-CDC6-E2E1-BF44-9DEB268DFC06}"/>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Tree>
    <p:extLst>
      <p:ext uri="{BB962C8B-B14F-4D97-AF65-F5344CB8AC3E}">
        <p14:creationId xmlns:p14="http://schemas.microsoft.com/office/powerpoint/2010/main" val="427192978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2" name="TextBox 1">
            <a:extLst>
              <a:ext uri="{FF2B5EF4-FFF2-40B4-BE49-F238E27FC236}">
                <a16:creationId xmlns:a16="http://schemas.microsoft.com/office/drawing/2014/main" id="{DD980C27-948C-5A74-3794-543E81ADB7CC}"/>
              </a:ext>
            </a:extLst>
          </p:cNvPr>
          <p:cNvSpPr txBox="1"/>
          <p:nvPr/>
        </p:nvSpPr>
        <p:spPr>
          <a:xfrm>
            <a:off x="406401" y="889374"/>
            <a:ext cx="11004265" cy="1131977"/>
          </a:xfrm>
          <a:prstGeom prst="rect">
            <a:avLst/>
          </a:prstGeom>
          <a:noFill/>
        </p:spPr>
        <p:txBody>
          <a:bodyPr wrap="square" rtlCol="0">
            <a:spAutoFit/>
          </a:bodyPr>
          <a:lstStyle/>
          <a:p>
            <a:pPr>
              <a:lnSpc>
                <a:spcPct val="150000"/>
              </a:lnSpc>
            </a:pPr>
            <a:r>
              <a:rPr lang="en-US" sz="2400" b="1" dirty="0">
                <a:latin typeface="Economica" panose="020B0604020202020204" charset="0"/>
              </a:rPr>
              <a:t>Case Study - continued: </a:t>
            </a:r>
            <a:r>
              <a:rPr lang="en-GB" sz="2400" dirty="0">
                <a:latin typeface="Economica" panose="020B0604020202020204" charset="0"/>
              </a:rPr>
              <a:t>Develop the </a:t>
            </a:r>
            <a:r>
              <a:rPr lang="en-GB" sz="2400" dirty="0" err="1">
                <a:latin typeface="Economica" panose="020B0604020202020204" charset="0"/>
              </a:rPr>
              <a:t>DeskBankApp</a:t>
            </a:r>
            <a:r>
              <a:rPr lang="en-GB" sz="2400" dirty="0">
                <a:latin typeface="Economica" panose="020B0604020202020204" charset="0"/>
              </a:rPr>
              <a:t> system – Fourth Implementation</a:t>
            </a:r>
          </a:p>
        </p:txBody>
      </p:sp>
      <p:sp>
        <p:nvSpPr>
          <p:cNvPr id="3" name="TextBox 2">
            <a:extLst>
              <a:ext uri="{FF2B5EF4-FFF2-40B4-BE49-F238E27FC236}">
                <a16:creationId xmlns:a16="http://schemas.microsoft.com/office/drawing/2014/main" id="{8F2E4BF9-C7FD-E400-D7FD-DF1253F29C44}"/>
              </a:ext>
            </a:extLst>
          </p:cNvPr>
          <p:cNvSpPr txBox="1"/>
          <p:nvPr/>
        </p:nvSpPr>
        <p:spPr>
          <a:xfrm>
            <a:off x="8839200" y="2506592"/>
            <a:ext cx="3097429" cy="4173608"/>
          </a:xfrm>
          <a:prstGeom prst="rect">
            <a:avLst/>
          </a:prstGeom>
          <a:noFill/>
          <a:ln>
            <a:solidFill>
              <a:schemeClr val="tx1"/>
            </a:solidFill>
            <a:prstDash val="sysDot"/>
          </a:ln>
        </p:spPr>
        <p:txBody>
          <a:bodyPr wrap="none" rtlCol="0">
            <a:noAutofit/>
          </a:bodyPr>
          <a:lstStyle/>
          <a:p>
            <a:r>
              <a:rPr lang="en-GB" sz="1600" dirty="0">
                <a:latin typeface="Economica" panose="020B0604020202020204" charset="0"/>
              </a:rPr>
              <a:t>Customer menu (d/w/t/s/x): t</a:t>
            </a:r>
          </a:p>
          <a:p>
            <a:r>
              <a:rPr lang="en-GB" sz="1600" dirty="0">
                <a:latin typeface="Economica" panose="020B0604020202020204" charset="0"/>
              </a:rPr>
              <a:t>Amount to transfer: $5000</a:t>
            </a:r>
          </a:p>
          <a:p>
            <a:r>
              <a:rPr lang="en-GB" sz="1600" dirty="0">
                <a:latin typeface="Economica" panose="020B0604020202020204" charset="0"/>
              </a:rPr>
              <a:t>Insufficient funds</a:t>
            </a:r>
          </a:p>
          <a:p>
            <a:r>
              <a:rPr lang="en-GB" sz="1600" dirty="0">
                <a:latin typeface="Economica" panose="020B0604020202020204" charset="0"/>
              </a:rPr>
              <a:t>Customer menu (d/w/t/s/x): t</a:t>
            </a:r>
          </a:p>
          <a:p>
            <a:r>
              <a:rPr lang="en-GB" sz="1600" dirty="0">
                <a:latin typeface="Economica" panose="020B0604020202020204" charset="0"/>
              </a:rPr>
              <a:t>Amount to transfer: $500</a:t>
            </a:r>
          </a:p>
          <a:p>
            <a:r>
              <a:rPr lang="en-GB" sz="1600" dirty="0">
                <a:latin typeface="Economica" panose="020B0604020202020204" charset="0"/>
              </a:rPr>
              <a:t>Customer menu (d/w/t/s/x): s</a:t>
            </a:r>
          </a:p>
          <a:p>
            <a:r>
              <a:rPr lang="en-GB" sz="1600" dirty="0">
                <a:latin typeface="Economica" panose="020B0604020202020204" charset="0"/>
              </a:rPr>
              <a:t>John Smith accounts:</a:t>
            </a:r>
          </a:p>
          <a:p>
            <a:r>
              <a:rPr lang="en-GB" sz="1600" dirty="0">
                <a:latin typeface="Economica" panose="020B0604020202020204" charset="0"/>
              </a:rPr>
              <a:t>Savings account has $1,000.00</a:t>
            </a:r>
          </a:p>
          <a:p>
            <a:r>
              <a:rPr lang="en-GB" sz="1600" dirty="0">
                <a:latin typeface="Economica" panose="020B0604020202020204" charset="0"/>
              </a:rPr>
              <a:t>Loan account has $1,500.00</a:t>
            </a:r>
          </a:p>
          <a:p>
            <a:r>
              <a:rPr lang="en-GB" sz="1600" dirty="0">
                <a:latin typeface="Economica" panose="020B0604020202020204" charset="0"/>
              </a:rPr>
              <a:t>Customer menu (d/w/t/s/x): x</a:t>
            </a:r>
          </a:p>
          <a:p>
            <a:r>
              <a:rPr lang="en-GB" sz="1600" dirty="0">
                <a:latin typeface="Economica" panose="020B0604020202020204" charset="0"/>
              </a:rPr>
              <a:t>Done</a:t>
            </a:r>
            <a:endParaRPr lang="en-US" sz="1600" dirty="0">
              <a:latin typeface="Economica" panose="020B0604020202020204" charset="0"/>
            </a:endParaRPr>
          </a:p>
        </p:txBody>
      </p:sp>
      <p:sp>
        <p:nvSpPr>
          <p:cNvPr id="5" name="TextBox 4">
            <a:extLst>
              <a:ext uri="{FF2B5EF4-FFF2-40B4-BE49-F238E27FC236}">
                <a16:creationId xmlns:a16="http://schemas.microsoft.com/office/drawing/2014/main" id="{A85930FF-896D-3C89-A9F3-683F6473B8F5}"/>
              </a:ext>
            </a:extLst>
          </p:cNvPr>
          <p:cNvSpPr txBox="1"/>
          <p:nvPr/>
        </p:nvSpPr>
        <p:spPr>
          <a:xfrm>
            <a:off x="255371" y="1600200"/>
            <a:ext cx="8482229" cy="5080000"/>
          </a:xfrm>
          <a:prstGeom prst="rect">
            <a:avLst/>
          </a:prstGeom>
          <a:solidFill>
            <a:schemeClr val="bg1">
              <a:lumMod val="85000"/>
            </a:schemeClr>
          </a:solidFill>
          <a:ln>
            <a:solidFill>
              <a:schemeClr val="tx1"/>
            </a:solidFill>
          </a:ln>
        </p:spPr>
        <p:txBody>
          <a:bodyPr wrap="square" rtlCol="0">
            <a:noAutofit/>
          </a:bodyPr>
          <a:lstStyle/>
          <a:p>
            <a:pPr defTabSz="609585"/>
            <a:r>
              <a:rPr lang="en-GB" dirty="0">
                <a:latin typeface="Economica" panose="020B0604020202020204" charset="0"/>
              </a:rPr>
              <a:t>The Customer class has the following properties:</a:t>
            </a:r>
          </a:p>
          <a:p>
            <a:pPr marL="380990" indent="-380990" defTabSz="609585">
              <a:buFont typeface="Arial" panose="020B0604020202020204" pitchFamily="34" charset="0"/>
              <a:buChar char="•"/>
            </a:pPr>
            <a:r>
              <a:rPr lang="en-GB" dirty="0">
                <a:latin typeface="Economica" panose="020B0604020202020204" charset="0"/>
              </a:rPr>
              <a:t>Customer has a name (String), has a savings (Account), and a loan (Account)</a:t>
            </a:r>
          </a:p>
          <a:p>
            <a:pPr marL="380990" indent="-380990" defTabSz="609585">
              <a:buFont typeface="Arial" panose="020B0604020202020204" pitchFamily="34" charset="0"/>
              <a:buChar char="•"/>
            </a:pPr>
            <a:r>
              <a:rPr lang="en-GB" dirty="0">
                <a:latin typeface="Economica" panose="020B0604020202020204" charset="0"/>
              </a:rPr>
              <a:t>The Customer constructor initializes the name field from parameter and a Savings and a Loan Accounts using the Account constructor.</a:t>
            </a:r>
          </a:p>
          <a:p>
            <a:pPr marL="380990" indent="-380990" defTabSz="609585">
              <a:buFont typeface="Arial" panose="020B0604020202020204" pitchFamily="34" charset="0"/>
              <a:buChar char="•"/>
            </a:pPr>
            <a:r>
              <a:rPr lang="en-GB" dirty="0">
                <a:latin typeface="Economica" panose="020B0604020202020204" charset="0"/>
              </a:rPr>
              <a:t>Customer has the following functionalities to perform Account operations:</a:t>
            </a:r>
          </a:p>
          <a:p>
            <a:pPr defTabSz="609585"/>
            <a:r>
              <a:rPr lang="en-GB" dirty="0">
                <a:latin typeface="Economica" panose="020B0604020202020204" charset="0"/>
              </a:rPr>
              <a:t>	- a function to read the amount from STDIN</a:t>
            </a:r>
          </a:p>
          <a:p>
            <a:pPr defTabSz="609585"/>
            <a:r>
              <a:rPr lang="en-GB" dirty="0">
                <a:latin typeface="Economica" panose="020B0604020202020204" charset="0"/>
              </a:rPr>
              <a:t>	- a procedure to withdraw an amount read from STDIN from the Savings Account	</a:t>
            </a:r>
          </a:p>
          <a:p>
            <a:pPr defTabSz="609585"/>
            <a:r>
              <a:rPr lang="en-GB" dirty="0">
                <a:latin typeface="Economica" panose="020B0604020202020204" charset="0"/>
              </a:rPr>
              <a:t>	- a procedure to deposit an amount read from STDIN to the Savings Account	</a:t>
            </a:r>
          </a:p>
          <a:p>
            <a:pPr defTabSz="609585"/>
            <a:r>
              <a:rPr lang="en-GB" dirty="0">
                <a:latin typeface="Economica" panose="020B0604020202020204" charset="0"/>
              </a:rPr>
              <a:t>	- a procedure to show the account balance</a:t>
            </a:r>
          </a:p>
          <a:p>
            <a:pPr defTabSz="609585"/>
            <a:r>
              <a:rPr lang="en-GB" dirty="0">
                <a:latin typeface="Economica" panose="020B0604020202020204" charset="0"/>
              </a:rPr>
              <a:t>	- a function to transfer an amount read from STDIN from the Savings Account to the Loan account	</a:t>
            </a:r>
          </a:p>
          <a:p>
            <a:pPr defTabSz="609585"/>
            <a:r>
              <a:rPr lang="en-GB" dirty="0">
                <a:latin typeface="Economica" panose="020B0604020202020204" charset="0"/>
              </a:rPr>
              <a:t>	- a function to return the account information formatted as: </a:t>
            </a:r>
            <a:br>
              <a:rPr lang="en-GB" dirty="0">
                <a:latin typeface="Economica" panose="020B0604020202020204" charset="0"/>
              </a:rPr>
            </a:br>
            <a:r>
              <a:rPr lang="en-GB" dirty="0">
                <a:latin typeface="Economica" panose="020B0604020202020204" charset="0"/>
              </a:rPr>
              <a:t>		</a:t>
            </a:r>
            <a:r>
              <a:rPr lang="en-GB" dirty="0">
                <a:solidFill>
                  <a:schemeClr val="accent6">
                    <a:lumMod val="75000"/>
                  </a:schemeClr>
                </a:solidFill>
                <a:latin typeface="Economica" panose="020B0604020202020204" charset="0"/>
              </a:rPr>
              <a:t>&lt;name&gt; accounts:</a:t>
            </a:r>
          </a:p>
          <a:p>
            <a:pPr lvl="1" defTabSz="609585"/>
            <a:r>
              <a:rPr lang="en-GB" dirty="0">
                <a:solidFill>
                  <a:schemeClr val="accent6">
                    <a:lumMod val="75000"/>
                  </a:schemeClr>
                </a:solidFill>
                <a:latin typeface="Economica" panose="020B0604020202020204" charset="0"/>
              </a:rPr>
              <a:t>		Savings account has $&lt;balance&gt;</a:t>
            </a:r>
          </a:p>
          <a:p>
            <a:pPr lvl="1" defTabSz="609585"/>
            <a:r>
              <a:rPr lang="en-GB" dirty="0">
                <a:solidFill>
                  <a:schemeClr val="accent6">
                    <a:lumMod val="75000"/>
                  </a:schemeClr>
                </a:solidFill>
                <a:latin typeface="Economica" panose="020B0604020202020204" charset="0"/>
              </a:rPr>
              <a:t>		Loan account has $&lt;balance&gt;</a:t>
            </a:r>
            <a:endParaRPr lang="en-GB" dirty="0">
              <a:latin typeface="Economica" panose="020B0604020202020204" charset="0"/>
            </a:endParaRPr>
          </a:p>
          <a:p>
            <a:pPr defTabSz="609585"/>
            <a:endParaRPr lang="en-GB" dirty="0">
              <a:latin typeface="Economica" panose="020B0604020202020204" charset="0"/>
            </a:endParaRPr>
          </a:p>
          <a:p>
            <a:pPr defTabSz="609585"/>
            <a:endParaRPr lang="en-US" dirty="0">
              <a:latin typeface="Economica" panose="020B0604020202020204" charset="0"/>
            </a:endParaRPr>
          </a:p>
        </p:txBody>
      </p:sp>
      <p:sp>
        <p:nvSpPr>
          <p:cNvPr id="6" name="TextBox 5">
            <a:extLst>
              <a:ext uri="{FF2B5EF4-FFF2-40B4-BE49-F238E27FC236}">
                <a16:creationId xmlns:a16="http://schemas.microsoft.com/office/drawing/2014/main" id="{84E51074-CC19-0AB8-AB36-B7DADA58E866}"/>
              </a:ext>
            </a:extLst>
          </p:cNvPr>
          <p:cNvSpPr txBox="1"/>
          <p:nvPr/>
        </p:nvSpPr>
        <p:spPr>
          <a:xfrm>
            <a:off x="9117913" y="1810650"/>
            <a:ext cx="2540000" cy="917453"/>
          </a:xfrm>
          <a:prstGeom prst="rect">
            <a:avLst/>
          </a:prstGeom>
          <a:noFill/>
        </p:spPr>
        <p:txBody>
          <a:bodyPr wrap="square" rtlCol="0">
            <a:noAutofit/>
          </a:bodyPr>
          <a:lstStyle/>
          <a:p>
            <a:pPr algn="ctr"/>
            <a:r>
              <a:rPr lang="en-US" sz="2400" dirty="0">
                <a:latin typeface="Economica" panose="020B0604020202020204" charset="0"/>
              </a:rPr>
              <a:t>Sample I/O</a:t>
            </a:r>
          </a:p>
          <a:p>
            <a:pPr algn="ctr"/>
            <a:r>
              <a:rPr lang="en-US" sz="1600" dirty="0">
                <a:latin typeface="Economica" panose="020B0604020202020204" charset="0"/>
              </a:rPr>
              <a:t>(transfer and exit)</a:t>
            </a:r>
          </a:p>
        </p:txBody>
      </p:sp>
      <p:sp>
        <p:nvSpPr>
          <p:cNvPr id="7" name="Title 1">
            <a:extLst>
              <a:ext uri="{FF2B5EF4-FFF2-40B4-BE49-F238E27FC236}">
                <a16:creationId xmlns:a16="http://schemas.microsoft.com/office/drawing/2014/main" id="{3A6F84E2-FC80-3E79-CE13-32F175750AB1}"/>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Tree>
    <p:extLst>
      <p:ext uri="{BB962C8B-B14F-4D97-AF65-F5344CB8AC3E}">
        <p14:creationId xmlns:p14="http://schemas.microsoft.com/office/powerpoint/2010/main" val="45631821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4" name="Title 1">
            <a:extLst>
              <a:ext uri="{FF2B5EF4-FFF2-40B4-BE49-F238E27FC236}">
                <a16:creationId xmlns:a16="http://schemas.microsoft.com/office/drawing/2014/main" id="{B2A03AE2-67D8-CB30-C164-BE02DA9A201B}"/>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pic>
        <p:nvPicPr>
          <p:cNvPr id="3" name="Picture 2">
            <a:extLst>
              <a:ext uri="{FF2B5EF4-FFF2-40B4-BE49-F238E27FC236}">
                <a16:creationId xmlns:a16="http://schemas.microsoft.com/office/drawing/2014/main" id="{B1FE28E1-D9DD-11C2-B3AE-D809746749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5941" y="657922"/>
            <a:ext cx="9300117" cy="6200078"/>
          </a:xfrm>
          <a:prstGeom prst="rect">
            <a:avLst/>
          </a:prstGeom>
        </p:spPr>
      </p:pic>
    </p:spTree>
    <p:custDataLst>
      <p:tags r:id="rId1"/>
    </p:custDataLst>
    <p:extLst>
      <p:ext uri="{BB962C8B-B14F-4D97-AF65-F5344CB8AC3E}">
        <p14:creationId xmlns:p14="http://schemas.microsoft.com/office/powerpoint/2010/main" val="169480904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35EFB-3918-E636-AA97-A10744D2E90B}"/>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593CD232-1A3E-D2D4-0D8F-53CDF95721F8}"/>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4" name="Title 1">
            <a:extLst>
              <a:ext uri="{FF2B5EF4-FFF2-40B4-BE49-F238E27FC236}">
                <a16:creationId xmlns:a16="http://schemas.microsoft.com/office/drawing/2014/main" id="{C3382133-93FB-DCE5-C2D4-22BD4E0FEE22}"/>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pic>
        <p:nvPicPr>
          <p:cNvPr id="7" name="Picture 6">
            <a:extLst>
              <a:ext uri="{FF2B5EF4-FFF2-40B4-BE49-F238E27FC236}">
                <a16:creationId xmlns:a16="http://schemas.microsoft.com/office/drawing/2014/main" id="{49ADDFDD-6C04-155A-4E2B-7DE6CFE66B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64527" y="682704"/>
            <a:ext cx="9262946" cy="6175296"/>
          </a:xfrm>
          <a:prstGeom prst="rect">
            <a:avLst/>
          </a:prstGeom>
        </p:spPr>
      </p:pic>
    </p:spTree>
    <p:custDataLst>
      <p:tags r:id="rId1"/>
    </p:custDataLst>
    <p:extLst>
      <p:ext uri="{BB962C8B-B14F-4D97-AF65-F5344CB8AC3E}">
        <p14:creationId xmlns:p14="http://schemas.microsoft.com/office/powerpoint/2010/main" val="36200131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23400-8145-BD2B-440E-34CEC767516D}"/>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FF6E8E11-6A85-869E-2038-F36CC855026D}"/>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4" name="Title 1">
            <a:extLst>
              <a:ext uri="{FF2B5EF4-FFF2-40B4-BE49-F238E27FC236}">
                <a16:creationId xmlns:a16="http://schemas.microsoft.com/office/drawing/2014/main" id="{A30EAB86-6EF5-9F17-8F42-C9FCA7655A79}"/>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pic>
        <p:nvPicPr>
          <p:cNvPr id="3" name="Picture 2">
            <a:extLst>
              <a:ext uri="{FF2B5EF4-FFF2-40B4-BE49-F238E27FC236}">
                <a16:creationId xmlns:a16="http://schemas.microsoft.com/office/drawing/2014/main" id="{35437C97-1E29-25BB-2F66-9E8C4641D8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7758" y="657922"/>
            <a:ext cx="9216484" cy="6144322"/>
          </a:xfrm>
          <a:prstGeom prst="rect">
            <a:avLst/>
          </a:prstGeom>
        </p:spPr>
      </p:pic>
    </p:spTree>
    <p:custDataLst>
      <p:tags r:id="rId1"/>
    </p:custDataLst>
    <p:extLst>
      <p:ext uri="{BB962C8B-B14F-4D97-AF65-F5344CB8AC3E}">
        <p14:creationId xmlns:p14="http://schemas.microsoft.com/office/powerpoint/2010/main" val="188358028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D93B9-7DC3-962C-515E-F45741ABB792}"/>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61E2F86E-397C-E3EB-8E8C-294429C79FFA}"/>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4" name="Title 1">
            <a:extLst>
              <a:ext uri="{FF2B5EF4-FFF2-40B4-BE49-F238E27FC236}">
                <a16:creationId xmlns:a16="http://schemas.microsoft.com/office/drawing/2014/main" id="{691368D4-E91F-6E71-00D7-F388E75A99A8}"/>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
        <p:nvSpPr>
          <p:cNvPr id="7" name="TextBox 6">
            <a:extLst>
              <a:ext uri="{FF2B5EF4-FFF2-40B4-BE49-F238E27FC236}">
                <a16:creationId xmlns:a16="http://schemas.microsoft.com/office/drawing/2014/main" id="{250F8942-2C81-B22E-89B8-F31596C5BEED}"/>
              </a:ext>
            </a:extLst>
          </p:cNvPr>
          <p:cNvSpPr txBox="1"/>
          <p:nvPr/>
        </p:nvSpPr>
        <p:spPr>
          <a:xfrm>
            <a:off x="0" y="745846"/>
            <a:ext cx="11976410" cy="5842497"/>
          </a:xfrm>
          <a:prstGeom prst="rect">
            <a:avLst/>
          </a:prstGeom>
          <a:noFill/>
        </p:spPr>
        <p:txBody>
          <a:bodyPr wrap="square">
            <a:spAutoFit/>
          </a:bodyPr>
          <a:lstStyle/>
          <a:p>
            <a:pPr>
              <a:lnSpc>
                <a:spcPct val="150000"/>
              </a:lnSpc>
              <a:buNone/>
            </a:pPr>
            <a:r>
              <a:rPr lang="en-US" sz="2800" b="1" dirty="0">
                <a:latin typeface="Calibir"/>
              </a:rPr>
              <a:t>Python</a:t>
            </a:r>
          </a:p>
          <a:p>
            <a:pPr>
              <a:lnSpc>
                <a:spcPct val="150000"/>
              </a:lnSpc>
              <a:buNone/>
            </a:pPr>
            <a:r>
              <a:rPr lang="en-US" sz="2800" dirty="0">
                <a:latin typeface="Calibir"/>
              </a:rPr>
              <a:t>Start with:</a:t>
            </a:r>
          </a:p>
          <a:p>
            <a:pPr rtl="0">
              <a:lnSpc>
                <a:spcPct val="150000"/>
              </a:lnSpc>
              <a:buNone/>
            </a:pPr>
            <a:r>
              <a:rPr lang="en-US" sz="2800" dirty="0">
                <a:highlight>
                  <a:srgbClr val="FFFF00"/>
                </a:highlight>
                <a:latin typeface="Calibir"/>
              </a:rPr>
              <a:t>class Account:</a:t>
            </a:r>
          </a:p>
          <a:p>
            <a:pPr rtl="0">
              <a:lnSpc>
                <a:spcPct val="150000"/>
              </a:lnSpc>
              <a:buNone/>
            </a:pPr>
            <a:r>
              <a:rPr lang="en-US" sz="2800" dirty="0">
                <a:highlight>
                  <a:srgbClr val="FFFF00"/>
                </a:highlight>
                <a:latin typeface="Calibir"/>
              </a:rPr>
              <a:t>    pass</a:t>
            </a:r>
          </a:p>
          <a:p>
            <a:pPr>
              <a:lnSpc>
                <a:spcPct val="150000"/>
              </a:lnSpc>
              <a:buNone/>
            </a:pPr>
            <a:r>
              <a:rPr lang="en-US" sz="2800" dirty="0">
                <a:latin typeface="Calibir"/>
              </a:rPr>
              <a:t>Now add the constructor:</a:t>
            </a:r>
          </a:p>
          <a:p>
            <a:pPr rtl="0">
              <a:lnSpc>
                <a:spcPct val="150000"/>
              </a:lnSpc>
              <a:buNone/>
            </a:pPr>
            <a:r>
              <a:rPr lang="en-US" sz="2800" dirty="0">
                <a:highlight>
                  <a:srgbClr val="FFFF00"/>
                </a:highlight>
                <a:latin typeface="Calibir"/>
              </a:rPr>
              <a:t>class Account:</a:t>
            </a:r>
          </a:p>
          <a:p>
            <a:pPr rtl="0">
              <a:lnSpc>
                <a:spcPct val="150000"/>
              </a:lnSpc>
              <a:buNone/>
            </a:pPr>
            <a:r>
              <a:rPr lang="en-US" sz="2800" dirty="0">
                <a:highlight>
                  <a:srgbClr val="FFFF00"/>
                </a:highlight>
                <a:latin typeface="Calibir"/>
              </a:rPr>
              <a:t>    def __</a:t>
            </a:r>
            <a:r>
              <a:rPr lang="en-US" sz="2800" dirty="0" err="1">
                <a:highlight>
                  <a:srgbClr val="FFFF00"/>
                </a:highlight>
                <a:latin typeface="Calibir"/>
              </a:rPr>
              <a:t>init</a:t>
            </a:r>
            <a:r>
              <a:rPr lang="en-US" sz="2800" dirty="0">
                <a:highlight>
                  <a:srgbClr val="FFFF00"/>
                </a:highlight>
                <a:latin typeface="Calibir"/>
              </a:rPr>
              <a:t>__(self, </a:t>
            </a:r>
            <a:r>
              <a:rPr lang="en-US" sz="2800" dirty="0" err="1">
                <a:highlight>
                  <a:srgbClr val="FFFF00"/>
                </a:highlight>
                <a:latin typeface="Calibir"/>
              </a:rPr>
              <a:t>account_type</a:t>
            </a:r>
            <a:r>
              <a:rPr lang="en-US" sz="2800" dirty="0">
                <a:highlight>
                  <a:srgbClr val="FFFF00"/>
                </a:highlight>
                <a:latin typeface="Calibir"/>
              </a:rPr>
              <a:t>):</a:t>
            </a:r>
          </a:p>
          <a:p>
            <a:pPr rtl="0">
              <a:lnSpc>
                <a:spcPct val="150000"/>
              </a:lnSpc>
              <a:buNone/>
            </a:pPr>
            <a:r>
              <a:rPr lang="en-US" sz="2800" dirty="0">
                <a:highlight>
                  <a:srgbClr val="FFFF00"/>
                </a:highlight>
                <a:latin typeface="Calibir"/>
              </a:rPr>
              <a:t>        </a:t>
            </a:r>
            <a:r>
              <a:rPr lang="en-US" sz="2800" dirty="0" err="1">
                <a:highlight>
                  <a:srgbClr val="FFFF00"/>
                </a:highlight>
                <a:latin typeface="Calibir"/>
              </a:rPr>
              <a:t>self.type</a:t>
            </a:r>
            <a:r>
              <a:rPr lang="en-US" sz="2800" dirty="0">
                <a:highlight>
                  <a:srgbClr val="FFFF00"/>
                </a:highlight>
                <a:latin typeface="Calibir"/>
              </a:rPr>
              <a:t> = </a:t>
            </a:r>
            <a:r>
              <a:rPr lang="en-US" sz="2800" dirty="0" err="1">
                <a:highlight>
                  <a:srgbClr val="FFFF00"/>
                </a:highlight>
                <a:latin typeface="Calibir"/>
              </a:rPr>
              <a:t>account_type</a:t>
            </a:r>
            <a:endParaRPr lang="en-US" sz="2800" dirty="0">
              <a:highlight>
                <a:srgbClr val="FFFF00"/>
              </a:highlight>
              <a:latin typeface="Calibir"/>
            </a:endParaRPr>
          </a:p>
          <a:p>
            <a:pPr rtl="0">
              <a:lnSpc>
                <a:spcPct val="150000"/>
              </a:lnSpc>
              <a:buNone/>
            </a:pPr>
            <a:r>
              <a:rPr lang="en-US" sz="2800" dirty="0">
                <a:highlight>
                  <a:srgbClr val="FFFF00"/>
                </a:highlight>
                <a:latin typeface="Calibir"/>
              </a:rPr>
              <a:t>        </a:t>
            </a:r>
            <a:r>
              <a:rPr lang="en-US" sz="2800" dirty="0" err="1">
                <a:highlight>
                  <a:srgbClr val="FFFF00"/>
                </a:highlight>
                <a:latin typeface="Calibir"/>
              </a:rPr>
              <a:t>self.balance</a:t>
            </a:r>
            <a:r>
              <a:rPr lang="en-US" sz="2800" dirty="0">
                <a:highlight>
                  <a:srgbClr val="FFFF00"/>
                </a:highlight>
                <a:latin typeface="Calibir"/>
              </a:rPr>
              <a:t> = </a:t>
            </a:r>
            <a:r>
              <a:rPr lang="en-US" sz="2800" dirty="0" err="1">
                <a:highlight>
                  <a:srgbClr val="FFFF00"/>
                </a:highlight>
                <a:latin typeface="Calibir"/>
              </a:rPr>
              <a:t>self.read_initial_balance</a:t>
            </a:r>
            <a:r>
              <a:rPr lang="en-US" sz="2800" dirty="0">
                <a:highlight>
                  <a:srgbClr val="FFFF00"/>
                </a:highlight>
                <a:latin typeface="Calibir"/>
              </a:rPr>
              <a:t>()</a:t>
            </a:r>
          </a:p>
        </p:txBody>
      </p:sp>
      <p:sp>
        <p:nvSpPr>
          <p:cNvPr id="9" name="TextBox 8">
            <a:extLst>
              <a:ext uri="{FF2B5EF4-FFF2-40B4-BE49-F238E27FC236}">
                <a16:creationId xmlns:a16="http://schemas.microsoft.com/office/drawing/2014/main" id="{68FF3BF2-969A-A228-15DA-104A9D985EE4}"/>
              </a:ext>
            </a:extLst>
          </p:cNvPr>
          <p:cNvSpPr txBox="1"/>
          <p:nvPr/>
        </p:nvSpPr>
        <p:spPr>
          <a:xfrm>
            <a:off x="7738946" y="2308165"/>
            <a:ext cx="4453054" cy="4549835"/>
          </a:xfrm>
          <a:prstGeom prst="rect">
            <a:avLst/>
          </a:prstGeom>
          <a:noFill/>
        </p:spPr>
        <p:txBody>
          <a:bodyPr wrap="square">
            <a:spAutoFit/>
          </a:bodyPr>
          <a:lstStyle/>
          <a:p>
            <a:pPr>
              <a:lnSpc>
                <a:spcPct val="150000"/>
              </a:lnSpc>
              <a:buNone/>
            </a:pPr>
            <a:r>
              <a:rPr lang="en-US" sz="2800" b="1" dirty="0">
                <a:latin typeface="Calibir"/>
              </a:rPr>
              <a:t>What does this do?</a:t>
            </a:r>
          </a:p>
          <a:p>
            <a:pPr>
              <a:lnSpc>
                <a:spcPct val="150000"/>
              </a:lnSpc>
              <a:buNone/>
            </a:pPr>
            <a:r>
              <a:rPr lang="en-US" sz="2800" dirty="0">
                <a:latin typeface="Calibir"/>
              </a:rPr>
              <a:t>If we create:</a:t>
            </a:r>
          </a:p>
          <a:p>
            <a:pPr rtl="0">
              <a:lnSpc>
                <a:spcPct val="150000"/>
              </a:lnSpc>
              <a:buNone/>
            </a:pPr>
            <a:r>
              <a:rPr lang="en-US" sz="2800" dirty="0">
                <a:highlight>
                  <a:srgbClr val="FFFF00"/>
                </a:highlight>
                <a:latin typeface="Calibir"/>
              </a:rPr>
              <a:t>savings = Account("Savings")</a:t>
            </a:r>
          </a:p>
          <a:p>
            <a:pPr>
              <a:lnSpc>
                <a:spcPct val="150000"/>
              </a:lnSpc>
              <a:buNone/>
            </a:pPr>
            <a:r>
              <a:rPr lang="en-US" sz="2800" dirty="0">
                <a:latin typeface="Calibir"/>
              </a:rPr>
              <a:t>the account remembers:</a:t>
            </a:r>
          </a:p>
          <a:p>
            <a:pPr rtl="0">
              <a:lnSpc>
                <a:spcPct val="150000"/>
              </a:lnSpc>
              <a:buNone/>
            </a:pPr>
            <a:r>
              <a:rPr lang="en-US" sz="2800" dirty="0">
                <a:highlight>
                  <a:srgbClr val="FFFF00"/>
                </a:highlight>
                <a:latin typeface="Calibir"/>
              </a:rPr>
              <a:t>type = "Savings"</a:t>
            </a:r>
          </a:p>
          <a:p>
            <a:pPr>
              <a:lnSpc>
                <a:spcPct val="150000"/>
              </a:lnSpc>
              <a:buNone/>
            </a:pPr>
            <a:r>
              <a:rPr lang="en-US" sz="2800" dirty="0">
                <a:latin typeface="Calibir"/>
              </a:rPr>
              <a:t>and asks the user to enter its starting balance.</a:t>
            </a:r>
          </a:p>
        </p:txBody>
      </p:sp>
    </p:spTree>
    <p:custDataLst>
      <p:tags r:id="rId1"/>
    </p:custDataLst>
    <p:extLst>
      <p:ext uri="{BB962C8B-B14F-4D97-AF65-F5344CB8AC3E}">
        <p14:creationId xmlns:p14="http://schemas.microsoft.com/office/powerpoint/2010/main" val="314040517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EF8B9-F77C-5AB1-6B00-EB4B3173D145}"/>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2BBF7AB1-6525-1B0D-0BDC-75930EF3BB46}"/>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4" name="Title 1">
            <a:extLst>
              <a:ext uri="{FF2B5EF4-FFF2-40B4-BE49-F238E27FC236}">
                <a16:creationId xmlns:a16="http://schemas.microsoft.com/office/drawing/2014/main" id="{F3A4643B-7487-0B66-E891-0FF9CB9FC10D}"/>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
        <p:nvSpPr>
          <p:cNvPr id="7" name="TextBox 6">
            <a:extLst>
              <a:ext uri="{FF2B5EF4-FFF2-40B4-BE49-F238E27FC236}">
                <a16:creationId xmlns:a16="http://schemas.microsoft.com/office/drawing/2014/main" id="{D19B569B-D724-6775-20DE-23A9F7D656E2}"/>
              </a:ext>
            </a:extLst>
          </p:cNvPr>
          <p:cNvSpPr txBox="1"/>
          <p:nvPr/>
        </p:nvSpPr>
        <p:spPr>
          <a:xfrm>
            <a:off x="-1" y="745846"/>
            <a:ext cx="9355873" cy="2610843"/>
          </a:xfrm>
          <a:prstGeom prst="rect">
            <a:avLst/>
          </a:prstGeom>
          <a:noFill/>
        </p:spPr>
        <p:txBody>
          <a:bodyPr wrap="square">
            <a:spAutoFit/>
          </a:bodyPr>
          <a:lstStyle/>
          <a:p>
            <a:pPr>
              <a:lnSpc>
                <a:spcPct val="150000"/>
              </a:lnSpc>
            </a:pPr>
            <a:r>
              <a:rPr lang="en-US" sz="2800" b="1" dirty="0">
                <a:latin typeface="Calibir"/>
              </a:rPr>
              <a:t>Step 3 — Read the initial balance</a:t>
            </a:r>
          </a:p>
          <a:p>
            <a:pPr>
              <a:lnSpc>
                <a:spcPct val="150000"/>
              </a:lnSpc>
            </a:pPr>
            <a:r>
              <a:rPr lang="en-US" sz="2800" b="1" dirty="0">
                <a:latin typeface="Calibir"/>
              </a:rPr>
              <a:t>Python</a:t>
            </a:r>
          </a:p>
          <a:p>
            <a:pPr>
              <a:lnSpc>
                <a:spcPct val="150000"/>
              </a:lnSpc>
            </a:pPr>
            <a:r>
              <a:rPr lang="en-US" sz="2800" dirty="0">
                <a:highlight>
                  <a:srgbClr val="FFFF00"/>
                </a:highlight>
                <a:latin typeface="Calibir"/>
              </a:rPr>
              <a:t>def </a:t>
            </a:r>
            <a:r>
              <a:rPr lang="en-US" sz="2800" dirty="0" err="1">
                <a:highlight>
                  <a:srgbClr val="FFFF00"/>
                </a:highlight>
                <a:latin typeface="Calibir"/>
              </a:rPr>
              <a:t>read_initial_balance</a:t>
            </a:r>
            <a:r>
              <a:rPr lang="en-US" sz="2800" dirty="0">
                <a:highlight>
                  <a:srgbClr val="FFFF00"/>
                </a:highlight>
                <a:latin typeface="Calibir"/>
              </a:rPr>
              <a:t>(self):</a:t>
            </a:r>
          </a:p>
          <a:p>
            <a:pPr>
              <a:lnSpc>
                <a:spcPct val="150000"/>
              </a:lnSpc>
            </a:pPr>
            <a:r>
              <a:rPr lang="en-US" sz="2800" dirty="0">
                <a:highlight>
                  <a:srgbClr val="FFFF00"/>
                </a:highlight>
                <a:latin typeface="Calibir"/>
              </a:rPr>
              <a:t>    return float(input(</a:t>
            </a:r>
            <a:r>
              <a:rPr lang="en-US" sz="2800" dirty="0" err="1">
                <a:highlight>
                  <a:srgbClr val="FFFF00"/>
                </a:highlight>
                <a:latin typeface="Calibir"/>
              </a:rPr>
              <a:t>f"Initial</a:t>
            </a:r>
            <a:r>
              <a:rPr lang="en-US" sz="2800" dirty="0">
                <a:highlight>
                  <a:srgbClr val="FFFF00"/>
                </a:highlight>
                <a:latin typeface="Calibir"/>
              </a:rPr>
              <a:t> {</a:t>
            </a:r>
            <a:r>
              <a:rPr lang="en-US" sz="2800" dirty="0" err="1">
                <a:highlight>
                  <a:srgbClr val="FFFF00"/>
                </a:highlight>
                <a:latin typeface="Calibir"/>
              </a:rPr>
              <a:t>self.type</a:t>
            </a:r>
            <a:r>
              <a:rPr lang="en-US" sz="2800" dirty="0">
                <a:highlight>
                  <a:srgbClr val="FFFF00"/>
                </a:highlight>
                <a:latin typeface="Calibir"/>
              </a:rPr>
              <a:t>} balance: $"))</a:t>
            </a:r>
          </a:p>
        </p:txBody>
      </p:sp>
      <p:sp>
        <p:nvSpPr>
          <p:cNvPr id="3" name="TextBox 2">
            <a:extLst>
              <a:ext uri="{FF2B5EF4-FFF2-40B4-BE49-F238E27FC236}">
                <a16:creationId xmlns:a16="http://schemas.microsoft.com/office/drawing/2014/main" id="{9CEAA97F-7D31-911F-D228-BDC17493EBBD}"/>
              </a:ext>
            </a:extLst>
          </p:cNvPr>
          <p:cNvSpPr txBox="1"/>
          <p:nvPr/>
        </p:nvSpPr>
        <p:spPr>
          <a:xfrm>
            <a:off x="6467707" y="3501312"/>
            <a:ext cx="5776330" cy="2610843"/>
          </a:xfrm>
          <a:prstGeom prst="rect">
            <a:avLst/>
          </a:prstGeom>
          <a:noFill/>
        </p:spPr>
        <p:txBody>
          <a:bodyPr wrap="square">
            <a:spAutoFit/>
          </a:bodyPr>
          <a:lstStyle/>
          <a:p>
            <a:pPr>
              <a:lnSpc>
                <a:spcPct val="150000"/>
              </a:lnSpc>
            </a:pPr>
            <a:r>
              <a:rPr lang="en-US" sz="2800" dirty="0">
                <a:latin typeface="Calibir"/>
              </a:rPr>
              <a:t>So creating:</a:t>
            </a:r>
          </a:p>
          <a:p>
            <a:pPr>
              <a:lnSpc>
                <a:spcPct val="150000"/>
              </a:lnSpc>
            </a:pPr>
            <a:r>
              <a:rPr lang="en-US" sz="2800" dirty="0">
                <a:highlight>
                  <a:srgbClr val="FFFF00"/>
                </a:highlight>
                <a:latin typeface="Calibir"/>
              </a:rPr>
              <a:t>Account("Savings")</a:t>
            </a:r>
          </a:p>
          <a:p>
            <a:pPr>
              <a:lnSpc>
                <a:spcPct val="150000"/>
              </a:lnSpc>
            </a:pPr>
            <a:r>
              <a:rPr lang="en-US" sz="2800" dirty="0">
                <a:latin typeface="Calibir"/>
              </a:rPr>
              <a:t>may produce:</a:t>
            </a:r>
          </a:p>
          <a:p>
            <a:pPr>
              <a:lnSpc>
                <a:spcPct val="150000"/>
              </a:lnSpc>
            </a:pPr>
            <a:r>
              <a:rPr lang="en-US" sz="2800" dirty="0">
                <a:highlight>
                  <a:srgbClr val="FFFF00"/>
                </a:highlight>
                <a:latin typeface="Calibir"/>
              </a:rPr>
              <a:t>Initial Savings balance: $1000</a:t>
            </a:r>
          </a:p>
        </p:txBody>
      </p:sp>
    </p:spTree>
    <p:custDataLst>
      <p:tags r:id="rId1"/>
    </p:custDataLst>
    <p:extLst>
      <p:ext uri="{BB962C8B-B14F-4D97-AF65-F5344CB8AC3E}">
        <p14:creationId xmlns:p14="http://schemas.microsoft.com/office/powerpoint/2010/main" val="427730720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CDE01-4090-148A-AEDD-6D375BAC8A2A}"/>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33D30B9B-2A94-3048-27D4-4885872F51C0}"/>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4" name="Title 1">
            <a:extLst>
              <a:ext uri="{FF2B5EF4-FFF2-40B4-BE49-F238E27FC236}">
                <a16:creationId xmlns:a16="http://schemas.microsoft.com/office/drawing/2014/main" id="{53419FCB-6F32-8BB0-EE1D-4164F6F7F267}"/>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
        <p:nvSpPr>
          <p:cNvPr id="7" name="TextBox 6">
            <a:extLst>
              <a:ext uri="{FF2B5EF4-FFF2-40B4-BE49-F238E27FC236}">
                <a16:creationId xmlns:a16="http://schemas.microsoft.com/office/drawing/2014/main" id="{00349E39-7F34-E70F-BE2F-3FF361A584B1}"/>
              </a:ext>
            </a:extLst>
          </p:cNvPr>
          <p:cNvSpPr txBox="1"/>
          <p:nvPr/>
        </p:nvSpPr>
        <p:spPr>
          <a:xfrm>
            <a:off x="0" y="745846"/>
            <a:ext cx="5776332" cy="6186309"/>
          </a:xfrm>
          <a:prstGeom prst="rect">
            <a:avLst/>
          </a:prstGeom>
          <a:noFill/>
        </p:spPr>
        <p:txBody>
          <a:bodyPr wrap="square">
            <a:spAutoFit/>
          </a:bodyPr>
          <a:lstStyle/>
          <a:p>
            <a:r>
              <a:rPr lang="en-US" b="1" dirty="0">
                <a:latin typeface="Calibir"/>
              </a:rPr>
              <a:t>Java</a:t>
            </a:r>
          </a:p>
          <a:p>
            <a:r>
              <a:rPr lang="en-US" dirty="0">
                <a:highlight>
                  <a:srgbClr val="FFFF00"/>
                </a:highlight>
                <a:latin typeface="Calibir"/>
              </a:rPr>
              <a:t>import </a:t>
            </a:r>
            <a:r>
              <a:rPr lang="en-US" dirty="0" err="1">
                <a:highlight>
                  <a:srgbClr val="FFFF00"/>
                </a:highlight>
                <a:latin typeface="Calibir"/>
              </a:rPr>
              <a:t>java.util.Scanner</a:t>
            </a:r>
            <a:r>
              <a:rPr lang="en-US" dirty="0">
                <a:highlight>
                  <a:srgbClr val="FFFF00"/>
                </a:highlight>
                <a:latin typeface="Calibir"/>
              </a:rPr>
              <a:t>;</a:t>
            </a:r>
          </a:p>
          <a:p>
            <a:r>
              <a:rPr lang="en-US" dirty="0">
                <a:highlight>
                  <a:srgbClr val="FFFF00"/>
                </a:highlight>
                <a:latin typeface="Calibir"/>
              </a:rPr>
              <a:t>public class Account {</a:t>
            </a:r>
          </a:p>
          <a:p>
            <a:r>
              <a:rPr lang="en-US" dirty="0">
                <a:highlight>
                  <a:srgbClr val="FFFF00"/>
                </a:highlight>
                <a:latin typeface="Calibir"/>
              </a:rPr>
              <a:t>    private String type;</a:t>
            </a:r>
          </a:p>
          <a:p>
            <a:r>
              <a:rPr lang="en-US" dirty="0">
                <a:highlight>
                  <a:srgbClr val="FFFF00"/>
                </a:highlight>
                <a:latin typeface="Calibir"/>
              </a:rPr>
              <a:t>    private double balance;</a:t>
            </a:r>
          </a:p>
          <a:p>
            <a:r>
              <a:rPr lang="en-US" dirty="0">
                <a:highlight>
                  <a:srgbClr val="FFFF00"/>
                </a:highlight>
                <a:latin typeface="Calibir"/>
              </a:rPr>
              <a:t>    public Account(</a:t>
            </a:r>
          </a:p>
          <a:p>
            <a:r>
              <a:rPr lang="en-US" dirty="0">
                <a:highlight>
                  <a:srgbClr val="FFFF00"/>
                </a:highlight>
                <a:latin typeface="Calibir"/>
              </a:rPr>
              <a:t>            String type,</a:t>
            </a:r>
          </a:p>
          <a:p>
            <a:r>
              <a:rPr lang="en-US" dirty="0">
                <a:highlight>
                  <a:srgbClr val="FFFF00"/>
                </a:highlight>
                <a:latin typeface="Calibir"/>
              </a:rPr>
              <a:t>            Scanner input) {</a:t>
            </a:r>
          </a:p>
          <a:p>
            <a:r>
              <a:rPr lang="en-US" dirty="0">
                <a:highlight>
                  <a:srgbClr val="FFFF00"/>
                </a:highlight>
                <a:latin typeface="Calibir"/>
              </a:rPr>
              <a:t>        </a:t>
            </a:r>
            <a:r>
              <a:rPr lang="en-US" dirty="0" err="1">
                <a:highlight>
                  <a:srgbClr val="FFFF00"/>
                </a:highlight>
                <a:latin typeface="Calibir"/>
              </a:rPr>
              <a:t>this.type</a:t>
            </a:r>
            <a:r>
              <a:rPr lang="en-US" dirty="0">
                <a:highlight>
                  <a:srgbClr val="FFFF00"/>
                </a:highlight>
                <a:latin typeface="Calibir"/>
              </a:rPr>
              <a:t> = type;</a:t>
            </a:r>
          </a:p>
          <a:p>
            <a:r>
              <a:rPr lang="en-US" dirty="0">
                <a:highlight>
                  <a:srgbClr val="FFFF00"/>
                </a:highlight>
                <a:latin typeface="Calibir"/>
              </a:rPr>
              <a:t>        </a:t>
            </a:r>
            <a:r>
              <a:rPr lang="en-US" dirty="0" err="1">
                <a:highlight>
                  <a:srgbClr val="FFFF00"/>
                </a:highlight>
                <a:latin typeface="Calibir"/>
              </a:rPr>
              <a:t>this.balance</a:t>
            </a:r>
            <a:r>
              <a:rPr lang="en-US" dirty="0">
                <a:highlight>
                  <a:srgbClr val="FFFF00"/>
                </a:highlight>
                <a:latin typeface="Calibir"/>
              </a:rPr>
              <a:t> =</a:t>
            </a:r>
          </a:p>
          <a:p>
            <a:r>
              <a:rPr lang="en-US" dirty="0">
                <a:highlight>
                  <a:srgbClr val="FFFF00"/>
                </a:highlight>
                <a:latin typeface="Calibir"/>
              </a:rPr>
              <a:t>                </a:t>
            </a:r>
            <a:r>
              <a:rPr lang="en-US" dirty="0" err="1">
                <a:highlight>
                  <a:srgbClr val="FFFF00"/>
                </a:highlight>
                <a:latin typeface="Calibir"/>
              </a:rPr>
              <a:t>readInitialBalance</a:t>
            </a:r>
            <a:r>
              <a:rPr lang="en-US" dirty="0">
                <a:highlight>
                  <a:srgbClr val="FFFF00"/>
                </a:highlight>
                <a:latin typeface="Calibir"/>
              </a:rPr>
              <a:t>(input);</a:t>
            </a:r>
          </a:p>
          <a:p>
            <a:r>
              <a:rPr lang="en-US" dirty="0">
                <a:highlight>
                  <a:srgbClr val="FFFF00"/>
                </a:highlight>
                <a:latin typeface="Calibir"/>
              </a:rPr>
              <a:t>    }</a:t>
            </a:r>
          </a:p>
          <a:p>
            <a:r>
              <a:rPr lang="en-US" dirty="0">
                <a:highlight>
                  <a:srgbClr val="FFFF00"/>
                </a:highlight>
                <a:latin typeface="Calibir"/>
              </a:rPr>
              <a:t>    private double </a:t>
            </a:r>
            <a:r>
              <a:rPr lang="en-US" dirty="0" err="1">
                <a:highlight>
                  <a:srgbClr val="FFFF00"/>
                </a:highlight>
                <a:latin typeface="Calibir"/>
              </a:rPr>
              <a:t>readInitialBalance</a:t>
            </a:r>
            <a:r>
              <a:rPr lang="en-US" dirty="0">
                <a:highlight>
                  <a:srgbClr val="FFFF00"/>
                </a:highlight>
                <a:latin typeface="Calibir"/>
              </a:rPr>
              <a:t>(</a:t>
            </a:r>
          </a:p>
          <a:p>
            <a:r>
              <a:rPr lang="en-US" dirty="0">
                <a:highlight>
                  <a:srgbClr val="FFFF00"/>
                </a:highlight>
                <a:latin typeface="Calibir"/>
              </a:rPr>
              <a:t>            Scanner input) {</a:t>
            </a:r>
          </a:p>
          <a:p>
            <a:r>
              <a:rPr lang="en-US" dirty="0">
                <a:highlight>
                  <a:srgbClr val="FFFF00"/>
                </a:highlight>
                <a:latin typeface="Calibir"/>
              </a:rPr>
              <a:t>        </a:t>
            </a:r>
            <a:r>
              <a:rPr lang="en-US" dirty="0" err="1">
                <a:highlight>
                  <a:srgbClr val="FFFF00"/>
                </a:highlight>
                <a:latin typeface="Calibir"/>
              </a:rPr>
              <a:t>System.out.print</a:t>
            </a:r>
            <a:r>
              <a:rPr lang="en-US" dirty="0">
                <a:highlight>
                  <a:srgbClr val="FFFF00"/>
                </a:highlight>
                <a:latin typeface="Calibir"/>
              </a:rPr>
              <a:t>(</a:t>
            </a:r>
          </a:p>
          <a:p>
            <a:r>
              <a:rPr lang="en-US" dirty="0">
                <a:highlight>
                  <a:srgbClr val="FFFF00"/>
                </a:highlight>
                <a:latin typeface="Calibir"/>
              </a:rPr>
              <a:t>            "Initial "</a:t>
            </a:r>
          </a:p>
          <a:p>
            <a:r>
              <a:rPr lang="en-US" dirty="0">
                <a:highlight>
                  <a:srgbClr val="FFFF00"/>
                </a:highlight>
                <a:latin typeface="Calibir"/>
              </a:rPr>
              <a:t>            + type</a:t>
            </a:r>
          </a:p>
          <a:p>
            <a:r>
              <a:rPr lang="en-US" dirty="0">
                <a:highlight>
                  <a:srgbClr val="FFFF00"/>
                </a:highlight>
                <a:latin typeface="Calibir"/>
              </a:rPr>
              <a:t>            + " balance: $"</a:t>
            </a:r>
          </a:p>
          <a:p>
            <a:r>
              <a:rPr lang="en-US" dirty="0">
                <a:highlight>
                  <a:srgbClr val="FFFF00"/>
                </a:highlight>
                <a:latin typeface="Calibir"/>
              </a:rPr>
              <a:t>        );</a:t>
            </a:r>
          </a:p>
          <a:p>
            <a:r>
              <a:rPr lang="en-US" dirty="0">
                <a:highlight>
                  <a:srgbClr val="FFFF00"/>
                </a:highlight>
                <a:latin typeface="Calibir"/>
              </a:rPr>
              <a:t>        return </a:t>
            </a:r>
            <a:r>
              <a:rPr lang="en-US" dirty="0" err="1">
                <a:highlight>
                  <a:srgbClr val="FFFF00"/>
                </a:highlight>
                <a:latin typeface="Calibir"/>
              </a:rPr>
              <a:t>input.nextDouble</a:t>
            </a:r>
            <a:r>
              <a:rPr lang="en-US" dirty="0">
                <a:highlight>
                  <a:srgbClr val="FFFF00"/>
                </a:highlight>
                <a:latin typeface="Calibir"/>
              </a:rPr>
              <a:t>();</a:t>
            </a:r>
          </a:p>
          <a:p>
            <a:r>
              <a:rPr lang="en-US" dirty="0">
                <a:highlight>
                  <a:srgbClr val="FFFF00"/>
                </a:highlight>
                <a:latin typeface="Calibir"/>
              </a:rPr>
              <a:t>    }</a:t>
            </a:r>
          </a:p>
          <a:p>
            <a:r>
              <a:rPr lang="en-US" dirty="0">
                <a:highlight>
                  <a:srgbClr val="FFFF00"/>
                </a:highlight>
                <a:latin typeface="Calibir"/>
              </a:rPr>
              <a:t>}</a:t>
            </a:r>
          </a:p>
        </p:txBody>
      </p:sp>
    </p:spTree>
    <p:custDataLst>
      <p:tags r:id="rId1"/>
    </p:custDataLst>
    <p:extLst>
      <p:ext uri="{BB962C8B-B14F-4D97-AF65-F5344CB8AC3E}">
        <p14:creationId xmlns:p14="http://schemas.microsoft.com/office/powerpoint/2010/main" val="305265185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A752D-6EB2-E1C8-0055-A6874D5B1F3D}"/>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DBE13C4F-7B40-A8D1-7AE7-7E1706682E8C}"/>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4" name="Title 1">
            <a:extLst>
              <a:ext uri="{FF2B5EF4-FFF2-40B4-BE49-F238E27FC236}">
                <a16:creationId xmlns:a16="http://schemas.microsoft.com/office/drawing/2014/main" id="{C73DF75C-5AF2-CD48-A4FD-A134B0AFCFFB}"/>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
        <p:nvSpPr>
          <p:cNvPr id="3" name="TextBox 2">
            <a:extLst>
              <a:ext uri="{FF2B5EF4-FFF2-40B4-BE49-F238E27FC236}">
                <a16:creationId xmlns:a16="http://schemas.microsoft.com/office/drawing/2014/main" id="{6511A5A6-BB8D-B0D0-B589-5FBC45174E0E}"/>
              </a:ext>
            </a:extLst>
          </p:cNvPr>
          <p:cNvSpPr txBox="1"/>
          <p:nvPr/>
        </p:nvSpPr>
        <p:spPr>
          <a:xfrm>
            <a:off x="0" y="745846"/>
            <a:ext cx="6266985" cy="5842497"/>
          </a:xfrm>
          <a:prstGeom prst="rect">
            <a:avLst/>
          </a:prstGeom>
          <a:noFill/>
        </p:spPr>
        <p:txBody>
          <a:bodyPr wrap="square">
            <a:spAutoFit/>
          </a:bodyPr>
          <a:lstStyle/>
          <a:p>
            <a:pPr>
              <a:lnSpc>
                <a:spcPct val="150000"/>
              </a:lnSpc>
              <a:buNone/>
            </a:pPr>
            <a:r>
              <a:rPr lang="en-US" sz="2800" b="1" dirty="0">
                <a:latin typeface="Calibir"/>
              </a:rPr>
              <a:t>Step 4 — Add deposit()</a:t>
            </a:r>
          </a:p>
          <a:p>
            <a:pPr>
              <a:lnSpc>
                <a:spcPct val="150000"/>
              </a:lnSpc>
              <a:buNone/>
            </a:pPr>
            <a:r>
              <a:rPr lang="en-US" sz="2800" dirty="0">
                <a:latin typeface="Calibir"/>
              </a:rPr>
              <a:t>A deposit increases the account balance.</a:t>
            </a:r>
          </a:p>
          <a:p>
            <a:pPr>
              <a:lnSpc>
                <a:spcPct val="150000"/>
              </a:lnSpc>
              <a:buNone/>
            </a:pPr>
            <a:r>
              <a:rPr lang="en-US" sz="2800" b="1" dirty="0">
                <a:latin typeface="Calibir"/>
              </a:rPr>
              <a:t>Python</a:t>
            </a:r>
          </a:p>
          <a:p>
            <a:pPr rtl="0">
              <a:lnSpc>
                <a:spcPct val="150000"/>
              </a:lnSpc>
              <a:buNone/>
            </a:pPr>
            <a:r>
              <a:rPr lang="en-US" sz="2800" dirty="0">
                <a:highlight>
                  <a:srgbClr val="FFFF00"/>
                </a:highlight>
                <a:latin typeface="Calibir"/>
              </a:rPr>
              <a:t>def deposit(self, amount):</a:t>
            </a:r>
          </a:p>
          <a:p>
            <a:pPr rtl="0">
              <a:lnSpc>
                <a:spcPct val="150000"/>
              </a:lnSpc>
              <a:buNone/>
            </a:pPr>
            <a:r>
              <a:rPr lang="en-US" sz="2800" dirty="0">
                <a:highlight>
                  <a:srgbClr val="FFFF00"/>
                </a:highlight>
                <a:latin typeface="Calibir"/>
              </a:rPr>
              <a:t>    </a:t>
            </a:r>
            <a:r>
              <a:rPr lang="en-US" sz="2800" dirty="0" err="1">
                <a:highlight>
                  <a:srgbClr val="FFFF00"/>
                </a:highlight>
                <a:latin typeface="Calibir"/>
              </a:rPr>
              <a:t>self.balance</a:t>
            </a:r>
            <a:r>
              <a:rPr lang="en-US" sz="2800" dirty="0">
                <a:highlight>
                  <a:srgbClr val="FFFF00"/>
                </a:highlight>
                <a:latin typeface="Calibir"/>
              </a:rPr>
              <a:t> += amount</a:t>
            </a:r>
          </a:p>
          <a:p>
            <a:pPr>
              <a:lnSpc>
                <a:spcPct val="150000"/>
              </a:lnSpc>
              <a:buNone/>
            </a:pPr>
            <a:r>
              <a:rPr lang="en-US" sz="2800" dirty="0">
                <a:latin typeface="Calibir"/>
              </a:rPr>
              <a:t>Example:</a:t>
            </a:r>
          </a:p>
          <a:p>
            <a:pPr rtl="0">
              <a:lnSpc>
                <a:spcPct val="150000"/>
              </a:lnSpc>
              <a:buNone/>
            </a:pPr>
            <a:r>
              <a:rPr lang="en-US" sz="2800" dirty="0">
                <a:latin typeface="Calibir"/>
              </a:rPr>
              <a:t>Balance = 1000</a:t>
            </a:r>
          </a:p>
          <a:p>
            <a:pPr rtl="0">
              <a:lnSpc>
                <a:spcPct val="150000"/>
              </a:lnSpc>
              <a:buNone/>
            </a:pPr>
            <a:r>
              <a:rPr lang="en-US" sz="2800" dirty="0">
                <a:latin typeface="Calibir"/>
              </a:rPr>
              <a:t>Deposit = 500</a:t>
            </a:r>
          </a:p>
          <a:p>
            <a:pPr rtl="0">
              <a:lnSpc>
                <a:spcPct val="150000"/>
              </a:lnSpc>
              <a:buNone/>
            </a:pPr>
            <a:r>
              <a:rPr lang="en-US" sz="2800" dirty="0">
                <a:latin typeface="Calibir"/>
              </a:rPr>
              <a:t>New balance = 1500</a:t>
            </a:r>
          </a:p>
        </p:txBody>
      </p:sp>
      <p:sp>
        <p:nvSpPr>
          <p:cNvPr id="6" name="TextBox 5">
            <a:extLst>
              <a:ext uri="{FF2B5EF4-FFF2-40B4-BE49-F238E27FC236}">
                <a16:creationId xmlns:a16="http://schemas.microsoft.com/office/drawing/2014/main" id="{E2759FAC-F7B7-24EC-04A3-248ED561CCD4}"/>
              </a:ext>
            </a:extLst>
          </p:cNvPr>
          <p:cNvSpPr txBox="1"/>
          <p:nvPr/>
        </p:nvSpPr>
        <p:spPr>
          <a:xfrm>
            <a:off x="5564458" y="2543709"/>
            <a:ext cx="6200078" cy="2246769"/>
          </a:xfrm>
          <a:prstGeom prst="rect">
            <a:avLst/>
          </a:prstGeom>
          <a:noFill/>
        </p:spPr>
        <p:txBody>
          <a:bodyPr wrap="square">
            <a:spAutoFit/>
          </a:bodyPr>
          <a:lstStyle/>
          <a:p>
            <a:pPr>
              <a:buNone/>
            </a:pPr>
            <a:r>
              <a:rPr lang="en-US" sz="2800" b="1" dirty="0">
                <a:latin typeface="Calibir"/>
              </a:rPr>
              <a:t>Java</a:t>
            </a:r>
          </a:p>
          <a:p>
            <a:pPr rtl="0">
              <a:buNone/>
            </a:pPr>
            <a:r>
              <a:rPr lang="en-US" sz="2800" dirty="0">
                <a:highlight>
                  <a:srgbClr val="FFFF00"/>
                </a:highlight>
                <a:latin typeface="Calibir"/>
              </a:rPr>
              <a:t>public void deposit(double amount) {</a:t>
            </a:r>
          </a:p>
          <a:p>
            <a:pPr rtl="0">
              <a:buNone/>
            </a:pPr>
            <a:endParaRPr lang="en-US" sz="2800" dirty="0">
              <a:highlight>
                <a:srgbClr val="FFFF00"/>
              </a:highlight>
              <a:latin typeface="Calibir"/>
            </a:endParaRPr>
          </a:p>
          <a:p>
            <a:pPr rtl="0">
              <a:buNone/>
            </a:pPr>
            <a:r>
              <a:rPr lang="en-US" sz="2800" dirty="0">
                <a:highlight>
                  <a:srgbClr val="FFFF00"/>
                </a:highlight>
                <a:latin typeface="Calibir"/>
              </a:rPr>
              <a:t>    balance += amount;</a:t>
            </a:r>
          </a:p>
          <a:p>
            <a:pPr rtl="0">
              <a:buNone/>
            </a:pPr>
            <a:r>
              <a:rPr lang="en-US" sz="2800" dirty="0">
                <a:highlight>
                  <a:srgbClr val="FFFF00"/>
                </a:highlight>
                <a:latin typeface="Calibir"/>
              </a:rPr>
              <a:t>}</a:t>
            </a:r>
          </a:p>
        </p:txBody>
      </p:sp>
    </p:spTree>
    <p:custDataLst>
      <p:tags r:id="rId1"/>
    </p:custDataLst>
    <p:extLst>
      <p:ext uri="{BB962C8B-B14F-4D97-AF65-F5344CB8AC3E}">
        <p14:creationId xmlns:p14="http://schemas.microsoft.com/office/powerpoint/2010/main" val="403335483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608A4-6A11-7A9D-13EB-D4AA4C7892D8}"/>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93CC23E4-6FC6-DF45-CBE5-AF32573D8065}"/>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4" name="Title 1">
            <a:extLst>
              <a:ext uri="{FF2B5EF4-FFF2-40B4-BE49-F238E27FC236}">
                <a16:creationId xmlns:a16="http://schemas.microsoft.com/office/drawing/2014/main" id="{8DA7E428-7954-7A12-FC33-E239FCBE5A55}"/>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
        <p:nvSpPr>
          <p:cNvPr id="6" name="TextBox 5">
            <a:extLst>
              <a:ext uri="{FF2B5EF4-FFF2-40B4-BE49-F238E27FC236}">
                <a16:creationId xmlns:a16="http://schemas.microsoft.com/office/drawing/2014/main" id="{63D8AE16-9CA8-B630-EA5D-3510741745FB}"/>
              </a:ext>
            </a:extLst>
          </p:cNvPr>
          <p:cNvSpPr txBox="1"/>
          <p:nvPr/>
        </p:nvSpPr>
        <p:spPr>
          <a:xfrm>
            <a:off x="6527180" y="2474253"/>
            <a:ext cx="5664820" cy="2610843"/>
          </a:xfrm>
          <a:prstGeom prst="rect">
            <a:avLst/>
          </a:prstGeom>
          <a:noFill/>
        </p:spPr>
        <p:txBody>
          <a:bodyPr wrap="square">
            <a:spAutoFit/>
          </a:bodyPr>
          <a:lstStyle/>
          <a:p>
            <a:pPr>
              <a:lnSpc>
                <a:spcPct val="150000"/>
              </a:lnSpc>
            </a:pPr>
            <a:r>
              <a:rPr lang="en-US" sz="2800" b="1" dirty="0">
                <a:latin typeface="Calibir"/>
              </a:rPr>
              <a:t>Java</a:t>
            </a:r>
          </a:p>
          <a:p>
            <a:pPr>
              <a:lnSpc>
                <a:spcPct val="150000"/>
              </a:lnSpc>
            </a:pPr>
            <a:r>
              <a:rPr lang="en-US" sz="2800" dirty="0">
                <a:highlight>
                  <a:srgbClr val="FFFF00"/>
                </a:highlight>
                <a:latin typeface="Calibir"/>
              </a:rPr>
              <a:t>public </a:t>
            </a:r>
            <a:r>
              <a:rPr lang="en-US" sz="2800" dirty="0" err="1">
                <a:highlight>
                  <a:srgbClr val="FFFF00"/>
                </a:highlight>
                <a:latin typeface="Calibir"/>
              </a:rPr>
              <a:t>boolean</a:t>
            </a:r>
            <a:r>
              <a:rPr lang="en-US" sz="2800" dirty="0">
                <a:highlight>
                  <a:srgbClr val="FFFF00"/>
                </a:highlight>
                <a:latin typeface="Calibir"/>
              </a:rPr>
              <a:t> has(double amount) {</a:t>
            </a:r>
          </a:p>
          <a:p>
            <a:pPr>
              <a:lnSpc>
                <a:spcPct val="150000"/>
              </a:lnSpc>
            </a:pPr>
            <a:r>
              <a:rPr lang="en-US" sz="2800" dirty="0">
                <a:highlight>
                  <a:srgbClr val="FFFF00"/>
                </a:highlight>
                <a:latin typeface="Calibir"/>
              </a:rPr>
              <a:t>    return balance &gt;= amount;</a:t>
            </a:r>
          </a:p>
          <a:p>
            <a:pPr>
              <a:lnSpc>
                <a:spcPct val="150000"/>
              </a:lnSpc>
            </a:pPr>
            <a:r>
              <a:rPr lang="en-US" sz="2800" dirty="0">
                <a:highlight>
                  <a:srgbClr val="FFFF00"/>
                </a:highlight>
                <a:latin typeface="Calibir"/>
              </a:rPr>
              <a:t>}</a:t>
            </a:r>
          </a:p>
        </p:txBody>
      </p:sp>
      <p:sp>
        <p:nvSpPr>
          <p:cNvPr id="5" name="TextBox 4">
            <a:extLst>
              <a:ext uri="{FF2B5EF4-FFF2-40B4-BE49-F238E27FC236}">
                <a16:creationId xmlns:a16="http://schemas.microsoft.com/office/drawing/2014/main" id="{4F3A6C9C-50C9-79C2-F1C6-3EBB31023216}"/>
              </a:ext>
            </a:extLst>
          </p:cNvPr>
          <p:cNvSpPr txBox="1"/>
          <p:nvPr/>
        </p:nvSpPr>
        <p:spPr>
          <a:xfrm>
            <a:off x="0" y="535261"/>
            <a:ext cx="6200078" cy="6488828"/>
          </a:xfrm>
          <a:prstGeom prst="rect">
            <a:avLst/>
          </a:prstGeom>
          <a:noFill/>
        </p:spPr>
        <p:txBody>
          <a:bodyPr wrap="square">
            <a:spAutoFit/>
          </a:bodyPr>
          <a:lstStyle/>
          <a:p>
            <a:pPr>
              <a:lnSpc>
                <a:spcPct val="150000"/>
              </a:lnSpc>
              <a:buNone/>
            </a:pPr>
            <a:r>
              <a:rPr lang="en-US" sz="2800" b="1" dirty="0">
                <a:latin typeface="Calibir"/>
              </a:rPr>
              <a:t>Step 5 — Add sufficient-funds checking</a:t>
            </a:r>
          </a:p>
          <a:p>
            <a:pPr>
              <a:lnSpc>
                <a:spcPct val="150000"/>
              </a:lnSpc>
              <a:buNone/>
            </a:pPr>
            <a:r>
              <a:rPr lang="en-US" sz="2800" dirty="0">
                <a:latin typeface="Calibir"/>
              </a:rPr>
              <a:t>The requirement says:</a:t>
            </a:r>
          </a:p>
          <a:p>
            <a:pPr>
              <a:lnSpc>
                <a:spcPct val="150000"/>
              </a:lnSpc>
              <a:buNone/>
            </a:pPr>
            <a:r>
              <a:rPr lang="en-US" sz="2800" dirty="0">
                <a:latin typeface="Calibir"/>
              </a:rPr>
              <a:t>Check whether current balance is greater than or equal to an amount.</a:t>
            </a:r>
          </a:p>
          <a:p>
            <a:pPr>
              <a:lnSpc>
                <a:spcPct val="150000"/>
              </a:lnSpc>
              <a:buNone/>
            </a:pPr>
            <a:r>
              <a:rPr lang="en-US" sz="2800" b="1" dirty="0">
                <a:latin typeface="Calibir"/>
              </a:rPr>
              <a:t>Python</a:t>
            </a:r>
          </a:p>
          <a:p>
            <a:pPr rtl="0">
              <a:lnSpc>
                <a:spcPct val="150000"/>
              </a:lnSpc>
              <a:buNone/>
            </a:pPr>
            <a:r>
              <a:rPr lang="en-US" sz="2800" dirty="0">
                <a:highlight>
                  <a:srgbClr val="FFFF00"/>
                </a:highlight>
                <a:latin typeface="Calibir"/>
              </a:rPr>
              <a:t>def has(self, amount):</a:t>
            </a:r>
          </a:p>
          <a:p>
            <a:pPr rtl="0">
              <a:lnSpc>
                <a:spcPct val="150000"/>
              </a:lnSpc>
              <a:buNone/>
            </a:pPr>
            <a:r>
              <a:rPr lang="en-US" sz="2800" dirty="0">
                <a:highlight>
                  <a:srgbClr val="FFFF00"/>
                </a:highlight>
                <a:latin typeface="Calibir"/>
              </a:rPr>
              <a:t>    return </a:t>
            </a:r>
            <a:r>
              <a:rPr lang="en-US" sz="2800" dirty="0" err="1">
                <a:highlight>
                  <a:srgbClr val="FFFF00"/>
                </a:highlight>
                <a:latin typeface="Calibir"/>
              </a:rPr>
              <a:t>self.balance</a:t>
            </a:r>
            <a:r>
              <a:rPr lang="en-US" sz="2800" dirty="0">
                <a:highlight>
                  <a:srgbClr val="FFFF00"/>
                </a:highlight>
                <a:latin typeface="Calibir"/>
              </a:rPr>
              <a:t> &gt;= amount</a:t>
            </a:r>
          </a:p>
          <a:p>
            <a:pPr>
              <a:lnSpc>
                <a:spcPct val="150000"/>
              </a:lnSpc>
              <a:buNone/>
            </a:pPr>
            <a:r>
              <a:rPr lang="en-US" sz="2800" dirty="0">
                <a:latin typeface="Calibir"/>
              </a:rPr>
              <a:t>This returns either:</a:t>
            </a:r>
          </a:p>
          <a:p>
            <a:pPr rtl="0">
              <a:lnSpc>
                <a:spcPct val="150000"/>
              </a:lnSpc>
              <a:buNone/>
            </a:pPr>
            <a:r>
              <a:rPr lang="en-US" sz="2800" dirty="0">
                <a:latin typeface="Calibir"/>
              </a:rPr>
              <a:t>True</a:t>
            </a:r>
          </a:p>
          <a:p>
            <a:pPr>
              <a:lnSpc>
                <a:spcPct val="150000"/>
              </a:lnSpc>
              <a:buNone/>
            </a:pPr>
            <a:r>
              <a:rPr lang="en-US" sz="2800" dirty="0">
                <a:latin typeface="Calibir"/>
              </a:rPr>
              <a:t>or: False</a:t>
            </a:r>
          </a:p>
        </p:txBody>
      </p:sp>
    </p:spTree>
    <p:custDataLst>
      <p:tags r:id="rId1"/>
    </p:custDataLst>
    <p:extLst>
      <p:ext uri="{BB962C8B-B14F-4D97-AF65-F5344CB8AC3E}">
        <p14:creationId xmlns:p14="http://schemas.microsoft.com/office/powerpoint/2010/main" val="425706001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664E8-3FF9-9D48-40A1-9AFB1058AD0B}"/>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B3ECD17B-0292-7C10-6C94-45E76610BAFA}"/>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4" name="Title 1">
            <a:extLst>
              <a:ext uri="{FF2B5EF4-FFF2-40B4-BE49-F238E27FC236}">
                <a16:creationId xmlns:a16="http://schemas.microsoft.com/office/drawing/2014/main" id="{584706BF-D378-3DCC-EDDE-134A95E027B7}"/>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
        <p:nvSpPr>
          <p:cNvPr id="6" name="TextBox 5">
            <a:extLst>
              <a:ext uri="{FF2B5EF4-FFF2-40B4-BE49-F238E27FC236}">
                <a16:creationId xmlns:a16="http://schemas.microsoft.com/office/drawing/2014/main" id="{9854AD66-5970-B1DE-B423-6AF819CDE295}"/>
              </a:ext>
            </a:extLst>
          </p:cNvPr>
          <p:cNvSpPr txBox="1"/>
          <p:nvPr/>
        </p:nvSpPr>
        <p:spPr>
          <a:xfrm>
            <a:off x="7025268" y="0"/>
            <a:ext cx="5166732" cy="5693866"/>
          </a:xfrm>
          <a:prstGeom prst="rect">
            <a:avLst/>
          </a:prstGeom>
          <a:noFill/>
        </p:spPr>
        <p:txBody>
          <a:bodyPr wrap="square">
            <a:spAutoFit/>
          </a:bodyPr>
          <a:lstStyle/>
          <a:p>
            <a:r>
              <a:rPr lang="en-US" sz="2600" b="1" dirty="0">
                <a:latin typeface="Calibir"/>
              </a:rPr>
              <a:t>Java</a:t>
            </a:r>
          </a:p>
          <a:p>
            <a:r>
              <a:rPr lang="en-US" sz="2600" dirty="0">
                <a:highlight>
                  <a:srgbClr val="FFFF00"/>
                </a:highlight>
                <a:latin typeface="Calibir"/>
              </a:rPr>
              <a:t>public void withdraw(double amount) {</a:t>
            </a:r>
          </a:p>
          <a:p>
            <a:endParaRPr lang="en-US" sz="2600" dirty="0">
              <a:highlight>
                <a:srgbClr val="FFFF00"/>
              </a:highlight>
              <a:latin typeface="Calibir"/>
            </a:endParaRPr>
          </a:p>
          <a:p>
            <a:r>
              <a:rPr lang="en-US" sz="2600" dirty="0">
                <a:highlight>
                  <a:srgbClr val="FFFF00"/>
                </a:highlight>
                <a:latin typeface="Calibir"/>
              </a:rPr>
              <a:t>    if (!has(amount)) {</a:t>
            </a:r>
          </a:p>
          <a:p>
            <a:endParaRPr lang="en-US" sz="2600" dirty="0">
              <a:highlight>
                <a:srgbClr val="FFFF00"/>
              </a:highlight>
              <a:latin typeface="Calibir"/>
            </a:endParaRPr>
          </a:p>
          <a:p>
            <a:r>
              <a:rPr lang="en-US" sz="2600" dirty="0">
                <a:highlight>
                  <a:srgbClr val="FFFF00"/>
                </a:highlight>
                <a:latin typeface="Calibir"/>
              </a:rPr>
              <a:t>        throw new </a:t>
            </a:r>
            <a:r>
              <a:rPr lang="en-US" sz="2600" dirty="0" err="1">
                <a:highlight>
                  <a:srgbClr val="FFFF00"/>
                </a:highlight>
                <a:latin typeface="Calibir"/>
              </a:rPr>
              <a:t>IllegalArgumentException</a:t>
            </a:r>
            <a:r>
              <a:rPr lang="en-US" sz="2600" dirty="0">
                <a:highlight>
                  <a:srgbClr val="FFFF00"/>
                </a:highlight>
                <a:latin typeface="Calibir"/>
              </a:rPr>
              <a:t>(</a:t>
            </a:r>
          </a:p>
          <a:p>
            <a:r>
              <a:rPr lang="en-US" sz="2600" dirty="0">
                <a:highlight>
                  <a:srgbClr val="FFFF00"/>
                </a:highlight>
                <a:latin typeface="Calibir"/>
              </a:rPr>
              <a:t>            "Insufficient funds"</a:t>
            </a:r>
          </a:p>
          <a:p>
            <a:r>
              <a:rPr lang="en-US" sz="2600" dirty="0">
                <a:highlight>
                  <a:srgbClr val="FFFF00"/>
                </a:highlight>
                <a:latin typeface="Calibir"/>
              </a:rPr>
              <a:t>        );</a:t>
            </a:r>
          </a:p>
          <a:p>
            <a:r>
              <a:rPr lang="en-US" sz="2600" dirty="0">
                <a:highlight>
                  <a:srgbClr val="FFFF00"/>
                </a:highlight>
                <a:latin typeface="Calibir"/>
              </a:rPr>
              <a:t>    }</a:t>
            </a:r>
          </a:p>
          <a:p>
            <a:endParaRPr lang="en-US" sz="2600" dirty="0">
              <a:highlight>
                <a:srgbClr val="FFFF00"/>
              </a:highlight>
              <a:latin typeface="Calibir"/>
            </a:endParaRPr>
          </a:p>
          <a:p>
            <a:r>
              <a:rPr lang="en-US" sz="2600" dirty="0">
                <a:highlight>
                  <a:srgbClr val="FFFF00"/>
                </a:highlight>
                <a:latin typeface="Calibir"/>
              </a:rPr>
              <a:t>    balance -= amount;</a:t>
            </a:r>
          </a:p>
          <a:p>
            <a:r>
              <a:rPr lang="en-US" sz="2600" dirty="0">
                <a:highlight>
                  <a:srgbClr val="FFFF00"/>
                </a:highlight>
                <a:latin typeface="Calibir"/>
              </a:rPr>
              <a:t>}</a:t>
            </a:r>
          </a:p>
        </p:txBody>
      </p:sp>
      <p:sp>
        <p:nvSpPr>
          <p:cNvPr id="5" name="TextBox 4">
            <a:extLst>
              <a:ext uri="{FF2B5EF4-FFF2-40B4-BE49-F238E27FC236}">
                <a16:creationId xmlns:a16="http://schemas.microsoft.com/office/drawing/2014/main" id="{1EEDB11F-90D0-0EAA-57B4-5F97879A536A}"/>
              </a:ext>
            </a:extLst>
          </p:cNvPr>
          <p:cNvSpPr txBox="1"/>
          <p:nvPr/>
        </p:nvSpPr>
        <p:spPr>
          <a:xfrm>
            <a:off x="-1" y="535261"/>
            <a:ext cx="7326351" cy="5196166"/>
          </a:xfrm>
          <a:prstGeom prst="rect">
            <a:avLst/>
          </a:prstGeom>
          <a:noFill/>
        </p:spPr>
        <p:txBody>
          <a:bodyPr wrap="square">
            <a:spAutoFit/>
          </a:bodyPr>
          <a:lstStyle/>
          <a:p>
            <a:pPr>
              <a:lnSpc>
                <a:spcPct val="150000"/>
              </a:lnSpc>
            </a:pPr>
            <a:r>
              <a:rPr lang="en-US" sz="2800" b="1" dirty="0">
                <a:latin typeface="Calibir"/>
              </a:rPr>
              <a:t>Step 6 — Add withdraw()</a:t>
            </a:r>
          </a:p>
          <a:p>
            <a:pPr>
              <a:lnSpc>
                <a:spcPct val="150000"/>
              </a:lnSpc>
            </a:pPr>
            <a:r>
              <a:rPr lang="en-US" sz="2800" b="1" dirty="0">
                <a:latin typeface="Calibir"/>
              </a:rPr>
              <a:t>Python</a:t>
            </a:r>
          </a:p>
          <a:p>
            <a:pPr>
              <a:lnSpc>
                <a:spcPct val="150000"/>
              </a:lnSpc>
            </a:pPr>
            <a:r>
              <a:rPr lang="en-US" sz="2800" dirty="0">
                <a:highlight>
                  <a:srgbClr val="FFFF00"/>
                </a:highlight>
                <a:latin typeface="Calibir"/>
              </a:rPr>
              <a:t>def withdraw(self, amount):</a:t>
            </a:r>
          </a:p>
          <a:p>
            <a:pPr>
              <a:lnSpc>
                <a:spcPct val="150000"/>
              </a:lnSpc>
            </a:pPr>
            <a:r>
              <a:rPr lang="en-US" sz="2800" dirty="0">
                <a:highlight>
                  <a:srgbClr val="FFFF00"/>
                </a:highlight>
                <a:latin typeface="Calibir"/>
              </a:rPr>
              <a:t>    if not </a:t>
            </a:r>
            <a:r>
              <a:rPr lang="en-US" sz="2800" dirty="0" err="1">
                <a:highlight>
                  <a:srgbClr val="FFFF00"/>
                </a:highlight>
                <a:latin typeface="Calibir"/>
              </a:rPr>
              <a:t>self.has</a:t>
            </a:r>
            <a:r>
              <a:rPr lang="en-US" sz="2800" dirty="0">
                <a:highlight>
                  <a:srgbClr val="FFFF00"/>
                </a:highlight>
                <a:latin typeface="Calibir"/>
              </a:rPr>
              <a:t>(amount):</a:t>
            </a:r>
          </a:p>
          <a:p>
            <a:pPr>
              <a:lnSpc>
                <a:spcPct val="150000"/>
              </a:lnSpc>
            </a:pPr>
            <a:r>
              <a:rPr lang="en-US" sz="2800" dirty="0">
                <a:highlight>
                  <a:srgbClr val="FFFF00"/>
                </a:highlight>
                <a:latin typeface="Calibir"/>
              </a:rPr>
              <a:t>        raise </a:t>
            </a:r>
            <a:r>
              <a:rPr lang="en-US" sz="2800" dirty="0" err="1">
                <a:highlight>
                  <a:srgbClr val="FFFF00"/>
                </a:highlight>
                <a:latin typeface="Calibir"/>
              </a:rPr>
              <a:t>ValueError</a:t>
            </a:r>
            <a:r>
              <a:rPr lang="en-US" sz="2800" dirty="0">
                <a:highlight>
                  <a:srgbClr val="FFFF00"/>
                </a:highlight>
                <a:latin typeface="Calibir"/>
              </a:rPr>
              <a:t>("Insufficient funds")</a:t>
            </a:r>
          </a:p>
          <a:p>
            <a:pPr>
              <a:lnSpc>
                <a:spcPct val="150000"/>
              </a:lnSpc>
            </a:pPr>
            <a:r>
              <a:rPr lang="en-US" sz="2800" dirty="0">
                <a:highlight>
                  <a:srgbClr val="FFFF00"/>
                </a:highlight>
                <a:latin typeface="Calibir"/>
              </a:rPr>
              <a:t>    </a:t>
            </a:r>
            <a:r>
              <a:rPr lang="en-US" sz="2800" dirty="0" err="1">
                <a:highlight>
                  <a:srgbClr val="FFFF00"/>
                </a:highlight>
                <a:latin typeface="Calibir"/>
              </a:rPr>
              <a:t>self.balance</a:t>
            </a:r>
            <a:r>
              <a:rPr lang="en-US" sz="2800" dirty="0">
                <a:highlight>
                  <a:srgbClr val="FFFF00"/>
                </a:highlight>
                <a:latin typeface="Calibir"/>
              </a:rPr>
              <a:t> -= amount</a:t>
            </a:r>
          </a:p>
          <a:p>
            <a:pPr>
              <a:lnSpc>
                <a:spcPct val="150000"/>
              </a:lnSpc>
            </a:pPr>
            <a:r>
              <a:rPr lang="en-US" sz="2800" dirty="0">
                <a:latin typeface="Calibir"/>
              </a:rPr>
              <a:t>Notice that withdraw() reuses: </a:t>
            </a:r>
            <a:r>
              <a:rPr lang="en-US" sz="2800" dirty="0" err="1">
                <a:highlight>
                  <a:srgbClr val="FFFF00"/>
                </a:highlight>
                <a:latin typeface="Calibir"/>
              </a:rPr>
              <a:t>self.has</a:t>
            </a:r>
            <a:r>
              <a:rPr lang="en-US" sz="2800" dirty="0">
                <a:highlight>
                  <a:srgbClr val="FFFF00"/>
                </a:highlight>
                <a:latin typeface="Calibir"/>
              </a:rPr>
              <a:t>(amount)</a:t>
            </a:r>
          </a:p>
          <a:p>
            <a:pPr>
              <a:lnSpc>
                <a:spcPct val="150000"/>
              </a:lnSpc>
            </a:pPr>
            <a:r>
              <a:rPr lang="en-US" sz="2800" dirty="0">
                <a:latin typeface="Calibir"/>
              </a:rPr>
              <a:t>instead of repeating the balance check.</a:t>
            </a:r>
          </a:p>
        </p:txBody>
      </p:sp>
    </p:spTree>
    <p:custDataLst>
      <p:tags r:id="rId1"/>
    </p:custDataLst>
    <p:extLst>
      <p:ext uri="{BB962C8B-B14F-4D97-AF65-F5344CB8AC3E}">
        <p14:creationId xmlns:p14="http://schemas.microsoft.com/office/powerpoint/2010/main" val="249157266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B3491-E896-6728-EA27-A9EF6BCA1284}"/>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BAEC7EC1-E09D-FE56-7CD0-06E574951F8C}"/>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3" name="TextBox 2">
            <a:extLst>
              <a:ext uri="{FF2B5EF4-FFF2-40B4-BE49-F238E27FC236}">
                <a16:creationId xmlns:a16="http://schemas.microsoft.com/office/drawing/2014/main" id="{84C96EEE-9B81-1BAC-9E29-76F1A5D3A193}"/>
              </a:ext>
            </a:extLst>
          </p:cNvPr>
          <p:cNvSpPr txBox="1"/>
          <p:nvPr/>
        </p:nvSpPr>
        <p:spPr>
          <a:xfrm>
            <a:off x="1860" y="0"/>
            <a:ext cx="6094140" cy="6828729"/>
          </a:xfrm>
          <a:prstGeom prst="rect">
            <a:avLst/>
          </a:prstGeom>
          <a:noFill/>
        </p:spPr>
        <p:txBody>
          <a:bodyPr wrap="square">
            <a:spAutoFit/>
          </a:bodyPr>
          <a:lstStyle/>
          <a:p>
            <a:pPr>
              <a:lnSpc>
                <a:spcPct val="150000"/>
              </a:lnSpc>
              <a:buNone/>
            </a:pPr>
            <a:r>
              <a:rPr lang="en-US" sz="2100" b="1" dirty="0">
                <a:latin typeface="Calibir"/>
              </a:rPr>
              <a:t>Step 7 — Add account information</a:t>
            </a:r>
          </a:p>
          <a:p>
            <a:pPr>
              <a:lnSpc>
                <a:spcPct val="150000"/>
              </a:lnSpc>
              <a:buNone/>
            </a:pPr>
            <a:r>
              <a:rPr lang="en-US" sz="2100" dirty="0">
                <a:latin typeface="Calibir"/>
              </a:rPr>
              <a:t>The brief gives one wording, while the sample output uses:</a:t>
            </a:r>
          </a:p>
          <a:p>
            <a:pPr rtl="0">
              <a:lnSpc>
                <a:spcPct val="150000"/>
              </a:lnSpc>
              <a:buNone/>
            </a:pPr>
            <a:r>
              <a:rPr lang="en-US" sz="2100" dirty="0">
                <a:latin typeface="Calibir"/>
              </a:rPr>
              <a:t>Savings account has $1,000.00</a:t>
            </a:r>
          </a:p>
          <a:p>
            <a:pPr>
              <a:lnSpc>
                <a:spcPct val="150000"/>
              </a:lnSpc>
              <a:buNone/>
            </a:pPr>
            <a:r>
              <a:rPr lang="en-US" sz="2100" dirty="0">
                <a:latin typeface="Calibir"/>
              </a:rPr>
              <a:t>I would follow the sample output for consistency.</a:t>
            </a:r>
          </a:p>
          <a:p>
            <a:pPr>
              <a:lnSpc>
                <a:spcPct val="150000"/>
              </a:lnSpc>
              <a:buNone/>
            </a:pPr>
            <a:r>
              <a:rPr lang="en-US" sz="2100" dirty="0">
                <a:latin typeface="Calibir"/>
              </a:rPr>
              <a:t>Python</a:t>
            </a:r>
          </a:p>
          <a:p>
            <a:pPr rtl="0">
              <a:lnSpc>
                <a:spcPct val="150000"/>
              </a:lnSpc>
              <a:buNone/>
            </a:pPr>
            <a:r>
              <a:rPr lang="en-US" sz="2100" dirty="0">
                <a:highlight>
                  <a:srgbClr val="FFFF00"/>
                </a:highlight>
                <a:latin typeface="Calibir"/>
              </a:rPr>
              <a:t>def __str__(self):</a:t>
            </a:r>
          </a:p>
          <a:p>
            <a:pPr rtl="0">
              <a:lnSpc>
                <a:spcPct val="150000"/>
              </a:lnSpc>
              <a:buNone/>
            </a:pPr>
            <a:r>
              <a:rPr lang="en-US" sz="2100" dirty="0">
                <a:highlight>
                  <a:srgbClr val="FFFF00"/>
                </a:highlight>
                <a:latin typeface="Calibir"/>
              </a:rPr>
              <a:t>    return (f"{</a:t>
            </a:r>
            <a:r>
              <a:rPr lang="en-US" sz="2100" dirty="0" err="1">
                <a:highlight>
                  <a:srgbClr val="FFFF00"/>
                </a:highlight>
                <a:latin typeface="Calibir"/>
              </a:rPr>
              <a:t>self.type</a:t>
            </a:r>
            <a:r>
              <a:rPr lang="en-US" sz="2100" dirty="0">
                <a:highlight>
                  <a:srgbClr val="FFFF00"/>
                </a:highlight>
                <a:latin typeface="Calibir"/>
              </a:rPr>
              <a:t>} account has "f"${self.balance:,.2f}")</a:t>
            </a:r>
          </a:p>
          <a:p>
            <a:pPr>
              <a:lnSpc>
                <a:spcPct val="150000"/>
              </a:lnSpc>
              <a:buNone/>
            </a:pPr>
            <a:r>
              <a:rPr lang="en-US" sz="2100" dirty="0">
                <a:latin typeface="Calibir"/>
              </a:rPr>
              <a:t>:,.2f means:</a:t>
            </a:r>
          </a:p>
          <a:p>
            <a:pPr marL="342900" lvl="0" indent="-342900">
              <a:lnSpc>
                <a:spcPct val="150000"/>
              </a:lnSpc>
              <a:buFont typeface="Arial" panose="020B0604020202020204" pitchFamily="34" charset="0"/>
              <a:buChar char="•"/>
            </a:pPr>
            <a:r>
              <a:rPr lang="en-US" sz="2100" dirty="0">
                <a:latin typeface="Calibir"/>
              </a:rPr>
              <a:t>comma separator </a:t>
            </a:r>
          </a:p>
          <a:p>
            <a:pPr marL="342900" lvl="0" indent="-342900">
              <a:lnSpc>
                <a:spcPct val="150000"/>
              </a:lnSpc>
              <a:buFont typeface="Arial" panose="020B0604020202020204" pitchFamily="34" charset="0"/>
              <a:buChar char="•"/>
            </a:pPr>
            <a:r>
              <a:rPr lang="en-US" sz="2100" dirty="0">
                <a:latin typeface="Calibir"/>
              </a:rPr>
              <a:t>two decimal places </a:t>
            </a:r>
          </a:p>
          <a:p>
            <a:pPr>
              <a:lnSpc>
                <a:spcPct val="150000"/>
              </a:lnSpc>
              <a:buNone/>
            </a:pPr>
            <a:r>
              <a:rPr lang="en-US" sz="2100" dirty="0">
                <a:latin typeface="Calibir"/>
              </a:rPr>
              <a:t>Example: 2000</a:t>
            </a:r>
          </a:p>
          <a:p>
            <a:pPr>
              <a:lnSpc>
                <a:spcPct val="150000"/>
              </a:lnSpc>
              <a:buNone/>
            </a:pPr>
            <a:r>
              <a:rPr lang="en-US" sz="2100" dirty="0">
                <a:latin typeface="Calibir"/>
              </a:rPr>
              <a:t>becomes: 2,000.00</a:t>
            </a:r>
          </a:p>
        </p:txBody>
      </p:sp>
      <p:sp>
        <p:nvSpPr>
          <p:cNvPr id="10" name="TextBox 9">
            <a:extLst>
              <a:ext uri="{FF2B5EF4-FFF2-40B4-BE49-F238E27FC236}">
                <a16:creationId xmlns:a16="http://schemas.microsoft.com/office/drawing/2014/main" id="{6E320F08-B01B-73A4-E3FF-8863420D0A8F}"/>
              </a:ext>
            </a:extLst>
          </p:cNvPr>
          <p:cNvSpPr txBox="1"/>
          <p:nvPr/>
        </p:nvSpPr>
        <p:spPr>
          <a:xfrm>
            <a:off x="6096000" y="1695496"/>
            <a:ext cx="6135328" cy="4401205"/>
          </a:xfrm>
          <a:prstGeom prst="rect">
            <a:avLst/>
          </a:prstGeom>
          <a:noFill/>
        </p:spPr>
        <p:txBody>
          <a:bodyPr wrap="square">
            <a:spAutoFit/>
          </a:bodyPr>
          <a:lstStyle/>
          <a:p>
            <a:pPr>
              <a:buNone/>
            </a:pPr>
            <a:r>
              <a:rPr lang="en-US" sz="2800" b="1" dirty="0">
                <a:latin typeface="Calibir"/>
              </a:rPr>
              <a:t>Java</a:t>
            </a:r>
          </a:p>
          <a:p>
            <a:pPr rtl="0">
              <a:buNone/>
            </a:pPr>
            <a:r>
              <a:rPr lang="en-US" sz="2800" dirty="0">
                <a:highlight>
                  <a:srgbClr val="FFFF00"/>
                </a:highlight>
                <a:latin typeface="Calibir"/>
              </a:rPr>
              <a:t>@Override</a:t>
            </a:r>
          </a:p>
          <a:p>
            <a:pPr rtl="0">
              <a:buNone/>
            </a:pPr>
            <a:r>
              <a:rPr lang="en-US" sz="2800" dirty="0">
                <a:highlight>
                  <a:srgbClr val="FFFF00"/>
                </a:highlight>
                <a:latin typeface="Calibir"/>
              </a:rPr>
              <a:t>public String </a:t>
            </a:r>
            <a:r>
              <a:rPr lang="en-US" sz="2800" dirty="0" err="1">
                <a:highlight>
                  <a:srgbClr val="FFFF00"/>
                </a:highlight>
                <a:latin typeface="Calibir"/>
              </a:rPr>
              <a:t>toString</a:t>
            </a:r>
            <a:r>
              <a:rPr lang="en-US" sz="2800" dirty="0">
                <a:highlight>
                  <a:srgbClr val="FFFF00"/>
                </a:highlight>
                <a:latin typeface="Calibir"/>
              </a:rPr>
              <a:t>() {</a:t>
            </a:r>
          </a:p>
          <a:p>
            <a:pPr rtl="0">
              <a:buNone/>
            </a:pPr>
            <a:endParaRPr lang="en-US" sz="2800" dirty="0">
              <a:highlight>
                <a:srgbClr val="FFFF00"/>
              </a:highlight>
              <a:latin typeface="Calibir"/>
            </a:endParaRPr>
          </a:p>
          <a:p>
            <a:pPr rtl="0">
              <a:buNone/>
            </a:pPr>
            <a:r>
              <a:rPr lang="en-US" sz="2800" dirty="0">
                <a:highlight>
                  <a:srgbClr val="FFFF00"/>
                </a:highlight>
                <a:latin typeface="Calibir"/>
              </a:rPr>
              <a:t>    return </a:t>
            </a:r>
            <a:r>
              <a:rPr lang="en-US" sz="2800" dirty="0" err="1">
                <a:highlight>
                  <a:srgbClr val="FFFF00"/>
                </a:highlight>
                <a:latin typeface="Calibir"/>
              </a:rPr>
              <a:t>String.format</a:t>
            </a:r>
            <a:r>
              <a:rPr lang="en-US" sz="2800" dirty="0">
                <a:highlight>
                  <a:srgbClr val="FFFF00"/>
                </a:highlight>
                <a:latin typeface="Calibir"/>
              </a:rPr>
              <a:t>(</a:t>
            </a:r>
          </a:p>
          <a:p>
            <a:pPr rtl="0">
              <a:buNone/>
            </a:pPr>
            <a:r>
              <a:rPr lang="en-US" sz="2800" dirty="0">
                <a:highlight>
                  <a:srgbClr val="FFFF00"/>
                </a:highlight>
                <a:latin typeface="Calibir"/>
              </a:rPr>
              <a:t>        "%s account has $%,.2f",</a:t>
            </a:r>
          </a:p>
          <a:p>
            <a:pPr rtl="0">
              <a:buNone/>
            </a:pPr>
            <a:r>
              <a:rPr lang="en-US" sz="2800" dirty="0">
                <a:highlight>
                  <a:srgbClr val="FFFF00"/>
                </a:highlight>
                <a:latin typeface="Calibir"/>
              </a:rPr>
              <a:t>        type,</a:t>
            </a:r>
          </a:p>
          <a:p>
            <a:pPr rtl="0">
              <a:buNone/>
            </a:pPr>
            <a:r>
              <a:rPr lang="en-US" sz="2800" dirty="0">
                <a:highlight>
                  <a:srgbClr val="FFFF00"/>
                </a:highlight>
                <a:latin typeface="Calibir"/>
              </a:rPr>
              <a:t>        balance</a:t>
            </a:r>
          </a:p>
          <a:p>
            <a:pPr rtl="0">
              <a:buNone/>
            </a:pPr>
            <a:r>
              <a:rPr lang="en-US" sz="2800" dirty="0">
                <a:highlight>
                  <a:srgbClr val="FFFF00"/>
                </a:highlight>
                <a:latin typeface="Calibir"/>
              </a:rPr>
              <a:t>    );</a:t>
            </a:r>
          </a:p>
          <a:p>
            <a:pPr rtl="0">
              <a:buNone/>
            </a:pPr>
            <a:r>
              <a:rPr lang="en-US" sz="2800" dirty="0">
                <a:highlight>
                  <a:srgbClr val="FFFF00"/>
                </a:highlight>
                <a:latin typeface="Calibir"/>
              </a:rPr>
              <a:t>}</a:t>
            </a:r>
          </a:p>
        </p:txBody>
      </p:sp>
    </p:spTree>
    <p:custDataLst>
      <p:tags r:id="rId1"/>
    </p:custDataLst>
    <p:extLst>
      <p:ext uri="{BB962C8B-B14F-4D97-AF65-F5344CB8AC3E}">
        <p14:creationId xmlns:p14="http://schemas.microsoft.com/office/powerpoint/2010/main" val="162569990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38371-CA56-4029-4B49-C3F2A3E49D5F}"/>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630CAE95-4B4F-8F8E-4630-C3143F52F83F}"/>
              </a:ext>
            </a:extLst>
          </p:cNvPr>
          <p:cNvSpPr>
            <a:spLocks noGrp="1" noChangeArrowheads="1"/>
          </p:cNvSpPr>
          <p:nvPr>
            <p:ph type="title"/>
          </p:nvPr>
        </p:nvSpPr>
        <p:spPr>
          <a:xfrm>
            <a:off x="304801" y="87924"/>
            <a:ext cx="11360800" cy="1108400"/>
          </a:xfrm>
        </p:spPr>
        <p:txBody>
          <a:bodyPr>
            <a:normAutofit fontScale="90000"/>
          </a:bodyPr>
          <a:lstStyle/>
          <a:p>
            <a:br>
              <a:rPr lang="en-US" altLang="en-US"/>
            </a:br>
            <a:br>
              <a:rPr lang="en-US" altLang="en-US"/>
            </a:br>
            <a:br>
              <a:rPr lang="en-US" altLang="en-US"/>
            </a:br>
            <a:br>
              <a:rPr lang="en-US" altLang="en-US"/>
            </a:br>
            <a:br>
              <a:rPr lang="en-US" altLang="en-US"/>
            </a:br>
            <a:br>
              <a:rPr lang="en-US" altLang="en-US"/>
            </a:br>
            <a:br>
              <a:rPr lang="en-US" altLang="en-US"/>
            </a:br>
            <a:br>
              <a:rPr lang="en-US" altLang="en-US"/>
            </a:br>
            <a:endParaRPr lang="en-US" altLang="en-US" dirty="0"/>
          </a:p>
        </p:txBody>
      </p:sp>
      <p:sp>
        <p:nvSpPr>
          <p:cNvPr id="4" name="TextBox 3">
            <a:extLst>
              <a:ext uri="{FF2B5EF4-FFF2-40B4-BE49-F238E27FC236}">
                <a16:creationId xmlns:a16="http://schemas.microsoft.com/office/drawing/2014/main" id="{DBC091B4-02A6-F05C-BDE9-68B9C44019DF}"/>
              </a:ext>
            </a:extLst>
          </p:cNvPr>
          <p:cNvSpPr txBox="1"/>
          <p:nvPr/>
        </p:nvSpPr>
        <p:spPr>
          <a:xfrm>
            <a:off x="-17206" y="0"/>
            <a:ext cx="6113206" cy="4610365"/>
          </a:xfrm>
          <a:prstGeom prst="rect">
            <a:avLst/>
          </a:prstGeom>
          <a:noFill/>
        </p:spPr>
        <p:txBody>
          <a:bodyPr wrap="square">
            <a:spAutoFit/>
          </a:bodyPr>
          <a:lstStyle/>
          <a:p>
            <a:pPr>
              <a:lnSpc>
                <a:spcPct val="150000"/>
              </a:lnSpc>
            </a:pPr>
            <a:r>
              <a:rPr lang="en-US" sz="2200" b="1" dirty="0">
                <a:latin typeface="Calibir"/>
              </a:rPr>
              <a:t>Step 8 — Account transfer </a:t>
            </a:r>
            <a:r>
              <a:rPr lang="en-US" sz="2200" b="1" dirty="0" err="1">
                <a:latin typeface="Calibir"/>
              </a:rPr>
              <a:t>behaviour</a:t>
            </a:r>
            <a:endParaRPr lang="en-US" sz="2200" b="1" dirty="0">
              <a:latin typeface="Calibir"/>
            </a:endParaRPr>
          </a:p>
          <a:p>
            <a:pPr>
              <a:lnSpc>
                <a:spcPct val="150000"/>
              </a:lnSpc>
            </a:pPr>
            <a:r>
              <a:rPr lang="en-US" sz="2200" dirty="0">
                <a:latin typeface="Calibir"/>
              </a:rPr>
              <a:t>A normal transfer would usually do this:</a:t>
            </a:r>
          </a:p>
          <a:p>
            <a:pPr>
              <a:lnSpc>
                <a:spcPct val="150000"/>
              </a:lnSpc>
            </a:pPr>
            <a:r>
              <a:rPr lang="en-US" sz="2200" dirty="0">
                <a:highlight>
                  <a:srgbClr val="FFFF00"/>
                </a:highlight>
                <a:latin typeface="Calibir"/>
              </a:rPr>
              <a:t>source balance -= amount</a:t>
            </a:r>
          </a:p>
          <a:p>
            <a:pPr>
              <a:lnSpc>
                <a:spcPct val="150000"/>
              </a:lnSpc>
            </a:pPr>
            <a:r>
              <a:rPr lang="en-US" sz="2200" dirty="0">
                <a:highlight>
                  <a:srgbClr val="FFFF00"/>
                </a:highlight>
                <a:latin typeface="Calibir"/>
              </a:rPr>
              <a:t>destination balance += amount</a:t>
            </a:r>
          </a:p>
          <a:p>
            <a:pPr>
              <a:lnSpc>
                <a:spcPct val="150000"/>
              </a:lnSpc>
            </a:pPr>
            <a:r>
              <a:rPr lang="en-US" sz="2200" dirty="0">
                <a:latin typeface="Calibir"/>
              </a:rPr>
              <a:t>But the supplied </a:t>
            </a:r>
            <a:r>
              <a:rPr lang="en-US" sz="2200" dirty="0" err="1">
                <a:latin typeface="Calibir"/>
              </a:rPr>
              <a:t>DeskBankApp</a:t>
            </a:r>
            <a:r>
              <a:rPr lang="en-US" sz="2200" dirty="0">
                <a:latin typeface="Calibir"/>
              </a:rPr>
              <a:t> example is a loan payment:</a:t>
            </a:r>
          </a:p>
          <a:p>
            <a:pPr>
              <a:lnSpc>
                <a:spcPct val="150000"/>
              </a:lnSpc>
            </a:pPr>
            <a:r>
              <a:rPr lang="en-US" sz="2200" dirty="0">
                <a:highlight>
                  <a:srgbClr val="FFFF00"/>
                </a:highlight>
                <a:latin typeface="Calibir"/>
              </a:rPr>
              <a:t>Savings decreases</a:t>
            </a:r>
          </a:p>
          <a:p>
            <a:pPr>
              <a:lnSpc>
                <a:spcPct val="150000"/>
              </a:lnSpc>
            </a:pPr>
            <a:r>
              <a:rPr lang="en-US" sz="2200" dirty="0">
                <a:highlight>
                  <a:srgbClr val="FFFF00"/>
                </a:highlight>
                <a:latin typeface="Calibir"/>
              </a:rPr>
              <a:t>Loan debt also decreases</a:t>
            </a:r>
          </a:p>
          <a:p>
            <a:pPr>
              <a:lnSpc>
                <a:spcPct val="150000"/>
              </a:lnSpc>
            </a:pPr>
            <a:r>
              <a:rPr lang="en-US" sz="2200" dirty="0">
                <a:latin typeface="Calibir"/>
              </a:rPr>
              <a:t>Therefore, for this lab we can define:</a:t>
            </a:r>
          </a:p>
        </p:txBody>
      </p:sp>
      <p:sp>
        <p:nvSpPr>
          <p:cNvPr id="6" name="TextBox 5">
            <a:extLst>
              <a:ext uri="{FF2B5EF4-FFF2-40B4-BE49-F238E27FC236}">
                <a16:creationId xmlns:a16="http://schemas.microsoft.com/office/drawing/2014/main" id="{9D3CDFD6-D7FF-02CA-1BD4-17050C1BADD0}"/>
              </a:ext>
            </a:extLst>
          </p:cNvPr>
          <p:cNvSpPr txBox="1"/>
          <p:nvPr/>
        </p:nvSpPr>
        <p:spPr>
          <a:xfrm>
            <a:off x="5855110" y="0"/>
            <a:ext cx="6280167" cy="4102533"/>
          </a:xfrm>
          <a:prstGeom prst="rect">
            <a:avLst/>
          </a:prstGeom>
          <a:noFill/>
        </p:spPr>
        <p:txBody>
          <a:bodyPr wrap="square">
            <a:spAutoFit/>
          </a:bodyPr>
          <a:lstStyle/>
          <a:p>
            <a:pPr>
              <a:lnSpc>
                <a:spcPct val="150000"/>
              </a:lnSpc>
            </a:pPr>
            <a:r>
              <a:rPr lang="en-US" sz="2200" dirty="0">
                <a:latin typeface="Calibir"/>
              </a:rPr>
              <a:t>Python</a:t>
            </a:r>
          </a:p>
          <a:p>
            <a:pPr>
              <a:lnSpc>
                <a:spcPct val="150000"/>
              </a:lnSpc>
            </a:pPr>
            <a:r>
              <a:rPr lang="en-US" sz="2200" dirty="0">
                <a:highlight>
                  <a:srgbClr val="FFFF00"/>
                </a:highlight>
                <a:latin typeface="Calibir"/>
              </a:rPr>
              <a:t>def </a:t>
            </a:r>
            <a:r>
              <a:rPr lang="en-US" sz="2200" dirty="0" err="1">
                <a:highlight>
                  <a:srgbClr val="FFFF00"/>
                </a:highlight>
                <a:latin typeface="Calibir"/>
              </a:rPr>
              <a:t>transfer_to_loan</a:t>
            </a:r>
            <a:r>
              <a:rPr lang="en-US" sz="2200" dirty="0">
                <a:highlight>
                  <a:srgbClr val="FFFF00"/>
                </a:highlight>
                <a:latin typeface="Calibir"/>
              </a:rPr>
              <a:t>(self, amount, </a:t>
            </a:r>
            <a:r>
              <a:rPr lang="en-US" sz="2200" dirty="0" err="1">
                <a:highlight>
                  <a:srgbClr val="FFFF00"/>
                </a:highlight>
                <a:latin typeface="Calibir"/>
              </a:rPr>
              <a:t>loan_account</a:t>
            </a:r>
            <a:r>
              <a:rPr lang="en-US" sz="2200" dirty="0">
                <a:highlight>
                  <a:srgbClr val="FFFF00"/>
                </a:highlight>
                <a:latin typeface="Calibir"/>
              </a:rPr>
              <a:t>):</a:t>
            </a:r>
          </a:p>
          <a:p>
            <a:pPr>
              <a:lnSpc>
                <a:spcPct val="150000"/>
              </a:lnSpc>
            </a:pPr>
            <a:r>
              <a:rPr lang="en-US" sz="2200" dirty="0">
                <a:highlight>
                  <a:srgbClr val="FFFF00"/>
                </a:highlight>
                <a:latin typeface="Calibir"/>
              </a:rPr>
              <a:t>    if not </a:t>
            </a:r>
            <a:r>
              <a:rPr lang="en-US" sz="2200" dirty="0" err="1">
                <a:highlight>
                  <a:srgbClr val="FFFF00"/>
                </a:highlight>
                <a:latin typeface="Calibir"/>
              </a:rPr>
              <a:t>self.has</a:t>
            </a:r>
            <a:r>
              <a:rPr lang="en-US" sz="2200" dirty="0">
                <a:highlight>
                  <a:srgbClr val="FFFF00"/>
                </a:highlight>
                <a:latin typeface="Calibir"/>
              </a:rPr>
              <a:t>(amount):</a:t>
            </a:r>
          </a:p>
          <a:p>
            <a:pPr>
              <a:lnSpc>
                <a:spcPct val="150000"/>
              </a:lnSpc>
            </a:pPr>
            <a:r>
              <a:rPr lang="en-US" sz="2200" dirty="0">
                <a:highlight>
                  <a:srgbClr val="FFFF00"/>
                </a:highlight>
                <a:latin typeface="Calibir"/>
              </a:rPr>
              <a:t>        raise </a:t>
            </a:r>
            <a:r>
              <a:rPr lang="en-US" sz="2200" dirty="0" err="1">
                <a:highlight>
                  <a:srgbClr val="FFFF00"/>
                </a:highlight>
                <a:latin typeface="Calibir"/>
              </a:rPr>
              <a:t>ValueError</a:t>
            </a:r>
            <a:r>
              <a:rPr lang="en-US" sz="2200" dirty="0">
                <a:highlight>
                  <a:srgbClr val="FFFF00"/>
                </a:highlight>
                <a:latin typeface="Calibir"/>
              </a:rPr>
              <a:t>("Insufficient funds")</a:t>
            </a:r>
          </a:p>
          <a:p>
            <a:pPr>
              <a:lnSpc>
                <a:spcPct val="150000"/>
              </a:lnSpc>
            </a:pPr>
            <a:r>
              <a:rPr lang="en-US" sz="2200" dirty="0">
                <a:highlight>
                  <a:srgbClr val="FFFF00"/>
                </a:highlight>
                <a:latin typeface="Calibir"/>
              </a:rPr>
              <a:t>    if not </a:t>
            </a:r>
            <a:r>
              <a:rPr lang="en-US" sz="2200" dirty="0" err="1">
                <a:highlight>
                  <a:srgbClr val="FFFF00"/>
                </a:highlight>
                <a:latin typeface="Calibir"/>
              </a:rPr>
              <a:t>loan_account.has</a:t>
            </a:r>
            <a:r>
              <a:rPr lang="en-US" sz="2200" dirty="0">
                <a:highlight>
                  <a:srgbClr val="FFFF00"/>
                </a:highlight>
                <a:latin typeface="Calibir"/>
              </a:rPr>
              <a:t>(amount):</a:t>
            </a:r>
          </a:p>
          <a:p>
            <a:pPr>
              <a:lnSpc>
                <a:spcPct val="150000"/>
              </a:lnSpc>
            </a:pPr>
            <a:r>
              <a:rPr lang="en-US" sz="2200" dirty="0">
                <a:highlight>
                  <a:srgbClr val="FFFF00"/>
                </a:highlight>
                <a:latin typeface="Calibir"/>
              </a:rPr>
              <a:t>        raise </a:t>
            </a:r>
            <a:r>
              <a:rPr lang="en-US" sz="2200" dirty="0" err="1">
                <a:highlight>
                  <a:srgbClr val="FFFF00"/>
                </a:highlight>
                <a:latin typeface="Calibir"/>
              </a:rPr>
              <a:t>ValueError</a:t>
            </a:r>
            <a:r>
              <a:rPr lang="en-US" sz="2200" dirty="0">
                <a:highlight>
                  <a:srgbClr val="FFFF00"/>
                </a:highlight>
                <a:latin typeface="Calibir"/>
              </a:rPr>
              <a:t>("Transfer exceeds loan balance")</a:t>
            </a:r>
          </a:p>
          <a:p>
            <a:pPr>
              <a:lnSpc>
                <a:spcPct val="150000"/>
              </a:lnSpc>
            </a:pPr>
            <a:r>
              <a:rPr lang="en-US" sz="2200" dirty="0">
                <a:highlight>
                  <a:srgbClr val="FFFF00"/>
                </a:highlight>
                <a:latin typeface="Calibir"/>
              </a:rPr>
              <a:t>    </a:t>
            </a:r>
            <a:r>
              <a:rPr lang="en-US" sz="2200" dirty="0" err="1">
                <a:highlight>
                  <a:srgbClr val="FFFF00"/>
                </a:highlight>
                <a:latin typeface="Calibir"/>
              </a:rPr>
              <a:t>self.withdraw</a:t>
            </a:r>
            <a:r>
              <a:rPr lang="en-US" sz="2200" dirty="0">
                <a:highlight>
                  <a:srgbClr val="FFFF00"/>
                </a:highlight>
                <a:latin typeface="Calibir"/>
              </a:rPr>
              <a:t>(amount)</a:t>
            </a:r>
          </a:p>
          <a:p>
            <a:pPr>
              <a:lnSpc>
                <a:spcPct val="150000"/>
              </a:lnSpc>
            </a:pPr>
            <a:r>
              <a:rPr lang="en-US" sz="2200" dirty="0">
                <a:highlight>
                  <a:srgbClr val="FFFF00"/>
                </a:highlight>
                <a:latin typeface="Calibir"/>
              </a:rPr>
              <a:t>    </a:t>
            </a:r>
            <a:r>
              <a:rPr lang="en-US" sz="2200" dirty="0" err="1">
                <a:highlight>
                  <a:srgbClr val="FFFF00"/>
                </a:highlight>
                <a:latin typeface="Calibir"/>
              </a:rPr>
              <a:t>loan_account.withdraw</a:t>
            </a:r>
            <a:r>
              <a:rPr lang="en-US" sz="2200" dirty="0">
                <a:highlight>
                  <a:srgbClr val="FFFF00"/>
                </a:highlight>
                <a:latin typeface="Calibir"/>
              </a:rPr>
              <a:t>(amount)</a:t>
            </a:r>
          </a:p>
        </p:txBody>
      </p:sp>
    </p:spTree>
    <p:custDataLst>
      <p:tags r:id="rId1"/>
    </p:custDataLst>
    <p:extLst>
      <p:ext uri="{BB962C8B-B14F-4D97-AF65-F5344CB8AC3E}">
        <p14:creationId xmlns:p14="http://schemas.microsoft.com/office/powerpoint/2010/main" val="27547540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E1AEB-6C87-58F7-C20B-E15F32BF6708}"/>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A8F2E75B-C204-6645-4866-E5B8D483CAFE}"/>
              </a:ext>
            </a:extLst>
          </p:cNvPr>
          <p:cNvSpPr>
            <a:spLocks noGrp="1" noChangeArrowheads="1"/>
          </p:cNvSpPr>
          <p:nvPr>
            <p:ph type="title"/>
          </p:nvPr>
        </p:nvSpPr>
        <p:spPr>
          <a:xfrm>
            <a:off x="304801" y="87924"/>
            <a:ext cx="11360800" cy="1108400"/>
          </a:xfrm>
        </p:spPr>
        <p:txBody>
          <a:bodyPr>
            <a:normAutofit fontScale="90000"/>
          </a:bodyPr>
          <a:lstStyle/>
          <a:p>
            <a:br>
              <a:rPr lang="en-US" altLang="en-US"/>
            </a:br>
            <a:br>
              <a:rPr lang="en-US" altLang="en-US"/>
            </a:br>
            <a:br>
              <a:rPr lang="en-US" altLang="en-US"/>
            </a:br>
            <a:br>
              <a:rPr lang="en-US" altLang="en-US"/>
            </a:br>
            <a:br>
              <a:rPr lang="en-US" altLang="en-US"/>
            </a:br>
            <a:br>
              <a:rPr lang="en-US" altLang="en-US"/>
            </a:br>
            <a:br>
              <a:rPr lang="en-US" altLang="en-US"/>
            </a:br>
            <a:br>
              <a:rPr lang="en-US" altLang="en-US"/>
            </a:br>
            <a:endParaRPr lang="en-US" altLang="en-US" dirty="0"/>
          </a:p>
        </p:txBody>
      </p:sp>
      <p:sp>
        <p:nvSpPr>
          <p:cNvPr id="3" name="TextBox 2">
            <a:extLst>
              <a:ext uri="{FF2B5EF4-FFF2-40B4-BE49-F238E27FC236}">
                <a16:creationId xmlns:a16="http://schemas.microsoft.com/office/drawing/2014/main" id="{B4106B28-E883-BE2C-1A49-DF9816552700}"/>
              </a:ext>
            </a:extLst>
          </p:cNvPr>
          <p:cNvSpPr txBox="1"/>
          <p:nvPr/>
        </p:nvSpPr>
        <p:spPr>
          <a:xfrm>
            <a:off x="7680222" y="58846"/>
            <a:ext cx="4511778" cy="6740307"/>
          </a:xfrm>
          <a:prstGeom prst="rect">
            <a:avLst/>
          </a:prstGeom>
          <a:noFill/>
        </p:spPr>
        <p:txBody>
          <a:bodyPr wrap="square">
            <a:spAutoFit/>
          </a:bodyPr>
          <a:lstStyle/>
          <a:p>
            <a:pPr>
              <a:buNone/>
            </a:pPr>
            <a:r>
              <a:rPr lang="en-US" b="1" dirty="0">
                <a:latin typeface="Calibir"/>
              </a:rPr>
              <a:t>Java</a:t>
            </a:r>
          </a:p>
          <a:p>
            <a:pPr rtl="0">
              <a:buNone/>
            </a:pPr>
            <a:r>
              <a:rPr lang="en-US" dirty="0">
                <a:highlight>
                  <a:srgbClr val="FFFF00"/>
                </a:highlight>
                <a:latin typeface="Calibir"/>
              </a:rPr>
              <a:t>public void </a:t>
            </a:r>
            <a:r>
              <a:rPr lang="en-US" dirty="0" err="1">
                <a:highlight>
                  <a:srgbClr val="FFFF00"/>
                </a:highlight>
                <a:latin typeface="Calibir"/>
              </a:rPr>
              <a:t>transferToLoan</a:t>
            </a:r>
            <a:r>
              <a:rPr lang="en-US" dirty="0">
                <a:highlight>
                  <a:srgbClr val="FFFF00"/>
                </a:highlight>
                <a:latin typeface="Calibir"/>
              </a:rPr>
              <a:t>(</a:t>
            </a:r>
          </a:p>
          <a:p>
            <a:pPr rtl="0">
              <a:buNone/>
            </a:pPr>
            <a:r>
              <a:rPr lang="en-US" dirty="0">
                <a:highlight>
                  <a:srgbClr val="FFFF00"/>
                </a:highlight>
                <a:latin typeface="Calibir"/>
              </a:rPr>
              <a:t>        double amount,</a:t>
            </a:r>
          </a:p>
          <a:p>
            <a:pPr rtl="0">
              <a:buNone/>
            </a:pPr>
            <a:r>
              <a:rPr lang="en-US" dirty="0">
                <a:highlight>
                  <a:srgbClr val="FFFF00"/>
                </a:highlight>
                <a:latin typeface="Calibir"/>
              </a:rPr>
              <a:t>        Account </a:t>
            </a:r>
            <a:r>
              <a:rPr lang="en-US" dirty="0" err="1">
                <a:highlight>
                  <a:srgbClr val="FFFF00"/>
                </a:highlight>
                <a:latin typeface="Calibir"/>
              </a:rPr>
              <a:t>loanAccount</a:t>
            </a:r>
            <a:r>
              <a:rPr lang="en-US" dirty="0">
                <a:highlight>
                  <a:srgbClr val="FFFF00"/>
                </a:highlight>
                <a:latin typeface="Calibir"/>
              </a:rPr>
              <a:t>) {</a:t>
            </a:r>
          </a:p>
          <a:p>
            <a:pPr rtl="0">
              <a:buNone/>
            </a:pPr>
            <a:endParaRPr lang="en-US" dirty="0">
              <a:highlight>
                <a:srgbClr val="FFFF00"/>
              </a:highlight>
              <a:latin typeface="Calibir"/>
            </a:endParaRPr>
          </a:p>
          <a:p>
            <a:pPr rtl="0">
              <a:buNone/>
            </a:pPr>
            <a:r>
              <a:rPr lang="en-US" dirty="0">
                <a:highlight>
                  <a:srgbClr val="FFFF00"/>
                </a:highlight>
                <a:latin typeface="Calibir"/>
              </a:rPr>
              <a:t>    if (!has(amount)) {</a:t>
            </a:r>
          </a:p>
          <a:p>
            <a:pPr rtl="0">
              <a:buNone/>
            </a:pPr>
            <a:endParaRPr lang="en-US" dirty="0">
              <a:highlight>
                <a:srgbClr val="FFFF00"/>
              </a:highlight>
              <a:latin typeface="Calibir"/>
            </a:endParaRPr>
          </a:p>
          <a:p>
            <a:pPr rtl="0">
              <a:buNone/>
            </a:pPr>
            <a:r>
              <a:rPr lang="en-US" dirty="0">
                <a:highlight>
                  <a:srgbClr val="FFFF00"/>
                </a:highlight>
                <a:latin typeface="Calibir"/>
              </a:rPr>
              <a:t>        throw new </a:t>
            </a:r>
            <a:r>
              <a:rPr lang="en-US" dirty="0" err="1">
                <a:highlight>
                  <a:srgbClr val="FFFF00"/>
                </a:highlight>
                <a:latin typeface="Calibir"/>
              </a:rPr>
              <a:t>IllegalArgumentException</a:t>
            </a:r>
            <a:r>
              <a:rPr lang="en-US" dirty="0">
                <a:highlight>
                  <a:srgbClr val="FFFF00"/>
                </a:highlight>
                <a:latin typeface="Calibir"/>
              </a:rPr>
              <a:t>(</a:t>
            </a:r>
          </a:p>
          <a:p>
            <a:pPr rtl="0">
              <a:buNone/>
            </a:pPr>
            <a:r>
              <a:rPr lang="en-US" dirty="0">
                <a:highlight>
                  <a:srgbClr val="FFFF00"/>
                </a:highlight>
                <a:latin typeface="Calibir"/>
              </a:rPr>
              <a:t>            "Insufficient funds"</a:t>
            </a:r>
          </a:p>
          <a:p>
            <a:pPr rtl="0">
              <a:buNone/>
            </a:pPr>
            <a:r>
              <a:rPr lang="en-US" dirty="0">
                <a:highlight>
                  <a:srgbClr val="FFFF00"/>
                </a:highlight>
                <a:latin typeface="Calibir"/>
              </a:rPr>
              <a:t>        );</a:t>
            </a:r>
          </a:p>
          <a:p>
            <a:pPr rtl="0">
              <a:buNone/>
            </a:pPr>
            <a:r>
              <a:rPr lang="en-US" dirty="0">
                <a:highlight>
                  <a:srgbClr val="FFFF00"/>
                </a:highlight>
                <a:latin typeface="Calibir"/>
              </a:rPr>
              <a:t>    }</a:t>
            </a:r>
          </a:p>
          <a:p>
            <a:pPr rtl="0">
              <a:buNone/>
            </a:pPr>
            <a:endParaRPr lang="en-US" dirty="0">
              <a:highlight>
                <a:srgbClr val="FFFF00"/>
              </a:highlight>
              <a:latin typeface="Calibir"/>
            </a:endParaRPr>
          </a:p>
          <a:p>
            <a:pPr rtl="0">
              <a:buNone/>
            </a:pPr>
            <a:r>
              <a:rPr lang="en-US" dirty="0">
                <a:highlight>
                  <a:srgbClr val="FFFF00"/>
                </a:highlight>
                <a:latin typeface="Calibir"/>
              </a:rPr>
              <a:t>    if (!</a:t>
            </a:r>
            <a:r>
              <a:rPr lang="en-US" dirty="0" err="1">
                <a:highlight>
                  <a:srgbClr val="FFFF00"/>
                </a:highlight>
                <a:latin typeface="Calibir"/>
              </a:rPr>
              <a:t>loanAccount.has</a:t>
            </a:r>
            <a:r>
              <a:rPr lang="en-US" dirty="0">
                <a:highlight>
                  <a:srgbClr val="FFFF00"/>
                </a:highlight>
                <a:latin typeface="Calibir"/>
              </a:rPr>
              <a:t>(amount)) {</a:t>
            </a:r>
          </a:p>
          <a:p>
            <a:pPr rtl="0">
              <a:buNone/>
            </a:pPr>
            <a:endParaRPr lang="en-US" dirty="0">
              <a:highlight>
                <a:srgbClr val="FFFF00"/>
              </a:highlight>
              <a:latin typeface="Calibir"/>
            </a:endParaRPr>
          </a:p>
          <a:p>
            <a:pPr rtl="0">
              <a:buNone/>
            </a:pPr>
            <a:r>
              <a:rPr lang="en-US" dirty="0">
                <a:highlight>
                  <a:srgbClr val="FFFF00"/>
                </a:highlight>
                <a:latin typeface="Calibir"/>
              </a:rPr>
              <a:t>        throw new </a:t>
            </a:r>
            <a:r>
              <a:rPr lang="en-US" dirty="0" err="1">
                <a:highlight>
                  <a:srgbClr val="FFFF00"/>
                </a:highlight>
                <a:latin typeface="Calibir"/>
              </a:rPr>
              <a:t>IllegalArgumentException</a:t>
            </a:r>
            <a:r>
              <a:rPr lang="en-US" dirty="0">
                <a:highlight>
                  <a:srgbClr val="FFFF00"/>
                </a:highlight>
                <a:latin typeface="Calibir"/>
              </a:rPr>
              <a:t>(</a:t>
            </a:r>
          </a:p>
          <a:p>
            <a:pPr rtl="0">
              <a:buNone/>
            </a:pPr>
            <a:r>
              <a:rPr lang="en-US" dirty="0">
                <a:highlight>
                  <a:srgbClr val="FFFF00"/>
                </a:highlight>
                <a:latin typeface="Calibir"/>
              </a:rPr>
              <a:t>            "Transfer exceeds loan balance"</a:t>
            </a:r>
          </a:p>
          <a:p>
            <a:pPr rtl="0">
              <a:buNone/>
            </a:pPr>
            <a:r>
              <a:rPr lang="en-US" dirty="0">
                <a:highlight>
                  <a:srgbClr val="FFFF00"/>
                </a:highlight>
                <a:latin typeface="Calibir"/>
              </a:rPr>
              <a:t>        );</a:t>
            </a:r>
          </a:p>
          <a:p>
            <a:pPr rtl="0">
              <a:buNone/>
            </a:pPr>
            <a:r>
              <a:rPr lang="en-US" dirty="0">
                <a:highlight>
                  <a:srgbClr val="FFFF00"/>
                </a:highlight>
                <a:latin typeface="Calibir"/>
              </a:rPr>
              <a:t>    }</a:t>
            </a:r>
          </a:p>
          <a:p>
            <a:pPr rtl="0">
              <a:buNone/>
            </a:pPr>
            <a:endParaRPr lang="en-US" dirty="0">
              <a:highlight>
                <a:srgbClr val="FFFF00"/>
              </a:highlight>
              <a:latin typeface="Calibir"/>
            </a:endParaRPr>
          </a:p>
          <a:p>
            <a:pPr rtl="0">
              <a:buNone/>
            </a:pPr>
            <a:r>
              <a:rPr lang="en-US" dirty="0">
                <a:highlight>
                  <a:srgbClr val="FFFF00"/>
                </a:highlight>
                <a:latin typeface="Calibir"/>
              </a:rPr>
              <a:t>    withdraw(amount);</a:t>
            </a:r>
          </a:p>
          <a:p>
            <a:pPr rtl="0">
              <a:buNone/>
            </a:pPr>
            <a:endParaRPr lang="en-US" dirty="0">
              <a:highlight>
                <a:srgbClr val="FFFF00"/>
              </a:highlight>
              <a:latin typeface="Calibir"/>
            </a:endParaRPr>
          </a:p>
          <a:p>
            <a:pPr rtl="0">
              <a:buNone/>
            </a:pPr>
            <a:r>
              <a:rPr lang="en-US" dirty="0">
                <a:highlight>
                  <a:srgbClr val="FFFF00"/>
                </a:highlight>
                <a:latin typeface="Calibir"/>
              </a:rPr>
              <a:t>    </a:t>
            </a:r>
            <a:r>
              <a:rPr lang="en-US" dirty="0" err="1">
                <a:highlight>
                  <a:srgbClr val="FFFF00"/>
                </a:highlight>
                <a:latin typeface="Calibir"/>
              </a:rPr>
              <a:t>loanAccount.withdraw</a:t>
            </a:r>
            <a:r>
              <a:rPr lang="en-US" dirty="0">
                <a:highlight>
                  <a:srgbClr val="FFFF00"/>
                </a:highlight>
                <a:latin typeface="Calibir"/>
              </a:rPr>
              <a:t>(amount);</a:t>
            </a:r>
          </a:p>
          <a:p>
            <a:pPr rtl="0">
              <a:buNone/>
            </a:pPr>
            <a:r>
              <a:rPr lang="en-US" dirty="0">
                <a:highlight>
                  <a:srgbClr val="FFFF00"/>
                </a:highlight>
                <a:latin typeface="Calibir"/>
              </a:rPr>
              <a:t>}</a:t>
            </a:r>
          </a:p>
          <a:p>
            <a:pPr>
              <a:buNone/>
            </a:pPr>
            <a:r>
              <a:rPr lang="en-US" dirty="0">
                <a:latin typeface="Calibir"/>
              </a:rPr>
              <a:t>That matches the supplied example.</a:t>
            </a:r>
          </a:p>
        </p:txBody>
      </p:sp>
      <p:sp>
        <p:nvSpPr>
          <p:cNvPr id="7" name="Title 1">
            <a:extLst>
              <a:ext uri="{FF2B5EF4-FFF2-40B4-BE49-F238E27FC236}">
                <a16:creationId xmlns:a16="http://schemas.microsoft.com/office/drawing/2014/main" id="{38D436D0-5325-9616-0C57-C16C7D382A15}"/>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Tree>
    <p:custDataLst>
      <p:tags r:id="rId1"/>
    </p:custDataLst>
    <p:extLst>
      <p:ext uri="{BB962C8B-B14F-4D97-AF65-F5344CB8AC3E}">
        <p14:creationId xmlns:p14="http://schemas.microsoft.com/office/powerpoint/2010/main" val="172581370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621A3-37DB-AECD-34F9-58107376D747}"/>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9A8E60D2-C108-1459-BCFA-F2A448B64A1E}"/>
              </a:ext>
            </a:extLst>
          </p:cNvPr>
          <p:cNvSpPr>
            <a:spLocks noGrp="1" noChangeArrowheads="1"/>
          </p:cNvSpPr>
          <p:nvPr>
            <p:ph type="title"/>
          </p:nvPr>
        </p:nvSpPr>
        <p:spPr>
          <a:xfrm>
            <a:off x="304801" y="87924"/>
            <a:ext cx="11360800" cy="1108400"/>
          </a:xfrm>
        </p:spPr>
        <p:txBody>
          <a:bodyPr>
            <a:normAutofit fontScale="90000"/>
          </a:bodyPr>
          <a:lstStyle/>
          <a:p>
            <a:br>
              <a:rPr lang="en-US" altLang="en-US"/>
            </a:br>
            <a:br>
              <a:rPr lang="en-US" altLang="en-US"/>
            </a:br>
            <a:br>
              <a:rPr lang="en-US" altLang="en-US"/>
            </a:br>
            <a:br>
              <a:rPr lang="en-US" altLang="en-US"/>
            </a:br>
            <a:br>
              <a:rPr lang="en-US" altLang="en-US"/>
            </a:br>
            <a:br>
              <a:rPr lang="en-US" altLang="en-US"/>
            </a:br>
            <a:br>
              <a:rPr lang="en-US" altLang="en-US"/>
            </a:br>
            <a:br>
              <a:rPr lang="en-US" altLang="en-US"/>
            </a:br>
            <a:endParaRPr lang="en-US" altLang="en-US" dirty="0"/>
          </a:p>
        </p:txBody>
      </p:sp>
      <p:sp>
        <p:nvSpPr>
          <p:cNvPr id="4" name="TextBox 3">
            <a:extLst>
              <a:ext uri="{FF2B5EF4-FFF2-40B4-BE49-F238E27FC236}">
                <a16:creationId xmlns:a16="http://schemas.microsoft.com/office/drawing/2014/main" id="{E8888C0A-57DB-D066-FD09-2A15043BCBDD}"/>
              </a:ext>
            </a:extLst>
          </p:cNvPr>
          <p:cNvSpPr txBox="1"/>
          <p:nvPr/>
        </p:nvSpPr>
        <p:spPr>
          <a:xfrm>
            <a:off x="0" y="7943"/>
            <a:ext cx="6201696" cy="6740307"/>
          </a:xfrm>
          <a:prstGeom prst="rect">
            <a:avLst/>
          </a:prstGeom>
          <a:noFill/>
        </p:spPr>
        <p:txBody>
          <a:bodyPr wrap="square">
            <a:spAutoFit/>
          </a:bodyPr>
          <a:lstStyle/>
          <a:p>
            <a:pPr>
              <a:buNone/>
            </a:pPr>
            <a:r>
              <a:rPr lang="en-US" sz="1200" b="1" dirty="0">
                <a:latin typeface="Calibir"/>
              </a:rPr>
              <a:t>Completed Account Class — Python</a:t>
            </a:r>
          </a:p>
          <a:p>
            <a:pPr rtl="0">
              <a:buNone/>
            </a:pPr>
            <a:r>
              <a:rPr lang="en-US" sz="1000" dirty="0">
                <a:highlight>
                  <a:srgbClr val="FFFF00"/>
                </a:highlight>
                <a:latin typeface="Calibir"/>
              </a:rPr>
              <a:t>class Account:</a:t>
            </a:r>
          </a:p>
          <a:p>
            <a:pPr rtl="0">
              <a:buNone/>
            </a:pPr>
            <a:r>
              <a:rPr lang="en-US" sz="1000" dirty="0">
                <a:highlight>
                  <a:srgbClr val="FFFF00"/>
                </a:highlight>
                <a:latin typeface="Calibir"/>
              </a:rPr>
              <a:t>    def __</a:t>
            </a:r>
            <a:r>
              <a:rPr lang="en-US" sz="1000" dirty="0" err="1">
                <a:highlight>
                  <a:srgbClr val="FFFF00"/>
                </a:highlight>
                <a:latin typeface="Calibir"/>
              </a:rPr>
              <a:t>init</a:t>
            </a:r>
            <a:r>
              <a:rPr lang="en-US" sz="1000" dirty="0">
                <a:highlight>
                  <a:srgbClr val="FFFF00"/>
                </a:highlight>
                <a:latin typeface="Calibir"/>
              </a:rPr>
              <a:t>__(self, </a:t>
            </a:r>
            <a:r>
              <a:rPr lang="en-US" sz="1000" dirty="0" err="1">
                <a:highlight>
                  <a:srgbClr val="FFFF00"/>
                </a:highlight>
                <a:latin typeface="Calibir"/>
              </a:rPr>
              <a:t>account_type</a:t>
            </a:r>
            <a:r>
              <a:rPr lang="en-US" sz="1000" dirty="0">
                <a:highlight>
                  <a:srgbClr val="FFFF00"/>
                </a:highlight>
                <a:latin typeface="Calibir"/>
              </a:rPr>
              <a:t>):</a:t>
            </a:r>
          </a:p>
          <a:p>
            <a:pPr rtl="0">
              <a:buNone/>
            </a:pPr>
            <a:r>
              <a:rPr lang="en-US" sz="1000" dirty="0">
                <a:highlight>
                  <a:srgbClr val="FFFF00"/>
                </a:highlight>
                <a:latin typeface="Calibir"/>
              </a:rPr>
              <a:t>        </a:t>
            </a:r>
            <a:r>
              <a:rPr lang="en-US" sz="1000" dirty="0" err="1">
                <a:highlight>
                  <a:srgbClr val="FFFF00"/>
                </a:highlight>
                <a:latin typeface="Calibir"/>
              </a:rPr>
              <a:t>self.type</a:t>
            </a:r>
            <a:r>
              <a:rPr lang="en-US" sz="1000" dirty="0">
                <a:highlight>
                  <a:srgbClr val="FFFF00"/>
                </a:highlight>
                <a:latin typeface="Calibir"/>
              </a:rPr>
              <a:t> = </a:t>
            </a:r>
            <a:r>
              <a:rPr lang="en-US" sz="1000" dirty="0" err="1">
                <a:highlight>
                  <a:srgbClr val="FFFF00"/>
                </a:highlight>
                <a:latin typeface="Calibir"/>
              </a:rPr>
              <a:t>account_type</a:t>
            </a:r>
            <a:endParaRPr lang="en-US" sz="1000" dirty="0">
              <a:highlight>
                <a:srgbClr val="FFFF00"/>
              </a:highlight>
              <a:latin typeface="Calibir"/>
            </a:endParaRPr>
          </a:p>
          <a:p>
            <a:pPr rtl="0">
              <a:buNone/>
            </a:pPr>
            <a:r>
              <a:rPr lang="en-US" sz="1000" dirty="0">
                <a:highlight>
                  <a:srgbClr val="FFFF00"/>
                </a:highlight>
                <a:latin typeface="Calibir"/>
              </a:rPr>
              <a:t>        </a:t>
            </a:r>
            <a:r>
              <a:rPr lang="en-US" sz="1000" dirty="0" err="1">
                <a:highlight>
                  <a:srgbClr val="FFFF00"/>
                </a:highlight>
                <a:latin typeface="Calibir"/>
              </a:rPr>
              <a:t>self.balance</a:t>
            </a:r>
            <a:r>
              <a:rPr lang="en-US" sz="1000" dirty="0">
                <a:highlight>
                  <a:srgbClr val="FFFF00"/>
                </a:highlight>
                <a:latin typeface="Calibir"/>
              </a:rPr>
              <a:t> = (</a:t>
            </a:r>
          </a:p>
          <a:p>
            <a:pPr rtl="0">
              <a:buNone/>
            </a:pPr>
            <a:r>
              <a:rPr lang="en-US" sz="1000" dirty="0">
                <a:highlight>
                  <a:srgbClr val="FFFF00"/>
                </a:highlight>
                <a:latin typeface="Calibir"/>
              </a:rPr>
              <a:t>            </a:t>
            </a:r>
            <a:r>
              <a:rPr lang="en-US" sz="1000" dirty="0" err="1">
                <a:highlight>
                  <a:srgbClr val="FFFF00"/>
                </a:highlight>
                <a:latin typeface="Calibir"/>
              </a:rPr>
              <a:t>self.read_initial_balance</a:t>
            </a:r>
            <a:r>
              <a:rPr lang="en-US" sz="1000" dirty="0">
                <a:highlight>
                  <a:srgbClr val="FFFF00"/>
                </a:highlight>
                <a:latin typeface="Calibir"/>
              </a:rPr>
              <a:t>()</a:t>
            </a:r>
          </a:p>
          <a:p>
            <a:pPr rtl="0">
              <a:buNone/>
            </a:pPr>
            <a:r>
              <a:rPr lang="en-US" sz="1000" dirty="0">
                <a:highlight>
                  <a:srgbClr val="FFFF00"/>
                </a:highlight>
                <a:latin typeface="Calibir"/>
              </a:rPr>
              <a:t>        )</a:t>
            </a:r>
          </a:p>
          <a:p>
            <a:pPr rtl="0">
              <a:buNone/>
            </a:pPr>
            <a:r>
              <a:rPr lang="en-US" sz="1000" dirty="0">
                <a:highlight>
                  <a:srgbClr val="FFFF00"/>
                </a:highlight>
                <a:latin typeface="Calibir"/>
              </a:rPr>
              <a:t>    def </a:t>
            </a:r>
            <a:r>
              <a:rPr lang="en-US" sz="1000" dirty="0" err="1">
                <a:highlight>
                  <a:srgbClr val="FFFF00"/>
                </a:highlight>
                <a:latin typeface="Calibir"/>
              </a:rPr>
              <a:t>read_initial_balance</a:t>
            </a:r>
            <a:r>
              <a:rPr lang="en-US" sz="1000" dirty="0">
                <a:highlight>
                  <a:srgbClr val="FFFF00"/>
                </a:highlight>
                <a:latin typeface="Calibir"/>
              </a:rPr>
              <a:t>(self):</a:t>
            </a:r>
          </a:p>
          <a:p>
            <a:pPr rtl="0">
              <a:buNone/>
            </a:pPr>
            <a:r>
              <a:rPr lang="en-US" sz="1000" dirty="0">
                <a:highlight>
                  <a:srgbClr val="FFFF00"/>
                </a:highlight>
                <a:latin typeface="Calibir"/>
              </a:rPr>
              <a:t>        return float(</a:t>
            </a:r>
          </a:p>
          <a:p>
            <a:pPr rtl="0">
              <a:buNone/>
            </a:pPr>
            <a:r>
              <a:rPr lang="en-US" sz="1000" dirty="0">
                <a:highlight>
                  <a:srgbClr val="FFFF00"/>
                </a:highlight>
                <a:latin typeface="Calibir"/>
              </a:rPr>
              <a:t>            input(</a:t>
            </a:r>
          </a:p>
          <a:p>
            <a:pPr rtl="0">
              <a:buNone/>
            </a:pPr>
            <a:r>
              <a:rPr lang="en-US" sz="1000" dirty="0">
                <a:highlight>
                  <a:srgbClr val="FFFF00"/>
                </a:highlight>
                <a:latin typeface="Calibir"/>
              </a:rPr>
              <a:t>                </a:t>
            </a:r>
            <a:r>
              <a:rPr lang="en-US" sz="1000" dirty="0" err="1">
                <a:highlight>
                  <a:srgbClr val="FFFF00"/>
                </a:highlight>
                <a:latin typeface="Calibir"/>
              </a:rPr>
              <a:t>f"Initial</a:t>
            </a:r>
            <a:r>
              <a:rPr lang="en-US" sz="1000" dirty="0">
                <a:highlight>
                  <a:srgbClr val="FFFF00"/>
                </a:highlight>
                <a:latin typeface="Calibir"/>
              </a:rPr>
              <a:t> {</a:t>
            </a:r>
            <a:r>
              <a:rPr lang="en-US" sz="1000" dirty="0" err="1">
                <a:highlight>
                  <a:srgbClr val="FFFF00"/>
                </a:highlight>
                <a:latin typeface="Calibir"/>
              </a:rPr>
              <a:t>self.type</a:t>
            </a:r>
            <a:r>
              <a:rPr lang="en-US" sz="1000" dirty="0">
                <a:highlight>
                  <a:srgbClr val="FFFF00"/>
                </a:highlight>
                <a:latin typeface="Calibir"/>
              </a:rPr>
              <a:t>} "</a:t>
            </a:r>
          </a:p>
          <a:p>
            <a:pPr rtl="0">
              <a:buNone/>
            </a:pPr>
            <a:r>
              <a:rPr lang="en-US" sz="1000" dirty="0">
                <a:highlight>
                  <a:srgbClr val="FFFF00"/>
                </a:highlight>
                <a:latin typeface="Calibir"/>
              </a:rPr>
              <a:t>                </a:t>
            </a:r>
            <a:r>
              <a:rPr lang="en-US" sz="1000" dirty="0" err="1">
                <a:highlight>
                  <a:srgbClr val="FFFF00"/>
                </a:highlight>
                <a:latin typeface="Calibir"/>
              </a:rPr>
              <a:t>f"balance</a:t>
            </a:r>
            <a:r>
              <a:rPr lang="en-US" sz="1000" dirty="0">
                <a:highlight>
                  <a:srgbClr val="FFFF00"/>
                </a:highlight>
                <a:latin typeface="Calibir"/>
              </a:rPr>
              <a:t>: $"</a:t>
            </a:r>
          </a:p>
          <a:p>
            <a:pPr rtl="0">
              <a:buNone/>
            </a:pPr>
            <a:r>
              <a:rPr lang="en-US" sz="1000" dirty="0">
                <a:highlight>
                  <a:srgbClr val="FFFF00"/>
                </a:highlight>
                <a:latin typeface="Calibir"/>
              </a:rPr>
              <a:t>            )</a:t>
            </a:r>
          </a:p>
          <a:p>
            <a:pPr rtl="0">
              <a:buNone/>
            </a:pPr>
            <a:r>
              <a:rPr lang="en-US" sz="1000" dirty="0">
                <a:highlight>
                  <a:srgbClr val="FFFF00"/>
                </a:highlight>
                <a:latin typeface="Calibir"/>
              </a:rPr>
              <a:t>        )</a:t>
            </a:r>
          </a:p>
          <a:p>
            <a:pPr rtl="0">
              <a:buNone/>
            </a:pPr>
            <a:r>
              <a:rPr lang="en-US" sz="1000" dirty="0">
                <a:highlight>
                  <a:srgbClr val="FFFF00"/>
                </a:highlight>
                <a:latin typeface="Calibir"/>
              </a:rPr>
              <a:t>    def deposit(self, amount):</a:t>
            </a:r>
          </a:p>
          <a:p>
            <a:pPr rtl="0">
              <a:buNone/>
            </a:pPr>
            <a:r>
              <a:rPr lang="en-US" sz="1000" dirty="0">
                <a:highlight>
                  <a:srgbClr val="FFFF00"/>
                </a:highlight>
                <a:latin typeface="Calibir"/>
              </a:rPr>
              <a:t>        </a:t>
            </a:r>
            <a:r>
              <a:rPr lang="en-US" sz="1000" dirty="0" err="1">
                <a:highlight>
                  <a:srgbClr val="FFFF00"/>
                </a:highlight>
                <a:latin typeface="Calibir"/>
              </a:rPr>
              <a:t>self.balance</a:t>
            </a:r>
            <a:r>
              <a:rPr lang="en-US" sz="1000" dirty="0">
                <a:highlight>
                  <a:srgbClr val="FFFF00"/>
                </a:highlight>
                <a:latin typeface="Calibir"/>
              </a:rPr>
              <a:t> += amount</a:t>
            </a:r>
          </a:p>
          <a:p>
            <a:pPr rtl="0">
              <a:buNone/>
            </a:pPr>
            <a:r>
              <a:rPr lang="en-US" sz="1000" dirty="0">
                <a:highlight>
                  <a:srgbClr val="FFFF00"/>
                </a:highlight>
                <a:latin typeface="Calibir"/>
              </a:rPr>
              <a:t>    def has(self, amount):</a:t>
            </a:r>
          </a:p>
          <a:p>
            <a:pPr rtl="0">
              <a:buNone/>
            </a:pPr>
            <a:r>
              <a:rPr lang="en-US" sz="1000" dirty="0">
                <a:highlight>
                  <a:srgbClr val="FFFF00"/>
                </a:highlight>
                <a:latin typeface="Calibir"/>
              </a:rPr>
              <a:t>        return </a:t>
            </a:r>
            <a:r>
              <a:rPr lang="en-US" sz="1000" dirty="0" err="1">
                <a:highlight>
                  <a:srgbClr val="FFFF00"/>
                </a:highlight>
                <a:latin typeface="Calibir"/>
              </a:rPr>
              <a:t>self.balance</a:t>
            </a:r>
            <a:r>
              <a:rPr lang="en-US" sz="1000" dirty="0">
                <a:highlight>
                  <a:srgbClr val="FFFF00"/>
                </a:highlight>
                <a:latin typeface="Calibir"/>
              </a:rPr>
              <a:t> &gt;= amount</a:t>
            </a:r>
          </a:p>
          <a:p>
            <a:pPr rtl="0">
              <a:buNone/>
            </a:pPr>
            <a:r>
              <a:rPr lang="en-US" sz="1000" dirty="0">
                <a:highlight>
                  <a:srgbClr val="FFFF00"/>
                </a:highlight>
                <a:latin typeface="Calibir"/>
              </a:rPr>
              <a:t>    def withdraw(self, amount):</a:t>
            </a:r>
          </a:p>
          <a:p>
            <a:pPr rtl="0">
              <a:buNone/>
            </a:pPr>
            <a:r>
              <a:rPr lang="en-US" sz="1000" dirty="0">
                <a:highlight>
                  <a:srgbClr val="FFFF00"/>
                </a:highlight>
                <a:latin typeface="Calibir"/>
              </a:rPr>
              <a:t>        if not </a:t>
            </a:r>
            <a:r>
              <a:rPr lang="en-US" sz="1000" dirty="0" err="1">
                <a:highlight>
                  <a:srgbClr val="FFFF00"/>
                </a:highlight>
                <a:latin typeface="Calibir"/>
              </a:rPr>
              <a:t>self.has</a:t>
            </a:r>
            <a:r>
              <a:rPr lang="en-US" sz="1000" dirty="0">
                <a:highlight>
                  <a:srgbClr val="FFFF00"/>
                </a:highlight>
                <a:latin typeface="Calibir"/>
              </a:rPr>
              <a:t>(amount):</a:t>
            </a:r>
          </a:p>
          <a:p>
            <a:pPr rtl="0">
              <a:buNone/>
            </a:pPr>
            <a:r>
              <a:rPr lang="en-US" sz="1000" dirty="0">
                <a:highlight>
                  <a:srgbClr val="FFFF00"/>
                </a:highlight>
                <a:latin typeface="Calibir"/>
              </a:rPr>
              <a:t>            raise </a:t>
            </a:r>
            <a:r>
              <a:rPr lang="en-US" sz="1000" dirty="0" err="1">
                <a:highlight>
                  <a:srgbClr val="FFFF00"/>
                </a:highlight>
                <a:latin typeface="Calibir"/>
              </a:rPr>
              <a:t>ValueError</a:t>
            </a:r>
            <a:r>
              <a:rPr lang="en-US" sz="1000" dirty="0">
                <a:highlight>
                  <a:srgbClr val="FFFF00"/>
                </a:highlight>
                <a:latin typeface="Calibir"/>
              </a:rPr>
              <a:t>(</a:t>
            </a:r>
          </a:p>
          <a:p>
            <a:pPr rtl="0">
              <a:buNone/>
            </a:pPr>
            <a:r>
              <a:rPr lang="en-US" sz="1000" dirty="0">
                <a:highlight>
                  <a:srgbClr val="FFFF00"/>
                </a:highlight>
                <a:latin typeface="Calibir"/>
              </a:rPr>
              <a:t>                "Insufficient funds"</a:t>
            </a:r>
          </a:p>
          <a:p>
            <a:pPr rtl="0">
              <a:buNone/>
            </a:pPr>
            <a:r>
              <a:rPr lang="en-US" sz="1000" dirty="0">
                <a:highlight>
                  <a:srgbClr val="FFFF00"/>
                </a:highlight>
                <a:latin typeface="Calibir"/>
              </a:rPr>
              <a:t>            )</a:t>
            </a:r>
          </a:p>
          <a:p>
            <a:pPr rtl="0">
              <a:buNone/>
            </a:pPr>
            <a:r>
              <a:rPr lang="en-US" sz="1000" dirty="0">
                <a:highlight>
                  <a:srgbClr val="FFFF00"/>
                </a:highlight>
                <a:latin typeface="Calibir"/>
              </a:rPr>
              <a:t>        </a:t>
            </a:r>
            <a:r>
              <a:rPr lang="en-US" sz="1000" dirty="0" err="1">
                <a:highlight>
                  <a:srgbClr val="FFFF00"/>
                </a:highlight>
                <a:latin typeface="Calibir"/>
              </a:rPr>
              <a:t>self.balance</a:t>
            </a:r>
            <a:r>
              <a:rPr lang="en-US" sz="1000" dirty="0">
                <a:highlight>
                  <a:srgbClr val="FFFF00"/>
                </a:highlight>
                <a:latin typeface="Calibir"/>
              </a:rPr>
              <a:t> -= amount</a:t>
            </a:r>
          </a:p>
          <a:p>
            <a:pPr rtl="0">
              <a:buNone/>
            </a:pPr>
            <a:r>
              <a:rPr lang="en-US" sz="1000" dirty="0">
                <a:highlight>
                  <a:srgbClr val="FFFF00"/>
                </a:highlight>
                <a:latin typeface="Calibir"/>
              </a:rPr>
              <a:t>    def </a:t>
            </a:r>
            <a:r>
              <a:rPr lang="en-US" sz="1000" dirty="0" err="1">
                <a:highlight>
                  <a:srgbClr val="FFFF00"/>
                </a:highlight>
                <a:latin typeface="Calibir"/>
              </a:rPr>
              <a:t>transfer_to_loan</a:t>
            </a:r>
            <a:r>
              <a:rPr lang="en-US" sz="1000" dirty="0">
                <a:highlight>
                  <a:srgbClr val="FFFF00"/>
                </a:highlight>
                <a:latin typeface="Calibir"/>
              </a:rPr>
              <a:t>(</a:t>
            </a:r>
          </a:p>
          <a:p>
            <a:pPr rtl="0">
              <a:buNone/>
            </a:pPr>
            <a:r>
              <a:rPr lang="en-US" sz="1000" dirty="0">
                <a:highlight>
                  <a:srgbClr val="FFFF00"/>
                </a:highlight>
                <a:latin typeface="Calibir"/>
              </a:rPr>
              <a:t>            self,</a:t>
            </a:r>
          </a:p>
          <a:p>
            <a:pPr rtl="0">
              <a:buNone/>
            </a:pPr>
            <a:r>
              <a:rPr lang="en-US" sz="1000" dirty="0">
                <a:highlight>
                  <a:srgbClr val="FFFF00"/>
                </a:highlight>
                <a:latin typeface="Calibir"/>
              </a:rPr>
              <a:t>            amount,</a:t>
            </a:r>
          </a:p>
          <a:p>
            <a:pPr rtl="0">
              <a:buNone/>
            </a:pPr>
            <a:r>
              <a:rPr lang="en-US" sz="1000" dirty="0">
                <a:highlight>
                  <a:srgbClr val="FFFF00"/>
                </a:highlight>
                <a:latin typeface="Calibir"/>
              </a:rPr>
              <a:t>            </a:t>
            </a:r>
            <a:r>
              <a:rPr lang="en-US" sz="1000" dirty="0" err="1">
                <a:highlight>
                  <a:srgbClr val="FFFF00"/>
                </a:highlight>
                <a:latin typeface="Calibir"/>
              </a:rPr>
              <a:t>loan_account</a:t>
            </a:r>
            <a:r>
              <a:rPr lang="en-US" sz="1000" dirty="0">
                <a:highlight>
                  <a:srgbClr val="FFFF00"/>
                </a:highlight>
                <a:latin typeface="Calibir"/>
              </a:rPr>
              <a:t>):</a:t>
            </a:r>
          </a:p>
          <a:p>
            <a:pPr rtl="0">
              <a:buNone/>
            </a:pPr>
            <a:r>
              <a:rPr lang="en-US" sz="1000" dirty="0">
                <a:highlight>
                  <a:srgbClr val="FFFF00"/>
                </a:highlight>
                <a:latin typeface="Calibir"/>
              </a:rPr>
              <a:t>        if not </a:t>
            </a:r>
            <a:r>
              <a:rPr lang="en-US" sz="1000" dirty="0" err="1">
                <a:highlight>
                  <a:srgbClr val="FFFF00"/>
                </a:highlight>
                <a:latin typeface="Calibir"/>
              </a:rPr>
              <a:t>self.has</a:t>
            </a:r>
            <a:r>
              <a:rPr lang="en-US" sz="1000" dirty="0">
                <a:highlight>
                  <a:srgbClr val="FFFF00"/>
                </a:highlight>
                <a:latin typeface="Calibir"/>
              </a:rPr>
              <a:t>(amount):</a:t>
            </a:r>
          </a:p>
          <a:p>
            <a:pPr rtl="0">
              <a:buNone/>
            </a:pPr>
            <a:r>
              <a:rPr lang="en-US" sz="1000" dirty="0">
                <a:highlight>
                  <a:srgbClr val="FFFF00"/>
                </a:highlight>
                <a:latin typeface="Calibir"/>
              </a:rPr>
              <a:t>            raise </a:t>
            </a:r>
            <a:r>
              <a:rPr lang="en-US" sz="1000" dirty="0" err="1">
                <a:highlight>
                  <a:srgbClr val="FFFF00"/>
                </a:highlight>
                <a:latin typeface="Calibir"/>
              </a:rPr>
              <a:t>ValueError</a:t>
            </a:r>
            <a:r>
              <a:rPr lang="en-US" sz="1000" dirty="0">
                <a:highlight>
                  <a:srgbClr val="FFFF00"/>
                </a:highlight>
                <a:latin typeface="Calibir"/>
              </a:rPr>
              <a:t>(</a:t>
            </a:r>
          </a:p>
          <a:p>
            <a:pPr rtl="0">
              <a:buNone/>
            </a:pPr>
            <a:r>
              <a:rPr lang="en-US" sz="1000" dirty="0">
                <a:highlight>
                  <a:srgbClr val="FFFF00"/>
                </a:highlight>
                <a:latin typeface="Calibir"/>
              </a:rPr>
              <a:t>                "Insufficient funds"</a:t>
            </a:r>
          </a:p>
          <a:p>
            <a:pPr rtl="0">
              <a:buNone/>
            </a:pPr>
            <a:r>
              <a:rPr lang="en-US" sz="1000" dirty="0">
                <a:highlight>
                  <a:srgbClr val="FFFF00"/>
                </a:highlight>
                <a:latin typeface="Calibir"/>
              </a:rPr>
              <a:t>            )</a:t>
            </a:r>
          </a:p>
          <a:p>
            <a:pPr rtl="0">
              <a:buNone/>
            </a:pPr>
            <a:r>
              <a:rPr lang="en-US" sz="1000" dirty="0">
                <a:highlight>
                  <a:srgbClr val="FFFF00"/>
                </a:highlight>
                <a:latin typeface="Calibir"/>
              </a:rPr>
              <a:t>        if not </a:t>
            </a:r>
            <a:r>
              <a:rPr lang="en-US" sz="1000" dirty="0" err="1">
                <a:highlight>
                  <a:srgbClr val="FFFF00"/>
                </a:highlight>
                <a:latin typeface="Calibir"/>
              </a:rPr>
              <a:t>loan_account.has</a:t>
            </a:r>
            <a:r>
              <a:rPr lang="en-US" sz="1000" dirty="0">
                <a:highlight>
                  <a:srgbClr val="FFFF00"/>
                </a:highlight>
                <a:latin typeface="Calibir"/>
              </a:rPr>
              <a:t>(amount):</a:t>
            </a:r>
          </a:p>
          <a:p>
            <a:pPr rtl="0">
              <a:buNone/>
            </a:pPr>
            <a:r>
              <a:rPr lang="en-US" sz="1000" dirty="0">
                <a:highlight>
                  <a:srgbClr val="FFFF00"/>
                </a:highlight>
                <a:latin typeface="Calibir"/>
              </a:rPr>
              <a:t>            raise </a:t>
            </a:r>
            <a:r>
              <a:rPr lang="en-US" sz="1000" dirty="0" err="1">
                <a:highlight>
                  <a:srgbClr val="FFFF00"/>
                </a:highlight>
                <a:latin typeface="Calibir"/>
              </a:rPr>
              <a:t>ValueError</a:t>
            </a:r>
            <a:r>
              <a:rPr lang="en-US" sz="1000" dirty="0">
                <a:highlight>
                  <a:srgbClr val="FFFF00"/>
                </a:highlight>
                <a:latin typeface="Calibir"/>
              </a:rPr>
              <a:t>(</a:t>
            </a:r>
          </a:p>
          <a:p>
            <a:pPr rtl="0">
              <a:buNone/>
            </a:pPr>
            <a:r>
              <a:rPr lang="en-US" sz="1000" dirty="0">
                <a:highlight>
                  <a:srgbClr val="FFFF00"/>
                </a:highlight>
                <a:latin typeface="Calibir"/>
              </a:rPr>
              <a:t>                "Transfer exceeds loan balance"</a:t>
            </a:r>
          </a:p>
          <a:p>
            <a:pPr rtl="0">
              <a:buNone/>
            </a:pPr>
            <a:r>
              <a:rPr lang="en-US" sz="1000" dirty="0">
                <a:highlight>
                  <a:srgbClr val="FFFF00"/>
                </a:highlight>
                <a:latin typeface="Calibir"/>
              </a:rPr>
              <a:t>            )</a:t>
            </a:r>
          </a:p>
          <a:p>
            <a:pPr rtl="0">
              <a:buNone/>
            </a:pPr>
            <a:r>
              <a:rPr lang="en-US" sz="1000" dirty="0">
                <a:highlight>
                  <a:srgbClr val="FFFF00"/>
                </a:highlight>
                <a:latin typeface="Calibir"/>
              </a:rPr>
              <a:t>        </a:t>
            </a:r>
            <a:r>
              <a:rPr lang="en-US" sz="1000" dirty="0" err="1">
                <a:highlight>
                  <a:srgbClr val="FFFF00"/>
                </a:highlight>
                <a:latin typeface="Calibir"/>
              </a:rPr>
              <a:t>self.withdraw</a:t>
            </a:r>
            <a:r>
              <a:rPr lang="en-US" sz="1000" dirty="0">
                <a:highlight>
                  <a:srgbClr val="FFFF00"/>
                </a:highlight>
                <a:latin typeface="Calibir"/>
              </a:rPr>
              <a:t>(amount)</a:t>
            </a:r>
          </a:p>
          <a:p>
            <a:pPr rtl="0">
              <a:buNone/>
            </a:pPr>
            <a:r>
              <a:rPr lang="en-US" sz="1000" dirty="0">
                <a:highlight>
                  <a:srgbClr val="FFFF00"/>
                </a:highlight>
                <a:latin typeface="Calibir"/>
              </a:rPr>
              <a:t>        </a:t>
            </a:r>
            <a:r>
              <a:rPr lang="en-US" sz="1000" dirty="0" err="1">
                <a:highlight>
                  <a:srgbClr val="FFFF00"/>
                </a:highlight>
                <a:latin typeface="Calibir"/>
              </a:rPr>
              <a:t>loan_account.withdraw</a:t>
            </a:r>
            <a:r>
              <a:rPr lang="en-US" sz="1000" dirty="0">
                <a:highlight>
                  <a:srgbClr val="FFFF00"/>
                </a:highlight>
                <a:latin typeface="Calibir"/>
              </a:rPr>
              <a:t>(amount)</a:t>
            </a:r>
          </a:p>
          <a:p>
            <a:pPr rtl="0">
              <a:buNone/>
            </a:pPr>
            <a:r>
              <a:rPr lang="en-US" sz="1000" dirty="0">
                <a:highlight>
                  <a:srgbClr val="FFFF00"/>
                </a:highlight>
                <a:latin typeface="Calibir"/>
              </a:rPr>
              <a:t>    def __str__(self):</a:t>
            </a:r>
          </a:p>
          <a:p>
            <a:pPr rtl="0">
              <a:buNone/>
            </a:pPr>
            <a:r>
              <a:rPr lang="en-US" sz="1000" dirty="0">
                <a:highlight>
                  <a:srgbClr val="FFFF00"/>
                </a:highlight>
                <a:latin typeface="Calibir"/>
              </a:rPr>
              <a:t>        return (</a:t>
            </a:r>
          </a:p>
          <a:p>
            <a:pPr rtl="0">
              <a:buNone/>
            </a:pPr>
            <a:r>
              <a:rPr lang="en-US" sz="1000" dirty="0">
                <a:highlight>
                  <a:srgbClr val="FFFF00"/>
                </a:highlight>
                <a:latin typeface="Calibir"/>
              </a:rPr>
              <a:t>            f"{</a:t>
            </a:r>
            <a:r>
              <a:rPr lang="en-US" sz="1000" dirty="0" err="1">
                <a:highlight>
                  <a:srgbClr val="FFFF00"/>
                </a:highlight>
                <a:latin typeface="Calibir"/>
              </a:rPr>
              <a:t>self.type</a:t>
            </a:r>
            <a:r>
              <a:rPr lang="en-US" sz="1000" dirty="0">
                <a:highlight>
                  <a:srgbClr val="FFFF00"/>
                </a:highlight>
                <a:latin typeface="Calibir"/>
              </a:rPr>
              <a:t>} account has "</a:t>
            </a:r>
          </a:p>
          <a:p>
            <a:pPr rtl="0">
              <a:buNone/>
            </a:pPr>
            <a:r>
              <a:rPr lang="en-US" sz="1000" dirty="0">
                <a:highlight>
                  <a:srgbClr val="FFFF00"/>
                </a:highlight>
                <a:latin typeface="Calibir"/>
              </a:rPr>
              <a:t>            f"${self.balance:,.2f}"</a:t>
            </a:r>
          </a:p>
          <a:p>
            <a:pPr rtl="0">
              <a:buNone/>
            </a:pPr>
            <a:r>
              <a:rPr lang="en-US" sz="1000" dirty="0">
                <a:highlight>
                  <a:srgbClr val="FFFF00"/>
                </a:highlight>
                <a:latin typeface="Calibir"/>
              </a:rPr>
              <a:t>        )</a:t>
            </a:r>
          </a:p>
        </p:txBody>
      </p:sp>
      <p:sp>
        <p:nvSpPr>
          <p:cNvPr id="6" name="TextBox 5">
            <a:extLst>
              <a:ext uri="{FF2B5EF4-FFF2-40B4-BE49-F238E27FC236}">
                <a16:creationId xmlns:a16="http://schemas.microsoft.com/office/drawing/2014/main" id="{BD22AAB4-B279-3296-29D4-FBF299DAF65C}"/>
              </a:ext>
            </a:extLst>
          </p:cNvPr>
          <p:cNvSpPr txBox="1"/>
          <p:nvPr/>
        </p:nvSpPr>
        <p:spPr>
          <a:xfrm>
            <a:off x="6096000" y="151179"/>
            <a:ext cx="6098458" cy="6555641"/>
          </a:xfrm>
          <a:prstGeom prst="rect">
            <a:avLst/>
          </a:prstGeom>
          <a:noFill/>
        </p:spPr>
        <p:txBody>
          <a:bodyPr wrap="square">
            <a:spAutoFit/>
          </a:bodyPr>
          <a:lstStyle/>
          <a:p>
            <a:pPr>
              <a:buNone/>
            </a:pPr>
            <a:r>
              <a:rPr lang="en-US" sz="700" b="1" dirty="0">
                <a:latin typeface="Calibir"/>
              </a:rPr>
              <a:t>Completed Account Class — Java</a:t>
            </a:r>
          </a:p>
          <a:p>
            <a:pPr rtl="0">
              <a:buNone/>
            </a:pPr>
            <a:r>
              <a:rPr lang="en-US" sz="700" dirty="0">
                <a:highlight>
                  <a:srgbClr val="FFFF00"/>
                </a:highlight>
                <a:latin typeface="Calibir"/>
              </a:rPr>
              <a:t>import </a:t>
            </a:r>
            <a:r>
              <a:rPr lang="en-US" sz="700" dirty="0" err="1">
                <a:highlight>
                  <a:srgbClr val="FFFF00"/>
                </a:highlight>
                <a:latin typeface="Calibir"/>
              </a:rPr>
              <a:t>java.util.Scanner</a:t>
            </a:r>
            <a:r>
              <a:rPr lang="en-US" sz="700" dirty="0">
                <a:highlight>
                  <a:srgbClr val="FFFF00"/>
                </a:highlight>
                <a:latin typeface="Calibir"/>
              </a:rPr>
              <a:t>;</a:t>
            </a:r>
          </a:p>
          <a:p>
            <a:pPr rtl="0">
              <a:buNone/>
            </a:pPr>
            <a:r>
              <a:rPr lang="en-US" sz="700" dirty="0">
                <a:highlight>
                  <a:srgbClr val="FFFF00"/>
                </a:highlight>
                <a:latin typeface="Calibir"/>
              </a:rPr>
              <a:t>public class Account {</a:t>
            </a:r>
          </a:p>
          <a:p>
            <a:pPr rtl="0">
              <a:buNone/>
            </a:pPr>
            <a:r>
              <a:rPr lang="en-US" sz="700" dirty="0">
                <a:highlight>
                  <a:srgbClr val="FFFF00"/>
                </a:highlight>
                <a:latin typeface="Calibir"/>
              </a:rPr>
              <a:t>    private String type;</a:t>
            </a:r>
          </a:p>
          <a:p>
            <a:pPr rtl="0">
              <a:buNone/>
            </a:pPr>
            <a:r>
              <a:rPr lang="en-US" sz="700" dirty="0">
                <a:highlight>
                  <a:srgbClr val="FFFF00"/>
                </a:highlight>
                <a:latin typeface="Calibir"/>
              </a:rPr>
              <a:t>    private double balance;</a:t>
            </a:r>
          </a:p>
          <a:p>
            <a:pPr rtl="0">
              <a:buNone/>
            </a:pPr>
            <a:r>
              <a:rPr lang="en-US" sz="700" dirty="0">
                <a:highlight>
                  <a:srgbClr val="FFFF00"/>
                </a:highlight>
                <a:latin typeface="Calibir"/>
              </a:rPr>
              <a:t>    public Account(</a:t>
            </a:r>
          </a:p>
          <a:p>
            <a:pPr rtl="0">
              <a:buNone/>
            </a:pPr>
            <a:r>
              <a:rPr lang="en-US" sz="700" dirty="0">
                <a:highlight>
                  <a:srgbClr val="FFFF00"/>
                </a:highlight>
                <a:latin typeface="Calibir"/>
              </a:rPr>
              <a:t>            String type,</a:t>
            </a:r>
          </a:p>
          <a:p>
            <a:pPr rtl="0">
              <a:buNone/>
            </a:pPr>
            <a:r>
              <a:rPr lang="en-US" sz="700" dirty="0">
                <a:highlight>
                  <a:srgbClr val="FFFF00"/>
                </a:highlight>
                <a:latin typeface="Calibir"/>
              </a:rPr>
              <a:t>            Scanner input) {</a:t>
            </a:r>
          </a:p>
          <a:p>
            <a:pPr rtl="0">
              <a:buNone/>
            </a:pPr>
            <a:r>
              <a:rPr lang="en-US" sz="700" dirty="0">
                <a:highlight>
                  <a:srgbClr val="FFFF00"/>
                </a:highlight>
                <a:latin typeface="Calibir"/>
              </a:rPr>
              <a:t>        </a:t>
            </a:r>
            <a:r>
              <a:rPr lang="en-US" sz="700" dirty="0" err="1">
                <a:highlight>
                  <a:srgbClr val="FFFF00"/>
                </a:highlight>
                <a:latin typeface="Calibir"/>
              </a:rPr>
              <a:t>this.type</a:t>
            </a:r>
            <a:r>
              <a:rPr lang="en-US" sz="700" dirty="0">
                <a:highlight>
                  <a:srgbClr val="FFFF00"/>
                </a:highlight>
                <a:latin typeface="Calibir"/>
              </a:rPr>
              <a:t> = type;</a:t>
            </a:r>
          </a:p>
          <a:p>
            <a:pPr rtl="0">
              <a:buNone/>
            </a:pPr>
            <a:r>
              <a:rPr lang="en-US" sz="700" dirty="0">
                <a:highlight>
                  <a:srgbClr val="FFFF00"/>
                </a:highlight>
                <a:latin typeface="Calibir"/>
              </a:rPr>
              <a:t>        </a:t>
            </a:r>
            <a:r>
              <a:rPr lang="en-US" sz="700" dirty="0" err="1">
                <a:highlight>
                  <a:srgbClr val="FFFF00"/>
                </a:highlight>
                <a:latin typeface="Calibir"/>
              </a:rPr>
              <a:t>this.balance</a:t>
            </a:r>
            <a:r>
              <a:rPr lang="en-US" sz="700" dirty="0">
                <a:highlight>
                  <a:srgbClr val="FFFF00"/>
                </a:highlight>
                <a:latin typeface="Calibir"/>
              </a:rPr>
              <a:t> =</a:t>
            </a:r>
          </a:p>
          <a:p>
            <a:pPr rtl="0">
              <a:buNone/>
            </a:pPr>
            <a:r>
              <a:rPr lang="en-US" sz="700" dirty="0">
                <a:highlight>
                  <a:srgbClr val="FFFF00"/>
                </a:highlight>
                <a:latin typeface="Calibir"/>
              </a:rPr>
              <a:t>                </a:t>
            </a:r>
            <a:r>
              <a:rPr lang="en-US" sz="700" dirty="0" err="1">
                <a:highlight>
                  <a:srgbClr val="FFFF00"/>
                </a:highlight>
                <a:latin typeface="Calibir"/>
              </a:rPr>
              <a:t>readInitialBalance</a:t>
            </a:r>
            <a:r>
              <a:rPr lang="en-US" sz="700" dirty="0">
                <a:highlight>
                  <a:srgbClr val="FFFF00"/>
                </a:highlight>
                <a:latin typeface="Calibir"/>
              </a:rPr>
              <a:t>(input);</a:t>
            </a:r>
          </a:p>
          <a:p>
            <a:pPr rtl="0">
              <a:buNone/>
            </a:pPr>
            <a:r>
              <a:rPr lang="en-US" sz="700" dirty="0">
                <a:highlight>
                  <a:srgbClr val="FFFF00"/>
                </a:highlight>
                <a:latin typeface="Calibir"/>
              </a:rPr>
              <a:t>    }</a:t>
            </a:r>
          </a:p>
          <a:p>
            <a:pPr rtl="0">
              <a:buNone/>
            </a:pPr>
            <a:r>
              <a:rPr lang="en-US" sz="700" dirty="0">
                <a:highlight>
                  <a:srgbClr val="FFFF00"/>
                </a:highlight>
                <a:latin typeface="Calibir"/>
              </a:rPr>
              <a:t>    private double </a:t>
            </a:r>
            <a:r>
              <a:rPr lang="en-US" sz="700" dirty="0" err="1">
                <a:highlight>
                  <a:srgbClr val="FFFF00"/>
                </a:highlight>
                <a:latin typeface="Calibir"/>
              </a:rPr>
              <a:t>readInitialBalance</a:t>
            </a:r>
            <a:r>
              <a:rPr lang="en-US" sz="700" dirty="0">
                <a:highlight>
                  <a:srgbClr val="FFFF00"/>
                </a:highlight>
                <a:latin typeface="Calibir"/>
              </a:rPr>
              <a:t>(</a:t>
            </a:r>
          </a:p>
          <a:p>
            <a:pPr rtl="0">
              <a:buNone/>
            </a:pPr>
            <a:r>
              <a:rPr lang="en-US" sz="700" dirty="0">
                <a:highlight>
                  <a:srgbClr val="FFFF00"/>
                </a:highlight>
                <a:latin typeface="Calibir"/>
              </a:rPr>
              <a:t>            Scanner input) {</a:t>
            </a:r>
          </a:p>
          <a:p>
            <a:pPr rtl="0">
              <a:buNone/>
            </a:pPr>
            <a:r>
              <a:rPr lang="en-US" sz="700" dirty="0">
                <a:highlight>
                  <a:srgbClr val="FFFF00"/>
                </a:highlight>
                <a:latin typeface="Calibir"/>
              </a:rPr>
              <a:t>        </a:t>
            </a:r>
            <a:r>
              <a:rPr lang="en-US" sz="700" dirty="0" err="1">
                <a:highlight>
                  <a:srgbClr val="FFFF00"/>
                </a:highlight>
                <a:latin typeface="Calibir"/>
              </a:rPr>
              <a:t>System.out.print</a:t>
            </a:r>
            <a:r>
              <a:rPr lang="en-US" sz="700" dirty="0">
                <a:highlight>
                  <a:srgbClr val="FFFF00"/>
                </a:highlight>
                <a:latin typeface="Calibir"/>
              </a:rPr>
              <a:t>(</a:t>
            </a:r>
          </a:p>
          <a:p>
            <a:pPr rtl="0">
              <a:buNone/>
            </a:pPr>
            <a:r>
              <a:rPr lang="en-US" sz="700" dirty="0">
                <a:highlight>
                  <a:srgbClr val="FFFF00"/>
                </a:highlight>
                <a:latin typeface="Calibir"/>
              </a:rPr>
              <a:t>            "Initial "</a:t>
            </a:r>
          </a:p>
          <a:p>
            <a:pPr rtl="0">
              <a:buNone/>
            </a:pPr>
            <a:r>
              <a:rPr lang="en-US" sz="700" dirty="0">
                <a:highlight>
                  <a:srgbClr val="FFFF00"/>
                </a:highlight>
                <a:latin typeface="Calibir"/>
              </a:rPr>
              <a:t>            + type</a:t>
            </a:r>
          </a:p>
          <a:p>
            <a:pPr rtl="0">
              <a:buNone/>
            </a:pPr>
            <a:r>
              <a:rPr lang="en-US" sz="700" dirty="0">
                <a:highlight>
                  <a:srgbClr val="FFFF00"/>
                </a:highlight>
                <a:latin typeface="Calibir"/>
              </a:rPr>
              <a:t>            + " balance: $"</a:t>
            </a:r>
          </a:p>
          <a:p>
            <a:pPr rtl="0">
              <a:buNone/>
            </a:pPr>
            <a:r>
              <a:rPr lang="en-US" sz="700" dirty="0">
                <a:highlight>
                  <a:srgbClr val="FFFF00"/>
                </a:highlight>
                <a:latin typeface="Calibir"/>
              </a:rPr>
              <a:t>        );</a:t>
            </a:r>
          </a:p>
          <a:p>
            <a:pPr rtl="0">
              <a:buNone/>
            </a:pPr>
            <a:r>
              <a:rPr lang="en-US" sz="700" dirty="0">
                <a:highlight>
                  <a:srgbClr val="FFFF00"/>
                </a:highlight>
                <a:latin typeface="Calibir"/>
              </a:rPr>
              <a:t>        return </a:t>
            </a:r>
            <a:r>
              <a:rPr lang="en-US" sz="700" dirty="0" err="1">
                <a:highlight>
                  <a:srgbClr val="FFFF00"/>
                </a:highlight>
                <a:latin typeface="Calibir"/>
              </a:rPr>
              <a:t>input.nextDouble</a:t>
            </a:r>
            <a:r>
              <a:rPr lang="en-US" sz="700" dirty="0">
                <a:highlight>
                  <a:srgbClr val="FFFF00"/>
                </a:highlight>
                <a:latin typeface="Calibir"/>
              </a:rPr>
              <a:t>();</a:t>
            </a:r>
          </a:p>
          <a:p>
            <a:pPr rtl="0">
              <a:buNone/>
            </a:pPr>
            <a:r>
              <a:rPr lang="en-US" sz="700" dirty="0">
                <a:highlight>
                  <a:srgbClr val="FFFF00"/>
                </a:highlight>
                <a:latin typeface="Calibir"/>
              </a:rPr>
              <a:t>    }</a:t>
            </a:r>
          </a:p>
          <a:p>
            <a:pPr rtl="0">
              <a:buNone/>
            </a:pPr>
            <a:r>
              <a:rPr lang="en-US" sz="700" dirty="0">
                <a:highlight>
                  <a:srgbClr val="FFFF00"/>
                </a:highlight>
                <a:latin typeface="Calibir"/>
              </a:rPr>
              <a:t>    public void deposit(double amount) {</a:t>
            </a:r>
          </a:p>
          <a:p>
            <a:pPr rtl="0">
              <a:buNone/>
            </a:pPr>
            <a:r>
              <a:rPr lang="en-US" sz="700" dirty="0">
                <a:highlight>
                  <a:srgbClr val="FFFF00"/>
                </a:highlight>
                <a:latin typeface="Calibir"/>
              </a:rPr>
              <a:t>        balance += amount;</a:t>
            </a:r>
          </a:p>
          <a:p>
            <a:pPr rtl="0">
              <a:buNone/>
            </a:pPr>
            <a:r>
              <a:rPr lang="en-US" sz="700" dirty="0">
                <a:highlight>
                  <a:srgbClr val="FFFF00"/>
                </a:highlight>
                <a:latin typeface="Calibir"/>
              </a:rPr>
              <a:t>    }</a:t>
            </a:r>
          </a:p>
          <a:p>
            <a:pPr rtl="0">
              <a:buNone/>
            </a:pPr>
            <a:r>
              <a:rPr lang="en-US" sz="700" dirty="0">
                <a:highlight>
                  <a:srgbClr val="FFFF00"/>
                </a:highlight>
                <a:latin typeface="Calibir"/>
              </a:rPr>
              <a:t>    public </a:t>
            </a:r>
            <a:r>
              <a:rPr lang="en-US" sz="700" dirty="0" err="1">
                <a:highlight>
                  <a:srgbClr val="FFFF00"/>
                </a:highlight>
                <a:latin typeface="Calibir"/>
              </a:rPr>
              <a:t>boolean</a:t>
            </a:r>
            <a:r>
              <a:rPr lang="en-US" sz="700" dirty="0">
                <a:highlight>
                  <a:srgbClr val="FFFF00"/>
                </a:highlight>
                <a:latin typeface="Calibir"/>
              </a:rPr>
              <a:t> has(double amount) {</a:t>
            </a:r>
          </a:p>
          <a:p>
            <a:pPr rtl="0">
              <a:buNone/>
            </a:pPr>
            <a:r>
              <a:rPr lang="en-US" sz="700" dirty="0">
                <a:highlight>
                  <a:srgbClr val="FFFF00"/>
                </a:highlight>
                <a:latin typeface="Calibir"/>
              </a:rPr>
              <a:t>        return balance &gt;= amount;</a:t>
            </a:r>
          </a:p>
          <a:p>
            <a:pPr rtl="0">
              <a:buNone/>
            </a:pPr>
            <a:r>
              <a:rPr lang="en-US" sz="700" dirty="0">
                <a:highlight>
                  <a:srgbClr val="FFFF00"/>
                </a:highlight>
                <a:latin typeface="Calibir"/>
              </a:rPr>
              <a:t>    }</a:t>
            </a:r>
          </a:p>
          <a:p>
            <a:pPr rtl="0">
              <a:buNone/>
            </a:pPr>
            <a:r>
              <a:rPr lang="en-US" sz="700" dirty="0">
                <a:highlight>
                  <a:srgbClr val="FFFF00"/>
                </a:highlight>
                <a:latin typeface="Calibir"/>
              </a:rPr>
              <a:t>    public void withdraw(double amount) {</a:t>
            </a:r>
          </a:p>
          <a:p>
            <a:pPr rtl="0">
              <a:buNone/>
            </a:pPr>
            <a:r>
              <a:rPr lang="en-US" sz="700" dirty="0">
                <a:highlight>
                  <a:srgbClr val="FFFF00"/>
                </a:highlight>
                <a:latin typeface="Calibir"/>
              </a:rPr>
              <a:t>        if (!has(amount)) {</a:t>
            </a:r>
          </a:p>
          <a:p>
            <a:pPr rtl="0">
              <a:buNone/>
            </a:pPr>
            <a:r>
              <a:rPr lang="en-US" sz="700" dirty="0">
                <a:highlight>
                  <a:srgbClr val="FFFF00"/>
                </a:highlight>
                <a:latin typeface="Calibir"/>
              </a:rPr>
              <a:t>            throw new </a:t>
            </a:r>
            <a:r>
              <a:rPr lang="en-US" sz="700" dirty="0" err="1">
                <a:highlight>
                  <a:srgbClr val="FFFF00"/>
                </a:highlight>
                <a:latin typeface="Calibir"/>
              </a:rPr>
              <a:t>IllegalArgumentException</a:t>
            </a:r>
            <a:r>
              <a:rPr lang="en-US" sz="700" dirty="0">
                <a:highlight>
                  <a:srgbClr val="FFFF00"/>
                </a:highlight>
                <a:latin typeface="Calibir"/>
              </a:rPr>
              <a:t>(</a:t>
            </a:r>
          </a:p>
          <a:p>
            <a:pPr rtl="0">
              <a:buNone/>
            </a:pPr>
            <a:r>
              <a:rPr lang="en-US" sz="700" dirty="0">
                <a:highlight>
                  <a:srgbClr val="FFFF00"/>
                </a:highlight>
                <a:latin typeface="Calibir"/>
              </a:rPr>
              <a:t>                "Insufficient funds"</a:t>
            </a:r>
          </a:p>
          <a:p>
            <a:pPr rtl="0">
              <a:buNone/>
            </a:pPr>
            <a:r>
              <a:rPr lang="en-US" sz="700" dirty="0">
                <a:highlight>
                  <a:srgbClr val="FFFF00"/>
                </a:highlight>
                <a:latin typeface="Calibir"/>
              </a:rPr>
              <a:t>            );</a:t>
            </a:r>
          </a:p>
          <a:p>
            <a:pPr rtl="0">
              <a:buNone/>
            </a:pPr>
            <a:r>
              <a:rPr lang="en-US" sz="700" dirty="0">
                <a:highlight>
                  <a:srgbClr val="FFFF00"/>
                </a:highlight>
                <a:latin typeface="Calibir"/>
              </a:rPr>
              <a:t>        }</a:t>
            </a:r>
          </a:p>
          <a:p>
            <a:pPr rtl="0">
              <a:buNone/>
            </a:pPr>
            <a:r>
              <a:rPr lang="en-US" sz="700" dirty="0">
                <a:highlight>
                  <a:srgbClr val="FFFF00"/>
                </a:highlight>
                <a:latin typeface="Calibir"/>
              </a:rPr>
              <a:t>        balance -= amount;</a:t>
            </a:r>
          </a:p>
          <a:p>
            <a:pPr rtl="0">
              <a:buNone/>
            </a:pPr>
            <a:r>
              <a:rPr lang="en-US" sz="700" dirty="0">
                <a:highlight>
                  <a:srgbClr val="FFFF00"/>
                </a:highlight>
                <a:latin typeface="Calibir"/>
              </a:rPr>
              <a:t>    }</a:t>
            </a:r>
          </a:p>
          <a:p>
            <a:pPr rtl="0">
              <a:buNone/>
            </a:pPr>
            <a:r>
              <a:rPr lang="en-US" sz="700" dirty="0">
                <a:highlight>
                  <a:srgbClr val="FFFF00"/>
                </a:highlight>
                <a:latin typeface="Calibir"/>
              </a:rPr>
              <a:t>    public void </a:t>
            </a:r>
            <a:r>
              <a:rPr lang="en-US" sz="700" dirty="0" err="1">
                <a:highlight>
                  <a:srgbClr val="FFFF00"/>
                </a:highlight>
                <a:latin typeface="Calibir"/>
              </a:rPr>
              <a:t>transferToLoan</a:t>
            </a:r>
            <a:r>
              <a:rPr lang="en-US" sz="700" dirty="0">
                <a:highlight>
                  <a:srgbClr val="FFFF00"/>
                </a:highlight>
                <a:latin typeface="Calibir"/>
              </a:rPr>
              <a:t>(</a:t>
            </a:r>
          </a:p>
          <a:p>
            <a:pPr rtl="0">
              <a:buNone/>
            </a:pPr>
            <a:r>
              <a:rPr lang="en-US" sz="700" dirty="0">
                <a:highlight>
                  <a:srgbClr val="FFFF00"/>
                </a:highlight>
                <a:latin typeface="Calibir"/>
              </a:rPr>
              <a:t>            double amount,</a:t>
            </a:r>
          </a:p>
          <a:p>
            <a:pPr rtl="0">
              <a:buNone/>
            </a:pPr>
            <a:r>
              <a:rPr lang="en-US" sz="700" dirty="0">
                <a:highlight>
                  <a:srgbClr val="FFFF00"/>
                </a:highlight>
                <a:latin typeface="Calibir"/>
              </a:rPr>
              <a:t>            Account </a:t>
            </a:r>
            <a:r>
              <a:rPr lang="en-US" sz="700" dirty="0" err="1">
                <a:highlight>
                  <a:srgbClr val="FFFF00"/>
                </a:highlight>
                <a:latin typeface="Calibir"/>
              </a:rPr>
              <a:t>loanAccount</a:t>
            </a:r>
            <a:r>
              <a:rPr lang="en-US" sz="700" dirty="0">
                <a:highlight>
                  <a:srgbClr val="FFFF00"/>
                </a:highlight>
                <a:latin typeface="Calibir"/>
              </a:rPr>
              <a:t>) {</a:t>
            </a:r>
          </a:p>
          <a:p>
            <a:pPr rtl="0">
              <a:buNone/>
            </a:pPr>
            <a:r>
              <a:rPr lang="en-US" sz="700" dirty="0">
                <a:highlight>
                  <a:srgbClr val="FFFF00"/>
                </a:highlight>
                <a:latin typeface="Calibir"/>
              </a:rPr>
              <a:t>        if (!has(amount)) {</a:t>
            </a:r>
          </a:p>
          <a:p>
            <a:pPr rtl="0">
              <a:buNone/>
            </a:pPr>
            <a:r>
              <a:rPr lang="en-US" sz="700" dirty="0">
                <a:highlight>
                  <a:srgbClr val="FFFF00"/>
                </a:highlight>
                <a:latin typeface="Calibir"/>
              </a:rPr>
              <a:t>            throw new </a:t>
            </a:r>
            <a:r>
              <a:rPr lang="en-US" sz="700" dirty="0" err="1">
                <a:highlight>
                  <a:srgbClr val="FFFF00"/>
                </a:highlight>
                <a:latin typeface="Calibir"/>
              </a:rPr>
              <a:t>IllegalArgumentException</a:t>
            </a:r>
            <a:r>
              <a:rPr lang="en-US" sz="700" dirty="0">
                <a:highlight>
                  <a:srgbClr val="FFFF00"/>
                </a:highlight>
                <a:latin typeface="Calibir"/>
              </a:rPr>
              <a:t>(</a:t>
            </a:r>
          </a:p>
          <a:p>
            <a:pPr rtl="0">
              <a:buNone/>
            </a:pPr>
            <a:r>
              <a:rPr lang="en-US" sz="700" dirty="0">
                <a:highlight>
                  <a:srgbClr val="FFFF00"/>
                </a:highlight>
                <a:latin typeface="Calibir"/>
              </a:rPr>
              <a:t>                "Insufficient funds"</a:t>
            </a:r>
          </a:p>
          <a:p>
            <a:pPr rtl="0">
              <a:buNone/>
            </a:pPr>
            <a:r>
              <a:rPr lang="en-US" sz="700" dirty="0">
                <a:highlight>
                  <a:srgbClr val="FFFF00"/>
                </a:highlight>
                <a:latin typeface="Calibir"/>
              </a:rPr>
              <a:t>            );</a:t>
            </a:r>
          </a:p>
          <a:p>
            <a:pPr rtl="0">
              <a:buNone/>
            </a:pPr>
            <a:r>
              <a:rPr lang="en-US" sz="700" dirty="0">
                <a:highlight>
                  <a:srgbClr val="FFFF00"/>
                </a:highlight>
                <a:latin typeface="Calibir"/>
              </a:rPr>
              <a:t>        }</a:t>
            </a:r>
          </a:p>
          <a:p>
            <a:pPr rtl="0">
              <a:buNone/>
            </a:pPr>
            <a:r>
              <a:rPr lang="en-US" sz="700" dirty="0">
                <a:highlight>
                  <a:srgbClr val="FFFF00"/>
                </a:highlight>
                <a:latin typeface="Calibir"/>
              </a:rPr>
              <a:t>        if (!</a:t>
            </a:r>
            <a:r>
              <a:rPr lang="en-US" sz="700" dirty="0" err="1">
                <a:highlight>
                  <a:srgbClr val="FFFF00"/>
                </a:highlight>
                <a:latin typeface="Calibir"/>
              </a:rPr>
              <a:t>loanAccount.has</a:t>
            </a:r>
            <a:r>
              <a:rPr lang="en-US" sz="700" dirty="0">
                <a:highlight>
                  <a:srgbClr val="FFFF00"/>
                </a:highlight>
                <a:latin typeface="Calibir"/>
              </a:rPr>
              <a:t>(amount)) {</a:t>
            </a:r>
          </a:p>
          <a:p>
            <a:pPr rtl="0">
              <a:buNone/>
            </a:pPr>
            <a:r>
              <a:rPr lang="en-US" sz="700" dirty="0">
                <a:highlight>
                  <a:srgbClr val="FFFF00"/>
                </a:highlight>
                <a:latin typeface="Calibir"/>
              </a:rPr>
              <a:t>            throw new </a:t>
            </a:r>
            <a:r>
              <a:rPr lang="en-US" sz="700" dirty="0" err="1">
                <a:highlight>
                  <a:srgbClr val="FFFF00"/>
                </a:highlight>
                <a:latin typeface="Calibir"/>
              </a:rPr>
              <a:t>IllegalArgumentException</a:t>
            </a:r>
            <a:r>
              <a:rPr lang="en-US" sz="700" dirty="0">
                <a:highlight>
                  <a:srgbClr val="FFFF00"/>
                </a:highlight>
                <a:latin typeface="Calibir"/>
              </a:rPr>
              <a:t>(</a:t>
            </a:r>
          </a:p>
          <a:p>
            <a:pPr rtl="0">
              <a:buNone/>
            </a:pPr>
            <a:r>
              <a:rPr lang="en-US" sz="700" dirty="0">
                <a:highlight>
                  <a:srgbClr val="FFFF00"/>
                </a:highlight>
                <a:latin typeface="Calibir"/>
              </a:rPr>
              <a:t>                "Transfer exceeds loan balance"</a:t>
            </a:r>
          </a:p>
          <a:p>
            <a:pPr rtl="0">
              <a:buNone/>
            </a:pPr>
            <a:r>
              <a:rPr lang="en-US" sz="700" dirty="0">
                <a:highlight>
                  <a:srgbClr val="FFFF00"/>
                </a:highlight>
                <a:latin typeface="Calibir"/>
              </a:rPr>
              <a:t>            );</a:t>
            </a:r>
          </a:p>
          <a:p>
            <a:pPr rtl="0">
              <a:buNone/>
            </a:pPr>
            <a:r>
              <a:rPr lang="en-US" sz="700" dirty="0">
                <a:highlight>
                  <a:srgbClr val="FFFF00"/>
                </a:highlight>
                <a:latin typeface="Calibir"/>
              </a:rPr>
              <a:t>        }</a:t>
            </a:r>
          </a:p>
          <a:p>
            <a:pPr rtl="0">
              <a:buNone/>
            </a:pPr>
            <a:r>
              <a:rPr lang="en-US" sz="700" dirty="0">
                <a:highlight>
                  <a:srgbClr val="FFFF00"/>
                </a:highlight>
                <a:latin typeface="Calibir"/>
              </a:rPr>
              <a:t>        withdraw(amount);</a:t>
            </a:r>
          </a:p>
          <a:p>
            <a:pPr rtl="0">
              <a:buNone/>
            </a:pPr>
            <a:r>
              <a:rPr lang="en-US" sz="700" dirty="0">
                <a:highlight>
                  <a:srgbClr val="FFFF00"/>
                </a:highlight>
                <a:latin typeface="Calibir"/>
              </a:rPr>
              <a:t>        </a:t>
            </a:r>
            <a:r>
              <a:rPr lang="en-US" sz="700" dirty="0" err="1">
                <a:highlight>
                  <a:srgbClr val="FFFF00"/>
                </a:highlight>
                <a:latin typeface="Calibir"/>
              </a:rPr>
              <a:t>loanAccount.withdraw</a:t>
            </a:r>
            <a:r>
              <a:rPr lang="en-US" sz="700" dirty="0">
                <a:highlight>
                  <a:srgbClr val="FFFF00"/>
                </a:highlight>
                <a:latin typeface="Calibir"/>
              </a:rPr>
              <a:t>(amount);</a:t>
            </a:r>
          </a:p>
          <a:p>
            <a:pPr rtl="0">
              <a:buNone/>
            </a:pPr>
            <a:r>
              <a:rPr lang="en-US" sz="700" dirty="0">
                <a:highlight>
                  <a:srgbClr val="FFFF00"/>
                </a:highlight>
                <a:latin typeface="Calibir"/>
              </a:rPr>
              <a:t>    }</a:t>
            </a:r>
          </a:p>
          <a:p>
            <a:pPr rtl="0">
              <a:buNone/>
            </a:pPr>
            <a:r>
              <a:rPr lang="en-US" sz="700" dirty="0">
                <a:highlight>
                  <a:srgbClr val="FFFF00"/>
                </a:highlight>
                <a:latin typeface="Calibir"/>
              </a:rPr>
              <a:t>    @Override</a:t>
            </a:r>
          </a:p>
          <a:p>
            <a:pPr rtl="0">
              <a:buNone/>
            </a:pPr>
            <a:r>
              <a:rPr lang="en-US" sz="700" dirty="0">
                <a:highlight>
                  <a:srgbClr val="FFFF00"/>
                </a:highlight>
                <a:latin typeface="Calibir"/>
              </a:rPr>
              <a:t>    public String </a:t>
            </a:r>
            <a:r>
              <a:rPr lang="en-US" sz="700" dirty="0" err="1">
                <a:highlight>
                  <a:srgbClr val="FFFF00"/>
                </a:highlight>
                <a:latin typeface="Calibir"/>
              </a:rPr>
              <a:t>toString</a:t>
            </a:r>
            <a:r>
              <a:rPr lang="en-US" sz="700" dirty="0">
                <a:highlight>
                  <a:srgbClr val="FFFF00"/>
                </a:highlight>
                <a:latin typeface="Calibir"/>
              </a:rPr>
              <a:t>() {</a:t>
            </a:r>
          </a:p>
          <a:p>
            <a:pPr rtl="0">
              <a:buNone/>
            </a:pPr>
            <a:r>
              <a:rPr lang="en-US" sz="700" dirty="0">
                <a:highlight>
                  <a:srgbClr val="FFFF00"/>
                </a:highlight>
                <a:latin typeface="Calibir"/>
              </a:rPr>
              <a:t>        return </a:t>
            </a:r>
            <a:r>
              <a:rPr lang="en-US" sz="700" dirty="0" err="1">
                <a:highlight>
                  <a:srgbClr val="FFFF00"/>
                </a:highlight>
                <a:latin typeface="Calibir"/>
              </a:rPr>
              <a:t>String.format</a:t>
            </a:r>
            <a:r>
              <a:rPr lang="en-US" sz="700" dirty="0">
                <a:highlight>
                  <a:srgbClr val="FFFF00"/>
                </a:highlight>
                <a:latin typeface="Calibir"/>
              </a:rPr>
              <a:t>(</a:t>
            </a:r>
          </a:p>
          <a:p>
            <a:pPr rtl="0">
              <a:buNone/>
            </a:pPr>
            <a:r>
              <a:rPr lang="en-US" sz="700" dirty="0">
                <a:highlight>
                  <a:srgbClr val="FFFF00"/>
                </a:highlight>
                <a:latin typeface="Calibir"/>
              </a:rPr>
              <a:t>            "%s account has $%,.2f",</a:t>
            </a:r>
          </a:p>
          <a:p>
            <a:pPr rtl="0">
              <a:buNone/>
            </a:pPr>
            <a:r>
              <a:rPr lang="en-US" sz="700" dirty="0">
                <a:highlight>
                  <a:srgbClr val="FFFF00"/>
                </a:highlight>
                <a:latin typeface="Calibir"/>
              </a:rPr>
              <a:t>            type,</a:t>
            </a:r>
          </a:p>
          <a:p>
            <a:pPr rtl="0">
              <a:buNone/>
            </a:pPr>
            <a:r>
              <a:rPr lang="en-US" sz="700" dirty="0">
                <a:highlight>
                  <a:srgbClr val="FFFF00"/>
                </a:highlight>
                <a:latin typeface="Calibir"/>
              </a:rPr>
              <a:t>            balance</a:t>
            </a:r>
          </a:p>
          <a:p>
            <a:pPr rtl="0">
              <a:buNone/>
            </a:pPr>
            <a:r>
              <a:rPr lang="en-US" sz="700" dirty="0">
                <a:highlight>
                  <a:srgbClr val="FFFF00"/>
                </a:highlight>
                <a:latin typeface="Calibir"/>
              </a:rPr>
              <a:t>        );</a:t>
            </a:r>
          </a:p>
          <a:p>
            <a:pPr rtl="0">
              <a:buNone/>
            </a:pPr>
            <a:r>
              <a:rPr lang="en-US" sz="700" dirty="0">
                <a:highlight>
                  <a:srgbClr val="FFFF00"/>
                </a:highlight>
                <a:latin typeface="Calibir"/>
              </a:rPr>
              <a:t>    }</a:t>
            </a:r>
          </a:p>
          <a:p>
            <a:pPr rtl="0">
              <a:buNone/>
            </a:pPr>
            <a:r>
              <a:rPr lang="en-US" sz="700" dirty="0">
                <a:highlight>
                  <a:srgbClr val="FFFF00"/>
                </a:highlight>
                <a:latin typeface="Calibir"/>
              </a:rPr>
              <a:t>}</a:t>
            </a:r>
          </a:p>
        </p:txBody>
      </p:sp>
    </p:spTree>
    <p:custDataLst>
      <p:tags r:id="rId1"/>
    </p:custDataLst>
    <p:extLst>
      <p:ext uri="{BB962C8B-B14F-4D97-AF65-F5344CB8AC3E}">
        <p14:creationId xmlns:p14="http://schemas.microsoft.com/office/powerpoint/2010/main" val="268043755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DCBEC-EDA6-A0C0-7305-24ACE5C16A9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DAC99A1-2A4E-9F1F-997E-64CF1EA7347F}"/>
              </a:ext>
            </a:extLst>
          </p:cNvPr>
          <p:cNvSpPr txBox="1"/>
          <p:nvPr/>
        </p:nvSpPr>
        <p:spPr>
          <a:xfrm>
            <a:off x="0" y="0"/>
            <a:ext cx="9147687" cy="6957674"/>
          </a:xfrm>
          <a:prstGeom prst="rect">
            <a:avLst/>
          </a:prstGeom>
          <a:noFill/>
        </p:spPr>
        <p:txBody>
          <a:bodyPr wrap="square">
            <a:spAutoFit/>
          </a:bodyPr>
          <a:lstStyle/>
          <a:p>
            <a:pPr>
              <a:lnSpc>
                <a:spcPct val="150000"/>
              </a:lnSpc>
              <a:buNone/>
            </a:pPr>
            <a:r>
              <a:rPr lang="en-US" sz="2500" b="1" dirty="0">
                <a:latin typeface="Calibir"/>
              </a:rPr>
              <a:t>Customer Class</a:t>
            </a:r>
          </a:p>
          <a:p>
            <a:pPr>
              <a:lnSpc>
                <a:spcPct val="150000"/>
              </a:lnSpc>
              <a:buNone/>
            </a:pPr>
            <a:r>
              <a:rPr lang="en-US" sz="2500" dirty="0">
                <a:latin typeface="Calibir"/>
              </a:rPr>
              <a:t>The Customer has:</a:t>
            </a:r>
          </a:p>
          <a:p>
            <a:pPr rtl="0">
              <a:lnSpc>
                <a:spcPct val="150000"/>
              </a:lnSpc>
              <a:buNone/>
            </a:pPr>
            <a:r>
              <a:rPr lang="en-US" sz="2500" dirty="0">
                <a:highlight>
                  <a:srgbClr val="FFFF00"/>
                </a:highlight>
                <a:latin typeface="Calibir"/>
              </a:rPr>
              <a:t>name</a:t>
            </a:r>
          </a:p>
          <a:p>
            <a:pPr rtl="0">
              <a:lnSpc>
                <a:spcPct val="150000"/>
              </a:lnSpc>
              <a:buNone/>
            </a:pPr>
            <a:r>
              <a:rPr lang="en-US" sz="2500" dirty="0">
                <a:highlight>
                  <a:srgbClr val="FFFF00"/>
                </a:highlight>
                <a:latin typeface="Calibir"/>
              </a:rPr>
              <a:t>Savings Account</a:t>
            </a:r>
          </a:p>
          <a:p>
            <a:pPr rtl="0">
              <a:lnSpc>
                <a:spcPct val="150000"/>
              </a:lnSpc>
              <a:buNone/>
            </a:pPr>
            <a:r>
              <a:rPr lang="en-US" sz="2500" dirty="0">
                <a:highlight>
                  <a:srgbClr val="FFFF00"/>
                </a:highlight>
                <a:latin typeface="Calibir"/>
              </a:rPr>
              <a:t>Loan Account</a:t>
            </a:r>
          </a:p>
          <a:p>
            <a:pPr>
              <a:lnSpc>
                <a:spcPct val="150000"/>
              </a:lnSpc>
              <a:buNone/>
            </a:pPr>
            <a:r>
              <a:rPr lang="en-US" sz="2500" dirty="0">
                <a:latin typeface="Calibir"/>
              </a:rPr>
              <a:t>Its responsibilities are:</a:t>
            </a:r>
          </a:p>
          <a:p>
            <a:pPr rtl="0">
              <a:lnSpc>
                <a:spcPct val="150000"/>
              </a:lnSpc>
              <a:buNone/>
            </a:pPr>
            <a:r>
              <a:rPr lang="en-US" sz="2500" dirty="0">
                <a:highlight>
                  <a:srgbClr val="FFFF00"/>
                </a:highlight>
                <a:latin typeface="Calibir"/>
              </a:rPr>
              <a:t>read amount</a:t>
            </a:r>
          </a:p>
          <a:p>
            <a:pPr rtl="0">
              <a:lnSpc>
                <a:spcPct val="150000"/>
              </a:lnSpc>
              <a:buNone/>
            </a:pPr>
            <a:r>
              <a:rPr lang="en-US" sz="2500" dirty="0">
                <a:highlight>
                  <a:srgbClr val="FFFF00"/>
                </a:highlight>
                <a:latin typeface="Calibir"/>
              </a:rPr>
              <a:t>deposit</a:t>
            </a:r>
          </a:p>
          <a:p>
            <a:pPr rtl="0">
              <a:lnSpc>
                <a:spcPct val="150000"/>
              </a:lnSpc>
              <a:buNone/>
            </a:pPr>
            <a:r>
              <a:rPr lang="en-US" sz="2500" dirty="0">
                <a:highlight>
                  <a:srgbClr val="FFFF00"/>
                </a:highlight>
                <a:latin typeface="Calibir"/>
              </a:rPr>
              <a:t>withdraw</a:t>
            </a:r>
          </a:p>
          <a:p>
            <a:pPr rtl="0">
              <a:lnSpc>
                <a:spcPct val="150000"/>
              </a:lnSpc>
              <a:buNone/>
            </a:pPr>
            <a:r>
              <a:rPr lang="en-US" sz="2500" dirty="0">
                <a:highlight>
                  <a:srgbClr val="FFFF00"/>
                </a:highlight>
                <a:latin typeface="Calibir"/>
              </a:rPr>
              <a:t>transfer</a:t>
            </a:r>
          </a:p>
          <a:p>
            <a:pPr rtl="0">
              <a:lnSpc>
                <a:spcPct val="150000"/>
              </a:lnSpc>
              <a:buNone/>
            </a:pPr>
            <a:r>
              <a:rPr lang="en-US" sz="2500" dirty="0">
                <a:highlight>
                  <a:srgbClr val="FFFF00"/>
                </a:highlight>
                <a:latin typeface="Calibir"/>
              </a:rPr>
              <a:t>show accounts</a:t>
            </a:r>
          </a:p>
          <a:p>
            <a:pPr rtl="0">
              <a:lnSpc>
                <a:spcPct val="150000"/>
              </a:lnSpc>
              <a:buNone/>
            </a:pPr>
            <a:r>
              <a:rPr lang="en-US" sz="2500" dirty="0">
                <a:highlight>
                  <a:srgbClr val="FFFF00"/>
                </a:highlight>
                <a:latin typeface="Calibir"/>
              </a:rPr>
              <a:t>return customer account information</a:t>
            </a:r>
          </a:p>
        </p:txBody>
      </p:sp>
    </p:spTree>
    <p:custDataLst>
      <p:tags r:id="rId1"/>
    </p:custDataLst>
    <p:extLst>
      <p:ext uri="{BB962C8B-B14F-4D97-AF65-F5344CB8AC3E}">
        <p14:creationId xmlns:p14="http://schemas.microsoft.com/office/powerpoint/2010/main" val="114192049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032BB-31C4-F185-32B8-753E99EF2B6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D2EE463-28CC-A702-156E-4004883C2003}"/>
              </a:ext>
            </a:extLst>
          </p:cNvPr>
          <p:cNvSpPr txBox="1"/>
          <p:nvPr/>
        </p:nvSpPr>
        <p:spPr>
          <a:xfrm>
            <a:off x="0" y="1"/>
            <a:ext cx="12196916" cy="6488828"/>
          </a:xfrm>
          <a:prstGeom prst="rect">
            <a:avLst/>
          </a:prstGeom>
          <a:noFill/>
        </p:spPr>
        <p:txBody>
          <a:bodyPr wrap="square">
            <a:spAutoFit/>
          </a:bodyPr>
          <a:lstStyle/>
          <a:p>
            <a:pPr>
              <a:lnSpc>
                <a:spcPct val="150000"/>
              </a:lnSpc>
              <a:buNone/>
            </a:pPr>
            <a:r>
              <a:rPr lang="en-US" sz="2800" b="1" dirty="0">
                <a:latin typeface="Calibir"/>
              </a:rPr>
              <a:t>Step 9 — Create the Customer constructor</a:t>
            </a:r>
          </a:p>
          <a:p>
            <a:pPr>
              <a:lnSpc>
                <a:spcPct val="150000"/>
              </a:lnSpc>
              <a:buNone/>
            </a:pPr>
            <a:r>
              <a:rPr lang="en-US" sz="2800" b="1" dirty="0">
                <a:latin typeface="Calibir"/>
              </a:rPr>
              <a:t>Python</a:t>
            </a:r>
          </a:p>
          <a:p>
            <a:pPr rtl="0">
              <a:lnSpc>
                <a:spcPct val="150000"/>
              </a:lnSpc>
              <a:buNone/>
            </a:pPr>
            <a:r>
              <a:rPr lang="en-US" sz="2800" dirty="0">
                <a:highlight>
                  <a:srgbClr val="FFFF00"/>
                </a:highlight>
                <a:latin typeface="Calibir"/>
              </a:rPr>
              <a:t>class Customer:</a:t>
            </a:r>
          </a:p>
          <a:p>
            <a:pPr rtl="0">
              <a:lnSpc>
                <a:spcPct val="150000"/>
              </a:lnSpc>
              <a:buNone/>
            </a:pPr>
            <a:r>
              <a:rPr lang="en-US" sz="2800" dirty="0">
                <a:highlight>
                  <a:srgbClr val="FFFF00"/>
                </a:highlight>
                <a:latin typeface="Calibir"/>
              </a:rPr>
              <a:t>    def __</a:t>
            </a:r>
            <a:r>
              <a:rPr lang="en-US" sz="2800" dirty="0" err="1">
                <a:highlight>
                  <a:srgbClr val="FFFF00"/>
                </a:highlight>
                <a:latin typeface="Calibir"/>
              </a:rPr>
              <a:t>init</a:t>
            </a:r>
            <a:r>
              <a:rPr lang="en-US" sz="2800" dirty="0">
                <a:highlight>
                  <a:srgbClr val="FFFF00"/>
                </a:highlight>
                <a:latin typeface="Calibir"/>
              </a:rPr>
              <a:t>__(self, name):</a:t>
            </a:r>
          </a:p>
          <a:p>
            <a:pPr rtl="0">
              <a:lnSpc>
                <a:spcPct val="150000"/>
              </a:lnSpc>
              <a:buNone/>
            </a:pPr>
            <a:r>
              <a:rPr lang="en-US" sz="2800" dirty="0">
                <a:highlight>
                  <a:srgbClr val="FFFF00"/>
                </a:highlight>
                <a:latin typeface="Calibir"/>
              </a:rPr>
              <a:t>        self.name = name</a:t>
            </a:r>
          </a:p>
          <a:p>
            <a:pPr rtl="0">
              <a:lnSpc>
                <a:spcPct val="150000"/>
              </a:lnSpc>
              <a:buNone/>
            </a:pPr>
            <a:r>
              <a:rPr lang="en-US" sz="2800" dirty="0">
                <a:highlight>
                  <a:srgbClr val="FFFF00"/>
                </a:highlight>
                <a:latin typeface="Calibir"/>
              </a:rPr>
              <a:t>        </a:t>
            </a:r>
            <a:r>
              <a:rPr lang="en-US" sz="2800" dirty="0" err="1">
                <a:highlight>
                  <a:srgbClr val="FFFF00"/>
                </a:highlight>
                <a:latin typeface="Calibir"/>
              </a:rPr>
              <a:t>self.savings</a:t>
            </a:r>
            <a:r>
              <a:rPr lang="en-US" sz="2800" dirty="0">
                <a:highlight>
                  <a:srgbClr val="FFFF00"/>
                </a:highlight>
                <a:latin typeface="Calibir"/>
              </a:rPr>
              <a:t> = Account("Savings")</a:t>
            </a:r>
          </a:p>
          <a:p>
            <a:pPr rtl="0">
              <a:lnSpc>
                <a:spcPct val="150000"/>
              </a:lnSpc>
              <a:buNone/>
            </a:pPr>
            <a:r>
              <a:rPr lang="en-US" sz="2800" dirty="0">
                <a:highlight>
                  <a:srgbClr val="FFFF00"/>
                </a:highlight>
                <a:latin typeface="Calibir"/>
              </a:rPr>
              <a:t>        </a:t>
            </a:r>
            <a:r>
              <a:rPr lang="en-US" sz="2800" dirty="0" err="1">
                <a:highlight>
                  <a:srgbClr val="FFFF00"/>
                </a:highlight>
                <a:latin typeface="Calibir"/>
              </a:rPr>
              <a:t>self.loan</a:t>
            </a:r>
            <a:r>
              <a:rPr lang="en-US" sz="2800" dirty="0">
                <a:highlight>
                  <a:srgbClr val="FFFF00"/>
                </a:highlight>
                <a:latin typeface="Calibir"/>
              </a:rPr>
              <a:t> = Account("Loan")</a:t>
            </a:r>
          </a:p>
          <a:p>
            <a:pPr>
              <a:lnSpc>
                <a:spcPct val="150000"/>
              </a:lnSpc>
              <a:buNone/>
            </a:pPr>
            <a:r>
              <a:rPr lang="en-US" sz="2800" dirty="0">
                <a:latin typeface="Calibir"/>
              </a:rPr>
              <a:t>Creating:</a:t>
            </a:r>
          </a:p>
          <a:p>
            <a:pPr rtl="0">
              <a:lnSpc>
                <a:spcPct val="150000"/>
              </a:lnSpc>
              <a:buNone/>
            </a:pPr>
            <a:r>
              <a:rPr lang="en-US" sz="2800" dirty="0">
                <a:highlight>
                  <a:srgbClr val="FFFF00"/>
                </a:highlight>
                <a:latin typeface="Calibir"/>
              </a:rPr>
              <a:t>Customer("John Smith")</a:t>
            </a:r>
          </a:p>
          <a:p>
            <a:pPr>
              <a:lnSpc>
                <a:spcPct val="150000"/>
              </a:lnSpc>
              <a:buNone/>
            </a:pPr>
            <a:r>
              <a:rPr lang="en-US" sz="2800" dirty="0">
                <a:latin typeface="Calibir"/>
              </a:rPr>
              <a:t>automatically creates both accounts.</a:t>
            </a:r>
          </a:p>
        </p:txBody>
      </p:sp>
    </p:spTree>
    <p:custDataLst>
      <p:tags r:id="rId1"/>
    </p:custDataLst>
    <p:extLst>
      <p:ext uri="{BB962C8B-B14F-4D97-AF65-F5344CB8AC3E}">
        <p14:creationId xmlns:p14="http://schemas.microsoft.com/office/powerpoint/2010/main" val="216470741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74011-18F0-660F-BE47-40E5C0A963D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908AA9E-10A5-9DB6-76DE-50CC142C3220}"/>
              </a:ext>
            </a:extLst>
          </p:cNvPr>
          <p:cNvSpPr txBox="1"/>
          <p:nvPr/>
        </p:nvSpPr>
        <p:spPr>
          <a:xfrm>
            <a:off x="143796" y="366020"/>
            <a:ext cx="6098458" cy="5909310"/>
          </a:xfrm>
          <a:prstGeom prst="rect">
            <a:avLst/>
          </a:prstGeom>
          <a:noFill/>
        </p:spPr>
        <p:txBody>
          <a:bodyPr wrap="square">
            <a:spAutoFit/>
          </a:bodyPr>
          <a:lstStyle/>
          <a:p>
            <a:pPr>
              <a:buNone/>
            </a:pPr>
            <a:r>
              <a:rPr lang="en-US" b="1" dirty="0"/>
              <a:t>Java</a:t>
            </a:r>
          </a:p>
          <a:p>
            <a:pPr rtl="0">
              <a:buNone/>
            </a:pPr>
            <a:r>
              <a:rPr lang="en-US" dirty="0">
                <a:highlight>
                  <a:srgbClr val="FFFF00"/>
                </a:highlight>
                <a:latin typeface="+mn-lt"/>
              </a:rPr>
              <a:t>public class Customer {</a:t>
            </a:r>
          </a:p>
          <a:p>
            <a:pPr rtl="0">
              <a:buNone/>
            </a:pPr>
            <a:r>
              <a:rPr lang="en-US" dirty="0">
                <a:highlight>
                  <a:srgbClr val="FFFF00"/>
                </a:highlight>
                <a:latin typeface="+mn-lt"/>
              </a:rPr>
              <a:t>    private String name;</a:t>
            </a:r>
          </a:p>
          <a:p>
            <a:pPr rtl="0">
              <a:buNone/>
            </a:pPr>
            <a:r>
              <a:rPr lang="en-US" dirty="0">
                <a:highlight>
                  <a:srgbClr val="FFFF00"/>
                </a:highlight>
                <a:latin typeface="+mn-lt"/>
              </a:rPr>
              <a:t>    private Account savings;</a:t>
            </a:r>
          </a:p>
          <a:p>
            <a:pPr rtl="0">
              <a:buNone/>
            </a:pPr>
            <a:r>
              <a:rPr lang="en-US" dirty="0">
                <a:highlight>
                  <a:srgbClr val="FFFF00"/>
                </a:highlight>
                <a:latin typeface="+mn-lt"/>
              </a:rPr>
              <a:t>    private Account loan;</a:t>
            </a:r>
          </a:p>
          <a:p>
            <a:pPr rtl="0">
              <a:buNone/>
            </a:pPr>
            <a:r>
              <a:rPr lang="en-US" dirty="0">
                <a:highlight>
                  <a:srgbClr val="FFFF00"/>
                </a:highlight>
                <a:latin typeface="+mn-lt"/>
              </a:rPr>
              <a:t>    public Customer(</a:t>
            </a:r>
          </a:p>
          <a:p>
            <a:pPr rtl="0">
              <a:buNone/>
            </a:pPr>
            <a:r>
              <a:rPr lang="en-US" dirty="0">
                <a:highlight>
                  <a:srgbClr val="FFFF00"/>
                </a:highlight>
                <a:latin typeface="+mn-lt"/>
              </a:rPr>
              <a:t>            String name,</a:t>
            </a:r>
          </a:p>
          <a:p>
            <a:pPr rtl="0">
              <a:buNone/>
            </a:pPr>
            <a:r>
              <a:rPr lang="en-US" dirty="0">
                <a:highlight>
                  <a:srgbClr val="FFFF00"/>
                </a:highlight>
                <a:latin typeface="+mn-lt"/>
              </a:rPr>
              <a:t>            Scanner input) {</a:t>
            </a:r>
          </a:p>
          <a:p>
            <a:pPr rtl="0">
              <a:buNone/>
            </a:pPr>
            <a:r>
              <a:rPr lang="en-US" dirty="0">
                <a:highlight>
                  <a:srgbClr val="FFFF00"/>
                </a:highlight>
                <a:latin typeface="+mn-lt"/>
              </a:rPr>
              <a:t>        this.name = name;</a:t>
            </a:r>
          </a:p>
          <a:p>
            <a:pPr rtl="0">
              <a:buNone/>
            </a:pPr>
            <a:r>
              <a:rPr lang="en-US" dirty="0">
                <a:highlight>
                  <a:srgbClr val="FFFF00"/>
                </a:highlight>
                <a:latin typeface="+mn-lt"/>
              </a:rPr>
              <a:t>        savings =</a:t>
            </a:r>
          </a:p>
          <a:p>
            <a:pPr rtl="0">
              <a:buNone/>
            </a:pPr>
            <a:r>
              <a:rPr lang="en-US" dirty="0">
                <a:highlight>
                  <a:srgbClr val="FFFF00"/>
                </a:highlight>
                <a:latin typeface="+mn-lt"/>
              </a:rPr>
              <a:t>                new Account(</a:t>
            </a:r>
          </a:p>
          <a:p>
            <a:pPr rtl="0">
              <a:buNone/>
            </a:pPr>
            <a:r>
              <a:rPr lang="en-US" dirty="0">
                <a:highlight>
                  <a:srgbClr val="FFFF00"/>
                </a:highlight>
                <a:latin typeface="+mn-lt"/>
              </a:rPr>
              <a:t>                    "Savings",</a:t>
            </a:r>
          </a:p>
          <a:p>
            <a:pPr rtl="0">
              <a:buNone/>
            </a:pPr>
            <a:r>
              <a:rPr lang="en-US" dirty="0">
                <a:highlight>
                  <a:srgbClr val="FFFF00"/>
                </a:highlight>
                <a:latin typeface="+mn-lt"/>
              </a:rPr>
              <a:t>                    input</a:t>
            </a:r>
          </a:p>
          <a:p>
            <a:pPr rtl="0">
              <a:buNone/>
            </a:pPr>
            <a:r>
              <a:rPr lang="en-US" dirty="0">
                <a:highlight>
                  <a:srgbClr val="FFFF00"/>
                </a:highlight>
                <a:latin typeface="+mn-lt"/>
              </a:rPr>
              <a:t>                );</a:t>
            </a:r>
          </a:p>
          <a:p>
            <a:pPr rtl="0">
              <a:buNone/>
            </a:pPr>
            <a:r>
              <a:rPr lang="en-US" dirty="0">
                <a:highlight>
                  <a:srgbClr val="FFFF00"/>
                </a:highlight>
                <a:latin typeface="+mn-lt"/>
              </a:rPr>
              <a:t>        loan =</a:t>
            </a:r>
          </a:p>
          <a:p>
            <a:pPr rtl="0">
              <a:buNone/>
            </a:pPr>
            <a:r>
              <a:rPr lang="en-US" dirty="0">
                <a:highlight>
                  <a:srgbClr val="FFFF00"/>
                </a:highlight>
                <a:latin typeface="+mn-lt"/>
              </a:rPr>
              <a:t>                new Account(</a:t>
            </a:r>
          </a:p>
          <a:p>
            <a:pPr rtl="0">
              <a:buNone/>
            </a:pPr>
            <a:r>
              <a:rPr lang="en-US" dirty="0">
                <a:highlight>
                  <a:srgbClr val="FFFF00"/>
                </a:highlight>
                <a:latin typeface="+mn-lt"/>
              </a:rPr>
              <a:t>                    "Loan",</a:t>
            </a:r>
          </a:p>
          <a:p>
            <a:pPr rtl="0">
              <a:buNone/>
            </a:pPr>
            <a:r>
              <a:rPr lang="en-US" dirty="0">
                <a:highlight>
                  <a:srgbClr val="FFFF00"/>
                </a:highlight>
                <a:latin typeface="+mn-lt"/>
              </a:rPr>
              <a:t>                    input</a:t>
            </a:r>
          </a:p>
          <a:p>
            <a:pPr rtl="0">
              <a:buNone/>
            </a:pPr>
            <a:r>
              <a:rPr lang="en-US" dirty="0">
                <a:highlight>
                  <a:srgbClr val="FFFF00"/>
                </a:highlight>
                <a:latin typeface="+mn-lt"/>
              </a:rPr>
              <a:t>                );</a:t>
            </a:r>
          </a:p>
          <a:p>
            <a:pPr rtl="0">
              <a:buNone/>
            </a:pPr>
            <a:r>
              <a:rPr lang="en-US" dirty="0">
                <a:highlight>
                  <a:srgbClr val="FFFF00"/>
                </a:highlight>
                <a:latin typeface="+mn-lt"/>
              </a:rPr>
              <a:t>    }</a:t>
            </a:r>
          </a:p>
          <a:p>
            <a:pPr rtl="0">
              <a:buNone/>
            </a:pPr>
            <a:r>
              <a:rPr lang="en-US" dirty="0">
                <a:highlight>
                  <a:srgbClr val="FFFF00"/>
                </a:highlight>
                <a:latin typeface="+mn-lt"/>
              </a:rPr>
              <a:t>}</a:t>
            </a:r>
            <a:endParaRPr lang="en-US" dirty="0">
              <a:highlight>
                <a:srgbClr val="FFFF00"/>
              </a:highlight>
              <a:latin typeface="Courier New" panose="02070309020205020404" pitchFamily="49" charset="0"/>
            </a:endParaRPr>
          </a:p>
        </p:txBody>
      </p:sp>
    </p:spTree>
    <p:custDataLst>
      <p:tags r:id="rId1"/>
    </p:custDataLst>
    <p:extLst>
      <p:ext uri="{BB962C8B-B14F-4D97-AF65-F5344CB8AC3E}">
        <p14:creationId xmlns:p14="http://schemas.microsoft.com/office/powerpoint/2010/main" val="166145230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0C758-3476-13E8-7A15-05E9A0B1134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E1860A9-DF70-57E1-374F-C3C410D26344}"/>
              </a:ext>
            </a:extLst>
          </p:cNvPr>
          <p:cNvSpPr txBox="1"/>
          <p:nvPr/>
        </p:nvSpPr>
        <p:spPr>
          <a:xfrm>
            <a:off x="0" y="1154082"/>
            <a:ext cx="12196916" cy="4549835"/>
          </a:xfrm>
          <a:prstGeom prst="rect">
            <a:avLst/>
          </a:prstGeom>
          <a:noFill/>
        </p:spPr>
        <p:txBody>
          <a:bodyPr wrap="square">
            <a:spAutoFit/>
          </a:bodyPr>
          <a:lstStyle/>
          <a:p>
            <a:pPr>
              <a:lnSpc>
                <a:spcPct val="150000"/>
              </a:lnSpc>
              <a:buNone/>
            </a:pPr>
            <a:r>
              <a:rPr lang="en-US" sz="2800" b="1" dirty="0">
                <a:latin typeface="Calibir"/>
              </a:rPr>
              <a:t>Step 10 — Read a transaction amount</a:t>
            </a:r>
          </a:p>
          <a:p>
            <a:pPr>
              <a:lnSpc>
                <a:spcPct val="150000"/>
              </a:lnSpc>
              <a:buNone/>
            </a:pPr>
            <a:r>
              <a:rPr lang="en-US" sz="2800" b="1" dirty="0">
                <a:latin typeface="Calibir"/>
              </a:rPr>
              <a:t>Python</a:t>
            </a:r>
          </a:p>
          <a:p>
            <a:pPr rtl="0">
              <a:lnSpc>
                <a:spcPct val="150000"/>
              </a:lnSpc>
              <a:buNone/>
            </a:pPr>
            <a:r>
              <a:rPr lang="en-US" sz="2800" dirty="0">
                <a:highlight>
                  <a:srgbClr val="FFFF00"/>
                </a:highlight>
                <a:latin typeface="Calibir"/>
              </a:rPr>
              <a:t>def </a:t>
            </a:r>
            <a:r>
              <a:rPr lang="en-US" sz="2800" dirty="0" err="1">
                <a:highlight>
                  <a:srgbClr val="FFFF00"/>
                </a:highlight>
                <a:latin typeface="Calibir"/>
              </a:rPr>
              <a:t>read_amount</a:t>
            </a:r>
            <a:r>
              <a:rPr lang="en-US" sz="2800" dirty="0">
                <a:highlight>
                  <a:srgbClr val="FFFF00"/>
                </a:highlight>
                <a:latin typeface="Calibir"/>
              </a:rPr>
              <a:t>(self, message):</a:t>
            </a:r>
          </a:p>
          <a:p>
            <a:pPr rtl="0">
              <a:lnSpc>
                <a:spcPct val="150000"/>
              </a:lnSpc>
              <a:buNone/>
            </a:pPr>
            <a:r>
              <a:rPr lang="en-US" sz="2800" dirty="0">
                <a:highlight>
                  <a:srgbClr val="FFFF00"/>
                </a:highlight>
                <a:latin typeface="Calibir"/>
              </a:rPr>
              <a:t>    return float(input(message))</a:t>
            </a:r>
          </a:p>
          <a:p>
            <a:pPr>
              <a:lnSpc>
                <a:spcPct val="150000"/>
              </a:lnSpc>
              <a:buNone/>
            </a:pPr>
            <a:r>
              <a:rPr lang="en-US" sz="2800" dirty="0">
                <a:latin typeface="Calibir"/>
              </a:rPr>
              <a:t>This method is reusable.</a:t>
            </a:r>
          </a:p>
          <a:p>
            <a:pPr>
              <a:lnSpc>
                <a:spcPct val="150000"/>
              </a:lnSpc>
              <a:buNone/>
            </a:pPr>
            <a:r>
              <a:rPr lang="en-US" sz="2800" dirty="0">
                <a:latin typeface="Calibir"/>
              </a:rPr>
              <a:t>For example:</a:t>
            </a:r>
          </a:p>
          <a:p>
            <a:pPr rtl="0">
              <a:lnSpc>
                <a:spcPct val="150000"/>
              </a:lnSpc>
              <a:buNone/>
            </a:pPr>
            <a:r>
              <a:rPr lang="en-US" sz="2800" dirty="0">
                <a:highlight>
                  <a:srgbClr val="FFFF00"/>
                </a:highlight>
                <a:latin typeface="Calibir"/>
              </a:rPr>
              <a:t>amount = </a:t>
            </a:r>
            <a:r>
              <a:rPr lang="en-US" sz="2800" dirty="0" err="1">
                <a:highlight>
                  <a:srgbClr val="FFFF00"/>
                </a:highlight>
                <a:latin typeface="Calibir"/>
              </a:rPr>
              <a:t>self.read_amount</a:t>
            </a:r>
            <a:r>
              <a:rPr lang="en-US" sz="2800" dirty="0">
                <a:highlight>
                  <a:srgbClr val="FFFF00"/>
                </a:highlight>
                <a:latin typeface="Calibir"/>
              </a:rPr>
              <a:t>("Amount to deposit: $")</a:t>
            </a:r>
          </a:p>
        </p:txBody>
      </p:sp>
      <p:sp>
        <p:nvSpPr>
          <p:cNvPr id="6" name="TextBox 5">
            <a:extLst>
              <a:ext uri="{FF2B5EF4-FFF2-40B4-BE49-F238E27FC236}">
                <a16:creationId xmlns:a16="http://schemas.microsoft.com/office/drawing/2014/main" id="{25ECF197-8E28-BA52-D71F-31C40D538FC6}"/>
              </a:ext>
            </a:extLst>
          </p:cNvPr>
          <p:cNvSpPr txBox="1"/>
          <p:nvPr/>
        </p:nvSpPr>
        <p:spPr>
          <a:xfrm>
            <a:off x="6912078" y="1154082"/>
            <a:ext cx="5279922" cy="3970318"/>
          </a:xfrm>
          <a:prstGeom prst="rect">
            <a:avLst/>
          </a:prstGeom>
          <a:noFill/>
        </p:spPr>
        <p:txBody>
          <a:bodyPr wrap="square">
            <a:spAutoFit/>
          </a:bodyPr>
          <a:lstStyle/>
          <a:p>
            <a:pPr>
              <a:buNone/>
            </a:pPr>
            <a:r>
              <a:rPr lang="en-US" sz="2800" b="1" dirty="0">
                <a:latin typeface="Calibir"/>
              </a:rPr>
              <a:t>Java</a:t>
            </a:r>
          </a:p>
          <a:p>
            <a:pPr rtl="0">
              <a:buNone/>
            </a:pPr>
            <a:r>
              <a:rPr lang="en-US" sz="2800" dirty="0">
                <a:highlight>
                  <a:srgbClr val="FFFF00"/>
                </a:highlight>
                <a:latin typeface="Calibir"/>
              </a:rPr>
              <a:t>private double </a:t>
            </a:r>
            <a:r>
              <a:rPr lang="en-US" sz="2800" dirty="0" err="1">
                <a:highlight>
                  <a:srgbClr val="FFFF00"/>
                </a:highlight>
                <a:latin typeface="Calibir"/>
              </a:rPr>
              <a:t>readAmount</a:t>
            </a:r>
            <a:r>
              <a:rPr lang="en-US" sz="2800" dirty="0">
                <a:highlight>
                  <a:srgbClr val="FFFF00"/>
                </a:highlight>
                <a:latin typeface="Calibir"/>
              </a:rPr>
              <a:t>(</a:t>
            </a:r>
          </a:p>
          <a:p>
            <a:pPr rtl="0">
              <a:buNone/>
            </a:pPr>
            <a:r>
              <a:rPr lang="en-US" sz="2800" dirty="0">
                <a:highlight>
                  <a:srgbClr val="FFFF00"/>
                </a:highlight>
                <a:latin typeface="Calibir"/>
              </a:rPr>
              <a:t>        Scanner input,</a:t>
            </a:r>
          </a:p>
          <a:p>
            <a:pPr rtl="0">
              <a:buNone/>
            </a:pPr>
            <a:r>
              <a:rPr lang="en-US" sz="2800" dirty="0">
                <a:highlight>
                  <a:srgbClr val="FFFF00"/>
                </a:highlight>
                <a:latin typeface="Calibir"/>
              </a:rPr>
              <a:t>        String message) {</a:t>
            </a:r>
          </a:p>
          <a:p>
            <a:pPr rtl="0">
              <a:buNone/>
            </a:pPr>
            <a:endParaRPr lang="en-US" sz="2800" dirty="0">
              <a:highlight>
                <a:srgbClr val="FFFF00"/>
              </a:highlight>
              <a:latin typeface="Calibir"/>
            </a:endParaRPr>
          </a:p>
          <a:p>
            <a:pPr rtl="0">
              <a:buNone/>
            </a:pPr>
            <a:r>
              <a:rPr lang="en-US" sz="2800" dirty="0">
                <a:highlight>
                  <a:srgbClr val="FFFF00"/>
                </a:highlight>
                <a:latin typeface="Calibir"/>
              </a:rPr>
              <a:t>    </a:t>
            </a:r>
            <a:r>
              <a:rPr lang="en-US" sz="2800" dirty="0" err="1">
                <a:highlight>
                  <a:srgbClr val="FFFF00"/>
                </a:highlight>
                <a:latin typeface="Calibir"/>
              </a:rPr>
              <a:t>System.out.print</a:t>
            </a:r>
            <a:r>
              <a:rPr lang="en-US" sz="2800" dirty="0">
                <a:highlight>
                  <a:srgbClr val="FFFF00"/>
                </a:highlight>
                <a:latin typeface="Calibir"/>
              </a:rPr>
              <a:t>(message);</a:t>
            </a:r>
          </a:p>
          <a:p>
            <a:pPr rtl="0">
              <a:buNone/>
            </a:pPr>
            <a:endParaRPr lang="en-US" sz="2800" dirty="0">
              <a:highlight>
                <a:srgbClr val="FFFF00"/>
              </a:highlight>
              <a:latin typeface="Calibir"/>
            </a:endParaRPr>
          </a:p>
          <a:p>
            <a:pPr rtl="0">
              <a:buNone/>
            </a:pPr>
            <a:r>
              <a:rPr lang="en-US" sz="2800" dirty="0">
                <a:highlight>
                  <a:srgbClr val="FFFF00"/>
                </a:highlight>
                <a:latin typeface="Calibir"/>
              </a:rPr>
              <a:t>    return </a:t>
            </a:r>
            <a:r>
              <a:rPr lang="en-US" sz="2800" dirty="0" err="1">
                <a:highlight>
                  <a:srgbClr val="FFFF00"/>
                </a:highlight>
                <a:latin typeface="Calibir"/>
              </a:rPr>
              <a:t>input.nextDouble</a:t>
            </a:r>
            <a:r>
              <a:rPr lang="en-US" sz="2800" dirty="0">
                <a:highlight>
                  <a:srgbClr val="FFFF00"/>
                </a:highlight>
                <a:latin typeface="Calibir"/>
              </a:rPr>
              <a:t>();</a:t>
            </a:r>
          </a:p>
          <a:p>
            <a:pPr rtl="0">
              <a:buNone/>
            </a:pPr>
            <a:r>
              <a:rPr lang="en-US" sz="2800" dirty="0">
                <a:highlight>
                  <a:srgbClr val="FFFF00"/>
                </a:highlight>
                <a:latin typeface="Calibir"/>
              </a:rPr>
              <a:t>}</a:t>
            </a:r>
          </a:p>
        </p:txBody>
      </p:sp>
      <p:sp>
        <p:nvSpPr>
          <p:cNvPr id="8" name="Title 1">
            <a:extLst>
              <a:ext uri="{FF2B5EF4-FFF2-40B4-BE49-F238E27FC236}">
                <a16:creationId xmlns:a16="http://schemas.microsoft.com/office/drawing/2014/main" id="{C05ABB1C-2B06-B21D-5AE8-0917CA2A85EA}"/>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Tree>
    <p:custDataLst>
      <p:tags r:id="rId1"/>
    </p:custDataLst>
    <p:extLst>
      <p:ext uri="{BB962C8B-B14F-4D97-AF65-F5344CB8AC3E}">
        <p14:creationId xmlns:p14="http://schemas.microsoft.com/office/powerpoint/2010/main" val="416069737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74E42-C785-77E2-FFFB-3092EADFBC4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6B7D737-E36C-E0D4-BA06-C3FE9B6BAF9E}"/>
              </a:ext>
            </a:extLst>
          </p:cNvPr>
          <p:cNvSpPr txBox="1"/>
          <p:nvPr/>
        </p:nvSpPr>
        <p:spPr>
          <a:xfrm>
            <a:off x="145026" y="1477248"/>
            <a:ext cx="11901948" cy="3903504"/>
          </a:xfrm>
          <a:prstGeom prst="rect">
            <a:avLst/>
          </a:prstGeom>
          <a:noFill/>
        </p:spPr>
        <p:txBody>
          <a:bodyPr wrap="square">
            <a:spAutoFit/>
          </a:bodyPr>
          <a:lstStyle/>
          <a:p>
            <a:pPr>
              <a:lnSpc>
                <a:spcPct val="150000"/>
              </a:lnSpc>
              <a:buNone/>
            </a:pPr>
            <a:r>
              <a:rPr lang="en-US" sz="2800" b="1" dirty="0">
                <a:latin typeface="Calibir"/>
              </a:rPr>
              <a:t>Step 11 — Customer deposit()</a:t>
            </a:r>
          </a:p>
          <a:p>
            <a:pPr>
              <a:lnSpc>
                <a:spcPct val="150000"/>
              </a:lnSpc>
              <a:buNone/>
            </a:pPr>
            <a:r>
              <a:rPr lang="en-US" sz="2800" dirty="0">
                <a:latin typeface="Calibir"/>
              </a:rPr>
              <a:t>The requirement says customer deposits go into Savings.</a:t>
            </a:r>
          </a:p>
          <a:p>
            <a:pPr>
              <a:lnSpc>
                <a:spcPct val="150000"/>
              </a:lnSpc>
              <a:buNone/>
            </a:pPr>
            <a:r>
              <a:rPr lang="en-US" sz="2800" b="1" dirty="0">
                <a:latin typeface="Calibir"/>
              </a:rPr>
              <a:t>Python</a:t>
            </a:r>
          </a:p>
          <a:p>
            <a:pPr rtl="0">
              <a:lnSpc>
                <a:spcPct val="150000"/>
              </a:lnSpc>
              <a:buNone/>
            </a:pPr>
            <a:r>
              <a:rPr lang="en-US" sz="2800" dirty="0">
                <a:highlight>
                  <a:srgbClr val="FFFF00"/>
                </a:highlight>
                <a:latin typeface="Calibir"/>
              </a:rPr>
              <a:t>def deposit(self):</a:t>
            </a:r>
          </a:p>
          <a:p>
            <a:pPr rtl="0">
              <a:lnSpc>
                <a:spcPct val="150000"/>
              </a:lnSpc>
              <a:buNone/>
            </a:pPr>
            <a:r>
              <a:rPr lang="en-US" sz="2800" dirty="0">
                <a:highlight>
                  <a:srgbClr val="FFFF00"/>
                </a:highlight>
                <a:latin typeface="Calibir"/>
              </a:rPr>
              <a:t>    amount = </a:t>
            </a:r>
            <a:r>
              <a:rPr lang="en-US" sz="2800" dirty="0" err="1">
                <a:highlight>
                  <a:srgbClr val="FFFF00"/>
                </a:highlight>
                <a:latin typeface="Calibir"/>
              </a:rPr>
              <a:t>self.read_amount</a:t>
            </a:r>
            <a:r>
              <a:rPr lang="en-US" sz="2800" dirty="0">
                <a:highlight>
                  <a:srgbClr val="FFFF00"/>
                </a:highlight>
                <a:latin typeface="Calibir"/>
              </a:rPr>
              <a:t>("Amount to deposit: $")</a:t>
            </a:r>
          </a:p>
          <a:p>
            <a:pPr rtl="0">
              <a:lnSpc>
                <a:spcPct val="150000"/>
              </a:lnSpc>
              <a:buNone/>
            </a:pPr>
            <a:r>
              <a:rPr lang="en-US" sz="2800" dirty="0">
                <a:highlight>
                  <a:srgbClr val="FFFF00"/>
                </a:highlight>
                <a:latin typeface="Calibir"/>
              </a:rPr>
              <a:t>    </a:t>
            </a:r>
            <a:r>
              <a:rPr lang="en-US" sz="2800" dirty="0" err="1">
                <a:highlight>
                  <a:srgbClr val="FFFF00"/>
                </a:highlight>
                <a:latin typeface="Calibir"/>
              </a:rPr>
              <a:t>self.savings.deposit</a:t>
            </a:r>
            <a:r>
              <a:rPr lang="en-US" sz="2800" dirty="0">
                <a:highlight>
                  <a:srgbClr val="FFFF00"/>
                </a:highlight>
                <a:latin typeface="Calibir"/>
              </a:rPr>
              <a:t>(amount)</a:t>
            </a:r>
          </a:p>
        </p:txBody>
      </p:sp>
      <p:sp>
        <p:nvSpPr>
          <p:cNvPr id="7" name="Title 1">
            <a:extLst>
              <a:ext uri="{FF2B5EF4-FFF2-40B4-BE49-F238E27FC236}">
                <a16:creationId xmlns:a16="http://schemas.microsoft.com/office/drawing/2014/main" id="{4F7CA46D-2971-9799-DDD7-4ADA9AEB5EED}"/>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Tree>
    <p:custDataLst>
      <p:tags r:id="rId1"/>
    </p:custDataLst>
    <p:extLst>
      <p:ext uri="{BB962C8B-B14F-4D97-AF65-F5344CB8AC3E}">
        <p14:creationId xmlns:p14="http://schemas.microsoft.com/office/powerpoint/2010/main" val="258133784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921ED-ACAE-8EB0-6647-43AA54989D39}"/>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392A0CAC-F0DD-5C0E-4489-F776286D5DA5}"/>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
        <p:nvSpPr>
          <p:cNvPr id="3" name="TextBox 2">
            <a:extLst>
              <a:ext uri="{FF2B5EF4-FFF2-40B4-BE49-F238E27FC236}">
                <a16:creationId xmlns:a16="http://schemas.microsoft.com/office/drawing/2014/main" id="{6E358D0F-9298-C9B3-CCC4-05763CA6361A}"/>
              </a:ext>
            </a:extLst>
          </p:cNvPr>
          <p:cNvSpPr txBox="1"/>
          <p:nvPr/>
        </p:nvSpPr>
        <p:spPr>
          <a:xfrm>
            <a:off x="103239" y="1076633"/>
            <a:ext cx="11783960" cy="5262979"/>
          </a:xfrm>
          <a:prstGeom prst="rect">
            <a:avLst/>
          </a:prstGeom>
          <a:noFill/>
        </p:spPr>
        <p:txBody>
          <a:bodyPr wrap="square">
            <a:spAutoFit/>
          </a:bodyPr>
          <a:lstStyle/>
          <a:p>
            <a:pPr>
              <a:buNone/>
            </a:pPr>
            <a:r>
              <a:rPr lang="en-US" sz="2800" b="1" dirty="0">
                <a:latin typeface="Calibir"/>
              </a:rPr>
              <a:t>Java</a:t>
            </a:r>
          </a:p>
          <a:p>
            <a:pPr rtl="0">
              <a:buNone/>
            </a:pPr>
            <a:r>
              <a:rPr lang="en-US" sz="2800" dirty="0">
                <a:highlight>
                  <a:srgbClr val="FFFF00"/>
                </a:highlight>
                <a:latin typeface="Calibir"/>
              </a:rPr>
              <a:t>public void deposit(</a:t>
            </a:r>
          </a:p>
          <a:p>
            <a:pPr rtl="0">
              <a:buNone/>
            </a:pPr>
            <a:r>
              <a:rPr lang="en-US" sz="2800" dirty="0">
                <a:highlight>
                  <a:srgbClr val="FFFF00"/>
                </a:highlight>
                <a:latin typeface="Calibir"/>
              </a:rPr>
              <a:t>        Scanner input) {</a:t>
            </a:r>
          </a:p>
          <a:p>
            <a:pPr rtl="0">
              <a:buNone/>
            </a:pPr>
            <a:endParaRPr lang="en-US" sz="2800" dirty="0">
              <a:highlight>
                <a:srgbClr val="FFFF00"/>
              </a:highlight>
              <a:latin typeface="Calibir"/>
            </a:endParaRPr>
          </a:p>
          <a:p>
            <a:pPr rtl="0">
              <a:buNone/>
            </a:pPr>
            <a:r>
              <a:rPr lang="en-US" sz="2800" dirty="0">
                <a:highlight>
                  <a:srgbClr val="FFFF00"/>
                </a:highlight>
                <a:latin typeface="Calibir"/>
              </a:rPr>
              <a:t>    double amount =</a:t>
            </a:r>
          </a:p>
          <a:p>
            <a:pPr rtl="0">
              <a:buNone/>
            </a:pPr>
            <a:r>
              <a:rPr lang="en-US" sz="2800" dirty="0">
                <a:highlight>
                  <a:srgbClr val="FFFF00"/>
                </a:highlight>
                <a:latin typeface="Calibir"/>
              </a:rPr>
              <a:t>            </a:t>
            </a:r>
            <a:r>
              <a:rPr lang="en-US" sz="2800" dirty="0" err="1">
                <a:highlight>
                  <a:srgbClr val="FFFF00"/>
                </a:highlight>
                <a:latin typeface="Calibir"/>
              </a:rPr>
              <a:t>readAmount</a:t>
            </a:r>
            <a:r>
              <a:rPr lang="en-US" sz="2800" dirty="0">
                <a:highlight>
                  <a:srgbClr val="FFFF00"/>
                </a:highlight>
                <a:latin typeface="Calibir"/>
              </a:rPr>
              <a:t>(</a:t>
            </a:r>
          </a:p>
          <a:p>
            <a:pPr rtl="0">
              <a:buNone/>
            </a:pPr>
            <a:r>
              <a:rPr lang="en-US" sz="2800" dirty="0">
                <a:highlight>
                  <a:srgbClr val="FFFF00"/>
                </a:highlight>
                <a:latin typeface="Calibir"/>
              </a:rPr>
              <a:t>                input,</a:t>
            </a:r>
          </a:p>
          <a:p>
            <a:pPr rtl="0">
              <a:buNone/>
            </a:pPr>
            <a:r>
              <a:rPr lang="en-US" sz="2800" dirty="0">
                <a:highlight>
                  <a:srgbClr val="FFFF00"/>
                </a:highlight>
                <a:latin typeface="Calibir"/>
              </a:rPr>
              <a:t>                "Amount to deposit: $"</a:t>
            </a:r>
          </a:p>
          <a:p>
            <a:pPr rtl="0">
              <a:buNone/>
            </a:pPr>
            <a:r>
              <a:rPr lang="en-US" sz="2800" dirty="0">
                <a:highlight>
                  <a:srgbClr val="FFFF00"/>
                </a:highlight>
                <a:latin typeface="Calibir"/>
              </a:rPr>
              <a:t>            );</a:t>
            </a:r>
          </a:p>
          <a:p>
            <a:pPr rtl="0">
              <a:buNone/>
            </a:pPr>
            <a:endParaRPr lang="en-US" sz="2800" dirty="0">
              <a:highlight>
                <a:srgbClr val="FFFF00"/>
              </a:highlight>
              <a:latin typeface="Calibir"/>
            </a:endParaRPr>
          </a:p>
          <a:p>
            <a:pPr rtl="0">
              <a:buNone/>
            </a:pPr>
            <a:r>
              <a:rPr lang="en-US" sz="2800" dirty="0">
                <a:highlight>
                  <a:srgbClr val="FFFF00"/>
                </a:highlight>
                <a:latin typeface="Calibir"/>
              </a:rPr>
              <a:t>    </a:t>
            </a:r>
            <a:r>
              <a:rPr lang="en-US" sz="2800" dirty="0" err="1">
                <a:highlight>
                  <a:srgbClr val="FFFF00"/>
                </a:highlight>
                <a:latin typeface="Calibir"/>
              </a:rPr>
              <a:t>savings.deposit</a:t>
            </a:r>
            <a:r>
              <a:rPr lang="en-US" sz="2800" dirty="0">
                <a:highlight>
                  <a:srgbClr val="FFFF00"/>
                </a:highlight>
                <a:latin typeface="Calibir"/>
              </a:rPr>
              <a:t>(amount);</a:t>
            </a:r>
          </a:p>
          <a:p>
            <a:pPr rtl="0">
              <a:buNone/>
            </a:pPr>
            <a:r>
              <a:rPr lang="en-US" sz="2800" dirty="0">
                <a:highlight>
                  <a:srgbClr val="FFFF00"/>
                </a:highlight>
                <a:latin typeface="Calibir"/>
              </a:rPr>
              <a:t>}</a:t>
            </a:r>
          </a:p>
        </p:txBody>
      </p:sp>
    </p:spTree>
    <p:custDataLst>
      <p:tags r:id="rId1"/>
    </p:custDataLst>
    <p:extLst>
      <p:ext uri="{BB962C8B-B14F-4D97-AF65-F5344CB8AC3E}">
        <p14:creationId xmlns:p14="http://schemas.microsoft.com/office/powerpoint/2010/main" val="140243338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E0D5B-731B-6194-2959-A7B02EAA9D08}"/>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02FFD281-EE27-7479-2034-ADB4C87C2979}"/>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
        <p:nvSpPr>
          <p:cNvPr id="4" name="TextBox 3">
            <a:extLst>
              <a:ext uri="{FF2B5EF4-FFF2-40B4-BE49-F238E27FC236}">
                <a16:creationId xmlns:a16="http://schemas.microsoft.com/office/drawing/2014/main" id="{9B905357-0D57-1576-32DF-0448FCD21008}"/>
              </a:ext>
            </a:extLst>
          </p:cNvPr>
          <p:cNvSpPr txBox="1"/>
          <p:nvPr/>
        </p:nvSpPr>
        <p:spPr>
          <a:xfrm>
            <a:off x="0" y="657922"/>
            <a:ext cx="11990438" cy="5196166"/>
          </a:xfrm>
          <a:prstGeom prst="rect">
            <a:avLst/>
          </a:prstGeom>
          <a:noFill/>
        </p:spPr>
        <p:txBody>
          <a:bodyPr wrap="square">
            <a:spAutoFit/>
          </a:bodyPr>
          <a:lstStyle/>
          <a:p>
            <a:pPr>
              <a:lnSpc>
                <a:spcPct val="150000"/>
              </a:lnSpc>
              <a:buNone/>
            </a:pPr>
            <a:r>
              <a:rPr lang="en-US" sz="2800" b="1" dirty="0">
                <a:latin typeface="Calibir"/>
              </a:rPr>
              <a:t>Step 12 — Customer withdraw()</a:t>
            </a:r>
          </a:p>
          <a:p>
            <a:pPr>
              <a:lnSpc>
                <a:spcPct val="150000"/>
              </a:lnSpc>
              <a:buNone/>
            </a:pPr>
            <a:r>
              <a:rPr lang="en-US" sz="2800" b="1" dirty="0">
                <a:latin typeface="Calibir"/>
              </a:rPr>
              <a:t>Python</a:t>
            </a:r>
          </a:p>
          <a:p>
            <a:pPr rtl="0">
              <a:lnSpc>
                <a:spcPct val="150000"/>
              </a:lnSpc>
              <a:buNone/>
            </a:pPr>
            <a:r>
              <a:rPr lang="en-US" sz="2800" dirty="0">
                <a:highlight>
                  <a:srgbClr val="FFFF00"/>
                </a:highlight>
                <a:latin typeface="Calibir"/>
              </a:rPr>
              <a:t>def withdraw(self):</a:t>
            </a:r>
          </a:p>
          <a:p>
            <a:pPr rtl="0">
              <a:lnSpc>
                <a:spcPct val="150000"/>
              </a:lnSpc>
              <a:buNone/>
            </a:pPr>
            <a:r>
              <a:rPr lang="en-US" sz="2800" dirty="0">
                <a:highlight>
                  <a:srgbClr val="FFFF00"/>
                </a:highlight>
                <a:latin typeface="Calibir"/>
              </a:rPr>
              <a:t>    amount = </a:t>
            </a:r>
            <a:r>
              <a:rPr lang="en-US" sz="2800" dirty="0" err="1">
                <a:highlight>
                  <a:srgbClr val="FFFF00"/>
                </a:highlight>
                <a:latin typeface="Calibir"/>
              </a:rPr>
              <a:t>self.read_amount</a:t>
            </a:r>
            <a:r>
              <a:rPr lang="en-US" sz="2800" dirty="0">
                <a:highlight>
                  <a:srgbClr val="FFFF00"/>
                </a:highlight>
                <a:latin typeface="Calibir"/>
              </a:rPr>
              <a:t>("Amount to withdraw: $")</a:t>
            </a:r>
          </a:p>
          <a:p>
            <a:pPr rtl="0">
              <a:lnSpc>
                <a:spcPct val="150000"/>
              </a:lnSpc>
              <a:buNone/>
            </a:pPr>
            <a:r>
              <a:rPr lang="en-US" sz="2800" dirty="0">
                <a:highlight>
                  <a:srgbClr val="FFFF00"/>
                </a:highlight>
                <a:latin typeface="Calibir"/>
              </a:rPr>
              <a:t>    try:</a:t>
            </a:r>
          </a:p>
          <a:p>
            <a:pPr rtl="0">
              <a:lnSpc>
                <a:spcPct val="150000"/>
              </a:lnSpc>
              <a:buNone/>
            </a:pPr>
            <a:r>
              <a:rPr lang="en-US" sz="2800" dirty="0">
                <a:highlight>
                  <a:srgbClr val="FFFF00"/>
                </a:highlight>
                <a:latin typeface="Calibir"/>
              </a:rPr>
              <a:t>        </a:t>
            </a:r>
            <a:r>
              <a:rPr lang="en-US" sz="2800" dirty="0" err="1">
                <a:highlight>
                  <a:srgbClr val="FFFF00"/>
                </a:highlight>
                <a:latin typeface="Calibir"/>
              </a:rPr>
              <a:t>self.savings.withdraw</a:t>
            </a:r>
            <a:r>
              <a:rPr lang="en-US" sz="2800" dirty="0">
                <a:highlight>
                  <a:srgbClr val="FFFF00"/>
                </a:highlight>
                <a:latin typeface="Calibir"/>
              </a:rPr>
              <a:t>(amount)</a:t>
            </a:r>
          </a:p>
          <a:p>
            <a:pPr rtl="0">
              <a:lnSpc>
                <a:spcPct val="150000"/>
              </a:lnSpc>
              <a:buNone/>
            </a:pPr>
            <a:r>
              <a:rPr lang="en-US" sz="2800" dirty="0">
                <a:highlight>
                  <a:srgbClr val="FFFF00"/>
                </a:highlight>
                <a:latin typeface="Calibir"/>
              </a:rPr>
              <a:t>    except </a:t>
            </a:r>
            <a:r>
              <a:rPr lang="en-US" sz="2800" dirty="0" err="1">
                <a:highlight>
                  <a:srgbClr val="FFFF00"/>
                </a:highlight>
                <a:latin typeface="Calibir"/>
              </a:rPr>
              <a:t>ValueError</a:t>
            </a:r>
            <a:r>
              <a:rPr lang="en-US" sz="2800" dirty="0">
                <a:highlight>
                  <a:srgbClr val="FFFF00"/>
                </a:highlight>
                <a:latin typeface="Calibir"/>
              </a:rPr>
              <a:t> as error:</a:t>
            </a:r>
          </a:p>
          <a:p>
            <a:pPr rtl="0">
              <a:lnSpc>
                <a:spcPct val="150000"/>
              </a:lnSpc>
              <a:buNone/>
            </a:pPr>
            <a:r>
              <a:rPr lang="en-US" sz="2800" dirty="0">
                <a:highlight>
                  <a:srgbClr val="FFFF00"/>
                </a:highlight>
                <a:latin typeface="Calibir"/>
              </a:rPr>
              <a:t>        print(error)</a:t>
            </a:r>
          </a:p>
        </p:txBody>
      </p:sp>
    </p:spTree>
    <p:custDataLst>
      <p:tags r:id="rId1"/>
    </p:custDataLst>
    <p:extLst>
      <p:ext uri="{BB962C8B-B14F-4D97-AF65-F5344CB8AC3E}">
        <p14:creationId xmlns:p14="http://schemas.microsoft.com/office/powerpoint/2010/main" val="243116850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744F5-9B12-2F8C-A59C-4334DC675B7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6FAA95B-FCB8-02D4-EDB5-2B5264FA2B48}"/>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
        <p:nvSpPr>
          <p:cNvPr id="6" name="TextBox 5">
            <a:extLst>
              <a:ext uri="{FF2B5EF4-FFF2-40B4-BE49-F238E27FC236}">
                <a16:creationId xmlns:a16="http://schemas.microsoft.com/office/drawing/2014/main" id="{321F9CE1-9EC8-FD2C-8DB0-4A89ECECD22A}"/>
              </a:ext>
            </a:extLst>
          </p:cNvPr>
          <p:cNvSpPr txBox="1"/>
          <p:nvPr/>
        </p:nvSpPr>
        <p:spPr>
          <a:xfrm>
            <a:off x="0" y="956212"/>
            <a:ext cx="9066571" cy="5196166"/>
          </a:xfrm>
          <a:prstGeom prst="rect">
            <a:avLst/>
          </a:prstGeom>
          <a:noFill/>
        </p:spPr>
        <p:txBody>
          <a:bodyPr wrap="square">
            <a:spAutoFit/>
          </a:bodyPr>
          <a:lstStyle/>
          <a:p>
            <a:pPr>
              <a:lnSpc>
                <a:spcPct val="150000"/>
              </a:lnSpc>
              <a:buNone/>
            </a:pPr>
            <a:r>
              <a:rPr lang="en-US" sz="2800" b="1" dirty="0">
                <a:latin typeface="Calibir"/>
              </a:rPr>
              <a:t>Step 13 — Customer transfer()</a:t>
            </a:r>
          </a:p>
          <a:p>
            <a:pPr>
              <a:lnSpc>
                <a:spcPct val="150000"/>
              </a:lnSpc>
              <a:buNone/>
            </a:pPr>
            <a:r>
              <a:rPr lang="en-US" sz="2800" b="1" dirty="0">
                <a:latin typeface="Calibir"/>
              </a:rPr>
              <a:t>Python</a:t>
            </a:r>
          </a:p>
          <a:p>
            <a:pPr rtl="0">
              <a:lnSpc>
                <a:spcPct val="150000"/>
              </a:lnSpc>
              <a:buNone/>
            </a:pPr>
            <a:r>
              <a:rPr lang="en-US" sz="2800" dirty="0">
                <a:highlight>
                  <a:srgbClr val="FFFF00"/>
                </a:highlight>
                <a:latin typeface="Calibir"/>
              </a:rPr>
              <a:t>def transfer(self):</a:t>
            </a:r>
          </a:p>
          <a:p>
            <a:pPr rtl="0">
              <a:lnSpc>
                <a:spcPct val="150000"/>
              </a:lnSpc>
              <a:buNone/>
            </a:pPr>
            <a:r>
              <a:rPr lang="en-US" sz="2800" dirty="0">
                <a:highlight>
                  <a:srgbClr val="FFFF00"/>
                </a:highlight>
                <a:latin typeface="Calibir"/>
              </a:rPr>
              <a:t>    amount = </a:t>
            </a:r>
            <a:r>
              <a:rPr lang="en-US" sz="2800" dirty="0" err="1">
                <a:highlight>
                  <a:srgbClr val="FFFF00"/>
                </a:highlight>
                <a:latin typeface="Calibir"/>
              </a:rPr>
              <a:t>self.read_amount</a:t>
            </a:r>
            <a:r>
              <a:rPr lang="en-US" sz="2800" dirty="0">
                <a:highlight>
                  <a:srgbClr val="FFFF00"/>
                </a:highlight>
                <a:latin typeface="Calibir"/>
              </a:rPr>
              <a:t>("Amount to transfer: $")</a:t>
            </a:r>
          </a:p>
          <a:p>
            <a:pPr rtl="0">
              <a:lnSpc>
                <a:spcPct val="150000"/>
              </a:lnSpc>
              <a:buNone/>
            </a:pPr>
            <a:r>
              <a:rPr lang="en-US" sz="2800" dirty="0">
                <a:highlight>
                  <a:srgbClr val="FFFF00"/>
                </a:highlight>
                <a:latin typeface="Calibir"/>
              </a:rPr>
              <a:t>    try:</a:t>
            </a:r>
          </a:p>
          <a:p>
            <a:pPr rtl="0">
              <a:lnSpc>
                <a:spcPct val="150000"/>
              </a:lnSpc>
              <a:buNone/>
            </a:pPr>
            <a:r>
              <a:rPr lang="en-US" sz="2800" dirty="0">
                <a:highlight>
                  <a:srgbClr val="FFFF00"/>
                </a:highlight>
                <a:latin typeface="Calibir"/>
              </a:rPr>
              <a:t>        </a:t>
            </a:r>
            <a:r>
              <a:rPr lang="en-US" sz="2800" dirty="0" err="1">
                <a:highlight>
                  <a:srgbClr val="FFFF00"/>
                </a:highlight>
                <a:latin typeface="Calibir"/>
              </a:rPr>
              <a:t>self.savings.transfer_to_loan</a:t>
            </a:r>
            <a:r>
              <a:rPr lang="en-US" sz="2800" dirty="0">
                <a:highlight>
                  <a:srgbClr val="FFFF00"/>
                </a:highlight>
                <a:latin typeface="Calibir"/>
              </a:rPr>
              <a:t>(amount, </a:t>
            </a:r>
            <a:r>
              <a:rPr lang="en-US" sz="2800" dirty="0" err="1">
                <a:highlight>
                  <a:srgbClr val="FFFF00"/>
                </a:highlight>
                <a:latin typeface="Calibir"/>
              </a:rPr>
              <a:t>self.loan</a:t>
            </a:r>
            <a:r>
              <a:rPr lang="en-US" sz="2800" dirty="0">
                <a:highlight>
                  <a:srgbClr val="FFFF00"/>
                </a:highlight>
                <a:latin typeface="Calibir"/>
              </a:rPr>
              <a:t>)</a:t>
            </a:r>
          </a:p>
          <a:p>
            <a:pPr rtl="0">
              <a:lnSpc>
                <a:spcPct val="150000"/>
              </a:lnSpc>
              <a:buNone/>
            </a:pPr>
            <a:r>
              <a:rPr lang="en-US" sz="2800" dirty="0">
                <a:highlight>
                  <a:srgbClr val="FFFF00"/>
                </a:highlight>
                <a:latin typeface="Calibir"/>
              </a:rPr>
              <a:t>    except </a:t>
            </a:r>
            <a:r>
              <a:rPr lang="en-US" sz="2800" dirty="0" err="1">
                <a:highlight>
                  <a:srgbClr val="FFFF00"/>
                </a:highlight>
                <a:latin typeface="Calibir"/>
              </a:rPr>
              <a:t>ValueError</a:t>
            </a:r>
            <a:r>
              <a:rPr lang="en-US" sz="2800" dirty="0">
                <a:highlight>
                  <a:srgbClr val="FFFF00"/>
                </a:highlight>
                <a:latin typeface="Calibir"/>
              </a:rPr>
              <a:t> as error:</a:t>
            </a:r>
          </a:p>
          <a:p>
            <a:pPr rtl="0">
              <a:lnSpc>
                <a:spcPct val="150000"/>
              </a:lnSpc>
              <a:buNone/>
            </a:pPr>
            <a:r>
              <a:rPr lang="en-US" sz="2800" dirty="0">
                <a:highlight>
                  <a:srgbClr val="FFFF00"/>
                </a:highlight>
                <a:latin typeface="Calibir"/>
              </a:rPr>
              <a:t>        print(error)</a:t>
            </a:r>
          </a:p>
        </p:txBody>
      </p:sp>
    </p:spTree>
    <p:custDataLst>
      <p:tags r:id="rId1"/>
    </p:custDataLst>
    <p:extLst>
      <p:ext uri="{BB962C8B-B14F-4D97-AF65-F5344CB8AC3E}">
        <p14:creationId xmlns:p14="http://schemas.microsoft.com/office/powerpoint/2010/main" val="47000003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F1849-729A-EB27-976F-7CB317C0E0B2}"/>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6C636F49-1F77-EDB1-E68B-27B786ADC7E8}"/>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
        <p:nvSpPr>
          <p:cNvPr id="3" name="TextBox 2">
            <a:extLst>
              <a:ext uri="{FF2B5EF4-FFF2-40B4-BE49-F238E27FC236}">
                <a16:creationId xmlns:a16="http://schemas.microsoft.com/office/drawing/2014/main" id="{A538645E-6E69-AD2A-77D2-FD5EA82243E8}"/>
              </a:ext>
            </a:extLst>
          </p:cNvPr>
          <p:cNvSpPr txBox="1"/>
          <p:nvPr/>
        </p:nvSpPr>
        <p:spPr>
          <a:xfrm>
            <a:off x="6920681" y="0"/>
            <a:ext cx="6201696" cy="6909584"/>
          </a:xfrm>
          <a:prstGeom prst="rect">
            <a:avLst/>
          </a:prstGeom>
          <a:noFill/>
        </p:spPr>
        <p:txBody>
          <a:bodyPr wrap="square">
            <a:spAutoFit/>
          </a:bodyPr>
          <a:lstStyle/>
          <a:p>
            <a:pPr>
              <a:buNone/>
            </a:pPr>
            <a:r>
              <a:rPr lang="en-US" b="1" dirty="0"/>
              <a:t>Java</a:t>
            </a:r>
          </a:p>
          <a:p>
            <a:pPr rtl="0">
              <a:buNone/>
            </a:pPr>
            <a:r>
              <a:rPr lang="en-US" sz="1700" dirty="0">
                <a:highlight>
                  <a:srgbClr val="FFFF00"/>
                </a:highlight>
                <a:latin typeface="Calibir"/>
              </a:rPr>
              <a:t>public void transfer(</a:t>
            </a:r>
          </a:p>
          <a:p>
            <a:pPr rtl="0">
              <a:buNone/>
            </a:pPr>
            <a:r>
              <a:rPr lang="en-US" sz="1700" dirty="0">
                <a:highlight>
                  <a:srgbClr val="FFFF00"/>
                </a:highlight>
                <a:latin typeface="Calibir"/>
              </a:rPr>
              <a:t>        Scanner input) {</a:t>
            </a:r>
          </a:p>
          <a:p>
            <a:pPr rtl="0">
              <a:buNone/>
            </a:pPr>
            <a:endParaRPr lang="en-US" sz="1700" dirty="0">
              <a:highlight>
                <a:srgbClr val="FFFF00"/>
              </a:highlight>
              <a:latin typeface="Calibir"/>
            </a:endParaRPr>
          </a:p>
          <a:p>
            <a:pPr rtl="0">
              <a:buNone/>
            </a:pPr>
            <a:r>
              <a:rPr lang="en-US" sz="1700" dirty="0">
                <a:highlight>
                  <a:srgbClr val="FFFF00"/>
                </a:highlight>
                <a:latin typeface="Calibir"/>
              </a:rPr>
              <a:t>    double amount =</a:t>
            </a:r>
          </a:p>
          <a:p>
            <a:pPr rtl="0">
              <a:buNone/>
            </a:pPr>
            <a:r>
              <a:rPr lang="en-US" sz="1700" dirty="0">
                <a:highlight>
                  <a:srgbClr val="FFFF00"/>
                </a:highlight>
                <a:latin typeface="Calibir"/>
              </a:rPr>
              <a:t>            </a:t>
            </a:r>
            <a:r>
              <a:rPr lang="en-US" sz="1700" dirty="0" err="1">
                <a:highlight>
                  <a:srgbClr val="FFFF00"/>
                </a:highlight>
                <a:latin typeface="Calibir"/>
              </a:rPr>
              <a:t>readAmount</a:t>
            </a:r>
            <a:r>
              <a:rPr lang="en-US" sz="1700" dirty="0">
                <a:highlight>
                  <a:srgbClr val="FFFF00"/>
                </a:highlight>
                <a:latin typeface="Calibir"/>
              </a:rPr>
              <a:t>(</a:t>
            </a:r>
          </a:p>
          <a:p>
            <a:pPr rtl="0">
              <a:buNone/>
            </a:pPr>
            <a:r>
              <a:rPr lang="en-US" sz="1700" dirty="0">
                <a:highlight>
                  <a:srgbClr val="FFFF00"/>
                </a:highlight>
                <a:latin typeface="Calibir"/>
              </a:rPr>
              <a:t>                input,</a:t>
            </a:r>
          </a:p>
          <a:p>
            <a:pPr rtl="0">
              <a:buNone/>
            </a:pPr>
            <a:r>
              <a:rPr lang="en-US" sz="1700" dirty="0">
                <a:highlight>
                  <a:srgbClr val="FFFF00"/>
                </a:highlight>
                <a:latin typeface="Calibir"/>
              </a:rPr>
              <a:t>                "Amount to transfer: $"</a:t>
            </a:r>
          </a:p>
          <a:p>
            <a:pPr rtl="0">
              <a:buNone/>
            </a:pPr>
            <a:r>
              <a:rPr lang="en-US" sz="1700" dirty="0">
                <a:highlight>
                  <a:srgbClr val="FFFF00"/>
                </a:highlight>
                <a:latin typeface="Calibir"/>
              </a:rPr>
              <a:t>            );</a:t>
            </a:r>
          </a:p>
          <a:p>
            <a:pPr rtl="0">
              <a:buNone/>
            </a:pPr>
            <a:endParaRPr lang="en-US" sz="1700" dirty="0">
              <a:highlight>
                <a:srgbClr val="FFFF00"/>
              </a:highlight>
              <a:latin typeface="Calibir"/>
            </a:endParaRPr>
          </a:p>
          <a:p>
            <a:pPr rtl="0">
              <a:buNone/>
            </a:pPr>
            <a:r>
              <a:rPr lang="en-US" sz="1700" dirty="0">
                <a:highlight>
                  <a:srgbClr val="FFFF00"/>
                </a:highlight>
                <a:latin typeface="Calibir"/>
              </a:rPr>
              <a:t>    try {</a:t>
            </a:r>
          </a:p>
          <a:p>
            <a:pPr rtl="0">
              <a:buNone/>
            </a:pPr>
            <a:endParaRPr lang="en-US" sz="1700" dirty="0">
              <a:highlight>
                <a:srgbClr val="FFFF00"/>
              </a:highlight>
              <a:latin typeface="Calibir"/>
            </a:endParaRPr>
          </a:p>
          <a:p>
            <a:pPr rtl="0">
              <a:buNone/>
            </a:pPr>
            <a:r>
              <a:rPr lang="en-US" sz="1700" dirty="0">
                <a:highlight>
                  <a:srgbClr val="FFFF00"/>
                </a:highlight>
                <a:latin typeface="Calibir"/>
              </a:rPr>
              <a:t>        </a:t>
            </a:r>
            <a:r>
              <a:rPr lang="en-US" sz="1700" dirty="0" err="1">
                <a:highlight>
                  <a:srgbClr val="FFFF00"/>
                </a:highlight>
                <a:latin typeface="Calibir"/>
              </a:rPr>
              <a:t>savings.transferToLoan</a:t>
            </a:r>
            <a:r>
              <a:rPr lang="en-US" sz="1700" dirty="0">
                <a:highlight>
                  <a:srgbClr val="FFFF00"/>
                </a:highlight>
                <a:latin typeface="Calibir"/>
              </a:rPr>
              <a:t>(</a:t>
            </a:r>
          </a:p>
          <a:p>
            <a:pPr rtl="0">
              <a:buNone/>
            </a:pPr>
            <a:r>
              <a:rPr lang="en-US" sz="1700" dirty="0">
                <a:highlight>
                  <a:srgbClr val="FFFF00"/>
                </a:highlight>
                <a:latin typeface="Calibir"/>
              </a:rPr>
              <a:t>            amount,</a:t>
            </a:r>
          </a:p>
          <a:p>
            <a:pPr rtl="0">
              <a:buNone/>
            </a:pPr>
            <a:r>
              <a:rPr lang="en-US" sz="1700" dirty="0">
                <a:highlight>
                  <a:srgbClr val="FFFF00"/>
                </a:highlight>
                <a:latin typeface="Calibir"/>
              </a:rPr>
              <a:t>            loan</a:t>
            </a:r>
          </a:p>
          <a:p>
            <a:pPr rtl="0">
              <a:buNone/>
            </a:pPr>
            <a:r>
              <a:rPr lang="en-US" sz="1700" dirty="0">
                <a:highlight>
                  <a:srgbClr val="FFFF00"/>
                </a:highlight>
                <a:latin typeface="Calibir"/>
              </a:rPr>
              <a:t>        );</a:t>
            </a:r>
          </a:p>
          <a:p>
            <a:pPr rtl="0">
              <a:buNone/>
            </a:pPr>
            <a:endParaRPr lang="en-US" sz="1700" dirty="0">
              <a:highlight>
                <a:srgbClr val="FFFF00"/>
              </a:highlight>
              <a:latin typeface="Calibir"/>
            </a:endParaRPr>
          </a:p>
          <a:p>
            <a:pPr rtl="0">
              <a:buNone/>
            </a:pPr>
            <a:r>
              <a:rPr lang="en-US" sz="1700" dirty="0">
                <a:highlight>
                  <a:srgbClr val="FFFF00"/>
                </a:highlight>
                <a:latin typeface="Calibir"/>
              </a:rPr>
              <a:t>    } catch (</a:t>
            </a:r>
          </a:p>
          <a:p>
            <a:pPr rtl="0">
              <a:buNone/>
            </a:pPr>
            <a:r>
              <a:rPr lang="en-US" sz="1700" dirty="0">
                <a:highlight>
                  <a:srgbClr val="FFFF00"/>
                </a:highlight>
                <a:latin typeface="Calibir"/>
              </a:rPr>
              <a:t>        </a:t>
            </a:r>
            <a:r>
              <a:rPr lang="en-US" sz="1700" dirty="0" err="1">
                <a:highlight>
                  <a:srgbClr val="FFFF00"/>
                </a:highlight>
                <a:latin typeface="Calibir"/>
              </a:rPr>
              <a:t>IllegalArgumentException</a:t>
            </a:r>
            <a:r>
              <a:rPr lang="en-US" sz="1700" dirty="0">
                <a:highlight>
                  <a:srgbClr val="FFFF00"/>
                </a:highlight>
                <a:latin typeface="Calibir"/>
              </a:rPr>
              <a:t> error</a:t>
            </a:r>
          </a:p>
          <a:p>
            <a:pPr rtl="0">
              <a:buNone/>
            </a:pPr>
            <a:r>
              <a:rPr lang="en-US" sz="1700" dirty="0">
                <a:highlight>
                  <a:srgbClr val="FFFF00"/>
                </a:highlight>
                <a:latin typeface="Calibir"/>
              </a:rPr>
              <a:t>    ) {</a:t>
            </a:r>
          </a:p>
          <a:p>
            <a:pPr rtl="0">
              <a:buNone/>
            </a:pPr>
            <a:endParaRPr lang="en-US" sz="1700" dirty="0">
              <a:highlight>
                <a:srgbClr val="FFFF00"/>
              </a:highlight>
              <a:latin typeface="Calibir"/>
            </a:endParaRPr>
          </a:p>
          <a:p>
            <a:pPr rtl="0">
              <a:buNone/>
            </a:pPr>
            <a:r>
              <a:rPr lang="en-US" sz="1700" dirty="0">
                <a:highlight>
                  <a:srgbClr val="FFFF00"/>
                </a:highlight>
                <a:latin typeface="Calibir"/>
              </a:rPr>
              <a:t>        </a:t>
            </a:r>
            <a:r>
              <a:rPr lang="en-US" sz="1700" dirty="0" err="1">
                <a:highlight>
                  <a:srgbClr val="FFFF00"/>
                </a:highlight>
                <a:latin typeface="Calibir"/>
              </a:rPr>
              <a:t>System.out.println</a:t>
            </a:r>
            <a:r>
              <a:rPr lang="en-US" sz="1700" dirty="0">
                <a:highlight>
                  <a:srgbClr val="FFFF00"/>
                </a:highlight>
                <a:latin typeface="Calibir"/>
              </a:rPr>
              <a:t>(</a:t>
            </a:r>
          </a:p>
          <a:p>
            <a:pPr rtl="0">
              <a:buNone/>
            </a:pPr>
            <a:r>
              <a:rPr lang="en-US" sz="1700" dirty="0">
                <a:highlight>
                  <a:srgbClr val="FFFF00"/>
                </a:highlight>
                <a:latin typeface="Calibir"/>
              </a:rPr>
              <a:t>            </a:t>
            </a:r>
            <a:r>
              <a:rPr lang="en-US" sz="1700" dirty="0" err="1">
                <a:highlight>
                  <a:srgbClr val="FFFF00"/>
                </a:highlight>
                <a:latin typeface="Calibir"/>
              </a:rPr>
              <a:t>error.getMessage</a:t>
            </a:r>
            <a:r>
              <a:rPr lang="en-US" sz="1700" dirty="0">
                <a:highlight>
                  <a:srgbClr val="FFFF00"/>
                </a:highlight>
                <a:latin typeface="Calibir"/>
              </a:rPr>
              <a:t>()</a:t>
            </a:r>
          </a:p>
          <a:p>
            <a:pPr rtl="0">
              <a:buNone/>
            </a:pPr>
            <a:r>
              <a:rPr lang="en-US" sz="1700" dirty="0">
                <a:highlight>
                  <a:srgbClr val="FFFF00"/>
                </a:highlight>
                <a:latin typeface="Calibir"/>
              </a:rPr>
              <a:t>        );</a:t>
            </a:r>
          </a:p>
          <a:p>
            <a:pPr rtl="0">
              <a:buNone/>
            </a:pPr>
            <a:r>
              <a:rPr lang="en-US" sz="1700" dirty="0">
                <a:highlight>
                  <a:srgbClr val="FFFF00"/>
                </a:highlight>
                <a:latin typeface="Calibir"/>
              </a:rPr>
              <a:t>    }</a:t>
            </a:r>
          </a:p>
          <a:p>
            <a:pPr rtl="0">
              <a:buNone/>
            </a:pPr>
            <a:r>
              <a:rPr lang="en-US" sz="1700" dirty="0">
                <a:highlight>
                  <a:srgbClr val="FFFF00"/>
                </a:highlight>
                <a:latin typeface="Calibir"/>
              </a:rPr>
              <a:t>}</a:t>
            </a:r>
          </a:p>
        </p:txBody>
      </p:sp>
    </p:spTree>
    <p:custDataLst>
      <p:tags r:id="rId1"/>
    </p:custDataLst>
    <p:extLst>
      <p:ext uri="{BB962C8B-B14F-4D97-AF65-F5344CB8AC3E}">
        <p14:creationId xmlns:p14="http://schemas.microsoft.com/office/powerpoint/2010/main" val="225687764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79585-CCDE-3D49-B455-0C1749483876}"/>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6D4FCC90-C3A5-8D4D-E077-C991AF02A532}"/>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
        <p:nvSpPr>
          <p:cNvPr id="4" name="TextBox 3">
            <a:extLst>
              <a:ext uri="{FF2B5EF4-FFF2-40B4-BE49-F238E27FC236}">
                <a16:creationId xmlns:a16="http://schemas.microsoft.com/office/drawing/2014/main" id="{4391950B-C390-51EE-90F2-B43321A3E3D8}"/>
              </a:ext>
            </a:extLst>
          </p:cNvPr>
          <p:cNvSpPr txBox="1"/>
          <p:nvPr/>
        </p:nvSpPr>
        <p:spPr>
          <a:xfrm>
            <a:off x="911942" y="1154082"/>
            <a:ext cx="10368116" cy="4549835"/>
          </a:xfrm>
          <a:prstGeom prst="rect">
            <a:avLst/>
          </a:prstGeom>
          <a:noFill/>
        </p:spPr>
        <p:txBody>
          <a:bodyPr wrap="square">
            <a:spAutoFit/>
          </a:bodyPr>
          <a:lstStyle/>
          <a:p>
            <a:pPr>
              <a:lnSpc>
                <a:spcPct val="150000"/>
              </a:lnSpc>
              <a:buNone/>
            </a:pPr>
            <a:r>
              <a:rPr lang="en-US" sz="2800" b="1" dirty="0">
                <a:latin typeface="Calibir"/>
              </a:rPr>
              <a:t>Step 14 — Customer show()</a:t>
            </a:r>
          </a:p>
          <a:p>
            <a:pPr>
              <a:lnSpc>
                <a:spcPct val="150000"/>
              </a:lnSpc>
              <a:buNone/>
            </a:pPr>
            <a:r>
              <a:rPr lang="en-US" sz="2800" b="1" dirty="0">
                <a:latin typeface="Calibir"/>
              </a:rPr>
              <a:t>Python</a:t>
            </a:r>
          </a:p>
          <a:p>
            <a:pPr rtl="0">
              <a:lnSpc>
                <a:spcPct val="150000"/>
              </a:lnSpc>
              <a:buNone/>
            </a:pPr>
            <a:r>
              <a:rPr lang="en-US" sz="2800" dirty="0">
                <a:highlight>
                  <a:srgbClr val="FFFF00"/>
                </a:highlight>
                <a:latin typeface="Calibir"/>
              </a:rPr>
              <a:t>def show(self):</a:t>
            </a:r>
          </a:p>
          <a:p>
            <a:pPr rtl="0">
              <a:lnSpc>
                <a:spcPct val="150000"/>
              </a:lnSpc>
              <a:buNone/>
            </a:pPr>
            <a:r>
              <a:rPr lang="en-US" sz="2800" dirty="0">
                <a:highlight>
                  <a:srgbClr val="FFFF00"/>
                </a:highlight>
                <a:latin typeface="Calibir"/>
              </a:rPr>
              <a:t>    print(self)</a:t>
            </a:r>
          </a:p>
          <a:p>
            <a:pPr>
              <a:lnSpc>
                <a:spcPct val="150000"/>
              </a:lnSpc>
              <a:buNone/>
            </a:pPr>
            <a:r>
              <a:rPr lang="en-US" sz="2800" dirty="0">
                <a:latin typeface="Calibir"/>
              </a:rPr>
              <a:t>Then define:</a:t>
            </a:r>
          </a:p>
          <a:p>
            <a:pPr rtl="0">
              <a:lnSpc>
                <a:spcPct val="150000"/>
              </a:lnSpc>
              <a:buNone/>
            </a:pPr>
            <a:r>
              <a:rPr lang="en-US" sz="2800" dirty="0">
                <a:highlight>
                  <a:srgbClr val="FFFF00"/>
                </a:highlight>
                <a:latin typeface="Calibir"/>
              </a:rPr>
              <a:t>def __str__(self):</a:t>
            </a:r>
          </a:p>
          <a:p>
            <a:pPr rtl="0">
              <a:lnSpc>
                <a:spcPct val="150000"/>
              </a:lnSpc>
              <a:buNone/>
            </a:pPr>
            <a:r>
              <a:rPr lang="en-US" sz="2800" dirty="0">
                <a:highlight>
                  <a:srgbClr val="FFFF00"/>
                </a:highlight>
                <a:latin typeface="Calibir"/>
              </a:rPr>
              <a:t>    return (f"{self.name} accounts:\</a:t>
            </a:r>
            <a:r>
              <a:rPr lang="en-US" sz="2800" dirty="0" err="1">
                <a:highlight>
                  <a:srgbClr val="FFFF00"/>
                </a:highlight>
                <a:latin typeface="Calibir"/>
              </a:rPr>
              <a:t>n"f</a:t>
            </a:r>
            <a:r>
              <a:rPr lang="en-US" sz="2800" dirty="0">
                <a:highlight>
                  <a:srgbClr val="FFFF00"/>
                </a:highlight>
                <a:latin typeface="Calibir"/>
              </a:rPr>
              <a:t>"{</a:t>
            </a:r>
            <a:r>
              <a:rPr lang="en-US" sz="2800" dirty="0" err="1">
                <a:highlight>
                  <a:srgbClr val="FFFF00"/>
                </a:highlight>
                <a:latin typeface="Calibir"/>
              </a:rPr>
              <a:t>self.savings</a:t>
            </a:r>
            <a:r>
              <a:rPr lang="en-US" sz="2800" dirty="0">
                <a:highlight>
                  <a:srgbClr val="FFFF00"/>
                </a:highlight>
                <a:latin typeface="Calibir"/>
              </a:rPr>
              <a:t>}\</a:t>
            </a:r>
            <a:r>
              <a:rPr lang="en-US" sz="2800" dirty="0" err="1">
                <a:highlight>
                  <a:srgbClr val="FFFF00"/>
                </a:highlight>
                <a:latin typeface="Calibir"/>
              </a:rPr>
              <a:t>n"f</a:t>
            </a:r>
            <a:r>
              <a:rPr lang="en-US" sz="2800" dirty="0">
                <a:highlight>
                  <a:srgbClr val="FFFF00"/>
                </a:highlight>
                <a:latin typeface="Calibir"/>
              </a:rPr>
              <a:t>"{</a:t>
            </a:r>
            <a:r>
              <a:rPr lang="en-US" sz="2800" dirty="0" err="1">
                <a:highlight>
                  <a:srgbClr val="FFFF00"/>
                </a:highlight>
                <a:latin typeface="Calibir"/>
              </a:rPr>
              <a:t>self.loan</a:t>
            </a:r>
            <a:r>
              <a:rPr lang="en-US" sz="2800" dirty="0">
                <a:highlight>
                  <a:srgbClr val="FFFF00"/>
                </a:highlight>
                <a:latin typeface="Calibir"/>
              </a:rPr>
              <a:t>}")</a:t>
            </a:r>
          </a:p>
        </p:txBody>
      </p:sp>
    </p:spTree>
    <p:custDataLst>
      <p:tags r:id="rId1"/>
    </p:custDataLst>
    <p:extLst>
      <p:ext uri="{BB962C8B-B14F-4D97-AF65-F5344CB8AC3E}">
        <p14:creationId xmlns:p14="http://schemas.microsoft.com/office/powerpoint/2010/main" val="264032319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E56AF-2DA0-FEB3-103D-B0843581D2D4}"/>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6543FE1E-698C-87C0-5FBD-CAA5B391711E}"/>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
        <p:nvSpPr>
          <p:cNvPr id="3" name="TextBox 2">
            <a:extLst>
              <a:ext uri="{FF2B5EF4-FFF2-40B4-BE49-F238E27FC236}">
                <a16:creationId xmlns:a16="http://schemas.microsoft.com/office/drawing/2014/main" id="{A5198DB9-2E78-B698-5078-E6558C25BB0E}"/>
              </a:ext>
            </a:extLst>
          </p:cNvPr>
          <p:cNvSpPr txBox="1"/>
          <p:nvPr/>
        </p:nvSpPr>
        <p:spPr>
          <a:xfrm>
            <a:off x="6330745" y="0"/>
            <a:ext cx="6201696" cy="6641690"/>
          </a:xfrm>
          <a:prstGeom prst="rect">
            <a:avLst/>
          </a:prstGeom>
          <a:noFill/>
        </p:spPr>
        <p:txBody>
          <a:bodyPr wrap="square">
            <a:spAutoFit/>
          </a:bodyPr>
          <a:lstStyle/>
          <a:p>
            <a:pPr>
              <a:lnSpc>
                <a:spcPct val="150000"/>
              </a:lnSpc>
              <a:buNone/>
            </a:pPr>
            <a:r>
              <a:rPr lang="en-US" sz="2200" b="1" dirty="0">
                <a:latin typeface="Calibir"/>
              </a:rPr>
              <a:t>Java</a:t>
            </a:r>
          </a:p>
          <a:p>
            <a:pPr rtl="0">
              <a:lnSpc>
                <a:spcPct val="150000"/>
              </a:lnSpc>
              <a:buNone/>
            </a:pPr>
            <a:r>
              <a:rPr lang="en-US" sz="2200" dirty="0">
                <a:highlight>
                  <a:srgbClr val="FFFF00"/>
                </a:highlight>
                <a:latin typeface="Calibir"/>
              </a:rPr>
              <a:t>public void show() {</a:t>
            </a:r>
          </a:p>
          <a:p>
            <a:pPr rtl="0">
              <a:lnSpc>
                <a:spcPct val="150000"/>
              </a:lnSpc>
              <a:buNone/>
            </a:pPr>
            <a:r>
              <a:rPr lang="en-US" sz="2200" dirty="0">
                <a:highlight>
                  <a:srgbClr val="FFFF00"/>
                </a:highlight>
                <a:latin typeface="Calibir"/>
              </a:rPr>
              <a:t>    </a:t>
            </a:r>
            <a:r>
              <a:rPr lang="en-US" sz="2200" dirty="0" err="1">
                <a:highlight>
                  <a:srgbClr val="FFFF00"/>
                </a:highlight>
                <a:latin typeface="Calibir"/>
              </a:rPr>
              <a:t>System.out.println</a:t>
            </a:r>
            <a:r>
              <a:rPr lang="en-US" sz="2200" dirty="0">
                <a:highlight>
                  <a:srgbClr val="FFFF00"/>
                </a:highlight>
                <a:latin typeface="Calibir"/>
              </a:rPr>
              <a:t>(this);</a:t>
            </a:r>
          </a:p>
          <a:p>
            <a:pPr rtl="0">
              <a:lnSpc>
                <a:spcPct val="150000"/>
              </a:lnSpc>
              <a:buNone/>
            </a:pPr>
            <a:r>
              <a:rPr lang="en-US" sz="2200" dirty="0">
                <a:highlight>
                  <a:srgbClr val="FFFF00"/>
                </a:highlight>
                <a:latin typeface="Calibir"/>
              </a:rPr>
              <a:t>}</a:t>
            </a:r>
          </a:p>
          <a:p>
            <a:pPr>
              <a:lnSpc>
                <a:spcPct val="150000"/>
              </a:lnSpc>
              <a:buNone/>
            </a:pPr>
            <a:r>
              <a:rPr lang="en-US" sz="2200" dirty="0">
                <a:highlight>
                  <a:srgbClr val="FFFF00"/>
                </a:highlight>
                <a:latin typeface="Calibir"/>
              </a:rPr>
              <a:t>and:</a:t>
            </a:r>
          </a:p>
          <a:p>
            <a:pPr rtl="0">
              <a:lnSpc>
                <a:spcPct val="150000"/>
              </a:lnSpc>
              <a:buNone/>
            </a:pPr>
            <a:r>
              <a:rPr lang="en-US" sz="2200" dirty="0">
                <a:highlight>
                  <a:srgbClr val="FFFF00"/>
                </a:highlight>
                <a:latin typeface="Calibir"/>
              </a:rPr>
              <a:t>@Override</a:t>
            </a:r>
          </a:p>
          <a:p>
            <a:pPr rtl="0">
              <a:lnSpc>
                <a:spcPct val="150000"/>
              </a:lnSpc>
              <a:buNone/>
            </a:pPr>
            <a:r>
              <a:rPr lang="en-US" sz="2200" dirty="0">
                <a:highlight>
                  <a:srgbClr val="FFFF00"/>
                </a:highlight>
                <a:latin typeface="Calibir"/>
              </a:rPr>
              <a:t>public String </a:t>
            </a:r>
            <a:r>
              <a:rPr lang="en-US" sz="2200" dirty="0" err="1">
                <a:highlight>
                  <a:srgbClr val="FFFF00"/>
                </a:highlight>
                <a:latin typeface="Calibir"/>
              </a:rPr>
              <a:t>toString</a:t>
            </a:r>
            <a:r>
              <a:rPr lang="en-US" sz="2200" dirty="0">
                <a:highlight>
                  <a:srgbClr val="FFFF00"/>
                </a:highlight>
                <a:latin typeface="Calibir"/>
              </a:rPr>
              <a:t>() {</a:t>
            </a:r>
          </a:p>
          <a:p>
            <a:pPr rtl="0">
              <a:lnSpc>
                <a:spcPct val="150000"/>
              </a:lnSpc>
              <a:buNone/>
            </a:pPr>
            <a:r>
              <a:rPr lang="en-US" sz="2200" dirty="0">
                <a:highlight>
                  <a:srgbClr val="FFFF00"/>
                </a:highlight>
                <a:latin typeface="Calibir"/>
              </a:rPr>
              <a:t>    return name</a:t>
            </a:r>
          </a:p>
          <a:p>
            <a:pPr rtl="0">
              <a:lnSpc>
                <a:spcPct val="150000"/>
              </a:lnSpc>
              <a:buNone/>
            </a:pPr>
            <a:r>
              <a:rPr lang="en-US" sz="2200" dirty="0">
                <a:highlight>
                  <a:srgbClr val="FFFF00"/>
                </a:highlight>
                <a:latin typeface="Calibir"/>
              </a:rPr>
              <a:t>            + " accounts:\n"</a:t>
            </a:r>
          </a:p>
          <a:p>
            <a:pPr rtl="0">
              <a:lnSpc>
                <a:spcPct val="150000"/>
              </a:lnSpc>
              <a:buNone/>
            </a:pPr>
            <a:r>
              <a:rPr lang="en-US" sz="2200" dirty="0">
                <a:highlight>
                  <a:srgbClr val="FFFF00"/>
                </a:highlight>
                <a:latin typeface="Calibir"/>
              </a:rPr>
              <a:t>            + savings</a:t>
            </a:r>
          </a:p>
          <a:p>
            <a:pPr rtl="0">
              <a:lnSpc>
                <a:spcPct val="150000"/>
              </a:lnSpc>
              <a:buNone/>
            </a:pPr>
            <a:r>
              <a:rPr lang="en-US" sz="2200" dirty="0">
                <a:highlight>
                  <a:srgbClr val="FFFF00"/>
                </a:highlight>
                <a:latin typeface="Calibir"/>
              </a:rPr>
              <a:t>            + "\n"</a:t>
            </a:r>
          </a:p>
          <a:p>
            <a:pPr rtl="0">
              <a:lnSpc>
                <a:spcPct val="150000"/>
              </a:lnSpc>
              <a:buNone/>
            </a:pPr>
            <a:r>
              <a:rPr lang="en-US" sz="2200" dirty="0">
                <a:highlight>
                  <a:srgbClr val="FFFF00"/>
                </a:highlight>
                <a:latin typeface="Calibir"/>
              </a:rPr>
              <a:t>            + loan;</a:t>
            </a:r>
          </a:p>
          <a:p>
            <a:pPr rtl="0">
              <a:lnSpc>
                <a:spcPct val="150000"/>
              </a:lnSpc>
              <a:buNone/>
            </a:pPr>
            <a:r>
              <a:rPr lang="en-US" sz="2200" dirty="0">
                <a:highlight>
                  <a:srgbClr val="FFFF00"/>
                </a:highlight>
                <a:latin typeface="Calibir"/>
              </a:rPr>
              <a:t>}</a:t>
            </a:r>
          </a:p>
        </p:txBody>
      </p:sp>
    </p:spTree>
    <p:custDataLst>
      <p:tags r:id="rId1"/>
    </p:custDataLst>
    <p:extLst>
      <p:ext uri="{BB962C8B-B14F-4D97-AF65-F5344CB8AC3E}">
        <p14:creationId xmlns:p14="http://schemas.microsoft.com/office/powerpoint/2010/main" val="369263417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CFE6A-48D5-0AF5-4692-DFE6545C1CF6}"/>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3C0E35A-3DD6-E4C4-3F46-33353F1EC2B0}"/>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
        <p:nvSpPr>
          <p:cNvPr id="4" name="TextBox 3">
            <a:extLst>
              <a:ext uri="{FF2B5EF4-FFF2-40B4-BE49-F238E27FC236}">
                <a16:creationId xmlns:a16="http://schemas.microsoft.com/office/drawing/2014/main" id="{4704EEC3-F92F-5931-00B6-981B7262B9A4}"/>
              </a:ext>
            </a:extLst>
          </p:cNvPr>
          <p:cNvSpPr txBox="1"/>
          <p:nvPr/>
        </p:nvSpPr>
        <p:spPr>
          <a:xfrm>
            <a:off x="0" y="657922"/>
            <a:ext cx="6201696" cy="5816977"/>
          </a:xfrm>
          <a:prstGeom prst="rect">
            <a:avLst/>
          </a:prstGeom>
          <a:noFill/>
        </p:spPr>
        <p:txBody>
          <a:bodyPr wrap="square">
            <a:spAutoFit/>
          </a:bodyPr>
          <a:lstStyle/>
          <a:p>
            <a:pPr>
              <a:buNone/>
            </a:pPr>
            <a:r>
              <a:rPr lang="en-US" sz="1200" b="1" dirty="0">
                <a:latin typeface="Calibir"/>
              </a:rPr>
              <a:t>Completed Customer Class — Python</a:t>
            </a:r>
          </a:p>
          <a:p>
            <a:pPr rtl="0">
              <a:buNone/>
            </a:pPr>
            <a:r>
              <a:rPr lang="en-US" sz="1200" dirty="0">
                <a:highlight>
                  <a:srgbClr val="FFFF00"/>
                </a:highlight>
                <a:latin typeface="Calibir"/>
              </a:rPr>
              <a:t>class Customer:</a:t>
            </a:r>
          </a:p>
          <a:p>
            <a:pPr rtl="0">
              <a:buNone/>
            </a:pPr>
            <a:r>
              <a:rPr lang="en-US" sz="1200" dirty="0">
                <a:highlight>
                  <a:srgbClr val="FFFF00"/>
                </a:highlight>
                <a:latin typeface="Calibir"/>
              </a:rPr>
              <a:t>    def __</a:t>
            </a:r>
            <a:r>
              <a:rPr lang="en-US" sz="1200" dirty="0" err="1">
                <a:highlight>
                  <a:srgbClr val="FFFF00"/>
                </a:highlight>
                <a:latin typeface="Calibir"/>
              </a:rPr>
              <a:t>init</a:t>
            </a:r>
            <a:r>
              <a:rPr lang="en-US" sz="1200" dirty="0">
                <a:highlight>
                  <a:srgbClr val="FFFF00"/>
                </a:highlight>
                <a:latin typeface="Calibir"/>
              </a:rPr>
              <a:t>__(self, name):</a:t>
            </a:r>
          </a:p>
          <a:p>
            <a:pPr rtl="0">
              <a:buNone/>
            </a:pPr>
            <a:r>
              <a:rPr lang="en-US" sz="1200" dirty="0">
                <a:highlight>
                  <a:srgbClr val="FFFF00"/>
                </a:highlight>
                <a:latin typeface="Calibir"/>
              </a:rPr>
              <a:t>        self.name = name</a:t>
            </a:r>
          </a:p>
          <a:p>
            <a:pPr rtl="0">
              <a:buNone/>
            </a:pPr>
            <a:r>
              <a:rPr lang="en-US" sz="1200" dirty="0">
                <a:highlight>
                  <a:srgbClr val="FFFF00"/>
                </a:highlight>
                <a:latin typeface="Calibir"/>
              </a:rPr>
              <a:t>        </a:t>
            </a:r>
            <a:r>
              <a:rPr lang="en-US" sz="1200" dirty="0" err="1">
                <a:highlight>
                  <a:srgbClr val="FFFF00"/>
                </a:highlight>
                <a:latin typeface="Calibir"/>
              </a:rPr>
              <a:t>self.savings</a:t>
            </a:r>
            <a:r>
              <a:rPr lang="en-US" sz="1200" dirty="0">
                <a:highlight>
                  <a:srgbClr val="FFFF00"/>
                </a:highlight>
                <a:latin typeface="Calibir"/>
              </a:rPr>
              <a:t> = Account("Savings")</a:t>
            </a:r>
          </a:p>
          <a:p>
            <a:pPr rtl="0">
              <a:buNone/>
            </a:pPr>
            <a:r>
              <a:rPr lang="en-US" sz="1200" dirty="0">
                <a:highlight>
                  <a:srgbClr val="FFFF00"/>
                </a:highlight>
                <a:latin typeface="Calibir"/>
              </a:rPr>
              <a:t>        </a:t>
            </a:r>
            <a:r>
              <a:rPr lang="en-US" sz="1200" dirty="0" err="1">
                <a:highlight>
                  <a:srgbClr val="FFFF00"/>
                </a:highlight>
                <a:latin typeface="Calibir"/>
              </a:rPr>
              <a:t>self.loan</a:t>
            </a:r>
            <a:r>
              <a:rPr lang="en-US" sz="1200" dirty="0">
                <a:highlight>
                  <a:srgbClr val="FFFF00"/>
                </a:highlight>
                <a:latin typeface="Calibir"/>
              </a:rPr>
              <a:t> = Account("Loan")</a:t>
            </a:r>
          </a:p>
          <a:p>
            <a:pPr rtl="0">
              <a:buNone/>
            </a:pPr>
            <a:r>
              <a:rPr lang="en-US" sz="1200" dirty="0">
                <a:highlight>
                  <a:srgbClr val="FFFF00"/>
                </a:highlight>
                <a:latin typeface="Calibir"/>
              </a:rPr>
              <a:t>    def </a:t>
            </a:r>
            <a:r>
              <a:rPr lang="en-US" sz="1200" dirty="0" err="1">
                <a:highlight>
                  <a:srgbClr val="FFFF00"/>
                </a:highlight>
                <a:latin typeface="Calibir"/>
              </a:rPr>
              <a:t>read_amount</a:t>
            </a:r>
            <a:r>
              <a:rPr lang="en-US" sz="1200" dirty="0">
                <a:highlight>
                  <a:srgbClr val="FFFF00"/>
                </a:highlight>
                <a:latin typeface="Calibir"/>
              </a:rPr>
              <a:t>(self, message):</a:t>
            </a:r>
          </a:p>
          <a:p>
            <a:pPr rtl="0">
              <a:buNone/>
            </a:pPr>
            <a:r>
              <a:rPr lang="en-US" sz="1200" dirty="0">
                <a:highlight>
                  <a:srgbClr val="FFFF00"/>
                </a:highlight>
                <a:latin typeface="Calibir"/>
              </a:rPr>
              <a:t>        return float(input(message))</a:t>
            </a:r>
          </a:p>
          <a:p>
            <a:pPr rtl="0">
              <a:buNone/>
            </a:pPr>
            <a:r>
              <a:rPr lang="en-US" sz="1200" dirty="0">
                <a:highlight>
                  <a:srgbClr val="FFFF00"/>
                </a:highlight>
                <a:latin typeface="Calibir"/>
              </a:rPr>
              <a:t>    def deposit(self):</a:t>
            </a:r>
          </a:p>
          <a:p>
            <a:pPr rtl="0">
              <a:buNone/>
            </a:pPr>
            <a:r>
              <a:rPr lang="en-US" sz="1200" dirty="0">
                <a:highlight>
                  <a:srgbClr val="FFFF00"/>
                </a:highlight>
                <a:latin typeface="Calibir"/>
              </a:rPr>
              <a:t>        amount = </a:t>
            </a:r>
            <a:r>
              <a:rPr lang="en-US" sz="1200" dirty="0" err="1">
                <a:highlight>
                  <a:srgbClr val="FFFF00"/>
                </a:highlight>
                <a:latin typeface="Calibir"/>
              </a:rPr>
              <a:t>self.read_amount</a:t>
            </a:r>
            <a:r>
              <a:rPr lang="en-US" sz="1200" dirty="0">
                <a:highlight>
                  <a:srgbClr val="FFFF00"/>
                </a:highlight>
                <a:latin typeface="Calibir"/>
              </a:rPr>
              <a:t>("Amount to deposit: $")</a:t>
            </a:r>
          </a:p>
          <a:p>
            <a:pPr rtl="0">
              <a:buNone/>
            </a:pPr>
            <a:r>
              <a:rPr lang="en-US" sz="1200" dirty="0">
                <a:highlight>
                  <a:srgbClr val="FFFF00"/>
                </a:highlight>
                <a:latin typeface="Calibir"/>
              </a:rPr>
              <a:t>        </a:t>
            </a:r>
            <a:r>
              <a:rPr lang="en-US" sz="1200" dirty="0" err="1">
                <a:highlight>
                  <a:srgbClr val="FFFF00"/>
                </a:highlight>
                <a:latin typeface="Calibir"/>
              </a:rPr>
              <a:t>self.savings.deposit</a:t>
            </a:r>
            <a:r>
              <a:rPr lang="en-US" sz="1200" dirty="0">
                <a:highlight>
                  <a:srgbClr val="FFFF00"/>
                </a:highlight>
                <a:latin typeface="Calibir"/>
              </a:rPr>
              <a:t>(amount)</a:t>
            </a:r>
          </a:p>
          <a:p>
            <a:pPr rtl="0">
              <a:buNone/>
            </a:pPr>
            <a:r>
              <a:rPr lang="en-US" sz="1200" dirty="0">
                <a:highlight>
                  <a:srgbClr val="FFFF00"/>
                </a:highlight>
                <a:latin typeface="Calibir"/>
              </a:rPr>
              <a:t>    def withdraw(self):</a:t>
            </a:r>
          </a:p>
          <a:p>
            <a:pPr rtl="0">
              <a:buNone/>
            </a:pPr>
            <a:r>
              <a:rPr lang="en-US" sz="1200" dirty="0">
                <a:highlight>
                  <a:srgbClr val="FFFF00"/>
                </a:highlight>
                <a:latin typeface="Calibir"/>
              </a:rPr>
              <a:t>        amount = </a:t>
            </a:r>
            <a:r>
              <a:rPr lang="en-US" sz="1200" dirty="0" err="1">
                <a:highlight>
                  <a:srgbClr val="FFFF00"/>
                </a:highlight>
                <a:latin typeface="Calibir"/>
              </a:rPr>
              <a:t>self.read_amount</a:t>
            </a:r>
            <a:r>
              <a:rPr lang="en-US" sz="1200" dirty="0">
                <a:highlight>
                  <a:srgbClr val="FFFF00"/>
                </a:highlight>
                <a:latin typeface="Calibir"/>
              </a:rPr>
              <a:t>("Amount to withdraw: $")</a:t>
            </a:r>
          </a:p>
          <a:p>
            <a:pPr rtl="0">
              <a:buNone/>
            </a:pPr>
            <a:r>
              <a:rPr lang="en-US" sz="1200" dirty="0">
                <a:highlight>
                  <a:srgbClr val="FFFF00"/>
                </a:highlight>
                <a:latin typeface="Calibir"/>
              </a:rPr>
              <a:t>        try:</a:t>
            </a:r>
          </a:p>
          <a:p>
            <a:pPr rtl="0">
              <a:buNone/>
            </a:pPr>
            <a:r>
              <a:rPr lang="en-US" sz="1200" dirty="0">
                <a:highlight>
                  <a:srgbClr val="FFFF00"/>
                </a:highlight>
                <a:latin typeface="Calibir"/>
              </a:rPr>
              <a:t>            </a:t>
            </a:r>
            <a:r>
              <a:rPr lang="en-US" sz="1200" dirty="0" err="1">
                <a:highlight>
                  <a:srgbClr val="FFFF00"/>
                </a:highlight>
                <a:latin typeface="Calibir"/>
              </a:rPr>
              <a:t>self.savings.withdraw</a:t>
            </a:r>
            <a:r>
              <a:rPr lang="en-US" sz="1200" dirty="0">
                <a:highlight>
                  <a:srgbClr val="FFFF00"/>
                </a:highlight>
                <a:latin typeface="Calibir"/>
              </a:rPr>
              <a:t>(amount)</a:t>
            </a:r>
          </a:p>
          <a:p>
            <a:pPr rtl="0">
              <a:buNone/>
            </a:pPr>
            <a:r>
              <a:rPr lang="en-US" sz="1200" dirty="0">
                <a:highlight>
                  <a:srgbClr val="FFFF00"/>
                </a:highlight>
                <a:latin typeface="Calibir"/>
              </a:rPr>
              <a:t>        except </a:t>
            </a:r>
            <a:r>
              <a:rPr lang="en-US" sz="1200" dirty="0" err="1">
                <a:highlight>
                  <a:srgbClr val="FFFF00"/>
                </a:highlight>
                <a:latin typeface="Calibir"/>
              </a:rPr>
              <a:t>ValueError</a:t>
            </a:r>
            <a:r>
              <a:rPr lang="en-US" sz="1200" dirty="0">
                <a:highlight>
                  <a:srgbClr val="FFFF00"/>
                </a:highlight>
                <a:latin typeface="Calibir"/>
              </a:rPr>
              <a:t> as error:</a:t>
            </a:r>
          </a:p>
          <a:p>
            <a:pPr rtl="0">
              <a:buNone/>
            </a:pPr>
            <a:r>
              <a:rPr lang="en-US" sz="1200" dirty="0">
                <a:highlight>
                  <a:srgbClr val="FFFF00"/>
                </a:highlight>
                <a:latin typeface="Calibir"/>
              </a:rPr>
              <a:t>            print(error)</a:t>
            </a:r>
          </a:p>
          <a:p>
            <a:pPr rtl="0">
              <a:buNone/>
            </a:pPr>
            <a:r>
              <a:rPr lang="en-US" sz="1200" dirty="0">
                <a:highlight>
                  <a:srgbClr val="FFFF00"/>
                </a:highlight>
                <a:latin typeface="Calibir"/>
              </a:rPr>
              <a:t>    def transfer(self):</a:t>
            </a:r>
          </a:p>
          <a:p>
            <a:pPr rtl="0">
              <a:buNone/>
            </a:pPr>
            <a:r>
              <a:rPr lang="en-US" sz="1200" dirty="0">
                <a:highlight>
                  <a:srgbClr val="FFFF00"/>
                </a:highlight>
                <a:latin typeface="Calibir"/>
              </a:rPr>
              <a:t>        amount = </a:t>
            </a:r>
            <a:r>
              <a:rPr lang="en-US" sz="1200" dirty="0" err="1">
                <a:highlight>
                  <a:srgbClr val="FFFF00"/>
                </a:highlight>
                <a:latin typeface="Calibir"/>
              </a:rPr>
              <a:t>self.read_amount</a:t>
            </a:r>
            <a:r>
              <a:rPr lang="en-US" sz="1200" dirty="0">
                <a:highlight>
                  <a:srgbClr val="FFFF00"/>
                </a:highlight>
                <a:latin typeface="Calibir"/>
              </a:rPr>
              <a:t>("Amount to transfer: $")</a:t>
            </a:r>
          </a:p>
          <a:p>
            <a:pPr rtl="0">
              <a:buNone/>
            </a:pPr>
            <a:r>
              <a:rPr lang="en-US" sz="1200" dirty="0">
                <a:highlight>
                  <a:srgbClr val="FFFF00"/>
                </a:highlight>
                <a:latin typeface="Calibir"/>
              </a:rPr>
              <a:t>        try:</a:t>
            </a:r>
          </a:p>
          <a:p>
            <a:pPr rtl="0">
              <a:buNone/>
            </a:pPr>
            <a:r>
              <a:rPr lang="en-US" sz="1200" dirty="0">
                <a:highlight>
                  <a:srgbClr val="FFFF00"/>
                </a:highlight>
                <a:latin typeface="Calibir"/>
              </a:rPr>
              <a:t>            </a:t>
            </a:r>
            <a:r>
              <a:rPr lang="en-US" sz="1200" dirty="0" err="1">
                <a:highlight>
                  <a:srgbClr val="FFFF00"/>
                </a:highlight>
                <a:latin typeface="Calibir"/>
              </a:rPr>
              <a:t>self.savings.transfer_to_loan</a:t>
            </a:r>
            <a:r>
              <a:rPr lang="en-US" sz="1200" dirty="0">
                <a:highlight>
                  <a:srgbClr val="FFFF00"/>
                </a:highlight>
                <a:latin typeface="Calibir"/>
              </a:rPr>
              <a:t>(amount, </a:t>
            </a:r>
            <a:r>
              <a:rPr lang="en-US" sz="1200" dirty="0" err="1">
                <a:highlight>
                  <a:srgbClr val="FFFF00"/>
                </a:highlight>
                <a:latin typeface="Calibir"/>
              </a:rPr>
              <a:t>self.loan</a:t>
            </a:r>
            <a:r>
              <a:rPr lang="en-US" sz="1200" dirty="0">
                <a:highlight>
                  <a:srgbClr val="FFFF00"/>
                </a:highlight>
                <a:latin typeface="Calibir"/>
              </a:rPr>
              <a:t>)</a:t>
            </a:r>
          </a:p>
          <a:p>
            <a:pPr rtl="0">
              <a:buNone/>
            </a:pPr>
            <a:r>
              <a:rPr lang="en-US" sz="1200" dirty="0">
                <a:highlight>
                  <a:srgbClr val="FFFF00"/>
                </a:highlight>
                <a:latin typeface="Calibir"/>
              </a:rPr>
              <a:t>        except </a:t>
            </a:r>
            <a:r>
              <a:rPr lang="en-US" sz="1200" dirty="0" err="1">
                <a:highlight>
                  <a:srgbClr val="FFFF00"/>
                </a:highlight>
                <a:latin typeface="Calibir"/>
              </a:rPr>
              <a:t>ValueError</a:t>
            </a:r>
            <a:r>
              <a:rPr lang="en-US" sz="1200" dirty="0">
                <a:highlight>
                  <a:srgbClr val="FFFF00"/>
                </a:highlight>
                <a:latin typeface="Calibir"/>
              </a:rPr>
              <a:t> as error:</a:t>
            </a:r>
          </a:p>
          <a:p>
            <a:pPr rtl="0">
              <a:buNone/>
            </a:pPr>
            <a:r>
              <a:rPr lang="en-US" sz="1200" dirty="0">
                <a:highlight>
                  <a:srgbClr val="FFFF00"/>
                </a:highlight>
                <a:latin typeface="Calibir"/>
              </a:rPr>
              <a:t>            print(error)</a:t>
            </a:r>
          </a:p>
          <a:p>
            <a:pPr rtl="0">
              <a:buNone/>
            </a:pPr>
            <a:r>
              <a:rPr lang="en-US" sz="1200" dirty="0">
                <a:highlight>
                  <a:srgbClr val="FFFF00"/>
                </a:highlight>
                <a:latin typeface="Calibir"/>
              </a:rPr>
              <a:t>    def show(self):</a:t>
            </a:r>
          </a:p>
          <a:p>
            <a:pPr rtl="0">
              <a:buNone/>
            </a:pPr>
            <a:r>
              <a:rPr lang="en-US" sz="1200" dirty="0">
                <a:highlight>
                  <a:srgbClr val="FFFF00"/>
                </a:highlight>
                <a:latin typeface="Calibir"/>
              </a:rPr>
              <a:t>        print(self)</a:t>
            </a:r>
          </a:p>
          <a:p>
            <a:pPr rtl="0">
              <a:buNone/>
            </a:pPr>
            <a:r>
              <a:rPr lang="en-US" sz="1200" dirty="0">
                <a:highlight>
                  <a:srgbClr val="FFFF00"/>
                </a:highlight>
                <a:latin typeface="Calibir"/>
              </a:rPr>
              <a:t>    def __str__(self):</a:t>
            </a:r>
          </a:p>
          <a:p>
            <a:pPr rtl="0">
              <a:buNone/>
            </a:pPr>
            <a:r>
              <a:rPr lang="en-US" sz="1200" dirty="0">
                <a:highlight>
                  <a:srgbClr val="FFFF00"/>
                </a:highlight>
                <a:latin typeface="Calibir"/>
              </a:rPr>
              <a:t>        return (</a:t>
            </a:r>
          </a:p>
          <a:p>
            <a:pPr rtl="0">
              <a:buNone/>
            </a:pPr>
            <a:r>
              <a:rPr lang="en-US" sz="1200" dirty="0">
                <a:highlight>
                  <a:srgbClr val="FFFF00"/>
                </a:highlight>
                <a:latin typeface="Calibir"/>
              </a:rPr>
              <a:t>            f"{self.name} accounts:\n"</a:t>
            </a:r>
          </a:p>
          <a:p>
            <a:pPr rtl="0">
              <a:buNone/>
            </a:pPr>
            <a:r>
              <a:rPr lang="en-US" sz="1200" dirty="0">
                <a:highlight>
                  <a:srgbClr val="FFFF00"/>
                </a:highlight>
                <a:latin typeface="Calibir"/>
              </a:rPr>
              <a:t>            f"{</a:t>
            </a:r>
            <a:r>
              <a:rPr lang="en-US" sz="1200" dirty="0" err="1">
                <a:highlight>
                  <a:srgbClr val="FFFF00"/>
                </a:highlight>
                <a:latin typeface="Calibir"/>
              </a:rPr>
              <a:t>self.savings</a:t>
            </a:r>
            <a:r>
              <a:rPr lang="en-US" sz="1200" dirty="0">
                <a:highlight>
                  <a:srgbClr val="FFFF00"/>
                </a:highlight>
                <a:latin typeface="Calibir"/>
              </a:rPr>
              <a:t>}\n"</a:t>
            </a:r>
          </a:p>
          <a:p>
            <a:pPr rtl="0">
              <a:buNone/>
            </a:pPr>
            <a:r>
              <a:rPr lang="en-US" sz="1200" dirty="0">
                <a:highlight>
                  <a:srgbClr val="FFFF00"/>
                </a:highlight>
                <a:latin typeface="Calibir"/>
              </a:rPr>
              <a:t>            f"{</a:t>
            </a:r>
            <a:r>
              <a:rPr lang="en-US" sz="1200" dirty="0" err="1">
                <a:highlight>
                  <a:srgbClr val="FFFF00"/>
                </a:highlight>
                <a:latin typeface="Calibir"/>
              </a:rPr>
              <a:t>self.loan</a:t>
            </a:r>
            <a:r>
              <a:rPr lang="en-US" sz="1200" dirty="0">
                <a:highlight>
                  <a:srgbClr val="FFFF00"/>
                </a:highlight>
                <a:latin typeface="Calibir"/>
              </a:rPr>
              <a:t>}"</a:t>
            </a:r>
          </a:p>
          <a:p>
            <a:pPr rtl="0">
              <a:buNone/>
            </a:pPr>
            <a:r>
              <a:rPr lang="en-US" sz="1200" dirty="0">
                <a:highlight>
                  <a:srgbClr val="FFFF00"/>
                </a:highlight>
                <a:latin typeface="Calibir"/>
              </a:rPr>
              <a:t>        )</a:t>
            </a:r>
          </a:p>
        </p:txBody>
      </p:sp>
    </p:spTree>
    <p:custDataLst>
      <p:tags r:id="rId1"/>
    </p:custDataLst>
    <p:extLst>
      <p:ext uri="{BB962C8B-B14F-4D97-AF65-F5344CB8AC3E}">
        <p14:creationId xmlns:p14="http://schemas.microsoft.com/office/powerpoint/2010/main" val="298334971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64303-9C0A-D904-F30C-928C853C4DE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23745A3-6D8A-BD28-69F1-42E3F4ACA1CA}"/>
              </a:ext>
            </a:extLst>
          </p:cNvPr>
          <p:cNvSpPr txBox="1"/>
          <p:nvPr/>
        </p:nvSpPr>
        <p:spPr>
          <a:xfrm>
            <a:off x="0" y="-66973"/>
            <a:ext cx="6201696" cy="6924973"/>
          </a:xfrm>
          <a:prstGeom prst="rect">
            <a:avLst/>
          </a:prstGeom>
          <a:noFill/>
        </p:spPr>
        <p:txBody>
          <a:bodyPr wrap="square">
            <a:spAutoFit/>
          </a:bodyPr>
          <a:lstStyle/>
          <a:p>
            <a:pPr>
              <a:buNone/>
            </a:pPr>
            <a:r>
              <a:rPr lang="en-US" sz="1200" b="1" dirty="0">
                <a:latin typeface="Calibir"/>
              </a:rPr>
              <a:t>Completed Customer Class — Java</a:t>
            </a:r>
          </a:p>
          <a:p>
            <a:pPr rtl="0">
              <a:buNone/>
            </a:pPr>
            <a:r>
              <a:rPr lang="en-US" sz="1200" dirty="0">
                <a:highlight>
                  <a:srgbClr val="FFFF00"/>
                </a:highlight>
                <a:latin typeface="Calibir"/>
              </a:rPr>
              <a:t>import </a:t>
            </a:r>
            <a:r>
              <a:rPr lang="en-US" sz="1200" dirty="0" err="1">
                <a:highlight>
                  <a:srgbClr val="FFFF00"/>
                </a:highlight>
                <a:latin typeface="Calibir"/>
              </a:rPr>
              <a:t>java.util.Scanner</a:t>
            </a:r>
            <a:r>
              <a:rPr lang="en-US" sz="1200" dirty="0">
                <a:highlight>
                  <a:srgbClr val="FFFF00"/>
                </a:highlight>
                <a:latin typeface="Calibir"/>
              </a:rPr>
              <a:t>;</a:t>
            </a:r>
          </a:p>
          <a:p>
            <a:pPr rtl="0">
              <a:buNone/>
            </a:pPr>
            <a:r>
              <a:rPr lang="en-US" sz="1200" dirty="0">
                <a:highlight>
                  <a:srgbClr val="FFFF00"/>
                </a:highlight>
                <a:latin typeface="Calibir"/>
              </a:rPr>
              <a:t>public class Customer {</a:t>
            </a:r>
          </a:p>
          <a:p>
            <a:pPr rtl="0">
              <a:buNone/>
            </a:pPr>
            <a:r>
              <a:rPr lang="en-US" sz="1200" dirty="0">
                <a:highlight>
                  <a:srgbClr val="FFFF00"/>
                </a:highlight>
                <a:latin typeface="Calibir"/>
              </a:rPr>
              <a:t>    private String name;</a:t>
            </a:r>
          </a:p>
          <a:p>
            <a:pPr rtl="0">
              <a:buNone/>
            </a:pPr>
            <a:r>
              <a:rPr lang="en-US" sz="1200" dirty="0">
                <a:highlight>
                  <a:srgbClr val="FFFF00"/>
                </a:highlight>
                <a:latin typeface="Calibir"/>
              </a:rPr>
              <a:t>    private Account savings;</a:t>
            </a:r>
          </a:p>
          <a:p>
            <a:pPr rtl="0">
              <a:buNone/>
            </a:pPr>
            <a:r>
              <a:rPr lang="en-US" sz="1200" dirty="0">
                <a:highlight>
                  <a:srgbClr val="FFFF00"/>
                </a:highlight>
                <a:latin typeface="Calibir"/>
              </a:rPr>
              <a:t>    private Account loan;</a:t>
            </a:r>
          </a:p>
          <a:p>
            <a:pPr rtl="0">
              <a:buNone/>
            </a:pPr>
            <a:r>
              <a:rPr lang="en-US" sz="1200" dirty="0">
                <a:highlight>
                  <a:srgbClr val="FFFF00"/>
                </a:highlight>
                <a:latin typeface="Calibir"/>
              </a:rPr>
              <a:t>    public Customer(</a:t>
            </a:r>
          </a:p>
          <a:p>
            <a:pPr rtl="0">
              <a:buNone/>
            </a:pPr>
            <a:r>
              <a:rPr lang="en-US" sz="1200" dirty="0">
                <a:highlight>
                  <a:srgbClr val="FFFF00"/>
                </a:highlight>
                <a:latin typeface="Calibir"/>
              </a:rPr>
              <a:t>            String name,</a:t>
            </a:r>
          </a:p>
          <a:p>
            <a:pPr rtl="0">
              <a:buNone/>
            </a:pPr>
            <a:r>
              <a:rPr lang="en-US" sz="1200" dirty="0">
                <a:highlight>
                  <a:srgbClr val="FFFF00"/>
                </a:highlight>
                <a:latin typeface="Calibir"/>
              </a:rPr>
              <a:t>            Scanner input) {</a:t>
            </a:r>
          </a:p>
          <a:p>
            <a:pPr rtl="0">
              <a:buNone/>
            </a:pPr>
            <a:r>
              <a:rPr lang="en-US" sz="1200" dirty="0">
                <a:highlight>
                  <a:srgbClr val="FFFF00"/>
                </a:highlight>
                <a:latin typeface="Calibir"/>
              </a:rPr>
              <a:t>        this.name = name;</a:t>
            </a:r>
          </a:p>
          <a:p>
            <a:pPr rtl="0">
              <a:buNone/>
            </a:pPr>
            <a:r>
              <a:rPr lang="en-US" sz="1200" dirty="0">
                <a:highlight>
                  <a:srgbClr val="FFFF00"/>
                </a:highlight>
                <a:latin typeface="Calibir"/>
              </a:rPr>
              <a:t>        savings =</a:t>
            </a:r>
          </a:p>
          <a:p>
            <a:pPr rtl="0">
              <a:buNone/>
            </a:pPr>
            <a:r>
              <a:rPr lang="en-US" sz="1200" dirty="0">
                <a:highlight>
                  <a:srgbClr val="FFFF00"/>
                </a:highlight>
                <a:latin typeface="Calibir"/>
              </a:rPr>
              <a:t>                new Account(</a:t>
            </a:r>
          </a:p>
          <a:p>
            <a:pPr rtl="0">
              <a:buNone/>
            </a:pPr>
            <a:r>
              <a:rPr lang="en-US" sz="1200" dirty="0">
                <a:highlight>
                  <a:srgbClr val="FFFF00"/>
                </a:highlight>
                <a:latin typeface="Calibir"/>
              </a:rPr>
              <a:t>                    "Savings",</a:t>
            </a:r>
          </a:p>
          <a:p>
            <a:pPr rtl="0">
              <a:buNone/>
            </a:pPr>
            <a:r>
              <a:rPr lang="en-US" sz="1200" dirty="0">
                <a:highlight>
                  <a:srgbClr val="FFFF00"/>
                </a:highlight>
                <a:latin typeface="Calibir"/>
              </a:rPr>
              <a:t>                    input</a:t>
            </a:r>
          </a:p>
          <a:p>
            <a:pPr rtl="0">
              <a:buNone/>
            </a:pPr>
            <a:r>
              <a:rPr lang="en-US" sz="1200" dirty="0">
                <a:highlight>
                  <a:srgbClr val="FFFF00"/>
                </a:highlight>
                <a:latin typeface="Calibir"/>
              </a:rPr>
              <a:t>                );</a:t>
            </a:r>
          </a:p>
          <a:p>
            <a:pPr rtl="0">
              <a:buNone/>
            </a:pPr>
            <a:r>
              <a:rPr lang="en-US" sz="1200" dirty="0">
                <a:highlight>
                  <a:srgbClr val="FFFF00"/>
                </a:highlight>
                <a:latin typeface="Calibir"/>
              </a:rPr>
              <a:t>        loan =</a:t>
            </a:r>
          </a:p>
          <a:p>
            <a:pPr rtl="0">
              <a:buNone/>
            </a:pPr>
            <a:r>
              <a:rPr lang="en-US" sz="1200" dirty="0">
                <a:highlight>
                  <a:srgbClr val="FFFF00"/>
                </a:highlight>
                <a:latin typeface="Calibir"/>
              </a:rPr>
              <a:t>                new Account(</a:t>
            </a:r>
          </a:p>
          <a:p>
            <a:pPr rtl="0">
              <a:buNone/>
            </a:pPr>
            <a:r>
              <a:rPr lang="en-US" sz="1200" dirty="0">
                <a:highlight>
                  <a:srgbClr val="FFFF00"/>
                </a:highlight>
                <a:latin typeface="Calibir"/>
              </a:rPr>
              <a:t>                    "Loan",</a:t>
            </a:r>
          </a:p>
          <a:p>
            <a:pPr rtl="0">
              <a:buNone/>
            </a:pPr>
            <a:r>
              <a:rPr lang="en-US" sz="1200" dirty="0">
                <a:highlight>
                  <a:srgbClr val="FFFF00"/>
                </a:highlight>
                <a:latin typeface="Calibir"/>
              </a:rPr>
              <a:t>                    input</a:t>
            </a:r>
          </a:p>
          <a:p>
            <a:pPr rtl="0">
              <a:buNone/>
            </a:pPr>
            <a:r>
              <a:rPr lang="en-US" sz="1200" dirty="0">
                <a:highlight>
                  <a:srgbClr val="FFFF00"/>
                </a:highlight>
                <a:latin typeface="Calibir"/>
              </a:rPr>
              <a:t>                );</a:t>
            </a:r>
          </a:p>
          <a:p>
            <a:pPr rtl="0">
              <a:buNone/>
            </a:pPr>
            <a:r>
              <a:rPr lang="en-US" sz="1200" dirty="0">
                <a:highlight>
                  <a:srgbClr val="FFFF00"/>
                </a:highlight>
                <a:latin typeface="Calibir"/>
              </a:rPr>
              <a:t>    }</a:t>
            </a:r>
          </a:p>
          <a:p>
            <a:pPr rtl="0">
              <a:buNone/>
            </a:pPr>
            <a:r>
              <a:rPr lang="en-US" sz="1200" dirty="0">
                <a:highlight>
                  <a:srgbClr val="FFFF00"/>
                </a:highlight>
                <a:latin typeface="Calibir"/>
              </a:rPr>
              <a:t>    private double </a:t>
            </a:r>
            <a:r>
              <a:rPr lang="en-US" sz="1200" dirty="0" err="1">
                <a:highlight>
                  <a:srgbClr val="FFFF00"/>
                </a:highlight>
                <a:latin typeface="Calibir"/>
              </a:rPr>
              <a:t>readAmount</a:t>
            </a:r>
            <a:r>
              <a:rPr lang="en-US" sz="1200" dirty="0">
                <a:highlight>
                  <a:srgbClr val="FFFF00"/>
                </a:highlight>
                <a:latin typeface="Calibir"/>
              </a:rPr>
              <a:t>(</a:t>
            </a:r>
          </a:p>
          <a:p>
            <a:pPr rtl="0">
              <a:buNone/>
            </a:pPr>
            <a:r>
              <a:rPr lang="en-US" sz="1200" dirty="0">
                <a:highlight>
                  <a:srgbClr val="FFFF00"/>
                </a:highlight>
                <a:latin typeface="Calibir"/>
              </a:rPr>
              <a:t>            Scanner input,</a:t>
            </a:r>
          </a:p>
          <a:p>
            <a:pPr rtl="0">
              <a:buNone/>
            </a:pPr>
            <a:r>
              <a:rPr lang="en-US" sz="1200" dirty="0">
                <a:highlight>
                  <a:srgbClr val="FFFF00"/>
                </a:highlight>
                <a:latin typeface="Calibir"/>
              </a:rPr>
              <a:t>            String message) {</a:t>
            </a:r>
          </a:p>
          <a:p>
            <a:pPr rtl="0">
              <a:buNone/>
            </a:pPr>
            <a:r>
              <a:rPr lang="en-US" sz="1200" dirty="0">
                <a:highlight>
                  <a:srgbClr val="FFFF00"/>
                </a:highlight>
                <a:latin typeface="Calibir"/>
              </a:rPr>
              <a:t>        </a:t>
            </a:r>
            <a:r>
              <a:rPr lang="en-US" sz="1200" dirty="0" err="1">
                <a:highlight>
                  <a:srgbClr val="FFFF00"/>
                </a:highlight>
                <a:latin typeface="Calibir"/>
              </a:rPr>
              <a:t>System.out.print</a:t>
            </a:r>
            <a:r>
              <a:rPr lang="en-US" sz="1200" dirty="0">
                <a:highlight>
                  <a:srgbClr val="FFFF00"/>
                </a:highlight>
                <a:latin typeface="Calibir"/>
              </a:rPr>
              <a:t>(message);</a:t>
            </a:r>
          </a:p>
          <a:p>
            <a:pPr rtl="0">
              <a:buNone/>
            </a:pPr>
            <a:endParaRPr lang="en-US" sz="1200" dirty="0">
              <a:highlight>
                <a:srgbClr val="FFFF00"/>
              </a:highlight>
              <a:latin typeface="Calibir"/>
            </a:endParaRPr>
          </a:p>
          <a:p>
            <a:pPr rtl="0">
              <a:buNone/>
            </a:pPr>
            <a:r>
              <a:rPr lang="en-US" sz="1200" dirty="0">
                <a:highlight>
                  <a:srgbClr val="FFFF00"/>
                </a:highlight>
                <a:latin typeface="Calibir"/>
              </a:rPr>
              <a:t>        return </a:t>
            </a:r>
            <a:r>
              <a:rPr lang="en-US" sz="1200" dirty="0" err="1">
                <a:highlight>
                  <a:srgbClr val="FFFF00"/>
                </a:highlight>
                <a:latin typeface="Calibir"/>
              </a:rPr>
              <a:t>input.nextDouble</a:t>
            </a:r>
            <a:r>
              <a:rPr lang="en-US" sz="1200" dirty="0">
                <a:highlight>
                  <a:srgbClr val="FFFF00"/>
                </a:highlight>
                <a:latin typeface="Calibir"/>
              </a:rPr>
              <a:t>();</a:t>
            </a:r>
          </a:p>
          <a:p>
            <a:pPr rtl="0">
              <a:buNone/>
            </a:pPr>
            <a:r>
              <a:rPr lang="en-US" sz="1200" dirty="0">
                <a:highlight>
                  <a:srgbClr val="FFFF00"/>
                </a:highlight>
                <a:latin typeface="Calibir"/>
              </a:rPr>
              <a:t>    }</a:t>
            </a:r>
          </a:p>
          <a:p>
            <a:pPr rtl="0">
              <a:buNone/>
            </a:pPr>
            <a:r>
              <a:rPr lang="en-US" sz="1200" dirty="0">
                <a:highlight>
                  <a:srgbClr val="FFFF00"/>
                </a:highlight>
                <a:latin typeface="Calibir"/>
              </a:rPr>
              <a:t>    public void deposit(</a:t>
            </a:r>
          </a:p>
          <a:p>
            <a:pPr rtl="0">
              <a:buNone/>
            </a:pPr>
            <a:r>
              <a:rPr lang="en-US" sz="1200" dirty="0">
                <a:highlight>
                  <a:srgbClr val="FFFF00"/>
                </a:highlight>
                <a:latin typeface="Calibir"/>
              </a:rPr>
              <a:t>            Scanner input) {</a:t>
            </a:r>
          </a:p>
          <a:p>
            <a:pPr rtl="0">
              <a:buNone/>
            </a:pPr>
            <a:r>
              <a:rPr lang="en-US" sz="1200" dirty="0">
                <a:highlight>
                  <a:srgbClr val="FFFF00"/>
                </a:highlight>
                <a:latin typeface="Calibir"/>
              </a:rPr>
              <a:t>        double amount =</a:t>
            </a:r>
          </a:p>
          <a:p>
            <a:pPr rtl="0">
              <a:buNone/>
            </a:pPr>
            <a:r>
              <a:rPr lang="en-US" sz="1200" dirty="0">
                <a:highlight>
                  <a:srgbClr val="FFFF00"/>
                </a:highlight>
                <a:latin typeface="Calibir"/>
              </a:rPr>
              <a:t>                </a:t>
            </a:r>
            <a:r>
              <a:rPr lang="en-US" sz="1200" dirty="0" err="1">
                <a:highlight>
                  <a:srgbClr val="FFFF00"/>
                </a:highlight>
                <a:latin typeface="Calibir"/>
              </a:rPr>
              <a:t>readAmount</a:t>
            </a:r>
            <a:r>
              <a:rPr lang="en-US" sz="1200" dirty="0">
                <a:highlight>
                  <a:srgbClr val="FFFF00"/>
                </a:highlight>
                <a:latin typeface="Calibir"/>
              </a:rPr>
              <a:t>(</a:t>
            </a:r>
          </a:p>
          <a:p>
            <a:pPr rtl="0">
              <a:buNone/>
            </a:pPr>
            <a:r>
              <a:rPr lang="en-US" sz="1200" dirty="0">
                <a:highlight>
                  <a:srgbClr val="FFFF00"/>
                </a:highlight>
                <a:latin typeface="Calibir"/>
              </a:rPr>
              <a:t>                    input,</a:t>
            </a:r>
          </a:p>
          <a:p>
            <a:pPr rtl="0">
              <a:buNone/>
            </a:pPr>
            <a:r>
              <a:rPr lang="en-US" sz="1200" dirty="0">
                <a:highlight>
                  <a:srgbClr val="FFFF00"/>
                </a:highlight>
                <a:latin typeface="Calibir"/>
              </a:rPr>
              <a:t>                    "Amount to deposit: $"</a:t>
            </a:r>
          </a:p>
          <a:p>
            <a:pPr rtl="0">
              <a:buNone/>
            </a:pPr>
            <a:r>
              <a:rPr lang="en-US" sz="1200" dirty="0">
                <a:highlight>
                  <a:srgbClr val="FFFF00"/>
                </a:highlight>
                <a:latin typeface="Calibir"/>
              </a:rPr>
              <a:t>                );</a:t>
            </a:r>
          </a:p>
          <a:p>
            <a:pPr rtl="0">
              <a:buNone/>
            </a:pPr>
            <a:r>
              <a:rPr lang="en-US" sz="1200" dirty="0">
                <a:highlight>
                  <a:srgbClr val="FFFF00"/>
                </a:highlight>
                <a:latin typeface="Calibir"/>
              </a:rPr>
              <a:t>        </a:t>
            </a:r>
            <a:r>
              <a:rPr lang="en-US" sz="1200" dirty="0" err="1">
                <a:highlight>
                  <a:srgbClr val="FFFF00"/>
                </a:highlight>
                <a:latin typeface="Calibir"/>
              </a:rPr>
              <a:t>savings.deposit</a:t>
            </a:r>
            <a:r>
              <a:rPr lang="en-US" sz="1200" dirty="0">
                <a:highlight>
                  <a:srgbClr val="FFFF00"/>
                </a:highlight>
                <a:latin typeface="Calibir"/>
              </a:rPr>
              <a:t>(amount);</a:t>
            </a:r>
          </a:p>
          <a:p>
            <a:pPr rtl="0">
              <a:buNone/>
            </a:pPr>
            <a:r>
              <a:rPr lang="en-US" sz="1200" dirty="0">
                <a:highlight>
                  <a:srgbClr val="FFFF00"/>
                </a:highlight>
                <a:latin typeface="Calibir"/>
              </a:rPr>
              <a:t>    }</a:t>
            </a:r>
          </a:p>
        </p:txBody>
      </p:sp>
    </p:spTree>
    <p:custDataLst>
      <p:tags r:id="rId1"/>
    </p:custDataLst>
    <p:extLst>
      <p:ext uri="{BB962C8B-B14F-4D97-AF65-F5344CB8AC3E}">
        <p14:creationId xmlns:p14="http://schemas.microsoft.com/office/powerpoint/2010/main" val="98890320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952FA-6D2D-16B5-78DC-F0480C52453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279F341-1872-1B16-4C74-AA4B4E6B5161}"/>
              </a:ext>
            </a:extLst>
          </p:cNvPr>
          <p:cNvSpPr txBox="1"/>
          <p:nvPr/>
        </p:nvSpPr>
        <p:spPr>
          <a:xfrm>
            <a:off x="-9832" y="-22728"/>
            <a:ext cx="6201696" cy="6924973"/>
          </a:xfrm>
          <a:prstGeom prst="rect">
            <a:avLst/>
          </a:prstGeom>
          <a:noFill/>
        </p:spPr>
        <p:txBody>
          <a:bodyPr wrap="square">
            <a:spAutoFit/>
          </a:bodyPr>
          <a:lstStyle/>
          <a:p>
            <a:r>
              <a:rPr lang="en-US" sz="1200" dirty="0">
                <a:highlight>
                  <a:srgbClr val="FFFF00"/>
                </a:highlight>
                <a:latin typeface="Calibir"/>
              </a:rPr>
              <a:t> public void withdraw(</a:t>
            </a:r>
          </a:p>
          <a:p>
            <a:r>
              <a:rPr lang="en-US" sz="1200" dirty="0">
                <a:highlight>
                  <a:srgbClr val="FFFF00"/>
                </a:highlight>
                <a:latin typeface="Calibir"/>
              </a:rPr>
              <a:t>            Scanner input) {</a:t>
            </a:r>
          </a:p>
          <a:p>
            <a:r>
              <a:rPr lang="en-US" sz="1200" dirty="0">
                <a:highlight>
                  <a:srgbClr val="FFFF00"/>
                </a:highlight>
                <a:latin typeface="Calibir"/>
              </a:rPr>
              <a:t>        double amount =</a:t>
            </a:r>
          </a:p>
          <a:p>
            <a:r>
              <a:rPr lang="en-US" sz="1200" dirty="0">
                <a:highlight>
                  <a:srgbClr val="FFFF00"/>
                </a:highlight>
                <a:latin typeface="Calibir"/>
              </a:rPr>
              <a:t>                </a:t>
            </a:r>
            <a:r>
              <a:rPr lang="en-US" sz="1200" dirty="0" err="1">
                <a:highlight>
                  <a:srgbClr val="FFFF00"/>
                </a:highlight>
                <a:latin typeface="Calibir"/>
              </a:rPr>
              <a:t>readAmount</a:t>
            </a:r>
            <a:r>
              <a:rPr lang="en-US" sz="1200" dirty="0">
                <a:highlight>
                  <a:srgbClr val="FFFF00"/>
                </a:highlight>
                <a:latin typeface="Calibir"/>
              </a:rPr>
              <a:t>(</a:t>
            </a:r>
          </a:p>
          <a:p>
            <a:r>
              <a:rPr lang="en-US" sz="1200" dirty="0">
                <a:highlight>
                  <a:srgbClr val="FFFF00"/>
                </a:highlight>
                <a:latin typeface="Calibir"/>
              </a:rPr>
              <a:t>                    input,</a:t>
            </a:r>
          </a:p>
          <a:p>
            <a:r>
              <a:rPr lang="en-US" sz="1200" dirty="0">
                <a:highlight>
                  <a:srgbClr val="FFFF00"/>
                </a:highlight>
                <a:latin typeface="Calibir"/>
              </a:rPr>
              <a:t>                    "Amount to withdraw: $"</a:t>
            </a:r>
          </a:p>
          <a:p>
            <a:r>
              <a:rPr lang="en-US" sz="1200" dirty="0">
                <a:highlight>
                  <a:srgbClr val="FFFF00"/>
                </a:highlight>
                <a:latin typeface="Calibir"/>
              </a:rPr>
              <a:t>                );</a:t>
            </a:r>
          </a:p>
          <a:p>
            <a:r>
              <a:rPr lang="en-US" sz="1200" dirty="0">
                <a:highlight>
                  <a:srgbClr val="FFFF00"/>
                </a:highlight>
                <a:latin typeface="Calibir"/>
              </a:rPr>
              <a:t>        try {</a:t>
            </a:r>
          </a:p>
          <a:p>
            <a:r>
              <a:rPr lang="en-US" sz="1200" dirty="0">
                <a:highlight>
                  <a:srgbClr val="FFFF00"/>
                </a:highlight>
                <a:latin typeface="Calibir"/>
              </a:rPr>
              <a:t>            </a:t>
            </a:r>
            <a:r>
              <a:rPr lang="en-US" sz="1200" dirty="0" err="1">
                <a:highlight>
                  <a:srgbClr val="FFFF00"/>
                </a:highlight>
                <a:latin typeface="Calibir"/>
              </a:rPr>
              <a:t>savings.withdraw</a:t>
            </a:r>
            <a:r>
              <a:rPr lang="en-US" sz="1200" dirty="0">
                <a:highlight>
                  <a:srgbClr val="FFFF00"/>
                </a:highlight>
                <a:latin typeface="Calibir"/>
              </a:rPr>
              <a:t>(amount);</a:t>
            </a:r>
          </a:p>
          <a:p>
            <a:r>
              <a:rPr lang="en-US" sz="1200" dirty="0">
                <a:highlight>
                  <a:srgbClr val="FFFF00"/>
                </a:highlight>
                <a:latin typeface="Calibir"/>
              </a:rPr>
              <a:t>        } catch (</a:t>
            </a:r>
          </a:p>
          <a:p>
            <a:r>
              <a:rPr lang="en-US" sz="1200" dirty="0">
                <a:highlight>
                  <a:srgbClr val="FFFF00"/>
                </a:highlight>
                <a:latin typeface="Calibir"/>
              </a:rPr>
              <a:t>            </a:t>
            </a:r>
            <a:r>
              <a:rPr lang="en-US" sz="1200" dirty="0" err="1">
                <a:highlight>
                  <a:srgbClr val="FFFF00"/>
                </a:highlight>
                <a:latin typeface="Calibir"/>
              </a:rPr>
              <a:t>IllegalArgumentException</a:t>
            </a:r>
            <a:r>
              <a:rPr lang="en-US" sz="1200" dirty="0">
                <a:highlight>
                  <a:srgbClr val="FFFF00"/>
                </a:highlight>
                <a:latin typeface="Calibir"/>
              </a:rPr>
              <a:t> error</a:t>
            </a:r>
          </a:p>
          <a:p>
            <a:r>
              <a:rPr lang="en-US" sz="1200" dirty="0">
                <a:highlight>
                  <a:srgbClr val="FFFF00"/>
                </a:highlight>
                <a:latin typeface="Calibir"/>
              </a:rPr>
              <a:t>        ) {</a:t>
            </a:r>
          </a:p>
          <a:p>
            <a:r>
              <a:rPr lang="en-US" sz="1200" dirty="0">
                <a:highlight>
                  <a:srgbClr val="FFFF00"/>
                </a:highlight>
                <a:latin typeface="Calibir"/>
              </a:rPr>
              <a:t>            </a:t>
            </a:r>
            <a:r>
              <a:rPr lang="en-US" sz="1200" dirty="0" err="1">
                <a:highlight>
                  <a:srgbClr val="FFFF00"/>
                </a:highlight>
                <a:latin typeface="Calibir"/>
              </a:rPr>
              <a:t>System.out.println</a:t>
            </a:r>
            <a:r>
              <a:rPr lang="en-US" sz="1200" dirty="0">
                <a:highlight>
                  <a:srgbClr val="FFFF00"/>
                </a:highlight>
                <a:latin typeface="Calibir"/>
              </a:rPr>
              <a:t>(</a:t>
            </a:r>
          </a:p>
          <a:p>
            <a:r>
              <a:rPr lang="en-US" sz="1200" dirty="0">
                <a:highlight>
                  <a:srgbClr val="FFFF00"/>
                </a:highlight>
                <a:latin typeface="Calibir"/>
              </a:rPr>
              <a:t>                </a:t>
            </a:r>
            <a:r>
              <a:rPr lang="en-US" sz="1200" dirty="0" err="1">
                <a:highlight>
                  <a:srgbClr val="FFFF00"/>
                </a:highlight>
                <a:latin typeface="Calibir"/>
              </a:rPr>
              <a:t>error.getMessage</a:t>
            </a:r>
            <a:r>
              <a:rPr lang="en-US" sz="1200" dirty="0">
                <a:highlight>
                  <a:srgbClr val="FFFF00"/>
                </a:highlight>
                <a:latin typeface="Calibir"/>
              </a:rPr>
              <a:t>()</a:t>
            </a:r>
          </a:p>
          <a:p>
            <a:r>
              <a:rPr lang="en-US" sz="1200" dirty="0">
                <a:highlight>
                  <a:srgbClr val="FFFF00"/>
                </a:highlight>
                <a:latin typeface="Calibir"/>
              </a:rPr>
              <a:t>            );</a:t>
            </a:r>
          </a:p>
          <a:p>
            <a:r>
              <a:rPr lang="en-US" sz="1200" dirty="0">
                <a:highlight>
                  <a:srgbClr val="FFFF00"/>
                </a:highlight>
                <a:latin typeface="Calibir"/>
              </a:rPr>
              <a:t>        }</a:t>
            </a:r>
          </a:p>
          <a:p>
            <a:r>
              <a:rPr lang="en-US" sz="1200" dirty="0">
                <a:highlight>
                  <a:srgbClr val="FFFF00"/>
                </a:highlight>
                <a:latin typeface="Calibir"/>
              </a:rPr>
              <a:t>    }</a:t>
            </a:r>
          </a:p>
          <a:p>
            <a:r>
              <a:rPr lang="en-US" sz="1200" dirty="0">
                <a:highlight>
                  <a:srgbClr val="FFFF00"/>
                </a:highlight>
                <a:latin typeface="Calibir"/>
              </a:rPr>
              <a:t>    public void transfer(</a:t>
            </a:r>
          </a:p>
          <a:p>
            <a:r>
              <a:rPr lang="en-US" sz="1200" dirty="0">
                <a:highlight>
                  <a:srgbClr val="FFFF00"/>
                </a:highlight>
                <a:latin typeface="Calibir"/>
              </a:rPr>
              <a:t>            Scanner input) {</a:t>
            </a:r>
          </a:p>
          <a:p>
            <a:r>
              <a:rPr lang="en-US" sz="1200" dirty="0">
                <a:highlight>
                  <a:srgbClr val="FFFF00"/>
                </a:highlight>
                <a:latin typeface="Calibir"/>
              </a:rPr>
              <a:t>        double amount =</a:t>
            </a:r>
          </a:p>
          <a:p>
            <a:r>
              <a:rPr lang="en-US" sz="1200" dirty="0">
                <a:highlight>
                  <a:srgbClr val="FFFF00"/>
                </a:highlight>
                <a:latin typeface="Calibir"/>
              </a:rPr>
              <a:t>                </a:t>
            </a:r>
            <a:r>
              <a:rPr lang="en-US" sz="1200" dirty="0" err="1">
                <a:highlight>
                  <a:srgbClr val="FFFF00"/>
                </a:highlight>
                <a:latin typeface="Calibir"/>
              </a:rPr>
              <a:t>readAmount</a:t>
            </a:r>
            <a:r>
              <a:rPr lang="en-US" sz="1200" dirty="0">
                <a:highlight>
                  <a:srgbClr val="FFFF00"/>
                </a:highlight>
                <a:latin typeface="Calibir"/>
              </a:rPr>
              <a:t>(</a:t>
            </a:r>
          </a:p>
          <a:p>
            <a:r>
              <a:rPr lang="en-US" sz="1200" dirty="0">
                <a:highlight>
                  <a:srgbClr val="FFFF00"/>
                </a:highlight>
                <a:latin typeface="Calibir"/>
              </a:rPr>
              <a:t>                    input,</a:t>
            </a:r>
          </a:p>
          <a:p>
            <a:r>
              <a:rPr lang="en-US" sz="1200" dirty="0">
                <a:highlight>
                  <a:srgbClr val="FFFF00"/>
                </a:highlight>
                <a:latin typeface="Calibir"/>
              </a:rPr>
              <a:t>                    "Amount to transfer: $"</a:t>
            </a:r>
          </a:p>
          <a:p>
            <a:r>
              <a:rPr lang="en-US" sz="1200" dirty="0">
                <a:highlight>
                  <a:srgbClr val="FFFF00"/>
                </a:highlight>
                <a:latin typeface="Calibir"/>
              </a:rPr>
              <a:t>                );</a:t>
            </a:r>
          </a:p>
          <a:p>
            <a:r>
              <a:rPr lang="en-US" sz="1200" dirty="0">
                <a:highlight>
                  <a:srgbClr val="FFFF00"/>
                </a:highlight>
                <a:latin typeface="Calibir"/>
              </a:rPr>
              <a:t>        try {</a:t>
            </a:r>
          </a:p>
          <a:p>
            <a:r>
              <a:rPr lang="en-US" sz="1200" dirty="0">
                <a:highlight>
                  <a:srgbClr val="FFFF00"/>
                </a:highlight>
                <a:latin typeface="Calibir"/>
              </a:rPr>
              <a:t>            </a:t>
            </a:r>
            <a:r>
              <a:rPr lang="en-US" sz="1200" dirty="0" err="1">
                <a:highlight>
                  <a:srgbClr val="FFFF00"/>
                </a:highlight>
                <a:latin typeface="Calibir"/>
              </a:rPr>
              <a:t>savings.transferToLoan</a:t>
            </a:r>
            <a:r>
              <a:rPr lang="en-US" sz="1200" dirty="0">
                <a:highlight>
                  <a:srgbClr val="FFFF00"/>
                </a:highlight>
                <a:latin typeface="Calibir"/>
              </a:rPr>
              <a:t>(</a:t>
            </a:r>
          </a:p>
          <a:p>
            <a:r>
              <a:rPr lang="en-US" sz="1200" dirty="0">
                <a:highlight>
                  <a:srgbClr val="FFFF00"/>
                </a:highlight>
                <a:latin typeface="Calibir"/>
              </a:rPr>
              <a:t>                amount,</a:t>
            </a:r>
          </a:p>
          <a:p>
            <a:r>
              <a:rPr lang="en-US" sz="1200" dirty="0">
                <a:highlight>
                  <a:srgbClr val="FFFF00"/>
                </a:highlight>
                <a:latin typeface="Calibir"/>
              </a:rPr>
              <a:t>                loan</a:t>
            </a:r>
          </a:p>
          <a:p>
            <a:r>
              <a:rPr lang="en-US" sz="1200" dirty="0">
                <a:highlight>
                  <a:srgbClr val="FFFF00"/>
                </a:highlight>
                <a:latin typeface="Calibir"/>
              </a:rPr>
              <a:t>            );</a:t>
            </a:r>
          </a:p>
          <a:p>
            <a:r>
              <a:rPr lang="en-US" sz="1200" dirty="0">
                <a:highlight>
                  <a:srgbClr val="FFFF00"/>
                </a:highlight>
                <a:latin typeface="Calibir"/>
              </a:rPr>
              <a:t>        } catch (</a:t>
            </a:r>
          </a:p>
          <a:p>
            <a:r>
              <a:rPr lang="en-US" sz="1200" dirty="0">
                <a:highlight>
                  <a:srgbClr val="FFFF00"/>
                </a:highlight>
                <a:latin typeface="Calibir"/>
              </a:rPr>
              <a:t>            </a:t>
            </a:r>
            <a:r>
              <a:rPr lang="en-US" sz="1200" dirty="0" err="1">
                <a:highlight>
                  <a:srgbClr val="FFFF00"/>
                </a:highlight>
                <a:latin typeface="Calibir"/>
              </a:rPr>
              <a:t>IllegalArgumentException</a:t>
            </a:r>
            <a:r>
              <a:rPr lang="en-US" sz="1200" dirty="0">
                <a:highlight>
                  <a:srgbClr val="FFFF00"/>
                </a:highlight>
                <a:latin typeface="Calibir"/>
              </a:rPr>
              <a:t> error</a:t>
            </a:r>
          </a:p>
          <a:p>
            <a:r>
              <a:rPr lang="en-US" sz="1200" dirty="0">
                <a:highlight>
                  <a:srgbClr val="FFFF00"/>
                </a:highlight>
                <a:latin typeface="Calibir"/>
              </a:rPr>
              <a:t>        ) {</a:t>
            </a:r>
          </a:p>
          <a:p>
            <a:r>
              <a:rPr lang="en-US" sz="1200" dirty="0">
                <a:highlight>
                  <a:srgbClr val="FFFF00"/>
                </a:highlight>
                <a:latin typeface="Calibir"/>
              </a:rPr>
              <a:t>            </a:t>
            </a:r>
            <a:r>
              <a:rPr lang="en-US" sz="1200" dirty="0" err="1">
                <a:highlight>
                  <a:srgbClr val="FFFF00"/>
                </a:highlight>
                <a:latin typeface="Calibir"/>
              </a:rPr>
              <a:t>System.out.println</a:t>
            </a:r>
            <a:r>
              <a:rPr lang="en-US" sz="1200" dirty="0">
                <a:highlight>
                  <a:srgbClr val="FFFF00"/>
                </a:highlight>
                <a:latin typeface="Calibir"/>
              </a:rPr>
              <a:t>(</a:t>
            </a:r>
          </a:p>
          <a:p>
            <a:r>
              <a:rPr lang="en-US" sz="1200" dirty="0">
                <a:highlight>
                  <a:srgbClr val="FFFF00"/>
                </a:highlight>
                <a:latin typeface="Calibir"/>
              </a:rPr>
              <a:t>                </a:t>
            </a:r>
            <a:r>
              <a:rPr lang="en-US" sz="1200" dirty="0" err="1">
                <a:highlight>
                  <a:srgbClr val="FFFF00"/>
                </a:highlight>
                <a:latin typeface="Calibir"/>
              </a:rPr>
              <a:t>error.getMessage</a:t>
            </a:r>
            <a:r>
              <a:rPr lang="en-US" sz="1200" dirty="0">
                <a:highlight>
                  <a:srgbClr val="FFFF00"/>
                </a:highlight>
                <a:latin typeface="Calibir"/>
              </a:rPr>
              <a:t>()</a:t>
            </a:r>
          </a:p>
          <a:p>
            <a:r>
              <a:rPr lang="en-US" sz="1200" dirty="0">
                <a:highlight>
                  <a:srgbClr val="FFFF00"/>
                </a:highlight>
                <a:latin typeface="Calibir"/>
              </a:rPr>
              <a:t>            );</a:t>
            </a:r>
          </a:p>
          <a:p>
            <a:r>
              <a:rPr lang="en-US" sz="1200" dirty="0">
                <a:highlight>
                  <a:srgbClr val="FFFF00"/>
                </a:highlight>
                <a:latin typeface="Calibir"/>
              </a:rPr>
              <a:t>        }</a:t>
            </a:r>
          </a:p>
          <a:p>
            <a:r>
              <a:rPr lang="en-US" sz="1200" dirty="0">
                <a:highlight>
                  <a:srgbClr val="FFFF00"/>
                </a:highlight>
                <a:latin typeface="Calibir"/>
              </a:rPr>
              <a:t>    }</a:t>
            </a:r>
          </a:p>
        </p:txBody>
      </p:sp>
    </p:spTree>
    <p:custDataLst>
      <p:tags r:id="rId1"/>
    </p:custDataLst>
    <p:extLst>
      <p:ext uri="{BB962C8B-B14F-4D97-AF65-F5344CB8AC3E}">
        <p14:creationId xmlns:p14="http://schemas.microsoft.com/office/powerpoint/2010/main" val="49774641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11237-7AE4-F388-91E7-064335F1784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450455A-A16B-0215-AE3A-E352132DEDD5}"/>
              </a:ext>
            </a:extLst>
          </p:cNvPr>
          <p:cNvSpPr txBox="1"/>
          <p:nvPr/>
        </p:nvSpPr>
        <p:spPr>
          <a:xfrm>
            <a:off x="0" y="0"/>
            <a:ext cx="6201696" cy="2308324"/>
          </a:xfrm>
          <a:prstGeom prst="rect">
            <a:avLst/>
          </a:prstGeom>
          <a:noFill/>
        </p:spPr>
        <p:txBody>
          <a:bodyPr wrap="square">
            <a:spAutoFit/>
          </a:bodyPr>
          <a:lstStyle/>
          <a:p>
            <a:r>
              <a:rPr lang="en-US" sz="1200" dirty="0">
                <a:highlight>
                  <a:srgbClr val="FFFF00"/>
                </a:highlight>
                <a:latin typeface="Calibir"/>
              </a:rPr>
              <a:t> public void show() {</a:t>
            </a:r>
          </a:p>
          <a:p>
            <a:r>
              <a:rPr lang="en-US" sz="1200" dirty="0">
                <a:highlight>
                  <a:srgbClr val="FFFF00"/>
                </a:highlight>
                <a:latin typeface="Calibir"/>
              </a:rPr>
              <a:t>        </a:t>
            </a:r>
            <a:r>
              <a:rPr lang="en-US" sz="1200" dirty="0" err="1">
                <a:highlight>
                  <a:srgbClr val="FFFF00"/>
                </a:highlight>
                <a:latin typeface="Calibir"/>
              </a:rPr>
              <a:t>System.out.println</a:t>
            </a:r>
            <a:r>
              <a:rPr lang="en-US" sz="1200" dirty="0">
                <a:highlight>
                  <a:srgbClr val="FFFF00"/>
                </a:highlight>
                <a:latin typeface="Calibir"/>
              </a:rPr>
              <a:t>(this);</a:t>
            </a:r>
          </a:p>
          <a:p>
            <a:r>
              <a:rPr lang="en-US" sz="1200" dirty="0">
                <a:highlight>
                  <a:srgbClr val="FFFF00"/>
                </a:highlight>
                <a:latin typeface="Calibir"/>
              </a:rPr>
              <a:t>    }</a:t>
            </a:r>
          </a:p>
          <a:p>
            <a:r>
              <a:rPr lang="en-US" sz="1200" dirty="0">
                <a:highlight>
                  <a:srgbClr val="FFFF00"/>
                </a:highlight>
                <a:latin typeface="Calibir"/>
              </a:rPr>
              <a:t>    @Override</a:t>
            </a:r>
          </a:p>
          <a:p>
            <a:r>
              <a:rPr lang="en-US" sz="1200" dirty="0">
                <a:highlight>
                  <a:srgbClr val="FFFF00"/>
                </a:highlight>
                <a:latin typeface="Calibir"/>
              </a:rPr>
              <a:t>    public String </a:t>
            </a:r>
            <a:r>
              <a:rPr lang="en-US" sz="1200" dirty="0" err="1">
                <a:highlight>
                  <a:srgbClr val="FFFF00"/>
                </a:highlight>
                <a:latin typeface="Calibir"/>
              </a:rPr>
              <a:t>toString</a:t>
            </a:r>
            <a:r>
              <a:rPr lang="en-US" sz="1200" dirty="0">
                <a:highlight>
                  <a:srgbClr val="FFFF00"/>
                </a:highlight>
                <a:latin typeface="Calibir"/>
              </a:rPr>
              <a:t>() {</a:t>
            </a:r>
          </a:p>
          <a:p>
            <a:r>
              <a:rPr lang="en-US" sz="1200" dirty="0">
                <a:highlight>
                  <a:srgbClr val="FFFF00"/>
                </a:highlight>
                <a:latin typeface="Calibir"/>
              </a:rPr>
              <a:t>        return name</a:t>
            </a:r>
          </a:p>
          <a:p>
            <a:r>
              <a:rPr lang="en-US" sz="1200" dirty="0">
                <a:highlight>
                  <a:srgbClr val="FFFF00"/>
                </a:highlight>
                <a:latin typeface="Calibir"/>
              </a:rPr>
              <a:t>                + " accounts:\n"</a:t>
            </a:r>
          </a:p>
          <a:p>
            <a:r>
              <a:rPr lang="en-US" sz="1200" dirty="0">
                <a:highlight>
                  <a:srgbClr val="FFFF00"/>
                </a:highlight>
                <a:latin typeface="Calibir"/>
              </a:rPr>
              <a:t>                + savings</a:t>
            </a:r>
          </a:p>
          <a:p>
            <a:r>
              <a:rPr lang="en-US" sz="1200" dirty="0">
                <a:highlight>
                  <a:srgbClr val="FFFF00"/>
                </a:highlight>
                <a:latin typeface="Calibir"/>
              </a:rPr>
              <a:t>                + "\n"</a:t>
            </a:r>
          </a:p>
          <a:p>
            <a:r>
              <a:rPr lang="en-US" sz="1200" dirty="0">
                <a:highlight>
                  <a:srgbClr val="FFFF00"/>
                </a:highlight>
                <a:latin typeface="Calibir"/>
              </a:rPr>
              <a:t>                + loan;</a:t>
            </a:r>
          </a:p>
          <a:p>
            <a:r>
              <a:rPr lang="en-US" sz="1200" dirty="0">
                <a:highlight>
                  <a:srgbClr val="FFFF00"/>
                </a:highlight>
                <a:latin typeface="Calibir"/>
              </a:rPr>
              <a:t>    }</a:t>
            </a:r>
          </a:p>
          <a:p>
            <a:r>
              <a:rPr lang="en-US" sz="1200" dirty="0">
                <a:highlight>
                  <a:srgbClr val="FFFF00"/>
                </a:highlight>
                <a:latin typeface="Calibir"/>
              </a:rPr>
              <a:t>}</a:t>
            </a:r>
          </a:p>
        </p:txBody>
      </p:sp>
    </p:spTree>
    <p:custDataLst>
      <p:tags r:id="rId1"/>
    </p:custDataLst>
    <p:extLst>
      <p:ext uri="{BB962C8B-B14F-4D97-AF65-F5344CB8AC3E}">
        <p14:creationId xmlns:p14="http://schemas.microsoft.com/office/powerpoint/2010/main" val="113834871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C993D-67AB-F598-48E7-1D87B8144F75}"/>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1A6FA742-A2F4-81CF-DD57-C45ACB6E1968}"/>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4" name="Title 1">
            <a:extLst>
              <a:ext uri="{FF2B5EF4-FFF2-40B4-BE49-F238E27FC236}">
                <a16:creationId xmlns:a16="http://schemas.microsoft.com/office/drawing/2014/main" id="{6CBE342D-F3C8-12E1-11C7-22D71AFC2AAA}"/>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
        <p:nvSpPr>
          <p:cNvPr id="3" name="TextBox 2">
            <a:extLst>
              <a:ext uri="{FF2B5EF4-FFF2-40B4-BE49-F238E27FC236}">
                <a16:creationId xmlns:a16="http://schemas.microsoft.com/office/drawing/2014/main" id="{6C225850-CB4C-1514-611B-6BD9DDE4FF67}"/>
              </a:ext>
            </a:extLst>
          </p:cNvPr>
          <p:cNvSpPr txBox="1"/>
          <p:nvPr/>
        </p:nvSpPr>
        <p:spPr>
          <a:xfrm>
            <a:off x="0" y="1284249"/>
            <a:ext cx="11990438" cy="4549835"/>
          </a:xfrm>
          <a:prstGeom prst="rect">
            <a:avLst/>
          </a:prstGeom>
          <a:noFill/>
        </p:spPr>
        <p:txBody>
          <a:bodyPr wrap="square">
            <a:spAutoFit/>
          </a:bodyPr>
          <a:lstStyle/>
          <a:p>
            <a:pPr>
              <a:lnSpc>
                <a:spcPct val="150000"/>
              </a:lnSpc>
              <a:buNone/>
            </a:pPr>
            <a:r>
              <a:rPr lang="en-US" sz="2800" b="1" dirty="0">
                <a:latin typeface="Calibir"/>
              </a:rPr>
              <a:t>Bank Class</a:t>
            </a:r>
          </a:p>
          <a:p>
            <a:pPr>
              <a:lnSpc>
                <a:spcPct val="150000"/>
              </a:lnSpc>
              <a:buNone/>
            </a:pPr>
            <a:r>
              <a:rPr lang="en-US" sz="2800" dirty="0">
                <a:latin typeface="Calibir"/>
              </a:rPr>
              <a:t>The Bank class is now much simpler.</a:t>
            </a:r>
          </a:p>
          <a:p>
            <a:pPr>
              <a:lnSpc>
                <a:spcPct val="150000"/>
              </a:lnSpc>
              <a:buNone/>
            </a:pPr>
            <a:r>
              <a:rPr lang="en-US" sz="2800" dirty="0">
                <a:latin typeface="Calibir"/>
              </a:rPr>
              <a:t>It:</a:t>
            </a:r>
          </a:p>
          <a:p>
            <a:pPr marL="722313" lvl="0" indent="-342900">
              <a:lnSpc>
                <a:spcPct val="150000"/>
              </a:lnSpc>
              <a:buFont typeface="Arial" panose="020B0604020202020204" pitchFamily="34" charset="0"/>
              <a:buChar char="•"/>
            </a:pPr>
            <a:r>
              <a:rPr lang="en-US" sz="2800" dirty="0">
                <a:latin typeface="Calibir"/>
              </a:rPr>
              <a:t>has one Customer </a:t>
            </a:r>
          </a:p>
          <a:p>
            <a:pPr marL="722313" lvl="0" indent="-342900">
              <a:lnSpc>
                <a:spcPct val="150000"/>
              </a:lnSpc>
              <a:buFont typeface="Arial" panose="020B0604020202020204" pitchFamily="34" charset="0"/>
              <a:buChar char="•"/>
            </a:pPr>
            <a:r>
              <a:rPr lang="en-US" sz="2800" dirty="0">
                <a:latin typeface="Calibir"/>
              </a:rPr>
              <a:t>shows the menu </a:t>
            </a:r>
          </a:p>
          <a:p>
            <a:pPr marL="722313" lvl="0" indent="-342900">
              <a:lnSpc>
                <a:spcPct val="150000"/>
              </a:lnSpc>
              <a:buFont typeface="Arial" panose="020B0604020202020204" pitchFamily="34" charset="0"/>
              <a:buChar char="•"/>
            </a:pPr>
            <a:r>
              <a:rPr lang="en-US" sz="2800" dirty="0">
                <a:latin typeface="Calibir"/>
              </a:rPr>
              <a:t>calls Customer methods </a:t>
            </a:r>
          </a:p>
          <a:p>
            <a:pPr>
              <a:lnSpc>
                <a:spcPct val="150000"/>
              </a:lnSpc>
              <a:buNone/>
            </a:pPr>
            <a:r>
              <a:rPr lang="en-US" sz="2800" dirty="0">
                <a:latin typeface="Calibir"/>
              </a:rPr>
              <a:t>That is good OOP design.</a:t>
            </a:r>
          </a:p>
        </p:txBody>
      </p:sp>
    </p:spTree>
    <p:custDataLst>
      <p:tags r:id="rId1"/>
    </p:custDataLst>
    <p:extLst>
      <p:ext uri="{BB962C8B-B14F-4D97-AF65-F5344CB8AC3E}">
        <p14:creationId xmlns:p14="http://schemas.microsoft.com/office/powerpoint/2010/main" val="322913483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A23BB-75AF-435B-3D7B-5CE08315A0FD}"/>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9A1A87AE-9B2E-C07B-0D2C-A0E211A5B9B2}"/>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4" name="Title 1">
            <a:extLst>
              <a:ext uri="{FF2B5EF4-FFF2-40B4-BE49-F238E27FC236}">
                <a16:creationId xmlns:a16="http://schemas.microsoft.com/office/drawing/2014/main" id="{E508D8CE-60D2-FDDA-DDC5-78894CC92949}"/>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
        <p:nvSpPr>
          <p:cNvPr id="5" name="TextBox 4">
            <a:extLst>
              <a:ext uri="{FF2B5EF4-FFF2-40B4-BE49-F238E27FC236}">
                <a16:creationId xmlns:a16="http://schemas.microsoft.com/office/drawing/2014/main" id="{7D4D24BD-1226-800A-8BD1-93D616AC789F}"/>
              </a:ext>
            </a:extLst>
          </p:cNvPr>
          <p:cNvSpPr txBox="1"/>
          <p:nvPr/>
        </p:nvSpPr>
        <p:spPr>
          <a:xfrm>
            <a:off x="0" y="1284249"/>
            <a:ext cx="6695768" cy="3257174"/>
          </a:xfrm>
          <a:prstGeom prst="rect">
            <a:avLst/>
          </a:prstGeom>
          <a:noFill/>
        </p:spPr>
        <p:txBody>
          <a:bodyPr wrap="square">
            <a:spAutoFit/>
          </a:bodyPr>
          <a:lstStyle/>
          <a:p>
            <a:pPr>
              <a:lnSpc>
                <a:spcPct val="150000"/>
              </a:lnSpc>
              <a:buNone/>
            </a:pPr>
            <a:r>
              <a:rPr lang="en-US" sz="2800" b="1" dirty="0">
                <a:latin typeface="Calibir"/>
              </a:rPr>
              <a:t>Step 15 — Create John Smith</a:t>
            </a:r>
          </a:p>
          <a:p>
            <a:pPr>
              <a:lnSpc>
                <a:spcPct val="150000"/>
              </a:lnSpc>
              <a:buNone/>
            </a:pPr>
            <a:r>
              <a:rPr lang="en-US" sz="2800" b="1" dirty="0">
                <a:latin typeface="Calibir"/>
              </a:rPr>
              <a:t>Python</a:t>
            </a:r>
          </a:p>
          <a:p>
            <a:pPr rtl="0">
              <a:lnSpc>
                <a:spcPct val="150000"/>
              </a:lnSpc>
              <a:buNone/>
            </a:pPr>
            <a:r>
              <a:rPr lang="en-US" sz="2800" dirty="0">
                <a:highlight>
                  <a:srgbClr val="FFFF00"/>
                </a:highlight>
                <a:latin typeface="Calibir"/>
              </a:rPr>
              <a:t>class Bank:</a:t>
            </a:r>
          </a:p>
          <a:p>
            <a:pPr rtl="0">
              <a:lnSpc>
                <a:spcPct val="150000"/>
              </a:lnSpc>
              <a:buNone/>
            </a:pPr>
            <a:r>
              <a:rPr lang="en-US" sz="2800" dirty="0">
                <a:highlight>
                  <a:srgbClr val="FFFF00"/>
                </a:highlight>
                <a:latin typeface="Calibir"/>
              </a:rPr>
              <a:t>    def __</a:t>
            </a:r>
            <a:r>
              <a:rPr lang="en-US" sz="2800" dirty="0" err="1">
                <a:highlight>
                  <a:srgbClr val="FFFF00"/>
                </a:highlight>
                <a:latin typeface="Calibir"/>
              </a:rPr>
              <a:t>init</a:t>
            </a:r>
            <a:r>
              <a:rPr lang="en-US" sz="2800" dirty="0">
                <a:highlight>
                  <a:srgbClr val="FFFF00"/>
                </a:highlight>
                <a:latin typeface="Calibir"/>
              </a:rPr>
              <a:t>__(self):</a:t>
            </a:r>
          </a:p>
          <a:p>
            <a:pPr rtl="0">
              <a:lnSpc>
                <a:spcPct val="150000"/>
              </a:lnSpc>
              <a:buNone/>
            </a:pPr>
            <a:r>
              <a:rPr lang="en-US" sz="2800" dirty="0">
                <a:highlight>
                  <a:srgbClr val="FFFF00"/>
                </a:highlight>
                <a:latin typeface="Calibir"/>
              </a:rPr>
              <a:t>        </a:t>
            </a:r>
            <a:r>
              <a:rPr lang="en-US" sz="2800" dirty="0" err="1">
                <a:highlight>
                  <a:srgbClr val="FFFF00"/>
                </a:highlight>
                <a:latin typeface="Calibir"/>
              </a:rPr>
              <a:t>self.customer</a:t>
            </a:r>
            <a:r>
              <a:rPr lang="en-US" sz="2800" dirty="0">
                <a:highlight>
                  <a:srgbClr val="FFFF00"/>
                </a:highlight>
                <a:latin typeface="Calibir"/>
              </a:rPr>
              <a:t> = Customer("John Smith")</a:t>
            </a:r>
          </a:p>
        </p:txBody>
      </p:sp>
      <p:sp>
        <p:nvSpPr>
          <p:cNvPr id="7" name="TextBox 6">
            <a:extLst>
              <a:ext uri="{FF2B5EF4-FFF2-40B4-BE49-F238E27FC236}">
                <a16:creationId xmlns:a16="http://schemas.microsoft.com/office/drawing/2014/main" id="{37A5A79E-694C-D750-F0FD-78677375714D}"/>
              </a:ext>
            </a:extLst>
          </p:cNvPr>
          <p:cNvSpPr txBox="1"/>
          <p:nvPr/>
        </p:nvSpPr>
        <p:spPr>
          <a:xfrm>
            <a:off x="6828503" y="1196324"/>
            <a:ext cx="5029200" cy="4832092"/>
          </a:xfrm>
          <a:prstGeom prst="rect">
            <a:avLst/>
          </a:prstGeom>
          <a:noFill/>
        </p:spPr>
        <p:txBody>
          <a:bodyPr wrap="square">
            <a:spAutoFit/>
          </a:bodyPr>
          <a:lstStyle/>
          <a:p>
            <a:pPr>
              <a:buNone/>
            </a:pPr>
            <a:r>
              <a:rPr lang="en-US" sz="2800" b="1" dirty="0">
                <a:latin typeface="Calibir"/>
              </a:rPr>
              <a:t>Java</a:t>
            </a:r>
          </a:p>
          <a:p>
            <a:pPr rtl="0">
              <a:buNone/>
            </a:pPr>
            <a:r>
              <a:rPr lang="en-US" sz="2800" dirty="0">
                <a:highlight>
                  <a:srgbClr val="FFFF00"/>
                </a:highlight>
                <a:latin typeface="Calibir"/>
              </a:rPr>
              <a:t>private Customer </a:t>
            </a:r>
            <a:r>
              <a:rPr lang="en-US" sz="2800" dirty="0" err="1">
                <a:highlight>
                  <a:srgbClr val="FFFF00"/>
                </a:highlight>
                <a:latin typeface="Calibir"/>
              </a:rPr>
              <a:t>customer</a:t>
            </a:r>
            <a:r>
              <a:rPr lang="en-US" sz="2800" dirty="0">
                <a:highlight>
                  <a:srgbClr val="FFFF00"/>
                </a:highlight>
                <a:latin typeface="Calibir"/>
              </a:rPr>
              <a:t>;</a:t>
            </a:r>
          </a:p>
          <a:p>
            <a:pPr rtl="0">
              <a:buNone/>
            </a:pPr>
            <a:endParaRPr lang="en-US" sz="2800" dirty="0">
              <a:highlight>
                <a:srgbClr val="FFFF00"/>
              </a:highlight>
              <a:latin typeface="Calibir"/>
            </a:endParaRPr>
          </a:p>
          <a:p>
            <a:pPr rtl="0">
              <a:buNone/>
            </a:pPr>
            <a:r>
              <a:rPr lang="en-US" sz="2800" dirty="0">
                <a:highlight>
                  <a:srgbClr val="FFFF00"/>
                </a:highlight>
                <a:latin typeface="Calibir"/>
              </a:rPr>
              <a:t>public Bank(Scanner input) {</a:t>
            </a:r>
          </a:p>
          <a:p>
            <a:pPr rtl="0">
              <a:buNone/>
            </a:pPr>
            <a:endParaRPr lang="en-US" sz="2800" dirty="0">
              <a:highlight>
                <a:srgbClr val="FFFF00"/>
              </a:highlight>
              <a:latin typeface="Calibir"/>
            </a:endParaRPr>
          </a:p>
          <a:p>
            <a:pPr rtl="0">
              <a:buNone/>
            </a:pPr>
            <a:r>
              <a:rPr lang="en-US" sz="2800" dirty="0">
                <a:highlight>
                  <a:srgbClr val="FFFF00"/>
                </a:highlight>
                <a:latin typeface="Calibir"/>
              </a:rPr>
              <a:t>    customer =</a:t>
            </a:r>
          </a:p>
          <a:p>
            <a:pPr rtl="0">
              <a:buNone/>
            </a:pPr>
            <a:r>
              <a:rPr lang="en-US" sz="2800" dirty="0">
                <a:highlight>
                  <a:srgbClr val="FFFF00"/>
                </a:highlight>
                <a:latin typeface="Calibir"/>
              </a:rPr>
              <a:t>            new Customer(</a:t>
            </a:r>
          </a:p>
          <a:p>
            <a:pPr rtl="0">
              <a:buNone/>
            </a:pPr>
            <a:r>
              <a:rPr lang="en-US" sz="2800" dirty="0">
                <a:highlight>
                  <a:srgbClr val="FFFF00"/>
                </a:highlight>
                <a:latin typeface="Calibir"/>
              </a:rPr>
              <a:t>                "John Smith",</a:t>
            </a:r>
          </a:p>
          <a:p>
            <a:pPr rtl="0">
              <a:buNone/>
            </a:pPr>
            <a:r>
              <a:rPr lang="en-US" sz="2800" dirty="0">
                <a:highlight>
                  <a:srgbClr val="FFFF00"/>
                </a:highlight>
                <a:latin typeface="Calibir"/>
              </a:rPr>
              <a:t>                input</a:t>
            </a:r>
          </a:p>
          <a:p>
            <a:pPr rtl="0">
              <a:buNone/>
            </a:pPr>
            <a:r>
              <a:rPr lang="en-US" sz="2800" dirty="0">
                <a:highlight>
                  <a:srgbClr val="FFFF00"/>
                </a:highlight>
                <a:latin typeface="Calibir"/>
              </a:rPr>
              <a:t>            );</a:t>
            </a:r>
          </a:p>
          <a:p>
            <a:pPr rtl="0">
              <a:buNone/>
            </a:pPr>
            <a:r>
              <a:rPr lang="en-US" sz="2800" dirty="0">
                <a:highlight>
                  <a:srgbClr val="FFFF00"/>
                </a:highlight>
                <a:latin typeface="Calibir"/>
              </a:rPr>
              <a:t>}</a:t>
            </a:r>
          </a:p>
        </p:txBody>
      </p:sp>
    </p:spTree>
    <p:custDataLst>
      <p:tags r:id="rId1"/>
    </p:custDataLst>
    <p:extLst>
      <p:ext uri="{BB962C8B-B14F-4D97-AF65-F5344CB8AC3E}">
        <p14:creationId xmlns:p14="http://schemas.microsoft.com/office/powerpoint/2010/main" val="193815080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71B3F-A420-FD0A-4CDD-5B639C351AE9}"/>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4F6A919B-0486-45A4-D960-5B7E0BC7108C}"/>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4" name="Title 1">
            <a:extLst>
              <a:ext uri="{FF2B5EF4-FFF2-40B4-BE49-F238E27FC236}">
                <a16:creationId xmlns:a16="http://schemas.microsoft.com/office/drawing/2014/main" id="{04C4F2A5-5694-7A70-4AE2-B7685A87EFE1}"/>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
        <p:nvSpPr>
          <p:cNvPr id="5" name="TextBox 4">
            <a:extLst>
              <a:ext uri="{FF2B5EF4-FFF2-40B4-BE49-F238E27FC236}">
                <a16:creationId xmlns:a16="http://schemas.microsoft.com/office/drawing/2014/main" id="{11619A27-C112-85C3-F51B-6F6897DB5C67}"/>
              </a:ext>
            </a:extLst>
          </p:cNvPr>
          <p:cNvSpPr txBox="1"/>
          <p:nvPr/>
        </p:nvSpPr>
        <p:spPr>
          <a:xfrm>
            <a:off x="-19665" y="657922"/>
            <a:ext cx="6695768" cy="5431743"/>
          </a:xfrm>
          <a:prstGeom prst="rect">
            <a:avLst/>
          </a:prstGeom>
          <a:noFill/>
        </p:spPr>
        <p:txBody>
          <a:bodyPr wrap="square">
            <a:spAutoFit/>
          </a:bodyPr>
          <a:lstStyle/>
          <a:p>
            <a:pPr>
              <a:lnSpc>
                <a:spcPct val="150000"/>
              </a:lnSpc>
            </a:pPr>
            <a:r>
              <a:rPr lang="en-US" sz="2600" b="1" dirty="0">
                <a:latin typeface="Calibir"/>
              </a:rPr>
              <a:t>Step 16 — Add help()</a:t>
            </a:r>
          </a:p>
          <a:p>
            <a:pPr>
              <a:lnSpc>
                <a:spcPct val="150000"/>
              </a:lnSpc>
            </a:pPr>
            <a:r>
              <a:rPr lang="en-US" sz="2600" dirty="0">
                <a:latin typeface="Calibir"/>
              </a:rPr>
              <a:t>The sample says an invalid command such as k should display:</a:t>
            </a:r>
          </a:p>
          <a:p>
            <a:pPr>
              <a:lnSpc>
                <a:spcPct val="150000"/>
              </a:lnSpc>
            </a:pPr>
            <a:r>
              <a:rPr lang="en-US" sz="2600" dirty="0">
                <a:highlight>
                  <a:srgbClr val="FFFF00"/>
                </a:highlight>
                <a:latin typeface="Calibir"/>
              </a:rPr>
              <a:t>Menu options</a:t>
            </a:r>
          </a:p>
          <a:p>
            <a:pPr>
              <a:lnSpc>
                <a:spcPct val="150000"/>
              </a:lnSpc>
            </a:pPr>
            <a:r>
              <a:rPr lang="en-US" sz="2600" dirty="0">
                <a:highlight>
                  <a:srgbClr val="FFFF00"/>
                </a:highlight>
                <a:latin typeface="Calibir"/>
              </a:rPr>
              <a:t>d = deposit</a:t>
            </a:r>
          </a:p>
          <a:p>
            <a:pPr>
              <a:lnSpc>
                <a:spcPct val="150000"/>
              </a:lnSpc>
            </a:pPr>
            <a:r>
              <a:rPr lang="en-US" sz="2600" dirty="0">
                <a:highlight>
                  <a:srgbClr val="FFFF00"/>
                </a:highlight>
                <a:latin typeface="Calibir"/>
              </a:rPr>
              <a:t>w = withdraw</a:t>
            </a:r>
          </a:p>
          <a:p>
            <a:pPr>
              <a:lnSpc>
                <a:spcPct val="150000"/>
              </a:lnSpc>
            </a:pPr>
            <a:r>
              <a:rPr lang="en-US" sz="2600" dirty="0">
                <a:highlight>
                  <a:srgbClr val="FFFF00"/>
                </a:highlight>
                <a:latin typeface="Calibir"/>
              </a:rPr>
              <a:t>t = transfer</a:t>
            </a:r>
          </a:p>
          <a:p>
            <a:pPr>
              <a:lnSpc>
                <a:spcPct val="150000"/>
              </a:lnSpc>
            </a:pPr>
            <a:r>
              <a:rPr lang="en-US" sz="2600" dirty="0">
                <a:highlight>
                  <a:srgbClr val="FFFF00"/>
                </a:highlight>
                <a:latin typeface="Calibir"/>
              </a:rPr>
              <a:t>s = show</a:t>
            </a:r>
          </a:p>
          <a:p>
            <a:pPr>
              <a:lnSpc>
                <a:spcPct val="150000"/>
              </a:lnSpc>
            </a:pPr>
            <a:r>
              <a:rPr lang="en-US" sz="2600" dirty="0">
                <a:highlight>
                  <a:srgbClr val="FFFF00"/>
                </a:highlight>
                <a:latin typeface="Calibir"/>
              </a:rPr>
              <a:t>x = exit</a:t>
            </a:r>
          </a:p>
        </p:txBody>
      </p:sp>
      <p:sp>
        <p:nvSpPr>
          <p:cNvPr id="3" name="TextBox 2">
            <a:extLst>
              <a:ext uri="{FF2B5EF4-FFF2-40B4-BE49-F238E27FC236}">
                <a16:creationId xmlns:a16="http://schemas.microsoft.com/office/drawing/2014/main" id="{C6D129D2-1F4C-6A9F-C330-92A1B4BC031F}"/>
              </a:ext>
            </a:extLst>
          </p:cNvPr>
          <p:cNvSpPr txBox="1"/>
          <p:nvPr/>
        </p:nvSpPr>
        <p:spPr>
          <a:xfrm>
            <a:off x="7604878" y="1195471"/>
            <a:ext cx="4060723" cy="4467057"/>
          </a:xfrm>
          <a:prstGeom prst="rect">
            <a:avLst/>
          </a:prstGeom>
          <a:noFill/>
        </p:spPr>
        <p:txBody>
          <a:bodyPr wrap="square">
            <a:spAutoFit/>
          </a:bodyPr>
          <a:lstStyle/>
          <a:p>
            <a:pPr>
              <a:lnSpc>
                <a:spcPct val="150000"/>
              </a:lnSpc>
            </a:pPr>
            <a:r>
              <a:rPr lang="en-US" sz="2400" b="1" dirty="0">
                <a:latin typeface="Calibir"/>
              </a:rPr>
              <a:t>Python</a:t>
            </a:r>
          </a:p>
          <a:p>
            <a:pPr>
              <a:lnSpc>
                <a:spcPct val="150000"/>
              </a:lnSpc>
            </a:pPr>
            <a:r>
              <a:rPr lang="en-US" sz="2400" dirty="0">
                <a:highlight>
                  <a:srgbClr val="FFFF00"/>
                </a:highlight>
                <a:latin typeface="Calibir"/>
              </a:rPr>
              <a:t>def help(self):</a:t>
            </a:r>
          </a:p>
          <a:p>
            <a:pPr>
              <a:lnSpc>
                <a:spcPct val="150000"/>
              </a:lnSpc>
            </a:pPr>
            <a:r>
              <a:rPr lang="en-US" sz="2400" dirty="0">
                <a:highlight>
                  <a:srgbClr val="FFFF00"/>
                </a:highlight>
                <a:latin typeface="Calibir"/>
              </a:rPr>
              <a:t>    print("Menu options")</a:t>
            </a:r>
          </a:p>
          <a:p>
            <a:pPr>
              <a:lnSpc>
                <a:spcPct val="150000"/>
              </a:lnSpc>
            </a:pPr>
            <a:r>
              <a:rPr lang="en-US" sz="2400" dirty="0">
                <a:highlight>
                  <a:srgbClr val="FFFF00"/>
                </a:highlight>
                <a:latin typeface="Calibir"/>
              </a:rPr>
              <a:t>    print("d = deposit")</a:t>
            </a:r>
          </a:p>
          <a:p>
            <a:pPr>
              <a:lnSpc>
                <a:spcPct val="150000"/>
              </a:lnSpc>
            </a:pPr>
            <a:r>
              <a:rPr lang="en-US" sz="2400" dirty="0">
                <a:highlight>
                  <a:srgbClr val="FFFF00"/>
                </a:highlight>
                <a:latin typeface="Calibir"/>
              </a:rPr>
              <a:t>    print("w = withdraw")</a:t>
            </a:r>
          </a:p>
          <a:p>
            <a:pPr>
              <a:lnSpc>
                <a:spcPct val="150000"/>
              </a:lnSpc>
            </a:pPr>
            <a:r>
              <a:rPr lang="en-US" sz="2400" dirty="0">
                <a:highlight>
                  <a:srgbClr val="FFFF00"/>
                </a:highlight>
                <a:latin typeface="Calibir"/>
              </a:rPr>
              <a:t>    print("t = transfer")</a:t>
            </a:r>
          </a:p>
          <a:p>
            <a:pPr>
              <a:lnSpc>
                <a:spcPct val="150000"/>
              </a:lnSpc>
            </a:pPr>
            <a:r>
              <a:rPr lang="en-US" sz="2400" dirty="0">
                <a:highlight>
                  <a:srgbClr val="FFFF00"/>
                </a:highlight>
                <a:latin typeface="Calibir"/>
              </a:rPr>
              <a:t>    print("s = show")</a:t>
            </a:r>
          </a:p>
          <a:p>
            <a:pPr>
              <a:lnSpc>
                <a:spcPct val="150000"/>
              </a:lnSpc>
            </a:pPr>
            <a:r>
              <a:rPr lang="en-US" sz="2400" dirty="0">
                <a:highlight>
                  <a:srgbClr val="FFFF00"/>
                </a:highlight>
                <a:latin typeface="Calibir"/>
              </a:rPr>
              <a:t>    print("x = exit")</a:t>
            </a:r>
          </a:p>
        </p:txBody>
      </p:sp>
    </p:spTree>
    <p:custDataLst>
      <p:tags r:id="rId1"/>
    </p:custDataLst>
    <p:extLst>
      <p:ext uri="{BB962C8B-B14F-4D97-AF65-F5344CB8AC3E}">
        <p14:creationId xmlns:p14="http://schemas.microsoft.com/office/powerpoint/2010/main" val="399121213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741EF-56B1-0DD4-F39D-0D099C84D504}"/>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6648EEF1-26F2-9170-608B-8737D60A25E9}"/>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8" name="TextBox 7">
            <a:extLst>
              <a:ext uri="{FF2B5EF4-FFF2-40B4-BE49-F238E27FC236}">
                <a16:creationId xmlns:a16="http://schemas.microsoft.com/office/drawing/2014/main" id="{0C535720-01D6-35F5-45C7-9D931FED51D1}"/>
              </a:ext>
            </a:extLst>
          </p:cNvPr>
          <p:cNvSpPr txBox="1"/>
          <p:nvPr/>
        </p:nvSpPr>
        <p:spPr>
          <a:xfrm>
            <a:off x="0" y="441885"/>
            <a:ext cx="8568813" cy="6186309"/>
          </a:xfrm>
          <a:prstGeom prst="rect">
            <a:avLst/>
          </a:prstGeom>
          <a:noFill/>
        </p:spPr>
        <p:txBody>
          <a:bodyPr wrap="square">
            <a:spAutoFit/>
          </a:bodyPr>
          <a:lstStyle/>
          <a:p>
            <a:pPr>
              <a:buNone/>
            </a:pPr>
            <a:r>
              <a:rPr lang="en-US" sz="2200" b="1" dirty="0">
                <a:latin typeface="Calibir"/>
              </a:rPr>
              <a:t>Step 17 — Build menu()</a:t>
            </a:r>
          </a:p>
          <a:p>
            <a:pPr>
              <a:buNone/>
            </a:pPr>
            <a:r>
              <a:rPr lang="en-US" sz="2200" b="1" dirty="0">
                <a:latin typeface="Calibir"/>
              </a:rPr>
              <a:t>Python</a:t>
            </a:r>
          </a:p>
          <a:p>
            <a:pPr rtl="0">
              <a:buNone/>
            </a:pPr>
            <a:r>
              <a:rPr lang="en-US" sz="2200" dirty="0">
                <a:highlight>
                  <a:srgbClr val="FFFF00"/>
                </a:highlight>
                <a:latin typeface="Calibir"/>
              </a:rPr>
              <a:t>def menu(self):</a:t>
            </a:r>
          </a:p>
          <a:p>
            <a:pPr rtl="0">
              <a:buNone/>
            </a:pPr>
            <a:r>
              <a:rPr lang="en-US" sz="2200" dirty="0">
                <a:highlight>
                  <a:srgbClr val="FFFF00"/>
                </a:highlight>
                <a:latin typeface="Calibir"/>
              </a:rPr>
              <a:t>    while True:</a:t>
            </a:r>
          </a:p>
          <a:p>
            <a:pPr rtl="0">
              <a:buNone/>
            </a:pPr>
            <a:r>
              <a:rPr lang="en-US" sz="2200" dirty="0">
                <a:highlight>
                  <a:srgbClr val="FFFF00"/>
                </a:highlight>
                <a:latin typeface="Calibir"/>
              </a:rPr>
              <a:t>        choice = input("Customer menu ""(d/w/t/s/x): ").lower()</a:t>
            </a:r>
          </a:p>
          <a:p>
            <a:pPr rtl="0">
              <a:buNone/>
            </a:pPr>
            <a:r>
              <a:rPr lang="en-US" sz="2200" dirty="0">
                <a:highlight>
                  <a:srgbClr val="FFFF00"/>
                </a:highlight>
                <a:latin typeface="Calibir"/>
              </a:rPr>
              <a:t>        if choice == "d":</a:t>
            </a:r>
          </a:p>
          <a:p>
            <a:pPr rtl="0">
              <a:buNone/>
            </a:pPr>
            <a:r>
              <a:rPr lang="en-US" sz="2200" dirty="0">
                <a:highlight>
                  <a:srgbClr val="FFFF00"/>
                </a:highlight>
                <a:latin typeface="Calibir"/>
              </a:rPr>
              <a:t>            </a:t>
            </a:r>
            <a:r>
              <a:rPr lang="en-US" sz="2200" dirty="0" err="1">
                <a:highlight>
                  <a:srgbClr val="FFFF00"/>
                </a:highlight>
                <a:latin typeface="Calibir"/>
              </a:rPr>
              <a:t>self.customer.deposit</a:t>
            </a:r>
            <a:r>
              <a:rPr lang="en-US" sz="2200" dirty="0">
                <a:highlight>
                  <a:srgbClr val="FFFF00"/>
                </a:highlight>
                <a:latin typeface="Calibir"/>
              </a:rPr>
              <a:t>()</a:t>
            </a:r>
          </a:p>
          <a:p>
            <a:pPr rtl="0">
              <a:buNone/>
            </a:pPr>
            <a:r>
              <a:rPr lang="en-US" sz="2200" dirty="0">
                <a:highlight>
                  <a:srgbClr val="FFFF00"/>
                </a:highlight>
                <a:latin typeface="Calibir"/>
              </a:rPr>
              <a:t>        </a:t>
            </a:r>
            <a:r>
              <a:rPr lang="en-US" sz="2200" dirty="0" err="1">
                <a:highlight>
                  <a:srgbClr val="FFFF00"/>
                </a:highlight>
                <a:latin typeface="Calibir"/>
              </a:rPr>
              <a:t>elif</a:t>
            </a:r>
            <a:r>
              <a:rPr lang="en-US" sz="2200" dirty="0">
                <a:highlight>
                  <a:srgbClr val="FFFF00"/>
                </a:highlight>
                <a:latin typeface="Calibir"/>
              </a:rPr>
              <a:t> choice == "w":</a:t>
            </a:r>
          </a:p>
          <a:p>
            <a:pPr rtl="0">
              <a:buNone/>
            </a:pPr>
            <a:r>
              <a:rPr lang="en-US" sz="2200" dirty="0">
                <a:highlight>
                  <a:srgbClr val="FFFF00"/>
                </a:highlight>
                <a:latin typeface="Calibir"/>
              </a:rPr>
              <a:t>            </a:t>
            </a:r>
            <a:r>
              <a:rPr lang="en-US" sz="2200" dirty="0" err="1">
                <a:highlight>
                  <a:srgbClr val="FFFF00"/>
                </a:highlight>
                <a:latin typeface="Calibir"/>
              </a:rPr>
              <a:t>self.customer.withdraw</a:t>
            </a:r>
            <a:r>
              <a:rPr lang="en-US" sz="2200" dirty="0">
                <a:highlight>
                  <a:srgbClr val="FFFF00"/>
                </a:highlight>
                <a:latin typeface="Calibir"/>
              </a:rPr>
              <a:t>()</a:t>
            </a:r>
          </a:p>
          <a:p>
            <a:pPr rtl="0">
              <a:buNone/>
            </a:pPr>
            <a:r>
              <a:rPr lang="en-US" sz="2200" dirty="0">
                <a:highlight>
                  <a:srgbClr val="FFFF00"/>
                </a:highlight>
                <a:latin typeface="Calibir"/>
              </a:rPr>
              <a:t>        </a:t>
            </a:r>
            <a:r>
              <a:rPr lang="en-US" sz="2200" dirty="0" err="1">
                <a:highlight>
                  <a:srgbClr val="FFFF00"/>
                </a:highlight>
                <a:latin typeface="Calibir"/>
              </a:rPr>
              <a:t>elif</a:t>
            </a:r>
            <a:r>
              <a:rPr lang="en-US" sz="2200" dirty="0">
                <a:highlight>
                  <a:srgbClr val="FFFF00"/>
                </a:highlight>
                <a:latin typeface="Calibir"/>
              </a:rPr>
              <a:t> choice == "t":</a:t>
            </a:r>
          </a:p>
          <a:p>
            <a:pPr rtl="0">
              <a:buNone/>
            </a:pPr>
            <a:r>
              <a:rPr lang="en-US" sz="2200" dirty="0">
                <a:highlight>
                  <a:srgbClr val="FFFF00"/>
                </a:highlight>
                <a:latin typeface="Calibir"/>
              </a:rPr>
              <a:t>            </a:t>
            </a:r>
            <a:r>
              <a:rPr lang="en-US" sz="2200" dirty="0" err="1">
                <a:highlight>
                  <a:srgbClr val="FFFF00"/>
                </a:highlight>
                <a:latin typeface="Calibir"/>
              </a:rPr>
              <a:t>self.customer.transfer</a:t>
            </a:r>
            <a:r>
              <a:rPr lang="en-US" sz="2200" dirty="0">
                <a:highlight>
                  <a:srgbClr val="FFFF00"/>
                </a:highlight>
                <a:latin typeface="Calibir"/>
              </a:rPr>
              <a:t>()</a:t>
            </a:r>
          </a:p>
          <a:p>
            <a:pPr rtl="0">
              <a:buNone/>
            </a:pPr>
            <a:r>
              <a:rPr lang="en-US" sz="2200" dirty="0">
                <a:highlight>
                  <a:srgbClr val="FFFF00"/>
                </a:highlight>
                <a:latin typeface="Calibir"/>
              </a:rPr>
              <a:t>        </a:t>
            </a:r>
            <a:r>
              <a:rPr lang="en-US" sz="2200" dirty="0" err="1">
                <a:highlight>
                  <a:srgbClr val="FFFF00"/>
                </a:highlight>
                <a:latin typeface="Calibir"/>
              </a:rPr>
              <a:t>elif</a:t>
            </a:r>
            <a:r>
              <a:rPr lang="en-US" sz="2200" dirty="0">
                <a:highlight>
                  <a:srgbClr val="FFFF00"/>
                </a:highlight>
                <a:latin typeface="Calibir"/>
              </a:rPr>
              <a:t> choice == "s":</a:t>
            </a:r>
          </a:p>
          <a:p>
            <a:pPr rtl="0">
              <a:buNone/>
            </a:pPr>
            <a:r>
              <a:rPr lang="en-US" sz="2200" dirty="0">
                <a:highlight>
                  <a:srgbClr val="FFFF00"/>
                </a:highlight>
                <a:latin typeface="Calibir"/>
              </a:rPr>
              <a:t>            </a:t>
            </a:r>
            <a:r>
              <a:rPr lang="en-US" sz="2200" dirty="0" err="1">
                <a:highlight>
                  <a:srgbClr val="FFFF00"/>
                </a:highlight>
                <a:latin typeface="Calibir"/>
              </a:rPr>
              <a:t>self.customer.show</a:t>
            </a:r>
            <a:r>
              <a:rPr lang="en-US" sz="2200" dirty="0">
                <a:highlight>
                  <a:srgbClr val="FFFF00"/>
                </a:highlight>
                <a:latin typeface="Calibir"/>
              </a:rPr>
              <a:t>()</a:t>
            </a:r>
          </a:p>
          <a:p>
            <a:pPr rtl="0">
              <a:buNone/>
            </a:pPr>
            <a:r>
              <a:rPr lang="en-US" sz="2200" dirty="0">
                <a:highlight>
                  <a:srgbClr val="FFFF00"/>
                </a:highlight>
                <a:latin typeface="Calibir"/>
              </a:rPr>
              <a:t>        </a:t>
            </a:r>
            <a:r>
              <a:rPr lang="en-US" sz="2200" dirty="0" err="1">
                <a:highlight>
                  <a:srgbClr val="FFFF00"/>
                </a:highlight>
                <a:latin typeface="Calibir"/>
              </a:rPr>
              <a:t>elif</a:t>
            </a:r>
            <a:r>
              <a:rPr lang="en-US" sz="2200" dirty="0">
                <a:highlight>
                  <a:srgbClr val="FFFF00"/>
                </a:highlight>
                <a:latin typeface="Calibir"/>
              </a:rPr>
              <a:t> choice == "x":</a:t>
            </a:r>
          </a:p>
          <a:p>
            <a:pPr rtl="0">
              <a:buNone/>
            </a:pPr>
            <a:r>
              <a:rPr lang="en-US" sz="2200" dirty="0">
                <a:highlight>
                  <a:srgbClr val="FFFF00"/>
                </a:highlight>
                <a:latin typeface="Calibir"/>
              </a:rPr>
              <a:t>            print("Done")</a:t>
            </a:r>
          </a:p>
          <a:p>
            <a:pPr rtl="0">
              <a:buNone/>
            </a:pPr>
            <a:r>
              <a:rPr lang="en-US" sz="2200" dirty="0">
                <a:highlight>
                  <a:srgbClr val="FFFF00"/>
                </a:highlight>
                <a:latin typeface="Calibir"/>
              </a:rPr>
              <a:t>            break</a:t>
            </a:r>
          </a:p>
          <a:p>
            <a:pPr rtl="0">
              <a:buNone/>
            </a:pPr>
            <a:r>
              <a:rPr lang="en-US" sz="2200" dirty="0">
                <a:highlight>
                  <a:srgbClr val="FFFF00"/>
                </a:highlight>
                <a:latin typeface="Calibir"/>
              </a:rPr>
              <a:t>        else:</a:t>
            </a:r>
          </a:p>
          <a:p>
            <a:pPr rtl="0">
              <a:buNone/>
            </a:pPr>
            <a:r>
              <a:rPr lang="en-US" sz="2200" dirty="0">
                <a:highlight>
                  <a:srgbClr val="FFFF00"/>
                </a:highlight>
                <a:latin typeface="Calibir"/>
              </a:rPr>
              <a:t>            </a:t>
            </a:r>
            <a:r>
              <a:rPr lang="en-US" sz="2200" dirty="0" err="1">
                <a:highlight>
                  <a:srgbClr val="FFFF00"/>
                </a:highlight>
                <a:latin typeface="Calibir"/>
              </a:rPr>
              <a:t>self.help</a:t>
            </a:r>
            <a:r>
              <a:rPr lang="en-US" sz="2200" dirty="0">
                <a:highlight>
                  <a:srgbClr val="FFFF00"/>
                </a:highlight>
                <a:latin typeface="Calibir"/>
              </a:rPr>
              <a:t>()</a:t>
            </a:r>
          </a:p>
        </p:txBody>
      </p:sp>
    </p:spTree>
    <p:custDataLst>
      <p:tags r:id="rId1"/>
    </p:custDataLst>
    <p:extLst>
      <p:ext uri="{BB962C8B-B14F-4D97-AF65-F5344CB8AC3E}">
        <p14:creationId xmlns:p14="http://schemas.microsoft.com/office/powerpoint/2010/main" val="129693811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85AD6-0B79-006B-A508-9C5F16E13BDC}"/>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6F57E5E0-3FA5-8700-39F1-313F9BD7E015}"/>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3" name="TextBox 2">
            <a:extLst>
              <a:ext uri="{FF2B5EF4-FFF2-40B4-BE49-F238E27FC236}">
                <a16:creationId xmlns:a16="http://schemas.microsoft.com/office/drawing/2014/main" id="{443DF9C6-17B0-32C4-9C36-2BF9B49A6A88}"/>
              </a:ext>
            </a:extLst>
          </p:cNvPr>
          <p:cNvSpPr txBox="1"/>
          <p:nvPr/>
        </p:nvSpPr>
        <p:spPr>
          <a:xfrm>
            <a:off x="0" y="0"/>
            <a:ext cx="6098458" cy="6924973"/>
          </a:xfrm>
          <a:prstGeom prst="rect">
            <a:avLst/>
          </a:prstGeom>
          <a:noFill/>
        </p:spPr>
        <p:txBody>
          <a:bodyPr wrap="square">
            <a:spAutoFit/>
          </a:bodyPr>
          <a:lstStyle/>
          <a:p>
            <a:pPr>
              <a:buNone/>
            </a:pPr>
            <a:r>
              <a:rPr lang="en-US" sz="1200" b="1" dirty="0">
                <a:latin typeface="Calibir"/>
              </a:rPr>
              <a:t>Java</a:t>
            </a:r>
          </a:p>
          <a:p>
            <a:pPr rtl="0">
              <a:buNone/>
            </a:pPr>
            <a:r>
              <a:rPr lang="en-US" sz="1200" dirty="0">
                <a:highlight>
                  <a:srgbClr val="FFFF00"/>
                </a:highlight>
                <a:latin typeface="Calibir"/>
              </a:rPr>
              <a:t>public void menu(</a:t>
            </a:r>
          </a:p>
          <a:p>
            <a:pPr rtl="0">
              <a:buNone/>
            </a:pPr>
            <a:r>
              <a:rPr lang="en-US" sz="1200" dirty="0">
                <a:highlight>
                  <a:srgbClr val="FFFF00"/>
                </a:highlight>
                <a:latin typeface="Calibir"/>
              </a:rPr>
              <a:t>        Scanner input) {</a:t>
            </a:r>
          </a:p>
          <a:p>
            <a:pPr rtl="0">
              <a:buNone/>
            </a:pPr>
            <a:r>
              <a:rPr lang="en-US" sz="1200" dirty="0">
                <a:highlight>
                  <a:srgbClr val="FFFF00"/>
                </a:highlight>
                <a:latin typeface="Calibir"/>
              </a:rPr>
              <a:t>    </a:t>
            </a:r>
            <a:r>
              <a:rPr lang="en-US" sz="1200" dirty="0" err="1">
                <a:highlight>
                  <a:srgbClr val="FFFF00"/>
                </a:highlight>
                <a:latin typeface="Calibir"/>
              </a:rPr>
              <a:t>input.nextLine</a:t>
            </a:r>
            <a:r>
              <a:rPr lang="en-US" sz="1200" dirty="0">
                <a:highlight>
                  <a:srgbClr val="FFFF00"/>
                </a:highlight>
                <a:latin typeface="Calibir"/>
              </a:rPr>
              <a:t>();</a:t>
            </a:r>
          </a:p>
          <a:p>
            <a:pPr rtl="0">
              <a:buNone/>
            </a:pPr>
            <a:r>
              <a:rPr lang="en-US" sz="1200" dirty="0">
                <a:highlight>
                  <a:srgbClr val="FFFF00"/>
                </a:highlight>
                <a:latin typeface="Calibir"/>
              </a:rPr>
              <a:t>    while (true) {</a:t>
            </a:r>
          </a:p>
          <a:p>
            <a:pPr rtl="0">
              <a:buNone/>
            </a:pPr>
            <a:r>
              <a:rPr lang="en-US" sz="1200" dirty="0">
                <a:highlight>
                  <a:srgbClr val="FFFF00"/>
                </a:highlight>
                <a:latin typeface="Calibir"/>
              </a:rPr>
              <a:t>        </a:t>
            </a:r>
            <a:r>
              <a:rPr lang="en-US" sz="1200" dirty="0" err="1">
                <a:highlight>
                  <a:srgbClr val="FFFF00"/>
                </a:highlight>
                <a:latin typeface="Calibir"/>
              </a:rPr>
              <a:t>System.out.print</a:t>
            </a:r>
            <a:r>
              <a:rPr lang="en-US" sz="1200" dirty="0">
                <a:highlight>
                  <a:srgbClr val="FFFF00"/>
                </a:highlight>
                <a:latin typeface="Calibir"/>
              </a:rPr>
              <a:t>(</a:t>
            </a:r>
          </a:p>
          <a:p>
            <a:pPr rtl="0">
              <a:buNone/>
            </a:pPr>
            <a:r>
              <a:rPr lang="en-US" sz="1200" dirty="0">
                <a:highlight>
                  <a:srgbClr val="FFFF00"/>
                </a:highlight>
                <a:latin typeface="Calibir"/>
              </a:rPr>
              <a:t>            "Customer menu "</a:t>
            </a:r>
          </a:p>
          <a:p>
            <a:pPr rtl="0">
              <a:buNone/>
            </a:pPr>
            <a:r>
              <a:rPr lang="en-US" sz="1200" dirty="0">
                <a:highlight>
                  <a:srgbClr val="FFFF00"/>
                </a:highlight>
                <a:latin typeface="Calibir"/>
              </a:rPr>
              <a:t>            + "(d/w/t/s/x): "</a:t>
            </a:r>
          </a:p>
          <a:p>
            <a:pPr rtl="0">
              <a:buNone/>
            </a:pPr>
            <a:r>
              <a:rPr lang="en-US" sz="1200" dirty="0">
                <a:highlight>
                  <a:srgbClr val="FFFF00"/>
                </a:highlight>
                <a:latin typeface="Calibir"/>
              </a:rPr>
              <a:t>        );</a:t>
            </a:r>
          </a:p>
          <a:p>
            <a:pPr rtl="0">
              <a:buNone/>
            </a:pPr>
            <a:r>
              <a:rPr lang="en-US" sz="1200" dirty="0">
                <a:highlight>
                  <a:srgbClr val="FFFF00"/>
                </a:highlight>
                <a:latin typeface="Calibir"/>
              </a:rPr>
              <a:t>        String choice =</a:t>
            </a:r>
          </a:p>
          <a:p>
            <a:pPr rtl="0">
              <a:buNone/>
            </a:pPr>
            <a:r>
              <a:rPr lang="en-US" sz="1200" dirty="0">
                <a:highlight>
                  <a:srgbClr val="FFFF00"/>
                </a:highlight>
                <a:latin typeface="Calibir"/>
              </a:rPr>
              <a:t>                </a:t>
            </a:r>
            <a:r>
              <a:rPr lang="en-US" sz="1200" dirty="0" err="1">
                <a:highlight>
                  <a:srgbClr val="FFFF00"/>
                </a:highlight>
                <a:latin typeface="Calibir"/>
              </a:rPr>
              <a:t>input.nextLine</a:t>
            </a:r>
            <a:r>
              <a:rPr lang="en-US" sz="1200" dirty="0">
                <a:highlight>
                  <a:srgbClr val="FFFF00"/>
                </a:highlight>
                <a:latin typeface="Calibir"/>
              </a:rPr>
              <a:t>()</a:t>
            </a:r>
          </a:p>
          <a:p>
            <a:pPr rtl="0">
              <a:buNone/>
            </a:pPr>
            <a:r>
              <a:rPr lang="en-US" sz="1200" dirty="0">
                <a:highlight>
                  <a:srgbClr val="FFFF00"/>
                </a:highlight>
                <a:latin typeface="Calibir"/>
              </a:rPr>
              <a:t>                     .</a:t>
            </a:r>
            <a:r>
              <a:rPr lang="en-US" sz="1200" dirty="0" err="1">
                <a:highlight>
                  <a:srgbClr val="FFFF00"/>
                </a:highlight>
                <a:latin typeface="Calibir"/>
              </a:rPr>
              <a:t>toLowerCase</a:t>
            </a:r>
            <a:r>
              <a:rPr lang="en-US" sz="1200" dirty="0">
                <a:highlight>
                  <a:srgbClr val="FFFF00"/>
                </a:highlight>
                <a:latin typeface="Calibir"/>
              </a:rPr>
              <a:t>();</a:t>
            </a:r>
          </a:p>
          <a:p>
            <a:pPr rtl="0">
              <a:buNone/>
            </a:pPr>
            <a:r>
              <a:rPr lang="en-US" sz="1200" dirty="0">
                <a:highlight>
                  <a:srgbClr val="FFFF00"/>
                </a:highlight>
                <a:latin typeface="Calibir"/>
              </a:rPr>
              <a:t>        switch (choice) {</a:t>
            </a:r>
          </a:p>
          <a:p>
            <a:pPr rtl="0">
              <a:buNone/>
            </a:pPr>
            <a:r>
              <a:rPr lang="en-US" sz="1200" dirty="0">
                <a:highlight>
                  <a:srgbClr val="FFFF00"/>
                </a:highlight>
                <a:latin typeface="Calibir"/>
              </a:rPr>
              <a:t>            case "d":</a:t>
            </a:r>
          </a:p>
          <a:p>
            <a:pPr rtl="0">
              <a:buNone/>
            </a:pPr>
            <a:r>
              <a:rPr lang="en-US" sz="1200" dirty="0">
                <a:highlight>
                  <a:srgbClr val="FFFF00"/>
                </a:highlight>
                <a:latin typeface="Calibir"/>
              </a:rPr>
              <a:t>                </a:t>
            </a:r>
            <a:r>
              <a:rPr lang="en-US" sz="1200" dirty="0" err="1">
                <a:highlight>
                  <a:srgbClr val="FFFF00"/>
                </a:highlight>
                <a:latin typeface="Calibir"/>
              </a:rPr>
              <a:t>customer.deposit</a:t>
            </a:r>
            <a:r>
              <a:rPr lang="en-US" sz="1200" dirty="0">
                <a:highlight>
                  <a:srgbClr val="FFFF00"/>
                </a:highlight>
                <a:latin typeface="Calibir"/>
              </a:rPr>
              <a:t>(input);</a:t>
            </a:r>
          </a:p>
          <a:p>
            <a:pPr rtl="0">
              <a:buNone/>
            </a:pPr>
            <a:r>
              <a:rPr lang="en-US" sz="1200" dirty="0">
                <a:highlight>
                  <a:srgbClr val="FFFF00"/>
                </a:highlight>
                <a:latin typeface="Calibir"/>
              </a:rPr>
              <a:t>                </a:t>
            </a:r>
            <a:r>
              <a:rPr lang="en-US" sz="1200" dirty="0" err="1">
                <a:highlight>
                  <a:srgbClr val="FFFF00"/>
                </a:highlight>
                <a:latin typeface="Calibir"/>
              </a:rPr>
              <a:t>input.nextLine</a:t>
            </a:r>
            <a:r>
              <a:rPr lang="en-US" sz="1200" dirty="0">
                <a:highlight>
                  <a:srgbClr val="FFFF00"/>
                </a:highlight>
                <a:latin typeface="Calibir"/>
              </a:rPr>
              <a:t>();</a:t>
            </a:r>
          </a:p>
          <a:p>
            <a:pPr rtl="0">
              <a:buNone/>
            </a:pPr>
            <a:r>
              <a:rPr lang="en-US" sz="1200" dirty="0">
                <a:highlight>
                  <a:srgbClr val="FFFF00"/>
                </a:highlight>
                <a:latin typeface="Calibir"/>
              </a:rPr>
              <a:t>                break;</a:t>
            </a:r>
          </a:p>
          <a:p>
            <a:pPr rtl="0">
              <a:buNone/>
            </a:pPr>
            <a:r>
              <a:rPr lang="en-US" sz="1200" dirty="0">
                <a:highlight>
                  <a:srgbClr val="FFFF00"/>
                </a:highlight>
                <a:latin typeface="Calibir"/>
              </a:rPr>
              <a:t>            case "w":</a:t>
            </a:r>
          </a:p>
          <a:p>
            <a:pPr rtl="0">
              <a:buNone/>
            </a:pPr>
            <a:r>
              <a:rPr lang="en-US" sz="1200" dirty="0">
                <a:highlight>
                  <a:srgbClr val="FFFF00"/>
                </a:highlight>
                <a:latin typeface="Calibir"/>
              </a:rPr>
              <a:t>                </a:t>
            </a:r>
            <a:r>
              <a:rPr lang="en-US" sz="1200" dirty="0" err="1">
                <a:highlight>
                  <a:srgbClr val="FFFF00"/>
                </a:highlight>
                <a:latin typeface="Calibir"/>
              </a:rPr>
              <a:t>customer.withdraw</a:t>
            </a:r>
            <a:r>
              <a:rPr lang="en-US" sz="1200" dirty="0">
                <a:highlight>
                  <a:srgbClr val="FFFF00"/>
                </a:highlight>
                <a:latin typeface="Calibir"/>
              </a:rPr>
              <a:t>(input);</a:t>
            </a:r>
          </a:p>
          <a:p>
            <a:pPr rtl="0">
              <a:buNone/>
            </a:pPr>
            <a:r>
              <a:rPr lang="en-US" sz="1200" dirty="0">
                <a:highlight>
                  <a:srgbClr val="FFFF00"/>
                </a:highlight>
                <a:latin typeface="Calibir"/>
              </a:rPr>
              <a:t>                </a:t>
            </a:r>
            <a:r>
              <a:rPr lang="en-US" sz="1200" dirty="0" err="1">
                <a:highlight>
                  <a:srgbClr val="FFFF00"/>
                </a:highlight>
                <a:latin typeface="Calibir"/>
              </a:rPr>
              <a:t>input.nextLine</a:t>
            </a:r>
            <a:r>
              <a:rPr lang="en-US" sz="1200" dirty="0">
                <a:highlight>
                  <a:srgbClr val="FFFF00"/>
                </a:highlight>
                <a:latin typeface="Calibir"/>
              </a:rPr>
              <a:t>();</a:t>
            </a:r>
          </a:p>
          <a:p>
            <a:pPr rtl="0">
              <a:buNone/>
            </a:pPr>
            <a:r>
              <a:rPr lang="en-US" sz="1200" dirty="0">
                <a:highlight>
                  <a:srgbClr val="FFFF00"/>
                </a:highlight>
                <a:latin typeface="Calibir"/>
              </a:rPr>
              <a:t>                break;</a:t>
            </a:r>
          </a:p>
          <a:p>
            <a:pPr rtl="0">
              <a:buNone/>
            </a:pPr>
            <a:r>
              <a:rPr lang="en-US" sz="1200" dirty="0">
                <a:highlight>
                  <a:srgbClr val="FFFF00"/>
                </a:highlight>
                <a:latin typeface="Calibir"/>
              </a:rPr>
              <a:t>            case "t":</a:t>
            </a:r>
          </a:p>
          <a:p>
            <a:pPr rtl="0">
              <a:buNone/>
            </a:pPr>
            <a:r>
              <a:rPr lang="en-US" sz="1200" dirty="0">
                <a:highlight>
                  <a:srgbClr val="FFFF00"/>
                </a:highlight>
                <a:latin typeface="Calibir"/>
              </a:rPr>
              <a:t>                </a:t>
            </a:r>
            <a:r>
              <a:rPr lang="en-US" sz="1200" dirty="0" err="1">
                <a:highlight>
                  <a:srgbClr val="FFFF00"/>
                </a:highlight>
                <a:latin typeface="Calibir"/>
              </a:rPr>
              <a:t>customer.transfer</a:t>
            </a:r>
            <a:r>
              <a:rPr lang="en-US" sz="1200" dirty="0">
                <a:highlight>
                  <a:srgbClr val="FFFF00"/>
                </a:highlight>
                <a:latin typeface="Calibir"/>
              </a:rPr>
              <a:t>(input);</a:t>
            </a:r>
          </a:p>
          <a:p>
            <a:pPr rtl="0">
              <a:buNone/>
            </a:pPr>
            <a:r>
              <a:rPr lang="en-US" sz="1200" dirty="0">
                <a:highlight>
                  <a:srgbClr val="FFFF00"/>
                </a:highlight>
                <a:latin typeface="Calibir"/>
              </a:rPr>
              <a:t>                </a:t>
            </a:r>
            <a:r>
              <a:rPr lang="en-US" sz="1200" dirty="0" err="1">
                <a:highlight>
                  <a:srgbClr val="FFFF00"/>
                </a:highlight>
                <a:latin typeface="Calibir"/>
              </a:rPr>
              <a:t>input.nextLine</a:t>
            </a:r>
            <a:r>
              <a:rPr lang="en-US" sz="1200" dirty="0">
                <a:highlight>
                  <a:srgbClr val="FFFF00"/>
                </a:highlight>
                <a:latin typeface="Calibir"/>
              </a:rPr>
              <a:t>();</a:t>
            </a:r>
          </a:p>
          <a:p>
            <a:pPr rtl="0">
              <a:buNone/>
            </a:pPr>
            <a:r>
              <a:rPr lang="en-US" sz="1200" dirty="0">
                <a:highlight>
                  <a:srgbClr val="FFFF00"/>
                </a:highlight>
                <a:latin typeface="Calibir"/>
              </a:rPr>
              <a:t>                break;</a:t>
            </a:r>
          </a:p>
          <a:p>
            <a:pPr rtl="0">
              <a:buNone/>
            </a:pPr>
            <a:r>
              <a:rPr lang="en-US" sz="1200" dirty="0">
                <a:highlight>
                  <a:srgbClr val="FFFF00"/>
                </a:highlight>
                <a:latin typeface="Calibir"/>
              </a:rPr>
              <a:t>            case "s":</a:t>
            </a:r>
          </a:p>
          <a:p>
            <a:pPr rtl="0">
              <a:buNone/>
            </a:pPr>
            <a:r>
              <a:rPr lang="en-US" sz="1200" dirty="0">
                <a:highlight>
                  <a:srgbClr val="FFFF00"/>
                </a:highlight>
                <a:latin typeface="Calibir"/>
              </a:rPr>
              <a:t>                </a:t>
            </a:r>
            <a:r>
              <a:rPr lang="en-US" sz="1200" dirty="0" err="1">
                <a:highlight>
                  <a:srgbClr val="FFFF00"/>
                </a:highlight>
                <a:latin typeface="Calibir"/>
              </a:rPr>
              <a:t>customer.show</a:t>
            </a:r>
            <a:r>
              <a:rPr lang="en-US" sz="1200" dirty="0">
                <a:highlight>
                  <a:srgbClr val="FFFF00"/>
                </a:highlight>
                <a:latin typeface="Calibir"/>
              </a:rPr>
              <a:t>();</a:t>
            </a:r>
          </a:p>
          <a:p>
            <a:pPr rtl="0">
              <a:buNone/>
            </a:pPr>
            <a:r>
              <a:rPr lang="en-US" sz="1200" dirty="0">
                <a:highlight>
                  <a:srgbClr val="FFFF00"/>
                </a:highlight>
                <a:latin typeface="Calibir"/>
              </a:rPr>
              <a:t>                break;</a:t>
            </a:r>
          </a:p>
          <a:p>
            <a:pPr rtl="0">
              <a:buNone/>
            </a:pPr>
            <a:r>
              <a:rPr lang="en-US" sz="1200" dirty="0">
                <a:highlight>
                  <a:srgbClr val="FFFF00"/>
                </a:highlight>
                <a:latin typeface="Calibir"/>
              </a:rPr>
              <a:t>            case "x":</a:t>
            </a:r>
          </a:p>
          <a:p>
            <a:pPr rtl="0">
              <a:buNone/>
            </a:pPr>
            <a:r>
              <a:rPr lang="en-US" sz="1200" dirty="0">
                <a:highlight>
                  <a:srgbClr val="FFFF00"/>
                </a:highlight>
                <a:latin typeface="Calibir"/>
              </a:rPr>
              <a:t>                </a:t>
            </a:r>
            <a:r>
              <a:rPr lang="en-US" sz="1200" dirty="0" err="1">
                <a:highlight>
                  <a:srgbClr val="FFFF00"/>
                </a:highlight>
                <a:latin typeface="Calibir"/>
              </a:rPr>
              <a:t>System.out.println</a:t>
            </a:r>
            <a:r>
              <a:rPr lang="en-US" sz="1200" dirty="0">
                <a:highlight>
                  <a:srgbClr val="FFFF00"/>
                </a:highlight>
                <a:latin typeface="Calibir"/>
              </a:rPr>
              <a:t>("Done");</a:t>
            </a:r>
          </a:p>
          <a:p>
            <a:pPr rtl="0">
              <a:buNone/>
            </a:pPr>
            <a:r>
              <a:rPr lang="en-US" sz="1200" dirty="0">
                <a:highlight>
                  <a:srgbClr val="FFFF00"/>
                </a:highlight>
                <a:latin typeface="Calibir"/>
              </a:rPr>
              <a:t>                return;</a:t>
            </a:r>
          </a:p>
          <a:p>
            <a:pPr rtl="0">
              <a:buNone/>
            </a:pPr>
            <a:endParaRPr lang="en-US" sz="1200" dirty="0">
              <a:highlight>
                <a:srgbClr val="FFFF00"/>
              </a:highlight>
              <a:latin typeface="Calibir"/>
            </a:endParaRPr>
          </a:p>
          <a:p>
            <a:pPr rtl="0">
              <a:buNone/>
            </a:pPr>
            <a:r>
              <a:rPr lang="en-US" sz="1200" dirty="0">
                <a:highlight>
                  <a:srgbClr val="FFFF00"/>
                </a:highlight>
                <a:latin typeface="Calibir"/>
              </a:rPr>
              <a:t>            default:</a:t>
            </a:r>
          </a:p>
          <a:p>
            <a:pPr rtl="0">
              <a:buNone/>
            </a:pPr>
            <a:r>
              <a:rPr lang="en-US" sz="1200" dirty="0">
                <a:highlight>
                  <a:srgbClr val="FFFF00"/>
                </a:highlight>
                <a:latin typeface="Calibir"/>
              </a:rPr>
              <a:t>                help();</a:t>
            </a:r>
          </a:p>
          <a:p>
            <a:pPr rtl="0">
              <a:buNone/>
            </a:pPr>
            <a:r>
              <a:rPr lang="en-US" sz="1200" dirty="0">
                <a:highlight>
                  <a:srgbClr val="FFFF00"/>
                </a:highlight>
                <a:latin typeface="Calibir"/>
              </a:rPr>
              <a:t>        }</a:t>
            </a:r>
          </a:p>
          <a:p>
            <a:pPr rtl="0">
              <a:buNone/>
            </a:pPr>
            <a:r>
              <a:rPr lang="en-US" sz="1200" dirty="0">
                <a:highlight>
                  <a:srgbClr val="FFFF00"/>
                </a:highlight>
                <a:latin typeface="Calibir"/>
              </a:rPr>
              <a:t>    }</a:t>
            </a:r>
          </a:p>
          <a:p>
            <a:pPr rtl="0">
              <a:buNone/>
            </a:pPr>
            <a:r>
              <a:rPr lang="en-US" sz="1200" dirty="0">
                <a:highlight>
                  <a:srgbClr val="FFFF00"/>
                </a:highlight>
                <a:latin typeface="Calibir"/>
              </a:rPr>
              <a:t>}</a:t>
            </a:r>
          </a:p>
        </p:txBody>
      </p:sp>
    </p:spTree>
    <p:custDataLst>
      <p:tags r:id="rId1"/>
    </p:custDataLst>
    <p:extLst>
      <p:ext uri="{BB962C8B-B14F-4D97-AF65-F5344CB8AC3E}">
        <p14:creationId xmlns:p14="http://schemas.microsoft.com/office/powerpoint/2010/main" val="295189548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41A4F-3C2A-45E4-22B4-8D3C60063256}"/>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92833706-6CC4-C031-9366-2CB5F8C8633A}"/>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4" name="TextBox 3">
            <a:extLst>
              <a:ext uri="{FF2B5EF4-FFF2-40B4-BE49-F238E27FC236}">
                <a16:creationId xmlns:a16="http://schemas.microsoft.com/office/drawing/2014/main" id="{4D31EF31-7D54-E0AB-827A-BA7F309816AC}"/>
              </a:ext>
            </a:extLst>
          </p:cNvPr>
          <p:cNvSpPr txBox="1"/>
          <p:nvPr/>
        </p:nvSpPr>
        <p:spPr>
          <a:xfrm>
            <a:off x="0" y="87924"/>
            <a:ext cx="6098458" cy="6247864"/>
          </a:xfrm>
          <a:prstGeom prst="rect">
            <a:avLst/>
          </a:prstGeom>
          <a:noFill/>
        </p:spPr>
        <p:txBody>
          <a:bodyPr wrap="square">
            <a:spAutoFit/>
          </a:bodyPr>
          <a:lstStyle/>
          <a:p>
            <a:pPr>
              <a:buNone/>
            </a:pPr>
            <a:r>
              <a:rPr lang="en-US" sz="1000" b="1" dirty="0">
                <a:latin typeface="Calibir"/>
              </a:rPr>
              <a:t>Completed Python </a:t>
            </a:r>
            <a:r>
              <a:rPr lang="en-US" sz="1000" b="1" dirty="0" err="1">
                <a:latin typeface="Calibir"/>
              </a:rPr>
              <a:t>DeskBankApp</a:t>
            </a:r>
            <a:endParaRPr lang="en-US" sz="1000" b="1" dirty="0">
              <a:latin typeface="Calibir"/>
            </a:endParaRPr>
          </a:p>
          <a:p>
            <a:pPr>
              <a:buNone/>
            </a:pPr>
            <a:r>
              <a:rPr lang="en-US" sz="1000" dirty="0">
                <a:latin typeface="Calibir"/>
              </a:rPr>
              <a:t>For beginners, you may keep all three classes in one file initially:</a:t>
            </a:r>
          </a:p>
          <a:p>
            <a:pPr rtl="0">
              <a:buNone/>
            </a:pPr>
            <a:r>
              <a:rPr lang="en-US" sz="1000" dirty="0">
                <a:highlight>
                  <a:srgbClr val="FFFF00"/>
                </a:highlight>
                <a:latin typeface="Calibir"/>
              </a:rPr>
              <a:t>class Account:</a:t>
            </a:r>
          </a:p>
          <a:p>
            <a:pPr rtl="0">
              <a:buNone/>
            </a:pPr>
            <a:r>
              <a:rPr lang="en-US" sz="1000" dirty="0">
                <a:highlight>
                  <a:srgbClr val="FFFF00"/>
                </a:highlight>
                <a:latin typeface="Calibir"/>
              </a:rPr>
              <a:t>    def __</a:t>
            </a:r>
            <a:r>
              <a:rPr lang="en-US" sz="1000" dirty="0" err="1">
                <a:highlight>
                  <a:srgbClr val="FFFF00"/>
                </a:highlight>
                <a:latin typeface="Calibir"/>
              </a:rPr>
              <a:t>init</a:t>
            </a:r>
            <a:r>
              <a:rPr lang="en-US" sz="1000" dirty="0">
                <a:highlight>
                  <a:srgbClr val="FFFF00"/>
                </a:highlight>
                <a:latin typeface="Calibir"/>
              </a:rPr>
              <a:t>__(self, </a:t>
            </a:r>
            <a:r>
              <a:rPr lang="en-US" sz="1000" dirty="0" err="1">
                <a:highlight>
                  <a:srgbClr val="FFFF00"/>
                </a:highlight>
                <a:latin typeface="Calibir"/>
              </a:rPr>
              <a:t>account_type</a:t>
            </a:r>
            <a:r>
              <a:rPr lang="en-US" sz="1000" dirty="0">
                <a:highlight>
                  <a:srgbClr val="FFFF00"/>
                </a:highlight>
                <a:latin typeface="Calibir"/>
              </a:rPr>
              <a:t>):</a:t>
            </a:r>
          </a:p>
          <a:p>
            <a:pPr rtl="0">
              <a:buNone/>
            </a:pPr>
            <a:r>
              <a:rPr lang="en-US" sz="1000" dirty="0">
                <a:highlight>
                  <a:srgbClr val="FFFF00"/>
                </a:highlight>
                <a:latin typeface="Calibir"/>
              </a:rPr>
              <a:t>        </a:t>
            </a:r>
            <a:r>
              <a:rPr lang="en-US" sz="1000" dirty="0" err="1">
                <a:highlight>
                  <a:srgbClr val="FFFF00"/>
                </a:highlight>
                <a:latin typeface="Calibir"/>
              </a:rPr>
              <a:t>self.type</a:t>
            </a:r>
            <a:r>
              <a:rPr lang="en-US" sz="1000" dirty="0">
                <a:highlight>
                  <a:srgbClr val="FFFF00"/>
                </a:highlight>
                <a:latin typeface="Calibir"/>
              </a:rPr>
              <a:t> = </a:t>
            </a:r>
            <a:r>
              <a:rPr lang="en-US" sz="1000" dirty="0" err="1">
                <a:highlight>
                  <a:srgbClr val="FFFF00"/>
                </a:highlight>
                <a:latin typeface="Calibir"/>
              </a:rPr>
              <a:t>account_type</a:t>
            </a:r>
            <a:endParaRPr lang="en-US" sz="1000" dirty="0">
              <a:highlight>
                <a:srgbClr val="FFFF00"/>
              </a:highlight>
              <a:latin typeface="Calibir"/>
            </a:endParaRPr>
          </a:p>
          <a:p>
            <a:pPr rtl="0">
              <a:buNone/>
            </a:pPr>
            <a:r>
              <a:rPr lang="en-US" sz="1000" dirty="0">
                <a:highlight>
                  <a:srgbClr val="FFFF00"/>
                </a:highlight>
                <a:latin typeface="Calibir"/>
              </a:rPr>
              <a:t>        </a:t>
            </a:r>
            <a:r>
              <a:rPr lang="en-US" sz="1000" dirty="0" err="1">
                <a:highlight>
                  <a:srgbClr val="FFFF00"/>
                </a:highlight>
                <a:latin typeface="Calibir"/>
              </a:rPr>
              <a:t>self.balance</a:t>
            </a:r>
            <a:r>
              <a:rPr lang="en-US" sz="1000" dirty="0">
                <a:highlight>
                  <a:srgbClr val="FFFF00"/>
                </a:highlight>
                <a:latin typeface="Calibir"/>
              </a:rPr>
              <a:t> = (</a:t>
            </a:r>
            <a:r>
              <a:rPr lang="en-US" sz="1000" dirty="0" err="1">
                <a:highlight>
                  <a:srgbClr val="FFFF00"/>
                </a:highlight>
                <a:latin typeface="Calibir"/>
              </a:rPr>
              <a:t>self.read_initial_balance</a:t>
            </a:r>
            <a:r>
              <a:rPr lang="en-US" sz="1000" dirty="0">
                <a:highlight>
                  <a:srgbClr val="FFFF00"/>
                </a:highlight>
                <a:latin typeface="Calibir"/>
              </a:rPr>
              <a:t>())</a:t>
            </a:r>
          </a:p>
          <a:p>
            <a:pPr rtl="0">
              <a:buNone/>
            </a:pPr>
            <a:r>
              <a:rPr lang="en-US" sz="1000" dirty="0">
                <a:highlight>
                  <a:srgbClr val="FFFF00"/>
                </a:highlight>
                <a:latin typeface="Calibir"/>
              </a:rPr>
              <a:t>    def </a:t>
            </a:r>
            <a:r>
              <a:rPr lang="en-US" sz="1000" dirty="0" err="1">
                <a:highlight>
                  <a:srgbClr val="FFFF00"/>
                </a:highlight>
                <a:latin typeface="Calibir"/>
              </a:rPr>
              <a:t>read_initial_balance</a:t>
            </a:r>
            <a:r>
              <a:rPr lang="en-US" sz="1000" dirty="0">
                <a:highlight>
                  <a:srgbClr val="FFFF00"/>
                </a:highlight>
                <a:latin typeface="Calibir"/>
              </a:rPr>
              <a:t>(self):</a:t>
            </a:r>
          </a:p>
          <a:p>
            <a:pPr rtl="0">
              <a:buNone/>
            </a:pPr>
            <a:r>
              <a:rPr lang="en-US" sz="1000" dirty="0">
                <a:highlight>
                  <a:srgbClr val="FFFF00"/>
                </a:highlight>
                <a:latin typeface="Calibir"/>
              </a:rPr>
              <a:t>        return float(</a:t>
            </a:r>
          </a:p>
          <a:p>
            <a:pPr rtl="0">
              <a:buNone/>
            </a:pPr>
            <a:r>
              <a:rPr lang="en-US" sz="1000" dirty="0">
                <a:highlight>
                  <a:srgbClr val="FFFF00"/>
                </a:highlight>
                <a:latin typeface="Calibir"/>
              </a:rPr>
              <a:t>            input(</a:t>
            </a:r>
            <a:r>
              <a:rPr lang="en-US" sz="1000" dirty="0" err="1">
                <a:highlight>
                  <a:srgbClr val="FFFF00"/>
                </a:highlight>
                <a:latin typeface="Calibir"/>
              </a:rPr>
              <a:t>f"Initial</a:t>
            </a:r>
            <a:r>
              <a:rPr lang="en-US" sz="1000" dirty="0">
                <a:highlight>
                  <a:srgbClr val="FFFF00"/>
                </a:highlight>
                <a:latin typeface="Calibir"/>
              </a:rPr>
              <a:t> {</a:t>
            </a:r>
            <a:r>
              <a:rPr lang="en-US" sz="1000" dirty="0" err="1">
                <a:highlight>
                  <a:srgbClr val="FFFF00"/>
                </a:highlight>
                <a:latin typeface="Calibir"/>
              </a:rPr>
              <a:t>self.type</a:t>
            </a:r>
            <a:r>
              <a:rPr lang="en-US" sz="1000" dirty="0">
                <a:highlight>
                  <a:srgbClr val="FFFF00"/>
                </a:highlight>
                <a:latin typeface="Calibir"/>
              </a:rPr>
              <a:t>} "</a:t>
            </a:r>
            <a:r>
              <a:rPr lang="en-US" sz="1000" dirty="0" err="1">
                <a:highlight>
                  <a:srgbClr val="FFFF00"/>
                </a:highlight>
                <a:latin typeface="Calibir"/>
              </a:rPr>
              <a:t>f"balance</a:t>
            </a:r>
            <a:r>
              <a:rPr lang="en-US" sz="1000" dirty="0">
                <a:highlight>
                  <a:srgbClr val="FFFF00"/>
                </a:highlight>
                <a:latin typeface="Calibir"/>
              </a:rPr>
              <a:t>: $"))</a:t>
            </a:r>
          </a:p>
          <a:p>
            <a:pPr rtl="0">
              <a:buNone/>
            </a:pPr>
            <a:r>
              <a:rPr lang="en-US" sz="1000" dirty="0">
                <a:highlight>
                  <a:srgbClr val="FFFF00"/>
                </a:highlight>
                <a:latin typeface="Calibir"/>
              </a:rPr>
              <a:t>    def deposit(self, amount):</a:t>
            </a:r>
          </a:p>
          <a:p>
            <a:pPr rtl="0">
              <a:buNone/>
            </a:pPr>
            <a:r>
              <a:rPr lang="en-US" sz="1000" dirty="0">
                <a:highlight>
                  <a:srgbClr val="FFFF00"/>
                </a:highlight>
                <a:latin typeface="Calibir"/>
              </a:rPr>
              <a:t>        </a:t>
            </a:r>
            <a:r>
              <a:rPr lang="en-US" sz="1000" dirty="0" err="1">
                <a:highlight>
                  <a:srgbClr val="FFFF00"/>
                </a:highlight>
                <a:latin typeface="Calibir"/>
              </a:rPr>
              <a:t>self.balance</a:t>
            </a:r>
            <a:r>
              <a:rPr lang="en-US" sz="1000" dirty="0">
                <a:highlight>
                  <a:srgbClr val="FFFF00"/>
                </a:highlight>
                <a:latin typeface="Calibir"/>
              </a:rPr>
              <a:t> += amount</a:t>
            </a:r>
          </a:p>
          <a:p>
            <a:pPr rtl="0">
              <a:buNone/>
            </a:pPr>
            <a:r>
              <a:rPr lang="en-US" sz="1000" dirty="0">
                <a:highlight>
                  <a:srgbClr val="FFFF00"/>
                </a:highlight>
                <a:latin typeface="Calibir"/>
              </a:rPr>
              <a:t>    def has(self, amount):</a:t>
            </a:r>
          </a:p>
          <a:p>
            <a:pPr rtl="0">
              <a:buNone/>
            </a:pPr>
            <a:r>
              <a:rPr lang="en-US" sz="1000" dirty="0">
                <a:highlight>
                  <a:srgbClr val="FFFF00"/>
                </a:highlight>
                <a:latin typeface="Calibir"/>
              </a:rPr>
              <a:t>        return </a:t>
            </a:r>
            <a:r>
              <a:rPr lang="en-US" sz="1000" dirty="0" err="1">
                <a:highlight>
                  <a:srgbClr val="FFFF00"/>
                </a:highlight>
                <a:latin typeface="Calibir"/>
              </a:rPr>
              <a:t>self.balance</a:t>
            </a:r>
            <a:r>
              <a:rPr lang="en-US" sz="1000" dirty="0">
                <a:highlight>
                  <a:srgbClr val="FFFF00"/>
                </a:highlight>
                <a:latin typeface="Calibir"/>
              </a:rPr>
              <a:t> &gt;= amount</a:t>
            </a:r>
          </a:p>
          <a:p>
            <a:pPr rtl="0">
              <a:buNone/>
            </a:pPr>
            <a:r>
              <a:rPr lang="en-US" sz="1000" dirty="0">
                <a:highlight>
                  <a:srgbClr val="FFFF00"/>
                </a:highlight>
                <a:latin typeface="Calibir"/>
              </a:rPr>
              <a:t>    def withdraw(self, amount):</a:t>
            </a:r>
          </a:p>
          <a:p>
            <a:pPr rtl="0">
              <a:buNone/>
            </a:pPr>
            <a:r>
              <a:rPr lang="en-US" sz="1000" dirty="0">
                <a:highlight>
                  <a:srgbClr val="FFFF00"/>
                </a:highlight>
                <a:latin typeface="Calibir"/>
              </a:rPr>
              <a:t>        if not </a:t>
            </a:r>
            <a:r>
              <a:rPr lang="en-US" sz="1000" dirty="0" err="1">
                <a:highlight>
                  <a:srgbClr val="FFFF00"/>
                </a:highlight>
                <a:latin typeface="Calibir"/>
              </a:rPr>
              <a:t>self.has</a:t>
            </a:r>
            <a:r>
              <a:rPr lang="en-US" sz="1000" dirty="0">
                <a:highlight>
                  <a:srgbClr val="FFFF00"/>
                </a:highlight>
                <a:latin typeface="Calibir"/>
              </a:rPr>
              <a:t>(amount):</a:t>
            </a:r>
          </a:p>
          <a:p>
            <a:pPr rtl="0">
              <a:buNone/>
            </a:pPr>
            <a:r>
              <a:rPr lang="en-US" sz="1000" dirty="0">
                <a:highlight>
                  <a:srgbClr val="FFFF00"/>
                </a:highlight>
                <a:latin typeface="Calibir"/>
              </a:rPr>
              <a:t>            raise </a:t>
            </a:r>
            <a:r>
              <a:rPr lang="en-US" sz="1000" dirty="0" err="1">
                <a:highlight>
                  <a:srgbClr val="FFFF00"/>
                </a:highlight>
                <a:latin typeface="Calibir"/>
              </a:rPr>
              <a:t>ValueError</a:t>
            </a:r>
            <a:r>
              <a:rPr lang="en-US" sz="1000" dirty="0">
                <a:highlight>
                  <a:srgbClr val="FFFF00"/>
                </a:highlight>
                <a:latin typeface="Calibir"/>
              </a:rPr>
              <a:t>("Insufficient funds")</a:t>
            </a:r>
          </a:p>
          <a:p>
            <a:pPr rtl="0">
              <a:buNone/>
            </a:pPr>
            <a:r>
              <a:rPr lang="en-US" sz="1000" dirty="0">
                <a:highlight>
                  <a:srgbClr val="FFFF00"/>
                </a:highlight>
                <a:latin typeface="Calibir"/>
              </a:rPr>
              <a:t>        </a:t>
            </a:r>
            <a:r>
              <a:rPr lang="en-US" sz="1000" dirty="0" err="1">
                <a:highlight>
                  <a:srgbClr val="FFFF00"/>
                </a:highlight>
                <a:latin typeface="Calibir"/>
              </a:rPr>
              <a:t>self.balance</a:t>
            </a:r>
            <a:r>
              <a:rPr lang="en-US" sz="1000" dirty="0">
                <a:highlight>
                  <a:srgbClr val="FFFF00"/>
                </a:highlight>
                <a:latin typeface="Calibir"/>
              </a:rPr>
              <a:t> -= amount</a:t>
            </a:r>
          </a:p>
          <a:p>
            <a:pPr rtl="0">
              <a:buNone/>
            </a:pPr>
            <a:r>
              <a:rPr lang="en-US" sz="1000" dirty="0">
                <a:highlight>
                  <a:srgbClr val="FFFF00"/>
                </a:highlight>
                <a:latin typeface="Calibir"/>
              </a:rPr>
              <a:t>    def </a:t>
            </a:r>
            <a:r>
              <a:rPr lang="en-US" sz="1000" dirty="0" err="1">
                <a:highlight>
                  <a:srgbClr val="FFFF00"/>
                </a:highlight>
                <a:latin typeface="Calibir"/>
              </a:rPr>
              <a:t>transfer_to_loan</a:t>
            </a:r>
            <a:r>
              <a:rPr lang="en-US" sz="1000" dirty="0">
                <a:highlight>
                  <a:srgbClr val="FFFF00"/>
                </a:highlight>
                <a:latin typeface="Calibir"/>
              </a:rPr>
              <a:t>(</a:t>
            </a:r>
          </a:p>
          <a:p>
            <a:pPr rtl="0">
              <a:buNone/>
            </a:pPr>
            <a:r>
              <a:rPr lang="en-US" sz="1000" dirty="0">
                <a:highlight>
                  <a:srgbClr val="FFFF00"/>
                </a:highlight>
                <a:latin typeface="Calibir"/>
              </a:rPr>
              <a:t>            self,</a:t>
            </a:r>
          </a:p>
          <a:p>
            <a:pPr rtl="0">
              <a:buNone/>
            </a:pPr>
            <a:r>
              <a:rPr lang="en-US" sz="1000" dirty="0">
                <a:highlight>
                  <a:srgbClr val="FFFF00"/>
                </a:highlight>
                <a:latin typeface="Calibir"/>
              </a:rPr>
              <a:t>            amount,</a:t>
            </a:r>
          </a:p>
          <a:p>
            <a:pPr rtl="0">
              <a:buNone/>
            </a:pPr>
            <a:r>
              <a:rPr lang="en-US" sz="1000" dirty="0">
                <a:highlight>
                  <a:srgbClr val="FFFF00"/>
                </a:highlight>
                <a:latin typeface="Calibir"/>
              </a:rPr>
              <a:t>            </a:t>
            </a:r>
            <a:r>
              <a:rPr lang="en-US" sz="1000" dirty="0" err="1">
                <a:highlight>
                  <a:srgbClr val="FFFF00"/>
                </a:highlight>
                <a:latin typeface="Calibir"/>
              </a:rPr>
              <a:t>loan_account</a:t>
            </a:r>
            <a:r>
              <a:rPr lang="en-US" sz="1000" dirty="0">
                <a:highlight>
                  <a:srgbClr val="FFFF00"/>
                </a:highlight>
                <a:latin typeface="Calibir"/>
              </a:rPr>
              <a:t>):</a:t>
            </a:r>
          </a:p>
          <a:p>
            <a:pPr rtl="0">
              <a:buNone/>
            </a:pPr>
            <a:r>
              <a:rPr lang="en-US" sz="1000" dirty="0">
                <a:highlight>
                  <a:srgbClr val="FFFF00"/>
                </a:highlight>
                <a:latin typeface="Calibir"/>
              </a:rPr>
              <a:t>        if not </a:t>
            </a:r>
            <a:r>
              <a:rPr lang="en-US" sz="1000" dirty="0" err="1">
                <a:highlight>
                  <a:srgbClr val="FFFF00"/>
                </a:highlight>
                <a:latin typeface="Calibir"/>
              </a:rPr>
              <a:t>self.has</a:t>
            </a:r>
            <a:r>
              <a:rPr lang="en-US" sz="1000" dirty="0">
                <a:highlight>
                  <a:srgbClr val="FFFF00"/>
                </a:highlight>
                <a:latin typeface="Calibir"/>
              </a:rPr>
              <a:t>(amount):</a:t>
            </a:r>
          </a:p>
          <a:p>
            <a:pPr rtl="0">
              <a:buNone/>
            </a:pPr>
            <a:r>
              <a:rPr lang="en-US" sz="1000" dirty="0">
                <a:highlight>
                  <a:srgbClr val="FFFF00"/>
                </a:highlight>
                <a:latin typeface="Calibir"/>
              </a:rPr>
              <a:t>            raise </a:t>
            </a:r>
            <a:r>
              <a:rPr lang="en-US" sz="1000" dirty="0" err="1">
                <a:highlight>
                  <a:srgbClr val="FFFF00"/>
                </a:highlight>
                <a:latin typeface="Calibir"/>
              </a:rPr>
              <a:t>ValueError</a:t>
            </a:r>
            <a:r>
              <a:rPr lang="en-US" sz="1000" dirty="0">
                <a:highlight>
                  <a:srgbClr val="FFFF00"/>
                </a:highlight>
                <a:latin typeface="Calibir"/>
              </a:rPr>
              <a:t>("Insufficient funds")</a:t>
            </a:r>
          </a:p>
          <a:p>
            <a:pPr rtl="0">
              <a:buNone/>
            </a:pPr>
            <a:r>
              <a:rPr lang="en-US" sz="1000" dirty="0">
                <a:highlight>
                  <a:srgbClr val="FFFF00"/>
                </a:highlight>
                <a:latin typeface="Calibir"/>
              </a:rPr>
              <a:t>        if not </a:t>
            </a:r>
            <a:r>
              <a:rPr lang="en-US" sz="1000" dirty="0" err="1">
                <a:highlight>
                  <a:srgbClr val="FFFF00"/>
                </a:highlight>
                <a:latin typeface="Calibir"/>
              </a:rPr>
              <a:t>loan_account.has</a:t>
            </a:r>
            <a:r>
              <a:rPr lang="en-US" sz="1000" dirty="0">
                <a:highlight>
                  <a:srgbClr val="FFFF00"/>
                </a:highlight>
                <a:latin typeface="Calibir"/>
              </a:rPr>
              <a:t>(amount):</a:t>
            </a:r>
          </a:p>
          <a:p>
            <a:pPr rtl="0">
              <a:buNone/>
            </a:pPr>
            <a:r>
              <a:rPr lang="en-US" sz="1000" dirty="0">
                <a:highlight>
                  <a:srgbClr val="FFFF00"/>
                </a:highlight>
                <a:latin typeface="Calibir"/>
              </a:rPr>
              <a:t>            raise </a:t>
            </a:r>
            <a:r>
              <a:rPr lang="en-US" sz="1000" dirty="0" err="1">
                <a:highlight>
                  <a:srgbClr val="FFFF00"/>
                </a:highlight>
                <a:latin typeface="Calibir"/>
              </a:rPr>
              <a:t>ValueError</a:t>
            </a:r>
            <a:r>
              <a:rPr lang="en-US" sz="1000" dirty="0">
                <a:highlight>
                  <a:srgbClr val="FFFF00"/>
                </a:highlight>
                <a:latin typeface="Calibir"/>
              </a:rPr>
              <a:t>("Transfer exceeds loan balance")</a:t>
            </a:r>
          </a:p>
          <a:p>
            <a:pPr rtl="0">
              <a:buNone/>
            </a:pPr>
            <a:r>
              <a:rPr lang="en-US" sz="1000" dirty="0">
                <a:highlight>
                  <a:srgbClr val="FFFF00"/>
                </a:highlight>
                <a:latin typeface="Calibir"/>
              </a:rPr>
              <a:t>        </a:t>
            </a:r>
            <a:r>
              <a:rPr lang="en-US" sz="1000" dirty="0" err="1">
                <a:highlight>
                  <a:srgbClr val="FFFF00"/>
                </a:highlight>
                <a:latin typeface="Calibir"/>
              </a:rPr>
              <a:t>self.withdraw</a:t>
            </a:r>
            <a:r>
              <a:rPr lang="en-US" sz="1000" dirty="0">
                <a:highlight>
                  <a:srgbClr val="FFFF00"/>
                </a:highlight>
                <a:latin typeface="Calibir"/>
              </a:rPr>
              <a:t>(amount)</a:t>
            </a:r>
          </a:p>
          <a:p>
            <a:pPr rtl="0">
              <a:buNone/>
            </a:pPr>
            <a:r>
              <a:rPr lang="en-US" sz="1000" dirty="0">
                <a:highlight>
                  <a:srgbClr val="FFFF00"/>
                </a:highlight>
                <a:latin typeface="Calibir"/>
              </a:rPr>
              <a:t>        </a:t>
            </a:r>
            <a:r>
              <a:rPr lang="en-US" sz="1000" dirty="0" err="1">
                <a:highlight>
                  <a:srgbClr val="FFFF00"/>
                </a:highlight>
                <a:latin typeface="Calibir"/>
              </a:rPr>
              <a:t>loan_account.withdraw</a:t>
            </a:r>
            <a:r>
              <a:rPr lang="en-US" sz="1000" dirty="0">
                <a:highlight>
                  <a:srgbClr val="FFFF00"/>
                </a:highlight>
                <a:latin typeface="Calibir"/>
              </a:rPr>
              <a:t>(amount)</a:t>
            </a:r>
          </a:p>
          <a:p>
            <a:pPr rtl="0">
              <a:buNone/>
            </a:pPr>
            <a:r>
              <a:rPr lang="en-US" sz="1000" dirty="0">
                <a:highlight>
                  <a:srgbClr val="FFFF00"/>
                </a:highlight>
                <a:latin typeface="Calibir"/>
              </a:rPr>
              <a:t>    def __str__(self):</a:t>
            </a:r>
          </a:p>
          <a:p>
            <a:pPr rtl="0">
              <a:buNone/>
            </a:pPr>
            <a:r>
              <a:rPr lang="en-US" sz="1000" dirty="0">
                <a:highlight>
                  <a:srgbClr val="FFFF00"/>
                </a:highlight>
                <a:latin typeface="Calibir"/>
              </a:rPr>
              <a:t>        return (</a:t>
            </a:r>
          </a:p>
          <a:p>
            <a:pPr rtl="0">
              <a:buNone/>
            </a:pPr>
            <a:r>
              <a:rPr lang="en-US" sz="1000" dirty="0">
                <a:highlight>
                  <a:srgbClr val="FFFF00"/>
                </a:highlight>
                <a:latin typeface="Calibir"/>
              </a:rPr>
              <a:t>            f"{</a:t>
            </a:r>
            <a:r>
              <a:rPr lang="en-US" sz="1000" dirty="0" err="1">
                <a:highlight>
                  <a:srgbClr val="FFFF00"/>
                </a:highlight>
                <a:latin typeface="Calibir"/>
              </a:rPr>
              <a:t>self.type</a:t>
            </a:r>
            <a:r>
              <a:rPr lang="en-US" sz="1000" dirty="0">
                <a:highlight>
                  <a:srgbClr val="FFFF00"/>
                </a:highlight>
                <a:latin typeface="Calibir"/>
              </a:rPr>
              <a:t>} account has "</a:t>
            </a:r>
          </a:p>
          <a:p>
            <a:pPr rtl="0">
              <a:buNone/>
            </a:pPr>
            <a:r>
              <a:rPr lang="en-US" sz="1000" dirty="0">
                <a:highlight>
                  <a:srgbClr val="FFFF00"/>
                </a:highlight>
                <a:latin typeface="Calibir"/>
              </a:rPr>
              <a:t>            f"${self.balance:,.2f}"</a:t>
            </a:r>
          </a:p>
          <a:p>
            <a:pPr rtl="0">
              <a:buNone/>
            </a:pPr>
            <a:r>
              <a:rPr lang="en-US" sz="1000" dirty="0">
                <a:highlight>
                  <a:srgbClr val="FFFF00"/>
                </a:highlight>
                <a:latin typeface="Calibir"/>
              </a:rPr>
              <a:t>        )</a:t>
            </a:r>
          </a:p>
          <a:p>
            <a:pPr rtl="0">
              <a:buNone/>
            </a:pPr>
            <a:r>
              <a:rPr lang="en-US" sz="1000" dirty="0">
                <a:highlight>
                  <a:srgbClr val="FFFF00"/>
                </a:highlight>
                <a:latin typeface="Calibir"/>
              </a:rPr>
              <a:t>class Customer:</a:t>
            </a:r>
          </a:p>
          <a:p>
            <a:pPr rtl="0">
              <a:buNone/>
            </a:pPr>
            <a:r>
              <a:rPr lang="en-US" sz="1000" dirty="0">
                <a:highlight>
                  <a:srgbClr val="FFFF00"/>
                </a:highlight>
                <a:latin typeface="Calibir"/>
              </a:rPr>
              <a:t>    def __</a:t>
            </a:r>
            <a:r>
              <a:rPr lang="en-US" sz="1000" dirty="0" err="1">
                <a:highlight>
                  <a:srgbClr val="FFFF00"/>
                </a:highlight>
                <a:latin typeface="Calibir"/>
              </a:rPr>
              <a:t>init</a:t>
            </a:r>
            <a:r>
              <a:rPr lang="en-US" sz="1000" dirty="0">
                <a:highlight>
                  <a:srgbClr val="FFFF00"/>
                </a:highlight>
                <a:latin typeface="Calibir"/>
              </a:rPr>
              <a:t>__(self, name):</a:t>
            </a:r>
          </a:p>
          <a:p>
            <a:pPr rtl="0">
              <a:buNone/>
            </a:pPr>
            <a:r>
              <a:rPr lang="en-US" sz="1000" dirty="0">
                <a:highlight>
                  <a:srgbClr val="FFFF00"/>
                </a:highlight>
                <a:latin typeface="Calibir"/>
              </a:rPr>
              <a:t>        self.name = name</a:t>
            </a:r>
          </a:p>
          <a:p>
            <a:pPr rtl="0">
              <a:buNone/>
            </a:pPr>
            <a:r>
              <a:rPr lang="en-US" sz="1000" dirty="0">
                <a:highlight>
                  <a:srgbClr val="FFFF00"/>
                </a:highlight>
                <a:latin typeface="Calibir"/>
              </a:rPr>
              <a:t>        </a:t>
            </a:r>
            <a:r>
              <a:rPr lang="en-US" sz="1000" dirty="0" err="1">
                <a:highlight>
                  <a:srgbClr val="FFFF00"/>
                </a:highlight>
                <a:latin typeface="Calibir"/>
              </a:rPr>
              <a:t>self.savings</a:t>
            </a:r>
            <a:r>
              <a:rPr lang="en-US" sz="1000" dirty="0">
                <a:highlight>
                  <a:srgbClr val="FFFF00"/>
                </a:highlight>
                <a:latin typeface="Calibir"/>
              </a:rPr>
              <a:t> = Account("Savings")</a:t>
            </a:r>
          </a:p>
          <a:p>
            <a:pPr rtl="0">
              <a:buNone/>
            </a:pPr>
            <a:r>
              <a:rPr lang="en-US" sz="1000" dirty="0">
                <a:highlight>
                  <a:srgbClr val="FFFF00"/>
                </a:highlight>
                <a:latin typeface="Calibir"/>
              </a:rPr>
              <a:t>        </a:t>
            </a:r>
            <a:r>
              <a:rPr lang="en-US" sz="1000" dirty="0" err="1">
                <a:highlight>
                  <a:srgbClr val="FFFF00"/>
                </a:highlight>
                <a:latin typeface="Calibir"/>
              </a:rPr>
              <a:t>self.loan</a:t>
            </a:r>
            <a:r>
              <a:rPr lang="en-US" sz="1000" dirty="0">
                <a:highlight>
                  <a:srgbClr val="FFFF00"/>
                </a:highlight>
                <a:latin typeface="Calibir"/>
              </a:rPr>
              <a:t> = Account("Loan")</a:t>
            </a:r>
          </a:p>
          <a:p>
            <a:pPr rtl="0">
              <a:buNone/>
            </a:pPr>
            <a:r>
              <a:rPr lang="en-US" sz="1000" dirty="0">
                <a:highlight>
                  <a:srgbClr val="FFFF00"/>
                </a:highlight>
                <a:latin typeface="Calibir"/>
              </a:rPr>
              <a:t>    def </a:t>
            </a:r>
            <a:r>
              <a:rPr lang="en-US" sz="1000" dirty="0" err="1">
                <a:highlight>
                  <a:srgbClr val="FFFF00"/>
                </a:highlight>
                <a:latin typeface="Calibir"/>
              </a:rPr>
              <a:t>read_amount</a:t>
            </a:r>
            <a:r>
              <a:rPr lang="en-US" sz="1000" dirty="0">
                <a:highlight>
                  <a:srgbClr val="FFFF00"/>
                </a:highlight>
                <a:latin typeface="Calibir"/>
              </a:rPr>
              <a:t>(</a:t>
            </a:r>
          </a:p>
          <a:p>
            <a:pPr rtl="0">
              <a:buNone/>
            </a:pPr>
            <a:r>
              <a:rPr lang="en-US" sz="1000" dirty="0">
                <a:highlight>
                  <a:srgbClr val="FFFF00"/>
                </a:highlight>
                <a:latin typeface="Calibir"/>
              </a:rPr>
              <a:t>            self,</a:t>
            </a:r>
          </a:p>
          <a:p>
            <a:pPr rtl="0">
              <a:buNone/>
            </a:pPr>
            <a:r>
              <a:rPr lang="en-US" sz="1000" dirty="0">
                <a:highlight>
                  <a:srgbClr val="FFFF00"/>
                </a:highlight>
                <a:latin typeface="Calibir"/>
              </a:rPr>
              <a:t>            message):</a:t>
            </a:r>
          </a:p>
        </p:txBody>
      </p:sp>
    </p:spTree>
    <p:custDataLst>
      <p:tags r:id="rId1"/>
    </p:custDataLst>
    <p:extLst>
      <p:ext uri="{BB962C8B-B14F-4D97-AF65-F5344CB8AC3E}">
        <p14:creationId xmlns:p14="http://schemas.microsoft.com/office/powerpoint/2010/main" val="189024134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F80CE-84F6-F9AD-FB1A-C2D7E426C5BD}"/>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1F427CCD-5E0C-295F-B962-56FC31445E74}"/>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4" name="TextBox 3">
            <a:extLst>
              <a:ext uri="{FF2B5EF4-FFF2-40B4-BE49-F238E27FC236}">
                <a16:creationId xmlns:a16="http://schemas.microsoft.com/office/drawing/2014/main" id="{2A1241E2-3F18-0D54-6AE0-256C04589F52}"/>
              </a:ext>
            </a:extLst>
          </p:cNvPr>
          <p:cNvSpPr txBox="1"/>
          <p:nvPr/>
        </p:nvSpPr>
        <p:spPr>
          <a:xfrm>
            <a:off x="0" y="87924"/>
            <a:ext cx="6098458" cy="6247864"/>
          </a:xfrm>
          <a:prstGeom prst="rect">
            <a:avLst/>
          </a:prstGeom>
          <a:noFill/>
        </p:spPr>
        <p:txBody>
          <a:bodyPr wrap="square">
            <a:spAutoFit/>
          </a:bodyPr>
          <a:lstStyle/>
          <a:p>
            <a:r>
              <a:rPr lang="en-US" sz="1000" dirty="0">
                <a:highlight>
                  <a:srgbClr val="FFFF00"/>
                </a:highlight>
                <a:latin typeface="Calibir"/>
              </a:rPr>
              <a:t> return float(input(message))</a:t>
            </a:r>
          </a:p>
          <a:p>
            <a:r>
              <a:rPr lang="en-US" sz="1000" dirty="0">
                <a:highlight>
                  <a:srgbClr val="FFFF00"/>
                </a:highlight>
                <a:latin typeface="Calibir"/>
              </a:rPr>
              <a:t>    def deposit(self):</a:t>
            </a:r>
          </a:p>
          <a:p>
            <a:r>
              <a:rPr lang="en-US" sz="1000" dirty="0">
                <a:highlight>
                  <a:srgbClr val="FFFF00"/>
                </a:highlight>
                <a:latin typeface="Calibir"/>
              </a:rPr>
              <a:t>        amount = </a:t>
            </a:r>
            <a:r>
              <a:rPr lang="en-US" sz="1000" dirty="0" err="1">
                <a:highlight>
                  <a:srgbClr val="FFFF00"/>
                </a:highlight>
                <a:latin typeface="Calibir"/>
              </a:rPr>
              <a:t>self.read_amount</a:t>
            </a:r>
            <a:r>
              <a:rPr lang="en-US" sz="1000" dirty="0">
                <a:highlight>
                  <a:srgbClr val="FFFF00"/>
                </a:highlight>
                <a:latin typeface="Calibir"/>
              </a:rPr>
              <a:t>("Amount to deposit: $")</a:t>
            </a:r>
          </a:p>
          <a:p>
            <a:r>
              <a:rPr lang="en-US" sz="1000" dirty="0">
                <a:highlight>
                  <a:srgbClr val="FFFF00"/>
                </a:highlight>
                <a:latin typeface="Calibir"/>
              </a:rPr>
              <a:t>        </a:t>
            </a:r>
            <a:r>
              <a:rPr lang="en-US" sz="1000" dirty="0" err="1">
                <a:highlight>
                  <a:srgbClr val="FFFF00"/>
                </a:highlight>
                <a:latin typeface="Calibir"/>
              </a:rPr>
              <a:t>self.savings.deposit</a:t>
            </a:r>
            <a:r>
              <a:rPr lang="en-US" sz="1000" dirty="0">
                <a:highlight>
                  <a:srgbClr val="FFFF00"/>
                </a:highlight>
                <a:latin typeface="Calibir"/>
              </a:rPr>
              <a:t>(amount)</a:t>
            </a:r>
          </a:p>
          <a:p>
            <a:r>
              <a:rPr lang="en-US" sz="1000" dirty="0">
                <a:highlight>
                  <a:srgbClr val="FFFF00"/>
                </a:highlight>
                <a:latin typeface="Calibir"/>
              </a:rPr>
              <a:t>    def withdraw(self):</a:t>
            </a:r>
          </a:p>
          <a:p>
            <a:r>
              <a:rPr lang="en-US" sz="1000" dirty="0">
                <a:highlight>
                  <a:srgbClr val="FFFF00"/>
                </a:highlight>
                <a:latin typeface="Calibir"/>
              </a:rPr>
              <a:t>        amount = </a:t>
            </a:r>
            <a:r>
              <a:rPr lang="en-US" sz="1000" dirty="0" err="1">
                <a:highlight>
                  <a:srgbClr val="FFFF00"/>
                </a:highlight>
                <a:latin typeface="Calibir"/>
              </a:rPr>
              <a:t>self.read_amount</a:t>
            </a:r>
            <a:r>
              <a:rPr lang="en-US" sz="1000" dirty="0">
                <a:highlight>
                  <a:srgbClr val="FFFF00"/>
                </a:highlight>
                <a:latin typeface="Calibir"/>
              </a:rPr>
              <a:t>("Amount to withdraw: $")</a:t>
            </a:r>
          </a:p>
          <a:p>
            <a:r>
              <a:rPr lang="en-US" sz="1000" dirty="0">
                <a:highlight>
                  <a:srgbClr val="FFFF00"/>
                </a:highlight>
                <a:latin typeface="Calibir"/>
              </a:rPr>
              <a:t>        try:</a:t>
            </a:r>
          </a:p>
          <a:p>
            <a:r>
              <a:rPr lang="en-US" sz="1000" dirty="0">
                <a:highlight>
                  <a:srgbClr val="FFFF00"/>
                </a:highlight>
                <a:latin typeface="Calibir"/>
              </a:rPr>
              <a:t>            </a:t>
            </a:r>
            <a:r>
              <a:rPr lang="en-US" sz="1000" dirty="0" err="1">
                <a:highlight>
                  <a:srgbClr val="FFFF00"/>
                </a:highlight>
                <a:latin typeface="Calibir"/>
              </a:rPr>
              <a:t>self.savings.withdraw</a:t>
            </a:r>
            <a:r>
              <a:rPr lang="en-US" sz="1000" dirty="0">
                <a:highlight>
                  <a:srgbClr val="FFFF00"/>
                </a:highlight>
                <a:latin typeface="Calibir"/>
              </a:rPr>
              <a:t>(amount)</a:t>
            </a:r>
          </a:p>
          <a:p>
            <a:r>
              <a:rPr lang="en-US" sz="1000" dirty="0">
                <a:highlight>
                  <a:srgbClr val="FFFF00"/>
                </a:highlight>
                <a:latin typeface="Calibir"/>
              </a:rPr>
              <a:t>        except </a:t>
            </a:r>
            <a:r>
              <a:rPr lang="en-US" sz="1000" dirty="0" err="1">
                <a:highlight>
                  <a:srgbClr val="FFFF00"/>
                </a:highlight>
                <a:latin typeface="Calibir"/>
              </a:rPr>
              <a:t>ValueError</a:t>
            </a:r>
            <a:r>
              <a:rPr lang="en-US" sz="1000" dirty="0">
                <a:highlight>
                  <a:srgbClr val="FFFF00"/>
                </a:highlight>
                <a:latin typeface="Calibir"/>
              </a:rPr>
              <a:t> as error:</a:t>
            </a:r>
          </a:p>
          <a:p>
            <a:r>
              <a:rPr lang="en-US" sz="1000" dirty="0">
                <a:highlight>
                  <a:srgbClr val="FFFF00"/>
                </a:highlight>
                <a:latin typeface="Calibir"/>
              </a:rPr>
              <a:t>            print(error)</a:t>
            </a:r>
          </a:p>
          <a:p>
            <a:r>
              <a:rPr lang="en-US" sz="1000" dirty="0">
                <a:highlight>
                  <a:srgbClr val="FFFF00"/>
                </a:highlight>
                <a:latin typeface="Calibir"/>
              </a:rPr>
              <a:t>    def transfer(self):</a:t>
            </a:r>
          </a:p>
          <a:p>
            <a:r>
              <a:rPr lang="en-US" sz="1000" dirty="0">
                <a:highlight>
                  <a:srgbClr val="FFFF00"/>
                </a:highlight>
                <a:latin typeface="Calibir"/>
              </a:rPr>
              <a:t>        amount = </a:t>
            </a:r>
            <a:r>
              <a:rPr lang="en-US" sz="1000" dirty="0" err="1">
                <a:highlight>
                  <a:srgbClr val="FFFF00"/>
                </a:highlight>
                <a:latin typeface="Calibir"/>
              </a:rPr>
              <a:t>self.read_amount</a:t>
            </a:r>
            <a:r>
              <a:rPr lang="en-US" sz="1000" dirty="0">
                <a:highlight>
                  <a:srgbClr val="FFFF00"/>
                </a:highlight>
                <a:latin typeface="Calibir"/>
              </a:rPr>
              <a:t>("Amount to transfer: $")</a:t>
            </a:r>
          </a:p>
          <a:p>
            <a:r>
              <a:rPr lang="en-US" sz="1000" dirty="0">
                <a:highlight>
                  <a:srgbClr val="FFFF00"/>
                </a:highlight>
                <a:latin typeface="Calibir"/>
              </a:rPr>
              <a:t>        try:</a:t>
            </a:r>
          </a:p>
          <a:p>
            <a:r>
              <a:rPr lang="en-US" sz="1000" dirty="0">
                <a:highlight>
                  <a:srgbClr val="FFFF00"/>
                </a:highlight>
                <a:latin typeface="Calibir"/>
              </a:rPr>
              <a:t>            </a:t>
            </a:r>
            <a:r>
              <a:rPr lang="en-US" sz="1000" dirty="0" err="1">
                <a:highlight>
                  <a:srgbClr val="FFFF00"/>
                </a:highlight>
                <a:latin typeface="Calibir"/>
              </a:rPr>
              <a:t>self.savings.transfer_to_loan</a:t>
            </a:r>
            <a:r>
              <a:rPr lang="en-US" sz="1000" dirty="0">
                <a:highlight>
                  <a:srgbClr val="FFFF00"/>
                </a:highlight>
                <a:latin typeface="Calibir"/>
              </a:rPr>
              <a:t>(amount, </a:t>
            </a:r>
            <a:r>
              <a:rPr lang="en-US" sz="1000" dirty="0" err="1">
                <a:highlight>
                  <a:srgbClr val="FFFF00"/>
                </a:highlight>
                <a:latin typeface="Calibir"/>
              </a:rPr>
              <a:t>self.loan</a:t>
            </a:r>
            <a:r>
              <a:rPr lang="en-US" sz="1000" dirty="0">
                <a:highlight>
                  <a:srgbClr val="FFFF00"/>
                </a:highlight>
                <a:latin typeface="Calibir"/>
              </a:rPr>
              <a:t>)</a:t>
            </a:r>
          </a:p>
          <a:p>
            <a:r>
              <a:rPr lang="en-US" sz="1000" dirty="0">
                <a:highlight>
                  <a:srgbClr val="FFFF00"/>
                </a:highlight>
                <a:latin typeface="Calibir"/>
              </a:rPr>
              <a:t>        except </a:t>
            </a:r>
            <a:r>
              <a:rPr lang="en-US" sz="1000" dirty="0" err="1">
                <a:highlight>
                  <a:srgbClr val="FFFF00"/>
                </a:highlight>
                <a:latin typeface="Calibir"/>
              </a:rPr>
              <a:t>ValueError</a:t>
            </a:r>
            <a:r>
              <a:rPr lang="en-US" sz="1000" dirty="0">
                <a:highlight>
                  <a:srgbClr val="FFFF00"/>
                </a:highlight>
                <a:latin typeface="Calibir"/>
              </a:rPr>
              <a:t> as error:</a:t>
            </a:r>
          </a:p>
          <a:p>
            <a:r>
              <a:rPr lang="en-US" sz="1000" dirty="0">
                <a:highlight>
                  <a:srgbClr val="FFFF00"/>
                </a:highlight>
                <a:latin typeface="Calibir"/>
              </a:rPr>
              <a:t>            print(error)</a:t>
            </a:r>
          </a:p>
          <a:p>
            <a:r>
              <a:rPr lang="en-US" sz="1000" dirty="0">
                <a:highlight>
                  <a:srgbClr val="FFFF00"/>
                </a:highlight>
                <a:latin typeface="Calibir"/>
              </a:rPr>
              <a:t>    def show(self):</a:t>
            </a:r>
          </a:p>
          <a:p>
            <a:r>
              <a:rPr lang="en-US" sz="1000" dirty="0">
                <a:highlight>
                  <a:srgbClr val="FFFF00"/>
                </a:highlight>
                <a:latin typeface="Calibir"/>
              </a:rPr>
              <a:t>        print(self)</a:t>
            </a:r>
          </a:p>
          <a:p>
            <a:r>
              <a:rPr lang="en-US" sz="1000" dirty="0">
                <a:highlight>
                  <a:srgbClr val="FFFF00"/>
                </a:highlight>
                <a:latin typeface="Calibir"/>
              </a:rPr>
              <a:t>    def __str__(self):</a:t>
            </a:r>
          </a:p>
          <a:p>
            <a:r>
              <a:rPr lang="en-US" sz="1000" dirty="0">
                <a:highlight>
                  <a:srgbClr val="FFFF00"/>
                </a:highlight>
                <a:latin typeface="Calibir"/>
              </a:rPr>
              <a:t>        return (</a:t>
            </a:r>
          </a:p>
          <a:p>
            <a:r>
              <a:rPr lang="en-US" sz="1000" dirty="0">
                <a:highlight>
                  <a:srgbClr val="FFFF00"/>
                </a:highlight>
                <a:latin typeface="Calibir"/>
              </a:rPr>
              <a:t>            f"{self.name} accounts:\n"</a:t>
            </a:r>
          </a:p>
          <a:p>
            <a:r>
              <a:rPr lang="en-US" sz="1000" dirty="0">
                <a:highlight>
                  <a:srgbClr val="FFFF00"/>
                </a:highlight>
                <a:latin typeface="Calibir"/>
              </a:rPr>
              <a:t>            f"{</a:t>
            </a:r>
            <a:r>
              <a:rPr lang="en-US" sz="1000" dirty="0" err="1">
                <a:highlight>
                  <a:srgbClr val="FFFF00"/>
                </a:highlight>
                <a:latin typeface="Calibir"/>
              </a:rPr>
              <a:t>self.savings</a:t>
            </a:r>
            <a:r>
              <a:rPr lang="en-US" sz="1000" dirty="0">
                <a:highlight>
                  <a:srgbClr val="FFFF00"/>
                </a:highlight>
                <a:latin typeface="Calibir"/>
              </a:rPr>
              <a:t>}\n"</a:t>
            </a:r>
          </a:p>
          <a:p>
            <a:r>
              <a:rPr lang="en-US" sz="1000" dirty="0">
                <a:highlight>
                  <a:srgbClr val="FFFF00"/>
                </a:highlight>
                <a:latin typeface="Calibir"/>
              </a:rPr>
              <a:t>            f"{</a:t>
            </a:r>
            <a:r>
              <a:rPr lang="en-US" sz="1000" dirty="0" err="1">
                <a:highlight>
                  <a:srgbClr val="FFFF00"/>
                </a:highlight>
                <a:latin typeface="Calibir"/>
              </a:rPr>
              <a:t>self.loan</a:t>
            </a:r>
            <a:r>
              <a:rPr lang="en-US" sz="1000" dirty="0">
                <a:highlight>
                  <a:srgbClr val="FFFF00"/>
                </a:highlight>
                <a:latin typeface="Calibir"/>
              </a:rPr>
              <a:t>}"</a:t>
            </a:r>
          </a:p>
          <a:p>
            <a:r>
              <a:rPr lang="en-US" sz="1000" dirty="0">
                <a:highlight>
                  <a:srgbClr val="FFFF00"/>
                </a:highlight>
                <a:latin typeface="Calibir"/>
              </a:rPr>
              <a:t>        )</a:t>
            </a:r>
          </a:p>
          <a:p>
            <a:r>
              <a:rPr lang="en-US" sz="1000" dirty="0">
                <a:highlight>
                  <a:srgbClr val="FFFF00"/>
                </a:highlight>
                <a:latin typeface="Calibir"/>
              </a:rPr>
              <a:t>class Bank:</a:t>
            </a:r>
          </a:p>
          <a:p>
            <a:r>
              <a:rPr lang="en-US" sz="1000" dirty="0">
                <a:highlight>
                  <a:srgbClr val="FFFF00"/>
                </a:highlight>
                <a:latin typeface="Calibir"/>
              </a:rPr>
              <a:t>    def __</a:t>
            </a:r>
            <a:r>
              <a:rPr lang="en-US" sz="1000" dirty="0" err="1">
                <a:highlight>
                  <a:srgbClr val="FFFF00"/>
                </a:highlight>
                <a:latin typeface="Calibir"/>
              </a:rPr>
              <a:t>init</a:t>
            </a:r>
            <a:r>
              <a:rPr lang="en-US" sz="1000" dirty="0">
                <a:highlight>
                  <a:srgbClr val="FFFF00"/>
                </a:highlight>
                <a:latin typeface="Calibir"/>
              </a:rPr>
              <a:t>__(self):</a:t>
            </a:r>
          </a:p>
          <a:p>
            <a:r>
              <a:rPr lang="en-US" sz="1000" dirty="0">
                <a:highlight>
                  <a:srgbClr val="FFFF00"/>
                </a:highlight>
                <a:latin typeface="Calibir"/>
              </a:rPr>
              <a:t>        </a:t>
            </a:r>
            <a:r>
              <a:rPr lang="en-US" sz="1000" dirty="0" err="1">
                <a:highlight>
                  <a:srgbClr val="FFFF00"/>
                </a:highlight>
                <a:latin typeface="Calibir"/>
              </a:rPr>
              <a:t>self.customer</a:t>
            </a:r>
            <a:r>
              <a:rPr lang="en-US" sz="1000" dirty="0">
                <a:highlight>
                  <a:srgbClr val="FFFF00"/>
                </a:highlight>
                <a:latin typeface="Calibir"/>
              </a:rPr>
              <a:t> = Customer("John Smith")</a:t>
            </a:r>
          </a:p>
          <a:p>
            <a:r>
              <a:rPr lang="en-US" sz="1000" dirty="0">
                <a:highlight>
                  <a:srgbClr val="FFFF00"/>
                </a:highlight>
                <a:latin typeface="Calibir"/>
              </a:rPr>
              <a:t>    def help(self):</a:t>
            </a:r>
          </a:p>
          <a:p>
            <a:r>
              <a:rPr lang="en-US" sz="1000" dirty="0">
                <a:highlight>
                  <a:srgbClr val="FFFF00"/>
                </a:highlight>
                <a:latin typeface="Calibir"/>
              </a:rPr>
              <a:t>        print("Menu options")</a:t>
            </a:r>
          </a:p>
          <a:p>
            <a:r>
              <a:rPr lang="en-US" sz="1000" dirty="0">
                <a:highlight>
                  <a:srgbClr val="FFFF00"/>
                </a:highlight>
                <a:latin typeface="Calibir"/>
              </a:rPr>
              <a:t>        print("d = deposit")</a:t>
            </a:r>
          </a:p>
          <a:p>
            <a:r>
              <a:rPr lang="en-US" sz="1000" dirty="0">
                <a:highlight>
                  <a:srgbClr val="FFFF00"/>
                </a:highlight>
                <a:latin typeface="Calibir"/>
              </a:rPr>
              <a:t>        print("w = withdraw")</a:t>
            </a:r>
          </a:p>
          <a:p>
            <a:r>
              <a:rPr lang="en-US" sz="1000" dirty="0">
                <a:highlight>
                  <a:srgbClr val="FFFF00"/>
                </a:highlight>
                <a:latin typeface="Calibir"/>
              </a:rPr>
              <a:t>        print("t = transfer")</a:t>
            </a:r>
          </a:p>
          <a:p>
            <a:r>
              <a:rPr lang="en-US" sz="1000" dirty="0">
                <a:highlight>
                  <a:srgbClr val="FFFF00"/>
                </a:highlight>
                <a:latin typeface="Calibir"/>
              </a:rPr>
              <a:t>        print("s = show")</a:t>
            </a:r>
          </a:p>
          <a:p>
            <a:r>
              <a:rPr lang="en-US" sz="1000" dirty="0">
                <a:highlight>
                  <a:srgbClr val="FFFF00"/>
                </a:highlight>
                <a:latin typeface="Calibir"/>
              </a:rPr>
              <a:t>        print("x = exit")</a:t>
            </a:r>
          </a:p>
          <a:p>
            <a:r>
              <a:rPr lang="en-US" sz="1000" dirty="0">
                <a:highlight>
                  <a:srgbClr val="FFFF00"/>
                </a:highlight>
                <a:latin typeface="Calibir"/>
              </a:rPr>
              <a:t>    def menu(self):</a:t>
            </a:r>
          </a:p>
          <a:p>
            <a:r>
              <a:rPr lang="en-US" sz="1000" dirty="0">
                <a:highlight>
                  <a:srgbClr val="FFFF00"/>
                </a:highlight>
                <a:latin typeface="Calibir"/>
              </a:rPr>
              <a:t>        while True:</a:t>
            </a:r>
          </a:p>
          <a:p>
            <a:r>
              <a:rPr lang="en-US" sz="1000" dirty="0">
                <a:highlight>
                  <a:srgbClr val="FFFF00"/>
                </a:highlight>
                <a:latin typeface="Calibir"/>
              </a:rPr>
              <a:t>            choice = input(</a:t>
            </a:r>
          </a:p>
          <a:p>
            <a:r>
              <a:rPr lang="en-US" sz="1000" dirty="0">
                <a:highlight>
                  <a:srgbClr val="FFFF00"/>
                </a:highlight>
                <a:latin typeface="Calibir"/>
              </a:rPr>
              <a:t>                "Customer menu "</a:t>
            </a:r>
          </a:p>
          <a:p>
            <a:r>
              <a:rPr lang="en-US" sz="1000" dirty="0">
                <a:highlight>
                  <a:srgbClr val="FFFF00"/>
                </a:highlight>
                <a:latin typeface="Calibir"/>
              </a:rPr>
              <a:t>                "(d/w/t/s/x): "</a:t>
            </a:r>
          </a:p>
          <a:p>
            <a:r>
              <a:rPr lang="en-US" sz="1000" dirty="0">
                <a:highlight>
                  <a:srgbClr val="FFFF00"/>
                </a:highlight>
                <a:latin typeface="Calibir"/>
              </a:rPr>
              <a:t>            ).lower()</a:t>
            </a:r>
          </a:p>
        </p:txBody>
      </p:sp>
    </p:spTree>
    <p:custDataLst>
      <p:tags r:id="rId1"/>
    </p:custDataLst>
    <p:extLst>
      <p:ext uri="{BB962C8B-B14F-4D97-AF65-F5344CB8AC3E}">
        <p14:creationId xmlns:p14="http://schemas.microsoft.com/office/powerpoint/2010/main" val="96419753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FFB5A-8371-A5FD-FB99-726821828175}"/>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D3DB6EA2-333A-CD40-FC1E-44F17E22FC05}"/>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4" name="TextBox 3">
            <a:extLst>
              <a:ext uri="{FF2B5EF4-FFF2-40B4-BE49-F238E27FC236}">
                <a16:creationId xmlns:a16="http://schemas.microsoft.com/office/drawing/2014/main" id="{123A59D3-E85A-AFFB-5B2D-1A9A8AFC871C}"/>
              </a:ext>
            </a:extLst>
          </p:cNvPr>
          <p:cNvSpPr txBox="1"/>
          <p:nvPr/>
        </p:nvSpPr>
        <p:spPr>
          <a:xfrm>
            <a:off x="0" y="87924"/>
            <a:ext cx="6098458" cy="2862322"/>
          </a:xfrm>
          <a:prstGeom prst="rect">
            <a:avLst/>
          </a:prstGeom>
          <a:noFill/>
        </p:spPr>
        <p:txBody>
          <a:bodyPr wrap="square">
            <a:spAutoFit/>
          </a:bodyPr>
          <a:lstStyle/>
          <a:p>
            <a:r>
              <a:rPr lang="en-US" sz="1000" dirty="0">
                <a:highlight>
                  <a:srgbClr val="FFFF00"/>
                </a:highlight>
                <a:latin typeface="Calibir"/>
              </a:rPr>
              <a:t> if choice == "d":</a:t>
            </a:r>
          </a:p>
          <a:p>
            <a:r>
              <a:rPr lang="en-US" sz="1000" dirty="0">
                <a:highlight>
                  <a:srgbClr val="FFFF00"/>
                </a:highlight>
                <a:latin typeface="Calibir"/>
              </a:rPr>
              <a:t>                </a:t>
            </a:r>
            <a:r>
              <a:rPr lang="en-US" sz="1000" dirty="0" err="1">
                <a:highlight>
                  <a:srgbClr val="FFFF00"/>
                </a:highlight>
                <a:latin typeface="Calibir"/>
              </a:rPr>
              <a:t>self.customer.deposit</a:t>
            </a:r>
            <a:r>
              <a:rPr lang="en-US" sz="1000" dirty="0">
                <a:highlight>
                  <a:srgbClr val="FFFF00"/>
                </a:highlight>
                <a:latin typeface="Calibir"/>
              </a:rPr>
              <a:t>()</a:t>
            </a:r>
          </a:p>
          <a:p>
            <a:r>
              <a:rPr lang="en-US" sz="1000" dirty="0">
                <a:highlight>
                  <a:srgbClr val="FFFF00"/>
                </a:highlight>
                <a:latin typeface="Calibir"/>
              </a:rPr>
              <a:t>            </a:t>
            </a:r>
            <a:r>
              <a:rPr lang="en-US" sz="1000" dirty="0" err="1">
                <a:highlight>
                  <a:srgbClr val="FFFF00"/>
                </a:highlight>
                <a:latin typeface="Calibir"/>
              </a:rPr>
              <a:t>elif</a:t>
            </a:r>
            <a:r>
              <a:rPr lang="en-US" sz="1000" dirty="0">
                <a:highlight>
                  <a:srgbClr val="FFFF00"/>
                </a:highlight>
                <a:latin typeface="Calibir"/>
              </a:rPr>
              <a:t> choice == "w":</a:t>
            </a:r>
          </a:p>
          <a:p>
            <a:r>
              <a:rPr lang="en-US" sz="1000" dirty="0">
                <a:highlight>
                  <a:srgbClr val="FFFF00"/>
                </a:highlight>
                <a:latin typeface="Calibir"/>
              </a:rPr>
              <a:t>                </a:t>
            </a:r>
            <a:r>
              <a:rPr lang="en-US" sz="1000" dirty="0" err="1">
                <a:highlight>
                  <a:srgbClr val="FFFF00"/>
                </a:highlight>
                <a:latin typeface="Calibir"/>
              </a:rPr>
              <a:t>self.customer.withdraw</a:t>
            </a:r>
            <a:r>
              <a:rPr lang="en-US" sz="1000" dirty="0">
                <a:highlight>
                  <a:srgbClr val="FFFF00"/>
                </a:highlight>
                <a:latin typeface="Calibir"/>
              </a:rPr>
              <a:t>()</a:t>
            </a:r>
          </a:p>
          <a:p>
            <a:r>
              <a:rPr lang="en-US" sz="1000" dirty="0">
                <a:highlight>
                  <a:srgbClr val="FFFF00"/>
                </a:highlight>
                <a:latin typeface="Calibir"/>
              </a:rPr>
              <a:t>            </a:t>
            </a:r>
            <a:r>
              <a:rPr lang="en-US" sz="1000" dirty="0" err="1">
                <a:highlight>
                  <a:srgbClr val="FFFF00"/>
                </a:highlight>
                <a:latin typeface="Calibir"/>
              </a:rPr>
              <a:t>elif</a:t>
            </a:r>
            <a:r>
              <a:rPr lang="en-US" sz="1000" dirty="0">
                <a:highlight>
                  <a:srgbClr val="FFFF00"/>
                </a:highlight>
                <a:latin typeface="Calibir"/>
              </a:rPr>
              <a:t> choice == "t":</a:t>
            </a:r>
          </a:p>
          <a:p>
            <a:r>
              <a:rPr lang="en-US" sz="1000" dirty="0">
                <a:highlight>
                  <a:srgbClr val="FFFF00"/>
                </a:highlight>
                <a:latin typeface="Calibir"/>
              </a:rPr>
              <a:t>                </a:t>
            </a:r>
            <a:r>
              <a:rPr lang="en-US" sz="1000" dirty="0" err="1">
                <a:highlight>
                  <a:srgbClr val="FFFF00"/>
                </a:highlight>
                <a:latin typeface="Calibir"/>
              </a:rPr>
              <a:t>self.customer.transfer</a:t>
            </a:r>
            <a:r>
              <a:rPr lang="en-US" sz="1000" dirty="0">
                <a:highlight>
                  <a:srgbClr val="FFFF00"/>
                </a:highlight>
                <a:latin typeface="Calibir"/>
              </a:rPr>
              <a:t>()</a:t>
            </a:r>
          </a:p>
          <a:p>
            <a:r>
              <a:rPr lang="en-US" sz="1000" dirty="0">
                <a:highlight>
                  <a:srgbClr val="FFFF00"/>
                </a:highlight>
                <a:latin typeface="Calibir"/>
              </a:rPr>
              <a:t>            </a:t>
            </a:r>
            <a:r>
              <a:rPr lang="en-US" sz="1000" dirty="0" err="1">
                <a:highlight>
                  <a:srgbClr val="FFFF00"/>
                </a:highlight>
                <a:latin typeface="Calibir"/>
              </a:rPr>
              <a:t>elif</a:t>
            </a:r>
            <a:r>
              <a:rPr lang="en-US" sz="1000" dirty="0">
                <a:highlight>
                  <a:srgbClr val="FFFF00"/>
                </a:highlight>
                <a:latin typeface="Calibir"/>
              </a:rPr>
              <a:t> choice == "s":</a:t>
            </a:r>
          </a:p>
          <a:p>
            <a:r>
              <a:rPr lang="en-US" sz="1000" dirty="0">
                <a:highlight>
                  <a:srgbClr val="FFFF00"/>
                </a:highlight>
                <a:latin typeface="Calibir"/>
              </a:rPr>
              <a:t>                </a:t>
            </a:r>
            <a:r>
              <a:rPr lang="en-US" sz="1000" dirty="0" err="1">
                <a:highlight>
                  <a:srgbClr val="FFFF00"/>
                </a:highlight>
                <a:latin typeface="Calibir"/>
              </a:rPr>
              <a:t>self.customer.show</a:t>
            </a:r>
            <a:r>
              <a:rPr lang="en-US" sz="1000" dirty="0">
                <a:highlight>
                  <a:srgbClr val="FFFF00"/>
                </a:highlight>
                <a:latin typeface="Calibir"/>
              </a:rPr>
              <a:t>()</a:t>
            </a:r>
          </a:p>
          <a:p>
            <a:r>
              <a:rPr lang="en-US" sz="1000" dirty="0">
                <a:highlight>
                  <a:srgbClr val="FFFF00"/>
                </a:highlight>
                <a:latin typeface="Calibir"/>
              </a:rPr>
              <a:t>            </a:t>
            </a:r>
            <a:r>
              <a:rPr lang="en-US" sz="1000" dirty="0" err="1">
                <a:highlight>
                  <a:srgbClr val="FFFF00"/>
                </a:highlight>
                <a:latin typeface="Calibir"/>
              </a:rPr>
              <a:t>elif</a:t>
            </a:r>
            <a:r>
              <a:rPr lang="en-US" sz="1000" dirty="0">
                <a:highlight>
                  <a:srgbClr val="FFFF00"/>
                </a:highlight>
                <a:latin typeface="Calibir"/>
              </a:rPr>
              <a:t> choice == "x":</a:t>
            </a:r>
          </a:p>
          <a:p>
            <a:r>
              <a:rPr lang="en-US" sz="1000" dirty="0">
                <a:highlight>
                  <a:srgbClr val="FFFF00"/>
                </a:highlight>
                <a:latin typeface="Calibir"/>
              </a:rPr>
              <a:t>                print("Done")</a:t>
            </a:r>
          </a:p>
          <a:p>
            <a:r>
              <a:rPr lang="en-US" sz="1000" dirty="0">
                <a:highlight>
                  <a:srgbClr val="FFFF00"/>
                </a:highlight>
                <a:latin typeface="Calibir"/>
              </a:rPr>
              <a:t>                break</a:t>
            </a:r>
          </a:p>
          <a:p>
            <a:r>
              <a:rPr lang="en-US" sz="1000" dirty="0">
                <a:highlight>
                  <a:srgbClr val="FFFF00"/>
                </a:highlight>
                <a:latin typeface="Calibir"/>
              </a:rPr>
              <a:t>            else:</a:t>
            </a:r>
          </a:p>
          <a:p>
            <a:r>
              <a:rPr lang="en-US" sz="1000" dirty="0">
                <a:highlight>
                  <a:srgbClr val="FFFF00"/>
                </a:highlight>
                <a:latin typeface="Calibir"/>
              </a:rPr>
              <a:t>                </a:t>
            </a:r>
            <a:r>
              <a:rPr lang="en-US" sz="1000" dirty="0" err="1">
                <a:highlight>
                  <a:srgbClr val="FFFF00"/>
                </a:highlight>
                <a:latin typeface="Calibir"/>
              </a:rPr>
              <a:t>self.help</a:t>
            </a:r>
            <a:r>
              <a:rPr lang="en-US" sz="1000" dirty="0">
                <a:highlight>
                  <a:srgbClr val="FFFF00"/>
                </a:highlight>
                <a:latin typeface="Calibir"/>
              </a:rPr>
              <a:t>()</a:t>
            </a:r>
          </a:p>
          <a:p>
            <a:r>
              <a:rPr lang="en-US" sz="1000" dirty="0">
                <a:highlight>
                  <a:srgbClr val="FFFF00"/>
                </a:highlight>
                <a:latin typeface="Calibir"/>
              </a:rPr>
              <a:t>def main():</a:t>
            </a:r>
          </a:p>
          <a:p>
            <a:r>
              <a:rPr lang="en-US" sz="1000" dirty="0">
                <a:highlight>
                  <a:srgbClr val="FFFF00"/>
                </a:highlight>
                <a:latin typeface="Calibir"/>
              </a:rPr>
              <a:t>    bank = Bank()</a:t>
            </a:r>
          </a:p>
          <a:p>
            <a:r>
              <a:rPr lang="en-US" sz="1000" dirty="0">
                <a:highlight>
                  <a:srgbClr val="FFFF00"/>
                </a:highlight>
                <a:latin typeface="Calibir"/>
              </a:rPr>
              <a:t>    </a:t>
            </a:r>
            <a:r>
              <a:rPr lang="en-US" sz="1000" dirty="0" err="1">
                <a:highlight>
                  <a:srgbClr val="FFFF00"/>
                </a:highlight>
                <a:latin typeface="Calibir"/>
              </a:rPr>
              <a:t>bank.menu</a:t>
            </a:r>
            <a:r>
              <a:rPr lang="en-US" sz="1000" dirty="0">
                <a:highlight>
                  <a:srgbClr val="FFFF00"/>
                </a:highlight>
                <a:latin typeface="Calibir"/>
              </a:rPr>
              <a:t>()</a:t>
            </a:r>
          </a:p>
          <a:p>
            <a:r>
              <a:rPr lang="en-US" sz="1000" dirty="0">
                <a:highlight>
                  <a:srgbClr val="FFFF00"/>
                </a:highlight>
                <a:latin typeface="Calibir"/>
              </a:rPr>
              <a:t>if __name__ == "__main__":</a:t>
            </a:r>
          </a:p>
          <a:p>
            <a:r>
              <a:rPr lang="en-US" sz="1000" dirty="0">
                <a:highlight>
                  <a:srgbClr val="FFFF00"/>
                </a:highlight>
                <a:latin typeface="Calibir"/>
              </a:rPr>
              <a:t>    main()</a:t>
            </a:r>
          </a:p>
        </p:txBody>
      </p:sp>
    </p:spTree>
    <p:custDataLst>
      <p:tags r:id="rId1"/>
    </p:custDataLst>
    <p:extLst>
      <p:ext uri="{BB962C8B-B14F-4D97-AF65-F5344CB8AC3E}">
        <p14:creationId xmlns:p14="http://schemas.microsoft.com/office/powerpoint/2010/main" val="340469606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6AE31-FEB6-FBCC-B683-494B452C32D6}"/>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6F2EEAB5-E674-AB87-F5ED-3FFD073B327C}"/>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3" name="TextBox 2">
            <a:extLst>
              <a:ext uri="{FF2B5EF4-FFF2-40B4-BE49-F238E27FC236}">
                <a16:creationId xmlns:a16="http://schemas.microsoft.com/office/drawing/2014/main" id="{013C4458-0972-D1CF-FA73-ED719BA6B167}"/>
              </a:ext>
            </a:extLst>
          </p:cNvPr>
          <p:cNvSpPr txBox="1"/>
          <p:nvPr/>
        </p:nvSpPr>
        <p:spPr>
          <a:xfrm>
            <a:off x="304801" y="0"/>
            <a:ext cx="6096000" cy="6555641"/>
          </a:xfrm>
          <a:prstGeom prst="rect">
            <a:avLst/>
          </a:prstGeom>
          <a:noFill/>
        </p:spPr>
        <p:txBody>
          <a:bodyPr wrap="square">
            <a:spAutoFit/>
          </a:bodyPr>
          <a:lstStyle/>
          <a:p>
            <a:pPr>
              <a:buNone/>
            </a:pPr>
            <a:r>
              <a:rPr lang="en-US" sz="1000" b="1" dirty="0">
                <a:latin typeface="Calibir"/>
              </a:rPr>
              <a:t>Completed Java </a:t>
            </a:r>
            <a:r>
              <a:rPr lang="en-US" sz="1000" b="1" dirty="0" err="1">
                <a:latin typeface="Calibir"/>
              </a:rPr>
              <a:t>DeskBankApp</a:t>
            </a:r>
            <a:endParaRPr lang="en-US" sz="1000" b="1" dirty="0">
              <a:latin typeface="Calibir"/>
            </a:endParaRPr>
          </a:p>
          <a:p>
            <a:pPr>
              <a:buNone/>
            </a:pPr>
            <a:r>
              <a:rPr lang="en-US" sz="1000" dirty="0">
                <a:highlight>
                  <a:srgbClr val="FFFF00"/>
                </a:highlight>
                <a:latin typeface="Calibir"/>
              </a:rPr>
              <a:t>For Java, I recommend three files:</a:t>
            </a:r>
          </a:p>
          <a:p>
            <a:pPr rtl="0">
              <a:buNone/>
            </a:pPr>
            <a:r>
              <a:rPr lang="en-US" sz="1000" dirty="0">
                <a:highlight>
                  <a:srgbClr val="FFFF00"/>
                </a:highlight>
                <a:latin typeface="Calibir"/>
              </a:rPr>
              <a:t>Account.java</a:t>
            </a:r>
          </a:p>
          <a:p>
            <a:pPr rtl="0">
              <a:buNone/>
            </a:pPr>
            <a:r>
              <a:rPr lang="en-US" sz="1000" dirty="0">
                <a:highlight>
                  <a:srgbClr val="FFFF00"/>
                </a:highlight>
                <a:latin typeface="Calibir"/>
              </a:rPr>
              <a:t>Customer.java</a:t>
            </a:r>
          </a:p>
          <a:p>
            <a:pPr rtl="0">
              <a:buNone/>
            </a:pPr>
            <a:r>
              <a:rPr lang="en-US" sz="1000" dirty="0">
                <a:highlight>
                  <a:srgbClr val="FFFF00"/>
                </a:highlight>
                <a:latin typeface="Calibir"/>
              </a:rPr>
              <a:t>Bank.java</a:t>
            </a:r>
          </a:p>
          <a:p>
            <a:pPr>
              <a:buNone/>
            </a:pPr>
            <a:r>
              <a:rPr lang="en-US" sz="1000" dirty="0">
                <a:highlight>
                  <a:srgbClr val="FFFF00"/>
                </a:highlight>
                <a:latin typeface="Calibir"/>
              </a:rPr>
              <a:t>Account.java</a:t>
            </a:r>
          </a:p>
          <a:p>
            <a:pPr rtl="0">
              <a:buNone/>
            </a:pPr>
            <a:r>
              <a:rPr lang="en-US" sz="1000" dirty="0">
                <a:highlight>
                  <a:srgbClr val="FFFF00"/>
                </a:highlight>
                <a:latin typeface="Calibir"/>
              </a:rPr>
              <a:t>import </a:t>
            </a:r>
            <a:r>
              <a:rPr lang="en-US" sz="1000" dirty="0" err="1">
                <a:highlight>
                  <a:srgbClr val="FFFF00"/>
                </a:highlight>
                <a:latin typeface="Calibir"/>
              </a:rPr>
              <a:t>java.util.Scanner</a:t>
            </a:r>
            <a:r>
              <a:rPr lang="en-US" sz="1000" dirty="0">
                <a:highlight>
                  <a:srgbClr val="FFFF00"/>
                </a:highlight>
                <a:latin typeface="Calibir"/>
              </a:rPr>
              <a:t>;</a:t>
            </a:r>
          </a:p>
          <a:p>
            <a:pPr rtl="0">
              <a:buNone/>
            </a:pPr>
            <a:r>
              <a:rPr lang="en-US" sz="1000" dirty="0">
                <a:highlight>
                  <a:srgbClr val="FFFF00"/>
                </a:highlight>
                <a:latin typeface="Calibir"/>
              </a:rPr>
              <a:t>public class Account {</a:t>
            </a:r>
          </a:p>
          <a:p>
            <a:pPr rtl="0">
              <a:buNone/>
            </a:pPr>
            <a:r>
              <a:rPr lang="en-US" sz="1000" dirty="0">
                <a:highlight>
                  <a:srgbClr val="FFFF00"/>
                </a:highlight>
                <a:latin typeface="Calibir"/>
              </a:rPr>
              <a:t>    private String type;</a:t>
            </a:r>
          </a:p>
          <a:p>
            <a:pPr rtl="0">
              <a:buNone/>
            </a:pPr>
            <a:r>
              <a:rPr lang="en-US" sz="1000" dirty="0">
                <a:highlight>
                  <a:srgbClr val="FFFF00"/>
                </a:highlight>
                <a:latin typeface="Calibir"/>
              </a:rPr>
              <a:t>    private double balance;</a:t>
            </a:r>
          </a:p>
          <a:p>
            <a:pPr rtl="0">
              <a:buNone/>
            </a:pPr>
            <a:r>
              <a:rPr lang="en-US" sz="1000" dirty="0">
                <a:highlight>
                  <a:srgbClr val="FFFF00"/>
                </a:highlight>
                <a:latin typeface="Calibir"/>
              </a:rPr>
              <a:t>    public Account(</a:t>
            </a:r>
          </a:p>
          <a:p>
            <a:pPr rtl="0">
              <a:buNone/>
            </a:pPr>
            <a:r>
              <a:rPr lang="en-US" sz="1000" dirty="0">
                <a:highlight>
                  <a:srgbClr val="FFFF00"/>
                </a:highlight>
                <a:latin typeface="Calibir"/>
              </a:rPr>
              <a:t>            String type,</a:t>
            </a:r>
          </a:p>
          <a:p>
            <a:pPr rtl="0">
              <a:buNone/>
            </a:pPr>
            <a:r>
              <a:rPr lang="en-US" sz="1000" dirty="0">
                <a:highlight>
                  <a:srgbClr val="FFFF00"/>
                </a:highlight>
                <a:latin typeface="Calibir"/>
              </a:rPr>
              <a:t>            Scanner input) {</a:t>
            </a:r>
          </a:p>
          <a:p>
            <a:pPr rtl="0">
              <a:buNone/>
            </a:pPr>
            <a:r>
              <a:rPr lang="en-US" sz="1000" dirty="0">
                <a:highlight>
                  <a:srgbClr val="FFFF00"/>
                </a:highlight>
                <a:latin typeface="Calibir"/>
              </a:rPr>
              <a:t>        </a:t>
            </a:r>
            <a:r>
              <a:rPr lang="en-US" sz="1000" dirty="0" err="1">
                <a:highlight>
                  <a:srgbClr val="FFFF00"/>
                </a:highlight>
                <a:latin typeface="Calibir"/>
              </a:rPr>
              <a:t>this.type</a:t>
            </a:r>
            <a:r>
              <a:rPr lang="en-US" sz="1000" dirty="0">
                <a:highlight>
                  <a:srgbClr val="FFFF00"/>
                </a:highlight>
                <a:latin typeface="Calibir"/>
              </a:rPr>
              <a:t> = type;</a:t>
            </a:r>
          </a:p>
          <a:p>
            <a:pPr rtl="0">
              <a:buNone/>
            </a:pPr>
            <a:r>
              <a:rPr lang="en-US" sz="1000" dirty="0">
                <a:highlight>
                  <a:srgbClr val="FFFF00"/>
                </a:highlight>
                <a:latin typeface="Calibir"/>
              </a:rPr>
              <a:t>        </a:t>
            </a:r>
            <a:r>
              <a:rPr lang="en-US" sz="1000" dirty="0" err="1">
                <a:highlight>
                  <a:srgbClr val="FFFF00"/>
                </a:highlight>
                <a:latin typeface="Calibir"/>
              </a:rPr>
              <a:t>this.balance</a:t>
            </a:r>
            <a:r>
              <a:rPr lang="en-US" sz="1000" dirty="0">
                <a:highlight>
                  <a:srgbClr val="FFFF00"/>
                </a:highlight>
                <a:latin typeface="Calibir"/>
              </a:rPr>
              <a:t> =</a:t>
            </a:r>
          </a:p>
          <a:p>
            <a:pPr rtl="0">
              <a:buNone/>
            </a:pPr>
            <a:r>
              <a:rPr lang="en-US" sz="1000" dirty="0">
                <a:highlight>
                  <a:srgbClr val="FFFF00"/>
                </a:highlight>
                <a:latin typeface="Calibir"/>
              </a:rPr>
              <a:t>                </a:t>
            </a:r>
            <a:r>
              <a:rPr lang="en-US" sz="1000" dirty="0" err="1">
                <a:highlight>
                  <a:srgbClr val="FFFF00"/>
                </a:highlight>
                <a:latin typeface="Calibir"/>
              </a:rPr>
              <a:t>readInitialBalance</a:t>
            </a:r>
            <a:r>
              <a:rPr lang="en-US" sz="1000" dirty="0">
                <a:highlight>
                  <a:srgbClr val="FFFF00"/>
                </a:highlight>
                <a:latin typeface="Calibir"/>
              </a:rPr>
              <a:t>(input);</a:t>
            </a:r>
          </a:p>
          <a:p>
            <a:pPr rtl="0">
              <a:buNone/>
            </a:pPr>
            <a:r>
              <a:rPr lang="en-US" sz="1000" dirty="0">
                <a:highlight>
                  <a:srgbClr val="FFFF00"/>
                </a:highlight>
                <a:latin typeface="Calibir"/>
              </a:rPr>
              <a:t>    }</a:t>
            </a:r>
          </a:p>
          <a:p>
            <a:pPr rtl="0">
              <a:buNone/>
            </a:pPr>
            <a:r>
              <a:rPr lang="en-US" sz="1000" dirty="0">
                <a:highlight>
                  <a:srgbClr val="FFFF00"/>
                </a:highlight>
                <a:latin typeface="Calibir"/>
              </a:rPr>
              <a:t>    private double </a:t>
            </a:r>
            <a:r>
              <a:rPr lang="en-US" sz="1000" dirty="0" err="1">
                <a:highlight>
                  <a:srgbClr val="FFFF00"/>
                </a:highlight>
                <a:latin typeface="Calibir"/>
              </a:rPr>
              <a:t>readInitialBalance</a:t>
            </a:r>
            <a:r>
              <a:rPr lang="en-US" sz="1000" dirty="0">
                <a:highlight>
                  <a:srgbClr val="FFFF00"/>
                </a:highlight>
                <a:latin typeface="Calibir"/>
              </a:rPr>
              <a:t>(</a:t>
            </a:r>
          </a:p>
          <a:p>
            <a:pPr rtl="0">
              <a:buNone/>
            </a:pPr>
            <a:r>
              <a:rPr lang="en-US" sz="1000" dirty="0">
                <a:highlight>
                  <a:srgbClr val="FFFF00"/>
                </a:highlight>
                <a:latin typeface="Calibir"/>
              </a:rPr>
              <a:t>            Scanner input) {</a:t>
            </a:r>
          </a:p>
          <a:p>
            <a:pPr rtl="0">
              <a:buNone/>
            </a:pPr>
            <a:r>
              <a:rPr lang="en-US" sz="1000" dirty="0">
                <a:highlight>
                  <a:srgbClr val="FFFF00"/>
                </a:highlight>
                <a:latin typeface="Calibir"/>
              </a:rPr>
              <a:t>        </a:t>
            </a:r>
            <a:r>
              <a:rPr lang="en-US" sz="1000" dirty="0" err="1">
                <a:highlight>
                  <a:srgbClr val="FFFF00"/>
                </a:highlight>
                <a:latin typeface="Calibir"/>
              </a:rPr>
              <a:t>System.out.print</a:t>
            </a:r>
            <a:r>
              <a:rPr lang="en-US" sz="1000" dirty="0">
                <a:highlight>
                  <a:srgbClr val="FFFF00"/>
                </a:highlight>
                <a:latin typeface="Calibir"/>
              </a:rPr>
              <a:t>(</a:t>
            </a:r>
          </a:p>
          <a:p>
            <a:pPr rtl="0">
              <a:buNone/>
            </a:pPr>
            <a:r>
              <a:rPr lang="en-US" sz="1000" dirty="0">
                <a:highlight>
                  <a:srgbClr val="FFFF00"/>
                </a:highlight>
                <a:latin typeface="Calibir"/>
              </a:rPr>
              <a:t>            "Initial "</a:t>
            </a:r>
          </a:p>
          <a:p>
            <a:pPr rtl="0">
              <a:buNone/>
            </a:pPr>
            <a:r>
              <a:rPr lang="en-US" sz="1000" dirty="0">
                <a:highlight>
                  <a:srgbClr val="FFFF00"/>
                </a:highlight>
                <a:latin typeface="Calibir"/>
              </a:rPr>
              <a:t>            + type</a:t>
            </a:r>
          </a:p>
          <a:p>
            <a:pPr rtl="0">
              <a:buNone/>
            </a:pPr>
            <a:r>
              <a:rPr lang="en-US" sz="1000" dirty="0">
                <a:highlight>
                  <a:srgbClr val="FFFF00"/>
                </a:highlight>
                <a:latin typeface="Calibir"/>
              </a:rPr>
              <a:t>            + " balance: $"</a:t>
            </a:r>
          </a:p>
          <a:p>
            <a:pPr rtl="0">
              <a:buNone/>
            </a:pPr>
            <a:r>
              <a:rPr lang="en-US" sz="1000" dirty="0">
                <a:highlight>
                  <a:srgbClr val="FFFF00"/>
                </a:highlight>
                <a:latin typeface="Calibir"/>
              </a:rPr>
              <a:t>        );</a:t>
            </a:r>
          </a:p>
          <a:p>
            <a:pPr rtl="0">
              <a:buNone/>
            </a:pPr>
            <a:r>
              <a:rPr lang="en-US" sz="1000" dirty="0">
                <a:highlight>
                  <a:srgbClr val="FFFF00"/>
                </a:highlight>
                <a:latin typeface="Calibir"/>
              </a:rPr>
              <a:t>        return </a:t>
            </a:r>
            <a:r>
              <a:rPr lang="en-US" sz="1000" dirty="0" err="1">
                <a:highlight>
                  <a:srgbClr val="FFFF00"/>
                </a:highlight>
                <a:latin typeface="Calibir"/>
              </a:rPr>
              <a:t>input.nextDouble</a:t>
            </a:r>
            <a:r>
              <a:rPr lang="en-US" sz="1000" dirty="0">
                <a:highlight>
                  <a:srgbClr val="FFFF00"/>
                </a:highlight>
                <a:latin typeface="Calibir"/>
              </a:rPr>
              <a:t>();</a:t>
            </a:r>
          </a:p>
          <a:p>
            <a:pPr rtl="0">
              <a:buNone/>
            </a:pPr>
            <a:r>
              <a:rPr lang="en-US" sz="1000" dirty="0">
                <a:highlight>
                  <a:srgbClr val="FFFF00"/>
                </a:highlight>
                <a:latin typeface="Calibir"/>
              </a:rPr>
              <a:t>    }</a:t>
            </a:r>
          </a:p>
          <a:p>
            <a:pPr rtl="0">
              <a:buNone/>
            </a:pPr>
            <a:r>
              <a:rPr lang="en-US" sz="1000" dirty="0">
                <a:highlight>
                  <a:srgbClr val="FFFF00"/>
                </a:highlight>
                <a:latin typeface="Calibir"/>
              </a:rPr>
              <a:t>    public void deposit(double amount) {</a:t>
            </a:r>
          </a:p>
          <a:p>
            <a:pPr rtl="0">
              <a:buNone/>
            </a:pPr>
            <a:r>
              <a:rPr lang="en-US" sz="1000" dirty="0">
                <a:highlight>
                  <a:srgbClr val="FFFF00"/>
                </a:highlight>
                <a:latin typeface="Calibir"/>
              </a:rPr>
              <a:t>        balance += amount;</a:t>
            </a:r>
          </a:p>
          <a:p>
            <a:pPr rtl="0">
              <a:buNone/>
            </a:pPr>
            <a:r>
              <a:rPr lang="en-US" sz="1000" dirty="0">
                <a:highlight>
                  <a:srgbClr val="FFFF00"/>
                </a:highlight>
                <a:latin typeface="Calibir"/>
              </a:rPr>
              <a:t>    }</a:t>
            </a:r>
          </a:p>
          <a:p>
            <a:pPr rtl="0">
              <a:buNone/>
            </a:pPr>
            <a:r>
              <a:rPr lang="en-US" sz="1000" dirty="0">
                <a:highlight>
                  <a:srgbClr val="FFFF00"/>
                </a:highlight>
                <a:latin typeface="Calibir"/>
              </a:rPr>
              <a:t>    public </a:t>
            </a:r>
            <a:r>
              <a:rPr lang="en-US" sz="1000" dirty="0" err="1">
                <a:highlight>
                  <a:srgbClr val="FFFF00"/>
                </a:highlight>
                <a:latin typeface="Calibir"/>
              </a:rPr>
              <a:t>boolean</a:t>
            </a:r>
            <a:r>
              <a:rPr lang="en-US" sz="1000" dirty="0">
                <a:highlight>
                  <a:srgbClr val="FFFF00"/>
                </a:highlight>
                <a:latin typeface="Calibir"/>
              </a:rPr>
              <a:t> has(double amount) {</a:t>
            </a:r>
          </a:p>
          <a:p>
            <a:pPr rtl="0">
              <a:buNone/>
            </a:pPr>
            <a:r>
              <a:rPr lang="en-US" sz="1000" dirty="0">
                <a:highlight>
                  <a:srgbClr val="FFFF00"/>
                </a:highlight>
                <a:latin typeface="Calibir"/>
              </a:rPr>
              <a:t>        return balance &gt;= amount;</a:t>
            </a:r>
          </a:p>
          <a:p>
            <a:pPr rtl="0">
              <a:buNone/>
            </a:pPr>
            <a:r>
              <a:rPr lang="en-US" sz="1000" dirty="0">
                <a:highlight>
                  <a:srgbClr val="FFFF00"/>
                </a:highlight>
                <a:latin typeface="Calibir"/>
              </a:rPr>
              <a:t>    }</a:t>
            </a:r>
          </a:p>
          <a:p>
            <a:pPr rtl="0">
              <a:buNone/>
            </a:pPr>
            <a:r>
              <a:rPr lang="en-US" sz="1000" dirty="0">
                <a:highlight>
                  <a:srgbClr val="FFFF00"/>
                </a:highlight>
                <a:latin typeface="Calibir"/>
              </a:rPr>
              <a:t>    public void withdraw(double amount) {</a:t>
            </a:r>
          </a:p>
          <a:p>
            <a:pPr rtl="0">
              <a:buNone/>
            </a:pPr>
            <a:r>
              <a:rPr lang="en-US" sz="1000" dirty="0">
                <a:highlight>
                  <a:srgbClr val="FFFF00"/>
                </a:highlight>
                <a:latin typeface="Calibir"/>
              </a:rPr>
              <a:t>        if (!has(amount)) {</a:t>
            </a:r>
          </a:p>
          <a:p>
            <a:pPr rtl="0">
              <a:buNone/>
            </a:pPr>
            <a:r>
              <a:rPr lang="en-US" sz="1000" dirty="0">
                <a:highlight>
                  <a:srgbClr val="FFFF00"/>
                </a:highlight>
                <a:latin typeface="Calibir"/>
              </a:rPr>
              <a:t>            throw new </a:t>
            </a:r>
            <a:r>
              <a:rPr lang="en-US" sz="1000" dirty="0" err="1">
                <a:highlight>
                  <a:srgbClr val="FFFF00"/>
                </a:highlight>
                <a:latin typeface="Calibir"/>
              </a:rPr>
              <a:t>IllegalArgumentException</a:t>
            </a:r>
            <a:r>
              <a:rPr lang="en-US" sz="1000" dirty="0">
                <a:highlight>
                  <a:srgbClr val="FFFF00"/>
                </a:highlight>
                <a:latin typeface="Calibir"/>
              </a:rPr>
              <a:t>(</a:t>
            </a:r>
          </a:p>
          <a:p>
            <a:pPr rtl="0">
              <a:buNone/>
            </a:pPr>
            <a:r>
              <a:rPr lang="en-US" sz="1000" dirty="0">
                <a:highlight>
                  <a:srgbClr val="FFFF00"/>
                </a:highlight>
                <a:latin typeface="Calibir"/>
              </a:rPr>
              <a:t>                "Insufficient funds"</a:t>
            </a:r>
          </a:p>
          <a:p>
            <a:pPr rtl="0">
              <a:buNone/>
            </a:pPr>
            <a:r>
              <a:rPr lang="en-US" sz="1000" dirty="0">
                <a:highlight>
                  <a:srgbClr val="FFFF00"/>
                </a:highlight>
                <a:latin typeface="Calibir"/>
              </a:rPr>
              <a:t>            );</a:t>
            </a:r>
          </a:p>
          <a:p>
            <a:pPr rtl="0">
              <a:buNone/>
            </a:pPr>
            <a:r>
              <a:rPr lang="en-US" sz="1000" dirty="0">
                <a:highlight>
                  <a:srgbClr val="FFFF00"/>
                </a:highlight>
                <a:latin typeface="Calibir"/>
              </a:rPr>
              <a:t>        }</a:t>
            </a:r>
          </a:p>
          <a:p>
            <a:pPr rtl="0">
              <a:buNone/>
            </a:pPr>
            <a:endParaRPr lang="en-US" sz="1000" dirty="0">
              <a:highlight>
                <a:srgbClr val="FFFF00"/>
              </a:highlight>
              <a:latin typeface="Calibir"/>
            </a:endParaRPr>
          </a:p>
          <a:p>
            <a:pPr rtl="0">
              <a:buNone/>
            </a:pPr>
            <a:r>
              <a:rPr lang="en-US" sz="1000" dirty="0">
                <a:highlight>
                  <a:srgbClr val="FFFF00"/>
                </a:highlight>
                <a:latin typeface="Calibir"/>
              </a:rPr>
              <a:t>        balance -= amount;</a:t>
            </a:r>
          </a:p>
          <a:p>
            <a:pPr rtl="0">
              <a:buNone/>
            </a:pPr>
            <a:r>
              <a:rPr lang="en-US" sz="1000" dirty="0">
                <a:highlight>
                  <a:srgbClr val="FFFF00"/>
                </a:highlight>
                <a:latin typeface="Calibir"/>
              </a:rPr>
              <a:t>    }</a:t>
            </a:r>
          </a:p>
          <a:p>
            <a:pPr rtl="0">
              <a:buNone/>
            </a:pPr>
            <a:endParaRPr lang="en-US" sz="1000" dirty="0">
              <a:latin typeface="Calibir"/>
            </a:endParaRPr>
          </a:p>
        </p:txBody>
      </p:sp>
    </p:spTree>
    <p:custDataLst>
      <p:tags r:id="rId1"/>
    </p:custDataLst>
    <p:extLst>
      <p:ext uri="{BB962C8B-B14F-4D97-AF65-F5344CB8AC3E}">
        <p14:creationId xmlns:p14="http://schemas.microsoft.com/office/powerpoint/2010/main" val="398243502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66BFD-994C-172F-2AC6-4605BFCCDDFB}"/>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4F03E066-B5CE-A847-0AB0-7E71018E8EEB}"/>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3" name="TextBox 2">
            <a:extLst>
              <a:ext uri="{FF2B5EF4-FFF2-40B4-BE49-F238E27FC236}">
                <a16:creationId xmlns:a16="http://schemas.microsoft.com/office/drawing/2014/main" id="{DEA644AC-0178-B264-1F93-6CF378089DBF}"/>
              </a:ext>
            </a:extLst>
          </p:cNvPr>
          <p:cNvSpPr txBox="1"/>
          <p:nvPr/>
        </p:nvSpPr>
        <p:spPr>
          <a:xfrm>
            <a:off x="304801" y="-58992"/>
            <a:ext cx="6096000" cy="7171194"/>
          </a:xfrm>
          <a:prstGeom prst="rect">
            <a:avLst/>
          </a:prstGeom>
          <a:noFill/>
        </p:spPr>
        <p:txBody>
          <a:bodyPr wrap="square">
            <a:spAutoFit/>
          </a:bodyPr>
          <a:lstStyle/>
          <a:p>
            <a:r>
              <a:rPr lang="en-US" sz="1000" dirty="0">
                <a:highlight>
                  <a:srgbClr val="FFFF00"/>
                </a:highlight>
                <a:latin typeface="Calibir"/>
              </a:rPr>
              <a:t> public void </a:t>
            </a:r>
            <a:r>
              <a:rPr lang="en-US" sz="1000" dirty="0" err="1">
                <a:highlight>
                  <a:srgbClr val="FFFF00"/>
                </a:highlight>
                <a:latin typeface="Calibir"/>
              </a:rPr>
              <a:t>transferToLoan</a:t>
            </a:r>
            <a:r>
              <a:rPr lang="en-US" sz="1000" dirty="0">
                <a:highlight>
                  <a:srgbClr val="FFFF00"/>
                </a:highlight>
                <a:latin typeface="Calibir"/>
              </a:rPr>
              <a:t>(</a:t>
            </a:r>
          </a:p>
          <a:p>
            <a:r>
              <a:rPr lang="en-US" sz="1000" dirty="0">
                <a:highlight>
                  <a:srgbClr val="FFFF00"/>
                </a:highlight>
                <a:latin typeface="Calibir"/>
              </a:rPr>
              <a:t>            double amount,</a:t>
            </a:r>
          </a:p>
          <a:p>
            <a:r>
              <a:rPr lang="en-US" sz="1000" dirty="0">
                <a:highlight>
                  <a:srgbClr val="FFFF00"/>
                </a:highlight>
                <a:latin typeface="Calibir"/>
              </a:rPr>
              <a:t>            Account </a:t>
            </a:r>
            <a:r>
              <a:rPr lang="en-US" sz="1000" dirty="0" err="1">
                <a:highlight>
                  <a:srgbClr val="FFFF00"/>
                </a:highlight>
                <a:latin typeface="Calibir"/>
              </a:rPr>
              <a:t>loanAccount</a:t>
            </a:r>
            <a:r>
              <a:rPr lang="en-US" sz="1000" dirty="0">
                <a:highlight>
                  <a:srgbClr val="FFFF00"/>
                </a:highlight>
                <a:latin typeface="Calibir"/>
              </a:rPr>
              <a:t>) {</a:t>
            </a:r>
          </a:p>
          <a:p>
            <a:r>
              <a:rPr lang="en-US" sz="1000" dirty="0">
                <a:highlight>
                  <a:srgbClr val="FFFF00"/>
                </a:highlight>
                <a:latin typeface="Calibir"/>
              </a:rPr>
              <a:t>        if (!has(amount)) {</a:t>
            </a:r>
          </a:p>
          <a:p>
            <a:r>
              <a:rPr lang="en-US" sz="1000" dirty="0">
                <a:highlight>
                  <a:srgbClr val="FFFF00"/>
                </a:highlight>
                <a:latin typeface="Calibir"/>
              </a:rPr>
              <a:t>            throw new </a:t>
            </a:r>
            <a:r>
              <a:rPr lang="en-US" sz="1000" dirty="0" err="1">
                <a:highlight>
                  <a:srgbClr val="FFFF00"/>
                </a:highlight>
                <a:latin typeface="Calibir"/>
              </a:rPr>
              <a:t>IllegalArgumentException</a:t>
            </a:r>
            <a:r>
              <a:rPr lang="en-US" sz="1000" dirty="0">
                <a:highlight>
                  <a:srgbClr val="FFFF00"/>
                </a:highlight>
                <a:latin typeface="Calibir"/>
              </a:rPr>
              <a:t>(</a:t>
            </a:r>
          </a:p>
          <a:p>
            <a:r>
              <a:rPr lang="en-US" sz="1000" dirty="0">
                <a:highlight>
                  <a:srgbClr val="FFFF00"/>
                </a:highlight>
                <a:latin typeface="Calibir"/>
              </a:rPr>
              <a:t>                "Insufficient funds"</a:t>
            </a:r>
          </a:p>
          <a:p>
            <a:r>
              <a:rPr lang="en-US" sz="1000" dirty="0">
                <a:highlight>
                  <a:srgbClr val="FFFF00"/>
                </a:highlight>
                <a:latin typeface="Calibir"/>
              </a:rPr>
              <a:t>            );</a:t>
            </a:r>
          </a:p>
          <a:p>
            <a:r>
              <a:rPr lang="en-US" sz="1000" dirty="0">
                <a:highlight>
                  <a:srgbClr val="FFFF00"/>
                </a:highlight>
                <a:latin typeface="Calibir"/>
              </a:rPr>
              <a:t>        }</a:t>
            </a:r>
          </a:p>
          <a:p>
            <a:r>
              <a:rPr lang="en-US" sz="1000" dirty="0">
                <a:highlight>
                  <a:srgbClr val="FFFF00"/>
                </a:highlight>
                <a:latin typeface="Calibir"/>
              </a:rPr>
              <a:t>        if (!</a:t>
            </a:r>
            <a:r>
              <a:rPr lang="en-US" sz="1000" dirty="0" err="1">
                <a:highlight>
                  <a:srgbClr val="FFFF00"/>
                </a:highlight>
                <a:latin typeface="Calibir"/>
              </a:rPr>
              <a:t>loanAccount.has</a:t>
            </a:r>
            <a:r>
              <a:rPr lang="en-US" sz="1000" dirty="0">
                <a:highlight>
                  <a:srgbClr val="FFFF00"/>
                </a:highlight>
                <a:latin typeface="Calibir"/>
              </a:rPr>
              <a:t>(amount)) {</a:t>
            </a:r>
          </a:p>
          <a:p>
            <a:r>
              <a:rPr lang="en-US" sz="1000" dirty="0">
                <a:highlight>
                  <a:srgbClr val="FFFF00"/>
                </a:highlight>
                <a:latin typeface="Calibir"/>
              </a:rPr>
              <a:t>            throw new </a:t>
            </a:r>
            <a:r>
              <a:rPr lang="en-US" sz="1000" dirty="0" err="1">
                <a:highlight>
                  <a:srgbClr val="FFFF00"/>
                </a:highlight>
                <a:latin typeface="Calibir"/>
              </a:rPr>
              <a:t>IllegalArgumentException</a:t>
            </a:r>
            <a:r>
              <a:rPr lang="en-US" sz="1000" dirty="0">
                <a:highlight>
                  <a:srgbClr val="FFFF00"/>
                </a:highlight>
                <a:latin typeface="Calibir"/>
              </a:rPr>
              <a:t>(</a:t>
            </a:r>
          </a:p>
          <a:p>
            <a:r>
              <a:rPr lang="en-US" sz="1000" dirty="0">
                <a:highlight>
                  <a:srgbClr val="FFFF00"/>
                </a:highlight>
                <a:latin typeface="Calibir"/>
              </a:rPr>
              <a:t>                "Transfer exceeds loan balance"</a:t>
            </a:r>
          </a:p>
          <a:p>
            <a:r>
              <a:rPr lang="en-US" sz="1000" dirty="0">
                <a:highlight>
                  <a:srgbClr val="FFFF00"/>
                </a:highlight>
                <a:latin typeface="Calibir"/>
              </a:rPr>
              <a:t>            );</a:t>
            </a:r>
          </a:p>
          <a:p>
            <a:r>
              <a:rPr lang="en-US" sz="1000" dirty="0">
                <a:highlight>
                  <a:srgbClr val="FFFF00"/>
                </a:highlight>
                <a:latin typeface="Calibir"/>
              </a:rPr>
              <a:t>        }</a:t>
            </a:r>
          </a:p>
          <a:p>
            <a:r>
              <a:rPr lang="en-US" sz="1000" dirty="0">
                <a:highlight>
                  <a:srgbClr val="FFFF00"/>
                </a:highlight>
                <a:latin typeface="Calibir"/>
              </a:rPr>
              <a:t>        withdraw(amount);</a:t>
            </a:r>
          </a:p>
          <a:p>
            <a:r>
              <a:rPr lang="en-US" sz="1000" dirty="0">
                <a:highlight>
                  <a:srgbClr val="FFFF00"/>
                </a:highlight>
                <a:latin typeface="Calibir"/>
              </a:rPr>
              <a:t>        </a:t>
            </a:r>
            <a:r>
              <a:rPr lang="en-US" sz="1000" dirty="0" err="1">
                <a:highlight>
                  <a:srgbClr val="FFFF00"/>
                </a:highlight>
                <a:latin typeface="Calibir"/>
              </a:rPr>
              <a:t>loanAccount.withdraw</a:t>
            </a:r>
            <a:r>
              <a:rPr lang="en-US" sz="1000" dirty="0">
                <a:highlight>
                  <a:srgbClr val="FFFF00"/>
                </a:highlight>
                <a:latin typeface="Calibir"/>
              </a:rPr>
              <a:t>(amount);</a:t>
            </a:r>
          </a:p>
          <a:p>
            <a:r>
              <a:rPr lang="en-US" sz="1000" dirty="0">
                <a:highlight>
                  <a:srgbClr val="FFFF00"/>
                </a:highlight>
                <a:latin typeface="Calibir"/>
              </a:rPr>
              <a:t>    }</a:t>
            </a:r>
          </a:p>
          <a:p>
            <a:r>
              <a:rPr lang="en-US" sz="1000" dirty="0">
                <a:highlight>
                  <a:srgbClr val="FFFF00"/>
                </a:highlight>
                <a:latin typeface="Calibir"/>
              </a:rPr>
              <a:t>    @Override</a:t>
            </a:r>
          </a:p>
          <a:p>
            <a:r>
              <a:rPr lang="en-US" sz="1000" dirty="0">
                <a:highlight>
                  <a:srgbClr val="FFFF00"/>
                </a:highlight>
                <a:latin typeface="Calibir"/>
              </a:rPr>
              <a:t>    public String </a:t>
            </a:r>
            <a:r>
              <a:rPr lang="en-US" sz="1000" dirty="0" err="1">
                <a:highlight>
                  <a:srgbClr val="FFFF00"/>
                </a:highlight>
                <a:latin typeface="Calibir"/>
              </a:rPr>
              <a:t>toString</a:t>
            </a:r>
            <a:r>
              <a:rPr lang="en-US" sz="1000" dirty="0">
                <a:highlight>
                  <a:srgbClr val="FFFF00"/>
                </a:highlight>
                <a:latin typeface="Calibir"/>
              </a:rPr>
              <a:t>() {</a:t>
            </a:r>
          </a:p>
          <a:p>
            <a:r>
              <a:rPr lang="en-US" sz="1000" dirty="0">
                <a:highlight>
                  <a:srgbClr val="FFFF00"/>
                </a:highlight>
                <a:latin typeface="Calibir"/>
              </a:rPr>
              <a:t>        return </a:t>
            </a:r>
            <a:r>
              <a:rPr lang="en-US" sz="1000" dirty="0" err="1">
                <a:highlight>
                  <a:srgbClr val="FFFF00"/>
                </a:highlight>
                <a:latin typeface="Calibir"/>
              </a:rPr>
              <a:t>String.format</a:t>
            </a:r>
            <a:r>
              <a:rPr lang="en-US" sz="1000" dirty="0">
                <a:highlight>
                  <a:srgbClr val="FFFF00"/>
                </a:highlight>
                <a:latin typeface="Calibir"/>
              </a:rPr>
              <a:t>(</a:t>
            </a:r>
          </a:p>
          <a:p>
            <a:r>
              <a:rPr lang="en-US" sz="1000" dirty="0">
                <a:highlight>
                  <a:srgbClr val="FFFF00"/>
                </a:highlight>
                <a:latin typeface="Calibir"/>
              </a:rPr>
              <a:t>            "%s account has $%,.2f",</a:t>
            </a:r>
          </a:p>
          <a:p>
            <a:r>
              <a:rPr lang="en-US" sz="1000" dirty="0">
                <a:highlight>
                  <a:srgbClr val="FFFF00"/>
                </a:highlight>
                <a:latin typeface="Calibir"/>
              </a:rPr>
              <a:t>            type,</a:t>
            </a:r>
          </a:p>
          <a:p>
            <a:r>
              <a:rPr lang="en-US" sz="1000" dirty="0">
                <a:highlight>
                  <a:srgbClr val="FFFF00"/>
                </a:highlight>
                <a:latin typeface="Calibir"/>
              </a:rPr>
              <a:t>            balance</a:t>
            </a:r>
          </a:p>
          <a:p>
            <a:r>
              <a:rPr lang="en-US" sz="1000" dirty="0">
                <a:highlight>
                  <a:srgbClr val="FFFF00"/>
                </a:highlight>
                <a:latin typeface="Calibir"/>
              </a:rPr>
              <a:t>        );</a:t>
            </a:r>
          </a:p>
          <a:p>
            <a:r>
              <a:rPr lang="en-US" sz="1000" dirty="0">
                <a:highlight>
                  <a:srgbClr val="FFFF00"/>
                </a:highlight>
                <a:latin typeface="Calibir"/>
              </a:rPr>
              <a:t>    }</a:t>
            </a:r>
          </a:p>
          <a:p>
            <a:r>
              <a:rPr lang="en-US" sz="1000" dirty="0">
                <a:latin typeface="Calibir"/>
              </a:rPr>
              <a:t>}</a:t>
            </a:r>
          </a:p>
          <a:p>
            <a:pPr>
              <a:buNone/>
            </a:pPr>
            <a:r>
              <a:rPr lang="en-US" sz="1000" b="1" dirty="0">
                <a:latin typeface="Calibir"/>
              </a:rPr>
              <a:t>Customer.java</a:t>
            </a:r>
          </a:p>
          <a:p>
            <a:r>
              <a:rPr lang="en-US" sz="1000" dirty="0">
                <a:highlight>
                  <a:srgbClr val="FFFF00"/>
                </a:highlight>
                <a:latin typeface="Calibir"/>
              </a:rPr>
              <a:t>import </a:t>
            </a:r>
            <a:r>
              <a:rPr lang="en-US" sz="1000" dirty="0" err="1">
                <a:highlight>
                  <a:srgbClr val="FFFF00"/>
                </a:highlight>
                <a:latin typeface="Calibir"/>
              </a:rPr>
              <a:t>java.util.Scanner</a:t>
            </a:r>
            <a:r>
              <a:rPr lang="en-US" sz="1000" dirty="0">
                <a:highlight>
                  <a:srgbClr val="FFFF00"/>
                </a:highlight>
                <a:latin typeface="Calibir"/>
              </a:rPr>
              <a:t>;</a:t>
            </a:r>
          </a:p>
          <a:p>
            <a:r>
              <a:rPr lang="en-US" sz="1000" dirty="0">
                <a:highlight>
                  <a:srgbClr val="FFFF00"/>
                </a:highlight>
                <a:latin typeface="Calibir"/>
              </a:rPr>
              <a:t>public class Customer {</a:t>
            </a:r>
          </a:p>
          <a:p>
            <a:r>
              <a:rPr lang="en-US" sz="1000" dirty="0">
                <a:highlight>
                  <a:srgbClr val="FFFF00"/>
                </a:highlight>
                <a:latin typeface="Calibir"/>
              </a:rPr>
              <a:t>    private String name;</a:t>
            </a:r>
          </a:p>
          <a:p>
            <a:r>
              <a:rPr lang="en-US" sz="1000" dirty="0">
                <a:highlight>
                  <a:srgbClr val="FFFF00"/>
                </a:highlight>
                <a:latin typeface="Calibir"/>
              </a:rPr>
              <a:t>    private Account savings;</a:t>
            </a:r>
          </a:p>
          <a:p>
            <a:r>
              <a:rPr lang="en-US" sz="1000" dirty="0">
                <a:highlight>
                  <a:srgbClr val="FFFF00"/>
                </a:highlight>
                <a:latin typeface="Calibir"/>
              </a:rPr>
              <a:t>    private Account loan;</a:t>
            </a:r>
          </a:p>
          <a:p>
            <a:r>
              <a:rPr lang="en-US" sz="1000" dirty="0">
                <a:highlight>
                  <a:srgbClr val="FFFF00"/>
                </a:highlight>
                <a:latin typeface="Calibir"/>
              </a:rPr>
              <a:t>    public Customer(</a:t>
            </a:r>
          </a:p>
          <a:p>
            <a:r>
              <a:rPr lang="en-US" sz="1000" dirty="0">
                <a:highlight>
                  <a:srgbClr val="FFFF00"/>
                </a:highlight>
                <a:latin typeface="Calibir"/>
              </a:rPr>
              <a:t>            String name,</a:t>
            </a:r>
          </a:p>
          <a:p>
            <a:r>
              <a:rPr lang="en-US" sz="1000" dirty="0">
                <a:highlight>
                  <a:srgbClr val="FFFF00"/>
                </a:highlight>
                <a:latin typeface="Calibir"/>
              </a:rPr>
              <a:t>            Scanner input) {</a:t>
            </a:r>
          </a:p>
          <a:p>
            <a:r>
              <a:rPr lang="en-US" sz="1000" dirty="0">
                <a:highlight>
                  <a:srgbClr val="FFFF00"/>
                </a:highlight>
                <a:latin typeface="Calibir"/>
              </a:rPr>
              <a:t>        this.name = name;</a:t>
            </a:r>
          </a:p>
          <a:p>
            <a:r>
              <a:rPr lang="en-US" sz="1000" dirty="0">
                <a:highlight>
                  <a:srgbClr val="FFFF00"/>
                </a:highlight>
                <a:latin typeface="Calibir"/>
              </a:rPr>
              <a:t>        savings =</a:t>
            </a:r>
          </a:p>
          <a:p>
            <a:r>
              <a:rPr lang="en-US" sz="1000" dirty="0">
                <a:highlight>
                  <a:srgbClr val="FFFF00"/>
                </a:highlight>
                <a:latin typeface="Calibir"/>
              </a:rPr>
              <a:t>                new Account(</a:t>
            </a:r>
          </a:p>
          <a:p>
            <a:r>
              <a:rPr lang="en-US" sz="1000" dirty="0">
                <a:highlight>
                  <a:srgbClr val="FFFF00"/>
                </a:highlight>
                <a:latin typeface="Calibir"/>
              </a:rPr>
              <a:t>                    "Savings",</a:t>
            </a:r>
          </a:p>
          <a:p>
            <a:r>
              <a:rPr lang="en-US" sz="1000" dirty="0">
                <a:highlight>
                  <a:srgbClr val="FFFF00"/>
                </a:highlight>
                <a:latin typeface="Calibir"/>
              </a:rPr>
              <a:t>                    input</a:t>
            </a:r>
          </a:p>
          <a:p>
            <a:r>
              <a:rPr lang="en-US" sz="1000" dirty="0">
                <a:highlight>
                  <a:srgbClr val="FFFF00"/>
                </a:highlight>
                <a:latin typeface="Calibir"/>
              </a:rPr>
              <a:t>                );</a:t>
            </a:r>
          </a:p>
          <a:p>
            <a:r>
              <a:rPr lang="en-US" sz="1000" dirty="0">
                <a:highlight>
                  <a:srgbClr val="FFFF00"/>
                </a:highlight>
                <a:latin typeface="Calibir"/>
              </a:rPr>
              <a:t>        loan =</a:t>
            </a:r>
          </a:p>
          <a:p>
            <a:r>
              <a:rPr lang="en-US" sz="1000" dirty="0">
                <a:highlight>
                  <a:srgbClr val="FFFF00"/>
                </a:highlight>
                <a:latin typeface="Calibir"/>
              </a:rPr>
              <a:t>                new Account(</a:t>
            </a:r>
          </a:p>
          <a:p>
            <a:r>
              <a:rPr lang="en-US" sz="1000" dirty="0">
                <a:highlight>
                  <a:srgbClr val="FFFF00"/>
                </a:highlight>
                <a:latin typeface="Calibir"/>
              </a:rPr>
              <a:t>                    "Loan",</a:t>
            </a:r>
          </a:p>
          <a:p>
            <a:r>
              <a:rPr lang="en-US" sz="1000" dirty="0">
                <a:highlight>
                  <a:srgbClr val="FFFF00"/>
                </a:highlight>
                <a:latin typeface="Calibir"/>
              </a:rPr>
              <a:t>                    input</a:t>
            </a:r>
          </a:p>
          <a:p>
            <a:r>
              <a:rPr lang="en-US" sz="1000" dirty="0">
                <a:highlight>
                  <a:srgbClr val="FFFF00"/>
                </a:highlight>
                <a:latin typeface="Calibir"/>
              </a:rPr>
              <a:t>                );</a:t>
            </a:r>
          </a:p>
          <a:p>
            <a:r>
              <a:rPr lang="en-US" sz="1000" dirty="0">
                <a:highlight>
                  <a:srgbClr val="FFFF00"/>
                </a:highlight>
                <a:latin typeface="Calibir"/>
              </a:rPr>
              <a:t>    }</a:t>
            </a:r>
          </a:p>
        </p:txBody>
      </p:sp>
    </p:spTree>
    <p:custDataLst>
      <p:tags r:id="rId1"/>
    </p:custDataLst>
    <p:extLst>
      <p:ext uri="{BB962C8B-B14F-4D97-AF65-F5344CB8AC3E}">
        <p14:creationId xmlns:p14="http://schemas.microsoft.com/office/powerpoint/2010/main" val="365478934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79C12-B22E-EEB3-A62A-159643C47814}"/>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DD47C797-DAA5-627B-C060-F24656FE9AD6}"/>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3" name="TextBox 2">
            <a:extLst>
              <a:ext uri="{FF2B5EF4-FFF2-40B4-BE49-F238E27FC236}">
                <a16:creationId xmlns:a16="http://schemas.microsoft.com/office/drawing/2014/main" id="{22CA1626-517E-523B-B940-E2103B6301BF}"/>
              </a:ext>
            </a:extLst>
          </p:cNvPr>
          <p:cNvSpPr txBox="1"/>
          <p:nvPr/>
        </p:nvSpPr>
        <p:spPr>
          <a:xfrm>
            <a:off x="304801" y="-58992"/>
            <a:ext cx="6096000" cy="6863417"/>
          </a:xfrm>
          <a:prstGeom prst="rect">
            <a:avLst/>
          </a:prstGeom>
          <a:noFill/>
        </p:spPr>
        <p:txBody>
          <a:bodyPr wrap="square">
            <a:spAutoFit/>
          </a:bodyPr>
          <a:lstStyle/>
          <a:p>
            <a:r>
              <a:rPr lang="en-US" sz="1000" dirty="0">
                <a:highlight>
                  <a:srgbClr val="FFFF00"/>
                </a:highlight>
                <a:latin typeface="Calibir"/>
              </a:rPr>
              <a:t>    private double </a:t>
            </a:r>
            <a:r>
              <a:rPr lang="en-US" sz="1000" dirty="0" err="1">
                <a:highlight>
                  <a:srgbClr val="FFFF00"/>
                </a:highlight>
                <a:latin typeface="Calibir"/>
              </a:rPr>
              <a:t>readAmount</a:t>
            </a:r>
            <a:r>
              <a:rPr lang="en-US" sz="1000" dirty="0">
                <a:highlight>
                  <a:srgbClr val="FFFF00"/>
                </a:highlight>
                <a:latin typeface="Calibir"/>
              </a:rPr>
              <a:t>(</a:t>
            </a:r>
          </a:p>
          <a:p>
            <a:r>
              <a:rPr lang="en-US" sz="1000" dirty="0">
                <a:highlight>
                  <a:srgbClr val="FFFF00"/>
                </a:highlight>
                <a:latin typeface="Calibir"/>
              </a:rPr>
              <a:t>            Scanner input,</a:t>
            </a:r>
          </a:p>
          <a:p>
            <a:r>
              <a:rPr lang="en-US" sz="1000" dirty="0">
                <a:highlight>
                  <a:srgbClr val="FFFF00"/>
                </a:highlight>
                <a:latin typeface="Calibir"/>
              </a:rPr>
              <a:t>            String message) {</a:t>
            </a:r>
          </a:p>
          <a:p>
            <a:r>
              <a:rPr lang="en-US" sz="1000" dirty="0">
                <a:highlight>
                  <a:srgbClr val="FFFF00"/>
                </a:highlight>
                <a:latin typeface="Calibir"/>
              </a:rPr>
              <a:t>        </a:t>
            </a:r>
            <a:r>
              <a:rPr lang="en-US" sz="1000" dirty="0" err="1">
                <a:highlight>
                  <a:srgbClr val="FFFF00"/>
                </a:highlight>
                <a:latin typeface="Calibir"/>
              </a:rPr>
              <a:t>System.out.print</a:t>
            </a:r>
            <a:r>
              <a:rPr lang="en-US" sz="1000" dirty="0">
                <a:highlight>
                  <a:srgbClr val="FFFF00"/>
                </a:highlight>
                <a:latin typeface="Calibir"/>
              </a:rPr>
              <a:t>(message);</a:t>
            </a:r>
          </a:p>
          <a:p>
            <a:r>
              <a:rPr lang="en-US" sz="1000" dirty="0">
                <a:highlight>
                  <a:srgbClr val="FFFF00"/>
                </a:highlight>
                <a:latin typeface="Calibir"/>
              </a:rPr>
              <a:t>        return </a:t>
            </a:r>
            <a:r>
              <a:rPr lang="en-US" sz="1000" dirty="0" err="1">
                <a:highlight>
                  <a:srgbClr val="FFFF00"/>
                </a:highlight>
                <a:latin typeface="Calibir"/>
              </a:rPr>
              <a:t>input.nextDouble</a:t>
            </a:r>
            <a:r>
              <a:rPr lang="en-US" sz="1000" dirty="0">
                <a:highlight>
                  <a:srgbClr val="FFFF00"/>
                </a:highlight>
                <a:latin typeface="Calibir"/>
              </a:rPr>
              <a:t>();</a:t>
            </a:r>
          </a:p>
          <a:p>
            <a:r>
              <a:rPr lang="en-US" sz="1000" dirty="0">
                <a:highlight>
                  <a:srgbClr val="FFFF00"/>
                </a:highlight>
                <a:latin typeface="Calibir"/>
              </a:rPr>
              <a:t>    }</a:t>
            </a:r>
          </a:p>
          <a:p>
            <a:r>
              <a:rPr lang="en-US" sz="1000" dirty="0">
                <a:highlight>
                  <a:srgbClr val="FFFF00"/>
                </a:highlight>
                <a:latin typeface="Calibir"/>
              </a:rPr>
              <a:t>    public void deposit(</a:t>
            </a:r>
          </a:p>
          <a:p>
            <a:r>
              <a:rPr lang="en-US" sz="1000" dirty="0">
                <a:highlight>
                  <a:srgbClr val="FFFF00"/>
                </a:highlight>
                <a:latin typeface="Calibir"/>
              </a:rPr>
              <a:t>            Scanner input) {</a:t>
            </a:r>
          </a:p>
          <a:p>
            <a:r>
              <a:rPr lang="en-US" sz="1000" dirty="0">
                <a:highlight>
                  <a:srgbClr val="FFFF00"/>
                </a:highlight>
                <a:latin typeface="Calibir"/>
              </a:rPr>
              <a:t>        double amount =</a:t>
            </a:r>
          </a:p>
          <a:p>
            <a:r>
              <a:rPr lang="en-US" sz="1000" dirty="0">
                <a:highlight>
                  <a:srgbClr val="FFFF00"/>
                </a:highlight>
                <a:latin typeface="Calibir"/>
              </a:rPr>
              <a:t>                </a:t>
            </a:r>
            <a:r>
              <a:rPr lang="en-US" sz="1000" dirty="0" err="1">
                <a:highlight>
                  <a:srgbClr val="FFFF00"/>
                </a:highlight>
                <a:latin typeface="Calibir"/>
              </a:rPr>
              <a:t>readAmount</a:t>
            </a:r>
            <a:r>
              <a:rPr lang="en-US" sz="1000" dirty="0">
                <a:highlight>
                  <a:srgbClr val="FFFF00"/>
                </a:highlight>
                <a:latin typeface="Calibir"/>
              </a:rPr>
              <a:t>(</a:t>
            </a:r>
          </a:p>
          <a:p>
            <a:r>
              <a:rPr lang="en-US" sz="1000" dirty="0">
                <a:highlight>
                  <a:srgbClr val="FFFF00"/>
                </a:highlight>
                <a:latin typeface="Calibir"/>
              </a:rPr>
              <a:t>                    input,</a:t>
            </a:r>
          </a:p>
          <a:p>
            <a:r>
              <a:rPr lang="en-US" sz="1000" dirty="0">
                <a:highlight>
                  <a:srgbClr val="FFFF00"/>
                </a:highlight>
                <a:latin typeface="Calibir"/>
              </a:rPr>
              <a:t>                    "Amount to deposit: $"</a:t>
            </a:r>
          </a:p>
          <a:p>
            <a:r>
              <a:rPr lang="en-US" sz="1000" dirty="0">
                <a:highlight>
                  <a:srgbClr val="FFFF00"/>
                </a:highlight>
                <a:latin typeface="Calibir"/>
              </a:rPr>
              <a:t>                );</a:t>
            </a:r>
          </a:p>
          <a:p>
            <a:r>
              <a:rPr lang="en-US" sz="1000" dirty="0">
                <a:highlight>
                  <a:srgbClr val="FFFF00"/>
                </a:highlight>
                <a:latin typeface="Calibir"/>
              </a:rPr>
              <a:t>        </a:t>
            </a:r>
            <a:r>
              <a:rPr lang="en-US" sz="1000" dirty="0" err="1">
                <a:highlight>
                  <a:srgbClr val="FFFF00"/>
                </a:highlight>
                <a:latin typeface="Calibir"/>
              </a:rPr>
              <a:t>savings.deposit</a:t>
            </a:r>
            <a:r>
              <a:rPr lang="en-US" sz="1000" dirty="0">
                <a:highlight>
                  <a:srgbClr val="FFFF00"/>
                </a:highlight>
                <a:latin typeface="Calibir"/>
              </a:rPr>
              <a:t>(amount);</a:t>
            </a:r>
          </a:p>
          <a:p>
            <a:r>
              <a:rPr lang="en-US" sz="1000" dirty="0">
                <a:highlight>
                  <a:srgbClr val="FFFF00"/>
                </a:highlight>
                <a:latin typeface="Calibir"/>
              </a:rPr>
              <a:t>    }</a:t>
            </a:r>
          </a:p>
          <a:p>
            <a:r>
              <a:rPr lang="en-US" sz="1000" dirty="0">
                <a:highlight>
                  <a:srgbClr val="FFFF00"/>
                </a:highlight>
                <a:latin typeface="Calibir"/>
              </a:rPr>
              <a:t>    public void withdraw(</a:t>
            </a:r>
          </a:p>
          <a:p>
            <a:r>
              <a:rPr lang="en-US" sz="1000" dirty="0">
                <a:highlight>
                  <a:srgbClr val="FFFF00"/>
                </a:highlight>
                <a:latin typeface="Calibir"/>
              </a:rPr>
              <a:t>            Scanner input) {</a:t>
            </a:r>
          </a:p>
          <a:p>
            <a:r>
              <a:rPr lang="en-US" sz="1000" dirty="0">
                <a:highlight>
                  <a:srgbClr val="FFFF00"/>
                </a:highlight>
                <a:latin typeface="Calibir"/>
              </a:rPr>
              <a:t>        double amount =</a:t>
            </a:r>
          </a:p>
          <a:p>
            <a:r>
              <a:rPr lang="en-US" sz="1000" dirty="0">
                <a:highlight>
                  <a:srgbClr val="FFFF00"/>
                </a:highlight>
                <a:latin typeface="Calibir"/>
              </a:rPr>
              <a:t>                </a:t>
            </a:r>
            <a:r>
              <a:rPr lang="en-US" sz="1000" dirty="0" err="1">
                <a:highlight>
                  <a:srgbClr val="FFFF00"/>
                </a:highlight>
                <a:latin typeface="Calibir"/>
              </a:rPr>
              <a:t>readAmount</a:t>
            </a:r>
            <a:r>
              <a:rPr lang="en-US" sz="1000" dirty="0">
                <a:highlight>
                  <a:srgbClr val="FFFF00"/>
                </a:highlight>
                <a:latin typeface="Calibir"/>
              </a:rPr>
              <a:t>(</a:t>
            </a:r>
          </a:p>
          <a:p>
            <a:r>
              <a:rPr lang="en-US" sz="1000" dirty="0">
                <a:highlight>
                  <a:srgbClr val="FFFF00"/>
                </a:highlight>
                <a:latin typeface="Calibir"/>
              </a:rPr>
              <a:t>                    input,</a:t>
            </a:r>
          </a:p>
          <a:p>
            <a:r>
              <a:rPr lang="en-US" sz="1000" dirty="0">
                <a:highlight>
                  <a:srgbClr val="FFFF00"/>
                </a:highlight>
                <a:latin typeface="Calibir"/>
              </a:rPr>
              <a:t>                    "Amount to withdraw: $"</a:t>
            </a:r>
          </a:p>
          <a:p>
            <a:r>
              <a:rPr lang="en-US" sz="1000" dirty="0">
                <a:highlight>
                  <a:srgbClr val="FFFF00"/>
                </a:highlight>
                <a:latin typeface="Calibir"/>
              </a:rPr>
              <a:t>                );</a:t>
            </a:r>
          </a:p>
          <a:p>
            <a:r>
              <a:rPr lang="en-US" sz="1000" dirty="0">
                <a:highlight>
                  <a:srgbClr val="FFFF00"/>
                </a:highlight>
                <a:latin typeface="Calibir"/>
              </a:rPr>
              <a:t>        try {</a:t>
            </a:r>
          </a:p>
          <a:p>
            <a:r>
              <a:rPr lang="en-US" sz="1000" dirty="0">
                <a:highlight>
                  <a:srgbClr val="FFFF00"/>
                </a:highlight>
                <a:latin typeface="Calibir"/>
              </a:rPr>
              <a:t>            </a:t>
            </a:r>
            <a:r>
              <a:rPr lang="en-US" sz="1000" dirty="0" err="1">
                <a:highlight>
                  <a:srgbClr val="FFFF00"/>
                </a:highlight>
                <a:latin typeface="Calibir"/>
              </a:rPr>
              <a:t>savings.withdraw</a:t>
            </a:r>
            <a:r>
              <a:rPr lang="en-US" sz="1000" dirty="0">
                <a:highlight>
                  <a:srgbClr val="FFFF00"/>
                </a:highlight>
                <a:latin typeface="Calibir"/>
              </a:rPr>
              <a:t>(amount);</a:t>
            </a:r>
          </a:p>
          <a:p>
            <a:r>
              <a:rPr lang="en-US" sz="1000" dirty="0">
                <a:highlight>
                  <a:srgbClr val="FFFF00"/>
                </a:highlight>
                <a:latin typeface="Calibir"/>
              </a:rPr>
              <a:t>        } catch (</a:t>
            </a:r>
          </a:p>
          <a:p>
            <a:r>
              <a:rPr lang="en-US" sz="1000" dirty="0">
                <a:highlight>
                  <a:srgbClr val="FFFF00"/>
                </a:highlight>
                <a:latin typeface="Calibir"/>
              </a:rPr>
              <a:t>            </a:t>
            </a:r>
            <a:r>
              <a:rPr lang="en-US" sz="1000" dirty="0" err="1">
                <a:highlight>
                  <a:srgbClr val="FFFF00"/>
                </a:highlight>
                <a:latin typeface="Calibir"/>
              </a:rPr>
              <a:t>IllegalArgumentException</a:t>
            </a:r>
            <a:r>
              <a:rPr lang="en-US" sz="1000" dirty="0">
                <a:highlight>
                  <a:srgbClr val="FFFF00"/>
                </a:highlight>
                <a:latin typeface="Calibir"/>
              </a:rPr>
              <a:t> error</a:t>
            </a:r>
          </a:p>
          <a:p>
            <a:r>
              <a:rPr lang="en-US" sz="1000" dirty="0">
                <a:highlight>
                  <a:srgbClr val="FFFF00"/>
                </a:highlight>
                <a:latin typeface="Calibir"/>
              </a:rPr>
              <a:t>        ) {</a:t>
            </a: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a:t>
            </a:r>
            <a:r>
              <a:rPr lang="en-US" sz="1000" dirty="0" err="1">
                <a:highlight>
                  <a:srgbClr val="FFFF00"/>
                </a:highlight>
                <a:latin typeface="Calibir"/>
              </a:rPr>
              <a:t>error.getMessage</a:t>
            </a:r>
            <a:r>
              <a:rPr lang="en-US" sz="1000" dirty="0">
                <a:highlight>
                  <a:srgbClr val="FFFF00"/>
                </a:highlight>
                <a:latin typeface="Calibir"/>
              </a:rPr>
              <a:t>()</a:t>
            </a:r>
          </a:p>
          <a:p>
            <a:r>
              <a:rPr lang="en-US" sz="1000" dirty="0">
                <a:highlight>
                  <a:srgbClr val="FFFF00"/>
                </a:highlight>
                <a:latin typeface="Calibir"/>
              </a:rPr>
              <a:t>            );</a:t>
            </a:r>
          </a:p>
          <a:p>
            <a:r>
              <a:rPr lang="en-US" sz="1000" dirty="0">
                <a:highlight>
                  <a:srgbClr val="FFFF00"/>
                </a:highlight>
                <a:latin typeface="Calibir"/>
              </a:rPr>
              <a:t>        }</a:t>
            </a:r>
          </a:p>
          <a:p>
            <a:r>
              <a:rPr lang="en-US" sz="1000" dirty="0">
                <a:highlight>
                  <a:srgbClr val="FFFF00"/>
                </a:highlight>
                <a:latin typeface="Calibir"/>
              </a:rPr>
              <a:t>    }</a:t>
            </a:r>
          </a:p>
          <a:p>
            <a:r>
              <a:rPr lang="en-US" sz="1000" dirty="0">
                <a:highlight>
                  <a:srgbClr val="FFFF00"/>
                </a:highlight>
                <a:latin typeface="Calibir"/>
              </a:rPr>
              <a:t>    public void transfer(</a:t>
            </a:r>
          </a:p>
          <a:p>
            <a:r>
              <a:rPr lang="en-US" sz="1000" dirty="0">
                <a:highlight>
                  <a:srgbClr val="FFFF00"/>
                </a:highlight>
                <a:latin typeface="Calibir"/>
              </a:rPr>
              <a:t>            Scanner input) {</a:t>
            </a:r>
          </a:p>
          <a:p>
            <a:r>
              <a:rPr lang="en-US" sz="1000" dirty="0">
                <a:highlight>
                  <a:srgbClr val="FFFF00"/>
                </a:highlight>
                <a:latin typeface="Calibir"/>
              </a:rPr>
              <a:t>        double amount =</a:t>
            </a:r>
          </a:p>
          <a:p>
            <a:r>
              <a:rPr lang="en-US" sz="1000" dirty="0">
                <a:highlight>
                  <a:srgbClr val="FFFF00"/>
                </a:highlight>
                <a:latin typeface="Calibir"/>
              </a:rPr>
              <a:t>                </a:t>
            </a:r>
            <a:r>
              <a:rPr lang="en-US" sz="1000" dirty="0" err="1">
                <a:highlight>
                  <a:srgbClr val="FFFF00"/>
                </a:highlight>
                <a:latin typeface="Calibir"/>
              </a:rPr>
              <a:t>readAmount</a:t>
            </a:r>
            <a:r>
              <a:rPr lang="en-US" sz="1000" dirty="0">
                <a:highlight>
                  <a:srgbClr val="FFFF00"/>
                </a:highlight>
                <a:latin typeface="Calibir"/>
              </a:rPr>
              <a:t>(</a:t>
            </a:r>
          </a:p>
          <a:p>
            <a:r>
              <a:rPr lang="en-US" sz="1000" dirty="0">
                <a:highlight>
                  <a:srgbClr val="FFFF00"/>
                </a:highlight>
                <a:latin typeface="Calibir"/>
              </a:rPr>
              <a:t>                    input,</a:t>
            </a:r>
          </a:p>
          <a:p>
            <a:r>
              <a:rPr lang="en-US" sz="1000" dirty="0">
                <a:highlight>
                  <a:srgbClr val="FFFF00"/>
                </a:highlight>
                <a:latin typeface="Calibir"/>
              </a:rPr>
              <a:t>                    "Amount to transfer: $"</a:t>
            </a:r>
          </a:p>
          <a:p>
            <a:r>
              <a:rPr lang="en-US" sz="1000" dirty="0">
                <a:highlight>
                  <a:srgbClr val="FFFF00"/>
                </a:highlight>
                <a:latin typeface="Calibir"/>
              </a:rPr>
              <a:t>                );</a:t>
            </a:r>
          </a:p>
          <a:p>
            <a:r>
              <a:rPr lang="en-US" sz="1000" dirty="0">
                <a:highlight>
                  <a:srgbClr val="FFFF00"/>
                </a:highlight>
                <a:latin typeface="Calibir"/>
              </a:rPr>
              <a:t>        try {</a:t>
            </a:r>
          </a:p>
          <a:p>
            <a:r>
              <a:rPr lang="en-US" sz="1000" dirty="0">
                <a:highlight>
                  <a:srgbClr val="FFFF00"/>
                </a:highlight>
                <a:latin typeface="Calibir"/>
              </a:rPr>
              <a:t>            </a:t>
            </a:r>
            <a:r>
              <a:rPr lang="en-US" sz="1000" dirty="0" err="1">
                <a:highlight>
                  <a:srgbClr val="FFFF00"/>
                </a:highlight>
                <a:latin typeface="Calibir"/>
              </a:rPr>
              <a:t>savings.transferToLoan</a:t>
            </a:r>
            <a:r>
              <a:rPr lang="en-US" sz="1000" dirty="0">
                <a:highlight>
                  <a:srgbClr val="FFFF00"/>
                </a:highlight>
                <a:latin typeface="Calibir"/>
              </a:rPr>
              <a:t>(</a:t>
            </a:r>
          </a:p>
          <a:p>
            <a:r>
              <a:rPr lang="en-US" sz="1000" dirty="0">
                <a:highlight>
                  <a:srgbClr val="FFFF00"/>
                </a:highlight>
                <a:latin typeface="Calibir"/>
              </a:rPr>
              <a:t>                amount,</a:t>
            </a:r>
          </a:p>
          <a:p>
            <a:r>
              <a:rPr lang="en-US" sz="1000" dirty="0">
                <a:highlight>
                  <a:srgbClr val="FFFF00"/>
                </a:highlight>
                <a:latin typeface="Calibir"/>
              </a:rPr>
              <a:t>                loan</a:t>
            </a:r>
          </a:p>
          <a:p>
            <a:r>
              <a:rPr lang="en-US" sz="1000" dirty="0">
                <a:highlight>
                  <a:srgbClr val="FFFF00"/>
                </a:highlight>
                <a:latin typeface="Calibir"/>
              </a:rPr>
              <a:t>            );</a:t>
            </a:r>
          </a:p>
        </p:txBody>
      </p:sp>
    </p:spTree>
    <p:custDataLst>
      <p:tags r:id="rId1"/>
    </p:custDataLst>
    <p:extLst>
      <p:ext uri="{BB962C8B-B14F-4D97-AF65-F5344CB8AC3E}">
        <p14:creationId xmlns:p14="http://schemas.microsoft.com/office/powerpoint/2010/main" val="129460940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86DAB-67AF-2104-BE71-FDE8E16769EA}"/>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2C2BA544-2635-D843-1E69-A81A81E7B2FD}"/>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3" name="TextBox 2">
            <a:extLst>
              <a:ext uri="{FF2B5EF4-FFF2-40B4-BE49-F238E27FC236}">
                <a16:creationId xmlns:a16="http://schemas.microsoft.com/office/drawing/2014/main" id="{6D73EEA0-DD93-1C23-58D4-E86BDD3B6EE0}"/>
              </a:ext>
            </a:extLst>
          </p:cNvPr>
          <p:cNvSpPr txBox="1"/>
          <p:nvPr/>
        </p:nvSpPr>
        <p:spPr>
          <a:xfrm>
            <a:off x="304801" y="-58992"/>
            <a:ext cx="6096000" cy="7017306"/>
          </a:xfrm>
          <a:prstGeom prst="rect">
            <a:avLst/>
          </a:prstGeom>
          <a:noFill/>
        </p:spPr>
        <p:txBody>
          <a:bodyPr wrap="square">
            <a:spAutoFit/>
          </a:bodyPr>
          <a:lstStyle/>
          <a:p>
            <a:r>
              <a:rPr lang="en-US" sz="1000" dirty="0">
                <a:highlight>
                  <a:srgbClr val="FFFF00"/>
                </a:highlight>
                <a:latin typeface="Calibir"/>
              </a:rPr>
              <a:t> } catch (</a:t>
            </a:r>
          </a:p>
          <a:p>
            <a:r>
              <a:rPr lang="en-US" sz="1000" dirty="0">
                <a:highlight>
                  <a:srgbClr val="FFFF00"/>
                </a:highlight>
                <a:latin typeface="Calibir"/>
              </a:rPr>
              <a:t>            </a:t>
            </a:r>
            <a:r>
              <a:rPr lang="en-US" sz="1000" dirty="0" err="1">
                <a:highlight>
                  <a:srgbClr val="FFFF00"/>
                </a:highlight>
                <a:latin typeface="Calibir"/>
              </a:rPr>
              <a:t>IllegalArgumentException</a:t>
            </a:r>
            <a:r>
              <a:rPr lang="en-US" sz="1000" dirty="0">
                <a:highlight>
                  <a:srgbClr val="FFFF00"/>
                </a:highlight>
                <a:latin typeface="Calibir"/>
              </a:rPr>
              <a:t> error</a:t>
            </a:r>
          </a:p>
          <a:p>
            <a:r>
              <a:rPr lang="en-US" sz="1000" dirty="0">
                <a:highlight>
                  <a:srgbClr val="FFFF00"/>
                </a:highlight>
                <a:latin typeface="Calibir"/>
              </a:rPr>
              <a:t>        ) {</a:t>
            </a: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a:t>
            </a:r>
            <a:r>
              <a:rPr lang="en-US" sz="1000" dirty="0" err="1">
                <a:highlight>
                  <a:srgbClr val="FFFF00"/>
                </a:highlight>
                <a:latin typeface="Calibir"/>
              </a:rPr>
              <a:t>error.getMessage</a:t>
            </a:r>
            <a:r>
              <a:rPr lang="en-US" sz="1000" dirty="0">
                <a:highlight>
                  <a:srgbClr val="FFFF00"/>
                </a:highlight>
                <a:latin typeface="Calibir"/>
              </a:rPr>
              <a:t>()</a:t>
            </a:r>
          </a:p>
          <a:p>
            <a:r>
              <a:rPr lang="en-US" sz="1000" dirty="0">
                <a:highlight>
                  <a:srgbClr val="FFFF00"/>
                </a:highlight>
                <a:latin typeface="Calibir"/>
              </a:rPr>
              <a:t>            );</a:t>
            </a:r>
          </a:p>
          <a:p>
            <a:r>
              <a:rPr lang="en-US" sz="1000" dirty="0">
                <a:highlight>
                  <a:srgbClr val="FFFF00"/>
                </a:highlight>
                <a:latin typeface="Calibir"/>
              </a:rPr>
              <a:t>        }</a:t>
            </a:r>
          </a:p>
          <a:p>
            <a:r>
              <a:rPr lang="en-US" sz="1000" dirty="0">
                <a:highlight>
                  <a:srgbClr val="FFFF00"/>
                </a:highlight>
                <a:latin typeface="Calibir"/>
              </a:rPr>
              <a:t>    }</a:t>
            </a:r>
          </a:p>
          <a:p>
            <a:r>
              <a:rPr lang="en-US" sz="1000" dirty="0">
                <a:highlight>
                  <a:srgbClr val="FFFF00"/>
                </a:highlight>
                <a:latin typeface="Calibir"/>
              </a:rPr>
              <a:t>    public void show() {</a:t>
            </a: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(this);</a:t>
            </a:r>
          </a:p>
          <a:p>
            <a:r>
              <a:rPr lang="en-US" sz="1000" dirty="0">
                <a:highlight>
                  <a:srgbClr val="FFFF00"/>
                </a:highlight>
                <a:latin typeface="Calibir"/>
              </a:rPr>
              <a:t>    }</a:t>
            </a:r>
          </a:p>
          <a:p>
            <a:r>
              <a:rPr lang="en-US" sz="1000" dirty="0">
                <a:highlight>
                  <a:srgbClr val="FFFF00"/>
                </a:highlight>
                <a:latin typeface="Calibir"/>
              </a:rPr>
              <a:t>    @Override</a:t>
            </a:r>
          </a:p>
          <a:p>
            <a:r>
              <a:rPr lang="en-US" sz="1000" dirty="0">
                <a:highlight>
                  <a:srgbClr val="FFFF00"/>
                </a:highlight>
                <a:latin typeface="Calibir"/>
              </a:rPr>
              <a:t>    public String </a:t>
            </a:r>
            <a:r>
              <a:rPr lang="en-US" sz="1000" dirty="0" err="1">
                <a:highlight>
                  <a:srgbClr val="FFFF00"/>
                </a:highlight>
                <a:latin typeface="Calibir"/>
              </a:rPr>
              <a:t>toString</a:t>
            </a:r>
            <a:r>
              <a:rPr lang="en-US" sz="1000" dirty="0">
                <a:highlight>
                  <a:srgbClr val="FFFF00"/>
                </a:highlight>
                <a:latin typeface="Calibir"/>
              </a:rPr>
              <a:t>() {</a:t>
            </a:r>
          </a:p>
          <a:p>
            <a:r>
              <a:rPr lang="en-US" sz="1000" dirty="0">
                <a:highlight>
                  <a:srgbClr val="FFFF00"/>
                </a:highlight>
                <a:latin typeface="Calibir"/>
              </a:rPr>
              <a:t>        return name</a:t>
            </a:r>
          </a:p>
          <a:p>
            <a:r>
              <a:rPr lang="en-US" sz="1000" dirty="0">
                <a:highlight>
                  <a:srgbClr val="FFFF00"/>
                </a:highlight>
                <a:latin typeface="Calibir"/>
              </a:rPr>
              <a:t>                + " accounts:\n"</a:t>
            </a:r>
          </a:p>
          <a:p>
            <a:r>
              <a:rPr lang="en-US" sz="1000" dirty="0">
                <a:highlight>
                  <a:srgbClr val="FFFF00"/>
                </a:highlight>
                <a:latin typeface="Calibir"/>
              </a:rPr>
              <a:t>                + savings</a:t>
            </a:r>
          </a:p>
          <a:p>
            <a:r>
              <a:rPr lang="en-US" sz="1000" dirty="0">
                <a:highlight>
                  <a:srgbClr val="FFFF00"/>
                </a:highlight>
                <a:latin typeface="Calibir"/>
              </a:rPr>
              <a:t>                + "\n"</a:t>
            </a:r>
          </a:p>
          <a:p>
            <a:r>
              <a:rPr lang="en-US" sz="1000" dirty="0">
                <a:highlight>
                  <a:srgbClr val="FFFF00"/>
                </a:highlight>
                <a:latin typeface="Calibir"/>
              </a:rPr>
              <a:t>                + loan;</a:t>
            </a:r>
          </a:p>
          <a:p>
            <a:r>
              <a:rPr lang="en-US" sz="1000" dirty="0">
                <a:highlight>
                  <a:srgbClr val="FFFF00"/>
                </a:highlight>
                <a:latin typeface="Calibir"/>
              </a:rPr>
              <a:t>    }</a:t>
            </a:r>
          </a:p>
          <a:p>
            <a:r>
              <a:rPr lang="en-US" sz="1000" dirty="0">
                <a:highlight>
                  <a:srgbClr val="FFFF00"/>
                </a:highlight>
                <a:latin typeface="Calibir"/>
              </a:rPr>
              <a:t>}</a:t>
            </a:r>
          </a:p>
          <a:p>
            <a:pPr>
              <a:buNone/>
            </a:pPr>
            <a:r>
              <a:rPr lang="en-US" sz="1000" b="1" dirty="0">
                <a:highlight>
                  <a:srgbClr val="FFFF00"/>
                </a:highlight>
                <a:latin typeface="Calibir"/>
              </a:rPr>
              <a:t>Bank.java</a:t>
            </a:r>
          </a:p>
          <a:p>
            <a:r>
              <a:rPr lang="en-US" sz="1000" dirty="0">
                <a:highlight>
                  <a:srgbClr val="FFFF00"/>
                </a:highlight>
                <a:latin typeface="Calibir"/>
              </a:rPr>
              <a:t>import </a:t>
            </a:r>
            <a:r>
              <a:rPr lang="en-US" sz="1000" dirty="0" err="1">
                <a:highlight>
                  <a:srgbClr val="FFFF00"/>
                </a:highlight>
                <a:latin typeface="Calibir"/>
              </a:rPr>
              <a:t>java.util.Scanner</a:t>
            </a:r>
            <a:r>
              <a:rPr lang="en-US" sz="1000" dirty="0">
                <a:highlight>
                  <a:srgbClr val="FFFF00"/>
                </a:highlight>
                <a:latin typeface="Calibir"/>
              </a:rPr>
              <a:t>;</a:t>
            </a:r>
          </a:p>
          <a:p>
            <a:r>
              <a:rPr lang="en-US" sz="1000" dirty="0">
                <a:highlight>
                  <a:srgbClr val="FFFF00"/>
                </a:highlight>
                <a:latin typeface="Calibir"/>
              </a:rPr>
              <a:t>public class Bank {</a:t>
            </a:r>
          </a:p>
          <a:p>
            <a:r>
              <a:rPr lang="en-US" sz="1000" dirty="0">
                <a:highlight>
                  <a:srgbClr val="FFFF00"/>
                </a:highlight>
                <a:latin typeface="Calibir"/>
              </a:rPr>
              <a:t>    private Customer </a:t>
            </a:r>
            <a:r>
              <a:rPr lang="en-US" sz="1000" dirty="0" err="1">
                <a:highlight>
                  <a:srgbClr val="FFFF00"/>
                </a:highlight>
                <a:latin typeface="Calibir"/>
              </a:rPr>
              <a:t>customer</a:t>
            </a:r>
            <a:r>
              <a:rPr lang="en-US" sz="1000" dirty="0">
                <a:highlight>
                  <a:srgbClr val="FFFF00"/>
                </a:highlight>
                <a:latin typeface="Calibir"/>
              </a:rPr>
              <a:t>;</a:t>
            </a:r>
          </a:p>
          <a:p>
            <a:r>
              <a:rPr lang="en-US" sz="1000" dirty="0">
                <a:highlight>
                  <a:srgbClr val="FFFF00"/>
                </a:highlight>
                <a:latin typeface="Calibir"/>
              </a:rPr>
              <a:t>    public Bank(</a:t>
            </a:r>
          </a:p>
          <a:p>
            <a:r>
              <a:rPr lang="en-US" sz="1000" dirty="0">
                <a:highlight>
                  <a:srgbClr val="FFFF00"/>
                </a:highlight>
                <a:latin typeface="Calibir"/>
              </a:rPr>
              <a:t>            Scanner input) {</a:t>
            </a:r>
          </a:p>
          <a:p>
            <a:r>
              <a:rPr lang="en-US" sz="1000" dirty="0">
                <a:highlight>
                  <a:srgbClr val="FFFF00"/>
                </a:highlight>
                <a:latin typeface="Calibir"/>
              </a:rPr>
              <a:t>        customer =</a:t>
            </a:r>
          </a:p>
          <a:p>
            <a:r>
              <a:rPr lang="en-US" sz="1000" dirty="0">
                <a:highlight>
                  <a:srgbClr val="FFFF00"/>
                </a:highlight>
                <a:latin typeface="Calibir"/>
              </a:rPr>
              <a:t>                new Customer(</a:t>
            </a:r>
          </a:p>
          <a:p>
            <a:r>
              <a:rPr lang="en-US" sz="1000" dirty="0">
                <a:highlight>
                  <a:srgbClr val="FFFF00"/>
                </a:highlight>
                <a:latin typeface="Calibir"/>
              </a:rPr>
              <a:t>                    "John Smith",</a:t>
            </a:r>
          </a:p>
          <a:p>
            <a:r>
              <a:rPr lang="en-US" sz="1000" dirty="0">
                <a:highlight>
                  <a:srgbClr val="FFFF00"/>
                </a:highlight>
                <a:latin typeface="Calibir"/>
              </a:rPr>
              <a:t>                    input</a:t>
            </a:r>
          </a:p>
          <a:p>
            <a:r>
              <a:rPr lang="en-US" sz="1000" dirty="0">
                <a:highlight>
                  <a:srgbClr val="FFFF00"/>
                </a:highlight>
                <a:latin typeface="Calibir"/>
              </a:rPr>
              <a:t>                );</a:t>
            </a:r>
          </a:p>
          <a:p>
            <a:r>
              <a:rPr lang="en-US" sz="1000" dirty="0">
                <a:highlight>
                  <a:srgbClr val="FFFF00"/>
                </a:highlight>
                <a:latin typeface="Calibir"/>
              </a:rPr>
              <a:t>    }</a:t>
            </a:r>
          </a:p>
          <a:p>
            <a:r>
              <a:rPr lang="en-US" sz="1000" dirty="0">
                <a:highlight>
                  <a:srgbClr val="FFFF00"/>
                </a:highlight>
                <a:latin typeface="Calibir"/>
              </a:rPr>
              <a:t>    public void help() {</a:t>
            </a: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"Menu options"</a:t>
            </a:r>
          </a:p>
          <a:p>
            <a:r>
              <a:rPr lang="en-US" sz="1000" dirty="0">
                <a:highlight>
                  <a:srgbClr val="FFFF00"/>
                </a:highlight>
                <a:latin typeface="Calibir"/>
              </a:rPr>
              <a:t>        );</a:t>
            </a: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"d = deposit"</a:t>
            </a:r>
          </a:p>
          <a:p>
            <a:r>
              <a:rPr lang="en-US" sz="1000" dirty="0">
                <a:highlight>
                  <a:srgbClr val="FFFF00"/>
                </a:highlight>
                <a:latin typeface="Calibir"/>
              </a:rPr>
              <a:t>        );</a:t>
            </a: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"w = withdraw"</a:t>
            </a:r>
          </a:p>
          <a:p>
            <a:r>
              <a:rPr lang="en-US" sz="1000" dirty="0">
                <a:highlight>
                  <a:srgbClr val="FFFF00"/>
                </a:highlight>
                <a:latin typeface="Calibir"/>
              </a:rPr>
              <a:t>        );</a:t>
            </a: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"t = transfer"</a:t>
            </a:r>
          </a:p>
          <a:p>
            <a:r>
              <a:rPr lang="en-US" sz="1000" dirty="0">
                <a:highlight>
                  <a:srgbClr val="FFFF00"/>
                </a:highlight>
                <a:latin typeface="Calibir"/>
              </a:rPr>
              <a:t>        );</a:t>
            </a:r>
          </a:p>
        </p:txBody>
      </p:sp>
    </p:spTree>
    <p:custDataLst>
      <p:tags r:id="rId1"/>
    </p:custDataLst>
    <p:extLst>
      <p:ext uri="{BB962C8B-B14F-4D97-AF65-F5344CB8AC3E}">
        <p14:creationId xmlns:p14="http://schemas.microsoft.com/office/powerpoint/2010/main" val="282253840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0D218-3886-F230-6182-D7282924BB6C}"/>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C7FC2968-4792-0E32-ED3D-C6803AD72872}"/>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3" name="TextBox 2">
            <a:extLst>
              <a:ext uri="{FF2B5EF4-FFF2-40B4-BE49-F238E27FC236}">
                <a16:creationId xmlns:a16="http://schemas.microsoft.com/office/drawing/2014/main" id="{FC01CD67-DA80-A374-DF72-825055BFD208}"/>
              </a:ext>
            </a:extLst>
          </p:cNvPr>
          <p:cNvSpPr txBox="1"/>
          <p:nvPr/>
        </p:nvSpPr>
        <p:spPr>
          <a:xfrm>
            <a:off x="304801" y="-58992"/>
            <a:ext cx="6096000" cy="6863417"/>
          </a:xfrm>
          <a:prstGeom prst="rect">
            <a:avLst/>
          </a:prstGeom>
          <a:noFill/>
        </p:spPr>
        <p:txBody>
          <a:bodyPr wrap="square">
            <a:spAutoFit/>
          </a:bodyPr>
          <a:lstStyle/>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"s = show"</a:t>
            </a:r>
          </a:p>
          <a:p>
            <a:r>
              <a:rPr lang="en-US" sz="1000" dirty="0">
                <a:highlight>
                  <a:srgbClr val="FFFF00"/>
                </a:highlight>
                <a:latin typeface="Calibir"/>
              </a:rPr>
              <a:t>        );</a:t>
            </a: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"x = exit"</a:t>
            </a:r>
          </a:p>
          <a:p>
            <a:r>
              <a:rPr lang="en-US" sz="1000" dirty="0">
                <a:highlight>
                  <a:srgbClr val="FFFF00"/>
                </a:highlight>
                <a:latin typeface="Calibir"/>
              </a:rPr>
              <a:t>        );</a:t>
            </a:r>
          </a:p>
          <a:p>
            <a:r>
              <a:rPr lang="en-US" sz="1000" dirty="0">
                <a:highlight>
                  <a:srgbClr val="FFFF00"/>
                </a:highlight>
                <a:latin typeface="Calibir"/>
              </a:rPr>
              <a:t>    }</a:t>
            </a:r>
          </a:p>
          <a:p>
            <a:r>
              <a:rPr lang="en-US" sz="1000" dirty="0">
                <a:highlight>
                  <a:srgbClr val="FFFF00"/>
                </a:highlight>
                <a:latin typeface="Calibir"/>
              </a:rPr>
              <a:t>    public void menu(</a:t>
            </a:r>
          </a:p>
          <a:p>
            <a:r>
              <a:rPr lang="en-US" sz="1000" dirty="0">
                <a:highlight>
                  <a:srgbClr val="FFFF00"/>
                </a:highlight>
                <a:latin typeface="Calibir"/>
              </a:rPr>
              <a:t>            Scanner input) {</a:t>
            </a:r>
          </a:p>
          <a:p>
            <a:r>
              <a:rPr lang="en-US" sz="1000" dirty="0">
                <a:highlight>
                  <a:srgbClr val="FFFF00"/>
                </a:highlight>
                <a:latin typeface="Calibir"/>
              </a:rPr>
              <a:t>        </a:t>
            </a:r>
            <a:r>
              <a:rPr lang="en-US" sz="1000" dirty="0" err="1">
                <a:highlight>
                  <a:srgbClr val="FFFF00"/>
                </a:highlight>
                <a:latin typeface="Calibir"/>
              </a:rPr>
              <a:t>input.nextLine</a:t>
            </a:r>
            <a:r>
              <a:rPr lang="en-US" sz="1000" dirty="0">
                <a:highlight>
                  <a:srgbClr val="FFFF00"/>
                </a:highlight>
                <a:latin typeface="Calibir"/>
              </a:rPr>
              <a:t>();</a:t>
            </a:r>
          </a:p>
          <a:p>
            <a:r>
              <a:rPr lang="en-US" sz="1000" dirty="0">
                <a:highlight>
                  <a:srgbClr val="FFFF00"/>
                </a:highlight>
                <a:latin typeface="Calibir"/>
              </a:rPr>
              <a:t>        while (true) {</a:t>
            </a:r>
          </a:p>
          <a:p>
            <a:r>
              <a:rPr lang="en-US" sz="1000" dirty="0">
                <a:highlight>
                  <a:srgbClr val="FFFF00"/>
                </a:highlight>
                <a:latin typeface="Calibir"/>
              </a:rPr>
              <a:t>            </a:t>
            </a:r>
            <a:r>
              <a:rPr lang="en-US" sz="1000" dirty="0" err="1">
                <a:highlight>
                  <a:srgbClr val="FFFF00"/>
                </a:highlight>
                <a:latin typeface="Calibir"/>
              </a:rPr>
              <a:t>System.out.print</a:t>
            </a:r>
            <a:r>
              <a:rPr lang="en-US" sz="1000" dirty="0">
                <a:highlight>
                  <a:srgbClr val="FFFF00"/>
                </a:highlight>
                <a:latin typeface="Calibir"/>
              </a:rPr>
              <a:t>(</a:t>
            </a:r>
          </a:p>
          <a:p>
            <a:r>
              <a:rPr lang="en-US" sz="1000" dirty="0">
                <a:highlight>
                  <a:srgbClr val="FFFF00"/>
                </a:highlight>
                <a:latin typeface="Calibir"/>
              </a:rPr>
              <a:t>                "Customer menu "</a:t>
            </a:r>
          </a:p>
          <a:p>
            <a:r>
              <a:rPr lang="en-US" sz="1000" dirty="0">
                <a:highlight>
                  <a:srgbClr val="FFFF00"/>
                </a:highlight>
                <a:latin typeface="Calibir"/>
              </a:rPr>
              <a:t>                + "(d/w/t/s/x): "</a:t>
            </a:r>
          </a:p>
          <a:p>
            <a:r>
              <a:rPr lang="en-US" sz="1000" dirty="0">
                <a:highlight>
                  <a:srgbClr val="FFFF00"/>
                </a:highlight>
                <a:latin typeface="Calibir"/>
              </a:rPr>
              <a:t>            );</a:t>
            </a:r>
          </a:p>
          <a:p>
            <a:r>
              <a:rPr lang="en-US" sz="1000" dirty="0">
                <a:highlight>
                  <a:srgbClr val="FFFF00"/>
                </a:highlight>
                <a:latin typeface="Calibir"/>
              </a:rPr>
              <a:t>            String choice =</a:t>
            </a:r>
          </a:p>
          <a:p>
            <a:r>
              <a:rPr lang="en-US" sz="1000" dirty="0">
                <a:highlight>
                  <a:srgbClr val="FFFF00"/>
                </a:highlight>
                <a:latin typeface="Calibir"/>
              </a:rPr>
              <a:t>                    </a:t>
            </a:r>
            <a:r>
              <a:rPr lang="en-US" sz="1000" dirty="0" err="1">
                <a:highlight>
                  <a:srgbClr val="FFFF00"/>
                </a:highlight>
                <a:latin typeface="Calibir"/>
              </a:rPr>
              <a:t>input.nextLine</a:t>
            </a:r>
            <a:r>
              <a:rPr lang="en-US" sz="1000" dirty="0">
                <a:highlight>
                  <a:srgbClr val="FFFF00"/>
                </a:highlight>
                <a:latin typeface="Calibir"/>
              </a:rPr>
              <a:t>()</a:t>
            </a:r>
          </a:p>
          <a:p>
            <a:r>
              <a:rPr lang="en-US" sz="1000" dirty="0">
                <a:highlight>
                  <a:srgbClr val="FFFF00"/>
                </a:highlight>
                <a:latin typeface="Calibir"/>
              </a:rPr>
              <a:t>                         .</a:t>
            </a:r>
            <a:r>
              <a:rPr lang="en-US" sz="1000" dirty="0" err="1">
                <a:highlight>
                  <a:srgbClr val="FFFF00"/>
                </a:highlight>
                <a:latin typeface="Calibir"/>
              </a:rPr>
              <a:t>toLowerCase</a:t>
            </a:r>
            <a:r>
              <a:rPr lang="en-US" sz="1000" dirty="0">
                <a:highlight>
                  <a:srgbClr val="FFFF00"/>
                </a:highlight>
                <a:latin typeface="Calibir"/>
              </a:rPr>
              <a:t>();</a:t>
            </a:r>
          </a:p>
          <a:p>
            <a:r>
              <a:rPr lang="en-US" sz="1000" dirty="0">
                <a:highlight>
                  <a:srgbClr val="FFFF00"/>
                </a:highlight>
                <a:latin typeface="Calibir"/>
              </a:rPr>
              <a:t>            switch (choice) {</a:t>
            </a:r>
          </a:p>
          <a:p>
            <a:r>
              <a:rPr lang="en-US" sz="1000" dirty="0">
                <a:highlight>
                  <a:srgbClr val="FFFF00"/>
                </a:highlight>
                <a:latin typeface="Calibir"/>
              </a:rPr>
              <a:t>                case "d":</a:t>
            </a:r>
          </a:p>
          <a:p>
            <a:r>
              <a:rPr lang="en-US" sz="1000" dirty="0">
                <a:highlight>
                  <a:srgbClr val="FFFF00"/>
                </a:highlight>
                <a:latin typeface="Calibir"/>
              </a:rPr>
              <a:t>                    </a:t>
            </a:r>
            <a:r>
              <a:rPr lang="en-US" sz="1000" dirty="0" err="1">
                <a:highlight>
                  <a:srgbClr val="FFFF00"/>
                </a:highlight>
                <a:latin typeface="Calibir"/>
              </a:rPr>
              <a:t>customer.deposit</a:t>
            </a:r>
            <a:r>
              <a:rPr lang="en-US" sz="1000" dirty="0">
                <a:highlight>
                  <a:srgbClr val="FFFF00"/>
                </a:highlight>
                <a:latin typeface="Calibir"/>
              </a:rPr>
              <a:t>(</a:t>
            </a:r>
          </a:p>
          <a:p>
            <a:r>
              <a:rPr lang="en-US" sz="1000" dirty="0">
                <a:highlight>
                  <a:srgbClr val="FFFF00"/>
                </a:highlight>
                <a:latin typeface="Calibir"/>
              </a:rPr>
              <a:t>                        input</a:t>
            </a:r>
          </a:p>
          <a:p>
            <a:r>
              <a:rPr lang="en-US" sz="1000" dirty="0">
                <a:highlight>
                  <a:srgbClr val="FFFF00"/>
                </a:highlight>
                <a:latin typeface="Calibir"/>
              </a:rPr>
              <a:t>                    );</a:t>
            </a:r>
          </a:p>
          <a:p>
            <a:r>
              <a:rPr lang="en-US" sz="1000" dirty="0">
                <a:highlight>
                  <a:srgbClr val="FFFF00"/>
                </a:highlight>
                <a:latin typeface="Calibir"/>
              </a:rPr>
              <a:t>                    </a:t>
            </a:r>
            <a:r>
              <a:rPr lang="en-US" sz="1000" dirty="0" err="1">
                <a:highlight>
                  <a:srgbClr val="FFFF00"/>
                </a:highlight>
                <a:latin typeface="Calibir"/>
              </a:rPr>
              <a:t>input.nextLine</a:t>
            </a:r>
            <a:r>
              <a:rPr lang="en-US" sz="1000" dirty="0">
                <a:highlight>
                  <a:srgbClr val="FFFF00"/>
                </a:highlight>
                <a:latin typeface="Calibir"/>
              </a:rPr>
              <a:t>();</a:t>
            </a:r>
          </a:p>
          <a:p>
            <a:r>
              <a:rPr lang="en-US" sz="1000" dirty="0">
                <a:highlight>
                  <a:srgbClr val="FFFF00"/>
                </a:highlight>
                <a:latin typeface="Calibir"/>
              </a:rPr>
              <a:t>                    break;</a:t>
            </a:r>
          </a:p>
          <a:p>
            <a:r>
              <a:rPr lang="en-US" sz="1000" dirty="0">
                <a:highlight>
                  <a:srgbClr val="FFFF00"/>
                </a:highlight>
                <a:latin typeface="Calibir"/>
              </a:rPr>
              <a:t>                case "w":</a:t>
            </a:r>
          </a:p>
          <a:p>
            <a:r>
              <a:rPr lang="en-US" sz="1000" dirty="0">
                <a:highlight>
                  <a:srgbClr val="FFFF00"/>
                </a:highlight>
                <a:latin typeface="Calibir"/>
              </a:rPr>
              <a:t>                    </a:t>
            </a:r>
            <a:r>
              <a:rPr lang="en-US" sz="1000" dirty="0" err="1">
                <a:highlight>
                  <a:srgbClr val="FFFF00"/>
                </a:highlight>
                <a:latin typeface="Calibir"/>
              </a:rPr>
              <a:t>customer.withdraw</a:t>
            </a:r>
            <a:r>
              <a:rPr lang="en-US" sz="1000" dirty="0">
                <a:highlight>
                  <a:srgbClr val="FFFF00"/>
                </a:highlight>
                <a:latin typeface="Calibir"/>
              </a:rPr>
              <a:t>(</a:t>
            </a:r>
          </a:p>
          <a:p>
            <a:r>
              <a:rPr lang="en-US" sz="1000" dirty="0">
                <a:highlight>
                  <a:srgbClr val="FFFF00"/>
                </a:highlight>
                <a:latin typeface="Calibir"/>
              </a:rPr>
              <a:t>                        input</a:t>
            </a:r>
          </a:p>
          <a:p>
            <a:r>
              <a:rPr lang="en-US" sz="1000" dirty="0">
                <a:highlight>
                  <a:srgbClr val="FFFF00"/>
                </a:highlight>
                <a:latin typeface="Calibir"/>
              </a:rPr>
              <a:t>                    );</a:t>
            </a:r>
          </a:p>
          <a:p>
            <a:r>
              <a:rPr lang="en-US" sz="1000" dirty="0">
                <a:highlight>
                  <a:srgbClr val="FFFF00"/>
                </a:highlight>
                <a:latin typeface="Calibir"/>
              </a:rPr>
              <a:t>                    </a:t>
            </a:r>
            <a:r>
              <a:rPr lang="en-US" sz="1000" dirty="0" err="1">
                <a:highlight>
                  <a:srgbClr val="FFFF00"/>
                </a:highlight>
                <a:latin typeface="Calibir"/>
              </a:rPr>
              <a:t>input.nextLine</a:t>
            </a:r>
            <a:r>
              <a:rPr lang="en-US" sz="1000" dirty="0">
                <a:highlight>
                  <a:srgbClr val="FFFF00"/>
                </a:highlight>
                <a:latin typeface="Calibir"/>
              </a:rPr>
              <a:t>();</a:t>
            </a:r>
          </a:p>
          <a:p>
            <a:r>
              <a:rPr lang="en-US" sz="1000" dirty="0">
                <a:highlight>
                  <a:srgbClr val="FFFF00"/>
                </a:highlight>
                <a:latin typeface="Calibir"/>
              </a:rPr>
              <a:t>                    break;</a:t>
            </a:r>
          </a:p>
          <a:p>
            <a:r>
              <a:rPr lang="en-US" sz="1000" dirty="0">
                <a:highlight>
                  <a:srgbClr val="FFFF00"/>
                </a:highlight>
                <a:latin typeface="Calibir"/>
              </a:rPr>
              <a:t>                case "t":</a:t>
            </a:r>
          </a:p>
          <a:p>
            <a:r>
              <a:rPr lang="en-US" sz="1000" dirty="0">
                <a:highlight>
                  <a:srgbClr val="FFFF00"/>
                </a:highlight>
                <a:latin typeface="Calibir"/>
              </a:rPr>
              <a:t>                    </a:t>
            </a:r>
            <a:r>
              <a:rPr lang="en-US" sz="1000" dirty="0" err="1">
                <a:highlight>
                  <a:srgbClr val="FFFF00"/>
                </a:highlight>
                <a:latin typeface="Calibir"/>
              </a:rPr>
              <a:t>customer.transfer</a:t>
            </a:r>
            <a:r>
              <a:rPr lang="en-US" sz="1000" dirty="0">
                <a:highlight>
                  <a:srgbClr val="FFFF00"/>
                </a:highlight>
                <a:latin typeface="Calibir"/>
              </a:rPr>
              <a:t>(</a:t>
            </a:r>
          </a:p>
          <a:p>
            <a:r>
              <a:rPr lang="en-US" sz="1000" dirty="0">
                <a:highlight>
                  <a:srgbClr val="FFFF00"/>
                </a:highlight>
                <a:latin typeface="Calibir"/>
              </a:rPr>
              <a:t>                        input</a:t>
            </a:r>
          </a:p>
          <a:p>
            <a:r>
              <a:rPr lang="en-US" sz="1000" dirty="0">
                <a:highlight>
                  <a:srgbClr val="FFFF00"/>
                </a:highlight>
                <a:latin typeface="Calibir"/>
              </a:rPr>
              <a:t>                    );</a:t>
            </a:r>
          </a:p>
          <a:p>
            <a:r>
              <a:rPr lang="en-US" sz="1000" dirty="0">
                <a:highlight>
                  <a:srgbClr val="FFFF00"/>
                </a:highlight>
                <a:latin typeface="Calibir"/>
              </a:rPr>
              <a:t>                    </a:t>
            </a:r>
            <a:r>
              <a:rPr lang="en-US" sz="1000" dirty="0" err="1">
                <a:highlight>
                  <a:srgbClr val="FFFF00"/>
                </a:highlight>
                <a:latin typeface="Calibir"/>
              </a:rPr>
              <a:t>input.nextLine</a:t>
            </a:r>
            <a:r>
              <a:rPr lang="en-US" sz="1000" dirty="0">
                <a:highlight>
                  <a:srgbClr val="FFFF00"/>
                </a:highlight>
                <a:latin typeface="Calibir"/>
              </a:rPr>
              <a:t>();</a:t>
            </a:r>
          </a:p>
          <a:p>
            <a:r>
              <a:rPr lang="en-US" sz="1000" dirty="0">
                <a:highlight>
                  <a:srgbClr val="FFFF00"/>
                </a:highlight>
                <a:latin typeface="Calibir"/>
              </a:rPr>
              <a:t>                    break;</a:t>
            </a:r>
          </a:p>
          <a:p>
            <a:r>
              <a:rPr lang="en-US" sz="1000" dirty="0">
                <a:highlight>
                  <a:srgbClr val="FFFF00"/>
                </a:highlight>
                <a:latin typeface="Calibir"/>
              </a:rPr>
              <a:t>                case "s":</a:t>
            </a:r>
          </a:p>
          <a:p>
            <a:r>
              <a:rPr lang="en-US" sz="1000" dirty="0">
                <a:highlight>
                  <a:srgbClr val="FFFF00"/>
                </a:highlight>
                <a:latin typeface="Calibir"/>
              </a:rPr>
              <a:t>                    </a:t>
            </a:r>
            <a:r>
              <a:rPr lang="en-US" sz="1000" dirty="0" err="1">
                <a:highlight>
                  <a:srgbClr val="FFFF00"/>
                </a:highlight>
                <a:latin typeface="Calibir"/>
              </a:rPr>
              <a:t>customer.show</a:t>
            </a:r>
            <a:r>
              <a:rPr lang="en-US" sz="1000" dirty="0">
                <a:highlight>
                  <a:srgbClr val="FFFF00"/>
                </a:highlight>
                <a:latin typeface="Calibir"/>
              </a:rPr>
              <a:t>();</a:t>
            </a:r>
          </a:p>
          <a:p>
            <a:r>
              <a:rPr lang="en-US" sz="1000" dirty="0">
                <a:highlight>
                  <a:srgbClr val="FFFF00"/>
                </a:highlight>
                <a:latin typeface="Calibir"/>
              </a:rPr>
              <a:t>                    break;</a:t>
            </a:r>
          </a:p>
          <a:p>
            <a:r>
              <a:rPr lang="en-US" sz="1000" dirty="0">
                <a:highlight>
                  <a:srgbClr val="FFFF00"/>
                </a:highlight>
                <a:latin typeface="Calibir"/>
              </a:rPr>
              <a:t>                case "x":</a:t>
            </a: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"Done"</a:t>
            </a:r>
          </a:p>
          <a:p>
            <a:r>
              <a:rPr lang="en-US" sz="1000" dirty="0">
                <a:highlight>
                  <a:srgbClr val="FFFF00"/>
                </a:highlight>
                <a:latin typeface="Calibir"/>
              </a:rPr>
              <a:t>                    );</a:t>
            </a:r>
          </a:p>
        </p:txBody>
      </p:sp>
    </p:spTree>
    <p:custDataLst>
      <p:tags r:id="rId1"/>
    </p:custDataLst>
    <p:extLst>
      <p:ext uri="{BB962C8B-B14F-4D97-AF65-F5344CB8AC3E}">
        <p14:creationId xmlns:p14="http://schemas.microsoft.com/office/powerpoint/2010/main" val="365043034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FB96B-C41F-4959-CA07-61594D5FFE50}"/>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A6611463-ECD9-788A-36B1-5008841FA384}"/>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3" name="TextBox 2">
            <a:extLst>
              <a:ext uri="{FF2B5EF4-FFF2-40B4-BE49-F238E27FC236}">
                <a16:creationId xmlns:a16="http://schemas.microsoft.com/office/drawing/2014/main" id="{9FCD75D0-7967-056C-9C1A-39A948C2F806}"/>
              </a:ext>
            </a:extLst>
          </p:cNvPr>
          <p:cNvSpPr txBox="1"/>
          <p:nvPr/>
        </p:nvSpPr>
        <p:spPr>
          <a:xfrm>
            <a:off x="304801" y="-58992"/>
            <a:ext cx="6096000" cy="2554545"/>
          </a:xfrm>
          <a:prstGeom prst="rect">
            <a:avLst/>
          </a:prstGeom>
          <a:noFill/>
        </p:spPr>
        <p:txBody>
          <a:bodyPr wrap="square">
            <a:spAutoFit/>
          </a:bodyPr>
          <a:lstStyle/>
          <a:p>
            <a:r>
              <a:rPr lang="en-US" sz="1000" dirty="0">
                <a:highlight>
                  <a:srgbClr val="FFFF00"/>
                </a:highlight>
                <a:latin typeface="Calibir"/>
              </a:rPr>
              <a:t>                    return;</a:t>
            </a:r>
          </a:p>
          <a:p>
            <a:r>
              <a:rPr lang="en-US" sz="1000" dirty="0">
                <a:highlight>
                  <a:srgbClr val="FFFF00"/>
                </a:highlight>
                <a:latin typeface="Calibir"/>
              </a:rPr>
              <a:t>                default:</a:t>
            </a:r>
          </a:p>
          <a:p>
            <a:r>
              <a:rPr lang="en-US" sz="1000" dirty="0">
                <a:highlight>
                  <a:srgbClr val="FFFF00"/>
                </a:highlight>
                <a:latin typeface="Calibir"/>
              </a:rPr>
              <a:t>                    help();</a:t>
            </a:r>
          </a:p>
          <a:p>
            <a:r>
              <a:rPr lang="en-US" sz="1000" dirty="0">
                <a:highlight>
                  <a:srgbClr val="FFFF00"/>
                </a:highlight>
                <a:latin typeface="Calibir"/>
              </a:rPr>
              <a:t>            }</a:t>
            </a:r>
          </a:p>
          <a:p>
            <a:r>
              <a:rPr lang="en-US" sz="1000" dirty="0">
                <a:highlight>
                  <a:srgbClr val="FFFF00"/>
                </a:highlight>
                <a:latin typeface="Calibir"/>
              </a:rPr>
              <a:t>        }</a:t>
            </a:r>
          </a:p>
          <a:p>
            <a:r>
              <a:rPr lang="en-US" sz="1000" dirty="0">
                <a:highlight>
                  <a:srgbClr val="FFFF00"/>
                </a:highlight>
                <a:latin typeface="Calibir"/>
              </a:rPr>
              <a:t>    }</a:t>
            </a:r>
          </a:p>
          <a:p>
            <a:r>
              <a:rPr lang="en-US" sz="1000" dirty="0">
                <a:highlight>
                  <a:srgbClr val="FFFF00"/>
                </a:highlight>
                <a:latin typeface="Calibir"/>
              </a:rPr>
              <a:t>    public static void main(</a:t>
            </a:r>
          </a:p>
          <a:p>
            <a:r>
              <a:rPr lang="en-US" sz="1000" dirty="0">
                <a:highlight>
                  <a:srgbClr val="FFFF00"/>
                </a:highlight>
                <a:latin typeface="Calibir"/>
              </a:rPr>
              <a:t>            String[] </a:t>
            </a:r>
            <a:r>
              <a:rPr lang="en-US" sz="1000" dirty="0" err="1">
                <a:highlight>
                  <a:srgbClr val="FFFF00"/>
                </a:highlight>
                <a:latin typeface="Calibir"/>
              </a:rPr>
              <a:t>args</a:t>
            </a:r>
            <a:r>
              <a:rPr lang="en-US" sz="1000" dirty="0">
                <a:highlight>
                  <a:srgbClr val="FFFF00"/>
                </a:highlight>
                <a:latin typeface="Calibir"/>
              </a:rPr>
              <a:t>) {</a:t>
            </a:r>
          </a:p>
          <a:p>
            <a:r>
              <a:rPr lang="en-US" sz="1000" dirty="0">
                <a:highlight>
                  <a:srgbClr val="FFFF00"/>
                </a:highlight>
                <a:latin typeface="Calibir"/>
              </a:rPr>
              <a:t>        Scanner input =</a:t>
            </a:r>
          </a:p>
          <a:p>
            <a:r>
              <a:rPr lang="en-US" sz="1000" dirty="0">
                <a:highlight>
                  <a:srgbClr val="FFFF00"/>
                </a:highlight>
                <a:latin typeface="Calibir"/>
              </a:rPr>
              <a:t>                new Scanner(System.in);</a:t>
            </a:r>
          </a:p>
          <a:p>
            <a:r>
              <a:rPr lang="en-US" sz="1000" dirty="0">
                <a:highlight>
                  <a:srgbClr val="FFFF00"/>
                </a:highlight>
                <a:latin typeface="Calibir"/>
              </a:rPr>
              <a:t>        Bank </a:t>
            </a:r>
            <a:r>
              <a:rPr lang="en-US" sz="1000" dirty="0" err="1">
                <a:highlight>
                  <a:srgbClr val="FFFF00"/>
                </a:highlight>
                <a:latin typeface="Calibir"/>
              </a:rPr>
              <a:t>bank</a:t>
            </a:r>
            <a:r>
              <a:rPr lang="en-US" sz="1000" dirty="0">
                <a:highlight>
                  <a:srgbClr val="FFFF00"/>
                </a:highlight>
                <a:latin typeface="Calibir"/>
              </a:rPr>
              <a:t> =</a:t>
            </a:r>
          </a:p>
          <a:p>
            <a:r>
              <a:rPr lang="en-US" sz="1000" dirty="0">
                <a:highlight>
                  <a:srgbClr val="FFFF00"/>
                </a:highlight>
                <a:latin typeface="Calibir"/>
              </a:rPr>
              <a:t>                new Bank(input);</a:t>
            </a:r>
          </a:p>
          <a:p>
            <a:r>
              <a:rPr lang="en-US" sz="1000" dirty="0">
                <a:highlight>
                  <a:srgbClr val="FFFF00"/>
                </a:highlight>
                <a:latin typeface="Calibir"/>
              </a:rPr>
              <a:t>        </a:t>
            </a:r>
            <a:r>
              <a:rPr lang="en-US" sz="1000" dirty="0" err="1">
                <a:highlight>
                  <a:srgbClr val="FFFF00"/>
                </a:highlight>
                <a:latin typeface="Calibir"/>
              </a:rPr>
              <a:t>bank.menu</a:t>
            </a:r>
            <a:r>
              <a:rPr lang="en-US" sz="1000" dirty="0">
                <a:highlight>
                  <a:srgbClr val="FFFF00"/>
                </a:highlight>
                <a:latin typeface="Calibir"/>
              </a:rPr>
              <a:t>(input);</a:t>
            </a:r>
          </a:p>
          <a:p>
            <a:r>
              <a:rPr lang="en-US" sz="1000" dirty="0">
                <a:highlight>
                  <a:srgbClr val="FFFF00"/>
                </a:highlight>
                <a:latin typeface="Calibir"/>
              </a:rPr>
              <a:t>        </a:t>
            </a:r>
            <a:r>
              <a:rPr lang="en-US" sz="1000" dirty="0" err="1">
                <a:highlight>
                  <a:srgbClr val="FFFF00"/>
                </a:highlight>
                <a:latin typeface="Calibir"/>
              </a:rPr>
              <a:t>input.close</a:t>
            </a:r>
            <a:r>
              <a:rPr lang="en-US" sz="1000" dirty="0">
                <a:highlight>
                  <a:srgbClr val="FFFF00"/>
                </a:highlight>
                <a:latin typeface="Calibir"/>
              </a:rPr>
              <a:t>();</a:t>
            </a:r>
          </a:p>
          <a:p>
            <a:r>
              <a:rPr lang="en-US" sz="1000" dirty="0">
                <a:highlight>
                  <a:srgbClr val="FFFF00"/>
                </a:highlight>
                <a:latin typeface="Calibir"/>
              </a:rPr>
              <a:t>    }</a:t>
            </a:r>
          </a:p>
          <a:p>
            <a:r>
              <a:rPr lang="en-US" sz="1000" dirty="0">
                <a:highlight>
                  <a:srgbClr val="FFFF00"/>
                </a:highlight>
                <a:latin typeface="Calibir"/>
              </a:rPr>
              <a:t>}</a:t>
            </a:r>
          </a:p>
        </p:txBody>
      </p:sp>
    </p:spTree>
    <p:custDataLst>
      <p:tags r:id="rId1"/>
    </p:custDataLst>
    <p:extLst>
      <p:ext uri="{BB962C8B-B14F-4D97-AF65-F5344CB8AC3E}">
        <p14:creationId xmlns:p14="http://schemas.microsoft.com/office/powerpoint/2010/main" val="356704753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74746-1873-D461-8361-40EB2EE9A0C6}"/>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FEBFD532-E6A1-B79D-EFEB-CDB1B716AB12}"/>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23" name="TextBox 22">
            <a:extLst>
              <a:ext uri="{FF2B5EF4-FFF2-40B4-BE49-F238E27FC236}">
                <a16:creationId xmlns:a16="http://schemas.microsoft.com/office/drawing/2014/main" id="{0B2E122B-C0A3-6600-090B-5CBF00810801}"/>
              </a:ext>
            </a:extLst>
          </p:cNvPr>
          <p:cNvSpPr txBox="1"/>
          <p:nvPr/>
        </p:nvSpPr>
        <p:spPr>
          <a:xfrm>
            <a:off x="812800" y="1130587"/>
            <a:ext cx="8331200" cy="4955331"/>
          </a:xfrm>
          <a:prstGeom prst="rect">
            <a:avLst/>
          </a:prstGeom>
          <a:noFill/>
        </p:spPr>
        <p:txBody>
          <a:bodyPr wrap="square" rtlCol="0">
            <a:spAutoFit/>
          </a:bodyPr>
          <a:lstStyle/>
          <a:p>
            <a:pPr>
              <a:lnSpc>
                <a:spcPct val="150000"/>
              </a:lnSpc>
            </a:pPr>
            <a:r>
              <a:rPr lang="en-US" sz="2133" dirty="0">
                <a:latin typeface="Economica" panose="020B0604020202020204" charset="0"/>
              </a:rPr>
              <a:t>Develop the program </a:t>
            </a:r>
            <a:r>
              <a:rPr lang="en-US" sz="2133" b="1" dirty="0">
                <a:latin typeface="Economica" panose="020B0604020202020204" charset="0"/>
              </a:rPr>
              <a:t>Lab6Exercise1</a:t>
            </a:r>
            <a:r>
              <a:rPr lang="en-US" sz="2133" dirty="0">
                <a:latin typeface="Economica" panose="020B0604020202020204" charset="0"/>
              </a:rPr>
              <a:t> that contains the following two steps:</a:t>
            </a:r>
            <a:endParaRPr lang="en-US" sz="2133" b="1" dirty="0">
              <a:latin typeface="Economica" panose="020B0604020202020204" charset="0"/>
            </a:endParaRPr>
          </a:p>
          <a:p>
            <a:pPr>
              <a:lnSpc>
                <a:spcPct val="150000"/>
              </a:lnSpc>
            </a:pPr>
            <a:r>
              <a:rPr lang="en-US" sz="2133" b="1" dirty="0">
                <a:latin typeface="Economica" panose="020B0604020202020204" charset="0"/>
              </a:rPr>
              <a:t>Step 1: </a:t>
            </a:r>
            <a:r>
              <a:rPr lang="en-US" sz="2133" dirty="0">
                <a:latin typeface="Economica" panose="020B0604020202020204" charset="0"/>
              </a:rPr>
              <a:t>Develop the class Person </a:t>
            </a:r>
          </a:p>
          <a:p>
            <a:pPr marL="380990" indent="-380990">
              <a:lnSpc>
                <a:spcPct val="150000"/>
              </a:lnSpc>
              <a:buFont typeface="Arial" panose="020B0604020202020204" pitchFamily="34" charset="0"/>
              <a:buChar char="•"/>
            </a:pPr>
            <a:r>
              <a:rPr lang="en-US" sz="2133" dirty="0">
                <a:latin typeface="Economica" panose="020B0604020202020204" charset="0"/>
              </a:rPr>
              <a:t>Person has a name and an age</a:t>
            </a:r>
          </a:p>
          <a:p>
            <a:pPr marL="380990" indent="-380990">
              <a:lnSpc>
                <a:spcPct val="150000"/>
              </a:lnSpc>
              <a:buFont typeface="Arial" panose="020B0604020202020204" pitchFamily="34" charset="0"/>
              <a:buChar char="•"/>
            </a:pPr>
            <a:r>
              <a:rPr lang="en-US" sz="2133" dirty="0">
                <a:latin typeface="Economica" panose="020B0604020202020204" charset="0"/>
              </a:rPr>
              <a:t>Define a constructor to initialize the name and age fields to default</a:t>
            </a:r>
          </a:p>
          <a:p>
            <a:pPr marL="380990" indent="-380990">
              <a:lnSpc>
                <a:spcPct val="150000"/>
              </a:lnSpc>
              <a:buFont typeface="Arial" panose="020B0604020202020204" pitchFamily="34" charset="0"/>
              <a:buChar char="•"/>
            </a:pPr>
            <a:r>
              <a:rPr lang="en-US" sz="2133" dirty="0">
                <a:latin typeface="Economica" panose="020B0604020202020204" charset="0"/>
              </a:rPr>
              <a:t>Define a constructor to initialize the fields from parameters</a:t>
            </a:r>
          </a:p>
          <a:p>
            <a:pPr marL="380990" indent="-380990">
              <a:lnSpc>
                <a:spcPct val="150000"/>
              </a:lnSpc>
              <a:buFont typeface="Arial" panose="020B0604020202020204" pitchFamily="34" charset="0"/>
              <a:buChar char="•"/>
            </a:pPr>
            <a:r>
              <a:rPr lang="en-US" sz="2133" dirty="0">
                <a:latin typeface="Economica" panose="020B0604020202020204" charset="0"/>
              </a:rPr>
              <a:t>Define accessors/mutators for the fields</a:t>
            </a:r>
          </a:p>
          <a:p>
            <a:pPr marL="380990" indent="-380990">
              <a:lnSpc>
                <a:spcPct val="150000"/>
              </a:lnSpc>
              <a:buFont typeface="Arial" panose="020B0604020202020204" pitchFamily="34" charset="0"/>
              <a:buChar char="•"/>
            </a:pPr>
            <a:r>
              <a:rPr lang="en-US" sz="2133" dirty="0">
                <a:latin typeface="Economica" panose="020B0604020202020204" charset="0"/>
              </a:rPr>
              <a:t>Override </a:t>
            </a:r>
            <a:r>
              <a:rPr lang="en-US" sz="2133" dirty="0" err="1">
                <a:latin typeface="Economica" panose="020B0604020202020204" charset="0"/>
              </a:rPr>
              <a:t>toString</a:t>
            </a:r>
            <a:r>
              <a:rPr lang="en-US" sz="2133" dirty="0">
                <a:latin typeface="Economica" panose="020B0604020202020204" charset="0"/>
              </a:rPr>
              <a:t>() to return: </a:t>
            </a:r>
            <a:r>
              <a:rPr lang="en-US" sz="2133" dirty="0">
                <a:solidFill>
                  <a:schemeClr val="accent6">
                    <a:lumMod val="75000"/>
                  </a:schemeClr>
                </a:solidFill>
                <a:latin typeface="Economica" panose="020B0604020202020204" charset="0"/>
              </a:rPr>
              <a:t>“&lt;name&gt; age is &lt;age&gt;”</a:t>
            </a:r>
          </a:p>
          <a:p>
            <a:pPr>
              <a:lnSpc>
                <a:spcPct val="150000"/>
              </a:lnSpc>
            </a:pPr>
            <a:endParaRPr lang="en-US" sz="2133" dirty="0">
              <a:latin typeface="Economica" panose="020B0604020202020204" charset="0"/>
            </a:endParaRPr>
          </a:p>
        </p:txBody>
      </p:sp>
      <p:sp>
        <p:nvSpPr>
          <p:cNvPr id="4" name="Title 1">
            <a:extLst>
              <a:ext uri="{FF2B5EF4-FFF2-40B4-BE49-F238E27FC236}">
                <a16:creationId xmlns:a16="http://schemas.microsoft.com/office/drawing/2014/main" id="{92CA6931-31C3-0EF3-0CC4-55EE5D587645}"/>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Tree>
    <p:custDataLst>
      <p:tags r:id="rId1"/>
    </p:custDataLst>
    <p:extLst>
      <p:ext uri="{BB962C8B-B14F-4D97-AF65-F5344CB8AC3E}">
        <p14:creationId xmlns:p14="http://schemas.microsoft.com/office/powerpoint/2010/main" val="153639066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23" name="TextBox 22">
            <a:extLst>
              <a:ext uri="{FF2B5EF4-FFF2-40B4-BE49-F238E27FC236}">
                <a16:creationId xmlns:a16="http://schemas.microsoft.com/office/drawing/2014/main" id="{4DDBEC6B-567C-F8A4-ABD1-8A0121265A70}"/>
              </a:ext>
            </a:extLst>
          </p:cNvPr>
          <p:cNvSpPr txBox="1"/>
          <p:nvPr/>
        </p:nvSpPr>
        <p:spPr>
          <a:xfrm>
            <a:off x="730579" y="1089521"/>
            <a:ext cx="10642420" cy="5447710"/>
          </a:xfrm>
          <a:prstGeom prst="rect">
            <a:avLst/>
          </a:prstGeom>
          <a:noFill/>
        </p:spPr>
        <p:txBody>
          <a:bodyPr wrap="square" rtlCol="0">
            <a:spAutoFit/>
          </a:bodyPr>
          <a:lstStyle/>
          <a:p>
            <a:pPr defTabSz="609585">
              <a:lnSpc>
                <a:spcPct val="150000"/>
              </a:lnSpc>
            </a:pPr>
            <a:r>
              <a:rPr lang="en-US" sz="2133" b="1" dirty="0">
                <a:latin typeface="Economica" panose="020B0604020202020204" charset="0"/>
              </a:rPr>
              <a:t>Step 2: </a:t>
            </a:r>
            <a:r>
              <a:rPr lang="en-US" sz="2133" dirty="0">
                <a:latin typeface="Economica" panose="020B0604020202020204" charset="0"/>
              </a:rPr>
              <a:t> Develop the class People </a:t>
            </a:r>
          </a:p>
          <a:p>
            <a:pPr marL="380990" indent="-380990" defTabSz="609585">
              <a:lnSpc>
                <a:spcPct val="150000"/>
              </a:lnSpc>
              <a:buFont typeface="Arial" panose="020B0604020202020204" pitchFamily="34" charset="0"/>
              <a:buChar char="•"/>
            </a:pPr>
            <a:r>
              <a:rPr lang="en-US" sz="2133" dirty="0">
                <a:latin typeface="Economica" panose="020B0604020202020204" charset="0"/>
              </a:rPr>
              <a:t>People has two person fields</a:t>
            </a:r>
          </a:p>
          <a:p>
            <a:pPr defTabSz="609585">
              <a:lnSpc>
                <a:spcPct val="150000"/>
              </a:lnSpc>
            </a:pPr>
            <a:r>
              <a:rPr lang="en-US" sz="2133" dirty="0">
                <a:latin typeface="Economica" panose="020B0604020202020204" charset="0"/>
              </a:rPr>
              <a:t>	- The first person is initialized using default constructor</a:t>
            </a:r>
          </a:p>
          <a:p>
            <a:pPr defTabSz="609585">
              <a:lnSpc>
                <a:spcPct val="150000"/>
              </a:lnSpc>
            </a:pPr>
            <a:r>
              <a:rPr lang="en-US" sz="2133" dirty="0">
                <a:latin typeface="Economica" panose="020B0604020202020204" charset="0"/>
              </a:rPr>
              <a:t>	- The second person is initialized using the constructor with parameters </a:t>
            </a:r>
          </a:p>
          <a:p>
            <a:pPr defTabSz="609585">
              <a:lnSpc>
                <a:spcPct val="150000"/>
              </a:lnSpc>
            </a:pPr>
            <a:r>
              <a:rPr lang="en-US" sz="2133" i="1" dirty="0">
                <a:solidFill>
                  <a:schemeClr val="tx1">
                    <a:lumMod val="50000"/>
                    <a:lumOff val="50000"/>
                  </a:schemeClr>
                </a:solidFill>
                <a:latin typeface="Economica" panose="020B0604020202020204" charset="0"/>
              </a:rPr>
              <a:t>	The argument-values  for this constructor should be read from keyboard</a:t>
            </a:r>
          </a:p>
          <a:p>
            <a:pPr marL="380990" indent="-380990" defTabSz="609585">
              <a:lnSpc>
                <a:spcPct val="150000"/>
              </a:lnSpc>
              <a:buFont typeface="Arial" panose="020B0604020202020204" pitchFamily="34" charset="0"/>
              <a:buChar char="•"/>
            </a:pPr>
            <a:r>
              <a:rPr lang="en-US" sz="2133" dirty="0">
                <a:latin typeface="Economica" panose="020B0604020202020204" charset="0"/>
              </a:rPr>
              <a:t>Define a method called ‘show’ that outputs a person’s information</a:t>
            </a:r>
          </a:p>
          <a:p>
            <a:pPr marL="380990" indent="-380990" defTabSz="609585">
              <a:lnSpc>
                <a:spcPct val="150000"/>
              </a:lnSpc>
              <a:buFont typeface="Arial" panose="020B0604020202020204" pitchFamily="34" charset="0"/>
              <a:buChar char="•"/>
            </a:pPr>
            <a:r>
              <a:rPr lang="en-US" sz="2133" dirty="0">
                <a:latin typeface="Economica" panose="020B0604020202020204" charset="0"/>
              </a:rPr>
              <a:t>Define a method ‘update’ that updates the name of a person</a:t>
            </a:r>
          </a:p>
          <a:p>
            <a:pPr marL="380990" indent="-380990" defTabSz="609585">
              <a:lnSpc>
                <a:spcPct val="150000"/>
              </a:lnSpc>
              <a:buFont typeface="Arial" panose="020B0604020202020204" pitchFamily="34" charset="0"/>
              <a:buChar char="•"/>
            </a:pPr>
            <a:r>
              <a:rPr lang="en-US" sz="2133" dirty="0">
                <a:latin typeface="Economica" panose="020B0604020202020204" charset="0"/>
              </a:rPr>
              <a:t>Define the main() method with the following functionalities: 1) create a People instance, 2) Show each person’s information, 3) Update each person’s name with the values read from the keyboard then show their information again</a:t>
            </a:r>
          </a:p>
          <a:p>
            <a:pPr marL="380990" indent="-380990" defTabSz="609585">
              <a:lnSpc>
                <a:spcPct val="150000"/>
              </a:lnSpc>
              <a:buFont typeface="Arial" panose="020B0604020202020204" pitchFamily="34" charset="0"/>
              <a:buChar char="•"/>
            </a:pPr>
            <a:endParaRPr lang="en-US" sz="2133" dirty="0">
              <a:latin typeface="Economica" panose="020B0604020202020204" charset="0"/>
            </a:endParaRPr>
          </a:p>
        </p:txBody>
      </p:sp>
      <p:sp>
        <p:nvSpPr>
          <p:cNvPr id="4" name="Title 1">
            <a:extLst>
              <a:ext uri="{FF2B5EF4-FFF2-40B4-BE49-F238E27FC236}">
                <a16:creationId xmlns:a16="http://schemas.microsoft.com/office/drawing/2014/main" id="{DF439AAA-65AC-7D57-E943-87A57689AD2F}"/>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Tree>
    <p:custDataLst>
      <p:tags r:id="rId1"/>
    </p:custDataLst>
    <p:extLst>
      <p:ext uri="{BB962C8B-B14F-4D97-AF65-F5344CB8AC3E}">
        <p14:creationId xmlns:p14="http://schemas.microsoft.com/office/powerpoint/2010/main" val="288945230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760FE-40C2-34F0-6A6F-83A52CC5275F}"/>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8F93DB31-4AF1-A6FE-52E6-0A5D0A7193D3}"/>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4" name="Title 1">
            <a:extLst>
              <a:ext uri="{FF2B5EF4-FFF2-40B4-BE49-F238E27FC236}">
                <a16:creationId xmlns:a16="http://schemas.microsoft.com/office/drawing/2014/main" id="{F255CCA8-B5AA-1532-77DB-C58C41B18694}"/>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
        <p:nvSpPr>
          <p:cNvPr id="6" name="TextBox 5">
            <a:extLst>
              <a:ext uri="{FF2B5EF4-FFF2-40B4-BE49-F238E27FC236}">
                <a16:creationId xmlns:a16="http://schemas.microsoft.com/office/drawing/2014/main" id="{846A7A78-900B-A029-C8DC-A6CCEBE09F1E}"/>
              </a:ext>
            </a:extLst>
          </p:cNvPr>
          <p:cNvSpPr txBox="1"/>
          <p:nvPr/>
        </p:nvSpPr>
        <p:spPr>
          <a:xfrm>
            <a:off x="0" y="536028"/>
            <a:ext cx="12192000" cy="5196166"/>
          </a:xfrm>
          <a:prstGeom prst="rect">
            <a:avLst/>
          </a:prstGeom>
          <a:noFill/>
        </p:spPr>
        <p:txBody>
          <a:bodyPr wrap="square">
            <a:spAutoFit/>
          </a:bodyPr>
          <a:lstStyle/>
          <a:p>
            <a:pPr>
              <a:lnSpc>
                <a:spcPct val="150000"/>
              </a:lnSpc>
              <a:buNone/>
            </a:pPr>
            <a:r>
              <a:rPr lang="en-US" sz="2800" b="1" dirty="0">
                <a:latin typeface="Calibir"/>
              </a:rPr>
              <a:t>Lab 6 Exercise 1 — Person and People</a:t>
            </a:r>
          </a:p>
          <a:p>
            <a:pPr>
              <a:lnSpc>
                <a:spcPct val="150000"/>
              </a:lnSpc>
              <a:buNone/>
            </a:pPr>
            <a:r>
              <a:rPr lang="en-US" sz="2800" dirty="0">
                <a:latin typeface="Calibir"/>
              </a:rPr>
              <a:t>This exercise teaches:</a:t>
            </a:r>
          </a:p>
          <a:p>
            <a:pPr marL="714375" lvl="0" indent="-457200">
              <a:lnSpc>
                <a:spcPct val="150000"/>
              </a:lnSpc>
              <a:buFont typeface="Arial" panose="020B0604020202020204" pitchFamily="34" charset="0"/>
              <a:buChar char="•"/>
            </a:pPr>
            <a:r>
              <a:rPr lang="en-US" sz="2800" dirty="0">
                <a:latin typeface="Calibir"/>
              </a:rPr>
              <a:t>classes and objects </a:t>
            </a:r>
          </a:p>
          <a:p>
            <a:pPr marL="714375" lvl="0" indent="-457200">
              <a:lnSpc>
                <a:spcPct val="150000"/>
              </a:lnSpc>
              <a:buFont typeface="Arial" panose="020B0604020202020204" pitchFamily="34" charset="0"/>
              <a:buChar char="•"/>
            </a:pPr>
            <a:r>
              <a:rPr lang="en-US" sz="2800" dirty="0">
                <a:latin typeface="Calibir"/>
              </a:rPr>
              <a:t>constructors </a:t>
            </a:r>
          </a:p>
          <a:p>
            <a:pPr marL="714375" lvl="0" indent="-457200">
              <a:lnSpc>
                <a:spcPct val="150000"/>
              </a:lnSpc>
              <a:buFont typeface="Arial" panose="020B0604020202020204" pitchFamily="34" charset="0"/>
              <a:buChar char="•"/>
            </a:pPr>
            <a:r>
              <a:rPr lang="en-US" sz="2800" dirty="0">
                <a:latin typeface="Calibir"/>
              </a:rPr>
              <a:t>constructor overloading </a:t>
            </a:r>
          </a:p>
          <a:p>
            <a:pPr marL="714375" lvl="0" indent="-457200">
              <a:lnSpc>
                <a:spcPct val="150000"/>
              </a:lnSpc>
              <a:buFont typeface="Arial" panose="020B0604020202020204" pitchFamily="34" charset="0"/>
              <a:buChar char="•"/>
            </a:pPr>
            <a:r>
              <a:rPr lang="en-US" sz="2800" dirty="0">
                <a:latin typeface="Calibir"/>
              </a:rPr>
              <a:t>getters/setters </a:t>
            </a:r>
          </a:p>
          <a:p>
            <a:pPr marL="714375" lvl="0" indent="-457200">
              <a:lnSpc>
                <a:spcPct val="150000"/>
              </a:lnSpc>
              <a:buFont typeface="Arial" panose="020B0604020202020204" pitchFamily="34" charset="0"/>
              <a:buChar char="•"/>
            </a:pPr>
            <a:r>
              <a:rPr lang="en-US" sz="2800" dirty="0" err="1">
                <a:latin typeface="Calibir"/>
              </a:rPr>
              <a:t>toString</a:t>
            </a:r>
            <a:r>
              <a:rPr lang="en-US" sz="2800" dirty="0">
                <a:latin typeface="Calibir"/>
              </a:rPr>
              <a:t>() </a:t>
            </a:r>
          </a:p>
          <a:p>
            <a:pPr marL="714375" lvl="0" indent="-457200">
              <a:lnSpc>
                <a:spcPct val="150000"/>
              </a:lnSpc>
              <a:buFont typeface="Arial" panose="020B0604020202020204" pitchFamily="34" charset="0"/>
              <a:buChar char="•"/>
            </a:pPr>
            <a:r>
              <a:rPr lang="en-US" sz="2800" dirty="0">
                <a:latin typeface="Calibir"/>
              </a:rPr>
              <a:t>object composition </a:t>
            </a:r>
          </a:p>
        </p:txBody>
      </p:sp>
    </p:spTree>
    <p:custDataLst>
      <p:tags r:id="rId1"/>
    </p:custDataLst>
    <p:extLst>
      <p:ext uri="{BB962C8B-B14F-4D97-AF65-F5344CB8AC3E}">
        <p14:creationId xmlns:p14="http://schemas.microsoft.com/office/powerpoint/2010/main" val="108162199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A7B67-A421-F70F-A6F4-69AD03E26BAC}"/>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B1E17270-6F57-E887-6EBB-2DEAAFB884DF}"/>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6" name="TextBox 5">
            <a:extLst>
              <a:ext uri="{FF2B5EF4-FFF2-40B4-BE49-F238E27FC236}">
                <a16:creationId xmlns:a16="http://schemas.microsoft.com/office/drawing/2014/main" id="{9ACE400A-0811-E338-CB3C-2B7115DF77CB}"/>
              </a:ext>
            </a:extLst>
          </p:cNvPr>
          <p:cNvSpPr txBox="1"/>
          <p:nvPr/>
        </p:nvSpPr>
        <p:spPr>
          <a:xfrm>
            <a:off x="0" y="-189523"/>
            <a:ext cx="12192000" cy="7237046"/>
          </a:xfrm>
          <a:prstGeom prst="rect">
            <a:avLst/>
          </a:prstGeom>
          <a:noFill/>
        </p:spPr>
        <p:txBody>
          <a:bodyPr wrap="square">
            <a:spAutoFit/>
          </a:bodyPr>
          <a:lstStyle/>
          <a:p>
            <a:pPr>
              <a:lnSpc>
                <a:spcPct val="150000"/>
              </a:lnSpc>
              <a:buNone/>
            </a:pPr>
            <a:r>
              <a:rPr lang="en-US" sz="2400" b="1" dirty="0">
                <a:latin typeface="Calibir"/>
              </a:rPr>
              <a:t>Step 1 — Person fields</a:t>
            </a:r>
          </a:p>
          <a:p>
            <a:pPr>
              <a:lnSpc>
                <a:spcPct val="150000"/>
              </a:lnSpc>
              <a:buNone/>
            </a:pPr>
            <a:r>
              <a:rPr lang="en-US" sz="2400" dirty="0">
                <a:latin typeface="Calibir"/>
              </a:rPr>
              <a:t>Person needs:</a:t>
            </a:r>
          </a:p>
          <a:p>
            <a:pPr>
              <a:lnSpc>
                <a:spcPct val="150000"/>
              </a:lnSpc>
            </a:pPr>
            <a:r>
              <a:rPr lang="en-US" sz="2400" dirty="0">
                <a:highlight>
                  <a:srgbClr val="FFFF00"/>
                </a:highlight>
                <a:latin typeface="Calibir"/>
              </a:rPr>
              <a:t>name</a:t>
            </a:r>
          </a:p>
          <a:p>
            <a:pPr>
              <a:lnSpc>
                <a:spcPct val="150000"/>
              </a:lnSpc>
            </a:pPr>
            <a:r>
              <a:rPr lang="en-US" sz="2400" dirty="0">
                <a:highlight>
                  <a:srgbClr val="FFFF00"/>
                </a:highlight>
                <a:latin typeface="Calibir"/>
              </a:rPr>
              <a:t>age</a:t>
            </a:r>
          </a:p>
          <a:p>
            <a:pPr>
              <a:lnSpc>
                <a:spcPct val="150000"/>
              </a:lnSpc>
              <a:buNone/>
            </a:pPr>
            <a:r>
              <a:rPr lang="en-US" sz="2400" b="1" dirty="0">
                <a:latin typeface="Calibir"/>
              </a:rPr>
              <a:t>Python</a:t>
            </a:r>
          </a:p>
          <a:p>
            <a:pPr>
              <a:lnSpc>
                <a:spcPct val="150000"/>
              </a:lnSpc>
            </a:pPr>
            <a:r>
              <a:rPr lang="en-US" sz="2400" dirty="0">
                <a:highlight>
                  <a:srgbClr val="FFFF00"/>
                </a:highlight>
                <a:latin typeface="Calibir"/>
              </a:rPr>
              <a:t>class Person:</a:t>
            </a:r>
          </a:p>
          <a:p>
            <a:pPr>
              <a:lnSpc>
                <a:spcPct val="150000"/>
              </a:lnSpc>
            </a:pPr>
            <a:r>
              <a:rPr lang="en-US" sz="2400" dirty="0">
                <a:highlight>
                  <a:srgbClr val="FFFF00"/>
                </a:highlight>
                <a:latin typeface="Calibir"/>
              </a:rPr>
              <a:t>    def __</a:t>
            </a:r>
            <a:r>
              <a:rPr lang="en-US" sz="2400" dirty="0" err="1">
                <a:highlight>
                  <a:srgbClr val="FFFF00"/>
                </a:highlight>
                <a:latin typeface="Calibir"/>
              </a:rPr>
              <a:t>init</a:t>
            </a:r>
            <a:r>
              <a:rPr lang="en-US" sz="2400" dirty="0">
                <a:highlight>
                  <a:srgbClr val="FFFF00"/>
                </a:highlight>
                <a:latin typeface="Calibir"/>
              </a:rPr>
              <a:t>__(</a:t>
            </a:r>
          </a:p>
          <a:p>
            <a:pPr>
              <a:lnSpc>
                <a:spcPct val="150000"/>
              </a:lnSpc>
            </a:pPr>
            <a:r>
              <a:rPr lang="en-US" sz="2400" dirty="0">
                <a:highlight>
                  <a:srgbClr val="FFFF00"/>
                </a:highlight>
                <a:latin typeface="Calibir"/>
              </a:rPr>
              <a:t>            self,</a:t>
            </a:r>
          </a:p>
          <a:p>
            <a:pPr>
              <a:lnSpc>
                <a:spcPct val="150000"/>
              </a:lnSpc>
            </a:pPr>
            <a:r>
              <a:rPr lang="en-US" sz="2400" dirty="0">
                <a:highlight>
                  <a:srgbClr val="FFFF00"/>
                </a:highlight>
                <a:latin typeface="Calibir"/>
              </a:rPr>
              <a:t>            name="Unknown",</a:t>
            </a:r>
          </a:p>
          <a:p>
            <a:pPr>
              <a:lnSpc>
                <a:spcPct val="150000"/>
              </a:lnSpc>
            </a:pPr>
            <a:r>
              <a:rPr lang="en-US" sz="2400" dirty="0">
                <a:highlight>
                  <a:srgbClr val="FFFF00"/>
                </a:highlight>
                <a:latin typeface="Calibir"/>
              </a:rPr>
              <a:t>            age=0):</a:t>
            </a:r>
          </a:p>
          <a:p>
            <a:pPr>
              <a:lnSpc>
                <a:spcPct val="150000"/>
              </a:lnSpc>
            </a:pPr>
            <a:r>
              <a:rPr lang="en-US" sz="2400" dirty="0">
                <a:highlight>
                  <a:srgbClr val="FFFF00"/>
                </a:highlight>
                <a:latin typeface="Calibir"/>
              </a:rPr>
              <a:t>        self.name = name</a:t>
            </a:r>
          </a:p>
          <a:p>
            <a:pPr>
              <a:lnSpc>
                <a:spcPct val="150000"/>
              </a:lnSpc>
            </a:pPr>
            <a:r>
              <a:rPr lang="en-US" sz="2400" dirty="0">
                <a:highlight>
                  <a:srgbClr val="FFFF00"/>
                </a:highlight>
                <a:latin typeface="Calibir"/>
              </a:rPr>
              <a:t>        </a:t>
            </a:r>
            <a:r>
              <a:rPr lang="en-US" sz="2400" dirty="0" err="1">
                <a:highlight>
                  <a:srgbClr val="FFFF00"/>
                </a:highlight>
                <a:latin typeface="Calibir"/>
              </a:rPr>
              <a:t>self.age</a:t>
            </a:r>
            <a:r>
              <a:rPr lang="en-US" sz="2400" dirty="0">
                <a:highlight>
                  <a:srgbClr val="FFFF00"/>
                </a:highlight>
                <a:latin typeface="Calibir"/>
              </a:rPr>
              <a:t> = age</a:t>
            </a:r>
          </a:p>
          <a:p>
            <a:pPr>
              <a:lnSpc>
                <a:spcPct val="150000"/>
              </a:lnSpc>
              <a:buNone/>
            </a:pPr>
            <a:r>
              <a:rPr lang="en-US" sz="2400" dirty="0">
                <a:latin typeface="Calibir"/>
              </a:rPr>
              <a:t>Python uses default parameter values instead of Java-style overloaded constructors.</a:t>
            </a:r>
          </a:p>
        </p:txBody>
      </p:sp>
    </p:spTree>
    <p:custDataLst>
      <p:tags r:id="rId1"/>
    </p:custDataLst>
    <p:extLst>
      <p:ext uri="{BB962C8B-B14F-4D97-AF65-F5344CB8AC3E}">
        <p14:creationId xmlns:p14="http://schemas.microsoft.com/office/powerpoint/2010/main" val="358027598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49303-FE6A-CFE4-2EDE-764CE94A9395}"/>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9B06FB48-6889-284D-5D4C-E8A4161885A6}"/>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6" name="TextBox 5">
            <a:extLst>
              <a:ext uri="{FF2B5EF4-FFF2-40B4-BE49-F238E27FC236}">
                <a16:creationId xmlns:a16="http://schemas.microsoft.com/office/drawing/2014/main" id="{626B79E9-A652-CBEC-6546-B82B2266DA32}"/>
              </a:ext>
            </a:extLst>
          </p:cNvPr>
          <p:cNvSpPr txBox="1"/>
          <p:nvPr/>
        </p:nvSpPr>
        <p:spPr>
          <a:xfrm>
            <a:off x="0" y="87924"/>
            <a:ext cx="12192000" cy="2610843"/>
          </a:xfrm>
          <a:prstGeom prst="rect">
            <a:avLst/>
          </a:prstGeom>
          <a:noFill/>
        </p:spPr>
        <p:txBody>
          <a:bodyPr wrap="square">
            <a:spAutoFit/>
          </a:bodyPr>
          <a:lstStyle/>
          <a:p>
            <a:pPr>
              <a:lnSpc>
                <a:spcPct val="150000"/>
              </a:lnSpc>
            </a:pPr>
            <a:r>
              <a:rPr lang="en-US" sz="2800" dirty="0">
                <a:latin typeface="Calibir"/>
              </a:rPr>
              <a:t>Let’s use:</a:t>
            </a:r>
          </a:p>
          <a:p>
            <a:pPr>
              <a:lnSpc>
                <a:spcPct val="150000"/>
              </a:lnSpc>
            </a:pPr>
            <a:r>
              <a:rPr lang="en-US" sz="2800" dirty="0">
                <a:highlight>
                  <a:srgbClr val="FFFF00"/>
                </a:highlight>
                <a:latin typeface="Calibir"/>
              </a:rPr>
              <a:t>Unknown</a:t>
            </a:r>
          </a:p>
          <a:p>
            <a:pPr>
              <a:lnSpc>
                <a:spcPct val="150000"/>
              </a:lnSpc>
            </a:pPr>
            <a:r>
              <a:rPr lang="en-US" sz="2800" dirty="0">
                <a:highlight>
                  <a:srgbClr val="FFFF00"/>
                </a:highlight>
                <a:latin typeface="Calibir"/>
              </a:rPr>
              <a:t>0</a:t>
            </a:r>
          </a:p>
          <a:p>
            <a:pPr>
              <a:lnSpc>
                <a:spcPct val="150000"/>
              </a:lnSpc>
            </a:pPr>
            <a:r>
              <a:rPr lang="en-US" sz="2800" dirty="0">
                <a:latin typeface="Calibir"/>
              </a:rPr>
              <a:t>because the exercise does not specify the default values.</a:t>
            </a:r>
          </a:p>
        </p:txBody>
      </p:sp>
      <p:sp>
        <p:nvSpPr>
          <p:cNvPr id="5" name="TextBox 4">
            <a:extLst>
              <a:ext uri="{FF2B5EF4-FFF2-40B4-BE49-F238E27FC236}">
                <a16:creationId xmlns:a16="http://schemas.microsoft.com/office/drawing/2014/main" id="{6AFE8AF0-58E8-A7BB-5A2C-7EFD68AD483F}"/>
              </a:ext>
            </a:extLst>
          </p:cNvPr>
          <p:cNvSpPr txBox="1"/>
          <p:nvPr/>
        </p:nvSpPr>
        <p:spPr>
          <a:xfrm>
            <a:off x="0" y="2979540"/>
            <a:ext cx="6164824" cy="3257174"/>
          </a:xfrm>
          <a:prstGeom prst="rect">
            <a:avLst/>
          </a:prstGeom>
          <a:noFill/>
        </p:spPr>
        <p:txBody>
          <a:bodyPr wrap="square">
            <a:spAutoFit/>
          </a:bodyPr>
          <a:lstStyle/>
          <a:p>
            <a:pPr>
              <a:lnSpc>
                <a:spcPct val="150000"/>
              </a:lnSpc>
              <a:buNone/>
            </a:pPr>
            <a:r>
              <a:rPr lang="en-US" sz="2800" b="1" dirty="0">
                <a:latin typeface="Calibir"/>
              </a:rPr>
              <a:t>Java</a:t>
            </a:r>
          </a:p>
          <a:p>
            <a:pPr rtl="0">
              <a:lnSpc>
                <a:spcPct val="150000"/>
              </a:lnSpc>
              <a:buNone/>
            </a:pPr>
            <a:r>
              <a:rPr lang="en-US" sz="2800" dirty="0">
                <a:highlight>
                  <a:srgbClr val="FFFF00"/>
                </a:highlight>
                <a:latin typeface="Calibir"/>
              </a:rPr>
              <a:t>public class Person {</a:t>
            </a:r>
          </a:p>
          <a:p>
            <a:pPr rtl="0">
              <a:lnSpc>
                <a:spcPct val="150000"/>
              </a:lnSpc>
              <a:buNone/>
            </a:pPr>
            <a:r>
              <a:rPr lang="en-US" sz="2800" dirty="0">
                <a:highlight>
                  <a:srgbClr val="FFFF00"/>
                </a:highlight>
                <a:latin typeface="Calibir"/>
              </a:rPr>
              <a:t>    private String name;</a:t>
            </a:r>
          </a:p>
          <a:p>
            <a:pPr rtl="0">
              <a:lnSpc>
                <a:spcPct val="150000"/>
              </a:lnSpc>
              <a:buNone/>
            </a:pPr>
            <a:r>
              <a:rPr lang="en-US" sz="2800" dirty="0">
                <a:highlight>
                  <a:srgbClr val="FFFF00"/>
                </a:highlight>
                <a:latin typeface="Calibir"/>
              </a:rPr>
              <a:t>    private int age;</a:t>
            </a:r>
          </a:p>
          <a:p>
            <a:pPr rtl="0">
              <a:lnSpc>
                <a:spcPct val="150000"/>
              </a:lnSpc>
              <a:buNone/>
            </a:pPr>
            <a:r>
              <a:rPr lang="en-US" sz="2800" dirty="0">
                <a:highlight>
                  <a:srgbClr val="FFFF00"/>
                </a:highlight>
                <a:latin typeface="Calibir"/>
              </a:rPr>
              <a:t>}</a:t>
            </a:r>
          </a:p>
        </p:txBody>
      </p:sp>
    </p:spTree>
    <p:custDataLst>
      <p:tags r:id="rId1"/>
    </p:custDataLst>
    <p:extLst>
      <p:ext uri="{BB962C8B-B14F-4D97-AF65-F5344CB8AC3E}">
        <p14:creationId xmlns:p14="http://schemas.microsoft.com/office/powerpoint/2010/main" val="113260119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C370B-246D-8D32-7450-892236998947}"/>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75E609F7-DA81-A391-5EC3-C97D6983176C}"/>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7" name="TextBox 6">
            <a:extLst>
              <a:ext uri="{FF2B5EF4-FFF2-40B4-BE49-F238E27FC236}">
                <a16:creationId xmlns:a16="http://schemas.microsoft.com/office/drawing/2014/main" id="{8044D791-18A2-472F-6EF4-8AFAAE91D768}"/>
              </a:ext>
            </a:extLst>
          </p:cNvPr>
          <p:cNvSpPr txBox="1"/>
          <p:nvPr/>
        </p:nvSpPr>
        <p:spPr>
          <a:xfrm>
            <a:off x="0" y="412955"/>
            <a:ext cx="9147687" cy="5842497"/>
          </a:xfrm>
          <a:prstGeom prst="rect">
            <a:avLst/>
          </a:prstGeom>
          <a:noFill/>
        </p:spPr>
        <p:txBody>
          <a:bodyPr wrap="square">
            <a:spAutoFit/>
          </a:bodyPr>
          <a:lstStyle/>
          <a:p>
            <a:pPr>
              <a:lnSpc>
                <a:spcPct val="150000"/>
              </a:lnSpc>
              <a:buNone/>
            </a:pPr>
            <a:r>
              <a:rPr lang="en-US" sz="2800" b="1" dirty="0">
                <a:latin typeface="Calibir"/>
              </a:rPr>
              <a:t>Step 2 — Add constructors</a:t>
            </a:r>
          </a:p>
          <a:p>
            <a:pPr>
              <a:lnSpc>
                <a:spcPct val="150000"/>
              </a:lnSpc>
              <a:buNone/>
            </a:pPr>
            <a:r>
              <a:rPr lang="en-US" sz="2800" b="1" dirty="0">
                <a:latin typeface="Calibir"/>
              </a:rPr>
              <a:t>Python</a:t>
            </a:r>
          </a:p>
          <a:p>
            <a:pPr>
              <a:lnSpc>
                <a:spcPct val="150000"/>
              </a:lnSpc>
              <a:buNone/>
            </a:pPr>
            <a:r>
              <a:rPr lang="en-US" sz="2800" dirty="0">
                <a:latin typeface="Calibir"/>
              </a:rPr>
              <a:t>The one constructor supports both:</a:t>
            </a:r>
          </a:p>
          <a:p>
            <a:pPr rtl="0">
              <a:lnSpc>
                <a:spcPct val="150000"/>
              </a:lnSpc>
              <a:buNone/>
            </a:pPr>
            <a:r>
              <a:rPr lang="en-US" sz="2800" dirty="0">
                <a:highlight>
                  <a:srgbClr val="FFFF00"/>
                </a:highlight>
                <a:latin typeface="Calibir"/>
              </a:rPr>
              <a:t>Person()</a:t>
            </a:r>
          </a:p>
          <a:p>
            <a:pPr>
              <a:lnSpc>
                <a:spcPct val="150000"/>
              </a:lnSpc>
              <a:buNone/>
            </a:pPr>
            <a:r>
              <a:rPr lang="en-US" sz="2800" dirty="0">
                <a:latin typeface="Calibir"/>
              </a:rPr>
              <a:t>and:</a:t>
            </a:r>
          </a:p>
          <a:p>
            <a:pPr rtl="0">
              <a:lnSpc>
                <a:spcPct val="150000"/>
              </a:lnSpc>
              <a:buNone/>
            </a:pPr>
            <a:r>
              <a:rPr lang="en-US" sz="2800" dirty="0">
                <a:highlight>
                  <a:srgbClr val="FFFF00"/>
                </a:highlight>
                <a:latin typeface="Calibir"/>
              </a:rPr>
              <a:t>Person("Alice", 25)</a:t>
            </a:r>
          </a:p>
          <a:p>
            <a:pPr>
              <a:lnSpc>
                <a:spcPct val="150000"/>
              </a:lnSpc>
              <a:buNone/>
            </a:pPr>
            <a:r>
              <a:rPr lang="en-US" sz="2800" dirty="0">
                <a:latin typeface="Calibir"/>
              </a:rPr>
              <a:t>because of:</a:t>
            </a:r>
          </a:p>
          <a:p>
            <a:pPr rtl="0">
              <a:lnSpc>
                <a:spcPct val="150000"/>
              </a:lnSpc>
              <a:buNone/>
            </a:pPr>
            <a:r>
              <a:rPr lang="en-US" sz="2800" dirty="0">
                <a:highlight>
                  <a:srgbClr val="FFFF00"/>
                </a:highlight>
                <a:latin typeface="Calibir"/>
              </a:rPr>
              <a:t>name="Unknown"</a:t>
            </a:r>
          </a:p>
          <a:p>
            <a:pPr rtl="0">
              <a:lnSpc>
                <a:spcPct val="150000"/>
              </a:lnSpc>
              <a:buNone/>
            </a:pPr>
            <a:r>
              <a:rPr lang="en-US" sz="2800" dirty="0">
                <a:highlight>
                  <a:srgbClr val="FFFF00"/>
                </a:highlight>
                <a:latin typeface="Calibir"/>
              </a:rPr>
              <a:t>age=0</a:t>
            </a:r>
          </a:p>
        </p:txBody>
      </p:sp>
    </p:spTree>
    <p:custDataLst>
      <p:tags r:id="rId1"/>
    </p:custDataLst>
    <p:extLst>
      <p:ext uri="{BB962C8B-B14F-4D97-AF65-F5344CB8AC3E}">
        <p14:creationId xmlns:p14="http://schemas.microsoft.com/office/powerpoint/2010/main" val="195260459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0EC3A-901F-FFD7-7DA6-7BF5CB6C93D5}"/>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BE2AF1F3-ED50-1381-B656-8C694EBA1D11}"/>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3" name="TextBox 2">
            <a:extLst>
              <a:ext uri="{FF2B5EF4-FFF2-40B4-BE49-F238E27FC236}">
                <a16:creationId xmlns:a16="http://schemas.microsoft.com/office/drawing/2014/main" id="{250B25B1-ECA4-E978-02D6-FACF0FEC2901}"/>
              </a:ext>
            </a:extLst>
          </p:cNvPr>
          <p:cNvSpPr txBox="1"/>
          <p:nvPr/>
        </p:nvSpPr>
        <p:spPr>
          <a:xfrm>
            <a:off x="0" y="-89208"/>
            <a:ext cx="6098458" cy="7149521"/>
          </a:xfrm>
          <a:prstGeom prst="rect">
            <a:avLst/>
          </a:prstGeom>
          <a:noFill/>
        </p:spPr>
        <p:txBody>
          <a:bodyPr wrap="square">
            <a:spAutoFit/>
          </a:bodyPr>
          <a:lstStyle/>
          <a:p>
            <a:pPr>
              <a:lnSpc>
                <a:spcPct val="150000"/>
              </a:lnSpc>
              <a:buNone/>
            </a:pPr>
            <a:r>
              <a:rPr lang="en-US" sz="2200" b="1" dirty="0">
                <a:latin typeface="Calibir"/>
              </a:rPr>
              <a:t>Java</a:t>
            </a:r>
          </a:p>
          <a:p>
            <a:pPr>
              <a:lnSpc>
                <a:spcPct val="150000"/>
              </a:lnSpc>
              <a:buNone/>
            </a:pPr>
            <a:r>
              <a:rPr lang="en-US" sz="2200" dirty="0">
                <a:highlight>
                  <a:srgbClr val="FFFF00"/>
                </a:highlight>
                <a:latin typeface="Calibir"/>
              </a:rPr>
              <a:t>Default constructor:</a:t>
            </a:r>
          </a:p>
          <a:p>
            <a:pPr rtl="0">
              <a:lnSpc>
                <a:spcPct val="150000"/>
              </a:lnSpc>
              <a:buNone/>
            </a:pPr>
            <a:r>
              <a:rPr lang="en-US" sz="2200" dirty="0">
                <a:highlight>
                  <a:srgbClr val="FFFF00"/>
                </a:highlight>
                <a:latin typeface="Calibir"/>
              </a:rPr>
              <a:t>public Person() {</a:t>
            </a:r>
          </a:p>
          <a:p>
            <a:pPr rtl="0">
              <a:lnSpc>
                <a:spcPct val="150000"/>
              </a:lnSpc>
              <a:buNone/>
            </a:pPr>
            <a:r>
              <a:rPr lang="en-US" sz="2200" dirty="0">
                <a:highlight>
                  <a:srgbClr val="FFFF00"/>
                </a:highlight>
                <a:latin typeface="Calibir"/>
              </a:rPr>
              <a:t>    name = "Unknown";</a:t>
            </a:r>
          </a:p>
          <a:p>
            <a:pPr rtl="0">
              <a:lnSpc>
                <a:spcPct val="150000"/>
              </a:lnSpc>
              <a:buNone/>
            </a:pPr>
            <a:r>
              <a:rPr lang="en-US" sz="2200" dirty="0">
                <a:highlight>
                  <a:srgbClr val="FFFF00"/>
                </a:highlight>
                <a:latin typeface="Calibir"/>
              </a:rPr>
              <a:t>    age = 0;</a:t>
            </a:r>
          </a:p>
          <a:p>
            <a:pPr rtl="0">
              <a:lnSpc>
                <a:spcPct val="150000"/>
              </a:lnSpc>
              <a:buNone/>
            </a:pPr>
            <a:r>
              <a:rPr lang="en-US" sz="2200" dirty="0">
                <a:highlight>
                  <a:srgbClr val="FFFF00"/>
                </a:highlight>
                <a:latin typeface="Calibir"/>
              </a:rPr>
              <a:t>}</a:t>
            </a:r>
          </a:p>
          <a:p>
            <a:pPr>
              <a:lnSpc>
                <a:spcPct val="150000"/>
              </a:lnSpc>
              <a:buNone/>
            </a:pPr>
            <a:r>
              <a:rPr lang="en-US" sz="2200" dirty="0">
                <a:latin typeface="Calibir"/>
              </a:rPr>
              <a:t>Parameterized constructor:</a:t>
            </a:r>
          </a:p>
          <a:p>
            <a:pPr rtl="0">
              <a:lnSpc>
                <a:spcPct val="150000"/>
              </a:lnSpc>
              <a:buNone/>
            </a:pPr>
            <a:r>
              <a:rPr lang="en-US" sz="2200" dirty="0">
                <a:highlight>
                  <a:srgbClr val="FFFF00"/>
                </a:highlight>
                <a:latin typeface="Calibir"/>
              </a:rPr>
              <a:t>public Person(</a:t>
            </a:r>
          </a:p>
          <a:p>
            <a:pPr rtl="0">
              <a:lnSpc>
                <a:spcPct val="150000"/>
              </a:lnSpc>
              <a:buNone/>
            </a:pPr>
            <a:r>
              <a:rPr lang="en-US" sz="2200" dirty="0">
                <a:highlight>
                  <a:srgbClr val="FFFF00"/>
                </a:highlight>
                <a:latin typeface="Calibir"/>
              </a:rPr>
              <a:t>        String name,</a:t>
            </a:r>
          </a:p>
          <a:p>
            <a:pPr rtl="0">
              <a:lnSpc>
                <a:spcPct val="150000"/>
              </a:lnSpc>
              <a:buNone/>
            </a:pPr>
            <a:r>
              <a:rPr lang="en-US" sz="2200" dirty="0">
                <a:highlight>
                  <a:srgbClr val="FFFF00"/>
                </a:highlight>
                <a:latin typeface="Calibir"/>
              </a:rPr>
              <a:t>        int age) {</a:t>
            </a:r>
          </a:p>
          <a:p>
            <a:pPr rtl="0">
              <a:lnSpc>
                <a:spcPct val="150000"/>
              </a:lnSpc>
              <a:buNone/>
            </a:pPr>
            <a:r>
              <a:rPr lang="en-US" sz="2200" dirty="0">
                <a:highlight>
                  <a:srgbClr val="FFFF00"/>
                </a:highlight>
                <a:latin typeface="Calibir"/>
              </a:rPr>
              <a:t>    this.name = name;</a:t>
            </a:r>
          </a:p>
          <a:p>
            <a:pPr rtl="0">
              <a:lnSpc>
                <a:spcPct val="150000"/>
              </a:lnSpc>
              <a:buNone/>
            </a:pPr>
            <a:r>
              <a:rPr lang="en-US" sz="2200" dirty="0">
                <a:highlight>
                  <a:srgbClr val="FFFF00"/>
                </a:highlight>
                <a:latin typeface="Calibir"/>
              </a:rPr>
              <a:t>    </a:t>
            </a:r>
            <a:r>
              <a:rPr lang="en-US" sz="2200" dirty="0" err="1">
                <a:highlight>
                  <a:srgbClr val="FFFF00"/>
                </a:highlight>
                <a:latin typeface="Calibir"/>
              </a:rPr>
              <a:t>this.age</a:t>
            </a:r>
            <a:r>
              <a:rPr lang="en-US" sz="2200" dirty="0">
                <a:highlight>
                  <a:srgbClr val="FFFF00"/>
                </a:highlight>
                <a:latin typeface="Calibir"/>
              </a:rPr>
              <a:t> = age;</a:t>
            </a:r>
          </a:p>
          <a:p>
            <a:pPr rtl="0">
              <a:lnSpc>
                <a:spcPct val="150000"/>
              </a:lnSpc>
              <a:buNone/>
            </a:pPr>
            <a:r>
              <a:rPr lang="en-US" sz="2200" dirty="0">
                <a:highlight>
                  <a:srgbClr val="FFFF00"/>
                </a:highlight>
                <a:latin typeface="Calibir"/>
              </a:rPr>
              <a:t>}</a:t>
            </a:r>
          </a:p>
          <a:p>
            <a:pPr>
              <a:lnSpc>
                <a:spcPct val="150000"/>
              </a:lnSpc>
              <a:buNone/>
            </a:pPr>
            <a:r>
              <a:rPr lang="en-US" sz="2200" dirty="0">
                <a:latin typeface="Calibir"/>
              </a:rPr>
              <a:t>This is constructor overloading.</a:t>
            </a:r>
          </a:p>
        </p:txBody>
      </p:sp>
    </p:spTree>
    <p:custDataLst>
      <p:tags r:id="rId1"/>
    </p:custDataLst>
    <p:extLst>
      <p:ext uri="{BB962C8B-B14F-4D97-AF65-F5344CB8AC3E}">
        <p14:creationId xmlns:p14="http://schemas.microsoft.com/office/powerpoint/2010/main" val="64128943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C33BB-49A2-6C1C-07C9-E61A2BC47814}"/>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1CF3B174-9127-88EB-3860-ED9E1CC4E41E}"/>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3" name="TextBox 2">
            <a:extLst>
              <a:ext uri="{FF2B5EF4-FFF2-40B4-BE49-F238E27FC236}">
                <a16:creationId xmlns:a16="http://schemas.microsoft.com/office/drawing/2014/main" id="{575F0C24-7E86-CED3-4928-7D0BC944ABF1}"/>
              </a:ext>
            </a:extLst>
          </p:cNvPr>
          <p:cNvSpPr txBox="1"/>
          <p:nvPr/>
        </p:nvSpPr>
        <p:spPr>
          <a:xfrm>
            <a:off x="-2458" y="87924"/>
            <a:ext cx="6098458" cy="4549835"/>
          </a:xfrm>
          <a:prstGeom prst="rect">
            <a:avLst/>
          </a:prstGeom>
          <a:noFill/>
        </p:spPr>
        <p:txBody>
          <a:bodyPr wrap="square">
            <a:spAutoFit/>
          </a:bodyPr>
          <a:lstStyle/>
          <a:p>
            <a:pPr>
              <a:lnSpc>
                <a:spcPct val="150000"/>
              </a:lnSpc>
            </a:pPr>
            <a:r>
              <a:rPr lang="en-US" sz="2800" b="1" dirty="0">
                <a:latin typeface="Calibir"/>
              </a:rPr>
              <a:t>Step 3 — Add accessors</a:t>
            </a:r>
          </a:p>
          <a:p>
            <a:pPr>
              <a:lnSpc>
                <a:spcPct val="150000"/>
              </a:lnSpc>
            </a:pPr>
            <a:r>
              <a:rPr lang="en-US" sz="2800" dirty="0">
                <a:latin typeface="Calibir"/>
              </a:rPr>
              <a:t>An accessor reads a field.</a:t>
            </a:r>
          </a:p>
          <a:p>
            <a:pPr>
              <a:lnSpc>
                <a:spcPct val="150000"/>
              </a:lnSpc>
            </a:pPr>
            <a:r>
              <a:rPr lang="en-US" sz="2800" b="1" dirty="0">
                <a:latin typeface="Calibir"/>
              </a:rPr>
              <a:t>Python</a:t>
            </a:r>
          </a:p>
          <a:p>
            <a:pPr>
              <a:lnSpc>
                <a:spcPct val="150000"/>
              </a:lnSpc>
            </a:pPr>
            <a:r>
              <a:rPr lang="en-US" sz="2800" dirty="0">
                <a:highlight>
                  <a:srgbClr val="FFFF00"/>
                </a:highlight>
                <a:latin typeface="Calibir"/>
              </a:rPr>
              <a:t>def </a:t>
            </a:r>
            <a:r>
              <a:rPr lang="en-US" sz="2800" dirty="0" err="1">
                <a:highlight>
                  <a:srgbClr val="FFFF00"/>
                </a:highlight>
                <a:latin typeface="Calibir"/>
              </a:rPr>
              <a:t>get_name</a:t>
            </a:r>
            <a:r>
              <a:rPr lang="en-US" sz="2800" dirty="0">
                <a:highlight>
                  <a:srgbClr val="FFFF00"/>
                </a:highlight>
                <a:latin typeface="Calibir"/>
              </a:rPr>
              <a:t>(self):</a:t>
            </a:r>
          </a:p>
          <a:p>
            <a:pPr>
              <a:lnSpc>
                <a:spcPct val="150000"/>
              </a:lnSpc>
            </a:pPr>
            <a:r>
              <a:rPr lang="en-US" sz="2800" dirty="0">
                <a:highlight>
                  <a:srgbClr val="FFFF00"/>
                </a:highlight>
                <a:latin typeface="Calibir"/>
              </a:rPr>
              <a:t>    return self.name</a:t>
            </a:r>
          </a:p>
          <a:p>
            <a:pPr>
              <a:lnSpc>
                <a:spcPct val="150000"/>
              </a:lnSpc>
            </a:pPr>
            <a:r>
              <a:rPr lang="en-US" sz="2800" dirty="0">
                <a:highlight>
                  <a:srgbClr val="FFFF00"/>
                </a:highlight>
                <a:latin typeface="Calibir"/>
              </a:rPr>
              <a:t>def </a:t>
            </a:r>
            <a:r>
              <a:rPr lang="en-US" sz="2800" dirty="0" err="1">
                <a:highlight>
                  <a:srgbClr val="FFFF00"/>
                </a:highlight>
                <a:latin typeface="Calibir"/>
              </a:rPr>
              <a:t>get_age</a:t>
            </a:r>
            <a:r>
              <a:rPr lang="en-US" sz="2800" dirty="0">
                <a:highlight>
                  <a:srgbClr val="FFFF00"/>
                </a:highlight>
                <a:latin typeface="Calibir"/>
              </a:rPr>
              <a:t>(self):</a:t>
            </a:r>
          </a:p>
          <a:p>
            <a:pPr>
              <a:lnSpc>
                <a:spcPct val="150000"/>
              </a:lnSpc>
            </a:pPr>
            <a:r>
              <a:rPr lang="en-US" sz="2800" dirty="0">
                <a:highlight>
                  <a:srgbClr val="FFFF00"/>
                </a:highlight>
                <a:latin typeface="Calibir"/>
              </a:rPr>
              <a:t>    return </a:t>
            </a:r>
            <a:r>
              <a:rPr lang="en-US" sz="2800" dirty="0" err="1">
                <a:highlight>
                  <a:srgbClr val="FFFF00"/>
                </a:highlight>
                <a:latin typeface="Calibir"/>
              </a:rPr>
              <a:t>self.age</a:t>
            </a:r>
            <a:endParaRPr lang="en-US" sz="2800" dirty="0">
              <a:highlight>
                <a:srgbClr val="FFFF00"/>
              </a:highlight>
              <a:latin typeface="Calibir"/>
            </a:endParaRPr>
          </a:p>
        </p:txBody>
      </p:sp>
      <p:sp>
        <p:nvSpPr>
          <p:cNvPr id="4" name="TextBox 3">
            <a:extLst>
              <a:ext uri="{FF2B5EF4-FFF2-40B4-BE49-F238E27FC236}">
                <a16:creationId xmlns:a16="http://schemas.microsoft.com/office/drawing/2014/main" id="{1468991B-43FA-7162-56B4-A0E1931D2B27}"/>
              </a:ext>
            </a:extLst>
          </p:cNvPr>
          <p:cNvSpPr txBox="1"/>
          <p:nvPr/>
        </p:nvSpPr>
        <p:spPr>
          <a:xfrm>
            <a:off x="6696306" y="0"/>
            <a:ext cx="5495694" cy="4401205"/>
          </a:xfrm>
          <a:prstGeom prst="rect">
            <a:avLst/>
          </a:prstGeom>
          <a:noFill/>
        </p:spPr>
        <p:txBody>
          <a:bodyPr wrap="square">
            <a:spAutoFit/>
          </a:bodyPr>
          <a:lstStyle/>
          <a:p>
            <a:pPr>
              <a:buNone/>
            </a:pPr>
            <a:r>
              <a:rPr lang="en-US" sz="2800" b="1" dirty="0">
                <a:latin typeface="Calibir"/>
              </a:rPr>
              <a:t>Java</a:t>
            </a:r>
          </a:p>
          <a:p>
            <a:pPr rtl="0">
              <a:buNone/>
            </a:pPr>
            <a:r>
              <a:rPr lang="en-US" sz="2800" dirty="0">
                <a:highlight>
                  <a:srgbClr val="FFFF00"/>
                </a:highlight>
                <a:latin typeface="Calibir"/>
              </a:rPr>
              <a:t>public String </a:t>
            </a:r>
            <a:r>
              <a:rPr lang="en-US" sz="2800" dirty="0" err="1">
                <a:highlight>
                  <a:srgbClr val="FFFF00"/>
                </a:highlight>
                <a:latin typeface="Calibir"/>
              </a:rPr>
              <a:t>getName</a:t>
            </a:r>
            <a:r>
              <a:rPr lang="en-US" sz="2800" dirty="0">
                <a:highlight>
                  <a:srgbClr val="FFFF00"/>
                </a:highlight>
                <a:latin typeface="Calibir"/>
              </a:rPr>
              <a:t>() {</a:t>
            </a:r>
          </a:p>
          <a:p>
            <a:pPr rtl="0">
              <a:buNone/>
            </a:pPr>
            <a:endParaRPr lang="en-US" sz="2800" dirty="0">
              <a:highlight>
                <a:srgbClr val="FFFF00"/>
              </a:highlight>
              <a:latin typeface="Calibir"/>
            </a:endParaRPr>
          </a:p>
          <a:p>
            <a:pPr rtl="0">
              <a:buNone/>
            </a:pPr>
            <a:r>
              <a:rPr lang="en-US" sz="2800" dirty="0">
                <a:highlight>
                  <a:srgbClr val="FFFF00"/>
                </a:highlight>
                <a:latin typeface="Calibir"/>
              </a:rPr>
              <a:t>    return name;</a:t>
            </a:r>
          </a:p>
          <a:p>
            <a:pPr rtl="0">
              <a:buNone/>
            </a:pPr>
            <a:r>
              <a:rPr lang="en-US" sz="2800" dirty="0">
                <a:highlight>
                  <a:srgbClr val="FFFF00"/>
                </a:highlight>
                <a:latin typeface="Calibir"/>
              </a:rPr>
              <a:t>}</a:t>
            </a:r>
          </a:p>
          <a:p>
            <a:pPr rtl="0">
              <a:buNone/>
            </a:pPr>
            <a:endParaRPr lang="en-US" sz="2800" dirty="0">
              <a:highlight>
                <a:srgbClr val="FFFF00"/>
              </a:highlight>
              <a:latin typeface="Calibir"/>
            </a:endParaRPr>
          </a:p>
          <a:p>
            <a:pPr rtl="0">
              <a:buNone/>
            </a:pPr>
            <a:r>
              <a:rPr lang="en-US" sz="2800" dirty="0">
                <a:highlight>
                  <a:srgbClr val="FFFF00"/>
                </a:highlight>
                <a:latin typeface="Calibir"/>
              </a:rPr>
              <a:t>public int </a:t>
            </a:r>
            <a:r>
              <a:rPr lang="en-US" sz="2800" dirty="0" err="1">
                <a:highlight>
                  <a:srgbClr val="FFFF00"/>
                </a:highlight>
                <a:latin typeface="Calibir"/>
              </a:rPr>
              <a:t>getAge</a:t>
            </a:r>
            <a:r>
              <a:rPr lang="en-US" sz="2800" dirty="0">
                <a:highlight>
                  <a:srgbClr val="FFFF00"/>
                </a:highlight>
                <a:latin typeface="Calibir"/>
              </a:rPr>
              <a:t>() {</a:t>
            </a:r>
          </a:p>
          <a:p>
            <a:pPr rtl="0">
              <a:buNone/>
            </a:pPr>
            <a:endParaRPr lang="en-US" sz="2800" dirty="0">
              <a:highlight>
                <a:srgbClr val="FFFF00"/>
              </a:highlight>
              <a:latin typeface="Calibir"/>
            </a:endParaRPr>
          </a:p>
          <a:p>
            <a:pPr rtl="0">
              <a:buNone/>
            </a:pPr>
            <a:r>
              <a:rPr lang="en-US" sz="2800" dirty="0">
                <a:highlight>
                  <a:srgbClr val="FFFF00"/>
                </a:highlight>
                <a:latin typeface="Calibir"/>
              </a:rPr>
              <a:t>    return age;</a:t>
            </a:r>
          </a:p>
          <a:p>
            <a:pPr rtl="0">
              <a:buNone/>
            </a:pPr>
            <a:r>
              <a:rPr lang="en-US" sz="2800" dirty="0">
                <a:highlight>
                  <a:srgbClr val="FFFF00"/>
                </a:highlight>
                <a:latin typeface="Calibir"/>
              </a:rPr>
              <a:t>}</a:t>
            </a:r>
          </a:p>
        </p:txBody>
      </p:sp>
    </p:spTree>
    <p:custDataLst>
      <p:tags r:id="rId1"/>
    </p:custDataLst>
    <p:extLst>
      <p:ext uri="{BB962C8B-B14F-4D97-AF65-F5344CB8AC3E}">
        <p14:creationId xmlns:p14="http://schemas.microsoft.com/office/powerpoint/2010/main" val="182812530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19573-2430-E372-6AEF-64FC3847506B}"/>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481CBCED-27C4-A8DB-E140-0623A8CBD0D2}"/>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3" name="TextBox 2">
            <a:extLst>
              <a:ext uri="{FF2B5EF4-FFF2-40B4-BE49-F238E27FC236}">
                <a16:creationId xmlns:a16="http://schemas.microsoft.com/office/drawing/2014/main" id="{916A289E-C99F-4E82-574D-2662826B9965}"/>
              </a:ext>
            </a:extLst>
          </p:cNvPr>
          <p:cNvSpPr txBox="1"/>
          <p:nvPr/>
        </p:nvSpPr>
        <p:spPr>
          <a:xfrm>
            <a:off x="-2458" y="87924"/>
            <a:ext cx="6098458" cy="4549835"/>
          </a:xfrm>
          <a:prstGeom prst="rect">
            <a:avLst/>
          </a:prstGeom>
          <a:noFill/>
        </p:spPr>
        <p:txBody>
          <a:bodyPr wrap="square">
            <a:spAutoFit/>
          </a:bodyPr>
          <a:lstStyle/>
          <a:p>
            <a:pPr>
              <a:lnSpc>
                <a:spcPct val="150000"/>
              </a:lnSpc>
            </a:pPr>
            <a:r>
              <a:rPr lang="en-US" sz="2800" b="1" dirty="0">
                <a:latin typeface="Calibir"/>
              </a:rPr>
              <a:t>Step 4 — Add mutators</a:t>
            </a:r>
          </a:p>
          <a:p>
            <a:pPr>
              <a:lnSpc>
                <a:spcPct val="150000"/>
              </a:lnSpc>
            </a:pPr>
            <a:r>
              <a:rPr lang="en-US" sz="2800" dirty="0">
                <a:latin typeface="Calibir"/>
              </a:rPr>
              <a:t>A mutator changes a field.</a:t>
            </a:r>
          </a:p>
          <a:p>
            <a:pPr>
              <a:lnSpc>
                <a:spcPct val="150000"/>
              </a:lnSpc>
            </a:pPr>
            <a:r>
              <a:rPr lang="en-US" sz="2800" b="1" dirty="0">
                <a:latin typeface="Calibir"/>
              </a:rPr>
              <a:t>Python</a:t>
            </a:r>
          </a:p>
          <a:p>
            <a:pPr>
              <a:lnSpc>
                <a:spcPct val="150000"/>
              </a:lnSpc>
            </a:pPr>
            <a:r>
              <a:rPr lang="en-US" sz="2800" dirty="0">
                <a:highlight>
                  <a:srgbClr val="FFFF00"/>
                </a:highlight>
                <a:latin typeface="Calibir"/>
              </a:rPr>
              <a:t>def </a:t>
            </a:r>
            <a:r>
              <a:rPr lang="en-US" sz="2800" dirty="0" err="1">
                <a:highlight>
                  <a:srgbClr val="FFFF00"/>
                </a:highlight>
                <a:latin typeface="Calibir"/>
              </a:rPr>
              <a:t>set_name</a:t>
            </a:r>
            <a:r>
              <a:rPr lang="en-US" sz="2800" dirty="0">
                <a:highlight>
                  <a:srgbClr val="FFFF00"/>
                </a:highlight>
                <a:latin typeface="Calibir"/>
              </a:rPr>
              <a:t>(self, name):</a:t>
            </a:r>
          </a:p>
          <a:p>
            <a:pPr>
              <a:lnSpc>
                <a:spcPct val="150000"/>
              </a:lnSpc>
            </a:pPr>
            <a:r>
              <a:rPr lang="en-US" sz="2800" dirty="0">
                <a:highlight>
                  <a:srgbClr val="FFFF00"/>
                </a:highlight>
                <a:latin typeface="Calibir"/>
              </a:rPr>
              <a:t>    self.name = name</a:t>
            </a:r>
          </a:p>
          <a:p>
            <a:pPr>
              <a:lnSpc>
                <a:spcPct val="150000"/>
              </a:lnSpc>
            </a:pPr>
            <a:r>
              <a:rPr lang="en-US" sz="2800" dirty="0">
                <a:highlight>
                  <a:srgbClr val="FFFF00"/>
                </a:highlight>
                <a:latin typeface="Calibir"/>
              </a:rPr>
              <a:t>def </a:t>
            </a:r>
            <a:r>
              <a:rPr lang="en-US" sz="2800" dirty="0" err="1">
                <a:highlight>
                  <a:srgbClr val="FFFF00"/>
                </a:highlight>
                <a:latin typeface="Calibir"/>
              </a:rPr>
              <a:t>set_age</a:t>
            </a:r>
            <a:r>
              <a:rPr lang="en-US" sz="2800" dirty="0">
                <a:highlight>
                  <a:srgbClr val="FFFF00"/>
                </a:highlight>
                <a:latin typeface="Calibir"/>
              </a:rPr>
              <a:t>(self, age):</a:t>
            </a:r>
          </a:p>
          <a:p>
            <a:pPr>
              <a:lnSpc>
                <a:spcPct val="150000"/>
              </a:lnSpc>
            </a:pPr>
            <a:r>
              <a:rPr lang="en-US" sz="2800" dirty="0">
                <a:highlight>
                  <a:srgbClr val="FFFF00"/>
                </a:highlight>
                <a:latin typeface="Calibir"/>
              </a:rPr>
              <a:t>    </a:t>
            </a:r>
            <a:r>
              <a:rPr lang="en-US" sz="2800" dirty="0" err="1">
                <a:highlight>
                  <a:srgbClr val="FFFF00"/>
                </a:highlight>
                <a:latin typeface="Calibir"/>
              </a:rPr>
              <a:t>self.age</a:t>
            </a:r>
            <a:r>
              <a:rPr lang="en-US" sz="2800" dirty="0">
                <a:highlight>
                  <a:srgbClr val="FFFF00"/>
                </a:highlight>
                <a:latin typeface="Calibir"/>
              </a:rPr>
              <a:t> = age</a:t>
            </a:r>
          </a:p>
        </p:txBody>
      </p:sp>
      <p:sp>
        <p:nvSpPr>
          <p:cNvPr id="4" name="TextBox 3">
            <a:extLst>
              <a:ext uri="{FF2B5EF4-FFF2-40B4-BE49-F238E27FC236}">
                <a16:creationId xmlns:a16="http://schemas.microsoft.com/office/drawing/2014/main" id="{DBBE4C93-2477-97BC-7366-B3370C14CDB7}"/>
              </a:ext>
            </a:extLst>
          </p:cNvPr>
          <p:cNvSpPr txBox="1"/>
          <p:nvPr/>
        </p:nvSpPr>
        <p:spPr>
          <a:xfrm>
            <a:off x="6696306" y="0"/>
            <a:ext cx="5495694" cy="5842497"/>
          </a:xfrm>
          <a:prstGeom prst="rect">
            <a:avLst/>
          </a:prstGeom>
          <a:noFill/>
        </p:spPr>
        <p:txBody>
          <a:bodyPr wrap="square">
            <a:spAutoFit/>
          </a:bodyPr>
          <a:lstStyle/>
          <a:p>
            <a:pPr>
              <a:lnSpc>
                <a:spcPct val="150000"/>
              </a:lnSpc>
            </a:pPr>
            <a:r>
              <a:rPr lang="en-US" sz="2800" b="1" dirty="0">
                <a:latin typeface="Calibir"/>
              </a:rPr>
              <a:t>Java</a:t>
            </a:r>
          </a:p>
          <a:p>
            <a:pPr>
              <a:lnSpc>
                <a:spcPct val="150000"/>
              </a:lnSpc>
            </a:pPr>
            <a:r>
              <a:rPr lang="en-US" sz="2800" dirty="0">
                <a:highlight>
                  <a:srgbClr val="FFFF00"/>
                </a:highlight>
                <a:latin typeface="Calibir"/>
              </a:rPr>
              <a:t>public void </a:t>
            </a:r>
            <a:r>
              <a:rPr lang="en-US" sz="2800" dirty="0" err="1">
                <a:highlight>
                  <a:srgbClr val="FFFF00"/>
                </a:highlight>
                <a:latin typeface="Calibir"/>
              </a:rPr>
              <a:t>setName</a:t>
            </a:r>
            <a:r>
              <a:rPr lang="en-US" sz="2800" dirty="0">
                <a:highlight>
                  <a:srgbClr val="FFFF00"/>
                </a:highlight>
                <a:latin typeface="Calibir"/>
              </a:rPr>
              <a:t>(</a:t>
            </a:r>
          </a:p>
          <a:p>
            <a:pPr>
              <a:lnSpc>
                <a:spcPct val="150000"/>
              </a:lnSpc>
            </a:pPr>
            <a:r>
              <a:rPr lang="en-US" sz="2800" dirty="0">
                <a:highlight>
                  <a:srgbClr val="FFFF00"/>
                </a:highlight>
                <a:latin typeface="Calibir"/>
              </a:rPr>
              <a:t>        String name) {</a:t>
            </a:r>
          </a:p>
          <a:p>
            <a:pPr>
              <a:lnSpc>
                <a:spcPct val="150000"/>
              </a:lnSpc>
            </a:pPr>
            <a:r>
              <a:rPr lang="en-US" sz="2800" dirty="0">
                <a:highlight>
                  <a:srgbClr val="FFFF00"/>
                </a:highlight>
                <a:latin typeface="Calibir"/>
              </a:rPr>
              <a:t>    this.name = name;</a:t>
            </a:r>
          </a:p>
          <a:p>
            <a:pPr>
              <a:lnSpc>
                <a:spcPct val="150000"/>
              </a:lnSpc>
            </a:pPr>
            <a:r>
              <a:rPr lang="en-US" sz="2800" dirty="0">
                <a:highlight>
                  <a:srgbClr val="FFFF00"/>
                </a:highlight>
                <a:latin typeface="Calibir"/>
              </a:rPr>
              <a:t>}</a:t>
            </a:r>
          </a:p>
          <a:p>
            <a:pPr>
              <a:lnSpc>
                <a:spcPct val="150000"/>
              </a:lnSpc>
            </a:pPr>
            <a:r>
              <a:rPr lang="en-US" sz="2800" dirty="0">
                <a:highlight>
                  <a:srgbClr val="FFFF00"/>
                </a:highlight>
                <a:latin typeface="Calibir"/>
              </a:rPr>
              <a:t>public void </a:t>
            </a:r>
            <a:r>
              <a:rPr lang="en-US" sz="2800" dirty="0" err="1">
                <a:highlight>
                  <a:srgbClr val="FFFF00"/>
                </a:highlight>
                <a:latin typeface="Calibir"/>
              </a:rPr>
              <a:t>setAge</a:t>
            </a:r>
            <a:r>
              <a:rPr lang="en-US" sz="2800" dirty="0">
                <a:highlight>
                  <a:srgbClr val="FFFF00"/>
                </a:highlight>
                <a:latin typeface="Calibir"/>
              </a:rPr>
              <a:t>(</a:t>
            </a:r>
          </a:p>
          <a:p>
            <a:pPr>
              <a:lnSpc>
                <a:spcPct val="150000"/>
              </a:lnSpc>
            </a:pPr>
            <a:r>
              <a:rPr lang="en-US" sz="2800" dirty="0">
                <a:highlight>
                  <a:srgbClr val="FFFF00"/>
                </a:highlight>
                <a:latin typeface="Calibir"/>
              </a:rPr>
              <a:t>        int age) {</a:t>
            </a:r>
          </a:p>
          <a:p>
            <a:pPr>
              <a:lnSpc>
                <a:spcPct val="150000"/>
              </a:lnSpc>
            </a:pPr>
            <a:r>
              <a:rPr lang="en-US" sz="2800" dirty="0">
                <a:highlight>
                  <a:srgbClr val="FFFF00"/>
                </a:highlight>
                <a:latin typeface="Calibir"/>
              </a:rPr>
              <a:t>    </a:t>
            </a:r>
            <a:r>
              <a:rPr lang="en-US" sz="2800" dirty="0" err="1">
                <a:highlight>
                  <a:srgbClr val="FFFF00"/>
                </a:highlight>
                <a:latin typeface="Calibir"/>
              </a:rPr>
              <a:t>this.age</a:t>
            </a:r>
            <a:r>
              <a:rPr lang="en-US" sz="2800" dirty="0">
                <a:highlight>
                  <a:srgbClr val="FFFF00"/>
                </a:highlight>
                <a:latin typeface="Calibir"/>
              </a:rPr>
              <a:t> = age;</a:t>
            </a:r>
          </a:p>
          <a:p>
            <a:pPr>
              <a:lnSpc>
                <a:spcPct val="150000"/>
              </a:lnSpc>
            </a:pPr>
            <a:r>
              <a:rPr lang="en-US" sz="2800" dirty="0">
                <a:highlight>
                  <a:srgbClr val="FFFF00"/>
                </a:highlight>
                <a:latin typeface="Calibir"/>
              </a:rPr>
              <a:t>}</a:t>
            </a:r>
          </a:p>
        </p:txBody>
      </p:sp>
    </p:spTree>
    <p:custDataLst>
      <p:tags r:id="rId1"/>
    </p:custDataLst>
    <p:extLst>
      <p:ext uri="{BB962C8B-B14F-4D97-AF65-F5344CB8AC3E}">
        <p14:creationId xmlns:p14="http://schemas.microsoft.com/office/powerpoint/2010/main" val="136910187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E1531-D20A-BB1D-5E55-C0236BCE6E89}"/>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49E4ECA7-FE52-E015-FD37-05802D20B67D}"/>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3" name="TextBox 2">
            <a:extLst>
              <a:ext uri="{FF2B5EF4-FFF2-40B4-BE49-F238E27FC236}">
                <a16:creationId xmlns:a16="http://schemas.microsoft.com/office/drawing/2014/main" id="{4DF2EC2A-F449-4390-4D99-98150D083CC8}"/>
              </a:ext>
            </a:extLst>
          </p:cNvPr>
          <p:cNvSpPr txBox="1"/>
          <p:nvPr/>
        </p:nvSpPr>
        <p:spPr>
          <a:xfrm>
            <a:off x="-2458" y="87924"/>
            <a:ext cx="6098458" cy="4549835"/>
          </a:xfrm>
          <a:prstGeom prst="rect">
            <a:avLst/>
          </a:prstGeom>
          <a:noFill/>
        </p:spPr>
        <p:txBody>
          <a:bodyPr wrap="square">
            <a:spAutoFit/>
          </a:bodyPr>
          <a:lstStyle/>
          <a:p>
            <a:pPr>
              <a:lnSpc>
                <a:spcPct val="150000"/>
              </a:lnSpc>
            </a:pPr>
            <a:r>
              <a:rPr lang="en-US" sz="2800" b="1" dirty="0">
                <a:latin typeface="Calibir"/>
              </a:rPr>
              <a:t>Step 5 — Add descriptive output</a:t>
            </a:r>
          </a:p>
          <a:p>
            <a:pPr>
              <a:lnSpc>
                <a:spcPct val="150000"/>
              </a:lnSpc>
            </a:pPr>
            <a:r>
              <a:rPr lang="en-US" sz="2800" b="1" dirty="0">
                <a:latin typeface="Calibir"/>
              </a:rPr>
              <a:t>Python</a:t>
            </a:r>
          </a:p>
          <a:p>
            <a:pPr>
              <a:lnSpc>
                <a:spcPct val="150000"/>
              </a:lnSpc>
            </a:pPr>
            <a:r>
              <a:rPr lang="en-US" sz="2800" dirty="0">
                <a:highlight>
                  <a:srgbClr val="FFFF00"/>
                </a:highlight>
                <a:latin typeface="Calibir"/>
              </a:rPr>
              <a:t>def __str__(self):</a:t>
            </a:r>
          </a:p>
          <a:p>
            <a:pPr>
              <a:lnSpc>
                <a:spcPct val="150000"/>
              </a:lnSpc>
            </a:pPr>
            <a:r>
              <a:rPr lang="en-US" sz="2800" dirty="0">
                <a:highlight>
                  <a:srgbClr val="FFFF00"/>
                </a:highlight>
                <a:latin typeface="Calibir"/>
              </a:rPr>
              <a:t>    return (</a:t>
            </a:r>
          </a:p>
          <a:p>
            <a:pPr>
              <a:lnSpc>
                <a:spcPct val="150000"/>
              </a:lnSpc>
            </a:pPr>
            <a:r>
              <a:rPr lang="en-US" sz="2800" dirty="0">
                <a:highlight>
                  <a:srgbClr val="FFFF00"/>
                </a:highlight>
                <a:latin typeface="Calibir"/>
              </a:rPr>
              <a:t>        f"{self.name} "</a:t>
            </a:r>
          </a:p>
          <a:p>
            <a:pPr>
              <a:lnSpc>
                <a:spcPct val="150000"/>
              </a:lnSpc>
            </a:pPr>
            <a:r>
              <a:rPr lang="en-US" sz="2800" dirty="0">
                <a:highlight>
                  <a:srgbClr val="FFFF00"/>
                </a:highlight>
                <a:latin typeface="Calibir"/>
              </a:rPr>
              <a:t>        </a:t>
            </a:r>
            <a:r>
              <a:rPr lang="en-US" sz="2800" dirty="0" err="1">
                <a:highlight>
                  <a:srgbClr val="FFFF00"/>
                </a:highlight>
                <a:latin typeface="Calibir"/>
              </a:rPr>
              <a:t>f"age</a:t>
            </a:r>
            <a:r>
              <a:rPr lang="en-US" sz="2800" dirty="0">
                <a:highlight>
                  <a:srgbClr val="FFFF00"/>
                </a:highlight>
                <a:latin typeface="Calibir"/>
              </a:rPr>
              <a:t> is {</a:t>
            </a:r>
            <a:r>
              <a:rPr lang="en-US" sz="2800" dirty="0" err="1">
                <a:highlight>
                  <a:srgbClr val="FFFF00"/>
                </a:highlight>
                <a:latin typeface="Calibir"/>
              </a:rPr>
              <a:t>self.age</a:t>
            </a:r>
            <a:r>
              <a:rPr lang="en-US" sz="2800" dirty="0">
                <a:highlight>
                  <a:srgbClr val="FFFF00"/>
                </a:highlight>
                <a:latin typeface="Calibir"/>
              </a:rPr>
              <a:t>}"</a:t>
            </a:r>
          </a:p>
          <a:p>
            <a:pPr>
              <a:lnSpc>
                <a:spcPct val="150000"/>
              </a:lnSpc>
            </a:pPr>
            <a:r>
              <a:rPr lang="en-US" sz="2800" dirty="0">
                <a:highlight>
                  <a:srgbClr val="FFFF00"/>
                </a:highlight>
                <a:latin typeface="Calibir"/>
              </a:rPr>
              <a:t>    )</a:t>
            </a:r>
          </a:p>
        </p:txBody>
      </p:sp>
      <p:sp>
        <p:nvSpPr>
          <p:cNvPr id="4" name="TextBox 3">
            <a:extLst>
              <a:ext uri="{FF2B5EF4-FFF2-40B4-BE49-F238E27FC236}">
                <a16:creationId xmlns:a16="http://schemas.microsoft.com/office/drawing/2014/main" id="{49DE80E9-1C13-A1BF-856F-C2C76A2E96B5}"/>
              </a:ext>
            </a:extLst>
          </p:cNvPr>
          <p:cNvSpPr txBox="1"/>
          <p:nvPr/>
        </p:nvSpPr>
        <p:spPr>
          <a:xfrm>
            <a:off x="6696306" y="0"/>
            <a:ext cx="5495694" cy="4549835"/>
          </a:xfrm>
          <a:prstGeom prst="rect">
            <a:avLst/>
          </a:prstGeom>
          <a:noFill/>
        </p:spPr>
        <p:txBody>
          <a:bodyPr wrap="square">
            <a:spAutoFit/>
          </a:bodyPr>
          <a:lstStyle/>
          <a:p>
            <a:pPr>
              <a:lnSpc>
                <a:spcPct val="150000"/>
              </a:lnSpc>
            </a:pPr>
            <a:r>
              <a:rPr lang="en-US" sz="2800" b="1" dirty="0">
                <a:latin typeface="Calibir"/>
              </a:rPr>
              <a:t>Java</a:t>
            </a:r>
          </a:p>
          <a:p>
            <a:pPr>
              <a:lnSpc>
                <a:spcPct val="150000"/>
              </a:lnSpc>
            </a:pPr>
            <a:r>
              <a:rPr lang="en-US" sz="2800" dirty="0">
                <a:highlight>
                  <a:srgbClr val="FFFF00"/>
                </a:highlight>
                <a:latin typeface="Calibir"/>
              </a:rPr>
              <a:t>@Override</a:t>
            </a:r>
          </a:p>
          <a:p>
            <a:pPr>
              <a:lnSpc>
                <a:spcPct val="150000"/>
              </a:lnSpc>
            </a:pPr>
            <a:r>
              <a:rPr lang="en-US" sz="2800" dirty="0">
                <a:highlight>
                  <a:srgbClr val="FFFF00"/>
                </a:highlight>
                <a:latin typeface="Calibir"/>
              </a:rPr>
              <a:t>public String </a:t>
            </a:r>
            <a:r>
              <a:rPr lang="en-US" sz="2800" dirty="0" err="1">
                <a:highlight>
                  <a:srgbClr val="FFFF00"/>
                </a:highlight>
                <a:latin typeface="Calibir"/>
              </a:rPr>
              <a:t>toString</a:t>
            </a:r>
            <a:r>
              <a:rPr lang="en-US" sz="2800" dirty="0">
                <a:highlight>
                  <a:srgbClr val="FFFF00"/>
                </a:highlight>
                <a:latin typeface="Calibir"/>
              </a:rPr>
              <a:t>() {</a:t>
            </a:r>
          </a:p>
          <a:p>
            <a:pPr>
              <a:lnSpc>
                <a:spcPct val="150000"/>
              </a:lnSpc>
            </a:pPr>
            <a:r>
              <a:rPr lang="en-US" sz="2800" dirty="0">
                <a:highlight>
                  <a:srgbClr val="FFFF00"/>
                </a:highlight>
                <a:latin typeface="Calibir"/>
              </a:rPr>
              <a:t>    return name</a:t>
            </a:r>
          </a:p>
          <a:p>
            <a:pPr>
              <a:lnSpc>
                <a:spcPct val="150000"/>
              </a:lnSpc>
            </a:pPr>
            <a:r>
              <a:rPr lang="en-US" sz="2800" dirty="0">
                <a:highlight>
                  <a:srgbClr val="FFFF00"/>
                </a:highlight>
                <a:latin typeface="Calibir"/>
              </a:rPr>
              <a:t>            + " age is "</a:t>
            </a:r>
          </a:p>
          <a:p>
            <a:pPr>
              <a:lnSpc>
                <a:spcPct val="150000"/>
              </a:lnSpc>
            </a:pPr>
            <a:r>
              <a:rPr lang="en-US" sz="2800" dirty="0">
                <a:highlight>
                  <a:srgbClr val="FFFF00"/>
                </a:highlight>
                <a:latin typeface="Calibir"/>
              </a:rPr>
              <a:t>            + age;</a:t>
            </a:r>
          </a:p>
          <a:p>
            <a:pPr>
              <a:lnSpc>
                <a:spcPct val="150000"/>
              </a:lnSpc>
            </a:pPr>
            <a:r>
              <a:rPr lang="en-US" sz="2800" dirty="0">
                <a:highlight>
                  <a:srgbClr val="FFFF00"/>
                </a:highlight>
                <a:latin typeface="Calibir"/>
              </a:rPr>
              <a:t>}</a:t>
            </a:r>
          </a:p>
        </p:txBody>
      </p:sp>
    </p:spTree>
    <p:custDataLst>
      <p:tags r:id="rId1"/>
    </p:custDataLst>
    <p:extLst>
      <p:ext uri="{BB962C8B-B14F-4D97-AF65-F5344CB8AC3E}">
        <p14:creationId xmlns:p14="http://schemas.microsoft.com/office/powerpoint/2010/main" val="282302985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418AF-D3F5-8ACD-7E46-5B05F639DC70}"/>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84085B52-B7E2-B094-D1C0-3E480CCB35F6}"/>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5" name="TextBox 4">
            <a:extLst>
              <a:ext uri="{FF2B5EF4-FFF2-40B4-BE49-F238E27FC236}">
                <a16:creationId xmlns:a16="http://schemas.microsoft.com/office/drawing/2014/main" id="{BD15ECD8-6307-51D2-A582-E9AD4AEB971A}"/>
              </a:ext>
            </a:extLst>
          </p:cNvPr>
          <p:cNvSpPr txBox="1"/>
          <p:nvPr/>
        </p:nvSpPr>
        <p:spPr>
          <a:xfrm>
            <a:off x="-3716" y="0"/>
            <a:ext cx="6099716" cy="7017306"/>
          </a:xfrm>
          <a:prstGeom prst="rect">
            <a:avLst/>
          </a:prstGeom>
          <a:noFill/>
        </p:spPr>
        <p:txBody>
          <a:bodyPr wrap="square">
            <a:spAutoFit/>
          </a:bodyPr>
          <a:lstStyle/>
          <a:p>
            <a:pPr>
              <a:buNone/>
            </a:pPr>
            <a:r>
              <a:rPr lang="en-US" b="1" dirty="0">
                <a:latin typeface="Calibir"/>
              </a:rPr>
              <a:t>Completed Person — Python</a:t>
            </a:r>
          </a:p>
          <a:p>
            <a:pPr rtl="0">
              <a:buNone/>
            </a:pPr>
            <a:r>
              <a:rPr lang="en-US" dirty="0">
                <a:highlight>
                  <a:srgbClr val="FFFF00"/>
                </a:highlight>
                <a:latin typeface="Calibir"/>
              </a:rPr>
              <a:t>class Person:</a:t>
            </a:r>
          </a:p>
          <a:p>
            <a:pPr rtl="0">
              <a:buNone/>
            </a:pPr>
            <a:r>
              <a:rPr lang="en-US" dirty="0">
                <a:highlight>
                  <a:srgbClr val="FFFF00"/>
                </a:highlight>
                <a:latin typeface="Calibir"/>
              </a:rPr>
              <a:t>    def __</a:t>
            </a:r>
            <a:r>
              <a:rPr lang="en-US" dirty="0" err="1">
                <a:highlight>
                  <a:srgbClr val="FFFF00"/>
                </a:highlight>
                <a:latin typeface="Calibir"/>
              </a:rPr>
              <a:t>init</a:t>
            </a:r>
            <a:r>
              <a:rPr lang="en-US" dirty="0">
                <a:highlight>
                  <a:srgbClr val="FFFF00"/>
                </a:highlight>
                <a:latin typeface="Calibir"/>
              </a:rPr>
              <a:t>__(</a:t>
            </a:r>
          </a:p>
          <a:p>
            <a:pPr rtl="0">
              <a:buNone/>
            </a:pPr>
            <a:r>
              <a:rPr lang="en-US" dirty="0">
                <a:highlight>
                  <a:srgbClr val="FFFF00"/>
                </a:highlight>
                <a:latin typeface="Calibir"/>
              </a:rPr>
              <a:t>            self,</a:t>
            </a:r>
          </a:p>
          <a:p>
            <a:pPr rtl="0">
              <a:buNone/>
            </a:pPr>
            <a:r>
              <a:rPr lang="en-US" dirty="0">
                <a:highlight>
                  <a:srgbClr val="FFFF00"/>
                </a:highlight>
                <a:latin typeface="Calibir"/>
              </a:rPr>
              <a:t>            name="Unknown",</a:t>
            </a:r>
          </a:p>
          <a:p>
            <a:pPr rtl="0">
              <a:buNone/>
            </a:pPr>
            <a:r>
              <a:rPr lang="en-US" dirty="0">
                <a:highlight>
                  <a:srgbClr val="FFFF00"/>
                </a:highlight>
                <a:latin typeface="Calibir"/>
              </a:rPr>
              <a:t>            age=0):</a:t>
            </a:r>
          </a:p>
          <a:p>
            <a:pPr rtl="0">
              <a:buNone/>
            </a:pPr>
            <a:r>
              <a:rPr lang="en-US" dirty="0">
                <a:highlight>
                  <a:srgbClr val="FFFF00"/>
                </a:highlight>
                <a:latin typeface="Calibir"/>
              </a:rPr>
              <a:t>        self.name = name</a:t>
            </a:r>
          </a:p>
          <a:p>
            <a:pPr rtl="0">
              <a:buNone/>
            </a:pPr>
            <a:r>
              <a:rPr lang="en-US" dirty="0">
                <a:highlight>
                  <a:srgbClr val="FFFF00"/>
                </a:highlight>
                <a:latin typeface="Calibir"/>
              </a:rPr>
              <a:t>        </a:t>
            </a:r>
            <a:r>
              <a:rPr lang="en-US" dirty="0" err="1">
                <a:highlight>
                  <a:srgbClr val="FFFF00"/>
                </a:highlight>
                <a:latin typeface="Calibir"/>
              </a:rPr>
              <a:t>self.age</a:t>
            </a:r>
            <a:r>
              <a:rPr lang="en-US" dirty="0">
                <a:highlight>
                  <a:srgbClr val="FFFF00"/>
                </a:highlight>
                <a:latin typeface="Calibir"/>
              </a:rPr>
              <a:t> = age</a:t>
            </a:r>
          </a:p>
          <a:p>
            <a:pPr rtl="0">
              <a:buNone/>
            </a:pPr>
            <a:r>
              <a:rPr lang="en-US" dirty="0">
                <a:highlight>
                  <a:srgbClr val="FFFF00"/>
                </a:highlight>
                <a:latin typeface="Calibir"/>
              </a:rPr>
              <a:t>    def </a:t>
            </a:r>
            <a:r>
              <a:rPr lang="en-US" dirty="0" err="1">
                <a:highlight>
                  <a:srgbClr val="FFFF00"/>
                </a:highlight>
                <a:latin typeface="Calibir"/>
              </a:rPr>
              <a:t>get_name</a:t>
            </a:r>
            <a:r>
              <a:rPr lang="en-US" dirty="0">
                <a:highlight>
                  <a:srgbClr val="FFFF00"/>
                </a:highlight>
                <a:latin typeface="Calibir"/>
              </a:rPr>
              <a:t>(self):</a:t>
            </a:r>
          </a:p>
          <a:p>
            <a:pPr rtl="0">
              <a:buNone/>
            </a:pPr>
            <a:r>
              <a:rPr lang="en-US" dirty="0">
                <a:highlight>
                  <a:srgbClr val="FFFF00"/>
                </a:highlight>
                <a:latin typeface="Calibir"/>
              </a:rPr>
              <a:t>        return self.name</a:t>
            </a:r>
          </a:p>
          <a:p>
            <a:pPr rtl="0">
              <a:buNone/>
            </a:pPr>
            <a:r>
              <a:rPr lang="en-US" dirty="0">
                <a:highlight>
                  <a:srgbClr val="FFFF00"/>
                </a:highlight>
                <a:latin typeface="Calibir"/>
              </a:rPr>
              <a:t>    def </a:t>
            </a:r>
            <a:r>
              <a:rPr lang="en-US" dirty="0" err="1">
                <a:highlight>
                  <a:srgbClr val="FFFF00"/>
                </a:highlight>
                <a:latin typeface="Calibir"/>
              </a:rPr>
              <a:t>get_age</a:t>
            </a:r>
            <a:r>
              <a:rPr lang="en-US" dirty="0">
                <a:highlight>
                  <a:srgbClr val="FFFF00"/>
                </a:highlight>
                <a:latin typeface="Calibir"/>
              </a:rPr>
              <a:t>(self):</a:t>
            </a:r>
          </a:p>
          <a:p>
            <a:pPr rtl="0">
              <a:buNone/>
            </a:pPr>
            <a:r>
              <a:rPr lang="en-US" dirty="0">
                <a:highlight>
                  <a:srgbClr val="FFFF00"/>
                </a:highlight>
                <a:latin typeface="Calibir"/>
              </a:rPr>
              <a:t>        return </a:t>
            </a:r>
            <a:r>
              <a:rPr lang="en-US" dirty="0" err="1">
                <a:highlight>
                  <a:srgbClr val="FFFF00"/>
                </a:highlight>
                <a:latin typeface="Calibir"/>
              </a:rPr>
              <a:t>self.age</a:t>
            </a:r>
            <a:endParaRPr lang="en-US" dirty="0">
              <a:highlight>
                <a:srgbClr val="FFFF00"/>
              </a:highlight>
              <a:latin typeface="Calibir"/>
            </a:endParaRPr>
          </a:p>
          <a:p>
            <a:pPr rtl="0">
              <a:buNone/>
            </a:pPr>
            <a:r>
              <a:rPr lang="en-US" dirty="0">
                <a:highlight>
                  <a:srgbClr val="FFFF00"/>
                </a:highlight>
                <a:latin typeface="Calibir"/>
              </a:rPr>
              <a:t>    def </a:t>
            </a:r>
            <a:r>
              <a:rPr lang="en-US" dirty="0" err="1">
                <a:highlight>
                  <a:srgbClr val="FFFF00"/>
                </a:highlight>
                <a:latin typeface="Calibir"/>
              </a:rPr>
              <a:t>set_name</a:t>
            </a:r>
            <a:r>
              <a:rPr lang="en-US" dirty="0">
                <a:highlight>
                  <a:srgbClr val="FFFF00"/>
                </a:highlight>
                <a:latin typeface="Calibir"/>
              </a:rPr>
              <a:t>(</a:t>
            </a:r>
          </a:p>
          <a:p>
            <a:pPr rtl="0">
              <a:buNone/>
            </a:pPr>
            <a:r>
              <a:rPr lang="en-US" dirty="0">
                <a:highlight>
                  <a:srgbClr val="FFFF00"/>
                </a:highlight>
                <a:latin typeface="Calibir"/>
              </a:rPr>
              <a:t>            self,</a:t>
            </a:r>
          </a:p>
          <a:p>
            <a:pPr rtl="0">
              <a:buNone/>
            </a:pPr>
            <a:r>
              <a:rPr lang="en-US" dirty="0">
                <a:highlight>
                  <a:srgbClr val="FFFF00"/>
                </a:highlight>
                <a:latin typeface="Calibir"/>
              </a:rPr>
              <a:t>            name):</a:t>
            </a:r>
          </a:p>
          <a:p>
            <a:pPr rtl="0">
              <a:buNone/>
            </a:pPr>
            <a:r>
              <a:rPr lang="en-US" dirty="0">
                <a:highlight>
                  <a:srgbClr val="FFFF00"/>
                </a:highlight>
                <a:latin typeface="Calibir"/>
              </a:rPr>
              <a:t>        self.name = name</a:t>
            </a:r>
          </a:p>
          <a:p>
            <a:pPr rtl="0">
              <a:buNone/>
            </a:pPr>
            <a:r>
              <a:rPr lang="en-US" dirty="0">
                <a:highlight>
                  <a:srgbClr val="FFFF00"/>
                </a:highlight>
                <a:latin typeface="Calibir"/>
              </a:rPr>
              <a:t>    def </a:t>
            </a:r>
            <a:r>
              <a:rPr lang="en-US" dirty="0" err="1">
                <a:highlight>
                  <a:srgbClr val="FFFF00"/>
                </a:highlight>
                <a:latin typeface="Calibir"/>
              </a:rPr>
              <a:t>set_age</a:t>
            </a:r>
            <a:r>
              <a:rPr lang="en-US" dirty="0">
                <a:highlight>
                  <a:srgbClr val="FFFF00"/>
                </a:highlight>
                <a:latin typeface="Calibir"/>
              </a:rPr>
              <a:t>(</a:t>
            </a:r>
          </a:p>
          <a:p>
            <a:pPr rtl="0">
              <a:buNone/>
            </a:pPr>
            <a:r>
              <a:rPr lang="en-US" dirty="0">
                <a:highlight>
                  <a:srgbClr val="FFFF00"/>
                </a:highlight>
                <a:latin typeface="Calibir"/>
              </a:rPr>
              <a:t>            self,</a:t>
            </a:r>
          </a:p>
          <a:p>
            <a:pPr rtl="0">
              <a:buNone/>
            </a:pPr>
            <a:r>
              <a:rPr lang="en-US" dirty="0">
                <a:highlight>
                  <a:srgbClr val="FFFF00"/>
                </a:highlight>
                <a:latin typeface="Calibir"/>
              </a:rPr>
              <a:t>            age):</a:t>
            </a:r>
          </a:p>
          <a:p>
            <a:pPr rtl="0">
              <a:buNone/>
            </a:pPr>
            <a:r>
              <a:rPr lang="en-US" dirty="0">
                <a:highlight>
                  <a:srgbClr val="FFFF00"/>
                </a:highlight>
                <a:latin typeface="Calibir"/>
              </a:rPr>
              <a:t>        </a:t>
            </a:r>
            <a:r>
              <a:rPr lang="en-US" dirty="0" err="1">
                <a:highlight>
                  <a:srgbClr val="FFFF00"/>
                </a:highlight>
                <a:latin typeface="Calibir"/>
              </a:rPr>
              <a:t>self.age</a:t>
            </a:r>
            <a:r>
              <a:rPr lang="en-US" dirty="0">
                <a:highlight>
                  <a:srgbClr val="FFFF00"/>
                </a:highlight>
                <a:latin typeface="Calibir"/>
              </a:rPr>
              <a:t> = age</a:t>
            </a:r>
          </a:p>
          <a:p>
            <a:pPr rtl="0">
              <a:buNone/>
            </a:pPr>
            <a:r>
              <a:rPr lang="en-US" dirty="0">
                <a:highlight>
                  <a:srgbClr val="FFFF00"/>
                </a:highlight>
                <a:latin typeface="Calibir"/>
              </a:rPr>
              <a:t>    def __str__(self):</a:t>
            </a:r>
          </a:p>
          <a:p>
            <a:pPr rtl="0">
              <a:buNone/>
            </a:pPr>
            <a:r>
              <a:rPr lang="en-US" dirty="0">
                <a:highlight>
                  <a:srgbClr val="FFFF00"/>
                </a:highlight>
                <a:latin typeface="Calibir"/>
              </a:rPr>
              <a:t>        return (</a:t>
            </a:r>
          </a:p>
          <a:p>
            <a:pPr rtl="0">
              <a:buNone/>
            </a:pPr>
            <a:r>
              <a:rPr lang="en-US" dirty="0">
                <a:highlight>
                  <a:srgbClr val="FFFF00"/>
                </a:highlight>
                <a:latin typeface="Calibir"/>
              </a:rPr>
              <a:t>            f"{self.name} "</a:t>
            </a:r>
          </a:p>
          <a:p>
            <a:pPr rtl="0">
              <a:buNone/>
            </a:pPr>
            <a:r>
              <a:rPr lang="en-US" dirty="0">
                <a:highlight>
                  <a:srgbClr val="FFFF00"/>
                </a:highlight>
                <a:latin typeface="Calibir"/>
              </a:rPr>
              <a:t>            </a:t>
            </a:r>
            <a:r>
              <a:rPr lang="en-US" dirty="0" err="1">
                <a:highlight>
                  <a:srgbClr val="FFFF00"/>
                </a:highlight>
                <a:latin typeface="Calibir"/>
              </a:rPr>
              <a:t>f"age</a:t>
            </a:r>
            <a:r>
              <a:rPr lang="en-US" dirty="0">
                <a:highlight>
                  <a:srgbClr val="FFFF00"/>
                </a:highlight>
                <a:latin typeface="Calibir"/>
              </a:rPr>
              <a:t> is {</a:t>
            </a:r>
            <a:r>
              <a:rPr lang="en-US" dirty="0" err="1">
                <a:highlight>
                  <a:srgbClr val="FFFF00"/>
                </a:highlight>
                <a:latin typeface="Calibir"/>
              </a:rPr>
              <a:t>self.age</a:t>
            </a:r>
            <a:r>
              <a:rPr lang="en-US" dirty="0">
                <a:highlight>
                  <a:srgbClr val="FFFF00"/>
                </a:highlight>
                <a:latin typeface="Calibir"/>
              </a:rPr>
              <a:t>}"</a:t>
            </a:r>
          </a:p>
          <a:p>
            <a:pPr rtl="0">
              <a:buNone/>
            </a:pPr>
            <a:r>
              <a:rPr lang="en-US" dirty="0">
                <a:highlight>
                  <a:srgbClr val="FFFF00"/>
                </a:highlight>
                <a:latin typeface="Calibir"/>
              </a:rPr>
              <a:t>        )</a:t>
            </a:r>
          </a:p>
        </p:txBody>
      </p:sp>
      <p:sp>
        <p:nvSpPr>
          <p:cNvPr id="7" name="TextBox 6">
            <a:extLst>
              <a:ext uri="{FF2B5EF4-FFF2-40B4-BE49-F238E27FC236}">
                <a16:creationId xmlns:a16="http://schemas.microsoft.com/office/drawing/2014/main" id="{713B10E6-858A-3204-348E-7E6024D5597A}"/>
              </a:ext>
            </a:extLst>
          </p:cNvPr>
          <p:cNvSpPr txBox="1"/>
          <p:nvPr/>
        </p:nvSpPr>
        <p:spPr>
          <a:xfrm>
            <a:off x="6096000" y="87924"/>
            <a:ext cx="6133170" cy="6586418"/>
          </a:xfrm>
          <a:prstGeom prst="rect">
            <a:avLst/>
          </a:prstGeom>
          <a:noFill/>
        </p:spPr>
        <p:txBody>
          <a:bodyPr wrap="square">
            <a:spAutoFit/>
          </a:bodyPr>
          <a:lstStyle/>
          <a:p>
            <a:pPr>
              <a:buNone/>
            </a:pPr>
            <a:r>
              <a:rPr lang="en-US" sz="1400" b="1" dirty="0">
                <a:latin typeface="Calibir"/>
              </a:rPr>
              <a:t>Completed Person — Java</a:t>
            </a:r>
          </a:p>
          <a:p>
            <a:pPr rtl="0">
              <a:buNone/>
            </a:pPr>
            <a:r>
              <a:rPr lang="en-US" sz="1200" dirty="0">
                <a:highlight>
                  <a:srgbClr val="FFFF00"/>
                </a:highlight>
                <a:latin typeface="Calibir"/>
              </a:rPr>
              <a:t>public class Person {</a:t>
            </a:r>
          </a:p>
          <a:p>
            <a:pPr rtl="0">
              <a:buNone/>
            </a:pPr>
            <a:r>
              <a:rPr lang="en-US" sz="1200" dirty="0">
                <a:highlight>
                  <a:srgbClr val="FFFF00"/>
                </a:highlight>
                <a:latin typeface="Calibir"/>
              </a:rPr>
              <a:t>    private String name;</a:t>
            </a:r>
          </a:p>
          <a:p>
            <a:pPr rtl="0">
              <a:buNone/>
            </a:pPr>
            <a:r>
              <a:rPr lang="en-US" sz="1200" dirty="0">
                <a:highlight>
                  <a:srgbClr val="FFFF00"/>
                </a:highlight>
                <a:latin typeface="Calibir"/>
              </a:rPr>
              <a:t>    private int age;</a:t>
            </a:r>
          </a:p>
          <a:p>
            <a:pPr rtl="0">
              <a:buNone/>
            </a:pPr>
            <a:r>
              <a:rPr lang="en-US" sz="1200" dirty="0">
                <a:highlight>
                  <a:srgbClr val="FFFF00"/>
                </a:highlight>
                <a:latin typeface="Calibir"/>
              </a:rPr>
              <a:t>    public Person() {</a:t>
            </a:r>
          </a:p>
          <a:p>
            <a:pPr rtl="0">
              <a:buNone/>
            </a:pPr>
            <a:r>
              <a:rPr lang="en-US" sz="1200" dirty="0">
                <a:highlight>
                  <a:srgbClr val="FFFF00"/>
                </a:highlight>
                <a:latin typeface="Calibir"/>
              </a:rPr>
              <a:t>        name = "Unknown";</a:t>
            </a:r>
          </a:p>
          <a:p>
            <a:pPr rtl="0">
              <a:buNone/>
            </a:pPr>
            <a:r>
              <a:rPr lang="en-US" sz="1200" dirty="0">
                <a:highlight>
                  <a:srgbClr val="FFFF00"/>
                </a:highlight>
                <a:latin typeface="Calibir"/>
              </a:rPr>
              <a:t>        age = 0;</a:t>
            </a:r>
          </a:p>
          <a:p>
            <a:pPr rtl="0">
              <a:buNone/>
            </a:pPr>
            <a:r>
              <a:rPr lang="en-US" sz="1200" dirty="0">
                <a:highlight>
                  <a:srgbClr val="FFFF00"/>
                </a:highlight>
                <a:latin typeface="Calibir"/>
              </a:rPr>
              <a:t>    }</a:t>
            </a:r>
          </a:p>
          <a:p>
            <a:pPr rtl="0">
              <a:buNone/>
            </a:pPr>
            <a:r>
              <a:rPr lang="en-US" sz="1200" dirty="0">
                <a:highlight>
                  <a:srgbClr val="FFFF00"/>
                </a:highlight>
                <a:latin typeface="Calibir"/>
              </a:rPr>
              <a:t>    public Person(</a:t>
            </a:r>
          </a:p>
          <a:p>
            <a:pPr rtl="0">
              <a:buNone/>
            </a:pPr>
            <a:r>
              <a:rPr lang="en-US" sz="1200" dirty="0">
                <a:highlight>
                  <a:srgbClr val="FFFF00"/>
                </a:highlight>
                <a:latin typeface="Calibir"/>
              </a:rPr>
              <a:t>            String name,</a:t>
            </a:r>
          </a:p>
          <a:p>
            <a:pPr rtl="0">
              <a:buNone/>
            </a:pPr>
            <a:r>
              <a:rPr lang="en-US" sz="1200" dirty="0">
                <a:highlight>
                  <a:srgbClr val="FFFF00"/>
                </a:highlight>
                <a:latin typeface="Calibir"/>
              </a:rPr>
              <a:t>            int age) {</a:t>
            </a:r>
          </a:p>
          <a:p>
            <a:pPr rtl="0">
              <a:buNone/>
            </a:pPr>
            <a:r>
              <a:rPr lang="en-US" sz="1200" dirty="0">
                <a:highlight>
                  <a:srgbClr val="FFFF00"/>
                </a:highlight>
                <a:latin typeface="Calibir"/>
              </a:rPr>
              <a:t>        this.name = name;</a:t>
            </a:r>
          </a:p>
          <a:p>
            <a:pPr rtl="0">
              <a:buNone/>
            </a:pPr>
            <a:r>
              <a:rPr lang="en-US" sz="1200" dirty="0">
                <a:highlight>
                  <a:srgbClr val="FFFF00"/>
                </a:highlight>
                <a:latin typeface="Calibir"/>
              </a:rPr>
              <a:t>        </a:t>
            </a:r>
            <a:r>
              <a:rPr lang="en-US" sz="1200" dirty="0" err="1">
                <a:highlight>
                  <a:srgbClr val="FFFF00"/>
                </a:highlight>
                <a:latin typeface="Calibir"/>
              </a:rPr>
              <a:t>this.age</a:t>
            </a:r>
            <a:r>
              <a:rPr lang="en-US" sz="1200" dirty="0">
                <a:highlight>
                  <a:srgbClr val="FFFF00"/>
                </a:highlight>
                <a:latin typeface="Calibir"/>
              </a:rPr>
              <a:t> = age;</a:t>
            </a:r>
          </a:p>
          <a:p>
            <a:pPr rtl="0">
              <a:buNone/>
            </a:pPr>
            <a:r>
              <a:rPr lang="en-US" sz="1200" dirty="0">
                <a:highlight>
                  <a:srgbClr val="FFFF00"/>
                </a:highlight>
                <a:latin typeface="Calibir"/>
              </a:rPr>
              <a:t>    }</a:t>
            </a:r>
          </a:p>
          <a:p>
            <a:pPr rtl="0">
              <a:buNone/>
            </a:pPr>
            <a:r>
              <a:rPr lang="en-US" sz="1200" dirty="0">
                <a:highlight>
                  <a:srgbClr val="FFFF00"/>
                </a:highlight>
                <a:latin typeface="Calibir"/>
              </a:rPr>
              <a:t>    public String </a:t>
            </a:r>
            <a:r>
              <a:rPr lang="en-US" sz="1200" dirty="0" err="1">
                <a:highlight>
                  <a:srgbClr val="FFFF00"/>
                </a:highlight>
                <a:latin typeface="Calibir"/>
              </a:rPr>
              <a:t>getName</a:t>
            </a:r>
            <a:r>
              <a:rPr lang="en-US" sz="1200" dirty="0">
                <a:highlight>
                  <a:srgbClr val="FFFF00"/>
                </a:highlight>
                <a:latin typeface="Calibir"/>
              </a:rPr>
              <a:t>() {</a:t>
            </a:r>
          </a:p>
          <a:p>
            <a:pPr rtl="0">
              <a:buNone/>
            </a:pPr>
            <a:r>
              <a:rPr lang="en-US" sz="1200" dirty="0">
                <a:highlight>
                  <a:srgbClr val="FFFF00"/>
                </a:highlight>
                <a:latin typeface="Calibir"/>
              </a:rPr>
              <a:t>        return name;</a:t>
            </a:r>
          </a:p>
          <a:p>
            <a:pPr rtl="0">
              <a:buNone/>
            </a:pPr>
            <a:r>
              <a:rPr lang="en-US" sz="1200" dirty="0">
                <a:highlight>
                  <a:srgbClr val="FFFF00"/>
                </a:highlight>
                <a:latin typeface="Calibir"/>
              </a:rPr>
              <a:t>    }</a:t>
            </a:r>
          </a:p>
          <a:p>
            <a:pPr rtl="0">
              <a:buNone/>
            </a:pPr>
            <a:r>
              <a:rPr lang="en-US" sz="1200" dirty="0">
                <a:highlight>
                  <a:srgbClr val="FFFF00"/>
                </a:highlight>
                <a:latin typeface="Calibir"/>
              </a:rPr>
              <a:t>    public int </a:t>
            </a:r>
            <a:r>
              <a:rPr lang="en-US" sz="1200" dirty="0" err="1">
                <a:highlight>
                  <a:srgbClr val="FFFF00"/>
                </a:highlight>
                <a:latin typeface="Calibir"/>
              </a:rPr>
              <a:t>getAge</a:t>
            </a:r>
            <a:r>
              <a:rPr lang="en-US" sz="1200" dirty="0">
                <a:highlight>
                  <a:srgbClr val="FFFF00"/>
                </a:highlight>
                <a:latin typeface="Calibir"/>
              </a:rPr>
              <a:t>() {</a:t>
            </a:r>
          </a:p>
          <a:p>
            <a:pPr rtl="0">
              <a:buNone/>
            </a:pPr>
            <a:r>
              <a:rPr lang="en-US" sz="1200" dirty="0">
                <a:highlight>
                  <a:srgbClr val="FFFF00"/>
                </a:highlight>
                <a:latin typeface="Calibir"/>
              </a:rPr>
              <a:t>        return age;</a:t>
            </a:r>
          </a:p>
          <a:p>
            <a:pPr rtl="0">
              <a:buNone/>
            </a:pPr>
            <a:r>
              <a:rPr lang="en-US" sz="1200" dirty="0">
                <a:highlight>
                  <a:srgbClr val="FFFF00"/>
                </a:highlight>
                <a:latin typeface="Calibir"/>
              </a:rPr>
              <a:t>    }</a:t>
            </a:r>
          </a:p>
          <a:p>
            <a:pPr rtl="0">
              <a:buNone/>
            </a:pPr>
            <a:r>
              <a:rPr lang="en-US" sz="1200" dirty="0">
                <a:highlight>
                  <a:srgbClr val="FFFF00"/>
                </a:highlight>
                <a:latin typeface="Calibir"/>
              </a:rPr>
              <a:t>    public void </a:t>
            </a:r>
            <a:r>
              <a:rPr lang="en-US" sz="1200" dirty="0" err="1">
                <a:highlight>
                  <a:srgbClr val="FFFF00"/>
                </a:highlight>
                <a:latin typeface="Calibir"/>
              </a:rPr>
              <a:t>setName</a:t>
            </a:r>
            <a:r>
              <a:rPr lang="en-US" sz="1200" dirty="0">
                <a:highlight>
                  <a:srgbClr val="FFFF00"/>
                </a:highlight>
                <a:latin typeface="Calibir"/>
              </a:rPr>
              <a:t>(</a:t>
            </a:r>
          </a:p>
          <a:p>
            <a:pPr rtl="0">
              <a:buNone/>
            </a:pPr>
            <a:r>
              <a:rPr lang="en-US" sz="1200" dirty="0">
                <a:highlight>
                  <a:srgbClr val="FFFF00"/>
                </a:highlight>
                <a:latin typeface="Calibir"/>
              </a:rPr>
              <a:t>            String name) {</a:t>
            </a:r>
          </a:p>
          <a:p>
            <a:pPr rtl="0">
              <a:buNone/>
            </a:pPr>
            <a:r>
              <a:rPr lang="en-US" sz="1200" dirty="0">
                <a:highlight>
                  <a:srgbClr val="FFFF00"/>
                </a:highlight>
                <a:latin typeface="Calibir"/>
              </a:rPr>
              <a:t>        this.name = name;</a:t>
            </a:r>
          </a:p>
          <a:p>
            <a:pPr rtl="0">
              <a:buNone/>
            </a:pPr>
            <a:r>
              <a:rPr lang="en-US" sz="1200" dirty="0">
                <a:highlight>
                  <a:srgbClr val="FFFF00"/>
                </a:highlight>
                <a:latin typeface="Calibir"/>
              </a:rPr>
              <a:t>    }</a:t>
            </a:r>
          </a:p>
          <a:p>
            <a:pPr rtl="0">
              <a:buNone/>
            </a:pPr>
            <a:r>
              <a:rPr lang="en-US" sz="1200" dirty="0">
                <a:highlight>
                  <a:srgbClr val="FFFF00"/>
                </a:highlight>
                <a:latin typeface="Calibir"/>
              </a:rPr>
              <a:t>    public void </a:t>
            </a:r>
            <a:r>
              <a:rPr lang="en-US" sz="1200" dirty="0" err="1">
                <a:highlight>
                  <a:srgbClr val="FFFF00"/>
                </a:highlight>
                <a:latin typeface="Calibir"/>
              </a:rPr>
              <a:t>setAge</a:t>
            </a:r>
            <a:r>
              <a:rPr lang="en-US" sz="1200" dirty="0">
                <a:highlight>
                  <a:srgbClr val="FFFF00"/>
                </a:highlight>
                <a:latin typeface="Calibir"/>
              </a:rPr>
              <a:t>(</a:t>
            </a:r>
          </a:p>
          <a:p>
            <a:pPr rtl="0">
              <a:buNone/>
            </a:pPr>
            <a:r>
              <a:rPr lang="en-US" sz="1200" dirty="0">
                <a:highlight>
                  <a:srgbClr val="FFFF00"/>
                </a:highlight>
                <a:latin typeface="Calibir"/>
              </a:rPr>
              <a:t>            int age) {</a:t>
            </a:r>
          </a:p>
          <a:p>
            <a:pPr rtl="0">
              <a:buNone/>
            </a:pPr>
            <a:r>
              <a:rPr lang="en-US" sz="1200" dirty="0">
                <a:highlight>
                  <a:srgbClr val="FFFF00"/>
                </a:highlight>
                <a:latin typeface="Calibir"/>
              </a:rPr>
              <a:t>        </a:t>
            </a:r>
            <a:r>
              <a:rPr lang="en-US" sz="1200" dirty="0" err="1">
                <a:highlight>
                  <a:srgbClr val="FFFF00"/>
                </a:highlight>
                <a:latin typeface="Calibir"/>
              </a:rPr>
              <a:t>this.age</a:t>
            </a:r>
            <a:r>
              <a:rPr lang="en-US" sz="1200" dirty="0">
                <a:highlight>
                  <a:srgbClr val="FFFF00"/>
                </a:highlight>
                <a:latin typeface="Calibir"/>
              </a:rPr>
              <a:t> = age;</a:t>
            </a:r>
          </a:p>
          <a:p>
            <a:pPr rtl="0">
              <a:buNone/>
            </a:pPr>
            <a:r>
              <a:rPr lang="en-US" sz="1200" dirty="0">
                <a:highlight>
                  <a:srgbClr val="FFFF00"/>
                </a:highlight>
                <a:latin typeface="Calibir"/>
              </a:rPr>
              <a:t>    }</a:t>
            </a:r>
          </a:p>
          <a:p>
            <a:pPr rtl="0">
              <a:buNone/>
            </a:pPr>
            <a:r>
              <a:rPr lang="en-US" sz="1200" dirty="0">
                <a:highlight>
                  <a:srgbClr val="FFFF00"/>
                </a:highlight>
                <a:latin typeface="Calibir"/>
              </a:rPr>
              <a:t>    @Override</a:t>
            </a:r>
          </a:p>
          <a:p>
            <a:pPr rtl="0">
              <a:buNone/>
            </a:pPr>
            <a:r>
              <a:rPr lang="en-US" sz="1200" dirty="0">
                <a:highlight>
                  <a:srgbClr val="FFFF00"/>
                </a:highlight>
                <a:latin typeface="Calibir"/>
              </a:rPr>
              <a:t>    public String </a:t>
            </a:r>
            <a:r>
              <a:rPr lang="en-US" sz="1200" dirty="0" err="1">
                <a:highlight>
                  <a:srgbClr val="FFFF00"/>
                </a:highlight>
                <a:latin typeface="Calibir"/>
              </a:rPr>
              <a:t>toString</a:t>
            </a:r>
            <a:r>
              <a:rPr lang="en-US" sz="1200" dirty="0">
                <a:highlight>
                  <a:srgbClr val="FFFF00"/>
                </a:highlight>
                <a:latin typeface="Calibir"/>
              </a:rPr>
              <a:t>() {</a:t>
            </a:r>
          </a:p>
          <a:p>
            <a:pPr rtl="0">
              <a:buNone/>
            </a:pPr>
            <a:r>
              <a:rPr lang="en-US" sz="1200" dirty="0">
                <a:highlight>
                  <a:srgbClr val="FFFF00"/>
                </a:highlight>
                <a:latin typeface="Calibir"/>
              </a:rPr>
              <a:t>        return name</a:t>
            </a:r>
          </a:p>
          <a:p>
            <a:pPr rtl="0">
              <a:buNone/>
            </a:pPr>
            <a:r>
              <a:rPr lang="en-US" sz="1200" dirty="0">
                <a:highlight>
                  <a:srgbClr val="FFFF00"/>
                </a:highlight>
                <a:latin typeface="Calibir"/>
              </a:rPr>
              <a:t>                + " age is "</a:t>
            </a:r>
          </a:p>
          <a:p>
            <a:pPr rtl="0">
              <a:buNone/>
            </a:pPr>
            <a:r>
              <a:rPr lang="en-US" sz="1200" dirty="0">
                <a:highlight>
                  <a:srgbClr val="FFFF00"/>
                </a:highlight>
                <a:latin typeface="Calibir"/>
              </a:rPr>
              <a:t>                + age;</a:t>
            </a:r>
          </a:p>
          <a:p>
            <a:pPr rtl="0">
              <a:buNone/>
            </a:pPr>
            <a:r>
              <a:rPr lang="en-US" sz="1200" dirty="0">
                <a:highlight>
                  <a:srgbClr val="FFFF00"/>
                </a:highlight>
                <a:latin typeface="Calibir"/>
              </a:rPr>
              <a:t>    }</a:t>
            </a:r>
          </a:p>
          <a:p>
            <a:pPr rtl="0">
              <a:buNone/>
            </a:pPr>
            <a:r>
              <a:rPr lang="en-US" sz="1200" dirty="0">
                <a:highlight>
                  <a:srgbClr val="FFFF00"/>
                </a:highlight>
                <a:latin typeface="Calibir"/>
              </a:rPr>
              <a:t>}</a:t>
            </a:r>
          </a:p>
        </p:txBody>
      </p:sp>
    </p:spTree>
    <p:custDataLst>
      <p:tags r:id="rId1"/>
    </p:custDataLst>
    <p:extLst>
      <p:ext uri="{BB962C8B-B14F-4D97-AF65-F5344CB8AC3E}">
        <p14:creationId xmlns:p14="http://schemas.microsoft.com/office/powerpoint/2010/main" val="304945109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51BEB-B95D-01E5-1062-24ACE51D38AD}"/>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DCEE61B9-8A61-2189-8793-2E5D6BE216EC}"/>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3" name="TextBox 2">
            <a:extLst>
              <a:ext uri="{FF2B5EF4-FFF2-40B4-BE49-F238E27FC236}">
                <a16:creationId xmlns:a16="http://schemas.microsoft.com/office/drawing/2014/main" id="{4AC11388-EB27-DD6B-1C72-83614ABFEA21}"/>
              </a:ext>
            </a:extLst>
          </p:cNvPr>
          <p:cNvSpPr txBox="1"/>
          <p:nvPr/>
        </p:nvSpPr>
        <p:spPr>
          <a:xfrm>
            <a:off x="-1" y="0"/>
            <a:ext cx="5597913" cy="4549835"/>
          </a:xfrm>
          <a:prstGeom prst="rect">
            <a:avLst/>
          </a:prstGeom>
          <a:noFill/>
        </p:spPr>
        <p:txBody>
          <a:bodyPr wrap="square">
            <a:spAutoFit/>
          </a:bodyPr>
          <a:lstStyle/>
          <a:p>
            <a:pPr>
              <a:lnSpc>
                <a:spcPct val="150000"/>
              </a:lnSpc>
              <a:buNone/>
            </a:pPr>
            <a:r>
              <a:rPr lang="en-US" sz="2800" b="1" dirty="0">
                <a:latin typeface="Calibir"/>
              </a:rPr>
              <a:t>Exercise 1 — Step 6: Build People</a:t>
            </a:r>
          </a:p>
          <a:p>
            <a:pPr>
              <a:lnSpc>
                <a:spcPct val="150000"/>
              </a:lnSpc>
              <a:buNone/>
            </a:pPr>
            <a:r>
              <a:rPr lang="en-US" sz="2800" dirty="0">
                <a:latin typeface="Calibir"/>
              </a:rPr>
              <a:t>People contains two Person objects.</a:t>
            </a:r>
          </a:p>
          <a:p>
            <a:pPr>
              <a:lnSpc>
                <a:spcPct val="150000"/>
              </a:lnSpc>
              <a:buNone/>
            </a:pPr>
            <a:r>
              <a:rPr lang="en-US" sz="2800" dirty="0">
                <a:latin typeface="Calibir"/>
              </a:rPr>
              <a:t>The first uses:</a:t>
            </a:r>
          </a:p>
          <a:p>
            <a:pPr rtl="0">
              <a:lnSpc>
                <a:spcPct val="150000"/>
              </a:lnSpc>
              <a:buNone/>
            </a:pPr>
            <a:r>
              <a:rPr lang="en-US" sz="2800" dirty="0">
                <a:highlight>
                  <a:srgbClr val="FFFF00"/>
                </a:highlight>
                <a:latin typeface="Calibir"/>
              </a:rPr>
              <a:t>default constructor</a:t>
            </a:r>
          </a:p>
          <a:p>
            <a:pPr>
              <a:lnSpc>
                <a:spcPct val="150000"/>
              </a:lnSpc>
              <a:buNone/>
            </a:pPr>
            <a:r>
              <a:rPr lang="en-US" sz="2800" dirty="0">
                <a:latin typeface="Calibir"/>
              </a:rPr>
              <a:t>The second uses:</a:t>
            </a:r>
          </a:p>
          <a:p>
            <a:pPr rtl="0">
              <a:lnSpc>
                <a:spcPct val="150000"/>
              </a:lnSpc>
              <a:buNone/>
            </a:pPr>
            <a:r>
              <a:rPr lang="en-US" sz="2800" dirty="0">
                <a:highlight>
                  <a:srgbClr val="FFFF00"/>
                </a:highlight>
                <a:latin typeface="Calibir"/>
              </a:rPr>
              <a:t>parameterized constructor</a:t>
            </a:r>
          </a:p>
          <a:p>
            <a:pPr>
              <a:lnSpc>
                <a:spcPct val="150000"/>
              </a:lnSpc>
              <a:buNone/>
            </a:pPr>
            <a:r>
              <a:rPr lang="en-US" sz="2800" dirty="0">
                <a:latin typeface="Calibir"/>
              </a:rPr>
              <a:t>with keyboard input.</a:t>
            </a:r>
          </a:p>
        </p:txBody>
      </p:sp>
      <p:sp>
        <p:nvSpPr>
          <p:cNvPr id="6" name="TextBox 5">
            <a:extLst>
              <a:ext uri="{FF2B5EF4-FFF2-40B4-BE49-F238E27FC236}">
                <a16:creationId xmlns:a16="http://schemas.microsoft.com/office/drawing/2014/main" id="{0A7C5A5E-1877-F102-7D93-27CDC257B57B}"/>
              </a:ext>
            </a:extLst>
          </p:cNvPr>
          <p:cNvSpPr txBox="1"/>
          <p:nvPr/>
        </p:nvSpPr>
        <p:spPr>
          <a:xfrm>
            <a:off x="6096000" y="87924"/>
            <a:ext cx="6166624" cy="5842497"/>
          </a:xfrm>
          <a:prstGeom prst="rect">
            <a:avLst/>
          </a:prstGeom>
          <a:noFill/>
        </p:spPr>
        <p:txBody>
          <a:bodyPr wrap="square">
            <a:spAutoFit/>
          </a:bodyPr>
          <a:lstStyle/>
          <a:p>
            <a:pPr>
              <a:lnSpc>
                <a:spcPct val="150000"/>
              </a:lnSpc>
              <a:buNone/>
            </a:pPr>
            <a:r>
              <a:rPr lang="en-US" sz="2800" b="1" dirty="0">
                <a:latin typeface="Calibir"/>
              </a:rPr>
              <a:t>Python</a:t>
            </a:r>
          </a:p>
          <a:p>
            <a:pPr rtl="0">
              <a:lnSpc>
                <a:spcPct val="150000"/>
              </a:lnSpc>
              <a:buNone/>
            </a:pPr>
            <a:r>
              <a:rPr lang="en-US" sz="2800" dirty="0">
                <a:highlight>
                  <a:srgbClr val="FFFF00"/>
                </a:highlight>
                <a:latin typeface="Calibir"/>
              </a:rPr>
              <a:t>class People:</a:t>
            </a:r>
          </a:p>
          <a:p>
            <a:pPr rtl="0">
              <a:lnSpc>
                <a:spcPct val="150000"/>
              </a:lnSpc>
              <a:buNone/>
            </a:pPr>
            <a:r>
              <a:rPr lang="en-US" sz="2800" dirty="0">
                <a:highlight>
                  <a:srgbClr val="FFFF00"/>
                </a:highlight>
                <a:latin typeface="Calibir"/>
              </a:rPr>
              <a:t>    def __</a:t>
            </a:r>
            <a:r>
              <a:rPr lang="en-US" sz="2800" dirty="0" err="1">
                <a:highlight>
                  <a:srgbClr val="FFFF00"/>
                </a:highlight>
                <a:latin typeface="Calibir"/>
              </a:rPr>
              <a:t>init</a:t>
            </a:r>
            <a:r>
              <a:rPr lang="en-US" sz="2800" dirty="0">
                <a:highlight>
                  <a:srgbClr val="FFFF00"/>
                </a:highlight>
                <a:latin typeface="Calibir"/>
              </a:rPr>
              <a:t>__(self):</a:t>
            </a:r>
          </a:p>
          <a:p>
            <a:pPr rtl="0">
              <a:lnSpc>
                <a:spcPct val="150000"/>
              </a:lnSpc>
              <a:buNone/>
            </a:pPr>
            <a:r>
              <a:rPr lang="en-US" sz="2800" dirty="0">
                <a:highlight>
                  <a:srgbClr val="FFFF00"/>
                </a:highlight>
                <a:latin typeface="Calibir"/>
              </a:rPr>
              <a:t>        self.person1 = Person()</a:t>
            </a:r>
          </a:p>
          <a:p>
            <a:pPr rtl="0">
              <a:lnSpc>
                <a:spcPct val="150000"/>
              </a:lnSpc>
              <a:buNone/>
            </a:pPr>
            <a:r>
              <a:rPr lang="en-US" sz="2800" dirty="0">
                <a:highlight>
                  <a:srgbClr val="FFFF00"/>
                </a:highlight>
                <a:latin typeface="Calibir"/>
              </a:rPr>
              <a:t>        name = input("Enter second person's name: ")</a:t>
            </a:r>
          </a:p>
          <a:p>
            <a:pPr rtl="0">
              <a:lnSpc>
                <a:spcPct val="150000"/>
              </a:lnSpc>
              <a:buNone/>
            </a:pPr>
            <a:r>
              <a:rPr lang="en-US" sz="2800" dirty="0">
                <a:highlight>
                  <a:srgbClr val="FFFF00"/>
                </a:highlight>
                <a:latin typeface="Calibir"/>
              </a:rPr>
              <a:t>        age = int(input("Enter second person's age: "))</a:t>
            </a:r>
          </a:p>
          <a:p>
            <a:pPr rtl="0">
              <a:lnSpc>
                <a:spcPct val="150000"/>
              </a:lnSpc>
              <a:buNone/>
            </a:pPr>
            <a:r>
              <a:rPr lang="en-US" sz="2800" dirty="0">
                <a:highlight>
                  <a:srgbClr val="FFFF00"/>
                </a:highlight>
                <a:latin typeface="Calibir"/>
              </a:rPr>
              <a:t>        self.person2 = Person(name, age)</a:t>
            </a:r>
          </a:p>
        </p:txBody>
      </p:sp>
    </p:spTree>
    <p:custDataLst>
      <p:tags r:id="rId1"/>
    </p:custDataLst>
    <p:extLst>
      <p:ext uri="{BB962C8B-B14F-4D97-AF65-F5344CB8AC3E}">
        <p14:creationId xmlns:p14="http://schemas.microsoft.com/office/powerpoint/2010/main" val="109705770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95105-FFA2-76FF-9040-F5E11388D320}"/>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0CAF1B2A-CF56-F56B-D889-8102A09BA0BD}"/>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3" name="TextBox 2">
            <a:extLst>
              <a:ext uri="{FF2B5EF4-FFF2-40B4-BE49-F238E27FC236}">
                <a16:creationId xmlns:a16="http://schemas.microsoft.com/office/drawing/2014/main" id="{CEAB6645-8A4E-619D-7A73-A686CE904E49}"/>
              </a:ext>
            </a:extLst>
          </p:cNvPr>
          <p:cNvSpPr txBox="1"/>
          <p:nvPr/>
        </p:nvSpPr>
        <p:spPr>
          <a:xfrm>
            <a:off x="-1" y="0"/>
            <a:ext cx="5597913" cy="6678751"/>
          </a:xfrm>
          <a:prstGeom prst="rect">
            <a:avLst/>
          </a:prstGeom>
          <a:noFill/>
        </p:spPr>
        <p:txBody>
          <a:bodyPr wrap="square">
            <a:spAutoFit/>
          </a:bodyPr>
          <a:lstStyle/>
          <a:p>
            <a:r>
              <a:rPr lang="en-US" sz="2800" b="1" dirty="0"/>
              <a:t>Java</a:t>
            </a:r>
          </a:p>
          <a:p>
            <a:r>
              <a:rPr lang="en-US" sz="1600" dirty="0">
                <a:highlight>
                  <a:srgbClr val="FFFF00"/>
                </a:highlight>
                <a:latin typeface="Calibir"/>
              </a:rPr>
              <a:t>public class People {</a:t>
            </a:r>
          </a:p>
          <a:p>
            <a:r>
              <a:rPr lang="en-US" sz="1600" dirty="0">
                <a:highlight>
                  <a:srgbClr val="FFFF00"/>
                </a:highlight>
                <a:latin typeface="Calibir"/>
              </a:rPr>
              <a:t>    private Person person1;</a:t>
            </a:r>
          </a:p>
          <a:p>
            <a:r>
              <a:rPr lang="en-US" sz="1600" dirty="0">
                <a:highlight>
                  <a:srgbClr val="FFFF00"/>
                </a:highlight>
                <a:latin typeface="Calibir"/>
              </a:rPr>
              <a:t>    private Person person2;</a:t>
            </a:r>
          </a:p>
          <a:p>
            <a:r>
              <a:rPr lang="en-US" sz="1600" dirty="0">
                <a:highlight>
                  <a:srgbClr val="FFFF00"/>
                </a:highlight>
                <a:latin typeface="Calibir"/>
              </a:rPr>
              <a:t>    public People(</a:t>
            </a:r>
          </a:p>
          <a:p>
            <a:r>
              <a:rPr lang="en-US" sz="1600" dirty="0">
                <a:highlight>
                  <a:srgbClr val="FFFF00"/>
                </a:highlight>
                <a:latin typeface="Calibir"/>
              </a:rPr>
              <a:t>            Scanner input) {</a:t>
            </a:r>
          </a:p>
          <a:p>
            <a:r>
              <a:rPr lang="en-US" sz="1600" dirty="0">
                <a:highlight>
                  <a:srgbClr val="FFFF00"/>
                </a:highlight>
                <a:latin typeface="Calibir"/>
              </a:rPr>
              <a:t>        person1 =</a:t>
            </a:r>
          </a:p>
          <a:p>
            <a:r>
              <a:rPr lang="en-US" sz="1600" dirty="0">
                <a:highlight>
                  <a:srgbClr val="FFFF00"/>
                </a:highlight>
                <a:latin typeface="Calibir"/>
              </a:rPr>
              <a:t>                new Person();</a:t>
            </a:r>
          </a:p>
          <a:p>
            <a:r>
              <a:rPr lang="en-US" sz="1600" dirty="0">
                <a:highlight>
                  <a:srgbClr val="FFFF00"/>
                </a:highlight>
                <a:latin typeface="Calibir"/>
              </a:rPr>
              <a:t>        </a:t>
            </a:r>
            <a:r>
              <a:rPr lang="en-US" sz="1600" dirty="0" err="1">
                <a:highlight>
                  <a:srgbClr val="FFFF00"/>
                </a:highlight>
                <a:latin typeface="Calibir"/>
              </a:rPr>
              <a:t>System.out.print</a:t>
            </a:r>
            <a:r>
              <a:rPr lang="en-US" sz="1600" dirty="0">
                <a:highlight>
                  <a:srgbClr val="FFFF00"/>
                </a:highlight>
                <a:latin typeface="Calibir"/>
              </a:rPr>
              <a:t>(</a:t>
            </a:r>
          </a:p>
          <a:p>
            <a:r>
              <a:rPr lang="en-US" sz="1600" dirty="0">
                <a:highlight>
                  <a:srgbClr val="FFFF00"/>
                </a:highlight>
                <a:latin typeface="Calibir"/>
              </a:rPr>
              <a:t>            "Enter second person's name: "</a:t>
            </a:r>
          </a:p>
          <a:p>
            <a:r>
              <a:rPr lang="en-US" sz="1600" dirty="0">
                <a:highlight>
                  <a:srgbClr val="FFFF00"/>
                </a:highlight>
                <a:latin typeface="Calibir"/>
              </a:rPr>
              <a:t>        );</a:t>
            </a:r>
          </a:p>
          <a:p>
            <a:r>
              <a:rPr lang="en-US" sz="1600" dirty="0">
                <a:highlight>
                  <a:srgbClr val="FFFF00"/>
                </a:highlight>
                <a:latin typeface="Calibir"/>
              </a:rPr>
              <a:t>        String name =</a:t>
            </a:r>
          </a:p>
          <a:p>
            <a:r>
              <a:rPr lang="en-US" sz="1600" dirty="0">
                <a:highlight>
                  <a:srgbClr val="FFFF00"/>
                </a:highlight>
                <a:latin typeface="Calibir"/>
              </a:rPr>
              <a:t>                </a:t>
            </a:r>
            <a:r>
              <a:rPr lang="en-US" sz="1600" dirty="0" err="1">
                <a:highlight>
                  <a:srgbClr val="FFFF00"/>
                </a:highlight>
                <a:latin typeface="Calibir"/>
              </a:rPr>
              <a:t>input.nextLine</a:t>
            </a:r>
            <a:r>
              <a:rPr lang="en-US" sz="1600" dirty="0">
                <a:highlight>
                  <a:srgbClr val="FFFF00"/>
                </a:highlight>
                <a:latin typeface="Calibir"/>
              </a:rPr>
              <a:t>();</a:t>
            </a:r>
          </a:p>
          <a:p>
            <a:r>
              <a:rPr lang="en-US" sz="1600" dirty="0">
                <a:highlight>
                  <a:srgbClr val="FFFF00"/>
                </a:highlight>
                <a:latin typeface="Calibir"/>
              </a:rPr>
              <a:t>        </a:t>
            </a:r>
            <a:r>
              <a:rPr lang="en-US" sz="1600" dirty="0" err="1">
                <a:highlight>
                  <a:srgbClr val="FFFF00"/>
                </a:highlight>
                <a:latin typeface="Calibir"/>
              </a:rPr>
              <a:t>System.out.print</a:t>
            </a:r>
            <a:r>
              <a:rPr lang="en-US" sz="1600" dirty="0">
                <a:highlight>
                  <a:srgbClr val="FFFF00"/>
                </a:highlight>
                <a:latin typeface="Calibir"/>
              </a:rPr>
              <a:t>(</a:t>
            </a:r>
          </a:p>
          <a:p>
            <a:r>
              <a:rPr lang="en-US" sz="1600" dirty="0">
                <a:highlight>
                  <a:srgbClr val="FFFF00"/>
                </a:highlight>
                <a:latin typeface="Calibir"/>
              </a:rPr>
              <a:t>            "Enter second person's age: "</a:t>
            </a:r>
          </a:p>
          <a:p>
            <a:r>
              <a:rPr lang="en-US" sz="1600" dirty="0">
                <a:highlight>
                  <a:srgbClr val="FFFF00"/>
                </a:highlight>
                <a:latin typeface="Calibir"/>
              </a:rPr>
              <a:t>        );</a:t>
            </a:r>
          </a:p>
          <a:p>
            <a:r>
              <a:rPr lang="en-US" sz="1600" dirty="0">
                <a:highlight>
                  <a:srgbClr val="FFFF00"/>
                </a:highlight>
                <a:latin typeface="Calibir"/>
              </a:rPr>
              <a:t>        int age =</a:t>
            </a:r>
          </a:p>
          <a:p>
            <a:r>
              <a:rPr lang="en-US" sz="1600" dirty="0">
                <a:highlight>
                  <a:srgbClr val="FFFF00"/>
                </a:highlight>
                <a:latin typeface="Calibir"/>
              </a:rPr>
              <a:t>                </a:t>
            </a:r>
            <a:r>
              <a:rPr lang="en-US" sz="1600" dirty="0" err="1">
                <a:highlight>
                  <a:srgbClr val="FFFF00"/>
                </a:highlight>
                <a:latin typeface="Calibir"/>
              </a:rPr>
              <a:t>input.nextInt</a:t>
            </a:r>
            <a:r>
              <a:rPr lang="en-US" sz="1600" dirty="0">
                <a:highlight>
                  <a:srgbClr val="FFFF00"/>
                </a:highlight>
                <a:latin typeface="Calibir"/>
              </a:rPr>
              <a:t>();</a:t>
            </a:r>
          </a:p>
          <a:p>
            <a:r>
              <a:rPr lang="en-US" sz="1600" dirty="0">
                <a:highlight>
                  <a:srgbClr val="FFFF00"/>
                </a:highlight>
                <a:latin typeface="Calibir"/>
              </a:rPr>
              <a:t>        </a:t>
            </a:r>
            <a:r>
              <a:rPr lang="en-US" sz="1600" dirty="0" err="1">
                <a:highlight>
                  <a:srgbClr val="FFFF00"/>
                </a:highlight>
                <a:latin typeface="Calibir"/>
              </a:rPr>
              <a:t>input.nextLine</a:t>
            </a:r>
            <a:r>
              <a:rPr lang="en-US" sz="1600" dirty="0">
                <a:highlight>
                  <a:srgbClr val="FFFF00"/>
                </a:highlight>
                <a:latin typeface="Calibir"/>
              </a:rPr>
              <a:t>();</a:t>
            </a:r>
          </a:p>
          <a:p>
            <a:r>
              <a:rPr lang="en-US" sz="1600" dirty="0">
                <a:highlight>
                  <a:srgbClr val="FFFF00"/>
                </a:highlight>
                <a:latin typeface="Calibir"/>
              </a:rPr>
              <a:t>        person2 =</a:t>
            </a:r>
          </a:p>
          <a:p>
            <a:r>
              <a:rPr lang="en-US" sz="1600" dirty="0">
                <a:highlight>
                  <a:srgbClr val="FFFF00"/>
                </a:highlight>
                <a:latin typeface="Calibir"/>
              </a:rPr>
              <a:t>                new Person(</a:t>
            </a:r>
          </a:p>
          <a:p>
            <a:r>
              <a:rPr lang="en-US" sz="1600" dirty="0">
                <a:highlight>
                  <a:srgbClr val="FFFF00"/>
                </a:highlight>
                <a:latin typeface="Calibir"/>
              </a:rPr>
              <a:t>                    name,</a:t>
            </a:r>
          </a:p>
          <a:p>
            <a:r>
              <a:rPr lang="en-US" sz="1600" dirty="0">
                <a:highlight>
                  <a:srgbClr val="FFFF00"/>
                </a:highlight>
                <a:latin typeface="Calibir"/>
              </a:rPr>
              <a:t>                    age</a:t>
            </a:r>
          </a:p>
          <a:p>
            <a:r>
              <a:rPr lang="en-US" sz="1600" dirty="0">
                <a:highlight>
                  <a:srgbClr val="FFFF00"/>
                </a:highlight>
                <a:latin typeface="Calibir"/>
              </a:rPr>
              <a:t>                );</a:t>
            </a:r>
          </a:p>
          <a:p>
            <a:r>
              <a:rPr lang="en-US" sz="1600" dirty="0">
                <a:highlight>
                  <a:srgbClr val="FFFF00"/>
                </a:highlight>
                <a:latin typeface="Calibir"/>
              </a:rPr>
              <a:t>    }</a:t>
            </a:r>
          </a:p>
          <a:p>
            <a:r>
              <a:rPr lang="en-US" sz="1600" dirty="0">
                <a:highlight>
                  <a:srgbClr val="FFFF00"/>
                </a:highlight>
                <a:latin typeface="Calibir"/>
              </a:rPr>
              <a:t>}</a:t>
            </a:r>
          </a:p>
        </p:txBody>
      </p:sp>
    </p:spTree>
    <p:custDataLst>
      <p:tags r:id="rId1"/>
    </p:custDataLst>
    <p:extLst>
      <p:ext uri="{BB962C8B-B14F-4D97-AF65-F5344CB8AC3E}">
        <p14:creationId xmlns:p14="http://schemas.microsoft.com/office/powerpoint/2010/main" val="106936726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19507-23E9-7766-DEC3-49770FAE2C5C}"/>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E87312A5-6B53-8FF7-61BD-91AC10BE3930}"/>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3" name="TextBox 2">
            <a:extLst>
              <a:ext uri="{FF2B5EF4-FFF2-40B4-BE49-F238E27FC236}">
                <a16:creationId xmlns:a16="http://schemas.microsoft.com/office/drawing/2014/main" id="{88464487-6588-FD22-F8EF-4A8947611643}"/>
              </a:ext>
            </a:extLst>
          </p:cNvPr>
          <p:cNvSpPr txBox="1"/>
          <p:nvPr/>
        </p:nvSpPr>
        <p:spPr>
          <a:xfrm>
            <a:off x="-1" y="0"/>
            <a:ext cx="5597913" cy="2610843"/>
          </a:xfrm>
          <a:prstGeom prst="rect">
            <a:avLst/>
          </a:prstGeom>
          <a:noFill/>
        </p:spPr>
        <p:txBody>
          <a:bodyPr wrap="square">
            <a:spAutoFit/>
          </a:bodyPr>
          <a:lstStyle/>
          <a:p>
            <a:pPr>
              <a:lnSpc>
                <a:spcPct val="150000"/>
              </a:lnSpc>
            </a:pPr>
            <a:r>
              <a:rPr lang="en-US" sz="2800" b="1" dirty="0">
                <a:latin typeface="Calibir"/>
              </a:rPr>
              <a:t>Step 7 — Add show()</a:t>
            </a:r>
          </a:p>
          <a:p>
            <a:pPr>
              <a:lnSpc>
                <a:spcPct val="150000"/>
              </a:lnSpc>
            </a:pPr>
            <a:r>
              <a:rPr lang="en-US" sz="2800" b="1" dirty="0">
                <a:latin typeface="Calibir"/>
              </a:rPr>
              <a:t>Python</a:t>
            </a:r>
          </a:p>
          <a:p>
            <a:pPr>
              <a:lnSpc>
                <a:spcPct val="150000"/>
              </a:lnSpc>
            </a:pPr>
            <a:r>
              <a:rPr lang="en-US" sz="2800" dirty="0">
                <a:highlight>
                  <a:srgbClr val="FFFF00"/>
                </a:highlight>
                <a:latin typeface="Calibir"/>
              </a:rPr>
              <a:t>def show(self, person):</a:t>
            </a:r>
          </a:p>
          <a:p>
            <a:pPr>
              <a:lnSpc>
                <a:spcPct val="150000"/>
              </a:lnSpc>
            </a:pPr>
            <a:r>
              <a:rPr lang="en-US" sz="2800" dirty="0">
                <a:highlight>
                  <a:srgbClr val="FFFF00"/>
                </a:highlight>
                <a:latin typeface="Calibir"/>
              </a:rPr>
              <a:t>    print(person)</a:t>
            </a:r>
          </a:p>
        </p:txBody>
      </p:sp>
      <p:sp>
        <p:nvSpPr>
          <p:cNvPr id="4" name="TextBox 3">
            <a:extLst>
              <a:ext uri="{FF2B5EF4-FFF2-40B4-BE49-F238E27FC236}">
                <a16:creationId xmlns:a16="http://schemas.microsoft.com/office/drawing/2014/main" id="{6643A6C1-BD6B-9892-2384-461212469D8D}"/>
              </a:ext>
            </a:extLst>
          </p:cNvPr>
          <p:cNvSpPr txBox="1"/>
          <p:nvPr/>
        </p:nvSpPr>
        <p:spPr>
          <a:xfrm>
            <a:off x="6162907" y="0"/>
            <a:ext cx="6166624" cy="4549835"/>
          </a:xfrm>
          <a:prstGeom prst="rect">
            <a:avLst/>
          </a:prstGeom>
          <a:noFill/>
        </p:spPr>
        <p:txBody>
          <a:bodyPr wrap="square">
            <a:spAutoFit/>
          </a:bodyPr>
          <a:lstStyle/>
          <a:p>
            <a:pPr>
              <a:lnSpc>
                <a:spcPct val="150000"/>
              </a:lnSpc>
              <a:buNone/>
            </a:pPr>
            <a:r>
              <a:rPr lang="en-US" sz="2800" b="1" dirty="0">
                <a:latin typeface="Calibir"/>
              </a:rPr>
              <a:t>Java</a:t>
            </a:r>
          </a:p>
          <a:p>
            <a:pPr rtl="0">
              <a:lnSpc>
                <a:spcPct val="150000"/>
              </a:lnSpc>
              <a:buNone/>
            </a:pPr>
            <a:r>
              <a:rPr lang="en-US" sz="2800" dirty="0">
                <a:highlight>
                  <a:srgbClr val="FFFF00"/>
                </a:highlight>
                <a:latin typeface="Calibir"/>
              </a:rPr>
              <a:t>public void show(</a:t>
            </a:r>
          </a:p>
          <a:p>
            <a:pPr rtl="0">
              <a:lnSpc>
                <a:spcPct val="150000"/>
              </a:lnSpc>
              <a:buNone/>
            </a:pPr>
            <a:r>
              <a:rPr lang="en-US" sz="2800" dirty="0">
                <a:highlight>
                  <a:srgbClr val="FFFF00"/>
                </a:highlight>
                <a:latin typeface="Calibir"/>
              </a:rPr>
              <a:t>        Person person) {</a:t>
            </a:r>
          </a:p>
          <a:p>
            <a:pPr rtl="0">
              <a:lnSpc>
                <a:spcPct val="150000"/>
              </a:lnSpc>
              <a:buNone/>
            </a:pPr>
            <a:r>
              <a:rPr lang="en-US" sz="2800" dirty="0">
                <a:highlight>
                  <a:srgbClr val="FFFF00"/>
                </a:highlight>
                <a:latin typeface="Calibir"/>
              </a:rPr>
              <a:t>    </a:t>
            </a:r>
            <a:r>
              <a:rPr lang="en-US" sz="2800" dirty="0" err="1">
                <a:highlight>
                  <a:srgbClr val="FFFF00"/>
                </a:highlight>
                <a:latin typeface="Calibir"/>
              </a:rPr>
              <a:t>System.out.println</a:t>
            </a:r>
            <a:r>
              <a:rPr lang="en-US" sz="2800" dirty="0">
                <a:highlight>
                  <a:srgbClr val="FFFF00"/>
                </a:highlight>
                <a:latin typeface="Calibir"/>
              </a:rPr>
              <a:t>(</a:t>
            </a:r>
          </a:p>
          <a:p>
            <a:pPr rtl="0">
              <a:lnSpc>
                <a:spcPct val="150000"/>
              </a:lnSpc>
              <a:buNone/>
            </a:pPr>
            <a:r>
              <a:rPr lang="en-US" sz="2800" dirty="0">
                <a:highlight>
                  <a:srgbClr val="FFFF00"/>
                </a:highlight>
                <a:latin typeface="Calibir"/>
              </a:rPr>
              <a:t>        person</a:t>
            </a:r>
          </a:p>
          <a:p>
            <a:pPr rtl="0">
              <a:lnSpc>
                <a:spcPct val="150000"/>
              </a:lnSpc>
              <a:buNone/>
            </a:pPr>
            <a:r>
              <a:rPr lang="en-US" sz="2800" dirty="0">
                <a:highlight>
                  <a:srgbClr val="FFFF00"/>
                </a:highlight>
                <a:latin typeface="Calibir"/>
              </a:rPr>
              <a:t>    );</a:t>
            </a:r>
          </a:p>
          <a:p>
            <a:pPr rtl="0">
              <a:lnSpc>
                <a:spcPct val="150000"/>
              </a:lnSpc>
              <a:buNone/>
            </a:pPr>
            <a:r>
              <a:rPr lang="en-US" sz="2800" dirty="0">
                <a:highlight>
                  <a:srgbClr val="FFFF00"/>
                </a:highlight>
                <a:latin typeface="Calibir"/>
              </a:rPr>
              <a:t>}</a:t>
            </a:r>
          </a:p>
        </p:txBody>
      </p:sp>
    </p:spTree>
    <p:custDataLst>
      <p:tags r:id="rId1"/>
    </p:custDataLst>
    <p:extLst>
      <p:ext uri="{BB962C8B-B14F-4D97-AF65-F5344CB8AC3E}">
        <p14:creationId xmlns:p14="http://schemas.microsoft.com/office/powerpoint/2010/main" val="102731969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B1D03-5720-F11F-210E-543D51C44C54}"/>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F0FA0441-8FBB-E7F6-6395-EEDCA70A7CA1}"/>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sp>
        <p:nvSpPr>
          <p:cNvPr id="4" name="TextBox 3">
            <a:extLst>
              <a:ext uri="{FF2B5EF4-FFF2-40B4-BE49-F238E27FC236}">
                <a16:creationId xmlns:a16="http://schemas.microsoft.com/office/drawing/2014/main" id="{FC2D6DE9-8EAD-AA42-AC60-47860A2E2DDF}"/>
              </a:ext>
            </a:extLst>
          </p:cNvPr>
          <p:cNvSpPr txBox="1"/>
          <p:nvPr/>
        </p:nvSpPr>
        <p:spPr>
          <a:xfrm>
            <a:off x="6162907" y="0"/>
            <a:ext cx="6166624" cy="5842497"/>
          </a:xfrm>
          <a:prstGeom prst="rect">
            <a:avLst/>
          </a:prstGeom>
          <a:noFill/>
        </p:spPr>
        <p:txBody>
          <a:bodyPr wrap="square">
            <a:spAutoFit/>
          </a:bodyPr>
          <a:lstStyle/>
          <a:p>
            <a:pPr>
              <a:lnSpc>
                <a:spcPct val="150000"/>
              </a:lnSpc>
            </a:pPr>
            <a:r>
              <a:rPr lang="en-US" sz="2800" b="1" dirty="0">
                <a:latin typeface="Calibir"/>
              </a:rPr>
              <a:t>Java</a:t>
            </a:r>
          </a:p>
          <a:p>
            <a:pPr>
              <a:lnSpc>
                <a:spcPct val="150000"/>
              </a:lnSpc>
            </a:pPr>
            <a:r>
              <a:rPr lang="en-US" sz="2800" dirty="0">
                <a:highlight>
                  <a:srgbClr val="FFFF00"/>
                </a:highlight>
                <a:latin typeface="Calibir"/>
              </a:rPr>
              <a:t>public void update(</a:t>
            </a:r>
          </a:p>
          <a:p>
            <a:pPr>
              <a:lnSpc>
                <a:spcPct val="150000"/>
              </a:lnSpc>
            </a:pPr>
            <a:r>
              <a:rPr lang="en-US" sz="2800" dirty="0">
                <a:highlight>
                  <a:srgbClr val="FFFF00"/>
                </a:highlight>
                <a:latin typeface="Calibir"/>
              </a:rPr>
              <a:t>        Person </a:t>
            </a:r>
            <a:r>
              <a:rPr lang="en-US" sz="2800" dirty="0" err="1">
                <a:highlight>
                  <a:srgbClr val="FFFF00"/>
                </a:highlight>
                <a:latin typeface="Calibir"/>
              </a:rPr>
              <a:t>person</a:t>
            </a:r>
            <a:r>
              <a:rPr lang="en-US" sz="2800" dirty="0">
                <a:highlight>
                  <a:srgbClr val="FFFF00"/>
                </a:highlight>
                <a:latin typeface="Calibir"/>
              </a:rPr>
              <a:t>,</a:t>
            </a:r>
          </a:p>
          <a:p>
            <a:pPr>
              <a:lnSpc>
                <a:spcPct val="150000"/>
              </a:lnSpc>
            </a:pPr>
            <a:r>
              <a:rPr lang="en-US" sz="2800" dirty="0">
                <a:highlight>
                  <a:srgbClr val="FFFF00"/>
                </a:highlight>
                <a:latin typeface="Calibir"/>
              </a:rPr>
              <a:t>        String </a:t>
            </a:r>
            <a:r>
              <a:rPr lang="en-US" sz="2800" dirty="0" err="1">
                <a:highlight>
                  <a:srgbClr val="FFFF00"/>
                </a:highlight>
                <a:latin typeface="Calibir"/>
              </a:rPr>
              <a:t>newName</a:t>
            </a:r>
            <a:r>
              <a:rPr lang="en-US" sz="2800" dirty="0">
                <a:highlight>
                  <a:srgbClr val="FFFF00"/>
                </a:highlight>
                <a:latin typeface="Calibir"/>
              </a:rPr>
              <a:t>) {</a:t>
            </a:r>
          </a:p>
          <a:p>
            <a:pPr>
              <a:lnSpc>
                <a:spcPct val="150000"/>
              </a:lnSpc>
            </a:pPr>
            <a:endParaRPr lang="en-US" sz="2800" dirty="0">
              <a:highlight>
                <a:srgbClr val="FFFF00"/>
              </a:highlight>
              <a:latin typeface="Calibir"/>
            </a:endParaRPr>
          </a:p>
          <a:p>
            <a:pPr>
              <a:lnSpc>
                <a:spcPct val="150000"/>
              </a:lnSpc>
            </a:pPr>
            <a:r>
              <a:rPr lang="en-US" sz="2800" dirty="0">
                <a:highlight>
                  <a:srgbClr val="FFFF00"/>
                </a:highlight>
                <a:latin typeface="Calibir"/>
              </a:rPr>
              <a:t>    </a:t>
            </a:r>
            <a:r>
              <a:rPr lang="en-US" sz="2800" dirty="0" err="1">
                <a:highlight>
                  <a:srgbClr val="FFFF00"/>
                </a:highlight>
                <a:latin typeface="Calibir"/>
              </a:rPr>
              <a:t>person.setName</a:t>
            </a:r>
            <a:r>
              <a:rPr lang="en-US" sz="2800" dirty="0">
                <a:highlight>
                  <a:srgbClr val="FFFF00"/>
                </a:highlight>
                <a:latin typeface="Calibir"/>
              </a:rPr>
              <a:t>(</a:t>
            </a:r>
          </a:p>
          <a:p>
            <a:pPr>
              <a:lnSpc>
                <a:spcPct val="150000"/>
              </a:lnSpc>
            </a:pPr>
            <a:r>
              <a:rPr lang="en-US" sz="2800" dirty="0">
                <a:highlight>
                  <a:srgbClr val="FFFF00"/>
                </a:highlight>
                <a:latin typeface="Calibir"/>
              </a:rPr>
              <a:t>        </a:t>
            </a:r>
            <a:r>
              <a:rPr lang="en-US" sz="2800" dirty="0" err="1">
                <a:highlight>
                  <a:srgbClr val="FFFF00"/>
                </a:highlight>
                <a:latin typeface="Calibir"/>
              </a:rPr>
              <a:t>newName</a:t>
            </a:r>
            <a:endParaRPr lang="en-US" sz="2800" dirty="0">
              <a:highlight>
                <a:srgbClr val="FFFF00"/>
              </a:highlight>
              <a:latin typeface="Calibir"/>
            </a:endParaRPr>
          </a:p>
          <a:p>
            <a:pPr>
              <a:lnSpc>
                <a:spcPct val="150000"/>
              </a:lnSpc>
            </a:pPr>
            <a:r>
              <a:rPr lang="en-US" sz="2800" dirty="0">
                <a:highlight>
                  <a:srgbClr val="FFFF00"/>
                </a:highlight>
                <a:latin typeface="Calibir"/>
              </a:rPr>
              <a:t>    );</a:t>
            </a:r>
          </a:p>
          <a:p>
            <a:pPr>
              <a:lnSpc>
                <a:spcPct val="150000"/>
              </a:lnSpc>
            </a:pPr>
            <a:r>
              <a:rPr lang="en-US" sz="2800" dirty="0">
                <a:highlight>
                  <a:srgbClr val="FFFF00"/>
                </a:highlight>
                <a:latin typeface="Calibir"/>
              </a:rPr>
              <a:t>}</a:t>
            </a:r>
          </a:p>
        </p:txBody>
      </p:sp>
      <p:sp>
        <p:nvSpPr>
          <p:cNvPr id="5" name="TextBox 4">
            <a:extLst>
              <a:ext uri="{FF2B5EF4-FFF2-40B4-BE49-F238E27FC236}">
                <a16:creationId xmlns:a16="http://schemas.microsoft.com/office/drawing/2014/main" id="{B773C2FD-9F85-1953-92CB-27050F1D2480}"/>
              </a:ext>
            </a:extLst>
          </p:cNvPr>
          <p:cNvSpPr txBox="1"/>
          <p:nvPr/>
        </p:nvSpPr>
        <p:spPr>
          <a:xfrm>
            <a:off x="0" y="0"/>
            <a:ext cx="6166624" cy="3903504"/>
          </a:xfrm>
          <a:prstGeom prst="rect">
            <a:avLst/>
          </a:prstGeom>
          <a:noFill/>
        </p:spPr>
        <p:txBody>
          <a:bodyPr wrap="square">
            <a:spAutoFit/>
          </a:bodyPr>
          <a:lstStyle/>
          <a:p>
            <a:pPr>
              <a:lnSpc>
                <a:spcPct val="150000"/>
              </a:lnSpc>
              <a:buNone/>
            </a:pPr>
            <a:r>
              <a:rPr lang="en-US" sz="2800" b="1" dirty="0">
                <a:latin typeface="Calibir"/>
              </a:rPr>
              <a:t>Step 8 — Add update()</a:t>
            </a:r>
          </a:p>
          <a:p>
            <a:pPr>
              <a:lnSpc>
                <a:spcPct val="150000"/>
              </a:lnSpc>
              <a:buNone/>
            </a:pPr>
            <a:r>
              <a:rPr lang="en-US" sz="2800" dirty="0">
                <a:latin typeface="Calibir"/>
              </a:rPr>
              <a:t>The task says:</a:t>
            </a:r>
          </a:p>
          <a:p>
            <a:pPr>
              <a:lnSpc>
                <a:spcPct val="150000"/>
              </a:lnSpc>
              <a:buNone/>
            </a:pPr>
            <a:r>
              <a:rPr lang="en-US" sz="2800" dirty="0">
                <a:latin typeface="Calibir"/>
              </a:rPr>
              <a:t>update the name of a person.</a:t>
            </a:r>
          </a:p>
          <a:p>
            <a:pPr>
              <a:lnSpc>
                <a:spcPct val="150000"/>
              </a:lnSpc>
              <a:buNone/>
            </a:pPr>
            <a:r>
              <a:rPr lang="en-US" sz="2800" b="1" dirty="0">
                <a:latin typeface="Calibir"/>
              </a:rPr>
              <a:t>Python</a:t>
            </a:r>
          </a:p>
          <a:p>
            <a:pPr rtl="0">
              <a:lnSpc>
                <a:spcPct val="150000"/>
              </a:lnSpc>
              <a:buNone/>
            </a:pPr>
            <a:r>
              <a:rPr lang="en-US" sz="2800" dirty="0">
                <a:highlight>
                  <a:srgbClr val="FFFF00"/>
                </a:highlight>
                <a:latin typeface="Calibir"/>
              </a:rPr>
              <a:t>def update(self, person, </a:t>
            </a:r>
            <a:r>
              <a:rPr lang="en-US" sz="2800" dirty="0" err="1">
                <a:highlight>
                  <a:srgbClr val="FFFF00"/>
                </a:highlight>
                <a:latin typeface="Calibir"/>
              </a:rPr>
              <a:t>new_name</a:t>
            </a:r>
            <a:r>
              <a:rPr lang="en-US" sz="2800" dirty="0">
                <a:highlight>
                  <a:srgbClr val="FFFF00"/>
                </a:highlight>
                <a:latin typeface="Calibir"/>
              </a:rPr>
              <a:t>):</a:t>
            </a:r>
          </a:p>
          <a:p>
            <a:pPr rtl="0">
              <a:lnSpc>
                <a:spcPct val="150000"/>
              </a:lnSpc>
              <a:buNone/>
            </a:pPr>
            <a:r>
              <a:rPr lang="en-US" sz="2800" dirty="0">
                <a:highlight>
                  <a:srgbClr val="FFFF00"/>
                </a:highlight>
                <a:latin typeface="Calibir"/>
              </a:rPr>
              <a:t>    </a:t>
            </a:r>
            <a:r>
              <a:rPr lang="en-US" sz="2800" dirty="0" err="1">
                <a:highlight>
                  <a:srgbClr val="FFFF00"/>
                </a:highlight>
                <a:latin typeface="Calibir"/>
              </a:rPr>
              <a:t>person.set_name</a:t>
            </a:r>
            <a:r>
              <a:rPr lang="en-US" sz="2800" dirty="0">
                <a:highlight>
                  <a:srgbClr val="FFFF00"/>
                </a:highlight>
                <a:latin typeface="Calibir"/>
              </a:rPr>
              <a:t>(</a:t>
            </a:r>
            <a:r>
              <a:rPr lang="en-US" sz="2800" dirty="0" err="1">
                <a:highlight>
                  <a:srgbClr val="FFFF00"/>
                </a:highlight>
                <a:latin typeface="Calibir"/>
              </a:rPr>
              <a:t>new_name</a:t>
            </a:r>
            <a:r>
              <a:rPr lang="en-US" sz="2800" dirty="0">
                <a:highlight>
                  <a:srgbClr val="FFFF00"/>
                </a:highlight>
                <a:latin typeface="Calibir"/>
              </a:rPr>
              <a:t>)</a:t>
            </a:r>
          </a:p>
        </p:txBody>
      </p:sp>
    </p:spTree>
    <p:custDataLst>
      <p:tags r:id="rId1"/>
    </p:custDataLst>
    <p:extLst>
      <p:ext uri="{BB962C8B-B14F-4D97-AF65-F5344CB8AC3E}">
        <p14:creationId xmlns:p14="http://schemas.microsoft.com/office/powerpoint/2010/main" val="211016420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A19F-ACF1-F2CF-3E44-736FA6555FFC}"/>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6AD4B143-DCB1-B18D-00E0-28912381D083}"/>
              </a:ext>
            </a:extLst>
          </p:cNvPr>
          <p:cNvSpPr>
            <a:spLocks noGrp="1" noChangeArrowheads="1"/>
          </p:cNvSpPr>
          <p:nvPr>
            <p:ph type="title"/>
          </p:nvPr>
        </p:nvSpPr>
        <p:spPr>
          <a:xfrm>
            <a:off x="304801" y="87924"/>
            <a:ext cx="11360800" cy="11084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p:txBody>
      </p:sp>
      <p:pic>
        <p:nvPicPr>
          <p:cNvPr id="3" name="Picture 2">
            <a:extLst>
              <a:ext uri="{FF2B5EF4-FFF2-40B4-BE49-F238E27FC236}">
                <a16:creationId xmlns:a16="http://schemas.microsoft.com/office/drawing/2014/main" id="{3F294C76-A0E3-246B-98C9-B75F14B76A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5489" y="-43939"/>
            <a:ext cx="10221022" cy="6814015"/>
          </a:xfrm>
          <a:prstGeom prst="rect">
            <a:avLst/>
          </a:prstGeom>
        </p:spPr>
      </p:pic>
    </p:spTree>
    <p:custDataLst>
      <p:tags r:id="rId1"/>
    </p:custDataLst>
    <p:extLst>
      <p:ext uri="{BB962C8B-B14F-4D97-AF65-F5344CB8AC3E}">
        <p14:creationId xmlns:p14="http://schemas.microsoft.com/office/powerpoint/2010/main" val="28308531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9A5E7-0709-DB43-F459-3BA9CA92BD1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04DD1A5-80BC-D1EA-7315-46A5A242D079}"/>
              </a:ext>
            </a:extLst>
          </p:cNvPr>
          <p:cNvSpPr txBox="1"/>
          <p:nvPr/>
        </p:nvSpPr>
        <p:spPr>
          <a:xfrm>
            <a:off x="0" y="0"/>
            <a:ext cx="6099716" cy="6740307"/>
          </a:xfrm>
          <a:prstGeom prst="rect">
            <a:avLst/>
          </a:prstGeom>
          <a:noFill/>
        </p:spPr>
        <p:txBody>
          <a:bodyPr wrap="square">
            <a:spAutoFit/>
          </a:bodyPr>
          <a:lstStyle/>
          <a:p>
            <a:pPr>
              <a:buNone/>
            </a:pPr>
            <a:r>
              <a:rPr lang="en-US" sz="1200" b="1" dirty="0">
                <a:latin typeface="Calibir"/>
              </a:rPr>
              <a:t>Completed Python — Lab6Exercise1</a:t>
            </a:r>
          </a:p>
          <a:p>
            <a:pPr rtl="0">
              <a:buNone/>
            </a:pPr>
            <a:r>
              <a:rPr lang="en-US" sz="1200" dirty="0">
                <a:highlight>
                  <a:srgbClr val="FFFF00"/>
                </a:highlight>
                <a:latin typeface="Calibir"/>
              </a:rPr>
              <a:t>class Person:</a:t>
            </a:r>
          </a:p>
          <a:p>
            <a:pPr rtl="0">
              <a:buNone/>
            </a:pPr>
            <a:r>
              <a:rPr lang="en-US" sz="1200" dirty="0">
                <a:highlight>
                  <a:srgbClr val="FFFF00"/>
                </a:highlight>
                <a:latin typeface="Calibir"/>
              </a:rPr>
              <a:t>    def __</a:t>
            </a:r>
            <a:r>
              <a:rPr lang="en-US" sz="1200" dirty="0" err="1">
                <a:highlight>
                  <a:srgbClr val="FFFF00"/>
                </a:highlight>
                <a:latin typeface="Calibir"/>
              </a:rPr>
              <a:t>init</a:t>
            </a:r>
            <a:r>
              <a:rPr lang="en-US" sz="1200" dirty="0">
                <a:highlight>
                  <a:srgbClr val="FFFF00"/>
                </a:highlight>
                <a:latin typeface="Calibir"/>
              </a:rPr>
              <a:t>__(</a:t>
            </a:r>
          </a:p>
          <a:p>
            <a:pPr rtl="0">
              <a:buNone/>
            </a:pPr>
            <a:r>
              <a:rPr lang="en-US" sz="1200" dirty="0">
                <a:highlight>
                  <a:srgbClr val="FFFF00"/>
                </a:highlight>
                <a:latin typeface="Calibir"/>
              </a:rPr>
              <a:t>            self,</a:t>
            </a:r>
          </a:p>
          <a:p>
            <a:pPr rtl="0">
              <a:buNone/>
            </a:pPr>
            <a:r>
              <a:rPr lang="en-US" sz="1200" dirty="0">
                <a:highlight>
                  <a:srgbClr val="FFFF00"/>
                </a:highlight>
                <a:latin typeface="Calibir"/>
              </a:rPr>
              <a:t>            name="Unknown",</a:t>
            </a:r>
          </a:p>
          <a:p>
            <a:pPr rtl="0">
              <a:buNone/>
            </a:pPr>
            <a:r>
              <a:rPr lang="en-US" sz="1200" dirty="0">
                <a:highlight>
                  <a:srgbClr val="FFFF00"/>
                </a:highlight>
                <a:latin typeface="Calibir"/>
              </a:rPr>
              <a:t>            age=0):</a:t>
            </a:r>
          </a:p>
          <a:p>
            <a:pPr rtl="0">
              <a:buNone/>
            </a:pPr>
            <a:r>
              <a:rPr lang="en-US" sz="1200" dirty="0">
                <a:highlight>
                  <a:srgbClr val="FFFF00"/>
                </a:highlight>
                <a:latin typeface="Calibir"/>
              </a:rPr>
              <a:t>        self.name = name</a:t>
            </a:r>
          </a:p>
          <a:p>
            <a:pPr rtl="0">
              <a:buNone/>
            </a:pPr>
            <a:r>
              <a:rPr lang="en-US" sz="1200" dirty="0">
                <a:highlight>
                  <a:srgbClr val="FFFF00"/>
                </a:highlight>
                <a:latin typeface="Calibir"/>
              </a:rPr>
              <a:t>        </a:t>
            </a:r>
            <a:r>
              <a:rPr lang="en-US" sz="1200" dirty="0" err="1">
                <a:highlight>
                  <a:srgbClr val="FFFF00"/>
                </a:highlight>
                <a:latin typeface="Calibir"/>
              </a:rPr>
              <a:t>self.age</a:t>
            </a:r>
            <a:r>
              <a:rPr lang="en-US" sz="1200" dirty="0">
                <a:highlight>
                  <a:srgbClr val="FFFF00"/>
                </a:highlight>
                <a:latin typeface="Calibir"/>
              </a:rPr>
              <a:t> = age</a:t>
            </a:r>
          </a:p>
          <a:p>
            <a:pPr rtl="0">
              <a:buNone/>
            </a:pPr>
            <a:r>
              <a:rPr lang="en-US" sz="1200" dirty="0">
                <a:highlight>
                  <a:srgbClr val="FFFF00"/>
                </a:highlight>
                <a:latin typeface="Calibir"/>
              </a:rPr>
              <a:t>    def </a:t>
            </a:r>
            <a:r>
              <a:rPr lang="en-US" sz="1200" dirty="0" err="1">
                <a:highlight>
                  <a:srgbClr val="FFFF00"/>
                </a:highlight>
                <a:latin typeface="Calibir"/>
              </a:rPr>
              <a:t>get_name</a:t>
            </a:r>
            <a:r>
              <a:rPr lang="en-US" sz="1200" dirty="0">
                <a:highlight>
                  <a:srgbClr val="FFFF00"/>
                </a:highlight>
                <a:latin typeface="Calibir"/>
              </a:rPr>
              <a:t>(self):</a:t>
            </a:r>
          </a:p>
          <a:p>
            <a:pPr rtl="0">
              <a:buNone/>
            </a:pPr>
            <a:r>
              <a:rPr lang="en-US" sz="1200" dirty="0">
                <a:highlight>
                  <a:srgbClr val="FFFF00"/>
                </a:highlight>
                <a:latin typeface="Calibir"/>
              </a:rPr>
              <a:t>        return self.name</a:t>
            </a:r>
          </a:p>
          <a:p>
            <a:pPr rtl="0">
              <a:buNone/>
            </a:pPr>
            <a:r>
              <a:rPr lang="en-US" sz="1200" dirty="0">
                <a:highlight>
                  <a:srgbClr val="FFFF00"/>
                </a:highlight>
                <a:latin typeface="Calibir"/>
              </a:rPr>
              <a:t>    def </a:t>
            </a:r>
            <a:r>
              <a:rPr lang="en-US" sz="1200" dirty="0" err="1">
                <a:highlight>
                  <a:srgbClr val="FFFF00"/>
                </a:highlight>
                <a:latin typeface="Calibir"/>
              </a:rPr>
              <a:t>get_age</a:t>
            </a:r>
            <a:r>
              <a:rPr lang="en-US" sz="1200" dirty="0">
                <a:highlight>
                  <a:srgbClr val="FFFF00"/>
                </a:highlight>
                <a:latin typeface="Calibir"/>
              </a:rPr>
              <a:t>(self):</a:t>
            </a:r>
          </a:p>
          <a:p>
            <a:pPr rtl="0">
              <a:buNone/>
            </a:pPr>
            <a:r>
              <a:rPr lang="en-US" sz="1200" dirty="0">
                <a:highlight>
                  <a:srgbClr val="FFFF00"/>
                </a:highlight>
                <a:latin typeface="Calibir"/>
              </a:rPr>
              <a:t>        return </a:t>
            </a:r>
            <a:r>
              <a:rPr lang="en-US" sz="1200" dirty="0" err="1">
                <a:highlight>
                  <a:srgbClr val="FFFF00"/>
                </a:highlight>
                <a:latin typeface="Calibir"/>
              </a:rPr>
              <a:t>self.age</a:t>
            </a:r>
            <a:endParaRPr lang="en-US" sz="1200" dirty="0">
              <a:highlight>
                <a:srgbClr val="FFFF00"/>
              </a:highlight>
              <a:latin typeface="Calibir"/>
            </a:endParaRPr>
          </a:p>
          <a:p>
            <a:pPr rtl="0">
              <a:buNone/>
            </a:pPr>
            <a:r>
              <a:rPr lang="en-US" sz="1200" dirty="0">
                <a:highlight>
                  <a:srgbClr val="FFFF00"/>
                </a:highlight>
                <a:latin typeface="Calibir"/>
              </a:rPr>
              <a:t>    def </a:t>
            </a:r>
            <a:r>
              <a:rPr lang="en-US" sz="1200" dirty="0" err="1">
                <a:highlight>
                  <a:srgbClr val="FFFF00"/>
                </a:highlight>
                <a:latin typeface="Calibir"/>
              </a:rPr>
              <a:t>set_name</a:t>
            </a:r>
            <a:r>
              <a:rPr lang="en-US" sz="1200" dirty="0">
                <a:highlight>
                  <a:srgbClr val="FFFF00"/>
                </a:highlight>
                <a:latin typeface="Calibir"/>
              </a:rPr>
              <a:t>(</a:t>
            </a:r>
          </a:p>
          <a:p>
            <a:pPr rtl="0">
              <a:buNone/>
            </a:pPr>
            <a:r>
              <a:rPr lang="en-US" sz="1200" dirty="0">
                <a:highlight>
                  <a:srgbClr val="FFFF00"/>
                </a:highlight>
                <a:latin typeface="Calibir"/>
              </a:rPr>
              <a:t>            self,</a:t>
            </a:r>
          </a:p>
          <a:p>
            <a:pPr rtl="0">
              <a:buNone/>
            </a:pPr>
            <a:r>
              <a:rPr lang="en-US" sz="1200" dirty="0">
                <a:highlight>
                  <a:srgbClr val="FFFF00"/>
                </a:highlight>
                <a:latin typeface="Calibir"/>
              </a:rPr>
              <a:t>            name):</a:t>
            </a:r>
          </a:p>
          <a:p>
            <a:pPr rtl="0">
              <a:buNone/>
            </a:pPr>
            <a:r>
              <a:rPr lang="en-US" sz="1200" dirty="0">
                <a:highlight>
                  <a:srgbClr val="FFFF00"/>
                </a:highlight>
                <a:latin typeface="Calibir"/>
              </a:rPr>
              <a:t>        self.name = name</a:t>
            </a:r>
          </a:p>
          <a:p>
            <a:pPr rtl="0">
              <a:buNone/>
            </a:pPr>
            <a:r>
              <a:rPr lang="en-US" sz="1200" dirty="0">
                <a:highlight>
                  <a:srgbClr val="FFFF00"/>
                </a:highlight>
                <a:latin typeface="Calibir"/>
              </a:rPr>
              <a:t>    def </a:t>
            </a:r>
            <a:r>
              <a:rPr lang="en-US" sz="1200" dirty="0" err="1">
                <a:highlight>
                  <a:srgbClr val="FFFF00"/>
                </a:highlight>
                <a:latin typeface="Calibir"/>
              </a:rPr>
              <a:t>set_age</a:t>
            </a:r>
            <a:r>
              <a:rPr lang="en-US" sz="1200" dirty="0">
                <a:highlight>
                  <a:srgbClr val="FFFF00"/>
                </a:highlight>
                <a:latin typeface="Calibir"/>
              </a:rPr>
              <a:t>(</a:t>
            </a:r>
          </a:p>
          <a:p>
            <a:pPr rtl="0">
              <a:buNone/>
            </a:pPr>
            <a:r>
              <a:rPr lang="en-US" sz="1200" dirty="0">
                <a:highlight>
                  <a:srgbClr val="FFFF00"/>
                </a:highlight>
                <a:latin typeface="Calibir"/>
              </a:rPr>
              <a:t>            self,</a:t>
            </a:r>
          </a:p>
          <a:p>
            <a:pPr rtl="0">
              <a:buNone/>
            </a:pPr>
            <a:r>
              <a:rPr lang="en-US" sz="1200" dirty="0">
                <a:highlight>
                  <a:srgbClr val="FFFF00"/>
                </a:highlight>
                <a:latin typeface="Calibir"/>
              </a:rPr>
              <a:t>            age):</a:t>
            </a:r>
          </a:p>
          <a:p>
            <a:pPr rtl="0">
              <a:buNone/>
            </a:pPr>
            <a:r>
              <a:rPr lang="en-US" sz="1200" dirty="0">
                <a:highlight>
                  <a:srgbClr val="FFFF00"/>
                </a:highlight>
                <a:latin typeface="Calibir"/>
              </a:rPr>
              <a:t>        </a:t>
            </a:r>
            <a:r>
              <a:rPr lang="en-US" sz="1200" dirty="0" err="1">
                <a:highlight>
                  <a:srgbClr val="FFFF00"/>
                </a:highlight>
                <a:latin typeface="Calibir"/>
              </a:rPr>
              <a:t>self.age</a:t>
            </a:r>
            <a:r>
              <a:rPr lang="en-US" sz="1200" dirty="0">
                <a:highlight>
                  <a:srgbClr val="FFFF00"/>
                </a:highlight>
                <a:latin typeface="Calibir"/>
              </a:rPr>
              <a:t> = age</a:t>
            </a:r>
          </a:p>
          <a:p>
            <a:pPr rtl="0">
              <a:buNone/>
            </a:pPr>
            <a:r>
              <a:rPr lang="en-US" sz="1200" dirty="0">
                <a:highlight>
                  <a:srgbClr val="FFFF00"/>
                </a:highlight>
                <a:latin typeface="Calibir"/>
              </a:rPr>
              <a:t>    def __str__(self):</a:t>
            </a:r>
          </a:p>
          <a:p>
            <a:pPr rtl="0">
              <a:buNone/>
            </a:pPr>
            <a:r>
              <a:rPr lang="en-US" sz="1200" dirty="0">
                <a:highlight>
                  <a:srgbClr val="FFFF00"/>
                </a:highlight>
                <a:latin typeface="Calibir"/>
              </a:rPr>
              <a:t>        return (</a:t>
            </a:r>
          </a:p>
          <a:p>
            <a:pPr rtl="0">
              <a:buNone/>
            </a:pPr>
            <a:r>
              <a:rPr lang="en-US" sz="1200" dirty="0">
                <a:highlight>
                  <a:srgbClr val="FFFF00"/>
                </a:highlight>
                <a:latin typeface="Calibir"/>
              </a:rPr>
              <a:t>            f"{self.name} "</a:t>
            </a:r>
          </a:p>
          <a:p>
            <a:pPr rtl="0">
              <a:buNone/>
            </a:pPr>
            <a:r>
              <a:rPr lang="en-US" sz="1200" dirty="0">
                <a:highlight>
                  <a:srgbClr val="FFFF00"/>
                </a:highlight>
                <a:latin typeface="Calibir"/>
              </a:rPr>
              <a:t>            </a:t>
            </a:r>
            <a:r>
              <a:rPr lang="en-US" sz="1200" dirty="0" err="1">
                <a:highlight>
                  <a:srgbClr val="FFFF00"/>
                </a:highlight>
                <a:latin typeface="Calibir"/>
              </a:rPr>
              <a:t>f"age</a:t>
            </a:r>
            <a:r>
              <a:rPr lang="en-US" sz="1200" dirty="0">
                <a:highlight>
                  <a:srgbClr val="FFFF00"/>
                </a:highlight>
                <a:latin typeface="Calibir"/>
              </a:rPr>
              <a:t> is {</a:t>
            </a:r>
            <a:r>
              <a:rPr lang="en-US" sz="1200" dirty="0" err="1">
                <a:highlight>
                  <a:srgbClr val="FFFF00"/>
                </a:highlight>
                <a:latin typeface="Calibir"/>
              </a:rPr>
              <a:t>self.age</a:t>
            </a:r>
            <a:r>
              <a:rPr lang="en-US" sz="1200" dirty="0">
                <a:highlight>
                  <a:srgbClr val="FFFF00"/>
                </a:highlight>
                <a:latin typeface="Calibir"/>
              </a:rPr>
              <a:t>}"</a:t>
            </a:r>
          </a:p>
          <a:p>
            <a:pPr rtl="0">
              <a:buNone/>
            </a:pPr>
            <a:r>
              <a:rPr lang="en-US" sz="1200" dirty="0">
                <a:highlight>
                  <a:srgbClr val="FFFF00"/>
                </a:highlight>
                <a:latin typeface="Calibir"/>
              </a:rPr>
              <a:t>        )</a:t>
            </a:r>
          </a:p>
          <a:p>
            <a:pPr rtl="0">
              <a:buNone/>
            </a:pPr>
            <a:r>
              <a:rPr lang="en-US" sz="1200" dirty="0">
                <a:highlight>
                  <a:srgbClr val="FFFF00"/>
                </a:highlight>
                <a:latin typeface="Calibir"/>
              </a:rPr>
              <a:t>class People:</a:t>
            </a:r>
          </a:p>
          <a:p>
            <a:pPr rtl="0">
              <a:buNone/>
            </a:pPr>
            <a:r>
              <a:rPr lang="en-US" sz="1200" dirty="0">
                <a:highlight>
                  <a:srgbClr val="FFFF00"/>
                </a:highlight>
                <a:latin typeface="Calibir"/>
              </a:rPr>
              <a:t>    def __</a:t>
            </a:r>
            <a:r>
              <a:rPr lang="en-US" sz="1200" dirty="0" err="1">
                <a:highlight>
                  <a:srgbClr val="FFFF00"/>
                </a:highlight>
                <a:latin typeface="Calibir"/>
              </a:rPr>
              <a:t>init</a:t>
            </a:r>
            <a:r>
              <a:rPr lang="en-US" sz="1200" dirty="0">
                <a:highlight>
                  <a:srgbClr val="FFFF00"/>
                </a:highlight>
                <a:latin typeface="Calibir"/>
              </a:rPr>
              <a:t>__(self):</a:t>
            </a:r>
          </a:p>
          <a:p>
            <a:pPr rtl="0">
              <a:buNone/>
            </a:pPr>
            <a:r>
              <a:rPr lang="en-US" sz="1200" dirty="0">
                <a:highlight>
                  <a:srgbClr val="FFFF00"/>
                </a:highlight>
                <a:latin typeface="Calibir"/>
              </a:rPr>
              <a:t>        self.person1 = Person()</a:t>
            </a:r>
          </a:p>
          <a:p>
            <a:pPr rtl="0">
              <a:buNone/>
            </a:pPr>
            <a:r>
              <a:rPr lang="en-US" sz="1200" dirty="0">
                <a:highlight>
                  <a:srgbClr val="FFFF00"/>
                </a:highlight>
                <a:latin typeface="Calibir"/>
              </a:rPr>
              <a:t>        name = input(</a:t>
            </a:r>
          </a:p>
          <a:p>
            <a:pPr rtl="0">
              <a:buNone/>
            </a:pPr>
            <a:r>
              <a:rPr lang="en-US" sz="1200" dirty="0">
                <a:highlight>
                  <a:srgbClr val="FFFF00"/>
                </a:highlight>
                <a:latin typeface="Calibir"/>
              </a:rPr>
              <a:t>            "Enter second person's name: "</a:t>
            </a:r>
          </a:p>
          <a:p>
            <a:pPr rtl="0">
              <a:buNone/>
            </a:pPr>
            <a:r>
              <a:rPr lang="en-US" sz="1200" dirty="0">
                <a:highlight>
                  <a:srgbClr val="FFFF00"/>
                </a:highlight>
                <a:latin typeface="Calibir"/>
              </a:rPr>
              <a:t>        )</a:t>
            </a:r>
          </a:p>
          <a:p>
            <a:pPr rtl="0">
              <a:buNone/>
            </a:pPr>
            <a:r>
              <a:rPr lang="en-US" sz="1200" dirty="0">
                <a:highlight>
                  <a:srgbClr val="FFFF00"/>
                </a:highlight>
                <a:latin typeface="Calibir"/>
              </a:rPr>
              <a:t>        age = int(</a:t>
            </a:r>
          </a:p>
          <a:p>
            <a:pPr rtl="0">
              <a:buNone/>
            </a:pPr>
            <a:r>
              <a:rPr lang="en-US" sz="1200" dirty="0">
                <a:highlight>
                  <a:srgbClr val="FFFF00"/>
                </a:highlight>
                <a:latin typeface="Calibir"/>
              </a:rPr>
              <a:t>            input(</a:t>
            </a:r>
          </a:p>
          <a:p>
            <a:pPr rtl="0">
              <a:buNone/>
            </a:pPr>
            <a:r>
              <a:rPr lang="en-US" sz="1200" dirty="0">
                <a:highlight>
                  <a:srgbClr val="FFFF00"/>
                </a:highlight>
                <a:latin typeface="Calibir"/>
              </a:rPr>
              <a:t>                "Enter second person's age: "</a:t>
            </a:r>
          </a:p>
          <a:p>
            <a:pPr rtl="0">
              <a:buNone/>
            </a:pPr>
            <a:r>
              <a:rPr lang="en-US" sz="1200" dirty="0">
                <a:highlight>
                  <a:srgbClr val="FFFF00"/>
                </a:highlight>
                <a:latin typeface="Calibir"/>
              </a:rPr>
              <a:t>            )</a:t>
            </a:r>
          </a:p>
          <a:p>
            <a:pPr rtl="0">
              <a:buNone/>
            </a:pPr>
            <a:r>
              <a:rPr lang="en-US" sz="1200" dirty="0">
                <a:highlight>
                  <a:srgbClr val="FFFF00"/>
                </a:highlight>
                <a:latin typeface="Calibir"/>
              </a:rPr>
              <a:t>        )</a:t>
            </a:r>
          </a:p>
        </p:txBody>
      </p:sp>
    </p:spTree>
    <p:custDataLst>
      <p:tags r:id="rId1"/>
    </p:custDataLst>
    <p:extLst>
      <p:ext uri="{BB962C8B-B14F-4D97-AF65-F5344CB8AC3E}">
        <p14:creationId xmlns:p14="http://schemas.microsoft.com/office/powerpoint/2010/main" val="334207781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BAE8A-3AAC-7CCC-5F21-0ECB7498B67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D3983C7-532E-538C-F34D-6E65A736DA4F}"/>
              </a:ext>
            </a:extLst>
          </p:cNvPr>
          <p:cNvSpPr txBox="1"/>
          <p:nvPr/>
        </p:nvSpPr>
        <p:spPr>
          <a:xfrm>
            <a:off x="0" y="0"/>
            <a:ext cx="6099716" cy="7109639"/>
          </a:xfrm>
          <a:prstGeom prst="rect">
            <a:avLst/>
          </a:prstGeom>
          <a:noFill/>
        </p:spPr>
        <p:txBody>
          <a:bodyPr wrap="square">
            <a:spAutoFit/>
          </a:bodyPr>
          <a:lstStyle/>
          <a:p>
            <a:r>
              <a:rPr lang="en-US" sz="1200" dirty="0">
                <a:highlight>
                  <a:srgbClr val="FFFF00"/>
                </a:highlight>
                <a:latin typeface="Calibir"/>
              </a:rPr>
              <a:t>        self.person2 = Person(</a:t>
            </a:r>
          </a:p>
          <a:p>
            <a:r>
              <a:rPr lang="en-US" sz="1200" dirty="0">
                <a:highlight>
                  <a:srgbClr val="FFFF00"/>
                </a:highlight>
                <a:latin typeface="Calibir"/>
              </a:rPr>
              <a:t>            name,</a:t>
            </a:r>
          </a:p>
          <a:p>
            <a:r>
              <a:rPr lang="en-US" sz="1200" dirty="0">
                <a:highlight>
                  <a:srgbClr val="FFFF00"/>
                </a:highlight>
                <a:latin typeface="Calibir"/>
              </a:rPr>
              <a:t>            age</a:t>
            </a:r>
          </a:p>
          <a:p>
            <a:r>
              <a:rPr lang="en-US" sz="1200" dirty="0">
                <a:highlight>
                  <a:srgbClr val="FFFF00"/>
                </a:highlight>
                <a:latin typeface="Calibir"/>
              </a:rPr>
              <a:t>        )</a:t>
            </a:r>
          </a:p>
          <a:p>
            <a:r>
              <a:rPr lang="en-US" sz="1200" dirty="0">
                <a:highlight>
                  <a:srgbClr val="FFFF00"/>
                </a:highlight>
                <a:latin typeface="Calibir"/>
              </a:rPr>
              <a:t>    def show(</a:t>
            </a:r>
          </a:p>
          <a:p>
            <a:r>
              <a:rPr lang="en-US" sz="1200" dirty="0">
                <a:highlight>
                  <a:srgbClr val="FFFF00"/>
                </a:highlight>
                <a:latin typeface="Calibir"/>
              </a:rPr>
              <a:t>            self,</a:t>
            </a:r>
          </a:p>
          <a:p>
            <a:r>
              <a:rPr lang="en-US" sz="1200" dirty="0">
                <a:highlight>
                  <a:srgbClr val="FFFF00"/>
                </a:highlight>
                <a:latin typeface="Calibir"/>
              </a:rPr>
              <a:t>            person):</a:t>
            </a:r>
          </a:p>
          <a:p>
            <a:r>
              <a:rPr lang="en-US" sz="1200" dirty="0">
                <a:highlight>
                  <a:srgbClr val="FFFF00"/>
                </a:highlight>
                <a:latin typeface="Calibir"/>
              </a:rPr>
              <a:t>        print(person)</a:t>
            </a:r>
          </a:p>
          <a:p>
            <a:r>
              <a:rPr lang="en-US" sz="1200" dirty="0">
                <a:highlight>
                  <a:srgbClr val="FFFF00"/>
                </a:highlight>
                <a:latin typeface="Calibir"/>
              </a:rPr>
              <a:t>    def update(</a:t>
            </a:r>
          </a:p>
          <a:p>
            <a:r>
              <a:rPr lang="en-US" sz="1200" dirty="0">
                <a:highlight>
                  <a:srgbClr val="FFFF00"/>
                </a:highlight>
                <a:latin typeface="Calibir"/>
              </a:rPr>
              <a:t>            self,</a:t>
            </a:r>
          </a:p>
          <a:p>
            <a:r>
              <a:rPr lang="en-US" sz="1200" dirty="0">
                <a:highlight>
                  <a:srgbClr val="FFFF00"/>
                </a:highlight>
                <a:latin typeface="Calibir"/>
              </a:rPr>
              <a:t>            person,</a:t>
            </a:r>
          </a:p>
          <a:p>
            <a:r>
              <a:rPr lang="en-US" sz="1200" dirty="0">
                <a:highlight>
                  <a:srgbClr val="FFFF00"/>
                </a:highlight>
                <a:latin typeface="Calibir"/>
              </a:rPr>
              <a:t>            </a:t>
            </a:r>
            <a:r>
              <a:rPr lang="en-US" sz="1200" dirty="0" err="1">
                <a:highlight>
                  <a:srgbClr val="FFFF00"/>
                </a:highlight>
                <a:latin typeface="Calibir"/>
              </a:rPr>
              <a:t>new_name</a:t>
            </a:r>
            <a:r>
              <a:rPr lang="en-US" sz="1200" dirty="0">
                <a:highlight>
                  <a:srgbClr val="FFFF00"/>
                </a:highlight>
                <a:latin typeface="Calibir"/>
              </a:rPr>
              <a:t>):</a:t>
            </a:r>
          </a:p>
          <a:p>
            <a:r>
              <a:rPr lang="en-US" sz="1200" dirty="0">
                <a:highlight>
                  <a:srgbClr val="FFFF00"/>
                </a:highlight>
                <a:latin typeface="Calibir"/>
              </a:rPr>
              <a:t>        </a:t>
            </a:r>
            <a:r>
              <a:rPr lang="en-US" sz="1200" dirty="0" err="1">
                <a:highlight>
                  <a:srgbClr val="FFFF00"/>
                </a:highlight>
                <a:latin typeface="Calibir"/>
              </a:rPr>
              <a:t>person.set_name</a:t>
            </a:r>
            <a:r>
              <a:rPr lang="en-US" sz="1200" dirty="0">
                <a:highlight>
                  <a:srgbClr val="FFFF00"/>
                </a:highlight>
                <a:latin typeface="Calibir"/>
              </a:rPr>
              <a:t>(</a:t>
            </a:r>
          </a:p>
          <a:p>
            <a:r>
              <a:rPr lang="en-US" sz="1200" dirty="0">
                <a:highlight>
                  <a:srgbClr val="FFFF00"/>
                </a:highlight>
                <a:latin typeface="Calibir"/>
              </a:rPr>
              <a:t>            </a:t>
            </a:r>
            <a:r>
              <a:rPr lang="en-US" sz="1200" dirty="0" err="1">
                <a:highlight>
                  <a:srgbClr val="FFFF00"/>
                </a:highlight>
                <a:latin typeface="Calibir"/>
              </a:rPr>
              <a:t>new_name</a:t>
            </a:r>
            <a:endParaRPr lang="en-US" sz="1200" dirty="0">
              <a:highlight>
                <a:srgbClr val="FFFF00"/>
              </a:highlight>
              <a:latin typeface="Calibir"/>
            </a:endParaRPr>
          </a:p>
          <a:p>
            <a:r>
              <a:rPr lang="en-US" sz="1200" dirty="0">
                <a:highlight>
                  <a:srgbClr val="FFFF00"/>
                </a:highlight>
                <a:latin typeface="Calibir"/>
              </a:rPr>
              <a:t>        )</a:t>
            </a:r>
          </a:p>
          <a:p>
            <a:r>
              <a:rPr lang="en-US" sz="1200" dirty="0">
                <a:highlight>
                  <a:srgbClr val="FFFF00"/>
                </a:highlight>
                <a:latin typeface="Calibir"/>
              </a:rPr>
              <a:t>def main():</a:t>
            </a:r>
          </a:p>
          <a:p>
            <a:r>
              <a:rPr lang="en-US" sz="1200" dirty="0">
                <a:highlight>
                  <a:srgbClr val="FFFF00"/>
                </a:highlight>
                <a:latin typeface="Calibir"/>
              </a:rPr>
              <a:t>    people = People()</a:t>
            </a:r>
          </a:p>
          <a:p>
            <a:r>
              <a:rPr lang="en-US" sz="1200" dirty="0">
                <a:highlight>
                  <a:srgbClr val="FFFF00"/>
                </a:highlight>
                <a:latin typeface="Calibir"/>
              </a:rPr>
              <a:t>    print("\</a:t>
            </a:r>
            <a:r>
              <a:rPr lang="en-US" sz="1200" dirty="0" err="1">
                <a:highlight>
                  <a:srgbClr val="FFFF00"/>
                </a:highlight>
                <a:latin typeface="Calibir"/>
              </a:rPr>
              <a:t>nInitial</a:t>
            </a:r>
            <a:r>
              <a:rPr lang="en-US" sz="1200" dirty="0">
                <a:highlight>
                  <a:srgbClr val="FFFF00"/>
                </a:highlight>
                <a:latin typeface="Calibir"/>
              </a:rPr>
              <a:t> people:")</a:t>
            </a:r>
          </a:p>
          <a:p>
            <a:r>
              <a:rPr lang="en-US" sz="1200" dirty="0">
                <a:highlight>
                  <a:srgbClr val="FFFF00"/>
                </a:highlight>
                <a:latin typeface="Calibir"/>
              </a:rPr>
              <a:t>    </a:t>
            </a:r>
            <a:r>
              <a:rPr lang="en-US" sz="1200" dirty="0" err="1">
                <a:highlight>
                  <a:srgbClr val="FFFF00"/>
                </a:highlight>
                <a:latin typeface="Calibir"/>
              </a:rPr>
              <a:t>people.show</a:t>
            </a:r>
            <a:r>
              <a:rPr lang="en-US" sz="1200" dirty="0">
                <a:highlight>
                  <a:srgbClr val="FFFF00"/>
                </a:highlight>
                <a:latin typeface="Calibir"/>
              </a:rPr>
              <a:t>(</a:t>
            </a:r>
          </a:p>
          <a:p>
            <a:r>
              <a:rPr lang="en-US" sz="1200" dirty="0">
                <a:highlight>
                  <a:srgbClr val="FFFF00"/>
                </a:highlight>
                <a:latin typeface="Calibir"/>
              </a:rPr>
              <a:t>        people.person1</a:t>
            </a:r>
          </a:p>
          <a:p>
            <a:r>
              <a:rPr lang="en-US" sz="1200" dirty="0">
                <a:highlight>
                  <a:srgbClr val="FFFF00"/>
                </a:highlight>
                <a:latin typeface="Calibir"/>
              </a:rPr>
              <a:t>    )</a:t>
            </a:r>
          </a:p>
          <a:p>
            <a:r>
              <a:rPr lang="en-US" sz="1200" dirty="0">
                <a:highlight>
                  <a:srgbClr val="FFFF00"/>
                </a:highlight>
                <a:latin typeface="Calibir"/>
              </a:rPr>
              <a:t>    </a:t>
            </a:r>
            <a:r>
              <a:rPr lang="en-US" sz="1200" dirty="0" err="1">
                <a:highlight>
                  <a:srgbClr val="FFFF00"/>
                </a:highlight>
                <a:latin typeface="Calibir"/>
              </a:rPr>
              <a:t>people.show</a:t>
            </a:r>
            <a:r>
              <a:rPr lang="en-US" sz="1200" dirty="0">
                <a:highlight>
                  <a:srgbClr val="FFFF00"/>
                </a:highlight>
                <a:latin typeface="Calibir"/>
              </a:rPr>
              <a:t>(</a:t>
            </a:r>
          </a:p>
          <a:p>
            <a:r>
              <a:rPr lang="en-US" sz="1200" dirty="0">
                <a:highlight>
                  <a:srgbClr val="FFFF00"/>
                </a:highlight>
                <a:latin typeface="Calibir"/>
              </a:rPr>
              <a:t>        people.person2</a:t>
            </a:r>
          </a:p>
          <a:p>
            <a:r>
              <a:rPr lang="en-US" sz="1200" dirty="0">
                <a:highlight>
                  <a:srgbClr val="FFFF00"/>
                </a:highlight>
                <a:latin typeface="Calibir"/>
              </a:rPr>
              <a:t>    )</a:t>
            </a:r>
          </a:p>
          <a:p>
            <a:r>
              <a:rPr lang="en-US" sz="1200" dirty="0">
                <a:highlight>
                  <a:srgbClr val="FFFF00"/>
                </a:highlight>
                <a:latin typeface="Calibir"/>
              </a:rPr>
              <a:t>    new_name1 = input(</a:t>
            </a:r>
          </a:p>
          <a:p>
            <a:r>
              <a:rPr lang="en-US" sz="1200" dirty="0">
                <a:highlight>
                  <a:srgbClr val="FFFF00"/>
                </a:highlight>
                <a:latin typeface="Calibir"/>
              </a:rPr>
              <a:t>        "\</a:t>
            </a:r>
            <a:r>
              <a:rPr lang="en-US" sz="1200" dirty="0" err="1">
                <a:highlight>
                  <a:srgbClr val="FFFF00"/>
                </a:highlight>
                <a:latin typeface="Calibir"/>
              </a:rPr>
              <a:t>nNew</a:t>
            </a:r>
            <a:r>
              <a:rPr lang="en-US" sz="1200" dirty="0">
                <a:highlight>
                  <a:srgbClr val="FFFF00"/>
                </a:highlight>
                <a:latin typeface="Calibir"/>
              </a:rPr>
              <a:t> name for person 1: "</a:t>
            </a:r>
          </a:p>
          <a:p>
            <a:r>
              <a:rPr lang="en-US" sz="1200" dirty="0">
                <a:highlight>
                  <a:srgbClr val="FFFF00"/>
                </a:highlight>
                <a:latin typeface="Calibir"/>
              </a:rPr>
              <a:t>    )</a:t>
            </a:r>
          </a:p>
          <a:p>
            <a:r>
              <a:rPr lang="en-US" sz="1200" dirty="0">
                <a:highlight>
                  <a:srgbClr val="FFFF00"/>
                </a:highlight>
                <a:latin typeface="Calibir"/>
              </a:rPr>
              <a:t>    new_name2 = input(</a:t>
            </a:r>
          </a:p>
          <a:p>
            <a:r>
              <a:rPr lang="en-US" sz="1200" dirty="0">
                <a:highlight>
                  <a:srgbClr val="FFFF00"/>
                </a:highlight>
                <a:latin typeface="Calibir"/>
              </a:rPr>
              <a:t>        "New name for person 2: "</a:t>
            </a:r>
          </a:p>
          <a:p>
            <a:r>
              <a:rPr lang="en-US" sz="1200" dirty="0">
                <a:highlight>
                  <a:srgbClr val="FFFF00"/>
                </a:highlight>
                <a:latin typeface="Calibir"/>
              </a:rPr>
              <a:t>    )</a:t>
            </a:r>
          </a:p>
          <a:p>
            <a:r>
              <a:rPr lang="en-US" sz="1200" dirty="0">
                <a:highlight>
                  <a:srgbClr val="FFFF00"/>
                </a:highlight>
                <a:latin typeface="Calibir"/>
              </a:rPr>
              <a:t>    </a:t>
            </a:r>
            <a:r>
              <a:rPr lang="en-US" sz="1200" dirty="0" err="1">
                <a:highlight>
                  <a:srgbClr val="FFFF00"/>
                </a:highlight>
                <a:latin typeface="Calibir"/>
              </a:rPr>
              <a:t>people.update</a:t>
            </a:r>
            <a:r>
              <a:rPr lang="en-US" sz="1200" dirty="0">
                <a:highlight>
                  <a:srgbClr val="FFFF00"/>
                </a:highlight>
                <a:latin typeface="Calibir"/>
              </a:rPr>
              <a:t>(</a:t>
            </a:r>
          </a:p>
          <a:p>
            <a:r>
              <a:rPr lang="en-US" sz="1200" dirty="0">
                <a:highlight>
                  <a:srgbClr val="FFFF00"/>
                </a:highlight>
                <a:latin typeface="Calibir"/>
              </a:rPr>
              <a:t>        people.person1,</a:t>
            </a:r>
          </a:p>
          <a:p>
            <a:r>
              <a:rPr lang="en-US" sz="1200" dirty="0">
                <a:highlight>
                  <a:srgbClr val="FFFF00"/>
                </a:highlight>
                <a:latin typeface="Calibir"/>
              </a:rPr>
              <a:t>        new_name1</a:t>
            </a:r>
          </a:p>
          <a:p>
            <a:r>
              <a:rPr lang="en-US" sz="1200" dirty="0">
                <a:highlight>
                  <a:srgbClr val="FFFF00"/>
                </a:highlight>
                <a:latin typeface="Calibir"/>
              </a:rPr>
              <a:t>    )</a:t>
            </a:r>
          </a:p>
          <a:p>
            <a:r>
              <a:rPr lang="en-US" sz="1200" dirty="0">
                <a:highlight>
                  <a:srgbClr val="FFFF00"/>
                </a:highlight>
                <a:latin typeface="Calibir"/>
              </a:rPr>
              <a:t>    </a:t>
            </a:r>
            <a:r>
              <a:rPr lang="en-US" sz="1200" dirty="0" err="1">
                <a:highlight>
                  <a:srgbClr val="FFFF00"/>
                </a:highlight>
                <a:latin typeface="Calibir"/>
              </a:rPr>
              <a:t>people.update</a:t>
            </a:r>
            <a:r>
              <a:rPr lang="en-US" sz="1200" dirty="0">
                <a:highlight>
                  <a:srgbClr val="FFFF00"/>
                </a:highlight>
                <a:latin typeface="Calibir"/>
              </a:rPr>
              <a:t>(</a:t>
            </a:r>
          </a:p>
          <a:p>
            <a:r>
              <a:rPr lang="en-US" sz="1200" dirty="0">
                <a:highlight>
                  <a:srgbClr val="FFFF00"/>
                </a:highlight>
                <a:latin typeface="Calibir"/>
              </a:rPr>
              <a:t>        people.person2,</a:t>
            </a:r>
          </a:p>
          <a:p>
            <a:r>
              <a:rPr lang="en-US" sz="1200" dirty="0">
                <a:highlight>
                  <a:srgbClr val="FFFF00"/>
                </a:highlight>
                <a:latin typeface="Calibir"/>
              </a:rPr>
              <a:t>        new_name2</a:t>
            </a:r>
          </a:p>
          <a:p>
            <a:r>
              <a:rPr lang="en-US" sz="1200" dirty="0">
                <a:highlight>
                  <a:srgbClr val="FFFF00"/>
                </a:highlight>
                <a:latin typeface="Calibir"/>
              </a:rPr>
              <a:t>    )</a:t>
            </a:r>
          </a:p>
        </p:txBody>
      </p:sp>
    </p:spTree>
    <p:custDataLst>
      <p:tags r:id="rId1"/>
    </p:custDataLst>
    <p:extLst>
      <p:ext uri="{BB962C8B-B14F-4D97-AF65-F5344CB8AC3E}">
        <p14:creationId xmlns:p14="http://schemas.microsoft.com/office/powerpoint/2010/main" val="59737794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959CB-F4EA-07B4-344C-10AF4FDEE2B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8BF6596-CA5C-F5D3-2486-4E211181426B}"/>
              </a:ext>
            </a:extLst>
          </p:cNvPr>
          <p:cNvSpPr txBox="1"/>
          <p:nvPr/>
        </p:nvSpPr>
        <p:spPr>
          <a:xfrm>
            <a:off x="0" y="0"/>
            <a:ext cx="6099716" cy="1754326"/>
          </a:xfrm>
          <a:prstGeom prst="rect">
            <a:avLst/>
          </a:prstGeom>
          <a:noFill/>
        </p:spPr>
        <p:txBody>
          <a:bodyPr wrap="square">
            <a:spAutoFit/>
          </a:bodyPr>
          <a:lstStyle/>
          <a:p>
            <a:r>
              <a:rPr lang="en-US" sz="1200" dirty="0">
                <a:highlight>
                  <a:srgbClr val="FFFF00"/>
                </a:highlight>
                <a:latin typeface="Calibir"/>
              </a:rPr>
              <a:t>    print("\</a:t>
            </a:r>
            <a:r>
              <a:rPr lang="en-US" sz="1200" dirty="0" err="1">
                <a:highlight>
                  <a:srgbClr val="FFFF00"/>
                </a:highlight>
                <a:latin typeface="Calibir"/>
              </a:rPr>
              <a:t>nUpdated</a:t>
            </a:r>
            <a:r>
              <a:rPr lang="en-US" sz="1200" dirty="0">
                <a:highlight>
                  <a:srgbClr val="FFFF00"/>
                </a:highlight>
                <a:latin typeface="Calibir"/>
              </a:rPr>
              <a:t> people:")</a:t>
            </a:r>
          </a:p>
          <a:p>
            <a:r>
              <a:rPr lang="en-US" sz="1200" dirty="0">
                <a:highlight>
                  <a:srgbClr val="FFFF00"/>
                </a:highlight>
                <a:latin typeface="Calibir"/>
              </a:rPr>
              <a:t>    </a:t>
            </a:r>
            <a:r>
              <a:rPr lang="en-US" sz="1200" dirty="0" err="1">
                <a:highlight>
                  <a:srgbClr val="FFFF00"/>
                </a:highlight>
                <a:latin typeface="Calibir"/>
              </a:rPr>
              <a:t>people.show</a:t>
            </a:r>
            <a:r>
              <a:rPr lang="en-US" sz="1200" dirty="0">
                <a:highlight>
                  <a:srgbClr val="FFFF00"/>
                </a:highlight>
                <a:latin typeface="Calibir"/>
              </a:rPr>
              <a:t>(</a:t>
            </a:r>
          </a:p>
          <a:p>
            <a:r>
              <a:rPr lang="en-US" sz="1200" dirty="0">
                <a:highlight>
                  <a:srgbClr val="FFFF00"/>
                </a:highlight>
                <a:latin typeface="Calibir"/>
              </a:rPr>
              <a:t>        people.person1</a:t>
            </a:r>
          </a:p>
          <a:p>
            <a:r>
              <a:rPr lang="en-US" sz="1200" dirty="0">
                <a:highlight>
                  <a:srgbClr val="FFFF00"/>
                </a:highlight>
                <a:latin typeface="Calibir"/>
              </a:rPr>
              <a:t>    )</a:t>
            </a:r>
          </a:p>
          <a:p>
            <a:r>
              <a:rPr lang="en-US" sz="1200" dirty="0">
                <a:highlight>
                  <a:srgbClr val="FFFF00"/>
                </a:highlight>
                <a:latin typeface="Calibir"/>
              </a:rPr>
              <a:t>    </a:t>
            </a:r>
            <a:r>
              <a:rPr lang="en-US" sz="1200" dirty="0" err="1">
                <a:highlight>
                  <a:srgbClr val="FFFF00"/>
                </a:highlight>
                <a:latin typeface="Calibir"/>
              </a:rPr>
              <a:t>people.show</a:t>
            </a:r>
            <a:r>
              <a:rPr lang="en-US" sz="1200" dirty="0">
                <a:highlight>
                  <a:srgbClr val="FFFF00"/>
                </a:highlight>
                <a:latin typeface="Calibir"/>
              </a:rPr>
              <a:t>(</a:t>
            </a:r>
          </a:p>
          <a:p>
            <a:r>
              <a:rPr lang="en-US" sz="1200" dirty="0">
                <a:highlight>
                  <a:srgbClr val="FFFF00"/>
                </a:highlight>
                <a:latin typeface="Calibir"/>
              </a:rPr>
              <a:t>        people.person2</a:t>
            </a:r>
          </a:p>
          <a:p>
            <a:r>
              <a:rPr lang="en-US" sz="1200" dirty="0">
                <a:highlight>
                  <a:srgbClr val="FFFF00"/>
                </a:highlight>
                <a:latin typeface="Calibir"/>
              </a:rPr>
              <a:t>    )</a:t>
            </a:r>
          </a:p>
          <a:p>
            <a:r>
              <a:rPr lang="en-US" sz="1200" dirty="0">
                <a:highlight>
                  <a:srgbClr val="FFFF00"/>
                </a:highlight>
                <a:latin typeface="Calibir"/>
              </a:rPr>
              <a:t>if __name__ == "__main__":</a:t>
            </a:r>
          </a:p>
          <a:p>
            <a:r>
              <a:rPr lang="en-US" sz="1200" dirty="0">
                <a:highlight>
                  <a:srgbClr val="FFFF00"/>
                </a:highlight>
                <a:latin typeface="Calibir"/>
              </a:rPr>
              <a:t>    main()</a:t>
            </a:r>
          </a:p>
        </p:txBody>
      </p:sp>
    </p:spTree>
    <p:custDataLst>
      <p:tags r:id="rId1"/>
    </p:custDataLst>
    <p:extLst>
      <p:ext uri="{BB962C8B-B14F-4D97-AF65-F5344CB8AC3E}">
        <p14:creationId xmlns:p14="http://schemas.microsoft.com/office/powerpoint/2010/main" val="232281052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A60E0-9B96-AF2E-4680-9C7AAAC25C1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C8F476D-48D6-B312-6E90-25C90D3841E5}"/>
              </a:ext>
            </a:extLst>
          </p:cNvPr>
          <p:cNvSpPr txBox="1"/>
          <p:nvPr/>
        </p:nvSpPr>
        <p:spPr>
          <a:xfrm>
            <a:off x="0" y="0"/>
            <a:ext cx="6099716" cy="6401753"/>
          </a:xfrm>
          <a:prstGeom prst="rect">
            <a:avLst/>
          </a:prstGeom>
          <a:noFill/>
        </p:spPr>
        <p:txBody>
          <a:bodyPr wrap="square">
            <a:spAutoFit/>
          </a:bodyPr>
          <a:lstStyle/>
          <a:p>
            <a:pPr>
              <a:buNone/>
            </a:pPr>
            <a:r>
              <a:rPr lang="en-US" sz="1000" b="1" dirty="0">
                <a:latin typeface="Calibir"/>
              </a:rPr>
              <a:t>Completed Java — Lab6Exercise1</a:t>
            </a:r>
          </a:p>
          <a:p>
            <a:pPr>
              <a:buNone/>
            </a:pPr>
            <a:r>
              <a:rPr lang="en-US" sz="1000" dirty="0">
                <a:highlight>
                  <a:srgbClr val="FFFF00"/>
                </a:highlight>
                <a:latin typeface="Calibir"/>
              </a:rPr>
              <a:t>Use two files if preferred:</a:t>
            </a:r>
          </a:p>
          <a:p>
            <a:pPr rtl="0">
              <a:buNone/>
            </a:pPr>
            <a:r>
              <a:rPr lang="en-US" sz="1000" dirty="0">
                <a:highlight>
                  <a:srgbClr val="FFFF00"/>
                </a:highlight>
                <a:latin typeface="Calibir"/>
              </a:rPr>
              <a:t>Person.java</a:t>
            </a:r>
          </a:p>
          <a:p>
            <a:pPr rtl="0">
              <a:buNone/>
            </a:pPr>
            <a:r>
              <a:rPr lang="en-US" sz="1000" dirty="0">
                <a:highlight>
                  <a:srgbClr val="FFFF00"/>
                </a:highlight>
                <a:latin typeface="Calibir"/>
              </a:rPr>
              <a:t>People.java</a:t>
            </a:r>
          </a:p>
          <a:p>
            <a:pPr>
              <a:buNone/>
            </a:pPr>
            <a:r>
              <a:rPr lang="en-US" sz="1000" b="1" dirty="0">
                <a:highlight>
                  <a:srgbClr val="FFFF00"/>
                </a:highlight>
                <a:latin typeface="Calibir"/>
              </a:rPr>
              <a:t>People.java</a:t>
            </a:r>
          </a:p>
          <a:p>
            <a:pPr rtl="0">
              <a:buNone/>
            </a:pPr>
            <a:r>
              <a:rPr lang="en-US" sz="1000" dirty="0">
                <a:highlight>
                  <a:srgbClr val="FFFF00"/>
                </a:highlight>
                <a:latin typeface="Calibir"/>
              </a:rPr>
              <a:t>import </a:t>
            </a:r>
            <a:r>
              <a:rPr lang="en-US" sz="1000" dirty="0" err="1">
                <a:highlight>
                  <a:srgbClr val="FFFF00"/>
                </a:highlight>
                <a:latin typeface="Calibir"/>
              </a:rPr>
              <a:t>java.util.Scanner</a:t>
            </a:r>
            <a:r>
              <a:rPr lang="en-US" sz="1000" dirty="0">
                <a:highlight>
                  <a:srgbClr val="FFFF00"/>
                </a:highlight>
                <a:latin typeface="Calibir"/>
              </a:rPr>
              <a:t>;</a:t>
            </a:r>
          </a:p>
          <a:p>
            <a:pPr rtl="0">
              <a:buNone/>
            </a:pPr>
            <a:endParaRPr lang="en-US" sz="1000" dirty="0">
              <a:highlight>
                <a:srgbClr val="FFFF00"/>
              </a:highlight>
              <a:latin typeface="Calibir"/>
            </a:endParaRPr>
          </a:p>
          <a:p>
            <a:pPr rtl="0">
              <a:buNone/>
            </a:pPr>
            <a:r>
              <a:rPr lang="en-US" sz="1000" dirty="0">
                <a:highlight>
                  <a:srgbClr val="FFFF00"/>
                </a:highlight>
                <a:latin typeface="Calibir"/>
              </a:rPr>
              <a:t>public class People {</a:t>
            </a:r>
          </a:p>
          <a:p>
            <a:pPr rtl="0">
              <a:buNone/>
            </a:pPr>
            <a:endParaRPr lang="en-US" sz="1000" dirty="0">
              <a:highlight>
                <a:srgbClr val="FFFF00"/>
              </a:highlight>
              <a:latin typeface="Calibir"/>
            </a:endParaRPr>
          </a:p>
          <a:p>
            <a:pPr rtl="0">
              <a:buNone/>
            </a:pPr>
            <a:r>
              <a:rPr lang="en-US" sz="1000" dirty="0">
                <a:highlight>
                  <a:srgbClr val="FFFF00"/>
                </a:highlight>
                <a:latin typeface="Calibir"/>
              </a:rPr>
              <a:t>    private Person person1;</a:t>
            </a:r>
          </a:p>
          <a:p>
            <a:pPr rtl="0">
              <a:buNone/>
            </a:pPr>
            <a:r>
              <a:rPr lang="en-US" sz="1000" dirty="0">
                <a:highlight>
                  <a:srgbClr val="FFFF00"/>
                </a:highlight>
                <a:latin typeface="Calibir"/>
              </a:rPr>
              <a:t>    private Person person2;</a:t>
            </a:r>
          </a:p>
          <a:p>
            <a:pPr rtl="0">
              <a:buNone/>
            </a:pPr>
            <a:endParaRPr lang="en-US" sz="1000" dirty="0">
              <a:highlight>
                <a:srgbClr val="FFFF00"/>
              </a:highlight>
              <a:latin typeface="Calibir"/>
            </a:endParaRPr>
          </a:p>
          <a:p>
            <a:pPr rtl="0">
              <a:buNone/>
            </a:pPr>
            <a:r>
              <a:rPr lang="en-US" sz="1000" dirty="0">
                <a:highlight>
                  <a:srgbClr val="FFFF00"/>
                </a:highlight>
                <a:latin typeface="Calibir"/>
              </a:rPr>
              <a:t>    public People(</a:t>
            </a:r>
          </a:p>
          <a:p>
            <a:pPr rtl="0">
              <a:buNone/>
            </a:pPr>
            <a:r>
              <a:rPr lang="en-US" sz="1000" dirty="0">
                <a:highlight>
                  <a:srgbClr val="FFFF00"/>
                </a:highlight>
                <a:latin typeface="Calibir"/>
              </a:rPr>
              <a:t>            Scanner input) {</a:t>
            </a:r>
          </a:p>
          <a:p>
            <a:pPr rtl="0">
              <a:buNone/>
            </a:pPr>
            <a:endParaRPr lang="en-US" sz="1000" dirty="0">
              <a:highlight>
                <a:srgbClr val="FFFF00"/>
              </a:highlight>
              <a:latin typeface="Calibir"/>
            </a:endParaRPr>
          </a:p>
          <a:p>
            <a:pPr rtl="0">
              <a:buNone/>
            </a:pPr>
            <a:r>
              <a:rPr lang="en-US" sz="1000" dirty="0">
                <a:highlight>
                  <a:srgbClr val="FFFF00"/>
                </a:highlight>
                <a:latin typeface="Calibir"/>
              </a:rPr>
              <a:t>        person1 =</a:t>
            </a:r>
          </a:p>
          <a:p>
            <a:pPr rtl="0">
              <a:buNone/>
            </a:pPr>
            <a:r>
              <a:rPr lang="en-US" sz="1000" dirty="0">
                <a:highlight>
                  <a:srgbClr val="FFFF00"/>
                </a:highlight>
                <a:latin typeface="Calibir"/>
              </a:rPr>
              <a:t>                new Person();</a:t>
            </a:r>
          </a:p>
          <a:p>
            <a:pPr rtl="0">
              <a:buNone/>
            </a:pPr>
            <a:endParaRPr lang="en-US" sz="1000" dirty="0">
              <a:highlight>
                <a:srgbClr val="FFFF00"/>
              </a:highlight>
              <a:latin typeface="Calibir"/>
            </a:endParaRPr>
          </a:p>
          <a:p>
            <a:pPr rtl="0">
              <a:buNone/>
            </a:pPr>
            <a:r>
              <a:rPr lang="en-US" sz="1000" dirty="0">
                <a:highlight>
                  <a:srgbClr val="FFFF00"/>
                </a:highlight>
                <a:latin typeface="Calibir"/>
              </a:rPr>
              <a:t>        </a:t>
            </a:r>
            <a:r>
              <a:rPr lang="en-US" sz="1000" dirty="0" err="1">
                <a:highlight>
                  <a:srgbClr val="FFFF00"/>
                </a:highlight>
                <a:latin typeface="Calibir"/>
              </a:rPr>
              <a:t>System.out.print</a:t>
            </a:r>
            <a:r>
              <a:rPr lang="en-US" sz="1000" dirty="0">
                <a:highlight>
                  <a:srgbClr val="FFFF00"/>
                </a:highlight>
                <a:latin typeface="Calibir"/>
              </a:rPr>
              <a:t>(</a:t>
            </a:r>
          </a:p>
          <a:p>
            <a:pPr rtl="0">
              <a:buNone/>
            </a:pPr>
            <a:r>
              <a:rPr lang="en-US" sz="1000" dirty="0">
                <a:highlight>
                  <a:srgbClr val="FFFF00"/>
                </a:highlight>
                <a:latin typeface="Calibir"/>
              </a:rPr>
              <a:t>            "Enter second person's name: "</a:t>
            </a:r>
          </a:p>
          <a:p>
            <a:pPr rtl="0">
              <a:buNone/>
            </a:pPr>
            <a:r>
              <a:rPr lang="en-US" sz="1000" dirty="0">
                <a:highlight>
                  <a:srgbClr val="FFFF00"/>
                </a:highlight>
                <a:latin typeface="Calibir"/>
              </a:rPr>
              <a:t>        );</a:t>
            </a:r>
          </a:p>
          <a:p>
            <a:pPr rtl="0">
              <a:buNone/>
            </a:pPr>
            <a:endParaRPr lang="en-US" sz="1000" dirty="0">
              <a:highlight>
                <a:srgbClr val="FFFF00"/>
              </a:highlight>
              <a:latin typeface="Calibir"/>
            </a:endParaRPr>
          </a:p>
          <a:p>
            <a:pPr rtl="0">
              <a:buNone/>
            </a:pPr>
            <a:r>
              <a:rPr lang="en-US" sz="1000" dirty="0">
                <a:highlight>
                  <a:srgbClr val="FFFF00"/>
                </a:highlight>
                <a:latin typeface="Calibir"/>
              </a:rPr>
              <a:t>        String name =</a:t>
            </a:r>
          </a:p>
          <a:p>
            <a:pPr rtl="0">
              <a:buNone/>
            </a:pPr>
            <a:r>
              <a:rPr lang="en-US" sz="1000" dirty="0">
                <a:highlight>
                  <a:srgbClr val="FFFF00"/>
                </a:highlight>
                <a:latin typeface="Calibir"/>
              </a:rPr>
              <a:t>                </a:t>
            </a:r>
            <a:r>
              <a:rPr lang="en-US" sz="1000" dirty="0" err="1">
                <a:highlight>
                  <a:srgbClr val="FFFF00"/>
                </a:highlight>
                <a:latin typeface="Calibir"/>
              </a:rPr>
              <a:t>input.nextLine</a:t>
            </a:r>
            <a:r>
              <a:rPr lang="en-US" sz="1000" dirty="0">
                <a:highlight>
                  <a:srgbClr val="FFFF00"/>
                </a:highlight>
                <a:latin typeface="Calibir"/>
              </a:rPr>
              <a:t>();</a:t>
            </a:r>
          </a:p>
          <a:p>
            <a:pPr rtl="0">
              <a:buNone/>
            </a:pPr>
            <a:endParaRPr lang="en-US" sz="1000" dirty="0">
              <a:highlight>
                <a:srgbClr val="FFFF00"/>
              </a:highlight>
              <a:latin typeface="Calibir"/>
            </a:endParaRPr>
          </a:p>
          <a:p>
            <a:pPr rtl="0">
              <a:buNone/>
            </a:pPr>
            <a:r>
              <a:rPr lang="en-US" sz="1000" dirty="0">
                <a:highlight>
                  <a:srgbClr val="FFFF00"/>
                </a:highlight>
                <a:latin typeface="Calibir"/>
              </a:rPr>
              <a:t>        </a:t>
            </a:r>
            <a:r>
              <a:rPr lang="en-US" sz="1000" dirty="0" err="1">
                <a:highlight>
                  <a:srgbClr val="FFFF00"/>
                </a:highlight>
                <a:latin typeface="Calibir"/>
              </a:rPr>
              <a:t>System.out.print</a:t>
            </a:r>
            <a:r>
              <a:rPr lang="en-US" sz="1000" dirty="0">
                <a:highlight>
                  <a:srgbClr val="FFFF00"/>
                </a:highlight>
                <a:latin typeface="Calibir"/>
              </a:rPr>
              <a:t>(</a:t>
            </a:r>
          </a:p>
          <a:p>
            <a:pPr rtl="0">
              <a:buNone/>
            </a:pPr>
            <a:r>
              <a:rPr lang="en-US" sz="1000" dirty="0">
                <a:highlight>
                  <a:srgbClr val="FFFF00"/>
                </a:highlight>
                <a:latin typeface="Calibir"/>
              </a:rPr>
              <a:t>            "Enter second person's age: "</a:t>
            </a:r>
          </a:p>
          <a:p>
            <a:pPr rtl="0">
              <a:buNone/>
            </a:pPr>
            <a:r>
              <a:rPr lang="en-US" sz="1000" dirty="0">
                <a:highlight>
                  <a:srgbClr val="FFFF00"/>
                </a:highlight>
                <a:latin typeface="Calibir"/>
              </a:rPr>
              <a:t>        );</a:t>
            </a:r>
          </a:p>
          <a:p>
            <a:pPr rtl="0">
              <a:buNone/>
            </a:pPr>
            <a:endParaRPr lang="en-US" sz="1000" dirty="0">
              <a:highlight>
                <a:srgbClr val="FFFF00"/>
              </a:highlight>
              <a:latin typeface="Calibir"/>
            </a:endParaRPr>
          </a:p>
          <a:p>
            <a:pPr rtl="0">
              <a:buNone/>
            </a:pPr>
            <a:r>
              <a:rPr lang="en-US" sz="1000" dirty="0">
                <a:highlight>
                  <a:srgbClr val="FFFF00"/>
                </a:highlight>
                <a:latin typeface="Calibir"/>
              </a:rPr>
              <a:t>        int age =</a:t>
            </a:r>
          </a:p>
          <a:p>
            <a:pPr rtl="0">
              <a:buNone/>
            </a:pPr>
            <a:r>
              <a:rPr lang="en-US" sz="1000" dirty="0">
                <a:highlight>
                  <a:srgbClr val="FFFF00"/>
                </a:highlight>
                <a:latin typeface="Calibir"/>
              </a:rPr>
              <a:t>                </a:t>
            </a:r>
            <a:r>
              <a:rPr lang="en-US" sz="1000" dirty="0" err="1">
                <a:highlight>
                  <a:srgbClr val="FFFF00"/>
                </a:highlight>
                <a:latin typeface="Calibir"/>
              </a:rPr>
              <a:t>input.nextInt</a:t>
            </a:r>
            <a:r>
              <a:rPr lang="en-US" sz="1000" dirty="0">
                <a:highlight>
                  <a:srgbClr val="FFFF00"/>
                </a:highlight>
                <a:latin typeface="Calibir"/>
              </a:rPr>
              <a:t>();</a:t>
            </a:r>
          </a:p>
          <a:p>
            <a:pPr rtl="0">
              <a:buNone/>
            </a:pPr>
            <a:endParaRPr lang="en-US" sz="1000" dirty="0">
              <a:highlight>
                <a:srgbClr val="FFFF00"/>
              </a:highlight>
              <a:latin typeface="Calibir"/>
            </a:endParaRPr>
          </a:p>
          <a:p>
            <a:pPr rtl="0">
              <a:buNone/>
            </a:pPr>
            <a:r>
              <a:rPr lang="en-US" sz="1000" dirty="0">
                <a:highlight>
                  <a:srgbClr val="FFFF00"/>
                </a:highlight>
                <a:latin typeface="Calibir"/>
              </a:rPr>
              <a:t>        </a:t>
            </a:r>
            <a:r>
              <a:rPr lang="en-US" sz="1000" dirty="0" err="1">
                <a:highlight>
                  <a:srgbClr val="FFFF00"/>
                </a:highlight>
                <a:latin typeface="Calibir"/>
              </a:rPr>
              <a:t>input.nextLine</a:t>
            </a:r>
            <a:r>
              <a:rPr lang="en-US" sz="1000" dirty="0">
                <a:highlight>
                  <a:srgbClr val="FFFF00"/>
                </a:highlight>
                <a:latin typeface="Calibir"/>
              </a:rPr>
              <a:t>();</a:t>
            </a:r>
          </a:p>
          <a:p>
            <a:pPr rtl="0">
              <a:buNone/>
            </a:pPr>
            <a:endParaRPr lang="en-US" sz="1000" dirty="0">
              <a:highlight>
                <a:srgbClr val="FFFF00"/>
              </a:highlight>
              <a:latin typeface="Calibir"/>
            </a:endParaRPr>
          </a:p>
          <a:p>
            <a:pPr rtl="0">
              <a:buNone/>
            </a:pPr>
            <a:r>
              <a:rPr lang="en-US" sz="1000" dirty="0">
                <a:highlight>
                  <a:srgbClr val="FFFF00"/>
                </a:highlight>
                <a:latin typeface="Calibir"/>
              </a:rPr>
              <a:t>        person2 =</a:t>
            </a:r>
          </a:p>
          <a:p>
            <a:pPr rtl="0">
              <a:buNone/>
            </a:pPr>
            <a:r>
              <a:rPr lang="en-US" sz="1000" dirty="0">
                <a:highlight>
                  <a:srgbClr val="FFFF00"/>
                </a:highlight>
                <a:latin typeface="Calibir"/>
              </a:rPr>
              <a:t>                new Person(</a:t>
            </a:r>
          </a:p>
          <a:p>
            <a:pPr rtl="0">
              <a:buNone/>
            </a:pPr>
            <a:r>
              <a:rPr lang="en-US" sz="1000" dirty="0">
                <a:highlight>
                  <a:srgbClr val="FFFF00"/>
                </a:highlight>
                <a:latin typeface="Calibir"/>
              </a:rPr>
              <a:t>                    name,</a:t>
            </a:r>
          </a:p>
          <a:p>
            <a:pPr rtl="0">
              <a:buNone/>
            </a:pPr>
            <a:r>
              <a:rPr lang="en-US" sz="1000" dirty="0">
                <a:highlight>
                  <a:srgbClr val="FFFF00"/>
                </a:highlight>
                <a:latin typeface="Calibir"/>
              </a:rPr>
              <a:t>                    age</a:t>
            </a:r>
          </a:p>
          <a:p>
            <a:pPr rtl="0">
              <a:buNone/>
            </a:pPr>
            <a:r>
              <a:rPr lang="en-US" sz="1000" dirty="0">
                <a:highlight>
                  <a:srgbClr val="FFFF00"/>
                </a:highlight>
                <a:latin typeface="Calibir"/>
              </a:rPr>
              <a:t>                );</a:t>
            </a:r>
          </a:p>
          <a:p>
            <a:pPr rtl="0">
              <a:buNone/>
            </a:pPr>
            <a:r>
              <a:rPr lang="en-US" sz="1000" dirty="0">
                <a:highlight>
                  <a:srgbClr val="FFFF00"/>
                </a:highlight>
                <a:latin typeface="Calibir"/>
              </a:rPr>
              <a:t>    }</a:t>
            </a:r>
          </a:p>
          <a:p>
            <a:pPr rtl="0">
              <a:buNone/>
            </a:pPr>
            <a:endParaRPr lang="en-US" sz="1000" dirty="0">
              <a:highlight>
                <a:srgbClr val="FFFF00"/>
              </a:highlight>
              <a:latin typeface="Calibir"/>
            </a:endParaRPr>
          </a:p>
        </p:txBody>
      </p:sp>
    </p:spTree>
    <p:custDataLst>
      <p:tags r:id="rId1"/>
    </p:custDataLst>
    <p:extLst>
      <p:ext uri="{BB962C8B-B14F-4D97-AF65-F5344CB8AC3E}">
        <p14:creationId xmlns:p14="http://schemas.microsoft.com/office/powerpoint/2010/main" val="216581979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523E8-E8DB-54A1-6C2B-0BBE9F0956C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F2D2745-1064-687B-FDE1-B3BBC1732D61}"/>
              </a:ext>
            </a:extLst>
          </p:cNvPr>
          <p:cNvSpPr txBox="1"/>
          <p:nvPr/>
        </p:nvSpPr>
        <p:spPr>
          <a:xfrm>
            <a:off x="0" y="0"/>
            <a:ext cx="6099716" cy="6555641"/>
          </a:xfrm>
          <a:prstGeom prst="rect">
            <a:avLst/>
          </a:prstGeom>
          <a:noFill/>
        </p:spPr>
        <p:txBody>
          <a:bodyPr wrap="square">
            <a:spAutoFit/>
          </a:bodyPr>
          <a:lstStyle/>
          <a:p>
            <a:r>
              <a:rPr lang="en-US" sz="1000" dirty="0">
                <a:highlight>
                  <a:srgbClr val="FFFF00"/>
                </a:highlight>
                <a:latin typeface="Calibir"/>
              </a:rPr>
              <a:t> public void show(</a:t>
            </a:r>
          </a:p>
          <a:p>
            <a:r>
              <a:rPr lang="en-US" sz="1000" dirty="0">
                <a:highlight>
                  <a:srgbClr val="FFFF00"/>
                </a:highlight>
                <a:latin typeface="Calibir"/>
              </a:rPr>
              <a:t>            Person person) {</a:t>
            </a: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person</a:t>
            </a:r>
          </a:p>
          <a:p>
            <a:r>
              <a:rPr lang="en-US" sz="1000" dirty="0">
                <a:highlight>
                  <a:srgbClr val="FFFF00"/>
                </a:highlight>
                <a:latin typeface="Calibir"/>
              </a:rPr>
              <a:t>        );</a:t>
            </a:r>
          </a:p>
          <a:p>
            <a:r>
              <a:rPr lang="en-US" sz="1000" dirty="0">
                <a:highlight>
                  <a:srgbClr val="FFFF00"/>
                </a:highlight>
                <a:latin typeface="Calibir"/>
              </a:rPr>
              <a:t>    }</a:t>
            </a:r>
          </a:p>
          <a:p>
            <a:r>
              <a:rPr lang="en-US" sz="1000" dirty="0">
                <a:highlight>
                  <a:srgbClr val="FFFF00"/>
                </a:highlight>
                <a:latin typeface="Calibir"/>
              </a:rPr>
              <a:t>    public void update(</a:t>
            </a:r>
          </a:p>
          <a:p>
            <a:r>
              <a:rPr lang="en-US" sz="1000" dirty="0">
                <a:highlight>
                  <a:srgbClr val="FFFF00"/>
                </a:highlight>
                <a:latin typeface="Calibir"/>
              </a:rPr>
              <a:t>            Person </a:t>
            </a:r>
            <a:r>
              <a:rPr lang="en-US" sz="1000" dirty="0" err="1">
                <a:highlight>
                  <a:srgbClr val="FFFF00"/>
                </a:highlight>
                <a:latin typeface="Calibir"/>
              </a:rPr>
              <a:t>person</a:t>
            </a:r>
            <a:r>
              <a:rPr lang="en-US" sz="1000" dirty="0">
                <a:highlight>
                  <a:srgbClr val="FFFF00"/>
                </a:highlight>
                <a:latin typeface="Calibir"/>
              </a:rPr>
              <a:t>,</a:t>
            </a:r>
          </a:p>
          <a:p>
            <a:r>
              <a:rPr lang="en-US" sz="1000" dirty="0">
                <a:highlight>
                  <a:srgbClr val="FFFF00"/>
                </a:highlight>
                <a:latin typeface="Calibir"/>
              </a:rPr>
              <a:t>            String </a:t>
            </a:r>
            <a:r>
              <a:rPr lang="en-US" sz="1000" dirty="0" err="1">
                <a:highlight>
                  <a:srgbClr val="FFFF00"/>
                </a:highlight>
                <a:latin typeface="Calibir"/>
              </a:rPr>
              <a:t>newName</a:t>
            </a:r>
            <a:r>
              <a:rPr lang="en-US" sz="1000" dirty="0">
                <a:highlight>
                  <a:srgbClr val="FFFF00"/>
                </a:highlight>
                <a:latin typeface="Calibir"/>
              </a:rPr>
              <a:t>) {</a:t>
            </a:r>
          </a:p>
          <a:p>
            <a:r>
              <a:rPr lang="en-US" sz="1000" dirty="0">
                <a:highlight>
                  <a:srgbClr val="FFFF00"/>
                </a:highlight>
                <a:latin typeface="Calibir"/>
              </a:rPr>
              <a:t>        </a:t>
            </a:r>
            <a:r>
              <a:rPr lang="en-US" sz="1000" dirty="0" err="1">
                <a:highlight>
                  <a:srgbClr val="FFFF00"/>
                </a:highlight>
                <a:latin typeface="Calibir"/>
              </a:rPr>
              <a:t>person.setName</a:t>
            </a:r>
            <a:r>
              <a:rPr lang="en-US" sz="1000" dirty="0">
                <a:highlight>
                  <a:srgbClr val="FFFF00"/>
                </a:highlight>
                <a:latin typeface="Calibir"/>
              </a:rPr>
              <a:t>(</a:t>
            </a:r>
          </a:p>
          <a:p>
            <a:r>
              <a:rPr lang="en-US" sz="1000" dirty="0">
                <a:highlight>
                  <a:srgbClr val="FFFF00"/>
                </a:highlight>
                <a:latin typeface="Calibir"/>
              </a:rPr>
              <a:t>            </a:t>
            </a:r>
            <a:r>
              <a:rPr lang="en-US" sz="1000" dirty="0" err="1">
                <a:highlight>
                  <a:srgbClr val="FFFF00"/>
                </a:highlight>
                <a:latin typeface="Calibir"/>
              </a:rPr>
              <a:t>newName</a:t>
            </a:r>
            <a:endParaRPr lang="en-US" sz="1000" dirty="0">
              <a:highlight>
                <a:srgbClr val="FFFF00"/>
              </a:highlight>
              <a:latin typeface="Calibir"/>
            </a:endParaRPr>
          </a:p>
          <a:p>
            <a:r>
              <a:rPr lang="en-US" sz="1000" dirty="0">
                <a:highlight>
                  <a:srgbClr val="FFFF00"/>
                </a:highlight>
                <a:latin typeface="Calibir"/>
              </a:rPr>
              <a:t>        );</a:t>
            </a:r>
          </a:p>
          <a:p>
            <a:r>
              <a:rPr lang="en-US" sz="1000" dirty="0">
                <a:highlight>
                  <a:srgbClr val="FFFF00"/>
                </a:highlight>
                <a:latin typeface="Calibir"/>
              </a:rPr>
              <a:t>    }</a:t>
            </a:r>
          </a:p>
          <a:p>
            <a:r>
              <a:rPr lang="en-US" sz="1000" dirty="0">
                <a:highlight>
                  <a:srgbClr val="FFFF00"/>
                </a:highlight>
                <a:latin typeface="Calibir"/>
              </a:rPr>
              <a:t>    public static void main(</a:t>
            </a:r>
          </a:p>
          <a:p>
            <a:r>
              <a:rPr lang="en-US" sz="1000" dirty="0">
                <a:highlight>
                  <a:srgbClr val="FFFF00"/>
                </a:highlight>
                <a:latin typeface="Calibir"/>
              </a:rPr>
              <a:t>            String[] </a:t>
            </a:r>
            <a:r>
              <a:rPr lang="en-US" sz="1000" dirty="0" err="1">
                <a:highlight>
                  <a:srgbClr val="FFFF00"/>
                </a:highlight>
                <a:latin typeface="Calibir"/>
              </a:rPr>
              <a:t>args</a:t>
            </a:r>
            <a:r>
              <a:rPr lang="en-US" sz="1000" dirty="0">
                <a:highlight>
                  <a:srgbClr val="FFFF00"/>
                </a:highlight>
                <a:latin typeface="Calibir"/>
              </a:rPr>
              <a:t>) {</a:t>
            </a:r>
          </a:p>
          <a:p>
            <a:r>
              <a:rPr lang="en-US" sz="1000" dirty="0">
                <a:highlight>
                  <a:srgbClr val="FFFF00"/>
                </a:highlight>
                <a:latin typeface="Calibir"/>
              </a:rPr>
              <a:t>        Scanner input =</a:t>
            </a:r>
          </a:p>
          <a:p>
            <a:r>
              <a:rPr lang="en-US" sz="1000" dirty="0">
                <a:highlight>
                  <a:srgbClr val="FFFF00"/>
                </a:highlight>
                <a:latin typeface="Calibir"/>
              </a:rPr>
              <a:t>                new Scanner(System.in);</a:t>
            </a:r>
          </a:p>
          <a:p>
            <a:r>
              <a:rPr lang="en-US" sz="1000" dirty="0">
                <a:highlight>
                  <a:srgbClr val="FFFF00"/>
                </a:highlight>
                <a:latin typeface="Calibir"/>
              </a:rPr>
              <a:t>        People </a:t>
            </a:r>
            <a:r>
              <a:rPr lang="en-US" sz="1000" dirty="0" err="1">
                <a:highlight>
                  <a:srgbClr val="FFFF00"/>
                </a:highlight>
                <a:latin typeface="Calibir"/>
              </a:rPr>
              <a:t>people</a:t>
            </a:r>
            <a:r>
              <a:rPr lang="en-US" sz="1000" dirty="0">
                <a:highlight>
                  <a:srgbClr val="FFFF00"/>
                </a:highlight>
                <a:latin typeface="Calibir"/>
              </a:rPr>
              <a:t> =</a:t>
            </a:r>
          </a:p>
          <a:p>
            <a:r>
              <a:rPr lang="en-US" sz="1000" dirty="0">
                <a:highlight>
                  <a:srgbClr val="FFFF00"/>
                </a:highlight>
                <a:latin typeface="Calibir"/>
              </a:rPr>
              <a:t>                new People(input);</a:t>
            </a: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a:t>
            </a:r>
            <a:r>
              <a:rPr lang="en-US" sz="1000" dirty="0" err="1">
                <a:highlight>
                  <a:srgbClr val="FFFF00"/>
                </a:highlight>
                <a:latin typeface="Calibir"/>
              </a:rPr>
              <a:t>nInitial</a:t>
            </a:r>
            <a:r>
              <a:rPr lang="en-US" sz="1000" dirty="0">
                <a:highlight>
                  <a:srgbClr val="FFFF00"/>
                </a:highlight>
                <a:latin typeface="Calibir"/>
              </a:rPr>
              <a:t> people:"</a:t>
            </a:r>
          </a:p>
          <a:p>
            <a:r>
              <a:rPr lang="en-US" sz="1000" dirty="0">
                <a:highlight>
                  <a:srgbClr val="FFFF00"/>
                </a:highlight>
                <a:latin typeface="Calibir"/>
              </a:rPr>
              <a:t>        );</a:t>
            </a:r>
          </a:p>
          <a:p>
            <a:r>
              <a:rPr lang="en-US" sz="1000" dirty="0">
                <a:highlight>
                  <a:srgbClr val="FFFF00"/>
                </a:highlight>
                <a:latin typeface="Calibir"/>
              </a:rPr>
              <a:t>        </a:t>
            </a:r>
            <a:r>
              <a:rPr lang="en-US" sz="1000" dirty="0" err="1">
                <a:highlight>
                  <a:srgbClr val="FFFF00"/>
                </a:highlight>
                <a:latin typeface="Calibir"/>
              </a:rPr>
              <a:t>people.show</a:t>
            </a:r>
            <a:r>
              <a:rPr lang="en-US" sz="1000" dirty="0">
                <a:highlight>
                  <a:srgbClr val="FFFF00"/>
                </a:highlight>
                <a:latin typeface="Calibir"/>
              </a:rPr>
              <a:t>(</a:t>
            </a:r>
          </a:p>
          <a:p>
            <a:r>
              <a:rPr lang="en-US" sz="1000" dirty="0">
                <a:highlight>
                  <a:srgbClr val="FFFF00"/>
                </a:highlight>
                <a:latin typeface="Calibir"/>
              </a:rPr>
              <a:t>            people.person1</a:t>
            </a:r>
          </a:p>
          <a:p>
            <a:r>
              <a:rPr lang="en-US" sz="1000" dirty="0">
                <a:highlight>
                  <a:srgbClr val="FFFF00"/>
                </a:highlight>
                <a:latin typeface="Calibir"/>
              </a:rPr>
              <a:t>        );</a:t>
            </a:r>
          </a:p>
          <a:p>
            <a:r>
              <a:rPr lang="en-US" sz="1000" dirty="0">
                <a:highlight>
                  <a:srgbClr val="FFFF00"/>
                </a:highlight>
                <a:latin typeface="Calibir"/>
              </a:rPr>
              <a:t>        </a:t>
            </a:r>
            <a:r>
              <a:rPr lang="en-US" sz="1000" dirty="0" err="1">
                <a:highlight>
                  <a:srgbClr val="FFFF00"/>
                </a:highlight>
                <a:latin typeface="Calibir"/>
              </a:rPr>
              <a:t>people.show</a:t>
            </a:r>
            <a:r>
              <a:rPr lang="en-US" sz="1000" dirty="0">
                <a:highlight>
                  <a:srgbClr val="FFFF00"/>
                </a:highlight>
                <a:latin typeface="Calibir"/>
              </a:rPr>
              <a:t>(</a:t>
            </a:r>
          </a:p>
          <a:p>
            <a:r>
              <a:rPr lang="en-US" sz="1000" dirty="0">
                <a:highlight>
                  <a:srgbClr val="FFFF00"/>
                </a:highlight>
                <a:latin typeface="Calibir"/>
              </a:rPr>
              <a:t>            people.person2</a:t>
            </a:r>
          </a:p>
          <a:p>
            <a:r>
              <a:rPr lang="en-US" sz="1000" dirty="0">
                <a:highlight>
                  <a:srgbClr val="FFFF00"/>
                </a:highlight>
                <a:latin typeface="Calibir"/>
              </a:rPr>
              <a:t>        );</a:t>
            </a:r>
          </a:p>
          <a:p>
            <a:r>
              <a:rPr lang="en-US" sz="1000" dirty="0">
                <a:highlight>
                  <a:srgbClr val="FFFF00"/>
                </a:highlight>
                <a:latin typeface="Calibir"/>
              </a:rPr>
              <a:t>        </a:t>
            </a:r>
            <a:r>
              <a:rPr lang="en-US" sz="1000" dirty="0" err="1">
                <a:highlight>
                  <a:srgbClr val="FFFF00"/>
                </a:highlight>
                <a:latin typeface="Calibir"/>
              </a:rPr>
              <a:t>System.out.print</a:t>
            </a:r>
            <a:r>
              <a:rPr lang="en-US" sz="1000" dirty="0">
                <a:highlight>
                  <a:srgbClr val="FFFF00"/>
                </a:highlight>
                <a:latin typeface="Calibir"/>
              </a:rPr>
              <a:t>(</a:t>
            </a:r>
          </a:p>
          <a:p>
            <a:r>
              <a:rPr lang="en-US" sz="1000" dirty="0">
                <a:highlight>
                  <a:srgbClr val="FFFF00"/>
                </a:highlight>
                <a:latin typeface="Calibir"/>
              </a:rPr>
              <a:t>            "\</a:t>
            </a:r>
            <a:r>
              <a:rPr lang="en-US" sz="1000" dirty="0" err="1">
                <a:highlight>
                  <a:srgbClr val="FFFF00"/>
                </a:highlight>
                <a:latin typeface="Calibir"/>
              </a:rPr>
              <a:t>nNew</a:t>
            </a:r>
            <a:r>
              <a:rPr lang="en-US" sz="1000" dirty="0">
                <a:highlight>
                  <a:srgbClr val="FFFF00"/>
                </a:highlight>
                <a:latin typeface="Calibir"/>
              </a:rPr>
              <a:t> name for person 1: "</a:t>
            </a:r>
          </a:p>
          <a:p>
            <a:r>
              <a:rPr lang="en-US" sz="1000" dirty="0">
                <a:highlight>
                  <a:srgbClr val="FFFF00"/>
                </a:highlight>
                <a:latin typeface="Calibir"/>
              </a:rPr>
              <a:t>        );</a:t>
            </a:r>
          </a:p>
          <a:p>
            <a:r>
              <a:rPr lang="en-US" sz="1000" dirty="0">
                <a:highlight>
                  <a:srgbClr val="FFFF00"/>
                </a:highlight>
                <a:latin typeface="Calibir"/>
              </a:rPr>
              <a:t>        String newName1 =</a:t>
            </a:r>
          </a:p>
          <a:p>
            <a:r>
              <a:rPr lang="en-US" sz="1000" dirty="0">
                <a:highlight>
                  <a:srgbClr val="FFFF00"/>
                </a:highlight>
                <a:latin typeface="Calibir"/>
              </a:rPr>
              <a:t>                </a:t>
            </a:r>
            <a:r>
              <a:rPr lang="en-US" sz="1000" dirty="0" err="1">
                <a:highlight>
                  <a:srgbClr val="FFFF00"/>
                </a:highlight>
                <a:latin typeface="Calibir"/>
              </a:rPr>
              <a:t>input.nextLine</a:t>
            </a:r>
            <a:r>
              <a:rPr lang="en-US" sz="1000" dirty="0">
                <a:highlight>
                  <a:srgbClr val="FFFF00"/>
                </a:highlight>
                <a:latin typeface="Calibir"/>
              </a:rPr>
              <a:t>();</a:t>
            </a:r>
          </a:p>
          <a:p>
            <a:r>
              <a:rPr lang="en-US" sz="1000" dirty="0">
                <a:highlight>
                  <a:srgbClr val="FFFF00"/>
                </a:highlight>
                <a:latin typeface="Calibir"/>
              </a:rPr>
              <a:t>        </a:t>
            </a:r>
            <a:r>
              <a:rPr lang="en-US" sz="1000" dirty="0" err="1">
                <a:highlight>
                  <a:srgbClr val="FFFF00"/>
                </a:highlight>
                <a:latin typeface="Calibir"/>
              </a:rPr>
              <a:t>System.out.print</a:t>
            </a:r>
            <a:r>
              <a:rPr lang="en-US" sz="1000" dirty="0">
                <a:highlight>
                  <a:srgbClr val="FFFF00"/>
                </a:highlight>
                <a:latin typeface="Calibir"/>
              </a:rPr>
              <a:t>(</a:t>
            </a:r>
          </a:p>
          <a:p>
            <a:r>
              <a:rPr lang="en-US" sz="1000" dirty="0">
                <a:highlight>
                  <a:srgbClr val="FFFF00"/>
                </a:highlight>
                <a:latin typeface="Calibir"/>
              </a:rPr>
              <a:t>            "New name for person 2: "</a:t>
            </a:r>
          </a:p>
          <a:p>
            <a:r>
              <a:rPr lang="en-US" sz="1000" dirty="0">
                <a:highlight>
                  <a:srgbClr val="FFFF00"/>
                </a:highlight>
                <a:latin typeface="Calibir"/>
              </a:rPr>
              <a:t>        );</a:t>
            </a:r>
          </a:p>
          <a:p>
            <a:r>
              <a:rPr lang="en-US" sz="1000" dirty="0">
                <a:highlight>
                  <a:srgbClr val="FFFF00"/>
                </a:highlight>
                <a:latin typeface="Calibir"/>
              </a:rPr>
              <a:t>        String newName2 =</a:t>
            </a:r>
          </a:p>
          <a:p>
            <a:r>
              <a:rPr lang="en-US" sz="1000" dirty="0">
                <a:highlight>
                  <a:srgbClr val="FFFF00"/>
                </a:highlight>
                <a:latin typeface="Calibir"/>
              </a:rPr>
              <a:t>                </a:t>
            </a:r>
            <a:r>
              <a:rPr lang="en-US" sz="1000" dirty="0" err="1">
                <a:highlight>
                  <a:srgbClr val="FFFF00"/>
                </a:highlight>
                <a:latin typeface="Calibir"/>
              </a:rPr>
              <a:t>input.nextLine</a:t>
            </a:r>
            <a:r>
              <a:rPr lang="en-US" sz="1000" dirty="0">
                <a:highlight>
                  <a:srgbClr val="FFFF00"/>
                </a:highlight>
                <a:latin typeface="Calibir"/>
              </a:rPr>
              <a:t>();</a:t>
            </a:r>
          </a:p>
          <a:p>
            <a:r>
              <a:rPr lang="en-US" sz="1000" dirty="0">
                <a:highlight>
                  <a:srgbClr val="FFFF00"/>
                </a:highlight>
                <a:latin typeface="Calibir"/>
              </a:rPr>
              <a:t>        </a:t>
            </a:r>
            <a:r>
              <a:rPr lang="en-US" sz="1000" dirty="0" err="1">
                <a:highlight>
                  <a:srgbClr val="FFFF00"/>
                </a:highlight>
                <a:latin typeface="Calibir"/>
              </a:rPr>
              <a:t>people.update</a:t>
            </a:r>
            <a:r>
              <a:rPr lang="en-US" sz="1000" dirty="0">
                <a:highlight>
                  <a:srgbClr val="FFFF00"/>
                </a:highlight>
                <a:latin typeface="Calibir"/>
              </a:rPr>
              <a:t>(</a:t>
            </a:r>
          </a:p>
          <a:p>
            <a:r>
              <a:rPr lang="en-US" sz="1000" dirty="0">
                <a:highlight>
                  <a:srgbClr val="FFFF00"/>
                </a:highlight>
                <a:latin typeface="Calibir"/>
              </a:rPr>
              <a:t>            people.person1,</a:t>
            </a:r>
          </a:p>
          <a:p>
            <a:r>
              <a:rPr lang="en-US" sz="1000" dirty="0">
                <a:highlight>
                  <a:srgbClr val="FFFF00"/>
                </a:highlight>
                <a:latin typeface="Calibir"/>
              </a:rPr>
              <a:t>            newName1</a:t>
            </a:r>
          </a:p>
          <a:p>
            <a:r>
              <a:rPr lang="en-US" sz="1000" dirty="0">
                <a:highlight>
                  <a:srgbClr val="FFFF00"/>
                </a:highlight>
                <a:latin typeface="Calibir"/>
              </a:rPr>
              <a:t>        );</a:t>
            </a:r>
          </a:p>
        </p:txBody>
      </p:sp>
    </p:spTree>
    <p:custDataLst>
      <p:tags r:id="rId1"/>
    </p:custDataLst>
    <p:extLst>
      <p:ext uri="{BB962C8B-B14F-4D97-AF65-F5344CB8AC3E}">
        <p14:creationId xmlns:p14="http://schemas.microsoft.com/office/powerpoint/2010/main" val="404568720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91B88-B3E6-63AC-E9E3-6178B17C00E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A3662AD-E396-8215-BCF6-C7DB62252662}"/>
              </a:ext>
            </a:extLst>
          </p:cNvPr>
          <p:cNvSpPr txBox="1"/>
          <p:nvPr/>
        </p:nvSpPr>
        <p:spPr>
          <a:xfrm>
            <a:off x="0" y="0"/>
            <a:ext cx="6099716" cy="3477875"/>
          </a:xfrm>
          <a:prstGeom prst="rect">
            <a:avLst/>
          </a:prstGeom>
          <a:noFill/>
        </p:spPr>
        <p:txBody>
          <a:bodyPr wrap="square">
            <a:spAutoFit/>
          </a:bodyPr>
          <a:lstStyle/>
          <a:p>
            <a:endParaRPr lang="en-US" sz="1000" dirty="0">
              <a:highlight>
                <a:srgbClr val="FFFF00"/>
              </a:highlight>
              <a:latin typeface="Calibir"/>
            </a:endParaRP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people.update</a:t>
            </a:r>
            <a:r>
              <a:rPr lang="en-US" sz="1000" dirty="0">
                <a:highlight>
                  <a:srgbClr val="FFFF00"/>
                </a:highlight>
                <a:latin typeface="Calibir"/>
              </a:rPr>
              <a:t>(</a:t>
            </a:r>
          </a:p>
          <a:p>
            <a:r>
              <a:rPr lang="en-US" sz="1000" dirty="0">
                <a:highlight>
                  <a:srgbClr val="FFFF00"/>
                </a:highlight>
                <a:latin typeface="Calibir"/>
              </a:rPr>
              <a:t>            people.person2,</a:t>
            </a:r>
          </a:p>
          <a:p>
            <a:r>
              <a:rPr lang="en-US" sz="1000" dirty="0">
                <a:highlight>
                  <a:srgbClr val="FFFF00"/>
                </a:highlight>
                <a:latin typeface="Calibir"/>
              </a:rPr>
              <a:t>            newName2</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a:t>
            </a:r>
            <a:r>
              <a:rPr lang="en-US" sz="1000" dirty="0" err="1">
                <a:highlight>
                  <a:srgbClr val="FFFF00"/>
                </a:highlight>
                <a:latin typeface="Calibir"/>
              </a:rPr>
              <a:t>nUpdated</a:t>
            </a:r>
            <a:r>
              <a:rPr lang="en-US" sz="1000" dirty="0">
                <a:highlight>
                  <a:srgbClr val="FFFF00"/>
                </a:highlight>
                <a:latin typeface="Calibir"/>
              </a:rPr>
              <a:t> people:"</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people.show</a:t>
            </a:r>
            <a:r>
              <a:rPr lang="en-US" sz="1000" dirty="0">
                <a:highlight>
                  <a:srgbClr val="FFFF00"/>
                </a:highlight>
                <a:latin typeface="Calibir"/>
              </a:rPr>
              <a:t>(</a:t>
            </a:r>
          </a:p>
          <a:p>
            <a:r>
              <a:rPr lang="en-US" sz="1000" dirty="0">
                <a:highlight>
                  <a:srgbClr val="FFFF00"/>
                </a:highlight>
                <a:latin typeface="Calibir"/>
              </a:rPr>
              <a:t>            people.person1</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people.show</a:t>
            </a:r>
            <a:r>
              <a:rPr lang="en-US" sz="1000" dirty="0">
                <a:highlight>
                  <a:srgbClr val="FFFF00"/>
                </a:highlight>
                <a:latin typeface="Calibir"/>
              </a:rPr>
              <a:t>(</a:t>
            </a:r>
          </a:p>
          <a:p>
            <a:r>
              <a:rPr lang="en-US" sz="1000" dirty="0">
                <a:highlight>
                  <a:srgbClr val="FFFF00"/>
                </a:highlight>
                <a:latin typeface="Calibir"/>
              </a:rPr>
              <a:t>            people.person2</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input.close</a:t>
            </a:r>
            <a:r>
              <a:rPr lang="en-US" sz="1000" dirty="0">
                <a:highlight>
                  <a:srgbClr val="FFFF00"/>
                </a:highlight>
                <a:latin typeface="Calibir"/>
              </a:rPr>
              <a:t>();</a:t>
            </a:r>
          </a:p>
          <a:p>
            <a:r>
              <a:rPr lang="en-US" sz="1000" dirty="0">
                <a:highlight>
                  <a:srgbClr val="FFFF00"/>
                </a:highlight>
                <a:latin typeface="Calibir"/>
              </a:rPr>
              <a:t>    }</a:t>
            </a:r>
          </a:p>
          <a:p>
            <a:r>
              <a:rPr lang="en-US" sz="1000" dirty="0">
                <a:highlight>
                  <a:srgbClr val="FFFF00"/>
                </a:highlight>
                <a:latin typeface="Calibir"/>
              </a:rPr>
              <a:t>}</a:t>
            </a:r>
          </a:p>
        </p:txBody>
      </p:sp>
    </p:spTree>
    <p:custDataLst>
      <p:tags r:id="rId1"/>
    </p:custDataLst>
    <p:extLst>
      <p:ext uri="{BB962C8B-B14F-4D97-AF65-F5344CB8AC3E}">
        <p14:creationId xmlns:p14="http://schemas.microsoft.com/office/powerpoint/2010/main" val="22643800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2" name="TextBox 1">
            <a:extLst>
              <a:ext uri="{FF2B5EF4-FFF2-40B4-BE49-F238E27FC236}">
                <a16:creationId xmlns:a16="http://schemas.microsoft.com/office/drawing/2014/main" id="{DD980C27-948C-5A74-3794-543E81ADB7CC}"/>
              </a:ext>
            </a:extLst>
          </p:cNvPr>
          <p:cNvSpPr txBox="1"/>
          <p:nvPr/>
        </p:nvSpPr>
        <p:spPr>
          <a:xfrm>
            <a:off x="609601" y="1109133"/>
            <a:ext cx="11443281" cy="6117957"/>
          </a:xfrm>
          <a:prstGeom prst="rect">
            <a:avLst/>
          </a:prstGeom>
          <a:noFill/>
        </p:spPr>
        <p:txBody>
          <a:bodyPr wrap="square" rtlCol="0">
            <a:spAutoFit/>
          </a:bodyPr>
          <a:lstStyle/>
          <a:p>
            <a:pPr>
              <a:lnSpc>
                <a:spcPct val="150000"/>
              </a:lnSpc>
            </a:pPr>
            <a:r>
              <a:rPr lang="en-US" sz="2400" dirty="0">
                <a:latin typeface="Economica" panose="020B0604020202020204" charset="0"/>
              </a:rPr>
              <a:t>Develop the program </a:t>
            </a:r>
            <a:r>
              <a:rPr lang="en-US" sz="2400" b="1" dirty="0">
                <a:latin typeface="Economica" panose="020B0604020202020204" charset="0"/>
              </a:rPr>
              <a:t>Lab6Exercise2</a:t>
            </a:r>
            <a:r>
              <a:rPr lang="en-US" sz="2400" dirty="0">
                <a:latin typeface="Economica" panose="020B0604020202020204" charset="0"/>
              </a:rPr>
              <a:t> that contains the following five steps:</a:t>
            </a:r>
            <a:endParaRPr lang="en-US" sz="2400" b="1" dirty="0">
              <a:latin typeface="Economica" panose="020B0604020202020204" charset="0"/>
            </a:endParaRPr>
          </a:p>
          <a:p>
            <a:pPr>
              <a:lnSpc>
                <a:spcPct val="150000"/>
              </a:lnSpc>
            </a:pPr>
            <a:r>
              <a:rPr lang="en-US" sz="2400" b="1" dirty="0">
                <a:latin typeface="Economica" panose="020B0604020202020204" charset="0"/>
              </a:rPr>
              <a:t>Step 1: </a:t>
            </a:r>
            <a:r>
              <a:rPr lang="en-US" sz="2400" dirty="0">
                <a:latin typeface="Economica" panose="020B0604020202020204" charset="0"/>
              </a:rPr>
              <a:t>Develop the following classes: Shop, Product, </a:t>
            </a:r>
            <a:r>
              <a:rPr lang="en-US" sz="2400" dirty="0" err="1">
                <a:latin typeface="Economica" panose="020B0604020202020204" charset="0"/>
              </a:rPr>
              <a:t>CashRegister</a:t>
            </a:r>
            <a:r>
              <a:rPr lang="en-US" sz="2400" dirty="0">
                <a:latin typeface="Economica" panose="020B0604020202020204" charset="0"/>
              </a:rPr>
              <a:t> as follows</a:t>
            </a:r>
          </a:p>
          <a:p>
            <a:pPr marL="380990" indent="-380990">
              <a:lnSpc>
                <a:spcPct val="150000"/>
              </a:lnSpc>
              <a:buFont typeface="Arial" panose="020B0604020202020204" pitchFamily="34" charset="0"/>
              <a:buChar char="•"/>
            </a:pPr>
            <a:r>
              <a:rPr lang="en-US" sz="2400" dirty="0">
                <a:latin typeface="Economica" panose="020B0604020202020204" charset="0"/>
              </a:rPr>
              <a:t>Product has three fields: type, price and stock</a:t>
            </a:r>
          </a:p>
          <a:p>
            <a:pPr marL="380990" indent="-380990">
              <a:lnSpc>
                <a:spcPct val="150000"/>
              </a:lnSpc>
              <a:buFont typeface="Arial" panose="020B0604020202020204" pitchFamily="34" charset="0"/>
              <a:buChar char="•"/>
            </a:pPr>
            <a:r>
              <a:rPr lang="en-US" sz="2400" dirty="0">
                <a:latin typeface="Economica" panose="020B0604020202020204" charset="0"/>
              </a:rPr>
              <a:t>Product has two constructors: The first initializes fields to parameters and the second initializes fields from STDIN</a:t>
            </a:r>
          </a:p>
          <a:p>
            <a:pPr marL="380990" indent="-380990">
              <a:lnSpc>
                <a:spcPct val="150000"/>
              </a:lnSpc>
              <a:buFont typeface="Arial" panose="020B0604020202020204" pitchFamily="34" charset="0"/>
              <a:buChar char="•"/>
            </a:pPr>
            <a:r>
              <a:rPr lang="en-US" sz="2400" dirty="0" err="1">
                <a:latin typeface="Economica" panose="020B0604020202020204" charset="0"/>
              </a:rPr>
              <a:t>CashRegister</a:t>
            </a:r>
            <a:r>
              <a:rPr lang="en-US" sz="2400" dirty="0">
                <a:latin typeface="Economica" panose="020B0604020202020204" charset="0"/>
              </a:rPr>
              <a:t> has one field: cash</a:t>
            </a:r>
          </a:p>
          <a:p>
            <a:pPr marL="380990" indent="-380990">
              <a:lnSpc>
                <a:spcPct val="150000"/>
              </a:lnSpc>
              <a:buFont typeface="Arial" panose="020B0604020202020204" pitchFamily="34" charset="0"/>
              <a:buChar char="•"/>
            </a:pPr>
            <a:r>
              <a:rPr lang="en-US" sz="2400" dirty="0" err="1">
                <a:latin typeface="Economica" panose="020B0604020202020204" charset="0"/>
              </a:rPr>
              <a:t>CashRegister</a:t>
            </a:r>
            <a:r>
              <a:rPr lang="en-US" sz="2400" dirty="0">
                <a:latin typeface="Economica" panose="020B0604020202020204" charset="0"/>
              </a:rPr>
              <a:t> has one constructor that initializes the field to default</a:t>
            </a:r>
          </a:p>
          <a:p>
            <a:pPr marL="380990" indent="-380990">
              <a:lnSpc>
                <a:spcPct val="150000"/>
              </a:lnSpc>
              <a:buFont typeface="Arial" panose="020B0604020202020204" pitchFamily="34" charset="0"/>
              <a:buChar char="•"/>
            </a:pPr>
            <a:r>
              <a:rPr lang="en-US" sz="2400" dirty="0">
                <a:latin typeface="Economica" panose="020B0604020202020204" charset="0"/>
              </a:rPr>
              <a:t>Shop has two fields: product and </a:t>
            </a:r>
            <a:r>
              <a:rPr lang="en-US" sz="2400" dirty="0" err="1">
                <a:latin typeface="Economica" panose="020B0604020202020204" charset="0"/>
              </a:rPr>
              <a:t>cashRegister</a:t>
            </a:r>
            <a:endParaRPr lang="en-US" sz="2400" dirty="0">
              <a:latin typeface="Economica" panose="020B0604020202020204" charset="0"/>
            </a:endParaRPr>
          </a:p>
          <a:p>
            <a:pPr marL="380990" indent="-380990">
              <a:lnSpc>
                <a:spcPct val="150000"/>
              </a:lnSpc>
              <a:buFont typeface="Arial" panose="020B0604020202020204" pitchFamily="34" charset="0"/>
              <a:buChar char="•"/>
            </a:pPr>
            <a:r>
              <a:rPr lang="en-US" sz="2400" dirty="0">
                <a:latin typeface="Economica" panose="020B0604020202020204" charset="0"/>
              </a:rPr>
              <a:t>Shop has a constructor that initializes the product field using the constructor with parameters and initializes the </a:t>
            </a:r>
            <a:r>
              <a:rPr lang="en-US" sz="2400" dirty="0" err="1">
                <a:latin typeface="Economica" panose="020B0604020202020204" charset="0"/>
              </a:rPr>
              <a:t>cashRegister</a:t>
            </a:r>
            <a:r>
              <a:rPr lang="en-US" sz="2400" dirty="0">
                <a:latin typeface="Economica" panose="020B0604020202020204" charset="0"/>
              </a:rPr>
              <a:t> field using the default constructor</a:t>
            </a:r>
          </a:p>
          <a:p>
            <a:pPr>
              <a:lnSpc>
                <a:spcPct val="150000"/>
              </a:lnSpc>
            </a:pPr>
            <a:endParaRPr lang="en-US" sz="2400" dirty="0">
              <a:latin typeface="Economica" panose="020B0604020202020204" charset="0"/>
            </a:endParaRPr>
          </a:p>
        </p:txBody>
      </p:sp>
      <p:sp>
        <p:nvSpPr>
          <p:cNvPr id="4" name="Title 1">
            <a:extLst>
              <a:ext uri="{FF2B5EF4-FFF2-40B4-BE49-F238E27FC236}">
                <a16:creationId xmlns:a16="http://schemas.microsoft.com/office/drawing/2014/main" id="{9024B9E8-37DA-65D9-1E4A-B8DA68E947B1}"/>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Tree>
    <p:extLst>
      <p:ext uri="{BB962C8B-B14F-4D97-AF65-F5344CB8AC3E}">
        <p14:creationId xmlns:p14="http://schemas.microsoft.com/office/powerpoint/2010/main" val="268691863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2" name="TextBox 1">
            <a:extLst>
              <a:ext uri="{FF2B5EF4-FFF2-40B4-BE49-F238E27FC236}">
                <a16:creationId xmlns:a16="http://schemas.microsoft.com/office/drawing/2014/main" id="{DD980C27-948C-5A74-3794-543E81ADB7CC}"/>
              </a:ext>
            </a:extLst>
          </p:cNvPr>
          <p:cNvSpPr txBox="1"/>
          <p:nvPr/>
        </p:nvSpPr>
        <p:spPr>
          <a:xfrm>
            <a:off x="685101" y="1090380"/>
            <a:ext cx="10287700" cy="5575309"/>
          </a:xfrm>
          <a:prstGeom prst="rect">
            <a:avLst/>
          </a:prstGeom>
          <a:noFill/>
        </p:spPr>
        <p:txBody>
          <a:bodyPr wrap="square" rtlCol="0">
            <a:spAutoFit/>
          </a:bodyPr>
          <a:lstStyle/>
          <a:p>
            <a:pPr>
              <a:lnSpc>
                <a:spcPct val="150000"/>
              </a:lnSpc>
            </a:pPr>
            <a:r>
              <a:rPr lang="en-US" sz="2000" b="1" dirty="0">
                <a:latin typeface="Economica" panose="020B0604020202020204" charset="0"/>
              </a:rPr>
              <a:t>Step 2: </a:t>
            </a:r>
            <a:r>
              <a:rPr lang="en-US" sz="2000" dirty="0">
                <a:latin typeface="Economica" panose="020B0604020202020204" charset="0"/>
              </a:rPr>
              <a:t>Continue with the Product class</a:t>
            </a:r>
          </a:p>
          <a:p>
            <a:pPr marL="380990" indent="-380990">
              <a:lnSpc>
                <a:spcPct val="150000"/>
              </a:lnSpc>
              <a:buFont typeface="Arial" panose="020B0604020202020204" pitchFamily="34" charset="0"/>
              <a:buChar char="•"/>
            </a:pPr>
            <a:r>
              <a:rPr lang="en-US" sz="2000" dirty="0">
                <a:latin typeface="Economica" panose="020B0604020202020204" charset="0"/>
              </a:rPr>
              <a:t>Define a method called ‘</a:t>
            </a:r>
            <a:r>
              <a:rPr lang="en-US" sz="2000" dirty="0" err="1">
                <a:latin typeface="Economica" panose="020B0604020202020204" charset="0"/>
              </a:rPr>
              <a:t>isEmpty</a:t>
            </a:r>
            <a:r>
              <a:rPr lang="en-US" sz="2000" dirty="0">
                <a:latin typeface="Economica" panose="020B0604020202020204" charset="0"/>
              </a:rPr>
              <a:t>’ to check the stock level </a:t>
            </a:r>
          </a:p>
          <a:p>
            <a:pPr marL="380990" indent="-380990">
              <a:lnSpc>
                <a:spcPct val="150000"/>
              </a:lnSpc>
              <a:buFont typeface="Arial" panose="020B0604020202020204" pitchFamily="34" charset="0"/>
              <a:buChar char="•"/>
            </a:pPr>
            <a:r>
              <a:rPr lang="en-US" sz="2000" dirty="0">
                <a:latin typeface="Economica" panose="020B0604020202020204" charset="0"/>
              </a:rPr>
              <a:t>Define a method called ‘stocked’ that updates the stock level and returns the cash to pay for the stock</a:t>
            </a:r>
          </a:p>
          <a:p>
            <a:pPr marL="380990" indent="-380990">
              <a:lnSpc>
                <a:spcPct val="150000"/>
              </a:lnSpc>
              <a:buFont typeface="Arial" panose="020B0604020202020204" pitchFamily="34" charset="0"/>
              <a:buChar char="•"/>
            </a:pPr>
            <a:r>
              <a:rPr lang="en-US" sz="2000" dirty="0">
                <a:latin typeface="Economica" panose="020B0604020202020204" charset="0"/>
              </a:rPr>
              <a:t>Define a method called ‘sold’ that returns the cash earned from a sale and update the stock level</a:t>
            </a:r>
          </a:p>
          <a:p>
            <a:pPr marL="380990" indent="-380990">
              <a:lnSpc>
                <a:spcPct val="150000"/>
              </a:lnSpc>
              <a:buFont typeface="Arial" panose="020B0604020202020204" pitchFamily="34" charset="0"/>
              <a:buChar char="•"/>
            </a:pPr>
            <a:r>
              <a:rPr lang="en-US" sz="2000" dirty="0">
                <a:latin typeface="Economica" panose="020B0604020202020204" charset="0"/>
              </a:rPr>
              <a:t>Define a method has(int quantity) that checks if the stock level is higher than the quantity</a:t>
            </a:r>
          </a:p>
          <a:p>
            <a:pPr marL="380990" indent="-380990">
              <a:lnSpc>
                <a:spcPct val="150000"/>
              </a:lnSpc>
              <a:buFont typeface="Arial" panose="020B0604020202020204" pitchFamily="34" charset="0"/>
              <a:buChar char="•"/>
            </a:pPr>
            <a:r>
              <a:rPr lang="en-US" sz="2000" dirty="0">
                <a:latin typeface="Economica" panose="020B0604020202020204" charset="0"/>
              </a:rPr>
              <a:t>Define a method cash(quantity) that returns the cash value as a result of a sale</a:t>
            </a:r>
          </a:p>
          <a:p>
            <a:pPr marL="380990" indent="-380990">
              <a:lnSpc>
                <a:spcPct val="150000"/>
              </a:lnSpc>
              <a:buFont typeface="Arial" panose="020B0604020202020204" pitchFamily="34" charset="0"/>
              <a:buChar char="•"/>
            </a:pPr>
            <a:r>
              <a:rPr lang="en-US" sz="2000" dirty="0">
                <a:latin typeface="Economica" panose="020B0604020202020204" charset="0"/>
              </a:rPr>
              <a:t>Define a function to return: </a:t>
            </a:r>
            <a:r>
              <a:rPr lang="en-US" sz="2000" dirty="0">
                <a:solidFill>
                  <a:schemeClr val="accent6">
                    <a:lumMod val="75000"/>
                  </a:schemeClr>
                </a:solidFill>
                <a:latin typeface="Economica" panose="020B0604020202020204" charset="0"/>
              </a:rPr>
              <a:t>“&lt;type&gt; level: &lt;stock&gt; at price $&lt;price&gt;”  </a:t>
            </a:r>
          </a:p>
          <a:p>
            <a:pPr>
              <a:lnSpc>
                <a:spcPct val="150000"/>
              </a:lnSpc>
            </a:pPr>
            <a:r>
              <a:rPr lang="en-US" sz="2000" dirty="0">
                <a:solidFill>
                  <a:schemeClr val="accent6">
                    <a:lumMod val="75000"/>
                  </a:schemeClr>
                </a:solidFill>
                <a:latin typeface="Economica" panose="020B0604020202020204" charset="0"/>
              </a:rPr>
              <a:t>	</a:t>
            </a:r>
            <a:r>
              <a:rPr lang="en-US" sz="2000" i="1" dirty="0">
                <a:latin typeface="Economica" panose="020B0604020202020204" charset="0"/>
              </a:rPr>
              <a:t>[price value should be formatted to 2 decimal points]</a:t>
            </a:r>
          </a:p>
          <a:p>
            <a:pPr>
              <a:lnSpc>
                <a:spcPct val="150000"/>
              </a:lnSpc>
            </a:pPr>
            <a:r>
              <a:rPr lang="en-US" sz="2000" dirty="0">
                <a:latin typeface="Economica" panose="020B0604020202020204" charset="0"/>
              </a:rPr>
              <a:t>       The function should return: </a:t>
            </a:r>
            <a:r>
              <a:rPr lang="en-US" sz="2000" dirty="0">
                <a:solidFill>
                  <a:schemeClr val="accent6">
                    <a:lumMod val="75000"/>
                  </a:schemeClr>
                </a:solidFill>
                <a:latin typeface="Economica" panose="020B0604020202020204" charset="0"/>
              </a:rPr>
              <a:t>“&lt;type&gt; stock level is: &lt;stock&gt;”</a:t>
            </a:r>
            <a:r>
              <a:rPr lang="en-US" sz="2000" dirty="0">
                <a:latin typeface="Economica" panose="020B0604020202020204" charset="0"/>
              </a:rPr>
              <a:t> if the stock level is zero</a:t>
            </a:r>
          </a:p>
        </p:txBody>
      </p:sp>
      <p:sp>
        <p:nvSpPr>
          <p:cNvPr id="4" name="Title 1">
            <a:extLst>
              <a:ext uri="{FF2B5EF4-FFF2-40B4-BE49-F238E27FC236}">
                <a16:creationId xmlns:a16="http://schemas.microsoft.com/office/drawing/2014/main" id="{8039EA56-8C11-20C1-576D-61B5FC516987}"/>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Tree>
    <p:extLst>
      <p:ext uri="{BB962C8B-B14F-4D97-AF65-F5344CB8AC3E}">
        <p14:creationId xmlns:p14="http://schemas.microsoft.com/office/powerpoint/2010/main" val="78674489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2" name="TextBox 1">
            <a:extLst>
              <a:ext uri="{FF2B5EF4-FFF2-40B4-BE49-F238E27FC236}">
                <a16:creationId xmlns:a16="http://schemas.microsoft.com/office/drawing/2014/main" id="{DD980C27-948C-5A74-3794-543E81ADB7CC}"/>
              </a:ext>
            </a:extLst>
          </p:cNvPr>
          <p:cNvSpPr txBox="1"/>
          <p:nvPr/>
        </p:nvSpPr>
        <p:spPr>
          <a:xfrm>
            <a:off x="650918" y="1109133"/>
            <a:ext cx="11544881" cy="5563959"/>
          </a:xfrm>
          <a:prstGeom prst="rect">
            <a:avLst/>
          </a:prstGeom>
          <a:noFill/>
        </p:spPr>
        <p:txBody>
          <a:bodyPr wrap="square" rtlCol="0">
            <a:spAutoFit/>
          </a:bodyPr>
          <a:lstStyle/>
          <a:p>
            <a:pPr>
              <a:lnSpc>
                <a:spcPct val="150000"/>
              </a:lnSpc>
            </a:pPr>
            <a:r>
              <a:rPr lang="en-US" sz="2400" b="1" dirty="0">
                <a:latin typeface="Economica" panose="020B0604020202020204" charset="0"/>
              </a:rPr>
              <a:t>Step 3: </a:t>
            </a:r>
            <a:r>
              <a:rPr lang="en-US" sz="2400" dirty="0">
                <a:latin typeface="Economica" panose="020B0604020202020204" charset="0"/>
              </a:rPr>
              <a:t>Continue with the </a:t>
            </a:r>
            <a:r>
              <a:rPr lang="en-US" sz="2400" dirty="0" err="1">
                <a:latin typeface="Economica" panose="020B0604020202020204" charset="0"/>
              </a:rPr>
              <a:t>CashRegister</a:t>
            </a:r>
            <a:endParaRPr lang="en-US" sz="2400" dirty="0">
              <a:latin typeface="Economica" panose="020B0604020202020204" charset="0"/>
            </a:endParaRPr>
          </a:p>
          <a:p>
            <a:pPr marL="380990" indent="-380990">
              <a:lnSpc>
                <a:spcPct val="150000"/>
              </a:lnSpc>
              <a:buFont typeface="Arial" panose="020B0604020202020204" pitchFamily="34" charset="0"/>
              <a:buChar char="•"/>
            </a:pPr>
            <a:r>
              <a:rPr lang="en-US" sz="2400" dirty="0">
                <a:latin typeface="Economica" panose="020B0604020202020204" charset="0"/>
              </a:rPr>
              <a:t>Define a method called ‘gain’ that increment the cash level for a sale</a:t>
            </a:r>
          </a:p>
          <a:p>
            <a:pPr marL="380990" indent="-380990">
              <a:lnSpc>
                <a:spcPct val="150000"/>
              </a:lnSpc>
              <a:buFont typeface="Arial" panose="020B0604020202020204" pitchFamily="34" charset="0"/>
              <a:buChar char="•"/>
            </a:pPr>
            <a:r>
              <a:rPr lang="en-US" sz="2400" dirty="0">
                <a:latin typeface="Economica" panose="020B0604020202020204" charset="0"/>
              </a:rPr>
              <a:t>Define a method called ‘pay’ that reduces the cash level when restocking</a:t>
            </a:r>
          </a:p>
          <a:p>
            <a:pPr marL="380990" indent="-380990">
              <a:lnSpc>
                <a:spcPct val="150000"/>
              </a:lnSpc>
              <a:buFont typeface="Arial" panose="020B0604020202020204" pitchFamily="34" charset="0"/>
              <a:buChar char="•"/>
            </a:pPr>
            <a:r>
              <a:rPr lang="en-US" sz="2400" dirty="0">
                <a:latin typeface="Economica" panose="020B0604020202020204" charset="0"/>
              </a:rPr>
              <a:t>Define a method called ‘</a:t>
            </a:r>
            <a:r>
              <a:rPr lang="en-US" sz="2400" dirty="0" err="1">
                <a:latin typeface="Economica" panose="020B0604020202020204" charset="0"/>
              </a:rPr>
              <a:t>isEmpty</a:t>
            </a:r>
            <a:r>
              <a:rPr lang="en-US" sz="2400" dirty="0">
                <a:latin typeface="Economica" panose="020B0604020202020204" charset="0"/>
              </a:rPr>
              <a:t>’ to check the cash level in the register is 0</a:t>
            </a:r>
          </a:p>
          <a:p>
            <a:pPr marL="380990" indent="-380990">
              <a:lnSpc>
                <a:spcPct val="150000"/>
              </a:lnSpc>
              <a:buFont typeface="Arial" panose="020B0604020202020204" pitchFamily="34" charset="0"/>
              <a:buChar char="•"/>
            </a:pPr>
            <a:r>
              <a:rPr lang="en-US" sz="2400" dirty="0">
                <a:latin typeface="Economica" panose="020B0604020202020204" charset="0"/>
              </a:rPr>
              <a:t>Define a method has(double cash) that checks if there is enough money to pay when restocking</a:t>
            </a:r>
          </a:p>
          <a:p>
            <a:pPr marL="380990" indent="-380990">
              <a:lnSpc>
                <a:spcPct val="150000"/>
              </a:lnSpc>
              <a:buFont typeface="Arial" panose="020B0604020202020204" pitchFamily="34" charset="0"/>
              <a:buChar char="•"/>
            </a:pPr>
            <a:r>
              <a:rPr lang="en-US" sz="2400" dirty="0">
                <a:latin typeface="Economica" panose="020B0604020202020204" charset="0"/>
              </a:rPr>
              <a:t>Define a function to return: </a:t>
            </a:r>
            <a:r>
              <a:rPr lang="en-US" sz="2400" dirty="0">
                <a:solidFill>
                  <a:schemeClr val="accent6">
                    <a:lumMod val="75000"/>
                  </a:schemeClr>
                </a:solidFill>
                <a:latin typeface="Economica" panose="020B0604020202020204" charset="0"/>
              </a:rPr>
              <a:t>“Cash level: $&lt;cash&gt;”</a:t>
            </a:r>
          </a:p>
          <a:p>
            <a:pPr>
              <a:lnSpc>
                <a:spcPct val="150000"/>
              </a:lnSpc>
            </a:pPr>
            <a:r>
              <a:rPr lang="en-US" sz="2400" dirty="0">
                <a:latin typeface="Economica" panose="020B0604020202020204" charset="0"/>
              </a:rPr>
              <a:t>       	</a:t>
            </a:r>
            <a:r>
              <a:rPr lang="en-US" sz="2400" i="1" dirty="0">
                <a:latin typeface="Economica" panose="020B0604020202020204" charset="0"/>
              </a:rPr>
              <a:t>[cash value should be formatted to 2 decimal points]</a:t>
            </a:r>
            <a:endParaRPr lang="en-US" sz="2400" dirty="0">
              <a:latin typeface="Economica" panose="020B0604020202020204" charset="0"/>
            </a:endParaRPr>
          </a:p>
          <a:p>
            <a:pPr>
              <a:lnSpc>
                <a:spcPct val="150000"/>
              </a:lnSpc>
            </a:pPr>
            <a:r>
              <a:rPr lang="en-US" sz="2400" dirty="0">
                <a:latin typeface="Economica" panose="020B0604020202020204" charset="0"/>
              </a:rPr>
              <a:t>       The function should return: </a:t>
            </a:r>
            <a:r>
              <a:rPr lang="en-US" sz="2400" dirty="0">
                <a:solidFill>
                  <a:schemeClr val="accent6">
                    <a:lumMod val="75000"/>
                  </a:schemeClr>
                </a:solidFill>
                <a:latin typeface="Economica" panose="020B0604020202020204" charset="0"/>
              </a:rPr>
              <a:t>“Cash register is empty”</a:t>
            </a:r>
            <a:r>
              <a:rPr lang="en-US" sz="2400" dirty="0">
                <a:latin typeface="Economica" panose="020B0604020202020204" charset="0"/>
              </a:rPr>
              <a:t> if the cash level is zero</a:t>
            </a:r>
          </a:p>
          <a:p>
            <a:pPr>
              <a:lnSpc>
                <a:spcPct val="150000"/>
              </a:lnSpc>
            </a:pPr>
            <a:endParaRPr lang="en-US" sz="2400" dirty="0">
              <a:latin typeface="Economica" panose="020B0604020202020204" charset="0"/>
            </a:endParaRPr>
          </a:p>
        </p:txBody>
      </p:sp>
      <p:sp>
        <p:nvSpPr>
          <p:cNvPr id="4" name="Title 1">
            <a:extLst>
              <a:ext uri="{FF2B5EF4-FFF2-40B4-BE49-F238E27FC236}">
                <a16:creationId xmlns:a16="http://schemas.microsoft.com/office/drawing/2014/main" id="{D271A186-356D-7A4D-2C11-050A3C09FA19}"/>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Tree>
    <p:extLst>
      <p:ext uri="{BB962C8B-B14F-4D97-AF65-F5344CB8AC3E}">
        <p14:creationId xmlns:p14="http://schemas.microsoft.com/office/powerpoint/2010/main" val="3612434385"/>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2" name="TextBox 1">
            <a:extLst>
              <a:ext uri="{FF2B5EF4-FFF2-40B4-BE49-F238E27FC236}">
                <a16:creationId xmlns:a16="http://schemas.microsoft.com/office/drawing/2014/main" id="{DD980C27-948C-5A74-3794-543E81ADB7CC}"/>
              </a:ext>
            </a:extLst>
          </p:cNvPr>
          <p:cNvSpPr txBox="1"/>
          <p:nvPr/>
        </p:nvSpPr>
        <p:spPr>
          <a:xfrm>
            <a:off x="647120" y="1028264"/>
            <a:ext cx="11544881" cy="5276253"/>
          </a:xfrm>
          <a:prstGeom prst="rect">
            <a:avLst/>
          </a:prstGeom>
          <a:noFill/>
        </p:spPr>
        <p:txBody>
          <a:bodyPr wrap="square" rtlCol="0">
            <a:spAutoFit/>
          </a:bodyPr>
          <a:lstStyle/>
          <a:p>
            <a:pPr>
              <a:lnSpc>
                <a:spcPct val="150000"/>
              </a:lnSpc>
            </a:pPr>
            <a:r>
              <a:rPr lang="en-US" sz="2400" b="1" dirty="0">
                <a:latin typeface="Economica" panose="020B0604020202020204" charset="0"/>
              </a:rPr>
              <a:t>Step 4: </a:t>
            </a:r>
            <a:r>
              <a:rPr lang="en-US" sz="2400" dirty="0">
                <a:latin typeface="Economica" panose="020B0604020202020204" charset="0"/>
              </a:rPr>
              <a:t>Continue with the Shop class</a:t>
            </a:r>
          </a:p>
          <a:p>
            <a:pPr marL="380990" indent="-380990">
              <a:lnSpc>
                <a:spcPct val="150000"/>
              </a:lnSpc>
              <a:buFont typeface="Arial" panose="020B0604020202020204" pitchFamily="34" charset="0"/>
              <a:buChar char="•"/>
            </a:pPr>
            <a:r>
              <a:rPr lang="en-US" sz="2400" dirty="0">
                <a:latin typeface="Economica" panose="020B0604020202020204" charset="0"/>
              </a:rPr>
              <a:t>Define a method called ‘sell’ that sells a certain quantity of the product. </a:t>
            </a:r>
          </a:p>
          <a:p>
            <a:r>
              <a:rPr lang="en-US" sz="2400" dirty="0">
                <a:latin typeface="Economica" panose="020B0604020202020204" charset="0"/>
              </a:rPr>
              <a:t>	- </a:t>
            </a:r>
            <a:r>
              <a:rPr lang="en-US" sz="2133" dirty="0">
                <a:latin typeface="Economica" panose="020B0604020202020204" charset="0"/>
              </a:rPr>
              <a:t>Read the quantity to sell from user input</a:t>
            </a:r>
          </a:p>
          <a:p>
            <a:r>
              <a:rPr lang="en-US" sz="2133" dirty="0">
                <a:latin typeface="Economica" panose="020B0604020202020204" charset="0"/>
              </a:rPr>
              <a:t>	- Check if there is enough stock for the sale, if not, display: </a:t>
            </a:r>
            <a:r>
              <a:rPr lang="en-US" sz="2133" dirty="0">
                <a:solidFill>
                  <a:schemeClr val="accent6">
                    <a:lumMod val="75000"/>
                  </a:schemeClr>
                </a:solidFill>
                <a:latin typeface="Economica" panose="020B0604020202020204" charset="0"/>
              </a:rPr>
              <a:t>“Not enough stock!”</a:t>
            </a:r>
          </a:p>
          <a:p>
            <a:r>
              <a:rPr lang="en-US" sz="2133" dirty="0">
                <a:latin typeface="Economica" panose="020B0604020202020204" charset="0"/>
              </a:rPr>
              <a:t>	- When the sale occurs, the cash amount gained from the sale should be updated in the </a:t>
            </a:r>
            <a:r>
              <a:rPr lang="en-US" sz="2133" dirty="0" err="1">
                <a:latin typeface="Economica" panose="020B0604020202020204" charset="0"/>
              </a:rPr>
              <a:t>cashRegister</a:t>
            </a:r>
            <a:endParaRPr lang="en-US" sz="2133" dirty="0">
              <a:solidFill>
                <a:schemeClr val="accent6">
                  <a:lumMod val="75000"/>
                </a:schemeClr>
              </a:solidFill>
              <a:latin typeface="Economica" panose="020B0604020202020204" charset="0"/>
            </a:endParaRPr>
          </a:p>
          <a:p>
            <a:pPr marL="380990" indent="-380990">
              <a:lnSpc>
                <a:spcPct val="150000"/>
              </a:lnSpc>
              <a:buFont typeface="Arial" panose="020B0604020202020204" pitchFamily="34" charset="0"/>
              <a:buChar char="•"/>
            </a:pPr>
            <a:r>
              <a:rPr lang="en-US" sz="2400" dirty="0">
                <a:latin typeface="Economica" panose="020B0604020202020204" charset="0"/>
              </a:rPr>
              <a:t>Define a method called ‘restock’ enables users to purchase stock of the product. </a:t>
            </a:r>
          </a:p>
          <a:p>
            <a:r>
              <a:rPr lang="en-US" sz="2400" dirty="0">
                <a:latin typeface="Economica" panose="020B0604020202020204" charset="0"/>
              </a:rPr>
              <a:t>	- </a:t>
            </a:r>
            <a:r>
              <a:rPr lang="en-US" sz="2133" dirty="0">
                <a:latin typeface="Economica" panose="020B0604020202020204" charset="0"/>
              </a:rPr>
              <a:t>Read the quantity to restock from user input</a:t>
            </a:r>
          </a:p>
          <a:p>
            <a:r>
              <a:rPr lang="en-US" sz="2133" dirty="0">
                <a:latin typeface="Economica" panose="020B0604020202020204" charset="0"/>
              </a:rPr>
              <a:t>	- Check if there is enough cash to make the purchase, if not, display: </a:t>
            </a:r>
            <a:r>
              <a:rPr lang="en-US" sz="2133" dirty="0">
                <a:solidFill>
                  <a:schemeClr val="accent6">
                    <a:lumMod val="75000"/>
                  </a:schemeClr>
                </a:solidFill>
                <a:latin typeface="Economica" panose="020B0604020202020204" charset="0"/>
              </a:rPr>
              <a:t>“Not enough funds!”</a:t>
            </a:r>
            <a:endParaRPr lang="en-US" sz="2133" dirty="0">
              <a:latin typeface="Economica" panose="020B0604020202020204" charset="0"/>
            </a:endParaRPr>
          </a:p>
          <a:p>
            <a:r>
              <a:rPr lang="en-US" sz="2133" dirty="0">
                <a:latin typeface="Economica" panose="020B0604020202020204" charset="0"/>
              </a:rPr>
              <a:t>	- When the restock occurs, the cash amount used for restocking should be deducted from the </a:t>
            </a:r>
            <a:r>
              <a:rPr lang="en-US" sz="2133" dirty="0" err="1">
                <a:latin typeface="Economica" panose="020B0604020202020204" charset="0"/>
              </a:rPr>
              <a:t>cashRegister</a:t>
            </a:r>
            <a:r>
              <a:rPr lang="en-US" sz="2133" dirty="0">
                <a:latin typeface="Economica" panose="020B0604020202020204" charset="0"/>
              </a:rPr>
              <a:t> cash level, and he stock level of this product should increase</a:t>
            </a:r>
          </a:p>
          <a:p>
            <a:pPr marL="380990" indent="-380990">
              <a:lnSpc>
                <a:spcPct val="150000"/>
              </a:lnSpc>
              <a:buFont typeface="Arial" panose="020B0604020202020204" pitchFamily="34" charset="0"/>
              <a:buChar char="•"/>
            </a:pPr>
            <a:r>
              <a:rPr lang="en-US" sz="2400" dirty="0">
                <a:latin typeface="Economica" panose="020B0604020202020204" charset="0"/>
              </a:rPr>
              <a:t>Define a method called ‘view’ that prints out the fields’ information</a:t>
            </a:r>
          </a:p>
        </p:txBody>
      </p:sp>
      <p:sp>
        <p:nvSpPr>
          <p:cNvPr id="4" name="Title 1">
            <a:extLst>
              <a:ext uri="{FF2B5EF4-FFF2-40B4-BE49-F238E27FC236}">
                <a16:creationId xmlns:a16="http://schemas.microsoft.com/office/drawing/2014/main" id="{09043907-3B55-FFA9-A817-AC19C5ECCFF8}"/>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Tree>
    <p:extLst>
      <p:ext uri="{BB962C8B-B14F-4D97-AF65-F5344CB8AC3E}">
        <p14:creationId xmlns:p14="http://schemas.microsoft.com/office/powerpoint/2010/main" val="75201438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2" name="TextBox 1">
            <a:extLst>
              <a:ext uri="{FF2B5EF4-FFF2-40B4-BE49-F238E27FC236}">
                <a16:creationId xmlns:a16="http://schemas.microsoft.com/office/drawing/2014/main" id="{DD980C27-948C-5A74-3794-543E81ADB7CC}"/>
              </a:ext>
            </a:extLst>
          </p:cNvPr>
          <p:cNvSpPr txBox="1"/>
          <p:nvPr/>
        </p:nvSpPr>
        <p:spPr>
          <a:xfrm>
            <a:off x="655665" y="1153160"/>
            <a:ext cx="11544881" cy="5543121"/>
          </a:xfrm>
          <a:prstGeom prst="rect">
            <a:avLst/>
          </a:prstGeom>
          <a:noFill/>
        </p:spPr>
        <p:txBody>
          <a:bodyPr wrap="square" rtlCol="0">
            <a:spAutoFit/>
          </a:bodyPr>
          <a:lstStyle/>
          <a:p>
            <a:pPr>
              <a:lnSpc>
                <a:spcPct val="150000"/>
              </a:lnSpc>
            </a:pPr>
            <a:r>
              <a:rPr lang="en-US" sz="2400" b="1" dirty="0">
                <a:latin typeface="Economica" panose="020B0604020202020204" charset="0"/>
              </a:rPr>
              <a:t>Step 5: </a:t>
            </a:r>
            <a:r>
              <a:rPr lang="en-US" sz="2400" dirty="0">
                <a:latin typeface="Economica" panose="020B0604020202020204" charset="0"/>
              </a:rPr>
              <a:t>Continue the Shop class</a:t>
            </a:r>
          </a:p>
          <a:p>
            <a:pPr marL="380990" indent="-380990">
              <a:lnSpc>
                <a:spcPct val="150000"/>
              </a:lnSpc>
              <a:buFont typeface="Arial" panose="020B0604020202020204" pitchFamily="34" charset="0"/>
              <a:buChar char="•"/>
            </a:pPr>
            <a:r>
              <a:rPr lang="en-US" sz="2400" dirty="0">
                <a:latin typeface="Economica" panose="020B0604020202020204" charset="0"/>
              </a:rPr>
              <a:t>Define a method called ‘menu’ that represents the Shop menu and provide users with 4 choices:</a:t>
            </a:r>
          </a:p>
          <a:p>
            <a:r>
              <a:rPr lang="en-US" sz="2133" dirty="0">
                <a:latin typeface="Economica" panose="020B0604020202020204" charset="0"/>
              </a:rPr>
              <a:t>	( S ) – sell</a:t>
            </a:r>
          </a:p>
          <a:p>
            <a:r>
              <a:rPr lang="en-US" sz="2133" dirty="0">
                <a:latin typeface="Economica" panose="020B0604020202020204" charset="0"/>
              </a:rPr>
              <a:t>	( R ) – restock</a:t>
            </a:r>
          </a:p>
          <a:p>
            <a:r>
              <a:rPr lang="en-US" sz="2133" dirty="0">
                <a:latin typeface="Economica" panose="020B0604020202020204" charset="0"/>
              </a:rPr>
              <a:t>	( V ) – view</a:t>
            </a:r>
          </a:p>
          <a:p>
            <a:r>
              <a:rPr lang="en-US" sz="2133" dirty="0">
                <a:latin typeface="Economica" panose="020B0604020202020204" charset="0"/>
              </a:rPr>
              <a:t>	( X ) – exit</a:t>
            </a:r>
          </a:p>
          <a:p>
            <a:r>
              <a:rPr lang="en-US" sz="2133" dirty="0">
                <a:latin typeface="Economica" panose="020B0604020202020204" charset="0"/>
              </a:rPr>
              <a:t>	default </a:t>
            </a:r>
            <a:r>
              <a:rPr lang="en-US" sz="2133" dirty="0">
                <a:latin typeface="Economica" panose="020B0604020202020204" charset="0"/>
                <a:sym typeface="Wingdings" panose="05000000000000000000" pitchFamily="2" charset="2"/>
              </a:rPr>
              <a:t> help()</a:t>
            </a:r>
            <a:endParaRPr lang="en-US" sz="2133" dirty="0">
              <a:latin typeface="Economica" panose="020B0604020202020204" charset="0"/>
            </a:endParaRPr>
          </a:p>
          <a:p>
            <a:pPr marL="380990" indent="-380990">
              <a:lnSpc>
                <a:spcPct val="150000"/>
              </a:lnSpc>
              <a:buFont typeface="Arial" panose="020B0604020202020204" pitchFamily="34" charset="0"/>
              <a:buChar char="•"/>
            </a:pPr>
            <a:r>
              <a:rPr lang="en-US" sz="2400" dirty="0">
                <a:latin typeface="Economica" panose="020B0604020202020204" charset="0"/>
              </a:rPr>
              <a:t>Define a method called ‘help’ that prints out the menu options</a:t>
            </a:r>
          </a:p>
          <a:p>
            <a:pPr marL="380990" indent="-380990">
              <a:lnSpc>
                <a:spcPct val="150000"/>
              </a:lnSpc>
              <a:buFont typeface="Arial" panose="020B0604020202020204" pitchFamily="34" charset="0"/>
              <a:buChar char="•"/>
            </a:pPr>
            <a:r>
              <a:rPr lang="en-US" sz="2400" dirty="0">
                <a:latin typeface="Economica" panose="020B0604020202020204" charset="0"/>
              </a:rPr>
              <a:t>Define the main() method should execute the system menu()</a:t>
            </a:r>
          </a:p>
          <a:p>
            <a:pPr>
              <a:lnSpc>
                <a:spcPct val="150000"/>
              </a:lnSpc>
            </a:pPr>
            <a:endParaRPr lang="en-US" sz="2400" dirty="0">
              <a:latin typeface="Economica" panose="020B0604020202020204" charset="0"/>
            </a:endParaRPr>
          </a:p>
          <a:p>
            <a:pPr>
              <a:lnSpc>
                <a:spcPct val="150000"/>
              </a:lnSpc>
            </a:pPr>
            <a:r>
              <a:rPr lang="en-US" sz="2400" b="1" dirty="0">
                <a:latin typeface="Economica" panose="020B0604020202020204" charset="0"/>
              </a:rPr>
              <a:t>NOTE: </a:t>
            </a:r>
            <a:r>
              <a:rPr lang="en-US" sz="2400" dirty="0">
                <a:latin typeface="Economica" panose="020B0604020202020204" charset="0"/>
              </a:rPr>
              <a:t>define the necessary read functions in Shop</a:t>
            </a:r>
          </a:p>
        </p:txBody>
      </p:sp>
      <p:sp>
        <p:nvSpPr>
          <p:cNvPr id="4" name="Title 1">
            <a:extLst>
              <a:ext uri="{FF2B5EF4-FFF2-40B4-BE49-F238E27FC236}">
                <a16:creationId xmlns:a16="http://schemas.microsoft.com/office/drawing/2014/main" id="{2643FE81-F72B-86EE-4711-178A416F0A5E}"/>
              </a:ext>
            </a:extLst>
          </p:cNvPr>
          <p:cNvSpPr txBox="1">
            <a:spLocks/>
          </p:cNvSpPr>
          <p:nvPr/>
        </p:nvSpPr>
        <p:spPr>
          <a:xfrm>
            <a:off x="0" y="0"/>
            <a:ext cx="12192000" cy="657922"/>
          </a:xfrm>
          <a:prstGeom prst="rect">
            <a:avLst/>
          </a:prstGeom>
        </p:spPr>
        <p:txBody>
          <a:bodyPr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ir"/>
              </a:rPr>
              <a:t>Lab 6 Exercises</a:t>
            </a:r>
            <a:endParaRPr lang="en-AU" sz="4000" b="1" dirty="0">
              <a:latin typeface="Calibir"/>
            </a:endParaRPr>
          </a:p>
        </p:txBody>
      </p:sp>
    </p:spTree>
    <p:extLst>
      <p:ext uri="{BB962C8B-B14F-4D97-AF65-F5344CB8AC3E}">
        <p14:creationId xmlns:p14="http://schemas.microsoft.com/office/powerpoint/2010/main" val="359434622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7DFECF97-E88B-B210-5B24-73771A25B83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6603F45-17D8-75F5-0572-776D845002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300587325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4B2A4EB2-B1C8-2C70-A0EE-49098F50A2E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0E0E860-5214-5DB1-BA82-3F528385F1DB}"/>
              </a:ext>
            </a:extLst>
          </p:cNvPr>
          <p:cNvSpPr txBox="1"/>
          <p:nvPr/>
        </p:nvSpPr>
        <p:spPr>
          <a:xfrm>
            <a:off x="-2458" y="0"/>
            <a:ext cx="8249265" cy="4467057"/>
          </a:xfrm>
          <a:prstGeom prst="rect">
            <a:avLst/>
          </a:prstGeom>
          <a:noFill/>
        </p:spPr>
        <p:txBody>
          <a:bodyPr wrap="square">
            <a:spAutoFit/>
          </a:bodyPr>
          <a:lstStyle/>
          <a:p>
            <a:pPr>
              <a:lnSpc>
                <a:spcPct val="150000"/>
              </a:lnSpc>
              <a:buNone/>
            </a:pPr>
            <a:r>
              <a:rPr lang="en-US" sz="2400" b="1" dirty="0">
                <a:latin typeface="Calibir"/>
              </a:rPr>
              <a:t>Exercise 2 — Step 1: Product fields</a:t>
            </a:r>
          </a:p>
          <a:p>
            <a:pPr>
              <a:lnSpc>
                <a:spcPct val="150000"/>
              </a:lnSpc>
              <a:buNone/>
            </a:pPr>
            <a:r>
              <a:rPr lang="en-US" sz="2400" dirty="0">
                <a:latin typeface="Calibir"/>
              </a:rPr>
              <a:t>Product needs:</a:t>
            </a:r>
          </a:p>
          <a:p>
            <a:pPr rtl="0">
              <a:lnSpc>
                <a:spcPct val="150000"/>
              </a:lnSpc>
              <a:buNone/>
            </a:pPr>
            <a:r>
              <a:rPr lang="en-US" sz="2400" dirty="0">
                <a:highlight>
                  <a:srgbClr val="FFFF00"/>
                </a:highlight>
                <a:latin typeface="Calibir"/>
              </a:rPr>
              <a:t>type</a:t>
            </a:r>
          </a:p>
          <a:p>
            <a:pPr rtl="0">
              <a:lnSpc>
                <a:spcPct val="150000"/>
              </a:lnSpc>
              <a:buNone/>
            </a:pPr>
            <a:r>
              <a:rPr lang="en-US" sz="2400" dirty="0">
                <a:highlight>
                  <a:srgbClr val="FFFF00"/>
                </a:highlight>
                <a:latin typeface="Calibir"/>
              </a:rPr>
              <a:t>price</a:t>
            </a:r>
          </a:p>
          <a:p>
            <a:pPr rtl="0">
              <a:lnSpc>
                <a:spcPct val="150000"/>
              </a:lnSpc>
              <a:buNone/>
            </a:pPr>
            <a:r>
              <a:rPr lang="en-US" sz="2400" dirty="0">
                <a:highlight>
                  <a:srgbClr val="FFFF00"/>
                </a:highlight>
                <a:latin typeface="Calibir"/>
              </a:rPr>
              <a:t>stock</a:t>
            </a:r>
          </a:p>
          <a:p>
            <a:pPr>
              <a:lnSpc>
                <a:spcPct val="150000"/>
              </a:lnSpc>
              <a:buNone/>
            </a:pPr>
            <a:r>
              <a:rPr lang="en-US" sz="2400" dirty="0">
                <a:latin typeface="Calibir"/>
              </a:rPr>
              <a:t>Python does not provide Java-style constructor overloading. For the second “constructor from STDIN”, a clear Python equivalent is a class method.</a:t>
            </a:r>
          </a:p>
        </p:txBody>
      </p:sp>
      <p:sp>
        <p:nvSpPr>
          <p:cNvPr id="5" name="TextBox 4">
            <a:extLst>
              <a:ext uri="{FF2B5EF4-FFF2-40B4-BE49-F238E27FC236}">
                <a16:creationId xmlns:a16="http://schemas.microsoft.com/office/drawing/2014/main" id="{3BF80AEE-C48D-B919-3CB0-BCB39DD001EF}"/>
              </a:ext>
            </a:extLst>
          </p:cNvPr>
          <p:cNvSpPr txBox="1"/>
          <p:nvPr/>
        </p:nvSpPr>
        <p:spPr>
          <a:xfrm>
            <a:off x="8246807" y="449745"/>
            <a:ext cx="3832122" cy="5575052"/>
          </a:xfrm>
          <a:prstGeom prst="rect">
            <a:avLst/>
          </a:prstGeom>
          <a:noFill/>
        </p:spPr>
        <p:txBody>
          <a:bodyPr wrap="square">
            <a:spAutoFit/>
          </a:bodyPr>
          <a:lstStyle/>
          <a:p>
            <a:pPr>
              <a:lnSpc>
                <a:spcPct val="150000"/>
              </a:lnSpc>
              <a:buNone/>
            </a:pPr>
            <a:r>
              <a:rPr lang="en-US" sz="2400" b="1" dirty="0">
                <a:latin typeface="Calibir"/>
              </a:rPr>
              <a:t>Python</a:t>
            </a:r>
          </a:p>
          <a:p>
            <a:pPr rtl="0">
              <a:lnSpc>
                <a:spcPct val="150000"/>
              </a:lnSpc>
              <a:buNone/>
            </a:pPr>
            <a:r>
              <a:rPr lang="en-US" sz="2400" dirty="0">
                <a:highlight>
                  <a:srgbClr val="FFFF00"/>
                </a:highlight>
                <a:latin typeface="Calibir"/>
              </a:rPr>
              <a:t>class Product:</a:t>
            </a:r>
          </a:p>
          <a:p>
            <a:pPr rtl="0">
              <a:lnSpc>
                <a:spcPct val="150000"/>
              </a:lnSpc>
              <a:buNone/>
            </a:pPr>
            <a:r>
              <a:rPr lang="en-US" sz="2400" dirty="0">
                <a:highlight>
                  <a:srgbClr val="FFFF00"/>
                </a:highlight>
                <a:latin typeface="Calibir"/>
              </a:rPr>
              <a:t>    def __</a:t>
            </a:r>
            <a:r>
              <a:rPr lang="en-US" sz="2400" dirty="0" err="1">
                <a:highlight>
                  <a:srgbClr val="FFFF00"/>
                </a:highlight>
                <a:latin typeface="Calibir"/>
              </a:rPr>
              <a:t>init</a:t>
            </a:r>
            <a:r>
              <a:rPr lang="en-US" sz="2400" dirty="0">
                <a:highlight>
                  <a:srgbClr val="FFFF00"/>
                </a:highlight>
                <a:latin typeface="Calibir"/>
              </a:rPr>
              <a:t>__(</a:t>
            </a:r>
          </a:p>
          <a:p>
            <a:pPr rtl="0">
              <a:lnSpc>
                <a:spcPct val="150000"/>
              </a:lnSpc>
              <a:buNone/>
            </a:pPr>
            <a:r>
              <a:rPr lang="en-US" sz="2400" dirty="0">
                <a:highlight>
                  <a:srgbClr val="FFFF00"/>
                </a:highlight>
                <a:latin typeface="Calibir"/>
              </a:rPr>
              <a:t>            self,</a:t>
            </a:r>
          </a:p>
          <a:p>
            <a:pPr rtl="0">
              <a:lnSpc>
                <a:spcPct val="150000"/>
              </a:lnSpc>
              <a:buNone/>
            </a:pPr>
            <a:r>
              <a:rPr lang="en-US" sz="2400" dirty="0">
                <a:highlight>
                  <a:srgbClr val="FFFF00"/>
                </a:highlight>
                <a:latin typeface="Calibir"/>
              </a:rPr>
              <a:t>            </a:t>
            </a:r>
            <a:r>
              <a:rPr lang="en-US" sz="2400" dirty="0" err="1">
                <a:highlight>
                  <a:srgbClr val="FFFF00"/>
                </a:highlight>
                <a:latin typeface="Calibir"/>
              </a:rPr>
              <a:t>product_type</a:t>
            </a:r>
            <a:r>
              <a:rPr lang="en-US" sz="2400" dirty="0">
                <a:highlight>
                  <a:srgbClr val="FFFF00"/>
                </a:highlight>
                <a:latin typeface="Calibir"/>
              </a:rPr>
              <a:t>,</a:t>
            </a:r>
          </a:p>
          <a:p>
            <a:pPr rtl="0">
              <a:lnSpc>
                <a:spcPct val="150000"/>
              </a:lnSpc>
              <a:buNone/>
            </a:pPr>
            <a:r>
              <a:rPr lang="en-US" sz="2400" dirty="0">
                <a:highlight>
                  <a:srgbClr val="FFFF00"/>
                </a:highlight>
                <a:latin typeface="Calibir"/>
              </a:rPr>
              <a:t>            price,</a:t>
            </a:r>
          </a:p>
          <a:p>
            <a:pPr rtl="0">
              <a:lnSpc>
                <a:spcPct val="150000"/>
              </a:lnSpc>
              <a:buNone/>
            </a:pPr>
            <a:r>
              <a:rPr lang="en-US" sz="2400" dirty="0">
                <a:highlight>
                  <a:srgbClr val="FFFF00"/>
                </a:highlight>
                <a:latin typeface="Calibir"/>
              </a:rPr>
              <a:t>            stock):</a:t>
            </a:r>
          </a:p>
          <a:p>
            <a:pPr rtl="0">
              <a:lnSpc>
                <a:spcPct val="150000"/>
              </a:lnSpc>
              <a:buNone/>
            </a:pPr>
            <a:r>
              <a:rPr lang="en-US" sz="2400" dirty="0">
                <a:highlight>
                  <a:srgbClr val="FFFF00"/>
                </a:highlight>
                <a:latin typeface="Calibir"/>
              </a:rPr>
              <a:t>        </a:t>
            </a:r>
            <a:r>
              <a:rPr lang="en-US" sz="2400" dirty="0" err="1">
                <a:highlight>
                  <a:srgbClr val="FFFF00"/>
                </a:highlight>
                <a:latin typeface="Calibir"/>
              </a:rPr>
              <a:t>self.type</a:t>
            </a:r>
            <a:r>
              <a:rPr lang="en-US" sz="2400" dirty="0">
                <a:highlight>
                  <a:srgbClr val="FFFF00"/>
                </a:highlight>
                <a:latin typeface="Calibir"/>
              </a:rPr>
              <a:t> = </a:t>
            </a:r>
            <a:r>
              <a:rPr lang="en-US" sz="2400" dirty="0" err="1">
                <a:highlight>
                  <a:srgbClr val="FFFF00"/>
                </a:highlight>
                <a:latin typeface="Calibir"/>
              </a:rPr>
              <a:t>product_type</a:t>
            </a:r>
            <a:endParaRPr lang="en-US" sz="2400" dirty="0">
              <a:highlight>
                <a:srgbClr val="FFFF00"/>
              </a:highlight>
              <a:latin typeface="Calibir"/>
            </a:endParaRPr>
          </a:p>
          <a:p>
            <a:pPr rtl="0">
              <a:lnSpc>
                <a:spcPct val="150000"/>
              </a:lnSpc>
              <a:buNone/>
            </a:pPr>
            <a:r>
              <a:rPr lang="en-US" sz="2400" dirty="0">
                <a:highlight>
                  <a:srgbClr val="FFFF00"/>
                </a:highlight>
                <a:latin typeface="Calibir"/>
              </a:rPr>
              <a:t>        </a:t>
            </a:r>
            <a:r>
              <a:rPr lang="en-US" sz="2400" dirty="0" err="1">
                <a:highlight>
                  <a:srgbClr val="FFFF00"/>
                </a:highlight>
                <a:latin typeface="Calibir"/>
              </a:rPr>
              <a:t>self.price</a:t>
            </a:r>
            <a:r>
              <a:rPr lang="en-US" sz="2400" dirty="0">
                <a:highlight>
                  <a:srgbClr val="FFFF00"/>
                </a:highlight>
                <a:latin typeface="Calibir"/>
              </a:rPr>
              <a:t> = price</a:t>
            </a:r>
          </a:p>
          <a:p>
            <a:pPr rtl="0">
              <a:lnSpc>
                <a:spcPct val="150000"/>
              </a:lnSpc>
              <a:buNone/>
            </a:pPr>
            <a:r>
              <a:rPr lang="en-US" sz="2400" dirty="0">
                <a:highlight>
                  <a:srgbClr val="FFFF00"/>
                </a:highlight>
                <a:latin typeface="Calibir"/>
              </a:rPr>
              <a:t>        </a:t>
            </a:r>
            <a:r>
              <a:rPr lang="en-US" sz="2400" dirty="0" err="1">
                <a:highlight>
                  <a:srgbClr val="FFFF00"/>
                </a:highlight>
                <a:latin typeface="Calibir"/>
              </a:rPr>
              <a:t>self.stock</a:t>
            </a:r>
            <a:r>
              <a:rPr lang="en-US" sz="2400" dirty="0">
                <a:highlight>
                  <a:srgbClr val="FFFF00"/>
                </a:highlight>
                <a:latin typeface="Calibir"/>
              </a:rPr>
              <a:t> = stock</a:t>
            </a:r>
          </a:p>
        </p:txBody>
      </p:sp>
    </p:spTree>
    <p:extLst>
      <p:ext uri="{BB962C8B-B14F-4D97-AF65-F5344CB8AC3E}">
        <p14:creationId xmlns:p14="http://schemas.microsoft.com/office/powerpoint/2010/main" val="259554687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17592643-A902-4587-297D-2C80249BCA5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ACEA993-0D74-17F8-170B-E00FEDD8CA28}"/>
              </a:ext>
            </a:extLst>
          </p:cNvPr>
          <p:cNvSpPr txBox="1"/>
          <p:nvPr/>
        </p:nvSpPr>
        <p:spPr>
          <a:xfrm>
            <a:off x="159775" y="1477248"/>
            <a:ext cx="8249265" cy="3903504"/>
          </a:xfrm>
          <a:prstGeom prst="rect">
            <a:avLst/>
          </a:prstGeom>
          <a:noFill/>
        </p:spPr>
        <p:txBody>
          <a:bodyPr wrap="square">
            <a:spAutoFit/>
          </a:bodyPr>
          <a:lstStyle/>
          <a:p>
            <a:pPr>
              <a:lnSpc>
                <a:spcPct val="150000"/>
              </a:lnSpc>
            </a:pPr>
            <a:r>
              <a:rPr lang="en-US" sz="2800" dirty="0">
                <a:highlight>
                  <a:srgbClr val="FFFF00"/>
                </a:highlight>
                <a:latin typeface="Calibir"/>
              </a:rPr>
              <a:t>@classmethod</a:t>
            </a:r>
          </a:p>
          <a:p>
            <a:pPr>
              <a:lnSpc>
                <a:spcPct val="150000"/>
              </a:lnSpc>
            </a:pPr>
            <a:r>
              <a:rPr lang="en-US" sz="2800" dirty="0">
                <a:highlight>
                  <a:srgbClr val="FFFF00"/>
                </a:highlight>
                <a:latin typeface="Calibir"/>
              </a:rPr>
              <a:t>def </a:t>
            </a:r>
            <a:r>
              <a:rPr lang="en-US" sz="2800" dirty="0" err="1">
                <a:highlight>
                  <a:srgbClr val="FFFF00"/>
                </a:highlight>
                <a:latin typeface="Calibir"/>
              </a:rPr>
              <a:t>from_input</a:t>
            </a:r>
            <a:r>
              <a:rPr lang="en-US" sz="2800" dirty="0">
                <a:highlight>
                  <a:srgbClr val="FFFF00"/>
                </a:highlight>
                <a:latin typeface="Calibir"/>
              </a:rPr>
              <a:t>(</a:t>
            </a:r>
            <a:r>
              <a:rPr lang="en-US" sz="2800" dirty="0" err="1">
                <a:highlight>
                  <a:srgbClr val="FFFF00"/>
                </a:highlight>
                <a:latin typeface="Calibir"/>
              </a:rPr>
              <a:t>cls</a:t>
            </a:r>
            <a:r>
              <a:rPr lang="en-US" sz="2800" dirty="0">
                <a:highlight>
                  <a:srgbClr val="FFFF00"/>
                </a:highlight>
                <a:latin typeface="Calibir"/>
              </a:rPr>
              <a:t>):</a:t>
            </a:r>
          </a:p>
          <a:p>
            <a:pPr>
              <a:lnSpc>
                <a:spcPct val="150000"/>
              </a:lnSpc>
            </a:pPr>
            <a:r>
              <a:rPr lang="en-US" sz="2800" dirty="0">
                <a:highlight>
                  <a:srgbClr val="FFFF00"/>
                </a:highlight>
                <a:latin typeface="Calibir"/>
              </a:rPr>
              <a:t>    </a:t>
            </a:r>
            <a:r>
              <a:rPr lang="en-US" sz="2800" dirty="0" err="1">
                <a:highlight>
                  <a:srgbClr val="FFFF00"/>
                </a:highlight>
                <a:latin typeface="Calibir"/>
              </a:rPr>
              <a:t>product_type</a:t>
            </a:r>
            <a:r>
              <a:rPr lang="en-US" sz="2800" dirty="0">
                <a:highlight>
                  <a:srgbClr val="FFFF00"/>
                </a:highlight>
                <a:latin typeface="Calibir"/>
              </a:rPr>
              <a:t> = input("Product type: ")</a:t>
            </a:r>
          </a:p>
          <a:p>
            <a:pPr>
              <a:lnSpc>
                <a:spcPct val="150000"/>
              </a:lnSpc>
            </a:pPr>
            <a:r>
              <a:rPr lang="en-US" sz="2800" dirty="0">
                <a:highlight>
                  <a:srgbClr val="FFFF00"/>
                </a:highlight>
                <a:latin typeface="Calibir"/>
              </a:rPr>
              <a:t>    price = float(input("Product price: $"))</a:t>
            </a:r>
          </a:p>
          <a:p>
            <a:pPr>
              <a:lnSpc>
                <a:spcPct val="150000"/>
              </a:lnSpc>
            </a:pPr>
            <a:r>
              <a:rPr lang="en-US" sz="2800" dirty="0">
                <a:highlight>
                  <a:srgbClr val="FFFF00"/>
                </a:highlight>
                <a:latin typeface="Calibir"/>
              </a:rPr>
              <a:t>    stock = int(input("Initial stock: "))</a:t>
            </a:r>
          </a:p>
          <a:p>
            <a:pPr>
              <a:lnSpc>
                <a:spcPct val="150000"/>
              </a:lnSpc>
            </a:pPr>
            <a:r>
              <a:rPr lang="en-US" sz="2800" dirty="0">
                <a:highlight>
                  <a:srgbClr val="FFFF00"/>
                </a:highlight>
                <a:latin typeface="Calibir"/>
              </a:rPr>
              <a:t>    return </a:t>
            </a:r>
            <a:r>
              <a:rPr lang="en-US" sz="2800" dirty="0" err="1">
                <a:highlight>
                  <a:srgbClr val="FFFF00"/>
                </a:highlight>
                <a:latin typeface="Calibir"/>
              </a:rPr>
              <a:t>cls</a:t>
            </a:r>
            <a:r>
              <a:rPr lang="en-US" sz="2800" dirty="0">
                <a:highlight>
                  <a:srgbClr val="FFFF00"/>
                </a:highlight>
                <a:latin typeface="Calibir"/>
              </a:rPr>
              <a:t>(</a:t>
            </a:r>
            <a:r>
              <a:rPr lang="en-US" sz="2800" dirty="0" err="1">
                <a:highlight>
                  <a:srgbClr val="FFFF00"/>
                </a:highlight>
                <a:latin typeface="Calibir"/>
              </a:rPr>
              <a:t>product_type</a:t>
            </a:r>
            <a:r>
              <a:rPr lang="en-US" sz="2800" dirty="0">
                <a:highlight>
                  <a:srgbClr val="FFFF00"/>
                </a:highlight>
                <a:latin typeface="Calibir"/>
              </a:rPr>
              <a:t>, price, stock)</a:t>
            </a:r>
          </a:p>
        </p:txBody>
      </p:sp>
    </p:spTree>
    <p:extLst>
      <p:ext uri="{BB962C8B-B14F-4D97-AF65-F5344CB8AC3E}">
        <p14:creationId xmlns:p14="http://schemas.microsoft.com/office/powerpoint/2010/main" val="19001121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1C02C36C-5CA3-962F-2376-AFF504A375E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09947E5-3E0E-F8B7-B53B-2E9CBC2460F5}"/>
              </a:ext>
            </a:extLst>
          </p:cNvPr>
          <p:cNvSpPr txBox="1"/>
          <p:nvPr/>
        </p:nvSpPr>
        <p:spPr>
          <a:xfrm>
            <a:off x="0" y="0"/>
            <a:ext cx="9147687" cy="6488828"/>
          </a:xfrm>
          <a:prstGeom prst="rect">
            <a:avLst/>
          </a:prstGeom>
          <a:noFill/>
        </p:spPr>
        <p:txBody>
          <a:bodyPr wrap="square">
            <a:spAutoFit/>
          </a:bodyPr>
          <a:lstStyle/>
          <a:p>
            <a:pPr>
              <a:lnSpc>
                <a:spcPct val="150000"/>
              </a:lnSpc>
              <a:buNone/>
            </a:pPr>
            <a:r>
              <a:rPr lang="en-US" sz="2800" b="1" dirty="0">
                <a:latin typeface="Calibir"/>
              </a:rPr>
              <a:t>Java</a:t>
            </a:r>
          </a:p>
          <a:p>
            <a:pPr>
              <a:lnSpc>
                <a:spcPct val="150000"/>
              </a:lnSpc>
              <a:buNone/>
            </a:pPr>
            <a:r>
              <a:rPr lang="en-US" sz="2800" dirty="0">
                <a:latin typeface="Calibir"/>
              </a:rPr>
              <a:t>First constructor:</a:t>
            </a:r>
          </a:p>
          <a:p>
            <a:pPr rtl="0">
              <a:lnSpc>
                <a:spcPct val="150000"/>
              </a:lnSpc>
              <a:buNone/>
            </a:pPr>
            <a:r>
              <a:rPr lang="en-US" sz="2800" dirty="0">
                <a:highlight>
                  <a:srgbClr val="FFFF00"/>
                </a:highlight>
                <a:latin typeface="Calibir"/>
              </a:rPr>
              <a:t>public Product(</a:t>
            </a:r>
          </a:p>
          <a:p>
            <a:pPr rtl="0">
              <a:lnSpc>
                <a:spcPct val="150000"/>
              </a:lnSpc>
              <a:buNone/>
            </a:pPr>
            <a:r>
              <a:rPr lang="en-US" sz="2800" dirty="0">
                <a:highlight>
                  <a:srgbClr val="FFFF00"/>
                </a:highlight>
                <a:latin typeface="Calibir"/>
              </a:rPr>
              <a:t>        String type,</a:t>
            </a:r>
          </a:p>
          <a:p>
            <a:pPr rtl="0">
              <a:lnSpc>
                <a:spcPct val="150000"/>
              </a:lnSpc>
              <a:buNone/>
            </a:pPr>
            <a:r>
              <a:rPr lang="en-US" sz="2800" dirty="0">
                <a:highlight>
                  <a:srgbClr val="FFFF00"/>
                </a:highlight>
                <a:latin typeface="Calibir"/>
              </a:rPr>
              <a:t>        double price,</a:t>
            </a:r>
          </a:p>
          <a:p>
            <a:pPr rtl="0">
              <a:lnSpc>
                <a:spcPct val="150000"/>
              </a:lnSpc>
              <a:buNone/>
            </a:pPr>
            <a:r>
              <a:rPr lang="en-US" sz="2800" dirty="0">
                <a:highlight>
                  <a:srgbClr val="FFFF00"/>
                </a:highlight>
                <a:latin typeface="Calibir"/>
              </a:rPr>
              <a:t>        int stock) {</a:t>
            </a:r>
          </a:p>
          <a:p>
            <a:pPr rtl="0">
              <a:lnSpc>
                <a:spcPct val="150000"/>
              </a:lnSpc>
              <a:buNone/>
            </a:pPr>
            <a:r>
              <a:rPr lang="en-US" sz="2800" dirty="0">
                <a:highlight>
                  <a:srgbClr val="FFFF00"/>
                </a:highlight>
                <a:latin typeface="Calibir"/>
              </a:rPr>
              <a:t>    </a:t>
            </a:r>
            <a:r>
              <a:rPr lang="en-US" sz="2800" dirty="0" err="1">
                <a:highlight>
                  <a:srgbClr val="FFFF00"/>
                </a:highlight>
                <a:latin typeface="Calibir"/>
              </a:rPr>
              <a:t>this.type</a:t>
            </a:r>
            <a:r>
              <a:rPr lang="en-US" sz="2800" dirty="0">
                <a:highlight>
                  <a:srgbClr val="FFFF00"/>
                </a:highlight>
                <a:latin typeface="Calibir"/>
              </a:rPr>
              <a:t> = type;</a:t>
            </a:r>
          </a:p>
          <a:p>
            <a:pPr rtl="0">
              <a:lnSpc>
                <a:spcPct val="150000"/>
              </a:lnSpc>
              <a:buNone/>
            </a:pPr>
            <a:r>
              <a:rPr lang="en-US" sz="2800" dirty="0">
                <a:highlight>
                  <a:srgbClr val="FFFF00"/>
                </a:highlight>
                <a:latin typeface="Calibir"/>
              </a:rPr>
              <a:t>    </a:t>
            </a:r>
            <a:r>
              <a:rPr lang="en-US" sz="2800" dirty="0" err="1">
                <a:highlight>
                  <a:srgbClr val="FFFF00"/>
                </a:highlight>
                <a:latin typeface="Calibir"/>
              </a:rPr>
              <a:t>this.price</a:t>
            </a:r>
            <a:r>
              <a:rPr lang="en-US" sz="2800" dirty="0">
                <a:highlight>
                  <a:srgbClr val="FFFF00"/>
                </a:highlight>
                <a:latin typeface="Calibir"/>
              </a:rPr>
              <a:t> = price;</a:t>
            </a:r>
          </a:p>
          <a:p>
            <a:pPr rtl="0">
              <a:lnSpc>
                <a:spcPct val="150000"/>
              </a:lnSpc>
              <a:buNone/>
            </a:pPr>
            <a:r>
              <a:rPr lang="en-US" sz="2800" dirty="0">
                <a:highlight>
                  <a:srgbClr val="FFFF00"/>
                </a:highlight>
                <a:latin typeface="Calibir"/>
              </a:rPr>
              <a:t>    </a:t>
            </a:r>
            <a:r>
              <a:rPr lang="en-US" sz="2800" dirty="0" err="1">
                <a:highlight>
                  <a:srgbClr val="FFFF00"/>
                </a:highlight>
                <a:latin typeface="Calibir"/>
              </a:rPr>
              <a:t>this.stock</a:t>
            </a:r>
            <a:r>
              <a:rPr lang="en-US" sz="2800" dirty="0">
                <a:highlight>
                  <a:srgbClr val="FFFF00"/>
                </a:highlight>
                <a:latin typeface="Calibir"/>
              </a:rPr>
              <a:t> = stock;</a:t>
            </a:r>
          </a:p>
          <a:p>
            <a:pPr rtl="0">
              <a:lnSpc>
                <a:spcPct val="150000"/>
              </a:lnSpc>
              <a:buNone/>
            </a:pPr>
            <a:r>
              <a:rPr lang="en-US" sz="2800" dirty="0">
                <a:highlight>
                  <a:srgbClr val="FFFF00"/>
                </a:highlight>
                <a:latin typeface="Calibir"/>
              </a:rPr>
              <a:t>}</a:t>
            </a:r>
          </a:p>
        </p:txBody>
      </p:sp>
    </p:spTree>
    <p:extLst>
      <p:ext uri="{BB962C8B-B14F-4D97-AF65-F5344CB8AC3E}">
        <p14:creationId xmlns:p14="http://schemas.microsoft.com/office/powerpoint/2010/main" val="130966434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83A32139-E8AA-749D-AB7E-9FA20CFE560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69BD056-6109-D1B4-7F7D-BA0F23D861B8}"/>
              </a:ext>
            </a:extLst>
          </p:cNvPr>
          <p:cNvSpPr txBox="1"/>
          <p:nvPr/>
        </p:nvSpPr>
        <p:spPr>
          <a:xfrm>
            <a:off x="0" y="505122"/>
            <a:ext cx="9147687" cy="5847755"/>
          </a:xfrm>
          <a:prstGeom prst="rect">
            <a:avLst/>
          </a:prstGeom>
          <a:noFill/>
        </p:spPr>
        <p:txBody>
          <a:bodyPr wrap="square">
            <a:spAutoFit/>
          </a:bodyPr>
          <a:lstStyle/>
          <a:p>
            <a:r>
              <a:rPr lang="en-US" sz="2200" dirty="0">
                <a:latin typeface="Calibir"/>
              </a:rPr>
              <a:t>Second constructor:</a:t>
            </a:r>
          </a:p>
          <a:p>
            <a:r>
              <a:rPr lang="en-US" sz="2200" dirty="0">
                <a:highlight>
                  <a:srgbClr val="FFFF00"/>
                </a:highlight>
                <a:latin typeface="Calibir"/>
              </a:rPr>
              <a:t>public Product(</a:t>
            </a:r>
          </a:p>
          <a:p>
            <a:r>
              <a:rPr lang="en-US" sz="2200" dirty="0">
                <a:highlight>
                  <a:srgbClr val="FFFF00"/>
                </a:highlight>
                <a:latin typeface="Calibir"/>
              </a:rPr>
              <a:t>        Scanner input) {</a:t>
            </a:r>
          </a:p>
          <a:p>
            <a:r>
              <a:rPr lang="en-US" sz="2200" dirty="0">
                <a:highlight>
                  <a:srgbClr val="FFFF00"/>
                </a:highlight>
                <a:latin typeface="Calibir"/>
              </a:rPr>
              <a:t>    </a:t>
            </a:r>
            <a:r>
              <a:rPr lang="en-US" sz="2200" dirty="0" err="1">
                <a:highlight>
                  <a:srgbClr val="FFFF00"/>
                </a:highlight>
                <a:latin typeface="Calibir"/>
              </a:rPr>
              <a:t>System.out.print</a:t>
            </a:r>
            <a:r>
              <a:rPr lang="en-US" sz="2200" dirty="0">
                <a:highlight>
                  <a:srgbClr val="FFFF00"/>
                </a:highlight>
                <a:latin typeface="Calibir"/>
              </a:rPr>
              <a:t>(</a:t>
            </a:r>
          </a:p>
          <a:p>
            <a:r>
              <a:rPr lang="en-US" sz="2200" dirty="0">
                <a:highlight>
                  <a:srgbClr val="FFFF00"/>
                </a:highlight>
                <a:latin typeface="Calibir"/>
              </a:rPr>
              <a:t>        "Product type: "</a:t>
            </a:r>
          </a:p>
          <a:p>
            <a:r>
              <a:rPr lang="en-US" sz="2200" dirty="0">
                <a:highlight>
                  <a:srgbClr val="FFFF00"/>
                </a:highlight>
                <a:latin typeface="Calibir"/>
              </a:rPr>
              <a:t>    );</a:t>
            </a:r>
          </a:p>
          <a:p>
            <a:r>
              <a:rPr lang="en-US" sz="2200" dirty="0">
                <a:highlight>
                  <a:srgbClr val="FFFF00"/>
                </a:highlight>
                <a:latin typeface="Calibir"/>
              </a:rPr>
              <a:t>    type = </a:t>
            </a:r>
            <a:r>
              <a:rPr lang="en-US" sz="2200" dirty="0" err="1">
                <a:highlight>
                  <a:srgbClr val="FFFF00"/>
                </a:highlight>
                <a:latin typeface="Calibir"/>
              </a:rPr>
              <a:t>input.nextLine</a:t>
            </a:r>
            <a:r>
              <a:rPr lang="en-US" sz="2200" dirty="0">
                <a:highlight>
                  <a:srgbClr val="FFFF00"/>
                </a:highlight>
                <a:latin typeface="Calibir"/>
              </a:rPr>
              <a:t>();</a:t>
            </a:r>
          </a:p>
          <a:p>
            <a:r>
              <a:rPr lang="en-US" sz="2200" dirty="0">
                <a:highlight>
                  <a:srgbClr val="FFFF00"/>
                </a:highlight>
                <a:latin typeface="Calibir"/>
              </a:rPr>
              <a:t>    </a:t>
            </a:r>
            <a:r>
              <a:rPr lang="en-US" sz="2200" dirty="0" err="1">
                <a:highlight>
                  <a:srgbClr val="FFFF00"/>
                </a:highlight>
                <a:latin typeface="Calibir"/>
              </a:rPr>
              <a:t>System.out.print</a:t>
            </a:r>
            <a:r>
              <a:rPr lang="en-US" sz="2200" dirty="0">
                <a:highlight>
                  <a:srgbClr val="FFFF00"/>
                </a:highlight>
                <a:latin typeface="Calibir"/>
              </a:rPr>
              <a:t>(</a:t>
            </a:r>
          </a:p>
          <a:p>
            <a:r>
              <a:rPr lang="en-US" sz="2200" dirty="0">
                <a:highlight>
                  <a:srgbClr val="FFFF00"/>
                </a:highlight>
                <a:latin typeface="Calibir"/>
              </a:rPr>
              <a:t>        "Product price: $"</a:t>
            </a:r>
          </a:p>
          <a:p>
            <a:r>
              <a:rPr lang="en-US" sz="2200" dirty="0">
                <a:highlight>
                  <a:srgbClr val="FFFF00"/>
                </a:highlight>
                <a:latin typeface="Calibir"/>
              </a:rPr>
              <a:t>    );</a:t>
            </a:r>
          </a:p>
          <a:p>
            <a:r>
              <a:rPr lang="en-US" sz="2200" dirty="0">
                <a:highlight>
                  <a:srgbClr val="FFFF00"/>
                </a:highlight>
                <a:latin typeface="Calibir"/>
              </a:rPr>
              <a:t>    price = </a:t>
            </a:r>
            <a:r>
              <a:rPr lang="en-US" sz="2200" dirty="0" err="1">
                <a:highlight>
                  <a:srgbClr val="FFFF00"/>
                </a:highlight>
                <a:latin typeface="Calibir"/>
              </a:rPr>
              <a:t>input.nextDouble</a:t>
            </a:r>
            <a:r>
              <a:rPr lang="en-US" sz="2200" dirty="0">
                <a:highlight>
                  <a:srgbClr val="FFFF00"/>
                </a:highlight>
                <a:latin typeface="Calibir"/>
              </a:rPr>
              <a:t>();</a:t>
            </a:r>
          </a:p>
          <a:p>
            <a:r>
              <a:rPr lang="en-US" sz="2200" dirty="0">
                <a:highlight>
                  <a:srgbClr val="FFFF00"/>
                </a:highlight>
                <a:latin typeface="Calibir"/>
              </a:rPr>
              <a:t>    </a:t>
            </a:r>
            <a:r>
              <a:rPr lang="en-US" sz="2200" dirty="0" err="1">
                <a:highlight>
                  <a:srgbClr val="FFFF00"/>
                </a:highlight>
                <a:latin typeface="Calibir"/>
              </a:rPr>
              <a:t>System.out.print</a:t>
            </a:r>
            <a:r>
              <a:rPr lang="en-US" sz="2200" dirty="0">
                <a:highlight>
                  <a:srgbClr val="FFFF00"/>
                </a:highlight>
                <a:latin typeface="Calibir"/>
              </a:rPr>
              <a:t>(</a:t>
            </a:r>
          </a:p>
          <a:p>
            <a:r>
              <a:rPr lang="en-US" sz="2200" dirty="0">
                <a:highlight>
                  <a:srgbClr val="FFFF00"/>
                </a:highlight>
                <a:latin typeface="Calibir"/>
              </a:rPr>
              <a:t>        "Initial stock: "</a:t>
            </a:r>
          </a:p>
          <a:p>
            <a:r>
              <a:rPr lang="en-US" sz="2200" dirty="0">
                <a:highlight>
                  <a:srgbClr val="FFFF00"/>
                </a:highlight>
                <a:latin typeface="Calibir"/>
              </a:rPr>
              <a:t>    );</a:t>
            </a:r>
          </a:p>
          <a:p>
            <a:r>
              <a:rPr lang="en-US" sz="2200" dirty="0">
                <a:highlight>
                  <a:srgbClr val="FFFF00"/>
                </a:highlight>
                <a:latin typeface="Calibir"/>
              </a:rPr>
              <a:t>    stock = </a:t>
            </a:r>
            <a:r>
              <a:rPr lang="en-US" sz="2200" dirty="0" err="1">
                <a:highlight>
                  <a:srgbClr val="FFFF00"/>
                </a:highlight>
                <a:latin typeface="Calibir"/>
              </a:rPr>
              <a:t>input.nextInt</a:t>
            </a:r>
            <a:r>
              <a:rPr lang="en-US" sz="2200" dirty="0">
                <a:highlight>
                  <a:srgbClr val="FFFF00"/>
                </a:highlight>
                <a:latin typeface="Calibir"/>
              </a:rPr>
              <a:t>();</a:t>
            </a:r>
          </a:p>
          <a:p>
            <a:r>
              <a:rPr lang="en-US" sz="2200" dirty="0">
                <a:highlight>
                  <a:srgbClr val="FFFF00"/>
                </a:highlight>
                <a:latin typeface="Calibir"/>
              </a:rPr>
              <a:t>    </a:t>
            </a:r>
            <a:r>
              <a:rPr lang="en-US" sz="2200" dirty="0" err="1">
                <a:highlight>
                  <a:srgbClr val="FFFF00"/>
                </a:highlight>
                <a:latin typeface="Calibir"/>
              </a:rPr>
              <a:t>input.nextLine</a:t>
            </a:r>
            <a:r>
              <a:rPr lang="en-US" sz="2200" dirty="0">
                <a:highlight>
                  <a:srgbClr val="FFFF00"/>
                </a:highlight>
                <a:latin typeface="Calibir"/>
              </a:rPr>
              <a:t>();</a:t>
            </a:r>
          </a:p>
          <a:p>
            <a:r>
              <a:rPr lang="en-US" sz="2200" dirty="0">
                <a:highlight>
                  <a:srgbClr val="FFFF00"/>
                </a:highlight>
                <a:latin typeface="Calibir"/>
              </a:rPr>
              <a:t>}</a:t>
            </a:r>
          </a:p>
        </p:txBody>
      </p:sp>
    </p:spTree>
    <p:extLst>
      <p:ext uri="{BB962C8B-B14F-4D97-AF65-F5344CB8AC3E}">
        <p14:creationId xmlns:p14="http://schemas.microsoft.com/office/powerpoint/2010/main" val="48749231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730D128C-7668-F22F-139B-990B45F4594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B1A4819-0068-41FC-907F-77422A8ACC5C}"/>
              </a:ext>
            </a:extLst>
          </p:cNvPr>
          <p:cNvSpPr txBox="1"/>
          <p:nvPr/>
        </p:nvSpPr>
        <p:spPr>
          <a:xfrm>
            <a:off x="129048" y="0"/>
            <a:ext cx="6098458" cy="5842497"/>
          </a:xfrm>
          <a:prstGeom prst="rect">
            <a:avLst/>
          </a:prstGeom>
          <a:noFill/>
        </p:spPr>
        <p:txBody>
          <a:bodyPr wrap="square">
            <a:spAutoFit/>
          </a:bodyPr>
          <a:lstStyle/>
          <a:p>
            <a:pPr>
              <a:lnSpc>
                <a:spcPct val="150000"/>
              </a:lnSpc>
              <a:buNone/>
            </a:pPr>
            <a:r>
              <a:rPr lang="en-US" sz="2800" b="1" dirty="0">
                <a:latin typeface="Calibir"/>
              </a:rPr>
              <a:t>Step 2 — Product </a:t>
            </a:r>
            <a:r>
              <a:rPr lang="en-US" sz="2800" b="1" dirty="0" err="1">
                <a:latin typeface="Calibir"/>
              </a:rPr>
              <a:t>isEmpty</a:t>
            </a:r>
            <a:r>
              <a:rPr lang="en-US" sz="2800" b="1" dirty="0">
                <a:latin typeface="Calibir"/>
              </a:rPr>
              <a:t>()</a:t>
            </a:r>
          </a:p>
          <a:p>
            <a:pPr>
              <a:lnSpc>
                <a:spcPct val="150000"/>
              </a:lnSpc>
              <a:buNone/>
            </a:pPr>
            <a:r>
              <a:rPr lang="en-US" sz="2800" b="1" dirty="0">
                <a:latin typeface="Calibir"/>
              </a:rPr>
              <a:t>Python</a:t>
            </a:r>
          </a:p>
          <a:p>
            <a:pPr rtl="0">
              <a:lnSpc>
                <a:spcPct val="150000"/>
              </a:lnSpc>
              <a:buNone/>
            </a:pPr>
            <a:r>
              <a:rPr lang="en-US" sz="2800" dirty="0">
                <a:highlight>
                  <a:srgbClr val="FFFF00"/>
                </a:highlight>
                <a:latin typeface="Calibir"/>
              </a:rPr>
              <a:t>def </a:t>
            </a:r>
            <a:r>
              <a:rPr lang="en-US" sz="2800" dirty="0" err="1">
                <a:highlight>
                  <a:srgbClr val="FFFF00"/>
                </a:highlight>
                <a:latin typeface="Calibir"/>
              </a:rPr>
              <a:t>is_empty</a:t>
            </a:r>
            <a:r>
              <a:rPr lang="en-US" sz="2800" dirty="0">
                <a:highlight>
                  <a:srgbClr val="FFFF00"/>
                </a:highlight>
                <a:latin typeface="Calibir"/>
              </a:rPr>
              <a:t>(self):</a:t>
            </a:r>
          </a:p>
          <a:p>
            <a:pPr rtl="0">
              <a:lnSpc>
                <a:spcPct val="150000"/>
              </a:lnSpc>
              <a:buNone/>
            </a:pPr>
            <a:r>
              <a:rPr lang="en-US" sz="2800" dirty="0">
                <a:highlight>
                  <a:srgbClr val="FFFF00"/>
                </a:highlight>
                <a:latin typeface="Calibir"/>
              </a:rPr>
              <a:t>    return </a:t>
            </a:r>
            <a:r>
              <a:rPr lang="en-US" sz="2800" dirty="0" err="1">
                <a:highlight>
                  <a:srgbClr val="FFFF00"/>
                </a:highlight>
                <a:latin typeface="Calibir"/>
              </a:rPr>
              <a:t>self.stock</a:t>
            </a:r>
            <a:r>
              <a:rPr lang="en-US" sz="2800" dirty="0">
                <a:highlight>
                  <a:srgbClr val="FFFF00"/>
                </a:highlight>
                <a:latin typeface="Calibir"/>
              </a:rPr>
              <a:t> == 0</a:t>
            </a:r>
          </a:p>
          <a:p>
            <a:pPr>
              <a:lnSpc>
                <a:spcPct val="150000"/>
              </a:lnSpc>
              <a:buNone/>
            </a:pPr>
            <a:endParaRPr lang="en-US" sz="2800" dirty="0">
              <a:latin typeface="Calibir"/>
            </a:endParaRPr>
          </a:p>
          <a:p>
            <a:pPr>
              <a:lnSpc>
                <a:spcPct val="150000"/>
              </a:lnSpc>
              <a:buNone/>
            </a:pPr>
            <a:r>
              <a:rPr lang="en-US" sz="2800" b="1" dirty="0">
                <a:latin typeface="Calibir"/>
              </a:rPr>
              <a:t>Java</a:t>
            </a:r>
          </a:p>
          <a:p>
            <a:pPr rtl="0">
              <a:lnSpc>
                <a:spcPct val="150000"/>
              </a:lnSpc>
              <a:buNone/>
            </a:pPr>
            <a:r>
              <a:rPr lang="en-US" sz="2800" dirty="0">
                <a:latin typeface="Calibir"/>
              </a:rPr>
              <a:t>public </a:t>
            </a:r>
            <a:r>
              <a:rPr lang="en-US" sz="2800" dirty="0" err="1">
                <a:latin typeface="Calibir"/>
              </a:rPr>
              <a:t>boolean</a:t>
            </a:r>
            <a:r>
              <a:rPr lang="en-US" sz="2800" dirty="0">
                <a:latin typeface="Calibir"/>
              </a:rPr>
              <a:t> </a:t>
            </a:r>
            <a:r>
              <a:rPr lang="en-US" sz="2800" dirty="0" err="1">
                <a:latin typeface="Calibir"/>
              </a:rPr>
              <a:t>isEmpty</a:t>
            </a:r>
            <a:r>
              <a:rPr lang="en-US" sz="2800" dirty="0">
                <a:latin typeface="Calibir"/>
              </a:rPr>
              <a:t>() {</a:t>
            </a:r>
          </a:p>
          <a:p>
            <a:pPr rtl="0">
              <a:lnSpc>
                <a:spcPct val="150000"/>
              </a:lnSpc>
              <a:buNone/>
            </a:pPr>
            <a:r>
              <a:rPr lang="en-US" sz="2800" dirty="0">
                <a:latin typeface="Calibir"/>
              </a:rPr>
              <a:t>    return stock == 0;</a:t>
            </a:r>
          </a:p>
          <a:p>
            <a:pPr rtl="0">
              <a:lnSpc>
                <a:spcPct val="150000"/>
              </a:lnSpc>
              <a:buNone/>
            </a:pPr>
            <a:r>
              <a:rPr lang="en-US" sz="2800" dirty="0">
                <a:latin typeface="Calibir"/>
              </a:rPr>
              <a:t>}</a:t>
            </a:r>
          </a:p>
        </p:txBody>
      </p:sp>
    </p:spTree>
    <p:extLst>
      <p:ext uri="{BB962C8B-B14F-4D97-AF65-F5344CB8AC3E}">
        <p14:creationId xmlns:p14="http://schemas.microsoft.com/office/powerpoint/2010/main" val="207139823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5EA4B09C-3AAE-2A28-F404-3ED6AEAFE2F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D0D1295-6E2F-00FB-7E1C-7D902B8970E8}"/>
              </a:ext>
            </a:extLst>
          </p:cNvPr>
          <p:cNvSpPr txBox="1"/>
          <p:nvPr/>
        </p:nvSpPr>
        <p:spPr>
          <a:xfrm>
            <a:off x="-2458" y="0"/>
            <a:ext cx="6098458" cy="6488828"/>
          </a:xfrm>
          <a:prstGeom prst="rect">
            <a:avLst/>
          </a:prstGeom>
          <a:noFill/>
        </p:spPr>
        <p:txBody>
          <a:bodyPr wrap="square">
            <a:spAutoFit/>
          </a:bodyPr>
          <a:lstStyle/>
          <a:p>
            <a:pPr>
              <a:lnSpc>
                <a:spcPct val="150000"/>
              </a:lnSpc>
              <a:buNone/>
            </a:pPr>
            <a:r>
              <a:rPr lang="en-US" sz="2800" b="1" dirty="0">
                <a:latin typeface="Calibir"/>
              </a:rPr>
              <a:t>Step 3 — Product has(quantity)</a:t>
            </a:r>
          </a:p>
          <a:p>
            <a:pPr>
              <a:lnSpc>
                <a:spcPct val="150000"/>
              </a:lnSpc>
              <a:buNone/>
            </a:pPr>
            <a:r>
              <a:rPr lang="en-US" sz="2800" b="1" dirty="0">
                <a:latin typeface="Calibir"/>
              </a:rPr>
              <a:t>Python</a:t>
            </a:r>
          </a:p>
          <a:p>
            <a:pPr rtl="0">
              <a:lnSpc>
                <a:spcPct val="150000"/>
              </a:lnSpc>
              <a:buNone/>
            </a:pPr>
            <a:r>
              <a:rPr lang="en-US" sz="2800" dirty="0">
                <a:highlight>
                  <a:srgbClr val="FFFF00"/>
                </a:highlight>
                <a:latin typeface="Calibir"/>
              </a:rPr>
              <a:t>def has(self, quantity):</a:t>
            </a:r>
          </a:p>
          <a:p>
            <a:pPr rtl="0">
              <a:lnSpc>
                <a:spcPct val="150000"/>
              </a:lnSpc>
              <a:buNone/>
            </a:pPr>
            <a:r>
              <a:rPr lang="en-US" sz="2800" dirty="0">
                <a:highlight>
                  <a:srgbClr val="FFFF00"/>
                </a:highlight>
                <a:latin typeface="Calibir"/>
              </a:rPr>
              <a:t>    return </a:t>
            </a:r>
            <a:r>
              <a:rPr lang="en-US" sz="2800" dirty="0" err="1">
                <a:highlight>
                  <a:srgbClr val="FFFF00"/>
                </a:highlight>
                <a:latin typeface="Calibir"/>
              </a:rPr>
              <a:t>self.stock</a:t>
            </a:r>
            <a:r>
              <a:rPr lang="en-US" sz="2800" dirty="0">
                <a:highlight>
                  <a:srgbClr val="FFFF00"/>
                </a:highlight>
                <a:latin typeface="Calibir"/>
              </a:rPr>
              <a:t> &gt;= quantity</a:t>
            </a:r>
          </a:p>
          <a:p>
            <a:pPr>
              <a:lnSpc>
                <a:spcPct val="150000"/>
              </a:lnSpc>
              <a:buNone/>
            </a:pPr>
            <a:r>
              <a:rPr lang="en-US" sz="2800" b="1" dirty="0">
                <a:latin typeface="Calibir"/>
              </a:rPr>
              <a:t>Java</a:t>
            </a:r>
          </a:p>
          <a:p>
            <a:pPr rtl="0">
              <a:lnSpc>
                <a:spcPct val="150000"/>
              </a:lnSpc>
              <a:buNone/>
            </a:pPr>
            <a:r>
              <a:rPr lang="en-US" sz="2800" dirty="0">
                <a:latin typeface="Calibir"/>
              </a:rPr>
              <a:t>public </a:t>
            </a:r>
            <a:r>
              <a:rPr lang="en-US" sz="2800" dirty="0" err="1">
                <a:latin typeface="Calibir"/>
              </a:rPr>
              <a:t>boolean</a:t>
            </a:r>
            <a:r>
              <a:rPr lang="en-US" sz="2800" dirty="0">
                <a:latin typeface="Calibir"/>
              </a:rPr>
              <a:t> has(</a:t>
            </a:r>
          </a:p>
          <a:p>
            <a:pPr rtl="0">
              <a:lnSpc>
                <a:spcPct val="150000"/>
              </a:lnSpc>
              <a:buNone/>
            </a:pPr>
            <a:r>
              <a:rPr lang="en-US" sz="2800" dirty="0">
                <a:latin typeface="Calibir"/>
              </a:rPr>
              <a:t>        int quantity) {</a:t>
            </a:r>
          </a:p>
          <a:p>
            <a:pPr rtl="0">
              <a:lnSpc>
                <a:spcPct val="150000"/>
              </a:lnSpc>
              <a:buNone/>
            </a:pPr>
            <a:endParaRPr lang="en-US" sz="2800" dirty="0">
              <a:latin typeface="Calibir"/>
            </a:endParaRPr>
          </a:p>
          <a:p>
            <a:pPr rtl="0">
              <a:lnSpc>
                <a:spcPct val="150000"/>
              </a:lnSpc>
              <a:buNone/>
            </a:pPr>
            <a:r>
              <a:rPr lang="en-US" sz="2800" dirty="0">
                <a:latin typeface="Calibir"/>
              </a:rPr>
              <a:t>    return stock &gt;= quantity;</a:t>
            </a:r>
          </a:p>
          <a:p>
            <a:pPr rtl="0">
              <a:lnSpc>
                <a:spcPct val="150000"/>
              </a:lnSpc>
              <a:buNone/>
            </a:pPr>
            <a:r>
              <a:rPr lang="en-US" sz="2800" dirty="0">
                <a:latin typeface="Calibir"/>
              </a:rPr>
              <a:t>}</a:t>
            </a:r>
          </a:p>
        </p:txBody>
      </p:sp>
    </p:spTree>
    <p:extLst>
      <p:ext uri="{BB962C8B-B14F-4D97-AF65-F5344CB8AC3E}">
        <p14:creationId xmlns:p14="http://schemas.microsoft.com/office/powerpoint/2010/main" val="177466276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A4B35547-8FE1-6E07-ED9D-C6965A2757F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DEA8019-ACB2-990F-3384-06296314E999}"/>
              </a:ext>
            </a:extLst>
          </p:cNvPr>
          <p:cNvSpPr txBox="1"/>
          <p:nvPr/>
        </p:nvSpPr>
        <p:spPr>
          <a:xfrm>
            <a:off x="-2458" y="0"/>
            <a:ext cx="6098458" cy="3903504"/>
          </a:xfrm>
          <a:prstGeom prst="rect">
            <a:avLst/>
          </a:prstGeom>
          <a:noFill/>
        </p:spPr>
        <p:txBody>
          <a:bodyPr wrap="square">
            <a:spAutoFit/>
          </a:bodyPr>
          <a:lstStyle/>
          <a:p>
            <a:pPr>
              <a:lnSpc>
                <a:spcPct val="150000"/>
              </a:lnSpc>
            </a:pPr>
            <a:r>
              <a:rPr lang="en-US" sz="2800" b="1" dirty="0">
                <a:latin typeface="Calibir"/>
              </a:rPr>
              <a:t>Step 4 — Product cash(quantity)</a:t>
            </a:r>
          </a:p>
          <a:p>
            <a:pPr>
              <a:lnSpc>
                <a:spcPct val="150000"/>
              </a:lnSpc>
            </a:pPr>
            <a:r>
              <a:rPr lang="en-US" sz="2800" dirty="0">
                <a:latin typeface="Calibir"/>
              </a:rPr>
              <a:t>Cash value of a sale is:</a:t>
            </a:r>
          </a:p>
          <a:p>
            <a:pPr>
              <a:lnSpc>
                <a:spcPct val="150000"/>
              </a:lnSpc>
            </a:pPr>
            <a:r>
              <a:rPr lang="en-US" sz="2800" dirty="0">
                <a:latin typeface="Calibir"/>
              </a:rPr>
              <a:t>price × quantity</a:t>
            </a:r>
          </a:p>
          <a:p>
            <a:pPr>
              <a:lnSpc>
                <a:spcPct val="150000"/>
              </a:lnSpc>
            </a:pPr>
            <a:r>
              <a:rPr lang="en-US" sz="2800" b="1" dirty="0">
                <a:latin typeface="Calibir"/>
              </a:rPr>
              <a:t>Python</a:t>
            </a:r>
          </a:p>
          <a:p>
            <a:pPr>
              <a:lnSpc>
                <a:spcPct val="150000"/>
              </a:lnSpc>
            </a:pPr>
            <a:r>
              <a:rPr lang="en-US" sz="2800" dirty="0">
                <a:highlight>
                  <a:srgbClr val="FFFF00"/>
                </a:highlight>
                <a:latin typeface="Calibir"/>
              </a:rPr>
              <a:t>def cash(self, quantity):</a:t>
            </a:r>
          </a:p>
          <a:p>
            <a:pPr>
              <a:lnSpc>
                <a:spcPct val="150000"/>
              </a:lnSpc>
            </a:pPr>
            <a:r>
              <a:rPr lang="en-US" sz="2800" dirty="0">
                <a:highlight>
                  <a:srgbClr val="FFFF00"/>
                </a:highlight>
                <a:latin typeface="Calibir"/>
              </a:rPr>
              <a:t>    return </a:t>
            </a:r>
            <a:r>
              <a:rPr lang="en-US" sz="2800" dirty="0" err="1">
                <a:highlight>
                  <a:srgbClr val="FFFF00"/>
                </a:highlight>
                <a:latin typeface="Calibir"/>
              </a:rPr>
              <a:t>self.price</a:t>
            </a:r>
            <a:r>
              <a:rPr lang="en-US" sz="2800" dirty="0">
                <a:highlight>
                  <a:srgbClr val="FFFF00"/>
                </a:highlight>
                <a:latin typeface="Calibir"/>
              </a:rPr>
              <a:t> * quantity</a:t>
            </a:r>
          </a:p>
        </p:txBody>
      </p:sp>
      <p:sp>
        <p:nvSpPr>
          <p:cNvPr id="6" name="TextBox 5">
            <a:extLst>
              <a:ext uri="{FF2B5EF4-FFF2-40B4-BE49-F238E27FC236}">
                <a16:creationId xmlns:a16="http://schemas.microsoft.com/office/drawing/2014/main" id="{63E6ABBE-F61C-81EB-C475-EB89105484C7}"/>
              </a:ext>
            </a:extLst>
          </p:cNvPr>
          <p:cNvSpPr txBox="1"/>
          <p:nvPr/>
        </p:nvSpPr>
        <p:spPr>
          <a:xfrm>
            <a:off x="6459794" y="0"/>
            <a:ext cx="6164824" cy="3903504"/>
          </a:xfrm>
          <a:prstGeom prst="rect">
            <a:avLst/>
          </a:prstGeom>
          <a:noFill/>
        </p:spPr>
        <p:txBody>
          <a:bodyPr wrap="square">
            <a:spAutoFit/>
          </a:bodyPr>
          <a:lstStyle/>
          <a:p>
            <a:pPr>
              <a:lnSpc>
                <a:spcPct val="150000"/>
              </a:lnSpc>
              <a:buNone/>
            </a:pPr>
            <a:r>
              <a:rPr lang="en-US" sz="2800" b="1" dirty="0">
                <a:latin typeface="Calibir"/>
              </a:rPr>
              <a:t>Java</a:t>
            </a:r>
          </a:p>
          <a:p>
            <a:pPr rtl="0">
              <a:lnSpc>
                <a:spcPct val="150000"/>
              </a:lnSpc>
              <a:buNone/>
            </a:pPr>
            <a:r>
              <a:rPr lang="en-US" sz="2800" dirty="0">
                <a:highlight>
                  <a:srgbClr val="FFFF00"/>
                </a:highlight>
                <a:latin typeface="Calibir"/>
              </a:rPr>
              <a:t>public double cash(</a:t>
            </a:r>
          </a:p>
          <a:p>
            <a:pPr rtl="0">
              <a:lnSpc>
                <a:spcPct val="150000"/>
              </a:lnSpc>
              <a:buNone/>
            </a:pPr>
            <a:r>
              <a:rPr lang="en-US" sz="2800" dirty="0">
                <a:highlight>
                  <a:srgbClr val="FFFF00"/>
                </a:highlight>
                <a:latin typeface="Calibir"/>
              </a:rPr>
              <a:t>        int quantity) {</a:t>
            </a:r>
          </a:p>
          <a:p>
            <a:pPr rtl="0">
              <a:lnSpc>
                <a:spcPct val="150000"/>
              </a:lnSpc>
              <a:buNone/>
            </a:pPr>
            <a:endParaRPr lang="en-US" sz="2800" dirty="0">
              <a:highlight>
                <a:srgbClr val="FFFF00"/>
              </a:highlight>
              <a:latin typeface="Calibir"/>
            </a:endParaRPr>
          </a:p>
          <a:p>
            <a:pPr rtl="0">
              <a:lnSpc>
                <a:spcPct val="150000"/>
              </a:lnSpc>
              <a:buNone/>
            </a:pPr>
            <a:r>
              <a:rPr lang="en-US" sz="2800" dirty="0">
                <a:highlight>
                  <a:srgbClr val="FFFF00"/>
                </a:highlight>
                <a:latin typeface="Calibir"/>
              </a:rPr>
              <a:t>    return price * quantity;</a:t>
            </a:r>
          </a:p>
          <a:p>
            <a:pPr rtl="0">
              <a:lnSpc>
                <a:spcPct val="150000"/>
              </a:lnSpc>
              <a:buNone/>
            </a:pPr>
            <a:r>
              <a:rPr lang="en-US" sz="2800" dirty="0">
                <a:highlight>
                  <a:srgbClr val="FFFF00"/>
                </a:highlight>
                <a:latin typeface="Calibir"/>
              </a:rPr>
              <a:t>}</a:t>
            </a:r>
          </a:p>
        </p:txBody>
      </p:sp>
    </p:spTree>
    <p:extLst>
      <p:ext uri="{BB962C8B-B14F-4D97-AF65-F5344CB8AC3E}">
        <p14:creationId xmlns:p14="http://schemas.microsoft.com/office/powerpoint/2010/main" val="333864503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36FCC9BC-CF3F-D08A-8D04-2045EABCEBB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0D42F30-B59E-EE7C-B62F-C25181BD0BC9}"/>
              </a:ext>
            </a:extLst>
          </p:cNvPr>
          <p:cNvSpPr txBox="1"/>
          <p:nvPr/>
        </p:nvSpPr>
        <p:spPr>
          <a:xfrm>
            <a:off x="-2458" y="0"/>
            <a:ext cx="6098458" cy="5196166"/>
          </a:xfrm>
          <a:prstGeom prst="rect">
            <a:avLst/>
          </a:prstGeom>
          <a:noFill/>
        </p:spPr>
        <p:txBody>
          <a:bodyPr wrap="square">
            <a:spAutoFit/>
          </a:bodyPr>
          <a:lstStyle/>
          <a:p>
            <a:pPr>
              <a:lnSpc>
                <a:spcPct val="150000"/>
              </a:lnSpc>
            </a:pPr>
            <a:r>
              <a:rPr lang="en-US" sz="2800" b="1" dirty="0">
                <a:latin typeface="Calibir"/>
              </a:rPr>
              <a:t>Step 5 — Product sold()</a:t>
            </a:r>
          </a:p>
          <a:p>
            <a:pPr>
              <a:lnSpc>
                <a:spcPct val="150000"/>
              </a:lnSpc>
            </a:pPr>
            <a:r>
              <a:rPr lang="en-US" sz="2800" dirty="0">
                <a:latin typeface="Calibir"/>
              </a:rPr>
              <a:t>When an item is sold:</a:t>
            </a:r>
          </a:p>
          <a:p>
            <a:pPr>
              <a:lnSpc>
                <a:spcPct val="150000"/>
              </a:lnSpc>
            </a:pPr>
            <a:r>
              <a:rPr lang="en-US" sz="2800" dirty="0">
                <a:latin typeface="Calibir"/>
              </a:rPr>
              <a:t>stock decreases</a:t>
            </a:r>
          </a:p>
          <a:p>
            <a:pPr>
              <a:lnSpc>
                <a:spcPct val="150000"/>
              </a:lnSpc>
            </a:pPr>
            <a:r>
              <a:rPr lang="en-US" sz="2800" dirty="0">
                <a:latin typeface="Calibir"/>
              </a:rPr>
              <a:t>cash earned is returned</a:t>
            </a:r>
          </a:p>
          <a:p>
            <a:pPr>
              <a:lnSpc>
                <a:spcPct val="150000"/>
              </a:lnSpc>
            </a:pPr>
            <a:r>
              <a:rPr lang="en-US" sz="2800" b="1" dirty="0">
                <a:latin typeface="Calibir"/>
              </a:rPr>
              <a:t>Python</a:t>
            </a:r>
          </a:p>
          <a:p>
            <a:pPr>
              <a:lnSpc>
                <a:spcPct val="150000"/>
              </a:lnSpc>
            </a:pPr>
            <a:r>
              <a:rPr lang="en-US" sz="2800" dirty="0">
                <a:highlight>
                  <a:srgbClr val="FFFF00"/>
                </a:highlight>
                <a:latin typeface="Calibir"/>
              </a:rPr>
              <a:t>def sold(self, quantity):</a:t>
            </a:r>
          </a:p>
          <a:p>
            <a:pPr>
              <a:lnSpc>
                <a:spcPct val="150000"/>
              </a:lnSpc>
            </a:pPr>
            <a:r>
              <a:rPr lang="en-US" sz="2800" dirty="0">
                <a:highlight>
                  <a:srgbClr val="FFFF00"/>
                </a:highlight>
                <a:latin typeface="Calibir"/>
              </a:rPr>
              <a:t>    </a:t>
            </a:r>
            <a:r>
              <a:rPr lang="en-US" sz="2800" dirty="0" err="1">
                <a:highlight>
                  <a:srgbClr val="FFFF00"/>
                </a:highlight>
                <a:latin typeface="Calibir"/>
              </a:rPr>
              <a:t>self.stock</a:t>
            </a:r>
            <a:r>
              <a:rPr lang="en-US" sz="2800" dirty="0">
                <a:highlight>
                  <a:srgbClr val="FFFF00"/>
                </a:highlight>
                <a:latin typeface="Calibir"/>
              </a:rPr>
              <a:t> -= quantity</a:t>
            </a:r>
          </a:p>
          <a:p>
            <a:pPr>
              <a:lnSpc>
                <a:spcPct val="150000"/>
              </a:lnSpc>
            </a:pPr>
            <a:r>
              <a:rPr lang="en-US" sz="2800" dirty="0">
                <a:highlight>
                  <a:srgbClr val="FFFF00"/>
                </a:highlight>
                <a:latin typeface="Calibir"/>
              </a:rPr>
              <a:t>    return </a:t>
            </a:r>
            <a:r>
              <a:rPr lang="en-US" sz="2800" dirty="0" err="1">
                <a:highlight>
                  <a:srgbClr val="FFFF00"/>
                </a:highlight>
                <a:latin typeface="Calibir"/>
              </a:rPr>
              <a:t>self.cash</a:t>
            </a:r>
            <a:r>
              <a:rPr lang="en-US" sz="2800" dirty="0">
                <a:highlight>
                  <a:srgbClr val="FFFF00"/>
                </a:highlight>
                <a:latin typeface="Calibir"/>
              </a:rPr>
              <a:t>(quantity)</a:t>
            </a:r>
          </a:p>
        </p:txBody>
      </p:sp>
      <p:sp>
        <p:nvSpPr>
          <p:cNvPr id="6" name="TextBox 5">
            <a:extLst>
              <a:ext uri="{FF2B5EF4-FFF2-40B4-BE49-F238E27FC236}">
                <a16:creationId xmlns:a16="http://schemas.microsoft.com/office/drawing/2014/main" id="{C0CBCFC8-5803-39AA-CD99-1D1298950AC5}"/>
              </a:ext>
            </a:extLst>
          </p:cNvPr>
          <p:cNvSpPr txBox="1"/>
          <p:nvPr/>
        </p:nvSpPr>
        <p:spPr>
          <a:xfrm>
            <a:off x="6459794" y="0"/>
            <a:ext cx="4365522" cy="4549835"/>
          </a:xfrm>
          <a:prstGeom prst="rect">
            <a:avLst/>
          </a:prstGeom>
          <a:noFill/>
        </p:spPr>
        <p:txBody>
          <a:bodyPr wrap="square">
            <a:spAutoFit/>
          </a:bodyPr>
          <a:lstStyle/>
          <a:p>
            <a:pPr>
              <a:lnSpc>
                <a:spcPct val="150000"/>
              </a:lnSpc>
            </a:pPr>
            <a:r>
              <a:rPr lang="en-US" sz="2800" b="1" dirty="0">
                <a:latin typeface="Calibir"/>
              </a:rPr>
              <a:t>Java</a:t>
            </a:r>
          </a:p>
          <a:p>
            <a:pPr>
              <a:lnSpc>
                <a:spcPct val="150000"/>
              </a:lnSpc>
            </a:pPr>
            <a:r>
              <a:rPr lang="en-US" sz="2800" dirty="0">
                <a:highlight>
                  <a:srgbClr val="FFFF00"/>
                </a:highlight>
                <a:latin typeface="Calibir"/>
              </a:rPr>
              <a:t>public double sold(</a:t>
            </a:r>
          </a:p>
          <a:p>
            <a:pPr>
              <a:lnSpc>
                <a:spcPct val="150000"/>
              </a:lnSpc>
            </a:pPr>
            <a:r>
              <a:rPr lang="en-US" sz="2800" dirty="0">
                <a:highlight>
                  <a:srgbClr val="FFFF00"/>
                </a:highlight>
                <a:latin typeface="Calibir"/>
              </a:rPr>
              <a:t>        int quantity) {</a:t>
            </a:r>
          </a:p>
          <a:p>
            <a:pPr>
              <a:lnSpc>
                <a:spcPct val="150000"/>
              </a:lnSpc>
            </a:pPr>
            <a:r>
              <a:rPr lang="en-US" sz="2800" dirty="0">
                <a:highlight>
                  <a:srgbClr val="FFFF00"/>
                </a:highlight>
                <a:latin typeface="Calibir"/>
              </a:rPr>
              <a:t>    stock -= quantity;</a:t>
            </a:r>
          </a:p>
          <a:p>
            <a:pPr>
              <a:lnSpc>
                <a:spcPct val="150000"/>
              </a:lnSpc>
            </a:pPr>
            <a:endParaRPr lang="en-US" sz="2800" dirty="0">
              <a:highlight>
                <a:srgbClr val="FFFF00"/>
              </a:highlight>
              <a:latin typeface="Calibir"/>
            </a:endParaRPr>
          </a:p>
          <a:p>
            <a:pPr>
              <a:lnSpc>
                <a:spcPct val="150000"/>
              </a:lnSpc>
            </a:pPr>
            <a:r>
              <a:rPr lang="en-US" sz="2800" dirty="0">
                <a:highlight>
                  <a:srgbClr val="FFFF00"/>
                </a:highlight>
                <a:latin typeface="Calibir"/>
              </a:rPr>
              <a:t>    return cash(quantity);</a:t>
            </a:r>
          </a:p>
          <a:p>
            <a:pPr>
              <a:lnSpc>
                <a:spcPct val="150000"/>
              </a:lnSpc>
            </a:pPr>
            <a:r>
              <a:rPr lang="en-US" sz="2800" dirty="0">
                <a:highlight>
                  <a:srgbClr val="FFFF00"/>
                </a:highlight>
                <a:latin typeface="Calibir"/>
              </a:rPr>
              <a:t>}</a:t>
            </a:r>
          </a:p>
        </p:txBody>
      </p:sp>
    </p:spTree>
    <p:extLst>
      <p:ext uri="{BB962C8B-B14F-4D97-AF65-F5344CB8AC3E}">
        <p14:creationId xmlns:p14="http://schemas.microsoft.com/office/powerpoint/2010/main" val="359226869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5AB64F6B-9F1A-3B70-7DBC-12ECC793975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42FBAF0-9632-ED13-7DF4-2226286361BF}"/>
              </a:ext>
            </a:extLst>
          </p:cNvPr>
          <p:cNvSpPr txBox="1"/>
          <p:nvPr/>
        </p:nvSpPr>
        <p:spPr>
          <a:xfrm>
            <a:off x="-2458" y="0"/>
            <a:ext cx="6098458" cy="6683048"/>
          </a:xfrm>
          <a:prstGeom prst="rect">
            <a:avLst/>
          </a:prstGeom>
          <a:noFill/>
        </p:spPr>
        <p:txBody>
          <a:bodyPr wrap="square">
            <a:spAutoFit/>
          </a:bodyPr>
          <a:lstStyle/>
          <a:p>
            <a:pPr>
              <a:lnSpc>
                <a:spcPct val="150000"/>
              </a:lnSpc>
            </a:pPr>
            <a:r>
              <a:rPr lang="en-US" sz="2400" b="1" dirty="0">
                <a:latin typeface="Calibir"/>
              </a:rPr>
              <a:t>Step 6 — Product stocked()</a:t>
            </a:r>
          </a:p>
          <a:p>
            <a:pPr>
              <a:lnSpc>
                <a:spcPct val="150000"/>
              </a:lnSpc>
            </a:pPr>
            <a:r>
              <a:rPr lang="en-US" sz="2400" dirty="0">
                <a:latin typeface="Calibir"/>
              </a:rPr>
              <a:t>Restocking:</a:t>
            </a:r>
          </a:p>
          <a:p>
            <a:pPr>
              <a:lnSpc>
                <a:spcPct val="150000"/>
              </a:lnSpc>
            </a:pPr>
            <a:r>
              <a:rPr lang="en-US" sz="2400" dirty="0">
                <a:highlight>
                  <a:srgbClr val="FFFF00"/>
                </a:highlight>
                <a:latin typeface="Calibir"/>
              </a:rPr>
              <a:t>stock increases</a:t>
            </a:r>
          </a:p>
          <a:p>
            <a:pPr>
              <a:lnSpc>
                <a:spcPct val="150000"/>
              </a:lnSpc>
            </a:pPr>
            <a:r>
              <a:rPr lang="en-US" sz="2400" dirty="0">
                <a:highlight>
                  <a:srgbClr val="FFFF00"/>
                </a:highlight>
                <a:latin typeface="Calibir"/>
              </a:rPr>
              <a:t>cost is returned</a:t>
            </a:r>
          </a:p>
          <a:p>
            <a:pPr>
              <a:lnSpc>
                <a:spcPct val="150000"/>
              </a:lnSpc>
            </a:pPr>
            <a:r>
              <a:rPr lang="en-US" sz="2400" dirty="0">
                <a:latin typeface="Calibir"/>
              </a:rPr>
              <a:t>We assume the restocking cost uses the same product price because the task does not specify a separate wholesale cost.</a:t>
            </a:r>
          </a:p>
          <a:p>
            <a:pPr>
              <a:lnSpc>
                <a:spcPct val="150000"/>
              </a:lnSpc>
            </a:pPr>
            <a:r>
              <a:rPr lang="en-US" sz="2400" b="1" dirty="0">
                <a:latin typeface="Calibir"/>
              </a:rPr>
              <a:t>Python</a:t>
            </a:r>
          </a:p>
          <a:p>
            <a:pPr>
              <a:lnSpc>
                <a:spcPct val="150000"/>
              </a:lnSpc>
            </a:pPr>
            <a:r>
              <a:rPr lang="en-US" sz="2400" dirty="0">
                <a:highlight>
                  <a:srgbClr val="FFFF00"/>
                </a:highlight>
                <a:latin typeface="Calibir"/>
              </a:rPr>
              <a:t>def stocked(self, quantity):</a:t>
            </a:r>
          </a:p>
          <a:p>
            <a:pPr>
              <a:lnSpc>
                <a:spcPct val="150000"/>
              </a:lnSpc>
            </a:pPr>
            <a:r>
              <a:rPr lang="en-US" sz="2400" dirty="0">
                <a:highlight>
                  <a:srgbClr val="FFFF00"/>
                </a:highlight>
                <a:latin typeface="Calibir"/>
              </a:rPr>
              <a:t>    cost = </a:t>
            </a:r>
            <a:r>
              <a:rPr lang="en-US" sz="2400" dirty="0" err="1">
                <a:highlight>
                  <a:srgbClr val="FFFF00"/>
                </a:highlight>
                <a:latin typeface="Calibir"/>
              </a:rPr>
              <a:t>self.cash</a:t>
            </a:r>
            <a:r>
              <a:rPr lang="en-US" sz="2400" dirty="0">
                <a:highlight>
                  <a:srgbClr val="FFFF00"/>
                </a:highlight>
                <a:latin typeface="Calibir"/>
              </a:rPr>
              <a:t>(quantity)</a:t>
            </a:r>
          </a:p>
          <a:p>
            <a:pPr>
              <a:lnSpc>
                <a:spcPct val="150000"/>
              </a:lnSpc>
            </a:pPr>
            <a:r>
              <a:rPr lang="en-US" sz="2400" dirty="0">
                <a:highlight>
                  <a:srgbClr val="FFFF00"/>
                </a:highlight>
                <a:latin typeface="Calibir"/>
              </a:rPr>
              <a:t>    </a:t>
            </a:r>
            <a:r>
              <a:rPr lang="en-US" sz="2400" dirty="0" err="1">
                <a:highlight>
                  <a:srgbClr val="FFFF00"/>
                </a:highlight>
                <a:latin typeface="Calibir"/>
              </a:rPr>
              <a:t>self.stock</a:t>
            </a:r>
            <a:r>
              <a:rPr lang="en-US" sz="2400" dirty="0">
                <a:highlight>
                  <a:srgbClr val="FFFF00"/>
                </a:highlight>
                <a:latin typeface="Calibir"/>
              </a:rPr>
              <a:t> += quantity</a:t>
            </a:r>
          </a:p>
          <a:p>
            <a:pPr>
              <a:lnSpc>
                <a:spcPct val="150000"/>
              </a:lnSpc>
            </a:pPr>
            <a:r>
              <a:rPr lang="en-US" sz="2400" dirty="0">
                <a:highlight>
                  <a:srgbClr val="FFFF00"/>
                </a:highlight>
                <a:latin typeface="Calibir"/>
              </a:rPr>
              <a:t>    return cost</a:t>
            </a:r>
          </a:p>
        </p:txBody>
      </p:sp>
      <p:sp>
        <p:nvSpPr>
          <p:cNvPr id="7" name="TextBox 6">
            <a:extLst>
              <a:ext uri="{FF2B5EF4-FFF2-40B4-BE49-F238E27FC236}">
                <a16:creationId xmlns:a16="http://schemas.microsoft.com/office/drawing/2014/main" id="{55BEA1EB-FD4C-A8B5-70E3-8018A70CD32C}"/>
              </a:ext>
            </a:extLst>
          </p:cNvPr>
          <p:cNvSpPr txBox="1"/>
          <p:nvPr/>
        </p:nvSpPr>
        <p:spPr>
          <a:xfrm>
            <a:off x="8055077" y="1012954"/>
            <a:ext cx="4136923" cy="4832092"/>
          </a:xfrm>
          <a:prstGeom prst="rect">
            <a:avLst/>
          </a:prstGeom>
          <a:noFill/>
        </p:spPr>
        <p:txBody>
          <a:bodyPr wrap="square">
            <a:spAutoFit/>
          </a:bodyPr>
          <a:lstStyle/>
          <a:p>
            <a:pPr>
              <a:buNone/>
            </a:pPr>
            <a:r>
              <a:rPr lang="en-US" sz="2800" b="1" dirty="0">
                <a:latin typeface="Calibir"/>
              </a:rPr>
              <a:t>Java</a:t>
            </a:r>
          </a:p>
          <a:p>
            <a:pPr rtl="0">
              <a:buNone/>
            </a:pPr>
            <a:r>
              <a:rPr lang="en-US" sz="2800" dirty="0">
                <a:highlight>
                  <a:srgbClr val="FFFF00"/>
                </a:highlight>
                <a:latin typeface="Calibir"/>
              </a:rPr>
              <a:t>public double stocked(</a:t>
            </a:r>
          </a:p>
          <a:p>
            <a:pPr rtl="0">
              <a:buNone/>
            </a:pPr>
            <a:r>
              <a:rPr lang="en-US" sz="2800" dirty="0">
                <a:highlight>
                  <a:srgbClr val="FFFF00"/>
                </a:highlight>
                <a:latin typeface="Calibir"/>
              </a:rPr>
              <a:t>        int quantity) {</a:t>
            </a:r>
          </a:p>
          <a:p>
            <a:pPr rtl="0">
              <a:buNone/>
            </a:pPr>
            <a:endParaRPr lang="en-US" sz="2800" dirty="0">
              <a:highlight>
                <a:srgbClr val="FFFF00"/>
              </a:highlight>
              <a:latin typeface="Calibir"/>
            </a:endParaRPr>
          </a:p>
          <a:p>
            <a:pPr rtl="0">
              <a:buNone/>
            </a:pPr>
            <a:r>
              <a:rPr lang="en-US" sz="2800" dirty="0">
                <a:highlight>
                  <a:srgbClr val="FFFF00"/>
                </a:highlight>
                <a:latin typeface="Calibir"/>
              </a:rPr>
              <a:t>    double cost =</a:t>
            </a:r>
          </a:p>
          <a:p>
            <a:pPr rtl="0">
              <a:buNone/>
            </a:pPr>
            <a:r>
              <a:rPr lang="en-US" sz="2800" dirty="0">
                <a:highlight>
                  <a:srgbClr val="FFFF00"/>
                </a:highlight>
                <a:latin typeface="Calibir"/>
              </a:rPr>
              <a:t>            cash(quantity);</a:t>
            </a:r>
          </a:p>
          <a:p>
            <a:pPr rtl="0">
              <a:buNone/>
            </a:pPr>
            <a:endParaRPr lang="en-US" sz="2800" dirty="0">
              <a:highlight>
                <a:srgbClr val="FFFF00"/>
              </a:highlight>
              <a:latin typeface="Calibir"/>
            </a:endParaRPr>
          </a:p>
          <a:p>
            <a:pPr rtl="0">
              <a:buNone/>
            </a:pPr>
            <a:r>
              <a:rPr lang="en-US" sz="2800" dirty="0">
                <a:highlight>
                  <a:srgbClr val="FFFF00"/>
                </a:highlight>
                <a:latin typeface="Calibir"/>
              </a:rPr>
              <a:t>    stock += quantity;</a:t>
            </a:r>
          </a:p>
          <a:p>
            <a:pPr rtl="0">
              <a:buNone/>
            </a:pPr>
            <a:endParaRPr lang="en-US" sz="2800" dirty="0">
              <a:highlight>
                <a:srgbClr val="FFFF00"/>
              </a:highlight>
              <a:latin typeface="Calibir"/>
            </a:endParaRPr>
          </a:p>
          <a:p>
            <a:pPr rtl="0">
              <a:buNone/>
            </a:pPr>
            <a:r>
              <a:rPr lang="en-US" sz="2800" dirty="0">
                <a:highlight>
                  <a:srgbClr val="FFFF00"/>
                </a:highlight>
                <a:latin typeface="Calibir"/>
              </a:rPr>
              <a:t>    return cost;</a:t>
            </a:r>
          </a:p>
          <a:p>
            <a:pPr rtl="0">
              <a:buNone/>
            </a:pPr>
            <a:r>
              <a:rPr lang="en-US" sz="2800" dirty="0">
                <a:highlight>
                  <a:srgbClr val="FFFF00"/>
                </a:highlight>
                <a:latin typeface="Calibir"/>
              </a:rPr>
              <a:t>}</a:t>
            </a:r>
          </a:p>
        </p:txBody>
      </p:sp>
    </p:spTree>
    <p:extLst>
      <p:ext uri="{BB962C8B-B14F-4D97-AF65-F5344CB8AC3E}">
        <p14:creationId xmlns:p14="http://schemas.microsoft.com/office/powerpoint/2010/main" val="148992550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CBE6C4B3-0A03-75BA-D8EC-1C03B6C293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6FEA888-11DD-A166-7E71-1A20EAF50178}"/>
              </a:ext>
            </a:extLst>
          </p:cNvPr>
          <p:cNvSpPr txBox="1"/>
          <p:nvPr/>
        </p:nvSpPr>
        <p:spPr>
          <a:xfrm>
            <a:off x="189270" y="364475"/>
            <a:ext cx="11813459" cy="5575052"/>
          </a:xfrm>
          <a:prstGeom prst="rect">
            <a:avLst/>
          </a:prstGeom>
          <a:noFill/>
        </p:spPr>
        <p:txBody>
          <a:bodyPr wrap="square">
            <a:spAutoFit/>
          </a:bodyPr>
          <a:lstStyle/>
          <a:p>
            <a:pPr>
              <a:lnSpc>
                <a:spcPct val="150000"/>
              </a:lnSpc>
              <a:buNone/>
            </a:pPr>
            <a:r>
              <a:rPr lang="en-US" sz="2400" b="1" dirty="0">
                <a:latin typeface="Calibir"/>
              </a:rPr>
              <a:t>Step 7 — Product information</a:t>
            </a:r>
          </a:p>
          <a:p>
            <a:pPr>
              <a:lnSpc>
                <a:spcPct val="150000"/>
              </a:lnSpc>
              <a:buNone/>
            </a:pPr>
            <a:r>
              <a:rPr lang="en-US" sz="2400" dirty="0">
                <a:latin typeface="Calibir"/>
              </a:rPr>
              <a:t>If stock is zero:</a:t>
            </a:r>
          </a:p>
          <a:p>
            <a:pPr rtl="0">
              <a:lnSpc>
                <a:spcPct val="150000"/>
              </a:lnSpc>
              <a:buNone/>
            </a:pPr>
            <a:r>
              <a:rPr lang="en-US" sz="2400" dirty="0">
                <a:latin typeface="Calibir"/>
              </a:rPr>
              <a:t>Milk stock level is: 0</a:t>
            </a:r>
          </a:p>
          <a:p>
            <a:pPr>
              <a:lnSpc>
                <a:spcPct val="150000"/>
              </a:lnSpc>
              <a:buNone/>
            </a:pPr>
            <a:r>
              <a:rPr lang="en-US" sz="2400" dirty="0">
                <a:latin typeface="Calibir"/>
              </a:rPr>
              <a:t>Otherwise:</a:t>
            </a:r>
          </a:p>
          <a:p>
            <a:pPr rtl="0">
              <a:lnSpc>
                <a:spcPct val="150000"/>
              </a:lnSpc>
              <a:buNone/>
            </a:pPr>
            <a:r>
              <a:rPr lang="en-US" sz="2400" dirty="0">
                <a:latin typeface="Calibir"/>
              </a:rPr>
              <a:t>Milk level: 10 at price $2.50</a:t>
            </a:r>
          </a:p>
          <a:p>
            <a:pPr>
              <a:lnSpc>
                <a:spcPct val="150000"/>
              </a:lnSpc>
              <a:buNone/>
            </a:pPr>
            <a:r>
              <a:rPr lang="en-US" sz="2400" b="1" dirty="0">
                <a:latin typeface="Calibir"/>
              </a:rPr>
              <a:t>Python</a:t>
            </a:r>
          </a:p>
          <a:p>
            <a:pPr rtl="0">
              <a:lnSpc>
                <a:spcPct val="150000"/>
              </a:lnSpc>
              <a:buNone/>
            </a:pPr>
            <a:r>
              <a:rPr lang="en-US" sz="2400" dirty="0">
                <a:highlight>
                  <a:srgbClr val="FFFF00"/>
                </a:highlight>
                <a:latin typeface="Calibir"/>
              </a:rPr>
              <a:t>def __str__(self):</a:t>
            </a:r>
          </a:p>
          <a:p>
            <a:pPr rtl="0">
              <a:lnSpc>
                <a:spcPct val="150000"/>
              </a:lnSpc>
              <a:buNone/>
            </a:pPr>
            <a:r>
              <a:rPr lang="en-US" sz="2400" dirty="0">
                <a:highlight>
                  <a:srgbClr val="FFFF00"/>
                </a:highlight>
                <a:latin typeface="Calibir"/>
              </a:rPr>
              <a:t>    if </a:t>
            </a:r>
            <a:r>
              <a:rPr lang="en-US" sz="2400" dirty="0" err="1">
                <a:highlight>
                  <a:srgbClr val="FFFF00"/>
                </a:highlight>
                <a:latin typeface="Calibir"/>
              </a:rPr>
              <a:t>self.is_empty</a:t>
            </a:r>
            <a:r>
              <a:rPr lang="en-US" sz="2400" dirty="0">
                <a:highlight>
                  <a:srgbClr val="FFFF00"/>
                </a:highlight>
                <a:latin typeface="Calibir"/>
              </a:rPr>
              <a:t>():</a:t>
            </a:r>
          </a:p>
          <a:p>
            <a:pPr rtl="0">
              <a:lnSpc>
                <a:spcPct val="150000"/>
              </a:lnSpc>
              <a:buNone/>
            </a:pPr>
            <a:r>
              <a:rPr lang="en-US" sz="2400" dirty="0">
                <a:highlight>
                  <a:srgbClr val="FFFF00"/>
                </a:highlight>
                <a:latin typeface="Calibir"/>
              </a:rPr>
              <a:t>        return (f"{</a:t>
            </a:r>
            <a:r>
              <a:rPr lang="en-US" sz="2400" dirty="0" err="1">
                <a:highlight>
                  <a:srgbClr val="FFFF00"/>
                </a:highlight>
                <a:latin typeface="Calibir"/>
              </a:rPr>
              <a:t>self.type</a:t>
            </a:r>
            <a:r>
              <a:rPr lang="en-US" sz="2400" dirty="0">
                <a:highlight>
                  <a:srgbClr val="FFFF00"/>
                </a:highlight>
                <a:latin typeface="Calibir"/>
              </a:rPr>
              <a:t>} "</a:t>
            </a:r>
            <a:r>
              <a:rPr lang="en-US" sz="2400" dirty="0" err="1">
                <a:highlight>
                  <a:srgbClr val="FFFF00"/>
                </a:highlight>
                <a:latin typeface="Calibir"/>
              </a:rPr>
              <a:t>f"stock</a:t>
            </a:r>
            <a:r>
              <a:rPr lang="en-US" sz="2400" dirty="0">
                <a:highlight>
                  <a:srgbClr val="FFFF00"/>
                </a:highlight>
                <a:latin typeface="Calibir"/>
              </a:rPr>
              <a:t> level is: "f"{</a:t>
            </a:r>
            <a:r>
              <a:rPr lang="en-US" sz="2400" dirty="0" err="1">
                <a:highlight>
                  <a:srgbClr val="FFFF00"/>
                </a:highlight>
                <a:latin typeface="Calibir"/>
              </a:rPr>
              <a:t>self.stock</a:t>
            </a:r>
            <a:r>
              <a:rPr lang="en-US" sz="2400" dirty="0">
                <a:highlight>
                  <a:srgbClr val="FFFF00"/>
                </a:highlight>
                <a:latin typeface="Calibir"/>
              </a:rPr>
              <a:t>}")</a:t>
            </a:r>
          </a:p>
          <a:p>
            <a:pPr rtl="0">
              <a:lnSpc>
                <a:spcPct val="150000"/>
              </a:lnSpc>
              <a:buNone/>
            </a:pPr>
            <a:r>
              <a:rPr lang="en-US" sz="2400" dirty="0">
                <a:highlight>
                  <a:srgbClr val="FFFF00"/>
                </a:highlight>
                <a:latin typeface="Calibir"/>
              </a:rPr>
              <a:t>    return (f"{</a:t>
            </a:r>
            <a:r>
              <a:rPr lang="en-US" sz="2400" dirty="0" err="1">
                <a:highlight>
                  <a:srgbClr val="FFFF00"/>
                </a:highlight>
                <a:latin typeface="Calibir"/>
              </a:rPr>
              <a:t>self.type</a:t>
            </a:r>
            <a:r>
              <a:rPr lang="en-US" sz="2400" dirty="0">
                <a:highlight>
                  <a:srgbClr val="FFFF00"/>
                </a:highlight>
                <a:latin typeface="Calibir"/>
              </a:rPr>
              <a:t>} level: "f"{</a:t>
            </a:r>
            <a:r>
              <a:rPr lang="en-US" sz="2400" dirty="0" err="1">
                <a:highlight>
                  <a:srgbClr val="FFFF00"/>
                </a:highlight>
                <a:latin typeface="Calibir"/>
              </a:rPr>
              <a:t>self.stock</a:t>
            </a:r>
            <a:r>
              <a:rPr lang="en-US" sz="2400" dirty="0">
                <a:highlight>
                  <a:srgbClr val="FFFF00"/>
                </a:highlight>
                <a:latin typeface="Calibir"/>
              </a:rPr>
              <a:t>} "</a:t>
            </a:r>
            <a:r>
              <a:rPr lang="en-US" sz="2400" dirty="0" err="1">
                <a:highlight>
                  <a:srgbClr val="FFFF00"/>
                </a:highlight>
                <a:latin typeface="Calibir"/>
              </a:rPr>
              <a:t>f"at</a:t>
            </a:r>
            <a:r>
              <a:rPr lang="en-US" sz="2400" dirty="0">
                <a:highlight>
                  <a:srgbClr val="FFFF00"/>
                </a:highlight>
                <a:latin typeface="Calibir"/>
              </a:rPr>
              <a:t> price "f"${self.price:.2f}")</a:t>
            </a:r>
          </a:p>
        </p:txBody>
      </p:sp>
    </p:spTree>
    <p:extLst>
      <p:ext uri="{BB962C8B-B14F-4D97-AF65-F5344CB8AC3E}">
        <p14:creationId xmlns:p14="http://schemas.microsoft.com/office/powerpoint/2010/main" val="2839296006"/>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9E2AC766-0D8E-80C4-7183-0BC38760F73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80DF6FF-0521-E339-5570-F3D9F79FD2A4}"/>
              </a:ext>
            </a:extLst>
          </p:cNvPr>
          <p:cNvSpPr txBox="1"/>
          <p:nvPr/>
        </p:nvSpPr>
        <p:spPr>
          <a:xfrm>
            <a:off x="188042" y="58846"/>
            <a:ext cx="6098458" cy="6740307"/>
          </a:xfrm>
          <a:prstGeom prst="rect">
            <a:avLst/>
          </a:prstGeom>
          <a:noFill/>
        </p:spPr>
        <p:txBody>
          <a:bodyPr wrap="square">
            <a:spAutoFit/>
          </a:bodyPr>
          <a:lstStyle/>
          <a:p>
            <a:pPr>
              <a:buNone/>
            </a:pPr>
            <a:r>
              <a:rPr lang="en-US" sz="2400" b="1" dirty="0">
                <a:latin typeface="Calibir"/>
              </a:rPr>
              <a:t>Java</a:t>
            </a:r>
          </a:p>
          <a:p>
            <a:pPr rtl="0">
              <a:buNone/>
            </a:pPr>
            <a:r>
              <a:rPr lang="en-US" sz="2400" dirty="0">
                <a:highlight>
                  <a:srgbClr val="FFFF00"/>
                </a:highlight>
                <a:latin typeface="Calibir"/>
              </a:rPr>
              <a:t>@Override</a:t>
            </a:r>
          </a:p>
          <a:p>
            <a:pPr rtl="0">
              <a:buNone/>
            </a:pPr>
            <a:r>
              <a:rPr lang="en-US" sz="2400" dirty="0">
                <a:highlight>
                  <a:srgbClr val="FFFF00"/>
                </a:highlight>
                <a:latin typeface="Calibir"/>
              </a:rPr>
              <a:t>public String </a:t>
            </a:r>
            <a:r>
              <a:rPr lang="en-US" sz="2400" dirty="0" err="1">
                <a:highlight>
                  <a:srgbClr val="FFFF00"/>
                </a:highlight>
                <a:latin typeface="Calibir"/>
              </a:rPr>
              <a:t>toString</a:t>
            </a:r>
            <a:r>
              <a:rPr lang="en-US" sz="2400" dirty="0">
                <a:highlight>
                  <a:srgbClr val="FFFF00"/>
                </a:highlight>
                <a:latin typeface="Calibir"/>
              </a:rPr>
              <a:t>() {</a:t>
            </a:r>
          </a:p>
          <a:p>
            <a:pPr rtl="0">
              <a:buNone/>
            </a:pPr>
            <a:endParaRPr lang="en-US" sz="2400" dirty="0">
              <a:highlight>
                <a:srgbClr val="FFFF00"/>
              </a:highlight>
              <a:latin typeface="Calibir"/>
            </a:endParaRPr>
          </a:p>
          <a:p>
            <a:pPr rtl="0">
              <a:buNone/>
            </a:pPr>
            <a:r>
              <a:rPr lang="en-US" sz="2400" dirty="0">
                <a:highlight>
                  <a:srgbClr val="FFFF00"/>
                </a:highlight>
                <a:latin typeface="Calibir"/>
              </a:rPr>
              <a:t>    if (</a:t>
            </a:r>
            <a:r>
              <a:rPr lang="en-US" sz="2400" dirty="0" err="1">
                <a:highlight>
                  <a:srgbClr val="FFFF00"/>
                </a:highlight>
                <a:latin typeface="Calibir"/>
              </a:rPr>
              <a:t>isEmpty</a:t>
            </a:r>
            <a:r>
              <a:rPr lang="en-US" sz="2400" dirty="0">
                <a:highlight>
                  <a:srgbClr val="FFFF00"/>
                </a:highlight>
                <a:latin typeface="Calibir"/>
              </a:rPr>
              <a:t>()) {</a:t>
            </a:r>
          </a:p>
          <a:p>
            <a:pPr rtl="0">
              <a:buNone/>
            </a:pPr>
            <a:endParaRPr lang="en-US" sz="2400" dirty="0">
              <a:highlight>
                <a:srgbClr val="FFFF00"/>
              </a:highlight>
              <a:latin typeface="Calibir"/>
            </a:endParaRPr>
          </a:p>
          <a:p>
            <a:pPr rtl="0">
              <a:buNone/>
            </a:pPr>
            <a:r>
              <a:rPr lang="en-US" sz="2400" dirty="0">
                <a:highlight>
                  <a:srgbClr val="FFFF00"/>
                </a:highlight>
                <a:latin typeface="Calibir"/>
              </a:rPr>
              <a:t>        return type</a:t>
            </a:r>
          </a:p>
          <a:p>
            <a:pPr rtl="0">
              <a:buNone/>
            </a:pPr>
            <a:r>
              <a:rPr lang="en-US" sz="2400" dirty="0">
                <a:highlight>
                  <a:srgbClr val="FFFF00"/>
                </a:highlight>
                <a:latin typeface="Calibir"/>
              </a:rPr>
              <a:t>                + " stock level is: "</a:t>
            </a:r>
          </a:p>
          <a:p>
            <a:pPr rtl="0">
              <a:buNone/>
            </a:pPr>
            <a:r>
              <a:rPr lang="en-US" sz="2400" dirty="0">
                <a:highlight>
                  <a:srgbClr val="FFFF00"/>
                </a:highlight>
                <a:latin typeface="Calibir"/>
              </a:rPr>
              <a:t>                + stock;</a:t>
            </a:r>
          </a:p>
          <a:p>
            <a:pPr rtl="0">
              <a:buNone/>
            </a:pPr>
            <a:r>
              <a:rPr lang="en-US" sz="2400" dirty="0">
                <a:highlight>
                  <a:srgbClr val="FFFF00"/>
                </a:highlight>
                <a:latin typeface="Calibir"/>
              </a:rPr>
              <a:t>    }</a:t>
            </a:r>
          </a:p>
          <a:p>
            <a:pPr rtl="0">
              <a:buNone/>
            </a:pPr>
            <a:endParaRPr lang="en-US" sz="2400" dirty="0">
              <a:highlight>
                <a:srgbClr val="FFFF00"/>
              </a:highlight>
              <a:latin typeface="Calibir"/>
            </a:endParaRPr>
          </a:p>
          <a:p>
            <a:pPr rtl="0">
              <a:buNone/>
            </a:pPr>
            <a:r>
              <a:rPr lang="en-US" sz="2400" dirty="0">
                <a:highlight>
                  <a:srgbClr val="FFFF00"/>
                </a:highlight>
                <a:latin typeface="Calibir"/>
              </a:rPr>
              <a:t>    return </a:t>
            </a:r>
            <a:r>
              <a:rPr lang="en-US" sz="2400" dirty="0" err="1">
                <a:highlight>
                  <a:srgbClr val="FFFF00"/>
                </a:highlight>
                <a:latin typeface="Calibir"/>
              </a:rPr>
              <a:t>String.format</a:t>
            </a:r>
            <a:r>
              <a:rPr lang="en-US" sz="2400" dirty="0">
                <a:highlight>
                  <a:srgbClr val="FFFF00"/>
                </a:highlight>
                <a:latin typeface="Calibir"/>
              </a:rPr>
              <a:t>(</a:t>
            </a:r>
          </a:p>
          <a:p>
            <a:pPr rtl="0">
              <a:buNone/>
            </a:pPr>
            <a:r>
              <a:rPr lang="en-US" sz="2400" dirty="0">
                <a:highlight>
                  <a:srgbClr val="FFFF00"/>
                </a:highlight>
                <a:latin typeface="Calibir"/>
              </a:rPr>
              <a:t>        "%s level: %d at price $%.2f",</a:t>
            </a:r>
          </a:p>
          <a:p>
            <a:pPr rtl="0">
              <a:buNone/>
            </a:pPr>
            <a:r>
              <a:rPr lang="en-US" sz="2400" dirty="0">
                <a:highlight>
                  <a:srgbClr val="FFFF00"/>
                </a:highlight>
                <a:latin typeface="Calibir"/>
              </a:rPr>
              <a:t>        type,</a:t>
            </a:r>
          </a:p>
          <a:p>
            <a:pPr rtl="0">
              <a:buNone/>
            </a:pPr>
            <a:r>
              <a:rPr lang="en-US" sz="2400" dirty="0">
                <a:highlight>
                  <a:srgbClr val="FFFF00"/>
                </a:highlight>
                <a:latin typeface="Calibir"/>
              </a:rPr>
              <a:t>        stock,</a:t>
            </a:r>
          </a:p>
          <a:p>
            <a:pPr rtl="0">
              <a:buNone/>
            </a:pPr>
            <a:r>
              <a:rPr lang="en-US" sz="2400" dirty="0">
                <a:highlight>
                  <a:srgbClr val="FFFF00"/>
                </a:highlight>
                <a:latin typeface="Calibir"/>
              </a:rPr>
              <a:t>        price</a:t>
            </a:r>
          </a:p>
          <a:p>
            <a:pPr rtl="0">
              <a:buNone/>
            </a:pPr>
            <a:r>
              <a:rPr lang="en-US" sz="2400" dirty="0">
                <a:highlight>
                  <a:srgbClr val="FFFF00"/>
                </a:highlight>
                <a:latin typeface="Calibir"/>
              </a:rPr>
              <a:t>    );</a:t>
            </a:r>
          </a:p>
          <a:p>
            <a:pPr rtl="0">
              <a:buNone/>
            </a:pPr>
            <a:r>
              <a:rPr lang="en-US" sz="2400" dirty="0">
                <a:highlight>
                  <a:srgbClr val="FFFF00"/>
                </a:highlight>
                <a:latin typeface="Calibir"/>
              </a:rPr>
              <a:t>}</a:t>
            </a:r>
          </a:p>
        </p:txBody>
      </p:sp>
    </p:spTree>
    <p:extLst>
      <p:ext uri="{BB962C8B-B14F-4D97-AF65-F5344CB8AC3E}">
        <p14:creationId xmlns:p14="http://schemas.microsoft.com/office/powerpoint/2010/main" val="2542152824"/>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CDF7FCD7-13F3-F762-B4B5-38620C5109C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33C612A-3F0F-3128-1103-D6D67B977047}"/>
              </a:ext>
            </a:extLst>
          </p:cNvPr>
          <p:cNvSpPr txBox="1"/>
          <p:nvPr/>
        </p:nvSpPr>
        <p:spPr>
          <a:xfrm>
            <a:off x="188042" y="58846"/>
            <a:ext cx="6098458" cy="6924973"/>
          </a:xfrm>
          <a:prstGeom prst="rect">
            <a:avLst/>
          </a:prstGeom>
          <a:noFill/>
        </p:spPr>
        <p:txBody>
          <a:bodyPr wrap="square">
            <a:spAutoFit/>
          </a:bodyPr>
          <a:lstStyle/>
          <a:p>
            <a:r>
              <a:rPr lang="en-US" sz="1200" b="1" dirty="0">
                <a:latin typeface="Calibir"/>
              </a:rPr>
              <a:t>Completed Product — Python</a:t>
            </a:r>
          </a:p>
          <a:p>
            <a:r>
              <a:rPr lang="en-US" sz="1200" dirty="0">
                <a:highlight>
                  <a:srgbClr val="FFFF00"/>
                </a:highlight>
                <a:latin typeface="Calibir"/>
              </a:rPr>
              <a:t>class Product:</a:t>
            </a:r>
          </a:p>
          <a:p>
            <a:r>
              <a:rPr lang="en-US" sz="1200" dirty="0">
                <a:highlight>
                  <a:srgbClr val="FFFF00"/>
                </a:highlight>
                <a:latin typeface="Calibir"/>
              </a:rPr>
              <a:t>    def __</a:t>
            </a:r>
            <a:r>
              <a:rPr lang="en-US" sz="1200" dirty="0" err="1">
                <a:highlight>
                  <a:srgbClr val="FFFF00"/>
                </a:highlight>
                <a:latin typeface="Calibir"/>
              </a:rPr>
              <a:t>init</a:t>
            </a:r>
            <a:r>
              <a:rPr lang="en-US" sz="1200" dirty="0">
                <a:highlight>
                  <a:srgbClr val="FFFF00"/>
                </a:highlight>
                <a:latin typeface="Calibir"/>
              </a:rPr>
              <a:t>__(</a:t>
            </a:r>
          </a:p>
          <a:p>
            <a:r>
              <a:rPr lang="en-US" sz="1200" dirty="0">
                <a:highlight>
                  <a:srgbClr val="FFFF00"/>
                </a:highlight>
                <a:latin typeface="Calibir"/>
              </a:rPr>
              <a:t>            self,</a:t>
            </a:r>
          </a:p>
          <a:p>
            <a:r>
              <a:rPr lang="en-US" sz="1200" dirty="0">
                <a:highlight>
                  <a:srgbClr val="FFFF00"/>
                </a:highlight>
                <a:latin typeface="Calibir"/>
              </a:rPr>
              <a:t>            </a:t>
            </a:r>
            <a:r>
              <a:rPr lang="en-US" sz="1200" dirty="0" err="1">
                <a:highlight>
                  <a:srgbClr val="FFFF00"/>
                </a:highlight>
                <a:latin typeface="Calibir"/>
              </a:rPr>
              <a:t>product_type</a:t>
            </a:r>
            <a:r>
              <a:rPr lang="en-US" sz="1200" dirty="0">
                <a:highlight>
                  <a:srgbClr val="FFFF00"/>
                </a:highlight>
                <a:latin typeface="Calibir"/>
              </a:rPr>
              <a:t>,</a:t>
            </a:r>
          </a:p>
          <a:p>
            <a:r>
              <a:rPr lang="en-US" sz="1200" dirty="0">
                <a:highlight>
                  <a:srgbClr val="FFFF00"/>
                </a:highlight>
                <a:latin typeface="Calibir"/>
              </a:rPr>
              <a:t>            price,</a:t>
            </a:r>
          </a:p>
          <a:p>
            <a:r>
              <a:rPr lang="en-US" sz="1200" dirty="0">
                <a:highlight>
                  <a:srgbClr val="FFFF00"/>
                </a:highlight>
                <a:latin typeface="Calibir"/>
              </a:rPr>
              <a:t>            stock):</a:t>
            </a:r>
          </a:p>
          <a:p>
            <a:r>
              <a:rPr lang="en-US" sz="1200" dirty="0">
                <a:highlight>
                  <a:srgbClr val="FFFF00"/>
                </a:highlight>
                <a:latin typeface="Calibir"/>
              </a:rPr>
              <a:t>        </a:t>
            </a:r>
            <a:r>
              <a:rPr lang="en-US" sz="1200" dirty="0" err="1">
                <a:highlight>
                  <a:srgbClr val="FFFF00"/>
                </a:highlight>
                <a:latin typeface="Calibir"/>
              </a:rPr>
              <a:t>self.type</a:t>
            </a:r>
            <a:r>
              <a:rPr lang="en-US" sz="1200" dirty="0">
                <a:highlight>
                  <a:srgbClr val="FFFF00"/>
                </a:highlight>
                <a:latin typeface="Calibir"/>
              </a:rPr>
              <a:t> = </a:t>
            </a:r>
            <a:r>
              <a:rPr lang="en-US" sz="1200" dirty="0" err="1">
                <a:highlight>
                  <a:srgbClr val="FFFF00"/>
                </a:highlight>
                <a:latin typeface="Calibir"/>
              </a:rPr>
              <a:t>product_type</a:t>
            </a:r>
            <a:endParaRPr lang="en-US" sz="1200" dirty="0">
              <a:highlight>
                <a:srgbClr val="FFFF00"/>
              </a:highlight>
              <a:latin typeface="Calibir"/>
            </a:endParaRPr>
          </a:p>
          <a:p>
            <a:r>
              <a:rPr lang="en-US" sz="1200" dirty="0">
                <a:highlight>
                  <a:srgbClr val="FFFF00"/>
                </a:highlight>
                <a:latin typeface="Calibir"/>
              </a:rPr>
              <a:t>        </a:t>
            </a:r>
            <a:r>
              <a:rPr lang="en-US" sz="1200" dirty="0" err="1">
                <a:highlight>
                  <a:srgbClr val="FFFF00"/>
                </a:highlight>
                <a:latin typeface="Calibir"/>
              </a:rPr>
              <a:t>self.price</a:t>
            </a:r>
            <a:r>
              <a:rPr lang="en-US" sz="1200" dirty="0">
                <a:highlight>
                  <a:srgbClr val="FFFF00"/>
                </a:highlight>
                <a:latin typeface="Calibir"/>
              </a:rPr>
              <a:t> = price</a:t>
            </a:r>
          </a:p>
          <a:p>
            <a:r>
              <a:rPr lang="en-US" sz="1200" dirty="0">
                <a:highlight>
                  <a:srgbClr val="FFFF00"/>
                </a:highlight>
                <a:latin typeface="Calibir"/>
              </a:rPr>
              <a:t>        </a:t>
            </a:r>
            <a:r>
              <a:rPr lang="en-US" sz="1200" dirty="0" err="1">
                <a:highlight>
                  <a:srgbClr val="FFFF00"/>
                </a:highlight>
                <a:latin typeface="Calibir"/>
              </a:rPr>
              <a:t>self.stock</a:t>
            </a:r>
            <a:r>
              <a:rPr lang="en-US" sz="1200" dirty="0">
                <a:highlight>
                  <a:srgbClr val="FFFF00"/>
                </a:highlight>
                <a:latin typeface="Calibir"/>
              </a:rPr>
              <a:t> = stock</a:t>
            </a:r>
          </a:p>
          <a:p>
            <a:r>
              <a:rPr lang="en-US" sz="1200" dirty="0">
                <a:highlight>
                  <a:srgbClr val="FFFF00"/>
                </a:highlight>
                <a:latin typeface="Calibir"/>
              </a:rPr>
              <a:t>    @classmethod</a:t>
            </a:r>
          </a:p>
          <a:p>
            <a:r>
              <a:rPr lang="en-US" sz="1200" dirty="0">
                <a:highlight>
                  <a:srgbClr val="FFFF00"/>
                </a:highlight>
                <a:latin typeface="Calibir"/>
              </a:rPr>
              <a:t>    def </a:t>
            </a:r>
            <a:r>
              <a:rPr lang="en-US" sz="1200" dirty="0" err="1">
                <a:highlight>
                  <a:srgbClr val="FFFF00"/>
                </a:highlight>
                <a:latin typeface="Calibir"/>
              </a:rPr>
              <a:t>from_input</a:t>
            </a:r>
            <a:r>
              <a:rPr lang="en-US" sz="1200" dirty="0">
                <a:highlight>
                  <a:srgbClr val="FFFF00"/>
                </a:highlight>
                <a:latin typeface="Calibir"/>
              </a:rPr>
              <a:t>(</a:t>
            </a:r>
            <a:r>
              <a:rPr lang="en-US" sz="1200" dirty="0" err="1">
                <a:highlight>
                  <a:srgbClr val="FFFF00"/>
                </a:highlight>
                <a:latin typeface="Calibir"/>
              </a:rPr>
              <a:t>cls</a:t>
            </a:r>
            <a:r>
              <a:rPr lang="en-US" sz="1200" dirty="0">
                <a:highlight>
                  <a:srgbClr val="FFFF00"/>
                </a:highlight>
                <a:latin typeface="Calibir"/>
              </a:rPr>
              <a:t>):</a:t>
            </a:r>
          </a:p>
          <a:p>
            <a:r>
              <a:rPr lang="en-US" sz="1200" dirty="0">
                <a:highlight>
                  <a:srgbClr val="FFFF00"/>
                </a:highlight>
                <a:latin typeface="Calibir"/>
              </a:rPr>
              <a:t>        </a:t>
            </a:r>
            <a:r>
              <a:rPr lang="en-US" sz="1200" dirty="0" err="1">
                <a:highlight>
                  <a:srgbClr val="FFFF00"/>
                </a:highlight>
                <a:latin typeface="Calibir"/>
              </a:rPr>
              <a:t>product_type</a:t>
            </a:r>
            <a:r>
              <a:rPr lang="en-US" sz="1200" dirty="0">
                <a:highlight>
                  <a:srgbClr val="FFFF00"/>
                </a:highlight>
                <a:latin typeface="Calibir"/>
              </a:rPr>
              <a:t> = input(</a:t>
            </a:r>
          </a:p>
          <a:p>
            <a:r>
              <a:rPr lang="en-US" sz="1200" dirty="0">
                <a:highlight>
                  <a:srgbClr val="FFFF00"/>
                </a:highlight>
                <a:latin typeface="Calibir"/>
              </a:rPr>
              <a:t>            "Product type: "</a:t>
            </a:r>
          </a:p>
          <a:p>
            <a:r>
              <a:rPr lang="en-US" sz="1200" dirty="0">
                <a:highlight>
                  <a:srgbClr val="FFFF00"/>
                </a:highlight>
                <a:latin typeface="Calibir"/>
              </a:rPr>
              <a:t>        )</a:t>
            </a:r>
          </a:p>
          <a:p>
            <a:r>
              <a:rPr lang="en-US" sz="1200" dirty="0">
                <a:highlight>
                  <a:srgbClr val="FFFF00"/>
                </a:highlight>
                <a:latin typeface="Calibir"/>
              </a:rPr>
              <a:t>        price = float(</a:t>
            </a:r>
          </a:p>
          <a:p>
            <a:r>
              <a:rPr lang="en-US" sz="1200" dirty="0">
                <a:highlight>
                  <a:srgbClr val="FFFF00"/>
                </a:highlight>
                <a:latin typeface="Calibir"/>
              </a:rPr>
              <a:t>            input(</a:t>
            </a:r>
          </a:p>
          <a:p>
            <a:r>
              <a:rPr lang="en-US" sz="1200" dirty="0">
                <a:highlight>
                  <a:srgbClr val="FFFF00"/>
                </a:highlight>
                <a:latin typeface="Calibir"/>
              </a:rPr>
              <a:t>                "Product price: $"</a:t>
            </a:r>
          </a:p>
          <a:p>
            <a:r>
              <a:rPr lang="en-US" sz="1200" dirty="0">
                <a:highlight>
                  <a:srgbClr val="FFFF00"/>
                </a:highlight>
                <a:latin typeface="Calibir"/>
              </a:rPr>
              <a:t>            )</a:t>
            </a:r>
          </a:p>
          <a:p>
            <a:r>
              <a:rPr lang="en-US" sz="1200" dirty="0">
                <a:highlight>
                  <a:srgbClr val="FFFF00"/>
                </a:highlight>
                <a:latin typeface="Calibir"/>
              </a:rPr>
              <a:t>        )</a:t>
            </a:r>
          </a:p>
          <a:p>
            <a:r>
              <a:rPr lang="en-US" sz="1200" dirty="0">
                <a:highlight>
                  <a:srgbClr val="FFFF00"/>
                </a:highlight>
                <a:latin typeface="Calibir"/>
              </a:rPr>
              <a:t>        stock = int(</a:t>
            </a:r>
          </a:p>
          <a:p>
            <a:r>
              <a:rPr lang="en-US" sz="1200" dirty="0">
                <a:highlight>
                  <a:srgbClr val="FFFF00"/>
                </a:highlight>
                <a:latin typeface="Calibir"/>
              </a:rPr>
              <a:t>            input(</a:t>
            </a:r>
          </a:p>
          <a:p>
            <a:r>
              <a:rPr lang="en-US" sz="1200" dirty="0">
                <a:highlight>
                  <a:srgbClr val="FFFF00"/>
                </a:highlight>
                <a:latin typeface="Calibir"/>
              </a:rPr>
              <a:t>                "Initial stock: "</a:t>
            </a:r>
          </a:p>
          <a:p>
            <a:r>
              <a:rPr lang="en-US" sz="1200" dirty="0">
                <a:highlight>
                  <a:srgbClr val="FFFF00"/>
                </a:highlight>
                <a:latin typeface="Calibir"/>
              </a:rPr>
              <a:t>            )</a:t>
            </a:r>
          </a:p>
          <a:p>
            <a:r>
              <a:rPr lang="en-US" sz="1200" dirty="0">
                <a:highlight>
                  <a:srgbClr val="FFFF00"/>
                </a:highlight>
                <a:latin typeface="Calibir"/>
              </a:rPr>
              <a:t>        )</a:t>
            </a:r>
          </a:p>
          <a:p>
            <a:r>
              <a:rPr lang="en-US" sz="1200" dirty="0">
                <a:highlight>
                  <a:srgbClr val="FFFF00"/>
                </a:highlight>
                <a:latin typeface="Calibir"/>
              </a:rPr>
              <a:t>        return </a:t>
            </a:r>
            <a:r>
              <a:rPr lang="en-US" sz="1200" dirty="0" err="1">
                <a:highlight>
                  <a:srgbClr val="FFFF00"/>
                </a:highlight>
                <a:latin typeface="Calibir"/>
              </a:rPr>
              <a:t>cls</a:t>
            </a:r>
            <a:r>
              <a:rPr lang="en-US" sz="1200" dirty="0">
                <a:highlight>
                  <a:srgbClr val="FFFF00"/>
                </a:highlight>
                <a:latin typeface="Calibir"/>
              </a:rPr>
              <a:t>(</a:t>
            </a:r>
          </a:p>
          <a:p>
            <a:r>
              <a:rPr lang="en-US" sz="1200" dirty="0">
                <a:highlight>
                  <a:srgbClr val="FFFF00"/>
                </a:highlight>
                <a:latin typeface="Calibir"/>
              </a:rPr>
              <a:t>            </a:t>
            </a:r>
            <a:r>
              <a:rPr lang="en-US" sz="1200" dirty="0" err="1">
                <a:highlight>
                  <a:srgbClr val="FFFF00"/>
                </a:highlight>
                <a:latin typeface="Calibir"/>
              </a:rPr>
              <a:t>product_type</a:t>
            </a:r>
            <a:r>
              <a:rPr lang="en-US" sz="1200" dirty="0">
                <a:highlight>
                  <a:srgbClr val="FFFF00"/>
                </a:highlight>
                <a:latin typeface="Calibir"/>
              </a:rPr>
              <a:t>,</a:t>
            </a:r>
          </a:p>
          <a:p>
            <a:r>
              <a:rPr lang="en-US" sz="1200" dirty="0">
                <a:highlight>
                  <a:srgbClr val="FFFF00"/>
                </a:highlight>
                <a:latin typeface="Calibir"/>
              </a:rPr>
              <a:t>            price,</a:t>
            </a:r>
          </a:p>
          <a:p>
            <a:r>
              <a:rPr lang="en-US" sz="1200" dirty="0">
                <a:highlight>
                  <a:srgbClr val="FFFF00"/>
                </a:highlight>
                <a:latin typeface="Calibir"/>
              </a:rPr>
              <a:t>            stock</a:t>
            </a:r>
          </a:p>
          <a:p>
            <a:r>
              <a:rPr lang="en-US" sz="1200" dirty="0">
                <a:highlight>
                  <a:srgbClr val="FFFF00"/>
                </a:highlight>
                <a:latin typeface="Calibir"/>
              </a:rPr>
              <a:t>        )</a:t>
            </a:r>
          </a:p>
          <a:p>
            <a:r>
              <a:rPr lang="en-US" sz="1200" dirty="0">
                <a:highlight>
                  <a:srgbClr val="FFFF00"/>
                </a:highlight>
                <a:latin typeface="Calibir"/>
              </a:rPr>
              <a:t>    def </a:t>
            </a:r>
            <a:r>
              <a:rPr lang="en-US" sz="1200" dirty="0" err="1">
                <a:highlight>
                  <a:srgbClr val="FFFF00"/>
                </a:highlight>
                <a:latin typeface="Calibir"/>
              </a:rPr>
              <a:t>is_empty</a:t>
            </a:r>
            <a:r>
              <a:rPr lang="en-US" sz="1200" dirty="0">
                <a:highlight>
                  <a:srgbClr val="FFFF00"/>
                </a:highlight>
                <a:latin typeface="Calibir"/>
              </a:rPr>
              <a:t>(self):</a:t>
            </a:r>
          </a:p>
          <a:p>
            <a:endParaRPr lang="en-US" sz="1200" dirty="0">
              <a:highlight>
                <a:srgbClr val="FFFF00"/>
              </a:highlight>
              <a:latin typeface="Calibir"/>
            </a:endParaRPr>
          </a:p>
          <a:p>
            <a:r>
              <a:rPr lang="en-US" sz="1200" dirty="0">
                <a:highlight>
                  <a:srgbClr val="FFFF00"/>
                </a:highlight>
                <a:latin typeface="Calibir"/>
              </a:rPr>
              <a:t>        return </a:t>
            </a:r>
            <a:r>
              <a:rPr lang="en-US" sz="1200" dirty="0" err="1">
                <a:highlight>
                  <a:srgbClr val="FFFF00"/>
                </a:highlight>
                <a:latin typeface="Calibir"/>
              </a:rPr>
              <a:t>self.stock</a:t>
            </a:r>
            <a:r>
              <a:rPr lang="en-US" sz="1200" dirty="0">
                <a:highlight>
                  <a:srgbClr val="FFFF00"/>
                </a:highlight>
                <a:latin typeface="Calibir"/>
              </a:rPr>
              <a:t> == 0</a:t>
            </a:r>
          </a:p>
          <a:p>
            <a:endParaRPr lang="en-US" sz="1200" dirty="0">
              <a:highlight>
                <a:srgbClr val="FFFF00"/>
              </a:highlight>
              <a:latin typeface="Calibir"/>
            </a:endParaRPr>
          </a:p>
          <a:p>
            <a:r>
              <a:rPr lang="en-US" sz="1200" dirty="0">
                <a:highlight>
                  <a:srgbClr val="FFFF00"/>
                </a:highlight>
                <a:latin typeface="Calibir"/>
              </a:rPr>
              <a:t>    def has(</a:t>
            </a:r>
          </a:p>
          <a:p>
            <a:r>
              <a:rPr lang="en-US" sz="1200" dirty="0">
                <a:highlight>
                  <a:srgbClr val="FFFF00"/>
                </a:highlight>
                <a:latin typeface="Calibir"/>
              </a:rPr>
              <a:t>            self,</a:t>
            </a:r>
          </a:p>
          <a:p>
            <a:r>
              <a:rPr lang="en-US" sz="1200" dirty="0">
                <a:highlight>
                  <a:srgbClr val="FFFF00"/>
                </a:highlight>
                <a:latin typeface="Calibir"/>
              </a:rPr>
              <a:t>            quantity):</a:t>
            </a:r>
          </a:p>
        </p:txBody>
      </p:sp>
    </p:spTree>
    <p:extLst>
      <p:ext uri="{BB962C8B-B14F-4D97-AF65-F5344CB8AC3E}">
        <p14:creationId xmlns:p14="http://schemas.microsoft.com/office/powerpoint/2010/main" val="1914979456"/>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8E1592BD-AD5C-30B5-A38D-38B8651D57F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7841057-251F-C1F1-AED0-D58ADB42D3E0}"/>
              </a:ext>
            </a:extLst>
          </p:cNvPr>
          <p:cNvSpPr txBox="1"/>
          <p:nvPr/>
        </p:nvSpPr>
        <p:spPr>
          <a:xfrm>
            <a:off x="188042" y="58846"/>
            <a:ext cx="6098458" cy="6924973"/>
          </a:xfrm>
          <a:prstGeom prst="rect">
            <a:avLst/>
          </a:prstGeom>
          <a:noFill/>
        </p:spPr>
        <p:txBody>
          <a:bodyPr wrap="square">
            <a:spAutoFit/>
          </a:bodyPr>
          <a:lstStyle/>
          <a:p>
            <a:r>
              <a:rPr lang="en-US" sz="1200" dirty="0">
                <a:highlight>
                  <a:srgbClr val="FFFF00"/>
                </a:highlight>
                <a:latin typeface="Calibir"/>
              </a:rPr>
              <a:t>        return </a:t>
            </a:r>
            <a:r>
              <a:rPr lang="en-US" sz="1200" dirty="0" err="1">
                <a:highlight>
                  <a:srgbClr val="FFFF00"/>
                </a:highlight>
                <a:latin typeface="Calibir"/>
              </a:rPr>
              <a:t>self.stock</a:t>
            </a:r>
            <a:r>
              <a:rPr lang="en-US" sz="1200" dirty="0">
                <a:highlight>
                  <a:srgbClr val="FFFF00"/>
                </a:highlight>
                <a:latin typeface="Calibir"/>
              </a:rPr>
              <a:t> &gt;= quantity</a:t>
            </a:r>
          </a:p>
          <a:p>
            <a:r>
              <a:rPr lang="en-US" sz="1200" dirty="0">
                <a:highlight>
                  <a:srgbClr val="FFFF00"/>
                </a:highlight>
                <a:latin typeface="Calibir"/>
              </a:rPr>
              <a:t>    def cash(</a:t>
            </a:r>
          </a:p>
          <a:p>
            <a:r>
              <a:rPr lang="en-US" sz="1200" dirty="0">
                <a:highlight>
                  <a:srgbClr val="FFFF00"/>
                </a:highlight>
                <a:latin typeface="Calibir"/>
              </a:rPr>
              <a:t>            self,</a:t>
            </a:r>
          </a:p>
          <a:p>
            <a:r>
              <a:rPr lang="en-US" sz="1200" dirty="0">
                <a:highlight>
                  <a:srgbClr val="FFFF00"/>
                </a:highlight>
                <a:latin typeface="Calibir"/>
              </a:rPr>
              <a:t>            quantity):</a:t>
            </a:r>
          </a:p>
          <a:p>
            <a:r>
              <a:rPr lang="en-US" sz="1200" dirty="0">
                <a:highlight>
                  <a:srgbClr val="FFFF00"/>
                </a:highlight>
                <a:latin typeface="Calibir"/>
              </a:rPr>
              <a:t>        return (</a:t>
            </a:r>
          </a:p>
          <a:p>
            <a:r>
              <a:rPr lang="en-US" sz="1200" dirty="0">
                <a:highlight>
                  <a:srgbClr val="FFFF00"/>
                </a:highlight>
                <a:latin typeface="Calibir"/>
              </a:rPr>
              <a:t>            </a:t>
            </a:r>
            <a:r>
              <a:rPr lang="en-US" sz="1200" dirty="0" err="1">
                <a:highlight>
                  <a:srgbClr val="FFFF00"/>
                </a:highlight>
                <a:latin typeface="Calibir"/>
              </a:rPr>
              <a:t>self.price</a:t>
            </a:r>
            <a:endParaRPr lang="en-US" sz="1200" dirty="0">
              <a:highlight>
                <a:srgbClr val="FFFF00"/>
              </a:highlight>
              <a:latin typeface="Calibir"/>
            </a:endParaRPr>
          </a:p>
          <a:p>
            <a:r>
              <a:rPr lang="en-US" sz="1200" dirty="0">
                <a:highlight>
                  <a:srgbClr val="FFFF00"/>
                </a:highlight>
                <a:latin typeface="Calibir"/>
              </a:rPr>
              <a:t>            * quantity</a:t>
            </a:r>
          </a:p>
          <a:p>
            <a:r>
              <a:rPr lang="en-US" sz="1200" dirty="0">
                <a:highlight>
                  <a:srgbClr val="FFFF00"/>
                </a:highlight>
                <a:latin typeface="Calibir"/>
              </a:rPr>
              <a:t>        )</a:t>
            </a:r>
          </a:p>
          <a:p>
            <a:r>
              <a:rPr lang="en-US" sz="1200" dirty="0">
                <a:highlight>
                  <a:srgbClr val="FFFF00"/>
                </a:highlight>
                <a:latin typeface="Calibir"/>
              </a:rPr>
              <a:t>    def sold(</a:t>
            </a:r>
          </a:p>
          <a:p>
            <a:r>
              <a:rPr lang="en-US" sz="1200" dirty="0">
                <a:highlight>
                  <a:srgbClr val="FFFF00"/>
                </a:highlight>
                <a:latin typeface="Calibir"/>
              </a:rPr>
              <a:t>            self,</a:t>
            </a:r>
          </a:p>
          <a:p>
            <a:r>
              <a:rPr lang="en-US" sz="1200" dirty="0">
                <a:highlight>
                  <a:srgbClr val="FFFF00"/>
                </a:highlight>
                <a:latin typeface="Calibir"/>
              </a:rPr>
              <a:t>            quantity):</a:t>
            </a:r>
          </a:p>
          <a:p>
            <a:r>
              <a:rPr lang="en-US" sz="1200" dirty="0">
                <a:highlight>
                  <a:srgbClr val="FFFF00"/>
                </a:highlight>
                <a:latin typeface="Calibir"/>
              </a:rPr>
              <a:t>        </a:t>
            </a:r>
            <a:r>
              <a:rPr lang="en-US" sz="1200" dirty="0" err="1">
                <a:highlight>
                  <a:srgbClr val="FFFF00"/>
                </a:highlight>
                <a:latin typeface="Calibir"/>
              </a:rPr>
              <a:t>self.stock</a:t>
            </a:r>
            <a:r>
              <a:rPr lang="en-US" sz="1200" dirty="0">
                <a:highlight>
                  <a:srgbClr val="FFFF00"/>
                </a:highlight>
                <a:latin typeface="Calibir"/>
              </a:rPr>
              <a:t> -= quantity</a:t>
            </a:r>
          </a:p>
          <a:p>
            <a:r>
              <a:rPr lang="en-US" sz="1200" dirty="0">
                <a:highlight>
                  <a:srgbClr val="FFFF00"/>
                </a:highlight>
                <a:latin typeface="Calibir"/>
              </a:rPr>
              <a:t>        return </a:t>
            </a:r>
            <a:r>
              <a:rPr lang="en-US" sz="1200" dirty="0" err="1">
                <a:highlight>
                  <a:srgbClr val="FFFF00"/>
                </a:highlight>
                <a:latin typeface="Calibir"/>
              </a:rPr>
              <a:t>self.cash</a:t>
            </a:r>
            <a:r>
              <a:rPr lang="en-US" sz="1200" dirty="0">
                <a:highlight>
                  <a:srgbClr val="FFFF00"/>
                </a:highlight>
                <a:latin typeface="Calibir"/>
              </a:rPr>
              <a:t>(</a:t>
            </a:r>
          </a:p>
          <a:p>
            <a:r>
              <a:rPr lang="en-US" sz="1200" dirty="0">
                <a:highlight>
                  <a:srgbClr val="FFFF00"/>
                </a:highlight>
                <a:latin typeface="Calibir"/>
              </a:rPr>
              <a:t>            quantity</a:t>
            </a:r>
          </a:p>
          <a:p>
            <a:r>
              <a:rPr lang="en-US" sz="1200" dirty="0">
                <a:highlight>
                  <a:srgbClr val="FFFF00"/>
                </a:highlight>
                <a:latin typeface="Calibir"/>
              </a:rPr>
              <a:t>        )</a:t>
            </a:r>
          </a:p>
          <a:p>
            <a:r>
              <a:rPr lang="en-US" sz="1200" dirty="0">
                <a:highlight>
                  <a:srgbClr val="FFFF00"/>
                </a:highlight>
                <a:latin typeface="Calibir"/>
              </a:rPr>
              <a:t>    def stocked(</a:t>
            </a:r>
          </a:p>
          <a:p>
            <a:r>
              <a:rPr lang="en-US" sz="1200" dirty="0">
                <a:highlight>
                  <a:srgbClr val="FFFF00"/>
                </a:highlight>
                <a:latin typeface="Calibir"/>
              </a:rPr>
              <a:t>            self,</a:t>
            </a:r>
          </a:p>
          <a:p>
            <a:r>
              <a:rPr lang="en-US" sz="1200" dirty="0">
                <a:highlight>
                  <a:srgbClr val="FFFF00"/>
                </a:highlight>
                <a:latin typeface="Calibir"/>
              </a:rPr>
              <a:t>            quantity):</a:t>
            </a:r>
          </a:p>
          <a:p>
            <a:r>
              <a:rPr lang="en-US" sz="1200" dirty="0">
                <a:highlight>
                  <a:srgbClr val="FFFF00"/>
                </a:highlight>
                <a:latin typeface="Calibir"/>
              </a:rPr>
              <a:t>        cost = </a:t>
            </a:r>
            <a:r>
              <a:rPr lang="en-US" sz="1200" dirty="0" err="1">
                <a:highlight>
                  <a:srgbClr val="FFFF00"/>
                </a:highlight>
                <a:latin typeface="Calibir"/>
              </a:rPr>
              <a:t>self.cash</a:t>
            </a:r>
            <a:r>
              <a:rPr lang="en-US" sz="1200" dirty="0">
                <a:highlight>
                  <a:srgbClr val="FFFF00"/>
                </a:highlight>
                <a:latin typeface="Calibir"/>
              </a:rPr>
              <a:t>(</a:t>
            </a:r>
          </a:p>
          <a:p>
            <a:r>
              <a:rPr lang="en-US" sz="1200" dirty="0">
                <a:highlight>
                  <a:srgbClr val="FFFF00"/>
                </a:highlight>
                <a:latin typeface="Calibir"/>
              </a:rPr>
              <a:t>            quantity</a:t>
            </a:r>
          </a:p>
          <a:p>
            <a:r>
              <a:rPr lang="en-US" sz="1200" dirty="0">
                <a:highlight>
                  <a:srgbClr val="FFFF00"/>
                </a:highlight>
                <a:latin typeface="Calibir"/>
              </a:rPr>
              <a:t>        )</a:t>
            </a:r>
          </a:p>
          <a:p>
            <a:r>
              <a:rPr lang="en-US" sz="1200" dirty="0">
                <a:highlight>
                  <a:srgbClr val="FFFF00"/>
                </a:highlight>
                <a:latin typeface="Calibir"/>
              </a:rPr>
              <a:t>        </a:t>
            </a:r>
            <a:r>
              <a:rPr lang="en-US" sz="1200" dirty="0" err="1">
                <a:highlight>
                  <a:srgbClr val="FFFF00"/>
                </a:highlight>
                <a:latin typeface="Calibir"/>
              </a:rPr>
              <a:t>self.stock</a:t>
            </a:r>
            <a:r>
              <a:rPr lang="en-US" sz="1200" dirty="0">
                <a:highlight>
                  <a:srgbClr val="FFFF00"/>
                </a:highlight>
                <a:latin typeface="Calibir"/>
              </a:rPr>
              <a:t> += quantity</a:t>
            </a:r>
          </a:p>
          <a:p>
            <a:r>
              <a:rPr lang="en-US" sz="1200" dirty="0">
                <a:highlight>
                  <a:srgbClr val="FFFF00"/>
                </a:highlight>
                <a:latin typeface="Calibir"/>
              </a:rPr>
              <a:t>        return cost</a:t>
            </a:r>
          </a:p>
          <a:p>
            <a:r>
              <a:rPr lang="en-US" sz="1200" dirty="0">
                <a:highlight>
                  <a:srgbClr val="FFFF00"/>
                </a:highlight>
                <a:latin typeface="Calibir"/>
              </a:rPr>
              <a:t>    def __str__(self):</a:t>
            </a:r>
          </a:p>
          <a:p>
            <a:r>
              <a:rPr lang="en-US" sz="1200" dirty="0">
                <a:highlight>
                  <a:srgbClr val="FFFF00"/>
                </a:highlight>
                <a:latin typeface="Calibir"/>
              </a:rPr>
              <a:t>        if </a:t>
            </a:r>
            <a:r>
              <a:rPr lang="en-US" sz="1200" dirty="0" err="1">
                <a:highlight>
                  <a:srgbClr val="FFFF00"/>
                </a:highlight>
                <a:latin typeface="Calibir"/>
              </a:rPr>
              <a:t>self.is_empty</a:t>
            </a:r>
            <a:r>
              <a:rPr lang="en-US" sz="1200" dirty="0">
                <a:highlight>
                  <a:srgbClr val="FFFF00"/>
                </a:highlight>
                <a:latin typeface="Calibir"/>
              </a:rPr>
              <a:t>():</a:t>
            </a:r>
          </a:p>
          <a:p>
            <a:r>
              <a:rPr lang="en-US" sz="1200" dirty="0">
                <a:highlight>
                  <a:srgbClr val="FFFF00"/>
                </a:highlight>
                <a:latin typeface="Calibir"/>
              </a:rPr>
              <a:t>            return (</a:t>
            </a:r>
          </a:p>
          <a:p>
            <a:r>
              <a:rPr lang="en-US" sz="1200" dirty="0">
                <a:highlight>
                  <a:srgbClr val="FFFF00"/>
                </a:highlight>
                <a:latin typeface="Calibir"/>
              </a:rPr>
              <a:t>                f"{</a:t>
            </a:r>
            <a:r>
              <a:rPr lang="en-US" sz="1200" dirty="0" err="1">
                <a:highlight>
                  <a:srgbClr val="FFFF00"/>
                </a:highlight>
                <a:latin typeface="Calibir"/>
              </a:rPr>
              <a:t>self.type</a:t>
            </a:r>
            <a:r>
              <a:rPr lang="en-US" sz="1200" dirty="0">
                <a:highlight>
                  <a:srgbClr val="FFFF00"/>
                </a:highlight>
                <a:latin typeface="Calibir"/>
              </a:rPr>
              <a:t>} "</a:t>
            </a:r>
          </a:p>
          <a:p>
            <a:r>
              <a:rPr lang="en-US" sz="1200" dirty="0">
                <a:highlight>
                  <a:srgbClr val="FFFF00"/>
                </a:highlight>
                <a:latin typeface="Calibir"/>
              </a:rPr>
              <a:t>                </a:t>
            </a:r>
            <a:r>
              <a:rPr lang="en-US" sz="1200" dirty="0" err="1">
                <a:highlight>
                  <a:srgbClr val="FFFF00"/>
                </a:highlight>
                <a:latin typeface="Calibir"/>
              </a:rPr>
              <a:t>f"stock</a:t>
            </a:r>
            <a:r>
              <a:rPr lang="en-US" sz="1200" dirty="0">
                <a:highlight>
                  <a:srgbClr val="FFFF00"/>
                </a:highlight>
                <a:latin typeface="Calibir"/>
              </a:rPr>
              <a:t> level is: "</a:t>
            </a:r>
          </a:p>
          <a:p>
            <a:r>
              <a:rPr lang="en-US" sz="1200" dirty="0">
                <a:highlight>
                  <a:srgbClr val="FFFF00"/>
                </a:highlight>
                <a:latin typeface="Calibir"/>
              </a:rPr>
              <a:t>                f"{</a:t>
            </a:r>
            <a:r>
              <a:rPr lang="en-US" sz="1200" dirty="0" err="1">
                <a:highlight>
                  <a:srgbClr val="FFFF00"/>
                </a:highlight>
                <a:latin typeface="Calibir"/>
              </a:rPr>
              <a:t>self.stock</a:t>
            </a:r>
            <a:r>
              <a:rPr lang="en-US" sz="1200" dirty="0">
                <a:highlight>
                  <a:srgbClr val="FFFF00"/>
                </a:highlight>
                <a:latin typeface="Calibir"/>
              </a:rPr>
              <a:t>}"</a:t>
            </a:r>
          </a:p>
          <a:p>
            <a:r>
              <a:rPr lang="en-US" sz="1200" dirty="0">
                <a:highlight>
                  <a:srgbClr val="FFFF00"/>
                </a:highlight>
                <a:latin typeface="Calibir"/>
              </a:rPr>
              <a:t>            )</a:t>
            </a:r>
          </a:p>
          <a:p>
            <a:r>
              <a:rPr lang="en-US" sz="1200" dirty="0">
                <a:highlight>
                  <a:srgbClr val="FFFF00"/>
                </a:highlight>
                <a:latin typeface="Calibir"/>
              </a:rPr>
              <a:t>        return (</a:t>
            </a:r>
          </a:p>
          <a:p>
            <a:r>
              <a:rPr lang="en-US" sz="1200" dirty="0">
                <a:highlight>
                  <a:srgbClr val="FFFF00"/>
                </a:highlight>
                <a:latin typeface="Calibir"/>
              </a:rPr>
              <a:t>            f"{</a:t>
            </a:r>
            <a:r>
              <a:rPr lang="en-US" sz="1200" dirty="0" err="1">
                <a:highlight>
                  <a:srgbClr val="FFFF00"/>
                </a:highlight>
                <a:latin typeface="Calibir"/>
              </a:rPr>
              <a:t>self.type</a:t>
            </a:r>
            <a:r>
              <a:rPr lang="en-US" sz="1200" dirty="0">
                <a:highlight>
                  <a:srgbClr val="FFFF00"/>
                </a:highlight>
                <a:latin typeface="Calibir"/>
              </a:rPr>
              <a:t>} level: "</a:t>
            </a:r>
          </a:p>
          <a:p>
            <a:r>
              <a:rPr lang="en-US" sz="1200" dirty="0">
                <a:highlight>
                  <a:srgbClr val="FFFF00"/>
                </a:highlight>
                <a:latin typeface="Calibir"/>
              </a:rPr>
              <a:t>            f"{</a:t>
            </a:r>
            <a:r>
              <a:rPr lang="en-US" sz="1200" dirty="0" err="1">
                <a:highlight>
                  <a:srgbClr val="FFFF00"/>
                </a:highlight>
                <a:latin typeface="Calibir"/>
              </a:rPr>
              <a:t>self.stock</a:t>
            </a:r>
            <a:r>
              <a:rPr lang="en-US" sz="1200" dirty="0">
                <a:highlight>
                  <a:srgbClr val="FFFF00"/>
                </a:highlight>
                <a:latin typeface="Calibir"/>
              </a:rPr>
              <a:t>} "</a:t>
            </a:r>
          </a:p>
          <a:p>
            <a:r>
              <a:rPr lang="en-US" sz="1200" dirty="0">
                <a:highlight>
                  <a:srgbClr val="FFFF00"/>
                </a:highlight>
                <a:latin typeface="Calibir"/>
              </a:rPr>
              <a:t>            </a:t>
            </a:r>
            <a:r>
              <a:rPr lang="en-US" sz="1200" dirty="0" err="1">
                <a:highlight>
                  <a:srgbClr val="FFFF00"/>
                </a:highlight>
                <a:latin typeface="Calibir"/>
              </a:rPr>
              <a:t>f"at</a:t>
            </a:r>
            <a:r>
              <a:rPr lang="en-US" sz="1200" dirty="0">
                <a:highlight>
                  <a:srgbClr val="FFFF00"/>
                </a:highlight>
                <a:latin typeface="Calibir"/>
              </a:rPr>
              <a:t> price "</a:t>
            </a:r>
          </a:p>
          <a:p>
            <a:r>
              <a:rPr lang="en-US" sz="1200" dirty="0">
                <a:highlight>
                  <a:srgbClr val="FFFF00"/>
                </a:highlight>
                <a:latin typeface="Calibir"/>
              </a:rPr>
              <a:t>            f"${self.price:.2f}"</a:t>
            </a:r>
          </a:p>
          <a:p>
            <a:r>
              <a:rPr lang="en-US" sz="1200" dirty="0">
                <a:highlight>
                  <a:srgbClr val="FFFF00"/>
                </a:highlight>
                <a:latin typeface="Calibir"/>
              </a:rPr>
              <a:t>        )</a:t>
            </a:r>
          </a:p>
        </p:txBody>
      </p:sp>
    </p:spTree>
    <p:extLst>
      <p:ext uri="{BB962C8B-B14F-4D97-AF65-F5344CB8AC3E}">
        <p14:creationId xmlns:p14="http://schemas.microsoft.com/office/powerpoint/2010/main" val="270509364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EF69D36E-AD9B-36F6-802C-BFCFBC66B0C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F7767F-392D-5BF7-B4BB-3A9F15A1BCB6}"/>
              </a:ext>
            </a:extLst>
          </p:cNvPr>
          <p:cNvSpPr txBox="1"/>
          <p:nvPr/>
        </p:nvSpPr>
        <p:spPr>
          <a:xfrm>
            <a:off x="-2458" y="0"/>
            <a:ext cx="6098458" cy="6488828"/>
          </a:xfrm>
          <a:prstGeom prst="rect">
            <a:avLst/>
          </a:prstGeom>
          <a:noFill/>
        </p:spPr>
        <p:txBody>
          <a:bodyPr wrap="square">
            <a:spAutoFit/>
          </a:bodyPr>
          <a:lstStyle/>
          <a:p>
            <a:pPr>
              <a:lnSpc>
                <a:spcPct val="150000"/>
              </a:lnSpc>
              <a:buNone/>
            </a:pPr>
            <a:r>
              <a:rPr lang="en-US" sz="2800" b="1" dirty="0" err="1">
                <a:latin typeface="Calibir"/>
              </a:rPr>
              <a:t>CashRegister</a:t>
            </a:r>
            <a:r>
              <a:rPr lang="en-US" sz="2800" b="1" dirty="0">
                <a:latin typeface="Calibir"/>
              </a:rPr>
              <a:t> Class</a:t>
            </a:r>
          </a:p>
          <a:p>
            <a:pPr>
              <a:lnSpc>
                <a:spcPct val="150000"/>
              </a:lnSpc>
              <a:buNone/>
            </a:pPr>
            <a:r>
              <a:rPr lang="en-US" sz="2800" dirty="0">
                <a:latin typeface="Calibir"/>
              </a:rPr>
              <a:t>It has one field:</a:t>
            </a:r>
          </a:p>
          <a:p>
            <a:pPr rtl="0">
              <a:lnSpc>
                <a:spcPct val="150000"/>
              </a:lnSpc>
              <a:buNone/>
            </a:pPr>
            <a:r>
              <a:rPr lang="en-US" sz="2800" dirty="0">
                <a:latin typeface="Calibir"/>
              </a:rPr>
              <a:t>cash</a:t>
            </a:r>
          </a:p>
          <a:p>
            <a:pPr>
              <a:lnSpc>
                <a:spcPct val="150000"/>
              </a:lnSpc>
              <a:buNone/>
            </a:pPr>
            <a:r>
              <a:rPr lang="en-US" sz="2800" dirty="0">
                <a:latin typeface="Calibir"/>
              </a:rPr>
              <a:t>Default value is not specified, so I use:</a:t>
            </a:r>
          </a:p>
          <a:p>
            <a:pPr rtl="0">
              <a:lnSpc>
                <a:spcPct val="150000"/>
              </a:lnSpc>
              <a:buNone/>
            </a:pPr>
            <a:r>
              <a:rPr lang="en-US" sz="2800" dirty="0">
                <a:latin typeface="Calibir"/>
              </a:rPr>
              <a:t>0.0</a:t>
            </a:r>
          </a:p>
          <a:p>
            <a:pPr>
              <a:lnSpc>
                <a:spcPct val="150000"/>
              </a:lnSpc>
              <a:buNone/>
            </a:pPr>
            <a:r>
              <a:rPr lang="en-US" sz="2800" b="1" dirty="0">
                <a:latin typeface="Calibir"/>
              </a:rPr>
              <a:t>Step 8 — Constructor</a:t>
            </a:r>
          </a:p>
          <a:p>
            <a:pPr>
              <a:lnSpc>
                <a:spcPct val="150000"/>
              </a:lnSpc>
              <a:buNone/>
            </a:pPr>
            <a:r>
              <a:rPr lang="en-US" sz="2800" b="1" dirty="0">
                <a:latin typeface="Calibir"/>
              </a:rPr>
              <a:t>Python</a:t>
            </a:r>
          </a:p>
          <a:p>
            <a:pPr rtl="0">
              <a:lnSpc>
                <a:spcPct val="150000"/>
              </a:lnSpc>
              <a:buNone/>
            </a:pPr>
            <a:r>
              <a:rPr lang="en-US" sz="2800" dirty="0">
                <a:highlight>
                  <a:srgbClr val="FFFF00"/>
                </a:highlight>
                <a:latin typeface="Calibir"/>
              </a:rPr>
              <a:t>class </a:t>
            </a:r>
            <a:r>
              <a:rPr lang="en-US" sz="2800" dirty="0" err="1">
                <a:highlight>
                  <a:srgbClr val="FFFF00"/>
                </a:highlight>
                <a:latin typeface="Calibir"/>
              </a:rPr>
              <a:t>CashRegister</a:t>
            </a:r>
            <a:r>
              <a:rPr lang="en-US" sz="2800" dirty="0">
                <a:highlight>
                  <a:srgbClr val="FFFF00"/>
                </a:highlight>
                <a:latin typeface="Calibir"/>
              </a:rPr>
              <a:t>:</a:t>
            </a:r>
          </a:p>
          <a:p>
            <a:pPr rtl="0">
              <a:lnSpc>
                <a:spcPct val="150000"/>
              </a:lnSpc>
              <a:buNone/>
            </a:pPr>
            <a:r>
              <a:rPr lang="en-US" sz="2800" dirty="0">
                <a:highlight>
                  <a:srgbClr val="FFFF00"/>
                </a:highlight>
                <a:latin typeface="Calibir"/>
              </a:rPr>
              <a:t>    def __</a:t>
            </a:r>
            <a:r>
              <a:rPr lang="en-US" sz="2800" dirty="0" err="1">
                <a:highlight>
                  <a:srgbClr val="FFFF00"/>
                </a:highlight>
                <a:latin typeface="Calibir"/>
              </a:rPr>
              <a:t>init</a:t>
            </a:r>
            <a:r>
              <a:rPr lang="en-US" sz="2800" dirty="0">
                <a:highlight>
                  <a:srgbClr val="FFFF00"/>
                </a:highlight>
                <a:latin typeface="Calibir"/>
              </a:rPr>
              <a:t>__(self):</a:t>
            </a:r>
          </a:p>
          <a:p>
            <a:pPr rtl="0">
              <a:lnSpc>
                <a:spcPct val="150000"/>
              </a:lnSpc>
              <a:buNone/>
            </a:pPr>
            <a:r>
              <a:rPr lang="en-US" sz="2800" dirty="0">
                <a:highlight>
                  <a:srgbClr val="FFFF00"/>
                </a:highlight>
                <a:latin typeface="Calibir"/>
              </a:rPr>
              <a:t>        </a:t>
            </a:r>
            <a:r>
              <a:rPr lang="en-US" sz="2800" dirty="0" err="1">
                <a:highlight>
                  <a:srgbClr val="FFFF00"/>
                </a:highlight>
                <a:latin typeface="Calibir"/>
              </a:rPr>
              <a:t>self.cash</a:t>
            </a:r>
            <a:r>
              <a:rPr lang="en-US" sz="2800" dirty="0">
                <a:highlight>
                  <a:srgbClr val="FFFF00"/>
                </a:highlight>
                <a:latin typeface="Calibir"/>
              </a:rPr>
              <a:t> = 0.0</a:t>
            </a:r>
          </a:p>
        </p:txBody>
      </p:sp>
      <p:sp>
        <p:nvSpPr>
          <p:cNvPr id="6" name="TextBox 5">
            <a:extLst>
              <a:ext uri="{FF2B5EF4-FFF2-40B4-BE49-F238E27FC236}">
                <a16:creationId xmlns:a16="http://schemas.microsoft.com/office/drawing/2014/main" id="{59DEB205-0584-575F-52B5-2725D6C40863}"/>
              </a:ext>
            </a:extLst>
          </p:cNvPr>
          <p:cNvSpPr txBox="1"/>
          <p:nvPr/>
        </p:nvSpPr>
        <p:spPr>
          <a:xfrm>
            <a:off x="8495072" y="2123578"/>
            <a:ext cx="3510115" cy="2610843"/>
          </a:xfrm>
          <a:prstGeom prst="rect">
            <a:avLst/>
          </a:prstGeom>
          <a:noFill/>
        </p:spPr>
        <p:txBody>
          <a:bodyPr wrap="square">
            <a:spAutoFit/>
          </a:bodyPr>
          <a:lstStyle/>
          <a:p>
            <a:pPr>
              <a:lnSpc>
                <a:spcPct val="150000"/>
              </a:lnSpc>
              <a:buNone/>
            </a:pPr>
            <a:r>
              <a:rPr lang="en-US" sz="2800" b="1" dirty="0">
                <a:latin typeface="Calibir"/>
              </a:rPr>
              <a:t>Java</a:t>
            </a:r>
          </a:p>
          <a:p>
            <a:pPr rtl="0">
              <a:lnSpc>
                <a:spcPct val="150000"/>
              </a:lnSpc>
              <a:buNone/>
            </a:pPr>
            <a:r>
              <a:rPr lang="en-US" sz="2800" dirty="0">
                <a:highlight>
                  <a:srgbClr val="FFFF00"/>
                </a:highlight>
                <a:latin typeface="Calibir"/>
              </a:rPr>
              <a:t>public </a:t>
            </a:r>
            <a:r>
              <a:rPr lang="en-US" sz="2800" dirty="0" err="1">
                <a:highlight>
                  <a:srgbClr val="FFFF00"/>
                </a:highlight>
                <a:latin typeface="Calibir"/>
              </a:rPr>
              <a:t>CashRegister</a:t>
            </a:r>
            <a:r>
              <a:rPr lang="en-US" sz="2800" dirty="0">
                <a:highlight>
                  <a:srgbClr val="FFFF00"/>
                </a:highlight>
                <a:latin typeface="Calibir"/>
              </a:rPr>
              <a:t>() {</a:t>
            </a:r>
          </a:p>
          <a:p>
            <a:pPr rtl="0">
              <a:lnSpc>
                <a:spcPct val="150000"/>
              </a:lnSpc>
              <a:buNone/>
            </a:pPr>
            <a:r>
              <a:rPr lang="en-US" sz="2800" dirty="0">
                <a:highlight>
                  <a:srgbClr val="FFFF00"/>
                </a:highlight>
                <a:latin typeface="Calibir"/>
              </a:rPr>
              <a:t>    cash = 0.0;</a:t>
            </a:r>
          </a:p>
          <a:p>
            <a:pPr rtl="0">
              <a:lnSpc>
                <a:spcPct val="150000"/>
              </a:lnSpc>
              <a:buNone/>
            </a:pPr>
            <a:r>
              <a:rPr lang="en-US" sz="2800" dirty="0">
                <a:highlight>
                  <a:srgbClr val="FFFF00"/>
                </a:highlight>
                <a:latin typeface="Calibir"/>
              </a:rPr>
              <a:t>}</a:t>
            </a:r>
          </a:p>
        </p:txBody>
      </p:sp>
    </p:spTree>
    <p:extLst>
      <p:ext uri="{BB962C8B-B14F-4D97-AF65-F5344CB8AC3E}">
        <p14:creationId xmlns:p14="http://schemas.microsoft.com/office/powerpoint/2010/main" val="123439930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5A4C4E81-BFCF-0E4E-1A9D-0AC9ADB92D1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F90C719-1AF7-9046-DDC6-F76E10A51220}"/>
              </a:ext>
            </a:extLst>
          </p:cNvPr>
          <p:cNvSpPr txBox="1"/>
          <p:nvPr/>
        </p:nvSpPr>
        <p:spPr>
          <a:xfrm>
            <a:off x="-2458" y="0"/>
            <a:ext cx="6098458" cy="3903504"/>
          </a:xfrm>
          <a:prstGeom prst="rect">
            <a:avLst/>
          </a:prstGeom>
          <a:noFill/>
        </p:spPr>
        <p:txBody>
          <a:bodyPr wrap="square">
            <a:spAutoFit/>
          </a:bodyPr>
          <a:lstStyle/>
          <a:p>
            <a:pPr>
              <a:lnSpc>
                <a:spcPct val="150000"/>
              </a:lnSpc>
            </a:pPr>
            <a:r>
              <a:rPr lang="en-US" sz="2800" b="1" dirty="0">
                <a:latin typeface="Calibir"/>
              </a:rPr>
              <a:t>Step 9 — gain()</a:t>
            </a:r>
          </a:p>
          <a:p>
            <a:pPr>
              <a:lnSpc>
                <a:spcPct val="150000"/>
              </a:lnSpc>
            </a:pPr>
            <a:r>
              <a:rPr lang="en-US" sz="2800" dirty="0">
                <a:latin typeface="Calibir"/>
              </a:rPr>
              <a:t>Money from a sale enters the cash register.</a:t>
            </a:r>
          </a:p>
          <a:p>
            <a:pPr>
              <a:lnSpc>
                <a:spcPct val="150000"/>
              </a:lnSpc>
            </a:pPr>
            <a:r>
              <a:rPr lang="en-US" sz="2800" b="1" dirty="0">
                <a:latin typeface="Calibir"/>
              </a:rPr>
              <a:t>Python</a:t>
            </a:r>
          </a:p>
          <a:p>
            <a:pPr>
              <a:lnSpc>
                <a:spcPct val="150000"/>
              </a:lnSpc>
            </a:pPr>
            <a:r>
              <a:rPr lang="en-US" sz="2800" dirty="0">
                <a:highlight>
                  <a:srgbClr val="FFFF00"/>
                </a:highlight>
                <a:latin typeface="Calibir"/>
              </a:rPr>
              <a:t>def gain(self, amount):</a:t>
            </a:r>
          </a:p>
          <a:p>
            <a:pPr>
              <a:lnSpc>
                <a:spcPct val="150000"/>
              </a:lnSpc>
            </a:pPr>
            <a:r>
              <a:rPr lang="en-US" sz="2800" dirty="0">
                <a:highlight>
                  <a:srgbClr val="FFFF00"/>
                </a:highlight>
                <a:latin typeface="Calibir"/>
              </a:rPr>
              <a:t>    </a:t>
            </a:r>
            <a:r>
              <a:rPr lang="en-US" sz="2800" dirty="0" err="1">
                <a:highlight>
                  <a:srgbClr val="FFFF00"/>
                </a:highlight>
                <a:latin typeface="Calibir"/>
              </a:rPr>
              <a:t>self.cash</a:t>
            </a:r>
            <a:r>
              <a:rPr lang="en-US" sz="2800" dirty="0">
                <a:highlight>
                  <a:srgbClr val="FFFF00"/>
                </a:highlight>
                <a:latin typeface="Calibir"/>
              </a:rPr>
              <a:t> += amount</a:t>
            </a:r>
          </a:p>
        </p:txBody>
      </p:sp>
      <p:sp>
        <p:nvSpPr>
          <p:cNvPr id="6" name="TextBox 5">
            <a:extLst>
              <a:ext uri="{FF2B5EF4-FFF2-40B4-BE49-F238E27FC236}">
                <a16:creationId xmlns:a16="http://schemas.microsoft.com/office/drawing/2014/main" id="{95C10C53-39C7-0F60-FA62-C4DD0BB79476}"/>
              </a:ext>
            </a:extLst>
          </p:cNvPr>
          <p:cNvSpPr txBox="1"/>
          <p:nvPr/>
        </p:nvSpPr>
        <p:spPr>
          <a:xfrm>
            <a:off x="8214852" y="0"/>
            <a:ext cx="3510115" cy="2677656"/>
          </a:xfrm>
          <a:prstGeom prst="rect">
            <a:avLst/>
          </a:prstGeom>
          <a:noFill/>
        </p:spPr>
        <p:txBody>
          <a:bodyPr wrap="square">
            <a:spAutoFit/>
          </a:bodyPr>
          <a:lstStyle/>
          <a:p>
            <a:r>
              <a:rPr lang="en-US" sz="2800" b="1" dirty="0">
                <a:latin typeface="Calibir"/>
              </a:rPr>
              <a:t>Java</a:t>
            </a:r>
          </a:p>
          <a:p>
            <a:r>
              <a:rPr lang="en-US" sz="2800" dirty="0">
                <a:highlight>
                  <a:srgbClr val="FFFF00"/>
                </a:highlight>
                <a:latin typeface="Calibir"/>
              </a:rPr>
              <a:t>public void gain(</a:t>
            </a:r>
          </a:p>
          <a:p>
            <a:r>
              <a:rPr lang="en-US" sz="2800" dirty="0">
                <a:highlight>
                  <a:srgbClr val="FFFF00"/>
                </a:highlight>
                <a:latin typeface="Calibir"/>
              </a:rPr>
              <a:t>        double amount) {</a:t>
            </a:r>
          </a:p>
          <a:p>
            <a:endParaRPr lang="en-US" sz="2800" dirty="0">
              <a:highlight>
                <a:srgbClr val="FFFF00"/>
              </a:highlight>
              <a:latin typeface="Calibir"/>
            </a:endParaRPr>
          </a:p>
          <a:p>
            <a:r>
              <a:rPr lang="en-US" sz="2800" dirty="0">
                <a:highlight>
                  <a:srgbClr val="FFFF00"/>
                </a:highlight>
                <a:latin typeface="Calibir"/>
              </a:rPr>
              <a:t>    cash += amount;</a:t>
            </a:r>
          </a:p>
          <a:p>
            <a:r>
              <a:rPr lang="en-US" sz="2800" dirty="0">
                <a:highlight>
                  <a:srgbClr val="FFFF00"/>
                </a:highlight>
                <a:latin typeface="Calibir"/>
              </a:rPr>
              <a:t>}</a:t>
            </a:r>
          </a:p>
        </p:txBody>
      </p:sp>
    </p:spTree>
    <p:extLst>
      <p:ext uri="{BB962C8B-B14F-4D97-AF65-F5344CB8AC3E}">
        <p14:creationId xmlns:p14="http://schemas.microsoft.com/office/powerpoint/2010/main" val="159600833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BD6C8F83-95A5-BF97-B22D-68A42628B3A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12E92D9-FD89-3FC9-C29A-F6438D11270B}"/>
              </a:ext>
            </a:extLst>
          </p:cNvPr>
          <p:cNvSpPr txBox="1"/>
          <p:nvPr/>
        </p:nvSpPr>
        <p:spPr>
          <a:xfrm>
            <a:off x="-2458" y="0"/>
            <a:ext cx="6098458" cy="3257174"/>
          </a:xfrm>
          <a:prstGeom prst="rect">
            <a:avLst/>
          </a:prstGeom>
          <a:noFill/>
        </p:spPr>
        <p:txBody>
          <a:bodyPr wrap="square">
            <a:spAutoFit/>
          </a:bodyPr>
          <a:lstStyle/>
          <a:p>
            <a:pPr>
              <a:lnSpc>
                <a:spcPct val="150000"/>
              </a:lnSpc>
            </a:pPr>
            <a:r>
              <a:rPr lang="en-US" sz="2800" b="1" dirty="0">
                <a:latin typeface="Calibir"/>
              </a:rPr>
              <a:t>Step 10 — pay()</a:t>
            </a:r>
          </a:p>
          <a:p>
            <a:pPr>
              <a:lnSpc>
                <a:spcPct val="150000"/>
              </a:lnSpc>
            </a:pPr>
            <a:r>
              <a:rPr lang="en-US" sz="2800" dirty="0">
                <a:latin typeface="Calibir"/>
              </a:rPr>
              <a:t>Restocking reduces cash.</a:t>
            </a:r>
          </a:p>
          <a:p>
            <a:pPr>
              <a:lnSpc>
                <a:spcPct val="150000"/>
              </a:lnSpc>
            </a:pPr>
            <a:r>
              <a:rPr lang="en-US" sz="2800" b="1" dirty="0">
                <a:latin typeface="Calibir"/>
              </a:rPr>
              <a:t>Python</a:t>
            </a:r>
          </a:p>
          <a:p>
            <a:pPr>
              <a:lnSpc>
                <a:spcPct val="150000"/>
              </a:lnSpc>
            </a:pPr>
            <a:r>
              <a:rPr lang="en-US" sz="2800" dirty="0">
                <a:highlight>
                  <a:srgbClr val="FFFF00"/>
                </a:highlight>
                <a:latin typeface="Calibir"/>
              </a:rPr>
              <a:t>def pay(self, amount):</a:t>
            </a:r>
          </a:p>
          <a:p>
            <a:pPr>
              <a:lnSpc>
                <a:spcPct val="150000"/>
              </a:lnSpc>
            </a:pPr>
            <a:r>
              <a:rPr lang="en-US" sz="2800" dirty="0">
                <a:highlight>
                  <a:srgbClr val="FFFF00"/>
                </a:highlight>
                <a:latin typeface="Calibir"/>
              </a:rPr>
              <a:t>    </a:t>
            </a:r>
            <a:r>
              <a:rPr lang="en-US" sz="2800" dirty="0" err="1">
                <a:highlight>
                  <a:srgbClr val="FFFF00"/>
                </a:highlight>
                <a:latin typeface="Calibir"/>
              </a:rPr>
              <a:t>self.cash</a:t>
            </a:r>
            <a:r>
              <a:rPr lang="en-US" sz="2800" dirty="0">
                <a:highlight>
                  <a:srgbClr val="FFFF00"/>
                </a:highlight>
                <a:latin typeface="Calibir"/>
              </a:rPr>
              <a:t> -= amount</a:t>
            </a:r>
          </a:p>
        </p:txBody>
      </p:sp>
      <p:sp>
        <p:nvSpPr>
          <p:cNvPr id="6" name="TextBox 5">
            <a:extLst>
              <a:ext uri="{FF2B5EF4-FFF2-40B4-BE49-F238E27FC236}">
                <a16:creationId xmlns:a16="http://schemas.microsoft.com/office/drawing/2014/main" id="{8CB136B1-3FFE-85B0-3C87-1CFF3EBAD9DF}"/>
              </a:ext>
            </a:extLst>
          </p:cNvPr>
          <p:cNvSpPr txBox="1"/>
          <p:nvPr/>
        </p:nvSpPr>
        <p:spPr>
          <a:xfrm>
            <a:off x="7831394" y="0"/>
            <a:ext cx="3893573" cy="3903504"/>
          </a:xfrm>
          <a:prstGeom prst="rect">
            <a:avLst/>
          </a:prstGeom>
          <a:noFill/>
        </p:spPr>
        <p:txBody>
          <a:bodyPr wrap="square">
            <a:spAutoFit/>
          </a:bodyPr>
          <a:lstStyle/>
          <a:p>
            <a:pPr>
              <a:lnSpc>
                <a:spcPct val="150000"/>
              </a:lnSpc>
            </a:pPr>
            <a:r>
              <a:rPr lang="en-US" sz="2800" b="1" dirty="0">
                <a:latin typeface="Calibir"/>
              </a:rPr>
              <a:t>Java</a:t>
            </a:r>
          </a:p>
          <a:p>
            <a:pPr>
              <a:lnSpc>
                <a:spcPct val="150000"/>
              </a:lnSpc>
            </a:pPr>
            <a:r>
              <a:rPr lang="en-US" sz="2800" dirty="0">
                <a:highlight>
                  <a:srgbClr val="FFFF00"/>
                </a:highlight>
                <a:latin typeface="Calibir"/>
              </a:rPr>
              <a:t>public void pay(</a:t>
            </a:r>
          </a:p>
          <a:p>
            <a:pPr>
              <a:lnSpc>
                <a:spcPct val="150000"/>
              </a:lnSpc>
            </a:pPr>
            <a:r>
              <a:rPr lang="en-US" sz="2800" dirty="0">
                <a:highlight>
                  <a:srgbClr val="FFFF00"/>
                </a:highlight>
                <a:latin typeface="Calibir"/>
              </a:rPr>
              <a:t>        double amount) {</a:t>
            </a:r>
          </a:p>
          <a:p>
            <a:pPr>
              <a:lnSpc>
                <a:spcPct val="150000"/>
              </a:lnSpc>
            </a:pPr>
            <a:endParaRPr lang="en-US" sz="2800" dirty="0">
              <a:highlight>
                <a:srgbClr val="FFFF00"/>
              </a:highlight>
              <a:latin typeface="Calibir"/>
            </a:endParaRPr>
          </a:p>
          <a:p>
            <a:pPr>
              <a:lnSpc>
                <a:spcPct val="150000"/>
              </a:lnSpc>
            </a:pPr>
            <a:r>
              <a:rPr lang="en-US" sz="2800" dirty="0">
                <a:highlight>
                  <a:srgbClr val="FFFF00"/>
                </a:highlight>
                <a:latin typeface="Calibir"/>
              </a:rPr>
              <a:t>    cash -= amount;</a:t>
            </a:r>
          </a:p>
          <a:p>
            <a:pPr>
              <a:lnSpc>
                <a:spcPct val="150000"/>
              </a:lnSpc>
            </a:pPr>
            <a:r>
              <a:rPr lang="en-US" sz="2800" dirty="0">
                <a:highlight>
                  <a:srgbClr val="FFFF00"/>
                </a:highlight>
                <a:latin typeface="Calibir"/>
              </a:rPr>
              <a:t>}</a:t>
            </a:r>
          </a:p>
        </p:txBody>
      </p:sp>
    </p:spTree>
    <p:extLst>
      <p:ext uri="{BB962C8B-B14F-4D97-AF65-F5344CB8AC3E}">
        <p14:creationId xmlns:p14="http://schemas.microsoft.com/office/powerpoint/2010/main" val="156807911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C7C077D3-A4C3-8D64-5E0B-4017A92713C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0A9A94-3101-77B2-D6F2-C3B913C92129}"/>
              </a:ext>
            </a:extLst>
          </p:cNvPr>
          <p:cNvSpPr txBox="1"/>
          <p:nvPr/>
        </p:nvSpPr>
        <p:spPr>
          <a:xfrm>
            <a:off x="-2458" y="0"/>
            <a:ext cx="6098458" cy="2610843"/>
          </a:xfrm>
          <a:prstGeom prst="rect">
            <a:avLst/>
          </a:prstGeom>
          <a:noFill/>
        </p:spPr>
        <p:txBody>
          <a:bodyPr wrap="square">
            <a:spAutoFit/>
          </a:bodyPr>
          <a:lstStyle/>
          <a:p>
            <a:pPr>
              <a:lnSpc>
                <a:spcPct val="150000"/>
              </a:lnSpc>
            </a:pPr>
            <a:r>
              <a:rPr lang="en-US" sz="2800" b="1" dirty="0">
                <a:latin typeface="Calibir"/>
              </a:rPr>
              <a:t>Step 11 — </a:t>
            </a:r>
            <a:r>
              <a:rPr lang="en-US" sz="2800" b="1" dirty="0" err="1">
                <a:latin typeface="Calibir"/>
              </a:rPr>
              <a:t>isEmpty</a:t>
            </a:r>
            <a:r>
              <a:rPr lang="en-US" sz="2800" b="1" dirty="0">
                <a:latin typeface="Calibir"/>
              </a:rPr>
              <a:t>()</a:t>
            </a:r>
          </a:p>
          <a:p>
            <a:pPr>
              <a:lnSpc>
                <a:spcPct val="150000"/>
              </a:lnSpc>
            </a:pPr>
            <a:r>
              <a:rPr lang="en-US" sz="2800" b="1" dirty="0">
                <a:latin typeface="Calibir"/>
              </a:rPr>
              <a:t>Python</a:t>
            </a:r>
          </a:p>
          <a:p>
            <a:pPr>
              <a:lnSpc>
                <a:spcPct val="150000"/>
              </a:lnSpc>
            </a:pPr>
            <a:r>
              <a:rPr lang="en-US" sz="2800" dirty="0">
                <a:highlight>
                  <a:srgbClr val="FFFF00"/>
                </a:highlight>
                <a:latin typeface="Calibir"/>
              </a:rPr>
              <a:t>def </a:t>
            </a:r>
            <a:r>
              <a:rPr lang="en-US" sz="2800" dirty="0" err="1">
                <a:highlight>
                  <a:srgbClr val="FFFF00"/>
                </a:highlight>
                <a:latin typeface="Calibir"/>
              </a:rPr>
              <a:t>is_empty</a:t>
            </a:r>
            <a:r>
              <a:rPr lang="en-US" sz="2800" dirty="0">
                <a:highlight>
                  <a:srgbClr val="FFFF00"/>
                </a:highlight>
                <a:latin typeface="Calibir"/>
              </a:rPr>
              <a:t>(self):</a:t>
            </a:r>
          </a:p>
          <a:p>
            <a:pPr>
              <a:lnSpc>
                <a:spcPct val="150000"/>
              </a:lnSpc>
            </a:pPr>
            <a:r>
              <a:rPr lang="en-US" sz="2800" dirty="0">
                <a:highlight>
                  <a:srgbClr val="FFFF00"/>
                </a:highlight>
                <a:latin typeface="Calibir"/>
              </a:rPr>
              <a:t>    return </a:t>
            </a:r>
            <a:r>
              <a:rPr lang="en-US" sz="2800" dirty="0" err="1">
                <a:highlight>
                  <a:srgbClr val="FFFF00"/>
                </a:highlight>
                <a:latin typeface="Calibir"/>
              </a:rPr>
              <a:t>self.cash</a:t>
            </a:r>
            <a:r>
              <a:rPr lang="en-US" sz="2800" dirty="0">
                <a:highlight>
                  <a:srgbClr val="FFFF00"/>
                </a:highlight>
                <a:latin typeface="Calibir"/>
              </a:rPr>
              <a:t> == 0</a:t>
            </a:r>
          </a:p>
        </p:txBody>
      </p:sp>
      <p:sp>
        <p:nvSpPr>
          <p:cNvPr id="6" name="TextBox 5">
            <a:extLst>
              <a:ext uri="{FF2B5EF4-FFF2-40B4-BE49-F238E27FC236}">
                <a16:creationId xmlns:a16="http://schemas.microsoft.com/office/drawing/2014/main" id="{98B3902E-BCC7-41FF-8A4D-254E04839E39}"/>
              </a:ext>
            </a:extLst>
          </p:cNvPr>
          <p:cNvSpPr txBox="1"/>
          <p:nvPr/>
        </p:nvSpPr>
        <p:spPr>
          <a:xfrm>
            <a:off x="7831394" y="0"/>
            <a:ext cx="3893573" cy="3257174"/>
          </a:xfrm>
          <a:prstGeom prst="rect">
            <a:avLst/>
          </a:prstGeom>
          <a:noFill/>
        </p:spPr>
        <p:txBody>
          <a:bodyPr wrap="square">
            <a:spAutoFit/>
          </a:bodyPr>
          <a:lstStyle/>
          <a:p>
            <a:pPr>
              <a:lnSpc>
                <a:spcPct val="150000"/>
              </a:lnSpc>
            </a:pPr>
            <a:r>
              <a:rPr lang="en-US" sz="2800" b="1" dirty="0">
                <a:latin typeface="Calibir"/>
              </a:rPr>
              <a:t>Java</a:t>
            </a:r>
          </a:p>
          <a:p>
            <a:pPr>
              <a:lnSpc>
                <a:spcPct val="150000"/>
              </a:lnSpc>
            </a:pPr>
            <a:r>
              <a:rPr lang="en-US" sz="2800" dirty="0">
                <a:highlight>
                  <a:srgbClr val="FFFF00"/>
                </a:highlight>
                <a:latin typeface="Calibir"/>
              </a:rPr>
              <a:t>public </a:t>
            </a:r>
            <a:r>
              <a:rPr lang="en-US" sz="2800" dirty="0" err="1">
                <a:highlight>
                  <a:srgbClr val="FFFF00"/>
                </a:highlight>
                <a:latin typeface="Calibir"/>
              </a:rPr>
              <a:t>boolean</a:t>
            </a:r>
            <a:r>
              <a:rPr lang="en-US" sz="2800" dirty="0">
                <a:highlight>
                  <a:srgbClr val="FFFF00"/>
                </a:highlight>
                <a:latin typeface="Calibir"/>
              </a:rPr>
              <a:t> </a:t>
            </a:r>
            <a:r>
              <a:rPr lang="en-US" sz="2800" dirty="0" err="1">
                <a:highlight>
                  <a:srgbClr val="FFFF00"/>
                </a:highlight>
                <a:latin typeface="Calibir"/>
              </a:rPr>
              <a:t>isEmpty</a:t>
            </a:r>
            <a:r>
              <a:rPr lang="en-US" sz="2800" dirty="0">
                <a:highlight>
                  <a:srgbClr val="FFFF00"/>
                </a:highlight>
                <a:latin typeface="Calibir"/>
              </a:rPr>
              <a:t>() {</a:t>
            </a:r>
          </a:p>
          <a:p>
            <a:pPr>
              <a:lnSpc>
                <a:spcPct val="150000"/>
              </a:lnSpc>
            </a:pPr>
            <a:r>
              <a:rPr lang="en-US" sz="2800" dirty="0">
                <a:highlight>
                  <a:srgbClr val="FFFF00"/>
                </a:highlight>
                <a:latin typeface="Calibir"/>
              </a:rPr>
              <a:t>    return cash == 0;</a:t>
            </a:r>
          </a:p>
          <a:p>
            <a:pPr>
              <a:lnSpc>
                <a:spcPct val="150000"/>
              </a:lnSpc>
            </a:pPr>
            <a:r>
              <a:rPr lang="en-US" sz="2800" dirty="0">
                <a:highlight>
                  <a:srgbClr val="FFFF00"/>
                </a:highlight>
                <a:latin typeface="Calibir"/>
              </a:rPr>
              <a:t>}</a:t>
            </a:r>
          </a:p>
        </p:txBody>
      </p:sp>
    </p:spTree>
    <p:extLst>
      <p:ext uri="{BB962C8B-B14F-4D97-AF65-F5344CB8AC3E}">
        <p14:creationId xmlns:p14="http://schemas.microsoft.com/office/powerpoint/2010/main" val="45271266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C952CAEC-1F2A-7EE4-11AF-C506BBD4F2D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A039BED-8DFA-82FE-BEE4-1681F1A68735}"/>
              </a:ext>
            </a:extLst>
          </p:cNvPr>
          <p:cNvSpPr txBox="1"/>
          <p:nvPr/>
        </p:nvSpPr>
        <p:spPr>
          <a:xfrm>
            <a:off x="-2458" y="0"/>
            <a:ext cx="6098458" cy="2610843"/>
          </a:xfrm>
          <a:prstGeom prst="rect">
            <a:avLst/>
          </a:prstGeom>
          <a:noFill/>
        </p:spPr>
        <p:txBody>
          <a:bodyPr wrap="square">
            <a:spAutoFit/>
          </a:bodyPr>
          <a:lstStyle/>
          <a:p>
            <a:pPr>
              <a:lnSpc>
                <a:spcPct val="150000"/>
              </a:lnSpc>
            </a:pPr>
            <a:r>
              <a:rPr lang="en-US" sz="2800" b="1" dirty="0">
                <a:latin typeface="Calibir"/>
              </a:rPr>
              <a:t>Step 12 — has(cash)</a:t>
            </a:r>
          </a:p>
          <a:p>
            <a:pPr>
              <a:lnSpc>
                <a:spcPct val="150000"/>
              </a:lnSpc>
            </a:pPr>
            <a:r>
              <a:rPr lang="en-US" sz="2800" b="1" dirty="0">
                <a:latin typeface="Calibir"/>
              </a:rPr>
              <a:t>Python</a:t>
            </a:r>
          </a:p>
          <a:p>
            <a:pPr>
              <a:lnSpc>
                <a:spcPct val="150000"/>
              </a:lnSpc>
            </a:pPr>
            <a:r>
              <a:rPr lang="en-US" sz="2800" dirty="0">
                <a:highlight>
                  <a:srgbClr val="FFFF00"/>
                </a:highlight>
                <a:latin typeface="Calibir"/>
              </a:rPr>
              <a:t>def has(self, amount):</a:t>
            </a:r>
          </a:p>
          <a:p>
            <a:pPr>
              <a:lnSpc>
                <a:spcPct val="150000"/>
              </a:lnSpc>
            </a:pPr>
            <a:r>
              <a:rPr lang="en-US" sz="2800" dirty="0">
                <a:highlight>
                  <a:srgbClr val="FFFF00"/>
                </a:highlight>
                <a:latin typeface="Calibir"/>
              </a:rPr>
              <a:t>    return </a:t>
            </a:r>
            <a:r>
              <a:rPr lang="en-US" sz="2800" dirty="0" err="1">
                <a:highlight>
                  <a:srgbClr val="FFFF00"/>
                </a:highlight>
                <a:latin typeface="Calibir"/>
              </a:rPr>
              <a:t>self.cash</a:t>
            </a:r>
            <a:r>
              <a:rPr lang="en-US" sz="2800" dirty="0">
                <a:highlight>
                  <a:srgbClr val="FFFF00"/>
                </a:highlight>
                <a:latin typeface="Calibir"/>
              </a:rPr>
              <a:t> &gt;= amount</a:t>
            </a:r>
          </a:p>
        </p:txBody>
      </p:sp>
      <p:sp>
        <p:nvSpPr>
          <p:cNvPr id="6" name="TextBox 5">
            <a:extLst>
              <a:ext uri="{FF2B5EF4-FFF2-40B4-BE49-F238E27FC236}">
                <a16:creationId xmlns:a16="http://schemas.microsoft.com/office/drawing/2014/main" id="{E3AD1951-DC7F-0DED-825F-5B5C52694731}"/>
              </a:ext>
            </a:extLst>
          </p:cNvPr>
          <p:cNvSpPr txBox="1"/>
          <p:nvPr/>
        </p:nvSpPr>
        <p:spPr>
          <a:xfrm>
            <a:off x="7831394" y="0"/>
            <a:ext cx="3893573" cy="3257174"/>
          </a:xfrm>
          <a:prstGeom prst="rect">
            <a:avLst/>
          </a:prstGeom>
          <a:noFill/>
        </p:spPr>
        <p:txBody>
          <a:bodyPr wrap="square">
            <a:spAutoFit/>
          </a:bodyPr>
          <a:lstStyle/>
          <a:p>
            <a:pPr>
              <a:lnSpc>
                <a:spcPct val="150000"/>
              </a:lnSpc>
            </a:pPr>
            <a:r>
              <a:rPr lang="en-US" sz="2800" b="1" dirty="0">
                <a:latin typeface="Calibir"/>
              </a:rPr>
              <a:t>Java</a:t>
            </a:r>
          </a:p>
          <a:p>
            <a:pPr>
              <a:lnSpc>
                <a:spcPct val="150000"/>
              </a:lnSpc>
            </a:pPr>
            <a:r>
              <a:rPr lang="en-US" sz="2800" dirty="0">
                <a:highlight>
                  <a:srgbClr val="FFFF00"/>
                </a:highlight>
                <a:latin typeface="Calibir"/>
              </a:rPr>
              <a:t>public </a:t>
            </a:r>
            <a:r>
              <a:rPr lang="en-US" sz="2800" dirty="0" err="1">
                <a:highlight>
                  <a:srgbClr val="FFFF00"/>
                </a:highlight>
                <a:latin typeface="Calibir"/>
              </a:rPr>
              <a:t>boolean</a:t>
            </a:r>
            <a:r>
              <a:rPr lang="en-US" sz="2800" dirty="0">
                <a:highlight>
                  <a:srgbClr val="FFFF00"/>
                </a:highlight>
                <a:latin typeface="Calibir"/>
              </a:rPr>
              <a:t> has(</a:t>
            </a:r>
          </a:p>
          <a:p>
            <a:pPr>
              <a:lnSpc>
                <a:spcPct val="150000"/>
              </a:lnSpc>
            </a:pPr>
            <a:r>
              <a:rPr lang="en-US" sz="2800" dirty="0">
                <a:highlight>
                  <a:srgbClr val="FFFF00"/>
                </a:highlight>
                <a:latin typeface="Calibir"/>
              </a:rPr>
              <a:t>        double amount) {</a:t>
            </a:r>
          </a:p>
          <a:p>
            <a:pPr>
              <a:lnSpc>
                <a:spcPct val="150000"/>
              </a:lnSpc>
            </a:pPr>
            <a:r>
              <a:rPr lang="en-US" sz="2800" dirty="0">
                <a:highlight>
                  <a:srgbClr val="FFFF00"/>
                </a:highlight>
                <a:latin typeface="Calibir"/>
              </a:rPr>
              <a:t>    return cash &gt;= amount;</a:t>
            </a:r>
          </a:p>
          <a:p>
            <a:pPr>
              <a:lnSpc>
                <a:spcPct val="150000"/>
              </a:lnSpc>
            </a:pPr>
            <a:r>
              <a:rPr lang="en-US" sz="2800" dirty="0">
                <a:highlight>
                  <a:srgbClr val="FFFF00"/>
                </a:highlight>
                <a:latin typeface="Calibir"/>
              </a:rPr>
              <a:t>}</a:t>
            </a:r>
          </a:p>
        </p:txBody>
      </p:sp>
    </p:spTree>
    <p:extLst>
      <p:ext uri="{BB962C8B-B14F-4D97-AF65-F5344CB8AC3E}">
        <p14:creationId xmlns:p14="http://schemas.microsoft.com/office/powerpoint/2010/main" val="1769055404"/>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77FC7343-6C10-5BA3-C00F-F030F8C4D26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995DDE-B95A-0E3B-0FAB-E350CF697E57}"/>
              </a:ext>
            </a:extLst>
          </p:cNvPr>
          <p:cNvSpPr txBox="1"/>
          <p:nvPr/>
        </p:nvSpPr>
        <p:spPr>
          <a:xfrm>
            <a:off x="-2459" y="0"/>
            <a:ext cx="7583129" cy="6740307"/>
          </a:xfrm>
          <a:prstGeom prst="rect">
            <a:avLst/>
          </a:prstGeom>
          <a:noFill/>
        </p:spPr>
        <p:txBody>
          <a:bodyPr wrap="square">
            <a:spAutoFit/>
          </a:bodyPr>
          <a:lstStyle/>
          <a:p>
            <a:r>
              <a:rPr lang="en-US" sz="1600" b="1" dirty="0">
                <a:latin typeface="Calibir"/>
              </a:rPr>
              <a:t>Completed </a:t>
            </a:r>
            <a:r>
              <a:rPr lang="en-US" sz="1600" b="1" dirty="0" err="1">
                <a:latin typeface="Calibir"/>
              </a:rPr>
              <a:t>CashRegister</a:t>
            </a:r>
            <a:r>
              <a:rPr lang="en-US" sz="1600" b="1" dirty="0">
                <a:latin typeface="Calibir"/>
              </a:rPr>
              <a:t> — Python</a:t>
            </a:r>
          </a:p>
          <a:p>
            <a:r>
              <a:rPr lang="en-US" sz="1600" dirty="0">
                <a:highlight>
                  <a:srgbClr val="FFFF00"/>
                </a:highlight>
                <a:latin typeface="Calibir"/>
              </a:rPr>
              <a:t>class </a:t>
            </a:r>
            <a:r>
              <a:rPr lang="en-US" sz="1600" dirty="0" err="1">
                <a:highlight>
                  <a:srgbClr val="FFFF00"/>
                </a:highlight>
                <a:latin typeface="Calibir"/>
              </a:rPr>
              <a:t>CashRegister</a:t>
            </a:r>
            <a:r>
              <a:rPr lang="en-US" sz="1600" dirty="0">
                <a:highlight>
                  <a:srgbClr val="FFFF00"/>
                </a:highlight>
                <a:latin typeface="Calibir"/>
              </a:rPr>
              <a:t>:</a:t>
            </a:r>
          </a:p>
          <a:p>
            <a:r>
              <a:rPr lang="en-US" sz="1600" dirty="0">
                <a:highlight>
                  <a:srgbClr val="FFFF00"/>
                </a:highlight>
                <a:latin typeface="Calibir"/>
              </a:rPr>
              <a:t>    def __</a:t>
            </a:r>
            <a:r>
              <a:rPr lang="en-US" sz="1600" dirty="0" err="1">
                <a:highlight>
                  <a:srgbClr val="FFFF00"/>
                </a:highlight>
                <a:latin typeface="Calibir"/>
              </a:rPr>
              <a:t>init</a:t>
            </a:r>
            <a:r>
              <a:rPr lang="en-US" sz="1600" dirty="0">
                <a:highlight>
                  <a:srgbClr val="FFFF00"/>
                </a:highlight>
                <a:latin typeface="Calibir"/>
              </a:rPr>
              <a:t>__(self):</a:t>
            </a:r>
          </a:p>
          <a:p>
            <a:r>
              <a:rPr lang="en-US" sz="1600" dirty="0">
                <a:highlight>
                  <a:srgbClr val="FFFF00"/>
                </a:highlight>
                <a:latin typeface="Calibir"/>
              </a:rPr>
              <a:t>        </a:t>
            </a:r>
            <a:r>
              <a:rPr lang="en-US" sz="1600" dirty="0" err="1">
                <a:highlight>
                  <a:srgbClr val="FFFF00"/>
                </a:highlight>
                <a:latin typeface="Calibir"/>
              </a:rPr>
              <a:t>self.cash</a:t>
            </a:r>
            <a:r>
              <a:rPr lang="en-US" sz="1600" dirty="0">
                <a:highlight>
                  <a:srgbClr val="FFFF00"/>
                </a:highlight>
                <a:latin typeface="Calibir"/>
              </a:rPr>
              <a:t> = 0.0</a:t>
            </a:r>
          </a:p>
          <a:p>
            <a:r>
              <a:rPr lang="en-US" sz="1600" dirty="0">
                <a:highlight>
                  <a:srgbClr val="FFFF00"/>
                </a:highlight>
                <a:latin typeface="Calibir"/>
              </a:rPr>
              <a:t>    def gain(</a:t>
            </a:r>
          </a:p>
          <a:p>
            <a:r>
              <a:rPr lang="en-US" sz="1600" dirty="0">
                <a:highlight>
                  <a:srgbClr val="FFFF00"/>
                </a:highlight>
                <a:latin typeface="Calibir"/>
              </a:rPr>
              <a:t>            self,</a:t>
            </a:r>
          </a:p>
          <a:p>
            <a:r>
              <a:rPr lang="en-US" sz="1600" dirty="0">
                <a:highlight>
                  <a:srgbClr val="FFFF00"/>
                </a:highlight>
                <a:latin typeface="Calibir"/>
              </a:rPr>
              <a:t>            amount):</a:t>
            </a:r>
          </a:p>
          <a:p>
            <a:r>
              <a:rPr lang="en-US" sz="1600" dirty="0">
                <a:highlight>
                  <a:srgbClr val="FFFF00"/>
                </a:highlight>
                <a:latin typeface="Calibir"/>
              </a:rPr>
              <a:t>        </a:t>
            </a:r>
            <a:r>
              <a:rPr lang="en-US" sz="1600" dirty="0" err="1">
                <a:highlight>
                  <a:srgbClr val="FFFF00"/>
                </a:highlight>
                <a:latin typeface="Calibir"/>
              </a:rPr>
              <a:t>self.cash</a:t>
            </a:r>
            <a:r>
              <a:rPr lang="en-US" sz="1600" dirty="0">
                <a:highlight>
                  <a:srgbClr val="FFFF00"/>
                </a:highlight>
                <a:latin typeface="Calibir"/>
              </a:rPr>
              <a:t> += amount</a:t>
            </a:r>
          </a:p>
          <a:p>
            <a:r>
              <a:rPr lang="en-US" sz="1600" dirty="0">
                <a:highlight>
                  <a:srgbClr val="FFFF00"/>
                </a:highlight>
                <a:latin typeface="Calibir"/>
              </a:rPr>
              <a:t>    def pay(</a:t>
            </a:r>
          </a:p>
          <a:p>
            <a:r>
              <a:rPr lang="en-US" sz="1600" dirty="0">
                <a:highlight>
                  <a:srgbClr val="FFFF00"/>
                </a:highlight>
                <a:latin typeface="Calibir"/>
              </a:rPr>
              <a:t>            self,</a:t>
            </a:r>
          </a:p>
          <a:p>
            <a:r>
              <a:rPr lang="en-US" sz="1600" dirty="0">
                <a:highlight>
                  <a:srgbClr val="FFFF00"/>
                </a:highlight>
                <a:latin typeface="Calibir"/>
              </a:rPr>
              <a:t>            amount):</a:t>
            </a:r>
          </a:p>
          <a:p>
            <a:r>
              <a:rPr lang="en-US" sz="1600" dirty="0">
                <a:highlight>
                  <a:srgbClr val="FFFF00"/>
                </a:highlight>
                <a:latin typeface="Calibir"/>
              </a:rPr>
              <a:t>        </a:t>
            </a:r>
            <a:r>
              <a:rPr lang="en-US" sz="1600" dirty="0" err="1">
                <a:highlight>
                  <a:srgbClr val="FFFF00"/>
                </a:highlight>
                <a:latin typeface="Calibir"/>
              </a:rPr>
              <a:t>self.cash</a:t>
            </a:r>
            <a:r>
              <a:rPr lang="en-US" sz="1600" dirty="0">
                <a:highlight>
                  <a:srgbClr val="FFFF00"/>
                </a:highlight>
                <a:latin typeface="Calibir"/>
              </a:rPr>
              <a:t> -= amount</a:t>
            </a:r>
          </a:p>
          <a:p>
            <a:r>
              <a:rPr lang="en-US" sz="1600" dirty="0">
                <a:highlight>
                  <a:srgbClr val="FFFF00"/>
                </a:highlight>
                <a:latin typeface="Calibir"/>
              </a:rPr>
              <a:t>    def </a:t>
            </a:r>
            <a:r>
              <a:rPr lang="en-US" sz="1600" dirty="0" err="1">
                <a:highlight>
                  <a:srgbClr val="FFFF00"/>
                </a:highlight>
                <a:latin typeface="Calibir"/>
              </a:rPr>
              <a:t>is_empty</a:t>
            </a:r>
            <a:r>
              <a:rPr lang="en-US" sz="1600" dirty="0">
                <a:highlight>
                  <a:srgbClr val="FFFF00"/>
                </a:highlight>
                <a:latin typeface="Calibir"/>
              </a:rPr>
              <a:t>(self):</a:t>
            </a:r>
          </a:p>
          <a:p>
            <a:r>
              <a:rPr lang="en-US" sz="1600" dirty="0">
                <a:highlight>
                  <a:srgbClr val="FFFF00"/>
                </a:highlight>
                <a:latin typeface="Calibir"/>
              </a:rPr>
              <a:t>        return </a:t>
            </a:r>
            <a:r>
              <a:rPr lang="en-US" sz="1600" dirty="0" err="1">
                <a:highlight>
                  <a:srgbClr val="FFFF00"/>
                </a:highlight>
                <a:latin typeface="Calibir"/>
              </a:rPr>
              <a:t>self.cash</a:t>
            </a:r>
            <a:r>
              <a:rPr lang="en-US" sz="1600" dirty="0">
                <a:highlight>
                  <a:srgbClr val="FFFF00"/>
                </a:highlight>
                <a:latin typeface="Calibir"/>
              </a:rPr>
              <a:t> == 0</a:t>
            </a:r>
          </a:p>
          <a:p>
            <a:r>
              <a:rPr lang="en-US" sz="1600" dirty="0">
                <a:highlight>
                  <a:srgbClr val="FFFF00"/>
                </a:highlight>
                <a:latin typeface="Calibir"/>
              </a:rPr>
              <a:t>    def has(</a:t>
            </a:r>
          </a:p>
          <a:p>
            <a:r>
              <a:rPr lang="en-US" sz="1600" dirty="0">
                <a:highlight>
                  <a:srgbClr val="FFFF00"/>
                </a:highlight>
                <a:latin typeface="Calibir"/>
              </a:rPr>
              <a:t>            self,</a:t>
            </a:r>
          </a:p>
          <a:p>
            <a:r>
              <a:rPr lang="en-US" sz="1600" dirty="0">
                <a:highlight>
                  <a:srgbClr val="FFFF00"/>
                </a:highlight>
                <a:latin typeface="Calibir"/>
              </a:rPr>
              <a:t>            amount):</a:t>
            </a:r>
          </a:p>
          <a:p>
            <a:r>
              <a:rPr lang="en-US" sz="1600" dirty="0">
                <a:highlight>
                  <a:srgbClr val="FFFF00"/>
                </a:highlight>
                <a:latin typeface="Calibir"/>
              </a:rPr>
              <a:t>        return </a:t>
            </a:r>
            <a:r>
              <a:rPr lang="en-US" sz="1600" dirty="0" err="1">
                <a:highlight>
                  <a:srgbClr val="FFFF00"/>
                </a:highlight>
                <a:latin typeface="Calibir"/>
              </a:rPr>
              <a:t>self.cash</a:t>
            </a:r>
            <a:r>
              <a:rPr lang="en-US" sz="1600" dirty="0">
                <a:highlight>
                  <a:srgbClr val="FFFF00"/>
                </a:highlight>
                <a:latin typeface="Calibir"/>
              </a:rPr>
              <a:t> &gt;= amount</a:t>
            </a:r>
          </a:p>
          <a:p>
            <a:r>
              <a:rPr lang="en-US" sz="1600" dirty="0">
                <a:highlight>
                  <a:srgbClr val="FFFF00"/>
                </a:highlight>
                <a:latin typeface="Calibir"/>
              </a:rPr>
              <a:t>    def __str__(self):</a:t>
            </a:r>
          </a:p>
          <a:p>
            <a:r>
              <a:rPr lang="en-US" sz="1600" dirty="0">
                <a:highlight>
                  <a:srgbClr val="FFFF00"/>
                </a:highlight>
                <a:latin typeface="Calibir"/>
              </a:rPr>
              <a:t>        if </a:t>
            </a:r>
            <a:r>
              <a:rPr lang="en-US" sz="1600" dirty="0" err="1">
                <a:highlight>
                  <a:srgbClr val="FFFF00"/>
                </a:highlight>
                <a:latin typeface="Calibir"/>
              </a:rPr>
              <a:t>self.is_empty</a:t>
            </a:r>
            <a:r>
              <a:rPr lang="en-US" sz="1600" dirty="0">
                <a:highlight>
                  <a:srgbClr val="FFFF00"/>
                </a:highlight>
                <a:latin typeface="Calibir"/>
              </a:rPr>
              <a:t>():</a:t>
            </a:r>
          </a:p>
          <a:p>
            <a:r>
              <a:rPr lang="en-US" sz="1600" dirty="0">
                <a:highlight>
                  <a:srgbClr val="FFFF00"/>
                </a:highlight>
                <a:latin typeface="Calibir"/>
              </a:rPr>
              <a:t>            return (</a:t>
            </a:r>
          </a:p>
          <a:p>
            <a:r>
              <a:rPr lang="en-US" sz="1600" dirty="0">
                <a:highlight>
                  <a:srgbClr val="FFFF00"/>
                </a:highlight>
                <a:latin typeface="Calibir"/>
              </a:rPr>
              <a:t>                "Cash register is empty"</a:t>
            </a:r>
          </a:p>
          <a:p>
            <a:r>
              <a:rPr lang="en-US" sz="1600" dirty="0">
                <a:highlight>
                  <a:srgbClr val="FFFF00"/>
                </a:highlight>
                <a:latin typeface="Calibir"/>
              </a:rPr>
              <a:t>            )</a:t>
            </a:r>
          </a:p>
          <a:p>
            <a:r>
              <a:rPr lang="en-US" sz="1600" dirty="0">
                <a:highlight>
                  <a:srgbClr val="FFFF00"/>
                </a:highlight>
                <a:latin typeface="Calibir"/>
              </a:rPr>
              <a:t>        return (</a:t>
            </a:r>
          </a:p>
          <a:p>
            <a:r>
              <a:rPr lang="en-US" sz="1600" dirty="0">
                <a:highlight>
                  <a:srgbClr val="FFFF00"/>
                </a:highlight>
                <a:latin typeface="Calibir"/>
              </a:rPr>
              <a:t>            </a:t>
            </a:r>
            <a:r>
              <a:rPr lang="en-US" sz="1600" dirty="0" err="1">
                <a:highlight>
                  <a:srgbClr val="FFFF00"/>
                </a:highlight>
                <a:latin typeface="Calibir"/>
              </a:rPr>
              <a:t>f"Cash</a:t>
            </a:r>
            <a:r>
              <a:rPr lang="en-US" sz="1600" dirty="0">
                <a:highlight>
                  <a:srgbClr val="FFFF00"/>
                </a:highlight>
                <a:latin typeface="Calibir"/>
              </a:rPr>
              <a:t> level: "</a:t>
            </a:r>
          </a:p>
          <a:p>
            <a:r>
              <a:rPr lang="en-US" sz="1600" dirty="0">
                <a:highlight>
                  <a:srgbClr val="FFFF00"/>
                </a:highlight>
                <a:latin typeface="Calibir"/>
              </a:rPr>
              <a:t>            f"${self.cash:.2f}"</a:t>
            </a:r>
          </a:p>
          <a:p>
            <a:r>
              <a:rPr lang="en-US" sz="1600" dirty="0">
                <a:highlight>
                  <a:srgbClr val="FFFF00"/>
                </a:highlight>
                <a:latin typeface="Calibir"/>
              </a:rPr>
              <a:t>        )</a:t>
            </a:r>
          </a:p>
        </p:txBody>
      </p:sp>
    </p:spTree>
    <p:extLst>
      <p:ext uri="{BB962C8B-B14F-4D97-AF65-F5344CB8AC3E}">
        <p14:creationId xmlns:p14="http://schemas.microsoft.com/office/powerpoint/2010/main" val="200898737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9FEF3D9-0145-1CBD-48F7-25B106134C0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949B8A2-D4CB-BCD3-557A-0E73A965B009}"/>
              </a:ext>
            </a:extLst>
          </p:cNvPr>
          <p:cNvSpPr txBox="1"/>
          <p:nvPr/>
        </p:nvSpPr>
        <p:spPr>
          <a:xfrm>
            <a:off x="-2459" y="0"/>
            <a:ext cx="7583129" cy="6969600"/>
          </a:xfrm>
          <a:prstGeom prst="rect">
            <a:avLst/>
          </a:prstGeom>
          <a:noFill/>
        </p:spPr>
        <p:txBody>
          <a:bodyPr wrap="square">
            <a:spAutoFit/>
          </a:bodyPr>
          <a:lstStyle/>
          <a:p>
            <a:pPr>
              <a:lnSpc>
                <a:spcPct val="150000"/>
              </a:lnSpc>
            </a:pPr>
            <a:r>
              <a:rPr lang="en-US" sz="2000" b="1" dirty="0">
                <a:latin typeface="Calibir"/>
              </a:rPr>
              <a:t>Shop Class</a:t>
            </a:r>
          </a:p>
          <a:p>
            <a:pPr>
              <a:lnSpc>
                <a:spcPct val="150000"/>
              </a:lnSpc>
            </a:pPr>
            <a:r>
              <a:rPr lang="en-US" sz="2000" dirty="0">
                <a:latin typeface="Calibir"/>
              </a:rPr>
              <a:t>Shop has:</a:t>
            </a:r>
          </a:p>
          <a:p>
            <a:pPr>
              <a:lnSpc>
                <a:spcPct val="150000"/>
              </a:lnSpc>
            </a:pPr>
            <a:r>
              <a:rPr lang="en-US" sz="2000" dirty="0">
                <a:latin typeface="Calibir"/>
              </a:rPr>
              <a:t>product</a:t>
            </a:r>
          </a:p>
          <a:p>
            <a:pPr>
              <a:lnSpc>
                <a:spcPct val="150000"/>
              </a:lnSpc>
            </a:pPr>
            <a:r>
              <a:rPr lang="en-US" sz="2000" dirty="0" err="1">
                <a:latin typeface="Calibir"/>
              </a:rPr>
              <a:t>cashRegister</a:t>
            </a:r>
            <a:endParaRPr lang="en-US" sz="2000" dirty="0">
              <a:latin typeface="Calibir"/>
            </a:endParaRPr>
          </a:p>
          <a:p>
            <a:pPr>
              <a:lnSpc>
                <a:spcPct val="150000"/>
              </a:lnSpc>
            </a:pPr>
            <a:r>
              <a:rPr lang="en-US" sz="2000" dirty="0">
                <a:latin typeface="Calibir"/>
              </a:rPr>
              <a:t>The Shop coordinates their interactions.</a:t>
            </a:r>
          </a:p>
          <a:p>
            <a:pPr>
              <a:lnSpc>
                <a:spcPct val="150000"/>
              </a:lnSpc>
            </a:pPr>
            <a:r>
              <a:rPr lang="en-US" sz="2000" b="1" dirty="0">
                <a:latin typeface="Calibir"/>
              </a:rPr>
              <a:t>Step 14 — Shop constructor</a:t>
            </a:r>
          </a:p>
          <a:p>
            <a:pPr>
              <a:lnSpc>
                <a:spcPct val="150000"/>
              </a:lnSpc>
            </a:pPr>
            <a:r>
              <a:rPr lang="en-US" sz="2000" b="1" dirty="0">
                <a:latin typeface="Calibir"/>
              </a:rPr>
              <a:t>Python</a:t>
            </a:r>
          </a:p>
          <a:p>
            <a:pPr>
              <a:lnSpc>
                <a:spcPct val="150000"/>
              </a:lnSpc>
            </a:pPr>
            <a:r>
              <a:rPr lang="en-US" sz="2000" dirty="0">
                <a:highlight>
                  <a:srgbClr val="FFFF00"/>
                </a:highlight>
                <a:latin typeface="Calibir"/>
              </a:rPr>
              <a:t>class Shop:</a:t>
            </a:r>
          </a:p>
          <a:p>
            <a:pPr>
              <a:lnSpc>
                <a:spcPct val="150000"/>
              </a:lnSpc>
            </a:pPr>
            <a:r>
              <a:rPr lang="en-US" sz="2000" dirty="0">
                <a:highlight>
                  <a:srgbClr val="FFFF00"/>
                </a:highlight>
                <a:latin typeface="Calibir"/>
              </a:rPr>
              <a:t>    def __</a:t>
            </a:r>
            <a:r>
              <a:rPr lang="en-US" sz="2000" dirty="0" err="1">
                <a:highlight>
                  <a:srgbClr val="FFFF00"/>
                </a:highlight>
                <a:latin typeface="Calibir"/>
              </a:rPr>
              <a:t>init</a:t>
            </a:r>
            <a:r>
              <a:rPr lang="en-US" sz="2000" dirty="0">
                <a:highlight>
                  <a:srgbClr val="FFFF00"/>
                </a:highlight>
                <a:latin typeface="Calibir"/>
              </a:rPr>
              <a:t>__(</a:t>
            </a:r>
          </a:p>
          <a:p>
            <a:pPr>
              <a:lnSpc>
                <a:spcPct val="150000"/>
              </a:lnSpc>
            </a:pPr>
            <a:r>
              <a:rPr lang="en-US" sz="2000" dirty="0">
                <a:highlight>
                  <a:srgbClr val="FFFF00"/>
                </a:highlight>
                <a:latin typeface="Calibir"/>
              </a:rPr>
              <a:t>            self,</a:t>
            </a:r>
          </a:p>
          <a:p>
            <a:pPr>
              <a:lnSpc>
                <a:spcPct val="150000"/>
              </a:lnSpc>
            </a:pPr>
            <a:r>
              <a:rPr lang="en-US" sz="2000" dirty="0">
                <a:highlight>
                  <a:srgbClr val="FFFF00"/>
                </a:highlight>
                <a:latin typeface="Calibir"/>
              </a:rPr>
              <a:t>            </a:t>
            </a:r>
            <a:r>
              <a:rPr lang="en-US" sz="2000" dirty="0" err="1">
                <a:highlight>
                  <a:srgbClr val="FFFF00"/>
                </a:highlight>
                <a:latin typeface="Calibir"/>
              </a:rPr>
              <a:t>product_type</a:t>
            </a:r>
            <a:r>
              <a:rPr lang="en-US" sz="2000" dirty="0">
                <a:highlight>
                  <a:srgbClr val="FFFF00"/>
                </a:highlight>
                <a:latin typeface="Calibir"/>
              </a:rPr>
              <a:t>,</a:t>
            </a:r>
          </a:p>
          <a:p>
            <a:pPr>
              <a:lnSpc>
                <a:spcPct val="150000"/>
              </a:lnSpc>
            </a:pPr>
            <a:r>
              <a:rPr lang="en-US" sz="2000" dirty="0">
                <a:highlight>
                  <a:srgbClr val="FFFF00"/>
                </a:highlight>
                <a:latin typeface="Calibir"/>
              </a:rPr>
              <a:t>            price,</a:t>
            </a:r>
          </a:p>
          <a:p>
            <a:pPr>
              <a:lnSpc>
                <a:spcPct val="150000"/>
              </a:lnSpc>
            </a:pPr>
            <a:r>
              <a:rPr lang="en-US" sz="2000" dirty="0">
                <a:highlight>
                  <a:srgbClr val="FFFF00"/>
                </a:highlight>
                <a:latin typeface="Calibir"/>
              </a:rPr>
              <a:t>            stock):</a:t>
            </a:r>
          </a:p>
          <a:p>
            <a:pPr>
              <a:lnSpc>
                <a:spcPct val="150000"/>
              </a:lnSpc>
            </a:pPr>
            <a:r>
              <a:rPr lang="en-US" sz="2000" dirty="0">
                <a:highlight>
                  <a:srgbClr val="FFFF00"/>
                </a:highlight>
                <a:latin typeface="Calibir"/>
              </a:rPr>
              <a:t>        </a:t>
            </a:r>
            <a:r>
              <a:rPr lang="en-US" sz="2000" dirty="0" err="1">
                <a:highlight>
                  <a:srgbClr val="FFFF00"/>
                </a:highlight>
                <a:latin typeface="Calibir"/>
              </a:rPr>
              <a:t>self.product</a:t>
            </a:r>
            <a:r>
              <a:rPr lang="en-US" sz="2000" dirty="0">
                <a:highlight>
                  <a:srgbClr val="FFFF00"/>
                </a:highlight>
                <a:latin typeface="Calibir"/>
              </a:rPr>
              <a:t> = Product(</a:t>
            </a:r>
            <a:r>
              <a:rPr lang="en-US" sz="2000" dirty="0" err="1">
                <a:highlight>
                  <a:srgbClr val="FFFF00"/>
                </a:highlight>
                <a:latin typeface="Calibir"/>
              </a:rPr>
              <a:t>product_type</a:t>
            </a:r>
            <a:r>
              <a:rPr lang="en-US" sz="2000" dirty="0">
                <a:highlight>
                  <a:srgbClr val="FFFF00"/>
                </a:highlight>
                <a:latin typeface="Calibir"/>
              </a:rPr>
              <a:t>, price, stock)</a:t>
            </a:r>
          </a:p>
          <a:p>
            <a:pPr>
              <a:lnSpc>
                <a:spcPct val="150000"/>
              </a:lnSpc>
            </a:pPr>
            <a:r>
              <a:rPr lang="en-US" sz="2000" dirty="0">
                <a:highlight>
                  <a:srgbClr val="FFFF00"/>
                </a:highlight>
                <a:latin typeface="Calibir"/>
              </a:rPr>
              <a:t>        </a:t>
            </a:r>
            <a:r>
              <a:rPr lang="en-US" sz="2000" dirty="0" err="1">
                <a:highlight>
                  <a:srgbClr val="FFFF00"/>
                </a:highlight>
                <a:latin typeface="Calibir"/>
              </a:rPr>
              <a:t>self.cash_register</a:t>
            </a:r>
            <a:r>
              <a:rPr lang="en-US" sz="2000" dirty="0">
                <a:highlight>
                  <a:srgbClr val="FFFF00"/>
                </a:highlight>
                <a:latin typeface="Calibir"/>
              </a:rPr>
              <a:t> = (</a:t>
            </a:r>
            <a:r>
              <a:rPr lang="en-US" sz="2000" dirty="0" err="1">
                <a:highlight>
                  <a:srgbClr val="FFFF00"/>
                </a:highlight>
                <a:latin typeface="Calibir"/>
              </a:rPr>
              <a:t>CashRegister</a:t>
            </a:r>
            <a:r>
              <a:rPr lang="en-US" sz="2000" dirty="0">
                <a:highlight>
                  <a:srgbClr val="FFFF00"/>
                </a:highlight>
                <a:latin typeface="Calibir"/>
              </a:rPr>
              <a:t>())</a:t>
            </a:r>
          </a:p>
        </p:txBody>
      </p:sp>
    </p:spTree>
    <p:extLst>
      <p:ext uri="{BB962C8B-B14F-4D97-AF65-F5344CB8AC3E}">
        <p14:creationId xmlns:p14="http://schemas.microsoft.com/office/powerpoint/2010/main" val="423891288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EBB22566-E396-BCD9-E656-5CD0D1C2056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27F09B-6112-A559-2EA3-701B1011E4DB}"/>
              </a:ext>
            </a:extLst>
          </p:cNvPr>
          <p:cNvSpPr txBox="1"/>
          <p:nvPr/>
        </p:nvSpPr>
        <p:spPr>
          <a:xfrm>
            <a:off x="0" y="-145761"/>
            <a:ext cx="7583129" cy="7149521"/>
          </a:xfrm>
          <a:prstGeom prst="rect">
            <a:avLst/>
          </a:prstGeom>
          <a:noFill/>
        </p:spPr>
        <p:txBody>
          <a:bodyPr wrap="square">
            <a:spAutoFit/>
          </a:bodyPr>
          <a:lstStyle/>
          <a:p>
            <a:pPr>
              <a:lnSpc>
                <a:spcPct val="150000"/>
              </a:lnSpc>
            </a:pPr>
            <a:r>
              <a:rPr lang="en-US" sz="2200" b="1" dirty="0">
                <a:latin typeface="Calibir"/>
              </a:rPr>
              <a:t>Java</a:t>
            </a:r>
          </a:p>
          <a:p>
            <a:pPr>
              <a:lnSpc>
                <a:spcPct val="150000"/>
              </a:lnSpc>
            </a:pPr>
            <a:r>
              <a:rPr lang="en-US" sz="2200" dirty="0">
                <a:highlight>
                  <a:srgbClr val="FFFF00"/>
                </a:highlight>
                <a:latin typeface="Calibir"/>
              </a:rPr>
              <a:t>public Shop(</a:t>
            </a:r>
          </a:p>
          <a:p>
            <a:pPr>
              <a:lnSpc>
                <a:spcPct val="150000"/>
              </a:lnSpc>
            </a:pPr>
            <a:r>
              <a:rPr lang="en-US" sz="2200" dirty="0">
                <a:highlight>
                  <a:srgbClr val="FFFF00"/>
                </a:highlight>
                <a:latin typeface="Calibir"/>
              </a:rPr>
              <a:t>        String type,</a:t>
            </a:r>
          </a:p>
          <a:p>
            <a:pPr>
              <a:lnSpc>
                <a:spcPct val="150000"/>
              </a:lnSpc>
            </a:pPr>
            <a:r>
              <a:rPr lang="en-US" sz="2200" dirty="0">
                <a:highlight>
                  <a:srgbClr val="FFFF00"/>
                </a:highlight>
                <a:latin typeface="Calibir"/>
              </a:rPr>
              <a:t>        double price,</a:t>
            </a:r>
          </a:p>
          <a:p>
            <a:pPr>
              <a:lnSpc>
                <a:spcPct val="150000"/>
              </a:lnSpc>
            </a:pPr>
            <a:r>
              <a:rPr lang="en-US" sz="2200" dirty="0">
                <a:highlight>
                  <a:srgbClr val="FFFF00"/>
                </a:highlight>
                <a:latin typeface="Calibir"/>
              </a:rPr>
              <a:t>        int stock) {</a:t>
            </a:r>
          </a:p>
          <a:p>
            <a:pPr>
              <a:lnSpc>
                <a:spcPct val="150000"/>
              </a:lnSpc>
            </a:pPr>
            <a:r>
              <a:rPr lang="en-US" sz="2200" dirty="0">
                <a:highlight>
                  <a:srgbClr val="FFFF00"/>
                </a:highlight>
                <a:latin typeface="Calibir"/>
              </a:rPr>
              <a:t>    product =</a:t>
            </a:r>
          </a:p>
          <a:p>
            <a:pPr>
              <a:lnSpc>
                <a:spcPct val="150000"/>
              </a:lnSpc>
            </a:pPr>
            <a:r>
              <a:rPr lang="en-US" sz="2200" dirty="0">
                <a:highlight>
                  <a:srgbClr val="FFFF00"/>
                </a:highlight>
                <a:latin typeface="Calibir"/>
              </a:rPr>
              <a:t>            new Product(</a:t>
            </a:r>
          </a:p>
          <a:p>
            <a:pPr>
              <a:lnSpc>
                <a:spcPct val="150000"/>
              </a:lnSpc>
            </a:pPr>
            <a:r>
              <a:rPr lang="en-US" sz="2200" dirty="0">
                <a:highlight>
                  <a:srgbClr val="FFFF00"/>
                </a:highlight>
                <a:latin typeface="Calibir"/>
              </a:rPr>
              <a:t>                type,</a:t>
            </a:r>
          </a:p>
          <a:p>
            <a:pPr>
              <a:lnSpc>
                <a:spcPct val="150000"/>
              </a:lnSpc>
            </a:pPr>
            <a:r>
              <a:rPr lang="en-US" sz="2200" dirty="0">
                <a:highlight>
                  <a:srgbClr val="FFFF00"/>
                </a:highlight>
                <a:latin typeface="Calibir"/>
              </a:rPr>
              <a:t>                price,</a:t>
            </a:r>
          </a:p>
          <a:p>
            <a:pPr>
              <a:lnSpc>
                <a:spcPct val="150000"/>
              </a:lnSpc>
            </a:pPr>
            <a:r>
              <a:rPr lang="en-US" sz="2200" dirty="0">
                <a:highlight>
                  <a:srgbClr val="FFFF00"/>
                </a:highlight>
                <a:latin typeface="Calibir"/>
              </a:rPr>
              <a:t>                stock</a:t>
            </a:r>
          </a:p>
          <a:p>
            <a:pPr>
              <a:lnSpc>
                <a:spcPct val="150000"/>
              </a:lnSpc>
            </a:pPr>
            <a:r>
              <a:rPr lang="en-US" sz="2200" dirty="0">
                <a:highlight>
                  <a:srgbClr val="FFFF00"/>
                </a:highlight>
                <a:latin typeface="Calibir"/>
              </a:rPr>
              <a:t>            );</a:t>
            </a:r>
          </a:p>
          <a:p>
            <a:pPr>
              <a:lnSpc>
                <a:spcPct val="150000"/>
              </a:lnSpc>
            </a:pPr>
            <a:r>
              <a:rPr lang="en-US" sz="2200" dirty="0">
                <a:highlight>
                  <a:srgbClr val="FFFF00"/>
                </a:highlight>
                <a:latin typeface="Calibir"/>
              </a:rPr>
              <a:t>    </a:t>
            </a:r>
            <a:r>
              <a:rPr lang="en-US" sz="2200" dirty="0" err="1">
                <a:highlight>
                  <a:srgbClr val="FFFF00"/>
                </a:highlight>
                <a:latin typeface="Calibir"/>
              </a:rPr>
              <a:t>cashRegister</a:t>
            </a:r>
            <a:r>
              <a:rPr lang="en-US" sz="2200" dirty="0">
                <a:highlight>
                  <a:srgbClr val="FFFF00"/>
                </a:highlight>
                <a:latin typeface="Calibir"/>
              </a:rPr>
              <a:t> =</a:t>
            </a:r>
          </a:p>
          <a:p>
            <a:pPr>
              <a:lnSpc>
                <a:spcPct val="150000"/>
              </a:lnSpc>
            </a:pPr>
            <a:r>
              <a:rPr lang="en-US" sz="2200" dirty="0">
                <a:highlight>
                  <a:srgbClr val="FFFF00"/>
                </a:highlight>
                <a:latin typeface="Calibir"/>
              </a:rPr>
              <a:t>            new </a:t>
            </a:r>
            <a:r>
              <a:rPr lang="en-US" sz="2200" dirty="0" err="1">
                <a:highlight>
                  <a:srgbClr val="FFFF00"/>
                </a:highlight>
                <a:latin typeface="Calibir"/>
              </a:rPr>
              <a:t>CashRegister</a:t>
            </a:r>
            <a:r>
              <a:rPr lang="en-US" sz="2200" dirty="0">
                <a:highlight>
                  <a:srgbClr val="FFFF00"/>
                </a:highlight>
                <a:latin typeface="Calibir"/>
              </a:rPr>
              <a:t>();</a:t>
            </a:r>
          </a:p>
          <a:p>
            <a:pPr>
              <a:lnSpc>
                <a:spcPct val="150000"/>
              </a:lnSpc>
            </a:pPr>
            <a:r>
              <a:rPr lang="en-US" sz="2200" dirty="0">
                <a:highlight>
                  <a:srgbClr val="FFFF00"/>
                </a:highlight>
                <a:latin typeface="Calibir"/>
              </a:rPr>
              <a:t>}</a:t>
            </a:r>
          </a:p>
        </p:txBody>
      </p:sp>
    </p:spTree>
    <p:extLst>
      <p:ext uri="{BB962C8B-B14F-4D97-AF65-F5344CB8AC3E}">
        <p14:creationId xmlns:p14="http://schemas.microsoft.com/office/powerpoint/2010/main" val="2121659002"/>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EA69FA5A-87D5-E95D-5C50-0CED5276559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292B37E-7460-08AA-8438-B741B9AF6644}"/>
              </a:ext>
            </a:extLst>
          </p:cNvPr>
          <p:cNvSpPr txBox="1"/>
          <p:nvPr/>
        </p:nvSpPr>
        <p:spPr>
          <a:xfrm>
            <a:off x="0" y="0"/>
            <a:ext cx="7583129" cy="2610843"/>
          </a:xfrm>
          <a:prstGeom prst="rect">
            <a:avLst/>
          </a:prstGeom>
          <a:noFill/>
        </p:spPr>
        <p:txBody>
          <a:bodyPr wrap="square">
            <a:spAutoFit/>
          </a:bodyPr>
          <a:lstStyle/>
          <a:p>
            <a:pPr>
              <a:lnSpc>
                <a:spcPct val="150000"/>
              </a:lnSpc>
            </a:pPr>
            <a:r>
              <a:rPr lang="en-US" sz="2800" b="1" dirty="0">
                <a:latin typeface="Calibir"/>
              </a:rPr>
              <a:t>Step 15 — read quantity helper</a:t>
            </a:r>
          </a:p>
          <a:p>
            <a:pPr>
              <a:lnSpc>
                <a:spcPct val="150000"/>
              </a:lnSpc>
            </a:pPr>
            <a:r>
              <a:rPr lang="en-US" sz="2800" b="1" dirty="0">
                <a:latin typeface="Calibir"/>
              </a:rPr>
              <a:t>Python</a:t>
            </a:r>
          </a:p>
          <a:p>
            <a:pPr>
              <a:lnSpc>
                <a:spcPct val="150000"/>
              </a:lnSpc>
            </a:pPr>
            <a:r>
              <a:rPr lang="en-US" sz="2800" dirty="0">
                <a:highlight>
                  <a:srgbClr val="FFFF00"/>
                </a:highlight>
                <a:latin typeface="Calibir"/>
              </a:rPr>
              <a:t>def </a:t>
            </a:r>
            <a:r>
              <a:rPr lang="en-US" sz="2800" dirty="0" err="1">
                <a:highlight>
                  <a:srgbClr val="FFFF00"/>
                </a:highlight>
                <a:latin typeface="Calibir"/>
              </a:rPr>
              <a:t>read_quantity</a:t>
            </a:r>
            <a:r>
              <a:rPr lang="en-US" sz="2800" dirty="0">
                <a:highlight>
                  <a:srgbClr val="FFFF00"/>
                </a:highlight>
                <a:latin typeface="Calibir"/>
              </a:rPr>
              <a:t>(self, message):</a:t>
            </a:r>
          </a:p>
          <a:p>
            <a:pPr>
              <a:lnSpc>
                <a:spcPct val="150000"/>
              </a:lnSpc>
            </a:pPr>
            <a:r>
              <a:rPr lang="en-US" sz="2800" dirty="0">
                <a:highlight>
                  <a:srgbClr val="FFFF00"/>
                </a:highlight>
                <a:latin typeface="Calibir"/>
              </a:rPr>
              <a:t>    return int(input(message))</a:t>
            </a:r>
          </a:p>
        </p:txBody>
      </p:sp>
      <p:sp>
        <p:nvSpPr>
          <p:cNvPr id="6" name="TextBox 5">
            <a:extLst>
              <a:ext uri="{FF2B5EF4-FFF2-40B4-BE49-F238E27FC236}">
                <a16:creationId xmlns:a16="http://schemas.microsoft.com/office/drawing/2014/main" id="{8F9A0F6F-5F06-4D43-B596-09AEE3F555EE}"/>
              </a:ext>
            </a:extLst>
          </p:cNvPr>
          <p:cNvSpPr txBox="1"/>
          <p:nvPr/>
        </p:nvSpPr>
        <p:spPr>
          <a:xfrm>
            <a:off x="132737" y="2610843"/>
            <a:ext cx="6164824" cy="3970318"/>
          </a:xfrm>
          <a:prstGeom prst="rect">
            <a:avLst/>
          </a:prstGeom>
          <a:noFill/>
        </p:spPr>
        <p:txBody>
          <a:bodyPr wrap="square">
            <a:spAutoFit/>
          </a:bodyPr>
          <a:lstStyle/>
          <a:p>
            <a:pPr>
              <a:buNone/>
            </a:pPr>
            <a:r>
              <a:rPr lang="en-US" sz="2800" b="1" dirty="0">
                <a:latin typeface="Calibir"/>
              </a:rPr>
              <a:t>Java</a:t>
            </a:r>
          </a:p>
          <a:p>
            <a:pPr rtl="0">
              <a:buNone/>
            </a:pPr>
            <a:r>
              <a:rPr lang="en-US" sz="2800" dirty="0">
                <a:highlight>
                  <a:srgbClr val="FFFF00"/>
                </a:highlight>
                <a:latin typeface="Calibir"/>
              </a:rPr>
              <a:t>private int </a:t>
            </a:r>
            <a:r>
              <a:rPr lang="en-US" sz="2800" dirty="0" err="1">
                <a:highlight>
                  <a:srgbClr val="FFFF00"/>
                </a:highlight>
                <a:latin typeface="Calibir"/>
              </a:rPr>
              <a:t>readQuantity</a:t>
            </a:r>
            <a:r>
              <a:rPr lang="en-US" sz="2800" dirty="0">
                <a:highlight>
                  <a:srgbClr val="FFFF00"/>
                </a:highlight>
                <a:latin typeface="Calibir"/>
              </a:rPr>
              <a:t>(</a:t>
            </a:r>
          </a:p>
          <a:p>
            <a:pPr rtl="0">
              <a:buNone/>
            </a:pPr>
            <a:r>
              <a:rPr lang="en-US" sz="2800" dirty="0">
                <a:highlight>
                  <a:srgbClr val="FFFF00"/>
                </a:highlight>
                <a:latin typeface="Calibir"/>
              </a:rPr>
              <a:t>        Scanner input,</a:t>
            </a:r>
          </a:p>
          <a:p>
            <a:pPr rtl="0">
              <a:buNone/>
            </a:pPr>
            <a:r>
              <a:rPr lang="en-US" sz="2800" dirty="0">
                <a:highlight>
                  <a:srgbClr val="FFFF00"/>
                </a:highlight>
                <a:latin typeface="Calibir"/>
              </a:rPr>
              <a:t>        String message) {</a:t>
            </a:r>
          </a:p>
          <a:p>
            <a:pPr rtl="0">
              <a:buNone/>
            </a:pPr>
            <a:endParaRPr lang="en-US" sz="2800" dirty="0">
              <a:highlight>
                <a:srgbClr val="FFFF00"/>
              </a:highlight>
              <a:latin typeface="Calibir"/>
            </a:endParaRPr>
          </a:p>
          <a:p>
            <a:pPr rtl="0">
              <a:buNone/>
            </a:pPr>
            <a:r>
              <a:rPr lang="en-US" sz="2800" dirty="0">
                <a:highlight>
                  <a:srgbClr val="FFFF00"/>
                </a:highlight>
                <a:latin typeface="Calibir"/>
              </a:rPr>
              <a:t>    </a:t>
            </a:r>
            <a:r>
              <a:rPr lang="en-US" sz="2800" dirty="0" err="1">
                <a:highlight>
                  <a:srgbClr val="FFFF00"/>
                </a:highlight>
                <a:latin typeface="Calibir"/>
              </a:rPr>
              <a:t>System.out.print</a:t>
            </a:r>
            <a:r>
              <a:rPr lang="en-US" sz="2800" dirty="0">
                <a:highlight>
                  <a:srgbClr val="FFFF00"/>
                </a:highlight>
                <a:latin typeface="Calibir"/>
              </a:rPr>
              <a:t>(message);</a:t>
            </a:r>
          </a:p>
          <a:p>
            <a:pPr rtl="0">
              <a:buNone/>
            </a:pPr>
            <a:endParaRPr lang="en-US" sz="2800" dirty="0">
              <a:highlight>
                <a:srgbClr val="FFFF00"/>
              </a:highlight>
              <a:latin typeface="Calibir"/>
            </a:endParaRPr>
          </a:p>
          <a:p>
            <a:pPr rtl="0">
              <a:buNone/>
            </a:pPr>
            <a:r>
              <a:rPr lang="en-US" sz="2800" dirty="0">
                <a:highlight>
                  <a:srgbClr val="FFFF00"/>
                </a:highlight>
                <a:latin typeface="Calibir"/>
              </a:rPr>
              <a:t>    return </a:t>
            </a:r>
            <a:r>
              <a:rPr lang="en-US" sz="2800" dirty="0" err="1">
                <a:highlight>
                  <a:srgbClr val="FFFF00"/>
                </a:highlight>
                <a:latin typeface="Calibir"/>
              </a:rPr>
              <a:t>input.nextInt</a:t>
            </a:r>
            <a:r>
              <a:rPr lang="en-US" sz="2800" dirty="0">
                <a:highlight>
                  <a:srgbClr val="FFFF00"/>
                </a:highlight>
                <a:latin typeface="Calibir"/>
              </a:rPr>
              <a:t>();</a:t>
            </a:r>
          </a:p>
          <a:p>
            <a:pPr rtl="0">
              <a:buNone/>
            </a:pPr>
            <a:r>
              <a:rPr lang="en-US" sz="2800" dirty="0">
                <a:highlight>
                  <a:srgbClr val="FFFF00"/>
                </a:highlight>
                <a:latin typeface="Calibir"/>
              </a:rPr>
              <a:t>}</a:t>
            </a:r>
          </a:p>
        </p:txBody>
      </p:sp>
    </p:spTree>
    <p:extLst>
      <p:ext uri="{BB962C8B-B14F-4D97-AF65-F5344CB8AC3E}">
        <p14:creationId xmlns:p14="http://schemas.microsoft.com/office/powerpoint/2010/main" val="315186432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758B52C6-B5AE-4B42-1CF5-53D62DF47BC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75277E4-1488-D15C-B48D-A33D973766D9}"/>
              </a:ext>
            </a:extLst>
          </p:cNvPr>
          <p:cNvSpPr txBox="1"/>
          <p:nvPr/>
        </p:nvSpPr>
        <p:spPr>
          <a:xfrm>
            <a:off x="0" y="0"/>
            <a:ext cx="9085006" cy="5196166"/>
          </a:xfrm>
          <a:prstGeom prst="rect">
            <a:avLst/>
          </a:prstGeom>
          <a:noFill/>
        </p:spPr>
        <p:txBody>
          <a:bodyPr wrap="square">
            <a:spAutoFit/>
          </a:bodyPr>
          <a:lstStyle/>
          <a:p>
            <a:pPr>
              <a:lnSpc>
                <a:spcPct val="150000"/>
              </a:lnSpc>
              <a:buNone/>
            </a:pPr>
            <a:r>
              <a:rPr lang="en-US" sz="2800" b="1" dirty="0">
                <a:latin typeface="Calibir"/>
              </a:rPr>
              <a:t>Python</a:t>
            </a:r>
          </a:p>
          <a:p>
            <a:pPr rtl="0">
              <a:lnSpc>
                <a:spcPct val="150000"/>
              </a:lnSpc>
              <a:buNone/>
            </a:pPr>
            <a:r>
              <a:rPr lang="en-US" sz="2800" dirty="0">
                <a:highlight>
                  <a:srgbClr val="FFFF00"/>
                </a:highlight>
                <a:latin typeface="Calibir"/>
              </a:rPr>
              <a:t>def sell(self):</a:t>
            </a:r>
          </a:p>
          <a:p>
            <a:pPr rtl="0">
              <a:lnSpc>
                <a:spcPct val="150000"/>
              </a:lnSpc>
              <a:buNone/>
            </a:pPr>
            <a:r>
              <a:rPr lang="en-US" sz="2800" dirty="0">
                <a:highlight>
                  <a:srgbClr val="FFFF00"/>
                </a:highlight>
                <a:latin typeface="Calibir"/>
              </a:rPr>
              <a:t>    quantity = </a:t>
            </a:r>
            <a:r>
              <a:rPr lang="en-US" sz="2800" dirty="0" err="1">
                <a:highlight>
                  <a:srgbClr val="FFFF00"/>
                </a:highlight>
                <a:latin typeface="Calibir"/>
              </a:rPr>
              <a:t>self.read_quantity</a:t>
            </a:r>
            <a:r>
              <a:rPr lang="en-US" sz="2800" dirty="0">
                <a:highlight>
                  <a:srgbClr val="FFFF00"/>
                </a:highlight>
                <a:latin typeface="Calibir"/>
              </a:rPr>
              <a:t>("Quantity to sell: ")</a:t>
            </a:r>
          </a:p>
          <a:p>
            <a:pPr rtl="0">
              <a:lnSpc>
                <a:spcPct val="150000"/>
              </a:lnSpc>
              <a:buNone/>
            </a:pPr>
            <a:r>
              <a:rPr lang="en-US" sz="2800" dirty="0">
                <a:highlight>
                  <a:srgbClr val="FFFF00"/>
                </a:highlight>
                <a:latin typeface="Calibir"/>
              </a:rPr>
              <a:t>    if not </a:t>
            </a:r>
            <a:r>
              <a:rPr lang="en-US" sz="2800" dirty="0" err="1">
                <a:highlight>
                  <a:srgbClr val="FFFF00"/>
                </a:highlight>
                <a:latin typeface="Calibir"/>
              </a:rPr>
              <a:t>self.product.has</a:t>
            </a:r>
            <a:r>
              <a:rPr lang="en-US" sz="2800" dirty="0">
                <a:highlight>
                  <a:srgbClr val="FFFF00"/>
                </a:highlight>
                <a:latin typeface="Calibir"/>
              </a:rPr>
              <a:t>(quantity):</a:t>
            </a:r>
          </a:p>
          <a:p>
            <a:pPr rtl="0">
              <a:lnSpc>
                <a:spcPct val="150000"/>
              </a:lnSpc>
              <a:buNone/>
            </a:pPr>
            <a:r>
              <a:rPr lang="en-US" sz="2800" dirty="0">
                <a:highlight>
                  <a:srgbClr val="FFFF00"/>
                </a:highlight>
                <a:latin typeface="Calibir"/>
              </a:rPr>
              <a:t>        print("Not enough stock!")</a:t>
            </a:r>
          </a:p>
          <a:p>
            <a:pPr rtl="0">
              <a:lnSpc>
                <a:spcPct val="150000"/>
              </a:lnSpc>
              <a:buNone/>
            </a:pPr>
            <a:r>
              <a:rPr lang="en-US" sz="2800" dirty="0">
                <a:highlight>
                  <a:srgbClr val="FFFF00"/>
                </a:highlight>
                <a:latin typeface="Calibir"/>
              </a:rPr>
              <a:t>        return</a:t>
            </a:r>
          </a:p>
          <a:p>
            <a:pPr rtl="0">
              <a:lnSpc>
                <a:spcPct val="150000"/>
              </a:lnSpc>
              <a:buNone/>
            </a:pPr>
            <a:r>
              <a:rPr lang="en-US" sz="2800" dirty="0">
                <a:highlight>
                  <a:srgbClr val="FFFF00"/>
                </a:highlight>
                <a:latin typeface="Calibir"/>
              </a:rPr>
              <a:t>    earned = </a:t>
            </a:r>
            <a:r>
              <a:rPr lang="en-US" sz="2800" dirty="0" err="1">
                <a:highlight>
                  <a:srgbClr val="FFFF00"/>
                </a:highlight>
                <a:latin typeface="Calibir"/>
              </a:rPr>
              <a:t>self.product.sold</a:t>
            </a:r>
            <a:r>
              <a:rPr lang="en-US" sz="2800" dirty="0">
                <a:highlight>
                  <a:srgbClr val="FFFF00"/>
                </a:highlight>
                <a:latin typeface="Calibir"/>
              </a:rPr>
              <a:t>(quantity)</a:t>
            </a:r>
          </a:p>
          <a:p>
            <a:pPr rtl="0">
              <a:lnSpc>
                <a:spcPct val="150000"/>
              </a:lnSpc>
              <a:buNone/>
            </a:pPr>
            <a:r>
              <a:rPr lang="en-US" sz="2800" dirty="0">
                <a:highlight>
                  <a:srgbClr val="FFFF00"/>
                </a:highlight>
                <a:latin typeface="Calibir"/>
              </a:rPr>
              <a:t>    </a:t>
            </a:r>
            <a:r>
              <a:rPr lang="en-US" sz="2800" dirty="0" err="1">
                <a:highlight>
                  <a:srgbClr val="FFFF00"/>
                </a:highlight>
                <a:latin typeface="Calibir"/>
              </a:rPr>
              <a:t>self.cash_register.gain</a:t>
            </a:r>
            <a:r>
              <a:rPr lang="en-US" sz="2800" dirty="0">
                <a:highlight>
                  <a:srgbClr val="FFFF00"/>
                </a:highlight>
                <a:latin typeface="Calibir"/>
              </a:rPr>
              <a:t>(earned)</a:t>
            </a:r>
          </a:p>
        </p:txBody>
      </p:sp>
      <p:pic>
        <p:nvPicPr>
          <p:cNvPr id="7" name="Picture 6">
            <a:extLst>
              <a:ext uri="{FF2B5EF4-FFF2-40B4-BE49-F238E27FC236}">
                <a16:creationId xmlns:a16="http://schemas.microsoft.com/office/drawing/2014/main" id="{60C1BA10-63AE-C130-8F53-CEA8192196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5554" y="2846438"/>
            <a:ext cx="6216446" cy="4144297"/>
          </a:xfrm>
          <a:prstGeom prst="rect">
            <a:avLst/>
          </a:prstGeom>
        </p:spPr>
      </p:pic>
    </p:spTree>
    <p:extLst>
      <p:ext uri="{BB962C8B-B14F-4D97-AF65-F5344CB8AC3E}">
        <p14:creationId xmlns:p14="http://schemas.microsoft.com/office/powerpoint/2010/main" val="564722112"/>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EDB1EE4A-50BF-8704-E5A6-4E9D792AB2D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A2A7D7D-C16D-AACD-C425-AACA33AA1DA4}"/>
              </a:ext>
            </a:extLst>
          </p:cNvPr>
          <p:cNvSpPr txBox="1"/>
          <p:nvPr/>
        </p:nvSpPr>
        <p:spPr>
          <a:xfrm>
            <a:off x="0" y="0"/>
            <a:ext cx="6098458" cy="6863417"/>
          </a:xfrm>
          <a:prstGeom prst="rect">
            <a:avLst/>
          </a:prstGeom>
          <a:noFill/>
        </p:spPr>
        <p:txBody>
          <a:bodyPr wrap="square">
            <a:spAutoFit/>
          </a:bodyPr>
          <a:lstStyle/>
          <a:p>
            <a:pPr>
              <a:buNone/>
            </a:pPr>
            <a:r>
              <a:rPr lang="en-US" sz="2200" b="1" dirty="0">
                <a:latin typeface="Calibir"/>
              </a:rPr>
              <a:t>Java</a:t>
            </a:r>
          </a:p>
          <a:p>
            <a:pPr rtl="0">
              <a:buNone/>
            </a:pPr>
            <a:r>
              <a:rPr lang="en-US" sz="2200" dirty="0">
                <a:highlight>
                  <a:srgbClr val="FFFF00"/>
                </a:highlight>
                <a:latin typeface="Calibir"/>
              </a:rPr>
              <a:t>public void sell(</a:t>
            </a:r>
          </a:p>
          <a:p>
            <a:pPr rtl="0">
              <a:buNone/>
            </a:pPr>
            <a:r>
              <a:rPr lang="en-US" sz="2200" dirty="0">
                <a:highlight>
                  <a:srgbClr val="FFFF00"/>
                </a:highlight>
                <a:latin typeface="Calibir"/>
              </a:rPr>
              <a:t>        Scanner input) {</a:t>
            </a:r>
          </a:p>
          <a:p>
            <a:pPr rtl="0">
              <a:buNone/>
            </a:pPr>
            <a:r>
              <a:rPr lang="en-US" sz="2200" dirty="0">
                <a:highlight>
                  <a:srgbClr val="FFFF00"/>
                </a:highlight>
                <a:latin typeface="Calibir"/>
              </a:rPr>
              <a:t>    int quantity =</a:t>
            </a:r>
          </a:p>
          <a:p>
            <a:pPr rtl="0">
              <a:buNone/>
            </a:pPr>
            <a:r>
              <a:rPr lang="en-US" sz="2200" dirty="0">
                <a:highlight>
                  <a:srgbClr val="FFFF00"/>
                </a:highlight>
                <a:latin typeface="Calibir"/>
              </a:rPr>
              <a:t>            </a:t>
            </a:r>
            <a:r>
              <a:rPr lang="en-US" sz="2200" dirty="0" err="1">
                <a:highlight>
                  <a:srgbClr val="FFFF00"/>
                </a:highlight>
                <a:latin typeface="Calibir"/>
              </a:rPr>
              <a:t>readQuantity</a:t>
            </a:r>
            <a:r>
              <a:rPr lang="en-US" sz="2200" dirty="0">
                <a:highlight>
                  <a:srgbClr val="FFFF00"/>
                </a:highlight>
                <a:latin typeface="Calibir"/>
              </a:rPr>
              <a:t>(</a:t>
            </a:r>
          </a:p>
          <a:p>
            <a:pPr rtl="0">
              <a:buNone/>
            </a:pPr>
            <a:r>
              <a:rPr lang="en-US" sz="2200" dirty="0">
                <a:highlight>
                  <a:srgbClr val="FFFF00"/>
                </a:highlight>
                <a:latin typeface="Calibir"/>
              </a:rPr>
              <a:t>                input,</a:t>
            </a:r>
          </a:p>
          <a:p>
            <a:pPr rtl="0">
              <a:buNone/>
            </a:pPr>
            <a:r>
              <a:rPr lang="en-US" sz="2200" dirty="0">
                <a:highlight>
                  <a:srgbClr val="FFFF00"/>
                </a:highlight>
                <a:latin typeface="Calibir"/>
              </a:rPr>
              <a:t>                "Quantity to sell: "</a:t>
            </a:r>
          </a:p>
          <a:p>
            <a:pPr rtl="0">
              <a:buNone/>
            </a:pPr>
            <a:r>
              <a:rPr lang="en-US" sz="2200" dirty="0">
                <a:highlight>
                  <a:srgbClr val="FFFF00"/>
                </a:highlight>
                <a:latin typeface="Calibir"/>
              </a:rPr>
              <a:t>            );</a:t>
            </a:r>
          </a:p>
          <a:p>
            <a:pPr rtl="0">
              <a:buNone/>
            </a:pPr>
            <a:r>
              <a:rPr lang="en-US" sz="2200" dirty="0">
                <a:highlight>
                  <a:srgbClr val="FFFF00"/>
                </a:highlight>
                <a:latin typeface="Calibir"/>
              </a:rPr>
              <a:t>    if (!</a:t>
            </a:r>
            <a:r>
              <a:rPr lang="en-US" sz="2200" dirty="0" err="1">
                <a:highlight>
                  <a:srgbClr val="FFFF00"/>
                </a:highlight>
                <a:latin typeface="Calibir"/>
              </a:rPr>
              <a:t>product.has</a:t>
            </a:r>
            <a:r>
              <a:rPr lang="en-US" sz="2200" dirty="0">
                <a:highlight>
                  <a:srgbClr val="FFFF00"/>
                </a:highlight>
                <a:latin typeface="Calibir"/>
              </a:rPr>
              <a:t>(quantity)) {</a:t>
            </a:r>
          </a:p>
          <a:p>
            <a:pPr rtl="0">
              <a:buNone/>
            </a:pPr>
            <a:r>
              <a:rPr lang="en-US" sz="2200" dirty="0">
                <a:highlight>
                  <a:srgbClr val="FFFF00"/>
                </a:highlight>
                <a:latin typeface="Calibir"/>
              </a:rPr>
              <a:t>        </a:t>
            </a:r>
            <a:r>
              <a:rPr lang="en-US" sz="2200" dirty="0" err="1">
                <a:highlight>
                  <a:srgbClr val="FFFF00"/>
                </a:highlight>
                <a:latin typeface="Calibir"/>
              </a:rPr>
              <a:t>System.out.println</a:t>
            </a:r>
            <a:r>
              <a:rPr lang="en-US" sz="2200" dirty="0">
                <a:highlight>
                  <a:srgbClr val="FFFF00"/>
                </a:highlight>
                <a:latin typeface="Calibir"/>
              </a:rPr>
              <a:t>(</a:t>
            </a:r>
          </a:p>
          <a:p>
            <a:pPr rtl="0">
              <a:buNone/>
            </a:pPr>
            <a:r>
              <a:rPr lang="en-US" sz="2200" dirty="0">
                <a:highlight>
                  <a:srgbClr val="FFFF00"/>
                </a:highlight>
                <a:latin typeface="Calibir"/>
              </a:rPr>
              <a:t>            "Not enough stock!"</a:t>
            </a:r>
          </a:p>
          <a:p>
            <a:pPr rtl="0">
              <a:buNone/>
            </a:pPr>
            <a:r>
              <a:rPr lang="en-US" sz="2200" dirty="0">
                <a:highlight>
                  <a:srgbClr val="FFFF00"/>
                </a:highlight>
                <a:latin typeface="Calibir"/>
              </a:rPr>
              <a:t>        );</a:t>
            </a:r>
          </a:p>
          <a:p>
            <a:pPr rtl="0">
              <a:buNone/>
            </a:pPr>
            <a:r>
              <a:rPr lang="en-US" sz="2200" dirty="0">
                <a:highlight>
                  <a:srgbClr val="FFFF00"/>
                </a:highlight>
                <a:latin typeface="Calibir"/>
              </a:rPr>
              <a:t>        return;</a:t>
            </a:r>
          </a:p>
          <a:p>
            <a:pPr rtl="0">
              <a:buNone/>
            </a:pPr>
            <a:r>
              <a:rPr lang="en-US" sz="2200" dirty="0">
                <a:highlight>
                  <a:srgbClr val="FFFF00"/>
                </a:highlight>
                <a:latin typeface="Calibir"/>
              </a:rPr>
              <a:t>    }</a:t>
            </a:r>
          </a:p>
          <a:p>
            <a:pPr rtl="0">
              <a:buNone/>
            </a:pPr>
            <a:r>
              <a:rPr lang="en-US" sz="2200" dirty="0">
                <a:highlight>
                  <a:srgbClr val="FFFF00"/>
                </a:highlight>
                <a:latin typeface="Calibir"/>
              </a:rPr>
              <a:t>    double earned =</a:t>
            </a:r>
          </a:p>
          <a:p>
            <a:pPr rtl="0">
              <a:buNone/>
            </a:pPr>
            <a:r>
              <a:rPr lang="en-US" sz="2200" dirty="0">
                <a:highlight>
                  <a:srgbClr val="FFFF00"/>
                </a:highlight>
                <a:latin typeface="Calibir"/>
              </a:rPr>
              <a:t>            </a:t>
            </a:r>
            <a:r>
              <a:rPr lang="en-US" sz="2200" dirty="0" err="1">
                <a:highlight>
                  <a:srgbClr val="FFFF00"/>
                </a:highlight>
                <a:latin typeface="Calibir"/>
              </a:rPr>
              <a:t>product.sold</a:t>
            </a:r>
            <a:r>
              <a:rPr lang="en-US" sz="2200" dirty="0">
                <a:highlight>
                  <a:srgbClr val="FFFF00"/>
                </a:highlight>
                <a:latin typeface="Calibir"/>
              </a:rPr>
              <a:t>(quantity);</a:t>
            </a:r>
          </a:p>
          <a:p>
            <a:pPr rtl="0">
              <a:buNone/>
            </a:pPr>
            <a:r>
              <a:rPr lang="en-US" sz="2200" dirty="0">
                <a:highlight>
                  <a:srgbClr val="FFFF00"/>
                </a:highlight>
                <a:latin typeface="Calibir"/>
              </a:rPr>
              <a:t>    </a:t>
            </a:r>
            <a:r>
              <a:rPr lang="en-US" sz="2200" dirty="0" err="1">
                <a:highlight>
                  <a:srgbClr val="FFFF00"/>
                </a:highlight>
                <a:latin typeface="Calibir"/>
              </a:rPr>
              <a:t>cashRegister.gain</a:t>
            </a:r>
            <a:r>
              <a:rPr lang="en-US" sz="2200" dirty="0">
                <a:highlight>
                  <a:srgbClr val="FFFF00"/>
                </a:highlight>
                <a:latin typeface="Calibir"/>
              </a:rPr>
              <a:t>(</a:t>
            </a:r>
          </a:p>
          <a:p>
            <a:pPr rtl="0">
              <a:buNone/>
            </a:pPr>
            <a:r>
              <a:rPr lang="en-US" sz="2200" dirty="0">
                <a:highlight>
                  <a:srgbClr val="FFFF00"/>
                </a:highlight>
                <a:latin typeface="Calibir"/>
              </a:rPr>
              <a:t>        earned</a:t>
            </a:r>
          </a:p>
          <a:p>
            <a:pPr rtl="0">
              <a:buNone/>
            </a:pPr>
            <a:r>
              <a:rPr lang="en-US" sz="2200" dirty="0">
                <a:highlight>
                  <a:srgbClr val="FFFF00"/>
                </a:highlight>
                <a:latin typeface="Calibir"/>
              </a:rPr>
              <a:t>    );</a:t>
            </a:r>
          </a:p>
          <a:p>
            <a:pPr rtl="0">
              <a:buNone/>
            </a:pPr>
            <a:r>
              <a:rPr lang="en-US" sz="2200" dirty="0">
                <a:highlight>
                  <a:srgbClr val="FFFF00"/>
                </a:highlight>
                <a:latin typeface="Calibir"/>
              </a:rPr>
              <a:t>}</a:t>
            </a:r>
          </a:p>
        </p:txBody>
      </p:sp>
    </p:spTree>
    <p:extLst>
      <p:ext uri="{BB962C8B-B14F-4D97-AF65-F5344CB8AC3E}">
        <p14:creationId xmlns:p14="http://schemas.microsoft.com/office/powerpoint/2010/main" val="20017424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9A13B2C7-E5D2-2DB9-8009-4E77A4543A5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2DAB036-3B9D-2E39-EE15-783841D87F76}"/>
              </a:ext>
            </a:extLst>
          </p:cNvPr>
          <p:cNvSpPr txBox="1"/>
          <p:nvPr/>
        </p:nvSpPr>
        <p:spPr>
          <a:xfrm>
            <a:off x="0" y="0"/>
            <a:ext cx="6098458" cy="6463308"/>
          </a:xfrm>
          <a:prstGeom prst="rect">
            <a:avLst/>
          </a:prstGeom>
          <a:noFill/>
        </p:spPr>
        <p:txBody>
          <a:bodyPr wrap="square">
            <a:spAutoFit/>
          </a:bodyPr>
          <a:lstStyle/>
          <a:p>
            <a:pPr>
              <a:buNone/>
            </a:pPr>
            <a:r>
              <a:rPr lang="en-US" b="1" dirty="0">
                <a:latin typeface="Calibir"/>
              </a:rPr>
              <a:t>Python</a:t>
            </a:r>
          </a:p>
          <a:p>
            <a:pPr rtl="0">
              <a:buNone/>
            </a:pPr>
            <a:r>
              <a:rPr lang="en-US" dirty="0">
                <a:highlight>
                  <a:srgbClr val="FFFF00"/>
                </a:highlight>
                <a:latin typeface="Calibir"/>
              </a:rPr>
              <a:t>def restock(self):</a:t>
            </a:r>
          </a:p>
          <a:p>
            <a:pPr rtl="0">
              <a:buNone/>
            </a:pPr>
            <a:r>
              <a:rPr lang="en-US" dirty="0">
                <a:highlight>
                  <a:srgbClr val="FFFF00"/>
                </a:highlight>
                <a:latin typeface="Calibir"/>
              </a:rPr>
              <a:t>    quantity = </a:t>
            </a:r>
            <a:r>
              <a:rPr lang="en-US" dirty="0" err="1">
                <a:highlight>
                  <a:srgbClr val="FFFF00"/>
                </a:highlight>
                <a:latin typeface="Calibir"/>
              </a:rPr>
              <a:t>self.read_quantity</a:t>
            </a:r>
            <a:r>
              <a:rPr lang="en-US" dirty="0">
                <a:highlight>
                  <a:srgbClr val="FFFF00"/>
                </a:highlight>
                <a:latin typeface="Calibir"/>
              </a:rPr>
              <a:t>(</a:t>
            </a:r>
          </a:p>
          <a:p>
            <a:pPr rtl="0">
              <a:buNone/>
            </a:pPr>
            <a:r>
              <a:rPr lang="en-US" dirty="0">
                <a:highlight>
                  <a:srgbClr val="FFFF00"/>
                </a:highlight>
                <a:latin typeface="Calibir"/>
              </a:rPr>
              <a:t>        "Quantity to restock: "</a:t>
            </a:r>
          </a:p>
          <a:p>
            <a:pPr rtl="0">
              <a:buNone/>
            </a:pPr>
            <a:r>
              <a:rPr lang="en-US" dirty="0">
                <a:highlight>
                  <a:srgbClr val="FFFF00"/>
                </a:highlight>
                <a:latin typeface="Calibir"/>
              </a:rPr>
              <a:t>    )</a:t>
            </a:r>
          </a:p>
          <a:p>
            <a:pPr rtl="0">
              <a:buNone/>
            </a:pPr>
            <a:r>
              <a:rPr lang="en-US" dirty="0">
                <a:highlight>
                  <a:srgbClr val="FFFF00"/>
                </a:highlight>
                <a:latin typeface="Calibir"/>
              </a:rPr>
              <a:t>    cost = </a:t>
            </a:r>
            <a:r>
              <a:rPr lang="en-US" dirty="0" err="1">
                <a:highlight>
                  <a:srgbClr val="FFFF00"/>
                </a:highlight>
                <a:latin typeface="Calibir"/>
              </a:rPr>
              <a:t>self.product.cash</a:t>
            </a:r>
            <a:r>
              <a:rPr lang="en-US" dirty="0">
                <a:highlight>
                  <a:srgbClr val="FFFF00"/>
                </a:highlight>
                <a:latin typeface="Calibir"/>
              </a:rPr>
              <a:t>(</a:t>
            </a:r>
          </a:p>
          <a:p>
            <a:pPr rtl="0">
              <a:buNone/>
            </a:pPr>
            <a:r>
              <a:rPr lang="en-US" dirty="0">
                <a:highlight>
                  <a:srgbClr val="FFFF00"/>
                </a:highlight>
                <a:latin typeface="Calibir"/>
              </a:rPr>
              <a:t>        quantity</a:t>
            </a:r>
          </a:p>
          <a:p>
            <a:pPr rtl="0">
              <a:buNone/>
            </a:pPr>
            <a:r>
              <a:rPr lang="en-US" dirty="0">
                <a:highlight>
                  <a:srgbClr val="FFFF00"/>
                </a:highlight>
                <a:latin typeface="Calibir"/>
              </a:rPr>
              <a:t>    )</a:t>
            </a:r>
          </a:p>
          <a:p>
            <a:pPr rtl="0">
              <a:buNone/>
            </a:pPr>
            <a:r>
              <a:rPr lang="en-US" dirty="0">
                <a:highlight>
                  <a:srgbClr val="FFFF00"/>
                </a:highlight>
                <a:latin typeface="Calibir"/>
              </a:rPr>
              <a:t>    if not </a:t>
            </a:r>
            <a:r>
              <a:rPr lang="en-US" dirty="0" err="1">
                <a:highlight>
                  <a:srgbClr val="FFFF00"/>
                </a:highlight>
                <a:latin typeface="Calibir"/>
              </a:rPr>
              <a:t>self.cash_register.has</a:t>
            </a:r>
            <a:r>
              <a:rPr lang="en-US" dirty="0">
                <a:highlight>
                  <a:srgbClr val="FFFF00"/>
                </a:highlight>
                <a:latin typeface="Calibir"/>
              </a:rPr>
              <a:t>(</a:t>
            </a:r>
          </a:p>
          <a:p>
            <a:pPr rtl="0">
              <a:buNone/>
            </a:pPr>
            <a:r>
              <a:rPr lang="en-US" dirty="0">
                <a:highlight>
                  <a:srgbClr val="FFFF00"/>
                </a:highlight>
                <a:latin typeface="Calibir"/>
              </a:rPr>
              <a:t>            cost):</a:t>
            </a:r>
          </a:p>
          <a:p>
            <a:pPr rtl="0">
              <a:buNone/>
            </a:pPr>
            <a:r>
              <a:rPr lang="en-US" dirty="0">
                <a:highlight>
                  <a:srgbClr val="FFFF00"/>
                </a:highlight>
                <a:latin typeface="Calibir"/>
              </a:rPr>
              <a:t>        print(</a:t>
            </a:r>
          </a:p>
          <a:p>
            <a:pPr rtl="0">
              <a:buNone/>
            </a:pPr>
            <a:r>
              <a:rPr lang="en-US" dirty="0">
                <a:highlight>
                  <a:srgbClr val="FFFF00"/>
                </a:highlight>
                <a:latin typeface="Calibir"/>
              </a:rPr>
              <a:t>            "Not enough funds!"</a:t>
            </a:r>
          </a:p>
          <a:p>
            <a:pPr rtl="0">
              <a:buNone/>
            </a:pPr>
            <a:r>
              <a:rPr lang="en-US" dirty="0">
                <a:highlight>
                  <a:srgbClr val="FFFF00"/>
                </a:highlight>
                <a:latin typeface="Calibir"/>
              </a:rPr>
              <a:t>        )</a:t>
            </a:r>
          </a:p>
          <a:p>
            <a:pPr rtl="0">
              <a:buNone/>
            </a:pPr>
            <a:endParaRPr lang="en-US" dirty="0">
              <a:highlight>
                <a:srgbClr val="FFFF00"/>
              </a:highlight>
              <a:latin typeface="Calibir"/>
            </a:endParaRPr>
          </a:p>
          <a:p>
            <a:pPr rtl="0">
              <a:buNone/>
            </a:pPr>
            <a:r>
              <a:rPr lang="en-US" dirty="0">
                <a:highlight>
                  <a:srgbClr val="FFFF00"/>
                </a:highlight>
                <a:latin typeface="Calibir"/>
              </a:rPr>
              <a:t>        return</a:t>
            </a:r>
          </a:p>
          <a:p>
            <a:pPr rtl="0">
              <a:buNone/>
            </a:pPr>
            <a:endParaRPr lang="en-US" dirty="0">
              <a:highlight>
                <a:srgbClr val="FFFF00"/>
              </a:highlight>
              <a:latin typeface="Calibir"/>
            </a:endParaRPr>
          </a:p>
          <a:p>
            <a:pPr rtl="0">
              <a:buNone/>
            </a:pPr>
            <a:r>
              <a:rPr lang="en-US" dirty="0">
                <a:highlight>
                  <a:srgbClr val="FFFF00"/>
                </a:highlight>
                <a:latin typeface="Calibir"/>
              </a:rPr>
              <a:t>    </a:t>
            </a:r>
            <a:r>
              <a:rPr lang="en-US" dirty="0" err="1">
                <a:highlight>
                  <a:srgbClr val="FFFF00"/>
                </a:highlight>
                <a:latin typeface="Calibir"/>
              </a:rPr>
              <a:t>self.cash_register.pay</a:t>
            </a:r>
            <a:r>
              <a:rPr lang="en-US" dirty="0">
                <a:highlight>
                  <a:srgbClr val="FFFF00"/>
                </a:highlight>
                <a:latin typeface="Calibir"/>
              </a:rPr>
              <a:t>(</a:t>
            </a:r>
          </a:p>
          <a:p>
            <a:pPr rtl="0">
              <a:buNone/>
            </a:pPr>
            <a:r>
              <a:rPr lang="en-US" dirty="0">
                <a:highlight>
                  <a:srgbClr val="FFFF00"/>
                </a:highlight>
                <a:latin typeface="Calibir"/>
              </a:rPr>
              <a:t>        cost</a:t>
            </a:r>
          </a:p>
          <a:p>
            <a:pPr rtl="0">
              <a:buNone/>
            </a:pPr>
            <a:r>
              <a:rPr lang="en-US" dirty="0">
                <a:highlight>
                  <a:srgbClr val="FFFF00"/>
                </a:highlight>
                <a:latin typeface="Calibir"/>
              </a:rPr>
              <a:t>    )</a:t>
            </a:r>
          </a:p>
          <a:p>
            <a:pPr rtl="0">
              <a:buNone/>
            </a:pPr>
            <a:endParaRPr lang="en-US" dirty="0">
              <a:highlight>
                <a:srgbClr val="FFFF00"/>
              </a:highlight>
              <a:latin typeface="Calibir"/>
            </a:endParaRPr>
          </a:p>
          <a:p>
            <a:pPr rtl="0">
              <a:buNone/>
            </a:pPr>
            <a:r>
              <a:rPr lang="en-US" dirty="0">
                <a:highlight>
                  <a:srgbClr val="FFFF00"/>
                </a:highlight>
                <a:latin typeface="Calibir"/>
              </a:rPr>
              <a:t>    </a:t>
            </a:r>
            <a:r>
              <a:rPr lang="en-US" dirty="0" err="1">
                <a:highlight>
                  <a:srgbClr val="FFFF00"/>
                </a:highlight>
                <a:latin typeface="Calibir"/>
              </a:rPr>
              <a:t>self.product.stocked</a:t>
            </a:r>
            <a:r>
              <a:rPr lang="en-US" dirty="0">
                <a:highlight>
                  <a:srgbClr val="FFFF00"/>
                </a:highlight>
                <a:latin typeface="Calibir"/>
              </a:rPr>
              <a:t>(</a:t>
            </a:r>
          </a:p>
          <a:p>
            <a:pPr rtl="0">
              <a:buNone/>
            </a:pPr>
            <a:r>
              <a:rPr lang="en-US" dirty="0">
                <a:highlight>
                  <a:srgbClr val="FFFF00"/>
                </a:highlight>
                <a:latin typeface="Calibir"/>
              </a:rPr>
              <a:t>        quantity</a:t>
            </a:r>
          </a:p>
          <a:p>
            <a:pPr rtl="0">
              <a:buNone/>
            </a:pPr>
            <a:r>
              <a:rPr lang="en-US" dirty="0">
                <a:highlight>
                  <a:srgbClr val="FFFF00"/>
                </a:highlight>
                <a:latin typeface="Calibir"/>
              </a:rPr>
              <a:t>    )</a:t>
            </a:r>
          </a:p>
        </p:txBody>
      </p:sp>
      <p:sp>
        <p:nvSpPr>
          <p:cNvPr id="8" name="TextBox 7">
            <a:extLst>
              <a:ext uri="{FF2B5EF4-FFF2-40B4-BE49-F238E27FC236}">
                <a16:creationId xmlns:a16="http://schemas.microsoft.com/office/drawing/2014/main" id="{BF507823-9319-569F-3C2C-F95A622B68A6}"/>
              </a:ext>
            </a:extLst>
          </p:cNvPr>
          <p:cNvSpPr txBox="1"/>
          <p:nvPr/>
        </p:nvSpPr>
        <p:spPr>
          <a:xfrm>
            <a:off x="5438468" y="276999"/>
            <a:ext cx="6127954" cy="6186309"/>
          </a:xfrm>
          <a:prstGeom prst="rect">
            <a:avLst/>
          </a:prstGeom>
          <a:noFill/>
        </p:spPr>
        <p:txBody>
          <a:bodyPr wrap="square">
            <a:spAutoFit/>
          </a:bodyPr>
          <a:lstStyle/>
          <a:p>
            <a:pPr>
              <a:buNone/>
            </a:pPr>
            <a:r>
              <a:rPr lang="en-US" b="1" dirty="0">
                <a:latin typeface="Calibir"/>
              </a:rPr>
              <a:t>Java</a:t>
            </a:r>
          </a:p>
          <a:p>
            <a:pPr rtl="0">
              <a:buNone/>
            </a:pPr>
            <a:r>
              <a:rPr lang="en-US" dirty="0">
                <a:highlight>
                  <a:srgbClr val="FFFF00"/>
                </a:highlight>
                <a:latin typeface="Calibir"/>
              </a:rPr>
              <a:t>public void restock(</a:t>
            </a:r>
          </a:p>
          <a:p>
            <a:pPr rtl="0">
              <a:buNone/>
            </a:pPr>
            <a:r>
              <a:rPr lang="en-US" dirty="0">
                <a:highlight>
                  <a:srgbClr val="FFFF00"/>
                </a:highlight>
                <a:latin typeface="Calibir"/>
              </a:rPr>
              <a:t>        Scanner input) {</a:t>
            </a:r>
          </a:p>
          <a:p>
            <a:pPr rtl="0">
              <a:buNone/>
            </a:pPr>
            <a:r>
              <a:rPr lang="en-US" dirty="0">
                <a:highlight>
                  <a:srgbClr val="FFFF00"/>
                </a:highlight>
                <a:latin typeface="Calibir"/>
              </a:rPr>
              <a:t>    int quantity =</a:t>
            </a:r>
          </a:p>
          <a:p>
            <a:pPr rtl="0">
              <a:buNone/>
            </a:pPr>
            <a:r>
              <a:rPr lang="en-US" dirty="0">
                <a:highlight>
                  <a:srgbClr val="FFFF00"/>
                </a:highlight>
                <a:latin typeface="Calibir"/>
              </a:rPr>
              <a:t>            </a:t>
            </a:r>
            <a:r>
              <a:rPr lang="en-US" dirty="0" err="1">
                <a:highlight>
                  <a:srgbClr val="FFFF00"/>
                </a:highlight>
                <a:latin typeface="Calibir"/>
              </a:rPr>
              <a:t>readQuantity</a:t>
            </a:r>
            <a:r>
              <a:rPr lang="en-US" dirty="0">
                <a:highlight>
                  <a:srgbClr val="FFFF00"/>
                </a:highlight>
                <a:latin typeface="Calibir"/>
              </a:rPr>
              <a:t>(</a:t>
            </a:r>
          </a:p>
          <a:p>
            <a:pPr rtl="0">
              <a:buNone/>
            </a:pPr>
            <a:r>
              <a:rPr lang="en-US" dirty="0">
                <a:highlight>
                  <a:srgbClr val="FFFF00"/>
                </a:highlight>
                <a:latin typeface="Calibir"/>
              </a:rPr>
              <a:t>                input,</a:t>
            </a:r>
          </a:p>
          <a:p>
            <a:pPr rtl="0">
              <a:buNone/>
            </a:pPr>
            <a:r>
              <a:rPr lang="en-US" dirty="0">
                <a:highlight>
                  <a:srgbClr val="FFFF00"/>
                </a:highlight>
                <a:latin typeface="Calibir"/>
              </a:rPr>
              <a:t>                "Quantity to restock: "</a:t>
            </a:r>
          </a:p>
          <a:p>
            <a:pPr rtl="0">
              <a:buNone/>
            </a:pPr>
            <a:r>
              <a:rPr lang="en-US" dirty="0">
                <a:highlight>
                  <a:srgbClr val="FFFF00"/>
                </a:highlight>
                <a:latin typeface="Calibir"/>
              </a:rPr>
              <a:t>            );</a:t>
            </a:r>
          </a:p>
          <a:p>
            <a:pPr rtl="0">
              <a:buNone/>
            </a:pPr>
            <a:r>
              <a:rPr lang="en-US" dirty="0">
                <a:highlight>
                  <a:srgbClr val="FFFF00"/>
                </a:highlight>
                <a:latin typeface="Calibir"/>
              </a:rPr>
              <a:t>    double cost =</a:t>
            </a:r>
          </a:p>
          <a:p>
            <a:pPr rtl="0">
              <a:buNone/>
            </a:pPr>
            <a:r>
              <a:rPr lang="en-US" dirty="0">
                <a:highlight>
                  <a:srgbClr val="FFFF00"/>
                </a:highlight>
                <a:latin typeface="Calibir"/>
              </a:rPr>
              <a:t>            </a:t>
            </a:r>
            <a:r>
              <a:rPr lang="en-US" dirty="0" err="1">
                <a:highlight>
                  <a:srgbClr val="FFFF00"/>
                </a:highlight>
                <a:latin typeface="Calibir"/>
              </a:rPr>
              <a:t>product.cash</a:t>
            </a:r>
            <a:r>
              <a:rPr lang="en-US" dirty="0">
                <a:highlight>
                  <a:srgbClr val="FFFF00"/>
                </a:highlight>
                <a:latin typeface="Calibir"/>
              </a:rPr>
              <a:t>(quantity);</a:t>
            </a:r>
          </a:p>
          <a:p>
            <a:pPr rtl="0">
              <a:buNone/>
            </a:pPr>
            <a:r>
              <a:rPr lang="en-US" dirty="0">
                <a:highlight>
                  <a:srgbClr val="FFFF00"/>
                </a:highlight>
                <a:latin typeface="Calibir"/>
              </a:rPr>
              <a:t>    if (!</a:t>
            </a:r>
            <a:r>
              <a:rPr lang="en-US" dirty="0" err="1">
                <a:highlight>
                  <a:srgbClr val="FFFF00"/>
                </a:highlight>
                <a:latin typeface="Calibir"/>
              </a:rPr>
              <a:t>cashRegister.has</a:t>
            </a:r>
            <a:r>
              <a:rPr lang="en-US" dirty="0">
                <a:highlight>
                  <a:srgbClr val="FFFF00"/>
                </a:highlight>
                <a:latin typeface="Calibir"/>
              </a:rPr>
              <a:t>(cost)) {</a:t>
            </a:r>
          </a:p>
          <a:p>
            <a:pPr rtl="0">
              <a:buNone/>
            </a:pPr>
            <a:r>
              <a:rPr lang="en-US" dirty="0">
                <a:highlight>
                  <a:srgbClr val="FFFF00"/>
                </a:highlight>
                <a:latin typeface="Calibir"/>
              </a:rPr>
              <a:t>        </a:t>
            </a:r>
            <a:r>
              <a:rPr lang="en-US" dirty="0" err="1">
                <a:highlight>
                  <a:srgbClr val="FFFF00"/>
                </a:highlight>
                <a:latin typeface="Calibir"/>
              </a:rPr>
              <a:t>System.out.println</a:t>
            </a:r>
            <a:r>
              <a:rPr lang="en-US" dirty="0">
                <a:highlight>
                  <a:srgbClr val="FFFF00"/>
                </a:highlight>
                <a:latin typeface="Calibir"/>
              </a:rPr>
              <a:t>(</a:t>
            </a:r>
          </a:p>
          <a:p>
            <a:pPr rtl="0">
              <a:buNone/>
            </a:pPr>
            <a:r>
              <a:rPr lang="en-US" dirty="0">
                <a:highlight>
                  <a:srgbClr val="FFFF00"/>
                </a:highlight>
                <a:latin typeface="Calibir"/>
              </a:rPr>
              <a:t>            "Not enough funds!"</a:t>
            </a:r>
          </a:p>
          <a:p>
            <a:pPr rtl="0">
              <a:buNone/>
            </a:pPr>
            <a:r>
              <a:rPr lang="en-US" dirty="0">
                <a:highlight>
                  <a:srgbClr val="FFFF00"/>
                </a:highlight>
                <a:latin typeface="Calibir"/>
              </a:rPr>
              <a:t>        );</a:t>
            </a:r>
          </a:p>
          <a:p>
            <a:pPr rtl="0">
              <a:buNone/>
            </a:pPr>
            <a:endParaRPr lang="en-US" dirty="0">
              <a:highlight>
                <a:srgbClr val="FFFF00"/>
              </a:highlight>
              <a:latin typeface="Calibir"/>
            </a:endParaRPr>
          </a:p>
          <a:p>
            <a:pPr rtl="0">
              <a:buNone/>
            </a:pPr>
            <a:r>
              <a:rPr lang="en-US" dirty="0">
                <a:highlight>
                  <a:srgbClr val="FFFF00"/>
                </a:highlight>
                <a:latin typeface="Calibir"/>
              </a:rPr>
              <a:t>        return;</a:t>
            </a:r>
          </a:p>
          <a:p>
            <a:pPr rtl="0">
              <a:buNone/>
            </a:pPr>
            <a:r>
              <a:rPr lang="en-US" dirty="0">
                <a:highlight>
                  <a:srgbClr val="FFFF00"/>
                </a:highlight>
                <a:latin typeface="Calibir"/>
              </a:rPr>
              <a:t>    }</a:t>
            </a:r>
          </a:p>
          <a:p>
            <a:pPr rtl="0">
              <a:buNone/>
            </a:pPr>
            <a:endParaRPr lang="en-US" dirty="0">
              <a:highlight>
                <a:srgbClr val="FFFF00"/>
              </a:highlight>
              <a:latin typeface="Calibir"/>
            </a:endParaRPr>
          </a:p>
          <a:p>
            <a:pPr rtl="0">
              <a:buNone/>
            </a:pPr>
            <a:r>
              <a:rPr lang="en-US" dirty="0">
                <a:highlight>
                  <a:srgbClr val="FFFF00"/>
                </a:highlight>
                <a:latin typeface="Calibir"/>
              </a:rPr>
              <a:t>    </a:t>
            </a:r>
            <a:r>
              <a:rPr lang="en-US" dirty="0" err="1">
                <a:highlight>
                  <a:srgbClr val="FFFF00"/>
                </a:highlight>
                <a:latin typeface="Calibir"/>
              </a:rPr>
              <a:t>cashRegister.pay</a:t>
            </a:r>
            <a:r>
              <a:rPr lang="en-US" dirty="0">
                <a:highlight>
                  <a:srgbClr val="FFFF00"/>
                </a:highlight>
                <a:latin typeface="Calibir"/>
              </a:rPr>
              <a:t>(cost);</a:t>
            </a:r>
          </a:p>
          <a:p>
            <a:pPr rtl="0">
              <a:buNone/>
            </a:pPr>
            <a:endParaRPr lang="en-US" dirty="0">
              <a:highlight>
                <a:srgbClr val="FFFF00"/>
              </a:highlight>
              <a:latin typeface="Calibir"/>
            </a:endParaRPr>
          </a:p>
          <a:p>
            <a:pPr rtl="0">
              <a:buNone/>
            </a:pPr>
            <a:r>
              <a:rPr lang="en-US" dirty="0">
                <a:highlight>
                  <a:srgbClr val="FFFF00"/>
                </a:highlight>
                <a:latin typeface="Calibir"/>
              </a:rPr>
              <a:t>    </a:t>
            </a:r>
            <a:r>
              <a:rPr lang="en-US" dirty="0" err="1">
                <a:highlight>
                  <a:srgbClr val="FFFF00"/>
                </a:highlight>
                <a:latin typeface="Calibir"/>
              </a:rPr>
              <a:t>product.stocked</a:t>
            </a:r>
            <a:r>
              <a:rPr lang="en-US" dirty="0">
                <a:highlight>
                  <a:srgbClr val="FFFF00"/>
                </a:highlight>
                <a:latin typeface="Calibir"/>
              </a:rPr>
              <a:t>(quantity);</a:t>
            </a:r>
          </a:p>
          <a:p>
            <a:pPr rtl="0">
              <a:buNone/>
            </a:pPr>
            <a:r>
              <a:rPr lang="en-US" dirty="0">
                <a:highlight>
                  <a:srgbClr val="FFFF00"/>
                </a:highlight>
                <a:latin typeface="Calibir"/>
              </a:rPr>
              <a:t>}</a:t>
            </a:r>
          </a:p>
        </p:txBody>
      </p:sp>
    </p:spTree>
    <p:extLst>
      <p:ext uri="{BB962C8B-B14F-4D97-AF65-F5344CB8AC3E}">
        <p14:creationId xmlns:p14="http://schemas.microsoft.com/office/powerpoint/2010/main" val="1253633567"/>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ABEB83A7-0D2F-419D-95CD-AA787F872D6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7F1D331-4701-EA12-A328-23A2C17F4E8F}"/>
              </a:ext>
            </a:extLst>
          </p:cNvPr>
          <p:cNvSpPr txBox="1"/>
          <p:nvPr/>
        </p:nvSpPr>
        <p:spPr>
          <a:xfrm>
            <a:off x="0" y="0"/>
            <a:ext cx="6098458" cy="3257174"/>
          </a:xfrm>
          <a:prstGeom prst="rect">
            <a:avLst/>
          </a:prstGeom>
          <a:noFill/>
        </p:spPr>
        <p:txBody>
          <a:bodyPr wrap="square">
            <a:spAutoFit/>
          </a:bodyPr>
          <a:lstStyle/>
          <a:p>
            <a:pPr>
              <a:lnSpc>
                <a:spcPct val="150000"/>
              </a:lnSpc>
            </a:pPr>
            <a:r>
              <a:rPr lang="en-US" sz="2800" b="1" dirty="0">
                <a:latin typeface="Calibir"/>
              </a:rPr>
              <a:t>Step 18 — view()</a:t>
            </a:r>
          </a:p>
          <a:p>
            <a:pPr>
              <a:lnSpc>
                <a:spcPct val="150000"/>
              </a:lnSpc>
            </a:pPr>
            <a:r>
              <a:rPr lang="en-US" sz="2800" b="1" dirty="0">
                <a:latin typeface="Calibir"/>
              </a:rPr>
              <a:t>Python</a:t>
            </a:r>
          </a:p>
          <a:p>
            <a:pPr>
              <a:lnSpc>
                <a:spcPct val="150000"/>
              </a:lnSpc>
            </a:pPr>
            <a:r>
              <a:rPr lang="en-US" sz="2800" dirty="0">
                <a:highlight>
                  <a:srgbClr val="FFFF00"/>
                </a:highlight>
                <a:latin typeface="Calibir"/>
              </a:rPr>
              <a:t>def view(self):</a:t>
            </a:r>
          </a:p>
          <a:p>
            <a:pPr>
              <a:lnSpc>
                <a:spcPct val="150000"/>
              </a:lnSpc>
            </a:pPr>
            <a:r>
              <a:rPr lang="en-US" sz="2800" dirty="0">
                <a:highlight>
                  <a:srgbClr val="FFFF00"/>
                </a:highlight>
                <a:latin typeface="Calibir"/>
              </a:rPr>
              <a:t>    print(</a:t>
            </a:r>
            <a:r>
              <a:rPr lang="en-US" sz="2800" dirty="0" err="1">
                <a:highlight>
                  <a:srgbClr val="FFFF00"/>
                </a:highlight>
                <a:latin typeface="Calibir"/>
              </a:rPr>
              <a:t>self.product</a:t>
            </a:r>
            <a:r>
              <a:rPr lang="en-US" sz="2800" dirty="0">
                <a:highlight>
                  <a:srgbClr val="FFFF00"/>
                </a:highlight>
                <a:latin typeface="Calibir"/>
              </a:rPr>
              <a:t>)</a:t>
            </a:r>
          </a:p>
          <a:p>
            <a:pPr>
              <a:lnSpc>
                <a:spcPct val="150000"/>
              </a:lnSpc>
            </a:pPr>
            <a:r>
              <a:rPr lang="en-US" sz="2800" dirty="0">
                <a:highlight>
                  <a:srgbClr val="FFFF00"/>
                </a:highlight>
                <a:latin typeface="Calibir"/>
              </a:rPr>
              <a:t>    print(</a:t>
            </a:r>
            <a:r>
              <a:rPr lang="en-US" sz="2800" dirty="0" err="1">
                <a:highlight>
                  <a:srgbClr val="FFFF00"/>
                </a:highlight>
                <a:latin typeface="Calibir"/>
              </a:rPr>
              <a:t>self.cash_register</a:t>
            </a:r>
            <a:r>
              <a:rPr lang="en-US" sz="2800" dirty="0">
                <a:highlight>
                  <a:srgbClr val="FFFF00"/>
                </a:highlight>
                <a:latin typeface="Calibir"/>
              </a:rPr>
              <a:t>)</a:t>
            </a:r>
          </a:p>
        </p:txBody>
      </p:sp>
      <p:sp>
        <p:nvSpPr>
          <p:cNvPr id="8" name="TextBox 7">
            <a:extLst>
              <a:ext uri="{FF2B5EF4-FFF2-40B4-BE49-F238E27FC236}">
                <a16:creationId xmlns:a16="http://schemas.microsoft.com/office/drawing/2014/main" id="{1F2F620E-0B71-B8F3-B280-C78D4B95EA81}"/>
              </a:ext>
            </a:extLst>
          </p:cNvPr>
          <p:cNvSpPr txBox="1"/>
          <p:nvPr/>
        </p:nvSpPr>
        <p:spPr>
          <a:xfrm>
            <a:off x="5438468" y="276999"/>
            <a:ext cx="6127954" cy="4832092"/>
          </a:xfrm>
          <a:prstGeom prst="rect">
            <a:avLst/>
          </a:prstGeom>
          <a:noFill/>
        </p:spPr>
        <p:txBody>
          <a:bodyPr wrap="square">
            <a:spAutoFit/>
          </a:bodyPr>
          <a:lstStyle/>
          <a:p>
            <a:r>
              <a:rPr lang="en-US" sz="2800" b="1" dirty="0">
                <a:latin typeface="Calibir"/>
              </a:rPr>
              <a:t>Java</a:t>
            </a:r>
          </a:p>
          <a:p>
            <a:r>
              <a:rPr lang="en-US" sz="2800" dirty="0">
                <a:highlight>
                  <a:srgbClr val="FFFF00"/>
                </a:highlight>
                <a:latin typeface="Calibir"/>
              </a:rPr>
              <a:t>public void view() {</a:t>
            </a:r>
          </a:p>
          <a:p>
            <a:endParaRPr lang="en-US" sz="2800" dirty="0">
              <a:highlight>
                <a:srgbClr val="FFFF00"/>
              </a:highlight>
              <a:latin typeface="Calibir"/>
            </a:endParaRPr>
          </a:p>
          <a:p>
            <a:r>
              <a:rPr lang="en-US" sz="2800" dirty="0">
                <a:highlight>
                  <a:srgbClr val="FFFF00"/>
                </a:highlight>
                <a:latin typeface="Calibir"/>
              </a:rPr>
              <a:t>    </a:t>
            </a:r>
            <a:r>
              <a:rPr lang="en-US" sz="2800" dirty="0" err="1">
                <a:highlight>
                  <a:srgbClr val="FFFF00"/>
                </a:highlight>
                <a:latin typeface="Calibir"/>
              </a:rPr>
              <a:t>System.out.println</a:t>
            </a:r>
            <a:r>
              <a:rPr lang="en-US" sz="2800" dirty="0">
                <a:highlight>
                  <a:srgbClr val="FFFF00"/>
                </a:highlight>
                <a:latin typeface="Calibir"/>
              </a:rPr>
              <a:t>(</a:t>
            </a:r>
          </a:p>
          <a:p>
            <a:r>
              <a:rPr lang="en-US" sz="2800" dirty="0">
                <a:highlight>
                  <a:srgbClr val="FFFF00"/>
                </a:highlight>
                <a:latin typeface="Calibir"/>
              </a:rPr>
              <a:t>        product</a:t>
            </a:r>
          </a:p>
          <a:p>
            <a:r>
              <a:rPr lang="en-US" sz="2800" dirty="0">
                <a:highlight>
                  <a:srgbClr val="FFFF00"/>
                </a:highlight>
                <a:latin typeface="Calibir"/>
              </a:rPr>
              <a:t>    );</a:t>
            </a:r>
          </a:p>
          <a:p>
            <a:endParaRPr lang="en-US" sz="2800" dirty="0">
              <a:highlight>
                <a:srgbClr val="FFFF00"/>
              </a:highlight>
              <a:latin typeface="Calibir"/>
            </a:endParaRPr>
          </a:p>
          <a:p>
            <a:r>
              <a:rPr lang="en-US" sz="2800" dirty="0">
                <a:highlight>
                  <a:srgbClr val="FFFF00"/>
                </a:highlight>
                <a:latin typeface="Calibir"/>
              </a:rPr>
              <a:t>    </a:t>
            </a:r>
            <a:r>
              <a:rPr lang="en-US" sz="2800" dirty="0" err="1">
                <a:highlight>
                  <a:srgbClr val="FFFF00"/>
                </a:highlight>
                <a:latin typeface="Calibir"/>
              </a:rPr>
              <a:t>System.out.println</a:t>
            </a:r>
            <a:r>
              <a:rPr lang="en-US" sz="2800" dirty="0">
                <a:highlight>
                  <a:srgbClr val="FFFF00"/>
                </a:highlight>
                <a:latin typeface="Calibir"/>
              </a:rPr>
              <a:t>(</a:t>
            </a:r>
          </a:p>
          <a:p>
            <a:r>
              <a:rPr lang="en-US" sz="2800" dirty="0">
                <a:highlight>
                  <a:srgbClr val="FFFF00"/>
                </a:highlight>
                <a:latin typeface="Calibir"/>
              </a:rPr>
              <a:t>        </a:t>
            </a:r>
            <a:r>
              <a:rPr lang="en-US" sz="2800" dirty="0" err="1">
                <a:highlight>
                  <a:srgbClr val="FFFF00"/>
                </a:highlight>
                <a:latin typeface="Calibir"/>
              </a:rPr>
              <a:t>cashRegister</a:t>
            </a:r>
            <a:endParaRPr lang="en-US" sz="2800" dirty="0">
              <a:highlight>
                <a:srgbClr val="FFFF00"/>
              </a:highlight>
              <a:latin typeface="Calibir"/>
            </a:endParaRPr>
          </a:p>
          <a:p>
            <a:r>
              <a:rPr lang="en-US" sz="2800" dirty="0">
                <a:highlight>
                  <a:srgbClr val="FFFF00"/>
                </a:highlight>
                <a:latin typeface="Calibir"/>
              </a:rPr>
              <a:t>    );</a:t>
            </a:r>
          </a:p>
          <a:p>
            <a:r>
              <a:rPr lang="en-US" sz="2800" dirty="0">
                <a:highlight>
                  <a:srgbClr val="FFFF00"/>
                </a:highlight>
                <a:latin typeface="Calibir"/>
              </a:rPr>
              <a:t>}</a:t>
            </a:r>
          </a:p>
        </p:txBody>
      </p:sp>
    </p:spTree>
    <p:extLst>
      <p:ext uri="{BB962C8B-B14F-4D97-AF65-F5344CB8AC3E}">
        <p14:creationId xmlns:p14="http://schemas.microsoft.com/office/powerpoint/2010/main" val="1982899430"/>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C6134EF1-B4FA-DEEA-0E16-027774226A8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7313711-1ECE-CD42-075A-E0A8450E9D3B}"/>
              </a:ext>
            </a:extLst>
          </p:cNvPr>
          <p:cNvSpPr txBox="1"/>
          <p:nvPr/>
        </p:nvSpPr>
        <p:spPr>
          <a:xfrm>
            <a:off x="0" y="0"/>
            <a:ext cx="6098458" cy="5013873"/>
          </a:xfrm>
          <a:prstGeom prst="rect">
            <a:avLst/>
          </a:prstGeom>
          <a:noFill/>
        </p:spPr>
        <p:txBody>
          <a:bodyPr wrap="square">
            <a:spAutoFit/>
          </a:bodyPr>
          <a:lstStyle/>
          <a:p>
            <a:pPr>
              <a:lnSpc>
                <a:spcPct val="150000"/>
              </a:lnSpc>
            </a:pPr>
            <a:r>
              <a:rPr lang="en-US" sz="2700" b="1" dirty="0">
                <a:latin typeface="Calibir"/>
              </a:rPr>
              <a:t>Step 19 — help()</a:t>
            </a:r>
          </a:p>
          <a:p>
            <a:pPr>
              <a:lnSpc>
                <a:spcPct val="150000"/>
              </a:lnSpc>
            </a:pPr>
            <a:r>
              <a:rPr lang="en-US" sz="2700" b="1" dirty="0">
                <a:latin typeface="Calibir"/>
              </a:rPr>
              <a:t>Python</a:t>
            </a:r>
          </a:p>
          <a:p>
            <a:pPr>
              <a:lnSpc>
                <a:spcPct val="150000"/>
              </a:lnSpc>
            </a:pPr>
            <a:r>
              <a:rPr lang="en-US" sz="2700" dirty="0">
                <a:highlight>
                  <a:srgbClr val="FFFF00"/>
                </a:highlight>
                <a:latin typeface="Calibir"/>
              </a:rPr>
              <a:t>def help(self):</a:t>
            </a:r>
          </a:p>
          <a:p>
            <a:pPr>
              <a:lnSpc>
                <a:spcPct val="150000"/>
              </a:lnSpc>
            </a:pPr>
            <a:r>
              <a:rPr lang="en-US" sz="2700" dirty="0">
                <a:highlight>
                  <a:srgbClr val="FFFF00"/>
                </a:highlight>
                <a:latin typeface="Calibir"/>
              </a:rPr>
              <a:t>    print("Shop menu")</a:t>
            </a:r>
          </a:p>
          <a:p>
            <a:pPr>
              <a:lnSpc>
                <a:spcPct val="150000"/>
              </a:lnSpc>
            </a:pPr>
            <a:r>
              <a:rPr lang="en-US" sz="2700" dirty="0">
                <a:highlight>
                  <a:srgbClr val="FFFF00"/>
                </a:highlight>
                <a:latin typeface="Calibir"/>
              </a:rPr>
              <a:t>    print("S = sell")</a:t>
            </a:r>
          </a:p>
          <a:p>
            <a:pPr>
              <a:lnSpc>
                <a:spcPct val="150000"/>
              </a:lnSpc>
            </a:pPr>
            <a:r>
              <a:rPr lang="en-US" sz="2700" dirty="0">
                <a:highlight>
                  <a:srgbClr val="FFFF00"/>
                </a:highlight>
                <a:latin typeface="Calibir"/>
              </a:rPr>
              <a:t>    print("R = restock")</a:t>
            </a:r>
          </a:p>
          <a:p>
            <a:pPr>
              <a:lnSpc>
                <a:spcPct val="150000"/>
              </a:lnSpc>
            </a:pPr>
            <a:r>
              <a:rPr lang="en-US" sz="2700" dirty="0">
                <a:highlight>
                  <a:srgbClr val="FFFF00"/>
                </a:highlight>
                <a:latin typeface="Calibir"/>
              </a:rPr>
              <a:t>    print("V = view")</a:t>
            </a:r>
          </a:p>
          <a:p>
            <a:pPr>
              <a:lnSpc>
                <a:spcPct val="150000"/>
              </a:lnSpc>
            </a:pPr>
            <a:r>
              <a:rPr lang="en-US" sz="2700" dirty="0">
                <a:highlight>
                  <a:srgbClr val="FFFF00"/>
                </a:highlight>
                <a:latin typeface="Calibir"/>
              </a:rPr>
              <a:t>    print("X = exit")</a:t>
            </a:r>
          </a:p>
        </p:txBody>
      </p:sp>
      <p:sp>
        <p:nvSpPr>
          <p:cNvPr id="8" name="TextBox 7">
            <a:extLst>
              <a:ext uri="{FF2B5EF4-FFF2-40B4-BE49-F238E27FC236}">
                <a16:creationId xmlns:a16="http://schemas.microsoft.com/office/drawing/2014/main" id="{9E51DCBF-E66A-5692-52EB-94AD4BD9508E}"/>
              </a:ext>
            </a:extLst>
          </p:cNvPr>
          <p:cNvSpPr txBox="1"/>
          <p:nvPr/>
        </p:nvSpPr>
        <p:spPr>
          <a:xfrm>
            <a:off x="5438468" y="276999"/>
            <a:ext cx="6127954" cy="6617196"/>
          </a:xfrm>
          <a:prstGeom prst="rect">
            <a:avLst/>
          </a:prstGeom>
          <a:noFill/>
        </p:spPr>
        <p:txBody>
          <a:bodyPr wrap="square">
            <a:spAutoFit/>
          </a:bodyPr>
          <a:lstStyle/>
          <a:p>
            <a:r>
              <a:rPr lang="en-US" sz="2800" b="1" dirty="0">
                <a:latin typeface="Calibir"/>
              </a:rPr>
              <a:t>Java</a:t>
            </a:r>
          </a:p>
          <a:p>
            <a:r>
              <a:rPr lang="en-US" dirty="0">
                <a:highlight>
                  <a:srgbClr val="FFFF00"/>
                </a:highlight>
                <a:latin typeface="Calibir"/>
              </a:rPr>
              <a:t>public void help() {</a:t>
            </a:r>
          </a:p>
          <a:p>
            <a:endParaRPr lang="en-US" dirty="0">
              <a:highlight>
                <a:srgbClr val="FFFF00"/>
              </a:highlight>
              <a:latin typeface="Calibir"/>
            </a:endParaRPr>
          </a:p>
          <a:p>
            <a:r>
              <a:rPr lang="en-US" dirty="0">
                <a:highlight>
                  <a:srgbClr val="FFFF00"/>
                </a:highlight>
                <a:latin typeface="Calibir"/>
              </a:rPr>
              <a:t>    </a:t>
            </a:r>
            <a:r>
              <a:rPr lang="en-US" dirty="0" err="1">
                <a:highlight>
                  <a:srgbClr val="FFFF00"/>
                </a:highlight>
                <a:latin typeface="Calibir"/>
              </a:rPr>
              <a:t>System.out.println</a:t>
            </a:r>
            <a:r>
              <a:rPr lang="en-US" dirty="0">
                <a:highlight>
                  <a:srgbClr val="FFFF00"/>
                </a:highlight>
                <a:latin typeface="Calibir"/>
              </a:rPr>
              <a:t>(</a:t>
            </a:r>
          </a:p>
          <a:p>
            <a:r>
              <a:rPr lang="en-US" dirty="0">
                <a:highlight>
                  <a:srgbClr val="FFFF00"/>
                </a:highlight>
                <a:latin typeface="Calibir"/>
              </a:rPr>
              <a:t>        "Shop menu"</a:t>
            </a:r>
          </a:p>
          <a:p>
            <a:r>
              <a:rPr lang="en-US" dirty="0">
                <a:highlight>
                  <a:srgbClr val="FFFF00"/>
                </a:highlight>
                <a:latin typeface="Calibir"/>
              </a:rPr>
              <a:t>    );</a:t>
            </a:r>
          </a:p>
          <a:p>
            <a:endParaRPr lang="en-US" dirty="0">
              <a:highlight>
                <a:srgbClr val="FFFF00"/>
              </a:highlight>
              <a:latin typeface="Calibir"/>
            </a:endParaRPr>
          </a:p>
          <a:p>
            <a:r>
              <a:rPr lang="en-US" dirty="0">
                <a:highlight>
                  <a:srgbClr val="FFFF00"/>
                </a:highlight>
                <a:latin typeface="Calibir"/>
              </a:rPr>
              <a:t>    </a:t>
            </a:r>
            <a:r>
              <a:rPr lang="en-US" dirty="0" err="1">
                <a:highlight>
                  <a:srgbClr val="FFFF00"/>
                </a:highlight>
                <a:latin typeface="Calibir"/>
              </a:rPr>
              <a:t>System.out.println</a:t>
            </a:r>
            <a:r>
              <a:rPr lang="en-US" dirty="0">
                <a:highlight>
                  <a:srgbClr val="FFFF00"/>
                </a:highlight>
                <a:latin typeface="Calibir"/>
              </a:rPr>
              <a:t>(</a:t>
            </a:r>
          </a:p>
          <a:p>
            <a:r>
              <a:rPr lang="en-US" dirty="0">
                <a:highlight>
                  <a:srgbClr val="FFFF00"/>
                </a:highlight>
                <a:latin typeface="Calibir"/>
              </a:rPr>
              <a:t>        "S = sell"</a:t>
            </a:r>
          </a:p>
          <a:p>
            <a:r>
              <a:rPr lang="en-US" dirty="0">
                <a:highlight>
                  <a:srgbClr val="FFFF00"/>
                </a:highlight>
                <a:latin typeface="Calibir"/>
              </a:rPr>
              <a:t>    );</a:t>
            </a:r>
          </a:p>
          <a:p>
            <a:endParaRPr lang="en-US" dirty="0">
              <a:highlight>
                <a:srgbClr val="FFFF00"/>
              </a:highlight>
              <a:latin typeface="Calibir"/>
            </a:endParaRPr>
          </a:p>
          <a:p>
            <a:r>
              <a:rPr lang="en-US" dirty="0">
                <a:highlight>
                  <a:srgbClr val="FFFF00"/>
                </a:highlight>
                <a:latin typeface="Calibir"/>
              </a:rPr>
              <a:t>    </a:t>
            </a:r>
            <a:r>
              <a:rPr lang="en-US" dirty="0" err="1">
                <a:highlight>
                  <a:srgbClr val="FFFF00"/>
                </a:highlight>
                <a:latin typeface="Calibir"/>
              </a:rPr>
              <a:t>System.out.println</a:t>
            </a:r>
            <a:r>
              <a:rPr lang="en-US" dirty="0">
                <a:highlight>
                  <a:srgbClr val="FFFF00"/>
                </a:highlight>
                <a:latin typeface="Calibir"/>
              </a:rPr>
              <a:t>(</a:t>
            </a:r>
          </a:p>
          <a:p>
            <a:r>
              <a:rPr lang="en-US" dirty="0">
                <a:highlight>
                  <a:srgbClr val="FFFF00"/>
                </a:highlight>
                <a:latin typeface="Calibir"/>
              </a:rPr>
              <a:t>        "R = restock"</a:t>
            </a:r>
          </a:p>
          <a:p>
            <a:r>
              <a:rPr lang="en-US" dirty="0">
                <a:highlight>
                  <a:srgbClr val="FFFF00"/>
                </a:highlight>
                <a:latin typeface="Calibir"/>
              </a:rPr>
              <a:t>    );</a:t>
            </a:r>
          </a:p>
          <a:p>
            <a:endParaRPr lang="en-US" dirty="0">
              <a:highlight>
                <a:srgbClr val="FFFF00"/>
              </a:highlight>
              <a:latin typeface="Calibir"/>
            </a:endParaRPr>
          </a:p>
          <a:p>
            <a:r>
              <a:rPr lang="en-US" dirty="0">
                <a:highlight>
                  <a:srgbClr val="FFFF00"/>
                </a:highlight>
                <a:latin typeface="Calibir"/>
              </a:rPr>
              <a:t>    </a:t>
            </a:r>
            <a:r>
              <a:rPr lang="en-US" dirty="0" err="1">
                <a:highlight>
                  <a:srgbClr val="FFFF00"/>
                </a:highlight>
                <a:latin typeface="Calibir"/>
              </a:rPr>
              <a:t>System.out.println</a:t>
            </a:r>
            <a:r>
              <a:rPr lang="en-US" dirty="0">
                <a:highlight>
                  <a:srgbClr val="FFFF00"/>
                </a:highlight>
                <a:latin typeface="Calibir"/>
              </a:rPr>
              <a:t>(</a:t>
            </a:r>
          </a:p>
          <a:p>
            <a:r>
              <a:rPr lang="en-US" dirty="0">
                <a:highlight>
                  <a:srgbClr val="FFFF00"/>
                </a:highlight>
                <a:latin typeface="Calibir"/>
              </a:rPr>
              <a:t>        "V = view"</a:t>
            </a:r>
          </a:p>
          <a:p>
            <a:r>
              <a:rPr lang="en-US" dirty="0">
                <a:highlight>
                  <a:srgbClr val="FFFF00"/>
                </a:highlight>
                <a:latin typeface="Calibir"/>
              </a:rPr>
              <a:t>    );</a:t>
            </a:r>
          </a:p>
          <a:p>
            <a:endParaRPr lang="en-US" dirty="0">
              <a:highlight>
                <a:srgbClr val="FFFF00"/>
              </a:highlight>
              <a:latin typeface="Calibir"/>
            </a:endParaRPr>
          </a:p>
          <a:p>
            <a:r>
              <a:rPr lang="en-US" dirty="0">
                <a:highlight>
                  <a:srgbClr val="FFFF00"/>
                </a:highlight>
                <a:latin typeface="Calibir"/>
              </a:rPr>
              <a:t>    </a:t>
            </a:r>
            <a:r>
              <a:rPr lang="en-US" dirty="0" err="1">
                <a:highlight>
                  <a:srgbClr val="FFFF00"/>
                </a:highlight>
                <a:latin typeface="Calibir"/>
              </a:rPr>
              <a:t>System.out.println</a:t>
            </a:r>
            <a:r>
              <a:rPr lang="en-US" dirty="0">
                <a:highlight>
                  <a:srgbClr val="FFFF00"/>
                </a:highlight>
                <a:latin typeface="Calibir"/>
              </a:rPr>
              <a:t>(</a:t>
            </a:r>
          </a:p>
          <a:p>
            <a:r>
              <a:rPr lang="en-US" dirty="0">
                <a:highlight>
                  <a:srgbClr val="FFFF00"/>
                </a:highlight>
                <a:latin typeface="Calibir"/>
              </a:rPr>
              <a:t>        "X = exit"</a:t>
            </a:r>
          </a:p>
          <a:p>
            <a:r>
              <a:rPr lang="en-US" dirty="0">
                <a:highlight>
                  <a:srgbClr val="FFFF00"/>
                </a:highlight>
                <a:latin typeface="Calibir"/>
              </a:rPr>
              <a:t>    );</a:t>
            </a:r>
          </a:p>
          <a:p>
            <a:r>
              <a:rPr lang="en-US" dirty="0">
                <a:highlight>
                  <a:srgbClr val="FFFF00"/>
                </a:highlight>
                <a:latin typeface="Calibir"/>
              </a:rPr>
              <a:t>}</a:t>
            </a:r>
          </a:p>
        </p:txBody>
      </p:sp>
    </p:spTree>
    <p:extLst>
      <p:ext uri="{BB962C8B-B14F-4D97-AF65-F5344CB8AC3E}">
        <p14:creationId xmlns:p14="http://schemas.microsoft.com/office/powerpoint/2010/main" val="7929442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FE88FBE-E903-2C97-A2BD-8E1A7841AA7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A937791-8D85-CC23-E926-9694CEA102B7}"/>
              </a:ext>
            </a:extLst>
          </p:cNvPr>
          <p:cNvSpPr txBox="1"/>
          <p:nvPr/>
        </p:nvSpPr>
        <p:spPr>
          <a:xfrm>
            <a:off x="-2458" y="181957"/>
            <a:ext cx="6098458" cy="6494085"/>
          </a:xfrm>
          <a:prstGeom prst="rect">
            <a:avLst/>
          </a:prstGeom>
          <a:noFill/>
        </p:spPr>
        <p:txBody>
          <a:bodyPr wrap="square">
            <a:spAutoFit/>
          </a:bodyPr>
          <a:lstStyle/>
          <a:p>
            <a:pPr>
              <a:buNone/>
            </a:pPr>
            <a:r>
              <a:rPr lang="en-US" sz="1600" b="1" dirty="0">
                <a:latin typeface="Calibir"/>
              </a:rPr>
              <a:t>Step 20 — menu()</a:t>
            </a:r>
          </a:p>
          <a:p>
            <a:pPr>
              <a:buNone/>
            </a:pPr>
            <a:r>
              <a:rPr lang="en-US" sz="1600" b="1" dirty="0">
                <a:latin typeface="Calibir"/>
              </a:rPr>
              <a:t>Python</a:t>
            </a:r>
          </a:p>
          <a:p>
            <a:pPr rtl="0">
              <a:buNone/>
            </a:pPr>
            <a:r>
              <a:rPr lang="en-US" sz="1600" dirty="0">
                <a:highlight>
                  <a:srgbClr val="FFFF00"/>
                </a:highlight>
                <a:latin typeface="Calibir"/>
              </a:rPr>
              <a:t>def menu(self):</a:t>
            </a:r>
          </a:p>
          <a:p>
            <a:pPr rtl="0">
              <a:buNone/>
            </a:pPr>
            <a:r>
              <a:rPr lang="en-US" sz="1600" dirty="0">
                <a:highlight>
                  <a:srgbClr val="FFFF00"/>
                </a:highlight>
                <a:latin typeface="Calibir"/>
              </a:rPr>
              <a:t>    while True:</a:t>
            </a:r>
          </a:p>
          <a:p>
            <a:pPr rtl="0">
              <a:buNone/>
            </a:pPr>
            <a:r>
              <a:rPr lang="en-US" sz="1600" dirty="0">
                <a:highlight>
                  <a:srgbClr val="FFFF00"/>
                </a:highlight>
                <a:latin typeface="Calibir"/>
              </a:rPr>
              <a:t>        choice = input(</a:t>
            </a:r>
          </a:p>
          <a:p>
            <a:pPr rtl="0">
              <a:buNone/>
            </a:pPr>
            <a:r>
              <a:rPr lang="en-US" sz="1600" dirty="0">
                <a:highlight>
                  <a:srgbClr val="FFFF00"/>
                </a:highlight>
                <a:latin typeface="Calibir"/>
              </a:rPr>
              <a:t>            "Shop menu "</a:t>
            </a:r>
          </a:p>
          <a:p>
            <a:pPr rtl="0">
              <a:buNone/>
            </a:pPr>
            <a:r>
              <a:rPr lang="en-US" sz="1600" dirty="0">
                <a:highlight>
                  <a:srgbClr val="FFFF00"/>
                </a:highlight>
                <a:latin typeface="Calibir"/>
              </a:rPr>
              <a:t>            "(S/R/V/X): "</a:t>
            </a:r>
          </a:p>
          <a:p>
            <a:pPr rtl="0">
              <a:buNone/>
            </a:pPr>
            <a:r>
              <a:rPr lang="en-US" sz="1600" dirty="0">
                <a:highlight>
                  <a:srgbClr val="FFFF00"/>
                </a:highlight>
                <a:latin typeface="Calibir"/>
              </a:rPr>
              <a:t>        ).upper()</a:t>
            </a:r>
          </a:p>
          <a:p>
            <a:pPr rtl="0">
              <a:buNone/>
            </a:pPr>
            <a:r>
              <a:rPr lang="en-US" sz="1600" dirty="0">
                <a:highlight>
                  <a:srgbClr val="FFFF00"/>
                </a:highlight>
                <a:latin typeface="Calibir"/>
              </a:rPr>
              <a:t>        if choice == "S":</a:t>
            </a:r>
          </a:p>
          <a:p>
            <a:pPr rtl="0">
              <a:buNone/>
            </a:pPr>
            <a:r>
              <a:rPr lang="en-US" sz="1600" dirty="0">
                <a:highlight>
                  <a:srgbClr val="FFFF00"/>
                </a:highlight>
                <a:latin typeface="Calibir"/>
              </a:rPr>
              <a:t>            </a:t>
            </a:r>
            <a:r>
              <a:rPr lang="en-US" sz="1600" dirty="0" err="1">
                <a:highlight>
                  <a:srgbClr val="FFFF00"/>
                </a:highlight>
                <a:latin typeface="Calibir"/>
              </a:rPr>
              <a:t>self.sell</a:t>
            </a:r>
            <a:r>
              <a:rPr lang="en-US" sz="1600" dirty="0">
                <a:highlight>
                  <a:srgbClr val="FFFF00"/>
                </a:highlight>
                <a:latin typeface="Calibir"/>
              </a:rPr>
              <a:t>()</a:t>
            </a:r>
          </a:p>
          <a:p>
            <a:pPr rtl="0">
              <a:buNone/>
            </a:pPr>
            <a:endParaRPr lang="en-US" sz="1600" dirty="0">
              <a:highlight>
                <a:srgbClr val="FFFF00"/>
              </a:highlight>
              <a:latin typeface="Calibir"/>
            </a:endParaRPr>
          </a:p>
          <a:p>
            <a:pPr rtl="0">
              <a:buNone/>
            </a:pPr>
            <a:r>
              <a:rPr lang="en-US" sz="1600" dirty="0">
                <a:highlight>
                  <a:srgbClr val="FFFF00"/>
                </a:highlight>
                <a:latin typeface="Calibir"/>
              </a:rPr>
              <a:t>        </a:t>
            </a:r>
            <a:r>
              <a:rPr lang="en-US" sz="1600" dirty="0" err="1">
                <a:highlight>
                  <a:srgbClr val="FFFF00"/>
                </a:highlight>
                <a:latin typeface="Calibir"/>
              </a:rPr>
              <a:t>elif</a:t>
            </a:r>
            <a:r>
              <a:rPr lang="en-US" sz="1600" dirty="0">
                <a:highlight>
                  <a:srgbClr val="FFFF00"/>
                </a:highlight>
                <a:latin typeface="Calibir"/>
              </a:rPr>
              <a:t> choice == "R":</a:t>
            </a:r>
          </a:p>
          <a:p>
            <a:pPr rtl="0">
              <a:buNone/>
            </a:pPr>
            <a:endParaRPr lang="en-US" sz="1600" dirty="0">
              <a:highlight>
                <a:srgbClr val="FFFF00"/>
              </a:highlight>
              <a:latin typeface="Calibir"/>
            </a:endParaRPr>
          </a:p>
          <a:p>
            <a:pPr rtl="0">
              <a:buNone/>
            </a:pPr>
            <a:r>
              <a:rPr lang="en-US" sz="1600" dirty="0">
                <a:highlight>
                  <a:srgbClr val="FFFF00"/>
                </a:highlight>
                <a:latin typeface="Calibir"/>
              </a:rPr>
              <a:t>            </a:t>
            </a:r>
            <a:r>
              <a:rPr lang="en-US" sz="1600" dirty="0" err="1">
                <a:highlight>
                  <a:srgbClr val="FFFF00"/>
                </a:highlight>
                <a:latin typeface="Calibir"/>
              </a:rPr>
              <a:t>self.restock</a:t>
            </a:r>
            <a:r>
              <a:rPr lang="en-US" sz="1600" dirty="0">
                <a:highlight>
                  <a:srgbClr val="FFFF00"/>
                </a:highlight>
                <a:latin typeface="Calibir"/>
              </a:rPr>
              <a:t>()</a:t>
            </a:r>
          </a:p>
          <a:p>
            <a:pPr rtl="0">
              <a:buNone/>
            </a:pPr>
            <a:endParaRPr lang="en-US" sz="1600" dirty="0">
              <a:highlight>
                <a:srgbClr val="FFFF00"/>
              </a:highlight>
              <a:latin typeface="Calibir"/>
            </a:endParaRPr>
          </a:p>
          <a:p>
            <a:pPr rtl="0">
              <a:buNone/>
            </a:pPr>
            <a:r>
              <a:rPr lang="en-US" sz="1600" dirty="0">
                <a:highlight>
                  <a:srgbClr val="FFFF00"/>
                </a:highlight>
                <a:latin typeface="Calibir"/>
              </a:rPr>
              <a:t>        </a:t>
            </a:r>
            <a:r>
              <a:rPr lang="en-US" sz="1600" dirty="0" err="1">
                <a:highlight>
                  <a:srgbClr val="FFFF00"/>
                </a:highlight>
                <a:latin typeface="Calibir"/>
              </a:rPr>
              <a:t>elif</a:t>
            </a:r>
            <a:r>
              <a:rPr lang="en-US" sz="1600" dirty="0">
                <a:highlight>
                  <a:srgbClr val="FFFF00"/>
                </a:highlight>
                <a:latin typeface="Calibir"/>
              </a:rPr>
              <a:t> choice == "V":</a:t>
            </a:r>
          </a:p>
          <a:p>
            <a:pPr rtl="0">
              <a:buNone/>
            </a:pPr>
            <a:endParaRPr lang="en-US" sz="1600" dirty="0">
              <a:highlight>
                <a:srgbClr val="FFFF00"/>
              </a:highlight>
              <a:latin typeface="Calibir"/>
            </a:endParaRPr>
          </a:p>
          <a:p>
            <a:pPr rtl="0">
              <a:buNone/>
            </a:pPr>
            <a:r>
              <a:rPr lang="en-US" sz="1600" dirty="0">
                <a:highlight>
                  <a:srgbClr val="FFFF00"/>
                </a:highlight>
                <a:latin typeface="Calibir"/>
              </a:rPr>
              <a:t>            </a:t>
            </a:r>
            <a:r>
              <a:rPr lang="en-US" sz="1600" dirty="0" err="1">
                <a:highlight>
                  <a:srgbClr val="FFFF00"/>
                </a:highlight>
                <a:latin typeface="Calibir"/>
              </a:rPr>
              <a:t>self.view</a:t>
            </a:r>
            <a:r>
              <a:rPr lang="en-US" sz="1600" dirty="0">
                <a:highlight>
                  <a:srgbClr val="FFFF00"/>
                </a:highlight>
                <a:latin typeface="Calibir"/>
              </a:rPr>
              <a:t>()</a:t>
            </a:r>
          </a:p>
          <a:p>
            <a:pPr rtl="0">
              <a:buNone/>
            </a:pPr>
            <a:endParaRPr lang="en-US" sz="1600" dirty="0">
              <a:highlight>
                <a:srgbClr val="FFFF00"/>
              </a:highlight>
              <a:latin typeface="Calibir"/>
            </a:endParaRPr>
          </a:p>
          <a:p>
            <a:pPr rtl="0">
              <a:buNone/>
            </a:pPr>
            <a:r>
              <a:rPr lang="en-US" sz="1600" dirty="0">
                <a:highlight>
                  <a:srgbClr val="FFFF00"/>
                </a:highlight>
                <a:latin typeface="Calibir"/>
              </a:rPr>
              <a:t>        </a:t>
            </a:r>
            <a:r>
              <a:rPr lang="en-US" sz="1600" dirty="0" err="1">
                <a:highlight>
                  <a:srgbClr val="FFFF00"/>
                </a:highlight>
                <a:latin typeface="Calibir"/>
              </a:rPr>
              <a:t>elif</a:t>
            </a:r>
            <a:r>
              <a:rPr lang="en-US" sz="1600" dirty="0">
                <a:highlight>
                  <a:srgbClr val="FFFF00"/>
                </a:highlight>
                <a:latin typeface="Calibir"/>
              </a:rPr>
              <a:t> choice == "X":</a:t>
            </a:r>
          </a:p>
          <a:p>
            <a:pPr rtl="0">
              <a:buNone/>
            </a:pPr>
            <a:endParaRPr lang="en-US" sz="1600" dirty="0">
              <a:highlight>
                <a:srgbClr val="FFFF00"/>
              </a:highlight>
              <a:latin typeface="Calibir"/>
            </a:endParaRPr>
          </a:p>
          <a:p>
            <a:pPr rtl="0">
              <a:buNone/>
            </a:pPr>
            <a:r>
              <a:rPr lang="en-US" sz="1600" dirty="0">
                <a:highlight>
                  <a:srgbClr val="FFFF00"/>
                </a:highlight>
                <a:latin typeface="Calibir"/>
              </a:rPr>
              <a:t>            break</a:t>
            </a:r>
          </a:p>
          <a:p>
            <a:pPr rtl="0">
              <a:buNone/>
            </a:pPr>
            <a:endParaRPr lang="en-US" sz="1600" dirty="0">
              <a:highlight>
                <a:srgbClr val="FFFF00"/>
              </a:highlight>
              <a:latin typeface="Calibir"/>
            </a:endParaRPr>
          </a:p>
          <a:p>
            <a:pPr rtl="0">
              <a:buNone/>
            </a:pPr>
            <a:r>
              <a:rPr lang="en-US" sz="1600" dirty="0">
                <a:highlight>
                  <a:srgbClr val="FFFF00"/>
                </a:highlight>
                <a:latin typeface="Calibir"/>
              </a:rPr>
              <a:t>        else:</a:t>
            </a:r>
          </a:p>
          <a:p>
            <a:pPr rtl="0">
              <a:buNone/>
            </a:pPr>
            <a:endParaRPr lang="en-US" sz="1600" dirty="0">
              <a:highlight>
                <a:srgbClr val="FFFF00"/>
              </a:highlight>
              <a:latin typeface="Calibir"/>
            </a:endParaRPr>
          </a:p>
          <a:p>
            <a:pPr rtl="0">
              <a:buNone/>
            </a:pPr>
            <a:r>
              <a:rPr lang="en-US" sz="1600" dirty="0">
                <a:highlight>
                  <a:srgbClr val="FFFF00"/>
                </a:highlight>
                <a:latin typeface="Calibir"/>
              </a:rPr>
              <a:t>            </a:t>
            </a:r>
            <a:r>
              <a:rPr lang="en-US" sz="1600" dirty="0" err="1">
                <a:highlight>
                  <a:srgbClr val="FFFF00"/>
                </a:highlight>
                <a:latin typeface="Calibir"/>
              </a:rPr>
              <a:t>self.help</a:t>
            </a:r>
            <a:r>
              <a:rPr lang="en-US" sz="1600" dirty="0">
                <a:highlight>
                  <a:srgbClr val="FFFF00"/>
                </a:highlight>
                <a:latin typeface="Calibir"/>
              </a:rPr>
              <a:t>()</a:t>
            </a:r>
          </a:p>
        </p:txBody>
      </p:sp>
      <p:sp>
        <p:nvSpPr>
          <p:cNvPr id="5" name="TextBox 4">
            <a:extLst>
              <a:ext uri="{FF2B5EF4-FFF2-40B4-BE49-F238E27FC236}">
                <a16:creationId xmlns:a16="http://schemas.microsoft.com/office/drawing/2014/main" id="{7FFFBF9C-3DAB-EB7F-03CC-6F073D615C7E}"/>
              </a:ext>
            </a:extLst>
          </p:cNvPr>
          <p:cNvSpPr txBox="1"/>
          <p:nvPr/>
        </p:nvSpPr>
        <p:spPr>
          <a:xfrm>
            <a:off x="5921477" y="0"/>
            <a:ext cx="6120580" cy="6555641"/>
          </a:xfrm>
          <a:prstGeom prst="rect">
            <a:avLst/>
          </a:prstGeom>
          <a:noFill/>
        </p:spPr>
        <p:txBody>
          <a:bodyPr wrap="square">
            <a:spAutoFit/>
          </a:bodyPr>
          <a:lstStyle/>
          <a:p>
            <a:pPr>
              <a:buNone/>
            </a:pPr>
            <a:r>
              <a:rPr lang="en-US" sz="1200" b="1" dirty="0">
                <a:latin typeface="Calibir"/>
              </a:rPr>
              <a:t>Java</a:t>
            </a:r>
          </a:p>
          <a:p>
            <a:pPr rtl="0">
              <a:buNone/>
            </a:pPr>
            <a:r>
              <a:rPr lang="en-US" sz="1200" dirty="0">
                <a:highlight>
                  <a:srgbClr val="FFFF00"/>
                </a:highlight>
                <a:latin typeface="Calibir"/>
              </a:rPr>
              <a:t>public void menu(</a:t>
            </a:r>
          </a:p>
          <a:p>
            <a:pPr rtl="0">
              <a:buNone/>
            </a:pPr>
            <a:r>
              <a:rPr lang="en-US" sz="1200" dirty="0">
                <a:highlight>
                  <a:srgbClr val="FFFF00"/>
                </a:highlight>
                <a:latin typeface="Calibir"/>
              </a:rPr>
              <a:t>        Scanner input) {</a:t>
            </a:r>
          </a:p>
          <a:p>
            <a:pPr rtl="0">
              <a:buNone/>
            </a:pPr>
            <a:r>
              <a:rPr lang="en-US" sz="1200" dirty="0">
                <a:highlight>
                  <a:srgbClr val="FFFF00"/>
                </a:highlight>
                <a:latin typeface="Calibir"/>
              </a:rPr>
              <a:t>    while (true) {</a:t>
            </a:r>
          </a:p>
          <a:p>
            <a:pPr rtl="0">
              <a:buNone/>
            </a:pPr>
            <a:r>
              <a:rPr lang="en-US" sz="1200" dirty="0">
                <a:highlight>
                  <a:srgbClr val="FFFF00"/>
                </a:highlight>
                <a:latin typeface="Calibir"/>
              </a:rPr>
              <a:t>        </a:t>
            </a:r>
            <a:r>
              <a:rPr lang="en-US" sz="1200" dirty="0" err="1">
                <a:highlight>
                  <a:srgbClr val="FFFF00"/>
                </a:highlight>
                <a:latin typeface="Calibir"/>
              </a:rPr>
              <a:t>System.out.print</a:t>
            </a:r>
            <a:r>
              <a:rPr lang="en-US" sz="1200" dirty="0">
                <a:highlight>
                  <a:srgbClr val="FFFF00"/>
                </a:highlight>
                <a:latin typeface="Calibir"/>
              </a:rPr>
              <a:t>(</a:t>
            </a:r>
          </a:p>
          <a:p>
            <a:pPr rtl="0">
              <a:buNone/>
            </a:pPr>
            <a:r>
              <a:rPr lang="en-US" sz="1200" dirty="0">
                <a:highlight>
                  <a:srgbClr val="FFFF00"/>
                </a:highlight>
                <a:latin typeface="Calibir"/>
              </a:rPr>
              <a:t>            "Shop menu "</a:t>
            </a:r>
          </a:p>
          <a:p>
            <a:pPr rtl="0">
              <a:buNone/>
            </a:pPr>
            <a:r>
              <a:rPr lang="en-US" sz="1200" dirty="0">
                <a:highlight>
                  <a:srgbClr val="FFFF00"/>
                </a:highlight>
                <a:latin typeface="Calibir"/>
              </a:rPr>
              <a:t>            + "(S/R/V/X): "</a:t>
            </a:r>
          </a:p>
          <a:p>
            <a:pPr rtl="0">
              <a:buNone/>
            </a:pPr>
            <a:r>
              <a:rPr lang="en-US" sz="1200" dirty="0">
                <a:highlight>
                  <a:srgbClr val="FFFF00"/>
                </a:highlight>
                <a:latin typeface="Calibir"/>
              </a:rPr>
              <a:t>        );</a:t>
            </a:r>
          </a:p>
          <a:p>
            <a:pPr rtl="0">
              <a:buNone/>
            </a:pPr>
            <a:r>
              <a:rPr lang="en-US" sz="1200" dirty="0">
                <a:highlight>
                  <a:srgbClr val="FFFF00"/>
                </a:highlight>
                <a:latin typeface="Calibir"/>
              </a:rPr>
              <a:t>        String choice =</a:t>
            </a:r>
          </a:p>
          <a:p>
            <a:pPr rtl="0">
              <a:buNone/>
            </a:pPr>
            <a:r>
              <a:rPr lang="en-US" sz="1200" dirty="0">
                <a:highlight>
                  <a:srgbClr val="FFFF00"/>
                </a:highlight>
                <a:latin typeface="Calibir"/>
              </a:rPr>
              <a:t>                </a:t>
            </a:r>
            <a:r>
              <a:rPr lang="en-US" sz="1200" dirty="0" err="1">
                <a:highlight>
                  <a:srgbClr val="FFFF00"/>
                </a:highlight>
                <a:latin typeface="Calibir"/>
              </a:rPr>
              <a:t>input.nextLine</a:t>
            </a:r>
            <a:r>
              <a:rPr lang="en-US" sz="1200" dirty="0">
                <a:highlight>
                  <a:srgbClr val="FFFF00"/>
                </a:highlight>
                <a:latin typeface="Calibir"/>
              </a:rPr>
              <a:t>()</a:t>
            </a:r>
          </a:p>
          <a:p>
            <a:pPr rtl="0">
              <a:buNone/>
            </a:pPr>
            <a:r>
              <a:rPr lang="en-US" sz="1200" dirty="0">
                <a:highlight>
                  <a:srgbClr val="FFFF00"/>
                </a:highlight>
                <a:latin typeface="Calibir"/>
              </a:rPr>
              <a:t>                     .</a:t>
            </a:r>
            <a:r>
              <a:rPr lang="en-US" sz="1200" dirty="0" err="1">
                <a:highlight>
                  <a:srgbClr val="FFFF00"/>
                </a:highlight>
                <a:latin typeface="Calibir"/>
              </a:rPr>
              <a:t>toUpperCase</a:t>
            </a:r>
            <a:r>
              <a:rPr lang="en-US" sz="1200" dirty="0">
                <a:highlight>
                  <a:srgbClr val="FFFF00"/>
                </a:highlight>
                <a:latin typeface="Calibir"/>
              </a:rPr>
              <a:t>();</a:t>
            </a:r>
          </a:p>
          <a:p>
            <a:pPr rtl="0">
              <a:buNone/>
            </a:pPr>
            <a:r>
              <a:rPr lang="en-US" sz="1200" dirty="0">
                <a:highlight>
                  <a:srgbClr val="FFFF00"/>
                </a:highlight>
                <a:latin typeface="Calibir"/>
              </a:rPr>
              <a:t>        switch (choice) {</a:t>
            </a:r>
          </a:p>
          <a:p>
            <a:pPr rtl="0">
              <a:buNone/>
            </a:pPr>
            <a:r>
              <a:rPr lang="en-US" sz="1200" dirty="0">
                <a:highlight>
                  <a:srgbClr val="FFFF00"/>
                </a:highlight>
                <a:latin typeface="Calibir"/>
              </a:rPr>
              <a:t>            case "S":</a:t>
            </a:r>
          </a:p>
          <a:p>
            <a:pPr rtl="0">
              <a:buNone/>
            </a:pPr>
            <a:r>
              <a:rPr lang="en-US" sz="1200" dirty="0">
                <a:highlight>
                  <a:srgbClr val="FFFF00"/>
                </a:highlight>
                <a:latin typeface="Calibir"/>
              </a:rPr>
              <a:t>                sell(input);</a:t>
            </a:r>
          </a:p>
          <a:p>
            <a:pPr rtl="0">
              <a:buNone/>
            </a:pPr>
            <a:r>
              <a:rPr lang="en-US" sz="1200" dirty="0">
                <a:highlight>
                  <a:srgbClr val="FFFF00"/>
                </a:highlight>
                <a:latin typeface="Calibir"/>
              </a:rPr>
              <a:t>                </a:t>
            </a:r>
            <a:r>
              <a:rPr lang="en-US" sz="1200" dirty="0" err="1">
                <a:highlight>
                  <a:srgbClr val="FFFF00"/>
                </a:highlight>
                <a:latin typeface="Calibir"/>
              </a:rPr>
              <a:t>input.nextLine</a:t>
            </a:r>
            <a:r>
              <a:rPr lang="en-US" sz="1200" dirty="0">
                <a:highlight>
                  <a:srgbClr val="FFFF00"/>
                </a:highlight>
                <a:latin typeface="Calibir"/>
              </a:rPr>
              <a:t>();</a:t>
            </a:r>
          </a:p>
          <a:p>
            <a:pPr rtl="0">
              <a:buNone/>
            </a:pPr>
            <a:r>
              <a:rPr lang="en-US" sz="1200" dirty="0">
                <a:highlight>
                  <a:srgbClr val="FFFF00"/>
                </a:highlight>
                <a:latin typeface="Calibir"/>
              </a:rPr>
              <a:t>                break;</a:t>
            </a:r>
          </a:p>
          <a:p>
            <a:pPr rtl="0">
              <a:buNone/>
            </a:pPr>
            <a:r>
              <a:rPr lang="en-US" sz="1200" dirty="0">
                <a:highlight>
                  <a:srgbClr val="FFFF00"/>
                </a:highlight>
                <a:latin typeface="Calibir"/>
              </a:rPr>
              <a:t>            case "R":</a:t>
            </a:r>
          </a:p>
          <a:p>
            <a:pPr rtl="0">
              <a:buNone/>
            </a:pPr>
            <a:r>
              <a:rPr lang="en-US" sz="1200" dirty="0">
                <a:highlight>
                  <a:srgbClr val="FFFF00"/>
                </a:highlight>
                <a:latin typeface="Calibir"/>
              </a:rPr>
              <a:t>                restock(input);</a:t>
            </a:r>
          </a:p>
          <a:p>
            <a:pPr rtl="0">
              <a:buNone/>
            </a:pPr>
            <a:r>
              <a:rPr lang="en-US" sz="1200" dirty="0">
                <a:highlight>
                  <a:srgbClr val="FFFF00"/>
                </a:highlight>
                <a:latin typeface="Calibir"/>
              </a:rPr>
              <a:t>                </a:t>
            </a:r>
            <a:r>
              <a:rPr lang="en-US" sz="1200" dirty="0" err="1">
                <a:highlight>
                  <a:srgbClr val="FFFF00"/>
                </a:highlight>
                <a:latin typeface="Calibir"/>
              </a:rPr>
              <a:t>input.nextLine</a:t>
            </a:r>
            <a:r>
              <a:rPr lang="en-US" sz="1200" dirty="0">
                <a:highlight>
                  <a:srgbClr val="FFFF00"/>
                </a:highlight>
                <a:latin typeface="Calibir"/>
              </a:rPr>
              <a:t>();</a:t>
            </a:r>
          </a:p>
          <a:p>
            <a:pPr rtl="0">
              <a:buNone/>
            </a:pPr>
            <a:r>
              <a:rPr lang="en-US" sz="1200" dirty="0">
                <a:highlight>
                  <a:srgbClr val="FFFF00"/>
                </a:highlight>
                <a:latin typeface="Calibir"/>
              </a:rPr>
              <a:t>                break;</a:t>
            </a:r>
          </a:p>
          <a:p>
            <a:pPr rtl="0">
              <a:buNone/>
            </a:pPr>
            <a:r>
              <a:rPr lang="en-US" sz="1200" dirty="0">
                <a:highlight>
                  <a:srgbClr val="FFFF00"/>
                </a:highlight>
                <a:latin typeface="Calibir"/>
              </a:rPr>
              <a:t>            case "V":</a:t>
            </a:r>
          </a:p>
          <a:p>
            <a:pPr rtl="0">
              <a:buNone/>
            </a:pPr>
            <a:r>
              <a:rPr lang="en-US" sz="1200" dirty="0">
                <a:highlight>
                  <a:srgbClr val="FFFF00"/>
                </a:highlight>
                <a:latin typeface="Calibir"/>
              </a:rPr>
              <a:t>                view();</a:t>
            </a:r>
          </a:p>
          <a:p>
            <a:pPr rtl="0">
              <a:buNone/>
            </a:pPr>
            <a:endParaRPr lang="en-US" sz="1200" dirty="0">
              <a:highlight>
                <a:srgbClr val="FFFF00"/>
              </a:highlight>
              <a:latin typeface="Calibir"/>
            </a:endParaRPr>
          </a:p>
          <a:p>
            <a:pPr rtl="0">
              <a:buNone/>
            </a:pPr>
            <a:r>
              <a:rPr lang="en-US" sz="1200" dirty="0">
                <a:highlight>
                  <a:srgbClr val="FFFF00"/>
                </a:highlight>
                <a:latin typeface="Calibir"/>
              </a:rPr>
              <a:t>                break;</a:t>
            </a:r>
          </a:p>
          <a:p>
            <a:pPr rtl="0">
              <a:buNone/>
            </a:pPr>
            <a:endParaRPr lang="en-US" sz="1200" dirty="0">
              <a:highlight>
                <a:srgbClr val="FFFF00"/>
              </a:highlight>
              <a:latin typeface="Calibir"/>
            </a:endParaRPr>
          </a:p>
          <a:p>
            <a:pPr rtl="0">
              <a:buNone/>
            </a:pPr>
            <a:r>
              <a:rPr lang="en-US" sz="1200" dirty="0">
                <a:highlight>
                  <a:srgbClr val="FFFF00"/>
                </a:highlight>
                <a:latin typeface="Calibir"/>
              </a:rPr>
              <a:t>            case "X":</a:t>
            </a:r>
          </a:p>
          <a:p>
            <a:pPr rtl="0">
              <a:buNone/>
            </a:pPr>
            <a:endParaRPr lang="en-US" sz="1200" dirty="0">
              <a:highlight>
                <a:srgbClr val="FFFF00"/>
              </a:highlight>
              <a:latin typeface="Calibir"/>
            </a:endParaRPr>
          </a:p>
          <a:p>
            <a:pPr rtl="0">
              <a:buNone/>
            </a:pPr>
            <a:r>
              <a:rPr lang="en-US" sz="1200" dirty="0">
                <a:highlight>
                  <a:srgbClr val="FFFF00"/>
                </a:highlight>
                <a:latin typeface="Calibir"/>
              </a:rPr>
              <a:t>                return;</a:t>
            </a:r>
          </a:p>
          <a:p>
            <a:pPr rtl="0">
              <a:buNone/>
            </a:pPr>
            <a:endParaRPr lang="en-US" sz="1200" dirty="0">
              <a:highlight>
                <a:srgbClr val="FFFF00"/>
              </a:highlight>
              <a:latin typeface="Calibir"/>
            </a:endParaRPr>
          </a:p>
          <a:p>
            <a:pPr rtl="0">
              <a:buNone/>
            </a:pPr>
            <a:r>
              <a:rPr lang="en-US" sz="1200" dirty="0">
                <a:highlight>
                  <a:srgbClr val="FFFF00"/>
                </a:highlight>
                <a:latin typeface="Calibir"/>
              </a:rPr>
              <a:t>            default:</a:t>
            </a:r>
          </a:p>
          <a:p>
            <a:pPr rtl="0">
              <a:buNone/>
            </a:pPr>
            <a:endParaRPr lang="en-US" sz="1200" dirty="0">
              <a:highlight>
                <a:srgbClr val="FFFF00"/>
              </a:highlight>
              <a:latin typeface="Calibir"/>
            </a:endParaRPr>
          </a:p>
          <a:p>
            <a:pPr rtl="0">
              <a:buNone/>
            </a:pPr>
            <a:r>
              <a:rPr lang="en-US" sz="1200" dirty="0">
                <a:highlight>
                  <a:srgbClr val="FFFF00"/>
                </a:highlight>
                <a:latin typeface="Calibir"/>
              </a:rPr>
              <a:t>                help();</a:t>
            </a:r>
          </a:p>
          <a:p>
            <a:pPr rtl="0">
              <a:buNone/>
            </a:pPr>
            <a:r>
              <a:rPr lang="en-US" sz="1200" dirty="0">
                <a:highlight>
                  <a:srgbClr val="FFFF00"/>
                </a:highlight>
                <a:latin typeface="Calibir"/>
              </a:rPr>
              <a:t>        }</a:t>
            </a:r>
          </a:p>
          <a:p>
            <a:pPr rtl="0">
              <a:buNone/>
            </a:pPr>
            <a:r>
              <a:rPr lang="en-US" sz="1200" dirty="0">
                <a:highlight>
                  <a:srgbClr val="FFFF00"/>
                </a:highlight>
                <a:latin typeface="Calibir"/>
              </a:rPr>
              <a:t>    }</a:t>
            </a:r>
          </a:p>
          <a:p>
            <a:pPr rtl="0">
              <a:buNone/>
            </a:pPr>
            <a:r>
              <a:rPr lang="en-US" sz="1200" dirty="0">
                <a:highlight>
                  <a:srgbClr val="FFFF00"/>
                </a:highlight>
                <a:latin typeface="Calibir"/>
              </a:rPr>
              <a:t>}</a:t>
            </a:r>
          </a:p>
        </p:txBody>
      </p:sp>
    </p:spTree>
    <p:extLst>
      <p:ext uri="{BB962C8B-B14F-4D97-AF65-F5344CB8AC3E}">
        <p14:creationId xmlns:p14="http://schemas.microsoft.com/office/powerpoint/2010/main" val="759406605"/>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F011338A-9FAF-EEB0-557F-0D50939B5C0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92D0622-F3C2-5C57-CB8F-BF28A42516CC}"/>
              </a:ext>
            </a:extLst>
          </p:cNvPr>
          <p:cNvSpPr txBox="1"/>
          <p:nvPr/>
        </p:nvSpPr>
        <p:spPr>
          <a:xfrm>
            <a:off x="-2458" y="181957"/>
            <a:ext cx="6098458" cy="44719935"/>
          </a:xfrm>
          <a:prstGeom prst="rect">
            <a:avLst/>
          </a:prstGeom>
          <a:noFill/>
        </p:spPr>
        <p:txBody>
          <a:bodyPr wrap="square">
            <a:spAutoFit/>
          </a:bodyPr>
          <a:lstStyle/>
          <a:p>
            <a:r>
              <a:rPr lang="en-US" sz="1000" b="1" dirty="0">
                <a:latin typeface="Calibir"/>
              </a:rPr>
              <a:t>Completed Python — Lab6Exercise2</a:t>
            </a:r>
          </a:p>
          <a:p>
            <a:r>
              <a:rPr lang="en-US" sz="1000" dirty="0">
                <a:highlight>
                  <a:srgbClr val="FFFF00"/>
                </a:highlight>
                <a:latin typeface="Calibir"/>
              </a:rPr>
              <a:t>class Product:</a:t>
            </a:r>
          </a:p>
          <a:p>
            <a:endParaRPr lang="en-US" sz="1000" dirty="0">
              <a:highlight>
                <a:srgbClr val="FFFF00"/>
              </a:highlight>
              <a:latin typeface="Calibir"/>
            </a:endParaRPr>
          </a:p>
          <a:p>
            <a:r>
              <a:rPr lang="en-US" sz="1000" dirty="0">
                <a:highlight>
                  <a:srgbClr val="FFFF00"/>
                </a:highlight>
                <a:latin typeface="Calibir"/>
              </a:rPr>
              <a:t>    def __</a:t>
            </a:r>
            <a:r>
              <a:rPr lang="en-US" sz="1000" dirty="0" err="1">
                <a:highlight>
                  <a:srgbClr val="FFFF00"/>
                </a:highlight>
                <a:latin typeface="Calibir"/>
              </a:rPr>
              <a:t>init</a:t>
            </a:r>
            <a:r>
              <a:rPr lang="en-US" sz="1000" dirty="0">
                <a:highlight>
                  <a:srgbClr val="FFFF00"/>
                </a:highlight>
                <a:latin typeface="Calibir"/>
              </a:rPr>
              <a:t>__(</a:t>
            </a:r>
          </a:p>
          <a:p>
            <a:r>
              <a:rPr lang="en-US" sz="1000" dirty="0">
                <a:highlight>
                  <a:srgbClr val="FFFF00"/>
                </a:highlight>
                <a:latin typeface="Calibir"/>
              </a:rPr>
              <a:t>            self,</a:t>
            </a:r>
          </a:p>
          <a:p>
            <a:r>
              <a:rPr lang="en-US" sz="1000" dirty="0">
                <a:highlight>
                  <a:srgbClr val="FFFF00"/>
                </a:highlight>
                <a:latin typeface="Calibir"/>
              </a:rPr>
              <a:t>            </a:t>
            </a:r>
            <a:r>
              <a:rPr lang="en-US" sz="1000" dirty="0" err="1">
                <a:highlight>
                  <a:srgbClr val="FFFF00"/>
                </a:highlight>
                <a:latin typeface="Calibir"/>
              </a:rPr>
              <a:t>product_type</a:t>
            </a:r>
            <a:r>
              <a:rPr lang="en-US" sz="1000" dirty="0">
                <a:highlight>
                  <a:srgbClr val="FFFF00"/>
                </a:highlight>
                <a:latin typeface="Calibir"/>
              </a:rPr>
              <a:t>,</a:t>
            </a:r>
          </a:p>
          <a:p>
            <a:r>
              <a:rPr lang="en-US" sz="1000" dirty="0">
                <a:highlight>
                  <a:srgbClr val="FFFF00"/>
                </a:highlight>
                <a:latin typeface="Calibir"/>
              </a:rPr>
              <a:t>            price,</a:t>
            </a:r>
          </a:p>
          <a:p>
            <a:r>
              <a:rPr lang="en-US" sz="1000" dirty="0">
                <a:highlight>
                  <a:srgbClr val="FFFF00"/>
                </a:highlight>
                <a:latin typeface="Calibir"/>
              </a:rPr>
              <a:t>            stock):</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self.type</a:t>
            </a:r>
            <a:r>
              <a:rPr lang="en-US" sz="1000" dirty="0">
                <a:highlight>
                  <a:srgbClr val="FFFF00"/>
                </a:highlight>
                <a:latin typeface="Calibir"/>
              </a:rPr>
              <a:t> = </a:t>
            </a:r>
            <a:r>
              <a:rPr lang="en-US" sz="1000" dirty="0" err="1">
                <a:highlight>
                  <a:srgbClr val="FFFF00"/>
                </a:highlight>
                <a:latin typeface="Calibir"/>
              </a:rPr>
              <a:t>product_type</a:t>
            </a:r>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self.price</a:t>
            </a:r>
            <a:r>
              <a:rPr lang="en-US" sz="1000" dirty="0">
                <a:highlight>
                  <a:srgbClr val="FFFF00"/>
                </a:highlight>
                <a:latin typeface="Calibir"/>
              </a:rPr>
              <a:t> = price</a:t>
            </a:r>
          </a:p>
          <a:p>
            <a:r>
              <a:rPr lang="en-US" sz="1000" dirty="0">
                <a:highlight>
                  <a:srgbClr val="FFFF00"/>
                </a:highlight>
                <a:latin typeface="Calibir"/>
              </a:rPr>
              <a:t>        </a:t>
            </a:r>
            <a:r>
              <a:rPr lang="en-US" sz="1000" dirty="0" err="1">
                <a:highlight>
                  <a:srgbClr val="FFFF00"/>
                </a:highlight>
                <a:latin typeface="Calibir"/>
              </a:rPr>
              <a:t>self.stock</a:t>
            </a:r>
            <a:r>
              <a:rPr lang="en-US" sz="1000" dirty="0">
                <a:highlight>
                  <a:srgbClr val="FFFF00"/>
                </a:highlight>
                <a:latin typeface="Calibir"/>
              </a:rPr>
              <a:t> = stock</a:t>
            </a:r>
          </a:p>
          <a:p>
            <a:endParaRPr lang="en-US" sz="1000" dirty="0">
              <a:highlight>
                <a:srgbClr val="FFFF00"/>
              </a:highlight>
              <a:latin typeface="Calibir"/>
            </a:endParaRPr>
          </a:p>
          <a:p>
            <a:r>
              <a:rPr lang="en-US" sz="1000" dirty="0">
                <a:highlight>
                  <a:srgbClr val="FFFF00"/>
                </a:highlight>
                <a:latin typeface="Calibir"/>
              </a:rPr>
              <a:t>    @classmethod</a:t>
            </a:r>
          </a:p>
          <a:p>
            <a:r>
              <a:rPr lang="en-US" sz="1000" dirty="0">
                <a:highlight>
                  <a:srgbClr val="FFFF00"/>
                </a:highlight>
                <a:latin typeface="Calibir"/>
              </a:rPr>
              <a:t>    def </a:t>
            </a:r>
            <a:r>
              <a:rPr lang="en-US" sz="1000" dirty="0" err="1">
                <a:highlight>
                  <a:srgbClr val="FFFF00"/>
                </a:highlight>
                <a:latin typeface="Calibir"/>
              </a:rPr>
              <a:t>from_input</a:t>
            </a:r>
            <a:r>
              <a:rPr lang="en-US" sz="1000" dirty="0">
                <a:highlight>
                  <a:srgbClr val="FFFF00"/>
                </a:highlight>
                <a:latin typeface="Calibir"/>
              </a:rPr>
              <a:t>(</a:t>
            </a:r>
            <a:r>
              <a:rPr lang="en-US" sz="1000" dirty="0" err="1">
                <a:highlight>
                  <a:srgbClr val="FFFF00"/>
                </a:highlight>
                <a:latin typeface="Calibir"/>
              </a:rPr>
              <a:t>cls</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product_type</a:t>
            </a:r>
            <a:r>
              <a:rPr lang="en-US" sz="1000" dirty="0">
                <a:highlight>
                  <a:srgbClr val="FFFF00"/>
                </a:highlight>
                <a:latin typeface="Calibir"/>
              </a:rPr>
              <a:t> = input(</a:t>
            </a:r>
          </a:p>
          <a:p>
            <a:r>
              <a:rPr lang="en-US" sz="1000" dirty="0">
                <a:highlight>
                  <a:srgbClr val="FFFF00"/>
                </a:highlight>
                <a:latin typeface="Calibir"/>
              </a:rPr>
              <a:t>            "Product type: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price = float(</a:t>
            </a:r>
          </a:p>
          <a:p>
            <a:r>
              <a:rPr lang="en-US" sz="1000" dirty="0">
                <a:highlight>
                  <a:srgbClr val="FFFF00"/>
                </a:highlight>
                <a:latin typeface="Calibir"/>
              </a:rPr>
              <a:t>            input(</a:t>
            </a:r>
          </a:p>
          <a:p>
            <a:r>
              <a:rPr lang="en-US" sz="1000" dirty="0">
                <a:highlight>
                  <a:srgbClr val="FFFF00"/>
                </a:highlight>
                <a:latin typeface="Calibir"/>
              </a:rPr>
              <a:t>                "Product price: $"</a:t>
            </a:r>
          </a:p>
          <a:p>
            <a:r>
              <a:rPr lang="en-US" sz="1000" dirty="0">
                <a:highlight>
                  <a:srgbClr val="FFFF00"/>
                </a:highlight>
                <a:latin typeface="Calibir"/>
              </a:rPr>
              <a:t>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stock = int(</a:t>
            </a:r>
          </a:p>
          <a:p>
            <a:r>
              <a:rPr lang="en-US" sz="1000" dirty="0">
                <a:highlight>
                  <a:srgbClr val="FFFF00"/>
                </a:highlight>
                <a:latin typeface="Calibir"/>
              </a:rPr>
              <a:t>            input(</a:t>
            </a:r>
          </a:p>
          <a:p>
            <a:r>
              <a:rPr lang="en-US" sz="1000" dirty="0">
                <a:highlight>
                  <a:srgbClr val="FFFF00"/>
                </a:highlight>
                <a:latin typeface="Calibir"/>
              </a:rPr>
              <a:t>                "Initial stock: "</a:t>
            </a:r>
          </a:p>
          <a:p>
            <a:r>
              <a:rPr lang="en-US" sz="1000" dirty="0">
                <a:highlight>
                  <a:srgbClr val="FFFF00"/>
                </a:highlight>
                <a:latin typeface="Calibir"/>
              </a:rPr>
              <a:t>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return </a:t>
            </a:r>
            <a:r>
              <a:rPr lang="en-US" sz="1000" dirty="0" err="1">
                <a:highlight>
                  <a:srgbClr val="FFFF00"/>
                </a:highlight>
                <a:latin typeface="Calibir"/>
              </a:rPr>
              <a:t>cls</a:t>
            </a:r>
            <a:r>
              <a:rPr lang="en-US" sz="1000" dirty="0">
                <a:highlight>
                  <a:srgbClr val="FFFF00"/>
                </a:highlight>
                <a:latin typeface="Calibir"/>
              </a:rPr>
              <a:t>(</a:t>
            </a:r>
          </a:p>
          <a:p>
            <a:r>
              <a:rPr lang="en-US" sz="1000" dirty="0">
                <a:highlight>
                  <a:srgbClr val="FFFF00"/>
                </a:highlight>
                <a:latin typeface="Calibir"/>
              </a:rPr>
              <a:t>            </a:t>
            </a:r>
            <a:r>
              <a:rPr lang="en-US" sz="1000" dirty="0" err="1">
                <a:highlight>
                  <a:srgbClr val="FFFF00"/>
                </a:highlight>
                <a:latin typeface="Calibir"/>
              </a:rPr>
              <a:t>product_type</a:t>
            </a:r>
            <a:r>
              <a:rPr lang="en-US" sz="1000" dirty="0">
                <a:highlight>
                  <a:srgbClr val="FFFF00"/>
                </a:highlight>
                <a:latin typeface="Calibir"/>
              </a:rPr>
              <a:t>,</a:t>
            </a:r>
          </a:p>
          <a:p>
            <a:r>
              <a:rPr lang="en-US" sz="1000" dirty="0">
                <a:highlight>
                  <a:srgbClr val="FFFF00"/>
                </a:highlight>
                <a:latin typeface="Calibir"/>
              </a:rPr>
              <a:t>            price,</a:t>
            </a:r>
          </a:p>
          <a:p>
            <a:r>
              <a:rPr lang="en-US" sz="1000" dirty="0">
                <a:highlight>
                  <a:srgbClr val="FFFF00"/>
                </a:highlight>
                <a:latin typeface="Calibir"/>
              </a:rPr>
              <a:t>            stock</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def </a:t>
            </a:r>
            <a:r>
              <a:rPr lang="en-US" sz="1000" dirty="0" err="1">
                <a:highlight>
                  <a:srgbClr val="FFFF00"/>
                </a:highlight>
                <a:latin typeface="Calibir"/>
              </a:rPr>
              <a:t>is_empty</a:t>
            </a:r>
            <a:r>
              <a:rPr lang="en-US" sz="1000" dirty="0">
                <a:highlight>
                  <a:srgbClr val="FFFF00"/>
                </a:highlight>
                <a:latin typeface="Calibir"/>
              </a:rPr>
              <a:t>(self):</a:t>
            </a:r>
          </a:p>
          <a:p>
            <a:endParaRPr lang="en-US" sz="1000" dirty="0">
              <a:highlight>
                <a:srgbClr val="FFFF00"/>
              </a:highlight>
              <a:latin typeface="Calibir"/>
            </a:endParaRPr>
          </a:p>
          <a:p>
            <a:r>
              <a:rPr lang="en-US" sz="1000" dirty="0">
                <a:highlight>
                  <a:srgbClr val="FFFF00"/>
                </a:highlight>
                <a:latin typeface="Calibir"/>
              </a:rPr>
              <a:t>        return </a:t>
            </a:r>
            <a:r>
              <a:rPr lang="en-US" sz="1000" dirty="0" err="1">
                <a:highlight>
                  <a:srgbClr val="FFFF00"/>
                </a:highlight>
                <a:latin typeface="Calibir"/>
              </a:rPr>
              <a:t>self.stock</a:t>
            </a:r>
            <a:r>
              <a:rPr lang="en-US" sz="1000" dirty="0">
                <a:highlight>
                  <a:srgbClr val="FFFF00"/>
                </a:highlight>
                <a:latin typeface="Calibir"/>
              </a:rPr>
              <a:t> == 0</a:t>
            </a:r>
          </a:p>
          <a:p>
            <a:endParaRPr lang="en-US" sz="1000" dirty="0">
              <a:highlight>
                <a:srgbClr val="FFFF00"/>
              </a:highlight>
              <a:latin typeface="Calibir"/>
            </a:endParaRPr>
          </a:p>
          <a:p>
            <a:r>
              <a:rPr lang="en-US" sz="1000" dirty="0">
                <a:highlight>
                  <a:srgbClr val="FFFF00"/>
                </a:highlight>
                <a:latin typeface="Calibir"/>
              </a:rPr>
              <a:t>    def has(</a:t>
            </a:r>
          </a:p>
          <a:p>
            <a:r>
              <a:rPr lang="en-US" sz="1000" dirty="0">
                <a:highlight>
                  <a:srgbClr val="FFFF00"/>
                </a:highlight>
                <a:latin typeface="Calibir"/>
              </a:rPr>
              <a:t>            self,</a:t>
            </a:r>
          </a:p>
          <a:p>
            <a:r>
              <a:rPr lang="en-US" sz="1000" dirty="0">
                <a:highlight>
                  <a:srgbClr val="FFFF00"/>
                </a:highlight>
                <a:latin typeface="Calibir"/>
              </a:rPr>
              <a:t>            quantity):</a:t>
            </a:r>
          </a:p>
          <a:p>
            <a:endParaRPr lang="en-US" sz="1000" dirty="0">
              <a:highlight>
                <a:srgbClr val="FFFF00"/>
              </a:highlight>
              <a:latin typeface="Calibir"/>
            </a:endParaRPr>
          </a:p>
          <a:p>
            <a:r>
              <a:rPr lang="en-US" sz="1000" dirty="0">
                <a:highlight>
                  <a:srgbClr val="FFFF00"/>
                </a:highlight>
                <a:latin typeface="Calibir"/>
              </a:rPr>
              <a:t>        return </a:t>
            </a:r>
            <a:r>
              <a:rPr lang="en-US" sz="1000" dirty="0" err="1">
                <a:highlight>
                  <a:srgbClr val="FFFF00"/>
                </a:highlight>
                <a:latin typeface="Calibir"/>
              </a:rPr>
              <a:t>self.stock</a:t>
            </a:r>
            <a:r>
              <a:rPr lang="en-US" sz="1000" dirty="0">
                <a:highlight>
                  <a:srgbClr val="FFFF00"/>
                </a:highlight>
                <a:latin typeface="Calibir"/>
              </a:rPr>
              <a:t> &gt;= quantity</a:t>
            </a:r>
          </a:p>
          <a:p>
            <a:endParaRPr lang="en-US" sz="1000" dirty="0">
              <a:highlight>
                <a:srgbClr val="FFFF00"/>
              </a:highlight>
              <a:latin typeface="Calibir"/>
            </a:endParaRPr>
          </a:p>
          <a:p>
            <a:r>
              <a:rPr lang="en-US" sz="1000" dirty="0">
                <a:highlight>
                  <a:srgbClr val="FFFF00"/>
                </a:highlight>
                <a:latin typeface="Calibir"/>
              </a:rPr>
              <a:t>    def cash(</a:t>
            </a:r>
          </a:p>
          <a:p>
            <a:r>
              <a:rPr lang="en-US" sz="1000" dirty="0">
                <a:highlight>
                  <a:srgbClr val="FFFF00"/>
                </a:highlight>
                <a:latin typeface="Calibir"/>
              </a:rPr>
              <a:t>            self,</a:t>
            </a:r>
          </a:p>
          <a:p>
            <a:r>
              <a:rPr lang="en-US" sz="1000" dirty="0">
                <a:highlight>
                  <a:srgbClr val="FFFF00"/>
                </a:highlight>
                <a:latin typeface="Calibir"/>
              </a:rPr>
              <a:t>            quantity):</a:t>
            </a:r>
          </a:p>
          <a:p>
            <a:endParaRPr lang="en-US" sz="1000" dirty="0">
              <a:highlight>
                <a:srgbClr val="FFFF00"/>
              </a:highlight>
              <a:latin typeface="Calibir"/>
            </a:endParaRPr>
          </a:p>
          <a:p>
            <a:r>
              <a:rPr lang="en-US" sz="1000" dirty="0">
                <a:highlight>
                  <a:srgbClr val="FFFF00"/>
                </a:highlight>
                <a:latin typeface="Calibir"/>
              </a:rPr>
              <a:t>        return (</a:t>
            </a:r>
          </a:p>
          <a:p>
            <a:r>
              <a:rPr lang="en-US" sz="1000" dirty="0">
                <a:highlight>
                  <a:srgbClr val="FFFF00"/>
                </a:highlight>
                <a:latin typeface="Calibir"/>
              </a:rPr>
              <a:t>            </a:t>
            </a:r>
            <a:r>
              <a:rPr lang="en-US" sz="1000" dirty="0" err="1">
                <a:highlight>
                  <a:srgbClr val="FFFF00"/>
                </a:highlight>
                <a:latin typeface="Calibir"/>
              </a:rPr>
              <a:t>self.price</a:t>
            </a:r>
            <a:endParaRPr lang="en-US" sz="1000" dirty="0">
              <a:highlight>
                <a:srgbClr val="FFFF00"/>
              </a:highlight>
              <a:latin typeface="Calibir"/>
            </a:endParaRPr>
          </a:p>
          <a:p>
            <a:r>
              <a:rPr lang="en-US" sz="1000" dirty="0">
                <a:highlight>
                  <a:srgbClr val="FFFF00"/>
                </a:highlight>
                <a:latin typeface="Calibir"/>
              </a:rPr>
              <a:t>            * quantity</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def sold(</a:t>
            </a:r>
          </a:p>
          <a:p>
            <a:r>
              <a:rPr lang="en-US" sz="1000" dirty="0">
                <a:highlight>
                  <a:srgbClr val="FFFF00"/>
                </a:highlight>
                <a:latin typeface="Calibir"/>
              </a:rPr>
              <a:t>            self,</a:t>
            </a:r>
          </a:p>
          <a:p>
            <a:r>
              <a:rPr lang="en-US" sz="1000" dirty="0">
                <a:highlight>
                  <a:srgbClr val="FFFF00"/>
                </a:highlight>
                <a:latin typeface="Calibir"/>
              </a:rPr>
              <a:t>            quantity):</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self.stock</a:t>
            </a:r>
            <a:r>
              <a:rPr lang="en-US" sz="1000" dirty="0">
                <a:highlight>
                  <a:srgbClr val="FFFF00"/>
                </a:highlight>
                <a:latin typeface="Calibir"/>
              </a:rPr>
              <a:t> -= quantity</a:t>
            </a:r>
          </a:p>
          <a:p>
            <a:endParaRPr lang="en-US" sz="1000" dirty="0">
              <a:highlight>
                <a:srgbClr val="FFFF00"/>
              </a:highlight>
              <a:latin typeface="Calibir"/>
            </a:endParaRPr>
          </a:p>
          <a:p>
            <a:r>
              <a:rPr lang="en-US" sz="1000" dirty="0">
                <a:highlight>
                  <a:srgbClr val="FFFF00"/>
                </a:highlight>
                <a:latin typeface="Calibir"/>
              </a:rPr>
              <a:t>        return </a:t>
            </a:r>
            <a:r>
              <a:rPr lang="en-US" sz="1000" dirty="0" err="1">
                <a:highlight>
                  <a:srgbClr val="FFFF00"/>
                </a:highlight>
                <a:latin typeface="Calibir"/>
              </a:rPr>
              <a:t>self.cash</a:t>
            </a:r>
            <a:r>
              <a:rPr lang="en-US" sz="1000" dirty="0">
                <a:highlight>
                  <a:srgbClr val="FFFF00"/>
                </a:highlight>
                <a:latin typeface="Calibir"/>
              </a:rPr>
              <a:t>(</a:t>
            </a:r>
          </a:p>
          <a:p>
            <a:r>
              <a:rPr lang="en-US" sz="1000" dirty="0">
                <a:highlight>
                  <a:srgbClr val="FFFF00"/>
                </a:highlight>
                <a:latin typeface="Calibir"/>
              </a:rPr>
              <a:t>            quantity</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def stocked(</a:t>
            </a:r>
          </a:p>
          <a:p>
            <a:r>
              <a:rPr lang="en-US" sz="1000" dirty="0">
                <a:highlight>
                  <a:srgbClr val="FFFF00"/>
                </a:highlight>
                <a:latin typeface="Calibir"/>
              </a:rPr>
              <a:t>            self,</a:t>
            </a:r>
          </a:p>
          <a:p>
            <a:r>
              <a:rPr lang="en-US" sz="1000" dirty="0">
                <a:highlight>
                  <a:srgbClr val="FFFF00"/>
                </a:highlight>
                <a:latin typeface="Calibir"/>
              </a:rPr>
              <a:t>            quantity):</a:t>
            </a:r>
          </a:p>
          <a:p>
            <a:endParaRPr lang="en-US" sz="1000" dirty="0">
              <a:highlight>
                <a:srgbClr val="FFFF00"/>
              </a:highlight>
              <a:latin typeface="Calibir"/>
            </a:endParaRPr>
          </a:p>
          <a:p>
            <a:r>
              <a:rPr lang="en-US" sz="1000" dirty="0">
                <a:highlight>
                  <a:srgbClr val="FFFF00"/>
                </a:highlight>
                <a:latin typeface="Calibir"/>
              </a:rPr>
              <a:t>        cost = </a:t>
            </a:r>
            <a:r>
              <a:rPr lang="en-US" sz="1000" dirty="0" err="1">
                <a:highlight>
                  <a:srgbClr val="FFFF00"/>
                </a:highlight>
                <a:latin typeface="Calibir"/>
              </a:rPr>
              <a:t>self.cash</a:t>
            </a:r>
            <a:r>
              <a:rPr lang="en-US" sz="1000" dirty="0">
                <a:highlight>
                  <a:srgbClr val="FFFF00"/>
                </a:highlight>
                <a:latin typeface="Calibir"/>
              </a:rPr>
              <a:t>(</a:t>
            </a:r>
          </a:p>
          <a:p>
            <a:r>
              <a:rPr lang="en-US" sz="1000" dirty="0">
                <a:highlight>
                  <a:srgbClr val="FFFF00"/>
                </a:highlight>
                <a:latin typeface="Calibir"/>
              </a:rPr>
              <a:t>            quantity</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self.stock</a:t>
            </a:r>
            <a:r>
              <a:rPr lang="en-US" sz="1000" dirty="0">
                <a:highlight>
                  <a:srgbClr val="FFFF00"/>
                </a:highlight>
                <a:latin typeface="Calibir"/>
              </a:rPr>
              <a:t> += quantity</a:t>
            </a:r>
          </a:p>
          <a:p>
            <a:endParaRPr lang="en-US" sz="1000" dirty="0">
              <a:highlight>
                <a:srgbClr val="FFFF00"/>
              </a:highlight>
              <a:latin typeface="Calibir"/>
            </a:endParaRPr>
          </a:p>
          <a:p>
            <a:r>
              <a:rPr lang="en-US" sz="1000" dirty="0">
                <a:highlight>
                  <a:srgbClr val="FFFF00"/>
                </a:highlight>
                <a:latin typeface="Calibir"/>
              </a:rPr>
              <a:t>        return cost</a:t>
            </a:r>
          </a:p>
          <a:p>
            <a:endParaRPr lang="en-US" sz="1000" dirty="0">
              <a:highlight>
                <a:srgbClr val="FFFF00"/>
              </a:highlight>
              <a:latin typeface="Calibir"/>
            </a:endParaRPr>
          </a:p>
          <a:p>
            <a:r>
              <a:rPr lang="en-US" sz="1000" dirty="0">
                <a:highlight>
                  <a:srgbClr val="FFFF00"/>
                </a:highlight>
                <a:latin typeface="Calibir"/>
              </a:rPr>
              <a:t>    def __str__(self):</a:t>
            </a:r>
          </a:p>
          <a:p>
            <a:endParaRPr lang="en-US" sz="1000" dirty="0">
              <a:highlight>
                <a:srgbClr val="FFFF00"/>
              </a:highlight>
              <a:latin typeface="Calibir"/>
            </a:endParaRPr>
          </a:p>
          <a:p>
            <a:r>
              <a:rPr lang="en-US" sz="1000" dirty="0">
                <a:highlight>
                  <a:srgbClr val="FFFF00"/>
                </a:highlight>
                <a:latin typeface="Calibir"/>
              </a:rPr>
              <a:t>        if </a:t>
            </a:r>
            <a:r>
              <a:rPr lang="en-US" sz="1000" dirty="0" err="1">
                <a:highlight>
                  <a:srgbClr val="FFFF00"/>
                </a:highlight>
                <a:latin typeface="Calibir"/>
              </a:rPr>
              <a:t>self.is_empty</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return (</a:t>
            </a:r>
          </a:p>
          <a:p>
            <a:r>
              <a:rPr lang="en-US" sz="1000" dirty="0">
                <a:highlight>
                  <a:srgbClr val="FFFF00"/>
                </a:highlight>
                <a:latin typeface="Calibir"/>
              </a:rPr>
              <a:t>                f"{</a:t>
            </a:r>
            <a:r>
              <a:rPr lang="en-US" sz="1000" dirty="0" err="1">
                <a:highlight>
                  <a:srgbClr val="FFFF00"/>
                </a:highlight>
                <a:latin typeface="Calibir"/>
              </a:rPr>
              <a:t>self.type</a:t>
            </a:r>
            <a:r>
              <a:rPr lang="en-US" sz="1000" dirty="0">
                <a:highlight>
                  <a:srgbClr val="FFFF00"/>
                </a:highlight>
                <a:latin typeface="Calibir"/>
              </a:rPr>
              <a:t>} "</a:t>
            </a:r>
          </a:p>
          <a:p>
            <a:r>
              <a:rPr lang="en-US" sz="1000" dirty="0">
                <a:highlight>
                  <a:srgbClr val="FFFF00"/>
                </a:highlight>
                <a:latin typeface="Calibir"/>
              </a:rPr>
              <a:t>                </a:t>
            </a:r>
            <a:r>
              <a:rPr lang="en-US" sz="1000" dirty="0" err="1">
                <a:highlight>
                  <a:srgbClr val="FFFF00"/>
                </a:highlight>
                <a:latin typeface="Calibir"/>
              </a:rPr>
              <a:t>f"stock</a:t>
            </a:r>
            <a:r>
              <a:rPr lang="en-US" sz="1000" dirty="0">
                <a:highlight>
                  <a:srgbClr val="FFFF00"/>
                </a:highlight>
                <a:latin typeface="Calibir"/>
              </a:rPr>
              <a:t> level is: "</a:t>
            </a:r>
          </a:p>
          <a:p>
            <a:r>
              <a:rPr lang="en-US" sz="1000" dirty="0">
                <a:highlight>
                  <a:srgbClr val="FFFF00"/>
                </a:highlight>
                <a:latin typeface="Calibir"/>
              </a:rPr>
              <a:t>                f"{</a:t>
            </a:r>
            <a:r>
              <a:rPr lang="en-US" sz="1000" dirty="0" err="1">
                <a:highlight>
                  <a:srgbClr val="FFFF00"/>
                </a:highlight>
                <a:latin typeface="Calibir"/>
              </a:rPr>
              <a:t>self.stock</a:t>
            </a:r>
            <a:r>
              <a:rPr lang="en-US" sz="1000" dirty="0">
                <a:highlight>
                  <a:srgbClr val="FFFF00"/>
                </a:highlight>
                <a:latin typeface="Calibir"/>
              </a:rPr>
              <a:t>}"</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return (</a:t>
            </a:r>
          </a:p>
          <a:p>
            <a:r>
              <a:rPr lang="en-US" sz="1000" dirty="0">
                <a:highlight>
                  <a:srgbClr val="FFFF00"/>
                </a:highlight>
                <a:latin typeface="Calibir"/>
              </a:rPr>
              <a:t>            f"{</a:t>
            </a:r>
            <a:r>
              <a:rPr lang="en-US" sz="1000" dirty="0" err="1">
                <a:highlight>
                  <a:srgbClr val="FFFF00"/>
                </a:highlight>
                <a:latin typeface="Calibir"/>
              </a:rPr>
              <a:t>self.type</a:t>
            </a:r>
            <a:r>
              <a:rPr lang="en-US" sz="1000" dirty="0">
                <a:highlight>
                  <a:srgbClr val="FFFF00"/>
                </a:highlight>
                <a:latin typeface="Calibir"/>
              </a:rPr>
              <a:t>} level: "</a:t>
            </a:r>
          </a:p>
          <a:p>
            <a:r>
              <a:rPr lang="en-US" sz="1000" dirty="0">
                <a:highlight>
                  <a:srgbClr val="FFFF00"/>
                </a:highlight>
                <a:latin typeface="Calibir"/>
              </a:rPr>
              <a:t>            f"{</a:t>
            </a:r>
            <a:r>
              <a:rPr lang="en-US" sz="1000" dirty="0" err="1">
                <a:highlight>
                  <a:srgbClr val="FFFF00"/>
                </a:highlight>
                <a:latin typeface="Calibir"/>
              </a:rPr>
              <a:t>self.stock</a:t>
            </a:r>
            <a:r>
              <a:rPr lang="en-US" sz="1000" dirty="0">
                <a:highlight>
                  <a:srgbClr val="FFFF00"/>
                </a:highlight>
                <a:latin typeface="Calibir"/>
              </a:rPr>
              <a:t>} "</a:t>
            </a:r>
          </a:p>
          <a:p>
            <a:r>
              <a:rPr lang="en-US" sz="1000" dirty="0">
                <a:highlight>
                  <a:srgbClr val="FFFF00"/>
                </a:highlight>
                <a:latin typeface="Calibir"/>
              </a:rPr>
              <a:t>            </a:t>
            </a:r>
            <a:r>
              <a:rPr lang="en-US" sz="1000" dirty="0" err="1">
                <a:highlight>
                  <a:srgbClr val="FFFF00"/>
                </a:highlight>
                <a:latin typeface="Calibir"/>
              </a:rPr>
              <a:t>f"at</a:t>
            </a:r>
            <a:r>
              <a:rPr lang="en-US" sz="1000" dirty="0">
                <a:highlight>
                  <a:srgbClr val="FFFF00"/>
                </a:highlight>
                <a:latin typeface="Calibir"/>
              </a:rPr>
              <a:t> price "</a:t>
            </a:r>
          </a:p>
          <a:p>
            <a:r>
              <a:rPr lang="en-US" sz="1000" dirty="0">
                <a:highlight>
                  <a:srgbClr val="FFFF00"/>
                </a:highlight>
                <a:latin typeface="Calibir"/>
              </a:rPr>
              <a:t>            f"${self.price:.2f}"</a:t>
            </a:r>
          </a:p>
          <a:p>
            <a:r>
              <a:rPr lang="en-US" sz="1000" dirty="0">
                <a:highlight>
                  <a:srgbClr val="FFFF00"/>
                </a:highlight>
                <a:latin typeface="Calibir"/>
              </a:rPr>
              <a:t>        )</a:t>
            </a:r>
          </a:p>
          <a:p>
            <a:endParaRPr lang="en-US" sz="1000" dirty="0">
              <a:highlight>
                <a:srgbClr val="FFFF00"/>
              </a:highlight>
              <a:latin typeface="Calibir"/>
            </a:endParaRPr>
          </a:p>
          <a:p>
            <a:endParaRPr lang="en-US" sz="1000" dirty="0">
              <a:highlight>
                <a:srgbClr val="FFFF00"/>
              </a:highlight>
              <a:latin typeface="Calibir"/>
            </a:endParaRPr>
          </a:p>
          <a:p>
            <a:r>
              <a:rPr lang="en-US" sz="1000" dirty="0">
                <a:highlight>
                  <a:srgbClr val="FFFF00"/>
                </a:highlight>
                <a:latin typeface="Calibir"/>
              </a:rPr>
              <a:t>class </a:t>
            </a:r>
            <a:r>
              <a:rPr lang="en-US" sz="1000" dirty="0" err="1">
                <a:highlight>
                  <a:srgbClr val="FFFF00"/>
                </a:highlight>
                <a:latin typeface="Calibir"/>
              </a:rPr>
              <a:t>CashRegister</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def __</a:t>
            </a:r>
            <a:r>
              <a:rPr lang="en-US" sz="1000" dirty="0" err="1">
                <a:highlight>
                  <a:srgbClr val="FFFF00"/>
                </a:highlight>
                <a:latin typeface="Calibir"/>
              </a:rPr>
              <a:t>init</a:t>
            </a:r>
            <a:r>
              <a:rPr lang="en-US" sz="1000" dirty="0">
                <a:highlight>
                  <a:srgbClr val="FFFF00"/>
                </a:highlight>
                <a:latin typeface="Calibir"/>
              </a:rPr>
              <a:t>__(self):</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self.cash</a:t>
            </a:r>
            <a:r>
              <a:rPr lang="en-US" sz="1000" dirty="0">
                <a:highlight>
                  <a:srgbClr val="FFFF00"/>
                </a:highlight>
                <a:latin typeface="Calibir"/>
              </a:rPr>
              <a:t> = 0.0</a:t>
            </a:r>
          </a:p>
          <a:p>
            <a:endParaRPr lang="en-US" sz="1000" dirty="0">
              <a:highlight>
                <a:srgbClr val="FFFF00"/>
              </a:highlight>
              <a:latin typeface="Calibir"/>
            </a:endParaRPr>
          </a:p>
          <a:p>
            <a:r>
              <a:rPr lang="en-US" sz="1000" dirty="0">
                <a:highlight>
                  <a:srgbClr val="FFFF00"/>
                </a:highlight>
                <a:latin typeface="Calibir"/>
              </a:rPr>
              <a:t>    def gain(</a:t>
            </a:r>
          </a:p>
          <a:p>
            <a:r>
              <a:rPr lang="en-US" sz="1000" dirty="0">
                <a:highlight>
                  <a:srgbClr val="FFFF00"/>
                </a:highlight>
                <a:latin typeface="Calibir"/>
              </a:rPr>
              <a:t>            self,</a:t>
            </a:r>
          </a:p>
          <a:p>
            <a:r>
              <a:rPr lang="en-US" sz="1000" dirty="0">
                <a:highlight>
                  <a:srgbClr val="FFFF00"/>
                </a:highlight>
                <a:latin typeface="Calibir"/>
              </a:rPr>
              <a:t>            amount):</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self.cash</a:t>
            </a:r>
            <a:r>
              <a:rPr lang="en-US" sz="1000" dirty="0">
                <a:highlight>
                  <a:srgbClr val="FFFF00"/>
                </a:highlight>
                <a:latin typeface="Calibir"/>
              </a:rPr>
              <a:t> += amount</a:t>
            </a:r>
          </a:p>
          <a:p>
            <a:endParaRPr lang="en-US" sz="1000" dirty="0">
              <a:highlight>
                <a:srgbClr val="FFFF00"/>
              </a:highlight>
              <a:latin typeface="Calibir"/>
            </a:endParaRPr>
          </a:p>
          <a:p>
            <a:r>
              <a:rPr lang="en-US" sz="1000" dirty="0">
                <a:highlight>
                  <a:srgbClr val="FFFF00"/>
                </a:highlight>
                <a:latin typeface="Calibir"/>
              </a:rPr>
              <a:t>    def pay(</a:t>
            </a:r>
          </a:p>
          <a:p>
            <a:r>
              <a:rPr lang="en-US" sz="1000" dirty="0">
                <a:highlight>
                  <a:srgbClr val="FFFF00"/>
                </a:highlight>
                <a:latin typeface="Calibir"/>
              </a:rPr>
              <a:t>            self,</a:t>
            </a:r>
          </a:p>
          <a:p>
            <a:r>
              <a:rPr lang="en-US" sz="1000" dirty="0">
                <a:highlight>
                  <a:srgbClr val="FFFF00"/>
                </a:highlight>
                <a:latin typeface="Calibir"/>
              </a:rPr>
              <a:t>            amount):</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self.cash</a:t>
            </a:r>
            <a:r>
              <a:rPr lang="en-US" sz="1000" dirty="0">
                <a:highlight>
                  <a:srgbClr val="FFFF00"/>
                </a:highlight>
                <a:latin typeface="Calibir"/>
              </a:rPr>
              <a:t> -= amount</a:t>
            </a:r>
          </a:p>
          <a:p>
            <a:endParaRPr lang="en-US" sz="1000" dirty="0">
              <a:highlight>
                <a:srgbClr val="FFFF00"/>
              </a:highlight>
              <a:latin typeface="Calibir"/>
            </a:endParaRPr>
          </a:p>
          <a:p>
            <a:r>
              <a:rPr lang="en-US" sz="1000" dirty="0">
                <a:highlight>
                  <a:srgbClr val="FFFF00"/>
                </a:highlight>
                <a:latin typeface="Calibir"/>
              </a:rPr>
              <a:t>    def </a:t>
            </a:r>
            <a:r>
              <a:rPr lang="en-US" sz="1000" dirty="0" err="1">
                <a:highlight>
                  <a:srgbClr val="FFFF00"/>
                </a:highlight>
                <a:latin typeface="Calibir"/>
              </a:rPr>
              <a:t>is_empty</a:t>
            </a:r>
            <a:r>
              <a:rPr lang="en-US" sz="1000" dirty="0">
                <a:highlight>
                  <a:srgbClr val="FFFF00"/>
                </a:highlight>
                <a:latin typeface="Calibir"/>
              </a:rPr>
              <a:t>(self):</a:t>
            </a:r>
          </a:p>
          <a:p>
            <a:endParaRPr lang="en-US" sz="1000" dirty="0">
              <a:highlight>
                <a:srgbClr val="FFFF00"/>
              </a:highlight>
              <a:latin typeface="Calibir"/>
            </a:endParaRPr>
          </a:p>
          <a:p>
            <a:r>
              <a:rPr lang="en-US" sz="1000" dirty="0">
                <a:highlight>
                  <a:srgbClr val="FFFF00"/>
                </a:highlight>
                <a:latin typeface="Calibir"/>
              </a:rPr>
              <a:t>        return </a:t>
            </a:r>
            <a:r>
              <a:rPr lang="en-US" sz="1000" dirty="0" err="1">
                <a:highlight>
                  <a:srgbClr val="FFFF00"/>
                </a:highlight>
                <a:latin typeface="Calibir"/>
              </a:rPr>
              <a:t>self.cash</a:t>
            </a:r>
            <a:r>
              <a:rPr lang="en-US" sz="1000" dirty="0">
                <a:highlight>
                  <a:srgbClr val="FFFF00"/>
                </a:highlight>
                <a:latin typeface="Calibir"/>
              </a:rPr>
              <a:t> == 0</a:t>
            </a:r>
          </a:p>
          <a:p>
            <a:endParaRPr lang="en-US" sz="1000" dirty="0">
              <a:highlight>
                <a:srgbClr val="FFFF00"/>
              </a:highlight>
              <a:latin typeface="Calibir"/>
            </a:endParaRPr>
          </a:p>
          <a:p>
            <a:r>
              <a:rPr lang="en-US" sz="1000" dirty="0">
                <a:highlight>
                  <a:srgbClr val="FFFF00"/>
                </a:highlight>
                <a:latin typeface="Calibir"/>
              </a:rPr>
              <a:t>    def has(</a:t>
            </a:r>
          </a:p>
          <a:p>
            <a:r>
              <a:rPr lang="en-US" sz="1000" dirty="0">
                <a:highlight>
                  <a:srgbClr val="FFFF00"/>
                </a:highlight>
                <a:latin typeface="Calibir"/>
              </a:rPr>
              <a:t>            self,</a:t>
            </a:r>
          </a:p>
          <a:p>
            <a:r>
              <a:rPr lang="en-US" sz="1000" dirty="0">
                <a:highlight>
                  <a:srgbClr val="FFFF00"/>
                </a:highlight>
                <a:latin typeface="Calibir"/>
              </a:rPr>
              <a:t>            amount):</a:t>
            </a:r>
          </a:p>
          <a:p>
            <a:endParaRPr lang="en-US" sz="1000" dirty="0">
              <a:highlight>
                <a:srgbClr val="FFFF00"/>
              </a:highlight>
              <a:latin typeface="Calibir"/>
            </a:endParaRPr>
          </a:p>
          <a:p>
            <a:r>
              <a:rPr lang="en-US" sz="1000" dirty="0">
                <a:highlight>
                  <a:srgbClr val="FFFF00"/>
                </a:highlight>
                <a:latin typeface="Calibir"/>
              </a:rPr>
              <a:t>        return </a:t>
            </a:r>
            <a:r>
              <a:rPr lang="en-US" sz="1000" dirty="0" err="1">
                <a:highlight>
                  <a:srgbClr val="FFFF00"/>
                </a:highlight>
                <a:latin typeface="Calibir"/>
              </a:rPr>
              <a:t>self.cash</a:t>
            </a:r>
            <a:r>
              <a:rPr lang="en-US" sz="1000" dirty="0">
                <a:highlight>
                  <a:srgbClr val="FFFF00"/>
                </a:highlight>
                <a:latin typeface="Calibir"/>
              </a:rPr>
              <a:t> &gt;= amount</a:t>
            </a:r>
          </a:p>
          <a:p>
            <a:endParaRPr lang="en-US" sz="1000" dirty="0">
              <a:highlight>
                <a:srgbClr val="FFFF00"/>
              </a:highlight>
              <a:latin typeface="Calibir"/>
            </a:endParaRPr>
          </a:p>
          <a:p>
            <a:r>
              <a:rPr lang="en-US" sz="1000" dirty="0">
                <a:highlight>
                  <a:srgbClr val="FFFF00"/>
                </a:highlight>
                <a:latin typeface="Calibir"/>
              </a:rPr>
              <a:t>    def __str__(self):</a:t>
            </a:r>
          </a:p>
          <a:p>
            <a:endParaRPr lang="en-US" sz="1000" dirty="0">
              <a:highlight>
                <a:srgbClr val="FFFF00"/>
              </a:highlight>
              <a:latin typeface="Calibir"/>
            </a:endParaRPr>
          </a:p>
          <a:p>
            <a:r>
              <a:rPr lang="en-US" sz="1000" dirty="0">
                <a:highlight>
                  <a:srgbClr val="FFFF00"/>
                </a:highlight>
                <a:latin typeface="Calibir"/>
              </a:rPr>
              <a:t>        if </a:t>
            </a:r>
            <a:r>
              <a:rPr lang="en-US" sz="1000" dirty="0" err="1">
                <a:highlight>
                  <a:srgbClr val="FFFF00"/>
                </a:highlight>
                <a:latin typeface="Calibir"/>
              </a:rPr>
              <a:t>self.is_empty</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return (</a:t>
            </a:r>
          </a:p>
          <a:p>
            <a:r>
              <a:rPr lang="en-US" sz="1000" dirty="0">
                <a:highlight>
                  <a:srgbClr val="FFFF00"/>
                </a:highlight>
                <a:latin typeface="Calibir"/>
              </a:rPr>
              <a:t>                "Cash register is empty"</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return (</a:t>
            </a:r>
          </a:p>
          <a:p>
            <a:r>
              <a:rPr lang="en-US" sz="1000" dirty="0">
                <a:highlight>
                  <a:srgbClr val="FFFF00"/>
                </a:highlight>
                <a:latin typeface="Calibir"/>
              </a:rPr>
              <a:t>            </a:t>
            </a:r>
            <a:r>
              <a:rPr lang="en-US" sz="1000" dirty="0" err="1">
                <a:highlight>
                  <a:srgbClr val="FFFF00"/>
                </a:highlight>
                <a:latin typeface="Calibir"/>
              </a:rPr>
              <a:t>f"Cash</a:t>
            </a:r>
            <a:r>
              <a:rPr lang="en-US" sz="1000" dirty="0">
                <a:highlight>
                  <a:srgbClr val="FFFF00"/>
                </a:highlight>
                <a:latin typeface="Calibir"/>
              </a:rPr>
              <a:t> level: "</a:t>
            </a:r>
          </a:p>
          <a:p>
            <a:r>
              <a:rPr lang="en-US" sz="1000" dirty="0">
                <a:highlight>
                  <a:srgbClr val="FFFF00"/>
                </a:highlight>
                <a:latin typeface="Calibir"/>
              </a:rPr>
              <a:t>            f"${self.cash:.2f}"</a:t>
            </a:r>
          </a:p>
          <a:p>
            <a:r>
              <a:rPr lang="en-US" sz="1000" dirty="0">
                <a:highlight>
                  <a:srgbClr val="FFFF00"/>
                </a:highlight>
                <a:latin typeface="Calibir"/>
              </a:rPr>
              <a:t>        )</a:t>
            </a:r>
          </a:p>
          <a:p>
            <a:endParaRPr lang="en-US" sz="1000" dirty="0">
              <a:highlight>
                <a:srgbClr val="FFFF00"/>
              </a:highlight>
              <a:latin typeface="Calibir"/>
            </a:endParaRPr>
          </a:p>
          <a:p>
            <a:endParaRPr lang="en-US" sz="1000" dirty="0">
              <a:highlight>
                <a:srgbClr val="FFFF00"/>
              </a:highlight>
              <a:latin typeface="Calibir"/>
            </a:endParaRPr>
          </a:p>
          <a:p>
            <a:r>
              <a:rPr lang="en-US" sz="1000" dirty="0">
                <a:highlight>
                  <a:srgbClr val="FFFF00"/>
                </a:highlight>
                <a:latin typeface="Calibir"/>
              </a:rPr>
              <a:t>class Shop:</a:t>
            </a:r>
          </a:p>
          <a:p>
            <a:endParaRPr lang="en-US" sz="1000" dirty="0">
              <a:highlight>
                <a:srgbClr val="FFFF00"/>
              </a:highlight>
              <a:latin typeface="Calibir"/>
            </a:endParaRPr>
          </a:p>
          <a:p>
            <a:r>
              <a:rPr lang="en-US" sz="1000" dirty="0">
                <a:highlight>
                  <a:srgbClr val="FFFF00"/>
                </a:highlight>
                <a:latin typeface="Calibir"/>
              </a:rPr>
              <a:t>    def __</a:t>
            </a:r>
            <a:r>
              <a:rPr lang="en-US" sz="1000" dirty="0" err="1">
                <a:highlight>
                  <a:srgbClr val="FFFF00"/>
                </a:highlight>
                <a:latin typeface="Calibir"/>
              </a:rPr>
              <a:t>init</a:t>
            </a:r>
            <a:r>
              <a:rPr lang="en-US" sz="1000" dirty="0">
                <a:highlight>
                  <a:srgbClr val="FFFF00"/>
                </a:highlight>
                <a:latin typeface="Calibir"/>
              </a:rPr>
              <a:t>__(</a:t>
            </a:r>
          </a:p>
          <a:p>
            <a:r>
              <a:rPr lang="en-US" sz="1000" dirty="0">
                <a:highlight>
                  <a:srgbClr val="FFFF00"/>
                </a:highlight>
                <a:latin typeface="Calibir"/>
              </a:rPr>
              <a:t>            self,</a:t>
            </a:r>
          </a:p>
          <a:p>
            <a:r>
              <a:rPr lang="en-US" sz="1000" dirty="0">
                <a:highlight>
                  <a:srgbClr val="FFFF00"/>
                </a:highlight>
                <a:latin typeface="Calibir"/>
              </a:rPr>
              <a:t>            </a:t>
            </a:r>
            <a:r>
              <a:rPr lang="en-US" sz="1000" dirty="0" err="1">
                <a:highlight>
                  <a:srgbClr val="FFFF00"/>
                </a:highlight>
                <a:latin typeface="Calibir"/>
              </a:rPr>
              <a:t>product_type</a:t>
            </a:r>
            <a:r>
              <a:rPr lang="en-US" sz="1000" dirty="0">
                <a:highlight>
                  <a:srgbClr val="FFFF00"/>
                </a:highlight>
                <a:latin typeface="Calibir"/>
              </a:rPr>
              <a:t>,</a:t>
            </a:r>
          </a:p>
          <a:p>
            <a:r>
              <a:rPr lang="en-US" sz="1000" dirty="0">
                <a:highlight>
                  <a:srgbClr val="FFFF00"/>
                </a:highlight>
                <a:latin typeface="Calibir"/>
              </a:rPr>
              <a:t>            price,</a:t>
            </a:r>
          </a:p>
          <a:p>
            <a:r>
              <a:rPr lang="en-US" sz="1000" dirty="0">
                <a:highlight>
                  <a:srgbClr val="FFFF00"/>
                </a:highlight>
                <a:latin typeface="Calibir"/>
              </a:rPr>
              <a:t>            stock):</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self.product</a:t>
            </a:r>
            <a:r>
              <a:rPr lang="en-US" sz="1000" dirty="0">
                <a:highlight>
                  <a:srgbClr val="FFFF00"/>
                </a:highlight>
                <a:latin typeface="Calibir"/>
              </a:rPr>
              <a:t> = Product(</a:t>
            </a:r>
          </a:p>
          <a:p>
            <a:r>
              <a:rPr lang="en-US" sz="1000" dirty="0">
                <a:highlight>
                  <a:srgbClr val="FFFF00"/>
                </a:highlight>
                <a:latin typeface="Calibir"/>
              </a:rPr>
              <a:t>            </a:t>
            </a:r>
            <a:r>
              <a:rPr lang="en-US" sz="1000" dirty="0" err="1">
                <a:highlight>
                  <a:srgbClr val="FFFF00"/>
                </a:highlight>
                <a:latin typeface="Calibir"/>
              </a:rPr>
              <a:t>product_type</a:t>
            </a:r>
            <a:r>
              <a:rPr lang="en-US" sz="1000" dirty="0">
                <a:highlight>
                  <a:srgbClr val="FFFF00"/>
                </a:highlight>
                <a:latin typeface="Calibir"/>
              </a:rPr>
              <a:t>,</a:t>
            </a:r>
          </a:p>
          <a:p>
            <a:r>
              <a:rPr lang="en-US" sz="1000" dirty="0">
                <a:highlight>
                  <a:srgbClr val="FFFF00"/>
                </a:highlight>
                <a:latin typeface="Calibir"/>
              </a:rPr>
              <a:t>            price,</a:t>
            </a:r>
          </a:p>
          <a:p>
            <a:r>
              <a:rPr lang="en-US" sz="1000" dirty="0">
                <a:highlight>
                  <a:srgbClr val="FFFF00"/>
                </a:highlight>
                <a:latin typeface="Calibir"/>
              </a:rPr>
              <a:t>            stock</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self.cash_register</a:t>
            </a:r>
            <a:r>
              <a:rPr lang="en-US" sz="1000" dirty="0">
                <a:highlight>
                  <a:srgbClr val="FFFF00"/>
                </a:highlight>
                <a:latin typeface="Calibir"/>
              </a:rPr>
              <a:t> = (</a:t>
            </a:r>
          </a:p>
          <a:p>
            <a:r>
              <a:rPr lang="en-US" sz="1000" dirty="0">
                <a:highlight>
                  <a:srgbClr val="FFFF00"/>
                </a:highlight>
                <a:latin typeface="Calibir"/>
              </a:rPr>
              <a:t>            </a:t>
            </a:r>
            <a:r>
              <a:rPr lang="en-US" sz="1000" dirty="0" err="1">
                <a:highlight>
                  <a:srgbClr val="FFFF00"/>
                </a:highlight>
                <a:latin typeface="Calibir"/>
              </a:rPr>
              <a:t>CashRegister</a:t>
            </a:r>
            <a:r>
              <a:rPr lang="en-US" sz="1000" dirty="0">
                <a:highlight>
                  <a:srgbClr val="FFFF00"/>
                </a:highlight>
                <a:latin typeface="Calibir"/>
              </a:rPr>
              <a:t>()</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def </a:t>
            </a:r>
            <a:r>
              <a:rPr lang="en-US" sz="1000" dirty="0" err="1">
                <a:highlight>
                  <a:srgbClr val="FFFF00"/>
                </a:highlight>
                <a:latin typeface="Calibir"/>
              </a:rPr>
              <a:t>read_quantity</a:t>
            </a:r>
            <a:r>
              <a:rPr lang="en-US" sz="1000" dirty="0">
                <a:highlight>
                  <a:srgbClr val="FFFF00"/>
                </a:highlight>
                <a:latin typeface="Calibir"/>
              </a:rPr>
              <a:t>(</a:t>
            </a:r>
          </a:p>
          <a:p>
            <a:r>
              <a:rPr lang="en-US" sz="1000" dirty="0">
                <a:highlight>
                  <a:srgbClr val="FFFF00"/>
                </a:highlight>
                <a:latin typeface="Calibir"/>
              </a:rPr>
              <a:t>            self,</a:t>
            </a:r>
          </a:p>
          <a:p>
            <a:r>
              <a:rPr lang="en-US" sz="1000" dirty="0">
                <a:highlight>
                  <a:srgbClr val="FFFF00"/>
                </a:highlight>
                <a:latin typeface="Calibir"/>
              </a:rPr>
              <a:t>            message):</a:t>
            </a:r>
          </a:p>
          <a:p>
            <a:endParaRPr lang="en-US" sz="1000" dirty="0">
              <a:highlight>
                <a:srgbClr val="FFFF00"/>
              </a:highlight>
              <a:latin typeface="Calibir"/>
            </a:endParaRPr>
          </a:p>
          <a:p>
            <a:r>
              <a:rPr lang="en-US" sz="1000" dirty="0">
                <a:highlight>
                  <a:srgbClr val="FFFF00"/>
                </a:highlight>
                <a:latin typeface="Calibir"/>
              </a:rPr>
              <a:t>        return int(</a:t>
            </a:r>
          </a:p>
          <a:p>
            <a:r>
              <a:rPr lang="en-US" sz="1000" dirty="0">
                <a:highlight>
                  <a:srgbClr val="FFFF00"/>
                </a:highlight>
                <a:latin typeface="Calibir"/>
              </a:rPr>
              <a:t>            input(message)</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def sell(self):</a:t>
            </a:r>
          </a:p>
          <a:p>
            <a:endParaRPr lang="en-US" sz="1000" dirty="0">
              <a:highlight>
                <a:srgbClr val="FFFF00"/>
              </a:highlight>
              <a:latin typeface="Calibir"/>
            </a:endParaRPr>
          </a:p>
          <a:p>
            <a:r>
              <a:rPr lang="en-US" sz="1000" dirty="0">
                <a:highlight>
                  <a:srgbClr val="FFFF00"/>
                </a:highlight>
                <a:latin typeface="Calibir"/>
              </a:rPr>
              <a:t>        quantity = </a:t>
            </a:r>
            <a:r>
              <a:rPr lang="en-US" sz="1000" dirty="0" err="1">
                <a:highlight>
                  <a:srgbClr val="FFFF00"/>
                </a:highlight>
                <a:latin typeface="Calibir"/>
              </a:rPr>
              <a:t>self.read_quantity</a:t>
            </a:r>
            <a:r>
              <a:rPr lang="en-US" sz="1000" dirty="0">
                <a:highlight>
                  <a:srgbClr val="FFFF00"/>
                </a:highlight>
                <a:latin typeface="Calibir"/>
              </a:rPr>
              <a:t>(</a:t>
            </a:r>
          </a:p>
          <a:p>
            <a:r>
              <a:rPr lang="en-US" sz="1000" dirty="0">
                <a:highlight>
                  <a:srgbClr val="FFFF00"/>
                </a:highlight>
                <a:latin typeface="Calibir"/>
              </a:rPr>
              <a:t>            "Quantity to sell: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if not </a:t>
            </a:r>
            <a:r>
              <a:rPr lang="en-US" sz="1000" dirty="0" err="1">
                <a:highlight>
                  <a:srgbClr val="FFFF00"/>
                </a:highlight>
                <a:latin typeface="Calibir"/>
              </a:rPr>
              <a:t>self.product.has</a:t>
            </a:r>
            <a:r>
              <a:rPr lang="en-US" sz="1000" dirty="0">
                <a:highlight>
                  <a:srgbClr val="FFFF00"/>
                </a:highlight>
                <a:latin typeface="Calibir"/>
              </a:rPr>
              <a:t>(</a:t>
            </a:r>
          </a:p>
          <a:p>
            <a:r>
              <a:rPr lang="en-US" sz="1000" dirty="0">
                <a:highlight>
                  <a:srgbClr val="FFFF00"/>
                </a:highlight>
                <a:latin typeface="Calibir"/>
              </a:rPr>
              <a:t>                quantity):</a:t>
            </a:r>
          </a:p>
          <a:p>
            <a:endParaRPr lang="en-US" sz="1000" dirty="0">
              <a:highlight>
                <a:srgbClr val="FFFF00"/>
              </a:highlight>
              <a:latin typeface="Calibir"/>
            </a:endParaRPr>
          </a:p>
          <a:p>
            <a:r>
              <a:rPr lang="en-US" sz="1000" dirty="0">
                <a:highlight>
                  <a:srgbClr val="FFFF00"/>
                </a:highlight>
                <a:latin typeface="Calibir"/>
              </a:rPr>
              <a:t>            print(</a:t>
            </a:r>
          </a:p>
          <a:p>
            <a:r>
              <a:rPr lang="en-US" sz="1000" dirty="0">
                <a:highlight>
                  <a:srgbClr val="FFFF00"/>
                </a:highlight>
                <a:latin typeface="Calibir"/>
              </a:rPr>
              <a:t>                "Not enough stock!"</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return</a:t>
            </a:r>
          </a:p>
          <a:p>
            <a:endParaRPr lang="en-US" sz="1000" dirty="0">
              <a:highlight>
                <a:srgbClr val="FFFF00"/>
              </a:highlight>
              <a:latin typeface="Calibir"/>
            </a:endParaRPr>
          </a:p>
          <a:p>
            <a:r>
              <a:rPr lang="en-US" sz="1000" dirty="0">
                <a:highlight>
                  <a:srgbClr val="FFFF00"/>
                </a:highlight>
                <a:latin typeface="Calibir"/>
              </a:rPr>
              <a:t>        earned = </a:t>
            </a:r>
            <a:r>
              <a:rPr lang="en-US" sz="1000" dirty="0" err="1">
                <a:highlight>
                  <a:srgbClr val="FFFF00"/>
                </a:highlight>
                <a:latin typeface="Calibir"/>
              </a:rPr>
              <a:t>self.product.sold</a:t>
            </a:r>
            <a:r>
              <a:rPr lang="en-US" sz="1000" dirty="0">
                <a:highlight>
                  <a:srgbClr val="FFFF00"/>
                </a:highlight>
                <a:latin typeface="Calibir"/>
              </a:rPr>
              <a:t>(</a:t>
            </a:r>
          </a:p>
          <a:p>
            <a:r>
              <a:rPr lang="en-US" sz="1000" dirty="0">
                <a:highlight>
                  <a:srgbClr val="FFFF00"/>
                </a:highlight>
                <a:latin typeface="Calibir"/>
              </a:rPr>
              <a:t>            quantity</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self.cash_register.gain</a:t>
            </a:r>
            <a:r>
              <a:rPr lang="en-US" sz="1000" dirty="0">
                <a:highlight>
                  <a:srgbClr val="FFFF00"/>
                </a:highlight>
                <a:latin typeface="Calibir"/>
              </a:rPr>
              <a:t>(</a:t>
            </a:r>
          </a:p>
          <a:p>
            <a:r>
              <a:rPr lang="en-US" sz="1000" dirty="0">
                <a:highlight>
                  <a:srgbClr val="FFFF00"/>
                </a:highlight>
                <a:latin typeface="Calibir"/>
              </a:rPr>
              <a:t>            earned</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def restock(self):</a:t>
            </a:r>
          </a:p>
          <a:p>
            <a:endParaRPr lang="en-US" sz="1000" dirty="0">
              <a:highlight>
                <a:srgbClr val="FFFF00"/>
              </a:highlight>
              <a:latin typeface="Calibir"/>
            </a:endParaRPr>
          </a:p>
          <a:p>
            <a:r>
              <a:rPr lang="en-US" sz="1000" dirty="0">
                <a:highlight>
                  <a:srgbClr val="FFFF00"/>
                </a:highlight>
                <a:latin typeface="Calibir"/>
              </a:rPr>
              <a:t>        quantity = </a:t>
            </a:r>
            <a:r>
              <a:rPr lang="en-US" sz="1000" dirty="0" err="1">
                <a:highlight>
                  <a:srgbClr val="FFFF00"/>
                </a:highlight>
                <a:latin typeface="Calibir"/>
              </a:rPr>
              <a:t>self.read_quantity</a:t>
            </a:r>
            <a:r>
              <a:rPr lang="en-US" sz="1000" dirty="0">
                <a:highlight>
                  <a:srgbClr val="FFFF00"/>
                </a:highlight>
                <a:latin typeface="Calibir"/>
              </a:rPr>
              <a:t>(</a:t>
            </a:r>
          </a:p>
          <a:p>
            <a:r>
              <a:rPr lang="en-US" sz="1000" dirty="0">
                <a:highlight>
                  <a:srgbClr val="FFFF00"/>
                </a:highlight>
                <a:latin typeface="Calibir"/>
              </a:rPr>
              <a:t>            "Quantity to restock: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cost = </a:t>
            </a:r>
            <a:r>
              <a:rPr lang="en-US" sz="1000" dirty="0" err="1">
                <a:highlight>
                  <a:srgbClr val="FFFF00"/>
                </a:highlight>
                <a:latin typeface="Calibir"/>
              </a:rPr>
              <a:t>self.product.cash</a:t>
            </a:r>
            <a:r>
              <a:rPr lang="en-US" sz="1000" dirty="0">
                <a:highlight>
                  <a:srgbClr val="FFFF00"/>
                </a:highlight>
                <a:latin typeface="Calibir"/>
              </a:rPr>
              <a:t>(</a:t>
            </a:r>
          </a:p>
          <a:p>
            <a:r>
              <a:rPr lang="en-US" sz="1000" dirty="0">
                <a:highlight>
                  <a:srgbClr val="FFFF00"/>
                </a:highlight>
                <a:latin typeface="Calibir"/>
              </a:rPr>
              <a:t>            quantity</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if not </a:t>
            </a:r>
            <a:r>
              <a:rPr lang="en-US" sz="1000" dirty="0" err="1">
                <a:highlight>
                  <a:srgbClr val="FFFF00"/>
                </a:highlight>
                <a:latin typeface="Calibir"/>
              </a:rPr>
              <a:t>self.cash_register.has</a:t>
            </a:r>
            <a:r>
              <a:rPr lang="en-US" sz="1000" dirty="0">
                <a:highlight>
                  <a:srgbClr val="FFFF00"/>
                </a:highlight>
                <a:latin typeface="Calibir"/>
              </a:rPr>
              <a:t>(</a:t>
            </a:r>
          </a:p>
          <a:p>
            <a:r>
              <a:rPr lang="en-US" sz="1000" dirty="0">
                <a:highlight>
                  <a:srgbClr val="FFFF00"/>
                </a:highlight>
                <a:latin typeface="Calibir"/>
              </a:rPr>
              <a:t>                cost):</a:t>
            </a:r>
          </a:p>
          <a:p>
            <a:endParaRPr lang="en-US" sz="1000" dirty="0">
              <a:highlight>
                <a:srgbClr val="FFFF00"/>
              </a:highlight>
              <a:latin typeface="Calibir"/>
            </a:endParaRPr>
          </a:p>
          <a:p>
            <a:r>
              <a:rPr lang="en-US" sz="1000" dirty="0">
                <a:highlight>
                  <a:srgbClr val="FFFF00"/>
                </a:highlight>
                <a:latin typeface="Calibir"/>
              </a:rPr>
              <a:t>            print(</a:t>
            </a:r>
          </a:p>
          <a:p>
            <a:r>
              <a:rPr lang="en-US" sz="1000" dirty="0">
                <a:highlight>
                  <a:srgbClr val="FFFF00"/>
                </a:highlight>
                <a:latin typeface="Calibir"/>
              </a:rPr>
              <a:t>                "Not enough funds!"</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return</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self.cash_register.pay</a:t>
            </a:r>
            <a:r>
              <a:rPr lang="en-US" sz="1000" dirty="0">
                <a:highlight>
                  <a:srgbClr val="FFFF00"/>
                </a:highlight>
                <a:latin typeface="Calibir"/>
              </a:rPr>
              <a:t>(</a:t>
            </a:r>
          </a:p>
          <a:p>
            <a:r>
              <a:rPr lang="en-US" sz="1000" dirty="0">
                <a:highlight>
                  <a:srgbClr val="FFFF00"/>
                </a:highlight>
                <a:latin typeface="Calibir"/>
              </a:rPr>
              <a:t>            cost</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self.product.stocked</a:t>
            </a:r>
            <a:r>
              <a:rPr lang="en-US" sz="1000" dirty="0">
                <a:highlight>
                  <a:srgbClr val="FFFF00"/>
                </a:highlight>
                <a:latin typeface="Calibir"/>
              </a:rPr>
              <a:t>(</a:t>
            </a:r>
          </a:p>
          <a:p>
            <a:r>
              <a:rPr lang="en-US" sz="1000" dirty="0">
                <a:highlight>
                  <a:srgbClr val="FFFF00"/>
                </a:highlight>
                <a:latin typeface="Calibir"/>
              </a:rPr>
              <a:t>            quantity</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def view(self):</a:t>
            </a:r>
          </a:p>
          <a:p>
            <a:endParaRPr lang="en-US" sz="1000" dirty="0">
              <a:highlight>
                <a:srgbClr val="FFFF00"/>
              </a:highlight>
              <a:latin typeface="Calibir"/>
            </a:endParaRPr>
          </a:p>
          <a:p>
            <a:r>
              <a:rPr lang="en-US" sz="1000" dirty="0">
                <a:highlight>
                  <a:srgbClr val="FFFF00"/>
                </a:highlight>
                <a:latin typeface="Calibir"/>
              </a:rPr>
              <a:t>        print(</a:t>
            </a:r>
            <a:r>
              <a:rPr lang="en-US" sz="1000" dirty="0" err="1">
                <a:highlight>
                  <a:srgbClr val="FFFF00"/>
                </a:highlight>
                <a:latin typeface="Calibir"/>
              </a:rPr>
              <a:t>self.product</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print(</a:t>
            </a:r>
          </a:p>
          <a:p>
            <a:r>
              <a:rPr lang="en-US" sz="1000" dirty="0">
                <a:highlight>
                  <a:srgbClr val="FFFF00"/>
                </a:highlight>
                <a:latin typeface="Calibir"/>
              </a:rPr>
              <a:t>            </a:t>
            </a:r>
            <a:r>
              <a:rPr lang="en-US" sz="1000" dirty="0" err="1">
                <a:highlight>
                  <a:srgbClr val="FFFF00"/>
                </a:highlight>
                <a:latin typeface="Calibir"/>
              </a:rPr>
              <a:t>self.cash_register</a:t>
            </a:r>
            <a:endParaRPr lang="en-US" sz="1000" dirty="0">
              <a:highlight>
                <a:srgbClr val="FFFF00"/>
              </a:highlight>
              <a:latin typeface="Calibir"/>
            </a:endParaRP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def help(self):</a:t>
            </a:r>
          </a:p>
          <a:p>
            <a:endParaRPr lang="en-US" sz="1000" dirty="0">
              <a:highlight>
                <a:srgbClr val="FFFF00"/>
              </a:highlight>
              <a:latin typeface="Calibir"/>
            </a:endParaRPr>
          </a:p>
          <a:p>
            <a:r>
              <a:rPr lang="en-US" sz="1000" dirty="0">
                <a:highlight>
                  <a:srgbClr val="FFFF00"/>
                </a:highlight>
                <a:latin typeface="Calibir"/>
              </a:rPr>
              <a:t>        print("Shop menu")</a:t>
            </a:r>
          </a:p>
          <a:p>
            <a:r>
              <a:rPr lang="en-US" sz="1000" dirty="0">
                <a:highlight>
                  <a:srgbClr val="FFFF00"/>
                </a:highlight>
                <a:latin typeface="Calibir"/>
              </a:rPr>
              <a:t>        print("S = sell")</a:t>
            </a:r>
          </a:p>
          <a:p>
            <a:r>
              <a:rPr lang="en-US" sz="1000" dirty="0">
                <a:highlight>
                  <a:srgbClr val="FFFF00"/>
                </a:highlight>
                <a:latin typeface="Calibir"/>
              </a:rPr>
              <a:t>        print("R = restock")</a:t>
            </a:r>
          </a:p>
          <a:p>
            <a:r>
              <a:rPr lang="en-US" sz="1000" dirty="0">
                <a:highlight>
                  <a:srgbClr val="FFFF00"/>
                </a:highlight>
                <a:latin typeface="Calibir"/>
              </a:rPr>
              <a:t>        print("V = view")</a:t>
            </a:r>
          </a:p>
          <a:p>
            <a:r>
              <a:rPr lang="en-US" sz="1000" dirty="0">
                <a:highlight>
                  <a:srgbClr val="FFFF00"/>
                </a:highlight>
                <a:latin typeface="Calibir"/>
              </a:rPr>
              <a:t>        print("X = exit")</a:t>
            </a:r>
          </a:p>
          <a:p>
            <a:endParaRPr lang="en-US" sz="1000" dirty="0">
              <a:highlight>
                <a:srgbClr val="FFFF00"/>
              </a:highlight>
              <a:latin typeface="Calibir"/>
            </a:endParaRPr>
          </a:p>
          <a:p>
            <a:r>
              <a:rPr lang="en-US" sz="1000" dirty="0">
                <a:highlight>
                  <a:srgbClr val="FFFF00"/>
                </a:highlight>
                <a:latin typeface="Calibir"/>
              </a:rPr>
              <a:t>    def menu(self):</a:t>
            </a:r>
          </a:p>
          <a:p>
            <a:endParaRPr lang="en-US" sz="1000" dirty="0">
              <a:highlight>
                <a:srgbClr val="FFFF00"/>
              </a:highlight>
              <a:latin typeface="Calibir"/>
            </a:endParaRPr>
          </a:p>
          <a:p>
            <a:r>
              <a:rPr lang="en-US" sz="1000" dirty="0">
                <a:highlight>
                  <a:srgbClr val="FFFF00"/>
                </a:highlight>
                <a:latin typeface="Calibir"/>
              </a:rPr>
              <a:t>        while True:</a:t>
            </a:r>
          </a:p>
          <a:p>
            <a:endParaRPr lang="en-US" sz="1000" dirty="0">
              <a:highlight>
                <a:srgbClr val="FFFF00"/>
              </a:highlight>
              <a:latin typeface="Calibir"/>
            </a:endParaRPr>
          </a:p>
          <a:p>
            <a:r>
              <a:rPr lang="en-US" sz="1000" dirty="0">
                <a:highlight>
                  <a:srgbClr val="FFFF00"/>
                </a:highlight>
                <a:latin typeface="Calibir"/>
              </a:rPr>
              <a:t>            choice = input(</a:t>
            </a:r>
          </a:p>
          <a:p>
            <a:r>
              <a:rPr lang="en-US" sz="1000" dirty="0">
                <a:highlight>
                  <a:srgbClr val="FFFF00"/>
                </a:highlight>
                <a:latin typeface="Calibir"/>
              </a:rPr>
              <a:t>                "Shop menu "</a:t>
            </a:r>
          </a:p>
          <a:p>
            <a:r>
              <a:rPr lang="en-US" sz="1000" dirty="0">
                <a:highlight>
                  <a:srgbClr val="FFFF00"/>
                </a:highlight>
                <a:latin typeface="Calibir"/>
              </a:rPr>
              <a:t>                "(S/R/V/X): "</a:t>
            </a:r>
          </a:p>
          <a:p>
            <a:r>
              <a:rPr lang="en-US" sz="1000" dirty="0">
                <a:highlight>
                  <a:srgbClr val="FFFF00"/>
                </a:highlight>
                <a:latin typeface="Calibir"/>
              </a:rPr>
              <a:t>            ).upper()</a:t>
            </a:r>
          </a:p>
          <a:p>
            <a:endParaRPr lang="en-US" sz="1000" dirty="0">
              <a:highlight>
                <a:srgbClr val="FFFF00"/>
              </a:highlight>
              <a:latin typeface="Calibir"/>
            </a:endParaRPr>
          </a:p>
          <a:p>
            <a:r>
              <a:rPr lang="en-US" sz="1000" dirty="0">
                <a:highlight>
                  <a:srgbClr val="FFFF00"/>
                </a:highlight>
                <a:latin typeface="Calibir"/>
              </a:rPr>
              <a:t>            if choice == "S":</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self.sell</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elif</a:t>
            </a:r>
            <a:r>
              <a:rPr lang="en-US" sz="1000" dirty="0">
                <a:highlight>
                  <a:srgbClr val="FFFF00"/>
                </a:highlight>
                <a:latin typeface="Calibir"/>
              </a:rPr>
              <a:t> choice == "R":</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self.restock</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elif</a:t>
            </a:r>
            <a:r>
              <a:rPr lang="en-US" sz="1000" dirty="0">
                <a:highlight>
                  <a:srgbClr val="FFFF00"/>
                </a:highlight>
                <a:latin typeface="Calibir"/>
              </a:rPr>
              <a:t> choice == "V":</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self.view</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elif</a:t>
            </a:r>
            <a:r>
              <a:rPr lang="en-US" sz="1000" dirty="0">
                <a:highlight>
                  <a:srgbClr val="FFFF00"/>
                </a:highlight>
                <a:latin typeface="Calibir"/>
              </a:rPr>
              <a:t> choice == "X":</a:t>
            </a:r>
          </a:p>
          <a:p>
            <a:endParaRPr lang="en-US" sz="1000" dirty="0">
              <a:highlight>
                <a:srgbClr val="FFFF00"/>
              </a:highlight>
              <a:latin typeface="Calibir"/>
            </a:endParaRPr>
          </a:p>
          <a:p>
            <a:r>
              <a:rPr lang="en-US" sz="1000" dirty="0">
                <a:highlight>
                  <a:srgbClr val="FFFF00"/>
                </a:highlight>
                <a:latin typeface="Calibir"/>
              </a:rPr>
              <a:t>                break</a:t>
            </a:r>
          </a:p>
          <a:p>
            <a:endParaRPr lang="en-US" sz="1000" dirty="0">
              <a:highlight>
                <a:srgbClr val="FFFF00"/>
              </a:highlight>
              <a:latin typeface="Calibir"/>
            </a:endParaRPr>
          </a:p>
          <a:p>
            <a:r>
              <a:rPr lang="en-US" sz="1000" dirty="0">
                <a:highlight>
                  <a:srgbClr val="FFFF00"/>
                </a:highlight>
                <a:latin typeface="Calibir"/>
              </a:rPr>
              <a:t>            else:</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self.help</a:t>
            </a:r>
            <a:r>
              <a:rPr lang="en-US" sz="1000" dirty="0">
                <a:highlight>
                  <a:srgbClr val="FFFF00"/>
                </a:highlight>
                <a:latin typeface="Calibir"/>
              </a:rPr>
              <a:t>()</a:t>
            </a:r>
          </a:p>
          <a:p>
            <a:endParaRPr lang="en-US" sz="1000" dirty="0">
              <a:highlight>
                <a:srgbClr val="FFFF00"/>
              </a:highlight>
              <a:latin typeface="Calibir"/>
            </a:endParaRPr>
          </a:p>
          <a:p>
            <a:endParaRPr lang="en-US" sz="1000" dirty="0">
              <a:highlight>
                <a:srgbClr val="FFFF00"/>
              </a:highlight>
              <a:latin typeface="Calibir"/>
            </a:endParaRPr>
          </a:p>
          <a:p>
            <a:r>
              <a:rPr lang="en-US" sz="1000" dirty="0">
                <a:highlight>
                  <a:srgbClr val="FFFF00"/>
                </a:highlight>
                <a:latin typeface="Calibir"/>
              </a:rPr>
              <a:t>def main():</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product_type</a:t>
            </a:r>
            <a:r>
              <a:rPr lang="en-US" sz="1000" dirty="0">
                <a:highlight>
                  <a:srgbClr val="FFFF00"/>
                </a:highlight>
                <a:latin typeface="Calibir"/>
              </a:rPr>
              <a:t> = input(</a:t>
            </a:r>
          </a:p>
          <a:p>
            <a:r>
              <a:rPr lang="en-US" sz="1000" dirty="0">
                <a:highlight>
                  <a:srgbClr val="FFFF00"/>
                </a:highlight>
                <a:latin typeface="Calibir"/>
              </a:rPr>
              <a:t>        "Product type: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price = float(</a:t>
            </a:r>
          </a:p>
          <a:p>
            <a:r>
              <a:rPr lang="en-US" sz="1000" dirty="0">
                <a:highlight>
                  <a:srgbClr val="FFFF00"/>
                </a:highlight>
                <a:latin typeface="Calibir"/>
              </a:rPr>
              <a:t>        input(</a:t>
            </a:r>
          </a:p>
          <a:p>
            <a:r>
              <a:rPr lang="en-US" sz="1000" dirty="0">
                <a:highlight>
                  <a:srgbClr val="FFFF00"/>
                </a:highlight>
                <a:latin typeface="Calibir"/>
              </a:rPr>
              <a:t>            "Product price: $"</a:t>
            </a:r>
          </a:p>
          <a:p>
            <a:r>
              <a:rPr lang="en-US" sz="1000" dirty="0">
                <a:highlight>
                  <a:srgbClr val="FFFF00"/>
                </a:highlight>
                <a:latin typeface="Calibir"/>
              </a:rPr>
              <a:t>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stock = int(</a:t>
            </a:r>
          </a:p>
          <a:p>
            <a:r>
              <a:rPr lang="en-US" sz="1000" dirty="0">
                <a:highlight>
                  <a:srgbClr val="FFFF00"/>
                </a:highlight>
                <a:latin typeface="Calibir"/>
              </a:rPr>
              <a:t>        input(</a:t>
            </a:r>
          </a:p>
          <a:p>
            <a:r>
              <a:rPr lang="en-US" sz="1000" dirty="0">
                <a:highlight>
                  <a:srgbClr val="FFFF00"/>
                </a:highlight>
                <a:latin typeface="Calibir"/>
              </a:rPr>
              <a:t>            "Initial stock: "</a:t>
            </a:r>
          </a:p>
          <a:p>
            <a:r>
              <a:rPr lang="en-US" sz="1000" dirty="0">
                <a:highlight>
                  <a:srgbClr val="FFFF00"/>
                </a:highlight>
                <a:latin typeface="Calibir"/>
              </a:rPr>
              <a:t>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shop = Shop(</a:t>
            </a:r>
          </a:p>
          <a:p>
            <a:r>
              <a:rPr lang="en-US" sz="1000" dirty="0">
                <a:highlight>
                  <a:srgbClr val="FFFF00"/>
                </a:highlight>
                <a:latin typeface="Calibir"/>
              </a:rPr>
              <a:t>        </a:t>
            </a:r>
            <a:r>
              <a:rPr lang="en-US" sz="1000" dirty="0" err="1">
                <a:highlight>
                  <a:srgbClr val="FFFF00"/>
                </a:highlight>
                <a:latin typeface="Calibir"/>
              </a:rPr>
              <a:t>product_type</a:t>
            </a:r>
            <a:r>
              <a:rPr lang="en-US" sz="1000" dirty="0">
                <a:highlight>
                  <a:srgbClr val="FFFF00"/>
                </a:highlight>
                <a:latin typeface="Calibir"/>
              </a:rPr>
              <a:t>,</a:t>
            </a:r>
          </a:p>
          <a:p>
            <a:r>
              <a:rPr lang="en-US" sz="1000" dirty="0">
                <a:highlight>
                  <a:srgbClr val="FFFF00"/>
                </a:highlight>
                <a:latin typeface="Calibir"/>
              </a:rPr>
              <a:t>        price,</a:t>
            </a:r>
          </a:p>
          <a:p>
            <a:r>
              <a:rPr lang="en-US" sz="1000" dirty="0">
                <a:highlight>
                  <a:srgbClr val="FFFF00"/>
                </a:highlight>
                <a:latin typeface="Calibir"/>
              </a:rPr>
              <a:t>        stock</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shop.menu</a:t>
            </a:r>
            <a:r>
              <a:rPr lang="en-US" sz="1000" dirty="0">
                <a:highlight>
                  <a:srgbClr val="FFFF00"/>
                </a:highlight>
                <a:latin typeface="Calibir"/>
              </a:rPr>
              <a:t>()</a:t>
            </a:r>
          </a:p>
          <a:p>
            <a:endParaRPr lang="en-US" sz="1000" dirty="0">
              <a:highlight>
                <a:srgbClr val="FFFF00"/>
              </a:highlight>
              <a:latin typeface="Calibir"/>
            </a:endParaRPr>
          </a:p>
          <a:p>
            <a:endParaRPr lang="en-US" sz="1000" dirty="0">
              <a:highlight>
                <a:srgbClr val="FFFF00"/>
              </a:highlight>
              <a:latin typeface="Calibir"/>
            </a:endParaRPr>
          </a:p>
          <a:p>
            <a:r>
              <a:rPr lang="en-US" sz="1000" dirty="0">
                <a:highlight>
                  <a:srgbClr val="FFFF00"/>
                </a:highlight>
                <a:latin typeface="Calibir"/>
              </a:rPr>
              <a:t>if __name__ == "__main__":</a:t>
            </a:r>
          </a:p>
          <a:p>
            <a:r>
              <a:rPr lang="en-US" sz="1000" dirty="0">
                <a:highlight>
                  <a:srgbClr val="FFFF00"/>
                </a:highlight>
                <a:latin typeface="Calibir"/>
              </a:rPr>
              <a:t>    main()</a:t>
            </a:r>
          </a:p>
        </p:txBody>
      </p:sp>
    </p:spTree>
    <p:extLst>
      <p:ext uri="{BB962C8B-B14F-4D97-AF65-F5344CB8AC3E}">
        <p14:creationId xmlns:p14="http://schemas.microsoft.com/office/powerpoint/2010/main" val="2157682468"/>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39D1A92F-22FB-FEDE-975B-C17A3987BD2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BFA1CAF-9C59-0490-784C-31A5206F9793}"/>
              </a:ext>
            </a:extLst>
          </p:cNvPr>
          <p:cNvSpPr txBox="1"/>
          <p:nvPr/>
        </p:nvSpPr>
        <p:spPr>
          <a:xfrm>
            <a:off x="-2458" y="181957"/>
            <a:ext cx="6098458" cy="57338774"/>
          </a:xfrm>
          <a:prstGeom prst="rect">
            <a:avLst/>
          </a:prstGeom>
          <a:noFill/>
        </p:spPr>
        <p:txBody>
          <a:bodyPr wrap="square">
            <a:spAutoFit/>
          </a:bodyPr>
          <a:lstStyle/>
          <a:p>
            <a:r>
              <a:rPr lang="en-US" sz="1000" b="1" dirty="0">
                <a:latin typeface="Calibir"/>
              </a:rPr>
              <a:t>Completed Java — Lab6Exercise2</a:t>
            </a:r>
          </a:p>
          <a:p>
            <a:r>
              <a:rPr lang="en-US" sz="1000" dirty="0">
                <a:highlight>
                  <a:srgbClr val="FFFF00"/>
                </a:highlight>
                <a:latin typeface="Calibir"/>
              </a:rPr>
              <a:t>Three files:</a:t>
            </a:r>
          </a:p>
          <a:p>
            <a:r>
              <a:rPr lang="en-US" sz="1000" dirty="0">
                <a:highlight>
                  <a:srgbClr val="FFFF00"/>
                </a:highlight>
                <a:latin typeface="Calibir"/>
              </a:rPr>
              <a:t>Product.java</a:t>
            </a:r>
          </a:p>
          <a:p>
            <a:r>
              <a:rPr lang="en-US" sz="1000" dirty="0">
                <a:highlight>
                  <a:srgbClr val="FFFF00"/>
                </a:highlight>
                <a:latin typeface="Calibir"/>
              </a:rPr>
              <a:t>CashRegister.java</a:t>
            </a:r>
          </a:p>
          <a:p>
            <a:r>
              <a:rPr lang="en-US" sz="1000" dirty="0">
                <a:highlight>
                  <a:srgbClr val="FFFF00"/>
                </a:highlight>
                <a:latin typeface="Calibir"/>
              </a:rPr>
              <a:t>Shop.java</a:t>
            </a:r>
          </a:p>
          <a:p>
            <a:r>
              <a:rPr lang="en-US" sz="1000" b="1" dirty="0">
                <a:highlight>
                  <a:srgbClr val="FFFF00"/>
                </a:highlight>
                <a:latin typeface="Calibir"/>
              </a:rPr>
              <a:t>Product.java</a:t>
            </a:r>
          </a:p>
          <a:p>
            <a:r>
              <a:rPr lang="en-US" sz="1000" dirty="0">
                <a:highlight>
                  <a:srgbClr val="FFFF00"/>
                </a:highlight>
                <a:latin typeface="Calibir"/>
              </a:rPr>
              <a:t>import </a:t>
            </a:r>
            <a:r>
              <a:rPr lang="en-US" sz="1000" dirty="0" err="1">
                <a:highlight>
                  <a:srgbClr val="FFFF00"/>
                </a:highlight>
                <a:latin typeface="Calibir"/>
              </a:rPr>
              <a:t>java.util.Scanner</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public class Product {</a:t>
            </a:r>
          </a:p>
          <a:p>
            <a:endParaRPr lang="en-US" sz="1000" dirty="0">
              <a:highlight>
                <a:srgbClr val="FFFF00"/>
              </a:highlight>
              <a:latin typeface="Calibir"/>
            </a:endParaRPr>
          </a:p>
          <a:p>
            <a:r>
              <a:rPr lang="en-US" sz="1000" dirty="0">
                <a:highlight>
                  <a:srgbClr val="FFFF00"/>
                </a:highlight>
                <a:latin typeface="Calibir"/>
              </a:rPr>
              <a:t>    private String type;</a:t>
            </a:r>
          </a:p>
          <a:p>
            <a:r>
              <a:rPr lang="en-US" sz="1000" dirty="0">
                <a:highlight>
                  <a:srgbClr val="FFFF00"/>
                </a:highlight>
                <a:latin typeface="Calibir"/>
              </a:rPr>
              <a:t>    private double price;</a:t>
            </a:r>
          </a:p>
          <a:p>
            <a:r>
              <a:rPr lang="en-US" sz="1000" dirty="0">
                <a:highlight>
                  <a:srgbClr val="FFFF00"/>
                </a:highlight>
                <a:latin typeface="Calibir"/>
              </a:rPr>
              <a:t>    private int stock;</a:t>
            </a:r>
          </a:p>
          <a:p>
            <a:endParaRPr lang="en-US" sz="1000" dirty="0">
              <a:highlight>
                <a:srgbClr val="FFFF00"/>
              </a:highlight>
              <a:latin typeface="Calibir"/>
            </a:endParaRPr>
          </a:p>
          <a:p>
            <a:r>
              <a:rPr lang="en-US" sz="1000" dirty="0">
                <a:highlight>
                  <a:srgbClr val="FFFF00"/>
                </a:highlight>
                <a:latin typeface="Calibir"/>
              </a:rPr>
              <a:t>    public Product(</a:t>
            </a:r>
          </a:p>
          <a:p>
            <a:r>
              <a:rPr lang="en-US" sz="1000" dirty="0">
                <a:highlight>
                  <a:srgbClr val="FFFF00"/>
                </a:highlight>
                <a:latin typeface="Calibir"/>
              </a:rPr>
              <a:t>            String type,</a:t>
            </a:r>
          </a:p>
          <a:p>
            <a:r>
              <a:rPr lang="en-US" sz="1000" dirty="0">
                <a:highlight>
                  <a:srgbClr val="FFFF00"/>
                </a:highlight>
                <a:latin typeface="Calibir"/>
              </a:rPr>
              <a:t>            double price,</a:t>
            </a:r>
          </a:p>
          <a:p>
            <a:r>
              <a:rPr lang="en-US" sz="1000" dirty="0">
                <a:highlight>
                  <a:srgbClr val="FFFF00"/>
                </a:highlight>
                <a:latin typeface="Calibir"/>
              </a:rPr>
              <a:t>            int stock)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this.type</a:t>
            </a:r>
            <a:r>
              <a:rPr lang="en-US" sz="1000" dirty="0">
                <a:highlight>
                  <a:srgbClr val="FFFF00"/>
                </a:highlight>
                <a:latin typeface="Calibir"/>
              </a:rPr>
              <a:t> = type;</a:t>
            </a:r>
          </a:p>
          <a:p>
            <a:r>
              <a:rPr lang="en-US" sz="1000" dirty="0">
                <a:highlight>
                  <a:srgbClr val="FFFF00"/>
                </a:highlight>
                <a:latin typeface="Calibir"/>
              </a:rPr>
              <a:t>        </a:t>
            </a:r>
            <a:r>
              <a:rPr lang="en-US" sz="1000" dirty="0" err="1">
                <a:highlight>
                  <a:srgbClr val="FFFF00"/>
                </a:highlight>
                <a:latin typeface="Calibir"/>
              </a:rPr>
              <a:t>this.price</a:t>
            </a:r>
            <a:r>
              <a:rPr lang="en-US" sz="1000" dirty="0">
                <a:highlight>
                  <a:srgbClr val="FFFF00"/>
                </a:highlight>
                <a:latin typeface="Calibir"/>
              </a:rPr>
              <a:t> = price;</a:t>
            </a:r>
          </a:p>
          <a:p>
            <a:r>
              <a:rPr lang="en-US" sz="1000" dirty="0">
                <a:highlight>
                  <a:srgbClr val="FFFF00"/>
                </a:highlight>
                <a:latin typeface="Calibir"/>
              </a:rPr>
              <a:t>        </a:t>
            </a:r>
            <a:r>
              <a:rPr lang="en-US" sz="1000" dirty="0" err="1">
                <a:highlight>
                  <a:srgbClr val="FFFF00"/>
                </a:highlight>
                <a:latin typeface="Calibir"/>
              </a:rPr>
              <a:t>this.stock</a:t>
            </a:r>
            <a:r>
              <a:rPr lang="en-US" sz="1000" dirty="0">
                <a:highlight>
                  <a:srgbClr val="FFFF00"/>
                </a:highlight>
                <a:latin typeface="Calibir"/>
              </a:rPr>
              <a:t> = stock;</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public Product(</a:t>
            </a:r>
          </a:p>
          <a:p>
            <a:r>
              <a:rPr lang="en-US" sz="1000" dirty="0">
                <a:highlight>
                  <a:srgbClr val="FFFF00"/>
                </a:highlight>
                <a:latin typeface="Calibir"/>
              </a:rPr>
              <a:t>            Scanner input)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a:t>
            </a:r>
            <a:r>
              <a:rPr lang="en-US" sz="1000" dirty="0">
                <a:highlight>
                  <a:srgbClr val="FFFF00"/>
                </a:highlight>
                <a:latin typeface="Calibir"/>
              </a:rPr>
              <a:t>(</a:t>
            </a:r>
          </a:p>
          <a:p>
            <a:r>
              <a:rPr lang="en-US" sz="1000" dirty="0">
                <a:highlight>
                  <a:srgbClr val="FFFF00"/>
                </a:highlight>
                <a:latin typeface="Calibir"/>
              </a:rPr>
              <a:t>            "Product type: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type =</a:t>
            </a:r>
          </a:p>
          <a:p>
            <a:r>
              <a:rPr lang="en-US" sz="1000" dirty="0">
                <a:highlight>
                  <a:srgbClr val="FFFF00"/>
                </a:highlight>
                <a:latin typeface="Calibir"/>
              </a:rPr>
              <a:t>                </a:t>
            </a:r>
            <a:r>
              <a:rPr lang="en-US" sz="1000" dirty="0" err="1">
                <a:highlight>
                  <a:srgbClr val="FFFF00"/>
                </a:highlight>
                <a:latin typeface="Calibir"/>
              </a:rPr>
              <a:t>input.nextLine</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a:t>
            </a:r>
            <a:r>
              <a:rPr lang="en-US" sz="1000" dirty="0">
                <a:highlight>
                  <a:srgbClr val="FFFF00"/>
                </a:highlight>
                <a:latin typeface="Calibir"/>
              </a:rPr>
              <a:t>(</a:t>
            </a:r>
          </a:p>
          <a:p>
            <a:r>
              <a:rPr lang="en-US" sz="1000" dirty="0">
                <a:highlight>
                  <a:srgbClr val="FFFF00"/>
                </a:highlight>
                <a:latin typeface="Calibir"/>
              </a:rPr>
              <a:t>            "Product price: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price =</a:t>
            </a:r>
          </a:p>
          <a:p>
            <a:r>
              <a:rPr lang="en-US" sz="1000" dirty="0">
                <a:highlight>
                  <a:srgbClr val="FFFF00"/>
                </a:highlight>
                <a:latin typeface="Calibir"/>
              </a:rPr>
              <a:t>                </a:t>
            </a:r>
            <a:r>
              <a:rPr lang="en-US" sz="1000" dirty="0" err="1">
                <a:highlight>
                  <a:srgbClr val="FFFF00"/>
                </a:highlight>
                <a:latin typeface="Calibir"/>
              </a:rPr>
              <a:t>input.nextDouble</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a:t>
            </a:r>
            <a:r>
              <a:rPr lang="en-US" sz="1000" dirty="0">
                <a:highlight>
                  <a:srgbClr val="FFFF00"/>
                </a:highlight>
                <a:latin typeface="Calibir"/>
              </a:rPr>
              <a:t>(</a:t>
            </a:r>
          </a:p>
          <a:p>
            <a:r>
              <a:rPr lang="en-US" sz="1000" dirty="0">
                <a:highlight>
                  <a:srgbClr val="FFFF00"/>
                </a:highlight>
                <a:latin typeface="Calibir"/>
              </a:rPr>
              <a:t>            "Initial stock: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stock =</a:t>
            </a:r>
          </a:p>
          <a:p>
            <a:r>
              <a:rPr lang="en-US" sz="1000" dirty="0">
                <a:highlight>
                  <a:srgbClr val="FFFF00"/>
                </a:highlight>
                <a:latin typeface="Calibir"/>
              </a:rPr>
              <a:t>                </a:t>
            </a:r>
            <a:r>
              <a:rPr lang="en-US" sz="1000" dirty="0" err="1">
                <a:highlight>
                  <a:srgbClr val="FFFF00"/>
                </a:highlight>
                <a:latin typeface="Calibir"/>
              </a:rPr>
              <a:t>input.nextInt</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input.nextLine</a:t>
            </a:r>
            <a:r>
              <a:rPr lang="en-US" sz="1000" dirty="0">
                <a:highlight>
                  <a:srgbClr val="FFFF00"/>
                </a:highlight>
                <a:latin typeface="Calibir"/>
              </a:rPr>
              <a:t>();</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public </a:t>
            </a:r>
            <a:r>
              <a:rPr lang="en-US" sz="1000" dirty="0" err="1">
                <a:highlight>
                  <a:srgbClr val="FFFF00"/>
                </a:highlight>
                <a:latin typeface="Calibir"/>
              </a:rPr>
              <a:t>boolean</a:t>
            </a:r>
            <a:r>
              <a:rPr lang="en-US" sz="1000" dirty="0">
                <a:highlight>
                  <a:srgbClr val="FFFF00"/>
                </a:highlight>
                <a:latin typeface="Calibir"/>
              </a:rPr>
              <a:t> </a:t>
            </a:r>
            <a:r>
              <a:rPr lang="en-US" sz="1000" dirty="0" err="1">
                <a:highlight>
                  <a:srgbClr val="FFFF00"/>
                </a:highlight>
                <a:latin typeface="Calibir"/>
              </a:rPr>
              <a:t>isEmpty</a:t>
            </a:r>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return stock == 0;</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public </a:t>
            </a:r>
            <a:r>
              <a:rPr lang="en-US" sz="1000" dirty="0" err="1">
                <a:highlight>
                  <a:srgbClr val="FFFF00"/>
                </a:highlight>
                <a:latin typeface="Calibir"/>
              </a:rPr>
              <a:t>boolean</a:t>
            </a:r>
            <a:r>
              <a:rPr lang="en-US" sz="1000" dirty="0">
                <a:highlight>
                  <a:srgbClr val="FFFF00"/>
                </a:highlight>
                <a:latin typeface="Calibir"/>
              </a:rPr>
              <a:t> has(</a:t>
            </a:r>
          </a:p>
          <a:p>
            <a:r>
              <a:rPr lang="en-US" sz="1000" dirty="0">
                <a:highlight>
                  <a:srgbClr val="FFFF00"/>
                </a:highlight>
                <a:latin typeface="Calibir"/>
              </a:rPr>
              <a:t>            int quantity) {</a:t>
            </a:r>
          </a:p>
          <a:p>
            <a:endParaRPr lang="en-US" sz="1000" dirty="0">
              <a:highlight>
                <a:srgbClr val="FFFF00"/>
              </a:highlight>
              <a:latin typeface="Calibir"/>
            </a:endParaRPr>
          </a:p>
          <a:p>
            <a:r>
              <a:rPr lang="en-US" sz="1000" dirty="0">
                <a:highlight>
                  <a:srgbClr val="FFFF00"/>
                </a:highlight>
                <a:latin typeface="Calibir"/>
              </a:rPr>
              <a:t>        return stock &gt;= quantity;</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public double cash(</a:t>
            </a:r>
          </a:p>
          <a:p>
            <a:r>
              <a:rPr lang="en-US" sz="1000" dirty="0">
                <a:highlight>
                  <a:srgbClr val="FFFF00"/>
                </a:highlight>
                <a:latin typeface="Calibir"/>
              </a:rPr>
              <a:t>            int quantity) {</a:t>
            </a:r>
          </a:p>
          <a:p>
            <a:endParaRPr lang="en-US" sz="1000" dirty="0">
              <a:highlight>
                <a:srgbClr val="FFFF00"/>
              </a:highlight>
              <a:latin typeface="Calibir"/>
            </a:endParaRPr>
          </a:p>
          <a:p>
            <a:r>
              <a:rPr lang="en-US" sz="1000" dirty="0">
                <a:highlight>
                  <a:srgbClr val="FFFF00"/>
                </a:highlight>
                <a:latin typeface="Calibir"/>
              </a:rPr>
              <a:t>        return price * quantity;</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public double sold(</a:t>
            </a:r>
          </a:p>
          <a:p>
            <a:r>
              <a:rPr lang="en-US" sz="1000" dirty="0">
                <a:highlight>
                  <a:srgbClr val="FFFF00"/>
                </a:highlight>
                <a:latin typeface="Calibir"/>
              </a:rPr>
              <a:t>            int quantity) {</a:t>
            </a:r>
          </a:p>
          <a:p>
            <a:endParaRPr lang="en-US" sz="1000" dirty="0">
              <a:highlight>
                <a:srgbClr val="FFFF00"/>
              </a:highlight>
              <a:latin typeface="Calibir"/>
            </a:endParaRPr>
          </a:p>
          <a:p>
            <a:r>
              <a:rPr lang="en-US" sz="1000" dirty="0">
                <a:highlight>
                  <a:srgbClr val="FFFF00"/>
                </a:highlight>
                <a:latin typeface="Calibir"/>
              </a:rPr>
              <a:t>        stock -= quantity;</a:t>
            </a:r>
          </a:p>
          <a:p>
            <a:endParaRPr lang="en-US" sz="1000" dirty="0">
              <a:highlight>
                <a:srgbClr val="FFFF00"/>
              </a:highlight>
              <a:latin typeface="Calibir"/>
            </a:endParaRPr>
          </a:p>
          <a:p>
            <a:r>
              <a:rPr lang="en-US" sz="1000" dirty="0">
                <a:highlight>
                  <a:srgbClr val="FFFF00"/>
                </a:highlight>
                <a:latin typeface="Calibir"/>
              </a:rPr>
              <a:t>        return cash(quantity);</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public double stocked(</a:t>
            </a:r>
          </a:p>
          <a:p>
            <a:r>
              <a:rPr lang="en-US" sz="1000" dirty="0">
                <a:highlight>
                  <a:srgbClr val="FFFF00"/>
                </a:highlight>
                <a:latin typeface="Calibir"/>
              </a:rPr>
              <a:t>            int quantity) {</a:t>
            </a:r>
          </a:p>
          <a:p>
            <a:endParaRPr lang="en-US" sz="1000" dirty="0">
              <a:highlight>
                <a:srgbClr val="FFFF00"/>
              </a:highlight>
              <a:latin typeface="Calibir"/>
            </a:endParaRPr>
          </a:p>
          <a:p>
            <a:r>
              <a:rPr lang="en-US" sz="1000" dirty="0">
                <a:highlight>
                  <a:srgbClr val="FFFF00"/>
                </a:highlight>
                <a:latin typeface="Calibir"/>
              </a:rPr>
              <a:t>        double cost =</a:t>
            </a:r>
          </a:p>
          <a:p>
            <a:r>
              <a:rPr lang="en-US" sz="1000" dirty="0">
                <a:highlight>
                  <a:srgbClr val="FFFF00"/>
                </a:highlight>
                <a:latin typeface="Calibir"/>
              </a:rPr>
              <a:t>                cash(quantity);</a:t>
            </a:r>
          </a:p>
          <a:p>
            <a:endParaRPr lang="en-US" sz="1000" dirty="0">
              <a:highlight>
                <a:srgbClr val="FFFF00"/>
              </a:highlight>
              <a:latin typeface="Calibir"/>
            </a:endParaRPr>
          </a:p>
          <a:p>
            <a:r>
              <a:rPr lang="en-US" sz="1000" dirty="0">
                <a:highlight>
                  <a:srgbClr val="FFFF00"/>
                </a:highlight>
                <a:latin typeface="Calibir"/>
              </a:rPr>
              <a:t>        stock += quantity;</a:t>
            </a:r>
          </a:p>
          <a:p>
            <a:endParaRPr lang="en-US" sz="1000" dirty="0">
              <a:highlight>
                <a:srgbClr val="FFFF00"/>
              </a:highlight>
              <a:latin typeface="Calibir"/>
            </a:endParaRPr>
          </a:p>
          <a:p>
            <a:r>
              <a:rPr lang="en-US" sz="1000" dirty="0">
                <a:highlight>
                  <a:srgbClr val="FFFF00"/>
                </a:highlight>
                <a:latin typeface="Calibir"/>
              </a:rPr>
              <a:t>        return cost;</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@Override</a:t>
            </a:r>
          </a:p>
          <a:p>
            <a:r>
              <a:rPr lang="en-US" sz="1000" dirty="0">
                <a:highlight>
                  <a:srgbClr val="FFFF00"/>
                </a:highlight>
                <a:latin typeface="Calibir"/>
              </a:rPr>
              <a:t>    public String </a:t>
            </a:r>
            <a:r>
              <a:rPr lang="en-US" sz="1000" dirty="0" err="1">
                <a:highlight>
                  <a:srgbClr val="FFFF00"/>
                </a:highlight>
                <a:latin typeface="Calibir"/>
              </a:rPr>
              <a:t>toString</a:t>
            </a:r>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if (</a:t>
            </a:r>
            <a:r>
              <a:rPr lang="en-US" sz="1000" dirty="0" err="1">
                <a:highlight>
                  <a:srgbClr val="FFFF00"/>
                </a:highlight>
                <a:latin typeface="Calibir"/>
              </a:rPr>
              <a:t>isEmpty</a:t>
            </a:r>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return type</a:t>
            </a:r>
          </a:p>
          <a:p>
            <a:r>
              <a:rPr lang="en-US" sz="1000" dirty="0">
                <a:highlight>
                  <a:srgbClr val="FFFF00"/>
                </a:highlight>
                <a:latin typeface="Calibir"/>
              </a:rPr>
              <a:t>                    + " stock level is: "</a:t>
            </a:r>
          </a:p>
          <a:p>
            <a:r>
              <a:rPr lang="en-US" sz="1000" dirty="0">
                <a:highlight>
                  <a:srgbClr val="FFFF00"/>
                </a:highlight>
                <a:latin typeface="Calibir"/>
              </a:rPr>
              <a:t>                    + stock;</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return </a:t>
            </a:r>
            <a:r>
              <a:rPr lang="en-US" sz="1000" dirty="0" err="1">
                <a:highlight>
                  <a:srgbClr val="FFFF00"/>
                </a:highlight>
                <a:latin typeface="Calibir"/>
              </a:rPr>
              <a:t>String.format</a:t>
            </a:r>
            <a:r>
              <a:rPr lang="en-US" sz="1000" dirty="0">
                <a:highlight>
                  <a:srgbClr val="FFFF00"/>
                </a:highlight>
                <a:latin typeface="Calibir"/>
              </a:rPr>
              <a:t>(</a:t>
            </a:r>
          </a:p>
          <a:p>
            <a:r>
              <a:rPr lang="en-US" sz="1000" dirty="0">
                <a:highlight>
                  <a:srgbClr val="FFFF00"/>
                </a:highlight>
                <a:latin typeface="Calibir"/>
              </a:rPr>
              <a:t>            "%s level: %d at price $%.2f",</a:t>
            </a:r>
          </a:p>
          <a:p>
            <a:r>
              <a:rPr lang="en-US" sz="1000" dirty="0">
                <a:highlight>
                  <a:srgbClr val="FFFF00"/>
                </a:highlight>
                <a:latin typeface="Calibir"/>
              </a:rPr>
              <a:t>            type,</a:t>
            </a:r>
          </a:p>
          <a:p>
            <a:r>
              <a:rPr lang="en-US" sz="1000" dirty="0">
                <a:highlight>
                  <a:srgbClr val="FFFF00"/>
                </a:highlight>
                <a:latin typeface="Calibir"/>
              </a:rPr>
              <a:t>            stock,</a:t>
            </a:r>
          </a:p>
          <a:p>
            <a:r>
              <a:rPr lang="en-US" sz="1000" dirty="0">
                <a:highlight>
                  <a:srgbClr val="FFFF00"/>
                </a:highlight>
                <a:latin typeface="Calibir"/>
              </a:rPr>
              <a:t>            price</a:t>
            </a:r>
          </a:p>
          <a:p>
            <a:r>
              <a:rPr lang="en-US" sz="1000" dirty="0">
                <a:highlight>
                  <a:srgbClr val="FFFF00"/>
                </a:highlight>
                <a:latin typeface="Calibir"/>
              </a:rPr>
              <a:t>        );</a:t>
            </a:r>
          </a:p>
          <a:p>
            <a:r>
              <a:rPr lang="en-US" sz="1000" dirty="0">
                <a:highlight>
                  <a:srgbClr val="FFFF00"/>
                </a:highlight>
                <a:latin typeface="Calibir"/>
              </a:rPr>
              <a:t>    }</a:t>
            </a:r>
          </a:p>
          <a:p>
            <a:r>
              <a:rPr lang="en-US" sz="1000" dirty="0">
                <a:highlight>
                  <a:srgbClr val="FFFF00"/>
                </a:highlight>
                <a:latin typeface="Calibir"/>
              </a:rPr>
              <a:t>}</a:t>
            </a:r>
          </a:p>
          <a:p>
            <a:r>
              <a:rPr lang="en-US" sz="1000" b="1" dirty="0">
                <a:highlight>
                  <a:srgbClr val="FFFF00"/>
                </a:highlight>
                <a:latin typeface="Calibir"/>
              </a:rPr>
              <a:t>CashRegister.java</a:t>
            </a:r>
          </a:p>
          <a:p>
            <a:r>
              <a:rPr lang="en-US" sz="1000" dirty="0">
                <a:highlight>
                  <a:srgbClr val="FFFF00"/>
                </a:highlight>
                <a:latin typeface="Calibir"/>
              </a:rPr>
              <a:t>public class </a:t>
            </a:r>
            <a:r>
              <a:rPr lang="en-US" sz="1000" dirty="0" err="1">
                <a:highlight>
                  <a:srgbClr val="FFFF00"/>
                </a:highlight>
                <a:latin typeface="Calibir"/>
              </a:rPr>
              <a:t>CashRegister</a:t>
            </a:r>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private double cash;</a:t>
            </a:r>
          </a:p>
          <a:p>
            <a:endParaRPr lang="en-US" sz="1000" dirty="0">
              <a:highlight>
                <a:srgbClr val="FFFF00"/>
              </a:highlight>
              <a:latin typeface="Calibir"/>
            </a:endParaRPr>
          </a:p>
          <a:p>
            <a:r>
              <a:rPr lang="en-US" sz="1000" dirty="0">
                <a:highlight>
                  <a:srgbClr val="FFFF00"/>
                </a:highlight>
                <a:latin typeface="Calibir"/>
              </a:rPr>
              <a:t>    public </a:t>
            </a:r>
            <a:r>
              <a:rPr lang="en-US" sz="1000" dirty="0" err="1">
                <a:highlight>
                  <a:srgbClr val="FFFF00"/>
                </a:highlight>
                <a:latin typeface="Calibir"/>
              </a:rPr>
              <a:t>CashRegister</a:t>
            </a:r>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cash = 0.0;</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public void gain(</a:t>
            </a:r>
          </a:p>
          <a:p>
            <a:r>
              <a:rPr lang="en-US" sz="1000" dirty="0">
                <a:highlight>
                  <a:srgbClr val="FFFF00"/>
                </a:highlight>
                <a:latin typeface="Calibir"/>
              </a:rPr>
              <a:t>            double amount) {</a:t>
            </a:r>
          </a:p>
          <a:p>
            <a:endParaRPr lang="en-US" sz="1000" dirty="0">
              <a:highlight>
                <a:srgbClr val="FFFF00"/>
              </a:highlight>
              <a:latin typeface="Calibir"/>
            </a:endParaRPr>
          </a:p>
          <a:p>
            <a:r>
              <a:rPr lang="en-US" sz="1000" dirty="0">
                <a:highlight>
                  <a:srgbClr val="FFFF00"/>
                </a:highlight>
                <a:latin typeface="Calibir"/>
              </a:rPr>
              <a:t>        cash += amount;</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public void pay(</a:t>
            </a:r>
          </a:p>
          <a:p>
            <a:r>
              <a:rPr lang="en-US" sz="1000" dirty="0">
                <a:highlight>
                  <a:srgbClr val="FFFF00"/>
                </a:highlight>
                <a:latin typeface="Calibir"/>
              </a:rPr>
              <a:t>            double amount) {</a:t>
            </a:r>
          </a:p>
          <a:p>
            <a:endParaRPr lang="en-US" sz="1000" dirty="0">
              <a:highlight>
                <a:srgbClr val="FFFF00"/>
              </a:highlight>
              <a:latin typeface="Calibir"/>
            </a:endParaRPr>
          </a:p>
          <a:p>
            <a:r>
              <a:rPr lang="en-US" sz="1000" dirty="0">
                <a:highlight>
                  <a:srgbClr val="FFFF00"/>
                </a:highlight>
                <a:latin typeface="Calibir"/>
              </a:rPr>
              <a:t>        cash -= amount;</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public </a:t>
            </a:r>
            <a:r>
              <a:rPr lang="en-US" sz="1000" dirty="0" err="1">
                <a:highlight>
                  <a:srgbClr val="FFFF00"/>
                </a:highlight>
                <a:latin typeface="Calibir"/>
              </a:rPr>
              <a:t>boolean</a:t>
            </a:r>
            <a:r>
              <a:rPr lang="en-US" sz="1000" dirty="0">
                <a:highlight>
                  <a:srgbClr val="FFFF00"/>
                </a:highlight>
                <a:latin typeface="Calibir"/>
              </a:rPr>
              <a:t> </a:t>
            </a:r>
            <a:r>
              <a:rPr lang="en-US" sz="1000" dirty="0" err="1">
                <a:highlight>
                  <a:srgbClr val="FFFF00"/>
                </a:highlight>
                <a:latin typeface="Calibir"/>
              </a:rPr>
              <a:t>isEmpty</a:t>
            </a:r>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return cash == 0;</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public </a:t>
            </a:r>
            <a:r>
              <a:rPr lang="en-US" sz="1000" dirty="0" err="1">
                <a:highlight>
                  <a:srgbClr val="FFFF00"/>
                </a:highlight>
                <a:latin typeface="Calibir"/>
              </a:rPr>
              <a:t>boolean</a:t>
            </a:r>
            <a:r>
              <a:rPr lang="en-US" sz="1000" dirty="0">
                <a:highlight>
                  <a:srgbClr val="FFFF00"/>
                </a:highlight>
                <a:latin typeface="Calibir"/>
              </a:rPr>
              <a:t> has(</a:t>
            </a:r>
          </a:p>
          <a:p>
            <a:r>
              <a:rPr lang="en-US" sz="1000" dirty="0">
                <a:highlight>
                  <a:srgbClr val="FFFF00"/>
                </a:highlight>
                <a:latin typeface="Calibir"/>
              </a:rPr>
              <a:t>            double amount) {</a:t>
            </a:r>
          </a:p>
          <a:p>
            <a:endParaRPr lang="en-US" sz="1000" dirty="0">
              <a:highlight>
                <a:srgbClr val="FFFF00"/>
              </a:highlight>
              <a:latin typeface="Calibir"/>
            </a:endParaRPr>
          </a:p>
          <a:p>
            <a:r>
              <a:rPr lang="en-US" sz="1000" dirty="0">
                <a:highlight>
                  <a:srgbClr val="FFFF00"/>
                </a:highlight>
                <a:latin typeface="Calibir"/>
              </a:rPr>
              <a:t>        return cash &gt;= amount;</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@Override</a:t>
            </a:r>
          </a:p>
          <a:p>
            <a:r>
              <a:rPr lang="en-US" sz="1000" dirty="0">
                <a:highlight>
                  <a:srgbClr val="FFFF00"/>
                </a:highlight>
                <a:latin typeface="Calibir"/>
              </a:rPr>
              <a:t>    public String </a:t>
            </a:r>
            <a:r>
              <a:rPr lang="en-US" sz="1000" dirty="0" err="1">
                <a:highlight>
                  <a:srgbClr val="FFFF00"/>
                </a:highlight>
                <a:latin typeface="Calibir"/>
              </a:rPr>
              <a:t>toString</a:t>
            </a:r>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if (</a:t>
            </a:r>
            <a:r>
              <a:rPr lang="en-US" sz="1000" dirty="0" err="1">
                <a:highlight>
                  <a:srgbClr val="FFFF00"/>
                </a:highlight>
                <a:latin typeface="Calibir"/>
              </a:rPr>
              <a:t>isEmpty</a:t>
            </a:r>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return (</a:t>
            </a:r>
          </a:p>
          <a:p>
            <a:r>
              <a:rPr lang="en-US" sz="1000" dirty="0">
                <a:highlight>
                  <a:srgbClr val="FFFF00"/>
                </a:highlight>
                <a:latin typeface="Calibir"/>
              </a:rPr>
              <a:t>                "Cash register is empty"</a:t>
            </a:r>
          </a:p>
          <a:p>
            <a:r>
              <a:rPr lang="en-US" sz="1000" dirty="0">
                <a:highlight>
                  <a:srgbClr val="FFFF00"/>
                </a:highlight>
                <a:latin typeface="Calibir"/>
              </a:rPr>
              <a:t>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return </a:t>
            </a:r>
            <a:r>
              <a:rPr lang="en-US" sz="1000" dirty="0" err="1">
                <a:highlight>
                  <a:srgbClr val="FFFF00"/>
                </a:highlight>
                <a:latin typeface="Calibir"/>
              </a:rPr>
              <a:t>String.format</a:t>
            </a:r>
            <a:r>
              <a:rPr lang="en-US" sz="1000" dirty="0">
                <a:highlight>
                  <a:srgbClr val="FFFF00"/>
                </a:highlight>
                <a:latin typeface="Calibir"/>
              </a:rPr>
              <a:t>(</a:t>
            </a:r>
          </a:p>
          <a:p>
            <a:r>
              <a:rPr lang="en-US" sz="1000" dirty="0">
                <a:highlight>
                  <a:srgbClr val="FFFF00"/>
                </a:highlight>
                <a:latin typeface="Calibir"/>
              </a:rPr>
              <a:t>            "Cash level: $%.2f",</a:t>
            </a:r>
          </a:p>
          <a:p>
            <a:r>
              <a:rPr lang="en-US" sz="1000" dirty="0">
                <a:highlight>
                  <a:srgbClr val="FFFF00"/>
                </a:highlight>
                <a:latin typeface="Calibir"/>
              </a:rPr>
              <a:t>            cash</a:t>
            </a:r>
          </a:p>
          <a:p>
            <a:r>
              <a:rPr lang="en-US" sz="1000" dirty="0">
                <a:highlight>
                  <a:srgbClr val="FFFF00"/>
                </a:highlight>
                <a:latin typeface="Calibir"/>
              </a:rPr>
              <a:t>        );</a:t>
            </a:r>
          </a:p>
          <a:p>
            <a:r>
              <a:rPr lang="en-US" sz="1000" dirty="0">
                <a:highlight>
                  <a:srgbClr val="FFFF00"/>
                </a:highlight>
                <a:latin typeface="Calibir"/>
              </a:rPr>
              <a:t>    }</a:t>
            </a:r>
          </a:p>
          <a:p>
            <a:r>
              <a:rPr lang="en-US" sz="1000" dirty="0">
                <a:highlight>
                  <a:srgbClr val="FFFF00"/>
                </a:highlight>
                <a:latin typeface="Calibir"/>
              </a:rPr>
              <a:t>}</a:t>
            </a:r>
          </a:p>
          <a:p>
            <a:r>
              <a:rPr lang="en-US" sz="1000" b="1" dirty="0">
                <a:highlight>
                  <a:srgbClr val="FFFF00"/>
                </a:highlight>
                <a:latin typeface="Calibir"/>
              </a:rPr>
              <a:t>Shop.java</a:t>
            </a:r>
          </a:p>
          <a:p>
            <a:r>
              <a:rPr lang="en-US" sz="1000" dirty="0">
                <a:highlight>
                  <a:srgbClr val="FFFF00"/>
                </a:highlight>
                <a:latin typeface="Calibir"/>
              </a:rPr>
              <a:t>import </a:t>
            </a:r>
            <a:r>
              <a:rPr lang="en-US" sz="1000" dirty="0" err="1">
                <a:highlight>
                  <a:srgbClr val="FFFF00"/>
                </a:highlight>
                <a:latin typeface="Calibir"/>
              </a:rPr>
              <a:t>java.util.Scanner</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public class Shop {</a:t>
            </a:r>
          </a:p>
          <a:p>
            <a:endParaRPr lang="en-US" sz="1000" dirty="0">
              <a:highlight>
                <a:srgbClr val="FFFF00"/>
              </a:highlight>
              <a:latin typeface="Calibir"/>
            </a:endParaRPr>
          </a:p>
          <a:p>
            <a:r>
              <a:rPr lang="en-US" sz="1000" dirty="0">
                <a:highlight>
                  <a:srgbClr val="FFFF00"/>
                </a:highlight>
                <a:latin typeface="Calibir"/>
              </a:rPr>
              <a:t>    private Product </a:t>
            </a:r>
            <a:r>
              <a:rPr lang="en-US" sz="1000" dirty="0" err="1">
                <a:highlight>
                  <a:srgbClr val="FFFF00"/>
                </a:highlight>
                <a:latin typeface="Calibir"/>
              </a:rPr>
              <a:t>product</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private </a:t>
            </a:r>
            <a:r>
              <a:rPr lang="en-US" sz="1000" dirty="0" err="1">
                <a:highlight>
                  <a:srgbClr val="FFFF00"/>
                </a:highlight>
                <a:latin typeface="Calibir"/>
              </a:rPr>
              <a:t>CashRegister</a:t>
            </a:r>
            <a:r>
              <a:rPr lang="en-US" sz="1000" dirty="0">
                <a:highlight>
                  <a:srgbClr val="FFFF00"/>
                </a:highlight>
                <a:latin typeface="Calibir"/>
              </a:rPr>
              <a:t> </a:t>
            </a:r>
            <a:r>
              <a:rPr lang="en-US" sz="1000" dirty="0" err="1">
                <a:highlight>
                  <a:srgbClr val="FFFF00"/>
                </a:highlight>
                <a:latin typeface="Calibir"/>
              </a:rPr>
              <a:t>cashRegister</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public Shop(</a:t>
            </a:r>
          </a:p>
          <a:p>
            <a:r>
              <a:rPr lang="en-US" sz="1000" dirty="0">
                <a:highlight>
                  <a:srgbClr val="FFFF00"/>
                </a:highlight>
                <a:latin typeface="Calibir"/>
              </a:rPr>
              <a:t>            String type,</a:t>
            </a:r>
          </a:p>
          <a:p>
            <a:r>
              <a:rPr lang="en-US" sz="1000" dirty="0">
                <a:highlight>
                  <a:srgbClr val="FFFF00"/>
                </a:highlight>
                <a:latin typeface="Calibir"/>
              </a:rPr>
              <a:t>            double price,</a:t>
            </a:r>
          </a:p>
          <a:p>
            <a:r>
              <a:rPr lang="en-US" sz="1000" dirty="0">
                <a:highlight>
                  <a:srgbClr val="FFFF00"/>
                </a:highlight>
                <a:latin typeface="Calibir"/>
              </a:rPr>
              <a:t>            int stock) {</a:t>
            </a:r>
          </a:p>
          <a:p>
            <a:endParaRPr lang="en-US" sz="1000" dirty="0">
              <a:highlight>
                <a:srgbClr val="FFFF00"/>
              </a:highlight>
              <a:latin typeface="Calibir"/>
            </a:endParaRPr>
          </a:p>
          <a:p>
            <a:r>
              <a:rPr lang="en-US" sz="1000" dirty="0">
                <a:highlight>
                  <a:srgbClr val="FFFF00"/>
                </a:highlight>
                <a:latin typeface="Calibir"/>
              </a:rPr>
              <a:t>        product =</a:t>
            </a:r>
          </a:p>
          <a:p>
            <a:r>
              <a:rPr lang="en-US" sz="1000" dirty="0">
                <a:highlight>
                  <a:srgbClr val="FFFF00"/>
                </a:highlight>
                <a:latin typeface="Calibir"/>
              </a:rPr>
              <a:t>                new Product(</a:t>
            </a:r>
          </a:p>
          <a:p>
            <a:r>
              <a:rPr lang="en-US" sz="1000" dirty="0">
                <a:highlight>
                  <a:srgbClr val="FFFF00"/>
                </a:highlight>
                <a:latin typeface="Calibir"/>
              </a:rPr>
              <a:t>                    type,</a:t>
            </a:r>
          </a:p>
          <a:p>
            <a:r>
              <a:rPr lang="en-US" sz="1000" dirty="0">
                <a:highlight>
                  <a:srgbClr val="FFFF00"/>
                </a:highlight>
                <a:latin typeface="Calibir"/>
              </a:rPr>
              <a:t>                    price,</a:t>
            </a:r>
          </a:p>
          <a:p>
            <a:r>
              <a:rPr lang="en-US" sz="1000" dirty="0">
                <a:highlight>
                  <a:srgbClr val="FFFF00"/>
                </a:highlight>
                <a:latin typeface="Calibir"/>
              </a:rPr>
              <a:t>                    stock</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cashRegister</a:t>
            </a:r>
            <a:r>
              <a:rPr lang="en-US" sz="1000" dirty="0">
                <a:highlight>
                  <a:srgbClr val="FFFF00"/>
                </a:highlight>
                <a:latin typeface="Calibir"/>
              </a:rPr>
              <a:t> =</a:t>
            </a:r>
          </a:p>
          <a:p>
            <a:r>
              <a:rPr lang="en-US" sz="1000" dirty="0">
                <a:highlight>
                  <a:srgbClr val="FFFF00"/>
                </a:highlight>
                <a:latin typeface="Calibir"/>
              </a:rPr>
              <a:t>                new </a:t>
            </a:r>
            <a:r>
              <a:rPr lang="en-US" sz="1000" dirty="0" err="1">
                <a:highlight>
                  <a:srgbClr val="FFFF00"/>
                </a:highlight>
                <a:latin typeface="Calibir"/>
              </a:rPr>
              <a:t>CashRegister</a:t>
            </a:r>
            <a:r>
              <a:rPr lang="en-US" sz="1000" dirty="0">
                <a:highlight>
                  <a:srgbClr val="FFFF00"/>
                </a:highlight>
                <a:latin typeface="Calibir"/>
              </a:rPr>
              <a:t>();</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private int </a:t>
            </a:r>
            <a:r>
              <a:rPr lang="en-US" sz="1000" dirty="0" err="1">
                <a:highlight>
                  <a:srgbClr val="FFFF00"/>
                </a:highlight>
                <a:latin typeface="Calibir"/>
              </a:rPr>
              <a:t>readQuantity</a:t>
            </a:r>
            <a:r>
              <a:rPr lang="en-US" sz="1000" dirty="0">
                <a:highlight>
                  <a:srgbClr val="FFFF00"/>
                </a:highlight>
                <a:latin typeface="Calibir"/>
              </a:rPr>
              <a:t>(</a:t>
            </a:r>
          </a:p>
          <a:p>
            <a:r>
              <a:rPr lang="en-US" sz="1000" dirty="0">
                <a:highlight>
                  <a:srgbClr val="FFFF00"/>
                </a:highlight>
                <a:latin typeface="Calibir"/>
              </a:rPr>
              <a:t>            Scanner input,</a:t>
            </a:r>
          </a:p>
          <a:p>
            <a:r>
              <a:rPr lang="en-US" sz="1000" dirty="0">
                <a:highlight>
                  <a:srgbClr val="FFFF00"/>
                </a:highlight>
                <a:latin typeface="Calibir"/>
              </a:rPr>
              <a:t>            String message)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a:t>
            </a:r>
            <a:r>
              <a:rPr lang="en-US" sz="1000" dirty="0">
                <a:highlight>
                  <a:srgbClr val="FFFF00"/>
                </a:highlight>
                <a:latin typeface="Calibir"/>
              </a:rPr>
              <a:t>(message);</a:t>
            </a:r>
          </a:p>
          <a:p>
            <a:endParaRPr lang="en-US" sz="1000" dirty="0">
              <a:highlight>
                <a:srgbClr val="FFFF00"/>
              </a:highlight>
              <a:latin typeface="Calibir"/>
            </a:endParaRPr>
          </a:p>
          <a:p>
            <a:r>
              <a:rPr lang="en-US" sz="1000" dirty="0">
                <a:highlight>
                  <a:srgbClr val="FFFF00"/>
                </a:highlight>
                <a:latin typeface="Calibir"/>
              </a:rPr>
              <a:t>        return </a:t>
            </a:r>
            <a:r>
              <a:rPr lang="en-US" sz="1000" dirty="0" err="1">
                <a:highlight>
                  <a:srgbClr val="FFFF00"/>
                </a:highlight>
                <a:latin typeface="Calibir"/>
              </a:rPr>
              <a:t>input.nextInt</a:t>
            </a:r>
            <a:r>
              <a:rPr lang="en-US" sz="1000" dirty="0">
                <a:highlight>
                  <a:srgbClr val="FFFF00"/>
                </a:highlight>
                <a:latin typeface="Calibir"/>
              </a:rPr>
              <a:t>();</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public void sell(</a:t>
            </a:r>
          </a:p>
          <a:p>
            <a:r>
              <a:rPr lang="en-US" sz="1000" dirty="0">
                <a:highlight>
                  <a:srgbClr val="FFFF00"/>
                </a:highlight>
                <a:latin typeface="Calibir"/>
              </a:rPr>
              <a:t>            Scanner input) {</a:t>
            </a:r>
          </a:p>
          <a:p>
            <a:endParaRPr lang="en-US" sz="1000" dirty="0">
              <a:highlight>
                <a:srgbClr val="FFFF00"/>
              </a:highlight>
              <a:latin typeface="Calibir"/>
            </a:endParaRPr>
          </a:p>
          <a:p>
            <a:r>
              <a:rPr lang="en-US" sz="1000" dirty="0">
                <a:highlight>
                  <a:srgbClr val="FFFF00"/>
                </a:highlight>
                <a:latin typeface="Calibir"/>
              </a:rPr>
              <a:t>        int quantity =</a:t>
            </a:r>
          </a:p>
          <a:p>
            <a:r>
              <a:rPr lang="en-US" sz="1000" dirty="0">
                <a:highlight>
                  <a:srgbClr val="FFFF00"/>
                </a:highlight>
                <a:latin typeface="Calibir"/>
              </a:rPr>
              <a:t>                </a:t>
            </a:r>
            <a:r>
              <a:rPr lang="en-US" sz="1000" dirty="0" err="1">
                <a:highlight>
                  <a:srgbClr val="FFFF00"/>
                </a:highlight>
                <a:latin typeface="Calibir"/>
              </a:rPr>
              <a:t>readQuantity</a:t>
            </a:r>
            <a:r>
              <a:rPr lang="en-US" sz="1000" dirty="0">
                <a:highlight>
                  <a:srgbClr val="FFFF00"/>
                </a:highlight>
                <a:latin typeface="Calibir"/>
              </a:rPr>
              <a:t>(</a:t>
            </a:r>
          </a:p>
          <a:p>
            <a:r>
              <a:rPr lang="en-US" sz="1000" dirty="0">
                <a:highlight>
                  <a:srgbClr val="FFFF00"/>
                </a:highlight>
                <a:latin typeface="Calibir"/>
              </a:rPr>
              <a:t>                    input,</a:t>
            </a:r>
          </a:p>
          <a:p>
            <a:r>
              <a:rPr lang="en-US" sz="1000" dirty="0">
                <a:highlight>
                  <a:srgbClr val="FFFF00"/>
                </a:highlight>
                <a:latin typeface="Calibir"/>
              </a:rPr>
              <a:t>                    "Quantity to sell: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if (!</a:t>
            </a:r>
            <a:r>
              <a:rPr lang="en-US" sz="1000" dirty="0" err="1">
                <a:highlight>
                  <a:srgbClr val="FFFF00"/>
                </a:highlight>
                <a:latin typeface="Calibir"/>
              </a:rPr>
              <a:t>product.has</a:t>
            </a:r>
            <a:r>
              <a:rPr lang="en-US" sz="1000" dirty="0">
                <a:highlight>
                  <a:srgbClr val="FFFF00"/>
                </a:highlight>
                <a:latin typeface="Calibir"/>
              </a:rPr>
              <a:t>(quantity))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"Not enough stock!"</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return;</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double earned =</a:t>
            </a:r>
          </a:p>
          <a:p>
            <a:r>
              <a:rPr lang="en-US" sz="1000" dirty="0">
                <a:highlight>
                  <a:srgbClr val="FFFF00"/>
                </a:highlight>
                <a:latin typeface="Calibir"/>
              </a:rPr>
              <a:t>                </a:t>
            </a:r>
            <a:r>
              <a:rPr lang="en-US" sz="1000" dirty="0" err="1">
                <a:highlight>
                  <a:srgbClr val="FFFF00"/>
                </a:highlight>
                <a:latin typeface="Calibir"/>
              </a:rPr>
              <a:t>product.sold</a:t>
            </a:r>
            <a:r>
              <a:rPr lang="en-US" sz="1000" dirty="0">
                <a:highlight>
                  <a:srgbClr val="FFFF00"/>
                </a:highlight>
                <a:latin typeface="Calibir"/>
              </a:rPr>
              <a:t>(</a:t>
            </a:r>
          </a:p>
          <a:p>
            <a:r>
              <a:rPr lang="en-US" sz="1000" dirty="0">
                <a:highlight>
                  <a:srgbClr val="FFFF00"/>
                </a:highlight>
                <a:latin typeface="Calibir"/>
              </a:rPr>
              <a:t>                    quantity</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cashRegister.gain</a:t>
            </a:r>
            <a:r>
              <a:rPr lang="en-US" sz="1000" dirty="0">
                <a:highlight>
                  <a:srgbClr val="FFFF00"/>
                </a:highlight>
                <a:latin typeface="Calibir"/>
              </a:rPr>
              <a:t>(</a:t>
            </a:r>
          </a:p>
          <a:p>
            <a:r>
              <a:rPr lang="en-US" sz="1000" dirty="0">
                <a:highlight>
                  <a:srgbClr val="FFFF00"/>
                </a:highlight>
                <a:latin typeface="Calibir"/>
              </a:rPr>
              <a:t>            earned</a:t>
            </a:r>
          </a:p>
          <a:p>
            <a:r>
              <a:rPr lang="en-US" sz="1000" dirty="0">
                <a:highlight>
                  <a:srgbClr val="FFFF00"/>
                </a:highlight>
                <a:latin typeface="Calibir"/>
              </a:rPr>
              <a:t>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public void restock(</a:t>
            </a:r>
          </a:p>
          <a:p>
            <a:r>
              <a:rPr lang="en-US" sz="1000" dirty="0">
                <a:highlight>
                  <a:srgbClr val="FFFF00"/>
                </a:highlight>
                <a:latin typeface="Calibir"/>
              </a:rPr>
              <a:t>            Scanner input) {</a:t>
            </a:r>
          </a:p>
          <a:p>
            <a:endParaRPr lang="en-US" sz="1000" dirty="0">
              <a:highlight>
                <a:srgbClr val="FFFF00"/>
              </a:highlight>
              <a:latin typeface="Calibir"/>
            </a:endParaRPr>
          </a:p>
          <a:p>
            <a:r>
              <a:rPr lang="en-US" sz="1000" dirty="0">
                <a:highlight>
                  <a:srgbClr val="FFFF00"/>
                </a:highlight>
                <a:latin typeface="Calibir"/>
              </a:rPr>
              <a:t>        int quantity =</a:t>
            </a:r>
          </a:p>
          <a:p>
            <a:r>
              <a:rPr lang="en-US" sz="1000" dirty="0">
                <a:highlight>
                  <a:srgbClr val="FFFF00"/>
                </a:highlight>
                <a:latin typeface="Calibir"/>
              </a:rPr>
              <a:t>                </a:t>
            </a:r>
            <a:r>
              <a:rPr lang="en-US" sz="1000" dirty="0" err="1">
                <a:highlight>
                  <a:srgbClr val="FFFF00"/>
                </a:highlight>
                <a:latin typeface="Calibir"/>
              </a:rPr>
              <a:t>readQuantity</a:t>
            </a:r>
            <a:r>
              <a:rPr lang="en-US" sz="1000" dirty="0">
                <a:highlight>
                  <a:srgbClr val="FFFF00"/>
                </a:highlight>
                <a:latin typeface="Calibir"/>
              </a:rPr>
              <a:t>(</a:t>
            </a:r>
          </a:p>
          <a:p>
            <a:r>
              <a:rPr lang="en-US" sz="1000" dirty="0">
                <a:highlight>
                  <a:srgbClr val="FFFF00"/>
                </a:highlight>
                <a:latin typeface="Calibir"/>
              </a:rPr>
              <a:t>                    input,</a:t>
            </a:r>
          </a:p>
          <a:p>
            <a:r>
              <a:rPr lang="en-US" sz="1000" dirty="0">
                <a:highlight>
                  <a:srgbClr val="FFFF00"/>
                </a:highlight>
                <a:latin typeface="Calibir"/>
              </a:rPr>
              <a:t>                    "Quantity to restock: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double cost =</a:t>
            </a:r>
          </a:p>
          <a:p>
            <a:r>
              <a:rPr lang="en-US" sz="1000" dirty="0">
                <a:highlight>
                  <a:srgbClr val="FFFF00"/>
                </a:highlight>
                <a:latin typeface="Calibir"/>
              </a:rPr>
              <a:t>                </a:t>
            </a:r>
            <a:r>
              <a:rPr lang="en-US" sz="1000" dirty="0" err="1">
                <a:highlight>
                  <a:srgbClr val="FFFF00"/>
                </a:highlight>
                <a:latin typeface="Calibir"/>
              </a:rPr>
              <a:t>product.cash</a:t>
            </a:r>
            <a:r>
              <a:rPr lang="en-US" sz="1000" dirty="0">
                <a:highlight>
                  <a:srgbClr val="FFFF00"/>
                </a:highlight>
                <a:latin typeface="Calibir"/>
              </a:rPr>
              <a:t>(</a:t>
            </a:r>
          </a:p>
          <a:p>
            <a:r>
              <a:rPr lang="en-US" sz="1000" dirty="0">
                <a:highlight>
                  <a:srgbClr val="FFFF00"/>
                </a:highlight>
                <a:latin typeface="Calibir"/>
              </a:rPr>
              <a:t>                    quantity</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if (!</a:t>
            </a:r>
            <a:r>
              <a:rPr lang="en-US" sz="1000" dirty="0" err="1">
                <a:highlight>
                  <a:srgbClr val="FFFF00"/>
                </a:highlight>
                <a:latin typeface="Calibir"/>
              </a:rPr>
              <a:t>cashRegister.has</a:t>
            </a:r>
            <a:r>
              <a:rPr lang="en-US" sz="1000" dirty="0">
                <a:highlight>
                  <a:srgbClr val="FFFF00"/>
                </a:highlight>
                <a:latin typeface="Calibir"/>
              </a:rPr>
              <a:t>(cost))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"Not enough funds!"</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return;</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cashRegister.pay</a:t>
            </a:r>
            <a:r>
              <a:rPr lang="en-US" sz="1000" dirty="0">
                <a:highlight>
                  <a:srgbClr val="FFFF00"/>
                </a:highlight>
                <a:latin typeface="Calibir"/>
              </a:rPr>
              <a:t>(</a:t>
            </a:r>
          </a:p>
          <a:p>
            <a:r>
              <a:rPr lang="en-US" sz="1000" dirty="0">
                <a:highlight>
                  <a:srgbClr val="FFFF00"/>
                </a:highlight>
                <a:latin typeface="Calibir"/>
              </a:rPr>
              <a:t>            cost</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product.stocked</a:t>
            </a:r>
            <a:r>
              <a:rPr lang="en-US" sz="1000" dirty="0">
                <a:highlight>
                  <a:srgbClr val="FFFF00"/>
                </a:highlight>
                <a:latin typeface="Calibir"/>
              </a:rPr>
              <a:t>(</a:t>
            </a:r>
          </a:p>
          <a:p>
            <a:r>
              <a:rPr lang="en-US" sz="1000" dirty="0">
                <a:highlight>
                  <a:srgbClr val="FFFF00"/>
                </a:highlight>
                <a:latin typeface="Calibir"/>
              </a:rPr>
              <a:t>            quantity</a:t>
            </a:r>
          </a:p>
          <a:p>
            <a:r>
              <a:rPr lang="en-US" sz="1000" dirty="0">
                <a:highlight>
                  <a:srgbClr val="FFFF00"/>
                </a:highlight>
                <a:latin typeface="Calibir"/>
              </a:rPr>
              <a:t>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public void view()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product</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a:t>
            </a:r>
            <a:r>
              <a:rPr lang="en-US" sz="1000" dirty="0" err="1">
                <a:highlight>
                  <a:srgbClr val="FFFF00"/>
                </a:highlight>
                <a:latin typeface="Calibir"/>
              </a:rPr>
              <a:t>cashRegister</a:t>
            </a:r>
            <a:endParaRPr lang="en-US" sz="1000" dirty="0">
              <a:highlight>
                <a:srgbClr val="FFFF00"/>
              </a:highlight>
              <a:latin typeface="Calibir"/>
            </a:endParaRPr>
          </a:p>
          <a:p>
            <a:r>
              <a:rPr lang="en-US" sz="1000" dirty="0">
                <a:highlight>
                  <a:srgbClr val="FFFF00"/>
                </a:highlight>
                <a:latin typeface="Calibir"/>
              </a:rPr>
              <a:t>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public void help()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"Shop menu"</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"S = sell"</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"R = restock"</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"V = view"</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"X = exit"</a:t>
            </a:r>
          </a:p>
          <a:p>
            <a:r>
              <a:rPr lang="en-US" sz="1000" dirty="0">
                <a:highlight>
                  <a:srgbClr val="FFFF00"/>
                </a:highlight>
                <a:latin typeface="Calibir"/>
              </a:rPr>
              <a:t>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public void menu(</a:t>
            </a:r>
          </a:p>
          <a:p>
            <a:r>
              <a:rPr lang="en-US" sz="1000" dirty="0">
                <a:highlight>
                  <a:srgbClr val="FFFF00"/>
                </a:highlight>
                <a:latin typeface="Calibir"/>
              </a:rPr>
              <a:t>            Scanner input) {</a:t>
            </a:r>
          </a:p>
          <a:p>
            <a:endParaRPr lang="en-US" sz="1000" dirty="0">
              <a:highlight>
                <a:srgbClr val="FFFF00"/>
              </a:highlight>
              <a:latin typeface="Calibir"/>
            </a:endParaRPr>
          </a:p>
          <a:p>
            <a:r>
              <a:rPr lang="en-US" sz="1000" dirty="0">
                <a:highlight>
                  <a:srgbClr val="FFFF00"/>
                </a:highlight>
                <a:latin typeface="Calibir"/>
              </a:rPr>
              <a:t>        while (true)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a:t>
            </a:r>
            <a:r>
              <a:rPr lang="en-US" sz="1000" dirty="0">
                <a:highlight>
                  <a:srgbClr val="FFFF00"/>
                </a:highlight>
                <a:latin typeface="Calibir"/>
              </a:rPr>
              <a:t>(</a:t>
            </a:r>
          </a:p>
          <a:p>
            <a:r>
              <a:rPr lang="en-US" sz="1000" dirty="0">
                <a:highlight>
                  <a:srgbClr val="FFFF00"/>
                </a:highlight>
                <a:latin typeface="Calibir"/>
              </a:rPr>
              <a:t>                "Shop menu "</a:t>
            </a:r>
          </a:p>
          <a:p>
            <a:r>
              <a:rPr lang="en-US" sz="1000" dirty="0">
                <a:highlight>
                  <a:srgbClr val="FFFF00"/>
                </a:highlight>
                <a:latin typeface="Calibir"/>
              </a:rPr>
              <a:t>                + "(S/R/V/X):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String choice =</a:t>
            </a:r>
          </a:p>
          <a:p>
            <a:r>
              <a:rPr lang="en-US" sz="1000" dirty="0">
                <a:highlight>
                  <a:srgbClr val="FFFF00"/>
                </a:highlight>
                <a:latin typeface="Calibir"/>
              </a:rPr>
              <a:t>                    </a:t>
            </a:r>
            <a:r>
              <a:rPr lang="en-US" sz="1000" dirty="0" err="1">
                <a:highlight>
                  <a:srgbClr val="FFFF00"/>
                </a:highlight>
                <a:latin typeface="Calibir"/>
              </a:rPr>
              <a:t>input.nextLine</a:t>
            </a:r>
            <a:r>
              <a:rPr lang="en-US" sz="1000" dirty="0">
                <a:highlight>
                  <a:srgbClr val="FFFF00"/>
                </a:highlight>
                <a:latin typeface="Calibir"/>
              </a:rPr>
              <a:t>()</a:t>
            </a:r>
          </a:p>
          <a:p>
            <a:r>
              <a:rPr lang="en-US" sz="1000" dirty="0">
                <a:highlight>
                  <a:srgbClr val="FFFF00"/>
                </a:highlight>
                <a:latin typeface="Calibir"/>
              </a:rPr>
              <a:t>                         .</a:t>
            </a:r>
            <a:r>
              <a:rPr lang="en-US" sz="1000" dirty="0" err="1">
                <a:highlight>
                  <a:srgbClr val="FFFF00"/>
                </a:highlight>
                <a:latin typeface="Calibir"/>
              </a:rPr>
              <a:t>toUpperCase</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switch (choice) {</a:t>
            </a:r>
          </a:p>
          <a:p>
            <a:endParaRPr lang="en-US" sz="1000" dirty="0">
              <a:highlight>
                <a:srgbClr val="FFFF00"/>
              </a:highlight>
              <a:latin typeface="Calibir"/>
            </a:endParaRPr>
          </a:p>
          <a:p>
            <a:r>
              <a:rPr lang="en-US" sz="1000" dirty="0">
                <a:highlight>
                  <a:srgbClr val="FFFF00"/>
                </a:highlight>
                <a:latin typeface="Calibir"/>
              </a:rPr>
              <a:t>                case "S":</a:t>
            </a:r>
          </a:p>
          <a:p>
            <a:endParaRPr lang="en-US" sz="1000" dirty="0">
              <a:highlight>
                <a:srgbClr val="FFFF00"/>
              </a:highlight>
              <a:latin typeface="Calibir"/>
            </a:endParaRPr>
          </a:p>
          <a:p>
            <a:r>
              <a:rPr lang="en-US" sz="1000" dirty="0">
                <a:highlight>
                  <a:srgbClr val="FFFF00"/>
                </a:highlight>
                <a:latin typeface="Calibir"/>
              </a:rPr>
              <a:t>                    sell(input);</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input.nextLine</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break;</a:t>
            </a:r>
          </a:p>
          <a:p>
            <a:endParaRPr lang="en-US" sz="1000" dirty="0">
              <a:highlight>
                <a:srgbClr val="FFFF00"/>
              </a:highlight>
              <a:latin typeface="Calibir"/>
            </a:endParaRPr>
          </a:p>
          <a:p>
            <a:r>
              <a:rPr lang="en-US" sz="1000" dirty="0">
                <a:highlight>
                  <a:srgbClr val="FFFF00"/>
                </a:highlight>
                <a:latin typeface="Calibir"/>
              </a:rPr>
              <a:t>                case "R":</a:t>
            </a:r>
          </a:p>
          <a:p>
            <a:endParaRPr lang="en-US" sz="1000" dirty="0">
              <a:highlight>
                <a:srgbClr val="FFFF00"/>
              </a:highlight>
              <a:latin typeface="Calibir"/>
            </a:endParaRPr>
          </a:p>
          <a:p>
            <a:r>
              <a:rPr lang="en-US" sz="1000" dirty="0">
                <a:highlight>
                  <a:srgbClr val="FFFF00"/>
                </a:highlight>
                <a:latin typeface="Calibir"/>
              </a:rPr>
              <a:t>                    restock(input);</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input.nextLine</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break;</a:t>
            </a:r>
          </a:p>
          <a:p>
            <a:endParaRPr lang="en-US" sz="1000" dirty="0">
              <a:highlight>
                <a:srgbClr val="FFFF00"/>
              </a:highlight>
              <a:latin typeface="Calibir"/>
            </a:endParaRPr>
          </a:p>
          <a:p>
            <a:r>
              <a:rPr lang="en-US" sz="1000" dirty="0">
                <a:highlight>
                  <a:srgbClr val="FFFF00"/>
                </a:highlight>
                <a:latin typeface="Calibir"/>
              </a:rPr>
              <a:t>                case "V":</a:t>
            </a:r>
          </a:p>
          <a:p>
            <a:endParaRPr lang="en-US" sz="1000" dirty="0">
              <a:highlight>
                <a:srgbClr val="FFFF00"/>
              </a:highlight>
              <a:latin typeface="Calibir"/>
            </a:endParaRPr>
          </a:p>
          <a:p>
            <a:r>
              <a:rPr lang="en-US" sz="1000" dirty="0">
                <a:highlight>
                  <a:srgbClr val="FFFF00"/>
                </a:highlight>
                <a:latin typeface="Calibir"/>
              </a:rPr>
              <a:t>                    view();</a:t>
            </a:r>
          </a:p>
          <a:p>
            <a:endParaRPr lang="en-US" sz="1000" dirty="0">
              <a:highlight>
                <a:srgbClr val="FFFF00"/>
              </a:highlight>
              <a:latin typeface="Calibir"/>
            </a:endParaRPr>
          </a:p>
          <a:p>
            <a:r>
              <a:rPr lang="en-US" sz="1000" dirty="0">
                <a:highlight>
                  <a:srgbClr val="FFFF00"/>
                </a:highlight>
                <a:latin typeface="Calibir"/>
              </a:rPr>
              <a:t>                    break;</a:t>
            </a:r>
          </a:p>
          <a:p>
            <a:endParaRPr lang="en-US" sz="1000" dirty="0">
              <a:highlight>
                <a:srgbClr val="FFFF00"/>
              </a:highlight>
              <a:latin typeface="Calibir"/>
            </a:endParaRPr>
          </a:p>
          <a:p>
            <a:r>
              <a:rPr lang="en-US" sz="1000" dirty="0">
                <a:highlight>
                  <a:srgbClr val="FFFF00"/>
                </a:highlight>
                <a:latin typeface="Calibir"/>
              </a:rPr>
              <a:t>                case "X":</a:t>
            </a:r>
          </a:p>
          <a:p>
            <a:endParaRPr lang="en-US" sz="1000" dirty="0">
              <a:highlight>
                <a:srgbClr val="FFFF00"/>
              </a:highlight>
              <a:latin typeface="Calibir"/>
            </a:endParaRPr>
          </a:p>
          <a:p>
            <a:r>
              <a:rPr lang="en-US" sz="1000" dirty="0">
                <a:highlight>
                  <a:srgbClr val="FFFF00"/>
                </a:highlight>
                <a:latin typeface="Calibir"/>
              </a:rPr>
              <a:t>                    return;</a:t>
            </a:r>
          </a:p>
          <a:p>
            <a:endParaRPr lang="en-US" sz="1000" dirty="0">
              <a:highlight>
                <a:srgbClr val="FFFF00"/>
              </a:highlight>
              <a:latin typeface="Calibir"/>
            </a:endParaRPr>
          </a:p>
          <a:p>
            <a:r>
              <a:rPr lang="en-US" sz="1000" dirty="0">
                <a:highlight>
                  <a:srgbClr val="FFFF00"/>
                </a:highlight>
                <a:latin typeface="Calibir"/>
              </a:rPr>
              <a:t>                default:</a:t>
            </a:r>
          </a:p>
          <a:p>
            <a:endParaRPr lang="en-US" sz="1000" dirty="0">
              <a:highlight>
                <a:srgbClr val="FFFF00"/>
              </a:highlight>
              <a:latin typeface="Calibir"/>
            </a:endParaRPr>
          </a:p>
          <a:p>
            <a:r>
              <a:rPr lang="en-US" sz="1000" dirty="0">
                <a:highlight>
                  <a:srgbClr val="FFFF00"/>
                </a:highlight>
                <a:latin typeface="Calibir"/>
              </a:rPr>
              <a:t>                    help();</a:t>
            </a:r>
          </a:p>
          <a:p>
            <a:r>
              <a:rPr lang="en-US" sz="1000" dirty="0">
                <a:highlight>
                  <a:srgbClr val="FFFF00"/>
                </a:highlight>
                <a:latin typeface="Calibir"/>
              </a:rPr>
              <a:t>            }</a:t>
            </a:r>
          </a:p>
          <a:p>
            <a:r>
              <a:rPr lang="en-US" sz="1000" dirty="0">
                <a:highlight>
                  <a:srgbClr val="FFFF00"/>
                </a:highlight>
                <a:latin typeface="Calibir"/>
              </a:rPr>
              <a:t>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public static void main(</a:t>
            </a:r>
          </a:p>
          <a:p>
            <a:r>
              <a:rPr lang="en-US" sz="1000" dirty="0">
                <a:highlight>
                  <a:srgbClr val="FFFF00"/>
                </a:highlight>
                <a:latin typeface="Calibir"/>
              </a:rPr>
              <a:t>            String[] </a:t>
            </a:r>
            <a:r>
              <a:rPr lang="en-US" sz="1000" dirty="0" err="1">
                <a:highlight>
                  <a:srgbClr val="FFFF00"/>
                </a:highlight>
                <a:latin typeface="Calibir"/>
              </a:rPr>
              <a:t>args</a:t>
            </a:r>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Scanner input =</a:t>
            </a:r>
          </a:p>
          <a:p>
            <a:r>
              <a:rPr lang="en-US" sz="1000" dirty="0">
                <a:highlight>
                  <a:srgbClr val="FFFF00"/>
                </a:highlight>
                <a:latin typeface="Calibir"/>
              </a:rPr>
              <a:t>                new Scanner(System.in);</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a:t>
            </a:r>
            <a:r>
              <a:rPr lang="en-US" sz="1000" dirty="0">
                <a:highlight>
                  <a:srgbClr val="FFFF00"/>
                </a:highlight>
                <a:latin typeface="Calibir"/>
              </a:rPr>
              <a:t>(</a:t>
            </a:r>
          </a:p>
          <a:p>
            <a:r>
              <a:rPr lang="en-US" sz="1000" dirty="0">
                <a:highlight>
                  <a:srgbClr val="FFFF00"/>
                </a:highlight>
                <a:latin typeface="Calibir"/>
              </a:rPr>
              <a:t>            "Product type: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String type =</a:t>
            </a:r>
          </a:p>
          <a:p>
            <a:r>
              <a:rPr lang="en-US" sz="1000" dirty="0">
                <a:highlight>
                  <a:srgbClr val="FFFF00"/>
                </a:highlight>
                <a:latin typeface="Calibir"/>
              </a:rPr>
              <a:t>                </a:t>
            </a:r>
            <a:r>
              <a:rPr lang="en-US" sz="1000" dirty="0" err="1">
                <a:highlight>
                  <a:srgbClr val="FFFF00"/>
                </a:highlight>
                <a:latin typeface="Calibir"/>
              </a:rPr>
              <a:t>input.nextLine</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a:t>
            </a:r>
            <a:r>
              <a:rPr lang="en-US" sz="1000" dirty="0">
                <a:highlight>
                  <a:srgbClr val="FFFF00"/>
                </a:highlight>
                <a:latin typeface="Calibir"/>
              </a:rPr>
              <a:t>(</a:t>
            </a:r>
          </a:p>
          <a:p>
            <a:r>
              <a:rPr lang="en-US" sz="1000" dirty="0">
                <a:highlight>
                  <a:srgbClr val="FFFF00"/>
                </a:highlight>
                <a:latin typeface="Calibir"/>
              </a:rPr>
              <a:t>            "Product price: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double price =</a:t>
            </a:r>
          </a:p>
          <a:p>
            <a:r>
              <a:rPr lang="en-US" sz="1000" dirty="0">
                <a:highlight>
                  <a:srgbClr val="FFFF00"/>
                </a:highlight>
                <a:latin typeface="Calibir"/>
              </a:rPr>
              <a:t>                </a:t>
            </a:r>
            <a:r>
              <a:rPr lang="en-US" sz="1000" dirty="0" err="1">
                <a:highlight>
                  <a:srgbClr val="FFFF00"/>
                </a:highlight>
                <a:latin typeface="Calibir"/>
              </a:rPr>
              <a:t>input.nextDouble</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a:t>
            </a:r>
            <a:r>
              <a:rPr lang="en-US" sz="1000" dirty="0">
                <a:highlight>
                  <a:srgbClr val="FFFF00"/>
                </a:highlight>
                <a:latin typeface="Calibir"/>
              </a:rPr>
              <a:t>(</a:t>
            </a:r>
          </a:p>
          <a:p>
            <a:r>
              <a:rPr lang="en-US" sz="1000" dirty="0">
                <a:highlight>
                  <a:srgbClr val="FFFF00"/>
                </a:highlight>
                <a:latin typeface="Calibir"/>
              </a:rPr>
              <a:t>            "Initial stock: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int stock =</a:t>
            </a:r>
          </a:p>
          <a:p>
            <a:r>
              <a:rPr lang="en-US" sz="1000" dirty="0">
                <a:highlight>
                  <a:srgbClr val="FFFF00"/>
                </a:highlight>
                <a:latin typeface="Calibir"/>
              </a:rPr>
              <a:t>                </a:t>
            </a:r>
            <a:r>
              <a:rPr lang="en-US" sz="1000" dirty="0" err="1">
                <a:highlight>
                  <a:srgbClr val="FFFF00"/>
                </a:highlight>
                <a:latin typeface="Calibir"/>
              </a:rPr>
              <a:t>input.nextInt</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input.nextLine</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Shop </a:t>
            </a:r>
            <a:r>
              <a:rPr lang="en-US" sz="1000" dirty="0" err="1">
                <a:highlight>
                  <a:srgbClr val="FFFF00"/>
                </a:highlight>
                <a:latin typeface="Calibir"/>
              </a:rPr>
              <a:t>shop</a:t>
            </a:r>
            <a:r>
              <a:rPr lang="en-US" sz="1000" dirty="0">
                <a:highlight>
                  <a:srgbClr val="FFFF00"/>
                </a:highlight>
                <a:latin typeface="Calibir"/>
              </a:rPr>
              <a:t> =</a:t>
            </a:r>
          </a:p>
          <a:p>
            <a:r>
              <a:rPr lang="en-US" sz="1000" dirty="0">
                <a:highlight>
                  <a:srgbClr val="FFFF00"/>
                </a:highlight>
                <a:latin typeface="Calibir"/>
              </a:rPr>
              <a:t>                new Shop(</a:t>
            </a:r>
          </a:p>
          <a:p>
            <a:r>
              <a:rPr lang="en-US" sz="1000" dirty="0">
                <a:highlight>
                  <a:srgbClr val="FFFF00"/>
                </a:highlight>
                <a:latin typeface="Calibir"/>
              </a:rPr>
              <a:t>                    type,</a:t>
            </a:r>
          </a:p>
          <a:p>
            <a:r>
              <a:rPr lang="en-US" sz="1000" dirty="0">
                <a:highlight>
                  <a:srgbClr val="FFFF00"/>
                </a:highlight>
                <a:latin typeface="Calibir"/>
              </a:rPr>
              <a:t>                    price,</a:t>
            </a:r>
          </a:p>
          <a:p>
            <a:r>
              <a:rPr lang="en-US" sz="1000" dirty="0">
                <a:highlight>
                  <a:srgbClr val="FFFF00"/>
                </a:highlight>
                <a:latin typeface="Calibir"/>
              </a:rPr>
              <a:t>                    stock</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shop.menu</a:t>
            </a:r>
            <a:r>
              <a:rPr lang="en-US" sz="1000" dirty="0">
                <a:highlight>
                  <a:srgbClr val="FFFF00"/>
                </a:highlight>
                <a:latin typeface="Calibir"/>
              </a:rPr>
              <a:t>(input);</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input.close</a:t>
            </a:r>
            <a:r>
              <a:rPr lang="en-US" sz="1000" dirty="0">
                <a:highlight>
                  <a:srgbClr val="FFFF00"/>
                </a:highlight>
                <a:latin typeface="Calibir"/>
              </a:rPr>
              <a:t>();</a:t>
            </a:r>
          </a:p>
          <a:p>
            <a:r>
              <a:rPr lang="en-US" sz="1000" dirty="0">
                <a:highlight>
                  <a:srgbClr val="FFFF00"/>
                </a:highlight>
                <a:latin typeface="Calibir"/>
              </a:rPr>
              <a:t>    }</a:t>
            </a:r>
          </a:p>
          <a:p>
            <a:r>
              <a:rPr lang="en-US" sz="1000" dirty="0">
                <a:highlight>
                  <a:srgbClr val="FFFF00"/>
                </a:highlight>
                <a:latin typeface="Calibir"/>
              </a:rPr>
              <a:t>}</a:t>
            </a:r>
          </a:p>
        </p:txBody>
      </p:sp>
    </p:spTree>
    <p:extLst>
      <p:ext uri="{BB962C8B-B14F-4D97-AF65-F5344CB8AC3E}">
        <p14:creationId xmlns:p14="http://schemas.microsoft.com/office/powerpoint/2010/main" val="35963262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41"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84845029-98A4-9C92-04B4-320B6AFDD1B8}"/>
              </a:ext>
            </a:extLst>
          </p:cNvPr>
          <p:cNvSpPr txBox="1"/>
          <p:nvPr/>
        </p:nvSpPr>
        <p:spPr>
          <a:xfrm>
            <a:off x="6388119" y="99483"/>
            <a:ext cx="5198044" cy="6651523"/>
          </a:xfrm>
          <a:prstGeom prst="rect">
            <a:avLst/>
          </a:prstGeom>
        </p:spPr>
        <p:txBody>
          <a:bodyPr vert="horz" lIns="91440" tIns="45720" rIns="91440" bIns="45720" rtlCol="0" anchor="t">
            <a:noAutofit/>
          </a:bodyPr>
          <a:lstStyle/>
          <a:p>
            <a:pPr marL="0" marR="0" lvl="0" indent="0" algn="l" defTabSz="914400" rtl="0" eaLnBrk="1" fontAlgn="auto" latinLnBrk="0" hangingPunct="1">
              <a:lnSpc>
                <a:spcPct val="150000"/>
              </a:lnSpc>
              <a:spcBef>
                <a:spcPts val="0"/>
              </a:spcBef>
              <a:spcAft>
                <a:spcPts val="600"/>
              </a:spcAft>
              <a:buClrTx/>
              <a:buSzTx/>
              <a:buFontTx/>
              <a:buNone/>
              <a:tabLst/>
              <a:defRPr/>
            </a:pP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Happy Learning and Bright Futures Ahead!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Dr. Farshid Keivanian</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Stay Connected: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3"/>
              </a:rPr>
              <a:t>linkedin.com/in/farshid-keivanian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4"/>
              </a:rPr>
              <a:t>github.com/FarshidKeivanian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p>
          <a:p>
            <a:pPr marL="0" marR="0" lvl="0" indent="-22860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Education is the most powerful weapon you can use to change the world. </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Nelson Mandela</a:t>
            </a:r>
          </a:p>
        </p:txBody>
      </p:sp>
      <p:sp>
        <p:nvSpPr>
          <p:cNvPr id="45"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47"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086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LAPSEDTIME" val="12.816"/>
</p:tagLst>
</file>

<file path=ppt/tags/tag2.xml><?xml version="1.0" encoding="utf-8"?>
<p:tagLst xmlns:a="http://schemas.openxmlformats.org/drawingml/2006/main" xmlns:r="http://schemas.openxmlformats.org/officeDocument/2006/relationships" xmlns:p="http://schemas.openxmlformats.org/presentationml/2006/main">
  <p:tag name="ELAPSEDTIME" val="12.816"/>
</p:tagLst>
</file>

<file path=ppt/tags/tag3.xml><?xml version="1.0" encoding="utf-8"?>
<p:tagLst xmlns:a="http://schemas.openxmlformats.org/drawingml/2006/main" xmlns:r="http://schemas.openxmlformats.org/officeDocument/2006/relationships" xmlns:p="http://schemas.openxmlformats.org/presentationml/2006/main">
  <p:tag name="ELAPSEDTIME" val="12.816"/>
</p:tagLst>
</file>

<file path=ppt/tags/tag4.xml><?xml version="1.0" encoding="utf-8"?>
<p:tagLst xmlns:a="http://schemas.openxmlformats.org/drawingml/2006/main" xmlns:r="http://schemas.openxmlformats.org/officeDocument/2006/relationships" xmlns:p="http://schemas.openxmlformats.org/presentationml/2006/main">
  <p:tag name="ELAPSEDTIME" val="12.816"/>
</p:tagLst>
</file>

<file path=ppt/tags/tag5.xml><?xml version="1.0" encoding="utf-8"?>
<p:tagLst xmlns:a="http://schemas.openxmlformats.org/drawingml/2006/main" xmlns:r="http://schemas.openxmlformats.org/officeDocument/2006/relationships" xmlns:p="http://schemas.openxmlformats.org/presentationml/2006/main">
  <p:tag name="ELAPSEDTIME" val="12.816"/>
</p:tagLst>
</file>

<file path=ppt/tags/tag6.xml><?xml version="1.0" encoding="utf-8"?>
<p:tagLst xmlns:a="http://schemas.openxmlformats.org/drawingml/2006/main" xmlns:r="http://schemas.openxmlformats.org/officeDocument/2006/relationships" xmlns:p="http://schemas.openxmlformats.org/presentationml/2006/main">
  <p:tag name="ELAPSEDTIME" val="12.816"/>
</p:tagLst>
</file>

<file path=ppt/tags/tag7.xml><?xml version="1.0" encoding="utf-8"?>
<p:tagLst xmlns:a="http://schemas.openxmlformats.org/drawingml/2006/main" xmlns:r="http://schemas.openxmlformats.org/officeDocument/2006/relationships" xmlns:p="http://schemas.openxmlformats.org/presentationml/2006/main">
  <p:tag name="ELAPSEDTIME" val="12.816"/>
</p:tagLst>
</file>

<file path=ppt/tags/tag8.xml><?xml version="1.0" encoding="utf-8"?>
<p:tagLst xmlns:a="http://schemas.openxmlformats.org/drawingml/2006/main" xmlns:r="http://schemas.openxmlformats.org/officeDocument/2006/relationships" xmlns:p="http://schemas.openxmlformats.org/presentationml/2006/main">
  <p:tag name="ELAPSEDTIME" val="12.816"/>
</p:tagLst>
</file>

<file path=ppt/tags/tag9.xml><?xml version="1.0" encoding="utf-8"?>
<p:tagLst xmlns:a="http://schemas.openxmlformats.org/drawingml/2006/main" xmlns:r="http://schemas.openxmlformats.org/officeDocument/2006/relationships" xmlns:p="http://schemas.openxmlformats.org/presentationml/2006/main">
  <p:tag name="ELAPSEDTIME" val="12.816"/>
</p:tagLst>
</file>

<file path=ppt/tags/tag10.xml><?xml version="1.0" encoding="utf-8"?>
<p:tagLst xmlns:a="http://schemas.openxmlformats.org/drawingml/2006/main" xmlns:r="http://schemas.openxmlformats.org/officeDocument/2006/relationships" xmlns:p="http://schemas.openxmlformats.org/presentationml/2006/main">
  <p:tag name="ELAPSEDTIME" val="12.816"/>
</p:tagLst>
</file>

<file path=ppt/tags/tag11.xml><?xml version="1.0" encoding="utf-8"?>
<p:tagLst xmlns:a="http://schemas.openxmlformats.org/drawingml/2006/main" xmlns:r="http://schemas.openxmlformats.org/officeDocument/2006/relationships" xmlns:p="http://schemas.openxmlformats.org/presentationml/2006/main">
  <p:tag name="ELAPSEDTIME" val="12.816"/>
</p:tagLst>
</file>

<file path=ppt/tags/tag12.xml><?xml version="1.0" encoding="utf-8"?>
<p:tagLst xmlns:a="http://schemas.openxmlformats.org/drawingml/2006/main" xmlns:r="http://schemas.openxmlformats.org/officeDocument/2006/relationships" xmlns:p="http://schemas.openxmlformats.org/presentationml/2006/main">
  <p:tag name="ELAPSEDTIME" val="12.816"/>
</p:tagLst>
</file>

<file path=ppt/tags/tag13.xml><?xml version="1.0" encoding="utf-8"?>
<p:tagLst xmlns:a="http://schemas.openxmlformats.org/drawingml/2006/main" xmlns:r="http://schemas.openxmlformats.org/officeDocument/2006/relationships" xmlns:p="http://schemas.openxmlformats.org/presentationml/2006/main">
  <p:tag name="ELAPSEDTIME" val="12.816"/>
</p:tagLst>
</file>

<file path=ppt/tags/tag14.xml><?xml version="1.0" encoding="utf-8"?>
<p:tagLst xmlns:a="http://schemas.openxmlformats.org/drawingml/2006/main" xmlns:r="http://schemas.openxmlformats.org/officeDocument/2006/relationships" xmlns:p="http://schemas.openxmlformats.org/presentationml/2006/main">
  <p:tag name="ELAPSEDTIME" val="12.816"/>
</p:tagLst>
</file>

<file path=ppt/tags/tag15.xml><?xml version="1.0" encoding="utf-8"?>
<p:tagLst xmlns:a="http://schemas.openxmlformats.org/drawingml/2006/main" xmlns:r="http://schemas.openxmlformats.org/officeDocument/2006/relationships" xmlns:p="http://schemas.openxmlformats.org/presentationml/2006/main">
  <p:tag name="ELAPSEDTIME" val="12.816"/>
</p:tagLst>
</file>

<file path=ppt/tags/tag16.xml><?xml version="1.0" encoding="utf-8"?>
<p:tagLst xmlns:a="http://schemas.openxmlformats.org/drawingml/2006/main" xmlns:r="http://schemas.openxmlformats.org/officeDocument/2006/relationships" xmlns:p="http://schemas.openxmlformats.org/presentationml/2006/main">
  <p:tag name="ELAPSEDTIME" val="12.816"/>
</p:tagLst>
</file>

<file path=ppt/tags/tag17.xml><?xml version="1.0" encoding="utf-8"?>
<p:tagLst xmlns:a="http://schemas.openxmlformats.org/drawingml/2006/main" xmlns:r="http://schemas.openxmlformats.org/officeDocument/2006/relationships" xmlns:p="http://schemas.openxmlformats.org/presentationml/2006/main">
  <p:tag name="ELAPSEDTIME" val="12.816"/>
</p:tagLst>
</file>

<file path=ppt/tags/tag18.xml><?xml version="1.0" encoding="utf-8"?>
<p:tagLst xmlns:a="http://schemas.openxmlformats.org/drawingml/2006/main" xmlns:r="http://schemas.openxmlformats.org/officeDocument/2006/relationships" xmlns:p="http://schemas.openxmlformats.org/presentationml/2006/main">
  <p:tag name="ELAPSEDTIME" val="12.816"/>
</p:tagLst>
</file>

<file path=ppt/tags/tag19.xml><?xml version="1.0" encoding="utf-8"?>
<p:tagLst xmlns:a="http://schemas.openxmlformats.org/drawingml/2006/main" xmlns:r="http://schemas.openxmlformats.org/officeDocument/2006/relationships" xmlns:p="http://schemas.openxmlformats.org/presentationml/2006/main">
  <p:tag name="ELAPSEDTIME" val="12.816"/>
</p:tagLst>
</file>

<file path=ppt/tags/tag20.xml><?xml version="1.0" encoding="utf-8"?>
<p:tagLst xmlns:a="http://schemas.openxmlformats.org/drawingml/2006/main" xmlns:r="http://schemas.openxmlformats.org/officeDocument/2006/relationships" xmlns:p="http://schemas.openxmlformats.org/presentationml/2006/main">
  <p:tag name="ELAPSEDTIME" val="12.816"/>
</p:tagLst>
</file>

<file path=ppt/tags/tag21.xml><?xml version="1.0" encoding="utf-8"?>
<p:tagLst xmlns:a="http://schemas.openxmlformats.org/drawingml/2006/main" xmlns:r="http://schemas.openxmlformats.org/officeDocument/2006/relationships" xmlns:p="http://schemas.openxmlformats.org/presentationml/2006/main">
  <p:tag name="ELAPSEDTIME" val="12.816"/>
</p:tagLst>
</file>

<file path=ppt/tags/tag22.xml><?xml version="1.0" encoding="utf-8"?>
<p:tagLst xmlns:a="http://schemas.openxmlformats.org/drawingml/2006/main" xmlns:r="http://schemas.openxmlformats.org/officeDocument/2006/relationships" xmlns:p="http://schemas.openxmlformats.org/presentationml/2006/main">
  <p:tag name="ELAPSEDTIME" val="12.816"/>
</p:tagLst>
</file>

<file path=ppt/tags/tag23.xml><?xml version="1.0" encoding="utf-8"?>
<p:tagLst xmlns:a="http://schemas.openxmlformats.org/drawingml/2006/main" xmlns:r="http://schemas.openxmlformats.org/officeDocument/2006/relationships" xmlns:p="http://schemas.openxmlformats.org/presentationml/2006/main">
  <p:tag name="ELAPSEDTIME" val="12.816"/>
</p:tagLst>
</file>

<file path=ppt/tags/tag24.xml><?xml version="1.0" encoding="utf-8"?>
<p:tagLst xmlns:a="http://schemas.openxmlformats.org/drawingml/2006/main" xmlns:r="http://schemas.openxmlformats.org/officeDocument/2006/relationships" xmlns:p="http://schemas.openxmlformats.org/presentationml/2006/main">
  <p:tag name="ELAPSEDTIME" val="12.816"/>
</p:tagLst>
</file>

<file path=ppt/tags/tag25.xml><?xml version="1.0" encoding="utf-8"?>
<p:tagLst xmlns:a="http://schemas.openxmlformats.org/drawingml/2006/main" xmlns:r="http://schemas.openxmlformats.org/officeDocument/2006/relationships" xmlns:p="http://schemas.openxmlformats.org/presentationml/2006/main">
  <p:tag name="ELAPSEDTIME" val="12.816"/>
</p:tagLst>
</file>

<file path=ppt/tags/tag26.xml><?xml version="1.0" encoding="utf-8"?>
<p:tagLst xmlns:a="http://schemas.openxmlformats.org/drawingml/2006/main" xmlns:r="http://schemas.openxmlformats.org/officeDocument/2006/relationships" xmlns:p="http://schemas.openxmlformats.org/presentationml/2006/main">
  <p:tag name="ELAPSEDTIME" val="12.816"/>
</p:tagLst>
</file>

<file path=ppt/tags/tag27.xml><?xml version="1.0" encoding="utf-8"?>
<p:tagLst xmlns:a="http://schemas.openxmlformats.org/drawingml/2006/main" xmlns:r="http://schemas.openxmlformats.org/officeDocument/2006/relationships" xmlns:p="http://schemas.openxmlformats.org/presentationml/2006/main">
  <p:tag name="ELAPSEDTIME" val="12.816"/>
</p:tagLst>
</file>

<file path=ppt/tags/tag28.xml><?xml version="1.0" encoding="utf-8"?>
<p:tagLst xmlns:a="http://schemas.openxmlformats.org/drawingml/2006/main" xmlns:r="http://schemas.openxmlformats.org/officeDocument/2006/relationships" xmlns:p="http://schemas.openxmlformats.org/presentationml/2006/main">
  <p:tag name="ELAPSEDTIME" val="12.816"/>
</p:tagLst>
</file>

<file path=ppt/tags/tag29.xml><?xml version="1.0" encoding="utf-8"?>
<p:tagLst xmlns:a="http://schemas.openxmlformats.org/drawingml/2006/main" xmlns:r="http://schemas.openxmlformats.org/officeDocument/2006/relationships" xmlns:p="http://schemas.openxmlformats.org/presentationml/2006/main">
  <p:tag name="ELAPSEDTIME" val="12.816"/>
</p:tagLst>
</file>

<file path=ppt/tags/tag30.xml><?xml version="1.0" encoding="utf-8"?>
<p:tagLst xmlns:a="http://schemas.openxmlformats.org/drawingml/2006/main" xmlns:r="http://schemas.openxmlformats.org/officeDocument/2006/relationships" xmlns:p="http://schemas.openxmlformats.org/presentationml/2006/main">
  <p:tag name="ELAPSEDTIME" val="12.816"/>
</p:tagLst>
</file>

<file path=ppt/tags/tag31.xml><?xml version="1.0" encoding="utf-8"?>
<p:tagLst xmlns:a="http://schemas.openxmlformats.org/drawingml/2006/main" xmlns:r="http://schemas.openxmlformats.org/officeDocument/2006/relationships" xmlns:p="http://schemas.openxmlformats.org/presentationml/2006/main">
  <p:tag name="ELAPSEDTIME" val="12.816"/>
</p:tagLst>
</file>

<file path=ppt/tags/tag32.xml><?xml version="1.0" encoding="utf-8"?>
<p:tagLst xmlns:a="http://schemas.openxmlformats.org/drawingml/2006/main" xmlns:r="http://schemas.openxmlformats.org/officeDocument/2006/relationships" xmlns:p="http://schemas.openxmlformats.org/presentationml/2006/main">
  <p:tag name="ELAPSEDTIME" val="12.816"/>
</p:tagLst>
</file>

<file path=ppt/tags/tag33.xml><?xml version="1.0" encoding="utf-8"?>
<p:tagLst xmlns:a="http://schemas.openxmlformats.org/drawingml/2006/main" xmlns:r="http://schemas.openxmlformats.org/officeDocument/2006/relationships" xmlns:p="http://schemas.openxmlformats.org/presentationml/2006/main">
  <p:tag name="ELAPSEDTIME" val="12.816"/>
</p:tagLst>
</file>

<file path=ppt/tags/tag34.xml><?xml version="1.0" encoding="utf-8"?>
<p:tagLst xmlns:a="http://schemas.openxmlformats.org/drawingml/2006/main" xmlns:r="http://schemas.openxmlformats.org/officeDocument/2006/relationships" xmlns:p="http://schemas.openxmlformats.org/presentationml/2006/main">
  <p:tag name="ELAPSEDTIME" val="12.816"/>
</p:tagLst>
</file>

<file path=ppt/tags/tag35.xml><?xml version="1.0" encoding="utf-8"?>
<p:tagLst xmlns:a="http://schemas.openxmlformats.org/drawingml/2006/main" xmlns:r="http://schemas.openxmlformats.org/officeDocument/2006/relationships" xmlns:p="http://schemas.openxmlformats.org/presentationml/2006/main">
  <p:tag name="ELAPSEDTIME" val="12.816"/>
</p:tagLst>
</file>

<file path=ppt/tags/tag36.xml><?xml version="1.0" encoding="utf-8"?>
<p:tagLst xmlns:a="http://schemas.openxmlformats.org/drawingml/2006/main" xmlns:r="http://schemas.openxmlformats.org/officeDocument/2006/relationships" xmlns:p="http://schemas.openxmlformats.org/presentationml/2006/main">
  <p:tag name="ELAPSEDTIME" val="12.816"/>
</p:tagLst>
</file>

<file path=ppt/tags/tag37.xml><?xml version="1.0" encoding="utf-8"?>
<p:tagLst xmlns:a="http://schemas.openxmlformats.org/drawingml/2006/main" xmlns:r="http://schemas.openxmlformats.org/officeDocument/2006/relationships" xmlns:p="http://schemas.openxmlformats.org/presentationml/2006/main">
  <p:tag name="ELAPSEDTIME" val="12.816"/>
</p:tagLst>
</file>

<file path=ppt/tags/tag38.xml><?xml version="1.0" encoding="utf-8"?>
<p:tagLst xmlns:a="http://schemas.openxmlformats.org/drawingml/2006/main" xmlns:r="http://schemas.openxmlformats.org/officeDocument/2006/relationships" xmlns:p="http://schemas.openxmlformats.org/presentationml/2006/main">
  <p:tag name="ELAPSEDTIME" val="12.816"/>
</p:tagLst>
</file>

<file path=ppt/tags/tag39.xml><?xml version="1.0" encoding="utf-8"?>
<p:tagLst xmlns:a="http://schemas.openxmlformats.org/drawingml/2006/main" xmlns:r="http://schemas.openxmlformats.org/officeDocument/2006/relationships" xmlns:p="http://schemas.openxmlformats.org/presentationml/2006/main">
  <p:tag name="ELAPSEDTIME" val="12.816"/>
</p:tagLst>
</file>

<file path=ppt/tags/tag40.xml><?xml version="1.0" encoding="utf-8"?>
<p:tagLst xmlns:a="http://schemas.openxmlformats.org/drawingml/2006/main" xmlns:r="http://schemas.openxmlformats.org/officeDocument/2006/relationships" xmlns:p="http://schemas.openxmlformats.org/presentationml/2006/main">
  <p:tag name="ELAPSEDTIME" val="12.816"/>
</p:tagLst>
</file>

<file path=ppt/tags/tag41.xml><?xml version="1.0" encoding="utf-8"?>
<p:tagLst xmlns:a="http://schemas.openxmlformats.org/drawingml/2006/main" xmlns:r="http://schemas.openxmlformats.org/officeDocument/2006/relationships" xmlns:p="http://schemas.openxmlformats.org/presentationml/2006/main">
  <p:tag name="ELAPSEDTIME" val="12.816"/>
</p:tagLst>
</file>

<file path=ppt/tags/tag42.xml><?xml version="1.0" encoding="utf-8"?>
<p:tagLst xmlns:a="http://schemas.openxmlformats.org/drawingml/2006/main" xmlns:r="http://schemas.openxmlformats.org/officeDocument/2006/relationships" xmlns:p="http://schemas.openxmlformats.org/presentationml/2006/main">
  <p:tag name="ELAPSEDTIME" val="12.816"/>
</p:tagLst>
</file>

<file path=ppt/tags/tag43.xml><?xml version="1.0" encoding="utf-8"?>
<p:tagLst xmlns:a="http://schemas.openxmlformats.org/drawingml/2006/main" xmlns:r="http://schemas.openxmlformats.org/officeDocument/2006/relationships" xmlns:p="http://schemas.openxmlformats.org/presentationml/2006/main">
  <p:tag name="ELAPSEDTIME" val="12.816"/>
</p:tagLst>
</file>

<file path=ppt/tags/tag44.xml><?xml version="1.0" encoding="utf-8"?>
<p:tagLst xmlns:a="http://schemas.openxmlformats.org/drawingml/2006/main" xmlns:r="http://schemas.openxmlformats.org/officeDocument/2006/relationships" xmlns:p="http://schemas.openxmlformats.org/presentationml/2006/main">
  <p:tag name="ELAPSEDTIME" val="12.816"/>
</p:tagLst>
</file>

<file path=ppt/tags/tag45.xml><?xml version="1.0" encoding="utf-8"?>
<p:tagLst xmlns:a="http://schemas.openxmlformats.org/drawingml/2006/main" xmlns:r="http://schemas.openxmlformats.org/officeDocument/2006/relationships" xmlns:p="http://schemas.openxmlformats.org/presentationml/2006/main">
  <p:tag name="ELAPSEDTIME" val="12.816"/>
</p:tagLst>
</file>

<file path=ppt/tags/tag46.xml><?xml version="1.0" encoding="utf-8"?>
<p:tagLst xmlns:a="http://schemas.openxmlformats.org/drawingml/2006/main" xmlns:r="http://schemas.openxmlformats.org/officeDocument/2006/relationships" xmlns:p="http://schemas.openxmlformats.org/presentationml/2006/main">
  <p:tag name="ELAPSEDTIME" val="12.816"/>
</p:tagLst>
</file>

<file path=ppt/tags/tag47.xml><?xml version="1.0" encoding="utf-8"?>
<p:tagLst xmlns:a="http://schemas.openxmlformats.org/drawingml/2006/main" xmlns:r="http://schemas.openxmlformats.org/officeDocument/2006/relationships" xmlns:p="http://schemas.openxmlformats.org/presentationml/2006/main">
  <p:tag name="ELAPSEDTIME" val="12.816"/>
</p:tagLst>
</file>

<file path=ppt/tags/tag48.xml><?xml version="1.0" encoding="utf-8"?>
<p:tagLst xmlns:a="http://schemas.openxmlformats.org/drawingml/2006/main" xmlns:r="http://schemas.openxmlformats.org/officeDocument/2006/relationships" xmlns:p="http://schemas.openxmlformats.org/presentationml/2006/main">
  <p:tag name="ELAPSEDTIME" val="12.816"/>
</p:tagLst>
</file>

<file path=ppt/tags/tag49.xml><?xml version="1.0" encoding="utf-8"?>
<p:tagLst xmlns:a="http://schemas.openxmlformats.org/drawingml/2006/main" xmlns:r="http://schemas.openxmlformats.org/officeDocument/2006/relationships" xmlns:p="http://schemas.openxmlformats.org/presentationml/2006/main">
  <p:tag name="ELAPSEDTIME" val="12.816"/>
</p:tagLst>
</file>

<file path=ppt/tags/tag50.xml><?xml version="1.0" encoding="utf-8"?>
<p:tagLst xmlns:a="http://schemas.openxmlformats.org/drawingml/2006/main" xmlns:r="http://schemas.openxmlformats.org/officeDocument/2006/relationships" xmlns:p="http://schemas.openxmlformats.org/presentationml/2006/main">
  <p:tag name="ELAPSEDTIME" val="12.816"/>
</p:tagLst>
</file>

<file path=ppt/tags/tag51.xml><?xml version="1.0" encoding="utf-8"?>
<p:tagLst xmlns:a="http://schemas.openxmlformats.org/drawingml/2006/main" xmlns:r="http://schemas.openxmlformats.org/officeDocument/2006/relationships" xmlns:p="http://schemas.openxmlformats.org/presentationml/2006/main">
  <p:tag name="ELAPSEDTIME" val="12.816"/>
</p:tagLst>
</file>

<file path=ppt/tags/tag52.xml><?xml version="1.0" encoding="utf-8"?>
<p:tagLst xmlns:a="http://schemas.openxmlformats.org/drawingml/2006/main" xmlns:r="http://schemas.openxmlformats.org/officeDocument/2006/relationships" xmlns:p="http://schemas.openxmlformats.org/presentationml/2006/main">
  <p:tag name="ELAPSEDTIME" val="12.816"/>
</p:tagLst>
</file>

<file path=ppt/tags/tag53.xml><?xml version="1.0" encoding="utf-8"?>
<p:tagLst xmlns:a="http://schemas.openxmlformats.org/drawingml/2006/main" xmlns:r="http://schemas.openxmlformats.org/officeDocument/2006/relationships" xmlns:p="http://schemas.openxmlformats.org/presentationml/2006/main">
  <p:tag name="ELAPSEDTIME" val="12.816"/>
</p:tagLst>
</file>

<file path=ppt/tags/tag54.xml><?xml version="1.0" encoding="utf-8"?>
<p:tagLst xmlns:a="http://schemas.openxmlformats.org/drawingml/2006/main" xmlns:r="http://schemas.openxmlformats.org/officeDocument/2006/relationships" xmlns:p="http://schemas.openxmlformats.org/presentationml/2006/main">
  <p:tag name="ELAPSEDTIME" val="12.816"/>
</p:tagLst>
</file>

<file path=ppt/tags/tag55.xml><?xml version="1.0" encoding="utf-8"?>
<p:tagLst xmlns:a="http://schemas.openxmlformats.org/drawingml/2006/main" xmlns:r="http://schemas.openxmlformats.org/officeDocument/2006/relationships" xmlns:p="http://schemas.openxmlformats.org/presentationml/2006/main">
  <p:tag name="ELAPSEDTIME" val="12.816"/>
</p:tagLst>
</file>

<file path=ppt/tags/tag56.xml><?xml version="1.0" encoding="utf-8"?>
<p:tagLst xmlns:a="http://schemas.openxmlformats.org/drawingml/2006/main" xmlns:r="http://schemas.openxmlformats.org/officeDocument/2006/relationships" xmlns:p="http://schemas.openxmlformats.org/presentationml/2006/main">
  <p:tag name="ELAPSEDTIME" val="12.816"/>
</p:tagLst>
</file>

<file path=ppt/tags/tag57.xml><?xml version="1.0" encoding="utf-8"?>
<p:tagLst xmlns:a="http://schemas.openxmlformats.org/drawingml/2006/main" xmlns:r="http://schemas.openxmlformats.org/officeDocument/2006/relationships" xmlns:p="http://schemas.openxmlformats.org/presentationml/2006/main">
  <p:tag name="ELAPSEDTIME" val="12.816"/>
</p:tagLst>
</file>

<file path=ppt/tags/tag58.xml><?xml version="1.0" encoding="utf-8"?>
<p:tagLst xmlns:a="http://schemas.openxmlformats.org/drawingml/2006/main" xmlns:r="http://schemas.openxmlformats.org/officeDocument/2006/relationships" xmlns:p="http://schemas.openxmlformats.org/presentationml/2006/main">
  <p:tag name="ELAPSEDTIME" val="12.816"/>
</p:tagLst>
</file>

<file path=ppt/tags/tag59.xml><?xml version="1.0" encoding="utf-8"?>
<p:tagLst xmlns:a="http://schemas.openxmlformats.org/drawingml/2006/main" xmlns:r="http://schemas.openxmlformats.org/officeDocument/2006/relationships" xmlns:p="http://schemas.openxmlformats.org/presentationml/2006/main">
  <p:tag name="ELAPSEDTIME" val="12.816"/>
</p:tagLst>
</file>

<file path=ppt/tags/tag60.xml><?xml version="1.0" encoding="utf-8"?>
<p:tagLst xmlns:a="http://schemas.openxmlformats.org/drawingml/2006/main" xmlns:r="http://schemas.openxmlformats.org/officeDocument/2006/relationships" xmlns:p="http://schemas.openxmlformats.org/presentationml/2006/main">
  <p:tag name="ELAPSEDTIME" val="12.816"/>
</p:tagLst>
</file>

<file path=ppt/tags/tag61.xml><?xml version="1.0" encoding="utf-8"?>
<p:tagLst xmlns:a="http://schemas.openxmlformats.org/drawingml/2006/main" xmlns:r="http://schemas.openxmlformats.org/officeDocument/2006/relationships" xmlns:p="http://schemas.openxmlformats.org/presentationml/2006/main">
  <p:tag name="ELAPSEDTIME" val="12.816"/>
</p:tagLst>
</file>

<file path=ppt/tags/tag62.xml><?xml version="1.0" encoding="utf-8"?>
<p:tagLst xmlns:a="http://schemas.openxmlformats.org/drawingml/2006/main" xmlns:r="http://schemas.openxmlformats.org/officeDocument/2006/relationships" xmlns:p="http://schemas.openxmlformats.org/presentationml/2006/main">
  <p:tag name="ELAPSEDTIME" val="12.816"/>
</p:tagLst>
</file>

<file path=ppt/tags/tag63.xml><?xml version="1.0" encoding="utf-8"?>
<p:tagLst xmlns:a="http://schemas.openxmlformats.org/drawingml/2006/main" xmlns:r="http://schemas.openxmlformats.org/officeDocument/2006/relationships" xmlns:p="http://schemas.openxmlformats.org/presentationml/2006/main">
  <p:tag name="ELAPSEDTIME" val="12.816"/>
</p:tagLst>
</file>

<file path=ppt/tags/tag64.xml><?xml version="1.0" encoding="utf-8"?>
<p:tagLst xmlns:a="http://schemas.openxmlformats.org/drawingml/2006/main" xmlns:r="http://schemas.openxmlformats.org/officeDocument/2006/relationships" xmlns:p="http://schemas.openxmlformats.org/presentationml/2006/main">
  <p:tag name="ELAPSEDTIME" val="12.81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2280</TotalTime>
  <Words>19353</Words>
  <Application>Microsoft Office PowerPoint</Application>
  <PresentationFormat>Widescreen</PresentationFormat>
  <Paragraphs>3469</Paragraphs>
  <Slides>193</Slides>
  <Notes>104</Notes>
  <HiddenSlides>0</HiddenSlides>
  <MMClips>3</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193</vt:i4>
      </vt:variant>
    </vt:vector>
  </HeadingPairs>
  <TitlesOfParts>
    <vt:vector size="205" baseType="lpstr">
      <vt:lpstr>Aptos</vt:lpstr>
      <vt:lpstr>Aptos Display</vt:lpstr>
      <vt:lpstr>Arial</vt:lpstr>
      <vt:lpstr>Calibir</vt:lpstr>
      <vt:lpstr>Calibri</vt:lpstr>
      <vt:lpstr>Calibri Light</vt:lpstr>
      <vt:lpstr>Consolas</vt:lpstr>
      <vt:lpstr>Courier New</vt:lpstr>
      <vt:lpstr>Economica</vt:lpstr>
      <vt:lpstr>Wingdings</vt:lpstr>
      <vt:lpstr>Office Theme</vt:lpstr>
      <vt:lpstr>1_Office Theme</vt:lpstr>
      <vt:lpstr>32555 – Fundamentals of Software Development</vt:lpstr>
      <vt:lpstr>Welcome to 32555 – Fundamentals of Software Development</vt:lpstr>
      <vt:lpstr>Welcome to 32555 – Fundamentals of Software Development</vt:lpstr>
      <vt:lpstr>Week 6 Outline</vt:lpstr>
      <vt:lpstr>Have you formed your group?</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PowerPoint Presentation</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Assessment 1 Part 1 – Clarifications and Quality Check</vt:lpstr>
      <vt:lpstr>Group Assignment – Part 1: Student Operations After Registration – Clarified</vt:lpstr>
      <vt:lpstr>Group Assignment – Part 1: Student Operations After Registration – Clarified</vt:lpstr>
      <vt:lpstr>Group Assignment – Part 1: Student Operations After Registration – Clarified</vt:lpstr>
      <vt:lpstr>Group Assignment – Part 1: Student Operations After Registration – Clarified</vt:lpstr>
      <vt:lpstr>Group Assignment – Part 1: Student Operations After Registration – Clarified</vt:lpstr>
      <vt:lpstr>Group Assignment – Part 1: Student Operations After Registration – Clarified</vt:lpstr>
      <vt:lpstr>Group Assignment – Part 1: Password Rules – Clarified</vt:lpstr>
      <vt:lpstr>Group Assignment – Part 1: Password Rules – Clarified</vt:lpstr>
      <vt:lpstr>PowerPoint Presentation</vt:lpstr>
      <vt:lpstr>Group Assignment – Part 1: Password Rules – Clarified</vt:lpstr>
      <vt:lpstr>Group Assignment – Part 1: Password Rules – Clarified</vt:lpstr>
      <vt:lpstr>Group Assignment – Part 1: Password Rules – Clarified</vt:lpstr>
      <vt:lpstr>Group Assignment – Part 1: Password Rules – Clarified</vt:lpstr>
      <vt:lpstr>Group Assignment – Part 1: Password Rules – Clarified</vt:lpstr>
      <vt:lpstr>Mini Coding Nudges (Email/Password, Marks, Pass/Fail etc.)</vt:lpstr>
      <vt:lpstr>Mini Coding Nudges (Email/Password, Marks, Pass/Fail etc.)</vt:lpstr>
      <vt:lpstr>Mini Coding Nudges (Email/Password, Marks, Pass/Fail etc.)</vt:lpstr>
      <vt:lpstr>Mini Coding Nudges (Email/Password, Marks, Pass/Fail etc.)</vt:lpstr>
      <vt:lpstr>Mini Coding Nudges (Email/Password, Marks, Pass/Fail etc.)</vt:lpstr>
      <vt:lpstr>Mini Coding Nudges (Email/Password, Marks, Pass/Fail etc.)</vt:lpstr>
      <vt:lpstr>Mini Coding Nudges (Email/Password, Marks, Pass/Fail etc.)</vt:lpstr>
      <vt:lpstr>PowerPoint Presentation</vt:lpstr>
      <vt:lpstr>Allow optional - or _ before digits in password</vt:lpstr>
      <vt:lpstr>Generate Random Marks and Assign Grades</vt:lpstr>
      <vt:lpstr>Generate Random Marks and Assign Grades</vt:lpstr>
      <vt:lpstr>Generate Random Marks and Assign Grades</vt:lpstr>
      <vt:lpstr>Generate Random Marks and Assign Grades</vt:lpstr>
      <vt:lpstr>Generate Random Marks and Assign Grades</vt:lpstr>
      <vt:lpstr>Generate Random Marks and Assign Grades</vt:lpstr>
      <vt:lpstr>Generate Random Marks and Assign Grades</vt:lpstr>
      <vt:lpstr>Make randomness reproducible</vt:lpstr>
      <vt:lpstr>PowerPoint Presentation</vt:lpstr>
      <vt:lpstr>PowerPoint Presentation</vt:lpstr>
      <vt:lpstr>PowerPoint Presentation</vt:lpstr>
      <vt:lpstr>PowerPoint Presentation</vt:lpstr>
      <vt:lpstr>PowerPoint Presentation</vt:lpstr>
      <vt:lpstr>PowerPoint Presentation</vt:lpstr>
      <vt:lpstr>Make randomness reproducible</vt:lpstr>
      <vt:lpstr>Add student ID and PASS/FAIL</vt:lpstr>
      <vt:lpstr>PowerPoint Presentation</vt:lpstr>
      <vt:lpstr>PowerPoint Presentation</vt:lpstr>
      <vt:lpstr>Grade Classification Based on University Rules</vt:lpstr>
      <vt:lpstr>PowerPoint Presentation</vt:lpstr>
      <vt:lpstr>PowerPoint Presentation</vt:lpstr>
      <vt:lpstr>PowerPoint Presentation</vt:lpstr>
      <vt:lpstr>PowerPoint Presentation</vt:lpstr>
      <vt:lpstr>Group Assignment – Part 2: Build hints (Python-first, JavaFX minority)</vt:lpstr>
      <vt:lpstr>Group Assignment – Part 2: Build hints (Python-first, JavaFX minority)</vt:lpstr>
      <vt:lpstr>Group Assignment – Part 2: Build hints (Python-first, JavaFX minority)</vt:lpstr>
      <vt:lpstr>Group Assignment – Part 3: Showcase tips</vt:lpstr>
      <vt:lpstr>Reference Note for Students</vt:lpstr>
      <vt:lpstr>PowerPoint Presentation</vt:lpstr>
      <vt:lpstr>PowerPoint Presentation</vt:lpstr>
      <vt:lpstr>PowerPoint Presentation</vt:lpstr>
      <vt:lpstr>PowerPoint Presentation</vt:lpstr>
      <vt:lpstr>        </vt:lpstr>
      <vt:lpstr>        </vt:lpstr>
      <vt:lpstr>        </vt:lpstr>
      <vt:lpstr>        </vt:lpstr>
      <vt:lpstr>        </vt:lpstr>
      <vt:lpstr>        </vt:lpstr>
      <vt:lpstr>        </vt:lpstr>
      <vt:lpstr>        </vt:lpstr>
      <vt:lpstr>        </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Farshid Keivanian</dc:creator>
  <cp:lastModifiedBy>Farshid Keivanian</cp:lastModifiedBy>
  <cp:revision>756</cp:revision>
  <dcterms:created xsi:type="dcterms:W3CDTF">2025-07-28T16:39:25Z</dcterms:created>
  <dcterms:modified xsi:type="dcterms:W3CDTF">2026-09-01T23:09:28Z</dcterms:modified>
</cp:coreProperties>
</file>