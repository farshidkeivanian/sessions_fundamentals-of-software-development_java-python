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22" r:id="rId3"/>
    <p:sldId id="2443" r:id="rId4"/>
    <p:sldId id="2633" r:id="rId5"/>
    <p:sldId id="2825" r:id="rId6"/>
    <p:sldId id="2824" r:id="rId7"/>
    <p:sldId id="2804" r:id="rId8"/>
    <p:sldId id="2764" r:id="rId9"/>
    <p:sldId id="2809" r:id="rId10"/>
    <p:sldId id="2773" r:id="rId11"/>
    <p:sldId id="2774" r:id="rId12"/>
    <p:sldId id="2765" r:id="rId13"/>
    <p:sldId id="2766" r:id="rId14"/>
    <p:sldId id="2805" r:id="rId15"/>
    <p:sldId id="2806" r:id="rId16"/>
    <p:sldId id="2807" r:id="rId17"/>
    <p:sldId id="2775" r:id="rId18"/>
    <p:sldId id="2776" r:id="rId19"/>
    <p:sldId id="2777" r:id="rId20"/>
    <p:sldId id="2778" r:id="rId21"/>
    <p:sldId id="2779" r:id="rId22"/>
    <p:sldId id="2812" r:id="rId23"/>
    <p:sldId id="2780" r:id="rId24"/>
    <p:sldId id="2814" r:id="rId25"/>
    <p:sldId id="2781" r:id="rId26"/>
    <p:sldId id="2784" r:id="rId27"/>
    <p:sldId id="2783" r:id="rId28"/>
    <p:sldId id="2816" r:id="rId29"/>
    <p:sldId id="2817" r:id="rId30"/>
    <p:sldId id="2782" r:id="rId31"/>
    <p:sldId id="2768" r:id="rId32"/>
    <p:sldId id="2769" r:id="rId33"/>
    <p:sldId id="2770" r:id="rId34"/>
    <p:sldId id="2815" r:id="rId35"/>
    <p:sldId id="2771" r:id="rId36"/>
    <p:sldId id="2772" r:id="rId37"/>
    <p:sldId id="2790" r:id="rId38"/>
    <p:sldId id="2791" r:id="rId39"/>
    <p:sldId id="2792" r:id="rId40"/>
    <p:sldId id="2793" r:id="rId41"/>
    <p:sldId id="2794" r:id="rId42"/>
    <p:sldId id="74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CC3F-F3E2-067D-9C00-288493F49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F831F-F8A7-0550-3242-7A61B1B48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47611-930C-3E08-E35A-AFB8924D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46A6C-0977-C877-5032-1C347CDC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71BCA-9364-2A02-19BC-64295F68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3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42E4-102B-87B9-7587-8E3DDCD7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77AF9-BBAD-C287-B874-C2BC79F7D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D4DD5-9FA6-F924-DBA1-0ECB98CF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E77EF-7682-3E19-B28D-DF6EB042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04BFB-2E4D-17B8-FC9C-C428B76D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2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4BC0-ECF1-C311-B597-FD1535AEA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7A7FE-E53A-ACCA-7801-5C750B8FD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148AA-BD25-FE8D-22C6-340C0817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91759-DA2D-C3A8-C9C5-69701FD5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968F6-B353-7D68-CA5A-D6623E94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52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CED1-4CD5-BDF1-9996-00D83730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CFEB2-D45C-BF43-2DA6-630E4098C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FB2FE-ECC8-7432-22B4-867FC8D24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20D19-0B01-F0DE-B3EC-005B9F3E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A14E6-C0C9-9EFF-E4A7-D7C55E39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61A32-4765-43B0-9466-9FAAF2536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8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F3F0-8ACE-CDC9-6B6B-8EC715C2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3DFB6-6F46-ADA6-7946-4A7B451AA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16092-EDAE-3D76-5DC3-3072FC8EF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CBEED-6DFB-5294-6640-880CC585E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EFF463-228C-468F-4BCC-49E9E1941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4A9F87-FC96-E5BE-5CB1-147953E1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3609C-12BF-295A-3A00-61D32B10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10906-4E32-15AB-EA12-756306AE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1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7DCC-4E15-A871-2707-98599356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3E1D5-957C-C53D-70C6-C07B59F7D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551B6-9CB8-33F2-CC6F-C2646C922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883ED-59BD-83F2-B7C5-23FF6A9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0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067FF-D202-A46F-C461-B8DEB632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2A607-AEB8-E75F-4A16-C81F66FE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4299F-595E-A8CC-E000-F6494016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6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EDB0-8B24-E4A3-AA1B-DF208E70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F6BBA-BBC6-BBCF-67FF-4176EFA81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0DC7D-0EC2-C9C9-D6BE-EB05790E0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5A191-4BDD-14F4-03F6-91309C9C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B34C6-E86A-E775-4613-9FBF44E0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91211-1E60-D40A-8472-8A9145D1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7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AF04-639B-4902-0025-C254D43A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FD13D-2375-156E-F30E-2F120B78B1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5F0BE-0B2A-FF38-F07B-E36B06989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E6266-E353-1CC4-F3BD-B814EF3D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F78F0-EB56-39BF-9B33-80365859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9A610-A0F7-05E3-396C-0994DD5C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5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4585-2AA9-F2E5-BB63-7EF883BC1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E594B-63AF-4B27-6BFA-95D1F583B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E6FB1-11E1-B5F4-7BAC-2153FFFFB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7D846-7711-829C-BCC1-57EA103A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2D56-8A6A-D5FD-6088-B3240936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2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23C4D4-6384-A0F3-595D-E686EC3BA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18FC7-4A5C-40EC-34A9-68FED30F8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75FEC-5433-9A01-3788-B6C3E182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4932-58E9-5278-F7A7-F464DE1F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01174-1D0C-14EB-4626-8562B4FB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42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4543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235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4554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638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1275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959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6214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240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1382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2082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72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88833-3C73-ADD0-BC49-1A649065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CA2F8-AC29-8620-B8C5-70C609E20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DF4E3-70AF-37A9-C1FC-4A6955244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959C5-6DF1-48B1-8981-57502D98567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9D6F8-522C-54EE-74E1-2E8C1DBC5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2412B-8790-2E03-5216-E5198AE64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B8CC3-8AC8-4FF6-A3D7-C48E3578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82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847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 dirty="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 dirty="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6 Outline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7037C-CC18-B6E2-C69F-FD0450DC4355}"/>
              </a:ext>
            </a:extLst>
          </p:cNvPr>
          <p:cNvSpPr txBox="1"/>
          <p:nvPr/>
        </p:nvSpPr>
        <p:spPr>
          <a:xfrm>
            <a:off x="0" y="794802"/>
            <a:ext cx="12192000" cy="599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Assessment 1 Part 1 – Final Clarifications and Quality Check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Have you formed your group?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6 Exercises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&amp; Activity — Campus Parking Permit System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Group Assignment – Part 1: What to do / submit / avoid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Group Assignment – Part 1: Student Operations After Registration – Clarified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Group Assignment – Part 1: Password Rules – Clarified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Mini Coding Nudges (Email/Password, Marks, Pass/Fail etc.)</a:t>
            </a:r>
          </a:p>
          <a:p>
            <a:pPr marL="971550" lvl="1" indent="-5143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Allow student. subdomain too </a:t>
            </a:r>
          </a:p>
          <a:p>
            <a:pPr marL="971550" lvl="1" indent="-5143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Allow optional - or _ before digits in password</a:t>
            </a:r>
          </a:p>
          <a:p>
            <a:pPr marL="971550" lvl="1" indent="-5143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Generate Random Marks and Assign Grades</a:t>
            </a:r>
          </a:p>
          <a:p>
            <a:pPr marL="971550" lvl="1" indent="-5143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Make randomness reproducible</a:t>
            </a:r>
          </a:p>
          <a:p>
            <a:pPr marL="971550" lvl="1" indent="-5143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 student ID and PASS/FAIL</a:t>
            </a:r>
          </a:p>
          <a:p>
            <a:pPr marL="971550" lvl="1" indent="-5143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Grade Classification Based on University Rules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Group Assignment – Part 2: Build hints (Python-first, JavaFX minority)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Group Assignment – Part 3: Showcase tips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dirty="0">
                <a:latin typeface="Calibir"/>
              </a:rPr>
              <a:t>Example &amp; Activity — Event Ticketing Lite</a:t>
            </a:r>
          </a:p>
          <a:p>
            <a:pPr marL="514350" indent="-514350"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Reference Note for Students</a:t>
            </a:r>
          </a:p>
        </p:txBody>
      </p:sp>
    </p:spTree>
    <p:extLst>
      <p:ext uri="{BB962C8B-B14F-4D97-AF65-F5344CB8AC3E}">
        <p14:creationId xmlns:p14="http://schemas.microsoft.com/office/powerpoint/2010/main" val="387973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89DD5-10CC-E17B-C409-E06C9470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DB83-BCEC-9104-E2A0-6B270E1A9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792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B42E0-58BE-ABC3-3864-1ADED34F314A}"/>
              </a:ext>
            </a:extLst>
          </p:cNvPr>
          <p:cNvSpPr txBox="1"/>
          <p:nvPr/>
        </p:nvSpPr>
        <p:spPr>
          <a:xfrm>
            <a:off x="0" y="988143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(Associations, multiplicity, inheritance, composition, dependency)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Mini case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Students and staff request Parking Permits per semester. A Permit is for one vehicle (plate number) and is valid for one car park zone. Users can hold at most 1 active permit per semester. Security Officers can revoke permits. Payment is Card or Voucher (two subclasses of Payment). When revoked, the permit becomes inactive.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Think about: Candidate Classes,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Attributes, Methods, Key Relationship, Multiplicities,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etc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48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EFF0-2376-0455-6025-ACEF0063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2C407A-2B54-9BFC-15E1-14DF4DE54228}"/>
              </a:ext>
            </a:extLst>
          </p:cNvPr>
          <p:cNvSpPr txBox="1"/>
          <p:nvPr/>
        </p:nvSpPr>
        <p:spPr>
          <a:xfrm>
            <a:off x="0" y="988143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Scenario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university manages Parking Permits for students and staff.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User (abstract class) can be either a Student or Staff.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User can apply for one or more Permits.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Permit is for a specific Vehicle (identified by plate number).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System Admin approves or denies permit applications.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992B7-642E-46C3-B7CF-A68499E2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792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66517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4A34-D50B-087E-6CE7-9E96328A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93FA69-7860-F88D-7261-9EFCD7048713}"/>
              </a:ext>
            </a:extLst>
          </p:cNvPr>
          <p:cNvSpPr txBox="1"/>
          <p:nvPr/>
        </p:nvSpPr>
        <p:spPr>
          <a:xfrm>
            <a:off x="0" y="988143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1. Candidate Classes (Rectangles)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Think of classes as blueprints, like a recipe card: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(abstract – means you can’t create a "User" directly, only Student or Staff)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Subclasses: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StudentUser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StaffUser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03604-97A8-528A-890D-BE51C42FF8D5}"/>
              </a:ext>
            </a:extLst>
          </p:cNvPr>
          <p:cNvSpPr/>
          <p:nvPr/>
        </p:nvSpPr>
        <p:spPr>
          <a:xfrm>
            <a:off x="7064478" y="3217605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76BE5E-899D-6313-BF03-094030D9D297}"/>
              </a:ext>
            </a:extLst>
          </p:cNvPr>
          <p:cNvSpPr/>
          <p:nvPr/>
        </p:nvSpPr>
        <p:spPr>
          <a:xfrm>
            <a:off x="5297129" y="5314331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StudentUser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(inherits User)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FC595-507F-BA18-1C08-F514F07B6266}"/>
              </a:ext>
            </a:extLst>
          </p:cNvPr>
          <p:cNvSpPr/>
          <p:nvPr/>
        </p:nvSpPr>
        <p:spPr>
          <a:xfrm>
            <a:off x="8849032" y="5314331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StaffUser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(inherits User)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BFFA68-0C8B-DDCD-A359-1B98DC0972AE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961239" y="4611328"/>
            <a:ext cx="1723104" cy="703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99516E-871E-662E-BCF6-350D786AFE7D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8684343" y="4611328"/>
            <a:ext cx="1784554" cy="703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2A740CE-83C1-6A01-F07B-F36C335C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792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057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CB9D-ED94-12BB-DC5A-E745079E0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ECB379-36B5-A9B0-4036-EF21D4056A5F}"/>
              </a:ext>
            </a:extLst>
          </p:cNvPr>
          <p:cNvSpPr txBox="1"/>
          <p:nvPr/>
        </p:nvSpPr>
        <p:spPr>
          <a:xfrm>
            <a:off x="0" y="988143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Generalization (Inheritance)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User can be either a Student or Staff.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Think: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“All users share common things (id, name, email), but each type has its own extras.”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UML: User → Student / Staff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366B0-1D6A-0669-66AB-5CAD3A735A60}"/>
              </a:ext>
            </a:extLst>
          </p:cNvPr>
          <p:cNvSpPr/>
          <p:nvPr/>
        </p:nvSpPr>
        <p:spPr>
          <a:xfrm>
            <a:off x="7064478" y="3217605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F90DB-DFF2-8925-D6BC-F4881EE682EC}"/>
              </a:ext>
            </a:extLst>
          </p:cNvPr>
          <p:cNvSpPr/>
          <p:nvPr/>
        </p:nvSpPr>
        <p:spPr>
          <a:xfrm>
            <a:off x="5297129" y="5314331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StudentUser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(inherits User)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BD6029-6891-B8B3-74CF-79DEB53B240D}"/>
              </a:ext>
            </a:extLst>
          </p:cNvPr>
          <p:cNvSpPr/>
          <p:nvPr/>
        </p:nvSpPr>
        <p:spPr>
          <a:xfrm>
            <a:off x="8849032" y="5314331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StaffUser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(inherits User)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717370-D7FC-98BF-96C9-EF8898E4E20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961239" y="4611328"/>
            <a:ext cx="1723104" cy="703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F3DE6C-E47E-2DD2-BFBC-202C803BBBE8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8684343" y="4611328"/>
            <a:ext cx="1784554" cy="703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982518E2-C044-5D20-5885-D68C28B5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792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935915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2EFB-1FA9-81BA-E14A-045C38CFA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EF3F42-DFD3-4AF6-DBDB-A2B48F1A9D6D}"/>
              </a:ext>
            </a:extLst>
          </p:cNvPr>
          <p:cNvSpPr txBox="1"/>
          <p:nvPr/>
        </p:nvSpPr>
        <p:spPr>
          <a:xfrm>
            <a:off x="0" y="988143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(id, zone, plate, status, semester)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Payment (abstract)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Subclasses: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VoucherPayment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(name, id)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ParkingDB (acts like a system storage)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3D850-0F36-E268-425E-1C643EDD56C6}"/>
              </a:ext>
            </a:extLst>
          </p:cNvPr>
          <p:cNvSpPr/>
          <p:nvPr/>
        </p:nvSpPr>
        <p:spPr>
          <a:xfrm>
            <a:off x="7064478" y="3217605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Payment &lt;&lt;abstract&gt;&gt;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E352D-4630-9C1F-312F-E2B5F766059D}"/>
              </a:ext>
            </a:extLst>
          </p:cNvPr>
          <p:cNvSpPr/>
          <p:nvPr/>
        </p:nvSpPr>
        <p:spPr>
          <a:xfrm>
            <a:off x="5297129" y="5314331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(inherits User)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6671D-0A37-2258-0B73-404185756ADA}"/>
              </a:ext>
            </a:extLst>
          </p:cNvPr>
          <p:cNvSpPr/>
          <p:nvPr/>
        </p:nvSpPr>
        <p:spPr>
          <a:xfrm>
            <a:off x="8849032" y="5314331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VoucherPayment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(inherits User)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F36708-EC8F-1624-DC02-8D37F0653463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6961239" y="4611328"/>
            <a:ext cx="1723104" cy="703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ACB55-1311-9E1A-7222-52C6D0459A47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8684343" y="4611328"/>
            <a:ext cx="1784554" cy="703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49AFF-8CE3-C873-ACBB-4E805F2B8D5C}"/>
              </a:ext>
            </a:extLst>
          </p:cNvPr>
          <p:cNvSpPr/>
          <p:nvPr/>
        </p:nvSpPr>
        <p:spPr>
          <a:xfrm>
            <a:off x="7064478" y="754868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90423-87D1-D12F-487C-407FADDFCE39}"/>
              </a:ext>
            </a:extLst>
          </p:cNvPr>
          <p:cNvSpPr txBox="1"/>
          <p:nvPr/>
        </p:nvSpPr>
        <p:spPr>
          <a:xfrm>
            <a:off x="0" y="4887601"/>
            <a:ext cx="523076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inherit from abstract Payment.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01FA66D-2E89-5438-0F4F-CC1D9BD8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792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96773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880C-D1B9-1F8B-C59B-ED61CD36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8218C1-6B28-D786-3087-5B041EA81095}"/>
              </a:ext>
            </a:extLst>
          </p:cNvPr>
          <p:cNvSpPr txBox="1"/>
          <p:nvPr/>
        </p:nvSpPr>
        <p:spPr>
          <a:xfrm>
            <a:off x="0" y="988143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(id, zone, plate, status, semester)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Payment (abstract)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Subclasses: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VoucherPayment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(name, id)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ParkingDB (acts like a system storage)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006575-0932-442C-0034-1C90AFDF5BD2}"/>
              </a:ext>
            </a:extLst>
          </p:cNvPr>
          <p:cNvSpPr/>
          <p:nvPr/>
        </p:nvSpPr>
        <p:spPr>
          <a:xfrm>
            <a:off x="7064478" y="3217605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ParkingDB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A505A0-F01B-8C17-C0A3-3CC99E588EA0}"/>
              </a:ext>
            </a:extLst>
          </p:cNvPr>
          <p:cNvSpPr/>
          <p:nvPr/>
        </p:nvSpPr>
        <p:spPr>
          <a:xfrm>
            <a:off x="7064477" y="1055392"/>
            <a:ext cx="3239729" cy="1393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CE8A54-551D-885A-746B-60E381BF5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713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4863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21D6-04E1-552E-F393-5E21C2A8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1C7307-6ECD-4F4B-3DB2-EC2EE9E0F12B}"/>
              </a:ext>
            </a:extLst>
          </p:cNvPr>
          <p:cNvSpPr txBox="1"/>
          <p:nvPr/>
        </p:nvSpPr>
        <p:spPr>
          <a:xfrm>
            <a:off x="0" y="988142"/>
            <a:ext cx="5127523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2. Attributes (inside rectangles)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Attributes are the "data fields."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→ id, name, email, role (Student or Staff)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→ id, zone, plate, status, semester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D6B752-270F-A7C1-B0B7-E37CF05C8373}"/>
              </a:ext>
            </a:extLst>
          </p:cNvPr>
          <p:cNvSpPr/>
          <p:nvPr/>
        </p:nvSpPr>
        <p:spPr>
          <a:xfrm>
            <a:off x="5444614" y="2120507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B36EE1-6A9F-4E61-7BF8-6F724FE1BD7F}"/>
              </a:ext>
            </a:extLst>
          </p:cNvPr>
          <p:cNvSpPr/>
          <p:nvPr/>
        </p:nvSpPr>
        <p:spPr>
          <a:xfrm>
            <a:off x="5444613" y="3429001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CB5FBB-32D4-967B-566A-5D8CC2F259D8}"/>
              </a:ext>
            </a:extLst>
          </p:cNvPr>
          <p:cNvSpPr/>
          <p:nvPr/>
        </p:nvSpPr>
        <p:spPr>
          <a:xfrm>
            <a:off x="5444613" y="4101663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90537D-C7F4-BE03-63D0-E309D0D77FF8}"/>
              </a:ext>
            </a:extLst>
          </p:cNvPr>
          <p:cNvSpPr/>
          <p:nvPr/>
        </p:nvSpPr>
        <p:spPr>
          <a:xfrm>
            <a:off x="5444613" y="4765038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CAA7D7-BD41-F2BD-5E49-D6D1402CBFF4}"/>
              </a:ext>
            </a:extLst>
          </p:cNvPr>
          <p:cNvSpPr/>
          <p:nvPr/>
        </p:nvSpPr>
        <p:spPr>
          <a:xfrm>
            <a:off x="5444613" y="5446988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AD5FF0-6205-B31A-50EF-E96E14EC8595}"/>
              </a:ext>
            </a:extLst>
          </p:cNvPr>
          <p:cNvSpPr/>
          <p:nvPr/>
        </p:nvSpPr>
        <p:spPr>
          <a:xfrm>
            <a:off x="5444613" y="6110363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C9BDE6-C1EC-F06A-2B32-CA7717FAB31E}"/>
              </a:ext>
            </a:extLst>
          </p:cNvPr>
          <p:cNvSpPr/>
          <p:nvPr/>
        </p:nvSpPr>
        <p:spPr>
          <a:xfrm>
            <a:off x="8952271" y="825910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0FA66F-49E8-7D55-DCFC-23262DF3F69C}"/>
              </a:ext>
            </a:extLst>
          </p:cNvPr>
          <p:cNvSpPr/>
          <p:nvPr/>
        </p:nvSpPr>
        <p:spPr>
          <a:xfrm>
            <a:off x="8952270" y="2134404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EA3440-C767-F624-CC08-954F335C31C4}"/>
              </a:ext>
            </a:extLst>
          </p:cNvPr>
          <p:cNvSpPr/>
          <p:nvPr/>
        </p:nvSpPr>
        <p:spPr>
          <a:xfrm>
            <a:off x="8952270" y="280706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95AF00-444A-E009-DA4A-4CDB0CC09305}"/>
              </a:ext>
            </a:extLst>
          </p:cNvPr>
          <p:cNvSpPr/>
          <p:nvPr/>
        </p:nvSpPr>
        <p:spPr>
          <a:xfrm>
            <a:off x="8952270" y="347044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A47345-2963-FC83-EAFF-392FF8C15060}"/>
              </a:ext>
            </a:extLst>
          </p:cNvPr>
          <p:cNvSpPr/>
          <p:nvPr/>
        </p:nvSpPr>
        <p:spPr>
          <a:xfrm>
            <a:off x="8952271" y="413381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6898F5-97B3-F49A-9681-7D9F2CCB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22091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8692-7B7F-2834-A11F-7857494F0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AFAE2A-3E22-4882-7346-CB8520B2E595}"/>
              </a:ext>
            </a:extLst>
          </p:cNvPr>
          <p:cNvSpPr txBox="1"/>
          <p:nvPr/>
        </p:nvSpPr>
        <p:spPr>
          <a:xfrm>
            <a:off x="0" y="184586"/>
            <a:ext cx="8834282" cy="626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What does the “+” mean?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UML, symbols in front of attributes/methods show visibility (who can access it):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 public – anyone can access it (other classes too).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- private – only the class itself can access it.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 protected – the class and its subclasses (children) can access it.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~ package – only classes in the same package/module can access it.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So in the diagram we see, +name means </a:t>
            </a:r>
            <a:r>
              <a:rPr kumimoji="0" lang="en-US" sz="2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name is public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34D81F-0A4F-43EE-1893-9A4F00BC3D34}"/>
              </a:ext>
            </a:extLst>
          </p:cNvPr>
          <p:cNvSpPr/>
          <p:nvPr/>
        </p:nvSpPr>
        <p:spPr>
          <a:xfrm>
            <a:off x="8952271" y="825910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5BFAED-607B-75AB-C5DB-2E14C73154E0}"/>
              </a:ext>
            </a:extLst>
          </p:cNvPr>
          <p:cNvSpPr/>
          <p:nvPr/>
        </p:nvSpPr>
        <p:spPr>
          <a:xfrm>
            <a:off x="8952270" y="2134404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603E5-7F97-AC4E-5616-F50914305FA5}"/>
              </a:ext>
            </a:extLst>
          </p:cNvPr>
          <p:cNvSpPr/>
          <p:nvPr/>
        </p:nvSpPr>
        <p:spPr>
          <a:xfrm>
            <a:off x="8952270" y="280706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2B80B5-DEBA-9592-8BE7-FA9B43B287E2}"/>
              </a:ext>
            </a:extLst>
          </p:cNvPr>
          <p:cNvSpPr/>
          <p:nvPr/>
        </p:nvSpPr>
        <p:spPr>
          <a:xfrm>
            <a:off x="8952270" y="347044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17BCD6-3798-22F7-E42F-54C436BC45F2}"/>
              </a:ext>
            </a:extLst>
          </p:cNvPr>
          <p:cNvSpPr/>
          <p:nvPr/>
        </p:nvSpPr>
        <p:spPr>
          <a:xfrm>
            <a:off x="8952271" y="413381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</a:t>
            </a:r>
          </a:p>
        </p:txBody>
      </p:sp>
    </p:spTree>
    <p:extLst>
      <p:ext uri="{BB962C8B-B14F-4D97-AF65-F5344CB8AC3E}">
        <p14:creationId xmlns:p14="http://schemas.microsoft.com/office/powerpoint/2010/main" val="214046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A5FD-6E56-DD27-3F69-B3B7ECE0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F837F0-CC94-457D-A48F-65597052BB30}"/>
              </a:ext>
            </a:extLst>
          </p:cNvPr>
          <p:cNvSpPr txBox="1"/>
          <p:nvPr/>
        </p:nvSpPr>
        <p:spPr>
          <a:xfrm>
            <a:off x="0" y="672662"/>
            <a:ext cx="5600430" cy="626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Why is #role Protected?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the diagram, +id, +name, +email are public because they need to be widely accessed (e.g., to display or look up a user).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 is protected because: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It’s an internal property that only subclasses (like Student and Staff) and the system itself should use.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6AA474-DBC1-01F0-2B09-144CB4FB2B88}"/>
              </a:ext>
            </a:extLst>
          </p:cNvPr>
          <p:cNvSpPr/>
          <p:nvPr/>
        </p:nvSpPr>
        <p:spPr>
          <a:xfrm>
            <a:off x="5656487" y="2134403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4FE3FA-4CC7-8E5C-F9E0-11C707BC2E3C}"/>
              </a:ext>
            </a:extLst>
          </p:cNvPr>
          <p:cNvSpPr/>
          <p:nvPr/>
        </p:nvSpPr>
        <p:spPr>
          <a:xfrm>
            <a:off x="5656486" y="3442897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B77B30-D610-3004-74F7-DE82F9EF254B}"/>
              </a:ext>
            </a:extLst>
          </p:cNvPr>
          <p:cNvSpPr/>
          <p:nvPr/>
        </p:nvSpPr>
        <p:spPr>
          <a:xfrm>
            <a:off x="5656486" y="4115559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D57A0D-967A-1657-2145-5C41B226FD9E}"/>
              </a:ext>
            </a:extLst>
          </p:cNvPr>
          <p:cNvSpPr/>
          <p:nvPr/>
        </p:nvSpPr>
        <p:spPr>
          <a:xfrm>
            <a:off x="5656486" y="4778934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2F9CC1-C5FD-8009-4D65-67D5E70B0302}"/>
              </a:ext>
            </a:extLst>
          </p:cNvPr>
          <p:cNvSpPr/>
          <p:nvPr/>
        </p:nvSpPr>
        <p:spPr>
          <a:xfrm>
            <a:off x="5656486" y="5460884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89A5A1-0D21-CA2D-C95C-1A1664B8030A}"/>
              </a:ext>
            </a:extLst>
          </p:cNvPr>
          <p:cNvSpPr/>
          <p:nvPr/>
        </p:nvSpPr>
        <p:spPr>
          <a:xfrm>
            <a:off x="5656486" y="6124259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572B0-5E60-DED0-A9C4-6BA4E8676841}"/>
              </a:ext>
            </a:extLst>
          </p:cNvPr>
          <p:cNvSpPr/>
          <p:nvPr/>
        </p:nvSpPr>
        <p:spPr>
          <a:xfrm>
            <a:off x="8952271" y="825910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9E1D2C-3A3C-4B24-DE2A-5F779D41B5F2}"/>
              </a:ext>
            </a:extLst>
          </p:cNvPr>
          <p:cNvSpPr/>
          <p:nvPr/>
        </p:nvSpPr>
        <p:spPr>
          <a:xfrm>
            <a:off x="8952270" y="2134404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9F8C3B-1957-B3D4-9DF7-E27F5A83B5E7}"/>
              </a:ext>
            </a:extLst>
          </p:cNvPr>
          <p:cNvSpPr/>
          <p:nvPr/>
        </p:nvSpPr>
        <p:spPr>
          <a:xfrm>
            <a:off x="8952270" y="280706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28A068-D1CA-6C95-C259-31909FC6C71C}"/>
              </a:ext>
            </a:extLst>
          </p:cNvPr>
          <p:cNvSpPr/>
          <p:nvPr/>
        </p:nvSpPr>
        <p:spPr>
          <a:xfrm>
            <a:off x="8952270" y="347044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3AFA1D-8D15-E49C-FC43-D63D05CDF0AB}"/>
              </a:ext>
            </a:extLst>
          </p:cNvPr>
          <p:cNvSpPr/>
          <p:nvPr/>
        </p:nvSpPr>
        <p:spPr>
          <a:xfrm>
            <a:off x="8952271" y="413381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24EA83-C644-C023-E7B4-35CF1B9A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70903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F5C31-AC15-2FCD-C382-18F05567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930BD3-EA78-5665-AC9F-82A0B75A342E}"/>
              </a:ext>
            </a:extLst>
          </p:cNvPr>
          <p:cNvSpPr txBox="1"/>
          <p:nvPr/>
        </p:nvSpPr>
        <p:spPr>
          <a:xfrm>
            <a:off x="0" y="1299835"/>
            <a:ext cx="5600430" cy="5013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We don’t want every external class (like Vehicle or Permit) directly changing the role of a user.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For example, only the User hierarchy should decide whether someone is a Student, Staff, or Admin.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5FB25-1504-07E0-556C-401161AA57E5}"/>
              </a:ext>
            </a:extLst>
          </p:cNvPr>
          <p:cNvSpPr/>
          <p:nvPr/>
        </p:nvSpPr>
        <p:spPr>
          <a:xfrm>
            <a:off x="5656487" y="2134403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446820-FF82-3345-EBBC-AC9884F4F60A}"/>
              </a:ext>
            </a:extLst>
          </p:cNvPr>
          <p:cNvSpPr/>
          <p:nvPr/>
        </p:nvSpPr>
        <p:spPr>
          <a:xfrm>
            <a:off x="5656486" y="3442897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682C9E-5759-6C2F-2745-266BC5CC0B7D}"/>
              </a:ext>
            </a:extLst>
          </p:cNvPr>
          <p:cNvSpPr/>
          <p:nvPr/>
        </p:nvSpPr>
        <p:spPr>
          <a:xfrm>
            <a:off x="5656486" y="4115559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B2C775-AB48-8265-427D-476AF317B6A1}"/>
              </a:ext>
            </a:extLst>
          </p:cNvPr>
          <p:cNvSpPr/>
          <p:nvPr/>
        </p:nvSpPr>
        <p:spPr>
          <a:xfrm>
            <a:off x="5656486" y="4778934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88174A-59FA-1E20-FB69-772367C41302}"/>
              </a:ext>
            </a:extLst>
          </p:cNvPr>
          <p:cNvSpPr/>
          <p:nvPr/>
        </p:nvSpPr>
        <p:spPr>
          <a:xfrm>
            <a:off x="5656486" y="5460884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9344C1-4464-5B09-2CE6-669C57793F5D}"/>
              </a:ext>
            </a:extLst>
          </p:cNvPr>
          <p:cNvSpPr/>
          <p:nvPr/>
        </p:nvSpPr>
        <p:spPr>
          <a:xfrm>
            <a:off x="5656486" y="6124259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F14FD0-782D-D575-5547-D87D239219F1}"/>
              </a:ext>
            </a:extLst>
          </p:cNvPr>
          <p:cNvSpPr/>
          <p:nvPr/>
        </p:nvSpPr>
        <p:spPr>
          <a:xfrm>
            <a:off x="8952271" y="825910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5B25AD-4E0C-2643-9A3F-6CD6E76941D2}"/>
              </a:ext>
            </a:extLst>
          </p:cNvPr>
          <p:cNvSpPr/>
          <p:nvPr/>
        </p:nvSpPr>
        <p:spPr>
          <a:xfrm>
            <a:off x="8952270" y="2134404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5529ED-DB91-2514-8F96-6A2229744C98}"/>
              </a:ext>
            </a:extLst>
          </p:cNvPr>
          <p:cNvSpPr/>
          <p:nvPr/>
        </p:nvSpPr>
        <p:spPr>
          <a:xfrm>
            <a:off x="8952270" y="280706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FAF4A-F958-7D88-A886-E4BEE89ED7B7}"/>
              </a:ext>
            </a:extLst>
          </p:cNvPr>
          <p:cNvSpPr/>
          <p:nvPr/>
        </p:nvSpPr>
        <p:spPr>
          <a:xfrm>
            <a:off x="8952270" y="347044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339270-AA27-45C6-7A47-4401DC02463D}"/>
              </a:ext>
            </a:extLst>
          </p:cNvPr>
          <p:cNvSpPr/>
          <p:nvPr/>
        </p:nvSpPr>
        <p:spPr>
          <a:xfrm>
            <a:off x="8952271" y="413381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D3C86C-FECA-A33D-8074-B1D6D8A7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62293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3401-94C0-D5AC-E2F5-33FF685E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24356-25E4-EF71-2EF5-B97A85334933}"/>
              </a:ext>
            </a:extLst>
          </p:cNvPr>
          <p:cNvSpPr txBox="1"/>
          <p:nvPr/>
        </p:nvSpPr>
        <p:spPr>
          <a:xfrm>
            <a:off x="0" y="517754"/>
            <a:ext cx="560043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simple words:</a:t>
            </a:r>
          </a:p>
          <a:p>
            <a:pPr marL="8032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public (+) → information we want everyone to see/use (e.g., name, id).</a:t>
            </a:r>
          </a:p>
          <a:p>
            <a:pPr marL="8032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protected (#) → information we only want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children of User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(Student, Staff) to use, but not outsiders.</a:t>
            </a:r>
          </a:p>
          <a:p>
            <a:pPr marL="8032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This keeps the system safe and structured.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DDB5A3-F94A-A694-A571-354BA3960451}"/>
              </a:ext>
            </a:extLst>
          </p:cNvPr>
          <p:cNvSpPr/>
          <p:nvPr/>
        </p:nvSpPr>
        <p:spPr>
          <a:xfrm>
            <a:off x="5656487" y="2134403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75178E-C051-A65F-9EA0-6FC1A0AC9FB3}"/>
              </a:ext>
            </a:extLst>
          </p:cNvPr>
          <p:cNvSpPr/>
          <p:nvPr/>
        </p:nvSpPr>
        <p:spPr>
          <a:xfrm>
            <a:off x="5656486" y="3442897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4847CD-0327-32CE-4455-31AA498FAFBA}"/>
              </a:ext>
            </a:extLst>
          </p:cNvPr>
          <p:cNvSpPr/>
          <p:nvPr/>
        </p:nvSpPr>
        <p:spPr>
          <a:xfrm>
            <a:off x="5656486" y="4115559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677309-CDA6-6702-3DF7-936625C14F64}"/>
              </a:ext>
            </a:extLst>
          </p:cNvPr>
          <p:cNvSpPr/>
          <p:nvPr/>
        </p:nvSpPr>
        <p:spPr>
          <a:xfrm>
            <a:off x="5656486" y="4778934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CAC58B-9C43-E4E7-E678-93104EE6AA46}"/>
              </a:ext>
            </a:extLst>
          </p:cNvPr>
          <p:cNvSpPr/>
          <p:nvPr/>
        </p:nvSpPr>
        <p:spPr>
          <a:xfrm>
            <a:off x="5656486" y="5460884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C17092-1EC1-382B-714C-D1C3A8A58B82}"/>
              </a:ext>
            </a:extLst>
          </p:cNvPr>
          <p:cNvSpPr/>
          <p:nvPr/>
        </p:nvSpPr>
        <p:spPr>
          <a:xfrm>
            <a:off x="5656486" y="6124259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195C51-1500-842D-0891-87292A24A414}"/>
              </a:ext>
            </a:extLst>
          </p:cNvPr>
          <p:cNvSpPr/>
          <p:nvPr/>
        </p:nvSpPr>
        <p:spPr>
          <a:xfrm>
            <a:off x="8952271" y="825910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DF6FFC-C682-EF0F-E598-05D63034F904}"/>
              </a:ext>
            </a:extLst>
          </p:cNvPr>
          <p:cNvSpPr/>
          <p:nvPr/>
        </p:nvSpPr>
        <p:spPr>
          <a:xfrm>
            <a:off x="8952270" y="2134404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9C1868-07ED-0C4E-65BC-BB93C1D22211}"/>
              </a:ext>
            </a:extLst>
          </p:cNvPr>
          <p:cNvSpPr/>
          <p:nvPr/>
        </p:nvSpPr>
        <p:spPr>
          <a:xfrm>
            <a:off x="8952270" y="280706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87E97F-DB28-170B-AB01-7F87AE0E7D81}"/>
              </a:ext>
            </a:extLst>
          </p:cNvPr>
          <p:cNvSpPr/>
          <p:nvPr/>
        </p:nvSpPr>
        <p:spPr>
          <a:xfrm>
            <a:off x="8952270" y="347044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A06DCC-D1FB-E6A4-C19C-57D4B926FB22}"/>
              </a:ext>
            </a:extLst>
          </p:cNvPr>
          <p:cNvSpPr/>
          <p:nvPr/>
        </p:nvSpPr>
        <p:spPr>
          <a:xfrm>
            <a:off x="8952271" y="413381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AC8ECC-9C19-FF25-C815-043DE5A4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980970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A617-F877-42B5-2843-A648DA66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87E48F-35B6-0B9A-BFA1-3F9011A995EB}"/>
              </a:ext>
            </a:extLst>
          </p:cNvPr>
          <p:cNvSpPr txBox="1"/>
          <p:nvPr/>
        </p:nvSpPr>
        <p:spPr>
          <a:xfrm>
            <a:off x="0" y="988142"/>
            <a:ext cx="5127523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(name, id)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(plate, make)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ParkingDB 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savePermit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readPermit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3B77D5-D69B-5C7B-2F0A-AE5B65FBA186}"/>
              </a:ext>
            </a:extLst>
          </p:cNvPr>
          <p:cNvSpPr/>
          <p:nvPr/>
        </p:nvSpPr>
        <p:spPr>
          <a:xfrm>
            <a:off x="8952271" y="530942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ECF06-AA4E-5C13-E8CE-E202A582D610}"/>
              </a:ext>
            </a:extLst>
          </p:cNvPr>
          <p:cNvSpPr/>
          <p:nvPr/>
        </p:nvSpPr>
        <p:spPr>
          <a:xfrm>
            <a:off x="8952270" y="1839436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A21895-1D9F-A065-0E13-9355903F8A70}"/>
              </a:ext>
            </a:extLst>
          </p:cNvPr>
          <p:cNvSpPr/>
          <p:nvPr/>
        </p:nvSpPr>
        <p:spPr>
          <a:xfrm>
            <a:off x="8952270" y="2512098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C41D10-EBD9-3B01-5A6F-BB1E029493CA}"/>
              </a:ext>
            </a:extLst>
          </p:cNvPr>
          <p:cNvSpPr/>
          <p:nvPr/>
        </p:nvSpPr>
        <p:spPr>
          <a:xfrm>
            <a:off x="5444614" y="2120507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6C5D30-AA3F-867E-9BC2-E1C9F16C123E}"/>
              </a:ext>
            </a:extLst>
          </p:cNvPr>
          <p:cNvSpPr/>
          <p:nvPr/>
        </p:nvSpPr>
        <p:spPr>
          <a:xfrm>
            <a:off x="5444613" y="3429001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plate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43170B-694D-4471-FC28-A8D53D695C9F}"/>
              </a:ext>
            </a:extLst>
          </p:cNvPr>
          <p:cNvSpPr/>
          <p:nvPr/>
        </p:nvSpPr>
        <p:spPr>
          <a:xfrm>
            <a:off x="5444613" y="4101663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make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DFE41B-60F3-0378-8507-204A99D7AD3B}"/>
              </a:ext>
            </a:extLst>
          </p:cNvPr>
          <p:cNvSpPr/>
          <p:nvPr/>
        </p:nvSpPr>
        <p:spPr>
          <a:xfrm>
            <a:off x="1757517" y="4120079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ParkingDB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D9E5F-D196-2FAB-E3C2-571F0180D0EC}"/>
              </a:ext>
            </a:extLst>
          </p:cNvPr>
          <p:cNvSpPr/>
          <p:nvPr/>
        </p:nvSpPr>
        <p:spPr>
          <a:xfrm>
            <a:off x="1757516" y="5428573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savePermit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B2F1AF-086E-D355-8DA9-2A514354475F}"/>
              </a:ext>
            </a:extLst>
          </p:cNvPr>
          <p:cNvSpPr/>
          <p:nvPr/>
        </p:nvSpPr>
        <p:spPr>
          <a:xfrm>
            <a:off x="1757516" y="6101235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readPermit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1CE8868-FCCC-AE60-AE39-ED12196F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415537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28EB-0427-2AC1-C9D1-C8A86252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3F08A5-F545-5FDE-07F3-2E8B1193E5A5}"/>
              </a:ext>
            </a:extLst>
          </p:cNvPr>
          <p:cNvSpPr txBox="1"/>
          <p:nvPr/>
        </p:nvSpPr>
        <p:spPr>
          <a:xfrm>
            <a:off x="0" y="988142"/>
            <a:ext cx="5127523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voucherid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cardNo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authNo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Payment (amount, time)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73E096-E5FE-0A72-210F-9DBD45F6F331}"/>
              </a:ext>
            </a:extLst>
          </p:cNvPr>
          <p:cNvSpPr/>
          <p:nvPr/>
        </p:nvSpPr>
        <p:spPr>
          <a:xfrm>
            <a:off x="8952271" y="530942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VoucherPayment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DFB6D6-149E-4D98-07E1-675165BF1564}"/>
              </a:ext>
            </a:extLst>
          </p:cNvPr>
          <p:cNvSpPr/>
          <p:nvPr/>
        </p:nvSpPr>
        <p:spPr>
          <a:xfrm>
            <a:off x="8952270" y="1839436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voucherid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196047-B086-75A5-3034-4B4C4E7D29EA}"/>
              </a:ext>
            </a:extLst>
          </p:cNvPr>
          <p:cNvSpPr/>
          <p:nvPr/>
        </p:nvSpPr>
        <p:spPr>
          <a:xfrm>
            <a:off x="5444614" y="2120507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CardPayment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3C2AC7-B32A-CFFE-782E-A6094C15AB50}"/>
              </a:ext>
            </a:extLst>
          </p:cNvPr>
          <p:cNvSpPr/>
          <p:nvPr/>
        </p:nvSpPr>
        <p:spPr>
          <a:xfrm>
            <a:off x="5444613" y="3429001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cardNo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98CC7A-136D-3BFA-BA3B-207ADC0D2384}"/>
              </a:ext>
            </a:extLst>
          </p:cNvPr>
          <p:cNvSpPr/>
          <p:nvPr/>
        </p:nvSpPr>
        <p:spPr>
          <a:xfrm>
            <a:off x="5444613" y="4101663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authNo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DBDBF7-AADB-C7C4-A151-37B0CCFC4A60}"/>
              </a:ext>
            </a:extLst>
          </p:cNvPr>
          <p:cNvSpPr/>
          <p:nvPr/>
        </p:nvSpPr>
        <p:spPr>
          <a:xfrm>
            <a:off x="1757517" y="4120079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Payment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39093E-1553-8BB3-740E-EE02C41CE451}"/>
              </a:ext>
            </a:extLst>
          </p:cNvPr>
          <p:cNvSpPr/>
          <p:nvPr/>
        </p:nvSpPr>
        <p:spPr>
          <a:xfrm>
            <a:off x="1757516" y="5428573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+amount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24C04-5EBE-F43B-371B-A5E9970EEA7D}"/>
              </a:ext>
            </a:extLst>
          </p:cNvPr>
          <p:cNvSpPr/>
          <p:nvPr/>
        </p:nvSpPr>
        <p:spPr>
          <a:xfrm>
            <a:off x="1757516" y="6101235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+time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3A543AF-8667-2B6E-AAE5-7C35C24D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95734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BC69-4C40-2E36-A5B4-829FCDEA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98654B-6DF2-4F17-A863-F6686D80CDB2}"/>
              </a:ext>
            </a:extLst>
          </p:cNvPr>
          <p:cNvSpPr txBox="1"/>
          <p:nvPr/>
        </p:nvSpPr>
        <p:spPr>
          <a:xfrm>
            <a:off x="0" y="1064165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3. Methods (actions, shown as ovals linked)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Think of methods as actions the class can do: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login()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Permit: activate(), revoke(),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assignVehicle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Payment: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processPayment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revokePermit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ParkingDB: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savePermit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readPermit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BBBC3-9A74-53A9-6168-E96B9810E1DF}"/>
              </a:ext>
            </a:extLst>
          </p:cNvPr>
          <p:cNvSpPr/>
          <p:nvPr/>
        </p:nvSpPr>
        <p:spPr>
          <a:xfrm>
            <a:off x="8952271" y="825910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8EFC43-69A2-5C05-17A6-158CB304860B}"/>
              </a:ext>
            </a:extLst>
          </p:cNvPr>
          <p:cNvSpPr/>
          <p:nvPr/>
        </p:nvSpPr>
        <p:spPr>
          <a:xfrm>
            <a:off x="8952270" y="2134404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3FEB86-EA74-6EE5-1E08-3162DB2A88CD}"/>
              </a:ext>
            </a:extLst>
          </p:cNvPr>
          <p:cNvSpPr/>
          <p:nvPr/>
        </p:nvSpPr>
        <p:spPr>
          <a:xfrm>
            <a:off x="8952270" y="280706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BC5C1F-C934-B146-D8D1-C36630822FD1}"/>
              </a:ext>
            </a:extLst>
          </p:cNvPr>
          <p:cNvSpPr/>
          <p:nvPr/>
        </p:nvSpPr>
        <p:spPr>
          <a:xfrm>
            <a:off x="8952270" y="347044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3FADC4-60D6-4FF0-20A4-546B70D9518B}"/>
              </a:ext>
            </a:extLst>
          </p:cNvPr>
          <p:cNvSpPr/>
          <p:nvPr/>
        </p:nvSpPr>
        <p:spPr>
          <a:xfrm>
            <a:off x="8952271" y="413381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F08EED-F5EC-12EA-DF06-5FF307A3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590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418381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C65B-2468-9439-1BD2-4A712A5D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E8E848-7487-CDF7-6FBB-F44BBC58EF7F}"/>
              </a:ext>
            </a:extLst>
          </p:cNvPr>
          <p:cNvSpPr txBox="1"/>
          <p:nvPr/>
        </p:nvSpPr>
        <p:spPr>
          <a:xfrm>
            <a:off x="0" y="0"/>
            <a:ext cx="8952269" cy="638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User Class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 (Rectangle: data blueprint).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(abstract)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: we don’t create a plain User; you create </a:t>
            </a:r>
            <a:r>
              <a:rPr kumimoji="0" lang="en-US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StudentUser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or </a:t>
            </a:r>
            <a:r>
              <a:rPr kumimoji="0" lang="en-US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StaffUser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(inheritance shown by hollow-triangle arrows).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Attributes (top middle section)</a:t>
            </a:r>
            <a:endParaRPr kumimoji="0" lang="en-US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+id: int, +name: string, +email: string are public.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 is protected (User + its children can see it).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Methods (bottom middle section)</a:t>
            </a:r>
            <a:endParaRPr kumimoji="0" lang="en-US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+login(email, password): bool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</a:t>
            </a:r>
            <a:r>
              <a:rPr kumimoji="0" lang="en-US" alt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requestPermit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(plate, zone, semester): Permit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~</a:t>
            </a:r>
            <a:r>
              <a:rPr kumimoji="0" lang="en-US" alt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cancelRequest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is package visibility (same module only).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1BA78E-619A-EC7A-400B-F507409C2A5A}"/>
              </a:ext>
            </a:extLst>
          </p:cNvPr>
          <p:cNvSpPr/>
          <p:nvPr/>
        </p:nvSpPr>
        <p:spPr>
          <a:xfrm>
            <a:off x="8952271" y="18415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D51F67-F96E-D641-101E-9D16F6121140}"/>
              </a:ext>
            </a:extLst>
          </p:cNvPr>
          <p:cNvSpPr/>
          <p:nvPr/>
        </p:nvSpPr>
        <p:spPr>
          <a:xfrm>
            <a:off x="8952270" y="1326909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+id: int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0E122E-E87D-0048-8534-D340540E9E6F}"/>
              </a:ext>
            </a:extLst>
          </p:cNvPr>
          <p:cNvSpPr/>
          <p:nvPr/>
        </p:nvSpPr>
        <p:spPr>
          <a:xfrm>
            <a:off x="8952270" y="199957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+name: string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C19380-BED8-C886-041B-B20BECA13D43}"/>
              </a:ext>
            </a:extLst>
          </p:cNvPr>
          <p:cNvSpPr/>
          <p:nvPr/>
        </p:nvSpPr>
        <p:spPr>
          <a:xfrm>
            <a:off x="8952270" y="266294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+email: string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BCEC73-0A38-7D2C-6A44-7765BDA3D803}"/>
              </a:ext>
            </a:extLst>
          </p:cNvPr>
          <p:cNvSpPr/>
          <p:nvPr/>
        </p:nvSpPr>
        <p:spPr>
          <a:xfrm>
            <a:off x="8952271" y="332632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 {Student, Staff}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E0B01D-A951-4D14-AAFD-61BAD6389F46}"/>
              </a:ext>
            </a:extLst>
          </p:cNvPr>
          <p:cNvSpPr/>
          <p:nvPr/>
        </p:nvSpPr>
        <p:spPr>
          <a:xfrm>
            <a:off x="8952269" y="3998984"/>
            <a:ext cx="3239729" cy="28406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D8975A5-D04C-E93C-BAF9-CB0DAAC8C04D}"/>
              </a:ext>
            </a:extLst>
          </p:cNvPr>
          <p:cNvSpPr/>
          <p:nvPr/>
        </p:nvSpPr>
        <p:spPr>
          <a:xfrm>
            <a:off x="8967021" y="4247535"/>
            <a:ext cx="320039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+login()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B1D955-D30C-F4FB-F00A-76E641314109}"/>
              </a:ext>
            </a:extLst>
          </p:cNvPr>
          <p:cNvSpPr/>
          <p:nvPr/>
        </p:nvSpPr>
        <p:spPr>
          <a:xfrm>
            <a:off x="8976854" y="5007978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requestPermit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1DB5F5-9004-145C-9509-3EF6FC4479FC}"/>
              </a:ext>
            </a:extLst>
          </p:cNvPr>
          <p:cNvSpPr/>
          <p:nvPr/>
        </p:nvSpPr>
        <p:spPr>
          <a:xfrm>
            <a:off x="8976854" y="5768421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~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cancelRequest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DD9BF6-8E00-0F68-7DDD-F758C39DC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855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3E3CF-B896-6801-6BB3-9B7BA5EB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AF7F6C5B-8205-695F-36E6-A30C46D55A80}"/>
              </a:ext>
            </a:extLst>
          </p:cNvPr>
          <p:cNvSpPr txBox="1">
            <a:spLocks/>
          </p:cNvSpPr>
          <p:nvPr/>
        </p:nvSpPr>
        <p:spPr>
          <a:xfrm>
            <a:off x="8109153" y="147620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E7343C-C77A-447E-FD9D-7D10CC023037}"/>
              </a:ext>
            </a:extLst>
          </p:cNvPr>
          <p:cNvSpPr txBox="1">
            <a:spLocks/>
          </p:cNvSpPr>
          <p:nvPr/>
        </p:nvSpPr>
        <p:spPr>
          <a:xfrm>
            <a:off x="7356986" y="294925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D12868-EFCD-D7ED-758B-031A5C3C2A84}"/>
              </a:ext>
            </a:extLst>
          </p:cNvPr>
          <p:cNvSpPr txBox="1">
            <a:spLocks/>
          </p:cNvSpPr>
          <p:nvPr/>
        </p:nvSpPr>
        <p:spPr>
          <a:xfrm>
            <a:off x="7356986" y="3585031"/>
            <a:ext cx="1619868" cy="1318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Requests 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C0682-00FC-15BB-2C6D-014231DA732D}"/>
              </a:ext>
            </a:extLst>
          </p:cNvPr>
          <p:cNvSpPr txBox="1"/>
          <p:nvPr/>
        </p:nvSpPr>
        <p:spPr>
          <a:xfrm>
            <a:off x="0" y="0"/>
            <a:ext cx="895226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Association (Relationship)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line from User to Permit is labeled “requests” to use an action verb/or from Permit to User “requests by”.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0FEAC2C2-4AB5-8417-C46F-95828AE2C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F2C3C6-AB9E-AAE9-8DBD-8C97080AC705}"/>
              </a:ext>
            </a:extLst>
          </p:cNvPr>
          <p:cNvSpPr/>
          <p:nvPr/>
        </p:nvSpPr>
        <p:spPr>
          <a:xfrm>
            <a:off x="4092674" y="2177066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F2883D-DE82-C81E-3C12-CD9E2D296555}"/>
              </a:ext>
            </a:extLst>
          </p:cNvPr>
          <p:cNvSpPr/>
          <p:nvPr/>
        </p:nvSpPr>
        <p:spPr>
          <a:xfrm>
            <a:off x="4092673" y="3485560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8DC36-50D7-7B6A-A5B0-BED49CBBDE11}"/>
              </a:ext>
            </a:extLst>
          </p:cNvPr>
          <p:cNvSpPr/>
          <p:nvPr/>
        </p:nvSpPr>
        <p:spPr>
          <a:xfrm>
            <a:off x="4092673" y="41582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197EFC-9EB8-FD62-12BE-771F63FEDD74}"/>
              </a:ext>
            </a:extLst>
          </p:cNvPr>
          <p:cNvSpPr/>
          <p:nvPr/>
        </p:nvSpPr>
        <p:spPr>
          <a:xfrm>
            <a:off x="4092673" y="482159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C986BE-EEC7-C450-26B3-1D04F05B0967}"/>
              </a:ext>
            </a:extLst>
          </p:cNvPr>
          <p:cNvSpPr/>
          <p:nvPr/>
        </p:nvSpPr>
        <p:spPr>
          <a:xfrm>
            <a:off x="4092673" y="550354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18A22B-BED8-E110-CAB4-BEB55A9020AF}"/>
              </a:ext>
            </a:extLst>
          </p:cNvPr>
          <p:cNvSpPr/>
          <p:nvPr/>
        </p:nvSpPr>
        <p:spPr>
          <a:xfrm>
            <a:off x="4092673" y="61669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38D2A5-3465-E2A6-FE59-01700E63F67E}"/>
              </a:ext>
            </a:extLst>
          </p:cNvPr>
          <p:cNvSpPr txBox="1"/>
          <p:nvPr/>
        </p:nvSpPr>
        <p:spPr>
          <a:xfrm>
            <a:off x="24583" y="1932016"/>
            <a:ext cx="4043509" cy="5013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(per semester)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</a:t>
            </a:r>
            <a:r>
              <a:rPr kumimoji="0" lang="en-US" altLang="en-US" sz="2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user may have zero or one active permit in a semester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(optional on the permit side).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permit is requested by only one user at a time (mandatory)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41423C-5084-1AFB-C347-343C8422E7FC}"/>
              </a:ext>
            </a:extLst>
          </p:cNvPr>
          <p:cNvSpPr/>
          <p:nvPr/>
        </p:nvSpPr>
        <p:spPr>
          <a:xfrm>
            <a:off x="8952271" y="18415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15F8D4-65C5-9871-7413-3B9007631F9F}"/>
              </a:ext>
            </a:extLst>
          </p:cNvPr>
          <p:cNvSpPr/>
          <p:nvPr/>
        </p:nvSpPr>
        <p:spPr>
          <a:xfrm>
            <a:off x="8952270" y="1326909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+id: int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CAD849-F3B8-A8E2-D2BF-60FA72D4C862}"/>
              </a:ext>
            </a:extLst>
          </p:cNvPr>
          <p:cNvSpPr/>
          <p:nvPr/>
        </p:nvSpPr>
        <p:spPr>
          <a:xfrm>
            <a:off x="8952270" y="199957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+name: string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FB6C6E-ED74-378D-DCE4-70716C696953}"/>
              </a:ext>
            </a:extLst>
          </p:cNvPr>
          <p:cNvSpPr/>
          <p:nvPr/>
        </p:nvSpPr>
        <p:spPr>
          <a:xfrm>
            <a:off x="8952270" y="266294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+email: string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410973-D114-895D-35B7-92E15D3B23C4}"/>
              </a:ext>
            </a:extLst>
          </p:cNvPr>
          <p:cNvSpPr/>
          <p:nvPr/>
        </p:nvSpPr>
        <p:spPr>
          <a:xfrm>
            <a:off x="8952271" y="332632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 {Student, Staff}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0FBF02-CD59-F1A4-424E-E1D4FDE7AA14}"/>
              </a:ext>
            </a:extLst>
          </p:cNvPr>
          <p:cNvSpPr/>
          <p:nvPr/>
        </p:nvSpPr>
        <p:spPr>
          <a:xfrm>
            <a:off x="8952269" y="3998984"/>
            <a:ext cx="3239729" cy="28406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3E2A28-5DD7-1ACF-3AE6-23893DC3D536}"/>
              </a:ext>
            </a:extLst>
          </p:cNvPr>
          <p:cNvSpPr/>
          <p:nvPr/>
        </p:nvSpPr>
        <p:spPr>
          <a:xfrm>
            <a:off x="8967021" y="4247535"/>
            <a:ext cx="320039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+login()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CAA0684-0ED3-302E-29CA-598EDE10CF14}"/>
              </a:ext>
            </a:extLst>
          </p:cNvPr>
          <p:cNvSpPr/>
          <p:nvPr/>
        </p:nvSpPr>
        <p:spPr>
          <a:xfrm>
            <a:off x="8976854" y="5007978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requestPermit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49019A-B241-F5FB-CDB6-80CFBD505016}"/>
              </a:ext>
            </a:extLst>
          </p:cNvPr>
          <p:cNvSpPr/>
          <p:nvPr/>
        </p:nvSpPr>
        <p:spPr>
          <a:xfrm>
            <a:off x="8976854" y="5768421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~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cancelRequest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3954BFE-D408-2F7B-9FBB-899C890C2CD6}"/>
              </a:ext>
            </a:extLst>
          </p:cNvPr>
          <p:cNvSpPr/>
          <p:nvPr/>
        </p:nvSpPr>
        <p:spPr>
          <a:xfrm>
            <a:off x="7477434" y="2672234"/>
            <a:ext cx="265471" cy="32168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907E527-20AF-6D58-9385-7A8D0446A64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32403" y="2816942"/>
            <a:ext cx="1619868" cy="1437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A977301-0142-EDF3-CDC5-3BFE646961D5}"/>
              </a:ext>
            </a:extLst>
          </p:cNvPr>
          <p:cNvCxnSpPr>
            <a:cxnSpLocks/>
          </p:cNvCxnSpPr>
          <p:nvPr/>
        </p:nvCxnSpPr>
        <p:spPr>
          <a:xfrm>
            <a:off x="8672052" y="2566222"/>
            <a:ext cx="0" cy="5161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481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7D5D-BA20-5BE7-A34C-108DC817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C3660749-A76F-4B39-8934-46AE05B1C7AC}"/>
              </a:ext>
            </a:extLst>
          </p:cNvPr>
          <p:cNvSpPr txBox="1">
            <a:spLocks/>
          </p:cNvSpPr>
          <p:nvPr/>
        </p:nvSpPr>
        <p:spPr>
          <a:xfrm>
            <a:off x="8109153" y="147620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31AF6D-8ABC-5F58-901B-1F9488235C9C}"/>
              </a:ext>
            </a:extLst>
          </p:cNvPr>
          <p:cNvSpPr txBox="1">
            <a:spLocks/>
          </p:cNvSpPr>
          <p:nvPr/>
        </p:nvSpPr>
        <p:spPr>
          <a:xfrm>
            <a:off x="7356986" y="294925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68D5EA-CCBE-CB4F-5698-D33AE759A72B}"/>
              </a:ext>
            </a:extLst>
          </p:cNvPr>
          <p:cNvSpPr txBox="1">
            <a:spLocks/>
          </p:cNvSpPr>
          <p:nvPr/>
        </p:nvSpPr>
        <p:spPr>
          <a:xfrm>
            <a:off x="7356986" y="3585031"/>
            <a:ext cx="1619868" cy="1318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Requests 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D8870-C584-B210-862F-B8BC3583C9B5}"/>
              </a:ext>
            </a:extLst>
          </p:cNvPr>
          <p:cNvSpPr txBox="1"/>
          <p:nvPr/>
        </p:nvSpPr>
        <p:spPr>
          <a:xfrm>
            <a:off x="0" y="0"/>
            <a:ext cx="895226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Association (Relationship)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EC0628E4-AC50-FDAD-3D15-BEE9294AA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C6F416-F82E-30EC-A8DB-AE2FF8757FB5}"/>
              </a:ext>
            </a:extLst>
          </p:cNvPr>
          <p:cNvSpPr/>
          <p:nvPr/>
        </p:nvSpPr>
        <p:spPr>
          <a:xfrm>
            <a:off x="4092674" y="2177066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43AAC-28BB-5D0C-D080-B7132CA646A9}"/>
              </a:ext>
            </a:extLst>
          </p:cNvPr>
          <p:cNvSpPr/>
          <p:nvPr/>
        </p:nvSpPr>
        <p:spPr>
          <a:xfrm>
            <a:off x="4092673" y="3485560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A3237-A971-7469-E3FF-7C384810DCDA}"/>
              </a:ext>
            </a:extLst>
          </p:cNvPr>
          <p:cNvSpPr/>
          <p:nvPr/>
        </p:nvSpPr>
        <p:spPr>
          <a:xfrm>
            <a:off x="4092673" y="41582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8BA55-E9A2-E940-80EA-8B6D6D097307}"/>
              </a:ext>
            </a:extLst>
          </p:cNvPr>
          <p:cNvSpPr/>
          <p:nvPr/>
        </p:nvSpPr>
        <p:spPr>
          <a:xfrm>
            <a:off x="4092673" y="482159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8090A4-6B18-60F8-34D0-EA4231289BA7}"/>
              </a:ext>
            </a:extLst>
          </p:cNvPr>
          <p:cNvSpPr/>
          <p:nvPr/>
        </p:nvSpPr>
        <p:spPr>
          <a:xfrm>
            <a:off x="4092673" y="550354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E2C7B4-66FA-A746-9874-6531EACA664C}"/>
              </a:ext>
            </a:extLst>
          </p:cNvPr>
          <p:cNvSpPr/>
          <p:nvPr/>
        </p:nvSpPr>
        <p:spPr>
          <a:xfrm>
            <a:off x="4092673" y="61669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98E75A-9BE9-F93B-DFA7-8CF3A0CABE28}"/>
              </a:ext>
            </a:extLst>
          </p:cNvPr>
          <p:cNvSpPr txBox="1"/>
          <p:nvPr/>
        </p:nvSpPr>
        <p:spPr>
          <a:xfrm>
            <a:off x="38190" y="681790"/>
            <a:ext cx="4092674" cy="483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User can have 0 or 1 permit (per semester).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Permit must belong to exactly 1 User.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 Ali (Student) applies → he can only hold one active permit for Semester 1.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C7B0D7-AE96-7313-1792-28FEB29423AB}"/>
              </a:ext>
            </a:extLst>
          </p:cNvPr>
          <p:cNvSpPr/>
          <p:nvPr/>
        </p:nvSpPr>
        <p:spPr>
          <a:xfrm>
            <a:off x="8952271" y="18415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1BD8FB-0EFC-2B88-61EA-33E5AA7152C2}"/>
              </a:ext>
            </a:extLst>
          </p:cNvPr>
          <p:cNvSpPr/>
          <p:nvPr/>
        </p:nvSpPr>
        <p:spPr>
          <a:xfrm>
            <a:off x="8952270" y="1326909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+id: int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CEE114-FB84-7E58-7B60-A1DB5CBC254B}"/>
              </a:ext>
            </a:extLst>
          </p:cNvPr>
          <p:cNvSpPr/>
          <p:nvPr/>
        </p:nvSpPr>
        <p:spPr>
          <a:xfrm>
            <a:off x="8952270" y="199957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+name: string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E2A218-8DCE-A8AA-D042-53AD07D43075}"/>
              </a:ext>
            </a:extLst>
          </p:cNvPr>
          <p:cNvSpPr/>
          <p:nvPr/>
        </p:nvSpPr>
        <p:spPr>
          <a:xfrm>
            <a:off x="8952270" y="266294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+email: string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8B2806-C145-1EDA-C17D-1D8C086DFE0E}"/>
              </a:ext>
            </a:extLst>
          </p:cNvPr>
          <p:cNvSpPr/>
          <p:nvPr/>
        </p:nvSpPr>
        <p:spPr>
          <a:xfrm>
            <a:off x="8952271" y="332632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 {Student, Staff}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961E67-67D7-8130-FAEE-E89C90B17D18}"/>
              </a:ext>
            </a:extLst>
          </p:cNvPr>
          <p:cNvSpPr/>
          <p:nvPr/>
        </p:nvSpPr>
        <p:spPr>
          <a:xfrm>
            <a:off x="8952269" y="3998984"/>
            <a:ext cx="3239729" cy="28406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5E2FF1B-DA46-ABBD-CF9C-C3B1F4257670}"/>
              </a:ext>
            </a:extLst>
          </p:cNvPr>
          <p:cNvSpPr/>
          <p:nvPr/>
        </p:nvSpPr>
        <p:spPr>
          <a:xfrm>
            <a:off x="8967021" y="4247535"/>
            <a:ext cx="320039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+login()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E0395A9-AD1D-E844-4091-0D3AE6A12A22}"/>
              </a:ext>
            </a:extLst>
          </p:cNvPr>
          <p:cNvSpPr/>
          <p:nvPr/>
        </p:nvSpPr>
        <p:spPr>
          <a:xfrm>
            <a:off x="8976854" y="5007978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requestPermit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38BE37E-B294-48AD-0CD4-082DBBB17475}"/>
              </a:ext>
            </a:extLst>
          </p:cNvPr>
          <p:cNvSpPr/>
          <p:nvPr/>
        </p:nvSpPr>
        <p:spPr>
          <a:xfrm>
            <a:off x="8976854" y="5768421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~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cancelRequest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3C64BB-ED35-1D34-A595-E96F488090AC}"/>
              </a:ext>
            </a:extLst>
          </p:cNvPr>
          <p:cNvSpPr/>
          <p:nvPr/>
        </p:nvSpPr>
        <p:spPr>
          <a:xfrm>
            <a:off x="7477434" y="2672234"/>
            <a:ext cx="265471" cy="32168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4C46C7F-872D-DF98-E8DD-72C38294A5BF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32403" y="2816942"/>
            <a:ext cx="1619868" cy="1437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594B2CB-ACAB-6A21-C3A9-FC19ADA7C940}"/>
              </a:ext>
            </a:extLst>
          </p:cNvPr>
          <p:cNvCxnSpPr>
            <a:cxnSpLocks/>
          </p:cNvCxnSpPr>
          <p:nvPr/>
        </p:nvCxnSpPr>
        <p:spPr>
          <a:xfrm>
            <a:off x="8672052" y="2566222"/>
            <a:ext cx="0" cy="5161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790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3B81F-0A99-EB46-CD16-F968D85C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99FD7A87-FE98-7DBC-DE48-A12653BF15FF}"/>
              </a:ext>
            </a:extLst>
          </p:cNvPr>
          <p:cNvSpPr txBox="1">
            <a:spLocks/>
          </p:cNvSpPr>
          <p:nvPr/>
        </p:nvSpPr>
        <p:spPr>
          <a:xfrm>
            <a:off x="8109153" y="147620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C202C0-A9B2-2296-E208-1FCFBB0F742A}"/>
              </a:ext>
            </a:extLst>
          </p:cNvPr>
          <p:cNvSpPr txBox="1">
            <a:spLocks/>
          </p:cNvSpPr>
          <p:nvPr/>
        </p:nvSpPr>
        <p:spPr>
          <a:xfrm>
            <a:off x="7356986" y="294925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C9EEA9-9B27-21CF-4493-20714F9F86AA}"/>
              </a:ext>
            </a:extLst>
          </p:cNvPr>
          <p:cNvSpPr txBox="1">
            <a:spLocks/>
          </p:cNvSpPr>
          <p:nvPr/>
        </p:nvSpPr>
        <p:spPr>
          <a:xfrm>
            <a:off x="7356986" y="3585031"/>
            <a:ext cx="1619868" cy="1318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Requests by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23452494-1857-DD09-295F-9D99BDF33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9175FD-438F-395B-7889-F0116C7D20A7}"/>
              </a:ext>
            </a:extLst>
          </p:cNvPr>
          <p:cNvSpPr/>
          <p:nvPr/>
        </p:nvSpPr>
        <p:spPr>
          <a:xfrm>
            <a:off x="4092674" y="2177066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488DC9-E215-1465-AA95-9F344D6D37B2}"/>
              </a:ext>
            </a:extLst>
          </p:cNvPr>
          <p:cNvSpPr/>
          <p:nvPr/>
        </p:nvSpPr>
        <p:spPr>
          <a:xfrm>
            <a:off x="4092673" y="3485560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75DDC3-88EF-D5D6-9849-527B6B8FAB54}"/>
              </a:ext>
            </a:extLst>
          </p:cNvPr>
          <p:cNvSpPr/>
          <p:nvPr/>
        </p:nvSpPr>
        <p:spPr>
          <a:xfrm>
            <a:off x="4092673" y="41582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99175E-8869-323D-3EBC-E58954A09AB8}"/>
              </a:ext>
            </a:extLst>
          </p:cNvPr>
          <p:cNvSpPr/>
          <p:nvPr/>
        </p:nvSpPr>
        <p:spPr>
          <a:xfrm>
            <a:off x="4092673" y="482159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4FC9CD-B56A-7E99-D0FF-2184A3AFBED3}"/>
              </a:ext>
            </a:extLst>
          </p:cNvPr>
          <p:cNvSpPr/>
          <p:nvPr/>
        </p:nvSpPr>
        <p:spPr>
          <a:xfrm>
            <a:off x="4092673" y="550354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9291A0-9EDA-EAA8-3247-D7F451F5F4BE}"/>
              </a:ext>
            </a:extLst>
          </p:cNvPr>
          <p:cNvSpPr/>
          <p:nvPr/>
        </p:nvSpPr>
        <p:spPr>
          <a:xfrm>
            <a:off x="4092673" y="61669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230F7D-664C-FD85-34A0-7174568450CC}"/>
              </a:ext>
            </a:extLst>
          </p:cNvPr>
          <p:cNvSpPr txBox="1"/>
          <p:nvPr/>
        </p:nvSpPr>
        <p:spPr>
          <a:xfrm>
            <a:off x="0" y="21486"/>
            <a:ext cx="4068089" cy="688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Multiplicity (numbers on relationships)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Multiplicity means "how many objects can connect."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(1) ── (0..1) Permit</a:t>
            </a:r>
            <a:b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→ One user can have at most 1 permit per semester.</a:t>
            </a:r>
            <a:b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→ Permit is optional (0..1 means may not exist).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6030E4-5C5E-2C95-8DEC-4468CA968C66}"/>
              </a:ext>
            </a:extLst>
          </p:cNvPr>
          <p:cNvSpPr/>
          <p:nvPr/>
        </p:nvSpPr>
        <p:spPr>
          <a:xfrm>
            <a:off x="8952271" y="18415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5DF6D9-694B-5317-E5BB-8E63C7926486}"/>
              </a:ext>
            </a:extLst>
          </p:cNvPr>
          <p:cNvSpPr/>
          <p:nvPr/>
        </p:nvSpPr>
        <p:spPr>
          <a:xfrm>
            <a:off x="8952270" y="1326909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+id: int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D46B92-642F-9387-2710-20B42E5FC6D1}"/>
              </a:ext>
            </a:extLst>
          </p:cNvPr>
          <p:cNvSpPr/>
          <p:nvPr/>
        </p:nvSpPr>
        <p:spPr>
          <a:xfrm>
            <a:off x="8952270" y="199957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+name: string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411496-F7CA-A9F7-9508-B0724F20EB77}"/>
              </a:ext>
            </a:extLst>
          </p:cNvPr>
          <p:cNvSpPr/>
          <p:nvPr/>
        </p:nvSpPr>
        <p:spPr>
          <a:xfrm>
            <a:off x="8952270" y="266294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+email: string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FABA0F-9ED7-F0DC-2BCA-3E76AF81AF3F}"/>
              </a:ext>
            </a:extLst>
          </p:cNvPr>
          <p:cNvSpPr/>
          <p:nvPr/>
        </p:nvSpPr>
        <p:spPr>
          <a:xfrm>
            <a:off x="8952271" y="332632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 {Student, Staff}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9CBA13-EE17-2360-989E-C5F8FFB6BECB}"/>
              </a:ext>
            </a:extLst>
          </p:cNvPr>
          <p:cNvSpPr/>
          <p:nvPr/>
        </p:nvSpPr>
        <p:spPr>
          <a:xfrm>
            <a:off x="8952269" y="3998984"/>
            <a:ext cx="3239729" cy="28406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5917CD3-FAC5-D52E-CB2E-2D7C82E57EA9}"/>
              </a:ext>
            </a:extLst>
          </p:cNvPr>
          <p:cNvSpPr/>
          <p:nvPr/>
        </p:nvSpPr>
        <p:spPr>
          <a:xfrm>
            <a:off x="8967021" y="4247535"/>
            <a:ext cx="320039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+login()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9F52443-5154-3D93-488A-82E449D5752A}"/>
              </a:ext>
            </a:extLst>
          </p:cNvPr>
          <p:cNvSpPr/>
          <p:nvPr/>
        </p:nvSpPr>
        <p:spPr>
          <a:xfrm>
            <a:off x="8976854" y="5007978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requestPermit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E1C2469-ED01-E876-0290-8BBBCFDFCBDD}"/>
              </a:ext>
            </a:extLst>
          </p:cNvPr>
          <p:cNvSpPr/>
          <p:nvPr/>
        </p:nvSpPr>
        <p:spPr>
          <a:xfrm>
            <a:off x="8976854" y="5768421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~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cancelRequest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D4BA837-FC39-B8C2-0758-054FAEB6F358}"/>
              </a:ext>
            </a:extLst>
          </p:cNvPr>
          <p:cNvSpPr/>
          <p:nvPr/>
        </p:nvSpPr>
        <p:spPr>
          <a:xfrm>
            <a:off x="7477434" y="2672234"/>
            <a:ext cx="265471" cy="32168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9B5E7FB-94EF-9075-6692-9FD5349F030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32403" y="2816942"/>
            <a:ext cx="1619868" cy="1437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D4B7C9-15C4-118D-C0BE-25AEDB8C1BD7}"/>
              </a:ext>
            </a:extLst>
          </p:cNvPr>
          <p:cNvCxnSpPr>
            <a:cxnSpLocks/>
          </p:cNvCxnSpPr>
          <p:nvPr/>
        </p:nvCxnSpPr>
        <p:spPr>
          <a:xfrm>
            <a:off x="8672052" y="2566222"/>
            <a:ext cx="0" cy="5161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721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1DCA-D1B2-3B59-D02B-0F826AFD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C5B5DFF7-75EE-CF9A-85DD-0F21CBF17336}"/>
              </a:ext>
            </a:extLst>
          </p:cNvPr>
          <p:cNvSpPr txBox="1">
            <a:spLocks/>
          </p:cNvSpPr>
          <p:nvPr/>
        </p:nvSpPr>
        <p:spPr>
          <a:xfrm>
            <a:off x="8109153" y="147620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A64004-E707-A088-C699-CD10710D84F6}"/>
              </a:ext>
            </a:extLst>
          </p:cNvPr>
          <p:cNvSpPr txBox="1">
            <a:spLocks/>
          </p:cNvSpPr>
          <p:nvPr/>
        </p:nvSpPr>
        <p:spPr>
          <a:xfrm>
            <a:off x="7356986" y="2949254"/>
            <a:ext cx="1619868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A7CF8A-9AD1-68E0-B747-01985D02A708}"/>
              </a:ext>
            </a:extLst>
          </p:cNvPr>
          <p:cNvSpPr txBox="1">
            <a:spLocks/>
          </p:cNvSpPr>
          <p:nvPr/>
        </p:nvSpPr>
        <p:spPr>
          <a:xfrm>
            <a:off x="7356986" y="3585031"/>
            <a:ext cx="1619868" cy="1318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Requests by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D44A3142-CCC0-0D62-1182-4D2ADA0CF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AF0864-8CAA-7C68-4848-EE8DFB3EAC65}"/>
              </a:ext>
            </a:extLst>
          </p:cNvPr>
          <p:cNvSpPr/>
          <p:nvPr/>
        </p:nvSpPr>
        <p:spPr>
          <a:xfrm>
            <a:off x="4092674" y="2177066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4CC18-E56A-3778-49A4-513E1BF47EB5}"/>
              </a:ext>
            </a:extLst>
          </p:cNvPr>
          <p:cNvSpPr/>
          <p:nvPr/>
        </p:nvSpPr>
        <p:spPr>
          <a:xfrm>
            <a:off x="4092673" y="3485560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8E57-848A-408F-B837-DF45E3CD6CD3}"/>
              </a:ext>
            </a:extLst>
          </p:cNvPr>
          <p:cNvSpPr/>
          <p:nvPr/>
        </p:nvSpPr>
        <p:spPr>
          <a:xfrm>
            <a:off x="4092673" y="41582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B5720-28C5-B0D9-2FA0-EEC58EC11B04}"/>
              </a:ext>
            </a:extLst>
          </p:cNvPr>
          <p:cNvSpPr/>
          <p:nvPr/>
        </p:nvSpPr>
        <p:spPr>
          <a:xfrm>
            <a:off x="4092673" y="482159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397565-499D-B873-60A3-A908DDE12B8F}"/>
              </a:ext>
            </a:extLst>
          </p:cNvPr>
          <p:cNvSpPr/>
          <p:nvPr/>
        </p:nvSpPr>
        <p:spPr>
          <a:xfrm>
            <a:off x="4092673" y="550354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0C82AF-5632-5187-87F2-D55A074F3F4E}"/>
              </a:ext>
            </a:extLst>
          </p:cNvPr>
          <p:cNvSpPr/>
          <p:nvPr/>
        </p:nvSpPr>
        <p:spPr>
          <a:xfrm>
            <a:off x="4092673" y="616692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AC5F2B-C18E-D797-732D-745A2D15FBEC}"/>
              </a:ext>
            </a:extLst>
          </p:cNvPr>
          <p:cNvSpPr txBox="1"/>
          <p:nvPr/>
        </p:nvSpPr>
        <p:spPr>
          <a:xfrm>
            <a:off x="0" y="21486"/>
            <a:ext cx="406808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Visibility (Access Control)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 (public): anyone can see it → e.g., +name, +email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- (private): only the class itself → e.g., -password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 (protected): only the class &amp; subclasses → e.g., #role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0D315D-1F92-EE38-509F-79D9144430FC}"/>
              </a:ext>
            </a:extLst>
          </p:cNvPr>
          <p:cNvSpPr/>
          <p:nvPr/>
        </p:nvSpPr>
        <p:spPr>
          <a:xfrm>
            <a:off x="8952271" y="18415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&lt;&lt;abstract&gt;&gt;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7D24EF-21D2-503E-FCE4-C76F1266CFA8}"/>
              </a:ext>
            </a:extLst>
          </p:cNvPr>
          <p:cNvSpPr/>
          <p:nvPr/>
        </p:nvSpPr>
        <p:spPr>
          <a:xfrm>
            <a:off x="8952270" y="1326909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+id: int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A07026-3266-09BB-7179-FEC628AEB48E}"/>
              </a:ext>
            </a:extLst>
          </p:cNvPr>
          <p:cNvSpPr/>
          <p:nvPr/>
        </p:nvSpPr>
        <p:spPr>
          <a:xfrm>
            <a:off x="8952270" y="199957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+name: string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9D5321-D603-137A-369A-263656415F3C}"/>
              </a:ext>
            </a:extLst>
          </p:cNvPr>
          <p:cNvSpPr/>
          <p:nvPr/>
        </p:nvSpPr>
        <p:spPr>
          <a:xfrm>
            <a:off x="8952270" y="2662946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+email: string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A6FDD2-AE8A-F05B-AB37-42CA43E36A0B}"/>
              </a:ext>
            </a:extLst>
          </p:cNvPr>
          <p:cNvSpPr/>
          <p:nvPr/>
        </p:nvSpPr>
        <p:spPr>
          <a:xfrm>
            <a:off x="8952271" y="3326321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#role {Student, Staff}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468CFD-D9F6-2DCD-FDA5-15FEF35CE5CF}"/>
              </a:ext>
            </a:extLst>
          </p:cNvPr>
          <p:cNvSpPr/>
          <p:nvPr/>
        </p:nvSpPr>
        <p:spPr>
          <a:xfrm>
            <a:off x="8952269" y="3998984"/>
            <a:ext cx="3239729" cy="28406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D3BFC3-2FAA-5D65-06AD-F2DB5DFC77D0}"/>
              </a:ext>
            </a:extLst>
          </p:cNvPr>
          <p:cNvSpPr/>
          <p:nvPr/>
        </p:nvSpPr>
        <p:spPr>
          <a:xfrm>
            <a:off x="8967021" y="4247535"/>
            <a:ext cx="320039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+login()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4DC25D-C1CF-266A-CD15-BCA3F495D4AC}"/>
              </a:ext>
            </a:extLst>
          </p:cNvPr>
          <p:cNvSpPr/>
          <p:nvPr/>
        </p:nvSpPr>
        <p:spPr>
          <a:xfrm>
            <a:off x="8976854" y="5007978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requestPermit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535E62-28F2-C441-9FC8-32079E682971}"/>
              </a:ext>
            </a:extLst>
          </p:cNvPr>
          <p:cNvSpPr/>
          <p:nvPr/>
        </p:nvSpPr>
        <p:spPr>
          <a:xfrm>
            <a:off x="8976854" y="5768421"/>
            <a:ext cx="3215146" cy="6726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~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cancelRequest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9A958DF-218A-CB65-75D2-33B8C82BD912}"/>
              </a:ext>
            </a:extLst>
          </p:cNvPr>
          <p:cNvSpPr/>
          <p:nvPr/>
        </p:nvSpPr>
        <p:spPr>
          <a:xfrm>
            <a:off x="7477434" y="2672234"/>
            <a:ext cx="265471" cy="32168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91E8D87-FF67-E3AE-AEF1-152D2AD7BDE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32403" y="2816942"/>
            <a:ext cx="1619868" cy="1437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3DB5654-0D5B-501F-490C-F14B90C76404}"/>
              </a:ext>
            </a:extLst>
          </p:cNvPr>
          <p:cNvCxnSpPr>
            <a:cxnSpLocks/>
          </p:cNvCxnSpPr>
          <p:nvPr/>
        </p:nvCxnSpPr>
        <p:spPr>
          <a:xfrm>
            <a:off x="8672052" y="2566222"/>
            <a:ext cx="0" cy="5161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729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7D1E0-8E02-C261-22EF-2E4B7BF7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6B1846A9-4AF2-6E55-D504-0B3BF22D4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9370C-4436-7CD6-ED77-E88462FD499B}"/>
              </a:ext>
            </a:extLst>
          </p:cNvPr>
          <p:cNvSpPr txBox="1"/>
          <p:nvPr/>
        </p:nvSpPr>
        <p:spPr>
          <a:xfrm>
            <a:off x="0" y="1002978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We have completed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User–Permit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part together. Now, please design the rest of the UML diagram by adding: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Permit–Payment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(mandatory relationship, action label ‘requires’).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–Permit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(dependency with revoke action).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Permit–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(composition, black diamond).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Remember to use rectangles for classes, ovals for methods, and mark multiplicity (0..1, 1, etc.).”</a:t>
            </a:r>
          </a:p>
        </p:txBody>
      </p:sp>
      <p:pic>
        <p:nvPicPr>
          <p:cNvPr id="4" name="Timer">
            <a:hlinkClick r:id="" action="ppaction://media"/>
            <a:extLst>
              <a:ext uri="{FF2B5EF4-FFF2-40B4-BE49-F238E27FC236}">
                <a16:creationId xmlns:a16="http://schemas.microsoft.com/office/drawing/2014/main" id="{ADC29056-D138-487B-B7DD-08245108F9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892" t="44731" r="40718" b="40645"/>
          <a:stretch>
            <a:fillRect/>
          </a:stretch>
        </p:blipFill>
        <p:spPr>
          <a:xfrm>
            <a:off x="5117690" y="5257520"/>
            <a:ext cx="2241756" cy="100289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49885-93A8-6CED-BCD7-36C123FE3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943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</a:t>
            </a:r>
            <a:r>
              <a:rPr lang="en-US" sz="4000" dirty="0">
                <a:highlight>
                  <a:srgbClr val="FFFF00"/>
                </a:highlight>
                <a:latin typeface="Calibir"/>
              </a:rPr>
              <a:t>Activity</a:t>
            </a:r>
            <a:r>
              <a:rPr lang="en-US" sz="4000" dirty="0">
                <a:latin typeface="Calibir"/>
              </a:rPr>
              <a:t>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96502851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1F24D-6074-C30A-9BB1-BA6C92EC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CE85CB4F-9819-78A7-AA87-A4D41ECA0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D5C65-FF75-C6D6-C65D-4B9A4E783D10}"/>
              </a:ext>
            </a:extLst>
          </p:cNvPr>
          <p:cNvSpPr txBox="1"/>
          <p:nvPr/>
        </p:nvSpPr>
        <p:spPr>
          <a:xfrm>
            <a:off x="0" y="1002978"/>
            <a:ext cx="12192000" cy="563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Complete the UML Relationships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Permit–Payment (mandatory)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(1) ── (1) Payment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Action: “requires”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Explain: every permit must have exactly one payment when created.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–Permit (dependency)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Dashed arrow </a:t>
            </a:r>
            <a:r>
              <a:rPr kumimoji="0" 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──&gt; Permit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Action: “revoke()”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Explain: dependency, because </a:t>
            </a:r>
            <a:r>
              <a:rPr kumimoji="0" 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needs Permit to perform revoke.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5478D2-BCDA-4D6C-96CE-3F5A017B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410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400616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8A597-A317-6FD3-99BB-DC753032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0E642B40-C1C4-459C-5F86-FD858E06967A}"/>
              </a:ext>
            </a:extLst>
          </p:cNvPr>
          <p:cNvSpPr txBox="1">
            <a:spLocks/>
          </p:cNvSpPr>
          <p:nvPr/>
        </p:nvSpPr>
        <p:spPr>
          <a:xfrm>
            <a:off x="8281220" y="4673300"/>
            <a:ext cx="961105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227EB4-318F-4C1B-6051-5BE08C23BFB5}"/>
              </a:ext>
            </a:extLst>
          </p:cNvPr>
          <p:cNvSpPr txBox="1">
            <a:spLocks/>
          </p:cNvSpPr>
          <p:nvPr/>
        </p:nvSpPr>
        <p:spPr>
          <a:xfrm>
            <a:off x="9125564" y="3664715"/>
            <a:ext cx="961105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92D77C22-A22D-E655-A716-83CF830F7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C365D-9CA1-B79A-EA8F-1403A4EB06EC}"/>
              </a:ext>
            </a:extLst>
          </p:cNvPr>
          <p:cNvSpPr txBox="1"/>
          <p:nvPr/>
        </p:nvSpPr>
        <p:spPr>
          <a:xfrm>
            <a:off x="0" y="2792624"/>
            <a:ext cx="5041491" cy="4072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Permit–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(composition)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Black diamond at Permit side.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Multiplicity: 1 Permit → 1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Explain: if Permit is deleted,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is deleted too.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19370C-4436-7CD6-ED77-E88462FD499B}"/>
              </a:ext>
            </a:extLst>
          </p:cNvPr>
          <p:cNvSpPr txBox="1"/>
          <p:nvPr/>
        </p:nvSpPr>
        <p:spPr>
          <a:xfrm>
            <a:off x="0" y="0"/>
            <a:ext cx="12192000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Composition (Strong Link)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Permit is tied to exactly one Vehicle (by plate number).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the permit is deleted, the vehicle link also disappears from the permit system.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UML: Permit ♦─1..1 Vehicle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87BCCE-04C9-0B0A-482C-E787EB997756}"/>
              </a:ext>
            </a:extLst>
          </p:cNvPr>
          <p:cNvSpPr/>
          <p:nvPr/>
        </p:nvSpPr>
        <p:spPr>
          <a:xfrm>
            <a:off x="9969910" y="3230787"/>
            <a:ext cx="2222090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9E5229-8987-C0AF-BAA7-7FD820B5C579}"/>
              </a:ext>
            </a:extLst>
          </p:cNvPr>
          <p:cNvSpPr/>
          <p:nvPr/>
        </p:nvSpPr>
        <p:spPr>
          <a:xfrm>
            <a:off x="9969909" y="4539281"/>
            <a:ext cx="2222090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plate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3E6791-6B05-D905-7AC2-6B4EF4CD4B68}"/>
              </a:ext>
            </a:extLst>
          </p:cNvPr>
          <p:cNvSpPr/>
          <p:nvPr/>
        </p:nvSpPr>
        <p:spPr>
          <a:xfrm>
            <a:off x="9969909" y="5211943"/>
            <a:ext cx="2222090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make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B704D1-AD4F-302B-FACB-12C0AAEB7967}"/>
              </a:ext>
            </a:extLst>
          </p:cNvPr>
          <p:cNvSpPr/>
          <p:nvPr/>
        </p:nvSpPr>
        <p:spPr>
          <a:xfrm>
            <a:off x="5041492" y="2195481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BEF354-C5BC-D744-C29F-76B92DE20261}"/>
              </a:ext>
            </a:extLst>
          </p:cNvPr>
          <p:cNvSpPr/>
          <p:nvPr/>
        </p:nvSpPr>
        <p:spPr>
          <a:xfrm>
            <a:off x="5041491" y="3503975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C0AD7F-47A0-5C95-4B45-4B3BAB1C30B8}"/>
              </a:ext>
            </a:extLst>
          </p:cNvPr>
          <p:cNvSpPr/>
          <p:nvPr/>
        </p:nvSpPr>
        <p:spPr>
          <a:xfrm>
            <a:off x="5041491" y="417663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37D28-22AD-CC28-6C8A-68E8C9E4D417}"/>
              </a:ext>
            </a:extLst>
          </p:cNvPr>
          <p:cNvSpPr/>
          <p:nvPr/>
        </p:nvSpPr>
        <p:spPr>
          <a:xfrm>
            <a:off x="5041491" y="484001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1A0EC1-4830-E0C2-E49D-6AE017B2E553}"/>
              </a:ext>
            </a:extLst>
          </p:cNvPr>
          <p:cNvSpPr/>
          <p:nvPr/>
        </p:nvSpPr>
        <p:spPr>
          <a:xfrm>
            <a:off x="5041491" y="552196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4B8F98-5424-F0DE-E626-47A32BFECC85}"/>
              </a:ext>
            </a:extLst>
          </p:cNvPr>
          <p:cNvSpPr/>
          <p:nvPr/>
        </p:nvSpPr>
        <p:spPr>
          <a:xfrm>
            <a:off x="5041491" y="618533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D557716-BBE5-A58D-98CB-AEA57C7B9276}"/>
              </a:ext>
            </a:extLst>
          </p:cNvPr>
          <p:cNvCxnSpPr>
            <a:cxnSpLocks/>
          </p:cNvCxnSpPr>
          <p:nvPr/>
        </p:nvCxnSpPr>
        <p:spPr>
          <a:xfrm flipH="1">
            <a:off x="8281220" y="4496496"/>
            <a:ext cx="1688689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Flowchart: Decision 40">
            <a:extLst>
              <a:ext uri="{FF2B5EF4-FFF2-40B4-BE49-F238E27FC236}">
                <a16:creationId xmlns:a16="http://schemas.microsoft.com/office/drawing/2014/main" id="{CED2F066-420E-3579-0B91-116507F82FCB}"/>
              </a:ext>
            </a:extLst>
          </p:cNvPr>
          <p:cNvSpPr/>
          <p:nvPr/>
        </p:nvSpPr>
        <p:spPr>
          <a:xfrm>
            <a:off x="8598309" y="4176637"/>
            <a:ext cx="324465" cy="672659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890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D2E4-43C8-3A95-9CF5-DA034FB8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40A7DD9C-A54A-FBE4-8606-5D53C1E0DD3F}"/>
              </a:ext>
            </a:extLst>
          </p:cNvPr>
          <p:cNvSpPr txBox="1">
            <a:spLocks/>
          </p:cNvSpPr>
          <p:nvPr/>
        </p:nvSpPr>
        <p:spPr>
          <a:xfrm>
            <a:off x="8281220" y="4673300"/>
            <a:ext cx="961105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B89456-6DDF-B90A-F19A-431188795A63}"/>
              </a:ext>
            </a:extLst>
          </p:cNvPr>
          <p:cNvSpPr txBox="1">
            <a:spLocks/>
          </p:cNvSpPr>
          <p:nvPr/>
        </p:nvSpPr>
        <p:spPr>
          <a:xfrm>
            <a:off x="9125564" y="3664715"/>
            <a:ext cx="961105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212B75E4-4814-FE93-5D3A-7A5F61076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2D144-2890-DD5E-FB6C-33EBF60B4C70}"/>
              </a:ext>
            </a:extLst>
          </p:cNvPr>
          <p:cNvSpPr txBox="1"/>
          <p:nvPr/>
        </p:nvSpPr>
        <p:spPr>
          <a:xfrm>
            <a:off x="0" y="2792624"/>
            <a:ext cx="504149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ir"/>
                <a:ea typeface="+mn-ea"/>
                <a:cs typeface="+mn-cs"/>
              </a:rPr>
              <a:t>Multiplicity (1,1)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→ each Permit is tied to exactly one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and each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belongs to exactly one Permit.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3B206C-1B7E-C5D6-11E8-7046EB0EAFDB}"/>
              </a:ext>
            </a:extLst>
          </p:cNvPr>
          <p:cNvSpPr txBox="1"/>
          <p:nvPr/>
        </p:nvSpPr>
        <p:spPr>
          <a:xfrm>
            <a:off x="0" y="0"/>
            <a:ext cx="12192000" cy="261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Composition (Strong Link)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Composition (black diamond at Permit side) → means 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cannot exist without its Permit. If the Permit is deleted,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tied to it is also deleted.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94B184-CB80-2264-688E-577FFF2C0A25}"/>
              </a:ext>
            </a:extLst>
          </p:cNvPr>
          <p:cNvSpPr/>
          <p:nvPr/>
        </p:nvSpPr>
        <p:spPr>
          <a:xfrm>
            <a:off x="9969910" y="3230787"/>
            <a:ext cx="2222090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3FBACA-6D0D-C472-BCE1-4E03314B6EF0}"/>
              </a:ext>
            </a:extLst>
          </p:cNvPr>
          <p:cNvSpPr/>
          <p:nvPr/>
        </p:nvSpPr>
        <p:spPr>
          <a:xfrm>
            <a:off x="9969909" y="4539281"/>
            <a:ext cx="2222090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plate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5A2CE5-7393-FD63-0467-1C162369D1C5}"/>
              </a:ext>
            </a:extLst>
          </p:cNvPr>
          <p:cNvSpPr/>
          <p:nvPr/>
        </p:nvSpPr>
        <p:spPr>
          <a:xfrm>
            <a:off x="9969909" y="5211943"/>
            <a:ext cx="2222090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make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CFCD09-1A2A-3CE7-EE0B-0FB08D9411C8}"/>
              </a:ext>
            </a:extLst>
          </p:cNvPr>
          <p:cNvSpPr/>
          <p:nvPr/>
        </p:nvSpPr>
        <p:spPr>
          <a:xfrm>
            <a:off x="5041492" y="2195481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E0A7D0-C3B9-8CF4-EC57-FFA11620A075}"/>
              </a:ext>
            </a:extLst>
          </p:cNvPr>
          <p:cNvSpPr/>
          <p:nvPr/>
        </p:nvSpPr>
        <p:spPr>
          <a:xfrm>
            <a:off x="5041491" y="3503975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26A91E-23ED-86C4-30FA-82829C63C4A0}"/>
              </a:ext>
            </a:extLst>
          </p:cNvPr>
          <p:cNvSpPr/>
          <p:nvPr/>
        </p:nvSpPr>
        <p:spPr>
          <a:xfrm>
            <a:off x="5041491" y="417663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DE7117-7009-884C-F3CD-769E6754E97F}"/>
              </a:ext>
            </a:extLst>
          </p:cNvPr>
          <p:cNvSpPr/>
          <p:nvPr/>
        </p:nvSpPr>
        <p:spPr>
          <a:xfrm>
            <a:off x="5041491" y="484001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891554-9EE1-2548-5E3F-226522252198}"/>
              </a:ext>
            </a:extLst>
          </p:cNvPr>
          <p:cNvSpPr/>
          <p:nvPr/>
        </p:nvSpPr>
        <p:spPr>
          <a:xfrm>
            <a:off x="5041491" y="552196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7BE622-54F0-E8D1-80B6-9CEB9DB683AF}"/>
              </a:ext>
            </a:extLst>
          </p:cNvPr>
          <p:cNvSpPr/>
          <p:nvPr/>
        </p:nvSpPr>
        <p:spPr>
          <a:xfrm>
            <a:off x="5041491" y="618533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BD6C5F-4154-EAD8-1A06-026D42588624}"/>
              </a:ext>
            </a:extLst>
          </p:cNvPr>
          <p:cNvCxnSpPr>
            <a:cxnSpLocks/>
          </p:cNvCxnSpPr>
          <p:nvPr/>
        </p:nvCxnSpPr>
        <p:spPr>
          <a:xfrm flipH="1">
            <a:off x="8281220" y="4496496"/>
            <a:ext cx="1688689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Flowchart: Decision 40">
            <a:extLst>
              <a:ext uri="{FF2B5EF4-FFF2-40B4-BE49-F238E27FC236}">
                <a16:creationId xmlns:a16="http://schemas.microsoft.com/office/drawing/2014/main" id="{E8F50F80-3379-7CD4-3F13-5B6F2147C4D1}"/>
              </a:ext>
            </a:extLst>
          </p:cNvPr>
          <p:cNvSpPr/>
          <p:nvPr/>
        </p:nvSpPr>
        <p:spPr>
          <a:xfrm>
            <a:off x="8598309" y="4176637"/>
            <a:ext cx="324465" cy="672659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003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A198-5050-9146-9584-D6579E31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9488D631-86CE-618E-32CE-48D4ACDBF2F9}"/>
              </a:ext>
            </a:extLst>
          </p:cNvPr>
          <p:cNvSpPr txBox="1">
            <a:spLocks/>
          </p:cNvSpPr>
          <p:nvPr/>
        </p:nvSpPr>
        <p:spPr>
          <a:xfrm>
            <a:off x="8281220" y="4673300"/>
            <a:ext cx="961105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99E314-0EF1-5605-68F4-9146DC0699E6}"/>
              </a:ext>
            </a:extLst>
          </p:cNvPr>
          <p:cNvSpPr txBox="1">
            <a:spLocks/>
          </p:cNvSpPr>
          <p:nvPr/>
        </p:nvSpPr>
        <p:spPr>
          <a:xfrm>
            <a:off x="9125564" y="3664715"/>
            <a:ext cx="961105" cy="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0803C56E-9FB2-37BF-9822-B5C48307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97953-BB4C-1F79-E2E3-C25911497896}"/>
              </a:ext>
            </a:extLst>
          </p:cNvPr>
          <p:cNvSpPr txBox="1"/>
          <p:nvPr/>
        </p:nvSpPr>
        <p:spPr>
          <a:xfrm>
            <a:off x="0" y="0"/>
            <a:ext cx="12192000" cy="207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Attributes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has fields like id, zone, plate, status, semester.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has plate and make.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6FD47F-51DD-EE1E-4EE2-DB27E87BC616}"/>
              </a:ext>
            </a:extLst>
          </p:cNvPr>
          <p:cNvSpPr/>
          <p:nvPr/>
        </p:nvSpPr>
        <p:spPr>
          <a:xfrm>
            <a:off x="9969910" y="3230787"/>
            <a:ext cx="2222090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67127A-4E33-9950-84F1-979AB7AD8654}"/>
              </a:ext>
            </a:extLst>
          </p:cNvPr>
          <p:cNvSpPr/>
          <p:nvPr/>
        </p:nvSpPr>
        <p:spPr>
          <a:xfrm>
            <a:off x="9969909" y="4539281"/>
            <a:ext cx="2222090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plate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FF1A32-5DDB-AC70-0F16-1887CBED7BFD}"/>
              </a:ext>
            </a:extLst>
          </p:cNvPr>
          <p:cNvSpPr/>
          <p:nvPr/>
        </p:nvSpPr>
        <p:spPr>
          <a:xfrm>
            <a:off x="9969909" y="5211943"/>
            <a:ext cx="2222090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make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0F2C3A-3ED6-D866-C054-F0E1925E3632}"/>
              </a:ext>
            </a:extLst>
          </p:cNvPr>
          <p:cNvSpPr/>
          <p:nvPr/>
        </p:nvSpPr>
        <p:spPr>
          <a:xfrm>
            <a:off x="5041492" y="2195481"/>
            <a:ext cx="3239729" cy="130849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&lt;&lt;abstract&gt;&gt;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0BEBCD-EC45-10E3-C2B7-28469867089C}"/>
              </a:ext>
            </a:extLst>
          </p:cNvPr>
          <p:cNvSpPr/>
          <p:nvPr/>
        </p:nvSpPr>
        <p:spPr>
          <a:xfrm>
            <a:off x="5041491" y="3503975"/>
            <a:ext cx="3239729" cy="67266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A4D103-B8C3-9326-4431-97C389E84510}"/>
              </a:ext>
            </a:extLst>
          </p:cNvPr>
          <p:cNvSpPr/>
          <p:nvPr/>
        </p:nvSpPr>
        <p:spPr>
          <a:xfrm>
            <a:off x="5041491" y="417663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+zone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335F3E-F8A2-8070-C851-2951414D8EC6}"/>
              </a:ext>
            </a:extLst>
          </p:cNvPr>
          <p:cNvSpPr/>
          <p:nvPr/>
        </p:nvSpPr>
        <p:spPr>
          <a:xfrm>
            <a:off x="5041491" y="484001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+plate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0005E7-12D5-A39A-16BF-85288A5C77BC}"/>
              </a:ext>
            </a:extLst>
          </p:cNvPr>
          <p:cNvSpPr/>
          <p:nvPr/>
        </p:nvSpPr>
        <p:spPr>
          <a:xfrm>
            <a:off x="5041491" y="5521962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+status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83D19C-442D-0628-B638-DD75FB524803}"/>
              </a:ext>
            </a:extLst>
          </p:cNvPr>
          <p:cNvSpPr/>
          <p:nvPr/>
        </p:nvSpPr>
        <p:spPr>
          <a:xfrm>
            <a:off x="5041491" y="6185337"/>
            <a:ext cx="3239729" cy="67266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+semester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BE57CB0-36A7-513F-AC0A-3A0A90E7AB3E}"/>
              </a:ext>
            </a:extLst>
          </p:cNvPr>
          <p:cNvCxnSpPr>
            <a:cxnSpLocks/>
          </p:cNvCxnSpPr>
          <p:nvPr/>
        </p:nvCxnSpPr>
        <p:spPr>
          <a:xfrm flipH="1">
            <a:off x="8281220" y="4496496"/>
            <a:ext cx="1688689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Flowchart: Decision 40">
            <a:extLst>
              <a:ext uri="{FF2B5EF4-FFF2-40B4-BE49-F238E27FC236}">
                <a16:creationId xmlns:a16="http://schemas.microsoft.com/office/drawing/2014/main" id="{ECA9A34B-3205-0C47-47BE-4A3255B0C51E}"/>
              </a:ext>
            </a:extLst>
          </p:cNvPr>
          <p:cNvSpPr/>
          <p:nvPr/>
        </p:nvSpPr>
        <p:spPr>
          <a:xfrm>
            <a:off x="8598309" y="4176637"/>
            <a:ext cx="324465" cy="672659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453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BD46-3A3A-6D8E-F935-C7C768B20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9E935C70-0145-944C-23F3-0CEF4BE99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012A7-0B51-5DD0-0365-9C2A5248B1F5}"/>
              </a:ext>
            </a:extLst>
          </p:cNvPr>
          <p:cNvSpPr txBox="1"/>
          <p:nvPr/>
        </p:nvSpPr>
        <p:spPr>
          <a:xfrm>
            <a:off x="0" y="1477248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(1) ── (1) Payment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→ Every permit needs exactly one payment at the time of issue.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──&gt; Permit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→ A Security Officer can revoke (dependency arrow).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──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(composition)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→ Permit owns vehicle info (plate, make). If permit deleted → vehicle info deleted.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131795-A694-8243-CD4E-7E281487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7923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14931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504D2-3C7B-F19D-63A4-0CE03D8B9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CBE576-7C68-44B2-8E76-2285D9F83B46}"/>
              </a:ext>
            </a:extLst>
          </p:cNvPr>
          <p:cNvSpPr txBox="1"/>
          <p:nvPr/>
        </p:nvSpPr>
        <p:spPr>
          <a:xfrm>
            <a:off x="0" y="1074106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5. Optional vs Mandatory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Optional: Permit for a User (not all users will request one).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Mandatory: Payment for Permit (no free permits).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85EE6D-2273-B814-669C-E2F50FA1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410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24589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4C98-8BE6-5B09-5DE4-8713890A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6A1F45-C5E2-B532-6E4F-069F54400FD7}"/>
              </a:ext>
            </a:extLst>
          </p:cNvPr>
          <p:cNvSpPr txBox="1"/>
          <p:nvPr/>
        </p:nvSpPr>
        <p:spPr>
          <a:xfrm>
            <a:off x="0" y="1074106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6. Action Verbs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Relationships should use verbs: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requests Permit.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requires Payment.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 Officer revokes Permit.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ParkingDB stores Permits.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B958C0B-CF3A-F231-69E7-5ABD4DC1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410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430793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CEC9-CAC3-5090-289F-9832F91F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48C125-7E70-C0A2-AC04-0F1C6486B01E}"/>
              </a:ext>
            </a:extLst>
          </p:cNvPr>
          <p:cNvSpPr txBox="1"/>
          <p:nvPr/>
        </p:nvSpPr>
        <p:spPr>
          <a:xfrm>
            <a:off x="0" y="1074106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7. Include / Exclude (use cases)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100 User logs 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include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validate credentials.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200 Request 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include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take payment, save record.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210 Prevent &gt;1 active 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exclude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if user already has permit.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300 Security revokes permit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include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change status to inactive.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400 Admin lists permits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include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filter by zone, semester.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B3D3D8-990C-0FB2-D8C2-EA001890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410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680055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2F1A-9FCE-879F-DF2D-A2785FB7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C79968-C7EC-0243-324C-DAEA925CF41E}"/>
              </a:ext>
            </a:extLst>
          </p:cNvPr>
          <p:cNvSpPr txBox="1"/>
          <p:nvPr/>
        </p:nvSpPr>
        <p:spPr>
          <a:xfrm>
            <a:off x="0" y="1074106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ir"/>
                <a:ea typeface="+mn-ea"/>
                <a:cs typeface="+mn-cs"/>
              </a:rPr>
              <a:t>Simple Story Example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Ali (Student) logs in and applies for a parking permit.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His User account (Student) is linked to Permit #123.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#123 is tied to his Vehicle (plate ABC-123).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the permit is revoked, the vehicle–permit link is gone too.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223015-0650-B609-047C-182548FA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410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720012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E4EEB-432E-A5F9-FCEE-35F7ACD2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003699-4997-53EA-7FBB-30C145609D7E}"/>
              </a:ext>
            </a:extLst>
          </p:cNvPr>
          <p:cNvSpPr txBox="1"/>
          <p:nvPr/>
        </p:nvSpPr>
        <p:spPr>
          <a:xfrm>
            <a:off x="0" y="1074106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8. Dependency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Dependency means one class needs another to do something.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SecurityOfficer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Permit (dependency: revoke()).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Without Permit, revoke() makes no sense.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58516B-83C2-17D3-4B38-E63C5F6A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410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285260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34C9-73EE-0C2D-FD16-CC99A6CC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E711F-BAA4-EE8A-4972-2CED1729C937}"/>
              </a:ext>
            </a:extLst>
          </p:cNvPr>
          <p:cNvSpPr txBox="1"/>
          <p:nvPr/>
        </p:nvSpPr>
        <p:spPr>
          <a:xfrm>
            <a:off x="0" y="1074106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9. Composition vs Aggregation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–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 Composition (solid diamond).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Permit has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VehicleInfo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(plate, make) — if permit deleted, vehicle info goes too.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Reason: Vehicle info cannot exist separately from Permit.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(When permit deleted, vehicle info goes away too.)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EF3E76-D4BF-5AF5-B393-F1B50CD4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410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Example &amp; Activity — Campus Parking Permit System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650521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6A9D-9039-9642-5CCF-67EA32DF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F579FD-B7B2-6D6E-2A39-1FB7E494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86"/>
            <a:ext cx="12192000" cy="885904"/>
          </a:xfrm>
        </p:spPr>
        <p:txBody>
          <a:bodyPr>
            <a:normAutofit/>
          </a:bodyPr>
          <a:lstStyle/>
          <a:p>
            <a:r>
              <a:rPr lang="en-US" sz="3300" b="1" dirty="0">
                <a:latin typeface="Calibir"/>
              </a:rPr>
              <a:t>Example &amp; Activity — Event Ticketing Lite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DAAD9-B5BE-B2CA-19CB-E4F747A7C518}"/>
              </a:ext>
            </a:extLst>
          </p:cNvPr>
          <p:cNvSpPr txBox="1"/>
          <p:nvPr/>
        </p:nvSpPr>
        <p:spPr>
          <a:xfrm>
            <a:off x="0" y="1114097"/>
            <a:ext cx="1193975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Mini case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Users create Events (title, date). Users can book Tickets. One user can book many tickets; an event has many tickets → many-to-many via Booking association class 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bookingId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qty, timestamp). An event may have a parent event (series) → reflexive association. Tickets can be PENDING/CONFIRMED/CANCELLED (simple state).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Think of Candidate Classes, Key Relationships, Sample Backlogs IDs, </a:t>
            </a:r>
          </a:p>
        </p:txBody>
      </p:sp>
      <p:pic>
        <p:nvPicPr>
          <p:cNvPr id="11" name="Timer">
            <a:hlinkClick r:id="" action="ppaction://media"/>
            <a:extLst>
              <a:ext uri="{FF2B5EF4-FFF2-40B4-BE49-F238E27FC236}">
                <a16:creationId xmlns:a16="http://schemas.microsoft.com/office/drawing/2014/main" id="{EF062D43-C47D-2B2E-C45C-C44A1087D16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08" t="44516" r="40718" b="39785"/>
          <a:stretch>
            <a:fillRect/>
          </a:stretch>
        </p:blipFill>
        <p:spPr>
          <a:xfrm>
            <a:off x="5190950" y="5663932"/>
            <a:ext cx="2300750" cy="107663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9345658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6A9D-9039-9642-5CCF-67EA32DF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F579FD-B7B2-6D6E-2A39-1FB7E494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86"/>
            <a:ext cx="12192000" cy="885904"/>
          </a:xfrm>
        </p:spPr>
        <p:txBody>
          <a:bodyPr>
            <a:normAutofit/>
          </a:bodyPr>
          <a:lstStyle/>
          <a:p>
            <a:r>
              <a:rPr lang="en-US" sz="3300" b="1" dirty="0">
                <a:latin typeface="Calibir"/>
              </a:rPr>
              <a:t>Example &amp; Activity — Event Ticketing Lite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DAAD9-B5BE-B2CA-19CB-E4F747A7C518}"/>
              </a:ext>
            </a:extLst>
          </p:cNvPr>
          <p:cNvSpPr txBox="1"/>
          <p:nvPr/>
        </p:nvSpPr>
        <p:spPr>
          <a:xfrm>
            <a:off x="0" y="1114097"/>
            <a:ext cx="1193975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Candidate classes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(id, name, email)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Event (id, title, date,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parentEvent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?)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(reflexive)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Ticket (id, price, state)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Booking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(association class between User and Event)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: qty, timestamp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Store for file I/O</a:t>
            </a:r>
          </a:p>
        </p:txBody>
      </p:sp>
    </p:spTree>
    <p:extLst>
      <p:ext uri="{BB962C8B-B14F-4D97-AF65-F5344CB8AC3E}">
        <p14:creationId xmlns:p14="http://schemas.microsoft.com/office/powerpoint/2010/main" val="3126968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1496-E844-AA00-56FD-97FBF3CF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A7EDC9-EAF9-4E85-715F-4E18B004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86"/>
            <a:ext cx="12192000" cy="885904"/>
          </a:xfrm>
        </p:spPr>
        <p:txBody>
          <a:bodyPr>
            <a:normAutofit/>
          </a:bodyPr>
          <a:lstStyle/>
          <a:p>
            <a:r>
              <a:rPr lang="en-US" sz="3300" b="1" dirty="0">
                <a:latin typeface="Calibir"/>
              </a:rPr>
              <a:t>Example &amp; Activity — Event Ticketing Lite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B7AAC-9D59-23E7-4CC2-4DC6A146186F}"/>
              </a:ext>
            </a:extLst>
          </p:cNvPr>
          <p:cNvSpPr txBox="1"/>
          <p:nvPr/>
        </p:nvSpPr>
        <p:spPr>
          <a:xfrm>
            <a:off x="0" y="1114097"/>
            <a:ext cx="1193975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Key relationships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User M ── M Event through Booking (association class)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Event 0, 1 ── 0, M Event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(reflexive “is part of series”)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Booking 1 ── M Ticket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(composition: tickets belong to that booking)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217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EC179-14D2-DADB-A460-B6A80F09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0A92F7-7CA9-F20D-D73D-C7BE8936E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86"/>
            <a:ext cx="12192000" cy="885904"/>
          </a:xfrm>
        </p:spPr>
        <p:txBody>
          <a:bodyPr>
            <a:normAutofit/>
          </a:bodyPr>
          <a:lstStyle/>
          <a:p>
            <a:r>
              <a:rPr lang="en-US" sz="3300" b="1" dirty="0">
                <a:latin typeface="Calibir"/>
              </a:rPr>
              <a:t>Example &amp; Activity — Event Ticketing Lite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5F417-5C3A-9844-D350-DEBB457E3305}"/>
              </a:ext>
            </a:extLst>
          </p:cNvPr>
          <p:cNvSpPr txBox="1"/>
          <p:nvPr/>
        </p:nvSpPr>
        <p:spPr>
          <a:xfrm>
            <a:off x="0" y="1114097"/>
            <a:ext cx="1193975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Sample backlog IDs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100 Register/login user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200 Create event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300 Book tickets / include check availability / include save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310 Cancel booking / extend show refund notice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400 List events and my bookings</a:t>
            </a:r>
          </a:p>
        </p:txBody>
      </p:sp>
    </p:spTree>
    <p:extLst>
      <p:ext uri="{BB962C8B-B14F-4D97-AF65-F5344CB8AC3E}">
        <p14:creationId xmlns:p14="http://schemas.microsoft.com/office/powerpoint/2010/main" val="39818987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944C-D1D0-75E0-ABB0-35E64CC7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863223-E91C-C1AB-3067-BF2F6A12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86"/>
            <a:ext cx="12192000" cy="885904"/>
          </a:xfrm>
        </p:spPr>
        <p:txBody>
          <a:bodyPr>
            <a:normAutofit/>
          </a:bodyPr>
          <a:lstStyle/>
          <a:p>
            <a:r>
              <a:rPr lang="en-US" sz="3300" b="1" dirty="0">
                <a:latin typeface="Calibir"/>
              </a:rPr>
              <a:t>Example &amp; Activity — Event Ticketing Lite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34FC6D-DD37-ED20-F1F2-4A1A6C31D185}"/>
              </a:ext>
            </a:extLst>
          </p:cNvPr>
          <p:cNvSpPr txBox="1"/>
          <p:nvPr/>
        </p:nvSpPr>
        <p:spPr>
          <a:xfrm>
            <a:off x="0" y="1114097"/>
            <a:ext cx="1193975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Activity: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Association class practice: Draw Booking between User and Event with attributes; add multiplicities on both sides.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Reflexive association: Add Event → Event “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parentOf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”; mark multiplicity 0..1 to 0..M.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State note: Add a note listing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Ticket.state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∈ {PENDING, CONFIRMED, CANCELLED} and link it to cancellation use case as an extend.</a:t>
            </a:r>
          </a:p>
        </p:txBody>
      </p:sp>
      <p:pic>
        <p:nvPicPr>
          <p:cNvPr id="2" name="Timer">
            <a:hlinkClick r:id="" action="ppaction://media"/>
            <a:extLst>
              <a:ext uri="{FF2B5EF4-FFF2-40B4-BE49-F238E27FC236}">
                <a16:creationId xmlns:a16="http://schemas.microsoft.com/office/drawing/2014/main" id="{60E3F09C-F4D3-3C5D-94B5-CF1883D0A8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08" t="44516" r="40718" b="39785"/>
          <a:stretch>
            <a:fillRect/>
          </a:stretch>
        </p:blipFill>
        <p:spPr>
          <a:xfrm>
            <a:off x="5190950" y="5663932"/>
            <a:ext cx="2300750" cy="107663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4042653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3142</Words>
  <Application>Microsoft Office PowerPoint</Application>
  <PresentationFormat>Widescreen</PresentationFormat>
  <Paragraphs>448</Paragraphs>
  <Slides>41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</vt:lpstr>
      <vt:lpstr>Aptos Display</vt:lpstr>
      <vt:lpstr>Arial</vt:lpstr>
      <vt:lpstr>Calibir</vt:lpstr>
      <vt:lpstr>Calibri</vt:lpstr>
      <vt:lpstr>Calibri Light</vt:lpstr>
      <vt:lpstr>Office Theme</vt:lpstr>
      <vt:lpstr>1_Office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Week 6 Outline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PowerPoint Presentation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&amp; Activity — Campus Parking Permit System</vt:lpstr>
      <vt:lpstr>Example &amp; Activity — Campus Parking Permit System</vt:lpstr>
      <vt:lpstr>PowerPoint Presentation</vt:lpstr>
      <vt:lpstr>PowerPoint Presentation</vt:lpstr>
      <vt:lpstr>PowerPoint Presentation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Campus Parking Permit System</vt:lpstr>
      <vt:lpstr>Example &amp; Activity — Event Ticketing Lite</vt:lpstr>
      <vt:lpstr>Example &amp; Activity — Event Ticketing Lite</vt:lpstr>
      <vt:lpstr>Example &amp; Activity — Event Ticketing Lite</vt:lpstr>
      <vt:lpstr>Example &amp; Activity — Event Ticketing Lite</vt:lpstr>
      <vt:lpstr>Example &amp; Activity — Event Ticketing Lite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4</cp:revision>
  <dcterms:created xsi:type="dcterms:W3CDTF">2026-09-01T12:03:54Z</dcterms:created>
  <dcterms:modified xsi:type="dcterms:W3CDTF">2026-09-01T19:15:39Z</dcterms:modified>
</cp:coreProperties>
</file>