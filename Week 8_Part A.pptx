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.xml" ContentType="application/vnd.openxmlformats-officedocument.presentationml.tags+xml"/>
  <Override PartName="/ppt/notesSlides/notesSlide12.xml" ContentType="application/vnd.openxmlformats-officedocument.presentationml.notesSlide+xml"/>
  <Override PartName="/ppt/tags/tag2.xml" ContentType="application/vnd.openxmlformats-officedocument.presentationml.tags+xml"/>
  <Override PartName="/ppt/notesSlides/notesSlide13.xml" ContentType="application/vnd.openxmlformats-officedocument.presentationml.notesSlide+xml"/>
  <Override PartName="/ppt/tags/tag3.xml" ContentType="application/vnd.openxmlformats-officedocument.presentationml.tags+xml"/>
  <Override PartName="/ppt/notesSlides/notesSlide14.xml" ContentType="application/vnd.openxmlformats-officedocument.presentationml.notesSlide+xml"/>
  <Override PartName="/ppt/tags/tag4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139"/>
  </p:notesMasterIdLst>
  <p:sldIdLst>
    <p:sldId id="2522" r:id="rId4"/>
    <p:sldId id="2443" r:id="rId5"/>
    <p:sldId id="2633" r:id="rId6"/>
    <p:sldId id="2467" r:id="rId7"/>
    <p:sldId id="3042" r:id="rId8"/>
    <p:sldId id="257" r:id="rId9"/>
    <p:sldId id="530" r:id="rId10"/>
    <p:sldId id="529" r:id="rId11"/>
    <p:sldId id="526" r:id="rId12"/>
    <p:sldId id="525" r:id="rId13"/>
    <p:sldId id="527" r:id="rId14"/>
    <p:sldId id="528" r:id="rId15"/>
    <p:sldId id="2943" r:id="rId16"/>
    <p:sldId id="3045" r:id="rId17"/>
    <p:sldId id="3046" r:id="rId18"/>
    <p:sldId id="3047" r:id="rId19"/>
    <p:sldId id="3048" r:id="rId20"/>
    <p:sldId id="3049" r:id="rId21"/>
    <p:sldId id="3050" r:id="rId22"/>
    <p:sldId id="3051" r:id="rId23"/>
    <p:sldId id="3052" r:id="rId24"/>
    <p:sldId id="3053" r:id="rId25"/>
    <p:sldId id="3054" r:id="rId26"/>
    <p:sldId id="3055" r:id="rId27"/>
    <p:sldId id="3056" r:id="rId28"/>
    <p:sldId id="3057" r:id="rId29"/>
    <p:sldId id="3058" r:id="rId30"/>
    <p:sldId id="3059" r:id="rId31"/>
    <p:sldId id="3060" r:id="rId32"/>
    <p:sldId id="3061" r:id="rId33"/>
    <p:sldId id="3062" r:id="rId34"/>
    <p:sldId id="3063" r:id="rId35"/>
    <p:sldId id="3064" r:id="rId36"/>
    <p:sldId id="3065" r:id="rId37"/>
    <p:sldId id="3066" r:id="rId38"/>
    <p:sldId id="3067" r:id="rId39"/>
    <p:sldId id="3068" r:id="rId40"/>
    <p:sldId id="3069" r:id="rId41"/>
    <p:sldId id="3070" r:id="rId42"/>
    <p:sldId id="3071" r:id="rId43"/>
    <p:sldId id="3072" r:id="rId44"/>
    <p:sldId id="3073" r:id="rId45"/>
    <p:sldId id="3074" r:id="rId46"/>
    <p:sldId id="3075" r:id="rId47"/>
    <p:sldId id="3076" r:id="rId48"/>
    <p:sldId id="3077" r:id="rId49"/>
    <p:sldId id="3078" r:id="rId50"/>
    <p:sldId id="3079" r:id="rId51"/>
    <p:sldId id="3080" r:id="rId52"/>
    <p:sldId id="3081" r:id="rId53"/>
    <p:sldId id="3082" r:id="rId54"/>
    <p:sldId id="3083" r:id="rId55"/>
    <p:sldId id="3084" r:id="rId56"/>
    <p:sldId id="3085" r:id="rId57"/>
    <p:sldId id="3086" r:id="rId58"/>
    <p:sldId id="3087" r:id="rId59"/>
    <p:sldId id="3088" r:id="rId60"/>
    <p:sldId id="3089" r:id="rId61"/>
    <p:sldId id="3090" r:id="rId62"/>
    <p:sldId id="3091" r:id="rId63"/>
    <p:sldId id="3092" r:id="rId64"/>
    <p:sldId id="3093" r:id="rId65"/>
    <p:sldId id="3094" r:id="rId66"/>
    <p:sldId id="3095" r:id="rId67"/>
    <p:sldId id="3096" r:id="rId68"/>
    <p:sldId id="3097" r:id="rId69"/>
    <p:sldId id="3098" r:id="rId70"/>
    <p:sldId id="3099" r:id="rId71"/>
    <p:sldId id="3100" r:id="rId72"/>
    <p:sldId id="3101" r:id="rId73"/>
    <p:sldId id="3102" r:id="rId74"/>
    <p:sldId id="3103" r:id="rId75"/>
    <p:sldId id="3104" r:id="rId76"/>
    <p:sldId id="3105" r:id="rId77"/>
    <p:sldId id="3106" r:id="rId78"/>
    <p:sldId id="3107" r:id="rId79"/>
    <p:sldId id="3108" r:id="rId80"/>
    <p:sldId id="3109" r:id="rId81"/>
    <p:sldId id="3110" r:id="rId82"/>
    <p:sldId id="3111" r:id="rId83"/>
    <p:sldId id="3112" r:id="rId84"/>
    <p:sldId id="3113" r:id="rId85"/>
    <p:sldId id="3114" r:id="rId86"/>
    <p:sldId id="3115" r:id="rId87"/>
    <p:sldId id="3116" r:id="rId88"/>
    <p:sldId id="3117" r:id="rId89"/>
    <p:sldId id="3118" r:id="rId90"/>
    <p:sldId id="3119" r:id="rId91"/>
    <p:sldId id="3120" r:id="rId92"/>
    <p:sldId id="3121" r:id="rId93"/>
    <p:sldId id="3122" r:id="rId94"/>
    <p:sldId id="3123" r:id="rId95"/>
    <p:sldId id="3044" r:id="rId96"/>
    <p:sldId id="3124" r:id="rId97"/>
    <p:sldId id="3125" r:id="rId98"/>
    <p:sldId id="520" r:id="rId99"/>
    <p:sldId id="522" r:id="rId100"/>
    <p:sldId id="523" r:id="rId101"/>
    <p:sldId id="524" r:id="rId102"/>
    <p:sldId id="3126" r:id="rId103"/>
    <p:sldId id="3127" r:id="rId104"/>
    <p:sldId id="3128" r:id="rId105"/>
    <p:sldId id="3129" r:id="rId106"/>
    <p:sldId id="3130" r:id="rId107"/>
    <p:sldId id="3131" r:id="rId108"/>
    <p:sldId id="3132" r:id="rId109"/>
    <p:sldId id="3133" r:id="rId110"/>
    <p:sldId id="3134" r:id="rId111"/>
    <p:sldId id="3135" r:id="rId112"/>
    <p:sldId id="3136" r:id="rId113"/>
    <p:sldId id="3137" r:id="rId114"/>
    <p:sldId id="3138" r:id="rId115"/>
    <p:sldId id="3139" r:id="rId116"/>
    <p:sldId id="3140" r:id="rId117"/>
    <p:sldId id="3141" r:id="rId118"/>
    <p:sldId id="3142" r:id="rId119"/>
    <p:sldId id="3143" r:id="rId120"/>
    <p:sldId id="3144" r:id="rId121"/>
    <p:sldId id="3145" r:id="rId122"/>
    <p:sldId id="3146" r:id="rId123"/>
    <p:sldId id="3147" r:id="rId124"/>
    <p:sldId id="3148" r:id="rId125"/>
    <p:sldId id="3149" r:id="rId126"/>
    <p:sldId id="3150" r:id="rId127"/>
    <p:sldId id="3151" r:id="rId128"/>
    <p:sldId id="3152" r:id="rId129"/>
    <p:sldId id="3153" r:id="rId130"/>
    <p:sldId id="3154" r:id="rId131"/>
    <p:sldId id="3155" r:id="rId132"/>
    <p:sldId id="3156" r:id="rId133"/>
    <p:sldId id="463" r:id="rId134"/>
    <p:sldId id="399" r:id="rId135"/>
    <p:sldId id="430" r:id="rId136"/>
    <p:sldId id="494" r:id="rId137"/>
    <p:sldId id="3043" r:id="rId1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2369" y="8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4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63" Type="http://schemas.openxmlformats.org/officeDocument/2006/relationships/slide" Target="slides/slide60.xml"/><Relationship Id="rId84" Type="http://schemas.openxmlformats.org/officeDocument/2006/relationships/slide" Target="slides/slide81.xml"/><Relationship Id="rId138" Type="http://schemas.openxmlformats.org/officeDocument/2006/relationships/slide" Target="slides/slide135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123" Type="http://schemas.openxmlformats.org/officeDocument/2006/relationships/slide" Target="slides/slide120.xml"/><Relationship Id="rId128" Type="http://schemas.openxmlformats.org/officeDocument/2006/relationships/slide" Target="slides/slide125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18" Type="http://schemas.openxmlformats.org/officeDocument/2006/relationships/slide" Target="slides/slide115.xml"/><Relationship Id="rId134" Type="http://schemas.openxmlformats.org/officeDocument/2006/relationships/slide" Target="slides/slide131.xml"/><Relationship Id="rId139" Type="http://schemas.openxmlformats.org/officeDocument/2006/relationships/notesMaster" Target="notesMasters/notesMaster1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slide" Target="slides/slide105.xml"/><Relationship Id="rId124" Type="http://schemas.openxmlformats.org/officeDocument/2006/relationships/slide" Target="slides/slide121.xml"/><Relationship Id="rId129" Type="http://schemas.openxmlformats.org/officeDocument/2006/relationships/slide" Target="slides/slide126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4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slide" Target="slides/slide111.xml"/><Relationship Id="rId119" Type="http://schemas.openxmlformats.org/officeDocument/2006/relationships/slide" Target="slides/slide116.xml"/><Relationship Id="rId44" Type="http://schemas.openxmlformats.org/officeDocument/2006/relationships/slide" Target="slides/slide41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130" Type="http://schemas.openxmlformats.org/officeDocument/2006/relationships/slide" Target="slides/slide127.xml"/><Relationship Id="rId135" Type="http://schemas.openxmlformats.org/officeDocument/2006/relationships/slide" Target="slides/slide132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120" Type="http://schemas.openxmlformats.org/officeDocument/2006/relationships/slide" Target="slides/slide117.xml"/><Relationship Id="rId125" Type="http://schemas.openxmlformats.org/officeDocument/2006/relationships/slide" Target="slides/slide122.xml"/><Relationship Id="rId141" Type="http://schemas.openxmlformats.org/officeDocument/2006/relationships/viewProps" Target="view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15" Type="http://schemas.openxmlformats.org/officeDocument/2006/relationships/slide" Target="slides/slide112.xml"/><Relationship Id="rId131" Type="http://schemas.openxmlformats.org/officeDocument/2006/relationships/slide" Target="slides/slide128.xml"/><Relationship Id="rId136" Type="http://schemas.openxmlformats.org/officeDocument/2006/relationships/slide" Target="slides/slide133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126" Type="http://schemas.openxmlformats.org/officeDocument/2006/relationships/slide" Target="slides/slide12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121" Type="http://schemas.openxmlformats.org/officeDocument/2006/relationships/slide" Target="slides/slide118.xml"/><Relationship Id="rId142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slide" Target="slides/slide113.xml"/><Relationship Id="rId137" Type="http://schemas.openxmlformats.org/officeDocument/2006/relationships/slide" Target="slides/slide13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32" Type="http://schemas.openxmlformats.org/officeDocument/2006/relationships/slide" Target="slides/slide129.xml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27" Type="http://schemas.openxmlformats.org/officeDocument/2006/relationships/slide" Target="slides/slide12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52" Type="http://schemas.openxmlformats.org/officeDocument/2006/relationships/slide" Target="slides/slide49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122" Type="http://schemas.openxmlformats.org/officeDocument/2006/relationships/slide" Target="slides/slide119.xml"/><Relationship Id="rId143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26" Type="http://schemas.openxmlformats.org/officeDocument/2006/relationships/slide" Target="slides/slide23.xml"/><Relationship Id="rId47" Type="http://schemas.openxmlformats.org/officeDocument/2006/relationships/slide" Target="slides/slide44.xml"/><Relationship Id="rId68" Type="http://schemas.openxmlformats.org/officeDocument/2006/relationships/slide" Target="slides/slide65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33" Type="http://schemas.openxmlformats.org/officeDocument/2006/relationships/slide" Target="slides/slide130.xml"/><Relationship Id="rId16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4768A3-CE1D-4B38-9DB7-258A20660199}" type="datetimeFigureOut">
              <a:rPr lang="en-AU" smtClean="0"/>
              <a:t>16/09/2026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D24F3-C88E-4C15-8193-4E111B80EC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1419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ef0b59b6e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ef0b59b6e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143C7548-C2D9-C200-3F2C-8D3594C42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6B4C6FCD-185E-3DA6-4F45-A2D5886F9C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E771C838-6397-1F67-4153-BE83C925E5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Revised design: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- Bank stores the customer data, which shouldn't be directly exposed to the manager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- Bank provides methods relevant to managing customers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- removed the manager field from Bank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- Manager holds a references to the bank object, and manages customers using the methods provided by Bank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- Adding a login system (login.py) as the entry point of the program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0182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>
          <a:extLst>
            <a:ext uri="{FF2B5EF4-FFF2-40B4-BE49-F238E27FC236}">
              <a16:creationId xmlns:a16="http://schemas.microsoft.com/office/drawing/2014/main" id="{FA73EDE3-4915-BE2D-30AE-F92AE731D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>
            <a:extLst>
              <a:ext uri="{FF2B5EF4-FFF2-40B4-BE49-F238E27FC236}">
                <a16:creationId xmlns:a16="http://schemas.microsoft.com/office/drawing/2014/main" id="{0913D97A-12DC-4076-4E32-F87380FC75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>
            <a:extLst>
              <a:ext uri="{FF2B5EF4-FFF2-40B4-BE49-F238E27FC236}">
                <a16:creationId xmlns:a16="http://schemas.microsoft.com/office/drawing/2014/main" id="{8B48F33E-11BC-9A99-CC98-29B8E3EFB8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Revised design: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- Bank stores the customer data, which shouldn't be directly exposed to the manager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- Bank provides methods relevant to managing customers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- removed the manager field from Bank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- Manager holds a references to the bank object, and manages customers using the methods provided by Bank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- Adding a login system (login.py) as the entry point of the program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53765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Revised design: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- Bank stores the customer data, which shouldn't be directly exposed to the manager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- Bank provides methods relevant to managing customers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- removed the manager field from Bank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- Manager holds a references to the bank object, and manages customers using the methods provided by Bank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   - Adding a login system (login.py) as the entry point of the program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6324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3482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4934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3823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4265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92244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461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78dea5054f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78dea5054f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07905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Intro to OOP with Java, C. Thomas Wu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©The McGraw-Hill Companies, Inc.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A2246B3-552B-427E-A8F3-57B36BBBE244}" type="slidenum"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131</a:t>
            </a:fld>
            <a:endParaRPr kumimoji="0" lang="en-US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2588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chemeClr val="bg1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/>
          <a:lstStyle/>
          <a:p>
            <a:pPr marL="139700" indent="0">
              <a:buNone/>
            </a:pPr>
            <a:endParaRPr lang="en-US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6247080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Intro to OOP with Java, C. Thomas Wu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©The McGraw-Hill Companies, Inc.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A2246B3-552B-427E-A8F3-57B36BBBE244}" type="slidenum"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132</a:t>
            </a:fld>
            <a:endParaRPr kumimoji="0" lang="en-US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2588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chemeClr val="bg1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/>
          <a:lstStyle/>
          <a:p>
            <a:pPr marL="139700" indent="0">
              <a:buNone/>
            </a:pPr>
            <a:endParaRPr lang="en-US" altLang="en-US" sz="1000" dirty="0"/>
          </a:p>
        </p:txBody>
      </p:sp>
    </p:spTree>
    <p:extLst>
      <p:ext uri="{BB962C8B-B14F-4D97-AF65-F5344CB8AC3E}">
        <p14:creationId xmlns:p14="http://schemas.microsoft.com/office/powerpoint/2010/main" val="6076183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Intro to OOP with Java, C. Thomas Wu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©The McGraw-Hill Companies, Inc.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A2246B3-552B-427E-A8F3-57B36BBBE244}" type="slidenum"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133</a:t>
            </a:fld>
            <a:endParaRPr kumimoji="0" lang="en-US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2588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chemeClr val="bg1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/>
          <a:lstStyle/>
          <a:p>
            <a:pPr marL="139700" indent="0">
              <a:buNone/>
            </a:pPr>
            <a:endParaRPr lang="en-US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125376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Intro to OOP with Java, C. Thomas Wu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©The McGraw-Hill Companies, Inc.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A2246B3-552B-427E-A8F3-57B36BBBE244}" type="slidenum">
              <a:rPr kumimoji="0" lang="en-US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134</a:t>
            </a:fld>
            <a:endParaRPr kumimoji="0" lang="en-US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2588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chemeClr val="bg1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/>
          <a:lstStyle/>
          <a:p>
            <a:pPr marL="139700" indent="0">
              <a:buNone/>
            </a:pPr>
            <a:endParaRPr lang="en-US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720002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7A289-FF3D-6221-0919-52B01AA8C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4B72A-F72E-6F44-5F03-1418A0B23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6A39C-6018-18E9-5F8D-4A1EC20EB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16/09/2026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20D52-2FFC-C9DF-2C1D-0D71439D0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06BD1-0781-7498-CBE7-882C85BC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5949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06307-42D9-B52A-3FDF-879E60F0F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A6530-A555-4496-8091-721D1F881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4BAD6-101F-B851-1C08-7D894720D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16/09/2026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BE63D-2BAC-0771-6CDD-E58CA768C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2B1F2-308D-04CF-0533-43636B44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1116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1970-B490-B69E-FCBD-212BA091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EDBB8-F6B9-F902-DDF8-399BEAD5F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A61F5-3BD9-1364-E269-EA50C8D5E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16/09/2026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1C5DD-8DE3-E3A8-9502-3A87814DB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7EB9C-AF45-B217-1DA1-31C1499B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447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B327E-C2D8-2826-AC41-CBF55C1F5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1C1C5-C310-D6F8-E733-80DC724D8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B3D25-4FAE-3121-CD93-0C49A108A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4EAB2-5E1A-8619-3057-C3A1AB5D1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16/09/2026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9F5A9-2584-E93E-6A0F-A4794EE1D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7E2D3-3374-99CB-1920-B67380A0E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972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6ED3B-21CA-4495-94A5-BF0A07143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25D24-B245-8441-06C8-6FC24B1D7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E5481-DAD5-42E9-A05C-FE17FB031D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BF7B5-BC72-38B3-02F0-7BB1BC9D07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271FD1-022B-B62F-16CD-57BC6B42D6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1968B3-4251-2756-4B56-73ADD506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16/09/2026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7B1F6D-47C2-CAE3-A4E5-9BBEA2718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390004-77A4-C994-6377-2D03957A9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7843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029FA-C545-B505-6C82-069457BDA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CBFB8-D61F-8DA0-01D0-D4ABB178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16/09/2026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936ED-D26E-6CDD-AE85-E69826C2B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F5E15-D044-ACA4-4FF1-4403C9CB1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0804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00D06D-3A18-FF5D-39C8-EC1AC6D1C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16/09/2026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041F04-363D-EF82-F43A-1F8511337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072FA-339B-371C-0059-8970DEB1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0544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85B4-BB2F-E262-E02E-C1DC1BF00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14E00-FACA-AA09-85E5-E01105E85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4EE9D-4DB5-87C6-C68D-3C076EA32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988F-CF28-82C0-CDE6-5940AF6A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16/09/2026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6275B-7D78-C2DE-31FE-0C2CC2479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A9313-C86F-F87B-3741-AEE3F072D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4448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5856-F0AB-56B5-BD98-57810EED5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7A74BD-4349-19E0-431D-8899C9B13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9018E4-FE4E-963A-A372-8FF2993F1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71D85-A2C7-2BA8-45B6-F761AF79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16/09/2026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167D4-1A0A-BA70-330D-3FF1004FE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2802A-72F4-775F-7C84-9B2F5770F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132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CF791-333B-3959-5EB7-74857A081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0ACA7-4517-BC5B-569C-29CDA754F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72832-7FB6-BE62-8AC6-AC4630D92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16/09/2026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D29DE-BC8E-969C-246D-FAB1068D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5BE22-884E-FBF3-A25E-96D41863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5697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444B66-AC16-CCAB-AFE8-29D6415A76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ACECC-B4A9-B0D4-C662-26E490713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00766-BA84-C9DB-9E6F-3B62FB470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16/09/2026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61B9B-7BB2-B7BE-929B-53D8853D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AB2A3-A938-DC24-C96A-DF2004F89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2973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53CF8-4CC4-7F3B-2E2C-B754C2E0B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47C4A4-F523-ACA9-5C84-1EB3B80F5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56B62-F469-5355-6292-CF3055CB0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16/09/2026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6D681-D058-06A0-CFA9-1ACBCF9D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91BDF-B5C2-115A-032D-5C46CBD9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3186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2C67-E368-7D38-83A4-DC56A3CE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983C6-8621-2FAD-A749-9E13A6E82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A0925-44BC-4207-88BC-094591F65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16/09/2026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63BBE-E6DD-4BA0-5A98-015DA3DCE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556D0-7775-3B39-DE7E-B43E5937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7671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96912-D2E1-9F64-1372-FD29BECA1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3F36E-92D4-F7A9-5611-D4EBA0BE8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A57A2-4AEF-2382-EDA9-9845CA39B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16/09/2026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37D0E-8F76-6E7D-576B-3044ADA8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2D88E-0EE8-C9D0-7C68-6610F7CE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69594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A8EEF-DD28-69EB-29C5-D19A23E2A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7F8B3-1006-F7DE-14E9-62BEEF0BC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9AB7C-879B-50DC-E53A-4393B966D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D7845-F396-BCEB-3205-F5CB38CB2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16/09/2026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FD3CE-E9A4-DBF3-1F0E-201F7D7F8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8F1D0-0AD2-C539-20D2-851B13FB1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4724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249C5-0226-85F6-8D4F-D4EA9199B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293AD-8E77-DFCC-2C3E-8937176F9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B92EC-30B6-5005-98C8-910D96DBB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EC2EA1-CEE9-87F1-74CA-7EA588BF2B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4F0A23-C285-3B5E-0EF8-4DF4263F0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763897-C5FE-C3C3-0CDA-105871814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16/09/2026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6D7EC9-F5EC-C2D4-DFE1-05F4CA0D1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CEC484-2B60-830F-28B9-0BF2FCAE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0658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555B2-54AC-E8D5-3367-D1C2415C8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E7327B-BCFB-7F1B-0D11-15CDAFA5E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16/09/2026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EA2D0-8DDC-C686-66FD-4DE83C549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0BFAB-E28F-508B-19B8-6522D8ACF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49621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769272-1C68-4E9F-DF2B-EFBD432E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16/09/2026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2DC98D-0E86-D36E-F380-6954CD1E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1A426-B4F3-BBC6-83AE-7CC2B62F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36678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50BF-D428-3081-57B1-8789F7735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5AD68-6E43-EC2D-C33D-9C8C408CC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7F6F4-D743-9E3B-ECD3-FC039ED7A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4F5F1-6B2A-22C2-ECEA-5177C220A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16/09/2026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F1728-E389-E41B-E406-1E97CFE6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B1710-9C83-7478-4B35-7F8EEFEF0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90949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6ED2-C254-312D-15C0-846C33DE5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BD8503-8FCB-7F53-63D6-495FC6DA09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F4EB0-E8B0-EA92-3CF8-6A5D1F5C7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D7A35-CE5F-ECE8-2441-58A2C9202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16/09/2026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0283E-7CC6-0CCE-C2FC-702F78F90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77FBD-6EC1-3B80-4A79-3B5A0E2E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2823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E148A-761D-E27D-E888-B7E27FD8A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74B11-2215-EBF3-BEA3-EF320EE38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7CD92-D758-240E-A2D2-4E195BC7F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16/09/2026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B3A7E-35BE-57C3-5A4F-F3FB5F4D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17621-F8C1-F075-FE92-FD0DDB619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9839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AFC27C-709B-17D0-FA2E-D84DCAB7FA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9340E5-47C9-4263-1E76-9BE55624B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996FD-B031-5E26-AF28-582721D53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16/09/2026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9D959-5F65-A253-A7EB-99402547B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B7ADB-FEDC-6841-0342-4A29EDFCF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78607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658685" y="1008934"/>
            <a:ext cx="1442167" cy="1499933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Google Shape;11;p2"/>
          <p:cNvSpPr/>
          <p:nvPr/>
        </p:nvSpPr>
        <p:spPr>
          <a:xfrm rot="10800000">
            <a:off x="7091134" y="4355634"/>
            <a:ext cx="1442167" cy="1499933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059600" y="1925673"/>
            <a:ext cx="40728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059600" y="4155440"/>
            <a:ext cx="4072800" cy="9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8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17056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10127918" y="613634"/>
            <a:ext cx="1442167" cy="1499933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621901" y="4744434"/>
            <a:ext cx="1442167" cy="1499933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1031600" y="2408600"/>
            <a:ext cx="10128800" cy="20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85131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800" cy="110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11360800" cy="44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1724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800" cy="110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5333200" cy="44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6443200" y="1633633"/>
            <a:ext cx="5333200" cy="44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12368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800" cy="110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09290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415600" y="1865867"/>
            <a:ext cx="3744000" cy="37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73986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7838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66840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6096000" y="-33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43" name="Google Shape;43;p9"/>
          <p:cNvCxnSpPr/>
          <p:nvPr/>
        </p:nvCxnSpPr>
        <p:spPr>
          <a:xfrm>
            <a:off x="6706233" y="5994000"/>
            <a:ext cx="624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354000" y="1239033"/>
            <a:ext cx="5393600" cy="23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354000" y="3692001"/>
            <a:ext cx="53936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04423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426000" y="5625233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32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2988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276167"/>
            <a:ext cx="11360800" cy="28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21333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415600" y="4216000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31869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45753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800" cy="11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11360800" cy="44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ftr" idx="11"/>
          </p:nvPr>
        </p:nvSpPr>
        <p:spPr>
          <a:xfrm>
            <a:off x="304800" y="62484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 lang="en-US"/>
          </a:p>
          <a:p>
            <a:r>
              <a:rPr lang="en-US"/>
              <a:t>4</a:t>
            </a:r>
            <a:r>
              <a:rPr lang="en-US" baseline="30000"/>
              <a:t>th</a:t>
            </a:r>
            <a:r>
              <a:rPr lang="en-US"/>
              <a:t> Ed Chapter 6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fld id="{00000000-1234-1234-1234-123412341234}" type="slidenum">
              <a:rPr lang="en-GB" smtClean="0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1611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CC3005-B647-9E32-CC60-519127703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7C51E-6DC2-39F3-9212-D582E0A9B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B9BBC-D295-7A76-2B27-6B12AD3F6F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67406-7D6A-427B-AE15-EA86D49A46C9}" type="datetimeFigureOut">
              <a:rPr lang="en-AU" smtClean="0"/>
              <a:t>16/09/2026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185DA-FDEE-FA5B-E9B0-C02631270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860BB-9B5C-C732-6BD6-2C0DFC8EE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46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DDAB3A-0A22-D024-CB1E-FB00658BE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D3B34-6582-BD11-4D42-366502C70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8C151-0A35-D9DB-7435-13417BC8F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A40DC-3820-4F90-B4E8-98BE2140A65D}" type="datetimeFigureOut">
              <a:rPr lang="en-AU" smtClean="0"/>
              <a:t>16/09/2026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A9709-41CF-642F-7858-53BE89DAE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2F23B-D3DD-D490-A64F-7E733F664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154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800" cy="11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11360800" cy="44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333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98795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3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4.xml"/><Relationship Id="rId1" Type="http://schemas.openxmlformats.org/officeDocument/2006/relationships/tags" Target="../tags/tag1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4.xml"/><Relationship Id="rId1" Type="http://schemas.openxmlformats.org/officeDocument/2006/relationships/tags" Target="../tags/tag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4.xml"/><Relationship Id="rId1" Type="http://schemas.openxmlformats.org/officeDocument/2006/relationships/tags" Target="../tags/tag3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4.xml"/><Relationship Id="rId1" Type="http://schemas.openxmlformats.org/officeDocument/2006/relationships/tags" Target="../tags/tag4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rshid-keivanian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github.com/FarshidKeivani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876F03-8BAA-72AB-E62A-1CEA6868C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454" y="1360481"/>
            <a:ext cx="4605340" cy="2387600"/>
          </a:xfrm>
        </p:spPr>
        <p:txBody>
          <a:bodyPr>
            <a:normAutofit/>
          </a:bodyPr>
          <a:lstStyle/>
          <a:p>
            <a:pPr algn="l"/>
            <a:r>
              <a:rPr lang="en-US" sz="3900" dirty="0">
                <a:solidFill>
                  <a:schemeClr val="bg1"/>
                </a:solidFill>
                <a:latin typeface="Calibir"/>
              </a:rPr>
              <a:t>32555 – Fundamentals of Software Development</a:t>
            </a:r>
            <a:endParaRPr lang="en-AU" sz="3900" dirty="0">
              <a:solidFill>
                <a:schemeClr val="bg1"/>
              </a:solidFill>
              <a:latin typeface="Calibir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8A4EEB-3C3C-78E4-5144-CBDE3AFA8C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7" r="98" b="1"/>
          <a:stretch>
            <a:fillRect/>
          </a:stretch>
        </p:blipFill>
        <p:spPr>
          <a:xfrm>
            <a:off x="5800734" y="1057275"/>
            <a:ext cx="5917401" cy="47434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84C2E9E-0B5D-4B5F-9A1F-70EBDCE39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2461" y="1197769"/>
            <a:ext cx="10987078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4851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7A11-47AE-C133-8206-569A0BB07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E1848-8E74-13DF-C09C-3CC64A48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Welcome to 32555 – Fundamentals of Software Development</a:t>
            </a:r>
            <a:endParaRPr lang="en-AU" sz="4000" b="1" dirty="0">
              <a:latin typeface="Calibir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5185FC6-5CEA-DC1B-A1DF-D2D8A8948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7669"/>
            <a:ext cx="12192000" cy="5963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Your Teaching Team: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 Yining Hu | Subject Coordinator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Yining is a Lecturer in Software Engineering. She works with many SMEs to develop software and AI solutions through student and research projects at UTS.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 yining.hu@uts.edu.au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 Xiaojie (Zoe) Lin | Tutor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Zoe is a full-stack software engineer with an interest in data analysis, specializing in JAVA, R, Python, JavaScript, PHP, Bash, and MATLAB; familiar with AWS.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  Xiaojie.Lin@uts.edu.au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 Farshid Keivanian | Tutor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 Farshid Keivanian is an experienced university lecturer and researcher with a PhD in Information Technology. He has over 15 years of teaching experience across Australian institutions,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specialising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in software engineering, data science, AI, and cybersecurity.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 Farshid.Keivanian@uts.edu.au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Yong Pov | Tutor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Yong is a full-stack software engineer with experience in React, JavaScript, TypeScript, Java, Python, SQL, and AI-assisted learning platforms.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 Yong.Pov@uts.edu.au</a:t>
            </a:r>
          </a:p>
        </p:txBody>
      </p:sp>
    </p:spTree>
    <p:extLst>
      <p:ext uri="{BB962C8B-B14F-4D97-AF65-F5344CB8AC3E}">
        <p14:creationId xmlns:p14="http://schemas.microsoft.com/office/powerpoint/2010/main" val="794337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96DC6-424A-EAE3-87C1-E5765B094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5FDA-B4C2-6DD5-17BE-680D62858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Welcome to 32555 – Fundamentals of Software Development</a:t>
            </a:r>
            <a:endParaRPr lang="en-AU" sz="4000" b="1" dirty="0">
              <a:latin typeface="Calibir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98AB95-B27E-184F-3760-418B8D55B79F}"/>
              </a:ext>
            </a:extLst>
          </p:cNvPr>
          <p:cNvGraphicFramePr>
            <a:graphicFrameLocks noGrp="1"/>
          </p:cNvGraphicFramePr>
          <p:nvPr/>
        </p:nvGraphicFramePr>
        <p:xfrm>
          <a:off x="722671" y="1816610"/>
          <a:ext cx="9792928" cy="368121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13329">
                  <a:extLst>
                    <a:ext uri="{9D8B030D-6E8A-4147-A177-3AD203B41FA5}">
                      <a16:colId xmlns:a16="http://schemas.microsoft.com/office/drawing/2014/main" val="79494275"/>
                    </a:ext>
                  </a:extLst>
                </a:gridCol>
                <a:gridCol w="2230244">
                  <a:extLst>
                    <a:ext uri="{9D8B030D-6E8A-4147-A177-3AD203B41FA5}">
                      <a16:colId xmlns:a16="http://schemas.microsoft.com/office/drawing/2014/main" val="2506284612"/>
                    </a:ext>
                  </a:extLst>
                </a:gridCol>
                <a:gridCol w="2864347">
                  <a:extLst>
                    <a:ext uri="{9D8B030D-6E8A-4147-A177-3AD203B41FA5}">
                      <a16:colId xmlns:a16="http://schemas.microsoft.com/office/drawing/2014/main" val="2357989121"/>
                    </a:ext>
                  </a:extLst>
                </a:gridCol>
                <a:gridCol w="3085008">
                  <a:extLst>
                    <a:ext uri="{9D8B030D-6E8A-4147-A177-3AD203B41FA5}">
                      <a16:colId xmlns:a16="http://schemas.microsoft.com/office/drawing/2014/main" val="192731506"/>
                    </a:ext>
                  </a:extLst>
                </a:gridCol>
              </a:tblGrid>
              <a:tr h="3706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Cmp1 #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Location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Time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Tutor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461216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01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Fri 16:00-18:00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Xiaojie (Zoe) Lin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extLst>
                  <a:ext uri="{0D108BD9-81ED-4DB2-BD59-A6C34878D82A}">
                    <a16:rowId xmlns:a16="http://schemas.microsoft.com/office/drawing/2014/main" val="3707997205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07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CB11.B1.401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10:00-12:00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27887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08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Fri 12:00-14:00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Yong Pov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extLst>
                  <a:ext uri="{0D108BD9-81ED-4DB2-BD59-A6C34878D82A}">
                    <a16:rowId xmlns:a16="http://schemas.microsoft.com/office/drawing/2014/main" val="1335921487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09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CB11.B1.103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16:00-18:00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187035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10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CB11.B1.401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12:00-14:00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140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4682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DA366-6BE2-EF72-FFA9-3FC1C60CA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B7095-A95E-A4AA-C9AB-75AB5D7B3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8 Outline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0128F9-B18A-0AC2-A696-92165ABAB1BE}"/>
              </a:ext>
            </a:extLst>
          </p:cNvPr>
          <p:cNvSpPr txBox="1"/>
          <p:nvPr/>
        </p:nvSpPr>
        <p:spPr>
          <a:xfrm>
            <a:off x="0" y="856356"/>
            <a:ext cx="12192000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Lab 8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What is OOP?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Why use OOP?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Python Example 1: Creating a BankAccount Class (Objects = Data + Actions)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Java Example 1: Creating a BankAccount Class (Data + Actions Together)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Encapsulation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Python Example 2: Encapsulation in BankAccount (Hiding Data with Getters &amp; Setters)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Java Example 2: Encapsulation in BankAccount (Using Private Fields and Getters/Setters)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Hands-On Activity 1 - Python: Try calling withdraw(2000) and see how the program prevents overdrawing.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Inheritance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Python Example 3: Inheritance with SavingsAccount (Child Reuses Parent Code)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Java Example 3: Inheritance with SavingsAccount (Child Reuses Parent Code)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Hands-On Activity 2 (Python): Create a CheckingAccount Subclass with Overdraft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Hands-On Activity 2 (Java): Create a CheckingAccount Subclass with Overdraft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Polymorphism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Calibir"/>
              </a:rPr>
              <a:t>Python Example 4: Polymorphism with BankAccount (Same Method, Different </a:t>
            </a:r>
            <a:r>
              <a:rPr lang="en-US" sz="2200" dirty="0" err="1">
                <a:latin typeface="Calibir"/>
              </a:rPr>
              <a:t>Behaviour</a:t>
            </a:r>
            <a:r>
              <a:rPr lang="en-US" sz="2200" dirty="0">
                <a:latin typeface="Calibi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00910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440B6-46E6-9CB1-0605-3CABB208A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E3F30-8211-A94B-84FE-3AC0C501B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8 Outline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3C6F29-7DAE-DBBB-D8FE-BC84E814643C}"/>
              </a:ext>
            </a:extLst>
          </p:cNvPr>
          <p:cNvSpPr txBox="1"/>
          <p:nvPr/>
        </p:nvSpPr>
        <p:spPr>
          <a:xfrm>
            <a:off x="0" y="672662"/>
            <a:ext cx="12192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17"/>
            </a:pPr>
            <a:r>
              <a:rPr lang="en-US" sz="2200" dirty="0">
                <a:latin typeface="Calibir"/>
              </a:rPr>
              <a:t>Java Example 4: Polymorphism with </a:t>
            </a:r>
            <a:r>
              <a:rPr lang="en-US" sz="2200" dirty="0" err="1">
                <a:latin typeface="Calibir"/>
              </a:rPr>
              <a:t>BankAccount</a:t>
            </a:r>
            <a:r>
              <a:rPr lang="en-US" sz="2200" dirty="0">
                <a:latin typeface="Calibir"/>
              </a:rPr>
              <a:t> (Same Method, Different </a:t>
            </a:r>
            <a:r>
              <a:rPr lang="en-US" sz="2200" dirty="0" err="1">
                <a:latin typeface="Calibir"/>
              </a:rPr>
              <a:t>Behaviour</a:t>
            </a:r>
            <a:r>
              <a:rPr lang="en-US" sz="2200" dirty="0">
                <a:latin typeface="Calibir"/>
              </a:rPr>
              <a:t>)</a:t>
            </a:r>
          </a:p>
          <a:p>
            <a:pPr marL="342900" indent="-342900">
              <a:buFont typeface="+mj-lt"/>
              <a:buAutoNum type="arabicPeriod" startAt="17"/>
            </a:pPr>
            <a:r>
              <a:rPr lang="en-US" sz="2200" dirty="0">
                <a:latin typeface="Calibir"/>
              </a:rPr>
              <a:t>Hands-On Activity 3 (Python): Adding a </a:t>
            </a:r>
            <a:r>
              <a:rPr lang="en-US" sz="2200" dirty="0" err="1">
                <a:latin typeface="Calibir"/>
              </a:rPr>
              <a:t>get_balance</a:t>
            </a:r>
            <a:r>
              <a:rPr lang="en-US" sz="2200" dirty="0">
                <a:latin typeface="Calibir"/>
              </a:rPr>
              <a:t>() Method (Encapsulation + Polymorphism)</a:t>
            </a:r>
          </a:p>
          <a:p>
            <a:pPr marL="342900" indent="-342900">
              <a:buFont typeface="+mj-lt"/>
              <a:buAutoNum type="arabicPeriod" startAt="17"/>
            </a:pPr>
            <a:r>
              <a:rPr lang="en-US" sz="2200" dirty="0">
                <a:latin typeface="Calibir"/>
              </a:rPr>
              <a:t>Hands-On Activity 3 (Java): Adding a </a:t>
            </a:r>
            <a:r>
              <a:rPr lang="en-US" sz="2200" dirty="0" err="1">
                <a:latin typeface="Calibir"/>
              </a:rPr>
              <a:t>get_balance</a:t>
            </a:r>
            <a:r>
              <a:rPr lang="en-US" sz="2200" dirty="0">
                <a:latin typeface="Calibir"/>
              </a:rPr>
              <a:t>() Method (Encapsulation + Polymorphism)</a:t>
            </a:r>
          </a:p>
          <a:p>
            <a:pPr marL="342900" indent="-342900">
              <a:buFont typeface="+mj-lt"/>
              <a:buAutoNum type="arabicPeriod" startAt="17"/>
            </a:pPr>
            <a:r>
              <a:rPr lang="en-US" sz="2200" dirty="0">
                <a:latin typeface="Calibir"/>
              </a:rPr>
              <a:t>Abstraction</a:t>
            </a:r>
          </a:p>
          <a:p>
            <a:pPr marL="342900" indent="-342900">
              <a:buFont typeface="+mj-lt"/>
              <a:buAutoNum type="arabicPeriod" startAt="17"/>
            </a:pPr>
            <a:r>
              <a:rPr lang="en-US" sz="2200" dirty="0">
                <a:latin typeface="Calibir"/>
              </a:rPr>
              <a:t>Python Example 5: Abstraction with </a:t>
            </a:r>
            <a:r>
              <a:rPr lang="en-US" sz="2200" dirty="0" err="1">
                <a:latin typeface="Calibir"/>
              </a:rPr>
              <a:t>BankAccount</a:t>
            </a:r>
            <a:r>
              <a:rPr lang="en-US" sz="2200" dirty="0">
                <a:latin typeface="Calibir"/>
              </a:rPr>
              <a:t> (Using Abstract Class)</a:t>
            </a: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Java Example 5: Abstraction with BankAccount (Using Abstract Class)</a:t>
            </a: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Hands-On Activity 4 (Python): Creating a BusinessAccount Subclass (Abstraction + Polymorphism)</a:t>
            </a: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Python Example 6: Combining All OOP Concepts (Encapsulation, Inheritance, Polymorphism, Abstraction)</a:t>
            </a: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Java Example 6: Combining All OOP Concepts (Encapsulation, Inheritance, Polymorphism, Abstraction)</a:t>
            </a: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OOP Design Rules</a:t>
            </a: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Hands-On Activity 5 (Python): Adding </a:t>
            </a:r>
            <a:r>
              <a:rPr lang="en-US" sz="2200" dirty="0" err="1">
                <a:latin typeface="Calibir"/>
              </a:rPr>
              <a:t>add_interest</a:t>
            </a:r>
            <a:r>
              <a:rPr lang="en-US" sz="2200" dirty="0">
                <a:latin typeface="Calibir"/>
              </a:rPr>
              <a:t>() to </a:t>
            </a:r>
            <a:r>
              <a:rPr lang="en-US" sz="2200" dirty="0" err="1">
                <a:latin typeface="Calibir"/>
              </a:rPr>
              <a:t>SavingsAccount</a:t>
            </a:r>
            <a:endParaRPr lang="en-US" sz="2200" dirty="0">
              <a:latin typeface="Calibir"/>
            </a:endParaRP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The Menu Pattern</a:t>
            </a: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Python Example 7: Full OOP Program with Menu (Encapsulation, Inheritance, Abstraction, Polymorphism, Design Rules)</a:t>
            </a: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Java Example 7: Full OOP Program with Menu (Encapsulation, Inheritance, Abstraction, Polymorphism, Design Rules)</a:t>
            </a:r>
          </a:p>
          <a:p>
            <a:pPr marL="457200" indent="-457200">
              <a:buFont typeface="+mj-lt"/>
              <a:buAutoNum type="arabicPeriod" startAt="21"/>
            </a:pPr>
            <a:r>
              <a:rPr lang="en-US" sz="2200" dirty="0">
                <a:latin typeface="Calibir"/>
              </a:rPr>
              <a:t>Hands-On Activity 6 (Python): Extend the Full OOP Program with Menu</a:t>
            </a:r>
          </a:p>
        </p:txBody>
      </p:sp>
    </p:spTree>
    <p:extLst>
      <p:ext uri="{BB962C8B-B14F-4D97-AF65-F5344CB8AC3E}">
        <p14:creationId xmlns:p14="http://schemas.microsoft.com/office/powerpoint/2010/main" val="783748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1362267" cy="110913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GB" dirty="0"/>
              <a:t>Contents</a:t>
            </a:r>
            <a:endParaRPr dirty="0"/>
          </a:p>
        </p:txBody>
      </p:sp>
      <p:sp>
        <p:nvSpPr>
          <p:cNvPr id="70" name="Google Shape;70;p14"/>
          <p:cNvSpPr txBox="1"/>
          <p:nvPr/>
        </p:nvSpPr>
        <p:spPr>
          <a:xfrm>
            <a:off x="563366" y="1440933"/>
            <a:ext cx="10409433" cy="50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US" sz="3200" kern="0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Lab 8 exercises			</a:t>
            </a:r>
            <a:r>
              <a:rPr lang="en-US" sz="3200" kern="0" dirty="0">
                <a:solidFill>
                  <a:srgbClr val="F79646">
                    <a:lumMod val="75000"/>
                  </a:srgbClr>
                </a:solidFill>
                <a:latin typeface="Economica"/>
                <a:ea typeface="Economica"/>
                <a:cs typeface="Economica"/>
                <a:sym typeface="Economica"/>
              </a:rPr>
              <a:t>lab time: 120 minutes</a:t>
            </a:r>
            <a:endParaRPr sz="3200" kern="0" dirty="0">
              <a:solidFill>
                <a:srgbClr val="F79646">
                  <a:lumMod val="75000"/>
                </a:srgbClr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0F1F70-F36A-7BAC-66A6-6BA207139BBF}"/>
              </a:ext>
            </a:extLst>
          </p:cNvPr>
          <p:cNvSpPr txBox="1"/>
          <p:nvPr/>
        </p:nvSpPr>
        <p:spPr>
          <a:xfrm>
            <a:off x="1625600" y="2514600"/>
            <a:ext cx="8940800" cy="3671133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defTabSz="1219170">
              <a:lnSpc>
                <a:spcPct val="200000"/>
              </a:lnSpc>
              <a:buClr>
                <a:srgbClr val="000000"/>
              </a:buClr>
            </a:pPr>
            <a:r>
              <a:rPr lang="en-US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Lab 8 has two objectives:</a:t>
            </a:r>
          </a:p>
          <a:p>
            <a:pPr marL="380990" indent="-380990" defTabSz="1219170">
              <a:lnSpc>
                <a:spcPct val="2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Primary: Implement the </a:t>
            </a:r>
            <a:r>
              <a:rPr lang="en-US" sz="2400" kern="0" dirty="0" err="1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DeskBankApp</a:t>
            </a:r>
            <a:r>
              <a:rPr lang="en-US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 [refer to Lab 7]</a:t>
            </a:r>
          </a:p>
          <a:p>
            <a:pPr marL="380990" indent="-380990" defTabSz="1219170">
              <a:lnSpc>
                <a:spcPct val="2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Secondary: Complete the practice exercises [1 and 2] </a:t>
            </a:r>
          </a:p>
          <a:p>
            <a:pPr defTabSz="1219170">
              <a:lnSpc>
                <a:spcPct val="200000"/>
              </a:lnSpc>
              <a:buClr>
                <a:srgbClr val="000000"/>
              </a:buClr>
            </a:pPr>
            <a:r>
              <a:rPr lang="en-US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Complete the Lab 8 exercises using either Java or Python.</a:t>
            </a:r>
          </a:p>
          <a:p>
            <a:pPr defTabSz="1219170">
              <a:lnSpc>
                <a:spcPct val="200000"/>
              </a:lnSpc>
              <a:buClr>
                <a:srgbClr val="000000"/>
              </a:buClr>
            </a:pPr>
            <a:r>
              <a:rPr lang="en-US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Recommended IDE for Java and Python:  </a:t>
            </a:r>
            <a:r>
              <a:rPr lang="en-US" sz="2400" kern="0" dirty="0" err="1">
                <a:solidFill>
                  <a:srgbClr val="00B0F0"/>
                </a:solidFill>
                <a:latin typeface="Economica" panose="020B0604020202020204" charset="0"/>
                <a:cs typeface="Arial"/>
                <a:sym typeface="Arial"/>
              </a:rPr>
              <a:t>vscode</a:t>
            </a:r>
            <a:endParaRPr lang="en-US" sz="2400" kern="0" dirty="0">
              <a:solidFill>
                <a:srgbClr val="00B0F0"/>
              </a:solidFill>
              <a:latin typeface="Economica" panose="020B0604020202020204" charset="0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866D023E-AC7B-BE3E-4D0A-CD6A6A772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818A481E-DC84-655F-C3F9-44EC5AA59B8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9613"/>
            <a:ext cx="11362267" cy="110913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GB" dirty="0"/>
              <a:t>Lab 8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FB78EE-3AA4-AB29-9E65-73E328401DBE}"/>
              </a:ext>
            </a:extLst>
          </p:cNvPr>
          <p:cNvSpPr txBox="1"/>
          <p:nvPr/>
        </p:nvSpPr>
        <p:spPr>
          <a:xfrm>
            <a:off x="406401" y="1089521"/>
            <a:ext cx="11004265" cy="1131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US" sz="2400" b="1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Case Study - continued: </a:t>
            </a: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Create different login menus for the Manger and the Customers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9CB238-D518-1AAA-0590-B7BD6A24D0B5}"/>
              </a:ext>
            </a:extLst>
          </p:cNvPr>
          <p:cNvSpPr txBox="1"/>
          <p:nvPr/>
        </p:nvSpPr>
        <p:spPr>
          <a:xfrm>
            <a:off x="605683" y="2819402"/>
            <a:ext cx="10468717" cy="24778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lIns="121920" tIns="60960" rIns="121920" bIns="60960" rtlCol="0" anchor="t">
            <a:noAutofit/>
          </a:bodyPr>
          <a:lstStyle/>
          <a:p>
            <a:pPr defTabSz="609585">
              <a:buClr>
                <a:srgbClr val="000000"/>
              </a:buClr>
            </a:pPr>
            <a:r>
              <a:rPr lang="en-GB" sz="2133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Create a new Login class and use it as the entry point of the program.</a:t>
            </a:r>
          </a:p>
          <a:p>
            <a:pPr defTabSz="609585">
              <a:buClr>
                <a:srgbClr val="000000"/>
              </a:buClr>
            </a:pPr>
            <a:r>
              <a:rPr lang="en-GB" sz="2133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The Login class should include:</a:t>
            </a:r>
          </a:p>
          <a:p>
            <a:pPr marL="380990" indent="-380990" defTabSz="609585">
              <a:buClr>
                <a:srgbClr val="000000"/>
              </a:buClr>
              <a:buFontTx/>
              <a:buChar char="-"/>
            </a:pPr>
            <a:r>
              <a:rPr lang="en-GB" sz="2133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A method to read a choice (L/A/X)</a:t>
            </a:r>
          </a:p>
          <a:p>
            <a:pPr marL="380990" indent="-380990" defTabSz="609585">
              <a:buClr>
                <a:srgbClr val="000000"/>
              </a:buClr>
              <a:buFontTx/>
              <a:buChar char="-"/>
            </a:pPr>
            <a:r>
              <a:rPr lang="en-GB" sz="2133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A help() method with explanations for all options (L – Log in as a customer.; A – Log in as the manager.; X – Exit.)</a:t>
            </a:r>
          </a:p>
          <a:p>
            <a:pPr marL="380990" indent="-380990" defTabSz="609585">
              <a:buClr>
                <a:srgbClr val="000000"/>
              </a:buClr>
              <a:buFontTx/>
              <a:buChar char="-"/>
            </a:pPr>
            <a:r>
              <a:rPr lang="en-GB" sz="2133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The main() method to create a bank object, a manager object, and start the program.</a:t>
            </a:r>
          </a:p>
          <a:p>
            <a:pPr defTabSz="609585">
              <a:buClr>
                <a:srgbClr val="000000"/>
              </a:buClr>
            </a:pPr>
            <a:endParaRPr lang="en-GB" sz="2133" kern="0" dirty="0">
              <a:solidFill>
                <a:prstClr val="black"/>
              </a:solidFill>
              <a:latin typeface="Economica" panose="020B0604020202020204" charset="0"/>
              <a:cs typeface="Arial"/>
              <a:sym typeface="Arial"/>
            </a:endParaRPr>
          </a:p>
          <a:p>
            <a:pPr defTabSz="609585">
              <a:buClr>
                <a:srgbClr val="000000"/>
              </a:buClr>
            </a:pPr>
            <a:endParaRPr lang="en-GB" sz="2133" kern="0" dirty="0">
              <a:solidFill>
                <a:prstClr val="black"/>
              </a:solidFill>
              <a:latin typeface="Economica" panose="020B0604020202020204" charset="0"/>
              <a:cs typeface="Arial"/>
              <a:sym typeface="Arial"/>
            </a:endParaRPr>
          </a:p>
          <a:p>
            <a:pPr defTabSz="609585">
              <a:buClr>
                <a:srgbClr val="000000"/>
              </a:buClr>
            </a:pPr>
            <a:endParaRPr lang="en-US" sz="2133" kern="0" dirty="0">
              <a:solidFill>
                <a:srgbClr val="000000"/>
              </a:solidFill>
              <a:latin typeface="Economica" panose="020B060402020202020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3495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>
          <a:extLst>
            <a:ext uri="{FF2B5EF4-FFF2-40B4-BE49-F238E27FC236}">
              <a16:creationId xmlns:a16="http://schemas.microsoft.com/office/drawing/2014/main" id="{CA64F939-495C-7B57-D751-8C00344F4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4ADB0488-1682-CA66-2B5D-FE3658C9E86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9613"/>
            <a:ext cx="11362267" cy="110913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GB" dirty="0"/>
              <a:t>Lab 8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0A8F50-364F-9A45-7CEE-8DE5C8FEC572}"/>
              </a:ext>
            </a:extLst>
          </p:cNvPr>
          <p:cNvSpPr txBox="1"/>
          <p:nvPr/>
        </p:nvSpPr>
        <p:spPr>
          <a:xfrm>
            <a:off x="406401" y="1089521"/>
            <a:ext cx="11004265" cy="577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US" sz="2400" b="1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Case Study - continued: </a:t>
            </a: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Update the Bank class from Lab 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F5E9D9-BC81-9D62-8CA5-F298E18DA9E5}"/>
              </a:ext>
            </a:extLst>
          </p:cNvPr>
          <p:cNvSpPr txBox="1"/>
          <p:nvPr/>
        </p:nvSpPr>
        <p:spPr>
          <a:xfrm>
            <a:off x="605683" y="1625602"/>
            <a:ext cx="10468717" cy="50545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lIns="121920" tIns="60960" rIns="121920" bIns="60960" rtlCol="0" anchor="t">
            <a:noAutofit/>
          </a:bodyPr>
          <a:lstStyle/>
          <a:p>
            <a:pPr defTabSz="609585">
              <a:buClr>
                <a:srgbClr val="000000"/>
              </a:buClr>
            </a:pPr>
            <a:r>
              <a:rPr lang="en-GB" sz="1900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The Bank class should have:</a:t>
            </a:r>
          </a:p>
          <a:p>
            <a:pPr marL="380990" indent="-380990" defTabSz="609585">
              <a:buClr>
                <a:srgbClr val="000000"/>
              </a:buClr>
              <a:buFontTx/>
              <a:buChar char="-"/>
            </a:pPr>
            <a:r>
              <a:rPr lang="en-GB" sz="1900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A constructor to add 3 customers and store them in the bank object (ensuring all customers have unique names)</a:t>
            </a:r>
          </a:p>
          <a:p>
            <a:pPr marL="380990" indent="-380990" defTabSz="609585">
              <a:buClr>
                <a:srgbClr val="000000"/>
              </a:buClr>
              <a:buFontTx/>
              <a:buChar char="-"/>
            </a:pPr>
            <a:r>
              <a:rPr lang="en-GB" sz="19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A function to read a name</a:t>
            </a:r>
            <a:endParaRPr lang="en-GB" sz="1900" kern="0" dirty="0">
              <a:solidFill>
                <a:prstClr val="black"/>
              </a:solidFill>
              <a:latin typeface="Economica" panose="020B0604020202020204" charset="0"/>
              <a:cs typeface="Arial"/>
              <a:sym typeface="Arial"/>
            </a:endParaRPr>
          </a:p>
          <a:p>
            <a:pPr marL="380990" indent="-380990" defTabSz="609585">
              <a:buClr>
                <a:srgbClr val="000000"/>
              </a:buClr>
              <a:buFontTx/>
              <a:buChar char="-"/>
            </a:pPr>
            <a:r>
              <a:rPr lang="en-GB" sz="19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A procedure to add a new Customer to the customers list</a:t>
            </a:r>
          </a:p>
          <a:p>
            <a:pPr marL="380990" indent="-380990" defTabSz="609585">
              <a:buClr>
                <a:srgbClr val="000000"/>
              </a:buClr>
              <a:buFontTx/>
              <a:buChar char="-"/>
            </a:pPr>
            <a:r>
              <a:rPr lang="en-GB" sz="19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A procedure to remove a Customer by name from the customers list</a:t>
            </a:r>
          </a:p>
          <a:p>
            <a:pPr marL="380990" indent="-380990" defTabSz="609585">
              <a:buClr>
                <a:srgbClr val="000000"/>
              </a:buClr>
              <a:buFontTx/>
              <a:buChar char="-"/>
            </a:pPr>
            <a:r>
              <a:rPr lang="en-GB" sz="19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A procedure to view a Customer's account statement by name</a:t>
            </a:r>
          </a:p>
          <a:p>
            <a:pPr marL="380990" indent="-380990" defTabSz="609585">
              <a:buClr>
                <a:srgbClr val="000000"/>
              </a:buClr>
              <a:buFontTx/>
              <a:buChar char="-"/>
            </a:pPr>
            <a:r>
              <a:rPr lang="en-GB" sz="19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A function to find a Customer by name</a:t>
            </a:r>
          </a:p>
          <a:p>
            <a:pPr marL="380990" indent="-380990" defTabSz="609585">
              <a:buClr>
                <a:srgbClr val="000000"/>
              </a:buClr>
              <a:buFontTx/>
              <a:buChar char="-"/>
            </a:pPr>
            <a:r>
              <a:rPr lang="en-GB" sz="19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A procedure to view all Customers</a:t>
            </a:r>
          </a:p>
          <a:p>
            <a:pPr marL="380990" indent="-380990" defTabSz="609585">
              <a:buClr>
                <a:srgbClr val="000000"/>
              </a:buClr>
              <a:buFontTx/>
              <a:buChar char="-"/>
            </a:pPr>
            <a:r>
              <a:rPr lang="en-GB" sz="19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A method for a customer to log into their own customer system</a:t>
            </a:r>
          </a:p>
          <a:p>
            <a:pPr defTabSz="609585">
              <a:buClr>
                <a:srgbClr val="000000"/>
              </a:buClr>
            </a:pPr>
            <a:endParaRPr lang="en-GB" sz="1900" kern="0" dirty="0">
              <a:solidFill>
                <a:prstClr val="black"/>
              </a:solidFill>
              <a:latin typeface="Economica" panose="020B0604020202020204" charset="0"/>
              <a:cs typeface="Arial"/>
              <a:sym typeface="Arial"/>
            </a:endParaRPr>
          </a:p>
          <a:p>
            <a:pPr defTabSz="609585">
              <a:buClr>
                <a:srgbClr val="000000"/>
              </a:buClr>
            </a:pPr>
            <a:r>
              <a:rPr lang="en-GB" sz="1900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Design justification:</a:t>
            </a:r>
          </a:p>
          <a:p>
            <a:pPr marL="380990" indent="-380990" defTabSz="609585">
              <a:buClr>
                <a:srgbClr val="000000"/>
              </a:buClr>
              <a:buFontTx/>
              <a:buChar char="-"/>
            </a:pPr>
            <a:r>
              <a:rPr lang="en-GB" sz="1900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A Bank object should store its customers</a:t>
            </a:r>
          </a:p>
          <a:p>
            <a:pPr marL="380990" indent="-380990" defTabSz="609585">
              <a:buClr>
                <a:srgbClr val="000000"/>
              </a:buClr>
              <a:buFontTx/>
              <a:buChar char="-"/>
            </a:pPr>
            <a:r>
              <a:rPr lang="en-GB" sz="1900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The Bank class should contain methods to perform CRUD on customers</a:t>
            </a:r>
          </a:p>
          <a:p>
            <a:pPr marL="380990" indent="-380990" defTabSz="609585">
              <a:buClr>
                <a:srgbClr val="000000"/>
              </a:buClr>
              <a:buFontTx/>
              <a:buChar char="-"/>
            </a:pPr>
            <a:r>
              <a:rPr lang="en-GB" sz="1900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A manager object doesn’t have direct access to customers or customer CRUD operations; but holds a reference to the bank object and can manage customers using the methods provided by Bank.</a:t>
            </a:r>
            <a:endParaRPr lang="en-US" sz="1900" kern="0" dirty="0">
              <a:solidFill>
                <a:srgbClr val="000000"/>
              </a:solidFill>
              <a:latin typeface="Economica" panose="020B060402020202020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5165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3FE0C017-4F14-E49E-A1AB-D1A1AE7B21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9613"/>
            <a:ext cx="11362267" cy="110913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GB" dirty="0"/>
              <a:t>Lab 8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80C27-948C-5A74-3794-543E81ADB7CC}"/>
              </a:ext>
            </a:extLst>
          </p:cNvPr>
          <p:cNvSpPr txBox="1"/>
          <p:nvPr/>
        </p:nvSpPr>
        <p:spPr>
          <a:xfrm>
            <a:off x="406401" y="1089521"/>
            <a:ext cx="11004265" cy="577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US" sz="2400" b="1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Case Study - continued: </a:t>
            </a: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Update the Bank class from Lab 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5930FF-896D-3C89-A9F3-683F6473B8F5}"/>
              </a:ext>
            </a:extLst>
          </p:cNvPr>
          <p:cNvSpPr txBox="1"/>
          <p:nvPr/>
        </p:nvSpPr>
        <p:spPr>
          <a:xfrm>
            <a:off x="605683" y="1803402"/>
            <a:ext cx="10468717" cy="47751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lIns="121920" tIns="60960" rIns="121920" bIns="60960" rtlCol="0" anchor="t">
            <a:noAutofit/>
          </a:bodyPr>
          <a:lstStyle/>
          <a:p>
            <a:pPr defTabSz="609585">
              <a:buClr>
                <a:srgbClr val="000000"/>
              </a:buClr>
            </a:pPr>
            <a:r>
              <a:rPr lang="en-GB" sz="2133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Replace the View Customers option in the Bank menu in Lab 7 with a Manager Login sub-menu, which includes the following operations:</a:t>
            </a:r>
          </a:p>
          <a:p>
            <a:pPr marL="457189" indent="-457189" defTabSz="609585">
              <a:buClr>
                <a:srgbClr val="000000"/>
              </a:buClr>
              <a:buFont typeface="+mj-lt"/>
              <a:buAutoNum type="arabicPeriod"/>
            </a:pPr>
            <a:r>
              <a:rPr lang="en-GB" sz="2133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A procedure to login as a Manager (new class) and use the Manager sub-system</a:t>
            </a:r>
          </a:p>
          <a:p>
            <a:pPr marL="457189" indent="-457189" defTabSz="609585">
              <a:buClr>
                <a:srgbClr val="000000"/>
              </a:buClr>
              <a:buFont typeface="+mj-lt"/>
              <a:buAutoNum type="arabicPeriod"/>
            </a:pPr>
            <a:r>
              <a:rPr lang="en-GB" sz="2133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A procedure to add a new Customer to the customers list</a:t>
            </a:r>
          </a:p>
          <a:p>
            <a:pPr marL="457189" indent="-457189" defTabSz="609585">
              <a:buClr>
                <a:srgbClr val="000000"/>
              </a:buClr>
              <a:buFont typeface="+mj-lt"/>
              <a:buAutoNum type="arabicPeriod"/>
            </a:pPr>
            <a:r>
              <a:rPr lang="en-GB" sz="2133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A procedure to remove a Customer by name from the customers list</a:t>
            </a:r>
          </a:p>
          <a:p>
            <a:pPr marL="457189" indent="-457189" defTabSz="609585">
              <a:buClr>
                <a:srgbClr val="000000"/>
              </a:buClr>
              <a:buFont typeface="+mj-lt"/>
              <a:buAutoNum type="arabicPeriod"/>
            </a:pPr>
            <a:r>
              <a:rPr lang="en-GB" sz="2133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A procedure to view a Customer's account statement by name</a:t>
            </a:r>
          </a:p>
          <a:p>
            <a:pPr defTabSz="609585">
              <a:buClr>
                <a:srgbClr val="000000"/>
              </a:buClr>
            </a:pPr>
            <a:endParaRPr lang="en-GB" sz="2133" kern="0" dirty="0">
              <a:solidFill>
                <a:prstClr val="black"/>
              </a:solidFill>
              <a:latin typeface="Economica" panose="020B0604020202020204" charset="0"/>
              <a:cs typeface="Arial"/>
              <a:sym typeface="Arial"/>
            </a:endParaRPr>
          </a:p>
          <a:p>
            <a:pPr defTabSz="609585">
              <a:buClr>
                <a:srgbClr val="000000"/>
              </a:buClr>
            </a:pPr>
            <a:r>
              <a:rPr lang="en-GB" sz="2133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NOTE:</a:t>
            </a:r>
          </a:p>
          <a:p>
            <a:pPr defTabSz="609585">
              <a:buClr>
                <a:srgbClr val="000000"/>
              </a:buClr>
            </a:pPr>
            <a:r>
              <a:rPr lang="en-GB" sz="2133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The Bank class should already have:</a:t>
            </a:r>
          </a:p>
          <a:p>
            <a:pPr marL="380990" indent="-380990" defTabSz="609585">
              <a:buClr>
                <a:srgbClr val="000000"/>
              </a:buClr>
              <a:buFontTx/>
              <a:buChar char="-"/>
            </a:pPr>
            <a:r>
              <a:rPr lang="en-GB" sz="2133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A function to find a Customer by name</a:t>
            </a:r>
          </a:p>
          <a:p>
            <a:pPr marL="380990" indent="-380990" defTabSz="609585">
              <a:buClr>
                <a:srgbClr val="000000"/>
              </a:buClr>
              <a:buFontTx/>
              <a:buChar char="-"/>
            </a:pPr>
            <a:r>
              <a:rPr lang="en-GB" sz="2133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A procedure to view all Customers</a:t>
            </a:r>
          </a:p>
          <a:p>
            <a:pPr marL="380990" indent="-380990" defTabSz="609585">
              <a:buClr>
                <a:srgbClr val="000000"/>
              </a:buClr>
              <a:buFontTx/>
              <a:buChar char="-"/>
            </a:pPr>
            <a:r>
              <a:rPr lang="en-GB" sz="2133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A function to read a name</a:t>
            </a:r>
            <a:endParaRPr lang="en-GB" sz="2133" kern="0" dirty="0">
              <a:solidFill>
                <a:prstClr val="black"/>
              </a:solidFill>
              <a:latin typeface="Economica" panose="020B0604020202020204" charset="0"/>
              <a:cs typeface="Arial"/>
              <a:sym typeface="Arial"/>
            </a:endParaRPr>
          </a:p>
          <a:p>
            <a:pPr marL="380990" indent="-380990" defTabSz="609585">
              <a:buClr>
                <a:srgbClr val="000000"/>
              </a:buClr>
              <a:buFontTx/>
              <a:buChar char="-"/>
            </a:pPr>
            <a:r>
              <a:rPr lang="en-GB" sz="2133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A Bank menu and a help menu</a:t>
            </a:r>
          </a:p>
          <a:p>
            <a:pPr marL="380990" indent="-380990" defTabSz="609585">
              <a:buClr>
                <a:srgbClr val="000000"/>
              </a:buClr>
              <a:buFontTx/>
              <a:buChar char="-"/>
            </a:pPr>
            <a:r>
              <a:rPr lang="en-GB" sz="2133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The main() method</a:t>
            </a:r>
          </a:p>
          <a:p>
            <a:pPr defTabSz="609585">
              <a:buClr>
                <a:srgbClr val="000000"/>
              </a:buClr>
            </a:pPr>
            <a:endParaRPr lang="en-GB" sz="2133" kern="0" dirty="0">
              <a:solidFill>
                <a:prstClr val="black"/>
              </a:solidFill>
              <a:latin typeface="Economica" panose="020B0604020202020204" charset="0"/>
              <a:cs typeface="Arial"/>
              <a:sym typeface="Arial"/>
            </a:endParaRPr>
          </a:p>
          <a:p>
            <a:pPr defTabSz="609585">
              <a:buClr>
                <a:srgbClr val="000000"/>
              </a:buClr>
            </a:pPr>
            <a:endParaRPr lang="en-GB" sz="2133" kern="0" dirty="0">
              <a:solidFill>
                <a:prstClr val="black"/>
              </a:solidFill>
              <a:latin typeface="Economica" panose="020B0604020202020204" charset="0"/>
              <a:cs typeface="Arial"/>
              <a:sym typeface="Arial"/>
            </a:endParaRPr>
          </a:p>
          <a:p>
            <a:pPr defTabSz="609585">
              <a:buClr>
                <a:srgbClr val="000000"/>
              </a:buClr>
            </a:pPr>
            <a:endParaRPr lang="en-GB" sz="2133" kern="0" dirty="0">
              <a:solidFill>
                <a:prstClr val="black"/>
              </a:solidFill>
              <a:latin typeface="Economica" panose="020B0604020202020204" charset="0"/>
              <a:cs typeface="Arial"/>
              <a:sym typeface="Arial"/>
            </a:endParaRPr>
          </a:p>
          <a:p>
            <a:pPr defTabSz="609585">
              <a:buClr>
                <a:srgbClr val="000000"/>
              </a:buClr>
            </a:pPr>
            <a:endParaRPr lang="en-US" sz="2133" kern="0" dirty="0">
              <a:solidFill>
                <a:srgbClr val="000000"/>
              </a:solidFill>
              <a:latin typeface="Economica" panose="020B060402020202020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9083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3FE0C017-4F14-E49E-A1AB-D1A1AE7B21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9613"/>
            <a:ext cx="11362267" cy="110913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GB" dirty="0"/>
              <a:t>Lab 8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80C27-948C-5A74-3794-543E81ADB7CC}"/>
              </a:ext>
            </a:extLst>
          </p:cNvPr>
          <p:cNvSpPr txBox="1"/>
          <p:nvPr/>
        </p:nvSpPr>
        <p:spPr>
          <a:xfrm>
            <a:off x="406401" y="1089521"/>
            <a:ext cx="11004265" cy="577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US" sz="2400" b="1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Case Study - continued: </a:t>
            </a: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Develop the Manager class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5930FF-896D-3C89-A9F3-683F6473B8F5}"/>
              </a:ext>
            </a:extLst>
          </p:cNvPr>
          <p:cNvSpPr txBox="1"/>
          <p:nvPr/>
        </p:nvSpPr>
        <p:spPr>
          <a:xfrm>
            <a:off x="605683" y="1803402"/>
            <a:ext cx="10468717" cy="38607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lIns="121920" tIns="60960" rIns="121920" bIns="60960" rtlCol="0" anchor="t">
            <a:noAutofit/>
          </a:bodyPr>
          <a:lstStyle/>
          <a:p>
            <a:pPr marL="457189" indent="-457189" defTabSz="609585">
              <a:buClr>
                <a:srgbClr val="000000"/>
              </a:buClr>
              <a:buFont typeface="+mj-lt"/>
              <a:buAutoNum type="arabicPeriod"/>
            </a:pPr>
            <a:r>
              <a:rPr lang="en-GB" sz="19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The Manager class has a field "name"</a:t>
            </a:r>
          </a:p>
          <a:p>
            <a:pPr marL="457189" indent="-457189" defTabSz="609585">
              <a:buClr>
                <a:srgbClr val="000000"/>
              </a:buClr>
              <a:buFont typeface="+mj-lt"/>
              <a:buAutoNum type="arabicPeriod"/>
            </a:pPr>
            <a:r>
              <a:rPr lang="en-GB" sz="19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The Manager constructor initializes the field "name" to “John Smith”</a:t>
            </a:r>
          </a:p>
          <a:p>
            <a:pPr marL="457189" indent="-457189" defTabSz="609585">
              <a:buClr>
                <a:srgbClr val="000000"/>
              </a:buClr>
              <a:buFont typeface="+mj-lt"/>
              <a:buAutoNum type="arabicPeriod"/>
            </a:pPr>
            <a:r>
              <a:rPr lang="en-GB" sz="19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The Manager has a method to view all customers [HINT: use the view function in Bank]</a:t>
            </a:r>
          </a:p>
          <a:p>
            <a:pPr marL="457189" indent="-457189" defTabSz="609585">
              <a:buClr>
                <a:srgbClr val="000000"/>
              </a:buClr>
              <a:buFont typeface="+mj-lt"/>
              <a:buAutoNum type="arabicPeriod"/>
            </a:pPr>
            <a:r>
              <a:rPr lang="en-GB" sz="19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The Manager has a method to add a customer [HINT: use the add function in Bank]</a:t>
            </a:r>
          </a:p>
          <a:p>
            <a:pPr marL="457189" indent="-457189" defTabSz="609585">
              <a:buClr>
                <a:srgbClr val="000000"/>
              </a:buClr>
              <a:buFont typeface="+mj-lt"/>
              <a:buAutoNum type="arabicPeriod"/>
            </a:pPr>
            <a:r>
              <a:rPr lang="en-GB" sz="19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The Manager has a method to remove a customer by name [HINT: use the remove function in Bank]</a:t>
            </a:r>
          </a:p>
          <a:p>
            <a:pPr marL="457189" indent="-457189" defTabSz="609585">
              <a:buClr>
                <a:srgbClr val="000000"/>
              </a:buClr>
              <a:buFont typeface="+mj-lt"/>
              <a:buAutoNum type="arabicPeriod"/>
            </a:pPr>
            <a:r>
              <a:rPr lang="en-GB" sz="19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The Manager has a method to view a particular customer's statement by name [HINT: use the show function in Bank]</a:t>
            </a:r>
          </a:p>
          <a:p>
            <a:pPr marL="457189" indent="-457189" defTabSz="609585">
              <a:buClr>
                <a:srgbClr val="000000"/>
              </a:buClr>
              <a:buFont typeface="+mj-lt"/>
              <a:buAutoNum type="arabicPeriod"/>
            </a:pPr>
            <a:r>
              <a:rPr lang="en-GB" sz="19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The Manager has the admin sub-system menu with the following options:</a:t>
            </a:r>
            <a:endParaRPr lang="en-GB" sz="1900" kern="0" dirty="0">
              <a:solidFill>
                <a:prstClr val="black"/>
              </a:solidFill>
              <a:latin typeface="Arial"/>
              <a:cs typeface="Arial"/>
              <a:sym typeface="Arial"/>
            </a:endParaRPr>
          </a:p>
          <a:p>
            <a:pPr marL="609585" lvl="1" defTabSz="609585">
              <a:buClr>
                <a:srgbClr val="000000"/>
              </a:buClr>
            </a:pPr>
            <a:r>
              <a:rPr lang="en-GB" sz="19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(a) – add a customer</a:t>
            </a:r>
            <a:endParaRPr lang="en-GB" sz="1900" kern="0" dirty="0">
              <a:solidFill>
                <a:prstClr val="black"/>
              </a:solidFill>
              <a:latin typeface="Arial"/>
              <a:cs typeface="Arial"/>
              <a:sym typeface="Arial"/>
            </a:endParaRPr>
          </a:p>
          <a:p>
            <a:pPr marL="609585" lvl="1" defTabSz="609585">
              <a:buClr>
                <a:srgbClr val="000000"/>
              </a:buClr>
            </a:pPr>
            <a:r>
              <a:rPr lang="en-GB" sz="19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(r) – remove a customer</a:t>
            </a:r>
            <a:endParaRPr lang="en-GB" sz="1900" kern="0" dirty="0">
              <a:solidFill>
                <a:prstClr val="black"/>
              </a:solidFill>
              <a:latin typeface="Arial"/>
              <a:cs typeface="Arial"/>
              <a:sym typeface="Arial"/>
            </a:endParaRPr>
          </a:p>
          <a:p>
            <a:pPr defTabSz="609585">
              <a:buClr>
                <a:srgbClr val="000000"/>
              </a:buClr>
            </a:pPr>
            <a:r>
              <a:rPr lang="en-GB" sz="1900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	(v) – view all customers</a:t>
            </a:r>
          </a:p>
          <a:p>
            <a:pPr defTabSz="609585">
              <a:buClr>
                <a:srgbClr val="000000"/>
              </a:buClr>
            </a:pPr>
            <a:r>
              <a:rPr lang="en-GB" sz="19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	(s) – show a customer's statement by name</a:t>
            </a:r>
            <a:endParaRPr lang="en-US" sz="1900" kern="0" dirty="0">
              <a:solidFill>
                <a:srgbClr val="000000"/>
              </a:solidFill>
              <a:latin typeface="Economica" panose="020B060402020202020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4707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3FE0C017-4F14-E49E-A1AB-D1A1AE7B21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9613"/>
            <a:ext cx="11362267" cy="110913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GB" dirty="0"/>
              <a:t>Lab 8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80C27-948C-5A74-3794-543E81ADB7CC}"/>
              </a:ext>
            </a:extLst>
          </p:cNvPr>
          <p:cNvSpPr txBox="1"/>
          <p:nvPr/>
        </p:nvSpPr>
        <p:spPr>
          <a:xfrm>
            <a:off x="406401" y="1089521"/>
            <a:ext cx="11004265" cy="577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US" sz="2400" b="1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Case Study - continued: </a:t>
            </a:r>
            <a:r>
              <a:rPr lang="en-US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Sample I/O</a:t>
            </a:r>
            <a:endParaRPr lang="en-GB" sz="2400" kern="0" dirty="0">
              <a:solidFill>
                <a:srgbClr val="000000"/>
              </a:solidFill>
              <a:latin typeface="Economica" panose="020B0604020202020204" charset="0"/>
              <a:cs typeface="Arial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5930FF-896D-3C89-A9F3-683F6473B8F5}"/>
              </a:ext>
            </a:extLst>
          </p:cNvPr>
          <p:cNvSpPr txBox="1"/>
          <p:nvPr/>
        </p:nvSpPr>
        <p:spPr>
          <a:xfrm>
            <a:off x="605683" y="1803402"/>
            <a:ext cx="5490317" cy="44703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defTabSz="609585">
              <a:buClr>
                <a:srgbClr val="000000"/>
              </a:buClr>
            </a:pPr>
            <a:r>
              <a:rPr lang="en-GB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Create Accounts for Customer: Lin</a:t>
            </a:r>
          </a:p>
          <a:p>
            <a:pPr defTabSz="609585">
              <a:buClr>
                <a:srgbClr val="000000"/>
              </a:buClr>
            </a:pPr>
            <a:r>
              <a:rPr lang="en-GB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Initial Savings balance $1000</a:t>
            </a:r>
          </a:p>
          <a:p>
            <a:pPr defTabSz="609585">
              <a:buClr>
                <a:srgbClr val="000000"/>
              </a:buClr>
            </a:pPr>
            <a:r>
              <a:rPr lang="en-GB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Initial Loan balance $2000</a:t>
            </a:r>
          </a:p>
          <a:p>
            <a:pPr defTabSz="609585">
              <a:buClr>
                <a:srgbClr val="000000"/>
              </a:buClr>
            </a:pPr>
            <a:r>
              <a:rPr lang="en-GB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Create Accounts for Customer: Paul</a:t>
            </a:r>
          </a:p>
          <a:p>
            <a:pPr defTabSz="609585">
              <a:buClr>
                <a:srgbClr val="000000"/>
              </a:buClr>
            </a:pPr>
            <a:r>
              <a:rPr lang="en-GB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Initial Savings balance $2000</a:t>
            </a:r>
          </a:p>
          <a:p>
            <a:pPr defTabSz="609585">
              <a:buClr>
                <a:srgbClr val="000000"/>
              </a:buClr>
            </a:pPr>
            <a:r>
              <a:rPr lang="en-GB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Initial Loan balance $3000</a:t>
            </a:r>
          </a:p>
          <a:p>
            <a:pPr defTabSz="609585">
              <a:buClr>
                <a:srgbClr val="000000"/>
              </a:buClr>
            </a:pPr>
            <a:r>
              <a:rPr lang="en-GB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Create Accounts for Customer: Alex</a:t>
            </a:r>
          </a:p>
          <a:p>
            <a:pPr defTabSz="609585">
              <a:buClr>
                <a:srgbClr val="000000"/>
              </a:buClr>
            </a:pPr>
            <a:r>
              <a:rPr lang="en-GB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Initial Savings balance $4000</a:t>
            </a:r>
          </a:p>
          <a:p>
            <a:pPr defTabSz="609585">
              <a:buClr>
                <a:srgbClr val="000000"/>
              </a:buClr>
            </a:pPr>
            <a:r>
              <a:rPr lang="en-GB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Initial Loan balance $5000</a:t>
            </a:r>
          </a:p>
          <a:p>
            <a:pPr defTabSz="609585">
              <a:buClr>
                <a:srgbClr val="000000"/>
              </a:buClr>
            </a:pPr>
            <a:r>
              <a:rPr lang="en-GB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Bank menu: 30/08/2023 - 13:45:48</a:t>
            </a:r>
          </a:p>
          <a:p>
            <a:pPr defTabSz="609585">
              <a:buClr>
                <a:srgbClr val="000000"/>
              </a:buClr>
            </a:pPr>
            <a:r>
              <a:rPr lang="en-GB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Customer menu (L/A/X): A</a:t>
            </a:r>
          </a:p>
          <a:p>
            <a:pPr defTabSz="609585">
              <a:buClr>
                <a:srgbClr val="000000"/>
              </a:buClr>
            </a:pPr>
            <a:r>
              <a:rPr lang="en-GB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John Smith admin menu: 30/08/2023 - 13:45:48</a:t>
            </a:r>
          </a:p>
          <a:p>
            <a:pPr defTabSz="609585">
              <a:buClr>
                <a:srgbClr val="000000"/>
              </a:buClr>
            </a:pPr>
            <a:r>
              <a:rPr lang="en-GB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Manager menu (a/r/s/v/x): s</a:t>
            </a:r>
          </a:p>
          <a:p>
            <a:pPr defTabSz="609585">
              <a:buClr>
                <a:srgbClr val="000000"/>
              </a:buClr>
            </a:pPr>
            <a:r>
              <a:rPr lang="en-GB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Enter Customer Name: Paul</a:t>
            </a:r>
          </a:p>
          <a:p>
            <a:pPr defTabSz="609585">
              <a:buClr>
                <a:srgbClr val="000000"/>
              </a:buClr>
            </a:pPr>
            <a:r>
              <a:rPr lang="en-GB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Paul    --&gt; Savings account has $2000.00 | Loan account has $3000.00</a:t>
            </a:r>
            <a:endParaRPr lang="en-US" kern="0" dirty="0">
              <a:solidFill>
                <a:srgbClr val="000000"/>
              </a:solidFill>
              <a:latin typeface="Economica" panose="020B0604020202020204" charset="0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14C77C-864C-66DB-A0FF-777BC55D5335}"/>
              </a:ext>
            </a:extLst>
          </p:cNvPr>
          <p:cNvSpPr txBox="1"/>
          <p:nvPr/>
        </p:nvSpPr>
        <p:spPr>
          <a:xfrm>
            <a:off x="6197600" y="1803402"/>
            <a:ext cx="5490317" cy="44703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defTabSz="609585">
              <a:buClr>
                <a:srgbClr val="000000"/>
              </a:buClr>
            </a:pPr>
            <a:r>
              <a:rPr lang="en-GB" sz="1867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Manager menu (a/r/s/v/x): v</a:t>
            </a:r>
          </a:p>
          <a:p>
            <a:pPr defTabSz="609585">
              <a:buClr>
                <a:srgbClr val="000000"/>
              </a:buClr>
            </a:pPr>
            <a:r>
              <a:rPr lang="en-GB" sz="1867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Lin     --&gt; Savings account has $1000.00 | Loan account has $2000.00</a:t>
            </a:r>
          </a:p>
          <a:p>
            <a:pPr defTabSz="609585">
              <a:buClr>
                <a:srgbClr val="000000"/>
              </a:buClr>
            </a:pPr>
            <a:r>
              <a:rPr lang="en-GB" sz="1867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Paul    --&gt; Savings account has $2000.00 | Loan account has $3000.00</a:t>
            </a:r>
          </a:p>
          <a:p>
            <a:pPr defTabSz="609585">
              <a:buClr>
                <a:srgbClr val="000000"/>
              </a:buClr>
            </a:pPr>
            <a:r>
              <a:rPr lang="en-GB" sz="1867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Alex    --&gt; Savings account has $4000.00 | Loan account has $5000.00</a:t>
            </a:r>
          </a:p>
          <a:p>
            <a:pPr defTabSz="609585">
              <a:buClr>
                <a:srgbClr val="000000"/>
              </a:buClr>
            </a:pPr>
            <a:r>
              <a:rPr lang="en-GB" sz="1867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Manager menu (a/r/s/v/x): r</a:t>
            </a:r>
          </a:p>
          <a:p>
            <a:pPr defTabSz="609585">
              <a:buClr>
                <a:srgbClr val="000000"/>
              </a:buClr>
            </a:pPr>
            <a:r>
              <a:rPr lang="en-GB" sz="1867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Enter Customer Name: Paul</a:t>
            </a:r>
          </a:p>
          <a:p>
            <a:pPr defTabSz="609585">
              <a:buClr>
                <a:srgbClr val="000000"/>
              </a:buClr>
            </a:pPr>
            <a:r>
              <a:rPr lang="en-GB" sz="1867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Manager menu (a/r/s/v/x): v</a:t>
            </a:r>
          </a:p>
          <a:p>
            <a:pPr defTabSz="609585">
              <a:buClr>
                <a:srgbClr val="000000"/>
              </a:buClr>
            </a:pPr>
            <a:r>
              <a:rPr lang="en-GB" sz="1867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Lin     --&gt; Savings account has $1000.00 | Loan account has $2000.00</a:t>
            </a:r>
          </a:p>
          <a:p>
            <a:pPr defTabSz="609585">
              <a:buClr>
                <a:srgbClr val="000000"/>
              </a:buClr>
            </a:pPr>
            <a:r>
              <a:rPr lang="en-GB" sz="1867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Alex    --&gt; Savings account has $4000.00 | Loan account has $5000.00</a:t>
            </a:r>
          </a:p>
          <a:p>
            <a:pPr defTabSz="609585">
              <a:buClr>
                <a:srgbClr val="000000"/>
              </a:buClr>
            </a:pPr>
            <a:endParaRPr lang="en-US" sz="1867" kern="0" dirty="0">
              <a:solidFill>
                <a:srgbClr val="000000"/>
              </a:solidFill>
              <a:latin typeface="Economica" panose="020B060402020202020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5015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1;p19">
            <a:extLst>
              <a:ext uri="{FF2B5EF4-FFF2-40B4-BE49-F238E27FC236}">
                <a16:creationId xmlns:a16="http://schemas.microsoft.com/office/drawing/2014/main" id="{3FE0C017-4F14-E49E-A1AB-D1A1AE7B21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9613"/>
            <a:ext cx="11362267" cy="110913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GB" dirty="0"/>
              <a:t>Lab 8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80C27-948C-5A74-3794-543E81ADB7CC}"/>
              </a:ext>
            </a:extLst>
          </p:cNvPr>
          <p:cNvSpPr txBox="1"/>
          <p:nvPr/>
        </p:nvSpPr>
        <p:spPr>
          <a:xfrm>
            <a:off x="406401" y="1089521"/>
            <a:ext cx="11004265" cy="577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US" sz="2400" b="1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Case Study - continued: </a:t>
            </a:r>
            <a:r>
              <a:rPr lang="en-US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Sample I/O</a:t>
            </a:r>
            <a:endParaRPr lang="en-GB" sz="2400" kern="0" dirty="0">
              <a:solidFill>
                <a:srgbClr val="000000"/>
              </a:solidFill>
              <a:latin typeface="Economica" panose="020B0604020202020204" charset="0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14C77C-864C-66DB-A0FF-777BC55D5335}"/>
              </a:ext>
            </a:extLst>
          </p:cNvPr>
          <p:cNvSpPr txBox="1"/>
          <p:nvPr/>
        </p:nvSpPr>
        <p:spPr>
          <a:xfrm>
            <a:off x="560527" y="1732051"/>
            <a:ext cx="5490317" cy="44703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defTabSz="609585">
              <a:buClr>
                <a:srgbClr val="000000"/>
              </a:buClr>
            </a:pPr>
            <a:r>
              <a:rPr lang="en-GB" sz="1867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Manager menu (a/r/s/v/x): a</a:t>
            </a:r>
          </a:p>
          <a:p>
            <a:pPr defTabSz="609585">
              <a:buClr>
                <a:srgbClr val="000000"/>
              </a:buClr>
            </a:pPr>
            <a:r>
              <a:rPr lang="en-GB" sz="1867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Enter Customer Name: Lara</a:t>
            </a:r>
          </a:p>
          <a:p>
            <a:pPr defTabSz="609585">
              <a:buClr>
                <a:srgbClr val="000000"/>
              </a:buClr>
            </a:pPr>
            <a:r>
              <a:rPr lang="en-GB" sz="1867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Initial Savings balance $2500</a:t>
            </a:r>
          </a:p>
          <a:p>
            <a:pPr defTabSz="609585">
              <a:buClr>
                <a:srgbClr val="000000"/>
              </a:buClr>
            </a:pPr>
            <a:r>
              <a:rPr lang="en-GB" sz="1867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Initial Loan balance $3400</a:t>
            </a:r>
          </a:p>
          <a:p>
            <a:pPr defTabSz="609585">
              <a:buClr>
                <a:srgbClr val="000000"/>
              </a:buClr>
            </a:pPr>
            <a:r>
              <a:rPr lang="en-GB" sz="1867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Manager menu (a/r/s/v/x): v</a:t>
            </a:r>
          </a:p>
          <a:p>
            <a:pPr defTabSz="609585">
              <a:buClr>
                <a:srgbClr val="000000"/>
              </a:buClr>
            </a:pPr>
            <a:r>
              <a:rPr lang="en-GB" sz="1867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Lin     --&gt; Savings account has $1000.00 | Loan account has $2000.00</a:t>
            </a:r>
          </a:p>
          <a:p>
            <a:pPr defTabSz="609585">
              <a:buClr>
                <a:srgbClr val="000000"/>
              </a:buClr>
            </a:pPr>
            <a:r>
              <a:rPr lang="en-GB" sz="1867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Alex    --&gt; Savings account has $4000.00 | Loan account has $5000.00</a:t>
            </a:r>
          </a:p>
          <a:p>
            <a:pPr defTabSz="609585">
              <a:buClr>
                <a:srgbClr val="000000"/>
              </a:buClr>
            </a:pPr>
            <a:r>
              <a:rPr lang="en-GB" sz="1867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Lara    --&gt; Savings account has $2500.00 | Loan account has $3400.00</a:t>
            </a:r>
          </a:p>
          <a:p>
            <a:pPr defTabSz="609585">
              <a:buClr>
                <a:srgbClr val="000000"/>
              </a:buClr>
            </a:pPr>
            <a:r>
              <a:rPr lang="en-GB" sz="1867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Manager menu (a/r/s/v/x): x</a:t>
            </a:r>
          </a:p>
          <a:p>
            <a:pPr defTabSz="609585">
              <a:buClr>
                <a:srgbClr val="000000"/>
              </a:buClr>
            </a:pPr>
            <a:r>
              <a:rPr lang="en-GB" sz="1867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Back to Bank menu      </a:t>
            </a:r>
          </a:p>
          <a:p>
            <a:pPr defTabSz="609585">
              <a:buClr>
                <a:srgbClr val="000000"/>
              </a:buClr>
            </a:pPr>
            <a:r>
              <a:rPr lang="en-GB" sz="1867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Customer menu (L/A/X): X</a:t>
            </a:r>
          </a:p>
          <a:p>
            <a:pPr defTabSz="609585">
              <a:buClr>
                <a:srgbClr val="000000"/>
              </a:buClr>
            </a:pPr>
            <a:r>
              <a:rPr lang="en-GB" sz="1867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Done</a:t>
            </a:r>
            <a:endParaRPr lang="en-US" sz="1867" kern="0" dirty="0">
              <a:solidFill>
                <a:srgbClr val="000000"/>
              </a:solidFill>
              <a:latin typeface="Economica" panose="020B0604020202020204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7437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8D830-54B4-20D4-0E79-DF106B4E6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237AF-E77E-1D7A-29B6-8FF798B4C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3171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b="1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Big View – Lab 8 vs Lab 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82A463-9701-0BAB-DA83-4F49F1CDA9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77"/>
          <a:stretch>
            <a:fillRect/>
          </a:stretch>
        </p:blipFill>
        <p:spPr>
          <a:xfrm>
            <a:off x="1527941" y="798786"/>
            <a:ext cx="9136118" cy="577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954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71B42-1417-4504-A990-2E5339528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C6335-7629-C336-CAAE-F9B8358C3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3171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b="1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Lab 8 — </a:t>
            </a:r>
            <a:r>
              <a:rPr lang="en-US" sz="4000" b="1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DeskBankApp</a:t>
            </a:r>
            <a:r>
              <a:rPr lang="en-US" sz="4000" b="1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 Sixth 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AC9073-44ED-F271-940F-D8EFC19FF8A6}"/>
              </a:ext>
            </a:extLst>
          </p:cNvPr>
          <p:cNvSpPr txBox="1"/>
          <p:nvPr/>
        </p:nvSpPr>
        <p:spPr>
          <a:xfrm>
            <a:off x="0" y="780585"/>
            <a:ext cx="908882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1 — Decide which classes we need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We now need: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Login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Bank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Manager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Customer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Account</a:t>
            </a:r>
          </a:p>
        </p:txBody>
      </p:sp>
    </p:spTree>
    <p:extLst>
      <p:ext uri="{BB962C8B-B14F-4D97-AF65-F5344CB8AC3E}">
        <p14:creationId xmlns:p14="http://schemas.microsoft.com/office/powerpoint/2010/main" val="558019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22A30-6D7E-0447-1BC3-9A17FF1D3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82498-8169-3EAF-8D67-76EB0FB3D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3171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b="1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Lab 8 — </a:t>
            </a:r>
            <a:r>
              <a:rPr lang="en-US" sz="4000" b="1" kern="100" dirty="0" err="1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DeskBankApp</a:t>
            </a:r>
            <a:r>
              <a:rPr lang="en-US" sz="4000" b="1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 Sixth 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C41EE1-A0B7-4E0D-99DE-07987E307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683172"/>
            <a:ext cx="9262242" cy="617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718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2581F-A626-1A89-4206-B8A61EED7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9BD330-1A7A-323E-519D-6392BE4BA6C6}"/>
              </a:ext>
            </a:extLst>
          </p:cNvPr>
          <p:cNvSpPr txBox="1"/>
          <p:nvPr/>
        </p:nvSpPr>
        <p:spPr>
          <a:xfrm>
            <a:off x="-14748" y="-58992"/>
            <a:ext cx="12192000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Calibir"/>
              </a:rPr>
              <a:t>Step 2 — Keep Account from Lab 7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Lab 8 does not fundamentally change the Account class, so students should reuse it rather than rewrite the whole application.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Calibir"/>
              </a:rPr>
              <a:t>Python — Account</a:t>
            </a:r>
          </a:p>
          <a:p>
            <a:r>
              <a:rPr lang="en-US" sz="1500" dirty="0">
                <a:highlight>
                  <a:srgbClr val="FFFF00"/>
                </a:highlight>
                <a:latin typeface="Calibir"/>
              </a:rPr>
              <a:t>class Account:</a:t>
            </a:r>
          </a:p>
          <a:p>
            <a:r>
              <a:rPr lang="en-US" sz="1500" dirty="0">
                <a:highlight>
                  <a:srgbClr val="FFFF00"/>
                </a:highlight>
                <a:latin typeface="Calibir"/>
              </a:rPr>
              <a:t>    def __</a:t>
            </a:r>
            <a:r>
              <a:rPr lang="en-US" sz="1500" dirty="0" err="1">
                <a:highlight>
                  <a:srgbClr val="FFFF00"/>
                </a:highlight>
                <a:latin typeface="Calibir"/>
              </a:rPr>
              <a:t>init</a:t>
            </a:r>
            <a:r>
              <a:rPr lang="en-US" sz="1500" dirty="0">
                <a:highlight>
                  <a:srgbClr val="FFFF00"/>
                </a:highlight>
                <a:latin typeface="Calibir"/>
              </a:rPr>
              <a:t>__(self, </a:t>
            </a:r>
            <a:r>
              <a:rPr lang="en-US" sz="1500" dirty="0" err="1">
                <a:highlight>
                  <a:srgbClr val="FFFF00"/>
                </a:highlight>
                <a:latin typeface="Calibir"/>
              </a:rPr>
              <a:t>account_type</a:t>
            </a:r>
            <a:r>
              <a:rPr lang="en-US" sz="1500" dirty="0">
                <a:highlight>
                  <a:srgbClr val="FFFF00"/>
                </a:highlight>
                <a:latin typeface="Calibir"/>
              </a:rPr>
              <a:t>):</a:t>
            </a:r>
          </a:p>
          <a:p>
            <a:r>
              <a:rPr lang="en-US" sz="15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500" dirty="0" err="1">
                <a:highlight>
                  <a:srgbClr val="FFFF00"/>
                </a:highlight>
                <a:latin typeface="Calibir"/>
              </a:rPr>
              <a:t>self.type</a:t>
            </a:r>
            <a:r>
              <a:rPr lang="en-US" sz="1500" dirty="0">
                <a:highlight>
                  <a:srgbClr val="FFFF00"/>
                </a:highlight>
                <a:latin typeface="Calibir"/>
              </a:rPr>
              <a:t> = </a:t>
            </a:r>
            <a:r>
              <a:rPr lang="en-US" sz="1500" dirty="0" err="1">
                <a:highlight>
                  <a:srgbClr val="FFFF00"/>
                </a:highlight>
                <a:latin typeface="Calibir"/>
              </a:rPr>
              <a:t>account_type</a:t>
            </a:r>
            <a:endParaRPr lang="en-US" sz="1500" dirty="0">
              <a:highlight>
                <a:srgbClr val="FFFF00"/>
              </a:highlight>
              <a:latin typeface="Calibir"/>
            </a:endParaRPr>
          </a:p>
          <a:p>
            <a:r>
              <a:rPr lang="en-US" sz="15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500" dirty="0" err="1">
                <a:highlight>
                  <a:srgbClr val="FFFF00"/>
                </a:highlight>
                <a:latin typeface="Calibir"/>
              </a:rPr>
              <a:t>self.balance</a:t>
            </a:r>
            <a:r>
              <a:rPr lang="en-US" sz="1500" dirty="0">
                <a:highlight>
                  <a:srgbClr val="FFFF00"/>
                </a:highlight>
                <a:latin typeface="Calibir"/>
              </a:rPr>
              <a:t> = float(input(</a:t>
            </a:r>
            <a:r>
              <a:rPr lang="en-US" sz="1500" dirty="0" err="1">
                <a:highlight>
                  <a:srgbClr val="FFFF00"/>
                </a:highlight>
                <a:latin typeface="Calibir"/>
              </a:rPr>
              <a:t>f"Initial</a:t>
            </a:r>
            <a:r>
              <a:rPr lang="en-US" sz="1500" dirty="0">
                <a:highlight>
                  <a:srgbClr val="FFFF00"/>
                </a:highlight>
                <a:latin typeface="Calibir"/>
              </a:rPr>
              <a:t> {</a:t>
            </a:r>
            <a:r>
              <a:rPr lang="en-US" sz="1500" dirty="0" err="1">
                <a:highlight>
                  <a:srgbClr val="FFFF00"/>
                </a:highlight>
                <a:latin typeface="Calibir"/>
              </a:rPr>
              <a:t>self.type</a:t>
            </a:r>
            <a:r>
              <a:rPr lang="en-US" sz="1500" dirty="0">
                <a:highlight>
                  <a:srgbClr val="FFFF00"/>
                </a:highlight>
                <a:latin typeface="Calibir"/>
              </a:rPr>
              <a:t>} balance $"))</a:t>
            </a:r>
          </a:p>
          <a:p>
            <a:r>
              <a:rPr lang="en-US" sz="1500" dirty="0">
                <a:highlight>
                  <a:srgbClr val="FFFF00"/>
                </a:highlight>
                <a:latin typeface="Calibir"/>
              </a:rPr>
              <a:t>    def matches(self, </a:t>
            </a:r>
            <a:r>
              <a:rPr lang="en-US" sz="1500" dirty="0" err="1">
                <a:highlight>
                  <a:srgbClr val="FFFF00"/>
                </a:highlight>
                <a:latin typeface="Calibir"/>
              </a:rPr>
              <a:t>account_type</a:t>
            </a:r>
            <a:r>
              <a:rPr lang="en-US" sz="1500" dirty="0">
                <a:highlight>
                  <a:srgbClr val="FFFF00"/>
                </a:highlight>
                <a:latin typeface="Calibir"/>
              </a:rPr>
              <a:t>):</a:t>
            </a:r>
          </a:p>
          <a:p>
            <a:r>
              <a:rPr lang="en-US" sz="1500" dirty="0">
                <a:highlight>
                  <a:srgbClr val="FFFF00"/>
                </a:highlight>
                <a:latin typeface="Calibir"/>
              </a:rPr>
              <a:t>        return (</a:t>
            </a:r>
            <a:r>
              <a:rPr lang="en-US" sz="1500" dirty="0" err="1">
                <a:highlight>
                  <a:srgbClr val="FFFF00"/>
                </a:highlight>
                <a:latin typeface="Calibir"/>
              </a:rPr>
              <a:t>self.type.lower</a:t>
            </a:r>
            <a:r>
              <a:rPr lang="en-US" sz="1500" dirty="0">
                <a:highlight>
                  <a:srgbClr val="FFFF00"/>
                </a:highlight>
                <a:latin typeface="Calibir"/>
              </a:rPr>
              <a:t>() == </a:t>
            </a:r>
            <a:r>
              <a:rPr lang="en-US" sz="1500" dirty="0" err="1">
                <a:highlight>
                  <a:srgbClr val="FFFF00"/>
                </a:highlight>
                <a:latin typeface="Calibir"/>
              </a:rPr>
              <a:t>account_type.lower</a:t>
            </a:r>
            <a:r>
              <a:rPr lang="en-US" sz="1500" dirty="0">
                <a:highlight>
                  <a:srgbClr val="FFFF00"/>
                </a:highlight>
                <a:latin typeface="Calibir"/>
              </a:rPr>
              <a:t>())</a:t>
            </a:r>
          </a:p>
          <a:p>
            <a:r>
              <a:rPr lang="en-US" sz="1500" dirty="0">
                <a:highlight>
                  <a:srgbClr val="FFFF00"/>
                </a:highlight>
                <a:latin typeface="Calibir"/>
              </a:rPr>
              <a:t>    def deposit(self, amount):</a:t>
            </a:r>
          </a:p>
          <a:p>
            <a:r>
              <a:rPr lang="en-US" sz="15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500" dirty="0" err="1">
                <a:highlight>
                  <a:srgbClr val="FFFF00"/>
                </a:highlight>
                <a:latin typeface="Calibir"/>
              </a:rPr>
              <a:t>self.balance</a:t>
            </a:r>
            <a:r>
              <a:rPr lang="en-US" sz="1500" dirty="0">
                <a:highlight>
                  <a:srgbClr val="FFFF00"/>
                </a:highlight>
                <a:latin typeface="Calibir"/>
              </a:rPr>
              <a:t> += amount</a:t>
            </a:r>
          </a:p>
          <a:p>
            <a:r>
              <a:rPr lang="en-US" sz="1500" dirty="0">
                <a:highlight>
                  <a:srgbClr val="FFFF00"/>
                </a:highlight>
                <a:latin typeface="Calibir"/>
              </a:rPr>
              <a:t>    def has(self, amount):</a:t>
            </a:r>
          </a:p>
          <a:p>
            <a:r>
              <a:rPr lang="en-US" sz="1500" dirty="0">
                <a:highlight>
                  <a:srgbClr val="FFFF00"/>
                </a:highlight>
                <a:latin typeface="Calibir"/>
              </a:rPr>
              <a:t>        return </a:t>
            </a:r>
            <a:r>
              <a:rPr lang="en-US" sz="1500" dirty="0" err="1">
                <a:highlight>
                  <a:srgbClr val="FFFF00"/>
                </a:highlight>
                <a:latin typeface="Calibir"/>
              </a:rPr>
              <a:t>self.balance</a:t>
            </a:r>
            <a:r>
              <a:rPr lang="en-US" sz="1500" dirty="0">
                <a:highlight>
                  <a:srgbClr val="FFFF00"/>
                </a:highlight>
                <a:latin typeface="Calibir"/>
              </a:rPr>
              <a:t> &gt;= amount</a:t>
            </a:r>
          </a:p>
          <a:p>
            <a:r>
              <a:rPr lang="en-US" sz="1500" dirty="0">
                <a:highlight>
                  <a:srgbClr val="FFFF00"/>
                </a:highlight>
                <a:latin typeface="Calibir"/>
              </a:rPr>
              <a:t>    def withdraw(self, amount):</a:t>
            </a:r>
          </a:p>
          <a:p>
            <a:r>
              <a:rPr lang="en-US" sz="1500" dirty="0">
                <a:highlight>
                  <a:srgbClr val="FFFF00"/>
                </a:highlight>
                <a:latin typeface="Calibir"/>
              </a:rPr>
              <a:t>        if not </a:t>
            </a:r>
            <a:r>
              <a:rPr lang="en-US" sz="1500" dirty="0" err="1">
                <a:highlight>
                  <a:srgbClr val="FFFF00"/>
                </a:highlight>
                <a:latin typeface="Calibir"/>
              </a:rPr>
              <a:t>self.has</a:t>
            </a:r>
            <a:r>
              <a:rPr lang="en-US" sz="1500" dirty="0">
                <a:highlight>
                  <a:srgbClr val="FFFF00"/>
                </a:highlight>
                <a:latin typeface="Calibir"/>
              </a:rPr>
              <a:t>(amount):</a:t>
            </a:r>
          </a:p>
          <a:p>
            <a:r>
              <a:rPr lang="en-US" sz="1500" dirty="0">
                <a:highlight>
                  <a:srgbClr val="FFFF00"/>
                </a:highlight>
                <a:latin typeface="Calibir"/>
              </a:rPr>
              <a:t>            raise </a:t>
            </a:r>
            <a:r>
              <a:rPr lang="en-US" sz="1500" dirty="0" err="1">
                <a:highlight>
                  <a:srgbClr val="FFFF00"/>
                </a:highlight>
                <a:latin typeface="Calibir"/>
              </a:rPr>
              <a:t>ValueError</a:t>
            </a:r>
            <a:r>
              <a:rPr lang="en-US" sz="1500" dirty="0">
                <a:highlight>
                  <a:srgbClr val="FFFF00"/>
                </a:highlight>
                <a:latin typeface="Calibir"/>
              </a:rPr>
              <a:t>("Insufficient funds")</a:t>
            </a:r>
          </a:p>
          <a:p>
            <a:r>
              <a:rPr lang="en-US" sz="15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500" dirty="0" err="1">
                <a:highlight>
                  <a:srgbClr val="FFFF00"/>
                </a:highlight>
                <a:latin typeface="Calibir"/>
              </a:rPr>
              <a:t>self.balance</a:t>
            </a:r>
            <a:r>
              <a:rPr lang="en-US" sz="1500" dirty="0">
                <a:highlight>
                  <a:srgbClr val="FFFF00"/>
                </a:highlight>
                <a:latin typeface="Calibir"/>
              </a:rPr>
              <a:t> -= amount</a:t>
            </a:r>
          </a:p>
          <a:p>
            <a:r>
              <a:rPr lang="en-US" sz="1500" dirty="0">
                <a:highlight>
                  <a:srgbClr val="FFFF00"/>
                </a:highlight>
                <a:latin typeface="Calibir"/>
              </a:rPr>
              <a:t>    def transfer(self, amount, </a:t>
            </a:r>
            <a:r>
              <a:rPr lang="en-US" sz="1500" dirty="0" err="1">
                <a:highlight>
                  <a:srgbClr val="FFFF00"/>
                </a:highlight>
                <a:latin typeface="Calibir"/>
              </a:rPr>
              <a:t>other_account</a:t>
            </a:r>
            <a:r>
              <a:rPr lang="en-US" sz="1500" dirty="0">
                <a:highlight>
                  <a:srgbClr val="FFFF00"/>
                </a:highlight>
                <a:latin typeface="Calibir"/>
              </a:rPr>
              <a:t>):</a:t>
            </a:r>
          </a:p>
          <a:p>
            <a:r>
              <a:rPr lang="en-US" sz="1500" dirty="0">
                <a:highlight>
                  <a:srgbClr val="FFFF00"/>
                </a:highlight>
                <a:latin typeface="Calibir"/>
              </a:rPr>
              <a:t>        if not </a:t>
            </a:r>
            <a:r>
              <a:rPr lang="en-US" sz="1500" dirty="0" err="1">
                <a:highlight>
                  <a:srgbClr val="FFFF00"/>
                </a:highlight>
                <a:latin typeface="Calibir"/>
              </a:rPr>
              <a:t>self.has</a:t>
            </a:r>
            <a:r>
              <a:rPr lang="en-US" sz="1500" dirty="0">
                <a:highlight>
                  <a:srgbClr val="FFFF00"/>
                </a:highlight>
                <a:latin typeface="Calibir"/>
              </a:rPr>
              <a:t>(amount):</a:t>
            </a:r>
          </a:p>
          <a:p>
            <a:r>
              <a:rPr lang="en-US" sz="1500" dirty="0">
                <a:highlight>
                  <a:srgbClr val="FFFF00"/>
                </a:highlight>
                <a:latin typeface="Calibir"/>
              </a:rPr>
              <a:t>            raise </a:t>
            </a:r>
            <a:r>
              <a:rPr lang="en-US" sz="1500" dirty="0" err="1">
                <a:highlight>
                  <a:srgbClr val="FFFF00"/>
                </a:highlight>
                <a:latin typeface="Calibir"/>
              </a:rPr>
              <a:t>ValueError</a:t>
            </a:r>
            <a:r>
              <a:rPr lang="en-US" sz="1500" dirty="0">
                <a:highlight>
                  <a:srgbClr val="FFFF00"/>
                </a:highlight>
                <a:latin typeface="Calibir"/>
              </a:rPr>
              <a:t>("Insufficient funds")</a:t>
            </a:r>
          </a:p>
          <a:p>
            <a:r>
              <a:rPr lang="en-US" sz="15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500" dirty="0" err="1">
                <a:highlight>
                  <a:srgbClr val="FFFF00"/>
                </a:highlight>
                <a:latin typeface="Calibir"/>
              </a:rPr>
              <a:t>self.withdraw</a:t>
            </a:r>
            <a:r>
              <a:rPr lang="en-US" sz="1500" dirty="0">
                <a:highlight>
                  <a:srgbClr val="FFFF00"/>
                </a:highlight>
                <a:latin typeface="Calibir"/>
              </a:rPr>
              <a:t>(amount)</a:t>
            </a:r>
          </a:p>
          <a:p>
            <a:r>
              <a:rPr lang="en-US" sz="1500" dirty="0">
                <a:highlight>
                  <a:srgbClr val="FFFF00"/>
                </a:highlight>
                <a:latin typeface="Calibir"/>
              </a:rPr>
              <a:t>        # Following the Lab 7/8 loan-payment example</a:t>
            </a:r>
          </a:p>
          <a:p>
            <a:r>
              <a:rPr lang="en-US" sz="15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500" dirty="0" err="1">
                <a:highlight>
                  <a:srgbClr val="FFFF00"/>
                </a:highlight>
                <a:latin typeface="Calibir"/>
              </a:rPr>
              <a:t>other_account.withdraw</a:t>
            </a:r>
            <a:r>
              <a:rPr lang="en-US" sz="1500" dirty="0">
                <a:highlight>
                  <a:srgbClr val="FFFF00"/>
                </a:highlight>
                <a:latin typeface="Calibir"/>
              </a:rPr>
              <a:t>(amount)</a:t>
            </a:r>
          </a:p>
          <a:p>
            <a:r>
              <a:rPr lang="en-US" sz="1500" dirty="0">
                <a:highlight>
                  <a:srgbClr val="FFFF00"/>
                </a:highlight>
                <a:latin typeface="Calibir"/>
              </a:rPr>
              <a:t>    def __str__(self):</a:t>
            </a:r>
          </a:p>
          <a:p>
            <a:r>
              <a:rPr lang="en-US" sz="1500" dirty="0">
                <a:highlight>
                  <a:srgbClr val="FFFF00"/>
                </a:highlight>
                <a:latin typeface="Calibir"/>
              </a:rPr>
              <a:t>        return (f"{</a:t>
            </a:r>
            <a:r>
              <a:rPr lang="en-US" sz="1500" dirty="0" err="1">
                <a:highlight>
                  <a:srgbClr val="FFFF00"/>
                </a:highlight>
                <a:latin typeface="Calibir"/>
              </a:rPr>
              <a:t>self.type</a:t>
            </a:r>
            <a:r>
              <a:rPr lang="en-US" sz="1500" dirty="0">
                <a:highlight>
                  <a:srgbClr val="FFFF00"/>
                </a:highlight>
                <a:latin typeface="Calibir"/>
              </a:rPr>
              <a:t>} account has "f"${self.balance:,.2f}")</a:t>
            </a:r>
          </a:p>
        </p:txBody>
      </p:sp>
    </p:spTree>
    <p:extLst>
      <p:ext uri="{BB962C8B-B14F-4D97-AF65-F5344CB8AC3E}">
        <p14:creationId xmlns:p14="http://schemas.microsoft.com/office/powerpoint/2010/main" val="3682620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74B81-97F2-23E8-BA33-74F8D60F0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5FB4A8-FF89-1E5C-6674-04D70F59C3D2}"/>
              </a:ext>
            </a:extLst>
          </p:cNvPr>
          <p:cNvSpPr txBox="1"/>
          <p:nvPr/>
        </p:nvSpPr>
        <p:spPr>
          <a:xfrm>
            <a:off x="-2458" y="-150850"/>
            <a:ext cx="12194458" cy="7135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3 — Keep Customer from Lab 7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 Customer still has: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name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accounts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and its own customer menu.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Python — Customer outline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class Customer: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def __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init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__(self, name):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self.name = name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print(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f"Create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Accounts for Customer: "f"{self.name}")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self.accounts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= [Account("Savings"), Account("Loan")]</a:t>
            </a:r>
          </a:p>
        </p:txBody>
      </p:sp>
    </p:spTree>
    <p:extLst>
      <p:ext uri="{BB962C8B-B14F-4D97-AF65-F5344CB8AC3E}">
        <p14:creationId xmlns:p14="http://schemas.microsoft.com/office/powerpoint/2010/main" val="349851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584B1-ADBD-E890-3525-FC34060CC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62E9CA-5243-5595-3D37-492D8F84C395}"/>
              </a:ext>
            </a:extLst>
          </p:cNvPr>
          <p:cNvSpPr txBox="1"/>
          <p:nvPr/>
        </p:nvSpPr>
        <p:spPr>
          <a:xfrm>
            <a:off x="0" y="0"/>
            <a:ext cx="9147687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4 — Add customer name matching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Bank will need to find customers by name.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def matches(self, name):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return (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self.name.lower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 ==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name.lower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())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means: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 err="1">
                <a:highlight>
                  <a:srgbClr val="FFFF00"/>
                </a:highlight>
                <a:latin typeface="Calibir"/>
              </a:rPr>
              <a:t>customer.matches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("Paul")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returns True if the customer's name is Paul.</a:t>
            </a:r>
          </a:p>
        </p:txBody>
      </p:sp>
    </p:spTree>
    <p:extLst>
      <p:ext uri="{BB962C8B-B14F-4D97-AF65-F5344CB8AC3E}">
        <p14:creationId xmlns:p14="http://schemas.microsoft.com/office/powerpoint/2010/main" val="20330228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9E228-7C20-F213-669E-424A2B6AF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457E92-D714-A044-6610-FFB1282518DD}"/>
              </a:ext>
            </a:extLst>
          </p:cNvPr>
          <p:cNvSpPr txBox="1"/>
          <p:nvPr/>
        </p:nvSpPr>
        <p:spPr>
          <a:xfrm>
            <a:off x="0" y="0"/>
            <a:ext cx="9147687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5 — Find an account by type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def account(self,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account_type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for account in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self.accounts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if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account.matches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account_type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return account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return None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Simple meaning: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Search the account list and return the requested account.</a:t>
            </a:r>
          </a:p>
        </p:txBody>
      </p:sp>
    </p:spTree>
    <p:extLst>
      <p:ext uri="{BB962C8B-B14F-4D97-AF65-F5344CB8AC3E}">
        <p14:creationId xmlns:p14="http://schemas.microsoft.com/office/powerpoint/2010/main" val="3342287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983FB-2E07-C474-E358-9C2B776CB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87A02C-5ABE-25E3-2278-0B72F328E893}"/>
              </a:ext>
            </a:extLst>
          </p:cNvPr>
          <p:cNvSpPr txBox="1"/>
          <p:nvPr/>
        </p:nvSpPr>
        <p:spPr>
          <a:xfrm>
            <a:off x="0" y="-1"/>
            <a:ext cx="9147687" cy="6878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6 — Customer banking operations</a:t>
            </a:r>
          </a:p>
          <a:p>
            <a:pPr rtl="0">
              <a:buNone/>
            </a:pPr>
            <a:r>
              <a:rPr lang="en-US" sz="2100" dirty="0">
                <a:highlight>
                  <a:srgbClr val="FFFF00"/>
                </a:highlight>
                <a:latin typeface="Calibir"/>
              </a:rPr>
              <a:t>def deposit(self):</a:t>
            </a:r>
          </a:p>
          <a:p>
            <a:pPr rtl="0">
              <a:buNone/>
            </a:pPr>
            <a:r>
              <a:rPr lang="en-US" sz="2100" dirty="0">
                <a:highlight>
                  <a:srgbClr val="FFFF00"/>
                </a:highlight>
                <a:latin typeface="Calibir"/>
              </a:rPr>
              <a:t>    amount = float(input("Amount to deposit: $"))</a:t>
            </a:r>
          </a:p>
          <a:p>
            <a:pPr rtl="0">
              <a:buNone/>
            </a:pPr>
            <a:r>
              <a:rPr lang="en-US" sz="21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2100" dirty="0" err="1">
                <a:highlight>
                  <a:srgbClr val="FFFF00"/>
                </a:highlight>
                <a:latin typeface="Calibir"/>
              </a:rPr>
              <a:t>self.account</a:t>
            </a:r>
            <a:r>
              <a:rPr lang="en-US" sz="2100" dirty="0">
                <a:highlight>
                  <a:srgbClr val="FFFF00"/>
                </a:highlight>
                <a:latin typeface="Calibir"/>
              </a:rPr>
              <a:t>("Savings").deposit(amount)</a:t>
            </a:r>
          </a:p>
          <a:p>
            <a:pPr>
              <a:buNone/>
            </a:pPr>
            <a:r>
              <a:rPr lang="en-US" sz="2100" dirty="0">
                <a:highlight>
                  <a:srgbClr val="FFFF00"/>
                </a:highlight>
                <a:latin typeface="Calibir"/>
              </a:rPr>
              <a:t>Withdrawal:</a:t>
            </a:r>
          </a:p>
          <a:p>
            <a:pPr rtl="0">
              <a:buNone/>
            </a:pPr>
            <a:r>
              <a:rPr lang="en-US" sz="2100" dirty="0">
                <a:highlight>
                  <a:srgbClr val="FFFF00"/>
                </a:highlight>
                <a:latin typeface="Calibir"/>
              </a:rPr>
              <a:t>def withdraw(self):</a:t>
            </a:r>
          </a:p>
          <a:p>
            <a:pPr rtl="0">
              <a:buNone/>
            </a:pPr>
            <a:r>
              <a:rPr lang="en-US" sz="2100" dirty="0">
                <a:highlight>
                  <a:srgbClr val="FFFF00"/>
                </a:highlight>
                <a:latin typeface="Calibir"/>
              </a:rPr>
              <a:t>    amount = float(input("Amount to withdraw: $"))</a:t>
            </a:r>
          </a:p>
          <a:p>
            <a:pPr rtl="0">
              <a:buNone/>
            </a:pPr>
            <a:r>
              <a:rPr lang="en-US" sz="2100" dirty="0">
                <a:highlight>
                  <a:srgbClr val="FFFF00"/>
                </a:highlight>
                <a:latin typeface="Calibir"/>
              </a:rPr>
              <a:t>    try:</a:t>
            </a:r>
          </a:p>
          <a:p>
            <a:pPr rtl="0">
              <a:buNone/>
            </a:pPr>
            <a:r>
              <a:rPr lang="en-US" sz="21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100" dirty="0" err="1">
                <a:highlight>
                  <a:srgbClr val="FFFF00"/>
                </a:highlight>
                <a:latin typeface="Calibir"/>
              </a:rPr>
              <a:t>self.account</a:t>
            </a:r>
            <a:r>
              <a:rPr lang="en-US" sz="2100" dirty="0">
                <a:highlight>
                  <a:srgbClr val="FFFF00"/>
                </a:highlight>
                <a:latin typeface="Calibir"/>
              </a:rPr>
              <a:t>("Savings").withdraw(amount)</a:t>
            </a:r>
          </a:p>
          <a:p>
            <a:pPr rtl="0">
              <a:buNone/>
            </a:pPr>
            <a:r>
              <a:rPr lang="en-US" sz="2100" dirty="0">
                <a:highlight>
                  <a:srgbClr val="FFFF00"/>
                </a:highlight>
                <a:latin typeface="Calibir"/>
              </a:rPr>
              <a:t>    except </a:t>
            </a:r>
            <a:r>
              <a:rPr lang="en-US" sz="2100" dirty="0" err="1">
                <a:highlight>
                  <a:srgbClr val="FFFF00"/>
                </a:highlight>
                <a:latin typeface="Calibir"/>
              </a:rPr>
              <a:t>ValueError</a:t>
            </a:r>
            <a:r>
              <a:rPr lang="en-US" sz="2100" dirty="0">
                <a:highlight>
                  <a:srgbClr val="FFFF00"/>
                </a:highlight>
                <a:latin typeface="Calibir"/>
              </a:rPr>
              <a:t> as error:</a:t>
            </a:r>
          </a:p>
          <a:p>
            <a:pPr rtl="0">
              <a:buNone/>
            </a:pPr>
            <a:r>
              <a:rPr lang="en-US" sz="2100" dirty="0">
                <a:highlight>
                  <a:srgbClr val="FFFF00"/>
                </a:highlight>
                <a:latin typeface="Calibir"/>
              </a:rPr>
              <a:t>        print(error)</a:t>
            </a:r>
          </a:p>
          <a:p>
            <a:pPr>
              <a:buNone/>
            </a:pPr>
            <a:r>
              <a:rPr lang="en-US" sz="2100" dirty="0">
                <a:highlight>
                  <a:srgbClr val="FFFF00"/>
                </a:highlight>
                <a:latin typeface="Calibir"/>
              </a:rPr>
              <a:t>Transfer:</a:t>
            </a:r>
          </a:p>
          <a:p>
            <a:pPr rtl="0">
              <a:buNone/>
            </a:pPr>
            <a:r>
              <a:rPr lang="en-US" sz="2100" dirty="0">
                <a:highlight>
                  <a:srgbClr val="FFFF00"/>
                </a:highlight>
                <a:latin typeface="Calibir"/>
              </a:rPr>
              <a:t>def transfer(self):</a:t>
            </a:r>
          </a:p>
          <a:p>
            <a:pPr rtl="0">
              <a:buNone/>
            </a:pPr>
            <a:r>
              <a:rPr lang="en-US" sz="2100" dirty="0">
                <a:highlight>
                  <a:srgbClr val="FFFF00"/>
                </a:highlight>
                <a:latin typeface="Calibir"/>
              </a:rPr>
              <a:t>    amount = float(input("Amount to transfer: $"))</a:t>
            </a:r>
          </a:p>
          <a:p>
            <a:pPr rtl="0">
              <a:buNone/>
            </a:pPr>
            <a:r>
              <a:rPr lang="en-US" sz="2100" dirty="0">
                <a:highlight>
                  <a:srgbClr val="FFFF00"/>
                </a:highlight>
                <a:latin typeface="Calibir"/>
              </a:rPr>
              <a:t>    savings = </a:t>
            </a:r>
            <a:r>
              <a:rPr lang="en-US" sz="2100" dirty="0" err="1">
                <a:highlight>
                  <a:srgbClr val="FFFF00"/>
                </a:highlight>
                <a:latin typeface="Calibir"/>
              </a:rPr>
              <a:t>self.account</a:t>
            </a:r>
            <a:r>
              <a:rPr lang="en-US" sz="2100" dirty="0">
                <a:highlight>
                  <a:srgbClr val="FFFF00"/>
                </a:highlight>
                <a:latin typeface="Calibir"/>
              </a:rPr>
              <a:t>("Savings")</a:t>
            </a:r>
          </a:p>
          <a:p>
            <a:pPr rtl="0">
              <a:buNone/>
            </a:pPr>
            <a:r>
              <a:rPr lang="en-US" sz="2100" dirty="0">
                <a:highlight>
                  <a:srgbClr val="FFFF00"/>
                </a:highlight>
                <a:latin typeface="Calibir"/>
              </a:rPr>
              <a:t>    loan = </a:t>
            </a:r>
            <a:r>
              <a:rPr lang="en-US" sz="2100" dirty="0" err="1">
                <a:highlight>
                  <a:srgbClr val="FFFF00"/>
                </a:highlight>
                <a:latin typeface="Calibir"/>
              </a:rPr>
              <a:t>self.account</a:t>
            </a:r>
            <a:r>
              <a:rPr lang="en-US" sz="2100" dirty="0">
                <a:highlight>
                  <a:srgbClr val="FFFF00"/>
                </a:highlight>
                <a:latin typeface="Calibir"/>
              </a:rPr>
              <a:t>("Loan")</a:t>
            </a:r>
          </a:p>
          <a:p>
            <a:pPr rtl="0">
              <a:buNone/>
            </a:pPr>
            <a:r>
              <a:rPr lang="en-US" sz="2100" dirty="0">
                <a:highlight>
                  <a:srgbClr val="FFFF00"/>
                </a:highlight>
                <a:latin typeface="Calibir"/>
              </a:rPr>
              <a:t>    try:</a:t>
            </a:r>
          </a:p>
          <a:p>
            <a:pPr rtl="0">
              <a:buNone/>
            </a:pPr>
            <a:r>
              <a:rPr lang="en-US" sz="21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100" dirty="0" err="1">
                <a:highlight>
                  <a:srgbClr val="FFFF00"/>
                </a:highlight>
                <a:latin typeface="Calibir"/>
              </a:rPr>
              <a:t>savings.transfer</a:t>
            </a:r>
            <a:r>
              <a:rPr lang="en-US" sz="2100" dirty="0">
                <a:highlight>
                  <a:srgbClr val="FFFF00"/>
                </a:highlight>
                <a:latin typeface="Calibir"/>
              </a:rPr>
              <a:t>(amount, loan)</a:t>
            </a:r>
          </a:p>
          <a:p>
            <a:pPr rtl="0">
              <a:buNone/>
            </a:pPr>
            <a:r>
              <a:rPr lang="en-US" sz="2100" dirty="0">
                <a:highlight>
                  <a:srgbClr val="FFFF00"/>
                </a:highlight>
                <a:latin typeface="Calibir"/>
              </a:rPr>
              <a:t>    except </a:t>
            </a:r>
            <a:r>
              <a:rPr lang="en-US" sz="2100" dirty="0" err="1">
                <a:highlight>
                  <a:srgbClr val="FFFF00"/>
                </a:highlight>
                <a:latin typeface="Calibir"/>
              </a:rPr>
              <a:t>ValueError</a:t>
            </a:r>
            <a:r>
              <a:rPr lang="en-US" sz="2100" dirty="0">
                <a:highlight>
                  <a:srgbClr val="FFFF00"/>
                </a:highlight>
                <a:latin typeface="Calibir"/>
              </a:rPr>
              <a:t> as error:</a:t>
            </a:r>
          </a:p>
          <a:p>
            <a:pPr rtl="0">
              <a:buNone/>
            </a:pPr>
            <a:r>
              <a:rPr lang="en-US" sz="2100" dirty="0">
                <a:highlight>
                  <a:srgbClr val="FFFF00"/>
                </a:highlight>
                <a:latin typeface="Calibir"/>
              </a:rPr>
              <a:t>        print(error)</a:t>
            </a:r>
          </a:p>
        </p:txBody>
      </p:sp>
    </p:spTree>
    <p:extLst>
      <p:ext uri="{BB962C8B-B14F-4D97-AF65-F5344CB8AC3E}">
        <p14:creationId xmlns:p14="http://schemas.microsoft.com/office/powerpoint/2010/main" val="2240460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4CE1B-69A4-323A-89D6-D44D50AE9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99D16E-E48F-3018-A93D-273515D8441F}"/>
              </a:ext>
            </a:extLst>
          </p:cNvPr>
          <p:cNvSpPr txBox="1"/>
          <p:nvPr/>
        </p:nvSpPr>
        <p:spPr>
          <a:xfrm>
            <a:off x="0" y="1"/>
            <a:ext cx="9147687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7 — Customer statement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from datetime import datetime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Then: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def show(self):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now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datetime.now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().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strftime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("%d/%m/%Y - %H:%M:%S")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print(f"{self.name} bank statement: "f"{now}")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for account in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self.accounts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print(account)</a:t>
            </a:r>
          </a:p>
        </p:txBody>
      </p:sp>
    </p:spTree>
    <p:extLst>
      <p:ext uri="{BB962C8B-B14F-4D97-AF65-F5344CB8AC3E}">
        <p14:creationId xmlns:p14="http://schemas.microsoft.com/office/powerpoint/2010/main" val="302873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F65CF-3C67-F31B-7BF6-6A1D90C64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48C960-F1CC-3458-41E0-A6FF7102F4C1}"/>
              </a:ext>
            </a:extLst>
          </p:cNvPr>
          <p:cNvSpPr txBox="1"/>
          <p:nvPr/>
        </p:nvSpPr>
        <p:spPr>
          <a:xfrm>
            <a:off x="0" y="-1"/>
            <a:ext cx="9147687" cy="6833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8 — Customer menu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1900" dirty="0">
                <a:highlight>
                  <a:srgbClr val="FFFF00"/>
                </a:highlight>
                <a:latin typeface="Calibir"/>
              </a:rPr>
              <a:t>def menu(self):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1900" dirty="0">
                <a:highlight>
                  <a:srgbClr val="FFFF00"/>
                </a:highlight>
                <a:latin typeface="Calibir"/>
              </a:rPr>
              <a:t>    while True: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1900" dirty="0">
                <a:highlight>
                  <a:srgbClr val="FFFF00"/>
                </a:highlight>
                <a:latin typeface="Calibir"/>
              </a:rPr>
              <a:t>        choice = input("Customer menu " "(d/w/t/s/x): ").lower()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1900" dirty="0">
                <a:highlight>
                  <a:srgbClr val="FFFF00"/>
                </a:highlight>
                <a:latin typeface="Calibir"/>
              </a:rPr>
              <a:t>        if choice == "d":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19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900" dirty="0" err="1">
                <a:highlight>
                  <a:srgbClr val="FFFF00"/>
                </a:highlight>
                <a:latin typeface="Calibir"/>
              </a:rPr>
              <a:t>self.deposit</a:t>
            </a:r>
            <a:r>
              <a:rPr lang="en-US" sz="19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19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900" dirty="0" err="1">
                <a:highlight>
                  <a:srgbClr val="FFFF00"/>
                </a:highlight>
                <a:latin typeface="Calibir"/>
              </a:rPr>
              <a:t>elif</a:t>
            </a:r>
            <a:r>
              <a:rPr lang="en-US" sz="1900" dirty="0">
                <a:highlight>
                  <a:srgbClr val="FFFF00"/>
                </a:highlight>
                <a:latin typeface="Calibir"/>
              </a:rPr>
              <a:t> choice == "w":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19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900" dirty="0" err="1">
                <a:highlight>
                  <a:srgbClr val="FFFF00"/>
                </a:highlight>
                <a:latin typeface="Calibir"/>
              </a:rPr>
              <a:t>self.withdraw</a:t>
            </a:r>
            <a:r>
              <a:rPr lang="en-US" sz="19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19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900" dirty="0" err="1">
                <a:highlight>
                  <a:srgbClr val="FFFF00"/>
                </a:highlight>
                <a:latin typeface="Calibir"/>
              </a:rPr>
              <a:t>elif</a:t>
            </a:r>
            <a:r>
              <a:rPr lang="en-US" sz="1900" dirty="0">
                <a:highlight>
                  <a:srgbClr val="FFFF00"/>
                </a:highlight>
                <a:latin typeface="Calibir"/>
              </a:rPr>
              <a:t> choice == "t":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19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900" dirty="0" err="1">
                <a:highlight>
                  <a:srgbClr val="FFFF00"/>
                </a:highlight>
                <a:latin typeface="Calibir"/>
              </a:rPr>
              <a:t>self.transfer</a:t>
            </a:r>
            <a:r>
              <a:rPr lang="en-US" sz="19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19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900" dirty="0" err="1">
                <a:highlight>
                  <a:srgbClr val="FFFF00"/>
                </a:highlight>
                <a:latin typeface="Calibir"/>
              </a:rPr>
              <a:t>elif</a:t>
            </a:r>
            <a:r>
              <a:rPr lang="en-US" sz="1900" dirty="0">
                <a:highlight>
                  <a:srgbClr val="FFFF00"/>
                </a:highlight>
                <a:latin typeface="Calibir"/>
              </a:rPr>
              <a:t> choice == "s":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19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900" dirty="0" err="1">
                <a:highlight>
                  <a:srgbClr val="FFFF00"/>
                </a:highlight>
                <a:latin typeface="Calibir"/>
              </a:rPr>
              <a:t>self.show</a:t>
            </a:r>
            <a:r>
              <a:rPr lang="en-US" sz="19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19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900" dirty="0" err="1">
                <a:highlight>
                  <a:srgbClr val="FFFF00"/>
                </a:highlight>
                <a:latin typeface="Calibir"/>
              </a:rPr>
              <a:t>elif</a:t>
            </a:r>
            <a:r>
              <a:rPr lang="en-US" sz="1900" dirty="0">
                <a:highlight>
                  <a:srgbClr val="FFFF00"/>
                </a:highlight>
                <a:latin typeface="Calibir"/>
              </a:rPr>
              <a:t> choice == "x":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1900" dirty="0">
                <a:highlight>
                  <a:srgbClr val="FFFF00"/>
                </a:highlight>
                <a:latin typeface="Calibir"/>
              </a:rPr>
              <a:t>            print("Back to Bank menu")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1900" dirty="0">
                <a:highlight>
                  <a:srgbClr val="FFFF00"/>
                </a:highlight>
                <a:latin typeface="Calibir"/>
              </a:rPr>
              <a:t>            break</a:t>
            </a:r>
          </a:p>
        </p:txBody>
      </p:sp>
    </p:spTree>
    <p:extLst>
      <p:ext uri="{BB962C8B-B14F-4D97-AF65-F5344CB8AC3E}">
        <p14:creationId xmlns:p14="http://schemas.microsoft.com/office/powerpoint/2010/main" val="13046264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57F2C-1CC8-DF09-265D-35854FBB4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E8EA36-1BAD-06D7-8E8D-F588ABFE8B57}"/>
              </a:ext>
            </a:extLst>
          </p:cNvPr>
          <p:cNvSpPr txBox="1"/>
          <p:nvPr/>
        </p:nvSpPr>
        <p:spPr>
          <a:xfrm>
            <a:off x="-2458" y="0"/>
            <a:ext cx="6098458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ir"/>
              </a:rPr>
              <a:t>Completed Python Customer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from datetime import datetime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class Customer: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def __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init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__(self, name):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self.name = name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print(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f"Create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Accounts for Customer: "f"{self.name}")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self.accounts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= [Account("Savings"), Account("Loan")]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def matches(self, name):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return (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self.name.lower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() ==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name.lower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())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def account(self,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account_type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):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for account in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self.accounts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: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if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account.matches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account_type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):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    return account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return None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def deposit(self):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amount = float(input("Amount to deposit: $"))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self.account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("Savings").deposit(amount)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def withdraw(self):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amount = float(input("Amount to withdraw: $"))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try: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self.account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("Savings").withdraw(amount)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except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ValueError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as error: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print(error)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def transfer(self):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amount = float(input("Amount to transfer: $"))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savings =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self.account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("Savings")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loan =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self.account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("Loan")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try: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savings.transfer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(amount, loan)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except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ValueError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as error: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print(error)</a:t>
            </a:r>
          </a:p>
        </p:txBody>
      </p:sp>
    </p:spTree>
    <p:extLst>
      <p:ext uri="{BB962C8B-B14F-4D97-AF65-F5344CB8AC3E}">
        <p14:creationId xmlns:p14="http://schemas.microsoft.com/office/powerpoint/2010/main" val="33445585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C1BBB-F78A-CDA2-6C97-4F0EAF018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4E06D9-E11C-EE2E-ECE3-5649F5202366}"/>
              </a:ext>
            </a:extLst>
          </p:cNvPr>
          <p:cNvSpPr txBox="1"/>
          <p:nvPr/>
        </p:nvSpPr>
        <p:spPr>
          <a:xfrm>
            <a:off x="-2458" y="0"/>
            <a:ext cx="609845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alibir"/>
              </a:rPr>
              <a:t> def show(self):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now =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datetime.now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().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strftime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("%d/%m/%Y - %H:%M:%S")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print(f"{self.name} bank statement: "f"{now}")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for account in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self.accounts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: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print(account)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def summary(self):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savings =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self.account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("Savings")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loan =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self.account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("Loan")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return (f"{self.name:&lt;8} --&gt; "f"{savings} | {loan}")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def menu(self):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while True: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choice = input("Customer menu ""(d/w/t/s/x): ").lower()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if choice == "d":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self.deposit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elif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 choice == "w":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self.withdraw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elif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 choice == "t":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self.transfer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elif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 choice == "s":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self.show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elif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 choice == "x":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print("Back to Bank menu")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break</a:t>
            </a:r>
            <a:endParaRPr lang="en-US" sz="1200" dirty="0">
              <a:highlight>
                <a:srgbClr val="FFFF00"/>
              </a:highlight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6396653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CA402-15B6-C89C-2AD8-6A813BF85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CBC362-3C50-A5C8-AA77-E7E96E286897}"/>
              </a:ext>
            </a:extLst>
          </p:cNvPr>
          <p:cNvSpPr txBox="1"/>
          <p:nvPr/>
        </p:nvSpPr>
        <p:spPr>
          <a:xfrm>
            <a:off x="0" y="1"/>
            <a:ext cx="9147687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9 — Update Bank: store customers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is where Lab 8 becomes more interesting.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class Bank: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def __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init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__(self):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self.customers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= []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 requirement says the constructor adds three customers.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We also need to ensure names are unique.</a:t>
            </a:r>
          </a:p>
        </p:txBody>
      </p:sp>
    </p:spTree>
    <p:extLst>
      <p:ext uri="{BB962C8B-B14F-4D97-AF65-F5344CB8AC3E}">
        <p14:creationId xmlns:p14="http://schemas.microsoft.com/office/powerpoint/2010/main" val="9018434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F761F-3B6F-AC2B-1759-AFA848EFC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1D52ED-ACFC-87B5-BEA3-D8326528764A}"/>
              </a:ext>
            </a:extLst>
          </p:cNvPr>
          <p:cNvSpPr txBox="1"/>
          <p:nvPr/>
        </p:nvSpPr>
        <p:spPr>
          <a:xfrm>
            <a:off x="0" y="1"/>
            <a:ext cx="9147687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10 — Find a customer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Write this first because several other methods will reuse it.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def find(self, name):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for customer in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self.customers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if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customer.matches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(name):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    return customer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return None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gives us: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Customer object → if found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None            → if not found</a:t>
            </a:r>
          </a:p>
        </p:txBody>
      </p:sp>
    </p:spTree>
    <p:extLst>
      <p:ext uri="{BB962C8B-B14F-4D97-AF65-F5344CB8AC3E}">
        <p14:creationId xmlns:p14="http://schemas.microsoft.com/office/powerpoint/2010/main" val="1713072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081E3-3EFD-71BE-A47A-A4CAE3643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4BFFC3-A858-D818-830F-151E6849D01A}"/>
              </a:ext>
            </a:extLst>
          </p:cNvPr>
          <p:cNvSpPr txBox="1"/>
          <p:nvPr/>
        </p:nvSpPr>
        <p:spPr>
          <a:xfrm>
            <a:off x="0" y="1"/>
            <a:ext cx="9147687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11 — Read a name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def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read_name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(self):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return input("Enter Customer Name: ").strip()</a:t>
            </a:r>
          </a:p>
        </p:txBody>
      </p:sp>
    </p:spTree>
    <p:extLst>
      <p:ext uri="{BB962C8B-B14F-4D97-AF65-F5344CB8AC3E}">
        <p14:creationId xmlns:p14="http://schemas.microsoft.com/office/powerpoint/2010/main" val="10718031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319A0-D263-0A15-1777-131A77A22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D68E1D-1BBB-A8C2-41E1-BF9E9FDC769A}"/>
              </a:ext>
            </a:extLst>
          </p:cNvPr>
          <p:cNvSpPr txBox="1"/>
          <p:nvPr/>
        </p:nvSpPr>
        <p:spPr>
          <a:xfrm>
            <a:off x="0" y="1"/>
            <a:ext cx="9147687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12 — Add a customer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We must prevent duplicate names.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def add(self):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name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self.read_name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if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self.find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(name) is not None: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print("Customer already exists")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return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self.customers.append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(Customer(name))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is the Create part of CRUD.</a:t>
            </a:r>
          </a:p>
        </p:txBody>
      </p:sp>
    </p:spTree>
    <p:extLst>
      <p:ext uri="{BB962C8B-B14F-4D97-AF65-F5344CB8AC3E}">
        <p14:creationId xmlns:p14="http://schemas.microsoft.com/office/powerpoint/2010/main" val="38168427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9CEFF-6063-D8E3-76E3-FBB4C152D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3DFA01-DF7B-A5FD-9237-210FF4C8BE9F}"/>
              </a:ext>
            </a:extLst>
          </p:cNvPr>
          <p:cNvSpPr txBox="1"/>
          <p:nvPr/>
        </p:nvSpPr>
        <p:spPr>
          <a:xfrm>
            <a:off x="0" y="1"/>
            <a:ext cx="9147687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13 — Remove a customer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def remove(self):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name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self.read_name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customer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self.find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(name)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if customer is None: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print("Customer does not exist")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return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self.customers.remove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(customer)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is the Delete part of CRUD.</a:t>
            </a:r>
          </a:p>
        </p:txBody>
      </p:sp>
    </p:spTree>
    <p:extLst>
      <p:ext uri="{BB962C8B-B14F-4D97-AF65-F5344CB8AC3E}">
        <p14:creationId xmlns:p14="http://schemas.microsoft.com/office/powerpoint/2010/main" val="22685158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9E456-A64C-F5EA-7ED6-89F03E4E5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53D84D-4A8C-EF70-2290-77662F3EF513}"/>
              </a:ext>
            </a:extLst>
          </p:cNvPr>
          <p:cNvSpPr txBox="1"/>
          <p:nvPr/>
        </p:nvSpPr>
        <p:spPr>
          <a:xfrm>
            <a:off x="0" y="1"/>
            <a:ext cx="12192000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14 — View one customer's statement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def show(self):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name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self.read_name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customer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self.find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(name)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if customer is None: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print("Customer does not exist")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return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print(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customer.summary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matches the sample: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Paul --&gt; Savings account has $2000.00 | Loan account has $3000.00</a:t>
            </a:r>
          </a:p>
        </p:txBody>
      </p:sp>
    </p:spTree>
    <p:extLst>
      <p:ext uri="{BB962C8B-B14F-4D97-AF65-F5344CB8AC3E}">
        <p14:creationId xmlns:p14="http://schemas.microsoft.com/office/powerpoint/2010/main" val="16712573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A7045-634A-9689-FDB4-EEBFD4344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ACDCE1-BE40-FFD8-7545-1D08E9B07AFE}"/>
              </a:ext>
            </a:extLst>
          </p:cNvPr>
          <p:cNvSpPr txBox="1"/>
          <p:nvPr/>
        </p:nvSpPr>
        <p:spPr>
          <a:xfrm>
            <a:off x="0" y="1"/>
            <a:ext cx="12192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15 — View all customers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def view(self):</a:t>
            </a:r>
          </a:p>
          <a:p>
            <a:pPr>
              <a:lnSpc>
                <a:spcPct val="150000"/>
              </a:lnSpc>
            </a:pPr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for customer in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self.customers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:</a:t>
            </a:r>
          </a:p>
          <a:p>
            <a:pPr>
              <a:lnSpc>
                <a:spcPct val="150000"/>
              </a:lnSpc>
            </a:pPr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print(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customer.summary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16318478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681D3-8FD6-DE1D-1869-92E9A7CAC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B26E3D-415B-7169-B7AA-B3FEA26400A8}"/>
              </a:ext>
            </a:extLst>
          </p:cNvPr>
          <p:cNvSpPr txBox="1"/>
          <p:nvPr/>
        </p:nvSpPr>
        <p:spPr>
          <a:xfrm>
            <a:off x="0" y="1"/>
            <a:ext cx="12192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16 — Customer login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def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customer_login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(self):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name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self.read_name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customer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self.find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(name)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if customer is None: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print("Customer does not exist")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return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customer.menu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9000672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76287-E9BE-9942-2670-49B1317D6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9F7367-BCA7-95D4-DEC9-79215FCABAD2}"/>
              </a:ext>
            </a:extLst>
          </p:cNvPr>
          <p:cNvSpPr txBox="1"/>
          <p:nvPr/>
        </p:nvSpPr>
        <p:spPr>
          <a:xfrm>
            <a:off x="0" y="0"/>
            <a:ext cx="12192000" cy="668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Step 17 — Add three initial customers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The sample uses: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Lin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Paul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Alex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The constructor can initialize them.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def __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init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__(self):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self.customers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 = []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for name in ["Lin", "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Paul","Alex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"]: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self.customers.append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(Customer(name))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Because the names are predefined and different, they are unique.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For a more general version, we would check with find() before adding.</a:t>
            </a:r>
          </a:p>
        </p:txBody>
      </p:sp>
    </p:spTree>
    <p:extLst>
      <p:ext uri="{BB962C8B-B14F-4D97-AF65-F5344CB8AC3E}">
        <p14:creationId xmlns:p14="http://schemas.microsoft.com/office/powerpoint/2010/main" val="36620868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EEE0E-B1BA-AE2D-D9EC-075718E82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8892B0-D654-9299-31D2-FA90068B2F02}"/>
              </a:ext>
            </a:extLst>
          </p:cNvPr>
          <p:cNvSpPr txBox="1"/>
          <p:nvPr/>
        </p:nvSpPr>
        <p:spPr>
          <a:xfrm>
            <a:off x="-3716" y="0"/>
            <a:ext cx="6099716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alibir"/>
              </a:rPr>
              <a:t>Completed Python Bank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class Bank:</a:t>
            </a:r>
          </a:p>
          <a:p>
            <a:pPr rtl="0">
              <a:buNone/>
            </a:pPr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def __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init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__(self):</a:t>
            </a:r>
          </a:p>
          <a:p>
            <a:pPr rtl="0">
              <a:buNone/>
            </a:pPr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self.customers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 = []</a:t>
            </a:r>
          </a:p>
          <a:p>
            <a:pPr rtl="0">
              <a:buNone/>
            </a:pPr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for name in [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"Lin",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"Paul",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"Alex"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]:</a:t>
            </a:r>
          </a:p>
          <a:p>
            <a:pPr rtl="0">
              <a:buNone/>
            </a:pPr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self.customers.append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    Customer(name)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)</a:t>
            </a:r>
          </a:p>
          <a:p>
            <a:pPr rtl="0">
              <a:buNone/>
            </a:pPr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def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read_name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(self):</a:t>
            </a:r>
          </a:p>
          <a:p>
            <a:pPr rtl="0">
              <a:buNone/>
            </a:pPr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return input(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"Enter Customer Name: "</a:t>
            </a: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).strip()</a:t>
            </a:r>
          </a:p>
          <a:p>
            <a:pPr rtl="0">
              <a:buNone/>
            </a:pPr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def find(self, name):</a:t>
            </a:r>
          </a:p>
          <a:p>
            <a:pPr rtl="0">
              <a:buNone/>
            </a:pPr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for customer in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self.customers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:</a:t>
            </a:r>
          </a:p>
          <a:p>
            <a:pPr rtl="0">
              <a:buNone/>
            </a:pPr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if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customer.matches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(name):</a:t>
            </a:r>
          </a:p>
          <a:p>
            <a:pPr rtl="0">
              <a:buNone/>
            </a:pPr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    return customer</a:t>
            </a:r>
          </a:p>
          <a:p>
            <a:pPr rtl="0">
              <a:buNone/>
            </a:pPr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return None</a:t>
            </a:r>
          </a:p>
          <a:p>
            <a:pPr rtl="0">
              <a:buNone/>
            </a:pPr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def add(self):</a:t>
            </a:r>
          </a:p>
          <a:p>
            <a:pPr rtl="0">
              <a:buNone/>
            </a:pPr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200" dirty="0">
                <a:highlight>
                  <a:srgbClr val="FFFF00"/>
                </a:highlight>
                <a:latin typeface="Calibir"/>
              </a:rPr>
              <a:t>        name =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self.read_name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6024177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064C1-3166-A2FA-00D8-09F172D89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6E77C2-C966-167E-DCF2-CB50FCDCB199}"/>
              </a:ext>
            </a:extLst>
          </p:cNvPr>
          <p:cNvSpPr txBox="1"/>
          <p:nvPr/>
        </p:nvSpPr>
        <p:spPr>
          <a:xfrm>
            <a:off x="-3716" y="0"/>
            <a:ext cx="6099716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if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self.find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(name) is not None: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print(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"Customer already exists"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)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return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self.customers.append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Customer(name)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)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def remove(self):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name =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self.read_name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customer =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self.find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(name)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if customer is None: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print(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"Customer does not exist"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)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return</a:t>
            </a:r>
          </a:p>
        </p:txBody>
      </p:sp>
    </p:spTree>
    <p:extLst>
      <p:ext uri="{BB962C8B-B14F-4D97-AF65-F5344CB8AC3E}">
        <p14:creationId xmlns:p14="http://schemas.microsoft.com/office/powerpoint/2010/main" val="3819094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A5834-8CE9-669C-AAAA-B90944825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1C8C93-95F0-86F2-B275-9B54ECDB2BD7}"/>
              </a:ext>
            </a:extLst>
          </p:cNvPr>
          <p:cNvSpPr txBox="1"/>
          <p:nvPr/>
        </p:nvSpPr>
        <p:spPr>
          <a:xfrm>
            <a:off x="-3716" y="0"/>
            <a:ext cx="609971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self.customers.remove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customer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)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def show(self):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name =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self.read_name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customer =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self.find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(name)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if customer is None: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print(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"Customer does not exist"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)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return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print(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customer.summary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)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8825085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A830D-1133-91DB-0595-171CF9FF1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E12C32-4D18-89D3-DC14-F00F9F63061E}"/>
              </a:ext>
            </a:extLst>
          </p:cNvPr>
          <p:cNvSpPr txBox="1"/>
          <p:nvPr/>
        </p:nvSpPr>
        <p:spPr>
          <a:xfrm>
            <a:off x="-3716" y="0"/>
            <a:ext cx="6099716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alibir"/>
              </a:rPr>
              <a:t> def view(self):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for customer in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self.customers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: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print(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customer.summary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)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def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customer_login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(self):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name =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self.read_name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customer =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self.find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(name)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if customer is None: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print(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"Customer does not exist"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)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return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customer.menu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5617119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64D1A-D750-7E76-FDCA-28F609E5C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D35BE6-8E20-C17F-2D39-F6859EF6E2CB}"/>
              </a:ext>
            </a:extLst>
          </p:cNvPr>
          <p:cNvSpPr txBox="1"/>
          <p:nvPr/>
        </p:nvSpPr>
        <p:spPr>
          <a:xfrm>
            <a:off x="0" y="-111509"/>
            <a:ext cx="9149575" cy="7135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18 — Create the Manager class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Manager has: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name = "John Smith"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and a reference to the Bank.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is important: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Manager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↓ holds reference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Bank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↓ owns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Customers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 Manager does not maintain another customer list.</a:t>
            </a:r>
          </a:p>
        </p:txBody>
      </p:sp>
    </p:spTree>
    <p:extLst>
      <p:ext uri="{BB962C8B-B14F-4D97-AF65-F5344CB8AC3E}">
        <p14:creationId xmlns:p14="http://schemas.microsoft.com/office/powerpoint/2010/main" val="9072082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AA137-D79E-6A6A-ABBE-D86ABC478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17071B-354B-3333-8D59-E93B2EC6ADAD}"/>
              </a:ext>
            </a:extLst>
          </p:cNvPr>
          <p:cNvSpPr txBox="1"/>
          <p:nvPr/>
        </p:nvSpPr>
        <p:spPr>
          <a:xfrm>
            <a:off x="0" y="89210"/>
            <a:ext cx="9149575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19 — Manager constructor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class Manager: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def __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init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__(self, bank):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self.name = "John Smith"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self.bank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= bank</a:t>
            </a:r>
          </a:p>
        </p:txBody>
      </p:sp>
    </p:spTree>
    <p:extLst>
      <p:ext uri="{BB962C8B-B14F-4D97-AF65-F5344CB8AC3E}">
        <p14:creationId xmlns:p14="http://schemas.microsoft.com/office/powerpoint/2010/main" val="16571027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FF4A2-0452-922F-B193-DD1A4E643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A28B43-2E10-22A0-81D8-FE5790B849D8}"/>
              </a:ext>
            </a:extLst>
          </p:cNvPr>
          <p:cNvSpPr txBox="1"/>
          <p:nvPr/>
        </p:nvSpPr>
        <p:spPr>
          <a:xfrm>
            <a:off x="0" y="89210"/>
            <a:ext cx="9149575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20 — Manager view()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Instead of writing duplicate code: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def view(self):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self.bank.view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is delegation.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Manager asks Bank to do the work.</a:t>
            </a:r>
          </a:p>
        </p:txBody>
      </p:sp>
    </p:spTree>
    <p:extLst>
      <p:ext uri="{BB962C8B-B14F-4D97-AF65-F5344CB8AC3E}">
        <p14:creationId xmlns:p14="http://schemas.microsoft.com/office/powerpoint/2010/main" val="23510325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996F2-D3A0-D109-AE82-65800E415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F77DCC-A429-2ED0-190B-2279AEDE16AB}"/>
              </a:ext>
            </a:extLst>
          </p:cNvPr>
          <p:cNvSpPr txBox="1"/>
          <p:nvPr/>
        </p:nvSpPr>
        <p:spPr>
          <a:xfrm>
            <a:off x="0" y="89210"/>
            <a:ext cx="9149575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21 — Manager add()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def add(self):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self.bank.add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22 — Manager remove()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def remove(self):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self.bank.remove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8241581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8EED8-E4C8-828B-553F-3A6A05F66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901078-4D78-922E-8564-69F21E05F555}"/>
              </a:ext>
            </a:extLst>
          </p:cNvPr>
          <p:cNvSpPr txBox="1"/>
          <p:nvPr/>
        </p:nvSpPr>
        <p:spPr>
          <a:xfrm>
            <a:off x="0" y="-1"/>
            <a:ext cx="9149575" cy="603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600" b="1" dirty="0">
                <a:latin typeface="Calibir"/>
              </a:rPr>
              <a:t>Step 23 — Manager show one customer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600" dirty="0">
                <a:highlight>
                  <a:srgbClr val="FFFF00"/>
                </a:highlight>
                <a:latin typeface="Calibir"/>
              </a:rPr>
              <a:t>def show(self):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6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2600" dirty="0" err="1">
                <a:highlight>
                  <a:srgbClr val="FFFF00"/>
                </a:highlight>
                <a:latin typeface="Calibir"/>
              </a:rPr>
              <a:t>self.bank.show</a:t>
            </a:r>
            <a:r>
              <a:rPr lang="en-US" sz="26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pPr>
              <a:lnSpc>
                <a:spcPct val="150000"/>
              </a:lnSpc>
              <a:buNone/>
            </a:pPr>
            <a:r>
              <a:rPr lang="en-US" sz="2600" b="1" dirty="0">
                <a:latin typeface="Calibir"/>
              </a:rPr>
              <a:t>Step 24 — Manager menu</a:t>
            </a:r>
          </a:p>
          <a:p>
            <a:pPr>
              <a:lnSpc>
                <a:spcPct val="150000"/>
              </a:lnSpc>
              <a:buNone/>
            </a:pPr>
            <a:r>
              <a:rPr lang="en-US" sz="2600" dirty="0">
                <a:latin typeface="Calibir"/>
              </a:rPr>
              <a:t>Required options: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600" dirty="0">
                <a:latin typeface="Calibir"/>
              </a:rPr>
              <a:t>a = add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600" dirty="0">
                <a:latin typeface="Calibir"/>
              </a:rPr>
              <a:t>r = remove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600" dirty="0">
                <a:latin typeface="Calibir"/>
              </a:rPr>
              <a:t>s = show one customer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600" dirty="0">
                <a:latin typeface="Calibir"/>
              </a:rPr>
              <a:t>v = view all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600" dirty="0">
                <a:latin typeface="Calibir"/>
              </a:rPr>
              <a:t>x = exit</a:t>
            </a:r>
          </a:p>
        </p:txBody>
      </p:sp>
    </p:spTree>
    <p:extLst>
      <p:ext uri="{BB962C8B-B14F-4D97-AF65-F5344CB8AC3E}">
        <p14:creationId xmlns:p14="http://schemas.microsoft.com/office/powerpoint/2010/main" val="12354752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3704A-E739-F5EC-300F-D587E5101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3CCC3A-3FFC-C30F-1344-79B8C2DDFD56}"/>
              </a:ext>
            </a:extLst>
          </p:cNvPr>
          <p:cNvSpPr txBox="1"/>
          <p:nvPr/>
        </p:nvSpPr>
        <p:spPr>
          <a:xfrm>
            <a:off x="0" y="-1"/>
            <a:ext cx="9149575" cy="6878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Completed Python Manager</a:t>
            </a:r>
          </a:p>
          <a:p>
            <a:pPr>
              <a:lnSpc>
                <a:spcPct val="150000"/>
              </a:lnSpc>
            </a:pPr>
            <a:r>
              <a:rPr lang="en-US" dirty="0"/>
              <a:t>from datetime import datetime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class Manager: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    def __</a:t>
            </a:r>
            <a:r>
              <a:rPr lang="en-US" dirty="0" err="1">
                <a:highlight>
                  <a:srgbClr val="FFFF00"/>
                </a:highlight>
              </a:rPr>
              <a:t>init</a:t>
            </a:r>
            <a:r>
              <a:rPr lang="en-US" dirty="0">
                <a:highlight>
                  <a:srgbClr val="FFFF00"/>
                </a:highlight>
              </a:rPr>
              <a:t>__(self, bank):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        self.name = "John Smith"</a:t>
            </a:r>
          </a:p>
          <a:p>
            <a:r>
              <a:rPr lang="en-US" dirty="0">
                <a:highlight>
                  <a:srgbClr val="FFFF00"/>
                </a:highlight>
              </a:rPr>
              <a:t>        </a:t>
            </a:r>
            <a:r>
              <a:rPr lang="en-US" dirty="0" err="1">
                <a:highlight>
                  <a:srgbClr val="FFFF00"/>
                </a:highlight>
              </a:rPr>
              <a:t>self.bank</a:t>
            </a:r>
            <a:r>
              <a:rPr lang="en-US" dirty="0">
                <a:highlight>
                  <a:srgbClr val="FFFF00"/>
                </a:highlight>
              </a:rPr>
              <a:t> = bank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    def view(self):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        </a:t>
            </a:r>
            <a:r>
              <a:rPr lang="en-US" dirty="0" err="1">
                <a:highlight>
                  <a:srgbClr val="FFFF00"/>
                </a:highlight>
              </a:rPr>
              <a:t>self.bank.view</a:t>
            </a:r>
            <a:r>
              <a:rPr lang="en-US" dirty="0">
                <a:highlight>
                  <a:srgbClr val="FFFF00"/>
                </a:highlight>
              </a:rPr>
              <a:t>()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    def add(self):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        </a:t>
            </a:r>
            <a:r>
              <a:rPr lang="en-US" dirty="0" err="1">
                <a:highlight>
                  <a:srgbClr val="FFFF00"/>
                </a:highlight>
              </a:rPr>
              <a:t>self.bank.add</a:t>
            </a:r>
            <a:r>
              <a:rPr lang="en-US" dirty="0">
                <a:highlight>
                  <a:srgbClr val="FFFF00"/>
                </a:highlight>
              </a:rPr>
              <a:t>()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    def remove(self):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        </a:t>
            </a:r>
            <a:r>
              <a:rPr lang="en-US" dirty="0" err="1">
                <a:highlight>
                  <a:srgbClr val="FFFF00"/>
                </a:highlight>
              </a:rPr>
              <a:t>self.bank.remove</a:t>
            </a:r>
            <a:r>
              <a:rPr lang="en-US" dirty="0">
                <a:highlight>
                  <a:srgbClr val="FFFF00"/>
                </a:highlight>
              </a:rPr>
              <a:t>()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    def show(self):</a:t>
            </a:r>
          </a:p>
        </p:txBody>
      </p:sp>
    </p:spTree>
    <p:extLst>
      <p:ext uri="{BB962C8B-B14F-4D97-AF65-F5344CB8AC3E}">
        <p14:creationId xmlns:p14="http://schemas.microsoft.com/office/powerpoint/2010/main" val="1813699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ECA93-A3B6-70DF-ACF1-5FAFF06DF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ACB209-C4DC-DA7B-5B7C-5847399CCDA3}"/>
              </a:ext>
            </a:extLst>
          </p:cNvPr>
          <p:cNvSpPr txBox="1"/>
          <p:nvPr/>
        </p:nvSpPr>
        <p:spPr>
          <a:xfrm>
            <a:off x="0" y="-1"/>
            <a:ext cx="9149575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self.bank.show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def menu(self):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now =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datetime.now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().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strftime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"%d/%m/%Y - %H:%M:%S"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)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print(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f"{self.name} admin menu: "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f"{now}"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)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while True: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choice = input(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"Manager menu "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"(a/r/s/v/x): "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).lower()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if choice == "a":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self.add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elif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 choice == "r":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self.remove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833918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AB0D3-5D8F-4E40-3F76-9C9D77563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670E01-9D05-8C15-5EA3-51D20040CC6D}"/>
              </a:ext>
            </a:extLst>
          </p:cNvPr>
          <p:cNvSpPr txBox="1"/>
          <p:nvPr/>
        </p:nvSpPr>
        <p:spPr>
          <a:xfrm>
            <a:off x="0" y="-1"/>
            <a:ext cx="914957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elif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 choice == "s":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self.show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elif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 choice == "v":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self.view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elif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 choice == "x":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print(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    "Back to Bank menu"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)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break</a:t>
            </a:r>
          </a:p>
        </p:txBody>
      </p:sp>
    </p:spTree>
    <p:extLst>
      <p:ext uri="{BB962C8B-B14F-4D97-AF65-F5344CB8AC3E}">
        <p14:creationId xmlns:p14="http://schemas.microsoft.com/office/powerpoint/2010/main" val="36852623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54D3F-ECEC-DCFC-6F2C-FFD360602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C2541D-E58D-CD0F-CCA3-DB3B7E7C44F1}"/>
              </a:ext>
            </a:extLst>
          </p:cNvPr>
          <p:cNvSpPr txBox="1"/>
          <p:nvPr/>
        </p:nvSpPr>
        <p:spPr>
          <a:xfrm>
            <a:off x="0" y="-1"/>
            <a:ext cx="9149575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25 — Create Login class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is the major Lab 8 addition.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Login becomes the entry point.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Its menu is: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L = customer login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= manager login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X = exit</a:t>
            </a:r>
          </a:p>
        </p:txBody>
      </p:sp>
    </p:spTree>
    <p:extLst>
      <p:ext uri="{BB962C8B-B14F-4D97-AF65-F5344CB8AC3E}">
        <p14:creationId xmlns:p14="http://schemas.microsoft.com/office/powerpoint/2010/main" val="11254128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91586-5463-F3D0-B5B2-C587D56D0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83FC1B-2B5B-08AC-E237-4BEB99A23FE3}"/>
              </a:ext>
            </a:extLst>
          </p:cNvPr>
          <p:cNvSpPr txBox="1"/>
          <p:nvPr/>
        </p:nvSpPr>
        <p:spPr>
          <a:xfrm>
            <a:off x="0" y="1025911"/>
            <a:ext cx="12192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26 — </a:t>
            </a:r>
            <a:r>
              <a:rPr lang="en-US" sz="2800" b="1" dirty="0" err="1">
                <a:latin typeface="Calibir"/>
              </a:rPr>
              <a:t>read_choice</a:t>
            </a:r>
            <a:r>
              <a:rPr lang="en-US" sz="2800" b="1" dirty="0">
                <a:latin typeface="Calibir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def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read_choice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(self):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return input("Customer menu (L/A/X): ").upper()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sample calls this "Customer menu", although conceptually it is really the Login/Bank entry menu.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 would explain that to students rather than changing the required output</a:t>
            </a:r>
          </a:p>
        </p:txBody>
      </p:sp>
    </p:spTree>
    <p:extLst>
      <p:ext uri="{BB962C8B-B14F-4D97-AF65-F5344CB8AC3E}">
        <p14:creationId xmlns:p14="http://schemas.microsoft.com/office/powerpoint/2010/main" val="31654742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8C540-044E-0051-9FB0-2D48A0929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46073C-3EE0-A42D-8A4D-5118FDC915CD}"/>
              </a:ext>
            </a:extLst>
          </p:cNvPr>
          <p:cNvSpPr txBox="1"/>
          <p:nvPr/>
        </p:nvSpPr>
        <p:spPr>
          <a:xfrm>
            <a:off x="0" y="0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27 — help()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def help(self):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print("L = Log in as a customer")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print("A = Log in as the manager")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print("X = Exit")</a:t>
            </a:r>
          </a:p>
        </p:txBody>
      </p:sp>
    </p:spTree>
    <p:extLst>
      <p:ext uri="{BB962C8B-B14F-4D97-AF65-F5344CB8AC3E}">
        <p14:creationId xmlns:p14="http://schemas.microsoft.com/office/powerpoint/2010/main" val="21313043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827E4-706C-06F5-A2A5-3765B7830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250A85-294E-77F3-186B-D52AA15AA30D}"/>
              </a:ext>
            </a:extLst>
          </p:cNvPr>
          <p:cNvSpPr txBox="1"/>
          <p:nvPr/>
        </p:nvSpPr>
        <p:spPr>
          <a:xfrm>
            <a:off x="0" y="-66906"/>
            <a:ext cx="12192000" cy="7061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Step 29 — main()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Requirement: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Create a Bank object, a Manager object, and start the program.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def main():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    bank = Bank()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    manager = Manager(bank)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    login = Login(bank, manager)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    </a:t>
            </a:r>
            <a:r>
              <a:rPr lang="en-US" sz="2000" dirty="0" err="1">
                <a:latin typeface="Calibir"/>
              </a:rPr>
              <a:t>login.menu</a:t>
            </a:r>
            <a:r>
              <a:rPr lang="en-US" sz="2000" dirty="0">
                <a:latin typeface="Calibir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Notice: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One Bank object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      ↓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same Bank reference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      ↓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Manager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This is important because the Manager must manage the </a:t>
            </a:r>
            <a:r>
              <a:rPr lang="en-US" sz="2000" b="1" dirty="0">
                <a:latin typeface="Calibir"/>
              </a:rPr>
              <a:t>same customer list</a:t>
            </a:r>
            <a:r>
              <a:rPr lang="en-US" sz="2000" dirty="0">
                <a:latin typeface="Calibir"/>
              </a:rPr>
              <a:t>, not a separate copy.</a:t>
            </a:r>
          </a:p>
        </p:txBody>
      </p:sp>
    </p:spTree>
    <p:extLst>
      <p:ext uri="{BB962C8B-B14F-4D97-AF65-F5344CB8AC3E}">
        <p14:creationId xmlns:p14="http://schemas.microsoft.com/office/powerpoint/2010/main" val="37506001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773F1-906E-CBFC-7CE6-BBD3C251D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BD9B58-7CC2-F119-7E63-0393139C8922}"/>
              </a:ext>
            </a:extLst>
          </p:cNvPr>
          <p:cNvSpPr txBox="1"/>
          <p:nvPr/>
        </p:nvSpPr>
        <p:spPr>
          <a:xfrm>
            <a:off x="0" y="-66906"/>
            <a:ext cx="12192000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Completed Python Login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from datetime import datetime</a:t>
            </a:r>
          </a:p>
          <a:p>
            <a:r>
              <a:rPr lang="en-US" dirty="0">
                <a:highlight>
                  <a:srgbClr val="FFFF00"/>
                </a:highlight>
              </a:rPr>
              <a:t>class Login: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    def __</a:t>
            </a:r>
            <a:r>
              <a:rPr lang="en-US" dirty="0" err="1">
                <a:highlight>
                  <a:srgbClr val="FFFF00"/>
                </a:highlight>
              </a:rPr>
              <a:t>init</a:t>
            </a:r>
            <a:r>
              <a:rPr lang="en-US" dirty="0">
                <a:highlight>
                  <a:srgbClr val="FFFF00"/>
                </a:highlight>
              </a:rPr>
              <a:t>__(</a:t>
            </a:r>
          </a:p>
          <a:p>
            <a:r>
              <a:rPr lang="en-US" dirty="0">
                <a:highlight>
                  <a:srgbClr val="FFFF00"/>
                </a:highlight>
              </a:rPr>
              <a:t>            self,</a:t>
            </a:r>
          </a:p>
          <a:p>
            <a:r>
              <a:rPr lang="en-US" dirty="0">
                <a:highlight>
                  <a:srgbClr val="FFFF00"/>
                </a:highlight>
              </a:rPr>
              <a:t>            bank,</a:t>
            </a:r>
          </a:p>
          <a:p>
            <a:r>
              <a:rPr lang="en-US" dirty="0">
                <a:highlight>
                  <a:srgbClr val="FFFF00"/>
                </a:highlight>
              </a:rPr>
              <a:t>            manager):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        </a:t>
            </a:r>
            <a:r>
              <a:rPr lang="en-US" dirty="0" err="1">
                <a:highlight>
                  <a:srgbClr val="FFFF00"/>
                </a:highlight>
              </a:rPr>
              <a:t>self.bank</a:t>
            </a:r>
            <a:r>
              <a:rPr lang="en-US" dirty="0">
                <a:highlight>
                  <a:srgbClr val="FFFF00"/>
                </a:highlight>
              </a:rPr>
              <a:t> = bank</a:t>
            </a:r>
          </a:p>
          <a:p>
            <a:r>
              <a:rPr lang="en-US" dirty="0">
                <a:highlight>
                  <a:srgbClr val="FFFF00"/>
                </a:highlight>
              </a:rPr>
              <a:t>        </a:t>
            </a:r>
            <a:r>
              <a:rPr lang="en-US" dirty="0" err="1">
                <a:highlight>
                  <a:srgbClr val="FFFF00"/>
                </a:highlight>
              </a:rPr>
              <a:t>self.manager</a:t>
            </a:r>
            <a:r>
              <a:rPr lang="en-US" dirty="0">
                <a:highlight>
                  <a:srgbClr val="FFFF00"/>
                </a:highlight>
              </a:rPr>
              <a:t> = manager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    def </a:t>
            </a:r>
            <a:r>
              <a:rPr lang="en-US" dirty="0" err="1">
                <a:highlight>
                  <a:srgbClr val="FFFF00"/>
                </a:highlight>
              </a:rPr>
              <a:t>read_choice</a:t>
            </a:r>
            <a:r>
              <a:rPr lang="en-US" dirty="0">
                <a:highlight>
                  <a:srgbClr val="FFFF00"/>
                </a:highlight>
              </a:rPr>
              <a:t>(self):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        return input(</a:t>
            </a:r>
          </a:p>
          <a:p>
            <a:r>
              <a:rPr lang="en-US" dirty="0">
                <a:highlight>
                  <a:srgbClr val="FFFF00"/>
                </a:highlight>
              </a:rPr>
              <a:t>            "Customer menu "</a:t>
            </a:r>
          </a:p>
          <a:p>
            <a:r>
              <a:rPr lang="en-US" dirty="0">
                <a:highlight>
                  <a:srgbClr val="FFFF00"/>
                </a:highlight>
              </a:rPr>
              <a:t>            "(L/A/X): "</a:t>
            </a:r>
          </a:p>
          <a:p>
            <a:r>
              <a:rPr lang="en-US" dirty="0">
                <a:highlight>
                  <a:srgbClr val="FFFF00"/>
                </a:highlight>
              </a:rPr>
              <a:t>        ).upper()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    def help(self):</a:t>
            </a:r>
          </a:p>
          <a:p>
            <a:r>
              <a:rPr lang="en-US" dirty="0">
                <a:highlight>
                  <a:srgbClr val="FFFF00"/>
                </a:highlight>
              </a:rPr>
              <a:t>        print(</a:t>
            </a:r>
          </a:p>
          <a:p>
            <a:r>
              <a:rPr lang="en-US" dirty="0">
                <a:highlight>
                  <a:srgbClr val="FFFF00"/>
                </a:highlight>
              </a:rPr>
              <a:t>            "L = Log in as a customer."</a:t>
            </a:r>
          </a:p>
          <a:p>
            <a:r>
              <a:rPr lang="en-US" dirty="0">
                <a:highlight>
                  <a:srgbClr val="FFFF00"/>
                </a:highlight>
              </a:rPr>
              <a:t>        )</a:t>
            </a:r>
          </a:p>
        </p:txBody>
      </p:sp>
    </p:spTree>
    <p:extLst>
      <p:ext uri="{BB962C8B-B14F-4D97-AF65-F5344CB8AC3E}">
        <p14:creationId xmlns:p14="http://schemas.microsoft.com/office/powerpoint/2010/main" val="26034878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83B09-EF8B-0760-179A-68596506D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6BC85-6E32-9438-B78E-D692E00DABE6}"/>
              </a:ext>
            </a:extLst>
          </p:cNvPr>
          <p:cNvSpPr txBox="1"/>
          <p:nvPr/>
        </p:nvSpPr>
        <p:spPr>
          <a:xfrm>
            <a:off x="0" y="-66906"/>
            <a:ext cx="121920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        print(</a:t>
            </a:r>
          </a:p>
          <a:p>
            <a:r>
              <a:rPr lang="en-US" sz="2400" dirty="0">
                <a:highlight>
                  <a:srgbClr val="FFFF00"/>
                </a:highlight>
              </a:rPr>
              <a:t>            "A = Log in as the manager."</a:t>
            </a:r>
          </a:p>
          <a:p>
            <a:r>
              <a:rPr lang="en-US" sz="2400" dirty="0">
                <a:highlight>
                  <a:srgbClr val="FFFF00"/>
                </a:highlight>
              </a:rPr>
              <a:t>        )</a:t>
            </a:r>
          </a:p>
          <a:p>
            <a:endParaRPr lang="en-US" sz="2400" dirty="0">
              <a:highlight>
                <a:srgbClr val="FFFF00"/>
              </a:highlight>
            </a:endParaRPr>
          </a:p>
          <a:p>
            <a:r>
              <a:rPr lang="en-US" sz="2400" dirty="0">
                <a:highlight>
                  <a:srgbClr val="FFFF00"/>
                </a:highlight>
              </a:rPr>
              <a:t>        print(</a:t>
            </a:r>
          </a:p>
          <a:p>
            <a:r>
              <a:rPr lang="en-US" sz="2400" dirty="0">
                <a:highlight>
                  <a:srgbClr val="FFFF00"/>
                </a:highlight>
              </a:rPr>
              <a:t>            "X = Exit."</a:t>
            </a:r>
          </a:p>
          <a:p>
            <a:r>
              <a:rPr lang="en-US" sz="2400" dirty="0">
                <a:highlight>
                  <a:srgbClr val="FFFF00"/>
                </a:highlight>
              </a:rPr>
              <a:t>        )</a:t>
            </a:r>
          </a:p>
          <a:p>
            <a:endParaRPr lang="en-US" sz="2400" dirty="0">
              <a:highlight>
                <a:srgbClr val="FFFF00"/>
              </a:highlight>
            </a:endParaRPr>
          </a:p>
          <a:p>
            <a:r>
              <a:rPr lang="en-US" sz="2400" dirty="0">
                <a:highlight>
                  <a:srgbClr val="FFFF00"/>
                </a:highlight>
              </a:rPr>
              <a:t>    def menu(self):</a:t>
            </a:r>
          </a:p>
          <a:p>
            <a:endParaRPr lang="en-US" sz="2400" dirty="0">
              <a:highlight>
                <a:srgbClr val="FFFF00"/>
              </a:highlight>
            </a:endParaRPr>
          </a:p>
          <a:p>
            <a:r>
              <a:rPr lang="en-US" sz="2400" dirty="0">
                <a:highlight>
                  <a:srgbClr val="FFFF00"/>
                </a:highlight>
              </a:rPr>
              <a:t>        now = </a:t>
            </a:r>
            <a:r>
              <a:rPr lang="en-US" sz="2400" dirty="0" err="1">
                <a:highlight>
                  <a:srgbClr val="FFFF00"/>
                </a:highlight>
              </a:rPr>
              <a:t>datetime.now</a:t>
            </a:r>
            <a:r>
              <a:rPr lang="en-US" sz="2400" dirty="0">
                <a:highlight>
                  <a:srgbClr val="FFFF00"/>
                </a:highlight>
              </a:rPr>
              <a:t>().</a:t>
            </a:r>
            <a:r>
              <a:rPr lang="en-US" sz="2400" dirty="0" err="1">
                <a:highlight>
                  <a:srgbClr val="FFFF00"/>
                </a:highlight>
              </a:rPr>
              <a:t>strftime</a:t>
            </a:r>
            <a:r>
              <a:rPr lang="en-US" sz="2400" dirty="0">
                <a:highlight>
                  <a:srgbClr val="FFFF00"/>
                </a:highlight>
              </a:rPr>
              <a:t>(</a:t>
            </a:r>
          </a:p>
          <a:p>
            <a:r>
              <a:rPr lang="en-US" sz="2400" dirty="0">
                <a:highlight>
                  <a:srgbClr val="FFFF00"/>
                </a:highlight>
              </a:rPr>
              <a:t>            "%d/%m/%Y - %H:%M:%S"</a:t>
            </a:r>
          </a:p>
          <a:p>
            <a:r>
              <a:rPr lang="en-US" sz="2400" dirty="0">
                <a:highlight>
                  <a:srgbClr val="FFFF00"/>
                </a:highlight>
              </a:rPr>
              <a:t>        )</a:t>
            </a:r>
          </a:p>
          <a:p>
            <a:endParaRPr lang="en-US" sz="2400" dirty="0">
              <a:highlight>
                <a:srgbClr val="FFFF00"/>
              </a:highlight>
            </a:endParaRPr>
          </a:p>
          <a:p>
            <a:r>
              <a:rPr lang="en-US" sz="2400" dirty="0">
                <a:highlight>
                  <a:srgbClr val="FFFF00"/>
                </a:highlight>
              </a:rPr>
              <a:t>        print(</a:t>
            </a:r>
          </a:p>
          <a:p>
            <a:r>
              <a:rPr lang="en-US" sz="2400" dirty="0">
                <a:highlight>
                  <a:srgbClr val="FFFF00"/>
                </a:highlight>
              </a:rPr>
              <a:t>            </a:t>
            </a:r>
            <a:r>
              <a:rPr lang="en-US" sz="2400" dirty="0" err="1">
                <a:highlight>
                  <a:srgbClr val="FFFF00"/>
                </a:highlight>
              </a:rPr>
              <a:t>f"Bank</a:t>
            </a:r>
            <a:r>
              <a:rPr lang="en-US" sz="2400" dirty="0">
                <a:highlight>
                  <a:srgbClr val="FFFF00"/>
                </a:highlight>
              </a:rPr>
              <a:t> menu: {now}"</a:t>
            </a:r>
          </a:p>
          <a:p>
            <a:r>
              <a:rPr lang="en-US" sz="2400" dirty="0">
                <a:highlight>
                  <a:srgbClr val="FFFF00"/>
                </a:highlight>
              </a:rPr>
              <a:t>        )</a:t>
            </a:r>
          </a:p>
        </p:txBody>
      </p:sp>
    </p:spTree>
    <p:extLst>
      <p:ext uri="{BB962C8B-B14F-4D97-AF65-F5344CB8AC3E}">
        <p14:creationId xmlns:p14="http://schemas.microsoft.com/office/powerpoint/2010/main" val="17701668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82772-1179-86B3-EB97-82C5F56DE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8A9C50-CBF0-E2E1-9FCC-2791FF5337F7}"/>
              </a:ext>
            </a:extLst>
          </p:cNvPr>
          <p:cNvSpPr txBox="1"/>
          <p:nvPr/>
        </p:nvSpPr>
        <p:spPr>
          <a:xfrm>
            <a:off x="0" y="-66906"/>
            <a:ext cx="121920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        while True:</a:t>
            </a:r>
          </a:p>
          <a:p>
            <a:endParaRPr lang="en-US" sz="2400" dirty="0">
              <a:highlight>
                <a:srgbClr val="FFFF00"/>
              </a:highlight>
            </a:endParaRPr>
          </a:p>
          <a:p>
            <a:r>
              <a:rPr lang="en-US" sz="2400" dirty="0">
                <a:highlight>
                  <a:srgbClr val="FFFF00"/>
                </a:highlight>
              </a:rPr>
              <a:t>            choice = </a:t>
            </a:r>
            <a:r>
              <a:rPr lang="en-US" sz="2400" dirty="0" err="1">
                <a:highlight>
                  <a:srgbClr val="FFFF00"/>
                </a:highlight>
              </a:rPr>
              <a:t>self.read_choice</a:t>
            </a:r>
            <a:r>
              <a:rPr lang="en-US" sz="2400" dirty="0">
                <a:highlight>
                  <a:srgbClr val="FFFF00"/>
                </a:highlight>
              </a:rPr>
              <a:t>()</a:t>
            </a:r>
          </a:p>
          <a:p>
            <a:endParaRPr lang="en-US" sz="2400" dirty="0">
              <a:highlight>
                <a:srgbClr val="FFFF00"/>
              </a:highlight>
            </a:endParaRPr>
          </a:p>
          <a:p>
            <a:r>
              <a:rPr lang="en-US" sz="2400" dirty="0">
                <a:highlight>
                  <a:srgbClr val="FFFF00"/>
                </a:highlight>
              </a:rPr>
              <a:t>            if choice == "L":</a:t>
            </a:r>
          </a:p>
          <a:p>
            <a:endParaRPr lang="en-US" sz="2400" dirty="0">
              <a:highlight>
                <a:srgbClr val="FFFF00"/>
              </a:highlight>
            </a:endParaRPr>
          </a:p>
          <a:p>
            <a:r>
              <a:rPr lang="en-US" sz="2400" dirty="0">
                <a:highlight>
                  <a:srgbClr val="FFFF00"/>
                </a:highlight>
              </a:rPr>
              <a:t>                </a:t>
            </a:r>
            <a:r>
              <a:rPr lang="en-US" sz="2400" dirty="0" err="1">
                <a:highlight>
                  <a:srgbClr val="FFFF00"/>
                </a:highlight>
              </a:rPr>
              <a:t>self.bank.customer_login</a:t>
            </a:r>
            <a:r>
              <a:rPr lang="en-US" sz="2400" dirty="0">
                <a:highlight>
                  <a:srgbClr val="FFFF00"/>
                </a:highlight>
              </a:rPr>
              <a:t>()</a:t>
            </a:r>
          </a:p>
          <a:p>
            <a:endParaRPr lang="en-US" sz="2400" dirty="0">
              <a:highlight>
                <a:srgbClr val="FFFF00"/>
              </a:highlight>
            </a:endParaRPr>
          </a:p>
          <a:p>
            <a:r>
              <a:rPr lang="en-US" sz="2400" dirty="0">
                <a:highlight>
                  <a:srgbClr val="FFFF00"/>
                </a:highlight>
              </a:rPr>
              <a:t>            </a:t>
            </a:r>
            <a:r>
              <a:rPr lang="en-US" sz="2400" dirty="0" err="1">
                <a:highlight>
                  <a:srgbClr val="FFFF00"/>
                </a:highlight>
              </a:rPr>
              <a:t>elif</a:t>
            </a:r>
            <a:r>
              <a:rPr lang="en-US" sz="2400" dirty="0">
                <a:highlight>
                  <a:srgbClr val="FFFF00"/>
                </a:highlight>
              </a:rPr>
              <a:t> choice == "A":</a:t>
            </a:r>
          </a:p>
          <a:p>
            <a:endParaRPr lang="en-US" sz="2400" dirty="0">
              <a:highlight>
                <a:srgbClr val="FFFF00"/>
              </a:highlight>
            </a:endParaRPr>
          </a:p>
          <a:p>
            <a:r>
              <a:rPr lang="en-US" sz="2400" dirty="0">
                <a:highlight>
                  <a:srgbClr val="FFFF00"/>
                </a:highlight>
              </a:rPr>
              <a:t>                </a:t>
            </a:r>
            <a:r>
              <a:rPr lang="en-US" sz="2400" dirty="0" err="1">
                <a:highlight>
                  <a:srgbClr val="FFFF00"/>
                </a:highlight>
              </a:rPr>
              <a:t>self.manager.menu</a:t>
            </a:r>
            <a:r>
              <a:rPr lang="en-US" sz="2400" dirty="0">
                <a:highlight>
                  <a:srgbClr val="FFFF00"/>
                </a:highlight>
              </a:rPr>
              <a:t>()</a:t>
            </a:r>
          </a:p>
          <a:p>
            <a:endParaRPr lang="en-US" sz="2400" dirty="0">
              <a:highlight>
                <a:srgbClr val="FFFF00"/>
              </a:highlight>
            </a:endParaRPr>
          </a:p>
          <a:p>
            <a:r>
              <a:rPr lang="en-US" sz="2400" dirty="0">
                <a:highlight>
                  <a:srgbClr val="FFFF00"/>
                </a:highlight>
              </a:rPr>
              <a:t>            </a:t>
            </a:r>
            <a:r>
              <a:rPr lang="en-US" sz="2400" dirty="0" err="1">
                <a:highlight>
                  <a:srgbClr val="FFFF00"/>
                </a:highlight>
              </a:rPr>
              <a:t>elif</a:t>
            </a:r>
            <a:r>
              <a:rPr lang="en-US" sz="2400" dirty="0">
                <a:highlight>
                  <a:srgbClr val="FFFF00"/>
                </a:highlight>
              </a:rPr>
              <a:t> choice == "X":</a:t>
            </a:r>
          </a:p>
          <a:p>
            <a:endParaRPr lang="en-US" sz="2400" dirty="0">
              <a:highlight>
                <a:srgbClr val="FFFF00"/>
              </a:highlight>
            </a:endParaRPr>
          </a:p>
          <a:p>
            <a:r>
              <a:rPr lang="en-US" sz="2400" dirty="0">
                <a:highlight>
                  <a:srgbClr val="FFFF00"/>
                </a:highlight>
              </a:rPr>
              <a:t>                print("Done")</a:t>
            </a:r>
          </a:p>
          <a:p>
            <a:endParaRPr lang="en-US" sz="2400" dirty="0">
              <a:highlight>
                <a:srgbClr val="FFFF00"/>
              </a:highlight>
            </a:endParaRPr>
          </a:p>
          <a:p>
            <a:r>
              <a:rPr lang="en-US" sz="2400" dirty="0">
                <a:highlight>
                  <a:srgbClr val="FFFF00"/>
                </a:highlight>
              </a:rPr>
              <a:t>                break</a:t>
            </a:r>
          </a:p>
        </p:txBody>
      </p:sp>
    </p:spTree>
    <p:extLst>
      <p:ext uri="{BB962C8B-B14F-4D97-AF65-F5344CB8AC3E}">
        <p14:creationId xmlns:p14="http://schemas.microsoft.com/office/powerpoint/2010/main" val="21785429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A0831-7731-25B1-07C9-E3EC60D79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D40DC6-5CCD-84A2-AA57-2179E72845D9}"/>
              </a:ext>
            </a:extLst>
          </p:cNvPr>
          <p:cNvSpPr txBox="1"/>
          <p:nvPr/>
        </p:nvSpPr>
        <p:spPr>
          <a:xfrm>
            <a:off x="0" y="-66906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            else:</a:t>
            </a:r>
          </a:p>
          <a:p>
            <a:r>
              <a:rPr lang="en-US" sz="2400" dirty="0">
                <a:highlight>
                  <a:srgbClr val="FFFF00"/>
                </a:highlight>
              </a:rPr>
              <a:t>                </a:t>
            </a:r>
            <a:r>
              <a:rPr lang="en-US" sz="2400" dirty="0" err="1">
                <a:highlight>
                  <a:srgbClr val="FFFF00"/>
                </a:highlight>
              </a:rPr>
              <a:t>self.help</a:t>
            </a:r>
            <a:r>
              <a:rPr lang="en-US" sz="2400" dirty="0">
                <a:highlight>
                  <a:srgbClr val="FFFF00"/>
                </a:highlight>
              </a:rPr>
              <a:t>()</a:t>
            </a:r>
          </a:p>
          <a:p>
            <a:r>
              <a:rPr lang="en-US" sz="2400" dirty="0">
                <a:highlight>
                  <a:srgbClr val="FFFF00"/>
                </a:highlight>
              </a:rPr>
              <a:t>def main():</a:t>
            </a:r>
          </a:p>
          <a:p>
            <a:r>
              <a:rPr lang="en-US" sz="2400" dirty="0">
                <a:highlight>
                  <a:srgbClr val="FFFF00"/>
                </a:highlight>
              </a:rPr>
              <a:t>    bank = Bank()</a:t>
            </a:r>
          </a:p>
          <a:p>
            <a:r>
              <a:rPr lang="en-US" sz="2400" dirty="0">
                <a:highlight>
                  <a:srgbClr val="FFFF00"/>
                </a:highlight>
              </a:rPr>
              <a:t>    manager = Manager(</a:t>
            </a:r>
          </a:p>
          <a:p>
            <a:r>
              <a:rPr lang="en-US" sz="2400" dirty="0">
                <a:highlight>
                  <a:srgbClr val="FFFF00"/>
                </a:highlight>
              </a:rPr>
              <a:t>        bank</a:t>
            </a:r>
          </a:p>
          <a:p>
            <a:r>
              <a:rPr lang="en-US" sz="2400" dirty="0">
                <a:highlight>
                  <a:srgbClr val="FFFF00"/>
                </a:highlight>
              </a:rPr>
              <a:t>    )</a:t>
            </a:r>
          </a:p>
          <a:p>
            <a:endParaRPr lang="en-US" sz="2400" dirty="0">
              <a:highlight>
                <a:srgbClr val="FFFF00"/>
              </a:highlight>
            </a:endParaRPr>
          </a:p>
          <a:p>
            <a:r>
              <a:rPr lang="en-US" sz="2400" dirty="0">
                <a:highlight>
                  <a:srgbClr val="FFFF00"/>
                </a:highlight>
              </a:rPr>
              <a:t>    login = Login(</a:t>
            </a:r>
          </a:p>
          <a:p>
            <a:r>
              <a:rPr lang="en-US" sz="2400" dirty="0">
                <a:highlight>
                  <a:srgbClr val="FFFF00"/>
                </a:highlight>
              </a:rPr>
              <a:t>        bank,</a:t>
            </a:r>
          </a:p>
          <a:p>
            <a:r>
              <a:rPr lang="en-US" sz="2400" dirty="0">
                <a:highlight>
                  <a:srgbClr val="FFFF00"/>
                </a:highlight>
              </a:rPr>
              <a:t>        manager</a:t>
            </a:r>
          </a:p>
          <a:p>
            <a:r>
              <a:rPr lang="en-US" sz="2400" dirty="0">
                <a:highlight>
                  <a:srgbClr val="FFFF00"/>
                </a:highlight>
              </a:rPr>
              <a:t>    )</a:t>
            </a:r>
          </a:p>
          <a:p>
            <a:endParaRPr lang="en-US" sz="2400" dirty="0">
              <a:highlight>
                <a:srgbClr val="FFFF00"/>
              </a:highlight>
            </a:endParaRPr>
          </a:p>
          <a:p>
            <a:r>
              <a:rPr lang="en-US" sz="2400" dirty="0">
                <a:highlight>
                  <a:srgbClr val="FFFF00"/>
                </a:highlight>
              </a:rPr>
              <a:t>    </a:t>
            </a:r>
            <a:r>
              <a:rPr lang="en-US" sz="2400" dirty="0" err="1">
                <a:highlight>
                  <a:srgbClr val="FFFF00"/>
                </a:highlight>
              </a:rPr>
              <a:t>login.menu</a:t>
            </a:r>
            <a:r>
              <a:rPr lang="en-US" sz="2400" dirty="0">
                <a:highlight>
                  <a:srgbClr val="FFFF00"/>
                </a:highlight>
              </a:rPr>
              <a:t>()</a:t>
            </a:r>
          </a:p>
          <a:p>
            <a:endParaRPr lang="en-US" sz="2400" dirty="0">
              <a:highlight>
                <a:srgbClr val="FFFF00"/>
              </a:highlight>
            </a:endParaRPr>
          </a:p>
          <a:p>
            <a:endParaRPr lang="en-US" sz="2400" dirty="0">
              <a:highlight>
                <a:srgbClr val="FFFF00"/>
              </a:highlight>
            </a:endParaRPr>
          </a:p>
          <a:p>
            <a:r>
              <a:rPr lang="en-US" sz="2400" dirty="0">
                <a:highlight>
                  <a:srgbClr val="FFFF00"/>
                </a:highlight>
              </a:rPr>
              <a:t>if __name__ == "__main__":</a:t>
            </a:r>
          </a:p>
          <a:p>
            <a:r>
              <a:rPr lang="en-US" sz="2400" dirty="0">
                <a:highlight>
                  <a:srgbClr val="FFFF00"/>
                </a:highlight>
              </a:rPr>
              <a:t>    main()</a:t>
            </a:r>
          </a:p>
        </p:txBody>
      </p:sp>
    </p:spTree>
    <p:extLst>
      <p:ext uri="{BB962C8B-B14F-4D97-AF65-F5344CB8AC3E}">
        <p14:creationId xmlns:p14="http://schemas.microsoft.com/office/powerpoint/2010/main" val="30768224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01227-0BA1-3F4B-CAB3-8F6E03E47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E15ED5-9379-6268-D3E9-BB95E02DC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1797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43919-592C-219D-2F37-71624DB86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901937-94D3-D3FC-AF91-D9C77BC7218B}"/>
              </a:ext>
            </a:extLst>
          </p:cNvPr>
          <p:cNvSpPr txBox="1"/>
          <p:nvPr/>
        </p:nvSpPr>
        <p:spPr>
          <a:xfrm>
            <a:off x="0" y="0"/>
            <a:ext cx="1219943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Java Version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For Java, I strongly recommend separate files: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Account.java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Customer.java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Bank.java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Manager.java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Login.java</a:t>
            </a:r>
          </a:p>
        </p:txBody>
      </p:sp>
    </p:spTree>
    <p:extLst>
      <p:ext uri="{BB962C8B-B14F-4D97-AF65-F5344CB8AC3E}">
        <p14:creationId xmlns:p14="http://schemas.microsoft.com/office/powerpoint/2010/main" val="19705133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CEDE8-BA41-355B-6821-B127CF561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B05599-CCE8-21C8-666D-055F5E820B8D}"/>
              </a:ext>
            </a:extLst>
          </p:cNvPr>
          <p:cNvSpPr txBox="1"/>
          <p:nvPr/>
        </p:nvSpPr>
        <p:spPr>
          <a:xfrm>
            <a:off x="0" y="0"/>
            <a:ext cx="12199434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ir"/>
              </a:rPr>
              <a:t>Java Step 1 — Bank stores an </a:t>
            </a:r>
            <a:r>
              <a:rPr lang="en-US" b="1" dirty="0" err="1">
                <a:latin typeface="Calibir"/>
              </a:rPr>
              <a:t>ArrayList</a:t>
            </a:r>
            <a:r>
              <a:rPr lang="en-US" b="1" dirty="0">
                <a:latin typeface="Calibir"/>
              </a:rPr>
              <a:t> of Customers</a:t>
            </a:r>
          </a:p>
          <a:p>
            <a:r>
              <a:rPr lang="en-US" dirty="0">
                <a:latin typeface="Calibir"/>
              </a:rPr>
              <a:t>private </a:t>
            </a:r>
            <a:r>
              <a:rPr lang="en-US" dirty="0" err="1">
                <a:latin typeface="Calibir"/>
              </a:rPr>
              <a:t>ArrayList</a:t>
            </a:r>
            <a:r>
              <a:rPr lang="en-US" dirty="0">
                <a:latin typeface="Calibir"/>
              </a:rPr>
              <a:t>&lt;Customer&gt; customers;</a:t>
            </a:r>
          </a:p>
          <a:p>
            <a:r>
              <a:rPr lang="en-US" dirty="0">
                <a:latin typeface="Calibir"/>
              </a:rPr>
              <a:t>Constructor:</a:t>
            </a:r>
          </a:p>
          <a:p>
            <a:r>
              <a:rPr lang="en-US" dirty="0">
                <a:latin typeface="Calibir"/>
              </a:rPr>
              <a:t>public Bank(Scanner input) {</a:t>
            </a:r>
          </a:p>
          <a:p>
            <a:r>
              <a:rPr lang="en-US" dirty="0">
                <a:latin typeface="Calibir"/>
              </a:rPr>
              <a:t>    customers =</a:t>
            </a:r>
          </a:p>
          <a:p>
            <a:r>
              <a:rPr lang="en-US" dirty="0">
                <a:latin typeface="Calibir"/>
              </a:rPr>
              <a:t>            new </a:t>
            </a:r>
            <a:r>
              <a:rPr lang="en-US" dirty="0" err="1">
                <a:latin typeface="Calibir"/>
              </a:rPr>
              <a:t>ArrayList</a:t>
            </a:r>
            <a:r>
              <a:rPr lang="en-US" dirty="0">
                <a:latin typeface="Calibir"/>
              </a:rPr>
              <a:t>&lt;&gt;();</a:t>
            </a:r>
          </a:p>
          <a:p>
            <a:r>
              <a:rPr lang="en-US" dirty="0">
                <a:latin typeface="Calibir"/>
              </a:rPr>
              <a:t>    </a:t>
            </a:r>
            <a:r>
              <a:rPr lang="en-US" dirty="0" err="1">
                <a:latin typeface="Calibir"/>
              </a:rPr>
              <a:t>customers.add</a:t>
            </a:r>
            <a:r>
              <a:rPr lang="en-US" dirty="0">
                <a:latin typeface="Calibir"/>
              </a:rPr>
              <a:t>(</a:t>
            </a:r>
          </a:p>
          <a:p>
            <a:r>
              <a:rPr lang="en-US" dirty="0">
                <a:latin typeface="Calibir"/>
              </a:rPr>
              <a:t>        new Customer(</a:t>
            </a:r>
          </a:p>
          <a:p>
            <a:r>
              <a:rPr lang="en-US" dirty="0">
                <a:latin typeface="Calibir"/>
              </a:rPr>
              <a:t>            "Lin",</a:t>
            </a:r>
          </a:p>
          <a:p>
            <a:r>
              <a:rPr lang="en-US" dirty="0">
                <a:latin typeface="Calibir"/>
              </a:rPr>
              <a:t>            input</a:t>
            </a:r>
          </a:p>
          <a:p>
            <a:r>
              <a:rPr lang="en-US" dirty="0">
                <a:latin typeface="Calibir"/>
              </a:rPr>
              <a:t>        )</a:t>
            </a:r>
          </a:p>
          <a:p>
            <a:r>
              <a:rPr lang="en-US" dirty="0">
                <a:latin typeface="Calibir"/>
              </a:rPr>
              <a:t>    );</a:t>
            </a:r>
          </a:p>
          <a:p>
            <a:r>
              <a:rPr lang="en-US" dirty="0">
                <a:latin typeface="Calibir"/>
              </a:rPr>
              <a:t>    </a:t>
            </a:r>
            <a:r>
              <a:rPr lang="en-US" dirty="0" err="1">
                <a:latin typeface="Calibir"/>
              </a:rPr>
              <a:t>customers.add</a:t>
            </a:r>
            <a:r>
              <a:rPr lang="en-US" dirty="0">
                <a:latin typeface="Calibir"/>
              </a:rPr>
              <a:t>(</a:t>
            </a:r>
          </a:p>
          <a:p>
            <a:r>
              <a:rPr lang="en-US" dirty="0">
                <a:latin typeface="Calibir"/>
              </a:rPr>
              <a:t>        new Customer(</a:t>
            </a:r>
          </a:p>
          <a:p>
            <a:r>
              <a:rPr lang="en-US" dirty="0">
                <a:latin typeface="Calibir"/>
              </a:rPr>
              <a:t>            "Paul",</a:t>
            </a:r>
          </a:p>
          <a:p>
            <a:r>
              <a:rPr lang="en-US" dirty="0">
                <a:latin typeface="Calibir"/>
              </a:rPr>
              <a:t>            input</a:t>
            </a:r>
          </a:p>
          <a:p>
            <a:r>
              <a:rPr lang="en-US" dirty="0">
                <a:latin typeface="Calibir"/>
              </a:rPr>
              <a:t>        )</a:t>
            </a:r>
          </a:p>
          <a:p>
            <a:r>
              <a:rPr lang="en-US" dirty="0">
                <a:latin typeface="Calibir"/>
              </a:rPr>
              <a:t>    );</a:t>
            </a:r>
          </a:p>
          <a:p>
            <a:r>
              <a:rPr lang="en-US" dirty="0">
                <a:latin typeface="Calibir"/>
              </a:rPr>
              <a:t>    </a:t>
            </a:r>
            <a:r>
              <a:rPr lang="en-US" dirty="0" err="1">
                <a:latin typeface="Calibir"/>
              </a:rPr>
              <a:t>customers.add</a:t>
            </a:r>
            <a:r>
              <a:rPr lang="en-US" dirty="0">
                <a:latin typeface="Calibir"/>
              </a:rPr>
              <a:t>(</a:t>
            </a:r>
          </a:p>
          <a:p>
            <a:r>
              <a:rPr lang="en-US" dirty="0">
                <a:latin typeface="Calibir"/>
              </a:rPr>
              <a:t>        new Customer(</a:t>
            </a:r>
          </a:p>
          <a:p>
            <a:r>
              <a:rPr lang="en-US" dirty="0">
                <a:latin typeface="Calibir"/>
              </a:rPr>
              <a:t>            "Alex",</a:t>
            </a:r>
          </a:p>
          <a:p>
            <a:r>
              <a:rPr lang="en-US" dirty="0">
                <a:latin typeface="Calibir"/>
              </a:rPr>
              <a:t>            input</a:t>
            </a:r>
          </a:p>
          <a:p>
            <a:r>
              <a:rPr lang="en-US" dirty="0">
                <a:latin typeface="Calibir"/>
              </a:rPr>
              <a:t>        )</a:t>
            </a:r>
          </a:p>
          <a:p>
            <a:r>
              <a:rPr lang="en-US" dirty="0">
                <a:latin typeface="Calibir"/>
              </a:rPr>
              <a:t>    );</a:t>
            </a:r>
          </a:p>
          <a:p>
            <a:r>
              <a:rPr lang="en-US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845492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3CDFA-021F-E8D2-30D7-CD32E0AA4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0A70D2-AF90-1D65-992C-8D32F8A8E189}"/>
              </a:ext>
            </a:extLst>
          </p:cNvPr>
          <p:cNvSpPr txBox="1"/>
          <p:nvPr/>
        </p:nvSpPr>
        <p:spPr>
          <a:xfrm>
            <a:off x="0" y="0"/>
            <a:ext cx="12199434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Java Step 2 — Read customer name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public String </a:t>
            </a:r>
            <a:r>
              <a:rPr lang="en-US" sz="2800" dirty="0" err="1">
                <a:latin typeface="Calibir"/>
              </a:rPr>
              <a:t>readName</a:t>
            </a:r>
            <a:r>
              <a:rPr lang="en-US" sz="28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Scanner input) {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</a:t>
            </a:r>
            <a:r>
              <a:rPr lang="en-US" sz="2800" dirty="0" err="1">
                <a:latin typeface="Calibir"/>
              </a:rPr>
              <a:t>System.out.print</a:t>
            </a:r>
            <a:r>
              <a:rPr lang="en-US" sz="28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"Enter Customer Name: "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);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return </a:t>
            </a:r>
            <a:r>
              <a:rPr lang="en-US" sz="2800" dirty="0" err="1">
                <a:latin typeface="Calibir"/>
              </a:rPr>
              <a:t>input.nextLine</a:t>
            </a:r>
            <a:r>
              <a:rPr lang="en-US" sz="28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394348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D3541-504A-D6AB-0C5C-0B75741A1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9C953D-C4FC-2668-3ED1-FDF894A90925}"/>
              </a:ext>
            </a:extLst>
          </p:cNvPr>
          <p:cNvSpPr txBox="1"/>
          <p:nvPr/>
        </p:nvSpPr>
        <p:spPr>
          <a:xfrm>
            <a:off x="0" y="0"/>
            <a:ext cx="12199434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ir"/>
              </a:rPr>
              <a:t>Java Step 3 — Find customer</a:t>
            </a:r>
          </a:p>
          <a:p>
            <a:r>
              <a:rPr lang="en-US" sz="2800" dirty="0">
                <a:latin typeface="Calibir"/>
              </a:rPr>
              <a:t>public Customer find(</a:t>
            </a:r>
          </a:p>
          <a:p>
            <a:r>
              <a:rPr lang="en-US" sz="2800" dirty="0">
                <a:latin typeface="Calibir"/>
              </a:rPr>
              <a:t>        String name) {</a:t>
            </a:r>
          </a:p>
          <a:p>
            <a:r>
              <a:rPr lang="en-US" sz="2800" dirty="0">
                <a:latin typeface="Calibir"/>
              </a:rPr>
              <a:t>    for (</a:t>
            </a:r>
          </a:p>
          <a:p>
            <a:r>
              <a:rPr lang="en-US" sz="2800" dirty="0">
                <a:latin typeface="Calibir"/>
              </a:rPr>
              <a:t>        Customer </a:t>
            </a:r>
            <a:r>
              <a:rPr lang="en-US" sz="2800" dirty="0" err="1">
                <a:latin typeface="Calibir"/>
              </a:rPr>
              <a:t>customer</a:t>
            </a:r>
            <a:endParaRPr lang="en-US" sz="2800" dirty="0">
              <a:latin typeface="Calibir"/>
            </a:endParaRPr>
          </a:p>
          <a:p>
            <a:r>
              <a:rPr lang="en-US" sz="2800" dirty="0">
                <a:latin typeface="Calibir"/>
              </a:rPr>
              <a:t>        : customers</a:t>
            </a:r>
          </a:p>
          <a:p>
            <a:r>
              <a:rPr lang="en-US" sz="2800" dirty="0">
                <a:latin typeface="Calibir"/>
              </a:rPr>
              <a:t>    ) {</a:t>
            </a:r>
          </a:p>
          <a:p>
            <a:r>
              <a:rPr lang="en-US" sz="2800" dirty="0">
                <a:latin typeface="Calibir"/>
              </a:rPr>
              <a:t>        if (</a:t>
            </a:r>
          </a:p>
          <a:p>
            <a:r>
              <a:rPr lang="en-US" sz="2800" dirty="0">
                <a:latin typeface="Calibir"/>
              </a:rPr>
              <a:t>            </a:t>
            </a:r>
            <a:r>
              <a:rPr lang="en-US" sz="2800" dirty="0" err="1">
                <a:latin typeface="Calibir"/>
              </a:rPr>
              <a:t>customer.matches</a:t>
            </a:r>
            <a:r>
              <a:rPr lang="en-US" sz="2800" dirty="0">
                <a:latin typeface="Calibir"/>
              </a:rPr>
              <a:t>(name)</a:t>
            </a:r>
          </a:p>
          <a:p>
            <a:r>
              <a:rPr lang="en-US" sz="2800" dirty="0">
                <a:latin typeface="Calibir"/>
              </a:rPr>
              <a:t>        ) {</a:t>
            </a:r>
          </a:p>
          <a:p>
            <a:r>
              <a:rPr lang="en-US" sz="2800" dirty="0">
                <a:latin typeface="Calibir"/>
              </a:rPr>
              <a:t>            return customer;</a:t>
            </a:r>
          </a:p>
          <a:p>
            <a:r>
              <a:rPr lang="en-US" sz="2800" dirty="0">
                <a:latin typeface="Calibir"/>
              </a:rPr>
              <a:t>        }</a:t>
            </a:r>
          </a:p>
          <a:p>
            <a:r>
              <a:rPr lang="en-US" sz="2800" dirty="0">
                <a:latin typeface="Calibir"/>
              </a:rPr>
              <a:t>    }</a:t>
            </a:r>
          </a:p>
          <a:p>
            <a:endParaRPr lang="en-US" sz="2800" dirty="0">
              <a:latin typeface="Calibir"/>
            </a:endParaRPr>
          </a:p>
          <a:p>
            <a:r>
              <a:rPr lang="en-US" sz="2800" dirty="0">
                <a:latin typeface="Calibir"/>
              </a:rPr>
              <a:t>    return null;</a:t>
            </a:r>
          </a:p>
          <a:p>
            <a:r>
              <a:rPr lang="en-US" sz="2800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123147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8E1B2-DF8C-B489-766B-F7447C25C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43A896-6976-B64A-1940-596CDA8DA08D}"/>
              </a:ext>
            </a:extLst>
          </p:cNvPr>
          <p:cNvSpPr txBox="1"/>
          <p:nvPr/>
        </p:nvSpPr>
        <p:spPr>
          <a:xfrm>
            <a:off x="0" y="0"/>
            <a:ext cx="12199434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Calibir"/>
              </a:rPr>
              <a:t>Java Step 4 — Add customer</a:t>
            </a:r>
          </a:p>
          <a:p>
            <a:r>
              <a:rPr lang="en-US" sz="2200" dirty="0">
                <a:latin typeface="Calibir"/>
              </a:rPr>
              <a:t>public void add(</a:t>
            </a:r>
          </a:p>
          <a:p>
            <a:r>
              <a:rPr lang="en-US" sz="2200" dirty="0">
                <a:latin typeface="Calibir"/>
              </a:rPr>
              <a:t>        Scanner input) {</a:t>
            </a:r>
          </a:p>
          <a:p>
            <a:r>
              <a:rPr lang="en-US" sz="2200" dirty="0">
                <a:latin typeface="Calibir"/>
              </a:rPr>
              <a:t>    String name =</a:t>
            </a:r>
          </a:p>
          <a:p>
            <a:r>
              <a:rPr lang="en-US" sz="2200" dirty="0">
                <a:latin typeface="Calibir"/>
              </a:rPr>
              <a:t>            </a:t>
            </a:r>
            <a:r>
              <a:rPr lang="en-US" sz="2200" dirty="0" err="1">
                <a:latin typeface="Calibir"/>
              </a:rPr>
              <a:t>readName</a:t>
            </a:r>
            <a:r>
              <a:rPr lang="en-US" sz="2200" dirty="0">
                <a:latin typeface="Calibir"/>
              </a:rPr>
              <a:t>(input);</a:t>
            </a:r>
          </a:p>
          <a:p>
            <a:r>
              <a:rPr lang="en-US" sz="2200" dirty="0">
                <a:latin typeface="Calibir"/>
              </a:rPr>
              <a:t>    if (find(name) != null) {</a:t>
            </a:r>
          </a:p>
          <a:p>
            <a:r>
              <a:rPr lang="en-US" sz="2200" dirty="0">
                <a:latin typeface="Calibir"/>
              </a:rPr>
              <a:t>        </a:t>
            </a:r>
            <a:r>
              <a:rPr lang="en-US" sz="2200" dirty="0" err="1">
                <a:latin typeface="Calibir"/>
              </a:rPr>
              <a:t>System.out.println</a:t>
            </a:r>
            <a:r>
              <a:rPr lang="en-US" sz="2200" dirty="0">
                <a:latin typeface="Calibir"/>
              </a:rPr>
              <a:t>(</a:t>
            </a:r>
          </a:p>
          <a:p>
            <a:r>
              <a:rPr lang="en-US" sz="2200" dirty="0">
                <a:latin typeface="Calibir"/>
              </a:rPr>
              <a:t>            "Customer already exists"</a:t>
            </a:r>
          </a:p>
          <a:p>
            <a:r>
              <a:rPr lang="en-US" sz="2200" dirty="0">
                <a:latin typeface="Calibir"/>
              </a:rPr>
              <a:t>        );</a:t>
            </a:r>
          </a:p>
          <a:p>
            <a:r>
              <a:rPr lang="en-US" sz="2200" dirty="0">
                <a:latin typeface="Calibir"/>
              </a:rPr>
              <a:t>        return;</a:t>
            </a:r>
          </a:p>
          <a:p>
            <a:r>
              <a:rPr lang="en-US" sz="2200" dirty="0">
                <a:latin typeface="Calibir"/>
              </a:rPr>
              <a:t>    }</a:t>
            </a:r>
          </a:p>
          <a:p>
            <a:endParaRPr lang="en-US" sz="2200" dirty="0">
              <a:latin typeface="Calibir"/>
            </a:endParaRPr>
          </a:p>
          <a:p>
            <a:r>
              <a:rPr lang="en-US" sz="2200" dirty="0">
                <a:latin typeface="Calibir"/>
              </a:rPr>
              <a:t>    </a:t>
            </a:r>
            <a:r>
              <a:rPr lang="en-US" sz="2200" dirty="0" err="1">
                <a:latin typeface="Calibir"/>
              </a:rPr>
              <a:t>customers.add</a:t>
            </a:r>
            <a:r>
              <a:rPr lang="en-US" sz="2200" dirty="0">
                <a:latin typeface="Calibir"/>
              </a:rPr>
              <a:t>(</a:t>
            </a:r>
          </a:p>
          <a:p>
            <a:r>
              <a:rPr lang="en-US" sz="2200" dirty="0">
                <a:latin typeface="Calibir"/>
              </a:rPr>
              <a:t>        new Customer(</a:t>
            </a:r>
          </a:p>
          <a:p>
            <a:r>
              <a:rPr lang="en-US" sz="2200" dirty="0">
                <a:latin typeface="Calibir"/>
              </a:rPr>
              <a:t>            name,</a:t>
            </a:r>
          </a:p>
          <a:p>
            <a:r>
              <a:rPr lang="en-US" sz="2200" dirty="0">
                <a:latin typeface="Calibir"/>
              </a:rPr>
              <a:t>            input</a:t>
            </a:r>
          </a:p>
          <a:p>
            <a:r>
              <a:rPr lang="en-US" sz="2200" dirty="0">
                <a:latin typeface="Calibir"/>
              </a:rPr>
              <a:t>        )</a:t>
            </a:r>
          </a:p>
          <a:p>
            <a:r>
              <a:rPr lang="en-US" sz="2200" dirty="0">
                <a:latin typeface="Calibir"/>
              </a:rPr>
              <a:t>    );</a:t>
            </a:r>
          </a:p>
          <a:p>
            <a:r>
              <a:rPr lang="en-US" sz="2200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52592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8F890-9891-2139-9FEF-298E3752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8581F2-8B92-D14C-EBAF-FBC536C9B684}"/>
              </a:ext>
            </a:extLst>
          </p:cNvPr>
          <p:cNvSpPr txBox="1"/>
          <p:nvPr/>
        </p:nvSpPr>
        <p:spPr>
          <a:xfrm>
            <a:off x="0" y="0"/>
            <a:ext cx="12199434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Calibir"/>
              </a:rPr>
              <a:t>Java Step 5 — Remove customer</a:t>
            </a:r>
          </a:p>
          <a:p>
            <a:r>
              <a:rPr lang="en-US" sz="2200" dirty="0">
                <a:latin typeface="Calibir"/>
              </a:rPr>
              <a:t>public void remove(</a:t>
            </a:r>
          </a:p>
          <a:p>
            <a:r>
              <a:rPr lang="en-US" sz="2200" dirty="0">
                <a:latin typeface="Calibir"/>
              </a:rPr>
              <a:t>        Scanner input) {</a:t>
            </a:r>
          </a:p>
          <a:p>
            <a:r>
              <a:rPr lang="en-US" sz="2200" dirty="0">
                <a:latin typeface="Calibir"/>
              </a:rPr>
              <a:t>    String name =</a:t>
            </a:r>
          </a:p>
          <a:p>
            <a:r>
              <a:rPr lang="en-US" sz="2200" dirty="0">
                <a:latin typeface="Calibir"/>
              </a:rPr>
              <a:t>            </a:t>
            </a:r>
            <a:r>
              <a:rPr lang="en-US" sz="2200" dirty="0" err="1">
                <a:latin typeface="Calibir"/>
              </a:rPr>
              <a:t>readName</a:t>
            </a:r>
            <a:r>
              <a:rPr lang="en-US" sz="2200" dirty="0">
                <a:latin typeface="Calibir"/>
              </a:rPr>
              <a:t>(input);</a:t>
            </a:r>
          </a:p>
          <a:p>
            <a:r>
              <a:rPr lang="en-US" sz="2200" dirty="0">
                <a:latin typeface="Calibir"/>
              </a:rPr>
              <a:t>    Customer </a:t>
            </a:r>
            <a:r>
              <a:rPr lang="en-US" sz="2200" dirty="0" err="1">
                <a:latin typeface="Calibir"/>
              </a:rPr>
              <a:t>customer</a:t>
            </a:r>
            <a:r>
              <a:rPr lang="en-US" sz="2200" dirty="0">
                <a:latin typeface="Calibir"/>
              </a:rPr>
              <a:t> =</a:t>
            </a:r>
          </a:p>
          <a:p>
            <a:r>
              <a:rPr lang="en-US" sz="2200" dirty="0">
                <a:latin typeface="Calibir"/>
              </a:rPr>
              <a:t>            find(name);</a:t>
            </a:r>
          </a:p>
          <a:p>
            <a:r>
              <a:rPr lang="en-US" sz="2200" dirty="0">
                <a:latin typeface="Calibir"/>
              </a:rPr>
              <a:t>    if (customer == null) {</a:t>
            </a:r>
          </a:p>
          <a:p>
            <a:r>
              <a:rPr lang="en-US" sz="2200" dirty="0">
                <a:latin typeface="Calibir"/>
              </a:rPr>
              <a:t>        </a:t>
            </a:r>
            <a:r>
              <a:rPr lang="en-US" sz="2200" dirty="0" err="1">
                <a:latin typeface="Calibir"/>
              </a:rPr>
              <a:t>System.out.println</a:t>
            </a:r>
            <a:r>
              <a:rPr lang="en-US" sz="2200" dirty="0">
                <a:latin typeface="Calibir"/>
              </a:rPr>
              <a:t>(</a:t>
            </a:r>
          </a:p>
          <a:p>
            <a:r>
              <a:rPr lang="en-US" sz="2200" dirty="0">
                <a:latin typeface="Calibir"/>
              </a:rPr>
              <a:t>            "Customer does not exist"</a:t>
            </a:r>
          </a:p>
          <a:p>
            <a:r>
              <a:rPr lang="en-US" sz="2200" dirty="0">
                <a:latin typeface="Calibir"/>
              </a:rPr>
              <a:t>        );</a:t>
            </a:r>
          </a:p>
          <a:p>
            <a:endParaRPr lang="en-US" sz="2200" dirty="0">
              <a:latin typeface="Calibir"/>
            </a:endParaRPr>
          </a:p>
          <a:p>
            <a:r>
              <a:rPr lang="en-US" sz="2200" dirty="0">
                <a:latin typeface="Calibir"/>
              </a:rPr>
              <a:t>        return;</a:t>
            </a:r>
          </a:p>
          <a:p>
            <a:r>
              <a:rPr lang="en-US" sz="2200" dirty="0">
                <a:latin typeface="Calibir"/>
              </a:rPr>
              <a:t>    }</a:t>
            </a:r>
          </a:p>
          <a:p>
            <a:endParaRPr lang="en-US" sz="2200" dirty="0">
              <a:latin typeface="Calibir"/>
            </a:endParaRPr>
          </a:p>
          <a:p>
            <a:r>
              <a:rPr lang="en-US" sz="2200" dirty="0">
                <a:latin typeface="Calibir"/>
              </a:rPr>
              <a:t>    </a:t>
            </a:r>
            <a:r>
              <a:rPr lang="en-US" sz="2200" dirty="0" err="1">
                <a:latin typeface="Calibir"/>
              </a:rPr>
              <a:t>customers.remove</a:t>
            </a:r>
            <a:r>
              <a:rPr lang="en-US" sz="2200" dirty="0">
                <a:latin typeface="Calibir"/>
              </a:rPr>
              <a:t>(</a:t>
            </a:r>
          </a:p>
          <a:p>
            <a:r>
              <a:rPr lang="en-US" sz="2200" dirty="0">
                <a:latin typeface="Calibir"/>
              </a:rPr>
              <a:t>        customer</a:t>
            </a:r>
          </a:p>
          <a:p>
            <a:r>
              <a:rPr lang="en-US" sz="2200" dirty="0">
                <a:latin typeface="Calibir"/>
              </a:rPr>
              <a:t>    );</a:t>
            </a:r>
          </a:p>
          <a:p>
            <a:r>
              <a:rPr lang="en-US" sz="2200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175091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C76CF-69C0-CCE9-699F-ECAED0E73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209E72-4F5F-0E27-26F1-B04818703BC9}"/>
              </a:ext>
            </a:extLst>
          </p:cNvPr>
          <p:cNvSpPr txBox="1"/>
          <p:nvPr/>
        </p:nvSpPr>
        <p:spPr>
          <a:xfrm>
            <a:off x="0" y="0"/>
            <a:ext cx="12199434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ir"/>
              </a:rPr>
              <a:t>Java Step 6 — View one customer</a:t>
            </a:r>
          </a:p>
          <a:p>
            <a:r>
              <a:rPr lang="en-US" dirty="0">
                <a:latin typeface="Calibir"/>
              </a:rPr>
              <a:t>public void show(</a:t>
            </a:r>
          </a:p>
          <a:p>
            <a:r>
              <a:rPr lang="en-US" dirty="0">
                <a:latin typeface="Calibir"/>
              </a:rPr>
              <a:t>        Scanner input) {</a:t>
            </a:r>
          </a:p>
          <a:p>
            <a:endParaRPr lang="en-US" dirty="0">
              <a:latin typeface="Calibir"/>
            </a:endParaRPr>
          </a:p>
          <a:p>
            <a:r>
              <a:rPr lang="en-US" dirty="0">
                <a:latin typeface="Calibir"/>
              </a:rPr>
              <a:t>    String name =</a:t>
            </a:r>
          </a:p>
          <a:p>
            <a:r>
              <a:rPr lang="en-US" dirty="0">
                <a:latin typeface="Calibir"/>
              </a:rPr>
              <a:t>            </a:t>
            </a:r>
            <a:r>
              <a:rPr lang="en-US" dirty="0" err="1">
                <a:latin typeface="Calibir"/>
              </a:rPr>
              <a:t>readName</a:t>
            </a:r>
            <a:r>
              <a:rPr lang="en-US" dirty="0">
                <a:latin typeface="Calibir"/>
              </a:rPr>
              <a:t>(input);</a:t>
            </a:r>
          </a:p>
          <a:p>
            <a:endParaRPr lang="en-US" dirty="0">
              <a:latin typeface="Calibir"/>
            </a:endParaRPr>
          </a:p>
          <a:p>
            <a:r>
              <a:rPr lang="en-US" dirty="0">
                <a:latin typeface="Calibir"/>
              </a:rPr>
              <a:t>    Customer </a:t>
            </a:r>
            <a:r>
              <a:rPr lang="en-US" dirty="0" err="1">
                <a:latin typeface="Calibir"/>
              </a:rPr>
              <a:t>customer</a:t>
            </a:r>
            <a:r>
              <a:rPr lang="en-US" dirty="0">
                <a:latin typeface="Calibir"/>
              </a:rPr>
              <a:t> =</a:t>
            </a:r>
          </a:p>
          <a:p>
            <a:r>
              <a:rPr lang="en-US" dirty="0">
                <a:latin typeface="Calibir"/>
              </a:rPr>
              <a:t>            find(name);</a:t>
            </a:r>
          </a:p>
          <a:p>
            <a:endParaRPr lang="en-US" dirty="0">
              <a:latin typeface="Calibir"/>
            </a:endParaRPr>
          </a:p>
          <a:p>
            <a:r>
              <a:rPr lang="en-US" dirty="0">
                <a:latin typeface="Calibir"/>
              </a:rPr>
              <a:t>    if (customer == null) {</a:t>
            </a:r>
          </a:p>
          <a:p>
            <a:endParaRPr lang="en-US" dirty="0">
              <a:latin typeface="Calibir"/>
            </a:endParaRPr>
          </a:p>
          <a:p>
            <a:r>
              <a:rPr lang="en-US" dirty="0">
                <a:latin typeface="Calibir"/>
              </a:rPr>
              <a:t>        </a:t>
            </a:r>
            <a:r>
              <a:rPr lang="en-US" dirty="0" err="1">
                <a:latin typeface="Calibir"/>
              </a:rPr>
              <a:t>System.out.println</a:t>
            </a:r>
            <a:r>
              <a:rPr lang="en-US" dirty="0">
                <a:latin typeface="Calibir"/>
              </a:rPr>
              <a:t>(</a:t>
            </a:r>
          </a:p>
          <a:p>
            <a:r>
              <a:rPr lang="en-US" dirty="0">
                <a:latin typeface="Calibir"/>
              </a:rPr>
              <a:t>            "Customer does not exist"</a:t>
            </a:r>
          </a:p>
          <a:p>
            <a:r>
              <a:rPr lang="en-US" dirty="0">
                <a:latin typeface="Calibir"/>
              </a:rPr>
              <a:t>        );</a:t>
            </a:r>
          </a:p>
          <a:p>
            <a:endParaRPr lang="en-US" dirty="0">
              <a:latin typeface="Calibir"/>
            </a:endParaRPr>
          </a:p>
          <a:p>
            <a:r>
              <a:rPr lang="en-US" dirty="0">
                <a:latin typeface="Calibir"/>
              </a:rPr>
              <a:t>        return;</a:t>
            </a:r>
          </a:p>
          <a:p>
            <a:r>
              <a:rPr lang="en-US" dirty="0">
                <a:latin typeface="Calibir"/>
              </a:rPr>
              <a:t>    }</a:t>
            </a:r>
          </a:p>
          <a:p>
            <a:endParaRPr lang="en-US" dirty="0">
              <a:latin typeface="Calibir"/>
            </a:endParaRPr>
          </a:p>
          <a:p>
            <a:r>
              <a:rPr lang="en-US" dirty="0">
                <a:latin typeface="Calibir"/>
              </a:rPr>
              <a:t>    </a:t>
            </a:r>
            <a:r>
              <a:rPr lang="en-US" dirty="0" err="1">
                <a:latin typeface="Calibir"/>
              </a:rPr>
              <a:t>System.out.println</a:t>
            </a:r>
            <a:r>
              <a:rPr lang="en-US" dirty="0">
                <a:latin typeface="Calibir"/>
              </a:rPr>
              <a:t>(</a:t>
            </a:r>
          </a:p>
          <a:p>
            <a:r>
              <a:rPr lang="en-US" dirty="0">
                <a:latin typeface="Calibir"/>
              </a:rPr>
              <a:t>        </a:t>
            </a:r>
            <a:r>
              <a:rPr lang="en-US" dirty="0" err="1">
                <a:latin typeface="Calibir"/>
              </a:rPr>
              <a:t>customer.summary</a:t>
            </a:r>
            <a:r>
              <a:rPr lang="en-US" dirty="0">
                <a:latin typeface="Calibir"/>
              </a:rPr>
              <a:t>()</a:t>
            </a:r>
          </a:p>
          <a:p>
            <a:r>
              <a:rPr lang="en-US" dirty="0">
                <a:latin typeface="Calibir"/>
              </a:rPr>
              <a:t>    );</a:t>
            </a:r>
          </a:p>
          <a:p>
            <a:r>
              <a:rPr lang="en-US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311478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0A4E1-74A5-29DF-1CCB-21DDB98B5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B2284B-1F77-EA9F-F837-046EBA7A4F35}"/>
              </a:ext>
            </a:extLst>
          </p:cNvPr>
          <p:cNvSpPr txBox="1"/>
          <p:nvPr/>
        </p:nvSpPr>
        <p:spPr>
          <a:xfrm>
            <a:off x="0" y="0"/>
            <a:ext cx="12199434" cy="668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Java Step 7 — View all customers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public void view() {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for (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Customer </a:t>
            </a:r>
            <a:r>
              <a:rPr lang="en-US" sz="2400" dirty="0" err="1">
                <a:latin typeface="Calibir"/>
              </a:rPr>
              <a:t>customer</a:t>
            </a:r>
            <a:endParaRPr lang="en-US" sz="24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: customers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) {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</a:t>
            </a:r>
            <a:r>
              <a:rPr lang="en-US" sz="2400" dirty="0" err="1">
                <a:latin typeface="Calibir"/>
              </a:rPr>
              <a:t>System.out.println</a:t>
            </a:r>
            <a:r>
              <a:rPr lang="en-US" sz="24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    </a:t>
            </a:r>
            <a:r>
              <a:rPr lang="en-US" sz="2400" dirty="0" err="1">
                <a:latin typeface="Calibir"/>
              </a:rPr>
              <a:t>customer.summary</a:t>
            </a:r>
            <a:r>
              <a:rPr lang="en-US" sz="2400" dirty="0">
                <a:latin typeface="Calibir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219320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A9246-E999-8EEA-87C9-66BB57B5D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13ACDC-1131-F1E7-F14B-2D80ECF1CF32}"/>
              </a:ext>
            </a:extLst>
          </p:cNvPr>
          <p:cNvSpPr txBox="1"/>
          <p:nvPr/>
        </p:nvSpPr>
        <p:spPr>
          <a:xfrm>
            <a:off x="0" y="-133812"/>
            <a:ext cx="12199434" cy="7237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Java Step 8 — Customer login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public void </a:t>
            </a:r>
            <a:r>
              <a:rPr lang="en-US" sz="2400" dirty="0" err="1">
                <a:latin typeface="Calibir"/>
              </a:rPr>
              <a:t>customerLogin</a:t>
            </a:r>
            <a:r>
              <a:rPr lang="en-US" sz="24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Scanner input) {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String name =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    </a:t>
            </a:r>
            <a:r>
              <a:rPr lang="en-US" sz="2400" dirty="0" err="1">
                <a:latin typeface="Calibir"/>
              </a:rPr>
              <a:t>readName</a:t>
            </a:r>
            <a:r>
              <a:rPr lang="en-US" sz="2400" dirty="0">
                <a:latin typeface="Calibir"/>
              </a:rPr>
              <a:t>(input);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Customer </a:t>
            </a:r>
            <a:r>
              <a:rPr lang="en-US" sz="2400" dirty="0" err="1">
                <a:latin typeface="Calibir"/>
              </a:rPr>
              <a:t>customer</a:t>
            </a:r>
            <a:r>
              <a:rPr lang="en-US" sz="2400" dirty="0">
                <a:latin typeface="Calibir"/>
              </a:rPr>
              <a:t> =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    find(name);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if (customer == null) {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</a:t>
            </a:r>
            <a:r>
              <a:rPr lang="en-US" sz="2400" dirty="0" err="1">
                <a:latin typeface="Calibir"/>
              </a:rPr>
              <a:t>System.out.println</a:t>
            </a:r>
            <a:r>
              <a:rPr lang="en-US" sz="2400" dirty="0">
                <a:latin typeface="Calibir"/>
              </a:rPr>
              <a:t>("Customer does not exist");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    return;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    </a:t>
            </a:r>
            <a:r>
              <a:rPr lang="en-US" sz="2400" dirty="0" err="1">
                <a:latin typeface="Calibir"/>
              </a:rPr>
              <a:t>customer.menu</a:t>
            </a:r>
            <a:r>
              <a:rPr lang="en-US" sz="2400" dirty="0">
                <a:latin typeface="Calibir"/>
              </a:rPr>
              <a:t>(input);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145454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C343B-590F-2977-9E7F-7B43BF0F9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843A54-1152-650D-CD9D-0CF593F55660}"/>
              </a:ext>
            </a:extLst>
          </p:cNvPr>
          <p:cNvSpPr txBox="1"/>
          <p:nvPr/>
        </p:nvSpPr>
        <p:spPr>
          <a:xfrm>
            <a:off x="0" y="0"/>
            <a:ext cx="12199434" cy="670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Calibir"/>
              </a:rPr>
              <a:t>Completed Java Bank.java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import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java.util.ArrayList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;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import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java.util.Scanner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;</a:t>
            </a:r>
          </a:p>
          <a:p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public class Bank {</a:t>
            </a:r>
          </a:p>
          <a:p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private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ArrayList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&lt;Customer&gt; customers;</a:t>
            </a:r>
          </a:p>
          <a:p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public Bank(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Scanner input) {</a:t>
            </a:r>
          </a:p>
          <a:p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customers =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    new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ArrayList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&lt;&gt;();</a:t>
            </a:r>
          </a:p>
          <a:p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customers.add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new Customer(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    "Lin",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    input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)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);</a:t>
            </a:r>
          </a:p>
          <a:p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customers.add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new Customer(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    "Paul",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    input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)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);</a:t>
            </a:r>
          </a:p>
          <a:p>
            <a:endParaRPr lang="en-US" sz="1200" dirty="0">
              <a:highlight>
                <a:srgbClr val="FFFF00"/>
              </a:highlight>
              <a:latin typeface="Calibir"/>
            </a:endParaRP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200" dirty="0" err="1">
                <a:highlight>
                  <a:srgbClr val="FFFF00"/>
                </a:highlight>
                <a:latin typeface="Calibir"/>
              </a:rPr>
              <a:t>customers.add</a:t>
            </a:r>
            <a:r>
              <a:rPr lang="en-US" sz="12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new Customer(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    "Alex",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    input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    )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    );</a:t>
            </a:r>
          </a:p>
          <a:p>
            <a:r>
              <a:rPr lang="en-US" sz="1200" dirty="0">
                <a:highlight>
                  <a:srgbClr val="FFFF00"/>
                </a:highlight>
                <a:latin typeface="Calibir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38236914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94665-5A6B-A2C1-2E3A-BBF7E4D4E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CB2FBC-4C17-4A0B-372E-CB19D648B171}"/>
              </a:ext>
            </a:extLst>
          </p:cNvPr>
          <p:cNvSpPr txBox="1"/>
          <p:nvPr/>
        </p:nvSpPr>
        <p:spPr>
          <a:xfrm>
            <a:off x="0" y="0"/>
            <a:ext cx="12199434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public String </a:t>
            </a:r>
            <a:r>
              <a:rPr lang="en-US" sz="2000" dirty="0" err="1">
                <a:highlight>
                  <a:srgbClr val="FFFF00"/>
                </a:highlight>
                <a:latin typeface="Calibir"/>
              </a:rPr>
              <a:t>readName</a:t>
            </a:r>
            <a:r>
              <a:rPr lang="en-US" sz="20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Scanner input) {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000" dirty="0" err="1">
                <a:highlight>
                  <a:srgbClr val="FFFF00"/>
                </a:highlight>
                <a:latin typeface="Calibir"/>
              </a:rPr>
              <a:t>System.out.print</a:t>
            </a:r>
            <a:r>
              <a:rPr lang="en-US" sz="20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"Enter Customer Name: "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);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return </a:t>
            </a:r>
            <a:r>
              <a:rPr lang="en-US" sz="2000" dirty="0" err="1">
                <a:highlight>
                  <a:srgbClr val="FFFF00"/>
                </a:highlight>
                <a:latin typeface="Calibir"/>
              </a:rPr>
              <a:t>input.nextLine</a:t>
            </a:r>
            <a:r>
              <a:rPr lang="en-US" sz="2000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public Customer find(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String name) {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for (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Customer </a:t>
            </a:r>
            <a:r>
              <a:rPr lang="en-US" sz="2000" dirty="0" err="1">
                <a:highlight>
                  <a:srgbClr val="FFFF00"/>
                </a:highlight>
                <a:latin typeface="Calibir"/>
              </a:rPr>
              <a:t>customer</a:t>
            </a:r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: customers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) {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if (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sz="2000" dirty="0" err="1">
                <a:highlight>
                  <a:srgbClr val="FFFF00"/>
                </a:highlight>
                <a:latin typeface="Calibir"/>
              </a:rPr>
              <a:t>customer.matches</a:t>
            </a:r>
            <a:r>
              <a:rPr lang="en-US" sz="2000" dirty="0">
                <a:highlight>
                  <a:srgbClr val="FFFF00"/>
                </a:highlight>
                <a:latin typeface="Calibir"/>
              </a:rPr>
              <a:t>(name)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) {</a:t>
            </a:r>
          </a:p>
        </p:txBody>
      </p:sp>
    </p:spTree>
    <p:extLst>
      <p:ext uri="{BB962C8B-B14F-4D97-AF65-F5344CB8AC3E}">
        <p14:creationId xmlns:p14="http://schemas.microsoft.com/office/powerpoint/2010/main" val="87135613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B49C3-FA38-604D-9D8B-35483ED29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2C27FA-9330-8B8E-F32A-21E555F0CD31}"/>
              </a:ext>
            </a:extLst>
          </p:cNvPr>
          <p:cNvSpPr txBox="1"/>
          <p:nvPr/>
        </p:nvSpPr>
        <p:spPr>
          <a:xfrm>
            <a:off x="0" y="0"/>
            <a:ext cx="12199434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    return customer;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}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}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return null;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public void add(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Scanner input) {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String name =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sz="2000" dirty="0" err="1">
                <a:highlight>
                  <a:srgbClr val="FFFF00"/>
                </a:highlight>
                <a:latin typeface="Calibir"/>
              </a:rPr>
              <a:t>readName</a:t>
            </a:r>
            <a:r>
              <a:rPr lang="en-US" sz="2000" dirty="0">
                <a:highlight>
                  <a:srgbClr val="FFFF00"/>
                </a:highlight>
                <a:latin typeface="Calibir"/>
              </a:rPr>
              <a:t>(input);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if (find(name) != null) {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2000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sz="20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    "Customer already exists"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);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return;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344324419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64468-5181-6E9D-BB2B-B61C9CA58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DAF7D8-2A4A-BB59-F6B0-91C64239824C}"/>
              </a:ext>
            </a:extLst>
          </p:cNvPr>
          <p:cNvSpPr txBox="1"/>
          <p:nvPr/>
        </p:nvSpPr>
        <p:spPr>
          <a:xfrm>
            <a:off x="0" y="0"/>
            <a:ext cx="12199434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000" dirty="0" err="1">
                <a:highlight>
                  <a:srgbClr val="FFFF00"/>
                </a:highlight>
                <a:latin typeface="Calibir"/>
              </a:rPr>
              <a:t>customers.add</a:t>
            </a:r>
            <a:r>
              <a:rPr lang="en-US" sz="20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new Customer(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    name,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    input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)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);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public void remove(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Scanner input) {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String name =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sz="2000" dirty="0" err="1">
                <a:highlight>
                  <a:srgbClr val="FFFF00"/>
                </a:highlight>
                <a:latin typeface="Calibir"/>
              </a:rPr>
              <a:t>readName</a:t>
            </a:r>
            <a:r>
              <a:rPr lang="en-US" sz="2000" dirty="0">
                <a:highlight>
                  <a:srgbClr val="FFFF00"/>
                </a:highlight>
                <a:latin typeface="Calibir"/>
              </a:rPr>
              <a:t>(input);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Customer </a:t>
            </a:r>
            <a:r>
              <a:rPr lang="en-US" sz="2000" dirty="0" err="1">
                <a:highlight>
                  <a:srgbClr val="FFFF00"/>
                </a:highlight>
                <a:latin typeface="Calibir"/>
              </a:rPr>
              <a:t>customer</a:t>
            </a:r>
            <a:r>
              <a:rPr lang="en-US" sz="2000" dirty="0">
                <a:highlight>
                  <a:srgbClr val="FFFF00"/>
                </a:highlight>
                <a:latin typeface="Calibir"/>
              </a:rPr>
              <a:t> =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    find(name);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if (customer == null) {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2000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sz="20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    "Customer does not exist"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);</a:t>
            </a:r>
          </a:p>
        </p:txBody>
      </p:sp>
    </p:spTree>
    <p:extLst>
      <p:ext uri="{BB962C8B-B14F-4D97-AF65-F5344CB8AC3E}">
        <p14:creationId xmlns:p14="http://schemas.microsoft.com/office/powerpoint/2010/main" val="13555267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F6B3C-8250-77B6-98C3-1C84B3924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EA808E-3576-D8F2-9708-DCF096154B79}"/>
              </a:ext>
            </a:extLst>
          </p:cNvPr>
          <p:cNvSpPr txBox="1"/>
          <p:nvPr/>
        </p:nvSpPr>
        <p:spPr>
          <a:xfrm>
            <a:off x="0" y="0"/>
            <a:ext cx="12199434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return;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}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000" dirty="0" err="1">
                <a:highlight>
                  <a:srgbClr val="FFFF00"/>
                </a:highlight>
                <a:latin typeface="Calibir"/>
              </a:rPr>
              <a:t>customers.remove</a:t>
            </a:r>
            <a:r>
              <a:rPr lang="en-US" sz="20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customer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);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public void show(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Scanner input) {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String name =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sz="2000" dirty="0" err="1">
                <a:highlight>
                  <a:srgbClr val="FFFF00"/>
                </a:highlight>
                <a:latin typeface="Calibir"/>
              </a:rPr>
              <a:t>readName</a:t>
            </a:r>
            <a:r>
              <a:rPr lang="en-US" sz="2000" dirty="0">
                <a:highlight>
                  <a:srgbClr val="FFFF00"/>
                </a:highlight>
                <a:latin typeface="Calibir"/>
              </a:rPr>
              <a:t>(input);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Customer </a:t>
            </a:r>
            <a:r>
              <a:rPr lang="en-US" sz="2000" dirty="0" err="1">
                <a:highlight>
                  <a:srgbClr val="FFFF00"/>
                </a:highlight>
                <a:latin typeface="Calibir"/>
              </a:rPr>
              <a:t>customer</a:t>
            </a:r>
            <a:r>
              <a:rPr lang="en-US" sz="2000" dirty="0">
                <a:highlight>
                  <a:srgbClr val="FFFF00"/>
                </a:highlight>
                <a:latin typeface="Calibir"/>
              </a:rPr>
              <a:t> =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    find(name);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if (customer == null) {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2000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sz="20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    "Customer does not exist"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);</a:t>
            </a:r>
          </a:p>
        </p:txBody>
      </p:sp>
    </p:spTree>
    <p:extLst>
      <p:ext uri="{BB962C8B-B14F-4D97-AF65-F5344CB8AC3E}">
        <p14:creationId xmlns:p14="http://schemas.microsoft.com/office/powerpoint/2010/main" val="116681736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97737-4285-DDA8-9E8D-23F6B03B8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FB6B52-743F-82F6-E252-F8FD0DACD86E}"/>
              </a:ext>
            </a:extLst>
          </p:cNvPr>
          <p:cNvSpPr txBox="1"/>
          <p:nvPr/>
        </p:nvSpPr>
        <p:spPr>
          <a:xfrm>
            <a:off x="0" y="0"/>
            <a:ext cx="12199434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return;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}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000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sz="20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2000" dirty="0" err="1">
                <a:highlight>
                  <a:srgbClr val="FFFF00"/>
                </a:highlight>
                <a:latin typeface="Calibir"/>
              </a:rPr>
              <a:t>customer.summary</a:t>
            </a:r>
            <a:r>
              <a:rPr lang="en-US" sz="20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);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public void view() {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for (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Customer </a:t>
            </a:r>
            <a:r>
              <a:rPr lang="en-US" sz="2000" dirty="0" err="1">
                <a:highlight>
                  <a:srgbClr val="FFFF00"/>
                </a:highlight>
                <a:latin typeface="Calibir"/>
              </a:rPr>
              <a:t>customer</a:t>
            </a:r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: customers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) {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2000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sz="20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sz="2000" dirty="0" err="1">
                <a:highlight>
                  <a:srgbClr val="FFFF00"/>
                </a:highlight>
                <a:latin typeface="Calibir"/>
              </a:rPr>
              <a:t>customer.summary</a:t>
            </a:r>
            <a:r>
              <a:rPr lang="en-US" sz="20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);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}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10637641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6B085-FCAC-085F-790F-569FCD08F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7C8390-A389-4216-5858-DE2D5555A9B6}"/>
              </a:ext>
            </a:extLst>
          </p:cNvPr>
          <p:cNvSpPr txBox="1"/>
          <p:nvPr/>
        </p:nvSpPr>
        <p:spPr>
          <a:xfrm>
            <a:off x="0" y="0"/>
            <a:ext cx="12199434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public void </a:t>
            </a:r>
            <a:r>
              <a:rPr lang="en-US" sz="2000" dirty="0" err="1">
                <a:highlight>
                  <a:srgbClr val="FFFF00"/>
                </a:highlight>
                <a:latin typeface="Calibir"/>
              </a:rPr>
              <a:t>customerLogin</a:t>
            </a:r>
            <a:r>
              <a:rPr lang="en-US" sz="20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Scanner input) {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String name =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sz="2000" dirty="0" err="1">
                <a:highlight>
                  <a:srgbClr val="FFFF00"/>
                </a:highlight>
                <a:latin typeface="Calibir"/>
              </a:rPr>
              <a:t>readName</a:t>
            </a:r>
            <a:r>
              <a:rPr lang="en-US" sz="2000" dirty="0">
                <a:highlight>
                  <a:srgbClr val="FFFF00"/>
                </a:highlight>
                <a:latin typeface="Calibir"/>
              </a:rPr>
              <a:t>(input);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Customer </a:t>
            </a:r>
            <a:r>
              <a:rPr lang="en-US" sz="2000" dirty="0" err="1">
                <a:highlight>
                  <a:srgbClr val="FFFF00"/>
                </a:highlight>
                <a:latin typeface="Calibir"/>
              </a:rPr>
              <a:t>customer</a:t>
            </a:r>
            <a:r>
              <a:rPr lang="en-US" sz="2000" dirty="0">
                <a:highlight>
                  <a:srgbClr val="FFFF00"/>
                </a:highlight>
                <a:latin typeface="Calibir"/>
              </a:rPr>
              <a:t> =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    find(name);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if (customer == null) {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2000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sz="20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    "Customer does not exist"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);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return;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}</a:t>
            </a:r>
          </a:p>
          <a:p>
            <a:endParaRPr lang="en-US" sz="2000" dirty="0">
              <a:highlight>
                <a:srgbClr val="FFFF00"/>
              </a:highlight>
              <a:latin typeface="Calibir"/>
            </a:endParaRP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000" dirty="0" err="1">
                <a:highlight>
                  <a:srgbClr val="FFFF00"/>
                </a:highlight>
                <a:latin typeface="Calibir"/>
              </a:rPr>
              <a:t>customer.menu</a:t>
            </a:r>
            <a:r>
              <a:rPr lang="en-US" sz="2000" dirty="0">
                <a:highlight>
                  <a:srgbClr val="FFFF00"/>
                </a:highlight>
                <a:latin typeface="Calibir"/>
              </a:rPr>
              <a:t>(input);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r>
              <a:rPr lang="en-US" sz="2000" dirty="0">
                <a:highlight>
                  <a:srgbClr val="FFFF00"/>
                </a:highlight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97542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13A9A-09FC-0872-5A60-94BC6566C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939A4B-50F4-8329-AB97-83CAB169281C}"/>
              </a:ext>
            </a:extLst>
          </p:cNvPr>
          <p:cNvSpPr txBox="1"/>
          <p:nvPr/>
        </p:nvSpPr>
        <p:spPr>
          <a:xfrm>
            <a:off x="0" y="0"/>
            <a:ext cx="9149575" cy="6826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Java Manager Class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9 — Fields and constructor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private String name;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private Bank </a:t>
            </a:r>
            <a:r>
              <a:rPr lang="en-US" sz="2800" dirty="0" err="1">
                <a:latin typeface="Calibir"/>
              </a:rPr>
              <a:t>bank</a:t>
            </a:r>
            <a:r>
              <a:rPr lang="en-US" sz="2800" dirty="0">
                <a:latin typeface="Calibir"/>
              </a:rPr>
              <a:t>;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Constructor: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public Manager(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        Bank bank) {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    name =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"John Smith";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this.bank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 =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bank;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981423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7F9C2-4F95-142E-1298-EDD6D1AE8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65013E-9225-1358-5EC0-220BDA400FCA}"/>
              </a:ext>
            </a:extLst>
          </p:cNvPr>
          <p:cNvSpPr txBox="1"/>
          <p:nvPr/>
        </p:nvSpPr>
        <p:spPr>
          <a:xfrm>
            <a:off x="0" y="0"/>
            <a:ext cx="9149575" cy="6789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Step 10 — Delegate operations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public void view() {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bank.view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public void add(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Scanner input) {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bank.add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(input);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public void remove(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Scanner input) {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bank.remove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(input);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public void show(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Scanner input) {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bank.show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(input);</a:t>
            </a:r>
          </a:p>
          <a:p>
            <a:pPr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5700151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78EEB-B972-6120-0E4D-A62371699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DF86E2-893F-489D-EB4B-12DADB8E55CE}"/>
              </a:ext>
            </a:extLst>
          </p:cNvPr>
          <p:cNvSpPr txBox="1"/>
          <p:nvPr/>
        </p:nvSpPr>
        <p:spPr>
          <a:xfrm>
            <a:off x="-3716" y="0"/>
            <a:ext cx="6099716" cy="6694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Calibir"/>
              </a:rPr>
              <a:t>Completed Java Manager.java</a:t>
            </a: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+mn-lt"/>
              </a:rPr>
              <a:t>import </a:t>
            </a:r>
            <a:r>
              <a:rPr lang="en-US" dirty="0" err="1">
                <a:highlight>
                  <a:srgbClr val="FFFF00"/>
                </a:highlight>
                <a:latin typeface="+mn-lt"/>
              </a:rPr>
              <a:t>java.time.LocalDateTime</a:t>
            </a:r>
            <a:r>
              <a:rPr lang="en-US" dirty="0">
                <a:highlight>
                  <a:srgbClr val="FFFF00"/>
                </a:highlight>
                <a:latin typeface="+mn-lt"/>
              </a:rPr>
              <a:t>;</a:t>
            </a: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+mn-lt"/>
              </a:rPr>
              <a:t>import </a:t>
            </a:r>
            <a:r>
              <a:rPr lang="en-US" dirty="0" err="1">
                <a:highlight>
                  <a:srgbClr val="FFFF00"/>
                </a:highlight>
                <a:latin typeface="+mn-lt"/>
              </a:rPr>
              <a:t>java.time.format.DateTimeFormatter</a:t>
            </a:r>
            <a:r>
              <a:rPr lang="en-US" dirty="0">
                <a:highlight>
                  <a:srgbClr val="FFFF00"/>
                </a:highlight>
                <a:latin typeface="+mn-lt"/>
              </a:rPr>
              <a:t>;</a:t>
            </a: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+mn-lt"/>
              </a:rPr>
              <a:t>import </a:t>
            </a:r>
            <a:r>
              <a:rPr lang="en-US" dirty="0" err="1">
                <a:highlight>
                  <a:srgbClr val="FFFF00"/>
                </a:highlight>
                <a:latin typeface="+mn-lt"/>
              </a:rPr>
              <a:t>java.util.Scanner</a:t>
            </a:r>
            <a:r>
              <a:rPr lang="en-US" dirty="0">
                <a:highlight>
                  <a:srgbClr val="FFFF00"/>
                </a:highlight>
                <a:latin typeface="+mn-lt"/>
              </a:rPr>
              <a:t>;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+mn-lt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+mn-lt"/>
              </a:rPr>
              <a:t>public class Manager {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+mn-lt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+mn-lt"/>
              </a:rPr>
              <a:t>    private String name;</a:t>
            </a: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+mn-lt"/>
              </a:rPr>
              <a:t>    private Bank </a:t>
            </a:r>
            <a:r>
              <a:rPr lang="en-US" dirty="0" err="1">
                <a:highlight>
                  <a:srgbClr val="FFFF00"/>
                </a:highlight>
                <a:latin typeface="+mn-lt"/>
              </a:rPr>
              <a:t>bank</a:t>
            </a:r>
            <a:r>
              <a:rPr lang="en-US" dirty="0">
                <a:highlight>
                  <a:srgbClr val="FFFF00"/>
                </a:highlight>
                <a:latin typeface="+mn-lt"/>
              </a:rPr>
              <a:t>;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+mn-lt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+mn-lt"/>
              </a:rPr>
              <a:t>    public Manager(</a:t>
            </a: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+mn-lt"/>
              </a:rPr>
              <a:t>            Bank bank) {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+mn-lt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+mn-lt"/>
              </a:rPr>
              <a:t>        name =</a:t>
            </a: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+mn-lt"/>
              </a:rPr>
              <a:t>                "John Smith";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+mn-lt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+mn-lt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+mn-lt"/>
              </a:rPr>
              <a:t>this.bank</a:t>
            </a:r>
            <a:r>
              <a:rPr lang="en-US" dirty="0">
                <a:highlight>
                  <a:srgbClr val="FFFF00"/>
                </a:highlight>
                <a:latin typeface="+mn-lt"/>
              </a:rPr>
              <a:t> =</a:t>
            </a: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+mn-lt"/>
              </a:rPr>
              <a:t>                bank;</a:t>
            </a: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+mn-lt"/>
              </a:rPr>
              <a:t>    }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+mn-lt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+mn-lt"/>
              </a:rPr>
              <a:t>    public void view() {</a:t>
            </a: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+mn-lt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+mn-lt"/>
              </a:rPr>
              <a:t>bank.view</a:t>
            </a:r>
            <a:r>
              <a:rPr lang="en-US" dirty="0">
                <a:highlight>
                  <a:srgbClr val="FFFF00"/>
                </a:highlight>
                <a:latin typeface="+mn-lt"/>
              </a:rPr>
              <a:t>();</a:t>
            </a: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+mn-lt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48649637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33AEC-1951-103D-21D1-E7D0E44DF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50168A-066C-2F15-BCA1-0884E536E27C}"/>
              </a:ext>
            </a:extLst>
          </p:cNvPr>
          <p:cNvSpPr txBox="1"/>
          <p:nvPr/>
        </p:nvSpPr>
        <p:spPr>
          <a:xfrm>
            <a:off x="-3716" y="0"/>
            <a:ext cx="6099716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public void add(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Scanner input) {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bank.add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(input);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public void remove(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Scanner input) {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bank.remove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(input);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public void show(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Scanner input) {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bank.show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(input);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public void menu(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Scanner input) {</a:t>
            </a:r>
          </a:p>
        </p:txBody>
      </p:sp>
    </p:spTree>
    <p:extLst>
      <p:ext uri="{BB962C8B-B14F-4D97-AF65-F5344CB8AC3E}">
        <p14:creationId xmlns:p14="http://schemas.microsoft.com/office/powerpoint/2010/main" val="98004087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44415-BCC5-6AD5-8F87-2038ED15D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25FB7E-8832-62B9-C30D-41541DB291CD}"/>
              </a:ext>
            </a:extLst>
          </p:cNvPr>
          <p:cNvSpPr txBox="1"/>
          <p:nvPr/>
        </p:nvSpPr>
        <p:spPr>
          <a:xfrm>
            <a:off x="-3716" y="0"/>
            <a:ext cx="609971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DateTimeFormatter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 formatter =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DateTimeFormatter.ofPattern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"dd/MM/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yyyy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 -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HH:mm:ss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"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);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String now =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LocalDateTime.now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         .format(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             formatter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         );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name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+ " admin menu: "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+ now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);</a:t>
            </a:r>
          </a:p>
        </p:txBody>
      </p:sp>
    </p:spTree>
    <p:extLst>
      <p:ext uri="{BB962C8B-B14F-4D97-AF65-F5344CB8AC3E}">
        <p14:creationId xmlns:p14="http://schemas.microsoft.com/office/powerpoint/2010/main" val="156866124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5E9DA-7038-FDF5-C6BC-17CB95DED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E064A4-207D-8722-85B0-F608C17500B9}"/>
              </a:ext>
            </a:extLst>
          </p:cNvPr>
          <p:cNvSpPr txBox="1"/>
          <p:nvPr/>
        </p:nvSpPr>
        <p:spPr>
          <a:xfrm>
            <a:off x="-3716" y="0"/>
            <a:ext cx="6099716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while (true) {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System.out.print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"Manager menu "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+ "(a/r/s/v/x): "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);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String choice =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input.nextLine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     .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toLowerCase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switch (choice) {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case "a":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add(input);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break;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78453895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C12C4-C21D-F00B-518D-CD0EF7BA6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5E7E4E-D33F-987E-7719-050003F78E58}"/>
              </a:ext>
            </a:extLst>
          </p:cNvPr>
          <p:cNvSpPr txBox="1"/>
          <p:nvPr/>
        </p:nvSpPr>
        <p:spPr>
          <a:xfrm>
            <a:off x="-3716" y="0"/>
            <a:ext cx="609971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case "r":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remove(input);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break;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case "s":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show(input);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break;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case "v":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view();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break;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42489619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1B9F5-8AC6-558A-6702-488CE3714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081646-DCA7-8013-F6DE-EA489F671F64}"/>
              </a:ext>
            </a:extLst>
          </p:cNvPr>
          <p:cNvSpPr txBox="1"/>
          <p:nvPr/>
        </p:nvSpPr>
        <p:spPr>
          <a:xfrm>
            <a:off x="-3716" y="0"/>
            <a:ext cx="6099716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case "x":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    "Back to Bank menu"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);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return;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default: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    "a = add customer"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);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    "r = remove customer"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);</a:t>
            </a:r>
          </a:p>
        </p:txBody>
      </p:sp>
    </p:spTree>
    <p:extLst>
      <p:ext uri="{BB962C8B-B14F-4D97-AF65-F5344CB8AC3E}">
        <p14:creationId xmlns:p14="http://schemas.microsoft.com/office/powerpoint/2010/main" val="416439879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88086-29B5-71ED-165C-465A09D6E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04B25A-0C5C-FC4F-2A0F-9C0AF155CA1A}"/>
              </a:ext>
            </a:extLst>
          </p:cNvPr>
          <p:cNvSpPr txBox="1"/>
          <p:nvPr/>
        </p:nvSpPr>
        <p:spPr>
          <a:xfrm>
            <a:off x="-3716" y="0"/>
            <a:ext cx="609971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    "s = show statement"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);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    "v = view all"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);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    "x = exit"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    );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}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}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228190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6DE88-0761-7DB0-CE9A-E54D1B6EA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E13AA16-831A-58CE-4BAA-9F00D7BF2915}"/>
              </a:ext>
            </a:extLst>
          </p:cNvPr>
          <p:cNvSpPr txBox="1"/>
          <p:nvPr/>
        </p:nvSpPr>
        <p:spPr>
          <a:xfrm>
            <a:off x="0" y="0"/>
            <a:ext cx="12196916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Java Login Class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is the new top-level controller.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11 — Fields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private Bank </a:t>
            </a:r>
            <a:r>
              <a:rPr lang="en-US" sz="2800" dirty="0" err="1">
                <a:latin typeface="Calibir"/>
              </a:rPr>
              <a:t>bank</a:t>
            </a:r>
            <a:r>
              <a:rPr lang="en-US" sz="2800" dirty="0">
                <a:latin typeface="Calibir"/>
              </a:rPr>
              <a:t>;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private Manager </a:t>
            </a:r>
            <a:r>
              <a:rPr lang="en-US" sz="2800" dirty="0" err="1">
                <a:latin typeface="Calibir"/>
              </a:rPr>
              <a:t>manager</a:t>
            </a:r>
            <a:r>
              <a:rPr lang="en-US" sz="2800" dirty="0">
                <a:latin typeface="Calibir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74601856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359D5-4B8A-4603-354C-86E9A6A6E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8DD83FA-1485-8034-9C35-FD2F8993F1D4}"/>
              </a:ext>
            </a:extLst>
          </p:cNvPr>
          <p:cNvSpPr txBox="1"/>
          <p:nvPr/>
        </p:nvSpPr>
        <p:spPr>
          <a:xfrm>
            <a:off x="0" y="0"/>
            <a:ext cx="12196916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12 — Constructor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public Login(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Bank </a:t>
            </a:r>
            <a:r>
              <a:rPr lang="en-US" sz="2800" dirty="0" err="1">
                <a:latin typeface="Calibir"/>
              </a:rPr>
              <a:t>bank</a:t>
            </a:r>
            <a:r>
              <a:rPr lang="en-US" sz="2800" dirty="0">
                <a:latin typeface="Calibir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Manager manager) {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</a:t>
            </a:r>
            <a:r>
              <a:rPr lang="en-US" sz="2800" dirty="0" err="1">
                <a:latin typeface="Calibir"/>
              </a:rPr>
              <a:t>this.bank</a:t>
            </a:r>
            <a:r>
              <a:rPr lang="en-US" sz="2800" dirty="0">
                <a:latin typeface="Calibir"/>
              </a:rPr>
              <a:t> = bank;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</a:t>
            </a:r>
            <a:r>
              <a:rPr lang="en-US" sz="2800" dirty="0" err="1">
                <a:latin typeface="Calibir"/>
              </a:rPr>
              <a:t>this.manager</a:t>
            </a:r>
            <a:r>
              <a:rPr lang="en-US" sz="2800" dirty="0">
                <a:latin typeface="Calibir"/>
              </a:rPr>
              <a:t> = manager;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4653151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D0C9F-369F-C4D9-CE10-0022A516A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87C1A0B-51B7-B054-461C-23070A56035F}"/>
              </a:ext>
            </a:extLst>
          </p:cNvPr>
          <p:cNvSpPr txBox="1"/>
          <p:nvPr/>
        </p:nvSpPr>
        <p:spPr>
          <a:xfrm>
            <a:off x="0" y="0"/>
            <a:ext cx="12196916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13 — Read choice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public String </a:t>
            </a:r>
            <a:r>
              <a:rPr lang="en-US" sz="2800" dirty="0" err="1">
                <a:latin typeface="Calibir"/>
              </a:rPr>
              <a:t>readChoice</a:t>
            </a:r>
            <a:r>
              <a:rPr lang="en-US" sz="28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Scanner input) {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</a:t>
            </a:r>
            <a:r>
              <a:rPr lang="en-US" sz="2800" dirty="0" err="1">
                <a:latin typeface="Calibir"/>
              </a:rPr>
              <a:t>System.out.print</a:t>
            </a:r>
            <a:r>
              <a:rPr lang="en-US" sz="28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"Customer menu (L/A/X): "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);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return </a:t>
            </a:r>
            <a:r>
              <a:rPr lang="en-US" sz="2800" dirty="0" err="1">
                <a:latin typeface="Calibir"/>
              </a:rPr>
              <a:t>input.nextLine</a:t>
            </a:r>
            <a:r>
              <a:rPr lang="en-US" sz="2800" dirty="0">
                <a:latin typeface="Calibir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        .</a:t>
            </a:r>
            <a:r>
              <a:rPr lang="en-US" sz="2800" dirty="0" err="1">
                <a:latin typeface="Calibir"/>
              </a:rPr>
              <a:t>toUpperCase</a:t>
            </a:r>
            <a:r>
              <a:rPr lang="en-US" sz="2800" dirty="0">
                <a:latin typeface="Calibir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1201457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96624-0F77-938A-C483-440D2F2A4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CEE9773-306B-9094-33B1-CB407BB40DDB}"/>
              </a:ext>
            </a:extLst>
          </p:cNvPr>
          <p:cNvSpPr txBox="1"/>
          <p:nvPr/>
        </p:nvSpPr>
        <p:spPr>
          <a:xfrm>
            <a:off x="0" y="0"/>
            <a:ext cx="12196916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14 — Help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public void help() {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</a:t>
            </a:r>
            <a:r>
              <a:rPr lang="en-US" sz="2800" dirty="0" err="1">
                <a:latin typeface="Calibir"/>
              </a:rPr>
              <a:t>System.out.println</a:t>
            </a:r>
            <a:r>
              <a:rPr lang="en-US" sz="2800" dirty="0">
                <a:latin typeface="Calibir"/>
              </a:rPr>
              <a:t>("L = Log in as a customer.");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</a:t>
            </a:r>
            <a:r>
              <a:rPr lang="en-US" sz="2800" dirty="0" err="1">
                <a:latin typeface="Calibir"/>
              </a:rPr>
              <a:t>System.out.println</a:t>
            </a:r>
            <a:r>
              <a:rPr lang="en-US" sz="2800" dirty="0">
                <a:latin typeface="Calibir"/>
              </a:rPr>
              <a:t>("A = Log in as the manager.");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</a:t>
            </a:r>
            <a:r>
              <a:rPr lang="en-US" sz="2800" dirty="0" err="1">
                <a:latin typeface="Calibir"/>
              </a:rPr>
              <a:t>System.out.println</a:t>
            </a:r>
            <a:r>
              <a:rPr lang="en-US" sz="2800" dirty="0"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"X = Exit."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);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0271542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81BD3-64D5-534B-F24D-75312C105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ED46831-678D-B121-6D02-82B0A75E0E06}"/>
              </a:ext>
            </a:extLst>
          </p:cNvPr>
          <p:cNvSpPr txBox="1"/>
          <p:nvPr/>
        </p:nvSpPr>
        <p:spPr>
          <a:xfrm>
            <a:off x="0" y="0"/>
            <a:ext cx="12196916" cy="6878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alibir"/>
              </a:rPr>
              <a:t>Step 15 — Top-level menu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public void menu(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Scanner input) {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while (true) {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String choice =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readChoice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(input);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switch (choice) {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case "L":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bank.customerLogin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    input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);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break;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case "A":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manager.menu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    input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);</a:t>
            </a:r>
          </a:p>
        </p:txBody>
      </p:sp>
    </p:spTree>
    <p:extLst>
      <p:ext uri="{BB962C8B-B14F-4D97-AF65-F5344CB8AC3E}">
        <p14:creationId xmlns:p14="http://schemas.microsoft.com/office/powerpoint/2010/main" val="227715767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131DF-B50C-ACE2-3241-275B0321D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8AD7C2E-2591-7220-5C2F-A3E6D1361B91}"/>
              </a:ext>
            </a:extLst>
          </p:cNvPr>
          <p:cNvSpPr txBox="1"/>
          <p:nvPr/>
        </p:nvSpPr>
        <p:spPr>
          <a:xfrm>
            <a:off x="0" y="0"/>
            <a:ext cx="1219691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break;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case "X":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    "Done"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);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return;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default: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help();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}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371776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D0641-3354-9197-00AE-0EBBB9F27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DAC351-B962-94CE-3A04-BD575DFF96D6}"/>
              </a:ext>
            </a:extLst>
          </p:cNvPr>
          <p:cNvSpPr txBox="1"/>
          <p:nvPr/>
        </p:nvSpPr>
        <p:spPr>
          <a:xfrm>
            <a:off x="0" y="0"/>
            <a:ext cx="6098458" cy="654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ir"/>
              </a:rPr>
              <a:t>Completed Java Login.java</a:t>
            </a:r>
          </a:p>
          <a:p>
            <a:pPr rtl="0">
              <a:buNone/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import </a:t>
            </a:r>
            <a:r>
              <a:rPr lang="en-US" sz="1400" dirty="0" err="1">
                <a:highlight>
                  <a:srgbClr val="FFFF00"/>
                </a:highlight>
                <a:latin typeface="Calibir"/>
              </a:rPr>
              <a:t>java.time.LocalDateTime</a:t>
            </a:r>
            <a:r>
              <a:rPr lang="en-US" sz="1400" dirty="0">
                <a:highlight>
                  <a:srgbClr val="FFFF00"/>
                </a:highlight>
                <a:latin typeface="Calibir"/>
              </a:rPr>
              <a:t>;</a:t>
            </a:r>
          </a:p>
          <a:p>
            <a:pPr rtl="0">
              <a:buNone/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import </a:t>
            </a:r>
            <a:r>
              <a:rPr lang="en-US" sz="1400" dirty="0" err="1">
                <a:highlight>
                  <a:srgbClr val="FFFF00"/>
                </a:highlight>
                <a:latin typeface="Calibir"/>
              </a:rPr>
              <a:t>java.time.format.DateTimeFormatter</a:t>
            </a:r>
            <a:r>
              <a:rPr lang="en-US" sz="1400" dirty="0">
                <a:highlight>
                  <a:srgbClr val="FFFF00"/>
                </a:highlight>
                <a:latin typeface="Calibir"/>
              </a:rPr>
              <a:t>;</a:t>
            </a:r>
          </a:p>
          <a:p>
            <a:pPr rtl="0">
              <a:buNone/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import </a:t>
            </a:r>
            <a:r>
              <a:rPr lang="en-US" sz="1400" dirty="0" err="1">
                <a:highlight>
                  <a:srgbClr val="FFFF00"/>
                </a:highlight>
                <a:latin typeface="Calibir"/>
              </a:rPr>
              <a:t>java.util.Scanner</a:t>
            </a:r>
            <a:r>
              <a:rPr lang="en-US" sz="1400" dirty="0">
                <a:highlight>
                  <a:srgbClr val="FFFF00"/>
                </a:highlight>
                <a:latin typeface="Calibir"/>
              </a:rPr>
              <a:t>;</a:t>
            </a:r>
          </a:p>
          <a:p>
            <a:pPr rtl="0">
              <a:buNone/>
            </a:pPr>
            <a:endParaRPr lang="en-US" sz="14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public class Login {</a:t>
            </a:r>
          </a:p>
          <a:p>
            <a:pPr rtl="0">
              <a:buNone/>
            </a:pPr>
            <a:endParaRPr lang="en-US" sz="14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private Bank </a:t>
            </a:r>
            <a:r>
              <a:rPr lang="en-US" sz="1400" dirty="0" err="1">
                <a:highlight>
                  <a:srgbClr val="FFFF00"/>
                </a:highlight>
                <a:latin typeface="Calibir"/>
              </a:rPr>
              <a:t>bank</a:t>
            </a:r>
            <a:r>
              <a:rPr lang="en-US" sz="1400" dirty="0">
                <a:highlight>
                  <a:srgbClr val="FFFF00"/>
                </a:highlight>
                <a:latin typeface="Calibir"/>
              </a:rPr>
              <a:t>;</a:t>
            </a:r>
          </a:p>
          <a:p>
            <a:pPr rtl="0">
              <a:buNone/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private Manager </a:t>
            </a:r>
            <a:r>
              <a:rPr lang="en-US" sz="1400" dirty="0" err="1">
                <a:highlight>
                  <a:srgbClr val="FFFF00"/>
                </a:highlight>
                <a:latin typeface="Calibir"/>
              </a:rPr>
              <a:t>manager</a:t>
            </a:r>
            <a:r>
              <a:rPr lang="en-US" sz="1400" dirty="0">
                <a:highlight>
                  <a:srgbClr val="FFFF00"/>
                </a:highlight>
                <a:latin typeface="Calibir"/>
              </a:rPr>
              <a:t>;</a:t>
            </a:r>
          </a:p>
          <a:p>
            <a:pPr rtl="0">
              <a:buNone/>
            </a:pPr>
            <a:endParaRPr lang="en-US" sz="14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public Login(</a:t>
            </a:r>
          </a:p>
          <a:p>
            <a:pPr rtl="0">
              <a:buNone/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        Bank </a:t>
            </a:r>
            <a:r>
              <a:rPr lang="en-US" sz="1400" dirty="0" err="1">
                <a:highlight>
                  <a:srgbClr val="FFFF00"/>
                </a:highlight>
                <a:latin typeface="Calibir"/>
              </a:rPr>
              <a:t>bank</a:t>
            </a:r>
            <a:r>
              <a:rPr lang="en-US" sz="1400" dirty="0">
                <a:highlight>
                  <a:srgbClr val="FFFF00"/>
                </a:highlight>
                <a:latin typeface="Calibir"/>
              </a:rPr>
              <a:t>,</a:t>
            </a:r>
          </a:p>
          <a:p>
            <a:pPr rtl="0">
              <a:buNone/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        Manager manager) {</a:t>
            </a:r>
          </a:p>
          <a:p>
            <a:pPr rtl="0">
              <a:buNone/>
            </a:pPr>
            <a:endParaRPr lang="en-US" sz="14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400" dirty="0" err="1">
                <a:highlight>
                  <a:srgbClr val="FFFF00"/>
                </a:highlight>
                <a:latin typeface="Calibir"/>
              </a:rPr>
              <a:t>this.bank</a:t>
            </a:r>
            <a:r>
              <a:rPr lang="en-US" sz="1400" dirty="0">
                <a:highlight>
                  <a:srgbClr val="FFFF00"/>
                </a:highlight>
                <a:latin typeface="Calibir"/>
              </a:rPr>
              <a:t> =</a:t>
            </a:r>
          </a:p>
          <a:p>
            <a:pPr rtl="0">
              <a:buNone/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            bank;</a:t>
            </a:r>
          </a:p>
          <a:p>
            <a:pPr rtl="0">
              <a:buNone/>
            </a:pPr>
            <a:endParaRPr lang="en-US" sz="14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400" dirty="0" err="1">
                <a:highlight>
                  <a:srgbClr val="FFFF00"/>
                </a:highlight>
                <a:latin typeface="Calibir"/>
              </a:rPr>
              <a:t>this.manager</a:t>
            </a:r>
            <a:r>
              <a:rPr lang="en-US" sz="1400" dirty="0">
                <a:highlight>
                  <a:srgbClr val="FFFF00"/>
                </a:highlight>
                <a:latin typeface="Calibir"/>
              </a:rPr>
              <a:t> =</a:t>
            </a:r>
          </a:p>
          <a:p>
            <a:pPr rtl="0">
              <a:buNone/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            manager;</a:t>
            </a:r>
          </a:p>
          <a:p>
            <a:pPr rtl="0">
              <a:buNone/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pPr rtl="0">
              <a:buNone/>
            </a:pPr>
            <a:endParaRPr lang="en-US" sz="14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public String </a:t>
            </a:r>
            <a:r>
              <a:rPr lang="en-US" sz="1400" dirty="0" err="1">
                <a:highlight>
                  <a:srgbClr val="FFFF00"/>
                </a:highlight>
                <a:latin typeface="Calibir"/>
              </a:rPr>
              <a:t>readChoice</a:t>
            </a:r>
            <a:r>
              <a:rPr lang="en-US" sz="14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pPr rtl="0">
              <a:buNone/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        Scanner input) {</a:t>
            </a:r>
          </a:p>
          <a:p>
            <a:pPr rtl="0">
              <a:buNone/>
            </a:pPr>
            <a:endParaRPr lang="en-US" sz="1400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1400" dirty="0" err="1">
                <a:highlight>
                  <a:srgbClr val="FFFF00"/>
                </a:highlight>
                <a:latin typeface="Calibir"/>
              </a:rPr>
              <a:t>System.out.print</a:t>
            </a:r>
            <a:r>
              <a:rPr lang="en-US" sz="14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pPr rtl="0">
              <a:buNone/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        "Customer menu "</a:t>
            </a:r>
          </a:p>
          <a:p>
            <a:pPr rtl="0">
              <a:buNone/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        + "(L/A/X): "</a:t>
            </a:r>
          </a:p>
          <a:p>
            <a:pPr rtl="0">
              <a:buNone/>
            </a:pPr>
            <a:r>
              <a:rPr lang="en-US" sz="1400" dirty="0">
                <a:highlight>
                  <a:srgbClr val="FFFF00"/>
                </a:highlight>
                <a:latin typeface="Calibir"/>
              </a:rPr>
              <a:t>        );</a:t>
            </a:r>
          </a:p>
          <a:p>
            <a:pPr rtl="0">
              <a:buNone/>
            </a:pPr>
            <a:endParaRPr lang="en-US" sz="1400" dirty="0">
              <a:highlight>
                <a:srgbClr val="FFFF00"/>
              </a:highlight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413425179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84A52-B01E-74C1-9CB6-3442F20CC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B3228C-F8FC-0212-C3B1-74BC74284EBD}"/>
              </a:ext>
            </a:extLst>
          </p:cNvPr>
          <p:cNvSpPr txBox="1"/>
          <p:nvPr/>
        </p:nvSpPr>
        <p:spPr>
          <a:xfrm>
            <a:off x="0" y="0"/>
            <a:ext cx="609845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alibir"/>
              </a:rPr>
              <a:t> return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input.nextLine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    .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toUpperCase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public void help() {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"L = Log in as a customer."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);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"A = Log in as the manager."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);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"X = Exit."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);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public void menu(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Scanner input) {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83285645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E9825-325A-4FD9-3836-0C4726FA6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5A9F05-93BE-11E0-EE6F-4E166A4740F6}"/>
              </a:ext>
            </a:extLst>
          </p:cNvPr>
          <p:cNvSpPr txBox="1"/>
          <p:nvPr/>
        </p:nvSpPr>
        <p:spPr>
          <a:xfrm>
            <a:off x="0" y="0"/>
            <a:ext cx="609845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alibir"/>
              </a:rPr>
              <a:t>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DateTimeFormatter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 formatter =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DateTimeFormatter.ofPattern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    "dd/MM/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yyyy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 -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HH:mm:ss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"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);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String now =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LocalDateTime.now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             .format(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                 formatter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             );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"Bank menu: "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+ now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);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while (true) {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String choice =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readChoice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(input);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switch (choice) {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case "L":</a:t>
            </a:r>
          </a:p>
        </p:txBody>
      </p:sp>
    </p:spTree>
    <p:extLst>
      <p:ext uri="{BB962C8B-B14F-4D97-AF65-F5344CB8AC3E}">
        <p14:creationId xmlns:p14="http://schemas.microsoft.com/office/powerpoint/2010/main" val="184285516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DACB1-D88A-B652-B2DD-C3462AFE6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F58070-CEAB-566C-D742-49D64AB7A6E7}"/>
              </a:ext>
            </a:extLst>
          </p:cNvPr>
          <p:cNvSpPr txBox="1"/>
          <p:nvPr/>
        </p:nvSpPr>
        <p:spPr>
          <a:xfrm>
            <a:off x="0" y="0"/>
            <a:ext cx="609845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bank.customerLogin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        input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    );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    break;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case "A":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manager.menu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        input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    );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    break;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case "X":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        "Done"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    );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    return;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default:</a:t>
            </a:r>
          </a:p>
        </p:txBody>
      </p:sp>
    </p:spTree>
    <p:extLst>
      <p:ext uri="{BB962C8B-B14F-4D97-AF65-F5344CB8AC3E}">
        <p14:creationId xmlns:p14="http://schemas.microsoft.com/office/powerpoint/2010/main" val="287304273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BD6F7-4197-69F3-F81B-EA3C39D3F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9A7E04-AF5D-E25F-684B-5D709D7BC6C6}"/>
              </a:ext>
            </a:extLst>
          </p:cNvPr>
          <p:cNvSpPr txBox="1"/>
          <p:nvPr/>
        </p:nvSpPr>
        <p:spPr>
          <a:xfrm>
            <a:off x="0" y="0"/>
            <a:ext cx="609845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    help();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}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}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public static void main(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String[]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args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) {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Scanner input =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new Scanner(System.in);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Bank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bank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 =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new Bank(input);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input.nextLine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Manager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manager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 =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new Manager(bank);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Login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login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 =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new Login(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    bank,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    manager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    );</a:t>
            </a:r>
          </a:p>
        </p:txBody>
      </p:sp>
    </p:spTree>
    <p:extLst>
      <p:ext uri="{BB962C8B-B14F-4D97-AF65-F5344CB8AC3E}">
        <p14:creationId xmlns:p14="http://schemas.microsoft.com/office/powerpoint/2010/main" val="114931825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AF438-FA45-BFBD-140C-70799D8BA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6A845A-32D4-FBB3-B9CF-C90387DC3D9D}"/>
              </a:ext>
            </a:extLst>
          </p:cNvPr>
          <p:cNvSpPr txBox="1"/>
          <p:nvPr/>
        </p:nvSpPr>
        <p:spPr>
          <a:xfrm>
            <a:off x="0" y="0"/>
            <a:ext cx="60984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login.menu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(input);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input.close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2124583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3B7BD-D84C-6A41-B005-3C27D49B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A3A0AA-4375-4F1F-7423-C900D618D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77043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B6A486-5511-78A3-A412-3CC59DE530A1}"/>
              </a:ext>
            </a:extLst>
          </p:cNvPr>
          <p:cNvSpPr txBox="1"/>
          <p:nvPr/>
        </p:nvSpPr>
        <p:spPr>
          <a:xfrm>
            <a:off x="0" y="1"/>
            <a:ext cx="12199434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Lab 8 — Why Manager Does Not Directly Access Customers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is one of the most important design points in the supplied material.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 poor design would be: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Manager </a:t>
            </a:r>
            <a:r>
              <a:rPr lang="en-US" sz="28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800" dirty="0">
                <a:latin typeface="Calibir"/>
              </a:rPr>
              <a:t>customers list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because now both Bank and Manager could manipulate the same data directly.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 Lab 8 design is: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Manager </a:t>
            </a:r>
            <a:r>
              <a:rPr lang="en-US" sz="28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800" dirty="0">
                <a:latin typeface="Calibir"/>
              </a:rPr>
              <a:t>calls Bank methods </a:t>
            </a:r>
            <a:r>
              <a:rPr lang="en-US" sz="28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800" dirty="0">
                <a:latin typeface="Calibir"/>
              </a:rPr>
              <a:t>Bank </a:t>
            </a:r>
            <a:r>
              <a:rPr lang="en-US" sz="28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800" dirty="0">
                <a:latin typeface="Calibir"/>
              </a:rPr>
              <a:t>owns customers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For example: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def remove(self):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</a:t>
            </a:r>
            <a:r>
              <a:rPr lang="en-US" sz="2800" dirty="0" err="1">
                <a:latin typeface="Calibir"/>
              </a:rPr>
              <a:t>self.bank.remove</a:t>
            </a:r>
            <a:r>
              <a:rPr lang="en-US" sz="2800" dirty="0">
                <a:latin typeface="Calibir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21515288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28092-4DED-3A58-C033-19DFF8C06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EF0452-AA8A-A86A-9BDF-3197C8EB9380}"/>
              </a:ext>
            </a:extLst>
          </p:cNvPr>
          <p:cNvSpPr txBox="1"/>
          <p:nvPr/>
        </p:nvSpPr>
        <p:spPr>
          <a:xfrm>
            <a:off x="0" y="1"/>
            <a:ext cx="12199434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 Manager says: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Bank, please remove the requested customer.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 Bank decides how the customer list is actually changed.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supports encapsulation.</a:t>
            </a:r>
          </a:p>
        </p:txBody>
      </p:sp>
    </p:spTree>
    <p:extLst>
      <p:ext uri="{BB962C8B-B14F-4D97-AF65-F5344CB8AC3E}">
        <p14:creationId xmlns:p14="http://schemas.microsoft.com/office/powerpoint/2010/main" val="302642907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01166-E8AD-2313-9BF7-4DB4E65EB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7C1E8E-6C67-1B7F-9809-E09BF9DF6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57580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980C27-948C-5A74-3794-543E81ADB7CC}"/>
              </a:ext>
            </a:extLst>
          </p:cNvPr>
          <p:cNvSpPr txBox="1"/>
          <p:nvPr/>
        </p:nvSpPr>
        <p:spPr>
          <a:xfrm>
            <a:off x="508001" y="1117601"/>
            <a:ext cx="9855200" cy="5040739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US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Develop the program </a:t>
            </a:r>
            <a:r>
              <a:rPr lang="en-US" sz="2400" b="1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Lab8Exercise1</a:t>
            </a:r>
            <a:r>
              <a:rPr lang="en-US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 that contains the following 4 steps: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</a:pPr>
            <a:endParaRPr lang="en-US" sz="2400" kern="0" dirty="0">
              <a:solidFill>
                <a:srgbClr val="000000"/>
              </a:solidFill>
              <a:latin typeface="Economica" panose="020B0604020202020204" charset="0"/>
              <a:cs typeface="Arial"/>
              <a:sym typeface="Arial"/>
            </a:endParaRPr>
          </a:p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US" sz="2400" b="1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Step 1: </a:t>
            </a:r>
            <a:r>
              <a:rPr lang="en-US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Develop the Polygon class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Polygon has one field: type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Polygon has one constructor that initializes the field "type" from parameter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Polygon has an abstract method ‘</a:t>
            </a:r>
            <a:r>
              <a:rPr lang="en-US" sz="2400" kern="0" dirty="0">
                <a:solidFill>
                  <a:srgbClr val="F79646">
                    <a:lumMod val="75000"/>
                  </a:srgbClr>
                </a:solidFill>
                <a:latin typeface="Economica"/>
                <a:cs typeface="Arial"/>
                <a:sym typeface="Arial"/>
              </a:rPr>
              <a:t>area</a:t>
            </a:r>
            <a:r>
              <a:rPr lang="en-US" sz="24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’ with no parameters and returns a double </a:t>
            </a:r>
            <a:endParaRPr lang="en-US" sz="2400" kern="0" dirty="0">
              <a:solidFill>
                <a:srgbClr val="F79646">
                  <a:lumMod val="75000"/>
                </a:srgbClr>
              </a:solidFill>
              <a:latin typeface="Economica" panose="020B0604020202020204" charset="0"/>
              <a:cs typeface="Arial"/>
              <a:sym typeface="Arial"/>
            </a:endParaRPr>
          </a:p>
        </p:txBody>
      </p:sp>
      <p:sp>
        <p:nvSpPr>
          <p:cNvPr id="5" name="Google Shape;101;p19">
            <a:extLst>
              <a:ext uri="{FF2B5EF4-FFF2-40B4-BE49-F238E27FC236}">
                <a16:creationId xmlns:a16="http://schemas.microsoft.com/office/drawing/2014/main" id="{F8D3A49D-FBAE-A439-8037-127C1F3CB4FC}"/>
              </a:ext>
            </a:extLst>
          </p:cNvPr>
          <p:cNvSpPr txBox="1">
            <a:spLocks/>
          </p:cNvSpPr>
          <p:nvPr/>
        </p:nvSpPr>
        <p:spPr>
          <a:xfrm>
            <a:off x="58208" y="-564"/>
            <a:ext cx="11362267" cy="110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defTabSz="1219170">
              <a:buClr>
                <a:prstClr val="black"/>
              </a:buClr>
            </a:pPr>
            <a:r>
              <a:rPr lang="en-GB" sz="5600" kern="0" dirty="0">
                <a:solidFill>
                  <a:prstClr val="black"/>
                </a:solidFill>
              </a:rPr>
              <a:t>  Lab 8 – </a:t>
            </a:r>
            <a:r>
              <a:rPr lang="en-US" sz="5333" kern="0" dirty="0">
                <a:solidFill>
                  <a:prstClr val="black"/>
                </a:solidFill>
                <a:latin typeface="Economica" panose="020B0604020202020204" charset="0"/>
              </a:rPr>
              <a:t>Lab8Exercise1</a:t>
            </a:r>
            <a:endParaRPr lang="en-GB" sz="5600" kern="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142085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980C27-948C-5A74-3794-543E81ADB7CC}"/>
              </a:ext>
            </a:extLst>
          </p:cNvPr>
          <p:cNvSpPr txBox="1"/>
          <p:nvPr/>
        </p:nvSpPr>
        <p:spPr>
          <a:xfrm>
            <a:off x="519352" y="1108570"/>
            <a:ext cx="11614441" cy="5040739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US" sz="2400" b="1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Step 2: </a:t>
            </a:r>
            <a:r>
              <a:rPr lang="en-US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Develop the class Square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Square is subclass of Polygon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Square </a:t>
            </a:r>
            <a:r>
              <a:rPr lang="en-US" sz="24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has one field: </a:t>
            </a:r>
            <a:r>
              <a:rPr lang="en-US" sz="2400" kern="0" dirty="0">
                <a:solidFill>
                  <a:srgbClr val="F79646">
                    <a:lumMod val="75000"/>
                  </a:srgbClr>
                </a:solidFill>
                <a:latin typeface="Economica"/>
                <a:cs typeface="Arial"/>
                <a:sym typeface="Arial"/>
              </a:rPr>
              <a:t>side</a:t>
            </a:r>
            <a:r>
              <a:rPr lang="en-US" sz="24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 of type double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Square </a:t>
            </a:r>
            <a:r>
              <a:rPr lang="en-US" sz="24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has one constructor that initializes the field side from parameter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Square </a:t>
            </a:r>
            <a:r>
              <a:rPr lang="en-US" sz="24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overrides the method ‘area’ defined in Polygon to return the area of a square</a:t>
            </a:r>
            <a:endParaRPr lang="en-US" sz="2400" kern="0" dirty="0">
              <a:solidFill>
                <a:prstClr val="black"/>
              </a:solidFill>
              <a:latin typeface="Economica" panose="020B0604020202020204" charset="0"/>
              <a:cs typeface="Arial"/>
              <a:sym typeface="Arial"/>
            </a:endParaRP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Square </a:t>
            </a:r>
            <a:r>
              <a:rPr lang="en-US" sz="24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overrides the __str__() method to return: </a:t>
            </a:r>
            <a:r>
              <a:rPr lang="en-US" sz="2400" kern="0" dirty="0">
                <a:solidFill>
                  <a:srgbClr val="F79646">
                    <a:lumMod val="75000"/>
                  </a:srgbClr>
                </a:solidFill>
                <a:latin typeface="Economica"/>
                <a:cs typeface="Arial"/>
                <a:sym typeface="Arial"/>
              </a:rPr>
              <a:t>“&lt;type&gt; area = &lt;area&gt;”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US" sz="2400" kern="0" dirty="0">
                <a:solidFill>
                  <a:prstClr val="white">
                    <a:lumMod val="50000"/>
                  </a:prstClr>
                </a:solidFill>
                <a:latin typeface="Economica"/>
                <a:cs typeface="Arial"/>
                <a:sym typeface="Arial"/>
              </a:rPr>
              <a:t>[type should be formatted using %-8s, and area should be formatted using %-6.2f] 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</a:pPr>
            <a:endParaRPr lang="en-US" sz="2400" kern="0" dirty="0">
              <a:solidFill>
                <a:srgbClr val="000000"/>
              </a:solidFill>
              <a:latin typeface="Economica" panose="020B0604020202020204" charset="0"/>
              <a:cs typeface="Arial"/>
              <a:sym typeface="Arial"/>
            </a:endParaRPr>
          </a:p>
        </p:txBody>
      </p:sp>
      <p:sp>
        <p:nvSpPr>
          <p:cNvPr id="5" name="Google Shape;101;p19">
            <a:extLst>
              <a:ext uri="{FF2B5EF4-FFF2-40B4-BE49-F238E27FC236}">
                <a16:creationId xmlns:a16="http://schemas.microsoft.com/office/drawing/2014/main" id="{F8D3A49D-FBAE-A439-8037-127C1F3CB4FC}"/>
              </a:ext>
            </a:extLst>
          </p:cNvPr>
          <p:cNvSpPr txBox="1">
            <a:spLocks/>
          </p:cNvSpPr>
          <p:nvPr/>
        </p:nvSpPr>
        <p:spPr>
          <a:xfrm>
            <a:off x="58208" y="-564"/>
            <a:ext cx="11362267" cy="110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defTabSz="1219170">
              <a:buClr>
                <a:prstClr val="black"/>
              </a:buClr>
            </a:pPr>
            <a:r>
              <a:rPr lang="en-GB" sz="5600" kern="0" dirty="0">
                <a:solidFill>
                  <a:prstClr val="black"/>
                </a:solidFill>
              </a:rPr>
              <a:t>  Lab 8 – </a:t>
            </a:r>
            <a:r>
              <a:rPr lang="en-US" sz="5867" kern="0" dirty="0">
                <a:solidFill>
                  <a:prstClr val="black"/>
                </a:solidFill>
                <a:latin typeface="Economica" panose="020B0604020202020204" charset="0"/>
              </a:rPr>
              <a:t>Lab8Exercise1</a:t>
            </a:r>
            <a:endParaRPr lang="en-GB" sz="5600" kern="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48097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980C27-948C-5A74-3794-543E81ADB7CC}"/>
              </a:ext>
            </a:extLst>
          </p:cNvPr>
          <p:cNvSpPr txBox="1"/>
          <p:nvPr/>
        </p:nvSpPr>
        <p:spPr>
          <a:xfrm>
            <a:off x="406401" y="1108570"/>
            <a:ext cx="11614441" cy="4486741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US" sz="2400" b="1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Step 3: </a:t>
            </a:r>
            <a:r>
              <a:rPr lang="en-US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Develop the class Triangle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Triangle is a subclass of Polygon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Triangle </a:t>
            </a:r>
            <a:r>
              <a:rPr lang="en-US" sz="2400" kern="0" dirty="0">
                <a:solidFill>
                  <a:prstClr val="black"/>
                </a:solidFill>
                <a:latin typeface="Economica" panose="020B0604020202020204" charset="0"/>
                <a:cs typeface="Arial"/>
                <a:sym typeface="Arial"/>
              </a:rPr>
              <a:t>has two double fields: </a:t>
            </a:r>
            <a:r>
              <a:rPr lang="en-US" sz="2400" kern="0" dirty="0">
                <a:solidFill>
                  <a:srgbClr val="F79646">
                    <a:lumMod val="75000"/>
                  </a:srgbClr>
                </a:solidFill>
                <a:latin typeface="Economica" panose="020B0604020202020204" charset="0"/>
                <a:cs typeface="Arial"/>
                <a:sym typeface="Arial"/>
              </a:rPr>
              <a:t>height and base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Triangle </a:t>
            </a:r>
            <a:r>
              <a:rPr lang="en-US" sz="24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has one constructor that initializes these fields from parameters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Triangle </a:t>
            </a:r>
            <a:r>
              <a:rPr lang="en-US" sz="24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overrides the method ‘area’ defined in Polygon to return the area of a triangle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Triangle </a:t>
            </a:r>
            <a:r>
              <a:rPr lang="en-US" sz="24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overrides the __str__() method to return: </a:t>
            </a:r>
            <a:r>
              <a:rPr lang="en-US" sz="2400" kern="0" dirty="0">
                <a:solidFill>
                  <a:srgbClr val="F79646">
                    <a:lumMod val="75000"/>
                  </a:srgbClr>
                </a:solidFill>
                <a:latin typeface="Economica"/>
                <a:cs typeface="Arial"/>
                <a:sym typeface="Arial"/>
              </a:rPr>
              <a:t>“&lt;type&gt; area = &lt;area&gt;”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US" sz="2400" kern="0" dirty="0">
                <a:solidFill>
                  <a:prstClr val="white">
                    <a:lumMod val="50000"/>
                  </a:prstClr>
                </a:solidFill>
                <a:latin typeface="Economica"/>
                <a:cs typeface="Arial"/>
                <a:sym typeface="Arial"/>
              </a:rPr>
              <a:t>[type should be formatted using %-8s, and area should be formatted using %-6.2f]</a:t>
            </a:r>
          </a:p>
        </p:txBody>
      </p:sp>
      <p:sp>
        <p:nvSpPr>
          <p:cNvPr id="5" name="Google Shape;101;p19">
            <a:extLst>
              <a:ext uri="{FF2B5EF4-FFF2-40B4-BE49-F238E27FC236}">
                <a16:creationId xmlns:a16="http://schemas.microsoft.com/office/drawing/2014/main" id="{F8D3A49D-FBAE-A439-8037-127C1F3CB4FC}"/>
              </a:ext>
            </a:extLst>
          </p:cNvPr>
          <p:cNvSpPr txBox="1">
            <a:spLocks/>
          </p:cNvSpPr>
          <p:nvPr/>
        </p:nvSpPr>
        <p:spPr>
          <a:xfrm>
            <a:off x="58208" y="-564"/>
            <a:ext cx="11362267" cy="110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defTabSz="1219170">
              <a:buClr>
                <a:prstClr val="black"/>
              </a:buClr>
            </a:pPr>
            <a:r>
              <a:rPr lang="en-GB" sz="5600" kern="0" dirty="0">
                <a:solidFill>
                  <a:prstClr val="black"/>
                </a:solidFill>
              </a:rPr>
              <a:t>  Lab 8 – </a:t>
            </a:r>
            <a:r>
              <a:rPr lang="en-US" sz="5867" kern="0" dirty="0">
                <a:solidFill>
                  <a:prstClr val="black"/>
                </a:solidFill>
                <a:latin typeface="Economica" panose="020B0604020202020204" charset="0"/>
              </a:rPr>
              <a:t>Lab8Exercise1</a:t>
            </a:r>
            <a:endParaRPr lang="en-GB" sz="5600" kern="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80222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980C27-948C-5A74-3794-543E81ADB7CC}"/>
              </a:ext>
            </a:extLst>
          </p:cNvPr>
          <p:cNvSpPr txBox="1"/>
          <p:nvPr/>
        </p:nvSpPr>
        <p:spPr>
          <a:xfrm>
            <a:off x="406401" y="1108569"/>
            <a:ext cx="11614441" cy="6702732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US" sz="2400" b="1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Step 4: </a:t>
            </a:r>
            <a:r>
              <a:rPr lang="en-US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Develop the class Shapes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Shapes has a field ‘shapes’ of type List which stores Polygon objects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Shapes has one constructor that initializes the field shapes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Shapes has a method ‘</a:t>
            </a:r>
            <a:r>
              <a:rPr lang="en-US" sz="2400" kern="0" dirty="0" err="1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load_shapes</a:t>
            </a:r>
            <a:r>
              <a:rPr lang="en-US" sz="24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’ to populate the List with the following objects: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US" sz="24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	-  2 Square objects with sides of 5 and 10 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US" sz="24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	-  2 Triangle objects with height of 5 and base of 3, and height of 5 and base of 5 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Shapes has a method ‘show’ that prints out information about all its Polygon objects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Run the program by creating an instance of Shapes and invoking the method ‘show’</a:t>
            </a:r>
          </a:p>
        </p:txBody>
      </p:sp>
      <p:sp>
        <p:nvSpPr>
          <p:cNvPr id="5" name="Google Shape;101;p19">
            <a:extLst>
              <a:ext uri="{FF2B5EF4-FFF2-40B4-BE49-F238E27FC236}">
                <a16:creationId xmlns:a16="http://schemas.microsoft.com/office/drawing/2014/main" id="{F8D3A49D-FBAE-A439-8037-127C1F3CB4FC}"/>
              </a:ext>
            </a:extLst>
          </p:cNvPr>
          <p:cNvSpPr txBox="1">
            <a:spLocks/>
          </p:cNvSpPr>
          <p:nvPr/>
        </p:nvSpPr>
        <p:spPr>
          <a:xfrm>
            <a:off x="58208" y="-564"/>
            <a:ext cx="11362267" cy="110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defTabSz="1219170">
              <a:buClr>
                <a:prstClr val="black"/>
              </a:buClr>
            </a:pPr>
            <a:r>
              <a:rPr lang="en-GB" sz="5600" kern="0" dirty="0">
                <a:solidFill>
                  <a:prstClr val="black"/>
                </a:solidFill>
              </a:rPr>
              <a:t>  Lab 8 – </a:t>
            </a:r>
            <a:r>
              <a:rPr lang="en-US" sz="5867" kern="0" dirty="0">
                <a:solidFill>
                  <a:prstClr val="black"/>
                </a:solidFill>
                <a:latin typeface="Economica" panose="020B0604020202020204" charset="0"/>
              </a:rPr>
              <a:t>Lab8Exercise1</a:t>
            </a:r>
            <a:endParaRPr lang="en-GB" sz="5600" kern="0" dirty="0">
              <a:solidFill>
                <a:prstClr val="black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477AF3-F968-0EAA-2B76-2CDA3DE74E10}"/>
              </a:ext>
            </a:extLst>
          </p:cNvPr>
          <p:cNvSpPr txBox="1"/>
          <p:nvPr/>
        </p:nvSpPr>
        <p:spPr>
          <a:xfrm>
            <a:off x="8729141" y="2108200"/>
            <a:ext cx="2691335" cy="1930400"/>
          </a:xfrm>
          <a:prstGeom prst="rect">
            <a:avLst/>
          </a:prstGeom>
          <a:noFill/>
          <a:ln w="12700">
            <a:solidFill>
              <a:schemeClr val="accent6">
                <a:lumMod val="75000"/>
              </a:schemeClr>
            </a:solidFill>
            <a:prstDash val="sysDash"/>
          </a:ln>
        </p:spPr>
        <p:txBody>
          <a:bodyPr wrap="none" rtlCol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-GB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Sample I/O:</a:t>
            </a:r>
          </a:p>
          <a:p>
            <a:pPr defTabSz="1219170">
              <a:buClr>
                <a:srgbClr val="000000"/>
              </a:buClr>
            </a:pPr>
            <a:endParaRPr lang="en-GB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r>
              <a:rPr lang="en-GB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Triangle area = 7.50  </a:t>
            </a:r>
          </a:p>
          <a:p>
            <a:pPr defTabSz="1219170">
              <a:buClr>
                <a:srgbClr val="000000"/>
              </a:buClr>
            </a:pPr>
            <a:r>
              <a:rPr lang="en-GB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Triangle area = 12.50 </a:t>
            </a:r>
          </a:p>
          <a:p>
            <a:pPr defTabSz="1219170">
              <a:buClr>
                <a:srgbClr val="000000"/>
              </a:buClr>
            </a:pPr>
            <a:r>
              <a:rPr lang="en-GB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Square   area = 25.00 </a:t>
            </a:r>
          </a:p>
          <a:p>
            <a:pPr defTabSz="1219170">
              <a:buClr>
                <a:srgbClr val="000000"/>
              </a:buClr>
            </a:pPr>
            <a:r>
              <a:rPr lang="en-GB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Square   area = 100.00</a:t>
            </a:r>
          </a:p>
          <a:p>
            <a:pPr defTabSz="1219170">
              <a:buClr>
                <a:srgbClr val="000000"/>
              </a:buClr>
            </a:pPr>
            <a:endParaRPr lang="en-US"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408179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923152-D0AB-8558-426D-442AC1EF2F2E}"/>
              </a:ext>
            </a:extLst>
          </p:cNvPr>
          <p:cNvSpPr txBox="1"/>
          <p:nvPr/>
        </p:nvSpPr>
        <p:spPr>
          <a:xfrm>
            <a:off x="0" y="0"/>
            <a:ext cx="12199434" cy="7278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Lab 8 Exercise 1 — Polygon, Square, Triangle, Shapes</a:t>
            </a:r>
          </a:p>
          <a:p>
            <a:pPr>
              <a:lnSpc>
                <a:spcPct val="150000"/>
              </a:lnSpc>
              <a:buNone/>
            </a:pPr>
            <a:r>
              <a:rPr lang="en-US" sz="2600" b="1" dirty="0">
                <a:latin typeface="Calibir"/>
              </a:rPr>
              <a:t>Main learning goal</a:t>
            </a:r>
          </a:p>
          <a:p>
            <a:pPr>
              <a:lnSpc>
                <a:spcPct val="150000"/>
              </a:lnSpc>
              <a:buNone/>
            </a:pPr>
            <a:r>
              <a:rPr lang="en-US" sz="2500" dirty="0">
                <a:latin typeface="Calibir"/>
              </a:rPr>
              <a:t>This exercise introduces: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abstract classes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inheritance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method overriding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polymorphism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lists of parent-class objects </a:t>
            </a:r>
          </a:p>
          <a:p>
            <a:pPr>
              <a:lnSpc>
                <a:spcPct val="150000"/>
              </a:lnSpc>
              <a:buNone/>
            </a:pPr>
            <a:r>
              <a:rPr lang="en-US" sz="2500" dirty="0">
                <a:latin typeface="Calibir"/>
              </a:rPr>
              <a:t>The big idea is: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500" dirty="0">
                <a:latin typeface="Calibir"/>
              </a:rPr>
              <a:t>Polygon </a:t>
            </a:r>
            <a:r>
              <a:rPr lang="en-US" sz="25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500" dirty="0">
                <a:latin typeface="Calibir"/>
              </a:rPr>
              <a:t>Square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500" dirty="0">
                <a:latin typeface="Calibir"/>
              </a:rPr>
              <a:t>Triangle Both Square and Triangle are different shapes, but both can be treated as Polygon objects.</a:t>
            </a:r>
          </a:p>
        </p:txBody>
      </p:sp>
    </p:spTree>
    <p:extLst>
      <p:ext uri="{BB962C8B-B14F-4D97-AF65-F5344CB8AC3E}">
        <p14:creationId xmlns:p14="http://schemas.microsoft.com/office/powerpoint/2010/main" val="71936758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46A3B-6F0C-1527-B811-CA31FB8ED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4EE85B-D2DB-49CA-2A28-70C35F56E52F}"/>
              </a:ext>
            </a:extLst>
          </p:cNvPr>
          <p:cNvSpPr txBox="1"/>
          <p:nvPr/>
        </p:nvSpPr>
        <p:spPr>
          <a:xfrm>
            <a:off x="0" y="0"/>
            <a:ext cx="9149575" cy="668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Step 1 — Create the abstract Polygon class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Python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Python uses the </a:t>
            </a:r>
            <a:r>
              <a:rPr lang="en-US" sz="2400" dirty="0" err="1">
                <a:latin typeface="Calibir"/>
              </a:rPr>
              <a:t>abc</a:t>
            </a:r>
            <a:r>
              <a:rPr lang="en-US" sz="2400" dirty="0">
                <a:latin typeface="Calibir"/>
              </a:rPr>
              <a:t> module for abstract classes.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Start with: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from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abc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 import ABC,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abstractmethod</a:t>
            </a:r>
            <a:endParaRPr lang="en-US" sz="2400" dirty="0">
              <a:highlight>
                <a:srgbClr val="FFFF00"/>
              </a:highlight>
              <a:latin typeface="Calibir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Then create the class: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class Polygon(ABC):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def __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init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__(self,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shape_type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):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self.type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 =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shape_type</a:t>
            </a:r>
            <a:endParaRPr lang="en-US" sz="2400" dirty="0">
              <a:highlight>
                <a:srgbClr val="FFFF00"/>
              </a:highlight>
              <a:latin typeface="Calibir"/>
            </a:endParaRP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@abstractmethod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def area(self):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    pass</a:t>
            </a:r>
          </a:p>
        </p:txBody>
      </p:sp>
    </p:spTree>
    <p:extLst>
      <p:ext uri="{BB962C8B-B14F-4D97-AF65-F5344CB8AC3E}">
        <p14:creationId xmlns:p14="http://schemas.microsoft.com/office/powerpoint/2010/main" val="18617654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1EDE8-300E-3CB6-61B2-43ACCFC32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83FC28-1EF0-51FB-6A8A-A4668033CE5D}"/>
              </a:ext>
            </a:extLst>
          </p:cNvPr>
          <p:cNvSpPr txBox="1"/>
          <p:nvPr/>
        </p:nvSpPr>
        <p:spPr>
          <a:xfrm>
            <a:off x="0" y="0"/>
            <a:ext cx="9149575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Simple explanation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ABC means: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class is intended to be a parent/abstract class.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@abstractmethod means: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Every concrete subclass must provide its own area() method.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So we should not normally create: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Polygon("Shape")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directly.</a:t>
            </a:r>
          </a:p>
        </p:txBody>
      </p:sp>
    </p:spTree>
    <p:extLst>
      <p:ext uri="{BB962C8B-B14F-4D97-AF65-F5344CB8AC3E}">
        <p14:creationId xmlns:p14="http://schemas.microsoft.com/office/powerpoint/2010/main" val="415665782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53676-F17A-2C51-6507-EEE292BC7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4F34C6-4890-0A00-A237-1A8AD90487E4}"/>
              </a:ext>
            </a:extLst>
          </p:cNvPr>
          <p:cNvSpPr txBox="1"/>
          <p:nvPr/>
        </p:nvSpPr>
        <p:spPr>
          <a:xfrm>
            <a:off x="0" y="1"/>
            <a:ext cx="12199434" cy="6897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Java</a:t>
            </a:r>
          </a:p>
          <a:p>
            <a:pPr>
              <a:lnSpc>
                <a:spcPct val="150000"/>
              </a:lnSpc>
              <a:buNone/>
            </a:pPr>
            <a:r>
              <a:rPr lang="en-US" sz="2100" dirty="0">
                <a:latin typeface="Calibir"/>
              </a:rPr>
              <a:t>Java has built-in support for abstract classes.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100" dirty="0">
                <a:latin typeface="Calibir"/>
              </a:rPr>
              <a:t>public abstract class Polygon {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100" dirty="0">
                <a:latin typeface="Calibir"/>
              </a:rPr>
              <a:t>    protected String type;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100" dirty="0">
                <a:latin typeface="Calibir"/>
              </a:rPr>
              <a:t>    public Polygon(String type) {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100" dirty="0">
                <a:latin typeface="Calibir"/>
              </a:rPr>
              <a:t>        </a:t>
            </a:r>
            <a:r>
              <a:rPr lang="en-US" sz="2100" dirty="0" err="1">
                <a:latin typeface="Calibir"/>
              </a:rPr>
              <a:t>this.type</a:t>
            </a:r>
            <a:r>
              <a:rPr lang="en-US" sz="2100" dirty="0">
                <a:latin typeface="Calibir"/>
              </a:rPr>
              <a:t> = type;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100" dirty="0">
                <a:latin typeface="Calibir"/>
              </a:rPr>
              <a:t>    }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100" dirty="0">
                <a:latin typeface="Calibir"/>
              </a:rPr>
              <a:t>    public abstract double area();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100" dirty="0">
                <a:latin typeface="Calibir"/>
              </a:rPr>
              <a:t>}</a:t>
            </a:r>
          </a:p>
          <a:p>
            <a:pPr>
              <a:lnSpc>
                <a:spcPct val="150000"/>
              </a:lnSpc>
              <a:buNone/>
            </a:pPr>
            <a:r>
              <a:rPr lang="en-US" sz="2100" b="1" dirty="0">
                <a:latin typeface="Calibir"/>
              </a:rPr>
              <a:t>Explanation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100" dirty="0">
                <a:latin typeface="Calibir"/>
              </a:rPr>
              <a:t>abstract class Polygon</a:t>
            </a:r>
          </a:p>
          <a:p>
            <a:pPr>
              <a:lnSpc>
                <a:spcPct val="150000"/>
              </a:lnSpc>
              <a:buNone/>
            </a:pPr>
            <a:r>
              <a:rPr lang="en-US" sz="2100" dirty="0">
                <a:latin typeface="Calibir"/>
              </a:rPr>
              <a:t>means we cannot directly create a normal Polygon object.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100" dirty="0">
                <a:latin typeface="Calibir"/>
              </a:rPr>
              <a:t>public abstract double area();</a:t>
            </a:r>
          </a:p>
          <a:p>
            <a:pPr>
              <a:lnSpc>
                <a:spcPct val="150000"/>
              </a:lnSpc>
              <a:buNone/>
            </a:pPr>
            <a:r>
              <a:rPr lang="en-US" sz="2100" dirty="0">
                <a:latin typeface="Calibir"/>
              </a:rPr>
              <a:t>means subclasses must provide their own area calculation.</a:t>
            </a:r>
          </a:p>
        </p:txBody>
      </p:sp>
    </p:spTree>
    <p:extLst>
      <p:ext uri="{BB962C8B-B14F-4D97-AF65-F5344CB8AC3E}">
        <p14:creationId xmlns:p14="http://schemas.microsoft.com/office/powerpoint/2010/main" val="324186129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4CB0C-8F83-8949-89A4-C6D604D2C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66682C-A1B9-3D51-EEA5-F7699F0D8923}"/>
              </a:ext>
            </a:extLst>
          </p:cNvPr>
          <p:cNvSpPr txBox="1"/>
          <p:nvPr/>
        </p:nvSpPr>
        <p:spPr>
          <a:xfrm>
            <a:off x="0" y="-66906"/>
            <a:ext cx="12199434" cy="7112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ir"/>
              </a:rPr>
              <a:t>Step 2 — Create Square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Square: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ir"/>
              </a:rPr>
              <a:t>inherits from Polygon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ir"/>
              </a:rPr>
              <a:t>has one field: side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ir"/>
              </a:rPr>
              <a:t>calculates square area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ir"/>
              </a:rPr>
              <a:t>overrides string output 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ir"/>
              </a:rPr>
              <a:t>Python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class Square(Polygon):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def __</a:t>
            </a:r>
            <a:r>
              <a:rPr lang="en-US" dirty="0" err="1">
                <a:latin typeface="Calibir"/>
              </a:rPr>
              <a:t>init</a:t>
            </a:r>
            <a:r>
              <a:rPr lang="en-US" dirty="0">
                <a:latin typeface="Calibir"/>
              </a:rPr>
              <a:t>__(self, side):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    super().__</a:t>
            </a:r>
            <a:r>
              <a:rPr lang="en-US" dirty="0" err="1">
                <a:latin typeface="Calibir"/>
              </a:rPr>
              <a:t>init</a:t>
            </a:r>
            <a:r>
              <a:rPr lang="en-US" dirty="0">
                <a:latin typeface="Calibir"/>
              </a:rPr>
              <a:t>__("Square")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        </a:t>
            </a:r>
            <a:r>
              <a:rPr lang="en-US" dirty="0" err="1">
                <a:latin typeface="Calibir"/>
              </a:rPr>
              <a:t>self.side</a:t>
            </a:r>
            <a:r>
              <a:rPr lang="en-US" dirty="0">
                <a:latin typeface="Calibir"/>
              </a:rPr>
              <a:t> = side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ir"/>
              </a:rPr>
              <a:t>What does super() do?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super().__</a:t>
            </a:r>
            <a:r>
              <a:rPr lang="en-US" dirty="0" err="1">
                <a:latin typeface="Calibir"/>
              </a:rPr>
              <a:t>init</a:t>
            </a:r>
            <a:r>
              <a:rPr lang="en-US" dirty="0">
                <a:latin typeface="Calibir"/>
              </a:rPr>
              <a:t>__("Square")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calls the constructor of the parent class.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So the inherited field: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type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Calibir"/>
              </a:rPr>
              <a:t>becomes: Square</a:t>
            </a:r>
          </a:p>
        </p:txBody>
      </p:sp>
    </p:spTree>
    <p:extLst>
      <p:ext uri="{BB962C8B-B14F-4D97-AF65-F5344CB8AC3E}">
        <p14:creationId xmlns:p14="http://schemas.microsoft.com/office/powerpoint/2010/main" val="254541876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EC6EB-D0D7-97B7-2E8D-5003E01AD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777D70-0765-EFE3-AA5B-08ADE72F5A56}"/>
              </a:ext>
            </a:extLst>
          </p:cNvPr>
          <p:cNvSpPr txBox="1"/>
          <p:nvPr/>
        </p:nvSpPr>
        <p:spPr>
          <a:xfrm>
            <a:off x="0" y="-66906"/>
            <a:ext cx="12199434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2.1 — Override area()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def area(self):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return </a:t>
            </a:r>
            <a:r>
              <a:rPr lang="en-US" sz="2800" dirty="0" err="1">
                <a:latin typeface="Calibir"/>
              </a:rPr>
              <a:t>self.side</a:t>
            </a:r>
            <a:r>
              <a:rPr lang="en-US" sz="2800" dirty="0">
                <a:latin typeface="Calibir"/>
              </a:rPr>
              <a:t> * </a:t>
            </a:r>
            <a:r>
              <a:rPr lang="en-US" sz="2800" dirty="0" err="1">
                <a:latin typeface="Calibir"/>
              </a:rPr>
              <a:t>self.side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or: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return </a:t>
            </a:r>
            <a:r>
              <a:rPr lang="en-US" sz="2800" dirty="0" err="1">
                <a:latin typeface="Calibir"/>
              </a:rPr>
              <a:t>self.side</a:t>
            </a:r>
            <a:r>
              <a:rPr lang="en-US" sz="2800" dirty="0">
                <a:latin typeface="Calibir"/>
              </a:rPr>
              <a:t> ** 2</a:t>
            </a:r>
          </a:p>
        </p:txBody>
      </p:sp>
    </p:spTree>
    <p:extLst>
      <p:ext uri="{BB962C8B-B14F-4D97-AF65-F5344CB8AC3E}">
        <p14:creationId xmlns:p14="http://schemas.microsoft.com/office/powerpoint/2010/main" val="300637495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1CB04-C34A-E491-8597-B9DC70C7D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5F4449-A972-7840-2AFE-D3FC9B6DC1C6}"/>
              </a:ext>
            </a:extLst>
          </p:cNvPr>
          <p:cNvSpPr txBox="1"/>
          <p:nvPr/>
        </p:nvSpPr>
        <p:spPr>
          <a:xfrm>
            <a:off x="0" y="-111510"/>
            <a:ext cx="12199434" cy="7135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2.2 — Override __str__()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requirement says: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&lt;type&gt; area = &lt;area&gt;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with: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%-8s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%-6.2f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close Python equivalent is: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def __str__(self):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return (f"{</a:t>
            </a:r>
            <a:r>
              <a:rPr lang="en-US" sz="2800" dirty="0" err="1">
                <a:latin typeface="Calibir"/>
              </a:rPr>
              <a:t>self.type</a:t>
            </a:r>
            <a:r>
              <a:rPr lang="en-US" sz="2800" dirty="0">
                <a:latin typeface="Calibir"/>
              </a:rPr>
              <a:t>:&lt;8} " </a:t>
            </a:r>
            <a:r>
              <a:rPr lang="en-US" sz="2800" dirty="0" err="1">
                <a:latin typeface="Calibir"/>
              </a:rPr>
              <a:t>f"area</a:t>
            </a:r>
            <a:r>
              <a:rPr lang="en-US" sz="2800" dirty="0">
                <a:latin typeface="Calibir"/>
              </a:rPr>
              <a:t> = {</a:t>
            </a:r>
            <a:r>
              <a:rPr lang="en-US" sz="2800" dirty="0" err="1">
                <a:latin typeface="Calibir"/>
              </a:rPr>
              <a:t>self.area</a:t>
            </a:r>
            <a:r>
              <a:rPr lang="en-US" sz="2800" dirty="0">
                <a:latin typeface="Calibir"/>
              </a:rPr>
              <a:t>():&lt;6.2f}")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Square   area = 25.00</a:t>
            </a:r>
          </a:p>
        </p:txBody>
      </p:sp>
    </p:spTree>
    <p:extLst>
      <p:ext uri="{BB962C8B-B14F-4D97-AF65-F5344CB8AC3E}">
        <p14:creationId xmlns:p14="http://schemas.microsoft.com/office/powerpoint/2010/main" val="410218092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C8661-9951-7A49-8CC6-FAA742509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5BDF54-42BB-A13C-5631-28C9DC9B1960}"/>
              </a:ext>
            </a:extLst>
          </p:cNvPr>
          <p:cNvSpPr txBox="1"/>
          <p:nvPr/>
        </p:nvSpPr>
        <p:spPr>
          <a:xfrm>
            <a:off x="-7434" y="507751"/>
            <a:ext cx="12199434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Completed Python Square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class Square(Polygon):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def __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init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__(self, side):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super().__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init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__("Square")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self.side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= side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def area(self):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return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self.side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** 2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def __str__(self):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    return (f"{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self.type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:&lt;8} "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f"area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= {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self.area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():&lt;6.2f}")</a:t>
            </a:r>
          </a:p>
        </p:txBody>
      </p:sp>
    </p:spTree>
    <p:extLst>
      <p:ext uri="{BB962C8B-B14F-4D97-AF65-F5344CB8AC3E}">
        <p14:creationId xmlns:p14="http://schemas.microsoft.com/office/powerpoint/2010/main" val="314374247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68748-4677-2DB5-3E1E-863F8DCD9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96B58E-ED89-8A1D-AC25-0F95EE07B5B4}"/>
              </a:ext>
            </a:extLst>
          </p:cNvPr>
          <p:cNvSpPr txBox="1"/>
          <p:nvPr/>
        </p:nvSpPr>
        <p:spPr>
          <a:xfrm>
            <a:off x="-7434" y="474345"/>
            <a:ext cx="1219943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alibir"/>
              </a:rPr>
              <a:t>Java Square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public class Square extends Polygon {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private double side;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public Square(double side) {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super("Square");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</a:t>
            </a:r>
            <a:r>
              <a:rPr lang="en-US" dirty="0" err="1">
                <a:latin typeface="Calibir"/>
              </a:rPr>
              <a:t>this.side</a:t>
            </a:r>
            <a:r>
              <a:rPr lang="en-US" dirty="0">
                <a:latin typeface="Calibir"/>
              </a:rPr>
              <a:t> = side;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}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@Override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public double area() {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return side * side;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}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@Override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public String </a:t>
            </a:r>
            <a:r>
              <a:rPr lang="en-US" dirty="0" err="1">
                <a:latin typeface="Calibir"/>
              </a:rPr>
              <a:t>toString</a:t>
            </a:r>
            <a:r>
              <a:rPr lang="en-US" dirty="0">
                <a:latin typeface="Calibir"/>
              </a:rPr>
              <a:t>() {</a:t>
            </a:r>
          </a:p>
          <a:p>
            <a:pPr rtl="0">
              <a:buNone/>
            </a:pPr>
            <a:endParaRPr lang="en-US" dirty="0">
              <a:latin typeface="Calibir"/>
            </a:endParaRPr>
          </a:p>
          <a:p>
            <a:pPr rtl="0">
              <a:buNone/>
            </a:pPr>
            <a:r>
              <a:rPr lang="en-US" dirty="0">
                <a:latin typeface="Calibir"/>
              </a:rPr>
              <a:t>        return </a:t>
            </a:r>
            <a:r>
              <a:rPr lang="en-US" dirty="0" err="1">
                <a:latin typeface="Calibir"/>
              </a:rPr>
              <a:t>String.format</a:t>
            </a:r>
            <a:r>
              <a:rPr lang="en-US" dirty="0">
                <a:latin typeface="Calibir"/>
              </a:rPr>
              <a:t>(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    "%-8s area = %-6.2f",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    type,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    area()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    );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    }</a:t>
            </a:r>
          </a:p>
          <a:p>
            <a:pPr rtl="0">
              <a:buNone/>
            </a:pPr>
            <a:r>
              <a:rPr lang="en-US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286570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B4068-9CD7-8243-7A0B-4F30263AB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B7E7C9-6497-1A81-4B6A-D4C9843B012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9434" cy="64729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US" sz="2800" b="1" dirty="0">
                    <a:latin typeface="Calibir"/>
                  </a:rPr>
                  <a:t>Step 3 — Create Triangle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2800" dirty="0">
                    <a:latin typeface="Calibir"/>
                  </a:rPr>
                  <a:t>Triangle:</a:t>
                </a:r>
              </a:p>
              <a:p>
                <a:pPr marL="34290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Calibir"/>
                  </a:rPr>
                  <a:t>inherits from Polygon </a:t>
                </a:r>
              </a:p>
              <a:p>
                <a:pPr marL="34290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Calibir"/>
                  </a:rPr>
                  <a:t>has height </a:t>
                </a:r>
              </a:p>
              <a:p>
                <a:pPr marL="34290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Calibir"/>
                  </a:rPr>
                  <a:t>has base </a:t>
                </a:r>
              </a:p>
              <a:p>
                <a:pPr marL="34290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Calibir"/>
                  </a:rPr>
                  <a:t>calculates triangle area </a:t>
                </a:r>
              </a:p>
              <a:p>
                <a:pPr marL="34290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Calibir"/>
                  </a:rPr>
                  <a:t>overrides string output 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sz="2800" dirty="0">
                    <a:latin typeface="Calibir"/>
                  </a:rPr>
                  <a:t>Formula: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i="1">
                          <a:latin typeface="Calibir"/>
                        </a:rPr>
                        <m:t>𝐴𝑟𝑒𝑎</m:t>
                      </m:r>
                      <m:r>
                        <a:rPr lang="en-US" sz="2800" i="0">
                          <a:latin typeface="Calibir"/>
                        </a:rPr>
                        <m:t>=</m:t>
                      </m:r>
                      <m:f>
                        <m:fPr>
                          <m:ctrlPr>
                            <a:rPr lang="en-US" sz="2800" i="0">
                              <a:latin typeface="Calibir"/>
                            </a:rPr>
                          </m:ctrlPr>
                        </m:fPr>
                        <m:num>
                          <m:r>
                            <a:rPr lang="en-US" sz="2800" i="0">
                              <a:latin typeface="Calibir"/>
                            </a:rPr>
                            <m:t>1</m:t>
                          </m:r>
                        </m:num>
                        <m:den>
                          <m:r>
                            <a:rPr lang="en-US" sz="2800" i="0">
                              <a:latin typeface="Calibir"/>
                            </a:rPr>
                            <m:t>2</m:t>
                          </m:r>
                        </m:den>
                      </m:f>
                      <m:r>
                        <a:rPr lang="en-US" sz="2800" i="0">
                          <a:latin typeface="Calibir"/>
                        </a:rPr>
                        <m:t>×</m:t>
                      </m:r>
                      <m:r>
                        <a:rPr lang="en-US" sz="2800" i="1">
                          <a:latin typeface="Calibir"/>
                        </a:rPr>
                        <m:t>𝑏𝑎𝑠𝑒</m:t>
                      </m:r>
                      <m:r>
                        <a:rPr lang="en-US" sz="2800" i="0">
                          <a:latin typeface="Calibir"/>
                        </a:rPr>
                        <m:t>×</m:t>
                      </m:r>
                      <m:r>
                        <a:rPr lang="en-US" sz="2800" i="1">
                          <a:latin typeface="Calibir"/>
                        </a:rPr>
                        <m:t>ℎ𝑒𝑖𝑔ℎ𝑡</m:t>
                      </m:r>
                    </m:oMath>
                  </m:oMathPara>
                </a14:m>
                <a:endParaRPr lang="en-US" sz="2800" dirty="0">
                  <a:latin typeface="Calibir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B7E7C9-6497-1A81-4B6A-D4C9843B0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9434" cy="6472926"/>
              </a:xfrm>
              <a:prstGeom prst="rect">
                <a:avLst/>
              </a:prstGeom>
              <a:blipFill>
                <a:blip r:embed="rId2"/>
                <a:stretch>
                  <a:fillRect l="-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132050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2DBF9-E5E1-87BC-377B-F2ABBDB75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03F2F1-28DE-77B5-6B56-63C11C7BA58F}"/>
              </a:ext>
            </a:extLst>
          </p:cNvPr>
          <p:cNvSpPr txBox="1"/>
          <p:nvPr/>
        </p:nvSpPr>
        <p:spPr>
          <a:xfrm>
            <a:off x="0" y="1"/>
            <a:ext cx="12199434" cy="7015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Calibir"/>
              </a:rPr>
              <a:t>Python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class Triangle(Polygon):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    def __</a:t>
            </a:r>
            <a:r>
              <a:rPr lang="en-US" sz="2000" dirty="0" err="1">
                <a:latin typeface="Calibir"/>
              </a:rPr>
              <a:t>init</a:t>
            </a:r>
            <a:r>
              <a:rPr lang="en-US" sz="2000" dirty="0">
                <a:latin typeface="Calibir"/>
              </a:rPr>
              <a:t>__(self, height, base):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        super().__</a:t>
            </a:r>
            <a:r>
              <a:rPr lang="en-US" sz="2000" dirty="0" err="1">
                <a:latin typeface="Calibir"/>
              </a:rPr>
              <a:t>init</a:t>
            </a:r>
            <a:r>
              <a:rPr lang="en-US" sz="2000" dirty="0">
                <a:latin typeface="Calibir"/>
              </a:rPr>
              <a:t>__("Triangle")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        </a:t>
            </a:r>
            <a:r>
              <a:rPr lang="en-US" sz="2000" dirty="0" err="1">
                <a:latin typeface="Calibir"/>
              </a:rPr>
              <a:t>self.height</a:t>
            </a:r>
            <a:r>
              <a:rPr lang="en-US" sz="2000" dirty="0">
                <a:latin typeface="Calibir"/>
              </a:rPr>
              <a:t> = height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        </a:t>
            </a:r>
            <a:r>
              <a:rPr lang="en-US" sz="2000" dirty="0" err="1">
                <a:latin typeface="Calibir"/>
              </a:rPr>
              <a:t>self.base</a:t>
            </a:r>
            <a:r>
              <a:rPr lang="en-US" sz="2000" dirty="0">
                <a:latin typeface="Calibir"/>
              </a:rPr>
              <a:t> = base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Area: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def area(self):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    return 0.5 * </a:t>
            </a:r>
            <a:r>
              <a:rPr lang="en-US" sz="2000" dirty="0" err="1">
                <a:latin typeface="Calibir"/>
              </a:rPr>
              <a:t>self.base</a:t>
            </a:r>
            <a:r>
              <a:rPr lang="en-US" sz="2000" dirty="0">
                <a:latin typeface="Calibir"/>
              </a:rPr>
              <a:t> * </a:t>
            </a:r>
            <a:r>
              <a:rPr lang="en-US" sz="2000" dirty="0" err="1">
                <a:latin typeface="Calibir"/>
              </a:rPr>
              <a:t>self.height</a:t>
            </a:r>
            <a:endParaRPr lang="en-US" sz="2000" dirty="0">
              <a:latin typeface="Calibir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String: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def __str__(self):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    return (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        f"{</a:t>
            </a:r>
            <a:r>
              <a:rPr lang="en-US" sz="2000" dirty="0" err="1">
                <a:latin typeface="Calibir"/>
              </a:rPr>
              <a:t>self.type</a:t>
            </a:r>
            <a:r>
              <a:rPr lang="en-US" sz="2000" dirty="0">
                <a:latin typeface="Calibir"/>
              </a:rPr>
              <a:t>:&lt;8} "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        </a:t>
            </a:r>
            <a:r>
              <a:rPr lang="en-US" sz="2000" dirty="0" err="1">
                <a:latin typeface="Calibir"/>
              </a:rPr>
              <a:t>f"area</a:t>
            </a:r>
            <a:r>
              <a:rPr lang="en-US" sz="2000" dirty="0">
                <a:latin typeface="Calibir"/>
              </a:rPr>
              <a:t> = {</a:t>
            </a:r>
            <a:r>
              <a:rPr lang="en-US" sz="2000" dirty="0" err="1">
                <a:latin typeface="Calibir"/>
              </a:rPr>
              <a:t>self.area</a:t>
            </a:r>
            <a:r>
              <a:rPr lang="en-US" sz="2000" dirty="0">
                <a:latin typeface="Calibir"/>
              </a:rPr>
              <a:t>():&lt;6.2f}"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263578786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A45E8-934B-98DB-FCFA-B2AFF1079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F0CFC9-0993-041F-2754-930C77429929}"/>
              </a:ext>
            </a:extLst>
          </p:cNvPr>
          <p:cNvSpPr txBox="1"/>
          <p:nvPr/>
        </p:nvSpPr>
        <p:spPr>
          <a:xfrm>
            <a:off x="0" y="1"/>
            <a:ext cx="12199434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ir"/>
              </a:rPr>
              <a:t>Completed Python Triangle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class Triangle(Polygon):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def __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init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__(self, height, base):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super().__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init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__("Triangle")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self.height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 = height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self.base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 = base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def area(self):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return 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0.5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*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self.base</a:t>
            </a:r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*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self.height</a:t>
            </a:r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)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def __str__(self):</a:t>
            </a:r>
          </a:p>
          <a:p>
            <a:endParaRPr lang="en-US" dirty="0">
              <a:highlight>
                <a:srgbClr val="FFFF00"/>
              </a:highlight>
              <a:latin typeface="Calibir"/>
            </a:endParaRP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return (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f"{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self.type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:&lt;8} "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f"area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 = {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self.area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():&lt;6.2f}"</a:t>
            </a:r>
          </a:p>
          <a:p>
            <a:r>
              <a:rPr lang="en-US" dirty="0">
                <a:highlight>
                  <a:srgbClr val="FFFF00"/>
                </a:highlight>
                <a:latin typeface="Calibir"/>
              </a:rPr>
              <a:t>        )</a:t>
            </a:r>
          </a:p>
        </p:txBody>
      </p:sp>
    </p:spTree>
    <p:extLst>
      <p:ext uri="{BB962C8B-B14F-4D97-AF65-F5344CB8AC3E}">
        <p14:creationId xmlns:p14="http://schemas.microsoft.com/office/powerpoint/2010/main" val="236966778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F7912-1B66-B1E4-A308-05E525ACD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24D1E9-11A0-A3A2-7478-93AC1EA0B086}"/>
              </a:ext>
            </a:extLst>
          </p:cNvPr>
          <p:cNvSpPr txBox="1"/>
          <p:nvPr/>
        </p:nvSpPr>
        <p:spPr>
          <a:xfrm>
            <a:off x="0" y="0"/>
            <a:ext cx="12199434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alibir"/>
              </a:rPr>
              <a:t>Java Triangle</a:t>
            </a:r>
          </a:p>
          <a:p>
            <a:pPr rtl="0">
              <a:buNone/>
            </a:pPr>
            <a:r>
              <a:rPr lang="en-US" sz="1600" dirty="0">
                <a:latin typeface="Calibir"/>
              </a:rPr>
              <a:t>public class Triangle extends Polygon {</a:t>
            </a:r>
          </a:p>
          <a:p>
            <a:pPr rtl="0">
              <a:buNone/>
            </a:pPr>
            <a:r>
              <a:rPr lang="en-US" sz="1600" dirty="0">
                <a:latin typeface="Calibir"/>
              </a:rPr>
              <a:t>    private double height;</a:t>
            </a:r>
          </a:p>
          <a:p>
            <a:pPr rtl="0">
              <a:buNone/>
            </a:pPr>
            <a:r>
              <a:rPr lang="en-US" sz="1600" dirty="0">
                <a:latin typeface="Calibir"/>
              </a:rPr>
              <a:t>    private double base;</a:t>
            </a:r>
          </a:p>
          <a:p>
            <a:pPr rtl="0">
              <a:buNone/>
            </a:pPr>
            <a:r>
              <a:rPr lang="en-US" sz="1600" dirty="0">
                <a:latin typeface="Calibir"/>
              </a:rPr>
              <a:t>    public Triangle(</a:t>
            </a:r>
          </a:p>
          <a:p>
            <a:pPr rtl="0">
              <a:buNone/>
            </a:pPr>
            <a:r>
              <a:rPr lang="en-US" sz="1600" dirty="0">
                <a:latin typeface="Calibir"/>
              </a:rPr>
              <a:t>            double height,</a:t>
            </a:r>
          </a:p>
          <a:p>
            <a:pPr rtl="0">
              <a:buNone/>
            </a:pPr>
            <a:r>
              <a:rPr lang="en-US" sz="1600" dirty="0">
                <a:latin typeface="Calibir"/>
              </a:rPr>
              <a:t>            double base) {</a:t>
            </a:r>
          </a:p>
          <a:p>
            <a:pPr rtl="0">
              <a:buNone/>
            </a:pPr>
            <a:r>
              <a:rPr lang="en-US" sz="1600" dirty="0">
                <a:latin typeface="Calibir"/>
              </a:rPr>
              <a:t>        super("Triangle");</a:t>
            </a:r>
          </a:p>
          <a:p>
            <a:pPr rtl="0">
              <a:buNone/>
            </a:pPr>
            <a:r>
              <a:rPr lang="en-US" sz="1600" dirty="0">
                <a:latin typeface="Calibir"/>
              </a:rPr>
              <a:t>        </a:t>
            </a:r>
            <a:r>
              <a:rPr lang="en-US" sz="1600" dirty="0" err="1">
                <a:latin typeface="Calibir"/>
              </a:rPr>
              <a:t>this.height</a:t>
            </a:r>
            <a:r>
              <a:rPr lang="en-US" sz="1600" dirty="0">
                <a:latin typeface="Calibir"/>
              </a:rPr>
              <a:t> = height;</a:t>
            </a:r>
          </a:p>
          <a:p>
            <a:pPr rtl="0">
              <a:buNone/>
            </a:pPr>
            <a:r>
              <a:rPr lang="en-US" sz="1600" dirty="0">
                <a:latin typeface="Calibir"/>
              </a:rPr>
              <a:t>        </a:t>
            </a:r>
            <a:r>
              <a:rPr lang="en-US" sz="1600" dirty="0" err="1">
                <a:latin typeface="Calibir"/>
              </a:rPr>
              <a:t>this.base</a:t>
            </a:r>
            <a:r>
              <a:rPr lang="en-US" sz="1600" dirty="0">
                <a:latin typeface="Calibir"/>
              </a:rPr>
              <a:t> = base;</a:t>
            </a:r>
          </a:p>
          <a:p>
            <a:pPr rtl="0">
              <a:buNone/>
            </a:pPr>
            <a:r>
              <a:rPr lang="en-US" sz="1600" dirty="0">
                <a:latin typeface="Calibir"/>
              </a:rPr>
              <a:t>    }</a:t>
            </a:r>
          </a:p>
          <a:p>
            <a:pPr rtl="0">
              <a:buNone/>
            </a:pPr>
            <a:r>
              <a:rPr lang="en-US" sz="1600" dirty="0">
                <a:latin typeface="Calibir"/>
              </a:rPr>
              <a:t>    @Override</a:t>
            </a:r>
          </a:p>
          <a:p>
            <a:pPr rtl="0">
              <a:buNone/>
            </a:pPr>
            <a:r>
              <a:rPr lang="en-US" sz="1600" dirty="0">
                <a:latin typeface="Calibir"/>
              </a:rPr>
              <a:t>    public double area() {</a:t>
            </a:r>
          </a:p>
          <a:p>
            <a:pPr rtl="0">
              <a:buNone/>
            </a:pPr>
            <a:r>
              <a:rPr lang="en-US" sz="1600" dirty="0">
                <a:latin typeface="Calibir"/>
              </a:rPr>
              <a:t>        return 0.5</a:t>
            </a:r>
          </a:p>
          <a:p>
            <a:pPr rtl="0">
              <a:buNone/>
            </a:pPr>
            <a:r>
              <a:rPr lang="en-US" sz="1600" dirty="0">
                <a:latin typeface="Calibir"/>
              </a:rPr>
              <a:t>                * base</a:t>
            </a:r>
          </a:p>
          <a:p>
            <a:pPr rtl="0">
              <a:buNone/>
            </a:pPr>
            <a:r>
              <a:rPr lang="en-US" sz="1600" dirty="0">
                <a:latin typeface="Calibir"/>
              </a:rPr>
              <a:t>                * height;</a:t>
            </a:r>
          </a:p>
          <a:p>
            <a:pPr rtl="0">
              <a:buNone/>
            </a:pPr>
            <a:r>
              <a:rPr lang="en-US" sz="1600" dirty="0">
                <a:latin typeface="Calibir"/>
              </a:rPr>
              <a:t>    }</a:t>
            </a:r>
          </a:p>
          <a:p>
            <a:pPr rtl="0">
              <a:buNone/>
            </a:pPr>
            <a:r>
              <a:rPr lang="en-US" sz="1600" dirty="0">
                <a:latin typeface="Calibir"/>
              </a:rPr>
              <a:t>    @Override</a:t>
            </a:r>
          </a:p>
          <a:p>
            <a:pPr rtl="0">
              <a:buNone/>
            </a:pPr>
            <a:r>
              <a:rPr lang="en-US" sz="1600" dirty="0">
                <a:latin typeface="Calibir"/>
              </a:rPr>
              <a:t>    public String </a:t>
            </a:r>
            <a:r>
              <a:rPr lang="en-US" sz="1600" dirty="0" err="1">
                <a:latin typeface="Calibir"/>
              </a:rPr>
              <a:t>toString</a:t>
            </a:r>
            <a:r>
              <a:rPr lang="en-US" sz="1600" dirty="0">
                <a:latin typeface="Calibir"/>
              </a:rPr>
              <a:t>() {</a:t>
            </a:r>
          </a:p>
          <a:p>
            <a:pPr rtl="0">
              <a:buNone/>
            </a:pPr>
            <a:r>
              <a:rPr lang="en-US" sz="1600" dirty="0">
                <a:latin typeface="Calibir"/>
              </a:rPr>
              <a:t>        return </a:t>
            </a:r>
            <a:r>
              <a:rPr lang="en-US" sz="1600" dirty="0" err="1">
                <a:latin typeface="Calibir"/>
              </a:rPr>
              <a:t>String.format</a:t>
            </a:r>
            <a:r>
              <a:rPr lang="en-US" sz="1600" dirty="0">
                <a:latin typeface="Calibir"/>
              </a:rPr>
              <a:t>(</a:t>
            </a:r>
          </a:p>
          <a:p>
            <a:pPr rtl="0">
              <a:buNone/>
            </a:pPr>
            <a:r>
              <a:rPr lang="en-US" sz="1600" dirty="0">
                <a:latin typeface="Calibir"/>
              </a:rPr>
              <a:t>            "%-8s area = %-6.2f",</a:t>
            </a:r>
          </a:p>
          <a:p>
            <a:pPr rtl="0">
              <a:buNone/>
            </a:pPr>
            <a:r>
              <a:rPr lang="en-US" sz="1600" dirty="0">
                <a:latin typeface="Calibir"/>
              </a:rPr>
              <a:t>            type,</a:t>
            </a:r>
          </a:p>
          <a:p>
            <a:pPr rtl="0">
              <a:buNone/>
            </a:pPr>
            <a:r>
              <a:rPr lang="en-US" sz="1600" dirty="0">
                <a:latin typeface="Calibir"/>
              </a:rPr>
              <a:t>            area()</a:t>
            </a:r>
          </a:p>
          <a:p>
            <a:pPr rtl="0">
              <a:buNone/>
            </a:pPr>
            <a:r>
              <a:rPr lang="en-US" sz="1600" dirty="0">
                <a:latin typeface="Calibir"/>
              </a:rPr>
              <a:t>        );</a:t>
            </a:r>
          </a:p>
          <a:p>
            <a:pPr rtl="0">
              <a:buNone/>
            </a:pPr>
            <a:r>
              <a:rPr lang="en-US" sz="1600" dirty="0">
                <a:latin typeface="Calibir"/>
              </a:rPr>
              <a:t>    }</a:t>
            </a:r>
          </a:p>
          <a:p>
            <a:pPr rtl="0">
              <a:buNone/>
            </a:pPr>
            <a:r>
              <a:rPr lang="en-US" sz="1600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620023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DB524-27C6-159F-23A7-71D0A70F5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0FE7D5-3A31-FFF8-7550-E03178E39F0E}"/>
              </a:ext>
            </a:extLst>
          </p:cNvPr>
          <p:cNvSpPr txBox="1"/>
          <p:nvPr/>
        </p:nvSpPr>
        <p:spPr>
          <a:xfrm>
            <a:off x="0" y="0"/>
            <a:ext cx="12199434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4 — Create Shapes class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Shapes stores a list of Polygon objects.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is important.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list can contain: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Square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Triangle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Square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Triangle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because all of them are subclasses of Polygon</a:t>
            </a:r>
          </a:p>
        </p:txBody>
      </p:sp>
    </p:spTree>
    <p:extLst>
      <p:ext uri="{BB962C8B-B14F-4D97-AF65-F5344CB8AC3E}">
        <p14:creationId xmlns:p14="http://schemas.microsoft.com/office/powerpoint/2010/main" val="61309980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1B29B-CC73-E7D3-0B9C-FCE71573B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FF640C-1C1B-C018-E4A4-D9C5272B60E8}"/>
              </a:ext>
            </a:extLst>
          </p:cNvPr>
          <p:cNvSpPr txBox="1"/>
          <p:nvPr/>
        </p:nvSpPr>
        <p:spPr>
          <a:xfrm>
            <a:off x="0" y="0"/>
            <a:ext cx="12199434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Python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Start: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class Shapes: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def __</a:t>
            </a:r>
            <a:r>
              <a:rPr lang="en-US" sz="2800" dirty="0" err="1">
                <a:latin typeface="Calibir"/>
              </a:rPr>
              <a:t>init</a:t>
            </a:r>
            <a:r>
              <a:rPr lang="en-US" sz="2800" dirty="0">
                <a:latin typeface="Calibir"/>
              </a:rPr>
              <a:t>__(self):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</a:t>
            </a:r>
            <a:r>
              <a:rPr lang="en-US" sz="2800" dirty="0" err="1">
                <a:latin typeface="Calibir"/>
              </a:rPr>
              <a:t>self.shapes</a:t>
            </a:r>
            <a:r>
              <a:rPr lang="en-US" sz="2800" dirty="0">
                <a:latin typeface="Calibir"/>
              </a:rPr>
              <a:t> = []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</a:t>
            </a:r>
            <a:r>
              <a:rPr lang="en-US" sz="2800" dirty="0" err="1">
                <a:latin typeface="Calibir"/>
              </a:rPr>
              <a:t>self.load_shapes</a:t>
            </a:r>
            <a:r>
              <a:rPr lang="en-US" sz="2800" dirty="0">
                <a:latin typeface="Calibir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03671630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9ADA1-B845-66FF-E90E-B5D2AC3C1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70F4D0-D011-F509-D2A0-F3FE853A3A10}"/>
              </a:ext>
            </a:extLst>
          </p:cNvPr>
          <p:cNvSpPr txBox="1"/>
          <p:nvPr/>
        </p:nvSpPr>
        <p:spPr>
          <a:xfrm>
            <a:off x="0" y="0"/>
            <a:ext cx="9149575" cy="6729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600" b="1" dirty="0">
                <a:latin typeface="Calibir"/>
              </a:rPr>
              <a:t>Step 4.1 — Load the shapes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Requirement: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Square side 5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Square side 10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Triangle height 5, base 3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Triangle height 5, base 5 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To match the sample output order, load triangles first, then squares: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def </a:t>
            </a:r>
            <a:r>
              <a:rPr lang="en-US" sz="2400" dirty="0" err="1">
                <a:latin typeface="Calibir"/>
              </a:rPr>
              <a:t>load_shapes</a:t>
            </a:r>
            <a:r>
              <a:rPr lang="en-US" sz="2400" dirty="0">
                <a:latin typeface="Calibir"/>
              </a:rPr>
              <a:t>(self):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    </a:t>
            </a:r>
            <a:r>
              <a:rPr lang="en-US" sz="2400" dirty="0" err="1">
                <a:latin typeface="Calibir"/>
              </a:rPr>
              <a:t>self.shapes.append</a:t>
            </a:r>
            <a:r>
              <a:rPr lang="en-US" sz="2400" dirty="0">
                <a:latin typeface="Calibir"/>
              </a:rPr>
              <a:t>(Triangle(5, 3))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    </a:t>
            </a:r>
            <a:r>
              <a:rPr lang="en-US" sz="2400" dirty="0" err="1">
                <a:latin typeface="Calibir"/>
              </a:rPr>
              <a:t>self.shapes.append</a:t>
            </a:r>
            <a:r>
              <a:rPr lang="en-US" sz="2400" dirty="0">
                <a:latin typeface="Calibir"/>
              </a:rPr>
              <a:t>(Triangle(5, 5))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    </a:t>
            </a:r>
            <a:r>
              <a:rPr lang="en-US" sz="2400" dirty="0" err="1">
                <a:latin typeface="Calibir"/>
              </a:rPr>
              <a:t>self.shapes.append</a:t>
            </a:r>
            <a:r>
              <a:rPr lang="en-US" sz="2400" dirty="0">
                <a:latin typeface="Calibir"/>
              </a:rPr>
              <a:t>(Square(5))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    </a:t>
            </a:r>
            <a:r>
              <a:rPr lang="en-US" sz="2400" dirty="0" err="1">
                <a:latin typeface="Calibir"/>
              </a:rPr>
              <a:t>self.shapes.append</a:t>
            </a:r>
            <a:r>
              <a:rPr lang="en-US" sz="2400" dirty="0">
                <a:latin typeface="Calibir"/>
              </a:rPr>
              <a:t>(Square(10))</a:t>
            </a:r>
          </a:p>
        </p:txBody>
      </p:sp>
    </p:spTree>
    <p:extLst>
      <p:ext uri="{BB962C8B-B14F-4D97-AF65-F5344CB8AC3E}">
        <p14:creationId xmlns:p14="http://schemas.microsoft.com/office/powerpoint/2010/main" val="188732762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5A72E-2F66-F3CC-16DD-C221039FF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747BBA-B463-E636-2E0A-D698BF6BDF33}"/>
              </a:ext>
            </a:extLst>
          </p:cNvPr>
          <p:cNvSpPr txBox="1"/>
          <p:nvPr/>
        </p:nvSpPr>
        <p:spPr>
          <a:xfrm>
            <a:off x="0" y="0"/>
            <a:ext cx="12199434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Step 4.2 — Show all shapes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def show(self):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for shape in </a:t>
            </a:r>
            <a:r>
              <a:rPr lang="en-US" sz="2800" dirty="0" err="1">
                <a:latin typeface="Calibir"/>
              </a:rPr>
              <a:t>self.shapes</a:t>
            </a:r>
            <a:r>
              <a:rPr lang="en-US" sz="2800" dirty="0">
                <a:latin typeface="Calibir"/>
              </a:rPr>
              <a:t>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        print(shape)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is polymorphism.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Each object responds to: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print(shape)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using its own overridden __str__().</a:t>
            </a:r>
          </a:p>
        </p:txBody>
      </p:sp>
    </p:spTree>
    <p:extLst>
      <p:ext uri="{BB962C8B-B14F-4D97-AF65-F5344CB8AC3E}">
        <p14:creationId xmlns:p14="http://schemas.microsoft.com/office/powerpoint/2010/main" val="216398928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7D2A8-FB98-CB2F-B185-525AB7419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328E57-8DAC-D597-957D-5D2A9504D9A2}"/>
              </a:ext>
            </a:extLst>
          </p:cNvPr>
          <p:cNvSpPr txBox="1"/>
          <p:nvPr/>
        </p:nvSpPr>
        <p:spPr>
          <a:xfrm>
            <a:off x="-3716" y="0"/>
            <a:ext cx="6099716" cy="6694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b="1" dirty="0">
                <a:latin typeface="Calibir"/>
              </a:rPr>
              <a:t>Completed Python — Lab8Exercise1</a:t>
            </a: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+mn-lt"/>
              </a:rPr>
              <a:t>from </a:t>
            </a:r>
            <a:r>
              <a:rPr lang="en-US" dirty="0" err="1">
                <a:highlight>
                  <a:srgbClr val="FFFF00"/>
                </a:highlight>
                <a:latin typeface="+mn-lt"/>
              </a:rPr>
              <a:t>abc</a:t>
            </a:r>
            <a:r>
              <a:rPr lang="en-US" dirty="0">
                <a:highlight>
                  <a:srgbClr val="FFFF00"/>
                </a:highlight>
                <a:latin typeface="+mn-lt"/>
              </a:rPr>
              <a:t> import ABC, </a:t>
            </a:r>
            <a:r>
              <a:rPr lang="en-US" dirty="0" err="1">
                <a:highlight>
                  <a:srgbClr val="FFFF00"/>
                </a:highlight>
                <a:latin typeface="+mn-lt"/>
              </a:rPr>
              <a:t>abstractmethod</a:t>
            </a:r>
            <a:endParaRPr lang="en-US" dirty="0">
              <a:highlight>
                <a:srgbClr val="FFFF00"/>
              </a:highlight>
              <a:latin typeface="+mn-lt"/>
            </a:endParaRP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+mn-lt"/>
            </a:endParaRP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+mn-lt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+mn-lt"/>
              </a:rPr>
              <a:t>class Polygon(ABC):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+mn-lt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+mn-lt"/>
              </a:rPr>
              <a:t>    def __</a:t>
            </a:r>
            <a:r>
              <a:rPr lang="en-US" dirty="0" err="1">
                <a:highlight>
                  <a:srgbClr val="FFFF00"/>
                </a:highlight>
                <a:latin typeface="+mn-lt"/>
              </a:rPr>
              <a:t>init</a:t>
            </a:r>
            <a:r>
              <a:rPr lang="en-US" dirty="0">
                <a:highlight>
                  <a:srgbClr val="FFFF00"/>
                </a:highlight>
                <a:latin typeface="+mn-lt"/>
              </a:rPr>
              <a:t>__(self, </a:t>
            </a:r>
            <a:r>
              <a:rPr lang="en-US" dirty="0" err="1">
                <a:highlight>
                  <a:srgbClr val="FFFF00"/>
                </a:highlight>
                <a:latin typeface="+mn-lt"/>
              </a:rPr>
              <a:t>shape_type</a:t>
            </a:r>
            <a:r>
              <a:rPr lang="en-US" dirty="0">
                <a:highlight>
                  <a:srgbClr val="FFFF00"/>
                </a:highlight>
                <a:latin typeface="+mn-lt"/>
              </a:rPr>
              <a:t>):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+mn-lt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+mn-lt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+mn-lt"/>
              </a:rPr>
              <a:t>self.type</a:t>
            </a:r>
            <a:r>
              <a:rPr lang="en-US" dirty="0">
                <a:highlight>
                  <a:srgbClr val="FFFF00"/>
                </a:highlight>
                <a:latin typeface="+mn-lt"/>
              </a:rPr>
              <a:t> = </a:t>
            </a:r>
            <a:r>
              <a:rPr lang="en-US" dirty="0" err="1">
                <a:highlight>
                  <a:srgbClr val="FFFF00"/>
                </a:highlight>
                <a:latin typeface="+mn-lt"/>
              </a:rPr>
              <a:t>shape_type</a:t>
            </a:r>
            <a:endParaRPr lang="en-US" dirty="0">
              <a:highlight>
                <a:srgbClr val="FFFF00"/>
              </a:highlight>
              <a:latin typeface="+mn-lt"/>
            </a:endParaRP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+mn-lt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+mn-lt"/>
              </a:rPr>
              <a:t>    @abstractmethod</a:t>
            </a: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+mn-lt"/>
              </a:rPr>
              <a:t>    def area(self):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+mn-lt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+mn-lt"/>
              </a:rPr>
              <a:t>        pass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+mn-lt"/>
            </a:endParaRP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+mn-lt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+mn-lt"/>
              </a:rPr>
              <a:t>class Square(Polygon):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+mn-lt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+mn-lt"/>
              </a:rPr>
              <a:t>    def __</a:t>
            </a:r>
            <a:r>
              <a:rPr lang="en-US" dirty="0" err="1">
                <a:highlight>
                  <a:srgbClr val="FFFF00"/>
                </a:highlight>
                <a:latin typeface="+mn-lt"/>
              </a:rPr>
              <a:t>init</a:t>
            </a:r>
            <a:r>
              <a:rPr lang="en-US" dirty="0">
                <a:highlight>
                  <a:srgbClr val="FFFF00"/>
                </a:highlight>
                <a:latin typeface="+mn-lt"/>
              </a:rPr>
              <a:t>__(self, side):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+mn-lt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+mn-lt"/>
              </a:rPr>
              <a:t>        super().__</a:t>
            </a:r>
            <a:r>
              <a:rPr lang="en-US" dirty="0" err="1">
                <a:highlight>
                  <a:srgbClr val="FFFF00"/>
                </a:highlight>
                <a:latin typeface="+mn-lt"/>
              </a:rPr>
              <a:t>init</a:t>
            </a:r>
            <a:r>
              <a:rPr lang="en-US" dirty="0">
                <a:highlight>
                  <a:srgbClr val="FFFF00"/>
                </a:highlight>
                <a:latin typeface="+mn-lt"/>
              </a:rPr>
              <a:t>__("Square")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+mn-lt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+mn-lt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+mn-lt"/>
              </a:rPr>
              <a:t>self.side</a:t>
            </a:r>
            <a:r>
              <a:rPr lang="en-US" dirty="0">
                <a:highlight>
                  <a:srgbClr val="FFFF00"/>
                </a:highlight>
                <a:latin typeface="+mn-lt"/>
              </a:rPr>
              <a:t> = side</a:t>
            </a:r>
          </a:p>
        </p:txBody>
      </p:sp>
    </p:spTree>
    <p:extLst>
      <p:ext uri="{BB962C8B-B14F-4D97-AF65-F5344CB8AC3E}">
        <p14:creationId xmlns:p14="http://schemas.microsoft.com/office/powerpoint/2010/main" val="29435865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8AC01-6C17-8F6E-228F-A4E0B4DC1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58093E-A290-A56D-0F8D-CB1BF026A5D7}"/>
              </a:ext>
            </a:extLst>
          </p:cNvPr>
          <p:cNvSpPr txBox="1"/>
          <p:nvPr/>
        </p:nvSpPr>
        <p:spPr>
          <a:xfrm>
            <a:off x="-3716" y="0"/>
            <a:ext cx="609971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def area(self):</a:t>
            </a:r>
          </a:p>
          <a:p>
            <a:endParaRPr lang="en-US" sz="2400" dirty="0">
              <a:highlight>
                <a:srgbClr val="FFFF00"/>
              </a:highlight>
              <a:latin typeface="Calibir"/>
            </a:endParaRP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return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self.side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 ** 2</a:t>
            </a:r>
          </a:p>
          <a:p>
            <a:endParaRPr lang="en-US" sz="2400" dirty="0">
              <a:highlight>
                <a:srgbClr val="FFFF00"/>
              </a:highlight>
              <a:latin typeface="Calibir"/>
            </a:endParaRP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def __str__(self):</a:t>
            </a:r>
          </a:p>
          <a:p>
            <a:endParaRPr lang="en-US" sz="2400" dirty="0">
              <a:highlight>
                <a:srgbClr val="FFFF00"/>
              </a:highlight>
              <a:latin typeface="Calibir"/>
            </a:endParaRP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return (</a:t>
            </a: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    f"{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self.type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:&lt;8} "</a:t>
            </a: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f"area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 = {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self.area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():&lt;6.2f}"</a:t>
            </a: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)</a:t>
            </a:r>
          </a:p>
          <a:p>
            <a:endParaRPr lang="en-US" sz="2400" dirty="0">
              <a:highlight>
                <a:srgbClr val="FFFF00"/>
              </a:highlight>
              <a:latin typeface="Calibir"/>
            </a:endParaRPr>
          </a:p>
          <a:p>
            <a:endParaRPr lang="en-US" sz="2400" dirty="0">
              <a:highlight>
                <a:srgbClr val="FFFF00"/>
              </a:highlight>
              <a:latin typeface="Calibir"/>
            </a:endParaRP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class Triangle(Polygon):</a:t>
            </a:r>
          </a:p>
          <a:p>
            <a:endParaRPr lang="en-US" sz="2400" dirty="0">
              <a:highlight>
                <a:srgbClr val="FFFF00"/>
              </a:highlight>
              <a:latin typeface="Calibir"/>
            </a:endParaRP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def __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init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__(</a:t>
            </a: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    self,</a:t>
            </a: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    height,</a:t>
            </a: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    base):</a:t>
            </a:r>
          </a:p>
        </p:txBody>
      </p:sp>
    </p:spTree>
    <p:extLst>
      <p:ext uri="{BB962C8B-B14F-4D97-AF65-F5344CB8AC3E}">
        <p14:creationId xmlns:p14="http://schemas.microsoft.com/office/powerpoint/2010/main" val="273708447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D775C-9A47-CF3C-9150-E946FBE22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174333-E8D4-405E-7AD5-7564C111224A}"/>
              </a:ext>
            </a:extLst>
          </p:cNvPr>
          <p:cNvSpPr txBox="1"/>
          <p:nvPr/>
        </p:nvSpPr>
        <p:spPr>
          <a:xfrm>
            <a:off x="-3716" y="0"/>
            <a:ext cx="6099716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super().__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init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__("Triangle")</a:t>
            </a:r>
          </a:p>
          <a:p>
            <a:endParaRPr lang="en-US" sz="2400" dirty="0">
              <a:highlight>
                <a:srgbClr val="FFFF00"/>
              </a:highlight>
              <a:latin typeface="Calibir"/>
            </a:endParaRP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self.height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 = height</a:t>
            </a: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self.base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 = base</a:t>
            </a:r>
          </a:p>
          <a:p>
            <a:endParaRPr lang="en-US" sz="2400" dirty="0">
              <a:highlight>
                <a:srgbClr val="FFFF00"/>
              </a:highlight>
              <a:latin typeface="Calibir"/>
            </a:endParaRP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def area(self):</a:t>
            </a:r>
          </a:p>
          <a:p>
            <a:endParaRPr lang="en-US" sz="2400" dirty="0">
              <a:highlight>
                <a:srgbClr val="FFFF00"/>
              </a:highlight>
              <a:latin typeface="Calibir"/>
            </a:endParaRP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return (</a:t>
            </a: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    0.5</a:t>
            </a: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    *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self.base</a:t>
            </a:r>
            <a:endParaRPr lang="en-US" sz="2400" dirty="0">
              <a:highlight>
                <a:srgbClr val="FFFF00"/>
              </a:highlight>
              <a:latin typeface="Calibir"/>
            </a:endParaRP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    *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self.height</a:t>
            </a:r>
            <a:endParaRPr lang="en-US" sz="2400" dirty="0">
              <a:highlight>
                <a:srgbClr val="FFFF00"/>
              </a:highlight>
              <a:latin typeface="Calibir"/>
            </a:endParaRP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)</a:t>
            </a:r>
          </a:p>
          <a:p>
            <a:endParaRPr lang="en-US" sz="2400" dirty="0">
              <a:highlight>
                <a:srgbClr val="FFFF00"/>
              </a:highlight>
              <a:latin typeface="Calibir"/>
            </a:endParaRP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def __str__(self):</a:t>
            </a:r>
          </a:p>
          <a:p>
            <a:endParaRPr lang="en-US" sz="2400" dirty="0">
              <a:highlight>
                <a:srgbClr val="FFFF00"/>
              </a:highlight>
              <a:latin typeface="Calibir"/>
            </a:endParaRP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return (</a:t>
            </a: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    f"{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self.type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:&lt;8} "</a:t>
            </a: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f"area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 = {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self.area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():&lt;6.2f}"</a:t>
            </a: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)</a:t>
            </a:r>
          </a:p>
        </p:txBody>
      </p:sp>
    </p:spTree>
    <p:extLst>
      <p:ext uri="{BB962C8B-B14F-4D97-AF65-F5344CB8AC3E}">
        <p14:creationId xmlns:p14="http://schemas.microsoft.com/office/powerpoint/2010/main" val="267575653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44E8D-EDFA-3278-A2B5-84E95F8CE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2EB67F-6DE5-AFA5-8979-7470057CA1A3}"/>
              </a:ext>
            </a:extLst>
          </p:cNvPr>
          <p:cNvSpPr txBox="1"/>
          <p:nvPr/>
        </p:nvSpPr>
        <p:spPr>
          <a:xfrm>
            <a:off x="-3716" y="0"/>
            <a:ext cx="6099716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class Shapes:</a:t>
            </a:r>
          </a:p>
          <a:p>
            <a:endParaRPr lang="en-US" sz="2400" dirty="0">
              <a:highlight>
                <a:srgbClr val="FFFF00"/>
              </a:highlight>
              <a:latin typeface="Calibir"/>
            </a:endParaRP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def __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init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__(self):</a:t>
            </a:r>
          </a:p>
          <a:p>
            <a:endParaRPr lang="en-US" sz="2400" dirty="0">
              <a:highlight>
                <a:srgbClr val="FFFF00"/>
              </a:highlight>
              <a:latin typeface="Calibir"/>
            </a:endParaRP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self.shapes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 = []</a:t>
            </a:r>
          </a:p>
          <a:p>
            <a:endParaRPr lang="en-US" sz="2400" dirty="0">
              <a:highlight>
                <a:srgbClr val="FFFF00"/>
              </a:highlight>
              <a:latin typeface="Calibir"/>
            </a:endParaRP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self.load_shapes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endParaRPr lang="en-US" sz="2400" dirty="0">
              <a:highlight>
                <a:srgbClr val="FFFF00"/>
              </a:highlight>
              <a:latin typeface="Calibir"/>
            </a:endParaRP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def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load_shapes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(self):</a:t>
            </a:r>
          </a:p>
          <a:p>
            <a:endParaRPr lang="en-US" sz="2400" dirty="0">
              <a:highlight>
                <a:srgbClr val="FFFF00"/>
              </a:highlight>
              <a:latin typeface="Calibir"/>
            </a:endParaRP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self.shapes.append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    Triangle(5, 3)</a:t>
            </a: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)</a:t>
            </a:r>
          </a:p>
          <a:p>
            <a:endParaRPr lang="en-US" sz="2400" dirty="0">
              <a:highlight>
                <a:srgbClr val="FFFF00"/>
              </a:highlight>
              <a:latin typeface="Calibir"/>
            </a:endParaRP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self.shapes.append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    Triangle(5, 5)</a:t>
            </a: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)</a:t>
            </a:r>
          </a:p>
        </p:txBody>
      </p:sp>
    </p:spTree>
    <p:extLst>
      <p:ext uri="{BB962C8B-B14F-4D97-AF65-F5344CB8AC3E}">
        <p14:creationId xmlns:p14="http://schemas.microsoft.com/office/powerpoint/2010/main" val="77226828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D0896-DF9A-1C5E-43F5-92BC7E395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EF11BC-C4F3-9C34-9697-609EFA646B93}"/>
              </a:ext>
            </a:extLst>
          </p:cNvPr>
          <p:cNvSpPr txBox="1"/>
          <p:nvPr/>
        </p:nvSpPr>
        <p:spPr>
          <a:xfrm>
            <a:off x="-3716" y="0"/>
            <a:ext cx="609971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self.shapes.append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    Square(5)</a:t>
            </a: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)</a:t>
            </a: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self.shapes.append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    Square(10)</a:t>
            </a: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)</a:t>
            </a: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def show(self):</a:t>
            </a: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for shape in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self.shapes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:</a:t>
            </a: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        print(shape)</a:t>
            </a:r>
          </a:p>
          <a:p>
            <a:endParaRPr lang="en-US" sz="2400" dirty="0">
              <a:highlight>
                <a:srgbClr val="FFFF00"/>
              </a:highlight>
              <a:latin typeface="Calibir"/>
            </a:endParaRP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def main():</a:t>
            </a:r>
          </a:p>
          <a:p>
            <a:endParaRPr lang="en-US" sz="2400" dirty="0">
              <a:highlight>
                <a:srgbClr val="FFFF00"/>
              </a:highlight>
              <a:latin typeface="Calibir"/>
            </a:endParaRP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shapes = Shapes()</a:t>
            </a:r>
          </a:p>
          <a:p>
            <a:endParaRPr lang="en-US" sz="2400" dirty="0">
              <a:highlight>
                <a:srgbClr val="FFFF00"/>
              </a:highlight>
              <a:latin typeface="Calibir"/>
            </a:endParaRP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shapes.show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endParaRPr lang="en-US" sz="2400" dirty="0">
              <a:highlight>
                <a:srgbClr val="FFFF00"/>
              </a:highlight>
              <a:latin typeface="Calibir"/>
            </a:endParaRP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if __name__ == "__main__":</a:t>
            </a:r>
          </a:p>
          <a:p>
            <a:r>
              <a:rPr lang="en-US" sz="2400" dirty="0">
                <a:highlight>
                  <a:srgbClr val="FFFF00"/>
                </a:highlight>
                <a:latin typeface="Calibir"/>
              </a:rPr>
              <a:t>    main()</a:t>
            </a:r>
          </a:p>
        </p:txBody>
      </p:sp>
    </p:spTree>
    <p:extLst>
      <p:ext uri="{BB962C8B-B14F-4D97-AF65-F5344CB8AC3E}">
        <p14:creationId xmlns:p14="http://schemas.microsoft.com/office/powerpoint/2010/main" val="121027251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26DE4-E25E-8AC8-FD4E-7ECA76E2A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FD213A-54D8-AB8F-4A8F-47B4B0A2BF3A}"/>
              </a:ext>
            </a:extLst>
          </p:cNvPr>
          <p:cNvSpPr txBox="1"/>
          <p:nvPr/>
        </p:nvSpPr>
        <p:spPr>
          <a:xfrm>
            <a:off x="0" y="1"/>
            <a:ext cx="12199434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Completed Java — Lab8Exercise1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 recommend four files: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Polygon.java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Square.java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Triangle.java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Shapes.java</a:t>
            </a:r>
          </a:p>
        </p:txBody>
      </p:sp>
    </p:spTree>
    <p:extLst>
      <p:ext uri="{BB962C8B-B14F-4D97-AF65-F5344CB8AC3E}">
        <p14:creationId xmlns:p14="http://schemas.microsoft.com/office/powerpoint/2010/main" val="264416595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3271D-63B4-16CE-710F-BD40A7589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E83EBE-12E0-0D76-BB80-B7C7CA276367}"/>
              </a:ext>
            </a:extLst>
          </p:cNvPr>
          <p:cNvSpPr txBox="1"/>
          <p:nvPr/>
        </p:nvSpPr>
        <p:spPr>
          <a:xfrm>
            <a:off x="0" y="1"/>
            <a:ext cx="12199434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Polygon.java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public abstract class Polygon {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protected String type;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public Polygon(String type) {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    </a:t>
            </a:r>
            <a:r>
              <a:rPr lang="en-US" sz="2800" dirty="0" err="1">
                <a:latin typeface="Calibir"/>
              </a:rPr>
              <a:t>this.type</a:t>
            </a:r>
            <a:r>
              <a:rPr lang="en-US" sz="2800" dirty="0">
                <a:latin typeface="Calibir"/>
              </a:rPr>
              <a:t> = type;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    public abstract double area();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3493054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7524E-404C-E02B-F8B1-74FB23190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6412FE-2DED-F1DD-6BA8-B5028DA5B1D5}"/>
              </a:ext>
            </a:extLst>
          </p:cNvPr>
          <p:cNvSpPr txBox="1"/>
          <p:nvPr/>
        </p:nvSpPr>
        <p:spPr>
          <a:xfrm>
            <a:off x="0" y="1"/>
            <a:ext cx="12199434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Square.java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public class Square extends Polygon {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private double side;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public Square(double side) {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    super("Square");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this.side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 = side;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@Override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public double area() {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    return side * side;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82113117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4FAC5-5F2E-E2DC-B77B-FF7A7FB05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D741CB-FA3D-19DA-091E-584572C6430B}"/>
              </a:ext>
            </a:extLst>
          </p:cNvPr>
          <p:cNvSpPr txBox="1"/>
          <p:nvPr/>
        </p:nvSpPr>
        <p:spPr>
          <a:xfrm>
            <a:off x="0" y="1"/>
            <a:ext cx="12199434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@Override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public String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toString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() {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    return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String.format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        "%-8s area = %-6.2f",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        type,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        area()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    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}</a:t>
            </a:r>
            <a:endParaRPr lang="en-US" sz="2400" dirty="0">
              <a:highlight>
                <a:srgbClr val="FFFF00"/>
              </a:highlight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25664174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205A-FBBB-073C-18A2-F1AD11B90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CBBF45-84EA-D445-A2E3-AB3041B56BD4}"/>
              </a:ext>
            </a:extLst>
          </p:cNvPr>
          <p:cNvSpPr txBox="1"/>
          <p:nvPr/>
        </p:nvSpPr>
        <p:spPr>
          <a:xfrm>
            <a:off x="0" y="-1"/>
            <a:ext cx="9149575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Triangle.java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public class Triangle extends Polygon {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private double height;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private double base;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public Triangle(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        double height,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        double base) {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    super("Triangle");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this.height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 = height;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this.base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 = base;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2280494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1DEE7-E5F1-9B04-1BFF-CC3E8CA6B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B071CC-8987-3EF2-DBCB-71F7064699EC}"/>
              </a:ext>
            </a:extLst>
          </p:cNvPr>
          <p:cNvSpPr txBox="1"/>
          <p:nvPr/>
        </p:nvSpPr>
        <p:spPr>
          <a:xfrm>
            <a:off x="0" y="-1"/>
            <a:ext cx="9149575" cy="69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highlight>
                  <a:srgbClr val="FFFF00"/>
                </a:highlight>
                <a:latin typeface="Calibir"/>
              </a:rPr>
              <a:t> @Override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highlight>
                  <a:srgbClr val="FFFF00"/>
                </a:highlight>
                <a:latin typeface="Calibir"/>
              </a:rPr>
              <a:t>    public double area() {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highlight>
                  <a:srgbClr val="FFFF00"/>
                </a:highlight>
                <a:latin typeface="Calibir"/>
              </a:rPr>
              <a:t>        return 0.5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    * base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    * height;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highlight>
                  <a:srgbClr val="FFFF00"/>
                </a:highlight>
                <a:latin typeface="Calibir"/>
              </a:rPr>
              <a:t>    @Override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highlight>
                  <a:srgbClr val="FFFF00"/>
                </a:highlight>
                <a:latin typeface="Calibir"/>
              </a:rPr>
              <a:t>    public String </a:t>
            </a:r>
            <a:r>
              <a:rPr lang="en-US" sz="2000" dirty="0" err="1">
                <a:highlight>
                  <a:srgbClr val="FFFF00"/>
                </a:highlight>
                <a:latin typeface="Calibir"/>
              </a:rPr>
              <a:t>toString</a:t>
            </a:r>
            <a:r>
              <a:rPr lang="en-US" sz="2000" dirty="0">
                <a:highlight>
                  <a:srgbClr val="FFFF00"/>
                </a:highlight>
                <a:latin typeface="Calibir"/>
              </a:rPr>
              <a:t>() {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highlight>
                  <a:srgbClr val="FFFF00"/>
                </a:highlight>
                <a:latin typeface="Calibir"/>
              </a:rPr>
              <a:t>        return </a:t>
            </a:r>
            <a:r>
              <a:rPr lang="en-US" sz="2000" dirty="0" err="1">
                <a:highlight>
                  <a:srgbClr val="FFFF00"/>
                </a:highlight>
                <a:latin typeface="Calibir"/>
              </a:rPr>
              <a:t>String.format</a:t>
            </a:r>
            <a:r>
              <a:rPr lang="en-US" sz="20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"%-8s area = %-6.2f",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type,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highlight>
                  <a:srgbClr val="FFFF00"/>
                </a:highlight>
                <a:latin typeface="Calibir"/>
              </a:rPr>
              <a:t>            area()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highlight>
                  <a:srgbClr val="FFFF00"/>
                </a:highlight>
                <a:latin typeface="Calibir"/>
              </a:rPr>
              <a:t>        );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highlight>
                  <a:srgbClr val="FFFF00"/>
                </a:highlight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493754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BC1BC-3E28-4207-B68A-B6AF37BDB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00F70F-EBBD-75E7-F8C8-58F9E5AE8752}"/>
              </a:ext>
            </a:extLst>
          </p:cNvPr>
          <p:cNvSpPr txBox="1"/>
          <p:nvPr/>
        </p:nvSpPr>
        <p:spPr>
          <a:xfrm>
            <a:off x="0" y="0"/>
            <a:ext cx="6099716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Shapes.java</a:t>
            </a: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import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java.util.ArrayList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;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public class Shapes {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private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ArrayList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&lt;Polygon&gt; shapes;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public Shapes() {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shapes =</a:t>
            </a: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        new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ArrayList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&lt;&gt;();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loadShapes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public void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loadShapes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() {</a:t>
            </a:r>
          </a:p>
          <a:p>
            <a:pPr rtl="0">
              <a:buNone/>
            </a:pPr>
            <a:endParaRPr lang="en-US" dirty="0">
              <a:highlight>
                <a:srgbClr val="FFFF00"/>
              </a:highlight>
              <a:latin typeface="Calibir"/>
            </a:endParaRP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shapes.add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    new Triangle(5, 3)</a:t>
            </a: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);</a:t>
            </a: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dirty="0" err="1">
                <a:highlight>
                  <a:srgbClr val="FFFF00"/>
                </a:highlight>
                <a:latin typeface="Calibir"/>
              </a:rPr>
              <a:t>shapes.add</a:t>
            </a:r>
            <a:r>
              <a:rPr lang="en-US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    new Triangle(5, 5)</a:t>
            </a:r>
          </a:p>
          <a:p>
            <a:pPr rtl="0">
              <a:buNone/>
            </a:pPr>
            <a:r>
              <a:rPr lang="en-US" dirty="0">
                <a:highlight>
                  <a:srgbClr val="FFFF00"/>
                </a:highlight>
                <a:latin typeface="Calibir"/>
              </a:rPr>
              <a:t>        );</a:t>
            </a:r>
          </a:p>
        </p:txBody>
      </p:sp>
    </p:spTree>
    <p:extLst>
      <p:ext uri="{BB962C8B-B14F-4D97-AF65-F5344CB8AC3E}">
        <p14:creationId xmlns:p14="http://schemas.microsoft.com/office/powerpoint/2010/main" val="292399676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55522-31AB-1087-8738-ACD250635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2B261B-2A4C-7511-0E17-D916CE8FDBCD}"/>
              </a:ext>
            </a:extLst>
          </p:cNvPr>
          <p:cNvSpPr txBox="1"/>
          <p:nvPr/>
        </p:nvSpPr>
        <p:spPr>
          <a:xfrm>
            <a:off x="0" y="0"/>
            <a:ext cx="6099716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shapes.add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new Square(5)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);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shapes.add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new Square(10)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);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public void show() {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for (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Polygon shape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: shapes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) {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System.out.println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shape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);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}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593083541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A655D-9129-25FB-D406-672630810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784898-A91F-1E56-9513-ED101FF43EFE}"/>
              </a:ext>
            </a:extLst>
          </p:cNvPr>
          <p:cNvSpPr txBox="1"/>
          <p:nvPr/>
        </p:nvSpPr>
        <p:spPr>
          <a:xfrm>
            <a:off x="0" y="0"/>
            <a:ext cx="6099716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public static void main(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String[]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args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) {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Shapes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shapes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 =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        new Shapes();</a:t>
            </a:r>
          </a:p>
          <a:p>
            <a:endParaRPr lang="en-US" sz="2200" dirty="0">
              <a:highlight>
                <a:srgbClr val="FFFF00"/>
              </a:highlight>
              <a:latin typeface="Calibir"/>
            </a:endParaRP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    </a:t>
            </a:r>
            <a:r>
              <a:rPr lang="en-US" sz="2200" dirty="0" err="1">
                <a:highlight>
                  <a:srgbClr val="FFFF00"/>
                </a:highlight>
                <a:latin typeface="Calibir"/>
              </a:rPr>
              <a:t>shapes.show</a:t>
            </a:r>
            <a:r>
              <a:rPr lang="en-US" sz="2200" dirty="0">
                <a:highlight>
                  <a:srgbClr val="FFFF00"/>
                </a:highlight>
                <a:latin typeface="Calibir"/>
              </a:rPr>
              <a:t>();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    }</a:t>
            </a:r>
          </a:p>
          <a:p>
            <a:r>
              <a:rPr lang="en-US" sz="2200" dirty="0">
                <a:highlight>
                  <a:srgbClr val="FFFF00"/>
                </a:highlight>
                <a:latin typeface="Calibi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199506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1" y="87924"/>
            <a:ext cx="11360800" cy="1108400"/>
          </a:xfrm>
        </p:spPr>
        <p:txBody>
          <a:bodyPr/>
          <a:lstStyle/>
          <a:p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DBEC6B-567C-F8A4-ABD1-8A0121265A70}"/>
              </a:ext>
            </a:extLst>
          </p:cNvPr>
          <p:cNvSpPr txBox="1"/>
          <p:nvPr/>
        </p:nvSpPr>
        <p:spPr>
          <a:xfrm>
            <a:off x="551395" y="1108569"/>
            <a:ext cx="11360800" cy="5594737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US" sz="2400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Develop the program </a:t>
            </a:r>
            <a:r>
              <a:rPr lang="en-US" sz="2400" b="1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Lab8Exercise2</a:t>
            </a:r>
            <a:r>
              <a:rPr lang="en-US" sz="2400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 following the below 4 steps: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US" sz="2400" b="1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Step 1: </a:t>
            </a:r>
            <a:r>
              <a:rPr lang="en-US" sz="2400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Develop an abstract class Animal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Animal has two fields: type (of String type) and position (of int type)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Animal has a constructor that initializes the type and position from parameters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Animal has an abstract procedure walk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Animal has a show() method that displays the animal’s type and current position in the following format: </a:t>
            </a:r>
            <a:r>
              <a:rPr lang="en-US" sz="2400" kern="0" dirty="0">
                <a:solidFill>
                  <a:srgbClr val="F79646">
                    <a:lumMod val="75000"/>
                  </a:srgbClr>
                </a:solidFill>
                <a:latin typeface="Economica"/>
                <a:cs typeface="Arial"/>
                <a:sym typeface="Arial"/>
              </a:rPr>
              <a:t>“&lt;type&gt; is at position &lt;position&gt;”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US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       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</a:pPr>
            <a:endParaRPr lang="en-US" sz="2400" kern="0" dirty="0">
              <a:solidFill>
                <a:srgbClr val="000000"/>
              </a:solidFill>
              <a:latin typeface="Economica" panose="020B0604020202020204" charset="0"/>
              <a:cs typeface="Arial"/>
              <a:sym typeface="Arial"/>
            </a:endParaRPr>
          </a:p>
          <a:p>
            <a:pPr defTabSz="1219170">
              <a:lnSpc>
                <a:spcPct val="150000"/>
              </a:lnSpc>
              <a:buClr>
                <a:srgbClr val="000000"/>
              </a:buClr>
            </a:pPr>
            <a:endParaRPr lang="en-US" sz="2400" kern="0" dirty="0">
              <a:solidFill>
                <a:srgbClr val="000000"/>
              </a:solidFill>
              <a:latin typeface="Economica" panose="020B0604020202020204" charset="0"/>
              <a:cs typeface="Arial"/>
              <a:sym typeface="Arial"/>
            </a:endParaRPr>
          </a:p>
        </p:txBody>
      </p:sp>
      <p:sp>
        <p:nvSpPr>
          <p:cNvPr id="3" name="Google Shape;101;p19">
            <a:extLst>
              <a:ext uri="{FF2B5EF4-FFF2-40B4-BE49-F238E27FC236}">
                <a16:creationId xmlns:a16="http://schemas.microsoft.com/office/drawing/2014/main" id="{34FD37A6-3625-4F65-04CD-76DA4B9F17B8}"/>
              </a:ext>
            </a:extLst>
          </p:cNvPr>
          <p:cNvSpPr txBox="1">
            <a:spLocks/>
          </p:cNvSpPr>
          <p:nvPr/>
        </p:nvSpPr>
        <p:spPr>
          <a:xfrm>
            <a:off x="58208" y="-564"/>
            <a:ext cx="11362267" cy="110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defTabSz="1219170">
              <a:buClr>
                <a:prstClr val="black"/>
              </a:buClr>
            </a:pPr>
            <a:r>
              <a:rPr lang="en-GB" sz="5600" kern="0" dirty="0">
                <a:solidFill>
                  <a:prstClr val="black"/>
                </a:solidFill>
              </a:rPr>
              <a:t>  Lab 8 – </a:t>
            </a:r>
            <a:r>
              <a:rPr lang="en-US" sz="5867" kern="0" dirty="0">
                <a:solidFill>
                  <a:prstClr val="black"/>
                </a:solidFill>
                <a:latin typeface="Economica" panose="020B0604020202020204" charset="0"/>
              </a:rPr>
              <a:t>Lab8Exercise2 (Java)</a:t>
            </a:r>
            <a:endParaRPr lang="en-GB" sz="5600" kern="0" dirty="0">
              <a:solidFill>
                <a:prstClr val="black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001271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1" y="87924"/>
            <a:ext cx="11360800" cy="1108400"/>
          </a:xfrm>
        </p:spPr>
        <p:txBody>
          <a:bodyPr/>
          <a:lstStyle/>
          <a:p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DBEC6B-567C-F8A4-ABD1-8A0121265A70}"/>
              </a:ext>
            </a:extLst>
          </p:cNvPr>
          <p:cNvSpPr txBox="1"/>
          <p:nvPr/>
        </p:nvSpPr>
        <p:spPr>
          <a:xfrm>
            <a:off x="608543" y="1108570"/>
            <a:ext cx="10261597" cy="4302075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2400" b="1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Step 2:  </a:t>
            </a:r>
            <a:r>
              <a:rPr lang="en-US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Develop two classes: Dog and Cat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Dog and Cat are subclasses of Animal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Define a constructor in each class that uses the superclass Animal's constructor and initializes the position to zero and the type to the type of the object.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Override the method walk() to enable: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US" sz="2400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	- A Dog to move by  </a:t>
            </a:r>
            <a:r>
              <a:rPr lang="en-US" sz="2400" kern="0" dirty="0">
                <a:solidFill>
                  <a:srgbClr val="F79646">
                    <a:lumMod val="75000"/>
                  </a:srgbClr>
                </a:solidFill>
                <a:latin typeface="Economica"/>
                <a:cs typeface="Arial"/>
                <a:sym typeface="Arial"/>
              </a:rPr>
              <a:t>4</a:t>
            </a:r>
            <a:r>
              <a:rPr lang="en-US" sz="24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 (every time the walk() method is called)</a:t>
            </a:r>
          </a:p>
          <a:p>
            <a:pPr defTabSz="1219170">
              <a:lnSpc>
                <a:spcPct val="150000"/>
              </a:lnSpc>
              <a:buClr>
                <a:srgbClr val="000000"/>
              </a:buClr>
            </a:pPr>
            <a:r>
              <a:rPr lang="en-US" sz="2400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	- A Cat to move by  </a:t>
            </a:r>
            <a:r>
              <a:rPr lang="en-US" sz="2400" kern="0" dirty="0">
                <a:solidFill>
                  <a:srgbClr val="F79646">
                    <a:lumMod val="75000"/>
                  </a:srgbClr>
                </a:solidFill>
                <a:latin typeface="Economica"/>
                <a:cs typeface="Arial"/>
                <a:sym typeface="Arial"/>
              </a:rPr>
              <a:t>2</a:t>
            </a:r>
            <a:r>
              <a:rPr lang="en-US" sz="2400" kern="0" dirty="0">
                <a:solidFill>
                  <a:prstClr val="black"/>
                </a:solidFill>
                <a:latin typeface="Economica"/>
                <a:cs typeface="Arial"/>
                <a:sym typeface="Arial"/>
              </a:rPr>
              <a:t> (every time the walk() method is called)</a:t>
            </a:r>
          </a:p>
        </p:txBody>
      </p:sp>
      <p:sp>
        <p:nvSpPr>
          <p:cNvPr id="3" name="Google Shape;101;p19">
            <a:extLst>
              <a:ext uri="{FF2B5EF4-FFF2-40B4-BE49-F238E27FC236}">
                <a16:creationId xmlns:a16="http://schemas.microsoft.com/office/drawing/2014/main" id="{17403C26-78ED-CC01-A160-18F65305F896}"/>
              </a:ext>
            </a:extLst>
          </p:cNvPr>
          <p:cNvSpPr txBox="1">
            <a:spLocks/>
          </p:cNvSpPr>
          <p:nvPr/>
        </p:nvSpPr>
        <p:spPr>
          <a:xfrm>
            <a:off x="58208" y="-564"/>
            <a:ext cx="11362267" cy="110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defTabSz="1219170">
              <a:buClr>
                <a:prstClr val="black"/>
              </a:buClr>
            </a:pPr>
            <a:r>
              <a:rPr lang="en-GB" sz="5600" kern="0" dirty="0">
                <a:solidFill>
                  <a:prstClr val="black"/>
                </a:solidFill>
              </a:rPr>
              <a:t>  Lab 8 – </a:t>
            </a:r>
            <a:r>
              <a:rPr lang="en-US" sz="5867" kern="0" dirty="0">
                <a:solidFill>
                  <a:prstClr val="black"/>
                </a:solidFill>
                <a:latin typeface="Economica" panose="020B0604020202020204" charset="0"/>
              </a:rPr>
              <a:t>Lab8Exercise2</a:t>
            </a:r>
            <a:endParaRPr lang="en-GB" sz="5600" kern="0" dirty="0">
              <a:solidFill>
                <a:prstClr val="black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502132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1" y="87924"/>
            <a:ext cx="11360800" cy="1108400"/>
          </a:xfrm>
        </p:spPr>
        <p:txBody>
          <a:bodyPr/>
          <a:lstStyle/>
          <a:p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DBEC6B-567C-F8A4-ABD1-8A0121265A70}"/>
              </a:ext>
            </a:extLst>
          </p:cNvPr>
          <p:cNvSpPr txBox="1"/>
          <p:nvPr/>
        </p:nvSpPr>
        <p:spPr>
          <a:xfrm>
            <a:off x="771525" y="1108570"/>
            <a:ext cx="10506075" cy="5410071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2400" b="1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Step 3: </a:t>
            </a:r>
            <a:r>
              <a:rPr lang="en-US" sz="2400" kern="0" dirty="0">
                <a:solidFill>
                  <a:srgbClr val="000000"/>
                </a:solidFill>
                <a:latin typeface="Economica" panose="020B0604020202020204" charset="0"/>
                <a:cs typeface="Arial"/>
                <a:sym typeface="Arial"/>
              </a:rPr>
              <a:t>Develop the Farm class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Farm has a field ‘animals’ of List type to store animal objects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Farm has a constructor that initializes the List animals using the populate() method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The procedure ‘populate()’ initializes the List animals with one dog object and one cat object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Farm has a procedure ‘walk()’ that moves all animal objects in Farm.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Farm has a procedure ‘show()’ that shows the positions of all animal objects in Farm.</a:t>
            </a:r>
          </a:p>
          <a:p>
            <a:pPr marL="380990" indent="-380990" defTabSz="121917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2400" kern="0" dirty="0">
              <a:solidFill>
                <a:srgbClr val="000000"/>
              </a:solidFill>
              <a:latin typeface="Economica" panose="020B0604020202020204" charset="0"/>
              <a:cs typeface="Arial"/>
              <a:sym typeface="Arial"/>
            </a:endParaRPr>
          </a:p>
        </p:txBody>
      </p:sp>
      <p:sp>
        <p:nvSpPr>
          <p:cNvPr id="3" name="Google Shape;101;p19">
            <a:extLst>
              <a:ext uri="{FF2B5EF4-FFF2-40B4-BE49-F238E27FC236}">
                <a16:creationId xmlns:a16="http://schemas.microsoft.com/office/drawing/2014/main" id="{853B6A3B-D52D-FFB3-3614-7A9437E5CD34}"/>
              </a:ext>
            </a:extLst>
          </p:cNvPr>
          <p:cNvSpPr txBox="1">
            <a:spLocks/>
          </p:cNvSpPr>
          <p:nvPr/>
        </p:nvSpPr>
        <p:spPr>
          <a:xfrm>
            <a:off x="58208" y="-564"/>
            <a:ext cx="11362267" cy="110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defTabSz="1219170">
              <a:buClr>
                <a:prstClr val="black"/>
              </a:buClr>
            </a:pPr>
            <a:r>
              <a:rPr lang="en-GB" sz="5600" kern="0" dirty="0">
                <a:solidFill>
                  <a:prstClr val="black"/>
                </a:solidFill>
              </a:rPr>
              <a:t>  Lab 8 – </a:t>
            </a:r>
            <a:r>
              <a:rPr lang="en-US" sz="5867" kern="0" dirty="0">
                <a:solidFill>
                  <a:prstClr val="black"/>
                </a:solidFill>
                <a:latin typeface="Economica" panose="020B0604020202020204" charset="0"/>
              </a:rPr>
              <a:t>Lab8Exercise2</a:t>
            </a:r>
            <a:endParaRPr lang="en-GB" sz="5600" kern="0" dirty="0">
              <a:solidFill>
                <a:prstClr val="black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080941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1" y="87924"/>
            <a:ext cx="11360800" cy="1108400"/>
          </a:xfrm>
        </p:spPr>
        <p:txBody>
          <a:bodyPr/>
          <a:lstStyle/>
          <a:p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DBEC6B-567C-F8A4-ABD1-8A0121265A70}"/>
              </a:ext>
            </a:extLst>
          </p:cNvPr>
          <p:cNvSpPr txBox="1"/>
          <p:nvPr/>
        </p:nvSpPr>
        <p:spPr>
          <a:xfrm>
            <a:off x="537689" y="1205849"/>
            <a:ext cx="10514487" cy="3493649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2400" b="1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Step 4:  </a:t>
            </a:r>
            <a:r>
              <a:rPr lang="en-US" sz="2400" kern="0" dirty="0">
                <a:solidFill>
                  <a:srgbClr val="000000"/>
                </a:solidFill>
                <a:latin typeface="Economica"/>
                <a:cs typeface="Arial"/>
                <a:sym typeface="Arial"/>
              </a:rPr>
              <a:t>complete the Farm class with a CLI system menu() method. A sample I/O is provided below:</a:t>
            </a:r>
          </a:p>
          <a:p>
            <a:pPr marL="0" lvl="8" defTabSz="1219170">
              <a:spcAft>
                <a:spcPts val="2133"/>
              </a:spcAft>
              <a:buClr>
                <a:srgbClr val="000000"/>
              </a:buClr>
            </a:pPr>
            <a:r>
              <a:rPr lang="en-GB" sz="1867" kern="0" dirty="0">
                <a:solidFill>
                  <a:srgbClr val="000000"/>
                </a:solidFill>
                <a:latin typeface="Economica"/>
                <a:cs typeface="Courier New"/>
                <a:sym typeface="Arial"/>
              </a:rPr>
              <a:t>	</a:t>
            </a:r>
            <a:r>
              <a:rPr lang="en-GB" sz="1867" kern="0" dirty="0">
                <a:solidFill>
                  <a:srgbClr val="000000"/>
                </a:solidFill>
                <a:latin typeface="Courier New"/>
                <a:cs typeface="Courier New"/>
                <a:sym typeface="Arial"/>
              </a:rPr>
              <a:t>Choice (w/s/x): w</a:t>
            </a:r>
            <a:br>
              <a:rPr lang="en-GB" sz="1867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</a:br>
            <a:r>
              <a:rPr lang="en-GB" sz="1867" kern="0" dirty="0">
                <a:solidFill>
                  <a:srgbClr val="000000"/>
                </a:solidFill>
                <a:latin typeface="Courier New"/>
                <a:cs typeface="Courier New"/>
                <a:sym typeface="Arial"/>
              </a:rPr>
              <a:t>	</a:t>
            </a:r>
            <a:r>
              <a:rPr lang="en-GB" sz="1867" kern="0" dirty="0">
                <a:solidFill>
                  <a:srgbClr val="F79646">
                    <a:lumMod val="75000"/>
                  </a:srgbClr>
                </a:solidFill>
                <a:latin typeface="Courier New"/>
                <a:cs typeface="Courier New"/>
                <a:sym typeface="Arial"/>
              </a:rPr>
              <a:t>Walking the animals …</a:t>
            </a:r>
            <a:br>
              <a:rPr lang="en-GB" sz="1867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</a:br>
            <a:r>
              <a:rPr lang="en-GB" sz="1867" kern="0" dirty="0">
                <a:solidFill>
                  <a:srgbClr val="000000"/>
                </a:solidFill>
                <a:latin typeface="Courier New"/>
                <a:cs typeface="Courier New"/>
                <a:sym typeface="Arial"/>
              </a:rPr>
              <a:t>	Choice (w/s/x): s</a:t>
            </a:r>
            <a:br>
              <a:rPr lang="en-GB" sz="1867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</a:br>
            <a:r>
              <a:rPr lang="en-GB" sz="1867" kern="0" dirty="0">
                <a:solidFill>
                  <a:srgbClr val="000000"/>
                </a:solidFill>
                <a:latin typeface="Courier New"/>
                <a:cs typeface="Courier New"/>
                <a:sym typeface="Arial"/>
              </a:rPr>
              <a:t>	</a:t>
            </a:r>
            <a:r>
              <a:rPr lang="en-GB" sz="1867" kern="0" dirty="0">
                <a:solidFill>
                  <a:srgbClr val="F79646">
                    <a:lumMod val="75000"/>
                  </a:srgbClr>
                </a:solidFill>
                <a:latin typeface="Courier New"/>
                <a:cs typeface="Courier New"/>
                <a:sym typeface="Arial"/>
              </a:rPr>
              <a:t>&lt;animal-type&gt; is at position &lt;position&gt;</a:t>
            </a:r>
          </a:p>
          <a:p>
            <a:pPr marL="0" lvl="8" defTabSz="1219170">
              <a:spcAft>
                <a:spcPts val="2133"/>
              </a:spcAft>
              <a:buClr>
                <a:srgbClr val="000000"/>
              </a:buClr>
            </a:pPr>
            <a:r>
              <a:rPr lang="en-GB" sz="1867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Choice (w/s/x): x</a:t>
            </a:r>
            <a:br>
              <a:rPr lang="en-GB" sz="1867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</a:br>
            <a:r>
              <a:rPr lang="en-GB" sz="1867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Arial"/>
              </a:rPr>
              <a:t>	Goodbye!</a:t>
            </a:r>
          </a:p>
          <a:p>
            <a:pPr marL="380990" lvl="8" indent="-380990" defTabSz="1219170">
              <a:spcAft>
                <a:spcPts val="2133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GB" sz="2400" kern="0" dirty="0">
                <a:solidFill>
                  <a:srgbClr val="000000"/>
                </a:solidFill>
                <a:latin typeface="Economica" panose="020B0604020202020204" charset="0"/>
                <a:cs typeface="Courier New" panose="02070309020205020404" pitchFamily="49" charset="0"/>
                <a:sym typeface="Arial"/>
              </a:rPr>
              <a:t>Define the main() method that uses the menu() and starts the program</a:t>
            </a:r>
          </a:p>
        </p:txBody>
      </p:sp>
      <p:sp>
        <p:nvSpPr>
          <p:cNvPr id="3" name="Google Shape;101;p19">
            <a:extLst>
              <a:ext uri="{FF2B5EF4-FFF2-40B4-BE49-F238E27FC236}">
                <a16:creationId xmlns:a16="http://schemas.microsoft.com/office/drawing/2014/main" id="{6553D3D2-027F-5475-242B-3DB2014A84A6}"/>
              </a:ext>
            </a:extLst>
          </p:cNvPr>
          <p:cNvSpPr txBox="1">
            <a:spLocks/>
          </p:cNvSpPr>
          <p:nvPr/>
        </p:nvSpPr>
        <p:spPr>
          <a:xfrm>
            <a:off x="58208" y="-564"/>
            <a:ext cx="11362267" cy="110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defTabSz="1219170">
              <a:buClr>
                <a:prstClr val="black"/>
              </a:buClr>
            </a:pPr>
            <a:r>
              <a:rPr lang="en-GB" sz="5600" kern="0" dirty="0">
                <a:solidFill>
                  <a:prstClr val="black"/>
                </a:solidFill>
              </a:rPr>
              <a:t>  Lab 8 – </a:t>
            </a:r>
            <a:r>
              <a:rPr lang="en-US" sz="5867" kern="0" dirty="0">
                <a:solidFill>
                  <a:prstClr val="black"/>
                </a:solidFill>
                <a:latin typeface="Economica" panose="020B0604020202020204" charset="0"/>
              </a:rPr>
              <a:t>Lab8Exercise2</a:t>
            </a:r>
            <a:endParaRPr lang="en-GB" sz="5600" kern="0" dirty="0">
              <a:solidFill>
                <a:prstClr val="black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985791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C101F-C65F-1D84-0824-C2471518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 descr="Tying a bow in an arrangment of presents">
            <a:extLst>
              <a:ext uri="{FF2B5EF4-FFF2-40B4-BE49-F238E27FC236}">
                <a16:creationId xmlns:a16="http://schemas.microsoft.com/office/drawing/2014/main" id="{E6D721DE-1453-5AA6-9447-209B227E2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81" r="16168" b="-2"/>
          <a:stretch/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41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845029-98A4-9C92-04B4-320B6AFDD1B8}"/>
              </a:ext>
            </a:extLst>
          </p:cNvPr>
          <p:cNvSpPr txBox="1"/>
          <p:nvPr/>
        </p:nvSpPr>
        <p:spPr>
          <a:xfrm>
            <a:off x="6388119" y="99483"/>
            <a:ext cx="5198044" cy="66515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Happy Learning and Bright Futures Ahead!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Dr. Farshid Keivanian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Stay Connected: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linkedin.com/in/farshid-keivanian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github.com/FarshidKeivanian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Education is the most powerful weapon you can use to change the world.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— Nelson Mandela</a:t>
            </a:r>
          </a:p>
        </p:txBody>
      </p:sp>
      <p:sp>
        <p:nvSpPr>
          <p:cNvPr id="45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42723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LAPSEDTIME" val="12.81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LAPSEDTIME" val="12.81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LAPSEDTIME" val="12.81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LAPSEDTIME" val="12.81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ux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3011</TotalTime>
  <Words>9893</Words>
  <Application>Microsoft Office PowerPoint</Application>
  <PresentationFormat>Widescreen</PresentationFormat>
  <Paragraphs>1923</Paragraphs>
  <Slides>135</Slides>
  <Notes>15</Notes>
  <HiddenSlides>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135</vt:i4>
      </vt:variant>
    </vt:vector>
  </HeadingPairs>
  <TitlesOfParts>
    <vt:vector size="148" baseType="lpstr">
      <vt:lpstr>Aptos</vt:lpstr>
      <vt:lpstr>Aptos Display</vt:lpstr>
      <vt:lpstr>Arial</vt:lpstr>
      <vt:lpstr>Calibir</vt:lpstr>
      <vt:lpstr>Calibri</vt:lpstr>
      <vt:lpstr>Calibri Light</vt:lpstr>
      <vt:lpstr>Courier New</vt:lpstr>
      <vt:lpstr>Economica</vt:lpstr>
      <vt:lpstr>Open Sans</vt:lpstr>
      <vt:lpstr>Times New Roman</vt:lpstr>
      <vt:lpstr>Office Theme</vt:lpstr>
      <vt:lpstr>1_Office Theme</vt:lpstr>
      <vt:lpstr>Luxe</vt:lpstr>
      <vt:lpstr>32555 – Fundamentals of Software Development</vt:lpstr>
      <vt:lpstr>Welcome to 32555 – Fundamentals of Software Development</vt:lpstr>
      <vt:lpstr>Welcome to 32555 – Fundamentals of Software Development</vt:lpstr>
      <vt:lpstr>Week 8 Outline</vt:lpstr>
      <vt:lpstr>Week 8 Outline</vt:lpstr>
      <vt:lpstr>Contents</vt:lpstr>
      <vt:lpstr>Lab 8</vt:lpstr>
      <vt:lpstr>Lab 8</vt:lpstr>
      <vt:lpstr>Lab 8</vt:lpstr>
      <vt:lpstr>Lab 8</vt:lpstr>
      <vt:lpstr>Lab 8</vt:lpstr>
      <vt:lpstr>Lab 8</vt:lpstr>
      <vt:lpstr>Big View – Lab 8 vs Lab 7</vt:lpstr>
      <vt:lpstr>Lab 8 — DeskBankApp Sixth Implementation</vt:lpstr>
      <vt:lpstr>Lab 8 — DeskBankApp Sixth 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</vt:lpstr>
      <vt:lpstr>        </vt:lpstr>
      <vt:lpstr>        </vt:lpstr>
      <vt:lpstr>      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Farshid Keivanian</dc:creator>
  <cp:lastModifiedBy>Farshid Keivanian</cp:lastModifiedBy>
  <cp:revision>1007</cp:revision>
  <dcterms:created xsi:type="dcterms:W3CDTF">2025-07-28T16:39:25Z</dcterms:created>
  <dcterms:modified xsi:type="dcterms:W3CDTF">2026-09-15T23:08:44Z</dcterms:modified>
</cp:coreProperties>
</file>