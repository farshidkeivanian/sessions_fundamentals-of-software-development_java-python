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33"/>
  </p:notesMasterIdLst>
  <p:sldIdLst>
    <p:sldId id="256" r:id="rId3"/>
    <p:sldId id="2467" r:id="rId4"/>
    <p:sldId id="2634" r:id="rId5"/>
    <p:sldId id="2592" r:id="rId6"/>
    <p:sldId id="2635" r:id="rId7"/>
    <p:sldId id="2637" r:id="rId8"/>
    <p:sldId id="2636" r:id="rId9"/>
    <p:sldId id="2640" r:id="rId10"/>
    <p:sldId id="2638" r:id="rId11"/>
    <p:sldId id="2639" r:id="rId12"/>
    <p:sldId id="2641" r:id="rId13"/>
    <p:sldId id="2642" r:id="rId14"/>
    <p:sldId id="2645" r:id="rId15"/>
    <p:sldId id="2643" r:id="rId16"/>
    <p:sldId id="2648" r:id="rId17"/>
    <p:sldId id="2650" r:id="rId18"/>
    <p:sldId id="2649" r:id="rId19"/>
    <p:sldId id="2651" r:id="rId20"/>
    <p:sldId id="2652" r:id="rId21"/>
    <p:sldId id="2653" r:id="rId22"/>
    <p:sldId id="2660" r:id="rId23"/>
    <p:sldId id="2661" r:id="rId24"/>
    <p:sldId id="2662" r:id="rId25"/>
    <p:sldId id="2654" r:id="rId26"/>
    <p:sldId id="2655" r:id="rId27"/>
    <p:sldId id="2656" r:id="rId28"/>
    <p:sldId id="2657" r:id="rId29"/>
    <p:sldId id="2658" r:id="rId30"/>
    <p:sldId id="2659" r:id="rId31"/>
    <p:sldId id="749"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954" y="10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26/08/2025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26/08/2025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26/08/2025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8.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1" y="672662"/>
            <a:ext cx="7633139" cy="3462358"/>
          </a:xfrm>
          <a:prstGeom prst="rect">
            <a:avLst/>
          </a:prstGeom>
          <a:noFill/>
        </p:spPr>
        <p:txBody>
          <a:bodyPr wrap="square">
            <a:spAutoFit/>
          </a:bodyPr>
          <a:lstStyle/>
          <a:p>
            <a:pPr marL="514350" indent="-514350">
              <a:lnSpc>
                <a:spcPct val="150000"/>
              </a:lnSpc>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lnSpc>
                <a:spcPct val="150000"/>
              </a:lnSpc>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lnSpc>
                <a:spcPct val="150000"/>
              </a:lnSpc>
              <a:spcAft>
                <a:spcPts val="800"/>
              </a:spcAft>
              <a:buFont typeface="+mj-lt"/>
              <a:buAutoNum type="arabicPeriod"/>
            </a:pPr>
            <a:r>
              <a:rPr lang="en-US" sz="2800" kern="100" dirty="0">
                <a:effectLst/>
                <a:latin typeface="Calibir"/>
                <a:ea typeface="Aptos" panose="020B0004020202020204" pitchFamily="34" charset="0"/>
                <a:cs typeface="Arial" panose="020B0604020202020204" pitchFamily="34" charset="0"/>
              </a:rPr>
              <a:t>Lab 5 Exercises: Methods and Patterns (</a:t>
            </a:r>
            <a:r>
              <a:rPr lang="en-US" sz="2800" kern="100" dirty="0">
                <a:effectLst/>
                <a:highlight>
                  <a:srgbClr val="FFFF00"/>
                </a:highlight>
                <a:latin typeface="Calibir"/>
                <a:ea typeface="Aptos" panose="020B0004020202020204" pitchFamily="34" charset="0"/>
                <a:cs typeface="Arial" panose="020B0604020202020204" pitchFamily="34" charset="0"/>
              </a:rPr>
              <a:t>To be added soon</a:t>
            </a:r>
            <a:r>
              <a:rPr lang="en-US" sz="2800" kern="100" dirty="0">
                <a:effectLst/>
                <a:latin typeface="Calibir"/>
                <a:ea typeface="Aptos" panose="020B0004020202020204" pitchFamily="34" charset="0"/>
                <a:cs typeface="Arial" panose="020B0604020202020204" pitchFamily="34" charset="0"/>
              </a:rPr>
              <a:t>)</a:t>
            </a:r>
          </a:p>
        </p:txBody>
      </p:sp>
      <p:sp>
        <p:nvSpPr>
          <p:cNvPr id="4" name="TextBox 3">
            <a:extLst>
              <a:ext uri="{FF2B5EF4-FFF2-40B4-BE49-F238E27FC236}">
                <a16:creationId xmlns:a16="http://schemas.microsoft.com/office/drawing/2014/main" id="{75D10B96-1ACB-B5A1-C1AD-BEC939DC42C2}"/>
              </a:ext>
            </a:extLst>
          </p:cNvPr>
          <p:cNvSpPr txBox="1"/>
          <p:nvPr/>
        </p:nvSpPr>
        <p:spPr>
          <a:xfrm>
            <a:off x="7549056" y="588578"/>
            <a:ext cx="4558861" cy="4549835"/>
          </a:xfrm>
          <a:prstGeom prst="rect">
            <a:avLst/>
          </a:prstGeom>
          <a:noFill/>
        </p:spPr>
        <p:txBody>
          <a:bodyPr wrap="square">
            <a:spAutoFit/>
          </a:bodyPr>
          <a:lstStyle/>
          <a:p>
            <a:pPr marL="457200" indent="-457200">
              <a:lnSpc>
                <a:spcPct val="150000"/>
              </a:lnSpc>
              <a:buFontTx/>
              <a:buChar char="-"/>
            </a:pPr>
            <a:r>
              <a:rPr lang="en-US" sz="2800" b="0" i="0" dirty="0">
                <a:solidFill>
                  <a:srgbClr val="252B2B"/>
                </a:solidFill>
                <a:effectLst/>
                <a:highlight>
                  <a:srgbClr val="00FF00"/>
                </a:highlight>
                <a:latin typeface="Calibir"/>
              </a:rPr>
              <a:t>Tuesday Class 4-6 PM:</a:t>
            </a:r>
            <a:br>
              <a:rPr lang="en-US" sz="2800" b="0" i="0" dirty="0">
                <a:solidFill>
                  <a:srgbClr val="252B2B"/>
                </a:solidFill>
                <a:effectLst/>
                <a:latin typeface="Calibir"/>
              </a:rPr>
            </a:br>
            <a:r>
              <a:rPr lang="en-US" sz="2800" b="0" i="0" dirty="0">
                <a:solidFill>
                  <a:srgbClr val="252B2B"/>
                </a:solidFill>
                <a:effectLst/>
                <a:latin typeface="Calibir"/>
              </a:rPr>
              <a:t>Farshid Keivanian (main)</a:t>
            </a:r>
            <a:br>
              <a:rPr lang="en-US" sz="2800" dirty="0">
                <a:latin typeface="Calibir"/>
              </a:rPr>
            </a:br>
            <a:r>
              <a:rPr lang="en-US" sz="2800" b="0" i="0" dirty="0">
                <a:solidFill>
                  <a:srgbClr val="252B2B"/>
                </a:solidFill>
                <a:effectLst/>
                <a:latin typeface="Calibir"/>
              </a:rPr>
              <a:t>Xiaojie (Zoe) Lin covers:</a:t>
            </a:r>
            <a:endParaRPr lang="en-US" sz="2800" dirty="0">
              <a:solidFill>
                <a:srgbClr val="252B2B"/>
              </a:solidFill>
              <a:latin typeface="Calibir"/>
            </a:endParaRPr>
          </a:p>
          <a:p>
            <a:pPr marL="987425" indent="-457200">
              <a:lnSpc>
                <a:spcPct val="150000"/>
              </a:lnSpc>
              <a:buFont typeface="Arial" panose="020B0604020202020204" pitchFamily="34" charset="0"/>
              <a:buChar char="•"/>
            </a:pPr>
            <a:r>
              <a:rPr lang="en-US" sz="2800" b="0" i="0" dirty="0">
                <a:solidFill>
                  <a:srgbClr val="252B2B"/>
                </a:solidFill>
                <a:effectLst/>
                <a:latin typeface="Calibir"/>
              </a:rPr>
              <a:t>12 August</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26 August</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9 September</a:t>
            </a:r>
          </a:p>
          <a:p>
            <a:pPr marL="987425" indent="-457200">
              <a:lnSpc>
                <a:spcPct val="150000"/>
              </a:lnSpc>
              <a:buFont typeface="Arial" panose="020B0604020202020204" pitchFamily="34" charset="0"/>
              <a:buChar char="•"/>
            </a:pPr>
            <a:r>
              <a:rPr lang="en-US" sz="2800" b="0" i="0" dirty="0">
                <a:solidFill>
                  <a:srgbClr val="252B2B"/>
                </a:solidFill>
                <a:effectLst/>
                <a:latin typeface="Calibir"/>
              </a:rPr>
              <a:t>14 October</a:t>
            </a:r>
            <a:endParaRPr lang="en-AU" sz="2800" dirty="0">
              <a:latin typeface="Calibir"/>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363939"/>
            <a:ext cx="12192000" cy="464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Step-by-Step Tasks</a:t>
            </a:r>
          </a:p>
          <a:p>
            <a:pPr lvl="0" eaLnBrk="0" fontAlgn="base" hangingPunct="0">
              <a:lnSpc>
                <a:spcPct val="150000"/>
              </a:lnSpc>
              <a:spcBef>
                <a:spcPct val="0"/>
              </a:spcBef>
              <a:spcAft>
                <a:spcPct val="0"/>
              </a:spcAft>
            </a:pPr>
            <a:r>
              <a:rPr lang="en-US" altLang="en-US" sz="2500" b="1" dirty="0">
                <a:latin typeface="Calibir"/>
              </a:rPr>
              <a:t>Step 1: Define the scope</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Actors:</a:t>
            </a:r>
            <a:r>
              <a:rPr lang="en-US" altLang="en-US" sz="2500" dirty="0">
                <a:latin typeface="Calibir"/>
              </a:rPr>
              <a:t> Student, Admin, System.</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Students can:</a:t>
            </a:r>
            <a:r>
              <a:rPr lang="en-US" altLang="en-US" sz="2500" dirty="0">
                <a:latin typeface="Calibir"/>
              </a:rPr>
              <a:t> Register, log in, </a:t>
            </a:r>
            <a:r>
              <a:rPr lang="en-US" altLang="en-US" sz="2500" dirty="0" err="1">
                <a:latin typeface="Calibir"/>
              </a:rPr>
              <a:t>enrol</a:t>
            </a:r>
            <a:r>
              <a:rPr lang="en-US" altLang="en-US" sz="2500" dirty="0">
                <a:latin typeface="Calibir"/>
              </a:rPr>
              <a:t> in max 4 subjects, drop subject, view enrolments, change password.</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Admins can:</a:t>
            </a:r>
            <a:r>
              <a:rPr lang="en-US" altLang="en-US" sz="2500" dirty="0">
                <a:latin typeface="Calibir"/>
              </a:rPr>
              <a:t> View students, group by grade, PASS/FAIL lists, delete student, clear data.</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System must:</a:t>
            </a:r>
            <a:r>
              <a:rPr lang="en-US" altLang="en-US" sz="2500" dirty="0">
                <a:latin typeface="Calibir"/>
              </a:rPr>
              <a:t> Generate IDs, save/load from </a:t>
            </a:r>
            <a:r>
              <a:rPr lang="en-US" altLang="en-US" sz="2500" dirty="0" err="1">
                <a:latin typeface="Calibir"/>
              </a:rPr>
              <a:t>students.data</a:t>
            </a:r>
            <a:r>
              <a:rPr lang="en-US" altLang="en-US" sz="2500" dirty="0">
                <a:latin typeface="Calibir"/>
              </a:rPr>
              <a:t>, auto-assign marks + grades.</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Not included:</a:t>
            </a:r>
            <a:r>
              <a:rPr lang="en-US" altLang="en-US" sz="2500" dirty="0">
                <a:latin typeface="Calibir"/>
              </a:rPr>
              <a:t> GUI (that’s Part 2), multi-semester enrolments.</a:t>
            </a:r>
          </a:p>
        </p:txBody>
      </p:sp>
    </p:spTree>
    <p:extLst>
      <p:ext uri="{BB962C8B-B14F-4D97-AF65-F5344CB8AC3E}">
        <p14:creationId xmlns:p14="http://schemas.microsoft.com/office/powerpoint/2010/main" val="161972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89F0-E11D-E273-3AF7-69D53CF9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FE8D8-FCC2-29F3-68FC-EA7A03303AE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A813456E-6292-E96A-1A13-2E6AEDCE8B76}"/>
              </a:ext>
            </a:extLst>
          </p:cNvPr>
          <p:cNvSpPr>
            <a:spLocks noChangeArrowheads="1"/>
          </p:cNvSpPr>
          <p:nvPr/>
        </p:nvSpPr>
        <p:spPr bwMode="auto">
          <a:xfrm>
            <a:off x="0" y="1338655"/>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of scope in practice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A student named </a:t>
            </a:r>
            <a:r>
              <a:rPr lang="en-US" altLang="en-US" sz="2800" i="1" dirty="0">
                <a:latin typeface="Calibir"/>
              </a:rPr>
              <a:t>Leila</a:t>
            </a:r>
            <a:r>
              <a:rPr lang="en-US" altLang="en-US" sz="2800" dirty="0">
                <a:latin typeface="Calibir"/>
              </a:rPr>
              <a:t> registers with email + password → system gives her ID 000123.</a:t>
            </a:r>
            <a:br>
              <a:rPr lang="en-US" altLang="en-US" sz="2800" dirty="0">
                <a:latin typeface="Calibir"/>
              </a:rPr>
            </a:br>
            <a:r>
              <a:rPr lang="en-US" altLang="en-US" sz="2800" dirty="0">
                <a:latin typeface="Calibir"/>
              </a:rPr>
              <a:t>She logs in, </a:t>
            </a:r>
            <a:r>
              <a:rPr lang="en-US" altLang="en-US" sz="2800" dirty="0" err="1">
                <a:latin typeface="Calibir"/>
              </a:rPr>
              <a:t>enrols</a:t>
            </a:r>
            <a:r>
              <a:rPr lang="en-US" altLang="en-US" sz="2800" dirty="0">
                <a:latin typeface="Calibir"/>
              </a:rPr>
              <a:t> in 2 subjects. Each subject gets an ID (e.g., 005, 018) with marks (72 → C, 89 → HD).</a:t>
            </a:r>
            <a:br>
              <a:rPr lang="en-US" altLang="en-US" sz="2800" dirty="0">
                <a:latin typeface="Calibir"/>
              </a:rPr>
            </a:br>
            <a:r>
              <a:rPr lang="en-US" altLang="en-US" sz="2800" dirty="0">
                <a:latin typeface="Calibir"/>
              </a:rPr>
              <a:t>An admin later views all students and sees Leila grouped under </a:t>
            </a:r>
            <a:r>
              <a:rPr lang="en-US" altLang="en-US" sz="2800" b="1" dirty="0">
                <a:latin typeface="Calibir"/>
              </a:rPr>
              <a:t>PASS</a:t>
            </a:r>
            <a:r>
              <a:rPr lang="en-US" altLang="en-US" sz="2800" dirty="0">
                <a:latin typeface="Calibir"/>
              </a:rPr>
              <a:t>.</a:t>
            </a:r>
          </a:p>
        </p:txBody>
      </p:sp>
      <p:sp>
        <p:nvSpPr>
          <p:cNvPr id="6" name="TextBox 5">
            <a:extLst>
              <a:ext uri="{FF2B5EF4-FFF2-40B4-BE49-F238E27FC236}">
                <a16:creationId xmlns:a16="http://schemas.microsoft.com/office/drawing/2014/main" id="{4659DCE0-D8AE-D4A2-1A5E-2DEA172A749E}"/>
              </a:ext>
            </a:extLst>
          </p:cNvPr>
          <p:cNvSpPr txBox="1"/>
          <p:nvPr/>
        </p:nvSpPr>
        <p:spPr>
          <a:xfrm>
            <a:off x="0" y="5519345"/>
            <a:ext cx="12192000" cy="1318181"/>
          </a:xfrm>
          <a:prstGeom prst="rect">
            <a:avLst/>
          </a:prstGeom>
          <a:noFill/>
        </p:spPr>
        <p:txBody>
          <a:bodyPr wrap="square">
            <a:spAutoFit/>
          </a:bodyPr>
          <a:lstStyle/>
          <a:p>
            <a:pPr>
              <a:lnSpc>
                <a:spcPct val="150000"/>
              </a:lnSpc>
            </a:pPr>
            <a:r>
              <a:rPr lang="en-US" sz="2800" dirty="0">
                <a:latin typeface="Calibir"/>
              </a:rPr>
              <a:t>That little story makes it obvious what is in scope (IDs, enrolment, PASS/FAIL) and what is not (choosing subject names, GUI).</a:t>
            </a:r>
            <a:endParaRPr lang="en-AU" sz="2800" dirty="0">
              <a:latin typeface="Calibir"/>
            </a:endParaRPr>
          </a:p>
        </p:txBody>
      </p:sp>
    </p:spTree>
    <p:extLst>
      <p:ext uri="{BB962C8B-B14F-4D97-AF65-F5344CB8AC3E}">
        <p14:creationId xmlns:p14="http://schemas.microsoft.com/office/powerpoint/2010/main" val="3245972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8936D-F1F2-754E-D082-EB53EE36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502AC-2FD2-9867-2C26-FA3523CED94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C4B0301-3162-C101-F639-52EB102FA1E7}"/>
              </a:ext>
            </a:extLst>
          </p:cNvPr>
          <p:cNvSpPr>
            <a:spLocks noChangeArrowheads="1"/>
          </p:cNvSpPr>
          <p:nvPr/>
        </p:nvSpPr>
        <p:spPr bwMode="auto">
          <a:xfrm>
            <a:off x="0" y="1413697"/>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2: Write user stories (with IDs)</a:t>
            </a:r>
          </a:p>
          <a:p>
            <a:pPr marL="714375" indent="-457200">
              <a:lnSpc>
                <a:spcPct val="150000"/>
              </a:lnSpc>
              <a:buFont typeface="Arial" panose="020B0604020202020204" pitchFamily="34" charset="0"/>
              <a:buChar char="•"/>
            </a:pPr>
            <a:r>
              <a:rPr lang="en-US" sz="2800" dirty="0">
                <a:latin typeface="Calibir"/>
              </a:rPr>
              <a:t>Format: </a:t>
            </a:r>
            <a:r>
              <a:rPr lang="en-US" sz="2800" i="1" dirty="0">
                <a:latin typeface="Calibir"/>
              </a:rPr>
              <a:t>As a [user], I want to [do something] so that [result happens]</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Use 3-digit IDs (group features: 1xx login, 2xx registration, 3xx enrolment…).</a:t>
            </a:r>
          </a:p>
          <a:p>
            <a:pPr>
              <a:lnSpc>
                <a:spcPct val="150000"/>
              </a:lnSpc>
            </a:pPr>
            <a:r>
              <a:rPr lang="en-US" sz="2800" dirty="0">
                <a:latin typeface="Calibir"/>
              </a:rPr>
              <a:t>Example:</a:t>
            </a:r>
          </a:p>
          <a:p>
            <a:pPr marL="714375" indent="-457200">
              <a:lnSpc>
                <a:spcPct val="150000"/>
              </a:lnSpc>
              <a:buFont typeface="Arial" panose="020B0604020202020204" pitchFamily="34" charset="0"/>
              <a:buChar char="•"/>
            </a:pPr>
            <a:r>
              <a:rPr lang="en-US" sz="2800" dirty="0">
                <a:latin typeface="Calibir"/>
              </a:rPr>
              <a:t>100 – </a:t>
            </a:r>
            <a:r>
              <a:rPr lang="en-US" sz="2800" i="1" dirty="0">
                <a:latin typeface="Calibir"/>
              </a:rPr>
              <a:t>As a student, I want to log in so that I can access my enrolment list.</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200 – </a:t>
            </a:r>
            <a:r>
              <a:rPr lang="en-US" sz="2800" i="1" dirty="0">
                <a:latin typeface="Calibir"/>
              </a:rPr>
              <a:t>As a student, I want to register with email/password so that I get a student ID.</a:t>
            </a:r>
            <a:endParaRPr lang="en-US" sz="2800" dirty="0">
              <a:latin typeface="Calibir"/>
            </a:endParaRPr>
          </a:p>
        </p:txBody>
      </p:sp>
    </p:spTree>
    <p:extLst>
      <p:ext uri="{BB962C8B-B14F-4D97-AF65-F5344CB8AC3E}">
        <p14:creationId xmlns:p14="http://schemas.microsoft.com/office/powerpoint/2010/main" val="1861532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5B473-B2E1-8B72-38BC-F13D1DA846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E960-A483-4AE5-CB31-95D7E871E0D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graphicFrame>
        <p:nvGraphicFramePr>
          <p:cNvPr id="4" name="Table 3">
            <a:extLst>
              <a:ext uri="{FF2B5EF4-FFF2-40B4-BE49-F238E27FC236}">
                <a16:creationId xmlns:a16="http://schemas.microsoft.com/office/drawing/2014/main" id="{90AB15B8-0CE7-B531-D46D-32759B37B3F3}"/>
              </a:ext>
            </a:extLst>
          </p:cNvPr>
          <p:cNvGraphicFramePr>
            <a:graphicFrameLocks noGrp="1"/>
          </p:cNvGraphicFramePr>
          <p:nvPr>
            <p:extLst>
              <p:ext uri="{D42A27DB-BD31-4B8C-83A1-F6EECF244321}">
                <p14:modId xmlns:p14="http://schemas.microsoft.com/office/powerpoint/2010/main" val="347782419"/>
              </p:ext>
            </p:extLst>
          </p:nvPr>
        </p:nvGraphicFramePr>
        <p:xfrm>
          <a:off x="132735" y="2065814"/>
          <a:ext cx="11931446" cy="4297680"/>
        </p:xfrm>
        <a:graphic>
          <a:graphicData uri="http://schemas.openxmlformats.org/drawingml/2006/table">
            <a:tbl>
              <a:tblPr>
                <a:tableStyleId>{BDBED569-4797-4DF1-A0F4-6AAB3CD982D8}</a:tableStyleId>
              </a:tblPr>
              <a:tblGrid>
                <a:gridCol w="1283110">
                  <a:extLst>
                    <a:ext uri="{9D8B030D-6E8A-4147-A177-3AD203B41FA5}">
                      <a16:colId xmlns:a16="http://schemas.microsoft.com/office/drawing/2014/main" val="1797655095"/>
                    </a:ext>
                  </a:extLst>
                </a:gridCol>
                <a:gridCol w="1799303">
                  <a:extLst>
                    <a:ext uri="{9D8B030D-6E8A-4147-A177-3AD203B41FA5}">
                      <a16:colId xmlns:a16="http://schemas.microsoft.com/office/drawing/2014/main" val="2007027958"/>
                    </a:ext>
                  </a:extLst>
                </a:gridCol>
                <a:gridCol w="3701184">
                  <a:extLst>
                    <a:ext uri="{9D8B030D-6E8A-4147-A177-3AD203B41FA5}">
                      <a16:colId xmlns:a16="http://schemas.microsoft.com/office/drawing/2014/main" val="2184250353"/>
                    </a:ext>
                  </a:extLst>
                </a:gridCol>
                <a:gridCol w="2773358">
                  <a:extLst>
                    <a:ext uri="{9D8B030D-6E8A-4147-A177-3AD203B41FA5}">
                      <a16:colId xmlns:a16="http://schemas.microsoft.com/office/drawing/2014/main" val="2186771203"/>
                    </a:ext>
                  </a:extLst>
                </a:gridCol>
                <a:gridCol w="2374491">
                  <a:extLst>
                    <a:ext uri="{9D8B030D-6E8A-4147-A177-3AD203B41FA5}">
                      <a16:colId xmlns:a16="http://schemas.microsoft.com/office/drawing/2014/main" val="623296352"/>
                    </a:ext>
                  </a:extLst>
                </a:gridCol>
              </a:tblGrid>
              <a:tr h="0">
                <a:tc>
                  <a:txBody>
                    <a:bodyPr/>
                    <a:lstStyle/>
                    <a:p>
                      <a:pPr>
                        <a:buNone/>
                      </a:pPr>
                      <a:r>
                        <a:rPr lang="en-US" sz="2800" dirty="0">
                          <a:latin typeface="Calibir"/>
                        </a:rPr>
                        <a:t>ID</a:t>
                      </a:r>
                    </a:p>
                  </a:txBody>
                  <a:tcPr anchor="ctr">
                    <a:solidFill>
                      <a:schemeClr val="accent5">
                        <a:lumMod val="20000"/>
                        <a:lumOff val="80000"/>
                      </a:schemeClr>
                    </a:solidFill>
                  </a:tcPr>
                </a:tc>
                <a:tc>
                  <a:txBody>
                    <a:bodyPr/>
                    <a:lstStyle/>
                    <a:p>
                      <a:pPr>
                        <a:buNone/>
                      </a:pPr>
                      <a:r>
                        <a:rPr lang="en-US" sz="2800" dirty="0">
                          <a:latin typeface="Calibir"/>
                        </a:rPr>
                        <a:t>User</a:t>
                      </a:r>
                    </a:p>
                  </a:txBody>
                  <a:tcPr anchor="ctr">
                    <a:solidFill>
                      <a:schemeClr val="accent5">
                        <a:lumMod val="20000"/>
                        <a:lumOff val="80000"/>
                      </a:schemeClr>
                    </a:solidFill>
                  </a:tcPr>
                </a:tc>
                <a:tc>
                  <a:txBody>
                    <a:bodyPr/>
                    <a:lstStyle/>
                    <a:p>
                      <a:pPr>
                        <a:buNone/>
                      </a:pPr>
                      <a:r>
                        <a:rPr lang="en-US" sz="2800" dirty="0">
                          <a:latin typeface="Calibir"/>
                        </a:rPr>
                        <a:t>Action</a:t>
                      </a:r>
                    </a:p>
                  </a:txBody>
                  <a:tcPr anchor="ctr">
                    <a:solidFill>
                      <a:schemeClr val="accent5">
                        <a:lumMod val="20000"/>
                        <a:lumOff val="80000"/>
                      </a:schemeClr>
                    </a:solidFill>
                  </a:tcPr>
                </a:tc>
                <a:tc>
                  <a:txBody>
                    <a:bodyPr/>
                    <a:lstStyle/>
                    <a:p>
                      <a:pPr>
                        <a:buNone/>
                      </a:pPr>
                      <a:r>
                        <a:rPr lang="en-US" sz="2800" dirty="0">
                          <a:latin typeface="Calibir"/>
                        </a:rPr>
                        <a:t>Result</a:t>
                      </a:r>
                    </a:p>
                  </a:txBody>
                  <a:tcPr anchor="ctr">
                    <a:solidFill>
                      <a:schemeClr val="accent5">
                        <a:lumMod val="20000"/>
                        <a:lumOff val="80000"/>
                      </a:schemeClr>
                    </a:solidFill>
                  </a:tcPr>
                </a:tc>
                <a:tc>
                  <a:txBody>
                    <a:bodyPr/>
                    <a:lstStyle/>
                    <a:p>
                      <a:pPr>
                        <a:buNone/>
                      </a:pPr>
                      <a:r>
                        <a:rPr lang="en-US" sz="2800" dirty="0">
                          <a:latin typeface="Calibir"/>
                        </a:rPr>
                        <a:t>Function</a:t>
                      </a:r>
                    </a:p>
                  </a:txBody>
                  <a:tcPr anchor="ctr">
                    <a:solidFill>
                      <a:schemeClr val="accent5">
                        <a:lumMod val="20000"/>
                        <a:lumOff val="80000"/>
                      </a:schemeClr>
                    </a:solidFill>
                  </a:tcPr>
                </a:tc>
                <a:extLst>
                  <a:ext uri="{0D108BD9-81ED-4DB2-BD59-A6C34878D82A}">
                    <a16:rowId xmlns:a16="http://schemas.microsoft.com/office/drawing/2014/main" val="2943745044"/>
                  </a:ext>
                </a:extLst>
              </a:tr>
              <a:tr h="0">
                <a:tc>
                  <a:txBody>
                    <a:bodyPr/>
                    <a:lstStyle/>
                    <a:p>
                      <a:pPr>
                        <a:buNone/>
                      </a:pPr>
                      <a:r>
                        <a:rPr lang="en-US" sz="2800">
                          <a:latin typeface="Calibir"/>
                        </a:rPr>
                        <a:t>100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Enter email + password</a:t>
                      </a:r>
                    </a:p>
                  </a:txBody>
                  <a:tcPr anchor="ctr"/>
                </a:tc>
                <a:tc>
                  <a:txBody>
                    <a:bodyPr/>
                    <a:lstStyle/>
                    <a:p>
                      <a:pPr>
                        <a:buNone/>
                      </a:pPr>
                      <a:r>
                        <a:rPr lang="en-US" sz="2800">
                          <a:latin typeface="Calibir"/>
                        </a:rPr>
                        <a:t>Access student menu</a:t>
                      </a:r>
                    </a:p>
                  </a:txBody>
                  <a:tcPr anchor="ctr"/>
                </a:tc>
                <a:tc>
                  <a:txBody>
                    <a:bodyPr/>
                    <a:lstStyle/>
                    <a:p>
                      <a:pPr>
                        <a:buNone/>
                      </a:pPr>
                      <a:r>
                        <a:rPr lang="en-US" sz="2800">
                          <a:latin typeface="Calibir"/>
                        </a:rPr>
                        <a:t>login()</a:t>
                      </a:r>
                    </a:p>
                  </a:txBody>
                  <a:tcPr anchor="ctr"/>
                </a:tc>
                <a:extLst>
                  <a:ext uri="{0D108BD9-81ED-4DB2-BD59-A6C34878D82A}">
                    <a16:rowId xmlns:a16="http://schemas.microsoft.com/office/drawing/2014/main" val="1317374632"/>
                  </a:ext>
                </a:extLst>
              </a:tr>
              <a:tr h="0">
                <a:tc>
                  <a:txBody>
                    <a:bodyPr/>
                    <a:lstStyle/>
                    <a:p>
                      <a:pPr>
                        <a:buNone/>
                      </a:pPr>
                      <a:r>
                        <a:rPr lang="en-US" sz="2800">
                          <a:latin typeface="Calibir"/>
                        </a:rPr>
                        <a:t>200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Register account</a:t>
                      </a:r>
                    </a:p>
                  </a:txBody>
                  <a:tcPr anchor="ctr"/>
                </a:tc>
                <a:tc>
                  <a:txBody>
                    <a:bodyPr/>
                    <a:lstStyle/>
                    <a:p>
                      <a:pPr>
                        <a:buNone/>
                      </a:pPr>
                      <a:r>
                        <a:rPr lang="en-US" sz="2800">
                          <a:latin typeface="Calibir"/>
                        </a:rPr>
                        <a:t>New ID created (000123)</a:t>
                      </a:r>
                    </a:p>
                  </a:txBody>
                  <a:tcPr anchor="ctr"/>
                </a:tc>
                <a:tc>
                  <a:txBody>
                    <a:bodyPr/>
                    <a:lstStyle/>
                    <a:p>
                      <a:pPr>
                        <a:buNone/>
                      </a:pPr>
                      <a:r>
                        <a:rPr lang="en-US" sz="2800">
                          <a:latin typeface="Calibir"/>
                        </a:rPr>
                        <a:t>registerStudent()</a:t>
                      </a:r>
                    </a:p>
                  </a:txBody>
                  <a:tcPr anchor="ctr"/>
                </a:tc>
                <a:extLst>
                  <a:ext uri="{0D108BD9-81ED-4DB2-BD59-A6C34878D82A}">
                    <a16:rowId xmlns:a16="http://schemas.microsoft.com/office/drawing/2014/main" val="2604315146"/>
                  </a:ext>
                </a:extLst>
              </a:tr>
              <a:tr h="0">
                <a:tc>
                  <a:txBody>
                    <a:bodyPr/>
                    <a:lstStyle/>
                    <a:p>
                      <a:pPr>
                        <a:buNone/>
                      </a:pPr>
                      <a:r>
                        <a:rPr lang="en-US" sz="2800">
                          <a:latin typeface="Calibir"/>
                        </a:rPr>
                        <a:t>300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Enrol in subject</a:t>
                      </a:r>
                    </a:p>
                  </a:txBody>
                  <a:tcPr anchor="ctr"/>
                </a:tc>
                <a:tc>
                  <a:txBody>
                    <a:bodyPr/>
                    <a:lstStyle/>
                    <a:p>
                      <a:pPr>
                        <a:buNone/>
                      </a:pPr>
                      <a:r>
                        <a:rPr lang="en-US" sz="2800">
                          <a:latin typeface="Calibir"/>
                        </a:rPr>
                        <a:t>Subject added with ID+grade</a:t>
                      </a:r>
                    </a:p>
                  </a:txBody>
                  <a:tcPr anchor="ctr"/>
                </a:tc>
                <a:tc>
                  <a:txBody>
                    <a:bodyPr/>
                    <a:lstStyle/>
                    <a:p>
                      <a:pPr>
                        <a:buNone/>
                      </a:pPr>
                      <a:r>
                        <a:rPr lang="en-US" sz="2800">
                          <a:latin typeface="Calibir"/>
                        </a:rPr>
                        <a:t>enrolSubject()</a:t>
                      </a:r>
                    </a:p>
                  </a:txBody>
                  <a:tcPr anchor="ctr"/>
                </a:tc>
                <a:extLst>
                  <a:ext uri="{0D108BD9-81ED-4DB2-BD59-A6C34878D82A}">
                    <a16:rowId xmlns:a16="http://schemas.microsoft.com/office/drawing/2014/main" val="3316141848"/>
                  </a:ext>
                </a:extLst>
              </a:tr>
              <a:tr h="0">
                <a:tc>
                  <a:txBody>
                    <a:bodyPr/>
                    <a:lstStyle/>
                    <a:p>
                      <a:pPr>
                        <a:buNone/>
                      </a:pPr>
                      <a:r>
                        <a:rPr lang="en-US" sz="2800">
                          <a:latin typeface="Calibir"/>
                        </a:rPr>
                        <a:t>700</a:t>
                      </a:r>
                    </a:p>
                  </a:txBody>
                  <a:tcPr anchor="ctr"/>
                </a:tc>
                <a:tc>
                  <a:txBody>
                    <a:bodyPr/>
                    <a:lstStyle/>
                    <a:p>
                      <a:pPr>
                        <a:buNone/>
                      </a:pPr>
                      <a:r>
                        <a:rPr lang="en-US" sz="2800">
                          <a:latin typeface="Calibir"/>
                        </a:rPr>
                        <a:t>Admin</a:t>
                      </a:r>
                    </a:p>
                  </a:txBody>
                  <a:tcPr anchor="ctr"/>
                </a:tc>
                <a:tc>
                  <a:txBody>
                    <a:bodyPr/>
                    <a:lstStyle/>
                    <a:p>
                      <a:pPr>
                        <a:buNone/>
                      </a:pPr>
                      <a:r>
                        <a:rPr lang="en-US" sz="2800">
                          <a:latin typeface="Calibir"/>
                        </a:rPr>
                        <a:t>View all students</a:t>
                      </a:r>
                    </a:p>
                  </a:txBody>
                  <a:tcPr anchor="ctr"/>
                </a:tc>
                <a:tc>
                  <a:txBody>
                    <a:bodyPr/>
                    <a:lstStyle/>
                    <a:p>
                      <a:pPr>
                        <a:buNone/>
                      </a:pPr>
                      <a:r>
                        <a:rPr lang="en-US" sz="2800">
                          <a:latin typeface="Calibir"/>
                        </a:rPr>
                        <a:t>List shown from file</a:t>
                      </a:r>
                    </a:p>
                  </a:txBody>
                  <a:tcPr anchor="ctr"/>
                </a:tc>
                <a:tc>
                  <a:txBody>
                    <a:bodyPr/>
                    <a:lstStyle/>
                    <a:p>
                      <a:pPr>
                        <a:buNone/>
                      </a:pPr>
                      <a:r>
                        <a:rPr lang="en-US" sz="2800" dirty="0" err="1">
                          <a:latin typeface="Calibir"/>
                        </a:rPr>
                        <a:t>adminListAll</a:t>
                      </a:r>
                      <a:r>
                        <a:rPr lang="en-US" sz="2800" dirty="0">
                          <a:latin typeface="Calibir"/>
                        </a:rPr>
                        <a:t>()</a:t>
                      </a:r>
                    </a:p>
                  </a:txBody>
                  <a:tcPr anchor="ctr"/>
                </a:tc>
                <a:extLst>
                  <a:ext uri="{0D108BD9-81ED-4DB2-BD59-A6C34878D82A}">
                    <a16:rowId xmlns:a16="http://schemas.microsoft.com/office/drawing/2014/main" val="1614846425"/>
                  </a:ext>
                </a:extLst>
              </a:tr>
            </a:tbl>
          </a:graphicData>
        </a:graphic>
      </p:graphicFrame>
      <p:sp>
        <p:nvSpPr>
          <p:cNvPr id="5" name="Rectangle 1">
            <a:extLst>
              <a:ext uri="{FF2B5EF4-FFF2-40B4-BE49-F238E27FC236}">
                <a16:creationId xmlns:a16="http://schemas.microsoft.com/office/drawing/2014/main" id="{2C228193-F0AF-9441-A070-4CB4C5241CB9}"/>
              </a:ext>
            </a:extLst>
          </p:cNvPr>
          <p:cNvSpPr>
            <a:spLocks noChangeArrowheads="1"/>
          </p:cNvSpPr>
          <p:nvPr/>
        </p:nvSpPr>
        <p:spPr bwMode="auto">
          <a:xfrm>
            <a:off x="0" y="1025382"/>
            <a:ext cx="44287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Then make a </a:t>
            </a:r>
            <a:r>
              <a:rPr kumimoji="0" lang="en-US" altLang="en-US" sz="2800" b="1" i="0" u="none" strike="noStrike" cap="none" normalizeH="0" baseline="0" dirty="0">
                <a:ln>
                  <a:noFill/>
                </a:ln>
                <a:solidFill>
                  <a:schemeClr val="tx1"/>
                </a:solidFill>
                <a:effectLst/>
                <a:latin typeface="Calibir"/>
              </a:rPr>
              <a:t>table (backlog)</a:t>
            </a:r>
            <a:r>
              <a:rPr kumimoji="0" lang="en-US" altLang="en-US" sz="2800" b="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1662074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4EE80-B3E3-2398-0AEC-FF31CFFA4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A2D91-CE42-27A2-2D52-2149CB23568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8983BADB-811E-759B-E2F1-CAB0A822BDCF}"/>
              </a:ext>
            </a:extLst>
          </p:cNvPr>
          <p:cNvSpPr>
            <a:spLocks noChangeArrowheads="1"/>
          </p:cNvSpPr>
          <p:nvPr/>
        </p:nvSpPr>
        <p:spPr bwMode="auto">
          <a:xfrm>
            <a:off x="92337" y="956263"/>
            <a:ext cx="12289455"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3: Draw a use case diagram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 actors (stick figures) → connect to system use cases (ovals).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relationships: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include: always part of process (e.g., “Validate Email” included in “Register”).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extend: only sometimes (e.g., “Show error” extends from “Login”).</a:t>
            </a:r>
          </a:p>
        </p:txBody>
      </p:sp>
    </p:spTree>
    <p:extLst>
      <p:ext uri="{BB962C8B-B14F-4D97-AF65-F5344CB8AC3E}">
        <p14:creationId xmlns:p14="http://schemas.microsoft.com/office/powerpoint/2010/main" val="3731537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C048B-8B58-A810-181F-39F00B1E3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F57E8C-1359-A936-A10F-5E95378882E0}"/>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C7BFE107-C42F-92F6-4CEB-6AFB45C5B1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C7A0AA8-BA2C-74A2-598C-2FFDAE59B4B1}"/>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12" name="Rectangle 3">
            <a:extLst>
              <a:ext uri="{FF2B5EF4-FFF2-40B4-BE49-F238E27FC236}">
                <a16:creationId xmlns:a16="http://schemas.microsoft.com/office/drawing/2014/main" id="{A6D0D839-AFD1-6255-9DB0-12CF64E11263}"/>
              </a:ext>
            </a:extLst>
          </p:cNvPr>
          <p:cNvSpPr>
            <a:spLocks noChangeArrowheads="1"/>
          </p:cNvSpPr>
          <p:nvPr/>
        </p:nvSpPr>
        <p:spPr bwMode="auto">
          <a:xfrm>
            <a:off x="0" y="3358282"/>
            <a:ext cx="12192000" cy="25790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200" dirty="0">
                <a:latin typeface="Calibir"/>
              </a:rPr>
              <a:t>This </a:t>
            </a:r>
            <a:r>
              <a:rPr lang="en-US" altLang="en-US" sz="2200" dirty="0" err="1">
                <a:latin typeface="Calibir"/>
              </a:rPr>
              <a:t>PlantUML</a:t>
            </a:r>
            <a:r>
              <a:rPr lang="en-US" altLang="en-US" sz="2200" dirty="0">
                <a:latin typeface="Calibir"/>
              </a:rPr>
              <a:t> code example defines a use case diagram for the </a:t>
            </a:r>
            <a:r>
              <a:rPr lang="en-US" altLang="en-US" sz="2200" dirty="0" err="1">
                <a:latin typeface="Calibir"/>
              </a:rPr>
              <a:t>CLIUniApp</a:t>
            </a:r>
            <a:r>
              <a:rPr lang="en-US" altLang="en-US" sz="2200" dirty="0">
                <a:latin typeface="Calibir"/>
              </a:rPr>
              <a:t> system.</a:t>
            </a:r>
            <a:br>
              <a:rPr lang="en-US" altLang="en-US" sz="2200" dirty="0">
                <a:latin typeface="Calibir"/>
              </a:rPr>
            </a:br>
            <a:r>
              <a:rPr lang="en-US" altLang="en-US" sz="2200" dirty="0">
                <a:latin typeface="Calibir"/>
              </a:rPr>
              <a:t>It declares two actors (</a:t>
            </a:r>
            <a:r>
              <a:rPr lang="en-US" altLang="en-US" sz="2200" i="1" dirty="0">
                <a:latin typeface="Calibir"/>
              </a:rPr>
              <a:t>Student</a:t>
            </a:r>
            <a:r>
              <a:rPr lang="en-US" altLang="en-US" sz="2200" dirty="0">
                <a:latin typeface="Calibir"/>
              </a:rPr>
              <a:t> and </a:t>
            </a:r>
            <a:r>
              <a:rPr lang="en-US" altLang="en-US" sz="2200" i="1" dirty="0">
                <a:latin typeface="Calibir"/>
              </a:rPr>
              <a:t>Admin</a:t>
            </a:r>
            <a:r>
              <a:rPr lang="en-US" altLang="en-US" sz="2200" dirty="0">
                <a:latin typeface="Calibir"/>
              </a:rPr>
              <a:t>), lists their possible actions as use cases inside the system boundary, and shows relationships: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&lt;&lt;include&gt;&gt; = always part of the process (e.g., Register includes Validate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&lt;&lt;extend&gt;&gt; = optional/conditional </a:t>
            </a:r>
            <a:r>
              <a:rPr lang="en-US" altLang="en-US" sz="2200" dirty="0" err="1">
                <a:latin typeface="Calibir"/>
              </a:rPr>
              <a:t>behaviour</a:t>
            </a:r>
            <a:r>
              <a:rPr lang="en-US" altLang="en-US" sz="2200" dirty="0">
                <a:latin typeface="Calibir"/>
              </a:rPr>
              <a:t> (e.g., Login may extend to Show Auth Error).</a:t>
            </a:r>
          </a:p>
        </p:txBody>
      </p:sp>
    </p:spTree>
    <p:extLst>
      <p:ext uri="{BB962C8B-B14F-4D97-AF65-F5344CB8AC3E}">
        <p14:creationId xmlns:p14="http://schemas.microsoft.com/office/powerpoint/2010/main" val="1555624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DDEB-829E-E91C-01ED-545558E0F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8AB07-2223-A0FC-2422-CE550BDCDD4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D988707A-3F3D-6F6C-E0F8-768CB02DA3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FD575CD-7E7F-586A-32F2-99C09C26DAB7}"/>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12" name="Rectangle 3">
            <a:extLst>
              <a:ext uri="{FF2B5EF4-FFF2-40B4-BE49-F238E27FC236}">
                <a16:creationId xmlns:a16="http://schemas.microsoft.com/office/drawing/2014/main" id="{730936E3-F5F2-DC11-EC69-1DB63C4F305B}"/>
              </a:ext>
            </a:extLst>
          </p:cNvPr>
          <p:cNvSpPr>
            <a:spLocks noChangeArrowheads="1"/>
          </p:cNvSpPr>
          <p:nvPr/>
        </p:nvSpPr>
        <p:spPr bwMode="auto">
          <a:xfrm>
            <a:off x="0" y="3019215"/>
            <a:ext cx="12392722"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Actors: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Student</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Admin</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(stick figures).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System boundary: “</a:t>
            </a:r>
            <a:r>
              <a:rPr kumimoji="0" lang="en-US" altLang="en-US" sz="2800" i="0" u="none" strike="noStrike" cap="none" normalizeH="0" baseline="0" dirty="0" err="1">
                <a:ln>
                  <a:noFill/>
                </a:ln>
                <a:solidFill>
                  <a:schemeClr val="tx1"/>
                </a:solidFill>
                <a:effectLst/>
                <a:latin typeface="Calibir"/>
                <a:ea typeface="Times New Roman" panose="02020603050405020304" pitchFamily="18" charset="0"/>
              </a:rPr>
              <a:t>CLIUniApp</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(System)” rectangle.</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  Use cases (ovals) inside: </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Register, Login, </a:t>
            </a:r>
            <a:r>
              <a:rPr kumimoji="0" lang="en-US" altLang="en-US" sz="28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800" i="1" u="none" strike="noStrike" cap="none" normalizeH="0" baseline="0" dirty="0">
                <a:ln>
                  <a:noFill/>
                </a:ln>
                <a:solidFill>
                  <a:schemeClr val="tx1"/>
                </a:solidFill>
                <a:effectLst/>
                <a:latin typeface="Calibir"/>
                <a:ea typeface="Times New Roman" panose="02020603050405020304" pitchFamily="18" charset="0"/>
              </a:rPr>
              <a:t> Subject, Drop Subject, View Enrolments, Change Password, View All Students, Group by Grade, PASS/FAIL Categorization, Remove Student, Clear All</a:t>
            </a:r>
            <a:r>
              <a:rPr kumimoji="0" lang="en-US" altLang="en-US" sz="2800" i="0" u="none" strike="noStrike" cap="none" normalizeH="0" baseline="0" dirty="0">
                <a:ln>
                  <a:noFill/>
                </a:ln>
                <a:solidFill>
                  <a:schemeClr val="tx1"/>
                </a:solidFill>
                <a:effectLst/>
                <a:latin typeface="Calibir"/>
                <a:ea typeface="Times New Roman" panose="02020603050405020304" pitchFamily="18" charset="0"/>
              </a:rPr>
              <a:t>.</a:t>
            </a:r>
          </a:p>
        </p:txBody>
      </p:sp>
    </p:spTree>
    <p:extLst>
      <p:ext uri="{BB962C8B-B14F-4D97-AF65-F5344CB8AC3E}">
        <p14:creationId xmlns:p14="http://schemas.microsoft.com/office/powerpoint/2010/main" val="27570598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0D93-0703-E3D8-E7AC-9811AF152B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FE541-7F38-EC4F-F76B-FD200296AC7B}"/>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122" name="Picture 2" descr="PlantUML diagram">
            <a:extLst>
              <a:ext uri="{FF2B5EF4-FFF2-40B4-BE49-F238E27FC236}">
                <a16:creationId xmlns:a16="http://schemas.microsoft.com/office/drawing/2014/main" id="{24634ACE-EB6C-0D84-EBC6-250BA039F7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6670"/>
            <a:ext cx="12192000" cy="107791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F65669E-0423-0003-8E15-7D0AEA376C59}"/>
              </a:ext>
            </a:extLst>
          </p:cNvPr>
          <p:cNvSpPr txBox="1"/>
          <p:nvPr/>
        </p:nvSpPr>
        <p:spPr>
          <a:xfrm>
            <a:off x="0" y="2089336"/>
            <a:ext cx="9144000" cy="523220"/>
          </a:xfrm>
          <a:prstGeom prst="rect">
            <a:avLst/>
          </a:prstGeom>
          <a:noFill/>
        </p:spPr>
        <p:txBody>
          <a:bodyPr wrap="square">
            <a:spAutoFit/>
          </a:bodyPr>
          <a:lstStyle/>
          <a:p>
            <a:r>
              <a:rPr lang="en-US" sz="2800" dirty="0">
                <a:latin typeface="Calibir"/>
              </a:rPr>
              <a:t>Resource: </a:t>
            </a:r>
            <a:r>
              <a:rPr lang="en-AU" sz="2800" dirty="0"/>
              <a:t>https://www.plantuml.com/plantuml</a:t>
            </a:r>
          </a:p>
        </p:txBody>
      </p:sp>
      <p:sp>
        <p:nvSpPr>
          <p:cNvPr id="4" name="TextBox 3">
            <a:extLst>
              <a:ext uri="{FF2B5EF4-FFF2-40B4-BE49-F238E27FC236}">
                <a16:creationId xmlns:a16="http://schemas.microsoft.com/office/drawing/2014/main" id="{9C31F0E8-D4C9-8FAA-3503-D51A8C7B4436}"/>
              </a:ext>
            </a:extLst>
          </p:cNvPr>
          <p:cNvSpPr txBox="1"/>
          <p:nvPr/>
        </p:nvSpPr>
        <p:spPr>
          <a:xfrm>
            <a:off x="1" y="3135776"/>
            <a:ext cx="12285766" cy="3031086"/>
          </a:xfrm>
          <a:prstGeom prst="rect">
            <a:avLst/>
          </a:prstGeom>
          <a:noFill/>
        </p:spPr>
        <p:txBody>
          <a:bodyPr wrap="square">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600" i="0" u="none" strike="noStrike" cap="none" normalizeH="0" baseline="0" dirty="0">
                <a:ln>
                  <a:noFill/>
                </a:ln>
                <a:solidFill>
                  <a:schemeClr val="tx1"/>
                </a:solidFill>
                <a:effectLst/>
                <a:latin typeface="Calibir"/>
                <a:ea typeface="Times New Roman" panose="02020603050405020304" pitchFamily="18" charset="0"/>
                <a:cs typeface="Courier New" panose="02070309020205020404" pitchFamily="49" charset="0"/>
              </a:rPr>
              <a:t>&lt;&lt;include&gt;&gt;</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(dashed lines): e.g.,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Register</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Validate Patterns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Generate IDs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Assign Mark &amp; Grade</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and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Save/Load Data</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Login</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includes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Validate Credentials</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600" i="0" u="none" strike="noStrike" cap="none" normalizeH="0" baseline="0" dirty="0">
                <a:ln>
                  <a:noFill/>
                </a:ln>
                <a:solidFill>
                  <a:schemeClr val="tx1"/>
                </a:solidFill>
                <a:effectLst/>
                <a:latin typeface="Calibir"/>
                <a:ea typeface="Times New Roman" panose="02020603050405020304" pitchFamily="18" charset="0"/>
                <a:cs typeface="Courier New" panose="02070309020205020404" pitchFamily="49" charset="0"/>
              </a:rPr>
              <a:t>&lt;&lt;extend&gt;&gt;</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(dashed lines): e.g.,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Login</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extends to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Show Auth Error</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a:t>
            </a:r>
            <a:r>
              <a:rPr kumimoji="0" lang="en-US" altLang="en-US" sz="2600" i="1" u="none" strike="noStrike" cap="none" normalizeH="0" baseline="0" dirty="0" err="1">
                <a:ln>
                  <a:noFill/>
                </a:ln>
                <a:solidFill>
                  <a:schemeClr val="tx1"/>
                </a:solidFill>
                <a:effectLst/>
                <a:latin typeface="Calibir"/>
                <a:ea typeface="Times New Roman" panose="02020603050405020304" pitchFamily="18" charset="0"/>
              </a:rPr>
              <a:t>Enrol</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extends to </a:t>
            </a:r>
            <a:r>
              <a:rPr kumimoji="0" lang="en-US" altLang="en-US" sz="2600" i="1" u="none" strike="noStrike" cap="none" normalizeH="0" baseline="0" dirty="0">
                <a:ln>
                  <a:noFill/>
                </a:ln>
                <a:solidFill>
                  <a:schemeClr val="tx1"/>
                </a:solidFill>
                <a:effectLst/>
                <a:latin typeface="Calibir"/>
                <a:ea typeface="Times New Roman" panose="02020603050405020304" pitchFamily="18" charset="0"/>
              </a:rPr>
              <a:t>Show Max Reached</a:t>
            </a:r>
            <a:r>
              <a:rPr kumimoji="0" lang="en-US" altLang="en-US" sz="2600" i="0" u="none" strike="noStrike" cap="none" normalizeH="0" baseline="0" dirty="0">
                <a:ln>
                  <a:noFill/>
                </a:ln>
                <a:solidFill>
                  <a:schemeClr val="tx1"/>
                </a:solidFill>
                <a:effectLst/>
                <a:latin typeface="Calibir"/>
                <a:ea typeface="Times New Roman" panose="02020603050405020304" pitchFamily="18" charset="0"/>
              </a:rPr>
              <a:t> when the student already has 4 subjects.</a:t>
            </a:r>
          </a:p>
        </p:txBody>
      </p:sp>
    </p:spTree>
    <p:extLst>
      <p:ext uri="{BB962C8B-B14F-4D97-AF65-F5344CB8AC3E}">
        <p14:creationId xmlns:p14="http://schemas.microsoft.com/office/powerpoint/2010/main" val="3977273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45BC-537D-8498-C978-DCA391E7A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FA30D2-13A1-683D-23A0-0C8EB4BF282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4A9177E9-69F2-419E-1A2B-536BB9141183}"/>
              </a:ext>
            </a:extLst>
          </p:cNvPr>
          <p:cNvSpPr>
            <a:spLocks noChangeArrowheads="1"/>
          </p:cNvSpPr>
          <p:nvPr/>
        </p:nvSpPr>
        <p:spPr bwMode="auto">
          <a:xfrm>
            <a:off x="107085" y="672662"/>
            <a:ext cx="9514208"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4: Draw a class diagram</a:t>
            </a:r>
          </a:p>
          <a:p>
            <a:pPr marL="914400" lvl="1" indent="-457200">
              <a:lnSpc>
                <a:spcPct val="150000"/>
              </a:lnSpc>
              <a:buFont typeface="Arial" panose="020B0604020202020204" pitchFamily="34" charset="0"/>
              <a:buChar char="•"/>
            </a:pPr>
            <a:r>
              <a:rPr lang="en-US" sz="2800" dirty="0">
                <a:latin typeface="Calibir"/>
              </a:rPr>
              <a:t>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a:t>
            </a:r>
          </a:p>
          <a:p>
            <a:pPr marL="914400" lvl="1" indent="-457200">
              <a:lnSpc>
                <a:spcPct val="150000"/>
              </a:lnSpc>
              <a:buFont typeface="Arial" panose="020B0604020202020204" pitchFamily="34" charset="0"/>
              <a:buChar char="•"/>
            </a:pPr>
            <a:r>
              <a:rPr lang="en-US" sz="2800" dirty="0">
                <a:latin typeface="Calibir"/>
              </a:rPr>
              <a:t>Show attributes + methods.</a:t>
            </a:r>
          </a:p>
        </p:txBody>
      </p:sp>
    </p:spTree>
    <p:extLst>
      <p:ext uri="{BB962C8B-B14F-4D97-AF65-F5344CB8AC3E}">
        <p14:creationId xmlns:p14="http://schemas.microsoft.com/office/powerpoint/2010/main" val="4043767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EDB9-DB8F-4FBE-2BD2-675CCF0D2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9424-762D-9FE2-FFE2-48FF688468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1FC6391B-82D8-64AE-9672-2EFFC127AFD5}"/>
              </a:ext>
            </a:extLst>
          </p:cNvPr>
          <p:cNvSpPr>
            <a:spLocks noChangeArrowheads="1"/>
          </p:cNvSpPr>
          <p:nvPr/>
        </p:nvSpPr>
        <p:spPr bwMode="auto">
          <a:xfrm>
            <a:off x="53542" y="1374008"/>
            <a:ext cx="12084915"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For submission, students must present the </a:t>
            </a:r>
            <a:r>
              <a:rPr kumimoji="0" lang="en-US" altLang="en-US" sz="2800" i="0" u="none" strike="noStrike" cap="none" normalizeH="0" baseline="0" dirty="0">
                <a:ln>
                  <a:noFill/>
                </a:ln>
                <a:solidFill>
                  <a:schemeClr val="tx1"/>
                </a:solidFill>
                <a:effectLst/>
                <a:latin typeface="Calibir"/>
              </a:rPr>
              <a:t>UML class diagram </a:t>
            </a:r>
            <a:r>
              <a:rPr kumimoji="0" lang="en-US" altLang="en-US" sz="2800" b="0" i="0" u="none" strike="noStrike" cap="none" normalizeH="0" baseline="0" dirty="0">
                <a:ln>
                  <a:noFill/>
                </a:ln>
                <a:solidFill>
                  <a:schemeClr val="tx1"/>
                </a:solidFill>
                <a:effectLst/>
                <a:latin typeface="Calibir"/>
              </a:rPr>
              <a:t>(boxes with attributes + methods, plus relationships between classes).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They can draw it using: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draw.io (diagrams.net)</a:t>
            </a:r>
            <a:r>
              <a:rPr kumimoji="0" lang="en-US" altLang="en-US" sz="2800" b="0" i="0" u="none" strike="noStrike" cap="none" normalizeH="0" baseline="0" dirty="0">
                <a:ln>
                  <a:noFill/>
                </a:ln>
                <a:solidFill>
                  <a:schemeClr val="tx1"/>
                </a:solidFill>
                <a:effectLst/>
                <a:latin typeface="Calibir"/>
              </a:rPr>
              <a:t> – free, easy, works in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Visio</a:t>
            </a:r>
            <a:r>
              <a:rPr kumimoji="0" lang="en-US" altLang="en-US" sz="2800" b="0" i="0" u="none" strike="noStrike" cap="none" normalizeH="0" baseline="0" dirty="0">
                <a:ln>
                  <a:noFill/>
                </a:ln>
                <a:solidFill>
                  <a:schemeClr val="tx1"/>
                </a:solidFill>
                <a:effectLst/>
                <a:latin typeface="Calibir"/>
              </a:rPr>
              <a:t> – good if they already have it.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err="1">
                <a:ln>
                  <a:noFill/>
                </a:ln>
                <a:solidFill>
                  <a:schemeClr val="tx1"/>
                </a:solidFill>
                <a:effectLst/>
                <a:latin typeface="Calibir"/>
              </a:rPr>
              <a:t>PlantUML</a:t>
            </a:r>
            <a:r>
              <a:rPr kumimoji="0" lang="en-US" altLang="en-US" sz="2800" b="0" i="0" u="none" strike="noStrike" cap="none" normalizeH="0" baseline="0" dirty="0">
                <a:ln>
                  <a:noFill/>
                </a:ln>
                <a:solidFill>
                  <a:schemeClr val="tx1"/>
                </a:solidFill>
                <a:effectLst/>
                <a:latin typeface="Calibir"/>
              </a:rPr>
              <a:t> – for those who like writing code-based diagrams.</a:t>
            </a:r>
          </a:p>
        </p:txBody>
      </p:sp>
    </p:spTree>
    <p:extLst>
      <p:ext uri="{BB962C8B-B14F-4D97-AF65-F5344CB8AC3E}">
        <p14:creationId xmlns:p14="http://schemas.microsoft.com/office/powerpoint/2010/main" val="25722918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4009-CC5F-97A1-CB73-1608C5242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4D65B0-6E15-949D-3F58-D587BAA2BB2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B291E29-CAE3-FEF4-A8E5-F7E93D00A5F9}"/>
              </a:ext>
            </a:extLst>
          </p:cNvPr>
          <p:cNvSpPr>
            <a:spLocks noChangeArrowheads="1"/>
          </p:cNvSpPr>
          <p:nvPr/>
        </p:nvSpPr>
        <p:spPr bwMode="auto">
          <a:xfrm>
            <a:off x="184731" y="1154082"/>
            <a:ext cx="1110053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5: Write System Rules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Email must end with @university.com.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Password: Uppercase first, ≥5 letters, then ≥3 digits (e.g., TigerPass123).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IDs: 6 digits (zero-padded). Example: 000045.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Subject IDs: 3 digits (zero-padded). Example: 007.</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Grades: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Z (&lt;50), P (50–64), C (65–74), D (75–84), HD (≥85).</a:t>
            </a:r>
          </a:p>
        </p:txBody>
      </p:sp>
    </p:spTree>
    <p:extLst>
      <p:ext uri="{BB962C8B-B14F-4D97-AF65-F5344CB8AC3E}">
        <p14:creationId xmlns:p14="http://schemas.microsoft.com/office/powerpoint/2010/main" val="3713041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77572-6310-AF50-87E8-3A79485C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748D-7DCF-985E-70E2-E026B6519C2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73BA4A6-0BCB-858E-7316-011BA1AAECB0}"/>
              </a:ext>
            </a:extLst>
          </p:cNvPr>
          <p:cNvSpPr>
            <a:spLocks noChangeArrowheads="1"/>
          </p:cNvSpPr>
          <p:nvPr/>
        </p:nvSpPr>
        <p:spPr bwMode="auto">
          <a:xfrm>
            <a:off x="140485" y="479553"/>
            <a:ext cx="11788355"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6 – Design the Data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Part 1 is analysis &amp; design only.</a:t>
            </a:r>
            <a:br>
              <a:rPr lang="en-US" altLang="en-US" sz="2800" dirty="0">
                <a:latin typeface="Calibir"/>
              </a:rPr>
            </a:br>
            <a:r>
              <a:rPr lang="en-US" altLang="en-US" sz="2800" dirty="0">
                <a:latin typeface="Calibir"/>
              </a:rPr>
              <a:t>Students do not need to actually create or code a JSON/CSV file in VS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What’s expected:</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Show the format (e.g., how </a:t>
            </a:r>
            <a:r>
              <a:rPr lang="en-US" altLang="en-US" sz="2800" dirty="0" err="1">
                <a:latin typeface="Calibir"/>
              </a:rPr>
              <a:t>students.data</a:t>
            </a:r>
            <a:r>
              <a:rPr lang="en-US" altLang="en-US" sz="2800" dirty="0">
                <a:latin typeface="Calibir"/>
              </a:rPr>
              <a:t> would look).</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Provide 2–3 sample records (like the JSON example next slide).</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Explain briefly:</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Why JSON or CSV?</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 fields are stored (id, name, email, subjects).</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How it will be used later (CRUD in CLI app).</a:t>
            </a:r>
          </a:p>
        </p:txBody>
      </p:sp>
    </p:spTree>
    <p:extLst>
      <p:ext uri="{BB962C8B-B14F-4D97-AF65-F5344CB8AC3E}">
        <p14:creationId xmlns:p14="http://schemas.microsoft.com/office/powerpoint/2010/main" val="1397842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7155-EA43-3F47-BFF2-DB01591422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84D61-E6C5-4BA0-DB6A-39E10AAFB7C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F5AFD09-93B9-4858-6070-351A8E3DDC29}"/>
              </a:ext>
            </a:extLst>
          </p:cNvPr>
          <p:cNvSpPr>
            <a:spLocks noChangeArrowheads="1"/>
          </p:cNvSpPr>
          <p:nvPr/>
        </p:nvSpPr>
        <p:spPr bwMode="auto">
          <a:xfrm>
            <a:off x="155234" y="1677229"/>
            <a:ext cx="916456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Example they can include in their report: Sample JSON format</a:t>
            </a:r>
          </a:p>
        </p:txBody>
      </p:sp>
      <p:pic>
        <p:nvPicPr>
          <p:cNvPr id="7" name="Picture 6">
            <a:extLst>
              <a:ext uri="{FF2B5EF4-FFF2-40B4-BE49-F238E27FC236}">
                <a16:creationId xmlns:a16="http://schemas.microsoft.com/office/drawing/2014/main" id="{6108974D-1E73-B7C4-D1CB-B5A3A81A1991}"/>
              </a:ext>
            </a:extLst>
          </p:cNvPr>
          <p:cNvPicPr>
            <a:picLocks noChangeAspect="1"/>
          </p:cNvPicPr>
          <p:nvPr/>
        </p:nvPicPr>
        <p:blipFill>
          <a:blip r:embed="rId2"/>
          <a:srcRect l="30968" t="12473" r="11209" b="67312"/>
          <a:stretch>
            <a:fillRect/>
          </a:stretch>
        </p:blipFill>
        <p:spPr>
          <a:xfrm>
            <a:off x="0" y="2995411"/>
            <a:ext cx="12192000" cy="2397591"/>
          </a:xfrm>
          <a:prstGeom prst="rect">
            <a:avLst/>
          </a:prstGeom>
        </p:spPr>
      </p:pic>
    </p:spTree>
    <p:extLst>
      <p:ext uri="{BB962C8B-B14F-4D97-AF65-F5344CB8AC3E}">
        <p14:creationId xmlns:p14="http://schemas.microsoft.com/office/powerpoint/2010/main" val="2203609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E00F-7B62-A5FA-22E9-F65C2FD41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21F271-82F0-3166-539E-E326606984E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E1BC4579-98E0-712E-8FA4-732ABFFCF239}"/>
              </a:ext>
            </a:extLst>
          </p:cNvPr>
          <p:cNvSpPr>
            <a:spLocks noChangeArrowheads="1"/>
          </p:cNvSpPr>
          <p:nvPr/>
        </p:nvSpPr>
        <p:spPr bwMode="auto">
          <a:xfrm>
            <a:off x="155234" y="1677229"/>
            <a:ext cx="4887556"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Alternative snippet (CSV format)</a:t>
            </a:r>
          </a:p>
        </p:txBody>
      </p:sp>
      <p:pic>
        <p:nvPicPr>
          <p:cNvPr id="8" name="Picture 7">
            <a:extLst>
              <a:ext uri="{FF2B5EF4-FFF2-40B4-BE49-F238E27FC236}">
                <a16:creationId xmlns:a16="http://schemas.microsoft.com/office/drawing/2014/main" id="{6FF9390F-B37F-AEE9-62DA-F97F99D8F038}"/>
              </a:ext>
            </a:extLst>
          </p:cNvPr>
          <p:cNvPicPr>
            <a:picLocks noChangeAspect="1"/>
          </p:cNvPicPr>
          <p:nvPr/>
        </p:nvPicPr>
        <p:blipFill>
          <a:blip r:embed="rId2"/>
          <a:srcRect l="26008" t="52473" r="50000" b="34624"/>
          <a:stretch>
            <a:fillRect/>
          </a:stretch>
        </p:blipFill>
        <p:spPr>
          <a:xfrm>
            <a:off x="155234" y="2808389"/>
            <a:ext cx="7369280" cy="2229364"/>
          </a:xfrm>
          <a:prstGeom prst="rect">
            <a:avLst/>
          </a:prstGeom>
        </p:spPr>
      </p:pic>
    </p:spTree>
    <p:extLst>
      <p:ext uri="{BB962C8B-B14F-4D97-AF65-F5344CB8AC3E}">
        <p14:creationId xmlns:p14="http://schemas.microsoft.com/office/powerpoint/2010/main" val="2255488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42D66-428E-6868-385C-9C4DD881C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4AB82-0B38-15AC-C58D-7EEC68D7071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EEBBEDF-575F-093E-AA3A-6F170CD63CA8}"/>
              </a:ext>
            </a:extLst>
          </p:cNvPr>
          <p:cNvSpPr>
            <a:spLocks noChangeArrowheads="1"/>
          </p:cNvSpPr>
          <p:nvPr/>
        </p:nvSpPr>
        <p:spPr bwMode="auto">
          <a:xfrm>
            <a:off x="155235" y="2319989"/>
            <a:ext cx="12036766"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Students don’t need to </a:t>
            </a:r>
            <a:r>
              <a:rPr lang="en-US" altLang="en-US" sz="2800" i="1" dirty="0">
                <a:latin typeface="Calibir"/>
              </a:rPr>
              <a:t>code</a:t>
            </a:r>
            <a:r>
              <a:rPr lang="en-US" altLang="en-US" sz="2800" dirty="0">
                <a:latin typeface="Calibir"/>
              </a:rPr>
              <a:t> or </a:t>
            </a:r>
            <a:r>
              <a:rPr lang="en-US" altLang="en-US" sz="2800" i="1" dirty="0">
                <a:latin typeface="Calibir"/>
              </a:rPr>
              <a:t>save</a:t>
            </a:r>
            <a:r>
              <a:rPr lang="en-US" altLang="en-US" sz="2800" dirty="0">
                <a:latin typeface="Calibir"/>
              </a:rPr>
              <a:t> a .</a:t>
            </a:r>
            <a:r>
              <a:rPr lang="en-US" altLang="en-US" sz="2800" dirty="0" err="1">
                <a:latin typeface="Calibir"/>
              </a:rPr>
              <a:t>json</a:t>
            </a:r>
            <a:r>
              <a:rPr lang="en-US" altLang="en-US" sz="2800" dirty="0">
                <a:latin typeface="Calibir"/>
              </a:rPr>
              <a:t> file in VS Code.</a:t>
            </a:r>
            <a:br>
              <a:rPr lang="en-US" altLang="en-US" sz="2800" dirty="0">
                <a:latin typeface="Calibir"/>
              </a:rPr>
            </a:br>
            <a:r>
              <a:rPr lang="en-US" altLang="en-US" sz="2800" dirty="0">
                <a:latin typeface="Calibir"/>
              </a:rPr>
              <a:t>They just need to show an example format (like above) inside their report, so that later in Part 2 (implementation) they know what structure to use.</a:t>
            </a:r>
          </a:p>
        </p:txBody>
      </p:sp>
    </p:spTree>
    <p:extLst>
      <p:ext uri="{BB962C8B-B14F-4D97-AF65-F5344CB8AC3E}">
        <p14:creationId xmlns:p14="http://schemas.microsoft.com/office/powerpoint/2010/main" val="3623991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18E-640C-66E2-0B59-BB157F776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77ED6-5CD9-6C50-BA56-3FA2D285B22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4D09B78-8B4C-A4E5-D07E-5E3C89396C8B}"/>
              </a:ext>
            </a:extLst>
          </p:cNvPr>
          <p:cNvSpPr>
            <a:spLocks noChangeArrowheads="1"/>
          </p:cNvSpPr>
          <p:nvPr/>
        </p:nvSpPr>
        <p:spPr bwMode="auto">
          <a:xfrm>
            <a:off x="155234" y="707734"/>
            <a:ext cx="1199931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7: Check quality</a:t>
            </a:r>
          </a:p>
          <a:p>
            <a:pPr marL="722313" indent="-457200">
              <a:lnSpc>
                <a:spcPct val="150000"/>
              </a:lnSpc>
              <a:buFont typeface="Arial" panose="020B0604020202020204" pitchFamily="34" charset="0"/>
              <a:buChar char="•"/>
              <a:tabLst>
                <a:tab pos="722313" algn="l"/>
              </a:tabLst>
            </a:pPr>
            <a:r>
              <a:rPr lang="en-US" sz="2800" dirty="0">
                <a:latin typeface="Calibir"/>
              </a:rPr>
              <a:t>Does every requirement appear in your </a:t>
            </a:r>
            <a:r>
              <a:rPr lang="en-US" sz="2800" b="1" dirty="0">
                <a:latin typeface="Calibir"/>
              </a:rPr>
              <a:t>user stories → use cases → classes</a:t>
            </a:r>
            <a:r>
              <a:rPr lang="en-US" sz="2800" dirty="0">
                <a:latin typeface="Calibir"/>
              </a:rPr>
              <a:t>?</a:t>
            </a:r>
          </a:p>
          <a:p>
            <a:pPr marL="722313" indent="-457200">
              <a:lnSpc>
                <a:spcPct val="150000"/>
              </a:lnSpc>
              <a:buFont typeface="Arial" panose="020B0604020202020204" pitchFamily="34" charset="0"/>
              <a:buChar char="•"/>
              <a:tabLst>
                <a:tab pos="722313" algn="l"/>
              </a:tabLst>
            </a:pPr>
            <a:r>
              <a:rPr lang="en-US" sz="2800" dirty="0">
                <a:latin typeface="Calibir"/>
              </a:rPr>
              <a:t>Are diagrams labelled clearly (multiplicity, include/extend)?</a:t>
            </a:r>
          </a:p>
          <a:p>
            <a:pPr marL="722313" indent="-457200">
              <a:lnSpc>
                <a:spcPct val="150000"/>
              </a:lnSpc>
              <a:buFont typeface="Arial" panose="020B0604020202020204" pitchFamily="34" charset="0"/>
              <a:buChar char="•"/>
              <a:tabLst>
                <a:tab pos="722313" algn="l"/>
              </a:tabLst>
            </a:pPr>
            <a:r>
              <a:rPr lang="en-US" sz="2800" dirty="0">
                <a:latin typeface="Calibir"/>
              </a:rPr>
              <a:t>Keep names consistent (e.g., “</a:t>
            </a:r>
            <a:r>
              <a:rPr lang="en-US" sz="2800" dirty="0" err="1">
                <a:latin typeface="Calibir"/>
              </a:rPr>
              <a:t>Enrol</a:t>
            </a:r>
            <a:r>
              <a:rPr lang="en-US" sz="2800" dirty="0">
                <a:latin typeface="Calibir"/>
              </a:rPr>
              <a:t> Subject” not sometimes “Add Course”).</a:t>
            </a:r>
          </a:p>
        </p:txBody>
      </p:sp>
    </p:spTree>
    <p:extLst>
      <p:ext uri="{BB962C8B-B14F-4D97-AF65-F5344CB8AC3E}">
        <p14:creationId xmlns:p14="http://schemas.microsoft.com/office/powerpoint/2010/main" val="25442998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A207C-AA5F-CDE0-FA92-47346B931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286CB-8E32-9A28-4823-E084E3BC168C}"/>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1EAD6AA-D084-14F4-C822-CE883BFDC06A}"/>
              </a:ext>
            </a:extLst>
          </p:cNvPr>
          <p:cNvSpPr>
            <a:spLocks noChangeArrowheads="1"/>
          </p:cNvSpPr>
          <p:nvPr/>
        </p:nvSpPr>
        <p:spPr bwMode="auto">
          <a:xfrm>
            <a:off x="140486" y="672662"/>
            <a:ext cx="5749587"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8: Write group contribution plan</a:t>
            </a:r>
          </a:p>
          <a:p>
            <a:pPr>
              <a:lnSpc>
                <a:spcPct val="150000"/>
              </a:lnSpc>
            </a:pPr>
            <a:r>
              <a:rPr lang="en-US" sz="2800" dirty="0">
                <a:latin typeface="Calibir"/>
              </a:rPr>
              <a:t>Make a simple table:</a:t>
            </a:r>
          </a:p>
        </p:txBody>
      </p:sp>
      <p:graphicFrame>
        <p:nvGraphicFramePr>
          <p:cNvPr id="3" name="Table 2">
            <a:extLst>
              <a:ext uri="{FF2B5EF4-FFF2-40B4-BE49-F238E27FC236}">
                <a16:creationId xmlns:a16="http://schemas.microsoft.com/office/drawing/2014/main" id="{890E5166-BBDB-2F37-FF43-CF0EC4D72FD6}"/>
              </a:ext>
            </a:extLst>
          </p:cNvPr>
          <p:cNvGraphicFramePr>
            <a:graphicFrameLocks noGrp="1"/>
          </p:cNvGraphicFramePr>
          <p:nvPr>
            <p:extLst>
              <p:ext uri="{D42A27DB-BD31-4B8C-83A1-F6EECF244321}">
                <p14:modId xmlns:p14="http://schemas.microsoft.com/office/powerpoint/2010/main" val="620132103"/>
              </p:ext>
            </p:extLst>
          </p:nvPr>
        </p:nvGraphicFramePr>
        <p:xfrm>
          <a:off x="632273" y="2205746"/>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2274373"/>
                    </a:ext>
                  </a:extLst>
                </a:gridCol>
                <a:gridCol w="3505200">
                  <a:extLst>
                    <a:ext uri="{9D8B030D-6E8A-4147-A177-3AD203B41FA5}">
                      <a16:colId xmlns:a16="http://schemas.microsoft.com/office/drawing/2014/main" val="1826405749"/>
                    </a:ext>
                  </a:extLst>
                </a:gridCol>
                <a:gridCol w="3505200">
                  <a:extLst>
                    <a:ext uri="{9D8B030D-6E8A-4147-A177-3AD203B41FA5}">
                      <a16:colId xmlns:a16="http://schemas.microsoft.com/office/drawing/2014/main" val="1076883493"/>
                    </a:ext>
                  </a:extLst>
                </a:gridCol>
              </a:tblGrid>
              <a:tr h="0">
                <a:tc>
                  <a:txBody>
                    <a:bodyPr/>
                    <a:lstStyle/>
                    <a:p>
                      <a:pPr>
                        <a:lnSpc>
                          <a:spcPct val="150000"/>
                        </a:lnSpc>
                        <a:buNone/>
                      </a:pPr>
                      <a:r>
                        <a:rPr lang="en-US" sz="2800" dirty="0">
                          <a:latin typeface="Calibir"/>
                        </a:rPr>
                        <a:t>Member</a:t>
                      </a:r>
                    </a:p>
                  </a:txBody>
                  <a:tcPr anchor="ctr">
                    <a:solidFill>
                      <a:schemeClr val="accent5">
                        <a:lumMod val="20000"/>
                        <a:lumOff val="80000"/>
                      </a:schemeClr>
                    </a:solidFill>
                  </a:tcPr>
                </a:tc>
                <a:tc>
                  <a:txBody>
                    <a:bodyPr/>
                    <a:lstStyle/>
                    <a:p>
                      <a:pPr>
                        <a:lnSpc>
                          <a:spcPct val="150000"/>
                        </a:lnSpc>
                        <a:buNone/>
                      </a:pPr>
                      <a:r>
                        <a:rPr lang="en-US" sz="2800" dirty="0">
                          <a:latin typeface="Calibir"/>
                        </a:rPr>
                        <a:t>Main Role</a:t>
                      </a:r>
                    </a:p>
                  </a:txBody>
                  <a:tcPr anchor="ctr">
                    <a:solidFill>
                      <a:schemeClr val="accent5">
                        <a:lumMod val="20000"/>
                        <a:lumOff val="80000"/>
                      </a:schemeClr>
                    </a:solidFill>
                  </a:tcPr>
                </a:tc>
                <a:tc>
                  <a:txBody>
                    <a:bodyPr/>
                    <a:lstStyle/>
                    <a:p>
                      <a:pPr>
                        <a:lnSpc>
                          <a:spcPct val="150000"/>
                        </a:lnSpc>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4047359846"/>
                  </a:ext>
                </a:extLst>
              </a:tr>
              <a:tr h="0">
                <a:tc>
                  <a:txBody>
                    <a:bodyPr/>
                    <a:lstStyle/>
                    <a:p>
                      <a:pPr>
                        <a:lnSpc>
                          <a:spcPct val="150000"/>
                        </a:lnSpc>
                        <a:buNone/>
                      </a:pPr>
                      <a:r>
                        <a:rPr lang="en-US" sz="2800">
                          <a:latin typeface="Calibir"/>
                        </a:rPr>
                        <a:t>Asha</a:t>
                      </a:r>
                    </a:p>
                  </a:txBody>
                  <a:tcPr anchor="ctr"/>
                </a:tc>
                <a:tc>
                  <a:txBody>
                    <a:bodyPr/>
                    <a:lstStyle/>
                    <a:p>
                      <a:pPr>
                        <a:lnSpc>
                          <a:spcPct val="150000"/>
                        </a:lnSpc>
                        <a:buNone/>
                      </a:pPr>
                      <a:r>
                        <a:rPr lang="en-US" sz="2800">
                          <a:latin typeface="Calibir"/>
                        </a:rPr>
                        <a:t>User stories/backlog</a:t>
                      </a:r>
                    </a:p>
                  </a:txBody>
                  <a:tcPr anchor="ctr"/>
                </a:tc>
                <a:tc>
                  <a:txBody>
                    <a:bodyPr/>
                    <a:lstStyle/>
                    <a:p>
                      <a:pPr>
                        <a:lnSpc>
                          <a:spcPct val="150000"/>
                        </a:lnSpc>
                        <a:buNone/>
                      </a:pPr>
                      <a:r>
                        <a:rPr lang="en-US" sz="2800">
                          <a:latin typeface="Calibir"/>
                        </a:rPr>
                        <a:t>Use case diagram</a:t>
                      </a:r>
                    </a:p>
                  </a:txBody>
                  <a:tcPr anchor="ctr"/>
                </a:tc>
                <a:extLst>
                  <a:ext uri="{0D108BD9-81ED-4DB2-BD59-A6C34878D82A}">
                    <a16:rowId xmlns:a16="http://schemas.microsoft.com/office/drawing/2014/main" val="468563056"/>
                  </a:ext>
                </a:extLst>
              </a:tr>
              <a:tr h="0">
                <a:tc>
                  <a:txBody>
                    <a:bodyPr/>
                    <a:lstStyle/>
                    <a:p>
                      <a:pPr>
                        <a:lnSpc>
                          <a:spcPct val="150000"/>
                        </a:lnSpc>
                        <a:buNone/>
                      </a:pPr>
                      <a:r>
                        <a:rPr lang="en-US" sz="2800">
                          <a:latin typeface="Calibir"/>
                        </a:rPr>
                        <a:t>Liam</a:t>
                      </a:r>
                    </a:p>
                  </a:txBody>
                  <a:tcPr anchor="ctr"/>
                </a:tc>
                <a:tc>
                  <a:txBody>
                    <a:bodyPr/>
                    <a:lstStyle/>
                    <a:p>
                      <a:pPr>
                        <a:lnSpc>
                          <a:spcPct val="150000"/>
                        </a:lnSpc>
                        <a:buNone/>
                      </a:pPr>
                      <a:r>
                        <a:rPr lang="en-US" sz="2800">
                          <a:latin typeface="Calibir"/>
                        </a:rPr>
                        <a:t>Class diagram</a:t>
                      </a:r>
                    </a:p>
                  </a:txBody>
                  <a:tcPr anchor="ctr"/>
                </a:tc>
                <a:tc>
                  <a:txBody>
                    <a:bodyPr/>
                    <a:lstStyle/>
                    <a:p>
                      <a:pPr>
                        <a:lnSpc>
                          <a:spcPct val="150000"/>
                        </a:lnSpc>
                        <a:buNone/>
                      </a:pPr>
                      <a:r>
                        <a:rPr lang="en-US" sz="2800">
                          <a:latin typeface="Calibir"/>
                        </a:rPr>
                        <a:t>Report formatting</a:t>
                      </a:r>
                    </a:p>
                  </a:txBody>
                  <a:tcPr anchor="ctr"/>
                </a:tc>
                <a:extLst>
                  <a:ext uri="{0D108BD9-81ED-4DB2-BD59-A6C34878D82A}">
                    <a16:rowId xmlns:a16="http://schemas.microsoft.com/office/drawing/2014/main" val="2520536471"/>
                  </a:ext>
                </a:extLst>
              </a:tr>
              <a:tr h="0">
                <a:tc>
                  <a:txBody>
                    <a:bodyPr/>
                    <a:lstStyle/>
                    <a:p>
                      <a:pPr>
                        <a:lnSpc>
                          <a:spcPct val="150000"/>
                        </a:lnSpc>
                        <a:buNone/>
                      </a:pPr>
                      <a:r>
                        <a:rPr lang="en-US" sz="2800">
                          <a:latin typeface="Calibir"/>
                        </a:rPr>
                        <a:t>Chen</a:t>
                      </a:r>
                    </a:p>
                  </a:txBody>
                  <a:tcPr anchor="ctr"/>
                </a:tc>
                <a:tc>
                  <a:txBody>
                    <a:bodyPr/>
                    <a:lstStyle/>
                    <a:p>
                      <a:pPr>
                        <a:lnSpc>
                          <a:spcPct val="150000"/>
                        </a:lnSpc>
                        <a:buNone/>
                      </a:pPr>
                      <a:r>
                        <a:rPr lang="en-US" sz="2800">
                          <a:latin typeface="Calibir"/>
                        </a:rPr>
                        <a:t>Data file + rules</a:t>
                      </a:r>
                    </a:p>
                  </a:txBody>
                  <a:tcPr anchor="ctr"/>
                </a:tc>
                <a:tc>
                  <a:txBody>
                    <a:bodyPr/>
                    <a:lstStyle/>
                    <a:p>
                      <a:pPr>
                        <a:lnSpc>
                          <a:spcPct val="150000"/>
                        </a:lnSpc>
                        <a:buNone/>
                      </a:pPr>
                      <a:r>
                        <a:rPr lang="en-US" sz="2800" dirty="0">
                          <a:latin typeface="Calibir"/>
                        </a:rPr>
                        <a:t>Proofreading</a:t>
                      </a:r>
                    </a:p>
                  </a:txBody>
                  <a:tcPr anchor="ctr"/>
                </a:tc>
                <a:extLst>
                  <a:ext uri="{0D108BD9-81ED-4DB2-BD59-A6C34878D82A}">
                    <a16:rowId xmlns:a16="http://schemas.microsoft.com/office/drawing/2014/main" val="2601975655"/>
                  </a:ext>
                </a:extLst>
              </a:tr>
            </a:tbl>
          </a:graphicData>
        </a:graphic>
      </p:graphicFrame>
    </p:spTree>
    <p:extLst>
      <p:ext uri="{BB962C8B-B14F-4D97-AF65-F5344CB8AC3E}">
        <p14:creationId xmlns:p14="http://schemas.microsoft.com/office/powerpoint/2010/main" val="3760810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3C5C-B350-A4FF-1751-ADA95EE54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A2950-FA6A-AC2E-0DD7-7A0380B35E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AD7E200-36A2-17D5-D45C-C841146B8736}"/>
              </a:ext>
            </a:extLst>
          </p:cNvPr>
          <p:cNvSpPr>
            <a:spLocks noChangeArrowheads="1"/>
          </p:cNvSpPr>
          <p:nvPr/>
        </p:nvSpPr>
        <p:spPr bwMode="auto">
          <a:xfrm>
            <a:off x="140486" y="672662"/>
            <a:ext cx="6115072" cy="5839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Submission Checklist</a:t>
            </a:r>
          </a:p>
          <a:p>
            <a:pPr marL="265113">
              <a:lnSpc>
                <a:spcPct val="150000"/>
              </a:lnSpc>
            </a:pPr>
            <a:r>
              <a:rPr lang="en-US" sz="2800" dirty="0">
                <a:latin typeface="Calibir"/>
              </a:rPr>
              <a:t>✔ Cover page (unit, group, names, IDs)</a:t>
            </a:r>
            <a:br>
              <a:rPr lang="en-US" sz="2800" dirty="0">
                <a:latin typeface="Calibir"/>
              </a:rPr>
            </a:br>
            <a:r>
              <a:rPr lang="en-US" sz="2800" dirty="0">
                <a:latin typeface="Calibir"/>
              </a:rPr>
              <a:t>✔ Scope summary</a:t>
            </a:r>
            <a:br>
              <a:rPr lang="en-US" sz="2800" dirty="0">
                <a:latin typeface="Calibir"/>
              </a:rPr>
            </a:br>
            <a:r>
              <a:rPr lang="en-US" sz="2800" dirty="0">
                <a:latin typeface="Calibir"/>
              </a:rPr>
              <a:t>✔ User stories table (backlog)</a:t>
            </a:r>
            <a:br>
              <a:rPr lang="en-US" sz="2800" dirty="0">
                <a:latin typeface="Calibir"/>
              </a:rPr>
            </a:br>
            <a:r>
              <a:rPr lang="en-US" sz="2800" dirty="0">
                <a:latin typeface="Calibir"/>
              </a:rPr>
              <a:t>✔ Use case diagram + short notes</a:t>
            </a:r>
            <a:br>
              <a:rPr lang="en-US" sz="2800" dirty="0">
                <a:latin typeface="Calibir"/>
              </a:rPr>
            </a:br>
            <a:r>
              <a:rPr lang="en-US" sz="2800" dirty="0">
                <a:latin typeface="Calibir"/>
              </a:rPr>
              <a:t>✔ Class diagram + notes</a:t>
            </a:r>
            <a:br>
              <a:rPr lang="en-US" sz="2800" dirty="0">
                <a:latin typeface="Calibir"/>
              </a:rPr>
            </a:br>
            <a:r>
              <a:rPr lang="en-US" sz="2800" dirty="0">
                <a:latin typeface="Calibir"/>
              </a:rPr>
              <a:t>✔ Rules/constraints</a:t>
            </a:r>
            <a:br>
              <a:rPr lang="en-US" sz="2800" dirty="0">
                <a:latin typeface="Calibir"/>
              </a:rPr>
            </a:br>
            <a:r>
              <a:rPr lang="en-US" sz="2800" dirty="0">
                <a:latin typeface="Calibir"/>
              </a:rPr>
              <a:t>✔ Data file sample</a:t>
            </a:r>
            <a:br>
              <a:rPr lang="en-US" sz="2800" dirty="0">
                <a:latin typeface="Calibir"/>
              </a:rPr>
            </a:br>
            <a:r>
              <a:rPr lang="en-US" sz="2800" dirty="0">
                <a:latin typeface="Calibir"/>
              </a:rPr>
              <a:t>✔ Contribution table</a:t>
            </a:r>
          </a:p>
        </p:txBody>
      </p:sp>
    </p:spTree>
    <p:extLst>
      <p:ext uri="{BB962C8B-B14F-4D97-AF65-F5344CB8AC3E}">
        <p14:creationId xmlns:p14="http://schemas.microsoft.com/office/powerpoint/2010/main" val="498125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5E9F6-1502-D79C-3B0E-B02B51807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5DCFC2-FC8C-FC4B-0008-9B3F68078A7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34A5C82-67BB-4D02-D005-4C5BA7D7E0AE}"/>
              </a:ext>
            </a:extLst>
          </p:cNvPr>
          <p:cNvSpPr>
            <a:spLocks noChangeArrowheads="1"/>
          </p:cNvSpPr>
          <p:nvPr/>
        </p:nvSpPr>
        <p:spPr bwMode="auto">
          <a:xfrm>
            <a:off x="140486" y="1640716"/>
            <a:ext cx="9375452"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Don’ts</a:t>
            </a:r>
          </a:p>
          <a:p>
            <a:pPr marL="914400" lvl="1" indent="-457200">
              <a:lnSpc>
                <a:spcPct val="150000"/>
              </a:lnSpc>
              <a:buFont typeface="Arial" panose="020B0604020202020204" pitchFamily="34" charset="0"/>
              <a:buChar char="•"/>
            </a:pPr>
            <a:r>
              <a:rPr lang="en-US" sz="2800" dirty="0">
                <a:latin typeface="Calibir"/>
              </a:rPr>
              <a:t>Don’t write vague stories (e.g., “manage subjects”).</a:t>
            </a:r>
          </a:p>
          <a:p>
            <a:pPr marL="914400" lvl="1" indent="-457200">
              <a:lnSpc>
                <a:spcPct val="150000"/>
              </a:lnSpc>
              <a:buFont typeface="Arial" panose="020B0604020202020204" pitchFamily="34" charset="0"/>
              <a:buChar char="•"/>
            </a:pPr>
            <a:r>
              <a:rPr lang="en-US" sz="2800" dirty="0">
                <a:latin typeface="Calibir"/>
              </a:rPr>
              <a:t>Don’t skip multiplicities in class diagrams.</a:t>
            </a:r>
          </a:p>
          <a:p>
            <a:pPr marL="914400" lvl="1" indent="-457200">
              <a:lnSpc>
                <a:spcPct val="150000"/>
              </a:lnSpc>
              <a:buFont typeface="Arial" panose="020B0604020202020204" pitchFamily="34" charset="0"/>
              <a:buChar char="•"/>
            </a:pPr>
            <a:r>
              <a:rPr lang="en-US" sz="2800" dirty="0">
                <a:latin typeface="Calibir"/>
              </a:rPr>
              <a:t>Don’t design GUI in detail (CLI only).</a:t>
            </a:r>
          </a:p>
          <a:p>
            <a:pPr marL="914400" lvl="1" indent="-457200">
              <a:lnSpc>
                <a:spcPct val="150000"/>
              </a:lnSpc>
              <a:buFont typeface="Arial" panose="020B0604020202020204" pitchFamily="34" charset="0"/>
              <a:buChar char="•"/>
            </a:pPr>
            <a:r>
              <a:rPr lang="en-US" sz="2800" dirty="0">
                <a:latin typeface="Calibir"/>
              </a:rPr>
              <a:t>Don’t forget ID/grade rules.</a:t>
            </a:r>
          </a:p>
          <a:p>
            <a:pPr marL="914400" lvl="1" indent="-457200">
              <a:lnSpc>
                <a:spcPct val="150000"/>
              </a:lnSpc>
              <a:buFont typeface="Arial" panose="020B0604020202020204" pitchFamily="34" charset="0"/>
              <a:buChar char="•"/>
            </a:pPr>
            <a:r>
              <a:rPr lang="en-US" sz="2800" dirty="0">
                <a:latin typeface="Calibir"/>
              </a:rPr>
              <a:t>Don’t submit multiple files (group submits one file only).</a:t>
            </a:r>
          </a:p>
        </p:txBody>
      </p:sp>
    </p:spTree>
    <p:extLst>
      <p:ext uri="{BB962C8B-B14F-4D97-AF65-F5344CB8AC3E}">
        <p14:creationId xmlns:p14="http://schemas.microsoft.com/office/powerpoint/2010/main" val="2968607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C6F3-2899-E085-6B85-8D9448C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D59F-D37A-0A80-55DA-2C4C4F5A302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1C8A28C-EB3C-A9A4-F7F4-2496E78BCA0E}"/>
              </a:ext>
            </a:extLst>
          </p:cNvPr>
          <p:cNvSpPr>
            <a:spLocks noChangeArrowheads="1"/>
          </p:cNvSpPr>
          <p:nvPr/>
        </p:nvSpPr>
        <p:spPr bwMode="auto">
          <a:xfrm>
            <a:off x="140486" y="2287047"/>
            <a:ext cx="1189094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Marking Made Simple (15 marks)</a:t>
            </a:r>
          </a:p>
          <a:p>
            <a:pPr marL="811213" indent="-457200">
              <a:lnSpc>
                <a:spcPct val="150000"/>
              </a:lnSpc>
              <a:buFont typeface="Arial" panose="020B0604020202020204" pitchFamily="34" charset="0"/>
              <a:buChar char="•"/>
            </a:pPr>
            <a:r>
              <a:rPr lang="en-US" sz="2800" dirty="0">
                <a:latin typeface="Calibir"/>
              </a:rPr>
              <a:t>5 marks → User stories + backlog.</a:t>
            </a:r>
          </a:p>
          <a:p>
            <a:pPr marL="811213" indent="-457200">
              <a:lnSpc>
                <a:spcPct val="150000"/>
              </a:lnSpc>
              <a:buFont typeface="Arial" panose="020B0604020202020204" pitchFamily="34" charset="0"/>
              <a:buChar char="•"/>
            </a:pPr>
            <a:r>
              <a:rPr lang="en-US" sz="2800" dirty="0">
                <a:latin typeface="Calibir"/>
              </a:rPr>
              <a:t>5 marks → Use case diagram (actors, actions, correct labels).</a:t>
            </a:r>
          </a:p>
          <a:p>
            <a:pPr marL="811213" indent="-457200">
              <a:lnSpc>
                <a:spcPct val="150000"/>
              </a:lnSpc>
              <a:buFont typeface="Arial" panose="020B0604020202020204" pitchFamily="34" charset="0"/>
              <a:buChar char="•"/>
            </a:pPr>
            <a:r>
              <a:rPr lang="en-US" sz="2800" dirty="0">
                <a:latin typeface="Calibir"/>
              </a:rPr>
              <a:t>5 marks → Class diagram (right classes, attributes/methods, relationships).</a:t>
            </a:r>
          </a:p>
        </p:txBody>
      </p:sp>
    </p:spTree>
    <p:extLst>
      <p:ext uri="{BB962C8B-B14F-4D97-AF65-F5344CB8AC3E}">
        <p14:creationId xmlns:p14="http://schemas.microsoft.com/office/powerpoint/2010/main" val="3776605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6A8A-8885-1F96-066E-57BA4F2B5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D11BD-5022-9CEA-3E77-E39207DFB6B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5265C51-2A89-0927-31AA-F4631B85DFFD}"/>
              </a:ext>
            </a:extLst>
          </p:cNvPr>
          <p:cNvSpPr>
            <a:spLocks noChangeArrowheads="1"/>
          </p:cNvSpPr>
          <p:nvPr/>
        </p:nvSpPr>
        <p:spPr bwMode="auto">
          <a:xfrm>
            <a:off x="140486" y="994386"/>
            <a:ext cx="10198369"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Quick mini examples</a:t>
            </a:r>
          </a:p>
          <a:p>
            <a:pPr lvl="0" eaLnBrk="0" fontAlgn="base" hangingPunct="0">
              <a:lnSpc>
                <a:spcPct val="150000"/>
              </a:lnSpc>
              <a:spcBef>
                <a:spcPct val="0"/>
              </a:spcBef>
              <a:spcAft>
                <a:spcPct val="0"/>
              </a:spcAft>
            </a:pPr>
            <a:r>
              <a:rPr lang="en-US" altLang="en-US" sz="2800" b="1" dirty="0">
                <a:latin typeface="Calibir"/>
              </a:rPr>
              <a:t>Login flow</a:t>
            </a:r>
            <a:endParaRPr lang="en-US" altLang="en-US" sz="2800" dirty="0">
              <a:latin typeface="Calibir"/>
            </a:endParaRP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enters maria@university.com, TigerPass123.</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System checks → OK → Student menu opens.</a:t>
            </a:r>
          </a:p>
          <a:p>
            <a:pPr lvl="0" eaLnBrk="0" fontAlgn="base" hangingPunct="0">
              <a:lnSpc>
                <a:spcPct val="150000"/>
              </a:lnSpc>
              <a:spcBef>
                <a:spcPct val="0"/>
              </a:spcBef>
              <a:spcAft>
                <a:spcPct val="0"/>
              </a:spcAft>
            </a:pPr>
            <a:r>
              <a:rPr lang="en-US" altLang="en-US" sz="2800" b="1" dirty="0" err="1">
                <a:latin typeface="Calibir"/>
              </a:rPr>
              <a:t>Enrol</a:t>
            </a:r>
            <a:r>
              <a:rPr lang="en-US" altLang="en-US" sz="2800" b="1" dirty="0">
                <a:latin typeface="Calibir"/>
              </a:rPr>
              <a:t> flow</a:t>
            </a:r>
            <a:endParaRPr lang="en-US" altLang="en-US" sz="2800" dirty="0">
              <a:latin typeface="Calibir"/>
            </a:endParaRP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has 3 subjects.</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Clicks “</a:t>
            </a:r>
            <a:r>
              <a:rPr lang="en-US" altLang="en-US" sz="2800" dirty="0" err="1">
                <a:latin typeface="Calibir"/>
              </a:rPr>
              <a:t>Enrol</a:t>
            </a:r>
            <a:r>
              <a:rPr lang="en-US" altLang="en-US" sz="2800" dirty="0">
                <a:latin typeface="Calibir"/>
              </a:rPr>
              <a:t>” → new subject ID 008 assigned, mark 74, grade C.</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Total = 4 subjects now.</a:t>
            </a:r>
          </a:p>
        </p:txBody>
      </p:sp>
    </p:spTree>
    <p:extLst>
      <p:ext uri="{BB962C8B-B14F-4D97-AF65-F5344CB8AC3E}">
        <p14:creationId xmlns:p14="http://schemas.microsoft.com/office/powerpoint/2010/main" val="4538712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1041</TotalTime>
  <Words>2009</Words>
  <Application>Microsoft Office PowerPoint</Application>
  <PresentationFormat>Widescreen</PresentationFormat>
  <Paragraphs>179</Paragraphs>
  <Slides>30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30</vt:i4>
      </vt:variant>
    </vt:vector>
  </HeadingPairs>
  <TitlesOfParts>
    <vt:vector size="38" baseType="lpstr">
      <vt:lpstr>Aptos</vt:lpstr>
      <vt:lpstr>Aptos Display</vt:lpstr>
      <vt:lpstr>Arial</vt:lpstr>
      <vt:lpstr>Calibir</vt:lpstr>
      <vt:lpstr>Calibri</vt:lpstr>
      <vt:lpstr>Calibri Light</vt:lpstr>
      <vt:lpstr>Office Theme</vt:lpstr>
      <vt:lpstr>1_Office Theme</vt:lpstr>
      <vt:lpstr>Introduction to Software Engineering (ISE102) Tutorial Week 5</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324</cp:revision>
  <dcterms:created xsi:type="dcterms:W3CDTF">2025-07-28T16:39:25Z</dcterms:created>
  <dcterms:modified xsi:type="dcterms:W3CDTF">2025-08-26T00:40:01Z</dcterms:modified>
</cp:coreProperties>
</file>