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1"/>
  </p:notesMasterIdLst>
  <p:sldIdLst>
    <p:sldId id="256" r:id="rId3"/>
    <p:sldId id="2467" r:id="rId4"/>
    <p:sldId id="3254" r:id="rId5"/>
    <p:sldId id="3299" r:id="rId6"/>
    <p:sldId id="3300" r:id="rId7"/>
    <p:sldId id="3301" r:id="rId8"/>
    <p:sldId id="3302" r:id="rId9"/>
    <p:sldId id="3303" r:id="rId10"/>
    <p:sldId id="3304" r:id="rId11"/>
    <p:sldId id="3305" r:id="rId12"/>
    <p:sldId id="3306" r:id="rId13"/>
    <p:sldId id="3307" r:id="rId14"/>
    <p:sldId id="3308" r:id="rId15"/>
    <p:sldId id="3309" r:id="rId16"/>
    <p:sldId id="3310" r:id="rId17"/>
    <p:sldId id="3311" r:id="rId18"/>
    <p:sldId id="3312" r:id="rId19"/>
    <p:sldId id="74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6" d="100"/>
          <a:sy n="66" d="100"/>
        </p:scale>
        <p:origin x="1111"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4768A3-CE1D-4B38-9DB7-258A20660199}" type="datetimeFigureOut">
              <a:rPr lang="en-AU" smtClean="0"/>
              <a:t>3/11/2025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ED24F3-C88E-4C15-8193-4E111B80EC59}" type="slidenum">
              <a:rPr lang="en-AU" smtClean="0"/>
              <a:t>‹#›</a:t>
            </a:fld>
            <a:endParaRPr lang="en-AU"/>
          </a:p>
        </p:txBody>
      </p:sp>
    </p:spTree>
    <p:extLst>
      <p:ext uri="{BB962C8B-B14F-4D97-AF65-F5344CB8AC3E}">
        <p14:creationId xmlns:p14="http://schemas.microsoft.com/office/powerpoint/2010/main" val="340141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A289-FF3D-6221-0919-52B01AA8C7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594B72A-F72E-6F44-5F03-1418A0B231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9E6A39C-6018-18E9-5F8D-4A1EC20EB561}"/>
              </a:ext>
            </a:extLst>
          </p:cNvPr>
          <p:cNvSpPr>
            <a:spLocks noGrp="1"/>
          </p:cNvSpPr>
          <p:nvPr>
            <p:ph type="dt" sz="half" idx="10"/>
          </p:nvPr>
        </p:nvSpPr>
        <p:spPr/>
        <p:txBody>
          <a:bodyPr/>
          <a:lstStyle/>
          <a:p>
            <a:fld id="{1BB67406-7D6A-427B-AE15-EA86D49A46C9}" type="datetimeFigureOut">
              <a:rPr lang="en-AU" smtClean="0"/>
              <a:t>3/11/2025</a:t>
            </a:fld>
            <a:endParaRPr lang="en-AU"/>
          </a:p>
        </p:txBody>
      </p:sp>
      <p:sp>
        <p:nvSpPr>
          <p:cNvPr id="5" name="Footer Placeholder 4">
            <a:extLst>
              <a:ext uri="{FF2B5EF4-FFF2-40B4-BE49-F238E27FC236}">
                <a16:creationId xmlns:a16="http://schemas.microsoft.com/office/drawing/2014/main" id="{37120D52-2FFC-C9DF-2C1D-0D71439D00F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806BD1-0781-7498-CBE7-882C85BCFF1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369594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06307-42D9-B52A-3FDF-879E60F0F6A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D3A6530-A555-4496-8091-721D1F8819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7E4BAD6-101F-B851-1C08-7D894720DD0B}"/>
              </a:ext>
            </a:extLst>
          </p:cNvPr>
          <p:cNvSpPr>
            <a:spLocks noGrp="1"/>
          </p:cNvSpPr>
          <p:nvPr>
            <p:ph type="dt" sz="half" idx="10"/>
          </p:nvPr>
        </p:nvSpPr>
        <p:spPr/>
        <p:txBody>
          <a:bodyPr/>
          <a:lstStyle/>
          <a:p>
            <a:fld id="{1BB67406-7D6A-427B-AE15-EA86D49A46C9}" type="datetimeFigureOut">
              <a:rPr lang="en-AU" smtClean="0"/>
              <a:t>3/11/2025</a:t>
            </a:fld>
            <a:endParaRPr lang="en-AU"/>
          </a:p>
        </p:txBody>
      </p:sp>
      <p:sp>
        <p:nvSpPr>
          <p:cNvPr id="5" name="Footer Placeholder 4">
            <a:extLst>
              <a:ext uri="{FF2B5EF4-FFF2-40B4-BE49-F238E27FC236}">
                <a16:creationId xmlns:a16="http://schemas.microsoft.com/office/drawing/2014/main" id="{7D7BE63D-2BAC-0771-6CDD-E58CA768C29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762B1F2-308D-04CF-0533-43636B44042E}"/>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021116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1970-B490-B69E-FCBD-212BA09108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EEDBB8-F6B9-F902-DDF8-399BEAD5FFA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A61F5-3BD9-1364-E269-EA50C8D5E589}"/>
              </a:ext>
            </a:extLst>
          </p:cNvPr>
          <p:cNvSpPr>
            <a:spLocks noGrp="1"/>
          </p:cNvSpPr>
          <p:nvPr>
            <p:ph type="dt" sz="half" idx="10"/>
          </p:nvPr>
        </p:nvSpPr>
        <p:spPr/>
        <p:txBody>
          <a:bodyPr/>
          <a:lstStyle/>
          <a:p>
            <a:fld id="{1BB67406-7D6A-427B-AE15-EA86D49A46C9}" type="datetimeFigureOut">
              <a:rPr lang="en-AU" smtClean="0"/>
              <a:t>3/11/2025</a:t>
            </a:fld>
            <a:endParaRPr lang="en-AU"/>
          </a:p>
        </p:txBody>
      </p:sp>
      <p:sp>
        <p:nvSpPr>
          <p:cNvPr id="5" name="Footer Placeholder 4">
            <a:extLst>
              <a:ext uri="{FF2B5EF4-FFF2-40B4-BE49-F238E27FC236}">
                <a16:creationId xmlns:a16="http://schemas.microsoft.com/office/drawing/2014/main" id="{2921C5DD-8DE3-E3A8-9502-3A87814DB8C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697EB9C-AF45-B217-1DA1-31C1499BA96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988447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B327E-C2D8-2826-AC41-CBF55C1F57D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81C1C5-C310-D6F8-E733-80DC724D8F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6EB3D25-4FAE-3121-CD93-0C49A108A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2D4EAB2-5E1A-8619-3057-C3A1AB5D12B6}"/>
              </a:ext>
            </a:extLst>
          </p:cNvPr>
          <p:cNvSpPr>
            <a:spLocks noGrp="1"/>
          </p:cNvSpPr>
          <p:nvPr>
            <p:ph type="dt" sz="half" idx="10"/>
          </p:nvPr>
        </p:nvSpPr>
        <p:spPr/>
        <p:txBody>
          <a:bodyPr/>
          <a:lstStyle/>
          <a:p>
            <a:fld id="{1BB67406-7D6A-427B-AE15-EA86D49A46C9}" type="datetimeFigureOut">
              <a:rPr lang="en-AU" smtClean="0"/>
              <a:t>3/11/2025</a:t>
            </a:fld>
            <a:endParaRPr lang="en-AU"/>
          </a:p>
        </p:txBody>
      </p:sp>
      <p:sp>
        <p:nvSpPr>
          <p:cNvPr id="6" name="Footer Placeholder 5">
            <a:extLst>
              <a:ext uri="{FF2B5EF4-FFF2-40B4-BE49-F238E27FC236}">
                <a16:creationId xmlns:a16="http://schemas.microsoft.com/office/drawing/2014/main" id="{8BB9F5A9-2584-E93E-6A0F-A4794EE1DC5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27E2D3-3374-99CB-1920-B67380A0E1D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3397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ED3B-21CA-4495-94A5-BF0A0714315D}"/>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5125D24-B245-8441-06C8-6FC24B1D7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0E5481-DAD5-42E9-A05C-FE17FB031DA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DEBF7B5-BC72-38B3-02F0-7BB1BC9D07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1FD1-022B-B62F-16CD-57BC6B42D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1968B3-4251-2756-4B56-73ADD5061DB9}"/>
              </a:ext>
            </a:extLst>
          </p:cNvPr>
          <p:cNvSpPr>
            <a:spLocks noGrp="1"/>
          </p:cNvSpPr>
          <p:nvPr>
            <p:ph type="dt" sz="half" idx="10"/>
          </p:nvPr>
        </p:nvSpPr>
        <p:spPr/>
        <p:txBody>
          <a:bodyPr/>
          <a:lstStyle/>
          <a:p>
            <a:fld id="{1BB67406-7D6A-427B-AE15-EA86D49A46C9}" type="datetimeFigureOut">
              <a:rPr lang="en-AU" smtClean="0"/>
              <a:t>3/11/2025</a:t>
            </a:fld>
            <a:endParaRPr lang="en-AU"/>
          </a:p>
        </p:txBody>
      </p:sp>
      <p:sp>
        <p:nvSpPr>
          <p:cNvPr id="8" name="Footer Placeholder 7">
            <a:extLst>
              <a:ext uri="{FF2B5EF4-FFF2-40B4-BE49-F238E27FC236}">
                <a16:creationId xmlns:a16="http://schemas.microsoft.com/office/drawing/2014/main" id="{B37B1F6D-47C2-CAE3-A4E5-9BBEA271841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5E390004-77A4-C994-6377-2D03957A9478}"/>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27843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029FA-C545-B505-6C82-069457BDA1FA}"/>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6EBCBFB8-D61F-8DA0-01D0-D4ABB1784B6C}"/>
              </a:ext>
            </a:extLst>
          </p:cNvPr>
          <p:cNvSpPr>
            <a:spLocks noGrp="1"/>
          </p:cNvSpPr>
          <p:nvPr>
            <p:ph type="dt" sz="half" idx="10"/>
          </p:nvPr>
        </p:nvSpPr>
        <p:spPr/>
        <p:txBody>
          <a:bodyPr/>
          <a:lstStyle/>
          <a:p>
            <a:fld id="{1BB67406-7D6A-427B-AE15-EA86D49A46C9}" type="datetimeFigureOut">
              <a:rPr lang="en-AU" smtClean="0"/>
              <a:t>3/11/2025</a:t>
            </a:fld>
            <a:endParaRPr lang="en-AU"/>
          </a:p>
        </p:txBody>
      </p:sp>
      <p:sp>
        <p:nvSpPr>
          <p:cNvPr id="4" name="Footer Placeholder 3">
            <a:extLst>
              <a:ext uri="{FF2B5EF4-FFF2-40B4-BE49-F238E27FC236}">
                <a16:creationId xmlns:a16="http://schemas.microsoft.com/office/drawing/2014/main" id="{892936ED-D26E-6CDD-AE85-E69826C2BF6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160F5E15-D044-ACA4-4FF1-4403C9CB1E0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73080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00D06D-3A18-FF5D-39C8-EC1AC6D1C47F}"/>
              </a:ext>
            </a:extLst>
          </p:cNvPr>
          <p:cNvSpPr>
            <a:spLocks noGrp="1"/>
          </p:cNvSpPr>
          <p:nvPr>
            <p:ph type="dt" sz="half" idx="10"/>
          </p:nvPr>
        </p:nvSpPr>
        <p:spPr/>
        <p:txBody>
          <a:bodyPr/>
          <a:lstStyle/>
          <a:p>
            <a:fld id="{1BB67406-7D6A-427B-AE15-EA86D49A46C9}" type="datetimeFigureOut">
              <a:rPr lang="en-AU" smtClean="0"/>
              <a:t>3/11/2025</a:t>
            </a:fld>
            <a:endParaRPr lang="en-AU"/>
          </a:p>
        </p:txBody>
      </p:sp>
      <p:sp>
        <p:nvSpPr>
          <p:cNvPr id="3" name="Footer Placeholder 2">
            <a:extLst>
              <a:ext uri="{FF2B5EF4-FFF2-40B4-BE49-F238E27FC236}">
                <a16:creationId xmlns:a16="http://schemas.microsoft.com/office/drawing/2014/main" id="{5F041F04-363D-EF82-F43A-1F851133744D}"/>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3F072FA-339B-371C-0059-8970DEB101C0}"/>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168054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B85B4-BB2F-E262-E02E-C1DC1BF008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2F14E00-FACA-AA09-85E5-E01105E850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34EE9D-4DB5-87C6-C68D-3C076EA321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C8988F-CF28-82C0-CDE6-5940AF6ADD36}"/>
              </a:ext>
            </a:extLst>
          </p:cNvPr>
          <p:cNvSpPr>
            <a:spLocks noGrp="1"/>
          </p:cNvSpPr>
          <p:nvPr>
            <p:ph type="dt" sz="half" idx="10"/>
          </p:nvPr>
        </p:nvSpPr>
        <p:spPr/>
        <p:txBody>
          <a:bodyPr/>
          <a:lstStyle/>
          <a:p>
            <a:fld id="{1BB67406-7D6A-427B-AE15-EA86D49A46C9}" type="datetimeFigureOut">
              <a:rPr lang="en-AU" smtClean="0"/>
              <a:t>3/11/2025</a:t>
            </a:fld>
            <a:endParaRPr lang="en-AU"/>
          </a:p>
        </p:txBody>
      </p:sp>
      <p:sp>
        <p:nvSpPr>
          <p:cNvPr id="6" name="Footer Placeholder 5">
            <a:extLst>
              <a:ext uri="{FF2B5EF4-FFF2-40B4-BE49-F238E27FC236}">
                <a16:creationId xmlns:a16="http://schemas.microsoft.com/office/drawing/2014/main" id="{58D6275B-7D78-C2DE-31FE-0C2CC24794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7BA9313-C86F-F87B-3741-AEE3F072D1D1}"/>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894448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15856-F0AB-56B5-BD98-57810EED58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987A74BD-4349-19E0-431D-8899C9B137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C09018E4-FE4E-963A-A372-8FF2993F1B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171D85-A2C7-2BA8-45B6-F761AF7901E9}"/>
              </a:ext>
            </a:extLst>
          </p:cNvPr>
          <p:cNvSpPr>
            <a:spLocks noGrp="1"/>
          </p:cNvSpPr>
          <p:nvPr>
            <p:ph type="dt" sz="half" idx="10"/>
          </p:nvPr>
        </p:nvSpPr>
        <p:spPr/>
        <p:txBody>
          <a:bodyPr/>
          <a:lstStyle/>
          <a:p>
            <a:fld id="{1BB67406-7D6A-427B-AE15-EA86D49A46C9}" type="datetimeFigureOut">
              <a:rPr lang="en-AU" smtClean="0"/>
              <a:t>3/11/2025</a:t>
            </a:fld>
            <a:endParaRPr lang="en-AU"/>
          </a:p>
        </p:txBody>
      </p:sp>
      <p:sp>
        <p:nvSpPr>
          <p:cNvPr id="6" name="Footer Placeholder 5">
            <a:extLst>
              <a:ext uri="{FF2B5EF4-FFF2-40B4-BE49-F238E27FC236}">
                <a16:creationId xmlns:a16="http://schemas.microsoft.com/office/drawing/2014/main" id="{B6B167D4-1A0A-BA70-330D-3FF1004FE0DD}"/>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572802A-72F4-775F-7C84-9B2F5770F435}"/>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7613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CF791-333B-3959-5EB7-74857A08161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E30ACA7-4517-BC5B-569C-29CDA754F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8472832-7FB6-BE62-8AC6-AC4630D92954}"/>
              </a:ext>
            </a:extLst>
          </p:cNvPr>
          <p:cNvSpPr>
            <a:spLocks noGrp="1"/>
          </p:cNvSpPr>
          <p:nvPr>
            <p:ph type="dt" sz="half" idx="10"/>
          </p:nvPr>
        </p:nvSpPr>
        <p:spPr/>
        <p:txBody>
          <a:bodyPr/>
          <a:lstStyle/>
          <a:p>
            <a:fld id="{1BB67406-7D6A-427B-AE15-EA86D49A46C9}" type="datetimeFigureOut">
              <a:rPr lang="en-AU" smtClean="0"/>
              <a:t>3/11/2025</a:t>
            </a:fld>
            <a:endParaRPr lang="en-AU"/>
          </a:p>
        </p:txBody>
      </p:sp>
      <p:sp>
        <p:nvSpPr>
          <p:cNvPr id="5" name="Footer Placeholder 4">
            <a:extLst>
              <a:ext uri="{FF2B5EF4-FFF2-40B4-BE49-F238E27FC236}">
                <a16:creationId xmlns:a16="http://schemas.microsoft.com/office/drawing/2014/main" id="{11ED29DE-BC8E-969C-246D-FAB1068D1F2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EA5BE22-884E-FBF3-A25E-96D41863467F}"/>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955697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444B66-AC16-CCAB-AFE8-29D6415A761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31ACECC-B4A9-B0D4-C662-26E4907132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5500766-BA84-C9DB-9E6F-3B62FB470ED9}"/>
              </a:ext>
            </a:extLst>
          </p:cNvPr>
          <p:cNvSpPr>
            <a:spLocks noGrp="1"/>
          </p:cNvSpPr>
          <p:nvPr>
            <p:ph type="dt" sz="half" idx="10"/>
          </p:nvPr>
        </p:nvSpPr>
        <p:spPr/>
        <p:txBody>
          <a:bodyPr/>
          <a:lstStyle/>
          <a:p>
            <a:fld id="{1BB67406-7D6A-427B-AE15-EA86D49A46C9}" type="datetimeFigureOut">
              <a:rPr lang="en-AU" smtClean="0"/>
              <a:t>3/11/2025</a:t>
            </a:fld>
            <a:endParaRPr lang="en-AU"/>
          </a:p>
        </p:txBody>
      </p:sp>
      <p:sp>
        <p:nvSpPr>
          <p:cNvPr id="5" name="Footer Placeholder 4">
            <a:extLst>
              <a:ext uri="{FF2B5EF4-FFF2-40B4-BE49-F238E27FC236}">
                <a16:creationId xmlns:a16="http://schemas.microsoft.com/office/drawing/2014/main" id="{A0361B9B-7BB2-B7BE-929B-53D8853D77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63AB2A3-A938-DC24-C96A-DF2004F89AD2}"/>
              </a:ext>
            </a:extLst>
          </p:cNvPr>
          <p:cNvSpPr>
            <a:spLocks noGrp="1"/>
          </p:cNvSpPr>
          <p:nvPr>
            <p:ph type="sldNum" sz="quarter" idx="12"/>
          </p:nvPr>
        </p:nvSpPr>
        <p:spPr/>
        <p:txBody>
          <a:bodyPr/>
          <a:lstStyle/>
          <a:p>
            <a:fld id="{72B5C574-5640-4986-AA8B-BE8048252EF2}" type="slidenum">
              <a:rPr lang="en-AU" smtClean="0"/>
              <a:t>‹#›</a:t>
            </a:fld>
            <a:endParaRPr lang="en-AU"/>
          </a:p>
        </p:txBody>
      </p:sp>
    </p:spTree>
    <p:extLst>
      <p:ext uri="{BB962C8B-B14F-4D97-AF65-F5344CB8AC3E}">
        <p14:creationId xmlns:p14="http://schemas.microsoft.com/office/powerpoint/2010/main" val="2042973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3CF8-4CC4-7F3B-2E2C-B754C2E0B9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DD47C4A4-F523-ACA9-5C84-1EB3B80F5B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CC56B62-F469-5355-6292-CF3055CB002C}"/>
              </a:ext>
            </a:extLst>
          </p:cNvPr>
          <p:cNvSpPr>
            <a:spLocks noGrp="1"/>
          </p:cNvSpPr>
          <p:nvPr>
            <p:ph type="dt" sz="half" idx="10"/>
          </p:nvPr>
        </p:nvSpPr>
        <p:spPr/>
        <p:txBody>
          <a:bodyPr/>
          <a:lstStyle/>
          <a:p>
            <a:fld id="{BFAA40DC-3820-4F90-B4E8-98BE2140A65D}" type="datetimeFigureOut">
              <a:rPr lang="en-AU" smtClean="0"/>
              <a:t>3/11/2025</a:t>
            </a:fld>
            <a:endParaRPr lang="en-AU"/>
          </a:p>
        </p:txBody>
      </p:sp>
      <p:sp>
        <p:nvSpPr>
          <p:cNvPr id="5" name="Footer Placeholder 4">
            <a:extLst>
              <a:ext uri="{FF2B5EF4-FFF2-40B4-BE49-F238E27FC236}">
                <a16:creationId xmlns:a16="http://schemas.microsoft.com/office/drawing/2014/main" id="{07B6D681-D058-06A0-CFA9-1ACBCF9DA98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5491BDF-B5C2-115A-032D-5C46CBD97B88}"/>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1931865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62C67-E368-7D38-83A4-DC56A3CE481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06983C6-8621-2FAD-A749-9E13A6E8240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1A0925-44BC-4207-88BC-094591F65504}"/>
              </a:ext>
            </a:extLst>
          </p:cNvPr>
          <p:cNvSpPr>
            <a:spLocks noGrp="1"/>
          </p:cNvSpPr>
          <p:nvPr>
            <p:ph type="dt" sz="half" idx="10"/>
          </p:nvPr>
        </p:nvSpPr>
        <p:spPr/>
        <p:txBody>
          <a:bodyPr/>
          <a:lstStyle/>
          <a:p>
            <a:fld id="{BFAA40DC-3820-4F90-B4E8-98BE2140A65D}" type="datetimeFigureOut">
              <a:rPr lang="en-AU" smtClean="0"/>
              <a:t>3/11/2025</a:t>
            </a:fld>
            <a:endParaRPr lang="en-AU"/>
          </a:p>
        </p:txBody>
      </p:sp>
      <p:sp>
        <p:nvSpPr>
          <p:cNvPr id="5" name="Footer Placeholder 4">
            <a:extLst>
              <a:ext uri="{FF2B5EF4-FFF2-40B4-BE49-F238E27FC236}">
                <a16:creationId xmlns:a16="http://schemas.microsoft.com/office/drawing/2014/main" id="{88163BBE-E6DD-4BA0-5A98-015DA3DCEBB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0B556D0-7775-3B39-DE7E-B43E5937F23A}"/>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687671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96912-D2E1-9F64-1372-FD29BECA18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CCB3F36E-92D4-F7A9-5611-D4EBA0BE88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A57A2-4AEF-2382-EDA9-9845CA39B6F5}"/>
              </a:ext>
            </a:extLst>
          </p:cNvPr>
          <p:cNvSpPr>
            <a:spLocks noGrp="1"/>
          </p:cNvSpPr>
          <p:nvPr>
            <p:ph type="dt" sz="half" idx="10"/>
          </p:nvPr>
        </p:nvSpPr>
        <p:spPr/>
        <p:txBody>
          <a:bodyPr/>
          <a:lstStyle/>
          <a:p>
            <a:fld id="{BFAA40DC-3820-4F90-B4E8-98BE2140A65D}" type="datetimeFigureOut">
              <a:rPr lang="en-AU" smtClean="0"/>
              <a:t>3/11/2025</a:t>
            </a:fld>
            <a:endParaRPr lang="en-AU"/>
          </a:p>
        </p:txBody>
      </p:sp>
      <p:sp>
        <p:nvSpPr>
          <p:cNvPr id="5" name="Footer Placeholder 4">
            <a:extLst>
              <a:ext uri="{FF2B5EF4-FFF2-40B4-BE49-F238E27FC236}">
                <a16:creationId xmlns:a16="http://schemas.microsoft.com/office/drawing/2014/main" id="{A6F37D0E-8F76-6E7D-576B-3044ADA89E4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D82D88E-0EE8-C9D0-7C68-6610F7CEA951}"/>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169594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A8EEF-DD28-69EB-29C5-D19A23E2AE8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9C7F8B3-1006-F7DE-14E9-62BEEF0BC3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079AB7C-879B-50DC-E53A-4393B966D1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0D7845-F396-BCEB-3205-F5CB38CB2530}"/>
              </a:ext>
            </a:extLst>
          </p:cNvPr>
          <p:cNvSpPr>
            <a:spLocks noGrp="1"/>
          </p:cNvSpPr>
          <p:nvPr>
            <p:ph type="dt" sz="half" idx="10"/>
          </p:nvPr>
        </p:nvSpPr>
        <p:spPr/>
        <p:txBody>
          <a:bodyPr/>
          <a:lstStyle/>
          <a:p>
            <a:fld id="{BFAA40DC-3820-4F90-B4E8-98BE2140A65D}" type="datetimeFigureOut">
              <a:rPr lang="en-AU" smtClean="0"/>
              <a:t>3/11/2025</a:t>
            </a:fld>
            <a:endParaRPr lang="en-AU"/>
          </a:p>
        </p:txBody>
      </p:sp>
      <p:sp>
        <p:nvSpPr>
          <p:cNvPr id="6" name="Footer Placeholder 5">
            <a:extLst>
              <a:ext uri="{FF2B5EF4-FFF2-40B4-BE49-F238E27FC236}">
                <a16:creationId xmlns:a16="http://schemas.microsoft.com/office/drawing/2014/main" id="{3BDFD3CE-E9A4-DBF3-1F0E-201F7D7F870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F8F1D0-0AD2-C539-20D2-851B13FB1D5D}"/>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204724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249C5-0226-85F6-8D4F-D4EA9199BD3E}"/>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BF293AD-8E77-DFCC-2C3E-8937176F9D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4B92EC-30B6-5005-98C8-910D96DBBD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41EC2EA1-CEE9-87F1-74CA-7EA588BF2B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4F0A23-C285-3B5E-0EF8-4DF4263F0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72763897-C5FE-C3C3-0CDA-105871814ACD}"/>
              </a:ext>
            </a:extLst>
          </p:cNvPr>
          <p:cNvSpPr>
            <a:spLocks noGrp="1"/>
          </p:cNvSpPr>
          <p:nvPr>
            <p:ph type="dt" sz="half" idx="10"/>
          </p:nvPr>
        </p:nvSpPr>
        <p:spPr/>
        <p:txBody>
          <a:bodyPr/>
          <a:lstStyle/>
          <a:p>
            <a:fld id="{BFAA40DC-3820-4F90-B4E8-98BE2140A65D}" type="datetimeFigureOut">
              <a:rPr lang="en-AU" smtClean="0"/>
              <a:t>3/11/2025</a:t>
            </a:fld>
            <a:endParaRPr lang="en-AU"/>
          </a:p>
        </p:txBody>
      </p:sp>
      <p:sp>
        <p:nvSpPr>
          <p:cNvPr id="8" name="Footer Placeholder 7">
            <a:extLst>
              <a:ext uri="{FF2B5EF4-FFF2-40B4-BE49-F238E27FC236}">
                <a16:creationId xmlns:a16="http://schemas.microsoft.com/office/drawing/2014/main" id="{C76D7EC9-F5EC-C2D4-DFE1-05F4CA0D1B20}"/>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5CEC484-2B60-830F-28B9-0BF2FCAECAF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06584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55B2-54AC-E8D5-3367-D1C2415C822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CE7327B-BCFB-7F1B-0D11-15CDAFA5E939}"/>
              </a:ext>
            </a:extLst>
          </p:cNvPr>
          <p:cNvSpPr>
            <a:spLocks noGrp="1"/>
          </p:cNvSpPr>
          <p:nvPr>
            <p:ph type="dt" sz="half" idx="10"/>
          </p:nvPr>
        </p:nvSpPr>
        <p:spPr/>
        <p:txBody>
          <a:bodyPr/>
          <a:lstStyle/>
          <a:p>
            <a:fld id="{BFAA40DC-3820-4F90-B4E8-98BE2140A65D}" type="datetimeFigureOut">
              <a:rPr lang="en-AU" smtClean="0"/>
              <a:t>3/11/2025</a:t>
            </a:fld>
            <a:endParaRPr lang="en-AU"/>
          </a:p>
        </p:txBody>
      </p:sp>
      <p:sp>
        <p:nvSpPr>
          <p:cNvPr id="4" name="Footer Placeholder 3">
            <a:extLst>
              <a:ext uri="{FF2B5EF4-FFF2-40B4-BE49-F238E27FC236}">
                <a16:creationId xmlns:a16="http://schemas.microsoft.com/office/drawing/2014/main" id="{AACEA2D0-8DDC-C686-66FD-4DE83C549221}"/>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480BFAB-E28F-508B-19B8-6522D8ACFABF}"/>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0449621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769272-1C68-4E9F-DF2B-EFBD432E16F1}"/>
              </a:ext>
            </a:extLst>
          </p:cNvPr>
          <p:cNvSpPr>
            <a:spLocks noGrp="1"/>
          </p:cNvSpPr>
          <p:nvPr>
            <p:ph type="dt" sz="half" idx="10"/>
          </p:nvPr>
        </p:nvSpPr>
        <p:spPr/>
        <p:txBody>
          <a:bodyPr/>
          <a:lstStyle/>
          <a:p>
            <a:fld id="{BFAA40DC-3820-4F90-B4E8-98BE2140A65D}" type="datetimeFigureOut">
              <a:rPr lang="en-AU" smtClean="0"/>
              <a:t>3/11/2025</a:t>
            </a:fld>
            <a:endParaRPr lang="en-AU"/>
          </a:p>
        </p:txBody>
      </p:sp>
      <p:sp>
        <p:nvSpPr>
          <p:cNvPr id="3" name="Footer Placeholder 2">
            <a:extLst>
              <a:ext uri="{FF2B5EF4-FFF2-40B4-BE49-F238E27FC236}">
                <a16:creationId xmlns:a16="http://schemas.microsoft.com/office/drawing/2014/main" id="{9F2DC98D-0E86-D36E-F380-6954CD1E0BF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AAA1A426-B4F3-BBC6-83AE-7CC2B62FB732}"/>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8936678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50BF-D428-3081-57B1-8789F77356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E65AD68-6E43-EC2D-C33D-9C8C408CC5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607F6F4-D743-9E3B-ECD3-FC039ED7A9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4F5F1-6B2A-22C2-ECEA-5177C220ADF5}"/>
              </a:ext>
            </a:extLst>
          </p:cNvPr>
          <p:cNvSpPr>
            <a:spLocks noGrp="1"/>
          </p:cNvSpPr>
          <p:nvPr>
            <p:ph type="dt" sz="half" idx="10"/>
          </p:nvPr>
        </p:nvSpPr>
        <p:spPr/>
        <p:txBody>
          <a:bodyPr/>
          <a:lstStyle/>
          <a:p>
            <a:fld id="{BFAA40DC-3820-4F90-B4E8-98BE2140A65D}" type="datetimeFigureOut">
              <a:rPr lang="en-AU" smtClean="0"/>
              <a:t>3/11/2025</a:t>
            </a:fld>
            <a:endParaRPr lang="en-AU"/>
          </a:p>
        </p:txBody>
      </p:sp>
      <p:sp>
        <p:nvSpPr>
          <p:cNvPr id="6" name="Footer Placeholder 5">
            <a:extLst>
              <a:ext uri="{FF2B5EF4-FFF2-40B4-BE49-F238E27FC236}">
                <a16:creationId xmlns:a16="http://schemas.microsoft.com/office/drawing/2014/main" id="{790F1728-E389-E41B-E406-1E97CFE6A5D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A0B1710-9C83-7478-4B35-7F8EEFEF0033}"/>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12690949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26ED2-C254-312D-15C0-846C33DE56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5BD8503-8FCB-7F53-63D6-495FC6DA09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35F4EB0-E8B0-EA92-3CF8-6A5D1F5C74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7D7A35-CE5F-ECE8-2441-58A2C920217D}"/>
              </a:ext>
            </a:extLst>
          </p:cNvPr>
          <p:cNvSpPr>
            <a:spLocks noGrp="1"/>
          </p:cNvSpPr>
          <p:nvPr>
            <p:ph type="dt" sz="half" idx="10"/>
          </p:nvPr>
        </p:nvSpPr>
        <p:spPr/>
        <p:txBody>
          <a:bodyPr/>
          <a:lstStyle/>
          <a:p>
            <a:fld id="{BFAA40DC-3820-4F90-B4E8-98BE2140A65D}" type="datetimeFigureOut">
              <a:rPr lang="en-AU" smtClean="0"/>
              <a:t>3/11/2025</a:t>
            </a:fld>
            <a:endParaRPr lang="en-AU"/>
          </a:p>
        </p:txBody>
      </p:sp>
      <p:sp>
        <p:nvSpPr>
          <p:cNvPr id="6" name="Footer Placeholder 5">
            <a:extLst>
              <a:ext uri="{FF2B5EF4-FFF2-40B4-BE49-F238E27FC236}">
                <a16:creationId xmlns:a16="http://schemas.microsoft.com/office/drawing/2014/main" id="{97D0283E-7CC6-0CCE-C2FC-702F78F9062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7E77FBD-6EC1-3B80-4A79-3B5A0E2E3B8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35628232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E148A-761D-E27D-E888-B7E27FD8A10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5B74B11-2215-EBF3-BEA3-EF320EE386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767CD92-D758-240E-A2D2-4E195BC7FDA4}"/>
              </a:ext>
            </a:extLst>
          </p:cNvPr>
          <p:cNvSpPr>
            <a:spLocks noGrp="1"/>
          </p:cNvSpPr>
          <p:nvPr>
            <p:ph type="dt" sz="half" idx="10"/>
          </p:nvPr>
        </p:nvSpPr>
        <p:spPr/>
        <p:txBody>
          <a:bodyPr/>
          <a:lstStyle/>
          <a:p>
            <a:fld id="{BFAA40DC-3820-4F90-B4E8-98BE2140A65D}" type="datetimeFigureOut">
              <a:rPr lang="en-AU" smtClean="0"/>
              <a:t>3/11/2025</a:t>
            </a:fld>
            <a:endParaRPr lang="en-AU"/>
          </a:p>
        </p:txBody>
      </p:sp>
      <p:sp>
        <p:nvSpPr>
          <p:cNvPr id="5" name="Footer Placeholder 4">
            <a:extLst>
              <a:ext uri="{FF2B5EF4-FFF2-40B4-BE49-F238E27FC236}">
                <a16:creationId xmlns:a16="http://schemas.microsoft.com/office/drawing/2014/main" id="{CCDB3A7E-35BE-57C3-5A4F-F3FB5F4DA79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B917621-F8C1-F075-FE92-FD0DDB6198E6}"/>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9169839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BAFC27C-709B-17D0-FA2E-D84DCAB7FA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19340E5-47C9-4263-1E76-9BE55624B2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99996FD-B031-5E26-AF28-582721D53E74}"/>
              </a:ext>
            </a:extLst>
          </p:cNvPr>
          <p:cNvSpPr>
            <a:spLocks noGrp="1"/>
          </p:cNvSpPr>
          <p:nvPr>
            <p:ph type="dt" sz="half" idx="10"/>
          </p:nvPr>
        </p:nvSpPr>
        <p:spPr/>
        <p:txBody>
          <a:bodyPr/>
          <a:lstStyle/>
          <a:p>
            <a:fld id="{BFAA40DC-3820-4F90-B4E8-98BE2140A65D}" type="datetimeFigureOut">
              <a:rPr lang="en-AU" smtClean="0"/>
              <a:t>3/11/2025</a:t>
            </a:fld>
            <a:endParaRPr lang="en-AU"/>
          </a:p>
        </p:txBody>
      </p:sp>
      <p:sp>
        <p:nvSpPr>
          <p:cNvPr id="5" name="Footer Placeholder 4">
            <a:extLst>
              <a:ext uri="{FF2B5EF4-FFF2-40B4-BE49-F238E27FC236}">
                <a16:creationId xmlns:a16="http://schemas.microsoft.com/office/drawing/2014/main" id="{8C19D959-5F65-A253-A7EB-99402547BC7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98B7ADB-FEDC-6841-0342-4A29EDFCF457}"/>
              </a:ext>
            </a:extLst>
          </p:cNvPr>
          <p:cNvSpPr>
            <a:spLocks noGrp="1"/>
          </p:cNvSpPr>
          <p:nvPr>
            <p:ph type="sldNum" sz="quarter" idx="12"/>
          </p:nvPr>
        </p:nvSpPr>
        <p:spPr/>
        <p:txBody>
          <a:bodyPr/>
          <a:lstStyle/>
          <a:p>
            <a:fld id="{504F4E00-A0CE-455C-B0DA-A2CE083CA5E3}" type="slidenum">
              <a:rPr lang="en-AU" smtClean="0"/>
              <a:t>‹#›</a:t>
            </a:fld>
            <a:endParaRPr lang="en-AU"/>
          </a:p>
        </p:txBody>
      </p:sp>
    </p:spTree>
    <p:extLst>
      <p:ext uri="{BB962C8B-B14F-4D97-AF65-F5344CB8AC3E}">
        <p14:creationId xmlns:p14="http://schemas.microsoft.com/office/powerpoint/2010/main" val="2527860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CC3005-B647-9E32-CC60-5191277030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1E7C51E-6DC2-39F3-9212-D582E0A9B5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90B9BBC-D295-7A76-2B27-6B12AD3F6F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B67406-7D6A-427B-AE15-EA86D49A46C9}" type="datetimeFigureOut">
              <a:rPr lang="en-AU" smtClean="0"/>
              <a:t>3/11/2025</a:t>
            </a:fld>
            <a:endParaRPr lang="en-AU"/>
          </a:p>
        </p:txBody>
      </p:sp>
      <p:sp>
        <p:nvSpPr>
          <p:cNvPr id="5" name="Footer Placeholder 4">
            <a:extLst>
              <a:ext uri="{FF2B5EF4-FFF2-40B4-BE49-F238E27FC236}">
                <a16:creationId xmlns:a16="http://schemas.microsoft.com/office/drawing/2014/main" id="{D88185DA-FDEE-FA5B-E9B0-C02631270C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81860BB-9B5C-C732-6BD6-2C0DFC8EE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B5C574-5640-4986-AA8B-BE8048252EF2}" type="slidenum">
              <a:rPr lang="en-AU" smtClean="0"/>
              <a:t>‹#›</a:t>
            </a:fld>
            <a:endParaRPr lang="en-AU"/>
          </a:p>
        </p:txBody>
      </p:sp>
    </p:spTree>
    <p:extLst>
      <p:ext uri="{BB962C8B-B14F-4D97-AF65-F5344CB8AC3E}">
        <p14:creationId xmlns:p14="http://schemas.microsoft.com/office/powerpoint/2010/main" val="13346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DDAB3A-0A22-D024-CB1E-FB00658BEB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E90D3B34-6582-BD11-4D42-366502C704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1D8C151-0A35-D9DB-7435-13417BC8F3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AA40DC-3820-4F90-B4E8-98BE2140A65D}" type="datetimeFigureOut">
              <a:rPr lang="en-AU" smtClean="0"/>
              <a:t>3/11/2025</a:t>
            </a:fld>
            <a:endParaRPr lang="en-AU"/>
          </a:p>
        </p:txBody>
      </p:sp>
      <p:sp>
        <p:nvSpPr>
          <p:cNvPr id="5" name="Footer Placeholder 4">
            <a:extLst>
              <a:ext uri="{FF2B5EF4-FFF2-40B4-BE49-F238E27FC236}">
                <a16:creationId xmlns:a16="http://schemas.microsoft.com/office/drawing/2014/main" id="{4B2A9709-41CF-642F-7858-53BE89DAE6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9752F23B-D3DD-D490-A64F-7E733F664E5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F4E00-A0CE-455C-B0DA-A2CE083CA5E3}" type="slidenum">
              <a:rPr lang="en-AU" smtClean="0"/>
              <a:t>‹#›</a:t>
            </a:fld>
            <a:endParaRPr lang="en-AU"/>
          </a:p>
        </p:txBody>
      </p:sp>
    </p:spTree>
    <p:extLst>
      <p:ext uri="{BB962C8B-B14F-4D97-AF65-F5344CB8AC3E}">
        <p14:creationId xmlns:p14="http://schemas.microsoft.com/office/powerpoint/2010/main" val="16415423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teams.microsoft.com/l/meetup-join/19%3ameeting_YjkwYzFkYWUtZGU4OS00Y2FiLTkyNDEtZmQ3NjczMjBjOWVk%40thread.v2/0?context=%7b%22Tid%22%3a%22e8911c26-cf9f-4a9c-878e-527807be8791%22%2c%22Oid%22%3a%229506d58e-77d8-417d-a0ac-cbcbd8f071a2%22%7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teams.microsoft.com/l/meetup-join/19%3ameeting_ODRlOTRmNjItNjlhYi00M2JlLTgxNWEtNzlkMjE4N2U4NTc3%40thread.v2/0?context=%7b%22Tid%22%3a%22e8911c26-cf9f-4a9c-878e-527807be8791%22%2c%22Oid%22%3a%229506d58e-77d8-417d-a0ac-cbcbd8f071a2%22%7d"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teams.microsoft.com/l/meetup-join/19%3ameeting_YWYwNWU5MjgtYzNhZS00NmJiLTljZWUtMGU5YmZmNmYwMDE4%40thread.v2/0?context=%7b%22Tid%22%3a%22e8911c26-cf9f-4a9c-878e-527807be8791%22%2c%22Oid%22%3a%229506d58e-77d8-417d-a0ac-cbcbd8f071a2%22%7d"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teams.microsoft.com/l/meetup-join/19%3ameeting_NzA2YTNhYWEtNDkxYy00ODg3LTg5ZjYtNTQ2NTU2YmRiNTNi%40thread.v2/0?context=%7b%22Tid%22%3a%22e8911c26-cf9f-4a9c-878e-527807be8791%22%2c%22Oid%22%3a%229506d58e-77d8-417d-a0ac-cbcbd8f071a2%22%7d"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linkedin.com/in/farshid-keivanian" TargetMode="External"/><Relationship Id="rId2" Type="http://schemas.openxmlformats.org/officeDocument/2006/relationships/image" Target="../media/image3.jpeg"/><Relationship Id="rId1" Type="http://schemas.openxmlformats.org/officeDocument/2006/relationships/slideLayout" Target="../slideLayouts/slideLayout13.xml"/><Relationship Id="rId4" Type="http://schemas.openxmlformats.org/officeDocument/2006/relationships/hyperlink" Target="https://github.com/FarshidKeivani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F876F03-8BAA-72AB-E62A-1CEA6868C9B9}"/>
              </a:ext>
            </a:extLst>
          </p:cNvPr>
          <p:cNvSpPr>
            <a:spLocks noGrp="1"/>
          </p:cNvSpPr>
          <p:nvPr>
            <p:ph type="ctrTitle"/>
          </p:nvPr>
        </p:nvSpPr>
        <p:spPr>
          <a:xfrm>
            <a:off x="3063992" y="1407171"/>
            <a:ext cx="8737863" cy="3105506"/>
          </a:xfrm>
        </p:spPr>
        <p:txBody>
          <a:bodyPr anchor="b">
            <a:noAutofit/>
          </a:bodyPr>
          <a:lstStyle/>
          <a:p>
            <a:pPr algn="l">
              <a:lnSpc>
                <a:spcPct val="150000"/>
              </a:lnSpc>
            </a:pPr>
            <a:r>
              <a:rPr lang="en-US" sz="4800" dirty="0">
                <a:latin typeface="Calibir"/>
              </a:rPr>
              <a:t>Introduction to Software Engineering (ISE102)</a:t>
            </a:r>
            <a:br>
              <a:rPr lang="en-US" sz="4800" dirty="0">
                <a:latin typeface="Calibir"/>
              </a:rPr>
            </a:br>
            <a:r>
              <a:rPr lang="en-US" sz="4800" dirty="0">
                <a:latin typeface="Calibir"/>
              </a:rPr>
              <a:t>Showcase Presentation</a:t>
            </a:r>
            <a:endParaRPr lang="en-AU" sz="4800" dirty="0">
              <a:latin typeface="Calibir"/>
            </a:endParaRPr>
          </a:p>
        </p:txBody>
      </p:sp>
      <p:pic>
        <p:nvPicPr>
          <p:cNvPr id="6" name="Picture 5" descr="A person wearing glasses and a blue shirt&#10;&#10;AI-generated content may be incorrect.">
            <a:extLst>
              <a:ext uri="{FF2B5EF4-FFF2-40B4-BE49-F238E27FC236}">
                <a16:creationId xmlns:a16="http://schemas.microsoft.com/office/drawing/2014/main" id="{6073E74C-6F0F-4134-F922-9D911600FF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390145" y="1199407"/>
            <a:ext cx="2673847" cy="3521034"/>
          </a:xfrm>
          <a:prstGeom prst="rect">
            <a:avLst/>
          </a:prstGeom>
        </p:spPr>
      </p:pic>
    </p:spTree>
    <p:extLst>
      <p:ext uri="{BB962C8B-B14F-4D97-AF65-F5344CB8AC3E}">
        <p14:creationId xmlns:p14="http://schemas.microsoft.com/office/powerpoint/2010/main" val="2769940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DA366-6BE2-EF72-FFA9-3FC1C60CA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5B7095-A95E-A4AA-C9AB-75AB5D7B3193}"/>
              </a:ext>
            </a:extLst>
          </p:cNvPr>
          <p:cNvSpPr>
            <a:spLocks noGrp="1"/>
          </p:cNvSpPr>
          <p:nvPr>
            <p:ph type="title"/>
          </p:nvPr>
        </p:nvSpPr>
        <p:spPr>
          <a:xfrm>
            <a:off x="0" y="1"/>
            <a:ext cx="12192000" cy="672661"/>
          </a:xfrm>
        </p:spPr>
        <p:txBody>
          <a:bodyPr anchor="b">
            <a:normAutofit/>
          </a:bodyPr>
          <a:lstStyle/>
          <a:p>
            <a:r>
              <a:rPr lang="en-US" sz="4000" dirty="0">
                <a:latin typeface="Calibir"/>
              </a:rPr>
              <a:t>Showcase Presentation</a:t>
            </a:r>
            <a:endParaRPr lang="en-AU" sz="4000" b="1" dirty="0">
              <a:latin typeface="Calibir"/>
            </a:endParaRPr>
          </a:p>
        </p:txBody>
      </p:sp>
      <p:sp>
        <p:nvSpPr>
          <p:cNvPr id="4" name="TextBox 3">
            <a:extLst>
              <a:ext uri="{FF2B5EF4-FFF2-40B4-BE49-F238E27FC236}">
                <a16:creationId xmlns:a16="http://schemas.microsoft.com/office/drawing/2014/main" id="{8F27E07D-3152-877C-5DB6-99289A67CE5B}"/>
              </a:ext>
            </a:extLst>
          </p:cNvPr>
          <p:cNvSpPr txBox="1"/>
          <p:nvPr/>
        </p:nvSpPr>
        <p:spPr>
          <a:xfrm>
            <a:off x="-1" y="1387367"/>
            <a:ext cx="12191999" cy="4549835"/>
          </a:xfrm>
          <a:prstGeom prst="rect">
            <a:avLst/>
          </a:prstGeom>
          <a:noFill/>
        </p:spPr>
        <p:txBody>
          <a:bodyPr wrap="square">
            <a:spAutoFit/>
          </a:bodyPr>
          <a:lstStyle/>
          <a:p>
            <a:pPr marL="514350" indent="-514350">
              <a:lnSpc>
                <a:spcPct val="150000"/>
              </a:lnSpc>
              <a:buFont typeface="+mj-lt"/>
              <a:buAutoNum type="arabicPeriod"/>
            </a:pPr>
            <a:r>
              <a:rPr lang="en-US" sz="2800" kern="100" dirty="0">
                <a:latin typeface="Calibir"/>
                <a:ea typeface="Aptos" panose="020B0004020202020204" pitchFamily="34" charset="0"/>
                <a:cs typeface="Arial" panose="020B0604020202020204" pitchFamily="34" charset="0"/>
              </a:rPr>
              <a:t>Link to join online presentation 28</a:t>
            </a:r>
            <a:r>
              <a:rPr lang="en-US" sz="2800" kern="100" baseline="30000" dirty="0">
                <a:latin typeface="Calibir"/>
                <a:ea typeface="Aptos" panose="020B0004020202020204" pitchFamily="34" charset="0"/>
                <a:cs typeface="Arial" panose="020B0604020202020204" pitchFamily="34" charset="0"/>
              </a:rPr>
              <a:t>th</a:t>
            </a:r>
            <a:r>
              <a:rPr lang="en-US" sz="2800" kern="100" dirty="0">
                <a:latin typeface="Calibir"/>
                <a:ea typeface="Aptos" panose="020B0004020202020204" pitchFamily="34" charset="0"/>
                <a:cs typeface="Arial" panose="020B0604020202020204" pitchFamily="34" charset="0"/>
              </a:rPr>
              <a:t> Oct 6:15 PM – 8:15 PM</a:t>
            </a:r>
          </a:p>
          <a:p>
            <a:pPr marL="514350" indent="-514350">
              <a:lnSpc>
                <a:spcPct val="150000"/>
              </a:lnSpc>
              <a:buFont typeface="+mj-lt"/>
              <a:buAutoNum type="arabicPeriod"/>
            </a:pPr>
            <a:r>
              <a:rPr lang="en-US" sz="2800" kern="100" dirty="0">
                <a:latin typeface="Calibir"/>
                <a:ea typeface="Aptos" panose="020B0004020202020204" pitchFamily="34" charset="0"/>
                <a:cs typeface="Arial" panose="020B0604020202020204" pitchFamily="34" charset="0"/>
              </a:rPr>
              <a:t>Link to join online presentation 31</a:t>
            </a:r>
            <a:r>
              <a:rPr lang="en-US" sz="2800" kern="100" baseline="30000" dirty="0">
                <a:latin typeface="Calibir"/>
                <a:ea typeface="Aptos" panose="020B0004020202020204" pitchFamily="34" charset="0"/>
                <a:cs typeface="Arial" panose="020B0604020202020204" pitchFamily="34" charset="0"/>
              </a:rPr>
              <a:t>st</a:t>
            </a:r>
            <a:r>
              <a:rPr lang="en-US" sz="2800" kern="100" dirty="0">
                <a:latin typeface="Calibir"/>
                <a:ea typeface="Aptos" panose="020B0004020202020204" pitchFamily="34" charset="0"/>
                <a:cs typeface="Arial" panose="020B0604020202020204" pitchFamily="34" charset="0"/>
              </a:rPr>
              <a:t> Oct 12 PM -  2PM</a:t>
            </a:r>
          </a:p>
          <a:p>
            <a:pPr marL="514350" indent="-514350">
              <a:lnSpc>
                <a:spcPct val="150000"/>
              </a:lnSpc>
              <a:buFont typeface="+mj-lt"/>
              <a:buAutoNum type="arabicPeriod"/>
            </a:pPr>
            <a:r>
              <a:rPr lang="en-US" sz="2800" kern="100" dirty="0">
                <a:latin typeface="Calibir"/>
                <a:ea typeface="Aptos" panose="020B0004020202020204" pitchFamily="34" charset="0"/>
                <a:cs typeface="Arial" panose="020B0604020202020204" pitchFamily="34" charset="0"/>
              </a:rPr>
              <a:t>Face-to-Face presentation 4</a:t>
            </a:r>
            <a:r>
              <a:rPr lang="en-US" sz="2800" kern="100" baseline="30000" dirty="0">
                <a:latin typeface="Calibir"/>
                <a:ea typeface="Aptos" panose="020B0004020202020204" pitchFamily="34" charset="0"/>
                <a:cs typeface="Arial" panose="020B0604020202020204" pitchFamily="34" charset="0"/>
              </a:rPr>
              <a:t>th</a:t>
            </a:r>
            <a:r>
              <a:rPr lang="en-US" sz="2800" kern="100" dirty="0">
                <a:latin typeface="Calibir"/>
                <a:ea typeface="Aptos" panose="020B0004020202020204" pitchFamily="34" charset="0"/>
                <a:cs typeface="Arial" panose="020B0604020202020204" pitchFamily="34" charset="0"/>
              </a:rPr>
              <a:t> Nov 4 PM – 6 PM with a link to join online if needed</a:t>
            </a:r>
          </a:p>
          <a:p>
            <a:pPr marL="514350" indent="-514350">
              <a:lnSpc>
                <a:spcPct val="150000"/>
              </a:lnSpc>
              <a:buFont typeface="+mj-lt"/>
              <a:buAutoNum type="arabicPeriod"/>
            </a:pPr>
            <a:r>
              <a:rPr lang="en-US" sz="2800" kern="100" dirty="0">
                <a:latin typeface="Calibir"/>
                <a:ea typeface="Aptos" panose="020B0004020202020204" pitchFamily="34" charset="0"/>
                <a:cs typeface="Arial" panose="020B0604020202020204" pitchFamily="34" charset="0"/>
              </a:rPr>
              <a:t>Face-to-Face presentation 7</a:t>
            </a:r>
            <a:r>
              <a:rPr lang="en-US" sz="2800" kern="100" baseline="30000" dirty="0">
                <a:latin typeface="Calibir"/>
                <a:ea typeface="Aptos" panose="020B0004020202020204" pitchFamily="34" charset="0"/>
                <a:cs typeface="Arial" panose="020B0604020202020204" pitchFamily="34" charset="0"/>
              </a:rPr>
              <a:t>th</a:t>
            </a:r>
            <a:r>
              <a:rPr lang="en-US" sz="2800" kern="100" dirty="0">
                <a:latin typeface="Calibir"/>
                <a:ea typeface="Aptos" panose="020B0004020202020204" pitchFamily="34" charset="0"/>
                <a:cs typeface="Arial" panose="020B0604020202020204" pitchFamily="34" charset="0"/>
              </a:rPr>
              <a:t> Nov 12 PM – 2PM with a link to join online if needed</a:t>
            </a:r>
          </a:p>
          <a:p>
            <a:pPr marL="514350" indent="-514350">
              <a:lnSpc>
                <a:spcPct val="150000"/>
              </a:lnSpc>
              <a:buFont typeface="+mj-lt"/>
              <a:buAutoNum type="arabicPeriod"/>
            </a:pPr>
            <a:r>
              <a:rPr lang="en-US" sz="2800" kern="100" dirty="0">
                <a:latin typeface="Calibir"/>
                <a:ea typeface="Aptos" panose="020B0004020202020204" pitchFamily="34" charset="0"/>
                <a:cs typeface="Arial" panose="020B0604020202020204" pitchFamily="34" charset="0"/>
              </a:rPr>
              <a:t>Questions and Answers about Presentation</a:t>
            </a:r>
          </a:p>
        </p:txBody>
      </p:sp>
    </p:spTree>
    <p:extLst>
      <p:ext uri="{BB962C8B-B14F-4D97-AF65-F5344CB8AC3E}">
        <p14:creationId xmlns:p14="http://schemas.microsoft.com/office/powerpoint/2010/main" val="3000910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5BDA7-0D0C-161A-B5A9-7678BB08E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8E84EE-1F2D-82A4-1346-637499CD8B87}"/>
              </a:ext>
            </a:extLst>
          </p:cNvPr>
          <p:cNvSpPr>
            <a:spLocks noGrp="1"/>
          </p:cNvSpPr>
          <p:nvPr>
            <p:ph type="title"/>
          </p:nvPr>
        </p:nvSpPr>
        <p:spPr>
          <a:xfrm>
            <a:off x="0" y="1"/>
            <a:ext cx="12192000" cy="756744"/>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Link to join online presentation 28th Oct 6:15 PM – 8:15 PM</a:t>
            </a:r>
          </a:p>
        </p:txBody>
      </p:sp>
      <p:sp>
        <p:nvSpPr>
          <p:cNvPr id="6" name="TextBox 5">
            <a:extLst>
              <a:ext uri="{FF2B5EF4-FFF2-40B4-BE49-F238E27FC236}">
                <a16:creationId xmlns:a16="http://schemas.microsoft.com/office/drawing/2014/main" id="{D3CC2F80-31AB-4993-813F-7BD5A913667E}"/>
              </a:ext>
            </a:extLst>
          </p:cNvPr>
          <p:cNvSpPr txBox="1"/>
          <p:nvPr/>
        </p:nvSpPr>
        <p:spPr>
          <a:xfrm>
            <a:off x="110359" y="756745"/>
            <a:ext cx="11971282" cy="671851"/>
          </a:xfrm>
          <a:prstGeom prst="rect">
            <a:avLst/>
          </a:prstGeom>
          <a:noFill/>
        </p:spPr>
        <p:txBody>
          <a:bodyPr wrap="square">
            <a:spAutoFit/>
          </a:bodyPr>
          <a:lstStyle/>
          <a:p>
            <a:pPr fontAlgn="base">
              <a:lnSpc>
                <a:spcPct val="150000"/>
              </a:lnSpc>
            </a:pPr>
            <a:r>
              <a:rPr lang="en-US" sz="2800" dirty="0">
                <a:latin typeface="Calibir"/>
              </a:rPr>
              <a:t>Here is the link for Tuesday 28</a:t>
            </a:r>
            <a:r>
              <a:rPr lang="en-US" sz="2800" baseline="30000" dirty="0">
                <a:latin typeface="Calibir"/>
              </a:rPr>
              <a:t>th</a:t>
            </a:r>
            <a:r>
              <a:rPr lang="en-US" sz="2800" dirty="0">
                <a:latin typeface="Calibir"/>
              </a:rPr>
              <a:t> Oct 6:15 PM – 8:15 PM</a:t>
            </a:r>
          </a:p>
        </p:txBody>
      </p:sp>
      <p:sp>
        <p:nvSpPr>
          <p:cNvPr id="7" name="Rectangle 3">
            <a:extLst>
              <a:ext uri="{FF2B5EF4-FFF2-40B4-BE49-F238E27FC236}">
                <a16:creationId xmlns:a16="http://schemas.microsoft.com/office/drawing/2014/main" id="{CE1D07C6-401D-E9EE-C23D-E9811D2DA1DD}"/>
              </a:ext>
            </a:extLst>
          </p:cNvPr>
          <p:cNvSpPr>
            <a:spLocks noChangeArrowheads="1"/>
          </p:cNvSpPr>
          <p:nvPr/>
        </p:nvSpPr>
        <p:spPr bwMode="auto">
          <a:xfrm>
            <a:off x="0" y="1730119"/>
            <a:ext cx="121920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accent4"/>
                </a:solidFill>
                <a:effectLst/>
                <a:latin typeface="Calibir"/>
                <a:hlinkClick r:id="rId2">
                  <a:extLst>
                    <a:ext uri="{A12FA001-AC4F-418D-AE19-62706E023703}">
                      <ahyp:hlinkClr xmlns:ahyp="http://schemas.microsoft.com/office/drawing/2018/hyperlinkcolor" val="tx"/>
                    </a:ext>
                  </a:extLst>
                </a:hlinkClick>
              </a:rPr>
              <a:t>Online Presentation FSD Tuesday 28th Oct (6:15 PM - 8:15 PM) | Meeting-Join | Microsoft Teams</a:t>
            </a:r>
            <a:endParaRPr kumimoji="0" lang="en-US" altLang="en-US" sz="2800" b="0" i="0" u="none" strike="noStrike" cap="none" normalizeH="0" baseline="0" dirty="0">
              <a:ln>
                <a:noFill/>
              </a:ln>
              <a:solidFill>
                <a:schemeClr val="accent4"/>
              </a:solidFill>
              <a:effectLst/>
              <a:latin typeface="Calibir"/>
            </a:endParaRPr>
          </a:p>
        </p:txBody>
      </p:sp>
      <p:sp>
        <p:nvSpPr>
          <p:cNvPr id="9" name="TextBox 8">
            <a:extLst>
              <a:ext uri="{FF2B5EF4-FFF2-40B4-BE49-F238E27FC236}">
                <a16:creationId xmlns:a16="http://schemas.microsoft.com/office/drawing/2014/main" id="{3B96E1D0-1263-2A51-9DDF-AF614B2E4C12}"/>
              </a:ext>
            </a:extLst>
          </p:cNvPr>
          <p:cNvSpPr txBox="1"/>
          <p:nvPr/>
        </p:nvSpPr>
        <p:spPr>
          <a:xfrm>
            <a:off x="0" y="2831670"/>
            <a:ext cx="6190592" cy="1754326"/>
          </a:xfrm>
          <a:prstGeom prst="rect">
            <a:avLst/>
          </a:prstGeom>
          <a:noFill/>
        </p:spPr>
        <p:txBody>
          <a:bodyPr wrap="square">
            <a:spAutoFit/>
          </a:bodyPr>
          <a:lstStyle/>
          <a:p>
            <a:r>
              <a:rPr lang="en-US" dirty="0">
                <a:hlinkClick r:id="rId2"/>
              </a:rPr>
              <a:t>https://teams.microsoft.com/l/meetup-join/19%3ameeting_YjkwYzFkYWUtZGU4OS00Y2FiLTkyNDEtZmQ3NjczMjBjOWVk%40thread.v2/0?context=%7b%22Tid%22%3a%22e8911c26-cf9f-4a9c-878e-527807be8791%22%2c%22Oid%22%3a%229506d58e-77d8-417d-a0ac-cbcbd8f071a2%22%7d</a:t>
            </a:r>
            <a:r>
              <a:rPr lang="en-US" dirty="0"/>
              <a:t> </a:t>
            </a:r>
          </a:p>
        </p:txBody>
      </p:sp>
    </p:spTree>
    <p:extLst>
      <p:ext uri="{BB962C8B-B14F-4D97-AF65-F5344CB8AC3E}">
        <p14:creationId xmlns:p14="http://schemas.microsoft.com/office/powerpoint/2010/main" val="4144146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13C61-1003-949B-92E5-9E5A2707A8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57669-FAB4-C292-A5F6-4EC9EE4ECC10}"/>
              </a:ext>
            </a:extLst>
          </p:cNvPr>
          <p:cNvSpPr>
            <a:spLocks noGrp="1"/>
          </p:cNvSpPr>
          <p:nvPr>
            <p:ph type="title"/>
          </p:nvPr>
        </p:nvSpPr>
        <p:spPr>
          <a:xfrm>
            <a:off x="0" y="1"/>
            <a:ext cx="12192000" cy="75674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Link to join online presentation 31st Oct 12 PM -  2PM</a:t>
            </a:r>
          </a:p>
        </p:txBody>
      </p:sp>
      <p:sp>
        <p:nvSpPr>
          <p:cNvPr id="6" name="TextBox 5">
            <a:extLst>
              <a:ext uri="{FF2B5EF4-FFF2-40B4-BE49-F238E27FC236}">
                <a16:creationId xmlns:a16="http://schemas.microsoft.com/office/drawing/2014/main" id="{B67D750C-ECCC-4D74-6534-47B205BB4C60}"/>
              </a:ext>
            </a:extLst>
          </p:cNvPr>
          <p:cNvSpPr txBox="1"/>
          <p:nvPr/>
        </p:nvSpPr>
        <p:spPr>
          <a:xfrm>
            <a:off x="110359" y="756745"/>
            <a:ext cx="11971282" cy="671851"/>
          </a:xfrm>
          <a:prstGeom prst="rect">
            <a:avLst/>
          </a:prstGeom>
          <a:noFill/>
        </p:spPr>
        <p:txBody>
          <a:bodyPr wrap="square">
            <a:spAutoFit/>
          </a:bodyPr>
          <a:lstStyle/>
          <a:p>
            <a:pPr fontAlgn="base">
              <a:lnSpc>
                <a:spcPct val="150000"/>
              </a:lnSpc>
            </a:pPr>
            <a:r>
              <a:rPr lang="en-US" sz="2800" dirty="0">
                <a:latin typeface="Calibir"/>
              </a:rPr>
              <a:t>Here is the link for Friday 31st Oct 12 PM – 2 PM</a:t>
            </a:r>
          </a:p>
        </p:txBody>
      </p:sp>
      <p:sp>
        <p:nvSpPr>
          <p:cNvPr id="9" name="TextBox 8">
            <a:extLst>
              <a:ext uri="{FF2B5EF4-FFF2-40B4-BE49-F238E27FC236}">
                <a16:creationId xmlns:a16="http://schemas.microsoft.com/office/drawing/2014/main" id="{89F0A179-D924-0040-5EE8-6BD867C7C3AD}"/>
              </a:ext>
            </a:extLst>
          </p:cNvPr>
          <p:cNvSpPr txBox="1"/>
          <p:nvPr/>
        </p:nvSpPr>
        <p:spPr>
          <a:xfrm>
            <a:off x="0" y="2831670"/>
            <a:ext cx="6190592" cy="1754326"/>
          </a:xfrm>
          <a:prstGeom prst="rect">
            <a:avLst/>
          </a:prstGeom>
          <a:noFill/>
        </p:spPr>
        <p:txBody>
          <a:bodyPr wrap="square">
            <a:spAutoFit/>
          </a:bodyPr>
          <a:lstStyle/>
          <a:p>
            <a:r>
              <a:rPr lang="en-US" dirty="0">
                <a:hlinkClick r:id="rId2"/>
              </a:rPr>
              <a:t>https://teams.microsoft.com/l/meetup-join/19%3ameeting_ODRlOTRmNjItNjlhYi00M2JlLTgxNWEtNzlkMjE4N2U4NTc3%40thread.v2/0?context=%7b%22Tid%22%3a%22e8911c26-cf9f-4a9c-878e-527807be8791%22%2c%22Oid%22%3a%229506d58e-77d8-417d-a0ac-cbcbd8f071a2%22%7d</a:t>
            </a:r>
            <a:r>
              <a:rPr lang="en-US" dirty="0"/>
              <a:t> </a:t>
            </a:r>
          </a:p>
        </p:txBody>
      </p:sp>
      <p:sp>
        <p:nvSpPr>
          <p:cNvPr id="4" name="Rectangle 1">
            <a:extLst>
              <a:ext uri="{FF2B5EF4-FFF2-40B4-BE49-F238E27FC236}">
                <a16:creationId xmlns:a16="http://schemas.microsoft.com/office/drawing/2014/main" id="{04B3752A-3F83-76B6-CBE1-8D428DCB92E0}"/>
              </a:ext>
            </a:extLst>
          </p:cNvPr>
          <p:cNvSpPr>
            <a:spLocks noChangeArrowheads="1"/>
          </p:cNvSpPr>
          <p:nvPr/>
        </p:nvSpPr>
        <p:spPr bwMode="auto">
          <a:xfrm>
            <a:off x="0" y="1653079"/>
            <a:ext cx="121920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accent4"/>
                </a:solidFill>
                <a:effectLst/>
                <a:latin typeface="Calibir"/>
                <a:hlinkClick r:id="rId2">
                  <a:extLst>
                    <a:ext uri="{A12FA001-AC4F-418D-AE19-62706E023703}">
                      <ahyp:hlinkClr xmlns:ahyp="http://schemas.microsoft.com/office/drawing/2018/hyperlinkcolor" val="tx"/>
                    </a:ext>
                  </a:extLst>
                </a:hlinkClick>
              </a:rPr>
              <a:t>Online Presentation FSD Friday 31st Oct (12 PM - 2 PM) | Meeting-Join | Microsoft Teams</a:t>
            </a:r>
            <a:endParaRPr kumimoji="0" lang="en-US" altLang="en-US" sz="2800" b="0" i="0" u="none" strike="noStrike" cap="none" normalizeH="0" baseline="0" dirty="0">
              <a:ln>
                <a:noFill/>
              </a:ln>
              <a:solidFill>
                <a:schemeClr val="accent4"/>
              </a:solidFill>
              <a:effectLst/>
              <a:latin typeface="Calibir"/>
            </a:endParaRPr>
          </a:p>
        </p:txBody>
      </p:sp>
    </p:spTree>
    <p:extLst>
      <p:ext uri="{BB962C8B-B14F-4D97-AF65-F5344CB8AC3E}">
        <p14:creationId xmlns:p14="http://schemas.microsoft.com/office/powerpoint/2010/main" val="2802393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AE607-FBB1-028F-F81B-85348233FD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6B02DA-37CF-E90B-358F-5CB97DD2F0AB}"/>
              </a:ext>
            </a:extLst>
          </p:cNvPr>
          <p:cNvSpPr>
            <a:spLocks noGrp="1"/>
          </p:cNvSpPr>
          <p:nvPr>
            <p:ph type="title"/>
          </p:nvPr>
        </p:nvSpPr>
        <p:spPr>
          <a:xfrm>
            <a:off x="0" y="1"/>
            <a:ext cx="12192000" cy="1040523"/>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Face-to-Face presentation 4th Nov 4 PM – 6 PM with a link to join online if needed</a:t>
            </a:r>
          </a:p>
        </p:txBody>
      </p:sp>
      <p:sp>
        <p:nvSpPr>
          <p:cNvPr id="6" name="TextBox 5">
            <a:extLst>
              <a:ext uri="{FF2B5EF4-FFF2-40B4-BE49-F238E27FC236}">
                <a16:creationId xmlns:a16="http://schemas.microsoft.com/office/drawing/2014/main" id="{4B2DAB80-8CC0-FCFC-B2CC-45DEA714DAB2}"/>
              </a:ext>
            </a:extLst>
          </p:cNvPr>
          <p:cNvSpPr txBox="1"/>
          <p:nvPr/>
        </p:nvSpPr>
        <p:spPr>
          <a:xfrm>
            <a:off x="0" y="1265008"/>
            <a:ext cx="11971282" cy="1318181"/>
          </a:xfrm>
          <a:prstGeom prst="rect">
            <a:avLst/>
          </a:prstGeom>
          <a:noFill/>
        </p:spPr>
        <p:txBody>
          <a:bodyPr wrap="square">
            <a:spAutoFit/>
          </a:bodyPr>
          <a:lstStyle/>
          <a:p>
            <a:pPr fontAlgn="base">
              <a:lnSpc>
                <a:spcPct val="150000"/>
              </a:lnSpc>
            </a:pPr>
            <a:r>
              <a:rPr lang="en-US" sz="2800" dirty="0">
                <a:latin typeface="Calibir"/>
              </a:rPr>
              <a:t>Tuesday 4</a:t>
            </a:r>
            <a:r>
              <a:rPr lang="en-US" sz="2800" baseline="30000" dirty="0">
                <a:latin typeface="Calibir"/>
              </a:rPr>
              <a:t>th</a:t>
            </a:r>
            <a:r>
              <a:rPr lang="en-US" sz="2800" dirty="0">
                <a:latin typeface="Calibir"/>
              </a:rPr>
              <a:t> Nov 4 – 6 PM is face-to-face presentation at CB11.B1.403. However, if needed here is the link to join online</a:t>
            </a:r>
          </a:p>
        </p:txBody>
      </p:sp>
      <p:sp>
        <p:nvSpPr>
          <p:cNvPr id="9" name="TextBox 8">
            <a:extLst>
              <a:ext uri="{FF2B5EF4-FFF2-40B4-BE49-F238E27FC236}">
                <a16:creationId xmlns:a16="http://schemas.microsoft.com/office/drawing/2014/main" id="{8635FAB5-8C22-E3F8-A369-09E4932B61AC}"/>
              </a:ext>
            </a:extLst>
          </p:cNvPr>
          <p:cNvSpPr txBox="1"/>
          <p:nvPr/>
        </p:nvSpPr>
        <p:spPr>
          <a:xfrm>
            <a:off x="21019" y="3798622"/>
            <a:ext cx="6190592" cy="1754326"/>
          </a:xfrm>
          <a:prstGeom prst="rect">
            <a:avLst/>
          </a:prstGeom>
          <a:noFill/>
        </p:spPr>
        <p:txBody>
          <a:bodyPr wrap="square">
            <a:spAutoFit/>
          </a:bodyPr>
          <a:lstStyle/>
          <a:p>
            <a:r>
              <a:rPr lang="en-US" dirty="0">
                <a:hlinkClick r:id="rId2"/>
              </a:rPr>
              <a:t>https://teams.microsoft.com/l/meetup-join/19%3ameeting_YWYwNWU5MjgtYzNhZS00NmJiLTljZWUtMGU5YmZmNmYwMDE4%40thread.v2/0?context=%7b%22Tid%22%3a%22e8911c26-cf9f-4a9c-878e-527807be8791%22%2c%22Oid%22%3a%229506d58e-77d8-417d-a0ac-cbcbd8f071a2%22%7d</a:t>
            </a:r>
            <a:r>
              <a:rPr lang="en-US" dirty="0"/>
              <a:t> </a:t>
            </a:r>
          </a:p>
        </p:txBody>
      </p:sp>
      <p:sp>
        <p:nvSpPr>
          <p:cNvPr id="3" name="Rectangle 1">
            <a:extLst>
              <a:ext uri="{FF2B5EF4-FFF2-40B4-BE49-F238E27FC236}">
                <a16:creationId xmlns:a16="http://schemas.microsoft.com/office/drawing/2014/main" id="{DE7FF9D3-4654-FF2B-C8BC-02D29853ABD4}"/>
              </a:ext>
            </a:extLst>
          </p:cNvPr>
          <p:cNvSpPr>
            <a:spLocks noChangeArrowheads="1"/>
          </p:cNvSpPr>
          <p:nvPr/>
        </p:nvSpPr>
        <p:spPr bwMode="auto">
          <a:xfrm>
            <a:off x="21019" y="2713852"/>
            <a:ext cx="121920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accent4"/>
                </a:solidFill>
                <a:effectLst/>
                <a:latin typeface="Calibir"/>
                <a:hlinkClick r:id="rId2">
                  <a:extLst>
                    <a:ext uri="{A12FA001-AC4F-418D-AE19-62706E023703}">
                      <ahyp:hlinkClr xmlns:ahyp="http://schemas.microsoft.com/office/drawing/2018/hyperlinkcolor" val="tx"/>
                    </a:ext>
                  </a:extLst>
                </a:hlinkClick>
              </a:rPr>
              <a:t>Tuesday 4th Nov 4 – 6 PM (Face-to-Face and Online) | Meeting-Join | Microsoft Teams</a:t>
            </a:r>
            <a:endParaRPr kumimoji="0" lang="en-US" altLang="en-US" sz="2800" b="0" i="0" u="none" strike="noStrike" cap="none" normalizeH="0" baseline="0" dirty="0">
              <a:ln>
                <a:noFill/>
              </a:ln>
              <a:solidFill>
                <a:schemeClr val="accent4"/>
              </a:solidFill>
              <a:effectLst/>
              <a:latin typeface="Calibir"/>
            </a:endParaRPr>
          </a:p>
        </p:txBody>
      </p:sp>
    </p:spTree>
    <p:extLst>
      <p:ext uri="{BB962C8B-B14F-4D97-AF65-F5344CB8AC3E}">
        <p14:creationId xmlns:p14="http://schemas.microsoft.com/office/powerpoint/2010/main" val="1929440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39C31-F20E-7CC7-4DE6-B2105C8E0A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BED798-0015-D3C1-C19C-C67D4F2B2424}"/>
              </a:ext>
            </a:extLst>
          </p:cNvPr>
          <p:cNvSpPr>
            <a:spLocks noGrp="1"/>
          </p:cNvSpPr>
          <p:nvPr>
            <p:ph type="title"/>
          </p:nvPr>
        </p:nvSpPr>
        <p:spPr>
          <a:xfrm>
            <a:off x="0" y="1"/>
            <a:ext cx="12192000" cy="1040523"/>
          </a:xfrm>
        </p:spPr>
        <p:txBody>
          <a:bodyPr anchor="b">
            <a:normAutofit fontScale="90000"/>
          </a:bodyPr>
          <a:lstStyle/>
          <a:p>
            <a:pPr>
              <a:spcAft>
                <a:spcPts val="800"/>
              </a:spcAft>
            </a:pPr>
            <a:r>
              <a:rPr lang="en-US" sz="4000" kern="100" dirty="0">
                <a:latin typeface="Calibir"/>
                <a:ea typeface="Aptos" panose="020B0004020202020204" pitchFamily="34" charset="0"/>
                <a:cs typeface="Arial" panose="020B0604020202020204" pitchFamily="34" charset="0"/>
              </a:rPr>
              <a:t>Face-to-Face presentation 7th Nov 12 PM – 2 PM with a link to join online if needed</a:t>
            </a:r>
          </a:p>
        </p:txBody>
      </p:sp>
      <p:sp>
        <p:nvSpPr>
          <p:cNvPr id="6" name="TextBox 5">
            <a:extLst>
              <a:ext uri="{FF2B5EF4-FFF2-40B4-BE49-F238E27FC236}">
                <a16:creationId xmlns:a16="http://schemas.microsoft.com/office/drawing/2014/main" id="{848DA49B-80BA-1D4D-0E5C-D1604B6371A2}"/>
              </a:ext>
            </a:extLst>
          </p:cNvPr>
          <p:cNvSpPr txBox="1"/>
          <p:nvPr/>
        </p:nvSpPr>
        <p:spPr>
          <a:xfrm>
            <a:off x="0" y="1265008"/>
            <a:ext cx="11971282" cy="1318181"/>
          </a:xfrm>
          <a:prstGeom prst="rect">
            <a:avLst/>
          </a:prstGeom>
          <a:noFill/>
        </p:spPr>
        <p:txBody>
          <a:bodyPr wrap="square">
            <a:spAutoFit/>
          </a:bodyPr>
          <a:lstStyle/>
          <a:p>
            <a:pPr fontAlgn="base">
              <a:lnSpc>
                <a:spcPct val="150000"/>
              </a:lnSpc>
            </a:pPr>
            <a:r>
              <a:rPr lang="en-US" sz="2800" dirty="0">
                <a:latin typeface="Calibir"/>
              </a:rPr>
              <a:t>Friday 7</a:t>
            </a:r>
            <a:r>
              <a:rPr lang="en-US" sz="2800" baseline="30000" dirty="0">
                <a:latin typeface="Calibir"/>
              </a:rPr>
              <a:t>th</a:t>
            </a:r>
            <a:r>
              <a:rPr lang="en-US" sz="2800" dirty="0">
                <a:latin typeface="Calibir"/>
              </a:rPr>
              <a:t> Nov 12 – 2 PM is face-to-face presentation at CB11.B1.401. However, if needed here is the link to join online</a:t>
            </a:r>
          </a:p>
        </p:txBody>
      </p:sp>
      <p:sp>
        <p:nvSpPr>
          <p:cNvPr id="9" name="TextBox 8">
            <a:extLst>
              <a:ext uri="{FF2B5EF4-FFF2-40B4-BE49-F238E27FC236}">
                <a16:creationId xmlns:a16="http://schemas.microsoft.com/office/drawing/2014/main" id="{00F3D7AD-D37C-4217-C4D5-47CBAC1A98F1}"/>
              </a:ext>
            </a:extLst>
          </p:cNvPr>
          <p:cNvSpPr txBox="1"/>
          <p:nvPr/>
        </p:nvSpPr>
        <p:spPr>
          <a:xfrm>
            <a:off x="21019" y="3798622"/>
            <a:ext cx="6190592" cy="1754326"/>
          </a:xfrm>
          <a:prstGeom prst="rect">
            <a:avLst/>
          </a:prstGeom>
          <a:noFill/>
        </p:spPr>
        <p:txBody>
          <a:bodyPr wrap="square">
            <a:spAutoFit/>
          </a:bodyPr>
          <a:lstStyle/>
          <a:p>
            <a:r>
              <a:rPr lang="en-US" dirty="0">
                <a:hlinkClick r:id="rId2"/>
              </a:rPr>
              <a:t>https://teams.microsoft.com/l/meetup-join/19%3ameeting_NzA2YTNhYWEtNDkxYy00ODg3LTg5ZjYtNTQ2NTU2YmRiNTNi%40thread.v2/0?context=%7b%22Tid%22%3a%22e8911c26-cf9f-4a9c-878e-527807be8791%22%2c%22Oid%22%3a%229506d58e-77d8-417d-a0ac-cbcbd8f071a2%22%7d</a:t>
            </a:r>
            <a:r>
              <a:rPr lang="en-US" dirty="0"/>
              <a:t> </a:t>
            </a:r>
          </a:p>
        </p:txBody>
      </p:sp>
      <p:sp>
        <p:nvSpPr>
          <p:cNvPr id="4" name="Rectangle 1">
            <a:extLst>
              <a:ext uri="{FF2B5EF4-FFF2-40B4-BE49-F238E27FC236}">
                <a16:creationId xmlns:a16="http://schemas.microsoft.com/office/drawing/2014/main" id="{9D0E51FF-2877-A032-E240-5C6CBE85E335}"/>
              </a:ext>
            </a:extLst>
          </p:cNvPr>
          <p:cNvSpPr>
            <a:spLocks noChangeArrowheads="1"/>
          </p:cNvSpPr>
          <p:nvPr/>
        </p:nvSpPr>
        <p:spPr bwMode="auto">
          <a:xfrm>
            <a:off x="21019" y="2583189"/>
            <a:ext cx="1206062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accent4"/>
                </a:solidFill>
                <a:effectLst/>
                <a:latin typeface="Calibir"/>
                <a:hlinkClick r:id="rId2">
                  <a:extLst>
                    <a:ext uri="{A12FA001-AC4F-418D-AE19-62706E023703}">
                      <ahyp:hlinkClr xmlns:ahyp="http://schemas.microsoft.com/office/drawing/2018/hyperlinkcolor" val="tx"/>
                    </a:ext>
                  </a:extLst>
                </a:hlinkClick>
              </a:rPr>
              <a:t>Friday 7th Nov 12 PM – 2 PM (Face-to-Face and Online) | Meeting-Join | Microsoft Teams</a:t>
            </a:r>
            <a:endParaRPr kumimoji="0" lang="en-US" altLang="en-US" sz="2800" b="0" i="0" u="none" strike="noStrike" cap="none" normalizeH="0" baseline="0" dirty="0">
              <a:ln>
                <a:noFill/>
              </a:ln>
              <a:solidFill>
                <a:schemeClr val="accent4"/>
              </a:solidFill>
              <a:effectLst/>
              <a:latin typeface="Calibir"/>
            </a:endParaRPr>
          </a:p>
        </p:txBody>
      </p:sp>
    </p:spTree>
    <p:extLst>
      <p:ext uri="{BB962C8B-B14F-4D97-AF65-F5344CB8AC3E}">
        <p14:creationId xmlns:p14="http://schemas.microsoft.com/office/powerpoint/2010/main" val="3715227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2A1FE-7BA6-2307-6785-16BDE1FFB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CC050-6EEE-85D7-9637-5179D4BC6A20}"/>
              </a:ext>
            </a:extLst>
          </p:cNvPr>
          <p:cNvSpPr>
            <a:spLocks noGrp="1"/>
          </p:cNvSpPr>
          <p:nvPr>
            <p:ph type="title"/>
          </p:nvPr>
        </p:nvSpPr>
        <p:spPr>
          <a:xfrm>
            <a:off x="0" y="2"/>
            <a:ext cx="12192000" cy="76725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Questions and Answers</a:t>
            </a:r>
          </a:p>
        </p:txBody>
      </p:sp>
      <p:sp>
        <p:nvSpPr>
          <p:cNvPr id="5" name="TextBox 4">
            <a:extLst>
              <a:ext uri="{FF2B5EF4-FFF2-40B4-BE49-F238E27FC236}">
                <a16:creationId xmlns:a16="http://schemas.microsoft.com/office/drawing/2014/main" id="{1D23C1C9-416D-EE11-7996-EDD80D63EF8B}"/>
              </a:ext>
            </a:extLst>
          </p:cNvPr>
          <p:cNvSpPr txBox="1"/>
          <p:nvPr/>
        </p:nvSpPr>
        <p:spPr>
          <a:xfrm>
            <a:off x="10510" y="782453"/>
            <a:ext cx="11971282" cy="5909310"/>
          </a:xfrm>
          <a:prstGeom prst="rect">
            <a:avLst/>
          </a:prstGeom>
          <a:noFill/>
        </p:spPr>
        <p:txBody>
          <a:bodyPr wrap="square">
            <a:spAutoFit/>
          </a:bodyPr>
          <a:lstStyle/>
          <a:p>
            <a:pPr algn="l" rtl="0" fontAlgn="base">
              <a:buNone/>
            </a:pPr>
            <a:r>
              <a:rPr lang="en-US" sz="1800" b="0" i="0" dirty="0">
                <a:solidFill>
                  <a:srgbClr val="000000"/>
                </a:solidFill>
                <a:effectLst/>
                <a:latin typeface="Calibir"/>
              </a:rPr>
              <a:t>Dear Dr. Farshid Keivanian,</a:t>
            </a:r>
          </a:p>
          <a:p>
            <a:pPr algn="l" rtl="0" fontAlgn="base">
              <a:buNone/>
            </a:pPr>
            <a:br>
              <a:rPr lang="en-US" sz="1800" b="0" i="0" dirty="0">
                <a:solidFill>
                  <a:srgbClr val="000000"/>
                </a:solidFill>
                <a:effectLst/>
                <a:latin typeface="Calibir"/>
              </a:rPr>
            </a:br>
            <a:endParaRPr lang="en-US" sz="1800" b="0" i="0" dirty="0">
              <a:solidFill>
                <a:srgbClr val="000000"/>
              </a:solidFill>
              <a:effectLst/>
              <a:latin typeface="Calibir"/>
            </a:endParaRPr>
          </a:p>
          <a:p>
            <a:pPr algn="l" fontAlgn="base">
              <a:buNone/>
            </a:pPr>
            <a:r>
              <a:rPr lang="en-US" sz="1800" b="0" i="0" dirty="0">
                <a:solidFill>
                  <a:srgbClr val="000000"/>
                </a:solidFill>
                <a:effectLst/>
                <a:latin typeface="Calibir"/>
              </a:rPr>
              <a:t>I hope this message finds you well.  </a:t>
            </a:r>
          </a:p>
          <a:p>
            <a:pPr algn="l" fontAlgn="base">
              <a:buNone/>
            </a:pPr>
            <a:r>
              <a:rPr lang="en-US" sz="1800" b="0" i="0" dirty="0">
                <a:solidFill>
                  <a:srgbClr val="000000"/>
                </a:solidFill>
                <a:effectLst/>
                <a:latin typeface="Calibir"/>
              </a:rPr>
              <a:t>I'm Masaki Taniguchi, a student in 32555 Fundamentals of Software Development (Tuesday 4 PM, Cmp1-01, Group 9)</a:t>
            </a:r>
          </a:p>
          <a:p>
            <a:pPr algn="l" rtl="0" fontAlgn="base">
              <a:buNone/>
            </a:pPr>
            <a:br>
              <a:rPr lang="en-US" sz="1800" b="0" i="0" dirty="0">
                <a:solidFill>
                  <a:srgbClr val="000000"/>
                </a:solidFill>
                <a:effectLst/>
                <a:latin typeface="Calibir"/>
              </a:rPr>
            </a:br>
            <a:endParaRPr lang="en-US" sz="1800" b="0" i="0" dirty="0">
              <a:solidFill>
                <a:srgbClr val="000000"/>
              </a:solidFill>
              <a:effectLst/>
              <a:latin typeface="Calibir"/>
            </a:endParaRPr>
          </a:p>
          <a:p>
            <a:pPr algn="l" rtl="0" fontAlgn="base">
              <a:buNone/>
            </a:pPr>
            <a:r>
              <a:rPr lang="en-US" sz="1800" b="0" i="0" dirty="0">
                <a:solidFill>
                  <a:srgbClr val="000000"/>
                </a:solidFill>
                <a:effectLst/>
                <a:latin typeface="Calibir"/>
              </a:rPr>
              <a:t>As mentioned in the email subject, we have an issue with one of our group members.</a:t>
            </a:r>
          </a:p>
          <a:p>
            <a:pPr algn="l" rtl="0" fontAlgn="base">
              <a:buNone/>
            </a:pPr>
            <a:r>
              <a:rPr lang="en-US" sz="1800" b="0" i="0" dirty="0">
                <a:solidFill>
                  <a:srgbClr val="000000"/>
                </a:solidFill>
                <a:effectLst/>
                <a:latin typeface="Calibir"/>
              </a:rPr>
              <a:t>One of our members does not write any code, and apparently, he does not understand any code the other members created. The code itself has been completed, as the other members covered for his part.</a:t>
            </a:r>
          </a:p>
          <a:p>
            <a:pPr algn="l" rtl="0" fontAlgn="base">
              <a:buNone/>
            </a:pPr>
            <a:br>
              <a:rPr lang="en-US" sz="1800" b="0" i="0" dirty="0">
                <a:solidFill>
                  <a:srgbClr val="000000"/>
                </a:solidFill>
                <a:effectLst/>
                <a:latin typeface="Calibir"/>
              </a:rPr>
            </a:br>
            <a:endParaRPr lang="en-US" sz="1800" b="0" i="0" dirty="0">
              <a:solidFill>
                <a:srgbClr val="000000"/>
              </a:solidFill>
              <a:effectLst/>
              <a:latin typeface="Calibir"/>
            </a:endParaRPr>
          </a:p>
          <a:p>
            <a:pPr algn="l" rtl="0" fontAlgn="base">
              <a:buNone/>
            </a:pPr>
            <a:r>
              <a:rPr lang="en-US" sz="1800" b="0" i="0" dirty="0">
                <a:solidFill>
                  <a:srgbClr val="000000"/>
                </a:solidFill>
                <a:effectLst/>
                <a:latin typeface="Calibir"/>
              </a:rPr>
              <a:t>So, I want to clarify these two questions below:</a:t>
            </a:r>
          </a:p>
          <a:p>
            <a:pPr algn="l" fontAlgn="base">
              <a:buFont typeface="+mj-lt"/>
              <a:buAutoNum type="arabicPeriod"/>
            </a:pPr>
            <a:r>
              <a:rPr lang="en-US" sz="1800" b="0" i="0" dirty="0">
                <a:solidFill>
                  <a:srgbClr val="000000"/>
                </a:solidFill>
                <a:effectLst/>
                <a:latin typeface="Calibir"/>
              </a:rPr>
              <a:t>What will happen if we mark someone 0% in a peer review(</a:t>
            </a:r>
            <a:r>
              <a:rPr lang="en-US" sz="1800" b="0" i="0" dirty="0" err="1">
                <a:solidFill>
                  <a:srgbClr val="000000"/>
                </a:solidFill>
                <a:effectLst/>
                <a:latin typeface="Calibir"/>
              </a:rPr>
              <a:t>SparkPlus</a:t>
            </a:r>
            <a:r>
              <a:rPr lang="en-US" sz="1800" b="0" i="0" dirty="0">
                <a:solidFill>
                  <a:srgbClr val="000000"/>
                </a:solidFill>
                <a:effectLst/>
                <a:latin typeface="Calibir"/>
              </a:rPr>
              <a:t>)?</a:t>
            </a:r>
          </a:p>
          <a:p>
            <a:pPr algn="l" fontAlgn="base">
              <a:buFont typeface="+mj-lt"/>
              <a:buAutoNum type="arabicPeriod"/>
            </a:pPr>
            <a:r>
              <a:rPr lang="en-US" sz="1800" b="0" i="0" dirty="0">
                <a:solidFill>
                  <a:srgbClr val="000000"/>
                </a:solidFill>
                <a:effectLst/>
                <a:latin typeface="Calibir"/>
              </a:rPr>
              <a:t>In tomorrow's showcase, will all group members have to explain the code? If so, we doubt he can explain anything or answer any questions you may have.</a:t>
            </a:r>
          </a:p>
          <a:p>
            <a:pPr algn="l" rtl="0" fontAlgn="base">
              <a:buNone/>
            </a:pPr>
            <a:br>
              <a:rPr lang="en-US" sz="1800" b="0" i="0" dirty="0">
                <a:solidFill>
                  <a:srgbClr val="000000"/>
                </a:solidFill>
                <a:effectLst/>
                <a:latin typeface="Calibir"/>
              </a:rPr>
            </a:br>
            <a:endParaRPr lang="en-US" sz="1800" b="0" i="0" dirty="0">
              <a:solidFill>
                <a:srgbClr val="000000"/>
              </a:solidFill>
              <a:effectLst/>
              <a:latin typeface="Calibir"/>
            </a:endParaRPr>
          </a:p>
          <a:p>
            <a:pPr algn="l" rtl="0" fontAlgn="base">
              <a:buNone/>
            </a:pPr>
            <a:r>
              <a:rPr lang="en-US" sz="1800" b="0" i="0" dirty="0">
                <a:solidFill>
                  <a:srgbClr val="000000"/>
                </a:solidFill>
                <a:effectLst/>
                <a:latin typeface="Calibir"/>
              </a:rPr>
              <a:t>Thank you very much for your time and consideration.</a:t>
            </a:r>
          </a:p>
          <a:p>
            <a:pPr algn="l" fontAlgn="base">
              <a:buNone/>
            </a:pPr>
            <a:r>
              <a:rPr lang="en-US" sz="1800" b="0" i="0" dirty="0">
                <a:solidFill>
                  <a:srgbClr val="000000"/>
                </a:solidFill>
                <a:effectLst/>
                <a:latin typeface="Calibir"/>
              </a:rPr>
              <a:t>Kind regards,</a:t>
            </a:r>
            <a:br>
              <a:rPr lang="en-US" sz="1800" b="0" i="0" dirty="0">
                <a:solidFill>
                  <a:srgbClr val="000000"/>
                </a:solidFill>
                <a:effectLst/>
                <a:latin typeface="Calibir"/>
              </a:rPr>
            </a:br>
            <a:r>
              <a:rPr lang="en-US" sz="1800" b="0" i="0" dirty="0">
                <a:solidFill>
                  <a:srgbClr val="000000"/>
                </a:solidFill>
                <a:effectLst/>
                <a:latin typeface="Calibir"/>
              </a:rPr>
              <a:t>….</a:t>
            </a:r>
          </a:p>
        </p:txBody>
      </p:sp>
    </p:spTree>
    <p:extLst>
      <p:ext uri="{BB962C8B-B14F-4D97-AF65-F5344CB8AC3E}">
        <p14:creationId xmlns:p14="http://schemas.microsoft.com/office/powerpoint/2010/main" val="563592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BF0F6-ECD2-6F4B-3189-90B29B835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F81F2-5E3E-75A2-AF75-AEA1442E5056}"/>
              </a:ext>
            </a:extLst>
          </p:cNvPr>
          <p:cNvSpPr>
            <a:spLocks noGrp="1"/>
          </p:cNvSpPr>
          <p:nvPr>
            <p:ph type="title"/>
          </p:nvPr>
        </p:nvSpPr>
        <p:spPr>
          <a:xfrm>
            <a:off x="0" y="2"/>
            <a:ext cx="12192000" cy="76725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Questions and Answers</a:t>
            </a:r>
          </a:p>
        </p:txBody>
      </p:sp>
      <p:sp>
        <p:nvSpPr>
          <p:cNvPr id="5" name="TextBox 4">
            <a:extLst>
              <a:ext uri="{FF2B5EF4-FFF2-40B4-BE49-F238E27FC236}">
                <a16:creationId xmlns:a16="http://schemas.microsoft.com/office/drawing/2014/main" id="{1C762977-C1B8-B62B-A8C8-8440BB901508}"/>
              </a:ext>
            </a:extLst>
          </p:cNvPr>
          <p:cNvSpPr txBox="1"/>
          <p:nvPr/>
        </p:nvSpPr>
        <p:spPr>
          <a:xfrm>
            <a:off x="10510" y="782453"/>
            <a:ext cx="11971282" cy="5447260"/>
          </a:xfrm>
          <a:prstGeom prst="rect">
            <a:avLst/>
          </a:prstGeom>
          <a:noFill/>
        </p:spPr>
        <p:txBody>
          <a:bodyPr wrap="square">
            <a:spAutoFit/>
          </a:bodyPr>
          <a:lstStyle/>
          <a:p>
            <a:pPr>
              <a:lnSpc>
                <a:spcPct val="150000"/>
              </a:lnSpc>
            </a:pPr>
            <a:r>
              <a:rPr lang="en-US" sz="1950" b="1" dirty="0">
                <a:latin typeface="Calibir"/>
              </a:rPr>
              <a:t>Dear ….,</a:t>
            </a:r>
            <a:endParaRPr lang="en-US" sz="1950" dirty="0">
              <a:latin typeface="Calibir"/>
            </a:endParaRPr>
          </a:p>
          <a:p>
            <a:pPr>
              <a:lnSpc>
                <a:spcPct val="150000"/>
              </a:lnSpc>
            </a:pPr>
            <a:r>
              <a:rPr lang="en-US" sz="1950" dirty="0">
                <a:latin typeface="Calibir"/>
              </a:rPr>
              <a:t>Thank you for reaching out and for your honesty in addressing this situation. I appreciate your team’s effort and responsibility in ensuring the project was completed to a high standard.</a:t>
            </a:r>
          </a:p>
          <a:p>
            <a:pPr>
              <a:lnSpc>
                <a:spcPct val="150000"/>
              </a:lnSpc>
            </a:pPr>
            <a:r>
              <a:rPr lang="en-US" sz="1950" dirty="0">
                <a:latin typeface="Calibir"/>
              </a:rPr>
              <a:t>Regarding your questions:</a:t>
            </a:r>
          </a:p>
          <a:p>
            <a:pPr marL="342900" indent="-342900">
              <a:lnSpc>
                <a:spcPct val="150000"/>
              </a:lnSpc>
              <a:buFont typeface="+mj-lt"/>
              <a:buAutoNum type="arabicPeriod"/>
            </a:pPr>
            <a:r>
              <a:rPr lang="en-US" sz="1950" dirty="0">
                <a:latin typeface="Calibir"/>
              </a:rPr>
              <a:t>Peer Review (</a:t>
            </a:r>
            <a:r>
              <a:rPr lang="en-US" sz="1950" dirty="0" err="1">
                <a:latin typeface="Calibir"/>
              </a:rPr>
              <a:t>SparkPlus</a:t>
            </a:r>
            <a:r>
              <a:rPr lang="en-US" sz="1950" dirty="0">
                <a:latin typeface="Calibir"/>
              </a:rPr>
              <a:t>):</a:t>
            </a:r>
            <a:br>
              <a:rPr lang="en-US" sz="1950" dirty="0">
                <a:latin typeface="Calibir"/>
              </a:rPr>
            </a:br>
            <a:r>
              <a:rPr lang="en-US" sz="1950" dirty="0">
                <a:latin typeface="Calibir"/>
              </a:rPr>
              <a:t>If you mark someone 0% in </a:t>
            </a:r>
            <a:r>
              <a:rPr lang="en-US" sz="1950" dirty="0" err="1">
                <a:latin typeface="Calibir"/>
              </a:rPr>
              <a:t>SparkPlus</a:t>
            </a:r>
            <a:r>
              <a:rPr lang="en-US" sz="1950" dirty="0">
                <a:latin typeface="Calibir"/>
              </a:rPr>
              <a:t>, it means you are indicating that the person did not contribute at all to the group task. The system will treat this as no participation, and </a:t>
            </a:r>
            <a:r>
              <a:rPr lang="en-US" sz="1950" dirty="0" err="1">
                <a:latin typeface="Calibir"/>
              </a:rPr>
              <a:t>SparkPlus</a:t>
            </a:r>
            <a:r>
              <a:rPr lang="en-US" sz="1950" dirty="0">
                <a:latin typeface="Calibir"/>
              </a:rPr>
              <a:t> will automatically adjust the contribution scores so that person’s grade is proportionally reduced, while others’ scores are scaled up if applicable.</a:t>
            </a:r>
          </a:p>
          <a:p>
            <a:pPr>
              <a:lnSpc>
                <a:spcPct val="150000"/>
              </a:lnSpc>
            </a:pPr>
            <a:r>
              <a:rPr lang="en-US" sz="1950" dirty="0">
                <a:latin typeface="Calibir"/>
              </a:rPr>
              <a:t>However, before assigning 0%, please ensure this accurately reflects the group situation — </a:t>
            </a:r>
            <a:r>
              <a:rPr lang="en-US" sz="1950" dirty="0" err="1">
                <a:latin typeface="Calibir"/>
              </a:rPr>
              <a:t>SparkPlus</a:t>
            </a:r>
            <a:r>
              <a:rPr lang="en-US" sz="1950" dirty="0">
                <a:latin typeface="Calibir"/>
              </a:rPr>
              <a:t> responses are reviewed by the teaching team, and we may contact the group to verify if a member truly made no contribution.</a:t>
            </a:r>
          </a:p>
          <a:p>
            <a:pPr>
              <a:lnSpc>
                <a:spcPct val="150000"/>
              </a:lnSpc>
            </a:pPr>
            <a:r>
              <a:rPr lang="en-US" sz="1950" dirty="0">
                <a:latin typeface="Calibir"/>
              </a:rPr>
              <a:t>It’s always best to use the comments section in </a:t>
            </a:r>
            <a:r>
              <a:rPr lang="en-US" sz="1950" dirty="0" err="1">
                <a:latin typeface="Calibir"/>
              </a:rPr>
              <a:t>SparkPlus</a:t>
            </a:r>
            <a:r>
              <a:rPr lang="en-US" sz="1950" dirty="0">
                <a:latin typeface="Calibir"/>
              </a:rPr>
              <a:t> to justify your score clearly (e.g., “did not attend meetings or contribute to work”).</a:t>
            </a:r>
          </a:p>
        </p:txBody>
      </p:sp>
    </p:spTree>
    <p:extLst>
      <p:ext uri="{BB962C8B-B14F-4D97-AF65-F5344CB8AC3E}">
        <p14:creationId xmlns:p14="http://schemas.microsoft.com/office/powerpoint/2010/main" val="408280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B851E-6EAA-5F32-BE5C-E791D6DC2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F6951-E179-4CBE-631B-BE39713022FB}"/>
              </a:ext>
            </a:extLst>
          </p:cNvPr>
          <p:cNvSpPr>
            <a:spLocks noGrp="1"/>
          </p:cNvSpPr>
          <p:nvPr>
            <p:ph type="title"/>
          </p:nvPr>
        </p:nvSpPr>
        <p:spPr>
          <a:xfrm>
            <a:off x="0" y="2"/>
            <a:ext cx="12192000" cy="76725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Questions and Answers</a:t>
            </a:r>
          </a:p>
        </p:txBody>
      </p:sp>
      <p:sp>
        <p:nvSpPr>
          <p:cNvPr id="5" name="TextBox 4">
            <a:extLst>
              <a:ext uri="{FF2B5EF4-FFF2-40B4-BE49-F238E27FC236}">
                <a16:creationId xmlns:a16="http://schemas.microsoft.com/office/drawing/2014/main" id="{3798F128-5574-6C52-F0A4-EA866031EDE9}"/>
              </a:ext>
            </a:extLst>
          </p:cNvPr>
          <p:cNvSpPr txBox="1"/>
          <p:nvPr/>
        </p:nvSpPr>
        <p:spPr>
          <a:xfrm>
            <a:off x="10510" y="782453"/>
            <a:ext cx="11971282" cy="4199611"/>
          </a:xfrm>
          <a:prstGeom prst="rect">
            <a:avLst/>
          </a:prstGeom>
          <a:noFill/>
        </p:spPr>
        <p:txBody>
          <a:bodyPr wrap="square">
            <a:spAutoFit/>
          </a:bodyPr>
          <a:lstStyle/>
          <a:p>
            <a:pPr marL="457200" indent="-457200">
              <a:lnSpc>
                <a:spcPct val="150000"/>
              </a:lnSpc>
              <a:buFont typeface="+mj-lt"/>
              <a:buAutoNum type="arabicPeriod" startAt="2"/>
            </a:pPr>
            <a:r>
              <a:rPr lang="en-US" sz="2000" dirty="0">
                <a:latin typeface="Calibir"/>
              </a:rPr>
              <a:t>Showcase Presentation:</a:t>
            </a:r>
            <a:br>
              <a:rPr lang="en-US" sz="2000" dirty="0">
                <a:latin typeface="Calibir"/>
              </a:rPr>
            </a:br>
            <a:r>
              <a:rPr lang="en-US" sz="2000" dirty="0">
                <a:latin typeface="Calibir"/>
              </a:rPr>
              <a:t>Yes, all group members are expected to briefly explain part of the code or demonstrate understanding of the system. This is to confirm that each student has contributed meaningfully and understands the project.</a:t>
            </a:r>
            <a:br>
              <a:rPr lang="en-US" sz="2000" dirty="0">
                <a:latin typeface="Calibir"/>
              </a:rPr>
            </a:br>
            <a:r>
              <a:rPr lang="en-US" sz="2000" dirty="0">
                <a:latin typeface="Calibir"/>
              </a:rPr>
              <a:t>If a student cannot answer basic questions about the code or their role, that will be reflected in their individual mark.</a:t>
            </a:r>
          </a:p>
          <a:p>
            <a:pPr>
              <a:lnSpc>
                <a:spcPct val="150000"/>
              </a:lnSpc>
            </a:pPr>
            <a:r>
              <a:rPr lang="en-US" sz="2000" dirty="0">
                <a:latin typeface="Calibir"/>
              </a:rPr>
              <a:t>Please reassure your team that your proactive communication is appreciated — it helps maintain transparency and fairness for everyone.</a:t>
            </a:r>
          </a:p>
          <a:p>
            <a:pPr>
              <a:lnSpc>
                <a:spcPct val="150000"/>
              </a:lnSpc>
            </a:pPr>
            <a:r>
              <a:rPr lang="en-US" sz="2000" b="1" dirty="0">
                <a:latin typeface="Calibir"/>
              </a:rPr>
              <a:t>Kind regards,</a:t>
            </a:r>
            <a:endParaRPr lang="en-US" sz="2000" dirty="0">
              <a:latin typeface="Calibir"/>
            </a:endParaRPr>
          </a:p>
          <a:p>
            <a:pPr>
              <a:lnSpc>
                <a:spcPct val="150000"/>
              </a:lnSpc>
            </a:pPr>
            <a:r>
              <a:rPr lang="en-US" sz="2000" b="1" dirty="0">
                <a:latin typeface="Calibir"/>
              </a:rPr>
              <a:t>Dr. Farshid Keivanian</a:t>
            </a:r>
            <a:endParaRPr lang="en-US" sz="2000" dirty="0">
              <a:latin typeface="Calibir"/>
            </a:endParaRPr>
          </a:p>
        </p:txBody>
      </p:sp>
    </p:spTree>
    <p:extLst>
      <p:ext uri="{BB962C8B-B14F-4D97-AF65-F5344CB8AC3E}">
        <p14:creationId xmlns:p14="http://schemas.microsoft.com/office/powerpoint/2010/main" val="2318057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1DACA-448F-A0D7-0081-9179B59C8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2B784B-26A4-95B9-0845-C7EA7A7454EF}"/>
              </a:ext>
            </a:extLst>
          </p:cNvPr>
          <p:cNvSpPr>
            <a:spLocks noGrp="1"/>
          </p:cNvSpPr>
          <p:nvPr>
            <p:ph type="title"/>
          </p:nvPr>
        </p:nvSpPr>
        <p:spPr>
          <a:xfrm>
            <a:off x="0" y="2"/>
            <a:ext cx="12192000" cy="76725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Questions and Answers</a:t>
            </a:r>
          </a:p>
        </p:txBody>
      </p:sp>
      <p:sp>
        <p:nvSpPr>
          <p:cNvPr id="5" name="TextBox 4">
            <a:extLst>
              <a:ext uri="{FF2B5EF4-FFF2-40B4-BE49-F238E27FC236}">
                <a16:creationId xmlns:a16="http://schemas.microsoft.com/office/drawing/2014/main" id="{5F6F6B61-CF49-91E1-5360-CCC1683C37EA}"/>
              </a:ext>
            </a:extLst>
          </p:cNvPr>
          <p:cNvSpPr txBox="1"/>
          <p:nvPr/>
        </p:nvSpPr>
        <p:spPr>
          <a:xfrm>
            <a:off x="10510" y="782453"/>
            <a:ext cx="11971282" cy="5866350"/>
          </a:xfrm>
          <a:prstGeom prst="rect">
            <a:avLst/>
          </a:prstGeom>
          <a:noFill/>
        </p:spPr>
        <p:txBody>
          <a:bodyPr wrap="square">
            <a:spAutoFit/>
          </a:bodyPr>
          <a:lstStyle/>
          <a:p>
            <a:pPr fontAlgn="base">
              <a:lnSpc>
                <a:spcPct val="150000"/>
              </a:lnSpc>
            </a:pPr>
            <a:r>
              <a:rPr lang="en-US" dirty="0">
                <a:latin typeface="Calibir"/>
              </a:rPr>
              <a:t>Dear Dr. Farshid Keivanian,</a:t>
            </a:r>
          </a:p>
          <a:p>
            <a:pPr fontAlgn="base">
              <a:lnSpc>
                <a:spcPct val="150000"/>
              </a:lnSpc>
            </a:pPr>
            <a:r>
              <a:rPr lang="en-US" dirty="0">
                <a:latin typeface="Calibir"/>
              </a:rPr>
              <a:t>I hope this message finds you well.  </a:t>
            </a:r>
          </a:p>
          <a:p>
            <a:pPr fontAlgn="base">
              <a:lnSpc>
                <a:spcPct val="150000"/>
              </a:lnSpc>
            </a:pPr>
            <a:r>
              <a:rPr lang="en-US" dirty="0">
                <a:latin typeface="Calibir"/>
              </a:rPr>
              <a:t>I'm Jisu Kim, a student in 32555 Fundamentals of Software Development (Tuesday 4 PM, Cmp1-01, Group 9)</a:t>
            </a:r>
          </a:p>
          <a:p>
            <a:pPr fontAlgn="base">
              <a:lnSpc>
                <a:spcPct val="150000"/>
              </a:lnSpc>
            </a:pPr>
            <a:r>
              <a:rPr lang="en-US" dirty="0">
                <a:latin typeface="Calibir"/>
              </a:rPr>
              <a:t>I have a few questions regarding the GUI implementation and sample output consistency in Assessment 1-Part 2 and 3. and I’m so sorry for sending this email over the weekend, and I truly appreciate your understanding.</a:t>
            </a:r>
          </a:p>
          <a:p>
            <a:pPr fontAlgn="base">
              <a:lnSpc>
                <a:spcPct val="150000"/>
              </a:lnSpc>
            </a:pPr>
            <a:r>
              <a:rPr lang="en-US" b="1" dirty="0">
                <a:latin typeface="Calibir"/>
              </a:rPr>
              <a:t>Question 1: GUI Implementation </a:t>
            </a:r>
          </a:p>
          <a:p>
            <a:pPr fontAlgn="base">
              <a:lnSpc>
                <a:spcPct val="150000"/>
              </a:lnSpc>
            </a:pPr>
            <a:r>
              <a:rPr lang="en-US" dirty="0">
                <a:latin typeface="Calibir"/>
              </a:rPr>
              <a:t>I’d like to clarify one point about the connection between the CLI and GUI parts in Assessment 1.</a:t>
            </a:r>
          </a:p>
          <a:p>
            <a:pPr fontAlgn="base">
              <a:lnSpc>
                <a:spcPct val="150000"/>
              </a:lnSpc>
            </a:pPr>
            <a:r>
              <a:rPr lang="en-US" dirty="0">
                <a:latin typeface="Calibir"/>
              </a:rPr>
              <a:t>From the Week 10 lecture slides (from your </a:t>
            </a:r>
            <a:r>
              <a:rPr lang="en-US" dirty="0" err="1">
                <a:latin typeface="Calibir"/>
              </a:rPr>
              <a:t>github</a:t>
            </a:r>
            <a:r>
              <a:rPr lang="en-US" dirty="0">
                <a:latin typeface="Calibir"/>
              </a:rPr>
              <a:t>), my understanding is that the GUI should use the same data file (</a:t>
            </a:r>
            <a:r>
              <a:rPr lang="en-US" dirty="0" err="1">
                <a:latin typeface="Calibir"/>
              </a:rPr>
              <a:t>students.data</a:t>
            </a:r>
            <a:r>
              <a:rPr lang="en-US" dirty="0">
                <a:latin typeface="Calibir"/>
              </a:rPr>
              <a:t>) and the same Student objects as the CLI, ensuring consistent functionality between both versions. In other words, the CLI acts as the backend, and the GUI works as the frontend that interacts with it.</a:t>
            </a:r>
          </a:p>
          <a:p>
            <a:pPr fontAlgn="base">
              <a:lnSpc>
                <a:spcPct val="150000"/>
              </a:lnSpc>
            </a:pPr>
            <a:r>
              <a:rPr lang="en-US" dirty="0">
                <a:latin typeface="Calibir"/>
              </a:rPr>
              <a:t>Could you please confirm whether this interpretation is correct, that the GUI should directly access and update the same </a:t>
            </a:r>
            <a:r>
              <a:rPr lang="en-US" dirty="0" err="1">
                <a:latin typeface="Calibir"/>
              </a:rPr>
              <a:t>students.data</a:t>
            </a:r>
            <a:r>
              <a:rPr lang="en-US" dirty="0">
                <a:latin typeface="Calibir"/>
              </a:rPr>
              <a:t> file (rather than working independently)?</a:t>
            </a:r>
          </a:p>
          <a:p>
            <a:pPr fontAlgn="base">
              <a:lnSpc>
                <a:spcPct val="150000"/>
              </a:lnSpc>
            </a:pPr>
            <a:r>
              <a:rPr lang="en-US" dirty="0">
                <a:latin typeface="Calibir"/>
              </a:rPr>
              <a:t>That is to say, can I understand it as,  when we execute the GUI file alone, it should import and run the CLI modules so that the GUI version performs the same functions as the CLI version, including the graphical interface?</a:t>
            </a:r>
          </a:p>
        </p:txBody>
      </p:sp>
    </p:spTree>
    <p:extLst>
      <p:ext uri="{BB962C8B-B14F-4D97-AF65-F5344CB8AC3E}">
        <p14:creationId xmlns:p14="http://schemas.microsoft.com/office/powerpoint/2010/main" val="2975032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F165E-E207-1AFA-CFDB-87EC2B6485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D82DB-0EEF-F5C8-D3BF-29F72791BFBC}"/>
              </a:ext>
            </a:extLst>
          </p:cNvPr>
          <p:cNvSpPr>
            <a:spLocks noGrp="1"/>
          </p:cNvSpPr>
          <p:nvPr>
            <p:ph type="title"/>
          </p:nvPr>
        </p:nvSpPr>
        <p:spPr>
          <a:xfrm>
            <a:off x="0" y="2"/>
            <a:ext cx="12192000" cy="76725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Questions and Answers</a:t>
            </a:r>
          </a:p>
        </p:txBody>
      </p:sp>
      <p:sp>
        <p:nvSpPr>
          <p:cNvPr id="5" name="TextBox 4">
            <a:extLst>
              <a:ext uri="{FF2B5EF4-FFF2-40B4-BE49-F238E27FC236}">
                <a16:creationId xmlns:a16="http://schemas.microsoft.com/office/drawing/2014/main" id="{F63C6091-4ECD-D951-9D64-B30676EC1DBD}"/>
              </a:ext>
            </a:extLst>
          </p:cNvPr>
          <p:cNvSpPr txBox="1"/>
          <p:nvPr/>
        </p:nvSpPr>
        <p:spPr>
          <a:xfrm>
            <a:off x="10510" y="782453"/>
            <a:ext cx="11971282" cy="5847755"/>
          </a:xfrm>
          <a:prstGeom prst="rect">
            <a:avLst/>
          </a:prstGeom>
          <a:noFill/>
        </p:spPr>
        <p:txBody>
          <a:bodyPr wrap="square">
            <a:spAutoFit/>
          </a:bodyPr>
          <a:lstStyle/>
          <a:p>
            <a:pPr fontAlgn="base"/>
            <a:r>
              <a:rPr lang="en-US" sz="2200" b="1" dirty="0">
                <a:latin typeface="Calibir"/>
              </a:rPr>
              <a:t>Question 2: consistency with sample output </a:t>
            </a:r>
            <a:endParaRPr lang="en-US" sz="2200" dirty="0">
              <a:latin typeface="Calibir"/>
            </a:endParaRPr>
          </a:p>
          <a:p>
            <a:pPr fontAlgn="base"/>
            <a:r>
              <a:rPr lang="en-US" sz="2200" b="1" dirty="0">
                <a:latin typeface="Calibir"/>
              </a:rPr>
              <a:t>e.g., In Change Password Section</a:t>
            </a:r>
            <a:endParaRPr lang="en-US" sz="2200" dirty="0">
              <a:latin typeface="Calibir"/>
            </a:endParaRPr>
          </a:p>
          <a:p>
            <a:pPr fontAlgn="base"/>
            <a:r>
              <a:rPr lang="en-US" sz="2200" dirty="0">
                <a:latin typeface="Calibir"/>
              </a:rPr>
              <a:t>In the sample output, there is no confirmation message after the password change.</a:t>
            </a:r>
            <a:br>
              <a:rPr lang="en-US" sz="2200" dirty="0">
                <a:latin typeface="Calibir"/>
              </a:rPr>
            </a:br>
            <a:r>
              <a:rPr lang="en-US" sz="2200" dirty="0">
                <a:latin typeface="Calibir"/>
              </a:rPr>
              <a:t>So, I added the confirmation message such as "Your password has been successfully changed.", after saving the new password to the database.</a:t>
            </a:r>
            <a:br>
              <a:rPr lang="en-US" sz="2200" dirty="0">
                <a:latin typeface="Calibir"/>
              </a:rPr>
            </a:br>
            <a:r>
              <a:rPr lang="en-US" sz="2200" dirty="0">
                <a:latin typeface="Calibir"/>
              </a:rPr>
              <a:t>Should I remove this line to make my output identical to the sample output?</a:t>
            </a:r>
          </a:p>
          <a:p>
            <a:pPr fontAlgn="base"/>
            <a:r>
              <a:rPr lang="en-US" sz="2200" dirty="0">
                <a:latin typeface="Calibir"/>
              </a:rPr>
              <a:t>Figure 1. Sample output of the guideline page 6. </a:t>
            </a:r>
          </a:p>
          <a:p>
            <a:pPr fontAlgn="base"/>
            <a:br>
              <a:rPr lang="en-US" sz="2200" dirty="0">
                <a:latin typeface="Calibir"/>
              </a:rPr>
            </a:br>
            <a:endParaRPr lang="en-US" sz="2200" dirty="0">
              <a:latin typeface="Calibir"/>
            </a:endParaRPr>
          </a:p>
          <a:p>
            <a:pPr fontAlgn="base"/>
            <a:endParaRPr lang="en-US" sz="2200" dirty="0">
              <a:latin typeface="Calibir"/>
            </a:endParaRPr>
          </a:p>
          <a:p>
            <a:pPr fontAlgn="base"/>
            <a:endParaRPr lang="en-US" sz="2200" dirty="0">
              <a:latin typeface="Calibir"/>
            </a:endParaRPr>
          </a:p>
          <a:p>
            <a:pPr fontAlgn="base"/>
            <a:br>
              <a:rPr lang="en-US" sz="2200" dirty="0">
                <a:latin typeface="Calibir"/>
              </a:rPr>
            </a:br>
            <a:endParaRPr lang="en-US" sz="2200" dirty="0">
              <a:latin typeface="Calibir"/>
            </a:endParaRPr>
          </a:p>
          <a:p>
            <a:pPr fontAlgn="base"/>
            <a:r>
              <a:rPr lang="en-US" sz="2200" dirty="0">
                <a:latin typeface="Calibir"/>
              </a:rPr>
              <a:t>Since the rubric includes the criterion “Matching I/O – I/O wording and indentation match the sample output”, I just wanted to confirm whether the output must be exactly the same as the sample.</a:t>
            </a:r>
          </a:p>
          <a:p>
            <a:pPr fontAlgn="base"/>
            <a:r>
              <a:rPr lang="en-US" sz="2200" dirty="0">
                <a:latin typeface="Calibir"/>
              </a:rPr>
              <a:t>Thank you very much for your time and clarification.</a:t>
            </a:r>
          </a:p>
          <a:p>
            <a:pPr fontAlgn="base"/>
            <a:r>
              <a:rPr lang="en-US" sz="2200" dirty="0">
                <a:latin typeface="Calibir"/>
              </a:rPr>
              <a:t>Kind regards,</a:t>
            </a:r>
          </a:p>
        </p:txBody>
      </p:sp>
      <p:pic>
        <p:nvPicPr>
          <p:cNvPr id="2050" name="Picture 2">
            <a:extLst>
              <a:ext uri="{FF2B5EF4-FFF2-40B4-BE49-F238E27FC236}">
                <a16:creationId xmlns:a16="http://schemas.microsoft.com/office/drawing/2014/main" id="{04A77B34-024A-0665-AEF5-7103D59DAA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6630" y="2842298"/>
            <a:ext cx="4555162" cy="2333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7021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B65EC-9D58-CBA5-C5D0-EAA0161092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38564-CEFA-AE37-2D22-F9D1721C29A9}"/>
              </a:ext>
            </a:extLst>
          </p:cNvPr>
          <p:cNvSpPr>
            <a:spLocks noGrp="1"/>
          </p:cNvSpPr>
          <p:nvPr>
            <p:ph type="title"/>
          </p:nvPr>
        </p:nvSpPr>
        <p:spPr>
          <a:xfrm>
            <a:off x="0" y="2"/>
            <a:ext cx="12192000" cy="76725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Questions and Answers</a:t>
            </a:r>
          </a:p>
        </p:txBody>
      </p:sp>
      <p:sp>
        <p:nvSpPr>
          <p:cNvPr id="5" name="TextBox 4">
            <a:extLst>
              <a:ext uri="{FF2B5EF4-FFF2-40B4-BE49-F238E27FC236}">
                <a16:creationId xmlns:a16="http://schemas.microsoft.com/office/drawing/2014/main" id="{C2156CDA-A856-0931-566E-2558050CD033}"/>
              </a:ext>
            </a:extLst>
          </p:cNvPr>
          <p:cNvSpPr txBox="1"/>
          <p:nvPr/>
        </p:nvSpPr>
        <p:spPr>
          <a:xfrm>
            <a:off x="10510" y="782453"/>
            <a:ext cx="11971282" cy="5866350"/>
          </a:xfrm>
          <a:prstGeom prst="rect">
            <a:avLst/>
          </a:prstGeom>
          <a:noFill/>
        </p:spPr>
        <p:txBody>
          <a:bodyPr wrap="square">
            <a:spAutoFit/>
          </a:bodyPr>
          <a:lstStyle/>
          <a:p>
            <a:pPr fontAlgn="base">
              <a:lnSpc>
                <a:spcPct val="150000"/>
              </a:lnSpc>
            </a:pPr>
            <a:r>
              <a:rPr lang="en-US" b="1" dirty="0">
                <a:latin typeface="Calibir"/>
              </a:rPr>
              <a:t>Dear …,</a:t>
            </a:r>
            <a:endParaRPr lang="en-US" dirty="0">
              <a:latin typeface="Calibir"/>
            </a:endParaRPr>
          </a:p>
          <a:p>
            <a:pPr fontAlgn="base">
              <a:lnSpc>
                <a:spcPct val="150000"/>
              </a:lnSpc>
            </a:pPr>
            <a:r>
              <a:rPr lang="en-US" dirty="0">
                <a:latin typeface="Calibir"/>
              </a:rPr>
              <a:t>Thank you for your detailed and thoughtful questions — I appreciate your careful review of the assessment materials and your professionalism in clarifying these points.</a:t>
            </a:r>
          </a:p>
          <a:p>
            <a:pPr fontAlgn="base">
              <a:lnSpc>
                <a:spcPct val="150000"/>
              </a:lnSpc>
            </a:pPr>
            <a:r>
              <a:rPr lang="en-US" dirty="0">
                <a:latin typeface="Calibir"/>
              </a:rPr>
              <a:t>Question 1: GUI Implementation</a:t>
            </a:r>
          </a:p>
          <a:p>
            <a:pPr fontAlgn="base">
              <a:lnSpc>
                <a:spcPct val="150000"/>
              </a:lnSpc>
            </a:pPr>
            <a:r>
              <a:rPr lang="en-US" dirty="0">
                <a:latin typeface="Calibir"/>
              </a:rPr>
              <a:t>Your understanding is absolutely correct.</a:t>
            </a:r>
          </a:p>
          <a:p>
            <a:pPr fontAlgn="base">
              <a:lnSpc>
                <a:spcPct val="150000"/>
              </a:lnSpc>
            </a:pPr>
            <a:r>
              <a:rPr lang="en-US" dirty="0">
                <a:latin typeface="Calibir"/>
              </a:rPr>
              <a:t>The GUI should use the same data file (</a:t>
            </a:r>
            <a:r>
              <a:rPr lang="en-US" dirty="0" err="1">
                <a:latin typeface="Calibir"/>
              </a:rPr>
              <a:t>students.data</a:t>
            </a:r>
            <a:r>
              <a:rPr lang="en-US" dirty="0">
                <a:latin typeface="Calibir"/>
              </a:rPr>
              <a:t>) and the same backend logic (Student objects, controllers, and validation methods) as the CLI version. The goal is to maintain consistent functionality between both interfaces — the CLI serves as the backend logic layer, while the GUI acts as the frontend that interacts with it.</a:t>
            </a:r>
          </a:p>
          <a:p>
            <a:pPr fontAlgn="base">
              <a:lnSpc>
                <a:spcPct val="150000"/>
              </a:lnSpc>
            </a:pPr>
            <a:r>
              <a:rPr lang="en-US" dirty="0">
                <a:latin typeface="Calibir"/>
              </a:rPr>
              <a:t>In practice, this means:</a:t>
            </a:r>
          </a:p>
          <a:p>
            <a:pPr marL="285750" indent="-285750">
              <a:lnSpc>
                <a:spcPct val="150000"/>
              </a:lnSpc>
              <a:buFont typeface="Arial" panose="020B0604020202020204" pitchFamily="34" charset="0"/>
              <a:buChar char="•"/>
            </a:pPr>
            <a:r>
              <a:rPr lang="en-US" dirty="0">
                <a:latin typeface="Calibir"/>
              </a:rPr>
              <a:t>The GUI file imports and uses the same modules that the CLI does (e.g., </a:t>
            </a:r>
            <a:r>
              <a:rPr lang="en-US" dirty="0" err="1">
                <a:latin typeface="Calibir"/>
              </a:rPr>
              <a:t>student_controller</a:t>
            </a:r>
            <a:r>
              <a:rPr lang="en-US" dirty="0">
                <a:latin typeface="Calibir"/>
              </a:rPr>
              <a:t>, </a:t>
            </a:r>
            <a:r>
              <a:rPr lang="en-US" dirty="0" err="1">
                <a:latin typeface="Calibir"/>
              </a:rPr>
              <a:t>data_store</a:t>
            </a:r>
            <a:r>
              <a:rPr lang="en-US" dirty="0">
                <a:latin typeface="Calibir"/>
              </a:rPr>
              <a:t>, </a:t>
            </a:r>
            <a:r>
              <a:rPr lang="en-US" dirty="0" err="1">
                <a:latin typeface="Calibir"/>
              </a:rPr>
              <a:t>system_services</a:t>
            </a:r>
            <a:r>
              <a:rPr lang="en-US" dirty="0">
                <a:latin typeface="Calibir"/>
              </a:rPr>
              <a:t>, etc.).</a:t>
            </a:r>
          </a:p>
          <a:p>
            <a:pPr marL="285750" indent="-285750">
              <a:lnSpc>
                <a:spcPct val="150000"/>
              </a:lnSpc>
              <a:buFont typeface="Arial" panose="020B0604020202020204" pitchFamily="34" charset="0"/>
              <a:buChar char="•"/>
            </a:pPr>
            <a:r>
              <a:rPr lang="en-US" dirty="0">
                <a:latin typeface="Calibir"/>
              </a:rPr>
              <a:t>Both versions read and update the same data file, ensuring persistent and synchronized data.</a:t>
            </a:r>
          </a:p>
          <a:p>
            <a:pPr marL="285750" indent="-285750">
              <a:lnSpc>
                <a:spcPct val="150000"/>
              </a:lnSpc>
              <a:buFont typeface="Arial" panose="020B0604020202020204" pitchFamily="34" charset="0"/>
              <a:buChar char="•"/>
            </a:pPr>
            <a:r>
              <a:rPr lang="en-US" dirty="0">
                <a:latin typeface="Calibir"/>
              </a:rPr>
              <a:t>When running the GUI version, it should be able to operate independently, but its operations (e.g., register, change password, update data) should reflect correctly in the same </a:t>
            </a:r>
            <a:r>
              <a:rPr lang="en-US" dirty="0" err="1">
                <a:latin typeface="Calibir"/>
              </a:rPr>
              <a:t>students.data</a:t>
            </a:r>
            <a:r>
              <a:rPr lang="en-US" dirty="0">
                <a:latin typeface="Calibir"/>
              </a:rPr>
              <a:t> file used by the CLI.</a:t>
            </a:r>
          </a:p>
        </p:txBody>
      </p:sp>
    </p:spTree>
    <p:extLst>
      <p:ext uri="{BB962C8B-B14F-4D97-AF65-F5344CB8AC3E}">
        <p14:creationId xmlns:p14="http://schemas.microsoft.com/office/powerpoint/2010/main" val="1658720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3579A-CE03-166F-F2E2-EA9C05B94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1A7EFD-6CBC-59CB-17EE-95B21F8736A4}"/>
              </a:ext>
            </a:extLst>
          </p:cNvPr>
          <p:cNvSpPr>
            <a:spLocks noGrp="1"/>
          </p:cNvSpPr>
          <p:nvPr>
            <p:ph type="title"/>
          </p:nvPr>
        </p:nvSpPr>
        <p:spPr>
          <a:xfrm>
            <a:off x="0" y="2"/>
            <a:ext cx="12192000" cy="76725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Questions and Answers</a:t>
            </a:r>
          </a:p>
        </p:txBody>
      </p:sp>
      <p:sp>
        <p:nvSpPr>
          <p:cNvPr id="5" name="TextBox 4">
            <a:extLst>
              <a:ext uri="{FF2B5EF4-FFF2-40B4-BE49-F238E27FC236}">
                <a16:creationId xmlns:a16="http://schemas.microsoft.com/office/drawing/2014/main" id="{1E465326-8398-5C7B-734A-129BF389BC86}"/>
              </a:ext>
            </a:extLst>
          </p:cNvPr>
          <p:cNvSpPr txBox="1"/>
          <p:nvPr/>
        </p:nvSpPr>
        <p:spPr>
          <a:xfrm>
            <a:off x="10510" y="782453"/>
            <a:ext cx="11971282" cy="5196166"/>
          </a:xfrm>
          <a:prstGeom prst="rect">
            <a:avLst/>
          </a:prstGeom>
          <a:noFill/>
        </p:spPr>
        <p:txBody>
          <a:bodyPr wrap="square">
            <a:spAutoFit/>
          </a:bodyPr>
          <a:lstStyle/>
          <a:p>
            <a:pPr fontAlgn="base">
              <a:lnSpc>
                <a:spcPct val="150000"/>
              </a:lnSpc>
            </a:pPr>
            <a:r>
              <a:rPr lang="en-US" sz="2800" dirty="0">
                <a:latin typeface="Calibir"/>
              </a:rPr>
              <a:t>In short — yes, your interpretation is correct:</a:t>
            </a:r>
          </a:p>
          <a:p>
            <a:pPr fontAlgn="base">
              <a:lnSpc>
                <a:spcPct val="150000"/>
              </a:lnSpc>
            </a:pPr>
            <a:r>
              <a:rPr lang="en-US" sz="2800" dirty="0">
                <a:latin typeface="Calibir"/>
              </a:rPr>
              <a:t>The GUI should access and update the same file as the CLI, using the same backend logic to ensure identical functionality and consistent data behavior.</a:t>
            </a:r>
          </a:p>
          <a:p>
            <a:pPr fontAlgn="base">
              <a:lnSpc>
                <a:spcPct val="150000"/>
              </a:lnSpc>
            </a:pPr>
            <a:r>
              <a:rPr lang="en-US" sz="2800" dirty="0">
                <a:latin typeface="Calibir"/>
              </a:rPr>
              <a:t>Question 2: Consistency with Sample Output</a:t>
            </a:r>
          </a:p>
          <a:p>
            <a:pPr fontAlgn="base">
              <a:lnSpc>
                <a:spcPct val="150000"/>
              </a:lnSpc>
            </a:pPr>
            <a:r>
              <a:rPr lang="en-US" sz="2800" dirty="0">
                <a:latin typeface="Calibir"/>
              </a:rPr>
              <a:t>That’s an excellent and very professional question.</a:t>
            </a:r>
          </a:p>
          <a:p>
            <a:pPr fontAlgn="base">
              <a:lnSpc>
                <a:spcPct val="150000"/>
              </a:lnSpc>
            </a:pPr>
            <a:r>
              <a:rPr lang="en-US" sz="2800" dirty="0">
                <a:latin typeface="Calibir"/>
              </a:rPr>
              <a:t>The “Matching I/O wording and indentation” criterion in the rubric focuses on alignment with the functional structure and clarity of output, not literal character-by-character replication.</a:t>
            </a:r>
          </a:p>
        </p:txBody>
      </p:sp>
    </p:spTree>
    <p:extLst>
      <p:ext uri="{BB962C8B-B14F-4D97-AF65-F5344CB8AC3E}">
        <p14:creationId xmlns:p14="http://schemas.microsoft.com/office/powerpoint/2010/main" val="324968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CCBB1-6010-E973-BB1C-7594F3FD76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8D519-BB7B-C6CD-C0C6-1F48F2C9A509}"/>
              </a:ext>
            </a:extLst>
          </p:cNvPr>
          <p:cNvSpPr>
            <a:spLocks noGrp="1"/>
          </p:cNvSpPr>
          <p:nvPr>
            <p:ph type="title"/>
          </p:nvPr>
        </p:nvSpPr>
        <p:spPr>
          <a:xfrm>
            <a:off x="0" y="2"/>
            <a:ext cx="12192000" cy="76725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Questions and Answers</a:t>
            </a:r>
          </a:p>
        </p:txBody>
      </p:sp>
      <p:sp>
        <p:nvSpPr>
          <p:cNvPr id="5" name="TextBox 4">
            <a:extLst>
              <a:ext uri="{FF2B5EF4-FFF2-40B4-BE49-F238E27FC236}">
                <a16:creationId xmlns:a16="http://schemas.microsoft.com/office/drawing/2014/main" id="{3B152523-4441-4F28-1160-8B1CC0353631}"/>
              </a:ext>
            </a:extLst>
          </p:cNvPr>
          <p:cNvSpPr txBox="1"/>
          <p:nvPr/>
        </p:nvSpPr>
        <p:spPr>
          <a:xfrm>
            <a:off x="10510" y="782453"/>
            <a:ext cx="11971282" cy="5196166"/>
          </a:xfrm>
          <a:prstGeom prst="rect">
            <a:avLst/>
          </a:prstGeom>
          <a:noFill/>
        </p:spPr>
        <p:txBody>
          <a:bodyPr wrap="square">
            <a:spAutoFit/>
          </a:bodyPr>
          <a:lstStyle/>
          <a:p>
            <a:pPr fontAlgn="base">
              <a:lnSpc>
                <a:spcPct val="150000"/>
              </a:lnSpc>
            </a:pPr>
            <a:r>
              <a:rPr lang="en-US" sz="2800" dirty="0">
                <a:latin typeface="Calibir"/>
              </a:rPr>
              <a:t>Therefore:</a:t>
            </a:r>
          </a:p>
          <a:p>
            <a:pPr marL="342900" indent="-342900">
              <a:lnSpc>
                <a:spcPct val="150000"/>
              </a:lnSpc>
              <a:buFont typeface="Arial" panose="020B0604020202020204" pitchFamily="34" charset="0"/>
              <a:buChar char="•"/>
            </a:pPr>
            <a:r>
              <a:rPr lang="en-US" sz="2800" dirty="0">
                <a:latin typeface="Calibir"/>
              </a:rPr>
              <a:t>You can include additional messages like</a:t>
            </a:r>
          </a:p>
          <a:p>
            <a:pPr fontAlgn="base">
              <a:lnSpc>
                <a:spcPct val="150000"/>
              </a:lnSpc>
            </a:pPr>
            <a:r>
              <a:rPr lang="en-US" sz="2800" dirty="0">
                <a:latin typeface="Calibir"/>
              </a:rPr>
              <a:t>“Your password has been successfully changed.”</a:t>
            </a:r>
            <a:br>
              <a:rPr lang="en-US" sz="2800" dirty="0">
                <a:latin typeface="Calibir"/>
              </a:rPr>
            </a:br>
            <a:r>
              <a:rPr lang="en-US" sz="2800" dirty="0">
                <a:latin typeface="Calibir"/>
              </a:rPr>
              <a:t>if it enhances clarity and user experience, as long as it does not disrupt the program flow or misrepresent functionality.</a:t>
            </a:r>
          </a:p>
          <a:p>
            <a:pPr marL="342900" indent="-342900">
              <a:lnSpc>
                <a:spcPct val="150000"/>
              </a:lnSpc>
              <a:buFont typeface="Arial" panose="020B0604020202020204" pitchFamily="34" charset="0"/>
              <a:buChar char="•"/>
            </a:pPr>
            <a:r>
              <a:rPr lang="en-US" sz="2800" dirty="0">
                <a:latin typeface="Calibir"/>
              </a:rPr>
              <a:t>You do not need to remove the confirmation line — it is perfectly acceptable and even encouraged for good UX practice, as it confirms successful state change to the user.</a:t>
            </a:r>
          </a:p>
        </p:txBody>
      </p:sp>
    </p:spTree>
    <p:extLst>
      <p:ext uri="{BB962C8B-B14F-4D97-AF65-F5344CB8AC3E}">
        <p14:creationId xmlns:p14="http://schemas.microsoft.com/office/powerpoint/2010/main" val="7187098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ECB78-4DCE-A254-3B34-21F70663A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C439C-6925-588C-0784-DAB22219518F}"/>
              </a:ext>
            </a:extLst>
          </p:cNvPr>
          <p:cNvSpPr>
            <a:spLocks noGrp="1"/>
          </p:cNvSpPr>
          <p:nvPr>
            <p:ph type="title"/>
          </p:nvPr>
        </p:nvSpPr>
        <p:spPr>
          <a:xfrm>
            <a:off x="0" y="2"/>
            <a:ext cx="12192000" cy="76725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Questions and Answers</a:t>
            </a:r>
          </a:p>
        </p:txBody>
      </p:sp>
      <p:sp>
        <p:nvSpPr>
          <p:cNvPr id="5" name="TextBox 4">
            <a:extLst>
              <a:ext uri="{FF2B5EF4-FFF2-40B4-BE49-F238E27FC236}">
                <a16:creationId xmlns:a16="http://schemas.microsoft.com/office/drawing/2014/main" id="{FF76602F-47C0-5223-A1F0-90DC6556B492}"/>
              </a:ext>
            </a:extLst>
          </p:cNvPr>
          <p:cNvSpPr txBox="1"/>
          <p:nvPr/>
        </p:nvSpPr>
        <p:spPr>
          <a:xfrm>
            <a:off x="10510" y="782453"/>
            <a:ext cx="11971282" cy="6031908"/>
          </a:xfrm>
          <a:prstGeom prst="rect">
            <a:avLst/>
          </a:prstGeom>
          <a:noFill/>
        </p:spPr>
        <p:txBody>
          <a:bodyPr wrap="square">
            <a:spAutoFit/>
          </a:bodyPr>
          <a:lstStyle/>
          <a:p>
            <a:pPr fontAlgn="base">
              <a:lnSpc>
                <a:spcPct val="150000"/>
              </a:lnSpc>
            </a:pPr>
            <a:r>
              <a:rPr lang="en-US" sz="2600" dirty="0">
                <a:latin typeface="Calibir"/>
              </a:rPr>
              <a:t>Only ensure that:</a:t>
            </a:r>
          </a:p>
          <a:p>
            <a:pPr marL="457200" indent="-457200">
              <a:lnSpc>
                <a:spcPct val="150000"/>
              </a:lnSpc>
              <a:buFont typeface="Arial" panose="020B0604020202020204" pitchFamily="34" charset="0"/>
              <a:buChar char="•"/>
            </a:pPr>
            <a:r>
              <a:rPr lang="en-US" sz="2600" dirty="0">
                <a:latin typeface="Calibir"/>
              </a:rPr>
              <a:t>The logical order of I/O interactions (input–processing–output) matches the sample flow.</a:t>
            </a:r>
          </a:p>
          <a:p>
            <a:pPr marL="457200" indent="-457200">
              <a:lnSpc>
                <a:spcPct val="150000"/>
              </a:lnSpc>
              <a:buFont typeface="Arial" panose="020B0604020202020204" pitchFamily="34" charset="0"/>
              <a:buChar char="•"/>
            </a:pPr>
            <a:r>
              <a:rPr lang="en-US" sz="2600" dirty="0">
                <a:latin typeface="Calibir"/>
              </a:rPr>
              <a:t>The structure (menu options, indentation, and line sequence) remains consistent with the example.</a:t>
            </a:r>
          </a:p>
          <a:p>
            <a:pPr fontAlgn="base">
              <a:lnSpc>
                <a:spcPct val="150000"/>
              </a:lnSpc>
            </a:pPr>
            <a:r>
              <a:rPr lang="en-US" sz="2600" dirty="0">
                <a:latin typeface="Calibir"/>
              </a:rPr>
              <a:t>Summary</a:t>
            </a:r>
          </a:p>
          <a:p>
            <a:pPr marL="457200" indent="-457200">
              <a:lnSpc>
                <a:spcPct val="150000"/>
              </a:lnSpc>
              <a:buFont typeface="Arial" panose="020B0604020202020204" pitchFamily="34" charset="0"/>
              <a:buChar char="•"/>
            </a:pPr>
            <a:r>
              <a:rPr lang="en-US" sz="2600" dirty="0">
                <a:latin typeface="Calibir"/>
              </a:rPr>
              <a:t>GUI Integration: Should use the same backend modules and data file (</a:t>
            </a:r>
            <a:r>
              <a:rPr lang="en-US" sz="2600" dirty="0" err="1">
                <a:latin typeface="Calibir"/>
              </a:rPr>
              <a:t>students.data</a:t>
            </a:r>
            <a:r>
              <a:rPr lang="en-US" sz="2600" dirty="0">
                <a:latin typeface="Calibir"/>
              </a:rPr>
              <a:t>) for consistency.</a:t>
            </a:r>
          </a:p>
          <a:p>
            <a:pPr marL="457200" indent="-457200">
              <a:lnSpc>
                <a:spcPct val="150000"/>
              </a:lnSpc>
              <a:buFont typeface="Arial" panose="020B0604020202020204" pitchFamily="34" charset="0"/>
              <a:buChar char="•"/>
            </a:pPr>
            <a:r>
              <a:rPr lang="en-US" sz="2600" dirty="0">
                <a:latin typeface="Calibir"/>
              </a:rPr>
              <a:t>I/O Consistency: Maintain functional and structural alignment; small additions that improve clarity are acceptable.</a:t>
            </a:r>
          </a:p>
        </p:txBody>
      </p:sp>
    </p:spTree>
    <p:extLst>
      <p:ext uri="{BB962C8B-B14F-4D97-AF65-F5344CB8AC3E}">
        <p14:creationId xmlns:p14="http://schemas.microsoft.com/office/powerpoint/2010/main" val="18157001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60736-9B07-EBF4-C3F7-964D1CA6D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CB28F-407B-E4D8-5D2E-F4CB96DC4A37}"/>
              </a:ext>
            </a:extLst>
          </p:cNvPr>
          <p:cNvSpPr>
            <a:spLocks noGrp="1"/>
          </p:cNvSpPr>
          <p:nvPr>
            <p:ph type="title"/>
          </p:nvPr>
        </p:nvSpPr>
        <p:spPr>
          <a:xfrm>
            <a:off x="0" y="2"/>
            <a:ext cx="12192000" cy="76725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Questions and Answers</a:t>
            </a:r>
          </a:p>
        </p:txBody>
      </p:sp>
      <p:sp>
        <p:nvSpPr>
          <p:cNvPr id="5" name="TextBox 4">
            <a:extLst>
              <a:ext uri="{FF2B5EF4-FFF2-40B4-BE49-F238E27FC236}">
                <a16:creationId xmlns:a16="http://schemas.microsoft.com/office/drawing/2014/main" id="{366607FD-B173-83E3-C89F-695ED7D1A959}"/>
              </a:ext>
            </a:extLst>
          </p:cNvPr>
          <p:cNvSpPr txBox="1"/>
          <p:nvPr/>
        </p:nvSpPr>
        <p:spPr>
          <a:xfrm>
            <a:off x="10510" y="782453"/>
            <a:ext cx="11971282" cy="3903504"/>
          </a:xfrm>
          <a:prstGeom prst="rect">
            <a:avLst/>
          </a:prstGeom>
          <a:noFill/>
        </p:spPr>
        <p:txBody>
          <a:bodyPr wrap="square">
            <a:spAutoFit/>
          </a:bodyPr>
          <a:lstStyle/>
          <a:p>
            <a:pPr fontAlgn="base">
              <a:lnSpc>
                <a:spcPct val="150000"/>
              </a:lnSpc>
            </a:pPr>
            <a:r>
              <a:rPr lang="en-US" sz="2800" dirty="0">
                <a:latin typeface="Calibir"/>
              </a:rPr>
              <a:t>Your attention to these details reflects strong software engineering practice — it’s exactly the level of thoughtfulness expected at this stage.</a:t>
            </a:r>
          </a:p>
          <a:p>
            <a:pPr fontAlgn="base">
              <a:lnSpc>
                <a:spcPct val="150000"/>
              </a:lnSpc>
            </a:pPr>
            <a:r>
              <a:rPr lang="en-US" sz="2800" dirty="0">
                <a:latin typeface="Calibir"/>
              </a:rPr>
              <a:t>Also, please note that all presentation PowerPoints with their links (including Tuesday and Friday’s sessions) are now attached for your reference.</a:t>
            </a:r>
          </a:p>
          <a:p>
            <a:pPr fontAlgn="base">
              <a:lnSpc>
                <a:spcPct val="150000"/>
              </a:lnSpc>
            </a:pPr>
            <a:r>
              <a:rPr lang="en-US" sz="2800" b="1" dirty="0">
                <a:latin typeface="Calibir"/>
              </a:rPr>
              <a:t>Kind regards,</a:t>
            </a:r>
            <a:endParaRPr lang="en-US" sz="2800" dirty="0">
              <a:latin typeface="Calibir"/>
            </a:endParaRPr>
          </a:p>
          <a:p>
            <a:pPr fontAlgn="base">
              <a:lnSpc>
                <a:spcPct val="150000"/>
              </a:lnSpc>
            </a:pPr>
            <a:r>
              <a:rPr lang="en-US" sz="2800" b="1" dirty="0">
                <a:latin typeface="Calibir"/>
              </a:rPr>
              <a:t>Dr. Farshid Keivanian</a:t>
            </a:r>
            <a:endParaRPr lang="en-US" sz="2800" dirty="0">
              <a:latin typeface="Calibir"/>
            </a:endParaRPr>
          </a:p>
        </p:txBody>
      </p:sp>
    </p:spTree>
    <p:extLst>
      <p:ext uri="{BB962C8B-B14F-4D97-AF65-F5344CB8AC3E}">
        <p14:creationId xmlns:p14="http://schemas.microsoft.com/office/powerpoint/2010/main" val="97871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792CC-D7BA-2334-8B16-4CF656B4D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3E297B-687A-FD60-9037-C4B714C06C95}"/>
              </a:ext>
            </a:extLst>
          </p:cNvPr>
          <p:cNvSpPr>
            <a:spLocks noGrp="1"/>
          </p:cNvSpPr>
          <p:nvPr>
            <p:ph type="title"/>
          </p:nvPr>
        </p:nvSpPr>
        <p:spPr>
          <a:xfrm>
            <a:off x="0" y="2"/>
            <a:ext cx="12192000" cy="767254"/>
          </a:xfrm>
        </p:spPr>
        <p:txBody>
          <a:bodyPr anchor="b">
            <a:normAutofit/>
          </a:bodyPr>
          <a:lstStyle/>
          <a:p>
            <a:pPr>
              <a:spcAft>
                <a:spcPts val="800"/>
              </a:spcAft>
            </a:pPr>
            <a:r>
              <a:rPr lang="en-US" sz="4000" kern="100" dirty="0">
                <a:latin typeface="Calibir"/>
                <a:ea typeface="Aptos" panose="020B0004020202020204" pitchFamily="34" charset="0"/>
                <a:cs typeface="Arial" panose="020B0604020202020204" pitchFamily="34" charset="0"/>
              </a:rPr>
              <a:t>Questions and Answers</a:t>
            </a:r>
          </a:p>
        </p:txBody>
      </p:sp>
      <p:sp>
        <p:nvSpPr>
          <p:cNvPr id="5" name="TextBox 4">
            <a:extLst>
              <a:ext uri="{FF2B5EF4-FFF2-40B4-BE49-F238E27FC236}">
                <a16:creationId xmlns:a16="http://schemas.microsoft.com/office/drawing/2014/main" id="{754295A1-73E8-E23A-64C6-ADD7AB4E9C17}"/>
              </a:ext>
            </a:extLst>
          </p:cNvPr>
          <p:cNvSpPr txBox="1"/>
          <p:nvPr/>
        </p:nvSpPr>
        <p:spPr>
          <a:xfrm>
            <a:off x="10510" y="782453"/>
            <a:ext cx="11971282" cy="5626027"/>
          </a:xfrm>
          <a:prstGeom prst="rect">
            <a:avLst/>
          </a:prstGeom>
          <a:noFill/>
        </p:spPr>
        <p:txBody>
          <a:bodyPr wrap="square">
            <a:spAutoFit/>
          </a:bodyPr>
          <a:lstStyle/>
          <a:p>
            <a:pPr fontAlgn="base">
              <a:lnSpc>
                <a:spcPct val="150000"/>
              </a:lnSpc>
            </a:pPr>
            <a:r>
              <a:rPr lang="en-US" sz="2200" dirty="0">
                <a:latin typeface="Calibir"/>
              </a:rPr>
              <a:t>Dear Dr. Farshid Keivanian,</a:t>
            </a:r>
          </a:p>
          <a:p>
            <a:pPr fontAlgn="base">
              <a:lnSpc>
                <a:spcPct val="150000"/>
              </a:lnSpc>
            </a:pPr>
            <a:r>
              <a:rPr lang="en-US" sz="2200" dirty="0">
                <a:latin typeface="Calibir"/>
              </a:rPr>
              <a:t>Thank you so much for your detailed and kind response.</a:t>
            </a:r>
            <a:br>
              <a:rPr lang="en-US" sz="2200" dirty="0">
                <a:latin typeface="Calibir"/>
              </a:rPr>
            </a:br>
            <a:r>
              <a:rPr lang="en-US" sz="2200" dirty="0">
                <a:latin typeface="Calibir"/>
              </a:rPr>
              <a:t>Your explanation about the GUI and CLI integration clarified everything perfectly, and it was incredibly helpful for my team as we are preparing for next week’s presentation.</a:t>
            </a:r>
          </a:p>
          <a:p>
            <a:pPr fontAlgn="base">
              <a:lnSpc>
                <a:spcPct val="150000"/>
              </a:lnSpc>
            </a:pPr>
            <a:r>
              <a:rPr lang="en-US" sz="2200" dirty="0">
                <a:latin typeface="Calibir"/>
              </a:rPr>
              <a:t>I truly appreciate the time and effort you took to reply so thoroughly, and also for letting us know the presentation schedule.</a:t>
            </a:r>
            <a:br>
              <a:rPr lang="en-US" sz="2200" dirty="0">
                <a:latin typeface="Calibir"/>
              </a:rPr>
            </a:br>
            <a:r>
              <a:rPr lang="en-US" sz="2200" dirty="0">
                <a:latin typeface="Calibir"/>
              </a:rPr>
              <a:t>Our group will attend and present during our regular tutorial time, and we will try our best to complete the assessment following your advice.</a:t>
            </a:r>
          </a:p>
          <a:p>
            <a:pPr fontAlgn="base">
              <a:lnSpc>
                <a:spcPct val="150000"/>
              </a:lnSpc>
            </a:pPr>
            <a:r>
              <a:rPr lang="en-US" sz="2200" dirty="0">
                <a:latin typeface="Calibir"/>
              </a:rPr>
              <a:t>Thank you once again for your guidance and support.</a:t>
            </a:r>
          </a:p>
          <a:p>
            <a:pPr fontAlgn="base">
              <a:lnSpc>
                <a:spcPct val="150000"/>
              </a:lnSpc>
            </a:pPr>
            <a:r>
              <a:rPr lang="en-US" sz="2200" dirty="0">
                <a:latin typeface="Calibir"/>
              </a:rPr>
              <a:t>Kind regards,</a:t>
            </a:r>
            <a:br>
              <a:rPr lang="en-US" sz="2200" dirty="0">
                <a:latin typeface="Calibir"/>
              </a:rPr>
            </a:br>
            <a:r>
              <a:rPr lang="en-US" sz="2200" dirty="0">
                <a:latin typeface="Calibir"/>
              </a:rPr>
              <a:t>…</a:t>
            </a:r>
          </a:p>
        </p:txBody>
      </p:sp>
    </p:spTree>
    <p:extLst>
      <p:ext uri="{BB962C8B-B14F-4D97-AF65-F5344CB8AC3E}">
        <p14:creationId xmlns:p14="http://schemas.microsoft.com/office/powerpoint/2010/main" val="1286393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0C101F-C65F-1D84-0824-C2471518F032}"/>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Tying a bow in an arrangment of presents">
            <a:extLst>
              <a:ext uri="{FF2B5EF4-FFF2-40B4-BE49-F238E27FC236}">
                <a16:creationId xmlns:a16="http://schemas.microsoft.com/office/drawing/2014/main" id="{E6D721DE-1453-5AA6-9447-209B227E2123}"/>
              </a:ext>
            </a:extLst>
          </p:cNvPr>
          <p:cNvPicPr>
            <a:picLocks noChangeAspect="1"/>
          </p:cNvPicPr>
          <p:nvPr/>
        </p:nvPicPr>
        <p:blipFill rotWithShape="1">
          <a:blip r:embed="rId2"/>
          <a:srcRect l="17081" r="16168" b="-2"/>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41"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4845029-98A4-9C92-04B4-320B6AFDD1B8}"/>
              </a:ext>
            </a:extLst>
          </p:cNvPr>
          <p:cNvSpPr txBox="1"/>
          <p:nvPr/>
        </p:nvSpPr>
        <p:spPr>
          <a:xfrm>
            <a:off x="6388119" y="99483"/>
            <a:ext cx="5198044" cy="6651523"/>
          </a:xfrm>
          <a:prstGeom prst="rect">
            <a:avLst/>
          </a:prstGeom>
        </p:spPr>
        <p:txBody>
          <a:bodyPr vert="horz" lIns="91440" tIns="45720" rIns="91440" bIns="45720" rtlCol="0" anchor="t">
            <a:no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Happy Learning and Bright Futures Ahead!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Dr. Farshid Keivanian</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1"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Stay Connected:</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3"/>
              </a:rPr>
              <a:t>linkedin.com/in/farshid-keivanian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b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b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hlinkClick r:id="rId4"/>
              </a:rPr>
              <a:t>github.com/FarshidKeivanian</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a:t>
            </a:r>
          </a:p>
          <a:p>
            <a:pPr marL="0" marR="0" lvl="0" indent="-228600" algn="l" defTabSz="914400" rtl="0" eaLnBrk="1" fontAlgn="auto" latinLnBrk="0" hangingPunct="1">
              <a:lnSpc>
                <a:spcPct val="150000"/>
              </a:lnSpc>
              <a:spcBef>
                <a:spcPts val="0"/>
              </a:spcBef>
              <a:spcAft>
                <a:spcPts val="600"/>
              </a:spcAft>
              <a:buClrTx/>
              <a:buSzTx/>
              <a:buFont typeface="Arial" panose="020B0604020202020204" pitchFamily="34" charset="0"/>
              <a:buChar char="•"/>
              <a:tabLst/>
              <a:defRPr/>
            </a:pPr>
            <a:r>
              <a:rPr kumimoji="0" lang="en-US" sz="2800" b="0" i="1"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Education is the most powerful weapon you can use to change the world. </a:t>
            </a:r>
            <a:r>
              <a:rPr kumimoji="0" lang="en-US" sz="2800" b="0" i="0" u="none" strike="noStrike" kern="1200" cap="none" spc="0" normalizeH="0" baseline="0" noProof="0" dirty="0">
                <a:ln>
                  <a:noFill/>
                </a:ln>
                <a:solidFill>
                  <a:prstClr val="black">
                    <a:alpha val="80000"/>
                  </a:prstClr>
                </a:solidFill>
                <a:effectLst/>
                <a:uLnTx/>
                <a:uFillTx/>
                <a:latin typeface="Calibri" panose="020F0502020204030204"/>
                <a:ea typeface="+mn-ea"/>
                <a:cs typeface="+mn-cs"/>
              </a:rPr>
              <a:t>— Nelson Mandela</a:t>
            </a:r>
          </a:p>
        </p:txBody>
      </p:sp>
      <p:sp>
        <p:nvSpPr>
          <p:cNvPr id="45"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47"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0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4568</TotalTime>
  <Words>1920</Words>
  <Application>Microsoft Office PowerPoint</Application>
  <PresentationFormat>Widescreen</PresentationFormat>
  <Paragraphs>113</Paragraphs>
  <Slides>18</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Aptos</vt:lpstr>
      <vt:lpstr>Aptos Display</vt:lpstr>
      <vt:lpstr>Arial</vt:lpstr>
      <vt:lpstr>Calibir</vt:lpstr>
      <vt:lpstr>Calibri</vt:lpstr>
      <vt:lpstr>Calibri Light</vt:lpstr>
      <vt:lpstr>Office Theme</vt:lpstr>
      <vt:lpstr>1_Office Theme</vt:lpstr>
      <vt:lpstr>Introduction to Software Engineering (ISE102) Showcase Presentation</vt:lpstr>
      <vt:lpstr>Showcase Presentation</vt:lpstr>
      <vt:lpstr>Link to join online presentation 28th Oct 6:15 PM – 8:15 PM</vt:lpstr>
      <vt:lpstr>Link to join online presentation 31st Oct 12 PM -  2PM</vt:lpstr>
      <vt:lpstr>Face-to-Face presentation 4th Nov 4 PM – 6 PM with a link to join online if needed</vt:lpstr>
      <vt:lpstr>Face-to-Face presentation 7th Nov 12 PM – 2 PM with a link to join online if needed</vt:lpstr>
      <vt:lpstr>Questions and Answers</vt:lpstr>
      <vt:lpstr>Questions and Answers</vt:lpstr>
      <vt:lpstr>Questions and Answers</vt:lpstr>
      <vt:lpstr>Questions and Answers</vt:lpstr>
      <vt:lpstr>Questions and Answers</vt:lpstr>
      <vt:lpstr>Questions and Answers</vt:lpstr>
      <vt:lpstr>Questions and Answers</vt:lpstr>
      <vt:lpstr>Questions and Answers</vt:lpstr>
      <vt:lpstr>Questions and Answers</vt:lpstr>
      <vt:lpstr>Questions and Answers</vt:lpstr>
      <vt:lpstr>Questions and Answers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Farshid Keivanian</dc:creator>
  <cp:lastModifiedBy>Farshid Keivanian</cp:lastModifiedBy>
  <cp:revision>1452</cp:revision>
  <dcterms:created xsi:type="dcterms:W3CDTF">2025-07-28T16:39:25Z</dcterms:created>
  <dcterms:modified xsi:type="dcterms:W3CDTF">2025-11-03T09:33:33Z</dcterms:modified>
</cp:coreProperties>
</file>