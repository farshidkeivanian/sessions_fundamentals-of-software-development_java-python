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04"/>
  </p:notesMasterIdLst>
  <p:sldIdLst>
    <p:sldId id="256" r:id="rId3"/>
    <p:sldId id="2467" r:id="rId4"/>
    <p:sldId id="2634" r:id="rId5"/>
    <p:sldId id="2871" r:id="rId6"/>
    <p:sldId id="2872" r:id="rId7"/>
    <p:sldId id="2873" r:id="rId8"/>
    <p:sldId id="2916" r:id="rId9"/>
    <p:sldId id="2874" r:id="rId10"/>
    <p:sldId id="2875" r:id="rId11"/>
    <p:sldId id="2903" r:id="rId12"/>
    <p:sldId id="2876" r:id="rId13"/>
    <p:sldId id="2904" r:id="rId14"/>
    <p:sldId id="2877" r:id="rId15"/>
    <p:sldId id="2905" r:id="rId16"/>
    <p:sldId id="2906" r:id="rId17"/>
    <p:sldId id="2878" r:id="rId18"/>
    <p:sldId id="2907" r:id="rId19"/>
    <p:sldId id="2908" r:id="rId20"/>
    <p:sldId id="2879" r:id="rId21"/>
    <p:sldId id="2909" r:id="rId22"/>
    <p:sldId id="2880" r:id="rId23"/>
    <p:sldId id="2910" r:id="rId24"/>
    <p:sldId id="2881" r:id="rId25"/>
    <p:sldId id="2911" r:id="rId26"/>
    <p:sldId id="2882" r:id="rId27"/>
    <p:sldId id="2883" r:id="rId28"/>
    <p:sldId id="2912" r:id="rId29"/>
    <p:sldId id="2884" r:id="rId30"/>
    <p:sldId id="2885" r:id="rId31"/>
    <p:sldId id="2913" r:id="rId32"/>
    <p:sldId id="2886" r:id="rId33"/>
    <p:sldId id="2914" r:id="rId34"/>
    <p:sldId id="2887" r:id="rId35"/>
    <p:sldId id="2888" r:id="rId36"/>
    <p:sldId id="2915" r:id="rId37"/>
    <p:sldId id="2917" r:id="rId38"/>
    <p:sldId id="2870" r:id="rId39"/>
    <p:sldId id="2592" r:id="rId40"/>
    <p:sldId id="2854" r:id="rId41"/>
    <p:sldId id="2852" r:id="rId42"/>
    <p:sldId id="2853" r:id="rId43"/>
    <p:sldId id="2824" r:id="rId44"/>
    <p:sldId id="2825" r:id="rId45"/>
    <p:sldId id="2889" r:id="rId46"/>
    <p:sldId id="2890" r:id="rId47"/>
    <p:sldId id="2891" r:id="rId48"/>
    <p:sldId id="2892" r:id="rId49"/>
    <p:sldId id="2893" r:id="rId50"/>
    <p:sldId id="2894" r:id="rId51"/>
    <p:sldId id="2918" r:id="rId52"/>
    <p:sldId id="2922" r:id="rId53"/>
    <p:sldId id="2919" r:id="rId54"/>
    <p:sldId id="2920" r:id="rId55"/>
    <p:sldId id="2921" r:id="rId56"/>
    <p:sldId id="2828" r:id="rId57"/>
    <p:sldId id="2837" r:id="rId58"/>
    <p:sldId id="2851" r:id="rId59"/>
    <p:sldId id="2830" r:id="rId60"/>
    <p:sldId id="2831" r:id="rId61"/>
    <p:sldId id="2832" r:id="rId62"/>
    <p:sldId id="2833" r:id="rId63"/>
    <p:sldId id="2834" r:id="rId64"/>
    <p:sldId id="2835" r:id="rId65"/>
    <p:sldId id="2838" r:id="rId66"/>
    <p:sldId id="2836" r:id="rId67"/>
    <p:sldId id="2842" r:id="rId68"/>
    <p:sldId id="2845" r:id="rId69"/>
    <p:sldId id="2846" r:id="rId70"/>
    <p:sldId id="2847" r:id="rId71"/>
    <p:sldId id="2848" r:id="rId72"/>
    <p:sldId id="2849" r:id="rId73"/>
    <p:sldId id="2844" r:id="rId74"/>
    <p:sldId id="2859" r:id="rId75"/>
    <p:sldId id="2860" r:id="rId76"/>
    <p:sldId id="2861" r:id="rId77"/>
    <p:sldId id="2862" r:id="rId78"/>
    <p:sldId id="2863" r:id="rId79"/>
    <p:sldId id="2864" r:id="rId80"/>
    <p:sldId id="2865" r:id="rId81"/>
    <p:sldId id="2866" r:id="rId82"/>
    <p:sldId id="2855" r:id="rId83"/>
    <p:sldId id="2856" r:id="rId84"/>
    <p:sldId id="2858" r:id="rId85"/>
    <p:sldId id="2857" r:id="rId86"/>
    <p:sldId id="2829" r:id="rId87"/>
    <p:sldId id="2867" r:id="rId88"/>
    <p:sldId id="2839" r:id="rId89"/>
    <p:sldId id="2868" r:id="rId90"/>
    <p:sldId id="2869" r:id="rId91"/>
    <p:sldId id="2895" r:id="rId92"/>
    <p:sldId id="2896" r:id="rId93"/>
    <p:sldId id="2897" r:id="rId94"/>
    <p:sldId id="2898" r:id="rId95"/>
    <p:sldId id="2899" r:id="rId96"/>
    <p:sldId id="2900" r:id="rId97"/>
    <p:sldId id="2901" r:id="rId98"/>
    <p:sldId id="2902" r:id="rId99"/>
    <p:sldId id="2840" r:id="rId100"/>
    <p:sldId id="2841" r:id="rId101"/>
    <p:sldId id="2747" r:id="rId102"/>
    <p:sldId id="749" r:id="rId10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6" d="100"/>
          <a:sy n="66" d="100"/>
        </p:scale>
        <p:origin x="410" y="1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07" Type="http://schemas.openxmlformats.org/officeDocument/2006/relationships/theme" Target="theme/theme1.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4768A3-CE1D-4B38-9DB7-258A20660199}" type="datetimeFigureOut">
              <a:rPr lang="en-AU" smtClean="0"/>
              <a:t>12/09/2025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ED24F3-C88E-4C15-8193-4E111B80EC59}" type="slidenum">
              <a:rPr lang="en-AU" smtClean="0"/>
              <a:t>‹#›</a:t>
            </a:fld>
            <a:endParaRPr lang="en-AU"/>
          </a:p>
        </p:txBody>
      </p:sp>
    </p:spTree>
    <p:extLst>
      <p:ext uri="{BB962C8B-B14F-4D97-AF65-F5344CB8AC3E}">
        <p14:creationId xmlns:p14="http://schemas.microsoft.com/office/powerpoint/2010/main" val="3401419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Include</a:t>
            </a:r>
          </a:p>
        </p:txBody>
      </p:sp>
      <p:sp>
        <p:nvSpPr>
          <p:cNvPr id="4" name="Slide Number Placeholder 3"/>
          <p:cNvSpPr>
            <a:spLocks noGrp="1"/>
          </p:cNvSpPr>
          <p:nvPr>
            <p:ph type="sldNum" sz="quarter" idx="5"/>
          </p:nvPr>
        </p:nvSpPr>
        <p:spPr/>
        <p:txBody>
          <a:bodyPr/>
          <a:lstStyle/>
          <a:p>
            <a:fld id="{42ED24F3-C88E-4C15-8193-4E111B80EC59}" type="slidenum">
              <a:rPr lang="en-AU" smtClean="0"/>
              <a:t>8</a:t>
            </a:fld>
            <a:endParaRPr lang="en-AU"/>
          </a:p>
        </p:txBody>
      </p:sp>
    </p:spTree>
    <p:extLst>
      <p:ext uri="{BB962C8B-B14F-4D97-AF65-F5344CB8AC3E}">
        <p14:creationId xmlns:p14="http://schemas.microsoft.com/office/powerpoint/2010/main" val="3996945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EFF8E-6824-1269-0D08-0D2791FA94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98BC28-0C9C-3868-B4CB-5B88CCF802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370104-4419-2D4A-B966-9DDC0DAD951D}"/>
              </a:ext>
            </a:extLst>
          </p:cNvPr>
          <p:cNvSpPr>
            <a:spLocks noGrp="1"/>
          </p:cNvSpPr>
          <p:nvPr>
            <p:ph type="body" idx="1"/>
          </p:nvPr>
        </p:nvSpPr>
        <p:spPr/>
        <p:txBody>
          <a:bodyPr/>
          <a:lstStyle/>
          <a:p>
            <a:r>
              <a:rPr lang="en-US" dirty="0"/>
              <a:t>Association</a:t>
            </a:r>
          </a:p>
        </p:txBody>
      </p:sp>
      <p:sp>
        <p:nvSpPr>
          <p:cNvPr id="4" name="Slide Number Placeholder 3">
            <a:extLst>
              <a:ext uri="{FF2B5EF4-FFF2-40B4-BE49-F238E27FC236}">
                <a16:creationId xmlns:a16="http://schemas.microsoft.com/office/drawing/2014/main" id="{032AA666-3473-20D8-742F-04476F5EDDEF}"/>
              </a:ext>
            </a:extLst>
          </p:cNvPr>
          <p:cNvSpPr>
            <a:spLocks noGrp="1"/>
          </p:cNvSpPr>
          <p:nvPr>
            <p:ph type="sldNum" sz="quarter" idx="5"/>
          </p:nvPr>
        </p:nvSpPr>
        <p:spPr/>
        <p:txBody>
          <a:bodyPr/>
          <a:lstStyle/>
          <a:p>
            <a:fld id="{42ED24F3-C88E-4C15-8193-4E111B80EC59}" type="slidenum">
              <a:rPr lang="en-AU" smtClean="0"/>
              <a:t>9</a:t>
            </a:fld>
            <a:endParaRPr lang="en-AU"/>
          </a:p>
        </p:txBody>
      </p:sp>
    </p:spTree>
    <p:extLst>
      <p:ext uri="{BB962C8B-B14F-4D97-AF65-F5344CB8AC3E}">
        <p14:creationId xmlns:p14="http://schemas.microsoft.com/office/powerpoint/2010/main" val="1717797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2005D-5BAB-5BEC-2B13-642FF8F31C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E55A5E-2861-D657-20DE-A00E7DF292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1389D2-05E8-AD8B-B6BC-1040B4FA9285}"/>
              </a:ext>
            </a:extLst>
          </p:cNvPr>
          <p:cNvSpPr>
            <a:spLocks noGrp="1"/>
          </p:cNvSpPr>
          <p:nvPr>
            <p:ph type="body" idx="1"/>
          </p:nvPr>
        </p:nvSpPr>
        <p:spPr/>
        <p:txBody>
          <a:bodyPr/>
          <a:lstStyle/>
          <a:p>
            <a:r>
              <a:rPr lang="en-US" dirty="0"/>
              <a:t>Association</a:t>
            </a:r>
          </a:p>
        </p:txBody>
      </p:sp>
      <p:sp>
        <p:nvSpPr>
          <p:cNvPr id="4" name="Slide Number Placeholder 3">
            <a:extLst>
              <a:ext uri="{FF2B5EF4-FFF2-40B4-BE49-F238E27FC236}">
                <a16:creationId xmlns:a16="http://schemas.microsoft.com/office/drawing/2014/main" id="{923AA1AA-610E-08BC-E019-BADFC6DAE104}"/>
              </a:ext>
            </a:extLst>
          </p:cNvPr>
          <p:cNvSpPr>
            <a:spLocks noGrp="1"/>
          </p:cNvSpPr>
          <p:nvPr>
            <p:ph type="sldNum" sz="quarter" idx="5"/>
          </p:nvPr>
        </p:nvSpPr>
        <p:spPr/>
        <p:txBody>
          <a:bodyPr/>
          <a:lstStyle/>
          <a:p>
            <a:fld id="{42ED24F3-C88E-4C15-8193-4E111B80EC59}" type="slidenum">
              <a:rPr lang="en-AU" smtClean="0"/>
              <a:t>10</a:t>
            </a:fld>
            <a:endParaRPr lang="en-AU"/>
          </a:p>
        </p:txBody>
      </p:sp>
    </p:spTree>
    <p:extLst>
      <p:ext uri="{BB962C8B-B14F-4D97-AF65-F5344CB8AC3E}">
        <p14:creationId xmlns:p14="http://schemas.microsoft.com/office/powerpoint/2010/main" val="660338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1D8B7-8FC6-8023-8AF3-58AC200399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A5E1C1-AAD5-9192-27E1-3ED84E8624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E99691-561D-0238-7F9A-4FF0EDC4B626}"/>
              </a:ext>
            </a:extLst>
          </p:cNvPr>
          <p:cNvSpPr>
            <a:spLocks noGrp="1"/>
          </p:cNvSpPr>
          <p:nvPr>
            <p:ph type="body" idx="1"/>
          </p:nvPr>
        </p:nvSpPr>
        <p:spPr/>
        <p:txBody>
          <a:bodyPr/>
          <a:lstStyle/>
          <a:p>
            <a:r>
              <a:rPr lang="en-US" dirty="0"/>
              <a:t>a) Association</a:t>
            </a:r>
          </a:p>
        </p:txBody>
      </p:sp>
      <p:sp>
        <p:nvSpPr>
          <p:cNvPr id="4" name="Slide Number Placeholder 3">
            <a:extLst>
              <a:ext uri="{FF2B5EF4-FFF2-40B4-BE49-F238E27FC236}">
                <a16:creationId xmlns:a16="http://schemas.microsoft.com/office/drawing/2014/main" id="{D65B7D81-9DF4-766D-8E11-0DA65DC0D895}"/>
              </a:ext>
            </a:extLst>
          </p:cNvPr>
          <p:cNvSpPr>
            <a:spLocks noGrp="1"/>
          </p:cNvSpPr>
          <p:nvPr>
            <p:ph type="sldNum" sz="quarter" idx="5"/>
          </p:nvPr>
        </p:nvSpPr>
        <p:spPr/>
        <p:txBody>
          <a:bodyPr/>
          <a:lstStyle/>
          <a:p>
            <a:fld id="{42ED24F3-C88E-4C15-8193-4E111B80EC59}" type="slidenum">
              <a:rPr lang="en-AU" smtClean="0"/>
              <a:t>11</a:t>
            </a:fld>
            <a:endParaRPr lang="en-AU"/>
          </a:p>
        </p:txBody>
      </p:sp>
    </p:spTree>
    <p:extLst>
      <p:ext uri="{BB962C8B-B14F-4D97-AF65-F5344CB8AC3E}">
        <p14:creationId xmlns:p14="http://schemas.microsoft.com/office/powerpoint/2010/main" val="2462471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B2167-06DD-C0C5-75C0-05B0C3F658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723EB2-AB0B-ABEA-658C-444C9F9C9D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216B76-9993-88AE-6E91-EB412EC03AFF}"/>
              </a:ext>
            </a:extLst>
          </p:cNvPr>
          <p:cNvSpPr>
            <a:spLocks noGrp="1"/>
          </p:cNvSpPr>
          <p:nvPr>
            <p:ph type="body" idx="1"/>
          </p:nvPr>
        </p:nvSpPr>
        <p:spPr/>
        <p:txBody>
          <a:bodyPr/>
          <a:lstStyle/>
          <a:p>
            <a:r>
              <a:rPr lang="en-US" dirty="0"/>
              <a:t>a) Association</a:t>
            </a:r>
          </a:p>
        </p:txBody>
      </p:sp>
      <p:sp>
        <p:nvSpPr>
          <p:cNvPr id="4" name="Slide Number Placeholder 3">
            <a:extLst>
              <a:ext uri="{FF2B5EF4-FFF2-40B4-BE49-F238E27FC236}">
                <a16:creationId xmlns:a16="http://schemas.microsoft.com/office/drawing/2014/main" id="{F6B90DF7-51DB-FAB7-ADE8-57E6486EF56B}"/>
              </a:ext>
            </a:extLst>
          </p:cNvPr>
          <p:cNvSpPr>
            <a:spLocks noGrp="1"/>
          </p:cNvSpPr>
          <p:nvPr>
            <p:ph type="sldNum" sz="quarter" idx="5"/>
          </p:nvPr>
        </p:nvSpPr>
        <p:spPr/>
        <p:txBody>
          <a:bodyPr/>
          <a:lstStyle/>
          <a:p>
            <a:fld id="{42ED24F3-C88E-4C15-8193-4E111B80EC59}" type="slidenum">
              <a:rPr lang="en-AU" smtClean="0"/>
              <a:t>12</a:t>
            </a:fld>
            <a:endParaRPr lang="en-AU"/>
          </a:p>
        </p:txBody>
      </p:sp>
    </p:spTree>
    <p:extLst>
      <p:ext uri="{BB962C8B-B14F-4D97-AF65-F5344CB8AC3E}">
        <p14:creationId xmlns:p14="http://schemas.microsoft.com/office/powerpoint/2010/main" val="24146911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997E7-04A5-A0FD-4044-324C7F4D7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640860-4CB8-5D53-C3D7-EF9AD3D5B7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8358B6-4A11-8247-6A49-5A876E1F98F0}"/>
              </a:ext>
            </a:extLst>
          </p:cNvPr>
          <p:cNvSpPr>
            <a:spLocks noGrp="1"/>
          </p:cNvSpPr>
          <p:nvPr>
            <p:ph type="body" idx="1"/>
          </p:nvPr>
        </p:nvSpPr>
        <p:spPr/>
        <p:txBody>
          <a:bodyPr/>
          <a:lstStyle/>
          <a:p>
            <a:r>
              <a:rPr lang="en-US" dirty="0"/>
              <a:t>a) 1 Quest → many </a:t>
            </a:r>
            <a:r>
              <a:rPr lang="en-US" dirty="0" err="1"/>
              <a:t>BonusItems</a:t>
            </a:r>
            <a:endParaRPr lang="en-US" dirty="0"/>
          </a:p>
        </p:txBody>
      </p:sp>
      <p:sp>
        <p:nvSpPr>
          <p:cNvPr id="4" name="Slide Number Placeholder 3">
            <a:extLst>
              <a:ext uri="{FF2B5EF4-FFF2-40B4-BE49-F238E27FC236}">
                <a16:creationId xmlns:a16="http://schemas.microsoft.com/office/drawing/2014/main" id="{5D33C6A8-4F9C-13A1-AE3E-E4D301EB2C6A}"/>
              </a:ext>
            </a:extLst>
          </p:cNvPr>
          <p:cNvSpPr>
            <a:spLocks noGrp="1"/>
          </p:cNvSpPr>
          <p:nvPr>
            <p:ph type="sldNum" sz="quarter" idx="5"/>
          </p:nvPr>
        </p:nvSpPr>
        <p:spPr/>
        <p:txBody>
          <a:bodyPr/>
          <a:lstStyle/>
          <a:p>
            <a:fld id="{42ED24F3-C88E-4C15-8193-4E111B80EC59}" type="slidenum">
              <a:rPr lang="en-AU" smtClean="0"/>
              <a:t>13</a:t>
            </a:fld>
            <a:endParaRPr lang="en-AU"/>
          </a:p>
        </p:txBody>
      </p:sp>
    </p:spTree>
    <p:extLst>
      <p:ext uri="{BB962C8B-B14F-4D97-AF65-F5344CB8AC3E}">
        <p14:creationId xmlns:p14="http://schemas.microsoft.com/office/powerpoint/2010/main" val="22942491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BC8D9-80C4-2ADC-304B-3C40B79C93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8EE69D-269A-2D43-5A54-A6E42887D5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355B2B-CCEC-1C80-0D3D-12A48B51EE7F}"/>
              </a:ext>
            </a:extLst>
          </p:cNvPr>
          <p:cNvSpPr>
            <a:spLocks noGrp="1"/>
          </p:cNvSpPr>
          <p:nvPr>
            <p:ph type="body" idx="1"/>
          </p:nvPr>
        </p:nvSpPr>
        <p:spPr/>
        <p:txBody>
          <a:bodyPr/>
          <a:lstStyle/>
          <a:p>
            <a:r>
              <a:rPr lang="en-US" dirty="0"/>
              <a:t>a) 1 Quest → many </a:t>
            </a:r>
            <a:r>
              <a:rPr lang="en-US" dirty="0" err="1"/>
              <a:t>BonusItems</a:t>
            </a:r>
            <a:endParaRPr lang="en-US" dirty="0"/>
          </a:p>
        </p:txBody>
      </p:sp>
      <p:sp>
        <p:nvSpPr>
          <p:cNvPr id="4" name="Slide Number Placeholder 3">
            <a:extLst>
              <a:ext uri="{FF2B5EF4-FFF2-40B4-BE49-F238E27FC236}">
                <a16:creationId xmlns:a16="http://schemas.microsoft.com/office/drawing/2014/main" id="{AFB3A50F-BF92-DC4D-C05E-183E23559F5C}"/>
              </a:ext>
            </a:extLst>
          </p:cNvPr>
          <p:cNvSpPr>
            <a:spLocks noGrp="1"/>
          </p:cNvSpPr>
          <p:nvPr>
            <p:ph type="sldNum" sz="quarter" idx="5"/>
          </p:nvPr>
        </p:nvSpPr>
        <p:spPr/>
        <p:txBody>
          <a:bodyPr/>
          <a:lstStyle/>
          <a:p>
            <a:fld id="{42ED24F3-C88E-4C15-8193-4E111B80EC59}" type="slidenum">
              <a:rPr lang="en-AU" smtClean="0"/>
              <a:t>14</a:t>
            </a:fld>
            <a:endParaRPr lang="en-AU"/>
          </a:p>
        </p:txBody>
      </p:sp>
    </p:spTree>
    <p:extLst>
      <p:ext uri="{BB962C8B-B14F-4D97-AF65-F5344CB8AC3E}">
        <p14:creationId xmlns:p14="http://schemas.microsoft.com/office/powerpoint/2010/main" val="18761969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AEA1C-93EE-E29C-0116-B97933452C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78049D-39EB-A938-D8BD-D5987273C0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E5C8EE-F129-1044-E51F-29378C8AD481}"/>
              </a:ext>
            </a:extLst>
          </p:cNvPr>
          <p:cNvSpPr>
            <a:spLocks noGrp="1"/>
          </p:cNvSpPr>
          <p:nvPr>
            <p:ph type="body" idx="1"/>
          </p:nvPr>
        </p:nvSpPr>
        <p:spPr/>
        <p:txBody>
          <a:bodyPr/>
          <a:lstStyle/>
          <a:p>
            <a:r>
              <a:rPr lang="en-US" dirty="0"/>
              <a:t>a) 1 Quest → many </a:t>
            </a:r>
            <a:r>
              <a:rPr lang="en-US" dirty="0" err="1"/>
              <a:t>BonusItems</a:t>
            </a:r>
            <a:endParaRPr lang="en-US" dirty="0"/>
          </a:p>
        </p:txBody>
      </p:sp>
      <p:sp>
        <p:nvSpPr>
          <p:cNvPr id="4" name="Slide Number Placeholder 3">
            <a:extLst>
              <a:ext uri="{FF2B5EF4-FFF2-40B4-BE49-F238E27FC236}">
                <a16:creationId xmlns:a16="http://schemas.microsoft.com/office/drawing/2014/main" id="{001BCA29-D2D9-C673-DA83-0F0C1AE5F75F}"/>
              </a:ext>
            </a:extLst>
          </p:cNvPr>
          <p:cNvSpPr>
            <a:spLocks noGrp="1"/>
          </p:cNvSpPr>
          <p:nvPr>
            <p:ph type="sldNum" sz="quarter" idx="5"/>
          </p:nvPr>
        </p:nvSpPr>
        <p:spPr/>
        <p:txBody>
          <a:bodyPr/>
          <a:lstStyle/>
          <a:p>
            <a:fld id="{42ED24F3-C88E-4C15-8193-4E111B80EC59}" type="slidenum">
              <a:rPr lang="en-AU" smtClean="0"/>
              <a:t>15</a:t>
            </a:fld>
            <a:endParaRPr lang="en-AU"/>
          </a:p>
        </p:txBody>
      </p:sp>
    </p:spTree>
    <p:extLst>
      <p:ext uri="{BB962C8B-B14F-4D97-AF65-F5344CB8AC3E}">
        <p14:creationId xmlns:p14="http://schemas.microsoft.com/office/powerpoint/2010/main" val="269299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33C16-7B67-A935-AAA5-9BAB0099A1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8585EF-6C01-5EEC-A154-040E73DC3A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08090C-2BAA-AC04-1A5D-A123B5877E9F}"/>
              </a:ext>
            </a:extLst>
          </p:cNvPr>
          <p:cNvSpPr>
            <a:spLocks noGrp="1"/>
          </p:cNvSpPr>
          <p:nvPr>
            <p:ph type="body" idx="1"/>
          </p:nvPr>
        </p:nvSpPr>
        <p:spPr/>
        <p:txBody>
          <a:bodyPr/>
          <a:lstStyle/>
          <a:p>
            <a:r>
              <a:rPr lang="en-US" dirty="0"/>
              <a:t>a) OOP organizes code into reusable classes and objects.</a:t>
            </a:r>
          </a:p>
        </p:txBody>
      </p:sp>
      <p:sp>
        <p:nvSpPr>
          <p:cNvPr id="4" name="Slide Number Placeholder 3">
            <a:extLst>
              <a:ext uri="{FF2B5EF4-FFF2-40B4-BE49-F238E27FC236}">
                <a16:creationId xmlns:a16="http://schemas.microsoft.com/office/drawing/2014/main" id="{CCBC16D8-E818-1989-E671-44DCA540D9D8}"/>
              </a:ext>
            </a:extLst>
          </p:cNvPr>
          <p:cNvSpPr>
            <a:spLocks noGrp="1"/>
          </p:cNvSpPr>
          <p:nvPr>
            <p:ph type="sldNum" sz="quarter" idx="5"/>
          </p:nvPr>
        </p:nvSpPr>
        <p:spPr/>
        <p:txBody>
          <a:bodyPr/>
          <a:lstStyle/>
          <a:p>
            <a:fld id="{42ED24F3-C88E-4C15-8193-4E111B80EC59}" type="slidenum">
              <a:rPr lang="en-AU" smtClean="0"/>
              <a:t>16</a:t>
            </a:fld>
            <a:endParaRPr lang="en-AU"/>
          </a:p>
        </p:txBody>
      </p:sp>
    </p:spTree>
    <p:extLst>
      <p:ext uri="{BB962C8B-B14F-4D97-AF65-F5344CB8AC3E}">
        <p14:creationId xmlns:p14="http://schemas.microsoft.com/office/powerpoint/2010/main" val="36620244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03695-F8F1-58AE-2A3E-570F37F0B7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8F0DF0-2132-73E2-0830-A829EF4457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DA36DC-05C3-8EA0-1F09-EA140807412C}"/>
              </a:ext>
            </a:extLst>
          </p:cNvPr>
          <p:cNvSpPr>
            <a:spLocks noGrp="1"/>
          </p:cNvSpPr>
          <p:nvPr>
            <p:ph type="body" idx="1"/>
          </p:nvPr>
        </p:nvSpPr>
        <p:spPr/>
        <p:txBody>
          <a:bodyPr/>
          <a:lstStyle/>
          <a:p>
            <a:r>
              <a:rPr lang="en-US" dirty="0"/>
              <a:t>a) OOP organizes code into reusable classes and objects.</a:t>
            </a:r>
          </a:p>
        </p:txBody>
      </p:sp>
      <p:sp>
        <p:nvSpPr>
          <p:cNvPr id="4" name="Slide Number Placeholder 3">
            <a:extLst>
              <a:ext uri="{FF2B5EF4-FFF2-40B4-BE49-F238E27FC236}">
                <a16:creationId xmlns:a16="http://schemas.microsoft.com/office/drawing/2014/main" id="{92BA3978-9C77-7F06-A07F-9B9A6A06F0F1}"/>
              </a:ext>
            </a:extLst>
          </p:cNvPr>
          <p:cNvSpPr>
            <a:spLocks noGrp="1"/>
          </p:cNvSpPr>
          <p:nvPr>
            <p:ph type="sldNum" sz="quarter" idx="5"/>
          </p:nvPr>
        </p:nvSpPr>
        <p:spPr/>
        <p:txBody>
          <a:bodyPr/>
          <a:lstStyle/>
          <a:p>
            <a:fld id="{42ED24F3-C88E-4C15-8193-4E111B80EC59}" type="slidenum">
              <a:rPr lang="en-AU" smtClean="0"/>
              <a:t>17</a:t>
            </a:fld>
            <a:endParaRPr lang="en-AU"/>
          </a:p>
        </p:txBody>
      </p:sp>
    </p:spTree>
    <p:extLst>
      <p:ext uri="{BB962C8B-B14F-4D97-AF65-F5344CB8AC3E}">
        <p14:creationId xmlns:p14="http://schemas.microsoft.com/office/powerpoint/2010/main" val="26853026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2D88F-64D8-6A91-3D3B-51665B987D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225430-E84B-1FBA-FA4C-8B00EDB93E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D50F91-3708-D70E-2591-769AA102CDB8}"/>
              </a:ext>
            </a:extLst>
          </p:cNvPr>
          <p:cNvSpPr>
            <a:spLocks noGrp="1"/>
          </p:cNvSpPr>
          <p:nvPr>
            <p:ph type="body" idx="1"/>
          </p:nvPr>
        </p:nvSpPr>
        <p:spPr/>
        <p:txBody>
          <a:bodyPr/>
          <a:lstStyle/>
          <a:p>
            <a:r>
              <a:rPr lang="en-US" dirty="0"/>
              <a:t>a) OOP organizes code into reusable classes and objects.</a:t>
            </a:r>
          </a:p>
        </p:txBody>
      </p:sp>
      <p:sp>
        <p:nvSpPr>
          <p:cNvPr id="4" name="Slide Number Placeholder 3">
            <a:extLst>
              <a:ext uri="{FF2B5EF4-FFF2-40B4-BE49-F238E27FC236}">
                <a16:creationId xmlns:a16="http://schemas.microsoft.com/office/drawing/2014/main" id="{C8774BA3-114D-C378-CD75-84C223698B42}"/>
              </a:ext>
            </a:extLst>
          </p:cNvPr>
          <p:cNvSpPr>
            <a:spLocks noGrp="1"/>
          </p:cNvSpPr>
          <p:nvPr>
            <p:ph type="sldNum" sz="quarter" idx="5"/>
          </p:nvPr>
        </p:nvSpPr>
        <p:spPr/>
        <p:txBody>
          <a:bodyPr/>
          <a:lstStyle/>
          <a:p>
            <a:fld id="{42ED24F3-C88E-4C15-8193-4E111B80EC59}" type="slidenum">
              <a:rPr lang="en-AU" smtClean="0"/>
              <a:t>18</a:t>
            </a:fld>
            <a:endParaRPr lang="en-AU"/>
          </a:p>
        </p:txBody>
      </p:sp>
    </p:spTree>
    <p:extLst>
      <p:ext uri="{BB962C8B-B14F-4D97-AF65-F5344CB8AC3E}">
        <p14:creationId xmlns:p14="http://schemas.microsoft.com/office/powerpoint/2010/main" val="41143420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69E7D-F590-B09D-7023-FB04CBFFEE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7256E5-555B-E3DC-0F2C-8FD07C3324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A311ED-0AD9-F2A7-20DD-472C1CC45309}"/>
              </a:ext>
            </a:extLst>
          </p:cNvPr>
          <p:cNvSpPr>
            <a:spLocks noGrp="1"/>
          </p:cNvSpPr>
          <p:nvPr>
            <p:ph type="body" idx="1"/>
          </p:nvPr>
        </p:nvSpPr>
        <p:spPr/>
        <p:txBody>
          <a:bodyPr/>
          <a:lstStyle/>
          <a:p>
            <a:r>
              <a:rPr lang="en-US" dirty="0"/>
              <a:t>e) All of the above</a:t>
            </a:r>
          </a:p>
        </p:txBody>
      </p:sp>
      <p:sp>
        <p:nvSpPr>
          <p:cNvPr id="4" name="Slide Number Placeholder 3">
            <a:extLst>
              <a:ext uri="{FF2B5EF4-FFF2-40B4-BE49-F238E27FC236}">
                <a16:creationId xmlns:a16="http://schemas.microsoft.com/office/drawing/2014/main" id="{26EB1142-A26A-7B6B-639D-7CCB0BB54F04}"/>
              </a:ext>
            </a:extLst>
          </p:cNvPr>
          <p:cNvSpPr>
            <a:spLocks noGrp="1"/>
          </p:cNvSpPr>
          <p:nvPr>
            <p:ph type="sldNum" sz="quarter" idx="5"/>
          </p:nvPr>
        </p:nvSpPr>
        <p:spPr/>
        <p:txBody>
          <a:bodyPr/>
          <a:lstStyle/>
          <a:p>
            <a:fld id="{42ED24F3-C88E-4C15-8193-4E111B80EC59}" type="slidenum">
              <a:rPr lang="en-AU" smtClean="0"/>
              <a:t>19</a:t>
            </a:fld>
            <a:endParaRPr lang="en-AU"/>
          </a:p>
        </p:txBody>
      </p:sp>
    </p:spTree>
    <p:extLst>
      <p:ext uri="{BB962C8B-B14F-4D97-AF65-F5344CB8AC3E}">
        <p14:creationId xmlns:p14="http://schemas.microsoft.com/office/powerpoint/2010/main" val="13071415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FEC8B-561F-5E26-463D-40D3D4448B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8E6B41-3D2A-8681-522D-C89AD001FB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012E28-C900-2D46-841B-5BE87B275CA2}"/>
              </a:ext>
            </a:extLst>
          </p:cNvPr>
          <p:cNvSpPr>
            <a:spLocks noGrp="1"/>
          </p:cNvSpPr>
          <p:nvPr>
            <p:ph type="body" idx="1"/>
          </p:nvPr>
        </p:nvSpPr>
        <p:spPr/>
        <p:txBody>
          <a:bodyPr/>
          <a:lstStyle/>
          <a:p>
            <a:r>
              <a:rPr lang="en-US" dirty="0"/>
              <a:t>e) All of the above</a:t>
            </a:r>
          </a:p>
        </p:txBody>
      </p:sp>
      <p:sp>
        <p:nvSpPr>
          <p:cNvPr id="4" name="Slide Number Placeholder 3">
            <a:extLst>
              <a:ext uri="{FF2B5EF4-FFF2-40B4-BE49-F238E27FC236}">
                <a16:creationId xmlns:a16="http://schemas.microsoft.com/office/drawing/2014/main" id="{BD242196-3245-3F0A-FB3C-340E083FFE0A}"/>
              </a:ext>
            </a:extLst>
          </p:cNvPr>
          <p:cNvSpPr>
            <a:spLocks noGrp="1"/>
          </p:cNvSpPr>
          <p:nvPr>
            <p:ph type="sldNum" sz="quarter" idx="5"/>
          </p:nvPr>
        </p:nvSpPr>
        <p:spPr/>
        <p:txBody>
          <a:bodyPr/>
          <a:lstStyle/>
          <a:p>
            <a:fld id="{42ED24F3-C88E-4C15-8193-4E111B80EC59}" type="slidenum">
              <a:rPr lang="en-AU" smtClean="0"/>
              <a:t>20</a:t>
            </a:fld>
            <a:endParaRPr lang="en-AU"/>
          </a:p>
        </p:txBody>
      </p:sp>
    </p:spTree>
    <p:extLst>
      <p:ext uri="{BB962C8B-B14F-4D97-AF65-F5344CB8AC3E}">
        <p14:creationId xmlns:p14="http://schemas.microsoft.com/office/powerpoint/2010/main" val="18584295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AE4C1-511D-E142-3385-BA54234E42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EF443E-2477-CA3D-A1BC-6A5D183569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6F49A7-DC34-6703-115C-1078D86D700A}"/>
              </a:ext>
            </a:extLst>
          </p:cNvPr>
          <p:cNvSpPr>
            <a:spLocks noGrp="1"/>
          </p:cNvSpPr>
          <p:nvPr>
            <p:ph type="body" idx="1"/>
          </p:nvPr>
        </p:nvSpPr>
        <p:spPr/>
        <p:txBody>
          <a:bodyPr/>
          <a:lstStyle/>
          <a:p>
            <a:r>
              <a:rPr lang="en-US" dirty="0"/>
              <a:t>a) Online Banking System</a:t>
            </a:r>
          </a:p>
        </p:txBody>
      </p:sp>
      <p:sp>
        <p:nvSpPr>
          <p:cNvPr id="4" name="Slide Number Placeholder 3">
            <a:extLst>
              <a:ext uri="{FF2B5EF4-FFF2-40B4-BE49-F238E27FC236}">
                <a16:creationId xmlns:a16="http://schemas.microsoft.com/office/drawing/2014/main" id="{430745C4-868D-54B1-007F-39C7722EC6DC}"/>
              </a:ext>
            </a:extLst>
          </p:cNvPr>
          <p:cNvSpPr>
            <a:spLocks noGrp="1"/>
          </p:cNvSpPr>
          <p:nvPr>
            <p:ph type="sldNum" sz="quarter" idx="5"/>
          </p:nvPr>
        </p:nvSpPr>
        <p:spPr/>
        <p:txBody>
          <a:bodyPr/>
          <a:lstStyle/>
          <a:p>
            <a:fld id="{42ED24F3-C88E-4C15-8193-4E111B80EC59}" type="slidenum">
              <a:rPr lang="en-AU" smtClean="0"/>
              <a:t>21</a:t>
            </a:fld>
            <a:endParaRPr lang="en-AU"/>
          </a:p>
        </p:txBody>
      </p:sp>
    </p:spTree>
    <p:extLst>
      <p:ext uri="{BB962C8B-B14F-4D97-AF65-F5344CB8AC3E}">
        <p14:creationId xmlns:p14="http://schemas.microsoft.com/office/powerpoint/2010/main" val="39856281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5F1F6-719C-08BC-3BD4-1C1AB7DE4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3F6F06-393F-265F-C71E-98ACF26B63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DC0D0C-F9E2-B9D2-C4D4-8FF5E7BE2E05}"/>
              </a:ext>
            </a:extLst>
          </p:cNvPr>
          <p:cNvSpPr>
            <a:spLocks noGrp="1"/>
          </p:cNvSpPr>
          <p:nvPr>
            <p:ph type="body" idx="1"/>
          </p:nvPr>
        </p:nvSpPr>
        <p:spPr/>
        <p:txBody>
          <a:bodyPr/>
          <a:lstStyle/>
          <a:p>
            <a:r>
              <a:rPr lang="en-US" dirty="0"/>
              <a:t>a) Online Banking System</a:t>
            </a:r>
          </a:p>
        </p:txBody>
      </p:sp>
      <p:sp>
        <p:nvSpPr>
          <p:cNvPr id="4" name="Slide Number Placeholder 3">
            <a:extLst>
              <a:ext uri="{FF2B5EF4-FFF2-40B4-BE49-F238E27FC236}">
                <a16:creationId xmlns:a16="http://schemas.microsoft.com/office/drawing/2014/main" id="{C6A61242-332C-F47E-25E1-765405EC7C15}"/>
              </a:ext>
            </a:extLst>
          </p:cNvPr>
          <p:cNvSpPr>
            <a:spLocks noGrp="1"/>
          </p:cNvSpPr>
          <p:nvPr>
            <p:ph type="sldNum" sz="quarter" idx="5"/>
          </p:nvPr>
        </p:nvSpPr>
        <p:spPr/>
        <p:txBody>
          <a:bodyPr/>
          <a:lstStyle/>
          <a:p>
            <a:fld id="{42ED24F3-C88E-4C15-8193-4E111B80EC59}" type="slidenum">
              <a:rPr lang="en-AU" smtClean="0"/>
              <a:t>22</a:t>
            </a:fld>
            <a:endParaRPr lang="en-AU"/>
          </a:p>
        </p:txBody>
      </p:sp>
    </p:spTree>
    <p:extLst>
      <p:ext uri="{BB962C8B-B14F-4D97-AF65-F5344CB8AC3E}">
        <p14:creationId xmlns:p14="http://schemas.microsoft.com/office/powerpoint/2010/main" val="9745221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2CBF0-2A06-6264-9B61-C58400F4E5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A7FA12-BDE1-8D0A-BDFC-602AB5E611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0D87BB-AE33-760C-F66D-CD78C8A51397}"/>
              </a:ext>
            </a:extLst>
          </p:cNvPr>
          <p:cNvSpPr>
            <a:spLocks noGrp="1"/>
          </p:cNvSpPr>
          <p:nvPr>
            <p:ph type="body" idx="1"/>
          </p:nvPr>
        </p:nvSpPr>
        <p:spPr/>
        <p:txBody>
          <a:bodyPr/>
          <a:lstStyle/>
          <a:p>
            <a:r>
              <a:rPr lang="en-US" dirty="0"/>
              <a:t>b) Requirements remain fixed throughout the project</a:t>
            </a:r>
          </a:p>
        </p:txBody>
      </p:sp>
      <p:sp>
        <p:nvSpPr>
          <p:cNvPr id="4" name="Slide Number Placeholder 3">
            <a:extLst>
              <a:ext uri="{FF2B5EF4-FFF2-40B4-BE49-F238E27FC236}">
                <a16:creationId xmlns:a16="http://schemas.microsoft.com/office/drawing/2014/main" id="{7D49FEA2-F2B7-C2DC-060E-1202D8203782}"/>
              </a:ext>
            </a:extLst>
          </p:cNvPr>
          <p:cNvSpPr>
            <a:spLocks noGrp="1"/>
          </p:cNvSpPr>
          <p:nvPr>
            <p:ph type="sldNum" sz="quarter" idx="5"/>
          </p:nvPr>
        </p:nvSpPr>
        <p:spPr/>
        <p:txBody>
          <a:bodyPr/>
          <a:lstStyle/>
          <a:p>
            <a:fld id="{42ED24F3-C88E-4C15-8193-4E111B80EC59}" type="slidenum">
              <a:rPr lang="en-AU" smtClean="0"/>
              <a:t>23</a:t>
            </a:fld>
            <a:endParaRPr lang="en-AU"/>
          </a:p>
        </p:txBody>
      </p:sp>
    </p:spTree>
    <p:extLst>
      <p:ext uri="{BB962C8B-B14F-4D97-AF65-F5344CB8AC3E}">
        <p14:creationId xmlns:p14="http://schemas.microsoft.com/office/powerpoint/2010/main" val="25582997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7C30D-AE6F-DED2-1021-474D06F9F1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E07DB0-19EC-1494-02FE-410F84FA4B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6733AA-C90D-CA65-807A-D00C94B5F86A}"/>
              </a:ext>
            </a:extLst>
          </p:cNvPr>
          <p:cNvSpPr>
            <a:spLocks noGrp="1"/>
          </p:cNvSpPr>
          <p:nvPr>
            <p:ph type="body" idx="1"/>
          </p:nvPr>
        </p:nvSpPr>
        <p:spPr/>
        <p:txBody>
          <a:bodyPr/>
          <a:lstStyle/>
          <a:p>
            <a:r>
              <a:rPr lang="en-US" dirty="0"/>
              <a:t>b) Requirements remain fixed throughout the project</a:t>
            </a:r>
          </a:p>
        </p:txBody>
      </p:sp>
      <p:sp>
        <p:nvSpPr>
          <p:cNvPr id="4" name="Slide Number Placeholder 3">
            <a:extLst>
              <a:ext uri="{FF2B5EF4-FFF2-40B4-BE49-F238E27FC236}">
                <a16:creationId xmlns:a16="http://schemas.microsoft.com/office/drawing/2014/main" id="{1C65AF21-3792-2CAE-FEF0-3526646E6F8A}"/>
              </a:ext>
            </a:extLst>
          </p:cNvPr>
          <p:cNvSpPr>
            <a:spLocks noGrp="1"/>
          </p:cNvSpPr>
          <p:nvPr>
            <p:ph type="sldNum" sz="quarter" idx="5"/>
          </p:nvPr>
        </p:nvSpPr>
        <p:spPr/>
        <p:txBody>
          <a:bodyPr/>
          <a:lstStyle/>
          <a:p>
            <a:fld id="{42ED24F3-C88E-4C15-8193-4E111B80EC59}" type="slidenum">
              <a:rPr lang="en-AU" smtClean="0"/>
              <a:t>24</a:t>
            </a:fld>
            <a:endParaRPr lang="en-AU"/>
          </a:p>
        </p:txBody>
      </p:sp>
    </p:spTree>
    <p:extLst>
      <p:ext uri="{BB962C8B-B14F-4D97-AF65-F5344CB8AC3E}">
        <p14:creationId xmlns:p14="http://schemas.microsoft.com/office/powerpoint/2010/main" val="5801147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592FB-8F6E-265A-7742-DBC5AC35D5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C32B2A-0111-218E-FE82-7817F9312D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26D91A-3F7B-72A0-4A9A-773F2B5C0441}"/>
              </a:ext>
            </a:extLst>
          </p:cNvPr>
          <p:cNvSpPr>
            <a:spLocks noGrp="1"/>
          </p:cNvSpPr>
          <p:nvPr>
            <p:ph type="body" idx="1"/>
          </p:nvPr>
        </p:nvSpPr>
        <p:spPr/>
        <p:txBody>
          <a:bodyPr/>
          <a:lstStyle/>
          <a:p>
            <a:r>
              <a:rPr lang="en-US" dirty="0"/>
              <a:t>b) A class instance with attributes and methods</a:t>
            </a:r>
          </a:p>
        </p:txBody>
      </p:sp>
      <p:sp>
        <p:nvSpPr>
          <p:cNvPr id="4" name="Slide Number Placeholder 3">
            <a:extLst>
              <a:ext uri="{FF2B5EF4-FFF2-40B4-BE49-F238E27FC236}">
                <a16:creationId xmlns:a16="http://schemas.microsoft.com/office/drawing/2014/main" id="{37E4866E-9F01-D0DC-C93D-B91FB1735C69}"/>
              </a:ext>
            </a:extLst>
          </p:cNvPr>
          <p:cNvSpPr>
            <a:spLocks noGrp="1"/>
          </p:cNvSpPr>
          <p:nvPr>
            <p:ph type="sldNum" sz="quarter" idx="5"/>
          </p:nvPr>
        </p:nvSpPr>
        <p:spPr/>
        <p:txBody>
          <a:bodyPr/>
          <a:lstStyle/>
          <a:p>
            <a:fld id="{42ED24F3-C88E-4C15-8193-4E111B80EC59}" type="slidenum">
              <a:rPr lang="en-AU" smtClean="0"/>
              <a:t>25</a:t>
            </a:fld>
            <a:endParaRPr lang="en-AU"/>
          </a:p>
        </p:txBody>
      </p:sp>
    </p:spTree>
    <p:extLst>
      <p:ext uri="{BB962C8B-B14F-4D97-AF65-F5344CB8AC3E}">
        <p14:creationId xmlns:p14="http://schemas.microsoft.com/office/powerpoint/2010/main" val="22976525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62A40-AA91-8509-EFC5-CD26BA6961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136538-E90B-F1DC-9659-A841BA2263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2F2438-06AF-42CA-488C-FEB09C53D5A6}"/>
              </a:ext>
            </a:extLst>
          </p:cNvPr>
          <p:cNvSpPr>
            <a:spLocks noGrp="1"/>
          </p:cNvSpPr>
          <p:nvPr>
            <p:ph type="body" idx="1"/>
          </p:nvPr>
        </p:nvSpPr>
        <p:spPr/>
        <p:txBody>
          <a:bodyPr/>
          <a:lstStyle/>
          <a:p>
            <a:r>
              <a:rPr lang="en-US" dirty="0"/>
              <a:t>a) Functions always return a value</a:t>
            </a:r>
          </a:p>
        </p:txBody>
      </p:sp>
      <p:sp>
        <p:nvSpPr>
          <p:cNvPr id="4" name="Slide Number Placeholder 3">
            <a:extLst>
              <a:ext uri="{FF2B5EF4-FFF2-40B4-BE49-F238E27FC236}">
                <a16:creationId xmlns:a16="http://schemas.microsoft.com/office/drawing/2014/main" id="{169F2101-C0AB-E3E2-BE14-E2E6ED42C5F5}"/>
              </a:ext>
            </a:extLst>
          </p:cNvPr>
          <p:cNvSpPr>
            <a:spLocks noGrp="1"/>
          </p:cNvSpPr>
          <p:nvPr>
            <p:ph type="sldNum" sz="quarter" idx="5"/>
          </p:nvPr>
        </p:nvSpPr>
        <p:spPr/>
        <p:txBody>
          <a:bodyPr/>
          <a:lstStyle/>
          <a:p>
            <a:fld id="{42ED24F3-C88E-4C15-8193-4E111B80EC59}" type="slidenum">
              <a:rPr lang="en-AU" smtClean="0"/>
              <a:t>26</a:t>
            </a:fld>
            <a:endParaRPr lang="en-AU"/>
          </a:p>
        </p:txBody>
      </p:sp>
    </p:spTree>
    <p:extLst>
      <p:ext uri="{BB962C8B-B14F-4D97-AF65-F5344CB8AC3E}">
        <p14:creationId xmlns:p14="http://schemas.microsoft.com/office/powerpoint/2010/main" val="155992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760F2-9842-0004-060B-2A32E023AC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809691-BB46-B79E-B7FF-2093B25432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660645-58F9-CAF4-1DC2-9ACCFC516004}"/>
              </a:ext>
            </a:extLst>
          </p:cNvPr>
          <p:cNvSpPr>
            <a:spLocks noGrp="1"/>
          </p:cNvSpPr>
          <p:nvPr>
            <p:ph type="body" idx="1"/>
          </p:nvPr>
        </p:nvSpPr>
        <p:spPr/>
        <p:txBody>
          <a:bodyPr/>
          <a:lstStyle/>
          <a:p>
            <a:r>
              <a:rPr lang="en-US" dirty="0"/>
              <a:t>a) Functions always return a value</a:t>
            </a:r>
          </a:p>
        </p:txBody>
      </p:sp>
      <p:sp>
        <p:nvSpPr>
          <p:cNvPr id="4" name="Slide Number Placeholder 3">
            <a:extLst>
              <a:ext uri="{FF2B5EF4-FFF2-40B4-BE49-F238E27FC236}">
                <a16:creationId xmlns:a16="http://schemas.microsoft.com/office/drawing/2014/main" id="{A6DEBC55-9B94-403A-1B02-832F8EECF78D}"/>
              </a:ext>
            </a:extLst>
          </p:cNvPr>
          <p:cNvSpPr>
            <a:spLocks noGrp="1"/>
          </p:cNvSpPr>
          <p:nvPr>
            <p:ph type="sldNum" sz="quarter" idx="5"/>
          </p:nvPr>
        </p:nvSpPr>
        <p:spPr/>
        <p:txBody>
          <a:bodyPr/>
          <a:lstStyle/>
          <a:p>
            <a:fld id="{42ED24F3-C88E-4C15-8193-4E111B80EC59}" type="slidenum">
              <a:rPr lang="en-AU" smtClean="0"/>
              <a:t>27</a:t>
            </a:fld>
            <a:endParaRPr lang="en-AU"/>
          </a:p>
        </p:txBody>
      </p:sp>
    </p:spTree>
    <p:extLst>
      <p:ext uri="{BB962C8B-B14F-4D97-AF65-F5344CB8AC3E}">
        <p14:creationId xmlns:p14="http://schemas.microsoft.com/office/powerpoint/2010/main" val="15248253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AB08D-52B1-A26A-4F37-1A308B089E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116010-2703-56BC-F67F-20B70DA7A5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6DA80B-EEB5-12BA-6F8F-CA22E6DB6F4E}"/>
              </a:ext>
            </a:extLst>
          </p:cNvPr>
          <p:cNvSpPr>
            <a:spLocks noGrp="1"/>
          </p:cNvSpPr>
          <p:nvPr>
            <p:ph type="body" idx="1"/>
          </p:nvPr>
        </p:nvSpPr>
        <p:spPr/>
        <p:txBody>
          <a:bodyPr/>
          <a:lstStyle/>
          <a:p>
            <a:r>
              <a:rPr lang="en-US" dirty="0"/>
              <a:t>c) #</a:t>
            </a:r>
          </a:p>
        </p:txBody>
      </p:sp>
      <p:sp>
        <p:nvSpPr>
          <p:cNvPr id="4" name="Slide Number Placeholder 3">
            <a:extLst>
              <a:ext uri="{FF2B5EF4-FFF2-40B4-BE49-F238E27FC236}">
                <a16:creationId xmlns:a16="http://schemas.microsoft.com/office/drawing/2014/main" id="{4AAC3116-9AE4-F4DF-D506-C858A514D0EA}"/>
              </a:ext>
            </a:extLst>
          </p:cNvPr>
          <p:cNvSpPr>
            <a:spLocks noGrp="1"/>
          </p:cNvSpPr>
          <p:nvPr>
            <p:ph type="sldNum" sz="quarter" idx="5"/>
          </p:nvPr>
        </p:nvSpPr>
        <p:spPr/>
        <p:txBody>
          <a:bodyPr/>
          <a:lstStyle/>
          <a:p>
            <a:fld id="{42ED24F3-C88E-4C15-8193-4E111B80EC59}" type="slidenum">
              <a:rPr lang="en-AU" smtClean="0"/>
              <a:t>28</a:t>
            </a:fld>
            <a:endParaRPr lang="en-AU"/>
          </a:p>
        </p:txBody>
      </p:sp>
    </p:spTree>
    <p:extLst>
      <p:ext uri="{BB962C8B-B14F-4D97-AF65-F5344CB8AC3E}">
        <p14:creationId xmlns:p14="http://schemas.microsoft.com/office/powerpoint/2010/main" val="37013132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4AD36-1616-B298-6D0D-481EBA34AD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329881-C015-2CA2-A5ED-79A48FFB2B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C397CA-1756-7C71-4517-4721ABC72C77}"/>
              </a:ext>
            </a:extLst>
          </p:cNvPr>
          <p:cNvSpPr>
            <a:spLocks noGrp="1"/>
          </p:cNvSpPr>
          <p:nvPr>
            <p:ph type="body" idx="1"/>
          </p:nvPr>
        </p:nvSpPr>
        <p:spPr/>
        <p:txBody>
          <a:bodyPr/>
          <a:lstStyle/>
          <a:p>
            <a:r>
              <a:rPr lang="en-US" dirty="0"/>
              <a:t>b) Protected</a:t>
            </a:r>
          </a:p>
        </p:txBody>
      </p:sp>
      <p:sp>
        <p:nvSpPr>
          <p:cNvPr id="4" name="Slide Number Placeholder 3">
            <a:extLst>
              <a:ext uri="{FF2B5EF4-FFF2-40B4-BE49-F238E27FC236}">
                <a16:creationId xmlns:a16="http://schemas.microsoft.com/office/drawing/2014/main" id="{2A788300-6B35-2474-1A0F-B8B86AD65D18}"/>
              </a:ext>
            </a:extLst>
          </p:cNvPr>
          <p:cNvSpPr>
            <a:spLocks noGrp="1"/>
          </p:cNvSpPr>
          <p:nvPr>
            <p:ph type="sldNum" sz="quarter" idx="5"/>
          </p:nvPr>
        </p:nvSpPr>
        <p:spPr/>
        <p:txBody>
          <a:bodyPr/>
          <a:lstStyle/>
          <a:p>
            <a:fld id="{42ED24F3-C88E-4C15-8193-4E111B80EC59}" type="slidenum">
              <a:rPr lang="en-AU" smtClean="0"/>
              <a:t>29</a:t>
            </a:fld>
            <a:endParaRPr lang="en-AU"/>
          </a:p>
        </p:txBody>
      </p:sp>
    </p:spTree>
    <p:extLst>
      <p:ext uri="{BB962C8B-B14F-4D97-AF65-F5344CB8AC3E}">
        <p14:creationId xmlns:p14="http://schemas.microsoft.com/office/powerpoint/2010/main" val="2558159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B3841-F5C0-A0FC-E086-83DAE9923B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D7B775-D04F-01CE-E6E6-7241E5EDC0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3E81F3-E6EB-A98F-5348-A1F64935B9C3}"/>
              </a:ext>
            </a:extLst>
          </p:cNvPr>
          <p:cNvSpPr>
            <a:spLocks noGrp="1"/>
          </p:cNvSpPr>
          <p:nvPr>
            <p:ph type="body" idx="1"/>
          </p:nvPr>
        </p:nvSpPr>
        <p:spPr/>
        <p:txBody>
          <a:bodyPr/>
          <a:lstStyle/>
          <a:p>
            <a:r>
              <a:rPr lang="en-US" dirty="0"/>
              <a:t>b) Protected</a:t>
            </a:r>
          </a:p>
        </p:txBody>
      </p:sp>
      <p:sp>
        <p:nvSpPr>
          <p:cNvPr id="4" name="Slide Number Placeholder 3">
            <a:extLst>
              <a:ext uri="{FF2B5EF4-FFF2-40B4-BE49-F238E27FC236}">
                <a16:creationId xmlns:a16="http://schemas.microsoft.com/office/drawing/2014/main" id="{21CDBDD4-6094-B463-1C94-42C3F089681E}"/>
              </a:ext>
            </a:extLst>
          </p:cNvPr>
          <p:cNvSpPr>
            <a:spLocks noGrp="1"/>
          </p:cNvSpPr>
          <p:nvPr>
            <p:ph type="sldNum" sz="quarter" idx="5"/>
          </p:nvPr>
        </p:nvSpPr>
        <p:spPr/>
        <p:txBody>
          <a:bodyPr/>
          <a:lstStyle/>
          <a:p>
            <a:fld id="{42ED24F3-C88E-4C15-8193-4E111B80EC59}" type="slidenum">
              <a:rPr lang="en-AU" smtClean="0"/>
              <a:t>30</a:t>
            </a:fld>
            <a:endParaRPr lang="en-AU"/>
          </a:p>
        </p:txBody>
      </p:sp>
    </p:spTree>
    <p:extLst>
      <p:ext uri="{BB962C8B-B14F-4D97-AF65-F5344CB8AC3E}">
        <p14:creationId xmlns:p14="http://schemas.microsoft.com/office/powerpoint/2010/main" val="16779649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ACE4C-D294-1C70-3781-C60FBC61D5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20B39A-5318-4060-FB20-B1125E78E7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E1EA0C-24FF-BB2F-3D26-E6A942896D5A}"/>
              </a:ext>
            </a:extLst>
          </p:cNvPr>
          <p:cNvSpPr>
            <a:spLocks noGrp="1"/>
          </p:cNvSpPr>
          <p:nvPr>
            <p:ph type="body" idx="1"/>
          </p:nvPr>
        </p:nvSpPr>
        <p:spPr/>
        <p:txBody>
          <a:bodyPr/>
          <a:lstStyle/>
          <a:p>
            <a:r>
              <a:rPr lang="en-US" dirty="0"/>
              <a:t>a) Data fields that describe state</a:t>
            </a:r>
          </a:p>
        </p:txBody>
      </p:sp>
      <p:sp>
        <p:nvSpPr>
          <p:cNvPr id="4" name="Slide Number Placeholder 3">
            <a:extLst>
              <a:ext uri="{FF2B5EF4-FFF2-40B4-BE49-F238E27FC236}">
                <a16:creationId xmlns:a16="http://schemas.microsoft.com/office/drawing/2014/main" id="{35380944-0E3B-7D1B-1A4C-05C0B303F0C9}"/>
              </a:ext>
            </a:extLst>
          </p:cNvPr>
          <p:cNvSpPr>
            <a:spLocks noGrp="1"/>
          </p:cNvSpPr>
          <p:nvPr>
            <p:ph type="sldNum" sz="quarter" idx="5"/>
          </p:nvPr>
        </p:nvSpPr>
        <p:spPr/>
        <p:txBody>
          <a:bodyPr/>
          <a:lstStyle/>
          <a:p>
            <a:fld id="{42ED24F3-C88E-4C15-8193-4E111B80EC59}" type="slidenum">
              <a:rPr lang="en-AU" smtClean="0"/>
              <a:t>31</a:t>
            </a:fld>
            <a:endParaRPr lang="en-AU"/>
          </a:p>
        </p:txBody>
      </p:sp>
    </p:spTree>
    <p:extLst>
      <p:ext uri="{BB962C8B-B14F-4D97-AF65-F5344CB8AC3E}">
        <p14:creationId xmlns:p14="http://schemas.microsoft.com/office/powerpoint/2010/main" val="39360167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EDEEE-B624-0B31-B2E9-7524E5732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8CB561-DB23-0AAF-64F9-DD3D01A1B4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7E5191-DB32-2C8A-D82C-D1B00CA5FDF0}"/>
              </a:ext>
            </a:extLst>
          </p:cNvPr>
          <p:cNvSpPr>
            <a:spLocks noGrp="1"/>
          </p:cNvSpPr>
          <p:nvPr>
            <p:ph type="body" idx="1"/>
          </p:nvPr>
        </p:nvSpPr>
        <p:spPr/>
        <p:txBody>
          <a:bodyPr/>
          <a:lstStyle/>
          <a:p>
            <a:r>
              <a:rPr lang="en-US" dirty="0"/>
              <a:t>a) Data fields that describe state</a:t>
            </a:r>
          </a:p>
        </p:txBody>
      </p:sp>
      <p:sp>
        <p:nvSpPr>
          <p:cNvPr id="4" name="Slide Number Placeholder 3">
            <a:extLst>
              <a:ext uri="{FF2B5EF4-FFF2-40B4-BE49-F238E27FC236}">
                <a16:creationId xmlns:a16="http://schemas.microsoft.com/office/drawing/2014/main" id="{DB4760BB-04A5-4610-88D7-AF9DFD1975C0}"/>
              </a:ext>
            </a:extLst>
          </p:cNvPr>
          <p:cNvSpPr>
            <a:spLocks noGrp="1"/>
          </p:cNvSpPr>
          <p:nvPr>
            <p:ph type="sldNum" sz="quarter" idx="5"/>
          </p:nvPr>
        </p:nvSpPr>
        <p:spPr/>
        <p:txBody>
          <a:bodyPr/>
          <a:lstStyle/>
          <a:p>
            <a:fld id="{42ED24F3-C88E-4C15-8193-4E111B80EC59}" type="slidenum">
              <a:rPr lang="en-AU" smtClean="0"/>
              <a:t>32</a:t>
            </a:fld>
            <a:endParaRPr lang="en-AU"/>
          </a:p>
        </p:txBody>
      </p:sp>
    </p:spTree>
    <p:extLst>
      <p:ext uri="{BB962C8B-B14F-4D97-AF65-F5344CB8AC3E}">
        <p14:creationId xmlns:p14="http://schemas.microsoft.com/office/powerpoint/2010/main" val="18508041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839B4-7D11-4B1B-7138-8F904EC012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85C944-6A39-19F2-4027-CD42EF824F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2FEAFD-558D-8F8B-E381-B43079EC9FCA}"/>
              </a:ext>
            </a:extLst>
          </p:cNvPr>
          <p:cNvSpPr>
            <a:spLocks noGrp="1"/>
          </p:cNvSpPr>
          <p:nvPr>
            <p:ph type="body" idx="1"/>
          </p:nvPr>
        </p:nvSpPr>
        <p:spPr/>
        <p:txBody>
          <a:bodyPr/>
          <a:lstStyle/>
          <a:p>
            <a:r>
              <a:rPr lang="en-US" dirty="0"/>
              <a:t>c) A subclass can inherit from multiple </a:t>
            </a:r>
            <a:r>
              <a:rPr lang="en-US" dirty="0" err="1"/>
              <a:t>superclasses</a:t>
            </a:r>
            <a:r>
              <a:rPr lang="en-US" dirty="0"/>
              <a:t> in all languages</a:t>
            </a:r>
          </a:p>
        </p:txBody>
      </p:sp>
      <p:sp>
        <p:nvSpPr>
          <p:cNvPr id="4" name="Slide Number Placeholder 3">
            <a:extLst>
              <a:ext uri="{FF2B5EF4-FFF2-40B4-BE49-F238E27FC236}">
                <a16:creationId xmlns:a16="http://schemas.microsoft.com/office/drawing/2014/main" id="{1D7026E8-F8C3-65D0-A852-C36ECED46715}"/>
              </a:ext>
            </a:extLst>
          </p:cNvPr>
          <p:cNvSpPr>
            <a:spLocks noGrp="1"/>
          </p:cNvSpPr>
          <p:nvPr>
            <p:ph type="sldNum" sz="quarter" idx="5"/>
          </p:nvPr>
        </p:nvSpPr>
        <p:spPr/>
        <p:txBody>
          <a:bodyPr/>
          <a:lstStyle/>
          <a:p>
            <a:fld id="{42ED24F3-C88E-4C15-8193-4E111B80EC59}" type="slidenum">
              <a:rPr lang="en-AU" smtClean="0"/>
              <a:t>33</a:t>
            </a:fld>
            <a:endParaRPr lang="en-AU"/>
          </a:p>
        </p:txBody>
      </p:sp>
    </p:spTree>
    <p:extLst>
      <p:ext uri="{BB962C8B-B14F-4D97-AF65-F5344CB8AC3E}">
        <p14:creationId xmlns:p14="http://schemas.microsoft.com/office/powerpoint/2010/main" val="20164043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776D1-A36C-DDD3-D149-EED1C89871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FE2812-4934-EC1B-EF00-F24DBE0367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832234-2970-D9AB-D757-6C2E60CF70FE}"/>
              </a:ext>
            </a:extLst>
          </p:cNvPr>
          <p:cNvSpPr>
            <a:spLocks noGrp="1"/>
          </p:cNvSpPr>
          <p:nvPr>
            <p:ph type="body" idx="1"/>
          </p:nvPr>
        </p:nvSpPr>
        <p:spPr/>
        <p:txBody>
          <a:bodyPr/>
          <a:lstStyle/>
          <a:p>
            <a:r>
              <a:rPr lang="en-US" dirty="0"/>
              <a:t>d) Login should validate credentials in less than 2 seconds</a:t>
            </a:r>
          </a:p>
        </p:txBody>
      </p:sp>
      <p:sp>
        <p:nvSpPr>
          <p:cNvPr id="4" name="Slide Number Placeholder 3">
            <a:extLst>
              <a:ext uri="{FF2B5EF4-FFF2-40B4-BE49-F238E27FC236}">
                <a16:creationId xmlns:a16="http://schemas.microsoft.com/office/drawing/2014/main" id="{21AF29F5-60F5-0467-1DE2-DCFF0BFF6F6F}"/>
              </a:ext>
            </a:extLst>
          </p:cNvPr>
          <p:cNvSpPr>
            <a:spLocks noGrp="1"/>
          </p:cNvSpPr>
          <p:nvPr>
            <p:ph type="sldNum" sz="quarter" idx="5"/>
          </p:nvPr>
        </p:nvSpPr>
        <p:spPr/>
        <p:txBody>
          <a:bodyPr/>
          <a:lstStyle/>
          <a:p>
            <a:fld id="{42ED24F3-C88E-4C15-8193-4E111B80EC59}" type="slidenum">
              <a:rPr lang="en-AU" smtClean="0"/>
              <a:t>34</a:t>
            </a:fld>
            <a:endParaRPr lang="en-AU"/>
          </a:p>
        </p:txBody>
      </p:sp>
    </p:spTree>
    <p:extLst>
      <p:ext uri="{BB962C8B-B14F-4D97-AF65-F5344CB8AC3E}">
        <p14:creationId xmlns:p14="http://schemas.microsoft.com/office/powerpoint/2010/main" val="37050648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16101-2E5A-4FCC-50AE-9B0ACAB29E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AB5D98-E336-C85A-0EB7-C04B243E76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B54AA5-B90A-C48D-7E5E-D8367FC0CFDB}"/>
              </a:ext>
            </a:extLst>
          </p:cNvPr>
          <p:cNvSpPr>
            <a:spLocks noGrp="1"/>
          </p:cNvSpPr>
          <p:nvPr>
            <p:ph type="body" idx="1"/>
          </p:nvPr>
        </p:nvSpPr>
        <p:spPr/>
        <p:txBody>
          <a:bodyPr/>
          <a:lstStyle/>
          <a:p>
            <a:r>
              <a:rPr lang="en-US" dirty="0"/>
              <a:t>d) Login should validate credentials in less than 2 seconds</a:t>
            </a:r>
          </a:p>
        </p:txBody>
      </p:sp>
      <p:sp>
        <p:nvSpPr>
          <p:cNvPr id="4" name="Slide Number Placeholder 3">
            <a:extLst>
              <a:ext uri="{FF2B5EF4-FFF2-40B4-BE49-F238E27FC236}">
                <a16:creationId xmlns:a16="http://schemas.microsoft.com/office/drawing/2014/main" id="{22DD0BBE-401E-6ECA-E37F-35A64D80C576}"/>
              </a:ext>
            </a:extLst>
          </p:cNvPr>
          <p:cNvSpPr>
            <a:spLocks noGrp="1"/>
          </p:cNvSpPr>
          <p:nvPr>
            <p:ph type="sldNum" sz="quarter" idx="5"/>
          </p:nvPr>
        </p:nvSpPr>
        <p:spPr/>
        <p:txBody>
          <a:bodyPr/>
          <a:lstStyle/>
          <a:p>
            <a:fld id="{42ED24F3-C88E-4C15-8193-4E111B80EC59}" type="slidenum">
              <a:rPr lang="en-AU" smtClean="0"/>
              <a:t>35</a:t>
            </a:fld>
            <a:endParaRPr lang="en-AU"/>
          </a:p>
        </p:txBody>
      </p:sp>
    </p:spTree>
    <p:extLst>
      <p:ext uri="{BB962C8B-B14F-4D97-AF65-F5344CB8AC3E}">
        <p14:creationId xmlns:p14="http://schemas.microsoft.com/office/powerpoint/2010/main" val="14321165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7A289-FF3D-6221-0919-52B01AA8C7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B594B72A-F72E-6F44-5F03-1418A0B231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49E6A39C-6018-18E9-5F8D-4A1EC20EB561}"/>
              </a:ext>
            </a:extLst>
          </p:cNvPr>
          <p:cNvSpPr>
            <a:spLocks noGrp="1"/>
          </p:cNvSpPr>
          <p:nvPr>
            <p:ph type="dt" sz="half" idx="10"/>
          </p:nvPr>
        </p:nvSpPr>
        <p:spPr/>
        <p:txBody>
          <a:bodyPr/>
          <a:lstStyle/>
          <a:p>
            <a:fld id="{1BB67406-7D6A-427B-AE15-EA86D49A46C9}" type="datetimeFigureOut">
              <a:rPr lang="en-AU" smtClean="0"/>
              <a:t>12/09/2025</a:t>
            </a:fld>
            <a:endParaRPr lang="en-AU"/>
          </a:p>
        </p:txBody>
      </p:sp>
      <p:sp>
        <p:nvSpPr>
          <p:cNvPr id="5" name="Footer Placeholder 4">
            <a:extLst>
              <a:ext uri="{FF2B5EF4-FFF2-40B4-BE49-F238E27FC236}">
                <a16:creationId xmlns:a16="http://schemas.microsoft.com/office/drawing/2014/main" id="{37120D52-2FFC-C9DF-2C1D-0D71439D00F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B806BD1-0781-7498-CBE7-882C85BCFF11}"/>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3695949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06307-42D9-B52A-3FDF-879E60F0F6AA}"/>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D3A6530-A555-4496-8091-721D1F8819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7E4BAD6-101F-B851-1C08-7D894720DD0B}"/>
              </a:ext>
            </a:extLst>
          </p:cNvPr>
          <p:cNvSpPr>
            <a:spLocks noGrp="1"/>
          </p:cNvSpPr>
          <p:nvPr>
            <p:ph type="dt" sz="half" idx="10"/>
          </p:nvPr>
        </p:nvSpPr>
        <p:spPr/>
        <p:txBody>
          <a:bodyPr/>
          <a:lstStyle/>
          <a:p>
            <a:fld id="{1BB67406-7D6A-427B-AE15-EA86D49A46C9}" type="datetimeFigureOut">
              <a:rPr lang="en-AU" smtClean="0"/>
              <a:t>12/09/2025</a:t>
            </a:fld>
            <a:endParaRPr lang="en-AU"/>
          </a:p>
        </p:txBody>
      </p:sp>
      <p:sp>
        <p:nvSpPr>
          <p:cNvPr id="5" name="Footer Placeholder 4">
            <a:extLst>
              <a:ext uri="{FF2B5EF4-FFF2-40B4-BE49-F238E27FC236}">
                <a16:creationId xmlns:a16="http://schemas.microsoft.com/office/drawing/2014/main" id="{7D7BE63D-2BAC-0771-6CDD-E58CA768C29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762B1F2-308D-04CF-0533-43636B44042E}"/>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021116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51970-B490-B69E-FCBD-212BA09108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2DEEDBB8-F6B9-F902-DDF8-399BEAD5FF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1A61F5-3BD9-1364-E269-EA50C8D5E589}"/>
              </a:ext>
            </a:extLst>
          </p:cNvPr>
          <p:cNvSpPr>
            <a:spLocks noGrp="1"/>
          </p:cNvSpPr>
          <p:nvPr>
            <p:ph type="dt" sz="half" idx="10"/>
          </p:nvPr>
        </p:nvSpPr>
        <p:spPr/>
        <p:txBody>
          <a:bodyPr/>
          <a:lstStyle/>
          <a:p>
            <a:fld id="{1BB67406-7D6A-427B-AE15-EA86D49A46C9}" type="datetimeFigureOut">
              <a:rPr lang="en-AU" smtClean="0"/>
              <a:t>12/09/2025</a:t>
            </a:fld>
            <a:endParaRPr lang="en-AU"/>
          </a:p>
        </p:txBody>
      </p:sp>
      <p:sp>
        <p:nvSpPr>
          <p:cNvPr id="5" name="Footer Placeholder 4">
            <a:extLst>
              <a:ext uri="{FF2B5EF4-FFF2-40B4-BE49-F238E27FC236}">
                <a16:creationId xmlns:a16="http://schemas.microsoft.com/office/drawing/2014/main" id="{2921C5DD-8DE3-E3A8-9502-3A87814DB8C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697EB9C-AF45-B217-1DA1-31C1499BA96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988447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B327E-C2D8-2826-AC41-CBF55C1F57D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781C1C5-C310-D6F8-E733-80DC724D8F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86EB3D25-4FAE-3121-CD93-0C49A108AA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42D4EAB2-5E1A-8619-3057-C3A1AB5D12B6}"/>
              </a:ext>
            </a:extLst>
          </p:cNvPr>
          <p:cNvSpPr>
            <a:spLocks noGrp="1"/>
          </p:cNvSpPr>
          <p:nvPr>
            <p:ph type="dt" sz="half" idx="10"/>
          </p:nvPr>
        </p:nvSpPr>
        <p:spPr/>
        <p:txBody>
          <a:bodyPr/>
          <a:lstStyle/>
          <a:p>
            <a:fld id="{1BB67406-7D6A-427B-AE15-EA86D49A46C9}" type="datetimeFigureOut">
              <a:rPr lang="en-AU" smtClean="0"/>
              <a:t>12/09/2025</a:t>
            </a:fld>
            <a:endParaRPr lang="en-AU"/>
          </a:p>
        </p:txBody>
      </p:sp>
      <p:sp>
        <p:nvSpPr>
          <p:cNvPr id="6" name="Footer Placeholder 5">
            <a:extLst>
              <a:ext uri="{FF2B5EF4-FFF2-40B4-BE49-F238E27FC236}">
                <a16:creationId xmlns:a16="http://schemas.microsoft.com/office/drawing/2014/main" id="{8BB9F5A9-2584-E93E-6A0F-A4794EE1DC5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727E2D3-3374-99CB-1920-B67380A0E1D0}"/>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33972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6ED3B-21CA-4495-94A5-BF0A0714315D}"/>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5125D24-B245-8441-06C8-6FC24B1D70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0E5481-DAD5-42E9-A05C-FE17FB031D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1DEBF7B5-BC72-38B3-02F0-7BB1BC9D07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271FD1-022B-B62F-16CD-57BC6B42D6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5B1968B3-4251-2756-4B56-73ADD5061DB9}"/>
              </a:ext>
            </a:extLst>
          </p:cNvPr>
          <p:cNvSpPr>
            <a:spLocks noGrp="1"/>
          </p:cNvSpPr>
          <p:nvPr>
            <p:ph type="dt" sz="half" idx="10"/>
          </p:nvPr>
        </p:nvSpPr>
        <p:spPr/>
        <p:txBody>
          <a:bodyPr/>
          <a:lstStyle/>
          <a:p>
            <a:fld id="{1BB67406-7D6A-427B-AE15-EA86D49A46C9}" type="datetimeFigureOut">
              <a:rPr lang="en-AU" smtClean="0"/>
              <a:t>12/09/2025</a:t>
            </a:fld>
            <a:endParaRPr lang="en-AU"/>
          </a:p>
        </p:txBody>
      </p:sp>
      <p:sp>
        <p:nvSpPr>
          <p:cNvPr id="8" name="Footer Placeholder 7">
            <a:extLst>
              <a:ext uri="{FF2B5EF4-FFF2-40B4-BE49-F238E27FC236}">
                <a16:creationId xmlns:a16="http://schemas.microsoft.com/office/drawing/2014/main" id="{B37B1F6D-47C2-CAE3-A4E5-9BBEA2718417}"/>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5E390004-77A4-C994-6377-2D03957A9478}"/>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727843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029FA-C545-B505-6C82-069457BDA1FA}"/>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6EBCBFB8-D61F-8DA0-01D0-D4ABB1784B6C}"/>
              </a:ext>
            </a:extLst>
          </p:cNvPr>
          <p:cNvSpPr>
            <a:spLocks noGrp="1"/>
          </p:cNvSpPr>
          <p:nvPr>
            <p:ph type="dt" sz="half" idx="10"/>
          </p:nvPr>
        </p:nvSpPr>
        <p:spPr/>
        <p:txBody>
          <a:bodyPr/>
          <a:lstStyle/>
          <a:p>
            <a:fld id="{1BB67406-7D6A-427B-AE15-EA86D49A46C9}" type="datetimeFigureOut">
              <a:rPr lang="en-AU" smtClean="0"/>
              <a:t>12/09/2025</a:t>
            </a:fld>
            <a:endParaRPr lang="en-AU"/>
          </a:p>
        </p:txBody>
      </p:sp>
      <p:sp>
        <p:nvSpPr>
          <p:cNvPr id="4" name="Footer Placeholder 3">
            <a:extLst>
              <a:ext uri="{FF2B5EF4-FFF2-40B4-BE49-F238E27FC236}">
                <a16:creationId xmlns:a16="http://schemas.microsoft.com/office/drawing/2014/main" id="{892936ED-D26E-6CDD-AE85-E69826C2BF68}"/>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160F5E15-D044-ACA4-4FF1-4403C9CB1E0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730804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00D06D-3A18-FF5D-39C8-EC1AC6D1C47F}"/>
              </a:ext>
            </a:extLst>
          </p:cNvPr>
          <p:cNvSpPr>
            <a:spLocks noGrp="1"/>
          </p:cNvSpPr>
          <p:nvPr>
            <p:ph type="dt" sz="half" idx="10"/>
          </p:nvPr>
        </p:nvSpPr>
        <p:spPr/>
        <p:txBody>
          <a:bodyPr/>
          <a:lstStyle/>
          <a:p>
            <a:fld id="{1BB67406-7D6A-427B-AE15-EA86D49A46C9}" type="datetimeFigureOut">
              <a:rPr lang="en-AU" smtClean="0"/>
              <a:t>12/09/2025</a:t>
            </a:fld>
            <a:endParaRPr lang="en-AU"/>
          </a:p>
        </p:txBody>
      </p:sp>
      <p:sp>
        <p:nvSpPr>
          <p:cNvPr id="3" name="Footer Placeholder 2">
            <a:extLst>
              <a:ext uri="{FF2B5EF4-FFF2-40B4-BE49-F238E27FC236}">
                <a16:creationId xmlns:a16="http://schemas.microsoft.com/office/drawing/2014/main" id="{5F041F04-363D-EF82-F43A-1F851133744D}"/>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D3F072FA-339B-371C-0059-8970DEB101C0}"/>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680544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B85B4-BB2F-E262-E02E-C1DC1BF008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2F14E00-FACA-AA09-85E5-E01105E850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7634EE9D-4DB5-87C6-C68D-3C076EA321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C8988F-CF28-82C0-CDE6-5940AF6ADD36}"/>
              </a:ext>
            </a:extLst>
          </p:cNvPr>
          <p:cNvSpPr>
            <a:spLocks noGrp="1"/>
          </p:cNvSpPr>
          <p:nvPr>
            <p:ph type="dt" sz="half" idx="10"/>
          </p:nvPr>
        </p:nvSpPr>
        <p:spPr/>
        <p:txBody>
          <a:bodyPr/>
          <a:lstStyle/>
          <a:p>
            <a:fld id="{1BB67406-7D6A-427B-AE15-EA86D49A46C9}" type="datetimeFigureOut">
              <a:rPr lang="en-AU" smtClean="0"/>
              <a:t>12/09/2025</a:t>
            </a:fld>
            <a:endParaRPr lang="en-AU"/>
          </a:p>
        </p:txBody>
      </p:sp>
      <p:sp>
        <p:nvSpPr>
          <p:cNvPr id="6" name="Footer Placeholder 5">
            <a:extLst>
              <a:ext uri="{FF2B5EF4-FFF2-40B4-BE49-F238E27FC236}">
                <a16:creationId xmlns:a16="http://schemas.microsoft.com/office/drawing/2014/main" id="{58D6275B-7D78-C2DE-31FE-0C2CC24794F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7BA9313-C86F-F87B-3741-AEE3F072D1D1}"/>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894448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15856-F0AB-56B5-BD98-57810EED58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987A74BD-4349-19E0-431D-8899C9B137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C09018E4-FE4E-963A-A372-8FF2993F1B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171D85-A2C7-2BA8-45B6-F761AF7901E9}"/>
              </a:ext>
            </a:extLst>
          </p:cNvPr>
          <p:cNvSpPr>
            <a:spLocks noGrp="1"/>
          </p:cNvSpPr>
          <p:nvPr>
            <p:ph type="dt" sz="half" idx="10"/>
          </p:nvPr>
        </p:nvSpPr>
        <p:spPr/>
        <p:txBody>
          <a:bodyPr/>
          <a:lstStyle/>
          <a:p>
            <a:fld id="{1BB67406-7D6A-427B-AE15-EA86D49A46C9}" type="datetimeFigureOut">
              <a:rPr lang="en-AU" smtClean="0"/>
              <a:t>12/09/2025</a:t>
            </a:fld>
            <a:endParaRPr lang="en-AU"/>
          </a:p>
        </p:txBody>
      </p:sp>
      <p:sp>
        <p:nvSpPr>
          <p:cNvPr id="6" name="Footer Placeholder 5">
            <a:extLst>
              <a:ext uri="{FF2B5EF4-FFF2-40B4-BE49-F238E27FC236}">
                <a16:creationId xmlns:a16="http://schemas.microsoft.com/office/drawing/2014/main" id="{B6B167D4-1A0A-BA70-330D-3FF1004FE0D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572802A-72F4-775F-7C84-9B2F5770F435}"/>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76132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CF791-333B-3959-5EB7-74857A08161D}"/>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4E30ACA7-4517-BC5B-569C-29CDA754F2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8472832-7FB6-BE62-8AC6-AC4630D92954}"/>
              </a:ext>
            </a:extLst>
          </p:cNvPr>
          <p:cNvSpPr>
            <a:spLocks noGrp="1"/>
          </p:cNvSpPr>
          <p:nvPr>
            <p:ph type="dt" sz="half" idx="10"/>
          </p:nvPr>
        </p:nvSpPr>
        <p:spPr/>
        <p:txBody>
          <a:bodyPr/>
          <a:lstStyle/>
          <a:p>
            <a:fld id="{1BB67406-7D6A-427B-AE15-EA86D49A46C9}" type="datetimeFigureOut">
              <a:rPr lang="en-AU" smtClean="0"/>
              <a:t>12/09/2025</a:t>
            </a:fld>
            <a:endParaRPr lang="en-AU"/>
          </a:p>
        </p:txBody>
      </p:sp>
      <p:sp>
        <p:nvSpPr>
          <p:cNvPr id="5" name="Footer Placeholder 4">
            <a:extLst>
              <a:ext uri="{FF2B5EF4-FFF2-40B4-BE49-F238E27FC236}">
                <a16:creationId xmlns:a16="http://schemas.microsoft.com/office/drawing/2014/main" id="{11ED29DE-BC8E-969C-246D-FAB1068D1F2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EA5BE22-884E-FBF3-A25E-96D41863467F}"/>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955697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444B66-AC16-CCAB-AFE8-29D6415A761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B31ACECC-B4A9-B0D4-C662-26E4907132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5500766-BA84-C9DB-9E6F-3B62FB470ED9}"/>
              </a:ext>
            </a:extLst>
          </p:cNvPr>
          <p:cNvSpPr>
            <a:spLocks noGrp="1"/>
          </p:cNvSpPr>
          <p:nvPr>
            <p:ph type="dt" sz="half" idx="10"/>
          </p:nvPr>
        </p:nvSpPr>
        <p:spPr/>
        <p:txBody>
          <a:bodyPr/>
          <a:lstStyle/>
          <a:p>
            <a:fld id="{1BB67406-7D6A-427B-AE15-EA86D49A46C9}" type="datetimeFigureOut">
              <a:rPr lang="en-AU" smtClean="0"/>
              <a:t>12/09/2025</a:t>
            </a:fld>
            <a:endParaRPr lang="en-AU"/>
          </a:p>
        </p:txBody>
      </p:sp>
      <p:sp>
        <p:nvSpPr>
          <p:cNvPr id="5" name="Footer Placeholder 4">
            <a:extLst>
              <a:ext uri="{FF2B5EF4-FFF2-40B4-BE49-F238E27FC236}">
                <a16:creationId xmlns:a16="http://schemas.microsoft.com/office/drawing/2014/main" id="{A0361B9B-7BB2-B7BE-929B-53D8853D771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63AB2A3-A938-DC24-C96A-DF2004F89AD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0429736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53CF8-4CC4-7F3B-2E2C-B754C2E0B9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DD47C4A4-F523-ACA9-5C84-1EB3B80F5B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FCC56B62-F469-5355-6292-CF3055CB002C}"/>
              </a:ext>
            </a:extLst>
          </p:cNvPr>
          <p:cNvSpPr>
            <a:spLocks noGrp="1"/>
          </p:cNvSpPr>
          <p:nvPr>
            <p:ph type="dt" sz="half" idx="10"/>
          </p:nvPr>
        </p:nvSpPr>
        <p:spPr/>
        <p:txBody>
          <a:bodyPr/>
          <a:lstStyle/>
          <a:p>
            <a:fld id="{BFAA40DC-3820-4F90-B4E8-98BE2140A65D}" type="datetimeFigureOut">
              <a:rPr lang="en-AU" smtClean="0"/>
              <a:t>12/09/2025</a:t>
            </a:fld>
            <a:endParaRPr lang="en-AU"/>
          </a:p>
        </p:txBody>
      </p:sp>
      <p:sp>
        <p:nvSpPr>
          <p:cNvPr id="5" name="Footer Placeholder 4">
            <a:extLst>
              <a:ext uri="{FF2B5EF4-FFF2-40B4-BE49-F238E27FC236}">
                <a16:creationId xmlns:a16="http://schemas.microsoft.com/office/drawing/2014/main" id="{07B6D681-D058-06A0-CFA9-1ACBCF9DA98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5491BDF-B5C2-115A-032D-5C46CBD97B88}"/>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31931865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62C67-E368-7D38-83A4-DC56A3CE481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006983C6-8621-2FAD-A749-9E13A6E824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B1A0925-44BC-4207-88BC-094591F65504}"/>
              </a:ext>
            </a:extLst>
          </p:cNvPr>
          <p:cNvSpPr>
            <a:spLocks noGrp="1"/>
          </p:cNvSpPr>
          <p:nvPr>
            <p:ph type="dt" sz="half" idx="10"/>
          </p:nvPr>
        </p:nvSpPr>
        <p:spPr/>
        <p:txBody>
          <a:bodyPr/>
          <a:lstStyle/>
          <a:p>
            <a:fld id="{BFAA40DC-3820-4F90-B4E8-98BE2140A65D}" type="datetimeFigureOut">
              <a:rPr lang="en-AU" smtClean="0"/>
              <a:t>12/09/2025</a:t>
            </a:fld>
            <a:endParaRPr lang="en-AU"/>
          </a:p>
        </p:txBody>
      </p:sp>
      <p:sp>
        <p:nvSpPr>
          <p:cNvPr id="5" name="Footer Placeholder 4">
            <a:extLst>
              <a:ext uri="{FF2B5EF4-FFF2-40B4-BE49-F238E27FC236}">
                <a16:creationId xmlns:a16="http://schemas.microsoft.com/office/drawing/2014/main" id="{88163BBE-E6DD-4BA0-5A98-015DA3DCEBB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0B556D0-7775-3B39-DE7E-B43E5937F23A}"/>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6876717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96912-D2E1-9F64-1372-FD29BECA18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CCB3F36E-92D4-F7A9-5611-D4EBA0BE88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BA57A2-4AEF-2382-EDA9-9845CA39B6F5}"/>
              </a:ext>
            </a:extLst>
          </p:cNvPr>
          <p:cNvSpPr>
            <a:spLocks noGrp="1"/>
          </p:cNvSpPr>
          <p:nvPr>
            <p:ph type="dt" sz="half" idx="10"/>
          </p:nvPr>
        </p:nvSpPr>
        <p:spPr/>
        <p:txBody>
          <a:bodyPr/>
          <a:lstStyle/>
          <a:p>
            <a:fld id="{BFAA40DC-3820-4F90-B4E8-98BE2140A65D}" type="datetimeFigureOut">
              <a:rPr lang="en-AU" smtClean="0"/>
              <a:t>12/09/2025</a:t>
            </a:fld>
            <a:endParaRPr lang="en-AU"/>
          </a:p>
        </p:txBody>
      </p:sp>
      <p:sp>
        <p:nvSpPr>
          <p:cNvPr id="5" name="Footer Placeholder 4">
            <a:extLst>
              <a:ext uri="{FF2B5EF4-FFF2-40B4-BE49-F238E27FC236}">
                <a16:creationId xmlns:a16="http://schemas.microsoft.com/office/drawing/2014/main" id="{A6F37D0E-8F76-6E7D-576B-3044ADA89E4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D82D88E-0EE8-C9D0-7C68-6610F7CEA951}"/>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12169594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A8EEF-DD28-69EB-29C5-D19A23E2AE8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F9C7F8B3-1006-F7DE-14E9-62BEEF0BC3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D079AB7C-879B-50DC-E53A-4393B966D1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F50D7845-F396-BCEB-3205-F5CB38CB2530}"/>
              </a:ext>
            </a:extLst>
          </p:cNvPr>
          <p:cNvSpPr>
            <a:spLocks noGrp="1"/>
          </p:cNvSpPr>
          <p:nvPr>
            <p:ph type="dt" sz="half" idx="10"/>
          </p:nvPr>
        </p:nvSpPr>
        <p:spPr/>
        <p:txBody>
          <a:bodyPr/>
          <a:lstStyle/>
          <a:p>
            <a:fld id="{BFAA40DC-3820-4F90-B4E8-98BE2140A65D}" type="datetimeFigureOut">
              <a:rPr lang="en-AU" smtClean="0"/>
              <a:t>12/09/2025</a:t>
            </a:fld>
            <a:endParaRPr lang="en-AU"/>
          </a:p>
        </p:txBody>
      </p:sp>
      <p:sp>
        <p:nvSpPr>
          <p:cNvPr id="6" name="Footer Placeholder 5">
            <a:extLst>
              <a:ext uri="{FF2B5EF4-FFF2-40B4-BE49-F238E27FC236}">
                <a16:creationId xmlns:a16="http://schemas.microsoft.com/office/drawing/2014/main" id="{3BDFD3CE-E9A4-DBF3-1F0E-201F7D7F870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5F8F1D0-0AD2-C539-20D2-851B13FB1D5D}"/>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2047249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249C5-0226-85F6-8D4F-D4EA9199BD3E}"/>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BF293AD-8E77-DFCC-2C3E-8937176F9D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4B92EC-30B6-5005-98C8-910D96DBBD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41EC2EA1-CEE9-87F1-74CA-7EA588BF2B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4F0A23-C285-3B5E-0EF8-4DF4263F03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72763897-C5FE-C3C3-0CDA-105871814ACD}"/>
              </a:ext>
            </a:extLst>
          </p:cNvPr>
          <p:cNvSpPr>
            <a:spLocks noGrp="1"/>
          </p:cNvSpPr>
          <p:nvPr>
            <p:ph type="dt" sz="half" idx="10"/>
          </p:nvPr>
        </p:nvSpPr>
        <p:spPr/>
        <p:txBody>
          <a:bodyPr/>
          <a:lstStyle/>
          <a:p>
            <a:fld id="{BFAA40DC-3820-4F90-B4E8-98BE2140A65D}" type="datetimeFigureOut">
              <a:rPr lang="en-AU" smtClean="0"/>
              <a:t>12/09/2025</a:t>
            </a:fld>
            <a:endParaRPr lang="en-AU"/>
          </a:p>
        </p:txBody>
      </p:sp>
      <p:sp>
        <p:nvSpPr>
          <p:cNvPr id="8" name="Footer Placeholder 7">
            <a:extLst>
              <a:ext uri="{FF2B5EF4-FFF2-40B4-BE49-F238E27FC236}">
                <a16:creationId xmlns:a16="http://schemas.microsoft.com/office/drawing/2014/main" id="{C76D7EC9-F5EC-C2D4-DFE1-05F4CA0D1B20}"/>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F5CEC484-2B60-830F-28B9-0BF2FCAECAF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5206584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555B2-54AC-E8D5-3367-D1C2415C8223}"/>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3CE7327B-BCFB-7F1B-0D11-15CDAFA5E939}"/>
              </a:ext>
            </a:extLst>
          </p:cNvPr>
          <p:cNvSpPr>
            <a:spLocks noGrp="1"/>
          </p:cNvSpPr>
          <p:nvPr>
            <p:ph type="dt" sz="half" idx="10"/>
          </p:nvPr>
        </p:nvSpPr>
        <p:spPr/>
        <p:txBody>
          <a:bodyPr/>
          <a:lstStyle/>
          <a:p>
            <a:fld id="{BFAA40DC-3820-4F90-B4E8-98BE2140A65D}" type="datetimeFigureOut">
              <a:rPr lang="en-AU" smtClean="0"/>
              <a:t>12/09/2025</a:t>
            </a:fld>
            <a:endParaRPr lang="en-AU"/>
          </a:p>
        </p:txBody>
      </p:sp>
      <p:sp>
        <p:nvSpPr>
          <p:cNvPr id="4" name="Footer Placeholder 3">
            <a:extLst>
              <a:ext uri="{FF2B5EF4-FFF2-40B4-BE49-F238E27FC236}">
                <a16:creationId xmlns:a16="http://schemas.microsoft.com/office/drawing/2014/main" id="{AACEA2D0-8DDC-C686-66FD-4DE83C549221}"/>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A480BFAB-E28F-508B-19B8-6522D8ACFABF}"/>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0449621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769272-1C68-4E9F-DF2B-EFBD432E16F1}"/>
              </a:ext>
            </a:extLst>
          </p:cNvPr>
          <p:cNvSpPr>
            <a:spLocks noGrp="1"/>
          </p:cNvSpPr>
          <p:nvPr>
            <p:ph type="dt" sz="half" idx="10"/>
          </p:nvPr>
        </p:nvSpPr>
        <p:spPr/>
        <p:txBody>
          <a:bodyPr/>
          <a:lstStyle/>
          <a:p>
            <a:fld id="{BFAA40DC-3820-4F90-B4E8-98BE2140A65D}" type="datetimeFigureOut">
              <a:rPr lang="en-AU" smtClean="0"/>
              <a:t>12/09/2025</a:t>
            </a:fld>
            <a:endParaRPr lang="en-AU"/>
          </a:p>
        </p:txBody>
      </p:sp>
      <p:sp>
        <p:nvSpPr>
          <p:cNvPr id="3" name="Footer Placeholder 2">
            <a:extLst>
              <a:ext uri="{FF2B5EF4-FFF2-40B4-BE49-F238E27FC236}">
                <a16:creationId xmlns:a16="http://schemas.microsoft.com/office/drawing/2014/main" id="{9F2DC98D-0E86-D36E-F380-6954CD1E0BF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AAA1A426-B4F3-BBC6-83AE-7CC2B62FB732}"/>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8936678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050BF-D428-3081-57B1-8789F77356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AE65AD68-6E43-EC2D-C33D-9C8C408CC5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F607F6F4-D743-9E3B-ECD3-FC039ED7A9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B4F5F1-6B2A-22C2-ECEA-5177C220ADF5}"/>
              </a:ext>
            </a:extLst>
          </p:cNvPr>
          <p:cNvSpPr>
            <a:spLocks noGrp="1"/>
          </p:cNvSpPr>
          <p:nvPr>
            <p:ph type="dt" sz="half" idx="10"/>
          </p:nvPr>
        </p:nvSpPr>
        <p:spPr/>
        <p:txBody>
          <a:bodyPr/>
          <a:lstStyle/>
          <a:p>
            <a:fld id="{BFAA40DC-3820-4F90-B4E8-98BE2140A65D}" type="datetimeFigureOut">
              <a:rPr lang="en-AU" smtClean="0"/>
              <a:t>12/09/2025</a:t>
            </a:fld>
            <a:endParaRPr lang="en-AU"/>
          </a:p>
        </p:txBody>
      </p:sp>
      <p:sp>
        <p:nvSpPr>
          <p:cNvPr id="6" name="Footer Placeholder 5">
            <a:extLst>
              <a:ext uri="{FF2B5EF4-FFF2-40B4-BE49-F238E27FC236}">
                <a16:creationId xmlns:a16="http://schemas.microsoft.com/office/drawing/2014/main" id="{790F1728-E389-E41B-E406-1E97CFE6A5D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A0B1710-9C83-7478-4B35-7F8EEFEF0033}"/>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12690949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26ED2-C254-312D-15C0-846C33DE56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C5BD8503-8FCB-7F53-63D6-495FC6DA09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B35F4EB0-E8B0-EA92-3CF8-6A5D1F5C74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7D7A35-CE5F-ECE8-2441-58A2C920217D}"/>
              </a:ext>
            </a:extLst>
          </p:cNvPr>
          <p:cNvSpPr>
            <a:spLocks noGrp="1"/>
          </p:cNvSpPr>
          <p:nvPr>
            <p:ph type="dt" sz="half" idx="10"/>
          </p:nvPr>
        </p:nvSpPr>
        <p:spPr/>
        <p:txBody>
          <a:bodyPr/>
          <a:lstStyle/>
          <a:p>
            <a:fld id="{BFAA40DC-3820-4F90-B4E8-98BE2140A65D}" type="datetimeFigureOut">
              <a:rPr lang="en-AU" smtClean="0"/>
              <a:t>12/09/2025</a:t>
            </a:fld>
            <a:endParaRPr lang="en-AU"/>
          </a:p>
        </p:txBody>
      </p:sp>
      <p:sp>
        <p:nvSpPr>
          <p:cNvPr id="6" name="Footer Placeholder 5">
            <a:extLst>
              <a:ext uri="{FF2B5EF4-FFF2-40B4-BE49-F238E27FC236}">
                <a16:creationId xmlns:a16="http://schemas.microsoft.com/office/drawing/2014/main" id="{97D0283E-7CC6-0CCE-C2FC-702F78F9062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7E77FBD-6EC1-3B80-4A79-3B5A0E2E3B8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35628232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E148A-761D-E27D-E888-B7E27FD8A10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5B74B11-2215-EBF3-BEA3-EF320EE386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767CD92-D758-240E-A2D2-4E195BC7FDA4}"/>
              </a:ext>
            </a:extLst>
          </p:cNvPr>
          <p:cNvSpPr>
            <a:spLocks noGrp="1"/>
          </p:cNvSpPr>
          <p:nvPr>
            <p:ph type="dt" sz="half" idx="10"/>
          </p:nvPr>
        </p:nvSpPr>
        <p:spPr/>
        <p:txBody>
          <a:bodyPr/>
          <a:lstStyle/>
          <a:p>
            <a:fld id="{BFAA40DC-3820-4F90-B4E8-98BE2140A65D}" type="datetimeFigureOut">
              <a:rPr lang="en-AU" smtClean="0"/>
              <a:t>12/09/2025</a:t>
            </a:fld>
            <a:endParaRPr lang="en-AU"/>
          </a:p>
        </p:txBody>
      </p:sp>
      <p:sp>
        <p:nvSpPr>
          <p:cNvPr id="5" name="Footer Placeholder 4">
            <a:extLst>
              <a:ext uri="{FF2B5EF4-FFF2-40B4-BE49-F238E27FC236}">
                <a16:creationId xmlns:a16="http://schemas.microsoft.com/office/drawing/2014/main" id="{CCDB3A7E-35BE-57C3-5A4F-F3FB5F4DA79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B917621-F8C1-F075-FE92-FD0DDB6198E6}"/>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9169839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AFC27C-709B-17D0-FA2E-D84DCAB7FAB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19340E5-47C9-4263-1E76-9BE55624B2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99996FD-B031-5E26-AF28-582721D53E74}"/>
              </a:ext>
            </a:extLst>
          </p:cNvPr>
          <p:cNvSpPr>
            <a:spLocks noGrp="1"/>
          </p:cNvSpPr>
          <p:nvPr>
            <p:ph type="dt" sz="half" idx="10"/>
          </p:nvPr>
        </p:nvSpPr>
        <p:spPr/>
        <p:txBody>
          <a:bodyPr/>
          <a:lstStyle/>
          <a:p>
            <a:fld id="{BFAA40DC-3820-4F90-B4E8-98BE2140A65D}" type="datetimeFigureOut">
              <a:rPr lang="en-AU" smtClean="0"/>
              <a:t>12/09/2025</a:t>
            </a:fld>
            <a:endParaRPr lang="en-AU"/>
          </a:p>
        </p:txBody>
      </p:sp>
      <p:sp>
        <p:nvSpPr>
          <p:cNvPr id="5" name="Footer Placeholder 4">
            <a:extLst>
              <a:ext uri="{FF2B5EF4-FFF2-40B4-BE49-F238E27FC236}">
                <a16:creationId xmlns:a16="http://schemas.microsoft.com/office/drawing/2014/main" id="{8C19D959-5F65-A253-A7EB-99402547BC7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98B7ADB-FEDC-6841-0342-4A29EDFCF45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527860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CC3005-B647-9E32-CC60-5191277030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51E7C51E-6DC2-39F3-9212-D582E0A9B5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90B9BBC-D295-7A76-2B27-6B12AD3F6F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B67406-7D6A-427B-AE15-EA86D49A46C9}" type="datetimeFigureOut">
              <a:rPr lang="en-AU" smtClean="0"/>
              <a:t>12/09/2025</a:t>
            </a:fld>
            <a:endParaRPr lang="en-AU"/>
          </a:p>
        </p:txBody>
      </p:sp>
      <p:sp>
        <p:nvSpPr>
          <p:cNvPr id="5" name="Footer Placeholder 4">
            <a:extLst>
              <a:ext uri="{FF2B5EF4-FFF2-40B4-BE49-F238E27FC236}">
                <a16:creationId xmlns:a16="http://schemas.microsoft.com/office/drawing/2014/main" id="{D88185DA-FDEE-FA5B-E9B0-C02631270C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F81860BB-9B5C-C732-6BD6-2C0DFC8EE6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B5C574-5640-4986-AA8B-BE8048252EF2}" type="slidenum">
              <a:rPr lang="en-AU" smtClean="0"/>
              <a:t>‹#›</a:t>
            </a:fld>
            <a:endParaRPr lang="en-AU"/>
          </a:p>
        </p:txBody>
      </p:sp>
    </p:spTree>
    <p:extLst>
      <p:ext uri="{BB962C8B-B14F-4D97-AF65-F5344CB8AC3E}">
        <p14:creationId xmlns:p14="http://schemas.microsoft.com/office/powerpoint/2010/main" val="133469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DDAB3A-0A22-D024-CB1E-FB00658BEB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90D3B34-6582-BD11-4D42-366502C704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1D8C151-0A35-D9DB-7435-13417BC8F3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AA40DC-3820-4F90-B4E8-98BE2140A65D}" type="datetimeFigureOut">
              <a:rPr lang="en-AU" smtClean="0"/>
              <a:t>12/09/2025</a:t>
            </a:fld>
            <a:endParaRPr lang="en-AU"/>
          </a:p>
        </p:txBody>
      </p:sp>
      <p:sp>
        <p:nvSpPr>
          <p:cNvPr id="5" name="Footer Placeholder 4">
            <a:extLst>
              <a:ext uri="{FF2B5EF4-FFF2-40B4-BE49-F238E27FC236}">
                <a16:creationId xmlns:a16="http://schemas.microsoft.com/office/drawing/2014/main" id="{4B2A9709-41CF-642F-7858-53BE89DAE6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9752F23B-D3DD-D490-A64F-7E733F664E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4F4E00-A0CE-455C-B0DA-A2CE083CA5E3}" type="slidenum">
              <a:rPr lang="en-AU" smtClean="0"/>
              <a:t>‹#›</a:t>
            </a:fld>
            <a:endParaRPr lang="en-AU"/>
          </a:p>
        </p:txBody>
      </p:sp>
    </p:spTree>
    <p:extLst>
      <p:ext uri="{BB962C8B-B14F-4D97-AF65-F5344CB8AC3E}">
        <p14:creationId xmlns:p14="http://schemas.microsoft.com/office/powerpoint/2010/main" val="16415423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mailto:Farshid.Keivanian@uts.edu.au"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canvas.uts.edu.au/courses/36509/files/10044153/download?download_frd=1"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hyperlink" Target="https://canvas.uts.edu.au/courses/36509/assignments" TargetMode="Externa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hyperlink" Target="https://canvas.uts.edu.au/courses/36509/assignments" TargetMode="Externa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hyperlink" Target="https://www.linkedin.com/in/farshid-keivanian" TargetMode="External"/><Relationship Id="rId2" Type="http://schemas.openxmlformats.org/officeDocument/2006/relationships/image" Target="../media/image4.jpeg"/><Relationship Id="rId1" Type="http://schemas.openxmlformats.org/officeDocument/2006/relationships/slideLayout" Target="../slideLayouts/slideLayout13.xml"/><Relationship Id="rId4" Type="http://schemas.openxmlformats.org/officeDocument/2006/relationships/hyperlink" Target="https://github.com/FarshidKeivani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876F03-8BAA-72AB-E62A-1CEA6868C9B9}"/>
              </a:ext>
            </a:extLst>
          </p:cNvPr>
          <p:cNvSpPr>
            <a:spLocks noGrp="1"/>
          </p:cNvSpPr>
          <p:nvPr>
            <p:ph type="ctrTitle"/>
          </p:nvPr>
        </p:nvSpPr>
        <p:spPr>
          <a:xfrm>
            <a:off x="3063992" y="1407171"/>
            <a:ext cx="8737863" cy="3105506"/>
          </a:xfrm>
        </p:spPr>
        <p:txBody>
          <a:bodyPr anchor="b">
            <a:noAutofit/>
          </a:bodyPr>
          <a:lstStyle/>
          <a:p>
            <a:pPr algn="l">
              <a:lnSpc>
                <a:spcPct val="150000"/>
              </a:lnSpc>
            </a:pPr>
            <a:r>
              <a:rPr lang="en-US" sz="4800" dirty="0">
                <a:latin typeface="Calibir"/>
              </a:rPr>
              <a:t>Introduction to Software Engineering (ISE102)</a:t>
            </a:r>
            <a:br>
              <a:rPr lang="en-US" sz="4800" dirty="0">
                <a:latin typeface="Calibir"/>
              </a:rPr>
            </a:br>
            <a:r>
              <a:rPr lang="en-US" sz="4800" dirty="0">
                <a:latin typeface="Calibir"/>
              </a:rPr>
              <a:t>Tutorial Week 7</a:t>
            </a:r>
            <a:endParaRPr lang="en-AU" sz="4800" dirty="0">
              <a:latin typeface="Calibir"/>
            </a:endParaRPr>
          </a:p>
        </p:txBody>
      </p:sp>
      <p:pic>
        <p:nvPicPr>
          <p:cNvPr id="6" name="Picture 5" descr="A person wearing glasses and a blue shirt&#10;&#10;AI-generated content may be incorrect.">
            <a:extLst>
              <a:ext uri="{FF2B5EF4-FFF2-40B4-BE49-F238E27FC236}">
                <a16:creationId xmlns:a16="http://schemas.microsoft.com/office/drawing/2014/main" id="{6073E74C-6F0F-4134-F922-9D911600FF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390145" y="1199407"/>
            <a:ext cx="2673847" cy="3521034"/>
          </a:xfrm>
          <a:prstGeom prst="rect">
            <a:avLst/>
          </a:prstGeom>
        </p:spPr>
      </p:pic>
    </p:spTree>
    <p:extLst>
      <p:ext uri="{BB962C8B-B14F-4D97-AF65-F5344CB8AC3E}">
        <p14:creationId xmlns:p14="http://schemas.microsoft.com/office/powerpoint/2010/main" val="2769940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DA366-6BE2-EF72-FFA9-3FC1C60CAE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5B7095-A95E-A4AA-C9AB-75AB5D7B3193}"/>
              </a:ext>
            </a:extLst>
          </p:cNvPr>
          <p:cNvSpPr>
            <a:spLocks noGrp="1"/>
          </p:cNvSpPr>
          <p:nvPr>
            <p:ph type="title"/>
          </p:nvPr>
        </p:nvSpPr>
        <p:spPr>
          <a:xfrm>
            <a:off x="0" y="1"/>
            <a:ext cx="12192000" cy="672661"/>
          </a:xfrm>
        </p:spPr>
        <p:txBody>
          <a:bodyPr anchor="b">
            <a:normAutofit/>
          </a:bodyPr>
          <a:lstStyle/>
          <a:p>
            <a:r>
              <a:rPr lang="en-US" sz="4000" dirty="0">
                <a:latin typeface="Calibir"/>
              </a:rPr>
              <a:t>Week 7 Outline</a:t>
            </a:r>
            <a:endParaRPr lang="en-AU" sz="4000" b="1" dirty="0">
              <a:latin typeface="Calibir"/>
            </a:endParaRPr>
          </a:p>
        </p:txBody>
      </p:sp>
      <p:sp>
        <p:nvSpPr>
          <p:cNvPr id="5" name="TextBox 4">
            <a:extLst>
              <a:ext uri="{FF2B5EF4-FFF2-40B4-BE49-F238E27FC236}">
                <a16:creationId xmlns:a16="http://schemas.microsoft.com/office/drawing/2014/main" id="{71F7037C-CC18-B6E2-C69F-FD0450DC4355}"/>
              </a:ext>
            </a:extLst>
          </p:cNvPr>
          <p:cNvSpPr txBox="1"/>
          <p:nvPr/>
        </p:nvSpPr>
        <p:spPr>
          <a:xfrm>
            <a:off x="0" y="811906"/>
            <a:ext cx="12192000" cy="6063198"/>
          </a:xfrm>
          <a:prstGeom prst="rect">
            <a:avLst/>
          </a:prstGeom>
          <a:noFill/>
        </p:spPr>
        <p:txBody>
          <a:bodyPr wrap="square">
            <a:spAutoFit/>
          </a:bodyPr>
          <a:lstStyle/>
          <a:p>
            <a:pPr marL="514350" indent="-514350">
              <a:spcAft>
                <a:spcPts val="800"/>
              </a:spcAft>
              <a:buFont typeface="+mj-lt"/>
              <a:buAutoNum type="arabicPeriod"/>
            </a:pPr>
            <a:r>
              <a:rPr lang="en-US" kern="100" dirty="0">
                <a:latin typeface="Calibir"/>
                <a:ea typeface="Aptos" panose="020B0004020202020204" pitchFamily="34" charset="0"/>
                <a:cs typeface="Arial" panose="020B0604020202020204" pitchFamily="34" charset="0"/>
              </a:rPr>
              <a:t>Quiz 1 Preparation: Guidelines &amp; Practice Questions</a:t>
            </a:r>
          </a:p>
          <a:p>
            <a:pPr marL="514350" indent="-514350">
              <a:spcAft>
                <a:spcPts val="800"/>
              </a:spcAft>
              <a:buFont typeface="+mj-lt"/>
              <a:buAutoNum type="arabicPeriod"/>
            </a:pPr>
            <a:r>
              <a:rPr lang="en-US" kern="100" dirty="0">
                <a:latin typeface="Calibir"/>
                <a:ea typeface="Aptos" panose="020B0004020202020204" pitchFamily="34" charset="0"/>
                <a:cs typeface="Arial" panose="020B0604020202020204" pitchFamily="34" charset="0"/>
              </a:rPr>
              <a:t>Have you formed your group?</a:t>
            </a:r>
          </a:p>
          <a:p>
            <a:pPr marL="514350" indent="-514350">
              <a:spcAft>
                <a:spcPts val="800"/>
              </a:spcAft>
              <a:buFont typeface="+mj-lt"/>
              <a:buAutoNum type="arabicPeriod"/>
            </a:pPr>
            <a:r>
              <a:rPr lang="en-US" kern="100" dirty="0">
                <a:latin typeface="Calibir"/>
                <a:ea typeface="Aptos" panose="020B0004020202020204" pitchFamily="34" charset="0"/>
                <a:cs typeface="Arial" panose="020B0604020202020204" pitchFamily="34" charset="0"/>
              </a:rPr>
              <a:t>Group Assignment – Part 1: Clarification Slides</a:t>
            </a:r>
          </a:p>
          <a:p>
            <a:pPr marL="514350" indent="-514350">
              <a:spcAft>
                <a:spcPts val="800"/>
              </a:spcAft>
              <a:buFont typeface="+mj-lt"/>
              <a:buAutoNum type="arabicPeriod"/>
            </a:pPr>
            <a:r>
              <a:rPr lang="en-US" kern="100" dirty="0">
                <a:latin typeface="Calibir"/>
                <a:ea typeface="Aptos" panose="020B0004020202020204" pitchFamily="34" charset="0"/>
                <a:cs typeface="Arial" panose="020B0604020202020204" pitchFamily="34" charset="0"/>
              </a:rPr>
              <a:t>Project Brief – Simplified</a:t>
            </a:r>
          </a:p>
          <a:p>
            <a:pPr marL="514350" indent="-514350">
              <a:spcAft>
                <a:spcPts val="800"/>
              </a:spcAft>
              <a:buFont typeface="+mj-lt"/>
              <a:buAutoNum type="arabicPeriod"/>
            </a:pPr>
            <a:r>
              <a:rPr lang="en-US" kern="100" dirty="0">
                <a:latin typeface="Calibir"/>
                <a:ea typeface="Aptos" panose="020B0004020202020204" pitchFamily="34" charset="0"/>
                <a:cs typeface="Arial" panose="020B0604020202020204" pitchFamily="34" charset="0"/>
              </a:rPr>
              <a:t>Assignment 1 – Part 1: Admin, IDs, and Deliverables Clarified</a:t>
            </a:r>
          </a:p>
          <a:p>
            <a:pPr marL="514350" indent="-514350">
              <a:spcAft>
                <a:spcPts val="800"/>
              </a:spcAft>
              <a:buFont typeface="+mj-lt"/>
              <a:buAutoNum type="arabicPeriod"/>
            </a:pPr>
            <a:r>
              <a:rPr lang="en-US" kern="100" dirty="0">
                <a:latin typeface="Calibir"/>
                <a:ea typeface="Aptos" panose="020B0004020202020204" pitchFamily="34" charset="0"/>
                <a:cs typeface="Arial" panose="020B0604020202020204" pitchFamily="34" charset="0"/>
              </a:rPr>
              <a:t>Actors, User Stories, and ID Numbering Clarified</a:t>
            </a:r>
          </a:p>
          <a:p>
            <a:pPr marL="514350" indent="-514350">
              <a:spcAft>
                <a:spcPts val="800"/>
              </a:spcAft>
              <a:buFont typeface="+mj-lt"/>
              <a:buAutoNum type="arabicPeriod"/>
            </a:pPr>
            <a:r>
              <a:rPr lang="en-US" kern="100" dirty="0">
                <a:latin typeface="Calibir"/>
                <a:ea typeface="Aptos" panose="020B0004020202020204" pitchFamily="34" charset="0"/>
                <a:cs typeface="Arial" panose="020B0604020202020204" pitchFamily="34" charset="0"/>
              </a:rPr>
              <a:t>User Stories – Handling System Actions &amp; Wording</a:t>
            </a:r>
          </a:p>
          <a:p>
            <a:pPr marL="514350" indent="-514350">
              <a:spcAft>
                <a:spcPts val="800"/>
              </a:spcAft>
              <a:buFont typeface="+mj-lt"/>
              <a:buAutoNum type="arabicPeriod"/>
            </a:pPr>
            <a:r>
              <a:rPr lang="en-US" kern="100" dirty="0">
                <a:latin typeface="Calibir"/>
                <a:ea typeface="Aptos" panose="020B0004020202020204" pitchFamily="34" charset="0"/>
                <a:cs typeface="Arial" panose="020B0604020202020204" pitchFamily="34" charset="0"/>
              </a:rPr>
              <a:t>Use Case &amp; Class Diagrams – One Comprehensive View</a:t>
            </a:r>
          </a:p>
          <a:p>
            <a:pPr marL="514350" indent="-514350">
              <a:spcAft>
                <a:spcPts val="800"/>
              </a:spcAft>
              <a:buFont typeface="+mj-lt"/>
              <a:buAutoNum type="arabicPeriod"/>
            </a:pPr>
            <a:r>
              <a:rPr lang="en-US" dirty="0">
                <a:latin typeface="Calibir"/>
              </a:rPr>
              <a:t>Assignment 1 – Part 1: Use Case Diagram Clarifications</a:t>
            </a:r>
            <a:endParaRPr lang="en-US" kern="100" dirty="0">
              <a:latin typeface="Calibir"/>
              <a:ea typeface="Aptos" panose="020B0004020202020204" pitchFamily="34" charset="0"/>
              <a:cs typeface="Arial" panose="020B0604020202020204" pitchFamily="34" charset="0"/>
            </a:endParaRPr>
          </a:p>
          <a:p>
            <a:pPr marL="514350" indent="-514350">
              <a:spcAft>
                <a:spcPts val="800"/>
              </a:spcAft>
              <a:buFont typeface="+mj-lt"/>
              <a:buAutoNum type="arabicPeriod"/>
            </a:pPr>
            <a:r>
              <a:rPr lang="en-US" kern="100" dirty="0">
                <a:latin typeface="Calibir"/>
                <a:ea typeface="Aptos" panose="020B0004020202020204" pitchFamily="34" charset="0"/>
                <a:cs typeface="Arial" panose="020B0604020202020204" pitchFamily="34" charset="0"/>
              </a:rPr>
              <a:t>User Story Backlog – Clarified</a:t>
            </a:r>
          </a:p>
          <a:p>
            <a:pPr marL="514350" indent="-514350">
              <a:spcAft>
                <a:spcPts val="800"/>
              </a:spcAft>
              <a:buFont typeface="+mj-lt"/>
              <a:buAutoNum type="arabicPeriod"/>
            </a:pPr>
            <a:r>
              <a:rPr lang="en-US" kern="100" dirty="0">
                <a:latin typeface="Calibir"/>
                <a:ea typeface="Aptos" panose="020B0004020202020204" pitchFamily="34" charset="0"/>
                <a:cs typeface="Arial" panose="020B0604020202020204" pitchFamily="34" charset="0"/>
              </a:rPr>
              <a:t>UML Use Case Diagram — Clarified</a:t>
            </a:r>
          </a:p>
          <a:p>
            <a:pPr marL="514350" indent="-514350">
              <a:spcAft>
                <a:spcPts val="800"/>
              </a:spcAft>
              <a:buFont typeface="+mj-lt"/>
              <a:buAutoNum type="arabicPeriod"/>
            </a:pPr>
            <a:r>
              <a:rPr lang="en-US" kern="100" dirty="0">
                <a:latin typeface="Calibir"/>
                <a:ea typeface="Aptos" panose="020B0004020202020204" pitchFamily="34" charset="0"/>
                <a:cs typeface="Arial" panose="020B0604020202020204" pitchFamily="34" charset="0"/>
              </a:rPr>
              <a:t>UML Class Diagram — Clarified</a:t>
            </a:r>
          </a:p>
          <a:p>
            <a:pPr marL="514350" indent="-514350">
              <a:spcAft>
                <a:spcPts val="800"/>
              </a:spcAft>
              <a:buFont typeface="+mj-lt"/>
              <a:buAutoNum type="arabicPeriod"/>
            </a:pPr>
            <a:r>
              <a:rPr lang="en-US" kern="100" dirty="0">
                <a:latin typeface="Calibir"/>
                <a:ea typeface="Aptos" panose="020B0004020202020204" pitchFamily="34" charset="0"/>
                <a:cs typeface="Arial" panose="020B0604020202020204" pitchFamily="34" charset="0"/>
              </a:rPr>
              <a:t>Assignment 1 – Part 1: Class Diagram Design Clarifications</a:t>
            </a:r>
          </a:p>
          <a:p>
            <a:pPr marL="514350" indent="-514350">
              <a:spcAft>
                <a:spcPts val="800"/>
              </a:spcAft>
              <a:buFont typeface="+mj-lt"/>
              <a:buAutoNum type="arabicPeriod"/>
            </a:pPr>
            <a:r>
              <a:rPr lang="en-US" kern="100" dirty="0">
                <a:latin typeface="Calibir"/>
                <a:ea typeface="Aptos" panose="020B0004020202020204" pitchFamily="34" charset="0"/>
                <a:cs typeface="Arial" panose="020B0604020202020204" pitchFamily="34" charset="0"/>
              </a:rPr>
              <a:t>Marking Scheme</a:t>
            </a:r>
          </a:p>
          <a:p>
            <a:pPr marL="514350" indent="-514350">
              <a:spcAft>
                <a:spcPts val="800"/>
              </a:spcAft>
              <a:buFont typeface="+mj-lt"/>
              <a:buAutoNum type="arabicPeriod"/>
            </a:pPr>
            <a:r>
              <a:rPr lang="en-US" kern="100" dirty="0">
                <a:latin typeface="Calibir"/>
                <a:ea typeface="Aptos" panose="020B0004020202020204" pitchFamily="34" charset="0"/>
                <a:cs typeface="Arial" panose="020B0604020202020204" pitchFamily="34" charset="0"/>
              </a:rPr>
              <a:t>Deliverables &amp; Contribution</a:t>
            </a:r>
          </a:p>
          <a:p>
            <a:pPr marL="514350" indent="-514350">
              <a:spcAft>
                <a:spcPts val="800"/>
              </a:spcAft>
              <a:buFont typeface="+mj-lt"/>
              <a:buAutoNum type="arabicPeriod"/>
            </a:pPr>
            <a:r>
              <a:rPr lang="en-US" kern="100" dirty="0">
                <a:latin typeface="Calibir"/>
                <a:ea typeface="Aptos" panose="020B0004020202020204" pitchFamily="34" charset="0"/>
                <a:cs typeface="Arial" panose="020B0604020202020204" pitchFamily="34" charset="0"/>
              </a:rPr>
              <a:t>Reference Note for Students</a:t>
            </a:r>
          </a:p>
        </p:txBody>
      </p:sp>
    </p:spTree>
    <p:extLst>
      <p:ext uri="{BB962C8B-B14F-4D97-AF65-F5344CB8AC3E}">
        <p14:creationId xmlns:p14="http://schemas.microsoft.com/office/powerpoint/2010/main" val="3000910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CA47C-18A7-9AFC-9593-71D435A254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F482E7-E32D-573D-8C2B-4E48BC067678}"/>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F4F9A395-3E0E-FE9C-949A-E4964EFA0B3B}"/>
              </a:ext>
            </a:extLst>
          </p:cNvPr>
          <p:cNvSpPr txBox="1"/>
          <p:nvPr/>
        </p:nvSpPr>
        <p:spPr>
          <a:xfrm>
            <a:off x="0" y="1072057"/>
            <a:ext cx="11971282" cy="5196166"/>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Review Modules 1–2 lecture notes, slides, and lab work.</a:t>
            </a:r>
          </a:p>
          <a:p>
            <a:pPr marL="457200" indent="-457200">
              <a:lnSpc>
                <a:spcPct val="150000"/>
              </a:lnSpc>
              <a:buFont typeface="Arial" panose="020B0604020202020204" pitchFamily="34" charset="0"/>
              <a:buChar char="•"/>
            </a:pPr>
            <a:r>
              <a:rPr lang="en-US" sz="2800" dirty="0">
                <a:latin typeface="Calibir"/>
              </a:rPr>
              <a:t>Focus on key topics:</a:t>
            </a:r>
          </a:p>
          <a:p>
            <a:pPr marL="914400" lvl="1" indent="-457200">
              <a:lnSpc>
                <a:spcPct val="150000"/>
              </a:lnSpc>
              <a:buFont typeface="Arial" panose="020B0604020202020204" pitchFamily="34" charset="0"/>
              <a:buChar char="•"/>
            </a:pPr>
            <a:r>
              <a:rPr lang="en-US" sz="2800" dirty="0">
                <a:latin typeface="Calibir"/>
              </a:rPr>
              <a:t>Software development lifecycle &amp; methodologies</a:t>
            </a:r>
          </a:p>
          <a:p>
            <a:pPr marL="914400" lvl="1" indent="-457200">
              <a:lnSpc>
                <a:spcPct val="150000"/>
              </a:lnSpc>
              <a:buFont typeface="Arial" panose="020B0604020202020204" pitchFamily="34" charset="0"/>
              <a:buChar char="•"/>
            </a:pPr>
            <a:r>
              <a:rPr lang="en-US" sz="2800" dirty="0">
                <a:latin typeface="Calibir"/>
              </a:rPr>
              <a:t>Requirements analysis (functional vs. non-functional)</a:t>
            </a:r>
          </a:p>
          <a:p>
            <a:pPr marL="914400" lvl="1" indent="-457200">
              <a:lnSpc>
                <a:spcPct val="150000"/>
              </a:lnSpc>
              <a:buFont typeface="Arial" panose="020B0604020202020204" pitchFamily="34" charset="0"/>
              <a:buChar char="•"/>
            </a:pPr>
            <a:r>
              <a:rPr lang="en-US" sz="2800" dirty="0">
                <a:latin typeface="Calibir"/>
              </a:rPr>
              <a:t>UML diagrams (use-case, class diagrams)</a:t>
            </a:r>
          </a:p>
          <a:p>
            <a:pPr marL="914400" lvl="1" indent="-457200">
              <a:lnSpc>
                <a:spcPct val="150000"/>
              </a:lnSpc>
              <a:buFont typeface="Arial" panose="020B0604020202020204" pitchFamily="34" charset="0"/>
              <a:buChar char="•"/>
            </a:pPr>
            <a:r>
              <a:rPr lang="en-US" sz="2800" dirty="0">
                <a:latin typeface="Calibir"/>
              </a:rPr>
              <a:t>Basic OOP concepts: classes, objects, attributes, methods</a:t>
            </a:r>
          </a:p>
          <a:p>
            <a:pPr marL="914400" lvl="1" indent="-457200">
              <a:lnSpc>
                <a:spcPct val="150000"/>
              </a:lnSpc>
              <a:buFont typeface="Arial" panose="020B0604020202020204" pitchFamily="34" charset="0"/>
              <a:buChar char="•"/>
            </a:pPr>
            <a:r>
              <a:rPr lang="en-US" sz="2800" dirty="0">
                <a:latin typeface="Calibir"/>
              </a:rPr>
              <a:t>Programming fundamentals (functions vs. procedures, visibility modifiers)</a:t>
            </a:r>
          </a:p>
          <a:p>
            <a:pPr marL="457200" indent="-457200">
              <a:lnSpc>
                <a:spcPct val="150000"/>
              </a:lnSpc>
              <a:buFont typeface="Arial" panose="020B0604020202020204" pitchFamily="34" charset="0"/>
              <a:buChar char="•"/>
            </a:pPr>
            <a:r>
              <a:rPr lang="en-US" sz="2800" dirty="0">
                <a:latin typeface="Calibir"/>
              </a:rPr>
              <a:t>Print or save course materials since only subject materials are allowed.</a:t>
            </a:r>
          </a:p>
        </p:txBody>
      </p:sp>
    </p:spTree>
    <p:extLst>
      <p:ext uri="{BB962C8B-B14F-4D97-AF65-F5344CB8AC3E}">
        <p14:creationId xmlns:p14="http://schemas.microsoft.com/office/powerpoint/2010/main" val="2746331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C30DB-384D-6C2D-F6A9-B91187D33F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557904-04DF-6341-8380-D470EA9429DE}"/>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FA70710C-779E-A707-C2CC-A7DDB7253721}"/>
              </a:ext>
            </a:extLst>
          </p:cNvPr>
          <p:cNvSpPr txBox="1"/>
          <p:nvPr/>
        </p:nvSpPr>
        <p:spPr>
          <a:xfrm>
            <a:off x="0" y="1072057"/>
            <a:ext cx="11971282" cy="3257174"/>
          </a:xfrm>
          <a:prstGeom prst="rect">
            <a:avLst/>
          </a:prstGeom>
          <a:noFill/>
        </p:spPr>
        <p:txBody>
          <a:bodyPr wrap="square">
            <a:spAutoFit/>
          </a:bodyPr>
          <a:lstStyle/>
          <a:p>
            <a:pPr>
              <a:lnSpc>
                <a:spcPct val="150000"/>
              </a:lnSpc>
            </a:pPr>
            <a:r>
              <a:rPr lang="en-US" sz="2800" dirty="0">
                <a:latin typeface="Calibir"/>
              </a:rPr>
              <a:t>During the Quiz</a:t>
            </a:r>
          </a:p>
          <a:p>
            <a:pPr marL="914400" lvl="1" indent="-457200">
              <a:lnSpc>
                <a:spcPct val="150000"/>
              </a:lnSpc>
              <a:buFont typeface="Arial" panose="020B0604020202020204" pitchFamily="34" charset="0"/>
              <a:buChar char="•"/>
            </a:pPr>
            <a:r>
              <a:rPr lang="en-US" sz="2800" dirty="0">
                <a:latin typeface="Calibir"/>
              </a:rPr>
              <a:t>You have 30 minutes and only one attempt.</a:t>
            </a:r>
          </a:p>
          <a:p>
            <a:pPr marL="914400" lvl="1" indent="-457200">
              <a:lnSpc>
                <a:spcPct val="150000"/>
              </a:lnSpc>
              <a:buFont typeface="Arial" panose="020B0604020202020204" pitchFamily="34" charset="0"/>
              <a:buChar char="•"/>
            </a:pPr>
            <a:r>
              <a:rPr lang="en-US" sz="2800" dirty="0">
                <a:latin typeface="Calibir"/>
              </a:rPr>
              <a:t>Each question has one correct answer.</a:t>
            </a:r>
          </a:p>
          <a:p>
            <a:pPr marL="914400" lvl="1" indent="-457200">
              <a:lnSpc>
                <a:spcPct val="150000"/>
              </a:lnSpc>
              <a:buFont typeface="Arial" panose="020B0604020202020204" pitchFamily="34" charset="0"/>
              <a:buChar char="•"/>
            </a:pPr>
            <a:r>
              <a:rPr lang="en-US" sz="2800" dirty="0">
                <a:latin typeface="Calibir"/>
              </a:rPr>
              <a:t>Pace yourself: ~2 minutes per question.</a:t>
            </a:r>
          </a:p>
          <a:p>
            <a:pPr marL="914400" lvl="1" indent="-457200">
              <a:lnSpc>
                <a:spcPct val="150000"/>
              </a:lnSpc>
              <a:buFont typeface="Arial" panose="020B0604020202020204" pitchFamily="34" charset="0"/>
              <a:buChar char="•"/>
            </a:pPr>
            <a:r>
              <a:rPr lang="en-US" sz="2800" dirty="0">
                <a:latin typeface="Calibir"/>
              </a:rPr>
              <a:t>Don’t get stuck—mark your best guess and move on.</a:t>
            </a:r>
          </a:p>
        </p:txBody>
      </p:sp>
    </p:spTree>
    <p:extLst>
      <p:ext uri="{BB962C8B-B14F-4D97-AF65-F5344CB8AC3E}">
        <p14:creationId xmlns:p14="http://schemas.microsoft.com/office/powerpoint/2010/main" val="1332036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3D8E7-1E3C-D9CC-99F9-4D3D8998C2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D8C8A7-740F-1251-7B1A-40D3B72DD543}"/>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8C5319DE-6342-14A3-86BB-0996E4322139}"/>
              </a:ext>
            </a:extLst>
          </p:cNvPr>
          <p:cNvSpPr txBox="1"/>
          <p:nvPr/>
        </p:nvSpPr>
        <p:spPr>
          <a:xfrm>
            <a:off x="0" y="1072057"/>
            <a:ext cx="11971282" cy="3257174"/>
          </a:xfrm>
          <a:prstGeom prst="rect">
            <a:avLst/>
          </a:prstGeom>
          <a:noFill/>
        </p:spPr>
        <p:txBody>
          <a:bodyPr wrap="square">
            <a:spAutoFit/>
          </a:bodyPr>
          <a:lstStyle/>
          <a:p>
            <a:pPr>
              <a:lnSpc>
                <a:spcPct val="150000"/>
              </a:lnSpc>
            </a:pPr>
            <a:r>
              <a:rPr lang="en-US" sz="2800" b="1" dirty="0">
                <a:latin typeface="Calibir"/>
              </a:rPr>
              <a:t>What to Do</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Read questions carefully—watch for keywords like </a:t>
            </a:r>
            <a:r>
              <a:rPr lang="en-US" sz="2800" i="1" dirty="0">
                <a:latin typeface="Calibir"/>
              </a:rPr>
              <a:t>include, extend, inheritance, association</a:t>
            </a:r>
            <a:r>
              <a:rPr lang="en-US" sz="2800" dirty="0">
                <a:latin typeface="Calibir"/>
              </a:rPr>
              <a:t>.</a:t>
            </a:r>
          </a:p>
          <a:p>
            <a:pPr marL="914400" lvl="1" indent="-457200">
              <a:lnSpc>
                <a:spcPct val="150000"/>
              </a:lnSpc>
              <a:buFont typeface="Arial" panose="020B0604020202020204" pitchFamily="34" charset="0"/>
              <a:buChar char="•"/>
            </a:pPr>
            <a:r>
              <a:rPr lang="en-US" sz="2800" dirty="0">
                <a:latin typeface="Calibir"/>
              </a:rPr>
              <a:t>Use logic elimination if unsure (cross out clearly wrong options).</a:t>
            </a:r>
          </a:p>
          <a:p>
            <a:pPr marL="914400" lvl="1" indent="-457200">
              <a:lnSpc>
                <a:spcPct val="150000"/>
              </a:lnSpc>
              <a:buFont typeface="Arial" panose="020B0604020202020204" pitchFamily="34" charset="0"/>
              <a:buChar char="•"/>
            </a:pPr>
            <a:r>
              <a:rPr lang="en-US" sz="2800" dirty="0">
                <a:latin typeface="Calibir"/>
              </a:rPr>
              <a:t>For code snippets, analyze mentally instead of trying to run them.</a:t>
            </a:r>
          </a:p>
        </p:txBody>
      </p:sp>
    </p:spTree>
    <p:extLst>
      <p:ext uri="{BB962C8B-B14F-4D97-AF65-F5344CB8AC3E}">
        <p14:creationId xmlns:p14="http://schemas.microsoft.com/office/powerpoint/2010/main" val="3123783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43B06-B753-3A92-4D68-257EE5491E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7846F3-FE88-7F6A-75B0-75CC6D89687E}"/>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259E6E96-96B4-F511-7FF8-2CB186C4BE8C}"/>
              </a:ext>
            </a:extLst>
          </p:cNvPr>
          <p:cNvSpPr txBox="1"/>
          <p:nvPr/>
        </p:nvSpPr>
        <p:spPr>
          <a:xfrm>
            <a:off x="0" y="1072057"/>
            <a:ext cx="11971282" cy="2610843"/>
          </a:xfrm>
          <a:prstGeom prst="rect">
            <a:avLst/>
          </a:prstGeom>
          <a:noFill/>
        </p:spPr>
        <p:txBody>
          <a:bodyPr wrap="square">
            <a:spAutoFit/>
          </a:bodyPr>
          <a:lstStyle/>
          <a:p>
            <a:pPr>
              <a:lnSpc>
                <a:spcPct val="150000"/>
              </a:lnSpc>
            </a:pPr>
            <a:r>
              <a:rPr lang="en-US" sz="2800" b="1" dirty="0">
                <a:latin typeface="Calibir"/>
              </a:rPr>
              <a:t>What NOT to Do</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Don’t use external websites or AI tools.</a:t>
            </a:r>
          </a:p>
          <a:p>
            <a:pPr marL="914400" lvl="1" indent="-457200">
              <a:lnSpc>
                <a:spcPct val="150000"/>
              </a:lnSpc>
              <a:buFont typeface="Arial" panose="020B0604020202020204" pitchFamily="34" charset="0"/>
              <a:buChar char="•"/>
            </a:pPr>
            <a:r>
              <a:rPr lang="en-US" sz="2800" dirty="0">
                <a:latin typeface="Calibir"/>
              </a:rPr>
              <a:t>Don’t collaborate with others (individual attempt).</a:t>
            </a:r>
          </a:p>
          <a:p>
            <a:pPr marL="914400" lvl="1" indent="-457200">
              <a:lnSpc>
                <a:spcPct val="150000"/>
              </a:lnSpc>
              <a:buFont typeface="Arial" panose="020B0604020202020204" pitchFamily="34" charset="0"/>
              <a:buChar char="•"/>
            </a:pPr>
            <a:r>
              <a:rPr lang="en-US" sz="2800" dirty="0">
                <a:latin typeface="Calibir"/>
              </a:rPr>
              <a:t>Don’t rely only on memory—use the allowed materials effectively.</a:t>
            </a:r>
          </a:p>
        </p:txBody>
      </p:sp>
    </p:spTree>
    <p:extLst>
      <p:ext uri="{BB962C8B-B14F-4D97-AF65-F5344CB8AC3E}">
        <p14:creationId xmlns:p14="http://schemas.microsoft.com/office/powerpoint/2010/main" val="2617151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654F5-1956-6D66-28AE-864894DF7E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667F51-A883-9E82-6CF5-9801DC0E59E4}"/>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BBAE6F56-FAAA-D7C7-2D46-AD89FB77B02C}"/>
              </a:ext>
            </a:extLst>
          </p:cNvPr>
          <p:cNvSpPr txBox="1"/>
          <p:nvPr/>
        </p:nvSpPr>
        <p:spPr>
          <a:xfrm>
            <a:off x="0" y="1072057"/>
            <a:ext cx="11971282" cy="1318181"/>
          </a:xfrm>
          <a:prstGeom prst="rect">
            <a:avLst/>
          </a:prstGeom>
          <a:noFill/>
        </p:spPr>
        <p:txBody>
          <a:bodyPr wrap="square">
            <a:spAutoFit/>
          </a:bodyPr>
          <a:lstStyle/>
          <a:p>
            <a:pPr>
              <a:lnSpc>
                <a:spcPct val="150000"/>
              </a:lnSpc>
            </a:pPr>
            <a:r>
              <a:rPr lang="en-US" sz="2800" b="1" dirty="0">
                <a:latin typeface="Calibir"/>
              </a:rPr>
              <a:t>Password</a:t>
            </a:r>
            <a:endParaRPr lang="en-US" sz="2800" dirty="0">
              <a:latin typeface="Calibir"/>
            </a:endParaRPr>
          </a:p>
          <a:p>
            <a:pPr marL="914400" lvl="1" indent="-457200">
              <a:lnSpc>
                <a:spcPct val="150000"/>
              </a:lnSpc>
              <a:buFont typeface="Arial" panose="020B0604020202020204" pitchFamily="34" charset="0"/>
              <a:buChar char="•"/>
            </a:pPr>
            <a:r>
              <a:rPr lang="en-US" sz="2800" dirty="0">
                <a:highlight>
                  <a:srgbClr val="FFFF00"/>
                </a:highlight>
                <a:latin typeface="Calibir"/>
              </a:rPr>
              <a:t>W4H8S2T7</a:t>
            </a:r>
          </a:p>
        </p:txBody>
      </p:sp>
    </p:spTree>
    <p:extLst>
      <p:ext uri="{BB962C8B-B14F-4D97-AF65-F5344CB8AC3E}">
        <p14:creationId xmlns:p14="http://schemas.microsoft.com/office/powerpoint/2010/main" val="4118423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6CC5B-C4DC-E3C8-360C-65C5225CE5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34C7F0-A761-C365-22E9-A155E29A2831}"/>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F83E65C9-21C4-EB88-D99E-FDE04CF14E57}"/>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C6BBF0BC-3143-AD1D-B432-D4DD9096B5DD}"/>
              </a:ext>
            </a:extLst>
          </p:cNvPr>
          <p:cNvSpPr txBox="1"/>
          <p:nvPr/>
        </p:nvSpPr>
        <p:spPr>
          <a:xfrm>
            <a:off x="0" y="2062810"/>
            <a:ext cx="11971282" cy="3903504"/>
          </a:xfrm>
          <a:prstGeom prst="rect">
            <a:avLst/>
          </a:prstGeom>
          <a:noFill/>
        </p:spPr>
        <p:txBody>
          <a:bodyPr wrap="square">
            <a:spAutoFit/>
          </a:bodyPr>
          <a:lstStyle/>
          <a:p>
            <a:pPr>
              <a:lnSpc>
                <a:spcPct val="150000"/>
              </a:lnSpc>
              <a:buNone/>
            </a:pPr>
            <a:r>
              <a:rPr lang="en-US" sz="2800" dirty="0">
                <a:latin typeface="Calibir"/>
              </a:rPr>
              <a:t>Which of the following best represents the relationship between </a:t>
            </a:r>
            <a:r>
              <a:rPr lang="en-US" sz="2800" i="1" dirty="0">
                <a:latin typeface="Calibir"/>
              </a:rPr>
              <a:t>Book Ride</a:t>
            </a:r>
            <a:r>
              <a:rPr lang="en-US" sz="2800" dirty="0">
                <a:latin typeface="Calibir"/>
              </a:rPr>
              <a:t> and </a:t>
            </a:r>
            <a:r>
              <a:rPr lang="en-US" sz="2800" i="1" dirty="0">
                <a:latin typeface="Calibir"/>
              </a:rPr>
              <a:t>Make Payment</a:t>
            </a:r>
            <a:r>
              <a:rPr lang="en-US" sz="2800" dirty="0">
                <a:latin typeface="Calibir"/>
              </a:rPr>
              <a:t> in a taxi app, assuming a payment is required for every booking?</a:t>
            </a:r>
          </a:p>
          <a:p>
            <a:pPr marL="914400" lvl="1" indent="-457200">
              <a:lnSpc>
                <a:spcPct val="150000"/>
              </a:lnSpc>
              <a:buFont typeface="Arial" panose="020B0604020202020204" pitchFamily="34" charset="0"/>
              <a:buChar char="•"/>
            </a:pPr>
            <a:r>
              <a:rPr lang="en-US" sz="2800" dirty="0">
                <a:latin typeface="Calibir"/>
              </a:rPr>
              <a:t>a) Extend</a:t>
            </a:r>
          </a:p>
          <a:p>
            <a:pPr marL="914400" lvl="1" indent="-457200">
              <a:lnSpc>
                <a:spcPct val="150000"/>
              </a:lnSpc>
              <a:buFont typeface="Arial" panose="020B0604020202020204" pitchFamily="34" charset="0"/>
              <a:buChar char="•"/>
            </a:pPr>
            <a:r>
              <a:rPr lang="en-US" sz="2800" dirty="0">
                <a:latin typeface="Calibir"/>
              </a:rPr>
              <a:t>b) Generalization</a:t>
            </a:r>
          </a:p>
          <a:p>
            <a:pPr marL="914400" lvl="1" indent="-457200">
              <a:lnSpc>
                <a:spcPct val="150000"/>
              </a:lnSpc>
              <a:buFont typeface="Arial" panose="020B0604020202020204" pitchFamily="34" charset="0"/>
              <a:buChar char="•"/>
            </a:pPr>
            <a:r>
              <a:rPr lang="en-US" sz="2800" dirty="0">
                <a:latin typeface="Calibir"/>
              </a:rPr>
              <a:t>c) Include</a:t>
            </a:r>
          </a:p>
          <a:p>
            <a:pPr marL="914400" lvl="1" indent="-457200">
              <a:lnSpc>
                <a:spcPct val="150000"/>
              </a:lnSpc>
              <a:buFont typeface="Arial" panose="020B0604020202020204" pitchFamily="34" charset="0"/>
              <a:buChar char="•"/>
            </a:pPr>
            <a:r>
              <a:rPr lang="en-US" sz="2800" dirty="0">
                <a:latin typeface="Calibir"/>
              </a:rPr>
              <a:t>d) Association</a:t>
            </a:r>
          </a:p>
        </p:txBody>
      </p:sp>
      <p:sp>
        <p:nvSpPr>
          <p:cNvPr id="5" name="TextBox 4">
            <a:extLst>
              <a:ext uri="{FF2B5EF4-FFF2-40B4-BE49-F238E27FC236}">
                <a16:creationId xmlns:a16="http://schemas.microsoft.com/office/drawing/2014/main" id="{C5D0FD1A-5727-C517-DB3F-AE5077AB1E7C}"/>
              </a:ext>
            </a:extLst>
          </p:cNvPr>
          <p:cNvSpPr txBox="1"/>
          <p:nvPr/>
        </p:nvSpPr>
        <p:spPr>
          <a:xfrm>
            <a:off x="3790335" y="3600826"/>
            <a:ext cx="8401665" cy="3086871"/>
          </a:xfrm>
          <a:prstGeom prst="rect">
            <a:avLst/>
          </a:prstGeom>
          <a:noFill/>
        </p:spPr>
        <p:txBody>
          <a:bodyPr wrap="square">
            <a:spAutoFit/>
          </a:bodyPr>
          <a:lstStyle/>
          <a:p>
            <a:pPr>
              <a:lnSpc>
                <a:spcPct val="150000"/>
              </a:lnSpc>
            </a:pPr>
            <a:r>
              <a:rPr lang="en-US" sz="2200" dirty="0">
                <a:latin typeface="Calibir"/>
              </a:rPr>
              <a:t>In UML use case diagrams, “</a:t>
            </a:r>
            <a:r>
              <a:rPr lang="en-US" sz="2200" b="1" dirty="0">
                <a:latin typeface="Calibir"/>
              </a:rPr>
              <a:t>include</a:t>
            </a:r>
            <a:r>
              <a:rPr lang="en-US" sz="2200" dirty="0">
                <a:latin typeface="Calibir"/>
              </a:rPr>
              <a:t>” means the base use case (Book Ride) always depends on and calls the included use case (Make Payment). Since payment is a required step in completing any booking, it cannot be skipped.</a:t>
            </a:r>
          </a:p>
          <a:p>
            <a:pPr>
              <a:lnSpc>
                <a:spcPct val="150000"/>
              </a:lnSpc>
            </a:pPr>
            <a:r>
              <a:rPr lang="en-US" sz="2200" dirty="0">
                <a:latin typeface="Calibir"/>
              </a:rPr>
              <a:t>So: Book Ride includes Make Payment, because booking is not complete without payment.</a:t>
            </a:r>
          </a:p>
        </p:txBody>
      </p:sp>
    </p:spTree>
    <p:extLst>
      <p:ext uri="{BB962C8B-B14F-4D97-AF65-F5344CB8AC3E}">
        <p14:creationId xmlns:p14="http://schemas.microsoft.com/office/powerpoint/2010/main" val="842890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93C07-7886-674C-E855-EF586C36F2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057EC4-3DA8-A5BF-3952-2865E8A607F5}"/>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9CE831FD-5DEF-7A64-3052-968F8733B978}"/>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A1F75BD0-8A93-56F2-5BC0-34D8800AA1C8}"/>
              </a:ext>
            </a:extLst>
          </p:cNvPr>
          <p:cNvSpPr txBox="1"/>
          <p:nvPr/>
        </p:nvSpPr>
        <p:spPr>
          <a:xfrm>
            <a:off x="0" y="2062810"/>
            <a:ext cx="11971282" cy="3903504"/>
          </a:xfrm>
          <a:prstGeom prst="rect">
            <a:avLst/>
          </a:prstGeom>
          <a:noFill/>
        </p:spPr>
        <p:txBody>
          <a:bodyPr wrap="square">
            <a:spAutoFit/>
          </a:bodyPr>
          <a:lstStyle/>
          <a:p>
            <a:pPr>
              <a:lnSpc>
                <a:spcPct val="150000"/>
              </a:lnSpc>
            </a:pPr>
            <a:r>
              <a:rPr lang="en-US" sz="2800" dirty="0">
                <a:latin typeface="Calibir"/>
              </a:rPr>
              <a:t>In a video game, both </a:t>
            </a:r>
            <a:r>
              <a:rPr lang="en-US" sz="2800" i="1" dirty="0" err="1">
                <a:latin typeface="Calibir"/>
              </a:rPr>
              <a:t>MiniMap</a:t>
            </a:r>
            <a:r>
              <a:rPr lang="en-US" sz="2800" dirty="0">
                <a:latin typeface="Calibir"/>
              </a:rPr>
              <a:t> and </a:t>
            </a:r>
            <a:r>
              <a:rPr lang="en-US" sz="2800" i="1" dirty="0">
                <a:latin typeface="Calibir"/>
              </a:rPr>
              <a:t>Inventory</a:t>
            </a:r>
            <a:r>
              <a:rPr lang="en-US" sz="2800" dirty="0">
                <a:latin typeface="Calibir"/>
              </a:rPr>
              <a:t> are displayed on the screen. Which UML relationship is correct?</a:t>
            </a:r>
          </a:p>
          <a:p>
            <a:pPr lvl="1">
              <a:lnSpc>
                <a:spcPct val="150000"/>
              </a:lnSpc>
            </a:pPr>
            <a:r>
              <a:rPr lang="en-US" sz="2800" dirty="0">
                <a:latin typeface="Calibir"/>
              </a:rPr>
              <a:t>a) Generalization</a:t>
            </a:r>
          </a:p>
          <a:p>
            <a:pPr lvl="1">
              <a:lnSpc>
                <a:spcPct val="150000"/>
              </a:lnSpc>
            </a:pPr>
            <a:r>
              <a:rPr lang="en-US" sz="2800" dirty="0">
                <a:latin typeface="Calibir"/>
              </a:rPr>
              <a:t>b) Aggregation</a:t>
            </a:r>
          </a:p>
          <a:p>
            <a:pPr lvl="1">
              <a:lnSpc>
                <a:spcPct val="150000"/>
              </a:lnSpc>
            </a:pPr>
            <a:r>
              <a:rPr lang="en-US" sz="2800" dirty="0">
                <a:latin typeface="Calibir"/>
              </a:rPr>
              <a:t>c) Association</a:t>
            </a:r>
          </a:p>
          <a:p>
            <a:pPr lvl="1">
              <a:lnSpc>
                <a:spcPct val="150000"/>
              </a:lnSpc>
            </a:pPr>
            <a:r>
              <a:rPr lang="en-US" sz="2800" dirty="0">
                <a:latin typeface="Calibir"/>
              </a:rPr>
              <a:t>d) Multiplicity (1..*)</a:t>
            </a:r>
          </a:p>
        </p:txBody>
      </p:sp>
      <p:sp>
        <p:nvSpPr>
          <p:cNvPr id="5" name="TextBox 4">
            <a:extLst>
              <a:ext uri="{FF2B5EF4-FFF2-40B4-BE49-F238E27FC236}">
                <a16:creationId xmlns:a16="http://schemas.microsoft.com/office/drawing/2014/main" id="{313B6962-3F1A-8DA6-04F7-FC7415D9FFBD}"/>
              </a:ext>
            </a:extLst>
          </p:cNvPr>
          <p:cNvSpPr txBox="1"/>
          <p:nvPr/>
        </p:nvSpPr>
        <p:spPr>
          <a:xfrm>
            <a:off x="3856704" y="3407216"/>
            <a:ext cx="8335296" cy="3031086"/>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600" dirty="0">
                <a:latin typeface="Calibir"/>
              </a:rPr>
              <a:t>Association in UML simply means two classes/objects are related or connected in some way.</a:t>
            </a:r>
          </a:p>
          <a:p>
            <a:pPr marL="342900" indent="-342900">
              <a:lnSpc>
                <a:spcPct val="150000"/>
              </a:lnSpc>
              <a:buFont typeface="Arial" panose="020B0604020202020204" pitchFamily="34" charset="0"/>
              <a:buChar char="•"/>
            </a:pPr>
            <a:r>
              <a:rPr lang="en-US" sz="2600" dirty="0">
                <a:latin typeface="Calibir"/>
              </a:rPr>
              <a:t>In this example, </a:t>
            </a:r>
            <a:r>
              <a:rPr lang="en-US" sz="2600" dirty="0" err="1">
                <a:latin typeface="Calibir"/>
              </a:rPr>
              <a:t>MiniMap</a:t>
            </a:r>
            <a:r>
              <a:rPr lang="en-US" sz="2600" dirty="0">
                <a:latin typeface="Calibir"/>
              </a:rPr>
              <a:t> and Inventory are independent features, but they both appear on the screen and can interact with the player or the game system.</a:t>
            </a:r>
          </a:p>
        </p:txBody>
      </p:sp>
    </p:spTree>
    <p:extLst>
      <p:ext uri="{BB962C8B-B14F-4D97-AF65-F5344CB8AC3E}">
        <p14:creationId xmlns:p14="http://schemas.microsoft.com/office/powerpoint/2010/main" val="93197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6710C-6242-71F3-0661-04AB508CEB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E24B3E-0AA6-082D-90E3-DB131F60A047}"/>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0CB2BD43-BFDE-149A-83ED-4BCD7FCAEBB9}"/>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D9203B56-BFB6-473F-6EDA-9914D5097E77}"/>
              </a:ext>
            </a:extLst>
          </p:cNvPr>
          <p:cNvSpPr txBox="1"/>
          <p:nvPr/>
        </p:nvSpPr>
        <p:spPr>
          <a:xfrm>
            <a:off x="0" y="2062810"/>
            <a:ext cx="11971282" cy="3903504"/>
          </a:xfrm>
          <a:prstGeom prst="rect">
            <a:avLst/>
          </a:prstGeom>
          <a:noFill/>
        </p:spPr>
        <p:txBody>
          <a:bodyPr wrap="square">
            <a:spAutoFit/>
          </a:bodyPr>
          <a:lstStyle/>
          <a:p>
            <a:pPr>
              <a:lnSpc>
                <a:spcPct val="150000"/>
              </a:lnSpc>
            </a:pPr>
            <a:r>
              <a:rPr lang="en-US" sz="2800" dirty="0">
                <a:latin typeface="Calibir"/>
              </a:rPr>
              <a:t>In a video game, both </a:t>
            </a:r>
            <a:r>
              <a:rPr lang="en-US" sz="2800" i="1" dirty="0" err="1">
                <a:latin typeface="Calibir"/>
              </a:rPr>
              <a:t>MiniMap</a:t>
            </a:r>
            <a:r>
              <a:rPr lang="en-US" sz="2800" dirty="0">
                <a:latin typeface="Calibir"/>
              </a:rPr>
              <a:t> and </a:t>
            </a:r>
            <a:r>
              <a:rPr lang="en-US" sz="2800" i="1" dirty="0">
                <a:latin typeface="Calibir"/>
              </a:rPr>
              <a:t>Inventory</a:t>
            </a:r>
            <a:r>
              <a:rPr lang="en-US" sz="2800" dirty="0">
                <a:latin typeface="Calibir"/>
              </a:rPr>
              <a:t> are displayed on the screen. Which UML relationship is correct?</a:t>
            </a:r>
          </a:p>
          <a:p>
            <a:pPr lvl="1">
              <a:lnSpc>
                <a:spcPct val="150000"/>
              </a:lnSpc>
            </a:pPr>
            <a:r>
              <a:rPr lang="en-US" sz="2800" dirty="0">
                <a:latin typeface="Calibir"/>
              </a:rPr>
              <a:t>a) Generalization</a:t>
            </a:r>
          </a:p>
          <a:p>
            <a:pPr lvl="1">
              <a:lnSpc>
                <a:spcPct val="150000"/>
              </a:lnSpc>
            </a:pPr>
            <a:r>
              <a:rPr lang="en-US" sz="2800" dirty="0">
                <a:latin typeface="Calibir"/>
              </a:rPr>
              <a:t>b) Aggregation</a:t>
            </a:r>
          </a:p>
          <a:p>
            <a:pPr lvl="1">
              <a:lnSpc>
                <a:spcPct val="150000"/>
              </a:lnSpc>
            </a:pPr>
            <a:r>
              <a:rPr lang="en-US" sz="2800" dirty="0">
                <a:latin typeface="Calibir"/>
              </a:rPr>
              <a:t>c) Association</a:t>
            </a:r>
          </a:p>
          <a:p>
            <a:pPr lvl="1">
              <a:lnSpc>
                <a:spcPct val="150000"/>
              </a:lnSpc>
            </a:pPr>
            <a:r>
              <a:rPr lang="en-US" sz="2800" dirty="0">
                <a:latin typeface="Calibir"/>
              </a:rPr>
              <a:t>d) Multiplicity (1..*)</a:t>
            </a:r>
          </a:p>
        </p:txBody>
      </p:sp>
      <p:sp>
        <p:nvSpPr>
          <p:cNvPr id="5" name="TextBox 4">
            <a:extLst>
              <a:ext uri="{FF2B5EF4-FFF2-40B4-BE49-F238E27FC236}">
                <a16:creationId xmlns:a16="http://schemas.microsoft.com/office/drawing/2014/main" id="{EC3F19BE-951C-6D91-3582-36F47DD537A9}"/>
              </a:ext>
            </a:extLst>
          </p:cNvPr>
          <p:cNvSpPr txBox="1"/>
          <p:nvPr/>
        </p:nvSpPr>
        <p:spPr>
          <a:xfrm>
            <a:off x="3856704" y="3407216"/>
            <a:ext cx="8335296" cy="3359061"/>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400" dirty="0">
                <a:latin typeface="Calibir"/>
              </a:rPr>
              <a:t>There is no "whole–part" relationship (so not Aggregation), and neither one is a specialized form of the other (so not Generalization). Multiplicity (1..*) just describes how many instances exist but is not itself a relationship type.</a:t>
            </a:r>
          </a:p>
          <a:p>
            <a:pPr>
              <a:lnSpc>
                <a:spcPct val="150000"/>
              </a:lnSpc>
              <a:buNone/>
            </a:pPr>
            <a:r>
              <a:rPr lang="en-US" sz="2400" dirty="0">
                <a:latin typeface="Calibir"/>
              </a:rPr>
              <a:t>Therefore, the correct choice is Association, since </a:t>
            </a:r>
            <a:r>
              <a:rPr lang="en-US" sz="2400" dirty="0" err="1">
                <a:latin typeface="Calibir"/>
              </a:rPr>
              <a:t>MiniMap</a:t>
            </a:r>
            <a:r>
              <a:rPr lang="en-US" sz="2400" dirty="0">
                <a:latin typeface="Calibir"/>
              </a:rPr>
              <a:t> and Inventory are just linked as separate features shown together.</a:t>
            </a:r>
          </a:p>
        </p:txBody>
      </p:sp>
    </p:spTree>
    <p:extLst>
      <p:ext uri="{BB962C8B-B14F-4D97-AF65-F5344CB8AC3E}">
        <p14:creationId xmlns:p14="http://schemas.microsoft.com/office/powerpoint/2010/main" val="1444219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6DD6D-682C-D3F0-BA4B-A56A9FC9D9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64DA35-2342-8B56-39BA-4005B6A84980}"/>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2D6752C2-10E0-6E3B-E2EF-3CACF3974A9E}"/>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258F3281-D457-FE3A-C85A-0CD40AB24727}"/>
              </a:ext>
            </a:extLst>
          </p:cNvPr>
          <p:cNvSpPr txBox="1"/>
          <p:nvPr/>
        </p:nvSpPr>
        <p:spPr>
          <a:xfrm>
            <a:off x="0" y="2062810"/>
            <a:ext cx="11971282" cy="3257174"/>
          </a:xfrm>
          <a:prstGeom prst="rect">
            <a:avLst/>
          </a:prstGeom>
          <a:noFill/>
        </p:spPr>
        <p:txBody>
          <a:bodyPr wrap="square">
            <a:spAutoFit/>
          </a:bodyPr>
          <a:lstStyle/>
          <a:p>
            <a:pPr>
              <a:lnSpc>
                <a:spcPct val="150000"/>
              </a:lnSpc>
            </a:pPr>
            <a:r>
              <a:rPr lang="en-US" sz="2800" dirty="0">
                <a:latin typeface="Calibir"/>
              </a:rPr>
              <a:t>In UML, what kind of relationship shows that an actor is involved in a use-case?</a:t>
            </a:r>
          </a:p>
          <a:p>
            <a:pPr lvl="1">
              <a:lnSpc>
                <a:spcPct val="150000"/>
              </a:lnSpc>
            </a:pPr>
            <a:r>
              <a:rPr lang="en-US" sz="2800" dirty="0">
                <a:latin typeface="Calibir"/>
              </a:rPr>
              <a:t>a) Association</a:t>
            </a:r>
          </a:p>
          <a:p>
            <a:pPr lvl="1">
              <a:lnSpc>
                <a:spcPct val="150000"/>
              </a:lnSpc>
            </a:pPr>
            <a:r>
              <a:rPr lang="en-US" sz="2800" dirty="0">
                <a:latin typeface="Calibir"/>
              </a:rPr>
              <a:t>b) Include</a:t>
            </a:r>
          </a:p>
          <a:p>
            <a:pPr lvl="1">
              <a:lnSpc>
                <a:spcPct val="150000"/>
              </a:lnSpc>
            </a:pPr>
            <a:r>
              <a:rPr lang="en-US" sz="2800" dirty="0">
                <a:latin typeface="Calibir"/>
              </a:rPr>
              <a:t>c) Extend</a:t>
            </a:r>
          </a:p>
          <a:p>
            <a:pPr lvl="1">
              <a:lnSpc>
                <a:spcPct val="150000"/>
              </a:lnSpc>
            </a:pPr>
            <a:r>
              <a:rPr lang="en-US" sz="2800" dirty="0">
                <a:latin typeface="Calibir"/>
              </a:rPr>
              <a:t>d) Generalization</a:t>
            </a:r>
          </a:p>
        </p:txBody>
      </p:sp>
      <p:sp>
        <p:nvSpPr>
          <p:cNvPr id="5" name="TextBox 4">
            <a:extLst>
              <a:ext uri="{FF2B5EF4-FFF2-40B4-BE49-F238E27FC236}">
                <a16:creationId xmlns:a16="http://schemas.microsoft.com/office/drawing/2014/main" id="{06C14EC1-CE55-1AE1-CC1D-29BCD18AC03F}"/>
              </a:ext>
            </a:extLst>
          </p:cNvPr>
          <p:cNvSpPr txBox="1"/>
          <p:nvPr/>
        </p:nvSpPr>
        <p:spPr>
          <a:xfrm>
            <a:off x="3185652" y="2785828"/>
            <a:ext cx="9006348" cy="4072269"/>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500" dirty="0">
                <a:latin typeface="Calibir"/>
              </a:rPr>
              <a:t>In UML use case diagrams, a line connecting an actor (like a user) to a use case (like “Book Ride”) is an association.</a:t>
            </a:r>
          </a:p>
          <a:p>
            <a:pPr marL="342900" indent="-342900">
              <a:lnSpc>
                <a:spcPct val="150000"/>
              </a:lnSpc>
              <a:buFont typeface="Arial" panose="020B0604020202020204" pitchFamily="34" charset="0"/>
              <a:buChar char="•"/>
            </a:pPr>
            <a:r>
              <a:rPr lang="en-US" sz="2500" dirty="0">
                <a:latin typeface="Calibir"/>
              </a:rPr>
              <a:t>This shows the actor participates in or interacts with that use case.</a:t>
            </a:r>
          </a:p>
          <a:p>
            <a:pPr marL="342900" indent="-342900">
              <a:lnSpc>
                <a:spcPct val="150000"/>
              </a:lnSpc>
              <a:buFont typeface="Arial" panose="020B0604020202020204" pitchFamily="34" charset="0"/>
              <a:buChar char="•"/>
            </a:pPr>
            <a:r>
              <a:rPr lang="en-US" sz="2500" dirty="0">
                <a:latin typeface="Calibir"/>
              </a:rPr>
              <a:t>The other options (include, extend, generalization) describe relationships between use cases, not between an actor and a use case.</a:t>
            </a:r>
          </a:p>
        </p:txBody>
      </p:sp>
    </p:spTree>
    <p:extLst>
      <p:ext uri="{BB962C8B-B14F-4D97-AF65-F5344CB8AC3E}">
        <p14:creationId xmlns:p14="http://schemas.microsoft.com/office/powerpoint/2010/main" val="3742092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92FE2-FACF-D233-38E3-05FF82096C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DA79AA-74C3-5ABE-9513-B94E42A3E562}"/>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672FF746-70EC-C73F-3106-E854274A5DF2}"/>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85C77791-0B3C-8E0F-0D42-22EBDFDDAEA4}"/>
              </a:ext>
            </a:extLst>
          </p:cNvPr>
          <p:cNvSpPr txBox="1"/>
          <p:nvPr/>
        </p:nvSpPr>
        <p:spPr>
          <a:xfrm>
            <a:off x="0" y="2062810"/>
            <a:ext cx="11971282" cy="3257174"/>
          </a:xfrm>
          <a:prstGeom prst="rect">
            <a:avLst/>
          </a:prstGeom>
          <a:noFill/>
        </p:spPr>
        <p:txBody>
          <a:bodyPr wrap="square">
            <a:spAutoFit/>
          </a:bodyPr>
          <a:lstStyle/>
          <a:p>
            <a:pPr>
              <a:lnSpc>
                <a:spcPct val="150000"/>
              </a:lnSpc>
            </a:pPr>
            <a:r>
              <a:rPr lang="en-US" sz="2800" dirty="0">
                <a:latin typeface="Calibir"/>
              </a:rPr>
              <a:t>In UML, what kind of relationship shows that an actor is involved in a use-case?</a:t>
            </a:r>
          </a:p>
          <a:p>
            <a:pPr lvl="1">
              <a:lnSpc>
                <a:spcPct val="150000"/>
              </a:lnSpc>
            </a:pPr>
            <a:r>
              <a:rPr lang="en-US" sz="2800" dirty="0">
                <a:latin typeface="Calibir"/>
              </a:rPr>
              <a:t>a) Association</a:t>
            </a:r>
          </a:p>
          <a:p>
            <a:pPr lvl="1">
              <a:lnSpc>
                <a:spcPct val="150000"/>
              </a:lnSpc>
            </a:pPr>
            <a:r>
              <a:rPr lang="en-US" sz="2800" dirty="0">
                <a:latin typeface="Calibir"/>
              </a:rPr>
              <a:t>b) Include</a:t>
            </a:r>
          </a:p>
          <a:p>
            <a:pPr lvl="1">
              <a:lnSpc>
                <a:spcPct val="150000"/>
              </a:lnSpc>
            </a:pPr>
            <a:r>
              <a:rPr lang="en-US" sz="2800" dirty="0">
                <a:latin typeface="Calibir"/>
              </a:rPr>
              <a:t>c) Extend</a:t>
            </a:r>
          </a:p>
          <a:p>
            <a:pPr lvl="1">
              <a:lnSpc>
                <a:spcPct val="150000"/>
              </a:lnSpc>
            </a:pPr>
            <a:r>
              <a:rPr lang="en-US" sz="2800" dirty="0">
                <a:latin typeface="Calibir"/>
              </a:rPr>
              <a:t>d) Generalization</a:t>
            </a:r>
          </a:p>
        </p:txBody>
      </p:sp>
      <p:sp>
        <p:nvSpPr>
          <p:cNvPr id="5" name="TextBox 4">
            <a:extLst>
              <a:ext uri="{FF2B5EF4-FFF2-40B4-BE49-F238E27FC236}">
                <a16:creationId xmlns:a16="http://schemas.microsoft.com/office/drawing/2014/main" id="{E60A7132-97C1-BE9A-0F43-B6462DBA0F62}"/>
              </a:ext>
            </a:extLst>
          </p:cNvPr>
          <p:cNvSpPr txBox="1"/>
          <p:nvPr/>
        </p:nvSpPr>
        <p:spPr>
          <a:xfrm>
            <a:off x="3185652" y="2785828"/>
            <a:ext cx="9006348" cy="1321772"/>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800" dirty="0">
                <a:latin typeface="Calibir"/>
              </a:rPr>
              <a:t>So: An actor is connected to a use case with an Association relationship.</a:t>
            </a:r>
            <a:endParaRPr lang="en-US" sz="2500" dirty="0">
              <a:latin typeface="Calibir"/>
            </a:endParaRPr>
          </a:p>
        </p:txBody>
      </p:sp>
    </p:spTree>
    <p:extLst>
      <p:ext uri="{BB962C8B-B14F-4D97-AF65-F5344CB8AC3E}">
        <p14:creationId xmlns:p14="http://schemas.microsoft.com/office/powerpoint/2010/main" val="2012636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ECE74-B2CC-7D82-3375-75584109D2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ADB4AC-B358-7F1D-6743-6B9705186741}"/>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DE0B1247-BE30-6493-7D04-287C22BF1BD1}"/>
              </a:ext>
            </a:extLst>
          </p:cNvPr>
          <p:cNvSpPr txBox="1"/>
          <p:nvPr/>
        </p:nvSpPr>
        <p:spPr>
          <a:xfrm>
            <a:off x="0" y="719238"/>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C84D6FB3-8FCA-E2A9-5BA1-BBE6CBFD86B8}"/>
              </a:ext>
            </a:extLst>
          </p:cNvPr>
          <p:cNvSpPr txBox="1"/>
          <p:nvPr/>
        </p:nvSpPr>
        <p:spPr>
          <a:xfrm>
            <a:off x="0" y="1330408"/>
            <a:ext cx="11971282" cy="3903504"/>
          </a:xfrm>
          <a:prstGeom prst="rect">
            <a:avLst/>
          </a:prstGeom>
          <a:noFill/>
        </p:spPr>
        <p:txBody>
          <a:bodyPr wrap="square">
            <a:spAutoFit/>
          </a:bodyPr>
          <a:lstStyle/>
          <a:p>
            <a:pPr>
              <a:lnSpc>
                <a:spcPct val="150000"/>
              </a:lnSpc>
            </a:pPr>
            <a:r>
              <a:rPr lang="en-US" sz="2800" dirty="0">
                <a:latin typeface="Calibir"/>
              </a:rPr>
              <a:t>In a role-playing game, each </a:t>
            </a:r>
            <a:r>
              <a:rPr lang="en-US" sz="2800" i="1" dirty="0">
                <a:latin typeface="Calibir"/>
              </a:rPr>
              <a:t>Quest</a:t>
            </a:r>
            <a:r>
              <a:rPr lang="en-US" sz="2800" dirty="0">
                <a:latin typeface="Calibir"/>
              </a:rPr>
              <a:t> can provide several </a:t>
            </a:r>
            <a:r>
              <a:rPr lang="en-US" sz="2800" i="1" dirty="0" err="1">
                <a:latin typeface="Calibir"/>
              </a:rPr>
              <a:t>BonusItems</a:t>
            </a:r>
            <a:r>
              <a:rPr lang="en-US" sz="2800" dirty="0">
                <a:latin typeface="Calibir"/>
              </a:rPr>
              <a:t>. What diagram represents this?</a:t>
            </a:r>
          </a:p>
          <a:p>
            <a:pPr lvl="1">
              <a:lnSpc>
                <a:spcPct val="150000"/>
              </a:lnSpc>
            </a:pPr>
            <a:r>
              <a:rPr lang="en-US" sz="2800" dirty="0">
                <a:latin typeface="Calibir"/>
              </a:rPr>
              <a:t>a) 1 Quest → many </a:t>
            </a:r>
            <a:r>
              <a:rPr lang="en-US" sz="2800" dirty="0" err="1">
                <a:latin typeface="Calibir"/>
              </a:rPr>
              <a:t>BonusItems</a:t>
            </a:r>
            <a:endParaRPr lang="en-US" sz="2800" dirty="0">
              <a:latin typeface="Calibir"/>
            </a:endParaRPr>
          </a:p>
          <a:p>
            <a:pPr lvl="1">
              <a:lnSpc>
                <a:spcPct val="150000"/>
              </a:lnSpc>
            </a:pPr>
            <a:r>
              <a:rPr lang="en-US" sz="2800" dirty="0">
                <a:latin typeface="Calibir"/>
              </a:rPr>
              <a:t>b) many Quests → 1 </a:t>
            </a:r>
            <a:r>
              <a:rPr lang="en-US" sz="2800" dirty="0" err="1">
                <a:latin typeface="Calibir"/>
              </a:rPr>
              <a:t>BonusItem</a:t>
            </a:r>
            <a:endParaRPr lang="en-US" sz="2800" dirty="0">
              <a:latin typeface="Calibir"/>
            </a:endParaRPr>
          </a:p>
          <a:p>
            <a:pPr lvl="1">
              <a:lnSpc>
                <a:spcPct val="150000"/>
              </a:lnSpc>
            </a:pPr>
            <a:r>
              <a:rPr lang="en-US" sz="2800" dirty="0">
                <a:latin typeface="Calibir"/>
              </a:rPr>
              <a:t>c) Inheritance</a:t>
            </a:r>
          </a:p>
          <a:p>
            <a:pPr lvl="1">
              <a:lnSpc>
                <a:spcPct val="150000"/>
              </a:lnSpc>
            </a:pPr>
            <a:r>
              <a:rPr lang="en-US" sz="2800" dirty="0">
                <a:latin typeface="Calibir"/>
              </a:rPr>
              <a:t>d) Use dependency</a:t>
            </a:r>
          </a:p>
        </p:txBody>
      </p:sp>
      <p:sp>
        <p:nvSpPr>
          <p:cNvPr id="5" name="TextBox 4">
            <a:extLst>
              <a:ext uri="{FF2B5EF4-FFF2-40B4-BE49-F238E27FC236}">
                <a16:creationId xmlns:a16="http://schemas.microsoft.com/office/drawing/2014/main" id="{72DD306C-EF7F-92A4-A030-16A620B66F86}"/>
              </a:ext>
            </a:extLst>
          </p:cNvPr>
          <p:cNvSpPr txBox="1"/>
          <p:nvPr/>
        </p:nvSpPr>
        <p:spPr>
          <a:xfrm>
            <a:off x="5515896" y="1968342"/>
            <a:ext cx="6676103" cy="2610843"/>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800" dirty="0">
                <a:latin typeface="Calibir"/>
              </a:rPr>
              <a:t>The relationship described is that one quest can give multiple bonus items.</a:t>
            </a:r>
          </a:p>
          <a:p>
            <a:pPr marL="342900" indent="-342900">
              <a:lnSpc>
                <a:spcPct val="150000"/>
              </a:lnSpc>
              <a:buFont typeface="Arial" panose="020B0604020202020204" pitchFamily="34" charset="0"/>
              <a:buChar char="•"/>
            </a:pPr>
            <a:r>
              <a:rPr lang="en-US" sz="2800" dirty="0">
                <a:latin typeface="Calibir"/>
              </a:rPr>
              <a:t>That is a one-to-many association (1..*) in UML.</a:t>
            </a:r>
          </a:p>
        </p:txBody>
      </p:sp>
    </p:spTree>
    <p:extLst>
      <p:ext uri="{BB962C8B-B14F-4D97-AF65-F5344CB8AC3E}">
        <p14:creationId xmlns:p14="http://schemas.microsoft.com/office/powerpoint/2010/main" val="2490949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1B08F-8E74-160B-03A0-FA47C7392B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0B4739-B3D3-2B96-FA06-7251002D7F30}"/>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995400F3-1EC6-48C8-1387-D023F09133B7}"/>
              </a:ext>
            </a:extLst>
          </p:cNvPr>
          <p:cNvSpPr txBox="1"/>
          <p:nvPr/>
        </p:nvSpPr>
        <p:spPr>
          <a:xfrm>
            <a:off x="0" y="719238"/>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0207D320-0799-CD28-F552-62CB866526D9}"/>
              </a:ext>
            </a:extLst>
          </p:cNvPr>
          <p:cNvSpPr txBox="1"/>
          <p:nvPr/>
        </p:nvSpPr>
        <p:spPr>
          <a:xfrm>
            <a:off x="0" y="1330408"/>
            <a:ext cx="11971282" cy="3903504"/>
          </a:xfrm>
          <a:prstGeom prst="rect">
            <a:avLst/>
          </a:prstGeom>
          <a:noFill/>
        </p:spPr>
        <p:txBody>
          <a:bodyPr wrap="square">
            <a:spAutoFit/>
          </a:bodyPr>
          <a:lstStyle/>
          <a:p>
            <a:pPr>
              <a:lnSpc>
                <a:spcPct val="150000"/>
              </a:lnSpc>
            </a:pPr>
            <a:r>
              <a:rPr lang="en-US" sz="2800" dirty="0">
                <a:latin typeface="Calibir"/>
              </a:rPr>
              <a:t>In a role-playing game, each </a:t>
            </a:r>
            <a:r>
              <a:rPr lang="en-US" sz="2800" i="1" dirty="0">
                <a:latin typeface="Calibir"/>
              </a:rPr>
              <a:t>Quest</a:t>
            </a:r>
            <a:r>
              <a:rPr lang="en-US" sz="2800" dirty="0">
                <a:latin typeface="Calibir"/>
              </a:rPr>
              <a:t> can provide several </a:t>
            </a:r>
            <a:r>
              <a:rPr lang="en-US" sz="2800" i="1" dirty="0" err="1">
                <a:latin typeface="Calibir"/>
              </a:rPr>
              <a:t>BonusItems</a:t>
            </a:r>
            <a:r>
              <a:rPr lang="en-US" sz="2800" dirty="0">
                <a:latin typeface="Calibir"/>
              </a:rPr>
              <a:t>. What diagram represents this?</a:t>
            </a:r>
          </a:p>
          <a:p>
            <a:pPr lvl="1">
              <a:lnSpc>
                <a:spcPct val="150000"/>
              </a:lnSpc>
            </a:pPr>
            <a:r>
              <a:rPr lang="en-US" sz="2800" dirty="0">
                <a:latin typeface="Calibir"/>
              </a:rPr>
              <a:t>a) 1 Quest → many </a:t>
            </a:r>
            <a:r>
              <a:rPr lang="en-US" sz="2800" dirty="0" err="1">
                <a:latin typeface="Calibir"/>
              </a:rPr>
              <a:t>BonusItems</a:t>
            </a:r>
            <a:endParaRPr lang="en-US" sz="2800" dirty="0">
              <a:latin typeface="Calibir"/>
            </a:endParaRPr>
          </a:p>
          <a:p>
            <a:pPr lvl="1">
              <a:lnSpc>
                <a:spcPct val="150000"/>
              </a:lnSpc>
            </a:pPr>
            <a:r>
              <a:rPr lang="en-US" sz="2800" dirty="0">
                <a:latin typeface="Calibir"/>
              </a:rPr>
              <a:t>b) many Quests → 1 </a:t>
            </a:r>
            <a:r>
              <a:rPr lang="en-US" sz="2800" dirty="0" err="1">
                <a:latin typeface="Calibir"/>
              </a:rPr>
              <a:t>BonusItem</a:t>
            </a:r>
            <a:endParaRPr lang="en-US" sz="2800" dirty="0">
              <a:latin typeface="Calibir"/>
            </a:endParaRPr>
          </a:p>
          <a:p>
            <a:pPr lvl="1">
              <a:lnSpc>
                <a:spcPct val="150000"/>
              </a:lnSpc>
            </a:pPr>
            <a:r>
              <a:rPr lang="en-US" sz="2800" dirty="0">
                <a:latin typeface="Calibir"/>
              </a:rPr>
              <a:t>c) Inheritance</a:t>
            </a:r>
          </a:p>
          <a:p>
            <a:pPr lvl="1">
              <a:lnSpc>
                <a:spcPct val="150000"/>
              </a:lnSpc>
            </a:pPr>
            <a:r>
              <a:rPr lang="en-US" sz="2800" dirty="0">
                <a:latin typeface="Calibir"/>
              </a:rPr>
              <a:t>d) Use dependency</a:t>
            </a:r>
          </a:p>
        </p:txBody>
      </p:sp>
      <p:sp>
        <p:nvSpPr>
          <p:cNvPr id="5" name="TextBox 4">
            <a:extLst>
              <a:ext uri="{FF2B5EF4-FFF2-40B4-BE49-F238E27FC236}">
                <a16:creationId xmlns:a16="http://schemas.microsoft.com/office/drawing/2014/main" id="{4463C050-0192-DA17-C992-9E0B8F52F3E1}"/>
              </a:ext>
            </a:extLst>
          </p:cNvPr>
          <p:cNvSpPr txBox="1"/>
          <p:nvPr/>
        </p:nvSpPr>
        <p:spPr>
          <a:xfrm>
            <a:off x="5515896" y="1968342"/>
            <a:ext cx="6676103" cy="3257174"/>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800" dirty="0">
                <a:latin typeface="Calibir"/>
              </a:rPr>
              <a:t>It’s not inheritance (because </a:t>
            </a:r>
            <a:r>
              <a:rPr lang="en-US" sz="2800" dirty="0" err="1">
                <a:latin typeface="Calibir"/>
              </a:rPr>
              <a:t>BonusItem</a:t>
            </a:r>
            <a:r>
              <a:rPr lang="en-US" sz="2800" dirty="0">
                <a:latin typeface="Calibir"/>
              </a:rPr>
              <a:t> is not a subtype of Quest), and not use dependency (because </a:t>
            </a:r>
            <a:r>
              <a:rPr lang="en-US" sz="2800" dirty="0" err="1">
                <a:latin typeface="Calibir"/>
              </a:rPr>
              <a:t>BonusItems</a:t>
            </a:r>
            <a:r>
              <a:rPr lang="en-US" sz="2800" dirty="0">
                <a:latin typeface="Calibir"/>
              </a:rPr>
              <a:t> don’t define behavior of Quest, they are just rewards).</a:t>
            </a:r>
          </a:p>
        </p:txBody>
      </p:sp>
    </p:spTree>
    <p:extLst>
      <p:ext uri="{BB962C8B-B14F-4D97-AF65-F5344CB8AC3E}">
        <p14:creationId xmlns:p14="http://schemas.microsoft.com/office/powerpoint/2010/main" val="10156874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CCC68-F756-D646-70AD-0802E0A3E0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227081-DAB8-F360-1F14-CD7FED0F6CC7}"/>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E1C85FAC-71E9-CECA-2048-2449681CCEE2}"/>
              </a:ext>
            </a:extLst>
          </p:cNvPr>
          <p:cNvSpPr txBox="1"/>
          <p:nvPr/>
        </p:nvSpPr>
        <p:spPr>
          <a:xfrm>
            <a:off x="0" y="719238"/>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0995FDB8-1B1D-4487-1692-CEF0A87F5156}"/>
              </a:ext>
            </a:extLst>
          </p:cNvPr>
          <p:cNvSpPr txBox="1"/>
          <p:nvPr/>
        </p:nvSpPr>
        <p:spPr>
          <a:xfrm>
            <a:off x="0" y="1330408"/>
            <a:ext cx="11971282" cy="3903504"/>
          </a:xfrm>
          <a:prstGeom prst="rect">
            <a:avLst/>
          </a:prstGeom>
          <a:noFill/>
        </p:spPr>
        <p:txBody>
          <a:bodyPr wrap="square">
            <a:spAutoFit/>
          </a:bodyPr>
          <a:lstStyle/>
          <a:p>
            <a:pPr>
              <a:lnSpc>
                <a:spcPct val="150000"/>
              </a:lnSpc>
            </a:pPr>
            <a:r>
              <a:rPr lang="en-US" sz="2800" dirty="0">
                <a:latin typeface="Calibir"/>
              </a:rPr>
              <a:t>In a role-playing game, each </a:t>
            </a:r>
            <a:r>
              <a:rPr lang="en-US" sz="2800" i="1" dirty="0">
                <a:latin typeface="Calibir"/>
              </a:rPr>
              <a:t>Quest</a:t>
            </a:r>
            <a:r>
              <a:rPr lang="en-US" sz="2800" dirty="0">
                <a:latin typeface="Calibir"/>
              </a:rPr>
              <a:t> can provide several </a:t>
            </a:r>
            <a:r>
              <a:rPr lang="en-US" sz="2800" i="1" dirty="0" err="1">
                <a:latin typeface="Calibir"/>
              </a:rPr>
              <a:t>BonusItems</a:t>
            </a:r>
            <a:r>
              <a:rPr lang="en-US" sz="2800" dirty="0">
                <a:latin typeface="Calibir"/>
              </a:rPr>
              <a:t>. What diagram represents this?</a:t>
            </a:r>
          </a:p>
          <a:p>
            <a:pPr lvl="1">
              <a:lnSpc>
                <a:spcPct val="150000"/>
              </a:lnSpc>
            </a:pPr>
            <a:r>
              <a:rPr lang="en-US" sz="2800" dirty="0">
                <a:latin typeface="Calibir"/>
              </a:rPr>
              <a:t>a) 1 Quest → many </a:t>
            </a:r>
            <a:r>
              <a:rPr lang="en-US" sz="2800" dirty="0" err="1">
                <a:latin typeface="Calibir"/>
              </a:rPr>
              <a:t>BonusItems</a:t>
            </a:r>
            <a:endParaRPr lang="en-US" sz="2800" dirty="0">
              <a:latin typeface="Calibir"/>
            </a:endParaRPr>
          </a:p>
          <a:p>
            <a:pPr lvl="1">
              <a:lnSpc>
                <a:spcPct val="150000"/>
              </a:lnSpc>
            </a:pPr>
            <a:r>
              <a:rPr lang="en-US" sz="2800" dirty="0">
                <a:latin typeface="Calibir"/>
              </a:rPr>
              <a:t>b) many Quests → 1 </a:t>
            </a:r>
            <a:r>
              <a:rPr lang="en-US" sz="2800" dirty="0" err="1">
                <a:latin typeface="Calibir"/>
              </a:rPr>
              <a:t>BonusItem</a:t>
            </a:r>
            <a:endParaRPr lang="en-US" sz="2800" dirty="0">
              <a:latin typeface="Calibir"/>
            </a:endParaRPr>
          </a:p>
          <a:p>
            <a:pPr lvl="1">
              <a:lnSpc>
                <a:spcPct val="150000"/>
              </a:lnSpc>
            </a:pPr>
            <a:r>
              <a:rPr lang="en-US" sz="2800" dirty="0">
                <a:latin typeface="Calibir"/>
              </a:rPr>
              <a:t>c) Inheritance</a:t>
            </a:r>
          </a:p>
          <a:p>
            <a:pPr lvl="1">
              <a:lnSpc>
                <a:spcPct val="150000"/>
              </a:lnSpc>
            </a:pPr>
            <a:r>
              <a:rPr lang="en-US" sz="2800" dirty="0">
                <a:latin typeface="Calibir"/>
              </a:rPr>
              <a:t>d) Use dependency</a:t>
            </a:r>
          </a:p>
        </p:txBody>
      </p:sp>
      <p:sp>
        <p:nvSpPr>
          <p:cNvPr id="5" name="TextBox 4">
            <a:extLst>
              <a:ext uri="{FF2B5EF4-FFF2-40B4-BE49-F238E27FC236}">
                <a16:creationId xmlns:a16="http://schemas.microsoft.com/office/drawing/2014/main" id="{2B02AF5E-85C8-DC25-D7FB-6747A1A02466}"/>
              </a:ext>
            </a:extLst>
          </p:cNvPr>
          <p:cNvSpPr txBox="1"/>
          <p:nvPr/>
        </p:nvSpPr>
        <p:spPr>
          <a:xfrm>
            <a:off x="5515896" y="1968342"/>
            <a:ext cx="6676103" cy="3257174"/>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800" dirty="0">
                <a:latin typeface="Calibir"/>
              </a:rPr>
              <a:t>Option b would mean the reverse (many quests give only one item), which doesn’t match the description.</a:t>
            </a:r>
          </a:p>
          <a:p>
            <a:pPr>
              <a:lnSpc>
                <a:spcPct val="150000"/>
              </a:lnSpc>
              <a:buNone/>
            </a:pPr>
            <a:r>
              <a:rPr lang="en-US" sz="2800" dirty="0">
                <a:latin typeface="Calibir"/>
              </a:rPr>
              <a:t>So the diagram is 1 Quest → many </a:t>
            </a:r>
            <a:r>
              <a:rPr lang="en-US" sz="2800" dirty="0" err="1">
                <a:latin typeface="Calibir"/>
              </a:rPr>
              <a:t>BonusItems</a:t>
            </a:r>
            <a:r>
              <a:rPr lang="en-US" sz="2800" dirty="0">
                <a:latin typeface="Calibir"/>
              </a:rPr>
              <a:t> (one-to-many association).</a:t>
            </a:r>
          </a:p>
        </p:txBody>
      </p:sp>
    </p:spTree>
    <p:extLst>
      <p:ext uri="{BB962C8B-B14F-4D97-AF65-F5344CB8AC3E}">
        <p14:creationId xmlns:p14="http://schemas.microsoft.com/office/powerpoint/2010/main" val="41703186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44EA0-B316-A154-6349-BDC7B20698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6A73EA-7105-797B-4060-7F1F1917028D}"/>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4" name="TextBox 3">
            <a:extLst>
              <a:ext uri="{FF2B5EF4-FFF2-40B4-BE49-F238E27FC236}">
                <a16:creationId xmlns:a16="http://schemas.microsoft.com/office/drawing/2014/main" id="{F9CE4927-0B13-1237-F790-8F83948B6732}"/>
              </a:ext>
            </a:extLst>
          </p:cNvPr>
          <p:cNvSpPr txBox="1"/>
          <p:nvPr/>
        </p:nvSpPr>
        <p:spPr>
          <a:xfrm>
            <a:off x="0" y="830917"/>
            <a:ext cx="7742903" cy="5196166"/>
          </a:xfrm>
          <a:prstGeom prst="rect">
            <a:avLst/>
          </a:prstGeom>
          <a:noFill/>
        </p:spPr>
        <p:txBody>
          <a:bodyPr wrap="square">
            <a:spAutoFit/>
          </a:bodyPr>
          <a:lstStyle/>
          <a:p>
            <a:pPr>
              <a:lnSpc>
                <a:spcPct val="150000"/>
              </a:lnSpc>
            </a:pPr>
            <a:r>
              <a:rPr lang="en-US" sz="2800" dirty="0">
                <a:latin typeface="Calibir"/>
              </a:rPr>
              <a:t>Which statement correctly describes the difference between procedural and OOP styles?</a:t>
            </a:r>
          </a:p>
          <a:p>
            <a:pPr lvl="1">
              <a:lnSpc>
                <a:spcPct val="150000"/>
              </a:lnSpc>
            </a:pPr>
            <a:r>
              <a:rPr lang="en-US" sz="2800" dirty="0">
                <a:latin typeface="Calibir"/>
              </a:rPr>
              <a:t>a) OOP organizes code into reusable classes and objects.</a:t>
            </a:r>
          </a:p>
          <a:p>
            <a:pPr lvl="1">
              <a:lnSpc>
                <a:spcPct val="150000"/>
              </a:lnSpc>
            </a:pPr>
            <a:r>
              <a:rPr lang="en-US" sz="2800" dirty="0">
                <a:latin typeface="Calibir"/>
              </a:rPr>
              <a:t>b) Procedural always hides data in classes.</a:t>
            </a:r>
          </a:p>
          <a:p>
            <a:pPr lvl="1">
              <a:lnSpc>
                <a:spcPct val="150000"/>
              </a:lnSpc>
            </a:pPr>
            <a:r>
              <a:rPr lang="en-US" sz="2800" dirty="0">
                <a:latin typeface="Calibir"/>
              </a:rPr>
              <a:t>c) OOP shares all global variables between methods.</a:t>
            </a:r>
          </a:p>
          <a:p>
            <a:pPr lvl="1">
              <a:lnSpc>
                <a:spcPct val="150000"/>
              </a:lnSpc>
            </a:pPr>
            <a:r>
              <a:rPr lang="en-US" sz="2800" dirty="0">
                <a:latin typeface="Calibir"/>
              </a:rPr>
              <a:t>d) Procedural is identical to object-oriented.</a:t>
            </a:r>
          </a:p>
        </p:txBody>
      </p:sp>
      <p:sp>
        <p:nvSpPr>
          <p:cNvPr id="5" name="TextBox 4">
            <a:extLst>
              <a:ext uri="{FF2B5EF4-FFF2-40B4-BE49-F238E27FC236}">
                <a16:creationId xmlns:a16="http://schemas.microsoft.com/office/drawing/2014/main" id="{5EB4473D-CCC4-B02D-0B68-7E27FC1C9704}"/>
              </a:ext>
            </a:extLst>
          </p:cNvPr>
          <p:cNvSpPr txBox="1"/>
          <p:nvPr/>
        </p:nvSpPr>
        <p:spPr>
          <a:xfrm>
            <a:off x="7580671" y="818157"/>
            <a:ext cx="4611329" cy="2610843"/>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800" b="1" dirty="0">
                <a:latin typeface="Calibir"/>
              </a:rPr>
              <a:t>Procedural programming</a:t>
            </a:r>
            <a:r>
              <a:rPr lang="en-US" sz="2800" dirty="0">
                <a:latin typeface="Calibir"/>
              </a:rPr>
              <a:t> is step-by-step, with functions and procedures operating on data separately.</a:t>
            </a:r>
          </a:p>
        </p:txBody>
      </p:sp>
    </p:spTree>
    <p:extLst>
      <p:ext uri="{BB962C8B-B14F-4D97-AF65-F5344CB8AC3E}">
        <p14:creationId xmlns:p14="http://schemas.microsoft.com/office/powerpoint/2010/main" val="3732535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8CBA6-EE69-C216-6F86-72B1F69858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4C72C3-9FEB-ECBD-1BFE-42382000735E}"/>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4" name="TextBox 3">
            <a:extLst>
              <a:ext uri="{FF2B5EF4-FFF2-40B4-BE49-F238E27FC236}">
                <a16:creationId xmlns:a16="http://schemas.microsoft.com/office/drawing/2014/main" id="{AAF40686-2A8F-CABE-39D2-EE2BAE2F746E}"/>
              </a:ext>
            </a:extLst>
          </p:cNvPr>
          <p:cNvSpPr txBox="1"/>
          <p:nvPr/>
        </p:nvSpPr>
        <p:spPr>
          <a:xfrm>
            <a:off x="0" y="830917"/>
            <a:ext cx="7742903" cy="5196166"/>
          </a:xfrm>
          <a:prstGeom prst="rect">
            <a:avLst/>
          </a:prstGeom>
          <a:noFill/>
        </p:spPr>
        <p:txBody>
          <a:bodyPr wrap="square">
            <a:spAutoFit/>
          </a:bodyPr>
          <a:lstStyle/>
          <a:p>
            <a:pPr>
              <a:lnSpc>
                <a:spcPct val="150000"/>
              </a:lnSpc>
            </a:pPr>
            <a:r>
              <a:rPr lang="en-US" sz="2800" dirty="0">
                <a:latin typeface="Calibir"/>
              </a:rPr>
              <a:t>Which statement correctly describes the difference between procedural and OOP styles?</a:t>
            </a:r>
          </a:p>
          <a:p>
            <a:pPr lvl="1">
              <a:lnSpc>
                <a:spcPct val="150000"/>
              </a:lnSpc>
            </a:pPr>
            <a:r>
              <a:rPr lang="en-US" sz="2800" dirty="0">
                <a:latin typeface="Calibir"/>
              </a:rPr>
              <a:t>a) OOP organizes code into reusable classes and objects.</a:t>
            </a:r>
          </a:p>
          <a:p>
            <a:pPr lvl="1">
              <a:lnSpc>
                <a:spcPct val="150000"/>
              </a:lnSpc>
            </a:pPr>
            <a:r>
              <a:rPr lang="en-US" sz="2800" dirty="0">
                <a:latin typeface="Calibir"/>
              </a:rPr>
              <a:t>b) Procedural always hides data in classes.</a:t>
            </a:r>
          </a:p>
          <a:p>
            <a:pPr lvl="1">
              <a:lnSpc>
                <a:spcPct val="150000"/>
              </a:lnSpc>
            </a:pPr>
            <a:r>
              <a:rPr lang="en-US" sz="2800" dirty="0">
                <a:latin typeface="Calibir"/>
              </a:rPr>
              <a:t>c) OOP shares all global variables between methods.</a:t>
            </a:r>
          </a:p>
          <a:p>
            <a:pPr lvl="1">
              <a:lnSpc>
                <a:spcPct val="150000"/>
              </a:lnSpc>
            </a:pPr>
            <a:r>
              <a:rPr lang="en-US" sz="2800" dirty="0">
                <a:latin typeface="Calibir"/>
              </a:rPr>
              <a:t>d) Procedural is identical to object-oriented.</a:t>
            </a:r>
          </a:p>
        </p:txBody>
      </p:sp>
      <p:sp>
        <p:nvSpPr>
          <p:cNvPr id="5" name="TextBox 4">
            <a:extLst>
              <a:ext uri="{FF2B5EF4-FFF2-40B4-BE49-F238E27FC236}">
                <a16:creationId xmlns:a16="http://schemas.microsoft.com/office/drawing/2014/main" id="{66BEB347-1190-6437-0F40-46C3E72CCFA2}"/>
              </a:ext>
            </a:extLst>
          </p:cNvPr>
          <p:cNvSpPr txBox="1"/>
          <p:nvPr/>
        </p:nvSpPr>
        <p:spPr>
          <a:xfrm>
            <a:off x="7580671" y="830917"/>
            <a:ext cx="4611329" cy="4549835"/>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800" b="1" dirty="0">
                <a:latin typeface="Calibir"/>
              </a:rPr>
              <a:t>Object-oriented programming (OOP)</a:t>
            </a:r>
            <a:r>
              <a:rPr lang="en-US" sz="2800" dirty="0">
                <a:latin typeface="Calibir"/>
              </a:rPr>
              <a:t> groups both data </a:t>
            </a:r>
            <a:r>
              <a:rPr lang="en-US" sz="2800" b="1" dirty="0">
                <a:latin typeface="Calibir"/>
              </a:rPr>
              <a:t>and</a:t>
            </a:r>
            <a:r>
              <a:rPr lang="en-US" sz="2800" dirty="0">
                <a:latin typeface="Calibir"/>
              </a:rPr>
              <a:t> behavior together inside classes and objects, making code reusable and easier to manage.</a:t>
            </a:r>
          </a:p>
        </p:txBody>
      </p:sp>
    </p:spTree>
    <p:extLst>
      <p:ext uri="{BB962C8B-B14F-4D97-AF65-F5344CB8AC3E}">
        <p14:creationId xmlns:p14="http://schemas.microsoft.com/office/powerpoint/2010/main" val="27507118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C7838-B41B-7EDC-D30B-10624C41EA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AE82E8-8B1E-9983-FC43-BD1F040351F8}"/>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4" name="TextBox 3">
            <a:extLst>
              <a:ext uri="{FF2B5EF4-FFF2-40B4-BE49-F238E27FC236}">
                <a16:creationId xmlns:a16="http://schemas.microsoft.com/office/drawing/2014/main" id="{F2EBE42F-967F-5694-9C32-F5A9D7304FDE}"/>
              </a:ext>
            </a:extLst>
          </p:cNvPr>
          <p:cNvSpPr txBox="1"/>
          <p:nvPr/>
        </p:nvSpPr>
        <p:spPr>
          <a:xfrm>
            <a:off x="0" y="830917"/>
            <a:ext cx="7329949" cy="5196166"/>
          </a:xfrm>
          <a:prstGeom prst="rect">
            <a:avLst/>
          </a:prstGeom>
          <a:noFill/>
        </p:spPr>
        <p:txBody>
          <a:bodyPr wrap="square">
            <a:spAutoFit/>
          </a:bodyPr>
          <a:lstStyle/>
          <a:p>
            <a:pPr>
              <a:lnSpc>
                <a:spcPct val="150000"/>
              </a:lnSpc>
            </a:pPr>
            <a:r>
              <a:rPr lang="en-US" sz="2800" dirty="0">
                <a:latin typeface="Calibir"/>
              </a:rPr>
              <a:t>Which statement correctly describes the difference between procedural and OOP styles?</a:t>
            </a:r>
          </a:p>
          <a:p>
            <a:pPr lvl="1">
              <a:lnSpc>
                <a:spcPct val="150000"/>
              </a:lnSpc>
            </a:pPr>
            <a:r>
              <a:rPr lang="en-US" sz="2800" dirty="0">
                <a:latin typeface="Calibir"/>
              </a:rPr>
              <a:t>a) OOP organizes code into reusable classes and objects.</a:t>
            </a:r>
          </a:p>
          <a:p>
            <a:pPr lvl="1">
              <a:lnSpc>
                <a:spcPct val="150000"/>
              </a:lnSpc>
            </a:pPr>
            <a:r>
              <a:rPr lang="en-US" sz="2800" dirty="0">
                <a:latin typeface="Calibir"/>
              </a:rPr>
              <a:t>b) Procedural always hides data in classes.</a:t>
            </a:r>
          </a:p>
          <a:p>
            <a:pPr lvl="1">
              <a:lnSpc>
                <a:spcPct val="150000"/>
              </a:lnSpc>
            </a:pPr>
            <a:r>
              <a:rPr lang="en-US" sz="2800" dirty="0">
                <a:latin typeface="Calibir"/>
              </a:rPr>
              <a:t>c) OOP shares all global variables between methods.</a:t>
            </a:r>
          </a:p>
          <a:p>
            <a:pPr lvl="1">
              <a:lnSpc>
                <a:spcPct val="150000"/>
              </a:lnSpc>
            </a:pPr>
            <a:r>
              <a:rPr lang="en-US" sz="2800" dirty="0">
                <a:latin typeface="Calibir"/>
              </a:rPr>
              <a:t>d) Procedural is identical to object-oriented.</a:t>
            </a:r>
          </a:p>
        </p:txBody>
      </p:sp>
      <p:sp>
        <p:nvSpPr>
          <p:cNvPr id="5" name="TextBox 4">
            <a:extLst>
              <a:ext uri="{FF2B5EF4-FFF2-40B4-BE49-F238E27FC236}">
                <a16:creationId xmlns:a16="http://schemas.microsoft.com/office/drawing/2014/main" id="{C942EF13-149C-2537-1FD9-3F207D794555}"/>
              </a:ext>
            </a:extLst>
          </p:cNvPr>
          <p:cNvSpPr txBox="1"/>
          <p:nvPr/>
        </p:nvSpPr>
        <p:spPr>
          <a:xfrm>
            <a:off x="7329949" y="830917"/>
            <a:ext cx="4862052" cy="6133859"/>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200" dirty="0">
                <a:latin typeface="Calibir"/>
              </a:rPr>
              <a:t>The other options are incorrect because:</a:t>
            </a:r>
          </a:p>
          <a:p>
            <a:pPr marL="742950" lvl="1" indent="-285750">
              <a:lnSpc>
                <a:spcPct val="150000"/>
              </a:lnSpc>
              <a:buFont typeface="Arial" panose="020B0604020202020204" pitchFamily="34" charset="0"/>
              <a:buChar char="•"/>
            </a:pPr>
            <a:r>
              <a:rPr lang="en-US" sz="2200" dirty="0">
                <a:latin typeface="Calibir"/>
              </a:rPr>
              <a:t>(b) Procedural does not hide data in classes (that’s OOP’s job).</a:t>
            </a:r>
          </a:p>
          <a:p>
            <a:pPr marL="742950" lvl="1" indent="-285750">
              <a:lnSpc>
                <a:spcPct val="150000"/>
              </a:lnSpc>
              <a:buFont typeface="Arial" panose="020B0604020202020204" pitchFamily="34" charset="0"/>
              <a:buChar char="•"/>
            </a:pPr>
            <a:r>
              <a:rPr lang="en-US" sz="2200" dirty="0">
                <a:latin typeface="Calibir"/>
              </a:rPr>
              <a:t>(c) OOP does not automatically share all global variables between methods.</a:t>
            </a:r>
          </a:p>
          <a:p>
            <a:pPr marL="742950" lvl="1" indent="-285750">
              <a:lnSpc>
                <a:spcPct val="150000"/>
              </a:lnSpc>
              <a:buFont typeface="Arial" panose="020B0604020202020204" pitchFamily="34" charset="0"/>
              <a:buChar char="•"/>
            </a:pPr>
            <a:r>
              <a:rPr lang="en-US" sz="2200" dirty="0">
                <a:latin typeface="Calibir"/>
              </a:rPr>
              <a:t>(d) Procedural and OOP are not identical.</a:t>
            </a:r>
          </a:p>
          <a:p>
            <a:pPr>
              <a:lnSpc>
                <a:spcPct val="150000"/>
              </a:lnSpc>
              <a:buNone/>
            </a:pPr>
            <a:r>
              <a:rPr lang="en-US" sz="2200" dirty="0">
                <a:latin typeface="Calibir"/>
              </a:rPr>
              <a:t>So, the key difference: OOP = classes and objects; Procedural = functions and steps.</a:t>
            </a:r>
          </a:p>
        </p:txBody>
      </p:sp>
    </p:spTree>
    <p:extLst>
      <p:ext uri="{BB962C8B-B14F-4D97-AF65-F5344CB8AC3E}">
        <p14:creationId xmlns:p14="http://schemas.microsoft.com/office/powerpoint/2010/main" val="16460136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B60FA-E552-AD32-76F3-12B112DB28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78D633-05E7-A157-5A50-B22F0E4C5B91}"/>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DE1524F2-C631-23FA-2E23-64DACDDA1FFD}"/>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83984E34-8BC9-73F4-4E20-E47B31CC77DB}"/>
              </a:ext>
            </a:extLst>
          </p:cNvPr>
          <p:cNvSpPr txBox="1"/>
          <p:nvPr/>
        </p:nvSpPr>
        <p:spPr>
          <a:xfrm>
            <a:off x="1" y="2062810"/>
            <a:ext cx="5471652" cy="4549835"/>
          </a:xfrm>
          <a:prstGeom prst="rect">
            <a:avLst/>
          </a:prstGeom>
          <a:noFill/>
        </p:spPr>
        <p:txBody>
          <a:bodyPr wrap="square">
            <a:spAutoFit/>
          </a:bodyPr>
          <a:lstStyle/>
          <a:p>
            <a:pPr>
              <a:lnSpc>
                <a:spcPct val="150000"/>
              </a:lnSpc>
            </a:pPr>
            <a:r>
              <a:rPr lang="en-US" sz="2800" dirty="0">
                <a:latin typeface="Calibir"/>
              </a:rPr>
              <a:t>Which OOP principle is </a:t>
            </a:r>
            <a:r>
              <a:rPr lang="en-US" sz="2800" i="1" dirty="0">
                <a:latin typeface="Calibir"/>
              </a:rPr>
              <a:t>fully</a:t>
            </a:r>
            <a:r>
              <a:rPr lang="en-US" sz="2800" dirty="0">
                <a:latin typeface="Calibir"/>
              </a:rPr>
              <a:t> supported by Python?</a:t>
            </a:r>
          </a:p>
          <a:p>
            <a:pPr lvl="1">
              <a:lnSpc>
                <a:spcPct val="150000"/>
              </a:lnSpc>
            </a:pPr>
            <a:r>
              <a:rPr lang="en-US" sz="2800" dirty="0">
                <a:latin typeface="Calibir"/>
              </a:rPr>
              <a:t>a) Encapsulation</a:t>
            </a:r>
          </a:p>
          <a:p>
            <a:pPr lvl="1">
              <a:lnSpc>
                <a:spcPct val="150000"/>
              </a:lnSpc>
            </a:pPr>
            <a:r>
              <a:rPr lang="en-US" sz="2800" dirty="0">
                <a:latin typeface="Calibir"/>
              </a:rPr>
              <a:t>b) Inheritance</a:t>
            </a:r>
          </a:p>
          <a:p>
            <a:pPr lvl="1">
              <a:lnSpc>
                <a:spcPct val="150000"/>
              </a:lnSpc>
            </a:pPr>
            <a:r>
              <a:rPr lang="en-US" sz="2800" dirty="0">
                <a:latin typeface="Calibir"/>
              </a:rPr>
              <a:t>c) Polymorphism</a:t>
            </a:r>
          </a:p>
          <a:p>
            <a:pPr lvl="1">
              <a:lnSpc>
                <a:spcPct val="150000"/>
              </a:lnSpc>
            </a:pPr>
            <a:r>
              <a:rPr lang="en-US" sz="2800" dirty="0">
                <a:latin typeface="Calibir"/>
              </a:rPr>
              <a:t>d) Abstraction</a:t>
            </a:r>
          </a:p>
          <a:p>
            <a:pPr lvl="1">
              <a:lnSpc>
                <a:spcPct val="150000"/>
              </a:lnSpc>
            </a:pPr>
            <a:r>
              <a:rPr lang="en-US" sz="2800" dirty="0">
                <a:latin typeface="Calibir"/>
              </a:rPr>
              <a:t>e) All of the above</a:t>
            </a:r>
          </a:p>
        </p:txBody>
      </p:sp>
      <p:sp>
        <p:nvSpPr>
          <p:cNvPr id="5" name="TextBox 4">
            <a:extLst>
              <a:ext uri="{FF2B5EF4-FFF2-40B4-BE49-F238E27FC236}">
                <a16:creationId xmlns:a16="http://schemas.microsoft.com/office/drawing/2014/main" id="{39CFD2D4-6822-C376-DFDC-5C348193C116}"/>
              </a:ext>
            </a:extLst>
          </p:cNvPr>
          <p:cNvSpPr txBox="1"/>
          <p:nvPr/>
        </p:nvSpPr>
        <p:spPr>
          <a:xfrm>
            <a:off x="4950543" y="1072057"/>
            <a:ext cx="7241457" cy="5842497"/>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b="1" dirty="0">
                <a:latin typeface="Calibir"/>
              </a:rPr>
              <a:t>Encapsulation</a:t>
            </a:r>
            <a:r>
              <a:rPr lang="en-US" sz="2800" dirty="0">
                <a:latin typeface="Calibir"/>
              </a:rPr>
              <a:t> → Python lets you bundle data (attributes) and behavior (methods) inside classes.</a:t>
            </a:r>
          </a:p>
          <a:p>
            <a:pPr marL="457200" indent="-457200">
              <a:lnSpc>
                <a:spcPct val="150000"/>
              </a:lnSpc>
              <a:buFont typeface="Arial" panose="020B0604020202020204" pitchFamily="34" charset="0"/>
              <a:buChar char="•"/>
            </a:pPr>
            <a:r>
              <a:rPr lang="en-US" sz="2800" b="1" dirty="0">
                <a:latin typeface="Calibir"/>
              </a:rPr>
              <a:t>Inheritance</a:t>
            </a:r>
            <a:r>
              <a:rPr lang="en-US" sz="2800" dirty="0">
                <a:latin typeface="Calibir"/>
              </a:rPr>
              <a:t> → Classes can inherit from other classes, supporting single and multiple inheritance.</a:t>
            </a:r>
          </a:p>
          <a:p>
            <a:pPr marL="457200" indent="-457200">
              <a:lnSpc>
                <a:spcPct val="150000"/>
              </a:lnSpc>
              <a:buFont typeface="Arial" panose="020B0604020202020204" pitchFamily="34" charset="0"/>
              <a:buChar char="•"/>
            </a:pPr>
            <a:r>
              <a:rPr lang="en-US" sz="2800" b="1" dirty="0">
                <a:latin typeface="Calibir"/>
              </a:rPr>
              <a:t>Polymorphism</a:t>
            </a:r>
            <a:r>
              <a:rPr lang="en-US" sz="2800" dirty="0">
                <a:latin typeface="Calibir"/>
              </a:rPr>
              <a:t> → Methods with the same name can behave differently depending on the object (duck typing, method overriding).</a:t>
            </a:r>
          </a:p>
        </p:txBody>
      </p:sp>
    </p:spTree>
    <p:extLst>
      <p:ext uri="{BB962C8B-B14F-4D97-AF65-F5344CB8AC3E}">
        <p14:creationId xmlns:p14="http://schemas.microsoft.com/office/powerpoint/2010/main" val="143856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49E2A-866B-3010-D3C6-CBBFAD0B0E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8D5F75-1B86-DA47-5C8A-D862F606F859}"/>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20BD8974-E891-9024-20B1-F60E51FB9EF4}"/>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B81C6AF6-3290-ED1D-AD9A-76387B809F28}"/>
              </a:ext>
            </a:extLst>
          </p:cNvPr>
          <p:cNvSpPr txBox="1"/>
          <p:nvPr/>
        </p:nvSpPr>
        <p:spPr>
          <a:xfrm>
            <a:off x="1" y="2062810"/>
            <a:ext cx="5471652" cy="4549835"/>
          </a:xfrm>
          <a:prstGeom prst="rect">
            <a:avLst/>
          </a:prstGeom>
          <a:noFill/>
        </p:spPr>
        <p:txBody>
          <a:bodyPr wrap="square">
            <a:spAutoFit/>
          </a:bodyPr>
          <a:lstStyle/>
          <a:p>
            <a:pPr>
              <a:lnSpc>
                <a:spcPct val="150000"/>
              </a:lnSpc>
            </a:pPr>
            <a:r>
              <a:rPr lang="en-US" sz="2800" dirty="0">
                <a:latin typeface="Calibir"/>
              </a:rPr>
              <a:t>Which OOP principle is </a:t>
            </a:r>
            <a:r>
              <a:rPr lang="en-US" sz="2800" i="1" dirty="0">
                <a:latin typeface="Calibir"/>
              </a:rPr>
              <a:t>fully</a:t>
            </a:r>
            <a:r>
              <a:rPr lang="en-US" sz="2800" dirty="0">
                <a:latin typeface="Calibir"/>
              </a:rPr>
              <a:t> supported by Python?</a:t>
            </a:r>
          </a:p>
          <a:p>
            <a:pPr lvl="1">
              <a:lnSpc>
                <a:spcPct val="150000"/>
              </a:lnSpc>
            </a:pPr>
            <a:r>
              <a:rPr lang="en-US" sz="2800" dirty="0">
                <a:latin typeface="Calibir"/>
              </a:rPr>
              <a:t>a) Encapsulation</a:t>
            </a:r>
          </a:p>
          <a:p>
            <a:pPr lvl="1">
              <a:lnSpc>
                <a:spcPct val="150000"/>
              </a:lnSpc>
            </a:pPr>
            <a:r>
              <a:rPr lang="en-US" sz="2800" dirty="0">
                <a:latin typeface="Calibir"/>
              </a:rPr>
              <a:t>b) Inheritance</a:t>
            </a:r>
          </a:p>
          <a:p>
            <a:pPr lvl="1">
              <a:lnSpc>
                <a:spcPct val="150000"/>
              </a:lnSpc>
            </a:pPr>
            <a:r>
              <a:rPr lang="en-US" sz="2800" dirty="0">
                <a:latin typeface="Calibir"/>
              </a:rPr>
              <a:t>c) Polymorphism</a:t>
            </a:r>
          </a:p>
          <a:p>
            <a:pPr lvl="1">
              <a:lnSpc>
                <a:spcPct val="150000"/>
              </a:lnSpc>
            </a:pPr>
            <a:r>
              <a:rPr lang="en-US" sz="2800" dirty="0">
                <a:latin typeface="Calibir"/>
              </a:rPr>
              <a:t>d) Abstraction</a:t>
            </a:r>
          </a:p>
          <a:p>
            <a:pPr lvl="1">
              <a:lnSpc>
                <a:spcPct val="150000"/>
              </a:lnSpc>
            </a:pPr>
            <a:r>
              <a:rPr lang="en-US" sz="2800" dirty="0">
                <a:latin typeface="Calibir"/>
              </a:rPr>
              <a:t>e) All of the above</a:t>
            </a:r>
          </a:p>
        </p:txBody>
      </p:sp>
      <p:sp>
        <p:nvSpPr>
          <p:cNvPr id="5" name="TextBox 4">
            <a:extLst>
              <a:ext uri="{FF2B5EF4-FFF2-40B4-BE49-F238E27FC236}">
                <a16:creationId xmlns:a16="http://schemas.microsoft.com/office/drawing/2014/main" id="{ADBE320C-9CDD-A0D4-4A20-9D6017B1E744}"/>
              </a:ext>
            </a:extLst>
          </p:cNvPr>
          <p:cNvSpPr txBox="1"/>
          <p:nvPr/>
        </p:nvSpPr>
        <p:spPr>
          <a:xfrm>
            <a:off x="4950543" y="1072057"/>
            <a:ext cx="7241457" cy="325717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b="1" dirty="0">
                <a:latin typeface="Calibir"/>
              </a:rPr>
              <a:t>Abstraction → </a:t>
            </a:r>
            <a:r>
              <a:rPr lang="en-US" sz="2800" dirty="0">
                <a:latin typeface="Calibir"/>
              </a:rPr>
              <a:t>Achieved through abstract base classes (</a:t>
            </a:r>
            <a:r>
              <a:rPr lang="en-US" sz="2800" dirty="0" err="1">
                <a:latin typeface="Calibir"/>
              </a:rPr>
              <a:t>abc</a:t>
            </a:r>
            <a:r>
              <a:rPr lang="en-US" sz="2800" dirty="0">
                <a:latin typeface="Calibir"/>
              </a:rPr>
              <a:t> module) or by hiding implementation details behind methods.</a:t>
            </a:r>
          </a:p>
          <a:p>
            <a:pPr>
              <a:lnSpc>
                <a:spcPct val="150000"/>
              </a:lnSpc>
              <a:buNone/>
            </a:pPr>
            <a:r>
              <a:rPr lang="en-US" sz="2800" dirty="0">
                <a:latin typeface="Calibir"/>
              </a:rPr>
              <a:t>Python, as a fully object-oriented language, supports all four core OOP principles.</a:t>
            </a:r>
          </a:p>
        </p:txBody>
      </p:sp>
    </p:spTree>
    <p:extLst>
      <p:ext uri="{BB962C8B-B14F-4D97-AF65-F5344CB8AC3E}">
        <p14:creationId xmlns:p14="http://schemas.microsoft.com/office/powerpoint/2010/main" val="16911984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DAFBC-211A-2B6B-CC28-CE08B9BB20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427BAF-F08A-4A93-126A-E07F52D7525D}"/>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C2B7EAAC-FE49-62BD-098D-2E2C5ABA8AB8}"/>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F0E14A3E-F3B5-0038-AEC6-63D056B1A022}"/>
              </a:ext>
            </a:extLst>
          </p:cNvPr>
          <p:cNvSpPr txBox="1"/>
          <p:nvPr/>
        </p:nvSpPr>
        <p:spPr>
          <a:xfrm>
            <a:off x="0" y="2062810"/>
            <a:ext cx="5368413" cy="4549835"/>
          </a:xfrm>
          <a:prstGeom prst="rect">
            <a:avLst/>
          </a:prstGeom>
          <a:noFill/>
        </p:spPr>
        <p:txBody>
          <a:bodyPr wrap="square">
            <a:spAutoFit/>
          </a:bodyPr>
          <a:lstStyle/>
          <a:p>
            <a:pPr>
              <a:lnSpc>
                <a:spcPct val="150000"/>
              </a:lnSpc>
            </a:pPr>
            <a:r>
              <a:rPr lang="en-US" sz="2800" dirty="0">
                <a:latin typeface="Calibir"/>
              </a:rPr>
              <a:t>Which of the following is NOT suitable as an actor in a use-case model?</a:t>
            </a:r>
          </a:p>
          <a:p>
            <a:pPr lvl="1">
              <a:lnSpc>
                <a:spcPct val="150000"/>
              </a:lnSpc>
            </a:pPr>
            <a:r>
              <a:rPr lang="en-US" sz="2800" dirty="0">
                <a:latin typeface="Calibir"/>
              </a:rPr>
              <a:t>a) Online Banking System</a:t>
            </a:r>
          </a:p>
          <a:p>
            <a:pPr lvl="1">
              <a:lnSpc>
                <a:spcPct val="150000"/>
              </a:lnSpc>
            </a:pPr>
            <a:r>
              <a:rPr lang="en-US" sz="2800" dirty="0">
                <a:latin typeface="Calibir"/>
              </a:rPr>
              <a:t>b) Bank Customer</a:t>
            </a:r>
          </a:p>
          <a:p>
            <a:pPr lvl="1">
              <a:lnSpc>
                <a:spcPct val="150000"/>
              </a:lnSpc>
            </a:pPr>
            <a:r>
              <a:rPr lang="en-US" sz="2800" dirty="0">
                <a:latin typeface="Calibir"/>
              </a:rPr>
              <a:t>c) Security Guard</a:t>
            </a:r>
          </a:p>
          <a:p>
            <a:pPr lvl="1">
              <a:lnSpc>
                <a:spcPct val="150000"/>
              </a:lnSpc>
            </a:pPr>
            <a:r>
              <a:rPr lang="en-US" sz="2800" dirty="0">
                <a:latin typeface="Calibir"/>
              </a:rPr>
              <a:t>d) Teller Machine</a:t>
            </a:r>
          </a:p>
        </p:txBody>
      </p:sp>
      <p:sp>
        <p:nvSpPr>
          <p:cNvPr id="5" name="TextBox 4">
            <a:extLst>
              <a:ext uri="{FF2B5EF4-FFF2-40B4-BE49-F238E27FC236}">
                <a16:creationId xmlns:a16="http://schemas.microsoft.com/office/drawing/2014/main" id="{B21EB4AF-77D2-764E-476E-0CA484B23D2D}"/>
              </a:ext>
            </a:extLst>
          </p:cNvPr>
          <p:cNvSpPr txBox="1"/>
          <p:nvPr/>
        </p:nvSpPr>
        <p:spPr>
          <a:xfrm>
            <a:off x="5021826" y="1072057"/>
            <a:ext cx="7170174" cy="325717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In a use-case model, an actor is something outside the system that interacts with it (like a customer, a guard, or an ATM).</a:t>
            </a:r>
          </a:p>
          <a:p>
            <a:pPr marL="457200" indent="-457200">
              <a:lnSpc>
                <a:spcPct val="150000"/>
              </a:lnSpc>
              <a:buFont typeface="Arial" panose="020B0604020202020204" pitchFamily="34" charset="0"/>
              <a:buChar char="•"/>
            </a:pPr>
            <a:r>
              <a:rPr lang="en-US" sz="2800" dirty="0">
                <a:latin typeface="Calibir"/>
              </a:rPr>
              <a:t>The system itself is </a:t>
            </a:r>
            <a:r>
              <a:rPr lang="en-US" sz="2800" i="1" dirty="0">
                <a:latin typeface="Calibir"/>
              </a:rPr>
              <a:t>not</a:t>
            </a:r>
            <a:r>
              <a:rPr lang="en-US" sz="2800" dirty="0">
                <a:latin typeface="Calibir"/>
              </a:rPr>
              <a:t> an actor — it’s the subject being modeled.</a:t>
            </a:r>
          </a:p>
        </p:txBody>
      </p:sp>
    </p:spTree>
    <p:extLst>
      <p:ext uri="{BB962C8B-B14F-4D97-AF65-F5344CB8AC3E}">
        <p14:creationId xmlns:p14="http://schemas.microsoft.com/office/powerpoint/2010/main" val="1510576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03EC8-C5D5-D271-1F1D-99F5758E79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F4F963-CF36-E985-A648-0D33BE639DA6}"/>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6269AFBA-3F11-EB33-4F85-73A688BC0140}"/>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68F26057-226C-2FA7-EC56-CA411AB73190}"/>
              </a:ext>
            </a:extLst>
          </p:cNvPr>
          <p:cNvSpPr txBox="1"/>
          <p:nvPr/>
        </p:nvSpPr>
        <p:spPr>
          <a:xfrm>
            <a:off x="0" y="2062810"/>
            <a:ext cx="5368413" cy="4549835"/>
          </a:xfrm>
          <a:prstGeom prst="rect">
            <a:avLst/>
          </a:prstGeom>
          <a:noFill/>
        </p:spPr>
        <p:txBody>
          <a:bodyPr wrap="square">
            <a:spAutoFit/>
          </a:bodyPr>
          <a:lstStyle/>
          <a:p>
            <a:pPr>
              <a:lnSpc>
                <a:spcPct val="150000"/>
              </a:lnSpc>
            </a:pPr>
            <a:r>
              <a:rPr lang="en-US" sz="2800" dirty="0">
                <a:latin typeface="Calibir"/>
              </a:rPr>
              <a:t>Which of the following is NOT suitable as an actor in a use-case model?</a:t>
            </a:r>
          </a:p>
          <a:p>
            <a:pPr lvl="1">
              <a:lnSpc>
                <a:spcPct val="150000"/>
              </a:lnSpc>
            </a:pPr>
            <a:r>
              <a:rPr lang="en-US" sz="2800" dirty="0">
                <a:latin typeface="Calibir"/>
              </a:rPr>
              <a:t>a) Online Banking System</a:t>
            </a:r>
          </a:p>
          <a:p>
            <a:pPr lvl="1">
              <a:lnSpc>
                <a:spcPct val="150000"/>
              </a:lnSpc>
            </a:pPr>
            <a:r>
              <a:rPr lang="en-US" sz="2800" dirty="0">
                <a:latin typeface="Calibir"/>
              </a:rPr>
              <a:t>b) Bank Customer</a:t>
            </a:r>
          </a:p>
          <a:p>
            <a:pPr lvl="1">
              <a:lnSpc>
                <a:spcPct val="150000"/>
              </a:lnSpc>
            </a:pPr>
            <a:r>
              <a:rPr lang="en-US" sz="2800" dirty="0">
                <a:latin typeface="Calibir"/>
              </a:rPr>
              <a:t>c) Security Guard</a:t>
            </a:r>
          </a:p>
          <a:p>
            <a:pPr lvl="1">
              <a:lnSpc>
                <a:spcPct val="150000"/>
              </a:lnSpc>
            </a:pPr>
            <a:r>
              <a:rPr lang="en-US" sz="2800" dirty="0">
                <a:latin typeface="Calibir"/>
              </a:rPr>
              <a:t>d) Teller Machine</a:t>
            </a:r>
          </a:p>
        </p:txBody>
      </p:sp>
      <p:sp>
        <p:nvSpPr>
          <p:cNvPr id="5" name="TextBox 4">
            <a:extLst>
              <a:ext uri="{FF2B5EF4-FFF2-40B4-BE49-F238E27FC236}">
                <a16:creationId xmlns:a16="http://schemas.microsoft.com/office/drawing/2014/main" id="{F1FD48D8-9722-69D9-EEA6-250B763016DE}"/>
              </a:ext>
            </a:extLst>
          </p:cNvPr>
          <p:cNvSpPr txBox="1"/>
          <p:nvPr/>
        </p:nvSpPr>
        <p:spPr>
          <a:xfrm>
            <a:off x="5021826" y="1072057"/>
            <a:ext cx="7170174" cy="390350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So while the Bank Customer, Security Guard, and Teller Machine can all act as external actors, the Online Banking System is the system boundary, not an actor.</a:t>
            </a:r>
          </a:p>
          <a:p>
            <a:pPr>
              <a:lnSpc>
                <a:spcPct val="150000"/>
              </a:lnSpc>
              <a:buNone/>
            </a:pPr>
            <a:r>
              <a:rPr lang="en-US" sz="2800" dirty="0">
                <a:latin typeface="Calibir"/>
              </a:rPr>
              <a:t>Therefore, Online Banking System is NOT suitable as an actor.</a:t>
            </a:r>
          </a:p>
        </p:txBody>
      </p:sp>
    </p:spTree>
    <p:extLst>
      <p:ext uri="{BB962C8B-B14F-4D97-AF65-F5344CB8AC3E}">
        <p14:creationId xmlns:p14="http://schemas.microsoft.com/office/powerpoint/2010/main" val="29095226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5EA01-4A2D-B5CA-305E-E1974D06C5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C1EB02-38AB-6BEE-64EA-31920CD5AD58}"/>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38000F7A-5970-5136-E7BA-B44C66555F27}"/>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2162AEB0-78AB-D4E2-0AE4-E11DAA51C745}"/>
              </a:ext>
            </a:extLst>
          </p:cNvPr>
          <p:cNvSpPr txBox="1"/>
          <p:nvPr/>
        </p:nvSpPr>
        <p:spPr>
          <a:xfrm>
            <a:off x="0" y="2062810"/>
            <a:ext cx="6990735" cy="4549835"/>
          </a:xfrm>
          <a:prstGeom prst="rect">
            <a:avLst/>
          </a:prstGeom>
          <a:noFill/>
        </p:spPr>
        <p:txBody>
          <a:bodyPr wrap="square">
            <a:spAutoFit/>
          </a:bodyPr>
          <a:lstStyle/>
          <a:p>
            <a:pPr>
              <a:lnSpc>
                <a:spcPct val="150000"/>
              </a:lnSpc>
            </a:pPr>
            <a:r>
              <a:rPr lang="en-US" sz="2800" dirty="0">
                <a:latin typeface="Calibir"/>
              </a:rPr>
              <a:t>Which of the following is NOT an advantage of Agile?</a:t>
            </a:r>
          </a:p>
          <a:p>
            <a:pPr lvl="1">
              <a:lnSpc>
                <a:spcPct val="150000"/>
              </a:lnSpc>
            </a:pPr>
            <a:r>
              <a:rPr lang="en-US" sz="2800" dirty="0">
                <a:latin typeface="Calibir"/>
              </a:rPr>
              <a:t>a) Continuous testing each cycle</a:t>
            </a:r>
          </a:p>
          <a:p>
            <a:pPr lvl="1">
              <a:lnSpc>
                <a:spcPct val="150000"/>
              </a:lnSpc>
            </a:pPr>
            <a:r>
              <a:rPr lang="en-US" sz="2800" dirty="0">
                <a:latin typeface="Calibir"/>
              </a:rPr>
              <a:t>b) Requirements remain fixed throughout the project</a:t>
            </a:r>
          </a:p>
          <a:p>
            <a:pPr lvl="1">
              <a:lnSpc>
                <a:spcPct val="150000"/>
              </a:lnSpc>
            </a:pPr>
            <a:r>
              <a:rPr lang="en-US" sz="2800" dirty="0">
                <a:latin typeface="Calibir"/>
              </a:rPr>
              <a:t>c) Flexible backlog with user-story changes</a:t>
            </a:r>
          </a:p>
          <a:p>
            <a:pPr lvl="1">
              <a:lnSpc>
                <a:spcPct val="150000"/>
              </a:lnSpc>
            </a:pPr>
            <a:r>
              <a:rPr lang="en-US" sz="2800" dirty="0">
                <a:latin typeface="Calibir"/>
              </a:rPr>
              <a:t>d) Active customer collaboration</a:t>
            </a:r>
          </a:p>
        </p:txBody>
      </p:sp>
      <p:sp>
        <p:nvSpPr>
          <p:cNvPr id="5" name="TextBox 4">
            <a:extLst>
              <a:ext uri="{FF2B5EF4-FFF2-40B4-BE49-F238E27FC236}">
                <a16:creationId xmlns:a16="http://schemas.microsoft.com/office/drawing/2014/main" id="{03DAB59A-1B5D-EE99-EDE7-B6F22E2AC56C}"/>
              </a:ext>
            </a:extLst>
          </p:cNvPr>
          <p:cNvSpPr txBox="1"/>
          <p:nvPr/>
        </p:nvSpPr>
        <p:spPr>
          <a:xfrm>
            <a:off x="6990735" y="1244757"/>
            <a:ext cx="5201265" cy="4549835"/>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Agile is all about flexibility — requirements can change anytime through the backlog and user stories.</a:t>
            </a:r>
          </a:p>
          <a:p>
            <a:pPr marL="457200" indent="-457200">
              <a:lnSpc>
                <a:spcPct val="150000"/>
              </a:lnSpc>
              <a:buFont typeface="Arial" panose="020B0604020202020204" pitchFamily="34" charset="0"/>
              <a:buChar char="•"/>
            </a:pPr>
            <a:r>
              <a:rPr lang="en-US" sz="2800" dirty="0">
                <a:latin typeface="Calibir"/>
              </a:rPr>
              <a:t>(a) Continuous testing each cycle → Agile promotes iterative testing.</a:t>
            </a:r>
          </a:p>
        </p:txBody>
      </p:sp>
    </p:spTree>
    <p:extLst>
      <p:ext uri="{BB962C8B-B14F-4D97-AF65-F5344CB8AC3E}">
        <p14:creationId xmlns:p14="http://schemas.microsoft.com/office/powerpoint/2010/main" val="566215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235B5-8404-6C8D-E15B-9D5BBB302B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2F3B7B-A809-B387-4680-F5FED200A217}"/>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7006F7C1-88A5-BE77-6F8F-0AD72360CC22}"/>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D1E92FD0-2A5F-19BF-E612-A2EAEB791E70}"/>
              </a:ext>
            </a:extLst>
          </p:cNvPr>
          <p:cNvSpPr txBox="1"/>
          <p:nvPr/>
        </p:nvSpPr>
        <p:spPr>
          <a:xfrm>
            <a:off x="0" y="2062810"/>
            <a:ext cx="6990735" cy="4549835"/>
          </a:xfrm>
          <a:prstGeom prst="rect">
            <a:avLst/>
          </a:prstGeom>
          <a:noFill/>
        </p:spPr>
        <p:txBody>
          <a:bodyPr wrap="square">
            <a:spAutoFit/>
          </a:bodyPr>
          <a:lstStyle/>
          <a:p>
            <a:pPr>
              <a:lnSpc>
                <a:spcPct val="150000"/>
              </a:lnSpc>
            </a:pPr>
            <a:r>
              <a:rPr lang="en-US" sz="2800" dirty="0">
                <a:latin typeface="Calibir"/>
              </a:rPr>
              <a:t>Which of the following is NOT an advantage of Agile?</a:t>
            </a:r>
          </a:p>
          <a:p>
            <a:pPr lvl="1">
              <a:lnSpc>
                <a:spcPct val="150000"/>
              </a:lnSpc>
            </a:pPr>
            <a:r>
              <a:rPr lang="en-US" sz="2800" dirty="0">
                <a:latin typeface="Calibir"/>
              </a:rPr>
              <a:t>a) Continuous testing each cycle</a:t>
            </a:r>
          </a:p>
          <a:p>
            <a:pPr lvl="1">
              <a:lnSpc>
                <a:spcPct val="150000"/>
              </a:lnSpc>
            </a:pPr>
            <a:r>
              <a:rPr lang="en-US" sz="2800" dirty="0">
                <a:latin typeface="Calibir"/>
              </a:rPr>
              <a:t>b) Requirements remain fixed throughout the project</a:t>
            </a:r>
          </a:p>
          <a:p>
            <a:pPr lvl="1">
              <a:lnSpc>
                <a:spcPct val="150000"/>
              </a:lnSpc>
            </a:pPr>
            <a:r>
              <a:rPr lang="en-US" sz="2800" dirty="0">
                <a:latin typeface="Calibir"/>
              </a:rPr>
              <a:t>c) Flexible backlog with user-story changes</a:t>
            </a:r>
          </a:p>
          <a:p>
            <a:pPr lvl="1">
              <a:lnSpc>
                <a:spcPct val="150000"/>
              </a:lnSpc>
            </a:pPr>
            <a:r>
              <a:rPr lang="en-US" sz="2800" dirty="0">
                <a:latin typeface="Calibir"/>
              </a:rPr>
              <a:t>d) Active customer collaboration</a:t>
            </a:r>
          </a:p>
        </p:txBody>
      </p:sp>
      <p:sp>
        <p:nvSpPr>
          <p:cNvPr id="5" name="TextBox 4">
            <a:extLst>
              <a:ext uri="{FF2B5EF4-FFF2-40B4-BE49-F238E27FC236}">
                <a16:creationId xmlns:a16="http://schemas.microsoft.com/office/drawing/2014/main" id="{3FE3AE68-A097-D155-CDF3-DBCCE245C54F}"/>
              </a:ext>
            </a:extLst>
          </p:cNvPr>
          <p:cNvSpPr txBox="1"/>
          <p:nvPr/>
        </p:nvSpPr>
        <p:spPr>
          <a:xfrm>
            <a:off x="6990735" y="1244757"/>
            <a:ext cx="5201265" cy="4549835"/>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(c) Flexible backlog  → Agile backlog evolves with feedback.</a:t>
            </a:r>
          </a:p>
          <a:p>
            <a:pPr marL="457200" indent="-457200">
              <a:lnSpc>
                <a:spcPct val="150000"/>
              </a:lnSpc>
              <a:buFont typeface="Arial" panose="020B0604020202020204" pitchFamily="34" charset="0"/>
              <a:buChar char="•"/>
            </a:pPr>
            <a:r>
              <a:rPr lang="en-US" sz="2800" dirty="0">
                <a:latin typeface="Calibir"/>
              </a:rPr>
              <a:t>(d) Active customer collaboration  → Core Agile principle.</a:t>
            </a:r>
          </a:p>
          <a:p>
            <a:pPr>
              <a:lnSpc>
                <a:spcPct val="150000"/>
              </a:lnSpc>
              <a:buNone/>
            </a:pPr>
            <a:r>
              <a:rPr lang="en-US" sz="2800" dirty="0">
                <a:latin typeface="Calibir"/>
              </a:rPr>
              <a:t>Fixed requirements go against Agile, so (b) is NOT an advantage.</a:t>
            </a:r>
          </a:p>
        </p:txBody>
      </p:sp>
    </p:spTree>
    <p:extLst>
      <p:ext uri="{BB962C8B-B14F-4D97-AF65-F5344CB8AC3E}">
        <p14:creationId xmlns:p14="http://schemas.microsoft.com/office/powerpoint/2010/main" val="32667215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5BCEB-AFD4-5158-A669-285AB8AB2F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2E9D5-D65E-A5F9-0859-4C83EAAEDE8A}"/>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98ADCA5C-E953-FA24-30F8-6C31BFCB0E2E}"/>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2D2B19BF-7911-3BEA-BFCA-06435E2594A2}"/>
              </a:ext>
            </a:extLst>
          </p:cNvPr>
          <p:cNvSpPr txBox="1"/>
          <p:nvPr/>
        </p:nvSpPr>
        <p:spPr>
          <a:xfrm>
            <a:off x="0" y="2062809"/>
            <a:ext cx="5982930" cy="4549835"/>
          </a:xfrm>
          <a:prstGeom prst="rect">
            <a:avLst/>
          </a:prstGeom>
          <a:noFill/>
        </p:spPr>
        <p:txBody>
          <a:bodyPr wrap="square">
            <a:spAutoFit/>
          </a:bodyPr>
          <a:lstStyle/>
          <a:p>
            <a:pPr>
              <a:lnSpc>
                <a:spcPct val="150000"/>
              </a:lnSpc>
            </a:pPr>
            <a:r>
              <a:rPr lang="en-US" sz="2800" dirty="0">
                <a:latin typeface="Calibir"/>
              </a:rPr>
              <a:t>In OOP, what is an </a:t>
            </a:r>
            <a:r>
              <a:rPr lang="en-US" sz="2800" i="1" dirty="0">
                <a:latin typeface="Calibir"/>
              </a:rPr>
              <a:t>object</a:t>
            </a:r>
            <a:r>
              <a:rPr lang="en-US" sz="2800" dirty="0">
                <a:latin typeface="Calibir"/>
              </a:rPr>
              <a:t>?</a:t>
            </a:r>
          </a:p>
          <a:p>
            <a:pPr lvl="1">
              <a:lnSpc>
                <a:spcPct val="150000"/>
              </a:lnSpc>
            </a:pPr>
            <a:r>
              <a:rPr lang="en-US" sz="2800" dirty="0">
                <a:latin typeface="Calibir"/>
              </a:rPr>
              <a:t>a) Blueprint to create classes</a:t>
            </a:r>
          </a:p>
          <a:p>
            <a:pPr lvl="1">
              <a:lnSpc>
                <a:spcPct val="150000"/>
              </a:lnSpc>
            </a:pPr>
            <a:r>
              <a:rPr lang="en-US" sz="2800" dirty="0">
                <a:latin typeface="Calibir"/>
              </a:rPr>
              <a:t>b) A class instance with attributes and methods</a:t>
            </a:r>
          </a:p>
          <a:p>
            <a:pPr lvl="1">
              <a:lnSpc>
                <a:spcPct val="150000"/>
              </a:lnSpc>
            </a:pPr>
            <a:r>
              <a:rPr lang="en-US" sz="2800" dirty="0">
                <a:latin typeface="Calibir"/>
              </a:rPr>
              <a:t>c) A method header only</a:t>
            </a:r>
          </a:p>
          <a:p>
            <a:pPr lvl="1">
              <a:lnSpc>
                <a:spcPct val="150000"/>
              </a:lnSpc>
            </a:pPr>
            <a:r>
              <a:rPr lang="en-US" sz="2800" dirty="0">
                <a:latin typeface="Calibir"/>
              </a:rPr>
              <a:t>d) A template that contains only functions</a:t>
            </a:r>
          </a:p>
        </p:txBody>
      </p:sp>
      <p:sp>
        <p:nvSpPr>
          <p:cNvPr id="5" name="TextBox 4">
            <a:extLst>
              <a:ext uri="{FF2B5EF4-FFF2-40B4-BE49-F238E27FC236}">
                <a16:creationId xmlns:a16="http://schemas.microsoft.com/office/drawing/2014/main" id="{3FEBAE7D-D313-852C-7F22-E320A1943D23}"/>
              </a:ext>
            </a:extLst>
          </p:cNvPr>
          <p:cNvSpPr txBox="1"/>
          <p:nvPr/>
        </p:nvSpPr>
        <p:spPr>
          <a:xfrm>
            <a:off x="5982930" y="1072057"/>
            <a:ext cx="6209070" cy="5842497"/>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A class is the blueprint.</a:t>
            </a:r>
          </a:p>
          <a:p>
            <a:pPr marL="457200" indent="-457200">
              <a:lnSpc>
                <a:spcPct val="150000"/>
              </a:lnSpc>
              <a:buFont typeface="Arial" panose="020B0604020202020204" pitchFamily="34" charset="0"/>
              <a:buChar char="•"/>
            </a:pPr>
            <a:r>
              <a:rPr lang="en-US" sz="2800" dirty="0">
                <a:latin typeface="Calibir"/>
              </a:rPr>
              <a:t>An object is a real instance created from that class.</a:t>
            </a:r>
          </a:p>
          <a:p>
            <a:pPr marL="457200" indent="-457200">
              <a:lnSpc>
                <a:spcPct val="150000"/>
              </a:lnSpc>
              <a:buFont typeface="Arial" panose="020B0604020202020204" pitchFamily="34" charset="0"/>
              <a:buChar char="•"/>
            </a:pPr>
            <a:r>
              <a:rPr lang="en-US" sz="2800" dirty="0">
                <a:latin typeface="Calibir"/>
              </a:rPr>
              <a:t>It carries attributes (data) and methods (behavior).</a:t>
            </a:r>
          </a:p>
          <a:p>
            <a:pPr marL="457200" indent="-457200">
              <a:lnSpc>
                <a:spcPct val="150000"/>
              </a:lnSpc>
              <a:buFont typeface="Arial" panose="020B0604020202020204" pitchFamily="34" charset="0"/>
              <a:buChar char="•"/>
            </a:pPr>
            <a:r>
              <a:rPr lang="en-US" sz="2800" dirty="0">
                <a:latin typeface="Calibir"/>
              </a:rPr>
              <a:t>Options (a), (c), and (d) confuse the role of classes vs. objects.</a:t>
            </a:r>
          </a:p>
          <a:p>
            <a:pPr>
              <a:lnSpc>
                <a:spcPct val="150000"/>
              </a:lnSpc>
              <a:buNone/>
            </a:pPr>
            <a:r>
              <a:rPr lang="en-US" sz="2800" dirty="0">
                <a:latin typeface="Calibir"/>
              </a:rPr>
              <a:t>So: Object = a working instance of a class with data + behavior.</a:t>
            </a:r>
          </a:p>
        </p:txBody>
      </p:sp>
    </p:spTree>
    <p:extLst>
      <p:ext uri="{BB962C8B-B14F-4D97-AF65-F5344CB8AC3E}">
        <p14:creationId xmlns:p14="http://schemas.microsoft.com/office/powerpoint/2010/main" val="820632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F0563-179C-8B1B-68BC-3A56035112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E05798-CF83-F822-0C90-853813126C11}"/>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35C996DC-195E-F787-9E77-CAF68666E0E4}"/>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654424B6-9908-1EFF-5450-1C09940923ED}"/>
              </a:ext>
            </a:extLst>
          </p:cNvPr>
          <p:cNvSpPr txBox="1"/>
          <p:nvPr/>
        </p:nvSpPr>
        <p:spPr>
          <a:xfrm>
            <a:off x="0" y="2062810"/>
            <a:ext cx="7020232" cy="3903504"/>
          </a:xfrm>
          <a:prstGeom prst="rect">
            <a:avLst/>
          </a:prstGeom>
          <a:noFill/>
        </p:spPr>
        <p:txBody>
          <a:bodyPr wrap="square">
            <a:spAutoFit/>
          </a:bodyPr>
          <a:lstStyle/>
          <a:p>
            <a:pPr>
              <a:lnSpc>
                <a:spcPct val="150000"/>
              </a:lnSpc>
            </a:pPr>
            <a:r>
              <a:rPr lang="en-US" sz="2800" dirty="0">
                <a:latin typeface="Calibir"/>
              </a:rPr>
              <a:t>Which is correct about functions vs. procedures?</a:t>
            </a:r>
          </a:p>
          <a:p>
            <a:pPr lvl="1" eaLnBrk="0" fontAlgn="base" hangingPunct="0">
              <a:lnSpc>
                <a:spcPct val="150000"/>
              </a:lnSpc>
              <a:spcBef>
                <a:spcPct val="0"/>
              </a:spcBef>
              <a:spcAft>
                <a:spcPct val="0"/>
              </a:spcAft>
            </a:pPr>
            <a:r>
              <a:rPr lang="en-US" altLang="en-US" sz="2800" dirty="0">
                <a:latin typeface="Calibir"/>
              </a:rPr>
              <a:t>a) Functions always return a value</a:t>
            </a:r>
          </a:p>
          <a:p>
            <a:pPr lvl="1" eaLnBrk="0" fontAlgn="base" hangingPunct="0">
              <a:lnSpc>
                <a:spcPct val="150000"/>
              </a:lnSpc>
              <a:spcBef>
                <a:spcPct val="0"/>
              </a:spcBef>
              <a:spcAft>
                <a:spcPct val="0"/>
              </a:spcAft>
            </a:pPr>
            <a:r>
              <a:rPr lang="en-US" altLang="en-US" sz="2800" dirty="0">
                <a:latin typeface="Calibir"/>
              </a:rPr>
              <a:t>b) Procedures return values like functions</a:t>
            </a:r>
          </a:p>
          <a:p>
            <a:pPr lvl="1" eaLnBrk="0" fontAlgn="base" hangingPunct="0">
              <a:lnSpc>
                <a:spcPct val="150000"/>
              </a:lnSpc>
              <a:spcBef>
                <a:spcPct val="0"/>
              </a:spcBef>
              <a:spcAft>
                <a:spcPct val="0"/>
              </a:spcAft>
            </a:pPr>
            <a:r>
              <a:rPr lang="en-US" altLang="en-US" sz="2800" dirty="0">
                <a:latin typeface="Calibir"/>
              </a:rPr>
              <a:t>c) Functions cannot be assigned to variables</a:t>
            </a:r>
          </a:p>
          <a:p>
            <a:pPr lvl="1" eaLnBrk="0" fontAlgn="base" hangingPunct="0">
              <a:lnSpc>
                <a:spcPct val="150000"/>
              </a:lnSpc>
              <a:spcBef>
                <a:spcPct val="0"/>
              </a:spcBef>
              <a:spcAft>
                <a:spcPct val="0"/>
              </a:spcAft>
            </a:pPr>
            <a:r>
              <a:rPr lang="en-US" altLang="en-US" sz="2800" dirty="0">
                <a:latin typeface="Calibir"/>
              </a:rPr>
              <a:t>d) Functions and procedures are identical</a:t>
            </a:r>
          </a:p>
        </p:txBody>
      </p:sp>
      <p:sp>
        <p:nvSpPr>
          <p:cNvPr id="5" name="TextBox 4">
            <a:extLst>
              <a:ext uri="{FF2B5EF4-FFF2-40B4-BE49-F238E27FC236}">
                <a16:creationId xmlns:a16="http://schemas.microsoft.com/office/drawing/2014/main" id="{2E3C18DC-CC59-1BB6-3871-978D85E73947}"/>
              </a:ext>
            </a:extLst>
          </p:cNvPr>
          <p:cNvSpPr txBox="1"/>
          <p:nvPr/>
        </p:nvSpPr>
        <p:spPr>
          <a:xfrm>
            <a:off x="7020232" y="1072057"/>
            <a:ext cx="5171768" cy="390350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A function performs a task and returns a value (e.g., sum(2,3) returns 5).</a:t>
            </a:r>
          </a:p>
          <a:p>
            <a:pPr marL="457200" indent="-457200">
              <a:lnSpc>
                <a:spcPct val="150000"/>
              </a:lnSpc>
              <a:buFont typeface="Arial" panose="020B0604020202020204" pitchFamily="34" charset="0"/>
              <a:buChar char="•"/>
            </a:pPr>
            <a:r>
              <a:rPr lang="en-US" sz="2800" dirty="0">
                <a:latin typeface="Calibir"/>
              </a:rPr>
              <a:t>A procedure performs a task but does not return a value (it just executes steps).</a:t>
            </a:r>
          </a:p>
        </p:txBody>
      </p:sp>
    </p:spTree>
    <p:extLst>
      <p:ext uri="{BB962C8B-B14F-4D97-AF65-F5344CB8AC3E}">
        <p14:creationId xmlns:p14="http://schemas.microsoft.com/office/powerpoint/2010/main" val="4202865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8E499-8CC1-74F9-CAB3-820707E3FD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3E6601-6AE6-8108-78FE-D88FC7B4AEB1}"/>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5A040242-67AD-3C7D-920D-F74AD576132D}"/>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2160766F-4B96-FDC9-D590-B9BB45503353}"/>
              </a:ext>
            </a:extLst>
          </p:cNvPr>
          <p:cNvSpPr txBox="1"/>
          <p:nvPr/>
        </p:nvSpPr>
        <p:spPr>
          <a:xfrm>
            <a:off x="0" y="2062810"/>
            <a:ext cx="7020232" cy="3903504"/>
          </a:xfrm>
          <a:prstGeom prst="rect">
            <a:avLst/>
          </a:prstGeom>
          <a:noFill/>
        </p:spPr>
        <p:txBody>
          <a:bodyPr wrap="square">
            <a:spAutoFit/>
          </a:bodyPr>
          <a:lstStyle/>
          <a:p>
            <a:pPr>
              <a:lnSpc>
                <a:spcPct val="150000"/>
              </a:lnSpc>
            </a:pPr>
            <a:r>
              <a:rPr lang="en-US" sz="2800" dirty="0">
                <a:latin typeface="Calibir"/>
              </a:rPr>
              <a:t>Which is correct about functions vs. procedures?</a:t>
            </a:r>
          </a:p>
          <a:p>
            <a:pPr lvl="1" eaLnBrk="0" fontAlgn="base" hangingPunct="0">
              <a:lnSpc>
                <a:spcPct val="150000"/>
              </a:lnSpc>
              <a:spcBef>
                <a:spcPct val="0"/>
              </a:spcBef>
              <a:spcAft>
                <a:spcPct val="0"/>
              </a:spcAft>
            </a:pPr>
            <a:r>
              <a:rPr lang="en-US" altLang="en-US" sz="2800" dirty="0">
                <a:latin typeface="Calibir"/>
              </a:rPr>
              <a:t>a) Functions always return a value</a:t>
            </a:r>
          </a:p>
          <a:p>
            <a:pPr lvl="1" eaLnBrk="0" fontAlgn="base" hangingPunct="0">
              <a:lnSpc>
                <a:spcPct val="150000"/>
              </a:lnSpc>
              <a:spcBef>
                <a:spcPct val="0"/>
              </a:spcBef>
              <a:spcAft>
                <a:spcPct val="0"/>
              </a:spcAft>
            </a:pPr>
            <a:r>
              <a:rPr lang="en-US" altLang="en-US" sz="2800" dirty="0">
                <a:latin typeface="Calibir"/>
              </a:rPr>
              <a:t>b) Procedures return values like functions</a:t>
            </a:r>
          </a:p>
          <a:p>
            <a:pPr lvl="1" eaLnBrk="0" fontAlgn="base" hangingPunct="0">
              <a:lnSpc>
                <a:spcPct val="150000"/>
              </a:lnSpc>
              <a:spcBef>
                <a:spcPct val="0"/>
              </a:spcBef>
              <a:spcAft>
                <a:spcPct val="0"/>
              </a:spcAft>
            </a:pPr>
            <a:r>
              <a:rPr lang="en-US" altLang="en-US" sz="2800" dirty="0">
                <a:latin typeface="Calibir"/>
              </a:rPr>
              <a:t>c) Functions cannot be assigned to variables</a:t>
            </a:r>
          </a:p>
          <a:p>
            <a:pPr lvl="1" eaLnBrk="0" fontAlgn="base" hangingPunct="0">
              <a:lnSpc>
                <a:spcPct val="150000"/>
              </a:lnSpc>
              <a:spcBef>
                <a:spcPct val="0"/>
              </a:spcBef>
              <a:spcAft>
                <a:spcPct val="0"/>
              </a:spcAft>
            </a:pPr>
            <a:r>
              <a:rPr lang="en-US" altLang="en-US" sz="2800" dirty="0">
                <a:latin typeface="Calibir"/>
              </a:rPr>
              <a:t>d) Functions and procedures are identical</a:t>
            </a:r>
          </a:p>
        </p:txBody>
      </p:sp>
      <p:sp>
        <p:nvSpPr>
          <p:cNvPr id="5" name="TextBox 4">
            <a:extLst>
              <a:ext uri="{FF2B5EF4-FFF2-40B4-BE49-F238E27FC236}">
                <a16:creationId xmlns:a16="http://schemas.microsoft.com/office/drawing/2014/main" id="{D9F6C9A4-2699-422C-0ECC-71B4B1483360}"/>
              </a:ext>
            </a:extLst>
          </p:cNvPr>
          <p:cNvSpPr txBox="1"/>
          <p:nvPr/>
        </p:nvSpPr>
        <p:spPr>
          <a:xfrm>
            <a:off x="7020232" y="1072057"/>
            <a:ext cx="5171768" cy="5196166"/>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(b) is wrong → procedures don’t normally return values.</a:t>
            </a:r>
          </a:p>
          <a:p>
            <a:pPr marL="457200" indent="-457200">
              <a:lnSpc>
                <a:spcPct val="150000"/>
              </a:lnSpc>
              <a:buFont typeface="Arial" panose="020B0604020202020204" pitchFamily="34" charset="0"/>
              <a:buChar char="•"/>
            </a:pPr>
            <a:r>
              <a:rPr lang="en-US" sz="2800" dirty="0">
                <a:latin typeface="Calibir"/>
              </a:rPr>
              <a:t>(c) is wrong → functions can be assigned to variables.</a:t>
            </a:r>
          </a:p>
          <a:p>
            <a:pPr marL="457200" indent="-457200">
              <a:lnSpc>
                <a:spcPct val="150000"/>
              </a:lnSpc>
              <a:buFont typeface="Arial" panose="020B0604020202020204" pitchFamily="34" charset="0"/>
              <a:buChar char="•"/>
            </a:pPr>
            <a:r>
              <a:rPr lang="en-US" sz="2800" dirty="0">
                <a:latin typeface="Calibir"/>
              </a:rPr>
              <a:t>(d) is wrong → they are not identical, their purpose differs.</a:t>
            </a:r>
          </a:p>
          <a:p>
            <a:pPr>
              <a:lnSpc>
                <a:spcPct val="150000"/>
              </a:lnSpc>
              <a:buNone/>
            </a:pPr>
            <a:r>
              <a:rPr lang="en-US" sz="2800" dirty="0">
                <a:latin typeface="Calibir"/>
              </a:rPr>
              <a:t>So: Functions return values; procedures just carry out actions.</a:t>
            </a:r>
          </a:p>
        </p:txBody>
      </p:sp>
    </p:spTree>
    <p:extLst>
      <p:ext uri="{BB962C8B-B14F-4D97-AF65-F5344CB8AC3E}">
        <p14:creationId xmlns:p14="http://schemas.microsoft.com/office/powerpoint/2010/main" val="25835026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28892-82A2-219E-FB44-7D3A4EFF56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673C54-2075-0D96-A732-184961C06A5B}"/>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E9E6ECEF-E141-B1E9-BDDD-6F518828B411}"/>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8EA90E86-2973-2CCC-A626-30E2EC743358}"/>
              </a:ext>
            </a:extLst>
          </p:cNvPr>
          <p:cNvSpPr txBox="1"/>
          <p:nvPr/>
        </p:nvSpPr>
        <p:spPr>
          <a:xfrm>
            <a:off x="1" y="2062810"/>
            <a:ext cx="4955458" cy="3903504"/>
          </a:xfrm>
          <a:prstGeom prst="rect">
            <a:avLst/>
          </a:prstGeom>
          <a:noFill/>
        </p:spPr>
        <p:txBody>
          <a:bodyPr wrap="square">
            <a:spAutoFit/>
          </a:bodyPr>
          <a:lstStyle/>
          <a:p>
            <a:pPr>
              <a:lnSpc>
                <a:spcPct val="150000"/>
              </a:lnSpc>
            </a:pPr>
            <a:r>
              <a:rPr lang="en-US" sz="2800" dirty="0">
                <a:latin typeface="Calibir"/>
              </a:rPr>
              <a:t>Which symbol denotes a protected field in UML?</a:t>
            </a:r>
          </a:p>
          <a:p>
            <a:pPr lvl="1">
              <a:lnSpc>
                <a:spcPct val="150000"/>
              </a:lnSpc>
            </a:pPr>
            <a:r>
              <a:rPr lang="en-US" sz="2800" dirty="0">
                <a:latin typeface="Calibir"/>
              </a:rPr>
              <a:t>a) +</a:t>
            </a:r>
          </a:p>
          <a:p>
            <a:pPr lvl="1">
              <a:lnSpc>
                <a:spcPct val="150000"/>
              </a:lnSpc>
            </a:pPr>
            <a:r>
              <a:rPr lang="en-US" sz="2800" dirty="0">
                <a:latin typeface="Calibir"/>
              </a:rPr>
              <a:t>b) -</a:t>
            </a:r>
          </a:p>
          <a:p>
            <a:pPr lvl="1">
              <a:lnSpc>
                <a:spcPct val="150000"/>
              </a:lnSpc>
            </a:pPr>
            <a:r>
              <a:rPr lang="en-US" sz="2800" dirty="0">
                <a:latin typeface="Calibir"/>
              </a:rPr>
              <a:t>c) #</a:t>
            </a:r>
          </a:p>
          <a:p>
            <a:pPr lvl="1">
              <a:lnSpc>
                <a:spcPct val="150000"/>
              </a:lnSpc>
            </a:pPr>
            <a:r>
              <a:rPr lang="en-US" sz="2800" dirty="0">
                <a:latin typeface="Calibir"/>
              </a:rPr>
              <a:t>d) ~</a:t>
            </a:r>
          </a:p>
        </p:txBody>
      </p:sp>
      <p:sp>
        <p:nvSpPr>
          <p:cNvPr id="5" name="TextBox 4">
            <a:extLst>
              <a:ext uri="{FF2B5EF4-FFF2-40B4-BE49-F238E27FC236}">
                <a16:creationId xmlns:a16="http://schemas.microsoft.com/office/drawing/2014/main" id="{D3019862-5F86-1152-112A-ED45DE55CA80}"/>
              </a:ext>
            </a:extLst>
          </p:cNvPr>
          <p:cNvSpPr txBox="1"/>
          <p:nvPr/>
        </p:nvSpPr>
        <p:spPr>
          <a:xfrm>
            <a:off x="5272548" y="2062810"/>
            <a:ext cx="6919451" cy="4546950"/>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 → Public</a:t>
            </a:r>
          </a:p>
          <a:p>
            <a:pPr marL="457200" indent="-457200">
              <a:lnSpc>
                <a:spcPct val="150000"/>
              </a:lnSpc>
              <a:buFont typeface="Arial" panose="020B0604020202020204" pitchFamily="34" charset="0"/>
              <a:buChar char="•"/>
            </a:pPr>
            <a:r>
              <a:rPr lang="en-US" sz="2800" dirty="0">
                <a:latin typeface="Calibir"/>
              </a:rPr>
              <a:t>- → Private</a:t>
            </a:r>
          </a:p>
          <a:p>
            <a:pPr marL="457200" indent="-457200">
              <a:lnSpc>
                <a:spcPct val="150000"/>
              </a:lnSpc>
              <a:buFont typeface="Arial" panose="020B0604020202020204" pitchFamily="34" charset="0"/>
              <a:buChar char="•"/>
            </a:pPr>
            <a:r>
              <a:rPr lang="en-US" sz="2800" dirty="0">
                <a:latin typeface="Calibir"/>
              </a:rPr>
              <a:t># → Protected (accessible to the class itself and its subclasses)</a:t>
            </a:r>
          </a:p>
          <a:p>
            <a:pPr marL="457200" indent="-457200">
              <a:lnSpc>
                <a:spcPct val="150000"/>
              </a:lnSpc>
              <a:buFont typeface="Arial" panose="020B0604020202020204" pitchFamily="34" charset="0"/>
              <a:buChar char="•"/>
            </a:pPr>
            <a:r>
              <a:rPr lang="en-US" sz="2800" dirty="0">
                <a:latin typeface="Calibir"/>
              </a:rPr>
              <a:t>~ → Package (default, accessible within the same package)</a:t>
            </a:r>
          </a:p>
          <a:p>
            <a:pPr>
              <a:lnSpc>
                <a:spcPct val="150000"/>
              </a:lnSpc>
              <a:buNone/>
            </a:pPr>
            <a:r>
              <a:rPr lang="en-US" sz="2800" dirty="0">
                <a:latin typeface="Calibir"/>
              </a:rPr>
              <a:t>So, in UML: Protected field = #</a:t>
            </a:r>
          </a:p>
        </p:txBody>
      </p:sp>
    </p:spTree>
    <p:extLst>
      <p:ext uri="{BB962C8B-B14F-4D97-AF65-F5344CB8AC3E}">
        <p14:creationId xmlns:p14="http://schemas.microsoft.com/office/powerpoint/2010/main" val="4274789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1000"/>
                                        <p:tgtEl>
                                          <p:spTgt spid="5">
                                            <p:txEl>
                                              <p:pRg st="1" end="1"/>
                                            </p:txEl>
                                          </p:spTgt>
                                        </p:tgtEl>
                                      </p:cBhvr>
                                    </p:animEffect>
                                    <p:anim calcmode="lin" valueType="num">
                                      <p:cBhvr>
                                        <p:cTn id="13"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1000"/>
                                        <p:tgtEl>
                                          <p:spTgt spid="5">
                                            <p:txEl>
                                              <p:pRg st="2" end="2"/>
                                            </p:txEl>
                                          </p:spTgt>
                                        </p:tgtEl>
                                      </p:cBhvr>
                                    </p:animEffect>
                                    <p:anim calcmode="lin" valueType="num">
                                      <p:cBhvr>
                                        <p:cTn id="1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1000"/>
                                        <p:tgtEl>
                                          <p:spTgt spid="5">
                                            <p:txEl>
                                              <p:pRg st="3" end="3"/>
                                            </p:txEl>
                                          </p:spTgt>
                                        </p:tgtEl>
                                      </p:cBhvr>
                                    </p:animEffect>
                                    <p:anim calcmode="lin" valueType="num">
                                      <p:cBhvr>
                                        <p:cTn id="2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1000"/>
                                        <p:tgtEl>
                                          <p:spTgt spid="5">
                                            <p:txEl>
                                              <p:pRg st="4" end="4"/>
                                            </p:txEl>
                                          </p:spTgt>
                                        </p:tgtEl>
                                      </p:cBhvr>
                                    </p:animEffect>
                                    <p:anim calcmode="lin" valueType="num">
                                      <p:cBhvr>
                                        <p:cTn id="2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DA9CD-1967-456B-B3D0-014368A6B4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6A18C2-734A-16E7-F995-1086FE05185C}"/>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C1AA303C-0C3D-8249-3B94-E10B7C51F88E}"/>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42593B34-BC63-9D8D-1CB1-573B9E1063DC}"/>
              </a:ext>
            </a:extLst>
          </p:cNvPr>
          <p:cNvSpPr txBox="1"/>
          <p:nvPr/>
        </p:nvSpPr>
        <p:spPr>
          <a:xfrm>
            <a:off x="0" y="2062810"/>
            <a:ext cx="4955458" cy="3903504"/>
          </a:xfrm>
          <a:prstGeom prst="rect">
            <a:avLst/>
          </a:prstGeom>
          <a:noFill/>
        </p:spPr>
        <p:txBody>
          <a:bodyPr wrap="square">
            <a:spAutoFit/>
          </a:bodyPr>
          <a:lstStyle/>
          <a:p>
            <a:pPr>
              <a:lnSpc>
                <a:spcPct val="150000"/>
              </a:lnSpc>
            </a:pPr>
            <a:r>
              <a:rPr lang="en-US" sz="2800" dirty="0">
                <a:latin typeface="Calibir"/>
              </a:rPr>
              <a:t>Inheritance usually involves what type of attribute visibility?</a:t>
            </a:r>
          </a:p>
          <a:p>
            <a:pPr lvl="1">
              <a:lnSpc>
                <a:spcPct val="150000"/>
              </a:lnSpc>
            </a:pPr>
            <a:r>
              <a:rPr lang="en-US" sz="2800" dirty="0">
                <a:latin typeface="Calibir"/>
              </a:rPr>
              <a:t>a) Public</a:t>
            </a:r>
          </a:p>
          <a:p>
            <a:pPr lvl="1">
              <a:lnSpc>
                <a:spcPct val="150000"/>
              </a:lnSpc>
            </a:pPr>
            <a:r>
              <a:rPr lang="en-US" sz="2800" dirty="0">
                <a:latin typeface="Calibir"/>
              </a:rPr>
              <a:t>b) Protected</a:t>
            </a:r>
          </a:p>
          <a:p>
            <a:pPr lvl="1">
              <a:lnSpc>
                <a:spcPct val="150000"/>
              </a:lnSpc>
            </a:pPr>
            <a:r>
              <a:rPr lang="en-US" sz="2800" dirty="0">
                <a:latin typeface="Calibir"/>
              </a:rPr>
              <a:t>c) Private</a:t>
            </a:r>
          </a:p>
          <a:p>
            <a:pPr lvl="1">
              <a:lnSpc>
                <a:spcPct val="150000"/>
              </a:lnSpc>
            </a:pPr>
            <a:r>
              <a:rPr lang="en-US" sz="2800" dirty="0">
                <a:latin typeface="Calibir"/>
              </a:rPr>
              <a:t>d) Package</a:t>
            </a:r>
          </a:p>
        </p:txBody>
      </p:sp>
      <p:sp>
        <p:nvSpPr>
          <p:cNvPr id="5" name="TextBox 4">
            <a:extLst>
              <a:ext uri="{FF2B5EF4-FFF2-40B4-BE49-F238E27FC236}">
                <a16:creationId xmlns:a16="http://schemas.microsoft.com/office/drawing/2014/main" id="{BA1A2984-8C80-8FEE-2ABA-6F7839CC5AD8}"/>
              </a:ext>
            </a:extLst>
          </p:cNvPr>
          <p:cNvSpPr txBox="1"/>
          <p:nvPr/>
        </p:nvSpPr>
        <p:spPr>
          <a:xfrm>
            <a:off x="5331542" y="1072057"/>
            <a:ext cx="6209070" cy="390350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b="1" dirty="0">
                <a:latin typeface="Calibir"/>
              </a:rPr>
              <a:t>Inheritance</a:t>
            </a:r>
            <a:r>
              <a:rPr lang="en-US" sz="2800" dirty="0">
                <a:latin typeface="Calibir"/>
              </a:rPr>
              <a:t> means a child class can reuse attributes/methods of its parent.</a:t>
            </a:r>
          </a:p>
          <a:p>
            <a:pPr marL="457200" indent="-457200">
              <a:lnSpc>
                <a:spcPct val="150000"/>
              </a:lnSpc>
              <a:buFont typeface="Arial" panose="020B0604020202020204" pitchFamily="34" charset="0"/>
              <a:buChar char="•"/>
            </a:pPr>
            <a:r>
              <a:rPr lang="en-US" sz="2800" b="1" dirty="0">
                <a:latin typeface="Calibir"/>
              </a:rPr>
              <a:t>Protected (#)</a:t>
            </a:r>
            <a:r>
              <a:rPr lang="en-US" sz="2800" dirty="0">
                <a:latin typeface="Calibir"/>
              </a:rPr>
              <a:t> members are designed for inheritance → they are accessible within the class </a:t>
            </a:r>
            <a:r>
              <a:rPr lang="en-US" sz="2800" b="1" dirty="0">
                <a:latin typeface="Calibir"/>
              </a:rPr>
              <a:t>and</a:t>
            </a:r>
            <a:r>
              <a:rPr lang="en-US" sz="2800" dirty="0">
                <a:latin typeface="Calibir"/>
              </a:rPr>
              <a:t> its subclasses.</a:t>
            </a:r>
          </a:p>
        </p:txBody>
      </p:sp>
    </p:spTree>
    <p:extLst>
      <p:ext uri="{BB962C8B-B14F-4D97-AF65-F5344CB8AC3E}">
        <p14:creationId xmlns:p14="http://schemas.microsoft.com/office/powerpoint/2010/main" val="3150079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64548-2480-DCFE-711B-43CE5CD60E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3FC126-AF4C-3229-A4F9-F313DEC7A2FE}"/>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66A5815D-1695-8D1E-DBFA-F68595F0E9F0}"/>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F2B180F1-54E5-5D4E-4390-7350F3BADA22}"/>
              </a:ext>
            </a:extLst>
          </p:cNvPr>
          <p:cNvSpPr txBox="1"/>
          <p:nvPr/>
        </p:nvSpPr>
        <p:spPr>
          <a:xfrm>
            <a:off x="0" y="2062810"/>
            <a:ext cx="4955458" cy="3903504"/>
          </a:xfrm>
          <a:prstGeom prst="rect">
            <a:avLst/>
          </a:prstGeom>
          <a:noFill/>
        </p:spPr>
        <p:txBody>
          <a:bodyPr wrap="square">
            <a:spAutoFit/>
          </a:bodyPr>
          <a:lstStyle/>
          <a:p>
            <a:pPr>
              <a:lnSpc>
                <a:spcPct val="150000"/>
              </a:lnSpc>
            </a:pPr>
            <a:r>
              <a:rPr lang="en-US" sz="2800" dirty="0">
                <a:latin typeface="Calibir"/>
              </a:rPr>
              <a:t>Inheritance usually involves what type of attribute visibility?</a:t>
            </a:r>
          </a:p>
          <a:p>
            <a:pPr lvl="1">
              <a:lnSpc>
                <a:spcPct val="150000"/>
              </a:lnSpc>
            </a:pPr>
            <a:r>
              <a:rPr lang="en-US" sz="2800" dirty="0">
                <a:latin typeface="Calibir"/>
              </a:rPr>
              <a:t>a) Public</a:t>
            </a:r>
          </a:p>
          <a:p>
            <a:pPr lvl="1">
              <a:lnSpc>
                <a:spcPct val="150000"/>
              </a:lnSpc>
            </a:pPr>
            <a:r>
              <a:rPr lang="en-US" sz="2800" dirty="0">
                <a:latin typeface="Calibir"/>
              </a:rPr>
              <a:t>b) Protected</a:t>
            </a:r>
          </a:p>
          <a:p>
            <a:pPr lvl="1">
              <a:lnSpc>
                <a:spcPct val="150000"/>
              </a:lnSpc>
            </a:pPr>
            <a:r>
              <a:rPr lang="en-US" sz="2800" dirty="0">
                <a:latin typeface="Calibir"/>
              </a:rPr>
              <a:t>c) Private</a:t>
            </a:r>
          </a:p>
          <a:p>
            <a:pPr lvl="1">
              <a:lnSpc>
                <a:spcPct val="150000"/>
              </a:lnSpc>
            </a:pPr>
            <a:r>
              <a:rPr lang="en-US" sz="2800" dirty="0">
                <a:latin typeface="Calibir"/>
              </a:rPr>
              <a:t>d) Package</a:t>
            </a:r>
          </a:p>
        </p:txBody>
      </p:sp>
      <p:sp>
        <p:nvSpPr>
          <p:cNvPr id="5" name="TextBox 4">
            <a:extLst>
              <a:ext uri="{FF2B5EF4-FFF2-40B4-BE49-F238E27FC236}">
                <a16:creationId xmlns:a16="http://schemas.microsoft.com/office/drawing/2014/main" id="{2542B1CE-0395-FCC8-A740-7ECA0205AC4A}"/>
              </a:ext>
            </a:extLst>
          </p:cNvPr>
          <p:cNvSpPr txBox="1"/>
          <p:nvPr/>
        </p:nvSpPr>
        <p:spPr>
          <a:xfrm>
            <a:off x="5331542" y="1072057"/>
            <a:ext cx="6209070" cy="5196166"/>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b="1" dirty="0">
                <a:latin typeface="Calibir"/>
              </a:rPr>
              <a:t>Public</a:t>
            </a:r>
            <a:r>
              <a:rPr lang="en-US" sz="2800" dirty="0">
                <a:latin typeface="Calibir"/>
              </a:rPr>
              <a:t> members are visible everywhere (not just inheritance).</a:t>
            </a:r>
          </a:p>
          <a:p>
            <a:pPr marL="457200" indent="-457200">
              <a:lnSpc>
                <a:spcPct val="150000"/>
              </a:lnSpc>
              <a:buFont typeface="Arial" panose="020B0604020202020204" pitchFamily="34" charset="0"/>
              <a:buChar char="•"/>
            </a:pPr>
            <a:r>
              <a:rPr lang="en-US" sz="2800" b="1" dirty="0">
                <a:latin typeface="Calibir"/>
              </a:rPr>
              <a:t>Private</a:t>
            </a:r>
            <a:r>
              <a:rPr lang="en-US" sz="2800" dirty="0">
                <a:latin typeface="Calibir"/>
              </a:rPr>
              <a:t> members are hidden from subclasses.</a:t>
            </a:r>
          </a:p>
          <a:p>
            <a:pPr marL="457200" indent="-457200">
              <a:lnSpc>
                <a:spcPct val="150000"/>
              </a:lnSpc>
              <a:buFont typeface="Arial" panose="020B0604020202020204" pitchFamily="34" charset="0"/>
              <a:buChar char="•"/>
            </a:pPr>
            <a:r>
              <a:rPr lang="en-US" sz="2800" b="1" dirty="0">
                <a:latin typeface="Calibir"/>
              </a:rPr>
              <a:t>Package (~)</a:t>
            </a:r>
            <a:r>
              <a:rPr lang="en-US" sz="2800" dirty="0">
                <a:latin typeface="Calibir"/>
              </a:rPr>
              <a:t> is limited to classes in the same package.</a:t>
            </a:r>
          </a:p>
          <a:p>
            <a:pPr>
              <a:lnSpc>
                <a:spcPct val="150000"/>
              </a:lnSpc>
              <a:buNone/>
            </a:pPr>
            <a:r>
              <a:rPr lang="en-US" sz="2800" dirty="0">
                <a:latin typeface="Calibir"/>
              </a:rPr>
              <a:t>So: Inheritance usually works with protected attributes.</a:t>
            </a:r>
          </a:p>
        </p:txBody>
      </p:sp>
    </p:spTree>
    <p:extLst>
      <p:ext uri="{BB962C8B-B14F-4D97-AF65-F5344CB8AC3E}">
        <p14:creationId xmlns:p14="http://schemas.microsoft.com/office/powerpoint/2010/main" val="25672531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5E80C-F05C-90A5-4F28-60D05F71B1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35D652-7B1A-9868-6EF0-1DE273A5F953}"/>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9495B4F9-19C6-EDC7-27EF-4570E6E51ADD}"/>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CFBA7DE2-DB98-5653-0261-8D573C5076B6}"/>
              </a:ext>
            </a:extLst>
          </p:cNvPr>
          <p:cNvSpPr txBox="1"/>
          <p:nvPr/>
        </p:nvSpPr>
        <p:spPr>
          <a:xfrm>
            <a:off x="0" y="2062810"/>
            <a:ext cx="5501148" cy="3257174"/>
          </a:xfrm>
          <a:prstGeom prst="rect">
            <a:avLst/>
          </a:prstGeom>
          <a:noFill/>
        </p:spPr>
        <p:txBody>
          <a:bodyPr wrap="square">
            <a:spAutoFit/>
          </a:bodyPr>
          <a:lstStyle/>
          <a:p>
            <a:pPr>
              <a:lnSpc>
                <a:spcPct val="150000"/>
              </a:lnSpc>
            </a:pPr>
            <a:r>
              <a:rPr lang="en-US" sz="2800" dirty="0">
                <a:latin typeface="Calibir"/>
              </a:rPr>
              <a:t>What are attributes in a class?</a:t>
            </a:r>
          </a:p>
          <a:p>
            <a:pPr lvl="1">
              <a:lnSpc>
                <a:spcPct val="150000"/>
              </a:lnSpc>
            </a:pPr>
            <a:r>
              <a:rPr lang="en-US" sz="2800" dirty="0">
                <a:latin typeface="Calibir"/>
              </a:rPr>
              <a:t>a) Data fields that describe state</a:t>
            </a:r>
          </a:p>
          <a:p>
            <a:pPr lvl="1">
              <a:lnSpc>
                <a:spcPct val="150000"/>
              </a:lnSpc>
            </a:pPr>
            <a:r>
              <a:rPr lang="en-US" sz="2800" dirty="0">
                <a:latin typeface="Calibir"/>
              </a:rPr>
              <a:t>b) Local variables inside methods</a:t>
            </a:r>
          </a:p>
          <a:p>
            <a:pPr lvl="1">
              <a:lnSpc>
                <a:spcPct val="150000"/>
              </a:lnSpc>
            </a:pPr>
            <a:r>
              <a:rPr lang="en-US" sz="2800" dirty="0">
                <a:latin typeface="Calibir"/>
              </a:rPr>
              <a:t>c) Methods that perform actions</a:t>
            </a:r>
          </a:p>
          <a:p>
            <a:pPr lvl="1">
              <a:lnSpc>
                <a:spcPct val="150000"/>
              </a:lnSpc>
            </a:pPr>
            <a:r>
              <a:rPr lang="en-US" sz="2800" dirty="0">
                <a:latin typeface="Calibir"/>
              </a:rPr>
              <a:t>d) Class operations</a:t>
            </a:r>
          </a:p>
        </p:txBody>
      </p:sp>
      <p:sp>
        <p:nvSpPr>
          <p:cNvPr id="5" name="TextBox 4">
            <a:extLst>
              <a:ext uri="{FF2B5EF4-FFF2-40B4-BE49-F238E27FC236}">
                <a16:creationId xmlns:a16="http://schemas.microsoft.com/office/drawing/2014/main" id="{D8F0447C-B175-A598-0C81-029FC163858F}"/>
              </a:ext>
            </a:extLst>
          </p:cNvPr>
          <p:cNvSpPr txBox="1"/>
          <p:nvPr/>
        </p:nvSpPr>
        <p:spPr>
          <a:xfrm>
            <a:off x="5501148" y="1242450"/>
            <a:ext cx="6690852" cy="390350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Attributes are variables inside a class that store information about the object’s state (e.g., name, age in a Person class).</a:t>
            </a:r>
          </a:p>
          <a:p>
            <a:pPr marL="457200" indent="-457200">
              <a:lnSpc>
                <a:spcPct val="150000"/>
              </a:lnSpc>
              <a:buFont typeface="Arial" panose="020B0604020202020204" pitchFamily="34" charset="0"/>
              <a:buChar char="•"/>
            </a:pPr>
            <a:r>
              <a:rPr lang="en-US" sz="2800" dirty="0">
                <a:latin typeface="Calibir"/>
              </a:rPr>
              <a:t>(b) Local variables exist only inside a method, not across the whole object.</a:t>
            </a:r>
          </a:p>
          <a:p>
            <a:pPr marL="457200" indent="-457200">
              <a:lnSpc>
                <a:spcPct val="150000"/>
              </a:lnSpc>
              <a:buFont typeface="Arial" panose="020B0604020202020204" pitchFamily="34" charset="0"/>
              <a:buChar char="•"/>
            </a:pPr>
            <a:r>
              <a:rPr lang="en-US" sz="2800" dirty="0">
                <a:latin typeface="Calibir"/>
              </a:rPr>
              <a:t>(c) Methods are behaviors, not attributes.</a:t>
            </a:r>
          </a:p>
        </p:txBody>
      </p:sp>
    </p:spTree>
    <p:extLst>
      <p:ext uri="{BB962C8B-B14F-4D97-AF65-F5344CB8AC3E}">
        <p14:creationId xmlns:p14="http://schemas.microsoft.com/office/powerpoint/2010/main" val="808859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23456-A65D-8E60-CABE-88F22D124C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9A0974-5CC7-F22F-C080-4C961E857B9D}"/>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D49D41F2-8726-310A-927E-BD58FABDE132}"/>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F829D214-DBB5-841E-A15F-BE6C2AC9AE50}"/>
              </a:ext>
            </a:extLst>
          </p:cNvPr>
          <p:cNvSpPr txBox="1"/>
          <p:nvPr/>
        </p:nvSpPr>
        <p:spPr>
          <a:xfrm>
            <a:off x="0" y="2062810"/>
            <a:ext cx="5501148" cy="3257174"/>
          </a:xfrm>
          <a:prstGeom prst="rect">
            <a:avLst/>
          </a:prstGeom>
          <a:noFill/>
        </p:spPr>
        <p:txBody>
          <a:bodyPr wrap="square">
            <a:spAutoFit/>
          </a:bodyPr>
          <a:lstStyle/>
          <a:p>
            <a:pPr>
              <a:lnSpc>
                <a:spcPct val="150000"/>
              </a:lnSpc>
            </a:pPr>
            <a:r>
              <a:rPr lang="en-US" sz="2800" dirty="0">
                <a:latin typeface="Calibir"/>
              </a:rPr>
              <a:t>What are attributes in a class?</a:t>
            </a:r>
          </a:p>
          <a:p>
            <a:pPr lvl="1">
              <a:lnSpc>
                <a:spcPct val="150000"/>
              </a:lnSpc>
            </a:pPr>
            <a:r>
              <a:rPr lang="en-US" sz="2800" dirty="0">
                <a:latin typeface="Calibir"/>
              </a:rPr>
              <a:t>a) Data fields that describe state</a:t>
            </a:r>
          </a:p>
          <a:p>
            <a:pPr lvl="1">
              <a:lnSpc>
                <a:spcPct val="150000"/>
              </a:lnSpc>
            </a:pPr>
            <a:r>
              <a:rPr lang="en-US" sz="2800" dirty="0">
                <a:latin typeface="Calibir"/>
              </a:rPr>
              <a:t>b) Local variables inside methods</a:t>
            </a:r>
          </a:p>
          <a:p>
            <a:pPr lvl="1">
              <a:lnSpc>
                <a:spcPct val="150000"/>
              </a:lnSpc>
            </a:pPr>
            <a:r>
              <a:rPr lang="en-US" sz="2800" dirty="0">
                <a:latin typeface="Calibir"/>
              </a:rPr>
              <a:t>c) Methods that perform actions</a:t>
            </a:r>
          </a:p>
          <a:p>
            <a:pPr lvl="1">
              <a:lnSpc>
                <a:spcPct val="150000"/>
              </a:lnSpc>
            </a:pPr>
            <a:r>
              <a:rPr lang="en-US" sz="2800" dirty="0">
                <a:latin typeface="Calibir"/>
              </a:rPr>
              <a:t>d) Class operations</a:t>
            </a:r>
          </a:p>
        </p:txBody>
      </p:sp>
      <p:sp>
        <p:nvSpPr>
          <p:cNvPr id="5" name="TextBox 4">
            <a:extLst>
              <a:ext uri="{FF2B5EF4-FFF2-40B4-BE49-F238E27FC236}">
                <a16:creationId xmlns:a16="http://schemas.microsoft.com/office/drawing/2014/main" id="{6F5E95A8-3029-F67B-3467-948D52E0D94A}"/>
              </a:ext>
            </a:extLst>
          </p:cNvPr>
          <p:cNvSpPr txBox="1"/>
          <p:nvPr/>
        </p:nvSpPr>
        <p:spPr>
          <a:xfrm>
            <a:off x="5501148" y="1242450"/>
            <a:ext cx="6690852" cy="2610843"/>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(d) Class operations refer to actions, not stored data.</a:t>
            </a:r>
          </a:p>
          <a:p>
            <a:pPr>
              <a:lnSpc>
                <a:spcPct val="150000"/>
              </a:lnSpc>
              <a:buNone/>
            </a:pPr>
            <a:r>
              <a:rPr lang="en-US" sz="2800" dirty="0">
                <a:latin typeface="Calibir"/>
              </a:rPr>
              <a:t>So: Attributes = data fields that hold the state of an object.</a:t>
            </a:r>
          </a:p>
        </p:txBody>
      </p:sp>
    </p:spTree>
    <p:extLst>
      <p:ext uri="{BB962C8B-B14F-4D97-AF65-F5344CB8AC3E}">
        <p14:creationId xmlns:p14="http://schemas.microsoft.com/office/powerpoint/2010/main" val="6788121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A8DFF-EB12-8F66-0A5D-111D01E07C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E24E33-4D00-8D2C-57DF-CA376C359362}"/>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FC125EE3-2913-DE9E-B731-4E5BBCA294B6}"/>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F7A43D14-6252-3973-645A-9B413F3F7CAE}"/>
              </a:ext>
            </a:extLst>
          </p:cNvPr>
          <p:cNvSpPr txBox="1"/>
          <p:nvPr/>
        </p:nvSpPr>
        <p:spPr>
          <a:xfrm>
            <a:off x="0" y="1747498"/>
            <a:ext cx="7949381" cy="5196166"/>
          </a:xfrm>
          <a:prstGeom prst="rect">
            <a:avLst/>
          </a:prstGeom>
          <a:noFill/>
        </p:spPr>
        <p:txBody>
          <a:bodyPr wrap="square">
            <a:spAutoFit/>
          </a:bodyPr>
          <a:lstStyle/>
          <a:p>
            <a:pPr>
              <a:lnSpc>
                <a:spcPct val="150000"/>
              </a:lnSpc>
            </a:pPr>
            <a:r>
              <a:rPr lang="en-US" sz="2800" dirty="0">
                <a:latin typeface="Calibir"/>
              </a:rPr>
              <a:t>Which statement is NOT correct in OOP design?</a:t>
            </a:r>
          </a:p>
          <a:p>
            <a:pPr lvl="1">
              <a:lnSpc>
                <a:spcPct val="150000"/>
              </a:lnSpc>
            </a:pPr>
            <a:r>
              <a:rPr lang="en-US" sz="2800" dirty="0">
                <a:latin typeface="Calibir"/>
              </a:rPr>
              <a:t>a) A superclass can have multiple subclasses</a:t>
            </a:r>
          </a:p>
          <a:p>
            <a:pPr lvl="1">
              <a:lnSpc>
                <a:spcPct val="150000"/>
              </a:lnSpc>
            </a:pPr>
            <a:r>
              <a:rPr lang="en-US" sz="2800" dirty="0">
                <a:latin typeface="Calibir"/>
              </a:rPr>
              <a:t>b) Abstraction hides method details, shows behavior</a:t>
            </a:r>
          </a:p>
          <a:p>
            <a:pPr lvl="1">
              <a:lnSpc>
                <a:spcPct val="150000"/>
              </a:lnSpc>
            </a:pPr>
            <a:r>
              <a:rPr lang="en-US" sz="2800" dirty="0">
                <a:latin typeface="Calibir"/>
              </a:rPr>
              <a:t>c) A subclass can inherit from multiple </a:t>
            </a:r>
            <a:r>
              <a:rPr lang="en-US" sz="2800" dirty="0" err="1">
                <a:latin typeface="Calibir"/>
              </a:rPr>
              <a:t>superclasses</a:t>
            </a:r>
            <a:r>
              <a:rPr lang="en-US" sz="2800" dirty="0">
                <a:latin typeface="Calibir"/>
              </a:rPr>
              <a:t> in all languages</a:t>
            </a:r>
          </a:p>
          <a:p>
            <a:pPr lvl="1">
              <a:lnSpc>
                <a:spcPct val="150000"/>
              </a:lnSpc>
            </a:pPr>
            <a:r>
              <a:rPr lang="en-US" sz="2800" dirty="0">
                <a:latin typeface="Calibir"/>
              </a:rPr>
              <a:t>d) Encapsulation bundles data with related methods</a:t>
            </a:r>
          </a:p>
        </p:txBody>
      </p:sp>
      <p:sp>
        <p:nvSpPr>
          <p:cNvPr id="5" name="TextBox 4">
            <a:extLst>
              <a:ext uri="{FF2B5EF4-FFF2-40B4-BE49-F238E27FC236}">
                <a16:creationId xmlns:a16="http://schemas.microsoft.com/office/drawing/2014/main" id="{EEDB6F77-D722-A6E7-E64B-2E18F6BE09C1}"/>
              </a:ext>
            </a:extLst>
          </p:cNvPr>
          <p:cNvSpPr txBox="1"/>
          <p:nvPr/>
        </p:nvSpPr>
        <p:spPr>
          <a:xfrm>
            <a:off x="7248832" y="1234215"/>
            <a:ext cx="4943168" cy="5623784"/>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200" dirty="0">
                <a:latin typeface="Calibir"/>
              </a:rPr>
              <a:t>(a) True → One superclass can have many subclasses.</a:t>
            </a:r>
          </a:p>
          <a:p>
            <a:pPr marL="342900" indent="-342900">
              <a:lnSpc>
                <a:spcPct val="150000"/>
              </a:lnSpc>
              <a:buFont typeface="Arial" panose="020B0604020202020204" pitchFamily="34" charset="0"/>
              <a:buChar char="•"/>
            </a:pPr>
            <a:r>
              <a:rPr lang="en-US" sz="2200" dirty="0">
                <a:latin typeface="Calibir"/>
              </a:rPr>
              <a:t>(b) True → Abstraction shows “what” a method does, not “how.”</a:t>
            </a:r>
          </a:p>
          <a:p>
            <a:pPr marL="342900" indent="-342900">
              <a:lnSpc>
                <a:spcPct val="150000"/>
              </a:lnSpc>
              <a:buFont typeface="Arial" panose="020B0604020202020204" pitchFamily="34" charset="0"/>
              <a:buChar char="•"/>
            </a:pPr>
            <a:r>
              <a:rPr lang="en-US" sz="2200" dirty="0">
                <a:latin typeface="Calibir"/>
              </a:rPr>
              <a:t>(c) Not true → Multiple inheritance is not supported in all languages (e.g., Java doesn’t allow it directly, only through interfaces).</a:t>
            </a:r>
          </a:p>
          <a:p>
            <a:pPr marL="342900" indent="-342900">
              <a:lnSpc>
                <a:spcPct val="150000"/>
              </a:lnSpc>
              <a:buFont typeface="Arial" panose="020B0604020202020204" pitchFamily="34" charset="0"/>
              <a:buChar char="•"/>
            </a:pPr>
            <a:r>
              <a:rPr lang="en-US" sz="2200" dirty="0">
                <a:latin typeface="Calibir"/>
              </a:rPr>
              <a:t>(d) True → Encapsulation = grouping data and methods together.</a:t>
            </a:r>
          </a:p>
          <a:p>
            <a:pPr>
              <a:lnSpc>
                <a:spcPct val="150000"/>
              </a:lnSpc>
              <a:buNone/>
            </a:pPr>
            <a:r>
              <a:rPr lang="en-US" sz="2200" dirty="0">
                <a:latin typeface="Calibir"/>
              </a:rPr>
              <a:t>So the incorrect statement is (c).</a:t>
            </a:r>
          </a:p>
        </p:txBody>
      </p:sp>
    </p:spTree>
    <p:extLst>
      <p:ext uri="{BB962C8B-B14F-4D97-AF65-F5344CB8AC3E}">
        <p14:creationId xmlns:p14="http://schemas.microsoft.com/office/powerpoint/2010/main" val="758100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43433-615C-3C20-5CFA-9BC38F633C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1B0C82-F9BD-3AE0-9439-12A5CF57A837}"/>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40C14C7E-EFFF-619B-8971-D98E41DD0847}"/>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CA39992D-19FC-A261-7C5B-77E50D739906}"/>
              </a:ext>
            </a:extLst>
          </p:cNvPr>
          <p:cNvSpPr txBox="1"/>
          <p:nvPr/>
        </p:nvSpPr>
        <p:spPr>
          <a:xfrm>
            <a:off x="4916" y="1747498"/>
            <a:ext cx="6096000" cy="5196166"/>
          </a:xfrm>
          <a:prstGeom prst="rect">
            <a:avLst/>
          </a:prstGeom>
          <a:noFill/>
        </p:spPr>
        <p:txBody>
          <a:bodyPr wrap="square">
            <a:spAutoFit/>
          </a:bodyPr>
          <a:lstStyle/>
          <a:p>
            <a:pPr>
              <a:lnSpc>
                <a:spcPct val="150000"/>
              </a:lnSpc>
            </a:pPr>
            <a:r>
              <a:rPr lang="en-US" sz="2800" dirty="0">
                <a:latin typeface="Calibir"/>
              </a:rPr>
              <a:t>Which of the following is a non-functional requirement in a Football Game app?</a:t>
            </a:r>
          </a:p>
          <a:p>
            <a:pPr lvl="1">
              <a:lnSpc>
                <a:spcPct val="150000"/>
              </a:lnSpc>
            </a:pPr>
            <a:r>
              <a:rPr lang="en-US" sz="2800" dirty="0">
                <a:latin typeface="Calibir"/>
              </a:rPr>
              <a:t>a) Player selects team</a:t>
            </a:r>
          </a:p>
          <a:p>
            <a:pPr lvl="1">
              <a:lnSpc>
                <a:spcPct val="150000"/>
              </a:lnSpc>
            </a:pPr>
            <a:r>
              <a:rPr lang="en-US" sz="2800" dirty="0">
                <a:latin typeface="Calibir"/>
              </a:rPr>
              <a:t>b) Player logs in with ID</a:t>
            </a:r>
          </a:p>
          <a:p>
            <a:pPr lvl="1">
              <a:lnSpc>
                <a:spcPct val="150000"/>
              </a:lnSpc>
            </a:pPr>
            <a:r>
              <a:rPr lang="en-US" sz="2800" dirty="0">
                <a:latin typeface="Calibir"/>
              </a:rPr>
              <a:t>c) Stadium selection</a:t>
            </a:r>
          </a:p>
          <a:p>
            <a:pPr lvl="1">
              <a:lnSpc>
                <a:spcPct val="150000"/>
              </a:lnSpc>
            </a:pPr>
            <a:r>
              <a:rPr lang="en-US" sz="2800" dirty="0">
                <a:latin typeface="Calibir"/>
              </a:rPr>
              <a:t>d) Login should validate credentials in less than 2 seconds</a:t>
            </a:r>
          </a:p>
        </p:txBody>
      </p:sp>
      <p:sp>
        <p:nvSpPr>
          <p:cNvPr id="5" name="TextBox 4">
            <a:extLst>
              <a:ext uri="{FF2B5EF4-FFF2-40B4-BE49-F238E27FC236}">
                <a16:creationId xmlns:a16="http://schemas.microsoft.com/office/drawing/2014/main" id="{E74F63BC-85D7-0726-ADB5-0C513001A23D}"/>
              </a:ext>
            </a:extLst>
          </p:cNvPr>
          <p:cNvSpPr txBox="1"/>
          <p:nvPr/>
        </p:nvSpPr>
        <p:spPr>
          <a:xfrm>
            <a:off x="6489290" y="1072057"/>
            <a:ext cx="5813576" cy="5196166"/>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Functional requirements describe </a:t>
            </a:r>
            <a:r>
              <a:rPr lang="en-US" sz="2800" i="1" dirty="0">
                <a:latin typeface="Calibir"/>
              </a:rPr>
              <a:t>what the system does</a:t>
            </a:r>
            <a:r>
              <a:rPr lang="en-US" sz="2800" dirty="0">
                <a:latin typeface="Calibir"/>
              </a:rPr>
              <a:t> → actions like selecting a team, logging in, or choosing a stadium.</a:t>
            </a:r>
          </a:p>
          <a:p>
            <a:pPr marL="457200" indent="-457200">
              <a:lnSpc>
                <a:spcPct val="150000"/>
              </a:lnSpc>
              <a:buFont typeface="Arial" panose="020B0604020202020204" pitchFamily="34" charset="0"/>
              <a:buChar char="•"/>
            </a:pPr>
            <a:r>
              <a:rPr lang="en-US" sz="2800" dirty="0">
                <a:latin typeface="Calibir"/>
              </a:rPr>
              <a:t>Non-functional requirements describe </a:t>
            </a:r>
            <a:r>
              <a:rPr lang="en-US" sz="2800" i="1" dirty="0">
                <a:latin typeface="Calibir"/>
              </a:rPr>
              <a:t>how well the system works</a:t>
            </a:r>
            <a:r>
              <a:rPr lang="en-US" sz="2800" dirty="0">
                <a:latin typeface="Calibir"/>
              </a:rPr>
              <a:t> → performance, speed, security, usability, etc.</a:t>
            </a:r>
          </a:p>
        </p:txBody>
      </p:sp>
    </p:spTree>
    <p:extLst>
      <p:ext uri="{BB962C8B-B14F-4D97-AF65-F5344CB8AC3E}">
        <p14:creationId xmlns:p14="http://schemas.microsoft.com/office/powerpoint/2010/main" val="3744775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157E9-FDEA-4B7C-72AD-BF9E22D6C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38FB5F-B8CB-B93B-F14A-1FB9EEA85484}"/>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3CCA96E7-F7B6-D08F-76A2-7C978D7ED633}"/>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15357ADC-4FF5-8241-35FB-F4534A8C0902}"/>
              </a:ext>
            </a:extLst>
          </p:cNvPr>
          <p:cNvSpPr txBox="1"/>
          <p:nvPr/>
        </p:nvSpPr>
        <p:spPr>
          <a:xfrm>
            <a:off x="4916" y="1747498"/>
            <a:ext cx="6096000" cy="5196166"/>
          </a:xfrm>
          <a:prstGeom prst="rect">
            <a:avLst/>
          </a:prstGeom>
          <a:noFill/>
        </p:spPr>
        <p:txBody>
          <a:bodyPr wrap="square">
            <a:spAutoFit/>
          </a:bodyPr>
          <a:lstStyle/>
          <a:p>
            <a:pPr>
              <a:lnSpc>
                <a:spcPct val="150000"/>
              </a:lnSpc>
            </a:pPr>
            <a:r>
              <a:rPr lang="en-US" sz="2800" dirty="0">
                <a:latin typeface="Calibir"/>
              </a:rPr>
              <a:t>Which of the following is a non-functional requirement in a Football Game app?</a:t>
            </a:r>
          </a:p>
          <a:p>
            <a:pPr lvl="1">
              <a:lnSpc>
                <a:spcPct val="150000"/>
              </a:lnSpc>
            </a:pPr>
            <a:r>
              <a:rPr lang="en-US" sz="2800" dirty="0">
                <a:latin typeface="Calibir"/>
              </a:rPr>
              <a:t>a) Player selects team</a:t>
            </a:r>
          </a:p>
          <a:p>
            <a:pPr lvl="1">
              <a:lnSpc>
                <a:spcPct val="150000"/>
              </a:lnSpc>
            </a:pPr>
            <a:r>
              <a:rPr lang="en-US" sz="2800" dirty="0">
                <a:latin typeface="Calibir"/>
              </a:rPr>
              <a:t>b) Player logs in with ID</a:t>
            </a:r>
          </a:p>
          <a:p>
            <a:pPr lvl="1">
              <a:lnSpc>
                <a:spcPct val="150000"/>
              </a:lnSpc>
            </a:pPr>
            <a:r>
              <a:rPr lang="en-US" sz="2800" dirty="0">
                <a:latin typeface="Calibir"/>
              </a:rPr>
              <a:t>c) Stadium selection</a:t>
            </a:r>
          </a:p>
          <a:p>
            <a:pPr lvl="1">
              <a:lnSpc>
                <a:spcPct val="150000"/>
              </a:lnSpc>
            </a:pPr>
            <a:r>
              <a:rPr lang="en-US" sz="2800" dirty="0">
                <a:latin typeface="Calibir"/>
              </a:rPr>
              <a:t>d) Login should validate credentials in less than 2 seconds</a:t>
            </a:r>
          </a:p>
        </p:txBody>
      </p:sp>
      <p:sp>
        <p:nvSpPr>
          <p:cNvPr id="5" name="TextBox 4">
            <a:extLst>
              <a:ext uri="{FF2B5EF4-FFF2-40B4-BE49-F238E27FC236}">
                <a16:creationId xmlns:a16="http://schemas.microsoft.com/office/drawing/2014/main" id="{0990D66B-4DBD-6FBB-0BAD-89171D816BBA}"/>
              </a:ext>
            </a:extLst>
          </p:cNvPr>
          <p:cNvSpPr txBox="1"/>
          <p:nvPr/>
        </p:nvSpPr>
        <p:spPr>
          <a:xfrm>
            <a:off x="6489290" y="1072057"/>
            <a:ext cx="5813576" cy="4549835"/>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Options (a), (b), and (c) are all functional.</a:t>
            </a:r>
          </a:p>
          <a:p>
            <a:pPr marL="457200" indent="-457200">
              <a:lnSpc>
                <a:spcPct val="150000"/>
              </a:lnSpc>
              <a:buFont typeface="Arial" panose="020B0604020202020204" pitchFamily="34" charset="0"/>
              <a:buChar char="•"/>
            </a:pPr>
            <a:r>
              <a:rPr lang="en-US" sz="2800" dirty="0">
                <a:latin typeface="Calibir"/>
              </a:rPr>
              <a:t>Option (d) is about performance (time constraint), so it is non-functional.</a:t>
            </a:r>
          </a:p>
          <a:p>
            <a:pPr>
              <a:lnSpc>
                <a:spcPct val="150000"/>
              </a:lnSpc>
              <a:buNone/>
            </a:pPr>
            <a:r>
              <a:rPr lang="en-US" sz="2800" dirty="0">
                <a:latin typeface="Calibir"/>
              </a:rPr>
              <a:t>So: (d) is the non-functional requirement.</a:t>
            </a:r>
          </a:p>
        </p:txBody>
      </p:sp>
    </p:spTree>
    <p:extLst>
      <p:ext uri="{BB962C8B-B14F-4D97-AF65-F5344CB8AC3E}">
        <p14:creationId xmlns:p14="http://schemas.microsoft.com/office/powerpoint/2010/main" val="32659785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9219E-9328-4318-6677-F6BD1570A2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F510E6-BC5C-304C-2383-785332851E17}"/>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55410076-25ED-1963-A519-C785E5F530A9}"/>
              </a:ext>
            </a:extLst>
          </p:cNvPr>
          <p:cNvSpPr txBox="1"/>
          <p:nvPr/>
        </p:nvSpPr>
        <p:spPr>
          <a:xfrm>
            <a:off x="0" y="1072057"/>
            <a:ext cx="11971282" cy="1318181"/>
          </a:xfrm>
          <a:prstGeom prst="rect">
            <a:avLst/>
          </a:prstGeom>
          <a:noFill/>
        </p:spPr>
        <p:txBody>
          <a:bodyPr wrap="square">
            <a:spAutoFit/>
          </a:bodyPr>
          <a:lstStyle/>
          <a:p>
            <a:pPr>
              <a:lnSpc>
                <a:spcPct val="150000"/>
              </a:lnSpc>
            </a:pPr>
            <a:r>
              <a:rPr lang="en-US" sz="2800" b="1" dirty="0">
                <a:latin typeface="Calibir"/>
              </a:rPr>
              <a:t>Password</a:t>
            </a:r>
            <a:endParaRPr lang="en-US" sz="2800" dirty="0">
              <a:latin typeface="Calibir"/>
            </a:endParaRPr>
          </a:p>
          <a:p>
            <a:pPr marL="914400" lvl="1" indent="-457200">
              <a:lnSpc>
                <a:spcPct val="150000"/>
              </a:lnSpc>
              <a:buFont typeface="Arial" panose="020B0604020202020204" pitchFamily="34" charset="0"/>
              <a:buChar char="•"/>
            </a:pPr>
            <a:r>
              <a:rPr lang="en-US" sz="2800" dirty="0">
                <a:highlight>
                  <a:srgbClr val="FFFF00"/>
                </a:highlight>
                <a:latin typeface="Calibir"/>
              </a:rPr>
              <a:t>W4H8S2T7</a:t>
            </a:r>
          </a:p>
        </p:txBody>
      </p:sp>
    </p:spTree>
    <p:extLst>
      <p:ext uri="{BB962C8B-B14F-4D97-AF65-F5344CB8AC3E}">
        <p14:creationId xmlns:p14="http://schemas.microsoft.com/office/powerpoint/2010/main" val="25384790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C18FD-D362-590B-95D6-CED601D3FA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C2C401-CEDB-7D5B-F48A-3BC110E1464C}"/>
              </a:ext>
            </a:extLst>
          </p:cNvPr>
          <p:cNvSpPr>
            <a:spLocks noGrp="1"/>
          </p:cNvSpPr>
          <p:nvPr>
            <p:ph type="title"/>
          </p:nvPr>
        </p:nvSpPr>
        <p:spPr>
          <a:xfrm>
            <a:off x="0" y="1"/>
            <a:ext cx="12192000" cy="756744"/>
          </a:xfrm>
        </p:spPr>
        <p:txBody>
          <a:bodyPr anchor="b">
            <a:normAutofit/>
          </a:bodyPr>
          <a:lstStyle/>
          <a:p>
            <a:r>
              <a:rPr lang="en-US" sz="4000" dirty="0">
                <a:latin typeface="Calibir"/>
              </a:rPr>
              <a:t>Have you formed your group?</a:t>
            </a:r>
            <a:endParaRPr lang="en-AU" sz="4000" b="1" dirty="0">
              <a:latin typeface="Calibir"/>
            </a:endParaRPr>
          </a:p>
        </p:txBody>
      </p:sp>
      <p:pic>
        <p:nvPicPr>
          <p:cNvPr id="3" name="Picture 2">
            <a:extLst>
              <a:ext uri="{FF2B5EF4-FFF2-40B4-BE49-F238E27FC236}">
                <a16:creationId xmlns:a16="http://schemas.microsoft.com/office/drawing/2014/main" id="{D0D36A82-3556-57B9-47A4-0A4E365FB846}"/>
              </a:ext>
            </a:extLst>
          </p:cNvPr>
          <p:cNvPicPr>
            <a:picLocks noChangeAspect="1"/>
          </p:cNvPicPr>
          <p:nvPr/>
        </p:nvPicPr>
        <p:blipFill>
          <a:blip r:embed="rId2"/>
          <a:srcRect b="5253"/>
          <a:stretch>
            <a:fillRect/>
          </a:stretch>
        </p:blipFill>
        <p:spPr>
          <a:xfrm>
            <a:off x="1698186" y="756745"/>
            <a:ext cx="8795628" cy="4687614"/>
          </a:xfrm>
          <a:prstGeom prst="rect">
            <a:avLst/>
          </a:prstGeom>
        </p:spPr>
      </p:pic>
      <p:sp>
        <p:nvSpPr>
          <p:cNvPr id="5" name="TextBox 4">
            <a:extLst>
              <a:ext uri="{FF2B5EF4-FFF2-40B4-BE49-F238E27FC236}">
                <a16:creationId xmlns:a16="http://schemas.microsoft.com/office/drawing/2014/main" id="{8BFBA955-C87B-DB7C-6CDF-A50DACF690B9}"/>
              </a:ext>
            </a:extLst>
          </p:cNvPr>
          <p:cNvSpPr txBox="1"/>
          <p:nvPr/>
        </p:nvSpPr>
        <p:spPr>
          <a:xfrm>
            <a:off x="110359" y="5444359"/>
            <a:ext cx="11971282" cy="1362809"/>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900" b="0" i="0" u="none" strike="noStrike" kern="1200" cap="none" spc="0" normalizeH="0" baseline="0" noProof="0" dirty="0">
                <a:ln>
                  <a:noFill/>
                </a:ln>
                <a:solidFill>
                  <a:prstClr val="black"/>
                </a:solidFill>
                <a:effectLst/>
                <a:uLnTx/>
                <a:uFillTx/>
                <a:latin typeface="Calibir"/>
                <a:ea typeface="+mn-ea"/>
                <a:cs typeface="+mn-cs"/>
              </a:rPr>
              <a:t>Please send me an email listing your group members and kindly CC all members of your group in the same email. This will help us keep everything clear and ensure everyone is informed. </a:t>
            </a:r>
            <a:r>
              <a:rPr kumimoji="0" lang="en-US" sz="1900" b="0" i="0" u="none" strike="noStrike" kern="1200" cap="none" spc="0" normalizeH="0" baseline="0" noProof="0" dirty="0">
                <a:ln>
                  <a:noFill/>
                </a:ln>
                <a:solidFill>
                  <a:prstClr val="black"/>
                </a:solidFill>
                <a:effectLst/>
                <a:uLnTx/>
                <a:uFillTx/>
                <a:latin typeface="Calibir"/>
                <a:ea typeface="+mn-ea"/>
                <a:cs typeface="+mn-cs"/>
                <a:hlinkClick r:id="rId3"/>
              </a:rPr>
              <a:t>Farshid.Keivanian@uts.edu.au</a:t>
            </a:r>
            <a:r>
              <a:rPr kumimoji="0" lang="en-US" sz="1900" b="0" i="0" u="none" strike="noStrike" kern="1200" cap="none" spc="0" normalizeH="0" baseline="0" noProof="0" dirty="0">
                <a:ln>
                  <a:noFill/>
                </a:ln>
                <a:solidFill>
                  <a:prstClr val="black"/>
                </a:solidFill>
                <a:effectLst/>
                <a:uLnTx/>
                <a:uFillTx/>
                <a:latin typeface="Calibir"/>
                <a:ea typeface="+mn-ea"/>
                <a:cs typeface="+mn-cs"/>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900" b="0" i="0" u="none" strike="noStrike" kern="1200" cap="none" spc="0" normalizeH="0" baseline="0" noProof="0" dirty="0">
                <a:ln>
                  <a:noFill/>
                </a:ln>
                <a:solidFill>
                  <a:prstClr val="black"/>
                </a:solidFill>
                <a:effectLst/>
                <a:uLnTx/>
                <a:uFillTx/>
                <a:latin typeface="Calibir"/>
                <a:ea typeface="+mn-ea"/>
                <a:cs typeface="+mn-cs"/>
              </a:rPr>
              <a:t>Once I receive your email, I will fill in the online sheet with your group details and share it with the Unit Coordinator.</a:t>
            </a:r>
          </a:p>
        </p:txBody>
      </p:sp>
    </p:spTree>
    <p:extLst>
      <p:ext uri="{BB962C8B-B14F-4D97-AF65-F5344CB8AC3E}">
        <p14:creationId xmlns:p14="http://schemas.microsoft.com/office/powerpoint/2010/main" val="14676664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4A34-D50B-087E-6CE7-9E96328A08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F80D92-1C36-14F1-12AF-0629FC927545}"/>
              </a:ext>
            </a:extLst>
          </p:cNvPr>
          <p:cNvSpPr>
            <a:spLocks noGrp="1"/>
          </p:cNvSpPr>
          <p:nvPr>
            <p:ph type="title"/>
          </p:nvPr>
        </p:nvSpPr>
        <p:spPr>
          <a:xfrm>
            <a:off x="0" y="0"/>
            <a:ext cx="12192000" cy="657922"/>
          </a:xfrm>
        </p:spPr>
        <p:txBody>
          <a:bodyPr anchor="b">
            <a:normAutofit/>
          </a:bodyPr>
          <a:lstStyle/>
          <a:p>
            <a:r>
              <a:rPr lang="fr-FR" sz="4000" dirty="0">
                <a:latin typeface="Calibir"/>
              </a:rPr>
              <a:t>Group </a:t>
            </a:r>
            <a:r>
              <a:rPr lang="fr-FR" sz="4000" dirty="0" err="1">
                <a:latin typeface="Calibir"/>
              </a:rPr>
              <a:t>Assignment</a:t>
            </a:r>
            <a:r>
              <a:rPr lang="fr-FR" sz="4000" dirty="0">
                <a:latin typeface="Calibir"/>
              </a:rPr>
              <a:t> – Part 1: Clarification Slides</a:t>
            </a:r>
            <a:endParaRPr lang="en-AU" sz="4000" b="1" dirty="0">
              <a:latin typeface="Calibir"/>
            </a:endParaRPr>
          </a:p>
        </p:txBody>
      </p:sp>
      <p:sp>
        <p:nvSpPr>
          <p:cNvPr id="7" name="TextBox 6">
            <a:extLst>
              <a:ext uri="{FF2B5EF4-FFF2-40B4-BE49-F238E27FC236}">
                <a16:creationId xmlns:a16="http://schemas.microsoft.com/office/drawing/2014/main" id="{016D47E7-5023-E947-2FBD-B5469DC249BA}"/>
              </a:ext>
            </a:extLst>
          </p:cNvPr>
          <p:cNvSpPr txBox="1"/>
          <p:nvPr/>
        </p:nvSpPr>
        <p:spPr>
          <a:xfrm>
            <a:off x="64923" y="830917"/>
            <a:ext cx="12062153" cy="5196166"/>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These slides are prepared to clarify each part of the assignment (scope, user stories, use case diagram, class diagram, rules, data file, etc.).</a:t>
            </a:r>
          </a:p>
          <a:p>
            <a:pPr marL="457200" indent="-457200">
              <a:lnSpc>
                <a:spcPct val="150000"/>
              </a:lnSpc>
              <a:buFont typeface="Arial" panose="020B0604020202020204" pitchFamily="34" charset="0"/>
              <a:buChar char="•"/>
            </a:pPr>
            <a:r>
              <a:rPr lang="en-US" sz="2800" dirty="0">
                <a:latin typeface="Calibir"/>
              </a:rPr>
              <a:t>If you have any questions, please send me an email with the specific part you’d like me to explain further, and I will include it in the shared clarifications for everyone.</a:t>
            </a:r>
          </a:p>
          <a:p>
            <a:pPr marL="457200" indent="-457200">
              <a:lnSpc>
                <a:spcPct val="150000"/>
              </a:lnSpc>
              <a:buFont typeface="Arial" panose="020B0604020202020204" pitchFamily="34" charset="0"/>
              <a:buChar char="•"/>
            </a:pPr>
            <a:r>
              <a:rPr lang="en-US" sz="2800" dirty="0">
                <a:latin typeface="Calibir"/>
              </a:rPr>
              <a:t>Remember: the main reference is the instructions on Canvas under </a:t>
            </a:r>
            <a:r>
              <a:rPr lang="en-US" sz="2800" i="1" dirty="0">
                <a:latin typeface="Calibir"/>
                <a:hlinkClick r:id="rId2"/>
              </a:rPr>
              <a:t>Assignments → Part 1 – Analysis and Design</a:t>
            </a:r>
            <a:r>
              <a:rPr lang="en-US" sz="2800" dirty="0">
                <a:latin typeface="Calibir"/>
              </a:rPr>
              <a:t>. These slides are an additional guide to help you if anything seems confusing.</a:t>
            </a:r>
          </a:p>
        </p:txBody>
      </p:sp>
    </p:spTree>
    <p:extLst>
      <p:ext uri="{BB962C8B-B14F-4D97-AF65-F5344CB8AC3E}">
        <p14:creationId xmlns:p14="http://schemas.microsoft.com/office/powerpoint/2010/main" val="25731999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86C95-FECD-87E8-86B5-D09872C5D4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A22C2E-A0B4-7CAE-1851-49E4E331AF0F}"/>
              </a:ext>
            </a:extLst>
          </p:cNvPr>
          <p:cNvSpPr>
            <a:spLocks noGrp="1"/>
          </p:cNvSpPr>
          <p:nvPr>
            <p:ph type="title"/>
          </p:nvPr>
        </p:nvSpPr>
        <p:spPr>
          <a:xfrm>
            <a:off x="0" y="0"/>
            <a:ext cx="12192000" cy="657922"/>
          </a:xfrm>
        </p:spPr>
        <p:txBody>
          <a:bodyPr anchor="b">
            <a:normAutofit/>
          </a:bodyPr>
          <a:lstStyle/>
          <a:p>
            <a:r>
              <a:rPr lang="en-US" sz="4000" dirty="0">
                <a:latin typeface="Calibir"/>
              </a:rPr>
              <a:t>Project Brief – Simplified</a:t>
            </a:r>
            <a:endParaRPr lang="en-AU" sz="4000" b="1" dirty="0">
              <a:latin typeface="Calibir"/>
            </a:endParaRPr>
          </a:p>
        </p:txBody>
      </p:sp>
      <p:sp>
        <p:nvSpPr>
          <p:cNvPr id="7" name="TextBox 6">
            <a:extLst>
              <a:ext uri="{FF2B5EF4-FFF2-40B4-BE49-F238E27FC236}">
                <a16:creationId xmlns:a16="http://schemas.microsoft.com/office/drawing/2014/main" id="{06697519-D56D-DCD1-BB0D-F279264BE866}"/>
              </a:ext>
            </a:extLst>
          </p:cNvPr>
          <p:cNvSpPr txBox="1"/>
          <p:nvPr/>
        </p:nvSpPr>
        <p:spPr>
          <a:xfrm>
            <a:off x="64923" y="830917"/>
            <a:ext cx="12062153" cy="5196166"/>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b="1" dirty="0">
                <a:latin typeface="Calibir"/>
              </a:rPr>
              <a:t>Student role</a:t>
            </a:r>
            <a:r>
              <a:rPr lang="en-US" sz="2800" dirty="0">
                <a:latin typeface="Calibir"/>
              </a:rPr>
              <a:t>: register → log in → </a:t>
            </a:r>
            <a:r>
              <a:rPr lang="en-US" sz="2800" dirty="0" err="1">
                <a:latin typeface="Calibir"/>
              </a:rPr>
              <a:t>enrol</a:t>
            </a:r>
            <a:r>
              <a:rPr lang="en-US" sz="2800" dirty="0">
                <a:latin typeface="Calibir"/>
              </a:rPr>
              <a:t> / drop subjects → view subjects → change password (Students must register → log in → do student actions: </a:t>
            </a:r>
            <a:r>
              <a:rPr lang="en-US" sz="2800" dirty="0" err="1">
                <a:latin typeface="Calibir"/>
              </a:rPr>
              <a:t>enrol</a:t>
            </a:r>
            <a:r>
              <a:rPr lang="en-US" sz="2800" dirty="0">
                <a:latin typeface="Calibir"/>
              </a:rPr>
              <a:t>/drop/view/change password)</a:t>
            </a:r>
          </a:p>
          <a:p>
            <a:pPr marL="457200" indent="-457200">
              <a:lnSpc>
                <a:spcPct val="150000"/>
              </a:lnSpc>
              <a:buFont typeface="Arial" panose="020B0604020202020204" pitchFamily="34" charset="0"/>
              <a:buChar char="•"/>
            </a:pPr>
            <a:r>
              <a:rPr lang="en-US" sz="2800" b="1" dirty="0">
                <a:latin typeface="Calibir"/>
              </a:rPr>
              <a:t>Admin role</a:t>
            </a:r>
            <a:r>
              <a:rPr lang="en-US" sz="2800" dirty="0">
                <a:latin typeface="Calibir"/>
              </a:rPr>
              <a:t>: view and manage student data (Admins can view/manage student data)</a:t>
            </a:r>
          </a:p>
          <a:p>
            <a:pPr marL="457200" indent="-457200">
              <a:lnSpc>
                <a:spcPct val="150000"/>
              </a:lnSpc>
              <a:buFont typeface="Arial" panose="020B0604020202020204" pitchFamily="34" charset="0"/>
              <a:buChar char="•"/>
            </a:pPr>
            <a:r>
              <a:rPr lang="en-US" sz="2800" b="1" dirty="0">
                <a:latin typeface="Calibir"/>
              </a:rPr>
              <a:t>System</a:t>
            </a:r>
            <a:r>
              <a:rPr lang="en-US" sz="2800" dirty="0">
                <a:latin typeface="Calibir"/>
              </a:rPr>
              <a:t>: saves all data to </a:t>
            </a:r>
            <a:r>
              <a:rPr lang="en-US" sz="2800" dirty="0" err="1">
                <a:latin typeface="Calibir"/>
              </a:rPr>
              <a:t>students.data</a:t>
            </a:r>
            <a:r>
              <a:rPr lang="en-US" sz="2800" dirty="0">
                <a:latin typeface="Calibir"/>
              </a:rPr>
              <a:t> (All data saved to </a:t>
            </a:r>
            <a:r>
              <a:rPr lang="en-US" sz="2800" dirty="0" err="1">
                <a:latin typeface="Calibir"/>
              </a:rPr>
              <a:t>students.data</a:t>
            </a:r>
            <a:r>
              <a:rPr lang="en-US" sz="2800" dirty="0">
                <a:latin typeface="Calibir"/>
              </a:rPr>
              <a:t>)</a:t>
            </a:r>
          </a:p>
          <a:p>
            <a:pPr>
              <a:lnSpc>
                <a:spcPct val="150000"/>
              </a:lnSpc>
            </a:pPr>
            <a:r>
              <a:rPr lang="en-US" sz="2800" b="1" dirty="0">
                <a:latin typeface="Calibir"/>
              </a:rPr>
              <a:t>Scope</a:t>
            </a:r>
            <a:r>
              <a:rPr lang="en-US" sz="2800" dirty="0">
                <a:latin typeface="Calibir"/>
              </a:rPr>
              <a:t>: Command-line (CLI) system only (CLI system only (GUI is Part 2))</a:t>
            </a:r>
            <a:br>
              <a:rPr lang="en-US" sz="2800" dirty="0">
                <a:latin typeface="Calibir"/>
              </a:rPr>
            </a:br>
            <a:r>
              <a:rPr lang="en-US" sz="2800" b="1" dirty="0">
                <a:latin typeface="Calibir"/>
              </a:rPr>
              <a:t>Not in scope</a:t>
            </a:r>
            <a:r>
              <a:rPr lang="en-US" sz="2800" dirty="0">
                <a:latin typeface="Calibir"/>
              </a:rPr>
              <a:t>: multiple semesters, fancy user interface (GUI comes in Part 2)</a:t>
            </a:r>
          </a:p>
        </p:txBody>
      </p:sp>
    </p:spTree>
    <p:extLst>
      <p:ext uri="{BB962C8B-B14F-4D97-AF65-F5344CB8AC3E}">
        <p14:creationId xmlns:p14="http://schemas.microsoft.com/office/powerpoint/2010/main" val="11568417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A966F-009A-93A1-E0AA-D3C201C82B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65CD7D-C1C6-3B35-406F-BF4EC604099E}"/>
              </a:ext>
            </a:extLst>
          </p:cNvPr>
          <p:cNvSpPr>
            <a:spLocks noGrp="1"/>
          </p:cNvSpPr>
          <p:nvPr>
            <p:ph type="title"/>
          </p:nvPr>
        </p:nvSpPr>
        <p:spPr>
          <a:xfrm>
            <a:off x="0" y="0"/>
            <a:ext cx="12192000" cy="657922"/>
          </a:xfrm>
        </p:spPr>
        <p:txBody>
          <a:bodyPr anchor="b">
            <a:normAutofit/>
          </a:bodyPr>
          <a:lstStyle/>
          <a:p>
            <a:r>
              <a:rPr lang="en-US" sz="4000" dirty="0">
                <a:latin typeface="Calibir"/>
              </a:rPr>
              <a:t>Project Brief – Simplified</a:t>
            </a:r>
            <a:endParaRPr lang="en-AU" sz="4000" b="1" dirty="0">
              <a:latin typeface="Calibir"/>
            </a:endParaRPr>
          </a:p>
        </p:txBody>
      </p:sp>
      <p:sp>
        <p:nvSpPr>
          <p:cNvPr id="7" name="TextBox 6">
            <a:extLst>
              <a:ext uri="{FF2B5EF4-FFF2-40B4-BE49-F238E27FC236}">
                <a16:creationId xmlns:a16="http://schemas.microsoft.com/office/drawing/2014/main" id="{CE1DBCA0-073B-4591-8A81-AE1BBC88F4A4}"/>
              </a:ext>
            </a:extLst>
          </p:cNvPr>
          <p:cNvSpPr txBox="1"/>
          <p:nvPr/>
        </p:nvSpPr>
        <p:spPr>
          <a:xfrm>
            <a:off x="64923" y="830917"/>
            <a:ext cx="12062153" cy="5196166"/>
          </a:xfrm>
          <a:prstGeom prst="rect">
            <a:avLst/>
          </a:prstGeom>
          <a:noFill/>
        </p:spPr>
        <p:txBody>
          <a:bodyPr wrap="square">
            <a:spAutoFit/>
          </a:bodyPr>
          <a:lstStyle/>
          <a:p>
            <a:pPr>
              <a:lnSpc>
                <a:spcPct val="150000"/>
              </a:lnSpc>
            </a:pPr>
            <a:r>
              <a:rPr lang="en-US" sz="2800" b="1" dirty="0">
                <a:latin typeface="Calibir"/>
              </a:rPr>
              <a:t>Clarifying Actors</a:t>
            </a:r>
          </a:p>
          <a:p>
            <a:pPr marL="914400" lvl="1" indent="-457200">
              <a:lnSpc>
                <a:spcPct val="150000"/>
              </a:lnSpc>
              <a:buFont typeface="Arial" panose="020B0604020202020204" pitchFamily="34" charset="0"/>
              <a:buChar char="•"/>
            </a:pPr>
            <a:r>
              <a:rPr lang="en-US" sz="2800" b="1" dirty="0">
                <a:latin typeface="Calibir"/>
              </a:rPr>
              <a:t>Student</a:t>
            </a:r>
            <a:r>
              <a:rPr lang="en-US" sz="2800" dirty="0">
                <a:latin typeface="Calibir"/>
              </a:rPr>
              <a:t> → a real user who registers, logs in, </a:t>
            </a:r>
            <a:r>
              <a:rPr lang="en-US" sz="2800" dirty="0" err="1">
                <a:latin typeface="Calibir"/>
              </a:rPr>
              <a:t>enrols</a:t>
            </a:r>
            <a:r>
              <a:rPr lang="en-US" sz="2800" dirty="0">
                <a:latin typeface="Calibir"/>
              </a:rPr>
              <a:t>, drops subjects, views enrolments, changes password.</a:t>
            </a:r>
          </a:p>
          <a:p>
            <a:pPr marL="914400" lvl="1" indent="-457200">
              <a:lnSpc>
                <a:spcPct val="150000"/>
              </a:lnSpc>
              <a:buFont typeface="Arial" panose="020B0604020202020204" pitchFamily="34" charset="0"/>
              <a:buChar char="•"/>
            </a:pPr>
            <a:r>
              <a:rPr lang="en-US" sz="2800" b="1" dirty="0">
                <a:latin typeface="Calibir"/>
              </a:rPr>
              <a:t>Admin</a:t>
            </a:r>
            <a:r>
              <a:rPr lang="en-US" sz="2800" dirty="0">
                <a:latin typeface="Calibir"/>
              </a:rPr>
              <a:t> → a real user who views all students, groups by grade, removes a student, clears all data.</a:t>
            </a:r>
          </a:p>
          <a:p>
            <a:pPr marL="914400" lvl="1" indent="-457200">
              <a:lnSpc>
                <a:spcPct val="150000"/>
              </a:lnSpc>
              <a:buFont typeface="Arial" panose="020B0604020202020204" pitchFamily="34" charset="0"/>
              <a:buChar char="•"/>
            </a:pPr>
            <a:r>
              <a:rPr lang="en-US" sz="2800" b="1" dirty="0">
                <a:latin typeface="Calibir"/>
              </a:rPr>
              <a:t>System</a:t>
            </a:r>
            <a:r>
              <a:rPr lang="en-US" sz="2800" dirty="0">
                <a:latin typeface="Calibir"/>
              </a:rPr>
              <a:t> → not a person, but sometimes we include it in user stories when it does something </a:t>
            </a:r>
            <a:r>
              <a:rPr lang="en-US" sz="2800" i="1" dirty="0">
                <a:latin typeface="Calibir"/>
              </a:rPr>
              <a:t>automatically</a:t>
            </a:r>
            <a:r>
              <a:rPr lang="en-US" sz="2800" dirty="0">
                <a:latin typeface="Calibir"/>
              </a:rPr>
              <a:t> (e.g., generate ID, assign marks/grades, validate password).</a:t>
            </a:r>
          </a:p>
        </p:txBody>
      </p:sp>
    </p:spTree>
    <p:extLst>
      <p:ext uri="{BB962C8B-B14F-4D97-AF65-F5344CB8AC3E}">
        <p14:creationId xmlns:p14="http://schemas.microsoft.com/office/powerpoint/2010/main" val="3713377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6CFCA-3249-B99F-DB99-7B924756CF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37DA45-A72E-F161-C79A-979D4DE857BE}"/>
              </a:ext>
            </a:extLst>
          </p:cNvPr>
          <p:cNvSpPr>
            <a:spLocks noGrp="1"/>
          </p:cNvSpPr>
          <p:nvPr>
            <p:ph type="title"/>
          </p:nvPr>
        </p:nvSpPr>
        <p:spPr>
          <a:xfrm>
            <a:off x="0" y="0"/>
            <a:ext cx="12192000" cy="657922"/>
          </a:xfrm>
        </p:spPr>
        <p:txBody>
          <a:bodyPr anchor="b">
            <a:normAutofit/>
          </a:bodyPr>
          <a:lstStyle/>
          <a:p>
            <a:r>
              <a:rPr lang="en-US" sz="4000" dirty="0">
                <a:latin typeface="Calibir"/>
              </a:rPr>
              <a:t>Project Brief – Simplified</a:t>
            </a:r>
            <a:endParaRPr lang="en-AU" sz="4000" b="1" dirty="0">
              <a:latin typeface="Calibir"/>
            </a:endParaRPr>
          </a:p>
        </p:txBody>
      </p:sp>
      <p:sp>
        <p:nvSpPr>
          <p:cNvPr id="7" name="TextBox 6">
            <a:extLst>
              <a:ext uri="{FF2B5EF4-FFF2-40B4-BE49-F238E27FC236}">
                <a16:creationId xmlns:a16="http://schemas.microsoft.com/office/drawing/2014/main" id="{8C487832-FEF1-D3E4-FA6A-0C116A39563D}"/>
              </a:ext>
            </a:extLst>
          </p:cNvPr>
          <p:cNvSpPr txBox="1"/>
          <p:nvPr/>
        </p:nvSpPr>
        <p:spPr>
          <a:xfrm>
            <a:off x="64923" y="830917"/>
            <a:ext cx="12062153" cy="4549835"/>
          </a:xfrm>
          <a:prstGeom prst="rect">
            <a:avLst/>
          </a:prstGeom>
          <a:noFill/>
        </p:spPr>
        <p:txBody>
          <a:bodyPr wrap="square">
            <a:spAutoFit/>
          </a:bodyPr>
          <a:lstStyle/>
          <a:p>
            <a:pPr>
              <a:lnSpc>
                <a:spcPct val="150000"/>
              </a:lnSpc>
            </a:pPr>
            <a:r>
              <a:rPr lang="en-US" sz="2800" b="1" dirty="0">
                <a:latin typeface="Calibir"/>
              </a:rPr>
              <a:t>Avoid mistake:</a:t>
            </a:r>
            <a:endParaRPr lang="en-US" sz="2800" dirty="0">
              <a:latin typeface="Calibir"/>
            </a:endParaRPr>
          </a:p>
          <a:p>
            <a:pPr marL="457200" indent="-457200">
              <a:lnSpc>
                <a:spcPct val="150000"/>
              </a:lnSpc>
              <a:buFont typeface="Arial" panose="020B0604020202020204" pitchFamily="34" charset="0"/>
              <a:buChar char="•"/>
            </a:pPr>
            <a:r>
              <a:rPr lang="en-US" sz="2800" dirty="0">
                <a:latin typeface="Calibir"/>
              </a:rPr>
              <a:t>The CLI (command-line) and GUI (graphical interface) are just </a:t>
            </a:r>
            <a:r>
              <a:rPr lang="en-US" sz="2800" i="1" dirty="0">
                <a:latin typeface="Calibir"/>
              </a:rPr>
              <a:t>tools</a:t>
            </a:r>
            <a:r>
              <a:rPr lang="en-US" sz="2800" dirty="0">
                <a:latin typeface="Calibir"/>
              </a:rPr>
              <a:t> to access the system. They are not actors.</a:t>
            </a:r>
          </a:p>
          <a:p>
            <a:pPr marL="457200" indent="-457200">
              <a:lnSpc>
                <a:spcPct val="150000"/>
              </a:lnSpc>
              <a:buFont typeface="Arial" panose="020B0604020202020204" pitchFamily="34" charset="0"/>
              <a:buChar char="•"/>
            </a:pPr>
            <a:r>
              <a:rPr lang="en-US" sz="2800" dirty="0">
                <a:latin typeface="Calibir"/>
              </a:rPr>
              <a:t>Key takeaway:</a:t>
            </a:r>
          </a:p>
          <a:p>
            <a:pPr marL="914400" lvl="1" indent="-457200">
              <a:lnSpc>
                <a:spcPct val="150000"/>
              </a:lnSpc>
              <a:buFont typeface="Arial" panose="020B0604020202020204" pitchFamily="34" charset="0"/>
              <a:buChar char="•"/>
            </a:pPr>
            <a:r>
              <a:rPr lang="en-US" sz="2800" dirty="0">
                <a:latin typeface="Calibir"/>
              </a:rPr>
              <a:t>Actors = who interacts with the system (Student, Admin).</a:t>
            </a:r>
          </a:p>
          <a:p>
            <a:pPr marL="914400" lvl="1" indent="-457200">
              <a:lnSpc>
                <a:spcPct val="150000"/>
              </a:lnSpc>
              <a:buFont typeface="Arial" panose="020B0604020202020204" pitchFamily="34" charset="0"/>
              <a:buChar char="•"/>
            </a:pPr>
            <a:r>
              <a:rPr lang="en-US" sz="2800" dirty="0">
                <a:latin typeface="Calibir"/>
              </a:rPr>
              <a:t>System = does background tasks.</a:t>
            </a:r>
          </a:p>
          <a:p>
            <a:pPr marL="914400" lvl="1" indent="-457200">
              <a:lnSpc>
                <a:spcPct val="150000"/>
              </a:lnSpc>
              <a:buFont typeface="Arial" panose="020B0604020202020204" pitchFamily="34" charset="0"/>
              <a:buChar char="•"/>
            </a:pPr>
            <a:r>
              <a:rPr lang="en-US" sz="2800" dirty="0">
                <a:latin typeface="Calibir"/>
              </a:rPr>
              <a:t>CLI/GUI = just the interface, not actors.</a:t>
            </a:r>
          </a:p>
        </p:txBody>
      </p:sp>
    </p:spTree>
    <p:extLst>
      <p:ext uri="{BB962C8B-B14F-4D97-AF65-F5344CB8AC3E}">
        <p14:creationId xmlns:p14="http://schemas.microsoft.com/office/powerpoint/2010/main" val="6008101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A58B4-5460-3158-13C0-094FE62059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54220A-199E-BB8F-8736-A59AEC2A9BD1}"/>
              </a:ext>
            </a:extLst>
          </p:cNvPr>
          <p:cNvSpPr>
            <a:spLocks noGrp="1"/>
          </p:cNvSpPr>
          <p:nvPr>
            <p:ph type="title"/>
          </p:nvPr>
        </p:nvSpPr>
        <p:spPr>
          <a:xfrm>
            <a:off x="0" y="0"/>
            <a:ext cx="12192000" cy="657922"/>
          </a:xfrm>
        </p:spPr>
        <p:txBody>
          <a:bodyPr anchor="b">
            <a:normAutofit/>
          </a:bodyPr>
          <a:lstStyle/>
          <a:p>
            <a:r>
              <a:rPr lang="en-US" sz="4000" dirty="0">
                <a:latin typeface="Calibir"/>
              </a:rPr>
              <a:t>Project Brief – Simplified</a:t>
            </a:r>
            <a:endParaRPr lang="en-AU" sz="4000" b="1" dirty="0">
              <a:latin typeface="Calibir"/>
            </a:endParaRPr>
          </a:p>
        </p:txBody>
      </p:sp>
      <p:sp>
        <p:nvSpPr>
          <p:cNvPr id="7" name="TextBox 6">
            <a:extLst>
              <a:ext uri="{FF2B5EF4-FFF2-40B4-BE49-F238E27FC236}">
                <a16:creationId xmlns:a16="http://schemas.microsoft.com/office/drawing/2014/main" id="{0A8A1439-23A7-FDA9-10AA-BBDE1AF1BACB}"/>
              </a:ext>
            </a:extLst>
          </p:cNvPr>
          <p:cNvSpPr txBox="1"/>
          <p:nvPr/>
        </p:nvSpPr>
        <p:spPr>
          <a:xfrm>
            <a:off x="110359" y="2123578"/>
            <a:ext cx="11971282" cy="2610843"/>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Actors in UML use-case diagrams are usually the people/external roles interacting with the system.</a:t>
            </a:r>
          </a:p>
          <a:p>
            <a:pPr marL="457200" indent="-457200">
              <a:lnSpc>
                <a:spcPct val="150000"/>
              </a:lnSpc>
              <a:buFont typeface="Arial" panose="020B0604020202020204" pitchFamily="34" charset="0"/>
              <a:buChar char="•"/>
            </a:pPr>
            <a:r>
              <a:rPr lang="en-US" sz="2800" dirty="0">
                <a:latin typeface="Calibir"/>
              </a:rPr>
              <a:t>The System itself is not drawn as an actor — it’s the boundary box that contains all use cases.</a:t>
            </a:r>
          </a:p>
        </p:txBody>
      </p:sp>
    </p:spTree>
    <p:extLst>
      <p:ext uri="{BB962C8B-B14F-4D97-AF65-F5344CB8AC3E}">
        <p14:creationId xmlns:p14="http://schemas.microsoft.com/office/powerpoint/2010/main" val="40827900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CB06E-992C-82F7-A6BB-F466568011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3EE322-3D4B-9618-A78F-9B67BF4ABCC3}"/>
              </a:ext>
            </a:extLst>
          </p:cNvPr>
          <p:cNvSpPr>
            <a:spLocks noGrp="1"/>
          </p:cNvSpPr>
          <p:nvPr>
            <p:ph type="title"/>
          </p:nvPr>
        </p:nvSpPr>
        <p:spPr>
          <a:xfrm>
            <a:off x="0" y="0"/>
            <a:ext cx="12192000" cy="657922"/>
          </a:xfrm>
        </p:spPr>
        <p:txBody>
          <a:bodyPr anchor="b">
            <a:normAutofit/>
          </a:bodyPr>
          <a:lstStyle/>
          <a:p>
            <a:r>
              <a:rPr lang="en-US" sz="4000" dirty="0">
                <a:latin typeface="Calibir"/>
              </a:rPr>
              <a:t>Project Brief – Simplified</a:t>
            </a:r>
            <a:endParaRPr lang="en-AU" sz="4000" b="1" dirty="0">
              <a:latin typeface="Calibir"/>
            </a:endParaRPr>
          </a:p>
        </p:txBody>
      </p:sp>
      <p:sp>
        <p:nvSpPr>
          <p:cNvPr id="7" name="TextBox 6">
            <a:extLst>
              <a:ext uri="{FF2B5EF4-FFF2-40B4-BE49-F238E27FC236}">
                <a16:creationId xmlns:a16="http://schemas.microsoft.com/office/drawing/2014/main" id="{50A7B5D7-60A5-52AA-72D4-9BE84D1F4A2E}"/>
              </a:ext>
            </a:extLst>
          </p:cNvPr>
          <p:cNvSpPr txBox="1"/>
          <p:nvPr/>
        </p:nvSpPr>
        <p:spPr>
          <a:xfrm>
            <a:off x="110359" y="1154082"/>
            <a:ext cx="11971282" cy="4549835"/>
          </a:xfrm>
          <a:prstGeom prst="rect">
            <a:avLst/>
          </a:prstGeom>
          <a:noFill/>
        </p:spPr>
        <p:txBody>
          <a:bodyPr wrap="square">
            <a:spAutoFit/>
          </a:bodyPr>
          <a:lstStyle/>
          <a:p>
            <a:pPr>
              <a:lnSpc>
                <a:spcPct val="150000"/>
              </a:lnSpc>
            </a:pPr>
            <a:r>
              <a:rPr lang="en-US" sz="2800" dirty="0">
                <a:latin typeface="Calibir"/>
              </a:rPr>
              <a:t>So here:</a:t>
            </a:r>
          </a:p>
          <a:p>
            <a:pPr marL="457200" indent="-457200">
              <a:lnSpc>
                <a:spcPct val="150000"/>
              </a:lnSpc>
              <a:buFont typeface="Arial" panose="020B0604020202020204" pitchFamily="34" charset="0"/>
              <a:buChar char="•"/>
            </a:pPr>
            <a:r>
              <a:rPr lang="en-US" sz="2800" dirty="0">
                <a:latin typeface="Calibir"/>
              </a:rPr>
              <a:t>Student → external actor</a:t>
            </a:r>
          </a:p>
          <a:p>
            <a:pPr marL="457200" indent="-457200">
              <a:lnSpc>
                <a:spcPct val="150000"/>
              </a:lnSpc>
              <a:buFont typeface="Arial" panose="020B0604020202020204" pitchFamily="34" charset="0"/>
              <a:buChar char="•"/>
            </a:pPr>
            <a:r>
              <a:rPr lang="en-US" sz="2800" dirty="0">
                <a:latin typeface="Calibir"/>
              </a:rPr>
              <a:t>Admin → external actor</a:t>
            </a:r>
          </a:p>
          <a:p>
            <a:pPr marL="457200" indent="-457200">
              <a:lnSpc>
                <a:spcPct val="150000"/>
              </a:lnSpc>
              <a:buFont typeface="Arial" panose="020B0604020202020204" pitchFamily="34" charset="0"/>
              <a:buChar char="•"/>
            </a:pPr>
            <a:r>
              <a:rPr lang="en-US" sz="2800" dirty="0">
                <a:latin typeface="Calibir"/>
              </a:rPr>
              <a:t>System → not an actor (it’s the thing being modelled)</a:t>
            </a:r>
          </a:p>
          <a:p>
            <a:pPr>
              <a:lnSpc>
                <a:spcPct val="150000"/>
              </a:lnSpc>
            </a:pPr>
            <a:r>
              <a:rPr lang="en-US" sz="2800" dirty="0">
                <a:latin typeface="Calibir"/>
              </a:rPr>
              <a:t>Therefore, we really have two actors: Student and Admin.</a:t>
            </a:r>
            <a:br>
              <a:rPr lang="en-US" sz="2800" dirty="0">
                <a:latin typeface="Calibir"/>
              </a:rPr>
            </a:br>
            <a:r>
              <a:rPr lang="en-US" sz="2800" dirty="0">
                <a:latin typeface="Calibir"/>
              </a:rPr>
              <a:t>The System is the box that holds use cases (e.g., </a:t>
            </a:r>
            <a:r>
              <a:rPr lang="en-US" sz="2800" i="1" dirty="0">
                <a:latin typeface="Calibir"/>
              </a:rPr>
              <a:t>Register, Log in, </a:t>
            </a:r>
            <a:r>
              <a:rPr lang="en-US" sz="2800" i="1" dirty="0" err="1">
                <a:latin typeface="Calibir"/>
              </a:rPr>
              <a:t>Enrol</a:t>
            </a:r>
            <a:r>
              <a:rPr lang="en-US" sz="2800" i="1" dirty="0">
                <a:latin typeface="Calibir"/>
              </a:rPr>
              <a:t>, Drop, View, Change Password, Manage Data</a:t>
            </a:r>
            <a:r>
              <a:rPr lang="en-US" sz="2800" dirty="0">
                <a:latin typeface="Calibir"/>
              </a:rPr>
              <a:t>).</a:t>
            </a:r>
          </a:p>
        </p:txBody>
      </p:sp>
    </p:spTree>
    <p:extLst>
      <p:ext uri="{BB962C8B-B14F-4D97-AF65-F5344CB8AC3E}">
        <p14:creationId xmlns:p14="http://schemas.microsoft.com/office/powerpoint/2010/main" val="841807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9426C-72EF-43D9-6F62-858F6C9015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3776F2-F970-95A7-E7D2-443ED8458CBB}"/>
              </a:ext>
            </a:extLst>
          </p:cNvPr>
          <p:cNvSpPr>
            <a:spLocks noGrp="1"/>
          </p:cNvSpPr>
          <p:nvPr>
            <p:ph type="title"/>
          </p:nvPr>
        </p:nvSpPr>
        <p:spPr>
          <a:xfrm>
            <a:off x="0" y="0"/>
            <a:ext cx="12192000" cy="657922"/>
          </a:xfrm>
        </p:spPr>
        <p:txBody>
          <a:bodyPr anchor="b">
            <a:normAutofit fontScale="90000"/>
          </a:bodyPr>
          <a:lstStyle/>
          <a:p>
            <a:r>
              <a:rPr lang="en-US" sz="4000" dirty="0">
                <a:latin typeface="Calibir"/>
              </a:rPr>
              <a:t>Assignment 1 – Part 1: Admin, IDs, and Deliverables Clarified</a:t>
            </a:r>
            <a:endParaRPr lang="en-AU" sz="4000" b="1" dirty="0">
              <a:latin typeface="Calibir"/>
            </a:endParaRPr>
          </a:p>
        </p:txBody>
      </p:sp>
      <p:sp>
        <p:nvSpPr>
          <p:cNvPr id="7" name="TextBox 6">
            <a:extLst>
              <a:ext uri="{FF2B5EF4-FFF2-40B4-BE49-F238E27FC236}">
                <a16:creationId xmlns:a16="http://schemas.microsoft.com/office/drawing/2014/main" id="{BAF84653-FBD5-5698-7776-DC79984ECF9A}"/>
              </a:ext>
            </a:extLst>
          </p:cNvPr>
          <p:cNvSpPr txBox="1"/>
          <p:nvPr/>
        </p:nvSpPr>
        <p:spPr>
          <a:xfrm>
            <a:off x="0" y="920681"/>
            <a:ext cx="11971282" cy="5632311"/>
          </a:xfrm>
          <a:prstGeom prst="rect">
            <a:avLst/>
          </a:prstGeom>
          <a:noFill/>
        </p:spPr>
        <p:txBody>
          <a:bodyPr wrap="square">
            <a:spAutoFit/>
          </a:bodyPr>
          <a:lstStyle/>
          <a:p>
            <a:pPr fontAlgn="base"/>
            <a:r>
              <a:rPr lang="en-US" dirty="0">
                <a:latin typeface="Calibir"/>
              </a:rPr>
              <a:t>Dear Dr. Farshid Keivanian,</a:t>
            </a:r>
          </a:p>
          <a:p>
            <a:pPr fontAlgn="base"/>
            <a:r>
              <a:rPr lang="en-US" dirty="0">
                <a:latin typeface="Calibir"/>
              </a:rPr>
              <a:t>I hope this message finds you well.</a:t>
            </a:r>
          </a:p>
          <a:p>
            <a:pPr fontAlgn="base"/>
            <a:r>
              <a:rPr lang="en-US" dirty="0">
                <a:latin typeface="Calibir"/>
              </a:rPr>
              <a:t>I am a student from 32555-Fundamental of Software Development </a:t>
            </a:r>
            <a:r>
              <a:rPr lang="en-US" dirty="0" err="1">
                <a:latin typeface="Calibir"/>
              </a:rPr>
              <a:t>cmp</a:t>
            </a:r>
            <a:r>
              <a:rPr lang="en-US" dirty="0">
                <a:latin typeface="Calibir"/>
              </a:rPr>
              <a:t>-…, and I have some questions regarding Assignment </a:t>
            </a:r>
            <a:r>
              <a:rPr lang="en-US" b="1" dirty="0">
                <a:latin typeface="Calibir"/>
              </a:rPr>
              <a:t>1. Subject ID Generation</a:t>
            </a:r>
          </a:p>
          <a:p>
            <a:pPr marL="742950" lvl="1" indent="-285750">
              <a:buFont typeface="Arial" panose="020B0604020202020204" pitchFamily="34" charset="0"/>
              <a:buChar char="•"/>
            </a:pPr>
            <a:r>
              <a:rPr lang="en-US" dirty="0">
                <a:latin typeface="Calibir"/>
              </a:rPr>
              <a:t>Who is responsible for generating the subject ID? (Admin / System)</a:t>
            </a:r>
          </a:p>
          <a:p>
            <a:pPr marL="742950" lvl="1" indent="-285750">
              <a:buFont typeface="Arial" panose="020B0604020202020204" pitchFamily="34" charset="0"/>
              <a:buChar char="•"/>
            </a:pPr>
            <a:r>
              <a:rPr lang="en-US" dirty="0">
                <a:latin typeface="Calibir"/>
              </a:rPr>
              <a:t>Is there any limitation or format requirement for the subject ID?</a:t>
            </a:r>
          </a:p>
          <a:p>
            <a:pPr fontAlgn="base"/>
            <a:r>
              <a:rPr lang="en-US" b="1" dirty="0">
                <a:latin typeface="Calibir"/>
              </a:rPr>
              <a:t>2.  Admin Login Credentials</a:t>
            </a:r>
          </a:p>
          <a:p>
            <a:pPr marL="742950" lvl="1" indent="-285750">
              <a:buFont typeface="Arial" panose="020B0604020202020204" pitchFamily="34" charset="0"/>
              <a:buChar char="•"/>
            </a:pPr>
            <a:r>
              <a:rPr lang="en-US" dirty="0">
                <a:latin typeface="Calibir"/>
              </a:rPr>
              <a:t>According to the assignment outline, when an Admin logs into the system, should they use email and password or ID and password?</a:t>
            </a:r>
          </a:p>
          <a:p>
            <a:pPr marL="742950" lvl="1" indent="-285750">
              <a:buFont typeface="Arial" panose="020B0604020202020204" pitchFamily="34" charset="0"/>
              <a:buChar char="•"/>
            </a:pPr>
            <a:r>
              <a:rPr lang="en-US" dirty="0">
                <a:latin typeface="Calibir"/>
              </a:rPr>
              <a:t>It is mentioned that Admins do not need to register an account, but it is unclear whether they should log in using an email or an ID. Could you please clarify?</a:t>
            </a:r>
          </a:p>
          <a:p>
            <a:pPr fontAlgn="base"/>
            <a:r>
              <a:rPr lang="en-US" b="1" dirty="0">
                <a:latin typeface="Calibir"/>
              </a:rPr>
              <a:t>3.   Role Identification</a:t>
            </a:r>
          </a:p>
          <a:p>
            <a:pPr marL="742950" lvl="1" indent="-285750">
              <a:buFont typeface="Arial" panose="020B0604020202020204" pitchFamily="34" charset="0"/>
              <a:buChar char="•"/>
            </a:pPr>
            <a:r>
              <a:rPr lang="en-US" dirty="0">
                <a:latin typeface="Calibir"/>
              </a:rPr>
              <a:t>If we choose to use email and password for login, how should we distinguish between Student and Admin roles?</a:t>
            </a:r>
          </a:p>
          <a:p>
            <a:pPr marL="742950" lvl="1" indent="-285750">
              <a:buFont typeface="Arial" panose="020B0604020202020204" pitchFamily="34" charset="0"/>
              <a:buChar char="•"/>
            </a:pPr>
            <a:r>
              <a:rPr lang="en-US" dirty="0">
                <a:latin typeface="Calibir"/>
              </a:rPr>
              <a:t>Alternatively, if we use ID and password, is there a specific format or number of digits required for the Admin ID?</a:t>
            </a:r>
          </a:p>
          <a:p>
            <a:pPr fontAlgn="base"/>
            <a:r>
              <a:rPr lang="en-US" b="1" dirty="0">
                <a:latin typeface="Calibir"/>
              </a:rPr>
              <a:t>4.   Assignment Requirements from Week 6 Slides</a:t>
            </a:r>
          </a:p>
          <a:p>
            <a:pPr marL="742950" lvl="1" indent="-285750">
              <a:buFont typeface="Arial" panose="020B0604020202020204" pitchFamily="34" charset="0"/>
              <a:buChar char="•"/>
            </a:pPr>
            <a:r>
              <a:rPr lang="en-US" dirty="0">
                <a:latin typeface="Calibir"/>
              </a:rPr>
              <a:t>Based on the Week 6 and 7 slides, are we required to include scope, rules, data file design, and a traceability table in our submission?</a:t>
            </a:r>
          </a:p>
          <a:p>
            <a:pPr marL="742950" lvl="1" indent="-285750">
              <a:buFont typeface="Arial" panose="020B0604020202020204" pitchFamily="34" charset="0"/>
              <a:buChar char="•"/>
            </a:pPr>
            <a:r>
              <a:rPr lang="en-US" dirty="0">
                <a:latin typeface="Calibir"/>
              </a:rPr>
              <a:t>Will these components be assessed or contribute to our marks?</a:t>
            </a:r>
          </a:p>
          <a:p>
            <a:pPr fontAlgn="base"/>
            <a:r>
              <a:rPr lang="en-US" dirty="0">
                <a:latin typeface="Calibir"/>
              </a:rPr>
              <a:t>I would really appreciate your help in answering these questions.</a:t>
            </a:r>
          </a:p>
          <a:p>
            <a:pPr fontAlgn="base"/>
            <a:r>
              <a:rPr lang="en-US" dirty="0">
                <a:latin typeface="Calibir"/>
              </a:rPr>
              <a:t>Best regards</a:t>
            </a:r>
          </a:p>
        </p:txBody>
      </p:sp>
    </p:spTree>
    <p:extLst>
      <p:ext uri="{BB962C8B-B14F-4D97-AF65-F5344CB8AC3E}">
        <p14:creationId xmlns:p14="http://schemas.microsoft.com/office/powerpoint/2010/main" val="351269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2C6F1-9B35-3174-E076-57A438CC4E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374CF2-B179-CC8F-6B98-5B93B7E107C8}"/>
              </a:ext>
            </a:extLst>
          </p:cNvPr>
          <p:cNvSpPr>
            <a:spLocks noGrp="1"/>
          </p:cNvSpPr>
          <p:nvPr>
            <p:ph type="title"/>
          </p:nvPr>
        </p:nvSpPr>
        <p:spPr>
          <a:xfrm>
            <a:off x="0" y="0"/>
            <a:ext cx="12192000" cy="657922"/>
          </a:xfrm>
        </p:spPr>
        <p:txBody>
          <a:bodyPr anchor="b">
            <a:normAutofit fontScale="90000"/>
          </a:bodyPr>
          <a:lstStyle/>
          <a:p>
            <a:r>
              <a:rPr lang="en-US" sz="4000" dirty="0">
                <a:latin typeface="Calibir"/>
              </a:rPr>
              <a:t>Assignment 1 – Part 1: Admin, IDs, and Deliverables Clarified</a:t>
            </a:r>
            <a:endParaRPr lang="en-AU" sz="4000" b="1" dirty="0">
              <a:latin typeface="Calibir"/>
            </a:endParaRPr>
          </a:p>
        </p:txBody>
      </p:sp>
      <p:sp>
        <p:nvSpPr>
          <p:cNvPr id="7" name="TextBox 6">
            <a:extLst>
              <a:ext uri="{FF2B5EF4-FFF2-40B4-BE49-F238E27FC236}">
                <a16:creationId xmlns:a16="http://schemas.microsoft.com/office/drawing/2014/main" id="{F1A6E08F-348D-98B6-F7CF-97945EF69140}"/>
              </a:ext>
            </a:extLst>
          </p:cNvPr>
          <p:cNvSpPr txBox="1"/>
          <p:nvPr/>
        </p:nvSpPr>
        <p:spPr>
          <a:xfrm>
            <a:off x="0" y="920681"/>
            <a:ext cx="11971282" cy="5196166"/>
          </a:xfrm>
          <a:prstGeom prst="rect">
            <a:avLst/>
          </a:prstGeom>
          <a:noFill/>
        </p:spPr>
        <p:txBody>
          <a:bodyPr wrap="square">
            <a:spAutoFit/>
          </a:bodyPr>
          <a:lstStyle/>
          <a:p>
            <a:pPr>
              <a:lnSpc>
                <a:spcPct val="150000"/>
              </a:lnSpc>
            </a:pPr>
            <a:r>
              <a:rPr lang="en-US" sz="2800" dirty="0">
                <a:latin typeface="Calibir"/>
              </a:rPr>
              <a:t>Dear Student,</a:t>
            </a:r>
          </a:p>
          <a:p>
            <a:pPr>
              <a:lnSpc>
                <a:spcPct val="150000"/>
              </a:lnSpc>
            </a:pPr>
            <a:r>
              <a:rPr lang="en-US" sz="2800" dirty="0">
                <a:latin typeface="Calibir"/>
              </a:rPr>
              <a:t>Thank you for your thoughtful questions regarding Assignment 1. I’m happy to clarify each point:</a:t>
            </a:r>
          </a:p>
          <a:p>
            <a:pPr>
              <a:lnSpc>
                <a:spcPct val="150000"/>
              </a:lnSpc>
            </a:pPr>
            <a:r>
              <a:rPr lang="en-US" sz="2800" b="1" dirty="0">
                <a:latin typeface="Calibir"/>
              </a:rPr>
              <a:t>1. Subject ID Generation</a:t>
            </a:r>
          </a:p>
          <a:p>
            <a:pPr marL="714375" indent="-457200">
              <a:lnSpc>
                <a:spcPct val="150000"/>
              </a:lnSpc>
              <a:buFont typeface="Arial" panose="020B0604020202020204" pitchFamily="34" charset="0"/>
              <a:buChar char="•"/>
            </a:pPr>
            <a:r>
              <a:rPr lang="en-US" sz="2800" dirty="0">
                <a:latin typeface="Calibir"/>
              </a:rPr>
              <a:t>The system is responsible for generating subject IDs automatically (not the Admin).</a:t>
            </a:r>
          </a:p>
          <a:p>
            <a:pPr marL="714375" indent="-457200">
              <a:lnSpc>
                <a:spcPct val="150000"/>
              </a:lnSpc>
              <a:buFont typeface="Arial" panose="020B0604020202020204" pitchFamily="34" charset="0"/>
              <a:buChar char="•"/>
            </a:pPr>
            <a:r>
              <a:rPr lang="en-US" sz="2800" dirty="0">
                <a:latin typeface="Calibir"/>
              </a:rPr>
              <a:t>Subject IDs must be 3 digits, zero-padded (e.g., 001–999). This format is specified in the brief.</a:t>
            </a:r>
          </a:p>
        </p:txBody>
      </p:sp>
    </p:spTree>
    <p:extLst>
      <p:ext uri="{BB962C8B-B14F-4D97-AF65-F5344CB8AC3E}">
        <p14:creationId xmlns:p14="http://schemas.microsoft.com/office/powerpoint/2010/main" val="39226896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CC2F0-B940-568B-6BD5-95F455FAEB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F5CF73-560B-4ACA-9988-F8A8FEB5A9A9}"/>
              </a:ext>
            </a:extLst>
          </p:cNvPr>
          <p:cNvSpPr>
            <a:spLocks noGrp="1"/>
          </p:cNvSpPr>
          <p:nvPr>
            <p:ph type="title"/>
          </p:nvPr>
        </p:nvSpPr>
        <p:spPr>
          <a:xfrm>
            <a:off x="0" y="0"/>
            <a:ext cx="12192000" cy="657922"/>
          </a:xfrm>
        </p:spPr>
        <p:txBody>
          <a:bodyPr anchor="b">
            <a:normAutofit fontScale="90000"/>
          </a:bodyPr>
          <a:lstStyle/>
          <a:p>
            <a:r>
              <a:rPr lang="en-US" sz="4000" dirty="0">
                <a:latin typeface="Calibir"/>
              </a:rPr>
              <a:t>Assignment 1 – Part 1: Admin, IDs, and Deliverables Clarified</a:t>
            </a:r>
            <a:endParaRPr lang="en-AU" sz="4000" b="1" dirty="0">
              <a:latin typeface="Calibir"/>
            </a:endParaRPr>
          </a:p>
        </p:txBody>
      </p:sp>
      <p:sp>
        <p:nvSpPr>
          <p:cNvPr id="7" name="TextBox 6">
            <a:extLst>
              <a:ext uri="{FF2B5EF4-FFF2-40B4-BE49-F238E27FC236}">
                <a16:creationId xmlns:a16="http://schemas.microsoft.com/office/drawing/2014/main" id="{7030CBED-34D5-FB55-8A40-4219DE32DB2E}"/>
              </a:ext>
            </a:extLst>
          </p:cNvPr>
          <p:cNvSpPr txBox="1"/>
          <p:nvPr/>
        </p:nvSpPr>
        <p:spPr>
          <a:xfrm>
            <a:off x="110359" y="1800413"/>
            <a:ext cx="11971282" cy="3257174"/>
          </a:xfrm>
          <a:prstGeom prst="rect">
            <a:avLst/>
          </a:prstGeom>
          <a:noFill/>
        </p:spPr>
        <p:txBody>
          <a:bodyPr wrap="square">
            <a:spAutoFit/>
          </a:bodyPr>
          <a:lstStyle/>
          <a:p>
            <a:pPr>
              <a:lnSpc>
                <a:spcPct val="150000"/>
              </a:lnSpc>
            </a:pPr>
            <a:r>
              <a:rPr lang="en-US" sz="2800" b="1" dirty="0">
                <a:latin typeface="Calibir"/>
              </a:rPr>
              <a:t>2. Admin Login Credentials</a:t>
            </a:r>
          </a:p>
          <a:p>
            <a:pPr marL="714375" indent="-457200">
              <a:lnSpc>
                <a:spcPct val="150000"/>
              </a:lnSpc>
              <a:buFont typeface="Arial" panose="020B0604020202020204" pitchFamily="34" charset="0"/>
              <a:buChar char="•"/>
            </a:pPr>
            <a:r>
              <a:rPr lang="en-US" sz="2800" dirty="0">
                <a:latin typeface="Calibir"/>
              </a:rPr>
              <a:t>As per the assignment brief, Admins do not register accounts. They already exist in the system.</a:t>
            </a:r>
          </a:p>
          <a:p>
            <a:pPr marL="714375" indent="-457200">
              <a:lnSpc>
                <a:spcPct val="150000"/>
              </a:lnSpc>
              <a:buFont typeface="Arial" panose="020B0604020202020204" pitchFamily="34" charset="0"/>
              <a:buChar char="•"/>
            </a:pPr>
            <a:r>
              <a:rPr lang="en-US" sz="2800" dirty="0">
                <a:latin typeface="Calibir"/>
              </a:rPr>
              <a:t>Admins therefore do not need email/password or ID/password login. They simply access the Admin subsystem directly without authentication.</a:t>
            </a:r>
          </a:p>
        </p:txBody>
      </p:sp>
    </p:spTree>
    <p:extLst>
      <p:ext uri="{BB962C8B-B14F-4D97-AF65-F5344CB8AC3E}">
        <p14:creationId xmlns:p14="http://schemas.microsoft.com/office/powerpoint/2010/main" val="22248012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EF838-930C-2DD9-45E5-B6A7C091E3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68DDFB-3B95-4589-DEE3-57D6A5C67F94}"/>
              </a:ext>
            </a:extLst>
          </p:cNvPr>
          <p:cNvSpPr>
            <a:spLocks noGrp="1"/>
          </p:cNvSpPr>
          <p:nvPr>
            <p:ph type="title"/>
          </p:nvPr>
        </p:nvSpPr>
        <p:spPr>
          <a:xfrm>
            <a:off x="0" y="0"/>
            <a:ext cx="12192000" cy="657922"/>
          </a:xfrm>
        </p:spPr>
        <p:txBody>
          <a:bodyPr anchor="b">
            <a:normAutofit fontScale="90000"/>
          </a:bodyPr>
          <a:lstStyle/>
          <a:p>
            <a:r>
              <a:rPr lang="en-US" sz="4000" dirty="0">
                <a:latin typeface="Calibir"/>
              </a:rPr>
              <a:t>Assignment 1 – Part 1: Admin, IDs, and Deliverables Clarified</a:t>
            </a:r>
            <a:endParaRPr lang="en-AU" sz="4000" b="1" dirty="0">
              <a:latin typeface="Calibir"/>
            </a:endParaRPr>
          </a:p>
        </p:txBody>
      </p:sp>
      <p:sp>
        <p:nvSpPr>
          <p:cNvPr id="7" name="TextBox 6">
            <a:extLst>
              <a:ext uri="{FF2B5EF4-FFF2-40B4-BE49-F238E27FC236}">
                <a16:creationId xmlns:a16="http://schemas.microsoft.com/office/drawing/2014/main" id="{94C1CF87-15CE-625F-CEFC-3E8A2BC7EF35}"/>
              </a:ext>
            </a:extLst>
          </p:cNvPr>
          <p:cNvSpPr txBox="1"/>
          <p:nvPr/>
        </p:nvSpPr>
        <p:spPr>
          <a:xfrm>
            <a:off x="110359" y="1800413"/>
            <a:ext cx="11971282" cy="2610843"/>
          </a:xfrm>
          <a:prstGeom prst="rect">
            <a:avLst/>
          </a:prstGeom>
          <a:noFill/>
        </p:spPr>
        <p:txBody>
          <a:bodyPr wrap="square">
            <a:spAutoFit/>
          </a:bodyPr>
          <a:lstStyle/>
          <a:p>
            <a:pPr>
              <a:lnSpc>
                <a:spcPct val="150000"/>
              </a:lnSpc>
            </a:pPr>
            <a:r>
              <a:rPr lang="en-US" sz="2800" b="1" dirty="0">
                <a:latin typeface="Calibir"/>
              </a:rPr>
              <a:t>3. Role Identification</a:t>
            </a:r>
          </a:p>
          <a:p>
            <a:pPr marL="714375" indent="-457200">
              <a:lnSpc>
                <a:spcPct val="150000"/>
              </a:lnSpc>
              <a:buFont typeface="Arial" panose="020B0604020202020204" pitchFamily="34" charset="0"/>
              <a:buChar char="•"/>
            </a:pPr>
            <a:r>
              <a:rPr lang="en-US" sz="2800" dirty="0">
                <a:latin typeface="Calibir"/>
              </a:rPr>
              <a:t>Since Admins do not log in, there is no need to assign Admin IDs, emails, or passwords.</a:t>
            </a:r>
          </a:p>
          <a:p>
            <a:pPr marL="714375" indent="-457200">
              <a:lnSpc>
                <a:spcPct val="150000"/>
              </a:lnSpc>
              <a:buFont typeface="Arial" panose="020B0604020202020204" pitchFamily="34" charset="0"/>
              <a:buChar char="•"/>
            </a:pPr>
            <a:r>
              <a:rPr lang="en-US" sz="2800" dirty="0">
                <a:latin typeface="Calibir"/>
              </a:rPr>
              <a:t>Only Students need email + password validation and a 6-digit ID.</a:t>
            </a:r>
          </a:p>
        </p:txBody>
      </p:sp>
    </p:spTree>
    <p:extLst>
      <p:ext uri="{BB962C8B-B14F-4D97-AF65-F5344CB8AC3E}">
        <p14:creationId xmlns:p14="http://schemas.microsoft.com/office/powerpoint/2010/main" val="26475431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0862D-B2FE-6125-146A-BA0AE7C55F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1F7B9A-6F27-FDEA-507F-D6F4409FFD35}"/>
              </a:ext>
            </a:extLst>
          </p:cNvPr>
          <p:cNvSpPr>
            <a:spLocks noGrp="1"/>
          </p:cNvSpPr>
          <p:nvPr>
            <p:ph type="title"/>
          </p:nvPr>
        </p:nvSpPr>
        <p:spPr>
          <a:xfrm>
            <a:off x="0" y="0"/>
            <a:ext cx="12192000" cy="657922"/>
          </a:xfrm>
        </p:spPr>
        <p:txBody>
          <a:bodyPr anchor="b">
            <a:normAutofit fontScale="90000"/>
          </a:bodyPr>
          <a:lstStyle/>
          <a:p>
            <a:r>
              <a:rPr lang="en-US" sz="4000" dirty="0">
                <a:latin typeface="Calibir"/>
              </a:rPr>
              <a:t>Assignment 1 – Part 1: Admin, IDs, and Deliverables Clarified</a:t>
            </a:r>
            <a:endParaRPr lang="en-AU" sz="4000" b="1" dirty="0">
              <a:latin typeface="Calibir"/>
            </a:endParaRPr>
          </a:p>
        </p:txBody>
      </p:sp>
      <p:sp>
        <p:nvSpPr>
          <p:cNvPr id="7" name="TextBox 6">
            <a:extLst>
              <a:ext uri="{FF2B5EF4-FFF2-40B4-BE49-F238E27FC236}">
                <a16:creationId xmlns:a16="http://schemas.microsoft.com/office/drawing/2014/main" id="{9DFA1900-0152-DAFC-2CF7-53952020257E}"/>
              </a:ext>
            </a:extLst>
          </p:cNvPr>
          <p:cNvSpPr txBox="1"/>
          <p:nvPr/>
        </p:nvSpPr>
        <p:spPr>
          <a:xfrm>
            <a:off x="110359" y="657922"/>
            <a:ext cx="11971282" cy="5842497"/>
          </a:xfrm>
          <a:prstGeom prst="rect">
            <a:avLst/>
          </a:prstGeom>
          <a:noFill/>
        </p:spPr>
        <p:txBody>
          <a:bodyPr wrap="square">
            <a:spAutoFit/>
          </a:bodyPr>
          <a:lstStyle/>
          <a:p>
            <a:pPr>
              <a:lnSpc>
                <a:spcPct val="150000"/>
              </a:lnSpc>
            </a:pPr>
            <a:r>
              <a:rPr lang="en-US" sz="2800" b="1" dirty="0">
                <a:latin typeface="Calibir"/>
              </a:rPr>
              <a:t>4. Assignment Requirements (Week 6 &amp; 7 Slides)</a:t>
            </a:r>
          </a:p>
          <a:p>
            <a:pPr marL="457200" indent="-457200">
              <a:lnSpc>
                <a:spcPct val="150000"/>
              </a:lnSpc>
              <a:buFont typeface="Arial" panose="020B0604020202020204" pitchFamily="34" charset="0"/>
              <a:buChar char="•"/>
            </a:pPr>
            <a:r>
              <a:rPr lang="en-US" sz="2800" dirty="0">
                <a:latin typeface="Calibir"/>
              </a:rPr>
              <a:t>For Part 1 (Analysis &amp; Design), your submission must include:</a:t>
            </a:r>
          </a:p>
          <a:p>
            <a:pPr marL="914400" lvl="1" indent="-457200">
              <a:lnSpc>
                <a:spcPct val="150000"/>
              </a:lnSpc>
              <a:buFont typeface="Arial" panose="020B0604020202020204" pitchFamily="34" charset="0"/>
              <a:buChar char="•"/>
            </a:pPr>
            <a:r>
              <a:rPr lang="en-US" sz="2800" dirty="0">
                <a:latin typeface="Calibir"/>
              </a:rPr>
              <a:t>Scope summary</a:t>
            </a:r>
          </a:p>
          <a:p>
            <a:pPr marL="914400" lvl="1" indent="-457200">
              <a:lnSpc>
                <a:spcPct val="150000"/>
              </a:lnSpc>
              <a:buFont typeface="Arial" panose="020B0604020202020204" pitchFamily="34" charset="0"/>
              <a:buChar char="•"/>
            </a:pPr>
            <a:r>
              <a:rPr lang="en-US" sz="2800" dirty="0">
                <a:latin typeface="Calibir"/>
              </a:rPr>
              <a:t>User-story backlog (3-digit IDs, table format)</a:t>
            </a:r>
          </a:p>
          <a:p>
            <a:pPr marL="914400" lvl="1" indent="-457200">
              <a:lnSpc>
                <a:spcPct val="150000"/>
              </a:lnSpc>
              <a:buFont typeface="Arial" panose="020B0604020202020204" pitchFamily="34" charset="0"/>
              <a:buChar char="•"/>
            </a:pPr>
            <a:r>
              <a:rPr lang="en-US" sz="2800" dirty="0">
                <a:latin typeface="Calibir"/>
              </a:rPr>
              <a:t>One comprehensive Use Case Diagram</a:t>
            </a:r>
          </a:p>
          <a:p>
            <a:pPr marL="914400" lvl="1" indent="-457200">
              <a:lnSpc>
                <a:spcPct val="150000"/>
              </a:lnSpc>
              <a:buFont typeface="Arial" panose="020B0604020202020204" pitchFamily="34" charset="0"/>
              <a:buChar char="•"/>
            </a:pPr>
            <a:r>
              <a:rPr lang="en-US" sz="2800" dirty="0">
                <a:latin typeface="Calibir"/>
              </a:rPr>
              <a:t>One comprehensive Class Diagram</a:t>
            </a:r>
          </a:p>
          <a:p>
            <a:pPr marL="914400" lvl="1" indent="-457200">
              <a:lnSpc>
                <a:spcPct val="150000"/>
              </a:lnSpc>
              <a:buFont typeface="Arial" panose="020B0604020202020204" pitchFamily="34" charset="0"/>
              <a:buChar char="•"/>
            </a:pPr>
            <a:r>
              <a:rPr lang="en-US" sz="2800" dirty="0">
                <a:latin typeface="Calibir"/>
              </a:rPr>
              <a:t>System rules (email, password, IDs, grade bands)</a:t>
            </a:r>
          </a:p>
          <a:p>
            <a:pPr marL="914400" lvl="1" indent="-457200">
              <a:lnSpc>
                <a:spcPct val="150000"/>
              </a:lnSpc>
              <a:buFont typeface="Arial" panose="020B0604020202020204" pitchFamily="34" charset="0"/>
              <a:buChar char="•"/>
            </a:pPr>
            <a:r>
              <a:rPr lang="en-US" sz="2800" dirty="0">
                <a:latin typeface="Calibir"/>
              </a:rPr>
              <a:t>Example data file design (JSON or CSV format, design only, no coding)</a:t>
            </a:r>
          </a:p>
          <a:p>
            <a:pPr marL="914400" lvl="1" indent="-457200">
              <a:lnSpc>
                <a:spcPct val="150000"/>
              </a:lnSpc>
              <a:buFont typeface="Arial" panose="020B0604020202020204" pitchFamily="34" charset="0"/>
              <a:buChar char="•"/>
            </a:pPr>
            <a:r>
              <a:rPr lang="en-US" sz="2800" dirty="0">
                <a:latin typeface="Calibir"/>
              </a:rPr>
              <a:t>Contribution plan</a:t>
            </a:r>
          </a:p>
        </p:txBody>
      </p:sp>
    </p:spTree>
    <p:extLst>
      <p:ext uri="{BB962C8B-B14F-4D97-AF65-F5344CB8AC3E}">
        <p14:creationId xmlns:p14="http://schemas.microsoft.com/office/powerpoint/2010/main" val="8771810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BB4FE-63ED-0AFD-D26D-943022BDC8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F6C9CF-3A77-1CA0-7713-FBA7522EE6E1}"/>
              </a:ext>
            </a:extLst>
          </p:cNvPr>
          <p:cNvSpPr>
            <a:spLocks noGrp="1"/>
          </p:cNvSpPr>
          <p:nvPr>
            <p:ph type="title"/>
          </p:nvPr>
        </p:nvSpPr>
        <p:spPr>
          <a:xfrm>
            <a:off x="0" y="0"/>
            <a:ext cx="12192000" cy="657922"/>
          </a:xfrm>
        </p:spPr>
        <p:txBody>
          <a:bodyPr anchor="b">
            <a:normAutofit fontScale="90000"/>
          </a:bodyPr>
          <a:lstStyle/>
          <a:p>
            <a:r>
              <a:rPr lang="en-US" sz="4000" dirty="0">
                <a:latin typeface="Calibir"/>
              </a:rPr>
              <a:t>Assignment 1 – Part 1: Admin, IDs, and Deliverables Clarified</a:t>
            </a:r>
            <a:endParaRPr lang="en-AU" sz="4000" b="1" dirty="0">
              <a:latin typeface="Calibir"/>
            </a:endParaRPr>
          </a:p>
        </p:txBody>
      </p:sp>
      <p:sp>
        <p:nvSpPr>
          <p:cNvPr id="7" name="TextBox 6">
            <a:extLst>
              <a:ext uri="{FF2B5EF4-FFF2-40B4-BE49-F238E27FC236}">
                <a16:creationId xmlns:a16="http://schemas.microsoft.com/office/drawing/2014/main" id="{09BABE48-D7BC-289B-0CAF-BA7CF8F8EE83}"/>
              </a:ext>
            </a:extLst>
          </p:cNvPr>
          <p:cNvSpPr txBox="1"/>
          <p:nvPr/>
        </p:nvSpPr>
        <p:spPr>
          <a:xfrm>
            <a:off x="0" y="497942"/>
            <a:ext cx="11971282" cy="6383799"/>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500" dirty="0">
                <a:latin typeface="Calibir"/>
              </a:rPr>
              <a:t>The “traceability” check (requirements → stories → diagrams) is recommended as a quality step, but it is not a separate marking criterion.</a:t>
            </a:r>
          </a:p>
          <a:p>
            <a:pPr marL="457200" indent="-457200">
              <a:lnSpc>
                <a:spcPct val="150000"/>
              </a:lnSpc>
              <a:buFont typeface="Arial" panose="020B0604020202020204" pitchFamily="34" charset="0"/>
              <a:buChar char="•"/>
            </a:pPr>
            <a:r>
              <a:rPr lang="en-US" sz="2500" dirty="0">
                <a:latin typeface="Calibir"/>
              </a:rPr>
              <a:t>The main marks come from backlog (5), use case diagram (5), and class diagram (5), for a total of 15 marks.</a:t>
            </a:r>
          </a:p>
          <a:p>
            <a:pPr>
              <a:lnSpc>
                <a:spcPct val="150000"/>
              </a:lnSpc>
            </a:pPr>
            <a:r>
              <a:rPr lang="en-US" sz="2500" b="1" dirty="0">
                <a:latin typeface="Calibir"/>
              </a:rPr>
              <a:t>Key takeaway: </a:t>
            </a:r>
            <a:r>
              <a:rPr lang="en-US" sz="2500" dirty="0">
                <a:latin typeface="Calibir"/>
              </a:rPr>
              <a:t>Subject IDs = generated by system (3 digits). Admins = no login needed. Students = email/password + 6-digit ID. Required deliverables are those listed above.</a:t>
            </a:r>
          </a:p>
          <a:p>
            <a:pPr>
              <a:lnSpc>
                <a:spcPct val="150000"/>
              </a:lnSpc>
            </a:pPr>
            <a:r>
              <a:rPr lang="en-US" sz="2500" dirty="0">
                <a:latin typeface="Calibir"/>
              </a:rPr>
              <a:t>I hope this clears things up. Please also refer to the official assignment instructions on Canvas for final reference.</a:t>
            </a:r>
          </a:p>
          <a:p>
            <a:pPr>
              <a:lnSpc>
                <a:spcPct val="150000"/>
              </a:lnSpc>
            </a:pPr>
            <a:r>
              <a:rPr lang="en-US" sz="2500" dirty="0"/>
              <a:t>Best regards,</a:t>
            </a:r>
            <a:br>
              <a:rPr lang="en-US" sz="2500" dirty="0"/>
            </a:br>
            <a:r>
              <a:rPr lang="en-US" sz="2500" dirty="0"/>
              <a:t>Dr. Farshid Keivanian</a:t>
            </a:r>
            <a:br>
              <a:rPr lang="en-US" sz="2500" dirty="0"/>
            </a:br>
            <a:r>
              <a:rPr lang="en-US" sz="2500" dirty="0"/>
              <a:t>32555 – Fundamentals of Software Engineering</a:t>
            </a:r>
            <a:endParaRPr lang="en-US" sz="2500" dirty="0">
              <a:latin typeface="Calibir"/>
            </a:endParaRPr>
          </a:p>
        </p:txBody>
      </p:sp>
    </p:spTree>
    <p:extLst>
      <p:ext uri="{BB962C8B-B14F-4D97-AF65-F5344CB8AC3E}">
        <p14:creationId xmlns:p14="http://schemas.microsoft.com/office/powerpoint/2010/main" val="21333177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2E4D9-A7D4-FF2A-3291-FD8793C586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66EF04-1083-EC6B-96ED-C05EFBA212C4}"/>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Use Case Diagram Clarifications</a:t>
            </a:r>
            <a:endParaRPr lang="en-AU" sz="4000" b="1" dirty="0">
              <a:latin typeface="Calibir"/>
            </a:endParaRPr>
          </a:p>
        </p:txBody>
      </p:sp>
      <p:sp>
        <p:nvSpPr>
          <p:cNvPr id="4" name="TextBox 3">
            <a:extLst>
              <a:ext uri="{FF2B5EF4-FFF2-40B4-BE49-F238E27FC236}">
                <a16:creationId xmlns:a16="http://schemas.microsoft.com/office/drawing/2014/main" id="{E41A28C1-8996-E0A1-B0DA-7514C6F13F92}"/>
              </a:ext>
            </a:extLst>
          </p:cNvPr>
          <p:cNvSpPr txBox="1"/>
          <p:nvPr/>
        </p:nvSpPr>
        <p:spPr>
          <a:xfrm>
            <a:off x="0" y="1614996"/>
            <a:ext cx="11965258" cy="3903504"/>
          </a:xfrm>
          <a:prstGeom prst="rect">
            <a:avLst/>
          </a:prstGeom>
          <a:noFill/>
        </p:spPr>
        <p:txBody>
          <a:bodyPr wrap="square">
            <a:spAutoFit/>
          </a:bodyPr>
          <a:lstStyle/>
          <a:p>
            <a:pPr eaLnBrk="0" fontAlgn="base" hangingPunct="0">
              <a:lnSpc>
                <a:spcPct val="150000"/>
              </a:lnSpc>
              <a:spcBef>
                <a:spcPct val="0"/>
              </a:spcBef>
              <a:spcAft>
                <a:spcPct val="0"/>
              </a:spcAft>
            </a:pPr>
            <a:r>
              <a:rPr lang="en-US" altLang="en-US" sz="2800" dirty="0">
                <a:solidFill>
                  <a:srgbClr val="000000"/>
                </a:solidFill>
                <a:latin typeface="Calibir"/>
              </a:rPr>
              <a:t>Dear Teacher,</a:t>
            </a:r>
          </a:p>
          <a:p>
            <a:pPr eaLnBrk="0" fontAlgn="base" hangingPunct="0">
              <a:lnSpc>
                <a:spcPct val="150000"/>
              </a:lnSpc>
              <a:spcBef>
                <a:spcPct val="0"/>
              </a:spcBef>
              <a:spcAft>
                <a:spcPct val="0"/>
              </a:spcAft>
            </a:pPr>
            <a:r>
              <a:rPr lang="en-US" altLang="en-US" sz="2800" dirty="0">
                <a:solidFill>
                  <a:srgbClr val="000000"/>
                </a:solidFill>
                <a:latin typeface="Calibir"/>
              </a:rPr>
              <a:t>For the UC diagram question:</a:t>
            </a:r>
            <a:endParaRPr lang="en-US" altLang="en-US" sz="2800" dirty="0">
              <a:latin typeface="Calibir"/>
            </a:endParaRPr>
          </a:p>
          <a:p>
            <a:pPr lvl="0" eaLnBrk="0" fontAlgn="base" hangingPunct="0">
              <a:lnSpc>
                <a:spcPct val="150000"/>
              </a:lnSpc>
              <a:spcBef>
                <a:spcPct val="0"/>
              </a:spcBef>
              <a:spcAft>
                <a:spcPct val="0"/>
              </a:spcAft>
            </a:pPr>
            <a:r>
              <a:rPr lang="en-US" altLang="en-US" sz="2800" dirty="0">
                <a:solidFill>
                  <a:srgbClr val="000000"/>
                </a:solidFill>
                <a:latin typeface="Calibir"/>
              </a:rPr>
              <a:t>There is  confusion in declaring use cases for us, since, for instance, Enroll in Subject is done by actor Student, Assign Random Subject, and Mark are internal operations from the system (which is not the actor), so do we have to include them in the diagram or it will just stop at Enroll in Subject</a:t>
            </a:r>
            <a:endParaRPr lang="en-US" altLang="en-US" sz="2800" dirty="0">
              <a:latin typeface="Calibir"/>
            </a:endParaRPr>
          </a:p>
        </p:txBody>
      </p:sp>
    </p:spTree>
    <p:extLst>
      <p:ext uri="{BB962C8B-B14F-4D97-AF65-F5344CB8AC3E}">
        <p14:creationId xmlns:p14="http://schemas.microsoft.com/office/powerpoint/2010/main" val="20144933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3FE81-597F-AD74-31F4-84FF43C326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4EBB10-C7C6-113A-4645-845C1D0BA62C}"/>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Use Case Diagram Clarifications</a:t>
            </a:r>
            <a:endParaRPr lang="en-AU" sz="4000" b="1" dirty="0">
              <a:latin typeface="Calibir"/>
            </a:endParaRPr>
          </a:p>
        </p:txBody>
      </p:sp>
      <p:sp>
        <p:nvSpPr>
          <p:cNvPr id="4" name="TextBox 3">
            <a:extLst>
              <a:ext uri="{FF2B5EF4-FFF2-40B4-BE49-F238E27FC236}">
                <a16:creationId xmlns:a16="http://schemas.microsoft.com/office/drawing/2014/main" id="{8E47277C-7D78-13FB-33CE-72052909D0C6}"/>
              </a:ext>
            </a:extLst>
          </p:cNvPr>
          <p:cNvSpPr txBox="1"/>
          <p:nvPr/>
        </p:nvSpPr>
        <p:spPr>
          <a:xfrm>
            <a:off x="0" y="1614996"/>
            <a:ext cx="11965258" cy="3903504"/>
          </a:xfrm>
          <a:prstGeom prst="rect">
            <a:avLst/>
          </a:prstGeom>
          <a:noFill/>
        </p:spPr>
        <p:txBody>
          <a:bodyPr wrap="square">
            <a:spAutoFit/>
          </a:bodyPr>
          <a:lstStyle/>
          <a:p>
            <a:pPr>
              <a:lnSpc>
                <a:spcPct val="150000"/>
              </a:lnSpc>
            </a:pPr>
            <a:r>
              <a:rPr lang="en-US" sz="2800" b="1" dirty="0">
                <a:latin typeface="Calibir"/>
              </a:rPr>
              <a:t>Dear Duy Bao Cao,</a:t>
            </a:r>
            <a:endParaRPr lang="en-US" sz="2800" dirty="0">
              <a:latin typeface="Calibir"/>
            </a:endParaRPr>
          </a:p>
          <a:p>
            <a:pPr>
              <a:lnSpc>
                <a:spcPct val="150000"/>
              </a:lnSpc>
            </a:pPr>
            <a:r>
              <a:rPr lang="en-US" sz="2800" dirty="0">
                <a:latin typeface="Calibir"/>
              </a:rPr>
              <a:t>That’s an excellent and very important question—thank you for raising it.</a:t>
            </a:r>
          </a:p>
          <a:p>
            <a:pPr>
              <a:lnSpc>
                <a:spcPct val="150000"/>
              </a:lnSpc>
            </a:pPr>
            <a:r>
              <a:rPr lang="en-US" sz="2800" dirty="0">
                <a:latin typeface="Calibir"/>
              </a:rPr>
              <a:t>In a Use Case Diagram, you only show interactions between external actors (Student, Admin) and the system. Internal tasks like assigning random subject IDs, generating marks, or validating emails are system responsibilities, but they are not separate actors.</a:t>
            </a:r>
          </a:p>
        </p:txBody>
      </p:sp>
    </p:spTree>
    <p:extLst>
      <p:ext uri="{BB962C8B-B14F-4D97-AF65-F5344CB8AC3E}">
        <p14:creationId xmlns:p14="http://schemas.microsoft.com/office/powerpoint/2010/main" val="35804992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3364B-CC6D-5B59-202D-B1F2946FD72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721BEEE-6C52-962B-5D18-909CDB3B18F8}"/>
              </a:ext>
            </a:extLst>
          </p:cNvPr>
          <p:cNvSpPr txBox="1"/>
          <p:nvPr/>
        </p:nvSpPr>
        <p:spPr>
          <a:xfrm>
            <a:off x="0" y="1154082"/>
            <a:ext cx="11965258" cy="4549835"/>
          </a:xfrm>
          <a:prstGeom prst="rect">
            <a:avLst/>
          </a:prstGeom>
          <a:noFill/>
        </p:spPr>
        <p:txBody>
          <a:bodyPr wrap="square">
            <a:spAutoFit/>
          </a:bodyPr>
          <a:lstStyle/>
          <a:p>
            <a:pPr>
              <a:lnSpc>
                <a:spcPct val="150000"/>
              </a:lnSpc>
            </a:pPr>
            <a:r>
              <a:rPr lang="en-US" sz="2800" dirty="0">
                <a:latin typeface="Calibir"/>
              </a:rPr>
              <a:t>Here’s the rule of thumb for this assignment:</a:t>
            </a:r>
          </a:p>
          <a:p>
            <a:pPr marL="914400" lvl="1" indent="-457200">
              <a:lnSpc>
                <a:spcPct val="150000"/>
              </a:lnSpc>
              <a:buFont typeface="Arial" panose="020B0604020202020204" pitchFamily="34" charset="0"/>
              <a:buChar char="•"/>
            </a:pPr>
            <a:r>
              <a:rPr lang="en-US" sz="2800" dirty="0">
                <a:latin typeface="Calibir"/>
              </a:rPr>
              <a:t>Show the main action as a use case (e.g., </a:t>
            </a:r>
            <a:r>
              <a:rPr lang="en-US" sz="2800" i="1" dirty="0">
                <a:latin typeface="Calibir"/>
              </a:rPr>
              <a:t>Enroll in Subject</a:t>
            </a:r>
            <a:r>
              <a:rPr lang="en-US" sz="2800" dirty="0">
                <a:latin typeface="Calibir"/>
              </a:rPr>
              <a:t>).</a:t>
            </a:r>
          </a:p>
          <a:p>
            <a:pPr marL="914400" lvl="1" indent="-457200">
              <a:lnSpc>
                <a:spcPct val="150000"/>
              </a:lnSpc>
              <a:buFont typeface="Arial" panose="020B0604020202020204" pitchFamily="34" charset="0"/>
              <a:buChar char="•"/>
            </a:pPr>
            <a:r>
              <a:rPr lang="en-US" sz="2800" dirty="0">
                <a:latin typeface="Calibir"/>
              </a:rPr>
              <a:t>If the system always performs an internal step (e.g., </a:t>
            </a:r>
            <a:r>
              <a:rPr lang="en-US" sz="2800" i="1" dirty="0">
                <a:latin typeface="Calibir"/>
              </a:rPr>
              <a:t>Generate ID, Assign Random Mark, Calculate Grade</a:t>
            </a:r>
            <a:r>
              <a:rPr lang="en-US" sz="2800" dirty="0">
                <a:latin typeface="Calibir"/>
              </a:rPr>
              <a:t>), you may model it as an &lt;&lt;include&gt;&gt; use case connected to the main one.</a:t>
            </a:r>
          </a:p>
          <a:p>
            <a:pPr marL="914400" lvl="1" indent="-457200">
              <a:lnSpc>
                <a:spcPct val="150000"/>
              </a:lnSpc>
              <a:buFont typeface="Arial" panose="020B0604020202020204" pitchFamily="34" charset="0"/>
              <a:buChar char="•"/>
            </a:pPr>
            <a:r>
              <a:rPr lang="en-US" sz="2800" dirty="0">
                <a:latin typeface="Calibir"/>
              </a:rPr>
              <a:t>You do not need to introduce “System” as an actor. Keep actors limited to Student and Admin.</a:t>
            </a:r>
          </a:p>
        </p:txBody>
      </p:sp>
      <p:sp>
        <p:nvSpPr>
          <p:cNvPr id="6" name="Title 1">
            <a:extLst>
              <a:ext uri="{FF2B5EF4-FFF2-40B4-BE49-F238E27FC236}">
                <a16:creationId xmlns:a16="http://schemas.microsoft.com/office/drawing/2014/main" id="{4B48C36A-530E-10A2-06B3-CC423272B1E3}"/>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Use Case Diagram Clarifications</a:t>
            </a:r>
            <a:endParaRPr lang="en-AU" sz="4000" b="1" dirty="0">
              <a:latin typeface="Calibir"/>
            </a:endParaRPr>
          </a:p>
        </p:txBody>
      </p:sp>
    </p:spTree>
    <p:extLst>
      <p:ext uri="{BB962C8B-B14F-4D97-AF65-F5344CB8AC3E}">
        <p14:creationId xmlns:p14="http://schemas.microsoft.com/office/powerpoint/2010/main" val="13550408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B2D28-6424-F9D9-463F-D7CF85438A3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7F301FF-F25D-6245-66C2-FE024654A6A1}"/>
              </a:ext>
            </a:extLst>
          </p:cNvPr>
          <p:cNvSpPr txBox="1"/>
          <p:nvPr/>
        </p:nvSpPr>
        <p:spPr>
          <a:xfrm>
            <a:off x="0" y="1154082"/>
            <a:ext cx="11965258" cy="4549835"/>
          </a:xfrm>
          <a:prstGeom prst="rect">
            <a:avLst/>
          </a:prstGeom>
          <a:noFill/>
        </p:spPr>
        <p:txBody>
          <a:bodyPr wrap="square">
            <a:spAutoFit/>
          </a:bodyPr>
          <a:lstStyle/>
          <a:p>
            <a:pPr>
              <a:lnSpc>
                <a:spcPct val="150000"/>
              </a:lnSpc>
            </a:pPr>
            <a:r>
              <a:rPr lang="en-US" sz="2800" dirty="0">
                <a:latin typeface="Calibir"/>
              </a:rPr>
              <a:t>So in your example (diagram):</a:t>
            </a:r>
          </a:p>
          <a:p>
            <a:pPr marL="914400" lvl="1" indent="-457200">
              <a:lnSpc>
                <a:spcPct val="150000"/>
              </a:lnSpc>
              <a:buFont typeface="Arial" panose="020B0604020202020204" pitchFamily="34" charset="0"/>
              <a:buChar char="•"/>
            </a:pPr>
            <a:r>
              <a:rPr lang="en-US" sz="2800" dirty="0">
                <a:latin typeface="Calibir"/>
              </a:rPr>
              <a:t>Student → </a:t>
            </a:r>
            <a:r>
              <a:rPr lang="en-US" sz="2800" dirty="0" err="1">
                <a:latin typeface="Calibir"/>
              </a:rPr>
              <a:t>Enrol</a:t>
            </a:r>
            <a:r>
              <a:rPr lang="en-US" sz="2800" dirty="0">
                <a:latin typeface="Calibir"/>
              </a:rPr>
              <a:t> in Subject (main use case).</a:t>
            </a:r>
          </a:p>
          <a:p>
            <a:pPr marL="914400" lvl="1" indent="-457200">
              <a:lnSpc>
                <a:spcPct val="150000"/>
              </a:lnSpc>
              <a:buFont typeface="Arial" panose="020B0604020202020204" pitchFamily="34" charset="0"/>
              <a:buChar char="•"/>
            </a:pPr>
            <a:r>
              <a:rPr lang="en-US" sz="2800" i="1" dirty="0">
                <a:latin typeface="Calibir"/>
              </a:rPr>
              <a:t>Assign Random Subject</a:t>
            </a:r>
            <a:r>
              <a:rPr lang="en-US" sz="2800" dirty="0">
                <a:latin typeface="Calibir"/>
              </a:rPr>
              <a:t>, </a:t>
            </a:r>
            <a:r>
              <a:rPr lang="en-US" sz="2800" i="1" dirty="0">
                <a:latin typeface="Calibir"/>
              </a:rPr>
              <a:t>Assign Random Mark</a:t>
            </a:r>
            <a:r>
              <a:rPr lang="en-US" sz="2800" dirty="0">
                <a:latin typeface="Calibir"/>
              </a:rPr>
              <a:t>, and </a:t>
            </a:r>
            <a:r>
              <a:rPr lang="en-US" sz="2800" i="1" dirty="0">
                <a:latin typeface="Calibir"/>
              </a:rPr>
              <a:t>Calculate Grade</a:t>
            </a:r>
            <a:r>
              <a:rPr lang="en-US" sz="2800" dirty="0">
                <a:latin typeface="Calibir"/>
              </a:rPr>
              <a:t> can be &lt;&lt;include&gt;&gt; use cases linked to </a:t>
            </a:r>
            <a:r>
              <a:rPr lang="en-US" sz="2800" i="1" dirty="0" err="1">
                <a:latin typeface="Calibir"/>
              </a:rPr>
              <a:t>Enrol</a:t>
            </a:r>
            <a:r>
              <a:rPr lang="en-US" sz="2800" i="1" dirty="0">
                <a:latin typeface="Calibir"/>
              </a:rPr>
              <a:t> in Subject</a:t>
            </a:r>
            <a:r>
              <a:rPr lang="en-US" sz="2800" dirty="0">
                <a:latin typeface="Calibir"/>
              </a:rPr>
              <a:t>.</a:t>
            </a:r>
          </a:p>
          <a:p>
            <a:pPr marL="914400" lvl="1" indent="-457200">
              <a:lnSpc>
                <a:spcPct val="150000"/>
              </a:lnSpc>
              <a:buFont typeface="Arial" panose="020B0604020202020204" pitchFamily="34" charset="0"/>
              <a:buChar char="•"/>
            </a:pPr>
            <a:r>
              <a:rPr lang="en-US" sz="2800" dirty="0">
                <a:latin typeface="Calibir"/>
              </a:rPr>
              <a:t>The diagram should stop at the external action (</a:t>
            </a:r>
            <a:r>
              <a:rPr lang="en-US" sz="2800" i="1" dirty="0" err="1">
                <a:latin typeface="Calibir"/>
              </a:rPr>
              <a:t>Enrol</a:t>
            </a:r>
            <a:r>
              <a:rPr lang="en-US" sz="2800" i="1" dirty="0">
                <a:latin typeface="Calibir"/>
              </a:rPr>
              <a:t> in Subject</a:t>
            </a:r>
            <a:r>
              <a:rPr lang="en-US" sz="2800" dirty="0">
                <a:latin typeface="Calibir"/>
              </a:rPr>
              <a:t>) and then use include/extend for the internal logic, instead of showing them as if they were done by an actor.</a:t>
            </a:r>
          </a:p>
        </p:txBody>
      </p:sp>
      <p:sp>
        <p:nvSpPr>
          <p:cNvPr id="2" name="Title 1">
            <a:extLst>
              <a:ext uri="{FF2B5EF4-FFF2-40B4-BE49-F238E27FC236}">
                <a16:creationId xmlns:a16="http://schemas.microsoft.com/office/drawing/2014/main" id="{AC8400A0-4EED-2350-69A8-357557847BC9}"/>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Use Case Diagram Clarifications</a:t>
            </a:r>
            <a:endParaRPr lang="en-AU" sz="4000" b="1" dirty="0">
              <a:latin typeface="Calibir"/>
            </a:endParaRPr>
          </a:p>
        </p:txBody>
      </p:sp>
    </p:spTree>
    <p:extLst>
      <p:ext uri="{BB962C8B-B14F-4D97-AF65-F5344CB8AC3E}">
        <p14:creationId xmlns:p14="http://schemas.microsoft.com/office/powerpoint/2010/main" val="14673426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D679A-DE33-3638-8E43-5DD627A9AA8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40834ED-18E4-B5A1-A80E-84AA738CE109}"/>
              </a:ext>
            </a:extLst>
          </p:cNvPr>
          <p:cNvSpPr txBox="1"/>
          <p:nvPr/>
        </p:nvSpPr>
        <p:spPr>
          <a:xfrm>
            <a:off x="0" y="1154082"/>
            <a:ext cx="11965258" cy="3257174"/>
          </a:xfrm>
          <a:prstGeom prst="rect">
            <a:avLst/>
          </a:prstGeom>
          <a:noFill/>
        </p:spPr>
        <p:txBody>
          <a:bodyPr wrap="square">
            <a:spAutoFit/>
          </a:bodyPr>
          <a:lstStyle/>
          <a:p>
            <a:pPr>
              <a:lnSpc>
                <a:spcPct val="150000"/>
              </a:lnSpc>
            </a:pPr>
            <a:r>
              <a:rPr lang="en-US" sz="2800" dirty="0">
                <a:latin typeface="Calibir"/>
              </a:rPr>
              <a:t>This way, your diagram remains aligned with the assignment brief: actors are only Student and Admin, and system actions are shown as part of use case flows, not as new actors.</a:t>
            </a:r>
          </a:p>
          <a:p>
            <a:pPr>
              <a:lnSpc>
                <a:spcPct val="150000"/>
              </a:lnSpc>
            </a:pPr>
            <a:r>
              <a:rPr lang="en-US" sz="2800" b="1" dirty="0">
                <a:latin typeface="Calibir"/>
              </a:rPr>
              <a:t>Kind regards,</a:t>
            </a:r>
          </a:p>
          <a:p>
            <a:pPr>
              <a:lnSpc>
                <a:spcPct val="150000"/>
              </a:lnSpc>
            </a:pPr>
            <a:r>
              <a:rPr lang="en-US" sz="2800" b="1" dirty="0">
                <a:latin typeface="Calibir"/>
              </a:rPr>
              <a:t>Farshid</a:t>
            </a:r>
            <a:endParaRPr lang="en-US" sz="2800" dirty="0">
              <a:latin typeface="Calibir"/>
            </a:endParaRPr>
          </a:p>
        </p:txBody>
      </p:sp>
      <p:sp>
        <p:nvSpPr>
          <p:cNvPr id="2" name="Title 1">
            <a:extLst>
              <a:ext uri="{FF2B5EF4-FFF2-40B4-BE49-F238E27FC236}">
                <a16:creationId xmlns:a16="http://schemas.microsoft.com/office/drawing/2014/main" id="{1FA2F98A-0EB9-F8CD-AFE1-3B39CE85731B}"/>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Use Case Diagram Clarifications</a:t>
            </a:r>
            <a:endParaRPr lang="en-AU" sz="4000" b="1" dirty="0">
              <a:latin typeface="Calibir"/>
            </a:endParaRPr>
          </a:p>
        </p:txBody>
      </p:sp>
    </p:spTree>
    <p:extLst>
      <p:ext uri="{BB962C8B-B14F-4D97-AF65-F5344CB8AC3E}">
        <p14:creationId xmlns:p14="http://schemas.microsoft.com/office/powerpoint/2010/main" val="4438332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BC7DE-A73D-C0DC-83A8-721E8440F9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8F4456-F068-E60A-716E-DA3E1C1DB07C}"/>
              </a:ext>
            </a:extLst>
          </p:cNvPr>
          <p:cNvSpPr>
            <a:spLocks noGrp="1"/>
          </p:cNvSpPr>
          <p:nvPr>
            <p:ph type="title"/>
          </p:nvPr>
        </p:nvSpPr>
        <p:spPr>
          <a:xfrm>
            <a:off x="0" y="0"/>
            <a:ext cx="12192000" cy="657922"/>
          </a:xfrm>
        </p:spPr>
        <p:txBody>
          <a:bodyPr anchor="b">
            <a:normAutofit/>
          </a:bodyPr>
          <a:lstStyle/>
          <a:p>
            <a:r>
              <a:rPr lang="en-US" sz="4000" dirty="0">
                <a:latin typeface="Calibir"/>
              </a:rPr>
              <a:t>User Story Backlog – Clarified</a:t>
            </a:r>
            <a:endParaRPr lang="en-AU" sz="4000" b="1" dirty="0">
              <a:latin typeface="Calibir"/>
            </a:endParaRPr>
          </a:p>
        </p:txBody>
      </p:sp>
      <p:pic>
        <p:nvPicPr>
          <p:cNvPr id="5" name="Picture 4">
            <a:extLst>
              <a:ext uri="{FF2B5EF4-FFF2-40B4-BE49-F238E27FC236}">
                <a16:creationId xmlns:a16="http://schemas.microsoft.com/office/drawing/2014/main" id="{BD9974E0-A83C-D8F2-FF7F-77ECDA97CB71}"/>
              </a:ext>
            </a:extLst>
          </p:cNvPr>
          <p:cNvPicPr>
            <a:picLocks noChangeAspect="1"/>
          </p:cNvPicPr>
          <p:nvPr/>
        </p:nvPicPr>
        <p:blipFill>
          <a:blip r:embed="rId2"/>
          <a:stretch>
            <a:fillRect/>
          </a:stretch>
        </p:blipFill>
        <p:spPr>
          <a:xfrm>
            <a:off x="1114363" y="777766"/>
            <a:ext cx="9963274" cy="6080234"/>
          </a:xfrm>
          <a:prstGeom prst="rect">
            <a:avLst/>
          </a:prstGeom>
        </p:spPr>
      </p:pic>
    </p:spTree>
    <p:extLst>
      <p:ext uri="{BB962C8B-B14F-4D97-AF65-F5344CB8AC3E}">
        <p14:creationId xmlns:p14="http://schemas.microsoft.com/office/powerpoint/2010/main" val="19736736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5269A-5BF7-DEB9-6C20-58B1EC03C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FCAA06-71B5-750D-896D-704200364D63}"/>
              </a:ext>
            </a:extLst>
          </p:cNvPr>
          <p:cNvSpPr>
            <a:spLocks noGrp="1"/>
          </p:cNvSpPr>
          <p:nvPr>
            <p:ph type="title"/>
          </p:nvPr>
        </p:nvSpPr>
        <p:spPr>
          <a:xfrm>
            <a:off x="0" y="0"/>
            <a:ext cx="12192000" cy="657922"/>
          </a:xfrm>
        </p:spPr>
        <p:txBody>
          <a:bodyPr anchor="b">
            <a:normAutofit/>
          </a:bodyPr>
          <a:lstStyle/>
          <a:p>
            <a:r>
              <a:rPr lang="en-US" sz="4000" dirty="0">
                <a:latin typeface="Calibir"/>
              </a:rPr>
              <a:t>User Story Backlog – Clarified</a:t>
            </a:r>
            <a:endParaRPr lang="en-AU" sz="4000" b="1" dirty="0">
              <a:latin typeface="Calibir"/>
            </a:endParaRPr>
          </a:p>
        </p:txBody>
      </p:sp>
      <p:sp>
        <p:nvSpPr>
          <p:cNvPr id="7" name="TextBox 6">
            <a:extLst>
              <a:ext uri="{FF2B5EF4-FFF2-40B4-BE49-F238E27FC236}">
                <a16:creationId xmlns:a16="http://schemas.microsoft.com/office/drawing/2014/main" id="{DC1FEDED-0EFA-DE97-7306-19ED14AB4A22}"/>
              </a:ext>
            </a:extLst>
          </p:cNvPr>
          <p:cNvSpPr txBox="1"/>
          <p:nvPr/>
        </p:nvSpPr>
        <p:spPr>
          <a:xfrm>
            <a:off x="110359" y="1477248"/>
            <a:ext cx="11971282" cy="3903504"/>
          </a:xfrm>
          <a:prstGeom prst="rect">
            <a:avLst/>
          </a:prstGeom>
          <a:noFill/>
        </p:spPr>
        <p:txBody>
          <a:bodyPr wrap="square">
            <a:spAutoFit/>
          </a:bodyPr>
          <a:lstStyle/>
          <a:p>
            <a:pPr>
              <a:lnSpc>
                <a:spcPct val="150000"/>
              </a:lnSpc>
            </a:pPr>
            <a:r>
              <a:rPr lang="en-US" sz="2800" b="1" dirty="0">
                <a:latin typeface="Calibir"/>
              </a:rPr>
              <a:t>What this section is asking for?</a:t>
            </a:r>
          </a:p>
          <a:p>
            <a:pPr marL="714375" indent="-457200">
              <a:lnSpc>
                <a:spcPct val="150000"/>
              </a:lnSpc>
              <a:buFont typeface="Arial" panose="020B0604020202020204" pitchFamily="34" charset="0"/>
              <a:buChar char="•"/>
            </a:pPr>
            <a:r>
              <a:rPr lang="en-US" sz="2800" dirty="0">
                <a:latin typeface="Calibir"/>
              </a:rPr>
              <a:t>Turn the brief into tiny tasks (“user stories”). </a:t>
            </a:r>
            <a:r>
              <a:rPr lang="en-US" altLang="en-US" sz="2800" dirty="0">
                <a:latin typeface="Calibir"/>
              </a:rPr>
              <a:t>What it is: Small tasks written as “stories.”</a:t>
            </a:r>
          </a:p>
          <a:p>
            <a:pPr marL="714375" indent="-457200">
              <a:lnSpc>
                <a:spcPct val="150000"/>
              </a:lnSpc>
              <a:buFont typeface="Arial" panose="020B0604020202020204" pitchFamily="34" charset="0"/>
              <a:buChar char="•"/>
            </a:pPr>
            <a:r>
              <a:rPr lang="en-US" sz="2800" dirty="0">
                <a:latin typeface="Calibir"/>
              </a:rPr>
              <a:t>Give each story a 3-digit ID. Stories for the same feature share the same hundreds digit (e.g., all Login stories = 1xx). </a:t>
            </a:r>
            <a:r>
              <a:rPr lang="en-US" altLang="en-US" sz="2800" b="1" dirty="0">
                <a:latin typeface="Calibir"/>
              </a:rPr>
              <a:t>ID rule</a:t>
            </a:r>
            <a:r>
              <a:rPr lang="en-US" altLang="en-US" sz="2800" dirty="0">
                <a:latin typeface="Calibir"/>
              </a:rPr>
              <a:t>: 3 digits → same hundreds digit = same feature.</a:t>
            </a:r>
          </a:p>
        </p:txBody>
      </p:sp>
    </p:spTree>
    <p:extLst>
      <p:ext uri="{BB962C8B-B14F-4D97-AF65-F5344CB8AC3E}">
        <p14:creationId xmlns:p14="http://schemas.microsoft.com/office/powerpoint/2010/main" val="3028421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1000"/>
                                        <p:tgtEl>
                                          <p:spTgt spid="7">
                                            <p:txEl>
                                              <p:pRg st="2" end="2"/>
                                            </p:txEl>
                                          </p:spTgt>
                                        </p:tgtEl>
                                      </p:cBhvr>
                                    </p:animEffect>
                                    <p:anim calcmode="lin" valueType="num">
                                      <p:cBhvr>
                                        <p:cTn id="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1FB01-B02D-41F5-79B3-9B3B49C90B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DAE6FE-C5D6-99DE-5A20-16078A1B6C18}"/>
              </a:ext>
            </a:extLst>
          </p:cNvPr>
          <p:cNvSpPr>
            <a:spLocks noGrp="1"/>
          </p:cNvSpPr>
          <p:nvPr>
            <p:ph type="title"/>
          </p:nvPr>
        </p:nvSpPr>
        <p:spPr>
          <a:xfrm>
            <a:off x="0" y="0"/>
            <a:ext cx="12192000" cy="657922"/>
          </a:xfrm>
        </p:spPr>
        <p:txBody>
          <a:bodyPr anchor="b">
            <a:normAutofit/>
          </a:bodyPr>
          <a:lstStyle/>
          <a:p>
            <a:r>
              <a:rPr lang="en-US" sz="4000" dirty="0">
                <a:latin typeface="Calibir"/>
              </a:rPr>
              <a:t>User Story Backlog – Clarified</a:t>
            </a:r>
            <a:endParaRPr lang="en-AU" sz="4000" b="1" dirty="0">
              <a:latin typeface="Calibir"/>
            </a:endParaRPr>
          </a:p>
        </p:txBody>
      </p:sp>
      <p:sp>
        <p:nvSpPr>
          <p:cNvPr id="7" name="TextBox 6">
            <a:extLst>
              <a:ext uri="{FF2B5EF4-FFF2-40B4-BE49-F238E27FC236}">
                <a16:creationId xmlns:a16="http://schemas.microsoft.com/office/drawing/2014/main" id="{9C5A6BA7-3076-F56E-5091-A7025294D089}"/>
              </a:ext>
            </a:extLst>
          </p:cNvPr>
          <p:cNvSpPr txBox="1"/>
          <p:nvPr/>
        </p:nvSpPr>
        <p:spPr>
          <a:xfrm>
            <a:off x="110359" y="1477248"/>
            <a:ext cx="11971282" cy="3903504"/>
          </a:xfrm>
          <a:prstGeom prst="rect">
            <a:avLst/>
          </a:prstGeom>
          <a:noFill/>
        </p:spPr>
        <p:txBody>
          <a:bodyPr wrap="square">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Example</a:t>
            </a:r>
            <a:r>
              <a:rPr lang="en-US" altLang="en-US" sz="2800" dirty="0">
                <a:latin typeface="Calibir"/>
              </a:rPr>
              <a:t>:</a:t>
            </a:r>
          </a:p>
          <a:p>
            <a:pPr marL="811213"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100 Student logs in with email/password → success/fail → login()</a:t>
            </a:r>
          </a:p>
          <a:p>
            <a:pPr marL="811213"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105 System validates credentials → error message → </a:t>
            </a:r>
            <a:r>
              <a:rPr lang="en-US" altLang="en-US" sz="2800" dirty="0" err="1">
                <a:latin typeface="Calibir"/>
              </a:rPr>
              <a:t>validateCredentials</a:t>
            </a:r>
            <a:r>
              <a:rPr lang="en-US" altLang="en-US" sz="2800" dirty="0">
                <a:latin typeface="Calibir"/>
              </a:rPr>
              <a:t>()</a:t>
            </a:r>
          </a:p>
          <a:p>
            <a:pPr marL="811213" lvl="0" indent="-457200" eaLnBrk="0" fontAlgn="base" hangingPunct="0">
              <a:lnSpc>
                <a:spcPct val="150000"/>
              </a:lnSpc>
              <a:spcBef>
                <a:spcPct val="0"/>
              </a:spcBef>
              <a:spcAft>
                <a:spcPct val="0"/>
              </a:spcAft>
              <a:buFont typeface="Arial" panose="020B0604020202020204" pitchFamily="34" charset="0"/>
              <a:buChar char="•"/>
            </a:pPr>
            <a:r>
              <a:rPr lang="en-US" sz="2800" dirty="0">
                <a:latin typeface="Calibir"/>
              </a:rPr>
              <a:t>Put stories in a table with columns: ID, User, Action, Result, Function (Function = the future code hook name). </a:t>
            </a:r>
            <a:r>
              <a:rPr lang="en-US" altLang="en-US" sz="2800" dirty="0">
                <a:latin typeface="Calibir"/>
              </a:rPr>
              <a:t>Format: ID | User | Action | Result | Function.</a:t>
            </a:r>
          </a:p>
        </p:txBody>
      </p:sp>
    </p:spTree>
    <p:extLst>
      <p:ext uri="{BB962C8B-B14F-4D97-AF65-F5344CB8AC3E}">
        <p14:creationId xmlns:p14="http://schemas.microsoft.com/office/powerpoint/2010/main" val="37694984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D83AD-4FE5-137D-B88D-C567ECBAA3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569331-A279-4E3C-D1E2-3520C650C707}"/>
              </a:ext>
            </a:extLst>
          </p:cNvPr>
          <p:cNvSpPr>
            <a:spLocks noGrp="1"/>
          </p:cNvSpPr>
          <p:nvPr>
            <p:ph type="title"/>
          </p:nvPr>
        </p:nvSpPr>
        <p:spPr>
          <a:xfrm>
            <a:off x="0" y="0"/>
            <a:ext cx="12192000" cy="657922"/>
          </a:xfrm>
        </p:spPr>
        <p:txBody>
          <a:bodyPr anchor="b">
            <a:normAutofit/>
          </a:bodyPr>
          <a:lstStyle/>
          <a:p>
            <a:r>
              <a:rPr lang="en-US" sz="4000" dirty="0">
                <a:latin typeface="Calibir"/>
              </a:rPr>
              <a:t>User Story Backlog – Clarified</a:t>
            </a:r>
            <a:endParaRPr lang="en-AU" sz="4000" b="1" dirty="0">
              <a:latin typeface="Calibir"/>
            </a:endParaRPr>
          </a:p>
        </p:txBody>
      </p:sp>
      <p:sp>
        <p:nvSpPr>
          <p:cNvPr id="7" name="TextBox 6">
            <a:extLst>
              <a:ext uri="{FF2B5EF4-FFF2-40B4-BE49-F238E27FC236}">
                <a16:creationId xmlns:a16="http://schemas.microsoft.com/office/drawing/2014/main" id="{38ADA74D-8E3C-C225-75ED-4D0B03C57894}"/>
              </a:ext>
            </a:extLst>
          </p:cNvPr>
          <p:cNvSpPr txBox="1"/>
          <p:nvPr/>
        </p:nvSpPr>
        <p:spPr>
          <a:xfrm>
            <a:off x="110359" y="1675561"/>
            <a:ext cx="11971282" cy="3257174"/>
          </a:xfrm>
          <a:prstGeom prst="rect">
            <a:avLst/>
          </a:prstGeom>
          <a:noFill/>
        </p:spPr>
        <p:txBody>
          <a:bodyPr wrap="square">
            <a:spAutoFit/>
          </a:bodyPr>
          <a:lstStyle/>
          <a:p>
            <a:pPr marL="514350" lvl="0" indent="-514350" eaLnBrk="0" fontAlgn="base" hangingPunct="0">
              <a:lnSpc>
                <a:spcPct val="150000"/>
              </a:lnSpc>
              <a:spcBef>
                <a:spcPct val="0"/>
              </a:spcBef>
              <a:spcAft>
                <a:spcPct val="0"/>
              </a:spcAft>
              <a:buFont typeface="+mj-lt"/>
              <a:buAutoNum type="arabicPeriod"/>
            </a:pPr>
            <a:r>
              <a:rPr lang="en-US" altLang="en-US" sz="2800" b="1" dirty="0">
                <a:latin typeface="Calibir"/>
              </a:rPr>
              <a:t>List the features</a:t>
            </a:r>
            <a:r>
              <a:rPr lang="en-US" altLang="en-US" sz="2800" dirty="0">
                <a:latin typeface="Calibir"/>
              </a:rPr>
              <a:t> from the brief</a:t>
            </a:r>
            <a:br>
              <a:rPr lang="en-US" altLang="en-US" sz="2800" dirty="0">
                <a:latin typeface="Calibir"/>
              </a:rPr>
            </a:br>
            <a:r>
              <a:rPr lang="en-US" altLang="en-US" sz="2800" dirty="0">
                <a:latin typeface="Calibir"/>
              </a:rPr>
              <a:t>Login, Register, </a:t>
            </a:r>
            <a:r>
              <a:rPr lang="en-US" altLang="en-US" sz="2800" dirty="0" err="1">
                <a:latin typeface="Calibir"/>
              </a:rPr>
              <a:t>Enrol</a:t>
            </a:r>
            <a:r>
              <a:rPr lang="en-US" altLang="en-US" sz="2800" dirty="0">
                <a:latin typeface="Calibir"/>
              </a:rPr>
              <a:t>, Drop, View Enrolments, Change Password, Admin Views, Admin Group/Partition, Admin Remove/Clear, File I/O.</a:t>
            </a:r>
          </a:p>
          <a:p>
            <a:pPr marL="514350" lvl="0" indent="-514350" eaLnBrk="0" fontAlgn="base" hangingPunct="0">
              <a:lnSpc>
                <a:spcPct val="150000"/>
              </a:lnSpc>
              <a:spcBef>
                <a:spcPct val="0"/>
              </a:spcBef>
              <a:spcAft>
                <a:spcPct val="0"/>
              </a:spcAft>
              <a:buFont typeface="+mj-lt"/>
              <a:buAutoNum type="arabicPeriod"/>
            </a:pPr>
            <a:r>
              <a:rPr lang="en-US" altLang="en-US" sz="2800" b="1" dirty="0">
                <a:latin typeface="Calibir"/>
              </a:rPr>
              <a:t>Make small, single-action stories</a:t>
            </a:r>
            <a:r>
              <a:rPr lang="en-US" altLang="en-US" sz="2800" dirty="0">
                <a:latin typeface="Calibir"/>
              </a:rPr>
              <a:t> for each feature</a:t>
            </a:r>
            <a:br>
              <a:rPr lang="en-US" altLang="en-US" sz="2800" dirty="0">
                <a:latin typeface="Calibir"/>
              </a:rPr>
            </a:br>
            <a:r>
              <a:rPr lang="en-US" altLang="en-US" sz="2800" dirty="0">
                <a:latin typeface="Calibir"/>
              </a:rPr>
              <a:t>One clear action → one clear outcome (no “and then…”).</a:t>
            </a:r>
          </a:p>
        </p:txBody>
      </p:sp>
    </p:spTree>
    <p:extLst>
      <p:ext uri="{BB962C8B-B14F-4D97-AF65-F5344CB8AC3E}">
        <p14:creationId xmlns:p14="http://schemas.microsoft.com/office/powerpoint/2010/main" val="25909999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9A9E2-F38D-B9BF-16D1-CCDC1073DE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7F8F13-6F3E-6272-5420-6521076CF29F}"/>
              </a:ext>
            </a:extLst>
          </p:cNvPr>
          <p:cNvSpPr>
            <a:spLocks noGrp="1"/>
          </p:cNvSpPr>
          <p:nvPr>
            <p:ph type="title"/>
          </p:nvPr>
        </p:nvSpPr>
        <p:spPr>
          <a:xfrm>
            <a:off x="0" y="0"/>
            <a:ext cx="12192000" cy="657922"/>
          </a:xfrm>
        </p:spPr>
        <p:txBody>
          <a:bodyPr anchor="b">
            <a:normAutofit/>
          </a:bodyPr>
          <a:lstStyle/>
          <a:p>
            <a:r>
              <a:rPr lang="en-US" sz="4000" dirty="0">
                <a:latin typeface="Calibir"/>
              </a:rPr>
              <a:t>User Story Backlog – Clarified</a:t>
            </a:r>
            <a:endParaRPr lang="en-AU" sz="4000" b="1" dirty="0">
              <a:latin typeface="Calibir"/>
            </a:endParaRPr>
          </a:p>
        </p:txBody>
      </p:sp>
      <p:sp>
        <p:nvSpPr>
          <p:cNvPr id="7" name="TextBox 6">
            <a:extLst>
              <a:ext uri="{FF2B5EF4-FFF2-40B4-BE49-F238E27FC236}">
                <a16:creationId xmlns:a16="http://schemas.microsoft.com/office/drawing/2014/main" id="{A8824040-1446-B7EE-F2D8-07CA342A7C4F}"/>
              </a:ext>
            </a:extLst>
          </p:cNvPr>
          <p:cNvSpPr txBox="1"/>
          <p:nvPr/>
        </p:nvSpPr>
        <p:spPr>
          <a:xfrm>
            <a:off x="110359" y="1675561"/>
            <a:ext cx="11971282" cy="3260764"/>
          </a:xfrm>
          <a:prstGeom prst="rect">
            <a:avLst/>
          </a:prstGeom>
          <a:noFill/>
        </p:spPr>
        <p:txBody>
          <a:bodyPr wrap="square">
            <a:spAutoFit/>
          </a:bodyPr>
          <a:lstStyle/>
          <a:p>
            <a:pPr marL="514350" lvl="0" indent="-514350" eaLnBrk="0" fontAlgn="base" hangingPunct="0">
              <a:lnSpc>
                <a:spcPct val="150000"/>
              </a:lnSpc>
              <a:spcBef>
                <a:spcPct val="0"/>
              </a:spcBef>
              <a:spcAft>
                <a:spcPct val="0"/>
              </a:spcAft>
              <a:buFont typeface="+mj-lt"/>
              <a:buAutoNum type="arabicPeriod" startAt="3"/>
            </a:pPr>
            <a:r>
              <a:rPr lang="en-US" sz="2800" b="1" dirty="0">
                <a:latin typeface="Calibir"/>
              </a:rPr>
              <a:t>Assign 3-digit IDs</a:t>
            </a:r>
            <a:br>
              <a:rPr lang="en-US" sz="2800" dirty="0">
                <a:latin typeface="Calibir"/>
              </a:rPr>
            </a:br>
            <a:r>
              <a:rPr lang="en-US" sz="2800" dirty="0">
                <a:latin typeface="Calibir"/>
              </a:rPr>
              <a:t>Pick a scheme and stick to it. Example:</a:t>
            </a:r>
            <a:br>
              <a:rPr lang="en-US" sz="2800" dirty="0">
                <a:latin typeface="Calibir"/>
              </a:rPr>
            </a:br>
            <a:r>
              <a:rPr lang="en-US" sz="2800" dirty="0">
                <a:latin typeface="Calibir"/>
              </a:rPr>
              <a:t>1xx Login, 2xx Register, 3xx </a:t>
            </a:r>
            <a:r>
              <a:rPr lang="en-US" sz="2800" dirty="0" err="1">
                <a:latin typeface="Calibir"/>
              </a:rPr>
              <a:t>Enrol</a:t>
            </a:r>
            <a:r>
              <a:rPr lang="en-US" sz="2800" dirty="0">
                <a:latin typeface="Calibir"/>
              </a:rPr>
              <a:t>, 4xx Drop, 5xx View, 6xx Change PW, 7xx Admin, 8xx File I/O.</a:t>
            </a:r>
            <a:br>
              <a:rPr lang="en-US" sz="2800" dirty="0">
                <a:latin typeface="Calibir"/>
              </a:rPr>
            </a:br>
            <a:r>
              <a:rPr lang="en-US" sz="2800" dirty="0">
                <a:latin typeface="Calibir"/>
              </a:rPr>
              <a:t>Use gaps (100, 101, 105…) so you can add more later.</a:t>
            </a:r>
            <a:endParaRPr lang="en-US" altLang="en-US" sz="2800" dirty="0">
              <a:latin typeface="Calibir"/>
            </a:endParaRPr>
          </a:p>
        </p:txBody>
      </p:sp>
    </p:spTree>
    <p:extLst>
      <p:ext uri="{BB962C8B-B14F-4D97-AF65-F5344CB8AC3E}">
        <p14:creationId xmlns:p14="http://schemas.microsoft.com/office/powerpoint/2010/main" val="27511425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93C5D-25F2-1931-D902-D3865A6BC5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C3D59F-D51E-2E62-A30F-27851844E255}"/>
              </a:ext>
            </a:extLst>
          </p:cNvPr>
          <p:cNvSpPr>
            <a:spLocks noGrp="1"/>
          </p:cNvSpPr>
          <p:nvPr>
            <p:ph type="title"/>
          </p:nvPr>
        </p:nvSpPr>
        <p:spPr>
          <a:xfrm>
            <a:off x="0" y="0"/>
            <a:ext cx="12192000" cy="657922"/>
          </a:xfrm>
        </p:spPr>
        <p:txBody>
          <a:bodyPr anchor="b">
            <a:normAutofit/>
          </a:bodyPr>
          <a:lstStyle/>
          <a:p>
            <a:r>
              <a:rPr lang="en-US" sz="4000" dirty="0">
                <a:latin typeface="Calibir"/>
              </a:rPr>
              <a:t>User Story Backlog – Clarified</a:t>
            </a:r>
            <a:endParaRPr lang="en-AU" sz="4000" b="1" dirty="0">
              <a:latin typeface="Calibir"/>
            </a:endParaRPr>
          </a:p>
        </p:txBody>
      </p:sp>
      <p:sp>
        <p:nvSpPr>
          <p:cNvPr id="7" name="TextBox 6">
            <a:extLst>
              <a:ext uri="{FF2B5EF4-FFF2-40B4-BE49-F238E27FC236}">
                <a16:creationId xmlns:a16="http://schemas.microsoft.com/office/drawing/2014/main" id="{22F4180D-1600-3909-993A-FED6522C9F47}"/>
              </a:ext>
            </a:extLst>
          </p:cNvPr>
          <p:cNvSpPr txBox="1"/>
          <p:nvPr/>
        </p:nvSpPr>
        <p:spPr>
          <a:xfrm>
            <a:off x="110359" y="1675561"/>
            <a:ext cx="11971282" cy="3903504"/>
          </a:xfrm>
          <a:prstGeom prst="rect">
            <a:avLst/>
          </a:prstGeom>
          <a:noFill/>
        </p:spPr>
        <p:txBody>
          <a:bodyPr wrap="square">
            <a:spAutoFit/>
          </a:bodyPr>
          <a:lstStyle/>
          <a:p>
            <a:pPr marL="514350" indent="-514350">
              <a:lnSpc>
                <a:spcPct val="150000"/>
              </a:lnSpc>
              <a:buFont typeface="+mj-lt"/>
              <a:buAutoNum type="arabicPeriod" startAt="4"/>
            </a:pPr>
            <a:r>
              <a:rPr lang="en-US" sz="2800" b="1" dirty="0">
                <a:latin typeface="Calibir"/>
              </a:rPr>
              <a:t>Fill the backlog table</a:t>
            </a:r>
            <a:endParaRPr lang="en-US" sz="2800" dirty="0">
              <a:latin typeface="Calibir"/>
            </a:endParaRPr>
          </a:p>
          <a:p>
            <a:pPr marL="914400" lvl="1" indent="-457200">
              <a:lnSpc>
                <a:spcPct val="150000"/>
              </a:lnSpc>
              <a:buFont typeface="Arial" panose="020B0604020202020204" pitchFamily="34" charset="0"/>
              <a:buChar char="•"/>
            </a:pPr>
            <a:r>
              <a:rPr lang="en-US" sz="2800" b="1" dirty="0">
                <a:latin typeface="Calibir"/>
              </a:rPr>
              <a:t>ID:</a:t>
            </a:r>
            <a:r>
              <a:rPr lang="en-US" sz="2800" dirty="0">
                <a:latin typeface="Calibir"/>
              </a:rPr>
              <a:t> your 3-digit code</a:t>
            </a:r>
          </a:p>
          <a:p>
            <a:pPr marL="914400" lvl="1" indent="-457200">
              <a:lnSpc>
                <a:spcPct val="150000"/>
              </a:lnSpc>
              <a:buFont typeface="Arial" panose="020B0604020202020204" pitchFamily="34" charset="0"/>
              <a:buChar char="•"/>
            </a:pPr>
            <a:r>
              <a:rPr lang="en-US" sz="2800" b="1" dirty="0">
                <a:latin typeface="Calibir"/>
              </a:rPr>
              <a:t>User:</a:t>
            </a:r>
            <a:r>
              <a:rPr lang="en-US" sz="2800" dirty="0">
                <a:latin typeface="Calibir"/>
              </a:rPr>
              <a:t> Student / Admin / System</a:t>
            </a:r>
          </a:p>
          <a:p>
            <a:pPr marL="914400" lvl="1" indent="-457200">
              <a:lnSpc>
                <a:spcPct val="150000"/>
              </a:lnSpc>
              <a:buFont typeface="Arial" panose="020B0604020202020204" pitchFamily="34" charset="0"/>
              <a:buChar char="•"/>
            </a:pPr>
            <a:r>
              <a:rPr lang="en-US" sz="2800" b="1" dirty="0">
                <a:latin typeface="Calibir"/>
              </a:rPr>
              <a:t>Action:</a:t>
            </a:r>
            <a:r>
              <a:rPr lang="en-US" sz="2800" dirty="0">
                <a:latin typeface="Calibir"/>
              </a:rPr>
              <a:t> what they do</a:t>
            </a:r>
          </a:p>
          <a:p>
            <a:pPr marL="914400" lvl="1" indent="-457200">
              <a:lnSpc>
                <a:spcPct val="150000"/>
              </a:lnSpc>
              <a:buFont typeface="Arial" panose="020B0604020202020204" pitchFamily="34" charset="0"/>
              <a:buChar char="•"/>
            </a:pPr>
            <a:r>
              <a:rPr lang="en-US" sz="2800" b="1" dirty="0">
                <a:latin typeface="Calibir"/>
              </a:rPr>
              <a:t>Result:</a:t>
            </a:r>
            <a:r>
              <a:rPr lang="en-US" sz="2800" dirty="0">
                <a:latin typeface="Calibir"/>
              </a:rPr>
              <a:t> what the system shows/returns/changes</a:t>
            </a:r>
          </a:p>
          <a:p>
            <a:pPr marL="914400" lvl="1" indent="-457200">
              <a:lnSpc>
                <a:spcPct val="150000"/>
              </a:lnSpc>
              <a:buFont typeface="Arial" panose="020B0604020202020204" pitchFamily="34" charset="0"/>
              <a:buChar char="•"/>
            </a:pPr>
            <a:r>
              <a:rPr lang="en-US" sz="2800" b="1" dirty="0">
                <a:latin typeface="Calibir"/>
              </a:rPr>
              <a:t>Function:</a:t>
            </a:r>
            <a:r>
              <a:rPr lang="en-US" sz="2800" dirty="0">
                <a:latin typeface="Calibir"/>
              </a:rPr>
              <a:t> future method name (e.g., login())</a:t>
            </a:r>
          </a:p>
        </p:txBody>
      </p:sp>
    </p:spTree>
    <p:extLst>
      <p:ext uri="{BB962C8B-B14F-4D97-AF65-F5344CB8AC3E}">
        <p14:creationId xmlns:p14="http://schemas.microsoft.com/office/powerpoint/2010/main" val="23612698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04033-C862-4623-74D7-BF4299B265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84BDD3-8B61-8E1F-79CF-DBC044879B54}"/>
              </a:ext>
            </a:extLst>
          </p:cNvPr>
          <p:cNvSpPr>
            <a:spLocks noGrp="1"/>
          </p:cNvSpPr>
          <p:nvPr>
            <p:ph type="title"/>
          </p:nvPr>
        </p:nvSpPr>
        <p:spPr>
          <a:xfrm>
            <a:off x="0" y="0"/>
            <a:ext cx="12192000" cy="657922"/>
          </a:xfrm>
        </p:spPr>
        <p:txBody>
          <a:bodyPr anchor="b">
            <a:normAutofit/>
          </a:bodyPr>
          <a:lstStyle/>
          <a:p>
            <a:r>
              <a:rPr lang="en-US" sz="4000" dirty="0">
                <a:latin typeface="Calibir"/>
              </a:rPr>
              <a:t>User Story Backlog – Clarified</a:t>
            </a:r>
            <a:endParaRPr lang="en-AU" sz="4000" b="1" dirty="0">
              <a:latin typeface="Calibir"/>
            </a:endParaRPr>
          </a:p>
        </p:txBody>
      </p:sp>
      <p:sp>
        <p:nvSpPr>
          <p:cNvPr id="7" name="TextBox 6">
            <a:extLst>
              <a:ext uri="{FF2B5EF4-FFF2-40B4-BE49-F238E27FC236}">
                <a16:creationId xmlns:a16="http://schemas.microsoft.com/office/drawing/2014/main" id="{B9C4633C-D869-8885-4B73-8A675229E991}"/>
              </a:ext>
            </a:extLst>
          </p:cNvPr>
          <p:cNvSpPr txBox="1"/>
          <p:nvPr/>
        </p:nvSpPr>
        <p:spPr>
          <a:xfrm>
            <a:off x="110359" y="1675561"/>
            <a:ext cx="11971282" cy="1968103"/>
          </a:xfrm>
          <a:prstGeom prst="rect">
            <a:avLst/>
          </a:prstGeom>
          <a:noFill/>
        </p:spPr>
        <p:txBody>
          <a:bodyPr wrap="square">
            <a:spAutoFit/>
          </a:bodyPr>
          <a:lstStyle/>
          <a:p>
            <a:pPr>
              <a:lnSpc>
                <a:spcPct val="150000"/>
              </a:lnSpc>
            </a:pPr>
            <a:r>
              <a:rPr lang="en-US" sz="2800" b="1" dirty="0">
                <a:latin typeface="Calibir"/>
              </a:rPr>
              <a:t>5.    Quick check</a:t>
            </a:r>
            <a:br>
              <a:rPr lang="en-US" sz="2800" dirty="0">
                <a:latin typeface="Calibir"/>
              </a:rPr>
            </a:br>
            <a:r>
              <a:rPr lang="en-US" sz="2800" dirty="0">
                <a:latin typeface="Calibir"/>
              </a:rPr>
              <a:t>Does every requirement in the brief appear in at least one story? Are outcomes testable?</a:t>
            </a:r>
          </a:p>
        </p:txBody>
      </p:sp>
    </p:spTree>
    <p:extLst>
      <p:ext uri="{BB962C8B-B14F-4D97-AF65-F5344CB8AC3E}">
        <p14:creationId xmlns:p14="http://schemas.microsoft.com/office/powerpoint/2010/main" val="40676482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7186E-499C-CD92-DFE7-DE66C83B6561}"/>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A2F42676-5B65-01E5-C68D-6F20E01C9E6F}"/>
              </a:ext>
            </a:extLst>
          </p:cNvPr>
          <p:cNvGraphicFramePr>
            <a:graphicFrameLocks noGrp="1"/>
          </p:cNvGraphicFramePr>
          <p:nvPr>
            <p:extLst>
              <p:ext uri="{D42A27DB-BD31-4B8C-83A1-F6EECF244321}">
                <p14:modId xmlns:p14="http://schemas.microsoft.com/office/powerpoint/2010/main" val="3141298239"/>
              </p:ext>
            </p:extLst>
          </p:nvPr>
        </p:nvGraphicFramePr>
        <p:xfrm>
          <a:off x="462116" y="726270"/>
          <a:ext cx="11267768" cy="6043240"/>
        </p:xfrm>
        <a:graphic>
          <a:graphicData uri="http://schemas.openxmlformats.org/drawingml/2006/table">
            <a:tbl>
              <a:tblPr>
                <a:tableStyleId>{BDBED569-4797-4DF1-A0F4-6AAB3CD982D8}</a:tableStyleId>
              </a:tblPr>
              <a:tblGrid>
                <a:gridCol w="1386349">
                  <a:extLst>
                    <a:ext uri="{9D8B030D-6E8A-4147-A177-3AD203B41FA5}">
                      <a16:colId xmlns:a16="http://schemas.microsoft.com/office/drawing/2014/main" val="239969091"/>
                    </a:ext>
                  </a:extLst>
                </a:gridCol>
                <a:gridCol w="1430593">
                  <a:extLst>
                    <a:ext uri="{9D8B030D-6E8A-4147-A177-3AD203B41FA5}">
                      <a16:colId xmlns:a16="http://schemas.microsoft.com/office/drawing/2014/main" val="2808818288"/>
                    </a:ext>
                  </a:extLst>
                </a:gridCol>
                <a:gridCol w="3472600">
                  <a:extLst>
                    <a:ext uri="{9D8B030D-6E8A-4147-A177-3AD203B41FA5}">
                      <a16:colId xmlns:a16="http://schemas.microsoft.com/office/drawing/2014/main" val="2403475540"/>
                    </a:ext>
                  </a:extLst>
                </a:gridCol>
                <a:gridCol w="2736471">
                  <a:extLst>
                    <a:ext uri="{9D8B030D-6E8A-4147-A177-3AD203B41FA5}">
                      <a16:colId xmlns:a16="http://schemas.microsoft.com/office/drawing/2014/main" val="1711903918"/>
                    </a:ext>
                  </a:extLst>
                </a:gridCol>
                <a:gridCol w="2241755">
                  <a:extLst>
                    <a:ext uri="{9D8B030D-6E8A-4147-A177-3AD203B41FA5}">
                      <a16:colId xmlns:a16="http://schemas.microsoft.com/office/drawing/2014/main" val="547037210"/>
                    </a:ext>
                  </a:extLst>
                </a:gridCol>
              </a:tblGrid>
              <a:tr h="195566">
                <a:tc>
                  <a:txBody>
                    <a:bodyPr/>
                    <a:lstStyle/>
                    <a:p>
                      <a:pPr>
                        <a:buNone/>
                      </a:pPr>
                      <a:r>
                        <a:rPr lang="en-US" sz="1800" b="1" dirty="0">
                          <a:latin typeface="Calibir"/>
                        </a:rPr>
                        <a:t>ID</a:t>
                      </a:r>
                    </a:p>
                  </a:txBody>
                  <a:tcPr marL="48891" marR="48891" marT="24446" marB="24446" anchor="ctr">
                    <a:solidFill>
                      <a:schemeClr val="accent5">
                        <a:lumMod val="20000"/>
                        <a:lumOff val="80000"/>
                      </a:schemeClr>
                    </a:solidFill>
                  </a:tcPr>
                </a:tc>
                <a:tc>
                  <a:txBody>
                    <a:bodyPr/>
                    <a:lstStyle/>
                    <a:p>
                      <a:pPr>
                        <a:buNone/>
                      </a:pPr>
                      <a:r>
                        <a:rPr lang="en-US" sz="1800" b="1">
                          <a:latin typeface="Calibir"/>
                        </a:rPr>
                        <a:t>User</a:t>
                      </a:r>
                    </a:p>
                  </a:txBody>
                  <a:tcPr marL="48891" marR="48891" marT="24446" marB="24446" anchor="ctr">
                    <a:solidFill>
                      <a:schemeClr val="accent5">
                        <a:lumMod val="20000"/>
                        <a:lumOff val="80000"/>
                      </a:schemeClr>
                    </a:solidFill>
                  </a:tcPr>
                </a:tc>
                <a:tc>
                  <a:txBody>
                    <a:bodyPr/>
                    <a:lstStyle/>
                    <a:p>
                      <a:pPr>
                        <a:buNone/>
                      </a:pPr>
                      <a:r>
                        <a:rPr lang="en-US" sz="1800" b="1" dirty="0">
                          <a:latin typeface="Calibir"/>
                        </a:rPr>
                        <a:t>Action</a:t>
                      </a:r>
                    </a:p>
                  </a:txBody>
                  <a:tcPr marL="48891" marR="48891" marT="24446" marB="24446" anchor="ctr">
                    <a:solidFill>
                      <a:schemeClr val="accent5">
                        <a:lumMod val="20000"/>
                        <a:lumOff val="80000"/>
                      </a:schemeClr>
                    </a:solidFill>
                  </a:tcPr>
                </a:tc>
                <a:tc>
                  <a:txBody>
                    <a:bodyPr/>
                    <a:lstStyle/>
                    <a:p>
                      <a:pPr>
                        <a:buNone/>
                      </a:pPr>
                      <a:r>
                        <a:rPr lang="en-US" sz="1800" b="1" dirty="0">
                          <a:latin typeface="Calibir"/>
                        </a:rPr>
                        <a:t>Result/Outcome</a:t>
                      </a:r>
                    </a:p>
                  </a:txBody>
                  <a:tcPr marL="48891" marR="48891" marT="24446" marB="24446" anchor="ctr">
                    <a:solidFill>
                      <a:schemeClr val="accent5">
                        <a:lumMod val="20000"/>
                        <a:lumOff val="80000"/>
                      </a:schemeClr>
                    </a:solidFill>
                  </a:tcPr>
                </a:tc>
                <a:tc>
                  <a:txBody>
                    <a:bodyPr/>
                    <a:lstStyle/>
                    <a:p>
                      <a:pPr>
                        <a:buNone/>
                      </a:pPr>
                      <a:r>
                        <a:rPr lang="en-US" sz="1800" b="1" dirty="0">
                          <a:latin typeface="Calibir"/>
                        </a:rPr>
                        <a:t>Function</a:t>
                      </a:r>
                    </a:p>
                  </a:txBody>
                  <a:tcPr marL="48891" marR="48891" marT="24446" marB="24446" anchor="ctr">
                    <a:solidFill>
                      <a:schemeClr val="accent5">
                        <a:lumMod val="20000"/>
                        <a:lumOff val="80000"/>
                      </a:schemeClr>
                    </a:solidFill>
                  </a:tcPr>
                </a:tc>
                <a:extLst>
                  <a:ext uri="{0D108BD9-81ED-4DB2-BD59-A6C34878D82A}">
                    <a16:rowId xmlns:a16="http://schemas.microsoft.com/office/drawing/2014/main" val="2792024109"/>
                  </a:ext>
                </a:extLst>
              </a:tr>
              <a:tr h="342240">
                <a:tc>
                  <a:txBody>
                    <a:bodyPr/>
                    <a:lstStyle/>
                    <a:p>
                      <a:pPr>
                        <a:buNone/>
                      </a:pPr>
                      <a:r>
                        <a:rPr lang="en-US" sz="1800">
                          <a:latin typeface="Calibir"/>
                        </a:rPr>
                        <a:t>100</a:t>
                      </a:r>
                    </a:p>
                  </a:txBody>
                  <a:tcPr marL="48891" marR="48891" marT="24446" marB="24446" anchor="ctr"/>
                </a:tc>
                <a:tc>
                  <a:txBody>
                    <a:bodyPr/>
                    <a:lstStyle/>
                    <a:p>
                      <a:pPr>
                        <a:buNone/>
                      </a:pPr>
                      <a:r>
                        <a:rPr lang="en-US" sz="1800">
                          <a:latin typeface="Calibir"/>
                        </a:rPr>
                        <a:t>Student</a:t>
                      </a:r>
                    </a:p>
                  </a:txBody>
                  <a:tcPr marL="48891" marR="48891" marT="24446" marB="24446" anchor="ctr"/>
                </a:tc>
                <a:tc>
                  <a:txBody>
                    <a:bodyPr/>
                    <a:lstStyle/>
                    <a:p>
                      <a:pPr>
                        <a:buNone/>
                      </a:pPr>
                      <a:r>
                        <a:rPr lang="en-US" sz="1800">
                          <a:latin typeface="Calibir"/>
                        </a:rPr>
                        <a:t>Submit email &amp; password to log in</a:t>
                      </a:r>
                    </a:p>
                  </a:txBody>
                  <a:tcPr marL="48891" marR="48891" marT="24446" marB="24446" anchor="ctr"/>
                </a:tc>
                <a:tc>
                  <a:txBody>
                    <a:bodyPr/>
                    <a:lstStyle/>
                    <a:p>
                      <a:pPr>
                        <a:buNone/>
                      </a:pPr>
                      <a:r>
                        <a:rPr lang="en-US" sz="1800">
                          <a:latin typeface="Calibir"/>
                        </a:rPr>
                        <a:t>If match → go to Student Menu</a:t>
                      </a:r>
                    </a:p>
                  </a:txBody>
                  <a:tcPr marL="48891" marR="48891" marT="24446" marB="24446" anchor="ctr"/>
                </a:tc>
                <a:tc>
                  <a:txBody>
                    <a:bodyPr/>
                    <a:lstStyle/>
                    <a:p>
                      <a:pPr>
                        <a:buNone/>
                      </a:pPr>
                      <a:r>
                        <a:rPr lang="en-US" sz="1800">
                          <a:latin typeface="Calibir"/>
                        </a:rPr>
                        <a:t>login()</a:t>
                      </a:r>
                    </a:p>
                  </a:txBody>
                  <a:tcPr marL="48891" marR="48891" marT="24446" marB="24446" anchor="ctr"/>
                </a:tc>
                <a:extLst>
                  <a:ext uri="{0D108BD9-81ED-4DB2-BD59-A6C34878D82A}">
                    <a16:rowId xmlns:a16="http://schemas.microsoft.com/office/drawing/2014/main" val="3218113864"/>
                  </a:ext>
                </a:extLst>
              </a:tr>
              <a:tr h="342240">
                <a:tc>
                  <a:txBody>
                    <a:bodyPr/>
                    <a:lstStyle/>
                    <a:p>
                      <a:pPr>
                        <a:buNone/>
                      </a:pPr>
                      <a:r>
                        <a:rPr lang="en-US" sz="1800">
                          <a:latin typeface="Calibir"/>
                        </a:rPr>
                        <a:t>105</a:t>
                      </a:r>
                    </a:p>
                  </a:txBody>
                  <a:tcPr marL="48891" marR="48891" marT="24446" marB="24446" anchor="ctr"/>
                </a:tc>
                <a:tc>
                  <a:txBody>
                    <a:bodyPr/>
                    <a:lstStyle/>
                    <a:p>
                      <a:pPr>
                        <a:buNone/>
                      </a:pPr>
                      <a:r>
                        <a:rPr lang="en-US" sz="1800" dirty="0">
                          <a:latin typeface="Calibir"/>
                        </a:rPr>
                        <a:t>System</a:t>
                      </a:r>
                    </a:p>
                  </a:txBody>
                  <a:tcPr marL="48891" marR="48891" marT="24446" marB="24446" anchor="ctr"/>
                </a:tc>
                <a:tc>
                  <a:txBody>
                    <a:bodyPr/>
                    <a:lstStyle/>
                    <a:p>
                      <a:pPr>
                        <a:buNone/>
                      </a:pPr>
                      <a:r>
                        <a:rPr lang="en-US" sz="1800">
                          <a:latin typeface="Calibir"/>
                        </a:rPr>
                        <a:t>Validate email &amp; password patterns</a:t>
                      </a:r>
                    </a:p>
                  </a:txBody>
                  <a:tcPr marL="48891" marR="48891" marT="24446" marB="24446" anchor="ctr"/>
                </a:tc>
                <a:tc>
                  <a:txBody>
                    <a:bodyPr/>
                    <a:lstStyle/>
                    <a:p>
                      <a:pPr>
                        <a:buNone/>
                      </a:pPr>
                      <a:r>
                        <a:rPr lang="en-US" sz="1800">
                          <a:latin typeface="Calibir"/>
                        </a:rPr>
                        <a:t>Show specific error on invalid pattern</a:t>
                      </a:r>
                    </a:p>
                  </a:txBody>
                  <a:tcPr marL="48891" marR="48891" marT="24446" marB="24446" anchor="ctr"/>
                </a:tc>
                <a:tc>
                  <a:txBody>
                    <a:bodyPr/>
                    <a:lstStyle/>
                    <a:p>
                      <a:pPr>
                        <a:buNone/>
                      </a:pPr>
                      <a:r>
                        <a:rPr lang="en-US" sz="1800">
                          <a:latin typeface="Calibir"/>
                        </a:rPr>
                        <a:t>validateCredentials()</a:t>
                      </a:r>
                    </a:p>
                  </a:txBody>
                  <a:tcPr marL="48891" marR="48891" marT="24446" marB="24446" anchor="ctr"/>
                </a:tc>
                <a:extLst>
                  <a:ext uri="{0D108BD9-81ED-4DB2-BD59-A6C34878D82A}">
                    <a16:rowId xmlns:a16="http://schemas.microsoft.com/office/drawing/2014/main" val="3015573003"/>
                  </a:ext>
                </a:extLst>
              </a:tr>
              <a:tr h="488914">
                <a:tc>
                  <a:txBody>
                    <a:bodyPr/>
                    <a:lstStyle/>
                    <a:p>
                      <a:pPr>
                        <a:buNone/>
                      </a:pPr>
                      <a:r>
                        <a:rPr lang="en-US" sz="1800">
                          <a:latin typeface="Calibir"/>
                        </a:rPr>
                        <a:t>200</a:t>
                      </a:r>
                    </a:p>
                  </a:txBody>
                  <a:tcPr marL="48891" marR="48891" marT="24446" marB="24446" anchor="ctr"/>
                </a:tc>
                <a:tc>
                  <a:txBody>
                    <a:bodyPr/>
                    <a:lstStyle/>
                    <a:p>
                      <a:pPr>
                        <a:buNone/>
                      </a:pPr>
                      <a:r>
                        <a:rPr lang="en-US" sz="1800">
                          <a:latin typeface="Calibir"/>
                        </a:rPr>
                        <a:t>Student</a:t>
                      </a:r>
                    </a:p>
                  </a:txBody>
                  <a:tcPr marL="48891" marR="48891" marT="24446" marB="24446" anchor="ctr"/>
                </a:tc>
                <a:tc>
                  <a:txBody>
                    <a:bodyPr/>
                    <a:lstStyle/>
                    <a:p>
                      <a:pPr>
                        <a:buNone/>
                      </a:pPr>
                      <a:r>
                        <a:rPr lang="en-US" sz="1800">
                          <a:latin typeface="Calibir"/>
                        </a:rPr>
                        <a:t>Register with name/email/password</a:t>
                      </a:r>
                    </a:p>
                  </a:txBody>
                  <a:tcPr marL="48891" marR="48891" marT="24446" marB="24446" anchor="ctr"/>
                </a:tc>
                <a:tc>
                  <a:txBody>
                    <a:bodyPr/>
                    <a:lstStyle/>
                    <a:p>
                      <a:pPr>
                        <a:buNone/>
                      </a:pPr>
                      <a:r>
                        <a:rPr lang="en-US" sz="1800">
                          <a:latin typeface="Calibir"/>
                        </a:rPr>
                        <a:t>Account created + 6-digit ID assigned</a:t>
                      </a:r>
                    </a:p>
                  </a:txBody>
                  <a:tcPr marL="48891" marR="48891" marT="24446" marB="24446" anchor="ctr"/>
                </a:tc>
                <a:tc>
                  <a:txBody>
                    <a:bodyPr/>
                    <a:lstStyle/>
                    <a:p>
                      <a:pPr>
                        <a:buNone/>
                      </a:pPr>
                      <a:r>
                        <a:rPr lang="en-US" sz="1800">
                          <a:latin typeface="Calibir"/>
                        </a:rPr>
                        <a:t>registerStudent()</a:t>
                      </a:r>
                    </a:p>
                  </a:txBody>
                  <a:tcPr marL="48891" marR="48891" marT="24446" marB="24446" anchor="ctr"/>
                </a:tc>
                <a:extLst>
                  <a:ext uri="{0D108BD9-81ED-4DB2-BD59-A6C34878D82A}">
                    <a16:rowId xmlns:a16="http://schemas.microsoft.com/office/drawing/2014/main" val="1750377390"/>
                  </a:ext>
                </a:extLst>
              </a:tr>
              <a:tr h="342240">
                <a:tc>
                  <a:txBody>
                    <a:bodyPr/>
                    <a:lstStyle/>
                    <a:p>
                      <a:pPr>
                        <a:buNone/>
                      </a:pPr>
                      <a:r>
                        <a:rPr lang="en-US" sz="1800">
                          <a:latin typeface="Calibir"/>
                        </a:rPr>
                        <a:t>201</a:t>
                      </a:r>
                    </a:p>
                  </a:txBody>
                  <a:tcPr marL="48891" marR="48891" marT="24446" marB="24446" anchor="ctr"/>
                </a:tc>
                <a:tc>
                  <a:txBody>
                    <a:bodyPr/>
                    <a:lstStyle/>
                    <a:p>
                      <a:pPr>
                        <a:buNone/>
                      </a:pPr>
                      <a:r>
                        <a:rPr lang="en-US" sz="1800">
                          <a:latin typeface="Calibir"/>
                        </a:rPr>
                        <a:t>System</a:t>
                      </a:r>
                    </a:p>
                  </a:txBody>
                  <a:tcPr marL="48891" marR="48891" marT="24446" marB="24446" anchor="ctr"/>
                </a:tc>
                <a:tc>
                  <a:txBody>
                    <a:bodyPr/>
                    <a:lstStyle/>
                    <a:p>
                      <a:pPr>
                        <a:buNone/>
                      </a:pPr>
                      <a:r>
                        <a:rPr lang="en-US" sz="1800">
                          <a:latin typeface="Calibir"/>
                        </a:rPr>
                        <a:t>Generate unique 6-digit student ID</a:t>
                      </a:r>
                    </a:p>
                  </a:txBody>
                  <a:tcPr marL="48891" marR="48891" marT="24446" marB="24446" anchor="ctr"/>
                </a:tc>
                <a:tc>
                  <a:txBody>
                    <a:bodyPr/>
                    <a:lstStyle/>
                    <a:p>
                      <a:pPr>
                        <a:buNone/>
                      </a:pPr>
                      <a:r>
                        <a:rPr lang="en-US" sz="1800">
                          <a:latin typeface="Calibir"/>
                        </a:rPr>
                        <a:t>ID like 004231</a:t>
                      </a:r>
                    </a:p>
                  </a:txBody>
                  <a:tcPr marL="48891" marR="48891" marT="24446" marB="24446" anchor="ctr"/>
                </a:tc>
                <a:tc>
                  <a:txBody>
                    <a:bodyPr/>
                    <a:lstStyle/>
                    <a:p>
                      <a:pPr>
                        <a:buNone/>
                      </a:pPr>
                      <a:r>
                        <a:rPr lang="en-US" sz="1800">
                          <a:latin typeface="Calibir"/>
                        </a:rPr>
                        <a:t>generateStudentId()</a:t>
                      </a:r>
                    </a:p>
                  </a:txBody>
                  <a:tcPr marL="48891" marR="48891" marT="24446" marB="24446" anchor="ctr"/>
                </a:tc>
                <a:extLst>
                  <a:ext uri="{0D108BD9-81ED-4DB2-BD59-A6C34878D82A}">
                    <a16:rowId xmlns:a16="http://schemas.microsoft.com/office/drawing/2014/main" val="860861065"/>
                  </a:ext>
                </a:extLst>
              </a:tr>
              <a:tr h="488914">
                <a:tc>
                  <a:txBody>
                    <a:bodyPr/>
                    <a:lstStyle/>
                    <a:p>
                      <a:pPr>
                        <a:buNone/>
                      </a:pPr>
                      <a:r>
                        <a:rPr lang="en-US" sz="1800">
                          <a:latin typeface="Calibir"/>
                        </a:rPr>
                        <a:t>300</a:t>
                      </a:r>
                    </a:p>
                  </a:txBody>
                  <a:tcPr marL="48891" marR="48891" marT="24446" marB="24446" anchor="ctr"/>
                </a:tc>
                <a:tc>
                  <a:txBody>
                    <a:bodyPr/>
                    <a:lstStyle/>
                    <a:p>
                      <a:pPr>
                        <a:buNone/>
                      </a:pPr>
                      <a:r>
                        <a:rPr lang="en-US" sz="1800">
                          <a:latin typeface="Calibir"/>
                        </a:rPr>
                        <a:t>Student</a:t>
                      </a:r>
                    </a:p>
                  </a:txBody>
                  <a:tcPr marL="48891" marR="48891" marT="24446" marB="24446" anchor="ctr"/>
                </a:tc>
                <a:tc>
                  <a:txBody>
                    <a:bodyPr/>
                    <a:lstStyle/>
                    <a:p>
                      <a:pPr>
                        <a:buNone/>
                      </a:pPr>
                      <a:r>
                        <a:rPr lang="en-US" sz="1800">
                          <a:latin typeface="Calibir"/>
                        </a:rPr>
                        <a:t>Enrol (no subject choice)</a:t>
                      </a:r>
                    </a:p>
                  </a:txBody>
                  <a:tcPr marL="48891" marR="48891" marT="24446" marB="24446" anchor="ctr"/>
                </a:tc>
                <a:tc>
                  <a:txBody>
                    <a:bodyPr/>
                    <a:lstStyle/>
                    <a:p>
                      <a:pPr>
                        <a:buNone/>
                      </a:pPr>
                      <a:r>
                        <a:rPr lang="en-US" sz="1800">
                          <a:latin typeface="Calibir"/>
                        </a:rPr>
                        <a:t>One new subject added with 3-digit code</a:t>
                      </a:r>
                    </a:p>
                  </a:txBody>
                  <a:tcPr marL="48891" marR="48891" marT="24446" marB="24446" anchor="ctr"/>
                </a:tc>
                <a:tc>
                  <a:txBody>
                    <a:bodyPr/>
                    <a:lstStyle/>
                    <a:p>
                      <a:pPr>
                        <a:buNone/>
                      </a:pPr>
                      <a:r>
                        <a:rPr lang="en-US" sz="1800">
                          <a:latin typeface="Calibir"/>
                        </a:rPr>
                        <a:t>enrolSubject()</a:t>
                      </a:r>
                    </a:p>
                  </a:txBody>
                  <a:tcPr marL="48891" marR="48891" marT="24446" marB="24446" anchor="ctr"/>
                </a:tc>
                <a:extLst>
                  <a:ext uri="{0D108BD9-81ED-4DB2-BD59-A6C34878D82A}">
                    <a16:rowId xmlns:a16="http://schemas.microsoft.com/office/drawing/2014/main" val="1100118459"/>
                  </a:ext>
                </a:extLst>
              </a:tr>
              <a:tr h="488914">
                <a:tc>
                  <a:txBody>
                    <a:bodyPr/>
                    <a:lstStyle/>
                    <a:p>
                      <a:pPr>
                        <a:buNone/>
                      </a:pPr>
                      <a:r>
                        <a:rPr lang="en-US" sz="1800">
                          <a:latin typeface="Calibir"/>
                        </a:rPr>
                        <a:t>301</a:t>
                      </a:r>
                    </a:p>
                  </a:txBody>
                  <a:tcPr marL="48891" marR="48891" marT="24446" marB="24446" anchor="ctr"/>
                </a:tc>
                <a:tc>
                  <a:txBody>
                    <a:bodyPr/>
                    <a:lstStyle/>
                    <a:p>
                      <a:pPr>
                        <a:buNone/>
                      </a:pPr>
                      <a:r>
                        <a:rPr lang="en-US" sz="1800">
                          <a:latin typeface="Calibir"/>
                        </a:rPr>
                        <a:t>System</a:t>
                      </a:r>
                    </a:p>
                  </a:txBody>
                  <a:tcPr marL="48891" marR="48891" marT="24446" marB="24446" anchor="ctr"/>
                </a:tc>
                <a:tc>
                  <a:txBody>
                    <a:bodyPr/>
                    <a:lstStyle/>
                    <a:p>
                      <a:pPr>
                        <a:buNone/>
                      </a:pPr>
                      <a:r>
                        <a:rPr lang="en-US" sz="1800">
                          <a:latin typeface="Calibir"/>
                        </a:rPr>
                        <a:t>Block enrolment over 4</a:t>
                      </a:r>
                    </a:p>
                  </a:txBody>
                  <a:tcPr marL="48891" marR="48891" marT="24446" marB="24446" anchor="ctr"/>
                </a:tc>
                <a:tc>
                  <a:txBody>
                    <a:bodyPr/>
                    <a:lstStyle/>
                    <a:p>
                      <a:pPr>
                        <a:buNone/>
                      </a:pPr>
                      <a:r>
                        <a:rPr lang="en-US" sz="1800">
                          <a:latin typeface="Calibir"/>
                        </a:rPr>
                        <a:t>Message “Maximum of 4 subjects reached”</a:t>
                      </a:r>
                    </a:p>
                  </a:txBody>
                  <a:tcPr marL="48891" marR="48891" marT="24446" marB="24446" anchor="ctr"/>
                </a:tc>
                <a:tc>
                  <a:txBody>
                    <a:bodyPr/>
                    <a:lstStyle/>
                    <a:p>
                      <a:pPr>
                        <a:buNone/>
                      </a:pPr>
                      <a:r>
                        <a:rPr lang="en-US" sz="1800">
                          <a:latin typeface="Calibir"/>
                        </a:rPr>
                        <a:t>checkMaxSubjects()</a:t>
                      </a:r>
                    </a:p>
                  </a:txBody>
                  <a:tcPr marL="48891" marR="48891" marT="24446" marB="24446" anchor="ctr"/>
                </a:tc>
                <a:extLst>
                  <a:ext uri="{0D108BD9-81ED-4DB2-BD59-A6C34878D82A}">
                    <a16:rowId xmlns:a16="http://schemas.microsoft.com/office/drawing/2014/main" val="2713931013"/>
                  </a:ext>
                </a:extLst>
              </a:tr>
              <a:tr h="488914">
                <a:tc>
                  <a:txBody>
                    <a:bodyPr/>
                    <a:lstStyle/>
                    <a:p>
                      <a:pPr>
                        <a:buNone/>
                      </a:pPr>
                      <a:r>
                        <a:rPr lang="en-US" sz="1800">
                          <a:latin typeface="Calibir"/>
                        </a:rPr>
                        <a:t>320</a:t>
                      </a:r>
                    </a:p>
                  </a:txBody>
                  <a:tcPr marL="48891" marR="48891" marT="24446" marB="24446" anchor="ctr"/>
                </a:tc>
                <a:tc>
                  <a:txBody>
                    <a:bodyPr/>
                    <a:lstStyle/>
                    <a:p>
                      <a:pPr>
                        <a:buNone/>
                      </a:pPr>
                      <a:r>
                        <a:rPr lang="en-US" sz="1800">
                          <a:latin typeface="Calibir"/>
                        </a:rPr>
                        <a:t>System</a:t>
                      </a:r>
                    </a:p>
                  </a:txBody>
                  <a:tcPr marL="48891" marR="48891" marT="24446" marB="24446" anchor="ctr"/>
                </a:tc>
                <a:tc>
                  <a:txBody>
                    <a:bodyPr/>
                    <a:lstStyle/>
                    <a:p>
                      <a:pPr>
                        <a:buNone/>
                      </a:pPr>
                      <a:r>
                        <a:rPr lang="en-US" sz="1800">
                          <a:latin typeface="Calibir"/>
                        </a:rPr>
                        <a:t>Auto-assign mark &amp; compute grade</a:t>
                      </a:r>
                    </a:p>
                  </a:txBody>
                  <a:tcPr marL="48891" marR="48891" marT="24446" marB="24446" anchor="ctr"/>
                </a:tc>
                <a:tc>
                  <a:txBody>
                    <a:bodyPr/>
                    <a:lstStyle/>
                    <a:p>
                      <a:pPr>
                        <a:buNone/>
                      </a:pPr>
                      <a:r>
                        <a:rPr lang="en-US" sz="1800">
                          <a:latin typeface="Calibir"/>
                        </a:rPr>
                        <a:t>Subject has mark 25–100 and grade Z/P/C/D/HD</a:t>
                      </a:r>
                    </a:p>
                  </a:txBody>
                  <a:tcPr marL="48891" marR="48891" marT="24446" marB="24446" anchor="ctr"/>
                </a:tc>
                <a:tc>
                  <a:txBody>
                    <a:bodyPr/>
                    <a:lstStyle/>
                    <a:p>
                      <a:pPr>
                        <a:buNone/>
                      </a:pPr>
                      <a:r>
                        <a:rPr lang="en-US" sz="1800">
                          <a:latin typeface="Calibir"/>
                        </a:rPr>
                        <a:t>assignMarkAndGrade()</a:t>
                      </a:r>
                    </a:p>
                  </a:txBody>
                  <a:tcPr marL="48891" marR="48891" marT="24446" marB="24446" anchor="ctr"/>
                </a:tc>
                <a:extLst>
                  <a:ext uri="{0D108BD9-81ED-4DB2-BD59-A6C34878D82A}">
                    <a16:rowId xmlns:a16="http://schemas.microsoft.com/office/drawing/2014/main" val="1263160871"/>
                  </a:ext>
                </a:extLst>
              </a:tr>
              <a:tr h="342240">
                <a:tc>
                  <a:txBody>
                    <a:bodyPr/>
                    <a:lstStyle/>
                    <a:p>
                      <a:pPr>
                        <a:buNone/>
                      </a:pPr>
                      <a:r>
                        <a:rPr lang="en-US" sz="1800">
                          <a:latin typeface="Calibir"/>
                        </a:rPr>
                        <a:t>500</a:t>
                      </a:r>
                    </a:p>
                  </a:txBody>
                  <a:tcPr marL="48891" marR="48891" marT="24446" marB="24446" anchor="ctr"/>
                </a:tc>
                <a:tc>
                  <a:txBody>
                    <a:bodyPr/>
                    <a:lstStyle/>
                    <a:p>
                      <a:pPr>
                        <a:buNone/>
                      </a:pPr>
                      <a:r>
                        <a:rPr lang="en-US" sz="1800">
                          <a:latin typeface="Calibir"/>
                        </a:rPr>
                        <a:t>Student</a:t>
                      </a:r>
                    </a:p>
                  </a:txBody>
                  <a:tcPr marL="48891" marR="48891" marT="24446" marB="24446" anchor="ctr"/>
                </a:tc>
                <a:tc>
                  <a:txBody>
                    <a:bodyPr/>
                    <a:lstStyle/>
                    <a:p>
                      <a:pPr>
                        <a:buNone/>
                      </a:pPr>
                      <a:r>
                        <a:rPr lang="en-US" sz="1800">
                          <a:latin typeface="Calibir"/>
                        </a:rPr>
                        <a:t>View current enrolments</a:t>
                      </a:r>
                    </a:p>
                  </a:txBody>
                  <a:tcPr marL="48891" marR="48891" marT="24446" marB="24446" anchor="ctr"/>
                </a:tc>
                <a:tc>
                  <a:txBody>
                    <a:bodyPr/>
                    <a:lstStyle/>
                    <a:p>
                      <a:pPr>
                        <a:buNone/>
                      </a:pPr>
                      <a:r>
                        <a:rPr lang="en-US" sz="1800">
                          <a:latin typeface="Calibir"/>
                        </a:rPr>
                        <a:t>List subjects with IDs, marks, grades</a:t>
                      </a:r>
                    </a:p>
                  </a:txBody>
                  <a:tcPr marL="48891" marR="48891" marT="24446" marB="24446" anchor="ctr"/>
                </a:tc>
                <a:tc>
                  <a:txBody>
                    <a:bodyPr/>
                    <a:lstStyle/>
                    <a:p>
                      <a:pPr>
                        <a:buNone/>
                      </a:pPr>
                      <a:r>
                        <a:rPr lang="en-US" sz="1800">
                          <a:latin typeface="Calibir"/>
                        </a:rPr>
                        <a:t>listSubjects()</a:t>
                      </a:r>
                    </a:p>
                  </a:txBody>
                  <a:tcPr marL="48891" marR="48891" marT="24446" marB="24446" anchor="ctr"/>
                </a:tc>
                <a:extLst>
                  <a:ext uri="{0D108BD9-81ED-4DB2-BD59-A6C34878D82A}">
                    <a16:rowId xmlns:a16="http://schemas.microsoft.com/office/drawing/2014/main" val="1224407800"/>
                  </a:ext>
                </a:extLst>
              </a:tr>
              <a:tr h="342240">
                <a:tc>
                  <a:txBody>
                    <a:bodyPr/>
                    <a:lstStyle/>
                    <a:p>
                      <a:pPr>
                        <a:buNone/>
                      </a:pPr>
                      <a:r>
                        <a:rPr lang="en-US" sz="1800">
                          <a:latin typeface="Calibir"/>
                        </a:rPr>
                        <a:t>730</a:t>
                      </a:r>
                    </a:p>
                  </a:txBody>
                  <a:tcPr marL="48891" marR="48891" marT="24446" marB="24446" anchor="ctr"/>
                </a:tc>
                <a:tc>
                  <a:txBody>
                    <a:bodyPr/>
                    <a:lstStyle/>
                    <a:p>
                      <a:pPr>
                        <a:buNone/>
                      </a:pPr>
                      <a:r>
                        <a:rPr lang="en-US" sz="1800">
                          <a:latin typeface="Calibir"/>
                        </a:rPr>
                        <a:t>Admin</a:t>
                      </a:r>
                    </a:p>
                  </a:txBody>
                  <a:tcPr marL="48891" marR="48891" marT="24446" marB="24446" anchor="ctr"/>
                </a:tc>
                <a:tc>
                  <a:txBody>
                    <a:bodyPr/>
                    <a:lstStyle/>
                    <a:p>
                      <a:pPr>
                        <a:buNone/>
                      </a:pPr>
                      <a:r>
                        <a:rPr lang="en-US" sz="1800">
                          <a:latin typeface="Calibir"/>
                        </a:rPr>
                        <a:t>Remove a specific student</a:t>
                      </a:r>
                    </a:p>
                  </a:txBody>
                  <a:tcPr marL="48891" marR="48891" marT="24446" marB="24446" anchor="ctr"/>
                </a:tc>
                <a:tc>
                  <a:txBody>
                    <a:bodyPr/>
                    <a:lstStyle/>
                    <a:p>
                      <a:pPr>
                        <a:buNone/>
                      </a:pPr>
                      <a:r>
                        <a:rPr lang="en-US" sz="1800">
                          <a:latin typeface="Calibir"/>
                        </a:rPr>
                        <a:t>Student record deleted</a:t>
                      </a:r>
                    </a:p>
                  </a:txBody>
                  <a:tcPr marL="48891" marR="48891" marT="24446" marB="24446" anchor="ctr"/>
                </a:tc>
                <a:tc>
                  <a:txBody>
                    <a:bodyPr/>
                    <a:lstStyle/>
                    <a:p>
                      <a:pPr>
                        <a:buNone/>
                      </a:pPr>
                      <a:r>
                        <a:rPr lang="en-US" sz="1800">
                          <a:latin typeface="Calibir"/>
                        </a:rPr>
                        <a:t>adminRemoveStudent()</a:t>
                      </a:r>
                    </a:p>
                  </a:txBody>
                  <a:tcPr marL="48891" marR="48891" marT="24446" marB="24446" anchor="ctr"/>
                </a:tc>
                <a:extLst>
                  <a:ext uri="{0D108BD9-81ED-4DB2-BD59-A6C34878D82A}">
                    <a16:rowId xmlns:a16="http://schemas.microsoft.com/office/drawing/2014/main" val="2156721265"/>
                  </a:ext>
                </a:extLst>
              </a:tr>
              <a:tr h="488914">
                <a:tc>
                  <a:txBody>
                    <a:bodyPr/>
                    <a:lstStyle/>
                    <a:p>
                      <a:pPr>
                        <a:buNone/>
                      </a:pPr>
                      <a:r>
                        <a:rPr lang="en-US" sz="1800">
                          <a:latin typeface="Calibir"/>
                        </a:rPr>
                        <a:t>740</a:t>
                      </a:r>
                    </a:p>
                  </a:txBody>
                  <a:tcPr marL="48891" marR="48891" marT="24446" marB="24446" anchor="ctr"/>
                </a:tc>
                <a:tc>
                  <a:txBody>
                    <a:bodyPr/>
                    <a:lstStyle/>
                    <a:p>
                      <a:pPr>
                        <a:buNone/>
                      </a:pPr>
                      <a:r>
                        <a:rPr lang="en-US" sz="1800">
                          <a:latin typeface="Calibir"/>
                        </a:rPr>
                        <a:t>Admin</a:t>
                      </a:r>
                    </a:p>
                  </a:txBody>
                  <a:tcPr marL="48891" marR="48891" marT="24446" marB="24446" anchor="ctr"/>
                </a:tc>
                <a:tc>
                  <a:txBody>
                    <a:bodyPr/>
                    <a:lstStyle/>
                    <a:p>
                      <a:pPr>
                        <a:buNone/>
                      </a:pPr>
                      <a:r>
                        <a:rPr lang="en-US" sz="1800">
                          <a:latin typeface="Calibir"/>
                        </a:rPr>
                        <a:t>Clear all data</a:t>
                      </a:r>
                    </a:p>
                  </a:txBody>
                  <a:tcPr marL="48891" marR="48891" marT="24446" marB="24446" anchor="ctr"/>
                </a:tc>
                <a:tc>
                  <a:txBody>
                    <a:bodyPr/>
                    <a:lstStyle/>
                    <a:p>
                      <a:pPr>
                        <a:buNone/>
                      </a:pPr>
                      <a:r>
                        <a:rPr lang="en-US" sz="1800">
                          <a:latin typeface="Calibir"/>
                        </a:rPr>
                        <a:t>students.data emptied after confirm</a:t>
                      </a:r>
                    </a:p>
                  </a:txBody>
                  <a:tcPr marL="48891" marR="48891" marT="24446" marB="24446" anchor="ctr"/>
                </a:tc>
                <a:tc>
                  <a:txBody>
                    <a:bodyPr/>
                    <a:lstStyle/>
                    <a:p>
                      <a:pPr>
                        <a:buNone/>
                      </a:pPr>
                      <a:r>
                        <a:rPr lang="en-US" sz="1800" dirty="0" err="1">
                          <a:latin typeface="Calibir"/>
                        </a:rPr>
                        <a:t>adminClearAll</a:t>
                      </a:r>
                      <a:r>
                        <a:rPr lang="en-US" sz="1800" dirty="0">
                          <a:latin typeface="Calibir"/>
                        </a:rPr>
                        <a:t>()</a:t>
                      </a:r>
                    </a:p>
                  </a:txBody>
                  <a:tcPr marL="48891" marR="48891" marT="24446" marB="24446" anchor="ctr"/>
                </a:tc>
                <a:extLst>
                  <a:ext uri="{0D108BD9-81ED-4DB2-BD59-A6C34878D82A}">
                    <a16:rowId xmlns:a16="http://schemas.microsoft.com/office/drawing/2014/main" val="2194001384"/>
                  </a:ext>
                </a:extLst>
              </a:tr>
            </a:tbl>
          </a:graphicData>
        </a:graphic>
      </p:graphicFrame>
      <p:sp>
        <p:nvSpPr>
          <p:cNvPr id="6" name="Rectangle 1">
            <a:extLst>
              <a:ext uri="{FF2B5EF4-FFF2-40B4-BE49-F238E27FC236}">
                <a16:creationId xmlns:a16="http://schemas.microsoft.com/office/drawing/2014/main" id="{562693C2-248E-DBE6-BCB8-C5DF7BDD914F}"/>
              </a:ext>
            </a:extLst>
          </p:cNvPr>
          <p:cNvSpPr>
            <a:spLocks noChangeArrowheads="1"/>
          </p:cNvSpPr>
          <p:nvPr/>
        </p:nvSpPr>
        <p:spPr bwMode="auto">
          <a:xfrm>
            <a:off x="-1" y="78107"/>
            <a:ext cx="215462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Tiny example</a:t>
            </a:r>
            <a:endParaRPr kumimoji="0" lang="en-US" altLang="en-US" sz="2800" b="0" i="0" u="none" strike="noStrike" cap="none" normalizeH="0" baseline="0" dirty="0">
              <a:ln>
                <a:noFill/>
              </a:ln>
              <a:solidFill>
                <a:schemeClr val="tx1"/>
              </a:solidFill>
              <a:effectLst/>
              <a:latin typeface="Calibir"/>
            </a:endParaRPr>
          </a:p>
        </p:txBody>
      </p:sp>
    </p:spTree>
    <p:extLst>
      <p:ext uri="{BB962C8B-B14F-4D97-AF65-F5344CB8AC3E}">
        <p14:creationId xmlns:p14="http://schemas.microsoft.com/office/powerpoint/2010/main" val="17003438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670B3-9747-E926-5367-B210B08B9DED}"/>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99EE015A-5125-B5F7-A40E-14BB6CCC0EB4}"/>
              </a:ext>
            </a:extLst>
          </p:cNvPr>
          <p:cNvSpPr>
            <a:spLocks noChangeArrowheads="1"/>
          </p:cNvSpPr>
          <p:nvPr/>
        </p:nvSpPr>
        <p:spPr bwMode="auto">
          <a:xfrm>
            <a:off x="0" y="789386"/>
            <a:ext cx="229178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What to avoid</a:t>
            </a:r>
            <a:endParaRPr kumimoji="0" lang="en-US" altLang="en-US" sz="2800" b="0" i="0" u="none" strike="noStrike" cap="none" normalizeH="0" baseline="0" dirty="0">
              <a:ln>
                <a:noFill/>
              </a:ln>
              <a:solidFill>
                <a:schemeClr val="tx1"/>
              </a:solidFill>
              <a:effectLst/>
              <a:latin typeface="Calibir"/>
            </a:endParaRPr>
          </a:p>
        </p:txBody>
      </p:sp>
      <p:sp>
        <p:nvSpPr>
          <p:cNvPr id="3" name="TextBox 2">
            <a:extLst>
              <a:ext uri="{FF2B5EF4-FFF2-40B4-BE49-F238E27FC236}">
                <a16:creationId xmlns:a16="http://schemas.microsoft.com/office/drawing/2014/main" id="{C7CF347E-4112-34AE-897E-22CE66984E97}"/>
              </a:ext>
            </a:extLst>
          </p:cNvPr>
          <p:cNvSpPr txBox="1"/>
          <p:nvPr/>
        </p:nvSpPr>
        <p:spPr>
          <a:xfrm>
            <a:off x="0" y="1478690"/>
            <a:ext cx="12064180" cy="3903504"/>
          </a:xfrm>
          <a:prstGeom prst="rect">
            <a:avLst/>
          </a:prstGeom>
          <a:noFill/>
        </p:spPr>
        <p:txBody>
          <a:bodyPr wrap="square">
            <a:spAutoFit/>
          </a:bodyPr>
          <a:lstStyle/>
          <a:p>
            <a:pPr>
              <a:lnSpc>
                <a:spcPct val="150000"/>
              </a:lnSpc>
            </a:pPr>
            <a:r>
              <a:rPr lang="en-US" sz="2800" b="1" dirty="0">
                <a:highlight>
                  <a:srgbClr val="FF0000"/>
                </a:highlight>
                <a:latin typeface="Calibir"/>
              </a:rPr>
              <a:t>X</a:t>
            </a:r>
            <a:r>
              <a:rPr lang="en-US" sz="2800" b="1" dirty="0">
                <a:latin typeface="Calibir"/>
              </a:rPr>
              <a:t> Don’ts</a:t>
            </a:r>
            <a:endParaRPr lang="en-US" sz="2800" dirty="0">
              <a:latin typeface="Calibir"/>
            </a:endParaRPr>
          </a:p>
          <a:p>
            <a:pPr marL="811213" indent="-457200">
              <a:lnSpc>
                <a:spcPct val="150000"/>
              </a:lnSpc>
              <a:buFont typeface="Arial" panose="020B0604020202020204" pitchFamily="34" charset="0"/>
              <a:buChar char="•"/>
            </a:pPr>
            <a:r>
              <a:rPr lang="en-US" sz="2800" dirty="0">
                <a:latin typeface="Calibir"/>
              </a:rPr>
              <a:t>Mixed stories → </a:t>
            </a:r>
            <a:r>
              <a:rPr lang="en-US" sz="2800" i="1" dirty="0">
                <a:latin typeface="Calibir"/>
              </a:rPr>
              <a:t>“log in and </a:t>
            </a:r>
            <a:r>
              <a:rPr lang="en-US" sz="2800" i="1" dirty="0" err="1">
                <a:latin typeface="Calibir"/>
              </a:rPr>
              <a:t>enrol</a:t>
            </a:r>
            <a:r>
              <a:rPr lang="en-US" sz="2800" i="1" dirty="0">
                <a:latin typeface="Calibir"/>
              </a:rPr>
              <a:t> and view”</a:t>
            </a:r>
            <a:r>
              <a:rPr lang="en-US" sz="2800" dirty="0">
                <a:latin typeface="Calibir"/>
              </a:rPr>
              <a:t> (too much in one).</a:t>
            </a:r>
          </a:p>
          <a:p>
            <a:pPr marL="811213" indent="-457200">
              <a:lnSpc>
                <a:spcPct val="150000"/>
              </a:lnSpc>
              <a:buFont typeface="Arial" panose="020B0604020202020204" pitchFamily="34" charset="0"/>
              <a:buChar char="•"/>
            </a:pPr>
            <a:r>
              <a:rPr lang="en-US" sz="2800" dirty="0">
                <a:latin typeface="Calibir"/>
              </a:rPr>
              <a:t>Inconsistent IDs → don’t jump between 1xx/2xx for the same feature.</a:t>
            </a:r>
          </a:p>
          <a:p>
            <a:pPr marL="811213" indent="-457200">
              <a:lnSpc>
                <a:spcPct val="150000"/>
              </a:lnSpc>
              <a:buFont typeface="Arial" panose="020B0604020202020204" pitchFamily="34" charset="0"/>
              <a:buChar char="•"/>
            </a:pPr>
            <a:r>
              <a:rPr lang="en-US" sz="2800" dirty="0">
                <a:latin typeface="Calibir"/>
              </a:rPr>
              <a:t>UI/implementation details → </a:t>
            </a:r>
            <a:r>
              <a:rPr lang="en-US" sz="2800" i="1" dirty="0">
                <a:latin typeface="Calibir"/>
              </a:rPr>
              <a:t>“click green button”, “use SQL”</a:t>
            </a:r>
            <a:r>
              <a:rPr lang="en-US" sz="2800" dirty="0">
                <a:latin typeface="Calibir"/>
              </a:rPr>
              <a:t>.</a:t>
            </a:r>
          </a:p>
          <a:p>
            <a:pPr marL="811213" indent="-457200">
              <a:lnSpc>
                <a:spcPct val="150000"/>
              </a:lnSpc>
              <a:buFont typeface="Arial" panose="020B0604020202020204" pitchFamily="34" charset="0"/>
              <a:buChar char="•"/>
            </a:pPr>
            <a:r>
              <a:rPr lang="en-US" sz="2800" dirty="0">
                <a:latin typeface="Calibir"/>
              </a:rPr>
              <a:t>Missing outcomes → always show what user/system gets.</a:t>
            </a:r>
          </a:p>
          <a:p>
            <a:pPr marL="811213" indent="-457200">
              <a:lnSpc>
                <a:spcPct val="150000"/>
              </a:lnSpc>
              <a:buFont typeface="Arial" panose="020B0604020202020204" pitchFamily="34" charset="0"/>
              <a:buChar char="•"/>
            </a:pPr>
            <a:r>
              <a:rPr lang="en-US" sz="2800" dirty="0">
                <a:latin typeface="Calibir"/>
              </a:rPr>
              <a:t>Extra actors → CLI/GUI are </a:t>
            </a:r>
            <a:r>
              <a:rPr lang="en-US" sz="2800" b="1" dirty="0">
                <a:latin typeface="Calibir"/>
              </a:rPr>
              <a:t>not</a:t>
            </a:r>
            <a:r>
              <a:rPr lang="en-US" sz="2800" dirty="0">
                <a:latin typeface="Calibir"/>
              </a:rPr>
              <a:t> actors (only Student, Admin, System).</a:t>
            </a:r>
          </a:p>
        </p:txBody>
      </p:sp>
      <p:sp>
        <p:nvSpPr>
          <p:cNvPr id="4" name="Title 1">
            <a:extLst>
              <a:ext uri="{FF2B5EF4-FFF2-40B4-BE49-F238E27FC236}">
                <a16:creationId xmlns:a16="http://schemas.microsoft.com/office/drawing/2014/main" id="{26BFFB6D-87C9-3A03-6837-EA687D3B005B}"/>
              </a:ext>
            </a:extLst>
          </p:cNvPr>
          <p:cNvSpPr>
            <a:spLocks noGrp="1"/>
          </p:cNvSpPr>
          <p:nvPr>
            <p:ph type="title"/>
          </p:nvPr>
        </p:nvSpPr>
        <p:spPr>
          <a:xfrm>
            <a:off x="0" y="0"/>
            <a:ext cx="12192000" cy="657922"/>
          </a:xfrm>
        </p:spPr>
        <p:txBody>
          <a:bodyPr anchor="b">
            <a:normAutofit/>
          </a:bodyPr>
          <a:lstStyle/>
          <a:p>
            <a:r>
              <a:rPr lang="en-US" sz="4000" dirty="0">
                <a:latin typeface="Calibir"/>
              </a:rPr>
              <a:t>User Story Backlog – Clarified</a:t>
            </a:r>
            <a:endParaRPr lang="en-AU" sz="4000" b="1" dirty="0">
              <a:latin typeface="Calibir"/>
            </a:endParaRPr>
          </a:p>
        </p:txBody>
      </p:sp>
    </p:spTree>
    <p:extLst>
      <p:ext uri="{BB962C8B-B14F-4D97-AF65-F5344CB8AC3E}">
        <p14:creationId xmlns:p14="http://schemas.microsoft.com/office/powerpoint/2010/main" val="16821379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AD06D-8F1F-5AF5-5C38-9B1D951E740E}"/>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9CF91C2A-6762-7457-C477-C71DC66B8897}"/>
              </a:ext>
            </a:extLst>
          </p:cNvPr>
          <p:cNvSpPr>
            <a:spLocks noChangeArrowheads="1"/>
          </p:cNvSpPr>
          <p:nvPr/>
        </p:nvSpPr>
        <p:spPr bwMode="auto">
          <a:xfrm>
            <a:off x="0" y="789386"/>
            <a:ext cx="186416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What to do</a:t>
            </a:r>
            <a:endParaRPr kumimoji="0" lang="en-US" altLang="en-US" sz="2800" b="0" i="0" u="none" strike="noStrike" cap="none" normalizeH="0" baseline="0" dirty="0">
              <a:ln>
                <a:noFill/>
              </a:ln>
              <a:solidFill>
                <a:schemeClr val="tx1"/>
              </a:solidFill>
              <a:effectLst/>
              <a:latin typeface="Calibir"/>
            </a:endParaRPr>
          </a:p>
        </p:txBody>
      </p:sp>
      <p:sp>
        <p:nvSpPr>
          <p:cNvPr id="3" name="TextBox 2">
            <a:extLst>
              <a:ext uri="{FF2B5EF4-FFF2-40B4-BE49-F238E27FC236}">
                <a16:creationId xmlns:a16="http://schemas.microsoft.com/office/drawing/2014/main" id="{6358511B-142E-E3E2-1108-4FB9F31FDBEE}"/>
              </a:ext>
            </a:extLst>
          </p:cNvPr>
          <p:cNvSpPr txBox="1"/>
          <p:nvPr/>
        </p:nvSpPr>
        <p:spPr>
          <a:xfrm>
            <a:off x="0" y="1478690"/>
            <a:ext cx="12064180" cy="3903504"/>
          </a:xfrm>
          <a:prstGeom prst="rect">
            <a:avLst/>
          </a:prstGeom>
          <a:noFill/>
        </p:spPr>
        <p:txBody>
          <a:bodyPr wrap="square">
            <a:spAutoFit/>
          </a:bodyPr>
          <a:lstStyle/>
          <a:p>
            <a:pPr>
              <a:lnSpc>
                <a:spcPct val="150000"/>
              </a:lnSpc>
            </a:pPr>
            <a:r>
              <a:rPr lang="en-US" sz="2800" b="1" dirty="0">
                <a:latin typeface="Calibir"/>
              </a:rPr>
              <a:t>✔ Do’s</a:t>
            </a:r>
          </a:p>
          <a:p>
            <a:pPr marL="722313" indent="-457200">
              <a:lnSpc>
                <a:spcPct val="150000"/>
              </a:lnSpc>
              <a:buFont typeface="Arial" panose="020B0604020202020204" pitchFamily="34" charset="0"/>
              <a:buChar char="•"/>
            </a:pPr>
            <a:r>
              <a:rPr lang="en-US" sz="2800" dirty="0">
                <a:latin typeface="Calibir"/>
              </a:rPr>
              <a:t>Break down into small stories (2–5 per feature).</a:t>
            </a:r>
          </a:p>
          <a:p>
            <a:pPr marL="722313" indent="-457200">
              <a:lnSpc>
                <a:spcPct val="150000"/>
              </a:lnSpc>
              <a:buFont typeface="Arial" panose="020B0604020202020204" pitchFamily="34" charset="0"/>
              <a:buChar char="•"/>
            </a:pPr>
            <a:r>
              <a:rPr lang="en-US" sz="2800" dirty="0">
                <a:latin typeface="Calibir"/>
              </a:rPr>
              <a:t>Use Student/Admin/System only.</a:t>
            </a:r>
          </a:p>
          <a:p>
            <a:pPr marL="722313" indent="-457200">
              <a:lnSpc>
                <a:spcPct val="150000"/>
              </a:lnSpc>
              <a:buFont typeface="Arial" panose="020B0604020202020204" pitchFamily="34" charset="0"/>
              <a:buChar char="•"/>
            </a:pPr>
            <a:r>
              <a:rPr lang="en-US" sz="2800" dirty="0">
                <a:latin typeface="Calibir"/>
              </a:rPr>
              <a:t>Group IDs: 1xx = Login, 2xx = Register, 3xx = </a:t>
            </a:r>
            <a:r>
              <a:rPr lang="en-US" sz="2800" dirty="0" err="1">
                <a:latin typeface="Calibir"/>
              </a:rPr>
              <a:t>Enrol</a:t>
            </a:r>
            <a:r>
              <a:rPr lang="en-US" sz="2800" dirty="0">
                <a:latin typeface="Calibir"/>
              </a:rPr>
              <a:t>, etc.</a:t>
            </a:r>
          </a:p>
          <a:p>
            <a:pPr marL="722313" indent="-457200">
              <a:lnSpc>
                <a:spcPct val="150000"/>
              </a:lnSpc>
              <a:buFont typeface="Arial" panose="020B0604020202020204" pitchFamily="34" charset="0"/>
              <a:buChar char="•"/>
            </a:pPr>
            <a:r>
              <a:rPr lang="en-US" sz="2800" dirty="0">
                <a:latin typeface="Calibir"/>
              </a:rPr>
              <a:t>Keep one clear action → one clear outcome.</a:t>
            </a:r>
          </a:p>
          <a:p>
            <a:pPr marL="722313" indent="-457200">
              <a:lnSpc>
                <a:spcPct val="150000"/>
              </a:lnSpc>
              <a:buFont typeface="Arial" panose="020B0604020202020204" pitchFamily="34" charset="0"/>
              <a:buChar char="•"/>
            </a:pPr>
            <a:r>
              <a:rPr lang="en-US" sz="2800" dirty="0">
                <a:latin typeface="Calibir"/>
              </a:rPr>
              <a:t>Keep it </a:t>
            </a:r>
            <a:r>
              <a:rPr lang="en-US" sz="2800" dirty="0" err="1">
                <a:latin typeface="Calibir"/>
              </a:rPr>
              <a:t>behavioural</a:t>
            </a:r>
            <a:r>
              <a:rPr lang="en-US" sz="2800" dirty="0">
                <a:latin typeface="Calibir"/>
              </a:rPr>
              <a:t>, not technical.</a:t>
            </a:r>
          </a:p>
        </p:txBody>
      </p:sp>
      <p:sp>
        <p:nvSpPr>
          <p:cNvPr id="4" name="Title 1">
            <a:extLst>
              <a:ext uri="{FF2B5EF4-FFF2-40B4-BE49-F238E27FC236}">
                <a16:creationId xmlns:a16="http://schemas.microsoft.com/office/drawing/2014/main" id="{0BBB03CA-5FC8-FD2A-36D4-BC23161A56F7}"/>
              </a:ext>
            </a:extLst>
          </p:cNvPr>
          <p:cNvSpPr>
            <a:spLocks noGrp="1"/>
          </p:cNvSpPr>
          <p:nvPr>
            <p:ph type="title"/>
          </p:nvPr>
        </p:nvSpPr>
        <p:spPr>
          <a:xfrm>
            <a:off x="0" y="0"/>
            <a:ext cx="12192000" cy="657922"/>
          </a:xfrm>
        </p:spPr>
        <p:txBody>
          <a:bodyPr anchor="b">
            <a:normAutofit/>
          </a:bodyPr>
          <a:lstStyle/>
          <a:p>
            <a:r>
              <a:rPr lang="en-US" sz="4000" dirty="0">
                <a:latin typeface="Calibir"/>
              </a:rPr>
              <a:t>User Story Backlog – Clarified</a:t>
            </a:r>
            <a:endParaRPr lang="en-AU" sz="4000" b="1" dirty="0">
              <a:latin typeface="Calibir"/>
            </a:endParaRPr>
          </a:p>
        </p:txBody>
      </p:sp>
    </p:spTree>
    <p:extLst>
      <p:ext uri="{BB962C8B-B14F-4D97-AF65-F5344CB8AC3E}">
        <p14:creationId xmlns:p14="http://schemas.microsoft.com/office/powerpoint/2010/main" val="252379979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CCA9F-7BE8-69AA-6C42-D44D2626CFF9}"/>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A9C9155A-B5F7-0073-E9FF-B0D8784FA666}"/>
              </a:ext>
            </a:extLst>
          </p:cNvPr>
          <p:cNvSpPr>
            <a:spLocks noChangeArrowheads="1"/>
          </p:cNvSpPr>
          <p:nvPr/>
        </p:nvSpPr>
        <p:spPr bwMode="auto">
          <a:xfrm>
            <a:off x="0" y="789386"/>
            <a:ext cx="444249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Question and Answers (FAQ)</a:t>
            </a:r>
            <a:endParaRPr kumimoji="0" lang="en-US" altLang="en-US" sz="2800" b="0" i="0" u="none" strike="noStrike" cap="none" normalizeH="0" baseline="0" dirty="0">
              <a:ln>
                <a:noFill/>
              </a:ln>
              <a:solidFill>
                <a:schemeClr val="tx1"/>
              </a:solidFill>
              <a:effectLst/>
              <a:latin typeface="Calibir"/>
            </a:endParaRPr>
          </a:p>
        </p:txBody>
      </p:sp>
      <p:sp>
        <p:nvSpPr>
          <p:cNvPr id="3" name="TextBox 2">
            <a:extLst>
              <a:ext uri="{FF2B5EF4-FFF2-40B4-BE49-F238E27FC236}">
                <a16:creationId xmlns:a16="http://schemas.microsoft.com/office/drawing/2014/main" id="{747630B2-C1DD-F81B-BBAA-509F02D0468D}"/>
              </a:ext>
            </a:extLst>
          </p:cNvPr>
          <p:cNvSpPr txBox="1"/>
          <p:nvPr/>
        </p:nvSpPr>
        <p:spPr>
          <a:xfrm>
            <a:off x="0" y="1478690"/>
            <a:ext cx="12064180" cy="4549835"/>
          </a:xfrm>
          <a:prstGeom prst="rect">
            <a:avLst/>
          </a:prstGeom>
          <a:noFill/>
        </p:spPr>
        <p:txBody>
          <a:bodyPr wrap="square">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Do we need more than 3 digits?</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No. Stay with 3 digits; you won’t exceed 9–10 features.</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How many stories per feature?</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A few atomic ones (2–5) are typical—enough to cover all rules in the brief.</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Can “System” be the user?</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Yes—when the system performs internal actions (e.g., generate ID, validate patterns).</a:t>
            </a:r>
          </a:p>
        </p:txBody>
      </p:sp>
      <p:sp>
        <p:nvSpPr>
          <p:cNvPr id="4" name="Title 1">
            <a:extLst>
              <a:ext uri="{FF2B5EF4-FFF2-40B4-BE49-F238E27FC236}">
                <a16:creationId xmlns:a16="http://schemas.microsoft.com/office/drawing/2014/main" id="{E5D6BAE1-2338-1C49-FE1D-79F5D87EECC0}"/>
              </a:ext>
            </a:extLst>
          </p:cNvPr>
          <p:cNvSpPr>
            <a:spLocks noGrp="1"/>
          </p:cNvSpPr>
          <p:nvPr>
            <p:ph type="title"/>
          </p:nvPr>
        </p:nvSpPr>
        <p:spPr>
          <a:xfrm>
            <a:off x="0" y="0"/>
            <a:ext cx="12192000" cy="657922"/>
          </a:xfrm>
        </p:spPr>
        <p:txBody>
          <a:bodyPr anchor="b">
            <a:normAutofit/>
          </a:bodyPr>
          <a:lstStyle/>
          <a:p>
            <a:r>
              <a:rPr lang="en-US" sz="4000" dirty="0">
                <a:latin typeface="Calibir"/>
              </a:rPr>
              <a:t>User Story Backlog – Clarified</a:t>
            </a:r>
            <a:endParaRPr lang="en-AU" sz="4000" b="1" dirty="0">
              <a:latin typeface="Calibir"/>
            </a:endParaRPr>
          </a:p>
        </p:txBody>
      </p:sp>
    </p:spTree>
    <p:extLst>
      <p:ext uri="{BB962C8B-B14F-4D97-AF65-F5344CB8AC3E}">
        <p14:creationId xmlns:p14="http://schemas.microsoft.com/office/powerpoint/2010/main" val="21283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1000"/>
                                        <p:tgtEl>
                                          <p:spTgt spid="3">
                                            <p:txEl>
                                              <p:pRg st="5" end="5"/>
                                            </p:txEl>
                                          </p:spTgt>
                                        </p:tgtEl>
                                      </p:cBhvr>
                                    </p:animEffect>
                                    <p:anim calcmode="lin" valueType="num">
                                      <p:cBhvr>
                                        <p:cTn id="1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87FD6-3CD8-489F-1DEE-269AB7737AF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89C737A-9804-215E-25A5-7571894E29EB}"/>
              </a:ext>
            </a:extLst>
          </p:cNvPr>
          <p:cNvSpPr>
            <a:spLocks noGrp="1"/>
          </p:cNvSpPr>
          <p:nvPr>
            <p:ph type="title"/>
          </p:nvPr>
        </p:nvSpPr>
        <p:spPr>
          <a:xfrm>
            <a:off x="0" y="0"/>
            <a:ext cx="12192000" cy="657922"/>
          </a:xfrm>
        </p:spPr>
        <p:txBody>
          <a:bodyPr anchor="b">
            <a:normAutofit/>
          </a:bodyPr>
          <a:lstStyle/>
          <a:p>
            <a:r>
              <a:rPr lang="en-US" sz="4000" dirty="0">
                <a:latin typeface="Calibir"/>
              </a:rPr>
              <a:t>Actors, User Stories, and ID Numbering Clarified</a:t>
            </a:r>
            <a:endParaRPr lang="en-AU" sz="4000" b="1" dirty="0">
              <a:latin typeface="Calibir"/>
            </a:endParaRPr>
          </a:p>
        </p:txBody>
      </p:sp>
      <p:sp>
        <p:nvSpPr>
          <p:cNvPr id="5" name="TextBox 4">
            <a:extLst>
              <a:ext uri="{FF2B5EF4-FFF2-40B4-BE49-F238E27FC236}">
                <a16:creationId xmlns:a16="http://schemas.microsoft.com/office/drawing/2014/main" id="{3E91CEEC-ED2D-6FC5-A159-FDC5498F7F59}"/>
              </a:ext>
            </a:extLst>
          </p:cNvPr>
          <p:cNvSpPr txBox="1"/>
          <p:nvPr/>
        </p:nvSpPr>
        <p:spPr>
          <a:xfrm>
            <a:off x="0" y="759147"/>
            <a:ext cx="11975690" cy="5940088"/>
          </a:xfrm>
          <a:prstGeom prst="rect">
            <a:avLst/>
          </a:prstGeom>
          <a:noFill/>
        </p:spPr>
        <p:txBody>
          <a:bodyPr wrap="square">
            <a:spAutoFit/>
          </a:bodyPr>
          <a:lstStyle/>
          <a:p>
            <a:r>
              <a:rPr lang="en-US" sz="1900" b="0" i="0" dirty="0">
                <a:solidFill>
                  <a:srgbClr val="000000"/>
                </a:solidFill>
                <a:effectLst/>
                <a:latin typeface="Calibir"/>
              </a:rPr>
              <a:t>Dear Dr. Keivanian,</a:t>
            </a:r>
            <a:br>
              <a:rPr lang="en-US" sz="1900" dirty="0">
                <a:latin typeface="Calibir"/>
              </a:rPr>
            </a:br>
            <a:br>
              <a:rPr lang="en-US" sz="1900" dirty="0">
                <a:latin typeface="Calibir"/>
              </a:rPr>
            </a:br>
            <a:r>
              <a:rPr lang="en-US" sz="1900" b="0" i="0" dirty="0">
                <a:solidFill>
                  <a:srgbClr val="000000"/>
                </a:solidFill>
                <a:effectLst/>
                <a:latin typeface="Calibir"/>
              </a:rPr>
              <a:t>I am a student in 32555 - Fundamentals of Software Engineering, and I have some questions regarding the first assignment. These are:</a:t>
            </a:r>
            <a:br>
              <a:rPr lang="en-US" sz="1900" dirty="0">
                <a:latin typeface="Calibir"/>
              </a:rPr>
            </a:br>
            <a:br>
              <a:rPr lang="en-US" sz="1900" dirty="0">
                <a:latin typeface="Calibir"/>
              </a:rPr>
            </a:br>
            <a:r>
              <a:rPr lang="en-US" sz="1900" b="0" i="0" dirty="0">
                <a:solidFill>
                  <a:srgbClr val="000000"/>
                </a:solidFill>
                <a:effectLst/>
                <a:latin typeface="Calibir"/>
              </a:rPr>
              <a:t>1. Are the CLI and GUI systems, which convert users' commands into function calls, considered "actors"?</a:t>
            </a:r>
            <a:br>
              <a:rPr lang="en-US" sz="1900" dirty="0">
                <a:latin typeface="Calibir"/>
              </a:rPr>
            </a:br>
            <a:r>
              <a:rPr lang="en-US" sz="1900" b="0" i="0" dirty="0">
                <a:solidFill>
                  <a:srgbClr val="000000"/>
                </a:solidFill>
                <a:effectLst/>
                <a:latin typeface="Calibir"/>
              </a:rPr>
              <a:t>2. I have done some reading and found out that there are primary actors and secondary (supporting) actors. It seems that sometimes the "computer system" can be considered a secondary actor that provides some service (validating email pattern, saving data, etc.), like illustrated in the attached picture. Are we supposed to identify secondary actors in this assignment? If we have to classify secondary actors, do we have to write user stories for them?</a:t>
            </a:r>
            <a:br>
              <a:rPr lang="en-US" sz="1900" dirty="0">
                <a:latin typeface="Calibir"/>
              </a:rPr>
            </a:br>
            <a:r>
              <a:rPr lang="en-US" sz="1900" b="0" i="0" dirty="0">
                <a:solidFill>
                  <a:srgbClr val="000000"/>
                </a:solidFill>
                <a:effectLst/>
                <a:latin typeface="Calibir"/>
              </a:rPr>
              <a:t>3. The brief says that the user story IDs have to have 3 digits, with the hundredth digit specifying the feature number, but if we have more than 10 features, how should we assign numbers to the features (i.e. is it 1000, 1001, etc.)? </a:t>
            </a:r>
            <a:br>
              <a:rPr lang="en-US" sz="1900" dirty="0">
                <a:latin typeface="Calibir"/>
              </a:rPr>
            </a:br>
            <a:r>
              <a:rPr lang="en-US" sz="1900" b="0" i="0" dirty="0">
                <a:solidFill>
                  <a:srgbClr val="000000"/>
                </a:solidFill>
                <a:effectLst/>
                <a:latin typeface="Calibir"/>
              </a:rPr>
              <a:t>4. Are the user stories more detailed steps for achieving a feature? For example, the feature is "enroll", and it is broken down into 3 user stories: (101) adding subject, (102) removing subjects, (103) viewing subjects. Or is this too specific, and we should have one user story for one feature?</a:t>
            </a:r>
            <a:br>
              <a:rPr lang="en-US" sz="1900" dirty="0">
                <a:latin typeface="Calibir"/>
              </a:rPr>
            </a:br>
            <a:br>
              <a:rPr lang="en-US" sz="1900" dirty="0">
                <a:latin typeface="Calibir"/>
              </a:rPr>
            </a:br>
            <a:r>
              <a:rPr lang="en-US" sz="1900" b="0" i="0" dirty="0">
                <a:solidFill>
                  <a:srgbClr val="000000"/>
                </a:solidFill>
                <a:effectLst/>
                <a:latin typeface="Calibir"/>
              </a:rPr>
              <a:t>I would really appreciate your help in answering these questions.</a:t>
            </a:r>
            <a:br>
              <a:rPr lang="en-US" sz="1900" dirty="0">
                <a:latin typeface="Calibir"/>
              </a:rPr>
            </a:br>
            <a:br>
              <a:rPr lang="en-US" sz="1900" dirty="0">
                <a:latin typeface="Calibir"/>
              </a:rPr>
            </a:br>
            <a:r>
              <a:rPr lang="en-US" sz="1900" b="0" i="0" dirty="0">
                <a:solidFill>
                  <a:srgbClr val="000000"/>
                </a:solidFill>
                <a:effectLst/>
                <a:latin typeface="Calibir"/>
              </a:rPr>
              <a:t>Thank you very much!</a:t>
            </a:r>
            <a:br>
              <a:rPr lang="en-US" sz="1900" dirty="0">
                <a:latin typeface="Calibir"/>
              </a:rPr>
            </a:br>
            <a:r>
              <a:rPr lang="en-US" sz="1900" b="0" i="0" dirty="0">
                <a:solidFill>
                  <a:srgbClr val="000000"/>
                </a:solidFill>
                <a:effectLst/>
                <a:latin typeface="Calibir"/>
              </a:rPr>
              <a:t>Best regards,</a:t>
            </a:r>
            <a:endParaRPr lang="en-US" sz="1900" dirty="0">
              <a:latin typeface="Calibir"/>
            </a:endParaRPr>
          </a:p>
        </p:txBody>
      </p:sp>
    </p:spTree>
    <p:extLst>
      <p:ext uri="{BB962C8B-B14F-4D97-AF65-F5344CB8AC3E}">
        <p14:creationId xmlns:p14="http://schemas.microsoft.com/office/powerpoint/2010/main" val="17104177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25EDA-EB6E-0E59-A313-80DD47684D5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ECF3C55-6759-E4D5-09BD-3CB8746A3A55}"/>
              </a:ext>
            </a:extLst>
          </p:cNvPr>
          <p:cNvSpPr>
            <a:spLocks noGrp="1"/>
          </p:cNvSpPr>
          <p:nvPr>
            <p:ph type="title"/>
          </p:nvPr>
        </p:nvSpPr>
        <p:spPr>
          <a:xfrm>
            <a:off x="0" y="0"/>
            <a:ext cx="12192000" cy="657922"/>
          </a:xfrm>
        </p:spPr>
        <p:txBody>
          <a:bodyPr anchor="b">
            <a:normAutofit/>
          </a:bodyPr>
          <a:lstStyle/>
          <a:p>
            <a:r>
              <a:rPr lang="en-US" sz="4000" dirty="0">
                <a:latin typeface="Calibir"/>
              </a:rPr>
              <a:t>Actors, User Stories, and ID Numbering Clarified</a:t>
            </a:r>
            <a:endParaRPr lang="en-AU" sz="4000" b="1" dirty="0">
              <a:latin typeface="Calibir"/>
            </a:endParaRPr>
          </a:p>
        </p:txBody>
      </p:sp>
      <p:sp>
        <p:nvSpPr>
          <p:cNvPr id="5" name="TextBox 4">
            <a:extLst>
              <a:ext uri="{FF2B5EF4-FFF2-40B4-BE49-F238E27FC236}">
                <a16:creationId xmlns:a16="http://schemas.microsoft.com/office/drawing/2014/main" id="{A9F5D6A1-2ECC-70D7-666F-F165E43C2AA8}"/>
              </a:ext>
            </a:extLst>
          </p:cNvPr>
          <p:cNvSpPr txBox="1"/>
          <p:nvPr/>
        </p:nvSpPr>
        <p:spPr>
          <a:xfrm>
            <a:off x="0" y="759147"/>
            <a:ext cx="11975690" cy="3257174"/>
          </a:xfrm>
          <a:prstGeom prst="rect">
            <a:avLst/>
          </a:prstGeom>
          <a:noFill/>
        </p:spPr>
        <p:txBody>
          <a:bodyPr wrap="square">
            <a:spAutoFit/>
          </a:bodyPr>
          <a:lstStyle/>
          <a:p>
            <a:pPr>
              <a:lnSpc>
                <a:spcPct val="150000"/>
              </a:lnSpc>
            </a:pPr>
            <a:r>
              <a:rPr lang="en-US" sz="2800" b="1" dirty="0">
                <a:latin typeface="Calibir"/>
              </a:rPr>
              <a:t>1. Are CLI/GUI systems “actors”?</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No.</a:t>
            </a:r>
          </a:p>
          <a:p>
            <a:pPr marL="914400" lvl="1" indent="-457200">
              <a:lnSpc>
                <a:spcPct val="150000"/>
              </a:lnSpc>
              <a:buFont typeface="Arial" panose="020B0604020202020204" pitchFamily="34" charset="0"/>
              <a:buChar char="•"/>
            </a:pPr>
            <a:r>
              <a:rPr lang="en-US" sz="2800" dirty="0">
                <a:latin typeface="Calibir"/>
              </a:rPr>
              <a:t>Actors are people or external systems that interact </a:t>
            </a:r>
            <a:r>
              <a:rPr lang="en-US" sz="2800" i="1" dirty="0">
                <a:latin typeface="Calibir"/>
              </a:rPr>
              <a:t>with</a:t>
            </a:r>
            <a:r>
              <a:rPr lang="en-US" sz="2800" dirty="0">
                <a:latin typeface="Calibir"/>
              </a:rPr>
              <a:t> your system.</a:t>
            </a:r>
          </a:p>
          <a:p>
            <a:pPr marL="914400" lvl="1" indent="-457200">
              <a:lnSpc>
                <a:spcPct val="150000"/>
              </a:lnSpc>
              <a:buFont typeface="Arial" panose="020B0604020202020204" pitchFamily="34" charset="0"/>
              <a:buChar char="•"/>
            </a:pPr>
            <a:r>
              <a:rPr lang="en-US" sz="2800" dirty="0">
                <a:latin typeface="Calibir"/>
              </a:rPr>
              <a:t>In this assignment: Student and Admin are the main actors.</a:t>
            </a:r>
          </a:p>
          <a:p>
            <a:pPr marL="914400" lvl="1" indent="-457200">
              <a:lnSpc>
                <a:spcPct val="150000"/>
              </a:lnSpc>
              <a:buFont typeface="Arial" panose="020B0604020202020204" pitchFamily="34" charset="0"/>
              <a:buChar char="•"/>
            </a:pPr>
            <a:r>
              <a:rPr lang="en-US" sz="2800" dirty="0">
                <a:latin typeface="Calibir"/>
              </a:rPr>
              <a:t>CLI and GUI are just </a:t>
            </a:r>
            <a:r>
              <a:rPr lang="en-US" sz="2800" i="1" dirty="0">
                <a:latin typeface="Calibir"/>
              </a:rPr>
              <a:t>interfaces</a:t>
            </a:r>
            <a:r>
              <a:rPr lang="en-US" sz="2800" dirty="0">
                <a:latin typeface="Calibir"/>
              </a:rPr>
              <a:t> (ways to use the system), not actors.</a:t>
            </a:r>
          </a:p>
        </p:txBody>
      </p:sp>
    </p:spTree>
    <p:extLst>
      <p:ext uri="{BB962C8B-B14F-4D97-AF65-F5344CB8AC3E}">
        <p14:creationId xmlns:p14="http://schemas.microsoft.com/office/powerpoint/2010/main" val="2343898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1000"/>
                                        <p:tgtEl>
                                          <p:spTgt spid="5">
                                            <p:txEl>
                                              <p:pRg st="2" end="2"/>
                                            </p:txEl>
                                          </p:spTgt>
                                        </p:tgtEl>
                                      </p:cBhvr>
                                    </p:animEffect>
                                    <p:anim calcmode="lin" valueType="num">
                                      <p:cBhvr>
                                        <p:cTn id="13"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1000"/>
                                        <p:tgtEl>
                                          <p:spTgt spid="5">
                                            <p:txEl>
                                              <p:pRg st="3" end="3"/>
                                            </p:txEl>
                                          </p:spTgt>
                                        </p:tgtEl>
                                      </p:cBhvr>
                                    </p:animEffect>
                                    <p:anim calcmode="lin" valueType="num">
                                      <p:cBhvr>
                                        <p:cTn id="1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1000"/>
                                        <p:tgtEl>
                                          <p:spTgt spid="5">
                                            <p:txEl>
                                              <p:pRg st="4" end="4"/>
                                            </p:txEl>
                                          </p:spTgt>
                                        </p:tgtEl>
                                      </p:cBhvr>
                                    </p:animEffect>
                                    <p:anim calcmode="lin" valueType="num">
                                      <p:cBhvr>
                                        <p:cTn id="23"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CFBAC-DEB8-6B01-1331-3C92BA7741F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CA56E1D-3C45-0B6F-BBFA-05CF0ADA0A35}"/>
              </a:ext>
            </a:extLst>
          </p:cNvPr>
          <p:cNvSpPr>
            <a:spLocks noGrp="1"/>
          </p:cNvSpPr>
          <p:nvPr>
            <p:ph type="title"/>
          </p:nvPr>
        </p:nvSpPr>
        <p:spPr>
          <a:xfrm>
            <a:off x="0" y="0"/>
            <a:ext cx="12192000" cy="657922"/>
          </a:xfrm>
        </p:spPr>
        <p:txBody>
          <a:bodyPr anchor="b">
            <a:normAutofit/>
          </a:bodyPr>
          <a:lstStyle/>
          <a:p>
            <a:r>
              <a:rPr lang="en-US" sz="4000" dirty="0">
                <a:latin typeface="Calibir"/>
              </a:rPr>
              <a:t>Actors, User Stories, and ID Numbering Clarified</a:t>
            </a:r>
            <a:endParaRPr lang="en-AU" sz="4000" b="1" dirty="0">
              <a:latin typeface="Calibir"/>
            </a:endParaRPr>
          </a:p>
        </p:txBody>
      </p:sp>
      <p:sp>
        <p:nvSpPr>
          <p:cNvPr id="5" name="TextBox 4">
            <a:extLst>
              <a:ext uri="{FF2B5EF4-FFF2-40B4-BE49-F238E27FC236}">
                <a16:creationId xmlns:a16="http://schemas.microsoft.com/office/drawing/2014/main" id="{2B754B84-98B2-0F15-0FA1-C7541CC494AB}"/>
              </a:ext>
            </a:extLst>
          </p:cNvPr>
          <p:cNvSpPr txBox="1"/>
          <p:nvPr/>
        </p:nvSpPr>
        <p:spPr>
          <a:xfrm>
            <a:off x="0" y="759147"/>
            <a:ext cx="11975690" cy="3257174"/>
          </a:xfrm>
          <a:prstGeom prst="rect">
            <a:avLst/>
          </a:prstGeom>
          <a:noFill/>
        </p:spPr>
        <p:txBody>
          <a:bodyPr wrap="square">
            <a:spAutoFit/>
          </a:bodyPr>
          <a:lstStyle/>
          <a:p>
            <a:pPr>
              <a:lnSpc>
                <a:spcPct val="150000"/>
              </a:lnSpc>
            </a:pPr>
            <a:r>
              <a:rPr lang="en-US" sz="2800" b="1" dirty="0">
                <a:latin typeface="Calibir"/>
              </a:rPr>
              <a:t>2. Do we need secondary actors (like Credit Authorizer in the diagram)?</a:t>
            </a:r>
          </a:p>
          <a:p>
            <a:pPr marL="914400" lvl="1" indent="-457200">
              <a:lnSpc>
                <a:spcPct val="150000"/>
              </a:lnSpc>
              <a:buFont typeface="Arial" panose="020B0604020202020204" pitchFamily="34" charset="0"/>
              <a:buChar char="•"/>
            </a:pPr>
            <a:r>
              <a:rPr lang="en-US" sz="2800" dirty="0">
                <a:latin typeface="Calibir"/>
              </a:rPr>
              <a:t>In our assignment, you don’t need to add secondary/supporting actors.</a:t>
            </a:r>
          </a:p>
          <a:p>
            <a:pPr marL="914400" lvl="1" indent="-457200">
              <a:lnSpc>
                <a:spcPct val="150000"/>
              </a:lnSpc>
              <a:buFont typeface="Arial" panose="020B0604020202020204" pitchFamily="34" charset="0"/>
              <a:buChar char="•"/>
            </a:pPr>
            <a:r>
              <a:rPr lang="en-US" sz="2800" dirty="0">
                <a:latin typeface="Calibir"/>
              </a:rPr>
              <a:t>Things like </a:t>
            </a:r>
            <a:r>
              <a:rPr lang="en-US" sz="2800" i="1" dirty="0">
                <a:latin typeface="Calibir"/>
              </a:rPr>
              <a:t>validating emails</a:t>
            </a:r>
            <a:r>
              <a:rPr lang="en-US" sz="2800" dirty="0">
                <a:latin typeface="Calibir"/>
              </a:rPr>
              <a:t>, </a:t>
            </a:r>
            <a:r>
              <a:rPr lang="en-US" sz="2800" i="1" dirty="0">
                <a:latin typeface="Calibir"/>
              </a:rPr>
              <a:t>saving data</a:t>
            </a:r>
            <a:r>
              <a:rPr lang="en-US" sz="2800" dirty="0">
                <a:latin typeface="Calibir"/>
              </a:rPr>
              <a:t> are internal system tasks, not separate actors.</a:t>
            </a:r>
          </a:p>
          <a:p>
            <a:pPr marL="914400" lvl="1" indent="-457200">
              <a:lnSpc>
                <a:spcPct val="150000"/>
              </a:lnSpc>
              <a:buFont typeface="Arial" panose="020B0604020202020204" pitchFamily="34" charset="0"/>
              <a:buChar char="•"/>
            </a:pPr>
            <a:r>
              <a:rPr lang="en-US" sz="2800" dirty="0">
                <a:latin typeface="Calibir"/>
              </a:rPr>
              <a:t>So: only focus on Student and Admin.</a:t>
            </a:r>
          </a:p>
        </p:txBody>
      </p:sp>
    </p:spTree>
    <p:extLst>
      <p:ext uri="{BB962C8B-B14F-4D97-AF65-F5344CB8AC3E}">
        <p14:creationId xmlns:p14="http://schemas.microsoft.com/office/powerpoint/2010/main" val="389093020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F6148-5539-E2B2-EE47-6BAD299A4CB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3FE4F53-78F8-88E9-D959-04058EA32038}"/>
              </a:ext>
            </a:extLst>
          </p:cNvPr>
          <p:cNvSpPr>
            <a:spLocks noGrp="1"/>
          </p:cNvSpPr>
          <p:nvPr>
            <p:ph type="title"/>
          </p:nvPr>
        </p:nvSpPr>
        <p:spPr>
          <a:xfrm>
            <a:off x="0" y="0"/>
            <a:ext cx="12192000" cy="657922"/>
          </a:xfrm>
        </p:spPr>
        <p:txBody>
          <a:bodyPr anchor="b">
            <a:normAutofit/>
          </a:bodyPr>
          <a:lstStyle/>
          <a:p>
            <a:r>
              <a:rPr lang="en-US" sz="4000" dirty="0">
                <a:latin typeface="Calibir"/>
              </a:rPr>
              <a:t>Actors, User Stories, and ID Numbering Clarified</a:t>
            </a:r>
            <a:endParaRPr lang="en-AU" sz="4000" b="1" dirty="0">
              <a:latin typeface="Calibir"/>
            </a:endParaRPr>
          </a:p>
        </p:txBody>
      </p:sp>
      <p:sp>
        <p:nvSpPr>
          <p:cNvPr id="5" name="TextBox 4">
            <a:extLst>
              <a:ext uri="{FF2B5EF4-FFF2-40B4-BE49-F238E27FC236}">
                <a16:creationId xmlns:a16="http://schemas.microsoft.com/office/drawing/2014/main" id="{F6928BE3-15EA-2547-2EA7-C2AAB12070B1}"/>
              </a:ext>
            </a:extLst>
          </p:cNvPr>
          <p:cNvSpPr txBox="1"/>
          <p:nvPr/>
        </p:nvSpPr>
        <p:spPr>
          <a:xfrm>
            <a:off x="0" y="759147"/>
            <a:ext cx="11975690" cy="3903504"/>
          </a:xfrm>
          <a:prstGeom prst="rect">
            <a:avLst/>
          </a:prstGeom>
          <a:noFill/>
        </p:spPr>
        <p:txBody>
          <a:bodyPr wrap="square">
            <a:spAutoFit/>
          </a:bodyPr>
          <a:lstStyle/>
          <a:p>
            <a:pPr>
              <a:lnSpc>
                <a:spcPct val="150000"/>
              </a:lnSpc>
            </a:pPr>
            <a:r>
              <a:rPr lang="en-US" sz="2800" b="1" dirty="0">
                <a:latin typeface="Calibir"/>
              </a:rPr>
              <a:t>3. User story IDs – what if more than 10 features?</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Each feature uses its own “hundreds digit”.</a:t>
            </a:r>
          </a:p>
          <a:p>
            <a:pPr marL="1371600" lvl="2" indent="-457200">
              <a:lnSpc>
                <a:spcPct val="150000"/>
              </a:lnSpc>
              <a:buFont typeface="Arial" panose="020B0604020202020204" pitchFamily="34" charset="0"/>
              <a:buChar char="•"/>
            </a:pPr>
            <a:r>
              <a:rPr lang="en-US" sz="2800" dirty="0">
                <a:latin typeface="Calibir"/>
              </a:rPr>
              <a:t>Example: Login → 100 series, Register → 200 series.</a:t>
            </a:r>
          </a:p>
          <a:p>
            <a:pPr marL="914400" lvl="1" indent="-457200">
              <a:lnSpc>
                <a:spcPct val="150000"/>
              </a:lnSpc>
              <a:buFont typeface="Arial" panose="020B0604020202020204" pitchFamily="34" charset="0"/>
              <a:buChar char="•"/>
            </a:pPr>
            <a:r>
              <a:rPr lang="en-US" sz="2800" dirty="0">
                <a:latin typeface="Calibir"/>
              </a:rPr>
              <a:t>You won’t have more than 9–10 top features here (the brief is smaller).</a:t>
            </a:r>
          </a:p>
          <a:p>
            <a:pPr marL="914400" lvl="1" indent="-457200">
              <a:lnSpc>
                <a:spcPct val="150000"/>
              </a:lnSpc>
              <a:buFont typeface="Arial" panose="020B0604020202020204" pitchFamily="34" charset="0"/>
              <a:buChar char="•"/>
            </a:pPr>
            <a:r>
              <a:rPr lang="en-US" sz="2800" dirty="0">
                <a:latin typeface="Calibir"/>
              </a:rPr>
              <a:t>Keep IDs 3-digit (e.g., 101, 102, 103).</a:t>
            </a:r>
          </a:p>
          <a:p>
            <a:pPr marL="914400" lvl="1" indent="-457200">
              <a:lnSpc>
                <a:spcPct val="150000"/>
              </a:lnSpc>
              <a:buFont typeface="Arial" panose="020B0604020202020204" pitchFamily="34" charset="0"/>
              <a:buChar char="•"/>
            </a:pPr>
            <a:r>
              <a:rPr lang="en-US" sz="2800" dirty="0">
                <a:latin typeface="Calibir"/>
              </a:rPr>
              <a:t>Don’t use 1000+. Stay with 3 digits only.</a:t>
            </a:r>
          </a:p>
        </p:txBody>
      </p:sp>
    </p:spTree>
    <p:extLst>
      <p:ext uri="{BB962C8B-B14F-4D97-AF65-F5344CB8AC3E}">
        <p14:creationId xmlns:p14="http://schemas.microsoft.com/office/powerpoint/2010/main" val="380457037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6E33D-DD2A-09A0-7E2A-47123B1E418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3E0A75F-0DA1-D44A-C5CE-B66D6AB6656B}"/>
              </a:ext>
            </a:extLst>
          </p:cNvPr>
          <p:cNvSpPr>
            <a:spLocks noGrp="1"/>
          </p:cNvSpPr>
          <p:nvPr>
            <p:ph type="title"/>
          </p:nvPr>
        </p:nvSpPr>
        <p:spPr>
          <a:xfrm>
            <a:off x="0" y="0"/>
            <a:ext cx="12192000" cy="657922"/>
          </a:xfrm>
        </p:spPr>
        <p:txBody>
          <a:bodyPr anchor="b">
            <a:normAutofit/>
          </a:bodyPr>
          <a:lstStyle/>
          <a:p>
            <a:r>
              <a:rPr lang="en-US" sz="4000" dirty="0">
                <a:latin typeface="Calibir"/>
              </a:rPr>
              <a:t>Actors, User Stories, and ID Numbering Clarified</a:t>
            </a:r>
            <a:endParaRPr lang="en-AU" sz="4000" b="1" dirty="0">
              <a:latin typeface="Calibir"/>
            </a:endParaRPr>
          </a:p>
        </p:txBody>
      </p:sp>
      <p:sp>
        <p:nvSpPr>
          <p:cNvPr id="5" name="TextBox 4">
            <a:extLst>
              <a:ext uri="{FF2B5EF4-FFF2-40B4-BE49-F238E27FC236}">
                <a16:creationId xmlns:a16="http://schemas.microsoft.com/office/drawing/2014/main" id="{4E3BDC2B-F717-C081-0B75-FDBEC6B73106}"/>
              </a:ext>
            </a:extLst>
          </p:cNvPr>
          <p:cNvSpPr txBox="1"/>
          <p:nvPr/>
        </p:nvSpPr>
        <p:spPr>
          <a:xfrm>
            <a:off x="0" y="759147"/>
            <a:ext cx="11975690" cy="4549835"/>
          </a:xfrm>
          <a:prstGeom prst="rect">
            <a:avLst/>
          </a:prstGeom>
          <a:noFill/>
        </p:spPr>
        <p:txBody>
          <a:bodyPr wrap="square">
            <a:spAutoFit/>
          </a:bodyPr>
          <a:lstStyle/>
          <a:p>
            <a:pPr>
              <a:lnSpc>
                <a:spcPct val="150000"/>
              </a:lnSpc>
            </a:pPr>
            <a:r>
              <a:rPr lang="en-US" sz="2800" b="1" dirty="0">
                <a:latin typeface="Calibir"/>
              </a:rPr>
              <a:t>4. Are user stories detailed steps or one story per feature?</a:t>
            </a:r>
          </a:p>
          <a:p>
            <a:pPr marL="914400" lvl="1" indent="-457200">
              <a:lnSpc>
                <a:spcPct val="150000"/>
              </a:lnSpc>
              <a:buFont typeface="Arial" panose="020B0604020202020204" pitchFamily="34" charset="0"/>
              <a:buChar char="•"/>
            </a:pPr>
            <a:r>
              <a:rPr lang="en-US" sz="2800" dirty="0">
                <a:latin typeface="Calibir"/>
              </a:rPr>
              <a:t>Think of a feature broken into a few simple stories.</a:t>
            </a:r>
          </a:p>
          <a:p>
            <a:pPr marL="914400" lvl="1" indent="-457200">
              <a:lnSpc>
                <a:spcPct val="150000"/>
              </a:lnSpc>
              <a:buFont typeface="Arial" panose="020B0604020202020204" pitchFamily="34" charset="0"/>
              <a:buChar char="•"/>
            </a:pPr>
            <a:r>
              <a:rPr lang="en-US" sz="2800" dirty="0">
                <a:latin typeface="Calibir"/>
              </a:rPr>
              <a:t>Example (Feature = “</a:t>
            </a:r>
            <a:r>
              <a:rPr lang="en-US" sz="2800" dirty="0" err="1">
                <a:latin typeface="Calibir"/>
              </a:rPr>
              <a:t>Enrol</a:t>
            </a:r>
            <a:r>
              <a:rPr lang="en-US" sz="2800" dirty="0">
                <a:latin typeface="Calibir"/>
              </a:rPr>
              <a:t>”):</a:t>
            </a:r>
          </a:p>
          <a:p>
            <a:pPr marL="1371600" lvl="2" indent="-457200">
              <a:lnSpc>
                <a:spcPct val="150000"/>
              </a:lnSpc>
              <a:buFont typeface="Arial" panose="020B0604020202020204" pitchFamily="34" charset="0"/>
              <a:buChar char="•"/>
            </a:pPr>
            <a:r>
              <a:rPr lang="en-US" sz="2800" dirty="0">
                <a:latin typeface="Calibir"/>
              </a:rPr>
              <a:t>301: Add a subject automatically</a:t>
            </a:r>
          </a:p>
          <a:p>
            <a:pPr marL="1371600" lvl="2" indent="-457200">
              <a:lnSpc>
                <a:spcPct val="150000"/>
              </a:lnSpc>
              <a:buFont typeface="Arial" panose="020B0604020202020204" pitchFamily="34" charset="0"/>
              <a:buChar char="•"/>
            </a:pPr>
            <a:r>
              <a:rPr lang="en-US" sz="2800" dirty="0">
                <a:latin typeface="Calibir"/>
              </a:rPr>
              <a:t>302: Show error if &gt;4 subjects</a:t>
            </a:r>
          </a:p>
          <a:p>
            <a:pPr marL="1371600" lvl="2" indent="-457200">
              <a:lnSpc>
                <a:spcPct val="150000"/>
              </a:lnSpc>
              <a:buFont typeface="Arial" panose="020B0604020202020204" pitchFamily="34" charset="0"/>
              <a:buChar char="•"/>
            </a:pPr>
            <a:r>
              <a:rPr lang="en-US" sz="2800" dirty="0">
                <a:latin typeface="Calibir"/>
              </a:rPr>
              <a:t>303: Generate subject mark + grade</a:t>
            </a:r>
          </a:p>
          <a:p>
            <a:pPr marL="914400" lvl="1" indent="-457200">
              <a:lnSpc>
                <a:spcPct val="150000"/>
              </a:lnSpc>
              <a:buFont typeface="Arial" panose="020B0604020202020204" pitchFamily="34" charset="0"/>
              <a:buChar char="•"/>
            </a:pPr>
            <a:r>
              <a:rPr lang="en-US" sz="2800" dirty="0">
                <a:latin typeface="Calibir"/>
              </a:rPr>
              <a:t>So yes, one feature = a few small user stories.</a:t>
            </a:r>
          </a:p>
        </p:txBody>
      </p:sp>
    </p:spTree>
    <p:extLst>
      <p:ext uri="{BB962C8B-B14F-4D97-AF65-F5344CB8AC3E}">
        <p14:creationId xmlns:p14="http://schemas.microsoft.com/office/powerpoint/2010/main" val="278778170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BAAB6-6C5A-7C6A-C341-DBC5BBF4CDA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749BFB7-03C9-B6B8-3642-D8C9620EAA47}"/>
              </a:ext>
            </a:extLst>
          </p:cNvPr>
          <p:cNvSpPr>
            <a:spLocks noGrp="1"/>
          </p:cNvSpPr>
          <p:nvPr>
            <p:ph type="title"/>
          </p:nvPr>
        </p:nvSpPr>
        <p:spPr>
          <a:xfrm>
            <a:off x="0" y="0"/>
            <a:ext cx="12192000" cy="657922"/>
          </a:xfrm>
        </p:spPr>
        <p:txBody>
          <a:bodyPr anchor="b">
            <a:normAutofit/>
          </a:bodyPr>
          <a:lstStyle/>
          <a:p>
            <a:r>
              <a:rPr lang="en-US" sz="4000" dirty="0">
                <a:latin typeface="Calibir"/>
              </a:rPr>
              <a:t>Actors, User Stories, and ID Numbering Clarified</a:t>
            </a:r>
            <a:endParaRPr lang="en-AU" sz="4000" b="1" dirty="0">
              <a:latin typeface="Calibir"/>
            </a:endParaRPr>
          </a:p>
        </p:txBody>
      </p:sp>
      <p:sp>
        <p:nvSpPr>
          <p:cNvPr id="5" name="TextBox 4">
            <a:extLst>
              <a:ext uri="{FF2B5EF4-FFF2-40B4-BE49-F238E27FC236}">
                <a16:creationId xmlns:a16="http://schemas.microsoft.com/office/drawing/2014/main" id="{B3808B00-D5E6-9708-CE23-ED7BE03C6E1E}"/>
              </a:ext>
            </a:extLst>
          </p:cNvPr>
          <p:cNvSpPr txBox="1"/>
          <p:nvPr/>
        </p:nvSpPr>
        <p:spPr>
          <a:xfrm>
            <a:off x="0" y="759147"/>
            <a:ext cx="11975690" cy="3257174"/>
          </a:xfrm>
          <a:prstGeom prst="rect">
            <a:avLst/>
          </a:prstGeom>
          <a:noFill/>
        </p:spPr>
        <p:txBody>
          <a:bodyPr wrap="square">
            <a:spAutoFit/>
          </a:bodyPr>
          <a:lstStyle/>
          <a:p>
            <a:pPr>
              <a:lnSpc>
                <a:spcPct val="150000"/>
              </a:lnSpc>
            </a:pPr>
            <a:r>
              <a:rPr lang="en-US" sz="2800" b="1" dirty="0">
                <a:latin typeface="Calibir"/>
              </a:rPr>
              <a:t>Key takeaway for students:</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Actors: only Student and Admin</a:t>
            </a:r>
          </a:p>
          <a:p>
            <a:pPr marL="914400" lvl="1" indent="-457200">
              <a:lnSpc>
                <a:spcPct val="150000"/>
              </a:lnSpc>
              <a:buFont typeface="Arial" panose="020B0604020202020204" pitchFamily="34" charset="0"/>
              <a:buChar char="•"/>
            </a:pPr>
            <a:r>
              <a:rPr lang="en-US" sz="2800" dirty="0">
                <a:latin typeface="Calibir"/>
              </a:rPr>
              <a:t>No secondary actors needed</a:t>
            </a:r>
          </a:p>
          <a:p>
            <a:pPr marL="914400" lvl="1" indent="-457200">
              <a:lnSpc>
                <a:spcPct val="150000"/>
              </a:lnSpc>
              <a:buFont typeface="Arial" panose="020B0604020202020204" pitchFamily="34" charset="0"/>
              <a:buChar char="•"/>
            </a:pPr>
            <a:r>
              <a:rPr lang="en-US" sz="2800" dirty="0">
                <a:latin typeface="Calibir"/>
              </a:rPr>
              <a:t>User stories: break down features into simple steps</a:t>
            </a:r>
          </a:p>
          <a:p>
            <a:pPr marL="914400" lvl="1" indent="-457200">
              <a:lnSpc>
                <a:spcPct val="150000"/>
              </a:lnSpc>
              <a:buFont typeface="Arial" panose="020B0604020202020204" pitchFamily="34" charset="0"/>
              <a:buChar char="•"/>
            </a:pPr>
            <a:r>
              <a:rPr lang="en-US" sz="2800" dirty="0">
                <a:latin typeface="Calibir"/>
              </a:rPr>
              <a:t>IDs: always 3 digits (100, 101, 102…)</a:t>
            </a:r>
          </a:p>
        </p:txBody>
      </p:sp>
    </p:spTree>
    <p:extLst>
      <p:ext uri="{BB962C8B-B14F-4D97-AF65-F5344CB8AC3E}">
        <p14:creationId xmlns:p14="http://schemas.microsoft.com/office/powerpoint/2010/main" val="75577425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EEF6A-BFF7-6805-FFD0-89231DF5727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358E81E-6FB0-316E-7DF3-13833D88FCD0}"/>
              </a:ext>
            </a:extLst>
          </p:cNvPr>
          <p:cNvSpPr>
            <a:spLocks noGrp="1"/>
          </p:cNvSpPr>
          <p:nvPr>
            <p:ph type="title"/>
          </p:nvPr>
        </p:nvSpPr>
        <p:spPr>
          <a:xfrm>
            <a:off x="0" y="0"/>
            <a:ext cx="12192000" cy="657922"/>
          </a:xfrm>
        </p:spPr>
        <p:txBody>
          <a:bodyPr anchor="b">
            <a:normAutofit/>
          </a:bodyPr>
          <a:lstStyle/>
          <a:p>
            <a:r>
              <a:rPr lang="en-US" sz="4000" dirty="0">
                <a:latin typeface="Calibir"/>
              </a:rPr>
              <a:t>User Stories – Handling System Actions &amp; Wording</a:t>
            </a:r>
            <a:endParaRPr lang="en-AU" sz="4000" b="1" dirty="0">
              <a:latin typeface="Calibir"/>
            </a:endParaRPr>
          </a:p>
        </p:txBody>
      </p:sp>
      <p:sp>
        <p:nvSpPr>
          <p:cNvPr id="5" name="TextBox 4">
            <a:extLst>
              <a:ext uri="{FF2B5EF4-FFF2-40B4-BE49-F238E27FC236}">
                <a16:creationId xmlns:a16="http://schemas.microsoft.com/office/drawing/2014/main" id="{1A191ED0-D8A3-E172-EF69-3E1B72A77345}"/>
              </a:ext>
            </a:extLst>
          </p:cNvPr>
          <p:cNvSpPr txBox="1"/>
          <p:nvPr/>
        </p:nvSpPr>
        <p:spPr>
          <a:xfrm>
            <a:off x="0" y="759147"/>
            <a:ext cx="11975690" cy="6186309"/>
          </a:xfrm>
          <a:prstGeom prst="rect">
            <a:avLst/>
          </a:prstGeom>
          <a:noFill/>
        </p:spPr>
        <p:txBody>
          <a:bodyPr wrap="square">
            <a:spAutoFit/>
          </a:bodyPr>
          <a:lstStyle/>
          <a:p>
            <a:pPr fontAlgn="base"/>
            <a:r>
              <a:rPr lang="en-US" dirty="0">
                <a:latin typeface="Calibir"/>
              </a:rPr>
              <a:t>Dear Dr. Keivanian,</a:t>
            </a:r>
            <a:br>
              <a:rPr lang="en-US" dirty="0">
                <a:latin typeface="Calibir"/>
              </a:rPr>
            </a:br>
            <a:br>
              <a:rPr lang="en-US" dirty="0">
                <a:latin typeface="Calibir"/>
              </a:rPr>
            </a:br>
            <a:r>
              <a:rPr lang="en-US" dirty="0">
                <a:latin typeface="Calibir"/>
              </a:rPr>
              <a:t>Thank you for your insightful response.</a:t>
            </a:r>
            <a:br>
              <a:rPr lang="en-US" dirty="0">
                <a:latin typeface="Calibir"/>
              </a:rPr>
            </a:br>
            <a:br>
              <a:rPr lang="en-US" dirty="0">
                <a:latin typeface="Calibir"/>
              </a:rPr>
            </a:br>
            <a:r>
              <a:rPr lang="en-US" dirty="0">
                <a:latin typeface="Calibir"/>
              </a:rPr>
              <a:t>However, I still have some doubts about the assignment.</a:t>
            </a:r>
            <a:br>
              <a:rPr lang="en-US" dirty="0">
                <a:latin typeface="Calibir"/>
              </a:rPr>
            </a:br>
            <a:br>
              <a:rPr lang="en-US" dirty="0">
                <a:latin typeface="Calibir"/>
              </a:rPr>
            </a:br>
            <a:endParaRPr lang="en-US" dirty="0">
              <a:latin typeface="Calibir"/>
            </a:endParaRPr>
          </a:p>
          <a:p>
            <a:pPr fontAlgn="base"/>
            <a:r>
              <a:rPr lang="en-US" dirty="0">
                <a:latin typeface="Calibir"/>
              </a:rPr>
              <a:t>Regarding the second and fourth answer in your response, these raise another question, which is that in the assignment brief, the user stories will be mapped into a backlog table. However, the example user stories in the assignment brief have no actor in them (e.g. "</a:t>
            </a:r>
            <a:r>
              <a:rPr lang="en-US" i="1" dirty="0">
                <a:latin typeface="Calibir"/>
              </a:rPr>
              <a:t>match username and password with the ones on file</a:t>
            </a:r>
            <a:r>
              <a:rPr lang="en-US" dirty="0">
                <a:latin typeface="Calibir"/>
              </a:rPr>
              <a:t>"), but the backlog table contains a User field. I have two questions about this:</a:t>
            </a:r>
          </a:p>
          <a:p>
            <a:pPr fontAlgn="base"/>
            <a:r>
              <a:rPr lang="en-US" dirty="0">
                <a:latin typeface="Calibir"/>
              </a:rPr>
              <a:t>1. Some functions seem to not be executed by the student/admin, such as "</a:t>
            </a:r>
            <a:r>
              <a:rPr lang="en-US" i="1" dirty="0">
                <a:latin typeface="Calibir"/>
              </a:rPr>
              <a:t>verify username and password against patterns</a:t>
            </a:r>
            <a:r>
              <a:rPr lang="en-US" dirty="0">
                <a:latin typeface="Calibir"/>
              </a:rPr>
              <a:t>". What should these function's User be in the backlog table?</a:t>
            </a:r>
          </a:p>
          <a:p>
            <a:pPr fontAlgn="base"/>
            <a:r>
              <a:rPr lang="en-US" dirty="0">
                <a:latin typeface="Calibir"/>
              </a:rPr>
              <a:t>2. In Week 5's slide, the user story is formatted as "</a:t>
            </a:r>
            <a:r>
              <a:rPr lang="en-US" i="1" dirty="0">
                <a:latin typeface="Calibir"/>
              </a:rPr>
              <a:t>As a ..., I want to ... so that I can ...</a:t>
            </a:r>
            <a:r>
              <a:rPr lang="en-US" dirty="0">
                <a:latin typeface="Calibir"/>
              </a:rPr>
              <a:t>". Should we follow this format for the assignment or the one mentioned above in your previous email? And if we should follow the format in Week 5's slide, how should we express functions executed by the system? (e.g. "</a:t>
            </a:r>
            <a:r>
              <a:rPr lang="en-US" i="1" dirty="0">
                <a:latin typeface="Calibir"/>
              </a:rPr>
              <a:t>verify username and password against patterns</a:t>
            </a:r>
            <a:r>
              <a:rPr lang="en-US" dirty="0">
                <a:latin typeface="Calibir"/>
              </a:rPr>
              <a:t>")</a:t>
            </a:r>
          </a:p>
          <a:p>
            <a:pPr fontAlgn="base"/>
            <a:br>
              <a:rPr lang="en-US" dirty="0">
                <a:latin typeface="Calibir"/>
              </a:rPr>
            </a:br>
            <a:r>
              <a:rPr lang="en-US" dirty="0">
                <a:latin typeface="Calibir"/>
              </a:rPr>
              <a:t>I would really appreciate your help answering these questions.</a:t>
            </a:r>
            <a:br>
              <a:rPr lang="en-US" dirty="0">
                <a:latin typeface="Calibir"/>
              </a:rPr>
            </a:br>
            <a:br>
              <a:rPr lang="en-US" dirty="0">
                <a:latin typeface="Calibir"/>
              </a:rPr>
            </a:br>
            <a:r>
              <a:rPr lang="en-US" dirty="0">
                <a:latin typeface="Calibir"/>
              </a:rPr>
              <a:t>Thank you very much!</a:t>
            </a:r>
            <a:br>
              <a:rPr lang="en-US" dirty="0">
                <a:latin typeface="Calibir"/>
              </a:rPr>
            </a:br>
            <a:br>
              <a:rPr lang="en-US" dirty="0">
                <a:latin typeface="Calibir"/>
              </a:rPr>
            </a:br>
            <a:r>
              <a:rPr lang="en-US" dirty="0">
                <a:latin typeface="Calibir"/>
              </a:rPr>
              <a:t>Best regards,</a:t>
            </a:r>
          </a:p>
        </p:txBody>
      </p:sp>
    </p:spTree>
    <p:extLst>
      <p:ext uri="{BB962C8B-B14F-4D97-AF65-F5344CB8AC3E}">
        <p14:creationId xmlns:p14="http://schemas.microsoft.com/office/powerpoint/2010/main" val="349040952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F5BD5-3792-BBA9-5719-E582719551A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5226B91-9992-CE24-D220-FB81F0EA2F83}"/>
              </a:ext>
            </a:extLst>
          </p:cNvPr>
          <p:cNvSpPr>
            <a:spLocks noGrp="1"/>
          </p:cNvSpPr>
          <p:nvPr>
            <p:ph type="title"/>
          </p:nvPr>
        </p:nvSpPr>
        <p:spPr>
          <a:xfrm>
            <a:off x="0" y="0"/>
            <a:ext cx="12192000" cy="657922"/>
          </a:xfrm>
        </p:spPr>
        <p:txBody>
          <a:bodyPr anchor="b">
            <a:normAutofit/>
          </a:bodyPr>
          <a:lstStyle/>
          <a:p>
            <a:r>
              <a:rPr lang="en-US" sz="4000" dirty="0">
                <a:latin typeface="Calibir"/>
              </a:rPr>
              <a:t>User Stories – Handling System Actions &amp; Wording</a:t>
            </a:r>
            <a:endParaRPr lang="en-AU" sz="4000" b="1" dirty="0">
              <a:latin typeface="Calibir"/>
            </a:endParaRPr>
          </a:p>
        </p:txBody>
      </p:sp>
      <p:sp>
        <p:nvSpPr>
          <p:cNvPr id="5" name="TextBox 4">
            <a:extLst>
              <a:ext uri="{FF2B5EF4-FFF2-40B4-BE49-F238E27FC236}">
                <a16:creationId xmlns:a16="http://schemas.microsoft.com/office/drawing/2014/main" id="{5D505F35-9213-B236-3DC7-6BDEA0B20B7A}"/>
              </a:ext>
            </a:extLst>
          </p:cNvPr>
          <p:cNvSpPr txBox="1"/>
          <p:nvPr/>
        </p:nvSpPr>
        <p:spPr>
          <a:xfrm>
            <a:off x="0" y="759147"/>
            <a:ext cx="11975690" cy="5196166"/>
          </a:xfrm>
          <a:prstGeom prst="rect">
            <a:avLst/>
          </a:prstGeom>
          <a:noFill/>
        </p:spPr>
        <p:txBody>
          <a:bodyPr wrap="square">
            <a:spAutoFit/>
          </a:bodyPr>
          <a:lstStyle/>
          <a:p>
            <a:pPr>
              <a:lnSpc>
                <a:spcPct val="150000"/>
              </a:lnSpc>
            </a:pPr>
            <a:r>
              <a:rPr lang="en-US" sz="2800" dirty="0">
                <a:latin typeface="Calibir"/>
              </a:rPr>
              <a:t>Hi Student,</a:t>
            </a:r>
          </a:p>
          <a:p>
            <a:pPr>
              <a:lnSpc>
                <a:spcPct val="150000"/>
              </a:lnSpc>
            </a:pPr>
            <a:r>
              <a:rPr lang="en-US" sz="2800" dirty="0">
                <a:latin typeface="Calibir"/>
              </a:rPr>
              <a:t>Great follow-up—thanks for reading carefully. I’ve uploaded an updated Week 5 handout with clearer examples; it’s now on Canvas. Below is a concise answer you can use right away.</a:t>
            </a:r>
          </a:p>
          <a:p>
            <a:pPr>
              <a:lnSpc>
                <a:spcPct val="150000"/>
              </a:lnSpc>
            </a:pPr>
            <a:r>
              <a:rPr lang="en-US" sz="2800" dirty="0">
                <a:latin typeface="Calibir"/>
              </a:rPr>
              <a:t>Clarification: “User” in the backlog &amp; story wording</a:t>
            </a:r>
          </a:p>
          <a:p>
            <a:pPr>
              <a:lnSpc>
                <a:spcPct val="150000"/>
              </a:lnSpc>
            </a:pPr>
            <a:r>
              <a:rPr lang="en-US" sz="2800" b="1" dirty="0">
                <a:latin typeface="Calibir"/>
              </a:rPr>
              <a:t>1) Who is the “User” when the step isn’t done by Student/Admin?</a:t>
            </a:r>
            <a:br>
              <a:rPr lang="en-US" sz="2800" dirty="0">
                <a:latin typeface="Calibir"/>
              </a:rPr>
            </a:br>
            <a:r>
              <a:rPr lang="en-US" sz="2800" dirty="0">
                <a:latin typeface="Calibir"/>
              </a:rPr>
              <a:t>Use System in the </a:t>
            </a:r>
            <a:r>
              <a:rPr lang="en-US" sz="2800" i="1" dirty="0">
                <a:latin typeface="Calibir"/>
              </a:rPr>
              <a:t>User</a:t>
            </a:r>
            <a:r>
              <a:rPr lang="en-US" sz="2800" dirty="0">
                <a:latin typeface="Calibir"/>
              </a:rPr>
              <a:t> column for internal steps (validation, ID generation, saving/loading, etc.). You do not need extra/secondary actors.</a:t>
            </a:r>
          </a:p>
        </p:txBody>
      </p:sp>
    </p:spTree>
    <p:extLst>
      <p:ext uri="{BB962C8B-B14F-4D97-AF65-F5344CB8AC3E}">
        <p14:creationId xmlns:p14="http://schemas.microsoft.com/office/powerpoint/2010/main" val="9952087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635FE-DD4C-E5E7-539E-C401E5863EE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DF853D1-1BA7-EF36-4738-945ED9194E10}"/>
              </a:ext>
            </a:extLst>
          </p:cNvPr>
          <p:cNvSpPr>
            <a:spLocks noGrp="1"/>
          </p:cNvSpPr>
          <p:nvPr>
            <p:ph type="title"/>
          </p:nvPr>
        </p:nvSpPr>
        <p:spPr>
          <a:xfrm>
            <a:off x="0" y="0"/>
            <a:ext cx="12192000" cy="657922"/>
          </a:xfrm>
        </p:spPr>
        <p:txBody>
          <a:bodyPr anchor="b">
            <a:normAutofit/>
          </a:bodyPr>
          <a:lstStyle/>
          <a:p>
            <a:r>
              <a:rPr lang="en-US" sz="4000" dirty="0">
                <a:latin typeface="Calibir"/>
              </a:rPr>
              <a:t>User Stories – Handling System Actions &amp; Wording</a:t>
            </a:r>
            <a:endParaRPr lang="en-AU" sz="4000" b="1" dirty="0">
              <a:latin typeface="Calibir"/>
            </a:endParaRPr>
          </a:p>
        </p:txBody>
      </p:sp>
      <p:sp>
        <p:nvSpPr>
          <p:cNvPr id="5" name="TextBox 4">
            <a:extLst>
              <a:ext uri="{FF2B5EF4-FFF2-40B4-BE49-F238E27FC236}">
                <a16:creationId xmlns:a16="http://schemas.microsoft.com/office/drawing/2014/main" id="{6524B264-E7E2-BA0C-E23C-2D97F77C5695}"/>
              </a:ext>
            </a:extLst>
          </p:cNvPr>
          <p:cNvSpPr txBox="1"/>
          <p:nvPr/>
        </p:nvSpPr>
        <p:spPr>
          <a:xfrm>
            <a:off x="0" y="759147"/>
            <a:ext cx="11975690" cy="5842497"/>
          </a:xfrm>
          <a:prstGeom prst="rect">
            <a:avLst/>
          </a:prstGeom>
          <a:noFill/>
        </p:spPr>
        <p:txBody>
          <a:bodyPr wrap="square">
            <a:spAutoFit/>
          </a:bodyPr>
          <a:lstStyle/>
          <a:p>
            <a:pPr>
              <a:lnSpc>
                <a:spcPct val="150000"/>
              </a:lnSpc>
            </a:pPr>
            <a:r>
              <a:rPr lang="en-US" sz="2800" dirty="0">
                <a:latin typeface="Calibir"/>
              </a:rPr>
              <a:t>Example (Login feature, 1xx):</a:t>
            </a:r>
          </a:p>
          <a:p>
            <a:pPr marL="457200" indent="-457200">
              <a:lnSpc>
                <a:spcPct val="150000"/>
              </a:lnSpc>
              <a:buFont typeface="Arial" panose="020B0604020202020204" pitchFamily="34" charset="0"/>
              <a:buChar char="•"/>
            </a:pPr>
            <a:r>
              <a:rPr lang="en-US" sz="2800" dirty="0">
                <a:latin typeface="Calibir"/>
              </a:rPr>
              <a:t>100 | Student | Submit email &amp; password | If match → go to Student menu | login()</a:t>
            </a:r>
          </a:p>
          <a:p>
            <a:pPr marL="457200" indent="-457200">
              <a:lnSpc>
                <a:spcPct val="150000"/>
              </a:lnSpc>
              <a:buFont typeface="Arial" panose="020B0604020202020204" pitchFamily="34" charset="0"/>
              <a:buChar char="•"/>
            </a:pPr>
            <a:r>
              <a:rPr lang="en-US" sz="2800" dirty="0">
                <a:latin typeface="Calibir"/>
              </a:rPr>
              <a:t>105 | System | Validate email/password pattern | Pattern error shown if invalid | </a:t>
            </a:r>
            <a:r>
              <a:rPr lang="en-US" sz="2800" dirty="0" err="1">
                <a:latin typeface="Calibir"/>
              </a:rPr>
              <a:t>validateCredentials</a:t>
            </a:r>
            <a:r>
              <a:rPr lang="en-US" sz="2800" dirty="0">
                <a:latin typeface="Calibir"/>
              </a:rPr>
              <a:t>()</a:t>
            </a:r>
          </a:p>
          <a:p>
            <a:pPr marL="457200" indent="-457200">
              <a:lnSpc>
                <a:spcPct val="150000"/>
              </a:lnSpc>
              <a:buFont typeface="Arial" panose="020B0604020202020204" pitchFamily="34" charset="0"/>
              <a:buChar char="•"/>
            </a:pPr>
            <a:r>
              <a:rPr lang="en-US" sz="2800" dirty="0">
                <a:latin typeface="Calibir"/>
              </a:rPr>
              <a:t>110 | System | Compare credentials with file | Success/Failure decided | </a:t>
            </a:r>
            <a:r>
              <a:rPr lang="en-US" sz="2800" dirty="0" err="1">
                <a:latin typeface="Calibir"/>
              </a:rPr>
              <a:t>checkCredentials</a:t>
            </a:r>
            <a:r>
              <a:rPr lang="en-US" sz="2800" dirty="0">
                <a:latin typeface="Calibir"/>
              </a:rPr>
              <a:t>()</a:t>
            </a:r>
          </a:p>
          <a:p>
            <a:pPr marL="457200" indent="-457200">
              <a:lnSpc>
                <a:spcPct val="150000"/>
              </a:lnSpc>
              <a:buFont typeface="Arial" panose="020B0604020202020204" pitchFamily="34" charset="0"/>
              <a:buChar char="•"/>
            </a:pPr>
            <a:r>
              <a:rPr lang="en-US" sz="2800" dirty="0">
                <a:latin typeface="Calibir"/>
              </a:rPr>
              <a:t>120 | System | Show “credentials don’t match” | Error message displayed | </a:t>
            </a:r>
            <a:r>
              <a:rPr lang="en-US" sz="2800" dirty="0" err="1">
                <a:latin typeface="Calibir"/>
              </a:rPr>
              <a:t>showAuthError</a:t>
            </a:r>
            <a:r>
              <a:rPr lang="en-US" sz="2800" dirty="0">
                <a:latin typeface="Calibir"/>
              </a:rPr>
              <a:t>()</a:t>
            </a:r>
          </a:p>
        </p:txBody>
      </p:sp>
    </p:spTree>
    <p:extLst>
      <p:ext uri="{BB962C8B-B14F-4D97-AF65-F5344CB8AC3E}">
        <p14:creationId xmlns:p14="http://schemas.microsoft.com/office/powerpoint/2010/main" val="335149488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D6A0A-0A41-B1FF-FD58-834529AC8CB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C14C400-58E2-0BBE-6B67-E97272A2CB1A}"/>
              </a:ext>
            </a:extLst>
          </p:cNvPr>
          <p:cNvSpPr>
            <a:spLocks noGrp="1"/>
          </p:cNvSpPr>
          <p:nvPr>
            <p:ph type="title"/>
          </p:nvPr>
        </p:nvSpPr>
        <p:spPr>
          <a:xfrm>
            <a:off x="0" y="0"/>
            <a:ext cx="12192000" cy="657922"/>
          </a:xfrm>
        </p:spPr>
        <p:txBody>
          <a:bodyPr anchor="b">
            <a:normAutofit/>
          </a:bodyPr>
          <a:lstStyle/>
          <a:p>
            <a:r>
              <a:rPr lang="en-US" sz="4000" dirty="0">
                <a:latin typeface="Calibir"/>
              </a:rPr>
              <a:t>User Stories – Handling System Actions &amp; Wording</a:t>
            </a:r>
            <a:endParaRPr lang="en-AU" sz="4000" b="1" dirty="0">
              <a:latin typeface="Calibir"/>
            </a:endParaRPr>
          </a:p>
        </p:txBody>
      </p:sp>
      <p:sp>
        <p:nvSpPr>
          <p:cNvPr id="5" name="TextBox 4">
            <a:extLst>
              <a:ext uri="{FF2B5EF4-FFF2-40B4-BE49-F238E27FC236}">
                <a16:creationId xmlns:a16="http://schemas.microsoft.com/office/drawing/2014/main" id="{D0F9AE50-9390-05D0-3472-66F9BB8B77CF}"/>
              </a:ext>
            </a:extLst>
          </p:cNvPr>
          <p:cNvSpPr txBox="1"/>
          <p:nvPr/>
        </p:nvSpPr>
        <p:spPr>
          <a:xfrm>
            <a:off x="0" y="491517"/>
            <a:ext cx="11975690" cy="6488828"/>
          </a:xfrm>
          <a:prstGeom prst="rect">
            <a:avLst/>
          </a:prstGeom>
          <a:noFill/>
        </p:spPr>
        <p:txBody>
          <a:bodyPr wrap="square">
            <a:spAutoFit/>
          </a:bodyPr>
          <a:lstStyle/>
          <a:p>
            <a:pPr>
              <a:lnSpc>
                <a:spcPct val="150000"/>
              </a:lnSpc>
            </a:pPr>
            <a:r>
              <a:rPr lang="en-US" sz="2800" b="1" dirty="0">
                <a:latin typeface="Calibir"/>
              </a:rPr>
              <a:t>2) Which user-story wording should we follow?</a:t>
            </a:r>
            <a:br>
              <a:rPr lang="en-US" sz="2800" b="1" dirty="0">
                <a:latin typeface="Calibir"/>
              </a:rPr>
            </a:br>
            <a:r>
              <a:rPr lang="en-US" sz="2800" b="1" dirty="0">
                <a:latin typeface="Calibir"/>
              </a:rPr>
              <a:t>Either style is acceptable—just be consistent:</a:t>
            </a:r>
          </a:p>
          <a:p>
            <a:pPr marL="457200" indent="-457200">
              <a:lnSpc>
                <a:spcPct val="150000"/>
              </a:lnSpc>
              <a:buFont typeface="Arial" panose="020B0604020202020204" pitchFamily="34" charset="0"/>
              <a:buChar char="•"/>
            </a:pPr>
            <a:r>
              <a:rPr lang="en-US" sz="2800" dirty="0">
                <a:latin typeface="Calibir"/>
              </a:rPr>
              <a:t>Concise style (like the brief): “Verify username and password against patterns.”</a:t>
            </a:r>
          </a:p>
          <a:p>
            <a:pPr marL="914400" lvl="1" indent="-457200">
              <a:lnSpc>
                <a:spcPct val="150000"/>
              </a:lnSpc>
              <a:buFont typeface="Arial" panose="020B0604020202020204" pitchFamily="34" charset="0"/>
              <a:buChar char="•"/>
            </a:pPr>
            <a:r>
              <a:rPr lang="en-US" sz="2800" dirty="0">
                <a:latin typeface="Calibir"/>
              </a:rPr>
              <a:t>In the table: </a:t>
            </a:r>
            <a:r>
              <a:rPr lang="en-US" sz="2800" i="1" dirty="0">
                <a:latin typeface="Calibir"/>
              </a:rPr>
              <a:t>User = System</a:t>
            </a:r>
            <a:r>
              <a:rPr lang="en-US" sz="2800" dirty="0">
                <a:latin typeface="Calibir"/>
              </a:rPr>
              <a:t>, </a:t>
            </a:r>
            <a:r>
              <a:rPr lang="en-US" sz="2800" i="1" dirty="0">
                <a:latin typeface="Calibir"/>
              </a:rPr>
              <a:t>Action = Validate credentials</a:t>
            </a:r>
            <a:r>
              <a:rPr lang="en-US" sz="2800" dirty="0">
                <a:latin typeface="Calibir"/>
              </a:rPr>
              <a:t>, </a:t>
            </a:r>
            <a:r>
              <a:rPr lang="en-US" sz="2800" i="1" dirty="0">
                <a:latin typeface="Calibir"/>
              </a:rPr>
              <a:t>Result = Error shown if invalid</a:t>
            </a:r>
            <a:r>
              <a:rPr lang="en-US" sz="2800" dirty="0">
                <a:latin typeface="Calibir"/>
              </a:rPr>
              <a:t>.</a:t>
            </a:r>
          </a:p>
          <a:p>
            <a:pPr marL="457200" indent="-457200">
              <a:lnSpc>
                <a:spcPct val="150000"/>
              </a:lnSpc>
              <a:buFont typeface="Arial" panose="020B0604020202020204" pitchFamily="34" charset="0"/>
              <a:buChar char="•"/>
            </a:pPr>
            <a:r>
              <a:rPr lang="en-US" sz="2800" dirty="0">
                <a:latin typeface="Calibir"/>
              </a:rPr>
              <a:t>“As a … I want … so that …” style (Week 5 slide):</a:t>
            </a:r>
          </a:p>
          <a:p>
            <a:pPr marL="914400" lvl="1" indent="-457200">
              <a:lnSpc>
                <a:spcPct val="150000"/>
              </a:lnSpc>
              <a:buFont typeface="Arial" panose="020B0604020202020204" pitchFamily="34" charset="0"/>
              <a:buChar char="•"/>
            </a:pPr>
            <a:r>
              <a:rPr lang="en-US" sz="2800" i="1" dirty="0">
                <a:latin typeface="Calibir"/>
              </a:rPr>
              <a:t>“As a system, I validate the email/password so that only correctly formatted credentials are accepted.”</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In the table, still put System in the </a:t>
            </a:r>
            <a:r>
              <a:rPr lang="en-US" sz="2800" i="1" dirty="0">
                <a:latin typeface="Calibir"/>
              </a:rPr>
              <a:t>User</a:t>
            </a:r>
            <a:r>
              <a:rPr lang="en-US" sz="2800" dirty="0">
                <a:latin typeface="Calibir"/>
              </a:rPr>
              <a:t> column.</a:t>
            </a:r>
          </a:p>
        </p:txBody>
      </p:sp>
    </p:spTree>
    <p:extLst>
      <p:ext uri="{BB962C8B-B14F-4D97-AF65-F5344CB8AC3E}">
        <p14:creationId xmlns:p14="http://schemas.microsoft.com/office/powerpoint/2010/main" val="334583522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120AF-26AE-43A5-7DD4-7F3F559D081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9DECD35-D345-54D7-2FF8-CE83FD011972}"/>
              </a:ext>
            </a:extLst>
          </p:cNvPr>
          <p:cNvSpPr>
            <a:spLocks noGrp="1"/>
          </p:cNvSpPr>
          <p:nvPr>
            <p:ph type="title"/>
          </p:nvPr>
        </p:nvSpPr>
        <p:spPr>
          <a:xfrm>
            <a:off x="0" y="0"/>
            <a:ext cx="12192000" cy="657922"/>
          </a:xfrm>
        </p:spPr>
        <p:txBody>
          <a:bodyPr anchor="b">
            <a:normAutofit/>
          </a:bodyPr>
          <a:lstStyle/>
          <a:p>
            <a:r>
              <a:rPr lang="en-US" sz="4000" dirty="0">
                <a:latin typeface="Calibir"/>
              </a:rPr>
              <a:t>User Stories – Handling System Actions &amp; Wording</a:t>
            </a:r>
            <a:endParaRPr lang="en-AU" sz="4000" b="1" dirty="0">
              <a:latin typeface="Calibir"/>
            </a:endParaRPr>
          </a:p>
        </p:txBody>
      </p:sp>
      <p:sp>
        <p:nvSpPr>
          <p:cNvPr id="5" name="TextBox 4">
            <a:extLst>
              <a:ext uri="{FF2B5EF4-FFF2-40B4-BE49-F238E27FC236}">
                <a16:creationId xmlns:a16="http://schemas.microsoft.com/office/drawing/2014/main" id="{CD38F79E-3A8F-AF79-5133-A41C1D3B1664}"/>
              </a:ext>
            </a:extLst>
          </p:cNvPr>
          <p:cNvSpPr txBox="1"/>
          <p:nvPr/>
        </p:nvSpPr>
        <p:spPr>
          <a:xfrm>
            <a:off x="108155" y="830917"/>
            <a:ext cx="11975690" cy="5196166"/>
          </a:xfrm>
          <a:prstGeom prst="rect">
            <a:avLst/>
          </a:prstGeom>
          <a:noFill/>
        </p:spPr>
        <p:txBody>
          <a:bodyPr wrap="square">
            <a:spAutoFit/>
          </a:bodyPr>
          <a:lstStyle/>
          <a:p>
            <a:pPr>
              <a:lnSpc>
                <a:spcPct val="150000"/>
              </a:lnSpc>
            </a:pPr>
            <a:r>
              <a:rPr lang="en-US" sz="2800" dirty="0">
                <a:latin typeface="Calibir"/>
              </a:rPr>
              <a:t>Markers care that your stories are atomic, testable, correctly mapped, and that </a:t>
            </a:r>
            <a:r>
              <a:rPr lang="en-US" sz="2800" i="1" dirty="0">
                <a:latin typeface="Calibir"/>
              </a:rPr>
              <a:t>User</a:t>
            </a:r>
            <a:r>
              <a:rPr lang="en-US" sz="2800" dirty="0">
                <a:latin typeface="Calibir"/>
              </a:rPr>
              <a:t> is Student / Admin / System only. Don’t invent actors (CLI/GUI ≠ actors).</a:t>
            </a:r>
          </a:p>
          <a:p>
            <a:pPr>
              <a:lnSpc>
                <a:spcPct val="150000"/>
              </a:lnSpc>
            </a:pPr>
            <a:r>
              <a:rPr lang="en-US" sz="2800" dirty="0">
                <a:latin typeface="Calibir"/>
              </a:rPr>
              <a:t>Quick checklist (for your team)</a:t>
            </a:r>
          </a:p>
          <a:p>
            <a:pPr marL="914400" lvl="1" indent="-457200">
              <a:lnSpc>
                <a:spcPct val="150000"/>
              </a:lnSpc>
              <a:buFont typeface="Arial" panose="020B0604020202020204" pitchFamily="34" charset="0"/>
              <a:buChar char="•"/>
            </a:pPr>
            <a:r>
              <a:rPr lang="en-US" sz="2800" dirty="0">
                <a:latin typeface="Calibir"/>
              </a:rPr>
              <a:t>Use 3-digit IDs grouped by feature (1xx Login, 2xx Register, …).</a:t>
            </a:r>
          </a:p>
          <a:p>
            <a:pPr marL="914400" lvl="1" indent="-457200">
              <a:lnSpc>
                <a:spcPct val="150000"/>
              </a:lnSpc>
              <a:buFont typeface="Arial" panose="020B0604020202020204" pitchFamily="34" charset="0"/>
              <a:buChar char="•"/>
            </a:pPr>
            <a:r>
              <a:rPr lang="en-US" sz="2800" dirty="0">
                <a:latin typeface="Calibir"/>
              </a:rPr>
              <a:t>Keep one action per story (no “and then…”).</a:t>
            </a:r>
          </a:p>
          <a:p>
            <a:pPr marL="914400" lvl="1" indent="-457200">
              <a:lnSpc>
                <a:spcPct val="150000"/>
              </a:lnSpc>
              <a:buFont typeface="Arial" panose="020B0604020202020204" pitchFamily="34" charset="0"/>
              <a:buChar char="•"/>
            </a:pPr>
            <a:r>
              <a:rPr lang="en-US" sz="2800" dirty="0">
                <a:latin typeface="Calibir"/>
              </a:rPr>
              <a:t>Map every requirement → at least one story → appears in your Use Case and Class diagrams.</a:t>
            </a:r>
          </a:p>
          <a:p>
            <a:pPr marL="914400" lvl="1" indent="-457200">
              <a:lnSpc>
                <a:spcPct val="150000"/>
              </a:lnSpc>
              <a:buFont typeface="Arial" panose="020B0604020202020204" pitchFamily="34" charset="0"/>
              <a:buChar char="•"/>
            </a:pPr>
            <a:r>
              <a:rPr lang="en-US" sz="2800" dirty="0">
                <a:latin typeface="Calibir"/>
              </a:rPr>
              <a:t>Internal tasks = System as the user.</a:t>
            </a:r>
          </a:p>
        </p:txBody>
      </p:sp>
    </p:spTree>
    <p:extLst>
      <p:ext uri="{BB962C8B-B14F-4D97-AF65-F5344CB8AC3E}">
        <p14:creationId xmlns:p14="http://schemas.microsoft.com/office/powerpoint/2010/main" val="177299280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C8268-73E1-6866-0B62-492180A99D8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93C1EDC-543B-D346-BC2B-56F4C20274B0}"/>
              </a:ext>
            </a:extLst>
          </p:cNvPr>
          <p:cNvSpPr>
            <a:spLocks noGrp="1"/>
          </p:cNvSpPr>
          <p:nvPr>
            <p:ph type="title"/>
          </p:nvPr>
        </p:nvSpPr>
        <p:spPr>
          <a:xfrm>
            <a:off x="0" y="0"/>
            <a:ext cx="12192000" cy="657922"/>
          </a:xfrm>
        </p:spPr>
        <p:txBody>
          <a:bodyPr anchor="b">
            <a:normAutofit/>
          </a:bodyPr>
          <a:lstStyle/>
          <a:p>
            <a:r>
              <a:rPr lang="en-US" sz="4000" dirty="0">
                <a:latin typeface="Calibir"/>
              </a:rPr>
              <a:t>User Stories – Handling System Actions &amp; Wording</a:t>
            </a:r>
            <a:endParaRPr lang="en-AU" sz="4000" b="1" dirty="0">
              <a:latin typeface="Calibir"/>
            </a:endParaRPr>
          </a:p>
        </p:txBody>
      </p:sp>
      <p:sp>
        <p:nvSpPr>
          <p:cNvPr id="5" name="TextBox 4">
            <a:extLst>
              <a:ext uri="{FF2B5EF4-FFF2-40B4-BE49-F238E27FC236}">
                <a16:creationId xmlns:a16="http://schemas.microsoft.com/office/drawing/2014/main" id="{FE6416EB-5215-0636-BF02-FD479CE835E3}"/>
              </a:ext>
            </a:extLst>
          </p:cNvPr>
          <p:cNvSpPr txBox="1"/>
          <p:nvPr/>
        </p:nvSpPr>
        <p:spPr>
          <a:xfrm>
            <a:off x="108155" y="830917"/>
            <a:ext cx="11975690" cy="4549835"/>
          </a:xfrm>
          <a:prstGeom prst="rect">
            <a:avLst/>
          </a:prstGeom>
          <a:noFill/>
        </p:spPr>
        <p:txBody>
          <a:bodyPr wrap="square">
            <a:spAutoFit/>
          </a:bodyPr>
          <a:lstStyle/>
          <a:p>
            <a:pPr>
              <a:lnSpc>
                <a:spcPct val="150000"/>
              </a:lnSpc>
            </a:pPr>
            <a:r>
              <a:rPr lang="en-US" sz="2800" dirty="0">
                <a:latin typeface="Calibir"/>
              </a:rPr>
              <a:t>Main reference remains the Canvas assignment page; the slides are there to guide you:</a:t>
            </a:r>
            <a:br>
              <a:rPr lang="en-US" sz="2800" dirty="0">
                <a:latin typeface="Calibir"/>
              </a:rPr>
            </a:br>
            <a:r>
              <a:rPr lang="en-US" sz="2800" dirty="0">
                <a:latin typeface="Calibir"/>
                <a:hlinkClick r:id="rId2"/>
              </a:rPr>
              <a:t>https://canvas.uts.edu.au/courses/36509/assignments</a:t>
            </a:r>
            <a:endParaRPr lang="en-US" sz="2800" dirty="0">
              <a:latin typeface="Calibir"/>
            </a:endParaRPr>
          </a:p>
          <a:p>
            <a:pPr>
              <a:lnSpc>
                <a:spcPct val="150000"/>
              </a:lnSpc>
            </a:pPr>
            <a:r>
              <a:rPr lang="en-US" sz="2800" dirty="0">
                <a:latin typeface="Calibir"/>
              </a:rPr>
              <a:t>If anything else feels fuzzy, ping me and I’ll fold it into the shared clarifications.</a:t>
            </a:r>
          </a:p>
          <a:p>
            <a:pPr>
              <a:lnSpc>
                <a:spcPct val="150000"/>
              </a:lnSpc>
            </a:pPr>
            <a:r>
              <a:rPr lang="en-US" sz="2800" dirty="0">
                <a:latin typeface="Calibir"/>
              </a:rPr>
              <a:t>Best Regards,</a:t>
            </a:r>
            <a:br>
              <a:rPr lang="en-US" sz="2800" dirty="0">
                <a:latin typeface="Calibir"/>
              </a:rPr>
            </a:br>
            <a:r>
              <a:rPr lang="en-US" sz="2800" dirty="0">
                <a:latin typeface="Calibir"/>
              </a:rPr>
              <a:t>Dr. Farshid Keivanian</a:t>
            </a:r>
            <a:br>
              <a:rPr lang="en-US" sz="2800" dirty="0">
                <a:latin typeface="Calibir"/>
              </a:rPr>
            </a:br>
            <a:r>
              <a:rPr lang="en-US" sz="2800" dirty="0">
                <a:latin typeface="Calibir"/>
              </a:rPr>
              <a:t>32555 — Fundamentals of Software Engineering</a:t>
            </a:r>
          </a:p>
        </p:txBody>
      </p:sp>
    </p:spTree>
    <p:extLst>
      <p:ext uri="{BB962C8B-B14F-4D97-AF65-F5344CB8AC3E}">
        <p14:creationId xmlns:p14="http://schemas.microsoft.com/office/powerpoint/2010/main" val="182129480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A1AC9-1E78-4EC4-8A4B-63F1C789810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4532CDD-DE24-601F-F110-3297F8CA6C35}"/>
              </a:ext>
            </a:extLst>
          </p:cNvPr>
          <p:cNvSpPr>
            <a:spLocks noGrp="1"/>
          </p:cNvSpPr>
          <p:nvPr>
            <p:ph type="title"/>
          </p:nvPr>
        </p:nvSpPr>
        <p:spPr>
          <a:xfrm>
            <a:off x="0" y="0"/>
            <a:ext cx="12192000" cy="657922"/>
          </a:xfrm>
        </p:spPr>
        <p:txBody>
          <a:bodyPr anchor="b">
            <a:normAutofit/>
          </a:bodyPr>
          <a:lstStyle/>
          <a:p>
            <a:r>
              <a:rPr lang="en-US" sz="4000" dirty="0">
                <a:latin typeface="Calibir"/>
              </a:rPr>
              <a:t>User Stories – Handling System Actions &amp; Wording</a:t>
            </a:r>
            <a:endParaRPr lang="en-AU" sz="4000" b="1" dirty="0">
              <a:latin typeface="Calibir"/>
            </a:endParaRPr>
          </a:p>
        </p:txBody>
      </p:sp>
      <p:sp>
        <p:nvSpPr>
          <p:cNvPr id="5" name="TextBox 4">
            <a:extLst>
              <a:ext uri="{FF2B5EF4-FFF2-40B4-BE49-F238E27FC236}">
                <a16:creationId xmlns:a16="http://schemas.microsoft.com/office/drawing/2014/main" id="{88159F2D-FFA1-A0EC-66F4-DE9B379C82AD}"/>
              </a:ext>
            </a:extLst>
          </p:cNvPr>
          <p:cNvSpPr txBox="1"/>
          <p:nvPr/>
        </p:nvSpPr>
        <p:spPr>
          <a:xfrm>
            <a:off x="108155" y="830917"/>
            <a:ext cx="11975690" cy="5196166"/>
          </a:xfrm>
          <a:prstGeom prst="rect">
            <a:avLst/>
          </a:prstGeom>
          <a:noFill/>
        </p:spPr>
        <p:txBody>
          <a:bodyPr wrap="square">
            <a:spAutoFit/>
          </a:bodyPr>
          <a:lstStyle/>
          <a:p>
            <a:pPr>
              <a:lnSpc>
                <a:spcPct val="150000"/>
              </a:lnSpc>
            </a:pPr>
            <a:r>
              <a:rPr lang="en-US" sz="2800" b="1" dirty="0">
                <a:latin typeface="Calibir"/>
              </a:rPr>
              <a:t>In short:</a:t>
            </a:r>
          </a:p>
          <a:p>
            <a:pPr>
              <a:lnSpc>
                <a:spcPct val="150000"/>
              </a:lnSpc>
            </a:pPr>
            <a:r>
              <a:rPr lang="en-US" sz="2800" dirty="0">
                <a:latin typeface="Calibir"/>
              </a:rPr>
              <a:t>Who is the “User” in backlog?</a:t>
            </a:r>
          </a:p>
          <a:p>
            <a:pPr marL="800100" lvl="1" indent="-342900">
              <a:lnSpc>
                <a:spcPct val="150000"/>
              </a:lnSpc>
              <a:buFont typeface="Arial" panose="020B0604020202020204" pitchFamily="34" charset="0"/>
              <a:buChar char="•"/>
            </a:pPr>
            <a:r>
              <a:rPr lang="en-US" sz="2800" dirty="0">
                <a:latin typeface="Calibir"/>
              </a:rPr>
              <a:t>Use Student or Admin when they act.</a:t>
            </a:r>
          </a:p>
          <a:p>
            <a:pPr marL="800100" lvl="1" indent="-342900">
              <a:lnSpc>
                <a:spcPct val="150000"/>
              </a:lnSpc>
              <a:buFont typeface="Arial" panose="020B0604020202020204" pitchFamily="34" charset="0"/>
              <a:buChar char="•"/>
            </a:pPr>
            <a:r>
              <a:rPr lang="en-US" sz="2800" dirty="0">
                <a:latin typeface="Calibir"/>
              </a:rPr>
              <a:t>Use System for internal steps (validation, ID generation, saving/loading).</a:t>
            </a:r>
          </a:p>
          <a:p>
            <a:pPr marL="800100" lvl="1" indent="-342900">
              <a:lnSpc>
                <a:spcPct val="150000"/>
              </a:lnSpc>
              <a:buFont typeface="Arial" panose="020B0604020202020204" pitchFamily="34" charset="0"/>
              <a:buChar char="•"/>
            </a:pPr>
            <a:r>
              <a:rPr lang="en-US" sz="2800" dirty="0">
                <a:latin typeface="Calibir"/>
              </a:rPr>
              <a:t>Don’t invent new actors (CLI/GUI ≠ actors).</a:t>
            </a:r>
          </a:p>
          <a:p>
            <a:pPr>
              <a:lnSpc>
                <a:spcPct val="150000"/>
              </a:lnSpc>
            </a:pPr>
            <a:r>
              <a:rPr lang="en-US" sz="2800" dirty="0">
                <a:latin typeface="Calibir"/>
              </a:rPr>
              <a:t>Example (Login, 1xx series):</a:t>
            </a:r>
          </a:p>
          <a:p>
            <a:pPr marL="800100" lvl="1" indent="-342900">
              <a:lnSpc>
                <a:spcPct val="150000"/>
              </a:lnSpc>
              <a:buFont typeface="Arial" panose="020B0604020202020204" pitchFamily="34" charset="0"/>
              <a:buChar char="•"/>
            </a:pPr>
            <a:r>
              <a:rPr lang="en-US" sz="2800" dirty="0">
                <a:latin typeface="Calibir"/>
              </a:rPr>
              <a:t>100 | Student | Submit email &amp; password → Student menu if valid</a:t>
            </a:r>
          </a:p>
          <a:p>
            <a:pPr marL="800100" lvl="1" indent="-342900">
              <a:lnSpc>
                <a:spcPct val="150000"/>
              </a:lnSpc>
              <a:buFont typeface="Arial" panose="020B0604020202020204" pitchFamily="34" charset="0"/>
              <a:buChar char="•"/>
            </a:pPr>
            <a:r>
              <a:rPr lang="en-US" sz="2800" dirty="0">
                <a:latin typeface="Calibir"/>
              </a:rPr>
              <a:t>105 | System | Validate email/password → Show error if invalid</a:t>
            </a:r>
          </a:p>
        </p:txBody>
      </p:sp>
    </p:spTree>
    <p:extLst>
      <p:ext uri="{BB962C8B-B14F-4D97-AF65-F5344CB8AC3E}">
        <p14:creationId xmlns:p14="http://schemas.microsoft.com/office/powerpoint/2010/main" val="24058202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E093A-7D4A-681C-E559-58454860288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658A0AF-27CF-A9AC-05AD-F4C7703D24B5}"/>
              </a:ext>
            </a:extLst>
          </p:cNvPr>
          <p:cNvSpPr>
            <a:spLocks noGrp="1"/>
          </p:cNvSpPr>
          <p:nvPr>
            <p:ph type="title"/>
          </p:nvPr>
        </p:nvSpPr>
        <p:spPr>
          <a:xfrm>
            <a:off x="0" y="0"/>
            <a:ext cx="12192000" cy="657922"/>
          </a:xfrm>
        </p:spPr>
        <p:txBody>
          <a:bodyPr anchor="b">
            <a:normAutofit/>
          </a:bodyPr>
          <a:lstStyle/>
          <a:p>
            <a:r>
              <a:rPr lang="en-US" sz="4000" dirty="0">
                <a:latin typeface="Calibir"/>
              </a:rPr>
              <a:t>User Stories – Handling System Actions &amp; Wording</a:t>
            </a:r>
            <a:endParaRPr lang="en-AU" sz="4000" b="1" dirty="0">
              <a:latin typeface="Calibir"/>
            </a:endParaRPr>
          </a:p>
        </p:txBody>
      </p:sp>
      <p:sp>
        <p:nvSpPr>
          <p:cNvPr id="5" name="TextBox 4">
            <a:extLst>
              <a:ext uri="{FF2B5EF4-FFF2-40B4-BE49-F238E27FC236}">
                <a16:creationId xmlns:a16="http://schemas.microsoft.com/office/drawing/2014/main" id="{9932B734-7EAC-ACD5-E983-319BFCDB6DE8}"/>
              </a:ext>
            </a:extLst>
          </p:cNvPr>
          <p:cNvSpPr txBox="1"/>
          <p:nvPr/>
        </p:nvSpPr>
        <p:spPr>
          <a:xfrm>
            <a:off x="108155" y="1800413"/>
            <a:ext cx="11975690" cy="3257174"/>
          </a:xfrm>
          <a:prstGeom prst="rect">
            <a:avLst/>
          </a:prstGeom>
          <a:noFill/>
        </p:spPr>
        <p:txBody>
          <a:bodyPr wrap="square">
            <a:spAutoFit/>
          </a:bodyPr>
          <a:lstStyle/>
          <a:p>
            <a:pPr>
              <a:lnSpc>
                <a:spcPct val="150000"/>
              </a:lnSpc>
            </a:pPr>
            <a:r>
              <a:rPr lang="en-US" sz="2800" b="1" dirty="0">
                <a:latin typeface="Calibir"/>
              </a:rPr>
              <a:t>Wording styles:</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Concise: </a:t>
            </a:r>
            <a:r>
              <a:rPr lang="en-US" sz="2800" i="1" dirty="0">
                <a:latin typeface="Calibir"/>
              </a:rPr>
              <a:t>“Verify username and password against patterns.”</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Long: </a:t>
            </a:r>
            <a:r>
              <a:rPr lang="en-US" sz="2800" i="1" dirty="0">
                <a:latin typeface="Calibir"/>
              </a:rPr>
              <a:t>“As a system, I validate email/password so that only valid ones are accepted.”</a:t>
            </a:r>
            <a:br>
              <a:rPr lang="en-US" sz="2800" dirty="0">
                <a:latin typeface="Calibir"/>
              </a:rPr>
            </a:br>
            <a:r>
              <a:rPr lang="en-US" sz="2800" dirty="0">
                <a:latin typeface="Calibir"/>
              </a:rPr>
              <a:t>Both are fine — just stay consistent.</a:t>
            </a:r>
          </a:p>
        </p:txBody>
      </p:sp>
    </p:spTree>
    <p:extLst>
      <p:ext uri="{BB962C8B-B14F-4D97-AF65-F5344CB8AC3E}">
        <p14:creationId xmlns:p14="http://schemas.microsoft.com/office/powerpoint/2010/main" val="69122318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8A6F8-E853-8509-B874-15413E50F71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82F3851-F707-556C-26CF-52FD7F4FA088}"/>
              </a:ext>
            </a:extLst>
          </p:cNvPr>
          <p:cNvSpPr>
            <a:spLocks noGrp="1"/>
          </p:cNvSpPr>
          <p:nvPr>
            <p:ph type="title"/>
          </p:nvPr>
        </p:nvSpPr>
        <p:spPr>
          <a:xfrm>
            <a:off x="0" y="0"/>
            <a:ext cx="12192000" cy="657922"/>
          </a:xfrm>
        </p:spPr>
        <p:txBody>
          <a:bodyPr anchor="b">
            <a:normAutofit/>
          </a:bodyPr>
          <a:lstStyle/>
          <a:p>
            <a:r>
              <a:rPr lang="en-US" sz="4000" dirty="0">
                <a:latin typeface="Calibir"/>
              </a:rPr>
              <a:t>User Stories – Handling System Actions &amp; Wording</a:t>
            </a:r>
            <a:endParaRPr lang="en-AU" sz="4000" b="1" dirty="0">
              <a:latin typeface="Calibir"/>
            </a:endParaRPr>
          </a:p>
        </p:txBody>
      </p:sp>
      <p:sp>
        <p:nvSpPr>
          <p:cNvPr id="5" name="TextBox 4">
            <a:extLst>
              <a:ext uri="{FF2B5EF4-FFF2-40B4-BE49-F238E27FC236}">
                <a16:creationId xmlns:a16="http://schemas.microsoft.com/office/drawing/2014/main" id="{A09CC1FA-C3EB-A441-5EB3-4B62F518D1BF}"/>
              </a:ext>
            </a:extLst>
          </p:cNvPr>
          <p:cNvSpPr txBox="1"/>
          <p:nvPr/>
        </p:nvSpPr>
        <p:spPr>
          <a:xfrm>
            <a:off x="108155" y="1800413"/>
            <a:ext cx="11975690" cy="3257174"/>
          </a:xfrm>
          <a:prstGeom prst="rect">
            <a:avLst/>
          </a:prstGeom>
          <a:noFill/>
        </p:spPr>
        <p:txBody>
          <a:bodyPr wrap="square">
            <a:spAutoFit/>
          </a:bodyPr>
          <a:lstStyle/>
          <a:p>
            <a:pPr>
              <a:lnSpc>
                <a:spcPct val="150000"/>
              </a:lnSpc>
            </a:pPr>
            <a:r>
              <a:rPr lang="en-US" sz="2800" b="1" dirty="0">
                <a:latin typeface="Calibir"/>
              </a:rPr>
              <a:t>Checklist:</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3-digit IDs grouped by feature (1xx Login, 2xx Register, …).</a:t>
            </a:r>
          </a:p>
          <a:p>
            <a:pPr marL="914400" lvl="1" indent="-457200">
              <a:lnSpc>
                <a:spcPct val="150000"/>
              </a:lnSpc>
              <a:buFont typeface="Arial" panose="020B0604020202020204" pitchFamily="34" charset="0"/>
              <a:buChar char="•"/>
            </a:pPr>
            <a:r>
              <a:rPr lang="en-US" sz="2800" dirty="0">
                <a:latin typeface="Calibir"/>
              </a:rPr>
              <a:t>One action per story.</a:t>
            </a:r>
          </a:p>
          <a:p>
            <a:pPr marL="914400" lvl="1" indent="-457200">
              <a:lnSpc>
                <a:spcPct val="150000"/>
              </a:lnSpc>
              <a:buFont typeface="Arial" panose="020B0604020202020204" pitchFamily="34" charset="0"/>
              <a:buChar char="•"/>
            </a:pPr>
            <a:r>
              <a:rPr lang="en-US" sz="2800" dirty="0">
                <a:latin typeface="Calibir"/>
              </a:rPr>
              <a:t>Every requirement → at least one story → seen in UC + Class diagrams.</a:t>
            </a:r>
          </a:p>
          <a:p>
            <a:pPr>
              <a:lnSpc>
                <a:spcPct val="150000"/>
              </a:lnSpc>
            </a:pPr>
            <a:r>
              <a:rPr lang="en-US" sz="2800" i="1" dirty="0">
                <a:latin typeface="Calibir"/>
              </a:rPr>
              <a:t>Main reference = Canvas Assignment 1 page.</a:t>
            </a:r>
            <a:endParaRPr lang="en-US" sz="2800" dirty="0">
              <a:latin typeface="Calibir"/>
            </a:endParaRPr>
          </a:p>
        </p:txBody>
      </p:sp>
    </p:spTree>
    <p:extLst>
      <p:ext uri="{BB962C8B-B14F-4D97-AF65-F5344CB8AC3E}">
        <p14:creationId xmlns:p14="http://schemas.microsoft.com/office/powerpoint/2010/main" val="308032928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EC050-9D91-F33B-1DFC-0F33C688F96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B2ACC57-8ABF-979E-522F-51AB2EDF5731}"/>
              </a:ext>
            </a:extLst>
          </p:cNvPr>
          <p:cNvSpPr>
            <a:spLocks noGrp="1"/>
          </p:cNvSpPr>
          <p:nvPr>
            <p:ph type="title"/>
          </p:nvPr>
        </p:nvSpPr>
        <p:spPr>
          <a:xfrm>
            <a:off x="0" y="0"/>
            <a:ext cx="12192000" cy="657922"/>
          </a:xfrm>
        </p:spPr>
        <p:txBody>
          <a:bodyPr anchor="b">
            <a:normAutofit/>
          </a:bodyPr>
          <a:lstStyle/>
          <a:p>
            <a:r>
              <a:rPr lang="en-US" sz="4000" dirty="0">
                <a:latin typeface="Calibir"/>
              </a:rPr>
              <a:t>Use Case &amp; Class Diagrams – One Comprehensive View</a:t>
            </a:r>
            <a:endParaRPr lang="en-AU" sz="4000" b="1" dirty="0">
              <a:latin typeface="Calibir"/>
            </a:endParaRPr>
          </a:p>
        </p:txBody>
      </p:sp>
      <p:sp>
        <p:nvSpPr>
          <p:cNvPr id="5" name="TextBox 4">
            <a:extLst>
              <a:ext uri="{FF2B5EF4-FFF2-40B4-BE49-F238E27FC236}">
                <a16:creationId xmlns:a16="http://schemas.microsoft.com/office/drawing/2014/main" id="{B5E60B2B-6FF5-0E22-EBAD-90D1AB2E2118}"/>
              </a:ext>
            </a:extLst>
          </p:cNvPr>
          <p:cNvSpPr txBox="1"/>
          <p:nvPr/>
        </p:nvSpPr>
        <p:spPr>
          <a:xfrm>
            <a:off x="0" y="759147"/>
            <a:ext cx="11975690" cy="5262979"/>
          </a:xfrm>
          <a:prstGeom prst="rect">
            <a:avLst/>
          </a:prstGeom>
          <a:noFill/>
        </p:spPr>
        <p:txBody>
          <a:bodyPr wrap="square">
            <a:spAutoFit/>
          </a:bodyPr>
          <a:lstStyle/>
          <a:p>
            <a:pPr fontAlgn="base"/>
            <a:r>
              <a:rPr lang="en-US" sz="2800" dirty="0">
                <a:latin typeface="Calibir"/>
              </a:rPr>
              <a:t>Dear Dr. Farshid,</a:t>
            </a:r>
          </a:p>
          <a:p>
            <a:pPr fontAlgn="base"/>
            <a:br>
              <a:rPr lang="en-US" sz="2800" dirty="0">
                <a:latin typeface="Calibir"/>
              </a:rPr>
            </a:br>
            <a:r>
              <a:rPr lang="en-US" sz="2800" dirty="0">
                <a:latin typeface="Calibir"/>
              </a:rPr>
              <a:t>I am Kevin from Group 4 from Tuesday 4-6 </a:t>
            </a:r>
            <a:r>
              <a:rPr lang="en-US" sz="2800" dirty="0" err="1">
                <a:latin typeface="Calibir"/>
              </a:rPr>
              <a:t>p.m</a:t>
            </a:r>
            <a:r>
              <a:rPr lang="en-US" sz="2800" dirty="0">
                <a:latin typeface="Calibir"/>
              </a:rPr>
              <a:t> tutorial. I have a question regarding the Assessment 1. </a:t>
            </a:r>
          </a:p>
          <a:p>
            <a:pPr fontAlgn="base"/>
            <a:br>
              <a:rPr lang="en-US" sz="2800" dirty="0">
                <a:latin typeface="Calibir"/>
              </a:rPr>
            </a:br>
            <a:r>
              <a:rPr lang="en-US" sz="2800" dirty="0">
                <a:latin typeface="Calibir"/>
              </a:rPr>
              <a:t>On the assessment, we have to add UML use case diagram and UML class diagram. Should we make them separately according to each category </a:t>
            </a:r>
            <a:r>
              <a:rPr lang="en-US" sz="2800" dirty="0" err="1">
                <a:latin typeface="Calibir"/>
              </a:rPr>
              <a:t>e.g</a:t>
            </a:r>
            <a:r>
              <a:rPr lang="en-US" sz="2800" dirty="0">
                <a:latin typeface="Calibir"/>
              </a:rPr>
              <a:t> one for registration, one for enrolment or could we just combine them altogether ?</a:t>
            </a:r>
          </a:p>
          <a:p>
            <a:pPr fontAlgn="base"/>
            <a:endParaRPr lang="en-US" sz="2800" dirty="0">
              <a:latin typeface="Calibir"/>
            </a:endParaRPr>
          </a:p>
          <a:p>
            <a:pPr fontAlgn="base"/>
            <a:r>
              <a:rPr lang="en-US" sz="2800" dirty="0">
                <a:latin typeface="Calibir"/>
              </a:rPr>
              <a:t>Thank you</a:t>
            </a:r>
          </a:p>
          <a:p>
            <a:pPr fontAlgn="base"/>
            <a:br>
              <a:rPr lang="en-US" sz="2800" dirty="0">
                <a:latin typeface="Calibir"/>
              </a:rPr>
            </a:br>
            <a:r>
              <a:rPr lang="en-US" sz="2800" dirty="0">
                <a:latin typeface="Calibir"/>
              </a:rPr>
              <a:t>Best regards,</a:t>
            </a:r>
          </a:p>
        </p:txBody>
      </p:sp>
    </p:spTree>
    <p:extLst>
      <p:ext uri="{BB962C8B-B14F-4D97-AF65-F5344CB8AC3E}">
        <p14:creationId xmlns:p14="http://schemas.microsoft.com/office/powerpoint/2010/main" val="136880922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26675-9D61-898E-16FC-9C08F5B33CB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8F01DB4-C248-BCF2-52DD-38B598974D03}"/>
              </a:ext>
            </a:extLst>
          </p:cNvPr>
          <p:cNvSpPr>
            <a:spLocks noGrp="1"/>
          </p:cNvSpPr>
          <p:nvPr>
            <p:ph type="title"/>
          </p:nvPr>
        </p:nvSpPr>
        <p:spPr>
          <a:xfrm>
            <a:off x="0" y="0"/>
            <a:ext cx="12192000" cy="657922"/>
          </a:xfrm>
        </p:spPr>
        <p:txBody>
          <a:bodyPr anchor="b">
            <a:normAutofit/>
          </a:bodyPr>
          <a:lstStyle/>
          <a:p>
            <a:r>
              <a:rPr lang="en-US" sz="4000" dirty="0">
                <a:latin typeface="Calibir"/>
              </a:rPr>
              <a:t>Use Case &amp; Class Diagrams – One Comprehensive View</a:t>
            </a:r>
            <a:endParaRPr lang="en-AU" sz="4000" b="1" dirty="0">
              <a:latin typeface="Calibir"/>
            </a:endParaRPr>
          </a:p>
        </p:txBody>
      </p:sp>
      <p:sp>
        <p:nvSpPr>
          <p:cNvPr id="5" name="TextBox 4">
            <a:extLst>
              <a:ext uri="{FF2B5EF4-FFF2-40B4-BE49-F238E27FC236}">
                <a16:creationId xmlns:a16="http://schemas.microsoft.com/office/drawing/2014/main" id="{9C75C377-B6E3-8350-FC76-BE628467C584}"/>
              </a:ext>
            </a:extLst>
          </p:cNvPr>
          <p:cNvSpPr txBox="1"/>
          <p:nvPr/>
        </p:nvSpPr>
        <p:spPr>
          <a:xfrm>
            <a:off x="0" y="759147"/>
            <a:ext cx="11975690" cy="3903504"/>
          </a:xfrm>
          <a:prstGeom prst="rect">
            <a:avLst/>
          </a:prstGeom>
          <a:noFill/>
        </p:spPr>
        <p:txBody>
          <a:bodyPr wrap="square">
            <a:spAutoFit/>
          </a:bodyPr>
          <a:lstStyle/>
          <a:p>
            <a:pPr>
              <a:lnSpc>
                <a:spcPct val="150000"/>
              </a:lnSpc>
            </a:pPr>
            <a:r>
              <a:rPr lang="en-US" sz="2800" dirty="0">
                <a:latin typeface="Calibir"/>
              </a:rPr>
              <a:t>Dear Student,</a:t>
            </a:r>
          </a:p>
          <a:p>
            <a:pPr>
              <a:lnSpc>
                <a:spcPct val="150000"/>
              </a:lnSpc>
            </a:pPr>
            <a:r>
              <a:rPr lang="en-US" sz="2800" dirty="0">
                <a:latin typeface="Calibir"/>
              </a:rPr>
              <a:t>Thank you for your question. For Assessment 1 – Part 1, you should create one comprehensive UML Use Case diagram and one comprehensive UML Class diagram that cover the entire system, not separate diagrams for each feature (e.g., registration, enrolment).</a:t>
            </a:r>
          </a:p>
          <a:p>
            <a:pPr>
              <a:lnSpc>
                <a:spcPct val="150000"/>
              </a:lnSpc>
            </a:pPr>
            <a:r>
              <a:rPr lang="en-US" sz="2800" dirty="0">
                <a:latin typeface="Calibir"/>
              </a:rPr>
              <a:t>This means:</a:t>
            </a:r>
          </a:p>
        </p:txBody>
      </p:sp>
    </p:spTree>
    <p:extLst>
      <p:ext uri="{BB962C8B-B14F-4D97-AF65-F5344CB8AC3E}">
        <p14:creationId xmlns:p14="http://schemas.microsoft.com/office/powerpoint/2010/main" val="257762863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B9F6B-AB9F-E8EB-627A-2995EA396D6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5238E82-12F5-A51E-61A2-17648D0A0408}"/>
              </a:ext>
            </a:extLst>
          </p:cNvPr>
          <p:cNvSpPr>
            <a:spLocks noGrp="1"/>
          </p:cNvSpPr>
          <p:nvPr>
            <p:ph type="title"/>
          </p:nvPr>
        </p:nvSpPr>
        <p:spPr>
          <a:xfrm>
            <a:off x="0" y="0"/>
            <a:ext cx="12192000" cy="657922"/>
          </a:xfrm>
        </p:spPr>
        <p:txBody>
          <a:bodyPr anchor="b">
            <a:normAutofit/>
          </a:bodyPr>
          <a:lstStyle/>
          <a:p>
            <a:r>
              <a:rPr lang="en-US" sz="4000" dirty="0">
                <a:latin typeface="Calibir"/>
              </a:rPr>
              <a:t>Use Case &amp; Class Diagrams – One Comprehensive View</a:t>
            </a:r>
            <a:endParaRPr lang="en-AU" sz="4000" b="1" dirty="0">
              <a:latin typeface="Calibir"/>
            </a:endParaRPr>
          </a:p>
        </p:txBody>
      </p:sp>
      <p:sp>
        <p:nvSpPr>
          <p:cNvPr id="5" name="TextBox 4">
            <a:extLst>
              <a:ext uri="{FF2B5EF4-FFF2-40B4-BE49-F238E27FC236}">
                <a16:creationId xmlns:a16="http://schemas.microsoft.com/office/drawing/2014/main" id="{0B35F899-094F-CE60-4C5A-CEE0D18A6F3B}"/>
              </a:ext>
            </a:extLst>
          </p:cNvPr>
          <p:cNvSpPr txBox="1"/>
          <p:nvPr/>
        </p:nvSpPr>
        <p:spPr>
          <a:xfrm>
            <a:off x="0" y="1477248"/>
            <a:ext cx="11975690" cy="3903504"/>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800" dirty="0">
                <a:latin typeface="Calibir"/>
              </a:rPr>
              <a:t>All student operations (register, </a:t>
            </a:r>
            <a:r>
              <a:rPr lang="en-US" sz="2800" dirty="0" err="1">
                <a:latin typeface="Calibir"/>
              </a:rPr>
              <a:t>enrol</a:t>
            </a:r>
            <a:r>
              <a:rPr lang="en-US" sz="2800" dirty="0">
                <a:latin typeface="Calibir"/>
              </a:rPr>
              <a:t>, drop, view, change password) and admin operations (view, group PASS/FAIL, remove student, clear data) should appear in a single Use Case diagram, connected to the relevant actors.</a:t>
            </a:r>
          </a:p>
          <a:p>
            <a:pPr marL="342900" indent="-342900">
              <a:lnSpc>
                <a:spcPct val="150000"/>
              </a:lnSpc>
              <a:buFont typeface="Arial" panose="020B0604020202020204" pitchFamily="34" charset="0"/>
              <a:buChar char="•"/>
            </a:pPr>
            <a:r>
              <a:rPr lang="en-US" sz="2800" dirty="0">
                <a:latin typeface="Calibir"/>
              </a:rPr>
              <a:t>The Class diagram should represent all core classes (e.g., Student, Subject, </a:t>
            </a:r>
            <a:r>
              <a:rPr lang="en-US" sz="2800" dirty="0" err="1">
                <a:latin typeface="Calibir"/>
              </a:rPr>
              <a:t>DataStore</a:t>
            </a:r>
            <a:r>
              <a:rPr lang="en-US" sz="2800" dirty="0">
                <a:latin typeface="Calibir"/>
              </a:rPr>
              <a:t>, </a:t>
            </a:r>
            <a:r>
              <a:rPr lang="en-US" sz="2800" dirty="0" err="1">
                <a:latin typeface="Calibir"/>
              </a:rPr>
              <a:t>AuthService</a:t>
            </a:r>
            <a:r>
              <a:rPr lang="en-US" sz="2800" dirty="0">
                <a:latin typeface="Calibir"/>
              </a:rPr>
              <a:t>, Admin role/class) in one diagram, with attributes, methods, and relationships.</a:t>
            </a:r>
          </a:p>
        </p:txBody>
      </p:sp>
    </p:spTree>
    <p:extLst>
      <p:ext uri="{BB962C8B-B14F-4D97-AF65-F5344CB8AC3E}">
        <p14:creationId xmlns:p14="http://schemas.microsoft.com/office/powerpoint/2010/main" val="10024992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BEC3A-67FA-8FD2-F013-E429E81288C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F9D661B-178A-5ED1-04B8-BA98BC51CBDD}"/>
              </a:ext>
            </a:extLst>
          </p:cNvPr>
          <p:cNvSpPr>
            <a:spLocks noGrp="1"/>
          </p:cNvSpPr>
          <p:nvPr>
            <p:ph type="title"/>
          </p:nvPr>
        </p:nvSpPr>
        <p:spPr>
          <a:xfrm>
            <a:off x="0" y="0"/>
            <a:ext cx="12192000" cy="657922"/>
          </a:xfrm>
        </p:spPr>
        <p:txBody>
          <a:bodyPr anchor="b">
            <a:normAutofit/>
          </a:bodyPr>
          <a:lstStyle/>
          <a:p>
            <a:r>
              <a:rPr lang="en-US" sz="4000" dirty="0">
                <a:latin typeface="Calibir"/>
              </a:rPr>
              <a:t>Use Case &amp; Class Diagrams – One Comprehensive View</a:t>
            </a:r>
            <a:endParaRPr lang="en-AU" sz="4000" b="1" dirty="0">
              <a:latin typeface="Calibir"/>
            </a:endParaRPr>
          </a:p>
        </p:txBody>
      </p:sp>
      <p:sp>
        <p:nvSpPr>
          <p:cNvPr id="5" name="TextBox 4">
            <a:extLst>
              <a:ext uri="{FF2B5EF4-FFF2-40B4-BE49-F238E27FC236}">
                <a16:creationId xmlns:a16="http://schemas.microsoft.com/office/drawing/2014/main" id="{95119CBC-ECE5-B9B4-9681-348370685A66}"/>
              </a:ext>
            </a:extLst>
          </p:cNvPr>
          <p:cNvSpPr txBox="1"/>
          <p:nvPr/>
        </p:nvSpPr>
        <p:spPr>
          <a:xfrm>
            <a:off x="0" y="759147"/>
            <a:ext cx="11975690" cy="2610843"/>
          </a:xfrm>
          <a:prstGeom prst="rect">
            <a:avLst/>
          </a:prstGeom>
          <a:noFill/>
        </p:spPr>
        <p:txBody>
          <a:bodyPr wrap="square">
            <a:spAutoFit/>
          </a:bodyPr>
          <a:lstStyle/>
          <a:p>
            <a:pPr>
              <a:lnSpc>
                <a:spcPct val="150000"/>
              </a:lnSpc>
            </a:pPr>
            <a:r>
              <a:rPr lang="en-US" sz="2800" dirty="0">
                <a:latin typeface="Calibir"/>
              </a:rPr>
              <a:t>This ensures consistency and traceability across the system and aligns with the assignment brief and marking criteria.</a:t>
            </a:r>
          </a:p>
          <a:p>
            <a:pPr>
              <a:lnSpc>
                <a:spcPct val="150000"/>
              </a:lnSpc>
            </a:pPr>
            <a:r>
              <a:rPr lang="en-US" sz="2800" dirty="0">
                <a:latin typeface="Calibir"/>
              </a:rPr>
              <a:t>Best regards,</a:t>
            </a:r>
            <a:br>
              <a:rPr lang="en-US" sz="2800" dirty="0">
                <a:latin typeface="Calibir"/>
              </a:rPr>
            </a:br>
            <a:r>
              <a:rPr lang="en-US" sz="2800" dirty="0">
                <a:latin typeface="Calibir"/>
              </a:rPr>
              <a:t>Dr. Farshid Keivanian</a:t>
            </a:r>
          </a:p>
        </p:txBody>
      </p:sp>
    </p:spTree>
    <p:extLst>
      <p:ext uri="{BB962C8B-B14F-4D97-AF65-F5344CB8AC3E}">
        <p14:creationId xmlns:p14="http://schemas.microsoft.com/office/powerpoint/2010/main" val="417281667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20209-25F0-8925-FCE8-6202A4A9E3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686F78-E6C8-E314-9034-0CFC0763C6C0}"/>
              </a:ext>
            </a:extLst>
          </p:cNvPr>
          <p:cNvSpPr>
            <a:spLocks noGrp="1"/>
          </p:cNvSpPr>
          <p:nvPr>
            <p:ph type="title"/>
          </p:nvPr>
        </p:nvSpPr>
        <p:spPr>
          <a:xfrm>
            <a:off x="0" y="0"/>
            <a:ext cx="12192000" cy="657922"/>
          </a:xfrm>
        </p:spPr>
        <p:txBody>
          <a:bodyPr anchor="b">
            <a:normAutofit/>
          </a:bodyPr>
          <a:lstStyle/>
          <a:p>
            <a:r>
              <a:rPr lang="en-US" sz="4000" dirty="0">
                <a:latin typeface="Calibir"/>
              </a:rPr>
              <a:t>User Story Backlog — Clarified</a:t>
            </a:r>
            <a:endParaRPr lang="en-AU" sz="4000" b="1" dirty="0">
              <a:latin typeface="Calibir"/>
            </a:endParaRPr>
          </a:p>
        </p:txBody>
      </p:sp>
      <p:sp>
        <p:nvSpPr>
          <p:cNvPr id="4" name="TextBox 3">
            <a:extLst>
              <a:ext uri="{FF2B5EF4-FFF2-40B4-BE49-F238E27FC236}">
                <a16:creationId xmlns:a16="http://schemas.microsoft.com/office/drawing/2014/main" id="{4A3A4008-3977-902F-0A78-9009DDF79B83}"/>
              </a:ext>
            </a:extLst>
          </p:cNvPr>
          <p:cNvSpPr txBox="1"/>
          <p:nvPr/>
        </p:nvSpPr>
        <p:spPr>
          <a:xfrm>
            <a:off x="113371" y="1154082"/>
            <a:ext cx="11965258" cy="390350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b="1" dirty="0">
                <a:latin typeface="Calibir"/>
              </a:rPr>
              <a:t>What it is</a:t>
            </a:r>
            <a:r>
              <a:rPr lang="en-US" sz="2800" dirty="0">
                <a:latin typeface="Calibir"/>
              </a:rPr>
              <a:t>: Small tasks written as “stories.”</a:t>
            </a:r>
          </a:p>
          <a:p>
            <a:pPr marL="457200" indent="-457200">
              <a:lnSpc>
                <a:spcPct val="150000"/>
              </a:lnSpc>
              <a:buFont typeface="Arial" panose="020B0604020202020204" pitchFamily="34" charset="0"/>
              <a:buChar char="•"/>
            </a:pPr>
            <a:r>
              <a:rPr lang="en-US" sz="2800" b="1" dirty="0">
                <a:latin typeface="Calibir"/>
              </a:rPr>
              <a:t>Format</a:t>
            </a:r>
            <a:r>
              <a:rPr lang="en-US" sz="2800" dirty="0">
                <a:latin typeface="Calibir"/>
              </a:rPr>
              <a:t>: ID | User | Action | Result | Function.</a:t>
            </a:r>
          </a:p>
          <a:p>
            <a:pPr marL="457200" indent="-457200">
              <a:lnSpc>
                <a:spcPct val="150000"/>
              </a:lnSpc>
              <a:buFont typeface="Arial" panose="020B0604020202020204" pitchFamily="34" charset="0"/>
              <a:buChar char="•"/>
            </a:pPr>
            <a:r>
              <a:rPr lang="en-US" sz="2800" b="1" dirty="0">
                <a:latin typeface="Calibir"/>
              </a:rPr>
              <a:t>ID rule</a:t>
            </a:r>
            <a:r>
              <a:rPr lang="en-US" sz="2800" dirty="0">
                <a:latin typeface="Calibir"/>
              </a:rPr>
              <a:t>: 3 digits → same hundreds digit = same feature.</a:t>
            </a:r>
          </a:p>
          <a:p>
            <a:pPr marL="457200" indent="-457200">
              <a:lnSpc>
                <a:spcPct val="150000"/>
              </a:lnSpc>
              <a:buFont typeface="Arial" panose="020B0604020202020204" pitchFamily="34" charset="0"/>
              <a:buChar char="•"/>
            </a:pPr>
            <a:r>
              <a:rPr lang="en-US" sz="2800" b="1" dirty="0">
                <a:latin typeface="Calibir"/>
              </a:rPr>
              <a:t>Example</a:t>
            </a:r>
            <a:r>
              <a:rPr lang="en-US" sz="2800" dirty="0">
                <a:latin typeface="Calibir"/>
              </a:rPr>
              <a:t>:</a:t>
            </a:r>
          </a:p>
          <a:p>
            <a:pPr marL="914400" lvl="1" indent="-457200">
              <a:lnSpc>
                <a:spcPct val="150000"/>
              </a:lnSpc>
              <a:buFont typeface="Arial" panose="020B0604020202020204" pitchFamily="34" charset="0"/>
              <a:buChar char="•"/>
            </a:pPr>
            <a:r>
              <a:rPr lang="en-US" sz="2800" dirty="0">
                <a:latin typeface="Calibir"/>
              </a:rPr>
              <a:t>100 Student logs in with email/password → success/fail → login()</a:t>
            </a:r>
          </a:p>
          <a:p>
            <a:pPr marL="914400" lvl="1" indent="-457200">
              <a:lnSpc>
                <a:spcPct val="150000"/>
              </a:lnSpc>
              <a:buFont typeface="Arial" panose="020B0604020202020204" pitchFamily="34" charset="0"/>
              <a:buChar char="•"/>
            </a:pPr>
            <a:r>
              <a:rPr lang="en-US" sz="2800" dirty="0">
                <a:latin typeface="Calibir"/>
              </a:rPr>
              <a:t>105 System validates credentials → error message → </a:t>
            </a:r>
            <a:r>
              <a:rPr lang="en-US" sz="2800" dirty="0" err="1">
                <a:latin typeface="Calibir"/>
              </a:rPr>
              <a:t>validateCredentials</a:t>
            </a:r>
            <a:r>
              <a:rPr lang="en-US" sz="2800" dirty="0">
                <a:latin typeface="Calibir"/>
              </a:rPr>
              <a:t>()</a:t>
            </a:r>
          </a:p>
        </p:txBody>
      </p:sp>
    </p:spTree>
    <p:extLst>
      <p:ext uri="{BB962C8B-B14F-4D97-AF65-F5344CB8AC3E}">
        <p14:creationId xmlns:p14="http://schemas.microsoft.com/office/powerpoint/2010/main" val="237120128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5A36A-FAF5-7987-8A76-A5D2E41EA7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3D22A9-0632-A46F-FFBE-6F038E28828C}"/>
              </a:ext>
            </a:extLst>
          </p:cNvPr>
          <p:cNvSpPr>
            <a:spLocks noGrp="1"/>
          </p:cNvSpPr>
          <p:nvPr>
            <p:ph type="title"/>
          </p:nvPr>
        </p:nvSpPr>
        <p:spPr>
          <a:xfrm>
            <a:off x="0" y="0"/>
            <a:ext cx="12192000" cy="657922"/>
          </a:xfrm>
        </p:spPr>
        <p:txBody>
          <a:bodyPr anchor="b">
            <a:normAutofit/>
          </a:bodyPr>
          <a:lstStyle/>
          <a:p>
            <a:r>
              <a:rPr lang="en-US" sz="4000" dirty="0">
                <a:latin typeface="Calibir"/>
              </a:rPr>
              <a:t>User Story Backlog — Clarified</a:t>
            </a:r>
            <a:endParaRPr lang="en-AU" sz="4000" b="1" dirty="0">
              <a:latin typeface="Calibir"/>
            </a:endParaRPr>
          </a:p>
        </p:txBody>
      </p:sp>
      <p:sp>
        <p:nvSpPr>
          <p:cNvPr id="4" name="TextBox 3">
            <a:extLst>
              <a:ext uri="{FF2B5EF4-FFF2-40B4-BE49-F238E27FC236}">
                <a16:creationId xmlns:a16="http://schemas.microsoft.com/office/drawing/2014/main" id="{0CC29C62-B3FC-1066-F9D4-A46980BC1BB8}"/>
              </a:ext>
            </a:extLst>
          </p:cNvPr>
          <p:cNvSpPr txBox="1"/>
          <p:nvPr/>
        </p:nvSpPr>
        <p:spPr>
          <a:xfrm>
            <a:off x="113371" y="1154082"/>
            <a:ext cx="11965258" cy="4549835"/>
          </a:xfrm>
          <a:prstGeom prst="rect">
            <a:avLst/>
          </a:prstGeom>
          <a:noFill/>
        </p:spPr>
        <p:txBody>
          <a:bodyPr wrap="square">
            <a:spAutoFit/>
          </a:bodyPr>
          <a:lstStyle/>
          <a:p>
            <a:pPr>
              <a:lnSpc>
                <a:spcPct val="150000"/>
              </a:lnSpc>
              <a:buNone/>
            </a:pPr>
            <a:r>
              <a:rPr lang="en-US" sz="2800" b="1" dirty="0">
                <a:latin typeface="Calibir"/>
              </a:rPr>
              <a:t>Step-by-step (Do’s &amp; Don’ts)</a:t>
            </a:r>
          </a:p>
          <a:p>
            <a:pPr marL="177800">
              <a:lnSpc>
                <a:spcPct val="150000"/>
              </a:lnSpc>
              <a:buNone/>
            </a:pPr>
            <a:r>
              <a:rPr lang="en-US" sz="2800" dirty="0">
                <a:latin typeface="Calibir"/>
              </a:rPr>
              <a:t>✔ Break down into small stories (2–5 per feature).</a:t>
            </a:r>
            <a:br>
              <a:rPr lang="en-US" sz="2800" dirty="0">
                <a:latin typeface="Calibir"/>
              </a:rPr>
            </a:br>
            <a:r>
              <a:rPr lang="en-US" sz="2800" dirty="0">
                <a:latin typeface="Calibir"/>
              </a:rPr>
              <a:t>✔ Use Student/Admin/System only.</a:t>
            </a:r>
            <a:br>
              <a:rPr lang="en-US" sz="2800" dirty="0">
                <a:latin typeface="Calibir"/>
              </a:rPr>
            </a:br>
            <a:r>
              <a:rPr lang="en-US" sz="2800" dirty="0">
                <a:latin typeface="Calibir"/>
              </a:rPr>
              <a:t>✔ Group IDs (1xx = Login, 2xx = Register, 3xx = </a:t>
            </a:r>
            <a:r>
              <a:rPr lang="en-US" sz="2800" dirty="0" err="1">
                <a:latin typeface="Calibir"/>
              </a:rPr>
              <a:t>Enrol</a:t>
            </a:r>
            <a:r>
              <a:rPr lang="en-US" sz="2800" dirty="0">
                <a:latin typeface="Calibir"/>
              </a:rPr>
              <a:t>, </a:t>
            </a:r>
            <a:r>
              <a:rPr lang="en-US" sz="2800" dirty="0" err="1">
                <a:latin typeface="Calibir"/>
              </a:rPr>
              <a:t>etc</a:t>
            </a:r>
            <a:r>
              <a:rPr lang="en-US" sz="2800" dirty="0">
                <a:latin typeface="Calibir"/>
              </a:rPr>
              <a:t>).</a:t>
            </a:r>
            <a:br>
              <a:rPr lang="en-US" sz="2800" dirty="0">
                <a:latin typeface="Calibir"/>
              </a:rPr>
            </a:br>
            <a:r>
              <a:rPr lang="en-US" sz="2800" dirty="0">
                <a:highlight>
                  <a:srgbClr val="FF0000"/>
                </a:highlight>
                <a:latin typeface="Calibir"/>
              </a:rPr>
              <a:t>X</a:t>
            </a:r>
            <a:r>
              <a:rPr lang="en-US" sz="2800" dirty="0">
                <a:latin typeface="Calibir"/>
              </a:rPr>
              <a:t> Don’t combine multiple actions in one story.</a:t>
            </a:r>
            <a:br>
              <a:rPr lang="en-US" sz="2800" dirty="0">
                <a:latin typeface="Calibir"/>
              </a:rPr>
            </a:br>
            <a:r>
              <a:rPr lang="en-US" sz="2800" dirty="0">
                <a:highlight>
                  <a:srgbClr val="FF0000"/>
                </a:highlight>
                <a:latin typeface="Calibir"/>
              </a:rPr>
              <a:t>X</a:t>
            </a:r>
            <a:r>
              <a:rPr lang="en-US" sz="2800" dirty="0">
                <a:latin typeface="Calibir"/>
              </a:rPr>
              <a:t> Don’t add UI details.</a:t>
            </a:r>
            <a:br>
              <a:rPr lang="en-US" sz="2800" dirty="0">
                <a:latin typeface="Calibir"/>
              </a:rPr>
            </a:br>
            <a:r>
              <a:rPr lang="en-US" sz="2800" dirty="0">
                <a:highlight>
                  <a:srgbClr val="FF0000"/>
                </a:highlight>
                <a:latin typeface="Calibir"/>
              </a:rPr>
              <a:t>X</a:t>
            </a:r>
            <a:r>
              <a:rPr lang="en-US" sz="2800" dirty="0">
                <a:latin typeface="Calibir"/>
              </a:rPr>
              <a:t> Don’t invent new actors.</a:t>
            </a:r>
          </a:p>
        </p:txBody>
      </p:sp>
    </p:spTree>
    <p:extLst>
      <p:ext uri="{BB962C8B-B14F-4D97-AF65-F5344CB8AC3E}">
        <p14:creationId xmlns:p14="http://schemas.microsoft.com/office/powerpoint/2010/main" val="125323256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711CE-071A-B811-3349-DB3C76A53B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715D97-4467-3A52-E260-A877C7047BC1}"/>
              </a:ext>
            </a:extLst>
          </p:cNvPr>
          <p:cNvSpPr>
            <a:spLocks noGrp="1"/>
          </p:cNvSpPr>
          <p:nvPr>
            <p:ph type="title"/>
          </p:nvPr>
        </p:nvSpPr>
        <p:spPr>
          <a:xfrm>
            <a:off x="0" y="0"/>
            <a:ext cx="12192000" cy="657922"/>
          </a:xfrm>
        </p:spPr>
        <p:txBody>
          <a:bodyPr anchor="b">
            <a:normAutofit/>
          </a:bodyPr>
          <a:lstStyle/>
          <a:p>
            <a:r>
              <a:rPr lang="en-US" sz="4000" dirty="0">
                <a:latin typeface="Calibir"/>
              </a:rPr>
              <a:t>UML Use Case Diagram — Clarified</a:t>
            </a:r>
            <a:endParaRPr lang="en-AU" sz="4000" b="1" dirty="0">
              <a:latin typeface="Calibir"/>
            </a:endParaRPr>
          </a:p>
        </p:txBody>
      </p:sp>
      <p:sp>
        <p:nvSpPr>
          <p:cNvPr id="4" name="TextBox 3">
            <a:extLst>
              <a:ext uri="{FF2B5EF4-FFF2-40B4-BE49-F238E27FC236}">
                <a16:creationId xmlns:a16="http://schemas.microsoft.com/office/drawing/2014/main" id="{6D7E76C2-31D8-BAAA-CCC2-89002ACDD152}"/>
              </a:ext>
            </a:extLst>
          </p:cNvPr>
          <p:cNvSpPr txBox="1"/>
          <p:nvPr/>
        </p:nvSpPr>
        <p:spPr>
          <a:xfrm>
            <a:off x="0" y="698901"/>
            <a:ext cx="11965258" cy="5839612"/>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Shows who (actor) does what (use case).</a:t>
            </a:r>
          </a:p>
          <a:p>
            <a:pPr marL="457200" indent="-457200">
              <a:lnSpc>
                <a:spcPct val="150000"/>
              </a:lnSpc>
              <a:buFont typeface="Arial" panose="020B0604020202020204" pitchFamily="34" charset="0"/>
              <a:buChar char="•"/>
            </a:pPr>
            <a:r>
              <a:rPr lang="en-US" sz="2800" dirty="0">
                <a:latin typeface="Calibir"/>
              </a:rPr>
              <a:t>Add relationships:</a:t>
            </a:r>
          </a:p>
          <a:p>
            <a:pPr marL="914400" lvl="1" indent="-457200">
              <a:lnSpc>
                <a:spcPct val="150000"/>
              </a:lnSpc>
              <a:buFont typeface="Arial" panose="020B0604020202020204" pitchFamily="34" charset="0"/>
              <a:buChar char="•"/>
            </a:pPr>
            <a:r>
              <a:rPr lang="en-US" sz="2800" dirty="0">
                <a:latin typeface="Calibir"/>
              </a:rPr>
              <a:t>&lt;&lt;include&gt;&gt; → always happens.</a:t>
            </a:r>
          </a:p>
          <a:p>
            <a:pPr marL="914400" lvl="1" indent="-457200">
              <a:lnSpc>
                <a:spcPct val="150000"/>
              </a:lnSpc>
              <a:buFont typeface="Arial" panose="020B0604020202020204" pitchFamily="34" charset="0"/>
              <a:buChar char="•"/>
            </a:pPr>
            <a:r>
              <a:rPr lang="en-US" sz="2800" dirty="0">
                <a:latin typeface="Calibir"/>
              </a:rPr>
              <a:t>&lt;&lt;extend&gt;&gt; → sometimes happens.</a:t>
            </a:r>
          </a:p>
          <a:p>
            <a:pPr marL="457200" indent="-457200">
              <a:lnSpc>
                <a:spcPct val="150000"/>
              </a:lnSpc>
              <a:buFont typeface="Arial" panose="020B0604020202020204" pitchFamily="34" charset="0"/>
              <a:buChar char="•"/>
            </a:pPr>
            <a:r>
              <a:rPr lang="en-US" sz="2800" dirty="0">
                <a:latin typeface="Calibir"/>
              </a:rPr>
              <a:t>Example:</a:t>
            </a:r>
          </a:p>
          <a:p>
            <a:pPr marL="914400" lvl="1" indent="-457200">
              <a:lnSpc>
                <a:spcPct val="150000"/>
              </a:lnSpc>
              <a:buFont typeface="Arial" panose="020B0604020202020204" pitchFamily="34" charset="0"/>
              <a:buChar char="•"/>
            </a:pPr>
            <a:r>
              <a:rPr lang="en-US" sz="2800" dirty="0">
                <a:latin typeface="Calibir"/>
              </a:rPr>
              <a:t>Student → Register (includes Validate Email, Generate ID).</a:t>
            </a:r>
          </a:p>
          <a:p>
            <a:pPr marL="914400" lvl="1" indent="-457200">
              <a:lnSpc>
                <a:spcPct val="150000"/>
              </a:lnSpc>
              <a:buFont typeface="Arial" panose="020B0604020202020204" pitchFamily="34" charset="0"/>
              <a:buChar char="•"/>
            </a:pPr>
            <a:r>
              <a:rPr lang="en-US" sz="2800" dirty="0">
                <a:latin typeface="Calibir"/>
              </a:rPr>
              <a:t>Student → </a:t>
            </a:r>
            <a:r>
              <a:rPr lang="en-US" sz="2800" dirty="0" err="1">
                <a:latin typeface="Calibir"/>
              </a:rPr>
              <a:t>Enrol</a:t>
            </a:r>
            <a:r>
              <a:rPr lang="en-US" sz="2800" dirty="0">
                <a:latin typeface="Calibir"/>
              </a:rPr>
              <a:t> (includes Assign Mark &amp; Grade, Save Data).</a:t>
            </a:r>
          </a:p>
          <a:p>
            <a:pPr marL="914400" lvl="1" indent="-457200">
              <a:lnSpc>
                <a:spcPct val="150000"/>
              </a:lnSpc>
              <a:buFont typeface="Arial" panose="020B0604020202020204" pitchFamily="34" charset="0"/>
              <a:buChar char="•"/>
            </a:pPr>
            <a:r>
              <a:rPr lang="en-US" sz="2800" dirty="0">
                <a:latin typeface="Calibir"/>
              </a:rPr>
              <a:t>Login → extend → Show Error.</a:t>
            </a:r>
          </a:p>
          <a:p>
            <a:pPr>
              <a:lnSpc>
                <a:spcPct val="150000"/>
              </a:lnSpc>
              <a:buNone/>
            </a:pPr>
            <a:r>
              <a:rPr lang="en-US" sz="2800" dirty="0">
                <a:latin typeface="Calibir"/>
              </a:rPr>
              <a:t>Avoid adding CLI/GUI as use cases. Only focus on real user/system actions.</a:t>
            </a:r>
          </a:p>
        </p:txBody>
      </p:sp>
    </p:spTree>
    <p:extLst>
      <p:ext uri="{BB962C8B-B14F-4D97-AF65-F5344CB8AC3E}">
        <p14:creationId xmlns:p14="http://schemas.microsoft.com/office/powerpoint/2010/main" val="181128022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17075-94E3-58BC-851A-0E77B495E9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D2EC20-D766-3D4A-C2C5-7054D50961C1}"/>
              </a:ext>
            </a:extLst>
          </p:cNvPr>
          <p:cNvSpPr>
            <a:spLocks noGrp="1"/>
          </p:cNvSpPr>
          <p:nvPr>
            <p:ph type="title"/>
          </p:nvPr>
        </p:nvSpPr>
        <p:spPr>
          <a:xfrm>
            <a:off x="0" y="0"/>
            <a:ext cx="12192000" cy="657922"/>
          </a:xfrm>
        </p:spPr>
        <p:txBody>
          <a:bodyPr anchor="b">
            <a:normAutofit/>
          </a:bodyPr>
          <a:lstStyle/>
          <a:p>
            <a:r>
              <a:rPr lang="en-US" sz="4000" dirty="0">
                <a:latin typeface="Calibir"/>
              </a:rPr>
              <a:t>UML Class Diagram — Clarified</a:t>
            </a:r>
            <a:endParaRPr lang="en-AU" sz="4000" b="1" dirty="0">
              <a:latin typeface="Calibir"/>
            </a:endParaRPr>
          </a:p>
        </p:txBody>
      </p:sp>
      <p:sp>
        <p:nvSpPr>
          <p:cNvPr id="4" name="TextBox 3">
            <a:extLst>
              <a:ext uri="{FF2B5EF4-FFF2-40B4-BE49-F238E27FC236}">
                <a16:creationId xmlns:a16="http://schemas.microsoft.com/office/drawing/2014/main" id="{AF300C41-F683-7339-4485-49F35E180F97}"/>
              </a:ext>
            </a:extLst>
          </p:cNvPr>
          <p:cNvSpPr txBox="1"/>
          <p:nvPr/>
        </p:nvSpPr>
        <p:spPr>
          <a:xfrm>
            <a:off x="0" y="698901"/>
            <a:ext cx="11965258" cy="4549835"/>
          </a:xfrm>
          <a:prstGeom prst="rect">
            <a:avLst/>
          </a:prstGeom>
          <a:noFill/>
        </p:spPr>
        <p:txBody>
          <a:bodyPr wrap="square">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Classes</a:t>
            </a:r>
            <a:r>
              <a:rPr lang="en-US" altLang="en-US" sz="2800" dirty="0">
                <a:latin typeface="Calibir"/>
              </a:rPr>
              <a:t>: Student, Subject, Admin, </a:t>
            </a:r>
            <a:r>
              <a:rPr lang="en-US" altLang="en-US" sz="2800" dirty="0" err="1">
                <a:latin typeface="Calibir"/>
              </a:rPr>
              <a:t>DataStore</a:t>
            </a:r>
            <a:r>
              <a:rPr lang="en-US" altLang="en-US" sz="2800" dirty="0">
                <a:latin typeface="Calibir"/>
              </a:rPr>
              <a:t>.</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Attributes (fields)</a:t>
            </a:r>
            <a:r>
              <a:rPr lang="en-US" altLang="en-US" sz="2800" dirty="0">
                <a:latin typeface="Calibir"/>
              </a:rPr>
              <a:t>: id, name, email, etc.</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Methods</a:t>
            </a:r>
            <a:r>
              <a:rPr lang="en-US" altLang="en-US" sz="2800" dirty="0">
                <a:latin typeface="Calibir"/>
              </a:rPr>
              <a:t>: </a:t>
            </a:r>
            <a:r>
              <a:rPr lang="en-US" altLang="en-US" sz="2800" dirty="0" err="1">
                <a:latin typeface="Calibir"/>
              </a:rPr>
              <a:t>enrol</a:t>
            </a:r>
            <a:r>
              <a:rPr lang="en-US" altLang="en-US" sz="2800" dirty="0">
                <a:latin typeface="Calibir"/>
              </a:rPr>
              <a:t>(), drop(), view().</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Visibility</a:t>
            </a:r>
            <a:r>
              <a:rPr lang="en-US" altLang="en-US" sz="2800" dirty="0">
                <a:latin typeface="Calibir"/>
              </a:rPr>
              <a:t>:</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 public (accessible everywhere).</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 private (class only).</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 protected (class + children).</a:t>
            </a:r>
          </a:p>
        </p:txBody>
      </p:sp>
    </p:spTree>
    <p:extLst>
      <p:ext uri="{BB962C8B-B14F-4D97-AF65-F5344CB8AC3E}">
        <p14:creationId xmlns:p14="http://schemas.microsoft.com/office/powerpoint/2010/main" val="53786046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0E4E0-0BC7-CA01-23BD-994DFA5028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BEFE2D-7BFF-B572-DD9F-DBB9ECBB9AB1}"/>
              </a:ext>
            </a:extLst>
          </p:cNvPr>
          <p:cNvSpPr>
            <a:spLocks noGrp="1"/>
          </p:cNvSpPr>
          <p:nvPr>
            <p:ph type="title"/>
          </p:nvPr>
        </p:nvSpPr>
        <p:spPr>
          <a:xfrm>
            <a:off x="0" y="0"/>
            <a:ext cx="12192000" cy="657922"/>
          </a:xfrm>
        </p:spPr>
        <p:txBody>
          <a:bodyPr anchor="b">
            <a:normAutofit/>
          </a:bodyPr>
          <a:lstStyle/>
          <a:p>
            <a:r>
              <a:rPr lang="en-US" sz="4000" dirty="0">
                <a:latin typeface="Calibir"/>
              </a:rPr>
              <a:t>UML Class Diagram — Clarified</a:t>
            </a:r>
            <a:endParaRPr lang="en-AU" sz="4000" b="1" dirty="0">
              <a:latin typeface="Calibir"/>
            </a:endParaRPr>
          </a:p>
        </p:txBody>
      </p:sp>
      <p:sp>
        <p:nvSpPr>
          <p:cNvPr id="4" name="TextBox 3">
            <a:extLst>
              <a:ext uri="{FF2B5EF4-FFF2-40B4-BE49-F238E27FC236}">
                <a16:creationId xmlns:a16="http://schemas.microsoft.com/office/drawing/2014/main" id="{7E2CF557-2101-99F3-F2D1-B6844B10594E}"/>
              </a:ext>
            </a:extLst>
          </p:cNvPr>
          <p:cNvSpPr txBox="1"/>
          <p:nvPr/>
        </p:nvSpPr>
        <p:spPr>
          <a:xfrm>
            <a:off x="0" y="698901"/>
            <a:ext cx="11965258" cy="325717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b="1" dirty="0">
                <a:latin typeface="Calibir"/>
              </a:rPr>
              <a:t>Relationships</a:t>
            </a:r>
            <a:r>
              <a:rPr lang="en-US" sz="2800" dirty="0">
                <a:latin typeface="Calibir"/>
              </a:rPr>
              <a:t>:</a:t>
            </a:r>
          </a:p>
          <a:p>
            <a:pPr marL="914400" lvl="1" indent="-457200">
              <a:lnSpc>
                <a:spcPct val="150000"/>
              </a:lnSpc>
              <a:buFont typeface="Arial" panose="020B0604020202020204" pitchFamily="34" charset="0"/>
              <a:buChar char="•"/>
            </a:pPr>
            <a:r>
              <a:rPr lang="en-US" sz="2800" dirty="0">
                <a:latin typeface="Calibir"/>
              </a:rPr>
              <a:t>Student ↔ Subject (association, 1..4).</a:t>
            </a:r>
          </a:p>
          <a:p>
            <a:pPr marL="914400" lvl="1" indent="-457200">
              <a:lnSpc>
                <a:spcPct val="150000"/>
              </a:lnSpc>
              <a:buFont typeface="Arial" panose="020B0604020202020204" pitchFamily="34" charset="0"/>
              <a:buChar char="•"/>
            </a:pPr>
            <a:r>
              <a:rPr lang="en-US" sz="2800" dirty="0">
                <a:latin typeface="Calibir"/>
              </a:rPr>
              <a:t>Permit ↔ Vehicle (composition example).</a:t>
            </a:r>
          </a:p>
          <a:p>
            <a:pPr marL="914400" lvl="1" indent="-457200">
              <a:lnSpc>
                <a:spcPct val="150000"/>
              </a:lnSpc>
              <a:buFont typeface="Arial" panose="020B0604020202020204" pitchFamily="34" charset="0"/>
              <a:buChar char="•"/>
            </a:pPr>
            <a:r>
              <a:rPr lang="en-US" sz="2800" dirty="0">
                <a:latin typeface="Calibir"/>
              </a:rPr>
              <a:t>Student/Admin → inherit from User (generalization).</a:t>
            </a:r>
          </a:p>
          <a:p>
            <a:pPr>
              <a:lnSpc>
                <a:spcPct val="150000"/>
              </a:lnSpc>
            </a:pPr>
            <a:r>
              <a:rPr lang="en-US" sz="2800" dirty="0">
                <a:latin typeface="Calibir"/>
              </a:rPr>
              <a:t>Avoid: mixing too many details (keep it high-level, consistent with Part 2 code).</a:t>
            </a:r>
          </a:p>
        </p:txBody>
      </p:sp>
    </p:spTree>
    <p:extLst>
      <p:ext uri="{BB962C8B-B14F-4D97-AF65-F5344CB8AC3E}">
        <p14:creationId xmlns:p14="http://schemas.microsoft.com/office/powerpoint/2010/main" val="365071183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7EB39-647C-51CC-6FA4-633C3CF891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8DB8CA-0A10-109B-32BB-37157BAD4E47}"/>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Class Diagram Design Clarifications</a:t>
            </a:r>
            <a:endParaRPr lang="en-AU" sz="4000" b="1" dirty="0">
              <a:latin typeface="Calibir"/>
            </a:endParaRPr>
          </a:p>
        </p:txBody>
      </p:sp>
      <p:sp>
        <p:nvSpPr>
          <p:cNvPr id="4" name="TextBox 3">
            <a:extLst>
              <a:ext uri="{FF2B5EF4-FFF2-40B4-BE49-F238E27FC236}">
                <a16:creationId xmlns:a16="http://schemas.microsoft.com/office/drawing/2014/main" id="{999FF10C-270C-EBE5-6C64-1F2A0C31CE71}"/>
              </a:ext>
            </a:extLst>
          </p:cNvPr>
          <p:cNvSpPr txBox="1"/>
          <p:nvPr/>
        </p:nvSpPr>
        <p:spPr>
          <a:xfrm>
            <a:off x="0" y="698901"/>
            <a:ext cx="11965258" cy="4549835"/>
          </a:xfrm>
          <a:prstGeom prst="rect">
            <a:avLst/>
          </a:prstGeom>
          <a:noFill/>
        </p:spPr>
        <p:txBody>
          <a:bodyPr wrap="square">
            <a:spAutoFit/>
          </a:bodyPr>
          <a:lstStyle/>
          <a:p>
            <a:pPr fontAlgn="base">
              <a:lnSpc>
                <a:spcPct val="150000"/>
              </a:lnSpc>
            </a:pPr>
            <a:r>
              <a:rPr lang="en-US" sz="2800" dirty="0">
                <a:latin typeface="Calibir"/>
              </a:rPr>
              <a:t>Dear Dr. Keivanian,</a:t>
            </a:r>
          </a:p>
          <a:p>
            <a:pPr fontAlgn="base">
              <a:lnSpc>
                <a:spcPct val="150000"/>
              </a:lnSpc>
            </a:pPr>
            <a:r>
              <a:rPr lang="en-US" sz="2800" dirty="0">
                <a:latin typeface="Calibir"/>
              </a:rPr>
              <a:t>We are Group #... – Tuesday 4 PM (Cmp1-01) in [32555 Fundamentals of Software Development]. </a:t>
            </a:r>
          </a:p>
          <a:p>
            <a:pPr fontAlgn="base">
              <a:lnSpc>
                <a:spcPct val="150000"/>
              </a:lnSpc>
            </a:pPr>
            <a:r>
              <a:rPr lang="en-US" sz="2800" dirty="0">
                <a:latin typeface="Calibir"/>
              </a:rPr>
              <a:t>we are aligning our class diagram design with the five classes shown in your “Week 5 – Preparation for Group Assignment” slide (Student, Subject, </a:t>
            </a:r>
            <a:r>
              <a:rPr lang="en-US" sz="2800" dirty="0" err="1">
                <a:latin typeface="Calibir"/>
              </a:rPr>
              <a:t>AuthService</a:t>
            </a:r>
            <a:r>
              <a:rPr lang="en-US" sz="2800" dirty="0">
                <a:latin typeface="Calibir"/>
              </a:rPr>
              <a:t>, </a:t>
            </a:r>
            <a:r>
              <a:rPr lang="en-US" sz="2800" dirty="0" err="1">
                <a:latin typeface="Calibir"/>
              </a:rPr>
              <a:t>DataStore</a:t>
            </a:r>
            <a:r>
              <a:rPr lang="en-US" sz="2800" dirty="0">
                <a:latin typeface="Calibir"/>
              </a:rPr>
              <a:t>, Admin). We have a few questions. </a:t>
            </a:r>
          </a:p>
          <a:p>
            <a:pPr fontAlgn="base">
              <a:lnSpc>
                <a:spcPct val="150000"/>
              </a:lnSpc>
            </a:pPr>
            <a:r>
              <a:rPr lang="en-US" sz="2800" dirty="0">
                <a:latin typeface="Calibir"/>
              </a:rPr>
              <a:t>This is our class diagram draft, </a:t>
            </a:r>
          </a:p>
        </p:txBody>
      </p:sp>
    </p:spTree>
    <p:extLst>
      <p:ext uri="{BB962C8B-B14F-4D97-AF65-F5344CB8AC3E}">
        <p14:creationId xmlns:p14="http://schemas.microsoft.com/office/powerpoint/2010/main" val="42865252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17E7D-04E2-0A87-C7B8-371DCF048D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379101-9018-E237-2CE7-FE5C9C102379}"/>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Class Diagram Design Clarifications</a:t>
            </a:r>
            <a:endParaRPr lang="en-AU" sz="4000" b="1" dirty="0">
              <a:latin typeface="Calibir"/>
            </a:endParaRPr>
          </a:p>
        </p:txBody>
      </p:sp>
      <p:sp>
        <p:nvSpPr>
          <p:cNvPr id="4" name="TextBox 3">
            <a:extLst>
              <a:ext uri="{FF2B5EF4-FFF2-40B4-BE49-F238E27FC236}">
                <a16:creationId xmlns:a16="http://schemas.microsoft.com/office/drawing/2014/main" id="{E276C765-27D3-EB9D-EB74-46CA282BDD80}"/>
              </a:ext>
            </a:extLst>
          </p:cNvPr>
          <p:cNvSpPr txBox="1"/>
          <p:nvPr/>
        </p:nvSpPr>
        <p:spPr>
          <a:xfrm>
            <a:off x="0" y="698901"/>
            <a:ext cx="11965258" cy="5693866"/>
          </a:xfrm>
          <a:prstGeom prst="rect">
            <a:avLst/>
          </a:prstGeom>
          <a:noFill/>
        </p:spPr>
        <p:txBody>
          <a:bodyPr wrap="square">
            <a:spAutoFit/>
          </a:bodyPr>
          <a:lstStyle/>
          <a:p>
            <a:pPr fontAlgn="base"/>
            <a:r>
              <a:rPr lang="en-US" sz="2600" b="1" dirty="0">
                <a:latin typeface="Calibir"/>
              </a:rPr>
              <a:t>Question 1</a:t>
            </a:r>
          </a:p>
          <a:p>
            <a:pPr fontAlgn="base"/>
            <a:r>
              <a:rPr lang="en-US" sz="2600" dirty="0">
                <a:latin typeface="Calibir"/>
              </a:rPr>
              <a:t>Should </a:t>
            </a:r>
            <a:r>
              <a:rPr lang="en-US" sz="2600" dirty="0" err="1">
                <a:latin typeface="Calibir"/>
              </a:rPr>
              <a:t>changePassword</a:t>
            </a:r>
            <a:r>
              <a:rPr lang="en-US" sz="2600" dirty="0">
                <a:latin typeface="Calibir"/>
              </a:rPr>
              <a:t> method live in Student (self-management of credentials) or in </a:t>
            </a:r>
            <a:r>
              <a:rPr lang="en-US" sz="2600" dirty="0" err="1">
                <a:latin typeface="Calibir"/>
              </a:rPr>
              <a:t>AuthService</a:t>
            </a:r>
            <a:r>
              <a:rPr lang="en-US" sz="2600" dirty="0">
                <a:latin typeface="Calibir"/>
              </a:rPr>
              <a:t> (relates to security concern)? Would placing it in both classes be acceptable, or is that redundant for this assignment?</a:t>
            </a:r>
          </a:p>
          <a:p>
            <a:pPr fontAlgn="base"/>
            <a:endParaRPr lang="en-US" sz="2600" dirty="0">
              <a:latin typeface="Calibir"/>
            </a:endParaRPr>
          </a:p>
          <a:p>
            <a:pPr fontAlgn="base"/>
            <a:r>
              <a:rPr lang="en-US" sz="2600" b="1" dirty="0">
                <a:latin typeface="Calibir"/>
              </a:rPr>
              <a:t>Question 2</a:t>
            </a:r>
            <a:br>
              <a:rPr lang="en-US" sz="2600" dirty="0">
                <a:latin typeface="Calibir"/>
              </a:rPr>
            </a:br>
            <a:r>
              <a:rPr lang="en-US" sz="2600" dirty="0">
                <a:latin typeface="Calibir"/>
              </a:rPr>
              <a:t>marks and grades seem to belong to the Student–Subject relationship. would it be acceptable to make an association class (such as Enrolment) to model this relationship? Or should we keep the mark and grade attributes inside the Subject class?</a:t>
            </a:r>
          </a:p>
          <a:p>
            <a:pPr fontAlgn="base"/>
            <a:endParaRPr lang="en-US" sz="2600" dirty="0">
              <a:latin typeface="Calibir"/>
            </a:endParaRPr>
          </a:p>
          <a:p>
            <a:pPr fontAlgn="base"/>
            <a:r>
              <a:rPr lang="en-US" sz="2600" b="1" dirty="0">
                <a:latin typeface="Calibir"/>
              </a:rPr>
              <a:t>Question 3</a:t>
            </a:r>
            <a:br>
              <a:rPr lang="en-US" sz="2600" dirty="0">
                <a:latin typeface="Calibir"/>
              </a:rPr>
            </a:br>
            <a:r>
              <a:rPr lang="en-US" sz="2600" dirty="0">
                <a:latin typeface="Calibir"/>
              </a:rPr>
              <a:t>And also, some examples add a separate utility class to centralize </a:t>
            </a:r>
            <a:r>
              <a:rPr lang="en-US" sz="2600" dirty="0" err="1">
                <a:latin typeface="Calibir"/>
              </a:rPr>
              <a:t>validateEmail</a:t>
            </a:r>
            <a:r>
              <a:rPr lang="en-US" sz="2600" dirty="0">
                <a:latin typeface="Calibir"/>
              </a:rPr>
              <a:t>, </a:t>
            </a:r>
            <a:r>
              <a:rPr lang="en-US" sz="2600" dirty="0" err="1">
                <a:latin typeface="Calibir"/>
              </a:rPr>
              <a:t>validatePassword</a:t>
            </a:r>
            <a:r>
              <a:rPr lang="en-US" sz="2600" dirty="0">
                <a:latin typeface="Calibir"/>
              </a:rPr>
              <a:t>, and </a:t>
            </a:r>
            <a:r>
              <a:rPr lang="en-US" sz="2600" dirty="0" err="1">
                <a:latin typeface="Calibir"/>
              </a:rPr>
              <a:t>generateStudentId</a:t>
            </a:r>
            <a:r>
              <a:rPr lang="en-US" sz="2600" dirty="0">
                <a:latin typeface="Calibir"/>
              </a:rPr>
              <a:t>. Would adding such a class be appropriate, or would you prefer we keep these functions inside the existing five classes?</a:t>
            </a:r>
          </a:p>
        </p:txBody>
      </p:sp>
    </p:spTree>
    <p:extLst>
      <p:ext uri="{BB962C8B-B14F-4D97-AF65-F5344CB8AC3E}">
        <p14:creationId xmlns:p14="http://schemas.microsoft.com/office/powerpoint/2010/main" val="34670567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C2445-1FAA-86BA-1E4A-4B37829E0B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90FF3E-29FF-E268-430C-355E06A71EC1}"/>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Class Diagram Design Clarifications</a:t>
            </a:r>
            <a:endParaRPr lang="en-AU" sz="4000" b="1" dirty="0">
              <a:latin typeface="Calibir"/>
            </a:endParaRPr>
          </a:p>
        </p:txBody>
      </p:sp>
      <p:sp>
        <p:nvSpPr>
          <p:cNvPr id="4" name="TextBox 3">
            <a:extLst>
              <a:ext uri="{FF2B5EF4-FFF2-40B4-BE49-F238E27FC236}">
                <a16:creationId xmlns:a16="http://schemas.microsoft.com/office/drawing/2014/main" id="{575B5670-0575-924B-24D7-AB5BCA840045}"/>
              </a:ext>
            </a:extLst>
          </p:cNvPr>
          <p:cNvSpPr txBox="1"/>
          <p:nvPr/>
        </p:nvSpPr>
        <p:spPr>
          <a:xfrm>
            <a:off x="0" y="698901"/>
            <a:ext cx="11965258" cy="4832092"/>
          </a:xfrm>
          <a:prstGeom prst="rect">
            <a:avLst/>
          </a:prstGeom>
          <a:noFill/>
        </p:spPr>
        <p:txBody>
          <a:bodyPr wrap="square">
            <a:spAutoFit/>
          </a:bodyPr>
          <a:lstStyle/>
          <a:p>
            <a:pPr fontAlgn="base"/>
            <a:r>
              <a:rPr lang="en-US" sz="2800" b="1" dirty="0">
                <a:latin typeface="Calibir"/>
              </a:rPr>
              <a:t>Question 4</a:t>
            </a:r>
          </a:p>
          <a:p>
            <a:pPr fontAlgn="base"/>
            <a:r>
              <a:rPr lang="en-US" sz="2800" dirty="0">
                <a:latin typeface="Calibir"/>
              </a:rPr>
              <a:t>For Admin class, should we include attributes such as </a:t>
            </a:r>
            <a:r>
              <a:rPr lang="en-US" sz="2800" dirty="0" err="1">
                <a:latin typeface="Calibir"/>
              </a:rPr>
              <a:t>adminId</a:t>
            </a:r>
            <a:r>
              <a:rPr lang="en-US" sz="2800" dirty="0">
                <a:latin typeface="Calibir"/>
              </a:rPr>
              <a:t> or name, email (treating Admin as a real user), or is it sufficient for Admin to expose only management functions (e.g., list students, delete student, view grades)? I’m not entirely sure, but in a previous lab (Bank System), I didn’t model an Admin login, so I wanted to clarify it. </a:t>
            </a:r>
          </a:p>
          <a:p>
            <a:pPr fontAlgn="base"/>
            <a:br>
              <a:rPr lang="en-US" sz="2800" dirty="0">
                <a:latin typeface="Calibir"/>
              </a:rPr>
            </a:br>
            <a:endParaRPr lang="en-US" sz="2800" dirty="0">
              <a:latin typeface="Calibir"/>
            </a:endParaRPr>
          </a:p>
          <a:p>
            <a:pPr fontAlgn="base"/>
            <a:r>
              <a:rPr lang="en-US" sz="2800" dirty="0">
                <a:latin typeface="Calibir"/>
              </a:rPr>
              <a:t>Since this is our first time working on analysis and design of development process, we may find some parts challenging and might make a few mistakes along the way. We kindly ask for your understanding. Thank you so much!</a:t>
            </a:r>
          </a:p>
        </p:txBody>
      </p:sp>
    </p:spTree>
    <p:extLst>
      <p:ext uri="{BB962C8B-B14F-4D97-AF65-F5344CB8AC3E}">
        <p14:creationId xmlns:p14="http://schemas.microsoft.com/office/powerpoint/2010/main" val="95474496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0A396-315C-F901-2727-6F72CDE716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DDA5E0-D463-B995-6F15-F3019048212F}"/>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Class Diagram Design Clarifications</a:t>
            </a:r>
            <a:endParaRPr lang="en-AU" sz="4000" b="1" dirty="0">
              <a:latin typeface="Calibir"/>
            </a:endParaRPr>
          </a:p>
        </p:txBody>
      </p:sp>
      <p:sp>
        <p:nvSpPr>
          <p:cNvPr id="4" name="TextBox 3">
            <a:extLst>
              <a:ext uri="{FF2B5EF4-FFF2-40B4-BE49-F238E27FC236}">
                <a16:creationId xmlns:a16="http://schemas.microsoft.com/office/drawing/2014/main" id="{28DC90F1-E324-3D49-A590-731B1BFAB77E}"/>
              </a:ext>
            </a:extLst>
          </p:cNvPr>
          <p:cNvSpPr txBox="1"/>
          <p:nvPr/>
        </p:nvSpPr>
        <p:spPr>
          <a:xfrm>
            <a:off x="0" y="698901"/>
            <a:ext cx="11965258" cy="5842497"/>
          </a:xfrm>
          <a:prstGeom prst="rect">
            <a:avLst/>
          </a:prstGeom>
          <a:noFill/>
        </p:spPr>
        <p:txBody>
          <a:bodyPr wrap="square">
            <a:spAutoFit/>
          </a:bodyPr>
          <a:lstStyle/>
          <a:p>
            <a:pPr>
              <a:lnSpc>
                <a:spcPct val="150000"/>
              </a:lnSpc>
            </a:pPr>
            <a:r>
              <a:rPr lang="en-US" sz="2800" dirty="0">
                <a:latin typeface="Calibir"/>
              </a:rPr>
              <a:t>Dear students,</a:t>
            </a:r>
          </a:p>
          <a:p>
            <a:pPr>
              <a:lnSpc>
                <a:spcPct val="150000"/>
              </a:lnSpc>
            </a:pPr>
            <a:r>
              <a:rPr lang="en-US" sz="2800" dirty="0">
                <a:latin typeface="Calibir"/>
              </a:rPr>
              <a:t>Thank you for sharing your thoughtful draft and questions. It’s great to see your group working carefully on the design. Please find clarifications below:</a:t>
            </a:r>
          </a:p>
          <a:p>
            <a:pPr>
              <a:lnSpc>
                <a:spcPct val="150000"/>
              </a:lnSpc>
            </a:pPr>
            <a:r>
              <a:rPr lang="en-US" sz="2800" b="1" dirty="0">
                <a:latin typeface="Calibir"/>
              </a:rPr>
              <a:t>Q1. </a:t>
            </a:r>
            <a:r>
              <a:rPr lang="en-US" sz="2800" b="1" dirty="0" err="1">
                <a:latin typeface="Calibir"/>
              </a:rPr>
              <a:t>changePassword</a:t>
            </a:r>
            <a:r>
              <a:rPr lang="en-US" sz="2800" b="1" dirty="0">
                <a:latin typeface="Calibir"/>
              </a:rPr>
              <a:t> – Student vs </a:t>
            </a:r>
            <a:r>
              <a:rPr lang="en-US" sz="2800" b="1" dirty="0" err="1">
                <a:latin typeface="Calibir"/>
              </a:rPr>
              <a:t>AuthService</a:t>
            </a:r>
            <a:endParaRPr lang="en-US" sz="2800" dirty="0">
              <a:latin typeface="Calibir"/>
            </a:endParaRPr>
          </a:p>
          <a:p>
            <a:pPr marL="811213" indent="-457200">
              <a:lnSpc>
                <a:spcPct val="150000"/>
              </a:lnSpc>
              <a:buFont typeface="Arial" panose="020B0604020202020204" pitchFamily="34" charset="0"/>
              <a:buChar char="•"/>
            </a:pPr>
            <a:r>
              <a:rPr lang="en-US" sz="2800" dirty="0">
                <a:latin typeface="Calibir"/>
              </a:rPr>
              <a:t>For this assignment, it is acceptable to place </a:t>
            </a:r>
            <a:r>
              <a:rPr lang="en-US" sz="2800" dirty="0" err="1">
                <a:latin typeface="Calibir"/>
              </a:rPr>
              <a:t>changePassword</a:t>
            </a:r>
            <a:r>
              <a:rPr lang="en-US" sz="2800" dirty="0">
                <a:latin typeface="Calibir"/>
              </a:rPr>
              <a:t> inside </a:t>
            </a:r>
            <a:r>
              <a:rPr lang="en-US" sz="2800" dirty="0" err="1">
                <a:latin typeface="Calibir"/>
              </a:rPr>
              <a:t>AuthService</a:t>
            </a:r>
            <a:r>
              <a:rPr lang="en-US" sz="2800" dirty="0">
                <a:latin typeface="Calibir"/>
              </a:rPr>
              <a:t>, since it relates to authentication/security logic.</a:t>
            </a:r>
          </a:p>
          <a:p>
            <a:pPr marL="811213" indent="-457200">
              <a:lnSpc>
                <a:spcPct val="150000"/>
              </a:lnSpc>
              <a:buFont typeface="Arial" panose="020B0604020202020204" pitchFamily="34" charset="0"/>
              <a:buChar char="•"/>
            </a:pPr>
            <a:r>
              <a:rPr lang="en-US" sz="2800" dirty="0">
                <a:latin typeface="Calibir"/>
              </a:rPr>
              <a:t>If you also show it inside Student as a self-operation, that may be seen as redundant. To keep your diagram clean and consistent, I recommend placing it in </a:t>
            </a:r>
            <a:r>
              <a:rPr lang="en-US" sz="2800" dirty="0" err="1">
                <a:latin typeface="Calibir"/>
              </a:rPr>
              <a:t>AuthService</a:t>
            </a:r>
            <a:r>
              <a:rPr lang="en-US" sz="2800" dirty="0">
                <a:latin typeface="Calibir"/>
              </a:rPr>
              <a:t> only.</a:t>
            </a:r>
          </a:p>
        </p:txBody>
      </p:sp>
    </p:spTree>
    <p:extLst>
      <p:ext uri="{BB962C8B-B14F-4D97-AF65-F5344CB8AC3E}">
        <p14:creationId xmlns:p14="http://schemas.microsoft.com/office/powerpoint/2010/main" val="71749071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AB2A0-0EC8-D457-BB6A-C972C7723E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759B5F-154F-22B2-95C4-FAF8F0724E95}"/>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Class Diagram Design Clarifications</a:t>
            </a:r>
            <a:endParaRPr lang="en-AU" sz="4000" b="1" dirty="0">
              <a:latin typeface="Calibir"/>
            </a:endParaRPr>
          </a:p>
        </p:txBody>
      </p:sp>
      <p:sp>
        <p:nvSpPr>
          <p:cNvPr id="4" name="TextBox 3">
            <a:extLst>
              <a:ext uri="{FF2B5EF4-FFF2-40B4-BE49-F238E27FC236}">
                <a16:creationId xmlns:a16="http://schemas.microsoft.com/office/drawing/2014/main" id="{603B4D15-04CF-4FA8-33AE-E183BDC612EF}"/>
              </a:ext>
            </a:extLst>
          </p:cNvPr>
          <p:cNvSpPr txBox="1"/>
          <p:nvPr/>
        </p:nvSpPr>
        <p:spPr>
          <a:xfrm>
            <a:off x="0" y="698901"/>
            <a:ext cx="11965258" cy="5196166"/>
          </a:xfrm>
          <a:prstGeom prst="rect">
            <a:avLst/>
          </a:prstGeom>
          <a:noFill/>
        </p:spPr>
        <p:txBody>
          <a:bodyPr wrap="square">
            <a:spAutoFit/>
          </a:bodyPr>
          <a:lstStyle/>
          <a:p>
            <a:pPr>
              <a:lnSpc>
                <a:spcPct val="150000"/>
              </a:lnSpc>
            </a:pPr>
            <a:r>
              <a:rPr lang="en-US" sz="2800" b="1" dirty="0">
                <a:latin typeface="Calibir"/>
              </a:rPr>
              <a:t>Q2. Marks/Grades – association class vs Subject</a:t>
            </a:r>
            <a:endParaRPr lang="en-US" sz="2800" dirty="0">
              <a:latin typeface="Calibir"/>
            </a:endParaRPr>
          </a:p>
          <a:p>
            <a:pPr marL="722313" indent="-457200">
              <a:lnSpc>
                <a:spcPct val="150000"/>
              </a:lnSpc>
              <a:buFont typeface="Arial" panose="020B0604020202020204" pitchFamily="34" charset="0"/>
              <a:buChar char="•"/>
            </a:pPr>
            <a:r>
              <a:rPr lang="en-US" sz="2800" dirty="0">
                <a:latin typeface="Calibir"/>
              </a:rPr>
              <a:t>You are right: marks and grades belong to the enrolment relationship (Student ↔ Subject), not inside Subject itself.</a:t>
            </a:r>
          </a:p>
          <a:p>
            <a:pPr marL="722313" indent="-457200">
              <a:lnSpc>
                <a:spcPct val="150000"/>
              </a:lnSpc>
              <a:buFont typeface="Arial" panose="020B0604020202020204" pitchFamily="34" charset="0"/>
              <a:buChar char="•"/>
            </a:pPr>
            <a:r>
              <a:rPr lang="en-US" sz="2800" dirty="0">
                <a:latin typeface="Calibir"/>
              </a:rPr>
              <a:t>If you want to be precise, you may introduce an association class (Enrolment) that holds mark and grade.</a:t>
            </a:r>
          </a:p>
          <a:p>
            <a:pPr marL="722313" indent="-457200">
              <a:lnSpc>
                <a:spcPct val="150000"/>
              </a:lnSpc>
              <a:buFont typeface="Arial" panose="020B0604020202020204" pitchFamily="34" charset="0"/>
              <a:buChar char="•"/>
            </a:pPr>
            <a:r>
              <a:rPr lang="en-US" sz="2800" dirty="0">
                <a:latin typeface="Calibir"/>
              </a:rPr>
              <a:t>Alternatively, you can store them as part of the Student’s enrolment map (Student → Subject + mark/grade). Either is acceptable, but avoid putting mark and grade directly inside Subject.</a:t>
            </a:r>
          </a:p>
        </p:txBody>
      </p:sp>
    </p:spTree>
    <p:extLst>
      <p:ext uri="{BB962C8B-B14F-4D97-AF65-F5344CB8AC3E}">
        <p14:creationId xmlns:p14="http://schemas.microsoft.com/office/powerpoint/2010/main" val="33040950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AE097-8458-0152-E321-43607158C8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4AB6E1-A50B-70E5-A660-DFC181A8EB35}"/>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Class Diagram Design Clarifications</a:t>
            </a:r>
            <a:endParaRPr lang="en-AU" sz="4000" b="1" dirty="0">
              <a:latin typeface="Calibir"/>
            </a:endParaRPr>
          </a:p>
        </p:txBody>
      </p:sp>
      <p:sp>
        <p:nvSpPr>
          <p:cNvPr id="4" name="TextBox 3">
            <a:extLst>
              <a:ext uri="{FF2B5EF4-FFF2-40B4-BE49-F238E27FC236}">
                <a16:creationId xmlns:a16="http://schemas.microsoft.com/office/drawing/2014/main" id="{EC9C598A-96D1-82F7-F717-5AED505E82CE}"/>
              </a:ext>
            </a:extLst>
          </p:cNvPr>
          <p:cNvSpPr txBox="1"/>
          <p:nvPr/>
        </p:nvSpPr>
        <p:spPr>
          <a:xfrm>
            <a:off x="0" y="698901"/>
            <a:ext cx="11965258" cy="5842497"/>
          </a:xfrm>
          <a:prstGeom prst="rect">
            <a:avLst/>
          </a:prstGeom>
          <a:noFill/>
        </p:spPr>
        <p:txBody>
          <a:bodyPr wrap="square">
            <a:spAutoFit/>
          </a:bodyPr>
          <a:lstStyle/>
          <a:p>
            <a:pPr>
              <a:lnSpc>
                <a:spcPct val="150000"/>
              </a:lnSpc>
            </a:pPr>
            <a:r>
              <a:rPr lang="en-US" sz="2800" b="1" dirty="0">
                <a:latin typeface="Calibir"/>
              </a:rPr>
              <a:t>Q3. Utility class for validation/ID generation</a:t>
            </a:r>
            <a:endParaRPr lang="en-US" sz="2800" dirty="0">
              <a:latin typeface="Calibir"/>
            </a:endParaRPr>
          </a:p>
          <a:p>
            <a:pPr marL="722313" indent="-457200">
              <a:lnSpc>
                <a:spcPct val="150000"/>
              </a:lnSpc>
              <a:buFont typeface="Arial" panose="020B0604020202020204" pitchFamily="34" charset="0"/>
              <a:buChar char="•"/>
            </a:pPr>
            <a:r>
              <a:rPr lang="en-US" sz="2800" dirty="0">
                <a:latin typeface="Calibir"/>
              </a:rPr>
              <a:t>Adding a utility/helper class (e.g., Validator or </a:t>
            </a:r>
            <a:r>
              <a:rPr lang="en-US" sz="2800" dirty="0" err="1">
                <a:latin typeface="Calibir"/>
              </a:rPr>
              <a:t>IdGenerator</a:t>
            </a:r>
            <a:r>
              <a:rPr lang="en-US" sz="2800" dirty="0">
                <a:latin typeface="Calibir"/>
              </a:rPr>
              <a:t>) is fine in real-world systems.</a:t>
            </a:r>
          </a:p>
          <a:p>
            <a:pPr marL="722313" indent="-457200">
              <a:lnSpc>
                <a:spcPct val="150000"/>
              </a:lnSpc>
              <a:buFont typeface="Arial" panose="020B0604020202020204" pitchFamily="34" charset="0"/>
              <a:buChar char="•"/>
            </a:pPr>
            <a:r>
              <a:rPr lang="en-US" sz="2800" dirty="0">
                <a:latin typeface="Calibir"/>
              </a:rPr>
              <a:t>For this assignment, it is simpler to keep </a:t>
            </a:r>
            <a:r>
              <a:rPr lang="en-US" sz="2800" dirty="0" err="1">
                <a:latin typeface="Calibir"/>
              </a:rPr>
              <a:t>validateEmail</a:t>
            </a:r>
            <a:r>
              <a:rPr lang="en-US" sz="2800" dirty="0">
                <a:latin typeface="Calibir"/>
              </a:rPr>
              <a:t>, </a:t>
            </a:r>
            <a:r>
              <a:rPr lang="en-US" sz="2800" dirty="0" err="1">
                <a:latin typeface="Calibir"/>
              </a:rPr>
              <a:t>validatePassword</a:t>
            </a:r>
            <a:r>
              <a:rPr lang="en-US" sz="2800" dirty="0">
                <a:latin typeface="Calibir"/>
              </a:rPr>
              <a:t>, and </a:t>
            </a:r>
            <a:r>
              <a:rPr lang="en-US" sz="2800" dirty="0" err="1">
                <a:latin typeface="Calibir"/>
              </a:rPr>
              <a:t>generateStudentId</a:t>
            </a:r>
            <a:r>
              <a:rPr lang="en-US" sz="2800" dirty="0">
                <a:latin typeface="Calibir"/>
              </a:rPr>
              <a:t> inside </a:t>
            </a:r>
            <a:r>
              <a:rPr lang="en-US" sz="2800" dirty="0" err="1">
                <a:latin typeface="Calibir"/>
              </a:rPr>
              <a:t>AuthService</a:t>
            </a:r>
            <a:r>
              <a:rPr lang="en-US" sz="2800" dirty="0">
                <a:latin typeface="Calibir"/>
              </a:rPr>
              <a:t> (since that class already handles registration/login).</a:t>
            </a:r>
          </a:p>
          <a:p>
            <a:pPr marL="722313" indent="-457200">
              <a:lnSpc>
                <a:spcPct val="150000"/>
              </a:lnSpc>
              <a:buFont typeface="Arial" panose="020B0604020202020204" pitchFamily="34" charset="0"/>
              <a:buChar char="•"/>
            </a:pPr>
            <a:r>
              <a:rPr lang="en-US" sz="2800" dirty="0">
                <a:latin typeface="Calibir"/>
              </a:rPr>
              <a:t>You don’t lose marks either way, but sticking to the 5 main classes (Student, Subject, </a:t>
            </a:r>
            <a:r>
              <a:rPr lang="en-US" sz="2800" dirty="0" err="1">
                <a:latin typeface="Calibir"/>
              </a:rPr>
              <a:t>AuthService</a:t>
            </a:r>
            <a:r>
              <a:rPr lang="en-US" sz="2800" dirty="0">
                <a:latin typeface="Calibir"/>
              </a:rPr>
              <a:t>, </a:t>
            </a:r>
            <a:r>
              <a:rPr lang="en-US" sz="2800" dirty="0" err="1">
                <a:latin typeface="Calibir"/>
              </a:rPr>
              <a:t>DataStore</a:t>
            </a:r>
            <a:r>
              <a:rPr lang="en-US" sz="2800" dirty="0">
                <a:latin typeface="Calibir"/>
              </a:rPr>
              <a:t>, Admin) keeps your diagram consistent with the brief.</a:t>
            </a:r>
          </a:p>
        </p:txBody>
      </p:sp>
    </p:spTree>
    <p:extLst>
      <p:ext uri="{BB962C8B-B14F-4D97-AF65-F5344CB8AC3E}">
        <p14:creationId xmlns:p14="http://schemas.microsoft.com/office/powerpoint/2010/main" val="207873932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0EA14-94D3-881E-FF01-C2B8B2332D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63ECD1-F3AA-F1FC-D4A0-F625EF797E28}"/>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Class Diagram Design Clarifications</a:t>
            </a:r>
            <a:endParaRPr lang="en-AU" sz="4000" b="1" dirty="0">
              <a:latin typeface="Calibir"/>
            </a:endParaRPr>
          </a:p>
        </p:txBody>
      </p:sp>
      <p:sp>
        <p:nvSpPr>
          <p:cNvPr id="4" name="TextBox 3">
            <a:extLst>
              <a:ext uri="{FF2B5EF4-FFF2-40B4-BE49-F238E27FC236}">
                <a16:creationId xmlns:a16="http://schemas.microsoft.com/office/drawing/2014/main" id="{9870D00E-37AE-053D-0D41-FDE96AD3FE13}"/>
              </a:ext>
            </a:extLst>
          </p:cNvPr>
          <p:cNvSpPr txBox="1"/>
          <p:nvPr/>
        </p:nvSpPr>
        <p:spPr>
          <a:xfrm>
            <a:off x="0" y="698901"/>
            <a:ext cx="11965258" cy="4549835"/>
          </a:xfrm>
          <a:prstGeom prst="rect">
            <a:avLst/>
          </a:prstGeom>
          <a:noFill/>
        </p:spPr>
        <p:txBody>
          <a:bodyPr wrap="square">
            <a:spAutoFit/>
          </a:bodyPr>
          <a:lstStyle/>
          <a:p>
            <a:pPr>
              <a:lnSpc>
                <a:spcPct val="150000"/>
              </a:lnSpc>
            </a:pPr>
            <a:r>
              <a:rPr lang="en-US" sz="2800" b="1" dirty="0">
                <a:latin typeface="Calibir"/>
              </a:rPr>
              <a:t>Q4. Admin class attributes</a:t>
            </a:r>
            <a:endParaRPr lang="en-US" sz="2800" dirty="0">
              <a:latin typeface="Calibir"/>
            </a:endParaRPr>
          </a:p>
          <a:p>
            <a:pPr marL="811213" indent="-457200">
              <a:lnSpc>
                <a:spcPct val="150000"/>
              </a:lnSpc>
              <a:buFont typeface="Arial" panose="020B0604020202020204" pitchFamily="34" charset="0"/>
              <a:buChar char="•"/>
            </a:pPr>
            <a:r>
              <a:rPr lang="en-US" sz="2800" dirty="0">
                <a:latin typeface="Calibir"/>
              </a:rPr>
              <a:t>In this assignment, Admins don’t need registration or login (they are predefined).</a:t>
            </a:r>
          </a:p>
          <a:p>
            <a:pPr marL="811213" indent="-457200">
              <a:lnSpc>
                <a:spcPct val="150000"/>
              </a:lnSpc>
              <a:buFont typeface="Arial" panose="020B0604020202020204" pitchFamily="34" charset="0"/>
              <a:buChar char="•"/>
            </a:pPr>
            <a:r>
              <a:rPr lang="en-US" sz="2800" dirty="0">
                <a:latin typeface="Calibir"/>
              </a:rPr>
              <a:t>So you don’t need to add </a:t>
            </a:r>
            <a:r>
              <a:rPr lang="en-US" sz="2800" dirty="0" err="1">
                <a:latin typeface="Calibir"/>
              </a:rPr>
              <a:t>adminId</a:t>
            </a:r>
            <a:r>
              <a:rPr lang="en-US" sz="2800" dirty="0">
                <a:latin typeface="Calibir"/>
              </a:rPr>
              <a:t>, email, or password as attributes.</a:t>
            </a:r>
          </a:p>
          <a:p>
            <a:pPr marL="811213" indent="-457200">
              <a:lnSpc>
                <a:spcPct val="150000"/>
              </a:lnSpc>
              <a:buFont typeface="Arial" panose="020B0604020202020204" pitchFamily="34" charset="0"/>
              <a:buChar char="•"/>
            </a:pPr>
            <a:r>
              <a:rPr lang="en-US" sz="2800" dirty="0">
                <a:latin typeface="Calibir"/>
              </a:rPr>
              <a:t>It is sufficient for Admin to only expose the required management operations (</a:t>
            </a:r>
            <a:r>
              <a:rPr lang="en-US" sz="2800" dirty="0" err="1">
                <a:latin typeface="Calibir"/>
              </a:rPr>
              <a:t>listStudents</a:t>
            </a:r>
            <a:r>
              <a:rPr lang="en-US" sz="2800" dirty="0">
                <a:latin typeface="Calibir"/>
              </a:rPr>
              <a:t>, </a:t>
            </a:r>
            <a:r>
              <a:rPr lang="en-US" sz="2800" dirty="0" err="1">
                <a:latin typeface="Calibir"/>
              </a:rPr>
              <a:t>deleteStudent</a:t>
            </a:r>
            <a:r>
              <a:rPr lang="en-US" sz="2800" dirty="0">
                <a:latin typeface="Calibir"/>
              </a:rPr>
              <a:t>, </a:t>
            </a:r>
            <a:r>
              <a:rPr lang="en-US" sz="2800" dirty="0" err="1">
                <a:latin typeface="Calibir"/>
              </a:rPr>
              <a:t>viewGrades</a:t>
            </a:r>
            <a:r>
              <a:rPr lang="en-US" sz="2800" dirty="0">
                <a:latin typeface="Calibir"/>
              </a:rPr>
              <a:t>, </a:t>
            </a:r>
            <a:r>
              <a:rPr lang="en-US" sz="2800" dirty="0" err="1">
                <a:latin typeface="Calibir"/>
              </a:rPr>
              <a:t>clearData</a:t>
            </a:r>
            <a:r>
              <a:rPr lang="en-US" sz="2800" dirty="0">
                <a:latin typeface="Calibir"/>
              </a:rPr>
              <a:t>, etc.).</a:t>
            </a:r>
          </a:p>
          <a:p>
            <a:pPr marL="811213" indent="-457200">
              <a:lnSpc>
                <a:spcPct val="150000"/>
              </a:lnSpc>
              <a:buFont typeface="Arial" panose="020B0604020202020204" pitchFamily="34" charset="0"/>
              <a:buChar char="•"/>
            </a:pPr>
            <a:r>
              <a:rPr lang="en-US" sz="2800" dirty="0">
                <a:latin typeface="Calibir"/>
              </a:rPr>
              <a:t>Treat Admin as a role/facade, not as a full user entity like Student.</a:t>
            </a:r>
          </a:p>
        </p:txBody>
      </p:sp>
    </p:spTree>
    <p:extLst>
      <p:ext uri="{BB962C8B-B14F-4D97-AF65-F5344CB8AC3E}">
        <p14:creationId xmlns:p14="http://schemas.microsoft.com/office/powerpoint/2010/main" val="41267339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9C744-FF10-B75E-1E49-F799D57756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28C437-AD62-03A5-C747-55C8B7A06463}"/>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Class Diagram Design Clarifications</a:t>
            </a:r>
            <a:endParaRPr lang="en-AU" sz="4000" b="1" dirty="0">
              <a:latin typeface="Calibir"/>
            </a:endParaRPr>
          </a:p>
        </p:txBody>
      </p:sp>
      <p:sp>
        <p:nvSpPr>
          <p:cNvPr id="4" name="TextBox 3">
            <a:extLst>
              <a:ext uri="{FF2B5EF4-FFF2-40B4-BE49-F238E27FC236}">
                <a16:creationId xmlns:a16="http://schemas.microsoft.com/office/drawing/2014/main" id="{C702D0F0-6969-432C-1505-36B49689BFBF}"/>
              </a:ext>
            </a:extLst>
          </p:cNvPr>
          <p:cNvSpPr txBox="1"/>
          <p:nvPr/>
        </p:nvSpPr>
        <p:spPr>
          <a:xfrm>
            <a:off x="0" y="521920"/>
            <a:ext cx="11965258" cy="6488828"/>
          </a:xfrm>
          <a:prstGeom prst="rect">
            <a:avLst/>
          </a:prstGeom>
          <a:noFill/>
        </p:spPr>
        <p:txBody>
          <a:bodyPr wrap="square">
            <a:spAutoFit/>
          </a:bodyPr>
          <a:lstStyle/>
          <a:p>
            <a:pPr>
              <a:lnSpc>
                <a:spcPct val="150000"/>
              </a:lnSpc>
            </a:pPr>
            <a:r>
              <a:rPr lang="en-US" sz="2800" b="1" dirty="0">
                <a:latin typeface="Calibir"/>
              </a:rPr>
              <a:t>Key takeaway:</a:t>
            </a:r>
            <a:br>
              <a:rPr lang="en-US" sz="2800" dirty="0">
                <a:latin typeface="Calibir"/>
              </a:rPr>
            </a:br>
            <a:r>
              <a:rPr lang="en-US" sz="2800" dirty="0">
                <a:latin typeface="Calibir"/>
              </a:rPr>
              <a:t>Keep your class diagram simple and aligned with the assignment brief. Stick with the five main classes, place </a:t>
            </a:r>
            <a:r>
              <a:rPr lang="en-US" sz="2800" dirty="0" err="1">
                <a:latin typeface="Calibir"/>
              </a:rPr>
              <a:t>changePassword</a:t>
            </a:r>
            <a:r>
              <a:rPr lang="en-US" sz="2800" dirty="0">
                <a:latin typeface="Calibir"/>
              </a:rPr>
              <a:t> in </a:t>
            </a:r>
            <a:r>
              <a:rPr lang="en-US" sz="2800" dirty="0" err="1">
                <a:latin typeface="Calibir"/>
              </a:rPr>
              <a:t>AuthService</a:t>
            </a:r>
            <a:r>
              <a:rPr lang="en-US" sz="2800" dirty="0">
                <a:latin typeface="Calibir"/>
              </a:rPr>
              <a:t>, model marks/grades in the Student–Subject relationship (not Subject directly), keep validation logic in </a:t>
            </a:r>
            <a:r>
              <a:rPr lang="en-US" sz="2800" dirty="0" err="1">
                <a:latin typeface="Calibir"/>
              </a:rPr>
              <a:t>AuthService</a:t>
            </a:r>
            <a:r>
              <a:rPr lang="en-US" sz="2800" dirty="0">
                <a:latin typeface="Calibir"/>
              </a:rPr>
              <a:t>, and treat Admin as an operations role only.</a:t>
            </a:r>
          </a:p>
          <a:p>
            <a:pPr>
              <a:lnSpc>
                <a:spcPct val="150000"/>
              </a:lnSpc>
            </a:pPr>
            <a:r>
              <a:rPr lang="en-US" sz="2800" dirty="0">
                <a:latin typeface="Calibir"/>
              </a:rPr>
              <a:t>You’re on the right track — very good progress so far. Don’t worry about overcomplicating the design; clarity and alignment with requirements are what matter most.</a:t>
            </a:r>
          </a:p>
          <a:p>
            <a:pPr>
              <a:lnSpc>
                <a:spcPct val="150000"/>
              </a:lnSpc>
            </a:pPr>
            <a:r>
              <a:rPr lang="en-US" sz="2800" dirty="0">
                <a:latin typeface="Calibir"/>
              </a:rPr>
              <a:t>Best regards,</a:t>
            </a:r>
            <a:br>
              <a:rPr lang="en-US" sz="2800" dirty="0">
                <a:latin typeface="Calibir"/>
              </a:rPr>
            </a:br>
            <a:r>
              <a:rPr lang="en-US" sz="2800" dirty="0">
                <a:latin typeface="Calibir"/>
              </a:rPr>
              <a:t>Dr. Farshid Keivanian</a:t>
            </a:r>
          </a:p>
        </p:txBody>
      </p:sp>
    </p:spTree>
    <p:extLst>
      <p:ext uri="{BB962C8B-B14F-4D97-AF65-F5344CB8AC3E}">
        <p14:creationId xmlns:p14="http://schemas.microsoft.com/office/powerpoint/2010/main" val="123974592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C1886-86CC-EC27-DA58-DCC5F2274B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F4883D-C173-04C0-A21A-7E14CF8662B8}"/>
              </a:ext>
            </a:extLst>
          </p:cNvPr>
          <p:cNvSpPr>
            <a:spLocks noGrp="1"/>
          </p:cNvSpPr>
          <p:nvPr>
            <p:ph type="title"/>
          </p:nvPr>
        </p:nvSpPr>
        <p:spPr>
          <a:xfrm>
            <a:off x="0" y="0"/>
            <a:ext cx="12192000" cy="657922"/>
          </a:xfrm>
        </p:spPr>
        <p:txBody>
          <a:bodyPr anchor="b">
            <a:normAutofit/>
          </a:bodyPr>
          <a:lstStyle/>
          <a:p>
            <a:r>
              <a:rPr lang="en-US" sz="4000" dirty="0">
                <a:latin typeface="Calibir"/>
              </a:rPr>
              <a:t>Marking Scheme</a:t>
            </a:r>
            <a:endParaRPr lang="en-AU" sz="4000" b="1" dirty="0">
              <a:latin typeface="Calibir"/>
            </a:endParaRPr>
          </a:p>
        </p:txBody>
      </p:sp>
      <p:sp>
        <p:nvSpPr>
          <p:cNvPr id="4" name="TextBox 3">
            <a:extLst>
              <a:ext uri="{FF2B5EF4-FFF2-40B4-BE49-F238E27FC236}">
                <a16:creationId xmlns:a16="http://schemas.microsoft.com/office/drawing/2014/main" id="{6CDED074-DBF0-F468-751C-6E347BA70A0C}"/>
              </a:ext>
            </a:extLst>
          </p:cNvPr>
          <p:cNvSpPr txBox="1"/>
          <p:nvPr/>
        </p:nvSpPr>
        <p:spPr>
          <a:xfrm>
            <a:off x="0" y="1103972"/>
            <a:ext cx="11965258" cy="2610843"/>
          </a:xfrm>
          <a:prstGeom prst="rect">
            <a:avLst/>
          </a:prstGeom>
          <a:noFill/>
        </p:spPr>
        <p:txBody>
          <a:bodyPr wrap="square">
            <a:spAutoFit/>
          </a:bodyPr>
          <a:lstStyle/>
          <a:p>
            <a:pPr>
              <a:lnSpc>
                <a:spcPct val="150000"/>
              </a:lnSpc>
              <a:buNone/>
            </a:pPr>
            <a:r>
              <a:rPr lang="en-US" sz="2800" b="1" dirty="0">
                <a:latin typeface="Calibir"/>
              </a:rPr>
              <a:t>How You’ll Be Marked (15 marks)</a:t>
            </a:r>
            <a:endParaRPr lang="en-US" sz="2800" dirty="0">
              <a:latin typeface="Calibir"/>
            </a:endParaRPr>
          </a:p>
          <a:p>
            <a:pPr marL="914400" lvl="1" indent="-457200">
              <a:lnSpc>
                <a:spcPct val="150000"/>
              </a:lnSpc>
              <a:buFont typeface="Arial" panose="020B0604020202020204" pitchFamily="34" charset="0"/>
              <a:buChar char="•"/>
            </a:pPr>
            <a:r>
              <a:rPr lang="en-US" sz="2800" b="1" dirty="0">
                <a:latin typeface="Calibir"/>
              </a:rPr>
              <a:t>User story backlog (5)</a:t>
            </a:r>
            <a:r>
              <a:rPr lang="en-US" sz="2800" dirty="0">
                <a:latin typeface="Calibir"/>
              </a:rPr>
              <a:t> → specific, consistent, correct IDs.</a:t>
            </a:r>
          </a:p>
          <a:p>
            <a:pPr marL="914400" lvl="1" indent="-457200">
              <a:lnSpc>
                <a:spcPct val="150000"/>
              </a:lnSpc>
              <a:buFont typeface="Arial" panose="020B0604020202020204" pitchFamily="34" charset="0"/>
              <a:buChar char="•"/>
            </a:pPr>
            <a:r>
              <a:rPr lang="en-US" sz="2800" b="1" dirty="0">
                <a:latin typeface="Calibir"/>
              </a:rPr>
              <a:t>Use case diagram (5)</a:t>
            </a:r>
            <a:r>
              <a:rPr lang="en-US" sz="2800" dirty="0">
                <a:latin typeface="Calibir"/>
              </a:rPr>
              <a:t> → correct actors/relationships, labelled.</a:t>
            </a:r>
          </a:p>
          <a:p>
            <a:pPr marL="914400" lvl="1" indent="-457200">
              <a:lnSpc>
                <a:spcPct val="150000"/>
              </a:lnSpc>
              <a:buFont typeface="Arial" panose="020B0604020202020204" pitchFamily="34" charset="0"/>
              <a:buChar char="•"/>
            </a:pPr>
            <a:r>
              <a:rPr lang="en-US" sz="2800" b="1" dirty="0">
                <a:latin typeface="Calibir"/>
              </a:rPr>
              <a:t>Class diagram (5)</a:t>
            </a:r>
            <a:r>
              <a:rPr lang="en-US" sz="2800" dirty="0">
                <a:latin typeface="Calibir"/>
              </a:rPr>
              <a:t> → correct classes, fields, methods, multiplicity.</a:t>
            </a:r>
          </a:p>
        </p:txBody>
      </p:sp>
    </p:spTree>
    <p:extLst>
      <p:ext uri="{BB962C8B-B14F-4D97-AF65-F5344CB8AC3E}">
        <p14:creationId xmlns:p14="http://schemas.microsoft.com/office/powerpoint/2010/main" val="353844087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1E9E3-36E8-05C4-28B6-4FF2178A3A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F428E3-9849-6320-8D48-D5246D942F66}"/>
              </a:ext>
            </a:extLst>
          </p:cNvPr>
          <p:cNvSpPr>
            <a:spLocks noGrp="1"/>
          </p:cNvSpPr>
          <p:nvPr>
            <p:ph type="title"/>
          </p:nvPr>
        </p:nvSpPr>
        <p:spPr>
          <a:xfrm>
            <a:off x="0" y="0"/>
            <a:ext cx="12192000" cy="657922"/>
          </a:xfrm>
        </p:spPr>
        <p:txBody>
          <a:bodyPr anchor="b">
            <a:normAutofit/>
          </a:bodyPr>
          <a:lstStyle/>
          <a:p>
            <a:r>
              <a:rPr lang="en-US" sz="4000" dirty="0">
                <a:latin typeface="Calibir"/>
              </a:rPr>
              <a:t>Deliverables &amp; Contribution</a:t>
            </a:r>
            <a:endParaRPr lang="en-AU" sz="4000" b="1" dirty="0">
              <a:latin typeface="Calibir"/>
            </a:endParaRPr>
          </a:p>
        </p:txBody>
      </p:sp>
      <p:sp>
        <p:nvSpPr>
          <p:cNvPr id="4" name="TextBox 3">
            <a:extLst>
              <a:ext uri="{FF2B5EF4-FFF2-40B4-BE49-F238E27FC236}">
                <a16:creationId xmlns:a16="http://schemas.microsoft.com/office/drawing/2014/main" id="{27ECF5CA-1404-22FF-1B51-84837878ABC5}"/>
              </a:ext>
            </a:extLst>
          </p:cNvPr>
          <p:cNvSpPr txBox="1"/>
          <p:nvPr/>
        </p:nvSpPr>
        <p:spPr>
          <a:xfrm>
            <a:off x="98623" y="413416"/>
            <a:ext cx="11965258" cy="6488828"/>
          </a:xfrm>
          <a:prstGeom prst="rect">
            <a:avLst/>
          </a:prstGeom>
          <a:noFill/>
        </p:spPr>
        <p:txBody>
          <a:bodyPr wrap="square">
            <a:spAutoFit/>
          </a:bodyPr>
          <a:lstStyle/>
          <a:p>
            <a:pPr marL="914400" lvl="1" indent="-457200">
              <a:lnSpc>
                <a:spcPct val="150000"/>
              </a:lnSpc>
              <a:buFont typeface="Arial" panose="020B0604020202020204" pitchFamily="34" charset="0"/>
              <a:buChar char="•"/>
            </a:pPr>
            <a:r>
              <a:rPr lang="en-US" sz="2800" dirty="0">
                <a:latin typeface="Calibir"/>
              </a:rPr>
              <a:t>Submit one .docx or .pdf per group.</a:t>
            </a:r>
          </a:p>
          <a:p>
            <a:pPr marL="914400" lvl="1" indent="-457200">
              <a:lnSpc>
                <a:spcPct val="150000"/>
              </a:lnSpc>
              <a:buFont typeface="Arial" panose="020B0604020202020204" pitchFamily="34" charset="0"/>
              <a:buChar char="•"/>
            </a:pPr>
            <a:r>
              <a:rPr lang="en-US" sz="2800" dirty="0">
                <a:latin typeface="Calibir"/>
              </a:rPr>
              <a:t>File name: group&lt;group-number&gt;-Cmp1&lt;lab-number&gt;.docx.</a:t>
            </a:r>
          </a:p>
          <a:p>
            <a:pPr marL="914400" lvl="1" indent="-457200">
              <a:lnSpc>
                <a:spcPct val="150000"/>
              </a:lnSpc>
              <a:buFont typeface="Arial" panose="020B0604020202020204" pitchFamily="34" charset="0"/>
              <a:buChar char="•"/>
            </a:pPr>
            <a:r>
              <a:rPr lang="en-US" sz="2800" dirty="0">
                <a:latin typeface="Calibir"/>
              </a:rPr>
              <a:t>Equal contribution (</a:t>
            </a:r>
            <a:r>
              <a:rPr lang="en-US" sz="2800" dirty="0" err="1">
                <a:latin typeface="Calibir"/>
              </a:rPr>
              <a:t>Sparkplus</a:t>
            </a:r>
            <a:r>
              <a:rPr lang="en-US" sz="2800" dirty="0">
                <a:latin typeface="Calibir"/>
              </a:rPr>
              <a:t> peer rating).</a:t>
            </a:r>
          </a:p>
          <a:p>
            <a:pPr marL="914400" lvl="1" indent="-457200">
              <a:lnSpc>
                <a:spcPct val="150000"/>
              </a:lnSpc>
              <a:buFont typeface="Arial" panose="020B0604020202020204" pitchFamily="34" charset="0"/>
              <a:buChar char="•"/>
            </a:pPr>
            <a:r>
              <a:rPr lang="en-US" sz="2800" dirty="0">
                <a:latin typeface="Calibir"/>
              </a:rPr>
              <a:t>Due: Sunday, Week 7.</a:t>
            </a:r>
          </a:p>
          <a:p>
            <a:pPr marL="914400" lvl="1" indent="-457200">
              <a:lnSpc>
                <a:spcPct val="150000"/>
              </a:lnSpc>
              <a:buFont typeface="Arial" panose="020B0604020202020204" pitchFamily="34" charset="0"/>
              <a:buChar char="•"/>
            </a:pPr>
            <a:r>
              <a:rPr lang="en-US" sz="2800" dirty="0">
                <a:latin typeface="Calibir"/>
              </a:rPr>
              <a:t>Late = penalties.</a:t>
            </a:r>
          </a:p>
          <a:p>
            <a:pPr marL="914400" lvl="1" indent="-457200">
              <a:lnSpc>
                <a:spcPct val="150000"/>
              </a:lnSpc>
              <a:buFont typeface="Arial" panose="020B0604020202020204" pitchFamily="34" charset="0"/>
              <a:buChar char="•"/>
            </a:pPr>
            <a:r>
              <a:rPr lang="en-US" sz="2800" dirty="0">
                <a:latin typeface="Calibir"/>
              </a:rPr>
              <a:t>Misconduct = 0.</a:t>
            </a:r>
          </a:p>
          <a:p>
            <a:pPr>
              <a:lnSpc>
                <a:spcPct val="150000"/>
              </a:lnSpc>
              <a:buNone/>
            </a:pPr>
            <a:r>
              <a:rPr lang="en-US" sz="2800" dirty="0">
                <a:latin typeface="Calibir"/>
              </a:rPr>
              <a:t>Extra Clarification:</a:t>
            </a:r>
          </a:p>
          <a:p>
            <a:pPr marL="914400" lvl="1" indent="-457200">
              <a:lnSpc>
                <a:spcPct val="150000"/>
              </a:lnSpc>
              <a:buFont typeface="Arial" panose="020B0604020202020204" pitchFamily="34" charset="0"/>
              <a:buChar char="•"/>
            </a:pPr>
            <a:r>
              <a:rPr lang="en-US" sz="2800" dirty="0">
                <a:latin typeface="Calibir"/>
              </a:rPr>
              <a:t>Work together on backlog, use case, class diagram.</a:t>
            </a:r>
          </a:p>
          <a:p>
            <a:pPr marL="914400" lvl="1" indent="-457200">
              <a:lnSpc>
                <a:spcPct val="150000"/>
              </a:lnSpc>
              <a:buFont typeface="Arial" panose="020B0604020202020204" pitchFamily="34" charset="0"/>
              <a:buChar char="•"/>
            </a:pPr>
            <a:r>
              <a:rPr lang="en-US" sz="2800" dirty="0">
                <a:latin typeface="Calibir"/>
              </a:rPr>
              <a:t>Keep it consistent across all parts (story IDs → functions → later code).</a:t>
            </a:r>
          </a:p>
          <a:p>
            <a:pPr marL="914400" lvl="1" indent="-457200">
              <a:lnSpc>
                <a:spcPct val="150000"/>
              </a:lnSpc>
              <a:buFont typeface="Arial" panose="020B0604020202020204" pitchFamily="34" charset="0"/>
              <a:buChar char="•"/>
            </a:pPr>
            <a:r>
              <a:rPr lang="en-US" sz="2800" dirty="0">
                <a:latin typeface="Calibir"/>
              </a:rPr>
              <a:t>Don’t wait until last day — diagrams + backlog take time to refine.</a:t>
            </a:r>
          </a:p>
        </p:txBody>
      </p:sp>
    </p:spTree>
    <p:extLst>
      <p:ext uri="{BB962C8B-B14F-4D97-AF65-F5344CB8AC3E}">
        <p14:creationId xmlns:p14="http://schemas.microsoft.com/office/powerpoint/2010/main" val="9963581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2DF25-74D5-6826-EB6F-161357B8FEC5}"/>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B9DB864-F051-AC0A-9FEF-C72B59528246}"/>
              </a:ext>
            </a:extLst>
          </p:cNvPr>
          <p:cNvSpPr>
            <a:spLocks noGrp="1"/>
          </p:cNvSpPr>
          <p:nvPr>
            <p:ph type="title"/>
          </p:nvPr>
        </p:nvSpPr>
        <p:spPr>
          <a:xfrm>
            <a:off x="0" y="0"/>
            <a:ext cx="12192000" cy="653428"/>
          </a:xfrm>
        </p:spPr>
        <p:txBody>
          <a:bodyPr anchor="b">
            <a:normAutofit/>
          </a:bodyPr>
          <a:lstStyle/>
          <a:p>
            <a:r>
              <a:rPr lang="en-US" sz="4000" dirty="0">
                <a:latin typeface="Calibir"/>
              </a:rPr>
              <a:t>Reference Note for Students</a:t>
            </a:r>
            <a:endParaRPr lang="en-AU" sz="4000" dirty="0">
              <a:latin typeface="Calibir"/>
            </a:endParaRPr>
          </a:p>
        </p:txBody>
      </p:sp>
      <p:sp>
        <p:nvSpPr>
          <p:cNvPr id="5" name="TextBox 4">
            <a:extLst>
              <a:ext uri="{FF2B5EF4-FFF2-40B4-BE49-F238E27FC236}">
                <a16:creationId xmlns:a16="http://schemas.microsoft.com/office/drawing/2014/main" id="{B16CA4C2-BCCC-2D6B-3331-1123316546C4}"/>
              </a:ext>
            </a:extLst>
          </p:cNvPr>
          <p:cNvSpPr txBox="1"/>
          <p:nvPr/>
        </p:nvSpPr>
        <p:spPr>
          <a:xfrm>
            <a:off x="0" y="1303283"/>
            <a:ext cx="12002814" cy="4549835"/>
          </a:xfrm>
          <a:prstGeom prst="rect">
            <a:avLst/>
          </a:prstGeom>
          <a:noFill/>
        </p:spPr>
        <p:txBody>
          <a:bodyPr wrap="square">
            <a:spAutoFit/>
          </a:bodyPr>
          <a:lstStyle/>
          <a:p>
            <a:pPr>
              <a:lnSpc>
                <a:spcPct val="150000"/>
              </a:lnSpc>
              <a:buNone/>
            </a:pPr>
            <a:r>
              <a:rPr lang="en-US" sz="2800" dirty="0">
                <a:latin typeface="Calibir"/>
              </a:rPr>
              <a:t>The main reference for this assignment is the official instructions provided on Canvas:</a:t>
            </a:r>
            <a:br>
              <a:rPr lang="en-US" sz="2800" dirty="0">
                <a:latin typeface="Calibir"/>
              </a:rPr>
            </a:br>
            <a:r>
              <a:rPr lang="en-US" sz="2800" dirty="0">
                <a:latin typeface="Calibir"/>
                <a:hlinkClick r:id="rId2"/>
              </a:rPr>
              <a:t>Assignments – Part 1: Analysis and Design</a:t>
            </a:r>
            <a:endParaRPr lang="en-US" sz="2800" dirty="0">
              <a:latin typeface="Calibir"/>
            </a:endParaRPr>
          </a:p>
          <a:p>
            <a:pPr>
              <a:lnSpc>
                <a:spcPct val="150000"/>
              </a:lnSpc>
              <a:buNone/>
            </a:pPr>
            <a:r>
              <a:rPr lang="en-US" sz="2800" dirty="0">
                <a:latin typeface="Calibir"/>
              </a:rPr>
              <a:t>This PowerPoint is designed to guide you and clarify the task where things might feel confusing.</a:t>
            </a:r>
            <a:br>
              <a:rPr lang="en-US" sz="2800" dirty="0">
                <a:latin typeface="Calibir"/>
              </a:rPr>
            </a:br>
            <a:r>
              <a:rPr lang="en-US" sz="2800" dirty="0">
                <a:latin typeface="Calibir"/>
              </a:rPr>
              <a:t>If you are ever unsure, please always go back to the official Canvas instructions as the source of truth.</a:t>
            </a:r>
          </a:p>
        </p:txBody>
      </p:sp>
    </p:spTree>
    <p:extLst>
      <p:ext uri="{BB962C8B-B14F-4D97-AF65-F5344CB8AC3E}">
        <p14:creationId xmlns:p14="http://schemas.microsoft.com/office/powerpoint/2010/main" val="261477970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0C101F-C65F-1D84-0824-C2471518F032}"/>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 name="Oval 38">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9" name="Picture 18" descr="Tying a bow in an arrangment of presents">
            <a:extLst>
              <a:ext uri="{FF2B5EF4-FFF2-40B4-BE49-F238E27FC236}">
                <a16:creationId xmlns:a16="http://schemas.microsoft.com/office/drawing/2014/main" id="{E6D721DE-1453-5AA6-9447-209B227E2123}"/>
              </a:ext>
            </a:extLst>
          </p:cNvPr>
          <p:cNvPicPr>
            <a:picLocks noChangeAspect="1"/>
          </p:cNvPicPr>
          <p:nvPr/>
        </p:nvPicPr>
        <p:blipFill rotWithShape="1">
          <a:blip r:embed="rId2"/>
          <a:srcRect l="17081" r="16168" b="-2"/>
          <a:stretch/>
        </p:blipFill>
        <p:spPr>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41" name="!!plus graphic">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circle graphic">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84845029-98A4-9C92-04B4-320B6AFDD1B8}"/>
              </a:ext>
            </a:extLst>
          </p:cNvPr>
          <p:cNvSpPr txBox="1"/>
          <p:nvPr/>
        </p:nvSpPr>
        <p:spPr>
          <a:xfrm>
            <a:off x="6388119" y="99483"/>
            <a:ext cx="5198044" cy="6651523"/>
          </a:xfrm>
          <a:prstGeom prst="rect">
            <a:avLst/>
          </a:prstGeom>
        </p:spPr>
        <p:txBody>
          <a:bodyPr vert="horz" lIns="91440" tIns="45720" rIns="91440" bIns="45720" rtlCol="0" anchor="t">
            <a:noAutofit/>
          </a:bodyPr>
          <a:lstStyle/>
          <a:p>
            <a:pPr marL="0" marR="0" lvl="0" indent="0" algn="l" defTabSz="914400" rtl="0" eaLnBrk="1" fontAlgn="auto" latinLnBrk="0" hangingPunct="1">
              <a:lnSpc>
                <a:spcPct val="150000"/>
              </a:lnSpc>
              <a:spcBef>
                <a:spcPts val="0"/>
              </a:spcBef>
              <a:spcAft>
                <a:spcPts val="600"/>
              </a:spcAft>
              <a:buClrTx/>
              <a:buSzTx/>
              <a:buFontTx/>
              <a:buNone/>
              <a:tabLst/>
              <a:defRPr/>
            </a:pPr>
            <a:r>
              <a:rPr kumimoji="0" lang="en-US" sz="2800" b="1"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Happy Learning and Bright Futures Ahead!</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1"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Dr. Farshid Keivanian</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1"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Stay Connected:</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hlinkClick r:id="rId3"/>
              </a:rPr>
              <a:t>linkedin.com/in/farshid-keivanian</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hlinkClick r:id="rId4"/>
              </a:rPr>
              <a:t>github.com/FarshidKeivanian</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a:t>
            </a:r>
          </a:p>
          <a:p>
            <a:pPr marL="0" marR="0" lvl="0" indent="-228600" algn="l" defTabSz="914400" rtl="0" eaLnBrk="1" fontAlgn="auto" latinLnBrk="0" hangingPunct="1">
              <a:lnSpc>
                <a:spcPct val="150000"/>
              </a:lnSpc>
              <a:spcBef>
                <a:spcPts val="0"/>
              </a:spcBef>
              <a:spcAft>
                <a:spcPts val="600"/>
              </a:spcAft>
              <a:buClrTx/>
              <a:buSzTx/>
              <a:buFont typeface="Arial" panose="020B0604020202020204" pitchFamily="34" charset="0"/>
              <a:buChar char="•"/>
              <a:tabLst/>
              <a:defRPr/>
            </a:pPr>
            <a:r>
              <a:rPr kumimoji="0" lang="en-US" sz="2800" b="0" i="1"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Education is the most powerful weapon you can use to change the world. </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Nelson Mandela</a:t>
            </a:r>
          </a:p>
        </p:txBody>
      </p:sp>
      <p:sp>
        <p:nvSpPr>
          <p:cNvPr id="45" name="!!dot graphic">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47"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086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2360</TotalTime>
  <Words>8661</Words>
  <Application>Microsoft Office PowerPoint</Application>
  <PresentationFormat>Widescreen</PresentationFormat>
  <Paragraphs>782</Paragraphs>
  <Slides>101</Slides>
  <Notes>28</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101</vt:i4>
      </vt:variant>
    </vt:vector>
  </HeadingPairs>
  <TitlesOfParts>
    <vt:vector size="109" baseType="lpstr">
      <vt:lpstr>Aptos</vt:lpstr>
      <vt:lpstr>Aptos Display</vt:lpstr>
      <vt:lpstr>Arial</vt:lpstr>
      <vt:lpstr>Calibir</vt:lpstr>
      <vt:lpstr>Calibri</vt:lpstr>
      <vt:lpstr>Calibri Light</vt:lpstr>
      <vt:lpstr>Office Theme</vt:lpstr>
      <vt:lpstr>1_Office Theme</vt:lpstr>
      <vt:lpstr>Introduction to Software Engineering (ISE102) Tutorial Week 7</vt:lpstr>
      <vt:lpstr>Week 7 Outline</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Have you formed your group?</vt:lpstr>
      <vt:lpstr>Group Assignment – Part 1: Clarification Slides</vt:lpstr>
      <vt:lpstr>Project Brief – Simplified</vt:lpstr>
      <vt:lpstr>Project Brief – Simplified</vt:lpstr>
      <vt:lpstr>Project Brief – Simplified</vt:lpstr>
      <vt:lpstr>Project Brief – Simplified</vt:lpstr>
      <vt:lpstr>Project Brief – Simplified</vt:lpstr>
      <vt:lpstr>Assignment 1 – Part 1: Admin, IDs, and Deliverables Clarified</vt:lpstr>
      <vt:lpstr>Assignment 1 – Part 1: Admin, IDs, and Deliverables Clarified</vt:lpstr>
      <vt:lpstr>Assignment 1 – Part 1: Admin, IDs, and Deliverables Clarified</vt:lpstr>
      <vt:lpstr>Assignment 1 – Part 1: Admin, IDs, and Deliverables Clarified</vt:lpstr>
      <vt:lpstr>Assignment 1 – Part 1: Admin, IDs, and Deliverables Clarified</vt:lpstr>
      <vt:lpstr>Assignment 1 – Part 1: Admin, IDs, and Deliverables Clarified</vt:lpstr>
      <vt:lpstr>Assignment 1 – Part 1: Use Case Diagram Clarifications</vt:lpstr>
      <vt:lpstr>Assignment 1 – Part 1: Use Case Diagram Clarifications</vt:lpstr>
      <vt:lpstr>Assignment 1 – Part 1: Use Case Diagram Clarifications</vt:lpstr>
      <vt:lpstr>Assignment 1 – Part 1: Use Case Diagram Clarifications</vt:lpstr>
      <vt:lpstr>Assignment 1 – Part 1: Use Case Diagram Clarifications</vt:lpstr>
      <vt:lpstr>User Story Backlog – Clarified</vt:lpstr>
      <vt:lpstr>User Story Backlog – Clarified</vt:lpstr>
      <vt:lpstr>User Story Backlog – Clarified</vt:lpstr>
      <vt:lpstr>User Story Backlog – Clarified</vt:lpstr>
      <vt:lpstr>User Story Backlog – Clarified</vt:lpstr>
      <vt:lpstr>User Story Backlog – Clarified</vt:lpstr>
      <vt:lpstr>User Story Backlog – Clarified</vt:lpstr>
      <vt:lpstr>PowerPoint Presentation</vt:lpstr>
      <vt:lpstr>User Story Backlog – Clarified</vt:lpstr>
      <vt:lpstr>User Story Backlog – Clarified</vt:lpstr>
      <vt:lpstr>User Story Backlog – Clarified</vt:lpstr>
      <vt:lpstr>Actors, User Stories, and ID Numbering Clarified</vt:lpstr>
      <vt:lpstr>Actors, User Stories, and ID Numbering Clarified</vt:lpstr>
      <vt:lpstr>Actors, User Stories, and ID Numbering Clarified</vt:lpstr>
      <vt:lpstr>Actors, User Stories, and ID Numbering Clarified</vt:lpstr>
      <vt:lpstr>Actors, User Stories, and ID Numbering Clarified</vt:lpstr>
      <vt:lpstr>Actors, User Stories, and ID Numbering Clarified</vt:lpstr>
      <vt:lpstr>User Stories – Handling System Actions &amp; Wording</vt:lpstr>
      <vt:lpstr>User Stories – Handling System Actions &amp; Wording</vt:lpstr>
      <vt:lpstr>User Stories – Handling System Actions &amp; Wording</vt:lpstr>
      <vt:lpstr>User Stories – Handling System Actions &amp; Wording</vt:lpstr>
      <vt:lpstr>User Stories – Handling System Actions &amp; Wording</vt:lpstr>
      <vt:lpstr>User Stories – Handling System Actions &amp; Wording</vt:lpstr>
      <vt:lpstr>User Stories – Handling System Actions &amp; Wording</vt:lpstr>
      <vt:lpstr>User Stories – Handling System Actions &amp; Wording</vt:lpstr>
      <vt:lpstr>User Stories – Handling System Actions &amp; Wording</vt:lpstr>
      <vt:lpstr>Use Case &amp; Class Diagrams – One Comprehensive View</vt:lpstr>
      <vt:lpstr>Use Case &amp; Class Diagrams – One Comprehensive View</vt:lpstr>
      <vt:lpstr>Use Case &amp; Class Diagrams – One Comprehensive View</vt:lpstr>
      <vt:lpstr>Use Case &amp; Class Diagrams – One Comprehensive View</vt:lpstr>
      <vt:lpstr>User Story Backlog — Clarified</vt:lpstr>
      <vt:lpstr>User Story Backlog — Clarified</vt:lpstr>
      <vt:lpstr>UML Use Case Diagram — Clarified</vt:lpstr>
      <vt:lpstr>UML Class Diagram — Clarified</vt:lpstr>
      <vt:lpstr>UML Class Diagram — Clarified</vt:lpstr>
      <vt:lpstr>Assignment 1 – Part 1: Class Diagram Design Clarifications</vt:lpstr>
      <vt:lpstr>Assignment 1 – Part 1: Class Diagram Design Clarifications</vt:lpstr>
      <vt:lpstr>Assignment 1 – Part 1: Class Diagram Design Clarifications</vt:lpstr>
      <vt:lpstr>Assignment 1 – Part 1: Class Diagram Design Clarifications</vt:lpstr>
      <vt:lpstr>Assignment 1 – Part 1: Class Diagram Design Clarifications</vt:lpstr>
      <vt:lpstr>Assignment 1 – Part 1: Class Diagram Design Clarifications</vt:lpstr>
      <vt:lpstr>Assignment 1 – Part 1: Class Diagram Design Clarifications</vt:lpstr>
      <vt:lpstr>Assignment 1 – Part 1: Class Diagram Design Clarifications</vt:lpstr>
      <vt:lpstr>Marking Scheme</vt:lpstr>
      <vt:lpstr>Deliverables &amp; Contribution</vt:lpstr>
      <vt:lpstr>Reference Note for Students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Farshid Keivanian</dc:creator>
  <cp:lastModifiedBy>Farshid Keivanian</cp:lastModifiedBy>
  <cp:revision>704</cp:revision>
  <dcterms:created xsi:type="dcterms:W3CDTF">2025-07-28T16:39:25Z</dcterms:created>
  <dcterms:modified xsi:type="dcterms:W3CDTF">2025-09-12T07:10:43Z</dcterms:modified>
</cp:coreProperties>
</file>