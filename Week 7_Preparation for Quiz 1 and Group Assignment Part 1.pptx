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22"/>
  </p:notesMasterIdLst>
  <p:sldIdLst>
    <p:sldId id="256" r:id="rId3"/>
    <p:sldId id="2467" r:id="rId4"/>
    <p:sldId id="2634" r:id="rId5"/>
    <p:sldId id="2871" r:id="rId6"/>
    <p:sldId id="2872" r:id="rId7"/>
    <p:sldId id="2873" r:id="rId8"/>
    <p:sldId id="2916" r:id="rId9"/>
    <p:sldId id="2874" r:id="rId10"/>
    <p:sldId id="2875" r:id="rId11"/>
    <p:sldId id="2903" r:id="rId12"/>
    <p:sldId id="2876" r:id="rId13"/>
    <p:sldId id="2904" r:id="rId14"/>
    <p:sldId id="2877" r:id="rId15"/>
    <p:sldId id="2905" r:id="rId16"/>
    <p:sldId id="2906" r:id="rId17"/>
    <p:sldId id="2878" r:id="rId18"/>
    <p:sldId id="2907" r:id="rId19"/>
    <p:sldId id="2908" r:id="rId20"/>
    <p:sldId id="2879" r:id="rId21"/>
    <p:sldId id="2909" r:id="rId22"/>
    <p:sldId id="2880" r:id="rId23"/>
    <p:sldId id="2910" r:id="rId24"/>
    <p:sldId id="2881" r:id="rId25"/>
    <p:sldId id="2911" r:id="rId26"/>
    <p:sldId id="2882" r:id="rId27"/>
    <p:sldId id="2883" r:id="rId28"/>
    <p:sldId id="2912" r:id="rId29"/>
    <p:sldId id="2884" r:id="rId30"/>
    <p:sldId id="2885" r:id="rId31"/>
    <p:sldId id="2913" r:id="rId32"/>
    <p:sldId id="2886" r:id="rId33"/>
    <p:sldId id="2914" r:id="rId34"/>
    <p:sldId id="2887" r:id="rId35"/>
    <p:sldId id="2888" r:id="rId36"/>
    <p:sldId id="2915" r:id="rId37"/>
    <p:sldId id="2917" r:id="rId38"/>
    <p:sldId id="2870" r:id="rId39"/>
    <p:sldId id="2592" r:id="rId40"/>
    <p:sldId id="2854" r:id="rId41"/>
    <p:sldId id="2852" r:id="rId42"/>
    <p:sldId id="2853" r:id="rId43"/>
    <p:sldId id="2824" r:id="rId44"/>
    <p:sldId id="2825" r:id="rId45"/>
    <p:sldId id="2889" r:id="rId46"/>
    <p:sldId id="2890" r:id="rId47"/>
    <p:sldId id="2891" r:id="rId48"/>
    <p:sldId id="2892" r:id="rId49"/>
    <p:sldId id="2893" r:id="rId50"/>
    <p:sldId id="2894" r:id="rId51"/>
    <p:sldId id="2918" r:id="rId52"/>
    <p:sldId id="2922" r:id="rId53"/>
    <p:sldId id="2919" r:id="rId54"/>
    <p:sldId id="2920" r:id="rId55"/>
    <p:sldId id="2921" r:id="rId56"/>
    <p:sldId id="2828" r:id="rId57"/>
    <p:sldId id="2837" r:id="rId58"/>
    <p:sldId id="2851" r:id="rId59"/>
    <p:sldId id="2830" r:id="rId60"/>
    <p:sldId id="2831" r:id="rId61"/>
    <p:sldId id="2832" r:id="rId62"/>
    <p:sldId id="2833" r:id="rId63"/>
    <p:sldId id="2834" r:id="rId64"/>
    <p:sldId id="2835" r:id="rId65"/>
    <p:sldId id="2838" r:id="rId66"/>
    <p:sldId id="2836" r:id="rId67"/>
    <p:sldId id="2842" r:id="rId68"/>
    <p:sldId id="2845" r:id="rId69"/>
    <p:sldId id="2846" r:id="rId70"/>
    <p:sldId id="2847" r:id="rId71"/>
    <p:sldId id="2848" r:id="rId72"/>
    <p:sldId id="2849" r:id="rId73"/>
    <p:sldId id="2844" r:id="rId74"/>
    <p:sldId id="2859" r:id="rId75"/>
    <p:sldId id="2860" r:id="rId76"/>
    <p:sldId id="2861" r:id="rId77"/>
    <p:sldId id="2862" r:id="rId78"/>
    <p:sldId id="2863" r:id="rId79"/>
    <p:sldId id="2864" r:id="rId80"/>
    <p:sldId id="2865" r:id="rId81"/>
    <p:sldId id="2866" r:id="rId82"/>
    <p:sldId id="2855" r:id="rId83"/>
    <p:sldId id="2856" r:id="rId84"/>
    <p:sldId id="2858" r:id="rId85"/>
    <p:sldId id="2857" r:id="rId86"/>
    <p:sldId id="2829" r:id="rId87"/>
    <p:sldId id="2867" r:id="rId88"/>
    <p:sldId id="2839" r:id="rId89"/>
    <p:sldId id="2868" r:id="rId90"/>
    <p:sldId id="2869" r:id="rId91"/>
    <p:sldId id="2935" r:id="rId92"/>
    <p:sldId id="2936" r:id="rId93"/>
    <p:sldId id="2937" r:id="rId94"/>
    <p:sldId id="2938" r:id="rId95"/>
    <p:sldId id="2939" r:id="rId96"/>
    <p:sldId id="2940" r:id="rId97"/>
    <p:sldId id="2895" r:id="rId98"/>
    <p:sldId id="2896" r:id="rId99"/>
    <p:sldId id="2897" r:id="rId100"/>
    <p:sldId id="2898" r:id="rId101"/>
    <p:sldId id="2899" r:id="rId102"/>
    <p:sldId id="2900" r:id="rId103"/>
    <p:sldId id="2901" r:id="rId104"/>
    <p:sldId id="2902" r:id="rId105"/>
    <p:sldId id="2929" r:id="rId106"/>
    <p:sldId id="2930" r:id="rId107"/>
    <p:sldId id="2931" r:id="rId108"/>
    <p:sldId id="2932" r:id="rId109"/>
    <p:sldId id="2933" r:id="rId110"/>
    <p:sldId id="2934" r:id="rId111"/>
    <p:sldId id="2923" r:id="rId112"/>
    <p:sldId id="2924" r:id="rId113"/>
    <p:sldId id="2925" r:id="rId114"/>
    <p:sldId id="2926" r:id="rId115"/>
    <p:sldId id="2927" r:id="rId116"/>
    <p:sldId id="2928" r:id="rId117"/>
    <p:sldId id="2840" r:id="rId118"/>
    <p:sldId id="2841" r:id="rId119"/>
    <p:sldId id="2747" r:id="rId120"/>
    <p:sldId id="749" r:id="rId1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6" d="100"/>
          <a:sy n="66" d="100"/>
        </p:scale>
        <p:origin x="410"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presProps" Target="presProp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viewProps" Target="viewProp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12/09/2025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8</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9</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2005D-5BAB-5BEC-2B13-642FF8F31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55A5E-2861-D657-20DE-A00E7DF29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389D2-05E8-AD8B-B6BC-1040B4FA9285}"/>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923AA1AA-610E-08BC-E019-BADFC6DAE104}"/>
              </a:ext>
            </a:extLst>
          </p:cNvPr>
          <p:cNvSpPr>
            <a:spLocks noGrp="1"/>
          </p:cNvSpPr>
          <p:nvPr>
            <p:ph type="sldNum" sz="quarter" idx="5"/>
          </p:nvPr>
        </p:nvSpPr>
        <p:spPr/>
        <p:txBody>
          <a:bodyPr/>
          <a:lstStyle/>
          <a:p>
            <a:fld id="{42ED24F3-C88E-4C15-8193-4E111B80EC59}" type="slidenum">
              <a:rPr lang="en-AU" smtClean="0"/>
              <a:t>10</a:t>
            </a:fld>
            <a:endParaRPr lang="en-AU"/>
          </a:p>
        </p:txBody>
      </p:sp>
    </p:spTree>
    <p:extLst>
      <p:ext uri="{BB962C8B-B14F-4D97-AF65-F5344CB8AC3E}">
        <p14:creationId xmlns:p14="http://schemas.microsoft.com/office/powerpoint/2010/main" val="6603386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2167-06DD-C0C5-75C0-05B0C3F658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23EB2-AB0B-ABEA-658C-444C9F9C9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16B76-9993-88AE-6E91-EB412EC03AFF}"/>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F6B90DF7-51DB-FAB7-ADE8-57E6486EF56B}"/>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24146911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BC8D9-80C4-2ADC-304B-3C40B79C9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EE69D-269A-2D43-5A54-A6E42887D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55B2B-CCEC-1C80-0D3D-12A48B51EE7F}"/>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AFB3A50F-BF92-DC4D-C05E-183E23559F5C}"/>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18761969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AEA1C-93EE-E29C-0116-B97933452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049D-39EB-A938-D8BD-D5987273C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E5C8EE-F129-1044-E51F-29378C8AD481}"/>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001BCA29-D2D9-C673-DA83-0F0C1AE5F75F}"/>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269299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03695-F8F1-58AE-2A3E-570F37F0B7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F0DF0-2132-73E2-0830-A829EF4457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A36DC-05C3-8EA0-1F09-EA140807412C}"/>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92BA3978-9C77-7F06-A07F-9B9A6A06F0F1}"/>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26853026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2D88F-64D8-6A91-3D3B-51665B987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25430-E84B-1FBA-FA4C-8B00EDB93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50F91-3708-D70E-2591-769AA102CDB8}"/>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8774BA3-114D-C378-CD75-84C223698B42}"/>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41143420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EC8B-561F-5E26-463D-40D3D4448B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E6B41-3D2A-8681-522D-C89AD001F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12E28-C900-2D46-841B-5BE87B275CA2}"/>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BD242196-3245-3F0A-FB3C-340E083FFE0A}"/>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18584295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5F1F6-719C-08BC-3BD4-1C1AB7DE4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6F06-393F-265F-C71E-98ACF26B6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C0D0C-F9E2-B9D2-C4D4-8FF5E7BE2E05}"/>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C6A61242-332C-F47E-25E1-765405EC7C15}"/>
              </a:ext>
            </a:extLst>
          </p:cNvPr>
          <p:cNvSpPr>
            <a:spLocks noGrp="1"/>
          </p:cNvSpPr>
          <p:nvPr>
            <p:ph type="sldNum" sz="quarter" idx="5"/>
          </p:nvPr>
        </p:nvSpPr>
        <p:spPr/>
        <p:txBody>
          <a:bodyPr/>
          <a:lstStyle/>
          <a:p>
            <a:fld id="{42ED24F3-C88E-4C15-8193-4E111B80EC59}" type="slidenum">
              <a:rPr lang="en-AU" smtClean="0"/>
              <a:t>22</a:t>
            </a:fld>
            <a:endParaRPr lang="en-AU"/>
          </a:p>
        </p:txBody>
      </p:sp>
    </p:spTree>
    <p:extLst>
      <p:ext uri="{BB962C8B-B14F-4D97-AF65-F5344CB8AC3E}">
        <p14:creationId xmlns:p14="http://schemas.microsoft.com/office/powerpoint/2010/main" val="9745221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23</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7C30D-AE6F-DED2-1021-474D06F9F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07DB0-19EC-1494-02FE-410F84FA4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733AA-C90D-CA65-807A-D00C94B5F86A}"/>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1C65AF21-3792-2CAE-FEF0-3526646E6F8A}"/>
              </a:ext>
            </a:extLst>
          </p:cNvPr>
          <p:cNvSpPr>
            <a:spLocks noGrp="1"/>
          </p:cNvSpPr>
          <p:nvPr>
            <p:ph type="sldNum" sz="quarter" idx="5"/>
          </p:nvPr>
        </p:nvSpPr>
        <p:spPr/>
        <p:txBody>
          <a:bodyPr/>
          <a:lstStyle/>
          <a:p>
            <a:fld id="{42ED24F3-C88E-4C15-8193-4E111B80EC59}" type="slidenum">
              <a:rPr lang="en-AU" smtClean="0"/>
              <a:t>24</a:t>
            </a:fld>
            <a:endParaRPr lang="en-AU"/>
          </a:p>
        </p:txBody>
      </p:sp>
    </p:spTree>
    <p:extLst>
      <p:ext uri="{BB962C8B-B14F-4D97-AF65-F5344CB8AC3E}">
        <p14:creationId xmlns:p14="http://schemas.microsoft.com/office/powerpoint/2010/main" val="5801147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25</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26</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760F2-9842-0004-060B-2A32E023A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09691-BB46-B79E-B7FF-2093B2543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60645-58F9-CAF4-1DC2-9ACCFC516004}"/>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A6DEBC55-9B94-403A-1B02-832F8EECF78D}"/>
              </a:ext>
            </a:extLst>
          </p:cNvPr>
          <p:cNvSpPr>
            <a:spLocks noGrp="1"/>
          </p:cNvSpPr>
          <p:nvPr>
            <p:ph type="sldNum" sz="quarter" idx="5"/>
          </p:nvPr>
        </p:nvSpPr>
        <p:spPr/>
        <p:txBody>
          <a:bodyPr/>
          <a:lstStyle/>
          <a:p>
            <a:fld id="{42ED24F3-C88E-4C15-8193-4E111B80EC59}" type="slidenum">
              <a:rPr lang="en-AU" smtClean="0"/>
              <a:t>27</a:t>
            </a:fld>
            <a:endParaRPr lang="en-AU"/>
          </a:p>
        </p:txBody>
      </p:sp>
    </p:spTree>
    <p:extLst>
      <p:ext uri="{BB962C8B-B14F-4D97-AF65-F5344CB8AC3E}">
        <p14:creationId xmlns:p14="http://schemas.microsoft.com/office/powerpoint/2010/main" val="15248253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28</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29</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B3841-F5C0-A0FC-E086-83DAE9923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7B775-D04F-01CE-E6E6-7241E5EDC0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3E81F3-E6EB-A98F-5348-A1F64935B9C3}"/>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1CDBDD4-6094-B463-1C94-42C3F089681E}"/>
              </a:ext>
            </a:extLst>
          </p:cNvPr>
          <p:cNvSpPr>
            <a:spLocks noGrp="1"/>
          </p:cNvSpPr>
          <p:nvPr>
            <p:ph type="sldNum" sz="quarter" idx="5"/>
          </p:nvPr>
        </p:nvSpPr>
        <p:spPr/>
        <p:txBody>
          <a:bodyPr/>
          <a:lstStyle/>
          <a:p>
            <a:fld id="{42ED24F3-C88E-4C15-8193-4E111B80EC59}" type="slidenum">
              <a:rPr lang="en-AU" smtClean="0"/>
              <a:t>30</a:t>
            </a:fld>
            <a:endParaRPr lang="en-AU"/>
          </a:p>
        </p:txBody>
      </p:sp>
    </p:spTree>
    <p:extLst>
      <p:ext uri="{BB962C8B-B14F-4D97-AF65-F5344CB8AC3E}">
        <p14:creationId xmlns:p14="http://schemas.microsoft.com/office/powerpoint/2010/main" val="16779649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31</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EDEEE-B624-0B31-B2E9-7524E5732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CB561-DB23-0AAF-64F9-DD3D01A1B4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E5191-DB32-2C8A-D82C-D1B00CA5FDF0}"/>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DB4760BB-04A5-4610-88D7-AF9DFD1975C0}"/>
              </a:ext>
            </a:extLst>
          </p:cNvPr>
          <p:cNvSpPr>
            <a:spLocks noGrp="1"/>
          </p:cNvSpPr>
          <p:nvPr>
            <p:ph type="sldNum" sz="quarter" idx="5"/>
          </p:nvPr>
        </p:nvSpPr>
        <p:spPr/>
        <p:txBody>
          <a:bodyPr/>
          <a:lstStyle/>
          <a:p>
            <a:fld id="{42ED24F3-C88E-4C15-8193-4E111B80EC59}" type="slidenum">
              <a:rPr lang="en-AU" smtClean="0"/>
              <a:t>32</a:t>
            </a:fld>
            <a:endParaRPr lang="en-AU"/>
          </a:p>
        </p:txBody>
      </p:sp>
    </p:spTree>
    <p:extLst>
      <p:ext uri="{BB962C8B-B14F-4D97-AF65-F5344CB8AC3E}">
        <p14:creationId xmlns:p14="http://schemas.microsoft.com/office/powerpoint/2010/main" val="18508041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839B4-7D11-4B1B-7138-8F904EC01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5C944-6A39-19F2-4027-CD42EF82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FEAFD-558D-8F8B-E381-B43079EC9FCA}"/>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1D7026E8-F8C3-65D0-A852-C36ECED46715}"/>
              </a:ext>
            </a:extLst>
          </p:cNvPr>
          <p:cNvSpPr>
            <a:spLocks noGrp="1"/>
          </p:cNvSpPr>
          <p:nvPr>
            <p:ph type="sldNum" sz="quarter" idx="5"/>
          </p:nvPr>
        </p:nvSpPr>
        <p:spPr/>
        <p:txBody>
          <a:bodyPr/>
          <a:lstStyle/>
          <a:p>
            <a:fld id="{42ED24F3-C88E-4C15-8193-4E111B80EC59}" type="slidenum">
              <a:rPr lang="en-AU" smtClean="0"/>
              <a:t>33</a:t>
            </a:fld>
            <a:endParaRPr lang="en-AU"/>
          </a:p>
        </p:txBody>
      </p:sp>
    </p:spTree>
    <p:extLst>
      <p:ext uri="{BB962C8B-B14F-4D97-AF65-F5344CB8AC3E}">
        <p14:creationId xmlns:p14="http://schemas.microsoft.com/office/powerpoint/2010/main" val="20164043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34</a:t>
            </a:fld>
            <a:endParaRPr lang="en-AU"/>
          </a:p>
        </p:txBody>
      </p:sp>
    </p:spTree>
    <p:extLst>
      <p:ext uri="{BB962C8B-B14F-4D97-AF65-F5344CB8AC3E}">
        <p14:creationId xmlns:p14="http://schemas.microsoft.com/office/powerpoint/2010/main" val="37050648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16101-2E5A-4FCC-50AE-9B0ACAB29E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B5D98-E336-C85A-0EB7-C04B243E7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54AA5-B90A-C48D-7E5E-D8367FC0CFD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2DD0BBE-401E-6ECA-E37F-35A64D80C576}"/>
              </a:ext>
            </a:extLst>
          </p:cNvPr>
          <p:cNvSpPr>
            <a:spLocks noGrp="1"/>
          </p:cNvSpPr>
          <p:nvPr>
            <p:ph type="sldNum" sz="quarter" idx="5"/>
          </p:nvPr>
        </p:nvSpPr>
        <p:spPr/>
        <p:txBody>
          <a:bodyPr/>
          <a:lstStyle/>
          <a:p>
            <a:fld id="{42ED24F3-C88E-4C15-8193-4E111B80EC59}" type="slidenum">
              <a:rPr lang="en-AU" smtClean="0"/>
              <a:t>35</a:t>
            </a:fld>
            <a:endParaRPr lang="en-AU"/>
          </a:p>
        </p:txBody>
      </p:sp>
    </p:spTree>
    <p:extLst>
      <p:ext uri="{BB962C8B-B14F-4D97-AF65-F5344CB8AC3E}">
        <p14:creationId xmlns:p14="http://schemas.microsoft.com/office/powerpoint/2010/main" val="14321165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12/09/2025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12/09/2025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canvas.uts.edu.au/courses/36509/files/10044153/download?download_frd=1"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7</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5991384"/>
          </a:xfrm>
          <a:prstGeom prst="rect">
            <a:avLst/>
          </a:prstGeom>
          <a:noFill/>
        </p:spPr>
        <p:txBody>
          <a:bodyPr wrap="square">
            <a:spAutoFit/>
          </a:bodyPr>
          <a:lstStyle/>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Admin, IDs, and Deliverables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1500" dirty="0">
                <a:latin typeface="Calibir"/>
              </a:rPr>
              <a:t>Assignment 1 – Part 1: Use Case Diagram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Class Diagram Design Clarifications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CLI Representation, Data, and Relationships Clarified</a:t>
            </a:r>
          </a:p>
          <a:p>
            <a:pPr marL="514350" indent="-514350">
              <a:spcAft>
                <a:spcPts val="800"/>
              </a:spcAft>
              <a:buFont typeface="+mj-lt"/>
              <a:buAutoNum type="arabicPeriod"/>
            </a:pPr>
            <a:r>
              <a:rPr lang="en-US" sz="1500" dirty="0">
                <a:latin typeface="Calibir"/>
              </a:rPr>
              <a:t>Assignment 1 – Part 1: Scope, Traceability, and Contribution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Modules 1–2 lecture notes, slides, and lab work.</a:t>
            </a:r>
          </a:p>
          <a:p>
            <a:pPr marL="457200" indent="-457200">
              <a:lnSpc>
                <a:spcPct val="150000"/>
              </a:lnSpc>
              <a:buFont typeface="Arial" panose="020B0604020202020204" pitchFamily="34" charset="0"/>
              <a:buChar char="•"/>
            </a:pPr>
            <a:r>
              <a:rPr lang="en-US" sz="2800" dirty="0">
                <a:latin typeface="Calibir"/>
              </a:rPr>
              <a:t>Focus on key topics:</a:t>
            </a:r>
          </a:p>
          <a:p>
            <a:pPr marL="914400" lvl="1" indent="-457200">
              <a:lnSpc>
                <a:spcPct val="150000"/>
              </a:lnSpc>
              <a:buFont typeface="Arial" panose="020B0604020202020204" pitchFamily="34" charset="0"/>
              <a:buChar char="•"/>
            </a:pPr>
            <a:r>
              <a:rPr lang="en-US" sz="2800" dirty="0">
                <a:latin typeface="Calibir"/>
              </a:rPr>
              <a:t>Software development lifecycle &amp; methodologies</a:t>
            </a:r>
          </a:p>
          <a:p>
            <a:pPr marL="914400" lvl="1" indent="-457200">
              <a:lnSpc>
                <a:spcPct val="150000"/>
              </a:lnSpc>
              <a:buFont typeface="Arial" panose="020B0604020202020204" pitchFamily="34" charset="0"/>
              <a:buChar char="•"/>
            </a:pPr>
            <a:r>
              <a:rPr lang="en-US" sz="2800" dirty="0">
                <a:latin typeface="Calibir"/>
              </a:rPr>
              <a:t>Requirements analysis (functional vs. non-functional)</a:t>
            </a:r>
          </a:p>
          <a:p>
            <a:pPr marL="914400" lvl="1" indent="-457200">
              <a:lnSpc>
                <a:spcPct val="150000"/>
              </a:lnSpc>
              <a:buFont typeface="Arial" panose="020B0604020202020204" pitchFamily="34" charset="0"/>
              <a:buChar char="•"/>
            </a:pPr>
            <a:r>
              <a:rPr lang="en-US" sz="2800" dirty="0">
                <a:latin typeface="Calibir"/>
              </a:rPr>
              <a:t>UML diagrams (use-case, class diagrams)</a:t>
            </a:r>
          </a:p>
          <a:p>
            <a:pPr marL="914400" lvl="1" indent="-457200">
              <a:lnSpc>
                <a:spcPct val="150000"/>
              </a:lnSpc>
              <a:buFont typeface="Arial" panose="020B0604020202020204" pitchFamily="34" charset="0"/>
              <a:buChar char="•"/>
            </a:pPr>
            <a:r>
              <a:rPr lang="en-US" sz="2800" dirty="0">
                <a:latin typeface="Calibir"/>
              </a:rPr>
              <a:t>Basic OOP concepts: classes, objects, attributes, methods</a:t>
            </a:r>
          </a:p>
          <a:p>
            <a:pPr marL="914400" lvl="1" indent="-457200">
              <a:lnSpc>
                <a:spcPct val="150000"/>
              </a:lnSpc>
              <a:buFont typeface="Arial" panose="020B0604020202020204" pitchFamily="34" charset="0"/>
              <a:buChar char="•"/>
            </a:pPr>
            <a:r>
              <a:rPr lang="en-US" sz="2800" dirty="0">
                <a:latin typeface="Calibir"/>
              </a:rPr>
              <a:t>Programming fundamentals (functions vs. procedures, visibility modifiers)</a:t>
            </a:r>
          </a:p>
          <a:p>
            <a:pPr marL="457200" indent="-457200">
              <a:lnSpc>
                <a:spcPct val="150000"/>
              </a:lnSpc>
              <a:buFont typeface="Arial" panose="020B0604020202020204" pitchFamily="34" charset="0"/>
              <a:buChar char="•"/>
            </a:pPr>
            <a:r>
              <a:rPr lang="en-US" sz="2800" dirty="0">
                <a:latin typeface="Calibir"/>
              </a:rPr>
              <a:t>Print or save course materials since only subject materials are allowed.</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8C5319DE-6342-14A3-86BB-0996E4322139}"/>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b="1" dirty="0">
                <a:latin typeface="Calibir"/>
              </a:rPr>
              <a:t>What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Read questions carefully—watch for keywords like </a:t>
            </a:r>
            <a:r>
              <a:rPr lang="en-US" sz="2800" i="1" dirty="0">
                <a:latin typeface="Calibir"/>
              </a:rPr>
              <a:t>include, extend, inheritance, association</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Use logic elimination if unsure (cross out clearly wrong options).</a:t>
            </a:r>
          </a:p>
          <a:p>
            <a:pPr marL="914400" lvl="1" indent="-457200">
              <a:lnSpc>
                <a:spcPct val="150000"/>
              </a:lnSpc>
              <a:buFont typeface="Arial" panose="020B0604020202020204" pitchFamily="34" charset="0"/>
              <a:buChar char="•"/>
            </a:pPr>
            <a:r>
              <a:rPr lang="en-US" sz="2800" dirty="0">
                <a:latin typeface="Calibir"/>
              </a:rPr>
              <a:t>For code snippets, analyze mentally instead of trying to run them.</a:t>
            </a:r>
          </a:p>
        </p:txBody>
      </p:sp>
    </p:spTree>
    <p:extLst>
      <p:ext uri="{BB962C8B-B14F-4D97-AF65-F5344CB8AC3E}">
        <p14:creationId xmlns:p14="http://schemas.microsoft.com/office/powerpoint/2010/main" val="3123783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59E6E96-96B4-F511-7FF8-2CB186C4BE8C}"/>
              </a:ext>
            </a:extLst>
          </p:cNvPr>
          <p:cNvSpPr txBox="1"/>
          <p:nvPr/>
        </p:nvSpPr>
        <p:spPr>
          <a:xfrm>
            <a:off x="0" y="1072057"/>
            <a:ext cx="11971282" cy="2610843"/>
          </a:xfrm>
          <a:prstGeom prst="rect">
            <a:avLst/>
          </a:prstGeom>
          <a:noFill/>
        </p:spPr>
        <p:txBody>
          <a:bodyPr wrap="square">
            <a:spAutoFit/>
          </a:bodyPr>
          <a:lstStyle/>
          <a:p>
            <a:pPr>
              <a:lnSpc>
                <a:spcPct val="150000"/>
              </a:lnSpc>
            </a:pPr>
            <a:r>
              <a:rPr lang="en-US" sz="2800" b="1" dirty="0">
                <a:latin typeface="Calibir"/>
              </a:rPr>
              <a:t>What NOT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Don’t use external websites or AI tools.</a:t>
            </a:r>
          </a:p>
          <a:p>
            <a:pPr marL="914400" lvl="1" indent="-457200">
              <a:lnSpc>
                <a:spcPct val="150000"/>
              </a:lnSpc>
              <a:buFont typeface="Arial" panose="020B0604020202020204" pitchFamily="34" charset="0"/>
              <a:buChar char="•"/>
            </a:pPr>
            <a:r>
              <a:rPr lang="en-US" sz="2800" dirty="0">
                <a:latin typeface="Calibir"/>
              </a:rPr>
              <a:t>Don’t collaborate with others (individual attempt).</a:t>
            </a:r>
          </a:p>
          <a:p>
            <a:pPr marL="914400" lvl="1" indent="-457200">
              <a:lnSpc>
                <a:spcPct val="150000"/>
              </a:lnSpc>
              <a:buFont typeface="Arial" panose="020B0604020202020204" pitchFamily="34" charset="0"/>
              <a:buChar char="•"/>
            </a:pPr>
            <a:r>
              <a:rPr lang="en-US" sz="2800" dirty="0">
                <a:latin typeface="Calibir"/>
              </a:rPr>
              <a:t>Don’t rely only on memory—use the allowed materials effectively.</a:t>
            </a:r>
          </a:p>
        </p:txBody>
      </p:sp>
    </p:spTree>
    <p:extLst>
      <p:ext uri="{BB962C8B-B14F-4D97-AF65-F5344CB8AC3E}">
        <p14:creationId xmlns:p14="http://schemas.microsoft.com/office/powerpoint/2010/main" val="261715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654F5-1956-6D66-28AE-864894DF7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667F51-A883-9E82-6CF5-9801DC0E59E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BBAE6F56-FAAA-D7C7-2D46-AD89FB77B02C}"/>
              </a:ext>
            </a:extLst>
          </p:cNvPr>
          <p:cNvSpPr txBox="1"/>
          <p:nvPr/>
        </p:nvSpPr>
        <p:spPr>
          <a:xfrm>
            <a:off x="0" y="1072057"/>
            <a:ext cx="11971282" cy="1318181"/>
          </a:xfrm>
          <a:prstGeom prst="rect">
            <a:avLst/>
          </a:prstGeom>
          <a:noFill/>
        </p:spPr>
        <p:txBody>
          <a:bodyPr wrap="square">
            <a:spAutoFit/>
          </a:bodyPr>
          <a:lstStyle/>
          <a:p>
            <a:pPr>
              <a:lnSpc>
                <a:spcPct val="150000"/>
              </a:lnSpc>
            </a:pPr>
            <a:r>
              <a:rPr lang="en-US" sz="2800" b="1" dirty="0">
                <a:latin typeface="Calibir"/>
              </a:rPr>
              <a:t>Password</a:t>
            </a:r>
            <a:endParaRPr lang="en-US" sz="2800" dirty="0">
              <a:latin typeface="Calibir"/>
            </a:endParaRPr>
          </a:p>
          <a:p>
            <a:pPr marL="914400" lvl="1" indent="-457200">
              <a:lnSpc>
                <a:spcPct val="150000"/>
              </a:lnSpc>
              <a:buFont typeface="Arial" panose="020B0604020202020204" pitchFamily="34" charset="0"/>
              <a:buChar char="•"/>
            </a:pPr>
            <a:r>
              <a:rPr lang="en-US" sz="2800" dirty="0">
                <a:highlight>
                  <a:srgbClr val="FFFF00"/>
                </a:highlight>
                <a:latin typeface="Calibir"/>
              </a:rPr>
              <a:t>W4H8S2T7</a:t>
            </a:r>
          </a:p>
        </p:txBody>
      </p:sp>
    </p:spTree>
    <p:extLst>
      <p:ext uri="{BB962C8B-B14F-4D97-AF65-F5344CB8AC3E}">
        <p14:creationId xmlns:p14="http://schemas.microsoft.com/office/powerpoint/2010/main" val="41184230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
        <p:nvSpPr>
          <p:cNvPr id="5" name="TextBox 4">
            <a:extLst>
              <a:ext uri="{FF2B5EF4-FFF2-40B4-BE49-F238E27FC236}">
                <a16:creationId xmlns:a16="http://schemas.microsoft.com/office/drawing/2014/main" id="{C5D0FD1A-5727-C517-DB3F-AE5077AB1E7C}"/>
              </a:ext>
            </a:extLst>
          </p:cNvPr>
          <p:cNvSpPr txBox="1"/>
          <p:nvPr/>
        </p:nvSpPr>
        <p:spPr>
          <a:xfrm>
            <a:off x="3790335" y="3600826"/>
            <a:ext cx="8401665" cy="3086871"/>
          </a:xfrm>
          <a:prstGeom prst="rect">
            <a:avLst/>
          </a:prstGeom>
          <a:noFill/>
        </p:spPr>
        <p:txBody>
          <a:bodyPr wrap="square">
            <a:spAutoFit/>
          </a:bodyPr>
          <a:lstStyle/>
          <a:p>
            <a:pPr>
              <a:lnSpc>
                <a:spcPct val="150000"/>
              </a:lnSpc>
            </a:pPr>
            <a:r>
              <a:rPr lang="en-US" sz="2200" dirty="0">
                <a:latin typeface="Calibir"/>
              </a:rPr>
              <a:t>In UML use case diagrams, “</a:t>
            </a:r>
            <a:r>
              <a:rPr lang="en-US" sz="2200" b="1" dirty="0">
                <a:latin typeface="Calibir"/>
              </a:rPr>
              <a:t>include</a:t>
            </a:r>
            <a:r>
              <a:rPr lang="en-US" sz="2200" dirty="0">
                <a:latin typeface="Calibir"/>
              </a:rPr>
              <a:t>” means the base use case (Book Ride) always depends on and calls the included use case (Make Payment). Since payment is a required step in completing any booking, it cannot be skipped.</a:t>
            </a:r>
          </a:p>
          <a:p>
            <a:pPr>
              <a:lnSpc>
                <a:spcPct val="150000"/>
              </a:lnSpc>
            </a:pPr>
            <a:r>
              <a:rPr lang="en-US" sz="2200" dirty="0">
                <a:latin typeface="Calibir"/>
              </a:rPr>
              <a:t>So: Book Ride includes Make Payment, because booking is not complete without payment.</a:t>
            </a:r>
          </a:p>
        </p:txBody>
      </p:sp>
    </p:spTree>
    <p:extLst>
      <p:ext uri="{BB962C8B-B14F-4D97-AF65-F5344CB8AC3E}">
        <p14:creationId xmlns:p14="http://schemas.microsoft.com/office/powerpoint/2010/main" val="84289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313B6962-3F1A-8DA6-04F7-FC7415D9FFBD}"/>
              </a:ext>
            </a:extLst>
          </p:cNvPr>
          <p:cNvSpPr txBox="1"/>
          <p:nvPr/>
        </p:nvSpPr>
        <p:spPr>
          <a:xfrm>
            <a:off x="3856704" y="3407216"/>
            <a:ext cx="8335296" cy="3031086"/>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600" dirty="0">
                <a:latin typeface="Calibir"/>
              </a:rPr>
              <a:t>Association in UML simply means two classes/objects are related or connected in some way.</a:t>
            </a:r>
          </a:p>
          <a:p>
            <a:pPr marL="342900" indent="-342900">
              <a:lnSpc>
                <a:spcPct val="150000"/>
              </a:lnSpc>
              <a:buFont typeface="Arial" panose="020B0604020202020204" pitchFamily="34" charset="0"/>
              <a:buChar char="•"/>
            </a:pPr>
            <a:r>
              <a:rPr lang="en-US" sz="2600" dirty="0">
                <a:latin typeface="Calibir"/>
              </a:rPr>
              <a:t>In this example, </a:t>
            </a:r>
            <a:r>
              <a:rPr lang="en-US" sz="2600" dirty="0" err="1">
                <a:latin typeface="Calibir"/>
              </a:rPr>
              <a:t>MiniMap</a:t>
            </a:r>
            <a:r>
              <a:rPr lang="en-US" sz="2600" dirty="0">
                <a:latin typeface="Calibir"/>
              </a:rPr>
              <a:t> and Inventory are independent features, but they both appear on the screen and can interact with the player or the game system.</a:t>
            </a:r>
          </a:p>
        </p:txBody>
      </p:sp>
    </p:spTree>
    <p:extLst>
      <p:ext uri="{BB962C8B-B14F-4D97-AF65-F5344CB8AC3E}">
        <p14:creationId xmlns:p14="http://schemas.microsoft.com/office/powerpoint/2010/main" val="93197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710C-6242-71F3-0661-04AB508CE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E24B3E-0AA6-082D-90E3-DB131F60A04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0CB2BD43-BFDE-149A-83ED-4BCD7FCAEBB9}"/>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9203B56-BFB6-473F-6EDA-9914D5097E77}"/>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EC3F19BE-951C-6D91-3582-36F47DD537A9}"/>
              </a:ext>
            </a:extLst>
          </p:cNvPr>
          <p:cNvSpPr txBox="1"/>
          <p:nvPr/>
        </p:nvSpPr>
        <p:spPr>
          <a:xfrm>
            <a:off x="3856704" y="3407216"/>
            <a:ext cx="8335296" cy="3359061"/>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dirty="0">
                <a:latin typeface="Calibir"/>
              </a:rPr>
              <a:t>There is no "whole–part" relationship (so not Aggregation), and neither one is a specialized form of the other (so not Generalization). Multiplicity (1..*) just describes how many instances exist but is not itself a relationship type.</a:t>
            </a:r>
          </a:p>
          <a:p>
            <a:pPr>
              <a:lnSpc>
                <a:spcPct val="150000"/>
              </a:lnSpc>
              <a:buNone/>
            </a:pPr>
            <a:r>
              <a:rPr lang="en-US" sz="2400" dirty="0">
                <a:latin typeface="Calibir"/>
              </a:rPr>
              <a:t>Therefore, the correct choice is Association, since </a:t>
            </a:r>
            <a:r>
              <a:rPr lang="en-US" sz="2400" dirty="0" err="1">
                <a:latin typeface="Calibir"/>
              </a:rPr>
              <a:t>MiniMap</a:t>
            </a:r>
            <a:r>
              <a:rPr lang="en-US" sz="2400" dirty="0">
                <a:latin typeface="Calibir"/>
              </a:rPr>
              <a:t> and Inventory are just linked as separate features shown together.</a:t>
            </a:r>
          </a:p>
        </p:txBody>
      </p:sp>
    </p:spTree>
    <p:extLst>
      <p:ext uri="{BB962C8B-B14F-4D97-AF65-F5344CB8AC3E}">
        <p14:creationId xmlns:p14="http://schemas.microsoft.com/office/powerpoint/2010/main" val="14442192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06C14EC1-CE55-1AE1-CC1D-29BCD18AC03F}"/>
              </a:ext>
            </a:extLst>
          </p:cNvPr>
          <p:cNvSpPr txBox="1"/>
          <p:nvPr/>
        </p:nvSpPr>
        <p:spPr>
          <a:xfrm>
            <a:off x="3185652" y="2785828"/>
            <a:ext cx="9006348" cy="407226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In UML use case diagrams, a line connecting an actor (like a user) to a use case (like “Book Ride”) is an association.</a:t>
            </a:r>
          </a:p>
          <a:p>
            <a:pPr marL="342900" indent="-342900">
              <a:lnSpc>
                <a:spcPct val="150000"/>
              </a:lnSpc>
              <a:buFont typeface="Arial" panose="020B0604020202020204" pitchFamily="34" charset="0"/>
              <a:buChar char="•"/>
            </a:pPr>
            <a:r>
              <a:rPr lang="en-US" sz="2500" dirty="0">
                <a:latin typeface="Calibir"/>
              </a:rPr>
              <a:t>This shows the actor participates in or interacts with that use case.</a:t>
            </a:r>
          </a:p>
          <a:p>
            <a:pPr marL="342900" indent="-342900">
              <a:lnSpc>
                <a:spcPct val="150000"/>
              </a:lnSpc>
              <a:buFont typeface="Arial" panose="020B0604020202020204" pitchFamily="34" charset="0"/>
              <a:buChar char="•"/>
            </a:pPr>
            <a:r>
              <a:rPr lang="en-US" sz="2500" dirty="0">
                <a:latin typeface="Calibir"/>
              </a:rPr>
              <a:t>The other options (include, extend, generalization) describe relationships between use cases, not between an actor and a use case.</a:t>
            </a:r>
          </a:p>
        </p:txBody>
      </p:sp>
    </p:spTree>
    <p:extLst>
      <p:ext uri="{BB962C8B-B14F-4D97-AF65-F5344CB8AC3E}">
        <p14:creationId xmlns:p14="http://schemas.microsoft.com/office/powerpoint/2010/main" val="374209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2FE2-FACF-D233-38E3-05FF82096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79AA-74C3-5ABE-9513-B94E42A3E5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72FF746-70EC-C73F-3106-E854274A5DF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5C77791-0B3C-8E0F-0D42-22EBDFDDAEA4}"/>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E60A7132-97C1-BE9A-0F43-B6462DBA0F62}"/>
              </a:ext>
            </a:extLst>
          </p:cNvPr>
          <p:cNvSpPr txBox="1"/>
          <p:nvPr/>
        </p:nvSpPr>
        <p:spPr>
          <a:xfrm>
            <a:off x="3185652" y="2785828"/>
            <a:ext cx="9006348" cy="1321772"/>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So: An actor is connected to a use case with an Association relationship.</a:t>
            </a:r>
            <a:endParaRPr lang="en-US" sz="2500" dirty="0">
              <a:latin typeface="Calibir"/>
            </a:endParaRPr>
          </a:p>
        </p:txBody>
      </p:sp>
    </p:spTree>
    <p:extLst>
      <p:ext uri="{BB962C8B-B14F-4D97-AF65-F5344CB8AC3E}">
        <p14:creationId xmlns:p14="http://schemas.microsoft.com/office/powerpoint/2010/main" val="2012636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72DD306C-EF7F-92A4-A030-16A620B66F86}"/>
              </a:ext>
            </a:extLst>
          </p:cNvPr>
          <p:cNvSpPr txBox="1"/>
          <p:nvPr/>
        </p:nvSpPr>
        <p:spPr>
          <a:xfrm>
            <a:off x="5515896" y="1968342"/>
            <a:ext cx="6676103"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The relationship described is that one quest can give multiple bonus items.</a:t>
            </a:r>
          </a:p>
          <a:p>
            <a:pPr marL="342900" indent="-342900">
              <a:lnSpc>
                <a:spcPct val="150000"/>
              </a:lnSpc>
              <a:buFont typeface="Arial" panose="020B0604020202020204" pitchFamily="34" charset="0"/>
              <a:buChar char="•"/>
            </a:pPr>
            <a:r>
              <a:rPr lang="en-US" sz="2800" dirty="0">
                <a:latin typeface="Calibir"/>
              </a:rPr>
              <a:t>That is a one-to-many association (1..*) in UML.</a:t>
            </a:r>
          </a:p>
        </p:txBody>
      </p:sp>
    </p:spTree>
    <p:extLst>
      <p:ext uri="{BB962C8B-B14F-4D97-AF65-F5344CB8AC3E}">
        <p14:creationId xmlns:p14="http://schemas.microsoft.com/office/powerpoint/2010/main" val="249094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B08F-8E74-160B-03A0-FA47C7392B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B4739-B3D3-2B96-FA06-7251002D7F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95400F3-1EC6-48C8-1387-D023F09133B7}"/>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207D320-0799-CD28-F552-62CB866526D9}"/>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4463C050-0192-DA17-C992-9E0B8F52F3E1}"/>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It’s not inheritance (because </a:t>
            </a:r>
            <a:r>
              <a:rPr lang="en-US" sz="2800" dirty="0" err="1">
                <a:latin typeface="Calibir"/>
              </a:rPr>
              <a:t>BonusItem</a:t>
            </a:r>
            <a:r>
              <a:rPr lang="en-US" sz="2800" dirty="0">
                <a:latin typeface="Calibir"/>
              </a:rPr>
              <a:t> is not a subtype of Quest), and not use dependency (because </a:t>
            </a:r>
            <a:r>
              <a:rPr lang="en-US" sz="2800" dirty="0" err="1">
                <a:latin typeface="Calibir"/>
              </a:rPr>
              <a:t>BonusItems</a:t>
            </a:r>
            <a:r>
              <a:rPr lang="en-US" sz="2800" dirty="0">
                <a:latin typeface="Calibir"/>
              </a:rPr>
              <a:t> don’t define behavior of Quest, they are just rewards).</a:t>
            </a:r>
          </a:p>
        </p:txBody>
      </p:sp>
    </p:spTree>
    <p:extLst>
      <p:ext uri="{BB962C8B-B14F-4D97-AF65-F5344CB8AC3E}">
        <p14:creationId xmlns:p14="http://schemas.microsoft.com/office/powerpoint/2010/main" val="10156874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CCC68-F756-D646-70AD-0802E0A3E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27081-DAB8-F360-1F14-CD7FED0F6CC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1C85FAC-71E9-CECA-2048-2449681CCEE2}"/>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995FDB8-1B1D-4487-1692-CEF0A87F5156}"/>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2B02AF5E-85C8-DC25-D7FB-6747A1A02466}"/>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Option b would mean the reverse (many quests give only one item), which doesn’t match the description.</a:t>
            </a:r>
          </a:p>
          <a:p>
            <a:pPr>
              <a:lnSpc>
                <a:spcPct val="150000"/>
              </a:lnSpc>
              <a:buNone/>
            </a:pPr>
            <a:r>
              <a:rPr lang="en-US" sz="2800" dirty="0">
                <a:latin typeface="Calibir"/>
              </a:rPr>
              <a:t>So the diagram is 1 Quest → many </a:t>
            </a:r>
            <a:r>
              <a:rPr lang="en-US" sz="2800" dirty="0" err="1">
                <a:latin typeface="Calibir"/>
              </a:rPr>
              <a:t>BonusItems</a:t>
            </a:r>
            <a:r>
              <a:rPr lang="en-US" sz="2800" dirty="0">
                <a:latin typeface="Calibir"/>
              </a:rPr>
              <a:t> (one-to-many association).</a:t>
            </a:r>
          </a:p>
        </p:txBody>
      </p:sp>
    </p:spTree>
    <p:extLst>
      <p:ext uri="{BB962C8B-B14F-4D97-AF65-F5344CB8AC3E}">
        <p14:creationId xmlns:p14="http://schemas.microsoft.com/office/powerpoint/2010/main" val="41703186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5EB4473D-CCC4-B02D-0B68-7E27FC1C9704}"/>
              </a:ext>
            </a:extLst>
          </p:cNvPr>
          <p:cNvSpPr txBox="1"/>
          <p:nvPr/>
        </p:nvSpPr>
        <p:spPr>
          <a:xfrm>
            <a:off x="7580671" y="818157"/>
            <a:ext cx="4611329"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Procedural programming</a:t>
            </a:r>
            <a:r>
              <a:rPr lang="en-US" sz="2800" dirty="0">
                <a:latin typeface="Calibir"/>
              </a:rPr>
              <a:t> is step-by-step, with functions and procedures operating on data separately.</a:t>
            </a:r>
          </a:p>
        </p:txBody>
      </p:sp>
    </p:spTree>
    <p:extLst>
      <p:ext uri="{BB962C8B-B14F-4D97-AF65-F5344CB8AC3E}">
        <p14:creationId xmlns:p14="http://schemas.microsoft.com/office/powerpoint/2010/main" val="373253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8CBA6-EE69-C216-6F86-72B1F6985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C72C3-9FEB-ECBD-1BFE-42382000735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AAF40686-2A8F-CABE-39D2-EE2BAE2F746E}"/>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66BEB347-1190-6437-0F40-46C3E72CCFA2}"/>
              </a:ext>
            </a:extLst>
          </p:cNvPr>
          <p:cNvSpPr txBox="1"/>
          <p:nvPr/>
        </p:nvSpPr>
        <p:spPr>
          <a:xfrm>
            <a:off x="7580671" y="830917"/>
            <a:ext cx="4611329" cy="45498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Object-oriented programming (OOP)</a:t>
            </a:r>
            <a:r>
              <a:rPr lang="en-US" sz="2800" dirty="0">
                <a:latin typeface="Calibir"/>
              </a:rPr>
              <a:t> groups both data </a:t>
            </a:r>
            <a:r>
              <a:rPr lang="en-US" sz="2800" b="1" dirty="0">
                <a:latin typeface="Calibir"/>
              </a:rPr>
              <a:t>and</a:t>
            </a:r>
            <a:r>
              <a:rPr lang="en-US" sz="2800" dirty="0">
                <a:latin typeface="Calibir"/>
              </a:rPr>
              <a:t> behavior together inside classes and objects, making code reusable and easier to manage.</a:t>
            </a:r>
          </a:p>
        </p:txBody>
      </p:sp>
    </p:spTree>
    <p:extLst>
      <p:ext uri="{BB962C8B-B14F-4D97-AF65-F5344CB8AC3E}">
        <p14:creationId xmlns:p14="http://schemas.microsoft.com/office/powerpoint/2010/main" val="2750711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C7838-B41B-7EDC-D30B-10624C41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E82E8-8B1E-9983-FC43-BD1F040351F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2EBE42F-967F-5694-9C32-F5A9D7304FDE}"/>
              </a:ext>
            </a:extLst>
          </p:cNvPr>
          <p:cNvSpPr txBox="1"/>
          <p:nvPr/>
        </p:nvSpPr>
        <p:spPr>
          <a:xfrm>
            <a:off x="0" y="830917"/>
            <a:ext cx="7329949"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C942EF13-149C-2537-1FD9-3F207D794555}"/>
              </a:ext>
            </a:extLst>
          </p:cNvPr>
          <p:cNvSpPr txBox="1"/>
          <p:nvPr/>
        </p:nvSpPr>
        <p:spPr>
          <a:xfrm>
            <a:off x="7329949" y="830917"/>
            <a:ext cx="4862052" cy="613385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200" dirty="0">
                <a:latin typeface="Calibir"/>
              </a:rPr>
              <a:t>The other options are incorrect because:</a:t>
            </a:r>
          </a:p>
          <a:p>
            <a:pPr marL="742950" lvl="1" indent="-285750">
              <a:lnSpc>
                <a:spcPct val="150000"/>
              </a:lnSpc>
              <a:buFont typeface="Arial" panose="020B0604020202020204" pitchFamily="34" charset="0"/>
              <a:buChar char="•"/>
            </a:pPr>
            <a:r>
              <a:rPr lang="en-US" sz="2200" dirty="0">
                <a:latin typeface="Calibir"/>
              </a:rPr>
              <a:t>(b) Procedural does not hide data in classes (that’s OOP’s job).</a:t>
            </a:r>
          </a:p>
          <a:p>
            <a:pPr marL="742950" lvl="1" indent="-285750">
              <a:lnSpc>
                <a:spcPct val="150000"/>
              </a:lnSpc>
              <a:buFont typeface="Arial" panose="020B0604020202020204" pitchFamily="34" charset="0"/>
              <a:buChar char="•"/>
            </a:pPr>
            <a:r>
              <a:rPr lang="en-US" sz="2200" dirty="0">
                <a:latin typeface="Calibir"/>
              </a:rPr>
              <a:t>(c) OOP does not automatically share all global variables between methods.</a:t>
            </a:r>
          </a:p>
          <a:p>
            <a:pPr marL="742950" lvl="1" indent="-285750">
              <a:lnSpc>
                <a:spcPct val="150000"/>
              </a:lnSpc>
              <a:buFont typeface="Arial" panose="020B0604020202020204" pitchFamily="34" charset="0"/>
              <a:buChar char="•"/>
            </a:pPr>
            <a:r>
              <a:rPr lang="en-US" sz="2200" dirty="0">
                <a:latin typeface="Calibir"/>
              </a:rPr>
              <a:t>(d) Procedural and OOP are not identical.</a:t>
            </a:r>
          </a:p>
          <a:p>
            <a:pPr>
              <a:lnSpc>
                <a:spcPct val="150000"/>
              </a:lnSpc>
              <a:buNone/>
            </a:pPr>
            <a:r>
              <a:rPr lang="en-US" sz="2200" dirty="0">
                <a:latin typeface="Calibir"/>
              </a:rPr>
              <a:t>So, the key difference: OOP = classes and objects; Procedural = functions and steps.</a:t>
            </a:r>
          </a:p>
        </p:txBody>
      </p:sp>
    </p:spTree>
    <p:extLst>
      <p:ext uri="{BB962C8B-B14F-4D97-AF65-F5344CB8AC3E}">
        <p14:creationId xmlns:p14="http://schemas.microsoft.com/office/powerpoint/2010/main" val="16460136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39CFD2D4-6822-C376-DFDC-5C348193C116}"/>
              </a:ext>
            </a:extLst>
          </p:cNvPr>
          <p:cNvSpPr txBox="1"/>
          <p:nvPr/>
        </p:nvSpPr>
        <p:spPr>
          <a:xfrm>
            <a:off x="4950543" y="1072057"/>
            <a:ext cx="7241457"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Encapsulation</a:t>
            </a:r>
            <a:r>
              <a:rPr lang="en-US" sz="2800" dirty="0">
                <a:latin typeface="Calibir"/>
              </a:rPr>
              <a:t> → Python lets you bundle data (attributes) and behavior (methods) inside classes.</a:t>
            </a:r>
          </a:p>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 Classes can inherit from other classes, supporting single and multiple inheritance.</a:t>
            </a:r>
          </a:p>
          <a:p>
            <a:pPr marL="457200" indent="-457200">
              <a:lnSpc>
                <a:spcPct val="150000"/>
              </a:lnSpc>
              <a:buFont typeface="Arial" panose="020B0604020202020204" pitchFamily="34" charset="0"/>
              <a:buChar char="•"/>
            </a:pPr>
            <a:r>
              <a:rPr lang="en-US" sz="2800" b="1" dirty="0">
                <a:latin typeface="Calibir"/>
              </a:rPr>
              <a:t>Polymorphism</a:t>
            </a:r>
            <a:r>
              <a:rPr lang="en-US" sz="2800" dirty="0">
                <a:latin typeface="Calibir"/>
              </a:rPr>
              <a:t> → Methods with the same name can behave differently depending on the object (duck typing, method overriding).</a:t>
            </a:r>
          </a:p>
        </p:txBody>
      </p:sp>
    </p:spTree>
    <p:extLst>
      <p:ext uri="{BB962C8B-B14F-4D97-AF65-F5344CB8AC3E}">
        <p14:creationId xmlns:p14="http://schemas.microsoft.com/office/powerpoint/2010/main" val="143856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49E2A-866B-3010-D3C6-CBBFAD0B0E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D5F75-1B86-DA47-5C8A-D862F606F85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0BD8974-E891-9024-20B1-F60E51FB9EF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B81C6AF6-3290-ED1D-AD9A-76387B809F28}"/>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ADBE320C-9CDD-A0D4-4A20-9D6017B1E744}"/>
              </a:ext>
            </a:extLst>
          </p:cNvPr>
          <p:cNvSpPr txBox="1"/>
          <p:nvPr/>
        </p:nvSpPr>
        <p:spPr>
          <a:xfrm>
            <a:off x="4950543" y="1072057"/>
            <a:ext cx="7241457"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Abstraction → </a:t>
            </a:r>
            <a:r>
              <a:rPr lang="en-US" sz="2800" dirty="0">
                <a:latin typeface="Calibir"/>
              </a:rPr>
              <a:t>Achieved through abstract base classes (</a:t>
            </a:r>
            <a:r>
              <a:rPr lang="en-US" sz="2800" dirty="0" err="1">
                <a:latin typeface="Calibir"/>
              </a:rPr>
              <a:t>abc</a:t>
            </a:r>
            <a:r>
              <a:rPr lang="en-US" sz="2800" dirty="0">
                <a:latin typeface="Calibir"/>
              </a:rPr>
              <a:t> module) or by hiding implementation details behind methods.</a:t>
            </a:r>
          </a:p>
          <a:p>
            <a:pPr>
              <a:lnSpc>
                <a:spcPct val="150000"/>
              </a:lnSpc>
              <a:buNone/>
            </a:pPr>
            <a:r>
              <a:rPr lang="en-US" sz="2800" dirty="0">
                <a:latin typeface="Calibir"/>
              </a:rPr>
              <a:t>Python, as a fully object-oriented language, supports all four core OOP principles.</a:t>
            </a:r>
          </a:p>
        </p:txBody>
      </p:sp>
    </p:spTree>
    <p:extLst>
      <p:ext uri="{BB962C8B-B14F-4D97-AF65-F5344CB8AC3E}">
        <p14:creationId xmlns:p14="http://schemas.microsoft.com/office/powerpoint/2010/main" val="16911984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B21EB4AF-77D2-764E-476E-0CA484B23D2D}"/>
              </a:ext>
            </a:extLst>
          </p:cNvPr>
          <p:cNvSpPr txBox="1"/>
          <p:nvPr/>
        </p:nvSpPr>
        <p:spPr>
          <a:xfrm>
            <a:off x="5021826" y="1072057"/>
            <a:ext cx="7170174"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 a use-case model, an actor is something outside the system that interacts with it (like a customer, a guard, or an ATM).</a:t>
            </a:r>
          </a:p>
          <a:p>
            <a:pPr marL="457200" indent="-457200">
              <a:lnSpc>
                <a:spcPct val="150000"/>
              </a:lnSpc>
              <a:buFont typeface="Arial" panose="020B0604020202020204" pitchFamily="34" charset="0"/>
              <a:buChar char="•"/>
            </a:pPr>
            <a:r>
              <a:rPr lang="en-US" sz="2800" dirty="0">
                <a:latin typeface="Calibir"/>
              </a:rPr>
              <a:t>The system itself is </a:t>
            </a:r>
            <a:r>
              <a:rPr lang="en-US" sz="2800" i="1" dirty="0">
                <a:latin typeface="Calibir"/>
              </a:rPr>
              <a:t>not</a:t>
            </a:r>
            <a:r>
              <a:rPr lang="en-US" sz="2800" dirty="0">
                <a:latin typeface="Calibir"/>
              </a:rPr>
              <a:t> an actor — it’s the subject being modeled.</a:t>
            </a:r>
          </a:p>
        </p:txBody>
      </p:sp>
    </p:spTree>
    <p:extLst>
      <p:ext uri="{BB962C8B-B14F-4D97-AF65-F5344CB8AC3E}">
        <p14:creationId xmlns:p14="http://schemas.microsoft.com/office/powerpoint/2010/main" val="1510576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3EC8-C5D5-D271-1F1D-99F5758E7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F4F963-CF36-E985-A648-0D33BE639DA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269AFBA-3F11-EB33-4F85-73A688BC014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8F26057-226C-2FA7-EC56-CA411AB73190}"/>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F1FD48D8-9722-69D9-EEA6-250B763016DE}"/>
              </a:ext>
            </a:extLst>
          </p:cNvPr>
          <p:cNvSpPr txBox="1"/>
          <p:nvPr/>
        </p:nvSpPr>
        <p:spPr>
          <a:xfrm>
            <a:off x="5021826" y="1072057"/>
            <a:ext cx="7170174"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So while the Bank Customer, Security Guard, and Teller Machine can all act as external actors, the Online Banking System is the system boundary, not an actor.</a:t>
            </a:r>
          </a:p>
          <a:p>
            <a:pPr>
              <a:lnSpc>
                <a:spcPct val="150000"/>
              </a:lnSpc>
              <a:buNone/>
            </a:pPr>
            <a:r>
              <a:rPr lang="en-US" sz="2800" dirty="0">
                <a:latin typeface="Calibir"/>
              </a:rPr>
              <a:t>Therefore, Online Banking System is NOT suitable as an actor.</a:t>
            </a:r>
          </a:p>
        </p:txBody>
      </p:sp>
    </p:spTree>
    <p:extLst>
      <p:ext uri="{BB962C8B-B14F-4D97-AF65-F5344CB8AC3E}">
        <p14:creationId xmlns:p14="http://schemas.microsoft.com/office/powerpoint/2010/main" val="29095226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03DAB59A-1B5D-EE99-EDE7-B6F22E2AC56C}"/>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Agile is all about flexibility — requirements can change anytime through the backlog and user stories.</a:t>
            </a:r>
          </a:p>
          <a:p>
            <a:pPr marL="457200" indent="-457200">
              <a:lnSpc>
                <a:spcPct val="150000"/>
              </a:lnSpc>
              <a:buFont typeface="Arial" panose="020B0604020202020204" pitchFamily="34" charset="0"/>
              <a:buChar char="•"/>
            </a:pPr>
            <a:r>
              <a:rPr lang="en-US" sz="2800" dirty="0">
                <a:latin typeface="Calibir"/>
              </a:rPr>
              <a:t>(a) Continuous testing each cycle → Agile promotes iterative testing.</a:t>
            </a:r>
          </a:p>
        </p:txBody>
      </p:sp>
    </p:spTree>
    <p:extLst>
      <p:ext uri="{BB962C8B-B14F-4D97-AF65-F5344CB8AC3E}">
        <p14:creationId xmlns:p14="http://schemas.microsoft.com/office/powerpoint/2010/main" val="566215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235B5-8404-6C8D-E15B-9D5BBB302B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F3B7B-A809-B387-4680-F5FED200A21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7006F7C1-88A5-BE77-6F8F-0AD72360CC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1E92FD0-2A5F-19BF-E612-A2EAEB791E70}"/>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3FE3AE68-A097-D155-CDF3-DBCCE245C54F}"/>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(c) Flexible backlog  → Agile backlog evolves with feedback.</a:t>
            </a:r>
          </a:p>
          <a:p>
            <a:pPr marL="457200" indent="-457200">
              <a:lnSpc>
                <a:spcPct val="150000"/>
              </a:lnSpc>
              <a:buFont typeface="Arial" panose="020B0604020202020204" pitchFamily="34" charset="0"/>
              <a:buChar char="•"/>
            </a:pPr>
            <a:r>
              <a:rPr lang="en-US" sz="2800" dirty="0">
                <a:latin typeface="Calibir"/>
              </a:rPr>
              <a:t>(d) Active customer collaboration  → Core Agile principle.</a:t>
            </a:r>
          </a:p>
          <a:p>
            <a:pPr>
              <a:lnSpc>
                <a:spcPct val="150000"/>
              </a:lnSpc>
              <a:buNone/>
            </a:pPr>
            <a:r>
              <a:rPr lang="en-US" sz="2800" dirty="0">
                <a:latin typeface="Calibir"/>
              </a:rPr>
              <a:t>Fixed requirements go against Agile, so (b) is NOT an advantage.</a:t>
            </a:r>
          </a:p>
        </p:txBody>
      </p:sp>
    </p:spTree>
    <p:extLst>
      <p:ext uri="{BB962C8B-B14F-4D97-AF65-F5344CB8AC3E}">
        <p14:creationId xmlns:p14="http://schemas.microsoft.com/office/powerpoint/2010/main" val="32667215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09"/>
            <a:ext cx="5982930" cy="4549835"/>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
        <p:nvSpPr>
          <p:cNvPr id="5" name="TextBox 4">
            <a:extLst>
              <a:ext uri="{FF2B5EF4-FFF2-40B4-BE49-F238E27FC236}">
                <a16:creationId xmlns:a16="http://schemas.microsoft.com/office/drawing/2014/main" id="{3FEBAE7D-D313-852C-7F22-E320A1943D23}"/>
              </a:ext>
            </a:extLst>
          </p:cNvPr>
          <p:cNvSpPr txBox="1"/>
          <p:nvPr/>
        </p:nvSpPr>
        <p:spPr>
          <a:xfrm>
            <a:off x="5982930" y="1072057"/>
            <a:ext cx="6209070"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class is the blueprint.</a:t>
            </a:r>
          </a:p>
          <a:p>
            <a:pPr marL="457200" indent="-457200">
              <a:lnSpc>
                <a:spcPct val="150000"/>
              </a:lnSpc>
              <a:buFont typeface="Arial" panose="020B0604020202020204" pitchFamily="34" charset="0"/>
              <a:buChar char="•"/>
            </a:pPr>
            <a:r>
              <a:rPr lang="en-US" sz="2800" dirty="0">
                <a:latin typeface="Calibir"/>
              </a:rPr>
              <a:t>An object is a real instance created from that class.</a:t>
            </a:r>
          </a:p>
          <a:p>
            <a:pPr marL="457200" indent="-457200">
              <a:lnSpc>
                <a:spcPct val="150000"/>
              </a:lnSpc>
              <a:buFont typeface="Arial" panose="020B0604020202020204" pitchFamily="34" charset="0"/>
              <a:buChar char="•"/>
            </a:pPr>
            <a:r>
              <a:rPr lang="en-US" sz="2800" dirty="0">
                <a:latin typeface="Calibir"/>
              </a:rPr>
              <a:t>It carries attributes (data) and methods (behavior).</a:t>
            </a:r>
          </a:p>
          <a:p>
            <a:pPr marL="457200" indent="-457200">
              <a:lnSpc>
                <a:spcPct val="150000"/>
              </a:lnSpc>
              <a:buFont typeface="Arial" panose="020B0604020202020204" pitchFamily="34" charset="0"/>
              <a:buChar char="•"/>
            </a:pPr>
            <a:r>
              <a:rPr lang="en-US" sz="2800" dirty="0">
                <a:latin typeface="Calibir"/>
              </a:rPr>
              <a:t>Options (a), (c), and (d) confuse the role of classes vs. objects.</a:t>
            </a:r>
          </a:p>
          <a:p>
            <a:pPr>
              <a:lnSpc>
                <a:spcPct val="150000"/>
              </a:lnSpc>
              <a:buNone/>
            </a:pPr>
            <a:r>
              <a:rPr lang="en-US" sz="2800" dirty="0">
                <a:latin typeface="Calibir"/>
              </a:rPr>
              <a:t>So: Object = a working instance of a class with data + behavior.</a:t>
            </a:r>
          </a:p>
        </p:txBody>
      </p:sp>
    </p:spTree>
    <p:extLst>
      <p:ext uri="{BB962C8B-B14F-4D97-AF65-F5344CB8AC3E}">
        <p14:creationId xmlns:p14="http://schemas.microsoft.com/office/powerpoint/2010/main" val="82063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2E3C18DC-CC59-1BB6-3871-978D85E73947}"/>
              </a:ext>
            </a:extLst>
          </p:cNvPr>
          <p:cNvSpPr txBox="1"/>
          <p:nvPr/>
        </p:nvSpPr>
        <p:spPr>
          <a:xfrm>
            <a:off x="7020232" y="1072057"/>
            <a:ext cx="517176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performs a task and returns a value (e.g., sum(2,3) returns 5).</a:t>
            </a:r>
          </a:p>
          <a:p>
            <a:pPr marL="457200" indent="-457200">
              <a:lnSpc>
                <a:spcPct val="150000"/>
              </a:lnSpc>
              <a:buFont typeface="Arial" panose="020B0604020202020204" pitchFamily="34" charset="0"/>
              <a:buChar char="•"/>
            </a:pPr>
            <a:r>
              <a:rPr lang="en-US" sz="2800" dirty="0">
                <a:latin typeface="Calibir"/>
              </a:rPr>
              <a:t>A procedure performs a task but does not return a value (it just executes steps).</a:t>
            </a:r>
          </a:p>
        </p:txBody>
      </p:sp>
    </p:spTree>
    <p:extLst>
      <p:ext uri="{BB962C8B-B14F-4D97-AF65-F5344CB8AC3E}">
        <p14:creationId xmlns:p14="http://schemas.microsoft.com/office/powerpoint/2010/main" val="4202865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E499-8CC1-74F9-CAB3-820707E3F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E6601-6AE6-8108-78FE-D88FC7B4AEB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5A040242-67AD-3C7D-920D-F74AD576132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0766F-4B96-FDC9-D590-B9BB45503353}"/>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D9F6C9A4-2699-422C-0ECC-71B4B1483360}"/>
              </a:ext>
            </a:extLst>
          </p:cNvPr>
          <p:cNvSpPr txBox="1"/>
          <p:nvPr/>
        </p:nvSpPr>
        <p:spPr>
          <a:xfrm>
            <a:off x="7020232" y="1072057"/>
            <a:ext cx="517176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(b) is wrong → procedures don’t normally return values.</a:t>
            </a:r>
          </a:p>
          <a:p>
            <a:pPr marL="457200" indent="-457200">
              <a:lnSpc>
                <a:spcPct val="150000"/>
              </a:lnSpc>
              <a:buFont typeface="Arial" panose="020B0604020202020204" pitchFamily="34" charset="0"/>
              <a:buChar char="•"/>
            </a:pPr>
            <a:r>
              <a:rPr lang="en-US" sz="2800" dirty="0">
                <a:latin typeface="Calibir"/>
              </a:rPr>
              <a:t>(c) is wrong → functions can be assigned to variables.</a:t>
            </a:r>
          </a:p>
          <a:p>
            <a:pPr marL="457200" indent="-457200">
              <a:lnSpc>
                <a:spcPct val="150000"/>
              </a:lnSpc>
              <a:buFont typeface="Arial" panose="020B0604020202020204" pitchFamily="34" charset="0"/>
              <a:buChar char="•"/>
            </a:pPr>
            <a:r>
              <a:rPr lang="en-US" sz="2800" dirty="0">
                <a:latin typeface="Calibir"/>
              </a:rPr>
              <a:t>(d) is wrong → they are not identical, their purpose differs.</a:t>
            </a:r>
          </a:p>
          <a:p>
            <a:pPr>
              <a:lnSpc>
                <a:spcPct val="150000"/>
              </a:lnSpc>
              <a:buNone/>
            </a:pPr>
            <a:r>
              <a:rPr lang="en-US" sz="2800" dirty="0">
                <a:latin typeface="Calibir"/>
              </a:rPr>
              <a:t>So: Functions return values; procedures just carry out actions.</a:t>
            </a:r>
          </a:p>
        </p:txBody>
      </p:sp>
    </p:spTree>
    <p:extLst>
      <p:ext uri="{BB962C8B-B14F-4D97-AF65-F5344CB8AC3E}">
        <p14:creationId xmlns:p14="http://schemas.microsoft.com/office/powerpoint/2010/main" val="25835026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1" y="2062810"/>
            <a:ext cx="4955458" cy="390350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
        <p:nvSpPr>
          <p:cNvPr id="5" name="TextBox 4">
            <a:extLst>
              <a:ext uri="{FF2B5EF4-FFF2-40B4-BE49-F238E27FC236}">
                <a16:creationId xmlns:a16="http://schemas.microsoft.com/office/drawing/2014/main" id="{D3019862-5F86-1152-112A-ED45DE55CA80}"/>
              </a:ext>
            </a:extLst>
          </p:cNvPr>
          <p:cNvSpPr txBox="1"/>
          <p:nvPr/>
        </p:nvSpPr>
        <p:spPr>
          <a:xfrm>
            <a:off x="5272548" y="2062810"/>
            <a:ext cx="6919451" cy="4546950"/>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 → Public</a:t>
            </a:r>
          </a:p>
          <a:p>
            <a:pPr marL="457200" indent="-457200">
              <a:lnSpc>
                <a:spcPct val="150000"/>
              </a:lnSpc>
              <a:buFont typeface="Arial" panose="020B0604020202020204" pitchFamily="34" charset="0"/>
              <a:buChar char="•"/>
            </a:pPr>
            <a:r>
              <a:rPr lang="en-US" sz="2800" dirty="0">
                <a:latin typeface="Calibir"/>
              </a:rPr>
              <a:t>- → Private</a:t>
            </a:r>
          </a:p>
          <a:p>
            <a:pPr marL="457200" indent="-457200">
              <a:lnSpc>
                <a:spcPct val="150000"/>
              </a:lnSpc>
              <a:buFont typeface="Arial" panose="020B0604020202020204" pitchFamily="34" charset="0"/>
              <a:buChar char="•"/>
            </a:pPr>
            <a:r>
              <a:rPr lang="en-US" sz="2800" dirty="0">
                <a:latin typeface="Calibir"/>
              </a:rPr>
              <a:t># → Protected (accessible to the class itself and its subclasses)</a:t>
            </a:r>
          </a:p>
          <a:p>
            <a:pPr marL="457200" indent="-457200">
              <a:lnSpc>
                <a:spcPct val="150000"/>
              </a:lnSpc>
              <a:buFont typeface="Arial" panose="020B0604020202020204" pitchFamily="34" charset="0"/>
              <a:buChar char="•"/>
            </a:pPr>
            <a:r>
              <a:rPr lang="en-US" sz="2800" dirty="0">
                <a:latin typeface="Calibir"/>
              </a:rPr>
              <a:t>~ → Package (default, accessible within the same package)</a:t>
            </a:r>
          </a:p>
          <a:p>
            <a:pPr>
              <a:lnSpc>
                <a:spcPct val="150000"/>
              </a:lnSpc>
              <a:buNone/>
            </a:pPr>
            <a:r>
              <a:rPr lang="en-US" sz="2800" dirty="0">
                <a:latin typeface="Calibir"/>
              </a:rPr>
              <a:t>So, in UML: Protected field = #</a:t>
            </a:r>
          </a:p>
        </p:txBody>
      </p:sp>
    </p:spTree>
    <p:extLst>
      <p:ext uri="{BB962C8B-B14F-4D97-AF65-F5344CB8AC3E}">
        <p14:creationId xmlns:p14="http://schemas.microsoft.com/office/powerpoint/2010/main" val="4274789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1000"/>
                                        <p:tgtEl>
                                          <p:spTgt spid="5">
                                            <p:txEl>
                                              <p:pRg st="3" end="3"/>
                                            </p:txEl>
                                          </p:spTgt>
                                        </p:tgtEl>
                                      </p:cBhvr>
                                    </p:animEffect>
                                    <p:anim calcmode="lin" valueType="num">
                                      <p:cBhvr>
                                        <p:cTn id="2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1000"/>
                                        <p:tgtEl>
                                          <p:spTgt spid="5">
                                            <p:txEl>
                                              <p:pRg st="4" end="4"/>
                                            </p:txEl>
                                          </p:spTgt>
                                        </p:tgtEl>
                                      </p:cBhvr>
                                    </p:animEffect>
                                    <p:anim calcmode="lin" valueType="num">
                                      <p:cBhvr>
                                        <p:cTn id="2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BA1A2984-8C80-8FEE-2ABA-6F7839CC5AD8}"/>
              </a:ext>
            </a:extLst>
          </p:cNvPr>
          <p:cNvSpPr txBox="1"/>
          <p:nvPr/>
        </p:nvSpPr>
        <p:spPr>
          <a:xfrm>
            <a:off x="5331542" y="1072057"/>
            <a:ext cx="620907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means a child class can reuse attributes/methods of its parent.</a:t>
            </a:r>
          </a:p>
          <a:p>
            <a:pPr marL="457200" indent="-457200">
              <a:lnSpc>
                <a:spcPct val="150000"/>
              </a:lnSpc>
              <a:buFont typeface="Arial" panose="020B0604020202020204" pitchFamily="34" charset="0"/>
              <a:buChar char="•"/>
            </a:pPr>
            <a:r>
              <a:rPr lang="en-US" sz="2800" b="1" dirty="0">
                <a:latin typeface="Calibir"/>
              </a:rPr>
              <a:t>Protected (#)</a:t>
            </a:r>
            <a:r>
              <a:rPr lang="en-US" sz="2800" dirty="0">
                <a:latin typeface="Calibir"/>
              </a:rPr>
              <a:t> members are designed for inheritance → they are accessible within the class </a:t>
            </a:r>
            <a:r>
              <a:rPr lang="en-US" sz="2800" b="1" dirty="0">
                <a:latin typeface="Calibir"/>
              </a:rPr>
              <a:t>and</a:t>
            </a:r>
            <a:r>
              <a:rPr lang="en-US" sz="2800" dirty="0">
                <a:latin typeface="Calibir"/>
              </a:rPr>
              <a:t> its subclasses.</a:t>
            </a:r>
          </a:p>
        </p:txBody>
      </p:sp>
    </p:spTree>
    <p:extLst>
      <p:ext uri="{BB962C8B-B14F-4D97-AF65-F5344CB8AC3E}">
        <p14:creationId xmlns:p14="http://schemas.microsoft.com/office/powerpoint/2010/main" val="3150079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64548-2480-DCFE-711B-43CE5CD60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C126-AF4C-3229-A4F9-F313DEC7A2F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6A5815D-1695-8D1E-DBFA-F68595F0E9F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2B180F1-54E5-5D4E-4390-7350F3BADA22}"/>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2542B1CE-0395-FCC8-A740-7ECA0205AC4A}"/>
              </a:ext>
            </a:extLst>
          </p:cNvPr>
          <p:cNvSpPr txBox="1"/>
          <p:nvPr/>
        </p:nvSpPr>
        <p:spPr>
          <a:xfrm>
            <a:off x="5331542" y="1072057"/>
            <a:ext cx="6209070"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Public</a:t>
            </a:r>
            <a:r>
              <a:rPr lang="en-US" sz="2800" dirty="0">
                <a:latin typeface="Calibir"/>
              </a:rPr>
              <a:t> members are visible everywhere (not just inheritance).</a:t>
            </a:r>
          </a:p>
          <a:p>
            <a:pPr marL="457200" indent="-457200">
              <a:lnSpc>
                <a:spcPct val="150000"/>
              </a:lnSpc>
              <a:buFont typeface="Arial" panose="020B0604020202020204" pitchFamily="34" charset="0"/>
              <a:buChar char="•"/>
            </a:pPr>
            <a:r>
              <a:rPr lang="en-US" sz="2800" b="1" dirty="0">
                <a:latin typeface="Calibir"/>
              </a:rPr>
              <a:t>Private</a:t>
            </a:r>
            <a:r>
              <a:rPr lang="en-US" sz="2800" dirty="0">
                <a:latin typeface="Calibir"/>
              </a:rPr>
              <a:t> members are hidden from subclasses.</a:t>
            </a:r>
          </a:p>
          <a:p>
            <a:pPr marL="457200" indent="-457200">
              <a:lnSpc>
                <a:spcPct val="150000"/>
              </a:lnSpc>
              <a:buFont typeface="Arial" panose="020B0604020202020204" pitchFamily="34" charset="0"/>
              <a:buChar char="•"/>
            </a:pPr>
            <a:r>
              <a:rPr lang="en-US" sz="2800" b="1" dirty="0">
                <a:latin typeface="Calibir"/>
              </a:rPr>
              <a:t>Package (~)</a:t>
            </a:r>
            <a:r>
              <a:rPr lang="en-US" sz="2800" dirty="0">
                <a:latin typeface="Calibir"/>
              </a:rPr>
              <a:t> is limited to classes in the same package.</a:t>
            </a:r>
          </a:p>
          <a:p>
            <a:pPr>
              <a:lnSpc>
                <a:spcPct val="150000"/>
              </a:lnSpc>
              <a:buNone/>
            </a:pPr>
            <a:r>
              <a:rPr lang="en-US" sz="2800" dirty="0">
                <a:latin typeface="Calibir"/>
              </a:rPr>
              <a:t>So: Inheritance usually works with protected attributes.</a:t>
            </a:r>
          </a:p>
        </p:txBody>
      </p:sp>
    </p:spTree>
    <p:extLst>
      <p:ext uri="{BB962C8B-B14F-4D97-AF65-F5344CB8AC3E}">
        <p14:creationId xmlns:p14="http://schemas.microsoft.com/office/powerpoint/2010/main" val="2567253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D8F0447C-B175-A598-0C81-029FC163858F}"/>
              </a:ext>
            </a:extLst>
          </p:cNvPr>
          <p:cNvSpPr txBox="1"/>
          <p:nvPr/>
        </p:nvSpPr>
        <p:spPr>
          <a:xfrm>
            <a:off x="5501148" y="1242450"/>
            <a:ext cx="6690852"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Attributes are variables inside a class that store information about the object’s state (e.g., name, age in a Person class).</a:t>
            </a:r>
          </a:p>
          <a:p>
            <a:pPr marL="457200" indent="-457200">
              <a:lnSpc>
                <a:spcPct val="150000"/>
              </a:lnSpc>
              <a:buFont typeface="Arial" panose="020B0604020202020204" pitchFamily="34" charset="0"/>
              <a:buChar char="•"/>
            </a:pPr>
            <a:r>
              <a:rPr lang="en-US" sz="2800" dirty="0">
                <a:latin typeface="Calibir"/>
              </a:rPr>
              <a:t>(b) Local variables exist only inside a method, not across the whole object.</a:t>
            </a:r>
          </a:p>
          <a:p>
            <a:pPr marL="457200" indent="-457200">
              <a:lnSpc>
                <a:spcPct val="150000"/>
              </a:lnSpc>
              <a:buFont typeface="Arial" panose="020B0604020202020204" pitchFamily="34" charset="0"/>
              <a:buChar char="•"/>
            </a:pPr>
            <a:r>
              <a:rPr lang="en-US" sz="2800" dirty="0">
                <a:latin typeface="Calibir"/>
              </a:rPr>
              <a:t>(c) Methods are behaviors, not attributes.</a:t>
            </a:r>
          </a:p>
        </p:txBody>
      </p:sp>
    </p:spTree>
    <p:extLst>
      <p:ext uri="{BB962C8B-B14F-4D97-AF65-F5344CB8AC3E}">
        <p14:creationId xmlns:p14="http://schemas.microsoft.com/office/powerpoint/2010/main" val="80885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3456-A65D-8E60-CABE-88F22D124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A0974-5CC7-F22F-C080-4C961E857B9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49D41F2-8726-310A-927E-BD58FABDE13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829D214-DBB5-841E-A15F-BE6C2AC9AE50}"/>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6F5E95A8-3029-F67B-3467-948D52E0D94A}"/>
              </a:ext>
            </a:extLst>
          </p:cNvPr>
          <p:cNvSpPr txBox="1"/>
          <p:nvPr/>
        </p:nvSpPr>
        <p:spPr>
          <a:xfrm>
            <a:off x="5501148" y="1242450"/>
            <a:ext cx="669085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(d) Class operations refer to actions, not stored data.</a:t>
            </a:r>
          </a:p>
          <a:p>
            <a:pPr>
              <a:lnSpc>
                <a:spcPct val="150000"/>
              </a:lnSpc>
              <a:buNone/>
            </a:pPr>
            <a:r>
              <a:rPr lang="en-US" sz="2800" dirty="0">
                <a:latin typeface="Calibir"/>
              </a:rPr>
              <a:t>So: Attributes = data fields that hold the state of an object.</a:t>
            </a:r>
          </a:p>
        </p:txBody>
      </p:sp>
    </p:spTree>
    <p:extLst>
      <p:ext uri="{BB962C8B-B14F-4D97-AF65-F5344CB8AC3E}">
        <p14:creationId xmlns:p14="http://schemas.microsoft.com/office/powerpoint/2010/main" val="6788121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8DFF-EB12-8F66-0A5D-111D01E07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24E33-4D00-8D2C-57DF-CA376C3593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C125EE3-2913-DE9E-B731-4E5BBCA294B6}"/>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7A43D14-6252-3973-645A-9B413F3F7CAE}"/>
              </a:ext>
            </a:extLst>
          </p:cNvPr>
          <p:cNvSpPr txBox="1"/>
          <p:nvPr/>
        </p:nvSpPr>
        <p:spPr>
          <a:xfrm>
            <a:off x="0" y="1747498"/>
            <a:ext cx="7949381" cy="5196166"/>
          </a:xfrm>
          <a:prstGeom prst="rect">
            <a:avLst/>
          </a:prstGeom>
          <a:noFill/>
        </p:spPr>
        <p:txBody>
          <a:bodyPr wrap="square">
            <a:spAutoFit/>
          </a:bodyPr>
          <a:lstStyle/>
          <a:p>
            <a:pPr>
              <a:lnSpc>
                <a:spcPct val="150000"/>
              </a:lnSpc>
            </a:pPr>
            <a:r>
              <a:rPr lang="en-US" sz="2800" dirty="0">
                <a:latin typeface="Calibir"/>
              </a:rPr>
              <a:t>Which statement is NOT correct in OOP design?</a:t>
            </a:r>
          </a:p>
          <a:p>
            <a:pPr lvl="1">
              <a:lnSpc>
                <a:spcPct val="150000"/>
              </a:lnSpc>
            </a:pPr>
            <a:r>
              <a:rPr lang="en-US" sz="2800" dirty="0">
                <a:latin typeface="Calibir"/>
              </a:rPr>
              <a:t>a) A superclass can have multiple subclasses</a:t>
            </a:r>
          </a:p>
          <a:p>
            <a:pPr lvl="1">
              <a:lnSpc>
                <a:spcPct val="150000"/>
              </a:lnSpc>
            </a:pPr>
            <a:r>
              <a:rPr lang="en-US" sz="2800" dirty="0">
                <a:latin typeface="Calibir"/>
              </a:rPr>
              <a:t>b) Abstraction hides method details, shows behavior</a:t>
            </a:r>
          </a:p>
          <a:p>
            <a:pPr lvl="1">
              <a:lnSpc>
                <a:spcPct val="150000"/>
              </a:lnSpc>
            </a:pPr>
            <a:r>
              <a:rPr lang="en-US" sz="2800" dirty="0">
                <a:latin typeface="Calibir"/>
              </a:rPr>
              <a:t>c) A subclass can inherit from multiple </a:t>
            </a:r>
            <a:r>
              <a:rPr lang="en-US" sz="2800" dirty="0" err="1">
                <a:latin typeface="Calibir"/>
              </a:rPr>
              <a:t>superclasses</a:t>
            </a:r>
            <a:r>
              <a:rPr lang="en-US" sz="2800" dirty="0">
                <a:latin typeface="Calibir"/>
              </a:rPr>
              <a:t> in all languages</a:t>
            </a:r>
          </a:p>
          <a:p>
            <a:pPr lvl="1">
              <a:lnSpc>
                <a:spcPct val="150000"/>
              </a:lnSpc>
            </a:pPr>
            <a:r>
              <a:rPr lang="en-US" sz="2800" dirty="0">
                <a:latin typeface="Calibir"/>
              </a:rPr>
              <a:t>d) Encapsulation bundles data with related methods</a:t>
            </a:r>
          </a:p>
        </p:txBody>
      </p:sp>
      <p:sp>
        <p:nvSpPr>
          <p:cNvPr id="5" name="TextBox 4">
            <a:extLst>
              <a:ext uri="{FF2B5EF4-FFF2-40B4-BE49-F238E27FC236}">
                <a16:creationId xmlns:a16="http://schemas.microsoft.com/office/drawing/2014/main" id="{EEDB6F77-D722-A6E7-E64B-2E18F6BE09C1}"/>
              </a:ext>
            </a:extLst>
          </p:cNvPr>
          <p:cNvSpPr txBox="1"/>
          <p:nvPr/>
        </p:nvSpPr>
        <p:spPr>
          <a:xfrm>
            <a:off x="7248832" y="1234215"/>
            <a:ext cx="4943168" cy="562378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ir"/>
              </a:rPr>
              <a:t>(a) True → One superclass can have many subclasses.</a:t>
            </a:r>
          </a:p>
          <a:p>
            <a:pPr marL="342900" indent="-342900">
              <a:lnSpc>
                <a:spcPct val="150000"/>
              </a:lnSpc>
              <a:buFont typeface="Arial" panose="020B0604020202020204" pitchFamily="34" charset="0"/>
              <a:buChar char="•"/>
            </a:pPr>
            <a:r>
              <a:rPr lang="en-US" sz="2200" dirty="0">
                <a:latin typeface="Calibir"/>
              </a:rPr>
              <a:t>(b) True → Abstraction shows “what” a method does, not “how.”</a:t>
            </a:r>
          </a:p>
          <a:p>
            <a:pPr marL="342900" indent="-342900">
              <a:lnSpc>
                <a:spcPct val="150000"/>
              </a:lnSpc>
              <a:buFont typeface="Arial" panose="020B0604020202020204" pitchFamily="34" charset="0"/>
              <a:buChar char="•"/>
            </a:pPr>
            <a:r>
              <a:rPr lang="en-US" sz="2200" dirty="0">
                <a:latin typeface="Calibir"/>
              </a:rPr>
              <a:t>(c) Not true → Multiple inheritance is not supported in all languages (e.g., Java doesn’t allow it directly, only through interfaces).</a:t>
            </a:r>
          </a:p>
          <a:p>
            <a:pPr marL="342900" indent="-342900">
              <a:lnSpc>
                <a:spcPct val="150000"/>
              </a:lnSpc>
              <a:buFont typeface="Arial" panose="020B0604020202020204" pitchFamily="34" charset="0"/>
              <a:buChar char="•"/>
            </a:pPr>
            <a:r>
              <a:rPr lang="en-US" sz="2200" dirty="0">
                <a:latin typeface="Calibir"/>
              </a:rPr>
              <a:t>(d) True → Encapsulation = grouping data and methods together.</a:t>
            </a:r>
          </a:p>
          <a:p>
            <a:pPr>
              <a:lnSpc>
                <a:spcPct val="150000"/>
              </a:lnSpc>
              <a:buNone/>
            </a:pPr>
            <a:r>
              <a:rPr lang="en-US" sz="2200" dirty="0">
                <a:latin typeface="Calibir"/>
              </a:rPr>
              <a:t>So the incorrect statement is (c).</a:t>
            </a:r>
          </a:p>
        </p:txBody>
      </p:sp>
    </p:spTree>
    <p:extLst>
      <p:ext uri="{BB962C8B-B14F-4D97-AF65-F5344CB8AC3E}">
        <p14:creationId xmlns:p14="http://schemas.microsoft.com/office/powerpoint/2010/main" val="75810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E74F63BC-85D7-0726-ADB5-0C513001A23D}"/>
              </a:ext>
            </a:extLst>
          </p:cNvPr>
          <p:cNvSpPr txBox="1"/>
          <p:nvPr/>
        </p:nvSpPr>
        <p:spPr>
          <a:xfrm>
            <a:off x="6489290" y="1072057"/>
            <a:ext cx="5813576"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Functional requirements describe </a:t>
            </a:r>
            <a:r>
              <a:rPr lang="en-US" sz="2800" i="1" dirty="0">
                <a:latin typeface="Calibir"/>
              </a:rPr>
              <a:t>what the system does</a:t>
            </a:r>
            <a:r>
              <a:rPr lang="en-US" sz="2800" dirty="0">
                <a:latin typeface="Calibir"/>
              </a:rPr>
              <a:t> → actions like selecting a team, logging in, or choosing a stadium.</a:t>
            </a:r>
          </a:p>
          <a:p>
            <a:pPr marL="457200" indent="-457200">
              <a:lnSpc>
                <a:spcPct val="150000"/>
              </a:lnSpc>
              <a:buFont typeface="Arial" panose="020B0604020202020204" pitchFamily="34" charset="0"/>
              <a:buChar char="•"/>
            </a:pPr>
            <a:r>
              <a:rPr lang="en-US" sz="2800" dirty="0">
                <a:latin typeface="Calibir"/>
              </a:rPr>
              <a:t>Non-functional requirements describe </a:t>
            </a:r>
            <a:r>
              <a:rPr lang="en-US" sz="2800" i="1" dirty="0">
                <a:latin typeface="Calibir"/>
              </a:rPr>
              <a:t>how well the system works</a:t>
            </a:r>
            <a:r>
              <a:rPr lang="en-US" sz="2800" dirty="0">
                <a:latin typeface="Calibir"/>
              </a:rPr>
              <a:t> → performance, speed, security, usability, etc.</a:t>
            </a:r>
          </a:p>
        </p:txBody>
      </p:sp>
    </p:spTree>
    <p:extLst>
      <p:ext uri="{BB962C8B-B14F-4D97-AF65-F5344CB8AC3E}">
        <p14:creationId xmlns:p14="http://schemas.microsoft.com/office/powerpoint/2010/main" val="3744775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157E9-FDEA-4B7C-72AD-BF9E22D6C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8FB5F-B8CB-B93B-F14A-1FB9EEA8548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CCA96E7-F7B6-D08F-76A2-7C978D7ED633}"/>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15357ADC-4FF5-8241-35FB-F4534A8C0902}"/>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0990D66B-4DBD-6FBB-0BAD-89171D816BBA}"/>
              </a:ext>
            </a:extLst>
          </p:cNvPr>
          <p:cNvSpPr txBox="1"/>
          <p:nvPr/>
        </p:nvSpPr>
        <p:spPr>
          <a:xfrm>
            <a:off x="6489290" y="1072057"/>
            <a:ext cx="5813576"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Options (a), (b), and (c) are all functional.</a:t>
            </a:r>
          </a:p>
          <a:p>
            <a:pPr marL="457200" indent="-457200">
              <a:lnSpc>
                <a:spcPct val="150000"/>
              </a:lnSpc>
              <a:buFont typeface="Arial" panose="020B0604020202020204" pitchFamily="34" charset="0"/>
              <a:buChar char="•"/>
            </a:pPr>
            <a:r>
              <a:rPr lang="en-US" sz="2800" dirty="0">
                <a:latin typeface="Calibir"/>
              </a:rPr>
              <a:t>Option (d) is about performance (time constraint), so it is non-functional.</a:t>
            </a:r>
          </a:p>
          <a:p>
            <a:pPr>
              <a:lnSpc>
                <a:spcPct val="150000"/>
              </a:lnSpc>
              <a:buNone/>
            </a:pPr>
            <a:r>
              <a:rPr lang="en-US" sz="2800" dirty="0">
                <a:latin typeface="Calibir"/>
              </a:rPr>
              <a:t>So: (d) is the non-functional requirement.</a:t>
            </a:r>
          </a:p>
        </p:txBody>
      </p:sp>
    </p:spTree>
    <p:extLst>
      <p:ext uri="{BB962C8B-B14F-4D97-AF65-F5344CB8AC3E}">
        <p14:creationId xmlns:p14="http://schemas.microsoft.com/office/powerpoint/2010/main" val="3265978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9219E-9328-4318-6677-F6BD1570A2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F510E6-BC5C-304C-2383-785332851E1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55410076-25ED-1963-A519-C785E5F530A9}"/>
              </a:ext>
            </a:extLst>
          </p:cNvPr>
          <p:cNvSpPr txBox="1"/>
          <p:nvPr/>
        </p:nvSpPr>
        <p:spPr>
          <a:xfrm>
            <a:off x="0" y="1072057"/>
            <a:ext cx="11971282" cy="1318181"/>
          </a:xfrm>
          <a:prstGeom prst="rect">
            <a:avLst/>
          </a:prstGeom>
          <a:noFill/>
        </p:spPr>
        <p:txBody>
          <a:bodyPr wrap="square">
            <a:spAutoFit/>
          </a:bodyPr>
          <a:lstStyle/>
          <a:p>
            <a:pPr>
              <a:lnSpc>
                <a:spcPct val="150000"/>
              </a:lnSpc>
            </a:pPr>
            <a:r>
              <a:rPr lang="en-US" sz="2800" b="1" dirty="0">
                <a:latin typeface="Calibir"/>
              </a:rPr>
              <a:t>Password</a:t>
            </a:r>
            <a:endParaRPr lang="en-US" sz="2800" dirty="0">
              <a:latin typeface="Calibir"/>
            </a:endParaRPr>
          </a:p>
          <a:p>
            <a:pPr marL="914400" lvl="1" indent="-457200">
              <a:lnSpc>
                <a:spcPct val="150000"/>
              </a:lnSpc>
              <a:buFont typeface="Arial" panose="020B0604020202020204" pitchFamily="34" charset="0"/>
              <a:buChar char="•"/>
            </a:pPr>
            <a:r>
              <a:rPr lang="en-US" sz="2800" dirty="0">
                <a:highlight>
                  <a:srgbClr val="FFFF00"/>
                </a:highlight>
                <a:latin typeface="Calibir"/>
              </a:rPr>
              <a:t>W4H8S2T7</a:t>
            </a:r>
          </a:p>
        </p:txBody>
      </p:sp>
    </p:spTree>
    <p:extLst>
      <p:ext uri="{BB962C8B-B14F-4D97-AF65-F5344CB8AC3E}">
        <p14:creationId xmlns:p14="http://schemas.microsoft.com/office/powerpoint/2010/main" val="25384790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C18FD-D362-590B-95D6-CED601D3F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C2C401-CEDB-7D5B-F48A-3BC110E1464C}"/>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D0D36A82-3556-57B9-47A4-0A4E365FB846}"/>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8BFBA955-C87B-DB7C-6CDF-A50DACF690B9}"/>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14676664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t>
            </a:r>
            <a:r>
              <a:rPr lang="fr-FR" sz="4000" dirty="0" err="1">
                <a:latin typeface="Calibir"/>
              </a:rPr>
              <a:t>Assignment</a:t>
            </a:r>
            <a:r>
              <a:rPr lang="fr-FR" sz="4000" dirty="0">
                <a:latin typeface="Calibir"/>
              </a:rPr>
              <a: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hlinkClick r:id="rId2"/>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sometimes we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426C-72EF-43D9-6F62-858F6C9015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3776F2-F970-95A7-E7D2-443ED8458CBB}"/>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BAF84653-FBD5-5698-7776-DC79984ECF9A}"/>
              </a:ext>
            </a:extLst>
          </p:cNvPr>
          <p:cNvSpPr txBox="1"/>
          <p:nvPr/>
        </p:nvSpPr>
        <p:spPr>
          <a:xfrm>
            <a:off x="0" y="920681"/>
            <a:ext cx="11971282" cy="5632311"/>
          </a:xfrm>
          <a:prstGeom prst="rect">
            <a:avLst/>
          </a:prstGeom>
          <a:noFill/>
        </p:spPr>
        <p:txBody>
          <a:bodyPr wrap="square">
            <a:spAutoFit/>
          </a:bodyPr>
          <a:lstStyle/>
          <a:p>
            <a:pPr fontAlgn="base"/>
            <a:r>
              <a:rPr lang="en-US" dirty="0">
                <a:latin typeface="Calibir"/>
              </a:rPr>
              <a:t>Dear Dr. Farshid Keivanian,</a:t>
            </a:r>
          </a:p>
          <a:p>
            <a:pPr fontAlgn="base"/>
            <a:r>
              <a:rPr lang="en-US" dirty="0">
                <a:latin typeface="Calibir"/>
              </a:rPr>
              <a:t>I hope this message finds you well.</a:t>
            </a:r>
          </a:p>
          <a:p>
            <a:pPr fontAlgn="base"/>
            <a:r>
              <a:rPr lang="en-US" dirty="0">
                <a:latin typeface="Calibir"/>
              </a:rPr>
              <a:t>I am a student from 32555-Fundamental of Software Development </a:t>
            </a:r>
            <a:r>
              <a:rPr lang="en-US" dirty="0" err="1">
                <a:latin typeface="Calibir"/>
              </a:rPr>
              <a:t>cmp</a:t>
            </a:r>
            <a:r>
              <a:rPr lang="en-US" dirty="0">
                <a:latin typeface="Calibir"/>
              </a:rPr>
              <a:t>-…, and I have some questions regarding Assignment </a:t>
            </a:r>
            <a:r>
              <a:rPr lang="en-US" b="1" dirty="0">
                <a:latin typeface="Calibir"/>
              </a:rPr>
              <a:t>1. Subject ID Generation</a:t>
            </a:r>
          </a:p>
          <a:p>
            <a:pPr marL="742950" lvl="1" indent="-285750">
              <a:buFont typeface="Arial" panose="020B0604020202020204" pitchFamily="34" charset="0"/>
              <a:buChar char="•"/>
            </a:pPr>
            <a:r>
              <a:rPr lang="en-US" dirty="0">
                <a:latin typeface="Calibir"/>
              </a:rPr>
              <a:t>Who is responsible for generating the subject ID? (Admin / System)</a:t>
            </a:r>
          </a:p>
          <a:p>
            <a:pPr marL="742950" lvl="1" indent="-285750">
              <a:buFont typeface="Arial" panose="020B0604020202020204" pitchFamily="34" charset="0"/>
              <a:buChar char="•"/>
            </a:pPr>
            <a:r>
              <a:rPr lang="en-US" dirty="0">
                <a:latin typeface="Calibir"/>
              </a:rPr>
              <a:t>Is there any limitation or format requirement for the subject ID?</a:t>
            </a:r>
          </a:p>
          <a:p>
            <a:pPr fontAlgn="base"/>
            <a:r>
              <a:rPr lang="en-US" b="1" dirty="0">
                <a:latin typeface="Calibir"/>
              </a:rPr>
              <a:t>2.  Admin Login Credentials</a:t>
            </a:r>
          </a:p>
          <a:p>
            <a:pPr marL="742950" lvl="1" indent="-285750">
              <a:buFont typeface="Arial" panose="020B0604020202020204" pitchFamily="34" charset="0"/>
              <a:buChar char="•"/>
            </a:pPr>
            <a:r>
              <a:rPr lang="en-US" dirty="0">
                <a:latin typeface="Calibir"/>
              </a:rPr>
              <a:t>According to the assignment outline, when an Admin logs into the system, should they use email and password or ID and password?</a:t>
            </a:r>
          </a:p>
          <a:p>
            <a:pPr marL="742950" lvl="1" indent="-285750">
              <a:buFont typeface="Arial" panose="020B0604020202020204" pitchFamily="34" charset="0"/>
              <a:buChar char="•"/>
            </a:pPr>
            <a:r>
              <a:rPr lang="en-US" dirty="0">
                <a:latin typeface="Calibir"/>
              </a:rPr>
              <a:t>It is mentioned that Admins do not need to register an account, but it is unclear whether they should log in using an email or an ID. Could you please clarify?</a:t>
            </a:r>
          </a:p>
          <a:p>
            <a:pPr fontAlgn="base"/>
            <a:r>
              <a:rPr lang="en-US" b="1" dirty="0">
                <a:latin typeface="Calibir"/>
              </a:rPr>
              <a:t>3.   Role Identification</a:t>
            </a:r>
          </a:p>
          <a:p>
            <a:pPr marL="742950" lvl="1" indent="-285750">
              <a:buFont typeface="Arial" panose="020B0604020202020204" pitchFamily="34" charset="0"/>
              <a:buChar char="•"/>
            </a:pPr>
            <a:r>
              <a:rPr lang="en-US" dirty="0">
                <a:latin typeface="Calibir"/>
              </a:rPr>
              <a:t>If we choose to use email and password for login, how should we distinguish between Student and Admin roles?</a:t>
            </a:r>
          </a:p>
          <a:p>
            <a:pPr marL="742950" lvl="1" indent="-285750">
              <a:buFont typeface="Arial" panose="020B0604020202020204" pitchFamily="34" charset="0"/>
              <a:buChar char="•"/>
            </a:pPr>
            <a:r>
              <a:rPr lang="en-US" dirty="0">
                <a:latin typeface="Calibir"/>
              </a:rPr>
              <a:t>Alternatively, if we use ID and password, is there a specific format or number of digits required for the Admin ID?</a:t>
            </a:r>
          </a:p>
          <a:p>
            <a:pPr fontAlgn="base"/>
            <a:r>
              <a:rPr lang="en-US" b="1" dirty="0">
                <a:latin typeface="Calibir"/>
              </a:rPr>
              <a:t>4.   Assignment Requirements from Week 6 Slides</a:t>
            </a:r>
          </a:p>
          <a:p>
            <a:pPr marL="742950" lvl="1" indent="-285750">
              <a:buFont typeface="Arial" panose="020B0604020202020204" pitchFamily="34" charset="0"/>
              <a:buChar char="•"/>
            </a:pPr>
            <a:r>
              <a:rPr lang="en-US" dirty="0">
                <a:latin typeface="Calibir"/>
              </a:rPr>
              <a:t>Based on the Week 6 and 7 slides, are we required to include scope, rules, data file design, and a traceability table in our submission?</a:t>
            </a:r>
          </a:p>
          <a:p>
            <a:pPr marL="742950" lvl="1" indent="-285750">
              <a:buFont typeface="Arial" panose="020B0604020202020204" pitchFamily="34" charset="0"/>
              <a:buChar char="•"/>
            </a:pPr>
            <a:r>
              <a:rPr lang="en-US" dirty="0">
                <a:latin typeface="Calibir"/>
              </a:rPr>
              <a:t>Will these components be assessed or contribute to our marks?</a:t>
            </a:r>
          </a:p>
          <a:p>
            <a:pPr fontAlgn="base"/>
            <a:r>
              <a:rPr lang="en-US" dirty="0">
                <a:latin typeface="Calibir"/>
              </a:rPr>
              <a:t>I would really appreciate your help in answering these questions.</a:t>
            </a:r>
          </a:p>
          <a:p>
            <a:pPr fontAlgn="base"/>
            <a:r>
              <a:rPr lang="en-US" dirty="0">
                <a:latin typeface="Calibir"/>
              </a:rPr>
              <a:t>Best regards</a:t>
            </a:r>
          </a:p>
        </p:txBody>
      </p:sp>
    </p:spTree>
    <p:extLst>
      <p:ext uri="{BB962C8B-B14F-4D97-AF65-F5344CB8AC3E}">
        <p14:creationId xmlns:p14="http://schemas.microsoft.com/office/powerpoint/2010/main" val="351269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C6F1-9B35-3174-E076-57A438CC4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74CF2-B179-CC8F-6B98-5B93B7E107C8}"/>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F1A6E08F-348D-98B6-F7CF-97945EF69140}"/>
              </a:ext>
            </a:extLst>
          </p:cNvPr>
          <p:cNvSpPr txBox="1"/>
          <p:nvPr/>
        </p:nvSpPr>
        <p:spPr>
          <a:xfrm>
            <a:off x="0" y="920681"/>
            <a:ext cx="11971282"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regarding Assignment 1. I’m happy to clarify each point:</a:t>
            </a:r>
          </a:p>
          <a:p>
            <a:pPr>
              <a:lnSpc>
                <a:spcPct val="150000"/>
              </a:lnSpc>
            </a:pPr>
            <a:r>
              <a:rPr lang="en-US" sz="2800" b="1" dirty="0">
                <a:latin typeface="Calibir"/>
              </a:rPr>
              <a:t>1. Subject ID Generation</a:t>
            </a:r>
          </a:p>
          <a:p>
            <a:pPr marL="714375" indent="-457200">
              <a:lnSpc>
                <a:spcPct val="150000"/>
              </a:lnSpc>
              <a:buFont typeface="Arial" panose="020B0604020202020204" pitchFamily="34" charset="0"/>
              <a:buChar char="•"/>
            </a:pPr>
            <a:r>
              <a:rPr lang="en-US" sz="2800" dirty="0">
                <a:latin typeface="Calibir"/>
              </a:rPr>
              <a:t>The system is responsible for generating subject IDs automatically (not the Admin).</a:t>
            </a:r>
          </a:p>
          <a:p>
            <a:pPr marL="714375" indent="-457200">
              <a:lnSpc>
                <a:spcPct val="150000"/>
              </a:lnSpc>
              <a:buFont typeface="Arial" panose="020B0604020202020204" pitchFamily="34" charset="0"/>
              <a:buChar char="•"/>
            </a:pPr>
            <a:r>
              <a:rPr lang="en-US" sz="2800" dirty="0">
                <a:latin typeface="Calibir"/>
              </a:rPr>
              <a:t>Subject IDs must be 3 digits, zero-padded (e.g., 001–999). This format is specified in the brief.</a:t>
            </a:r>
          </a:p>
        </p:txBody>
      </p:sp>
    </p:spTree>
    <p:extLst>
      <p:ext uri="{BB962C8B-B14F-4D97-AF65-F5344CB8AC3E}">
        <p14:creationId xmlns:p14="http://schemas.microsoft.com/office/powerpoint/2010/main" val="39226896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C2F0-B940-568B-6BD5-95F455FAE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F5CF73-560B-4ACA-9988-F8A8FEB5A9A9}"/>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7030CBED-34D5-FB55-8A40-4219DE32DB2E}"/>
              </a:ext>
            </a:extLst>
          </p:cNvPr>
          <p:cNvSpPr txBox="1"/>
          <p:nvPr/>
        </p:nvSpPr>
        <p:spPr>
          <a:xfrm>
            <a:off x="110359" y="1800413"/>
            <a:ext cx="11971282" cy="3257174"/>
          </a:xfrm>
          <a:prstGeom prst="rect">
            <a:avLst/>
          </a:prstGeom>
          <a:noFill/>
        </p:spPr>
        <p:txBody>
          <a:bodyPr wrap="square">
            <a:spAutoFit/>
          </a:bodyPr>
          <a:lstStyle/>
          <a:p>
            <a:pPr>
              <a:lnSpc>
                <a:spcPct val="150000"/>
              </a:lnSpc>
            </a:pPr>
            <a:r>
              <a:rPr lang="en-US" sz="2800" b="1" dirty="0">
                <a:latin typeface="Calibir"/>
              </a:rPr>
              <a:t>2. Admin Login Credentials</a:t>
            </a:r>
          </a:p>
          <a:p>
            <a:pPr marL="714375" indent="-457200">
              <a:lnSpc>
                <a:spcPct val="150000"/>
              </a:lnSpc>
              <a:buFont typeface="Arial" panose="020B0604020202020204" pitchFamily="34" charset="0"/>
              <a:buChar char="•"/>
            </a:pPr>
            <a:r>
              <a:rPr lang="en-US" sz="2800" dirty="0">
                <a:latin typeface="Calibir"/>
              </a:rPr>
              <a:t>As per the assignment brief, Admins do not register accounts. They already exist in the system.</a:t>
            </a:r>
          </a:p>
          <a:p>
            <a:pPr marL="714375" indent="-457200">
              <a:lnSpc>
                <a:spcPct val="150000"/>
              </a:lnSpc>
              <a:buFont typeface="Arial" panose="020B0604020202020204" pitchFamily="34" charset="0"/>
              <a:buChar char="•"/>
            </a:pPr>
            <a:r>
              <a:rPr lang="en-US" sz="2800" dirty="0">
                <a:latin typeface="Calibir"/>
              </a:rPr>
              <a:t>Admins therefore do not need email/password or ID/password login. They simply access the Admin subsystem directly without authentication.</a:t>
            </a:r>
          </a:p>
        </p:txBody>
      </p:sp>
    </p:spTree>
    <p:extLst>
      <p:ext uri="{BB962C8B-B14F-4D97-AF65-F5344CB8AC3E}">
        <p14:creationId xmlns:p14="http://schemas.microsoft.com/office/powerpoint/2010/main" val="22248012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EF838-930C-2DD9-45E5-B6A7C091E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8DDFB-3B95-4589-DEE3-57D6A5C67F94}"/>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4C1CF87-15CE-625F-CEFC-3E8A2BC7EF35}"/>
              </a:ext>
            </a:extLst>
          </p:cNvPr>
          <p:cNvSpPr txBox="1"/>
          <p:nvPr/>
        </p:nvSpPr>
        <p:spPr>
          <a:xfrm>
            <a:off x="110359" y="1800413"/>
            <a:ext cx="11971282" cy="2610843"/>
          </a:xfrm>
          <a:prstGeom prst="rect">
            <a:avLst/>
          </a:prstGeom>
          <a:noFill/>
        </p:spPr>
        <p:txBody>
          <a:bodyPr wrap="square">
            <a:spAutoFit/>
          </a:bodyPr>
          <a:lstStyle/>
          <a:p>
            <a:pPr>
              <a:lnSpc>
                <a:spcPct val="150000"/>
              </a:lnSpc>
            </a:pPr>
            <a:r>
              <a:rPr lang="en-US" sz="2800" b="1" dirty="0">
                <a:latin typeface="Calibir"/>
              </a:rPr>
              <a:t>3. Role Identification</a:t>
            </a:r>
          </a:p>
          <a:p>
            <a:pPr marL="714375" indent="-457200">
              <a:lnSpc>
                <a:spcPct val="150000"/>
              </a:lnSpc>
              <a:buFont typeface="Arial" panose="020B0604020202020204" pitchFamily="34" charset="0"/>
              <a:buChar char="•"/>
            </a:pPr>
            <a:r>
              <a:rPr lang="en-US" sz="2800" dirty="0">
                <a:latin typeface="Calibir"/>
              </a:rPr>
              <a:t>Since Admins do not log in, there is no need to assign Admin IDs, emails, or passwords.</a:t>
            </a:r>
          </a:p>
          <a:p>
            <a:pPr marL="714375" indent="-457200">
              <a:lnSpc>
                <a:spcPct val="150000"/>
              </a:lnSpc>
              <a:buFont typeface="Arial" panose="020B0604020202020204" pitchFamily="34" charset="0"/>
              <a:buChar char="•"/>
            </a:pPr>
            <a:r>
              <a:rPr lang="en-US" sz="2800" dirty="0">
                <a:latin typeface="Calibir"/>
              </a:rPr>
              <a:t>Only Students need email + password validation and a 6-digit ID.</a:t>
            </a:r>
          </a:p>
        </p:txBody>
      </p:sp>
    </p:spTree>
    <p:extLst>
      <p:ext uri="{BB962C8B-B14F-4D97-AF65-F5344CB8AC3E}">
        <p14:creationId xmlns:p14="http://schemas.microsoft.com/office/powerpoint/2010/main" val="26475431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0862D-B2FE-6125-146A-BA0AE7C55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F7B9A-6F27-FDEA-507F-D6F4409FFD35}"/>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DFA1900-0152-DAFC-2CF7-53952020257E}"/>
              </a:ext>
            </a:extLst>
          </p:cNvPr>
          <p:cNvSpPr txBox="1"/>
          <p:nvPr/>
        </p:nvSpPr>
        <p:spPr>
          <a:xfrm>
            <a:off x="110359" y="657922"/>
            <a:ext cx="11971282" cy="5842497"/>
          </a:xfrm>
          <a:prstGeom prst="rect">
            <a:avLst/>
          </a:prstGeom>
          <a:noFill/>
        </p:spPr>
        <p:txBody>
          <a:bodyPr wrap="square">
            <a:spAutoFit/>
          </a:bodyPr>
          <a:lstStyle/>
          <a:p>
            <a:pPr>
              <a:lnSpc>
                <a:spcPct val="150000"/>
              </a:lnSpc>
            </a:pPr>
            <a:r>
              <a:rPr lang="en-US" sz="2800" b="1" dirty="0">
                <a:latin typeface="Calibir"/>
              </a:rPr>
              <a:t>4. Assignment Requirements (Week 6 &amp; 7 Slides)</a:t>
            </a:r>
          </a:p>
          <a:p>
            <a:pPr marL="457200" indent="-457200">
              <a:lnSpc>
                <a:spcPct val="150000"/>
              </a:lnSpc>
              <a:buFont typeface="Arial" panose="020B0604020202020204" pitchFamily="34" charset="0"/>
              <a:buChar char="•"/>
            </a:pPr>
            <a:r>
              <a:rPr lang="en-US" sz="2800" dirty="0">
                <a:latin typeface="Calibir"/>
              </a:rPr>
              <a:t>For Part 1 (Analysis &amp; Design), your submission must include:</a:t>
            </a:r>
          </a:p>
          <a:p>
            <a:pPr marL="914400" lvl="1" indent="-457200">
              <a:lnSpc>
                <a:spcPct val="150000"/>
              </a:lnSpc>
              <a:buFont typeface="Arial" panose="020B0604020202020204" pitchFamily="34" charset="0"/>
              <a:buChar char="•"/>
            </a:pPr>
            <a:r>
              <a:rPr lang="en-US" sz="2800" dirty="0">
                <a:latin typeface="Calibir"/>
              </a:rPr>
              <a:t>Scope summary</a:t>
            </a:r>
          </a:p>
          <a:p>
            <a:pPr marL="914400" lvl="1" indent="-457200">
              <a:lnSpc>
                <a:spcPct val="150000"/>
              </a:lnSpc>
              <a:buFont typeface="Arial" panose="020B0604020202020204" pitchFamily="34" charset="0"/>
              <a:buChar char="•"/>
            </a:pPr>
            <a:r>
              <a:rPr lang="en-US" sz="2800" dirty="0">
                <a:latin typeface="Calibir"/>
              </a:rPr>
              <a:t>User-story backlog (3-digit IDs, table format)</a:t>
            </a:r>
          </a:p>
          <a:p>
            <a:pPr marL="914400" lvl="1" indent="-457200">
              <a:lnSpc>
                <a:spcPct val="150000"/>
              </a:lnSpc>
              <a:buFont typeface="Arial" panose="020B0604020202020204" pitchFamily="34" charset="0"/>
              <a:buChar char="•"/>
            </a:pPr>
            <a:r>
              <a:rPr lang="en-US" sz="2800" dirty="0">
                <a:latin typeface="Calibir"/>
              </a:rPr>
              <a:t>One comprehensive Use Case Diagram</a:t>
            </a:r>
          </a:p>
          <a:p>
            <a:pPr marL="914400" lvl="1" indent="-457200">
              <a:lnSpc>
                <a:spcPct val="150000"/>
              </a:lnSpc>
              <a:buFont typeface="Arial" panose="020B0604020202020204" pitchFamily="34" charset="0"/>
              <a:buChar char="•"/>
            </a:pPr>
            <a:r>
              <a:rPr lang="en-US" sz="2800" dirty="0">
                <a:latin typeface="Calibir"/>
              </a:rPr>
              <a:t>One comprehensive Class Diagram</a:t>
            </a:r>
          </a:p>
          <a:p>
            <a:pPr marL="914400" lvl="1" indent="-457200">
              <a:lnSpc>
                <a:spcPct val="150000"/>
              </a:lnSpc>
              <a:buFont typeface="Arial" panose="020B0604020202020204" pitchFamily="34" charset="0"/>
              <a:buChar char="•"/>
            </a:pPr>
            <a:r>
              <a:rPr lang="en-US" sz="2800" dirty="0">
                <a:latin typeface="Calibir"/>
              </a:rPr>
              <a:t>System rules (email, password, IDs, grade bands)</a:t>
            </a:r>
          </a:p>
          <a:p>
            <a:pPr marL="914400" lvl="1" indent="-457200">
              <a:lnSpc>
                <a:spcPct val="150000"/>
              </a:lnSpc>
              <a:buFont typeface="Arial" panose="020B0604020202020204" pitchFamily="34" charset="0"/>
              <a:buChar char="•"/>
            </a:pPr>
            <a:r>
              <a:rPr lang="en-US" sz="2800" dirty="0">
                <a:latin typeface="Calibir"/>
              </a:rPr>
              <a:t>Example data file design (JSON or CSV format, design only, no coding)</a:t>
            </a:r>
          </a:p>
          <a:p>
            <a:pPr marL="914400" lvl="1" indent="-457200">
              <a:lnSpc>
                <a:spcPct val="150000"/>
              </a:lnSpc>
              <a:buFont typeface="Arial" panose="020B0604020202020204" pitchFamily="34" charset="0"/>
              <a:buChar char="•"/>
            </a:pPr>
            <a:r>
              <a:rPr lang="en-US" sz="2800" dirty="0">
                <a:latin typeface="Calibir"/>
              </a:rPr>
              <a:t>Contribution plan</a:t>
            </a:r>
          </a:p>
        </p:txBody>
      </p:sp>
    </p:spTree>
    <p:extLst>
      <p:ext uri="{BB962C8B-B14F-4D97-AF65-F5344CB8AC3E}">
        <p14:creationId xmlns:p14="http://schemas.microsoft.com/office/powerpoint/2010/main" val="8771810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B4FE-63ED-0AFD-D26D-943022BDC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6C9CF-3A77-1CA0-7713-FBA7522EE6E1}"/>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09BABE48-D7BC-289B-0CAF-BA7CF8F8EE83}"/>
              </a:ext>
            </a:extLst>
          </p:cNvPr>
          <p:cNvSpPr txBox="1"/>
          <p:nvPr/>
        </p:nvSpPr>
        <p:spPr>
          <a:xfrm>
            <a:off x="0" y="497942"/>
            <a:ext cx="11971282" cy="638379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00" dirty="0">
                <a:latin typeface="Calibir"/>
              </a:rPr>
              <a:t>The “traceability” check (requirements → stories → diagrams) is recommended as a quality step, but it is not a separate marking criterion.</a:t>
            </a:r>
          </a:p>
          <a:p>
            <a:pPr marL="457200" indent="-457200">
              <a:lnSpc>
                <a:spcPct val="150000"/>
              </a:lnSpc>
              <a:buFont typeface="Arial" panose="020B0604020202020204" pitchFamily="34" charset="0"/>
              <a:buChar char="•"/>
            </a:pPr>
            <a:r>
              <a:rPr lang="en-US" sz="2500" dirty="0">
                <a:latin typeface="Calibir"/>
              </a:rPr>
              <a:t>The main marks come from backlog (5), use case diagram (5), and class diagram (5), for a total of 15 marks.</a:t>
            </a:r>
          </a:p>
          <a:p>
            <a:pPr>
              <a:lnSpc>
                <a:spcPct val="150000"/>
              </a:lnSpc>
            </a:pPr>
            <a:r>
              <a:rPr lang="en-US" sz="2500" b="1" dirty="0">
                <a:latin typeface="Calibir"/>
              </a:rPr>
              <a:t>Key takeaway: </a:t>
            </a:r>
            <a:r>
              <a:rPr lang="en-US" sz="2500" dirty="0">
                <a:latin typeface="Calibir"/>
              </a:rPr>
              <a:t>Subject IDs = generated by system (3 digits). Admins = no login needed. Students = email/password + 6-digit ID. Required deliverables are those listed above.</a:t>
            </a:r>
          </a:p>
          <a:p>
            <a:pPr>
              <a:lnSpc>
                <a:spcPct val="150000"/>
              </a:lnSpc>
            </a:pPr>
            <a:r>
              <a:rPr lang="en-US" sz="2500" dirty="0">
                <a:latin typeface="Calibir"/>
              </a:rPr>
              <a:t>I hope this clears things up. Please also refer to the official assignment instructions on Canvas for final reference.</a:t>
            </a:r>
          </a:p>
          <a:p>
            <a:pPr>
              <a:lnSpc>
                <a:spcPct val="150000"/>
              </a:lnSpc>
            </a:pPr>
            <a:r>
              <a:rPr lang="en-US" sz="2500" dirty="0"/>
              <a:t>Best regards,</a:t>
            </a:r>
            <a:br>
              <a:rPr lang="en-US" sz="2500" dirty="0"/>
            </a:br>
            <a:r>
              <a:rPr lang="en-US" sz="2500" dirty="0"/>
              <a:t>Dr. Farshid Keivanian</a:t>
            </a:r>
            <a:br>
              <a:rPr lang="en-US" sz="2500" dirty="0"/>
            </a:br>
            <a:r>
              <a:rPr lang="en-US" sz="2500" dirty="0"/>
              <a:t>32555 – Fundamentals of Software Engineering</a:t>
            </a:r>
            <a:endParaRPr lang="en-US" sz="2500" dirty="0">
              <a:latin typeface="Calibir"/>
            </a:endParaRPr>
          </a:p>
        </p:txBody>
      </p:sp>
    </p:spTree>
    <p:extLst>
      <p:ext uri="{BB962C8B-B14F-4D97-AF65-F5344CB8AC3E}">
        <p14:creationId xmlns:p14="http://schemas.microsoft.com/office/powerpoint/2010/main" val="21333177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2E4D9-A7D4-FF2A-3291-FD8793C58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66EF04-1083-EC6B-96ED-C05EFBA212C4}"/>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E41A28C1-8996-E0A1-B0DA-7514C6F13F92}"/>
              </a:ext>
            </a:extLst>
          </p:cNvPr>
          <p:cNvSpPr txBox="1"/>
          <p:nvPr/>
        </p:nvSpPr>
        <p:spPr>
          <a:xfrm>
            <a:off x="0" y="1614996"/>
            <a:ext cx="11965258" cy="3903504"/>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dirty="0">
                <a:solidFill>
                  <a:srgbClr val="000000"/>
                </a:solidFill>
                <a:latin typeface="Calibir"/>
              </a:rPr>
              <a:t>Dear Teacher,</a:t>
            </a:r>
          </a:p>
          <a:p>
            <a:pPr eaLnBrk="0" fontAlgn="base" hangingPunct="0">
              <a:lnSpc>
                <a:spcPct val="150000"/>
              </a:lnSpc>
              <a:spcBef>
                <a:spcPct val="0"/>
              </a:spcBef>
              <a:spcAft>
                <a:spcPct val="0"/>
              </a:spcAft>
            </a:pPr>
            <a:r>
              <a:rPr lang="en-US" altLang="en-US" sz="2800" dirty="0">
                <a:solidFill>
                  <a:srgbClr val="000000"/>
                </a:solidFill>
                <a:latin typeface="Calibir"/>
              </a:rPr>
              <a:t>For the UC diagram question:</a:t>
            </a:r>
            <a:endParaRPr lang="en-US" altLang="en-US" sz="2800" dirty="0">
              <a:latin typeface="Calibir"/>
            </a:endParaRPr>
          </a:p>
          <a:p>
            <a:pPr lvl="0" eaLnBrk="0" fontAlgn="base" hangingPunct="0">
              <a:lnSpc>
                <a:spcPct val="150000"/>
              </a:lnSpc>
              <a:spcBef>
                <a:spcPct val="0"/>
              </a:spcBef>
              <a:spcAft>
                <a:spcPct val="0"/>
              </a:spcAft>
            </a:pPr>
            <a:r>
              <a:rPr lang="en-US" altLang="en-US" sz="2800" dirty="0">
                <a:solidFill>
                  <a:srgbClr val="000000"/>
                </a:solidFill>
                <a:latin typeface="Calibir"/>
              </a:rPr>
              <a:t>There is  confusion in declaring use cases for us, since, for instance, Enroll in Subject is done by actor Student, Assign Random Subject, and Mark are internal operations from the system (which is not the actor), so do we have to include them in the diagram or it will just stop at Enroll in Subject</a:t>
            </a:r>
            <a:endParaRPr lang="en-US" altLang="en-US" sz="2800" dirty="0">
              <a:latin typeface="Calibir"/>
            </a:endParaRPr>
          </a:p>
        </p:txBody>
      </p:sp>
    </p:spTree>
    <p:extLst>
      <p:ext uri="{BB962C8B-B14F-4D97-AF65-F5344CB8AC3E}">
        <p14:creationId xmlns:p14="http://schemas.microsoft.com/office/powerpoint/2010/main" val="20144933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3FE81-597F-AD74-31F4-84FF43C326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EBB10-C7C6-113A-4645-845C1D0BA62C}"/>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8E47277C-7D78-13FB-33CE-72052909D0C6}"/>
              </a:ext>
            </a:extLst>
          </p:cNvPr>
          <p:cNvSpPr txBox="1"/>
          <p:nvPr/>
        </p:nvSpPr>
        <p:spPr>
          <a:xfrm>
            <a:off x="0" y="1614996"/>
            <a:ext cx="11965258" cy="3903504"/>
          </a:xfrm>
          <a:prstGeom prst="rect">
            <a:avLst/>
          </a:prstGeom>
          <a:noFill/>
        </p:spPr>
        <p:txBody>
          <a:bodyPr wrap="square">
            <a:spAutoFit/>
          </a:bodyPr>
          <a:lstStyle/>
          <a:p>
            <a:pPr>
              <a:lnSpc>
                <a:spcPct val="150000"/>
              </a:lnSpc>
            </a:pPr>
            <a:r>
              <a:rPr lang="en-US" sz="2800" b="1" dirty="0">
                <a:latin typeface="Calibir"/>
              </a:rPr>
              <a:t>Dear Duy Bao Cao,</a:t>
            </a:r>
            <a:endParaRPr lang="en-US" sz="2800" dirty="0">
              <a:latin typeface="Calibir"/>
            </a:endParaRPr>
          </a:p>
          <a:p>
            <a:pPr>
              <a:lnSpc>
                <a:spcPct val="150000"/>
              </a:lnSpc>
            </a:pPr>
            <a:r>
              <a:rPr lang="en-US" sz="2800" dirty="0">
                <a:latin typeface="Calibir"/>
              </a:rPr>
              <a:t>That’s an excellent and very important question—thank you for raising it.</a:t>
            </a:r>
          </a:p>
          <a:p>
            <a:pPr>
              <a:lnSpc>
                <a:spcPct val="150000"/>
              </a:lnSpc>
            </a:pPr>
            <a:r>
              <a:rPr lang="en-US" sz="2800" dirty="0">
                <a:latin typeface="Calibir"/>
              </a:rPr>
              <a:t>In a Use Case Diagram, you only show interactions between external actors (Student, Admin) and the system. Internal tasks like assigning random subject IDs, generating marks, or validating emails are system responsibilities, but they are not separate actors.</a:t>
            </a:r>
          </a:p>
        </p:txBody>
      </p:sp>
    </p:spTree>
    <p:extLst>
      <p:ext uri="{BB962C8B-B14F-4D97-AF65-F5344CB8AC3E}">
        <p14:creationId xmlns:p14="http://schemas.microsoft.com/office/powerpoint/2010/main" val="35804992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364B-CC6D-5B59-202D-B1F2946FD7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21BEEE-6C52-962B-5D18-909CDB3B18F8}"/>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Here’s the rule of thumb for this assignment:</a:t>
            </a:r>
          </a:p>
          <a:p>
            <a:pPr marL="914400" lvl="1" indent="-457200">
              <a:lnSpc>
                <a:spcPct val="150000"/>
              </a:lnSpc>
              <a:buFont typeface="Arial" panose="020B0604020202020204" pitchFamily="34" charset="0"/>
              <a:buChar char="•"/>
            </a:pPr>
            <a:r>
              <a:rPr lang="en-US" sz="2800" dirty="0">
                <a:latin typeface="Calibir"/>
              </a:rPr>
              <a:t>Show the main action as a use case (e.g., </a:t>
            </a:r>
            <a:r>
              <a:rPr lang="en-US" sz="2800" i="1" dirty="0">
                <a:latin typeface="Calibir"/>
              </a:rPr>
              <a:t>Enroll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If the system always performs an internal step (e.g., </a:t>
            </a:r>
            <a:r>
              <a:rPr lang="en-US" sz="2800" i="1" dirty="0">
                <a:latin typeface="Calibir"/>
              </a:rPr>
              <a:t>Generate ID, Assign Random Mark, Calculate Grade</a:t>
            </a:r>
            <a:r>
              <a:rPr lang="en-US" sz="2800" dirty="0">
                <a:latin typeface="Calibir"/>
              </a:rPr>
              <a:t>), you may model it as an &lt;&lt;include&gt;&gt; use case connected to the main one.</a:t>
            </a:r>
          </a:p>
          <a:p>
            <a:pPr marL="914400" lvl="1" indent="-457200">
              <a:lnSpc>
                <a:spcPct val="150000"/>
              </a:lnSpc>
              <a:buFont typeface="Arial" panose="020B0604020202020204" pitchFamily="34" charset="0"/>
              <a:buChar char="•"/>
            </a:pPr>
            <a:r>
              <a:rPr lang="en-US" sz="2800" dirty="0">
                <a:latin typeface="Calibir"/>
              </a:rPr>
              <a:t>You do not need to introduce “System” as an actor. Keep actors limited to Student and Admin.</a:t>
            </a:r>
          </a:p>
        </p:txBody>
      </p:sp>
      <p:sp>
        <p:nvSpPr>
          <p:cNvPr id="6" name="Title 1">
            <a:extLst>
              <a:ext uri="{FF2B5EF4-FFF2-40B4-BE49-F238E27FC236}">
                <a16:creationId xmlns:a16="http://schemas.microsoft.com/office/drawing/2014/main" id="{4B48C36A-530E-10A2-06B3-CC423272B1E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3550408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B2D28-6424-F9D9-463F-D7CF85438A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F301FF-F25D-6245-66C2-FE024654A6A1}"/>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So in your example (diagram):</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 Subject (main use case).</a:t>
            </a:r>
          </a:p>
          <a:p>
            <a:pPr marL="914400" lvl="1" indent="-457200">
              <a:lnSpc>
                <a:spcPct val="150000"/>
              </a:lnSpc>
              <a:buFont typeface="Arial" panose="020B0604020202020204" pitchFamily="34" charset="0"/>
              <a:buChar char="•"/>
            </a:pPr>
            <a:r>
              <a:rPr lang="en-US" sz="2800" i="1" dirty="0">
                <a:latin typeface="Calibir"/>
              </a:rPr>
              <a:t>Assign Random Subject</a:t>
            </a:r>
            <a:r>
              <a:rPr lang="en-US" sz="2800" dirty="0">
                <a:latin typeface="Calibir"/>
              </a:rPr>
              <a:t>, </a:t>
            </a:r>
            <a:r>
              <a:rPr lang="en-US" sz="2800" i="1" dirty="0">
                <a:latin typeface="Calibir"/>
              </a:rPr>
              <a:t>Assign Random Mark</a:t>
            </a:r>
            <a:r>
              <a:rPr lang="en-US" sz="2800" dirty="0">
                <a:latin typeface="Calibir"/>
              </a:rPr>
              <a:t>, and </a:t>
            </a:r>
            <a:r>
              <a:rPr lang="en-US" sz="2800" i="1" dirty="0">
                <a:latin typeface="Calibir"/>
              </a:rPr>
              <a:t>Calculate Grade</a:t>
            </a:r>
            <a:r>
              <a:rPr lang="en-US" sz="2800" dirty="0">
                <a:latin typeface="Calibir"/>
              </a:rPr>
              <a:t> can be &lt;&lt;include&gt;&gt; use cases linked to </a:t>
            </a:r>
            <a:r>
              <a:rPr lang="en-US" sz="2800" i="1" dirty="0" err="1">
                <a:latin typeface="Calibir"/>
              </a:rPr>
              <a:t>Enrol</a:t>
            </a:r>
            <a:r>
              <a:rPr lang="en-US" sz="2800" i="1" dirty="0">
                <a:latin typeface="Calibir"/>
              </a:rPr>
              <a:t>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The diagram should stop at the external action (</a:t>
            </a:r>
            <a:r>
              <a:rPr lang="en-US" sz="2800" i="1" dirty="0" err="1">
                <a:latin typeface="Calibir"/>
              </a:rPr>
              <a:t>Enrol</a:t>
            </a:r>
            <a:r>
              <a:rPr lang="en-US" sz="2800" i="1" dirty="0">
                <a:latin typeface="Calibir"/>
              </a:rPr>
              <a:t> in Subject</a:t>
            </a:r>
            <a:r>
              <a:rPr lang="en-US" sz="2800" dirty="0">
                <a:latin typeface="Calibir"/>
              </a:rPr>
              <a:t>) and then use include/extend for the internal logic, instead of showing them as if they were done by an actor.</a:t>
            </a:r>
          </a:p>
        </p:txBody>
      </p:sp>
      <p:sp>
        <p:nvSpPr>
          <p:cNvPr id="2" name="Title 1">
            <a:extLst>
              <a:ext uri="{FF2B5EF4-FFF2-40B4-BE49-F238E27FC236}">
                <a16:creationId xmlns:a16="http://schemas.microsoft.com/office/drawing/2014/main" id="{AC8400A0-4EED-2350-69A8-357557847BC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4673426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679A-DE33-3638-8E43-5DD627A9AA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40834ED-18E4-B5A1-A80E-84AA738CE109}"/>
              </a:ext>
            </a:extLst>
          </p:cNvPr>
          <p:cNvSpPr txBox="1"/>
          <p:nvPr/>
        </p:nvSpPr>
        <p:spPr>
          <a:xfrm>
            <a:off x="0" y="1154082"/>
            <a:ext cx="11965258" cy="3257174"/>
          </a:xfrm>
          <a:prstGeom prst="rect">
            <a:avLst/>
          </a:prstGeom>
          <a:noFill/>
        </p:spPr>
        <p:txBody>
          <a:bodyPr wrap="square">
            <a:spAutoFit/>
          </a:bodyPr>
          <a:lstStyle/>
          <a:p>
            <a:pPr>
              <a:lnSpc>
                <a:spcPct val="150000"/>
              </a:lnSpc>
            </a:pPr>
            <a:r>
              <a:rPr lang="en-US" sz="2800" dirty="0">
                <a:latin typeface="Calibir"/>
              </a:rPr>
              <a:t>This way, your diagram remains aligned with the assignment brief: actors are only Student and Admin, and system actions are shown as part of use case flows, not as new actors.</a:t>
            </a:r>
          </a:p>
          <a:p>
            <a:pPr>
              <a:lnSpc>
                <a:spcPct val="150000"/>
              </a:lnSpc>
            </a:pPr>
            <a:r>
              <a:rPr lang="en-US" sz="2800" b="1" dirty="0">
                <a:latin typeface="Calibir"/>
              </a:rPr>
              <a:t>Kind regards,</a:t>
            </a:r>
          </a:p>
          <a:p>
            <a:pPr>
              <a:lnSpc>
                <a:spcPct val="150000"/>
              </a:lnSpc>
            </a:pPr>
            <a:r>
              <a:rPr lang="en-US" sz="2800" b="1" dirty="0">
                <a:latin typeface="Calibir"/>
              </a:rPr>
              <a:t>Farshid</a:t>
            </a:r>
            <a:endParaRPr lang="en-US" sz="2800" dirty="0">
              <a:latin typeface="Calibir"/>
            </a:endParaRPr>
          </a:p>
        </p:txBody>
      </p:sp>
      <p:sp>
        <p:nvSpPr>
          <p:cNvPr id="2" name="Title 1">
            <a:extLst>
              <a:ext uri="{FF2B5EF4-FFF2-40B4-BE49-F238E27FC236}">
                <a16:creationId xmlns:a16="http://schemas.microsoft.com/office/drawing/2014/main" id="{1FA2F98A-0EB9-F8CD-AFE1-3B39CE85731B}"/>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4438332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b="1"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E8E3E-6A9E-DF61-85A4-680BF38D08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BCF36-1FF1-1F81-ACD7-875DAF29FC4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B971FE3D-61A3-9074-9B9E-3C722F01A07D}"/>
              </a:ext>
            </a:extLst>
          </p:cNvPr>
          <p:cNvSpPr txBox="1"/>
          <p:nvPr/>
        </p:nvSpPr>
        <p:spPr>
          <a:xfrm>
            <a:off x="0" y="866170"/>
            <a:ext cx="11965258" cy="5803512"/>
          </a:xfrm>
          <a:prstGeom prst="rect">
            <a:avLst/>
          </a:prstGeom>
          <a:noFill/>
        </p:spPr>
        <p:txBody>
          <a:bodyPr wrap="square">
            <a:spAutoFit/>
          </a:bodyPr>
          <a:lstStyle/>
          <a:p>
            <a:pPr>
              <a:lnSpc>
                <a:spcPct val="150000"/>
              </a:lnSpc>
            </a:pPr>
            <a:r>
              <a:rPr lang="en-US" sz="2500" dirty="0">
                <a:latin typeface="Calibir"/>
              </a:rPr>
              <a:t>Dear Professor,</a:t>
            </a:r>
          </a:p>
          <a:p>
            <a:pPr>
              <a:lnSpc>
                <a:spcPct val="150000"/>
              </a:lnSpc>
            </a:pPr>
            <a:r>
              <a:rPr lang="en-US" sz="2500" dirty="0">
                <a:latin typeface="Calibir"/>
              </a:rPr>
              <a:t>I hope this message finds you well.</a:t>
            </a:r>
          </a:p>
          <a:p>
            <a:pPr>
              <a:lnSpc>
                <a:spcPct val="150000"/>
              </a:lnSpc>
            </a:pPr>
            <a:r>
              <a:rPr lang="en-US" sz="2500" dirty="0">
                <a:latin typeface="Calibir"/>
              </a:rPr>
              <a:t>Our group has been working on the assignment, and we would like to kindly ask for your feedback.</a:t>
            </a:r>
          </a:p>
          <a:p>
            <a:pPr>
              <a:lnSpc>
                <a:spcPct val="150000"/>
              </a:lnSpc>
            </a:pPr>
            <a:r>
              <a:rPr lang="en-US" sz="2500" dirty="0">
                <a:latin typeface="Calibir"/>
              </a:rPr>
              <a:t>Could you please review our current content and let us know if any errors or areas require adjustment?</a:t>
            </a:r>
          </a:p>
          <a:p>
            <a:pPr>
              <a:lnSpc>
                <a:spcPct val="150000"/>
              </a:lnSpc>
            </a:pPr>
            <a:r>
              <a:rPr lang="en-US" sz="2500" dirty="0">
                <a:latin typeface="Calibir"/>
              </a:rPr>
              <a:t>We want to make sure that we are on the right track before proceeding further. Your guidance would be greatly appreciated.</a:t>
            </a:r>
          </a:p>
          <a:p>
            <a:pPr>
              <a:lnSpc>
                <a:spcPct val="150000"/>
              </a:lnSpc>
            </a:pPr>
            <a:r>
              <a:rPr lang="en-US" sz="2500" dirty="0">
                <a:latin typeface="Calibir"/>
              </a:rPr>
              <a:t>Thank you very much for your time and support.</a:t>
            </a:r>
          </a:p>
          <a:p>
            <a:pPr>
              <a:lnSpc>
                <a:spcPct val="150000"/>
              </a:lnSpc>
            </a:pPr>
            <a:r>
              <a:rPr lang="en-US" sz="2500" dirty="0">
                <a:latin typeface="Calibir"/>
              </a:rPr>
              <a:t>Best regards,</a:t>
            </a:r>
          </a:p>
        </p:txBody>
      </p:sp>
    </p:spTree>
    <p:extLst>
      <p:ext uri="{BB962C8B-B14F-4D97-AF65-F5344CB8AC3E}">
        <p14:creationId xmlns:p14="http://schemas.microsoft.com/office/powerpoint/2010/main" val="258631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6350-18FE-FC39-823C-7E0680AB6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255589-F6D3-AA36-9F69-5FA08639326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3288CA8-315C-4322-1BA1-5F22AFE014E3}"/>
              </a:ext>
            </a:extLst>
          </p:cNvPr>
          <p:cNvSpPr txBox="1"/>
          <p:nvPr/>
        </p:nvSpPr>
        <p:spPr>
          <a:xfrm>
            <a:off x="0" y="657922"/>
            <a:ext cx="11965258" cy="6260368"/>
          </a:xfrm>
          <a:prstGeom prst="rect">
            <a:avLst/>
          </a:prstGeom>
          <a:noFill/>
        </p:spPr>
        <p:txBody>
          <a:bodyPr wrap="square">
            <a:spAutoFit/>
          </a:bodyPr>
          <a:lstStyle/>
          <a:p>
            <a:pPr>
              <a:lnSpc>
                <a:spcPct val="150000"/>
              </a:lnSpc>
            </a:pPr>
            <a:r>
              <a:rPr lang="en-US" sz="2700" dirty="0">
                <a:latin typeface="Calibir"/>
              </a:rPr>
              <a:t>Dear Student,</a:t>
            </a:r>
          </a:p>
          <a:p>
            <a:pPr>
              <a:lnSpc>
                <a:spcPct val="150000"/>
              </a:lnSpc>
            </a:pPr>
            <a:r>
              <a:rPr lang="en-US" sz="2700" dirty="0">
                <a:latin typeface="Calibir"/>
              </a:rPr>
              <a:t>Thank you for sharing your draft report and diagrams — it is clear that your team has put significant effort into aligning your work with the assignment brief. I reviewed both the use case diagram and the class diagram, and overall you are on the right track. A few clarifications and suggestions:</a:t>
            </a:r>
          </a:p>
          <a:p>
            <a:pPr>
              <a:lnSpc>
                <a:spcPct val="150000"/>
              </a:lnSpc>
            </a:pPr>
            <a:r>
              <a:rPr lang="en-US" sz="2700" b="1" dirty="0">
                <a:latin typeface="Calibir"/>
              </a:rPr>
              <a:t>Use Case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Good job showing both Student and Admin actors clearly.</a:t>
            </a:r>
          </a:p>
          <a:p>
            <a:pPr marL="457200" indent="-457200">
              <a:lnSpc>
                <a:spcPct val="150000"/>
              </a:lnSpc>
              <a:buFont typeface="Wingdings" panose="05000000000000000000" pitchFamily="2" charset="2"/>
              <a:buChar char="ü"/>
            </a:pPr>
            <a:r>
              <a:rPr lang="en-US" sz="2700" dirty="0">
                <a:latin typeface="Calibir"/>
              </a:rPr>
              <a:t>Internal system actions (e.g., validate email/password, generate IDs, assign random marks, save/load data) are correctly modeled as &lt;&lt;include&gt;&gt; relationships.</a:t>
            </a:r>
          </a:p>
        </p:txBody>
      </p:sp>
    </p:spTree>
    <p:extLst>
      <p:ext uri="{BB962C8B-B14F-4D97-AF65-F5344CB8AC3E}">
        <p14:creationId xmlns:p14="http://schemas.microsoft.com/office/powerpoint/2010/main" val="13496081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1B15B-7AF4-2301-543A-F7B723062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EC2093-EEBD-F260-50DB-DEE5045746D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F410B201-94BD-BB76-B94D-5FA17479EFED}"/>
              </a:ext>
            </a:extLst>
          </p:cNvPr>
          <p:cNvSpPr txBox="1"/>
          <p:nvPr/>
        </p:nvSpPr>
        <p:spPr>
          <a:xfrm>
            <a:off x="0" y="657922"/>
            <a:ext cx="11965258" cy="5637121"/>
          </a:xfrm>
          <a:prstGeom prst="rect">
            <a:avLst/>
          </a:prstGeom>
          <a:noFill/>
        </p:spPr>
        <p:txBody>
          <a:bodyPr wrap="square">
            <a:spAutoFit/>
          </a:bodyPr>
          <a:lstStyle/>
          <a:p>
            <a:pPr marL="457200" indent="-457200">
              <a:lnSpc>
                <a:spcPct val="150000"/>
              </a:lnSpc>
              <a:buFont typeface="Wingdings" panose="05000000000000000000" pitchFamily="2" charset="2"/>
              <a:buChar char="ü"/>
            </a:pPr>
            <a:r>
              <a:rPr lang="en-US" sz="2700" dirty="0">
                <a:latin typeface="Calibir"/>
              </a:rPr>
              <a:t>Error-handling via &lt;&lt;extend&gt;&gt; (e.g., invalid credentials, weak password, subject not found) is accurate.</a:t>
            </a:r>
          </a:p>
          <a:p>
            <a:pPr>
              <a:lnSpc>
                <a:spcPct val="150000"/>
              </a:lnSpc>
            </a:pPr>
            <a:r>
              <a:rPr lang="en-US" sz="2700" dirty="0">
                <a:latin typeface="Calibir"/>
              </a:rPr>
              <a:t>Tip: keep UC labels concise (e.g., “UC200 Register” rather than “Register account”) but ensure naming matches your backlog table.</a:t>
            </a:r>
          </a:p>
          <a:p>
            <a:pPr>
              <a:lnSpc>
                <a:spcPct val="150000"/>
              </a:lnSpc>
            </a:pPr>
            <a:r>
              <a:rPr lang="en-US" sz="2700" b="1" dirty="0">
                <a:latin typeface="Calibir"/>
              </a:rPr>
              <a:t>Class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Splitting responsibilities into Student, Subject, Admin, </a:t>
            </a:r>
            <a:r>
              <a:rPr lang="en-US" sz="2700" dirty="0" err="1">
                <a:latin typeface="Calibir"/>
              </a:rPr>
              <a:t>StudentRepository</a:t>
            </a:r>
            <a:r>
              <a:rPr lang="en-US" sz="2700" dirty="0">
                <a:latin typeface="Calibir"/>
              </a:rPr>
              <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is well done.</a:t>
            </a:r>
          </a:p>
          <a:p>
            <a:pPr marL="457200" indent="-457200">
              <a:lnSpc>
                <a:spcPct val="150000"/>
              </a:lnSpc>
              <a:buFont typeface="Wingdings" panose="05000000000000000000" pitchFamily="2" charset="2"/>
              <a:buChar char="ü"/>
            </a:pPr>
            <a:r>
              <a:rPr lang="en-US" sz="2700" dirty="0">
                <a:latin typeface="Calibir"/>
              </a:rPr>
              <a:t>Associations and multiplicities (Student 1 → 0..4 Subjects) are correct.</a:t>
            </a:r>
          </a:p>
          <a:p>
            <a:pPr marL="457200" indent="-457200">
              <a:lnSpc>
                <a:spcPct val="150000"/>
              </a:lnSpc>
              <a:buFont typeface="Wingdings" panose="05000000000000000000" pitchFamily="2" charset="2"/>
              <a:buChar char="ü"/>
            </a:pPr>
            <a:r>
              <a:rPr lang="en-US" sz="2700" dirty="0">
                <a:latin typeface="Calibir"/>
              </a:rPr>
              <a:t>Including </a:t>
            </a:r>
            <a:r>
              <a:rPr lang="en-US" sz="2700" dirty="0" err="1">
                <a:latin typeface="Calibir"/>
              </a:rPr>
              <a:t>students.data</a:t>
            </a:r>
            <a:r>
              <a:rPr lang="en-US" sz="2700" dirty="0">
                <a:latin typeface="Calibir"/>
              </a:rPr>
              <a:t> as a file artifact is a nice touch.</a:t>
            </a:r>
          </a:p>
        </p:txBody>
      </p:sp>
    </p:spTree>
    <p:extLst>
      <p:ext uri="{BB962C8B-B14F-4D97-AF65-F5344CB8AC3E}">
        <p14:creationId xmlns:p14="http://schemas.microsoft.com/office/powerpoint/2010/main" val="22546948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94B3-F287-F96B-233F-1035C01FE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2A73D-A026-CDB1-20B2-133D89041A6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E5046D5-F965-342F-E263-830E7D3D2459}"/>
              </a:ext>
            </a:extLst>
          </p:cNvPr>
          <p:cNvSpPr txBox="1"/>
          <p:nvPr/>
        </p:nvSpPr>
        <p:spPr>
          <a:xfrm>
            <a:off x="0" y="657922"/>
            <a:ext cx="11965258" cy="3144130"/>
          </a:xfrm>
          <a:prstGeom prst="rect">
            <a:avLst/>
          </a:prstGeom>
          <a:noFill/>
        </p:spPr>
        <p:txBody>
          <a:bodyPr wrap="square">
            <a:spAutoFit/>
          </a:bodyPr>
          <a:lstStyle/>
          <a:p>
            <a:pPr marL="457200" indent="-457200">
              <a:lnSpc>
                <a:spcPct val="150000"/>
              </a:lnSpc>
              <a:buFont typeface="Wingdings" panose="05000000000000000000" pitchFamily="2" charset="2"/>
              <a:buChar char="§"/>
            </a:pPr>
            <a:r>
              <a:rPr lang="en-US" sz="2700" dirty="0">
                <a:latin typeface="Calibir"/>
              </a:rPr>
              <a:t>Small refinement: You could treat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as utility/service classes (static-style), but it is acceptable to show them as full classes as you have done.</a:t>
            </a:r>
          </a:p>
          <a:p>
            <a:pPr marL="457200" indent="-457200">
              <a:lnSpc>
                <a:spcPct val="150000"/>
              </a:lnSpc>
              <a:buFont typeface="Wingdings" panose="05000000000000000000" pitchFamily="2" charset="2"/>
              <a:buChar char="§"/>
            </a:pPr>
            <a:r>
              <a:rPr lang="en-US" sz="2700" dirty="0">
                <a:latin typeface="Calibir"/>
              </a:rPr>
              <a:t>Admin does not require attributes (like </a:t>
            </a:r>
            <a:r>
              <a:rPr lang="en-US" sz="2700" dirty="0" err="1">
                <a:latin typeface="Calibir"/>
              </a:rPr>
              <a:t>adminId</a:t>
            </a:r>
            <a:r>
              <a:rPr lang="en-US" sz="2700" dirty="0">
                <a:latin typeface="Calibir"/>
              </a:rPr>
              <a:t>) for this assignment — modelling it as a role/controller with only management functions is sufficient.</a:t>
            </a:r>
          </a:p>
        </p:txBody>
      </p:sp>
    </p:spTree>
    <p:extLst>
      <p:ext uri="{BB962C8B-B14F-4D97-AF65-F5344CB8AC3E}">
        <p14:creationId xmlns:p14="http://schemas.microsoft.com/office/powerpoint/2010/main" val="349230638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981AA-1054-68FE-5978-85EAB574F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2EDA8-DA43-B9D5-8E22-95071021C4F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9BD56BE-529E-2AEF-F439-E6F19D388D17}"/>
              </a:ext>
            </a:extLst>
          </p:cNvPr>
          <p:cNvSpPr txBox="1"/>
          <p:nvPr/>
        </p:nvSpPr>
        <p:spPr>
          <a:xfrm>
            <a:off x="0" y="657922"/>
            <a:ext cx="11965258" cy="5013873"/>
          </a:xfrm>
          <a:prstGeom prst="rect">
            <a:avLst/>
          </a:prstGeom>
          <a:noFill/>
        </p:spPr>
        <p:txBody>
          <a:bodyPr wrap="square">
            <a:spAutoFit/>
          </a:bodyPr>
          <a:lstStyle/>
          <a:p>
            <a:pPr>
              <a:lnSpc>
                <a:spcPct val="150000"/>
              </a:lnSpc>
            </a:pPr>
            <a:r>
              <a:rPr lang="en-US" sz="2700" b="1" dirty="0">
                <a:latin typeface="Calibir"/>
              </a:rPr>
              <a:t>General Feedback</a:t>
            </a:r>
            <a:endParaRPr lang="en-US" sz="2700" dirty="0">
              <a:latin typeface="Calibir"/>
            </a:endParaRPr>
          </a:p>
          <a:p>
            <a:pPr marL="457200" indent="-457200">
              <a:lnSpc>
                <a:spcPct val="150000"/>
              </a:lnSpc>
              <a:buFont typeface="Arial" panose="020B0604020202020204" pitchFamily="34" charset="0"/>
              <a:buChar char="•"/>
            </a:pPr>
            <a:r>
              <a:rPr lang="en-US" sz="2700" dirty="0">
                <a:latin typeface="Calibir"/>
              </a:rPr>
              <a:t>Your backlog, use case diagram, and class diagram are consistent, which is a key marking criterion.</a:t>
            </a:r>
          </a:p>
          <a:p>
            <a:pPr marL="457200" indent="-457200">
              <a:lnSpc>
                <a:spcPct val="150000"/>
              </a:lnSpc>
              <a:buFont typeface="Arial" panose="020B0604020202020204" pitchFamily="34" charset="0"/>
              <a:buChar char="•"/>
            </a:pPr>
            <a:r>
              <a:rPr lang="en-US" sz="2700" dirty="0">
                <a:latin typeface="Calibir"/>
              </a:rPr>
              <a:t>Your report structure is clear, and your system rules align with the Part 1 brief (email, password, ID formats, enrolment cap, mark ranges, grade bands, PASS/FAIL rule).</a:t>
            </a:r>
          </a:p>
          <a:p>
            <a:pPr marL="457200" indent="-457200">
              <a:lnSpc>
                <a:spcPct val="150000"/>
              </a:lnSpc>
              <a:buFont typeface="Arial" panose="020B0604020202020204" pitchFamily="34" charset="0"/>
              <a:buChar char="•"/>
            </a:pPr>
            <a:r>
              <a:rPr lang="en-US" sz="2700" dirty="0">
                <a:latin typeface="Calibir"/>
              </a:rPr>
              <a:t>At this stage, no major corrections are required — only minor refinements for naming consistency and clarity.</a:t>
            </a:r>
          </a:p>
        </p:txBody>
      </p:sp>
    </p:spTree>
    <p:extLst>
      <p:ext uri="{BB962C8B-B14F-4D97-AF65-F5344CB8AC3E}">
        <p14:creationId xmlns:p14="http://schemas.microsoft.com/office/powerpoint/2010/main" val="421557840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8AA6-9BCA-5089-1FF6-F056F3067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4C9CD-1410-26DF-3965-F93CF640303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15FE1BD-1217-AB73-1524-8D0D5511DCEF}"/>
              </a:ext>
            </a:extLst>
          </p:cNvPr>
          <p:cNvSpPr txBox="1"/>
          <p:nvPr/>
        </p:nvSpPr>
        <p:spPr>
          <a:xfrm>
            <a:off x="0" y="657922"/>
            <a:ext cx="11965258" cy="2520883"/>
          </a:xfrm>
          <a:prstGeom prst="rect">
            <a:avLst/>
          </a:prstGeom>
          <a:noFill/>
        </p:spPr>
        <p:txBody>
          <a:bodyPr wrap="square">
            <a:spAutoFit/>
          </a:bodyPr>
          <a:lstStyle/>
          <a:p>
            <a:pPr>
              <a:lnSpc>
                <a:spcPct val="150000"/>
              </a:lnSpc>
            </a:pPr>
            <a:r>
              <a:rPr lang="en-US" sz="2700" dirty="0">
                <a:latin typeface="Calibir"/>
              </a:rPr>
              <a:t>You are progressing very well — if you keep the consistency between backlog → use case → class diagram, your submission will meet the assessment requirements.</a:t>
            </a:r>
          </a:p>
          <a:p>
            <a:pPr>
              <a:lnSpc>
                <a:spcPct val="150000"/>
              </a:lnSpc>
            </a:pPr>
            <a:r>
              <a:rPr lang="en-US" sz="2700" dirty="0">
                <a:latin typeface="Calibir"/>
              </a:rPr>
              <a:t>Best regards,</a:t>
            </a:r>
            <a:br>
              <a:rPr lang="en-US" sz="2700" dirty="0">
                <a:latin typeface="Calibir"/>
              </a:rPr>
            </a:br>
            <a:r>
              <a:rPr lang="en-US" sz="2700" dirty="0">
                <a:latin typeface="Calibir"/>
              </a:rPr>
              <a:t>Dr. Farshid Keivanian</a:t>
            </a:r>
          </a:p>
        </p:txBody>
      </p:sp>
    </p:spTree>
    <p:extLst>
      <p:ext uri="{BB962C8B-B14F-4D97-AF65-F5344CB8AC3E}">
        <p14:creationId xmlns:p14="http://schemas.microsoft.com/office/powerpoint/2010/main" val="88311086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7EB39-647C-51CC-6FA4-633C3CF89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DB8CA-0A10-109B-32BB-37157BAD4E4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99FF10C-270C-EBE5-6C64-1F2A0C31CE71}"/>
              </a:ext>
            </a:extLst>
          </p:cNvPr>
          <p:cNvSpPr txBox="1"/>
          <p:nvPr/>
        </p:nvSpPr>
        <p:spPr>
          <a:xfrm>
            <a:off x="0" y="698901"/>
            <a:ext cx="11965258" cy="4549835"/>
          </a:xfrm>
          <a:prstGeom prst="rect">
            <a:avLst/>
          </a:prstGeom>
          <a:noFill/>
        </p:spPr>
        <p:txBody>
          <a:bodyPr wrap="square">
            <a:spAutoFit/>
          </a:bodyPr>
          <a:lstStyle/>
          <a:p>
            <a:pPr fontAlgn="base">
              <a:lnSpc>
                <a:spcPct val="150000"/>
              </a:lnSpc>
            </a:pPr>
            <a:r>
              <a:rPr lang="en-US" sz="2800" dirty="0">
                <a:latin typeface="Calibir"/>
              </a:rPr>
              <a:t>Dear Dr. Keivanian,</a:t>
            </a:r>
          </a:p>
          <a:p>
            <a:pPr fontAlgn="base">
              <a:lnSpc>
                <a:spcPct val="150000"/>
              </a:lnSpc>
            </a:pPr>
            <a:r>
              <a:rPr lang="en-US" sz="2800" dirty="0">
                <a:latin typeface="Calibir"/>
              </a:rPr>
              <a:t>We are Group #... – Tuesday 4 PM (Cmp1-01) in [32555 Fundamentals of Software Development]. </a:t>
            </a:r>
          </a:p>
          <a:p>
            <a:pPr fontAlgn="base">
              <a:lnSpc>
                <a:spcPct val="150000"/>
              </a:lnSpc>
            </a:pPr>
            <a:r>
              <a:rPr lang="en-US" sz="2800" dirty="0">
                <a:latin typeface="Calibir"/>
              </a:rPr>
              <a:t>we are aligning our class diagram design with the five classes shown in your “Week 5 – Preparation for Group Assignment” slide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We have a few questions. </a:t>
            </a:r>
          </a:p>
          <a:p>
            <a:pPr fontAlgn="base">
              <a:lnSpc>
                <a:spcPct val="150000"/>
              </a:lnSpc>
            </a:pPr>
            <a:r>
              <a:rPr lang="en-US" sz="2800" dirty="0">
                <a:latin typeface="Calibir"/>
              </a:rPr>
              <a:t>This is our class diagram draft, </a:t>
            </a:r>
          </a:p>
        </p:txBody>
      </p:sp>
    </p:spTree>
    <p:extLst>
      <p:ext uri="{BB962C8B-B14F-4D97-AF65-F5344CB8AC3E}">
        <p14:creationId xmlns:p14="http://schemas.microsoft.com/office/powerpoint/2010/main" val="4286525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17E7D-04E2-0A87-C7B8-371DCF048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79101-9018-E237-2CE7-FE5C9C10237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276C765-27D3-EB9D-EB74-46CA282BDD80}"/>
              </a:ext>
            </a:extLst>
          </p:cNvPr>
          <p:cNvSpPr txBox="1"/>
          <p:nvPr/>
        </p:nvSpPr>
        <p:spPr>
          <a:xfrm>
            <a:off x="0" y="698901"/>
            <a:ext cx="11965258" cy="5693866"/>
          </a:xfrm>
          <a:prstGeom prst="rect">
            <a:avLst/>
          </a:prstGeom>
          <a:noFill/>
        </p:spPr>
        <p:txBody>
          <a:bodyPr wrap="square">
            <a:spAutoFit/>
          </a:bodyPr>
          <a:lstStyle/>
          <a:p>
            <a:pPr fontAlgn="base"/>
            <a:r>
              <a:rPr lang="en-US" sz="2600" b="1" dirty="0">
                <a:latin typeface="Calibir"/>
              </a:rPr>
              <a:t>Question 1</a:t>
            </a:r>
          </a:p>
          <a:p>
            <a:pPr fontAlgn="base"/>
            <a:r>
              <a:rPr lang="en-US" sz="2600" dirty="0">
                <a:latin typeface="Calibir"/>
              </a:rPr>
              <a:t>Should </a:t>
            </a:r>
            <a:r>
              <a:rPr lang="en-US" sz="2600" dirty="0" err="1">
                <a:latin typeface="Calibir"/>
              </a:rPr>
              <a:t>changePassword</a:t>
            </a:r>
            <a:r>
              <a:rPr lang="en-US" sz="2600" dirty="0">
                <a:latin typeface="Calibir"/>
              </a:rPr>
              <a:t> method live in Student (self-management of credentials) or in </a:t>
            </a:r>
            <a:r>
              <a:rPr lang="en-US" sz="2600" dirty="0" err="1">
                <a:latin typeface="Calibir"/>
              </a:rPr>
              <a:t>AuthService</a:t>
            </a:r>
            <a:r>
              <a:rPr lang="en-US" sz="2600" dirty="0">
                <a:latin typeface="Calibir"/>
              </a:rPr>
              <a:t> (relates to security concern)? Would placing it in both classes be acceptable, or is that redundant for this assignment?</a:t>
            </a:r>
          </a:p>
          <a:p>
            <a:pPr fontAlgn="base"/>
            <a:endParaRPr lang="en-US" sz="2600" dirty="0">
              <a:latin typeface="Calibir"/>
            </a:endParaRPr>
          </a:p>
          <a:p>
            <a:pPr fontAlgn="base"/>
            <a:r>
              <a:rPr lang="en-US" sz="2600" b="1" dirty="0">
                <a:latin typeface="Calibir"/>
              </a:rPr>
              <a:t>Question 2</a:t>
            </a:r>
            <a:br>
              <a:rPr lang="en-US" sz="2600" dirty="0">
                <a:latin typeface="Calibir"/>
              </a:rPr>
            </a:br>
            <a:r>
              <a:rPr lang="en-US" sz="2600" dirty="0">
                <a:latin typeface="Calibir"/>
              </a:rPr>
              <a:t>marks and grades seem to belong to the Student–Subject relationship. would it be acceptable to make an association class (such as Enrolment) to model this relationship? Or should we keep the mark and grade attributes inside the Subject class?</a:t>
            </a:r>
          </a:p>
          <a:p>
            <a:pPr fontAlgn="base"/>
            <a:endParaRPr lang="en-US" sz="2600" dirty="0">
              <a:latin typeface="Calibir"/>
            </a:endParaRPr>
          </a:p>
          <a:p>
            <a:pPr fontAlgn="base"/>
            <a:r>
              <a:rPr lang="en-US" sz="2600" b="1" dirty="0">
                <a:latin typeface="Calibir"/>
              </a:rPr>
              <a:t>Question 3</a:t>
            </a:r>
            <a:br>
              <a:rPr lang="en-US" sz="2600" dirty="0">
                <a:latin typeface="Calibir"/>
              </a:rPr>
            </a:br>
            <a:r>
              <a:rPr lang="en-US" sz="2600" dirty="0">
                <a:latin typeface="Calibir"/>
              </a:rPr>
              <a:t>And also, some examples add a separate utility class to centralize </a:t>
            </a:r>
            <a:r>
              <a:rPr lang="en-US" sz="2600" dirty="0" err="1">
                <a:latin typeface="Calibir"/>
              </a:rPr>
              <a:t>validateEmail</a:t>
            </a:r>
            <a:r>
              <a:rPr lang="en-US" sz="2600" dirty="0">
                <a:latin typeface="Calibir"/>
              </a:rPr>
              <a:t>, </a:t>
            </a:r>
            <a:r>
              <a:rPr lang="en-US" sz="2600" dirty="0" err="1">
                <a:latin typeface="Calibir"/>
              </a:rPr>
              <a:t>validatePassword</a:t>
            </a:r>
            <a:r>
              <a:rPr lang="en-US" sz="2600" dirty="0">
                <a:latin typeface="Calibir"/>
              </a:rPr>
              <a:t>, and </a:t>
            </a:r>
            <a:r>
              <a:rPr lang="en-US" sz="2600" dirty="0" err="1">
                <a:latin typeface="Calibir"/>
              </a:rPr>
              <a:t>generateStudentId</a:t>
            </a:r>
            <a:r>
              <a:rPr lang="en-US" sz="2600" dirty="0">
                <a:latin typeface="Calibir"/>
              </a:rPr>
              <a:t>. Would adding such a class be appropriate, or would you prefer we keep these functions inside the existing five classes?</a:t>
            </a:r>
          </a:p>
        </p:txBody>
      </p:sp>
    </p:spTree>
    <p:extLst>
      <p:ext uri="{BB962C8B-B14F-4D97-AF65-F5344CB8AC3E}">
        <p14:creationId xmlns:p14="http://schemas.microsoft.com/office/powerpoint/2010/main" val="346705672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C2445-1FAA-86BA-1E4A-4B37829E0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FF3E-29FF-E268-430C-355E06A71EC1}"/>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575B5670-0575-924B-24D7-AB5BCA840045}"/>
              </a:ext>
            </a:extLst>
          </p:cNvPr>
          <p:cNvSpPr txBox="1"/>
          <p:nvPr/>
        </p:nvSpPr>
        <p:spPr>
          <a:xfrm>
            <a:off x="0" y="698901"/>
            <a:ext cx="11965258" cy="4832092"/>
          </a:xfrm>
          <a:prstGeom prst="rect">
            <a:avLst/>
          </a:prstGeom>
          <a:noFill/>
        </p:spPr>
        <p:txBody>
          <a:bodyPr wrap="square">
            <a:spAutoFit/>
          </a:bodyPr>
          <a:lstStyle/>
          <a:p>
            <a:pPr fontAlgn="base"/>
            <a:r>
              <a:rPr lang="en-US" sz="2800" b="1" dirty="0">
                <a:latin typeface="Calibir"/>
              </a:rPr>
              <a:t>Question 4</a:t>
            </a:r>
          </a:p>
          <a:p>
            <a:pPr fontAlgn="base"/>
            <a:r>
              <a:rPr lang="en-US" sz="2800" dirty="0">
                <a:latin typeface="Calibir"/>
              </a:rPr>
              <a:t>For Admin class, should we include attributes such as </a:t>
            </a:r>
            <a:r>
              <a:rPr lang="en-US" sz="2800" dirty="0" err="1">
                <a:latin typeface="Calibir"/>
              </a:rPr>
              <a:t>adminId</a:t>
            </a:r>
            <a:r>
              <a:rPr lang="en-US" sz="2800" dirty="0">
                <a:latin typeface="Calibir"/>
              </a:rPr>
              <a:t> or name, email (treating Admin as a real user), or is it sufficient for Admin to expose only management functions (e.g., list students, delete student, view grades)? I’m not entirely sure, but in a previous lab (Bank System), I didn’t model an Admin login, so I wanted to clarify it. </a:t>
            </a:r>
          </a:p>
          <a:p>
            <a:pPr fontAlgn="base"/>
            <a:br>
              <a:rPr lang="en-US" sz="2800" dirty="0">
                <a:latin typeface="Calibir"/>
              </a:rPr>
            </a:br>
            <a:endParaRPr lang="en-US" sz="2800" dirty="0">
              <a:latin typeface="Calibir"/>
            </a:endParaRPr>
          </a:p>
          <a:p>
            <a:pPr fontAlgn="base"/>
            <a:r>
              <a:rPr lang="en-US" sz="2800" dirty="0">
                <a:latin typeface="Calibir"/>
              </a:rPr>
              <a:t>Since this is our first time working on analysis and design of development process, we may find some parts challenging and might make a few mistakes along the way. We kindly ask for your understanding. Thank you so much!</a:t>
            </a:r>
          </a:p>
        </p:txBody>
      </p:sp>
    </p:spTree>
    <p:extLst>
      <p:ext uri="{BB962C8B-B14F-4D97-AF65-F5344CB8AC3E}">
        <p14:creationId xmlns:p14="http://schemas.microsoft.com/office/powerpoint/2010/main" val="95474496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A396-315C-F901-2727-6F72CDE7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DDA5E0-D463-B995-6F15-F3019048212F}"/>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28DC90F1-E324-3D49-A590-731B1BFAB77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dirty="0">
                <a:latin typeface="Calibir"/>
              </a:rPr>
              <a:t>Dear students,</a:t>
            </a:r>
          </a:p>
          <a:p>
            <a:pPr>
              <a:lnSpc>
                <a:spcPct val="150000"/>
              </a:lnSpc>
            </a:pPr>
            <a:r>
              <a:rPr lang="en-US" sz="2800" dirty="0">
                <a:latin typeface="Calibir"/>
              </a:rPr>
              <a:t>Thank you for sharing your thoughtful draft and questions. It’s great to see your group working carefully on the design. Please find clarifications below:</a:t>
            </a:r>
          </a:p>
          <a:p>
            <a:pPr>
              <a:lnSpc>
                <a:spcPct val="150000"/>
              </a:lnSpc>
            </a:pPr>
            <a:r>
              <a:rPr lang="en-US" sz="2800" b="1" dirty="0">
                <a:latin typeface="Calibir"/>
              </a:rPr>
              <a:t>Q1. </a:t>
            </a:r>
            <a:r>
              <a:rPr lang="en-US" sz="2800" b="1" dirty="0" err="1">
                <a:latin typeface="Calibir"/>
              </a:rPr>
              <a:t>changePassword</a:t>
            </a:r>
            <a:r>
              <a:rPr lang="en-US" sz="2800" b="1" dirty="0">
                <a:latin typeface="Calibir"/>
              </a:rPr>
              <a:t> – Student vs </a:t>
            </a:r>
            <a:r>
              <a:rPr lang="en-US" sz="2800" b="1" dirty="0" err="1">
                <a:latin typeface="Calibir"/>
              </a:rPr>
              <a:t>AuthService</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For this assignment, it is acceptable to place </a:t>
            </a:r>
            <a:r>
              <a:rPr lang="en-US" sz="2800" dirty="0" err="1">
                <a:latin typeface="Calibir"/>
              </a:rPr>
              <a:t>changePassword</a:t>
            </a:r>
            <a:r>
              <a:rPr lang="en-US" sz="2800" dirty="0">
                <a:latin typeface="Calibir"/>
              </a:rPr>
              <a:t> inside </a:t>
            </a:r>
            <a:r>
              <a:rPr lang="en-US" sz="2800" dirty="0" err="1">
                <a:latin typeface="Calibir"/>
              </a:rPr>
              <a:t>AuthService</a:t>
            </a:r>
            <a:r>
              <a:rPr lang="en-US" sz="2800" dirty="0">
                <a:latin typeface="Calibir"/>
              </a:rPr>
              <a:t>, since it relates to authentication/security logic.</a:t>
            </a:r>
          </a:p>
          <a:p>
            <a:pPr marL="811213" indent="-457200">
              <a:lnSpc>
                <a:spcPct val="150000"/>
              </a:lnSpc>
              <a:buFont typeface="Arial" panose="020B0604020202020204" pitchFamily="34" charset="0"/>
              <a:buChar char="•"/>
            </a:pPr>
            <a:r>
              <a:rPr lang="en-US" sz="2800" dirty="0">
                <a:latin typeface="Calibir"/>
              </a:rPr>
              <a:t>If you also show it inside Student as a self-operation, that may be seen as redundant. To keep your diagram clean and consistent, I recommend placing it in </a:t>
            </a:r>
            <a:r>
              <a:rPr lang="en-US" sz="2800" dirty="0" err="1">
                <a:latin typeface="Calibir"/>
              </a:rPr>
              <a:t>AuthService</a:t>
            </a:r>
            <a:r>
              <a:rPr lang="en-US" sz="2800" dirty="0">
                <a:latin typeface="Calibir"/>
              </a:rPr>
              <a:t> only.</a:t>
            </a:r>
          </a:p>
        </p:txBody>
      </p:sp>
    </p:spTree>
    <p:extLst>
      <p:ext uri="{BB962C8B-B14F-4D97-AF65-F5344CB8AC3E}">
        <p14:creationId xmlns:p14="http://schemas.microsoft.com/office/powerpoint/2010/main" val="71749071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B2A0-0EC8-D457-BB6A-C972C7723E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59B5F-154F-22B2-95C4-FAF8F0724E9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603B4D15-04CF-4FA8-33AE-E183BDC612EF}"/>
              </a:ext>
            </a:extLst>
          </p:cNvPr>
          <p:cNvSpPr txBox="1"/>
          <p:nvPr/>
        </p:nvSpPr>
        <p:spPr>
          <a:xfrm>
            <a:off x="0" y="698901"/>
            <a:ext cx="11965258" cy="5196166"/>
          </a:xfrm>
          <a:prstGeom prst="rect">
            <a:avLst/>
          </a:prstGeom>
          <a:noFill/>
        </p:spPr>
        <p:txBody>
          <a:bodyPr wrap="square">
            <a:spAutoFit/>
          </a:bodyPr>
          <a:lstStyle/>
          <a:p>
            <a:pPr>
              <a:lnSpc>
                <a:spcPct val="150000"/>
              </a:lnSpc>
            </a:pPr>
            <a:r>
              <a:rPr lang="en-US" sz="2800" b="1" dirty="0">
                <a:latin typeface="Calibir"/>
              </a:rPr>
              <a:t>Q2. Marks/Grades – association class vs Subject</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You are right: marks and grades belong to the enrolment relationship (Student ↔ Subject), not inside Subject itself.</a:t>
            </a:r>
          </a:p>
          <a:p>
            <a:pPr marL="722313" indent="-457200">
              <a:lnSpc>
                <a:spcPct val="150000"/>
              </a:lnSpc>
              <a:buFont typeface="Arial" panose="020B0604020202020204" pitchFamily="34" charset="0"/>
              <a:buChar char="•"/>
            </a:pPr>
            <a:r>
              <a:rPr lang="en-US" sz="2800" dirty="0">
                <a:latin typeface="Calibir"/>
              </a:rPr>
              <a:t>If you want to be precise, you may introduce an association class (Enrolment) that holds mark and grade.</a:t>
            </a:r>
          </a:p>
          <a:p>
            <a:pPr marL="722313" indent="-457200">
              <a:lnSpc>
                <a:spcPct val="150000"/>
              </a:lnSpc>
              <a:buFont typeface="Arial" panose="020B0604020202020204" pitchFamily="34" charset="0"/>
              <a:buChar char="•"/>
            </a:pPr>
            <a:r>
              <a:rPr lang="en-US" sz="2800" dirty="0">
                <a:latin typeface="Calibir"/>
              </a:rPr>
              <a:t>Alternatively, you can store them as part of the Student’s enrolment map (Student → Subject + mark/grade). Either is acceptable, but avoid putting mark and grade directly inside Subject.</a:t>
            </a:r>
          </a:p>
        </p:txBody>
      </p:sp>
    </p:spTree>
    <p:extLst>
      <p:ext uri="{BB962C8B-B14F-4D97-AF65-F5344CB8AC3E}">
        <p14:creationId xmlns:p14="http://schemas.microsoft.com/office/powerpoint/2010/main" val="33040950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AE097-8458-0152-E321-43607158C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4AB6E1-A50B-70E5-A660-DFC181A8EB3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C9C598A-96D1-82F7-F717-5AED505E82C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b="1" dirty="0">
                <a:latin typeface="Calibir"/>
              </a:rPr>
              <a:t>Q3. Utility class for validation/ID generation</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Adding a utility/helper class (e.g., Validator or </a:t>
            </a:r>
            <a:r>
              <a:rPr lang="en-US" sz="2800" dirty="0" err="1">
                <a:latin typeface="Calibir"/>
              </a:rPr>
              <a:t>IdGenerator</a:t>
            </a:r>
            <a:r>
              <a:rPr lang="en-US" sz="2800" dirty="0">
                <a:latin typeface="Calibir"/>
              </a:rPr>
              <a:t>) is fine in real-world systems.</a:t>
            </a:r>
          </a:p>
          <a:p>
            <a:pPr marL="722313" indent="-457200">
              <a:lnSpc>
                <a:spcPct val="150000"/>
              </a:lnSpc>
              <a:buFont typeface="Arial" panose="020B0604020202020204" pitchFamily="34" charset="0"/>
              <a:buChar char="•"/>
            </a:pPr>
            <a:r>
              <a:rPr lang="en-US" sz="2800" dirty="0">
                <a:latin typeface="Calibir"/>
              </a:rPr>
              <a:t>For this assignment, it is simpler to keep </a:t>
            </a:r>
            <a:r>
              <a:rPr lang="en-US" sz="2800" dirty="0" err="1">
                <a:latin typeface="Calibir"/>
              </a:rPr>
              <a:t>validateEmail</a:t>
            </a:r>
            <a:r>
              <a:rPr lang="en-US" sz="2800" dirty="0">
                <a:latin typeface="Calibir"/>
              </a:rPr>
              <a:t>, </a:t>
            </a:r>
            <a:r>
              <a:rPr lang="en-US" sz="2800" dirty="0" err="1">
                <a:latin typeface="Calibir"/>
              </a:rPr>
              <a:t>validatePassword</a:t>
            </a:r>
            <a:r>
              <a:rPr lang="en-US" sz="2800" dirty="0">
                <a:latin typeface="Calibir"/>
              </a:rPr>
              <a:t>, and </a:t>
            </a:r>
            <a:r>
              <a:rPr lang="en-US" sz="2800" dirty="0" err="1">
                <a:latin typeface="Calibir"/>
              </a:rPr>
              <a:t>generateStudentId</a:t>
            </a:r>
            <a:r>
              <a:rPr lang="en-US" sz="2800" dirty="0">
                <a:latin typeface="Calibir"/>
              </a:rPr>
              <a:t> inside </a:t>
            </a:r>
            <a:r>
              <a:rPr lang="en-US" sz="2800" dirty="0" err="1">
                <a:latin typeface="Calibir"/>
              </a:rPr>
              <a:t>AuthService</a:t>
            </a:r>
            <a:r>
              <a:rPr lang="en-US" sz="2800" dirty="0">
                <a:latin typeface="Calibir"/>
              </a:rPr>
              <a:t> (since that class already handles registration/login).</a:t>
            </a:r>
          </a:p>
          <a:p>
            <a:pPr marL="722313" indent="-457200">
              <a:lnSpc>
                <a:spcPct val="150000"/>
              </a:lnSpc>
              <a:buFont typeface="Arial" panose="020B0604020202020204" pitchFamily="34" charset="0"/>
              <a:buChar char="•"/>
            </a:pPr>
            <a:r>
              <a:rPr lang="en-US" sz="2800" dirty="0">
                <a:latin typeface="Calibir"/>
              </a:rPr>
              <a:t>You don’t lose marks either way, but sticking to the 5 main 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keeps your diagram consistent with the brief.</a:t>
            </a:r>
          </a:p>
        </p:txBody>
      </p:sp>
    </p:spTree>
    <p:extLst>
      <p:ext uri="{BB962C8B-B14F-4D97-AF65-F5344CB8AC3E}">
        <p14:creationId xmlns:p14="http://schemas.microsoft.com/office/powerpoint/2010/main" val="207873932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EA14-94D3-881E-FF01-C2B8B2332D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3ECD1-F3AA-F1FC-D4A0-F625EF797E2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870D00E-37AE-053D-0D41-FDE96AD3FE13}"/>
              </a:ext>
            </a:extLst>
          </p:cNvPr>
          <p:cNvSpPr txBox="1"/>
          <p:nvPr/>
        </p:nvSpPr>
        <p:spPr>
          <a:xfrm>
            <a:off x="0" y="698901"/>
            <a:ext cx="11965258" cy="4549835"/>
          </a:xfrm>
          <a:prstGeom prst="rect">
            <a:avLst/>
          </a:prstGeom>
          <a:noFill/>
        </p:spPr>
        <p:txBody>
          <a:bodyPr wrap="square">
            <a:spAutoFit/>
          </a:bodyPr>
          <a:lstStyle/>
          <a:p>
            <a:pPr>
              <a:lnSpc>
                <a:spcPct val="150000"/>
              </a:lnSpc>
            </a:pPr>
            <a:r>
              <a:rPr lang="en-US" sz="2800" b="1" dirty="0">
                <a:latin typeface="Calibir"/>
              </a:rPr>
              <a:t>Q4. Admin class attributes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In this assignment, Admins don’t need registration or login (they are predefined).</a:t>
            </a:r>
          </a:p>
          <a:p>
            <a:pPr marL="811213" indent="-457200">
              <a:lnSpc>
                <a:spcPct val="150000"/>
              </a:lnSpc>
              <a:buFont typeface="Arial" panose="020B0604020202020204" pitchFamily="34" charset="0"/>
              <a:buChar char="•"/>
            </a:pPr>
            <a:r>
              <a:rPr lang="en-US" sz="2800" dirty="0">
                <a:latin typeface="Calibir"/>
              </a:rPr>
              <a:t>So you don’t need to add </a:t>
            </a:r>
            <a:r>
              <a:rPr lang="en-US" sz="2800" dirty="0" err="1">
                <a:latin typeface="Calibir"/>
              </a:rPr>
              <a:t>adminId</a:t>
            </a:r>
            <a:r>
              <a:rPr lang="en-US" sz="2800" dirty="0">
                <a:latin typeface="Calibir"/>
              </a:rPr>
              <a:t>, email, or password as attributes.</a:t>
            </a:r>
          </a:p>
          <a:p>
            <a:pPr marL="811213" indent="-457200">
              <a:lnSpc>
                <a:spcPct val="150000"/>
              </a:lnSpc>
              <a:buFont typeface="Arial" panose="020B0604020202020204" pitchFamily="34" charset="0"/>
              <a:buChar char="•"/>
            </a:pPr>
            <a:r>
              <a:rPr lang="en-US" sz="2800" dirty="0">
                <a:latin typeface="Calibir"/>
              </a:rPr>
              <a:t>It is sufficient for Admin to only expose the required management operations (</a:t>
            </a:r>
            <a:r>
              <a:rPr lang="en-US" sz="2800" dirty="0" err="1">
                <a:latin typeface="Calibir"/>
              </a:rPr>
              <a:t>listStudents</a:t>
            </a:r>
            <a:r>
              <a:rPr lang="en-US" sz="2800" dirty="0">
                <a:latin typeface="Calibir"/>
              </a:rPr>
              <a:t>, </a:t>
            </a:r>
            <a:r>
              <a:rPr lang="en-US" sz="2800" dirty="0" err="1">
                <a:latin typeface="Calibir"/>
              </a:rPr>
              <a:t>deleteStudent</a:t>
            </a:r>
            <a:r>
              <a:rPr lang="en-US" sz="2800" dirty="0">
                <a:latin typeface="Calibir"/>
              </a:rPr>
              <a:t>, </a:t>
            </a:r>
            <a:r>
              <a:rPr lang="en-US" sz="2800" dirty="0" err="1">
                <a:latin typeface="Calibir"/>
              </a:rPr>
              <a:t>viewGrades</a:t>
            </a:r>
            <a:r>
              <a:rPr lang="en-US" sz="2800" dirty="0">
                <a:latin typeface="Calibir"/>
              </a:rPr>
              <a:t>, </a:t>
            </a:r>
            <a:r>
              <a:rPr lang="en-US" sz="2800" dirty="0" err="1">
                <a:latin typeface="Calibir"/>
              </a:rPr>
              <a:t>clearData</a:t>
            </a:r>
            <a:r>
              <a:rPr lang="en-US" sz="2800" dirty="0">
                <a:latin typeface="Calibir"/>
              </a:rPr>
              <a:t>, etc.).</a:t>
            </a:r>
          </a:p>
          <a:p>
            <a:pPr marL="811213" indent="-457200">
              <a:lnSpc>
                <a:spcPct val="150000"/>
              </a:lnSpc>
              <a:buFont typeface="Arial" panose="020B0604020202020204" pitchFamily="34" charset="0"/>
              <a:buChar char="•"/>
            </a:pPr>
            <a:r>
              <a:rPr lang="en-US" sz="2800" dirty="0">
                <a:latin typeface="Calibir"/>
              </a:rPr>
              <a:t>Treat Admin as a role/facade, not as a full user entity like Student.</a:t>
            </a:r>
          </a:p>
        </p:txBody>
      </p:sp>
    </p:spTree>
    <p:extLst>
      <p:ext uri="{BB962C8B-B14F-4D97-AF65-F5344CB8AC3E}">
        <p14:creationId xmlns:p14="http://schemas.microsoft.com/office/powerpoint/2010/main" val="41267339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9C744-FF10-B75E-1E49-F799D5775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28C437-AD62-03A5-C747-55C8B7A0646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C702D0F0-6969-432C-1505-36B49689BFBF}"/>
              </a:ext>
            </a:extLst>
          </p:cNvPr>
          <p:cNvSpPr txBox="1"/>
          <p:nvPr/>
        </p:nvSpPr>
        <p:spPr>
          <a:xfrm>
            <a:off x="0" y="521920"/>
            <a:ext cx="11965258" cy="6488828"/>
          </a:xfrm>
          <a:prstGeom prst="rect">
            <a:avLst/>
          </a:prstGeom>
          <a:noFill/>
        </p:spPr>
        <p:txBody>
          <a:bodyPr wrap="square">
            <a:spAutoFit/>
          </a:bodyPr>
          <a:lstStyle/>
          <a:p>
            <a:pPr>
              <a:lnSpc>
                <a:spcPct val="150000"/>
              </a:lnSpc>
            </a:pPr>
            <a:r>
              <a:rPr lang="en-US" sz="2800" b="1" dirty="0">
                <a:latin typeface="Calibir"/>
              </a:rPr>
              <a:t>Key takeaway:</a:t>
            </a:r>
            <a:br>
              <a:rPr lang="en-US" sz="2800" dirty="0">
                <a:latin typeface="Calibir"/>
              </a:rPr>
            </a:br>
            <a:r>
              <a:rPr lang="en-US" sz="2800" dirty="0">
                <a:latin typeface="Calibir"/>
              </a:rPr>
              <a:t>Keep your class diagram simple and aligned with the assignment brief. Stick with the five main classes, place </a:t>
            </a:r>
            <a:r>
              <a:rPr lang="en-US" sz="2800" dirty="0" err="1">
                <a:latin typeface="Calibir"/>
              </a:rPr>
              <a:t>changePassword</a:t>
            </a:r>
            <a:r>
              <a:rPr lang="en-US" sz="2800" dirty="0">
                <a:latin typeface="Calibir"/>
              </a:rPr>
              <a:t> in </a:t>
            </a:r>
            <a:r>
              <a:rPr lang="en-US" sz="2800" dirty="0" err="1">
                <a:latin typeface="Calibir"/>
              </a:rPr>
              <a:t>AuthService</a:t>
            </a:r>
            <a:r>
              <a:rPr lang="en-US" sz="2800" dirty="0">
                <a:latin typeface="Calibir"/>
              </a:rPr>
              <a:t>, model marks/grades in the Student–Subject relationship (not Subject directly), keep validation logic in </a:t>
            </a:r>
            <a:r>
              <a:rPr lang="en-US" sz="2800" dirty="0" err="1">
                <a:latin typeface="Calibir"/>
              </a:rPr>
              <a:t>AuthService</a:t>
            </a:r>
            <a:r>
              <a:rPr lang="en-US" sz="2800" dirty="0">
                <a:latin typeface="Calibir"/>
              </a:rPr>
              <a:t>, and treat Admin as an operations role only.</a:t>
            </a:r>
          </a:p>
          <a:p>
            <a:pPr>
              <a:lnSpc>
                <a:spcPct val="150000"/>
              </a:lnSpc>
            </a:pPr>
            <a:r>
              <a:rPr lang="en-US" sz="2800" dirty="0">
                <a:latin typeface="Calibir"/>
              </a:rPr>
              <a:t>You’re on the right track — very good progress so far. Don’t worry about overcomplicating the design; clarity and alignment with requirements are what matter most.</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123974592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D415-992D-F119-0C8D-97AD25A0DC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A774F-6FDF-8062-02DC-D523CBADB787}"/>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A832D39A-DF64-65C8-75E0-D8F09ADF25D3}"/>
              </a:ext>
            </a:extLst>
          </p:cNvPr>
          <p:cNvSpPr txBox="1"/>
          <p:nvPr/>
        </p:nvSpPr>
        <p:spPr>
          <a:xfrm>
            <a:off x="0" y="980449"/>
            <a:ext cx="12002814" cy="5909310"/>
          </a:xfrm>
          <a:prstGeom prst="rect">
            <a:avLst/>
          </a:prstGeom>
          <a:noFill/>
        </p:spPr>
        <p:txBody>
          <a:bodyPr wrap="square">
            <a:spAutoFit/>
          </a:bodyPr>
          <a:lstStyle/>
          <a:p>
            <a:r>
              <a:rPr lang="en-US" b="0" i="0" dirty="0">
                <a:solidFill>
                  <a:srgbClr val="252B2B"/>
                </a:solidFill>
                <a:effectLst/>
                <a:latin typeface="Calibir"/>
              </a:rPr>
              <a:t>Hi Professor,</a:t>
            </a:r>
            <a:br>
              <a:rPr lang="en-US" dirty="0">
                <a:latin typeface="Calibir"/>
              </a:rPr>
            </a:br>
            <a:br>
              <a:rPr lang="en-US" dirty="0">
                <a:latin typeface="Calibir"/>
              </a:rPr>
            </a:br>
            <a:r>
              <a:rPr lang="en-US" b="0" i="0" dirty="0">
                <a:solidFill>
                  <a:srgbClr val="252B2B"/>
                </a:solidFill>
                <a:effectLst/>
                <a:latin typeface="Calibir"/>
              </a:rPr>
              <a:t>I hope you're well. Our group is currently working on Assessment 1 – Part 1, and we have a few questions regarding the </a:t>
            </a:r>
            <a:r>
              <a:rPr lang="en-US" b="0" i="0" dirty="0" err="1">
                <a:solidFill>
                  <a:srgbClr val="252B2B"/>
                </a:solidFill>
                <a:effectLst/>
                <a:latin typeface="Calibir"/>
              </a:rPr>
              <a:t>CLIUniApp</a:t>
            </a:r>
            <a:r>
              <a:rPr lang="en-US" b="0" i="0" dirty="0">
                <a:solidFill>
                  <a:srgbClr val="252B2B"/>
                </a:solidFill>
                <a:effectLst/>
                <a:latin typeface="Calibir"/>
              </a:rPr>
              <a:t> and how it should be represented in our requirement planning document:</a:t>
            </a:r>
            <a:br>
              <a:rPr lang="en-US" dirty="0">
                <a:latin typeface="Calibir"/>
              </a:rPr>
            </a:br>
            <a:br>
              <a:rPr lang="en-US" dirty="0">
                <a:latin typeface="Calibir"/>
              </a:rPr>
            </a:br>
            <a:r>
              <a:rPr lang="en-US" b="0" i="0" dirty="0">
                <a:solidFill>
                  <a:srgbClr val="252B2B"/>
                </a:solidFill>
                <a:effectLst/>
                <a:latin typeface="Calibir"/>
              </a:rPr>
              <a:t>How should we integrate the CLI into our requirement planning? Should we reflect CLI functionalities in the use case diagram and user story backlog only, or is there another diagram/table we should include?</a:t>
            </a:r>
            <a:br>
              <a:rPr lang="en-US" dirty="0">
                <a:latin typeface="Calibir"/>
              </a:rPr>
            </a:br>
            <a:br>
              <a:rPr lang="en-US" dirty="0">
                <a:latin typeface="Calibir"/>
              </a:rPr>
            </a:br>
            <a:r>
              <a:rPr lang="en-US" b="0" i="0" dirty="0">
                <a:solidFill>
                  <a:srgbClr val="252B2B"/>
                </a:solidFill>
                <a:effectLst/>
                <a:latin typeface="Calibir"/>
              </a:rPr>
              <a:t>For the class diagram, do we need to provide examples of actual data rows (e.g., in JSON format), or is it sufficient to just design the class structure and relationships?</a:t>
            </a:r>
            <a:br>
              <a:rPr lang="en-US" dirty="0">
                <a:latin typeface="Calibir"/>
              </a:rPr>
            </a:br>
            <a:br>
              <a:rPr lang="en-US" dirty="0">
                <a:latin typeface="Calibir"/>
              </a:rPr>
            </a:br>
            <a:r>
              <a:rPr lang="en-US" b="0" i="0" dirty="0">
                <a:solidFill>
                  <a:srgbClr val="252B2B"/>
                </a:solidFill>
                <a:effectLst/>
                <a:latin typeface="Calibir"/>
              </a:rPr>
              <a:t>Should linking fields such as </a:t>
            </a:r>
            <a:r>
              <a:rPr lang="en-US" b="0" i="0" dirty="0" err="1">
                <a:solidFill>
                  <a:srgbClr val="252B2B"/>
                </a:solidFill>
                <a:effectLst/>
                <a:latin typeface="Calibir"/>
              </a:rPr>
              <a:t>student_id</a:t>
            </a:r>
            <a:r>
              <a:rPr lang="en-US" b="0" i="0" dirty="0">
                <a:solidFill>
                  <a:srgbClr val="252B2B"/>
                </a:solidFill>
                <a:effectLst/>
                <a:latin typeface="Calibir"/>
              </a:rPr>
              <a:t> in the enrolment table be explicitly included in the class diagram to show relationships between classes?</a:t>
            </a:r>
            <a:br>
              <a:rPr lang="en-US" dirty="0">
                <a:latin typeface="Calibir"/>
              </a:rPr>
            </a:br>
            <a:br>
              <a:rPr lang="en-US" dirty="0">
                <a:latin typeface="Calibir"/>
              </a:rPr>
            </a:br>
            <a:r>
              <a:rPr lang="en-US" b="0" i="0" dirty="0">
                <a:solidFill>
                  <a:srgbClr val="252B2B"/>
                </a:solidFill>
                <a:effectLst/>
                <a:latin typeface="Calibir"/>
              </a:rPr>
              <a:t>Also, may we ask which slide(s) in the lecture materials would be most helpful for us to refer to when designing our diagrams and fulfilling the assignment requirements?</a:t>
            </a:r>
            <a:br>
              <a:rPr lang="en-US" dirty="0">
                <a:latin typeface="Calibir"/>
              </a:rPr>
            </a:br>
            <a:br>
              <a:rPr lang="en-US" dirty="0">
                <a:latin typeface="Calibir"/>
              </a:rPr>
            </a:br>
            <a:r>
              <a:rPr lang="en-US" b="0" i="0" dirty="0">
                <a:solidFill>
                  <a:srgbClr val="252B2B"/>
                </a:solidFill>
                <a:effectLst/>
                <a:latin typeface="Calibir"/>
              </a:rPr>
              <a:t>Would providing the use case diagram and class diagram be sufficient for you to clarify these questions?</a:t>
            </a:r>
            <a:br>
              <a:rPr lang="en-US" dirty="0">
                <a:latin typeface="Calibir"/>
              </a:rPr>
            </a:br>
            <a:br>
              <a:rPr lang="en-US" dirty="0">
                <a:latin typeface="Calibir"/>
              </a:rPr>
            </a:br>
            <a:r>
              <a:rPr lang="en-US" b="0" i="0" dirty="0">
                <a:solidFill>
                  <a:srgbClr val="252B2B"/>
                </a:solidFill>
                <a:effectLst/>
                <a:latin typeface="Calibir"/>
              </a:rPr>
              <a:t>Thank you very much for your guidance!</a:t>
            </a:r>
            <a:br>
              <a:rPr lang="en-US" dirty="0">
                <a:latin typeface="Calibir"/>
              </a:rPr>
            </a:br>
            <a:r>
              <a:rPr lang="en-US" b="0" i="0" dirty="0">
                <a:solidFill>
                  <a:srgbClr val="252B2B"/>
                </a:solidFill>
                <a:effectLst/>
                <a:latin typeface="Calibir"/>
              </a:rPr>
              <a:t>Best regards,</a:t>
            </a:r>
            <a:endParaRPr lang="en-US" dirty="0">
              <a:latin typeface="Calibir"/>
            </a:endParaRPr>
          </a:p>
        </p:txBody>
      </p:sp>
    </p:spTree>
    <p:extLst>
      <p:ext uri="{BB962C8B-B14F-4D97-AF65-F5344CB8AC3E}">
        <p14:creationId xmlns:p14="http://schemas.microsoft.com/office/powerpoint/2010/main" val="11655601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BA94D-D028-BB00-B8EF-0B1081F499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C703EA-7A07-C67F-1CF3-F08E21E9F412}"/>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CF8621FC-05FB-A403-0219-0F6117179F8C}"/>
              </a:ext>
            </a:extLst>
          </p:cNvPr>
          <p:cNvSpPr txBox="1"/>
          <p:nvPr/>
        </p:nvSpPr>
        <p:spPr>
          <a:xfrm>
            <a:off x="0" y="790878"/>
            <a:ext cx="12002814" cy="6146170"/>
          </a:xfrm>
          <a:prstGeom prst="rect">
            <a:avLst/>
          </a:prstGeom>
          <a:noFill/>
        </p:spPr>
        <p:txBody>
          <a:bodyPr wrap="square">
            <a:spAutoFit/>
          </a:bodyPr>
          <a:lstStyle/>
          <a:p>
            <a:pPr>
              <a:lnSpc>
                <a:spcPct val="150000"/>
              </a:lnSpc>
            </a:pPr>
            <a:r>
              <a:rPr lang="en-US" sz="2650" dirty="0">
                <a:latin typeface="Calibir"/>
              </a:rPr>
              <a:t>Dear Student,</a:t>
            </a:r>
          </a:p>
          <a:p>
            <a:pPr>
              <a:lnSpc>
                <a:spcPct val="150000"/>
              </a:lnSpc>
            </a:pPr>
            <a:r>
              <a:rPr lang="en-US" sz="2650" dirty="0">
                <a:latin typeface="Calibir"/>
              </a:rPr>
              <a:t>Thank you for sharing your diagrams and questions — you are on the right track. Let me clarify each point for Assignment 1 – Part 1:</a:t>
            </a:r>
          </a:p>
          <a:p>
            <a:pPr>
              <a:lnSpc>
                <a:spcPct val="150000"/>
              </a:lnSpc>
            </a:pPr>
            <a:r>
              <a:rPr lang="en-US" sz="2650" dirty="0">
                <a:latin typeface="Calibir"/>
              </a:rPr>
              <a:t>1) Representing the CLI</a:t>
            </a:r>
            <a:br>
              <a:rPr lang="en-US" sz="2650" dirty="0">
                <a:latin typeface="Calibir"/>
              </a:rPr>
            </a:br>
            <a:r>
              <a:rPr lang="en-US" sz="2650" dirty="0">
                <a:latin typeface="Calibir"/>
              </a:rPr>
              <a:t>The CLI (</a:t>
            </a:r>
            <a:r>
              <a:rPr lang="en-US" sz="2650" dirty="0" err="1">
                <a:latin typeface="Calibir"/>
              </a:rPr>
              <a:t>CLIUniApp</a:t>
            </a:r>
            <a:r>
              <a:rPr lang="en-US" sz="2650" dirty="0">
                <a:latin typeface="Calibir"/>
              </a:rPr>
              <a:t>) is just the </a:t>
            </a:r>
            <a:r>
              <a:rPr lang="en-US" sz="2650" i="1" dirty="0">
                <a:latin typeface="Calibir"/>
              </a:rPr>
              <a:t>interface</a:t>
            </a:r>
            <a:r>
              <a:rPr lang="en-US" sz="2650" dirty="0">
                <a:latin typeface="Calibir"/>
              </a:rPr>
              <a:t> to the system, not an actor. You don’t need to model CLI itself in the class diagram. Instead:</a:t>
            </a:r>
          </a:p>
          <a:p>
            <a:pPr marL="457200" indent="-457200">
              <a:lnSpc>
                <a:spcPct val="150000"/>
              </a:lnSpc>
              <a:buFont typeface="Arial" panose="020B0604020202020204" pitchFamily="34" charset="0"/>
              <a:buChar char="•"/>
            </a:pPr>
            <a:r>
              <a:rPr lang="en-US" sz="2650" dirty="0">
                <a:latin typeface="Calibir"/>
              </a:rPr>
              <a:t>In the Use Case Diagram, just focus on </a:t>
            </a:r>
            <a:r>
              <a:rPr lang="en-US" sz="2650" i="1" dirty="0">
                <a:latin typeface="Calibir"/>
              </a:rPr>
              <a:t>Student</a:t>
            </a:r>
            <a:r>
              <a:rPr lang="en-US" sz="2650" dirty="0">
                <a:latin typeface="Calibir"/>
              </a:rPr>
              <a:t> and </a:t>
            </a:r>
            <a:r>
              <a:rPr lang="en-US" sz="2650" i="1" dirty="0">
                <a:latin typeface="Calibir"/>
              </a:rPr>
              <a:t>Admin</a:t>
            </a:r>
            <a:r>
              <a:rPr lang="en-US" sz="2650" dirty="0">
                <a:latin typeface="Calibir"/>
              </a:rPr>
              <a:t> as the actors.</a:t>
            </a:r>
          </a:p>
          <a:p>
            <a:pPr marL="457200" indent="-457200">
              <a:lnSpc>
                <a:spcPct val="150000"/>
              </a:lnSpc>
              <a:buFont typeface="Arial" panose="020B0604020202020204" pitchFamily="34" charset="0"/>
              <a:buChar char="•"/>
            </a:pPr>
            <a:r>
              <a:rPr lang="en-US" sz="2650" dirty="0">
                <a:latin typeface="Calibir"/>
              </a:rPr>
              <a:t>In the User Story Backlog, describe actions they perform through the CLI (e.g., “Student </a:t>
            </a:r>
            <a:r>
              <a:rPr lang="en-US" sz="2650" dirty="0" err="1">
                <a:latin typeface="Calibir"/>
              </a:rPr>
              <a:t>enrols</a:t>
            </a:r>
            <a:r>
              <a:rPr lang="en-US" sz="2650" dirty="0">
                <a:latin typeface="Calibir"/>
              </a:rPr>
              <a:t> in subject”).</a:t>
            </a:r>
            <a:br>
              <a:rPr lang="en-US" sz="2650" dirty="0">
                <a:latin typeface="Calibir"/>
              </a:rPr>
            </a:br>
            <a:r>
              <a:rPr lang="en-US" sz="2650" dirty="0">
                <a:latin typeface="Calibir"/>
              </a:rPr>
              <a:t>No extra diagram/table is required beyond backlog + diagrams already listed.</a:t>
            </a:r>
          </a:p>
        </p:txBody>
      </p:sp>
    </p:spTree>
    <p:extLst>
      <p:ext uri="{BB962C8B-B14F-4D97-AF65-F5344CB8AC3E}">
        <p14:creationId xmlns:p14="http://schemas.microsoft.com/office/powerpoint/2010/main" val="288518715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CE873-B41B-4900-7E83-3D63C9B17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B996C-B5D1-7874-51DB-DE796524D44D}"/>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F9E97F2A-7C59-C509-5725-A4B5CD669A20}"/>
              </a:ext>
            </a:extLst>
          </p:cNvPr>
          <p:cNvSpPr txBox="1"/>
          <p:nvPr/>
        </p:nvSpPr>
        <p:spPr>
          <a:xfrm>
            <a:off x="0" y="1061544"/>
            <a:ext cx="12002814" cy="5637121"/>
          </a:xfrm>
          <a:prstGeom prst="rect">
            <a:avLst/>
          </a:prstGeom>
          <a:noFill/>
        </p:spPr>
        <p:txBody>
          <a:bodyPr wrap="square">
            <a:spAutoFit/>
          </a:bodyPr>
          <a:lstStyle/>
          <a:p>
            <a:pPr>
              <a:lnSpc>
                <a:spcPct val="150000"/>
              </a:lnSpc>
            </a:pPr>
            <a:r>
              <a:rPr lang="en-US" sz="2700" dirty="0">
                <a:latin typeface="Calibir"/>
              </a:rPr>
              <a:t>2) Class Diagram vs Data Examples</a:t>
            </a:r>
            <a:br>
              <a:rPr lang="en-US" sz="2700" dirty="0">
                <a:latin typeface="Calibir"/>
              </a:rPr>
            </a:br>
            <a:r>
              <a:rPr lang="en-US" sz="2700" dirty="0">
                <a:latin typeface="Calibir"/>
              </a:rPr>
              <a:t>For Part 1, you only need to design class structure and relationships (attributes, methods, multiplicities). You do not need to provide actual data rows (e.g., JSON/CSV) in the class diagram. Data format design is optional and only for illustration.</a:t>
            </a:r>
          </a:p>
          <a:p>
            <a:pPr>
              <a:lnSpc>
                <a:spcPct val="150000"/>
              </a:lnSpc>
            </a:pPr>
            <a:r>
              <a:rPr lang="en-US" sz="2700" dirty="0">
                <a:latin typeface="Calibir"/>
              </a:rPr>
              <a:t>3) Linking Fields (IDs in Enrolment)</a:t>
            </a:r>
            <a:br>
              <a:rPr lang="en-US" sz="2700" dirty="0">
                <a:latin typeface="Calibir"/>
              </a:rPr>
            </a:br>
            <a:r>
              <a:rPr lang="en-US" sz="2700" dirty="0">
                <a:latin typeface="Calibir"/>
              </a:rPr>
              <a:t>Yes — linking fields like </a:t>
            </a:r>
            <a:r>
              <a:rPr lang="en-US" sz="2700" dirty="0" err="1">
                <a:latin typeface="Calibir"/>
              </a:rPr>
              <a:t>student_id</a:t>
            </a:r>
            <a:r>
              <a:rPr lang="en-US" sz="2700" dirty="0">
                <a:latin typeface="Calibir"/>
              </a:rPr>
              <a:t> and </a:t>
            </a:r>
            <a:r>
              <a:rPr lang="en-US" sz="2700" dirty="0" err="1">
                <a:latin typeface="Calibir"/>
              </a:rPr>
              <a:t>subject_id</a:t>
            </a:r>
            <a:r>
              <a:rPr lang="en-US" sz="2700" dirty="0">
                <a:latin typeface="Calibir"/>
              </a:rPr>
              <a:t> in your Enrolment class are correct and a good way to explicitly model the relationships. This matches the requirement that each Student can </a:t>
            </a:r>
            <a:r>
              <a:rPr lang="en-US" sz="2700" dirty="0" err="1">
                <a:latin typeface="Calibir"/>
              </a:rPr>
              <a:t>enrol</a:t>
            </a:r>
            <a:r>
              <a:rPr lang="en-US" sz="2700" dirty="0">
                <a:latin typeface="Calibir"/>
              </a:rPr>
              <a:t> in up to 4 Subjects.</a:t>
            </a:r>
          </a:p>
        </p:txBody>
      </p:sp>
    </p:spTree>
    <p:extLst>
      <p:ext uri="{BB962C8B-B14F-4D97-AF65-F5344CB8AC3E}">
        <p14:creationId xmlns:p14="http://schemas.microsoft.com/office/powerpoint/2010/main" val="28173778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D9D8-1C28-9291-B489-192EA7FC1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C0A7-C3A1-FAC2-A9BC-45B5151B6366}"/>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31EEE515-8EC5-6115-9C33-216034185A66}"/>
              </a:ext>
            </a:extLst>
          </p:cNvPr>
          <p:cNvSpPr txBox="1"/>
          <p:nvPr/>
        </p:nvSpPr>
        <p:spPr>
          <a:xfrm>
            <a:off x="0" y="1061544"/>
            <a:ext cx="12002814" cy="3903504"/>
          </a:xfrm>
          <a:prstGeom prst="rect">
            <a:avLst/>
          </a:prstGeom>
          <a:noFill/>
        </p:spPr>
        <p:txBody>
          <a:bodyPr wrap="square">
            <a:spAutoFit/>
          </a:bodyPr>
          <a:lstStyle/>
          <a:p>
            <a:pPr>
              <a:lnSpc>
                <a:spcPct val="150000"/>
              </a:lnSpc>
            </a:pPr>
            <a:r>
              <a:rPr lang="en-US" sz="2800" dirty="0">
                <a:latin typeface="Calibir"/>
              </a:rPr>
              <a:t>4) Reference Slides</a:t>
            </a:r>
            <a:br>
              <a:rPr lang="en-US" sz="2800" dirty="0">
                <a:latin typeface="Calibir"/>
              </a:rPr>
            </a:br>
            <a:r>
              <a:rPr lang="en-US" sz="2800" dirty="0">
                <a:latin typeface="Calibir"/>
              </a:rPr>
              <a:t>The most relevant are:</a:t>
            </a:r>
          </a:p>
          <a:p>
            <a:pPr marL="457200" indent="-457200">
              <a:lnSpc>
                <a:spcPct val="150000"/>
              </a:lnSpc>
              <a:buFont typeface="Arial" panose="020B0604020202020204" pitchFamily="34" charset="0"/>
              <a:buChar char="•"/>
            </a:pPr>
            <a:r>
              <a:rPr lang="en-US" sz="2800" dirty="0">
                <a:latin typeface="Calibir"/>
              </a:rPr>
              <a:t>Week 5: </a:t>
            </a:r>
            <a:r>
              <a:rPr lang="en-US" sz="2800" i="1" dirty="0">
                <a:latin typeface="Calibir"/>
              </a:rPr>
              <a:t>Step-by-Step Tasks</a:t>
            </a:r>
            <a:r>
              <a:rPr lang="en-US" sz="2800" dirty="0">
                <a:latin typeface="Calibir"/>
              </a:rPr>
              <a:t> and </a:t>
            </a:r>
            <a:r>
              <a:rPr lang="en-US" sz="2800" i="1" dirty="0">
                <a:latin typeface="Calibir"/>
              </a:rPr>
              <a:t>System Rules</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Week 6/7: </a:t>
            </a:r>
            <a:r>
              <a:rPr lang="en-US" sz="2800" i="1" dirty="0">
                <a:latin typeface="Calibir"/>
              </a:rPr>
              <a:t>Use Case &amp; Class Diagram Clarifications</a:t>
            </a:r>
            <a:br>
              <a:rPr lang="en-US" sz="2800" dirty="0">
                <a:latin typeface="Calibir"/>
              </a:rPr>
            </a:br>
            <a:r>
              <a:rPr lang="en-US" sz="2800" dirty="0">
                <a:latin typeface="Calibir"/>
              </a:rPr>
              <a:t>These cover scope, user story backlog, and how to align UC and Class diagrams with the brief.</a:t>
            </a:r>
          </a:p>
        </p:txBody>
      </p:sp>
    </p:spTree>
    <p:extLst>
      <p:ext uri="{BB962C8B-B14F-4D97-AF65-F5344CB8AC3E}">
        <p14:creationId xmlns:p14="http://schemas.microsoft.com/office/powerpoint/2010/main" val="5042494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5AF9A-873C-4D9E-105B-CA5E17368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CA56C-69A6-D4A4-1D60-0EF845499439}"/>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9F4B52B1-0659-D19E-C1AD-E019945DA938}"/>
              </a:ext>
            </a:extLst>
          </p:cNvPr>
          <p:cNvSpPr txBox="1"/>
          <p:nvPr/>
        </p:nvSpPr>
        <p:spPr>
          <a:xfrm>
            <a:off x="0" y="1061544"/>
            <a:ext cx="12002814" cy="2610843"/>
          </a:xfrm>
          <a:prstGeom prst="rect">
            <a:avLst/>
          </a:prstGeom>
          <a:noFill/>
        </p:spPr>
        <p:txBody>
          <a:bodyPr wrap="square">
            <a:spAutoFit/>
          </a:bodyPr>
          <a:lstStyle/>
          <a:p>
            <a:pPr>
              <a:lnSpc>
                <a:spcPct val="150000"/>
              </a:lnSpc>
            </a:pPr>
            <a:r>
              <a:rPr lang="en-US" sz="2800" dirty="0">
                <a:latin typeface="Calibir"/>
              </a:rPr>
              <a:t>5) Submission Expectation</a:t>
            </a:r>
            <a:br>
              <a:rPr lang="en-US" sz="2800" dirty="0">
                <a:latin typeface="Calibir"/>
              </a:rPr>
            </a:br>
            <a:r>
              <a:rPr lang="en-US" sz="2800" dirty="0">
                <a:latin typeface="Calibir"/>
              </a:rPr>
              <a:t>Yes — providing the Use Case Diagram and Class Diagram, alongside your backlog table, is sufficient to meet Part 1 deliverables. You don’t need to add extra diagrams for CLI or data tables.</a:t>
            </a:r>
          </a:p>
        </p:txBody>
      </p:sp>
    </p:spTree>
    <p:extLst>
      <p:ext uri="{BB962C8B-B14F-4D97-AF65-F5344CB8AC3E}">
        <p14:creationId xmlns:p14="http://schemas.microsoft.com/office/powerpoint/2010/main" val="34094761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DDF93-7580-9FA9-FDD0-38C6E48DC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3AEA6-F2B2-4BFD-F5CC-A850B40E19FF}"/>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1DF6B81D-7529-96A0-75F8-A0A807068EBA}"/>
              </a:ext>
            </a:extLst>
          </p:cNvPr>
          <p:cNvSpPr txBox="1"/>
          <p:nvPr/>
        </p:nvSpPr>
        <p:spPr>
          <a:xfrm>
            <a:off x="0" y="1061544"/>
            <a:ext cx="12002814" cy="5842497"/>
          </a:xfrm>
          <a:prstGeom prst="rect">
            <a:avLst/>
          </a:prstGeom>
          <a:noFill/>
        </p:spPr>
        <p:txBody>
          <a:bodyPr wrap="square">
            <a:spAutoFit/>
          </a:bodyPr>
          <a:lstStyle/>
          <a:p>
            <a:pPr>
              <a:lnSpc>
                <a:spcPct val="150000"/>
              </a:lnSpc>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CLI is not an actor — model Student/Admin actions only.</a:t>
            </a:r>
          </a:p>
          <a:p>
            <a:pPr marL="914400" lvl="1" indent="-457200">
              <a:lnSpc>
                <a:spcPct val="150000"/>
              </a:lnSpc>
              <a:buFont typeface="Arial" panose="020B0604020202020204" pitchFamily="34" charset="0"/>
              <a:buChar char="•"/>
            </a:pPr>
            <a:r>
              <a:rPr lang="en-US" sz="2800" dirty="0">
                <a:latin typeface="Calibir"/>
              </a:rPr>
              <a:t>Class diagram = structure, not sample data.</a:t>
            </a:r>
          </a:p>
          <a:p>
            <a:pPr marL="914400" lvl="1" indent="-457200">
              <a:lnSpc>
                <a:spcPct val="150000"/>
              </a:lnSpc>
              <a:buFont typeface="Arial" panose="020B0604020202020204" pitchFamily="34" charset="0"/>
              <a:buChar char="•"/>
            </a:pPr>
            <a:r>
              <a:rPr lang="en-US" sz="2800" dirty="0">
                <a:latin typeface="Calibir"/>
              </a:rPr>
              <a:t>Linking IDs in Enrolment is correct.</a:t>
            </a:r>
          </a:p>
          <a:p>
            <a:pPr marL="914400" lvl="1" indent="-457200">
              <a:lnSpc>
                <a:spcPct val="150000"/>
              </a:lnSpc>
              <a:buFont typeface="Arial" panose="020B0604020202020204" pitchFamily="34" charset="0"/>
              <a:buChar char="•"/>
            </a:pPr>
            <a:r>
              <a:rPr lang="en-US" sz="2800" dirty="0">
                <a:latin typeface="Calibir"/>
              </a:rPr>
              <a:t>Use backlog + UC + Class diagrams as your core deliverables.</a:t>
            </a:r>
          </a:p>
          <a:p>
            <a:pPr>
              <a:lnSpc>
                <a:spcPct val="150000"/>
              </a:lnSpc>
            </a:pPr>
            <a:r>
              <a:rPr lang="en-US" sz="2800" dirty="0">
                <a:latin typeface="Calibir"/>
              </a:rPr>
              <a:t>You are on the right track — keep refining clarity and consistency, and you’ll align perfectly with Part 1 requirements.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208719989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60EF0-D4C5-AAFB-BFBB-3C8BB7925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3C124-AF08-9A8F-6C0E-927435691A0A}"/>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DAC4DA50-5953-375D-F028-6C697B5C4922}"/>
              </a:ext>
            </a:extLst>
          </p:cNvPr>
          <p:cNvSpPr txBox="1"/>
          <p:nvPr/>
        </p:nvSpPr>
        <p:spPr>
          <a:xfrm>
            <a:off x="0" y="1282648"/>
            <a:ext cx="11965258" cy="5355312"/>
          </a:xfrm>
          <a:prstGeom prst="rect">
            <a:avLst/>
          </a:prstGeom>
          <a:noFill/>
        </p:spPr>
        <p:txBody>
          <a:bodyPr wrap="square">
            <a:spAutoFit/>
          </a:bodyPr>
          <a:lstStyle/>
          <a:p>
            <a:pPr fontAlgn="base"/>
            <a:r>
              <a:rPr lang="en-US" dirty="0">
                <a:latin typeface="Calibir"/>
              </a:rPr>
              <a:t>Dear Dr. Farshid Keivanian,</a:t>
            </a:r>
          </a:p>
          <a:p>
            <a:pPr fontAlgn="base"/>
            <a:endParaRPr lang="en-US" dirty="0">
              <a:latin typeface="Calibir"/>
            </a:endParaRPr>
          </a:p>
          <a:p>
            <a:pPr fontAlgn="base"/>
            <a:r>
              <a:rPr lang="en-US" dirty="0">
                <a:latin typeface="Calibir"/>
              </a:rPr>
              <a:t>I hope this message finds you well.</a:t>
            </a:r>
          </a:p>
          <a:p>
            <a:pPr fontAlgn="base"/>
            <a:endParaRPr lang="en-US" dirty="0">
              <a:latin typeface="Calibir"/>
            </a:endParaRPr>
          </a:p>
          <a:p>
            <a:pPr fontAlgn="base"/>
            <a:r>
              <a:rPr lang="en-US" dirty="0">
                <a:latin typeface="Calibir"/>
              </a:rPr>
              <a:t>I am a student from 32555-Fundamental of Software Development cmp-08, and I have some questions regarding Assignment 1 part 1:</a:t>
            </a:r>
          </a:p>
          <a:p>
            <a:pPr marL="342900" indent="-342900" fontAlgn="base">
              <a:buFont typeface="+mj-lt"/>
              <a:buAutoNum type="arabicPeriod"/>
            </a:pPr>
            <a:r>
              <a:rPr lang="en-US" dirty="0">
                <a:latin typeface="Calibir"/>
              </a:rPr>
              <a:t>With user stories backlogs, do we also need include the user stories, or is the requirements table itself fine.</a:t>
            </a:r>
          </a:p>
          <a:p>
            <a:pPr marL="342900" indent="-342900" fontAlgn="base">
              <a:buFont typeface="+mj-lt"/>
              <a:buAutoNum type="arabicPeriod"/>
            </a:pPr>
            <a:r>
              <a:rPr lang="en-US" dirty="0">
                <a:latin typeface="Calibir"/>
              </a:rPr>
              <a:t>Do we need to worry about duplicate results for students who are enrolled in more than 1 subject when the admin views grade/category.</a:t>
            </a:r>
          </a:p>
          <a:p>
            <a:pPr marL="342900" indent="-342900" fontAlgn="base">
              <a:buFont typeface="+mj-lt"/>
              <a:buAutoNum type="arabicPeriod"/>
            </a:pPr>
            <a:r>
              <a:rPr lang="en-US" dirty="0">
                <a:latin typeface="Calibir"/>
              </a:rPr>
              <a:t>Questions about Scope Summary and tiny </a:t>
            </a:r>
            <a:r>
              <a:rPr lang="en-US" dirty="0" err="1">
                <a:latin typeface="Calibir"/>
              </a:rPr>
              <a:t>traceabiliy</a:t>
            </a:r>
            <a:r>
              <a:rPr lang="en-US" dirty="0">
                <a:latin typeface="Calibir"/>
              </a:rPr>
              <a:t> table and Contribution:</a:t>
            </a:r>
          </a:p>
          <a:p>
            <a:pPr marL="742950" lvl="1" indent="-285750" fontAlgn="base">
              <a:buFont typeface="Arial" panose="020B0604020202020204" pitchFamily="34" charset="0"/>
              <a:buChar char="•"/>
            </a:pPr>
            <a:r>
              <a:rPr lang="en-US" dirty="0">
                <a:latin typeface="Calibir"/>
              </a:rPr>
              <a:t>What exactly should be included in the Scope Summary and Tiny Traceability Table?</a:t>
            </a:r>
          </a:p>
          <a:p>
            <a:pPr marL="742950" lvl="1" indent="-285750" fontAlgn="base">
              <a:buFont typeface="Arial" panose="020B0604020202020204" pitchFamily="34" charset="0"/>
              <a:buChar char="•"/>
            </a:pPr>
            <a:r>
              <a:rPr lang="en-US" dirty="0">
                <a:latin typeface="Calibir"/>
              </a:rPr>
              <a:t>According to Assignment Task 1 on Canva, the main marks are allocated to the User Story, Use Case Diagram and Class Diagram. Are there any mark allocated to the Scope, Data File Design and Tiny Traceability Table?</a:t>
            </a:r>
          </a:p>
          <a:p>
            <a:pPr marL="742950" lvl="1" indent="-285750" fontAlgn="base">
              <a:buFont typeface="Arial" panose="020B0604020202020204" pitchFamily="34" charset="0"/>
              <a:buChar char="•"/>
            </a:pPr>
            <a:r>
              <a:rPr lang="en-US" dirty="0">
                <a:latin typeface="Calibir"/>
              </a:rPr>
              <a:t>Regarding to the Contribution section: if a teammate did not contribute to the main marked </a:t>
            </a:r>
            <a:r>
              <a:rPr lang="en-US" dirty="0" err="1">
                <a:latin typeface="Calibir"/>
              </a:rPr>
              <a:t>conponents</a:t>
            </a:r>
            <a:r>
              <a:rPr lang="en-US" dirty="0">
                <a:latin typeface="Calibir"/>
              </a:rPr>
              <a:t>(e.g. Use Case Diagram),but contributed to Data File Design or Tiny Traceability Table, how should we reflect his/her contribution?</a:t>
            </a:r>
          </a:p>
          <a:p>
            <a:pPr marL="742950" lvl="1" indent="-285750" fontAlgn="base">
              <a:buFont typeface="Arial" panose="020B0604020202020204" pitchFamily="34" charset="0"/>
              <a:buChar char="•"/>
            </a:pPr>
            <a:r>
              <a:rPr lang="en-US" dirty="0">
                <a:latin typeface="Calibir"/>
              </a:rPr>
              <a:t>Should we express contribution as a percentage, or is it acceptable to simply describe who worked on which parts and who assisted with what?</a:t>
            </a:r>
          </a:p>
          <a:p>
            <a:pPr fontAlgn="base"/>
            <a:r>
              <a:rPr lang="en-US" dirty="0">
                <a:latin typeface="Calibir"/>
              </a:rPr>
              <a:t>Thank you very much for your time and guidance.</a:t>
            </a:r>
          </a:p>
          <a:p>
            <a:pPr fontAlgn="base"/>
            <a:r>
              <a:rPr lang="en-US" dirty="0">
                <a:latin typeface="Calibir"/>
              </a:rPr>
              <a:t>Kind regards,</a:t>
            </a:r>
          </a:p>
        </p:txBody>
      </p:sp>
    </p:spTree>
    <p:extLst>
      <p:ext uri="{BB962C8B-B14F-4D97-AF65-F5344CB8AC3E}">
        <p14:creationId xmlns:p14="http://schemas.microsoft.com/office/powerpoint/2010/main" val="133189936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DA15F-88F4-1439-9AAE-1F62596872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A00F1-FFB1-5F43-6C22-DE848679CA3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B0F1934F-A665-8859-B9D2-1A43504778E3}"/>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These are very relevant, and I’ll include them in the shared clarification slides so the whole class benefits. Below is a concise response for you now:</a:t>
            </a:r>
          </a:p>
          <a:p>
            <a:pPr>
              <a:lnSpc>
                <a:spcPct val="150000"/>
              </a:lnSpc>
            </a:pPr>
            <a:r>
              <a:rPr lang="en-US" sz="2800" b="1" dirty="0">
                <a:latin typeface="Calibir"/>
              </a:rPr>
              <a:t>1. User Story Backlog</a:t>
            </a:r>
            <a:br>
              <a:rPr lang="en-US" sz="2800" dirty="0">
                <a:latin typeface="Calibir"/>
              </a:rPr>
            </a:br>
            <a:r>
              <a:rPr lang="en-US" sz="2800" dirty="0">
                <a:latin typeface="Calibir"/>
              </a:rPr>
              <a:t>Yes, you must include the </a:t>
            </a:r>
            <a:r>
              <a:rPr lang="en-US" sz="2800" i="1" dirty="0">
                <a:latin typeface="Calibir"/>
              </a:rPr>
              <a:t>user stories</a:t>
            </a:r>
            <a:r>
              <a:rPr lang="en-US" sz="2800" dirty="0">
                <a:latin typeface="Calibir"/>
              </a:rPr>
              <a:t> in a requirements table (the backlog). The table itself is the required format — just ensure each row corresponds to a clear user story with ID, User, Action, Result, and Function.</a:t>
            </a:r>
          </a:p>
        </p:txBody>
      </p:sp>
    </p:spTree>
    <p:extLst>
      <p:ext uri="{BB962C8B-B14F-4D97-AF65-F5344CB8AC3E}">
        <p14:creationId xmlns:p14="http://schemas.microsoft.com/office/powerpoint/2010/main" val="192360105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54CF6-DB21-E57F-0118-7560DFDBD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2169A-0397-DD0E-6C1C-4481E429D6F5}"/>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5DBE44-1FE1-2147-EF13-7574689A23E1}"/>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2. Duplicate Results for Admin Views</a:t>
            </a:r>
            <a:br>
              <a:rPr lang="en-US" sz="2800" dirty="0">
                <a:latin typeface="Calibir"/>
              </a:rPr>
            </a:br>
            <a:r>
              <a:rPr lang="en-US" sz="2800" dirty="0">
                <a:latin typeface="Calibir"/>
              </a:rPr>
              <a:t>You do not need to handle duplicate results in Part 1. The focus is on </a:t>
            </a:r>
            <a:r>
              <a:rPr lang="en-US" sz="2800" i="1" dirty="0">
                <a:latin typeface="Calibir"/>
              </a:rPr>
              <a:t>design and requirements analysis</a:t>
            </a:r>
            <a:r>
              <a:rPr lang="en-US" sz="2800" dirty="0">
                <a:latin typeface="Calibir"/>
              </a:rPr>
              <a:t>, not implementation detail. Simply showing that an admin can view and group students by grade or PASS/FAIL is enough.</a:t>
            </a:r>
          </a:p>
          <a:p>
            <a:pPr>
              <a:lnSpc>
                <a:spcPct val="150000"/>
              </a:lnSpc>
            </a:pPr>
            <a:r>
              <a:rPr lang="en-US" sz="2800" b="1" dirty="0">
                <a:latin typeface="Calibir"/>
              </a:rPr>
              <a:t>3. Scope Summary &amp; Tiny Traceability Table</a:t>
            </a:r>
            <a:endParaRPr lang="en-US" sz="2800" dirty="0">
              <a:latin typeface="Calibir"/>
            </a:endParaRPr>
          </a:p>
          <a:p>
            <a:pPr marL="457200" indent="-457200">
              <a:lnSpc>
                <a:spcPct val="150000"/>
              </a:lnSpc>
              <a:buFont typeface="Arial" panose="020B0604020202020204" pitchFamily="34" charset="0"/>
              <a:buChar char="•"/>
            </a:pPr>
            <a:r>
              <a:rPr lang="en-US" sz="2800" i="1" dirty="0">
                <a:latin typeface="Calibir"/>
              </a:rPr>
              <a:t>Scope Summary</a:t>
            </a:r>
            <a:r>
              <a:rPr lang="en-US" sz="2800" dirty="0">
                <a:latin typeface="Calibir"/>
              </a:rPr>
              <a:t>: A short section listing what is in scope (Student and Admin operations, system rules) and what is out of scope (GUI, multi-semester enrolments).</a:t>
            </a:r>
          </a:p>
        </p:txBody>
      </p:sp>
    </p:spTree>
    <p:extLst>
      <p:ext uri="{BB962C8B-B14F-4D97-AF65-F5344CB8AC3E}">
        <p14:creationId xmlns:p14="http://schemas.microsoft.com/office/powerpoint/2010/main" val="2801756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8730-11AB-18E6-929E-740931A417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F6BD-A1E4-C62E-C306-F3EB35B7551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928EA6-1624-E74A-CA74-A7F3D606A820}"/>
              </a:ext>
            </a:extLst>
          </p:cNvPr>
          <p:cNvSpPr txBox="1"/>
          <p:nvPr/>
        </p:nvSpPr>
        <p:spPr>
          <a:xfrm>
            <a:off x="0" y="1103972"/>
            <a:ext cx="1196525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i="1" dirty="0">
                <a:latin typeface="Calibir"/>
              </a:rPr>
              <a:t>Tiny Traceability Table</a:t>
            </a:r>
            <a:r>
              <a:rPr lang="en-US" sz="2800" dirty="0">
                <a:latin typeface="Calibir"/>
              </a:rPr>
              <a:t>: A brief table that links requirements → user stories → use cases → class diagram. It doesn’t need to be long; the goal is to show consistency.</a:t>
            </a:r>
          </a:p>
          <a:p>
            <a:pPr>
              <a:lnSpc>
                <a:spcPct val="150000"/>
              </a:lnSpc>
            </a:pPr>
            <a:r>
              <a:rPr lang="en-US" sz="2800" b="1" dirty="0">
                <a:latin typeface="Calibir"/>
              </a:rPr>
              <a:t>4. Marks for Scope, Data File Design, Traceability</a:t>
            </a:r>
            <a:br>
              <a:rPr lang="en-US" sz="2800" dirty="0">
                <a:latin typeface="Calibir"/>
              </a:rPr>
            </a:br>
            <a:r>
              <a:rPr lang="en-US" sz="2800" dirty="0">
                <a:latin typeface="Calibir"/>
              </a:rPr>
              <a:t>The marking rubric (on Canvas) awards marks mainly for User Story Backlog, Use Case Diagram, and Class Diagram. Scope, data file design, and traceability are </a:t>
            </a:r>
            <a:r>
              <a:rPr lang="en-US" sz="2800" i="1" dirty="0">
                <a:latin typeface="Calibir"/>
              </a:rPr>
              <a:t>supporting sections</a:t>
            </a:r>
            <a:r>
              <a:rPr lang="en-US" sz="2800" dirty="0">
                <a:latin typeface="Calibir"/>
              </a:rPr>
              <a:t>. They don’t have separate marks, but they help demonstrate completeness, consistency, and professionalism, which supports your grade.</a:t>
            </a:r>
          </a:p>
        </p:txBody>
      </p:sp>
    </p:spTree>
    <p:extLst>
      <p:ext uri="{BB962C8B-B14F-4D97-AF65-F5344CB8AC3E}">
        <p14:creationId xmlns:p14="http://schemas.microsoft.com/office/powerpoint/2010/main" val="142993451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41927-244A-6E27-6658-180FD4D1C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E7A8A-025B-B66E-E6CE-E58D445B75E6}"/>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80CEDE07-AE1B-4AF5-C934-FC869EB3D677}"/>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5. Contribution Section</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Contributions should reflect who worked on which part, including supporting sections (scope, data file, traceability).</a:t>
            </a:r>
          </a:p>
          <a:p>
            <a:pPr marL="457200" indent="-457200">
              <a:lnSpc>
                <a:spcPct val="150000"/>
              </a:lnSpc>
              <a:buFont typeface="Arial" panose="020B0604020202020204" pitchFamily="34" charset="0"/>
              <a:buChar char="•"/>
            </a:pPr>
            <a:r>
              <a:rPr lang="en-US" sz="2800" dirty="0">
                <a:latin typeface="Calibir"/>
              </a:rPr>
              <a:t>It’s acceptable to write </a:t>
            </a:r>
            <a:r>
              <a:rPr lang="en-US" sz="2800" i="1" dirty="0">
                <a:latin typeface="Calibir"/>
              </a:rPr>
              <a:t>“Member A: User Stories + Traceability, Member B: Use Case Diagram, Member C: Class Diagram, Member D: Data File Design + proofreading”</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Percentages are not required. A clear description of contributions and assistance is enough.</a:t>
            </a:r>
          </a:p>
        </p:txBody>
      </p:sp>
    </p:spTree>
    <p:extLst>
      <p:ext uri="{BB962C8B-B14F-4D97-AF65-F5344CB8AC3E}">
        <p14:creationId xmlns:p14="http://schemas.microsoft.com/office/powerpoint/2010/main" val="33433190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8FB0F-450D-C965-BDD3-299D2F658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83C4E-314F-6129-FEA0-FD99D06046E8}"/>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1DFCE3E9-C937-19AC-D763-FD76BABED979}"/>
              </a:ext>
            </a:extLst>
          </p:cNvPr>
          <p:cNvSpPr txBox="1"/>
          <p:nvPr/>
        </p:nvSpPr>
        <p:spPr>
          <a:xfrm>
            <a:off x="0" y="1103972"/>
            <a:ext cx="11965258" cy="3257174"/>
          </a:xfrm>
          <a:prstGeom prst="rect">
            <a:avLst/>
          </a:prstGeom>
          <a:noFill/>
        </p:spPr>
        <p:txBody>
          <a:bodyPr wrap="square">
            <a:spAutoFit/>
          </a:bodyPr>
          <a:lstStyle/>
          <a:p>
            <a:pPr>
              <a:lnSpc>
                <a:spcPct val="150000"/>
              </a:lnSpc>
            </a:pPr>
            <a:r>
              <a:rPr lang="en-US" sz="2800" b="1" dirty="0">
                <a:latin typeface="Calibir"/>
              </a:rPr>
              <a:t>Key takeaway</a:t>
            </a:r>
            <a:r>
              <a:rPr lang="en-US" sz="2800" dirty="0">
                <a:latin typeface="Calibir"/>
              </a:rPr>
              <a:t>: Focus marks are on Backlog + Use Case + Class Diagram, but supporting sections (scope, traceability, data file design) are expected in the report. Contributions should reflect </a:t>
            </a:r>
            <a:r>
              <a:rPr lang="en-US" sz="2800" i="1" dirty="0">
                <a:latin typeface="Calibir"/>
              </a:rPr>
              <a:t>all</a:t>
            </a:r>
            <a:r>
              <a:rPr lang="en-US" sz="2800" dirty="0">
                <a:latin typeface="Calibir"/>
              </a:rPr>
              <a:t> work, not just the marked sections.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84710770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hlinkClick r:id="rId2"/>
              </a:rPr>
              <a:t>Assignments – Part 1: Analysis and Design</a:t>
            </a:r>
            <a:endParaRPr lang="en-US" sz="2800" dirty="0">
              <a:latin typeface="Calibir"/>
            </a:endParaRP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2410</TotalTime>
  <Words>10650</Words>
  <Application>Microsoft Office PowerPoint</Application>
  <PresentationFormat>Widescreen</PresentationFormat>
  <Paragraphs>875</Paragraphs>
  <Slides>119</Slides>
  <Notes>28</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119</vt:i4>
      </vt:variant>
    </vt:vector>
  </HeadingPairs>
  <TitlesOfParts>
    <vt:vector size="128" baseType="lpstr">
      <vt:lpstr>Aptos</vt:lpstr>
      <vt:lpstr>Aptos Display</vt:lpstr>
      <vt:lpstr>Arial</vt:lpstr>
      <vt:lpstr>Calibir</vt:lpstr>
      <vt:lpstr>Calibri</vt:lpstr>
      <vt:lpstr>Calibri Light</vt:lpstr>
      <vt:lpstr>Wingdings</vt:lpstr>
      <vt:lpstr>Office Theme</vt:lpstr>
      <vt:lpstr>1_Office Theme</vt:lpstr>
      <vt:lpstr>Introduction to Software Engineering (ISE102) Tutorial Week 7</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Have you formed your group?</vt:lpstr>
      <vt:lpstr>Group Assignment – Part 1: Clarification Slides</vt:lpstr>
      <vt:lpstr>Project Brief – Simplified</vt:lpstr>
      <vt:lpstr>Project Brief – Simplified</vt:lpstr>
      <vt:lpstr>Project Brief – Simplified</vt:lpstr>
      <vt:lpstr>Project Brief – Simplified</vt:lpstr>
      <vt:lpstr>Project Brief – Simplified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712</cp:revision>
  <dcterms:created xsi:type="dcterms:W3CDTF">2025-07-28T16:39:25Z</dcterms:created>
  <dcterms:modified xsi:type="dcterms:W3CDTF">2025-09-12T12:37:40Z</dcterms:modified>
</cp:coreProperties>
</file>