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8"/>
  </p:notesMasterIdLst>
  <p:sldIdLst>
    <p:sldId id="2522" r:id="rId2"/>
    <p:sldId id="2443" r:id="rId3"/>
    <p:sldId id="2633" r:id="rId4"/>
    <p:sldId id="2665" r:id="rId5"/>
    <p:sldId id="2666" r:id="rId6"/>
    <p:sldId id="2668" r:id="rId7"/>
    <p:sldId id="2669" r:id="rId8"/>
    <p:sldId id="2667" r:id="rId9"/>
    <p:sldId id="2672" r:id="rId10"/>
    <p:sldId id="2671" r:id="rId11"/>
    <p:sldId id="2673" r:id="rId12"/>
    <p:sldId id="2674" r:id="rId13"/>
    <p:sldId id="2693" r:id="rId14"/>
    <p:sldId id="2707" r:id="rId15"/>
    <p:sldId id="2708" r:id="rId16"/>
    <p:sldId id="2710" r:id="rId17"/>
    <p:sldId id="2711" r:id="rId18"/>
    <p:sldId id="2709" r:id="rId19"/>
    <p:sldId id="2712" r:id="rId20"/>
    <p:sldId id="2706" r:id="rId21"/>
    <p:sldId id="2675" r:id="rId22"/>
    <p:sldId id="2676" r:id="rId23"/>
    <p:sldId id="2680" r:id="rId24"/>
    <p:sldId id="2686" r:id="rId25"/>
    <p:sldId id="2681" r:id="rId26"/>
    <p:sldId id="2687" r:id="rId27"/>
    <p:sldId id="2682" r:id="rId28"/>
    <p:sldId id="2688" r:id="rId29"/>
    <p:sldId id="2683" r:id="rId30"/>
    <p:sldId id="2684" r:id="rId31"/>
    <p:sldId id="2678" r:id="rId32"/>
    <p:sldId id="2677" r:id="rId33"/>
    <p:sldId id="2689" r:id="rId34"/>
    <p:sldId id="2691" r:id="rId35"/>
    <p:sldId id="2692" r:id="rId36"/>
    <p:sldId id="2690" r:id="rId37"/>
    <p:sldId id="2685" r:id="rId38"/>
    <p:sldId id="2694" r:id="rId39"/>
    <p:sldId id="2695" r:id="rId40"/>
    <p:sldId id="2696" r:id="rId41"/>
    <p:sldId id="2697" r:id="rId42"/>
    <p:sldId id="2698" r:id="rId43"/>
    <p:sldId id="2713" r:id="rId44"/>
    <p:sldId id="2714" r:id="rId45"/>
    <p:sldId id="2700" r:id="rId46"/>
    <p:sldId id="2715" r:id="rId47"/>
    <p:sldId id="2716" r:id="rId48"/>
    <p:sldId id="2702" r:id="rId49"/>
    <p:sldId id="2717" r:id="rId50"/>
    <p:sldId id="2718" r:id="rId51"/>
    <p:sldId id="2703" r:id="rId52"/>
    <p:sldId id="2719" r:id="rId53"/>
    <p:sldId id="2720" r:id="rId54"/>
    <p:sldId id="2721" r:id="rId55"/>
    <p:sldId id="2722" r:id="rId56"/>
    <p:sldId id="2723" r:id="rId57"/>
    <p:sldId id="2724" r:id="rId58"/>
    <p:sldId id="2725" r:id="rId59"/>
    <p:sldId id="2726" r:id="rId60"/>
    <p:sldId id="2727" r:id="rId61"/>
    <p:sldId id="2728" r:id="rId62"/>
    <p:sldId id="2729" r:id="rId63"/>
    <p:sldId id="2730" r:id="rId64"/>
    <p:sldId id="2747" r:id="rId65"/>
    <p:sldId id="1889" r:id="rId66"/>
    <p:sldId id="2524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954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4768A3-CE1D-4B38-9DB7-258A20660199}" type="datetimeFigureOut">
              <a:rPr lang="en-AU" smtClean="0"/>
              <a:t>25/08/2026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ED24F3-C88E-4C15-8193-4E111B80EC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1419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7A289-FF3D-6221-0919-52B01AA8C7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94B72A-F72E-6F44-5F03-1418A0B231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6A39C-6018-18E9-5F8D-4A1EC20EB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25/08/2026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20D52-2FFC-C9DF-2C1D-0D71439D0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06BD1-0781-7498-CBE7-882C85BC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5949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06307-42D9-B52A-3FDF-879E60F0F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A6530-A555-4496-8091-721D1F881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4BAD6-101F-B851-1C08-7D894720D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25/08/2026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BE63D-2BAC-0771-6CDD-E58CA768C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2B1F2-308D-04CF-0533-43636B44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1116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51970-B490-B69E-FCBD-212BA0910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EDBB8-F6B9-F902-DDF8-399BEAD5F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A61F5-3BD9-1364-E269-EA50C8D5E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25/08/2026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1C5DD-8DE3-E3A8-9502-3A87814DB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7EB9C-AF45-B217-1DA1-31C1499BA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447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B327E-C2D8-2826-AC41-CBF55C1F5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1C1C5-C310-D6F8-E733-80DC724D8F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EB3D25-4FAE-3121-CD93-0C49A108A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4EAB2-5E1A-8619-3057-C3A1AB5D1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25/08/2026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B9F5A9-2584-E93E-6A0F-A4794EE1D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7E2D3-3374-99CB-1920-B67380A0E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972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6ED3B-21CA-4495-94A5-BF0A07143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25D24-B245-8441-06C8-6FC24B1D7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0E5481-DAD5-42E9-A05C-FE17FB031D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EBF7B5-BC72-38B3-02F0-7BB1BC9D07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271FD1-022B-B62F-16CD-57BC6B42D6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1968B3-4251-2756-4B56-73ADD5061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25/08/2026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7B1F6D-47C2-CAE3-A4E5-9BBEA2718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390004-77A4-C994-6377-2D03957A9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7843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029FA-C545-B505-6C82-069457BDA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BCBFB8-D61F-8DA0-01D0-D4ABB1784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25/08/2026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2936ED-D26E-6CDD-AE85-E69826C2B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0F5E15-D044-ACA4-4FF1-4403C9CB1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0804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00D06D-3A18-FF5D-39C8-EC1AC6D1C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25/08/2026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041F04-363D-EF82-F43A-1F8511337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072FA-339B-371C-0059-8970DEB10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0544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B85B4-BB2F-E262-E02E-C1DC1BF00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14E00-FACA-AA09-85E5-E01105E85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4EE9D-4DB5-87C6-C68D-3C076EA32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8988F-CF28-82C0-CDE6-5940AF6AD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25/08/2026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D6275B-7D78-C2DE-31FE-0C2CC2479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A9313-C86F-F87B-3741-AEE3F072D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4448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15856-F0AB-56B5-BD98-57810EED5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7A74BD-4349-19E0-431D-8899C9B137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9018E4-FE4E-963A-A372-8FF2993F1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71D85-A2C7-2BA8-45B6-F761AF790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25/08/2026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167D4-1A0A-BA70-330D-3FF1004FE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2802A-72F4-775F-7C84-9B2F5770F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132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CF791-333B-3959-5EB7-74857A081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30ACA7-4517-BC5B-569C-29CDA754F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72832-7FB6-BE62-8AC6-AC4630D92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25/08/2026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D29DE-BC8E-969C-246D-FAB1068D1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5BE22-884E-FBF3-A25E-96D418634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5697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444B66-AC16-CCAB-AFE8-29D6415A76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1ACECC-B4A9-B0D4-C662-26E490713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00766-BA84-C9DB-9E6F-3B62FB470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25/08/2026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61B9B-7BB2-B7BE-929B-53D8853D7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AB2A3-A938-DC24-C96A-DF2004F89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2973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CC3005-B647-9E32-CC60-519127703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7C51E-6DC2-39F3-9212-D582E0A9B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B9BBC-D295-7A76-2B27-6B12AD3F6F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B67406-7D6A-427B-AE15-EA86D49A46C9}" type="datetimeFigureOut">
              <a:rPr lang="en-AU" smtClean="0"/>
              <a:t>25/08/2026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185DA-FDEE-FA5B-E9B0-C02631270C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860BB-9B5C-C732-6BD6-2C0DFC8EE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46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2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2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2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2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github.com/FarshidKeivanian/Sessions_Fundamentals-of-Software-Development_Java-Python/blob/main/LibrarySystem_Java_4Activity.java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2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farshid-keivanian" TargetMode="Externa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FarshidKeivania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876F03-8BAA-72AB-E62A-1CEA6868C9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8454" y="1360481"/>
            <a:ext cx="4605340" cy="2387600"/>
          </a:xfrm>
        </p:spPr>
        <p:txBody>
          <a:bodyPr>
            <a:normAutofit/>
          </a:bodyPr>
          <a:lstStyle/>
          <a:p>
            <a:pPr algn="l"/>
            <a:r>
              <a:rPr lang="en-US" sz="3900">
                <a:solidFill>
                  <a:schemeClr val="bg1"/>
                </a:solidFill>
                <a:latin typeface="Calibir"/>
              </a:rPr>
              <a:t>32555 – Fundamentals of Software Development</a:t>
            </a:r>
            <a:endParaRPr lang="en-AU" sz="3900">
              <a:solidFill>
                <a:schemeClr val="bg1"/>
              </a:solidFill>
              <a:latin typeface="Calibir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8A4EEB-3C3C-78E4-5144-CBDE3AFA8C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7" r="98" b="1"/>
          <a:stretch>
            <a:fillRect/>
          </a:stretch>
        </p:blipFill>
        <p:spPr>
          <a:xfrm>
            <a:off x="5800734" y="1057275"/>
            <a:ext cx="5917401" cy="47434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84C2E9E-0B5D-4B5F-9A1F-70EBDCE39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2461" y="1197769"/>
            <a:ext cx="10987078" cy="4462463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4851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D7A11-47AE-C133-8206-569A0BB07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E1848-8E74-13DF-C09C-3CC64A48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Welcome to 32555 – Fundamentals of Software Development</a:t>
            </a:r>
            <a:endParaRPr lang="en-AU" sz="4000" b="1" dirty="0">
              <a:latin typeface="Calibir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5185FC6-5CEA-DC1B-A1DF-D2D8A8948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7669"/>
            <a:ext cx="12192000" cy="5963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Your Teaching Team: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Dr. Yining Hu | Subject Coordinator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Yining is a Lecturer in Software Engineering. She works with many SMEs to develop software and AI solutions through student and research projects at UTS.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Contact: yining.hu@uts.edu.au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 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Dr. Xiaojie (Zoe) Lin | Tutor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Zoe is a full-stack software engineer with an interest in data analysis, specializing in JAVA, R, Python, JavaScript, PHP, Bash, and MATLAB; familiar with AWS.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Contact:  Xiaojie.Lin@uts.edu.au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 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Dr. Farshid Keivanian | Tutor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Dr. Farshid Keivanian is an experienced university lecturer and researcher with a PhD in Information Technology. He has over 15 years of teaching experience across Australian institutions,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specialising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in software engineering, data science, AI, and cybersecurity.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Contact: Farshid.Keivanian@uts.edu.au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 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Yong Pov | Tutor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Yong is a full-stack software engineer with experience in React, JavaScript, TypeScript, Java, Python, SQL, and AI-assisted learning platforms.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Contact: Yong.Pov@uts.edu.au</a:t>
            </a:r>
          </a:p>
        </p:txBody>
      </p:sp>
    </p:spTree>
    <p:extLst>
      <p:ext uri="{BB962C8B-B14F-4D97-AF65-F5344CB8AC3E}">
        <p14:creationId xmlns:p14="http://schemas.microsoft.com/office/powerpoint/2010/main" val="794337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96DC6-424A-EAE3-87C1-E5765B094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E5FDA-B4C2-6DD5-17BE-680D62858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Welcome to 32555 – Fundamentals of Software Development</a:t>
            </a:r>
            <a:endParaRPr lang="en-AU" sz="4000" b="1" dirty="0">
              <a:latin typeface="Calibir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E98AB95-B27E-184F-3760-418B8D55B79F}"/>
              </a:ext>
            </a:extLst>
          </p:cNvPr>
          <p:cNvGraphicFramePr>
            <a:graphicFrameLocks noGrp="1"/>
          </p:cNvGraphicFramePr>
          <p:nvPr/>
        </p:nvGraphicFramePr>
        <p:xfrm>
          <a:off x="722671" y="1816610"/>
          <a:ext cx="9792928" cy="368121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613329">
                  <a:extLst>
                    <a:ext uri="{9D8B030D-6E8A-4147-A177-3AD203B41FA5}">
                      <a16:colId xmlns:a16="http://schemas.microsoft.com/office/drawing/2014/main" val="79494275"/>
                    </a:ext>
                  </a:extLst>
                </a:gridCol>
                <a:gridCol w="2230244">
                  <a:extLst>
                    <a:ext uri="{9D8B030D-6E8A-4147-A177-3AD203B41FA5}">
                      <a16:colId xmlns:a16="http://schemas.microsoft.com/office/drawing/2014/main" val="2506284612"/>
                    </a:ext>
                  </a:extLst>
                </a:gridCol>
                <a:gridCol w="2864347">
                  <a:extLst>
                    <a:ext uri="{9D8B030D-6E8A-4147-A177-3AD203B41FA5}">
                      <a16:colId xmlns:a16="http://schemas.microsoft.com/office/drawing/2014/main" val="2357989121"/>
                    </a:ext>
                  </a:extLst>
                </a:gridCol>
                <a:gridCol w="3085008">
                  <a:extLst>
                    <a:ext uri="{9D8B030D-6E8A-4147-A177-3AD203B41FA5}">
                      <a16:colId xmlns:a16="http://schemas.microsoft.com/office/drawing/2014/main" val="192731506"/>
                    </a:ext>
                  </a:extLst>
                </a:gridCol>
              </a:tblGrid>
              <a:tr h="3706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Cmp1 #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Location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Time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Tutor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0461216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01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CB11.B1.400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Fri 16:00-18:00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Xiaojie (Zoe) Lin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extLst>
                  <a:ext uri="{0D108BD9-81ED-4DB2-BD59-A6C34878D82A}">
                    <a16:rowId xmlns:a16="http://schemas.microsoft.com/office/drawing/2014/main" val="3707997205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07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CB11.B1.401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Wed 10:00-12:00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Farshid Keivanian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27887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08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CB11.B1.400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Fri 12:00-14:00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Yong Pov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extLst>
                  <a:ext uri="{0D108BD9-81ED-4DB2-BD59-A6C34878D82A}">
                    <a16:rowId xmlns:a16="http://schemas.microsoft.com/office/drawing/2014/main" val="1335921487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09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CB11.B1.103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Wed 16:00-18:00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Farshid Keivanian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187035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10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CB11.B1.401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Wed 12:00-14:00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Farshid Keivanian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140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4682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11E6B-169D-BEED-9B43-9C96A3BF3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53BBD-9377-349F-BFDE-ADF185909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2662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Calibir"/>
              </a:rPr>
              <a:t>Class Diagram Practice</a:t>
            </a:r>
            <a:endParaRPr lang="en-AU" sz="3600" b="1" dirty="0">
              <a:latin typeface="Calibir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78792C2-0C07-99F1-FDD5-5FB5F34DF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687" y="1154082"/>
            <a:ext cx="11972625" cy="4549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Goal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By the end of this lab, students should be able to:</a:t>
            </a:r>
          </a:p>
          <a:p>
            <a:pPr marL="80645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Identify classes, attributes, methods from a case description.</a:t>
            </a:r>
          </a:p>
          <a:p>
            <a:pPr marL="80645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Draw associations with multiplicity.</a:t>
            </a:r>
          </a:p>
          <a:p>
            <a:pPr marL="80645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Use generalization/specialization (inheritance).</a:t>
            </a:r>
          </a:p>
          <a:p>
            <a:pPr marL="80645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Design a small class diagram that mirrors the complexity of their group assignment.</a:t>
            </a:r>
          </a:p>
        </p:txBody>
      </p:sp>
    </p:spTree>
    <p:extLst>
      <p:ext uri="{BB962C8B-B14F-4D97-AF65-F5344CB8AC3E}">
        <p14:creationId xmlns:p14="http://schemas.microsoft.com/office/powerpoint/2010/main" val="3760942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36ACF-25CE-B156-698E-1F53E6FC2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77236-2049-C134-ED03-0774B3227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2662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Calibir"/>
              </a:rPr>
              <a:t>Class Diagram Practice</a:t>
            </a:r>
            <a:endParaRPr lang="en-AU" sz="3600" b="1" dirty="0">
              <a:latin typeface="Calibir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1723229-A297-82FA-F984-11E9D12C4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1901"/>
            <a:ext cx="11972625" cy="2610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Example 1 – Scenario: Library System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Scenario (mini case study)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A Library has many Books.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The Library has name and address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A8F0D9F-6AD5-F719-CCB8-9A8ACEB2D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41983"/>
            <a:ext cx="4762522" cy="2610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Library</a:t>
            </a:r>
          </a:p>
          <a:p>
            <a:pPr marL="809625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Attributes: name, address</a:t>
            </a:r>
          </a:p>
          <a:p>
            <a:pPr marL="809625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Relationships:</a:t>
            </a:r>
          </a:p>
          <a:p>
            <a:pPr marL="1166813" marR="0" lvl="1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has many Books → 1..*</a:t>
            </a:r>
          </a:p>
        </p:txBody>
      </p:sp>
    </p:spTree>
    <p:extLst>
      <p:ext uri="{BB962C8B-B14F-4D97-AF65-F5344CB8AC3E}">
        <p14:creationId xmlns:p14="http://schemas.microsoft.com/office/powerpoint/2010/main" val="1899384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EAF58-9D93-B7F3-88F8-F5BDB044C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96FFE-1229-1B78-F30E-C2D79146F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2662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Calibir"/>
              </a:rPr>
              <a:t>Class Diagram Practice</a:t>
            </a:r>
            <a:endParaRPr lang="en-AU" sz="3600" b="1" dirty="0">
              <a:latin typeface="Calibir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D544860-04A1-9F93-4F5B-EA1F53212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97147"/>
            <a:ext cx="11972625" cy="1318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Each Book can be borrowed by one Member at a time.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Each book has title,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isbn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, status.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665AC4F-D9E8-7972-FE75-AA1A34D84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39813"/>
            <a:ext cx="7599516" cy="2610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Book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714375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Attributes: title,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isbn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, status</a:t>
            </a:r>
          </a:p>
          <a:p>
            <a:pPr marL="714375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Relationships:</a:t>
            </a:r>
          </a:p>
          <a:p>
            <a:pPr marL="1071563" marR="0" lvl="1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071563" algn="l"/>
              </a:tabLst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Borrowed by one Member at a time → 0..1</a:t>
            </a:r>
          </a:p>
        </p:txBody>
      </p:sp>
    </p:spTree>
    <p:extLst>
      <p:ext uri="{BB962C8B-B14F-4D97-AF65-F5344CB8AC3E}">
        <p14:creationId xmlns:p14="http://schemas.microsoft.com/office/powerpoint/2010/main" val="3613467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50C43-24F0-5B14-BDBA-5B97762D6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F8EED-D331-2D61-B355-DD752D342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2662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Calibir"/>
              </a:rPr>
              <a:t>Class Diagram Practice</a:t>
            </a:r>
            <a:endParaRPr lang="en-AU" sz="3600" b="1" dirty="0">
              <a:latin typeface="Calibir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0A3F843-6CE2-5A98-DF51-FB3F77A5D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687" y="672662"/>
            <a:ext cx="11972625" cy="1318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Members can borrow maximum 5 books.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Each member has id, name, email.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30BD86F-76A5-B41D-D1CF-E7B7066FB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686" y="1990843"/>
            <a:ext cx="7919191" cy="4549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Member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Attributes: id, name, email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Constraints:</a:t>
            </a:r>
          </a:p>
          <a:p>
            <a:pPr marL="914400" marR="0" lvl="1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Can borrow maximum 5 books → 0..5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Operations:</a:t>
            </a:r>
          </a:p>
          <a:p>
            <a:pPr marL="914400" marR="0" lvl="1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borrow(Book)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return(Book)</a:t>
            </a:r>
          </a:p>
        </p:txBody>
      </p:sp>
    </p:spTree>
    <p:extLst>
      <p:ext uri="{BB962C8B-B14F-4D97-AF65-F5344CB8AC3E}">
        <p14:creationId xmlns:p14="http://schemas.microsoft.com/office/powerpoint/2010/main" val="406360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A2574-DF99-3036-43F3-DFCD202AB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4E39B-6042-585E-4603-2129178CD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2662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Calibir"/>
              </a:rPr>
              <a:t>Class Diagram Practice</a:t>
            </a:r>
            <a:endParaRPr lang="en-AU" sz="3600" b="1" dirty="0">
              <a:latin typeface="Calibir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5E2B5D1-EE37-8BBC-AABF-D9924C657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2662"/>
            <a:ext cx="11972625" cy="671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Library “has many” Books (1..*).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26455C-B9A7-E8F5-A2A3-82960CE223F5}"/>
              </a:ext>
            </a:extLst>
          </p:cNvPr>
          <p:cNvSpPr txBox="1"/>
          <p:nvPr/>
        </p:nvSpPr>
        <p:spPr>
          <a:xfrm>
            <a:off x="0" y="1475204"/>
            <a:ext cx="12192000" cy="196451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Library 1.. → Book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*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This means one library must have at least one book (and usually many).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Example: The City of Sydney Library has thousands of books, not zero books.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4B852E-373E-CA61-C5A4-AC732A2270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129" r="28726"/>
          <a:stretch>
            <a:fillRect/>
          </a:stretch>
        </p:blipFill>
        <p:spPr>
          <a:xfrm>
            <a:off x="8168323" y="6116032"/>
            <a:ext cx="4023677" cy="76487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3D9D81C-B345-03A0-3249-93746229A6A2}"/>
              </a:ext>
            </a:extLst>
          </p:cNvPr>
          <p:cNvSpPr/>
          <p:nvPr/>
        </p:nvSpPr>
        <p:spPr>
          <a:xfrm>
            <a:off x="8168323" y="366035"/>
            <a:ext cx="1114097" cy="127175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Library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ECAC2B-6EF8-987D-5B0B-25E239E4F7EE}"/>
              </a:ext>
            </a:extLst>
          </p:cNvPr>
          <p:cNvSpPr/>
          <p:nvPr/>
        </p:nvSpPr>
        <p:spPr>
          <a:xfrm>
            <a:off x="10552534" y="366035"/>
            <a:ext cx="1114097" cy="127175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Books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2E90DD2-43D8-C666-CB47-1DC421F34FE3}"/>
              </a:ext>
            </a:extLst>
          </p:cNvPr>
          <p:cNvCxnSpPr/>
          <p:nvPr/>
        </p:nvCxnSpPr>
        <p:spPr>
          <a:xfrm>
            <a:off x="9282420" y="1008587"/>
            <a:ext cx="12701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3D035F-FF6A-B417-C1F8-21D541E9FA30}"/>
              </a:ext>
            </a:extLst>
          </p:cNvPr>
          <p:cNvCxnSpPr>
            <a:cxnSpLocks/>
          </p:cNvCxnSpPr>
          <p:nvPr/>
        </p:nvCxnSpPr>
        <p:spPr>
          <a:xfrm flipV="1">
            <a:off x="10364985" y="866696"/>
            <a:ext cx="187549" cy="141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C25728E-A7ED-203E-C940-4DA794F71730}"/>
              </a:ext>
            </a:extLst>
          </p:cNvPr>
          <p:cNvCxnSpPr>
            <a:cxnSpLocks/>
          </p:cNvCxnSpPr>
          <p:nvPr/>
        </p:nvCxnSpPr>
        <p:spPr>
          <a:xfrm>
            <a:off x="10364985" y="1008587"/>
            <a:ext cx="187549" cy="141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20AD1824-F3B3-9037-FEFD-6AA11BCA6896}"/>
              </a:ext>
            </a:extLst>
          </p:cNvPr>
          <p:cNvSpPr/>
          <p:nvPr/>
        </p:nvSpPr>
        <p:spPr>
          <a:xfrm>
            <a:off x="10150396" y="937641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0984F0C-FF1E-C65A-5357-E715AC1C0BB9}"/>
              </a:ext>
            </a:extLst>
          </p:cNvPr>
          <p:cNvCxnSpPr/>
          <p:nvPr/>
        </p:nvCxnSpPr>
        <p:spPr>
          <a:xfrm>
            <a:off x="9349572" y="822029"/>
            <a:ext cx="0" cy="3284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AD8A7CE-06C5-5B9E-338B-9799065F13BF}"/>
              </a:ext>
            </a:extLst>
          </p:cNvPr>
          <p:cNvSpPr txBox="1"/>
          <p:nvPr/>
        </p:nvSpPr>
        <p:spPr>
          <a:xfrm>
            <a:off x="9995484" y="-86096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(1, M)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43596D-26E3-F673-BF79-E441FFA630C0}"/>
              </a:ext>
            </a:extLst>
          </p:cNvPr>
          <p:cNvSpPr txBox="1"/>
          <p:nvPr/>
        </p:nvSpPr>
        <p:spPr>
          <a:xfrm>
            <a:off x="8875237" y="-86096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(1, 1)</a:t>
            </a:r>
          </a:p>
        </p:txBody>
      </p:sp>
    </p:spTree>
    <p:extLst>
      <p:ext uri="{BB962C8B-B14F-4D97-AF65-F5344CB8AC3E}">
        <p14:creationId xmlns:p14="http://schemas.microsoft.com/office/powerpoint/2010/main" val="140198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41B00-DBFC-9733-3889-AD02388ED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CC4C0-31A4-AE82-700C-9353F23C2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2662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Calibir"/>
              </a:rPr>
              <a:t>Class Diagram Practice</a:t>
            </a:r>
            <a:endParaRPr lang="en-AU" sz="3600" b="1" dirty="0">
              <a:latin typeface="Calibir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354F024-9C9D-2101-2F13-82695EC99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2662"/>
            <a:ext cx="11972625" cy="671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Library “has many” Books (1..*).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2C6C1A-6EAD-D812-85BB-3656766A53B2}"/>
              </a:ext>
            </a:extLst>
          </p:cNvPr>
          <p:cNvSpPr/>
          <p:nvPr/>
        </p:nvSpPr>
        <p:spPr>
          <a:xfrm>
            <a:off x="8168323" y="366035"/>
            <a:ext cx="1114097" cy="127175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Library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4B378E-70B9-7247-37F5-188465626821}"/>
              </a:ext>
            </a:extLst>
          </p:cNvPr>
          <p:cNvSpPr/>
          <p:nvPr/>
        </p:nvSpPr>
        <p:spPr>
          <a:xfrm>
            <a:off x="10552534" y="366035"/>
            <a:ext cx="1114097" cy="127175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Books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1405E3-6E24-9AD0-4485-001F01AEF458}"/>
              </a:ext>
            </a:extLst>
          </p:cNvPr>
          <p:cNvCxnSpPr/>
          <p:nvPr/>
        </p:nvCxnSpPr>
        <p:spPr>
          <a:xfrm>
            <a:off x="9282420" y="1008587"/>
            <a:ext cx="12701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7D435DC-A381-AABE-F5DD-19C2208043FD}"/>
              </a:ext>
            </a:extLst>
          </p:cNvPr>
          <p:cNvCxnSpPr>
            <a:cxnSpLocks/>
          </p:cNvCxnSpPr>
          <p:nvPr/>
        </p:nvCxnSpPr>
        <p:spPr>
          <a:xfrm flipV="1">
            <a:off x="10364985" y="866696"/>
            <a:ext cx="187549" cy="141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3B35D4-9491-9AD8-3B82-0C9F4103579F}"/>
              </a:ext>
            </a:extLst>
          </p:cNvPr>
          <p:cNvCxnSpPr>
            <a:cxnSpLocks/>
          </p:cNvCxnSpPr>
          <p:nvPr/>
        </p:nvCxnSpPr>
        <p:spPr>
          <a:xfrm>
            <a:off x="10364985" y="1008587"/>
            <a:ext cx="187549" cy="141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6B911D10-E887-E64E-08B1-BC08B21E1F40}"/>
              </a:ext>
            </a:extLst>
          </p:cNvPr>
          <p:cNvSpPr/>
          <p:nvPr/>
        </p:nvSpPr>
        <p:spPr>
          <a:xfrm>
            <a:off x="10150396" y="937641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768E33E-948B-846D-E587-ECBDBBC7B75B}"/>
              </a:ext>
            </a:extLst>
          </p:cNvPr>
          <p:cNvCxnSpPr/>
          <p:nvPr/>
        </p:nvCxnSpPr>
        <p:spPr>
          <a:xfrm>
            <a:off x="9349572" y="822029"/>
            <a:ext cx="0" cy="3284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F76EFF8-B72A-C349-0EA5-E493C948D858}"/>
              </a:ext>
            </a:extLst>
          </p:cNvPr>
          <p:cNvSpPr txBox="1"/>
          <p:nvPr/>
        </p:nvSpPr>
        <p:spPr>
          <a:xfrm>
            <a:off x="9995484" y="-86096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(1, M)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7FE772-2C06-E718-CADC-663744C5B7F0}"/>
              </a:ext>
            </a:extLst>
          </p:cNvPr>
          <p:cNvSpPr txBox="1"/>
          <p:nvPr/>
        </p:nvSpPr>
        <p:spPr>
          <a:xfrm>
            <a:off x="8875237" y="-86096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(1, 1)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10B2F9-9EF2-05B6-0ABF-1F166257A2F8}"/>
              </a:ext>
            </a:extLst>
          </p:cNvPr>
          <p:cNvSpPr txBox="1"/>
          <p:nvPr/>
        </p:nvSpPr>
        <p:spPr>
          <a:xfrm>
            <a:off x="17294" y="1792407"/>
            <a:ext cx="12157411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Each Book belongs to exactly one Library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Every book is stored in one library only.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Example: The book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Harry Potter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in the Kogarah Library is not also in the North Sydney Library’s system at the same time. Each copy belongs to one library.</a:t>
            </a:r>
          </a:p>
        </p:txBody>
      </p:sp>
    </p:spTree>
    <p:extLst>
      <p:ext uri="{BB962C8B-B14F-4D97-AF65-F5344CB8AC3E}">
        <p14:creationId xmlns:p14="http://schemas.microsoft.com/office/powerpoint/2010/main" val="2049436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AC760-3B08-2C69-94E9-3ECC449B5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E1FA2-247F-E60F-2252-9C0E5409E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2662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Calibir"/>
              </a:rPr>
              <a:t>Class Diagram Practice</a:t>
            </a:r>
            <a:endParaRPr lang="en-AU" sz="36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466F1C-03F9-3B85-829D-F90E52862D69}"/>
              </a:ext>
            </a:extLst>
          </p:cNvPr>
          <p:cNvSpPr txBox="1"/>
          <p:nvPr/>
        </p:nvSpPr>
        <p:spPr>
          <a:xfrm>
            <a:off x="0" y="873631"/>
            <a:ext cx="8146611" cy="463379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Each Book can be borrowed by 0 or 1 Member at a time</a:t>
            </a:r>
          </a:p>
          <a:p>
            <a:pPr marL="714375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A book is either not borrowed (0) or borrowed by one member (1).</a:t>
            </a:r>
          </a:p>
          <a:p>
            <a:pPr marL="714375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Example: If John borrows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The Hobbit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, no other member can borrow that same copy until John returns it.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760A0B-77CB-6E1D-17D0-08C9B26739E8}"/>
              </a:ext>
            </a:extLst>
          </p:cNvPr>
          <p:cNvSpPr/>
          <p:nvPr/>
        </p:nvSpPr>
        <p:spPr>
          <a:xfrm>
            <a:off x="8168323" y="366035"/>
            <a:ext cx="1114097" cy="127175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Member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CD69F9-A286-CF05-4D69-89F666893030}"/>
              </a:ext>
            </a:extLst>
          </p:cNvPr>
          <p:cNvSpPr/>
          <p:nvPr/>
        </p:nvSpPr>
        <p:spPr>
          <a:xfrm>
            <a:off x="10552534" y="366035"/>
            <a:ext cx="1114097" cy="127175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Books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481E604-4F00-BEC2-CA3D-DA445D365AAD}"/>
              </a:ext>
            </a:extLst>
          </p:cNvPr>
          <p:cNvCxnSpPr/>
          <p:nvPr/>
        </p:nvCxnSpPr>
        <p:spPr>
          <a:xfrm>
            <a:off x="9282420" y="1008587"/>
            <a:ext cx="12701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3A22A75-80F8-C3E1-F598-7090D02205F1}"/>
              </a:ext>
            </a:extLst>
          </p:cNvPr>
          <p:cNvCxnSpPr>
            <a:cxnSpLocks/>
          </p:cNvCxnSpPr>
          <p:nvPr/>
        </p:nvCxnSpPr>
        <p:spPr>
          <a:xfrm flipV="1">
            <a:off x="10364985" y="866696"/>
            <a:ext cx="187549" cy="141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D08999E-0779-88E1-988B-17689C351D96}"/>
              </a:ext>
            </a:extLst>
          </p:cNvPr>
          <p:cNvCxnSpPr>
            <a:cxnSpLocks/>
          </p:cNvCxnSpPr>
          <p:nvPr/>
        </p:nvCxnSpPr>
        <p:spPr>
          <a:xfrm>
            <a:off x="10364985" y="1008587"/>
            <a:ext cx="187549" cy="141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EC72E0E6-DC2B-292D-E039-E3CB0B1353C8}"/>
              </a:ext>
            </a:extLst>
          </p:cNvPr>
          <p:cNvSpPr/>
          <p:nvPr/>
        </p:nvSpPr>
        <p:spPr>
          <a:xfrm>
            <a:off x="10150396" y="937641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51E72C8-DBB9-9623-6920-3204104CF01A}"/>
              </a:ext>
            </a:extLst>
          </p:cNvPr>
          <p:cNvCxnSpPr/>
          <p:nvPr/>
        </p:nvCxnSpPr>
        <p:spPr>
          <a:xfrm>
            <a:off x="9349572" y="822029"/>
            <a:ext cx="0" cy="3284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07ECB15-C865-6E18-DD40-40417996D2C9}"/>
              </a:ext>
            </a:extLst>
          </p:cNvPr>
          <p:cNvSpPr txBox="1"/>
          <p:nvPr/>
        </p:nvSpPr>
        <p:spPr>
          <a:xfrm>
            <a:off x="9995484" y="-86096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(0, 5)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2B4455-A54C-11D4-A141-84326F1867A9}"/>
              </a:ext>
            </a:extLst>
          </p:cNvPr>
          <p:cNvSpPr txBox="1"/>
          <p:nvPr/>
        </p:nvSpPr>
        <p:spPr>
          <a:xfrm>
            <a:off x="8875237" y="-86096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(0, 1)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1989780-AE75-CA5C-B9EE-997727B33481}"/>
              </a:ext>
            </a:extLst>
          </p:cNvPr>
          <p:cNvSpPr/>
          <p:nvPr/>
        </p:nvSpPr>
        <p:spPr>
          <a:xfrm>
            <a:off x="9440953" y="942897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5052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5CD77-C4FD-9935-22B3-FCA704628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FDF43-BB12-70F0-8E3C-13C461D0E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2662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Calibir"/>
              </a:rPr>
              <a:t>Class Diagram Practice</a:t>
            </a:r>
            <a:endParaRPr lang="en-AU" sz="36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C77CDA-0706-3921-AFEE-0D1E9560F39F}"/>
              </a:ext>
            </a:extLst>
          </p:cNvPr>
          <p:cNvSpPr txBox="1"/>
          <p:nvPr/>
        </p:nvSpPr>
        <p:spPr>
          <a:xfrm>
            <a:off x="0" y="1287112"/>
            <a:ext cx="12192000" cy="26108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Member 0..5 → Book</a:t>
            </a:r>
          </a:p>
          <a:p>
            <a:pPr marL="809625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A member can borrow between 0 and 5 books at a time.</a:t>
            </a:r>
          </a:p>
          <a:p>
            <a:pPr marL="809625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Example: Armin joins the library. Right now, he may borrow no books (0), or maximum 5 books, but not more.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7702CF-1F8E-8A70-DD3C-43BAEBD3D46C}"/>
              </a:ext>
            </a:extLst>
          </p:cNvPr>
          <p:cNvSpPr/>
          <p:nvPr/>
        </p:nvSpPr>
        <p:spPr>
          <a:xfrm>
            <a:off x="8168323" y="366035"/>
            <a:ext cx="1114097" cy="127175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Member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026A83-09FD-199F-461E-09BA77C62B7A}"/>
              </a:ext>
            </a:extLst>
          </p:cNvPr>
          <p:cNvSpPr/>
          <p:nvPr/>
        </p:nvSpPr>
        <p:spPr>
          <a:xfrm>
            <a:off x="10552534" y="366035"/>
            <a:ext cx="1114097" cy="127175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Books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0F90C96-2397-E0EF-1C69-2908C7A1F58E}"/>
              </a:ext>
            </a:extLst>
          </p:cNvPr>
          <p:cNvCxnSpPr/>
          <p:nvPr/>
        </p:nvCxnSpPr>
        <p:spPr>
          <a:xfrm>
            <a:off x="9282420" y="1008587"/>
            <a:ext cx="12701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F74F4A5-114B-872C-E764-DDFF81819ECF}"/>
              </a:ext>
            </a:extLst>
          </p:cNvPr>
          <p:cNvCxnSpPr>
            <a:cxnSpLocks/>
          </p:cNvCxnSpPr>
          <p:nvPr/>
        </p:nvCxnSpPr>
        <p:spPr>
          <a:xfrm flipV="1">
            <a:off x="10364985" y="866696"/>
            <a:ext cx="187549" cy="141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DA49CFB-2C78-F85E-7403-CFC1E0F03909}"/>
              </a:ext>
            </a:extLst>
          </p:cNvPr>
          <p:cNvCxnSpPr>
            <a:cxnSpLocks/>
          </p:cNvCxnSpPr>
          <p:nvPr/>
        </p:nvCxnSpPr>
        <p:spPr>
          <a:xfrm>
            <a:off x="10364985" y="1008587"/>
            <a:ext cx="187549" cy="141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CDAE6389-B9A9-AB8F-3172-6D865D7EF5B8}"/>
              </a:ext>
            </a:extLst>
          </p:cNvPr>
          <p:cNvSpPr/>
          <p:nvPr/>
        </p:nvSpPr>
        <p:spPr>
          <a:xfrm>
            <a:off x="10150396" y="937641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6F0055-729C-35FC-43F4-0BD945886F1A}"/>
              </a:ext>
            </a:extLst>
          </p:cNvPr>
          <p:cNvCxnSpPr/>
          <p:nvPr/>
        </p:nvCxnSpPr>
        <p:spPr>
          <a:xfrm>
            <a:off x="9349572" y="822029"/>
            <a:ext cx="0" cy="3284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44D5228-39D3-C528-6DC0-D7345FCD7AE7}"/>
              </a:ext>
            </a:extLst>
          </p:cNvPr>
          <p:cNvSpPr txBox="1"/>
          <p:nvPr/>
        </p:nvSpPr>
        <p:spPr>
          <a:xfrm>
            <a:off x="9995484" y="-86096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(0, 5)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4A230E-90D4-A7F9-A1A8-38DC04F4EE75}"/>
              </a:ext>
            </a:extLst>
          </p:cNvPr>
          <p:cNvSpPr txBox="1"/>
          <p:nvPr/>
        </p:nvSpPr>
        <p:spPr>
          <a:xfrm>
            <a:off x="8875237" y="-86096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(0, 1)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10736AE-AD0B-6621-999E-EA9FCCC7464B}"/>
              </a:ext>
            </a:extLst>
          </p:cNvPr>
          <p:cNvSpPr/>
          <p:nvPr/>
        </p:nvSpPr>
        <p:spPr>
          <a:xfrm>
            <a:off x="9440953" y="942897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2592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D3C10-D819-B32D-F646-E95C04CAD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3A73D-0D97-4820-5082-7F2ACBCC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2662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Calibir"/>
              </a:rPr>
              <a:t>Class Diagram Practice</a:t>
            </a:r>
            <a:endParaRPr lang="en-AU" sz="3600" b="1" dirty="0">
              <a:latin typeface="Calibi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6A804F-76E1-F112-7406-1227FEDB346E}"/>
              </a:ext>
            </a:extLst>
          </p:cNvPr>
          <p:cNvSpPr/>
          <p:nvPr/>
        </p:nvSpPr>
        <p:spPr>
          <a:xfrm>
            <a:off x="8504654" y="2532405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Member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DADBA1-5A28-30FC-5F1B-D03165861BDC}"/>
              </a:ext>
            </a:extLst>
          </p:cNvPr>
          <p:cNvCxnSpPr>
            <a:cxnSpLocks/>
          </p:cNvCxnSpPr>
          <p:nvPr/>
        </p:nvCxnSpPr>
        <p:spPr>
          <a:xfrm>
            <a:off x="9630475" y="3169095"/>
            <a:ext cx="1827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CF493F4-CB9C-1846-4F69-BA396B16DA84}"/>
              </a:ext>
            </a:extLst>
          </p:cNvPr>
          <p:cNvCxnSpPr>
            <a:cxnSpLocks/>
          </p:cNvCxnSpPr>
          <p:nvPr/>
        </p:nvCxnSpPr>
        <p:spPr>
          <a:xfrm flipV="1">
            <a:off x="11445912" y="1698074"/>
            <a:ext cx="236134" cy="1771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F4D1EE4-B0E3-789F-78A2-ED15FDE61344}"/>
              </a:ext>
            </a:extLst>
          </p:cNvPr>
          <p:cNvCxnSpPr>
            <a:cxnSpLocks/>
          </p:cNvCxnSpPr>
          <p:nvPr/>
        </p:nvCxnSpPr>
        <p:spPr>
          <a:xfrm>
            <a:off x="11224846" y="1709826"/>
            <a:ext cx="221066" cy="1595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95F354B7-7FBA-3716-2315-C5EFD1E7EECA}"/>
              </a:ext>
            </a:extLst>
          </p:cNvPr>
          <p:cNvSpPr/>
          <p:nvPr/>
        </p:nvSpPr>
        <p:spPr>
          <a:xfrm>
            <a:off x="11379614" y="1877632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2746AC8-0AC9-23E8-BB92-C6B3FCA050D6}"/>
              </a:ext>
            </a:extLst>
          </p:cNvPr>
          <p:cNvCxnSpPr/>
          <p:nvPr/>
        </p:nvCxnSpPr>
        <p:spPr>
          <a:xfrm>
            <a:off x="9685903" y="2988399"/>
            <a:ext cx="0" cy="3284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A25955A-2609-EC76-E968-720F4572DBF5}"/>
              </a:ext>
            </a:extLst>
          </p:cNvPr>
          <p:cNvSpPr txBox="1"/>
          <p:nvPr/>
        </p:nvSpPr>
        <p:spPr>
          <a:xfrm>
            <a:off x="10423171" y="1714044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(0, 5)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7BE0D0-2946-A7B4-1737-91B18CB9E6A4}"/>
              </a:ext>
            </a:extLst>
          </p:cNvPr>
          <p:cNvSpPr txBox="1"/>
          <p:nvPr/>
        </p:nvSpPr>
        <p:spPr>
          <a:xfrm>
            <a:off x="9211568" y="2080274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(0, 1)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268BB5-8E9A-7F70-5B69-CA863F85101B}"/>
              </a:ext>
            </a:extLst>
          </p:cNvPr>
          <p:cNvSpPr/>
          <p:nvPr/>
        </p:nvSpPr>
        <p:spPr>
          <a:xfrm>
            <a:off x="8504653" y="400529"/>
            <a:ext cx="1114097" cy="66102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Library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0F0387-A0B8-18D2-C1C3-CE45D5B591EE}"/>
              </a:ext>
            </a:extLst>
          </p:cNvPr>
          <p:cNvSpPr/>
          <p:nvPr/>
        </p:nvSpPr>
        <p:spPr>
          <a:xfrm>
            <a:off x="10900015" y="411287"/>
            <a:ext cx="1109095" cy="35877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Book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7B94A9A-5484-195B-6D9A-8B7074B23EEA}"/>
              </a:ext>
            </a:extLst>
          </p:cNvPr>
          <p:cNvCxnSpPr/>
          <p:nvPr/>
        </p:nvCxnSpPr>
        <p:spPr>
          <a:xfrm>
            <a:off x="9618750" y="1043081"/>
            <a:ext cx="12701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6D43D41-689D-2B48-2106-A0F94DAA0CE5}"/>
              </a:ext>
            </a:extLst>
          </p:cNvPr>
          <p:cNvCxnSpPr>
            <a:cxnSpLocks/>
          </p:cNvCxnSpPr>
          <p:nvPr/>
        </p:nvCxnSpPr>
        <p:spPr>
          <a:xfrm flipV="1">
            <a:off x="10701315" y="901190"/>
            <a:ext cx="187549" cy="141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9EBDF67-A8A2-44EC-9714-79694B438488}"/>
              </a:ext>
            </a:extLst>
          </p:cNvPr>
          <p:cNvCxnSpPr>
            <a:cxnSpLocks/>
          </p:cNvCxnSpPr>
          <p:nvPr/>
        </p:nvCxnSpPr>
        <p:spPr>
          <a:xfrm>
            <a:off x="10701315" y="1043081"/>
            <a:ext cx="187549" cy="141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8CCDB006-C480-6AF4-1976-A4E27D397FC0}"/>
              </a:ext>
            </a:extLst>
          </p:cNvPr>
          <p:cNvSpPr/>
          <p:nvPr/>
        </p:nvSpPr>
        <p:spPr>
          <a:xfrm>
            <a:off x="10486726" y="972135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6D18238-102B-8877-8EC4-0EE3EFCDCC47}"/>
              </a:ext>
            </a:extLst>
          </p:cNvPr>
          <p:cNvCxnSpPr/>
          <p:nvPr/>
        </p:nvCxnSpPr>
        <p:spPr>
          <a:xfrm>
            <a:off x="9685902" y="856523"/>
            <a:ext cx="0" cy="3284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135BD5E-D768-66F5-A53F-26426D178FC8}"/>
              </a:ext>
            </a:extLst>
          </p:cNvPr>
          <p:cNvSpPr txBox="1"/>
          <p:nvPr/>
        </p:nvSpPr>
        <p:spPr>
          <a:xfrm>
            <a:off x="10331814" y="-51602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(1, M)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F3CDC2-152D-C40B-E615-245A8B80A480}"/>
              </a:ext>
            </a:extLst>
          </p:cNvPr>
          <p:cNvSpPr txBox="1"/>
          <p:nvPr/>
        </p:nvSpPr>
        <p:spPr>
          <a:xfrm>
            <a:off x="9211567" y="-51602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(1, 1)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D0178C-49A3-4D9D-B47E-7033C3F1F0FF}"/>
              </a:ext>
            </a:extLst>
          </p:cNvPr>
          <p:cNvSpPr txBox="1"/>
          <p:nvPr/>
        </p:nvSpPr>
        <p:spPr>
          <a:xfrm>
            <a:off x="21021" y="1020747"/>
            <a:ext cx="8288443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In short:</a:t>
            </a:r>
          </a:p>
          <a:p>
            <a:pPr marL="809625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A library owns many books.</a:t>
            </a:r>
          </a:p>
          <a:p>
            <a:pPr marL="809625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A member can borrow minimum 0 and maximum 5 books.</a:t>
            </a:r>
          </a:p>
          <a:p>
            <a:pPr marL="809625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A book belongs to only one library.</a:t>
            </a:r>
          </a:p>
          <a:p>
            <a:pPr marL="809625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A book can be borrowed by only one member at a time (or by no one if it’s on the shelf).</a:t>
            </a:r>
          </a:p>
          <a:p>
            <a:pPr marL="809625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borrow() and return() are shown as operations in the Member class.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608CE7-5A5D-ED4B-D3AB-DC01B2CE3D96}"/>
              </a:ext>
            </a:extLst>
          </p:cNvPr>
          <p:cNvSpPr/>
          <p:nvPr/>
        </p:nvSpPr>
        <p:spPr>
          <a:xfrm>
            <a:off x="8504652" y="1366920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address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95CBA26-4358-97B0-9BFB-876F6678F4CA}"/>
              </a:ext>
            </a:extLst>
          </p:cNvPr>
          <p:cNvSpPr/>
          <p:nvPr/>
        </p:nvSpPr>
        <p:spPr>
          <a:xfrm>
            <a:off x="8504652" y="1061559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name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0A65DB4-AE6A-3C7B-291B-F1F91D65128A}"/>
              </a:ext>
            </a:extLst>
          </p:cNvPr>
          <p:cNvSpPr txBox="1"/>
          <p:nvPr/>
        </p:nvSpPr>
        <p:spPr>
          <a:xfrm>
            <a:off x="9768616" y="577474"/>
            <a:ext cx="931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has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4006957-A3E7-4AAD-BCA7-82466CD52102}"/>
              </a:ext>
            </a:extLst>
          </p:cNvPr>
          <p:cNvSpPr/>
          <p:nvPr/>
        </p:nvSpPr>
        <p:spPr>
          <a:xfrm>
            <a:off x="10895014" y="1378552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status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A836527-1B90-046D-E2EC-39FF8DF67879}"/>
              </a:ext>
            </a:extLst>
          </p:cNvPr>
          <p:cNvSpPr/>
          <p:nvPr/>
        </p:nvSpPr>
        <p:spPr>
          <a:xfrm>
            <a:off x="10895014" y="1073191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isbn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8A8CFDF-3593-9E20-7471-6EA3976B786F}"/>
              </a:ext>
            </a:extLst>
          </p:cNvPr>
          <p:cNvSpPr/>
          <p:nvPr/>
        </p:nvSpPr>
        <p:spPr>
          <a:xfrm>
            <a:off x="10895013" y="770058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title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B443DB3-ACC7-557E-933C-F4DA159A7B5E}"/>
              </a:ext>
            </a:extLst>
          </p:cNvPr>
          <p:cNvCxnSpPr>
            <a:cxnSpLocks/>
            <a:endCxn id="31" idx="2"/>
          </p:cNvCxnSpPr>
          <p:nvPr/>
        </p:nvCxnSpPr>
        <p:spPr>
          <a:xfrm flipH="1" flipV="1">
            <a:off x="11452063" y="1683911"/>
            <a:ext cx="1383" cy="14813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9EC4FBE-EC28-A748-FF24-849EB739C19B}"/>
              </a:ext>
            </a:extLst>
          </p:cNvPr>
          <p:cNvSpPr txBox="1"/>
          <p:nvPr/>
        </p:nvSpPr>
        <p:spPr>
          <a:xfrm>
            <a:off x="9788202" y="2658030"/>
            <a:ext cx="2382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Borrowed by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5E9799C-053A-F232-2A3C-CC577506C008}"/>
              </a:ext>
            </a:extLst>
          </p:cNvPr>
          <p:cNvSpPr/>
          <p:nvPr/>
        </p:nvSpPr>
        <p:spPr>
          <a:xfrm>
            <a:off x="8505227" y="3406698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email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57F5B30-D1E0-5E6A-757D-2CCD2A4C9BB6}"/>
              </a:ext>
            </a:extLst>
          </p:cNvPr>
          <p:cNvSpPr/>
          <p:nvPr/>
        </p:nvSpPr>
        <p:spPr>
          <a:xfrm>
            <a:off x="8505227" y="3123639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name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DDF8622-F213-2715-3C24-DB43FF1F2352}"/>
              </a:ext>
            </a:extLst>
          </p:cNvPr>
          <p:cNvSpPr/>
          <p:nvPr/>
        </p:nvSpPr>
        <p:spPr>
          <a:xfrm>
            <a:off x="8505226" y="2820506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id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45D3DB6-EF75-80A2-EC62-06D77A1DC5BE}"/>
              </a:ext>
            </a:extLst>
          </p:cNvPr>
          <p:cNvSpPr/>
          <p:nvPr/>
        </p:nvSpPr>
        <p:spPr>
          <a:xfrm>
            <a:off x="8509186" y="4120501"/>
            <a:ext cx="1109564" cy="41343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Return(Book)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91546C6-AB6F-B2C2-6E57-0E162A666B93}"/>
              </a:ext>
            </a:extLst>
          </p:cNvPr>
          <p:cNvSpPr/>
          <p:nvPr/>
        </p:nvSpPr>
        <p:spPr>
          <a:xfrm>
            <a:off x="8504652" y="3702873"/>
            <a:ext cx="1114097" cy="41343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Borrow(Book)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5F2A8A3-0ED4-B593-E964-B8F79F4B5CC0}"/>
              </a:ext>
            </a:extLst>
          </p:cNvPr>
          <p:cNvSpPr/>
          <p:nvPr/>
        </p:nvSpPr>
        <p:spPr>
          <a:xfrm>
            <a:off x="9777279" y="3108024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6274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0C073-B0C9-D650-83F5-D32F43EF7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4AF02-A200-8929-8208-9E05C007B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2662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Calibir"/>
              </a:rPr>
              <a:t>From UML Diagram to Code: Library Example (</a:t>
            </a:r>
            <a:r>
              <a:rPr lang="en-US" sz="3600" b="1" dirty="0">
                <a:highlight>
                  <a:srgbClr val="FFFF00"/>
                </a:highlight>
                <a:latin typeface="Calibir"/>
              </a:rPr>
              <a:t>Java</a:t>
            </a:r>
            <a:r>
              <a:rPr lang="en-US" sz="3600" b="1" dirty="0">
                <a:latin typeface="Calibir"/>
              </a:rPr>
              <a:t>)</a:t>
            </a:r>
            <a:endParaRPr lang="en-AU" sz="3600" b="1" dirty="0">
              <a:latin typeface="Calibi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D7FF9D-9ED9-5DDE-E417-9C1969DBF8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55" r="39655" b="81073"/>
          <a:stretch>
            <a:fillRect/>
          </a:stretch>
        </p:blipFill>
        <p:spPr>
          <a:xfrm>
            <a:off x="0" y="779743"/>
            <a:ext cx="7357242" cy="1211967"/>
          </a:xfrm>
          <a:prstGeom prst="rect">
            <a:avLst/>
          </a:prstGeom>
        </p:spPr>
      </p:pic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8BE8F323-1E05-B092-2615-BCDB8D8DFA70}"/>
              </a:ext>
            </a:extLst>
          </p:cNvPr>
          <p:cNvCxnSpPr>
            <a:cxnSpLocks/>
            <a:stCxn id="5" idx="2"/>
          </p:cNvCxnSpPr>
          <p:nvPr/>
        </p:nvCxnSpPr>
        <p:spPr>
          <a:xfrm rot="16200000" flipH="1">
            <a:off x="3665482" y="2004848"/>
            <a:ext cx="856594" cy="830317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162FD776-0BE1-DBC3-E41E-7A42929660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449" b="70958"/>
          <a:stretch>
            <a:fillRect/>
          </a:stretch>
        </p:blipFill>
        <p:spPr>
          <a:xfrm>
            <a:off x="0" y="2848311"/>
            <a:ext cx="9942786" cy="1991708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AA96585-716D-1C0A-2C90-205882469B35}"/>
              </a:ext>
            </a:extLst>
          </p:cNvPr>
          <p:cNvSpPr/>
          <p:nvPr/>
        </p:nvSpPr>
        <p:spPr>
          <a:xfrm>
            <a:off x="2469931" y="4162098"/>
            <a:ext cx="4056993" cy="31531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3813637-1D7F-13D9-A59E-D8C4C981E7F9}"/>
              </a:ext>
            </a:extLst>
          </p:cNvPr>
          <p:cNvSpPr/>
          <p:nvPr/>
        </p:nvSpPr>
        <p:spPr>
          <a:xfrm>
            <a:off x="3179380" y="1529262"/>
            <a:ext cx="4056993" cy="37310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9637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D90A3-EFF9-E3FC-D1D7-9737E62B1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C2C23-49F9-C77E-4C2C-72424AE3E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2662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Calibir"/>
              </a:rPr>
              <a:t>From UML Diagram to Code: Library Example (</a:t>
            </a:r>
            <a:r>
              <a:rPr lang="en-US" sz="3600" b="1" dirty="0">
                <a:highlight>
                  <a:srgbClr val="FFFF00"/>
                </a:highlight>
                <a:latin typeface="Calibir"/>
              </a:rPr>
              <a:t>Java</a:t>
            </a:r>
            <a:r>
              <a:rPr lang="en-US" sz="3600" b="1" dirty="0">
                <a:latin typeface="Calibir"/>
              </a:rPr>
              <a:t>)</a:t>
            </a:r>
            <a:endParaRPr lang="en-AU" sz="3600" b="1" dirty="0">
              <a:latin typeface="Calibir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AA9594-D5C0-2472-5912-8D8B54206B10}"/>
              </a:ext>
            </a:extLst>
          </p:cNvPr>
          <p:cNvSpPr/>
          <p:nvPr/>
        </p:nvSpPr>
        <p:spPr>
          <a:xfrm>
            <a:off x="8525675" y="4886722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Member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A59D03D-B0A3-6B52-2996-428CC9714F79}"/>
              </a:ext>
            </a:extLst>
          </p:cNvPr>
          <p:cNvCxnSpPr>
            <a:cxnSpLocks/>
          </p:cNvCxnSpPr>
          <p:nvPr/>
        </p:nvCxnSpPr>
        <p:spPr>
          <a:xfrm>
            <a:off x="9651496" y="5523412"/>
            <a:ext cx="1827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4AA755C-63A8-0ACC-A758-AD64394E353A}"/>
              </a:ext>
            </a:extLst>
          </p:cNvPr>
          <p:cNvCxnSpPr>
            <a:cxnSpLocks/>
          </p:cNvCxnSpPr>
          <p:nvPr/>
        </p:nvCxnSpPr>
        <p:spPr>
          <a:xfrm flipV="1">
            <a:off x="11466933" y="4052391"/>
            <a:ext cx="236134" cy="1771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A7674F1-A09E-2C3E-A59E-E85677766A19}"/>
              </a:ext>
            </a:extLst>
          </p:cNvPr>
          <p:cNvCxnSpPr>
            <a:cxnSpLocks/>
          </p:cNvCxnSpPr>
          <p:nvPr/>
        </p:nvCxnSpPr>
        <p:spPr>
          <a:xfrm>
            <a:off x="11245867" y="4064143"/>
            <a:ext cx="221066" cy="1595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FE5952AD-2A37-B69A-71E6-49C24CE00843}"/>
              </a:ext>
            </a:extLst>
          </p:cNvPr>
          <p:cNvSpPr/>
          <p:nvPr/>
        </p:nvSpPr>
        <p:spPr>
          <a:xfrm>
            <a:off x="11400635" y="4231949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E95B6C-26F0-B33E-684A-9EE16B594D95}"/>
              </a:ext>
            </a:extLst>
          </p:cNvPr>
          <p:cNvCxnSpPr/>
          <p:nvPr/>
        </p:nvCxnSpPr>
        <p:spPr>
          <a:xfrm>
            <a:off x="9706924" y="5342716"/>
            <a:ext cx="0" cy="3284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CCEE429-C86D-1AB3-6EE3-593F442EBE1F}"/>
              </a:ext>
            </a:extLst>
          </p:cNvPr>
          <p:cNvSpPr txBox="1"/>
          <p:nvPr/>
        </p:nvSpPr>
        <p:spPr>
          <a:xfrm>
            <a:off x="10444192" y="4068361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(0, 5)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D9DAF0-2B7F-5C9B-6836-E91B42FF8C7A}"/>
              </a:ext>
            </a:extLst>
          </p:cNvPr>
          <p:cNvSpPr txBox="1"/>
          <p:nvPr/>
        </p:nvSpPr>
        <p:spPr>
          <a:xfrm>
            <a:off x="9232589" y="4434591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(0, 1)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C3FD58-BFC3-4C21-92D7-726E0AE54967}"/>
              </a:ext>
            </a:extLst>
          </p:cNvPr>
          <p:cNvSpPr/>
          <p:nvPr/>
        </p:nvSpPr>
        <p:spPr>
          <a:xfrm>
            <a:off x="8525674" y="2754846"/>
            <a:ext cx="1114097" cy="66102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Library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1EC461-98F8-A4F3-0499-C8B5694BA4CA}"/>
              </a:ext>
            </a:extLst>
          </p:cNvPr>
          <p:cNvSpPr/>
          <p:nvPr/>
        </p:nvSpPr>
        <p:spPr>
          <a:xfrm>
            <a:off x="10921036" y="2765604"/>
            <a:ext cx="1109095" cy="35877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Book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BF28779-C50B-21D9-4DA7-4E347DD864CF}"/>
              </a:ext>
            </a:extLst>
          </p:cNvPr>
          <p:cNvCxnSpPr/>
          <p:nvPr/>
        </p:nvCxnSpPr>
        <p:spPr>
          <a:xfrm>
            <a:off x="9639771" y="3397398"/>
            <a:ext cx="12701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2F2CF15-B22B-B923-6EB8-6BEA44C4653B}"/>
              </a:ext>
            </a:extLst>
          </p:cNvPr>
          <p:cNvCxnSpPr>
            <a:cxnSpLocks/>
          </p:cNvCxnSpPr>
          <p:nvPr/>
        </p:nvCxnSpPr>
        <p:spPr>
          <a:xfrm flipV="1">
            <a:off x="10722336" y="3255507"/>
            <a:ext cx="187549" cy="141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A85EDBC-FA97-78D9-6760-D3D73AF1898F}"/>
              </a:ext>
            </a:extLst>
          </p:cNvPr>
          <p:cNvCxnSpPr>
            <a:cxnSpLocks/>
          </p:cNvCxnSpPr>
          <p:nvPr/>
        </p:nvCxnSpPr>
        <p:spPr>
          <a:xfrm>
            <a:off x="10722336" y="3397398"/>
            <a:ext cx="187549" cy="141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953B5875-6A04-6A80-BFB8-D16FDB0E1B5F}"/>
              </a:ext>
            </a:extLst>
          </p:cNvPr>
          <p:cNvSpPr/>
          <p:nvPr/>
        </p:nvSpPr>
        <p:spPr>
          <a:xfrm>
            <a:off x="10507747" y="3326452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607EF59-D3A2-B4BE-A0DB-EC127D978BCD}"/>
              </a:ext>
            </a:extLst>
          </p:cNvPr>
          <p:cNvCxnSpPr/>
          <p:nvPr/>
        </p:nvCxnSpPr>
        <p:spPr>
          <a:xfrm>
            <a:off x="9706923" y="3210840"/>
            <a:ext cx="0" cy="3284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069DA9E-D588-764A-319C-D49A30BA9C99}"/>
              </a:ext>
            </a:extLst>
          </p:cNvPr>
          <p:cNvSpPr txBox="1"/>
          <p:nvPr/>
        </p:nvSpPr>
        <p:spPr>
          <a:xfrm>
            <a:off x="10352835" y="2302715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(1, M)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DE36F9-6A4B-AD2D-F667-B41806267DE2}"/>
              </a:ext>
            </a:extLst>
          </p:cNvPr>
          <p:cNvSpPr txBox="1"/>
          <p:nvPr/>
        </p:nvSpPr>
        <p:spPr>
          <a:xfrm>
            <a:off x="9232588" y="2302715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(1, 1)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D40DF4-7D6A-CE8A-F468-6145974FE7F7}"/>
              </a:ext>
            </a:extLst>
          </p:cNvPr>
          <p:cNvSpPr/>
          <p:nvPr/>
        </p:nvSpPr>
        <p:spPr>
          <a:xfrm>
            <a:off x="8525673" y="3721237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address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A36A24-801C-2C69-C0F0-294F0F03BB59}"/>
              </a:ext>
            </a:extLst>
          </p:cNvPr>
          <p:cNvSpPr/>
          <p:nvPr/>
        </p:nvSpPr>
        <p:spPr>
          <a:xfrm>
            <a:off x="8525673" y="3415876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name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E00A9B-CF54-0506-795C-ACB8F48CC7E2}"/>
              </a:ext>
            </a:extLst>
          </p:cNvPr>
          <p:cNvSpPr txBox="1"/>
          <p:nvPr/>
        </p:nvSpPr>
        <p:spPr>
          <a:xfrm>
            <a:off x="9789637" y="2931791"/>
            <a:ext cx="931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has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9272036-B268-21EE-F9DC-3B432922A466}"/>
              </a:ext>
            </a:extLst>
          </p:cNvPr>
          <p:cNvSpPr/>
          <p:nvPr/>
        </p:nvSpPr>
        <p:spPr>
          <a:xfrm>
            <a:off x="10916035" y="3732869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status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B3408AE-2E60-D6EA-EE1C-A864019B239F}"/>
              </a:ext>
            </a:extLst>
          </p:cNvPr>
          <p:cNvSpPr/>
          <p:nvPr/>
        </p:nvSpPr>
        <p:spPr>
          <a:xfrm>
            <a:off x="10916035" y="3427508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isbn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11691E-DE14-ADA1-30E6-C8B79B6FA328}"/>
              </a:ext>
            </a:extLst>
          </p:cNvPr>
          <p:cNvSpPr/>
          <p:nvPr/>
        </p:nvSpPr>
        <p:spPr>
          <a:xfrm>
            <a:off x="10916034" y="3124375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title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3189CD5-D8F8-61A6-11E2-F412CFB8970A}"/>
              </a:ext>
            </a:extLst>
          </p:cNvPr>
          <p:cNvCxnSpPr>
            <a:cxnSpLocks/>
            <a:endCxn id="28" idx="2"/>
          </p:cNvCxnSpPr>
          <p:nvPr/>
        </p:nvCxnSpPr>
        <p:spPr>
          <a:xfrm flipH="1" flipV="1">
            <a:off x="11473084" y="4038228"/>
            <a:ext cx="1383" cy="14813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D26E7E8-490E-2E5C-5490-CC2DFF536720}"/>
              </a:ext>
            </a:extLst>
          </p:cNvPr>
          <p:cNvSpPr txBox="1"/>
          <p:nvPr/>
        </p:nvSpPr>
        <p:spPr>
          <a:xfrm>
            <a:off x="9809223" y="5012347"/>
            <a:ext cx="2382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Borrowed by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AFD0462-B532-E9AD-6A63-01137EC62919}"/>
              </a:ext>
            </a:extLst>
          </p:cNvPr>
          <p:cNvSpPr/>
          <p:nvPr/>
        </p:nvSpPr>
        <p:spPr>
          <a:xfrm>
            <a:off x="8526248" y="5761015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email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4B931CD-829D-7C34-AFED-A1B9216F19CF}"/>
              </a:ext>
            </a:extLst>
          </p:cNvPr>
          <p:cNvSpPr/>
          <p:nvPr/>
        </p:nvSpPr>
        <p:spPr>
          <a:xfrm>
            <a:off x="8526248" y="5477956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name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42E24E2-2488-8DA2-C9CB-AF7171FF085E}"/>
              </a:ext>
            </a:extLst>
          </p:cNvPr>
          <p:cNvSpPr/>
          <p:nvPr/>
        </p:nvSpPr>
        <p:spPr>
          <a:xfrm>
            <a:off x="8526247" y="5174823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62744A6-1648-F219-5954-10E1E7A65D1D}"/>
              </a:ext>
            </a:extLst>
          </p:cNvPr>
          <p:cNvSpPr/>
          <p:nvPr/>
        </p:nvSpPr>
        <p:spPr>
          <a:xfrm>
            <a:off x="8530207" y="6474818"/>
            <a:ext cx="1109564" cy="41343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Return(Book)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BC7B6A7-E226-3794-AAEE-DDED19725331}"/>
              </a:ext>
            </a:extLst>
          </p:cNvPr>
          <p:cNvSpPr/>
          <p:nvPr/>
        </p:nvSpPr>
        <p:spPr>
          <a:xfrm>
            <a:off x="8525673" y="6057190"/>
            <a:ext cx="1114097" cy="41343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Borrow(Book)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38CBD6-7E3B-2EE6-0095-8F88C31AFF19}"/>
              </a:ext>
            </a:extLst>
          </p:cNvPr>
          <p:cNvSpPr txBox="1"/>
          <p:nvPr/>
        </p:nvSpPr>
        <p:spPr>
          <a:xfrm>
            <a:off x="85755" y="672662"/>
            <a:ext cx="8346010" cy="397031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import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java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util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ArrayList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import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java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util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List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title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isbn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status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"available"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"available" or "borrowed"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Member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borrowedBy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    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which Member has borrowed it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title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isbn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title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title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isbn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isbn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0CB3C05-BD4B-CFF8-9E00-EFAB3E918ACF}"/>
              </a:ext>
            </a:extLst>
          </p:cNvPr>
          <p:cNvSpPr txBox="1"/>
          <p:nvPr/>
        </p:nvSpPr>
        <p:spPr>
          <a:xfrm>
            <a:off x="3294" y="4642981"/>
            <a:ext cx="8352928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Book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Keeps the title, ISBN, whether it’s available or borrowed, and (if borrowed) which member has it.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6566C62-3BD4-C0CA-23F6-2D535296658C}"/>
              </a:ext>
            </a:extLst>
          </p:cNvPr>
          <p:cNvSpPr/>
          <p:nvPr/>
        </p:nvSpPr>
        <p:spPr>
          <a:xfrm>
            <a:off x="9798306" y="5462328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3504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A4483-44C9-5506-9363-180800DE2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1FB1C-FE34-9AA1-5D30-E3D132215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2662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Calibir"/>
              </a:rPr>
              <a:t>From UML Diagram to Code: Library Example (</a:t>
            </a:r>
            <a:r>
              <a:rPr lang="en-US" sz="3600" b="1" dirty="0">
                <a:highlight>
                  <a:srgbClr val="FFFF00"/>
                </a:highlight>
                <a:latin typeface="Calibir"/>
              </a:rPr>
              <a:t>Java</a:t>
            </a:r>
            <a:r>
              <a:rPr lang="en-US" sz="3600" b="1" dirty="0">
                <a:latin typeface="Calibir"/>
              </a:rPr>
              <a:t>)</a:t>
            </a:r>
            <a:endParaRPr lang="en-AU" sz="3600" b="1" dirty="0">
              <a:latin typeface="Calibir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2860A33-5421-BA5D-2F03-221E2955785D}"/>
              </a:ext>
            </a:extLst>
          </p:cNvPr>
          <p:cNvSpPr txBox="1"/>
          <p:nvPr/>
        </p:nvSpPr>
        <p:spPr>
          <a:xfrm>
            <a:off x="85754" y="672662"/>
            <a:ext cx="8299962" cy="313932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Member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email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List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borrowedBooks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ArrayList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&lt;&gt;();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Member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email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email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email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}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21532FA-FF24-3D0A-C3DE-2A5C5C864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49" y="3873916"/>
            <a:ext cx="5757746" cy="19645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Member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Stores id, name, email, and a list of books they currently hold.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C59736-2463-BDC9-CE88-A9CB1AF2F813}"/>
              </a:ext>
            </a:extLst>
          </p:cNvPr>
          <p:cNvSpPr/>
          <p:nvPr/>
        </p:nvSpPr>
        <p:spPr>
          <a:xfrm>
            <a:off x="8525675" y="4886722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Member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9EA9C18-BAA8-8908-DAE9-532D3D576BB8}"/>
              </a:ext>
            </a:extLst>
          </p:cNvPr>
          <p:cNvCxnSpPr>
            <a:cxnSpLocks/>
          </p:cNvCxnSpPr>
          <p:nvPr/>
        </p:nvCxnSpPr>
        <p:spPr>
          <a:xfrm>
            <a:off x="9651496" y="5523412"/>
            <a:ext cx="1827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9613024-BC44-7601-31F3-869545672BD7}"/>
              </a:ext>
            </a:extLst>
          </p:cNvPr>
          <p:cNvCxnSpPr>
            <a:cxnSpLocks/>
          </p:cNvCxnSpPr>
          <p:nvPr/>
        </p:nvCxnSpPr>
        <p:spPr>
          <a:xfrm flipV="1">
            <a:off x="11466933" y="4052391"/>
            <a:ext cx="236134" cy="1771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E90EF70-CF51-6B11-083A-723A8D1E3055}"/>
              </a:ext>
            </a:extLst>
          </p:cNvPr>
          <p:cNvCxnSpPr>
            <a:cxnSpLocks/>
          </p:cNvCxnSpPr>
          <p:nvPr/>
        </p:nvCxnSpPr>
        <p:spPr>
          <a:xfrm>
            <a:off x="11245867" y="4064143"/>
            <a:ext cx="221066" cy="1595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5B6E2996-02DC-9C66-49C5-C72908CE2052}"/>
              </a:ext>
            </a:extLst>
          </p:cNvPr>
          <p:cNvSpPr/>
          <p:nvPr/>
        </p:nvSpPr>
        <p:spPr>
          <a:xfrm>
            <a:off x="11400635" y="4231949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36B511-6CA5-3A03-CCF0-7E690767C1B6}"/>
              </a:ext>
            </a:extLst>
          </p:cNvPr>
          <p:cNvCxnSpPr/>
          <p:nvPr/>
        </p:nvCxnSpPr>
        <p:spPr>
          <a:xfrm>
            <a:off x="9706924" y="5342716"/>
            <a:ext cx="0" cy="3284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1176AC7-1F1F-A0DE-0E86-5C7C61ABC5F7}"/>
              </a:ext>
            </a:extLst>
          </p:cNvPr>
          <p:cNvSpPr txBox="1"/>
          <p:nvPr/>
        </p:nvSpPr>
        <p:spPr>
          <a:xfrm>
            <a:off x="10444192" y="4068361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(0, 5)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56B8FF-E644-062F-CE50-632D589D31AB}"/>
              </a:ext>
            </a:extLst>
          </p:cNvPr>
          <p:cNvSpPr txBox="1"/>
          <p:nvPr/>
        </p:nvSpPr>
        <p:spPr>
          <a:xfrm>
            <a:off x="9232589" y="4434591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(0, 1)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4BA679-8EFA-92BC-A26E-B1416500A01D}"/>
              </a:ext>
            </a:extLst>
          </p:cNvPr>
          <p:cNvSpPr/>
          <p:nvPr/>
        </p:nvSpPr>
        <p:spPr>
          <a:xfrm>
            <a:off x="8525674" y="2754846"/>
            <a:ext cx="1114097" cy="66102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Library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35A30D-BFEA-2A76-DDC6-5943A3B3D85A}"/>
              </a:ext>
            </a:extLst>
          </p:cNvPr>
          <p:cNvSpPr/>
          <p:nvPr/>
        </p:nvSpPr>
        <p:spPr>
          <a:xfrm>
            <a:off x="10921036" y="2765604"/>
            <a:ext cx="1109095" cy="35877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Book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4DD7B3-BAFB-B01C-FE5D-7D4F98939D80}"/>
              </a:ext>
            </a:extLst>
          </p:cNvPr>
          <p:cNvCxnSpPr/>
          <p:nvPr/>
        </p:nvCxnSpPr>
        <p:spPr>
          <a:xfrm>
            <a:off x="9639771" y="3397398"/>
            <a:ext cx="12701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0988667-F573-4D67-6A83-AC4AA8162E7C}"/>
              </a:ext>
            </a:extLst>
          </p:cNvPr>
          <p:cNvCxnSpPr>
            <a:cxnSpLocks/>
          </p:cNvCxnSpPr>
          <p:nvPr/>
        </p:nvCxnSpPr>
        <p:spPr>
          <a:xfrm flipV="1">
            <a:off x="10722336" y="3255507"/>
            <a:ext cx="187549" cy="141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50E8058-DA9F-3EDB-F369-E404D38D0080}"/>
              </a:ext>
            </a:extLst>
          </p:cNvPr>
          <p:cNvCxnSpPr>
            <a:cxnSpLocks/>
          </p:cNvCxnSpPr>
          <p:nvPr/>
        </p:nvCxnSpPr>
        <p:spPr>
          <a:xfrm>
            <a:off x="10722336" y="3397398"/>
            <a:ext cx="187549" cy="141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9FB79533-F81B-9916-3950-E88D070CB706}"/>
              </a:ext>
            </a:extLst>
          </p:cNvPr>
          <p:cNvSpPr/>
          <p:nvPr/>
        </p:nvSpPr>
        <p:spPr>
          <a:xfrm>
            <a:off x="10507747" y="3326452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E527D46-E06F-FCBD-2E07-6058559F5CCA}"/>
              </a:ext>
            </a:extLst>
          </p:cNvPr>
          <p:cNvCxnSpPr/>
          <p:nvPr/>
        </p:nvCxnSpPr>
        <p:spPr>
          <a:xfrm>
            <a:off x="9706923" y="3210840"/>
            <a:ext cx="0" cy="3284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73DA8CF-262C-DDBF-9982-9DA805CFF5BA}"/>
              </a:ext>
            </a:extLst>
          </p:cNvPr>
          <p:cNvSpPr txBox="1"/>
          <p:nvPr/>
        </p:nvSpPr>
        <p:spPr>
          <a:xfrm>
            <a:off x="10352835" y="2302715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(1, M)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3ECC9C-43B4-EE61-35C8-78A90A2F4189}"/>
              </a:ext>
            </a:extLst>
          </p:cNvPr>
          <p:cNvSpPr txBox="1"/>
          <p:nvPr/>
        </p:nvSpPr>
        <p:spPr>
          <a:xfrm>
            <a:off x="9232588" y="2302715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(1, 1)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977389-8C59-BE53-57BE-9A587C2F4352}"/>
              </a:ext>
            </a:extLst>
          </p:cNvPr>
          <p:cNvSpPr/>
          <p:nvPr/>
        </p:nvSpPr>
        <p:spPr>
          <a:xfrm>
            <a:off x="8525673" y="3721237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address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60107EE-85A2-A86B-71DD-C8A7950D842B}"/>
              </a:ext>
            </a:extLst>
          </p:cNvPr>
          <p:cNvSpPr/>
          <p:nvPr/>
        </p:nvSpPr>
        <p:spPr>
          <a:xfrm>
            <a:off x="8525673" y="3415876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name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552B75-5297-738D-E5F1-B85A1A97F5CC}"/>
              </a:ext>
            </a:extLst>
          </p:cNvPr>
          <p:cNvSpPr txBox="1"/>
          <p:nvPr/>
        </p:nvSpPr>
        <p:spPr>
          <a:xfrm>
            <a:off x="9789637" y="2931791"/>
            <a:ext cx="931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has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3ECC944-9E00-5B1E-42D9-B296CAE28F0A}"/>
              </a:ext>
            </a:extLst>
          </p:cNvPr>
          <p:cNvSpPr/>
          <p:nvPr/>
        </p:nvSpPr>
        <p:spPr>
          <a:xfrm>
            <a:off x="10916035" y="3732869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status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E04C264-5B5C-AC27-F4F9-BCD088D3F372}"/>
              </a:ext>
            </a:extLst>
          </p:cNvPr>
          <p:cNvSpPr/>
          <p:nvPr/>
        </p:nvSpPr>
        <p:spPr>
          <a:xfrm>
            <a:off x="10916035" y="3427508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isbn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ED389BB-722D-F3FF-CE0D-4D39D08C5AB5}"/>
              </a:ext>
            </a:extLst>
          </p:cNvPr>
          <p:cNvSpPr/>
          <p:nvPr/>
        </p:nvSpPr>
        <p:spPr>
          <a:xfrm>
            <a:off x="10916034" y="3124375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title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2B4AA52-0A48-4C9B-E7F9-7AA14A7B9CC8}"/>
              </a:ext>
            </a:extLst>
          </p:cNvPr>
          <p:cNvCxnSpPr>
            <a:cxnSpLocks/>
            <a:endCxn id="24" idx="2"/>
          </p:cNvCxnSpPr>
          <p:nvPr/>
        </p:nvCxnSpPr>
        <p:spPr>
          <a:xfrm flipH="1" flipV="1">
            <a:off x="11473084" y="4038228"/>
            <a:ext cx="1383" cy="14813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078FA1E-689F-8834-842D-7FD4D671E0BB}"/>
              </a:ext>
            </a:extLst>
          </p:cNvPr>
          <p:cNvSpPr txBox="1"/>
          <p:nvPr/>
        </p:nvSpPr>
        <p:spPr>
          <a:xfrm>
            <a:off x="9809223" y="5012347"/>
            <a:ext cx="2382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Borrowed by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2DCC3C8-5CD3-2714-9AED-D51268325683}"/>
              </a:ext>
            </a:extLst>
          </p:cNvPr>
          <p:cNvSpPr/>
          <p:nvPr/>
        </p:nvSpPr>
        <p:spPr>
          <a:xfrm>
            <a:off x="8526248" y="5761015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email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BDE59BB-4E10-632A-B706-B99F95C96392}"/>
              </a:ext>
            </a:extLst>
          </p:cNvPr>
          <p:cNvSpPr/>
          <p:nvPr/>
        </p:nvSpPr>
        <p:spPr>
          <a:xfrm>
            <a:off x="8526248" y="5477956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name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ECBD4F7-AC86-2AA6-60E4-C4CECCA9DB8A}"/>
              </a:ext>
            </a:extLst>
          </p:cNvPr>
          <p:cNvSpPr/>
          <p:nvPr/>
        </p:nvSpPr>
        <p:spPr>
          <a:xfrm>
            <a:off x="8526247" y="5174823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BC13D67-D020-E163-F5EB-7106D8E47592}"/>
              </a:ext>
            </a:extLst>
          </p:cNvPr>
          <p:cNvSpPr/>
          <p:nvPr/>
        </p:nvSpPr>
        <p:spPr>
          <a:xfrm>
            <a:off x="8530207" y="6474818"/>
            <a:ext cx="1109564" cy="41343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Return(Book)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D17644A-10BE-833B-8356-7FAFA07983FD}"/>
              </a:ext>
            </a:extLst>
          </p:cNvPr>
          <p:cNvSpPr/>
          <p:nvPr/>
        </p:nvSpPr>
        <p:spPr>
          <a:xfrm>
            <a:off x="8525673" y="6057190"/>
            <a:ext cx="1114097" cy="41343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Borrow(Book)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1170931-3D7C-F824-3B7B-45D5BC590138}"/>
              </a:ext>
            </a:extLst>
          </p:cNvPr>
          <p:cNvSpPr/>
          <p:nvPr/>
        </p:nvSpPr>
        <p:spPr>
          <a:xfrm>
            <a:off x="9798306" y="5462328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6100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DF43E-DAE8-5580-A35F-2CD4F5D46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521AE-2316-A8D3-B5EF-5FD95232F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2662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Calibir"/>
              </a:rPr>
              <a:t>From UML Diagram to Code: Library Example (</a:t>
            </a:r>
            <a:r>
              <a:rPr lang="en-US" sz="3600" b="1" dirty="0">
                <a:highlight>
                  <a:srgbClr val="FFFF00"/>
                </a:highlight>
                <a:latin typeface="Calibir"/>
              </a:rPr>
              <a:t>Java</a:t>
            </a:r>
            <a:r>
              <a:rPr lang="en-US" sz="3600" b="1" dirty="0">
                <a:latin typeface="Calibir"/>
              </a:rPr>
              <a:t>)</a:t>
            </a:r>
            <a:endParaRPr lang="en-AU" sz="3600" b="1" dirty="0">
              <a:latin typeface="Calibir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0B79378-A833-BB2E-3266-E30C637BAA53}"/>
              </a:ext>
            </a:extLst>
          </p:cNvPr>
          <p:cNvSpPr txBox="1"/>
          <p:nvPr/>
        </p:nvSpPr>
        <p:spPr>
          <a:xfrm>
            <a:off x="85754" y="672662"/>
            <a:ext cx="12106245" cy="569386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void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borrowedBooks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size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&gt;=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System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FC1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out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println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 cannot borrow more than 5 books."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borrowed"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equals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status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System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FC1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out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println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"Book '"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title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"' is already borrowed."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status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"borrowed"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borrowedBy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borrowedBooks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System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FC1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out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println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 borrowed '"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title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"'."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void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returnBook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borrowedBooks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contains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borrowedBooks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remove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status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"available"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borrowedBy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System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FC1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out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println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 returned '"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title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"'."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}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System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FC1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out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println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 does not have '"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title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"'."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A5E8AAF-9A66-FB61-0757-1F40C7F338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2499" y="672662"/>
            <a:ext cx="3969834" cy="613385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borrow(Book)</a:t>
            </a:r>
          </a:p>
          <a:p>
            <a:pPr marL="800100" marR="0" lvl="1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Blocks if the member already has 5 books.</a:t>
            </a:r>
          </a:p>
          <a:p>
            <a:pPr marL="800100" marR="0" lvl="1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Blocks if the book is already borrowed by someone else.</a:t>
            </a:r>
          </a:p>
          <a:p>
            <a:pPr marL="800100" marR="0" lvl="1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Otherwise, marks the book as borrowed, remembers who borrowed it, adds it to the member’s list, and prints a message.</a:t>
            </a:r>
          </a:p>
        </p:txBody>
      </p:sp>
    </p:spTree>
    <p:extLst>
      <p:ext uri="{BB962C8B-B14F-4D97-AF65-F5344CB8AC3E}">
        <p14:creationId xmlns:p14="http://schemas.microsoft.com/office/powerpoint/2010/main" val="730833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90F3E-E7EC-71E2-91EA-758B39939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175CA-DFDD-44CB-BFC8-3CB7C7AAC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2662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Calibir"/>
              </a:rPr>
              <a:t>From UML Diagram to Code: Library Example (</a:t>
            </a:r>
            <a:r>
              <a:rPr lang="en-US" sz="3600" b="1" dirty="0">
                <a:highlight>
                  <a:srgbClr val="FFFF00"/>
                </a:highlight>
                <a:latin typeface="Calibir"/>
              </a:rPr>
              <a:t>Java</a:t>
            </a:r>
            <a:r>
              <a:rPr lang="en-US" sz="3600" b="1" dirty="0">
                <a:latin typeface="Calibir"/>
              </a:rPr>
              <a:t>)</a:t>
            </a:r>
            <a:endParaRPr lang="en-AU" sz="3600" b="1" dirty="0">
              <a:latin typeface="Calibir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7A613ED-729F-CC23-F45F-59E4C0E74A16}"/>
              </a:ext>
            </a:extLst>
          </p:cNvPr>
          <p:cNvSpPr txBox="1"/>
          <p:nvPr/>
        </p:nvSpPr>
        <p:spPr>
          <a:xfrm>
            <a:off x="85754" y="672662"/>
            <a:ext cx="12106245" cy="569386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void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borrowedBooks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size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&gt;=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System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FC1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out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println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 cannot borrow more than 5 books."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borrowed"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equals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status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System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FC1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out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println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"Book '"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title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"' is already borrowed."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status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"borrowed"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borrowedBy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borrowedBooks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System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FC1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out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println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 borrowed '"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title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"'."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void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returnBook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borrowedBooks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contains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borrowedBooks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remove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status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"available"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borrowedBy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System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FC1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out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println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 returned '"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title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"'."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}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System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FC1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out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println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 does not have '"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title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"'."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2B048BE-C035-9454-04A3-8E0F4BDA7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2166" y="672662"/>
            <a:ext cx="3969834" cy="407226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returnBook</a:t>
            </a:r>
            <a:r>
              <a:rPr kumimoji="0" lang="en-US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(Book)</a:t>
            </a: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If the member has that book, it removes it from their list, marks it available, clears the borrower, and prints a message.</a:t>
            </a:r>
          </a:p>
        </p:txBody>
      </p:sp>
    </p:spTree>
    <p:extLst>
      <p:ext uri="{BB962C8B-B14F-4D97-AF65-F5344CB8AC3E}">
        <p14:creationId xmlns:p14="http://schemas.microsoft.com/office/powerpoint/2010/main" val="2410451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2FD36-5AD5-8B40-76EF-85057DEEC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950C1-5065-2C9E-6266-513225E1F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2662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Calibir"/>
              </a:rPr>
              <a:t>From UML Diagram to Code: Library Example (</a:t>
            </a:r>
            <a:r>
              <a:rPr lang="en-US" sz="3600" b="1" dirty="0">
                <a:highlight>
                  <a:srgbClr val="FFFF00"/>
                </a:highlight>
                <a:latin typeface="Calibir"/>
              </a:rPr>
              <a:t>Java</a:t>
            </a:r>
            <a:r>
              <a:rPr lang="en-US" sz="3600" b="1" dirty="0">
                <a:latin typeface="Calibir"/>
              </a:rPr>
              <a:t>)</a:t>
            </a:r>
            <a:endParaRPr lang="en-AU" sz="3600" b="1" dirty="0">
              <a:latin typeface="Calibir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07146B6-E68F-D919-BF92-7B024F961507}"/>
              </a:ext>
            </a:extLst>
          </p:cNvPr>
          <p:cNvSpPr txBox="1"/>
          <p:nvPr/>
        </p:nvSpPr>
        <p:spPr>
          <a:xfrm>
            <a:off x="0" y="672662"/>
            <a:ext cx="8442962" cy="483209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Library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String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String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address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List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ArrayList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&lt;&gt;();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Library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String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String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address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address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address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void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addBook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books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F3B6BF-EA8D-66F1-6DEB-D5045E324B2E}"/>
              </a:ext>
            </a:extLst>
          </p:cNvPr>
          <p:cNvSpPr txBox="1"/>
          <p:nvPr/>
        </p:nvSpPr>
        <p:spPr>
          <a:xfrm>
            <a:off x="8442962" y="672662"/>
            <a:ext cx="3749038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Library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Has a name, address, and a list of books, with a method to add books.</a:t>
            </a:r>
          </a:p>
        </p:txBody>
      </p:sp>
    </p:spTree>
    <p:extLst>
      <p:ext uri="{BB962C8B-B14F-4D97-AF65-F5344CB8AC3E}">
        <p14:creationId xmlns:p14="http://schemas.microsoft.com/office/powerpoint/2010/main" val="1783060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452CF-8A46-8739-6F49-1DC469FDC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6546D-7468-B8D4-A047-6F6E3B606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2662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Calibir"/>
              </a:rPr>
              <a:t>From UML Diagram to Code: Library Example (</a:t>
            </a:r>
            <a:r>
              <a:rPr lang="en-US" sz="3600" b="1" dirty="0">
                <a:highlight>
                  <a:srgbClr val="FFFF00"/>
                </a:highlight>
                <a:latin typeface="Calibir"/>
              </a:rPr>
              <a:t>Java</a:t>
            </a:r>
            <a:r>
              <a:rPr lang="en-US" sz="3600" b="1" dirty="0">
                <a:latin typeface="Calibir"/>
              </a:rPr>
              <a:t>)</a:t>
            </a:r>
            <a:endParaRPr lang="en-AU" sz="3600" b="1" dirty="0">
              <a:latin typeface="Calibir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D96F1EE-C422-A9FC-9DD5-6DE436E527DF}"/>
              </a:ext>
            </a:extLst>
          </p:cNvPr>
          <p:cNvSpPr txBox="1"/>
          <p:nvPr/>
        </p:nvSpPr>
        <p:spPr>
          <a:xfrm>
            <a:off x="0" y="672662"/>
            <a:ext cx="8442962" cy="535531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public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LibrarySystem_Java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public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static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void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main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String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[] </a:t>
            </a:r>
            <a:r>
              <a:rPr kumimoji="0" lang="en-US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args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--- Example usage (matches your Python flow) ---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Library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library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Library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"Sydney Library"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"123 George St"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book1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"Python Basics"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"111"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book2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"Java Programming"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"222"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library</a:t>
            </a:r>
            <a:r>
              <a:rPr kumimoji="0" lang="en-US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addBook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book1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library</a:t>
            </a:r>
            <a:r>
              <a:rPr kumimoji="0" lang="en-US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addBook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book2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Member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member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Member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"Farshid"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"Farshid.Keivanian@uts.edu.au"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member</a:t>
            </a:r>
            <a:r>
              <a:rPr kumimoji="0" lang="en-US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book1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    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 borrow success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member</a:t>
            </a:r>
            <a:r>
              <a:rPr kumimoji="0" lang="en-US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book1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    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 already borrowed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member</a:t>
            </a:r>
            <a:r>
              <a:rPr kumimoji="0" lang="en-US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returnBook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book1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 return success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B1E490-72DC-8030-8EC5-1776AE025B62}"/>
              </a:ext>
            </a:extLst>
          </p:cNvPr>
          <p:cNvSpPr txBox="1"/>
          <p:nvPr/>
        </p:nvSpPr>
        <p:spPr>
          <a:xfrm>
            <a:off x="8442962" y="672662"/>
            <a:ext cx="3749038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main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(in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LibrarySystem_Java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)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Creates a Library, some Books, one Member, then demo-borrows and returns.</a:t>
            </a:r>
          </a:p>
        </p:txBody>
      </p:sp>
    </p:spTree>
    <p:extLst>
      <p:ext uri="{BB962C8B-B14F-4D97-AF65-F5344CB8AC3E}">
        <p14:creationId xmlns:p14="http://schemas.microsoft.com/office/powerpoint/2010/main" val="21519214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CBA18-394E-3996-BAAC-C6E59A803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A4FEE-5BAF-303B-133A-252D70CA9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2662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Calibir"/>
              </a:rPr>
              <a:t>From UML Diagram to Code: Library Example (</a:t>
            </a:r>
            <a:r>
              <a:rPr lang="en-US" sz="3600" b="1" dirty="0">
                <a:highlight>
                  <a:srgbClr val="FFFF00"/>
                </a:highlight>
                <a:latin typeface="Calibir"/>
              </a:rPr>
              <a:t>Java</a:t>
            </a:r>
            <a:r>
              <a:rPr lang="en-US" sz="3600" b="1" dirty="0">
                <a:latin typeface="Calibir"/>
              </a:rPr>
              <a:t>)</a:t>
            </a:r>
            <a:endParaRPr lang="en-AU" sz="3600" b="1" dirty="0">
              <a:latin typeface="Calibi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1A5195-22C8-18D7-0D6D-9CCE144C2F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09" r="28434" b="31084"/>
          <a:stretch>
            <a:fillRect/>
          </a:stretch>
        </p:blipFill>
        <p:spPr>
          <a:xfrm>
            <a:off x="0" y="2049771"/>
            <a:ext cx="8725359" cy="4053574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CFA4528A-0CD4-47EB-DE1F-4D8171C66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22513"/>
            <a:ext cx="12192000" cy="547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The 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ir"/>
                <a:ea typeface="+mn-ea"/>
                <a:cs typeface="+mn-cs"/>
              </a:rPr>
              <a:t>Java code 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is also available on GitHub</a:t>
            </a:r>
          </a:p>
        </p:txBody>
      </p:sp>
    </p:spTree>
    <p:extLst>
      <p:ext uri="{BB962C8B-B14F-4D97-AF65-F5344CB8AC3E}">
        <p14:creationId xmlns:p14="http://schemas.microsoft.com/office/powerpoint/2010/main" val="5523998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FD73D-09D6-F218-35F2-12C6781AB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2F907-5EDC-ABF5-01E5-0858176E4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2662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Calibir"/>
              </a:rPr>
              <a:t>From UML Diagram to Code: Library Example (</a:t>
            </a:r>
            <a:r>
              <a:rPr lang="en-US" sz="3600" b="1" dirty="0">
                <a:highlight>
                  <a:srgbClr val="00FF00"/>
                </a:highlight>
                <a:latin typeface="Calibir"/>
              </a:rPr>
              <a:t>Python</a:t>
            </a:r>
            <a:r>
              <a:rPr lang="en-US" sz="3600" b="1" dirty="0">
                <a:latin typeface="Calibir"/>
              </a:rPr>
              <a:t>)</a:t>
            </a:r>
            <a:endParaRPr lang="en-AU" sz="3600" b="1" dirty="0">
              <a:latin typeface="Calibir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9CF10A-4D0C-C7D5-8AFC-0DEBA1D61F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712" b="75068"/>
          <a:stretch>
            <a:fillRect/>
          </a:stretch>
        </p:blipFill>
        <p:spPr>
          <a:xfrm>
            <a:off x="22588" y="1000700"/>
            <a:ext cx="7228387" cy="1709826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8B9D81A-6906-14B1-D739-E4CA901846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9815" b="71821"/>
          <a:stretch>
            <a:fillRect/>
          </a:stretch>
        </p:blipFill>
        <p:spPr>
          <a:xfrm>
            <a:off x="22588" y="4891039"/>
            <a:ext cx="9776149" cy="1932522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AEBE0F51-4C47-30EC-4D56-181FA3D1415A}"/>
              </a:ext>
            </a:extLst>
          </p:cNvPr>
          <p:cNvCxnSpPr>
            <a:endCxn id="24" idx="0"/>
          </p:cNvCxnSpPr>
          <p:nvPr/>
        </p:nvCxnSpPr>
        <p:spPr>
          <a:xfrm rot="16200000" flipH="1">
            <a:off x="3247085" y="3227460"/>
            <a:ext cx="2053275" cy="1273882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31271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8AA7E-30E2-55CD-1861-EB70339C4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0629A-0C93-F4CF-407C-C938EDF4A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2662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Calibir"/>
              </a:rPr>
              <a:t>From UML Diagram to Code: Library Example (</a:t>
            </a:r>
            <a:r>
              <a:rPr lang="en-US" sz="3600" b="1" dirty="0">
                <a:highlight>
                  <a:srgbClr val="00FF00"/>
                </a:highlight>
                <a:latin typeface="Calibir"/>
              </a:rPr>
              <a:t>Python</a:t>
            </a:r>
            <a:r>
              <a:rPr lang="en-US" sz="3600" b="1" dirty="0">
                <a:latin typeface="Calibir"/>
              </a:rPr>
              <a:t>)</a:t>
            </a:r>
            <a:endParaRPr lang="en-AU" sz="3600" b="1" dirty="0">
              <a:latin typeface="Calibi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80D1F9-860D-96E3-0392-D48F8CC1B0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8" t="60979" r="4182" b="19932"/>
          <a:stretch>
            <a:fillRect/>
          </a:stretch>
        </p:blipFill>
        <p:spPr>
          <a:xfrm>
            <a:off x="117986" y="4693311"/>
            <a:ext cx="11564060" cy="13091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A3D799-559F-4F00-6CFE-8AD4DDACD77E}"/>
              </a:ext>
            </a:extLst>
          </p:cNvPr>
          <p:cNvSpPr txBox="1"/>
          <p:nvPr/>
        </p:nvSpPr>
        <p:spPr>
          <a:xfrm>
            <a:off x="21021" y="1020747"/>
            <a:ext cx="8288443" cy="132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Save it as a library system: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library_system.py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i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95458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A558C-09C0-D0CE-97BA-92AF273A0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ABD5231D-3DD7-AC7D-FEFA-7F09CF795C04}"/>
              </a:ext>
            </a:extLst>
          </p:cNvPr>
          <p:cNvSpPr/>
          <p:nvPr/>
        </p:nvSpPr>
        <p:spPr>
          <a:xfrm>
            <a:off x="8525675" y="4886722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Member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850B91A-7108-07BB-ED95-660442CEE311}"/>
              </a:ext>
            </a:extLst>
          </p:cNvPr>
          <p:cNvCxnSpPr>
            <a:cxnSpLocks/>
          </p:cNvCxnSpPr>
          <p:nvPr/>
        </p:nvCxnSpPr>
        <p:spPr>
          <a:xfrm>
            <a:off x="9651496" y="5523412"/>
            <a:ext cx="1827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ECB331E-A527-D3C6-5FEB-1E7B08877AE4}"/>
              </a:ext>
            </a:extLst>
          </p:cNvPr>
          <p:cNvCxnSpPr>
            <a:cxnSpLocks/>
          </p:cNvCxnSpPr>
          <p:nvPr/>
        </p:nvCxnSpPr>
        <p:spPr>
          <a:xfrm flipV="1">
            <a:off x="11466933" y="4052391"/>
            <a:ext cx="236134" cy="1771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FE423DC-295B-BA07-6394-EB6BC24C19A8}"/>
              </a:ext>
            </a:extLst>
          </p:cNvPr>
          <p:cNvCxnSpPr>
            <a:cxnSpLocks/>
          </p:cNvCxnSpPr>
          <p:nvPr/>
        </p:nvCxnSpPr>
        <p:spPr>
          <a:xfrm>
            <a:off x="11245867" y="4064143"/>
            <a:ext cx="221066" cy="1595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A488EFA3-9088-2659-EB03-88F468349480}"/>
              </a:ext>
            </a:extLst>
          </p:cNvPr>
          <p:cNvSpPr/>
          <p:nvPr/>
        </p:nvSpPr>
        <p:spPr>
          <a:xfrm>
            <a:off x="11400635" y="4231949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19FA40B-F908-85AE-2783-D97292BFAB98}"/>
              </a:ext>
            </a:extLst>
          </p:cNvPr>
          <p:cNvCxnSpPr/>
          <p:nvPr/>
        </p:nvCxnSpPr>
        <p:spPr>
          <a:xfrm>
            <a:off x="9706924" y="5342716"/>
            <a:ext cx="0" cy="3284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BF68D6C-7557-A424-F04A-7C8F9C161CF5}"/>
              </a:ext>
            </a:extLst>
          </p:cNvPr>
          <p:cNvSpPr txBox="1"/>
          <p:nvPr/>
        </p:nvSpPr>
        <p:spPr>
          <a:xfrm>
            <a:off x="10444192" y="4068361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(0, 5)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CF221F5-05F3-2496-72D0-4A799E2AF2DA}"/>
              </a:ext>
            </a:extLst>
          </p:cNvPr>
          <p:cNvSpPr txBox="1"/>
          <p:nvPr/>
        </p:nvSpPr>
        <p:spPr>
          <a:xfrm>
            <a:off x="9232589" y="4434591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(0, 1)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045C1E7-07AE-12D2-1637-135985A2CB0D}"/>
              </a:ext>
            </a:extLst>
          </p:cNvPr>
          <p:cNvSpPr/>
          <p:nvPr/>
        </p:nvSpPr>
        <p:spPr>
          <a:xfrm>
            <a:off x="8525674" y="2754846"/>
            <a:ext cx="1114097" cy="66102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Library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AAF5BCD-ABB2-7AFE-83FA-4596E14DD661}"/>
              </a:ext>
            </a:extLst>
          </p:cNvPr>
          <p:cNvSpPr/>
          <p:nvPr/>
        </p:nvSpPr>
        <p:spPr>
          <a:xfrm>
            <a:off x="10921036" y="2765604"/>
            <a:ext cx="1109095" cy="35877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Book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DCBDDA1-E35F-8DC7-4B40-E18E1A6BD37A}"/>
              </a:ext>
            </a:extLst>
          </p:cNvPr>
          <p:cNvCxnSpPr/>
          <p:nvPr/>
        </p:nvCxnSpPr>
        <p:spPr>
          <a:xfrm>
            <a:off x="9639771" y="3397398"/>
            <a:ext cx="12701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0532C1B-10EF-636A-2FB9-2CAB783638B3}"/>
              </a:ext>
            </a:extLst>
          </p:cNvPr>
          <p:cNvCxnSpPr>
            <a:cxnSpLocks/>
          </p:cNvCxnSpPr>
          <p:nvPr/>
        </p:nvCxnSpPr>
        <p:spPr>
          <a:xfrm flipV="1">
            <a:off x="10722336" y="3255507"/>
            <a:ext cx="187549" cy="141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D8C7DB7-B76E-9023-2F8E-66AE99AA8DC6}"/>
              </a:ext>
            </a:extLst>
          </p:cNvPr>
          <p:cNvCxnSpPr>
            <a:cxnSpLocks/>
          </p:cNvCxnSpPr>
          <p:nvPr/>
        </p:nvCxnSpPr>
        <p:spPr>
          <a:xfrm>
            <a:off x="10722336" y="3397398"/>
            <a:ext cx="187549" cy="141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BB7B0BA8-01B4-0642-FEE2-40CEA047A15C}"/>
              </a:ext>
            </a:extLst>
          </p:cNvPr>
          <p:cNvSpPr/>
          <p:nvPr/>
        </p:nvSpPr>
        <p:spPr>
          <a:xfrm>
            <a:off x="10507747" y="3326452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F510A2C-88D2-01A9-E445-A9BC07D75265}"/>
              </a:ext>
            </a:extLst>
          </p:cNvPr>
          <p:cNvCxnSpPr/>
          <p:nvPr/>
        </p:nvCxnSpPr>
        <p:spPr>
          <a:xfrm>
            <a:off x="9706923" y="3210840"/>
            <a:ext cx="0" cy="3284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AD7ACF28-DE2F-65D5-0E8D-5B9F9C92E61C}"/>
              </a:ext>
            </a:extLst>
          </p:cNvPr>
          <p:cNvSpPr txBox="1"/>
          <p:nvPr/>
        </p:nvSpPr>
        <p:spPr>
          <a:xfrm>
            <a:off x="10352835" y="2302715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(1, M)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79A45D5-1820-0864-B142-340C3F059914}"/>
              </a:ext>
            </a:extLst>
          </p:cNvPr>
          <p:cNvSpPr txBox="1"/>
          <p:nvPr/>
        </p:nvSpPr>
        <p:spPr>
          <a:xfrm>
            <a:off x="9232588" y="2302715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(1, 1)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4C19122-568E-7C0C-CAD8-743896A7CA9D}"/>
              </a:ext>
            </a:extLst>
          </p:cNvPr>
          <p:cNvSpPr/>
          <p:nvPr/>
        </p:nvSpPr>
        <p:spPr>
          <a:xfrm>
            <a:off x="8525673" y="3721237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address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C28BB61-7B7D-CED2-6907-E1324B12EE62}"/>
              </a:ext>
            </a:extLst>
          </p:cNvPr>
          <p:cNvSpPr/>
          <p:nvPr/>
        </p:nvSpPr>
        <p:spPr>
          <a:xfrm>
            <a:off x="8525673" y="3415876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name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087492E-BAAC-AF0C-0A7F-43816D176C9B}"/>
              </a:ext>
            </a:extLst>
          </p:cNvPr>
          <p:cNvSpPr txBox="1"/>
          <p:nvPr/>
        </p:nvSpPr>
        <p:spPr>
          <a:xfrm>
            <a:off x="9789637" y="2931791"/>
            <a:ext cx="931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has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53B096-5405-9544-BC58-40C65782E799}"/>
              </a:ext>
            </a:extLst>
          </p:cNvPr>
          <p:cNvSpPr/>
          <p:nvPr/>
        </p:nvSpPr>
        <p:spPr>
          <a:xfrm>
            <a:off x="10916035" y="3732869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status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DF50D1A-D876-A6E0-B02F-21D74F58FD8D}"/>
              </a:ext>
            </a:extLst>
          </p:cNvPr>
          <p:cNvSpPr/>
          <p:nvPr/>
        </p:nvSpPr>
        <p:spPr>
          <a:xfrm>
            <a:off x="10916035" y="3427508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isbn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A468020-93C5-6675-0685-162C12F5720D}"/>
              </a:ext>
            </a:extLst>
          </p:cNvPr>
          <p:cNvSpPr/>
          <p:nvPr/>
        </p:nvSpPr>
        <p:spPr>
          <a:xfrm>
            <a:off x="10916034" y="3124375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title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958406E-603B-0780-FBE0-C3D8437F98F8}"/>
              </a:ext>
            </a:extLst>
          </p:cNvPr>
          <p:cNvCxnSpPr>
            <a:cxnSpLocks/>
            <a:endCxn id="61" idx="2"/>
          </p:cNvCxnSpPr>
          <p:nvPr/>
        </p:nvCxnSpPr>
        <p:spPr>
          <a:xfrm flipH="1" flipV="1">
            <a:off x="11473084" y="4038228"/>
            <a:ext cx="1383" cy="14813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22211B5A-E2C6-9C36-2207-755D118083FE}"/>
              </a:ext>
            </a:extLst>
          </p:cNvPr>
          <p:cNvSpPr txBox="1"/>
          <p:nvPr/>
        </p:nvSpPr>
        <p:spPr>
          <a:xfrm>
            <a:off x="9809223" y="5012347"/>
            <a:ext cx="2382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Borrowed by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16B84CC-AE6F-4038-1C21-BEA4696A07AC}"/>
              </a:ext>
            </a:extLst>
          </p:cNvPr>
          <p:cNvSpPr/>
          <p:nvPr/>
        </p:nvSpPr>
        <p:spPr>
          <a:xfrm>
            <a:off x="8526248" y="5761015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email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8B7A9D3-044B-D683-521E-37F9BCD827C2}"/>
              </a:ext>
            </a:extLst>
          </p:cNvPr>
          <p:cNvSpPr/>
          <p:nvPr/>
        </p:nvSpPr>
        <p:spPr>
          <a:xfrm>
            <a:off x="8526248" y="5477956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name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23C8F2F-59BB-70D8-7077-291491673EE5}"/>
              </a:ext>
            </a:extLst>
          </p:cNvPr>
          <p:cNvSpPr/>
          <p:nvPr/>
        </p:nvSpPr>
        <p:spPr>
          <a:xfrm>
            <a:off x="8526247" y="5174823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id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63D59C3-7CF7-0CFF-8D0A-04F1246A0090}"/>
              </a:ext>
            </a:extLst>
          </p:cNvPr>
          <p:cNvSpPr/>
          <p:nvPr/>
        </p:nvSpPr>
        <p:spPr>
          <a:xfrm>
            <a:off x="8530207" y="6474818"/>
            <a:ext cx="1109564" cy="41343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Return(Book)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84934F2-07BB-447F-C60E-C2E807E09B78}"/>
              </a:ext>
            </a:extLst>
          </p:cNvPr>
          <p:cNvSpPr/>
          <p:nvPr/>
        </p:nvSpPr>
        <p:spPr>
          <a:xfrm>
            <a:off x="8525673" y="6057190"/>
            <a:ext cx="1114097" cy="41343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Borrow(Book)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5E4221-1049-8554-D759-14762B830D75}"/>
              </a:ext>
            </a:extLst>
          </p:cNvPr>
          <p:cNvSpPr txBox="1"/>
          <p:nvPr/>
        </p:nvSpPr>
        <p:spPr>
          <a:xfrm>
            <a:off x="9607" y="0"/>
            <a:ext cx="12192000" cy="240065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def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__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init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__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title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isbn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title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title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isbn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isbn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status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"available"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 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available or borrowed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borrowed_by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4FC1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None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   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which Member has borrowed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A909801-9E74-29FC-4513-7A29E461A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7" y="2524384"/>
            <a:ext cx="8392747" cy="1964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Book class</a:t>
            </a:r>
          </a:p>
          <a:p>
            <a:pPr marL="722313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Has a title,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isbn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, and status (available or borrowed).</a:t>
            </a:r>
          </a:p>
          <a:p>
            <a:pPr marL="722313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Keeps track of who borrowed it (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borrowed_by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).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31CD46D-0CA6-339F-103D-BDB21EC45F15}"/>
              </a:ext>
            </a:extLst>
          </p:cNvPr>
          <p:cNvSpPr/>
          <p:nvPr/>
        </p:nvSpPr>
        <p:spPr>
          <a:xfrm>
            <a:off x="9798306" y="5462328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4094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5D48F-0094-280F-C219-55067166D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F5A2EECE-0280-486F-75A9-E89B944E40C2}"/>
              </a:ext>
            </a:extLst>
          </p:cNvPr>
          <p:cNvSpPr/>
          <p:nvPr/>
        </p:nvSpPr>
        <p:spPr>
          <a:xfrm>
            <a:off x="8525675" y="4886722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Member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96E63DB-98A4-DD72-D27B-8EE18013FD53}"/>
              </a:ext>
            </a:extLst>
          </p:cNvPr>
          <p:cNvCxnSpPr>
            <a:cxnSpLocks/>
          </p:cNvCxnSpPr>
          <p:nvPr/>
        </p:nvCxnSpPr>
        <p:spPr>
          <a:xfrm>
            <a:off x="9651496" y="5523412"/>
            <a:ext cx="1827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9ECF884-D0C2-5E9F-7C87-2DAFD9361728}"/>
              </a:ext>
            </a:extLst>
          </p:cNvPr>
          <p:cNvCxnSpPr>
            <a:cxnSpLocks/>
          </p:cNvCxnSpPr>
          <p:nvPr/>
        </p:nvCxnSpPr>
        <p:spPr>
          <a:xfrm flipV="1">
            <a:off x="11466933" y="4052391"/>
            <a:ext cx="236134" cy="1771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279F337-E7C9-D57E-512A-3A644FB5044E}"/>
              </a:ext>
            </a:extLst>
          </p:cNvPr>
          <p:cNvCxnSpPr>
            <a:cxnSpLocks/>
          </p:cNvCxnSpPr>
          <p:nvPr/>
        </p:nvCxnSpPr>
        <p:spPr>
          <a:xfrm>
            <a:off x="11245867" y="4064143"/>
            <a:ext cx="221066" cy="1595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F820F96C-F4BF-E1F6-2C87-F44B1D97D5E9}"/>
              </a:ext>
            </a:extLst>
          </p:cNvPr>
          <p:cNvSpPr/>
          <p:nvPr/>
        </p:nvSpPr>
        <p:spPr>
          <a:xfrm>
            <a:off x="11400635" y="4231949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42703B1-856C-0263-F33A-3F04E1E26C3D}"/>
              </a:ext>
            </a:extLst>
          </p:cNvPr>
          <p:cNvCxnSpPr/>
          <p:nvPr/>
        </p:nvCxnSpPr>
        <p:spPr>
          <a:xfrm>
            <a:off x="9706924" y="5342716"/>
            <a:ext cx="0" cy="3284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D1646A6-4AB6-ACD9-992D-3CEE78D76101}"/>
              </a:ext>
            </a:extLst>
          </p:cNvPr>
          <p:cNvSpPr txBox="1"/>
          <p:nvPr/>
        </p:nvSpPr>
        <p:spPr>
          <a:xfrm>
            <a:off x="10444192" y="4068361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(0, 5)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434D800-D08D-8D47-D256-375EE2DA39D4}"/>
              </a:ext>
            </a:extLst>
          </p:cNvPr>
          <p:cNvSpPr txBox="1"/>
          <p:nvPr/>
        </p:nvSpPr>
        <p:spPr>
          <a:xfrm>
            <a:off x="9232589" y="4434591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(0, 1)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AB4B610-16AC-C81D-62EF-DBAFE88561B6}"/>
              </a:ext>
            </a:extLst>
          </p:cNvPr>
          <p:cNvSpPr/>
          <p:nvPr/>
        </p:nvSpPr>
        <p:spPr>
          <a:xfrm>
            <a:off x="8525674" y="2754846"/>
            <a:ext cx="1114097" cy="66102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Library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8387B47-A315-99BE-968B-F86111528D41}"/>
              </a:ext>
            </a:extLst>
          </p:cNvPr>
          <p:cNvSpPr/>
          <p:nvPr/>
        </p:nvSpPr>
        <p:spPr>
          <a:xfrm>
            <a:off x="10921036" y="2765604"/>
            <a:ext cx="1109095" cy="35877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Book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26CD0D-129C-AFEC-6873-F3D16DAA75AC}"/>
              </a:ext>
            </a:extLst>
          </p:cNvPr>
          <p:cNvCxnSpPr/>
          <p:nvPr/>
        </p:nvCxnSpPr>
        <p:spPr>
          <a:xfrm>
            <a:off x="9639771" y="3397398"/>
            <a:ext cx="12701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DFF4E6F-7A25-AF78-CEDB-D8C9093D8D1F}"/>
              </a:ext>
            </a:extLst>
          </p:cNvPr>
          <p:cNvCxnSpPr>
            <a:cxnSpLocks/>
          </p:cNvCxnSpPr>
          <p:nvPr/>
        </p:nvCxnSpPr>
        <p:spPr>
          <a:xfrm flipV="1">
            <a:off x="10722336" y="3255507"/>
            <a:ext cx="187549" cy="141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D32B19E-7F16-823F-A747-72D0AE776FA1}"/>
              </a:ext>
            </a:extLst>
          </p:cNvPr>
          <p:cNvCxnSpPr>
            <a:cxnSpLocks/>
          </p:cNvCxnSpPr>
          <p:nvPr/>
        </p:nvCxnSpPr>
        <p:spPr>
          <a:xfrm>
            <a:off x="10722336" y="3397398"/>
            <a:ext cx="187549" cy="141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0BAC4716-AFC3-B323-407C-77B30655D89B}"/>
              </a:ext>
            </a:extLst>
          </p:cNvPr>
          <p:cNvSpPr/>
          <p:nvPr/>
        </p:nvSpPr>
        <p:spPr>
          <a:xfrm>
            <a:off x="10507747" y="3326452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4694CB8-4F16-D7F4-1255-8801A404E53E}"/>
              </a:ext>
            </a:extLst>
          </p:cNvPr>
          <p:cNvCxnSpPr/>
          <p:nvPr/>
        </p:nvCxnSpPr>
        <p:spPr>
          <a:xfrm>
            <a:off x="9706923" y="3210840"/>
            <a:ext cx="0" cy="3284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D0DBE21A-5778-EB5D-8C50-3F1250D4D05C}"/>
              </a:ext>
            </a:extLst>
          </p:cNvPr>
          <p:cNvSpPr txBox="1"/>
          <p:nvPr/>
        </p:nvSpPr>
        <p:spPr>
          <a:xfrm>
            <a:off x="10352835" y="2302715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(1, M)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FDCF30B-6EE9-336E-89B1-125A2524C7BB}"/>
              </a:ext>
            </a:extLst>
          </p:cNvPr>
          <p:cNvSpPr txBox="1"/>
          <p:nvPr/>
        </p:nvSpPr>
        <p:spPr>
          <a:xfrm>
            <a:off x="9232588" y="2302715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(1, 1)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4554CB7-6E82-FBA8-1168-1F27477D0238}"/>
              </a:ext>
            </a:extLst>
          </p:cNvPr>
          <p:cNvSpPr/>
          <p:nvPr/>
        </p:nvSpPr>
        <p:spPr>
          <a:xfrm>
            <a:off x="8525673" y="3721237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address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AA8A732-CEC2-1268-C453-D426CB0DBB90}"/>
              </a:ext>
            </a:extLst>
          </p:cNvPr>
          <p:cNvSpPr/>
          <p:nvPr/>
        </p:nvSpPr>
        <p:spPr>
          <a:xfrm>
            <a:off x="8525673" y="3415876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name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18BE188-83E1-225D-0C75-4A28F10E9543}"/>
              </a:ext>
            </a:extLst>
          </p:cNvPr>
          <p:cNvSpPr txBox="1"/>
          <p:nvPr/>
        </p:nvSpPr>
        <p:spPr>
          <a:xfrm>
            <a:off x="9789637" y="2931791"/>
            <a:ext cx="931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has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38E70E7-B707-406E-AB5F-7664251DA7FB}"/>
              </a:ext>
            </a:extLst>
          </p:cNvPr>
          <p:cNvSpPr/>
          <p:nvPr/>
        </p:nvSpPr>
        <p:spPr>
          <a:xfrm>
            <a:off x="10916035" y="3732869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status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CD6D8C3-4A5D-E9D2-6623-5C840BC9D209}"/>
              </a:ext>
            </a:extLst>
          </p:cNvPr>
          <p:cNvSpPr/>
          <p:nvPr/>
        </p:nvSpPr>
        <p:spPr>
          <a:xfrm>
            <a:off x="10916035" y="3427508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isbn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4B7EC65-5939-6144-CB5E-3137F7513794}"/>
              </a:ext>
            </a:extLst>
          </p:cNvPr>
          <p:cNvSpPr/>
          <p:nvPr/>
        </p:nvSpPr>
        <p:spPr>
          <a:xfrm>
            <a:off x="10916034" y="3124375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title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31F5D3F-CD26-2AB5-EF91-FFF545E01A35}"/>
              </a:ext>
            </a:extLst>
          </p:cNvPr>
          <p:cNvCxnSpPr>
            <a:cxnSpLocks/>
            <a:endCxn id="61" idx="2"/>
          </p:cNvCxnSpPr>
          <p:nvPr/>
        </p:nvCxnSpPr>
        <p:spPr>
          <a:xfrm flipH="1" flipV="1">
            <a:off x="11473084" y="4038228"/>
            <a:ext cx="1383" cy="14813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308E4D83-1ECE-6861-415A-3BEAA65065E5}"/>
              </a:ext>
            </a:extLst>
          </p:cNvPr>
          <p:cNvSpPr txBox="1"/>
          <p:nvPr/>
        </p:nvSpPr>
        <p:spPr>
          <a:xfrm>
            <a:off x="9809223" y="5012347"/>
            <a:ext cx="2382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Borrowed by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2196BE1-B7A5-A28F-E76F-E5CD368064B0}"/>
              </a:ext>
            </a:extLst>
          </p:cNvPr>
          <p:cNvSpPr/>
          <p:nvPr/>
        </p:nvSpPr>
        <p:spPr>
          <a:xfrm>
            <a:off x="8526248" y="5761015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email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C88DA65-9F6F-4396-84F8-CDCB8F0F88C0}"/>
              </a:ext>
            </a:extLst>
          </p:cNvPr>
          <p:cNvSpPr/>
          <p:nvPr/>
        </p:nvSpPr>
        <p:spPr>
          <a:xfrm>
            <a:off x="8526248" y="5477956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name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BA26B53-1893-9AC5-5C57-A2284C9D65BE}"/>
              </a:ext>
            </a:extLst>
          </p:cNvPr>
          <p:cNvSpPr/>
          <p:nvPr/>
        </p:nvSpPr>
        <p:spPr>
          <a:xfrm>
            <a:off x="8526247" y="5174823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id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EFAD9CB-59DF-0D57-5845-08EAD31C15DB}"/>
              </a:ext>
            </a:extLst>
          </p:cNvPr>
          <p:cNvSpPr/>
          <p:nvPr/>
        </p:nvSpPr>
        <p:spPr>
          <a:xfrm>
            <a:off x="8530207" y="6474818"/>
            <a:ext cx="1109564" cy="41343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Return(Book)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0FF139A-6E54-17A6-66DF-976D388938BE}"/>
              </a:ext>
            </a:extLst>
          </p:cNvPr>
          <p:cNvSpPr/>
          <p:nvPr/>
        </p:nvSpPr>
        <p:spPr>
          <a:xfrm>
            <a:off x="8525673" y="6057190"/>
            <a:ext cx="1114097" cy="41343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Borrow(Book)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0F1A67-7087-CD7E-DF27-B6D9E47F11D5}"/>
              </a:ext>
            </a:extLst>
          </p:cNvPr>
          <p:cNvSpPr txBox="1"/>
          <p:nvPr/>
        </p:nvSpPr>
        <p:spPr>
          <a:xfrm>
            <a:off x="9606" y="0"/>
            <a:ext cx="12182393" cy="240065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Member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def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__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init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__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member_id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email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member_id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email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email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borrowed_books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[]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B630AC8-B321-EBE9-C2A4-630073DEF8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651" y="2355919"/>
            <a:ext cx="8493501" cy="4517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Member class</a:t>
            </a:r>
            <a:endParaRPr kumimoji="0" lang="en-US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722313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Has an id, name, email.</a:t>
            </a:r>
          </a:p>
          <a:p>
            <a:pPr marL="722313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Can borrow up to 5 books.</a:t>
            </a:r>
          </a:p>
          <a:p>
            <a:pPr marL="722313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borrow(book) → checks if the member already has 5 or if the book is taken.</a:t>
            </a:r>
          </a:p>
          <a:p>
            <a:pPr marL="722313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return_book</a:t>
            </a:r>
            <a:r>
              <a:rPr kumimoji="0" lang="en-US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(book) → removes the book from their list and makes it available again.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9A47EA5-B915-303D-0953-E12CC455F843}"/>
              </a:ext>
            </a:extLst>
          </p:cNvPr>
          <p:cNvSpPr/>
          <p:nvPr/>
        </p:nvSpPr>
        <p:spPr>
          <a:xfrm>
            <a:off x="9798306" y="5462328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76526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AB5C4-7B92-2866-D608-7B2156086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86C4938-88EC-8B09-B0B6-91FCE8BB90CF}"/>
              </a:ext>
            </a:extLst>
          </p:cNvPr>
          <p:cNvSpPr txBox="1"/>
          <p:nvPr/>
        </p:nvSpPr>
        <p:spPr>
          <a:xfrm>
            <a:off x="-10220" y="81294"/>
            <a:ext cx="12187495" cy="381642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def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len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borrowed_books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&gt;=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cannot borrow more than 5 books."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.status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==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"borrowed"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"Book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'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.title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 is already borrowed."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.status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"borrowed"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.borrowed_by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borrowed_books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append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borrowed '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.title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'."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10EBB58-214F-3F6E-B0FD-2A5B1363BB7F}"/>
              </a:ext>
            </a:extLst>
          </p:cNvPr>
          <p:cNvSpPr/>
          <p:nvPr/>
        </p:nvSpPr>
        <p:spPr>
          <a:xfrm>
            <a:off x="8672820" y="4856473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Member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C0C8802-5F63-EBBA-14FD-7935489A6A0B}"/>
              </a:ext>
            </a:extLst>
          </p:cNvPr>
          <p:cNvCxnSpPr>
            <a:cxnSpLocks/>
          </p:cNvCxnSpPr>
          <p:nvPr/>
        </p:nvCxnSpPr>
        <p:spPr>
          <a:xfrm>
            <a:off x="9798641" y="5493163"/>
            <a:ext cx="1827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748FBE4-69C5-971D-967D-AACC4CCA3E36}"/>
              </a:ext>
            </a:extLst>
          </p:cNvPr>
          <p:cNvCxnSpPr>
            <a:cxnSpLocks/>
          </p:cNvCxnSpPr>
          <p:nvPr/>
        </p:nvCxnSpPr>
        <p:spPr>
          <a:xfrm flipV="1">
            <a:off x="11614078" y="4022142"/>
            <a:ext cx="236134" cy="1771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4DD9F11-5BA4-3AA0-88E4-C28D40DE6DD9}"/>
              </a:ext>
            </a:extLst>
          </p:cNvPr>
          <p:cNvCxnSpPr>
            <a:cxnSpLocks/>
          </p:cNvCxnSpPr>
          <p:nvPr/>
        </p:nvCxnSpPr>
        <p:spPr>
          <a:xfrm>
            <a:off x="11393012" y="4033894"/>
            <a:ext cx="221066" cy="1595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A6F7B09E-3A24-68A9-025A-B674A57EA993}"/>
              </a:ext>
            </a:extLst>
          </p:cNvPr>
          <p:cNvSpPr/>
          <p:nvPr/>
        </p:nvSpPr>
        <p:spPr>
          <a:xfrm>
            <a:off x="11547780" y="4201700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EAD4E0A-DDE1-1BE4-A2BF-3E9C85037AB7}"/>
              </a:ext>
            </a:extLst>
          </p:cNvPr>
          <p:cNvCxnSpPr/>
          <p:nvPr/>
        </p:nvCxnSpPr>
        <p:spPr>
          <a:xfrm>
            <a:off x="9854069" y="5312467"/>
            <a:ext cx="0" cy="3284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4F25202-4B06-A7AA-5DDE-A93149E9059D}"/>
              </a:ext>
            </a:extLst>
          </p:cNvPr>
          <p:cNvSpPr txBox="1"/>
          <p:nvPr/>
        </p:nvSpPr>
        <p:spPr>
          <a:xfrm>
            <a:off x="10591337" y="4038112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(0, 5)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C762EC4-9A95-A3AF-3712-076AC694B95F}"/>
              </a:ext>
            </a:extLst>
          </p:cNvPr>
          <p:cNvSpPr txBox="1"/>
          <p:nvPr/>
        </p:nvSpPr>
        <p:spPr>
          <a:xfrm>
            <a:off x="9379734" y="4404342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(0, 1)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A65E113-7592-7CED-B316-B3B02A884393}"/>
              </a:ext>
            </a:extLst>
          </p:cNvPr>
          <p:cNvSpPr/>
          <p:nvPr/>
        </p:nvSpPr>
        <p:spPr>
          <a:xfrm>
            <a:off x="8672819" y="2724597"/>
            <a:ext cx="1114097" cy="66102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Library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C48580B-DEFE-FB7A-DA62-47499A5CB076}"/>
              </a:ext>
            </a:extLst>
          </p:cNvPr>
          <p:cNvSpPr/>
          <p:nvPr/>
        </p:nvSpPr>
        <p:spPr>
          <a:xfrm>
            <a:off x="11068181" y="2735355"/>
            <a:ext cx="1109095" cy="35877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Book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D4EC349-5EA2-FF6C-DCF1-FC9C362C72F2}"/>
              </a:ext>
            </a:extLst>
          </p:cNvPr>
          <p:cNvCxnSpPr/>
          <p:nvPr/>
        </p:nvCxnSpPr>
        <p:spPr>
          <a:xfrm>
            <a:off x="9786916" y="3367149"/>
            <a:ext cx="12701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38F0F2B-55A8-CA93-3D21-AC7F8FBF4B2B}"/>
              </a:ext>
            </a:extLst>
          </p:cNvPr>
          <p:cNvCxnSpPr>
            <a:cxnSpLocks/>
          </p:cNvCxnSpPr>
          <p:nvPr/>
        </p:nvCxnSpPr>
        <p:spPr>
          <a:xfrm flipV="1">
            <a:off x="10869481" y="3225258"/>
            <a:ext cx="187549" cy="141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B6C87EC-F01C-BB99-2540-F69E936AD7B3}"/>
              </a:ext>
            </a:extLst>
          </p:cNvPr>
          <p:cNvCxnSpPr>
            <a:cxnSpLocks/>
          </p:cNvCxnSpPr>
          <p:nvPr/>
        </p:nvCxnSpPr>
        <p:spPr>
          <a:xfrm>
            <a:off x="10869481" y="3367149"/>
            <a:ext cx="187549" cy="141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7F57F8E2-4D76-D42C-709F-395F6A4CA930}"/>
              </a:ext>
            </a:extLst>
          </p:cNvPr>
          <p:cNvSpPr/>
          <p:nvPr/>
        </p:nvSpPr>
        <p:spPr>
          <a:xfrm>
            <a:off x="10654892" y="3296203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5657950-12F9-D960-0234-FA6FCE22BA63}"/>
              </a:ext>
            </a:extLst>
          </p:cNvPr>
          <p:cNvCxnSpPr/>
          <p:nvPr/>
        </p:nvCxnSpPr>
        <p:spPr>
          <a:xfrm>
            <a:off x="9854068" y="3180591"/>
            <a:ext cx="0" cy="3284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9F8B8FD3-E032-4134-0819-9F95B7ACAB07}"/>
              </a:ext>
            </a:extLst>
          </p:cNvPr>
          <p:cNvSpPr txBox="1"/>
          <p:nvPr/>
        </p:nvSpPr>
        <p:spPr>
          <a:xfrm>
            <a:off x="10499980" y="2272466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(1, M)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02C82C-7792-F28F-67B5-892659A2F819}"/>
              </a:ext>
            </a:extLst>
          </p:cNvPr>
          <p:cNvSpPr txBox="1"/>
          <p:nvPr/>
        </p:nvSpPr>
        <p:spPr>
          <a:xfrm>
            <a:off x="9379733" y="2272466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(1, 1)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9EF6527-FFDA-86CB-E171-06F2F46D0ED7}"/>
              </a:ext>
            </a:extLst>
          </p:cNvPr>
          <p:cNvSpPr/>
          <p:nvPr/>
        </p:nvSpPr>
        <p:spPr>
          <a:xfrm>
            <a:off x="8672818" y="3690988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address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E5297DF-C996-80B5-9425-54F996F414CA}"/>
              </a:ext>
            </a:extLst>
          </p:cNvPr>
          <p:cNvSpPr/>
          <p:nvPr/>
        </p:nvSpPr>
        <p:spPr>
          <a:xfrm>
            <a:off x="8672818" y="3385627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name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FC40B00-5C88-86FD-D938-308F5814B5EC}"/>
              </a:ext>
            </a:extLst>
          </p:cNvPr>
          <p:cNvSpPr txBox="1"/>
          <p:nvPr/>
        </p:nvSpPr>
        <p:spPr>
          <a:xfrm>
            <a:off x="9936782" y="2901542"/>
            <a:ext cx="931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has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FD34BAF-DD2C-0FA0-18EC-88F5BDDCE7BE}"/>
              </a:ext>
            </a:extLst>
          </p:cNvPr>
          <p:cNvSpPr/>
          <p:nvPr/>
        </p:nvSpPr>
        <p:spPr>
          <a:xfrm>
            <a:off x="11063180" y="3702620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status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7198AA0-0300-5868-F3CD-F20B301BF156}"/>
              </a:ext>
            </a:extLst>
          </p:cNvPr>
          <p:cNvSpPr/>
          <p:nvPr/>
        </p:nvSpPr>
        <p:spPr>
          <a:xfrm>
            <a:off x="11063180" y="3397259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isbn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16D3D63-B7E7-A43A-D755-2D8FF8B59F55}"/>
              </a:ext>
            </a:extLst>
          </p:cNvPr>
          <p:cNvSpPr/>
          <p:nvPr/>
        </p:nvSpPr>
        <p:spPr>
          <a:xfrm>
            <a:off x="11063179" y="3094126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title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E2D8AEF1-1816-7C7A-6312-AAD5D4C760A3}"/>
              </a:ext>
            </a:extLst>
          </p:cNvPr>
          <p:cNvCxnSpPr>
            <a:cxnSpLocks/>
            <a:endCxn id="61" idx="2"/>
          </p:cNvCxnSpPr>
          <p:nvPr/>
        </p:nvCxnSpPr>
        <p:spPr>
          <a:xfrm flipH="1" flipV="1">
            <a:off x="11620229" y="4007979"/>
            <a:ext cx="1383" cy="14813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0BDEA89E-3F51-A220-E2AD-6CD9B4444A12}"/>
              </a:ext>
            </a:extLst>
          </p:cNvPr>
          <p:cNvSpPr txBox="1"/>
          <p:nvPr/>
        </p:nvSpPr>
        <p:spPr>
          <a:xfrm>
            <a:off x="9956368" y="4982098"/>
            <a:ext cx="2382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Borrowed by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2F54BD8-1190-A264-7279-F5ACC942FAF4}"/>
              </a:ext>
            </a:extLst>
          </p:cNvPr>
          <p:cNvSpPr/>
          <p:nvPr/>
        </p:nvSpPr>
        <p:spPr>
          <a:xfrm>
            <a:off x="8673393" y="5730766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email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BC49638-46E0-688F-D32E-8EF6F7ED961B}"/>
              </a:ext>
            </a:extLst>
          </p:cNvPr>
          <p:cNvSpPr/>
          <p:nvPr/>
        </p:nvSpPr>
        <p:spPr>
          <a:xfrm>
            <a:off x="8673393" y="5447707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name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4F13A12-BED0-271A-05A1-AB0182D139BF}"/>
              </a:ext>
            </a:extLst>
          </p:cNvPr>
          <p:cNvSpPr/>
          <p:nvPr/>
        </p:nvSpPr>
        <p:spPr>
          <a:xfrm>
            <a:off x="8673392" y="5144574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id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C0B00D1-1685-8379-F16A-A6EE69734BCF}"/>
              </a:ext>
            </a:extLst>
          </p:cNvPr>
          <p:cNvSpPr/>
          <p:nvPr/>
        </p:nvSpPr>
        <p:spPr>
          <a:xfrm>
            <a:off x="8677352" y="6444569"/>
            <a:ext cx="1109564" cy="41343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Return(Book)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7BB8CF3-5705-DD3B-2EDC-A358999DC1AE}"/>
              </a:ext>
            </a:extLst>
          </p:cNvPr>
          <p:cNvSpPr/>
          <p:nvPr/>
        </p:nvSpPr>
        <p:spPr>
          <a:xfrm>
            <a:off x="8672818" y="6026941"/>
            <a:ext cx="1114097" cy="41343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Borrow(Book)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9BA3030-9EB1-8AF7-905C-B76D64EA9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63290"/>
            <a:ext cx="8646944" cy="1964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This method lets a member borrow a book only if they haven’t reached the 5-book limit and the book isn’t already taken.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8E30828-4990-74DE-B28C-05F4DBF86324}"/>
              </a:ext>
            </a:extLst>
          </p:cNvPr>
          <p:cNvSpPr/>
          <p:nvPr/>
        </p:nvSpPr>
        <p:spPr>
          <a:xfrm>
            <a:off x="9945446" y="5430798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04436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3B1BF-72E0-4A21-C904-D5671FB10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7530C11-B424-6105-A2D2-2E80E3177501}"/>
              </a:ext>
            </a:extLst>
          </p:cNvPr>
          <p:cNvSpPr txBox="1"/>
          <p:nvPr/>
        </p:nvSpPr>
        <p:spPr>
          <a:xfrm>
            <a:off x="-10220" y="81294"/>
            <a:ext cx="12187495" cy="381642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def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len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borrowed_books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&gt;=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cannot borrow more than 5 books."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.status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==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"borrowed"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"Book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'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.title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 is already borrowed."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.status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"borrowed"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.borrowed_by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borrowed_books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append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borrowed '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.title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'."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CF46D7E-6B1D-11D9-B2F4-FEF82804BF26}"/>
              </a:ext>
            </a:extLst>
          </p:cNvPr>
          <p:cNvSpPr/>
          <p:nvPr/>
        </p:nvSpPr>
        <p:spPr>
          <a:xfrm>
            <a:off x="8672820" y="4856473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Member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F12224E-C91E-CC10-5B9C-CA8BB50089BD}"/>
              </a:ext>
            </a:extLst>
          </p:cNvPr>
          <p:cNvCxnSpPr>
            <a:cxnSpLocks/>
          </p:cNvCxnSpPr>
          <p:nvPr/>
        </p:nvCxnSpPr>
        <p:spPr>
          <a:xfrm>
            <a:off x="9798641" y="5493163"/>
            <a:ext cx="1827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E7784AB-A591-5041-0C09-62D6A1E9F1EF}"/>
              </a:ext>
            </a:extLst>
          </p:cNvPr>
          <p:cNvCxnSpPr>
            <a:cxnSpLocks/>
          </p:cNvCxnSpPr>
          <p:nvPr/>
        </p:nvCxnSpPr>
        <p:spPr>
          <a:xfrm flipV="1">
            <a:off x="11614078" y="4022142"/>
            <a:ext cx="236134" cy="1771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825AF36-8B64-8B75-529B-240D12EDCA0F}"/>
              </a:ext>
            </a:extLst>
          </p:cNvPr>
          <p:cNvCxnSpPr>
            <a:cxnSpLocks/>
          </p:cNvCxnSpPr>
          <p:nvPr/>
        </p:nvCxnSpPr>
        <p:spPr>
          <a:xfrm>
            <a:off x="11393012" y="4033894"/>
            <a:ext cx="221066" cy="1595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4AFBAE57-4064-7AEC-AC1A-F55C315D0A1C}"/>
              </a:ext>
            </a:extLst>
          </p:cNvPr>
          <p:cNvSpPr/>
          <p:nvPr/>
        </p:nvSpPr>
        <p:spPr>
          <a:xfrm>
            <a:off x="11547780" y="4201700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84F942A-587A-0479-75DC-C8B084C93E16}"/>
              </a:ext>
            </a:extLst>
          </p:cNvPr>
          <p:cNvCxnSpPr/>
          <p:nvPr/>
        </p:nvCxnSpPr>
        <p:spPr>
          <a:xfrm>
            <a:off x="9854069" y="5312467"/>
            <a:ext cx="0" cy="3284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0427EC5-71E0-A619-B387-D5ABEA6F3F14}"/>
              </a:ext>
            </a:extLst>
          </p:cNvPr>
          <p:cNvSpPr txBox="1"/>
          <p:nvPr/>
        </p:nvSpPr>
        <p:spPr>
          <a:xfrm>
            <a:off x="10591337" y="4038112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(0, 5)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A556DF8-18D2-E2F1-5590-9C7D522E3906}"/>
              </a:ext>
            </a:extLst>
          </p:cNvPr>
          <p:cNvSpPr txBox="1"/>
          <p:nvPr/>
        </p:nvSpPr>
        <p:spPr>
          <a:xfrm>
            <a:off x="9379734" y="4404342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(0, 1)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B7FE90D-E1A0-8A73-D29F-A271D9EBBFF5}"/>
              </a:ext>
            </a:extLst>
          </p:cNvPr>
          <p:cNvSpPr/>
          <p:nvPr/>
        </p:nvSpPr>
        <p:spPr>
          <a:xfrm>
            <a:off x="8672819" y="2724597"/>
            <a:ext cx="1114097" cy="66102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Library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97BE71-2E02-F337-5E78-6BD00F91D2EC}"/>
              </a:ext>
            </a:extLst>
          </p:cNvPr>
          <p:cNvSpPr/>
          <p:nvPr/>
        </p:nvSpPr>
        <p:spPr>
          <a:xfrm>
            <a:off x="11068181" y="2735355"/>
            <a:ext cx="1109095" cy="35877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Book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BF9C7F4-FA50-C656-59AC-2BA07B8EA16B}"/>
              </a:ext>
            </a:extLst>
          </p:cNvPr>
          <p:cNvCxnSpPr/>
          <p:nvPr/>
        </p:nvCxnSpPr>
        <p:spPr>
          <a:xfrm>
            <a:off x="9786916" y="3367149"/>
            <a:ext cx="12701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FE92811-B663-C4F7-BDA6-83AA4666C5C3}"/>
              </a:ext>
            </a:extLst>
          </p:cNvPr>
          <p:cNvCxnSpPr>
            <a:cxnSpLocks/>
          </p:cNvCxnSpPr>
          <p:nvPr/>
        </p:nvCxnSpPr>
        <p:spPr>
          <a:xfrm flipV="1">
            <a:off x="10869481" y="3225258"/>
            <a:ext cx="187549" cy="141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3D061F4-420C-76E8-85C8-300CDB120CAF}"/>
              </a:ext>
            </a:extLst>
          </p:cNvPr>
          <p:cNvCxnSpPr>
            <a:cxnSpLocks/>
          </p:cNvCxnSpPr>
          <p:nvPr/>
        </p:nvCxnSpPr>
        <p:spPr>
          <a:xfrm>
            <a:off x="10869481" y="3367149"/>
            <a:ext cx="187549" cy="141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9C89BCB3-702D-0022-143B-95828F8D9955}"/>
              </a:ext>
            </a:extLst>
          </p:cNvPr>
          <p:cNvSpPr/>
          <p:nvPr/>
        </p:nvSpPr>
        <p:spPr>
          <a:xfrm>
            <a:off x="10654892" y="3296203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D3F56B9-0852-934D-A3B7-70D9625C3649}"/>
              </a:ext>
            </a:extLst>
          </p:cNvPr>
          <p:cNvCxnSpPr/>
          <p:nvPr/>
        </p:nvCxnSpPr>
        <p:spPr>
          <a:xfrm>
            <a:off x="9854068" y="3180591"/>
            <a:ext cx="0" cy="3284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9F30A2EC-9607-E15D-B937-26E1207D49F1}"/>
              </a:ext>
            </a:extLst>
          </p:cNvPr>
          <p:cNvSpPr txBox="1"/>
          <p:nvPr/>
        </p:nvSpPr>
        <p:spPr>
          <a:xfrm>
            <a:off x="10499980" y="2272466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(1, M)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EE6B64F-8835-5A7D-CBB2-9AFE96CA0A8D}"/>
              </a:ext>
            </a:extLst>
          </p:cNvPr>
          <p:cNvSpPr txBox="1"/>
          <p:nvPr/>
        </p:nvSpPr>
        <p:spPr>
          <a:xfrm>
            <a:off x="9379733" y="2272466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(1, 1)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6A5D1FE-8480-9B70-FEB0-6E830FD9AE04}"/>
              </a:ext>
            </a:extLst>
          </p:cNvPr>
          <p:cNvSpPr/>
          <p:nvPr/>
        </p:nvSpPr>
        <p:spPr>
          <a:xfrm>
            <a:off x="8672818" y="3690988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address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D4DE84A-40AD-FD6C-EB01-410D8825E2FD}"/>
              </a:ext>
            </a:extLst>
          </p:cNvPr>
          <p:cNvSpPr/>
          <p:nvPr/>
        </p:nvSpPr>
        <p:spPr>
          <a:xfrm>
            <a:off x="8672818" y="3385627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name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BAB20D3-B439-AB87-75AF-C2203F5AC9AC}"/>
              </a:ext>
            </a:extLst>
          </p:cNvPr>
          <p:cNvSpPr txBox="1"/>
          <p:nvPr/>
        </p:nvSpPr>
        <p:spPr>
          <a:xfrm>
            <a:off x="9936782" y="2901542"/>
            <a:ext cx="931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has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B70FFDF-EB0D-7DF1-1F97-01D48F5C2576}"/>
              </a:ext>
            </a:extLst>
          </p:cNvPr>
          <p:cNvSpPr/>
          <p:nvPr/>
        </p:nvSpPr>
        <p:spPr>
          <a:xfrm>
            <a:off x="11063180" y="3702620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status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029C9E9-E9E4-C89A-92D2-CD0C973A8B1E}"/>
              </a:ext>
            </a:extLst>
          </p:cNvPr>
          <p:cNvSpPr/>
          <p:nvPr/>
        </p:nvSpPr>
        <p:spPr>
          <a:xfrm>
            <a:off x="11063180" y="3397259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isbn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A950E3A-27D5-167F-E0A1-9CC6DF45CCAF}"/>
              </a:ext>
            </a:extLst>
          </p:cNvPr>
          <p:cNvSpPr/>
          <p:nvPr/>
        </p:nvSpPr>
        <p:spPr>
          <a:xfrm>
            <a:off x="11063179" y="3094126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title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ED839CC6-CE54-ADFD-00B8-20CA989EDEE0}"/>
              </a:ext>
            </a:extLst>
          </p:cNvPr>
          <p:cNvCxnSpPr>
            <a:cxnSpLocks/>
            <a:endCxn id="61" idx="2"/>
          </p:cNvCxnSpPr>
          <p:nvPr/>
        </p:nvCxnSpPr>
        <p:spPr>
          <a:xfrm flipH="1" flipV="1">
            <a:off x="11620229" y="4007979"/>
            <a:ext cx="1383" cy="14813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868E4FCC-212C-92F2-BFCD-00B62A25C907}"/>
              </a:ext>
            </a:extLst>
          </p:cNvPr>
          <p:cNvSpPr txBox="1"/>
          <p:nvPr/>
        </p:nvSpPr>
        <p:spPr>
          <a:xfrm>
            <a:off x="9956368" y="4982098"/>
            <a:ext cx="2382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Borrowed by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F22471C-E4E6-196E-9EEC-C3A485BD13E0}"/>
              </a:ext>
            </a:extLst>
          </p:cNvPr>
          <p:cNvSpPr/>
          <p:nvPr/>
        </p:nvSpPr>
        <p:spPr>
          <a:xfrm>
            <a:off x="8673393" y="5730766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email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D850B34-BF37-A11A-141B-7654C176BF0C}"/>
              </a:ext>
            </a:extLst>
          </p:cNvPr>
          <p:cNvSpPr/>
          <p:nvPr/>
        </p:nvSpPr>
        <p:spPr>
          <a:xfrm>
            <a:off x="8673393" y="5447707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name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364A28D-64EB-50F5-5441-9D1DF85395B5}"/>
              </a:ext>
            </a:extLst>
          </p:cNvPr>
          <p:cNvSpPr/>
          <p:nvPr/>
        </p:nvSpPr>
        <p:spPr>
          <a:xfrm>
            <a:off x="8673392" y="5144574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id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08610D0-DA30-537C-A5E3-4E47678B5796}"/>
              </a:ext>
            </a:extLst>
          </p:cNvPr>
          <p:cNvSpPr/>
          <p:nvPr/>
        </p:nvSpPr>
        <p:spPr>
          <a:xfrm>
            <a:off x="8677352" y="6444569"/>
            <a:ext cx="1109564" cy="41343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Return(Book)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0D976D1-46E8-85D6-A878-60BC21C383B1}"/>
              </a:ext>
            </a:extLst>
          </p:cNvPr>
          <p:cNvSpPr/>
          <p:nvPr/>
        </p:nvSpPr>
        <p:spPr>
          <a:xfrm>
            <a:off x="8672818" y="6026941"/>
            <a:ext cx="1114097" cy="41343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Borrow(Book)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86EE9D3-38E5-9850-E6BD-8E6D6338C1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914384"/>
            <a:ext cx="864694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What does borrow(self, book) do?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Check limit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→ If the member already has 5 books, stop and show a message.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Check book status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→ If the book is already borrowed by someone else, stop and show a message.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Update book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→ Mark the book as "borrowed" and record that this member has it.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Update member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→ Add the book to the member’s borrowed list.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Confirm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→ Print a message that the member successfully borrowed the book.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E698451-5B86-9F28-B6B9-E6EEF25FE959}"/>
              </a:ext>
            </a:extLst>
          </p:cNvPr>
          <p:cNvSpPr/>
          <p:nvPr/>
        </p:nvSpPr>
        <p:spPr>
          <a:xfrm>
            <a:off x="9945446" y="5430798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3877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3DBFC-3C31-AA8E-5557-3F6BD9385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0B92F2E-65F9-8DFF-4345-B9B3948284F4}"/>
              </a:ext>
            </a:extLst>
          </p:cNvPr>
          <p:cNvSpPr txBox="1"/>
          <p:nvPr/>
        </p:nvSpPr>
        <p:spPr>
          <a:xfrm>
            <a:off x="-1" y="0"/>
            <a:ext cx="9941142" cy="280076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def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return_book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borrowed_books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borrowed_books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remove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.status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"available"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.borrowed_by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FC1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None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returned '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.title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'."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does not have '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.title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'."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2E8474F-B4A0-B94C-BC3B-E325C20E201B}"/>
              </a:ext>
            </a:extLst>
          </p:cNvPr>
          <p:cNvSpPr/>
          <p:nvPr/>
        </p:nvSpPr>
        <p:spPr>
          <a:xfrm>
            <a:off x="8683330" y="4856473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Member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D7F0444-E843-77E1-F23E-614E0580ADE3}"/>
              </a:ext>
            </a:extLst>
          </p:cNvPr>
          <p:cNvCxnSpPr>
            <a:cxnSpLocks/>
          </p:cNvCxnSpPr>
          <p:nvPr/>
        </p:nvCxnSpPr>
        <p:spPr>
          <a:xfrm>
            <a:off x="9809151" y="5493163"/>
            <a:ext cx="1827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169D41A-6540-0650-D7C3-4F4B743C4C0B}"/>
              </a:ext>
            </a:extLst>
          </p:cNvPr>
          <p:cNvCxnSpPr>
            <a:cxnSpLocks/>
          </p:cNvCxnSpPr>
          <p:nvPr/>
        </p:nvCxnSpPr>
        <p:spPr>
          <a:xfrm flipV="1">
            <a:off x="11624588" y="4022142"/>
            <a:ext cx="236134" cy="1771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3788E74-B260-C9AB-2B89-BBF5CF463B18}"/>
              </a:ext>
            </a:extLst>
          </p:cNvPr>
          <p:cNvCxnSpPr>
            <a:cxnSpLocks/>
          </p:cNvCxnSpPr>
          <p:nvPr/>
        </p:nvCxnSpPr>
        <p:spPr>
          <a:xfrm>
            <a:off x="11403522" y="4033894"/>
            <a:ext cx="221066" cy="1595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AECE0BA8-A449-BCAF-9A4C-20176CADCB71}"/>
              </a:ext>
            </a:extLst>
          </p:cNvPr>
          <p:cNvSpPr/>
          <p:nvPr/>
        </p:nvSpPr>
        <p:spPr>
          <a:xfrm>
            <a:off x="11558290" y="4201700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23B2C32-31BD-9AA7-2389-01AD65FEE1C0}"/>
              </a:ext>
            </a:extLst>
          </p:cNvPr>
          <p:cNvCxnSpPr/>
          <p:nvPr/>
        </p:nvCxnSpPr>
        <p:spPr>
          <a:xfrm>
            <a:off x="9864579" y="5312467"/>
            <a:ext cx="0" cy="3284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AD07496-D772-2F83-B746-3F226C36D11D}"/>
              </a:ext>
            </a:extLst>
          </p:cNvPr>
          <p:cNvSpPr txBox="1"/>
          <p:nvPr/>
        </p:nvSpPr>
        <p:spPr>
          <a:xfrm>
            <a:off x="10601847" y="4038112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(0, 5)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956EB94-CCD2-91A1-885E-089E170392B8}"/>
              </a:ext>
            </a:extLst>
          </p:cNvPr>
          <p:cNvSpPr txBox="1"/>
          <p:nvPr/>
        </p:nvSpPr>
        <p:spPr>
          <a:xfrm>
            <a:off x="9390244" y="4404342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(0, 1)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1708831-9076-C709-C6D8-48B930D56022}"/>
              </a:ext>
            </a:extLst>
          </p:cNvPr>
          <p:cNvSpPr/>
          <p:nvPr/>
        </p:nvSpPr>
        <p:spPr>
          <a:xfrm>
            <a:off x="8683329" y="2724597"/>
            <a:ext cx="1114097" cy="66102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Library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98D9606-ED93-31E0-8949-020107A53F38}"/>
              </a:ext>
            </a:extLst>
          </p:cNvPr>
          <p:cNvSpPr/>
          <p:nvPr/>
        </p:nvSpPr>
        <p:spPr>
          <a:xfrm>
            <a:off x="11078691" y="2735355"/>
            <a:ext cx="1109095" cy="35877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Book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260E160-28DE-BC87-DAA6-560FC6F8BAF2}"/>
              </a:ext>
            </a:extLst>
          </p:cNvPr>
          <p:cNvCxnSpPr/>
          <p:nvPr/>
        </p:nvCxnSpPr>
        <p:spPr>
          <a:xfrm>
            <a:off x="9797426" y="3367149"/>
            <a:ext cx="12701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EC6E552-66E0-2F2B-49A0-28B1F21859AC}"/>
              </a:ext>
            </a:extLst>
          </p:cNvPr>
          <p:cNvCxnSpPr>
            <a:cxnSpLocks/>
          </p:cNvCxnSpPr>
          <p:nvPr/>
        </p:nvCxnSpPr>
        <p:spPr>
          <a:xfrm flipV="1">
            <a:off x="10879991" y="3225258"/>
            <a:ext cx="187549" cy="141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84724D4-8983-6E72-6439-7E5DC6997BC1}"/>
              </a:ext>
            </a:extLst>
          </p:cNvPr>
          <p:cNvCxnSpPr>
            <a:cxnSpLocks/>
          </p:cNvCxnSpPr>
          <p:nvPr/>
        </p:nvCxnSpPr>
        <p:spPr>
          <a:xfrm>
            <a:off x="10879991" y="3367149"/>
            <a:ext cx="187549" cy="141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BC3D7D3D-9440-51B3-704F-E3F03B2A5AC5}"/>
              </a:ext>
            </a:extLst>
          </p:cNvPr>
          <p:cNvSpPr/>
          <p:nvPr/>
        </p:nvSpPr>
        <p:spPr>
          <a:xfrm>
            <a:off x="10665402" y="3296203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5F6520D-25F1-49D1-FDEC-720D26131BC0}"/>
              </a:ext>
            </a:extLst>
          </p:cNvPr>
          <p:cNvCxnSpPr/>
          <p:nvPr/>
        </p:nvCxnSpPr>
        <p:spPr>
          <a:xfrm>
            <a:off x="9864578" y="3180591"/>
            <a:ext cx="0" cy="3284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5CA0BE26-971E-C550-465A-391F0D0E4A73}"/>
              </a:ext>
            </a:extLst>
          </p:cNvPr>
          <p:cNvSpPr txBox="1"/>
          <p:nvPr/>
        </p:nvSpPr>
        <p:spPr>
          <a:xfrm>
            <a:off x="10722731" y="2230151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(1, M)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58F9EEC-93D4-AB54-67F1-E46C0C0084C6}"/>
              </a:ext>
            </a:extLst>
          </p:cNvPr>
          <p:cNvSpPr txBox="1"/>
          <p:nvPr/>
        </p:nvSpPr>
        <p:spPr>
          <a:xfrm>
            <a:off x="9875434" y="2240131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(1, 1)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78DD0EF-9C4A-18AC-1513-84DF00801263}"/>
              </a:ext>
            </a:extLst>
          </p:cNvPr>
          <p:cNvSpPr/>
          <p:nvPr/>
        </p:nvSpPr>
        <p:spPr>
          <a:xfrm>
            <a:off x="8683328" y="3690988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address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36511D4-97D1-6088-1FB0-F58C3DC1F80E}"/>
              </a:ext>
            </a:extLst>
          </p:cNvPr>
          <p:cNvSpPr/>
          <p:nvPr/>
        </p:nvSpPr>
        <p:spPr>
          <a:xfrm>
            <a:off x="8683328" y="3385627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name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9764105-B8A6-C5B2-A7C6-98558F4D0366}"/>
              </a:ext>
            </a:extLst>
          </p:cNvPr>
          <p:cNvSpPr txBox="1"/>
          <p:nvPr/>
        </p:nvSpPr>
        <p:spPr>
          <a:xfrm>
            <a:off x="9947292" y="2901542"/>
            <a:ext cx="931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has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B86AEBF-7F24-07EC-9DF2-EBF0FD393728}"/>
              </a:ext>
            </a:extLst>
          </p:cNvPr>
          <p:cNvSpPr/>
          <p:nvPr/>
        </p:nvSpPr>
        <p:spPr>
          <a:xfrm>
            <a:off x="11073690" y="3702620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status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BCEAFBA-334B-7305-A168-E240CDDAE277}"/>
              </a:ext>
            </a:extLst>
          </p:cNvPr>
          <p:cNvSpPr/>
          <p:nvPr/>
        </p:nvSpPr>
        <p:spPr>
          <a:xfrm>
            <a:off x="11073690" y="3397259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isbn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F31BF47-66ED-AE92-4FD5-1ECC9CB1AFFC}"/>
              </a:ext>
            </a:extLst>
          </p:cNvPr>
          <p:cNvSpPr/>
          <p:nvPr/>
        </p:nvSpPr>
        <p:spPr>
          <a:xfrm>
            <a:off x="11073689" y="3094126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title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54B24FF-5CE1-A373-BFF6-F01A52051B0A}"/>
              </a:ext>
            </a:extLst>
          </p:cNvPr>
          <p:cNvCxnSpPr>
            <a:cxnSpLocks/>
            <a:endCxn id="61" idx="2"/>
          </p:cNvCxnSpPr>
          <p:nvPr/>
        </p:nvCxnSpPr>
        <p:spPr>
          <a:xfrm flipH="1" flipV="1">
            <a:off x="11630739" y="4007979"/>
            <a:ext cx="1383" cy="14813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22E90165-6E60-5BB2-2913-688CEB30004B}"/>
              </a:ext>
            </a:extLst>
          </p:cNvPr>
          <p:cNvSpPr txBox="1"/>
          <p:nvPr/>
        </p:nvSpPr>
        <p:spPr>
          <a:xfrm>
            <a:off x="9966878" y="4982098"/>
            <a:ext cx="2382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Borrowed by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0B50BD5-4CDB-D882-D4A0-5AE26AA6C2F3}"/>
              </a:ext>
            </a:extLst>
          </p:cNvPr>
          <p:cNvSpPr/>
          <p:nvPr/>
        </p:nvSpPr>
        <p:spPr>
          <a:xfrm>
            <a:off x="8683903" y="5730766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email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9AB70D5-9B63-9E9A-B076-048226E35A42}"/>
              </a:ext>
            </a:extLst>
          </p:cNvPr>
          <p:cNvSpPr/>
          <p:nvPr/>
        </p:nvSpPr>
        <p:spPr>
          <a:xfrm>
            <a:off x="8683903" y="5447707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name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D33434E-0FFA-1071-415F-5EF5EFB2B063}"/>
              </a:ext>
            </a:extLst>
          </p:cNvPr>
          <p:cNvSpPr/>
          <p:nvPr/>
        </p:nvSpPr>
        <p:spPr>
          <a:xfrm>
            <a:off x="8683902" y="5144574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id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48BC7CD-ADA3-73F9-D9BA-DA28F8F4BDEA}"/>
              </a:ext>
            </a:extLst>
          </p:cNvPr>
          <p:cNvSpPr/>
          <p:nvPr/>
        </p:nvSpPr>
        <p:spPr>
          <a:xfrm>
            <a:off x="8687862" y="6444569"/>
            <a:ext cx="1109564" cy="41343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Return(Book)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EC4B2F2-2352-CAA9-B405-4B1F27400141}"/>
              </a:ext>
            </a:extLst>
          </p:cNvPr>
          <p:cNvSpPr/>
          <p:nvPr/>
        </p:nvSpPr>
        <p:spPr>
          <a:xfrm>
            <a:off x="8683328" y="6026941"/>
            <a:ext cx="1114097" cy="41343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Borrow(Book)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0A72AAD-B0DB-62BE-3880-576D0C21B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96" y="2753371"/>
            <a:ext cx="8777275" cy="4102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What does </a:t>
            </a:r>
            <a:r>
              <a:rPr kumimoji="0" lang="en-US" alt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return_book</a:t>
            </a: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(self, book) do?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Check ownership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→ See if the book is in the member’s borrowed list.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If yes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→</a:t>
            </a:r>
          </a:p>
          <a:p>
            <a:pPr marL="800100" marR="0" lvl="1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Remove the book from their list.</a:t>
            </a:r>
          </a:p>
          <a:p>
            <a:pPr marL="800100" marR="0" lvl="1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Mark the book as "available".</a:t>
            </a:r>
          </a:p>
          <a:p>
            <a:pPr marL="800100" marR="0" lvl="1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Clear who borrowed it (None).</a:t>
            </a:r>
          </a:p>
          <a:p>
            <a:pPr marL="800100" marR="0" lvl="1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Show a message confirming the return.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If no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→ Print a message saying the member never borrowed that book.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8CF3496-984A-B54D-5AF2-2518CCE86EF8}"/>
              </a:ext>
            </a:extLst>
          </p:cNvPr>
          <p:cNvSpPr/>
          <p:nvPr/>
        </p:nvSpPr>
        <p:spPr>
          <a:xfrm>
            <a:off x="9945446" y="5430798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54112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D6FB1-06FE-2E39-61F5-ECFA79409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22E3E46-5536-068B-A464-CCF5162EB811}"/>
              </a:ext>
            </a:extLst>
          </p:cNvPr>
          <p:cNvSpPr txBox="1"/>
          <p:nvPr/>
        </p:nvSpPr>
        <p:spPr>
          <a:xfrm>
            <a:off x="-1" y="0"/>
            <a:ext cx="9941142" cy="280076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def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return_book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borrowed_books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borrowed_books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remove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.status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"available"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.borrowed_by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FC1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None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returned '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.title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'."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does not have '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.title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'."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F069926-0614-2AA1-A3FF-E5C8137A9133}"/>
              </a:ext>
            </a:extLst>
          </p:cNvPr>
          <p:cNvSpPr/>
          <p:nvPr/>
        </p:nvSpPr>
        <p:spPr>
          <a:xfrm>
            <a:off x="8683330" y="4856473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Member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DF09C5E-98BD-9E3E-D6B8-E3EFB11E1EE0}"/>
              </a:ext>
            </a:extLst>
          </p:cNvPr>
          <p:cNvCxnSpPr>
            <a:cxnSpLocks/>
          </p:cNvCxnSpPr>
          <p:nvPr/>
        </p:nvCxnSpPr>
        <p:spPr>
          <a:xfrm>
            <a:off x="9809151" y="5493163"/>
            <a:ext cx="1827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7E5026A-9A5E-2A55-E18E-5C956F6B6C24}"/>
              </a:ext>
            </a:extLst>
          </p:cNvPr>
          <p:cNvCxnSpPr>
            <a:cxnSpLocks/>
          </p:cNvCxnSpPr>
          <p:nvPr/>
        </p:nvCxnSpPr>
        <p:spPr>
          <a:xfrm flipV="1">
            <a:off x="11624588" y="4022142"/>
            <a:ext cx="236134" cy="1771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2AE6128-DB9B-70A5-8D9C-5F88475DB61B}"/>
              </a:ext>
            </a:extLst>
          </p:cNvPr>
          <p:cNvCxnSpPr>
            <a:cxnSpLocks/>
          </p:cNvCxnSpPr>
          <p:nvPr/>
        </p:nvCxnSpPr>
        <p:spPr>
          <a:xfrm>
            <a:off x="11403522" y="4033894"/>
            <a:ext cx="221066" cy="1595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48DF6837-0E1C-D4C2-CEDC-3D8767018E68}"/>
              </a:ext>
            </a:extLst>
          </p:cNvPr>
          <p:cNvSpPr/>
          <p:nvPr/>
        </p:nvSpPr>
        <p:spPr>
          <a:xfrm>
            <a:off x="11558290" y="4201700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9A58D30-6B3C-2149-E883-0C08CAC03A76}"/>
              </a:ext>
            </a:extLst>
          </p:cNvPr>
          <p:cNvCxnSpPr/>
          <p:nvPr/>
        </p:nvCxnSpPr>
        <p:spPr>
          <a:xfrm>
            <a:off x="9864579" y="5312467"/>
            <a:ext cx="0" cy="3284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413028A-C78B-03EE-7E0F-4081491B6C84}"/>
              </a:ext>
            </a:extLst>
          </p:cNvPr>
          <p:cNvSpPr txBox="1"/>
          <p:nvPr/>
        </p:nvSpPr>
        <p:spPr>
          <a:xfrm>
            <a:off x="10601847" y="4038112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(0, 5)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04DB73-BEFC-EBFA-ADDC-9940CFF9C156}"/>
              </a:ext>
            </a:extLst>
          </p:cNvPr>
          <p:cNvSpPr txBox="1"/>
          <p:nvPr/>
        </p:nvSpPr>
        <p:spPr>
          <a:xfrm>
            <a:off x="9390244" y="4404342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(0, 1)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1432E6E-27AC-8034-12A2-1EAD66DC5233}"/>
              </a:ext>
            </a:extLst>
          </p:cNvPr>
          <p:cNvSpPr/>
          <p:nvPr/>
        </p:nvSpPr>
        <p:spPr>
          <a:xfrm>
            <a:off x="8683329" y="2724597"/>
            <a:ext cx="1114097" cy="66102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Library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DC05545-5478-65BF-CFEF-E379007E3295}"/>
              </a:ext>
            </a:extLst>
          </p:cNvPr>
          <p:cNvSpPr/>
          <p:nvPr/>
        </p:nvSpPr>
        <p:spPr>
          <a:xfrm>
            <a:off x="11078691" y="2735355"/>
            <a:ext cx="1109095" cy="35877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Book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017A991-2E55-EF3B-52DE-A97C89BE0E92}"/>
              </a:ext>
            </a:extLst>
          </p:cNvPr>
          <p:cNvCxnSpPr/>
          <p:nvPr/>
        </p:nvCxnSpPr>
        <p:spPr>
          <a:xfrm>
            <a:off x="9797426" y="3367149"/>
            <a:ext cx="12701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C2D3DD2-5251-92DD-0536-3C0A48C1A3E3}"/>
              </a:ext>
            </a:extLst>
          </p:cNvPr>
          <p:cNvCxnSpPr>
            <a:cxnSpLocks/>
          </p:cNvCxnSpPr>
          <p:nvPr/>
        </p:nvCxnSpPr>
        <p:spPr>
          <a:xfrm flipV="1">
            <a:off x="10879991" y="3225258"/>
            <a:ext cx="187549" cy="141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900CA29-3AD6-1E47-891C-B3856F494794}"/>
              </a:ext>
            </a:extLst>
          </p:cNvPr>
          <p:cNvCxnSpPr>
            <a:cxnSpLocks/>
          </p:cNvCxnSpPr>
          <p:nvPr/>
        </p:nvCxnSpPr>
        <p:spPr>
          <a:xfrm>
            <a:off x="10879991" y="3367149"/>
            <a:ext cx="187549" cy="141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A2C03C30-B440-4633-801C-C4A62D81F095}"/>
              </a:ext>
            </a:extLst>
          </p:cNvPr>
          <p:cNvSpPr/>
          <p:nvPr/>
        </p:nvSpPr>
        <p:spPr>
          <a:xfrm>
            <a:off x="10665402" y="3296203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D4C73E7-B6F8-2A23-B841-D753A443794E}"/>
              </a:ext>
            </a:extLst>
          </p:cNvPr>
          <p:cNvCxnSpPr/>
          <p:nvPr/>
        </p:nvCxnSpPr>
        <p:spPr>
          <a:xfrm>
            <a:off x="9864578" y="3180591"/>
            <a:ext cx="0" cy="3284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193353BB-52EF-8A68-C9F5-F37560A6931F}"/>
              </a:ext>
            </a:extLst>
          </p:cNvPr>
          <p:cNvSpPr txBox="1"/>
          <p:nvPr/>
        </p:nvSpPr>
        <p:spPr>
          <a:xfrm>
            <a:off x="10722731" y="2230151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(1, M)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96A3BE9-DDE4-C6F2-A1A6-71F394E49CF9}"/>
              </a:ext>
            </a:extLst>
          </p:cNvPr>
          <p:cNvSpPr txBox="1"/>
          <p:nvPr/>
        </p:nvSpPr>
        <p:spPr>
          <a:xfrm>
            <a:off x="9875434" y="2240131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(1, 1)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95446F5-D274-16F2-81BB-D135E5B784EB}"/>
              </a:ext>
            </a:extLst>
          </p:cNvPr>
          <p:cNvSpPr/>
          <p:nvPr/>
        </p:nvSpPr>
        <p:spPr>
          <a:xfrm>
            <a:off x="8683328" y="3690988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address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E565067-04FF-C756-D17A-A6C9370B5E73}"/>
              </a:ext>
            </a:extLst>
          </p:cNvPr>
          <p:cNvSpPr/>
          <p:nvPr/>
        </p:nvSpPr>
        <p:spPr>
          <a:xfrm>
            <a:off x="8683328" y="3385627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name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10F79EE-8DC2-8693-6B4B-589F291AE9CB}"/>
              </a:ext>
            </a:extLst>
          </p:cNvPr>
          <p:cNvSpPr txBox="1"/>
          <p:nvPr/>
        </p:nvSpPr>
        <p:spPr>
          <a:xfrm>
            <a:off x="9947292" y="2901542"/>
            <a:ext cx="931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has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4E89F8A-1E4F-0DED-F48A-7223F7AC1ABE}"/>
              </a:ext>
            </a:extLst>
          </p:cNvPr>
          <p:cNvSpPr/>
          <p:nvPr/>
        </p:nvSpPr>
        <p:spPr>
          <a:xfrm>
            <a:off x="11073690" y="3702620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status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88F4E5B-6621-A338-EB22-94130CB96961}"/>
              </a:ext>
            </a:extLst>
          </p:cNvPr>
          <p:cNvSpPr/>
          <p:nvPr/>
        </p:nvSpPr>
        <p:spPr>
          <a:xfrm>
            <a:off x="11073690" y="3397259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isbn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EEDB3A8-69A1-E1BA-BD90-B8BAF0694AC5}"/>
              </a:ext>
            </a:extLst>
          </p:cNvPr>
          <p:cNvSpPr/>
          <p:nvPr/>
        </p:nvSpPr>
        <p:spPr>
          <a:xfrm>
            <a:off x="11073689" y="3094126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title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E516BA5-7A24-E553-E250-EBF8D4B7C6E3}"/>
              </a:ext>
            </a:extLst>
          </p:cNvPr>
          <p:cNvCxnSpPr>
            <a:cxnSpLocks/>
            <a:endCxn id="61" idx="2"/>
          </p:cNvCxnSpPr>
          <p:nvPr/>
        </p:nvCxnSpPr>
        <p:spPr>
          <a:xfrm flipH="1" flipV="1">
            <a:off x="11630739" y="4007979"/>
            <a:ext cx="1383" cy="14813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C77A53C-EB10-50B6-D8F9-BA7746B07C2F}"/>
              </a:ext>
            </a:extLst>
          </p:cNvPr>
          <p:cNvSpPr txBox="1"/>
          <p:nvPr/>
        </p:nvSpPr>
        <p:spPr>
          <a:xfrm>
            <a:off x="9966878" y="4982098"/>
            <a:ext cx="2382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Borrowed by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5BC7282-7F19-6A1B-F19A-CE5191B7C8AC}"/>
              </a:ext>
            </a:extLst>
          </p:cNvPr>
          <p:cNvSpPr/>
          <p:nvPr/>
        </p:nvSpPr>
        <p:spPr>
          <a:xfrm>
            <a:off x="8683903" y="5730766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email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85B099C-D6B6-3D20-76B3-E28288C71A25}"/>
              </a:ext>
            </a:extLst>
          </p:cNvPr>
          <p:cNvSpPr/>
          <p:nvPr/>
        </p:nvSpPr>
        <p:spPr>
          <a:xfrm>
            <a:off x="8683903" y="5447707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name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8A21E7D-F531-FF4C-B650-3250650CF5FB}"/>
              </a:ext>
            </a:extLst>
          </p:cNvPr>
          <p:cNvSpPr/>
          <p:nvPr/>
        </p:nvSpPr>
        <p:spPr>
          <a:xfrm>
            <a:off x="8683902" y="5144574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id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360F4E6-ADFC-5B51-B641-CE0926D90806}"/>
              </a:ext>
            </a:extLst>
          </p:cNvPr>
          <p:cNvSpPr/>
          <p:nvPr/>
        </p:nvSpPr>
        <p:spPr>
          <a:xfrm>
            <a:off x="8687862" y="6444569"/>
            <a:ext cx="1109564" cy="41343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Return(Book)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CD7DFAD-5C58-6A00-2068-1FB7228432E7}"/>
              </a:ext>
            </a:extLst>
          </p:cNvPr>
          <p:cNvSpPr/>
          <p:nvPr/>
        </p:nvSpPr>
        <p:spPr>
          <a:xfrm>
            <a:off x="8683328" y="6026941"/>
            <a:ext cx="1114097" cy="41343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Borrow(Book)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4E984D3-79F7-8A21-28E0-C2FC6767C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0" y="2813285"/>
            <a:ext cx="8663166" cy="1318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This method lets a member return a book they borrowed. If they never borrowed it, the system warns them.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11D97F3-3031-C98C-1660-725842D1BA98}"/>
              </a:ext>
            </a:extLst>
          </p:cNvPr>
          <p:cNvSpPr/>
          <p:nvPr/>
        </p:nvSpPr>
        <p:spPr>
          <a:xfrm>
            <a:off x="9945446" y="5430798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51760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C200A-DC1B-05BC-20B3-3D04C2BBE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4B9EC00C-6D37-FA13-7853-A838FB51B378}"/>
              </a:ext>
            </a:extLst>
          </p:cNvPr>
          <p:cNvSpPr/>
          <p:nvPr/>
        </p:nvSpPr>
        <p:spPr>
          <a:xfrm>
            <a:off x="8504654" y="2532405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Member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ACB33B1-5612-B312-5E39-8403815E0E94}"/>
              </a:ext>
            </a:extLst>
          </p:cNvPr>
          <p:cNvCxnSpPr>
            <a:cxnSpLocks/>
          </p:cNvCxnSpPr>
          <p:nvPr/>
        </p:nvCxnSpPr>
        <p:spPr>
          <a:xfrm>
            <a:off x="9630475" y="3169095"/>
            <a:ext cx="1827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50D7A08-2FF3-533D-4DF8-35B4C5F26E8A}"/>
              </a:ext>
            </a:extLst>
          </p:cNvPr>
          <p:cNvCxnSpPr>
            <a:cxnSpLocks/>
          </p:cNvCxnSpPr>
          <p:nvPr/>
        </p:nvCxnSpPr>
        <p:spPr>
          <a:xfrm flipV="1">
            <a:off x="11445912" y="1698074"/>
            <a:ext cx="236134" cy="1771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1373365-211E-48C7-3CAC-34B098D8FAC9}"/>
              </a:ext>
            </a:extLst>
          </p:cNvPr>
          <p:cNvCxnSpPr>
            <a:cxnSpLocks/>
          </p:cNvCxnSpPr>
          <p:nvPr/>
        </p:nvCxnSpPr>
        <p:spPr>
          <a:xfrm>
            <a:off x="11224846" y="1709826"/>
            <a:ext cx="221066" cy="1595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0A9CAE87-1E9B-6084-458F-9DC121CD539A}"/>
              </a:ext>
            </a:extLst>
          </p:cNvPr>
          <p:cNvSpPr/>
          <p:nvPr/>
        </p:nvSpPr>
        <p:spPr>
          <a:xfrm>
            <a:off x="11379614" y="1877632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49E9221-AC06-F42B-D6A0-69BC91329D8E}"/>
              </a:ext>
            </a:extLst>
          </p:cNvPr>
          <p:cNvCxnSpPr/>
          <p:nvPr/>
        </p:nvCxnSpPr>
        <p:spPr>
          <a:xfrm>
            <a:off x="9685903" y="2988399"/>
            <a:ext cx="0" cy="3284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7E36402-706E-7999-339B-D208FE2726A7}"/>
              </a:ext>
            </a:extLst>
          </p:cNvPr>
          <p:cNvSpPr txBox="1"/>
          <p:nvPr/>
        </p:nvSpPr>
        <p:spPr>
          <a:xfrm>
            <a:off x="10423171" y="1714044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(0, 5)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7EFD4F-CC3C-0C31-46E4-C38EBA84F082}"/>
              </a:ext>
            </a:extLst>
          </p:cNvPr>
          <p:cNvSpPr txBox="1"/>
          <p:nvPr/>
        </p:nvSpPr>
        <p:spPr>
          <a:xfrm>
            <a:off x="9211568" y="2080274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(0, 1)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C26B549-9C4F-0CCA-BEAC-C8EFDBB7C1B6}"/>
              </a:ext>
            </a:extLst>
          </p:cNvPr>
          <p:cNvSpPr/>
          <p:nvPr/>
        </p:nvSpPr>
        <p:spPr>
          <a:xfrm>
            <a:off x="8504653" y="400529"/>
            <a:ext cx="1114097" cy="66102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Library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15D932F-BFD7-5BA8-5E50-D5B92AD3C93E}"/>
              </a:ext>
            </a:extLst>
          </p:cNvPr>
          <p:cNvSpPr/>
          <p:nvPr/>
        </p:nvSpPr>
        <p:spPr>
          <a:xfrm>
            <a:off x="10900015" y="411287"/>
            <a:ext cx="1109095" cy="35877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Book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10122F2-DC16-EEB5-6893-DFB7C01A2780}"/>
              </a:ext>
            </a:extLst>
          </p:cNvPr>
          <p:cNvCxnSpPr/>
          <p:nvPr/>
        </p:nvCxnSpPr>
        <p:spPr>
          <a:xfrm>
            <a:off x="9618750" y="1043081"/>
            <a:ext cx="12701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5EA0829-B53E-961A-E023-B7E2AC2AED35}"/>
              </a:ext>
            </a:extLst>
          </p:cNvPr>
          <p:cNvCxnSpPr>
            <a:cxnSpLocks/>
          </p:cNvCxnSpPr>
          <p:nvPr/>
        </p:nvCxnSpPr>
        <p:spPr>
          <a:xfrm flipV="1">
            <a:off x="10701315" y="901190"/>
            <a:ext cx="187549" cy="141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304888F-C086-9045-6BF2-618C5B9E196C}"/>
              </a:ext>
            </a:extLst>
          </p:cNvPr>
          <p:cNvCxnSpPr>
            <a:cxnSpLocks/>
          </p:cNvCxnSpPr>
          <p:nvPr/>
        </p:nvCxnSpPr>
        <p:spPr>
          <a:xfrm>
            <a:off x="10701315" y="1043081"/>
            <a:ext cx="187549" cy="141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3A4F0F32-6525-9C9E-8E65-A6D3E36CB5E7}"/>
              </a:ext>
            </a:extLst>
          </p:cNvPr>
          <p:cNvSpPr/>
          <p:nvPr/>
        </p:nvSpPr>
        <p:spPr>
          <a:xfrm>
            <a:off x="10486726" y="972135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4FBE4E7-3E2C-C165-8850-90622D8ADBDE}"/>
              </a:ext>
            </a:extLst>
          </p:cNvPr>
          <p:cNvCxnSpPr/>
          <p:nvPr/>
        </p:nvCxnSpPr>
        <p:spPr>
          <a:xfrm>
            <a:off x="9685902" y="856523"/>
            <a:ext cx="0" cy="3284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8DDF5BD-20C8-CB7D-F958-E8129AEA0E47}"/>
              </a:ext>
            </a:extLst>
          </p:cNvPr>
          <p:cNvSpPr txBox="1"/>
          <p:nvPr/>
        </p:nvSpPr>
        <p:spPr>
          <a:xfrm>
            <a:off x="10331814" y="-51602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(1, M)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4711F3B-67BC-F986-8359-65A5019956C0}"/>
              </a:ext>
            </a:extLst>
          </p:cNvPr>
          <p:cNvSpPr txBox="1"/>
          <p:nvPr/>
        </p:nvSpPr>
        <p:spPr>
          <a:xfrm>
            <a:off x="9211567" y="-51602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(1, 1)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D3672B1-20F9-C0D0-8F17-66FEDAD5E2E2}"/>
              </a:ext>
            </a:extLst>
          </p:cNvPr>
          <p:cNvSpPr/>
          <p:nvPr/>
        </p:nvSpPr>
        <p:spPr>
          <a:xfrm>
            <a:off x="8504652" y="1366920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address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CE2CD7C-77FD-0ADE-3FE9-EBF956B1276B}"/>
              </a:ext>
            </a:extLst>
          </p:cNvPr>
          <p:cNvSpPr/>
          <p:nvPr/>
        </p:nvSpPr>
        <p:spPr>
          <a:xfrm>
            <a:off x="8504652" y="1061559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name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67B2156-B273-8099-F4FD-20E7D6844984}"/>
              </a:ext>
            </a:extLst>
          </p:cNvPr>
          <p:cNvSpPr txBox="1"/>
          <p:nvPr/>
        </p:nvSpPr>
        <p:spPr>
          <a:xfrm>
            <a:off x="9768616" y="577474"/>
            <a:ext cx="931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has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52F7E9E-D9E6-F611-4B42-8D5E8182F629}"/>
              </a:ext>
            </a:extLst>
          </p:cNvPr>
          <p:cNvSpPr/>
          <p:nvPr/>
        </p:nvSpPr>
        <p:spPr>
          <a:xfrm>
            <a:off x="10895014" y="1378552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status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B9F052A-001C-C9EF-A794-260ABA641EAB}"/>
              </a:ext>
            </a:extLst>
          </p:cNvPr>
          <p:cNvSpPr/>
          <p:nvPr/>
        </p:nvSpPr>
        <p:spPr>
          <a:xfrm>
            <a:off x="10895014" y="1073191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isbn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565AE45-5FE9-4FAE-7DEE-1E372D87AFE5}"/>
              </a:ext>
            </a:extLst>
          </p:cNvPr>
          <p:cNvSpPr/>
          <p:nvPr/>
        </p:nvSpPr>
        <p:spPr>
          <a:xfrm>
            <a:off x="10895013" y="770058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title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CF41E22-AE70-73C5-174F-80F6C443781A}"/>
              </a:ext>
            </a:extLst>
          </p:cNvPr>
          <p:cNvCxnSpPr>
            <a:cxnSpLocks/>
            <a:endCxn id="61" idx="2"/>
          </p:cNvCxnSpPr>
          <p:nvPr/>
        </p:nvCxnSpPr>
        <p:spPr>
          <a:xfrm flipH="1" flipV="1">
            <a:off x="11452063" y="1683911"/>
            <a:ext cx="1383" cy="14813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7EA928DC-B005-969E-68A4-1D3D33CD2016}"/>
              </a:ext>
            </a:extLst>
          </p:cNvPr>
          <p:cNvSpPr txBox="1"/>
          <p:nvPr/>
        </p:nvSpPr>
        <p:spPr>
          <a:xfrm>
            <a:off x="9788202" y="2658030"/>
            <a:ext cx="2382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Borrowed by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56525BE-C8B8-436C-A0F7-9CC6D9BABA4E}"/>
              </a:ext>
            </a:extLst>
          </p:cNvPr>
          <p:cNvSpPr/>
          <p:nvPr/>
        </p:nvSpPr>
        <p:spPr>
          <a:xfrm>
            <a:off x="8505227" y="3406698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email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FD0073D-D558-BA52-2A0A-6ACF48951731}"/>
              </a:ext>
            </a:extLst>
          </p:cNvPr>
          <p:cNvSpPr/>
          <p:nvPr/>
        </p:nvSpPr>
        <p:spPr>
          <a:xfrm>
            <a:off x="8505227" y="3123639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name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A416A19-7F25-32D5-35B8-7DECE746AD97}"/>
              </a:ext>
            </a:extLst>
          </p:cNvPr>
          <p:cNvSpPr/>
          <p:nvPr/>
        </p:nvSpPr>
        <p:spPr>
          <a:xfrm>
            <a:off x="8505226" y="2820506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id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BAE0F89-5C3E-2A39-2895-3FEB91C8542B}"/>
              </a:ext>
            </a:extLst>
          </p:cNvPr>
          <p:cNvSpPr/>
          <p:nvPr/>
        </p:nvSpPr>
        <p:spPr>
          <a:xfrm>
            <a:off x="8509186" y="4120501"/>
            <a:ext cx="1109564" cy="41343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Return(Book)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AA362B3-22F5-A684-31F2-D80DE62FC084}"/>
              </a:ext>
            </a:extLst>
          </p:cNvPr>
          <p:cNvSpPr/>
          <p:nvPr/>
        </p:nvSpPr>
        <p:spPr>
          <a:xfrm>
            <a:off x="8504652" y="3702873"/>
            <a:ext cx="1114097" cy="41343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Borrow(Book)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3B6BCB-139F-E83C-A841-CB9BF9AD8CD6}"/>
              </a:ext>
            </a:extLst>
          </p:cNvPr>
          <p:cNvSpPr txBox="1"/>
          <p:nvPr/>
        </p:nvSpPr>
        <p:spPr>
          <a:xfrm>
            <a:off x="5785" y="-7708"/>
            <a:ext cx="8447718" cy="31700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Library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def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__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init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__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address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address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address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books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def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add_book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books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append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3D444FB-B84E-A708-DFDA-33D387712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23639"/>
            <a:ext cx="8447719" cy="2610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Library class</a:t>
            </a:r>
          </a:p>
          <a:p>
            <a:pPr marL="914400" marR="0" lvl="1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Has a name, address, and a list of books.</a:t>
            </a:r>
          </a:p>
          <a:p>
            <a:pPr marL="914400" marR="0" lvl="1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add_book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(book) → puts new books into the library.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232E33C-8364-A4EC-802C-CD51B5C368EF}"/>
              </a:ext>
            </a:extLst>
          </p:cNvPr>
          <p:cNvSpPr/>
          <p:nvPr/>
        </p:nvSpPr>
        <p:spPr>
          <a:xfrm>
            <a:off x="9754935" y="3112668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66573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3007E-4E35-0469-FDD0-767EB22BF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991160-805A-D7B8-75DE-8A0CF31CBB90}"/>
              </a:ext>
            </a:extLst>
          </p:cNvPr>
          <p:cNvSpPr txBox="1"/>
          <p:nvPr/>
        </p:nvSpPr>
        <p:spPr>
          <a:xfrm>
            <a:off x="0" y="-8983"/>
            <a:ext cx="12192000" cy="509370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--- Example usage ---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library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Library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"Sydney Library"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"123 George St"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book1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"Python Basics"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"111"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book2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"Java Programming"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"222"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library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add_book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book1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library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add_book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book2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member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Member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"Farshid Keivanian"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"Farshid.Keivanian@uts.edu.au"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member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book1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 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 borrow success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member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book1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 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 already borrowed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member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return_book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book1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 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 return success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3AF7043-6F30-1644-4EB1-9B757ABE53F4}"/>
              </a:ext>
            </a:extLst>
          </p:cNvPr>
          <p:cNvSpPr/>
          <p:nvPr/>
        </p:nvSpPr>
        <p:spPr>
          <a:xfrm>
            <a:off x="8651799" y="4856473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Member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E43C95B-69AF-12FE-A327-4D2720AE8A26}"/>
              </a:ext>
            </a:extLst>
          </p:cNvPr>
          <p:cNvCxnSpPr>
            <a:cxnSpLocks/>
          </p:cNvCxnSpPr>
          <p:nvPr/>
        </p:nvCxnSpPr>
        <p:spPr>
          <a:xfrm>
            <a:off x="9777620" y="5493163"/>
            <a:ext cx="1827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B622248-92F5-47D3-6E4F-71C922A42704}"/>
              </a:ext>
            </a:extLst>
          </p:cNvPr>
          <p:cNvCxnSpPr>
            <a:cxnSpLocks/>
          </p:cNvCxnSpPr>
          <p:nvPr/>
        </p:nvCxnSpPr>
        <p:spPr>
          <a:xfrm flipV="1">
            <a:off x="11593057" y="4022142"/>
            <a:ext cx="236134" cy="1771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02F79A2-F920-B129-F82F-493B9ABA33A3}"/>
              </a:ext>
            </a:extLst>
          </p:cNvPr>
          <p:cNvCxnSpPr>
            <a:cxnSpLocks/>
          </p:cNvCxnSpPr>
          <p:nvPr/>
        </p:nvCxnSpPr>
        <p:spPr>
          <a:xfrm>
            <a:off x="11371991" y="4033894"/>
            <a:ext cx="221066" cy="1595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A44F11D0-5FFD-A39F-F75E-F94481ECD7BB}"/>
              </a:ext>
            </a:extLst>
          </p:cNvPr>
          <p:cNvSpPr/>
          <p:nvPr/>
        </p:nvSpPr>
        <p:spPr>
          <a:xfrm>
            <a:off x="11526759" y="4201700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27F5D9B-65C0-9E97-9511-4AE3FEA09E1B}"/>
              </a:ext>
            </a:extLst>
          </p:cNvPr>
          <p:cNvCxnSpPr/>
          <p:nvPr/>
        </p:nvCxnSpPr>
        <p:spPr>
          <a:xfrm>
            <a:off x="9833048" y="5312467"/>
            <a:ext cx="0" cy="3284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65B3BE0-63D4-C2F4-0892-4BF913062F95}"/>
              </a:ext>
            </a:extLst>
          </p:cNvPr>
          <p:cNvSpPr txBox="1"/>
          <p:nvPr/>
        </p:nvSpPr>
        <p:spPr>
          <a:xfrm>
            <a:off x="10570316" y="4038112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(0, 5)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7F21134-7135-31D5-1B3C-F9F1B72AE9E4}"/>
              </a:ext>
            </a:extLst>
          </p:cNvPr>
          <p:cNvSpPr txBox="1"/>
          <p:nvPr/>
        </p:nvSpPr>
        <p:spPr>
          <a:xfrm>
            <a:off x="9358713" y="4404342"/>
            <a:ext cx="11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(0, 1)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90C6471-FF82-208B-F2E5-9B25FE0BA746}"/>
              </a:ext>
            </a:extLst>
          </p:cNvPr>
          <p:cNvSpPr/>
          <p:nvPr/>
        </p:nvSpPr>
        <p:spPr>
          <a:xfrm>
            <a:off x="8651798" y="2724597"/>
            <a:ext cx="1114097" cy="66102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Library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361BF11-E39D-E753-A2E7-75A9D412BE65}"/>
              </a:ext>
            </a:extLst>
          </p:cNvPr>
          <p:cNvSpPr/>
          <p:nvPr/>
        </p:nvSpPr>
        <p:spPr>
          <a:xfrm>
            <a:off x="11047160" y="2735355"/>
            <a:ext cx="1109095" cy="35877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Book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D2BB4B9-8AE9-BFEA-DE06-619AD13D6E24}"/>
              </a:ext>
            </a:extLst>
          </p:cNvPr>
          <p:cNvCxnSpPr/>
          <p:nvPr/>
        </p:nvCxnSpPr>
        <p:spPr>
          <a:xfrm>
            <a:off x="9765895" y="3367149"/>
            <a:ext cx="12701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BDBEF55-2D8C-7B03-F110-84B0802F4771}"/>
              </a:ext>
            </a:extLst>
          </p:cNvPr>
          <p:cNvCxnSpPr>
            <a:cxnSpLocks/>
          </p:cNvCxnSpPr>
          <p:nvPr/>
        </p:nvCxnSpPr>
        <p:spPr>
          <a:xfrm flipV="1">
            <a:off x="10848460" y="3225258"/>
            <a:ext cx="187549" cy="141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243D194-32F0-EF94-C3F4-0B5AEF898A5B}"/>
              </a:ext>
            </a:extLst>
          </p:cNvPr>
          <p:cNvCxnSpPr>
            <a:cxnSpLocks/>
          </p:cNvCxnSpPr>
          <p:nvPr/>
        </p:nvCxnSpPr>
        <p:spPr>
          <a:xfrm>
            <a:off x="10848460" y="3367149"/>
            <a:ext cx="187549" cy="141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EEE71CBC-A660-58C6-52ED-D9BF065D0A26}"/>
              </a:ext>
            </a:extLst>
          </p:cNvPr>
          <p:cNvSpPr/>
          <p:nvPr/>
        </p:nvSpPr>
        <p:spPr>
          <a:xfrm>
            <a:off x="10633871" y="3296203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A1995D7-CE21-739F-0977-8167FF47A26F}"/>
              </a:ext>
            </a:extLst>
          </p:cNvPr>
          <p:cNvCxnSpPr/>
          <p:nvPr/>
        </p:nvCxnSpPr>
        <p:spPr>
          <a:xfrm>
            <a:off x="9833047" y="3180591"/>
            <a:ext cx="0" cy="3284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E5A69A8-EB79-27AB-01D7-0AA6C05F8C93}"/>
              </a:ext>
            </a:extLst>
          </p:cNvPr>
          <p:cNvSpPr txBox="1"/>
          <p:nvPr/>
        </p:nvSpPr>
        <p:spPr>
          <a:xfrm>
            <a:off x="10693870" y="2090634"/>
            <a:ext cx="1114098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(1, M)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8194AEE-4EDE-558F-EE44-AEC520D6C329}"/>
              </a:ext>
            </a:extLst>
          </p:cNvPr>
          <p:cNvSpPr txBox="1"/>
          <p:nvPr/>
        </p:nvSpPr>
        <p:spPr>
          <a:xfrm>
            <a:off x="8990850" y="2050824"/>
            <a:ext cx="1114098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(1, 1)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CC980BF-2885-7FE7-E0D3-13BE23FB6FA3}"/>
              </a:ext>
            </a:extLst>
          </p:cNvPr>
          <p:cNvSpPr/>
          <p:nvPr/>
        </p:nvSpPr>
        <p:spPr>
          <a:xfrm>
            <a:off x="8651797" y="3690988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address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6675540-600A-5AA4-C5AF-93D70AF68C0A}"/>
              </a:ext>
            </a:extLst>
          </p:cNvPr>
          <p:cNvSpPr/>
          <p:nvPr/>
        </p:nvSpPr>
        <p:spPr>
          <a:xfrm>
            <a:off x="8651797" y="3385627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name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520E4D8-3921-7724-F2AE-773548F4BD5B}"/>
              </a:ext>
            </a:extLst>
          </p:cNvPr>
          <p:cNvSpPr txBox="1"/>
          <p:nvPr/>
        </p:nvSpPr>
        <p:spPr>
          <a:xfrm>
            <a:off x="9915761" y="2901542"/>
            <a:ext cx="931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has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326AA87-6AAC-12BF-E4AA-2350C3DB3C6B}"/>
              </a:ext>
            </a:extLst>
          </p:cNvPr>
          <p:cNvSpPr/>
          <p:nvPr/>
        </p:nvSpPr>
        <p:spPr>
          <a:xfrm>
            <a:off x="11042159" y="3702620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status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5A16D15-E0EA-5CCB-EC0F-DF0FD6F33EBD}"/>
              </a:ext>
            </a:extLst>
          </p:cNvPr>
          <p:cNvSpPr/>
          <p:nvPr/>
        </p:nvSpPr>
        <p:spPr>
          <a:xfrm>
            <a:off x="11042159" y="3397259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isbn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F99E9D8-9873-BCDF-80EA-57431DEFD123}"/>
              </a:ext>
            </a:extLst>
          </p:cNvPr>
          <p:cNvSpPr/>
          <p:nvPr/>
        </p:nvSpPr>
        <p:spPr>
          <a:xfrm>
            <a:off x="11042158" y="3094126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title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1A7A69D-F58C-8F0F-4A21-BE0A26428C6A}"/>
              </a:ext>
            </a:extLst>
          </p:cNvPr>
          <p:cNvCxnSpPr>
            <a:cxnSpLocks/>
            <a:endCxn id="61" idx="2"/>
          </p:cNvCxnSpPr>
          <p:nvPr/>
        </p:nvCxnSpPr>
        <p:spPr>
          <a:xfrm flipH="1" flipV="1">
            <a:off x="11599208" y="4007979"/>
            <a:ext cx="1383" cy="14813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80C9D4F6-492E-9A5E-B60A-643CE9771352}"/>
              </a:ext>
            </a:extLst>
          </p:cNvPr>
          <p:cNvSpPr txBox="1"/>
          <p:nvPr/>
        </p:nvSpPr>
        <p:spPr>
          <a:xfrm>
            <a:off x="9935347" y="4982098"/>
            <a:ext cx="2382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Borrowed by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37C9499-4AA4-93D1-1FF3-A4602679FD96}"/>
              </a:ext>
            </a:extLst>
          </p:cNvPr>
          <p:cNvSpPr/>
          <p:nvPr/>
        </p:nvSpPr>
        <p:spPr>
          <a:xfrm>
            <a:off x="8652372" y="5730766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email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C4D9258-FCCE-94A8-238C-C605EF1FCE27}"/>
              </a:ext>
            </a:extLst>
          </p:cNvPr>
          <p:cNvSpPr/>
          <p:nvPr/>
        </p:nvSpPr>
        <p:spPr>
          <a:xfrm>
            <a:off x="8652372" y="5447707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name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02856C-A40D-C794-D712-C786E933BFCE}"/>
              </a:ext>
            </a:extLst>
          </p:cNvPr>
          <p:cNvSpPr/>
          <p:nvPr/>
        </p:nvSpPr>
        <p:spPr>
          <a:xfrm>
            <a:off x="8652371" y="5144574"/>
            <a:ext cx="1114097" cy="3053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id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4674519-7E7E-6CE8-D86B-41C04295045E}"/>
              </a:ext>
            </a:extLst>
          </p:cNvPr>
          <p:cNvSpPr/>
          <p:nvPr/>
        </p:nvSpPr>
        <p:spPr>
          <a:xfrm>
            <a:off x="8656331" y="6444569"/>
            <a:ext cx="1109564" cy="41343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Return(Book)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C103744-514F-9E89-1DDB-38D8348B7832}"/>
              </a:ext>
            </a:extLst>
          </p:cNvPr>
          <p:cNvSpPr/>
          <p:nvPr/>
        </p:nvSpPr>
        <p:spPr>
          <a:xfrm>
            <a:off x="8651797" y="6026941"/>
            <a:ext cx="1114097" cy="41343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Borrow(Book)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F14F2E-4533-B764-52B2-51389726F274}"/>
              </a:ext>
            </a:extLst>
          </p:cNvPr>
          <p:cNvSpPr txBox="1"/>
          <p:nvPr/>
        </p:nvSpPr>
        <p:spPr>
          <a:xfrm>
            <a:off x="58544" y="5169189"/>
            <a:ext cx="620907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Usage Example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633413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Create a library.</a:t>
            </a:r>
          </a:p>
          <a:p>
            <a:pPr marL="633413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Add some books.</a:t>
            </a:r>
          </a:p>
          <a:p>
            <a:pPr marL="633413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Create a member.</a:t>
            </a:r>
          </a:p>
          <a:p>
            <a:pPr marL="633413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Borrow and return books → see rules enforced (max 5, no double borrowing).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33F59AD-0DC7-C1C9-68EE-73D994219EBC}"/>
              </a:ext>
            </a:extLst>
          </p:cNvPr>
          <p:cNvSpPr/>
          <p:nvPr/>
        </p:nvSpPr>
        <p:spPr>
          <a:xfrm>
            <a:off x="9945446" y="5430798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54906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67B8C-9F76-70F7-CFAF-4D846F21C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7FDFB-755D-5EBD-D4DB-A68EC40A0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2662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Calibir"/>
              </a:rPr>
              <a:t>From UML Diagram to Code: Library Example (</a:t>
            </a:r>
            <a:r>
              <a:rPr lang="en-US" sz="3600" b="1" dirty="0">
                <a:highlight>
                  <a:srgbClr val="00FF00"/>
                </a:highlight>
                <a:latin typeface="Calibir"/>
              </a:rPr>
              <a:t>Python</a:t>
            </a:r>
            <a:r>
              <a:rPr lang="en-US" sz="3600" b="1" dirty="0">
                <a:latin typeface="Calibir"/>
              </a:rPr>
              <a:t>)</a:t>
            </a:r>
            <a:endParaRPr lang="en-AU" sz="36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E348AB-ED53-0831-92B5-6E505FDFF108}"/>
              </a:ext>
            </a:extLst>
          </p:cNvPr>
          <p:cNvSpPr txBox="1"/>
          <p:nvPr/>
        </p:nvSpPr>
        <p:spPr>
          <a:xfrm>
            <a:off x="21020" y="1020747"/>
            <a:ext cx="12170979" cy="1968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Code is also Available on GitHub (Please download it; we will have activities to extend it)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library_system.py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ir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0DA416-995D-B52E-2DCC-74B82998CE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434" r="40753" b="43440"/>
          <a:stretch>
            <a:fillRect/>
          </a:stretch>
        </p:blipFill>
        <p:spPr>
          <a:xfrm>
            <a:off x="-1" y="3006084"/>
            <a:ext cx="9879725" cy="3763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4637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D2C9A-47FA-7678-4C71-D7524ABA8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B763E-3684-7C27-BFD4-E3DD62932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2662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Calibir"/>
              </a:rPr>
              <a:t>From UML Diagram to Code: Library Example (</a:t>
            </a:r>
            <a:r>
              <a:rPr lang="en-US" sz="3600" b="1" dirty="0">
                <a:highlight>
                  <a:srgbClr val="00FF00"/>
                </a:highlight>
                <a:latin typeface="Calibir"/>
              </a:rPr>
              <a:t>Python</a:t>
            </a:r>
            <a:r>
              <a:rPr lang="en-US" sz="3600" b="1" dirty="0">
                <a:latin typeface="Calibir"/>
              </a:rPr>
              <a:t>)</a:t>
            </a:r>
            <a:endParaRPr lang="en-AU" sz="3600" b="1" dirty="0">
              <a:latin typeface="Calibir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DFD99E-CA86-B423-00F0-5B69B9FF5C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555" t="8359" r="9808" b="46210"/>
          <a:stretch>
            <a:fillRect/>
          </a:stretch>
        </p:blipFill>
        <p:spPr>
          <a:xfrm>
            <a:off x="23045" y="718014"/>
            <a:ext cx="12168956" cy="530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0524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7B6B2-7B3D-B8E2-9E67-5B6D6D3EA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AE690-A9B2-D11B-CDC7-4BEEB8394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2662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Calibir"/>
              </a:rPr>
              <a:t>From UML Diagram to Code: Library Example (</a:t>
            </a:r>
            <a:r>
              <a:rPr lang="en-US" sz="3600" b="1" dirty="0">
                <a:highlight>
                  <a:srgbClr val="00FF00"/>
                </a:highlight>
                <a:latin typeface="Calibir"/>
              </a:rPr>
              <a:t>Python</a:t>
            </a:r>
            <a:r>
              <a:rPr lang="en-US" sz="3600" b="1" dirty="0">
                <a:latin typeface="Calibir"/>
              </a:rPr>
              <a:t>)</a:t>
            </a:r>
            <a:endParaRPr lang="en-AU" sz="3600" b="1" dirty="0">
              <a:latin typeface="Calibir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227A269-A0D5-B3C0-AD98-8A21B0B5C3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54083"/>
            <a:ext cx="12192000" cy="4549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The Interactive Window option </a:t>
            </a:r>
            <a:b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</a:b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belongs to the Python extension + </a:t>
            </a:r>
            <a:b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</a:b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Jupyter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extension in VS Code.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If you only see “Run in Terminal”, it means either:</a:t>
            </a:r>
          </a:p>
          <a:p>
            <a:pPr marL="1166813" marR="0" lvl="1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The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Jupyter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extension is not installed, or</a:t>
            </a:r>
          </a:p>
          <a:p>
            <a:pPr marL="1166813" marR="0" lvl="1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The file is not saved as .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py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, or</a:t>
            </a:r>
          </a:p>
          <a:p>
            <a:pPr marL="1166813" marR="0" lvl="1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They haven’t selected the right Python interpreter / kernel.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56400A-9EA1-0D07-35A3-A9276E421E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096" t="8358" r="9808" b="67473"/>
          <a:stretch>
            <a:fillRect/>
          </a:stretch>
        </p:blipFill>
        <p:spPr>
          <a:xfrm>
            <a:off x="6096000" y="718015"/>
            <a:ext cx="6096000" cy="229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689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92530-83AD-C693-807D-1CC050C18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F1722-07FA-DD09-3410-4F7319B98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2662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Calibir"/>
              </a:rPr>
              <a:t>From UML Diagram to Code: Library Example (</a:t>
            </a:r>
            <a:r>
              <a:rPr lang="en-US" sz="3600" b="1" dirty="0">
                <a:highlight>
                  <a:srgbClr val="00FF00"/>
                </a:highlight>
                <a:latin typeface="Calibir"/>
              </a:rPr>
              <a:t>Python</a:t>
            </a:r>
            <a:r>
              <a:rPr lang="en-US" sz="3600" b="1" dirty="0">
                <a:latin typeface="Calibir"/>
              </a:rPr>
              <a:t>)</a:t>
            </a:r>
            <a:endParaRPr lang="en-AU" sz="3600" b="1" dirty="0">
              <a:latin typeface="Calibir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6DACF1B-D61C-02DF-A529-61559571B0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54082"/>
            <a:ext cx="12192000" cy="4549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Fix Steps: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Check the file extension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Save your file as something.py.</a:t>
            </a:r>
          </a:p>
          <a:p>
            <a:pPr marL="914400" marR="0" lvl="1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If it’s .txt or unsaved, VS Code won’t show Interactive Window.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Install the </a:t>
            </a:r>
            <a:r>
              <a:rPr kumimoji="0" lang="en-US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Jupyter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extension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Go to the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Extensions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panel (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Ctrl+Shift+X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).</a:t>
            </a:r>
          </a:p>
          <a:p>
            <a:pPr marL="914400" marR="0" lvl="1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Search for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“</a:t>
            </a:r>
            <a:r>
              <a:rPr kumimoji="0" lang="en-US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Jupyter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”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and install it (alongside Python extension).</a:t>
            </a:r>
          </a:p>
        </p:txBody>
      </p:sp>
    </p:spTree>
    <p:extLst>
      <p:ext uri="{BB962C8B-B14F-4D97-AF65-F5344CB8AC3E}">
        <p14:creationId xmlns:p14="http://schemas.microsoft.com/office/powerpoint/2010/main" val="36443407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60988-38B1-9D13-184D-A4BD26C72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DA508-750F-7D42-118C-148E67E79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2662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Calibir"/>
              </a:rPr>
              <a:t>From UML Diagram to Code: Library Example (</a:t>
            </a:r>
            <a:r>
              <a:rPr lang="en-US" sz="3600" b="1" dirty="0">
                <a:highlight>
                  <a:srgbClr val="00FF00"/>
                </a:highlight>
                <a:latin typeface="Calibir"/>
              </a:rPr>
              <a:t>Python</a:t>
            </a:r>
            <a:r>
              <a:rPr lang="en-US" sz="3600" b="1" dirty="0">
                <a:latin typeface="Calibir"/>
              </a:rPr>
              <a:t>)</a:t>
            </a:r>
            <a:endParaRPr lang="en-AU" sz="3600" b="1" dirty="0">
              <a:latin typeface="Calibir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180B502-61D3-A39E-8AA5-96FBFC9D3B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78689"/>
            <a:ext cx="12192000" cy="3900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3"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Select Python interpreter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Press </a:t>
            </a:r>
            <a:r>
              <a:rPr kumimoji="0" lang="en-US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Ctrl+Shift+P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→ Python: Select Interpreter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.</a:t>
            </a:r>
          </a:p>
          <a:p>
            <a:pPr marL="914400" marR="0" lvl="1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Choose the one where you installed Python (or Anaconda if using it).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4"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Run with Interactive Window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Right-click inside the code editor →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Run Current File in Interactive Window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.</a:t>
            </a:r>
          </a:p>
          <a:p>
            <a:pPr marL="914400" marR="0" lvl="1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Or use the top-right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“Run” menu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78746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C8C48-13AA-5E2F-EFF1-6CE4A3277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DAFDF-0D0B-F7C2-2AA3-FA5AEDBDF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2662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Calibir"/>
              </a:rPr>
              <a:t>From UML Diagram to Code: Library Example (</a:t>
            </a:r>
            <a:r>
              <a:rPr lang="en-US" sz="3600" b="1" dirty="0">
                <a:highlight>
                  <a:srgbClr val="00FF00"/>
                </a:highlight>
                <a:latin typeface="Calibir"/>
              </a:rPr>
              <a:t>Python</a:t>
            </a:r>
            <a:r>
              <a:rPr lang="en-US" sz="3600" b="1" dirty="0">
                <a:latin typeface="Calibir"/>
              </a:rPr>
              <a:t>)</a:t>
            </a:r>
            <a:endParaRPr lang="en-AU" sz="3600" b="1" dirty="0">
              <a:latin typeface="Calibir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22D210B-FAD1-DAFE-1896-872D53330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46744"/>
            <a:ext cx="12192000" cy="1964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In short: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If you don’t see Interactive Window, don’t panic. Save your file as .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py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, install the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Jupyter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extension, and pick the right Python interpreter. Then it will appear </a:t>
            </a:r>
          </a:p>
        </p:txBody>
      </p:sp>
    </p:spTree>
    <p:extLst>
      <p:ext uri="{BB962C8B-B14F-4D97-AF65-F5344CB8AC3E}">
        <p14:creationId xmlns:p14="http://schemas.microsoft.com/office/powerpoint/2010/main" val="33376882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ED061-7801-8416-EF38-C6584D101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ED683-3999-5791-0D5B-961EAEA57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2662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Calibir"/>
              </a:rPr>
              <a:t>From UML Diagram to Code: Library Example (</a:t>
            </a:r>
            <a:r>
              <a:rPr lang="en-US" sz="3600" b="1" dirty="0">
                <a:highlight>
                  <a:srgbClr val="00FF00"/>
                </a:highlight>
                <a:latin typeface="Calibir"/>
              </a:rPr>
              <a:t>Python</a:t>
            </a:r>
            <a:r>
              <a:rPr lang="en-US" sz="3600" b="1" dirty="0">
                <a:latin typeface="Calibir"/>
              </a:rPr>
              <a:t>)</a:t>
            </a:r>
            <a:endParaRPr lang="en-AU" sz="3600" b="1" dirty="0">
              <a:latin typeface="Calibi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78BB50-E31C-3B94-EBC4-C4804B5097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895" b="42581"/>
          <a:stretch>
            <a:fillRect/>
          </a:stretch>
        </p:blipFill>
        <p:spPr>
          <a:xfrm>
            <a:off x="36973" y="672662"/>
            <a:ext cx="6447910" cy="4329233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40BC1705-50A3-E656-8C59-5DE6275754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1856" y="486760"/>
            <a:ext cx="5536814" cy="648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Farshid Keivanian borrowed 'Python Basics'.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The member successfully borrowed the book.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Conditions checked:</a:t>
            </a:r>
          </a:p>
          <a:p>
            <a:pPr marL="914400" marR="0" lvl="1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He had fewer than 5 books.</a:t>
            </a:r>
          </a:p>
          <a:p>
            <a:pPr marL="914400" marR="0" lvl="1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The book was available.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So the book’s status changed to borrowed, and it was added to his borrowed list.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34FA37D-1134-A63A-E586-F40BC85F57DF}"/>
              </a:ext>
            </a:extLst>
          </p:cNvPr>
          <p:cNvSpPr/>
          <p:nvPr/>
        </p:nvSpPr>
        <p:spPr>
          <a:xfrm>
            <a:off x="683172" y="3951890"/>
            <a:ext cx="5412828" cy="33633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70139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F1AA2-AB93-9779-CFB5-BF8B5DDD4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52ECA-FCA7-CE85-16CC-C5A9B9566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2662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Calibir"/>
              </a:rPr>
              <a:t>From UML Diagram to Code: Library Example (</a:t>
            </a:r>
            <a:r>
              <a:rPr lang="en-US" sz="3600" b="1" dirty="0">
                <a:highlight>
                  <a:srgbClr val="00FF00"/>
                </a:highlight>
                <a:latin typeface="Calibir"/>
              </a:rPr>
              <a:t>Python</a:t>
            </a:r>
            <a:r>
              <a:rPr lang="en-US" sz="3600" b="1" dirty="0">
                <a:latin typeface="Calibir"/>
              </a:rPr>
              <a:t>)</a:t>
            </a:r>
            <a:endParaRPr lang="en-AU" sz="3600" b="1" dirty="0">
              <a:latin typeface="Calibi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57D749-3E68-0679-C304-60CB78DE61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895" b="42581"/>
          <a:stretch>
            <a:fillRect/>
          </a:stretch>
        </p:blipFill>
        <p:spPr>
          <a:xfrm>
            <a:off x="36973" y="672662"/>
            <a:ext cx="6447910" cy="4329233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57C91D9-830F-FC8E-A59A-02ADAA89D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4883" y="672662"/>
            <a:ext cx="5536814" cy="5196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Book 'Python Basics' is already borrowed.</a:t>
            </a:r>
          </a:p>
          <a:p>
            <a:pPr marL="914400" marR="0" lvl="1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The member tried to borrow the same book again.</a:t>
            </a:r>
          </a:p>
          <a:p>
            <a:pPr marL="914400" marR="0" lvl="1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The system detected the book’s status was already borrowed, so it blocked the action.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2B15C08-636F-ED74-13FC-8C37576BB5A0}"/>
              </a:ext>
            </a:extLst>
          </p:cNvPr>
          <p:cNvSpPr/>
          <p:nvPr/>
        </p:nvSpPr>
        <p:spPr>
          <a:xfrm>
            <a:off x="683172" y="4277711"/>
            <a:ext cx="5412828" cy="33633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26387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B35B2-3FDB-BAB7-010F-F879D89B3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4F351-900C-42B5-3D1F-F42D3BB58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2662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Calibir"/>
              </a:rPr>
              <a:t>From UML Diagram to Code: Library Example (</a:t>
            </a:r>
            <a:r>
              <a:rPr lang="en-US" sz="3600" b="1" dirty="0">
                <a:highlight>
                  <a:srgbClr val="00FF00"/>
                </a:highlight>
                <a:latin typeface="Calibir"/>
              </a:rPr>
              <a:t>Python</a:t>
            </a:r>
            <a:r>
              <a:rPr lang="en-US" sz="3600" b="1" dirty="0">
                <a:latin typeface="Calibir"/>
              </a:rPr>
              <a:t>)</a:t>
            </a:r>
            <a:endParaRPr lang="en-AU" sz="3600" b="1" dirty="0">
              <a:latin typeface="Calibi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ABEF73-4C04-991B-1A2C-EA0235970E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895" b="42581"/>
          <a:stretch>
            <a:fillRect/>
          </a:stretch>
        </p:blipFill>
        <p:spPr>
          <a:xfrm>
            <a:off x="36973" y="672662"/>
            <a:ext cx="6447910" cy="4329233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015447B-4A9B-022E-2DDE-3406E9EC2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4883" y="672662"/>
            <a:ext cx="5536814" cy="5196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Farshid Keivanian returned 'Python Basics'.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The member returned the book successfully.</a:t>
            </a:r>
          </a:p>
          <a:p>
            <a:pPr marL="914400" marR="0" lvl="1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The book’s status changed back to available, and it was removed from his borrowed list.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FE5568D-C47A-20A9-63A0-D8E7055FF07F}"/>
              </a:ext>
            </a:extLst>
          </p:cNvPr>
          <p:cNvSpPr/>
          <p:nvPr/>
        </p:nvSpPr>
        <p:spPr>
          <a:xfrm>
            <a:off x="683172" y="4582511"/>
            <a:ext cx="5412828" cy="33633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33405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1FD43-667B-1C51-BB97-2755A0BFA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6CE2E-5840-2E30-291B-846DE855B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2662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Calibir"/>
              </a:rPr>
              <a:t>From UML Diagram to Code: Library Example (</a:t>
            </a:r>
            <a:r>
              <a:rPr lang="en-US" sz="3600" b="1" dirty="0">
                <a:highlight>
                  <a:srgbClr val="00FF00"/>
                </a:highlight>
                <a:latin typeface="Calibir"/>
              </a:rPr>
              <a:t>Python</a:t>
            </a:r>
            <a:r>
              <a:rPr lang="en-US" sz="3600" b="1" dirty="0">
                <a:latin typeface="Calibir"/>
              </a:rPr>
              <a:t>)</a:t>
            </a:r>
            <a:endParaRPr lang="en-AU" sz="3600" b="1" dirty="0">
              <a:latin typeface="Calibi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9CCE29-84D8-A06C-3A3E-50B390847B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895" b="42581"/>
          <a:stretch>
            <a:fillRect/>
          </a:stretch>
        </p:blipFill>
        <p:spPr>
          <a:xfrm>
            <a:off x="36973" y="672662"/>
            <a:ext cx="6447910" cy="4329233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D210F3F8-CAA8-7969-4BDA-0388BCC2A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4883" y="672662"/>
            <a:ext cx="5536814" cy="4549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Final State After Code Runs</a:t>
            </a:r>
          </a:p>
          <a:p>
            <a:pPr marL="714375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Library: Still has the book.</a:t>
            </a:r>
          </a:p>
          <a:p>
            <a:pPr marL="714375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Book ("Python Basics"): Available again (not borrowed by anyone).</a:t>
            </a:r>
          </a:p>
          <a:p>
            <a:pPr marL="714375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Member (Farshid): Has no borrowed books.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079DEAA-299C-7012-D80F-BA362EDC3591}"/>
              </a:ext>
            </a:extLst>
          </p:cNvPr>
          <p:cNvSpPr/>
          <p:nvPr/>
        </p:nvSpPr>
        <p:spPr>
          <a:xfrm>
            <a:off x="683172" y="4582511"/>
            <a:ext cx="5412828" cy="33633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60560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85789-8E92-A1A1-25E9-C55BF4C45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1627F-8055-8FBB-5F5A-667F1359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2662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Calibir"/>
              </a:rPr>
              <a:t>From UML Diagram to Code: Library Example (</a:t>
            </a:r>
            <a:r>
              <a:rPr lang="en-US" sz="3600" b="1" dirty="0">
                <a:highlight>
                  <a:srgbClr val="00FF00"/>
                </a:highlight>
                <a:latin typeface="Calibir"/>
              </a:rPr>
              <a:t>Python</a:t>
            </a:r>
            <a:r>
              <a:rPr lang="en-US" sz="3600" b="1" dirty="0">
                <a:latin typeface="Calibir"/>
              </a:rPr>
              <a:t>)</a:t>
            </a:r>
            <a:endParaRPr lang="en-AU" sz="3600" b="1" dirty="0">
              <a:latin typeface="Calibi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04E7B6-FADA-7382-6655-D2335DE5DB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895" b="42581"/>
          <a:stretch>
            <a:fillRect/>
          </a:stretch>
        </p:blipFill>
        <p:spPr>
          <a:xfrm>
            <a:off x="36973" y="672662"/>
            <a:ext cx="6447910" cy="4329233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E942744-21A1-0B08-1E11-B3020CD29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4883" y="679007"/>
            <a:ext cx="5536814" cy="3903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In short: The code correctly enforces the borrowing rules:</a:t>
            </a:r>
          </a:p>
          <a:p>
            <a:pPr marL="714375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Borrow once works.</a:t>
            </a:r>
          </a:p>
          <a:p>
            <a:pPr marL="714375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Borrowing again is blocked.</a:t>
            </a:r>
          </a:p>
          <a:p>
            <a:pPr marL="714375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Returning resets the book’s status.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03CC4D5-1ABE-81A7-7457-C87F297EC475}"/>
              </a:ext>
            </a:extLst>
          </p:cNvPr>
          <p:cNvSpPr/>
          <p:nvPr/>
        </p:nvSpPr>
        <p:spPr>
          <a:xfrm>
            <a:off x="683172" y="4582511"/>
            <a:ext cx="5412828" cy="33633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4347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E8CF6-BC19-4BB3-7CCC-95100F8DD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21523-2FA2-B23E-5014-41D398913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57048"/>
          </a:xfrm>
        </p:spPr>
        <p:txBody>
          <a:bodyPr anchor="b">
            <a:normAutofit fontScale="90000"/>
          </a:bodyPr>
          <a:lstStyle/>
          <a:p>
            <a:r>
              <a:rPr lang="en-US" sz="3600" b="1" dirty="0">
                <a:latin typeface="Calibir"/>
              </a:rPr>
              <a:t>Activity 1 — Show the current count when limit blocks borrowing</a:t>
            </a:r>
            <a:endParaRPr lang="en-AU" sz="3600" b="1" dirty="0">
              <a:latin typeface="Calibir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4232C39-4B67-B72F-D421-069ED2BA7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67374"/>
            <a:ext cx="12192000" cy="2610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Task: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When a member hits the 5-book limit, show how many they already have.</a:t>
            </a:r>
            <a:b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</a:b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Hint for Python: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Edit the first print(...) inside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Member.borrow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 where the limit is checked.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Hint for Java: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Inside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Member.borrow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 in the limit check.</a:t>
            </a:r>
          </a:p>
        </p:txBody>
      </p:sp>
      <p:pic>
        <p:nvPicPr>
          <p:cNvPr id="7" name="Timer">
            <a:hlinkClick r:id="" action="ppaction://media"/>
            <a:extLst>
              <a:ext uri="{FF2B5EF4-FFF2-40B4-BE49-F238E27FC236}">
                <a16:creationId xmlns:a16="http://schemas.microsoft.com/office/drawing/2014/main" id="{F75AE076-77EE-2741-9F57-F1E400B635A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0487" t="44980" r="40986" b="40884"/>
          <a:stretch>
            <a:fillRect/>
          </a:stretch>
        </p:blipFill>
        <p:spPr>
          <a:xfrm>
            <a:off x="5097702" y="3463057"/>
            <a:ext cx="1996596" cy="857075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65941773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E8CF6-BC19-4BB3-7CCC-95100F8DD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21523-2FA2-B23E-5014-41D398913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57048"/>
          </a:xfrm>
        </p:spPr>
        <p:txBody>
          <a:bodyPr anchor="b">
            <a:normAutofit fontScale="90000"/>
          </a:bodyPr>
          <a:lstStyle/>
          <a:p>
            <a:r>
              <a:rPr lang="en-US" sz="3600" b="1" dirty="0">
                <a:latin typeface="Calibir"/>
              </a:rPr>
              <a:t>Activity 1 — Show the current count when limit blocks borrowing</a:t>
            </a:r>
            <a:endParaRPr lang="en-AU" sz="3600" b="1" dirty="0">
              <a:latin typeface="Calibi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683913-22CC-AEBE-EBB4-3B1AE2E12BD3}"/>
              </a:ext>
            </a:extLst>
          </p:cNvPr>
          <p:cNvSpPr txBox="1"/>
          <p:nvPr/>
        </p:nvSpPr>
        <p:spPr>
          <a:xfrm>
            <a:off x="77514" y="858438"/>
            <a:ext cx="12036972" cy="105355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cannot borrow more than 5 books (currently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len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borrowed_books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/5)."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A35F8984-4872-0204-3DEC-A48F51265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11996"/>
            <a:ext cx="12192000" cy="3144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For Python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len</a:t>
            </a:r>
            <a:r>
              <a:rPr kumimoji="0" lang="en-US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</a:t>
            </a:r>
            <a:r>
              <a:rPr kumimoji="0" lang="en-US" altLang="en-US" sz="2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self.borrowed_books</a:t>
            </a:r>
            <a:r>
              <a:rPr kumimoji="0" lang="en-US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) → this calculates the length of the list </a:t>
            </a:r>
            <a:r>
              <a:rPr kumimoji="0" lang="en-US" altLang="en-US" sz="2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self.borrowed_books</a:t>
            </a:r>
            <a:r>
              <a:rPr kumimoji="0" lang="en-US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In other words, it counts how many books the member has borrowed right now.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Example: if the list has 3 books, then </a:t>
            </a:r>
            <a:r>
              <a:rPr kumimoji="0" lang="en-US" altLang="en-US" sz="2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len</a:t>
            </a:r>
            <a:r>
              <a:rPr kumimoji="0" lang="en-US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</a:t>
            </a:r>
            <a:r>
              <a:rPr kumimoji="0" lang="en-US" altLang="en-US" sz="2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self.borrowed_books</a:t>
            </a:r>
            <a:r>
              <a:rPr kumimoji="0" lang="en-US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) = 3. 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Then the code prints it as: (currently 3/5) → which means 3 books out of the 5 allowed.</a:t>
            </a:r>
          </a:p>
        </p:txBody>
      </p:sp>
    </p:spTree>
    <p:extLst>
      <p:ext uri="{BB962C8B-B14F-4D97-AF65-F5344CB8AC3E}">
        <p14:creationId xmlns:p14="http://schemas.microsoft.com/office/powerpoint/2010/main" val="10914436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F80FE-7BE1-34C8-DADD-C2B05CF82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BDA8D-BB25-20C9-FF4F-321CE0129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57048"/>
          </a:xfrm>
        </p:spPr>
        <p:txBody>
          <a:bodyPr anchor="b">
            <a:normAutofit fontScale="90000"/>
          </a:bodyPr>
          <a:lstStyle/>
          <a:p>
            <a:r>
              <a:rPr lang="en-US" sz="3600" b="1" dirty="0">
                <a:latin typeface="Calibir"/>
              </a:rPr>
              <a:t>Activity 1 — Show the current count when limit blocks borrowing</a:t>
            </a:r>
            <a:endParaRPr lang="en-AU" sz="36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BCAAF1-E792-B9BB-F2AA-5312994B4895}"/>
              </a:ext>
            </a:extLst>
          </p:cNvPr>
          <p:cNvSpPr txBox="1"/>
          <p:nvPr/>
        </p:nvSpPr>
        <p:spPr>
          <a:xfrm>
            <a:off x="0" y="1059850"/>
            <a:ext cx="5250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ir"/>
                <a:ea typeface="+mn-ea"/>
                <a:cs typeface="+mn-cs"/>
              </a:rPr>
              <a:t>(Java) 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Line 30: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6FCD97-DDCA-5925-5C97-5AD9BE97E642}"/>
              </a:ext>
            </a:extLst>
          </p:cNvPr>
          <p:cNvSpPr txBox="1"/>
          <p:nvPr/>
        </p:nvSpPr>
        <p:spPr>
          <a:xfrm>
            <a:off x="0" y="4715119"/>
            <a:ext cx="12088761" cy="73866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System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4FC1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out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println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 cannot borrow more than 5 books. You already have "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borrowedBooks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size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 book(s)."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CFA038-9532-06E4-25A5-C62D859F1E77}"/>
              </a:ext>
            </a:extLst>
          </p:cNvPr>
          <p:cNvSpPr txBox="1"/>
          <p:nvPr/>
        </p:nvSpPr>
        <p:spPr>
          <a:xfrm>
            <a:off x="0" y="1678715"/>
            <a:ext cx="12192000" cy="26108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if (</a:t>
            </a:r>
            <a:r>
              <a:rPr kumimoji="0" lang="en-AU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borrowedBooks.size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 &gt;= 5) {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   </a:t>
            </a:r>
            <a:r>
              <a:rPr kumimoji="0" lang="en-AU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System.out.println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(name + " cannot borrow more than 5 books.");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   return;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}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7CDF707B-26B3-2534-6926-BB3B7E4D85E1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5400000">
            <a:off x="5857411" y="4476529"/>
            <a:ext cx="425561" cy="51619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99646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E8CF6-BC19-4BB3-7CCC-95100F8DD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21523-2FA2-B23E-5014-41D398913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57048"/>
          </a:xfrm>
        </p:spPr>
        <p:txBody>
          <a:bodyPr anchor="b">
            <a:normAutofit fontScale="90000"/>
          </a:bodyPr>
          <a:lstStyle/>
          <a:p>
            <a:r>
              <a:rPr lang="en-US" sz="3600" b="1" dirty="0">
                <a:latin typeface="Calibir"/>
              </a:rPr>
              <a:t>Activity 2 — Show total borrowed after a successful borrow</a:t>
            </a:r>
            <a:endParaRPr lang="en-AU" sz="3600" b="1" dirty="0">
              <a:latin typeface="Calibir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4232C39-4B67-B72F-D421-069ED2BA7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41714"/>
            <a:ext cx="12192000" cy="3257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Task: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After borrowing succeeds, print how many books the member now has.</a:t>
            </a:r>
            <a:b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</a:b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Hint for Python: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Edit the last print(...) in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Member.borrow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 Class Member &gt;&gt; borrow method (success branch).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Hint for Java: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At the end of the success branch in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Member.borrow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 (after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borrowedBooks.add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(book);).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</p:txBody>
      </p:sp>
      <p:pic>
        <p:nvPicPr>
          <p:cNvPr id="7" name="Timer">
            <a:hlinkClick r:id="" action="ppaction://media"/>
            <a:extLst>
              <a:ext uri="{FF2B5EF4-FFF2-40B4-BE49-F238E27FC236}">
                <a16:creationId xmlns:a16="http://schemas.microsoft.com/office/drawing/2014/main" id="{F75AE076-77EE-2741-9F57-F1E400B635A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0487" t="44980" r="40986" b="40884"/>
          <a:stretch>
            <a:fillRect/>
          </a:stretch>
        </p:blipFill>
        <p:spPr>
          <a:xfrm>
            <a:off x="5097702" y="3998888"/>
            <a:ext cx="1996596" cy="857075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778188300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E8CF6-BC19-4BB3-7CCC-95100F8DD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21523-2FA2-B23E-5014-41D398913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57048"/>
          </a:xfrm>
        </p:spPr>
        <p:txBody>
          <a:bodyPr anchor="b">
            <a:normAutofit fontScale="90000"/>
          </a:bodyPr>
          <a:lstStyle/>
          <a:p>
            <a:r>
              <a:rPr lang="en-US" sz="3600" b="1" dirty="0">
                <a:latin typeface="Calibir"/>
              </a:rPr>
              <a:t>Activity 2 — Show total borrowed after a successful borrow</a:t>
            </a:r>
            <a:endParaRPr lang="en-AU" sz="3600" b="1" dirty="0">
              <a:latin typeface="Calibir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A35F8984-4872-0204-3DEC-A48F51265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82956"/>
            <a:ext cx="12192000" cy="3257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This line prints a message when a member borrows a book.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{self.name} → shows the member’s name.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{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book.title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} → shows the book’s title.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{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len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self.borrowed_books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)} → counts how many books the member has borrowed so far.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7B345-F67D-635A-5BDE-7B41B3B78806}"/>
              </a:ext>
            </a:extLst>
          </p:cNvPr>
          <p:cNvSpPr txBox="1"/>
          <p:nvPr/>
        </p:nvSpPr>
        <p:spPr>
          <a:xfrm>
            <a:off x="0" y="866514"/>
            <a:ext cx="12192000" cy="95410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borrowed '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.title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 (now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borrowed_books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borrowed)."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95E909-DC13-5763-1B24-35DB2C68AB85}"/>
              </a:ext>
            </a:extLst>
          </p:cNvPr>
          <p:cNvSpPr txBox="1"/>
          <p:nvPr/>
        </p:nvSpPr>
        <p:spPr>
          <a:xfrm>
            <a:off x="0" y="5402465"/>
            <a:ext cx="12192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In short: It tells who borrowed what book and how many books they now hold.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08162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C5726-B784-3FE1-1279-E3FE8E2F6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EBF7D-F526-8D2E-30C1-89075E6C4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57048"/>
          </a:xfrm>
        </p:spPr>
        <p:txBody>
          <a:bodyPr anchor="b">
            <a:normAutofit fontScale="90000"/>
          </a:bodyPr>
          <a:lstStyle/>
          <a:p>
            <a:r>
              <a:rPr lang="en-US" sz="3600" b="1" dirty="0">
                <a:latin typeface="Calibir"/>
              </a:rPr>
              <a:t>Activity 2 — Show total borrowed after a successful borrow</a:t>
            </a:r>
            <a:endParaRPr lang="en-AU" sz="36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FB72FA-79EA-2837-999A-B58875557ADB}"/>
              </a:ext>
            </a:extLst>
          </p:cNvPr>
          <p:cNvSpPr txBox="1"/>
          <p:nvPr/>
        </p:nvSpPr>
        <p:spPr>
          <a:xfrm>
            <a:off x="0" y="1059850"/>
            <a:ext cx="5250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ir"/>
                <a:ea typeface="+mn-ea"/>
                <a:cs typeface="+mn-cs"/>
              </a:rPr>
              <a:t>(Java) 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Line 41 of modified version: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109A3E-EB64-A194-C0A4-866088264628}"/>
              </a:ext>
            </a:extLst>
          </p:cNvPr>
          <p:cNvSpPr txBox="1"/>
          <p:nvPr/>
        </p:nvSpPr>
        <p:spPr>
          <a:xfrm>
            <a:off x="0" y="1678715"/>
            <a:ext cx="12192000" cy="6718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System.out.println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(name + " borrowed '" +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book.title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+ "'.");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75F51E04-2195-34BC-620B-3AA971B95285}"/>
              </a:ext>
            </a:extLst>
          </p:cNvPr>
          <p:cNvCxnSpPr>
            <a:cxnSpLocks/>
            <a:stCxn id="5" idx="2"/>
          </p:cNvCxnSpPr>
          <p:nvPr/>
        </p:nvCxnSpPr>
        <p:spPr>
          <a:xfrm rot="5400000">
            <a:off x="4887915" y="3507033"/>
            <a:ext cx="2364553" cy="51619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F16038A-AAC9-2CB1-8C8E-553C9D3000F4}"/>
              </a:ext>
            </a:extLst>
          </p:cNvPr>
          <p:cNvSpPr txBox="1"/>
          <p:nvPr/>
        </p:nvSpPr>
        <p:spPr>
          <a:xfrm>
            <a:off x="-2" y="4740639"/>
            <a:ext cx="12191999" cy="80021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System</a:t>
            </a: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rgbClr val="4FC1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out</a:t>
            </a: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println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 borrowed '"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title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"'. Now holding "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borrowedBooks</a:t>
            </a: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size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 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 book(s)."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513638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E8CF6-BC19-4BB3-7CCC-95100F8DD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21523-2FA2-B23E-5014-41D398913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57048"/>
          </a:xfrm>
        </p:spPr>
        <p:txBody>
          <a:bodyPr anchor="b">
            <a:normAutofit fontScale="90000"/>
          </a:bodyPr>
          <a:lstStyle/>
          <a:p>
            <a:r>
              <a:rPr lang="en-US" sz="3600" b="1" dirty="0">
                <a:latin typeface="Calibir"/>
              </a:rPr>
              <a:t>Activity 3 — Show remaining count after a successful return</a:t>
            </a:r>
            <a:endParaRPr lang="en-AU" sz="3600" b="1" dirty="0">
              <a:latin typeface="Calibir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4232C39-4B67-B72F-D421-069ED2BA7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38655"/>
            <a:ext cx="12192000" cy="3257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Task: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After a return, display how many books the member still holds.</a:t>
            </a:r>
            <a:b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</a:b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Hint for Python: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Edit the success print(...) inside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Member.return_book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(), where the if condition is true.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Hint for Java: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Inside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Member.returnBook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 in the success part (inside the if (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borrowedBooks.contains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(book)) block), after you remove the book. </a:t>
            </a:r>
          </a:p>
        </p:txBody>
      </p:sp>
      <p:pic>
        <p:nvPicPr>
          <p:cNvPr id="7" name="Timer">
            <a:hlinkClick r:id="" action="ppaction://media"/>
            <a:extLst>
              <a:ext uri="{FF2B5EF4-FFF2-40B4-BE49-F238E27FC236}">
                <a16:creationId xmlns:a16="http://schemas.microsoft.com/office/drawing/2014/main" id="{F75AE076-77EE-2741-9F57-F1E400B635A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0487" t="44980" r="40986" b="40884"/>
          <a:stretch>
            <a:fillRect/>
          </a:stretch>
        </p:blipFill>
        <p:spPr>
          <a:xfrm>
            <a:off x="5097702" y="3999523"/>
            <a:ext cx="1996596" cy="857075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81858360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E8CF6-BC19-4BB3-7CCC-95100F8DD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21523-2FA2-B23E-5014-41D398913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57048"/>
          </a:xfrm>
        </p:spPr>
        <p:txBody>
          <a:bodyPr anchor="b">
            <a:normAutofit fontScale="90000"/>
          </a:bodyPr>
          <a:lstStyle/>
          <a:p>
            <a:r>
              <a:rPr lang="en-US" sz="3600" b="1" dirty="0">
                <a:latin typeface="Calibir"/>
              </a:rPr>
              <a:t>Activity 3 — Show remaining count after a successful return</a:t>
            </a:r>
            <a:endParaRPr lang="en-AU" sz="3600" b="1" dirty="0">
              <a:latin typeface="Calibir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65AF23-6DDA-F312-9C84-F7ECE9E5CF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382" t="43808" r="8324" b="42799"/>
          <a:stretch>
            <a:fillRect/>
          </a:stretch>
        </p:blipFill>
        <p:spPr>
          <a:xfrm>
            <a:off x="-1" y="1691268"/>
            <a:ext cx="12192001" cy="14743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0480F48-B47B-2F3B-E3A0-D9C324C55B9B}"/>
              </a:ext>
            </a:extLst>
          </p:cNvPr>
          <p:cNvSpPr txBox="1"/>
          <p:nvPr/>
        </p:nvSpPr>
        <p:spPr>
          <a:xfrm>
            <a:off x="0" y="603283"/>
            <a:ext cx="12192000" cy="95410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returned '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.title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 (now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borrowed_books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borrowed)."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094340F7-1E74-2B47-81D7-7B0DCE0C3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3165631"/>
            <a:ext cx="9326720" cy="2071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(Python) When a member returns a book, this line prints: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Who returned it (self.name).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Which book was returned (</a:t>
            </a:r>
            <a:r>
              <a:rPr kumimoji="0" lang="en-US" alt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book.title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How many books they still have after the return (</a:t>
            </a:r>
            <a:r>
              <a:rPr kumimoji="0" lang="en-US" alt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len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</a:t>
            </a:r>
            <a:r>
              <a:rPr kumimoji="0" lang="en-US" alt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self.borrowed_books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)).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083504-1296-2156-B8FD-F79DF62FE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11450"/>
            <a:ext cx="12192003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Suppose Farshid had 3 books and returned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Python Basics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. It will print Farshid returned 'Python Basics' (now 2 borrowed).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Before return → 3 borrowed.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After return → 2 borrowed.</a:t>
            </a:r>
          </a:p>
        </p:txBody>
      </p:sp>
    </p:spTree>
    <p:extLst>
      <p:ext uri="{BB962C8B-B14F-4D97-AF65-F5344CB8AC3E}">
        <p14:creationId xmlns:p14="http://schemas.microsoft.com/office/powerpoint/2010/main" val="17438905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C63C9-272C-D5D9-C3E2-41A9DCDC8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81244-AEF5-FF35-1850-4B27FFC1C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57048"/>
          </a:xfrm>
        </p:spPr>
        <p:txBody>
          <a:bodyPr anchor="b">
            <a:normAutofit fontScale="90000"/>
          </a:bodyPr>
          <a:lstStyle/>
          <a:p>
            <a:r>
              <a:rPr lang="en-US" sz="3600" b="1" dirty="0">
                <a:latin typeface="Calibir"/>
              </a:rPr>
              <a:t>Activity 3 — Show remaining count after a successful return</a:t>
            </a:r>
            <a:endParaRPr lang="en-AU" sz="36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96B1F7-F7F7-2958-F0D7-5333C8C16228}"/>
              </a:ext>
            </a:extLst>
          </p:cNvPr>
          <p:cNvSpPr txBox="1"/>
          <p:nvPr/>
        </p:nvSpPr>
        <p:spPr>
          <a:xfrm>
            <a:off x="0" y="1059850"/>
            <a:ext cx="5250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ir"/>
                <a:ea typeface="+mn-ea"/>
                <a:cs typeface="+mn-cs"/>
              </a:rPr>
              <a:t>(Java) 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Line 50 of modified version: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865748-7B77-E4E0-F878-B30CD328EED9}"/>
              </a:ext>
            </a:extLst>
          </p:cNvPr>
          <p:cNvSpPr txBox="1"/>
          <p:nvPr/>
        </p:nvSpPr>
        <p:spPr>
          <a:xfrm>
            <a:off x="0" y="1678715"/>
            <a:ext cx="12192000" cy="6718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System.out.println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(name + " returned '" +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book.title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+ "'.");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1FBF230B-5A95-B816-CFDE-AC492C403C63}"/>
              </a:ext>
            </a:extLst>
          </p:cNvPr>
          <p:cNvCxnSpPr>
            <a:cxnSpLocks/>
            <a:stCxn id="5" idx="2"/>
          </p:cNvCxnSpPr>
          <p:nvPr/>
        </p:nvCxnSpPr>
        <p:spPr>
          <a:xfrm rot="5400000">
            <a:off x="4887915" y="3507033"/>
            <a:ext cx="2364553" cy="51619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757647C-8203-8683-4D95-431018A12C21}"/>
              </a:ext>
            </a:extLst>
          </p:cNvPr>
          <p:cNvSpPr txBox="1"/>
          <p:nvPr/>
        </p:nvSpPr>
        <p:spPr>
          <a:xfrm>
            <a:off x="0" y="4717620"/>
            <a:ext cx="12192000" cy="86177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System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4FC1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out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println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 returned '"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title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"'. Now holding "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borrowedBooks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size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 book(s)."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16052D97-FE78-DB12-FC9A-A0F029B28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798150"/>
            <a:ext cx="1001761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Note: </a:t>
            </a:r>
            <a:r>
              <a:rPr kumimoji="0" lang="en-US" alt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borrowedBooks.size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 already reflects the decreased count after remove(book). </a:t>
            </a:r>
          </a:p>
        </p:txBody>
      </p:sp>
    </p:spTree>
    <p:extLst>
      <p:ext uri="{BB962C8B-B14F-4D97-AF65-F5344CB8AC3E}">
        <p14:creationId xmlns:p14="http://schemas.microsoft.com/office/powerpoint/2010/main" val="38498634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E8CF6-BC19-4BB3-7CCC-95100F8DD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21523-2FA2-B23E-5014-41D398913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57048"/>
          </a:xfrm>
        </p:spPr>
        <p:txBody>
          <a:bodyPr anchor="b">
            <a:normAutofit fontScale="90000"/>
          </a:bodyPr>
          <a:lstStyle/>
          <a:p>
            <a:r>
              <a:rPr lang="en-US" sz="3600" b="1" dirty="0">
                <a:latin typeface="Calibir"/>
              </a:rPr>
              <a:t>Activity 4 — Track how many times a book has ever been borrowed</a:t>
            </a:r>
            <a:endParaRPr lang="en-AU" sz="3600" b="1" dirty="0">
              <a:latin typeface="Calibir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4232C39-4B67-B72F-D421-069ED2BA7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89926"/>
            <a:ext cx="12192000" cy="4549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Task: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Keep a running counter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times_borrowed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on each Book.</a:t>
            </a:r>
            <a:b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</a:b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Hint for Python: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Add one new line in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Member.borrow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 right after setting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book.borrowed_by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= self (line 23), then display it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Hint for Java: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</a:t>
            </a:r>
            <a:b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</a:br>
            <a:b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</a:b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Step 1 (new field):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Add this inside class Book with the other fields (line 9).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int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timesBorrowed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= 0; // how many times this book has been borrowed (lifetime)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158667-5353-7E6B-BE62-5CA8BE61968D}"/>
              </a:ext>
            </a:extLst>
          </p:cNvPr>
          <p:cNvSpPr txBox="1"/>
          <p:nvPr/>
        </p:nvSpPr>
        <p:spPr>
          <a:xfrm>
            <a:off x="0" y="5372639"/>
            <a:ext cx="121920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Step 2 (increment):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In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Member.borrow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 after you mark the book borrowed and set the borrower, increment the counter. </a:t>
            </a:r>
          </a:p>
        </p:txBody>
      </p:sp>
      <p:pic>
        <p:nvPicPr>
          <p:cNvPr id="3" name="Timer">
            <a:hlinkClick r:id="" action="ppaction://media"/>
            <a:extLst>
              <a:ext uri="{FF2B5EF4-FFF2-40B4-BE49-F238E27FC236}">
                <a16:creationId xmlns:a16="http://schemas.microsoft.com/office/drawing/2014/main" id="{7983E6B8-208E-2366-FBF8-2A40C221B16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0487" t="44980" r="40986" b="40884"/>
          <a:stretch>
            <a:fillRect/>
          </a:stretch>
        </p:blipFill>
        <p:spPr>
          <a:xfrm>
            <a:off x="5097702" y="2785011"/>
            <a:ext cx="1996596" cy="857075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143082466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E8CF6-BC19-4BB3-7CCC-95100F8DD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21523-2FA2-B23E-5014-41D398913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57048"/>
          </a:xfrm>
        </p:spPr>
        <p:txBody>
          <a:bodyPr anchor="b">
            <a:normAutofit fontScale="90000"/>
          </a:bodyPr>
          <a:lstStyle/>
          <a:p>
            <a:r>
              <a:rPr lang="en-US" sz="3600" b="1" dirty="0">
                <a:latin typeface="Calibir"/>
              </a:rPr>
              <a:t>Activity 4 — Track how many times a book has ever been borrowed</a:t>
            </a:r>
            <a:endParaRPr lang="en-AU" sz="3600" b="1" dirty="0">
              <a:latin typeface="Calibir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91D8F5-24C7-A750-5B31-0BAA64A713A1}"/>
              </a:ext>
            </a:extLst>
          </p:cNvPr>
          <p:cNvSpPr txBox="1"/>
          <p:nvPr/>
        </p:nvSpPr>
        <p:spPr>
          <a:xfrm>
            <a:off x="159834" y="557048"/>
            <a:ext cx="12032166" cy="156138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.times_borrowed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getattr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times_borrowed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"'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.title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 has been borrowed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.times_borrowed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times in total."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 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NEW line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4099A62-F6FA-506A-318A-879CC69DF6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862" t="20383" r="7500" b="44368"/>
          <a:stretch>
            <a:fillRect/>
          </a:stretch>
        </p:blipFill>
        <p:spPr>
          <a:xfrm>
            <a:off x="159834" y="2118437"/>
            <a:ext cx="4639171" cy="2209128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9C91110-A23F-D75F-A7AC-61CF220C2130}"/>
              </a:ext>
            </a:extLst>
          </p:cNvPr>
          <p:cNvSpPr/>
          <p:nvPr/>
        </p:nvSpPr>
        <p:spPr>
          <a:xfrm>
            <a:off x="317489" y="2118437"/>
            <a:ext cx="4481516" cy="53272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E14D3A-62B9-009F-0A3D-7F21E29C2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005" y="2026421"/>
            <a:ext cx="7392995" cy="4831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(Python)</a:t>
            </a:r>
            <a:b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</a:b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If Farshid borrows </a:t>
            </a:r>
            <a:r>
              <a:rPr kumimoji="0" lang="en-US" altLang="en-US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Python Basics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twice (with return in between):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Farshid borrowed 'Python Basics' (now 1 borrowed). 'Python Basics' has been borrowed 1 times in total. Farshid returned 'Python Basics' (now 0 borrowed). </a:t>
            </a:r>
            <a:r>
              <a:rPr kumimoji="0" lang="en-US" altLang="en-US" sz="2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Farshid 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borrowed 'Python Basics' (now 1 borrowed). 'Python Basics' has been borrowed 2 times in total.</a:t>
            </a:r>
          </a:p>
        </p:txBody>
      </p:sp>
    </p:spTree>
    <p:extLst>
      <p:ext uri="{BB962C8B-B14F-4D97-AF65-F5344CB8AC3E}">
        <p14:creationId xmlns:p14="http://schemas.microsoft.com/office/powerpoint/2010/main" val="13120026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C634D-1514-D4A5-AEBF-A580E132C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88495-F86A-0201-BC65-9BF5F2B28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57048"/>
          </a:xfrm>
        </p:spPr>
        <p:txBody>
          <a:bodyPr anchor="b">
            <a:normAutofit fontScale="90000"/>
          </a:bodyPr>
          <a:lstStyle/>
          <a:p>
            <a:r>
              <a:rPr lang="en-US" sz="3600" b="1" dirty="0">
                <a:latin typeface="Calibir"/>
              </a:rPr>
              <a:t>Activity 4 — Track how many times a book has ever been borrowed</a:t>
            </a:r>
            <a:endParaRPr lang="en-AU" sz="3600" b="1" dirty="0">
              <a:latin typeface="Calibir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D9DC0C-4BB1-65C2-E3DB-B4FDA2B10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57048"/>
            <a:ext cx="7392995" cy="630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(Java) line 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38AA44-8967-C277-1DB6-EA90E1A33039}"/>
              </a:ext>
            </a:extLst>
          </p:cNvPr>
          <p:cNvSpPr txBox="1"/>
          <p:nvPr/>
        </p:nvSpPr>
        <p:spPr>
          <a:xfrm>
            <a:off x="0" y="1187860"/>
            <a:ext cx="12192000" cy="76944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timesBorrowed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how many times this book has been borrowed (lifetime)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235325-F1F7-D93E-DB54-761795288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2272898"/>
            <a:ext cx="7392995" cy="630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Class Member &gt;&gt; borrow – line 39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7524D1-072A-E73C-A589-2CB558EE78A4}"/>
              </a:ext>
            </a:extLst>
          </p:cNvPr>
          <p:cNvSpPr txBox="1"/>
          <p:nvPr/>
        </p:nvSpPr>
        <p:spPr>
          <a:xfrm>
            <a:off x="0" y="3189935"/>
            <a:ext cx="6172200" cy="1384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book.status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= "borrowed";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book.borrowedBy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= this;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borrowedBooks.add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(book);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3038DA-0E3B-AEB9-7A3A-0C0B909E2F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214" t="36097" r="12653" b="42335"/>
          <a:stretch>
            <a:fillRect/>
          </a:stretch>
        </p:blipFill>
        <p:spPr>
          <a:xfrm>
            <a:off x="-1" y="4781254"/>
            <a:ext cx="11563816" cy="2089687"/>
          </a:xfrm>
          <a:prstGeom prst="rect">
            <a:avLst/>
          </a:prstGeom>
        </p:spPr>
      </p:pic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4EB87C3B-2D71-8DDA-7036-AEB06D40125A}"/>
              </a:ext>
            </a:extLst>
          </p:cNvPr>
          <p:cNvCxnSpPr>
            <a:stCxn id="6" idx="3"/>
          </p:cNvCxnSpPr>
          <p:nvPr/>
        </p:nvCxnSpPr>
        <p:spPr>
          <a:xfrm>
            <a:off x="6172200" y="3882433"/>
            <a:ext cx="752707" cy="890289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40025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13D06-513B-420C-25DC-FEA2E8DF5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E990024-9DA5-908D-59A9-E8C116AD9A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6585"/>
          <a:stretch>
            <a:fillRect/>
          </a:stretch>
        </p:blipFill>
        <p:spPr>
          <a:xfrm>
            <a:off x="0" y="0"/>
            <a:ext cx="12192000" cy="4348976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C8C5A3F-CC0C-0DDA-B1A4-812F99F6C9B8}"/>
              </a:ext>
            </a:extLst>
          </p:cNvPr>
          <p:cNvSpPr/>
          <p:nvPr/>
        </p:nvSpPr>
        <p:spPr>
          <a:xfrm>
            <a:off x="4861932" y="3200400"/>
            <a:ext cx="6501160" cy="110954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B0DE7EA9-C68E-58A9-D875-EC0286E24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148375"/>
            <a:ext cx="5898987" cy="2798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First borrow</a:t>
            </a:r>
            <a:endParaRPr kumimoji="0" lang="en-US" alt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borrow(book1) passed both checks (limit &lt; 5, book available).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State changes:</a:t>
            </a: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book1.status = "borrowed"</a:t>
            </a: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book1.borrowedBy = Farshid</a:t>
            </a: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member.borrowedBooks.size</a:t>
            </a:r>
            <a:r>
              <a:rPr kumimoji="0" lang="en-US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 → </a:t>
            </a:r>
            <a:r>
              <a:rPr kumimoji="0" lang="en-US" altLang="en-US" sz="1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1</a:t>
            </a:r>
            <a:endParaRPr kumimoji="0" lang="en-US" alt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We see the Activity-2 message: </a:t>
            </a:r>
            <a:r>
              <a:rPr kumimoji="0" lang="en-US" altLang="en-US" sz="17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“Now holding 1 book(s).”</a:t>
            </a:r>
            <a:endParaRPr kumimoji="0" lang="en-US" alt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374371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A328E-EFD6-6883-B853-5B61ED126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02C67E3-6C62-030A-3174-90612D6649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6585"/>
          <a:stretch>
            <a:fillRect/>
          </a:stretch>
        </p:blipFill>
        <p:spPr>
          <a:xfrm>
            <a:off x="0" y="0"/>
            <a:ext cx="12192000" cy="4348976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BBCFBA2-51EF-CA10-8949-C3A28BE34DD6}"/>
              </a:ext>
            </a:extLst>
          </p:cNvPr>
          <p:cNvSpPr/>
          <p:nvPr/>
        </p:nvSpPr>
        <p:spPr>
          <a:xfrm>
            <a:off x="4861932" y="3200400"/>
            <a:ext cx="6501160" cy="110954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89458727-2920-3618-2970-077B63960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242311"/>
            <a:ext cx="11032187" cy="2610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Second borrow (same book)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714375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if ("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borrowed".equals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book.status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)) triggered.</a:t>
            </a:r>
          </a:p>
          <a:p>
            <a:pPr marL="714375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No state changes (book already with Farshid).</a:t>
            </a:r>
          </a:p>
          <a:p>
            <a:pPr marL="714375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Correct error line printed: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“Book 'Python Basics' is already borrowed.”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257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C4D70-0CD0-1788-452C-B7A16D4FA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A95F5DE-C793-6692-10BB-754BF80D72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6585"/>
          <a:stretch>
            <a:fillRect/>
          </a:stretch>
        </p:blipFill>
        <p:spPr>
          <a:xfrm>
            <a:off x="0" y="0"/>
            <a:ext cx="12192000" cy="4348976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CB1EBBD-872B-DF4C-9DC6-FAD5A49BF95F}"/>
              </a:ext>
            </a:extLst>
          </p:cNvPr>
          <p:cNvSpPr/>
          <p:nvPr/>
        </p:nvSpPr>
        <p:spPr>
          <a:xfrm>
            <a:off x="4861932" y="3200400"/>
            <a:ext cx="6501160" cy="110954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F6AB4E54-EF3D-2720-B3A9-7A973A041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16626"/>
            <a:ext cx="8141203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Return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returnBook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(book1) found the book in </a:t>
            </a:r>
            <a:r>
              <a:rPr kumimoji="0" lang="en-US" alt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borrowedBooks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, removed it.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State changes: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book1.status = "available"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book1.borrowedBy = null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member.borrowedBooks.size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 → </a:t>
            </a: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0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You see the Activity-3 message: </a:t>
            </a:r>
            <a:r>
              <a:rPr kumimoji="0" lang="en-US" alt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“Now holding 0 book(s).”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90418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95E65-F3CC-AD2B-B357-EEE8394D9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>
            <a:extLst>
              <a:ext uri="{FF2B5EF4-FFF2-40B4-BE49-F238E27FC236}">
                <a16:creationId xmlns:a16="http://schemas.microsoft.com/office/drawing/2014/main" id="{F5A5F7A2-B350-AC29-A472-3384A4C35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91229"/>
            <a:ext cx="10852458" cy="1318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First, download the complete file from GitHub and Apply these changes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  <a:hlinkClick r:id="rId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  <a:hlinkClick r:id="rId2"/>
              </a:rPr>
              <a:t>Python and Java File Available on GitHub (With 4 Activities)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CECAD0-FC09-BD54-226B-8C7F9598F7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415" b="31707"/>
          <a:stretch>
            <a:fillRect/>
          </a:stretch>
        </p:blipFill>
        <p:spPr>
          <a:xfrm>
            <a:off x="0" y="2669278"/>
            <a:ext cx="12192000" cy="307773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B5DA380-AB23-8C0E-50DD-E711CFA7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57048"/>
          </a:xfrm>
        </p:spPr>
        <p:txBody>
          <a:bodyPr anchor="b">
            <a:normAutofit fontScale="90000"/>
          </a:bodyPr>
          <a:lstStyle/>
          <a:p>
            <a:r>
              <a:rPr lang="en-US" sz="3600" b="1" dirty="0"/>
              <a:t>Activity 5 — Show who already has the book</a:t>
            </a:r>
            <a:endParaRPr lang="en-AU" sz="36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367188630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2B4AD-56B8-B551-A154-667839FDE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7751717-EA4F-071A-8D98-E63593CD9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57048"/>
          </a:xfrm>
        </p:spPr>
        <p:txBody>
          <a:bodyPr anchor="b">
            <a:normAutofit fontScale="90000"/>
          </a:bodyPr>
          <a:lstStyle/>
          <a:p>
            <a:r>
              <a:rPr lang="en-US" sz="3600" b="1" dirty="0"/>
              <a:t>Activity 5 — Show who already has the book</a:t>
            </a:r>
            <a:endParaRPr lang="en-AU" sz="3600" b="1" dirty="0">
              <a:latin typeface="Calibir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39B4B1-B29C-362A-1A07-6FAF36905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1650782"/>
            <a:ext cx="12192000" cy="1318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Python — Hint: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In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Member.borrow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(), in the if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book.status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== "borrowed": block, replace the print line.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BD025A-6C2E-F9C6-1DEE-D67B0B36B7BA}"/>
              </a:ext>
            </a:extLst>
          </p:cNvPr>
          <p:cNvSpPr txBox="1"/>
          <p:nvPr/>
        </p:nvSpPr>
        <p:spPr>
          <a:xfrm>
            <a:off x="-1" y="3547195"/>
            <a:ext cx="12192000" cy="43088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"Book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'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book.title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 is already borrowed by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book.borrowed_by.name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."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DC9E7D9-F67F-D94B-5F2F-DC0AC0C7E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181924"/>
            <a:ext cx="12192000" cy="1318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Java — Hint: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In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Member.borrow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(), inside if ("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borrowed".equals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book.status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)) { ... }, replace the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println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444A0F-4CF8-C12B-D184-C19C6C6ED260}"/>
              </a:ext>
            </a:extLst>
          </p:cNvPr>
          <p:cNvSpPr txBox="1"/>
          <p:nvPr/>
        </p:nvSpPr>
        <p:spPr>
          <a:xfrm>
            <a:off x="-1" y="5718518"/>
            <a:ext cx="12192000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System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out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println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"Book '"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title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"' is already borrowed by 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borrowedBy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"."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</p:txBody>
      </p:sp>
      <p:pic>
        <p:nvPicPr>
          <p:cNvPr id="14" name="Timer">
            <a:hlinkClick r:id="" action="ppaction://media"/>
            <a:extLst>
              <a:ext uri="{FF2B5EF4-FFF2-40B4-BE49-F238E27FC236}">
                <a16:creationId xmlns:a16="http://schemas.microsoft.com/office/drawing/2014/main" id="{C3BDF7E3-2215-6F51-FDA7-F258611AC71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0771" t="44993" r="40597" b="42149"/>
          <a:stretch>
            <a:fillRect/>
          </a:stretch>
        </p:blipFill>
        <p:spPr>
          <a:xfrm>
            <a:off x="4960372" y="2461633"/>
            <a:ext cx="2271253" cy="88172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2444B6E-E3F9-61E3-9883-D0F7180B2C3E}"/>
              </a:ext>
            </a:extLst>
          </p:cNvPr>
          <p:cNvSpPr txBox="1"/>
          <p:nvPr/>
        </p:nvSpPr>
        <p:spPr>
          <a:xfrm>
            <a:off x="0" y="377365"/>
            <a:ext cx="121920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Task: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If borrowing is blocked because the book is taken, show the current borrower’s name.</a:t>
            </a: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7827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  <p:bldLst>
      <p:bldP spid="4" grpId="0" animBg="1"/>
      <p:bldP spid="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2DF25-74D5-6826-EB6F-161357B8F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B9DB864-F051-AC0A-9FEF-C72B59528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57048"/>
          </a:xfrm>
        </p:spPr>
        <p:txBody>
          <a:bodyPr anchor="b">
            <a:normAutofit fontScale="90000"/>
          </a:bodyPr>
          <a:lstStyle/>
          <a:p>
            <a:r>
              <a:rPr lang="en-US" sz="3600" b="1" dirty="0"/>
              <a:t>Activity 6 — Show remaining slots after a successful borrow</a:t>
            </a:r>
            <a:endParaRPr lang="en-AU" sz="3600" b="1" dirty="0">
              <a:latin typeface="Calibir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D1F5CA-ADC3-5338-9BB7-B274764E8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69075"/>
            <a:ext cx="12192000" cy="671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Task: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After a successful borrow, also show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how many slots remain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(5 − current).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96DE38C-9B18-0348-F6EA-38E74E6EF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24806"/>
            <a:ext cx="12192000" cy="1318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Python — Hint: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In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Member.borrow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(), replace the success print(...) at the end of the success path.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6502EC-180E-09D6-F898-543B1920063B}"/>
              </a:ext>
            </a:extLst>
          </p:cNvPr>
          <p:cNvSpPr txBox="1"/>
          <p:nvPr/>
        </p:nvSpPr>
        <p:spPr>
          <a:xfrm>
            <a:off x="0" y="3051427"/>
            <a:ext cx="12192000" cy="9233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{self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borrowed '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book.title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 (now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.borrowed_books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/5;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.borrowed_books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left). This book has been borrowed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book.times_borrowed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time(s) in total."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ED3E5E5-CEF1-E414-E92C-6EC13C6CB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139152"/>
            <a:ext cx="12192000" cy="1318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Java — Hint: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In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Member.borrow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(),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replace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the success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System.out.println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(...) after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borrowedBooks.add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(book).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B0FC98-5177-C9CD-2F85-1E60E4AAFB92}"/>
              </a:ext>
            </a:extLst>
          </p:cNvPr>
          <p:cNvSpPr txBox="1"/>
          <p:nvPr/>
        </p:nvSpPr>
        <p:spPr>
          <a:xfrm>
            <a:off x="0" y="5621728"/>
            <a:ext cx="12191999" cy="9233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System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out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println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(name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 borrowed '"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title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"' (now 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borrowedBooks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size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"/5; 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borrowedBooks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size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())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 left). This book has been borrowed 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timesBorrowed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 time(s) in total."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</p:txBody>
      </p:sp>
      <p:pic>
        <p:nvPicPr>
          <p:cNvPr id="13" name="Timer">
            <a:hlinkClick r:id="" action="ppaction://media"/>
            <a:extLst>
              <a:ext uri="{FF2B5EF4-FFF2-40B4-BE49-F238E27FC236}">
                <a16:creationId xmlns:a16="http://schemas.microsoft.com/office/drawing/2014/main" id="{E86ADEB7-5C66-FDD5-F8C1-0ABB180F33B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0771" t="44993" r="40597" b="42149"/>
          <a:stretch>
            <a:fillRect/>
          </a:stretch>
        </p:blipFill>
        <p:spPr>
          <a:xfrm>
            <a:off x="4960372" y="2005312"/>
            <a:ext cx="2271253" cy="88172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649099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  <p:bldLst>
      <p:bldP spid="8" grpId="0" animBg="1"/>
      <p:bldP spid="1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2DF25-74D5-6826-EB6F-161357B8F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B9DB864-F051-AC0A-9FEF-C72B59528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077501"/>
          </a:xfrm>
        </p:spPr>
        <p:txBody>
          <a:bodyPr anchor="b">
            <a:normAutofit fontScale="90000"/>
          </a:bodyPr>
          <a:lstStyle/>
          <a:p>
            <a:r>
              <a:rPr lang="en-US" sz="3600" b="1" dirty="0"/>
              <a:t>Activity 7 — When returning a book you don’t have, show who actually has it</a:t>
            </a:r>
            <a:endParaRPr lang="en-AU" sz="3600" b="1" dirty="0">
              <a:latin typeface="Calibir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D1F5CA-ADC3-5338-9BB7-B274764E8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5835"/>
            <a:ext cx="12192000" cy="1321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Task: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If the member tries to return a book they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don’t hold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, show the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current holder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(or “nobody”).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</p:txBody>
      </p:sp>
      <p:pic>
        <p:nvPicPr>
          <p:cNvPr id="13" name="Timer">
            <a:hlinkClick r:id="" action="ppaction://media"/>
            <a:extLst>
              <a:ext uri="{FF2B5EF4-FFF2-40B4-BE49-F238E27FC236}">
                <a16:creationId xmlns:a16="http://schemas.microsoft.com/office/drawing/2014/main" id="{E86ADEB7-5C66-FDD5-F8C1-0ABB180F33B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0771" t="44993" r="40597" b="42149"/>
          <a:stretch>
            <a:fillRect/>
          </a:stretch>
        </p:blipFill>
        <p:spPr>
          <a:xfrm>
            <a:off x="5093108" y="1767611"/>
            <a:ext cx="2271253" cy="88172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A9E75625-8163-589D-16E3-5982C99A5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13979"/>
            <a:ext cx="12192000" cy="1318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Python — Hint: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In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Member.return_book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(), in the else: branch, replace the print line.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152EA4-A9EE-8BE8-A98D-C5F540B82C66}"/>
              </a:ext>
            </a:extLst>
          </p:cNvPr>
          <p:cNvSpPr txBox="1"/>
          <p:nvPr/>
        </p:nvSpPr>
        <p:spPr>
          <a:xfrm>
            <a:off x="0" y="3864063"/>
            <a:ext cx="12192000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{self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does not have '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book.title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'. Currently with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book.borrowed_by.name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book.borrowed_by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'nobody'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1161A6E-7F50-CC60-C93B-9C7A2AD4E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42297"/>
            <a:ext cx="12192000" cy="671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Java — Hint: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In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Member.returnBook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(), in the else branch,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replace the </a:t>
            </a:r>
            <a:r>
              <a:rPr kumimoji="0" lang="en-US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println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407804-AEC4-5468-A63A-472FC0F718D7}"/>
              </a:ext>
            </a:extLst>
          </p:cNvPr>
          <p:cNvSpPr txBox="1"/>
          <p:nvPr/>
        </p:nvSpPr>
        <p:spPr>
          <a:xfrm>
            <a:off x="0" y="5246051"/>
            <a:ext cx="12192000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System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out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println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(name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 does not have '"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title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"'. Currently with 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borrowedBy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!=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?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borrowedBy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"nobody"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"."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465662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9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  <p:bldLst>
      <p:bldP spid="6" grpId="0" animBg="1"/>
      <p:bldP spid="1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2DF25-74D5-6826-EB6F-161357B8F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B9DB864-F051-AC0A-9FEF-C72B59528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752169"/>
          </a:xfrm>
        </p:spPr>
        <p:txBody>
          <a:bodyPr anchor="b">
            <a:normAutofit/>
          </a:bodyPr>
          <a:lstStyle/>
          <a:p>
            <a:r>
              <a:rPr lang="en-US" sz="3600" b="1" dirty="0"/>
              <a:t>Activity 8 — Simple email sanity check on member creation</a:t>
            </a:r>
            <a:endParaRPr lang="en-AU" sz="3600" b="1" dirty="0">
              <a:latin typeface="Calibir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D1F5CA-ADC3-5338-9BB7-B274764E8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52168"/>
            <a:ext cx="12192000" cy="675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Task: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Warn if the email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looks invalid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(no “@”).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</p:txBody>
      </p:sp>
      <p:pic>
        <p:nvPicPr>
          <p:cNvPr id="13" name="Timer">
            <a:hlinkClick r:id="" action="ppaction://media"/>
            <a:extLst>
              <a:ext uri="{FF2B5EF4-FFF2-40B4-BE49-F238E27FC236}">
                <a16:creationId xmlns:a16="http://schemas.microsoft.com/office/drawing/2014/main" id="{E86ADEB7-5C66-FDD5-F8C1-0ABB180F33B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0771" t="44993" r="40597" b="42149"/>
          <a:stretch>
            <a:fillRect/>
          </a:stretch>
        </p:blipFill>
        <p:spPr>
          <a:xfrm>
            <a:off x="5093108" y="1767611"/>
            <a:ext cx="2271253" cy="88172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A9E75625-8163-589D-16E3-5982C99A5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37144"/>
            <a:ext cx="12192000" cy="671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Python — Hint: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In Member.__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init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__, at the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end of the constructor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,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add one line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1161A6E-7F50-CC60-C93B-9C7A2AD4E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48271"/>
            <a:ext cx="12192000" cy="671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Java — Hint: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In Member constructor, at the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end of the constructor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,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add one line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BA97B2-4C1E-5DF3-11BD-20ACD3E147FA}"/>
              </a:ext>
            </a:extLst>
          </p:cNvPr>
          <p:cNvSpPr txBox="1"/>
          <p:nvPr/>
        </p:nvSpPr>
        <p:spPr>
          <a:xfrm>
            <a:off x="0" y="3691455"/>
            <a:ext cx="12192000" cy="43088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"@"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.email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"Warning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'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.email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 may be invalid."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94A6E2-77E4-0D3E-842A-AB26EFCD6101}"/>
              </a:ext>
            </a:extLst>
          </p:cNvPr>
          <p:cNvSpPr txBox="1"/>
          <p:nvPr/>
        </p:nvSpPr>
        <p:spPr>
          <a:xfrm>
            <a:off x="34412" y="5101326"/>
            <a:ext cx="12157588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!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email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contains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"@"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))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System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out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println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"Warning: '"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email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"' may be invalid."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284625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  <p:bldLst>
      <p:bldP spid="8" grpId="0" animBg="1"/>
      <p:bldP spid="12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2DF25-74D5-6826-EB6F-161357B8F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B9DB864-F051-AC0A-9FEF-C72B59528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752169"/>
          </a:xfrm>
        </p:spPr>
        <p:txBody>
          <a:bodyPr anchor="b">
            <a:normAutofit/>
          </a:bodyPr>
          <a:lstStyle/>
          <a:p>
            <a:r>
              <a:rPr lang="en-US" sz="3600" b="1" dirty="0"/>
              <a:t>Activity 9 — Tidy book titles on creation</a:t>
            </a:r>
            <a:endParaRPr lang="en-AU" sz="3600" b="1" dirty="0">
              <a:latin typeface="Calibir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D1F5CA-ADC3-5338-9BB7-B274764E8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28278"/>
            <a:ext cx="12192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Task: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Normalise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book titles when creating a Book (nice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capitalisation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). </a:t>
            </a:r>
          </a:p>
        </p:txBody>
      </p:sp>
      <p:pic>
        <p:nvPicPr>
          <p:cNvPr id="13" name="Timer">
            <a:hlinkClick r:id="" action="ppaction://media"/>
            <a:extLst>
              <a:ext uri="{FF2B5EF4-FFF2-40B4-BE49-F238E27FC236}">
                <a16:creationId xmlns:a16="http://schemas.microsoft.com/office/drawing/2014/main" id="{E86ADEB7-5C66-FDD5-F8C1-0ABB180F33B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0771" t="44993" r="40597" b="42149"/>
          <a:stretch>
            <a:fillRect/>
          </a:stretch>
        </p:blipFill>
        <p:spPr>
          <a:xfrm>
            <a:off x="5093108" y="1767611"/>
            <a:ext cx="2271253" cy="88172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A9E75625-8163-589D-16E3-5982C99A5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11459"/>
            <a:ext cx="12192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Python — Hint: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In Book.__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init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__,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replace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self.title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= title. 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1161A6E-7F50-CC60-C93B-9C7A2AD4E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22586"/>
            <a:ext cx="12192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Java — Hint: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In Book constructor,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replace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this.title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= title;.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870238-C645-34AF-46ED-C26FADD4B40E}"/>
              </a:ext>
            </a:extLst>
          </p:cNvPr>
          <p:cNvSpPr txBox="1"/>
          <p:nvPr/>
        </p:nvSpPr>
        <p:spPr>
          <a:xfrm>
            <a:off x="0" y="3740921"/>
            <a:ext cx="6371302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.title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title.title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C9DD97-409A-4C13-ED5B-E126D54A1ED9}"/>
              </a:ext>
            </a:extLst>
          </p:cNvPr>
          <p:cNvSpPr txBox="1"/>
          <p:nvPr/>
        </p:nvSpPr>
        <p:spPr>
          <a:xfrm>
            <a:off x="0" y="5010383"/>
            <a:ext cx="12192000" cy="76944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title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title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isEmpty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?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title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Character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toUpperCase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title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charAt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))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title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substring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084660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  <p:bldLst>
      <p:bldP spid="10" grpId="0" animBg="1"/>
      <p:bldP spid="1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2DF25-74D5-6826-EB6F-161357B8F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B9DB864-F051-AC0A-9FEF-C72B59528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3428"/>
          </a:xfrm>
        </p:spPr>
        <p:txBody>
          <a:bodyPr anchor="b">
            <a:normAutofit fontScale="90000"/>
          </a:bodyPr>
          <a:lstStyle/>
          <a:p>
            <a:r>
              <a:rPr lang="en-US" sz="3600" b="1" dirty="0"/>
              <a:t>Activity 10 — Warn on duplicate ISBN when adding to the library</a:t>
            </a:r>
            <a:endParaRPr lang="en-AU" sz="3600" b="1" dirty="0">
              <a:latin typeface="Calibir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D1F5CA-ADC3-5338-9BB7-B274764E8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3427"/>
            <a:ext cx="12192000" cy="1318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Task: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If a book with the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same ISBN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already exists in the library,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print a warning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(still add it).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</p:txBody>
      </p:sp>
      <p:pic>
        <p:nvPicPr>
          <p:cNvPr id="13" name="Timer">
            <a:hlinkClick r:id="" action="ppaction://media"/>
            <a:extLst>
              <a:ext uri="{FF2B5EF4-FFF2-40B4-BE49-F238E27FC236}">
                <a16:creationId xmlns:a16="http://schemas.microsoft.com/office/drawing/2014/main" id="{E86ADEB7-5C66-FDD5-F8C1-0ABB180F33B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0771" t="44993" r="40597" b="42149"/>
          <a:stretch>
            <a:fillRect/>
          </a:stretch>
        </p:blipFill>
        <p:spPr>
          <a:xfrm>
            <a:off x="5093108" y="1767611"/>
            <a:ext cx="2271253" cy="88172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A9E75625-8163-589D-16E3-5982C99A5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11459"/>
            <a:ext cx="12192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Python — Hint: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In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Library.add_book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(), at the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very top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of the method,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add one line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. 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1161A6E-7F50-CC60-C93B-9C7A2AD4E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286227"/>
            <a:ext cx="12192000" cy="1318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Java — Hint: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In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Library.addBook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(Book book), at the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very top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of the method,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add one line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6E1D86-07C1-2EA8-1518-4513BF675ABB}"/>
              </a:ext>
            </a:extLst>
          </p:cNvPr>
          <p:cNvSpPr txBox="1"/>
          <p:nvPr/>
        </p:nvSpPr>
        <p:spPr>
          <a:xfrm>
            <a:off x="0" y="3655739"/>
            <a:ext cx="12191999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any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.isbn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book.isbn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.books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"Warning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ISBN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book.isbn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already exists."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D36051-E521-5083-4D67-C4D986EBFAB2}"/>
              </a:ext>
            </a:extLst>
          </p:cNvPr>
          <p:cNvSpPr txBox="1"/>
          <p:nvPr/>
        </p:nvSpPr>
        <p:spPr>
          <a:xfrm>
            <a:off x="1" y="5635799"/>
            <a:ext cx="12191999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books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stream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anyMatch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(b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isbn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equals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isbn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)))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System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out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println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"Warning: ISBN 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isbn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 already exists."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679030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  <p:bldLst>
      <p:bldP spid="6" grpId="0" animBg="1"/>
      <p:bldP spid="12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2DF25-74D5-6826-EB6F-161357B8F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B9DB864-F051-AC0A-9FEF-C72B59528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3428"/>
          </a:xfrm>
        </p:spPr>
        <p:txBody>
          <a:bodyPr anchor="b">
            <a:normAutofit/>
          </a:bodyPr>
          <a:lstStyle/>
          <a:p>
            <a:r>
              <a:rPr lang="en-US" sz="3600" b="1" dirty="0"/>
              <a:t>Reference Note for Students</a:t>
            </a:r>
            <a:endParaRPr lang="en-AU" sz="36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CA4C2-BCCC-2D6B-3331-1123316546C4}"/>
              </a:ext>
            </a:extLst>
          </p:cNvPr>
          <p:cNvSpPr txBox="1"/>
          <p:nvPr/>
        </p:nvSpPr>
        <p:spPr>
          <a:xfrm>
            <a:off x="0" y="1303283"/>
            <a:ext cx="12002814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The main reference for this assignment is the official instructions provided on Canvas.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This PowerPoint is designed to guide you and clarify the task where things might feel confusing.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If you are ever unsure, please always go back to the official Canvas instructions as the source of truth.</a:t>
            </a:r>
          </a:p>
        </p:txBody>
      </p:sp>
    </p:spTree>
    <p:extLst>
      <p:ext uri="{BB962C8B-B14F-4D97-AF65-F5344CB8AC3E}">
        <p14:creationId xmlns:p14="http://schemas.microsoft.com/office/powerpoint/2010/main" val="205515545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BCADA-C2BC-8C89-F224-6C84B30E1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E8AB4A3-BE79-06FA-AC7C-BEC57E783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042"/>
            <a:ext cx="9144000" cy="57751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  <a:latin typeface="Calibir"/>
                <a:cs typeface="Arial" panose="020B0604020202020204" pitchFamily="34" charset="0"/>
              </a:rPr>
              <a:t>Let’s Answer Your Questions</a:t>
            </a:r>
            <a:endParaRPr lang="en-AU" dirty="0">
              <a:solidFill>
                <a:schemeClr val="tx1"/>
              </a:solidFill>
              <a:latin typeface="Calibir"/>
              <a:cs typeface="Arial" panose="020B0604020202020204" pitchFamily="34" charset="0"/>
            </a:endParaRPr>
          </a:p>
        </p:txBody>
      </p:sp>
      <p:pic>
        <p:nvPicPr>
          <p:cNvPr id="1028" name="Picture 4" descr="Answering Questions In Complete Sentences">
            <a:extLst>
              <a:ext uri="{FF2B5EF4-FFF2-40B4-BE49-F238E27FC236}">
                <a16:creationId xmlns:a16="http://schemas.microsoft.com/office/drawing/2014/main" id="{84E5527E-4D0B-667B-4471-EFDB8B314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245" y="1041882"/>
            <a:ext cx="3385511" cy="2115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0BBB43-1E60-3AC7-6893-6AAB3EFF1E14}"/>
              </a:ext>
            </a:extLst>
          </p:cNvPr>
          <p:cNvSpPr txBox="1"/>
          <p:nvPr/>
        </p:nvSpPr>
        <p:spPr>
          <a:xfrm>
            <a:off x="49443" y="3572103"/>
            <a:ext cx="12093114" cy="3261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Canvas Inbox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– For academic queries. </a:t>
            </a: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Email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– For formal communication and attachments. </a:t>
            </a: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Canvas Discussion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– For academic discussions and general queries. </a:t>
            </a: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Reminder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– Please follow up if you do not receive a response within 3 business days.</a:t>
            </a:r>
          </a:p>
        </p:txBody>
      </p:sp>
    </p:spTree>
    <p:extLst>
      <p:ext uri="{BB962C8B-B14F-4D97-AF65-F5344CB8AC3E}">
        <p14:creationId xmlns:p14="http://schemas.microsoft.com/office/powerpoint/2010/main" val="219122358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C101F-C65F-1D84-0824-C2471518F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Tying a bow in an arrangment of presents">
            <a:extLst>
              <a:ext uri="{FF2B5EF4-FFF2-40B4-BE49-F238E27FC236}">
                <a16:creationId xmlns:a16="http://schemas.microsoft.com/office/drawing/2014/main" id="{E6D721DE-1453-5AA6-9447-209B227E21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81" r="16168" b="-2"/>
          <a:stretch/>
        </p:blipFill>
        <p:spPr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845029-98A4-9C92-04B4-320B6AFDD1B8}"/>
              </a:ext>
            </a:extLst>
          </p:cNvPr>
          <p:cNvSpPr txBox="1"/>
          <p:nvPr/>
        </p:nvSpPr>
        <p:spPr>
          <a:xfrm>
            <a:off x="6388119" y="99483"/>
            <a:ext cx="5198044" cy="665152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Happy Learning and Bright Futures Ahead!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Dr. Farshid Keivanian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Stay Connected: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linkedin.com/in/farshid-keivanian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github.com/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FarshidKeivanian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Education is the most powerful weapon you can use to change the world.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— Nelson Mandela</a:t>
            </a:r>
          </a:p>
        </p:txBody>
      </p:sp>
    </p:spTree>
    <p:extLst>
      <p:ext uri="{BB962C8B-B14F-4D97-AF65-F5344CB8AC3E}">
        <p14:creationId xmlns:p14="http://schemas.microsoft.com/office/powerpoint/2010/main" val="2540710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1627</TotalTime>
  <Words>6087</Words>
  <Application>Microsoft Office PowerPoint</Application>
  <PresentationFormat>Widescreen</PresentationFormat>
  <Paragraphs>733</Paragraphs>
  <Slides>66</Slides>
  <Notes>0</Notes>
  <HiddenSlides>0</HiddenSlides>
  <MMClips>10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3" baseType="lpstr">
      <vt:lpstr>Aptos</vt:lpstr>
      <vt:lpstr>Aptos Display</vt:lpstr>
      <vt:lpstr>Arial</vt:lpstr>
      <vt:lpstr>Calibir</vt:lpstr>
      <vt:lpstr>Calibri</vt:lpstr>
      <vt:lpstr>Consolas</vt:lpstr>
      <vt:lpstr>Office Theme</vt:lpstr>
      <vt:lpstr>32555 – Fundamentals of Software Development</vt:lpstr>
      <vt:lpstr>Welcome to 32555 – Fundamentals of Software Development</vt:lpstr>
      <vt:lpstr>Welcome to 32555 – Fundamentals of Software Development</vt:lpstr>
      <vt:lpstr>Class Diagram Practice</vt:lpstr>
      <vt:lpstr>Class Diagram Practice</vt:lpstr>
      <vt:lpstr>Class Diagram Practice</vt:lpstr>
      <vt:lpstr>Class Diagram Practice</vt:lpstr>
      <vt:lpstr>Class Diagram Practice</vt:lpstr>
      <vt:lpstr>Class Diagram Practice</vt:lpstr>
      <vt:lpstr>Class Diagram Practice</vt:lpstr>
      <vt:lpstr>Class Diagram Practice</vt:lpstr>
      <vt:lpstr>Class Diagram Practice</vt:lpstr>
      <vt:lpstr>From UML Diagram to Code: Library Example (Java)</vt:lpstr>
      <vt:lpstr>From UML Diagram to Code: Library Example (Java)</vt:lpstr>
      <vt:lpstr>From UML Diagram to Code: Library Example (Java)</vt:lpstr>
      <vt:lpstr>From UML Diagram to Code: Library Example (Java)</vt:lpstr>
      <vt:lpstr>From UML Diagram to Code: Library Example (Java)</vt:lpstr>
      <vt:lpstr>From UML Diagram to Code: Library Example (Java)</vt:lpstr>
      <vt:lpstr>From UML Diagram to Code: Library Example (Java)</vt:lpstr>
      <vt:lpstr>From UML Diagram to Code: Library Example (Java)</vt:lpstr>
      <vt:lpstr>From UML Diagram to Code: Library Example (Python)</vt:lpstr>
      <vt:lpstr>From UML Diagram to Code: Library Example (Python)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From UML Diagram to Code: Library Example (Python)</vt:lpstr>
      <vt:lpstr>From UML Diagram to Code: Library Example (Python)</vt:lpstr>
      <vt:lpstr>From UML Diagram to Code: Library Example (Python)</vt:lpstr>
      <vt:lpstr>From UML Diagram to Code: Library Example (Python)</vt:lpstr>
      <vt:lpstr>From UML Diagram to Code: Library Example (Python)</vt:lpstr>
      <vt:lpstr>From UML Diagram to Code: Library Example (Python)</vt:lpstr>
      <vt:lpstr>From UML Diagram to Code: Library Example (Python)</vt:lpstr>
      <vt:lpstr>From UML Diagram to Code: Library Example (Python)</vt:lpstr>
      <vt:lpstr>From UML Diagram to Code: Library Example (Python)</vt:lpstr>
      <vt:lpstr>From UML Diagram to Code: Library Example (Python)</vt:lpstr>
      <vt:lpstr>From UML Diagram to Code: Library Example (Python)</vt:lpstr>
      <vt:lpstr>Activity 1 — Show the current count when limit blocks borrowing</vt:lpstr>
      <vt:lpstr>Activity 1 — Show the current count when limit blocks borrowing</vt:lpstr>
      <vt:lpstr>Activity 1 — Show the current count when limit blocks borrowing</vt:lpstr>
      <vt:lpstr>Activity 2 — Show total borrowed after a successful borrow</vt:lpstr>
      <vt:lpstr>Activity 2 — Show total borrowed after a successful borrow</vt:lpstr>
      <vt:lpstr>Activity 2 — Show total borrowed after a successful borrow</vt:lpstr>
      <vt:lpstr>Activity 3 — Show remaining count after a successful return</vt:lpstr>
      <vt:lpstr>Activity 3 — Show remaining count after a successful return</vt:lpstr>
      <vt:lpstr>Activity 3 — Show remaining count after a successful return</vt:lpstr>
      <vt:lpstr>Activity 4 — Track how many times a book has ever been borrowed</vt:lpstr>
      <vt:lpstr>Activity 4 — Track how many times a book has ever been borrowed</vt:lpstr>
      <vt:lpstr>Activity 4 — Track how many times a book has ever been borrowed</vt:lpstr>
      <vt:lpstr>PowerPoint Presentation</vt:lpstr>
      <vt:lpstr>PowerPoint Presentation</vt:lpstr>
      <vt:lpstr>PowerPoint Presentation</vt:lpstr>
      <vt:lpstr>Activity 5 — Show who already has the book</vt:lpstr>
      <vt:lpstr>Activity 5 — Show who already has the book</vt:lpstr>
      <vt:lpstr>Activity 6 — Show remaining slots after a successful borrow</vt:lpstr>
      <vt:lpstr>Activity 7 — When returning a book you don’t have, show who actually has it</vt:lpstr>
      <vt:lpstr>Activity 8 — Simple email sanity check on member creation</vt:lpstr>
      <vt:lpstr>Activity 9 — Tidy book titles on creation</vt:lpstr>
      <vt:lpstr>Activity 10 — Warn on duplicate ISBN when adding to the library</vt:lpstr>
      <vt:lpstr>Reference Note for Students</vt:lpstr>
      <vt:lpstr>Let’s Answer Your Questions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Farshid Keivanian</dc:creator>
  <cp:lastModifiedBy>Farshid Keivanian</cp:lastModifiedBy>
  <cp:revision>495</cp:revision>
  <dcterms:created xsi:type="dcterms:W3CDTF">2025-07-28T16:39:25Z</dcterms:created>
  <dcterms:modified xsi:type="dcterms:W3CDTF">2026-08-25T08:30:15Z</dcterms:modified>
</cp:coreProperties>
</file>