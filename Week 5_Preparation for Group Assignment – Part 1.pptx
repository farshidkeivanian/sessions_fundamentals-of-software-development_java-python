
<file path=[Content_Types].xml><?xml version="1.0" encoding="utf-8"?>
<Types xmlns="http://schemas.openxmlformats.org/package/2006/content-types">
  <Default Extension="emf" ContentType="image/x-emf"/>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91"/>
  </p:notesMasterIdLst>
  <p:sldIdLst>
    <p:sldId id="256" r:id="rId3"/>
    <p:sldId id="2467" r:id="rId4"/>
    <p:sldId id="2731" r:id="rId5"/>
    <p:sldId id="2634" r:id="rId6"/>
    <p:sldId id="2592" r:id="rId7"/>
    <p:sldId id="2635" r:id="rId8"/>
    <p:sldId id="2637" r:id="rId9"/>
    <p:sldId id="2636" r:id="rId10"/>
    <p:sldId id="2732" r:id="rId11"/>
    <p:sldId id="2733" r:id="rId12"/>
    <p:sldId id="2734" r:id="rId13"/>
    <p:sldId id="2735" r:id="rId14"/>
    <p:sldId id="2736" r:id="rId15"/>
    <p:sldId id="2737" r:id="rId16"/>
    <p:sldId id="2738" r:id="rId17"/>
    <p:sldId id="2739" r:id="rId18"/>
    <p:sldId id="2740" r:id="rId19"/>
    <p:sldId id="2741" r:id="rId20"/>
    <p:sldId id="2742" r:id="rId21"/>
    <p:sldId id="2743" r:id="rId22"/>
    <p:sldId id="2744" r:id="rId23"/>
    <p:sldId id="2746" r:id="rId24"/>
    <p:sldId id="2650" r:id="rId25"/>
    <p:sldId id="2651" r:id="rId26"/>
    <p:sldId id="2663" r:id="rId27"/>
    <p:sldId id="2664" r:id="rId28"/>
    <p:sldId id="2665" r:id="rId29"/>
    <p:sldId id="2666" r:id="rId30"/>
    <p:sldId id="2668" r:id="rId31"/>
    <p:sldId id="2669" r:id="rId32"/>
    <p:sldId id="2667" r:id="rId33"/>
    <p:sldId id="2672" r:id="rId34"/>
    <p:sldId id="2671" r:id="rId35"/>
    <p:sldId id="2673" r:id="rId36"/>
    <p:sldId id="2674" r:id="rId37"/>
    <p:sldId id="2693" r:id="rId38"/>
    <p:sldId id="2707" r:id="rId39"/>
    <p:sldId id="2708" r:id="rId40"/>
    <p:sldId id="2710" r:id="rId41"/>
    <p:sldId id="2711" r:id="rId42"/>
    <p:sldId id="2709" r:id="rId43"/>
    <p:sldId id="2712" r:id="rId44"/>
    <p:sldId id="2706" r:id="rId45"/>
    <p:sldId id="2675" r:id="rId46"/>
    <p:sldId id="2676" r:id="rId47"/>
    <p:sldId id="2680" r:id="rId48"/>
    <p:sldId id="2686" r:id="rId49"/>
    <p:sldId id="2681" r:id="rId50"/>
    <p:sldId id="2687" r:id="rId51"/>
    <p:sldId id="2682" r:id="rId52"/>
    <p:sldId id="2688" r:id="rId53"/>
    <p:sldId id="2683" r:id="rId54"/>
    <p:sldId id="2684" r:id="rId55"/>
    <p:sldId id="2678" r:id="rId56"/>
    <p:sldId id="2677" r:id="rId57"/>
    <p:sldId id="2689" r:id="rId58"/>
    <p:sldId id="2691" r:id="rId59"/>
    <p:sldId id="2692" r:id="rId60"/>
    <p:sldId id="2690" r:id="rId61"/>
    <p:sldId id="2685" r:id="rId62"/>
    <p:sldId id="2694" r:id="rId63"/>
    <p:sldId id="2695" r:id="rId64"/>
    <p:sldId id="2696" r:id="rId65"/>
    <p:sldId id="2697" r:id="rId66"/>
    <p:sldId id="2698" r:id="rId67"/>
    <p:sldId id="2713" r:id="rId68"/>
    <p:sldId id="2714" r:id="rId69"/>
    <p:sldId id="2700" r:id="rId70"/>
    <p:sldId id="2715" r:id="rId71"/>
    <p:sldId id="2716" r:id="rId72"/>
    <p:sldId id="2702" r:id="rId73"/>
    <p:sldId id="2717" r:id="rId74"/>
    <p:sldId id="2718" r:id="rId75"/>
    <p:sldId id="2703" r:id="rId76"/>
    <p:sldId id="2719" r:id="rId77"/>
    <p:sldId id="2720" r:id="rId78"/>
    <p:sldId id="2721" r:id="rId79"/>
    <p:sldId id="2722" r:id="rId80"/>
    <p:sldId id="2723" r:id="rId81"/>
    <p:sldId id="2724" r:id="rId82"/>
    <p:sldId id="2725" r:id="rId83"/>
    <p:sldId id="2726" r:id="rId84"/>
    <p:sldId id="2727" r:id="rId85"/>
    <p:sldId id="2728" r:id="rId86"/>
    <p:sldId id="2729" r:id="rId87"/>
    <p:sldId id="2730" r:id="rId88"/>
    <p:sldId id="2747" r:id="rId89"/>
    <p:sldId id="749" r:id="rId9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0" d="100"/>
          <a:sy n="70" d="100"/>
        </p:scale>
        <p:origin x="954" y="7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tableStyles" Target="tableStyles.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slide" Target="slides/slide83.xml"/><Relationship Id="rId93" Type="http://schemas.openxmlformats.org/officeDocument/2006/relationships/viewProps" Target="view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slide" Target="slides/slide86.xml"/><Relationship Id="rId9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presProps" Target="presProps.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768A3-CE1D-4B38-9DB7-258A20660199}" type="datetimeFigureOut">
              <a:rPr lang="en-AU" smtClean="0"/>
              <a:t>8/09/2025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D24F3-C88E-4C15-8193-4E111B80EC59}" type="slidenum">
              <a:rPr lang="en-AU" smtClean="0"/>
              <a:t>‹#›</a:t>
            </a:fld>
            <a:endParaRPr lang="en-AU"/>
          </a:p>
        </p:txBody>
      </p:sp>
    </p:spTree>
    <p:extLst>
      <p:ext uri="{BB962C8B-B14F-4D97-AF65-F5344CB8AC3E}">
        <p14:creationId xmlns:p14="http://schemas.microsoft.com/office/powerpoint/2010/main" val="340141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A289-FF3D-6221-0919-52B01AA8C7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594B72A-F72E-6F44-5F03-1418A0B23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9E6A39C-6018-18E9-5F8D-4A1EC20EB561}"/>
              </a:ext>
            </a:extLst>
          </p:cNvPr>
          <p:cNvSpPr>
            <a:spLocks noGrp="1"/>
          </p:cNvSpPr>
          <p:nvPr>
            <p:ph type="dt" sz="half" idx="10"/>
          </p:nvPr>
        </p:nvSpPr>
        <p:spPr/>
        <p:txBody>
          <a:bodyPr/>
          <a:lstStyle/>
          <a:p>
            <a:fld id="{1BB67406-7D6A-427B-AE15-EA86D49A46C9}" type="datetimeFigureOut">
              <a:rPr lang="en-AU" smtClean="0"/>
              <a:t>8/09/2025</a:t>
            </a:fld>
            <a:endParaRPr lang="en-AU"/>
          </a:p>
        </p:txBody>
      </p:sp>
      <p:sp>
        <p:nvSpPr>
          <p:cNvPr id="5" name="Footer Placeholder 4">
            <a:extLst>
              <a:ext uri="{FF2B5EF4-FFF2-40B4-BE49-F238E27FC236}">
                <a16:creationId xmlns:a16="http://schemas.microsoft.com/office/drawing/2014/main" id="{37120D52-2FFC-C9DF-2C1D-0D71439D00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B806BD1-0781-7498-CBE7-882C85BCFF1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3695949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6307-42D9-B52A-3FDF-879E60F0F6A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D3A6530-A555-4496-8091-721D1F8819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7E4BAD6-101F-B851-1C08-7D894720DD0B}"/>
              </a:ext>
            </a:extLst>
          </p:cNvPr>
          <p:cNvSpPr>
            <a:spLocks noGrp="1"/>
          </p:cNvSpPr>
          <p:nvPr>
            <p:ph type="dt" sz="half" idx="10"/>
          </p:nvPr>
        </p:nvSpPr>
        <p:spPr/>
        <p:txBody>
          <a:bodyPr/>
          <a:lstStyle/>
          <a:p>
            <a:fld id="{1BB67406-7D6A-427B-AE15-EA86D49A46C9}" type="datetimeFigureOut">
              <a:rPr lang="en-AU" smtClean="0"/>
              <a:t>8/09/2025</a:t>
            </a:fld>
            <a:endParaRPr lang="en-AU"/>
          </a:p>
        </p:txBody>
      </p:sp>
      <p:sp>
        <p:nvSpPr>
          <p:cNvPr id="5" name="Footer Placeholder 4">
            <a:extLst>
              <a:ext uri="{FF2B5EF4-FFF2-40B4-BE49-F238E27FC236}">
                <a16:creationId xmlns:a16="http://schemas.microsoft.com/office/drawing/2014/main" id="{7D7BE63D-2BAC-0771-6CDD-E58CA768C29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762B1F2-308D-04CF-0533-43636B44042E}"/>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02111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51970-B490-B69E-FCBD-212BA09108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2DEEDBB8-F6B9-F902-DDF8-399BEAD5FF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A61F5-3BD9-1364-E269-EA50C8D5E589}"/>
              </a:ext>
            </a:extLst>
          </p:cNvPr>
          <p:cNvSpPr>
            <a:spLocks noGrp="1"/>
          </p:cNvSpPr>
          <p:nvPr>
            <p:ph type="dt" sz="half" idx="10"/>
          </p:nvPr>
        </p:nvSpPr>
        <p:spPr/>
        <p:txBody>
          <a:bodyPr/>
          <a:lstStyle/>
          <a:p>
            <a:fld id="{1BB67406-7D6A-427B-AE15-EA86D49A46C9}" type="datetimeFigureOut">
              <a:rPr lang="en-AU" smtClean="0"/>
              <a:t>8/09/2025</a:t>
            </a:fld>
            <a:endParaRPr lang="en-AU"/>
          </a:p>
        </p:txBody>
      </p:sp>
      <p:sp>
        <p:nvSpPr>
          <p:cNvPr id="5" name="Footer Placeholder 4">
            <a:extLst>
              <a:ext uri="{FF2B5EF4-FFF2-40B4-BE49-F238E27FC236}">
                <a16:creationId xmlns:a16="http://schemas.microsoft.com/office/drawing/2014/main" id="{2921C5DD-8DE3-E3A8-9502-3A87814DB8C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97EB9C-AF45-B217-1DA1-31C1499BA96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988447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B327E-C2D8-2826-AC41-CBF55C1F57D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81C1C5-C310-D6F8-E733-80DC724D8F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6EB3D25-4FAE-3121-CD93-0C49A108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2D4EAB2-5E1A-8619-3057-C3A1AB5D12B6}"/>
              </a:ext>
            </a:extLst>
          </p:cNvPr>
          <p:cNvSpPr>
            <a:spLocks noGrp="1"/>
          </p:cNvSpPr>
          <p:nvPr>
            <p:ph type="dt" sz="half" idx="10"/>
          </p:nvPr>
        </p:nvSpPr>
        <p:spPr/>
        <p:txBody>
          <a:bodyPr/>
          <a:lstStyle/>
          <a:p>
            <a:fld id="{1BB67406-7D6A-427B-AE15-EA86D49A46C9}" type="datetimeFigureOut">
              <a:rPr lang="en-AU" smtClean="0"/>
              <a:t>8/09/2025</a:t>
            </a:fld>
            <a:endParaRPr lang="en-AU"/>
          </a:p>
        </p:txBody>
      </p:sp>
      <p:sp>
        <p:nvSpPr>
          <p:cNvPr id="6" name="Footer Placeholder 5">
            <a:extLst>
              <a:ext uri="{FF2B5EF4-FFF2-40B4-BE49-F238E27FC236}">
                <a16:creationId xmlns:a16="http://schemas.microsoft.com/office/drawing/2014/main" id="{8BB9F5A9-2584-E93E-6A0F-A4794EE1DC5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27E2D3-3374-99CB-1920-B67380A0E1D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33972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6ED3B-21CA-4495-94A5-BF0A0714315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5125D24-B245-8441-06C8-6FC24B1D70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0E5481-DAD5-42E9-A05C-FE17FB031D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EBF7B5-BC72-38B3-02F0-7BB1BC9D07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271FD1-022B-B62F-16CD-57BC6B42D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1968B3-4251-2756-4B56-73ADD5061DB9}"/>
              </a:ext>
            </a:extLst>
          </p:cNvPr>
          <p:cNvSpPr>
            <a:spLocks noGrp="1"/>
          </p:cNvSpPr>
          <p:nvPr>
            <p:ph type="dt" sz="half" idx="10"/>
          </p:nvPr>
        </p:nvSpPr>
        <p:spPr/>
        <p:txBody>
          <a:bodyPr/>
          <a:lstStyle/>
          <a:p>
            <a:fld id="{1BB67406-7D6A-427B-AE15-EA86D49A46C9}" type="datetimeFigureOut">
              <a:rPr lang="en-AU" smtClean="0"/>
              <a:t>8/09/2025</a:t>
            </a:fld>
            <a:endParaRPr lang="en-AU"/>
          </a:p>
        </p:txBody>
      </p:sp>
      <p:sp>
        <p:nvSpPr>
          <p:cNvPr id="8" name="Footer Placeholder 7">
            <a:extLst>
              <a:ext uri="{FF2B5EF4-FFF2-40B4-BE49-F238E27FC236}">
                <a16:creationId xmlns:a16="http://schemas.microsoft.com/office/drawing/2014/main" id="{B37B1F6D-47C2-CAE3-A4E5-9BBEA2718417}"/>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390004-77A4-C994-6377-2D03957A9478}"/>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27843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9FA-C545-B505-6C82-069457BDA1F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6EBCBFB8-D61F-8DA0-01D0-D4ABB1784B6C}"/>
              </a:ext>
            </a:extLst>
          </p:cNvPr>
          <p:cNvSpPr>
            <a:spLocks noGrp="1"/>
          </p:cNvSpPr>
          <p:nvPr>
            <p:ph type="dt" sz="half" idx="10"/>
          </p:nvPr>
        </p:nvSpPr>
        <p:spPr/>
        <p:txBody>
          <a:bodyPr/>
          <a:lstStyle/>
          <a:p>
            <a:fld id="{1BB67406-7D6A-427B-AE15-EA86D49A46C9}" type="datetimeFigureOut">
              <a:rPr lang="en-AU" smtClean="0"/>
              <a:t>8/09/2025</a:t>
            </a:fld>
            <a:endParaRPr lang="en-AU"/>
          </a:p>
        </p:txBody>
      </p:sp>
      <p:sp>
        <p:nvSpPr>
          <p:cNvPr id="4" name="Footer Placeholder 3">
            <a:extLst>
              <a:ext uri="{FF2B5EF4-FFF2-40B4-BE49-F238E27FC236}">
                <a16:creationId xmlns:a16="http://schemas.microsoft.com/office/drawing/2014/main" id="{892936ED-D26E-6CDD-AE85-E69826C2BF6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60F5E15-D044-ACA4-4FF1-4403C9CB1E0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3080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00D06D-3A18-FF5D-39C8-EC1AC6D1C47F}"/>
              </a:ext>
            </a:extLst>
          </p:cNvPr>
          <p:cNvSpPr>
            <a:spLocks noGrp="1"/>
          </p:cNvSpPr>
          <p:nvPr>
            <p:ph type="dt" sz="half" idx="10"/>
          </p:nvPr>
        </p:nvSpPr>
        <p:spPr/>
        <p:txBody>
          <a:bodyPr/>
          <a:lstStyle/>
          <a:p>
            <a:fld id="{1BB67406-7D6A-427B-AE15-EA86D49A46C9}" type="datetimeFigureOut">
              <a:rPr lang="en-AU" smtClean="0"/>
              <a:t>8/09/2025</a:t>
            </a:fld>
            <a:endParaRPr lang="en-AU"/>
          </a:p>
        </p:txBody>
      </p:sp>
      <p:sp>
        <p:nvSpPr>
          <p:cNvPr id="3" name="Footer Placeholder 2">
            <a:extLst>
              <a:ext uri="{FF2B5EF4-FFF2-40B4-BE49-F238E27FC236}">
                <a16:creationId xmlns:a16="http://schemas.microsoft.com/office/drawing/2014/main" id="{5F041F04-363D-EF82-F43A-1F851133744D}"/>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3F072FA-339B-371C-0059-8970DEB101C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6805446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85B4-BB2F-E262-E02E-C1DC1BF00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2F14E00-FACA-AA09-85E5-E01105E850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34EE9D-4DB5-87C6-C68D-3C076EA321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8988F-CF28-82C0-CDE6-5940AF6ADD36}"/>
              </a:ext>
            </a:extLst>
          </p:cNvPr>
          <p:cNvSpPr>
            <a:spLocks noGrp="1"/>
          </p:cNvSpPr>
          <p:nvPr>
            <p:ph type="dt" sz="half" idx="10"/>
          </p:nvPr>
        </p:nvSpPr>
        <p:spPr/>
        <p:txBody>
          <a:bodyPr/>
          <a:lstStyle/>
          <a:p>
            <a:fld id="{1BB67406-7D6A-427B-AE15-EA86D49A46C9}" type="datetimeFigureOut">
              <a:rPr lang="en-AU" smtClean="0"/>
              <a:t>8/09/2025</a:t>
            </a:fld>
            <a:endParaRPr lang="en-AU"/>
          </a:p>
        </p:txBody>
      </p:sp>
      <p:sp>
        <p:nvSpPr>
          <p:cNvPr id="6" name="Footer Placeholder 5">
            <a:extLst>
              <a:ext uri="{FF2B5EF4-FFF2-40B4-BE49-F238E27FC236}">
                <a16:creationId xmlns:a16="http://schemas.microsoft.com/office/drawing/2014/main" id="{58D6275B-7D78-C2DE-31FE-0C2CC24794F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7BA9313-C86F-F87B-3741-AEE3F072D1D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89444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15856-F0AB-56B5-BD98-57810EED58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87A74BD-4349-19E0-431D-8899C9B137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09018E4-FE4E-963A-A372-8FF2993F1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71D85-A2C7-2BA8-45B6-F761AF7901E9}"/>
              </a:ext>
            </a:extLst>
          </p:cNvPr>
          <p:cNvSpPr>
            <a:spLocks noGrp="1"/>
          </p:cNvSpPr>
          <p:nvPr>
            <p:ph type="dt" sz="half" idx="10"/>
          </p:nvPr>
        </p:nvSpPr>
        <p:spPr/>
        <p:txBody>
          <a:bodyPr/>
          <a:lstStyle/>
          <a:p>
            <a:fld id="{1BB67406-7D6A-427B-AE15-EA86D49A46C9}" type="datetimeFigureOut">
              <a:rPr lang="en-AU" smtClean="0"/>
              <a:t>8/09/2025</a:t>
            </a:fld>
            <a:endParaRPr lang="en-AU"/>
          </a:p>
        </p:txBody>
      </p:sp>
      <p:sp>
        <p:nvSpPr>
          <p:cNvPr id="6" name="Footer Placeholder 5">
            <a:extLst>
              <a:ext uri="{FF2B5EF4-FFF2-40B4-BE49-F238E27FC236}">
                <a16:creationId xmlns:a16="http://schemas.microsoft.com/office/drawing/2014/main" id="{B6B167D4-1A0A-BA70-330D-3FF1004FE0D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572802A-72F4-775F-7C84-9B2F5770F435}"/>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76132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CF791-333B-3959-5EB7-74857A08161D}"/>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4E30ACA7-4517-BC5B-569C-29CDA754F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8472832-7FB6-BE62-8AC6-AC4630D92954}"/>
              </a:ext>
            </a:extLst>
          </p:cNvPr>
          <p:cNvSpPr>
            <a:spLocks noGrp="1"/>
          </p:cNvSpPr>
          <p:nvPr>
            <p:ph type="dt" sz="half" idx="10"/>
          </p:nvPr>
        </p:nvSpPr>
        <p:spPr/>
        <p:txBody>
          <a:bodyPr/>
          <a:lstStyle/>
          <a:p>
            <a:fld id="{1BB67406-7D6A-427B-AE15-EA86D49A46C9}" type="datetimeFigureOut">
              <a:rPr lang="en-AU" smtClean="0"/>
              <a:t>8/09/2025</a:t>
            </a:fld>
            <a:endParaRPr lang="en-AU"/>
          </a:p>
        </p:txBody>
      </p:sp>
      <p:sp>
        <p:nvSpPr>
          <p:cNvPr id="5" name="Footer Placeholder 4">
            <a:extLst>
              <a:ext uri="{FF2B5EF4-FFF2-40B4-BE49-F238E27FC236}">
                <a16:creationId xmlns:a16="http://schemas.microsoft.com/office/drawing/2014/main" id="{11ED29DE-BC8E-969C-246D-FAB1068D1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EA5BE22-884E-FBF3-A25E-96D41863467F}"/>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9556977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44B66-AC16-CCAB-AFE8-29D6415A76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31ACECC-B4A9-B0D4-C662-26E4907132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5500766-BA84-C9DB-9E6F-3B62FB470ED9}"/>
              </a:ext>
            </a:extLst>
          </p:cNvPr>
          <p:cNvSpPr>
            <a:spLocks noGrp="1"/>
          </p:cNvSpPr>
          <p:nvPr>
            <p:ph type="dt" sz="half" idx="10"/>
          </p:nvPr>
        </p:nvSpPr>
        <p:spPr/>
        <p:txBody>
          <a:bodyPr/>
          <a:lstStyle/>
          <a:p>
            <a:fld id="{1BB67406-7D6A-427B-AE15-EA86D49A46C9}" type="datetimeFigureOut">
              <a:rPr lang="en-AU" smtClean="0"/>
              <a:t>8/09/2025</a:t>
            </a:fld>
            <a:endParaRPr lang="en-AU"/>
          </a:p>
        </p:txBody>
      </p:sp>
      <p:sp>
        <p:nvSpPr>
          <p:cNvPr id="5" name="Footer Placeholder 4">
            <a:extLst>
              <a:ext uri="{FF2B5EF4-FFF2-40B4-BE49-F238E27FC236}">
                <a16:creationId xmlns:a16="http://schemas.microsoft.com/office/drawing/2014/main" id="{A0361B9B-7BB2-B7BE-929B-53D8853D771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63AB2A3-A938-DC24-C96A-DF2004F89AD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042973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53CF8-4CC4-7F3B-2E2C-B754C2E0B9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DD47C4A4-F523-ACA9-5C84-1EB3B80F5B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FCC56B62-F469-5355-6292-CF3055CB002C}"/>
              </a:ext>
            </a:extLst>
          </p:cNvPr>
          <p:cNvSpPr>
            <a:spLocks noGrp="1"/>
          </p:cNvSpPr>
          <p:nvPr>
            <p:ph type="dt" sz="half" idx="10"/>
          </p:nvPr>
        </p:nvSpPr>
        <p:spPr/>
        <p:txBody>
          <a:bodyPr/>
          <a:lstStyle/>
          <a:p>
            <a:fld id="{BFAA40DC-3820-4F90-B4E8-98BE2140A65D}" type="datetimeFigureOut">
              <a:rPr lang="en-AU" smtClean="0"/>
              <a:t>8/09/2025</a:t>
            </a:fld>
            <a:endParaRPr lang="en-AU"/>
          </a:p>
        </p:txBody>
      </p:sp>
      <p:sp>
        <p:nvSpPr>
          <p:cNvPr id="5" name="Footer Placeholder 4">
            <a:extLst>
              <a:ext uri="{FF2B5EF4-FFF2-40B4-BE49-F238E27FC236}">
                <a16:creationId xmlns:a16="http://schemas.microsoft.com/office/drawing/2014/main" id="{07B6D681-D058-06A0-CFA9-1ACBCF9DA98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5491BDF-B5C2-115A-032D-5C46CBD97B88}"/>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193186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62C67-E368-7D38-83A4-DC56A3CE481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6983C6-8621-2FAD-A749-9E13A6E824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1A0925-44BC-4207-88BC-094591F65504}"/>
              </a:ext>
            </a:extLst>
          </p:cNvPr>
          <p:cNvSpPr>
            <a:spLocks noGrp="1"/>
          </p:cNvSpPr>
          <p:nvPr>
            <p:ph type="dt" sz="half" idx="10"/>
          </p:nvPr>
        </p:nvSpPr>
        <p:spPr/>
        <p:txBody>
          <a:bodyPr/>
          <a:lstStyle/>
          <a:p>
            <a:fld id="{BFAA40DC-3820-4F90-B4E8-98BE2140A65D}" type="datetimeFigureOut">
              <a:rPr lang="en-AU" smtClean="0"/>
              <a:t>8/09/2025</a:t>
            </a:fld>
            <a:endParaRPr lang="en-AU"/>
          </a:p>
        </p:txBody>
      </p:sp>
      <p:sp>
        <p:nvSpPr>
          <p:cNvPr id="5" name="Footer Placeholder 4">
            <a:extLst>
              <a:ext uri="{FF2B5EF4-FFF2-40B4-BE49-F238E27FC236}">
                <a16:creationId xmlns:a16="http://schemas.microsoft.com/office/drawing/2014/main" id="{88163BBE-E6DD-4BA0-5A98-015DA3DCEBB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B556D0-7775-3B39-DE7E-B43E5937F23A}"/>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6876717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96912-D2E1-9F64-1372-FD29BECA18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CB3F36E-92D4-F7A9-5611-D4EBA0BE88F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BA57A2-4AEF-2382-EDA9-9845CA39B6F5}"/>
              </a:ext>
            </a:extLst>
          </p:cNvPr>
          <p:cNvSpPr>
            <a:spLocks noGrp="1"/>
          </p:cNvSpPr>
          <p:nvPr>
            <p:ph type="dt" sz="half" idx="10"/>
          </p:nvPr>
        </p:nvSpPr>
        <p:spPr/>
        <p:txBody>
          <a:bodyPr/>
          <a:lstStyle/>
          <a:p>
            <a:fld id="{BFAA40DC-3820-4F90-B4E8-98BE2140A65D}" type="datetimeFigureOut">
              <a:rPr lang="en-AU" smtClean="0"/>
              <a:t>8/09/2025</a:t>
            </a:fld>
            <a:endParaRPr lang="en-AU"/>
          </a:p>
        </p:txBody>
      </p:sp>
      <p:sp>
        <p:nvSpPr>
          <p:cNvPr id="5" name="Footer Placeholder 4">
            <a:extLst>
              <a:ext uri="{FF2B5EF4-FFF2-40B4-BE49-F238E27FC236}">
                <a16:creationId xmlns:a16="http://schemas.microsoft.com/office/drawing/2014/main" id="{A6F37D0E-8F76-6E7D-576B-3044ADA89E4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D82D88E-0EE8-C9D0-7C68-6610F7CEA951}"/>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169594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A8EEF-DD28-69EB-29C5-D19A23E2AE8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F9C7F8B3-1006-F7DE-14E9-62BEEF0BC3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079AB7C-879B-50DC-E53A-4393B966D1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0D7845-F396-BCEB-3205-F5CB38CB2530}"/>
              </a:ext>
            </a:extLst>
          </p:cNvPr>
          <p:cNvSpPr>
            <a:spLocks noGrp="1"/>
          </p:cNvSpPr>
          <p:nvPr>
            <p:ph type="dt" sz="half" idx="10"/>
          </p:nvPr>
        </p:nvSpPr>
        <p:spPr/>
        <p:txBody>
          <a:bodyPr/>
          <a:lstStyle/>
          <a:p>
            <a:fld id="{BFAA40DC-3820-4F90-B4E8-98BE2140A65D}" type="datetimeFigureOut">
              <a:rPr lang="en-AU" smtClean="0"/>
              <a:t>8/09/2025</a:t>
            </a:fld>
            <a:endParaRPr lang="en-AU"/>
          </a:p>
        </p:txBody>
      </p:sp>
      <p:sp>
        <p:nvSpPr>
          <p:cNvPr id="6" name="Footer Placeholder 5">
            <a:extLst>
              <a:ext uri="{FF2B5EF4-FFF2-40B4-BE49-F238E27FC236}">
                <a16:creationId xmlns:a16="http://schemas.microsoft.com/office/drawing/2014/main" id="{3BDFD3CE-E9A4-DBF3-1F0E-201F7D7F870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5F8F1D0-0AD2-C539-20D2-851B13FB1D5D}"/>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2047249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249C5-0226-85F6-8D4F-D4EA9199BD3E}"/>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BF293AD-8E77-DFCC-2C3E-8937176F9D6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4B92EC-30B6-5005-98C8-910D96DBBD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41EC2EA1-CEE9-87F1-74CA-7EA588BF2B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4F0A23-C285-3B5E-0EF8-4DF4263F03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2763897-C5FE-C3C3-0CDA-105871814ACD}"/>
              </a:ext>
            </a:extLst>
          </p:cNvPr>
          <p:cNvSpPr>
            <a:spLocks noGrp="1"/>
          </p:cNvSpPr>
          <p:nvPr>
            <p:ph type="dt" sz="half" idx="10"/>
          </p:nvPr>
        </p:nvSpPr>
        <p:spPr/>
        <p:txBody>
          <a:bodyPr/>
          <a:lstStyle/>
          <a:p>
            <a:fld id="{BFAA40DC-3820-4F90-B4E8-98BE2140A65D}" type="datetimeFigureOut">
              <a:rPr lang="en-AU" smtClean="0"/>
              <a:t>8/09/2025</a:t>
            </a:fld>
            <a:endParaRPr lang="en-AU"/>
          </a:p>
        </p:txBody>
      </p:sp>
      <p:sp>
        <p:nvSpPr>
          <p:cNvPr id="8" name="Footer Placeholder 7">
            <a:extLst>
              <a:ext uri="{FF2B5EF4-FFF2-40B4-BE49-F238E27FC236}">
                <a16:creationId xmlns:a16="http://schemas.microsoft.com/office/drawing/2014/main" id="{C76D7EC9-F5EC-C2D4-DFE1-05F4CA0D1B20}"/>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F5CEC484-2B60-830F-28B9-0BF2FCAECAF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06584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55B2-54AC-E8D5-3367-D1C2415C822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CE7327B-BCFB-7F1B-0D11-15CDAFA5E939}"/>
              </a:ext>
            </a:extLst>
          </p:cNvPr>
          <p:cNvSpPr>
            <a:spLocks noGrp="1"/>
          </p:cNvSpPr>
          <p:nvPr>
            <p:ph type="dt" sz="half" idx="10"/>
          </p:nvPr>
        </p:nvSpPr>
        <p:spPr/>
        <p:txBody>
          <a:bodyPr/>
          <a:lstStyle/>
          <a:p>
            <a:fld id="{BFAA40DC-3820-4F90-B4E8-98BE2140A65D}" type="datetimeFigureOut">
              <a:rPr lang="en-AU" smtClean="0"/>
              <a:t>8/09/2025</a:t>
            </a:fld>
            <a:endParaRPr lang="en-AU"/>
          </a:p>
        </p:txBody>
      </p:sp>
      <p:sp>
        <p:nvSpPr>
          <p:cNvPr id="4" name="Footer Placeholder 3">
            <a:extLst>
              <a:ext uri="{FF2B5EF4-FFF2-40B4-BE49-F238E27FC236}">
                <a16:creationId xmlns:a16="http://schemas.microsoft.com/office/drawing/2014/main" id="{AACEA2D0-8DDC-C686-66FD-4DE83C549221}"/>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480BFAB-E28F-508B-19B8-6522D8ACFABF}"/>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0449621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769272-1C68-4E9F-DF2B-EFBD432E16F1}"/>
              </a:ext>
            </a:extLst>
          </p:cNvPr>
          <p:cNvSpPr>
            <a:spLocks noGrp="1"/>
          </p:cNvSpPr>
          <p:nvPr>
            <p:ph type="dt" sz="half" idx="10"/>
          </p:nvPr>
        </p:nvSpPr>
        <p:spPr/>
        <p:txBody>
          <a:bodyPr/>
          <a:lstStyle/>
          <a:p>
            <a:fld id="{BFAA40DC-3820-4F90-B4E8-98BE2140A65D}" type="datetimeFigureOut">
              <a:rPr lang="en-AU" smtClean="0"/>
              <a:t>8/09/2025</a:t>
            </a:fld>
            <a:endParaRPr lang="en-AU"/>
          </a:p>
        </p:txBody>
      </p:sp>
      <p:sp>
        <p:nvSpPr>
          <p:cNvPr id="3" name="Footer Placeholder 2">
            <a:extLst>
              <a:ext uri="{FF2B5EF4-FFF2-40B4-BE49-F238E27FC236}">
                <a16:creationId xmlns:a16="http://schemas.microsoft.com/office/drawing/2014/main" id="{9F2DC98D-0E86-D36E-F380-6954CD1E0BF5}"/>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AAA1A426-B4F3-BBC6-83AE-7CC2B62FB732}"/>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8936678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050BF-D428-3081-57B1-8789F77356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E65AD68-6E43-EC2D-C33D-9C8C408CC5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607F6F4-D743-9E3B-ECD3-FC039ED7A9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B4F5F1-6B2A-22C2-ECEA-5177C220ADF5}"/>
              </a:ext>
            </a:extLst>
          </p:cNvPr>
          <p:cNvSpPr>
            <a:spLocks noGrp="1"/>
          </p:cNvSpPr>
          <p:nvPr>
            <p:ph type="dt" sz="half" idx="10"/>
          </p:nvPr>
        </p:nvSpPr>
        <p:spPr/>
        <p:txBody>
          <a:bodyPr/>
          <a:lstStyle/>
          <a:p>
            <a:fld id="{BFAA40DC-3820-4F90-B4E8-98BE2140A65D}" type="datetimeFigureOut">
              <a:rPr lang="en-AU" smtClean="0"/>
              <a:t>8/09/2025</a:t>
            </a:fld>
            <a:endParaRPr lang="en-AU"/>
          </a:p>
        </p:txBody>
      </p:sp>
      <p:sp>
        <p:nvSpPr>
          <p:cNvPr id="6" name="Footer Placeholder 5">
            <a:extLst>
              <a:ext uri="{FF2B5EF4-FFF2-40B4-BE49-F238E27FC236}">
                <a16:creationId xmlns:a16="http://schemas.microsoft.com/office/drawing/2014/main" id="{790F1728-E389-E41B-E406-1E97CFE6A5D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A0B1710-9C83-7478-4B35-7F8EEFEF0033}"/>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690949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26ED2-C254-312D-15C0-846C33DE56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C5BD8503-8FCB-7F53-63D6-495FC6DA09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35F4EB0-E8B0-EA92-3CF8-6A5D1F5C74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7D7A35-CE5F-ECE8-2441-58A2C920217D}"/>
              </a:ext>
            </a:extLst>
          </p:cNvPr>
          <p:cNvSpPr>
            <a:spLocks noGrp="1"/>
          </p:cNvSpPr>
          <p:nvPr>
            <p:ph type="dt" sz="half" idx="10"/>
          </p:nvPr>
        </p:nvSpPr>
        <p:spPr/>
        <p:txBody>
          <a:bodyPr/>
          <a:lstStyle/>
          <a:p>
            <a:fld id="{BFAA40DC-3820-4F90-B4E8-98BE2140A65D}" type="datetimeFigureOut">
              <a:rPr lang="en-AU" smtClean="0"/>
              <a:t>8/09/2025</a:t>
            </a:fld>
            <a:endParaRPr lang="en-AU"/>
          </a:p>
        </p:txBody>
      </p:sp>
      <p:sp>
        <p:nvSpPr>
          <p:cNvPr id="6" name="Footer Placeholder 5">
            <a:extLst>
              <a:ext uri="{FF2B5EF4-FFF2-40B4-BE49-F238E27FC236}">
                <a16:creationId xmlns:a16="http://schemas.microsoft.com/office/drawing/2014/main" id="{97D0283E-7CC6-0CCE-C2FC-702F78F906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C7E77FBD-6EC1-3B80-4A79-3B5A0E2E3B8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5628232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E148A-761D-E27D-E888-B7E27FD8A10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5B74B11-2215-EBF3-BEA3-EF320EE386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767CD92-D758-240E-A2D2-4E195BC7FDA4}"/>
              </a:ext>
            </a:extLst>
          </p:cNvPr>
          <p:cNvSpPr>
            <a:spLocks noGrp="1"/>
          </p:cNvSpPr>
          <p:nvPr>
            <p:ph type="dt" sz="half" idx="10"/>
          </p:nvPr>
        </p:nvSpPr>
        <p:spPr/>
        <p:txBody>
          <a:bodyPr/>
          <a:lstStyle/>
          <a:p>
            <a:fld id="{BFAA40DC-3820-4F90-B4E8-98BE2140A65D}" type="datetimeFigureOut">
              <a:rPr lang="en-AU" smtClean="0"/>
              <a:t>8/09/2025</a:t>
            </a:fld>
            <a:endParaRPr lang="en-AU"/>
          </a:p>
        </p:txBody>
      </p:sp>
      <p:sp>
        <p:nvSpPr>
          <p:cNvPr id="5" name="Footer Placeholder 4">
            <a:extLst>
              <a:ext uri="{FF2B5EF4-FFF2-40B4-BE49-F238E27FC236}">
                <a16:creationId xmlns:a16="http://schemas.microsoft.com/office/drawing/2014/main" id="{CCDB3A7E-35BE-57C3-5A4F-F3FB5F4DA79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917621-F8C1-F075-FE92-FD0DDB6198E6}"/>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9169839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AFC27C-709B-17D0-FA2E-D84DCAB7FA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19340E5-47C9-4263-1E76-9BE55624B2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99996FD-B031-5E26-AF28-582721D53E74}"/>
              </a:ext>
            </a:extLst>
          </p:cNvPr>
          <p:cNvSpPr>
            <a:spLocks noGrp="1"/>
          </p:cNvSpPr>
          <p:nvPr>
            <p:ph type="dt" sz="half" idx="10"/>
          </p:nvPr>
        </p:nvSpPr>
        <p:spPr/>
        <p:txBody>
          <a:bodyPr/>
          <a:lstStyle/>
          <a:p>
            <a:fld id="{BFAA40DC-3820-4F90-B4E8-98BE2140A65D}" type="datetimeFigureOut">
              <a:rPr lang="en-AU" smtClean="0"/>
              <a:t>8/09/2025</a:t>
            </a:fld>
            <a:endParaRPr lang="en-AU"/>
          </a:p>
        </p:txBody>
      </p:sp>
      <p:sp>
        <p:nvSpPr>
          <p:cNvPr id="5" name="Footer Placeholder 4">
            <a:extLst>
              <a:ext uri="{FF2B5EF4-FFF2-40B4-BE49-F238E27FC236}">
                <a16:creationId xmlns:a16="http://schemas.microsoft.com/office/drawing/2014/main" id="{8C19D959-5F65-A253-A7EB-99402547BC7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98B7ADB-FEDC-6841-0342-4A29EDFCF45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7860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CC3005-B647-9E32-CC60-5191277030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1E7C51E-6DC2-39F3-9212-D582E0A9B5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90B9BBC-D295-7A76-2B27-6B12AD3F6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B67406-7D6A-427B-AE15-EA86D49A46C9}" type="datetimeFigureOut">
              <a:rPr lang="en-AU" smtClean="0"/>
              <a:t>8/09/2025</a:t>
            </a:fld>
            <a:endParaRPr lang="en-AU"/>
          </a:p>
        </p:txBody>
      </p:sp>
      <p:sp>
        <p:nvSpPr>
          <p:cNvPr id="5" name="Footer Placeholder 4">
            <a:extLst>
              <a:ext uri="{FF2B5EF4-FFF2-40B4-BE49-F238E27FC236}">
                <a16:creationId xmlns:a16="http://schemas.microsoft.com/office/drawing/2014/main" id="{D88185DA-FDEE-FA5B-E9B0-C02631270C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1860BB-9B5C-C732-6BD6-2C0DFC8EE6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B5C574-5640-4986-AA8B-BE8048252EF2}" type="slidenum">
              <a:rPr lang="en-AU" smtClean="0"/>
              <a:t>‹#›</a:t>
            </a:fld>
            <a:endParaRPr lang="en-AU"/>
          </a:p>
        </p:txBody>
      </p:sp>
    </p:spTree>
    <p:extLst>
      <p:ext uri="{BB962C8B-B14F-4D97-AF65-F5344CB8AC3E}">
        <p14:creationId xmlns:p14="http://schemas.microsoft.com/office/powerpoint/2010/main" val="13346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DDAB3A-0A22-D024-CB1E-FB00658BEB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E90D3B34-6582-BD11-4D42-366502C70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1D8C151-0A35-D9DB-7435-13417BC8F3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AA40DC-3820-4F90-B4E8-98BE2140A65D}" type="datetimeFigureOut">
              <a:rPr lang="en-AU" smtClean="0"/>
              <a:t>8/09/2025</a:t>
            </a:fld>
            <a:endParaRPr lang="en-AU"/>
          </a:p>
        </p:txBody>
      </p:sp>
      <p:sp>
        <p:nvSpPr>
          <p:cNvPr id="5" name="Footer Placeholder 4">
            <a:extLst>
              <a:ext uri="{FF2B5EF4-FFF2-40B4-BE49-F238E27FC236}">
                <a16:creationId xmlns:a16="http://schemas.microsoft.com/office/drawing/2014/main" id="{4B2A9709-41CF-642F-7858-53BE89DAE6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752F23B-D3DD-D490-A64F-7E733F664E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4F4E00-A0CE-455C-B0DA-A2CE083CA5E3}" type="slidenum">
              <a:rPr lang="en-AU" smtClean="0"/>
              <a:t>‹#›</a:t>
            </a:fld>
            <a:endParaRPr lang="en-AU"/>
          </a:p>
        </p:txBody>
      </p:sp>
    </p:spTree>
    <p:extLst>
      <p:ext uri="{BB962C8B-B14F-4D97-AF65-F5344CB8AC3E}">
        <p14:creationId xmlns:p14="http://schemas.microsoft.com/office/powerpoint/2010/main" val="164154233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mailto:Farshid.Keivanian@uts.edu.au" TargetMode="Externa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7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7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hyperlink" Target="https://github.com/FarshidKeivanian/Sessions_Fundamentals-of-Software-Development_Java-Python/blob/main/LibrarySystem_Java_4Activity.java" TargetMode="Externa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8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8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8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8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8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87.xml.rels><?xml version="1.0" encoding="UTF-8" standalone="yes"?>
<Relationships xmlns="http://schemas.openxmlformats.org/package/2006/relationships"><Relationship Id="rId2" Type="http://schemas.openxmlformats.org/officeDocument/2006/relationships/hyperlink" Target="https://canvas.uts.edu.au/courses/36509/assignments" TargetMode="Externa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23.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876F03-8BAA-72AB-E62A-1CEA6868C9B9}"/>
              </a:ext>
            </a:extLst>
          </p:cNvPr>
          <p:cNvSpPr>
            <a:spLocks noGrp="1"/>
          </p:cNvSpPr>
          <p:nvPr>
            <p:ph type="ctrTitle"/>
          </p:nvPr>
        </p:nvSpPr>
        <p:spPr>
          <a:xfrm>
            <a:off x="3063992" y="1407171"/>
            <a:ext cx="8737863" cy="3105506"/>
          </a:xfrm>
        </p:spPr>
        <p:txBody>
          <a:bodyPr anchor="b">
            <a:noAutofit/>
          </a:bodyPr>
          <a:lstStyle/>
          <a:p>
            <a:pPr algn="l">
              <a:lnSpc>
                <a:spcPct val="150000"/>
              </a:lnSpc>
            </a:pPr>
            <a:r>
              <a:rPr lang="en-US" sz="4800" dirty="0">
                <a:latin typeface="Calibir"/>
              </a:rPr>
              <a:t>Introduction to Software Engineering (ISE102)</a:t>
            </a:r>
            <a:br>
              <a:rPr lang="en-US" sz="4800" dirty="0">
                <a:latin typeface="Calibir"/>
              </a:rPr>
            </a:br>
            <a:r>
              <a:rPr lang="en-US" sz="4800" dirty="0">
                <a:latin typeface="Calibir"/>
              </a:rPr>
              <a:t>Tutorial Week 5</a:t>
            </a:r>
            <a:endParaRPr lang="en-AU" sz="4800" dirty="0">
              <a:latin typeface="Calibir"/>
            </a:endParaRPr>
          </a:p>
        </p:txBody>
      </p:sp>
      <p:pic>
        <p:nvPicPr>
          <p:cNvPr id="6" name="Picture 5" descr="A person wearing glasses and a blue shirt&#10;&#10;AI-generated content may be incorrect.">
            <a:extLst>
              <a:ext uri="{FF2B5EF4-FFF2-40B4-BE49-F238E27FC236}">
                <a16:creationId xmlns:a16="http://schemas.microsoft.com/office/drawing/2014/main" id="{6073E74C-6F0F-4134-F922-9D911600FF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390145" y="1199407"/>
            <a:ext cx="2673847" cy="3521034"/>
          </a:xfrm>
          <a:prstGeom prst="rect">
            <a:avLst/>
          </a:prstGeom>
        </p:spPr>
      </p:pic>
    </p:spTree>
    <p:extLst>
      <p:ext uri="{BB962C8B-B14F-4D97-AF65-F5344CB8AC3E}">
        <p14:creationId xmlns:p14="http://schemas.microsoft.com/office/powerpoint/2010/main" val="27699402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366-6BE2-EF72-FFA9-3FC1C60CAE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5B7095-A95E-A4AA-C9AB-75AB5D7B3193}"/>
              </a:ext>
            </a:extLst>
          </p:cNvPr>
          <p:cNvSpPr>
            <a:spLocks noGrp="1"/>
          </p:cNvSpPr>
          <p:nvPr>
            <p:ph type="title"/>
          </p:nvPr>
        </p:nvSpPr>
        <p:spPr>
          <a:xfrm>
            <a:off x="0" y="1"/>
            <a:ext cx="12192000" cy="672661"/>
          </a:xfrm>
        </p:spPr>
        <p:txBody>
          <a:bodyPr anchor="b">
            <a:normAutofit/>
          </a:bodyPr>
          <a:lstStyle/>
          <a:p>
            <a:r>
              <a:rPr lang="en-US" sz="4000" dirty="0">
                <a:latin typeface="Calibir"/>
              </a:rPr>
              <a:t>Week 5 Outline</a:t>
            </a:r>
            <a:endParaRPr lang="en-AU" sz="4000" b="1" dirty="0">
              <a:latin typeface="Calibir"/>
            </a:endParaRPr>
          </a:p>
        </p:txBody>
      </p:sp>
      <p:sp>
        <p:nvSpPr>
          <p:cNvPr id="5" name="TextBox 4">
            <a:extLst>
              <a:ext uri="{FF2B5EF4-FFF2-40B4-BE49-F238E27FC236}">
                <a16:creationId xmlns:a16="http://schemas.microsoft.com/office/drawing/2014/main" id="{71F7037C-CC18-B6E2-C69F-FD0450DC4355}"/>
              </a:ext>
            </a:extLst>
          </p:cNvPr>
          <p:cNvSpPr txBox="1"/>
          <p:nvPr/>
        </p:nvSpPr>
        <p:spPr>
          <a:xfrm>
            <a:off x="0" y="852554"/>
            <a:ext cx="12192000" cy="4791055"/>
          </a:xfrm>
          <a:prstGeom prst="rect">
            <a:avLst/>
          </a:prstGeom>
          <a:noFill/>
        </p:spPr>
        <p:txBody>
          <a:bodyPr wrap="square">
            <a:spAutoFit/>
          </a:bodyPr>
          <a:lstStyle/>
          <a:p>
            <a:pPr marL="51435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Have you formed your group?</a:t>
            </a:r>
          </a:p>
          <a:p>
            <a:pPr marL="514350" indent="-514350">
              <a:spcAft>
                <a:spcPts val="800"/>
              </a:spcAft>
              <a:buFont typeface="+mj-lt"/>
              <a:buAutoNum type="arabicPeriod"/>
            </a:pPr>
            <a:r>
              <a:rPr lang="en-US" sz="2800" dirty="0">
                <a:latin typeface="Calibir"/>
              </a:rPr>
              <a:t>Preparation for Group Assignment – Part 1: Analysis and Design</a:t>
            </a:r>
            <a:endParaRPr lang="en-US" sz="2800" kern="100" dirty="0">
              <a:latin typeface="Calibir"/>
              <a:ea typeface="Aptos" panose="020B0004020202020204" pitchFamily="34" charset="0"/>
              <a:cs typeface="Arial" panose="020B0604020202020204" pitchFamily="34" charset="0"/>
            </a:endParaRPr>
          </a:p>
          <a:p>
            <a:pPr marL="514350" lvl="0" indent="-514350">
              <a:spcAft>
                <a:spcPts val="800"/>
              </a:spcAft>
              <a:buFont typeface="+mj-lt"/>
              <a:buAutoNum type="arabicPeriod"/>
            </a:pPr>
            <a:r>
              <a:rPr lang="en-US" sz="2800" dirty="0">
                <a:latin typeface="Calibir"/>
              </a:rPr>
              <a:t>Class Diagram Practice</a:t>
            </a:r>
          </a:p>
          <a:p>
            <a:pPr marL="514350" lvl="0" indent="-514350">
              <a:spcAft>
                <a:spcPts val="800"/>
              </a:spcAft>
              <a:buFont typeface="+mj-lt"/>
              <a:buAutoNum type="arabicPeriod"/>
            </a:pPr>
            <a:r>
              <a:rPr lang="en-US" sz="2800" dirty="0">
                <a:latin typeface="Calibir"/>
              </a:rPr>
              <a:t>From UML Diagram to Code: Library Example (Java)</a:t>
            </a:r>
          </a:p>
          <a:p>
            <a:pPr marL="514350" lvl="0" indent="-514350">
              <a:spcAft>
                <a:spcPts val="800"/>
              </a:spcAft>
              <a:buFont typeface="+mj-lt"/>
              <a:buAutoNum type="arabicPeriod"/>
            </a:pPr>
            <a:r>
              <a:rPr lang="en-US" sz="2800" dirty="0">
                <a:latin typeface="Calibir"/>
              </a:rPr>
              <a:t>From UML Diagram to Code: Library Example (Python)</a:t>
            </a:r>
          </a:p>
          <a:p>
            <a:pPr marL="514350" lvl="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Activity 1 — Show the current count when limit blocks borrowing</a:t>
            </a:r>
          </a:p>
          <a:p>
            <a:pPr marL="514350" lvl="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Activity 2 — Show total borrowed after a successful borrow</a:t>
            </a:r>
          </a:p>
          <a:p>
            <a:pPr marL="514350" lvl="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Activity 3 — Show remaining count after a successful return</a:t>
            </a:r>
          </a:p>
          <a:p>
            <a:pPr marL="514350" lvl="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Activity 4 — Track how many times a book has ever been borrowed</a:t>
            </a:r>
          </a:p>
        </p:txBody>
      </p:sp>
    </p:spTree>
    <p:extLst>
      <p:ext uri="{BB962C8B-B14F-4D97-AF65-F5344CB8AC3E}">
        <p14:creationId xmlns:p14="http://schemas.microsoft.com/office/powerpoint/2010/main" val="3000910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2D336-7811-427D-8BC8-6D419505EA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180BBD-6520-1EA8-3BDC-4FB8E90E7817}"/>
              </a:ext>
            </a:extLst>
          </p:cNvPr>
          <p:cNvSpPr>
            <a:spLocks noGrp="1"/>
          </p:cNvSpPr>
          <p:nvPr>
            <p:ph type="title"/>
          </p:nvPr>
        </p:nvSpPr>
        <p:spPr>
          <a:xfrm>
            <a:off x="0" y="1"/>
            <a:ext cx="12192000" cy="672661"/>
          </a:xfrm>
        </p:spPr>
        <p:txBody>
          <a:bodyPr anchor="b">
            <a:normAutofit/>
          </a:bodyPr>
          <a:lstStyle/>
          <a:p>
            <a:r>
              <a:rPr lang="en-US" sz="4000" dirty="0">
                <a:latin typeface="Calibir"/>
              </a:rPr>
              <a:t>Week 5 Outline</a:t>
            </a:r>
            <a:endParaRPr lang="en-AU" sz="4000" b="1" dirty="0">
              <a:latin typeface="Calibir"/>
            </a:endParaRPr>
          </a:p>
        </p:txBody>
      </p:sp>
      <p:sp>
        <p:nvSpPr>
          <p:cNvPr id="5" name="TextBox 4">
            <a:extLst>
              <a:ext uri="{FF2B5EF4-FFF2-40B4-BE49-F238E27FC236}">
                <a16:creationId xmlns:a16="http://schemas.microsoft.com/office/drawing/2014/main" id="{881795D0-7D2C-4583-4731-403F6499812A}"/>
              </a:ext>
            </a:extLst>
          </p:cNvPr>
          <p:cNvSpPr txBox="1"/>
          <p:nvPr/>
        </p:nvSpPr>
        <p:spPr>
          <a:xfrm>
            <a:off x="0" y="852554"/>
            <a:ext cx="12192000" cy="3724096"/>
          </a:xfrm>
          <a:prstGeom prst="rect">
            <a:avLst/>
          </a:prstGeom>
          <a:noFill/>
        </p:spPr>
        <p:txBody>
          <a:bodyPr wrap="square">
            <a:spAutoFit/>
          </a:bodyPr>
          <a:lstStyle/>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Activity 5 — Show who already has the book</a:t>
            </a:r>
          </a:p>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Activity 6 — Show remaining slots after a successful borrow	</a:t>
            </a:r>
          </a:p>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Activity 7 — When returning a book you don’t have, show who actually has it</a:t>
            </a:r>
          </a:p>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Activity 8 — Simple email sanity check on member creation</a:t>
            </a:r>
          </a:p>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Activity 9 — Tidy book titles on creation</a:t>
            </a:r>
          </a:p>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Activity 10 — Warn on duplicate ISBN when adding to the library</a:t>
            </a:r>
          </a:p>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Reference Note for Students</a:t>
            </a:r>
          </a:p>
        </p:txBody>
      </p:sp>
    </p:spTree>
    <p:extLst>
      <p:ext uri="{BB962C8B-B14F-4D97-AF65-F5344CB8AC3E}">
        <p14:creationId xmlns:p14="http://schemas.microsoft.com/office/powerpoint/2010/main" val="35782225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47C-18A7-9AFC-9593-71D435A25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482E7-E32D-573D-8C2B-4E48BC067678}"/>
              </a:ext>
            </a:extLst>
          </p:cNvPr>
          <p:cNvSpPr>
            <a:spLocks noGrp="1"/>
          </p:cNvSpPr>
          <p:nvPr>
            <p:ph type="title"/>
          </p:nvPr>
        </p:nvSpPr>
        <p:spPr>
          <a:xfrm>
            <a:off x="0" y="1"/>
            <a:ext cx="12192000" cy="756744"/>
          </a:xfrm>
        </p:spPr>
        <p:txBody>
          <a:bodyPr anchor="b">
            <a:normAutofit/>
          </a:bodyPr>
          <a:lstStyle/>
          <a:p>
            <a:r>
              <a:rPr lang="en-US" sz="4000" dirty="0">
                <a:latin typeface="Calibir"/>
              </a:rPr>
              <a:t>Have you formed your group?</a:t>
            </a:r>
            <a:endParaRPr lang="en-AU" sz="4000" b="1" dirty="0">
              <a:latin typeface="Calibir"/>
            </a:endParaRPr>
          </a:p>
        </p:txBody>
      </p:sp>
      <p:pic>
        <p:nvPicPr>
          <p:cNvPr id="3" name="Picture 2">
            <a:extLst>
              <a:ext uri="{FF2B5EF4-FFF2-40B4-BE49-F238E27FC236}">
                <a16:creationId xmlns:a16="http://schemas.microsoft.com/office/drawing/2014/main" id="{CD4C78DA-EA34-3EF7-4935-1E6251F4954C}"/>
              </a:ext>
            </a:extLst>
          </p:cNvPr>
          <p:cNvPicPr>
            <a:picLocks noChangeAspect="1"/>
          </p:cNvPicPr>
          <p:nvPr/>
        </p:nvPicPr>
        <p:blipFill>
          <a:blip r:embed="rId2"/>
          <a:srcRect b="5253"/>
          <a:stretch>
            <a:fillRect/>
          </a:stretch>
        </p:blipFill>
        <p:spPr>
          <a:xfrm>
            <a:off x="1698186" y="756745"/>
            <a:ext cx="8795628" cy="4687614"/>
          </a:xfrm>
          <a:prstGeom prst="rect">
            <a:avLst/>
          </a:prstGeom>
        </p:spPr>
      </p:pic>
      <p:sp>
        <p:nvSpPr>
          <p:cNvPr id="5" name="TextBox 4">
            <a:extLst>
              <a:ext uri="{FF2B5EF4-FFF2-40B4-BE49-F238E27FC236}">
                <a16:creationId xmlns:a16="http://schemas.microsoft.com/office/drawing/2014/main" id="{CC20B5C0-803C-5E96-374C-6D1E59E4C47A}"/>
              </a:ext>
            </a:extLst>
          </p:cNvPr>
          <p:cNvSpPr txBox="1"/>
          <p:nvPr/>
        </p:nvSpPr>
        <p:spPr>
          <a:xfrm>
            <a:off x="110359" y="5444359"/>
            <a:ext cx="11971282" cy="1362809"/>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Please send me an email listing your group members and kindly CC all members of your group in the same email. This will help us keep everything clear and ensure everyone is informed. </a:t>
            </a:r>
            <a:r>
              <a:rPr kumimoji="0" lang="en-US" sz="1900" b="0" i="0" u="none" strike="noStrike" kern="1200" cap="none" spc="0" normalizeH="0" baseline="0" noProof="0" dirty="0">
                <a:ln>
                  <a:noFill/>
                </a:ln>
                <a:solidFill>
                  <a:prstClr val="black"/>
                </a:solidFill>
                <a:effectLst/>
                <a:uLnTx/>
                <a:uFillTx/>
                <a:latin typeface="Calibir"/>
                <a:ea typeface="+mn-ea"/>
                <a:cs typeface="+mn-cs"/>
                <a:hlinkClick r:id="rId3"/>
              </a:rPr>
              <a:t>Farshid.Keivanian@uts.edu.au</a:t>
            </a:r>
            <a:r>
              <a:rPr kumimoji="0" lang="en-US" sz="1900" b="0" i="0" u="none" strike="noStrike" kern="1200" cap="none" spc="0" normalizeH="0" baseline="0" noProof="0" dirty="0">
                <a:ln>
                  <a:noFill/>
                </a:ln>
                <a:solidFill>
                  <a:prstClr val="black"/>
                </a:solidFill>
                <a:effectLst/>
                <a:uLnTx/>
                <a:uFillTx/>
                <a:latin typeface="Calibir"/>
                <a:ea typeface="+mn-ea"/>
                <a:cs typeface="+mn-cs"/>
              </a:rPr>
              <a:t>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Once I receive your email, I will fill in the online sheet with your group details and share it with the Unit Coordinator.</a:t>
            </a:r>
          </a:p>
        </p:txBody>
      </p:sp>
    </p:spTree>
    <p:extLst>
      <p:ext uri="{BB962C8B-B14F-4D97-AF65-F5344CB8AC3E}">
        <p14:creationId xmlns:p14="http://schemas.microsoft.com/office/powerpoint/2010/main" val="27463315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54A34-D50B-087E-6CE7-9E96328A08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F80D92-1C36-14F1-12AF-0629FC927545}"/>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pic>
        <p:nvPicPr>
          <p:cNvPr id="5" name="Picture 4">
            <a:extLst>
              <a:ext uri="{FF2B5EF4-FFF2-40B4-BE49-F238E27FC236}">
                <a16:creationId xmlns:a16="http://schemas.microsoft.com/office/drawing/2014/main" id="{E7724CD8-1155-AA17-E5F3-ADDFF0AD433C}"/>
              </a:ext>
            </a:extLst>
          </p:cNvPr>
          <p:cNvPicPr>
            <a:picLocks noChangeAspect="1"/>
          </p:cNvPicPr>
          <p:nvPr/>
        </p:nvPicPr>
        <p:blipFill>
          <a:blip r:embed="rId2"/>
          <a:srcRect t="8193" b="12491"/>
          <a:stretch>
            <a:fillRect/>
          </a:stretch>
        </p:blipFill>
        <p:spPr>
          <a:xfrm>
            <a:off x="0" y="969484"/>
            <a:ext cx="12192000" cy="5439547"/>
          </a:xfrm>
          <a:prstGeom prst="rect">
            <a:avLst/>
          </a:prstGeom>
        </p:spPr>
      </p:pic>
      <p:sp>
        <p:nvSpPr>
          <p:cNvPr id="3" name="Rectangle: Rounded Corners 2">
            <a:extLst>
              <a:ext uri="{FF2B5EF4-FFF2-40B4-BE49-F238E27FC236}">
                <a16:creationId xmlns:a16="http://schemas.microsoft.com/office/drawing/2014/main" id="{695FC13A-F487-7323-3178-CC771C2AB050}"/>
              </a:ext>
            </a:extLst>
          </p:cNvPr>
          <p:cNvSpPr/>
          <p:nvPr/>
        </p:nvSpPr>
        <p:spPr>
          <a:xfrm>
            <a:off x="2352907" y="3880624"/>
            <a:ext cx="5229922" cy="52410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573199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4AF4D-CE09-92F4-C8F3-5BBBA4D931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3B62E3-B0A5-6165-6115-B11BF5F57594}"/>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04E865F2-2F56-2554-3B7F-410CC6B90348}"/>
              </a:ext>
            </a:extLst>
          </p:cNvPr>
          <p:cNvSpPr>
            <a:spLocks noChangeArrowheads="1"/>
          </p:cNvSpPr>
          <p:nvPr/>
        </p:nvSpPr>
        <p:spPr bwMode="auto">
          <a:xfrm>
            <a:off x="0" y="2067269"/>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General admin (read first)</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Groups: 3–4 students. Self-assign by end of Week 5 (Canvas group tool or tell your tutor in labs).</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Submission: One group file for Assessment 1 – Part 1 (PDF or DOCX) by Sunday of Week 7.</a:t>
            </a:r>
          </a:p>
        </p:txBody>
      </p:sp>
    </p:spTree>
    <p:extLst>
      <p:ext uri="{BB962C8B-B14F-4D97-AF65-F5344CB8AC3E}">
        <p14:creationId xmlns:p14="http://schemas.microsoft.com/office/powerpoint/2010/main" val="7999841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E3E0A-D96A-46B7-2EF9-BD7619A3B5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4B334C-BEB6-EDEB-3A53-337DBBD81937}"/>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8586AA47-69D0-0332-FE83-4C875217C675}"/>
              </a:ext>
            </a:extLst>
          </p:cNvPr>
          <p:cNvSpPr>
            <a:spLocks noChangeArrowheads="1"/>
          </p:cNvSpPr>
          <p:nvPr/>
        </p:nvSpPr>
        <p:spPr bwMode="auto">
          <a:xfrm>
            <a:off x="0" y="2067269"/>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Filename: group&lt;group-number&gt;-Cmp1&lt;lab-number&gt;.&lt;</a:t>
            </a:r>
            <a:r>
              <a:rPr lang="en-US" altLang="en-US" sz="2800" dirty="0" err="1">
                <a:latin typeface="Calibir"/>
              </a:rPr>
              <a:t>pdf|docx</a:t>
            </a:r>
            <a:r>
              <a:rPr lang="en-US" altLang="en-US" sz="2800" dirty="0">
                <a:latin typeface="Calibir"/>
              </a:rPr>
              <a:t>&gt; (e.g., group07-Cmp103.pdf).</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Peer rating (</a:t>
            </a:r>
            <a:r>
              <a:rPr lang="en-US" altLang="en-US" sz="2800" dirty="0" err="1">
                <a:latin typeface="Calibir"/>
              </a:rPr>
              <a:t>Sparkplus</a:t>
            </a:r>
            <a:r>
              <a:rPr lang="en-US" altLang="en-US" sz="2800" dirty="0">
                <a:latin typeface="Calibir"/>
              </a:rPr>
              <a:t>): 8 Sep 2025, 12:00 AM – 14 Sep 2025, 11:55 PM.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Scope: Part 1 is analysis &amp; design only (no code required). Part 2 is implementation; Part 3 is the showcase.</a:t>
            </a:r>
          </a:p>
        </p:txBody>
      </p:sp>
    </p:spTree>
    <p:extLst>
      <p:ext uri="{BB962C8B-B14F-4D97-AF65-F5344CB8AC3E}">
        <p14:creationId xmlns:p14="http://schemas.microsoft.com/office/powerpoint/2010/main" val="10510464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C91CEA-0555-92C5-2F9A-9ABD90B549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D38537-BF17-D778-1938-E5CC3BBD40B3}"/>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E1C11665-AEBC-8F0D-F17C-4954E4E90D9E}"/>
              </a:ext>
            </a:extLst>
          </p:cNvPr>
          <p:cNvSpPr>
            <a:spLocks noChangeArrowheads="1"/>
          </p:cNvSpPr>
          <p:nvPr/>
        </p:nvSpPr>
        <p:spPr bwMode="auto">
          <a:xfrm>
            <a:off x="0" y="1413698"/>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Step 1 – Define the scope</a:t>
            </a:r>
          </a:p>
          <a:p>
            <a:pPr>
              <a:lnSpc>
                <a:spcPct val="150000"/>
              </a:lnSpc>
            </a:pPr>
            <a:r>
              <a:rPr lang="en-US" sz="2800" b="1" dirty="0">
                <a:latin typeface="Calibir"/>
              </a:rPr>
              <a:t>Actors</a:t>
            </a:r>
            <a:r>
              <a:rPr lang="en-US" sz="2800" dirty="0">
                <a:latin typeface="Calibir"/>
              </a:rPr>
              <a:t>: Student, Admin.</a:t>
            </a:r>
          </a:p>
          <a:p>
            <a:pPr marL="914400" lvl="1" indent="-457200">
              <a:lnSpc>
                <a:spcPct val="150000"/>
              </a:lnSpc>
              <a:buFont typeface="Arial" panose="020B0604020202020204" pitchFamily="34" charset="0"/>
              <a:buChar char="•"/>
            </a:pPr>
            <a:r>
              <a:rPr lang="en-US" sz="2800" b="1" dirty="0">
                <a:latin typeface="Calibir"/>
              </a:rPr>
              <a:t>Students can</a:t>
            </a:r>
            <a:r>
              <a:rPr lang="en-US" sz="2800" dirty="0">
                <a:latin typeface="Calibir"/>
              </a:rPr>
              <a:t>: register, log in, </a:t>
            </a:r>
            <a:r>
              <a:rPr lang="en-US" sz="2800" dirty="0" err="1">
                <a:latin typeface="Calibir"/>
              </a:rPr>
              <a:t>enrol</a:t>
            </a:r>
            <a:r>
              <a:rPr lang="en-US" sz="2800" dirty="0">
                <a:latin typeface="Calibir"/>
              </a:rPr>
              <a:t> in up to 4 subjects, drop a subject, view enrolments, change password.</a:t>
            </a:r>
          </a:p>
          <a:p>
            <a:pPr marL="914400" lvl="1" indent="-457200">
              <a:lnSpc>
                <a:spcPct val="150000"/>
              </a:lnSpc>
              <a:buFont typeface="Arial" panose="020B0604020202020204" pitchFamily="34" charset="0"/>
              <a:buChar char="•"/>
            </a:pPr>
            <a:r>
              <a:rPr lang="en-US" sz="2800" b="1" dirty="0">
                <a:latin typeface="Calibir"/>
              </a:rPr>
              <a:t>Admins can</a:t>
            </a:r>
            <a:r>
              <a:rPr lang="en-US" sz="2800" dirty="0">
                <a:latin typeface="Calibir"/>
              </a:rPr>
              <a:t>: view all students, group students by grade, categorize PASS/FAIL (mark &lt; 50 = FAIL; mark ≥ 50 = PASS), remove a student, clear all data.</a:t>
            </a:r>
          </a:p>
        </p:txBody>
      </p:sp>
    </p:spTree>
    <p:extLst>
      <p:ext uri="{BB962C8B-B14F-4D97-AF65-F5344CB8AC3E}">
        <p14:creationId xmlns:p14="http://schemas.microsoft.com/office/powerpoint/2010/main" val="16197253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E2FB7-79DF-9732-1306-1BC111DA0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BE3BC7-13C5-FCC5-13C5-A1F04EBA46D5}"/>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042B44C4-36AC-56C3-77EE-E18D828663BF}"/>
              </a:ext>
            </a:extLst>
          </p:cNvPr>
          <p:cNvSpPr>
            <a:spLocks noChangeArrowheads="1"/>
          </p:cNvSpPr>
          <p:nvPr/>
        </p:nvSpPr>
        <p:spPr bwMode="auto">
          <a:xfrm>
            <a:off x="0" y="767367"/>
            <a:ext cx="12192000" cy="58424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System must</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validate email (@university.com) and password pattern (Uppercase first, ≥ 5 letters, ≥ 3 digits),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generate 6-digit Student IDs (zero-padded) and 3-digit Subject IDs (zero-padded),</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auto-assign a random mark between 25–100 and convert it to grade bands (Z/P/C/D/HD),</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save/load all data from </a:t>
            </a:r>
            <a:r>
              <a:rPr lang="en-US" altLang="en-US" sz="2800" dirty="0" err="1">
                <a:latin typeface="Calibir"/>
              </a:rPr>
              <a:t>students.data</a:t>
            </a:r>
            <a:r>
              <a:rPr lang="en-US" altLang="en-US" sz="2800" dirty="0">
                <a:latin typeface="Calibir"/>
              </a:rPr>
              <a: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Out of scope</a:t>
            </a:r>
            <a:r>
              <a:rPr lang="en-US" altLang="en-US" sz="2800" dirty="0">
                <a:latin typeface="Calibir"/>
              </a:rPr>
              <a:t>: GUI (that’s Part 2), multi-semester enrolments.</a:t>
            </a:r>
          </a:p>
        </p:txBody>
      </p:sp>
    </p:spTree>
    <p:extLst>
      <p:ext uri="{BB962C8B-B14F-4D97-AF65-F5344CB8AC3E}">
        <p14:creationId xmlns:p14="http://schemas.microsoft.com/office/powerpoint/2010/main" val="29939472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A3B38-5B7F-8535-844D-1581BF34C4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CD8693-74A0-059F-ED37-C0115F55888A}"/>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4B256CF3-73C0-3CF3-C55F-3503B8C33F1F}"/>
              </a:ext>
            </a:extLst>
          </p:cNvPr>
          <p:cNvSpPr>
            <a:spLocks noChangeArrowheads="1"/>
          </p:cNvSpPr>
          <p:nvPr/>
        </p:nvSpPr>
        <p:spPr bwMode="auto">
          <a:xfrm>
            <a:off x="0" y="2058233"/>
            <a:ext cx="12192000" cy="32607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sz="2800" b="1" dirty="0">
                <a:latin typeface="Calibir"/>
              </a:rPr>
              <a:t>Mini story</a:t>
            </a:r>
            <a:br>
              <a:rPr lang="en-US" sz="2800" dirty="0">
                <a:latin typeface="Calibir"/>
              </a:rPr>
            </a:br>
            <a:r>
              <a:rPr lang="en-US" sz="2800" dirty="0">
                <a:latin typeface="Calibir"/>
              </a:rPr>
              <a:t>Leila registers → system validates patterns, creates ID 000123.</a:t>
            </a:r>
            <a:br>
              <a:rPr lang="en-US" sz="2800" dirty="0">
                <a:latin typeface="Calibir"/>
              </a:rPr>
            </a:br>
            <a:r>
              <a:rPr lang="en-US" sz="2800" dirty="0">
                <a:latin typeface="Calibir"/>
              </a:rPr>
              <a:t>She </a:t>
            </a:r>
            <a:r>
              <a:rPr lang="en-US" sz="2800" dirty="0" err="1">
                <a:latin typeface="Calibir"/>
              </a:rPr>
              <a:t>enrols</a:t>
            </a:r>
            <a:r>
              <a:rPr lang="en-US" sz="2800" dirty="0">
                <a:latin typeface="Calibir"/>
              </a:rPr>
              <a:t> in 2 subjects → system creates codes 005 and 018 with marks 72 (C) and 89 (HD).</a:t>
            </a:r>
            <a:br>
              <a:rPr lang="en-US" sz="2800" dirty="0">
                <a:latin typeface="Calibir"/>
              </a:rPr>
            </a:br>
            <a:r>
              <a:rPr lang="en-US" sz="2800" dirty="0">
                <a:latin typeface="Calibir"/>
              </a:rPr>
              <a:t>Admin later views students and sees Leila under PASS (since marks ≥ 50).</a:t>
            </a:r>
            <a:endParaRPr lang="en-US" altLang="en-US" sz="2800" dirty="0">
              <a:latin typeface="Calibir"/>
            </a:endParaRPr>
          </a:p>
        </p:txBody>
      </p:sp>
    </p:spTree>
    <p:extLst>
      <p:ext uri="{BB962C8B-B14F-4D97-AF65-F5344CB8AC3E}">
        <p14:creationId xmlns:p14="http://schemas.microsoft.com/office/powerpoint/2010/main" val="22322590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FA1CA-2C22-FA6F-63A6-E8A45D0D437C}"/>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1F6C4E4-0EAB-D2E7-8F96-F1A3A970631C}"/>
              </a:ext>
            </a:extLst>
          </p:cNvPr>
          <p:cNvSpPr>
            <a:spLocks noChangeArrowheads="1"/>
          </p:cNvSpPr>
          <p:nvPr/>
        </p:nvSpPr>
        <p:spPr bwMode="auto">
          <a:xfrm>
            <a:off x="0" y="-187118"/>
            <a:ext cx="12192000" cy="7232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500" b="1" dirty="0">
                <a:latin typeface="Calibir"/>
              </a:rPr>
              <a:t>Step 2 – Write user stories (3-digit IDs)</a:t>
            </a:r>
          </a:p>
          <a:p>
            <a:pPr>
              <a:lnSpc>
                <a:spcPct val="150000"/>
              </a:lnSpc>
            </a:pPr>
            <a:r>
              <a:rPr lang="en-US" sz="2500" dirty="0">
                <a:latin typeface="Calibir"/>
              </a:rPr>
              <a:t>Format: </a:t>
            </a:r>
            <a:r>
              <a:rPr lang="en-US" sz="2500" i="1" dirty="0">
                <a:latin typeface="Calibir"/>
              </a:rPr>
              <a:t>As a [user], I want to [do something] so that [result happens].</a:t>
            </a:r>
            <a:endParaRPr lang="en-US" sz="2500" dirty="0">
              <a:latin typeface="Calibir"/>
            </a:endParaRPr>
          </a:p>
          <a:p>
            <a:pPr marL="342900" indent="-342900">
              <a:lnSpc>
                <a:spcPct val="150000"/>
              </a:lnSpc>
              <a:buFont typeface="Arial" panose="020B0604020202020204" pitchFamily="34" charset="0"/>
              <a:buChar char="•"/>
            </a:pPr>
            <a:r>
              <a:rPr lang="en-US" sz="2500" dirty="0">
                <a:latin typeface="Calibir"/>
              </a:rPr>
              <a:t>Group IDs by feature (hundreds digit):</a:t>
            </a:r>
          </a:p>
          <a:p>
            <a:pPr marL="800100" lvl="1" indent="-342900">
              <a:lnSpc>
                <a:spcPct val="150000"/>
              </a:lnSpc>
              <a:buFont typeface="Arial" panose="020B0604020202020204" pitchFamily="34" charset="0"/>
              <a:buChar char="•"/>
            </a:pPr>
            <a:r>
              <a:rPr lang="en-US" sz="2500" dirty="0">
                <a:latin typeface="Calibir"/>
              </a:rPr>
              <a:t>1xx = Login</a:t>
            </a:r>
          </a:p>
          <a:p>
            <a:pPr marL="800100" lvl="1" indent="-342900">
              <a:lnSpc>
                <a:spcPct val="150000"/>
              </a:lnSpc>
              <a:buFont typeface="Arial" panose="020B0604020202020204" pitchFamily="34" charset="0"/>
              <a:buChar char="•"/>
            </a:pPr>
            <a:r>
              <a:rPr lang="en-US" sz="2500" dirty="0">
                <a:latin typeface="Calibir"/>
              </a:rPr>
              <a:t>2xx = Register</a:t>
            </a:r>
          </a:p>
          <a:p>
            <a:pPr marL="800100" lvl="1" indent="-342900">
              <a:lnSpc>
                <a:spcPct val="150000"/>
              </a:lnSpc>
              <a:buFont typeface="Arial" panose="020B0604020202020204" pitchFamily="34" charset="0"/>
              <a:buChar char="•"/>
            </a:pPr>
            <a:r>
              <a:rPr lang="en-US" sz="2500" dirty="0">
                <a:latin typeface="Calibir"/>
              </a:rPr>
              <a:t>3xx = </a:t>
            </a:r>
            <a:r>
              <a:rPr lang="en-US" sz="2500" dirty="0" err="1">
                <a:latin typeface="Calibir"/>
              </a:rPr>
              <a:t>Enrol</a:t>
            </a:r>
            <a:endParaRPr lang="en-US" sz="2500" dirty="0">
              <a:latin typeface="Calibir"/>
            </a:endParaRPr>
          </a:p>
          <a:p>
            <a:pPr marL="800100" lvl="1" indent="-342900">
              <a:lnSpc>
                <a:spcPct val="150000"/>
              </a:lnSpc>
              <a:buFont typeface="Arial" panose="020B0604020202020204" pitchFamily="34" charset="0"/>
              <a:buChar char="•"/>
            </a:pPr>
            <a:r>
              <a:rPr lang="en-US" sz="2500" dirty="0">
                <a:latin typeface="Calibir"/>
              </a:rPr>
              <a:t>4xx = Drop</a:t>
            </a:r>
          </a:p>
          <a:p>
            <a:pPr marL="800100" lvl="1" indent="-342900">
              <a:lnSpc>
                <a:spcPct val="150000"/>
              </a:lnSpc>
              <a:buFont typeface="Arial" panose="020B0604020202020204" pitchFamily="34" charset="0"/>
              <a:buChar char="•"/>
            </a:pPr>
            <a:r>
              <a:rPr lang="en-US" sz="2500" dirty="0">
                <a:latin typeface="Calibir"/>
              </a:rPr>
              <a:t>5xx = View</a:t>
            </a:r>
          </a:p>
          <a:p>
            <a:pPr marL="800100" lvl="1" indent="-342900">
              <a:lnSpc>
                <a:spcPct val="150000"/>
              </a:lnSpc>
              <a:buFont typeface="Arial" panose="020B0604020202020204" pitchFamily="34" charset="0"/>
              <a:buChar char="•"/>
            </a:pPr>
            <a:r>
              <a:rPr lang="en-US" sz="2500" dirty="0">
                <a:latin typeface="Calibir"/>
              </a:rPr>
              <a:t>6xx = Change Password</a:t>
            </a:r>
          </a:p>
          <a:p>
            <a:pPr marL="800100" lvl="1" indent="-342900">
              <a:lnSpc>
                <a:spcPct val="150000"/>
              </a:lnSpc>
              <a:buFont typeface="Arial" panose="020B0604020202020204" pitchFamily="34" charset="0"/>
              <a:buChar char="•"/>
            </a:pPr>
            <a:r>
              <a:rPr lang="en-US" sz="2500" dirty="0">
                <a:latin typeface="Calibir"/>
              </a:rPr>
              <a:t>7xx = Admin</a:t>
            </a:r>
          </a:p>
          <a:p>
            <a:pPr marL="800100" lvl="1" indent="-342900">
              <a:lnSpc>
                <a:spcPct val="150000"/>
              </a:lnSpc>
              <a:buFont typeface="Arial" panose="020B0604020202020204" pitchFamily="34" charset="0"/>
              <a:buChar char="•"/>
            </a:pPr>
            <a:r>
              <a:rPr lang="en-US" sz="2500" dirty="0">
                <a:latin typeface="Calibir"/>
              </a:rPr>
              <a:t>8xx = File I/O</a:t>
            </a:r>
          </a:p>
          <a:p>
            <a:pPr marL="342900" indent="-342900">
              <a:lnSpc>
                <a:spcPct val="150000"/>
              </a:lnSpc>
              <a:buFont typeface="Arial" panose="020B0604020202020204" pitchFamily="34" charset="0"/>
              <a:buChar char="•"/>
            </a:pPr>
            <a:r>
              <a:rPr lang="en-US" sz="2500" dirty="0">
                <a:latin typeface="Calibir"/>
              </a:rPr>
              <a:t>Each story = one action, one outcome (no “and then…”).</a:t>
            </a:r>
          </a:p>
        </p:txBody>
      </p:sp>
    </p:spTree>
    <p:extLst>
      <p:ext uri="{BB962C8B-B14F-4D97-AF65-F5344CB8AC3E}">
        <p14:creationId xmlns:p14="http://schemas.microsoft.com/office/powerpoint/2010/main" val="20319653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0A70E-0E1F-2015-066A-C9BF14BC3F0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EC033B86-2D29-7618-9531-E570CCC86E5C}"/>
              </a:ext>
            </a:extLst>
          </p:cNvPr>
          <p:cNvSpPr>
            <a:spLocks noChangeArrowheads="1"/>
          </p:cNvSpPr>
          <p:nvPr/>
        </p:nvSpPr>
        <p:spPr bwMode="auto">
          <a:xfrm>
            <a:off x="0" y="-86819"/>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Example backlog table</a:t>
            </a:r>
            <a:r>
              <a:rPr lang="en-US" sz="2800" dirty="0">
                <a:latin typeface="Calibir"/>
              </a:rPr>
              <a:t>:</a:t>
            </a:r>
            <a:endParaRPr lang="en-US" sz="2500" dirty="0">
              <a:latin typeface="Calibir"/>
            </a:endParaRPr>
          </a:p>
        </p:txBody>
      </p:sp>
      <p:graphicFrame>
        <p:nvGraphicFramePr>
          <p:cNvPr id="2" name="Table 1">
            <a:extLst>
              <a:ext uri="{FF2B5EF4-FFF2-40B4-BE49-F238E27FC236}">
                <a16:creationId xmlns:a16="http://schemas.microsoft.com/office/drawing/2014/main" id="{D6AD4B7C-F841-21FE-B652-F68A3702F674}"/>
              </a:ext>
            </a:extLst>
          </p:cNvPr>
          <p:cNvGraphicFramePr>
            <a:graphicFrameLocks noGrp="1"/>
          </p:cNvGraphicFramePr>
          <p:nvPr>
            <p:extLst>
              <p:ext uri="{D42A27DB-BD31-4B8C-83A1-F6EECF244321}">
                <p14:modId xmlns:p14="http://schemas.microsoft.com/office/powerpoint/2010/main" val="2787813734"/>
              </p:ext>
            </p:extLst>
          </p:nvPr>
        </p:nvGraphicFramePr>
        <p:xfrm>
          <a:off x="174702" y="1097280"/>
          <a:ext cx="11842595" cy="5394960"/>
        </p:xfrm>
        <a:graphic>
          <a:graphicData uri="http://schemas.openxmlformats.org/drawingml/2006/table">
            <a:tbl>
              <a:tblPr>
                <a:tableStyleId>{BDBED569-4797-4DF1-A0F4-6AAB3CD982D8}</a:tableStyleId>
              </a:tblPr>
              <a:tblGrid>
                <a:gridCol w="1416204">
                  <a:extLst>
                    <a:ext uri="{9D8B030D-6E8A-4147-A177-3AD203B41FA5}">
                      <a16:colId xmlns:a16="http://schemas.microsoft.com/office/drawing/2014/main" val="3872042042"/>
                    </a:ext>
                  </a:extLst>
                </a:gridCol>
                <a:gridCol w="1471961">
                  <a:extLst>
                    <a:ext uri="{9D8B030D-6E8A-4147-A177-3AD203B41FA5}">
                      <a16:colId xmlns:a16="http://schemas.microsoft.com/office/drawing/2014/main" val="458854284"/>
                    </a:ext>
                  </a:extLst>
                </a:gridCol>
                <a:gridCol w="3222703">
                  <a:extLst>
                    <a:ext uri="{9D8B030D-6E8A-4147-A177-3AD203B41FA5}">
                      <a16:colId xmlns:a16="http://schemas.microsoft.com/office/drawing/2014/main" val="3434831272"/>
                    </a:ext>
                  </a:extLst>
                </a:gridCol>
                <a:gridCol w="2749519">
                  <a:extLst>
                    <a:ext uri="{9D8B030D-6E8A-4147-A177-3AD203B41FA5}">
                      <a16:colId xmlns:a16="http://schemas.microsoft.com/office/drawing/2014/main" val="3425096674"/>
                    </a:ext>
                  </a:extLst>
                </a:gridCol>
                <a:gridCol w="2982208">
                  <a:extLst>
                    <a:ext uri="{9D8B030D-6E8A-4147-A177-3AD203B41FA5}">
                      <a16:colId xmlns:a16="http://schemas.microsoft.com/office/drawing/2014/main" val="2428260478"/>
                    </a:ext>
                  </a:extLst>
                </a:gridCol>
              </a:tblGrid>
              <a:tr h="0">
                <a:tc>
                  <a:txBody>
                    <a:bodyPr/>
                    <a:lstStyle/>
                    <a:p>
                      <a:pPr>
                        <a:buNone/>
                      </a:pPr>
                      <a:r>
                        <a:rPr lang="en-US" sz="2400" dirty="0">
                          <a:latin typeface="Calibir"/>
                        </a:rPr>
                        <a:t>ID</a:t>
                      </a:r>
                    </a:p>
                  </a:txBody>
                  <a:tcPr anchor="ctr"/>
                </a:tc>
                <a:tc>
                  <a:txBody>
                    <a:bodyPr/>
                    <a:lstStyle/>
                    <a:p>
                      <a:pPr>
                        <a:buNone/>
                      </a:pPr>
                      <a:r>
                        <a:rPr lang="en-US" sz="2400">
                          <a:latin typeface="Calibir"/>
                        </a:rPr>
                        <a:t>User</a:t>
                      </a:r>
                    </a:p>
                  </a:txBody>
                  <a:tcPr anchor="ctr"/>
                </a:tc>
                <a:tc>
                  <a:txBody>
                    <a:bodyPr/>
                    <a:lstStyle/>
                    <a:p>
                      <a:pPr>
                        <a:buNone/>
                      </a:pPr>
                      <a:r>
                        <a:rPr lang="en-US" sz="2400">
                          <a:latin typeface="Calibir"/>
                        </a:rPr>
                        <a:t>Action</a:t>
                      </a:r>
                    </a:p>
                  </a:txBody>
                  <a:tcPr anchor="ctr"/>
                </a:tc>
                <a:tc>
                  <a:txBody>
                    <a:bodyPr/>
                    <a:lstStyle/>
                    <a:p>
                      <a:pPr>
                        <a:buNone/>
                      </a:pPr>
                      <a:r>
                        <a:rPr lang="en-US" sz="2400">
                          <a:latin typeface="Calibir"/>
                        </a:rPr>
                        <a:t>Result/Outcome</a:t>
                      </a:r>
                    </a:p>
                  </a:txBody>
                  <a:tcPr anchor="ctr"/>
                </a:tc>
                <a:tc>
                  <a:txBody>
                    <a:bodyPr/>
                    <a:lstStyle/>
                    <a:p>
                      <a:pPr>
                        <a:buNone/>
                      </a:pPr>
                      <a:r>
                        <a:rPr lang="en-US" sz="2400">
                          <a:latin typeface="Calibir"/>
                        </a:rPr>
                        <a:t>Function</a:t>
                      </a:r>
                    </a:p>
                  </a:txBody>
                  <a:tcPr anchor="ctr"/>
                </a:tc>
                <a:extLst>
                  <a:ext uri="{0D108BD9-81ED-4DB2-BD59-A6C34878D82A}">
                    <a16:rowId xmlns:a16="http://schemas.microsoft.com/office/drawing/2014/main" val="2662123464"/>
                  </a:ext>
                </a:extLst>
              </a:tr>
              <a:tr h="0">
                <a:tc>
                  <a:txBody>
                    <a:bodyPr/>
                    <a:lstStyle/>
                    <a:p>
                      <a:pPr>
                        <a:buNone/>
                      </a:pPr>
                      <a:r>
                        <a:rPr lang="en-US" sz="2400">
                          <a:latin typeface="Calibir"/>
                        </a:rPr>
                        <a:t>100</a:t>
                      </a:r>
                    </a:p>
                  </a:txBody>
                  <a:tcPr anchor="ctr"/>
                </a:tc>
                <a:tc>
                  <a:txBody>
                    <a:bodyPr/>
                    <a:lstStyle/>
                    <a:p>
                      <a:pPr>
                        <a:buNone/>
                      </a:pPr>
                      <a:r>
                        <a:rPr lang="en-US" sz="2400">
                          <a:latin typeface="Calibir"/>
                        </a:rPr>
                        <a:t>Student</a:t>
                      </a:r>
                    </a:p>
                  </a:txBody>
                  <a:tcPr anchor="ctr"/>
                </a:tc>
                <a:tc>
                  <a:txBody>
                    <a:bodyPr/>
                    <a:lstStyle/>
                    <a:p>
                      <a:pPr>
                        <a:buNone/>
                      </a:pPr>
                      <a:r>
                        <a:rPr lang="en-US" sz="2400">
                          <a:latin typeface="Calibir"/>
                        </a:rPr>
                        <a:t>Enter email + password</a:t>
                      </a:r>
                    </a:p>
                  </a:txBody>
                  <a:tcPr anchor="ctr"/>
                </a:tc>
                <a:tc>
                  <a:txBody>
                    <a:bodyPr/>
                    <a:lstStyle/>
                    <a:p>
                      <a:pPr>
                        <a:buNone/>
                      </a:pPr>
                      <a:r>
                        <a:rPr lang="en-US" sz="2400">
                          <a:latin typeface="Calibir"/>
                        </a:rPr>
                        <a:t>If match → Student menu; else error</a:t>
                      </a:r>
                    </a:p>
                  </a:txBody>
                  <a:tcPr anchor="ctr"/>
                </a:tc>
                <a:tc>
                  <a:txBody>
                    <a:bodyPr/>
                    <a:lstStyle/>
                    <a:p>
                      <a:pPr>
                        <a:buNone/>
                      </a:pPr>
                      <a:r>
                        <a:rPr lang="en-US" sz="2400">
                          <a:latin typeface="Calibir"/>
                        </a:rPr>
                        <a:t>login()</a:t>
                      </a:r>
                    </a:p>
                  </a:txBody>
                  <a:tcPr anchor="ctr"/>
                </a:tc>
                <a:extLst>
                  <a:ext uri="{0D108BD9-81ED-4DB2-BD59-A6C34878D82A}">
                    <a16:rowId xmlns:a16="http://schemas.microsoft.com/office/drawing/2014/main" val="30996758"/>
                  </a:ext>
                </a:extLst>
              </a:tr>
              <a:tr h="0">
                <a:tc>
                  <a:txBody>
                    <a:bodyPr/>
                    <a:lstStyle/>
                    <a:p>
                      <a:pPr>
                        <a:buNone/>
                      </a:pPr>
                      <a:r>
                        <a:rPr lang="en-US" sz="2400">
                          <a:latin typeface="Calibir"/>
                        </a:rPr>
                        <a:t>105</a:t>
                      </a:r>
                    </a:p>
                  </a:txBody>
                  <a:tcPr anchor="ctr"/>
                </a:tc>
                <a:tc>
                  <a:txBody>
                    <a:bodyPr/>
                    <a:lstStyle/>
                    <a:p>
                      <a:pPr>
                        <a:buNone/>
                      </a:pPr>
                      <a:r>
                        <a:rPr lang="en-US" sz="2400">
                          <a:latin typeface="Calibir"/>
                        </a:rPr>
                        <a:t>System</a:t>
                      </a:r>
                    </a:p>
                  </a:txBody>
                  <a:tcPr anchor="ctr"/>
                </a:tc>
                <a:tc>
                  <a:txBody>
                    <a:bodyPr/>
                    <a:lstStyle/>
                    <a:p>
                      <a:pPr>
                        <a:buNone/>
                      </a:pPr>
                      <a:r>
                        <a:rPr lang="en-US" sz="2400">
                          <a:latin typeface="Calibir"/>
                        </a:rPr>
                        <a:t>Validate email/password</a:t>
                      </a:r>
                    </a:p>
                  </a:txBody>
                  <a:tcPr anchor="ctr"/>
                </a:tc>
                <a:tc>
                  <a:txBody>
                    <a:bodyPr/>
                    <a:lstStyle/>
                    <a:p>
                      <a:pPr>
                        <a:buNone/>
                      </a:pPr>
                      <a:r>
                        <a:rPr lang="en-US" sz="2400">
                          <a:latin typeface="Calibir"/>
                        </a:rPr>
                        <a:t>Show pattern error if invalid</a:t>
                      </a:r>
                    </a:p>
                  </a:txBody>
                  <a:tcPr anchor="ctr"/>
                </a:tc>
                <a:tc>
                  <a:txBody>
                    <a:bodyPr/>
                    <a:lstStyle/>
                    <a:p>
                      <a:pPr>
                        <a:buNone/>
                      </a:pPr>
                      <a:r>
                        <a:rPr lang="en-US" sz="2400">
                          <a:latin typeface="Calibir"/>
                        </a:rPr>
                        <a:t>validateCredentials()</a:t>
                      </a:r>
                    </a:p>
                  </a:txBody>
                  <a:tcPr anchor="ctr"/>
                </a:tc>
                <a:extLst>
                  <a:ext uri="{0D108BD9-81ED-4DB2-BD59-A6C34878D82A}">
                    <a16:rowId xmlns:a16="http://schemas.microsoft.com/office/drawing/2014/main" val="1428697471"/>
                  </a:ext>
                </a:extLst>
              </a:tr>
              <a:tr h="0">
                <a:tc>
                  <a:txBody>
                    <a:bodyPr/>
                    <a:lstStyle/>
                    <a:p>
                      <a:pPr>
                        <a:buNone/>
                      </a:pPr>
                      <a:r>
                        <a:rPr lang="en-US" sz="2400">
                          <a:latin typeface="Calibir"/>
                        </a:rPr>
                        <a:t>200</a:t>
                      </a:r>
                    </a:p>
                  </a:txBody>
                  <a:tcPr anchor="ctr"/>
                </a:tc>
                <a:tc>
                  <a:txBody>
                    <a:bodyPr/>
                    <a:lstStyle/>
                    <a:p>
                      <a:pPr>
                        <a:buNone/>
                      </a:pPr>
                      <a:r>
                        <a:rPr lang="en-US" sz="2400">
                          <a:latin typeface="Calibir"/>
                        </a:rPr>
                        <a:t>Student</a:t>
                      </a:r>
                    </a:p>
                  </a:txBody>
                  <a:tcPr anchor="ctr"/>
                </a:tc>
                <a:tc>
                  <a:txBody>
                    <a:bodyPr/>
                    <a:lstStyle/>
                    <a:p>
                      <a:pPr>
                        <a:buNone/>
                      </a:pPr>
                      <a:r>
                        <a:rPr lang="en-US" sz="2400">
                          <a:latin typeface="Calibir"/>
                        </a:rPr>
                        <a:t>Register account</a:t>
                      </a:r>
                    </a:p>
                  </a:txBody>
                  <a:tcPr anchor="ctr"/>
                </a:tc>
                <a:tc>
                  <a:txBody>
                    <a:bodyPr/>
                    <a:lstStyle/>
                    <a:p>
                      <a:pPr>
                        <a:buNone/>
                      </a:pPr>
                      <a:r>
                        <a:rPr lang="en-US" sz="2400">
                          <a:latin typeface="Calibir"/>
                        </a:rPr>
                        <a:t>New 6-digit ID created</a:t>
                      </a:r>
                    </a:p>
                  </a:txBody>
                  <a:tcPr anchor="ctr"/>
                </a:tc>
                <a:tc>
                  <a:txBody>
                    <a:bodyPr/>
                    <a:lstStyle/>
                    <a:p>
                      <a:pPr>
                        <a:buNone/>
                      </a:pPr>
                      <a:r>
                        <a:rPr lang="en-US" sz="2400">
                          <a:latin typeface="Calibir"/>
                        </a:rPr>
                        <a:t>registerStudent()</a:t>
                      </a:r>
                    </a:p>
                  </a:txBody>
                  <a:tcPr anchor="ctr"/>
                </a:tc>
                <a:extLst>
                  <a:ext uri="{0D108BD9-81ED-4DB2-BD59-A6C34878D82A}">
                    <a16:rowId xmlns:a16="http://schemas.microsoft.com/office/drawing/2014/main" val="3157337549"/>
                  </a:ext>
                </a:extLst>
              </a:tr>
              <a:tr h="0">
                <a:tc>
                  <a:txBody>
                    <a:bodyPr/>
                    <a:lstStyle/>
                    <a:p>
                      <a:pPr>
                        <a:buNone/>
                      </a:pPr>
                      <a:r>
                        <a:rPr lang="en-US" sz="2400">
                          <a:latin typeface="Calibir"/>
                        </a:rPr>
                        <a:t>300</a:t>
                      </a:r>
                    </a:p>
                  </a:txBody>
                  <a:tcPr anchor="ctr"/>
                </a:tc>
                <a:tc>
                  <a:txBody>
                    <a:bodyPr/>
                    <a:lstStyle/>
                    <a:p>
                      <a:pPr>
                        <a:buNone/>
                      </a:pPr>
                      <a:r>
                        <a:rPr lang="en-US" sz="2400">
                          <a:latin typeface="Calibir"/>
                        </a:rPr>
                        <a:t>Student</a:t>
                      </a:r>
                    </a:p>
                  </a:txBody>
                  <a:tcPr anchor="ctr"/>
                </a:tc>
                <a:tc>
                  <a:txBody>
                    <a:bodyPr/>
                    <a:lstStyle/>
                    <a:p>
                      <a:pPr>
                        <a:buNone/>
                      </a:pPr>
                      <a:r>
                        <a:rPr lang="en-US" sz="2400">
                          <a:latin typeface="Calibir"/>
                        </a:rPr>
                        <a:t>Enrol in subject</a:t>
                      </a:r>
                    </a:p>
                  </a:txBody>
                  <a:tcPr anchor="ctr"/>
                </a:tc>
                <a:tc>
                  <a:txBody>
                    <a:bodyPr/>
                    <a:lstStyle/>
                    <a:p>
                      <a:pPr>
                        <a:buNone/>
                      </a:pPr>
                      <a:r>
                        <a:rPr lang="en-US" sz="2400">
                          <a:latin typeface="Calibir"/>
                        </a:rPr>
                        <a:t>Subject (3-digit) added with grade</a:t>
                      </a:r>
                    </a:p>
                  </a:txBody>
                  <a:tcPr anchor="ctr"/>
                </a:tc>
                <a:tc>
                  <a:txBody>
                    <a:bodyPr/>
                    <a:lstStyle/>
                    <a:p>
                      <a:pPr>
                        <a:buNone/>
                      </a:pPr>
                      <a:r>
                        <a:rPr lang="en-US" sz="2400">
                          <a:latin typeface="Calibir"/>
                        </a:rPr>
                        <a:t>enrolSubject()</a:t>
                      </a:r>
                    </a:p>
                  </a:txBody>
                  <a:tcPr anchor="ctr"/>
                </a:tc>
                <a:extLst>
                  <a:ext uri="{0D108BD9-81ED-4DB2-BD59-A6C34878D82A}">
                    <a16:rowId xmlns:a16="http://schemas.microsoft.com/office/drawing/2014/main" val="2132668721"/>
                  </a:ext>
                </a:extLst>
              </a:tr>
              <a:tr h="0">
                <a:tc>
                  <a:txBody>
                    <a:bodyPr/>
                    <a:lstStyle/>
                    <a:p>
                      <a:pPr>
                        <a:buNone/>
                      </a:pPr>
                      <a:r>
                        <a:rPr lang="en-US" sz="2400">
                          <a:latin typeface="Calibir"/>
                        </a:rPr>
                        <a:t>301</a:t>
                      </a:r>
                    </a:p>
                  </a:txBody>
                  <a:tcPr anchor="ctr"/>
                </a:tc>
                <a:tc>
                  <a:txBody>
                    <a:bodyPr/>
                    <a:lstStyle/>
                    <a:p>
                      <a:pPr>
                        <a:buNone/>
                      </a:pPr>
                      <a:r>
                        <a:rPr lang="en-US" sz="2400">
                          <a:latin typeface="Calibir"/>
                        </a:rPr>
                        <a:t>System</a:t>
                      </a:r>
                    </a:p>
                  </a:txBody>
                  <a:tcPr anchor="ctr"/>
                </a:tc>
                <a:tc>
                  <a:txBody>
                    <a:bodyPr/>
                    <a:lstStyle/>
                    <a:p>
                      <a:pPr>
                        <a:buNone/>
                      </a:pPr>
                      <a:r>
                        <a:rPr lang="en-US" sz="2400">
                          <a:latin typeface="Calibir"/>
                        </a:rPr>
                        <a:t>Check subject limit</a:t>
                      </a:r>
                    </a:p>
                  </a:txBody>
                  <a:tcPr anchor="ctr"/>
                </a:tc>
                <a:tc>
                  <a:txBody>
                    <a:bodyPr/>
                    <a:lstStyle/>
                    <a:p>
                      <a:pPr>
                        <a:buNone/>
                      </a:pPr>
                      <a:r>
                        <a:rPr lang="en-US" sz="2400">
                          <a:latin typeface="Calibir"/>
                        </a:rPr>
                        <a:t>Error: “Max 4 subjects reached”</a:t>
                      </a:r>
                    </a:p>
                  </a:txBody>
                  <a:tcPr anchor="ctr"/>
                </a:tc>
                <a:tc>
                  <a:txBody>
                    <a:bodyPr/>
                    <a:lstStyle/>
                    <a:p>
                      <a:pPr>
                        <a:buNone/>
                      </a:pPr>
                      <a:r>
                        <a:rPr lang="en-US" sz="2400">
                          <a:latin typeface="Calibir"/>
                        </a:rPr>
                        <a:t>checkMaxSubjects()</a:t>
                      </a:r>
                    </a:p>
                  </a:txBody>
                  <a:tcPr anchor="ctr"/>
                </a:tc>
                <a:extLst>
                  <a:ext uri="{0D108BD9-81ED-4DB2-BD59-A6C34878D82A}">
                    <a16:rowId xmlns:a16="http://schemas.microsoft.com/office/drawing/2014/main" val="2186962514"/>
                  </a:ext>
                </a:extLst>
              </a:tr>
              <a:tr h="0">
                <a:tc>
                  <a:txBody>
                    <a:bodyPr/>
                    <a:lstStyle/>
                    <a:p>
                      <a:pPr>
                        <a:buNone/>
                      </a:pPr>
                      <a:r>
                        <a:rPr lang="en-US" sz="2400">
                          <a:latin typeface="Calibir"/>
                        </a:rPr>
                        <a:t>700</a:t>
                      </a:r>
                    </a:p>
                  </a:txBody>
                  <a:tcPr anchor="ctr"/>
                </a:tc>
                <a:tc>
                  <a:txBody>
                    <a:bodyPr/>
                    <a:lstStyle/>
                    <a:p>
                      <a:pPr>
                        <a:buNone/>
                      </a:pPr>
                      <a:r>
                        <a:rPr lang="en-US" sz="2400">
                          <a:latin typeface="Calibir"/>
                        </a:rPr>
                        <a:t>Admin</a:t>
                      </a:r>
                    </a:p>
                  </a:txBody>
                  <a:tcPr anchor="ctr"/>
                </a:tc>
                <a:tc>
                  <a:txBody>
                    <a:bodyPr/>
                    <a:lstStyle/>
                    <a:p>
                      <a:pPr>
                        <a:buNone/>
                      </a:pPr>
                      <a:r>
                        <a:rPr lang="en-US" sz="2400">
                          <a:latin typeface="Calibir"/>
                        </a:rPr>
                        <a:t>View all students</a:t>
                      </a:r>
                    </a:p>
                  </a:txBody>
                  <a:tcPr anchor="ctr"/>
                </a:tc>
                <a:tc>
                  <a:txBody>
                    <a:bodyPr/>
                    <a:lstStyle/>
                    <a:p>
                      <a:pPr>
                        <a:buNone/>
                      </a:pPr>
                      <a:r>
                        <a:rPr lang="en-US" sz="2400">
                          <a:latin typeface="Calibir"/>
                        </a:rPr>
                        <a:t>List loaded from students.data</a:t>
                      </a:r>
                    </a:p>
                  </a:txBody>
                  <a:tcPr anchor="ctr"/>
                </a:tc>
                <a:tc>
                  <a:txBody>
                    <a:bodyPr/>
                    <a:lstStyle/>
                    <a:p>
                      <a:pPr>
                        <a:buNone/>
                      </a:pPr>
                      <a:r>
                        <a:rPr lang="en-US" sz="2400" dirty="0" err="1">
                          <a:latin typeface="Calibir"/>
                        </a:rPr>
                        <a:t>adminListAll</a:t>
                      </a:r>
                      <a:r>
                        <a:rPr lang="en-US" sz="2400" dirty="0">
                          <a:latin typeface="Calibir"/>
                        </a:rPr>
                        <a:t>()</a:t>
                      </a:r>
                    </a:p>
                  </a:txBody>
                  <a:tcPr anchor="ctr"/>
                </a:tc>
                <a:extLst>
                  <a:ext uri="{0D108BD9-81ED-4DB2-BD59-A6C34878D82A}">
                    <a16:rowId xmlns:a16="http://schemas.microsoft.com/office/drawing/2014/main" val="2130935418"/>
                  </a:ext>
                </a:extLst>
              </a:tr>
            </a:tbl>
          </a:graphicData>
        </a:graphic>
      </p:graphicFrame>
    </p:spTree>
    <p:extLst>
      <p:ext uri="{BB962C8B-B14F-4D97-AF65-F5344CB8AC3E}">
        <p14:creationId xmlns:p14="http://schemas.microsoft.com/office/powerpoint/2010/main" val="42534136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6D854F-10A7-53E3-72D9-85EC9CE2981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B7CE52BC-9C56-C799-0B4B-AE0139FA44F7}"/>
              </a:ext>
            </a:extLst>
          </p:cNvPr>
          <p:cNvSpPr txBox="1"/>
          <p:nvPr/>
        </p:nvSpPr>
        <p:spPr>
          <a:xfrm>
            <a:off x="102220" y="1477248"/>
            <a:ext cx="11987560" cy="3903504"/>
          </a:xfrm>
          <a:prstGeom prst="rect">
            <a:avLst/>
          </a:prstGeom>
          <a:noFill/>
        </p:spPr>
        <p:txBody>
          <a:bodyPr wrap="square">
            <a:spAutoFit/>
          </a:bodyPr>
          <a:lstStyle/>
          <a:p>
            <a:pPr>
              <a:lnSpc>
                <a:spcPct val="150000"/>
              </a:lnSpc>
              <a:buNone/>
            </a:pPr>
            <a:r>
              <a:rPr lang="en-US" sz="2800" b="1" dirty="0">
                <a:latin typeface="Calibir"/>
              </a:rPr>
              <a:t>Step 3 – Draw a Use Case diagram</a:t>
            </a:r>
          </a:p>
          <a:p>
            <a:pPr marL="914400" lvl="1" indent="-457200">
              <a:lnSpc>
                <a:spcPct val="150000"/>
              </a:lnSpc>
              <a:buFont typeface="Arial" panose="020B0604020202020204" pitchFamily="34" charset="0"/>
              <a:buChar char="•"/>
            </a:pPr>
            <a:r>
              <a:rPr lang="en-US" sz="2800" dirty="0">
                <a:latin typeface="Calibir"/>
              </a:rPr>
              <a:t>Actors: Student, Admin.</a:t>
            </a:r>
          </a:p>
          <a:p>
            <a:pPr marL="914400" lvl="1" indent="-457200">
              <a:lnSpc>
                <a:spcPct val="150000"/>
              </a:lnSpc>
              <a:buFont typeface="Arial" panose="020B0604020202020204" pitchFamily="34" charset="0"/>
              <a:buChar char="•"/>
            </a:pPr>
            <a:r>
              <a:rPr lang="en-US" sz="2800" dirty="0">
                <a:latin typeface="Calibir"/>
              </a:rPr>
              <a:t>Use &lt;&lt;include&gt;&gt; for always-happens steps (e.g., Register → Validate Patterns → Generate ID → Save Data).</a:t>
            </a:r>
          </a:p>
          <a:p>
            <a:pPr marL="914400" lvl="1" indent="-457200">
              <a:lnSpc>
                <a:spcPct val="150000"/>
              </a:lnSpc>
              <a:buFont typeface="Arial" panose="020B0604020202020204" pitchFamily="34" charset="0"/>
              <a:buChar char="•"/>
            </a:pPr>
            <a:r>
              <a:rPr lang="en-US" sz="2800" dirty="0">
                <a:latin typeface="Calibir"/>
              </a:rPr>
              <a:t>Use &lt;&lt;extend&gt;&gt; for optional ones (e.g., Login → Show Auth Error).</a:t>
            </a:r>
          </a:p>
          <a:p>
            <a:pPr marL="914400" lvl="1" indent="-457200">
              <a:lnSpc>
                <a:spcPct val="150000"/>
              </a:lnSpc>
              <a:buFont typeface="Arial" panose="020B0604020202020204" pitchFamily="34" charset="0"/>
              <a:buChar char="•"/>
            </a:pPr>
            <a:r>
              <a:rPr lang="en-US" sz="2800" dirty="0">
                <a:latin typeface="Calibir"/>
              </a:rPr>
              <a:t>Submit one comprehensive diagram, not separate ones per feature.</a:t>
            </a:r>
          </a:p>
        </p:txBody>
      </p:sp>
      <p:sp>
        <p:nvSpPr>
          <p:cNvPr id="6" name="Title 1">
            <a:extLst>
              <a:ext uri="{FF2B5EF4-FFF2-40B4-BE49-F238E27FC236}">
                <a16:creationId xmlns:a16="http://schemas.microsoft.com/office/drawing/2014/main" id="{3FD5FE5D-F76F-35B9-2DA8-129A064E1DF6}"/>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Tree>
    <p:extLst>
      <p:ext uri="{BB962C8B-B14F-4D97-AF65-F5344CB8AC3E}">
        <p14:creationId xmlns:p14="http://schemas.microsoft.com/office/powerpoint/2010/main" val="10231442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A0EC39-AD88-2831-1878-3267738019D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FC1188B-D3FE-5BE5-D248-CE73A574B939}"/>
              </a:ext>
            </a:extLst>
          </p:cNvPr>
          <p:cNvSpPr txBox="1"/>
          <p:nvPr/>
        </p:nvSpPr>
        <p:spPr>
          <a:xfrm>
            <a:off x="102220" y="597632"/>
            <a:ext cx="11987560" cy="6260368"/>
          </a:xfrm>
          <a:prstGeom prst="rect">
            <a:avLst/>
          </a:prstGeom>
          <a:noFill/>
        </p:spPr>
        <p:txBody>
          <a:bodyPr wrap="square">
            <a:spAutoFit/>
          </a:bodyPr>
          <a:lstStyle/>
          <a:p>
            <a:pPr>
              <a:lnSpc>
                <a:spcPct val="150000"/>
              </a:lnSpc>
            </a:pPr>
            <a:r>
              <a:rPr lang="en-US" sz="2700" b="1" dirty="0">
                <a:latin typeface="Calibir"/>
              </a:rPr>
              <a:t>Step 4 – Draw a Class diagram</a:t>
            </a:r>
          </a:p>
          <a:p>
            <a:pPr marL="457200" indent="-457200">
              <a:lnSpc>
                <a:spcPct val="150000"/>
              </a:lnSpc>
              <a:buFont typeface="Arial" panose="020B0604020202020204" pitchFamily="34" charset="0"/>
              <a:buChar char="•"/>
            </a:pPr>
            <a:r>
              <a:rPr lang="en-US" sz="2700" dirty="0">
                <a:latin typeface="Calibir"/>
              </a:rPr>
              <a:t>Core classes: Student, Subject, </a:t>
            </a:r>
            <a:r>
              <a:rPr lang="en-US" sz="2700" dirty="0" err="1">
                <a:latin typeface="Calibir"/>
              </a:rPr>
              <a:t>AuthService</a:t>
            </a:r>
            <a:r>
              <a:rPr lang="en-US" sz="2700" dirty="0">
                <a:latin typeface="Calibir"/>
              </a:rPr>
              <a:t>, </a:t>
            </a:r>
            <a:r>
              <a:rPr lang="en-US" sz="2700" dirty="0" err="1">
                <a:latin typeface="Calibir"/>
              </a:rPr>
              <a:t>DataStore</a:t>
            </a:r>
            <a:r>
              <a:rPr lang="en-US" sz="2700" dirty="0">
                <a:latin typeface="Calibir"/>
              </a:rPr>
              <a:t>.</a:t>
            </a:r>
            <a:br>
              <a:rPr lang="en-US" sz="2700" dirty="0">
                <a:latin typeface="Calibir"/>
              </a:rPr>
            </a:br>
            <a:r>
              <a:rPr lang="en-US" sz="2700" dirty="0">
                <a:latin typeface="Calibir"/>
              </a:rPr>
              <a:t>(Admin can be shown as a role or a simple class; be consistent with UC + class diagram.)</a:t>
            </a:r>
          </a:p>
          <a:p>
            <a:pPr marL="457200" indent="-457200">
              <a:lnSpc>
                <a:spcPct val="150000"/>
              </a:lnSpc>
              <a:buFont typeface="Arial" panose="020B0604020202020204" pitchFamily="34" charset="0"/>
              <a:buChar char="•"/>
            </a:pPr>
            <a:r>
              <a:rPr lang="en-US" sz="2700" dirty="0">
                <a:latin typeface="Calibir"/>
              </a:rPr>
              <a:t>Show:</a:t>
            </a:r>
          </a:p>
          <a:p>
            <a:pPr marL="914400" lvl="1" indent="-457200">
              <a:lnSpc>
                <a:spcPct val="150000"/>
              </a:lnSpc>
              <a:buFont typeface="Arial" panose="020B0604020202020204" pitchFamily="34" charset="0"/>
              <a:buChar char="•"/>
            </a:pPr>
            <a:r>
              <a:rPr lang="en-US" sz="2700" dirty="0">
                <a:latin typeface="Calibir"/>
              </a:rPr>
              <a:t>attributes (+visibility),</a:t>
            </a:r>
          </a:p>
          <a:p>
            <a:pPr marL="914400" lvl="1" indent="-457200">
              <a:lnSpc>
                <a:spcPct val="150000"/>
              </a:lnSpc>
              <a:buFont typeface="Arial" panose="020B0604020202020204" pitchFamily="34" charset="0"/>
              <a:buChar char="•"/>
            </a:pPr>
            <a:r>
              <a:rPr lang="en-US" sz="2700" dirty="0">
                <a:latin typeface="Calibir"/>
              </a:rPr>
              <a:t>methods (name, return type, visibility),</a:t>
            </a:r>
          </a:p>
          <a:p>
            <a:pPr marL="914400" lvl="1" indent="-457200">
              <a:lnSpc>
                <a:spcPct val="150000"/>
              </a:lnSpc>
              <a:buFont typeface="Arial" panose="020B0604020202020204" pitchFamily="34" charset="0"/>
              <a:buChar char="•"/>
            </a:pPr>
            <a:r>
              <a:rPr lang="en-US" sz="2700" dirty="0">
                <a:latin typeface="Calibir"/>
              </a:rPr>
              <a:t>relationships with multiplicity (e.g., Student 1 ── 0..4 Subject).</a:t>
            </a:r>
          </a:p>
          <a:p>
            <a:pPr marL="457200" indent="-457200">
              <a:lnSpc>
                <a:spcPct val="150000"/>
              </a:lnSpc>
              <a:buFont typeface="Arial" panose="020B0604020202020204" pitchFamily="34" charset="0"/>
              <a:buChar char="•"/>
            </a:pPr>
            <a:r>
              <a:rPr lang="en-US" sz="2700" dirty="0">
                <a:latin typeface="Calibir"/>
              </a:rPr>
              <a:t>Must cover: associations, inheritance (if any), composition (e.g., Subject–Mark).</a:t>
            </a:r>
          </a:p>
          <a:p>
            <a:pPr marL="457200" indent="-457200">
              <a:lnSpc>
                <a:spcPct val="150000"/>
              </a:lnSpc>
              <a:buFont typeface="Arial" panose="020B0604020202020204" pitchFamily="34" charset="0"/>
              <a:buChar char="•"/>
            </a:pPr>
            <a:r>
              <a:rPr lang="en-US" sz="2700" dirty="0">
                <a:latin typeface="Calibir"/>
              </a:rPr>
              <a:t>Submit one comprehensive diagram for the system.</a:t>
            </a:r>
          </a:p>
        </p:txBody>
      </p:sp>
      <p:sp>
        <p:nvSpPr>
          <p:cNvPr id="2" name="Title 1">
            <a:extLst>
              <a:ext uri="{FF2B5EF4-FFF2-40B4-BE49-F238E27FC236}">
                <a16:creationId xmlns:a16="http://schemas.microsoft.com/office/drawing/2014/main" id="{C18F4A47-FD2B-54D3-94A3-BC0385C4A3B0}"/>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Tree>
    <p:extLst>
      <p:ext uri="{BB962C8B-B14F-4D97-AF65-F5344CB8AC3E}">
        <p14:creationId xmlns:p14="http://schemas.microsoft.com/office/powerpoint/2010/main" val="21960924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384C1-728D-B53A-9B2B-5A6C020608C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8F212CB-1DF4-5006-EB37-B6F214DFE273}"/>
              </a:ext>
            </a:extLst>
          </p:cNvPr>
          <p:cNvSpPr txBox="1"/>
          <p:nvPr/>
        </p:nvSpPr>
        <p:spPr>
          <a:xfrm>
            <a:off x="102220" y="112964"/>
            <a:ext cx="11987560" cy="6632072"/>
          </a:xfrm>
          <a:prstGeom prst="rect">
            <a:avLst/>
          </a:prstGeom>
          <a:noFill/>
        </p:spPr>
        <p:txBody>
          <a:bodyPr wrap="square">
            <a:spAutoFit/>
          </a:bodyPr>
          <a:lstStyle/>
          <a:p>
            <a:pPr>
              <a:lnSpc>
                <a:spcPct val="150000"/>
              </a:lnSpc>
            </a:pPr>
            <a:r>
              <a:rPr lang="en-US" sz="2600" b="1" dirty="0">
                <a:latin typeface="Calibir"/>
              </a:rPr>
              <a:t>Step 5 – System rules</a:t>
            </a:r>
          </a:p>
          <a:p>
            <a:pPr marL="457200" indent="-457200">
              <a:lnSpc>
                <a:spcPct val="150000"/>
              </a:lnSpc>
              <a:buFont typeface="Arial" panose="020B0604020202020204" pitchFamily="34" charset="0"/>
              <a:buChar char="•"/>
            </a:pPr>
            <a:r>
              <a:rPr lang="en-US" sz="2600" b="1" dirty="0">
                <a:latin typeface="Calibir"/>
              </a:rPr>
              <a:t>Email</a:t>
            </a:r>
            <a:r>
              <a:rPr lang="en-US" sz="2600" dirty="0">
                <a:latin typeface="Calibir"/>
              </a:rPr>
              <a:t>: must end with @university.com.</a:t>
            </a:r>
          </a:p>
          <a:p>
            <a:pPr marL="457200" indent="-457200">
              <a:lnSpc>
                <a:spcPct val="150000"/>
              </a:lnSpc>
              <a:buFont typeface="Arial" panose="020B0604020202020204" pitchFamily="34" charset="0"/>
              <a:buChar char="•"/>
            </a:pPr>
            <a:r>
              <a:rPr lang="en-US" sz="2600" b="1" dirty="0">
                <a:latin typeface="Calibir"/>
              </a:rPr>
              <a:t>Password</a:t>
            </a:r>
            <a:r>
              <a:rPr lang="en-US" sz="2600" dirty="0">
                <a:latin typeface="Calibir"/>
              </a:rPr>
              <a:t>: regex → ^[A-Z][A-Za-z]{4,}\d{3,}$.</a:t>
            </a:r>
          </a:p>
          <a:p>
            <a:pPr marL="457200" indent="-457200">
              <a:lnSpc>
                <a:spcPct val="150000"/>
              </a:lnSpc>
              <a:buFont typeface="Arial" panose="020B0604020202020204" pitchFamily="34" charset="0"/>
              <a:buChar char="•"/>
            </a:pPr>
            <a:r>
              <a:rPr lang="en-US" sz="2600" b="1" dirty="0">
                <a:latin typeface="Calibir"/>
              </a:rPr>
              <a:t>Student ID</a:t>
            </a:r>
            <a:r>
              <a:rPr lang="en-US" sz="2600" dirty="0">
                <a:latin typeface="Calibir"/>
              </a:rPr>
              <a:t>: 6-digit zero-padded (e.g., 000045).</a:t>
            </a:r>
          </a:p>
          <a:p>
            <a:pPr marL="457200" indent="-457200">
              <a:lnSpc>
                <a:spcPct val="150000"/>
              </a:lnSpc>
              <a:buFont typeface="Arial" panose="020B0604020202020204" pitchFamily="34" charset="0"/>
              <a:buChar char="•"/>
            </a:pPr>
            <a:r>
              <a:rPr lang="en-US" sz="2600" b="1" dirty="0">
                <a:latin typeface="Calibir"/>
              </a:rPr>
              <a:t>Subject ID</a:t>
            </a:r>
            <a:r>
              <a:rPr lang="en-US" sz="2600" dirty="0">
                <a:latin typeface="Calibir"/>
              </a:rPr>
              <a:t>: 3-digit zero-padded (e.g., 007).</a:t>
            </a:r>
          </a:p>
          <a:p>
            <a:pPr marL="457200" indent="-457200">
              <a:lnSpc>
                <a:spcPct val="150000"/>
              </a:lnSpc>
              <a:buFont typeface="Arial" panose="020B0604020202020204" pitchFamily="34" charset="0"/>
              <a:buChar char="•"/>
            </a:pPr>
            <a:r>
              <a:rPr lang="en-US" sz="2600" b="1" dirty="0">
                <a:latin typeface="Calibir"/>
              </a:rPr>
              <a:t>Grades</a:t>
            </a:r>
            <a:r>
              <a:rPr lang="en-US" sz="2600" dirty="0">
                <a:latin typeface="Calibir"/>
              </a:rPr>
              <a:t>:</a:t>
            </a:r>
          </a:p>
          <a:p>
            <a:pPr marL="914400" lvl="1" indent="-457200">
              <a:lnSpc>
                <a:spcPct val="150000"/>
              </a:lnSpc>
              <a:buFont typeface="Arial" panose="020B0604020202020204" pitchFamily="34" charset="0"/>
              <a:buChar char="•"/>
            </a:pPr>
            <a:r>
              <a:rPr lang="en-US" sz="2600" dirty="0">
                <a:latin typeface="Calibir"/>
              </a:rPr>
              <a:t>&lt; 50 → Z</a:t>
            </a:r>
          </a:p>
          <a:p>
            <a:pPr marL="914400" lvl="1" indent="-457200">
              <a:lnSpc>
                <a:spcPct val="150000"/>
              </a:lnSpc>
              <a:buFont typeface="Arial" panose="020B0604020202020204" pitchFamily="34" charset="0"/>
              <a:buChar char="•"/>
            </a:pPr>
            <a:r>
              <a:rPr lang="en-US" sz="2600" dirty="0">
                <a:latin typeface="Calibir"/>
              </a:rPr>
              <a:t>50–64 → P</a:t>
            </a:r>
          </a:p>
          <a:p>
            <a:pPr marL="914400" lvl="1" indent="-457200">
              <a:lnSpc>
                <a:spcPct val="150000"/>
              </a:lnSpc>
              <a:buFont typeface="Arial" panose="020B0604020202020204" pitchFamily="34" charset="0"/>
              <a:buChar char="•"/>
            </a:pPr>
            <a:r>
              <a:rPr lang="en-US" sz="2600" dirty="0">
                <a:latin typeface="Calibir"/>
              </a:rPr>
              <a:t>65–74 → C</a:t>
            </a:r>
          </a:p>
          <a:p>
            <a:pPr marL="914400" lvl="1" indent="-457200">
              <a:lnSpc>
                <a:spcPct val="150000"/>
              </a:lnSpc>
              <a:buFont typeface="Arial" panose="020B0604020202020204" pitchFamily="34" charset="0"/>
              <a:buChar char="•"/>
            </a:pPr>
            <a:r>
              <a:rPr lang="en-US" sz="2600" dirty="0">
                <a:latin typeface="Calibir"/>
              </a:rPr>
              <a:t>75–84 → D</a:t>
            </a:r>
          </a:p>
          <a:p>
            <a:pPr marL="914400" lvl="1" indent="-457200">
              <a:lnSpc>
                <a:spcPct val="150000"/>
              </a:lnSpc>
              <a:buFont typeface="Arial" panose="020B0604020202020204" pitchFamily="34" charset="0"/>
              <a:buChar char="•"/>
            </a:pPr>
            <a:r>
              <a:rPr lang="en-US" sz="2600" dirty="0">
                <a:latin typeface="Calibir"/>
              </a:rPr>
              <a:t>≥ 85 → HD</a:t>
            </a:r>
          </a:p>
        </p:txBody>
      </p:sp>
    </p:spTree>
    <p:extLst>
      <p:ext uri="{BB962C8B-B14F-4D97-AF65-F5344CB8AC3E}">
        <p14:creationId xmlns:p14="http://schemas.microsoft.com/office/powerpoint/2010/main" val="9971906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368FB-04FD-529A-01A1-444418F8687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9C19537-F82E-EB74-6F4B-DAB8F8937F55}"/>
              </a:ext>
            </a:extLst>
          </p:cNvPr>
          <p:cNvSpPr txBox="1"/>
          <p:nvPr/>
        </p:nvSpPr>
        <p:spPr>
          <a:xfrm>
            <a:off x="102220" y="112964"/>
            <a:ext cx="11987560" cy="2610843"/>
          </a:xfrm>
          <a:prstGeom prst="rect">
            <a:avLst/>
          </a:prstGeom>
          <a:noFill/>
        </p:spPr>
        <p:txBody>
          <a:bodyPr wrap="square">
            <a:spAutoFit/>
          </a:bodyPr>
          <a:lstStyle/>
          <a:p>
            <a:pPr>
              <a:lnSpc>
                <a:spcPct val="150000"/>
              </a:lnSpc>
            </a:pPr>
            <a:r>
              <a:rPr lang="en-US" sz="2800" b="1" dirty="0">
                <a:latin typeface="Calibir"/>
              </a:rPr>
              <a:t>Step 6 – Design the Data File</a:t>
            </a:r>
          </a:p>
          <a:p>
            <a:pPr marL="457200" indent="-457200">
              <a:lnSpc>
                <a:spcPct val="150000"/>
              </a:lnSpc>
              <a:buFont typeface="Arial" panose="020B0604020202020204" pitchFamily="34" charset="0"/>
              <a:buChar char="•"/>
            </a:pPr>
            <a:r>
              <a:rPr lang="en-US" sz="2800" dirty="0">
                <a:latin typeface="Calibir"/>
              </a:rPr>
              <a:t>Part 1 = design only (no coding or saving in VS Code required).</a:t>
            </a:r>
          </a:p>
          <a:p>
            <a:pPr marL="457200" indent="-457200">
              <a:lnSpc>
                <a:spcPct val="150000"/>
              </a:lnSpc>
              <a:buFont typeface="Arial" panose="020B0604020202020204" pitchFamily="34" charset="0"/>
              <a:buChar char="•"/>
            </a:pPr>
            <a:r>
              <a:rPr lang="en-US" sz="2800" dirty="0">
                <a:latin typeface="Calibir"/>
              </a:rPr>
              <a:t>Show one format in report:</a:t>
            </a:r>
          </a:p>
          <a:p>
            <a:pPr>
              <a:lnSpc>
                <a:spcPct val="150000"/>
              </a:lnSpc>
            </a:pPr>
            <a:r>
              <a:rPr lang="en-US" sz="2800" dirty="0">
                <a:latin typeface="Calibir"/>
              </a:rPr>
              <a:t>JSON Lines example</a:t>
            </a:r>
          </a:p>
        </p:txBody>
      </p:sp>
      <p:pic>
        <p:nvPicPr>
          <p:cNvPr id="6" name="Picture 5">
            <a:extLst>
              <a:ext uri="{FF2B5EF4-FFF2-40B4-BE49-F238E27FC236}">
                <a16:creationId xmlns:a16="http://schemas.microsoft.com/office/drawing/2014/main" id="{CB5FF386-3462-1613-78D1-93E9B0B7A961}"/>
              </a:ext>
            </a:extLst>
          </p:cNvPr>
          <p:cNvPicPr>
            <a:picLocks noChangeAspect="1"/>
          </p:cNvPicPr>
          <p:nvPr/>
        </p:nvPicPr>
        <p:blipFill>
          <a:blip r:embed="rId2"/>
          <a:srcRect l="8323" t="35610" r="8811" b="43089"/>
          <a:stretch>
            <a:fillRect/>
          </a:stretch>
        </p:blipFill>
        <p:spPr>
          <a:xfrm>
            <a:off x="102220" y="2854711"/>
            <a:ext cx="11876821" cy="1717289"/>
          </a:xfrm>
          <a:prstGeom prst="rect">
            <a:avLst/>
          </a:prstGeom>
        </p:spPr>
      </p:pic>
      <p:sp>
        <p:nvSpPr>
          <p:cNvPr id="8" name="TextBox 7">
            <a:extLst>
              <a:ext uri="{FF2B5EF4-FFF2-40B4-BE49-F238E27FC236}">
                <a16:creationId xmlns:a16="http://schemas.microsoft.com/office/drawing/2014/main" id="{08F49F87-2DBC-7CA7-624D-378B3F32F6E0}"/>
              </a:ext>
            </a:extLst>
          </p:cNvPr>
          <p:cNvSpPr txBox="1"/>
          <p:nvPr/>
        </p:nvSpPr>
        <p:spPr>
          <a:xfrm>
            <a:off x="102220" y="4702904"/>
            <a:ext cx="6105292" cy="523220"/>
          </a:xfrm>
          <a:prstGeom prst="rect">
            <a:avLst/>
          </a:prstGeom>
          <a:noFill/>
        </p:spPr>
        <p:txBody>
          <a:bodyPr wrap="square">
            <a:spAutoFit/>
          </a:bodyPr>
          <a:lstStyle/>
          <a:p>
            <a:r>
              <a:rPr lang="en-US" sz="2800" dirty="0">
                <a:latin typeface="Calibir"/>
              </a:rPr>
              <a:t>CSV alternative</a:t>
            </a:r>
          </a:p>
        </p:txBody>
      </p:sp>
      <p:pic>
        <p:nvPicPr>
          <p:cNvPr id="12" name="Picture 11">
            <a:extLst>
              <a:ext uri="{FF2B5EF4-FFF2-40B4-BE49-F238E27FC236}">
                <a16:creationId xmlns:a16="http://schemas.microsoft.com/office/drawing/2014/main" id="{013A6390-877F-E78D-D9B3-4CD8FA68A245}"/>
              </a:ext>
            </a:extLst>
          </p:cNvPr>
          <p:cNvPicPr>
            <a:picLocks noChangeAspect="1"/>
          </p:cNvPicPr>
          <p:nvPr/>
        </p:nvPicPr>
        <p:blipFill>
          <a:blip r:embed="rId3"/>
          <a:srcRect l="8323" t="65203" r="9269" b="20325"/>
          <a:stretch>
            <a:fillRect/>
          </a:stretch>
        </p:blipFill>
        <p:spPr>
          <a:xfrm>
            <a:off x="102220" y="5226124"/>
            <a:ext cx="11876821" cy="1173183"/>
          </a:xfrm>
          <a:prstGeom prst="rect">
            <a:avLst/>
          </a:prstGeom>
        </p:spPr>
      </p:pic>
    </p:spTree>
    <p:extLst>
      <p:ext uri="{BB962C8B-B14F-4D97-AF65-F5344CB8AC3E}">
        <p14:creationId xmlns:p14="http://schemas.microsoft.com/office/powerpoint/2010/main" val="502530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493374-F5F9-FF40-EA5B-E2AD06FFDAC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20F14EE-71FB-34FB-B3D9-5AF6E85127F8}"/>
              </a:ext>
            </a:extLst>
          </p:cNvPr>
          <p:cNvSpPr txBox="1"/>
          <p:nvPr/>
        </p:nvSpPr>
        <p:spPr>
          <a:xfrm>
            <a:off x="102220" y="2123578"/>
            <a:ext cx="11987560" cy="2610843"/>
          </a:xfrm>
          <a:prstGeom prst="rect">
            <a:avLst/>
          </a:prstGeom>
          <a:noFill/>
        </p:spPr>
        <p:txBody>
          <a:bodyPr wrap="square">
            <a:spAutoFit/>
          </a:bodyPr>
          <a:lstStyle/>
          <a:p>
            <a:pPr>
              <a:lnSpc>
                <a:spcPct val="150000"/>
              </a:lnSpc>
            </a:pPr>
            <a:r>
              <a:rPr lang="en-US" sz="2800" b="1" dirty="0">
                <a:latin typeface="Calibir"/>
              </a:rPr>
              <a:t>Step 7 – Quality check</a:t>
            </a:r>
          </a:p>
          <a:p>
            <a:pPr marL="914400" lvl="1" indent="-457200">
              <a:lnSpc>
                <a:spcPct val="150000"/>
              </a:lnSpc>
              <a:buFont typeface="Arial" panose="020B0604020202020204" pitchFamily="34" charset="0"/>
              <a:buChar char="•"/>
            </a:pPr>
            <a:r>
              <a:rPr lang="en-US" sz="2800" dirty="0">
                <a:latin typeface="Calibir"/>
              </a:rPr>
              <a:t>Trace every requirement → user story → UC diagram → class diagram.</a:t>
            </a:r>
          </a:p>
          <a:p>
            <a:pPr marL="914400" lvl="1" indent="-457200">
              <a:lnSpc>
                <a:spcPct val="150000"/>
              </a:lnSpc>
              <a:buFont typeface="Arial" panose="020B0604020202020204" pitchFamily="34" charset="0"/>
              <a:buChar char="•"/>
            </a:pPr>
            <a:r>
              <a:rPr lang="en-US" sz="2800" dirty="0">
                <a:latin typeface="Calibir"/>
              </a:rPr>
              <a:t>Label multiplicities, include/extend.</a:t>
            </a:r>
          </a:p>
          <a:p>
            <a:pPr marL="914400" lvl="1" indent="-457200">
              <a:lnSpc>
                <a:spcPct val="150000"/>
              </a:lnSpc>
              <a:buFont typeface="Arial" panose="020B0604020202020204" pitchFamily="34" charset="0"/>
              <a:buChar char="•"/>
            </a:pPr>
            <a:r>
              <a:rPr lang="en-US" sz="2800" dirty="0">
                <a:latin typeface="Calibir"/>
              </a:rPr>
              <a:t>Keep naming consistent (e.g., always “</a:t>
            </a:r>
            <a:r>
              <a:rPr lang="en-US" sz="2800" dirty="0" err="1">
                <a:latin typeface="Calibir"/>
              </a:rPr>
              <a:t>Enrol</a:t>
            </a:r>
            <a:r>
              <a:rPr lang="en-US" sz="2800" dirty="0">
                <a:latin typeface="Calibir"/>
              </a:rPr>
              <a:t> Subject”).</a:t>
            </a:r>
          </a:p>
        </p:txBody>
      </p:sp>
      <p:sp>
        <p:nvSpPr>
          <p:cNvPr id="2" name="Title 1">
            <a:extLst>
              <a:ext uri="{FF2B5EF4-FFF2-40B4-BE49-F238E27FC236}">
                <a16:creationId xmlns:a16="http://schemas.microsoft.com/office/drawing/2014/main" id="{D876931C-C74E-5EBD-8205-58FCC4B55787}"/>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Tree>
    <p:extLst>
      <p:ext uri="{BB962C8B-B14F-4D97-AF65-F5344CB8AC3E}">
        <p14:creationId xmlns:p14="http://schemas.microsoft.com/office/powerpoint/2010/main" val="41440961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48C673-CE92-1280-791E-D6EFDD1BAB91}"/>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3C2D4CE-1376-7A9A-D666-8E5C688930F6}"/>
              </a:ext>
            </a:extLst>
          </p:cNvPr>
          <p:cNvSpPr txBox="1"/>
          <p:nvPr/>
        </p:nvSpPr>
        <p:spPr>
          <a:xfrm>
            <a:off x="0" y="1060818"/>
            <a:ext cx="11987560" cy="1318181"/>
          </a:xfrm>
          <a:prstGeom prst="rect">
            <a:avLst/>
          </a:prstGeom>
          <a:noFill/>
        </p:spPr>
        <p:txBody>
          <a:bodyPr wrap="square">
            <a:spAutoFit/>
          </a:bodyPr>
          <a:lstStyle/>
          <a:p>
            <a:pPr>
              <a:lnSpc>
                <a:spcPct val="150000"/>
              </a:lnSpc>
            </a:pPr>
            <a:r>
              <a:rPr lang="en-US" sz="2800" b="1" dirty="0">
                <a:latin typeface="Calibir"/>
              </a:rPr>
              <a:t>Step 8 – Group contribution plan</a:t>
            </a:r>
          </a:p>
          <a:p>
            <a:pPr>
              <a:lnSpc>
                <a:spcPct val="150000"/>
              </a:lnSpc>
            </a:pPr>
            <a:r>
              <a:rPr lang="en-US" sz="2800" dirty="0">
                <a:latin typeface="Calibir"/>
              </a:rPr>
              <a:t>Add a simple table (roles and responsibilities):</a:t>
            </a:r>
          </a:p>
        </p:txBody>
      </p:sp>
      <p:graphicFrame>
        <p:nvGraphicFramePr>
          <p:cNvPr id="2" name="Table 1">
            <a:extLst>
              <a:ext uri="{FF2B5EF4-FFF2-40B4-BE49-F238E27FC236}">
                <a16:creationId xmlns:a16="http://schemas.microsoft.com/office/drawing/2014/main" id="{09372D31-0171-5775-0723-C520959B5FC9}"/>
              </a:ext>
            </a:extLst>
          </p:cNvPr>
          <p:cNvGraphicFramePr>
            <a:graphicFrameLocks noGrp="1"/>
          </p:cNvGraphicFramePr>
          <p:nvPr>
            <p:extLst>
              <p:ext uri="{D42A27DB-BD31-4B8C-83A1-F6EECF244321}">
                <p14:modId xmlns:p14="http://schemas.microsoft.com/office/powerpoint/2010/main" val="49943406"/>
              </p:ext>
            </p:extLst>
          </p:nvPr>
        </p:nvGraphicFramePr>
        <p:xfrm>
          <a:off x="735980" y="3340534"/>
          <a:ext cx="10515600" cy="2072640"/>
        </p:xfrm>
        <a:graphic>
          <a:graphicData uri="http://schemas.openxmlformats.org/drawingml/2006/table">
            <a:tbl>
              <a:tblPr>
                <a:tableStyleId>{BDBED569-4797-4DF1-A0F4-6AAB3CD982D8}</a:tableStyleId>
              </a:tblPr>
              <a:tblGrid>
                <a:gridCol w="3505200">
                  <a:extLst>
                    <a:ext uri="{9D8B030D-6E8A-4147-A177-3AD203B41FA5}">
                      <a16:colId xmlns:a16="http://schemas.microsoft.com/office/drawing/2014/main" val="2656184667"/>
                    </a:ext>
                  </a:extLst>
                </a:gridCol>
                <a:gridCol w="3505200">
                  <a:extLst>
                    <a:ext uri="{9D8B030D-6E8A-4147-A177-3AD203B41FA5}">
                      <a16:colId xmlns:a16="http://schemas.microsoft.com/office/drawing/2014/main" val="2384822294"/>
                    </a:ext>
                  </a:extLst>
                </a:gridCol>
                <a:gridCol w="3505200">
                  <a:extLst>
                    <a:ext uri="{9D8B030D-6E8A-4147-A177-3AD203B41FA5}">
                      <a16:colId xmlns:a16="http://schemas.microsoft.com/office/drawing/2014/main" val="812154028"/>
                    </a:ext>
                  </a:extLst>
                </a:gridCol>
              </a:tblGrid>
              <a:tr h="0">
                <a:tc>
                  <a:txBody>
                    <a:bodyPr/>
                    <a:lstStyle/>
                    <a:p>
                      <a:pPr>
                        <a:buNone/>
                      </a:pPr>
                      <a:r>
                        <a:rPr lang="en-US" sz="2800" dirty="0">
                          <a:latin typeface="Calibir"/>
                        </a:rPr>
                        <a:t>Member</a:t>
                      </a:r>
                    </a:p>
                  </a:txBody>
                  <a:tcPr anchor="ctr">
                    <a:solidFill>
                      <a:schemeClr val="accent5">
                        <a:lumMod val="20000"/>
                        <a:lumOff val="80000"/>
                      </a:schemeClr>
                    </a:solidFill>
                  </a:tcPr>
                </a:tc>
                <a:tc>
                  <a:txBody>
                    <a:bodyPr/>
                    <a:lstStyle/>
                    <a:p>
                      <a:pPr>
                        <a:buNone/>
                      </a:pPr>
                      <a:r>
                        <a:rPr lang="en-US" sz="2800" dirty="0">
                          <a:latin typeface="Calibir"/>
                        </a:rPr>
                        <a:t>Main Role</a:t>
                      </a:r>
                    </a:p>
                  </a:txBody>
                  <a:tcPr anchor="ctr">
                    <a:solidFill>
                      <a:schemeClr val="accent5">
                        <a:lumMod val="20000"/>
                        <a:lumOff val="80000"/>
                      </a:schemeClr>
                    </a:solidFill>
                  </a:tcPr>
                </a:tc>
                <a:tc>
                  <a:txBody>
                    <a:bodyPr/>
                    <a:lstStyle/>
                    <a:p>
                      <a:pPr>
                        <a:buNone/>
                      </a:pPr>
                      <a:r>
                        <a:rPr lang="en-US" sz="2800" dirty="0">
                          <a:latin typeface="Calibir"/>
                        </a:rPr>
                        <a:t>Also helps with…</a:t>
                      </a:r>
                    </a:p>
                  </a:txBody>
                  <a:tcPr anchor="ctr">
                    <a:solidFill>
                      <a:schemeClr val="accent5">
                        <a:lumMod val="20000"/>
                        <a:lumOff val="80000"/>
                      </a:schemeClr>
                    </a:solidFill>
                  </a:tcPr>
                </a:tc>
                <a:extLst>
                  <a:ext uri="{0D108BD9-81ED-4DB2-BD59-A6C34878D82A}">
                    <a16:rowId xmlns:a16="http://schemas.microsoft.com/office/drawing/2014/main" val="1529415890"/>
                  </a:ext>
                </a:extLst>
              </a:tr>
              <a:tr h="0">
                <a:tc>
                  <a:txBody>
                    <a:bodyPr/>
                    <a:lstStyle/>
                    <a:p>
                      <a:pPr>
                        <a:buNone/>
                      </a:pPr>
                      <a:r>
                        <a:rPr lang="en-US" sz="2800" dirty="0">
                          <a:latin typeface="Calibir"/>
                        </a:rPr>
                        <a:t>Asha</a:t>
                      </a:r>
                    </a:p>
                  </a:txBody>
                  <a:tcPr anchor="ctr"/>
                </a:tc>
                <a:tc>
                  <a:txBody>
                    <a:bodyPr/>
                    <a:lstStyle/>
                    <a:p>
                      <a:pPr>
                        <a:buNone/>
                      </a:pPr>
                      <a:r>
                        <a:rPr lang="en-US" sz="2800">
                          <a:latin typeface="Calibir"/>
                        </a:rPr>
                        <a:t>User stories/backlog</a:t>
                      </a:r>
                    </a:p>
                  </a:txBody>
                  <a:tcPr anchor="ctr"/>
                </a:tc>
                <a:tc>
                  <a:txBody>
                    <a:bodyPr/>
                    <a:lstStyle/>
                    <a:p>
                      <a:pPr>
                        <a:buNone/>
                      </a:pPr>
                      <a:r>
                        <a:rPr lang="en-US" sz="2800">
                          <a:latin typeface="Calibir"/>
                        </a:rPr>
                        <a:t>Use Case diagram</a:t>
                      </a:r>
                    </a:p>
                  </a:txBody>
                  <a:tcPr anchor="ctr"/>
                </a:tc>
                <a:extLst>
                  <a:ext uri="{0D108BD9-81ED-4DB2-BD59-A6C34878D82A}">
                    <a16:rowId xmlns:a16="http://schemas.microsoft.com/office/drawing/2014/main" val="1570102234"/>
                  </a:ext>
                </a:extLst>
              </a:tr>
              <a:tr h="0">
                <a:tc>
                  <a:txBody>
                    <a:bodyPr/>
                    <a:lstStyle/>
                    <a:p>
                      <a:pPr>
                        <a:buNone/>
                      </a:pPr>
                      <a:r>
                        <a:rPr lang="en-US" sz="2800">
                          <a:latin typeface="Calibir"/>
                        </a:rPr>
                        <a:t>Liam</a:t>
                      </a:r>
                    </a:p>
                  </a:txBody>
                  <a:tcPr anchor="ctr"/>
                </a:tc>
                <a:tc>
                  <a:txBody>
                    <a:bodyPr/>
                    <a:lstStyle/>
                    <a:p>
                      <a:pPr>
                        <a:buNone/>
                      </a:pPr>
                      <a:r>
                        <a:rPr lang="en-US" sz="2800">
                          <a:latin typeface="Calibir"/>
                        </a:rPr>
                        <a:t>Class diagram</a:t>
                      </a:r>
                    </a:p>
                  </a:txBody>
                  <a:tcPr anchor="ctr"/>
                </a:tc>
                <a:tc>
                  <a:txBody>
                    <a:bodyPr/>
                    <a:lstStyle/>
                    <a:p>
                      <a:pPr>
                        <a:buNone/>
                      </a:pPr>
                      <a:r>
                        <a:rPr lang="en-US" sz="2800">
                          <a:latin typeface="Calibir"/>
                        </a:rPr>
                        <a:t>Report formatting</a:t>
                      </a:r>
                    </a:p>
                  </a:txBody>
                  <a:tcPr anchor="ctr"/>
                </a:tc>
                <a:extLst>
                  <a:ext uri="{0D108BD9-81ED-4DB2-BD59-A6C34878D82A}">
                    <a16:rowId xmlns:a16="http://schemas.microsoft.com/office/drawing/2014/main" val="2461465524"/>
                  </a:ext>
                </a:extLst>
              </a:tr>
              <a:tr h="0">
                <a:tc>
                  <a:txBody>
                    <a:bodyPr/>
                    <a:lstStyle/>
                    <a:p>
                      <a:pPr>
                        <a:buNone/>
                      </a:pPr>
                      <a:r>
                        <a:rPr lang="en-US" sz="2800">
                          <a:latin typeface="Calibir"/>
                        </a:rPr>
                        <a:t>Chen</a:t>
                      </a:r>
                    </a:p>
                  </a:txBody>
                  <a:tcPr anchor="ctr"/>
                </a:tc>
                <a:tc>
                  <a:txBody>
                    <a:bodyPr/>
                    <a:lstStyle/>
                    <a:p>
                      <a:pPr>
                        <a:buNone/>
                      </a:pPr>
                      <a:r>
                        <a:rPr lang="en-US" sz="2800">
                          <a:latin typeface="Calibir"/>
                        </a:rPr>
                        <a:t>Data file + rules</a:t>
                      </a:r>
                    </a:p>
                  </a:txBody>
                  <a:tcPr anchor="ctr"/>
                </a:tc>
                <a:tc>
                  <a:txBody>
                    <a:bodyPr/>
                    <a:lstStyle/>
                    <a:p>
                      <a:pPr>
                        <a:buNone/>
                      </a:pPr>
                      <a:r>
                        <a:rPr lang="en-US" sz="2800" dirty="0">
                          <a:latin typeface="Calibir"/>
                        </a:rPr>
                        <a:t>Proofreading</a:t>
                      </a:r>
                    </a:p>
                  </a:txBody>
                  <a:tcPr anchor="ctr"/>
                </a:tc>
                <a:extLst>
                  <a:ext uri="{0D108BD9-81ED-4DB2-BD59-A6C34878D82A}">
                    <a16:rowId xmlns:a16="http://schemas.microsoft.com/office/drawing/2014/main" val="2950042513"/>
                  </a:ext>
                </a:extLst>
              </a:tr>
            </a:tbl>
          </a:graphicData>
        </a:graphic>
      </p:graphicFrame>
      <p:sp>
        <p:nvSpPr>
          <p:cNvPr id="4" name="Title 1">
            <a:extLst>
              <a:ext uri="{FF2B5EF4-FFF2-40B4-BE49-F238E27FC236}">
                <a16:creationId xmlns:a16="http://schemas.microsoft.com/office/drawing/2014/main" id="{FA1FF4BF-297A-6C4A-7AD5-395EF65E30B7}"/>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Tree>
    <p:extLst>
      <p:ext uri="{BB962C8B-B14F-4D97-AF65-F5344CB8AC3E}">
        <p14:creationId xmlns:p14="http://schemas.microsoft.com/office/powerpoint/2010/main" val="18794330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542DE-E970-0DD9-FE67-65BCFF55465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2753509-0244-A6B3-E6BD-FCEA9A97B6FF}"/>
              </a:ext>
            </a:extLst>
          </p:cNvPr>
          <p:cNvSpPr txBox="1"/>
          <p:nvPr/>
        </p:nvSpPr>
        <p:spPr>
          <a:xfrm>
            <a:off x="3718" y="42983"/>
            <a:ext cx="12188282" cy="7135158"/>
          </a:xfrm>
          <a:prstGeom prst="rect">
            <a:avLst/>
          </a:prstGeom>
          <a:noFill/>
        </p:spPr>
        <p:txBody>
          <a:bodyPr wrap="square">
            <a:spAutoFit/>
          </a:bodyPr>
          <a:lstStyle/>
          <a:p>
            <a:pPr>
              <a:lnSpc>
                <a:spcPct val="150000"/>
              </a:lnSpc>
              <a:buNone/>
            </a:pPr>
            <a:r>
              <a:rPr lang="en-US" sz="2700" b="1" dirty="0">
                <a:latin typeface="Calibir"/>
              </a:rPr>
              <a:t>Submission Checklist (1 file per group)</a:t>
            </a:r>
          </a:p>
          <a:p>
            <a:pPr marL="914400" lvl="1" indent="-457200">
              <a:lnSpc>
                <a:spcPct val="150000"/>
              </a:lnSpc>
              <a:buFont typeface="Arial" panose="020B0604020202020204" pitchFamily="34" charset="0"/>
              <a:buChar char="•"/>
            </a:pPr>
            <a:r>
              <a:rPr lang="en-US" sz="2700" dirty="0">
                <a:latin typeface="Calibir"/>
              </a:rPr>
              <a:t>Cover page (unit, group #, names, student IDs)</a:t>
            </a:r>
          </a:p>
          <a:p>
            <a:pPr marL="914400" lvl="1" indent="-457200">
              <a:lnSpc>
                <a:spcPct val="150000"/>
              </a:lnSpc>
              <a:buFont typeface="Arial" panose="020B0604020202020204" pitchFamily="34" charset="0"/>
              <a:buChar char="•"/>
            </a:pPr>
            <a:r>
              <a:rPr lang="en-US" sz="2700" dirty="0">
                <a:latin typeface="Calibir"/>
              </a:rPr>
              <a:t>Scope summary</a:t>
            </a:r>
          </a:p>
          <a:p>
            <a:pPr marL="914400" lvl="1" indent="-457200">
              <a:lnSpc>
                <a:spcPct val="150000"/>
              </a:lnSpc>
              <a:buFont typeface="Arial" panose="020B0604020202020204" pitchFamily="34" charset="0"/>
              <a:buChar char="•"/>
            </a:pPr>
            <a:r>
              <a:rPr lang="en-US" sz="2700" dirty="0">
                <a:latin typeface="Calibir"/>
              </a:rPr>
              <a:t>User story backlog (table)</a:t>
            </a:r>
          </a:p>
          <a:p>
            <a:pPr marL="914400" lvl="1" indent="-457200">
              <a:lnSpc>
                <a:spcPct val="150000"/>
              </a:lnSpc>
              <a:buFont typeface="Arial" panose="020B0604020202020204" pitchFamily="34" charset="0"/>
              <a:buChar char="•"/>
            </a:pPr>
            <a:r>
              <a:rPr lang="en-US" sz="2700" dirty="0">
                <a:latin typeface="Calibir"/>
              </a:rPr>
              <a:t>Use Case diagram + short notes</a:t>
            </a:r>
          </a:p>
          <a:p>
            <a:pPr marL="914400" lvl="1" indent="-457200">
              <a:lnSpc>
                <a:spcPct val="150000"/>
              </a:lnSpc>
              <a:buFont typeface="Arial" panose="020B0604020202020204" pitchFamily="34" charset="0"/>
              <a:buChar char="•"/>
            </a:pPr>
            <a:r>
              <a:rPr lang="en-US" sz="2700" dirty="0">
                <a:latin typeface="Calibir"/>
              </a:rPr>
              <a:t>Class diagram + short notes</a:t>
            </a:r>
          </a:p>
          <a:p>
            <a:pPr marL="914400" lvl="1" indent="-457200">
              <a:lnSpc>
                <a:spcPct val="150000"/>
              </a:lnSpc>
              <a:buFont typeface="Arial" panose="020B0604020202020204" pitchFamily="34" charset="0"/>
              <a:buChar char="•"/>
            </a:pPr>
            <a:r>
              <a:rPr lang="en-US" sz="2700" dirty="0">
                <a:latin typeface="Calibir"/>
              </a:rPr>
              <a:t>Rules/constraints</a:t>
            </a:r>
          </a:p>
          <a:p>
            <a:pPr marL="914400" lvl="1" indent="-457200">
              <a:lnSpc>
                <a:spcPct val="150000"/>
              </a:lnSpc>
              <a:buFont typeface="Arial" panose="020B0604020202020204" pitchFamily="34" charset="0"/>
              <a:buChar char="•"/>
            </a:pPr>
            <a:r>
              <a:rPr lang="en-US" sz="2700" dirty="0">
                <a:latin typeface="Calibir"/>
              </a:rPr>
              <a:t>Data file format sample</a:t>
            </a:r>
          </a:p>
          <a:p>
            <a:pPr marL="914400" lvl="1" indent="-457200">
              <a:lnSpc>
                <a:spcPct val="150000"/>
              </a:lnSpc>
              <a:buFont typeface="Arial" panose="020B0604020202020204" pitchFamily="34" charset="0"/>
              <a:buChar char="•"/>
            </a:pPr>
            <a:r>
              <a:rPr lang="en-US" sz="2700" dirty="0">
                <a:latin typeface="Calibir"/>
              </a:rPr>
              <a:t>Contribution plan</a:t>
            </a:r>
          </a:p>
          <a:p>
            <a:pPr>
              <a:lnSpc>
                <a:spcPct val="150000"/>
              </a:lnSpc>
              <a:buNone/>
            </a:pPr>
            <a:r>
              <a:rPr lang="en-US" sz="2700" dirty="0">
                <a:latin typeface="Calibir"/>
              </a:rPr>
              <a:t>File name: group&lt;group-number&gt;-Cmp1&lt;lab-number&gt;.&lt;</a:t>
            </a:r>
            <a:r>
              <a:rPr lang="en-US" sz="2700" dirty="0" err="1">
                <a:latin typeface="Calibir"/>
              </a:rPr>
              <a:t>pdf|docx</a:t>
            </a:r>
            <a:r>
              <a:rPr lang="en-US" sz="2700" dirty="0">
                <a:latin typeface="Calibir"/>
              </a:rPr>
              <a:t>&gt;</a:t>
            </a:r>
            <a:br>
              <a:rPr lang="en-US" sz="2700" dirty="0">
                <a:latin typeface="Calibir"/>
              </a:rPr>
            </a:br>
            <a:r>
              <a:rPr lang="en-US" sz="2700" dirty="0">
                <a:latin typeface="Calibir"/>
              </a:rPr>
              <a:t>Deadline: Sunday, Week 7.</a:t>
            </a:r>
          </a:p>
        </p:txBody>
      </p:sp>
    </p:spTree>
    <p:extLst>
      <p:ext uri="{BB962C8B-B14F-4D97-AF65-F5344CB8AC3E}">
        <p14:creationId xmlns:p14="http://schemas.microsoft.com/office/powerpoint/2010/main" val="20862633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1822C-95F1-6D7C-C39A-53C61B5AE8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37F7DA4-21EF-9217-CE76-B01BE450D615}"/>
              </a:ext>
            </a:extLst>
          </p:cNvPr>
          <p:cNvSpPr txBox="1"/>
          <p:nvPr/>
        </p:nvSpPr>
        <p:spPr>
          <a:xfrm>
            <a:off x="0" y="1155525"/>
            <a:ext cx="12188282" cy="4546950"/>
          </a:xfrm>
          <a:prstGeom prst="rect">
            <a:avLst/>
          </a:prstGeom>
          <a:noFill/>
        </p:spPr>
        <p:txBody>
          <a:bodyPr wrap="square">
            <a:spAutoFit/>
          </a:bodyPr>
          <a:lstStyle/>
          <a:p>
            <a:pPr>
              <a:lnSpc>
                <a:spcPct val="150000"/>
              </a:lnSpc>
            </a:pPr>
            <a:r>
              <a:rPr lang="en-US" sz="2800" b="1" dirty="0">
                <a:latin typeface="Calibir"/>
              </a:rPr>
              <a:t>Don’ts (common mistakes)</a:t>
            </a:r>
          </a:p>
          <a:p>
            <a:pPr lvl="1">
              <a:lnSpc>
                <a:spcPct val="150000"/>
              </a:lnSpc>
            </a:pPr>
            <a:r>
              <a:rPr lang="en-US" sz="2800" dirty="0">
                <a:highlight>
                  <a:srgbClr val="FF0000"/>
                </a:highlight>
                <a:latin typeface="Calibir"/>
              </a:rPr>
              <a:t>X</a:t>
            </a:r>
            <a:r>
              <a:rPr lang="en-US" sz="2800" dirty="0">
                <a:latin typeface="Calibir"/>
              </a:rPr>
              <a:t> Don’t mix multiple actions in one story.</a:t>
            </a:r>
            <a:br>
              <a:rPr lang="en-US" sz="2800" dirty="0">
                <a:latin typeface="Calibir"/>
              </a:rPr>
            </a:br>
            <a:r>
              <a:rPr lang="en-US" sz="2800" dirty="0">
                <a:highlight>
                  <a:srgbClr val="FF0000"/>
                </a:highlight>
                <a:latin typeface="Calibir"/>
              </a:rPr>
              <a:t>X</a:t>
            </a:r>
            <a:r>
              <a:rPr lang="en-US" sz="2800" dirty="0">
                <a:latin typeface="Calibir"/>
              </a:rPr>
              <a:t> Don’t use inconsistent IDs.</a:t>
            </a:r>
            <a:br>
              <a:rPr lang="en-US" sz="2800" dirty="0">
                <a:latin typeface="Calibir"/>
              </a:rPr>
            </a:br>
            <a:r>
              <a:rPr lang="en-US" sz="2800" dirty="0">
                <a:highlight>
                  <a:srgbClr val="FF0000"/>
                </a:highlight>
                <a:latin typeface="Calibir"/>
              </a:rPr>
              <a:t>X</a:t>
            </a:r>
            <a:r>
              <a:rPr lang="en-US" sz="2800" dirty="0">
                <a:latin typeface="Calibir"/>
              </a:rPr>
              <a:t> Don’t add UI/technical details (CLI/GUI ≠ actors).</a:t>
            </a:r>
            <a:br>
              <a:rPr lang="en-US" sz="2800" dirty="0">
                <a:latin typeface="Calibir"/>
              </a:rPr>
            </a:br>
            <a:r>
              <a:rPr lang="en-US" sz="2800" dirty="0">
                <a:highlight>
                  <a:srgbClr val="FF0000"/>
                </a:highlight>
                <a:latin typeface="Calibir"/>
              </a:rPr>
              <a:t>X</a:t>
            </a:r>
            <a:r>
              <a:rPr lang="en-US" sz="2800" dirty="0">
                <a:latin typeface="Calibir"/>
              </a:rPr>
              <a:t> Don’t forget multiplicities/labels.</a:t>
            </a:r>
            <a:br>
              <a:rPr lang="en-US" sz="2800" dirty="0">
                <a:latin typeface="Calibir"/>
              </a:rPr>
            </a:br>
            <a:r>
              <a:rPr lang="en-US" sz="2800" dirty="0">
                <a:highlight>
                  <a:srgbClr val="FF0000"/>
                </a:highlight>
                <a:latin typeface="Calibir"/>
              </a:rPr>
              <a:t>X</a:t>
            </a:r>
            <a:r>
              <a:rPr lang="en-US" sz="2800" dirty="0">
                <a:latin typeface="Calibir"/>
              </a:rPr>
              <a:t> Don’t design GUI (only Part 2).</a:t>
            </a:r>
            <a:br>
              <a:rPr lang="en-US" sz="2800" dirty="0">
                <a:latin typeface="Calibir"/>
              </a:rPr>
            </a:br>
            <a:r>
              <a:rPr lang="en-US" sz="2800" dirty="0">
                <a:highlight>
                  <a:srgbClr val="FF0000"/>
                </a:highlight>
                <a:latin typeface="Calibir"/>
              </a:rPr>
              <a:t>X</a:t>
            </a:r>
            <a:r>
              <a:rPr lang="en-US" sz="2800" dirty="0">
                <a:latin typeface="Calibir"/>
              </a:rPr>
              <a:t> Don’t submit multiple files (group submits </a:t>
            </a:r>
            <a:r>
              <a:rPr lang="en-US" sz="2800" b="1" dirty="0">
                <a:latin typeface="Calibir"/>
              </a:rPr>
              <a:t>one</a:t>
            </a:r>
            <a:r>
              <a:rPr lang="en-US" sz="2800" dirty="0">
                <a:latin typeface="Calibir"/>
              </a:rPr>
              <a:t> file).</a:t>
            </a:r>
          </a:p>
        </p:txBody>
      </p:sp>
      <p:sp>
        <p:nvSpPr>
          <p:cNvPr id="2" name="Title 1">
            <a:extLst>
              <a:ext uri="{FF2B5EF4-FFF2-40B4-BE49-F238E27FC236}">
                <a16:creationId xmlns:a16="http://schemas.microsoft.com/office/drawing/2014/main" id="{3BF372CB-F942-CBE4-4330-FEB6C6950F29}"/>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Tree>
    <p:extLst>
      <p:ext uri="{BB962C8B-B14F-4D97-AF65-F5344CB8AC3E}">
        <p14:creationId xmlns:p14="http://schemas.microsoft.com/office/powerpoint/2010/main" val="34391771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0B113-5C8E-B66C-894C-A44A5C84066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AF9ACC1-F62C-88FE-86E7-67576FC22B40}"/>
              </a:ext>
            </a:extLst>
          </p:cNvPr>
          <p:cNvSpPr txBox="1"/>
          <p:nvPr/>
        </p:nvSpPr>
        <p:spPr>
          <a:xfrm>
            <a:off x="0" y="1800413"/>
            <a:ext cx="12188282" cy="3257174"/>
          </a:xfrm>
          <a:prstGeom prst="rect">
            <a:avLst/>
          </a:prstGeom>
          <a:noFill/>
        </p:spPr>
        <p:txBody>
          <a:bodyPr wrap="square">
            <a:spAutoFit/>
          </a:bodyPr>
          <a:lstStyle/>
          <a:p>
            <a:pPr>
              <a:lnSpc>
                <a:spcPct val="150000"/>
              </a:lnSpc>
            </a:pPr>
            <a:r>
              <a:rPr lang="en-US" sz="2800" b="1" dirty="0">
                <a:latin typeface="Calibir"/>
              </a:rPr>
              <a:t>Marking (15 marks)</a:t>
            </a:r>
          </a:p>
          <a:p>
            <a:pPr marL="914400" lvl="1" indent="-457200">
              <a:lnSpc>
                <a:spcPct val="150000"/>
              </a:lnSpc>
              <a:buFont typeface="Arial" panose="020B0604020202020204" pitchFamily="34" charset="0"/>
              <a:buChar char="•"/>
            </a:pPr>
            <a:r>
              <a:rPr lang="en-US" sz="2800" b="1" dirty="0">
                <a:latin typeface="Calibir"/>
              </a:rPr>
              <a:t>5 marks</a:t>
            </a:r>
            <a:r>
              <a:rPr lang="en-US" sz="2800" dirty="0">
                <a:latin typeface="Calibir"/>
              </a:rPr>
              <a:t> → User stories/backlog (specific, consistent, mapped).</a:t>
            </a:r>
          </a:p>
          <a:p>
            <a:pPr marL="914400" lvl="1" indent="-457200">
              <a:lnSpc>
                <a:spcPct val="150000"/>
              </a:lnSpc>
              <a:buFont typeface="Arial" panose="020B0604020202020204" pitchFamily="34" charset="0"/>
              <a:buChar char="•"/>
            </a:pPr>
            <a:r>
              <a:rPr lang="en-US" sz="2800" b="1" dirty="0">
                <a:latin typeface="Calibir"/>
              </a:rPr>
              <a:t>5 marks</a:t>
            </a:r>
            <a:r>
              <a:rPr lang="en-US" sz="2800" dirty="0">
                <a:latin typeface="Calibir"/>
              </a:rPr>
              <a:t> → Use Case diagram (actors, actions, include/extend, labels).</a:t>
            </a:r>
          </a:p>
          <a:p>
            <a:pPr marL="914400" lvl="1" indent="-457200">
              <a:lnSpc>
                <a:spcPct val="150000"/>
              </a:lnSpc>
              <a:buFont typeface="Arial" panose="020B0604020202020204" pitchFamily="34" charset="0"/>
              <a:buChar char="•"/>
            </a:pPr>
            <a:r>
              <a:rPr lang="en-US" sz="2800" b="1" dirty="0">
                <a:latin typeface="Calibir"/>
              </a:rPr>
              <a:t>5 marks</a:t>
            </a:r>
            <a:r>
              <a:rPr lang="en-US" sz="2800" dirty="0">
                <a:latin typeface="Calibir"/>
              </a:rPr>
              <a:t> → Class diagram (correct fields/methods, relationships, multiplicities).</a:t>
            </a:r>
          </a:p>
        </p:txBody>
      </p:sp>
      <p:sp>
        <p:nvSpPr>
          <p:cNvPr id="2" name="Title 1">
            <a:extLst>
              <a:ext uri="{FF2B5EF4-FFF2-40B4-BE49-F238E27FC236}">
                <a16:creationId xmlns:a16="http://schemas.microsoft.com/office/drawing/2014/main" id="{3F0CA5BB-7B4D-043C-8A56-6E158848537A}"/>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Tree>
    <p:extLst>
      <p:ext uri="{BB962C8B-B14F-4D97-AF65-F5344CB8AC3E}">
        <p14:creationId xmlns:p14="http://schemas.microsoft.com/office/powerpoint/2010/main" val="24683218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CD8E0-9FC4-B180-0FCB-211EC12167E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E4F6CD8-9B30-607D-E9B1-47EA79CCB0F8}"/>
              </a:ext>
            </a:extLst>
          </p:cNvPr>
          <p:cNvSpPr txBox="1"/>
          <p:nvPr/>
        </p:nvSpPr>
        <p:spPr>
          <a:xfrm>
            <a:off x="3718" y="1800413"/>
            <a:ext cx="12188282" cy="3257174"/>
          </a:xfrm>
          <a:prstGeom prst="rect">
            <a:avLst/>
          </a:prstGeom>
          <a:noFill/>
        </p:spPr>
        <p:txBody>
          <a:bodyPr wrap="square">
            <a:spAutoFit/>
          </a:bodyPr>
          <a:lstStyle/>
          <a:p>
            <a:pPr>
              <a:lnSpc>
                <a:spcPct val="150000"/>
              </a:lnSpc>
            </a:pPr>
            <a:r>
              <a:rPr lang="en-US" sz="2800" b="1" dirty="0">
                <a:latin typeface="Calibir"/>
              </a:rPr>
              <a:t>Tools allowed</a:t>
            </a:r>
          </a:p>
          <a:p>
            <a:pPr marL="914400" lvl="1" indent="-457200">
              <a:lnSpc>
                <a:spcPct val="150000"/>
              </a:lnSpc>
              <a:buFont typeface="Arial" panose="020B0604020202020204" pitchFamily="34" charset="0"/>
              <a:buChar char="•"/>
            </a:pPr>
            <a:r>
              <a:rPr lang="en-US" sz="2800" dirty="0">
                <a:latin typeface="Calibir"/>
              </a:rPr>
              <a:t>Backlog: Word/Excel table.</a:t>
            </a:r>
          </a:p>
          <a:p>
            <a:pPr marL="914400" lvl="1" indent="-457200">
              <a:lnSpc>
                <a:spcPct val="150000"/>
              </a:lnSpc>
              <a:buFont typeface="Arial" panose="020B0604020202020204" pitchFamily="34" charset="0"/>
              <a:buChar char="•"/>
            </a:pPr>
            <a:r>
              <a:rPr lang="en-US" sz="2800" dirty="0">
                <a:latin typeface="Calibir"/>
              </a:rPr>
              <a:t>Diagrams: draw.io, Visio, </a:t>
            </a:r>
            <a:r>
              <a:rPr lang="en-US" sz="2800" dirty="0" err="1">
                <a:latin typeface="Calibir"/>
              </a:rPr>
              <a:t>PlantUML</a:t>
            </a:r>
            <a:r>
              <a:rPr lang="en-US" sz="2800" dirty="0">
                <a:latin typeface="Calibir"/>
              </a:rPr>
              <a:t>, </a:t>
            </a:r>
            <a:r>
              <a:rPr lang="en-US" sz="2800" dirty="0" err="1">
                <a:latin typeface="Calibir"/>
              </a:rPr>
              <a:t>Lucidchart</a:t>
            </a:r>
            <a:r>
              <a:rPr lang="en-US" sz="2800" dirty="0">
                <a:latin typeface="Calibir"/>
              </a:rPr>
              <a:t>, </a:t>
            </a:r>
            <a:r>
              <a:rPr lang="en-US" sz="2800" dirty="0" err="1">
                <a:latin typeface="Calibir"/>
              </a:rPr>
              <a:t>SmartDraw</a:t>
            </a:r>
            <a:r>
              <a:rPr lang="en-US" sz="2800" dirty="0">
                <a:latin typeface="Calibir"/>
              </a:rPr>
              <a:t>, even Word shapes.</a:t>
            </a:r>
          </a:p>
          <a:p>
            <a:pPr marL="914400" lvl="1" indent="-457200">
              <a:lnSpc>
                <a:spcPct val="150000"/>
              </a:lnSpc>
              <a:buFont typeface="Arial" panose="020B0604020202020204" pitchFamily="34" charset="0"/>
              <a:buChar char="•"/>
            </a:pPr>
            <a:r>
              <a:rPr lang="en-US" sz="2800" dirty="0">
                <a:latin typeface="Calibir"/>
              </a:rPr>
              <a:t>No coding required in Part 1 (coding begins in Part 2).</a:t>
            </a:r>
          </a:p>
        </p:txBody>
      </p:sp>
      <p:sp>
        <p:nvSpPr>
          <p:cNvPr id="2" name="Title 1">
            <a:extLst>
              <a:ext uri="{FF2B5EF4-FFF2-40B4-BE49-F238E27FC236}">
                <a16:creationId xmlns:a16="http://schemas.microsoft.com/office/drawing/2014/main" id="{EBDDD5CC-86BB-2C0D-5E12-5B8BC82B3D4A}"/>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Tree>
    <p:extLst>
      <p:ext uri="{BB962C8B-B14F-4D97-AF65-F5344CB8AC3E}">
        <p14:creationId xmlns:p14="http://schemas.microsoft.com/office/powerpoint/2010/main" val="36590679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DFE3C-33E4-9EF6-77CF-7CEA66B9C1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79FF9C-3FF3-2F0E-9897-16D0BB3E3B2E}"/>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2EB4A865-CE72-8D6F-CB03-69BDB97C0E12}"/>
              </a:ext>
            </a:extLst>
          </p:cNvPr>
          <p:cNvSpPr>
            <a:spLocks noChangeArrowheads="1"/>
          </p:cNvSpPr>
          <p:nvPr/>
        </p:nvSpPr>
        <p:spPr bwMode="auto">
          <a:xfrm>
            <a:off x="0" y="492081"/>
            <a:ext cx="6096000" cy="64888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1" i="0" u="none" strike="noStrike" cap="none" normalizeH="0" baseline="0" dirty="0">
                <a:ln>
                  <a:noFill/>
                </a:ln>
                <a:solidFill>
                  <a:schemeClr val="tx1"/>
                </a:solidFill>
                <a:effectLst/>
                <a:latin typeface="Calibir"/>
              </a:rPr>
              <a:t>No coding is required</a:t>
            </a:r>
            <a:r>
              <a:rPr kumimoji="0" lang="en-US" altLang="en-US" sz="2800" b="0" i="0" u="none" strike="noStrike" cap="none" normalizeH="0" baseline="0" dirty="0">
                <a:ln>
                  <a:noFill/>
                </a:ln>
                <a:solidFill>
                  <a:schemeClr val="tx1"/>
                </a:solidFill>
                <a:effectLst/>
                <a:latin typeface="Calibir"/>
              </a:rPr>
              <a:t> in Part 1.</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This Python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example is just an </a:t>
            </a:r>
            <a:br>
              <a:rPr kumimoji="0" lang="en-US" altLang="en-US" sz="2800" b="0" i="0" u="none" strike="noStrike" cap="none" normalizeH="0" baseline="0" dirty="0">
                <a:ln>
                  <a:noFill/>
                </a:ln>
                <a:solidFill>
                  <a:schemeClr val="tx1"/>
                </a:solidFill>
                <a:effectLst/>
                <a:latin typeface="Calibir"/>
              </a:rPr>
            </a:br>
            <a:r>
              <a:rPr kumimoji="0" lang="en-US" altLang="en-US" sz="2800" i="0" u="none" strike="noStrike" cap="none" normalizeH="0" baseline="0" dirty="0">
                <a:ln>
                  <a:noFill/>
                </a:ln>
                <a:solidFill>
                  <a:schemeClr val="tx1"/>
                </a:solidFill>
                <a:effectLst/>
                <a:latin typeface="Calibir"/>
              </a:rPr>
              <a:t>illustrative example t</a:t>
            </a:r>
            <a:r>
              <a:rPr kumimoji="0" lang="en-US" altLang="en-US" sz="2800" b="0" i="0" u="none" strike="noStrike" cap="none" normalizeH="0" baseline="0" dirty="0">
                <a:ln>
                  <a:noFill/>
                </a:ln>
                <a:solidFill>
                  <a:schemeClr val="tx1"/>
                </a:solidFill>
                <a:effectLst/>
                <a:latin typeface="Calibir"/>
              </a:rPr>
              <a:t>o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help you think about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what </a:t>
            </a:r>
            <a:r>
              <a:rPr kumimoji="0" lang="en-US" altLang="en-US" sz="2800" i="0" u="none" strike="noStrike" cap="none" normalizeH="0" baseline="0" dirty="0">
                <a:ln>
                  <a:noFill/>
                </a:ln>
                <a:solidFill>
                  <a:schemeClr val="tx1"/>
                </a:solidFill>
                <a:effectLst/>
                <a:latin typeface="Calibir"/>
              </a:rPr>
              <a:t>attributes</a:t>
            </a:r>
            <a:r>
              <a:rPr kumimoji="0" lang="en-US" altLang="en-US" sz="2800" b="0" i="0" u="none" strike="noStrike" cap="none" normalizeH="0" baseline="0" dirty="0">
                <a:ln>
                  <a:noFill/>
                </a:ln>
                <a:solidFill>
                  <a:schemeClr val="tx1"/>
                </a:solidFill>
                <a:effectLst/>
                <a:latin typeface="Calibir"/>
              </a:rPr>
              <a:t> (like id,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name, email) and </a:t>
            </a:r>
            <a:br>
              <a:rPr kumimoji="0" lang="en-US" altLang="en-US" sz="2800" b="0" i="0" u="none" strike="noStrike" cap="none" normalizeH="0" baseline="0" dirty="0">
                <a:ln>
                  <a:noFill/>
                </a:ln>
                <a:solidFill>
                  <a:schemeClr val="tx1"/>
                </a:solidFill>
                <a:effectLst/>
                <a:latin typeface="Calibir"/>
              </a:rPr>
            </a:br>
            <a:r>
              <a:rPr kumimoji="0" lang="en-US" altLang="en-US" sz="2800" i="0" u="none" strike="noStrike" cap="none" normalizeH="0" baseline="0" dirty="0">
                <a:ln>
                  <a:noFill/>
                </a:ln>
                <a:solidFill>
                  <a:schemeClr val="tx1"/>
                </a:solidFill>
                <a:effectLst/>
                <a:latin typeface="Calibir"/>
              </a:rPr>
              <a:t>methods</a:t>
            </a:r>
            <a:r>
              <a:rPr kumimoji="0" lang="en-US" altLang="en-US" sz="2800" b="0" i="0" u="none" strike="noStrike" cap="none" normalizeH="0" baseline="0" dirty="0">
                <a:ln>
                  <a:noFill/>
                </a:ln>
                <a:solidFill>
                  <a:schemeClr val="tx1"/>
                </a:solidFill>
                <a:effectLst/>
                <a:latin typeface="Calibir"/>
              </a:rPr>
              <a:t> (like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err="1">
                <a:ln>
                  <a:noFill/>
                </a:ln>
                <a:solidFill>
                  <a:schemeClr val="tx1"/>
                </a:solidFill>
                <a:effectLst/>
                <a:latin typeface="Calibir"/>
              </a:rPr>
              <a:t>add_subject</a:t>
            </a:r>
            <a:r>
              <a:rPr kumimoji="0" lang="en-US" altLang="en-US" sz="2800" b="0" i="0" u="none" strike="noStrike" cap="none" normalizeH="0" baseline="0" dirty="0">
                <a:ln>
                  <a:noFill/>
                </a:ln>
                <a:solidFill>
                  <a:schemeClr val="tx1"/>
                </a:solidFill>
                <a:effectLst/>
                <a:latin typeface="Calibir"/>
              </a:rPr>
              <a:t>()) belong in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each class.</a:t>
            </a:r>
          </a:p>
        </p:txBody>
      </p:sp>
      <p:pic>
        <p:nvPicPr>
          <p:cNvPr id="6" name="Picture 5">
            <a:extLst>
              <a:ext uri="{FF2B5EF4-FFF2-40B4-BE49-F238E27FC236}">
                <a16:creationId xmlns:a16="http://schemas.microsoft.com/office/drawing/2014/main" id="{14E81B6E-9823-1F48-DB50-35D7D81D20E6}"/>
              </a:ext>
            </a:extLst>
          </p:cNvPr>
          <p:cNvPicPr>
            <a:picLocks noChangeAspect="1"/>
          </p:cNvPicPr>
          <p:nvPr/>
        </p:nvPicPr>
        <p:blipFill>
          <a:blip r:embed="rId2"/>
          <a:srcRect l="32903" t="13119" r="16775" b="32473"/>
          <a:stretch>
            <a:fillRect/>
          </a:stretch>
        </p:blipFill>
        <p:spPr>
          <a:xfrm>
            <a:off x="4232787" y="1316206"/>
            <a:ext cx="7959213" cy="4840579"/>
          </a:xfrm>
          <a:prstGeom prst="rect">
            <a:avLst/>
          </a:prstGeom>
        </p:spPr>
      </p:pic>
      <p:sp>
        <p:nvSpPr>
          <p:cNvPr id="8" name="TextBox 7">
            <a:extLst>
              <a:ext uri="{FF2B5EF4-FFF2-40B4-BE49-F238E27FC236}">
                <a16:creationId xmlns:a16="http://schemas.microsoft.com/office/drawing/2014/main" id="{85B7C594-2436-E3CC-013F-A53B97435E93}"/>
              </a:ext>
            </a:extLst>
          </p:cNvPr>
          <p:cNvSpPr txBox="1"/>
          <p:nvPr/>
        </p:nvSpPr>
        <p:spPr>
          <a:xfrm>
            <a:off x="4114800" y="6384181"/>
            <a:ext cx="6194322" cy="430887"/>
          </a:xfrm>
          <a:prstGeom prst="rect">
            <a:avLst/>
          </a:prstGeom>
          <a:noFill/>
        </p:spPr>
        <p:txBody>
          <a:bodyPr wrap="square">
            <a:spAutoFit/>
          </a:bodyPr>
          <a:lstStyle/>
          <a:p>
            <a:r>
              <a:rPr lang="en-US" sz="2200" dirty="0">
                <a:latin typeface="Calibir"/>
              </a:rPr>
              <a:t>JavaFX students can use similar class structure.</a:t>
            </a:r>
            <a:endParaRPr lang="en-AU" sz="2200" dirty="0">
              <a:latin typeface="Calibir"/>
            </a:endParaRPr>
          </a:p>
        </p:txBody>
      </p:sp>
    </p:spTree>
    <p:extLst>
      <p:ext uri="{BB962C8B-B14F-4D97-AF65-F5344CB8AC3E}">
        <p14:creationId xmlns:p14="http://schemas.microsoft.com/office/powerpoint/2010/main" val="38402101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A68C8-9C1B-CB34-BF75-DCA97415C1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708A62-EB1E-5DA4-9D32-BC16F18E5D5A}"/>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45F257D2-EF40-0838-FE16-868F98EFBE43}"/>
              </a:ext>
            </a:extLst>
          </p:cNvPr>
          <p:cNvSpPr>
            <a:spLocks noChangeArrowheads="1"/>
          </p:cNvSpPr>
          <p:nvPr/>
        </p:nvSpPr>
        <p:spPr bwMode="auto">
          <a:xfrm>
            <a:off x="53542" y="1050842"/>
            <a:ext cx="12084915"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For All Steps</a:t>
            </a:r>
          </a:p>
          <a:p>
            <a:pPr>
              <a:lnSpc>
                <a:spcPct val="150000"/>
              </a:lnSpc>
            </a:pPr>
            <a:r>
              <a:rPr lang="en-US" sz="2800" dirty="0">
                <a:latin typeface="Calibir"/>
              </a:rPr>
              <a:t>Students can use drawing tools (draw.io, </a:t>
            </a:r>
            <a:r>
              <a:rPr lang="en-US" sz="2800" dirty="0" err="1">
                <a:latin typeface="Calibir"/>
              </a:rPr>
              <a:t>Lucidchart</a:t>
            </a:r>
            <a:r>
              <a:rPr lang="en-US" sz="2800" dirty="0">
                <a:latin typeface="Calibir"/>
              </a:rPr>
              <a:t>, Visio, or even Word’s SmartArt/shapes) for:</a:t>
            </a:r>
          </a:p>
          <a:p>
            <a:pPr>
              <a:lnSpc>
                <a:spcPct val="150000"/>
              </a:lnSpc>
            </a:pPr>
            <a:r>
              <a:rPr lang="en-US" sz="2800" b="1" dirty="0">
                <a:latin typeface="Calibir"/>
              </a:rPr>
              <a:t>Step 2:</a:t>
            </a:r>
            <a:r>
              <a:rPr lang="en-US" sz="2800" dirty="0">
                <a:latin typeface="Calibir"/>
              </a:rPr>
              <a:t> Backlog → table in Word/Excel (not a diagram).</a:t>
            </a:r>
          </a:p>
          <a:p>
            <a:pPr>
              <a:lnSpc>
                <a:spcPct val="150000"/>
              </a:lnSpc>
            </a:pPr>
            <a:r>
              <a:rPr lang="en-US" sz="2800" b="1" dirty="0">
                <a:latin typeface="Calibir"/>
              </a:rPr>
              <a:t>Step 3:</a:t>
            </a:r>
            <a:r>
              <a:rPr lang="en-US" sz="2800" dirty="0">
                <a:latin typeface="Calibir"/>
              </a:rPr>
              <a:t> Use case diagram → draw.io or </a:t>
            </a:r>
            <a:r>
              <a:rPr lang="en-US" sz="2800" dirty="0" err="1">
                <a:latin typeface="Calibir"/>
              </a:rPr>
              <a:t>PlantUML</a:t>
            </a:r>
            <a:r>
              <a:rPr lang="en-US" sz="2800" dirty="0">
                <a:latin typeface="Calibir"/>
              </a:rPr>
              <a:t>.</a:t>
            </a:r>
          </a:p>
          <a:p>
            <a:pPr>
              <a:lnSpc>
                <a:spcPct val="150000"/>
              </a:lnSpc>
            </a:pPr>
            <a:r>
              <a:rPr lang="en-US" sz="2800" b="1" dirty="0">
                <a:latin typeface="Calibir"/>
              </a:rPr>
              <a:t>Step 4:</a:t>
            </a:r>
            <a:r>
              <a:rPr lang="en-US" sz="2800" dirty="0">
                <a:latin typeface="Calibir"/>
              </a:rPr>
              <a:t> Class diagram → draw.io, Visio, or </a:t>
            </a:r>
            <a:r>
              <a:rPr lang="en-US" sz="2800" dirty="0" err="1">
                <a:latin typeface="Calibir"/>
              </a:rPr>
              <a:t>PlantUML</a:t>
            </a:r>
            <a:r>
              <a:rPr lang="en-US" sz="2800" dirty="0">
                <a:latin typeface="Calibir"/>
              </a:rPr>
              <a:t>.</a:t>
            </a:r>
          </a:p>
          <a:p>
            <a:pPr>
              <a:lnSpc>
                <a:spcPct val="150000"/>
              </a:lnSpc>
            </a:pPr>
            <a:r>
              <a:rPr lang="en-US" sz="2800" i="1" dirty="0">
                <a:latin typeface="Calibir"/>
              </a:rPr>
              <a:t>Students do not need to write code for diagrams. Coding only starts in Part 2.</a:t>
            </a:r>
            <a:endParaRPr lang="en-US" sz="2800" dirty="0">
              <a:latin typeface="Calibir"/>
            </a:endParaRPr>
          </a:p>
        </p:txBody>
      </p:sp>
    </p:spTree>
    <p:extLst>
      <p:ext uri="{BB962C8B-B14F-4D97-AF65-F5344CB8AC3E}">
        <p14:creationId xmlns:p14="http://schemas.microsoft.com/office/powerpoint/2010/main" val="42704683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6FBD2-B13B-8438-5F6C-66F947D4F5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3099F2-F462-1B6B-B3E7-CA99952DE61F}"/>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C1C6551D-0A6A-014B-BA3E-D1744D37AE31}"/>
              </a:ext>
            </a:extLst>
          </p:cNvPr>
          <p:cNvSpPr>
            <a:spLocks noChangeArrowheads="1"/>
          </p:cNvSpPr>
          <p:nvPr/>
        </p:nvSpPr>
        <p:spPr bwMode="auto">
          <a:xfrm>
            <a:off x="77424" y="672662"/>
            <a:ext cx="7814383"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highlight>
                  <a:srgbClr val="FFFF00"/>
                </a:highlight>
                <a:latin typeface="Calibir"/>
              </a:rPr>
              <a:t>Question and Answer (Canvas Inbox, Live, or Email)</a:t>
            </a:r>
            <a:endParaRPr lang="en-US" altLang="en-US" sz="2800" dirty="0">
              <a:highlight>
                <a:srgbClr val="FFFF00"/>
              </a:highlight>
              <a:latin typeface="Calibir"/>
            </a:endParaRPr>
          </a:p>
        </p:txBody>
      </p:sp>
      <p:sp>
        <p:nvSpPr>
          <p:cNvPr id="4" name="TextBox 3">
            <a:extLst>
              <a:ext uri="{FF2B5EF4-FFF2-40B4-BE49-F238E27FC236}">
                <a16:creationId xmlns:a16="http://schemas.microsoft.com/office/drawing/2014/main" id="{53A3B9E9-40E2-F5BE-7D9D-FA25C77019F9}"/>
              </a:ext>
            </a:extLst>
          </p:cNvPr>
          <p:cNvSpPr txBox="1"/>
          <p:nvPr/>
        </p:nvSpPr>
        <p:spPr>
          <a:xfrm>
            <a:off x="0" y="1513491"/>
            <a:ext cx="12002814" cy="3257174"/>
          </a:xfrm>
          <a:prstGeom prst="rect">
            <a:avLst/>
          </a:prstGeom>
          <a:noFill/>
        </p:spPr>
        <p:txBody>
          <a:bodyPr wrap="square">
            <a:spAutoFit/>
          </a:bodyPr>
          <a:lstStyle/>
          <a:p>
            <a:pPr algn="l" rtl="0" fontAlgn="base">
              <a:lnSpc>
                <a:spcPct val="150000"/>
              </a:lnSpc>
              <a:buNone/>
            </a:pPr>
            <a:r>
              <a:rPr lang="en-US" sz="2800" b="0" i="0" dirty="0">
                <a:solidFill>
                  <a:srgbClr val="242424"/>
                </a:solidFill>
                <a:effectLst/>
                <a:latin typeface="Calibir"/>
              </a:rPr>
              <a:t>Good morning,</a:t>
            </a:r>
          </a:p>
          <a:p>
            <a:pPr algn="l" rtl="0" fontAlgn="base">
              <a:lnSpc>
                <a:spcPct val="150000"/>
              </a:lnSpc>
              <a:buNone/>
            </a:pPr>
            <a:r>
              <a:rPr lang="en-US" sz="2800" b="0" i="0" dirty="0">
                <a:solidFill>
                  <a:srgbClr val="242424"/>
                </a:solidFill>
                <a:effectLst/>
                <a:latin typeface="Calibir"/>
              </a:rPr>
              <a:t>Sir, I have a question for are we allowed to use other drawing app other than Visual diagrams? </a:t>
            </a:r>
          </a:p>
          <a:p>
            <a:pPr algn="l" rtl="0" fontAlgn="base">
              <a:lnSpc>
                <a:spcPct val="150000"/>
              </a:lnSpc>
              <a:buNone/>
            </a:pPr>
            <a:r>
              <a:rPr lang="en-US" sz="2800" b="0" i="0" dirty="0">
                <a:solidFill>
                  <a:srgbClr val="242424"/>
                </a:solidFill>
                <a:effectLst/>
                <a:latin typeface="Calibir"/>
              </a:rPr>
              <a:t>Hope you have a great day!</a:t>
            </a:r>
          </a:p>
          <a:p>
            <a:pPr algn="l" rtl="0" fontAlgn="base">
              <a:lnSpc>
                <a:spcPct val="150000"/>
              </a:lnSpc>
              <a:buNone/>
            </a:pPr>
            <a:r>
              <a:rPr lang="en-US" sz="2800" b="0" i="0" dirty="0">
                <a:solidFill>
                  <a:srgbClr val="242424"/>
                </a:solidFill>
                <a:effectLst/>
                <a:latin typeface="Calibir"/>
              </a:rPr>
              <a:t>Kind regards,</a:t>
            </a:r>
          </a:p>
        </p:txBody>
      </p:sp>
    </p:spTree>
    <p:extLst>
      <p:ext uri="{BB962C8B-B14F-4D97-AF65-F5344CB8AC3E}">
        <p14:creationId xmlns:p14="http://schemas.microsoft.com/office/powerpoint/2010/main" val="10632220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AF6E-9E28-FD0A-B5E9-E9FD538AD3D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CB0F56F-8E70-2F56-46A5-E7330082D501}"/>
              </a:ext>
            </a:extLst>
          </p:cNvPr>
          <p:cNvSpPr txBox="1"/>
          <p:nvPr/>
        </p:nvSpPr>
        <p:spPr>
          <a:xfrm>
            <a:off x="0" y="-145761"/>
            <a:ext cx="12192000" cy="7149521"/>
          </a:xfrm>
          <a:prstGeom prst="rect">
            <a:avLst/>
          </a:prstGeom>
          <a:noFill/>
        </p:spPr>
        <p:txBody>
          <a:bodyPr wrap="square">
            <a:spAutoFit/>
          </a:bodyPr>
          <a:lstStyle/>
          <a:p>
            <a:pPr>
              <a:lnSpc>
                <a:spcPct val="150000"/>
              </a:lnSpc>
              <a:buNone/>
            </a:pPr>
            <a:r>
              <a:rPr lang="en-US" sz="2200" b="1" dirty="0">
                <a:latin typeface="Calibir"/>
              </a:rPr>
              <a:t>Answer:</a:t>
            </a:r>
          </a:p>
          <a:p>
            <a:pPr>
              <a:lnSpc>
                <a:spcPct val="150000"/>
              </a:lnSpc>
              <a:buNone/>
            </a:pPr>
            <a:r>
              <a:rPr lang="en-US" sz="2200" dirty="0">
                <a:latin typeface="Calibir"/>
              </a:rPr>
              <a:t>Thank you for your question. For Assessment 1 – Part 1, you are not limited to one specific drawing tool. You may use draw.io (diagrams.net), Microsoft Visio, </a:t>
            </a:r>
            <a:r>
              <a:rPr lang="en-US" sz="2200" dirty="0" err="1">
                <a:latin typeface="Calibir"/>
              </a:rPr>
              <a:t>Lucidchart</a:t>
            </a:r>
            <a:r>
              <a:rPr lang="en-US" sz="2200" dirty="0">
                <a:latin typeface="Calibir"/>
              </a:rPr>
              <a:t>, or any other appropriate software to create your Use Case Diagram and Class Diagram, as long as the diagrams are clear, properly labelled, and consistent with the requirements.</a:t>
            </a:r>
          </a:p>
          <a:p>
            <a:pPr>
              <a:lnSpc>
                <a:spcPct val="150000"/>
              </a:lnSpc>
              <a:buNone/>
            </a:pPr>
            <a:r>
              <a:rPr lang="en-US" sz="2200" dirty="0">
                <a:latin typeface="Calibir"/>
              </a:rPr>
              <a:t>Please remember that this part of the assessment focuses on analysis and design, so you are not required to write any code. What matters most is that your submission includes:</a:t>
            </a:r>
          </a:p>
          <a:p>
            <a:pPr marL="623888" indent="-342900">
              <a:lnSpc>
                <a:spcPct val="150000"/>
              </a:lnSpc>
              <a:buFont typeface="Arial" panose="020B0604020202020204" pitchFamily="34" charset="0"/>
              <a:buChar char="•"/>
            </a:pPr>
            <a:r>
              <a:rPr lang="en-US" sz="2200" dirty="0">
                <a:latin typeface="Calibir"/>
              </a:rPr>
              <a:t>A correct user-story backlog (in table format),</a:t>
            </a:r>
          </a:p>
          <a:p>
            <a:pPr marL="623888" indent="-342900">
              <a:lnSpc>
                <a:spcPct val="150000"/>
              </a:lnSpc>
              <a:buFont typeface="Arial" panose="020B0604020202020204" pitchFamily="34" charset="0"/>
              <a:buChar char="•"/>
            </a:pPr>
            <a:r>
              <a:rPr lang="en-US" sz="2200" dirty="0">
                <a:latin typeface="Calibir"/>
              </a:rPr>
              <a:t>A clear UML use case diagram with actors and relationships,</a:t>
            </a:r>
          </a:p>
          <a:p>
            <a:pPr marL="623888" indent="-342900">
              <a:lnSpc>
                <a:spcPct val="150000"/>
              </a:lnSpc>
              <a:buFont typeface="Arial" panose="020B0604020202020204" pitchFamily="34" charset="0"/>
              <a:buChar char="•"/>
            </a:pPr>
            <a:r>
              <a:rPr lang="en-US" sz="2200" dirty="0">
                <a:latin typeface="Calibir"/>
              </a:rPr>
              <a:t>A clear UML class diagram with attributes, methods, and relationships,</a:t>
            </a:r>
          </a:p>
          <a:p>
            <a:pPr marL="623888" indent="-342900">
              <a:lnSpc>
                <a:spcPct val="150000"/>
              </a:lnSpc>
              <a:buFont typeface="Arial" panose="020B0604020202020204" pitchFamily="34" charset="0"/>
              <a:buChar char="•"/>
            </a:pPr>
            <a:r>
              <a:rPr lang="en-US" sz="2200" dirty="0">
                <a:latin typeface="Calibir"/>
              </a:rPr>
              <a:t>Explanations for each part.</a:t>
            </a:r>
          </a:p>
          <a:p>
            <a:pPr>
              <a:lnSpc>
                <a:spcPct val="150000"/>
              </a:lnSpc>
              <a:buNone/>
            </a:pPr>
            <a:r>
              <a:rPr lang="en-US" sz="2200" dirty="0">
                <a:latin typeface="Calibir"/>
              </a:rPr>
              <a:t>You are free to choose whichever diagramming tool you are most comfortable with.</a:t>
            </a:r>
          </a:p>
          <a:p>
            <a:pPr>
              <a:lnSpc>
                <a:spcPct val="150000"/>
              </a:lnSpc>
              <a:buNone/>
            </a:pPr>
            <a:r>
              <a:rPr lang="en-US" sz="2200" dirty="0">
                <a:latin typeface="Calibir"/>
              </a:rPr>
              <a:t>Kind regards,</a:t>
            </a:r>
            <a:br>
              <a:rPr lang="en-US" sz="2200" dirty="0">
                <a:latin typeface="Calibir"/>
              </a:rPr>
            </a:br>
            <a:r>
              <a:rPr lang="en-US" sz="2200" dirty="0">
                <a:latin typeface="Calibir"/>
              </a:rPr>
              <a:t>Dr. Farshid Keivanian</a:t>
            </a:r>
          </a:p>
        </p:txBody>
      </p:sp>
    </p:spTree>
    <p:extLst>
      <p:ext uri="{BB962C8B-B14F-4D97-AF65-F5344CB8AC3E}">
        <p14:creationId xmlns:p14="http://schemas.microsoft.com/office/powerpoint/2010/main" val="36441074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11E6B-169D-BEED-9B43-9C96A3BF3B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553BBD-9377-349F-BFDE-ADF185909C58}"/>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5" name="Rectangle 1">
            <a:extLst>
              <a:ext uri="{FF2B5EF4-FFF2-40B4-BE49-F238E27FC236}">
                <a16:creationId xmlns:a16="http://schemas.microsoft.com/office/drawing/2014/main" id="{E78792C2-0C07-99F1-FDD5-5FB5F34DFABE}"/>
              </a:ext>
            </a:extLst>
          </p:cNvPr>
          <p:cNvSpPr>
            <a:spLocks noChangeArrowheads="1"/>
          </p:cNvSpPr>
          <p:nvPr/>
        </p:nvSpPr>
        <p:spPr bwMode="auto">
          <a:xfrm>
            <a:off x="109687" y="1154082"/>
            <a:ext cx="11972625"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Goal</a:t>
            </a:r>
          </a:p>
          <a:p>
            <a:pPr>
              <a:lnSpc>
                <a:spcPct val="150000"/>
              </a:lnSpc>
            </a:pPr>
            <a:r>
              <a:rPr lang="en-US" sz="2800" dirty="0">
                <a:latin typeface="Calibir"/>
              </a:rPr>
              <a:t>By the end of this lab, students should be able to:</a:t>
            </a:r>
          </a:p>
          <a:p>
            <a:pPr marL="806450" indent="-457200">
              <a:lnSpc>
                <a:spcPct val="150000"/>
              </a:lnSpc>
              <a:buFont typeface="Arial" panose="020B0604020202020204" pitchFamily="34" charset="0"/>
              <a:buChar char="•"/>
            </a:pPr>
            <a:r>
              <a:rPr lang="en-US" sz="2800" dirty="0">
                <a:latin typeface="Calibir"/>
              </a:rPr>
              <a:t>Identify classes, attributes, methods from a case description.</a:t>
            </a:r>
          </a:p>
          <a:p>
            <a:pPr marL="806450" indent="-457200">
              <a:lnSpc>
                <a:spcPct val="150000"/>
              </a:lnSpc>
              <a:buFont typeface="Arial" panose="020B0604020202020204" pitchFamily="34" charset="0"/>
              <a:buChar char="•"/>
            </a:pPr>
            <a:r>
              <a:rPr lang="en-US" sz="2800" dirty="0">
                <a:latin typeface="Calibir"/>
              </a:rPr>
              <a:t>Draw associations with multiplicity.</a:t>
            </a:r>
          </a:p>
          <a:p>
            <a:pPr marL="806450" indent="-457200">
              <a:lnSpc>
                <a:spcPct val="150000"/>
              </a:lnSpc>
              <a:buFont typeface="Arial" panose="020B0604020202020204" pitchFamily="34" charset="0"/>
              <a:buChar char="•"/>
            </a:pPr>
            <a:r>
              <a:rPr lang="en-US" sz="2800" dirty="0">
                <a:latin typeface="Calibir"/>
              </a:rPr>
              <a:t>Use generalization/specialization (inheritance).</a:t>
            </a:r>
          </a:p>
          <a:p>
            <a:pPr marL="806450" indent="-457200">
              <a:lnSpc>
                <a:spcPct val="150000"/>
              </a:lnSpc>
              <a:buFont typeface="Arial" panose="020B0604020202020204" pitchFamily="34" charset="0"/>
              <a:buChar char="•"/>
            </a:pPr>
            <a:r>
              <a:rPr lang="en-US" sz="2800" dirty="0">
                <a:latin typeface="Calibir"/>
              </a:rPr>
              <a:t>Design a small class diagram that mirrors the complexity of their group assignment.</a:t>
            </a:r>
          </a:p>
        </p:txBody>
      </p:sp>
    </p:spTree>
    <p:extLst>
      <p:ext uri="{BB962C8B-B14F-4D97-AF65-F5344CB8AC3E}">
        <p14:creationId xmlns:p14="http://schemas.microsoft.com/office/powerpoint/2010/main" val="23460746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36ACF-25CE-B156-698E-1F53E6FC28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077236-2049-C134-ED03-0774B3227797}"/>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5" name="Rectangle 1">
            <a:extLst>
              <a:ext uri="{FF2B5EF4-FFF2-40B4-BE49-F238E27FC236}">
                <a16:creationId xmlns:a16="http://schemas.microsoft.com/office/drawing/2014/main" id="{61723229-A297-82FA-F984-11E9D12C4677}"/>
              </a:ext>
            </a:extLst>
          </p:cNvPr>
          <p:cNvSpPr>
            <a:spLocks noChangeArrowheads="1"/>
          </p:cNvSpPr>
          <p:nvPr/>
        </p:nvSpPr>
        <p:spPr bwMode="auto">
          <a:xfrm>
            <a:off x="0" y="801901"/>
            <a:ext cx="11972625"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Example 1 – Scenario: Library System</a:t>
            </a:r>
          </a:p>
          <a:p>
            <a:pPr lvl="0" eaLnBrk="0" fontAlgn="base" hangingPunct="0">
              <a:lnSpc>
                <a:spcPct val="150000"/>
              </a:lnSpc>
              <a:spcBef>
                <a:spcPct val="0"/>
              </a:spcBef>
              <a:spcAft>
                <a:spcPct val="0"/>
              </a:spcAft>
            </a:pPr>
            <a:r>
              <a:rPr lang="en-US" altLang="en-US" sz="2800" dirty="0">
                <a:latin typeface="Calibir"/>
              </a:rPr>
              <a:t>Scenario (mini case study)</a:t>
            </a:r>
          </a:p>
          <a:p>
            <a:pPr lvl="0" eaLnBrk="0" fontAlgn="base" hangingPunct="0">
              <a:lnSpc>
                <a:spcPct val="150000"/>
              </a:lnSpc>
              <a:spcBef>
                <a:spcPct val="0"/>
              </a:spcBef>
              <a:spcAft>
                <a:spcPct val="0"/>
              </a:spcAft>
            </a:pPr>
            <a:r>
              <a:rPr lang="en-US" altLang="en-US" sz="2800" dirty="0">
                <a:latin typeface="Calibir"/>
              </a:rPr>
              <a:t>A Library has many Books.</a:t>
            </a:r>
          </a:p>
          <a:p>
            <a:pPr lvl="0" eaLnBrk="0" fontAlgn="base" hangingPunct="0">
              <a:lnSpc>
                <a:spcPct val="150000"/>
              </a:lnSpc>
              <a:spcBef>
                <a:spcPct val="0"/>
              </a:spcBef>
              <a:spcAft>
                <a:spcPct val="0"/>
              </a:spcAft>
            </a:pPr>
            <a:r>
              <a:rPr lang="en-US" altLang="en-US" sz="2800" dirty="0">
                <a:latin typeface="Calibir"/>
              </a:rPr>
              <a:t>The Library has name and address</a:t>
            </a:r>
          </a:p>
        </p:txBody>
      </p:sp>
      <p:sp>
        <p:nvSpPr>
          <p:cNvPr id="4" name="Rectangle 2">
            <a:extLst>
              <a:ext uri="{FF2B5EF4-FFF2-40B4-BE49-F238E27FC236}">
                <a16:creationId xmlns:a16="http://schemas.microsoft.com/office/drawing/2014/main" id="{FA8F0D9F-6AD5-F719-CCB8-9A8ACEB2DA24}"/>
              </a:ext>
            </a:extLst>
          </p:cNvPr>
          <p:cNvSpPr>
            <a:spLocks noChangeArrowheads="1"/>
          </p:cNvSpPr>
          <p:nvPr/>
        </p:nvSpPr>
        <p:spPr bwMode="auto">
          <a:xfrm>
            <a:off x="0" y="3541983"/>
            <a:ext cx="4762522"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Library</a:t>
            </a:r>
          </a:p>
          <a:p>
            <a:pPr marL="809625"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Attributes: name, address</a:t>
            </a:r>
          </a:p>
          <a:p>
            <a:pPr marL="809625"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Relationships:</a:t>
            </a:r>
          </a:p>
          <a:p>
            <a:pPr marL="1166813"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has many Books → 1..*</a:t>
            </a:r>
          </a:p>
        </p:txBody>
      </p:sp>
    </p:spTree>
    <p:extLst>
      <p:ext uri="{BB962C8B-B14F-4D97-AF65-F5344CB8AC3E}">
        <p14:creationId xmlns:p14="http://schemas.microsoft.com/office/powerpoint/2010/main" val="111555508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6EAF58-9D93-B7F3-88F8-F5BDB044CA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296FFE-1229-1B78-F30E-C2D79146F12F}"/>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5" name="Rectangle 1">
            <a:extLst>
              <a:ext uri="{FF2B5EF4-FFF2-40B4-BE49-F238E27FC236}">
                <a16:creationId xmlns:a16="http://schemas.microsoft.com/office/drawing/2014/main" id="{6D544860-04A1-9F93-4F5B-EA1F53212892}"/>
              </a:ext>
            </a:extLst>
          </p:cNvPr>
          <p:cNvSpPr>
            <a:spLocks noChangeArrowheads="1"/>
          </p:cNvSpPr>
          <p:nvPr/>
        </p:nvSpPr>
        <p:spPr bwMode="auto">
          <a:xfrm>
            <a:off x="0" y="897147"/>
            <a:ext cx="11972625"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Each Book can be borrowed by one Member at a time.</a:t>
            </a:r>
          </a:p>
          <a:p>
            <a:pPr lvl="0" eaLnBrk="0" fontAlgn="base" hangingPunct="0">
              <a:lnSpc>
                <a:spcPct val="150000"/>
              </a:lnSpc>
              <a:spcBef>
                <a:spcPct val="0"/>
              </a:spcBef>
              <a:spcAft>
                <a:spcPct val="0"/>
              </a:spcAft>
            </a:pPr>
            <a:r>
              <a:rPr lang="en-US" altLang="en-US" sz="2800" dirty="0">
                <a:latin typeface="Calibir"/>
              </a:rPr>
              <a:t>Each book has title, </a:t>
            </a:r>
            <a:r>
              <a:rPr lang="en-US" altLang="en-US" sz="2800" dirty="0" err="1">
                <a:latin typeface="Calibir"/>
              </a:rPr>
              <a:t>isbn</a:t>
            </a:r>
            <a:r>
              <a:rPr lang="en-US" altLang="en-US" sz="2800" dirty="0">
                <a:latin typeface="Calibir"/>
              </a:rPr>
              <a:t>, status.</a:t>
            </a:r>
          </a:p>
        </p:txBody>
      </p:sp>
      <p:sp>
        <p:nvSpPr>
          <p:cNvPr id="3" name="Rectangle 1">
            <a:extLst>
              <a:ext uri="{FF2B5EF4-FFF2-40B4-BE49-F238E27FC236}">
                <a16:creationId xmlns:a16="http://schemas.microsoft.com/office/drawing/2014/main" id="{0665AC4F-D9E8-7972-FE75-AA1A34D84796}"/>
              </a:ext>
            </a:extLst>
          </p:cNvPr>
          <p:cNvSpPr>
            <a:spLocks noChangeArrowheads="1"/>
          </p:cNvSpPr>
          <p:nvPr/>
        </p:nvSpPr>
        <p:spPr bwMode="auto">
          <a:xfrm>
            <a:off x="0" y="2439813"/>
            <a:ext cx="7599516"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Book</a:t>
            </a:r>
            <a:endParaRPr kumimoji="0" lang="en-US" altLang="en-US" sz="2800" b="0" i="0" u="none" strike="noStrike" cap="none" normalizeH="0" baseline="0" dirty="0">
              <a:ln>
                <a:noFill/>
              </a:ln>
              <a:solidFill>
                <a:schemeClr val="tx1"/>
              </a:solidFill>
              <a:effectLst/>
              <a:latin typeface="Calibir"/>
            </a:endParaRPr>
          </a:p>
          <a:p>
            <a:pPr marL="714375"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Attributes: title, </a:t>
            </a:r>
            <a:r>
              <a:rPr kumimoji="0" lang="en-US" altLang="en-US" sz="2800" b="0" i="0" u="none" strike="noStrike" cap="none" normalizeH="0" baseline="0" dirty="0" err="1">
                <a:ln>
                  <a:noFill/>
                </a:ln>
                <a:solidFill>
                  <a:schemeClr val="tx1"/>
                </a:solidFill>
                <a:effectLst/>
                <a:latin typeface="Calibir"/>
              </a:rPr>
              <a:t>isbn</a:t>
            </a:r>
            <a:r>
              <a:rPr kumimoji="0" lang="en-US" altLang="en-US" sz="2800" b="0" i="0" u="none" strike="noStrike" cap="none" normalizeH="0" baseline="0" dirty="0">
                <a:ln>
                  <a:noFill/>
                </a:ln>
                <a:solidFill>
                  <a:schemeClr val="tx1"/>
                </a:solidFill>
                <a:effectLst/>
                <a:latin typeface="Calibir"/>
              </a:rPr>
              <a:t>, status</a:t>
            </a:r>
          </a:p>
          <a:p>
            <a:pPr marL="714375"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Relationships:</a:t>
            </a:r>
          </a:p>
          <a:p>
            <a:pPr marL="1071563"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tab pos="1071563" algn="l"/>
              </a:tabLst>
            </a:pPr>
            <a:r>
              <a:rPr kumimoji="0" lang="en-US" altLang="en-US" sz="2800" b="0" i="0" u="none" strike="noStrike" cap="none" normalizeH="0" baseline="0" dirty="0">
                <a:ln>
                  <a:noFill/>
                </a:ln>
                <a:solidFill>
                  <a:schemeClr val="tx1"/>
                </a:solidFill>
                <a:effectLst/>
                <a:latin typeface="Calibir"/>
              </a:rPr>
              <a:t>Borrowed by </a:t>
            </a:r>
            <a:r>
              <a:rPr kumimoji="0" lang="en-US" altLang="en-US" sz="2800" i="0" u="none" strike="noStrike" cap="none" normalizeH="0" baseline="0" dirty="0">
                <a:ln>
                  <a:noFill/>
                </a:ln>
                <a:solidFill>
                  <a:schemeClr val="tx1"/>
                </a:solidFill>
                <a:effectLst/>
                <a:latin typeface="Calibir"/>
              </a:rPr>
              <a:t>one Member at a time </a:t>
            </a:r>
            <a:r>
              <a:rPr kumimoji="0" lang="en-US" altLang="en-US" sz="2800" b="0" i="0" u="none" strike="noStrike" cap="none" normalizeH="0" baseline="0" dirty="0">
                <a:ln>
                  <a:noFill/>
                </a:ln>
                <a:solidFill>
                  <a:schemeClr val="tx1"/>
                </a:solidFill>
                <a:effectLst/>
                <a:latin typeface="Calibir"/>
              </a:rPr>
              <a:t>→ 0..1</a:t>
            </a:r>
          </a:p>
        </p:txBody>
      </p:sp>
    </p:spTree>
    <p:extLst>
      <p:ext uri="{BB962C8B-B14F-4D97-AF65-F5344CB8AC3E}">
        <p14:creationId xmlns:p14="http://schemas.microsoft.com/office/powerpoint/2010/main" val="366759986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50C43-24F0-5B14-BDBA-5B97762D6B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8F8EED-D331-2D61-B355-DD752D3425E8}"/>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5" name="Rectangle 1">
            <a:extLst>
              <a:ext uri="{FF2B5EF4-FFF2-40B4-BE49-F238E27FC236}">
                <a16:creationId xmlns:a16="http://schemas.microsoft.com/office/drawing/2014/main" id="{50A3F843-6CE2-5A98-DF51-FB3F77A5D3D3}"/>
              </a:ext>
            </a:extLst>
          </p:cNvPr>
          <p:cNvSpPr>
            <a:spLocks noChangeArrowheads="1"/>
          </p:cNvSpPr>
          <p:nvPr/>
        </p:nvSpPr>
        <p:spPr bwMode="auto">
          <a:xfrm>
            <a:off x="109687" y="672662"/>
            <a:ext cx="11972625"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Members can borrow maximum 5 books.</a:t>
            </a:r>
          </a:p>
          <a:p>
            <a:pPr lvl="0" eaLnBrk="0" fontAlgn="base" hangingPunct="0">
              <a:lnSpc>
                <a:spcPct val="150000"/>
              </a:lnSpc>
              <a:spcBef>
                <a:spcPct val="0"/>
              </a:spcBef>
              <a:spcAft>
                <a:spcPct val="0"/>
              </a:spcAft>
            </a:pPr>
            <a:r>
              <a:rPr lang="en-US" altLang="en-US" sz="2800" dirty="0">
                <a:latin typeface="Calibir"/>
              </a:rPr>
              <a:t>Each member has id, name, email.</a:t>
            </a:r>
          </a:p>
        </p:txBody>
      </p:sp>
      <p:sp>
        <p:nvSpPr>
          <p:cNvPr id="3" name="Rectangle 1">
            <a:extLst>
              <a:ext uri="{FF2B5EF4-FFF2-40B4-BE49-F238E27FC236}">
                <a16:creationId xmlns:a16="http://schemas.microsoft.com/office/drawing/2014/main" id="{530BD86F-76A5-B41D-D1CF-E7B7066FB414}"/>
              </a:ext>
            </a:extLst>
          </p:cNvPr>
          <p:cNvSpPr>
            <a:spLocks noChangeArrowheads="1"/>
          </p:cNvSpPr>
          <p:nvPr/>
        </p:nvSpPr>
        <p:spPr bwMode="auto">
          <a:xfrm>
            <a:off x="109686" y="1990843"/>
            <a:ext cx="7919191"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Member</a:t>
            </a:r>
            <a:endParaRPr kumimoji="0" lang="en-US" altLang="en-US" sz="2800" b="0" i="0" u="none" strike="noStrike" cap="none" normalizeH="0" baseline="0" dirty="0">
              <a:ln>
                <a:noFill/>
              </a:ln>
              <a:solidFill>
                <a:schemeClr val="tx1"/>
              </a:solidFill>
              <a:effectLst/>
              <a:latin typeface="Calibir"/>
            </a:endParaRP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Attributes: id, name, email</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Constraints:</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Can borrow maximum 5 books </a:t>
            </a:r>
            <a:r>
              <a:rPr kumimoji="0" lang="en-US" altLang="en-US" sz="2800" b="0" i="0" u="none" strike="noStrike" cap="none" normalizeH="0" baseline="0" dirty="0">
                <a:ln>
                  <a:noFill/>
                </a:ln>
                <a:solidFill>
                  <a:schemeClr val="tx1"/>
                </a:solidFill>
                <a:effectLst/>
                <a:latin typeface="Calibir"/>
              </a:rPr>
              <a:t>→ 0..5</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Operations:</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borrow(Book)</a:t>
            </a:r>
          </a:p>
          <a:p>
            <a:pPr marL="457200" marR="0" lvl="1"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return(Book)</a:t>
            </a:r>
          </a:p>
        </p:txBody>
      </p:sp>
    </p:spTree>
    <p:extLst>
      <p:ext uri="{BB962C8B-B14F-4D97-AF65-F5344CB8AC3E}">
        <p14:creationId xmlns:p14="http://schemas.microsoft.com/office/powerpoint/2010/main" val="35374118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A2574-DF99-3036-43F3-DFCD202AB6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14E39B-6042-585E-4603-2129178CD205}"/>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5" name="Rectangle 1">
            <a:extLst>
              <a:ext uri="{FF2B5EF4-FFF2-40B4-BE49-F238E27FC236}">
                <a16:creationId xmlns:a16="http://schemas.microsoft.com/office/drawing/2014/main" id="{65E2B5D1-EE37-8BBC-AABF-D9924C657CB9}"/>
              </a:ext>
            </a:extLst>
          </p:cNvPr>
          <p:cNvSpPr>
            <a:spLocks noChangeArrowheads="1"/>
          </p:cNvSpPr>
          <p:nvPr/>
        </p:nvSpPr>
        <p:spPr bwMode="auto">
          <a:xfrm>
            <a:off x="0" y="672662"/>
            <a:ext cx="11972625"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Library “has many” Books (1..*).</a:t>
            </a:r>
          </a:p>
        </p:txBody>
      </p:sp>
      <p:sp>
        <p:nvSpPr>
          <p:cNvPr id="4" name="TextBox 3">
            <a:extLst>
              <a:ext uri="{FF2B5EF4-FFF2-40B4-BE49-F238E27FC236}">
                <a16:creationId xmlns:a16="http://schemas.microsoft.com/office/drawing/2014/main" id="{5826455C-B9A7-E8F5-A2A3-82960CE223F5}"/>
              </a:ext>
            </a:extLst>
          </p:cNvPr>
          <p:cNvSpPr txBox="1"/>
          <p:nvPr/>
        </p:nvSpPr>
        <p:spPr>
          <a:xfrm>
            <a:off x="0" y="1475204"/>
            <a:ext cx="12192000" cy="1964512"/>
          </a:xfrm>
          <a:prstGeom prst="rect">
            <a:avLst/>
          </a:prstGeom>
          <a:solidFill>
            <a:schemeClr val="bg1"/>
          </a:solidFill>
        </p:spPr>
        <p:txBody>
          <a:bodyPr wrap="square">
            <a:spAutoFit/>
          </a:bodyPr>
          <a:lstStyle/>
          <a:p>
            <a:pPr>
              <a:lnSpc>
                <a:spcPct val="150000"/>
              </a:lnSpc>
            </a:pPr>
            <a:r>
              <a:rPr lang="en-US" sz="2800" i="1" dirty="0">
                <a:latin typeface="Calibir"/>
              </a:rPr>
              <a:t>Library 1.. → Book</a:t>
            </a:r>
            <a:r>
              <a:rPr lang="en-US" sz="2800" dirty="0">
                <a:latin typeface="Calibir"/>
              </a:rPr>
              <a:t>*</a:t>
            </a:r>
          </a:p>
          <a:p>
            <a:pPr>
              <a:lnSpc>
                <a:spcPct val="150000"/>
              </a:lnSpc>
            </a:pPr>
            <a:r>
              <a:rPr lang="en-US" sz="2800" dirty="0">
                <a:latin typeface="Calibir"/>
              </a:rPr>
              <a:t>This means one library must have at least one book (and usually many).</a:t>
            </a:r>
          </a:p>
          <a:p>
            <a:pPr>
              <a:lnSpc>
                <a:spcPct val="150000"/>
              </a:lnSpc>
            </a:pPr>
            <a:r>
              <a:rPr lang="en-US" sz="2800" dirty="0">
                <a:latin typeface="Calibir"/>
              </a:rPr>
              <a:t>Example: The City of Sydney Library has thousands of books, not zero books.</a:t>
            </a:r>
          </a:p>
        </p:txBody>
      </p:sp>
      <p:pic>
        <p:nvPicPr>
          <p:cNvPr id="6" name="Picture 5">
            <a:extLst>
              <a:ext uri="{FF2B5EF4-FFF2-40B4-BE49-F238E27FC236}">
                <a16:creationId xmlns:a16="http://schemas.microsoft.com/office/drawing/2014/main" id="{FD4B852E-373E-CA61-C5A4-AC732A2270BE}"/>
              </a:ext>
            </a:extLst>
          </p:cNvPr>
          <p:cNvPicPr>
            <a:picLocks noChangeAspect="1"/>
          </p:cNvPicPr>
          <p:nvPr/>
        </p:nvPicPr>
        <p:blipFill>
          <a:blip r:embed="rId2"/>
          <a:srcRect t="79129" r="28726"/>
          <a:stretch>
            <a:fillRect/>
          </a:stretch>
        </p:blipFill>
        <p:spPr>
          <a:xfrm>
            <a:off x="8168323" y="6116032"/>
            <a:ext cx="4023677" cy="764870"/>
          </a:xfrm>
          <a:prstGeom prst="rect">
            <a:avLst/>
          </a:prstGeom>
        </p:spPr>
      </p:pic>
      <p:sp>
        <p:nvSpPr>
          <p:cNvPr id="7" name="Rectangle 6">
            <a:extLst>
              <a:ext uri="{FF2B5EF4-FFF2-40B4-BE49-F238E27FC236}">
                <a16:creationId xmlns:a16="http://schemas.microsoft.com/office/drawing/2014/main" id="{73D9D81C-B345-03A0-3249-93746229A6A2}"/>
              </a:ext>
            </a:extLst>
          </p:cNvPr>
          <p:cNvSpPr/>
          <p:nvPr/>
        </p:nvSpPr>
        <p:spPr>
          <a:xfrm>
            <a:off x="8168323"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8" name="Rectangle 7">
            <a:extLst>
              <a:ext uri="{FF2B5EF4-FFF2-40B4-BE49-F238E27FC236}">
                <a16:creationId xmlns:a16="http://schemas.microsoft.com/office/drawing/2014/main" id="{F5ECAC2B-6EF8-987D-5B0B-25E239E4F7EE}"/>
              </a:ext>
            </a:extLst>
          </p:cNvPr>
          <p:cNvSpPr/>
          <p:nvPr/>
        </p:nvSpPr>
        <p:spPr>
          <a:xfrm>
            <a:off x="10552534"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Books</a:t>
            </a:r>
          </a:p>
        </p:txBody>
      </p:sp>
      <p:cxnSp>
        <p:nvCxnSpPr>
          <p:cNvPr id="9" name="Straight Connector 8">
            <a:extLst>
              <a:ext uri="{FF2B5EF4-FFF2-40B4-BE49-F238E27FC236}">
                <a16:creationId xmlns:a16="http://schemas.microsoft.com/office/drawing/2014/main" id="{92E90DD2-43D8-C666-CB47-1DC421F34FE3}"/>
              </a:ext>
            </a:extLst>
          </p:cNvPr>
          <p:cNvCxnSpPr/>
          <p:nvPr/>
        </p:nvCxnSpPr>
        <p:spPr>
          <a:xfrm>
            <a:off x="9282420" y="1008587"/>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C3D035F-FF6A-B417-C1F8-21D541E9FA30}"/>
              </a:ext>
            </a:extLst>
          </p:cNvPr>
          <p:cNvCxnSpPr>
            <a:cxnSpLocks/>
          </p:cNvCxnSpPr>
          <p:nvPr/>
        </p:nvCxnSpPr>
        <p:spPr>
          <a:xfrm flipV="1">
            <a:off x="10364985" y="866696"/>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5C25728E-A7ED-203E-C940-4DA794F71730}"/>
              </a:ext>
            </a:extLst>
          </p:cNvPr>
          <p:cNvCxnSpPr>
            <a:cxnSpLocks/>
          </p:cNvCxnSpPr>
          <p:nvPr/>
        </p:nvCxnSpPr>
        <p:spPr>
          <a:xfrm>
            <a:off x="10364985" y="1008587"/>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20AD1824-F3B3-9037-FEFD-6AA11BCA6896}"/>
              </a:ext>
            </a:extLst>
          </p:cNvPr>
          <p:cNvSpPr/>
          <p:nvPr/>
        </p:nvSpPr>
        <p:spPr>
          <a:xfrm>
            <a:off x="10150396" y="937641"/>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3" name="Straight Connector 12">
            <a:extLst>
              <a:ext uri="{FF2B5EF4-FFF2-40B4-BE49-F238E27FC236}">
                <a16:creationId xmlns:a16="http://schemas.microsoft.com/office/drawing/2014/main" id="{10984F0C-FF1E-C65A-5357-E715AC1C0BB9}"/>
              </a:ext>
            </a:extLst>
          </p:cNvPr>
          <p:cNvCxnSpPr/>
          <p:nvPr/>
        </p:nvCxnSpPr>
        <p:spPr>
          <a:xfrm>
            <a:off x="9349572" y="822029"/>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3AD8A7CE-06C5-5B9E-338B-9799065F13BF}"/>
              </a:ext>
            </a:extLst>
          </p:cNvPr>
          <p:cNvSpPr txBox="1"/>
          <p:nvPr/>
        </p:nvSpPr>
        <p:spPr>
          <a:xfrm>
            <a:off x="9995484" y="-86096"/>
            <a:ext cx="1114098" cy="523220"/>
          </a:xfrm>
          <a:prstGeom prst="rect">
            <a:avLst/>
          </a:prstGeom>
          <a:noFill/>
        </p:spPr>
        <p:txBody>
          <a:bodyPr wrap="square" rtlCol="0">
            <a:spAutoFit/>
          </a:bodyPr>
          <a:lstStyle/>
          <a:p>
            <a:r>
              <a:rPr lang="en-AU" sz="2800" dirty="0">
                <a:latin typeface="Calibir"/>
              </a:rPr>
              <a:t>(1, M)</a:t>
            </a:r>
          </a:p>
        </p:txBody>
      </p:sp>
      <p:sp>
        <p:nvSpPr>
          <p:cNvPr id="15" name="TextBox 14">
            <a:extLst>
              <a:ext uri="{FF2B5EF4-FFF2-40B4-BE49-F238E27FC236}">
                <a16:creationId xmlns:a16="http://schemas.microsoft.com/office/drawing/2014/main" id="{A943596D-26E3-F673-BF79-E441FFA630C0}"/>
              </a:ext>
            </a:extLst>
          </p:cNvPr>
          <p:cNvSpPr txBox="1"/>
          <p:nvPr/>
        </p:nvSpPr>
        <p:spPr>
          <a:xfrm>
            <a:off x="8875237" y="-86096"/>
            <a:ext cx="1114098" cy="523220"/>
          </a:xfrm>
          <a:prstGeom prst="rect">
            <a:avLst/>
          </a:prstGeom>
          <a:noFill/>
        </p:spPr>
        <p:txBody>
          <a:bodyPr wrap="square" rtlCol="0">
            <a:spAutoFit/>
          </a:bodyPr>
          <a:lstStyle/>
          <a:p>
            <a:r>
              <a:rPr lang="en-AU" sz="2800" dirty="0">
                <a:latin typeface="Calibir"/>
              </a:rPr>
              <a:t>(1, 1)</a:t>
            </a:r>
          </a:p>
        </p:txBody>
      </p:sp>
    </p:spTree>
    <p:extLst>
      <p:ext uri="{BB962C8B-B14F-4D97-AF65-F5344CB8AC3E}">
        <p14:creationId xmlns:p14="http://schemas.microsoft.com/office/powerpoint/2010/main" val="11139868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41B00-DBFC-9733-3889-AD02388ED3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8CC4C0-31A4-AE82-700C-9353F23C2781}"/>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5" name="Rectangle 1">
            <a:extLst>
              <a:ext uri="{FF2B5EF4-FFF2-40B4-BE49-F238E27FC236}">
                <a16:creationId xmlns:a16="http://schemas.microsoft.com/office/drawing/2014/main" id="{2354F024-9C9D-2101-2F13-82695EC996ED}"/>
              </a:ext>
            </a:extLst>
          </p:cNvPr>
          <p:cNvSpPr>
            <a:spLocks noChangeArrowheads="1"/>
          </p:cNvSpPr>
          <p:nvPr/>
        </p:nvSpPr>
        <p:spPr bwMode="auto">
          <a:xfrm>
            <a:off x="0" y="672662"/>
            <a:ext cx="11972625"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Library “has many” Books (1..*).</a:t>
            </a:r>
          </a:p>
        </p:txBody>
      </p:sp>
      <p:sp>
        <p:nvSpPr>
          <p:cNvPr id="7" name="Rectangle 6">
            <a:extLst>
              <a:ext uri="{FF2B5EF4-FFF2-40B4-BE49-F238E27FC236}">
                <a16:creationId xmlns:a16="http://schemas.microsoft.com/office/drawing/2014/main" id="{FF2C6C1A-6EAD-D812-85BB-3656766A53B2}"/>
              </a:ext>
            </a:extLst>
          </p:cNvPr>
          <p:cNvSpPr/>
          <p:nvPr/>
        </p:nvSpPr>
        <p:spPr>
          <a:xfrm>
            <a:off x="8168323"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8" name="Rectangle 7">
            <a:extLst>
              <a:ext uri="{FF2B5EF4-FFF2-40B4-BE49-F238E27FC236}">
                <a16:creationId xmlns:a16="http://schemas.microsoft.com/office/drawing/2014/main" id="{374B378E-70B9-7247-37F5-188465626821}"/>
              </a:ext>
            </a:extLst>
          </p:cNvPr>
          <p:cNvSpPr/>
          <p:nvPr/>
        </p:nvSpPr>
        <p:spPr>
          <a:xfrm>
            <a:off x="10552534"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Books</a:t>
            </a:r>
          </a:p>
        </p:txBody>
      </p:sp>
      <p:cxnSp>
        <p:nvCxnSpPr>
          <p:cNvPr id="9" name="Straight Connector 8">
            <a:extLst>
              <a:ext uri="{FF2B5EF4-FFF2-40B4-BE49-F238E27FC236}">
                <a16:creationId xmlns:a16="http://schemas.microsoft.com/office/drawing/2014/main" id="{961405E3-6E24-9AD0-4485-001F01AEF458}"/>
              </a:ext>
            </a:extLst>
          </p:cNvPr>
          <p:cNvCxnSpPr/>
          <p:nvPr/>
        </p:nvCxnSpPr>
        <p:spPr>
          <a:xfrm>
            <a:off x="9282420" y="1008587"/>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7D435DC-A381-AABE-F5DD-19C2208043FD}"/>
              </a:ext>
            </a:extLst>
          </p:cNvPr>
          <p:cNvCxnSpPr>
            <a:cxnSpLocks/>
          </p:cNvCxnSpPr>
          <p:nvPr/>
        </p:nvCxnSpPr>
        <p:spPr>
          <a:xfrm flipV="1">
            <a:off x="10364985" y="866696"/>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23B35D4-9491-9AD8-3B82-0C9F4103579F}"/>
              </a:ext>
            </a:extLst>
          </p:cNvPr>
          <p:cNvCxnSpPr>
            <a:cxnSpLocks/>
          </p:cNvCxnSpPr>
          <p:nvPr/>
        </p:nvCxnSpPr>
        <p:spPr>
          <a:xfrm>
            <a:off x="10364985" y="1008587"/>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6B911D10-E887-E64E-08B1-BC08B21E1F40}"/>
              </a:ext>
            </a:extLst>
          </p:cNvPr>
          <p:cNvSpPr/>
          <p:nvPr/>
        </p:nvSpPr>
        <p:spPr>
          <a:xfrm>
            <a:off x="10150396" y="937641"/>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3" name="Straight Connector 12">
            <a:extLst>
              <a:ext uri="{FF2B5EF4-FFF2-40B4-BE49-F238E27FC236}">
                <a16:creationId xmlns:a16="http://schemas.microsoft.com/office/drawing/2014/main" id="{E768E33E-948B-846D-E587-ECBDBBC7B75B}"/>
              </a:ext>
            </a:extLst>
          </p:cNvPr>
          <p:cNvCxnSpPr/>
          <p:nvPr/>
        </p:nvCxnSpPr>
        <p:spPr>
          <a:xfrm>
            <a:off x="9349572" y="822029"/>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F76EFF8-B72A-C349-0EA5-E493C948D858}"/>
              </a:ext>
            </a:extLst>
          </p:cNvPr>
          <p:cNvSpPr txBox="1"/>
          <p:nvPr/>
        </p:nvSpPr>
        <p:spPr>
          <a:xfrm>
            <a:off x="9995484" y="-86096"/>
            <a:ext cx="1114098" cy="523220"/>
          </a:xfrm>
          <a:prstGeom prst="rect">
            <a:avLst/>
          </a:prstGeom>
          <a:noFill/>
        </p:spPr>
        <p:txBody>
          <a:bodyPr wrap="square" rtlCol="0">
            <a:spAutoFit/>
          </a:bodyPr>
          <a:lstStyle/>
          <a:p>
            <a:r>
              <a:rPr lang="en-AU" sz="2800" dirty="0">
                <a:latin typeface="Calibir"/>
              </a:rPr>
              <a:t>(1, M)</a:t>
            </a:r>
          </a:p>
        </p:txBody>
      </p:sp>
      <p:sp>
        <p:nvSpPr>
          <p:cNvPr id="15" name="TextBox 14">
            <a:extLst>
              <a:ext uri="{FF2B5EF4-FFF2-40B4-BE49-F238E27FC236}">
                <a16:creationId xmlns:a16="http://schemas.microsoft.com/office/drawing/2014/main" id="{CD7FE772-2C06-E718-CADC-663744C5B7F0}"/>
              </a:ext>
            </a:extLst>
          </p:cNvPr>
          <p:cNvSpPr txBox="1"/>
          <p:nvPr/>
        </p:nvSpPr>
        <p:spPr>
          <a:xfrm>
            <a:off x="8875237" y="-86096"/>
            <a:ext cx="1114098" cy="523220"/>
          </a:xfrm>
          <a:prstGeom prst="rect">
            <a:avLst/>
          </a:prstGeom>
          <a:noFill/>
        </p:spPr>
        <p:txBody>
          <a:bodyPr wrap="square" rtlCol="0">
            <a:spAutoFit/>
          </a:bodyPr>
          <a:lstStyle/>
          <a:p>
            <a:r>
              <a:rPr lang="en-AU" sz="2800" dirty="0">
                <a:latin typeface="Calibir"/>
              </a:rPr>
              <a:t>(1, 1)</a:t>
            </a:r>
          </a:p>
        </p:txBody>
      </p:sp>
      <p:sp>
        <p:nvSpPr>
          <p:cNvPr id="17" name="TextBox 16">
            <a:extLst>
              <a:ext uri="{FF2B5EF4-FFF2-40B4-BE49-F238E27FC236}">
                <a16:creationId xmlns:a16="http://schemas.microsoft.com/office/drawing/2014/main" id="{4410B2F9-9EF2-05B6-0ABF-1F166257A2F8}"/>
              </a:ext>
            </a:extLst>
          </p:cNvPr>
          <p:cNvSpPr txBox="1"/>
          <p:nvPr/>
        </p:nvSpPr>
        <p:spPr>
          <a:xfrm>
            <a:off x="17294" y="1792407"/>
            <a:ext cx="12157411" cy="2610843"/>
          </a:xfrm>
          <a:prstGeom prst="rect">
            <a:avLst/>
          </a:prstGeom>
          <a:noFill/>
        </p:spPr>
        <p:txBody>
          <a:bodyPr wrap="square">
            <a:spAutoFit/>
          </a:bodyPr>
          <a:lstStyle/>
          <a:p>
            <a:pPr>
              <a:lnSpc>
                <a:spcPct val="150000"/>
              </a:lnSpc>
              <a:buNone/>
            </a:pPr>
            <a:r>
              <a:rPr lang="en-US" sz="2800" b="1" dirty="0">
                <a:latin typeface="Calibir"/>
              </a:rPr>
              <a:t>Each Book belongs to exactly one Library</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Every book is stored in one library only.</a:t>
            </a:r>
          </a:p>
          <a:p>
            <a:pPr marL="457200" indent="-457200">
              <a:lnSpc>
                <a:spcPct val="150000"/>
              </a:lnSpc>
              <a:buFont typeface="Arial" panose="020B0604020202020204" pitchFamily="34" charset="0"/>
              <a:buChar char="•"/>
            </a:pPr>
            <a:r>
              <a:rPr lang="en-US" sz="2800" dirty="0">
                <a:latin typeface="Calibir"/>
              </a:rPr>
              <a:t>Example: The book </a:t>
            </a:r>
            <a:r>
              <a:rPr lang="en-US" sz="2800" i="1" dirty="0">
                <a:latin typeface="Calibir"/>
              </a:rPr>
              <a:t>Harry Potter</a:t>
            </a:r>
            <a:r>
              <a:rPr lang="en-US" sz="2800" dirty="0">
                <a:latin typeface="Calibir"/>
              </a:rPr>
              <a:t> in the Kogarah Library is not also in the North Sydney Library’s system at the same time. Each copy belongs to one library.</a:t>
            </a:r>
          </a:p>
        </p:txBody>
      </p:sp>
    </p:spTree>
    <p:extLst>
      <p:ext uri="{BB962C8B-B14F-4D97-AF65-F5344CB8AC3E}">
        <p14:creationId xmlns:p14="http://schemas.microsoft.com/office/powerpoint/2010/main" val="34624057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AC760-3B08-2C69-94E9-3ECC449B56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0E1FA2-247F-E60F-2252-9C0E5409EB03}"/>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4" name="TextBox 3">
            <a:extLst>
              <a:ext uri="{FF2B5EF4-FFF2-40B4-BE49-F238E27FC236}">
                <a16:creationId xmlns:a16="http://schemas.microsoft.com/office/drawing/2014/main" id="{83466F1C-03F9-3B85-829D-F90E52862D69}"/>
              </a:ext>
            </a:extLst>
          </p:cNvPr>
          <p:cNvSpPr txBox="1"/>
          <p:nvPr/>
        </p:nvSpPr>
        <p:spPr>
          <a:xfrm>
            <a:off x="0" y="873631"/>
            <a:ext cx="8146611" cy="4633790"/>
          </a:xfrm>
          <a:prstGeom prst="rect">
            <a:avLst/>
          </a:prstGeom>
          <a:solidFill>
            <a:schemeClr val="bg1"/>
          </a:solidFill>
        </p:spPr>
        <p:txBody>
          <a:bodyPr wrap="square">
            <a:spAutoFit/>
          </a:bodyPr>
          <a:lstStyle/>
          <a:p>
            <a:pPr>
              <a:lnSpc>
                <a:spcPct val="150000"/>
              </a:lnSpc>
            </a:pPr>
            <a:r>
              <a:rPr lang="en-US" sz="2800" dirty="0">
                <a:latin typeface="Calibir"/>
              </a:rPr>
              <a:t>Each Book can be borrowed by 0 or 1 Member at a time</a:t>
            </a:r>
          </a:p>
          <a:p>
            <a:pPr marL="714375" indent="-457200">
              <a:lnSpc>
                <a:spcPct val="150000"/>
              </a:lnSpc>
              <a:buFont typeface="Arial" panose="020B0604020202020204" pitchFamily="34" charset="0"/>
              <a:buChar char="•"/>
            </a:pPr>
            <a:r>
              <a:rPr lang="en-US" sz="2800" dirty="0">
                <a:latin typeface="Calibir"/>
              </a:rPr>
              <a:t>A book is either not borrowed (0) or borrowed by one member (1).</a:t>
            </a:r>
          </a:p>
          <a:p>
            <a:pPr marL="714375" indent="-457200">
              <a:lnSpc>
                <a:spcPct val="150000"/>
              </a:lnSpc>
              <a:buFont typeface="Arial" panose="020B0604020202020204" pitchFamily="34" charset="0"/>
              <a:buChar char="•"/>
            </a:pPr>
            <a:r>
              <a:rPr lang="en-US" sz="2800" dirty="0">
                <a:latin typeface="Calibir"/>
              </a:rPr>
              <a:t>Example: If John borrows </a:t>
            </a:r>
            <a:r>
              <a:rPr lang="en-US" sz="2800" i="1" dirty="0">
                <a:latin typeface="Calibir"/>
              </a:rPr>
              <a:t>The Hobbit</a:t>
            </a:r>
            <a:r>
              <a:rPr lang="en-US" sz="2800" dirty="0">
                <a:latin typeface="Calibir"/>
              </a:rPr>
              <a:t>, no other member can borrow that same copy until John returns it.</a:t>
            </a:r>
          </a:p>
        </p:txBody>
      </p:sp>
      <p:sp>
        <p:nvSpPr>
          <p:cNvPr id="7" name="Rectangle 6">
            <a:extLst>
              <a:ext uri="{FF2B5EF4-FFF2-40B4-BE49-F238E27FC236}">
                <a16:creationId xmlns:a16="http://schemas.microsoft.com/office/drawing/2014/main" id="{F7760A0B-77CB-6E1D-17D0-08C9B26739E8}"/>
              </a:ext>
            </a:extLst>
          </p:cNvPr>
          <p:cNvSpPr/>
          <p:nvPr/>
        </p:nvSpPr>
        <p:spPr>
          <a:xfrm>
            <a:off x="8168323"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sp>
        <p:nvSpPr>
          <p:cNvPr id="8" name="Rectangle 7">
            <a:extLst>
              <a:ext uri="{FF2B5EF4-FFF2-40B4-BE49-F238E27FC236}">
                <a16:creationId xmlns:a16="http://schemas.microsoft.com/office/drawing/2014/main" id="{81CD69F9-A286-CF05-4D69-89F666893030}"/>
              </a:ext>
            </a:extLst>
          </p:cNvPr>
          <p:cNvSpPr/>
          <p:nvPr/>
        </p:nvSpPr>
        <p:spPr>
          <a:xfrm>
            <a:off x="10552534"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Books</a:t>
            </a:r>
          </a:p>
        </p:txBody>
      </p:sp>
      <p:cxnSp>
        <p:nvCxnSpPr>
          <p:cNvPr id="9" name="Straight Connector 8">
            <a:extLst>
              <a:ext uri="{FF2B5EF4-FFF2-40B4-BE49-F238E27FC236}">
                <a16:creationId xmlns:a16="http://schemas.microsoft.com/office/drawing/2014/main" id="{9481E604-4F00-BEC2-CA3D-DA445D365AAD}"/>
              </a:ext>
            </a:extLst>
          </p:cNvPr>
          <p:cNvCxnSpPr/>
          <p:nvPr/>
        </p:nvCxnSpPr>
        <p:spPr>
          <a:xfrm>
            <a:off x="9282420" y="1008587"/>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3A22A75-80F8-C3E1-F598-7090D02205F1}"/>
              </a:ext>
            </a:extLst>
          </p:cNvPr>
          <p:cNvCxnSpPr>
            <a:cxnSpLocks/>
          </p:cNvCxnSpPr>
          <p:nvPr/>
        </p:nvCxnSpPr>
        <p:spPr>
          <a:xfrm flipV="1">
            <a:off x="10364985" y="866696"/>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3D08999E-0779-88E1-988B-17689C351D96}"/>
              </a:ext>
            </a:extLst>
          </p:cNvPr>
          <p:cNvCxnSpPr>
            <a:cxnSpLocks/>
          </p:cNvCxnSpPr>
          <p:nvPr/>
        </p:nvCxnSpPr>
        <p:spPr>
          <a:xfrm>
            <a:off x="10364985" y="1008587"/>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EC72E0E6-DC2B-292D-E039-E3CB0B1353C8}"/>
              </a:ext>
            </a:extLst>
          </p:cNvPr>
          <p:cNvSpPr/>
          <p:nvPr/>
        </p:nvSpPr>
        <p:spPr>
          <a:xfrm>
            <a:off x="10150396" y="937641"/>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3" name="Straight Connector 12">
            <a:extLst>
              <a:ext uri="{FF2B5EF4-FFF2-40B4-BE49-F238E27FC236}">
                <a16:creationId xmlns:a16="http://schemas.microsoft.com/office/drawing/2014/main" id="{551E72C8-DBB9-9623-6920-3204104CF01A}"/>
              </a:ext>
            </a:extLst>
          </p:cNvPr>
          <p:cNvCxnSpPr/>
          <p:nvPr/>
        </p:nvCxnSpPr>
        <p:spPr>
          <a:xfrm>
            <a:off x="9349572" y="822029"/>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907ECB15-C865-6E18-DD40-40417996D2C9}"/>
              </a:ext>
            </a:extLst>
          </p:cNvPr>
          <p:cNvSpPr txBox="1"/>
          <p:nvPr/>
        </p:nvSpPr>
        <p:spPr>
          <a:xfrm>
            <a:off x="9995484" y="-86096"/>
            <a:ext cx="1114098" cy="523220"/>
          </a:xfrm>
          <a:prstGeom prst="rect">
            <a:avLst/>
          </a:prstGeom>
          <a:noFill/>
        </p:spPr>
        <p:txBody>
          <a:bodyPr wrap="square" rtlCol="0">
            <a:spAutoFit/>
          </a:bodyPr>
          <a:lstStyle/>
          <a:p>
            <a:r>
              <a:rPr lang="en-AU" sz="2800" dirty="0">
                <a:latin typeface="Calibir"/>
              </a:rPr>
              <a:t>(0, 5)</a:t>
            </a:r>
          </a:p>
        </p:txBody>
      </p:sp>
      <p:sp>
        <p:nvSpPr>
          <p:cNvPr id="15" name="TextBox 14">
            <a:extLst>
              <a:ext uri="{FF2B5EF4-FFF2-40B4-BE49-F238E27FC236}">
                <a16:creationId xmlns:a16="http://schemas.microsoft.com/office/drawing/2014/main" id="{372B4455-A54C-11D4-A141-84326F1867A9}"/>
              </a:ext>
            </a:extLst>
          </p:cNvPr>
          <p:cNvSpPr txBox="1"/>
          <p:nvPr/>
        </p:nvSpPr>
        <p:spPr>
          <a:xfrm>
            <a:off x="8875237" y="-86096"/>
            <a:ext cx="1114098" cy="523220"/>
          </a:xfrm>
          <a:prstGeom prst="rect">
            <a:avLst/>
          </a:prstGeom>
          <a:noFill/>
        </p:spPr>
        <p:txBody>
          <a:bodyPr wrap="square" rtlCol="0">
            <a:spAutoFit/>
          </a:bodyPr>
          <a:lstStyle/>
          <a:p>
            <a:r>
              <a:rPr lang="en-AU" sz="2800" dirty="0">
                <a:latin typeface="Calibir"/>
              </a:rPr>
              <a:t>(0, 1)</a:t>
            </a:r>
          </a:p>
        </p:txBody>
      </p:sp>
      <p:sp>
        <p:nvSpPr>
          <p:cNvPr id="3" name="Oval 2">
            <a:extLst>
              <a:ext uri="{FF2B5EF4-FFF2-40B4-BE49-F238E27FC236}">
                <a16:creationId xmlns:a16="http://schemas.microsoft.com/office/drawing/2014/main" id="{21989780-AE75-CA5C-B9EE-997727B33481}"/>
              </a:ext>
            </a:extLst>
          </p:cNvPr>
          <p:cNvSpPr/>
          <p:nvPr/>
        </p:nvSpPr>
        <p:spPr>
          <a:xfrm>
            <a:off x="9440953" y="942897"/>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41044037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5CD77-C4FD-9935-22B3-FCA704628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0FDF43-BB12-70F0-8E3C-13C461D0EFF0}"/>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4" name="TextBox 3">
            <a:extLst>
              <a:ext uri="{FF2B5EF4-FFF2-40B4-BE49-F238E27FC236}">
                <a16:creationId xmlns:a16="http://schemas.microsoft.com/office/drawing/2014/main" id="{93C77CDA-0706-3921-AFEE-0D1E9560F39F}"/>
              </a:ext>
            </a:extLst>
          </p:cNvPr>
          <p:cNvSpPr txBox="1"/>
          <p:nvPr/>
        </p:nvSpPr>
        <p:spPr>
          <a:xfrm>
            <a:off x="0" y="1287112"/>
            <a:ext cx="12192000" cy="2610843"/>
          </a:xfrm>
          <a:prstGeom prst="rect">
            <a:avLst/>
          </a:prstGeom>
          <a:solidFill>
            <a:schemeClr val="bg1"/>
          </a:solidFill>
        </p:spPr>
        <p:txBody>
          <a:bodyPr wrap="square">
            <a:spAutoFit/>
          </a:bodyPr>
          <a:lstStyle/>
          <a:p>
            <a:pPr>
              <a:lnSpc>
                <a:spcPct val="150000"/>
              </a:lnSpc>
            </a:pPr>
            <a:r>
              <a:rPr lang="en-US" sz="2800" dirty="0">
                <a:latin typeface="Calibir"/>
              </a:rPr>
              <a:t>Member 0..5 → Book</a:t>
            </a:r>
          </a:p>
          <a:p>
            <a:pPr marL="809625" indent="-457200">
              <a:lnSpc>
                <a:spcPct val="150000"/>
              </a:lnSpc>
              <a:buFont typeface="Arial" panose="020B0604020202020204" pitchFamily="34" charset="0"/>
              <a:buChar char="•"/>
            </a:pPr>
            <a:r>
              <a:rPr lang="en-US" sz="2800" dirty="0">
                <a:latin typeface="Calibir"/>
              </a:rPr>
              <a:t>A member can borrow between 0 and 5 books at a time.</a:t>
            </a:r>
          </a:p>
          <a:p>
            <a:pPr marL="809625" indent="-457200">
              <a:lnSpc>
                <a:spcPct val="150000"/>
              </a:lnSpc>
              <a:buFont typeface="Arial" panose="020B0604020202020204" pitchFamily="34" charset="0"/>
              <a:buChar char="•"/>
            </a:pPr>
            <a:r>
              <a:rPr lang="en-US" sz="2800" dirty="0">
                <a:latin typeface="Calibir"/>
              </a:rPr>
              <a:t>Example: Armin joins the library. Right now, he may borrow no books (0), or maximum 5 books, but not more.</a:t>
            </a:r>
          </a:p>
        </p:txBody>
      </p:sp>
      <p:sp>
        <p:nvSpPr>
          <p:cNvPr id="7" name="Rectangle 6">
            <a:extLst>
              <a:ext uri="{FF2B5EF4-FFF2-40B4-BE49-F238E27FC236}">
                <a16:creationId xmlns:a16="http://schemas.microsoft.com/office/drawing/2014/main" id="{597702CF-1F8E-8A70-DD3C-43BAEBD3D46C}"/>
              </a:ext>
            </a:extLst>
          </p:cNvPr>
          <p:cNvSpPr/>
          <p:nvPr/>
        </p:nvSpPr>
        <p:spPr>
          <a:xfrm>
            <a:off x="8168323"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sp>
        <p:nvSpPr>
          <p:cNvPr id="8" name="Rectangle 7">
            <a:extLst>
              <a:ext uri="{FF2B5EF4-FFF2-40B4-BE49-F238E27FC236}">
                <a16:creationId xmlns:a16="http://schemas.microsoft.com/office/drawing/2014/main" id="{47026A83-09FD-199F-461E-09BA77C62B7A}"/>
              </a:ext>
            </a:extLst>
          </p:cNvPr>
          <p:cNvSpPr/>
          <p:nvPr/>
        </p:nvSpPr>
        <p:spPr>
          <a:xfrm>
            <a:off x="10552534"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Books</a:t>
            </a:r>
          </a:p>
        </p:txBody>
      </p:sp>
      <p:cxnSp>
        <p:nvCxnSpPr>
          <p:cNvPr id="9" name="Straight Connector 8">
            <a:extLst>
              <a:ext uri="{FF2B5EF4-FFF2-40B4-BE49-F238E27FC236}">
                <a16:creationId xmlns:a16="http://schemas.microsoft.com/office/drawing/2014/main" id="{10F90C96-2397-E0EF-1C69-2908C7A1F58E}"/>
              </a:ext>
            </a:extLst>
          </p:cNvPr>
          <p:cNvCxnSpPr/>
          <p:nvPr/>
        </p:nvCxnSpPr>
        <p:spPr>
          <a:xfrm>
            <a:off x="9282420" y="1008587"/>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F74F4A5-114B-872C-E764-DDFF81819ECF}"/>
              </a:ext>
            </a:extLst>
          </p:cNvPr>
          <p:cNvCxnSpPr>
            <a:cxnSpLocks/>
          </p:cNvCxnSpPr>
          <p:nvPr/>
        </p:nvCxnSpPr>
        <p:spPr>
          <a:xfrm flipV="1">
            <a:off x="10364985" y="866696"/>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2DA49CFB-2C78-F85E-7403-CFC1E0F03909}"/>
              </a:ext>
            </a:extLst>
          </p:cNvPr>
          <p:cNvCxnSpPr>
            <a:cxnSpLocks/>
          </p:cNvCxnSpPr>
          <p:nvPr/>
        </p:nvCxnSpPr>
        <p:spPr>
          <a:xfrm>
            <a:off x="10364985" y="1008587"/>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CDAE6389-B9A9-AB8F-3172-6D865D7EF5B8}"/>
              </a:ext>
            </a:extLst>
          </p:cNvPr>
          <p:cNvSpPr/>
          <p:nvPr/>
        </p:nvSpPr>
        <p:spPr>
          <a:xfrm>
            <a:off x="10150396" y="937641"/>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3" name="Straight Connector 12">
            <a:extLst>
              <a:ext uri="{FF2B5EF4-FFF2-40B4-BE49-F238E27FC236}">
                <a16:creationId xmlns:a16="http://schemas.microsoft.com/office/drawing/2014/main" id="{976F0055-729C-35FC-43F4-0BD945886F1A}"/>
              </a:ext>
            </a:extLst>
          </p:cNvPr>
          <p:cNvCxnSpPr/>
          <p:nvPr/>
        </p:nvCxnSpPr>
        <p:spPr>
          <a:xfrm>
            <a:off x="9349572" y="822029"/>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A44D5228-39D3-C528-6DC0-D7345FCD7AE7}"/>
              </a:ext>
            </a:extLst>
          </p:cNvPr>
          <p:cNvSpPr txBox="1"/>
          <p:nvPr/>
        </p:nvSpPr>
        <p:spPr>
          <a:xfrm>
            <a:off x="9995484" y="-86096"/>
            <a:ext cx="1114098" cy="523220"/>
          </a:xfrm>
          <a:prstGeom prst="rect">
            <a:avLst/>
          </a:prstGeom>
          <a:noFill/>
        </p:spPr>
        <p:txBody>
          <a:bodyPr wrap="square" rtlCol="0">
            <a:spAutoFit/>
          </a:bodyPr>
          <a:lstStyle/>
          <a:p>
            <a:r>
              <a:rPr lang="en-AU" sz="2800" dirty="0">
                <a:latin typeface="Calibir"/>
              </a:rPr>
              <a:t>(0, 5)</a:t>
            </a:r>
          </a:p>
        </p:txBody>
      </p:sp>
      <p:sp>
        <p:nvSpPr>
          <p:cNvPr id="15" name="TextBox 14">
            <a:extLst>
              <a:ext uri="{FF2B5EF4-FFF2-40B4-BE49-F238E27FC236}">
                <a16:creationId xmlns:a16="http://schemas.microsoft.com/office/drawing/2014/main" id="{334A230E-90D4-A7F9-A1A8-38DC04F4EE75}"/>
              </a:ext>
            </a:extLst>
          </p:cNvPr>
          <p:cNvSpPr txBox="1"/>
          <p:nvPr/>
        </p:nvSpPr>
        <p:spPr>
          <a:xfrm>
            <a:off x="8875237" y="-86096"/>
            <a:ext cx="1114098" cy="523220"/>
          </a:xfrm>
          <a:prstGeom prst="rect">
            <a:avLst/>
          </a:prstGeom>
          <a:noFill/>
        </p:spPr>
        <p:txBody>
          <a:bodyPr wrap="square" rtlCol="0">
            <a:spAutoFit/>
          </a:bodyPr>
          <a:lstStyle/>
          <a:p>
            <a:r>
              <a:rPr lang="en-AU" sz="2800" dirty="0">
                <a:latin typeface="Calibir"/>
              </a:rPr>
              <a:t>(0, 1)</a:t>
            </a:r>
          </a:p>
        </p:txBody>
      </p:sp>
      <p:sp>
        <p:nvSpPr>
          <p:cNvPr id="3" name="Oval 2">
            <a:extLst>
              <a:ext uri="{FF2B5EF4-FFF2-40B4-BE49-F238E27FC236}">
                <a16:creationId xmlns:a16="http://schemas.microsoft.com/office/drawing/2014/main" id="{410736AE-AD0B-6621-999E-EA9FCCC7464B}"/>
              </a:ext>
            </a:extLst>
          </p:cNvPr>
          <p:cNvSpPr/>
          <p:nvPr/>
        </p:nvSpPr>
        <p:spPr>
          <a:xfrm>
            <a:off x="9440953" y="942897"/>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36038436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D3C10-D819-B32D-F646-E95C04CAD7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83A73D-0D97-4820-5082-7F2ACBCC6BFF}"/>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7" name="Rectangle 6">
            <a:extLst>
              <a:ext uri="{FF2B5EF4-FFF2-40B4-BE49-F238E27FC236}">
                <a16:creationId xmlns:a16="http://schemas.microsoft.com/office/drawing/2014/main" id="{166A804F-76E1-F112-7406-1227FEDB346E}"/>
              </a:ext>
            </a:extLst>
          </p:cNvPr>
          <p:cNvSpPr/>
          <p:nvPr/>
        </p:nvSpPr>
        <p:spPr>
          <a:xfrm>
            <a:off x="8504654" y="253240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9" name="Straight Connector 8">
            <a:extLst>
              <a:ext uri="{FF2B5EF4-FFF2-40B4-BE49-F238E27FC236}">
                <a16:creationId xmlns:a16="http://schemas.microsoft.com/office/drawing/2014/main" id="{FCDADBA1-5A28-30FC-5F1B-D03165861BDC}"/>
              </a:ext>
            </a:extLst>
          </p:cNvPr>
          <p:cNvCxnSpPr>
            <a:cxnSpLocks/>
          </p:cNvCxnSpPr>
          <p:nvPr/>
        </p:nvCxnSpPr>
        <p:spPr>
          <a:xfrm>
            <a:off x="9630475" y="3169095"/>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CF493F4-CB9C-1846-4F69-BA396B16DA84}"/>
              </a:ext>
            </a:extLst>
          </p:cNvPr>
          <p:cNvCxnSpPr>
            <a:cxnSpLocks/>
          </p:cNvCxnSpPr>
          <p:nvPr/>
        </p:nvCxnSpPr>
        <p:spPr>
          <a:xfrm flipV="1">
            <a:off x="11445912" y="1698074"/>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F4D1EE4-B0E3-789F-78A2-ED15FDE61344}"/>
              </a:ext>
            </a:extLst>
          </p:cNvPr>
          <p:cNvCxnSpPr>
            <a:cxnSpLocks/>
          </p:cNvCxnSpPr>
          <p:nvPr/>
        </p:nvCxnSpPr>
        <p:spPr>
          <a:xfrm>
            <a:off x="11224846" y="1709826"/>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95F354B7-7FBA-3716-2315-C5EFD1E7EECA}"/>
              </a:ext>
            </a:extLst>
          </p:cNvPr>
          <p:cNvSpPr/>
          <p:nvPr/>
        </p:nvSpPr>
        <p:spPr>
          <a:xfrm>
            <a:off x="11379614" y="1877632"/>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3" name="Straight Connector 12">
            <a:extLst>
              <a:ext uri="{FF2B5EF4-FFF2-40B4-BE49-F238E27FC236}">
                <a16:creationId xmlns:a16="http://schemas.microsoft.com/office/drawing/2014/main" id="{F2746AC8-0AC9-23E8-BB92-C6B3FCA050D6}"/>
              </a:ext>
            </a:extLst>
          </p:cNvPr>
          <p:cNvCxnSpPr/>
          <p:nvPr/>
        </p:nvCxnSpPr>
        <p:spPr>
          <a:xfrm>
            <a:off x="9685903" y="2988399"/>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EA25955A-2609-EC76-E968-720F4572DBF5}"/>
              </a:ext>
            </a:extLst>
          </p:cNvPr>
          <p:cNvSpPr txBox="1"/>
          <p:nvPr/>
        </p:nvSpPr>
        <p:spPr>
          <a:xfrm>
            <a:off x="10423171" y="1714044"/>
            <a:ext cx="1114098" cy="523220"/>
          </a:xfrm>
          <a:prstGeom prst="rect">
            <a:avLst/>
          </a:prstGeom>
          <a:noFill/>
        </p:spPr>
        <p:txBody>
          <a:bodyPr wrap="square" rtlCol="0">
            <a:spAutoFit/>
          </a:bodyPr>
          <a:lstStyle/>
          <a:p>
            <a:r>
              <a:rPr lang="en-AU" sz="2800" dirty="0">
                <a:latin typeface="Calibir"/>
              </a:rPr>
              <a:t>(0, 5)</a:t>
            </a:r>
          </a:p>
        </p:txBody>
      </p:sp>
      <p:sp>
        <p:nvSpPr>
          <p:cNvPr id="15" name="TextBox 14">
            <a:extLst>
              <a:ext uri="{FF2B5EF4-FFF2-40B4-BE49-F238E27FC236}">
                <a16:creationId xmlns:a16="http://schemas.microsoft.com/office/drawing/2014/main" id="{ED7BE0D0-2946-A7B4-1737-91B18CB9E6A4}"/>
              </a:ext>
            </a:extLst>
          </p:cNvPr>
          <p:cNvSpPr txBox="1"/>
          <p:nvPr/>
        </p:nvSpPr>
        <p:spPr>
          <a:xfrm>
            <a:off x="9211568" y="2080274"/>
            <a:ext cx="1114098" cy="523220"/>
          </a:xfrm>
          <a:prstGeom prst="rect">
            <a:avLst/>
          </a:prstGeom>
          <a:noFill/>
        </p:spPr>
        <p:txBody>
          <a:bodyPr wrap="square" rtlCol="0">
            <a:spAutoFit/>
          </a:bodyPr>
          <a:lstStyle/>
          <a:p>
            <a:r>
              <a:rPr lang="en-AU" sz="2800" dirty="0">
                <a:latin typeface="Calibir"/>
              </a:rPr>
              <a:t>(0, 1)</a:t>
            </a:r>
          </a:p>
        </p:txBody>
      </p:sp>
      <p:sp>
        <p:nvSpPr>
          <p:cNvPr id="5" name="Rectangle 4">
            <a:extLst>
              <a:ext uri="{FF2B5EF4-FFF2-40B4-BE49-F238E27FC236}">
                <a16:creationId xmlns:a16="http://schemas.microsoft.com/office/drawing/2014/main" id="{1F268BB5-8E9A-7F70-5B69-CA863F85101B}"/>
              </a:ext>
            </a:extLst>
          </p:cNvPr>
          <p:cNvSpPr/>
          <p:nvPr/>
        </p:nvSpPr>
        <p:spPr>
          <a:xfrm>
            <a:off x="8504653" y="400529"/>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16" name="Rectangle 15">
            <a:extLst>
              <a:ext uri="{FF2B5EF4-FFF2-40B4-BE49-F238E27FC236}">
                <a16:creationId xmlns:a16="http://schemas.microsoft.com/office/drawing/2014/main" id="{570F0387-A0B8-18D2-C1C3-CE45D5B591EE}"/>
              </a:ext>
            </a:extLst>
          </p:cNvPr>
          <p:cNvSpPr/>
          <p:nvPr/>
        </p:nvSpPr>
        <p:spPr>
          <a:xfrm>
            <a:off x="10900015" y="411287"/>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17" name="Straight Connector 16">
            <a:extLst>
              <a:ext uri="{FF2B5EF4-FFF2-40B4-BE49-F238E27FC236}">
                <a16:creationId xmlns:a16="http://schemas.microsoft.com/office/drawing/2014/main" id="{57B94A9A-5484-195B-6D9A-8B7074B23EEA}"/>
              </a:ext>
            </a:extLst>
          </p:cNvPr>
          <p:cNvCxnSpPr/>
          <p:nvPr/>
        </p:nvCxnSpPr>
        <p:spPr>
          <a:xfrm>
            <a:off x="9618750" y="1043081"/>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86D43D41-689D-2B48-2106-A0F94DAA0CE5}"/>
              </a:ext>
            </a:extLst>
          </p:cNvPr>
          <p:cNvCxnSpPr>
            <a:cxnSpLocks/>
          </p:cNvCxnSpPr>
          <p:nvPr/>
        </p:nvCxnSpPr>
        <p:spPr>
          <a:xfrm flipV="1">
            <a:off x="10701315" y="901190"/>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9EBDF67-A8A2-44EC-9714-79694B438488}"/>
              </a:ext>
            </a:extLst>
          </p:cNvPr>
          <p:cNvCxnSpPr>
            <a:cxnSpLocks/>
          </p:cNvCxnSpPr>
          <p:nvPr/>
        </p:nvCxnSpPr>
        <p:spPr>
          <a:xfrm>
            <a:off x="10701315" y="1043081"/>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8CCDB006-C480-6AF4-1976-A4E27D397FC0}"/>
              </a:ext>
            </a:extLst>
          </p:cNvPr>
          <p:cNvSpPr/>
          <p:nvPr/>
        </p:nvSpPr>
        <p:spPr>
          <a:xfrm>
            <a:off x="10486726" y="972135"/>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21" name="Straight Connector 20">
            <a:extLst>
              <a:ext uri="{FF2B5EF4-FFF2-40B4-BE49-F238E27FC236}">
                <a16:creationId xmlns:a16="http://schemas.microsoft.com/office/drawing/2014/main" id="{96D18238-102B-8877-8EC4-0EE3EFCDCC47}"/>
              </a:ext>
            </a:extLst>
          </p:cNvPr>
          <p:cNvCxnSpPr/>
          <p:nvPr/>
        </p:nvCxnSpPr>
        <p:spPr>
          <a:xfrm>
            <a:off x="9685902" y="856523"/>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F135BD5E-D768-66F5-A53F-26426D178FC8}"/>
              </a:ext>
            </a:extLst>
          </p:cNvPr>
          <p:cNvSpPr txBox="1"/>
          <p:nvPr/>
        </p:nvSpPr>
        <p:spPr>
          <a:xfrm>
            <a:off x="10331814" y="-51602"/>
            <a:ext cx="1114098" cy="523220"/>
          </a:xfrm>
          <a:prstGeom prst="rect">
            <a:avLst/>
          </a:prstGeom>
          <a:noFill/>
        </p:spPr>
        <p:txBody>
          <a:bodyPr wrap="square" rtlCol="0">
            <a:spAutoFit/>
          </a:bodyPr>
          <a:lstStyle/>
          <a:p>
            <a:r>
              <a:rPr lang="en-AU" sz="2800" dirty="0">
                <a:latin typeface="Calibir"/>
              </a:rPr>
              <a:t>(1, M)</a:t>
            </a:r>
          </a:p>
        </p:txBody>
      </p:sp>
      <p:sp>
        <p:nvSpPr>
          <p:cNvPr id="23" name="TextBox 22">
            <a:extLst>
              <a:ext uri="{FF2B5EF4-FFF2-40B4-BE49-F238E27FC236}">
                <a16:creationId xmlns:a16="http://schemas.microsoft.com/office/drawing/2014/main" id="{35F3CDC2-152D-C40B-E615-245A8B80A480}"/>
              </a:ext>
            </a:extLst>
          </p:cNvPr>
          <p:cNvSpPr txBox="1"/>
          <p:nvPr/>
        </p:nvSpPr>
        <p:spPr>
          <a:xfrm>
            <a:off x="9211567" y="-51602"/>
            <a:ext cx="1114098" cy="523220"/>
          </a:xfrm>
          <a:prstGeom prst="rect">
            <a:avLst/>
          </a:prstGeom>
          <a:noFill/>
        </p:spPr>
        <p:txBody>
          <a:bodyPr wrap="square" rtlCol="0">
            <a:spAutoFit/>
          </a:bodyPr>
          <a:lstStyle/>
          <a:p>
            <a:r>
              <a:rPr lang="en-AU" sz="2800" dirty="0">
                <a:latin typeface="Calibir"/>
              </a:rPr>
              <a:t>(1, 1)</a:t>
            </a:r>
          </a:p>
        </p:txBody>
      </p:sp>
      <p:sp>
        <p:nvSpPr>
          <p:cNvPr id="25" name="TextBox 24">
            <a:extLst>
              <a:ext uri="{FF2B5EF4-FFF2-40B4-BE49-F238E27FC236}">
                <a16:creationId xmlns:a16="http://schemas.microsoft.com/office/drawing/2014/main" id="{67D0178C-49A3-4D9D-B47E-7033C3F1F0FF}"/>
              </a:ext>
            </a:extLst>
          </p:cNvPr>
          <p:cNvSpPr txBox="1"/>
          <p:nvPr/>
        </p:nvSpPr>
        <p:spPr>
          <a:xfrm>
            <a:off x="21021" y="1020747"/>
            <a:ext cx="8288443" cy="5842497"/>
          </a:xfrm>
          <a:prstGeom prst="rect">
            <a:avLst/>
          </a:prstGeom>
          <a:noFill/>
        </p:spPr>
        <p:txBody>
          <a:bodyPr wrap="square">
            <a:spAutoFit/>
          </a:bodyPr>
          <a:lstStyle/>
          <a:p>
            <a:pPr>
              <a:lnSpc>
                <a:spcPct val="150000"/>
              </a:lnSpc>
              <a:buNone/>
            </a:pPr>
            <a:r>
              <a:rPr lang="en-US" sz="2800" dirty="0">
                <a:latin typeface="Calibir"/>
              </a:rPr>
              <a:t>In short:</a:t>
            </a:r>
          </a:p>
          <a:p>
            <a:pPr marL="809625" indent="-457200">
              <a:lnSpc>
                <a:spcPct val="150000"/>
              </a:lnSpc>
              <a:buFont typeface="Arial" panose="020B0604020202020204" pitchFamily="34" charset="0"/>
              <a:buChar char="•"/>
            </a:pPr>
            <a:r>
              <a:rPr lang="en-US" sz="2800" dirty="0">
                <a:latin typeface="Calibir"/>
              </a:rPr>
              <a:t>A library owns many books.</a:t>
            </a:r>
          </a:p>
          <a:p>
            <a:pPr marL="809625" indent="-457200">
              <a:lnSpc>
                <a:spcPct val="150000"/>
              </a:lnSpc>
              <a:buFont typeface="Arial" panose="020B0604020202020204" pitchFamily="34" charset="0"/>
              <a:buChar char="•"/>
            </a:pPr>
            <a:r>
              <a:rPr lang="en-US" sz="2800" dirty="0">
                <a:latin typeface="Calibir"/>
              </a:rPr>
              <a:t>A member can borrow minimum 0 and maximum 5 books.</a:t>
            </a:r>
          </a:p>
          <a:p>
            <a:pPr marL="809625" indent="-457200">
              <a:lnSpc>
                <a:spcPct val="150000"/>
              </a:lnSpc>
              <a:buFont typeface="Arial" panose="020B0604020202020204" pitchFamily="34" charset="0"/>
              <a:buChar char="•"/>
            </a:pPr>
            <a:r>
              <a:rPr lang="en-US" sz="2800" dirty="0">
                <a:latin typeface="Calibir"/>
              </a:rPr>
              <a:t>A book belongs to only one library.</a:t>
            </a:r>
          </a:p>
          <a:p>
            <a:pPr marL="809625" indent="-457200">
              <a:lnSpc>
                <a:spcPct val="150000"/>
              </a:lnSpc>
              <a:buFont typeface="Arial" panose="020B0604020202020204" pitchFamily="34" charset="0"/>
              <a:buChar char="•"/>
            </a:pPr>
            <a:r>
              <a:rPr lang="en-US" sz="2800" dirty="0">
                <a:latin typeface="Calibir"/>
              </a:rPr>
              <a:t>A book can be borrowed by only one member at a time (or by no one if it’s on the shelf).</a:t>
            </a:r>
          </a:p>
          <a:p>
            <a:pPr marL="809625" indent="-457200">
              <a:lnSpc>
                <a:spcPct val="150000"/>
              </a:lnSpc>
              <a:buFont typeface="Arial" panose="020B0604020202020204" pitchFamily="34" charset="0"/>
              <a:buChar char="•"/>
            </a:pPr>
            <a:r>
              <a:rPr lang="en-US" sz="2800" dirty="0">
                <a:latin typeface="Calibir"/>
              </a:rPr>
              <a:t>borrow() and return() are shown as operations in the Member class.</a:t>
            </a:r>
          </a:p>
        </p:txBody>
      </p:sp>
      <p:sp>
        <p:nvSpPr>
          <p:cNvPr id="27" name="Rectangle 26">
            <a:extLst>
              <a:ext uri="{FF2B5EF4-FFF2-40B4-BE49-F238E27FC236}">
                <a16:creationId xmlns:a16="http://schemas.microsoft.com/office/drawing/2014/main" id="{BC608CE7-5A5D-ED4B-D3AB-DC01B2CE3D96}"/>
              </a:ext>
            </a:extLst>
          </p:cNvPr>
          <p:cNvSpPr/>
          <p:nvPr/>
        </p:nvSpPr>
        <p:spPr>
          <a:xfrm>
            <a:off x="8504652" y="13669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28" name="Rectangle 27">
            <a:extLst>
              <a:ext uri="{FF2B5EF4-FFF2-40B4-BE49-F238E27FC236}">
                <a16:creationId xmlns:a16="http://schemas.microsoft.com/office/drawing/2014/main" id="{A95CBA26-4358-97B0-9BFB-876F6678F4CA}"/>
              </a:ext>
            </a:extLst>
          </p:cNvPr>
          <p:cNvSpPr/>
          <p:nvPr/>
        </p:nvSpPr>
        <p:spPr>
          <a:xfrm>
            <a:off x="8504652" y="10615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30" name="TextBox 29">
            <a:extLst>
              <a:ext uri="{FF2B5EF4-FFF2-40B4-BE49-F238E27FC236}">
                <a16:creationId xmlns:a16="http://schemas.microsoft.com/office/drawing/2014/main" id="{F0A65DB4-AE6A-3C7B-291B-F1F91D65128A}"/>
              </a:ext>
            </a:extLst>
          </p:cNvPr>
          <p:cNvSpPr txBox="1"/>
          <p:nvPr/>
        </p:nvSpPr>
        <p:spPr>
          <a:xfrm>
            <a:off x="9768616" y="577474"/>
            <a:ext cx="931209" cy="523220"/>
          </a:xfrm>
          <a:prstGeom prst="rect">
            <a:avLst/>
          </a:prstGeom>
          <a:noFill/>
        </p:spPr>
        <p:txBody>
          <a:bodyPr wrap="square" rtlCol="0">
            <a:spAutoFit/>
          </a:bodyPr>
          <a:lstStyle/>
          <a:p>
            <a:r>
              <a:rPr lang="en-AU" sz="2800" dirty="0">
                <a:latin typeface="Calibir"/>
              </a:rPr>
              <a:t>has</a:t>
            </a:r>
          </a:p>
        </p:txBody>
      </p:sp>
      <p:sp>
        <p:nvSpPr>
          <p:cNvPr id="31" name="Rectangle 30">
            <a:extLst>
              <a:ext uri="{FF2B5EF4-FFF2-40B4-BE49-F238E27FC236}">
                <a16:creationId xmlns:a16="http://schemas.microsoft.com/office/drawing/2014/main" id="{04006957-A3E7-4AAD-BCA7-82466CD52102}"/>
              </a:ext>
            </a:extLst>
          </p:cNvPr>
          <p:cNvSpPr/>
          <p:nvPr/>
        </p:nvSpPr>
        <p:spPr>
          <a:xfrm>
            <a:off x="10895014" y="1378552"/>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32" name="Rectangle 31">
            <a:extLst>
              <a:ext uri="{FF2B5EF4-FFF2-40B4-BE49-F238E27FC236}">
                <a16:creationId xmlns:a16="http://schemas.microsoft.com/office/drawing/2014/main" id="{1A836527-1B90-046D-E2EC-39FF8DF67879}"/>
              </a:ext>
            </a:extLst>
          </p:cNvPr>
          <p:cNvSpPr/>
          <p:nvPr/>
        </p:nvSpPr>
        <p:spPr>
          <a:xfrm>
            <a:off x="10895014" y="1073191"/>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33" name="Rectangle 32">
            <a:extLst>
              <a:ext uri="{FF2B5EF4-FFF2-40B4-BE49-F238E27FC236}">
                <a16:creationId xmlns:a16="http://schemas.microsoft.com/office/drawing/2014/main" id="{B8A8CFDF-3593-9E20-7471-6EA3976B786F}"/>
              </a:ext>
            </a:extLst>
          </p:cNvPr>
          <p:cNvSpPr/>
          <p:nvPr/>
        </p:nvSpPr>
        <p:spPr>
          <a:xfrm>
            <a:off x="10895013" y="77005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35" name="Straight Connector 34">
            <a:extLst>
              <a:ext uri="{FF2B5EF4-FFF2-40B4-BE49-F238E27FC236}">
                <a16:creationId xmlns:a16="http://schemas.microsoft.com/office/drawing/2014/main" id="{8B443DB3-ACC7-557E-933C-F4DA159A7B5E}"/>
              </a:ext>
            </a:extLst>
          </p:cNvPr>
          <p:cNvCxnSpPr>
            <a:cxnSpLocks/>
            <a:endCxn id="31" idx="2"/>
          </p:cNvCxnSpPr>
          <p:nvPr/>
        </p:nvCxnSpPr>
        <p:spPr>
          <a:xfrm flipH="1" flipV="1">
            <a:off x="11452063" y="1683911"/>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B9EC4FBE-EC28-A748-FF24-849EB739C19B}"/>
              </a:ext>
            </a:extLst>
          </p:cNvPr>
          <p:cNvSpPr txBox="1"/>
          <p:nvPr/>
        </p:nvSpPr>
        <p:spPr>
          <a:xfrm>
            <a:off x="9788202" y="2658030"/>
            <a:ext cx="2382777" cy="523220"/>
          </a:xfrm>
          <a:prstGeom prst="rect">
            <a:avLst/>
          </a:prstGeom>
          <a:noFill/>
        </p:spPr>
        <p:txBody>
          <a:bodyPr wrap="square" rtlCol="0">
            <a:spAutoFit/>
          </a:bodyPr>
          <a:lstStyle/>
          <a:p>
            <a:r>
              <a:rPr lang="en-AU" sz="2800" dirty="0">
                <a:latin typeface="Calibir"/>
              </a:rPr>
              <a:t>Borrowed by</a:t>
            </a:r>
          </a:p>
        </p:txBody>
      </p:sp>
      <p:sp>
        <p:nvSpPr>
          <p:cNvPr id="46" name="Rectangle 45">
            <a:extLst>
              <a:ext uri="{FF2B5EF4-FFF2-40B4-BE49-F238E27FC236}">
                <a16:creationId xmlns:a16="http://schemas.microsoft.com/office/drawing/2014/main" id="{C5E9799C-053A-F232-2A3C-CC577506C008}"/>
              </a:ext>
            </a:extLst>
          </p:cNvPr>
          <p:cNvSpPr/>
          <p:nvPr/>
        </p:nvSpPr>
        <p:spPr>
          <a:xfrm>
            <a:off x="8505227" y="340669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47" name="Rectangle 46">
            <a:extLst>
              <a:ext uri="{FF2B5EF4-FFF2-40B4-BE49-F238E27FC236}">
                <a16:creationId xmlns:a16="http://schemas.microsoft.com/office/drawing/2014/main" id="{C57F5B30-D1E0-5E6A-757D-2CCD2A4C9BB6}"/>
              </a:ext>
            </a:extLst>
          </p:cNvPr>
          <p:cNvSpPr/>
          <p:nvPr/>
        </p:nvSpPr>
        <p:spPr>
          <a:xfrm>
            <a:off x="8505227" y="312363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48" name="Rectangle 47">
            <a:extLst>
              <a:ext uri="{FF2B5EF4-FFF2-40B4-BE49-F238E27FC236}">
                <a16:creationId xmlns:a16="http://schemas.microsoft.com/office/drawing/2014/main" id="{DDDF8622-F213-2715-3C24-DB43FF1F2352}"/>
              </a:ext>
            </a:extLst>
          </p:cNvPr>
          <p:cNvSpPr/>
          <p:nvPr/>
        </p:nvSpPr>
        <p:spPr>
          <a:xfrm>
            <a:off x="8505226" y="282050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49" name="Rectangle 48">
            <a:extLst>
              <a:ext uri="{FF2B5EF4-FFF2-40B4-BE49-F238E27FC236}">
                <a16:creationId xmlns:a16="http://schemas.microsoft.com/office/drawing/2014/main" id="{045D3DB6-EF75-80A2-EC62-06D77A1DC5BE}"/>
              </a:ext>
            </a:extLst>
          </p:cNvPr>
          <p:cNvSpPr/>
          <p:nvPr/>
        </p:nvSpPr>
        <p:spPr>
          <a:xfrm>
            <a:off x="8509186" y="4120501"/>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50" name="Rectangle 49">
            <a:extLst>
              <a:ext uri="{FF2B5EF4-FFF2-40B4-BE49-F238E27FC236}">
                <a16:creationId xmlns:a16="http://schemas.microsoft.com/office/drawing/2014/main" id="{F91546C6-AB6F-B2C2-6E57-0E162A666B93}"/>
              </a:ext>
            </a:extLst>
          </p:cNvPr>
          <p:cNvSpPr/>
          <p:nvPr/>
        </p:nvSpPr>
        <p:spPr>
          <a:xfrm>
            <a:off x="8504652" y="3702873"/>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3" name="Oval 2">
            <a:extLst>
              <a:ext uri="{FF2B5EF4-FFF2-40B4-BE49-F238E27FC236}">
                <a16:creationId xmlns:a16="http://schemas.microsoft.com/office/drawing/2014/main" id="{15F2A8A3-0ED4-B593-E964-B8F79F4B5CC0}"/>
              </a:ext>
            </a:extLst>
          </p:cNvPr>
          <p:cNvSpPr/>
          <p:nvPr/>
        </p:nvSpPr>
        <p:spPr>
          <a:xfrm>
            <a:off x="9777279" y="3108024"/>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54691282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0C073-B0C9-D650-83F5-D32F43EF74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F4AF02-A200-8929-8208-9E05C007BFF1}"/>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pic>
        <p:nvPicPr>
          <p:cNvPr id="5" name="Picture 4">
            <a:extLst>
              <a:ext uri="{FF2B5EF4-FFF2-40B4-BE49-F238E27FC236}">
                <a16:creationId xmlns:a16="http://schemas.microsoft.com/office/drawing/2014/main" id="{53D7FF9D-9ED9-5DDE-E417-9C1969DBF81C}"/>
              </a:ext>
            </a:extLst>
          </p:cNvPr>
          <p:cNvPicPr>
            <a:picLocks noChangeAspect="1"/>
          </p:cNvPicPr>
          <p:nvPr/>
        </p:nvPicPr>
        <p:blipFill>
          <a:blip r:embed="rId2"/>
          <a:srcRect t="1255" r="39655" b="81073"/>
          <a:stretch>
            <a:fillRect/>
          </a:stretch>
        </p:blipFill>
        <p:spPr>
          <a:xfrm>
            <a:off x="0" y="779743"/>
            <a:ext cx="7357242" cy="1211967"/>
          </a:xfrm>
          <a:prstGeom prst="rect">
            <a:avLst/>
          </a:prstGeom>
        </p:spPr>
      </p:pic>
      <p:cxnSp>
        <p:nvCxnSpPr>
          <p:cNvPr id="9" name="Connector: Elbow 8">
            <a:extLst>
              <a:ext uri="{FF2B5EF4-FFF2-40B4-BE49-F238E27FC236}">
                <a16:creationId xmlns:a16="http://schemas.microsoft.com/office/drawing/2014/main" id="{8BE8F323-1E05-B092-2615-BCDB8D8DFA70}"/>
              </a:ext>
            </a:extLst>
          </p:cNvPr>
          <p:cNvCxnSpPr>
            <a:cxnSpLocks/>
            <a:stCxn id="5" idx="2"/>
          </p:cNvCxnSpPr>
          <p:nvPr/>
        </p:nvCxnSpPr>
        <p:spPr>
          <a:xfrm rot="16200000" flipH="1">
            <a:off x="3665482" y="2004848"/>
            <a:ext cx="856594" cy="830317"/>
          </a:xfrm>
          <a:prstGeom prst="bentConnector3">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162FD776-0BE1-DBC3-E41E-7A429296608C}"/>
              </a:ext>
            </a:extLst>
          </p:cNvPr>
          <p:cNvPicPr>
            <a:picLocks noChangeAspect="1"/>
          </p:cNvPicPr>
          <p:nvPr/>
        </p:nvPicPr>
        <p:blipFill>
          <a:blip r:embed="rId3"/>
          <a:srcRect r="18449" b="70958"/>
          <a:stretch>
            <a:fillRect/>
          </a:stretch>
        </p:blipFill>
        <p:spPr>
          <a:xfrm>
            <a:off x="0" y="2848311"/>
            <a:ext cx="9942786" cy="1991708"/>
          </a:xfrm>
          <a:prstGeom prst="rect">
            <a:avLst/>
          </a:prstGeom>
        </p:spPr>
      </p:pic>
      <p:sp>
        <p:nvSpPr>
          <p:cNvPr id="12" name="Rectangle: Rounded Corners 11">
            <a:extLst>
              <a:ext uri="{FF2B5EF4-FFF2-40B4-BE49-F238E27FC236}">
                <a16:creationId xmlns:a16="http://schemas.microsoft.com/office/drawing/2014/main" id="{DAA96585-716D-1C0A-2C90-205882469B35}"/>
              </a:ext>
            </a:extLst>
          </p:cNvPr>
          <p:cNvSpPr/>
          <p:nvPr/>
        </p:nvSpPr>
        <p:spPr>
          <a:xfrm>
            <a:off x="2469931" y="4162098"/>
            <a:ext cx="4056993" cy="31531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 name="Rectangle: Rounded Corners 13">
            <a:extLst>
              <a:ext uri="{FF2B5EF4-FFF2-40B4-BE49-F238E27FC236}">
                <a16:creationId xmlns:a16="http://schemas.microsoft.com/office/drawing/2014/main" id="{D3813637-1D7F-13D9-A59E-D8C4C981E7F9}"/>
              </a:ext>
            </a:extLst>
          </p:cNvPr>
          <p:cNvSpPr/>
          <p:nvPr/>
        </p:nvSpPr>
        <p:spPr>
          <a:xfrm>
            <a:off x="3179380" y="1529262"/>
            <a:ext cx="4056993" cy="373109"/>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51365290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D90A3-EFF9-E3FC-D1D7-9737E62B1B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1C2C23-49F9-C77E-4C2C-72424AE3E744}"/>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sp>
        <p:nvSpPr>
          <p:cNvPr id="3" name="Rectangle 2">
            <a:extLst>
              <a:ext uri="{FF2B5EF4-FFF2-40B4-BE49-F238E27FC236}">
                <a16:creationId xmlns:a16="http://schemas.microsoft.com/office/drawing/2014/main" id="{2EAA9594-D5C0-2472-5912-8D8B54206B10}"/>
              </a:ext>
            </a:extLst>
          </p:cNvPr>
          <p:cNvSpPr/>
          <p:nvPr/>
        </p:nvSpPr>
        <p:spPr>
          <a:xfrm>
            <a:off x="8525675" y="4886722"/>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4" name="Straight Connector 3">
            <a:extLst>
              <a:ext uri="{FF2B5EF4-FFF2-40B4-BE49-F238E27FC236}">
                <a16:creationId xmlns:a16="http://schemas.microsoft.com/office/drawing/2014/main" id="{BA59D03D-B0A3-6B52-2996-428CC9714F79}"/>
              </a:ext>
            </a:extLst>
          </p:cNvPr>
          <p:cNvCxnSpPr>
            <a:cxnSpLocks/>
          </p:cNvCxnSpPr>
          <p:nvPr/>
        </p:nvCxnSpPr>
        <p:spPr>
          <a:xfrm>
            <a:off x="9651496" y="5523412"/>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B4AA755C-63A8-0ACC-A758-AD64394E353A}"/>
              </a:ext>
            </a:extLst>
          </p:cNvPr>
          <p:cNvCxnSpPr>
            <a:cxnSpLocks/>
          </p:cNvCxnSpPr>
          <p:nvPr/>
        </p:nvCxnSpPr>
        <p:spPr>
          <a:xfrm flipV="1">
            <a:off x="11466933" y="4052391"/>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AA7674F1-A09E-2C3E-A59E-E85677766A19}"/>
              </a:ext>
            </a:extLst>
          </p:cNvPr>
          <p:cNvCxnSpPr>
            <a:cxnSpLocks/>
          </p:cNvCxnSpPr>
          <p:nvPr/>
        </p:nvCxnSpPr>
        <p:spPr>
          <a:xfrm>
            <a:off x="11245867" y="4064143"/>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FE5952AD-2A37-B69A-71E6-49C24CE00843}"/>
              </a:ext>
            </a:extLst>
          </p:cNvPr>
          <p:cNvSpPr/>
          <p:nvPr/>
        </p:nvSpPr>
        <p:spPr>
          <a:xfrm>
            <a:off x="11400635" y="4231949"/>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0" name="Straight Connector 9">
            <a:extLst>
              <a:ext uri="{FF2B5EF4-FFF2-40B4-BE49-F238E27FC236}">
                <a16:creationId xmlns:a16="http://schemas.microsoft.com/office/drawing/2014/main" id="{4FE95B6C-26F0-B33E-684A-9EE16B594D95}"/>
              </a:ext>
            </a:extLst>
          </p:cNvPr>
          <p:cNvCxnSpPr/>
          <p:nvPr/>
        </p:nvCxnSpPr>
        <p:spPr>
          <a:xfrm>
            <a:off x="9706924" y="5342716"/>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CCEE429-C86D-1AB3-6EE3-593F442EBE1F}"/>
              </a:ext>
            </a:extLst>
          </p:cNvPr>
          <p:cNvSpPr txBox="1"/>
          <p:nvPr/>
        </p:nvSpPr>
        <p:spPr>
          <a:xfrm>
            <a:off x="10444192" y="4068361"/>
            <a:ext cx="1114098" cy="523220"/>
          </a:xfrm>
          <a:prstGeom prst="rect">
            <a:avLst/>
          </a:prstGeom>
          <a:noFill/>
        </p:spPr>
        <p:txBody>
          <a:bodyPr wrap="square" rtlCol="0">
            <a:spAutoFit/>
          </a:bodyPr>
          <a:lstStyle/>
          <a:p>
            <a:r>
              <a:rPr lang="en-AU" sz="2800" dirty="0">
                <a:latin typeface="Calibir"/>
              </a:rPr>
              <a:t>(0, 5)</a:t>
            </a:r>
          </a:p>
        </p:txBody>
      </p:sp>
      <p:sp>
        <p:nvSpPr>
          <p:cNvPr id="15" name="TextBox 14">
            <a:extLst>
              <a:ext uri="{FF2B5EF4-FFF2-40B4-BE49-F238E27FC236}">
                <a16:creationId xmlns:a16="http://schemas.microsoft.com/office/drawing/2014/main" id="{37D9DAF0-2B7F-5C9B-6836-E91B42FF8C7A}"/>
              </a:ext>
            </a:extLst>
          </p:cNvPr>
          <p:cNvSpPr txBox="1"/>
          <p:nvPr/>
        </p:nvSpPr>
        <p:spPr>
          <a:xfrm>
            <a:off x="9232589" y="4434591"/>
            <a:ext cx="1114098" cy="523220"/>
          </a:xfrm>
          <a:prstGeom prst="rect">
            <a:avLst/>
          </a:prstGeom>
          <a:noFill/>
        </p:spPr>
        <p:txBody>
          <a:bodyPr wrap="square" rtlCol="0">
            <a:spAutoFit/>
          </a:bodyPr>
          <a:lstStyle/>
          <a:p>
            <a:r>
              <a:rPr lang="en-AU" sz="2800" dirty="0">
                <a:latin typeface="Calibir"/>
              </a:rPr>
              <a:t>(0, 1)</a:t>
            </a:r>
          </a:p>
        </p:txBody>
      </p:sp>
      <p:sp>
        <p:nvSpPr>
          <p:cNvPr id="16" name="Rectangle 15">
            <a:extLst>
              <a:ext uri="{FF2B5EF4-FFF2-40B4-BE49-F238E27FC236}">
                <a16:creationId xmlns:a16="http://schemas.microsoft.com/office/drawing/2014/main" id="{81C3FD58-BFC3-4C21-92D7-726E0AE54967}"/>
              </a:ext>
            </a:extLst>
          </p:cNvPr>
          <p:cNvSpPr/>
          <p:nvPr/>
        </p:nvSpPr>
        <p:spPr>
          <a:xfrm>
            <a:off x="8525674" y="2754846"/>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17" name="Rectangle 16">
            <a:extLst>
              <a:ext uri="{FF2B5EF4-FFF2-40B4-BE49-F238E27FC236}">
                <a16:creationId xmlns:a16="http://schemas.microsoft.com/office/drawing/2014/main" id="{E51EC461-98F8-A4F3-0499-C8B5694BA4CA}"/>
              </a:ext>
            </a:extLst>
          </p:cNvPr>
          <p:cNvSpPr/>
          <p:nvPr/>
        </p:nvSpPr>
        <p:spPr>
          <a:xfrm>
            <a:off x="10921036" y="2765604"/>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18" name="Straight Connector 17">
            <a:extLst>
              <a:ext uri="{FF2B5EF4-FFF2-40B4-BE49-F238E27FC236}">
                <a16:creationId xmlns:a16="http://schemas.microsoft.com/office/drawing/2014/main" id="{0BF28779-C50B-21D9-4DA7-4E347DD864CF}"/>
              </a:ext>
            </a:extLst>
          </p:cNvPr>
          <p:cNvCxnSpPr/>
          <p:nvPr/>
        </p:nvCxnSpPr>
        <p:spPr>
          <a:xfrm>
            <a:off x="9639771" y="3397398"/>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92F2CF15-B22B-B923-6EB8-6BEA44C4653B}"/>
              </a:ext>
            </a:extLst>
          </p:cNvPr>
          <p:cNvCxnSpPr>
            <a:cxnSpLocks/>
          </p:cNvCxnSpPr>
          <p:nvPr/>
        </p:nvCxnSpPr>
        <p:spPr>
          <a:xfrm flipV="1">
            <a:off x="10722336" y="3255507"/>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7A85EDBC-FA97-78D9-6760-D3D73AF1898F}"/>
              </a:ext>
            </a:extLst>
          </p:cNvPr>
          <p:cNvCxnSpPr>
            <a:cxnSpLocks/>
          </p:cNvCxnSpPr>
          <p:nvPr/>
        </p:nvCxnSpPr>
        <p:spPr>
          <a:xfrm>
            <a:off x="10722336" y="3397398"/>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953B5875-6A04-6A80-BFB8-D16FDB0E1B5F}"/>
              </a:ext>
            </a:extLst>
          </p:cNvPr>
          <p:cNvSpPr/>
          <p:nvPr/>
        </p:nvSpPr>
        <p:spPr>
          <a:xfrm>
            <a:off x="10507747" y="3326452"/>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22" name="Straight Connector 21">
            <a:extLst>
              <a:ext uri="{FF2B5EF4-FFF2-40B4-BE49-F238E27FC236}">
                <a16:creationId xmlns:a16="http://schemas.microsoft.com/office/drawing/2014/main" id="{3607EF59-D3A2-B4BE-A0DB-EC127D978BCD}"/>
              </a:ext>
            </a:extLst>
          </p:cNvPr>
          <p:cNvCxnSpPr/>
          <p:nvPr/>
        </p:nvCxnSpPr>
        <p:spPr>
          <a:xfrm>
            <a:off x="9706923" y="3210840"/>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2069DA9E-D588-764A-319C-D49A30BA9C99}"/>
              </a:ext>
            </a:extLst>
          </p:cNvPr>
          <p:cNvSpPr txBox="1"/>
          <p:nvPr/>
        </p:nvSpPr>
        <p:spPr>
          <a:xfrm>
            <a:off x="10352835" y="2302715"/>
            <a:ext cx="1114098" cy="523220"/>
          </a:xfrm>
          <a:prstGeom prst="rect">
            <a:avLst/>
          </a:prstGeom>
          <a:noFill/>
        </p:spPr>
        <p:txBody>
          <a:bodyPr wrap="square" rtlCol="0">
            <a:spAutoFit/>
          </a:bodyPr>
          <a:lstStyle/>
          <a:p>
            <a:r>
              <a:rPr lang="en-AU" sz="2800" dirty="0">
                <a:latin typeface="Calibir"/>
              </a:rPr>
              <a:t>(1, M)</a:t>
            </a:r>
          </a:p>
        </p:txBody>
      </p:sp>
      <p:sp>
        <p:nvSpPr>
          <p:cNvPr id="24" name="TextBox 23">
            <a:extLst>
              <a:ext uri="{FF2B5EF4-FFF2-40B4-BE49-F238E27FC236}">
                <a16:creationId xmlns:a16="http://schemas.microsoft.com/office/drawing/2014/main" id="{6EDE36F9-6A4B-AD2D-F667-B41806267DE2}"/>
              </a:ext>
            </a:extLst>
          </p:cNvPr>
          <p:cNvSpPr txBox="1"/>
          <p:nvPr/>
        </p:nvSpPr>
        <p:spPr>
          <a:xfrm>
            <a:off x="9232588" y="2302715"/>
            <a:ext cx="1114098" cy="523220"/>
          </a:xfrm>
          <a:prstGeom prst="rect">
            <a:avLst/>
          </a:prstGeom>
          <a:noFill/>
        </p:spPr>
        <p:txBody>
          <a:bodyPr wrap="square" rtlCol="0">
            <a:spAutoFit/>
          </a:bodyPr>
          <a:lstStyle/>
          <a:p>
            <a:r>
              <a:rPr lang="en-AU" sz="2800" dirty="0">
                <a:latin typeface="Calibir"/>
              </a:rPr>
              <a:t>(1, 1)</a:t>
            </a:r>
          </a:p>
        </p:txBody>
      </p:sp>
      <p:sp>
        <p:nvSpPr>
          <p:cNvPr id="25" name="Rectangle 24">
            <a:extLst>
              <a:ext uri="{FF2B5EF4-FFF2-40B4-BE49-F238E27FC236}">
                <a16:creationId xmlns:a16="http://schemas.microsoft.com/office/drawing/2014/main" id="{CBD40DF4-7D6A-CE8A-F468-6145974FE7F7}"/>
              </a:ext>
            </a:extLst>
          </p:cNvPr>
          <p:cNvSpPr/>
          <p:nvPr/>
        </p:nvSpPr>
        <p:spPr>
          <a:xfrm>
            <a:off x="8525673" y="372123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26" name="Rectangle 25">
            <a:extLst>
              <a:ext uri="{FF2B5EF4-FFF2-40B4-BE49-F238E27FC236}">
                <a16:creationId xmlns:a16="http://schemas.microsoft.com/office/drawing/2014/main" id="{7FA36A24-801C-2C69-C0F0-294F0F03BB59}"/>
              </a:ext>
            </a:extLst>
          </p:cNvPr>
          <p:cNvSpPr/>
          <p:nvPr/>
        </p:nvSpPr>
        <p:spPr>
          <a:xfrm>
            <a:off x="8525673" y="341587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27" name="TextBox 26">
            <a:extLst>
              <a:ext uri="{FF2B5EF4-FFF2-40B4-BE49-F238E27FC236}">
                <a16:creationId xmlns:a16="http://schemas.microsoft.com/office/drawing/2014/main" id="{DFE00A9B-CF54-0506-795C-ACB8F48CC7E2}"/>
              </a:ext>
            </a:extLst>
          </p:cNvPr>
          <p:cNvSpPr txBox="1"/>
          <p:nvPr/>
        </p:nvSpPr>
        <p:spPr>
          <a:xfrm>
            <a:off x="9789637" y="2931791"/>
            <a:ext cx="931209" cy="523220"/>
          </a:xfrm>
          <a:prstGeom prst="rect">
            <a:avLst/>
          </a:prstGeom>
          <a:noFill/>
        </p:spPr>
        <p:txBody>
          <a:bodyPr wrap="square" rtlCol="0">
            <a:spAutoFit/>
          </a:bodyPr>
          <a:lstStyle/>
          <a:p>
            <a:r>
              <a:rPr lang="en-AU" sz="2800" dirty="0">
                <a:latin typeface="Calibir"/>
              </a:rPr>
              <a:t>has</a:t>
            </a:r>
          </a:p>
        </p:txBody>
      </p:sp>
      <p:sp>
        <p:nvSpPr>
          <p:cNvPr id="28" name="Rectangle 27">
            <a:extLst>
              <a:ext uri="{FF2B5EF4-FFF2-40B4-BE49-F238E27FC236}">
                <a16:creationId xmlns:a16="http://schemas.microsoft.com/office/drawing/2014/main" id="{19272036-B268-21EE-F9DC-3B432922A466}"/>
              </a:ext>
            </a:extLst>
          </p:cNvPr>
          <p:cNvSpPr/>
          <p:nvPr/>
        </p:nvSpPr>
        <p:spPr>
          <a:xfrm>
            <a:off x="10916035" y="373286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29" name="Rectangle 28">
            <a:extLst>
              <a:ext uri="{FF2B5EF4-FFF2-40B4-BE49-F238E27FC236}">
                <a16:creationId xmlns:a16="http://schemas.microsoft.com/office/drawing/2014/main" id="{4B3408AE-2E60-D6EA-EE1C-A864019B239F}"/>
              </a:ext>
            </a:extLst>
          </p:cNvPr>
          <p:cNvSpPr/>
          <p:nvPr/>
        </p:nvSpPr>
        <p:spPr>
          <a:xfrm>
            <a:off x="10916035" y="342750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30" name="Rectangle 29">
            <a:extLst>
              <a:ext uri="{FF2B5EF4-FFF2-40B4-BE49-F238E27FC236}">
                <a16:creationId xmlns:a16="http://schemas.microsoft.com/office/drawing/2014/main" id="{F311691E-DE14-ADA1-30E6-C8B79B6FA328}"/>
              </a:ext>
            </a:extLst>
          </p:cNvPr>
          <p:cNvSpPr/>
          <p:nvPr/>
        </p:nvSpPr>
        <p:spPr>
          <a:xfrm>
            <a:off x="10916034" y="312437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31" name="Straight Connector 30">
            <a:extLst>
              <a:ext uri="{FF2B5EF4-FFF2-40B4-BE49-F238E27FC236}">
                <a16:creationId xmlns:a16="http://schemas.microsoft.com/office/drawing/2014/main" id="{A3189CD5-D8F8-61A6-11E2-F412CFB8970A}"/>
              </a:ext>
            </a:extLst>
          </p:cNvPr>
          <p:cNvCxnSpPr>
            <a:cxnSpLocks/>
            <a:endCxn id="28" idx="2"/>
          </p:cNvCxnSpPr>
          <p:nvPr/>
        </p:nvCxnSpPr>
        <p:spPr>
          <a:xfrm flipH="1" flipV="1">
            <a:off x="11473084" y="4038228"/>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2D26E7E8-490E-2E5C-5490-CC2DFF536720}"/>
              </a:ext>
            </a:extLst>
          </p:cNvPr>
          <p:cNvSpPr txBox="1"/>
          <p:nvPr/>
        </p:nvSpPr>
        <p:spPr>
          <a:xfrm>
            <a:off x="9809223" y="5012347"/>
            <a:ext cx="2382777" cy="523220"/>
          </a:xfrm>
          <a:prstGeom prst="rect">
            <a:avLst/>
          </a:prstGeom>
          <a:noFill/>
        </p:spPr>
        <p:txBody>
          <a:bodyPr wrap="square" rtlCol="0">
            <a:spAutoFit/>
          </a:bodyPr>
          <a:lstStyle/>
          <a:p>
            <a:r>
              <a:rPr lang="en-AU" sz="2800" dirty="0">
                <a:latin typeface="Calibir"/>
              </a:rPr>
              <a:t>Borrowed by</a:t>
            </a:r>
          </a:p>
        </p:txBody>
      </p:sp>
      <p:sp>
        <p:nvSpPr>
          <p:cNvPr id="33" name="Rectangle 32">
            <a:extLst>
              <a:ext uri="{FF2B5EF4-FFF2-40B4-BE49-F238E27FC236}">
                <a16:creationId xmlns:a16="http://schemas.microsoft.com/office/drawing/2014/main" id="{DAFD0462-B532-E9AD-6A63-01137EC62919}"/>
              </a:ext>
            </a:extLst>
          </p:cNvPr>
          <p:cNvSpPr/>
          <p:nvPr/>
        </p:nvSpPr>
        <p:spPr>
          <a:xfrm>
            <a:off x="8526248" y="576101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34" name="Rectangle 33">
            <a:extLst>
              <a:ext uri="{FF2B5EF4-FFF2-40B4-BE49-F238E27FC236}">
                <a16:creationId xmlns:a16="http://schemas.microsoft.com/office/drawing/2014/main" id="{D4B931CD-829D-7C34-AFED-A1B9216F19CF}"/>
              </a:ext>
            </a:extLst>
          </p:cNvPr>
          <p:cNvSpPr/>
          <p:nvPr/>
        </p:nvSpPr>
        <p:spPr>
          <a:xfrm>
            <a:off x="8526248" y="547795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35" name="Rectangle 34">
            <a:extLst>
              <a:ext uri="{FF2B5EF4-FFF2-40B4-BE49-F238E27FC236}">
                <a16:creationId xmlns:a16="http://schemas.microsoft.com/office/drawing/2014/main" id="{D42E24E2-2488-8DA2-C9CB-AF7171FF085E}"/>
              </a:ext>
            </a:extLst>
          </p:cNvPr>
          <p:cNvSpPr/>
          <p:nvPr/>
        </p:nvSpPr>
        <p:spPr>
          <a:xfrm>
            <a:off x="8526247" y="517482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36" name="Rectangle 35">
            <a:extLst>
              <a:ext uri="{FF2B5EF4-FFF2-40B4-BE49-F238E27FC236}">
                <a16:creationId xmlns:a16="http://schemas.microsoft.com/office/drawing/2014/main" id="{162744A6-1648-F219-5954-10E1E7A65D1D}"/>
              </a:ext>
            </a:extLst>
          </p:cNvPr>
          <p:cNvSpPr/>
          <p:nvPr/>
        </p:nvSpPr>
        <p:spPr>
          <a:xfrm>
            <a:off x="8530207" y="6474818"/>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37" name="Rectangle 36">
            <a:extLst>
              <a:ext uri="{FF2B5EF4-FFF2-40B4-BE49-F238E27FC236}">
                <a16:creationId xmlns:a16="http://schemas.microsoft.com/office/drawing/2014/main" id="{7BC7B6A7-E226-3794-AAEE-DDED19725331}"/>
              </a:ext>
            </a:extLst>
          </p:cNvPr>
          <p:cNvSpPr/>
          <p:nvPr/>
        </p:nvSpPr>
        <p:spPr>
          <a:xfrm>
            <a:off x="8525673" y="6057190"/>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39" name="TextBox 38">
            <a:extLst>
              <a:ext uri="{FF2B5EF4-FFF2-40B4-BE49-F238E27FC236}">
                <a16:creationId xmlns:a16="http://schemas.microsoft.com/office/drawing/2014/main" id="{7D38CBD6-7E3B-2EE6-0095-8F88C31AFF19}"/>
              </a:ext>
            </a:extLst>
          </p:cNvPr>
          <p:cNvSpPr txBox="1"/>
          <p:nvPr/>
        </p:nvSpPr>
        <p:spPr>
          <a:xfrm>
            <a:off x="85755" y="672662"/>
            <a:ext cx="8346010" cy="3970318"/>
          </a:xfrm>
          <a:prstGeom prst="rect">
            <a:avLst/>
          </a:prstGeom>
          <a:solidFill>
            <a:schemeClr val="tx1"/>
          </a:solidFill>
        </p:spPr>
        <p:txBody>
          <a:bodyPr wrap="square">
            <a:spAutoFit/>
          </a:bodyPr>
          <a:lstStyle/>
          <a:p>
            <a:pPr>
              <a:buNone/>
            </a:pPr>
            <a:r>
              <a:rPr lang="en-US" b="0" dirty="0">
                <a:solidFill>
                  <a:srgbClr val="569CD6"/>
                </a:solidFill>
                <a:effectLst/>
                <a:latin typeface="Consolas" panose="020B0609020204030204" pitchFamily="49" charset="0"/>
              </a:rPr>
              <a:t>import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java</a:t>
            </a:r>
            <a:r>
              <a:rPr lang="en-US" b="0" dirty="0" err="1">
                <a:solidFill>
                  <a:srgbClr val="D4D4D4"/>
                </a:solidFill>
                <a:effectLst/>
                <a:latin typeface="Consolas" panose="020B0609020204030204" pitchFamily="49" charset="0"/>
              </a:rPr>
              <a:t>.</a:t>
            </a:r>
            <a:r>
              <a:rPr lang="en-US" b="0" dirty="0" err="1">
                <a:solidFill>
                  <a:srgbClr val="4EC9B0"/>
                </a:solidFill>
                <a:effectLst/>
                <a:latin typeface="Consolas" panose="020B0609020204030204" pitchFamily="49" charset="0"/>
              </a:rPr>
              <a:t>util</a:t>
            </a:r>
            <a:r>
              <a:rPr lang="en-US" b="0" dirty="0" err="1">
                <a:solidFill>
                  <a:srgbClr val="D4D4D4"/>
                </a:solidFill>
                <a:effectLst/>
                <a:latin typeface="Consolas" panose="020B0609020204030204" pitchFamily="49" charset="0"/>
              </a:rPr>
              <a:t>.</a:t>
            </a:r>
            <a:r>
              <a:rPr lang="en-US" b="0" dirty="0" err="1">
                <a:solidFill>
                  <a:srgbClr val="4EC9B0"/>
                </a:solidFill>
                <a:effectLst/>
                <a:latin typeface="Consolas" panose="020B0609020204030204" pitchFamily="49" charset="0"/>
              </a:rPr>
              <a:t>ArrayList</a:t>
            </a:r>
            <a:r>
              <a:rPr lang="en-US" b="0" dirty="0">
                <a:solidFill>
                  <a:srgbClr val="CCCCCC"/>
                </a:solidFill>
                <a:effectLst/>
                <a:latin typeface="Consolas" panose="020B0609020204030204" pitchFamily="49" charset="0"/>
              </a:rPr>
              <a:t>;</a:t>
            </a:r>
          </a:p>
          <a:p>
            <a:pPr>
              <a:buNone/>
            </a:pPr>
            <a:r>
              <a:rPr lang="en-US" b="0" dirty="0">
                <a:solidFill>
                  <a:srgbClr val="569CD6"/>
                </a:solidFill>
                <a:effectLst/>
                <a:latin typeface="Consolas" panose="020B0609020204030204" pitchFamily="49" charset="0"/>
              </a:rPr>
              <a:t>import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java</a:t>
            </a:r>
            <a:r>
              <a:rPr lang="en-US" b="0" dirty="0" err="1">
                <a:solidFill>
                  <a:srgbClr val="D4D4D4"/>
                </a:solidFill>
                <a:effectLst/>
                <a:latin typeface="Consolas" panose="020B0609020204030204" pitchFamily="49" charset="0"/>
              </a:rPr>
              <a:t>.</a:t>
            </a:r>
            <a:r>
              <a:rPr lang="en-US" b="0" dirty="0" err="1">
                <a:solidFill>
                  <a:srgbClr val="4EC9B0"/>
                </a:solidFill>
                <a:effectLst/>
                <a:latin typeface="Consolas" panose="020B0609020204030204" pitchFamily="49" charset="0"/>
              </a:rPr>
              <a:t>util</a:t>
            </a:r>
            <a:r>
              <a:rPr lang="en-US" b="0" dirty="0" err="1">
                <a:solidFill>
                  <a:srgbClr val="D4D4D4"/>
                </a:solidFill>
                <a:effectLst/>
                <a:latin typeface="Consolas" panose="020B0609020204030204" pitchFamily="49" charset="0"/>
              </a:rPr>
              <a:t>.</a:t>
            </a:r>
            <a:r>
              <a:rPr lang="en-US" b="0" dirty="0" err="1">
                <a:solidFill>
                  <a:srgbClr val="4EC9B0"/>
                </a:solidFill>
                <a:effectLst/>
                <a:latin typeface="Consolas" panose="020B0609020204030204" pitchFamily="49" charset="0"/>
              </a:rPr>
              <a:t>List</a:t>
            </a:r>
            <a:r>
              <a:rPr lang="en-US" b="0" dirty="0">
                <a:solidFill>
                  <a:srgbClr val="CCCCCC"/>
                </a:solidFill>
                <a:effectLst/>
                <a:latin typeface="Consolas" panose="020B0609020204030204" pitchFamily="49" charset="0"/>
              </a:rPr>
              <a:t>;</a:t>
            </a:r>
          </a:p>
          <a:p>
            <a:pPr>
              <a:buNone/>
            </a:pPr>
            <a:br>
              <a:rPr lang="en-US" b="0" dirty="0">
                <a:solidFill>
                  <a:srgbClr val="CCCCCC"/>
                </a:solidFill>
                <a:effectLst/>
                <a:latin typeface="Consolas" panose="020B0609020204030204" pitchFamily="49" charset="0"/>
              </a:rPr>
            </a:br>
            <a:r>
              <a:rPr lang="en-US" b="0" dirty="0">
                <a:solidFill>
                  <a:srgbClr val="569CD6"/>
                </a:solidFill>
                <a:effectLst/>
                <a:latin typeface="Consolas" panose="020B0609020204030204" pitchFamily="49" charset="0"/>
              </a:rPr>
              <a:t>class</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Book</a:t>
            </a: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title</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isbn</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status</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"available"</a:t>
            </a:r>
            <a:r>
              <a:rPr lang="en-US" b="0" dirty="0">
                <a:solidFill>
                  <a:srgbClr val="CCCCCC"/>
                </a:solidFill>
                <a:effectLst/>
                <a:latin typeface="Consolas" panose="020B0609020204030204" pitchFamily="49" charset="0"/>
              </a:rPr>
              <a:t>; </a:t>
            </a:r>
            <a:r>
              <a:rPr lang="en-US" b="0" dirty="0">
                <a:solidFill>
                  <a:srgbClr val="6A9955"/>
                </a:solidFill>
                <a:effectLst/>
                <a:latin typeface="Consolas" panose="020B0609020204030204" pitchFamily="49" charset="0"/>
              </a:rPr>
              <a:t>// "available" or "borrowed"</a:t>
            </a:r>
            <a:endParaRPr lang="en-US" b="0" dirty="0">
              <a:solidFill>
                <a:srgbClr val="CCCCCC"/>
              </a:solidFill>
              <a:effectLst/>
              <a:latin typeface="Consolas" panose="020B0609020204030204" pitchFamily="49" charset="0"/>
            </a:endParaRP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Member</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borrowedBy</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null</a:t>
            </a:r>
            <a:r>
              <a:rPr lang="en-US" b="0" dirty="0">
                <a:solidFill>
                  <a:srgbClr val="CCCCCC"/>
                </a:solidFill>
                <a:effectLst/>
                <a:latin typeface="Consolas" panose="020B0609020204030204" pitchFamily="49" charset="0"/>
              </a:rPr>
              <a:t>;    </a:t>
            </a:r>
            <a:r>
              <a:rPr lang="en-US" b="0" dirty="0">
                <a:solidFill>
                  <a:srgbClr val="6A9955"/>
                </a:solidFill>
                <a:effectLst/>
                <a:latin typeface="Consolas" panose="020B0609020204030204" pitchFamily="49" charset="0"/>
              </a:rPr>
              <a:t>// which Member has borrowed it</a:t>
            </a:r>
            <a:endParaRPr lang="en-US" b="0" dirty="0">
              <a:solidFill>
                <a:srgbClr val="CCCCCC"/>
              </a:solidFill>
              <a:effectLst/>
              <a:latin typeface="Consolas" panose="020B0609020204030204" pitchFamily="49" charset="0"/>
            </a:endParaRPr>
          </a:p>
          <a:p>
            <a:pPr>
              <a:buNone/>
            </a:pPr>
            <a:br>
              <a:rPr lang="en-US" b="0" dirty="0">
                <a:solidFill>
                  <a:srgbClr val="CCCCCC"/>
                </a:solidFill>
                <a:effectLst/>
                <a:latin typeface="Consolas" panose="020B0609020204030204" pitchFamily="49" charset="0"/>
              </a:rPr>
            </a:br>
            <a:r>
              <a:rPr lang="en-US" b="0" dirty="0">
                <a:solidFill>
                  <a:srgbClr val="CCCCCC"/>
                </a:solidFill>
                <a:effectLst/>
                <a:latin typeface="Consolas" panose="020B0609020204030204" pitchFamily="49" charset="0"/>
              </a:rPr>
              <a:t>    </a:t>
            </a:r>
            <a:r>
              <a:rPr lang="en-US" b="0" dirty="0">
                <a:solidFill>
                  <a:srgbClr val="DCDCAA"/>
                </a:solidFill>
                <a:effectLst/>
                <a:latin typeface="Consolas" panose="020B0609020204030204" pitchFamily="49" charset="0"/>
              </a:rPr>
              <a:t>Book</a:t>
            </a:r>
            <a:r>
              <a:rPr lang="en-US" b="0" dirty="0">
                <a:solidFill>
                  <a:srgbClr val="CCCCCC"/>
                </a:solidFill>
                <a:effectLst/>
                <a:latin typeface="Consolas" panose="020B0609020204030204" pitchFamily="49" charset="0"/>
              </a:rPr>
              <a:t>(</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title</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isbn</a:t>
            </a: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err="1">
                <a:solidFill>
                  <a:srgbClr val="569CD6"/>
                </a:solidFill>
                <a:effectLst/>
                <a:latin typeface="Consolas" panose="020B0609020204030204" pitchFamily="49" charset="0"/>
              </a:rPr>
              <a:t>this</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title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title</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err="1">
                <a:solidFill>
                  <a:srgbClr val="569CD6"/>
                </a:solidFill>
                <a:effectLst/>
                <a:latin typeface="Consolas" panose="020B0609020204030204" pitchFamily="49" charset="0"/>
              </a:rPr>
              <a:t>this</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isbn</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isbn</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a:t>
            </a:r>
          </a:p>
        </p:txBody>
      </p:sp>
      <p:sp>
        <p:nvSpPr>
          <p:cNvPr id="41" name="TextBox 40">
            <a:extLst>
              <a:ext uri="{FF2B5EF4-FFF2-40B4-BE49-F238E27FC236}">
                <a16:creationId xmlns:a16="http://schemas.microsoft.com/office/drawing/2014/main" id="{10CB3C05-BD4B-CFF8-9E00-EFAB3E918ACF}"/>
              </a:ext>
            </a:extLst>
          </p:cNvPr>
          <p:cNvSpPr txBox="1"/>
          <p:nvPr/>
        </p:nvSpPr>
        <p:spPr>
          <a:xfrm>
            <a:off x="3294" y="4642981"/>
            <a:ext cx="8352928" cy="1964512"/>
          </a:xfrm>
          <a:prstGeom prst="rect">
            <a:avLst/>
          </a:prstGeom>
          <a:noFill/>
        </p:spPr>
        <p:txBody>
          <a:bodyPr wrap="square">
            <a:spAutoFit/>
          </a:bodyPr>
          <a:lstStyle/>
          <a:p>
            <a:pPr>
              <a:lnSpc>
                <a:spcPct val="150000"/>
              </a:lnSpc>
              <a:buNone/>
            </a:pPr>
            <a:r>
              <a:rPr lang="en-US" sz="2800" b="1" dirty="0">
                <a:latin typeface="Calibir"/>
              </a:rPr>
              <a:t>Book</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Keeps the title, ISBN, whether it’s available or borrowed, and (if borrowed) which member has it.</a:t>
            </a:r>
          </a:p>
        </p:txBody>
      </p:sp>
      <p:sp>
        <p:nvSpPr>
          <p:cNvPr id="5" name="Oval 4">
            <a:extLst>
              <a:ext uri="{FF2B5EF4-FFF2-40B4-BE49-F238E27FC236}">
                <a16:creationId xmlns:a16="http://schemas.microsoft.com/office/drawing/2014/main" id="{96566C62-3BD4-C0CA-23F6-2D535296658C}"/>
              </a:ext>
            </a:extLst>
          </p:cNvPr>
          <p:cNvSpPr/>
          <p:nvPr/>
        </p:nvSpPr>
        <p:spPr>
          <a:xfrm>
            <a:off x="9798306" y="5462328"/>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5590834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A4483-44C9-5506-9363-180800DE2D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E1FB1C-FE34-9AA1-5D30-E3D1322157FC}"/>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sp>
        <p:nvSpPr>
          <p:cNvPr id="39" name="TextBox 38">
            <a:extLst>
              <a:ext uri="{FF2B5EF4-FFF2-40B4-BE49-F238E27FC236}">
                <a16:creationId xmlns:a16="http://schemas.microsoft.com/office/drawing/2014/main" id="{62860A33-5421-BA5D-2F03-221E2955785D}"/>
              </a:ext>
            </a:extLst>
          </p:cNvPr>
          <p:cNvSpPr txBox="1"/>
          <p:nvPr/>
        </p:nvSpPr>
        <p:spPr>
          <a:xfrm>
            <a:off x="85754" y="672662"/>
            <a:ext cx="8299962" cy="3139321"/>
          </a:xfrm>
          <a:prstGeom prst="rect">
            <a:avLst/>
          </a:prstGeom>
          <a:solidFill>
            <a:schemeClr val="tx1"/>
          </a:solidFill>
        </p:spPr>
        <p:txBody>
          <a:bodyPr wrap="square">
            <a:spAutoFit/>
          </a:bodyPr>
          <a:lstStyle/>
          <a:p>
            <a:pPr>
              <a:buNone/>
            </a:pPr>
            <a:r>
              <a:rPr lang="en-US" b="0" dirty="0">
                <a:solidFill>
                  <a:srgbClr val="569CD6"/>
                </a:solidFill>
                <a:effectLst/>
                <a:latin typeface="Consolas" panose="020B0609020204030204" pitchFamily="49" charset="0"/>
              </a:rPr>
              <a:t>class</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Member</a:t>
            </a: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int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id</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name</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email</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List</a:t>
            </a:r>
            <a:r>
              <a:rPr lang="en-US" b="0" dirty="0">
                <a:solidFill>
                  <a:srgbClr val="CCCCCC"/>
                </a:solidFill>
                <a:effectLst/>
                <a:latin typeface="Consolas" panose="020B0609020204030204" pitchFamily="49" charset="0"/>
              </a:rPr>
              <a:t>&lt;</a:t>
            </a:r>
            <a:r>
              <a:rPr lang="en-US" b="0" dirty="0">
                <a:solidFill>
                  <a:srgbClr val="4EC9B0"/>
                </a:solidFill>
                <a:effectLst/>
                <a:latin typeface="Consolas" panose="020B0609020204030204" pitchFamily="49" charset="0"/>
              </a:rPr>
              <a:t>Book</a:t>
            </a:r>
            <a:r>
              <a:rPr lang="en-US" b="0" dirty="0">
                <a:solidFill>
                  <a:srgbClr val="CCCCCC"/>
                </a:solidFill>
                <a:effectLst/>
                <a:latin typeface="Consolas" panose="020B0609020204030204" pitchFamily="49" charset="0"/>
              </a:rPr>
              <a:t>&gt; </a:t>
            </a:r>
            <a:r>
              <a:rPr lang="en-US" b="0" dirty="0" err="1">
                <a:solidFill>
                  <a:srgbClr val="9CDCFE"/>
                </a:solidFill>
                <a:effectLst/>
                <a:latin typeface="Consolas" panose="020B0609020204030204" pitchFamily="49" charset="0"/>
              </a:rPr>
              <a:t>borrowedBooks</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586C0"/>
                </a:solidFill>
                <a:effectLst/>
                <a:latin typeface="Consolas" panose="020B0609020204030204" pitchFamily="49" charset="0"/>
              </a:rPr>
              <a:t>new</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ArrayList</a:t>
            </a:r>
            <a:r>
              <a:rPr lang="en-US" b="0" dirty="0">
                <a:solidFill>
                  <a:srgbClr val="CCCCCC"/>
                </a:solidFill>
                <a:effectLst/>
                <a:latin typeface="Consolas" panose="020B0609020204030204" pitchFamily="49" charset="0"/>
              </a:rPr>
              <a:t>&lt;&gt;();</a:t>
            </a:r>
          </a:p>
          <a:p>
            <a:pPr>
              <a:buNone/>
            </a:pPr>
            <a:br>
              <a:rPr lang="en-US" b="0" dirty="0">
                <a:solidFill>
                  <a:srgbClr val="CCCCCC"/>
                </a:solidFill>
                <a:effectLst/>
                <a:latin typeface="Consolas" panose="020B0609020204030204" pitchFamily="49" charset="0"/>
              </a:rPr>
            </a:br>
            <a:r>
              <a:rPr lang="en-US" b="0" dirty="0">
                <a:solidFill>
                  <a:srgbClr val="CCCCCC"/>
                </a:solidFill>
                <a:effectLst/>
                <a:latin typeface="Consolas" panose="020B0609020204030204" pitchFamily="49" charset="0"/>
              </a:rPr>
              <a:t>    </a:t>
            </a:r>
            <a:r>
              <a:rPr lang="en-US" b="0" dirty="0">
                <a:solidFill>
                  <a:srgbClr val="DCDCAA"/>
                </a:solidFill>
                <a:effectLst/>
                <a:latin typeface="Consolas" panose="020B0609020204030204" pitchFamily="49" charset="0"/>
              </a:rPr>
              <a:t>Member</a:t>
            </a:r>
            <a:r>
              <a:rPr lang="en-US" b="0" dirty="0">
                <a:solidFill>
                  <a:srgbClr val="CCCCCC"/>
                </a:solidFill>
                <a:effectLst/>
                <a:latin typeface="Consolas" panose="020B0609020204030204" pitchFamily="49" charset="0"/>
              </a:rPr>
              <a:t>(</a:t>
            </a:r>
            <a:r>
              <a:rPr lang="en-US" b="0" dirty="0">
                <a:solidFill>
                  <a:srgbClr val="4EC9B0"/>
                </a:solidFill>
                <a:effectLst/>
                <a:latin typeface="Consolas" panose="020B0609020204030204" pitchFamily="49" charset="0"/>
              </a:rPr>
              <a:t>int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id</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name</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email</a:t>
            </a: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this</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id</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id</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this</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name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name</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err="1">
                <a:solidFill>
                  <a:srgbClr val="569CD6"/>
                </a:solidFill>
                <a:effectLst/>
                <a:latin typeface="Consolas" panose="020B0609020204030204" pitchFamily="49" charset="0"/>
              </a:rPr>
              <a:t>this</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email</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email</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p>
        </p:txBody>
      </p:sp>
      <p:sp>
        <p:nvSpPr>
          <p:cNvPr id="5" name="Rectangle 1">
            <a:extLst>
              <a:ext uri="{FF2B5EF4-FFF2-40B4-BE49-F238E27FC236}">
                <a16:creationId xmlns:a16="http://schemas.microsoft.com/office/drawing/2014/main" id="{E21532FA-FF24-3D0A-C3DE-2A5C5C864681}"/>
              </a:ext>
            </a:extLst>
          </p:cNvPr>
          <p:cNvSpPr>
            <a:spLocks noChangeArrowheads="1"/>
          </p:cNvSpPr>
          <p:nvPr/>
        </p:nvSpPr>
        <p:spPr bwMode="auto">
          <a:xfrm>
            <a:off x="153649" y="3873916"/>
            <a:ext cx="5757746" cy="1964512"/>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Member</a:t>
            </a:r>
          </a:p>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Stores id, name, email, and a list of books they currently hold.</a:t>
            </a:r>
          </a:p>
        </p:txBody>
      </p:sp>
      <p:sp>
        <p:nvSpPr>
          <p:cNvPr id="3" name="Rectangle 2">
            <a:extLst>
              <a:ext uri="{FF2B5EF4-FFF2-40B4-BE49-F238E27FC236}">
                <a16:creationId xmlns:a16="http://schemas.microsoft.com/office/drawing/2014/main" id="{EAC59736-2463-BDC9-CE88-A9CB1AF2F813}"/>
              </a:ext>
            </a:extLst>
          </p:cNvPr>
          <p:cNvSpPr/>
          <p:nvPr/>
        </p:nvSpPr>
        <p:spPr>
          <a:xfrm>
            <a:off x="8525675" y="4886722"/>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4" name="Straight Connector 3">
            <a:extLst>
              <a:ext uri="{FF2B5EF4-FFF2-40B4-BE49-F238E27FC236}">
                <a16:creationId xmlns:a16="http://schemas.microsoft.com/office/drawing/2014/main" id="{C9EA9C18-BAA8-8908-DAE9-532D3D576BB8}"/>
              </a:ext>
            </a:extLst>
          </p:cNvPr>
          <p:cNvCxnSpPr>
            <a:cxnSpLocks/>
          </p:cNvCxnSpPr>
          <p:nvPr/>
        </p:nvCxnSpPr>
        <p:spPr>
          <a:xfrm>
            <a:off x="9651496" y="5523412"/>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9613024-BC44-7601-31F3-869545672BD7}"/>
              </a:ext>
            </a:extLst>
          </p:cNvPr>
          <p:cNvCxnSpPr>
            <a:cxnSpLocks/>
          </p:cNvCxnSpPr>
          <p:nvPr/>
        </p:nvCxnSpPr>
        <p:spPr>
          <a:xfrm flipV="1">
            <a:off x="11466933" y="4052391"/>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6E90EF70-CF51-6B11-083A-723A8D1E3055}"/>
              </a:ext>
            </a:extLst>
          </p:cNvPr>
          <p:cNvCxnSpPr>
            <a:cxnSpLocks/>
          </p:cNvCxnSpPr>
          <p:nvPr/>
        </p:nvCxnSpPr>
        <p:spPr>
          <a:xfrm>
            <a:off x="11245867" y="4064143"/>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5B6E2996-02DC-9C66-49C5-C72908CE2052}"/>
              </a:ext>
            </a:extLst>
          </p:cNvPr>
          <p:cNvSpPr/>
          <p:nvPr/>
        </p:nvSpPr>
        <p:spPr>
          <a:xfrm>
            <a:off x="11400635" y="4231949"/>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9" name="Straight Connector 8">
            <a:extLst>
              <a:ext uri="{FF2B5EF4-FFF2-40B4-BE49-F238E27FC236}">
                <a16:creationId xmlns:a16="http://schemas.microsoft.com/office/drawing/2014/main" id="{4436B511-6CA5-3A03-CCF0-7E690767C1B6}"/>
              </a:ext>
            </a:extLst>
          </p:cNvPr>
          <p:cNvCxnSpPr/>
          <p:nvPr/>
        </p:nvCxnSpPr>
        <p:spPr>
          <a:xfrm>
            <a:off x="9706924" y="5342716"/>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E1176AC7-1F1F-A0DE-0E86-5C7C61ABC5F7}"/>
              </a:ext>
            </a:extLst>
          </p:cNvPr>
          <p:cNvSpPr txBox="1"/>
          <p:nvPr/>
        </p:nvSpPr>
        <p:spPr>
          <a:xfrm>
            <a:off x="10444192" y="4068361"/>
            <a:ext cx="1114098" cy="523220"/>
          </a:xfrm>
          <a:prstGeom prst="rect">
            <a:avLst/>
          </a:prstGeom>
          <a:noFill/>
        </p:spPr>
        <p:txBody>
          <a:bodyPr wrap="square" rtlCol="0">
            <a:spAutoFit/>
          </a:bodyPr>
          <a:lstStyle/>
          <a:p>
            <a:r>
              <a:rPr lang="en-AU" sz="2800" dirty="0">
                <a:latin typeface="Calibir"/>
              </a:rPr>
              <a:t>(0, 5)</a:t>
            </a:r>
          </a:p>
        </p:txBody>
      </p:sp>
      <p:sp>
        <p:nvSpPr>
          <p:cNvPr id="11" name="TextBox 10">
            <a:extLst>
              <a:ext uri="{FF2B5EF4-FFF2-40B4-BE49-F238E27FC236}">
                <a16:creationId xmlns:a16="http://schemas.microsoft.com/office/drawing/2014/main" id="{E256B8FF-E644-062F-CE50-632D589D31AB}"/>
              </a:ext>
            </a:extLst>
          </p:cNvPr>
          <p:cNvSpPr txBox="1"/>
          <p:nvPr/>
        </p:nvSpPr>
        <p:spPr>
          <a:xfrm>
            <a:off x="9232589" y="4434591"/>
            <a:ext cx="1114098" cy="523220"/>
          </a:xfrm>
          <a:prstGeom prst="rect">
            <a:avLst/>
          </a:prstGeom>
          <a:noFill/>
        </p:spPr>
        <p:txBody>
          <a:bodyPr wrap="square" rtlCol="0">
            <a:spAutoFit/>
          </a:bodyPr>
          <a:lstStyle/>
          <a:p>
            <a:r>
              <a:rPr lang="en-AU" sz="2800" dirty="0">
                <a:latin typeface="Calibir"/>
              </a:rPr>
              <a:t>(0, 1)</a:t>
            </a:r>
          </a:p>
        </p:txBody>
      </p:sp>
      <p:sp>
        <p:nvSpPr>
          <p:cNvPr id="12" name="Rectangle 11">
            <a:extLst>
              <a:ext uri="{FF2B5EF4-FFF2-40B4-BE49-F238E27FC236}">
                <a16:creationId xmlns:a16="http://schemas.microsoft.com/office/drawing/2014/main" id="{ED4BA679-8EFA-92BC-A26E-B1416500A01D}"/>
              </a:ext>
            </a:extLst>
          </p:cNvPr>
          <p:cNvSpPr/>
          <p:nvPr/>
        </p:nvSpPr>
        <p:spPr>
          <a:xfrm>
            <a:off x="8525674" y="2754846"/>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13" name="Rectangle 12">
            <a:extLst>
              <a:ext uri="{FF2B5EF4-FFF2-40B4-BE49-F238E27FC236}">
                <a16:creationId xmlns:a16="http://schemas.microsoft.com/office/drawing/2014/main" id="{D835A30D-BFEA-2A76-DDC6-5943A3B3D85A}"/>
              </a:ext>
            </a:extLst>
          </p:cNvPr>
          <p:cNvSpPr/>
          <p:nvPr/>
        </p:nvSpPr>
        <p:spPr>
          <a:xfrm>
            <a:off x="10921036" y="2765604"/>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14" name="Straight Connector 13">
            <a:extLst>
              <a:ext uri="{FF2B5EF4-FFF2-40B4-BE49-F238E27FC236}">
                <a16:creationId xmlns:a16="http://schemas.microsoft.com/office/drawing/2014/main" id="{D14DD7B3-BAFB-B01C-FE5D-7D4F98939D80}"/>
              </a:ext>
            </a:extLst>
          </p:cNvPr>
          <p:cNvCxnSpPr/>
          <p:nvPr/>
        </p:nvCxnSpPr>
        <p:spPr>
          <a:xfrm>
            <a:off x="9639771" y="3397398"/>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0988667-F573-4D67-6A83-AC4AA8162E7C}"/>
              </a:ext>
            </a:extLst>
          </p:cNvPr>
          <p:cNvCxnSpPr>
            <a:cxnSpLocks/>
          </p:cNvCxnSpPr>
          <p:nvPr/>
        </p:nvCxnSpPr>
        <p:spPr>
          <a:xfrm flipV="1">
            <a:off x="10722336" y="3255507"/>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50E8058-DA9F-3EDB-F369-E404D38D0080}"/>
              </a:ext>
            </a:extLst>
          </p:cNvPr>
          <p:cNvCxnSpPr>
            <a:cxnSpLocks/>
          </p:cNvCxnSpPr>
          <p:nvPr/>
        </p:nvCxnSpPr>
        <p:spPr>
          <a:xfrm>
            <a:off x="10722336" y="3397398"/>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17" name="Oval 16">
            <a:extLst>
              <a:ext uri="{FF2B5EF4-FFF2-40B4-BE49-F238E27FC236}">
                <a16:creationId xmlns:a16="http://schemas.microsoft.com/office/drawing/2014/main" id="{9FB79533-F81B-9916-3950-E88D070CB706}"/>
              </a:ext>
            </a:extLst>
          </p:cNvPr>
          <p:cNvSpPr/>
          <p:nvPr/>
        </p:nvSpPr>
        <p:spPr>
          <a:xfrm>
            <a:off x="10507747" y="3326452"/>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8" name="Straight Connector 17">
            <a:extLst>
              <a:ext uri="{FF2B5EF4-FFF2-40B4-BE49-F238E27FC236}">
                <a16:creationId xmlns:a16="http://schemas.microsoft.com/office/drawing/2014/main" id="{3E527D46-E06F-FCBD-2E07-6058559F5CCA}"/>
              </a:ext>
            </a:extLst>
          </p:cNvPr>
          <p:cNvCxnSpPr/>
          <p:nvPr/>
        </p:nvCxnSpPr>
        <p:spPr>
          <a:xfrm>
            <a:off x="9706923" y="3210840"/>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E73DA8CF-262C-DDBF-9982-9DA805CFF5BA}"/>
              </a:ext>
            </a:extLst>
          </p:cNvPr>
          <p:cNvSpPr txBox="1"/>
          <p:nvPr/>
        </p:nvSpPr>
        <p:spPr>
          <a:xfrm>
            <a:off x="10352835" y="2302715"/>
            <a:ext cx="1114098" cy="523220"/>
          </a:xfrm>
          <a:prstGeom prst="rect">
            <a:avLst/>
          </a:prstGeom>
          <a:noFill/>
        </p:spPr>
        <p:txBody>
          <a:bodyPr wrap="square" rtlCol="0">
            <a:spAutoFit/>
          </a:bodyPr>
          <a:lstStyle/>
          <a:p>
            <a:r>
              <a:rPr lang="en-AU" sz="2800" dirty="0">
                <a:latin typeface="Calibir"/>
              </a:rPr>
              <a:t>(1, M)</a:t>
            </a:r>
          </a:p>
        </p:txBody>
      </p:sp>
      <p:sp>
        <p:nvSpPr>
          <p:cNvPr id="20" name="TextBox 19">
            <a:extLst>
              <a:ext uri="{FF2B5EF4-FFF2-40B4-BE49-F238E27FC236}">
                <a16:creationId xmlns:a16="http://schemas.microsoft.com/office/drawing/2014/main" id="{543ECC9C-43B4-EE61-35C8-78A90A2F4189}"/>
              </a:ext>
            </a:extLst>
          </p:cNvPr>
          <p:cNvSpPr txBox="1"/>
          <p:nvPr/>
        </p:nvSpPr>
        <p:spPr>
          <a:xfrm>
            <a:off x="9232588" y="2302715"/>
            <a:ext cx="1114098" cy="523220"/>
          </a:xfrm>
          <a:prstGeom prst="rect">
            <a:avLst/>
          </a:prstGeom>
          <a:noFill/>
        </p:spPr>
        <p:txBody>
          <a:bodyPr wrap="square" rtlCol="0">
            <a:spAutoFit/>
          </a:bodyPr>
          <a:lstStyle/>
          <a:p>
            <a:r>
              <a:rPr lang="en-AU" sz="2800" dirty="0">
                <a:latin typeface="Calibir"/>
              </a:rPr>
              <a:t>(1, 1)</a:t>
            </a:r>
          </a:p>
        </p:txBody>
      </p:sp>
      <p:sp>
        <p:nvSpPr>
          <p:cNvPr id="21" name="Rectangle 20">
            <a:extLst>
              <a:ext uri="{FF2B5EF4-FFF2-40B4-BE49-F238E27FC236}">
                <a16:creationId xmlns:a16="http://schemas.microsoft.com/office/drawing/2014/main" id="{E9977389-8C59-BE53-57BE-9A587C2F4352}"/>
              </a:ext>
            </a:extLst>
          </p:cNvPr>
          <p:cNvSpPr/>
          <p:nvPr/>
        </p:nvSpPr>
        <p:spPr>
          <a:xfrm>
            <a:off x="8525673" y="372123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22" name="Rectangle 21">
            <a:extLst>
              <a:ext uri="{FF2B5EF4-FFF2-40B4-BE49-F238E27FC236}">
                <a16:creationId xmlns:a16="http://schemas.microsoft.com/office/drawing/2014/main" id="{D60107EE-85A2-A86B-71DD-C8A7950D842B}"/>
              </a:ext>
            </a:extLst>
          </p:cNvPr>
          <p:cNvSpPr/>
          <p:nvPr/>
        </p:nvSpPr>
        <p:spPr>
          <a:xfrm>
            <a:off x="8525673" y="341587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23" name="TextBox 22">
            <a:extLst>
              <a:ext uri="{FF2B5EF4-FFF2-40B4-BE49-F238E27FC236}">
                <a16:creationId xmlns:a16="http://schemas.microsoft.com/office/drawing/2014/main" id="{EB552B75-5297-738D-E5F1-B85A1A97F5CC}"/>
              </a:ext>
            </a:extLst>
          </p:cNvPr>
          <p:cNvSpPr txBox="1"/>
          <p:nvPr/>
        </p:nvSpPr>
        <p:spPr>
          <a:xfrm>
            <a:off x="9789637" y="2931791"/>
            <a:ext cx="931209" cy="523220"/>
          </a:xfrm>
          <a:prstGeom prst="rect">
            <a:avLst/>
          </a:prstGeom>
          <a:noFill/>
        </p:spPr>
        <p:txBody>
          <a:bodyPr wrap="square" rtlCol="0">
            <a:spAutoFit/>
          </a:bodyPr>
          <a:lstStyle/>
          <a:p>
            <a:r>
              <a:rPr lang="en-AU" sz="2800" dirty="0">
                <a:latin typeface="Calibir"/>
              </a:rPr>
              <a:t>has</a:t>
            </a:r>
          </a:p>
        </p:txBody>
      </p:sp>
      <p:sp>
        <p:nvSpPr>
          <p:cNvPr id="24" name="Rectangle 23">
            <a:extLst>
              <a:ext uri="{FF2B5EF4-FFF2-40B4-BE49-F238E27FC236}">
                <a16:creationId xmlns:a16="http://schemas.microsoft.com/office/drawing/2014/main" id="{B3ECC944-9E00-5B1E-42D9-B296CAE28F0A}"/>
              </a:ext>
            </a:extLst>
          </p:cNvPr>
          <p:cNvSpPr/>
          <p:nvPr/>
        </p:nvSpPr>
        <p:spPr>
          <a:xfrm>
            <a:off x="10916035" y="373286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25" name="Rectangle 24">
            <a:extLst>
              <a:ext uri="{FF2B5EF4-FFF2-40B4-BE49-F238E27FC236}">
                <a16:creationId xmlns:a16="http://schemas.microsoft.com/office/drawing/2014/main" id="{1E04C264-5B5C-AC27-F4F9-BCD088D3F372}"/>
              </a:ext>
            </a:extLst>
          </p:cNvPr>
          <p:cNvSpPr/>
          <p:nvPr/>
        </p:nvSpPr>
        <p:spPr>
          <a:xfrm>
            <a:off x="10916035" y="342750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26" name="Rectangle 25">
            <a:extLst>
              <a:ext uri="{FF2B5EF4-FFF2-40B4-BE49-F238E27FC236}">
                <a16:creationId xmlns:a16="http://schemas.microsoft.com/office/drawing/2014/main" id="{2ED389BB-722D-F3FF-CE0D-4D39D08C5AB5}"/>
              </a:ext>
            </a:extLst>
          </p:cNvPr>
          <p:cNvSpPr/>
          <p:nvPr/>
        </p:nvSpPr>
        <p:spPr>
          <a:xfrm>
            <a:off x="10916034" y="312437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27" name="Straight Connector 26">
            <a:extLst>
              <a:ext uri="{FF2B5EF4-FFF2-40B4-BE49-F238E27FC236}">
                <a16:creationId xmlns:a16="http://schemas.microsoft.com/office/drawing/2014/main" id="{82B4AA52-0A48-4C9B-E7F9-7AA14A7B9CC8}"/>
              </a:ext>
            </a:extLst>
          </p:cNvPr>
          <p:cNvCxnSpPr>
            <a:cxnSpLocks/>
            <a:endCxn id="24" idx="2"/>
          </p:cNvCxnSpPr>
          <p:nvPr/>
        </p:nvCxnSpPr>
        <p:spPr>
          <a:xfrm flipH="1" flipV="1">
            <a:off x="11473084" y="4038228"/>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7078FA1E-689F-8834-842D-7FD4D671E0BB}"/>
              </a:ext>
            </a:extLst>
          </p:cNvPr>
          <p:cNvSpPr txBox="1"/>
          <p:nvPr/>
        </p:nvSpPr>
        <p:spPr>
          <a:xfrm>
            <a:off x="9809223" y="5012347"/>
            <a:ext cx="2382777" cy="523220"/>
          </a:xfrm>
          <a:prstGeom prst="rect">
            <a:avLst/>
          </a:prstGeom>
          <a:noFill/>
        </p:spPr>
        <p:txBody>
          <a:bodyPr wrap="square" rtlCol="0">
            <a:spAutoFit/>
          </a:bodyPr>
          <a:lstStyle/>
          <a:p>
            <a:r>
              <a:rPr lang="en-AU" sz="2800" dirty="0">
                <a:latin typeface="Calibir"/>
              </a:rPr>
              <a:t>Borrowed by</a:t>
            </a:r>
          </a:p>
        </p:txBody>
      </p:sp>
      <p:sp>
        <p:nvSpPr>
          <p:cNvPr id="29" name="Rectangle 28">
            <a:extLst>
              <a:ext uri="{FF2B5EF4-FFF2-40B4-BE49-F238E27FC236}">
                <a16:creationId xmlns:a16="http://schemas.microsoft.com/office/drawing/2014/main" id="{82DCC3C8-5CD3-2714-9AED-D51268325683}"/>
              </a:ext>
            </a:extLst>
          </p:cNvPr>
          <p:cNvSpPr/>
          <p:nvPr/>
        </p:nvSpPr>
        <p:spPr>
          <a:xfrm>
            <a:off x="8526248" y="576101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30" name="Rectangle 29">
            <a:extLst>
              <a:ext uri="{FF2B5EF4-FFF2-40B4-BE49-F238E27FC236}">
                <a16:creationId xmlns:a16="http://schemas.microsoft.com/office/drawing/2014/main" id="{BBDE59BB-4E10-632A-B706-B99F95C96392}"/>
              </a:ext>
            </a:extLst>
          </p:cNvPr>
          <p:cNvSpPr/>
          <p:nvPr/>
        </p:nvSpPr>
        <p:spPr>
          <a:xfrm>
            <a:off x="8526248" y="547795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31" name="Rectangle 30">
            <a:extLst>
              <a:ext uri="{FF2B5EF4-FFF2-40B4-BE49-F238E27FC236}">
                <a16:creationId xmlns:a16="http://schemas.microsoft.com/office/drawing/2014/main" id="{2ECBD4F7-AC86-2AA6-60E4-C4CECCA9DB8A}"/>
              </a:ext>
            </a:extLst>
          </p:cNvPr>
          <p:cNvSpPr/>
          <p:nvPr/>
        </p:nvSpPr>
        <p:spPr>
          <a:xfrm>
            <a:off x="8526247" y="517482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32" name="Rectangle 31">
            <a:extLst>
              <a:ext uri="{FF2B5EF4-FFF2-40B4-BE49-F238E27FC236}">
                <a16:creationId xmlns:a16="http://schemas.microsoft.com/office/drawing/2014/main" id="{0BC13D67-D020-E163-F5EB-7106D8E47592}"/>
              </a:ext>
            </a:extLst>
          </p:cNvPr>
          <p:cNvSpPr/>
          <p:nvPr/>
        </p:nvSpPr>
        <p:spPr>
          <a:xfrm>
            <a:off x="8530207" y="6474818"/>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33" name="Rectangle 32">
            <a:extLst>
              <a:ext uri="{FF2B5EF4-FFF2-40B4-BE49-F238E27FC236}">
                <a16:creationId xmlns:a16="http://schemas.microsoft.com/office/drawing/2014/main" id="{BD17644A-10BE-833B-8356-7FAFA07983FD}"/>
              </a:ext>
            </a:extLst>
          </p:cNvPr>
          <p:cNvSpPr/>
          <p:nvPr/>
        </p:nvSpPr>
        <p:spPr>
          <a:xfrm>
            <a:off x="8525673" y="6057190"/>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34" name="Oval 33">
            <a:extLst>
              <a:ext uri="{FF2B5EF4-FFF2-40B4-BE49-F238E27FC236}">
                <a16:creationId xmlns:a16="http://schemas.microsoft.com/office/drawing/2014/main" id="{61170931-3D7C-F824-3B7B-45D5BC590138}"/>
              </a:ext>
            </a:extLst>
          </p:cNvPr>
          <p:cNvSpPr/>
          <p:nvPr/>
        </p:nvSpPr>
        <p:spPr>
          <a:xfrm>
            <a:off x="9798306" y="5462328"/>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61237912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DF43E-DAE8-5580-A35F-2CD4F5D465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9521AE-2316-A8D3-B5EF-5FD95232FB0B}"/>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sp>
        <p:nvSpPr>
          <p:cNvPr id="39" name="TextBox 38">
            <a:extLst>
              <a:ext uri="{FF2B5EF4-FFF2-40B4-BE49-F238E27FC236}">
                <a16:creationId xmlns:a16="http://schemas.microsoft.com/office/drawing/2014/main" id="{E0B79378-A833-BB2E-3266-E30C637BAA53}"/>
              </a:ext>
            </a:extLst>
          </p:cNvPr>
          <p:cNvSpPr txBox="1"/>
          <p:nvPr/>
        </p:nvSpPr>
        <p:spPr>
          <a:xfrm>
            <a:off x="85754" y="672662"/>
            <a:ext cx="12106245" cy="5693866"/>
          </a:xfrm>
          <a:prstGeom prst="rect">
            <a:avLst/>
          </a:prstGeom>
          <a:solidFill>
            <a:schemeClr val="tx1"/>
          </a:solidFill>
        </p:spPr>
        <p:txBody>
          <a:bodyPr wrap="square">
            <a:spAutoFit/>
          </a:bodyPr>
          <a:lstStyle/>
          <a:p>
            <a:pPr>
              <a:buNone/>
            </a:pPr>
            <a:r>
              <a:rPr lang="en-US" sz="1400" dirty="0">
                <a:solidFill>
                  <a:srgbClr val="CCCCCC"/>
                </a:solidFill>
                <a:latin typeface="Consolas" panose="020B0609020204030204" pitchFamily="49" charset="0"/>
              </a:rPr>
              <a:t>    </a:t>
            </a:r>
            <a:r>
              <a:rPr lang="en-US" sz="1400" dirty="0">
                <a:solidFill>
                  <a:srgbClr val="4EC9B0"/>
                </a:solidFill>
                <a:latin typeface="Consolas" panose="020B0609020204030204" pitchFamily="49" charset="0"/>
              </a:rPr>
              <a:t>void</a:t>
            </a:r>
            <a:r>
              <a:rPr lang="en-US" sz="1400" dirty="0">
                <a:solidFill>
                  <a:srgbClr val="CCCCCC"/>
                </a:solidFill>
                <a:latin typeface="Consolas" panose="020B0609020204030204" pitchFamily="49" charset="0"/>
              </a:rPr>
              <a:t> </a:t>
            </a:r>
            <a:r>
              <a:rPr lang="en-US" sz="1400" dirty="0">
                <a:solidFill>
                  <a:srgbClr val="DCDCAA"/>
                </a:solidFill>
                <a:latin typeface="Consolas" panose="020B0609020204030204" pitchFamily="49" charset="0"/>
              </a:rPr>
              <a:t>borrow</a:t>
            </a:r>
            <a:r>
              <a:rPr lang="en-US" sz="1400" dirty="0">
                <a:solidFill>
                  <a:srgbClr val="CCCCCC"/>
                </a:solidFill>
                <a:latin typeface="Consolas" panose="020B0609020204030204" pitchFamily="49" charset="0"/>
              </a:rPr>
              <a:t>(</a:t>
            </a:r>
            <a:r>
              <a:rPr lang="en-US" sz="1400" dirty="0">
                <a:solidFill>
                  <a:srgbClr val="4EC9B0"/>
                </a:solidFill>
                <a:latin typeface="Consolas" panose="020B0609020204030204" pitchFamily="49" charset="0"/>
              </a:rPr>
              <a:t>Book</a:t>
            </a: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if</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size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&gt;=</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5</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cannot borrow more than 5 books."</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return</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if</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err="1">
                <a:solidFill>
                  <a:srgbClr val="CE9178"/>
                </a:solidFill>
                <a:latin typeface="Consolas" panose="020B0609020204030204" pitchFamily="49" charset="0"/>
              </a:rPr>
              <a:t>borrowed"</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equals</a:t>
            </a:r>
            <a:r>
              <a:rPr lang="en-US" sz="1400" dirty="0">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status</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CE9178"/>
                </a:solidFill>
                <a:latin typeface="Consolas" panose="020B0609020204030204" pitchFamily="49" charset="0"/>
              </a:rPr>
              <a:t>"Book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is already borrowed."</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return</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status</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"borrowed"</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borrowedBy</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569CD6"/>
                </a:solidFill>
                <a:latin typeface="Consolas" panose="020B0609020204030204" pitchFamily="49" charset="0"/>
              </a:rPr>
              <a:t>this</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add</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borrowed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br>
              <a:rPr lang="en-US" sz="1400" dirty="0">
                <a:solidFill>
                  <a:srgbClr val="CCCCCC"/>
                </a:solidFill>
                <a:latin typeface="Consolas" panose="020B0609020204030204" pitchFamily="49" charset="0"/>
              </a:rPr>
            </a:br>
            <a:r>
              <a:rPr lang="en-US" sz="1400" dirty="0">
                <a:solidFill>
                  <a:srgbClr val="CCCCCC"/>
                </a:solidFill>
                <a:latin typeface="Consolas" panose="020B0609020204030204" pitchFamily="49" charset="0"/>
              </a:rPr>
              <a:t>    </a:t>
            </a:r>
            <a:r>
              <a:rPr lang="en-US" sz="1400" dirty="0">
                <a:solidFill>
                  <a:srgbClr val="4EC9B0"/>
                </a:solidFill>
                <a:latin typeface="Consolas" panose="020B0609020204030204" pitchFamily="49" charset="0"/>
              </a:rPr>
              <a:t>void</a:t>
            </a:r>
            <a:r>
              <a:rPr lang="en-US" sz="1400" dirty="0">
                <a:solidFill>
                  <a:srgbClr val="CCCCCC"/>
                </a:solidFill>
                <a:latin typeface="Consolas" panose="020B0609020204030204" pitchFamily="49" charset="0"/>
              </a:rPr>
              <a:t> </a:t>
            </a:r>
            <a:r>
              <a:rPr lang="en-US" sz="1400" dirty="0" err="1">
                <a:solidFill>
                  <a:srgbClr val="DCDCAA"/>
                </a:solidFill>
                <a:latin typeface="Consolas" panose="020B0609020204030204" pitchFamily="49" charset="0"/>
              </a:rPr>
              <a:t>returnBook</a:t>
            </a:r>
            <a:r>
              <a:rPr lang="en-US" sz="1400" dirty="0">
                <a:solidFill>
                  <a:srgbClr val="CCCCCC"/>
                </a:solidFill>
                <a:latin typeface="Consolas" panose="020B0609020204030204" pitchFamily="49" charset="0"/>
              </a:rPr>
              <a:t>(</a:t>
            </a:r>
            <a:r>
              <a:rPr lang="en-US" sz="1400" dirty="0">
                <a:solidFill>
                  <a:srgbClr val="4EC9B0"/>
                </a:solidFill>
                <a:latin typeface="Consolas" panose="020B0609020204030204" pitchFamily="49" charset="0"/>
              </a:rPr>
              <a:t>Book</a:t>
            </a: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if</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contains</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remove</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status</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"available"</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borrowedBy</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569CD6"/>
                </a:solidFill>
                <a:latin typeface="Consolas" panose="020B0609020204030204" pitchFamily="49" charset="0"/>
              </a:rPr>
              <a:t>null</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returned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 </a:t>
            </a:r>
            <a:r>
              <a:rPr lang="en-US" sz="1400" dirty="0">
                <a:solidFill>
                  <a:srgbClr val="C586C0"/>
                </a:solidFill>
                <a:latin typeface="Consolas" panose="020B0609020204030204" pitchFamily="49" charset="0"/>
              </a:rPr>
              <a:t>else</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does not have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a:t>
            </a:r>
          </a:p>
        </p:txBody>
      </p:sp>
      <p:sp>
        <p:nvSpPr>
          <p:cNvPr id="5" name="Rectangle 1">
            <a:extLst>
              <a:ext uri="{FF2B5EF4-FFF2-40B4-BE49-F238E27FC236}">
                <a16:creationId xmlns:a16="http://schemas.microsoft.com/office/drawing/2014/main" id="{0A5E8AAF-9A66-FB61-0757-1F40C7F3389E}"/>
              </a:ext>
            </a:extLst>
          </p:cNvPr>
          <p:cNvSpPr>
            <a:spLocks noChangeArrowheads="1"/>
          </p:cNvSpPr>
          <p:nvPr/>
        </p:nvSpPr>
        <p:spPr bwMode="auto">
          <a:xfrm>
            <a:off x="8332499" y="672662"/>
            <a:ext cx="3969834" cy="6133859"/>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285750" lvl="0" indent="-28575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borrow(Book)</a:t>
            </a:r>
          </a:p>
          <a:p>
            <a:pPr marL="800100" lvl="1" indent="-342900" eaLnBrk="0" fontAlgn="base" hangingPunct="0">
              <a:lnSpc>
                <a:spcPct val="150000"/>
              </a:lnSpc>
              <a:spcBef>
                <a:spcPct val="0"/>
              </a:spcBef>
              <a:spcAft>
                <a:spcPct val="0"/>
              </a:spcAft>
              <a:buFont typeface="+mj-lt"/>
              <a:buAutoNum type="arabicPeriod"/>
            </a:pPr>
            <a:r>
              <a:rPr lang="en-US" altLang="en-US" sz="2200" dirty="0">
                <a:latin typeface="Calibir"/>
              </a:rPr>
              <a:t>Blocks if the member already has 5 books.</a:t>
            </a:r>
          </a:p>
          <a:p>
            <a:pPr marL="800100" lvl="1" indent="-342900" eaLnBrk="0" fontAlgn="base" hangingPunct="0">
              <a:lnSpc>
                <a:spcPct val="150000"/>
              </a:lnSpc>
              <a:spcBef>
                <a:spcPct val="0"/>
              </a:spcBef>
              <a:spcAft>
                <a:spcPct val="0"/>
              </a:spcAft>
              <a:buFont typeface="+mj-lt"/>
              <a:buAutoNum type="arabicPeriod"/>
            </a:pPr>
            <a:r>
              <a:rPr lang="en-US" altLang="en-US" sz="2200" dirty="0">
                <a:latin typeface="Calibir"/>
              </a:rPr>
              <a:t>Blocks if the book is already borrowed by someone else.</a:t>
            </a:r>
          </a:p>
          <a:p>
            <a:pPr marL="800100" lvl="1" indent="-342900" eaLnBrk="0" fontAlgn="base" hangingPunct="0">
              <a:lnSpc>
                <a:spcPct val="150000"/>
              </a:lnSpc>
              <a:spcBef>
                <a:spcPct val="0"/>
              </a:spcBef>
              <a:spcAft>
                <a:spcPct val="0"/>
              </a:spcAft>
              <a:buFont typeface="+mj-lt"/>
              <a:buAutoNum type="arabicPeriod"/>
            </a:pPr>
            <a:r>
              <a:rPr lang="en-US" altLang="en-US" sz="2200" dirty="0">
                <a:latin typeface="Calibir"/>
              </a:rPr>
              <a:t>Otherwise, marks the book as borrowed, remembers who borrowed it, adds it to the member’s list, and prints a message.</a:t>
            </a:r>
          </a:p>
        </p:txBody>
      </p:sp>
    </p:spTree>
    <p:extLst>
      <p:ext uri="{BB962C8B-B14F-4D97-AF65-F5344CB8AC3E}">
        <p14:creationId xmlns:p14="http://schemas.microsoft.com/office/powerpoint/2010/main" val="41901902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F90F3E-E7EC-71E2-91EA-758B39939A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3175CA-DFDD-44CB-BFC8-3CB7C7AAC492}"/>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sp>
        <p:nvSpPr>
          <p:cNvPr id="39" name="TextBox 38">
            <a:extLst>
              <a:ext uri="{FF2B5EF4-FFF2-40B4-BE49-F238E27FC236}">
                <a16:creationId xmlns:a16="http://schemas.microsoft.com/office/drawing/2014/main" id="{C7A613ED-729F-CC23-F45F-59E4C0E74A16}"/>
              </a:ext>
            </a:extLst>
          </p:cNvPr>
          <p:cNvSpPr txBox="1"/>
          <p:nvPr/>
        </p:nvSpPr>
        <p:spPr>
          <a:xfrm>
            <a:off x="85754" y="672662"/>
            <a:ext cx="12106245" cy="5693866"/>
          </a:xfrm>
          <a:prstGeom prst="rect">
            <a:avLst/>
          </a:prstGeom>
          <a:solidFill>
            <a:schemeClr val="tx1"/>
          </a:solidFill>
        </p:spPr>
        <p:txBody>
          <a:bodyPr wrap="square">
            <a:spAutoFit/>
          </a:bodyPr>
          <a:lstStyle/>
          <a:p>
            <a:pPr>
              <a:buNone/>
            </a:pPr>
            <a:r>
              <a:rPr lang="en-US" sz="1400" dirty="0">
                <a:solidFill>
                  <a:srgbClr val="CCCCCC"/>
                </a:solidFill>
                <a:latin typeface="Consolas" panose="020B0609020204030204" pitchFamily="49" charset="0"/>
              </a:rPr>
              <a:t>    </a:t>
            </a:r>
            <a:r>
              <a:rPr lang="en-US" sz="1400" dirty="0">
                <a:solidFill>
                  <a:srgbClr val="4EC9B0"/>
                </a:solidFill>
                <a:latin typeface="Consolas" panose="020B0609020204030204" pitchFamily="49" charset="0"/>
              </a:rPr>
              <a:t>void</a:t>
            </a:r>
            <a:r>
              <a:rPr lang="en-US" sz="1400" dirty="0">
                <a:solidFill>
                  <a:srgbClr val="CCCCCC"/>
                </a:solidFill>
                <a:latin typeface="Consolas" panose="020B0609020204030204" pitchFamily="49" charset="0"/>
              </a:rPr>
              <a:t> </a:t>
            </a:r>
            <a:r>
              <a:rPr lang="en-US" sz="1400" dirty="0">
                <a:solidFill>
                  <a:srgbClr val="DCDCAA"/>
                </a:solidFill>
                <a:latin typeface="Consolas" panose="020B0609020204030204" pitchFamily="49" charset="0"/>
              </a:rPr>
              <a:t>borrow</a:t>
            </a:r>
            <a:r>
              <a:rPr lang="en-US" sz="1400" dirty="0">
                <a:solidFill>
                  <a:srgbClr val="CCCCCC"/>
                </a:solidFill>
                <a:latin typeface="Consolas" panose="020B0609020204030204" pitchFamily="49" charset="0"/>
              </a:rPr>
              <a:t>(</a:t>
            </a:r>
            <a:r>
              <a:rPr lang="en-US" sz="1400" dirty="0">
                <a:solidFill>
                  <a:srgbClr val="4EC9B0"/>
                </a:solidFill>
                <a:latin typeface="Consolas" panose="020B0609020204030204" pitchFamily="49" charset="0"/>
              </a:rPr>
              <a:t>Book</a:t>
            </a: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if</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size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&gt;=</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5</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cannot borrow more than 5 books."</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return</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if</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err="1">
                <a:solidFill>
                  <a:srgbClr val="CE9178"/>
                </a:solidFill>
                <a:latin typeface="Consolas" panose="020B0609020204030204" pitchFamily="49" charset="0"/>
              </a:rPr>
              <a:t>borrowed"</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equals</a:t>
            </a:r>
            <a:r>
              <a:rPr lang="en-US" sz="1400" dirty="0">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status</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CE9178"/>
                </a:solidFill>
                <a:latin typeface="Consolas" panose="020B0609020204030204" pitchFamily="49" charset="0"/>
              </a:rPr>
              <a:t>"Book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is already borrowed."</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return</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status</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"borrowed"</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borrowedBy</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569CD6"/>
                </a:solidFill>
                <a:latin typeface="Consolas" panose="020B0609020204030204" pitchFamily="49" charset="0"/>
              </a:rPr>
              <a:t>this</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add</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borrowed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br>
              <a:rPr lang="en-US" sz="1400" dirty="0">
                <a:solidFill>
                  <a:srgbClr val="CCCCCC"/>
                </a:solidFill>
                <a:latin typeface="Consolas" panose="020B0609020204030204" pitchFamily="49" charset="0"/>
              </a:rPr>
            </a:br>
            <a:r>
              <a:rPr lang="en-US" sz="1400" dirty="0">
                <a:solidFill>
                  <a:srgbClr val="CCCCCC"/>
                </a:solidFill>
                <a:latin typeface="Consolas" panose="020B0609020204030204" pitchFamily="49" charset="0"/>
              </a:rPr>
              <a:t>    </a:t>
            </a:r>
            <a:r>
              <a:rPr lang="en-US" sz="1400" dirty="0">
                <a:solidFill>
                  <a:srgbClr val="4EC9B0"/>
                </a:solidFill>
                <a:latin typeface="Consolas" panose="020B0609020204030204" pitchFamily="49" charset="0"/>
              </a:rPr>
              <a:t>void</a:t>
            </a:r>
            <a:r>
              <a:rPr lang="en-US" sz="1400" dirty="0">
                <a:solidFill>
                  <a:srgbClr val="CCCCCC"/>
                </a:solidFill>
                <a:latin typeface="Consolas" panose="020B0609020204030204" pitchFamily="49" charset="0"/>
              </a:rPr>
              <a:t> </a:t>
            </a:r>
            <a:r>
              <a:rPr lang="en-US" sz="1400" dirty="0" err="1">
                <a:solidFill>
                  <a:srgbClr val="DCDCAA"/>
                </a:solidFill>
                <a:latin typeface="Consolas" panose="020B0609020204030204" pitchFamily="49" charset="0"/>
              </a:rPr>
              <a:t>returnBook</a:t>
            </a:r>
            <a:r>
              <a:rPr lang="en-US" sz="1400" dirty="0">
                <a:solidFill>
                  <a:srgbClr val="CCCCCC"/>
                </a:solidFill>
                <a:latin typeface="Consolas" panose="020B0609020204030204" pitchFamily="49" charset="0"/>
              </a:rPr>
              <a:t>(</a:t>
            </a:r>
            <a:r>
              <a:rPr lang="en-US" sz="1400" dirty="0">
                <a:solidFill>
                  <a:srgbClr val="4EC9B0"/>
                </a:solidFill>
                <a:latin typeface="Consolas" panose="020B0609020204030204" pitchFamily="49" charset="0"/>
              </a:rPr>
              <a:t>Book</a:t>
            </a: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if</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contains</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remove</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status</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"available"</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borrowedBy</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569CD6"/>
                </a:solidFill>
                <a:latin typeface="Consolas" panose="020B0609020204030204" pitchFamily="49" charset="0"/>
              </a:rPr>
              <a:t>null</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returned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 </a:t>
            </a:r>
            <a:r>
              <a:rPr lang="en-US" sz="1400" dirty="0">
                <a:solidFill>
                  <a:srgbClr val="C586C0"/>
                </a:solidFill>
                <a:latin typeface="Consolas" panose="020B0609020204030204" pitchFamily="49" charset="0"/>
              </a:rPr>
              <a:t>else</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does not have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a:t>
            </a:r>
          </a:p>
        </p:txBody>
      </p:sp>
      <p:sp>
        <p:nvSpPr>
          <p:cNvPr id="5" name="Rectangle 1">
            <a:extLst>
              <a:ext uri="{FF2B5EF4-FFF2-40B4-BE49-F238E27FC236}">
                <a16:creationId xmlns:a16="http://schemas.microsoft.com/office/drawing/2014/main" id="{52B048BE-C035-9454-04A3-8E0F4BDA7857}"/>
              </a:ext>
            </a:extLst>
          </p:cNvPr>
          <p:cNvSpPr>
            <a:spLocks noChangeArrowheads="1"/>
          </p:cNvSpPr>
          <p:nvPr/>
        </p:nvSpPr>
        <p:spPr bwMode="auto">
          <a:xfrm>
            <a:off x="8222166" y="672662"/>
            <a:ext cx="3969834" cy="4072269"/>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285750" lvl="0" indent="-285750" eaLnBrk="0" fontAlgn="base" hangingPunct="0">
              <a:lnSpc>
                <a:spcPct val="150000"/>
              </a:lnSpc>
              <a:spcBef>
                <a:spcPct val="0"/>
              </a:spcBef>
              <a:spcAft>
                <a:spcPct val="0"/>
              </a:spcAft>
              <a:buFont typeface="Arial" panose="020B0604020202020204" pitchFamily="34" charset="0"/>
              <a:buChar char="•"/>
            </a:pPr>
            <a:r>
              <a:rPr lang="en-US" altLang="en-US" sz="2500" dirty="0" err="1">
                <a:latin typeface="Calibir"/>
              </a:rPr>
              <a:t>returnBook</a:t>
            </a:r>
            <a:r>
              <a:rPr lang="en-US" altLang="en-US" sz="2500" dirty="0">
                <a:latin typeface="Calibir"/>
              </a:rPr>
              <a:t>(Book)</a:t>
            </a:r>
          </a:p>
          <a:p>
            <a:pPr marL="742950" lvl="1" indent="-28575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If the member has that book, it removes it from their list, marks it available, clears the borrower, and prints a message.</a:t>
            </a:r>
          </a:p>
        </p:txBody>
      </p:sp>
    </p:spTree>
    <p:extLst>
      <p:ext uri="{BB962C8B-B14F-4D97-AF65-F5344CB8AC3E}">
        <p14:creationId xmlns:p14="http://schemas.microsoft.com/office/powerpoint/2010/main" val="17591517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2FD36-5AD5-8B40-76EF-85057DEEC4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3950C1-5065-2C9E-6266-513225E1FE33}"/>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sp>
        <p:nvSpPr>
          <p:cNvPr id="39" name="TextBox 38">
            <a:extLst>
              <a:ext uri="{FF2B5EF4-FFF2-40B4-BE49-F238E27FC236}">
                <a16:creationId xmlns:a16="http://schemas.microsoft.com/office/drawing/2014/main" id="{C07146B6-E68F-D919-BF92-7B024F961507}"/>
              </a:ext>
            </a:extLst>
          </p:cNvPr>
          <p:cNvSpPr txBox="1"/>
          <p:nvPr/>
        </p:nvSpPr>
        <p:spPr>
          <a:xfrm>
            <a:off x="0" y="672662"/>
            <a:ext cx="8442962" cy="4832092"/>
          </a:xfrm>
          <a:prstGeom prst="rect">
            <a:avLst/>
          </a:prstGeom>
          <a:solidFill>
            <a:schemeClr val="tx1"/>
          </a:solidFill>
        </p:spPr>
        <p:txBody>
          <a:bodyPr wrap="square">
            <a:spAutoFit/>
          </a:bodyPr>
          <a:lstStyle/>
          <a:p>
            <a:pPr>
              <a:buNone/>
            </a:pP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Library</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name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address</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List</a:t>
            </a:r>
            <a:r>
              <a:rPr lang="en-US" sz="2200" b="0" dirty="0">
                <a:solidFill>
                  <a:srgbClr val="CCCCCC"/>
                </a:solidFill>
                <a:effectLst/>
                <a:latin typeface="Consolas" panose="020B0609020204030204" pitchFamily="49" charset="0"/>
              </a:rPr>
              <a:t>&lt;</a:t>
            </a:r>
            <a:r>
              <a:rPr lang="en-US" sz="2200" b="0" dirty="0">
                <a:solidFill>
                  <a:srgbClr val="4EC9B0"/>
                </a:solidFill>
                <a:effectLst/>
                <a:latin typeface="Consolas" panose="020B0609020204030204" pitchFamily="49" charset="0"/>
              </a:rPr>
              <a:t>Book</a:t>
            </a:r>
            <a:r>
              <a:rPr lang="en-US" sz="2200" b="0" dirty="0">
                <a:solidFill>
                  <a:srgbClr val="CCCCCC"/>
                </a:solidFill>
                <a:effectLst/>
                <a:latin typeface="Consolas" panose="020B0609020204030204" pitchFamily="49" charset="0"/>
              </a:rPr>
              <a:t>&gt; </a:t>
            </a:r>
            <a:r>
              <a:rPr lang="en-US" sz="2200" b="0" dirty="0">
                <a:solidFill>
                  <a:srgbClr val="9CDCFE"/>
                </a:solidFill>
                <a:effectLst/>
                <a:latin typeface="Consolas" panose="020B0609020204030204" pitchFamily="49" charset="0"/>
              </a:rPr>
              <a:t>books</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new</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ArrayList</a:t>
            </a:r>
            <a:r>
              <a:rPr lang="en-US" sz="2200" b="0" dirty="0">
                <a:solidFill>
                  <a:srgbClr val="CCCCCC"/>
                </a:solidFill>
                <a:effectLst/>
                <a:latin typeface="Consolas" panose="020B0609020204030204" pitchFamily="49" charset="0"/>
              </a:rPr>
              <a:t>&lt;&gt;();</a:t>
            </a:r>
          </a:p>
          <a:p>
            <a:pPr>
              <a:buNone/>
            </a:pPr>
            <a:br>
              <a:rPr lang="en-US" sz="2200" b="0" dirty="0">
                <a:solidFill>
                  <a:srgbClr val="CCCCCC"/>
                </a:solidFill>
                <a:effectLst/>
                <a:latin typeface="Consolas" panose="020B0609020204030204" pitchFamily="49" charset="0"/>
              </a:rPr>
            </a:b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Library</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name</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address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this</a:t>
            </a:r>
            <a:r>
              <a:rPr lang="en-US" sz="2200" b="0" dirty="0">
                <a:solidFill>
                  <a:srgbClr val="CCCCCC"/>
                </a:solidFill>
                <a:effectLst/>
                <a:latin typeface="Consolas" panose="020B0609020204030204" pitchFamily="49" charset="0"/>
              </a:rPr>
              <a:t>.</a:t>
            </a:r>
            <a:r>
              <a:rPr lang="en-US" sz="2200" b="0" dirty="0">
                <a:solidFill>
                  <a:srgbClr val="9CDCFE"/>
                </a:solidFill>
                <a:effectLst/>
                <a:latin typeface="Consolas" panose="020B0609020204030204" pitchFamily="49" charset="0"/>
              </a:rPr>
              <a:t>name</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name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err="1">
                <a:solidFill>
                  <a:srgbClr val="569CD6"/>
                </a:solidFill>
                <a:effectLst/>
                <a:latin typeface="Consolas" panose="020B0609020204030204" pitchFamily="49" charset="0"/>
              </a:rPr>
              <a:t>this</a:t>
            </a:r>
            <a:r>
              <a:rPr lang="en-US" sz="2200" b="0" dirty="0" err="1">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address</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address</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br>
              <a:rPr lang="en-US" sz="2200" b="0" dirty="0">
                <a:solidFill>
                  <a:srgbClr val="CCCCCC"/>
                </a:solidFill>
                <a:effectLst/>
                <a:latin typeface="Consolas" panose="020B0609020204030204" pitchFamily="49" charset="0"/>
              </a:rPr>
            </a:b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void</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addBook</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Book</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book</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books</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add</a:t>
            </a:r>
            <a:r>
              <a:rPr lang="en-US" sz="2200" b="0" dirty="0">
                <a:solidFill>
                  <a:srgbClr val="CCCCCC"/>
                </a:solidFill>
                <a:effectLst/>
                <a:latin typeface="Consolas" panose="020B0609020204030204" pitchFamily="49" charset="0"/>
              </a:rPr>
              <a:t>(</a:t>
            </a:r>
            <a:r>
              <a:rPr lang="en-US" sz="2200" b="0" dirty="0">
                <a:solidFill>
                  <a:srgbClr val="9CDCFE"/>
                </a:solidFill>
                <a:effectLst/>
                <a:latin typeface="Consolas" panose="020B0609020204030204" pitchFamily="49" charset="0"/>
              </a:rPr>
              <a:t>book</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p:txBody>
      </p:sp>
      <p:sp>
        <p:nvSpPr>
          <p:cNvPr id="9" name="TextBox 8">
            <a:extLst>
              <a:ext uri="{FF2B5EF4-FFF2-40B4-BE49-F238E27FC236}">
                <a16:creationId xmlns:a16="http://schemas.microsoft.com/office/drawing/2014/main" id="{AFF3B6BF-EA8D-66F1-6DEB-D5045E324B2E}"/>
              </a:ext>
            </a:extLst>
          </p:cNvPr>
          <p:cNvSpPr txBox="1"/>
          <p:nvPr/>
        </p:nvSpPr>
        <p:spPr>
          <a:xfrm>
            <a:off x="8442962" y="672662"/>
            <a:ext cx="3749038" cy="3257174"/>
          </a:xfrm>
          <a:prstGeom prst="rect">
            <a:avLst/>
          </a:prstGeom>
          <a:noFill/>
        </p:spPr>
        <p:txBody>
          <a:bodyPr wrap="square">
            <a:spAutoFit/>
          </a:bodyPr>
          <a:lstStyle/>
          <a:p>
            <a:pPr>
              <a:lnSpc>
                <a:spcPct val="150000"/>
              </a:lnSpc>
              <a:buNone/>
            </a:pPr>
            <a:r>
              <a:rPr lang="en-US" sz="2800" b="1" dirty="0">
                <a:latin typeface="Calibir"/>
              </a:rPr>
              <a:t>Library</a:t>
            </a:r>
          </a:p>
          <a:p>
            <a:pPr marL="457200" indent="-457200">
              <a:lnSpc>
                <a:spcPct val="150000"/>
              </a:lnSpc>
              <a:buFont typeface="Arial" panose="020B0604020202020204" pitchFamily="34" charset="0"/>
              <a:buChar char="•"/>
            </a:pPr>
            <a:r>
              <a:rPr lang="en-US" sz="2800" dirty="0">
                <a:latin typeface="Calibir"/>
              </a:rPr>
              <a:t>Has a name, address, and a list of books, with a method to add books.</a:t>
            </a:r>
          </a:p>
        </p:txBody>
      </p:sp>
    </p:spTree>
    <p:extLst>
      <p:ext uri="{BB962C8B-B14F-4D97-AF65-F5344CB8AC3E}">
        <p14:creationId xmlns:p14="http://schemas.microsoft.com/office/powerpoint/2010/main" val="2452593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452CF-8A46-8739-6F49-1DC469FDCD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76546D-7468-B8D4-A047-6F6E3B606CAD}"/>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sp>
        <p:nvSpPr>
          <p:cNvPr id="39" name="TextBox 38">
            <a:extLst>
              <a:ext uri="{FF2B5EF4-FFF2-40B4-BE49-F238E27FC236}">
                <a16:creationId xmlns:a16="http://schemas.microsoft.com/office/drawing/2014/main" id="{BD96F1EE-C422-A9FC-9DD5-6DE436E527DF}"/>
              </a:ext>
            </a:extLst>
          </p:cNvPr>
          <p:cNvSpPr txBox="1"/>
          <p:nvPr/>
        </p:nvSpPr>
        <p:spPr>
          <a:xfrm>
            <a:off x="0" y="672662"/>
            <a:ext cx="8442962" cy="5355312"/>
          </a:xfrm>
          <a:prstGeom prst="rect">
            <a:avLst/>
          </a:prstGeom>
          <a:solidFill>
            <a:schemeClr val="tx1"/>
          </a:solidFill>
        </p:spPr>
        <p:txBody>
          <a:bodyPr wrap="square">
            <a:spAutoFit/>
          </a:bodyPr>
          <a:lstStyle/>
          <a:p>
            <a:pPr>
              <a:buNone/>
            </a:pPr>
            <a:r>
              <a:rPr lang="en-US" sz="1900" dirty="0">
                <a:solidFill>
                  <a:srgbClr val="569CD6"/>
                </a:solidFill>
                <a:latin typeface="Consolas" panose="020B0609020204030204" pitchFamily="49" charset="0"/>
              </a:rPr>
              <a:t>public</a:t>
            </a:r>
            <a:r>
              <a:rPr lang="en-US" sz="1900" dirty="0">
                <a:solidFill>
                  <a:srgbClr val="CCCCCC"/>
                </a:solidFill>
                <a:latin typeface="Consolas" panose="020B0609020204030204" pitchFamily="49" charset="0"/>
              </a:rPr>
              <a:t> </a:t>
            </a:r>
            <a:r>
              <a:rPr lang="en-US" sz="1900" dirty="0">
                <a:solidFill>
                  <a:srgbClr val="569CD6"/>
                </a:solidFill>
                <a:latin typeface="Consolas" panose="020B0609020204030204" pitchFamily="49" charset="0"/>
              </a:rPr>
              <a:t>class</a:t>
            </a:r>
            <a:r>
              <a:rPr lang="en-US" sz="1900" dirty="0">
                <a:solidFill>
                  <a:srgbClr val="CCCCCC"/>
                </a:solidFill>
                <a:latin typeface="Consolas" panose="020B0609020204030204" pitchFamily="49" charset="0"/>
              </a:rPr>
              <a:t> </a:t>
            </a:r>
            <a:r>
              <a:rPr lang="en-US" sz="1900" dirty="0" err="1">
                <a:solidFill>
                  <a:srgbClr val="4EC9B0"/>
                </a:solidFill>
                <a:latin typeface="Consolas" panose="020B0609020204030204" pitchFamily="49" charset="0"/>
              </a:rPr>
              <a:t>LibrarySystem_Java</a:t>
            </a:r>
            <a:r>
              <a:rPr lang="en-US" sz="1900" dirty="0">
                <a:solidFill>
                  <a:srgbClr val="CCCCCC"/>
                </a:solidFill>
                <a:latin typeface="Consolas" panose="020B0609020204030204" pitchFamily="49" charset="0"/>
              </a:rPr>
              <a:t> {</a:t>
            </a:r>
          </a:p>
          <a:p>
            <a:pPr>
              <a:buNone/>
            </a:pPr>
            <a:r>
              <a:rPr lang="en-US" sz="1900" dirty="0">
                <a:solidFill>
                  <a:srgbClr val="CCCCCC"/>
                </a:solidFill>
                <a:latin typeface="Consolas" panose="020B0609020204030204" pitchFamily="49" charset="0"/>
              </a:rPr>
              <a:t>    </a:t>
            </a:r>
            <a:r>
              <a:rPr lang="en-US" sz="1900" dirty="0">
                <a:solidFill>
                  <a:srgbClr val="569CD6"/>
                </a:solidFill>
                <a:latin typeface="Consolas" panose="020B0609020204030204" pitchFamily="49" charset="0"/>
              </a:rPr>
              <a:t>public</a:t>
            </a:r>
            <a:r>
              <a:rPr lang="en-US" sz="1900" dirty="0">
                <a:solidFill>
                  <a:srgbClr val="CCCCCC"/>
                </a:solidFill>
                <a:latin typeface="Consolas" panose="020B0609020204030204" pitchFamily="49" charset="0"/>
              </a:rPr>
              <a:t> </a:t>
            </a:r>
            <a:r>
              <a:rPr lang="en-US" sz="1900" dirty="0">
                <a:solidFill>
                  <a:srgbClr val="569CD6"/>
                </a:solidFill>
                <a:latin typeface="Consolas" panose="020B0609020204030204" pitchFamily="49" charset="0"/>
              </a:rPr>
              <a:t>static</a:t>
            </a:r>
            <a:r>
              <a:rPr lang="en-US" sz="1900" dirty="0">
                <a:solidFill>
                  <a:srgbClr val="CCCCCC"/>
                </a:solidFill>
                <a:latin typeface="Consolas" panose="020B0609020204030204" pitchFamily="49" charset="0"/>
              </a:rPr>
              <a:t> </a:t>
            </a:r>
            <a:r>
              <a:rPr lang="en-US" sz="1900" dirty="0">
                <a:solidFill>
                  <a:srgbClr val="4EC9B0"/>
                </a:solidFill>
                <a:latin typeface="Consolas" panose="020B0609020204030204" pitchFamily="49" charset="0"/>
              </a:rPr>
              <a:t>void</a:t>
            </a:r>
            <a:r>
              <a:rPr lang="en-US" sz="1900" dirty="0">
                <a:solidFill>
                  <a:srgbClr val="CCCCCC"/>
                </a:solidFill>
                <a:latin typeface="Consolas" panose="020B0609020204030204" pitchFamily="49" charset="0"/>
              </a:rPr>
              <a:t> </a:t>
            </a:r>
            <a:r>
              <a:rPr lang="en-US" sz="1900" dirty="0">
                <a:solidFill>
                  <a:srgbClr val="DCDCAA"/>
                </a:solidFill>
                <a:latin typeface="Consolas" panose="020B0609020204030204" pitchFamily="49" charset="0"/>
              </a:rPr>
              <a:t>main</a:t>
            </a:r>
            <a:r>
              <a:rPr lang="en-US" sz="1900" dirty="0">
                <a:solidFill>
                  <a:srgbClr val="CCCCCC"/>
                </a:solidFill>
                <a:latin typeface="Consolas" panose="020B0609020204030204" pitchFamily="49" charset="0"/>
              </a:rPr>
              <a:t>(</a:t>
            </a:r>
            <a:r>
              <a:rPr lang="en-US" sz="1900" dirty="0">
                <a:solidFill>
                  <a:srgbClr val="4EC9B0"/>
                </a:solidFill>
                <a:latin typeface="Consolas" panose="020B0609020204030204" pitchFamily="49" charset="0"/>
              </a:rPr>
              <a:t>String</a:t>
            </a: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args</a:t>
            </a:r>
            <a:r>
              <a:rPr lang="en-US" sz="1900" dirty="0">
                <a:solidFill>
                  <a:srgbClr val="CCCCCC"/>
                </a:solidFill>
                <a:latin typeface="Consolas" panose="020B0609020204030204" pitchFamily="49" charset="0"/>
              </a:rPr>
              <a:t>) {</a:t>
            </a:r>
          </a:p>
          <a:p>
            <a:pPr>
              <a:buNone/>
            </a:pPr>
            <a:r>
              <a:rPr lang="en-US" sz="1900" dirty="0">
                <a:solidFill>
                  <a:srgbClr val="CCCCCC"/>
                </a:solidFill>
                <a:latin typeface="Consolas" panose="020B0609020204030204" pitchFamily="49" charset="0"/>
              </a:rPr>
              <a:t>        </a:t>
            </a:r>
            <a:r>
              <a:rPr lang="en-US" sz="1900" dirty="0">
                <a:solidFill>
                  <a:srgbClr val="6A9955"/>
                </a:solidFill>
                <a:latin typeface="Consolas" panose="020B0609020204030204" pitchFamily="49" charset="0"/>
              </a:rPr>
              <a:t>// --- Example usage (matches your Python flow) ---</a:t>
            </a:r>
            <a:endParaRPr lang="en-US" sz="1900" dirty="0">
              <a:solidFill>
                <a:srgbClr val="CCCCCC"/>
              </a:solidFill>
              <a:latin typeface="Consolas" panose="020B0609020204030204" pitchFamily="49" charset="0"/>
            </a:endParaRPr>
          </a:p>
          <a:p>
            <a:pPr>
              <a:buNone/>
            </a:pPr>
            <a:r>
              <a:rPr lang="en-US" sz="1900" dirty="0">
                <a:solidFill>
                  <a:srgbClr val="CCCCCC"/>
                </a:solidFill>
                <a:latin typeface="Consolas" panose="020B0609020204030204" pitchFamily="49" charset="0"/>
              </a:rPr>
              <a:t>        </a:t>
            </a:r>
            <a:r>
              <a:rPr lang="en-US" sz="1900" dirty="0">
                <a:solidFill>
                  <a:srgbClr val="4EC9B0"/>
                </a:solidFill>
                <a:latin typeface="Consolas" panose="020B0609020204030204" pitchFamily="49" charset="0"/>
              </a:rPr>
              <a:t>Library</a:t>
            </a: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library</a:t>
            </a:r>
            <a:r>
              <a:rPr lang="en-US" sz="1900" dirty="0">
                <a:solidFill>
                  <a:srgbClr val="CCCCCC"/>
                </a:solidFill>
                <a:latin typeface="Consolas" panose="020B0609020204030204" pitchFamily="49" charset="0"/>
              </a:rPr>
              <a:t> </a:t>
            </a:r>
            <a:r>
              <a:rPr lang="en-US" sz="1900" dirty="0">
                <a:solidFill>
                  <a:srgbClr val="D4D4D4"/>
                </a:solidFill>
                <a:latin typeface="Consolas" panose="020B0609020204030204" pitchFamily="49" charset="0"/>
              </a:rPr>
              <a:t>=</a:t>
            </a:r>
            <a:r>
              <a:rPr lang="en-US" sz="1900" dirty="0">
                <a:solidFill>
                  <a:srgbClr val="CCCCCC"/>
                </a:solidFill>
                <a:latin typeface="Consolas" panose="020B0609020204030204" pitchFamily="49" charset="0"/>
              </a:rPr>
              <a:t> </a:t>
            </a:r>
            <a:r>
              <a:rPr lang="en-US" sz="1900" dirty="0">
                <a:solidFill>
                  <a:srgbClr val="C586C0"/>
                </a:solidFill>
                <a:latin typeface="Consolas" panose="020B0609020204030204" pitchFamily="49" charset="0"/>
              </a:rPr>
              <a:t>new</a:t>
            </a:r>
            <a:r>
              <a:rPr lang="en-US" sz="1900" dirty="0">
                <a:solidFill>
                  <a:srgbClr val="CCCCCC"/>
                </a:solidFill>
                <a:latin typeface="Consolas" panose="020B0609020204030204" pitchFamily="49" charset="0"/>
              </a:rPr>
              <a:t> </a:t>
            </a:r>
            <a:r>
              <a:rPr lang="en-US" sz="1900" dirty="0">
                <a:solidFill>
                  <a:srgbClr val="DCDCAA"/>
                </a:solidFill>
                <a:latin typeface="Consolas" panose="020B0609020204030204" pitchFamily="49" charset="0"/>
              </a:rPr>
              <a:t>Library</a:t>
            </a:r>
            <a:r>
              <a:rPr lang="en-US" sz="1900" dirty="0">
                <a:solidFill>
                  <a:srgbClr val="CCCCCC"/>
                </a:solidFill>
                <a:latin typeface="Consolas" panose="020B0609020204030204" pitchFamily="49" charset="0"/>
              </a:rPr>
              <a:t>(</a:t>
            </a:r>
            <a:r>
              <a:rPr lang="en-US" sz="1900" dirty="0">
                <a:solidFill>
                  <a:srgbClr val="CE9178"/>
                </a:solidFill>
                <a:latin typeface="Consolas" panose="020B0609020204030204" pitchFamily="49" charset="0"/>
              </a:rPr>
              <a:t>"Sydney Library"</a:t>
            </a:r>
            <a:r>
              <a:rPr lang="en-US" sz="1900" dirty="0">
                <a:solidFill>
                  <a:srgbClr val="CCCCCC"/>
                </a:solidFill>
                <a:latin typeface="Consolas" panose="020B0609020204030204" pitchFamily="49" charset="0"/>
              </a:rPr>
              <a:t>, </a:t>
            </a:r>
            <a:r>
              <a:rPr lang="en-US" sz="1900" dirty="0">
                <a:solidFill>
                  <a:srgbClr val="CE9178"/>
                </a:solidFill>
                <a:latin typeface="Consolas" panose="020B0609020204030204" pitchFamily="49" charset="0"/>
              </a:rPr>
              <a:t>"123 George St"</a:t>
            </a:r>
            <a:r>
              <a:rPr lang="en-US" sz="1900" dirty="0">
                <a:solidFill>
                  <a:srgbClr val="CCCCCC"/>
                </a:solidFill>
                <a:latin typeface="Consolas" panose="020B0609020204030204" pitchFamily="49" charset="0"/>
              </a:rPr>
              <a:t>);</a:t>
            </a:r>
          </a:p>
          <a:p>
            <a:pPr>
              <a:buNone/>
            </a:pPr>
            <a:r>
              <a:rPr lang="en-US" sz="1900" dirty="0">
                <a:solidFill>
                  <a:srgbClr val="CCCCCC"/>
                </a:solidFill>
                <a:latin typeface="Consolas" panose="020B0609020204030204" pitchFamily="49" charset="0"/>
              </a:rPr>
              <a:t>        </a:t>
            </a:r>
            <a:r>
              <a:rPr lang="en-US" sz="1900" dirty="0">
                <a:solidFill>
                  <a:srgbClr val="4EC9B0"/>
                </a:solidFill>
                <a:latin typeface="Consolas" panose="020B0609020204030204" pitchFamily="49" charset="0"/>
              </a:rPr>
              <a:t>Book</a:t>
            </a:r>
            <a:r>
              <a:rPr lang="en-US" sz="1900" dirty="0">
                <a:solidFill>
                  <a:srgbClr val="CCCCCC"/>
                </a:solidFill>
                <a:latin typeface="Consolas" panose="020B0609020204030204" pitchFamily="49" charset="0"/>
              </a:rPr>
              <a:t> </a:t>
            </a:r>
            <a:r>
              <a:rPr lang="en-US" sz="1900" dirty="0">
                <a:solidFill>
                  <a:srgbClr val="9CDCFE"/>
                </a:solidFill>
                <a:latin typeface="Consolas" panose="020B0609020204030204" pitchFamily="49" charset="0"/>
              </a:rPr>
              <a:t>book1</a:t>
            </a:r>
            <a:r>
              <a:rPr lang="en-US" sz="1900" dirty="0">
                <a:solidFill>
                  <a:srgbClr val="CCCCCC"/>
                </a:solidFill>
                <a:latin typeface="Consolas" panose="020B0609020204030204" pitchFamily="49" charset="0"/>
              </a:rPr>
              <a:t> </a:t>
            </a:r>
            <a:r>
              <a:rPr lang="en-US" sz="1900" dirty="0">
                <a:solidFill>
                  <a:srgbClr val="D4D4D4"/>
                </a:solidFill>
                <a:latin typeface="Consolas" panose="020B0609020204030204" pitchFamily="49" charset="0"/>
              </a:rPr>
              <a:t>=</a:t>
            </a:r>
            <a:r>
              <a:rPr lang="en-US" sz="1900" dirty="0">
                <a:solidFill>
                  <a:srgbClr val="CCCCCC"/>
                </a:solidFill>
                <a:latin typeface="Consolas" panose="020B0609020204030204" pitchFamily="49" charset="0"/>
              </a:rPr>
              <a:t> </a:t>
            </a:r>
            <a:r>
              <a:rPr lang="en-US" sz="1900" dirty="0">
                <a:solidFill>
                  <a:srgbClr val="C586C0"/>
                </a:solidFill>
                <a:latin typeface="Consolas" panose="020B0609020204030204" pitchFamily="49" charset="0"/>
              </a:rPr>
              <a:t>new</a:t>
            </a:r>
            <a:r>
              <a:rPr lang="en-US" sz="1900" dirty="0">
                <a:solidFill>
                  <a:srgbClr val="CCCCCC"/>
                </a:solidFill>
                <a:latin typeface="Consolas" panose="020B0609020204030204" pitchFamily="49" charset="0"/>
              </a:rPr>
              <a:t> </a:t>
            </a:r>
            <a:r>
              <a:rPr lang="en-US" sz="1900" dirty="0">
                <a:solidFill>
                  <a:srgbClr val="DCDCAA"/>
                </a:solidFill>
                <a:latin typeface="Consolas" panose="020B0609020204030204" pitchFamily="49" charset="0"/>
              </a:rPr>
              <a:t>Book</a:t>
            </a:r>
            <a:r>
              <a:rPr lang="en-US" sz="1900" dirty="0">
                <a:solidFill>
                  <a:srgbClr val="CCCCCC"/>
                </a:solidFill>
                <a:latin typeface="Consolas" panose="020B0609020204030204" pitchFamily="49" charset="0"/>
              </a:rPr>
              <a:t>(</a:t>
            </a:r>
            <a:r>
              <a:rPr lang="en-US" sz="1900" dirty="0">
                <a:solidFill>
                  <a:srgbClr val="CE9178"/>
                </a:solidFill>
                <a:latin typeface="Consolas" panose="020B0609020204030204" pitchFamily="49" charset="0"/>
              </a:rPr>
              <a:t>"Python Basics"</a:t>
            </a:r>
            <a:r>
              <a:rPr lang="en-US" sz="1900" dirty="0">
                <a:solidFill>
                  <a:srgbClr val="CCCCCC"/>
                </a:solidFill>
                <a:latin typeface="Consolas" panose="020B0609020204030204" pitchFamily="49" charset="0"/>
              </a:rPr>
              <a:t>, </a:t>
            </a:r>
            <a:r>
              <a:rPr lang="en-US" sz="1900" dirty="0">
                <a:solidFill>
                  <a:srgbClr val="CE9178"/>
                </a:solidFill>
                <a:latin typeface="Consolas" panose="020B0609020204030204" pitchFamily="49" charset="0"/>
              </a:rPr>
              <a:t>"111"</a:t>
            </a:r>
            <a:r>
              <a:rPr lang="en-US" sz="1900" dirty="0">
                <a:solidFill>
                  <a:srgbClr val="CCCCCC"/>
                </a:solidFill>
                <a:latin typeface="Consolas" panose="020B0609020204030204" pitchFamily="49" charset="0"/>
              </a:rPr>
              <a:t>);</a:t>
            </a:r>
          </a:p>
          <a:p>
            <a:pPr>
              <a:buNone/>
            </a:pPr>
            <a:r>
              <a:rPr lang="en-US" sz="1900" dirty="0">
                <a:solidFill>
                  <a:srgbClr val="CCCCCC"/>
                </a:solidFill>
                <a:latin typeface="Consolas" panose="020B0609020204030204" pitchFamily="49" charset="0"/>
              </a:rPr>
              <a:t>        </a:t>
            </a:r>
            <a:r>
              <a:rPr lang="en-US" sz="1900" dirty="0">
                <a:solidFill>
                  <a:srgbClr val="4EC9B0"/>
                </a:solidFill>
                <a:latin typeface="Consolas" panose="020B0609020204030204" pitchFamily="49" charset="0"/>
              </a:rPr>
              <a:t>Book</a:t>
            </a:r>
            <a:r>
              <a:rPr lang="en-US" sz="1900" dirty="0">
                <a:solidFill>
                  <a:srgbClr val="CCCCCC"/>
                </a:solidFill>
                <a:latin typeface="Consolas" panose="020B0609020204030204" pitchFamily="49" charset="0"/>
              </a:rPr>
              <a:t> </a:t>
            </a:r>
            <a:r>
              <a:rPr lang="en-US" sz="1900" dirty="0">
                <a:solidFill>
                  <a:srgbClr val="9CDCFE"/>
                </a:solidFill>
                <a:latin typeface="Consolas" panose="020B0609020204030204" pitchFamily="49" charset="0"/>
              </a:rPr>
              <a:t>book2</a:t>
            </a:r>
            <a:r>
              <a:rPr lang="en-US" sz="1900" dirty="0">
                <a:solidFill>
                  <a:srgbClr val="CCCCCC"/>
                </a:solidFill>
                <a:latin typeface="Consolas" panose="020B0609020204030204" pitchFamily="49" charset="0"/>
              </a:rPr>
              <a:t> </a:t>
            </a:r>
            <a:r>
              <a:rPr lang="en-US" sz="1900" dirty="0">
                <a:solidFill>
                  <a:srgbClr val="D4D4D4"/>
                </a:solidFill>
                <a:latin typeface="Consolas" panose="020B0609020204030204" pitchFamily="49" charset="0"/>
              </a:rPr>
              <a:t>=</a:t>
            </a:r>
            <a:r>
              <a:rPr lang="en-US" sz="1900" dirty="0">
                <a:solidFill>
                  <a:srgbClr val="CCCCCC"/>
                </a:solidFill>
                <a:latin typeface="Consolas" panose="020B0609020204030204" pitchFamily="49" charset="0"/>
              </a:rPr>
              <a:t> </a:t>
            </a:r>
            <a:r>
              <a:rPr lang="en-US" sz="1900" dirty="0">
                <a:solidFill>
                  <a:srgbClr val="C586C0"/>
                </a:solidFill>
                <a:latin typeface="Consolas" panose="020B0609020204030204" pitchFamily="49" charset="0"/>
              </a:rPr>
              <a:t>new</a:t>
            </a:r>
            <a:r>
              <a:rPr lang="en-US" sz="1900" dirty="0">
                <a:solidFill>
                  <a:srgbClr val="CCCCCC"/>
                </a:solidFill>
                <a:latin typeface="Consolas" panose="020B0609020204030204" pitchFamily="49" charset="0"/>
              </a:rPr>
              <a:t> </a:t>
            </a:r>
            <a:r>
              <a:rPr lang="en-US" sz="1900" dirty="0">
                <a:solidFill>
                  <a:srgbClr val="DCDCAA"/>
                </a:solidFill>
                <a:latin typeface="Consolas" panose="020B0609020204030204" pitchFamily="49" charset="0"/>
              </a:rPr>
              <a:t>Book</a:t>
            </a:r>
            <a:r>
              <a:rPr lang="en-US" sz="1900" dirty="0">
                <a:solidFill>
                  <a:srgbClr val="CCCCCC"/>
                </a:solidFill>
                <a:latin typeface="Consolas" panose="020B0609020204030204" pitchFamily="49" charset="0"/>
              </a:rPr>
              <a:t>(</a:t>
            </a:r>
            <a:r>
              <a:rPr lang="en-US" sz="1900" dirty="0">
                <a:solidFill>
                  <a:srgbClr val="CE9178"/>
                </a:solidFill>
                <a:latin typeface="Consolas" panose="020B0609020204030204" pitchFamily="49" charset="0"/>
              </a:rPr>
              <a:t>"Java Programming"</a:t>
            </a:r>
            <a:r>
              <a:rPr lang="en-US" sz="1900" dirty="0">
                <a:solidFill>
                  <a:srgbClr val="CCCCCC"/>
                </a:solidFill>
                <a:latin typeface="Consolas" panose="020B0609020204030204" pitchFamily="49" charset="0"/>
              </a:rPr>
              <a:t>, </a:t>
            </a:r>
            <a:r>
              <a:rPr lang="en-US" sz="1900" dirty="0">
                <a:solidFill>
                  <a:srgbClr val="CE9178"/>
                </a:solidFill>
                <a:latin typeface="Consolas" panose="020B0609020204030204" pitchFamily="49" charset="0"/>
              </a:rPr>
              <a:t>"222"</a:t>
            </a:r>
            <a:r>
              <a:rPr lang="en-US" sz="1900" dirty="0">
                <a:solidFill>
                  <a:srgbClr val="CCCCCC"/>
                </a:solidFill>
                <a:latin typeface="Consolas" panose="020B0609020204030204" pitchFamily="49" charset="0"/>
              </a:rPr>
              <a:t>);</a:t>
            </a:r>
          </a:p>
          <a:p>
            <a:pPr>
              <a:buNone/>
            </a:pP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library</a:t>
            </a:r>
            <a:r>
              <a:rPr lang="en-US" sz="1900" dirty="0" err="1">
                <a:solidFill>
                  <a:srgbClr val="CCCCCC"/>
                </a:solidFill>
                <a:latin typeface="Consolas" panose="020B0609020204030204" pitchFamily="49" charset="0"/>
              </a:rPr>
              <a:t>.</a:t>
            </a:r>
            <a:r>
              <a:rPr lang="en-US" sz="1900" dirty="0" err="1">
                <a:solidFill>
                  <a:srgbClr val="DCDCAA"/>
                </a:solidFill>
                <a:latin typeface="Consolas" panose="020B0609020204030204" pitchFamily="49" charset="0"/>
              </a:rPr>
              <a:t>addBook</a:t>
            </a:r>
            <a:r>
              <a:rPr lang="en-US" sz="1900" dirty="0">
                <a:solidFill>
                  <a:srgbClr val="CCCCCC"/>
                </a:solidFill>
                <a:latin typeface="Consolas" panose="020B0609020204030204" pitchFamily="49" charset="0"/>
              </a:rPr>
              <a:t>(</a:t>
            </a:r>
            <a:r>
              <a:rPr lang="en-US" sz="1900" dirty="0">
                <a:solidFill>
                  <a:srgbClr val="9CDCFE"/>
                </a:solidFill>
                <a:latin typeface="Consolas" panose="020B0609020204030204" pitchFamily="49" charset="0"/>
              </a:rPr>
              <a:t>book1</a:t>
            </a:r>
            <a:r>
              <a:rPr lang="en-US" sz="1900" dirty="0">
                <a:solidFill>
                  <a:srgbClr val="CCCCCC"/>
                </a:solidFill>
                <a:latin typeface="Consolas" panose="020B0609020204030204" pitchFamily="49" charset="0"/>
              </a:rPr>
              <a:t>);</a:t>
            </a:r>
          </a:p>
          <a:p>
            <a:pPr>
              <a:buNone/>
            </a:pP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library</a:t>
            </a:r>
            <a:r>
              <a:rPr lang="en-US" sz="1900" dirty="0" err="1">
                <a:solidFill>
                  <a:srgbClr val="CCCCCC"/>
                </a:solidFill>
                <a:latin typeface="Consolas" panose="020B0609020204030204" pitchFamily="49" charset="0"/>
              </a:rPr>
              <a:t>.</a:t>
            </a:r>
            <a:r>
              <a:rPr lang="en-US" sz="1900" dirty="0" err="1">
                <a:solidFill>
                  <a:srgbClr val="DCDCAA"/>
                </a:solidFill>
                <a:latin typeface="Consolas" panose="020B0609020204030204" pitchFamily="49" charset="0"/>
              </a:rPr>
              <a:t>addBook</a:t>
            </a:r>
            <a:r>
              <a:rPr lang="en-US" sz="1900" dirty="0">
                <a:solidFill>
                  <a:srgbClr val="CCCCCC"/>
                </a:solidFill>
                <a:latin typeface="Consolas" panose="020B0609020204030204" pitchFamily="49" charset="0"/>
              </a:rPr>
              <a:t>(</a:t>
            </a:r>
            <a:r>
              <a:rPr lang="en-US" sz="1900" dirty="0">
                <a:solidFill>
                  <a:srgbClr val="9CDCFE"/>
                </a:solidFill>
                <a:latin typeface="Consolas" panose="020B0609020204030204" pitchFamily="49" charset="0"/>
              </a:rPr>
              <a:t>book2</a:t>
            </a:r>
            <a:r>
              <a:rPr lang="en-US" sz="1900" dirty="0">
                <a:solidFill>
                  <a:srgbClr val="CCCCCC"/>
                </a:solidFill>
                <a:latin typeface="Consolas" panose="020B0609020204030204" pitchFamily="49" charset="0"/>
              </a:rPr>
              <a:t>);</a:t>
            </a:r>
          </a:p>
          <a:p>
            <a:pPr>
              <a:buNone/>
            </a:pPr>
            <a:br>
              <a:rPr lang="en-US" sz="1900" dirty="0">
                <a:solidFill>
                  <a:srgbClr val="CCCCCC"/>
                </a:solidFill>
                <a:latin typeface="Consolas" panose="020B0609020204030204" pitchFamily="49" charset="0"/>
              </a:rPr>
            </a:br>
            <a:r>
              <a:rPr lang="en-US" sz="1900" dirty="0">
                <a:solidFill>
                  <a:srgbClr val="CCCCCC"/>
                </a:solidFill>
                <a:latin typeface="Consolas" panose="020B0609020204030204" pitchFamily="49" charset="0"/>
              </a:rPr>
              <a:t>        </a:t>
            </a:r>
            <a:r>
              <a:rPr lang="en-US" sz="1900" dirty="0">
                <a:solidFill>
                  <a:srgbClr val="4EC9B0"/>
                </a:solidFill>
                <a:latin typeface="Consolas" panose="020B0609020204030204" pitchFamily="49" charset="0"/>
              </a:rPr>
              <a:t>Member</a:t>
            </a: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member</a:t>
            </a:r>
            <a:r>
              <a:rPr lang="en-US" sz="1900" dirty="0">
                <a:solidFill>
                  <a:srgbClr val="CCCCCC"/>
                </a:solidFill>
                <a:latin typeface="Consolas" panose="020B0609020204030204" pitchFamily="49" charset="0"/>
              </a:rPr>
              <a:t> </a:t>
            </a:r>
            <a:r>
              <a:rPr lang="en-US" sz="1900" dirty="0">
                <a:solidFill>
                  <a:srgbClr val="D4D4D4"/>
                </a:solidFill>
                <a:latin typeface="Consolas" panose="020B0609020204030204" pitchFamily="49" charset="0"/>
              </a:rPr>
              <a:t>=</a:t>
            </a:r>
            <a:r>
              <a:rPr lang="en-US" sz="1900" dirty="0">
                <a:solidFill>
                  <a:srgbClr val="CCCCCC"/>
                </a:solidFill>
                <a:latin typeface="Consolas" panose="020B0609020204030204" pitchFamily="49" charset="0"/>
              </a:rPr>
              <a:t> </a:t>
            </a:r>
            <a:r>
              <a:rPr lang="en-US" sz="1900" dirty="0">
                <a:solidFill>
                  <a:srgbClr val="C586C0"/>
                </a:solidFill>
                <a:latin typeface="Consolas" panose="020B0609020204030204" pitchFamily="49" charset="0"/>
              </a:rPr>
              <a:t>new</a:t>
            </a:r>
            <a:r>
              <a:rPr lang="en-US" sz="1900" dirty="0">
                <a:solidFill>
                  <a:srgbClr val="CCCCCC"/>
                </a:solidFill>
                <a:latin typeface="Consolas" panose="020B0609020204030204" pitchFamily="49" charset="0"/>
              </a:rPr>
              <a:t> </a:t>
            </a:r>
            <a:r>
              <a:rPr lang="en-US" sz="1900" dirty="0">
                <a:solidFill>
                  <a:srgbClr val="DCDCAA"/>
                </a:solidFill>
                <a:latin typeface="Consolas" panose="020B0609020204030204" pitchFamily="49" charset="0"/>
              </a:rPr>
              <a:t>Member</a:t>
            </a:r>
            <a:r>
              <a:rPr lang="en-US" sz="1900" dirty="0">
                <a:solidFill>
                  <a:srgbClr val="CCCCCC"/>
                </a:solidFill>
                <a:latin typeface="Consolas" panose="020B0609020204030204" pitchFamily="49" charset="0"/>
              </a:rPr>
              <a:t>(</a:t>
            </a:r>
            <a:r>
              <a:rPr lang="en-US" sz="1900" dirty="0">
                <a:solidFill>
                  <a:srgbClr val="B5CEA8"/>
                </a:solidFill>
                <a:latin typeface="Consolas" panose="020B0609020204030204" pitchFamily="49" charset="0"/>
              </a:rPr>
              <a:t>1</a:t>
            </a:r>
            <a:r>
              <a:rPr lang="en-US" sz="1900" dirty="0">
                <a:solidFill>
                  <a:srgbClr val="CCCCCC"/>
                </a:solidFill>
                <a:latin typeface="Consolas" panose="020B0609020204030204" pitchFamily="49" charset="0"/>
              </a:rPr>
              <a:t>, </a:t>
            </a:r>
            <a:r>
              <a:rPr lang="en-US" sz="1900" dirty="0">
                <a:solidFill>
                  <a:srgbClr val="CE9178"/>
                </a:solidFill>
                <a:latin typeface="Consolas" panose="020B0609020204030204" pitchFamily="49" charset="0"/>
              </a:rPr>
              <a:t>"Farshid"</a:t>
            </a:r>
            <a:r>
              <a:rPr lang="en-US" sz="1900" dirty="0">
                <a:solidFill>
                  <a:srgbClr val="CCCCCC"/>
                </a:solidFill>
                <a:latin typeface="Consolas" panose="020B0609020204030204" pitchFamily="49" charset="0"/>
              </a:rPr>
              <a:t>, </a:t>
            </a:r>
            <a:r>
              <a:rPr lang="en-US" sz="1900" dirty="0">
                <a:solidFill>
                  <a:srgbClr val="CE9178"/>
                </a:solidFill>
                <a:latin typeface="Consolas" panose="020B0609020204030204" pitchFamily="49" charset="0"/>
              </a:rPr>
              <a:t>"Farshid.Keivanian@uts.edu.au"</a:t>
            </a:r>
            <a:r>
              <a:rPr lang="en-US" sz="1900" dirty="0">
                <a:solidFill>
                  <a:srgbClr val="CCCCCC"/>
                </a:solidFill>
                <a:latin typeface="Consolas" panose="020B0609020204030204" pitchFamily="49" charset="0"/>
              </a:rPr>
              <a:t>);</a:t>
            </a:r>
          </a:p>
          <a:p>
            <a:pPr>
              <a:buNone/>
            </a:pPr>
            <a:br>
              <a:rPr lang="en-US" sz="1900" dirty="0">
                <a:solidFill>
                  <a:srgbClr val="CCCCCC"/>
                </a:solidFill>
                <a:latin typeface="Consolas" panose="020B0609020204030204" pitchFamily="49" charset="0"/>
              </a:rPr>
            </a:b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member</a:t>
            </a:r>
            <a:r>
              <a:rPr lang="en-US" sz="1900" dirty="0" err="1">
                <a:solidFill>
                  <a:srgbClr val="CCCCCC"/>
                </a:solidFill>
                <a:latin typeface="Consolas" panose="020B0609020204030204" pitchFamily="49" charset="0"/>
              </a:rPr>
              <a:t>.</a:t>
            </a:r>
            <a:r>
              <a:rPr lang="en-US" sz="1900" dirty="0" err="1">
                <a:solidFill>
                  <a:srgbClr val="DCDCAA"/>
                </a:solidFill>
                <a:latin typeface="Consolas" panose="020B0609020204030204" pitchFamily="49" charset="0"/>
              </a:rPr>
              <a:t>borrow</a:t>
            </a:r>
            <a:r>
              <a:rPr lang="en-US" sz="1900" dirty="0">
                <a:solidFill>
                  <a:srgbClr val="CCCCCC"/>
                </a:solidFill>
                <a:latin typeface="Consolas" panose="020B0609020204030204" pitchFamily="49" charset="0"/>
              </a:rPr>
              <a:t>(</a:t>
            </a:r>
            <a:r>
              <a:rPr lang="en-US" sz="1900" dirty="0">
                <a:solidFill>
                  <a:srgbClr val="9CDCFE"/>
                </a:solidFill>
                <a:latin typeface="Consolas" panose="020B0609020204030204" pitchFamily="49" charset="0"/>
              </a:rPr>
              <a:t>book1</a:t>
            </a:r>
            <a:r>
              <a:rPr lang="en-US" sz="1900" dirty="0">
                <a:solidFill>
                  <a:srgbClr val="CCCCCC"/>
                </a:solidFill>
                <a:latin typeface="Consolas" panose="020B0609020204030204" pitchFamily="49" charset="0"/>
              </a:rPr>
              <a:t>);     </a:t>
            </a:r>
            <a:r>
              <a:rPr lang="en-US" sz="1900" dirty="0">
                <a:solidFill>
                  <a:srgbClr val="6A9955"/>
                </a:solidFill>
                <a:latin typeface="Consolas" panose="020B0609020204030204" pitchFamily="49" charset="0"/>
              </a:rPr>
              <a:t>//  borrow success</a:t>
            </a:r>
            <a:endParaRPr lang="en-US" sz="1900" dirty="0">
              <a:solidFill>
                <a:srgbClr val="CCCCCC"/>
              </a:solidFill>
              <a:latin typeface="Consolas" panose="020B0609020204030204" pitchFamily="49" charset="0"/>
            </a:endParaRPr>
          </a:p>
          <a:p>
            <a:pPr>
              <a:buNone/>
            </a:pP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member</a:t>
            </a:r>
            <a:r>
              <a:rPr lang="en-US" sz="1900" dirty="0" err="1">
                <a:solidFill>
                  <a:srgbClr val="CCCCCC"/>
                </a:solidFill>
                <a:latin typeface="Consolas" panose="020B0609020204030204" pitchFamily="49" charset="0"/>
              </a:rPr>
              <a:t>.</a:t>
            </a:r>
            <a:r>
              <a:rPr lang="en-US" sz="1900" dirty="0" err="1">
                <a:solidFill>
                  <a:srgbClr val="DCDCAA"/>
                </a:solidFill>
                <a:latin typeface="Consolas" panose="020B0609020204030204" pitchFamily="49" charset="0"/>
              </a:rPr>
              <a:t>borrow</a:t>
            </a:r>
            <a:r>
              <a:rPr lang="en-US" sz="1900" dirty="0">
                <a:solidFill>
                  <a:srgbClr val="CCCCCC"/>
                </a:solidFill>
                <a:latin typeface="Consolas" panose="020B0609020204030204" pitchFamily="49" charset="0"/>
              </a:rPr>
              <a:t>(</a:t>
            </a:r>
            <a:r>
              <a:rPr lang="en-US" sz="1900" dirty="0">
                <a:solidFill>
                  <a:srgbClr val="9CDCFE"/>
                </a:solidFill>
                <a:latin typeface="Consolas" panose="020B0609020204030204" pitchFamily="49" charset="0"/>
              </a:rPr>
              <a:t>book1</a:t>
            </a:r>
            <a:r>
              <a:rPr lang="en-US" sz="1900" dirty="0">
                <a:solidFill>
                  <a:srgbClr val="CCCCCC"/>
                </a:solidFill>
                <a:latin typeface="Consolas" panose="020B0609020204030204" pitchFamily="49" charset="0"/>
              </a:rPr>
              <a:t>);     </a:t>
            </a:r>
            <a:r>
              <a:rPr lang="en-US" sz="1900" dirty="0">
                <a:solidFill>
                  <a:srgbClr val="6A9955"/>
                </a:solidFill>
                <a:latin typeface="Consolas" panose="020B0609020204030204" pitchFamily="49" charset="0"/>
              </a:rPr>
              <a:t>//  already borrowed</a:t>
            </a:r>
            <a:endParaRPr lang="en-US" sz="1900" dirty="0">
              <a:solidFill>
                <a:srgbClr val="CCCCCC"/>
              </a:solidFill>
              <a:latin typeface="Consolas" panose="020B0609020204030204" pitchFamily="49" charset="0"/>
            </a:endParaRPr>
          </a:p>
          <a:p>
            <a:pPr>
              <a:buNone/>
            </a:pP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member</a:t>
            </a:r>
            <a:r>
              <a:rPr lang="en-US" sz="1900" dirty="0" err="1">
                <a:solidFill>
                  <a:srgbClr val="CCCCCC"/>
                </a:solidFill>
                <a:latin typeface="Consolas" panose="020B0609020204030204" pitchFamily="49" charset="0"/>
              </a:rPr>
              <a:t>.</a:t>
            </a:r>
            <a:r>
              <a:rPr lang="en-US" sz="1900" dirty="0" err="1">
                <a:solidFill>
                  <a:srgbClr val="DCDCAA"/>
                </a:solidFill>
                <a:latin typeface="Consolas" panose="020B0609020204030204" pitchFamily="49" charset="0"/>
              </a:rPr>
              <a:t>returnBook</a:t>
            </a:r>
            <a:r>
              <a:rPr lang="en-US" sz="1900" dirty="0">
                <a:solidFill>
                  <a:srgbClr val="CCCCCC"/>
                </a:solidFill>
                <a:latin typeface="Consolas" panose="020B0609020204030204" pitchFamily="49" charset="0"/>
              </a:rPr>
              <a:t>(</a:t>
            </a:r>
            <a:r>
              <a:rPr lang="en-US" sz="1900" dirty="0">
                <a:solidFill>
                  <a:srgbClr val="9CDCFE"/>
                </a:solidFill>
                <a:latin typeface="Consolas" panose="020B0609020204030204" pitchFamily="49" charset="0"/>
              </a:rPr>
              <a:t>book1</a:t>
            </a:r>
            <a:r>
              <a:rPr lang="en-US" sz="1900" dirty="0">
                <a:solidFill>
                  <a:srgbClr val="CCCCCC"/>
                </a:solidFill>
                <a:latin typeface="Consolas" panose="020B0609020204030204" pitchFamily="49" charset="0"/>
              </a:rPr>
              <a:t>); </a:t>
            </a:r>
            <a:r>
              <a:rPr lang="en-US" sz="1900" dirty="0">
                <a:solidFill>
                  <a:srgbClr val="6A9955"/>
                </a:solidFill>
                <a:latin typeface="Consolas" panose="020B0609020204030204" pitchFamily="49" charset="0"/>
              </a:rPr>
              <a:t>//  return success</a:t>
            </a:r>
            <a:endParaRPr lang="en-US" sz="1900" dirty="0">
              <a:solidFill>
                <a:srgbClr val="CCCCCC"/>
              </a:solidFill>
              <a:latin typeface="Consolas" panose="020B0609020204030204" pitchFamily="49" charset="0"/>
            </a:endParaRPr>
          </a:p>
          <a:p>
            <a:pPr>
              <a:buNone/>
            </a:pPr>
            <a:r>
              <a:rPr lang="en-US" sz="1900" dirty="0">
                <a:solidFill>
                  <a:srgbClr val="CCCCCC"/>
                </a:solidFill>
                <a:latin typeface="Consolas" panose="020B0609020204030204" pitchFamily="49" charset="0"/>
              </a:rPr>
              <a:t>    }</a:t>
            </a:r>
          </a:p>
          <a:p>
            <a:pPr>
              <a:buNone/>
            </a:pPr>
            <a:r>
              <a:rPr lang="en-US" sz="1900" dirty="0">
                <a:solidFill>
                  <a:srgbClr val="CCCCCC"/>
                </a:solidFill>
                <a:latin typeface="Consolas" panose="020B0609020204030204" pitchFamily="49" charset="0"/>
              </a:rPr>
              <a:t>}</a:t>
            </a:r>
          </a:p>
        </p:txBody>
      </p:sp>
      <p:sp>
        <p:nvSpPr>
          <p:cNvPr id="9" name="TextBox 8">
            <a:extLst>
              <a:ext uri="{FF2B5EF4-FFF2-40B4-BE49-F238E27FC236}">
                <a16:creationId xmlns:a16="http://schemas.microsoft.com/office/drawing/2014/main" id="{6EB1E490-72DC-8030-8EC5-1776AE025B62}"/>
              </a:ext>
            </a:extLst>
          </p:cNvPr>
          <p:cNvSpPr txBox="1"/>
          <p:nvPr/>
        </p:nvSpPr>
        <p:spPr>
          <a:xfrm>
            <a:off x="8442962" y="672662"/>
            <a:ext cx="3749038" cy="3903504"/>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800" b="1" dirty="0">
                <a:latin typeface="Calibir"/>
              </a:rPr>
              <a:t>main</a:t>
            </a:r>
            <a:r>
              <a:rPr lang="en-US" altLang="en-US" sz="2800" dirty="0">
                <a:latin typeface="Calibir"/>
              </a:rPr>
              <a:t> (in </a:t>
            </a:r>
            <a:r>
              <a:rPr lang="en-US" altLang="en-US" sz="2800" dirty="0" err="1">
                <a:latin typeface="Calibir"/>
              </a:rPr>
              <a:t>LibrarySystem_Java</a:t>
            </a:r>
            <a:r>
              <a:rPr lang="en-US" altLang="en-US" sz="2800" dirty="0">
                <a:latin typeface="Calibir"/>
              </a:rPr>
              <a: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Creates a Library, some Books, one Member, then demo-borrows and returns.</a:t>
            </a:r>
          </a:p>
        </p:txBody>
      </p:sp>
    </p:spTree>
    <p:extLst>
      <p:ext uri="{BB962C8B-B14F-4D97-AF65-F5344CB8AC3E}">
        <p14:creationId xmlns:p14="http://schemas.microsoft.com/office/powerpoint/2010/main" val="27288833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3CBA18-394E-3996-BAAC-C6E59A8031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7A4FEE-5BAF-303B-133A-252D70CA9D3D}"/>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pic>
        <p:nvPicPr>
          <p:cNvPr id="4" name="Picture 3">
            <a:extLst>
              <a:ext uri="{FF2B5EF4-FFF2-40B4-BE49-F238E27FC236}">
                <a16:creationId xmlns:a16="http://schemas.microsoft.com/office/drawing/2014/main" id="{041A5195-22C8-18D7-0D6D-9CCE144C2FD6}"/>
              </a:ext>
            </a:extLst>
          </p:cNvPr>
          <p:cNvPicPr>
            <a:picLocks noChangeAspect="1"/>
          </p:cNvPicPr>
          <p:nvPr/>
        </p:nvPicPr>
        <p:blipFill>
          <a:blip r:embed="rId2"/>
          <a:srcRect t="9809" r="28434" b="31084"/>
          <a:stretch>
            <a:fillRect/>
          </a:stretch>
        </p:blipFill>
        <p:spPr>
          <a:xfrm>
            <a:off x="0" y="2049771"/>
            <a:ext cx="8725359" cy="4053574"/>
          </a:xfrm>
          <a:prstGeom prst="rect">
            <a:avLst/>
          </a:prstGeom>
        </p:spPr>
      </p:pic>
      <p:sp>
        <p:nvSpPr>
          <p:cNvPr id="6" name="Rectangle 2">
            <a:extLst>
              <a:ext uri="{FF2B5EF4-FFF2-40B4-BE49-F238E27FC236}">
                <a16:creationId xmlns:a16="http://schemas.microsoft.com/office/drawing/2014/main" id="{CFA4528A-0CD4-47EB-DE1F-4D8171C66E08}"/>
              </a:ext>
            </a:extLst>
          </p:cNvPr>
          <p:cNvSpPr>
            <a:spLocks noChangeArrowheads="1"/>
          </p:cNvSpPr>
          <p:nvPr/>
        </p:nvSpPr>
        <p:spPr bwMode="auto">
          <a:xfrm>
            <a:off x="0" y="1422513"/>
            <a:ext cx="12192000" cy="5477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200" b="0" i="0" u="none" strike="noStrike" cap="none" normalizeH="0" baseline="0" dirty="0">
                <a:ln>
                  <a:noFill/>
                </a:ln>
                <a:solidFill>
                  <a:schemeClr val="tx1"/>
                </a:solidFill>
                <a:effectLst/>
                <a:latin typeface="Calibir"/>
              </a:rPr>
              <a:t>The </a:t>
            </a:r>
            <a:r>
              <a:rPr kumimoji="0" lang="en-US" altLang="en-US" sz="2200" b="0" i="0" u="none" strike="noStrike" cap="none" normalizeH="0" baseline="0" dirty="0">
                <a:ln>
                  <a:noFill/>
                </a:ln>
                <a:solidFill>
                  <a:schemeClr val="tx1"/>
                </a:solidFill>
                <a:effectLst/>
                <a:highlight>
                  <a:srgbClr val="FFFF00"/>
                </a:highlight>
                <a:latin typeface="Calibir"/>
              </a:rPr>
              <a:t>Java code </a:t>
            </a:r>
            <a:r>
              <a:rPr kumimoji="0" lang="en-US" altLang="en-US" sz="2200" b="0" i="0" u="none" strike="noStrike" cap="none" normalizeH="0" baseline="0" dirty="0">
                <a:ln>
                  <a:noFill/>
                </a:ln>
                <a:solidFill>
                  <a:schemeClr val="tx1"/>
                </a:solidFill>
                <a:effectLst/>
                <a:latin typeface="Calibir"/>
              </a:rPr>
              <a:t>is also available on GitHub</a:t>
            </a:r>
          </a:p>
        </p:txBody>
      </p:sp>
    </p:spTree>
    <p:extLst>
      <p:ext uri="{BB962C8B-B14F-4D97-AF65-F5344CB8AC3E}">
        <p14:creationId xmlns:p14="http://schemas.microsoft.com/office/powerpoint/2010/main" val="228722532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FD73D-09D6-F218-35F2-12C6781ABD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02F907-5EDC-ABF5-01E5-0858176E45A2}"/>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pic>
        <p:nvPicPr>
          <p:cNvPr id="6" name="Picture 5">
            <a:extLst>
              <a:ext uri="{FF2B5EF4-FFF2-40B4-BE49-F238E27FC236}">
                <a16:creationId xmlns:a16="http://schemas.microsoft.com/office/drawing/2014/main" id="{D59CF10A-4D0C-C7D5-8AFC-0DEBA1D61F24}"/>
              </a:ext>
            </a:extLst>
          </p:cNvPr>
          <p:cNvPicPr>
            <a:picLocks noChangeAspect="1"/>
          </p:cNvPicPr>
          <p:nvPr/>
        </p:nvPicPr>
        <p:blipFill>
          <a:blip r:embed="rId2"/>
          <a:srcRect r="40712" b="75068"/>
          <a:stretch>
            <a:fillRect/>
          </a:stretch>
        </p:blipFill>
        <p:spPr>
          <a:xfrm>
            <a:off x="22588" y="1000700"/>
            <a:ext cx="7228387" cy="1709826"/>
          </a:xfrm>
          <a:prstGeom prst="rect">
            <a:avLst/>
          </a:prstGeom>
          <a:ln w="38100">
            <a:solidFill>
              <a:srgbClr val="FF0000"/>
            </a:solidFill>
          </a:ln>
        </p:spPr>
      </p:pic>
      <p:pic>
        <p:nvPicPr>
          <p:cNvPr id="24" name="Picture 23">
            <a:extLst>
              <a:ext uri="{FF2B5EF4-FFF2-40B4-BE49-F238E27FC236}">
                <a16:creationId xmlns:a16="http://schemas.microsoft.com/office/drawing/2014/main" id="{E8B9D81A-6906-14B1-D739-E4CA90184617}"/>
              </a:ext>
            </a:extLst>
          </p:cNvPr>
          <p:cNvPicPr>
            <a:picLocks noChangeAspect="1"/>
          </p:cNvPicPr>
          <p:nvPr/>
        </p:nvPicPr>
        <p:blipFill>
          <a:blip r:embed="rId3"/>
          <a:srcRect r="19815" b="71821"/>
          <a:stretch>
            <a:fillRect/>
          </a:stretch>
        </p:blipFill>
        <p:spPr>
          <a:xfrm>
            <a:off x="22588" y="4891039"/>
            <a:ext cx="9776149" cy="1932522"/>
          </a:xfrm>
          <a:prstGeom prst="rect">
            <a:avLst/>
          </a:prstGeom>
          <a:ln w="38100">
            <a:solidFill>
              <a:srgbClr val="FF0000"/>
            </a:solidFill>
          </a:ln>
        </p:spPr>
      </p:pic>
      <p:cxnSp>
        <p:nvCxnSpPr>
          <p:cNvPr id="29" name="Connector: Elbow 28">
            <a:extLst>
              <a:ext uri="{FF2B5EF4-FFF2-40B4-BE49-F238E27FC236}">
                <a16:creationId xmlns:a16="http://schemas.microsoft.com/office/drawing/2014/main" id="{AEBE0F51-4C47-30EC-4D56-181FA3D1415A}"/>
              </a:ext>
            </a:extLst>
          </p:cNvPr>
          <p:cNvCxnSpPr>
            <a:endCxn id="24" idx="0"/>
          </p:cNvCxnSpPr>
          <p:nvPr/>
        </p:nvCxnSpPr>
        <p:spPr>
          <a:xfrm rot="16200000" flipH="1">
            <a:off x="3247085" y="3227460"/>
            <a:ext cx="2053275" cy="1273882"/>
          </a:xfrm>
          <a:prstGeom prst="bentConnector3">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6408015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8AA7E-30E2-55CD-1861-EB70339C4E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00629A-0C93-F4CF-407C-C938EDF4AFCE}"/>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pic>
        <p:nvPicPr>
          <p:cNvPr id="4" name="Picture 3">
            <a:extLst>
              <a:ext uri="{FF2B5EF4-FFF2-40B4-BE49-F238E27FC236}">
                <a16:creationId xmlns:a16="http://schemas.microsoft.com/office/drawing/2014/main" id="{2280D1F9-860D-96E3-0392-D48F8CC1B070}"/>
              </a:ext>
            </a:extLst>
          </p:cNvPr>
          <p:cNvPicPr>
            <a:picLocks noChangeAspect="1"/>
          </p:cNvPicPr>
          <p:nvPr/>
        </p:nvPicPr>
        <p:blipFill>
          <a:blip r:embed="rId2"/>
          <a:srcRect l="968" t="60979" r="4182" b="19932"/>
          <a:stretch>
            <a:fillRect/>
          </a:stretch>
        </p:blipFill>
        <p:spPr>
          <a:xfrm>
            <a:off x="117986" y="4693311"/>
            <a:ext cx="11564060" cy="1309124"/>
          </a:xfrm>
          <a:prstGeom prst="rect">
            <a:avLst/>
          </a:prstGeom>
        </p:spPr>
      </p:pic>
      <p:sp>
        <p:nvSpPr>
          <p:cNvPr id="5" name="TextBox 4">
            <a:extLst>
              <a:ext uri="{FF2B5EF4-FFF2-40B4-BE49-F238E27FC236}">
                <a16:creationId xmlns:a16="http://schemas.microsoft.com/office/drawing/2014/main" id="{83A3D799-559F-4F00-6CFE-8AD4DDACD77E}"/>
              </a:ext>
            </a:extLst>
          </p:cNvPr>
          <p:cNvSpPr txBox="1"/>
          <p:nvPr/>
        </p:nvSpPr>
        <p:spPr>
          <a:xfrm>
            <a:off x="21021" y="1020747"/>
            <a:ext cx="8288443" cy="1321772"/>
          </a:xfrm>
          <a:prstGeom prst="rect">
            <a:avLst/>
          </a:prstGeom>
          <a:noFill/>
        </p:spPr>
        <p:txBody>
          <a:bodyPr wrap="square">
            <a:spAutoFit/>
          </a:bodyPr>
          <a:lstStyle/>
          <a:p>
            <a:pPr>
              <a:lnSpc>
                <a:spcPct val="150000"/>
              </a:lnSpc>
              <a:buNone/>
            </a:pPr>
            <a:r>
              <a:rPr lang="en-US" sz="2800" dirty="0">
                <a:latin typeface="Calibir"/>
              </a:rPr>
              <a:t>Save it as a library system:</a:t>
            </a:r>
          </a:p>
          <a:p>
            <a:pPr>
              <a:lnSpc>
                <a:spcPct val="150000"/>
              </a:lnSpc>
              <a:buNone/>
            </a:pPr>
            <a:r>
              <a:rPr lang="en-US" sz="2800" dirty="0">
                <a:highlight>
                  <a:srgbClr val="FFFF00"/>
                </a:highlight>
              </a:rPr>
              <a:t>library_system.py</a:t>
            </a:r>
            <a:endParaRPr lang="en-US" sz="2800" dirty="0">
              <a:highlight>
                <a:srgbClr val="FFFF00"/>
              </a:highlight>
              <a:latin typeface="Calibir"/>
            </a:endParaRPr>
          </a:p>
        </p:txBody>
      </p:sp>
    </p:spTree>
    <p:extLst>
      <p:ext uri="{BB962C8B-B14F-4D97-AF65-F5344CB8AC3E}">
        <p14:creationId xmlns:p14="http://schemas.microsoft.com/office/powerpoint/2010/main" val="180855031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A558C-09C0-D0CE-97BA-92AF273A09A6}"/>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ABD5231D-3DD7-AC7D-FEFA-7F09CF795C04}"/>
              </a:ext>
            </a:extLst>
          </p:cNvPr>
          <p:cNvSpPr/>
          <p:nvPr/>
        </p:nvSpPr>
        <p:spPr>
          <a:xfrm>
            <a:off x="8525675" y="4886722"/>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0850B91A-7108-07BB-ED95-660442CEE311}"/>
              </a:ext>
            </a:extLst>
          </p:cNvPr>
          <p:cNvCxnSpPr>
            <a:cxnSpLocks/>
          </p:cNvCxnSpPr>
          <p:nvPr/>
        </p:nvCxnSpPr>
        <p:spPr>
          <a:xfrm>
            <a:off x="9651496" y="5523412"/>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EECB331E-A527-D3C6-5FEB-1E7B08877AE4}"/>
              </a:ext>
            </a:extLst>
          </p:cNvPr>
          <p:cNvCxnSpPr>
            <a:cxnSpLocks/>
          </p:cNvCxnSpPr>
          <p:nvPr/>
        </p:nvCxnSpPr>
        <p:spPr>
          <a:xfrm flipV="1">
            <a:off x="11466933" y="4052391"/>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FE423DC-295B-BA07-6394-EB6BC24C19A8}"/>
              </a:ext>
            </a:extLst>
          </p:cNvPr>
          <p:cNvCxnSpPr>
            <a:cxnSpLocks/>
          </p:cNvCxnSpPr>
          <p:nvPr/>
        </p:nvCxnSpPr>
        <p:spPr>
          <a:xfrm>
            <a:off x="11245867" y="4064143"/>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A488EFA3-9088-2659-EB03-88F468349480}"/>
              </a:ext>
            </a:extLst>
          </p:cNvPr>
          <p:cNvSpPr/>
          <p:nvPr/>
        </p:nvSpPr>
        <p:spPr>
          <a:xfrm>
            <a:off x="11400635" y="4231949"/>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D19FA40B-F908-85AE-2783-D97292BFAB98}"/>
              </a:ext>
            </a:extLst>
          </p:cNvPr>
          <p:cNvCxnSpPr/>
          <p:nvPr/>
        </p:nvCxnSpPr>
        <p:spPr>
          <a:xfrm>
            <a:off x="9706924" y="5342716"/>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7BF68D6C-7557-A424-F04A-7C8F9C161CF5}"/>
              </a:ext>
            </a:extLst>
          </p:cNvPr>
          <p:cNvSpPr txBox="1"/>
          <p:nvPr/>
        </p:nvSpPr>
        <p:spPr>
          <a:xfrm>
            <a:off x="10444192" y="4068361"/>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DCF221F5-05F3-2496-72D0-4A799E2AF2DA}"/>
              </a:ext>
            </a:extLst>
          </p:cNvPr>
          <p:cNvSpPr txBox="1"/>
          <p:nvPr/>
        </p:nvSpPr>
        <p:spPr>
          <a:xfrm>
            <a:off x="9232589" y="4434591"/>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2045C1E7-07AE-12D2-1637-135985A2CB0D}"/>
              </a:ext>
            </a:extLst>
          </p:cNvPr>
          <p:cNvSpPr/>
          <p:nvPr/>
        </p:nvSpPr>
        <p:spPr>
          <a:xfrm>
            <a:off x="8525674" y="2754846"/>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FAAF5BCD-ABB2-7AFE-83FA-4596E14DD661}"/>
              </a:ext>
            </a:extLst>
          </p:cNvPr>
          <p:cNvSpPr/>
          <p:nvPr/>
        </p:nvSpPr>
        <p:spPr>
          <a:xfrm>
            <a:off x="10921036" y="2765604"/>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BDCBDDA1-E35F-8DC7-4B40-E18E1A6BD37A}"/>
              </a:ext>
            </a:extLst>
          </p:cNvPr>
          <p:cNvCxnSpPr/>
          <p:nvPr/>
        </p:nvCxnSpPr>
        <p:spPr>
          <a:xfrm>
            <a:off x="9639771" y="3397398"/>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20532C1B-10EF-636A-2FB9-2CAB783638B3}"/>
              </a:ext>
            </a:extLst>
          </p:cNvPr>
          <p:cNvCxnSpPr>
            <a:cxnSpLocks/>
          </p:cNvCxnSpPr>
          <p:nvPr/>
        </p:nvCxnSpPr>
        <p:spPr>
          <a:xfrm flipV="1">
            <a:off x="10722336" y="3255507"/>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8D8C7DB7-B76E-9023-2F8E-66AE99AA8DC6}"/>
              </a:ext>
            </a:extLst>
          </p:cNvPr>
          <p:cNvCxnSpPr>
            <a:cxnSpLocks/>
          </p:cNvCxnSpPr>
          <p:nvPr/>
        </p:nvCxnSpPr>
        <p:spPr>
          <a:xfrm>
            <a:off x="10722336" y="3397398"/>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BB7B0BA8-01B4-0642-FEE2-40CEA047A15C}"/>
              </a:ext>
            </a:extLst>
          </p:cNvPr>
          <p:cNvSpPr/>
          <p:nvPr/>
        </p:nvSpPr>
        <p:spPr>
          <a:xfrm>
            <a:off x="10507747" y="3326452"/>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6F510A2C-88D2-01A9-E445-A9BC07D75265}"/>
              </a:ext>
            </a:extLst>
          </p:cNvPr>
          <p:cNvCxnSpPr/>
          <p:nvPr/>
        </p:nvCxnSpPr>
        <p:spPr>
          <a:xfrm>
            <a:off x="9706923" y="3210840"/>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AD7ACF28-DE2F-65D5-0E8D-5B9F9C92E61C}"/>
              </a:ext>
            </a:extLst>
          </p:cNvPr>
          <p:cNvSpPr txBox="1"/>
          <p:nvPr/>
        </p:nvSpPr>
        <p:spPr>
          <a:xfrm>
            <a:off x="10352835" y="2302715"/>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B79A45D5-1820-0864-B142-340C3F059914}"/>
              </a:ext>
            </a:extLst>
          </p:cNvPr>
          <p:cNvSpPr txBox="1"/>
          <p:nvPr/>
        </p:nvSpPr>
        <p:spPr>
          <a:xfrm>
            <a:off x="9232588" y="2302715"/>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24C19122-568E-7C0C-CAD8-743896A7CA9D}"/>
              </a:ext>
            </a:extLst>
          </p:cNvPr>
          <p:cNvSpPr/>
          <p:nvPr/>
        </p:nvSpPr>
        <p:spPr>
          <a:xfrm>
            <a:off x="8525673" y="372123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6C28BB61-7B7D-CED2-6907-E1324B12EE62}"/>
              </a:ext>
            </a:extLst>
          </p:cNvPr>
          <p:cNvSpPr/>
          <p:nvPr/>
        </p:nvSpPr>
        <p:spPr>
          <a:xfrm>
            <a:off x="8525673" y="341587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7087492E-BAAC-AF0C-0A7F-43816D176C9B}"/>
              </a:ext>
            </a:extLst>
          </p:cNvPr>
          <p:cNvSpPr txBox="1"/>
          <p:nvPr/>
        </p:nvSpPr>
        <p:spPr>
          <a:xfrm>
            <a:off x="9789637" y="2931791"/>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0653B096-5405-9544-BC58-40C65782E799}"/>
              </a:ext>
            </a:extLst>
          </p:cNvPr>
          <p:cNvSpPr/>
          <p:nvPr/>
        </p:nvSpPr>
        <p:spPr>
          <a:xfrm>
            <a:off x="10916035" y="373286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7DF50D1A-D876-A6E0-B02F-21D74F58FD8D}"/>
              </a:ext>
            </a:extLst>
          </p:cNvPr>
          <p:cNvSpPr/>
          <p:nvPr/>
        </p:nvSpPr>
        <p:spPr>
          <a:xfrm>
            <a:off x="10916035" y="342750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5A468020-93C5-6675-0685-162C12F5720D}"/>
              </a:ext>
            </a:extLst>
          </p:cNvPr>
          <p:cNvSpPr/>
          <p:nvPr/>
        </p:nvSpPr>
        <p:spPr>
          <a:xfrm>
            <a:off x="10916034" y="312437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F958406E-603B-0780-FBE0-C3D8437F98F8}"/>
              </a:ext>
            </a:extLst>
          </p:cNvPr>
          <p:cNvCxnSpPr>
            <a:cxnSpLocks/>
            <a:endCxn id="61" idx="2"/>
          </p:cNvCxnSpPr>
          <p:nvPr/>
        </p:nvCxnSpPr>
        <p:spPr>
          <a:xfrm flipH="1" flipV="1">
            <a:off x="11473084" y="4038228"/>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22211B5A-E2C6-9C36-2207-755D118083FE}"/>
              </a:ext>
            </a:extLst>
          </p:cNvPr>
          <p:cNvSpPr txBox="1"/>
          <p:nvPr/>
        </p:nvSpPr>
        <p:spPr>
          <a:xfrm>
            <a:off x="9809223" y="5012347"/>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216B84CC-AE6F-4038-1C21-BEA4696A07AC}"/>
              </a:ext>
            </a:extLst>
          </p:cNvPr>
          <p:cNvSpPr/>
          <p:nvPr/>
        </p:nvSpPr>
        <p:spPr>
          <a:xfrm>
            <a:off x="8526248" y="576101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68B7A9D3-044B-D683-521E-37F9BCD827C2}"/>
              </a:ext>
            </a:extLst>
          </p:cNvPr>
          <p:cNvSpPr/>
          <p:nvPr/>
        </p:nvSpPr>
        <p:spPr>
          <a:xfrm>
            <a:off x="8526248" y="547795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423C8F2F-59BB-70D8-7077-291491673EE5}"/>
              </a:ext>
            </a:extLst>
          </p:cNvPr>
          <p:cNvSpPr/>
          <p:nvPr/>
        </p:nvSpPr>
        <p:spPr>
          <a:xfrm>
            <a:off x="8526247" y="517482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063D59C3-7CF7-0CFF-8D0A-04F1246A0090}"/>
              </a:ext>
            </a:extLst>
          </p:cNvPr>
          <p:cNvSpPr/>
          <p:nvPr/>
        </p:nvSpPr>
        <p:spPr>
          <a:xfrm>
            <a:off x="8530207" y="6474818"/>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B84934F2-07BB-447F-C60E-C2E807E09B78}"/>
              </a:ext>
            </a:extLst>
          </p:cNvPr>
          <p:cNvSpPr/>
          <p:nvPr/>
        </p:nvSpPr>
        <p:spPr>
          <a:xfrm>
            <a:off x="8525673" y="6057190"/>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6" name="TextBox 5">
            <a:extLst>
              <a:ext uri="{FF2B5EF4-FFF2-40B4-BE49-F238E27FC236}">
                <a16:creationId xmlns:a16="http://schemas.microsoft.com/office/drawing/2014/main" id="{BE5E4221-1049-8554-D759-14762B830D75}"/>
              </a:ext>
            </a:extLst>
          </p:cNvPr>
          <p:cNvSpPr txBox="1"/>
          <p:nvPr/>
        </p:nvSpPr>
        <p:spPr>
          <a:xfrm>
            <a:off x="9607" y="0"/>
            <a:ext cx="12192000" cy="2400657"/>
          </a:xfrm>
          <a:prstGeom prst="rect">
            <a:avLst/>
          </a:prstGeom>
          <a:solidFill>
            <a:schemeClr val="tx1"/>
          </a:solidFill>
        </p:spPr>
        <p:txBody>
          <a:bodyPr wrap="square">
            <a:spAutoFit/>
          </a:bodyPr>
          <a:lstStyle/>
          <a:p>
            <a:pPr>
              <a:buNone/>
            </a:pPr>
            <a:r>
              <a:rPr lang="en-US" sz="2500" b="0" dirty="0">
                <a:solidFill>
                  <a:srgbClr val="569CD6"/>
                </a:solidFill>
                <a:effectLst/>
                <a:latin typeface="Consolas" panose="020B0609020204030204" pitchFamily="49" charset="0"/>
              </a:rPr>
              <a:t>class</a:t>
            </a:r>
            <a:r>
              <a:rPr lang="en-US" sz="2500" b="0" dirty="0">
                <a:solidFill>
                  <a:srgbClr val="CCCCCC"/>
                </a:solidFill>
                <a:effectLst/>
                <a:latin typeface="Consolas" panose="020B0609020204030204" pitchFamily="49" charset="0"/>
              </a:rPr>
              <a:t> </a:t>
            </a:r>
            <a:r>
              <a:rPr lang="en-US" sz="2500" b="0" dirty="0">
                <a:solidFill>
                  <a:srgbClr val="4EC9B0"/>
                </a:solidFill>
                <a:effectLst/>
                <a:latin typeface="Consolas" panose="020B0609020204030204" pitchFamily="49" charset="0"/>
              </a:rPr>
              <a:t>Book</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def</a:t>
            </a:r>
            <a:r>
              <a:rPr lang="en-US" sz="2500" b="0" dirty="0">
                <a:solidFill>
                  <a:srgbClr val="CCCCCC"/>
                </a:solidFill>
                <a:effectLst/>
                <a:latin typeface="Consolas" panose="020B0609020204030204" pitchFamily="49" charset="0"/>
              </a:rPr>
              <a:t> </a:t>
            </a:r>
            <a:r>
              <a:rPr lang="en-US" sz="2500" b="0" dirty="0">
                <a:solidFill>
                  <a:srgbClr val="DCDCAA"/>
                </a:solidFill>
                <a:effectLst/>
                <a:latin typeface="Consolas" panose="020B0609020204030204" pitchFamily="49" charset="0"/>
              </a:rPr>
              <a:t>__</a:t>
            </a:r>
            <a:r>
              <a:rPr lang="en-US" sz="2500" b="0" dirty="0" err="1">
                <a:solidFill>
                  <a:srgbClr val="DCDCAA"/>
                </a:solidFill>
                <a:effectLst/>
                <a:latin typeface="Consolas" panose="020B0609020204030204" pitchFamily="49" charset="0"/>
              </a:rPr>
              <a:t>init</a:t>
            </a:r>
            <a:r>
              <a:rPr lang="en-US" sz="2500" b="0" dirty="0">
                <a:solidFill>
                  <a:srgbClr val="DCDCAA"/>
                </a:solidFill>
                <a:effectLst/>
                <a:latin typeface="Consolas" panose="020B0609020204030204" pitchFamily="49" charset="0"/>
              </a:rPr>
              <a:t>__</a:t>
            </a:r>
            <a:r>
              <a:rPr lang="en-US" sz="2500" b="0" dirty="0">
                <a:solidFill>
                  <a:srgbClr val="CCCCCC"/>
                </a:solidFill>
                <a:effectLst/>
                <a:latin typeface="Consolas" panose="020B0609020204030204" pitchFamily="49" charset="0"/>
              </a:rPr>
              <a:t>(</a:t>
            </a:r>
            <a:r>
              <a:rPr lang="en-US" sz="2500" b="0" dirty="0">
                <a:solidFill>
                  <a:srgbClr val="9CDCFE"/>
                </a:solidFill>
                <a:effectLst/>
                <a:latin typeface="Consolas" panose="020B0609020204030204" pitchFamily="49" charset="0"/>
              </a:rPr>
              <a:t>self</a:t>
            </a: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title</a:t>
            </a: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isbn</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self</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title</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title</a:t>
            </a:r>
            <a:endParaRPr lang="en-US" sz="2500" b="0" dirty="0">
              <a:solidFill>
                <a:srgbClr val="CCCCCC"/>
              </a:solidFill>
              <a:effectLst/>
              <a:latin typeface="Consolas" panose="020B0609020204030204" pitchFamily="49" charset="0"/>
            </a:endParaRP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self</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isbn</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isbn</a:t>
            </a:r>
            <a:endParaRPr lang="en-US" sz="2500" b="0" dirty="0">
              <a:solidFill>
                <a:srgbClr val="CCCCCC"/>
              </a:solidFill>
              <a:effectLst/>
              <a:latin typeface="Consolas" panose="020B0609020204030204" pitchFamily="49" charset="0"/>
            </a:endParaRP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self</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status</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CE9178"/>
                </a:solidFill>
                <a:effectLst/>
                <a:latin typeface="Consolas" panose="020B0609020204030204" pitchFamily="49" charset="0"/>
              </a:rPr>
              <a:t>"available"</a:t>
            </a:r>
            <a:r>
              <a:rPr lang="en-US" sz="2500" b="0" dirty="0">
                <a:solidFill>
                  <a:srgbClr val="CCCCCC"/>
                </a:solidFill>
                <a:effectLst/>
                <a:latin typeface="Consolas" panose="020B0609020204030204" pitchFamily="49" charset="0"/>
              </a:rPr>
              <a:t>   </a:t>
            </a:r>
            <a:r>
              <a:rPr lang="en-US" sz="2500" b="0" dirty="0">
                <a:solidFill>
                  <a:srgbClr val="6A9955"/>
                </a:solidFill>
                <a:effectLst/>
                <a:latin typeface="Consolas" panose="020B0609020204030204" pitchFamily="49" charset="0"/>
              </a:rPr>
              <a:t># available or borrowed</a:t>
            </a:r>
            <a:endParaRPr lang="en-US" sz="2500" b="0" dirty="0">
              <a:solidFill>
                <a:srgbClr val="CCCCCC"/>
              </a:solidFill>
              <a:effectLst/>
              <a:latin typeface="Consolas" panose="020B0609020204030204" pitchFamily="49" charset="0"/>
            </a:endParaRP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self</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borrowed_by</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4FC1FF"/>
                </a:solidFill>
                <a:effectLst/>
                <a:latin typeface="Consolas" panose="020B0609020204030204" pitchFamily="49" charset="0"/>
              </a:rPr>
              <a:t>None</a:t>
            </a:r>
            <a:r>
              <a:rPr lang="en-US" sz="2500" b="0" dirty="0">
                <a:solidFill>
                  <a:srgbClr val="CCCCCC"/>
                </a:solidFill>
                <a:effectLst/>
                <a:latin typeface="Consolas" panose="020B0609020204030204" pitchFamily="49" charset="0"/>
              </a:rPr>
              <a:t>     </a:t>
            </a:r>
            <a:r>
              <a:rPr lang="en-US" sz="2500" b="0" dirty="0">
                <a:solidFill>
                  <a:srgbClr val="6A9955"/>
                </a:solidFill>
                <a:effectLst/>
                <a:latin typeface="Consolas" panose="020B0609020204030204" pitchFamily="49" charset="0"/>
              </a:rPr>
              <a:t># which Member has borrowed</a:t>
            </a:r>
            <a:endParaRPr lang="en-US" sz="2500" b="0" dirty="0">
              <a:solidFill>
                <a:srgbClr val="CCCCCC"/>
              </a:solidFill>
              <a:effectLst/>
              <a:latin typeface="Consolas" panose="020B0609020204030204" pitchFamily="49" charset="0"/>
            </a:endParaRPr>
          </a:p>
        </p:txBody>
      </p:sp>
      <p:sp>
        <p:nvSpPr>
          <p:cNvPr id="3" name="Rectangle 1">
            <a:extLst>
              <a:ext uri="{FF2B5EF4-FFF2-40B4-BE49-F238E27FC236}">
                <a16:creationId xmlns:a16="http://schemas.microsoft.com/office/drawing/2014/main" id="{DA909801-9E74-29FC-4513-7A29E461AEB5}"/>
              </a:ext>
            </a:extLst>
          </p:cNvPr>
          <p:cNvSpPr>
            <a:spLocks noChangeArrowheads="1"/>
          </p:cNvSpPr>
          <p:nvPr/>
        </p:nvSpPr>
        <p:spPr bwMode="auto">
          <a:xfrm>
            <a:off x="9607" y="2524384"/>
            <a:ext cx="8392747"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Book class</a:t>
            </a:r>
          </a:p>
          <a:p>
            <a:pPr marL="722313"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Has a title, </a:t>
            </a:r>
            <a:r>
              <a:rPr kumimoji="0" lang="en-US" altLang="en-US" sz="2800" i="0" u="none" strike="noStrike" cap="none" normalizeH="0" baseline="0" dirty="0" err="1">
                <a:ln>
                  <a:noFill/>
                </a:ln>
                <a:solidFill>
                  <a:schemeClr val="tx1"/>
                </a:solidFill>
                <a:effectLst/>
                <a:latin typeface="Calibir"/>
              </a:rPr>
              <a:t>isbn</a:t>
            </a:r>
            <a:r>
              <a:rPr kumimoji="0" lang="en-US" altLang="en-US" sz="2800" i="0" u="none" strike="noStrike" cap="none" normalizeH="0" baseline="0" dirty="0">
                <a:ln>
                  <a:noFill/>
                </a:ln>
                <a:solidFill>
                  <a:schemeClr val="tx1"/>
                </a:solidFill>
                <a:effectLst/>
                <a:latin typeface="Calibir"/>
              </a:rPr>
              <a:t>, and status (available or borrowed).</a:t>
            </a:r>
          </a:p>
          <a:p>
            <a:pPr marL="722313"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Keeps track of who borrowed it (</a:t>
            </a:r>
            <a:r>
              <a:rPr kumimoji="0" lang="en-US" altLang="en-US" sz="2800" i="0" u="none" strike="noStrike" cap="none" normalizeH="0" baseline="0" dirty="0" err="1">
                <a:ln>
                  <a:noFill/>
                </a:ln>
                <a:solidFill>
                  <a:schemeClr val="tx1"/>
                </a:solidFill>
                <a:effectLst/>
                <a:latin typeface="Calibir"/>
              </a:rPr>
              <a:t>borrowed_by</a:t>
            </a:r>
            <a:r>
              <a:rPr kumimoji="0" lang="en-US" altLang="en-US" sz="2800" i="0" u="none" strike="noStrike" cap="none" normalizeH="0" baseline="0" dirty="0">
                <a:ln>
                  <a:noFill/>
                </a:ln>
                <a:solidFill>
                  <a:schemeClr val="tx1"/>
                </a:solidFill>
                <a:effectLst/>
                <a:latin typeface="Calibir"/>
              </a:rPr>
              <a:t>).</a:t>
            </a:r>
          </a:p>
        </p:txBody>
      </p:sp>
      <p:sp>
        <p:nvSpPr>
          <p:cNvPr id="2" name="Oval 1">
            <a:extLst>
              <a:ext uri="{FF2B5EF4-FFF2-40B4-BE49-F238E27FC236}">
                <a16:creationId xmlns:a16="http://schemas.microsoft.com/office/drawing/2014/main" id="{131CD46D-0CA6-339F-103D-BDB21EC45F15}"/>
              </a:ext>
            </a:extLst>
          </p:cNvPr>
          <p:cNvSpPr/>
          <p:nvPr/>
        </p:nvSpPr>
        <p:spPr>
          <a:xfrm>
            <a:off x="9798306" y="5462328"/>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4630587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5D48F-0094-280F-C219-55067166D39D}"/>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F5A2EECE-0280-486F-75A9-E89B944E40C2}"/>
              </a:ext>
            </a:extLst>
          </p:cNvPr>
          <p:cNvSpPr/>
          <p:nvPr/>
        </p:nvSpPr>
        <p:spPr>
          <a:xfrm>
            <a:off x="8525675" y="4886722"/>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696E63DB-98A4-DD72-D27B-8EE18013FD53}"/>
              </a:ext>
            </a:extLst>
          </p:cNvPr>
          <p:cNvCxnSpPr>
            <a:cxnSpLocks/>
          </p:cNvCxnSpPr>
          <p:nvPr/>
        </p:nvCxnSpPr>
        <p:spPr>
          <a:xfrm>
            <a:off x="9651496" y="5523412"/>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9ECF884-D0C2-5E9F-7C87-2DAFD9361728}"/>
              </a:ext>
            </a:extLst>
          </p:cNvPr>
          <p:cNvCxnSpPr>
            <a:cxnSpLocks/>
          </p:cNvCxnSpPr>
          <p:nvPr/>
        </p:nvCxnSpPr>
        <p:spPr>
          <a:xfrm flipV="1">
            <a:off x="11466933" y="4052391"/>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A279F337-E7C9-D57E-512A-3A644FB5044E}"/>
              </a:ext>
            </a:extLst>
          </p:cNvPr>
          <p:cNvCxnSpPr>
            <a:cxnSpLocks/>
          </p:cNvCxnSpPr>
          <p:nvPr/>
        </p:nvCxnSpPr>
        <p:spPr>
          <a:xfrm>
            <a:off x="11245867" y="4064143"/>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F820F96C-F4BF-E1F6-2C87-F44B1D97D5E9}"/>
              </a:ext>
            </a:extLst>
          </p:cNvPr>
          <p:cNvSpPr/>
          <p:nvPr/>
        </p:nvSpPr>
        <p:spPr>
          <a:xfrm>
            <a:off x="11400635" y="4231949"/>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C42703B1-856C-0263-F33A-3F04E1E26C3D}"/>
              </a:ext>
            </a:extLst>
          </p:cNvPr>
          <p:cNvCxnSpPr/>
          <p:nvPr/>
        </p:nvCxnSpPr>
        <p:spPr>
          <a:xfrm>
            <a:off x="9706924" y="5342716"/>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7D1646A6-4AB6-ACD9-992D-3CEE78D76101}"/>
              </a:ext>
            </a:extLst>
          </p:cNvPr>
          <p:cNvSpPr txBox="1"/>
          <p:nvPr/>
        </p:nvSpPr>
        <p:spPr>
          <a:xfrm>
            <a:off x="10444192" y="4068361"/>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7434D800-D08D-8D47-D256-375EE2DA39D4}"/>
              </a:ext>
            </a:extLst>
          </p:cNvPr>
          <p:cNvSpPr txBox="1"/>
          <p:nvPr/>
        </p:nvSpPr>
        <p:spPr>
          <a:xfrm>
            <a:off x="9232589" y="4434591"/>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2AB4B610-16AC-C81D-62EF-DBAFE88561B6}"/>
              </a:ext>
            </a:extLst>
          </p:cNvPr>
          <p:cNvSpPr/>
          <p:nvPr/>
        </p:nvSpPr>
        <p:spPr>
          <a:xfrm>
            <a:off x="8525674" y="2754846"/>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08387B47-A315-99BE-968B-F86111528D41}"/>
              </a:ext>
            </a:extLst>
          </p:cNvPr>
          <p:cNvSpPr/>
          <p:nvPr/>
        </p:nvSpPr>
        <p:spPr>
          <a:xfrm>
            <a:off x="10921036" y="2765604"/>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9B26CD0D-129C-AFEC-6873-F3D16DAA75AC}"/>
              </a:ext>
            </a:extLst>
          </p:cNvPr>
          <p:cNvCxnSpPr/>
          <p:nvPr/>
        </p:nvCxnSpPr>
        <p:spPr>
          <a:xfrm>
            <a:off x="9639771" y="3397398"/>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1DFF4E6F-7A25-AF78-CEDB-D8C9093D8D1F}"/>
              </a:ext>
            </a:extLst>
          </p:cNvPr>
          <p:cNvCxnSpPr>
            <a:cxnSpLocks/>
          </p:cNvCxnSpPr>
          <p:nvPr/>
        </p:nvCxnSpPr>
        <p:spPr>
          <a:xfrm flipV="1">
            <a:off x="10722336" y="3255507"/>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D32B19E-7F16-823F-A747-72D0AE776FA1}"/>
              </a:ext>
            </a:extLst>
          </p:cNvPr>
          <p:cNvCxnSpPr>
            <a:cxnSpLocks/>
          </p:cNvCxnSpPr>
          <p:nvPr/>
        </p:nvCxnSpPr>
        <p:spPr>
          <a:xfrm>
            <a:off x="10722336" y="3397398"/>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0BAC4716-AFC3-B323-407C-77B30655D89B}"/>
              </a:ext>
            </a:extLst>
          </p:cNvPr>
          <p:cNvSpPr/>
          <p:nvPr/>
        </p:nvSpPr>
        <p:spPr>
          <a:xfrm>
            <a:off x="10507747" y="3326452"/>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44694CB8-4F16-D7F4-1255-8801A404E53E}"/>
              </a:ext>
            </a:extLst>
          </p:cNvPr>
          <p:cNvCxnSpPr/>
          <p:nvPr/>
        </p:nvCxnSpPr>
        <p:spPr>
          <a:xfrm>
            <a:off x="9706923" y="3210840"/>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D0DBE21A-5778-EB5D-8C50-3F1250D4D05C}"/>
              </a:ext>
            </a:extLst>
          </p:cNvPr>
          <p:cNvSpPr txBox="1"/>
          <p:nvPr/>
        </p:nvSpPr>
        <p:spPr>
          <a:xfrm>
            <a:off x="10352835" y="2302715"/>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7FDCF30B-6EE9-336E-89B1-125A2524C7BB}"/>
              </a:ext>
            </a:extLst>
          </p:cNvPr>
          <p:cNvSpPr txBox="1"/>
          <p:nvPr/>
        </p:nvSpPr>
        <p:spPr>
          <a:xfrm>
            <a:off x="9232588" y="2302715"/>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74554CB7-6E82-FBA8-1168-1F27477D0238}"/>
              </a:ext>
            </a:extLst>
          </p:cNvPr>
          <p:cNvSpPr/>
          <p:nvPr/>
        </p:nvSpPr>
        <p:spPr>
          <a:xfrm>
            <a:off x="8525673" y="372123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8AA8A732-CEC2-1268-C453-D426CB0DBB90}"/>
              </a:ext>
            </a:extLst>
          </p:cNvPr>
          <p:cNvSpPr/>
          <p:nvPr/>
        </p:nvSpPr>
        <p:spPr>
          <a:xfrm>
            <a:off x="8525673" y="341587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F18BE188-83E1-225D-0C75-4A28F10E9543}"/>
              </a:ext>
            </a:extLst>
          </p:cNvPr>
          <p:cNvSpPr txBox="1"/>
          <p:nvPr/>
        </p:nvSpPr>
        <p:spPr>
          <a:xfrm>
            <a:off x="9789637" y="2931791"/>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D38E70E7-B707-406E-AB5F-7664251DA7FB}"/>
              </a:ext>
            </a:extLst>
          </p:cNvPr>
          <p:cNvSpPr/>
          <p:nvPr/>
        </p:nvSpPr>
        <p:spPr>
          <a:xfrm>
            <a:off x="10916035" y="373286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ECD6D8C3-4A5D-E9D2-6623-5C840BC9D209}"/>
              </a:ext>
            </a:extLst>
          </p:cNvPr>
          <p:cNvSpPr/>
          <p:nvPr/>
        </p:nvSpPr>
        <p:spPr>
          <a:xfrm>
            <a:off x="10916035" y="342750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B4B7EC65-5939-6144-CB5E-3137F7513794}"/>
              </a:ext>
            </a:extLst>
          </p:cNvPr>
          <p:cNvSpPr/>
          <p:nvPr/>
        </p:nvSpPr>
        <p:spPr>
          <a:xfrm>
            <a:off x="10916034" y="312437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331F5D3F-CD26-2AB5-EF91-FFF545E01A35}"/>
              </a:ext>
            </a:extLst>
          </p:cNvPr>
          <p:cNvCxnSpPr>
            <a:cxnSpLocks/>
            <a:endCxn id="61" idx="2"/>
          </p:cNvCxnSpPr>
          <p:nvPr/>
        </p:nvCxnSpPr>
        <p:spPr>
          <a:xfrm flipH="1" flipV="1">
            <a:off x="11473084" y="4038228"/>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308E4D83-1ECE-6861-415A-3BEAA65065E5}"/>
              </a:ext>
            </a:extLst>
          </p:cNvPr>
          <p:cNvSpPr txBox="1"/>
          <p:nvPr/>
        </p:nvSpPr>
        <p:spPr>
          <a:xfrm>
            <a:off x="9809223" y="5012347"/>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B2196BE1-B7A5-A28F-E76F-E5CD368064B0}"/>
              </a:ext>
            </a:extLst>
          </p:cNvPr>
          <p:cNvSpPr/>
          <p:nvPr/>
        </p:nvSpPr>
        <p:spPr>
          <a:xfrm>
            <a:off x="8526248" y="576101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1C88DA65-9F6F-4396-84F8-CDCB8F0F88C0}"/>
              </a:ext>
            </a:extLst>
          </p:cNvPr>
          <p:cNvSpPr/>
          <p:nvPr/>
        </p:nvSpPr>
        <p:spPr>
          <a:xfrm>
            <a:off x="8526248" y="547795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5BA26B53-1893-9AC5-5C57-A2284C9D65BE}"/>
              </a:ext>
            </a:extLst>
          </p:cNvPr>
          <p:cNvSpPr/>
          <p:nvPr/>
        </p:nvSpPr>
        <p:spPr>
          <a:xfrm>
            <a:off x="8526247" y="517482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CEFAD9CB-59DF-0D57-5845-08EAD31C15DB}"/>
              </a:ext>
            </a:extLst>
          </p:cNvPr>
          <p:cNvSpPr/>
          <p:nvPr/>
        </p:nvSpPr>
        <p:spPr>
          <a:xfrm>
            <a:off x="8530207" y="6474818"/>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F0FF139A-6E54-17A6-66DF-976D388938BE}"/>
              </a:ext>
            </a:extLst>
          </p:cNvPr>
          <p:cNvSpPr/>
          <p:nvPr/>
        </p:nvSpPr>
        <p:spPr>
          <a:xfrm>
            <a:off x="8525673" y="6057190"/>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2" name="TextBox 1">
            <a:extLst>
              <a:ext uri="{FF2B5EF4-FFF2-40B4-BE49-F238E27FC236}">
                <a16:creationId xmlns:a16="http://schemas.microsoft.com/office/drawing/2014/main" id="{770F1A67-7087-CD7E-DF27-B6D9E47F11D5}"/>
              </a:ext>
            </a:extLst>
          </p:cNvPr>
          <p:cNvSpPr txBox="1"/>
          <p:nvPr/>
        </p:nvSpPr>
        <p:spPr>
          <a:xfrm>
            <a:off x="9606" y="0"/>
            <a:ext cx="12182393" cy="2400657"/>
          </a:xfrm>
          <a:prstGeom prst="rect">
            <a:avLst/>
          </a:prstGeom>
          <a:solidFill>
            <a:schemeClr val="tx1"/>
          </a:solidFill>
        </p:spPr>
        <p:txBody>
          <a:bodyPr wrap="square">
            <a:spAutoFit/>
          </a:bodyPr>
          <a:lstStyle/>
          <a:p>
            <a:pPr>
              <a:buNone/>
            </a:pPr>
            <a:r>
              <a:rPr lang="en-US" sz="2500" dirty="0">
                <a:solidFill>
                  <a:srgbClr val="569CD6"/>
                </a:solidFill>
                <a:latin typeface="Consolas" panose="020B0609020204030204" pitchFamily="49" charset="0"/>
              </a:rPr>
              <a:t>class</a:t>
            </a:r>
            <a:r>
              <a:rPr lang="en-US" sz="2500" dirty="0">
                <a:solidFill>
                  <a:srgbClr val="CCCCCC"/>
                </a:solidFill>
                <a:latin typeface="Consolas" panose="020B0609020204030204" pitchFamily="49" charset="0"/>
              </a:rPr>
              <a:t> </a:t>
            </a:r>
            <a:r>
              <a:rPr lang="en-US" sz="2500" dirty="0">
                <a:solidFill>
                  <a:srgbClr val="4EC9B0"/>
                </a:solidFill>
                <a:latin typeface="Consolas" panose="020B0609020204030204" pitchFamily="49" charset="0"/>
              </a:rPr>
              <a:t>Member</a:t>
            </a:r>
            <a:r>
              <a:rPr lang="en-US" sz="2500" dirty="0">
                <a:solidFill>
                  <a:srgbClr val="CCCCCC"/>
                </a:solidFill>
                <a:latin typeface="Consolas" panose="020B0609020204030204" pitchFamily="49" charset="0"/>
              </a:rPr>
              <a:t>:</a:t>
            </a:r>
          </a:p>
          <a:p>
            <a:pPr>
              <a:buNone/>
            </a:pPr>
            <a:r>
              <a:rPr lang="en-US" sz="2500" dirty="0">
                <a:solidFill>
                  <a:srgbClr val="CCCCCC"/>
                </a:solidFill>
                <a:latin typeface="Consolas" panose="020B0609020204030204" pitchFamily="49" charset="0"/>
              </a:rPr>
              <a:t>    </a:t>
            </a:r>
            <a:r>
              <a:rPr lang="en-US" sz="2500" dirty="0">
                <a:solidFill>
                  <a:srgbClr val="569CD6"/>
                </a:solidFill>
                <a:latin typeface="Consolas" panose="020B0609020204030204" pitchFamily="49" charset="0"/>
              </a:rPr>
              <a:t>def</a:t>
            </a:r>
            <a:r>
              <a:rPr lang="en-US" sz="2500" dirty="0">
                <a:solidFill>
                  <a:srgbClr val="CCCCCC"/>
                </a:solidFill>
                <a:latin typeface="Consolas" panose="020B0609020204030204" pitchFamily="49" charset="0"/>
              </a:rPr>
              <a:t> </a:t>
            </a:r>
            <a:r>
              <a:rPr lang="en-US" sz="2500" dirty="0">
                <a:solidFill>
                  <a:srgbClr val="DCDCAA"/>
                </a:solidFill>
                <a:latin typeface="Consolas" panose="020B0609020204030204" pitchFamily="49" charset="0"/>
              </a:rPr>
              <a:t>__</a:t>
            </a:r>
            <a:r>
              <a:rPr lang="en-US" sz="2500" dirty="0" err="1">
                <a:solidFill>
                  <a:srgbClr val="DCDCAA"/>
                </a:solidFill>
                <a:latin typeface="Consolas" panose="020B0609020204030204" pitchFamily="49" charset="0"/>
              </a:rPr>
              <a:t>init</a:t>
            </a:r>
            <a:r>
              <a:rPr lang="en-US" sz="2500" dirty="0">
                <a:solidFill>
                  <a:srgbClr val="DCDCAA"/>
                </a:solidFill>
                <a:latin typeface="Consolas" panose="020B0609020204030204" pitchFamily="49" charset="0"/>
              </a:rPr>
              <a:t>__</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self</a:t>
            </a: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member_id</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name</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email</a:t>
            </a:r>
            <a:r>
              <a:rPr lang="en-US" sz="2500" dirty="0">
                <a:solidFill>
                  <a:srgbClr val="CCCCCC"/>
                </a:solidFill>
                <a:latin typeface="Consolas" panose="020B0609020204030204" pitchFamily="49" charset="0"/>
              </a:rPr>
              <a:t>):</a:t>
            </a:r>
          </a:p>
          <a:p>
            <a:pPr>
              <a:buNone/>
            </a:pP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self</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id</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member_id</a:t>
            </a:r>
            <a:endParaRPr lang="en-US" sz="2500" dirty="0">
              <a:solidFill>
                <a:srgbClr val="CCCCCC"/>
              </a:solidFill>
              <a:latin typeface="Consolas" panose="020B0609020204030204" pitchFamily="49" charset="0"/>
            </a:endParaRPr>
          </a:p>
          <a:p>
            <a:pPr>
              <a:buNone/>
            </a:pP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self</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name</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name</a:t>
            </a:r>
            <a:endParaRPr lang="en-US" sz="2500" dirty="0">
              <a:solidFill>
                <a:srgbClr val="CCCCCC"/>
              </a:solidFill>
              <a:latin typeface="Consolas" panose="020B0609020204030204" pitchFamily="49" charset="0"/>
            </a:endParaRPr>
          </a:p>
          <a:p>
            <a:pPr>
              <a:buNone/>
            </a:pP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self</a:t>
            </a:r>
            <a:r>
              <a:rPr lang="en-US" sz="2500" dirty="0" err="1">
                <a:solidFill>
                  <a:srgbClr val="CCCCCC"/>
                </a:solidFill>
                <a:latin typeface="Consolas" panose="020B0609020204030204" pitchFamily="49" charset="0"/>
              </a:rPr>
              <a:t>.</a:t>
            </a:r>
            <a:r>
              <a:rPr lang="en-US" sz="2500" dirty="0" err="1">
                <a:solidFill>
                  <a:srgbClr val="9CDCFE"/>
                </a:solidFill>
                <a:latin typeface="Consolas" panose="020B0609020204030204" pitchFamily="49" charset="0"/>
              </a:rPr>
              <a:t>email</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email</a:t>
            </a:r>
            <a:endParaRPr lang="en-US" sz="2500" dirty="0">
              <a:solidFill>
                <a:srgbClr val="CCCCCC"/>
              </a:solidFill>
              <a:latin typeface="Consolas" panose="020B0609020204030204" pitchFamily="49" charset="0"/>
            </a:endParaRPr>
          </a:p>
          <a:p>
            <a:pPr>
              <a:buNone/>
            </a:pP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self</a:t>
            </a:r>
            <a:r>
              <a:rPr lang="en-US" sz="2500" dirty="0" err="1">
                <a:solidFill>
                  <a:srgbClr val="CCCCCC"/>
                </a:solidFill>
                <a:latin typeface="Consolas" panose="020B0609020204030204" pitchFamily="49" charset="0"/>
              </a:rPr>
              <a:t>.</a:t>
            </a:r>
            <a:r>
              <a:rPr lang="en-US" sz="2500" dirty="0" err="1">
                <a:solidFill>
                  <a:srgbClr val="9CDCFE"/>
                </a:solidFill>
                <a:latin typeface="Consolas" panose="020B0609020204030204" pitchFamily="49" charset="0"/>
              </a:rPr>
              <a:t>borrowed_books</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p>
        </p:txBody>
      </p:sp>
      <p:sp>
        <p:nvSpPr>
          <p:cNvPr id="4" name="Rectangle 1">
            <a:extLst>
              <a:ext uri="{FF2B5EF4-FFF2-40B4-BE49-F238E27FC236}">
                <a16:creationId xmlns:a16="http://schemas.microsoft.com/office/drawing/2014/main" id="{2B630AC8-B321-EBE9-C2A4-630073DEF89B}"/>
              </a:ext>
            </a:extLst>
          </p:cNvPr>
          <p:cNvSpPr>
            <a:spLocks noChangeArrowheads="1"/>
          </p:cNvSpPr>
          <p:nvPr/>
        </p:nvSpPr>
        <p:spPr bwMode="auto">
          <a:xfrm>
            <a:off x="-4651" y="2355919"/>
            <a:ext cx="8493501" cy="45178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700" b="1" i="0" u="none" strike="noStrike" cap="none" normalizeH="0" baseline="0" dirty="0">
                <a:ln>
                  <a:noFill/>
                </a:ln>
                <a:solidFill>
                  <a:schemeClr val="tx1"/>
                </a:solidFill>
                <a:effectLst/>
                <a:latin typeface="Calibir"/>
              </a:rPr>
              <a:t>Member class</a:t>
            </a:r>
            <a:endParaRPr kumimoji="0" lang="en-US" altLang="en-US" sz="2700" b="0" i="0" u="none" strike="noStrike" cap="none" normalizeH="0" baseline="0" dirty="0">
              <a:ln>
                <a:noFill/>
              </a:ln>
              <a:solidFill>
                <a:schemeClr val="tx1"/>
              </a:solidFill>
              <a:effectLst/>
              <a:latin typeface="Calibir"/>
            </a:endParaRPr>
          </a:p>
          <a:p>
            <a:pPr marL="722313"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700" i="0" u="none" strike="noStrike" cap="none" normalizeH="0" baseline="0" dirty="0">
                <a:ln>
                  <a:noFill/>
                </a:ln>
                <a:solidFill>
                  <a:schemeClr val="tx1"/>
                </a:solidFill>
                <a:effectLst/>
                <a:latin typeface="Calibir"/>
              </a:rPr>
              <a:t>Has an id, name, email.</a:t>
            </a:r>
          </a:p>
          <a:p>
            <a:pPr marL="722313"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700" i="0" u="none" strike="noStrike" cap="none" normalizeH="0" baseline="0" dirty="0">
                <a:ln>
                  <a:noFill/>
                </a:ln>
                <a:solidFill>
                  <a:schemeClr val="tx1"/>
                </a:solidFill>
                <a:effectLst/>
                <a:latin typeface="Calibir"/>
              </a:rPr>
              <a:t>Can borrow up to 5 books.</a:t>
            </a:r>
          </a:p>
          <a:p>
            <a:pPr marL="722313"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700" i="0" u="none" strike="noStrike" cap="none" normalizeH="0" baseline="0" dirty="0">
                <a:ln>
                  <a:noFill/>
                </a:ln>
                <a:solidFill>
                  <a:schemeClr val="tx1"/>
                </a:solidFill>
                <a:effectLst/>
                <a:latin typeface="Calibir"/>
              </a:rPr>
              <a:t>borrow(book) → checks if the member already has 5 or if the book is taken.</a:t>
            </a:r>
          </a:p>
          <a:p>
            <a:pPr marL="722313"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700" i="0" u="none" strike="noStrike" cap="none" normalizeH="0" baseline="0" dirty="0" err="1">
                <a:ln>
                  <a:noFill/>
                </a:ln>
                <a:solidFill>
                  <a:schemeClr val="tx1"/>
                </a:solidFill>
                <a:effectLst/>
                <a:latin typeface="Calibir"/>
              </a:rPr>
              <a:t>return_book</a:t>
            </a:r>
            <a:r>
              <a:rPr kumimoji="0" lang="en-US" altLang="en-US" sz="2700" i="0" u="none" strike="noStrike" cap="none" normalizeH="0" baseline="0" dirty="0">
                <a:ln>
                  <a:noFill/>
                </a:ln>
                <a:solidFill>
                  <a:schemeClr val="tx1"/>
                </a:solidFill>
                <a:effectLst/>
                <a:latin typeface="Calibir"/>
              </a:rPr>
              <a:t>(book) → removes the book from their list and makes it available again.</a:t>
            </a:r>
          </a:p>
        </p:txBody>
      </p:sp>
      <p:sp>
        <p:nvSpPr>
          <p:cNvPr id="3" name="Oval 2">
            <a:extLst>
              <a:ext uri="{FF2B5EF4-FFF2-40B4-BE49-F238E27FC236}">
                <a16:creationId xmlns:a16="http://schemas.microsoft.com/office/drawing/2014/main" id="{D9A47EA5-B915-303D-0953-E12CC455F843}"/>
              </a:ext>
            </a:extLst>
          </p:cNvPr>
          <p:cNvSpPr/>
          <p:nvPr/>
        </p:nvSpPr>
        <p:spPr>
          <a:xfrm>
            <a:off x="9798306" y="5462328"/>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03734828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CAB5C4-7B92-2866-D608-7B21560866B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86C4938-88EC-8B09-B0B6-91FCE8BB90CF}"/>
              </a:ext>
            </a:extLst>
          </p:cNvPr>
          <p:cNvSpPr txBox="1"/>
          <p:nvPr/>
        </p:nvSpPr>
        <p:spPr>
          <a:xfrm>
            <a:off x="-10220" y="81294"/>
            <a:ext cx="12187495" cy="3816429"/>
          </a:xfrm>
          <a:prstGeom prst="rect">
            <a:avLst/>
          </a:prstGeom>
          <a:solidFill>
            <a:schemeClr val="tx1"/>
          </a:solidFill>
        </p:spPr>
        <p:txBody>
          <a:bodyPr wrap="square">
            <a:spAutoFit/>
          </a:bodyPr>
          <a:lstStyle/>
          <a:p>
            <a:pPr>
              <a:buNone/>
            </a:pPr>
            <a:r>
              <a:rPr lang="en-US" sz="2200" dirty="0">
                <a:solidFill>
                  <a:srgbClr val="CCCCCC"/>
                </a:solidFill>
                <a:latin typeface="Consolas" panose="020B0609020204030204" pitchFamily="49" charset="0"/>
              </a:rPr>
              <a:t>    </a:t>
            </a:r>
            <a:r>
              <a:rPr lang="en-US" sz="2200" dirty="0">
                <a:solidFill>
                  <a:srgbClr val="569CD6"/>
                </a:solidFill>
                <a:latin typeface="Consolas" panose="020B0609020204030204" pitchFamily="49" charset="0"/>
              </a:rPr>
              <a:t>def</a:t>
            </a: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borrow</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if</a:t>
            </a:r>
            <a:r>
              <a:rPr lang="en-US" sz="2200" dirty="0">
                <a:solidFill>
                  <a:srgbClr val="CCCCCC"/>
                </a:solidFill>
                <a:latin typeface="Consolas" panose="020B0609020204030204" pitchFamily="49" charset="0"/>
              </a:rPr>
              <a:t> </a:t>
            </a:r>
            <a:r>
              <a:rPr lang="en-US" sz="2200" dirty="0" err="1">
                <a:solidFill>
                  <a:srgbClr val="DCDCAA"/>
                </a:solidFill>
                <a:latin typeface="Consolas" panose="020B0609020204030204" pitchFamily="49" charset="0"/>
              </a:rPr>
              <a:t>len</a:t>
            </a:r>
            <a:r>
              <a:rPr lang="en-US" sz="2200" dirty="0">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&gt;=</a:t>
            </a:r>
            <a:r>
              <a:rPr lang="en-US" sz="2200" dirty="0">
                <a:solidFill>
                  <a:srgbClr val="CCCCCC"/>
                </a:solidFill>
                <a:latin typeface="Consolas" panose="020B0609020204030204" pitchFamily="49" charset="0"/>
              </a:rPr>
              <a:t> </a:t>
            </a:r>
            <a:r>
              <a:rPr lang="en-US" sz="2200" dirty="0">
                <a:solidFill>
                  <a:srgbClr val="B5CEA8"/>
                </a:solidFill>
                <a:latin typeface="Consolas" panose="020B0609020204030204" pitchFamily="49" charset="0"/>
              </a:rPr>
              <a:t>5</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cannot borrow more than 5 books."</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return</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if</a:t>
            </a: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.status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CE9178"/>
                </a:solidFill>
                <a:latin typeface="Consolas" panose="020B0609020204030204" pitchFamily="49" charset="0"/>
              </a:rPr>
              <a:t>"borrowed"</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err="1">
                <a:solidFill>
                  <a:srgbClr val="569CD6"/>
                </a:solidFill>
                <a:latin typeface="Consolas" panose="020B0609020204030204" pitchFamily="49" charset="0"/>
              </a:rPr>
              <a:t>f</a:t>
            </a:r>
            <a:r>
              <a:rPr lang="en-US" sz="2200" dirty="0" err="1">
                <a:solidFill>
                  <a:srgbClr val="CE9178"/>
                </a:solidFill>
                <a:latin typeface="Consolas" panose="020B0609020204030204" pitchFamily="49" charset="0"/>
              </a:rPr>
              <a:t>"Book</a:t>
            </a:r>
            <a:r>
              <a:rPr lang="en-US" sz="2200" dirty="0">
                <a:solidFill>
                  <a:srgbClr val="CE9178"/>
                </a:solidFill>
                <a:latin typeface="Consolas" panose="020B0609020204030204" pitchFamily="49" charset="0"/>
              </a:rPr>
              <a:t>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is already borrowed."</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return</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.status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CE9178"/>
                </a:solidFill>
                <a:latin typeface="Consolas" panose="020B0609020204030204" pitchFamily="49" charset="0"/>
              </a:rPr>
              <a:t>"borrowed"</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.borrowed_by</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self</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err="1">
                <a:solidFill>
                  <a:srgbClr val="CCCCCC"/>
                </a:solidFill>
                <a:latin typeface="Consolas" panose="020B0609020204030204" pitchFamily="49" charset="0"/>
              </a:rPr>
              <a:t>.</a:t>
            </a:r>
            <a:r>
              <a:rPr lang="en-US" sz="2200" dirty="0" err="1">
                <a:solidFill>
                  <a:srgbClr val="DCDCAA"/>
                </a:solidFill>
                <a:latin typeface="Consolas" panose="020B0609020204030204" pitchFamily="49" charset="0"/>
              </a:rPr>
              <a:t>append</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borrowed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a:t>
            </a:r>
            <a:r>
              <a:rPr lang="en-US" sz="2200" dirty="0">
                <a:solidFill>
                  <a:srgbClr val="CCCCCC"/>
                </a:solidFill>
                <a:latin typeface="Consolas" panose="020B0609020204030204" pitchFamily="49" charset="0"/>
              </a:rPr>
              <a:t>)</a:t>
            </a:r>
          </a:p>
        </p:txBody>
      </p:sp>
      <p:sp>
        <p:nvSpPr>
          <p:cNvPr id="34" name="Rectangle 33">
            <a:extLst>
              <a:ext uri="{FF2B5EF4-FFF2-40B4-BE49-F238E27FC236}">
                <a16:creationId xmlns:a16="http://schemas.microsoft.com/office/drawing/2014/main" id="{710EBB58-214F-3F6E-B0FD-2A5B1363BB7F}"/>
              </a:ext>
            </a:extLst>
          </p:cNvPr>
          <p:cNvSpPr/>
          <p:nvPr/>
        </p:nvSpPr>
        <p:spPr>
          <a:xfrm>
            <a:off x="8672820" y="485647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AC0C8802-5F63-EBBA-14FD-7935489A6A0B}"/>
              </a:ext>
            </a:extLst>
          </p:cNvPr>
          <p:cNvCxnSpPr>
            <a:cxnSpLocks/>
          </p:cNvCxnSpPr>
          <p:nvPr/>
        </p:nvCxnSpPr>
        <p:spPr>
          <a:xfrm>
            <a:off x="9798641" y="5493163"/>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E748FBE4-69C5-971D-967D-AACC4CCA3E36}"/>
              </a:ext>
            </a:extLst>
          </p:cNvPr>
          <p:cNvCxnSpPr>
            <a:cxnSpLocks/>
          </p:cNvCxnSpPr>
          <p:nvPr/>
        </p:nvCxnSpPr>
        <p:spPr>
          <a:xfrm flipV="1">
            <a:off x="11614078" y="4022142"/>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E4DD9F11-5BA4-3AA0-88E4-C28D40DE6DD9}"/>
              </a:ext>
            </a:extLst>
          </p:cNvPr>
          <p:cNvCxnSpPr>
            <a:cxnSpLocks/>
          </p:cNvCxnSpPr>
          <p:nvPr/>
        </p:nvCxnSpPr>
        <p:spPr>
          <a:xfrm>
            <a:off x="11393012" y="4033894"/>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A6F7B09E-3A24-68A9-025A-B674A57EA993}"/>
              </a:ext>
            </a:extLst>
          </p:cNvPr>
          <p:cNvSpPr/>
          <p:nvPr/>
        </p:nvSpPr>
        <p:spPr>
          <a:xfrm>
            <a:off x="11547780" y="4201700"/>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8EAD4E0A-DDE1-1BE4-A2BF-3E9C85037AB7}"/>
              </a:ext>
            </a:extLst>
          </p:cNvPr>
          <p:cNvCxnSpPr/>
          <p:nvPr/>
        </p:nvCxnSpPr>
        <p:spPr>
          <a:xfrm>
            <a:off x="9854069" y="5312467"/>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C4F25202-4B06-A7AA-5DDE-A93149E9059D}"/>
              </a:ext>
            </a:extLst>
          </p:cNvPr>
          <p:cNvSpPr txBox="1"/>
          <p:nvPr/>
        </p:nvSpPr>
        <p:spPr>
          <a:xfrm>
            <a:off x="10591337" y="4038112"/>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0C762EC4-9A95-A3AF-3712-076AC694B95F}"/>
              </a:ext>
            </a:extLst>
          </p:cNvPr>
          <p:cNvSpPr txBox="1"/>
          <p:nvPr/>
        </p:nvSpPr>
        <p:spPr>
          <a:xfrm>
            <a:off x="9379734" y="4404342"/>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EA65E113-7592-7CED-B316-B3B02A884393}"/>
              </a:ext>
            </a:extLst>
          </p:cNvPr>
          <p:cNvSpPr/>
          <p:nvPr/>
        </p:nvSpPr>
        <p:spPr>
          <a:xfrm>
            <a:off x="8672819" y="2724597"/>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BC48580B-DEFE-FB7A-DA62-47499A5CB076}"/>
              </a:ext>
            </a:extLst>
          </p:cNvPr>
          <p:cNvSpPr/>
          <p:nvPr/>
        </p:nvSpPr>
        <p:spPr>
          <a:xfrm>
            <a:off x="11068181" y="2735355"/>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8D4EC349-5EA2-FF6C-DCF1-FC9C362C72F2}"/>
              </a:ext>
            </a:extLst>
          </p:cNvPr>
          <p:cNvCxnSpPr/>
          <p:nvPr/>
        </p:nvCxnSpPr>
        <p:spPr>
          <a:xfrm>
            <a:off x="9786916" y="3367149"/>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138F0F2B-55A8-CA93-3D21-AC7F8FBF4B2B}"/>
              </a:ext>
            </a:extLst>
          </p:cNvPr>
          <p:cNvCxnSpPr>
            <a:cxnSpLocks/>
          </p:cNvCxnSpPr>
          <p:nvPr/>
        </p:nvCxnSpPr>
        <p:spPr>
          <a:xfrm flipV="1">
            <a:off x="10869481" y="3225258"/>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BB6C87EC-F01C-BB99-2540-F69E936AD7B3}"/>
              </a:ext>
            </a:extLst>
          </p:cNvPr>
          <p:cNvCxnSpPr>
            <a:cxnSpLocks/>
          </p:cNvCxnSpPr>
          <p:nvPr/>
        </p:nvCxnSpPr>
        <p:spPr>
          <a:xfrm>
            <a:off x="10869481" y="3367149"/>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7F57F8E2-4D76-D42C-709F-395F6A4CA930}"/>
              </a:ext>
            </a:extLst>
          </p:cNvPr>
          <p:cNvSpPr/>
          <p:nvPr/>
        </p:nvSpPr>
        <p:spPr>
          <a:xfrm>
            <a:off x="10654892" y="3296203"/>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95657950-12F9-D960-0234-FA6FCE22BA63}"/>
              </a:ext>
            </a:extLst>
          </p:cNvPr>
          <p:cNvCxnSpPr/>
          <p:nvPr/>
        </p:nvCxnSpPr>
        <p:spPr>
          <a:xfrm>
            <a:off x="9854068" y="3180591"/>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9F8B8FD3-E032-4134-0819-9F95B7ACAB07}"/>
              </a:ext>
            </a:extLst>
          </p:cNvPr>
          <p:cNvSpPr txBox="1"/>
          <p:nvPr/>
        </p:nvSpPr>
        <p:spPr>
          <a:xfrm>
            <a:off x="10499980" y="2272466"/>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2C02C82C-7792-F28F-67B5-892659A2F819}"/>
              </a:ext>
            </a:extLst>
          </p:cNvPr>
          <p:cNvSpPr txBox="1"/>
          <p:nvPr/>
        </p:nvSpPr>
        <p:spPr>
          <a:xfrm>
            <a:off x="9379733" y="2272466"/>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D9EF6527-FFDA-86CB-E171-06F2F46D0ED7}"/>
              </a:ext>
            </a:extLst>
          </p:cNvPr>
          <p:cNvSpPr/>
          <p:nvPr/>
        </p:nvSpPr>
        <p:spPr>
          <a:xfrm>
            <a:off x="8672818" y="369098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FE5297DF-C996-80B5-9425-54F996F414CA}"/>
              </a:ext>
            </a:extLst>
          </p:cNvPr>
          <p:cNvSpPr/>
          <p:nvPr/>
        </p:nvSpPr>
        <p:spPr>
          <a:xfrm>
            <a:off x="8672818" y="338562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6FC40B00-5C88-86FD-D938-308F5814B5EC}"/>
              </a:ext>
            </a:extLst>
          </p:cNvPr>
          <p:cNvSpPr txBox="1"/>
          <p:nvPr/>
        </p:nvSpPr>
        <p:spPr>
          <a:xfrm>
            <a:off x="9936782" y="2901542"/>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CFD34BAF-DD2C-0FA0-18EC-88F5BDDCE7BE}"/>
              </a:ext>
            </a:extLst>
          </p:cNvPr>
          <p:cNvSpPr/>
          <p:nvPr/>
        </p:nvSpPr>
        <p:spPr>
          <a:xfrm>
            <a:off x="11063180" y="37026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E7198AA0-0300-5868-F3CD-F20B301BF156}"/>
              </a:ext>
            </a:extLst>
          </p:cNvPr>
          <p:cNvSpPr/>
          <p:nvPr/>
        </p:nvSpPr>
        <p:spPr>
          <a:xfrm>
            <a:off x="11063180" y="33972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916D3D63-B7E7-A43A-D755-2D8FF8B59F55}"/>
              </a:ext>
            </a:extLst>
          </p:cNvPr>
          <p:cNvSpPr/>
          <p:nvPr/>
        </p:nvSpPr>
        <p:spPr>
          <a:xfrm>
            <a:off x="11063179" y="309412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E2D8AEF1-1816-7C7A-6312-AAD5D4C760A3}"/>
              </a:ext>
            </a:extLst>
          </p:cNvPr>
          <p:cNvCxnSpPr>
            <a:cxnSpLocks/>
            <a:endCxn id="61" idx="2"/>
          </p:cNvCxnSpPr>
          <p:nvPr/>
        </p:nvCxnSpPr>
        <p:spPr>
          <a:xfrm flipH="1" flipV="1">
            <a:off x="11620229" y="4007979"/>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0BDEA89E-3F51-A220-E2AD-6CD9B4444A12}"/>
              </a:ext>
            </a:extLst>
          </p:cNvPr>
          <p:cNvSpPr txBox="1"/>
          <p:nvPr/>
        </p:nvSpPr>
        <p:spPr>
          <a:xfrm>
            <a:off x="9956368" y="4982098"/>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E2F54BD8-1190-A264-7279-F5ACC942FAF4}"/>
              </a:ext>
            </a:extLst>
          </p:cNvPr>
          <p:cNvSpPr/>
          <p:nvPr/>
        </p:nvSpPr>
        <p:spPr>
          <a:xfrm>
            <a:off x="8673393" y="573076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9BC49638-46E0-688F-D32E-8EF6F7ED961B}"/>
              </a:ext>
            </a:extLst>
          </p:cNvPr>
          <p:cNvSpPr/>
          <p:nvPr/>
        </p:nvSpPr>
        <p:spPr>
          <a:xfrm>
            <a:off x="8673393" y="544770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24F13A12-BED0-271A-05A1-AB0182D139BF}"/>
              </a:ext>
            </a:extLst>
          </p:cNvPr>
          <p:cNvSpPr/>
          <p:nvPr/>
        </p:nvSpPr>
        <p:spPr>
          <a:xfrm>
            <a:off x="8673392" y="5144574"/>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0C0B00D1-1685-8379-F16A-A6EE69734BCF}"/>
              </a:ext>
            </a:extLst>
          </p:cNvPr>
          <p:cNvSpPr/>
          <p:nvPr/>
        </p:nvSpPr>
        <p:spPr>
          <a:xfrm>
            <a:off x="8677352" y="6444569"/>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87BB8CF3-5705-DD3B-2EDC-A358999DC1AE}"/>
              </a:ext>
            </a:extLst>
          </p:cNvPr>
          <p:cNvSpPr/>
          <p:nvPr/>
        </p:nvSpPr>
        <p:spPr>
          <a:xfrm>
            <a:off x="8672818" y="6026941"/>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5" name="Rectangle 1">
            <a:extLst>
              <a:ext uri="{FF2B5EF4-FFF2-40B4-BE49-F238E27FC236}">
                <a16:creationId xmlns:a16="http://schemas.microsoft.com/office/drawing/2014/main" id="{19BA3030-9EB1-8AF7-905C-B76D64EA9C89}"/>
              </a:ext>
            </a:extLst>
          </p:cNvPr>
          <p:cNvSpPr>
            <a:spLocks noChangeArrowheads="1"/>
          </p:cNvSpPr>
          <p:nvPr/>
        </p:nvSpPr>
        <p:spPr bwMode="auto">
          <a:xfrm>
            <a:off x="0" y="4363290"/>
            <a:ext cx="8646944"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dirty="0">
                <a:latin typeface="Calibir"/>
              </a:rPr>
              <a:t>This method lets a member borrow a book only if they haven’t reached the 5-book limit and the book isn’t already taken.</a:t>
            </a:r>
            <a:endParaRPr kumimoji="0" lang="en-US" altLang="en-US" sz="2800" i="0" u="none" strike="noStrike" cap="none" normalizeH="0" baseline="0" dirty="0">
              <a:ln>
                <a:noFill/>
              </a:ln>
              <a:solidFill>
                <a:schemeClr val="tx1"/>
              </a:solidFill>
              <a:effectLst/>
              <a:latin typeface="Calibir"/>
            </a:endParaRPr>
          </a:p>
        </p:txBody>
      </p:sp>
      <p:sp>
        <p:nvSpPr>
          <p:cNvPr id="2" name="Oval 1">
            <a:extLst>
              <a:ext uri="{FF2B5EF4-FFF2-40B4-BE49-F238E27FC236}">
                <a16:creationId xmlns:a16="http://schemas.microsoft.com/office/drawing/2014/main" id="{48E30828-4990-74DE-B28C-05F4DBF86324}"/>
              </a:ext>
            </a:extLst>
          </p:cNvPr>
          <p:cNvSpPr/>
          <p:nvPr/>
        </p:nvSpPr>
        <p:spPr>
          <a:xfrm>
            <a:off x="9945446" y="5430798"/>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87817032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3B1BF-72E0-4A21-C904-D5671FB10ED9}"/>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7530C11-B424-6105-A2D2-2E80E3177501}"/>
              </a:ext>
            </a:extLst>
          </p:cNvPr>
          <p:cNvSpPr txBox="1"/>
          <p:nvPr/>
        </p:nvSpPr>
        <p:spPr>
          <a:xfrm>
            <a:off x="-10220" y="81294"/>
            <a:ext cx="12187495" cy="3816429"/>
          </a:xfrm>
          <a:prstGeom prst="rect">
            <a:avLst/>
          </a:prstGeom>
          <a:solidFill>
            <a:schemeClr val="tx1"/>
          </a:solidFill>
        </p:spPr>
        <p:txBody>
          <a:bodyPr wrap="square">
            <a:spAutoFit/>
          </a:bodyPr>
          <a:lstStyle/>
          <a:p>
            <a:pPr>
              <a:buNone/>
            </a:pPr>
            <a:r>
              <a:rPr lang="en-US" sz="2200" dirty="0">
                <a:solidFill>
                  <a:srgbClr val="CCCCCC"/>
                </a:solidFill>
                <a:latin typeface="Consolas" panose="020B0609020204030204" pitchFamily="49" charset="0"/>
              </a:rPr>
              <a:t>    </a:t>
            </a:r>
            <a:r>
              <a:rPr lang="en-US" sz="2200" dirty="0">
                <a:solidFill>
                  <a:srgbClr val="569CD6"/>
                </a:solidFill>
                <a:latin typeface="Consolas" panose="020B0609020204030204" pitchFamily="49" charset="0"/>
              </a:rPr>
              <a:t>def</a:t>
            </a: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borrow</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if</a:t>
            </a:r>
            <a:r>
              <a:rPr lang="en-US" sz="2200" dirty="0">
                <a:solidFill>
                  <a:srgbClr val="CCCCCC"/>
                </a:solidFill>
                <a:latin typeface="Consolas" panose="020B0609020204030204" pitchFamily="49" charset="0"/>
              </a:rPr>
              <a:t> </a:t>
            </a:r>
            <a:r>
              <a:rPr lang="en-US" sz="2200" dirty="0" err="1">
                <a:solidFill>
                  <a:srgbClr val="DCDCAA"/>
                </a:solidFill>
                <a:latin typeface="Consolas" panose="020B0609020204030204" pitchFamily="49" charset="0"/>
              </a:rPr>
              <a:t>len</a:t>
            </a:r>
            <a:r>
              <a:rPr lang="en-US" sz="2200" dirty="0">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&gt;=</a:t>
            </a:r>
            <a:r>
              <a:rPr lang="en-US" sz="2200" dirty="0">
                <a:solidFill>
                  <a:srgbClr val="CCCCCC"/>
                </a:solidFill>
                <a:latin typeface="Consolas" panose="020B0609020204030204" pitchFamily="49" charset="0"/>
              </a:rPr>
              <a:t> </a:t>
            </a:r>
            <a:r>
              <a:rPr lang="en-US" sz="2200" dirty="0">
                <a:solidFill>
                  <a:srgbClr val="B5CEA8"/>
                </a:solidFill>
                <a:latin typeface="Consolas" panose="020B0609020204030204" pitchFamily="49" charset="0"/>
              </a:rPr>
              <a:t>5</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cannot borrow more than 5 books."</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return</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if</a:t>
            </a: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.status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CE9178"/>
                </a:solidFill>
                <a:latin typeface="Consolas" panose="020B0609020204030204" pitchFamily="49" charset="0"/>
              </a:rPr>
              <a:t>"borrowed"</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err="1">
                <a:solidFill>
                  <a:srgbClr val="569CD6"/>
                </a:solidFill>
                <a:latin typeface="Consolas" panose="020B0609020204030204" pitchFamily="49" charset="0"/>
              </a:rPr>
              <a:t>f</a:t>
            </a:r>
            <a:r>
              <a:rPr lang="en-US" sz="2200" dirty="0" err="1">
                <a:solidFill>
                  <a:srgbClr val="CE9178"/>
                </a:solidFill>
                <a:latin typeface="Consolas" panose="020B0609020204030204" pitchFamily="49" charset="0"/>
              </a:rPr>
              <a:t>"Book</a:t>
            </a:r>
            <a:r>
              <a:rPr lang="en-US" sz="2200" dirty="0">
                <a:solidFill>
                  <a:srgbClr val="CE9178"/>
                </a:solidFill>
                <a:latin typeface="Consolas" panose="020B0609020204030204" pitchFamily="49" charset="0"/>
              </a:rPr>
              <a:t>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is already borrowed."</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return</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.status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CE9178"/>
                </a:solidFill>
                <a:latin typeface="Consolas" panose="020B0609020204030204" pitchFamily="49" charset="0"/>
              </a:rPr>
              <a:t>"borrowed"</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.borrowed_by</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self</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err="1">
                <a:solidFill>
                  <a:srgbClr val="CCCCCC"/>
                </a:solidFill>
                <a:latin typeface="Consolas" panose="020B0609020204030204" pitchFamily="49" charset="0"/>
              </a:rPr>
              <a:t>.</a:t>
            </a:r>
            <a:r>
              <a:rPr lang="en-US" sz="2200" dirty="0" err="1">
                <a:solidFill>
                  <a:srgbClr val="DCDCAA"/>
                </a:solidFill>
                <a:latin typeface="Consolas" panose="020B0609020204030204" pitchFamily="49" charset="0"/>
              </a:rPr>
              <a:t>append</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borrowed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a:t>
            </a:r>
            <a:r>
              <a:rPr lang="en-US" sz="2200" dirty="0">
                <a:solidFill>
                  <a:srgbClr val="CCCCCC"/>
                </a:solidFill>
                <a:latin typeface="Consolas" panose="020B0609020204030204" pitchFamily="49" charset="0"/>
              </a:rPr>
              <a:t>)</a:t>
            </a:r>
          </a:p>
        </p:txBody>
      </p:sp>
      <p:sp>
        <p:nvSpPr>
          <p:cNvPr id="34" name="Rectangle 33">
            <a:extLst>
              <a:ext uri="{FF2B5EF4-FFF2-40B4-BE49-F238E27FC236}">
                <a16:creationId xmlns:a16="http://schemas.microsoft.com/office/drawing/2014/main" id="{ECF46D7E-6B1D-11D9-B2F4-FEF82804BF26}"/>
              </a:ext>
            </a:extLst>
          </p:cNvPr>
          <p:cNvSpPr/>
          <p:nvPr/>
        </p:nvSpPr>
        <p:spPr>
          <a:xfrm>
            <a:off x="8672820" y="485647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FF12224E-C91E-CC10-5B9C-CA8BB50089BD}"/>
              </a:ext>
            </a:extLst>
          </p:cNvPr>
          <p:cNvCxnSpPr>
            <a:cxnSpLocks/>
          </p:cNvCxnSpPr>
          <p:nvPr/>
        </p:nvCxnSpPr>
        <p:spPr>
          <a:xfrm>
            <a:off x="9798641" y="5493163"/>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FE7784AB-A591-5041-0C09-62D6A1E9F1EF}"/>
              </a:ext>
            </a:extLst>
          </p:cNvPr>
          <p:cNvCxnSpPr>
            <a:cxnSpLocks/>
          </p:cNvCxnSpPr>
          <p:nvPr/>
        </p:nvCxnSpPr>
        <p:spPr>
          <a:xfrm flipV="1">
            <a:off x="11614078" y="4022142"/>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825AF36-8B64-8B75-529B-240D12EDCA0F}"/>
              </a:ext>
            </a:extLst>
          </p:cNvPr>
          <p:cNvCxnSpPr>
            <a:cxnSpLocks/>
          </p:cNvCxnSpPr>
          <p:nvPr/>
        </p:nvCxnSpPr>
        <p:spPr>
          <a:xfrm>
            <a:off x="11393012" y="4033894"/>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4AFBAE57-4064-7AEC-AC1A-F55C315D0A1C}"/>
              </a:ext>
            </a:extLst>
          </p:cNvPr>
          <p:cNvSpPr/>
          <p:nvPr/>
        </p:nvSpPr>
        <p:spPr>
          <a:xfrm>
            <a:off x="11547780" y="4201700"/>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F84F942A-587A-0479-75DC-C8B084C93E16}"/>
              </a:ext>
            </a:extLst>
          </p:cNvPr>
          <p:cNvCxnSpPr/>
          <p:nvPr/>
        </p:nvCxnSpPr>
        <p:spPr>
          <a:xfrm>
            <a:off x="9854069" y="5312467"/>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A0427EC5-71E0-A619-B387-D5ABEA6F3F14}"/>
              </a:ext>
            </a:extLst>
          </p:cNvPr>
          <p:cNvSpPr txBox="1"/>
          <p:nvPr/>
        </p:nvSpPr>
        <p:spPr>
          <a:xfrm>
            <a:off x="10591337" y="4038112"/>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EA556DF8-18D2-E2F1-5590-9C7D522E3906}"/>
              </a:ext>
            </a:extLst>
          </p:cNvPr>
          <p:cNvSpPr txBox="1"/>
          <p:nvPr/>
        </p:nvSpPr>
        <p:spPr>
          <a:xfrm>
            <a:off x="9379734" y="4404342"/>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2B7FE90D-E1A0-8A73-D29F-A271D9EBBFF5}"/>
              </a:ext>
            </a:extLst>
          </p:cNvPr>
          <p:cNvSpPr/>
          <p:nvPr/>
        </p:nvSpPr>
        <p:spPr>
          <a:xfrm>
            <a:off x="8672819" y="2724597"/>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3697BE71-2E02-F337-5E78-6BD00F91D2EC}"/>
              </a:ext>
            </a:extLst>
          </p:cNvPr>
          <p:cNvSpPr/>
          <p:nvPr/>
        </p:nvSpPr>
        <p:spPr>
          <a:xfrm>
            <a:off x="11068181" y="2735355"/>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1BF9C7F4-FA50-C656-59AC-2BA07B8EA16B}"/>
              </a:ext>
            </a:extLst>
          </p:cNvPr>
          <p:cNvCxnSpPr/>
          <p:nvPr/>
        </p:nvCxnSpPr>
        <p:spPr>
          <a:xfrm>
            <a:off x="9786916" y="3367149"/>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FFE92811-B663-C4F7-BDA6-83AA4666C5C3}"/>
              </a:ext>
            </a:extLst>
          </p:cNvPr>
          <p:cNvCxnSpPr>
            <a:cxnSpLocks/>
          </p:cNvCxnSpPr>
          <p:nvPr/>
        </p:nvCxnSpPr>
        <p:spPr>
          <a:xfrm flipV="1">
            <a:off x="10869481" y="3225258"/>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03D061F4-420C-76E8-85C8-300CDB120CAF}"/>
              </a:ext>
            </a:extLst>
          </p:cNvPr>
          <p:cNvCxnSpPr>
            <a:cxnSpLocks/>
          </p:cNvCxnSpPr>
          <p:nvPr/>
        </p:nvCxnSpPr>
        <p:spPr>
          <a:xfrm>
            <a:off x="10869481" y="3367149"/>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9C89BCB3-702D-0022-143B-95828F8D9955}"/>
              </a:ext>
            </a:extLst>
          </p:cNvPr>
          <p:cNvSpPr/>
          <p:nvPr/>
        </p:nvSpPr>
        <p:spPr>
          <a:xfrm>
            <a:off x="10654892" y="3296203"/>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4D3F56B9-0852-934D-A3B7-70D9625C3649}"/>
              </a:ext>
            </a:extLst>
          </p:cNvPr>
          <p:cNvCxnSpPr/>
          <p:nvPr/>
        </p:nvCxnSpPr>
        <p:spPr>
          <a:xfrm>
            <a:off x="9854068" y="3180591"/>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9F30A2EC-9607-E15D-B937-26E1207D49F1}"/>
              </a:ext>
            </a:extLst>
          </p:cNvPr>
          <p:cNvSpPr txBox="1"/>
          <p:nvPr/>
        </p:nvSpPr>
        <p:spPr>
          <a:xfrm>
            <a:off x="10499980" y="2272466"/>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8EE6B64F-8835-5A7D-CBB2-9AFE96CA0A8D}"/>
              </a:ext>
            </a:extLst>
          </p:cNvPr>
          <p:cNvSpPr txBox="1"/>
          <p:nvPr/>
        </p:nvSpPr>
        <p:spPr>
          <a:xfrm>
            <a:off x="9379733" y="2272466"/>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46A5D1FE-8480-9B70-FEB0-6E830FD9AE04}"/>
              </a:ext>
            </a:extLst>
          </p:cNvPr>
          <p:cNvSpPr/>
          <p:nvPr/>
        </p:nvSpPr>
        <p:spPr>
          <a:xfrm>
            <a:off x="8672818" y="369098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6D4DE84A-40AD-FD6C-EB01-410D8825E2FD}"/>
              </a:ext>
            </a:extLst>
          </p:cNvPr>
          <p:cNvSpPr/>
          <p:nvPr/>
        </p:nvSpPr>
        <p:spPr>
          <a:xfrm>
            <a:off x="8672818" y="338562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1BAB20D3-B439-AB87-75AF-C2203F5AC9AC}"/>
              </a:ext>
            </a:extLst>
          </p:cNvPr>
          <p:cNvSpPr txBox="1"/>
          <p:nvPr/>
        </p:nvSpPr>
        <p:spPr>
          <a:xfrm>
            <a:off x="9936782" y="2901542"/>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7B70FFDF-EB0D-7DF1-1F97-01D48F5C2576}"/>
              </a:ext>
            </a:extLst>
          </p:cNvPr>
          <p:cNvSpPr/>
          <p:nvPr/>
        </p:nvSpPr>
        <p:spPr>
          <a:xfrm>
            <a:off x="11063180" y="37026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0029C9E9-E9E4-C89A-92D2-CD0C973A8B1E}"/>
              </a:ext>
            </a:extLst>
          </p:cNvPr>
          <p:cNvSpPr/>
          <p:nvPr/>
        </p:nvSpPr>
        <p:spPr>
          <a:xfrm>
            <a:off x="11063180" y="33972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2A950E3A-27D5-167F-E0A1-9CC6DF45CCAF}"/>
              </a:ext>
            </a:extLst>
          </p:cNvPr>
          <p:cNvSpPr/>
          <p:nvPr/>
        </p:nvSpPr>
        <p:spPr>
          <a:xfrm>
            <a:off x="11063179" y="309412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ED839CC6-CE54-ADFD-00B8-20CA989EDEE0}"/>
              </a:ext>
            </a:extLst>
          </p:cNvPr>
          <p:cNvCxnSpPr>
            <a:cxnSpLocks/>
            <a:endCxn id="61" idx="2"/>
          </p:cNvCxnSpPr>
          <p:nvPr/>
        </p:nvCxnSpPr>
        <p:spPr>
          <a:xfrm flipH="1" flipV="1">
            <a:off x="11620229" y="4007979"/>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868E4FCC-212C-92F2-BFCD-00B62A25C907}"/>
              </a:ext>
            </a:extLst>
          </p:cNvPr>
          <p:cNvSpPr txBox="1"/>
          <p:nvPr/>
        </p:nvSpPr>
        <p:spPr>
          <a:xfrm>
            <a:off x="9956368" y="4982098"/>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DF22471C-E4E6-196E-9EEC-C3A485BD13E0}"/>
              </a:ext>
            </a:extLst>
          </p:cNvPr>
          <p:cNvSpPr/>
          <p:nvPr/>
        </p:nvSpPr>
        <p:spPr>
          <a:xfrm>
            <a:off x="8673393" y="573076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9D850B34-BF37-A11A-141B-7654C176BF0C}"/>
              </a:ext>
            </a:extLst>
          </p:cNvPr>
          <p:cNvSpPr/>
          <p:nvPr/>
        </p:nvSpPr>
        <p:spPr>
          <a:xfrm>
            <a:off x="8673393" y="544770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F364A28D-64EB-50F5-5441-9D1DF85395B5}"/>
              </a:ext>
            </a:extLst>
          </p:cNvPr>
          <p:cNvSpPr/>
          <p:nvPr/>
        </p:nvSpPr>
        <p:spPr>
          <a:xfrm>
            <a:off x="8673392" y="5144574"/>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508610D0-DA30-537C-A5E3-4E47678B5796}"/>
              </a:ext>
            </a:extLst>
          </p:cNvPr>
          <p:cNvSpPr/>
          <p:nvPr/>
        </p:nvSpPr>
        <p:spPr>
          <a:xfrm>
            <a:off x="8677352" y="6444569"/>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50D976D1-46E8-85D6-A878-60BC21C383B1}"/>
              </a:ext>
            </a:extLst>
          </p:cNvPr>
          <p:cNvSpPr/>
          <p:nvPr/>
        </p:nvSpPr>
        <p:spPr>
          <a:xfrm>
            <a:off x="8672818" y="6026941"/>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5" name="Rectangle 1">
            <a:extLst>
              <a:ext uri="{FF2B5EF4-FFF2-40B4-BE49-F238E27FC236}">
                <a16:creationId xmlns:a16="http://schemas.microsoft.com/office/drawing/2014/main" id="{286EE9D3-38E5-9850-E6BD-8E6D6338C153}"/>
              </a:ext>
            </a:extLst>
          </p:cNvPr>
          <p:cNvSpPr>
            <a:spLocks noChangeArrowheads="1"/>
          </p:cNvSpPr>
          <p:nvPr/>
        </p:nvSpPr>
        <p:spPr bwMode="auto">
          <a:xfrm>
            <a:off x="0" y="3914384"/>
            <a:ext cx="8646944"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spcBef>
                <a:spcPct val="0"/>
              </a:spcBef>
              <a:spcAft>
                <a:spcPct val="0"/>
              </a:spcAft>
              <a:buClrTx/>
              <a:buSzTx/>
              <a:buFontTx/>
              <a:buNone/>
              <a:tabLst/>
            </a:pPr>
            <a:r>
              <a:rPr kumimoji="0" lang="en-US" altLang="en-US" sz="2000" b="1" i="0" u="none" strike="noStrike" cap="none" normalizeH="0" baseline="0" dirty="0">
                <a:ln>
                  <a:noFill/>
                </a:ln>
                <a:solidFill>
                  <a:schemeClr val="tx1"/>
                </a:solidFill>
                <a:effectLst/>
                <a:latin typeface="Calibir"/>
              </a:rPr>
              <a:t>What does borrow(self, book) do?</a:t>
            </a:r>
          </a:p>
          <a:p>
            <a:pPr marL="457200" marR="0" lvl="0" indent="-457200" algn="l" defTabSz="914400" rtl="0" eaLnBrk="0" fontAlgn="base" latinLnBrk="0" hangingPunct="0">
              <a:spcBef>
                <a:spcPct val="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Calibir"/>
              </a:rPr>
              <a:t>Check limit</a:t>
            </a:r>
            <a:r>
              <a:rPr kumimoji="0" lang="en-US" altLang="en-US" sz="2000" b="0" i="0" u="none" strike="noStrike" cap="none" normalizeH="0" baseline="0" dirty="0">
                <a:ln>
                  <a:noFill/>
                </a:ln>
                <a:solidFill>
                  <a:schemeClr val="tx1"/>
                </a:solidFill>
                <a:effectLst/>
                <a:latin typeface="Calibir"/>
              </a:rPr>
              <a:t> → If the member already has 5 books, stop and show a message.</a:t>
            </a:r>
          </a:p>
          <a:p>
            <a:pPr marL="457200" marR="0" lvl="0" indent="-457200" algn="l" defTabSz="914400" rtl="0" eaLnBrk="0" fontAlgn="base" latinLnBrk="0" hangingPunct="0">
              <a:spcBef>
                <a:spcPct val="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Calibir"/>
              </a:rPr>
              <a:t>Check book status</a:t>
            </a:r>
            <a:r>
              <a:rPr kumimoji="0" lang="en-US" altLang="en-US" sz="2000" b="0" i="0" u="none" strike="noStrike" cap="none" normalizeH="0" baseline="0" dirty="0">
                <a:ln>
                  <a:noFill/>
                </a:ln>
                <a:solidFill>
                  <a:schemeClr val="tx1"/>
                </a:solidFill>
                <a:effectLst/>
                <a:latin typeface="Calibir"/>
              </a:rPr>
              <a:t> → If the book is already borrowed by someone else, stop and show a message.</a:t>
            </a:r>
          </a:p>
          <a:p>
            <a:pPr marL="457200" marR="0" lvl="0" indent="-457200" algn="l" defTabSz="914400" rtl="0" eaLnBrk="0" fontAlgn="base" latinLnBrk="0" hangingPunct="0">
              <a:spcBef>
                <a:spcPct val="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Calibir"/>
              </a:rPr>
              <a:t>Update book</a:t>
            </a:r>
            <a:r>
              <a:rPr kumimoji="0" lang="en-US" altLang="en-US" sz="2000" b="0" i="0" u="none" strike="noStrike" cap="none" normalizeH="0" baseline="0" dirty="0">
                <a:ln>
                  <a:noFill/>
                </a:ln>
                <a:solidFill>
                  <a:schemeClr val="tx1"/>
                </a:solidFill>
                <a:effectLst/>
                <a:latin typeface="Calibir"/>
              </a:rPr>
              <a:t> → Mark the book as "borrowed" and record that this member has it.</a:t>
            </a:r>
          </a:p>
          <a:p>
            <a:pPr marL="457200" marR="0" lvl="0" indent="-457200" algn="l" defTabSz="914400" rtl="0" eaLnBrk="0" fontAlgn="base" latinLnBrk="0" hangingPunct="0">
              <a:spcBef>
                <a:spcPct val="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Calibir"/>
              </a:rPr>
              <a:t>Update member</a:t>
            </a:r>
            <a:r>
              <a:rPr kumimoji="0" lang="en-US" altLang="en-US" sz="2000" b="0" i="0" u="none" strike="noStrike" cap="none" normalizeH="0" baseline="0" dirty="0">
                <a:ln>
                  <a:noFill/>
                </a:ln>
                <a:solidFill>
                  <a:schemeClr val="tx1"/>
                </a:solidFill>
                <a:effectLst/>
                <a:latin typeface="Calibir"/>
              </a:rPr>
              <a:t> → Add the book to the member’s borrowed list.</a:t>
            </a:r>
          </a:p>
          <a:p>
            <a:pPr marL="457200" marR="0" lvl="0" indent="-457200" algn="l" defTabSz="914400" rtl="0" eaLnBrk="0" fontAlgn="base" latinLnBrk="0" hangingPunct="0">
              <a:spcBef>
                <a:spcPct val="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Calibir"/>
              </a:rPr>
              <a:t>Confirm</a:t>
            </a:r>
            <a:r>
              <a:rPr kumimoji="0" lang="en-US" altLang="en-US" sz="2000" b="0" i="0" u="none" strike="noStrike" cap="none" normalizeH="0" baseline="0" dirty="0">
                <a:ln>
                  <a:noFill/>
                </a:ln>
                <a:solidFill>
                  <a:schemeClr val="tx1"/>
                </a:solidFill>
                <a:effectLst/>
                <a:latin typeface="Calibir"/>
              </a:rPr>
              <a:t> → Print a message that the member successfully borrowed the book.</a:t>
            </a:r>
          </a:p>
        </p:txBody>
      </p:sp>
      <p:sp>
        <p:nvSpPr>
          <p:cNvPr id="2" name="Oval 1">
            <a:extLst>
              <a:ext uri="{FF2B5EF4-FFF2-40B4-BE49-F238E27FC236}">
                <a16:creationId xmlns:a16="http://schemas.microsoft.com/office/drawing/2014/main" id="{4E698451-5B86-9F28-B6B9-E6EEF25FE959}"/>
              </a:ext>
            </a:extLst>
          </p:cNvPr>
          <p:cNvSpPr/>
          <p:nvPr/>
        </p:nvSpPr>
        <p:spPr>
          <a:xfrm>
            <a:off x="9945446" y="5430798"/>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32986558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3DBFC-3C31-AA8E-5557-3F6BD9385221}"/>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0B92F2E-65F9-8DFF-4345-B9B3948284F4}"/>
              </a:ext>
            </a:extLst>
          </p:cNvPr>
          <p:cNvSpPr txBox="1"/>
          <p:nvPr/>
        </p:nvSpPr>
        <p:spPr>
          <a:xfrm>
            <a:off x="-1" y="0"/>
            <a:ext cx="9941142" cy="2800767"/>
          </a:xfrm>
          <a:prstGeom prst="rect">
            <a:avLst/>
          </a:prstGeom>
          <a:solidFill>
            <a:schemeClr val="tx1"/>
          </a:solidFill>
        </p:spPr>
        <p:txBody>
          <a:bodyPr wrap="square">
            <a:spAutoFit/>
          </a:bodyPr>
          <a:lstStyle/>
          <a:p>
            <a:pPr>
              <a:buNone/>
            </a:pPr>
            <a:r>
              <a:rPr lang="en-US" sz="2200" dirty="0">
                <a:solidFill>
                  <a:srgbClr val="CCCCCC"/>
                </a:solidFill>
                <a:latin typeface="Consolas" panose="020B0609020204030204" pitchFamily="49" charset="0"/>
              </a:rPr>
              <a:t>    </a:t>
            </a:r>
            <a:r>
              <a:rPr lang="en-US" sz="2200" dirty="0">
                <a:solidFill>
                  <a:srgbClr val="569CD6"/>
                </a:solidFill>
                <a:latin typeface="Consolas" panose="020B0609020204030204" pitchFamily="49" charset="0"/>
              </a:rPr>
              <a:t>def</a:t>
            </a:r>
            <a:r>
              <a:rPr lang="en-US" sz="2200" dirty="0">
                <a:solidFill>
                  <a:srgbClr val="CCCCCC"/>
                </a:solidFill>
                <a:latin typeface="Consolas" panose="020B0609020204030204" pitchFamily="49" charset="0"/>
              </a:rPr>
              <a:t> </a:t>
            </a:r>
            <a:r>
              <a:rPr lang="en-US" sz="2200" dirty="0" err="1">
                <a:solidFill>
                  <a:srgbClr val="DCDCAA"/>
                </a:solidFill>
                <a:latin typeface="Consolas" panose="020B0609020204030204" pitchFamily="49" charset="0"/>
              </a:rPr>
              <a:t>return_book</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if</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 </a:t>
            </a:r>
            <a:r>
              <a:rPr lang="en-US" sz="2200" dirty="0">
                <a:solidFill>
                  <a:srgbClr val="569CD6"/>
                </a:solidFill>
                <a:latin typeface="Consolas" panose="020B0609020204030204" pitchFamily="49" charset="0"/>
              </a:rPr>
              <a:t>in</a:t>
            </a: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err="1">
                <a:solidFill>
                  <a:srgbClr val="CCCCCC"/>
                </a:solidFill>
                <a:latin typeface="Consolas" panose="020B0609020204030204" pitchFamily="49" charset="0"/>
              </a:rPr>
              <a:t>.</a:t>
            </a:r>
            <a:r>
              <a:rPr lang="en-US" sz="2200" dirty="0" err="1">
                <a:solidFill>
                  <a:srgbClr val="DCDCAA"/>
                </a:solidFill>
                <a:latin typeface="Consolas" panose="020B0609020204030204" pitchFamily="49" charset="0"/>
              </a:rPr>
              <a:t>remove</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.status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CE9178"/>
                </a:solidFill>
                <a:latin typeface="Consolas" panose="020B0609020204030204" pitchFamily="49" charset="0"/>
              </a:rPr>
              <a:t>"available"</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.borrowed_by</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4FC1FF"/>
                </a:solidFill>
                <a:latin typeface="Consolas" panose="020B0609020204030204" pitchFamily="49" charset="0"/>
              </a:rPr>
              <a:t>None</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returned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else</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does not have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a:t>
            </a:r>
            <a:r>
              <a:rPr lang="en-US" sz="2200" dirty="0">
                <a:solidFill>
                  <a:srgbClr val="CCCCCC"/>
                </a:solidFill>
                <a:latin typeface="Consolas" panose="020B0609020204030204" pitchFamily="49" charset="0"/>
              </a:rPr>
              <a:t>)</a:t>
            </a:r>
          </a:p>
        </p:txBody>
      </p:sp>
      <p:sp>
        <p:nvSpPr>
          <p:cNvPr id="34" name="Rectangle 33">
            <a:extLst>
              <a:ext uri="{FF2B5EF4-FFF2-40B4-BE49-F238E27FC236}">
                <a16:creationId xmlns:a16="http://schemas.microsoft.com/office/drawing/2014/main" id="{C2E8474F-B4A0-B94C-BC3B-E325C20E201B}"/>
              </a:ext>
            </a:extLst>
          </p:cNvPr>
          <p:cNvSpPr/>
          <p:nvPr/>
        </p:nvSpPr>
        <p:spPr>
          <a:xfrm>
            <a:off x="8683330" y="485647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BD7F0444-E843-77E1-F23E-614E0580ADE3}"/>
              </a:ext>
            </a:extLst>
          </p:cNvPr>
          <p:cNvCxnSpPr>
            <a:cxnSpLocks/>
          </p:cNvCxnSpPr>
          <p:nvPr/>
        </p:nvCxnSpPr>
        <p:spPr>
          <a:xfrm>
            <a:off x="9809151" y="5493163"/>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169D41A-6540-0650-D7C3-4F4B743C4C0B}"/>
              </a:ext>
            </a:extLst>
          </p:cNvPr>
          <p:cNvCxnSpPr>
            <a:cxnSpLocks/>
          </p:cNvCxnSpPr>
          <p:nvPr/>
        </p:nvCxnSpPr>
        <p:spPr>
          <a:xfrm flipV="1">
            <a:off x="11624588" y="4022142"/>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13788E74-B260-C9AB-2B89-BBF5CF463B18}"/>
              </a:ext>
            </a:extLst>
          </p:cNvPr>
          <p:cNvCxnSpPr>
            <a:cxnSpLocks/>
          </p:cNvCxnSpPr>
          <p:nvPr/>
        </p:nvCxnSpPr>
        <p:spPr>
          <a:xfrm>
            <a:off x="11403522" y="4033894"/>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AECE0BA8-A449-BCAF-9A4C-20176CADCB71}"/>
              </a:ext>
            </a:extLst>
          </p:cNvPr>
          <p:cNvSpPr/>
          <p:nvPr/>
        </p:nvSpPr>
        <p:spPr>
          <a:xfrm>
            <a:off x="11558290" y="4201700"/>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123B2C32-31BD-9AA7-2389-01AD65FEE1C0}"/>
              </a:ext>
            </a:extLst>
          </p:cNvPr>
          <p:cNvCxnSpPr/>
          <p:nvPr/>
        </p:nvCxnSpPr>
        <p:spPr>
          <a:xfrm>
            <a:off x="9864579" y="5312467"/>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4AD07496-D772-2F83-B746-3F226C36D11D}"/>
              </a:ext>
            </a:extLst>
          </p:cNvPr>
          <p:cNvSpPr txBox="1"/>
          <p:nvPr/>
        </p:nvSpPr>
        <p:spPr>
          <a:xfrm>
            <a:off x="10601847" y="4038112"/>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0956EB94-CCD2-91A1-885E-089E170392B8}"/>
              </a:ext>
            </a:extLst>
          </p:cNvPr>
          <p:cNvSpPr txBox="1"/>
          <p:nvPr/>
        </p:nvSpPr>
        <p:spPr>
          <a:xfrm>
            <a:off x="9390244" y="4404342"/>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81708831-9076-C709-C6D8-48B930D56022}"/>
              </a:ext>
            </a:extLst>
          </p:cNvPr>
          <p:cNvSpPr/>
          <p:nvPr/>
        </p:nvSpPr>
        <p:spPr>
          <a:xfrm>
            <a:off x="8683329" y="2724597"/>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398D9606-ED93-31E0-8949-020107A53F38}"/>
              </a:ext>
            </a:extLst>
          </p:cNvPr>
          <p:cNvSpPr/>
          <p:nvPr/>
        </p:nvSpPr>
        <p:spPr>
          <a:xfrm>
            <a:off x="11078691" y="2735355"/>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E260E160-28DE-BC87-DAA6-560FC6F8BAF2}"/>
              </a:ext>
            </a:extLst>
          </p:cNvPr>
          <p:cNvCxnSpPr/>
          <p:nvPr/>
        </p:nvCxnSpPr>
        <p:spPr>
          <a:xfrm>
            <a:off x="9797426" y="3367149"/>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C6E552-66E0-2F2B-49A0-28B1F21859AC}"/>
              </a:ext>
            </a:extLst>
          </p:cNvPr>
          <p:cNvCxnSpPr>
            <a:cxnSpLocks/>
          </p:cNvCxnSpPr>
          <p:nvPr/>
        </p:nvCxnSpPr>
        <p:spPr>
          <a:xfrm flipV="1">
            <a:off x="10879991" y="3225258"/>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484724D4-8983-6E72-6439-7E5DC6997BC1}"/>
              </a:ext>
            </a:extLst>
          </p:cNvPr>
          <p:cNvCxnSpPr>
            <a:cxnSpLocks/>
          </p:cNvCxnSpPr>
          <p:nvPr/>
        </p:nvCxnSpPr>
        <p:spPr>
          <a:xfrm>
            <a:off x="10879991" y="3367149"/>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BC3D7D3D-9440-51B3-704F-E3F03B2A5AC5}"/>
              </a:ext>
            </a:extLst>
          </p:cNvPr>
          <p:cNvSpPr/>
          <p:nvPr/>
        </p:nvSpPr>
        <p:spPr>
          <a:xfrm>
            <a:off x="10665402" y="3296203"/>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65F6520D-25F1-49D1-FDEC-720D26131BC0}"/>
              </a:ext>
            </a:extLst>
          </p:cNvPr>
          <p:cNvCxnSpPr/>
          <p:nvPr/>
        </p:nvCxnSpPr>
        <p:spPr>
          <a:xfrm>
            <a:off x="9864578" y="3180591"/>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5CA0BE26-971E-C550-465A-391F0D0E4A73}"/>
              </a:ext>
            </a:extLst>
          </p:cNvPr>
          <p:cNvSpPr txBox="1"/>
          <p:nvPr/>
        </p:nvSpPr>
        <p:spPr>
          <a:xfrm>
            <a:off x="10722731" y="2230151"/>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C58F9EEC-93D4-AB54-67F1-E46C0C0084C6}"/>
              </a:ext>
            </a:extLst>
          </p:cNvPr>
          <p:cNvSpPr txBox="1"/>
          <p:nvPr/>
        </p:nvSpPr>
        <p:spPr>
          <a:xfrm>
            <a:off x="9875434" y="2240131"/>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178DD0EF-9C4A-18AC-1513-84DF00801263}"/>
              </a:ext>
            </a:extLst>
          </p:cNvPr>
          <p:cNvSpPr/>
          <p:nvPr/>
        </p:nvSpPr>
        <p:spPr>
          <a:xfrm>
            <a:off x="8683328" y="369098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136511D4-97D1-6088-1FB0-F58C3DC1F80E}"/>
              </a:ext>
            </a:extLst>
          </p:cNvPr>
          <p:cNvSpPr/>
          <p:nvPr/>
        </p:nvSpPr>
        <p:spPr>
          <a:xfrm>
            <a:off x="8683328" y="338562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99764105-B8A6-C5B2-A7C6-98558F4D0366}"/>
              </a:ext>
            </a:extLst>
          </p:cNvPr>
          <p:cNvSpPr txBox="1"/>
          <p:nvPr/>
        </p:nvSpPr>
        <p:spPr>
          <a:xfrm>
            <a:off x="9947292" y="2901542"/>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FB86AEBF-7F24-07EC-9DF2-EBF0FD393728}"/>
              </a:ext>
            </a:extLst>
          </p:cNvPr>
          <p:cNvSpPr/>
          <p:nvPr/>
        </p:nvSpPr>
        <p:spPr>
          <a:xfrm>
            <a:off x="11073690" y="37026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DBCEAFBA-334B-7305-A168-E240CDDAE277}"/>
              </a:ext>
            </a:extLst>
          </p:cNvPr>
          <p:cNvSpPr/>
          <p:nvPr/>
        </p:nvSpPr>
        <p:spPr>
          <a:xfrm>
            <a:off x="11073690" y="33972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BF31BF47-66ED-AE92-4FD5-1ECC9CB1AFFC}"/>
              </a:ext>
            </a:extLst>
          </p:cNvPr>
          <p:cNvSpPr/>
          <p:nvPr/>
        </p:nvSpPr>
        <p:spPr>
          <a:xfrm>
            <a:off x="11073689" y="309412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754B24FF-5CE1-A373-BFF6-F01A52051B0A}"/>
              </a:ext>
            </a:extLst>
          </p:cNvPr>
          <p:cNvCxnSpPr>
            <a:cxnSpLocks/>
            <a:endCxn id="61" idx="2"/>
          </p:cNvCxnSpPr>
          <p:nvPr/>
        </p:nvCxnSpPr>
        <p:spPr>
          <a:xfrm flipH="1" flipV="1">
            <a:off x="11630739" y="4007979"/>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22E90165-6E60-5BB2-2913-688CEB30004B}"/>
              </a:ext>
            </a:extLst>
          </p:cNvPr>
          <p:cNvSpPr txBox="1"/>
          <p:nvPr/>
        </p:nvSpPr>
        <p:spPr>
          <a:xfrm>
            <a:off x="9966878" y="4982098"/>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60B50BD5-4CDB-D882-D4A0-5AE26AA6C2F3}"/>
              </a:ext>
            </a:extLst>
          </p:cNvPr>
          <p:cNvSpPr/>
          <p:nvPr/>
        </p:nvSpPr>
        <p:spPr>
          <a:xfrm>
            <a:off x="8683903" y="573076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E9AB70D5-9B63-9E9A-B076-048226E35A42}"/>
              </a:ext>
            </a:extLst>
          </p:cNvPr>
          <p:cNvSpPr/>
          <p:nvPr/>
        </p:nvSpPr>
        <p:spPr>
          <a:xfrm>
            <a:off x="8683903" y="544770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CD33434E-0FFA-1071-415F-5EF5EFB2B063}"/>
              </a:ext>
            </a:extLst>
          </p:cNvPr>
          <p:cNvSpPr/>
          <p:nvPr/>
        </p:nvSpPr>
        <p:spPr>
          <a:xfrm>
            <a:off x="8683902" y="5144574"/>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048BC7CD-ADA3-73F9-D9BA-DA28F8F4BDEA}"/>
              </a:ext>
            </a:extLst>
          </p:cNvPr>
          <p:cNvSpPr/>
          <p:nvPr/>
        </p:nvSpPr>
        <p:spPr>
          <a:xfrm>
            <a:off x="8687862" y="6444569"/>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9EC4B2F2-2352-CAA9-B405-4B1F27400141}"/>
              </a:ext>
            </a:extLst>
          </p:cNvPr>
          <p:cNvSpPr/>
          <p:nvPr/>
        </p:nvSpPr>
        <p:spPr>
          <a:xfrm>
            <a:off x="8683328" y="6026941"/>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5" name="Rectangle 1">
            <a:extLst>
              <a:ext uri="{FF2B5EF4-FFF2-40B4-BE49-F238E27FC236}">
                <a16:creationId xmlns:a16="http://schemas.microsoft.com/office/drawing/2014/main" id="{20A72AAD-B0DB-62BE-3880-576D0C21BFF9}"/>
              </a:ext>
            </a:extLst>
          </p:cNvPr>
          <p:cNvSpPr>
            <a:spLocks noChangeArrowheads="1"/>
          </p:cNvSpPr>
          <p:nvPr/>
        </p:nvSpPr>
        <p:spPr bwMode="auto">
          <a:xfrm>
            <a:off x="24696" y="2753371"/>
            <a:ext cx="8777275" cy="41025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200" b="1" i="0" u="none" strike="noStrike" cap="none" normalizeH="0" baseline="0" dirty="0">
                <a:ln>
                  <a:noFill/>
                </a:ln>
                <a:solidFill>
                  <a:schemeClr val="tx1"/>
                </a:solidFill>
                <a:effectLst/>
                <a:latin typeface="Calibir"/>
              </a:rPr>
              <a:t>What does </a:t>
            </a:r>
            <a:r>
              <a:rPr kumimoji="0" lang="en-US" altLang="en-US" sz="2200" b="1" i="0" u="none" strike="noStrike" cap="none" normalizeH="0" baseline="0" dirty="0" err="1">
                <a:ln>
                  <a:noFill/>
                </a:ln>
                <a:solidFill>
                  <a:schemeClr val="tx1"/>
                </a:solidFill>
                <a:effectLst/>
                <a:latin typeface="Calibir"/>
              </a:rPr>
              <a:t>return_book</a:t>
            </a:r>
            <a:r>
              <a:rPr kumimoji="0" lang="en-US" altLang="en-US" sz="2200" b="1" i="0" u="none" strike="noStrike" cap="none" normalizeH="0" baseline="0" dirty="0">
                <a:ln>
                  <a:noFill/>
                </a:ln>
                <a:solidFill>
                  <a:schemeClr val="tx1"/>
                </a:solidFill>
                <a:effectLst/>
                <a:latin typeface="Calibir"/>
              </a:rPr>
              <a:t>(self, book) do?</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200" b="1" i="0" u="none" strike="noStrike" cap="none" normalizeH="0" baseline="0" dirty="0">
                <a:ln>
                  <a:noFill/>
                </a:ln>
                <a:solidFill>
                  <a:schemeClr val="tx1"/>
                </a:solidFill>
                <a:effectLst/>
                <a:latin typeface="Calibir"/>
              </a:rPr>
              <a:t>Check ownership</a:t>
            </a:r>
            <a:r>
              <a:rPr kumimoji="0" lang="en-US" altLang="en-US" sz="2200" b="0" i="0" u="none" strike="noStrike" cap="none" normalizeH="0" baseline="0" dirty="0">
                <a:ln>
                  <a:noFill/>
                </a:ln>
                <a:solidFill>
                  <a:schemeClr val="tx1"/>
                </a:solidFill>
                <a:effectLst/>
                <a:latin typeface="Calibir"/>
              </a:rPr>
              <a:t> → See if the book is in the member’s borrowed list.</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200" b="1" i="0" u="none" strike="noStrike" cap="none" normalizeH="0" baseline="0" dirty="0">
                <a:ln>
                  <a:noFill/>
                </a:ln>
                <a:solidFill>
                  <a:schemeClr val="tx1"/>
                </a:solidFill>
                <a:effectLst/>
                <a:latin typeface="Calibir"/>
              </a:rPr>
              <a:t>If yes</a:t>
            </a:r>
            <a:r>
              <a:rPr kumimoji="0" lang="en-US" altLang="en-US" sz="2200" b="0" i="0" u="none" strike="noStrike" cap="none" normalizeH="0" baseline="0" dirty="0">
                <a:ln>
                  <a:noFill/>
                </a:ln>
                <a:solidFill>
                  <a:schemeClr val="tx1"/>
                </a:solidFill>
                <a:effectLst/>
                <a:latin typeface="Calibir"/>
              </a:rPr>
              <a:t> →</a:t>
            </a:r>
          </a:p>
          <a:p>
            <a:pPr marL="800100" marR="0" lvl="1"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200" b="0" i="0" u="none" strike="noStrike" cap="none" normalizeH="0" baseline="0" dirty="0">
                <a:ln>
                  <a:noFill/>
                </a:ln>
                <a:solidFill>
                  <a:schemeClr val="tx1"/>
                </a:solidFill>
                <a:effectLst/>
                <a:latin typeface="Calibir"/>
              </a:rPr>
              <a:t>Remove the book from their list.</a:t>
            </a:r>
          </a:p>
          <a:p>
            <a:pPr marL="800100" marR="0" lvl="1"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200" b="0" i="0" u="none" strike="noStrike" cap="none" normalizeH="0" baseline="0" dirty="0">
                <a:ln>
                  <a:noFill/>
                </a:ln>
                <a:solidFill>
                  <a:schemeClr val="tx1"/>
                </a:solidFill>
                <a:effectLst/>
                <a:latin typeface="Calibir"/>
              </a:rPr>
              <a:t>Mark the book as "available".</a:t>
            </a:r>
          </a:p>
          <a:p>
            <a:pPr marL="800100" marR="0" lvl="1"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200" b="0" i="0" u="none" strike="noStrike" cap="none" normalizeH="0" baseline="0" dirty="0">
                <a:ln>
                  <a:noFill/>
                </a:ln>
                <a:solidFill>
                  <a:schemeClr val="tx1"/>
                </a:solidFill>
                <a:effectLst/>
                <a:latin typeface="Calibir"/>
              </a:rPr>
              <a:t>Clear who borrowed it (None).</a:t>
            </a:r>
          </a:p>
          <a:p>
            <a:pPr marL="800100" marR="0" lvl="1"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200" b="0" i="0" u="none" strike="noStrike" cap="none" normalizeH="0" baseline="0" dirty="0">
                <a:ln>
                  <a:noFill/>
                </a:ln>
                <a:solidFill>
                  <a:schemeClr val="tx1"/>
                </a:solidFill>
                <a:effectLst/>
                <a:latin typeface="Calibir"/>
              </a:rPr>
              <a:t>Show a message confirming the return.</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200" b="1" i="0" u="none" strike="noStrike" cap="none" normalizeH="0" baseline="0" dirty="0">
                <a:ln>
                  <a:noFill/>
                </a:ln>
                <a:solidFill>
                  <a:schemeClr val="tx1"/>
                </a:solidFill>
                <a:effectLst/>
                <a:latin typeface="Calibir"/>
              </a:rPr>
              <a:t>If no</a:t>
            </a:r>
            <a:r>
              <a:rPr kumimoji="0" lang="en-US" altLang="en-US" sz="2200" b="0" i="0" u="none" strike="noStrike" cap="none" normalizeH="0" baseline="0" dirty="0">
                <a:ln>
                  <a:noFill/>
                </a:ln>
                <a:solidFill>
                  <a:schemeClr val="tx1"/>
                </a:solidFill>
                <a:effectLst/>
                <a:latin typeface="Calibir"/>
              </a:rPr>
              <a:t> → Print a message saying the member never borrowed that book.</a:t>
            </a:r>
          </a:p>
        </p:txBody>
      </p:sp>
      <p:sp>
        <p:nvSpPr>
          <p:cNvPr id="2" name="Oval 1">
            <a:extLst>
              <a:ext uri="{FF2B5EF4-FFF2-40B4-BE49-F238E27FC236}">
                <a16:creationId xmlns:a16="http://schemas.microsoft.com/office/drawing/2014/main" id="{E8CF3496-984A-B54D-5AF2-2518CCE86EF8}"/>
              </a:ext>
            </a:extLst>
          </p:cNvPr>
          <p:cNvSpPr/>
          <p:nvPr/>
        </p:nvSpPr>
        <p:spPr>
          <a:xfrm>
            <a:off x="9945446" y="5430798"/>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9957297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BD6FB1-06FE-2E39-61F5-ECFA7940996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22E3E46-5536-068B-A464-CCF5162EB811}"/>
              </a:ext>
            </a:extLst>
          </p:cNvPr>
          <p:cNvSpPr txBox="1"/>
          <p:nvPr/>
        </p:nvSpPr>
        <p:spPr>
          <a:xfrm>
            <a:off x="-1" y="0"/>
            <a:ext cx="9941142" cy="2800767"/>
          </a:xfrm>
          <a:prstGeom prst="rect">
            <a:avLst/>
          </a:prstGeom>
          <a:solidFill>
            <a:schemeClr val="tx1"/>
          </a:solidFill>
        </p:spPr>
        <p:txBody>
          <a:bodyPr wrap="square">
            <a:spAutoFit/>
          </a:bodyPr>
          <a:lstStyle/>
          <a:p>
            <a:pPr>
              <a:buNone/>
            </a:pPr>
            <a:r>
              <a:rPr lang="en-US" sz="2200" dirty="0">
                <a:solidFill>
                  <a:srgbClr val="CCCCCC"/>
                </a:solidFill>
                <a:latin typeface="Consolas" panose="020B0609020204030204" pitchFamily="49" charset="0"/>
              </a:rPr>
              <a:t>    </a:t>
            </a:r>
            <a:r>
              <a:rPr lang="en-US" sz="2200" dirty="0">
                <a:solidFill>
                  <a:srgbClr val="569CD6"/>
                </a:solidFill>
                <a:latin typeface="Consolas" panose="020B0609020204030204" pitchFamily="49" charset="0"/>
              </a:rPr>
              <a:t>def</a:t>
            </a:r>
            <a:r>
              <a:rPr lang="en-US" sz="2200" dirty="0">
                <a:solidFill>
                  <a:srgbClr val="CCCCCC"/>
                </a:solidFill>
                <a:latin typeface="Consolas" panose="020B0609020204030204" pitchFamily="49" charset="0"/>
              </a:rPr>
              <a:t> </a:t>
            </a:r>
            <a:r>
              <a:rPr lang="en-US" sz="2200" dirty="0" err="1">
                <a:solidFill>
                  <a:srgbClr val="DCDCAA"/>
                </a:solidFill>
                <a:latin typeface="Consolas" panose="020B0609020204030204" pitchFamily="49" charset="0"/>
              </a:rPr>
              <a:t>return_book</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if</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 </a:t>
            </a:r>
            <a:r>
              <a:rPr lang="en-US" sz="2200" dirty="0">
                <a:solidFill>
                  <a:srgbClr val="569CD6"/>
                </a:solidFill>
                <a:latin typeface="Consolas" panose="020B0609020204030204" pitchFamily="49" charset="0"/>
              </a:rPr>
              <a:t>in</a:t>
            </a: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err="1">
                <a:solidFill>
                  <a:srgbClr val="CCCCCC"/>
                </a:solidFill>
                <a:latin typeface="Consolas" panose="020B0609020204030204" pitchFamily="49" charset="0"/>
              </a:rPr>
              <a:t>.</a:t>
            </a:r>
            <a:r>
              <a:rPr lang="en-US" sz="2200" dirty="0" err="1">
                <a:solidFill>
                  <a:srgbClr val="DCDCAA"/>
                </a:solidFill>
                <a:latin typeface="Consolas" panose="020B0609020204030204" pitchFamily="49" charset="0"/>
              </a:rPr>
              <a:t>remove</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.status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CE9178"/>
                </a:solidFill>
                <a:latin typeface="Consolas" panose="020B0609020204030204" pitchFamily="49" charset="0"/>
              </a:rPr>
              <a:t>"available"</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.borrowed_by</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4FC1FF"/>
                </a:solidFill>
                <a:latin typeface="Consolas" panose="020B0609020204030204" pitchFamily="49" charset="0"/>
              </a:rPr>
              <a:t>None</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returned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else</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does not have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a:t>
            </a:r>
            <a:r>
              <a:rPr lang="en-US" sz="2200" dirty="0">
                <a:solidFill>
                  <a:srgbClr val="CCCCCC"/>
                </a:solidFill>
                <a:latin typeface="Consolas" panose="020B0609020204030204" pitchFamily="49" charset="0"/>
              </a:rPr>
              <a:t>)</a:t>
            </a:r>
          </a:p>
        </p:txBody>
      </p:sp>
      <p:sp>
        <p:nvSpPr>
          <p:cNvPr id="34" name="Rectangle 33">
            <a:extLst>
              <a:ext uri="{FF2B5EF4-FFF2-40B4-BE49-F238E27FC236}">
                <a16:creationId xmlns:a16="http://schemas.microsoft.com/office/drawing/2014/main" id="{6F069926-0614-2AA1-A3FF-E5C8137A9133}"/>
              </a:ext>
            </a:extLst>
          </p:cNvPr>
          <p:cNvSpPr/>
          <p:nvPr/>
        </p:nvSpPr>
        <p:spPr>
          <a:xfrm>
            <a:off x="8683330" y="485647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9DF09C5E-98BD-9E3E-D6B8-E3EFB11E1EE0}"/>
              </a:ext>
            </a:extLst>
          </p:cNvPr>
          <p:cNvCxnSpPr>
            <a:cxnSpLocks/>
          </p:cNvCxnSpPr>
          <p:nvPr/>
        </p:nvCxnSpPr>
        <p:spPr>
          <a:xfrm>
            <a:off x="9809151" y="5493163"/>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27E5026A-9A5E-2A55-E18E-5C956F6B6C24}"/>
              </a:ext>
            </a:extLst>
          </p:cNvPr>
          <p:cNvCxnSpPr>
            <a:cxnSpLocks/>
          </p:cNvCxnSpPr>
          <p:nvPr/>
        </p:nvCxnSpPr>
        <p:spPr>
          <a:xfrm flipV="1">
            <a:off x="11624588" y="4022142"/>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2AE6128-DB9B-70A5-8D9C-5F88475DB61B}"/>
              </a:ext>
            </a:extLst>
          </p:cNvPr>
          <p:cNvCxnSpPr>
            <a:cxnSpLocks/>
          </p:cNvCxnSpPr>
          <p:nvPr/>
        </p:nvCxnSpPr>
        <p:spPr>
          <a:xfrm>
            <a:off x="11403522" y="4033894"/>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48DF6837-0E1C-D4C2-CEDC-3D8767018E68}"/>
              </a:ext>
            </a:extLst>
          </p:cNvPr>
          <p:cNvSpPr/>
          <p:nvPr/>
        </p:nvSpPr>
        <p:spPr>
          <a:xfrm>
            <a:off x="11558290" y="4201700"/>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E9A58D30-6B3C-2149-E883-0C08CAC03A76}"/>
              </a:ext>
            </a:extLst>
          </p:cNvPr>
          <p:cNvCxnSpPr/>
          <p:nvPr/>
        </p:nvCxnSpPr>
        <p:spPr>
          <a:xfrm>
            <a:off x="9864579" y="5312467"/>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A413028A-C78B-03EE-7E0F-4081491B6C84}"/>
              </a:ext>
            </a:extLst>
          </p:cNvPr>
          <p:cNvSpPr txBox="1"/>
          <p:nvPr/>
        </p:nvSpPr>
        <p:spPr>
          <a:xfrm>
            <a:off x="10601847" y="4038112"/>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2604DB73-BEFC-EBFA-ADDC-9940CFF9C156}"/>
              </a:ext>
            </a:extLst>
          </p:cNvPr>
          <p:cNvSpPr txBox="1"/>
          <p:nvPr/>
        </p:nvSpPr>
        <p:spPr>
          <a:xfrm>
            <a:off x="9390244" y="4404342"/>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81432E6E-27AC-8034-12A2-1EAD66DC5233}"/>
              </a:ext>
            </a:extLst>
          </p:cNvPr>
          <p:cNvSpPr/>
          <p:nvPr/>
        </p:nvSpPr>
        <p:spPr>
          <a:xfrm>
            <a:off x="8683329" y="2724597"/>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9DC05545-5478-65BF-CFEF-E379007E3295}"/>
              </a:ext>
            </a:extLst>
          </p:cNvPr>
          <p:cNvSpPr/>
          <p:nvPr/>
        </p:nvSpPr>
        <p:spPr>
          <a:xfrm>
            <a:off x="11078691" y="2735355"/>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2017A991-2E55-EF3B-52DE-A97C89BE0E92}"/>
              </a:ext>
            </a:extLst>
          </p:cNvPr>
          <p:cNvCxnSpPr/>
          <p:nvPr/>
        </p:nvCxnSpPr>
        <p:spPr>
          <a:xfrm>
            <a:off x="9797426" y="3367149"/>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9C2D3DD2-5251-92DD-0536-3C0A48C1A3E3}"/>
              </a:ext>
            </a:extLst>
          </p:cNvPr>
          <p:cNvCxnSpPr>
            <a:cxnSpLocks/>
          </p:cNvCxnSpPr>
          <p:nvPr/>
        </p:nvCxnSpPr>
        <p:spPr>
          <a:xfrm flipV="1">
            <a:off x="10879991" y="3225258"/>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C900CA29-3AD6-1E47-891C-B3856F494794}"/>
              </a:ext>
            </a:extLst>
          </p:cNvPr>
          <p:cNvCxnSpPr>
            <a:cxnSpLocks/>
          </p:cNvCxnSpPr>
          <p:nvPr/>
        </p:nvCxnSpPr>
        <p:spPr>
          <a:xfrm>
            <a:off x="10879991" y="3367149"/>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A2C03C30-B440-4633-801C-C4A62D81F095}"/>
              </a:ext>
            </a:extLst>
          </p:cNvPr>
          <p:cNvSpPr/>
          <p:nvPr/>
        </p:nvSpPr>
        <p:spPr>
          <a:xfrm>
            <a:off x="10665402" y="3296203"/>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AD4C73E7-B6F8-2A23-B841-D753A443794E}"/>
              </a:ext>
            </a:extLst>
          </p:cNvPr>
          <p:cNvCxnSpPr/>
          <p:nvPr/>
        </p:nvCxnSpPr>
        <p:spPr>
          <a:xfrm>
            <a:off x="9864578" y="3180591"/>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193353BB-52EF-8A68-C9F5-F37560A6931F}"/>
              </a:ext>
            </a:extLst>
          </p:cNvPr>
          <p:cNvSpPr txBox="1"/>
          <p:nvPr/>
        </p:nvSpPr>
        <p:spPr>
          <a:xfrm>
            <a:off x="10722731" y="2230151"/>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296A3BE9-DDE4-C6F2-A1A6-71F394E49CF9}"/>
              </a:ext>
            </a:extLst>
          </p:cNvPr>
          <p:cNvSpPr txBox="1"/>
          <p:nvPr/>
        </p:nvSpPr>
        <p:spPr>
          <a:xfrm>
            <a:off x="9875434" y="2240131"/>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F95446F5-D274-16F2-81BB-D135E5B784EB}"/>
              </a:ext>
            </a:extLst>
          </p:cNvPr>
          <p:cNvSpPr/>
          <p:nvPr/>
        </p:nvSpPr>
        <p:spPr>
          <a:xfrm>
            <a:off x="8683328" y="369098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3E565067-04FF-C756-D17A-A6C9370B5E73}"/>
              </a:ext>
            </a:extLst>
          </p:cNvPr>
          <p:cNvSpPr/>
          <p:nvPr/>
        </p:nvSpPr>
        <p:spPr>
          <a:xfrm>
            <a:off x="8683328" y="338562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010F79EE-8DC2-8693-6B4B-589F291AE9CB}"/>
              </a:ext>
            </a:extLst>
          </p:cNvPr>
          <p:cNvSpPr txBox="1"/>
          <p:nvPr/>
        </p:nvSpPr>
        <p:spPr>
          <a:xfrm>
            <a:off x="9947292" y="2901542"/>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24E89F8A-1E4F-0DED-F48A-7223F7AC1ABE}"/>
              </a:ext>
            </a:extLst>
          </p:cNvPr>
          <p:cNvSpPr/>
          <p:nvPr/>
        </p:nvSpPr>
        <p:spPr>
          <a:xfrm>
            <a:off x="11073690" y="37026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788F4E5B-6621-A338-EB22-94130CB96961}"/>
              </a:ext>
            </a:extLst>
          </p:cNvPr>
          <p:cNvSpPr/>
          <p:nvPr/>
        </p:nvSpPr>
        <p:spPr>
          <a:xfrm>
            <a:off x="11073690" y="33972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AEEDB3A8-69A1-E1BA-BD90-B8BAF0694AC5}"/>
              </a:ext>
            </a:extLst>
          </p:cNvPr>
          <p:cNvSpPr/>
          <p:nvPr/>
        </p:nvSpPr>
        <p:spPr>
          <a:xfrm>
            <a:off x="11073689" y="309412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3E516BA5-7A24-E553-E250-EBF8D4B7C6E3}"/>
              </a:ext>
            </a:extLst>
          </p:cNvPr>
          <p:cNvCxnSpPr>
            <a:cxnSpLocks/>
            <a:endCxn id="61" idx="2"/>
          </p:cNvCxnSpPr>
          <p:nvPr/>
        </p:nvCxnSpPr>
        <p:spPr>
          <a:xfrm flipH="1" flipV="1">
            <a:off x="11630739" y="4007979"/>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FC77A53C-EB10-50B6-D8F9-BA7746B07C2F}"/>
              </a:ext>
            </a:extLst>
          </p:cNvPr>
          <p:cNvSpPr txBox="1"/>
          <p:nvPr/>
        </p:nvSpPr>
        <p:spPr>
          <a:xfrm>
            <a:off x="9966878" y="4982098"/>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D5BC7282-7F19-6A1B-F19A-CE5191B7C8AC}"/>
              </a:ext>
            </a:extLst>
          </p:cNvPr>
          <p:cNvSpPr/>
          <p:nvPr/>
        </p:nvSpPr>
        <p:spPr>
          <a:xfrm>
            <a:off x="8683903" y="573076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485B099C-D6B6-3D20-76B3-E28288C71A25}"/>
              </a:ext>
            </a:extLst>
          </p:cNvPr>
          <p:cNvSpPr/>
          <p:nvPr/>
        </p:nvSpPr>
        <p:spPr>
          <a:xfrm>
            <a:off x="8683903" y="544770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C8A21E7D-F531-FF4C-B650-3250650CF5FB}"/>
              </a:ext>
            </a:extLst>
          </p:cNvPr>
          <p:cNvSpPr/>
          <p:nvPr/>
        </p:nvSpPr>
        <p:spPr>
          <a:xfrm>
            <a:off x="8683902" y="5144574"/>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E360F4E6-ADFC-5B51-B641-CE0926D90806}"/>
              </a:ext>
            </a:extLst>
          </p:cNvPr>
          <p:cNvSpPr/>
          <p:nvPr/>
        </p:nvSpPr>
        <p:spPr>
          <a:xfrm>
            <a:off x="8687862" y="6444569"/>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9CD7DFAD-5C58-6A00-2068-1FB7228432E7}"/>
              </a:ext>
            </a:extLst>
          </p:cNvPr>
          <p:cNvSpPr/>
          <p:nvPr/>
        </p:nvSpPr>
        <p:spPr>
          <a:xfrm>
            <a:off x="8683328" y="6026941"/>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5" name="Rectangle 1">
            <a:extLst>
              <a:ext uri="{FF2B5EF4-FFF2-40B4-BE49-F238E27FC236}">
                <a16:creationId xmlns:a16="http://schemas.microsoft.com/office/drawing/2014/main" id="{24E984D3-79F7-8A21-28E0-C2FC6767C689}"/>
              </a:ext>
            </a:extLst>
          </p:cNvPr>
          <p:cNvSpPr>
            <a:spLocks noChangeArrowheads="1"/>
          </p:cNvSpPr>
          <p:nvPr/>
        </p:nvSpPr>
        <p:spPr bwMode="auto">
          <a:xfrm>
            <a:off x="10080" y="2813285"/>
            <a:ext cx="8663166"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dirty="0">
                <a:latin typeface="Calibir"/>
              </a:rPr>
              <a:t>This method lets a member return a book they borrowed. If they never borrowed it, the system warns them.</a:t>
            </a:r>
            <a:endParaRPr kumimoji="0" lang="en-US" altLang="en-US" sz="2800" i="0" u="none" strike="noStrike" cap="none" normalizeH="0" baseline="0" dirty="0">
              <a:ln>
                <a:noFill/>
              </a:ln>
              <a:solidFill>
                <a:schemeClr val="tx1"/>
              </a:solidFill>
              <a:effectLst/>
              <a:latin typeface="Calibir"/>
            </a:endParaRPr>
          </a:p>
        </p:txBody>
      </p:sp>
      <p:sp>
        <p:nvSpPr>
          <p:cNvPr id="2" name="Oval 1">
            <a:extLst>
              <a:ext uri="{FF2B5EF4-FFF2-40B4-BE49-F238E27FC236}">
                <a16:creationId xmlns:a16="http://schemas.microsoft.com/office/drawing/2014/main" id="{B11D97F3-3031-C98C-1660-725842D1BA98}"/>
              </a:ext>
            </a:extLst>
          </p:cNvPr>
          <p:cNvSpPr/>
          <p:nvPr/>
        </p:nvSpPr>
        <p:spPr>
          <a:xfrm>
            <a:off x="9945446" y="5430798"/>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21721092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C200A-DC1B-05BC-20B3-3D04C2BBECE1}"/>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4B9EC00C-6D37-FA13-7853-A838FB51B378}"/>
              </a:ext>
            </a:extLst>
          </p:cNvPr>
          <p:cNvSpPr/>
          <p:nvPr/>
        </p:nvSpPr>
        <p:spPr>
          <a:xfrm>
            <a:off x="8504654" y="253240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3ACB33B1-5612-B312-5E39-8403815E0E94}"/>
              </a:ext>
            </a:extLst>
          </p:cNvPr>
          <p:cNvCxnSpPr>
            <a:cxnSpLocks/>
          </p:cNvCxnSpPr>
          <p:nvPr/>
        </p:nvCxnSpPr>
        <p:spPr>
          <a:xfrm>
            <a:off x="9630475" y="3169095"/>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50D7A08-2FF3-533D-4DF8-35B4C5F26E8A}"/>
              </a:ext>
            </a:extLst>
          </p:cNvPr>
          <p:cNvCxnSpPr>
            <a:cxnSpLocks/>
          </p:cNvCxnSpPr>
          <p:nvPr/>
        </p:nvCxnSpPr>
        <p:spPr>
          <a:xfrm flipV="1">
            <a:off x="11445912" y="1698074"/>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A1373365-211E-48C7-3CAC-34B098D8FAC9}"/>
              </a:ext>
            </a:extLst>
          </p:cNvPr>
          <p:cNvCxnSpPr>
            <a:cxnSpLocks/>
          </p:cNvCxnSpPr>
          <p:nvPr/>
        </p:nvCxnSpPr>
        <p:spPr>
          <a:xfrm>
            <a:off x="11224846" y="1709826"/>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0A9CAE87-1E9B-6084-458F-9DC121CD539A}"/>
              </a:ext>
            </a:extLst>
          </p:cNvPr>
          <p:cNvSpPr/>
          <p:nvPr/>
        </p:nvSpPr>
        <p:spPr>
          <a:xfrm>
            <a:off x="11379614" y="1877632"/>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649E9221-AC06-F42B-D6A0-69BC91329D8E}"/>
              </a:ext>
            </a:extLst>
          </p:cNvPr>
          <p:cNvCxnSpPr/>
          <p:nvPr/>
        </p:nvCxnSpPr>
        <p:spPr>
          <a:xfrm>
            <a:off x="9685903" y="2988399"/>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67E36402-706E-7999-339B-D208FE2726A7}"/>
              </a:ext>
            </a:extLst>
          </p:cNvPr>
          <p:cNvSpPr txBox="1"/>
          <p:nvPr/>
        </p:nvSpPr>
        <p:spPr>
          <a:xfrm>
            <a:off x="10423171" y="1714044"/>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D87EFD4F-CC3C-0C31-46E4-C38EBA84F082}"/>
              </a:ext>
            </a:extLst>
          </p:cNvPr>
          <p:cNvSpPr txBox="1"/>
          <p:nvPr/>
        </p:nvSpPr>
        <p:spPr>
          <a:xfrm>
            <a:off x="9211568" y="2080274"/>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EC26B549-9C4F-0CCA-BEAC-C8EFDBB7C1B6}"/>
              </a:ext>
            </a:extLst>
          </p:cNvPr>
          <p:cNvSpPr/>
          <p:nvPr/>
        </p:nvSpPr>
        <p:spPr>
          <a:xfrm>
            <a:off x="8504653" y="400529"/>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415D932F-BFD7-5BA8-5E50-D5B92AD3C93E}"/>
              </a:ext>
            </a:extLst>
          </p:cNvPr>
          <p:cNvSpPr/>
          <p:nvPr/>
        </p:nvSpPr>
        <p:spPr>
          <a:xfrm>
            <a:off x="10900015" y="411287"/>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F10122F2-DC16-EEB5-6893-DFB7C01A2780}"/>
              </a:ext>
            </a:extLst>
          </p:cNvPr>
          <p:cNvCxnSpPr/>
          <p:nvPr/>
        </p:nvCxnSpPr>
        <p:spPr>
          <a:xfrm>
            <a:off x="9618750" y="1043081"/>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75EA0829-B53E-961A-E023-B7E2AC2AED35}"/>
              </a:ext>
            </a:extLst>
          </p:cNvPr>
          <p:cNvCxnSpPr>
            <a:cxnSpLocks/>
          </p:cNvCxnSpPr>
          <p:nvPr/>
        </p:nvCxnSpPr>
        <p:spPr>
          <a:xfrm flipV="1">
            <a:off x="10701315" y="901190"/>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2304888F-C086-9045-6BF2-618C5B9E196C}"/>
              </a:ext>
            </a:extLst>
          </p:cNvPr>
          <p:cNvCxnSpPr>
            <a:cxnSpLocks/>
          </p:cNvCxnSpPr>
          <p:nvPr/>
        </p:nvCxnSpPr>
        <p:spPr>
          <a:xfrm>
            <a:off x="10701315" y="1043081"/>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3A4F0F32-6525-9C9E-8E65-A6D3E36CB5E7}"/>
              </a:ext>
            </a:extLst>
          </p:cNvPr>
          <p:cNvSpPr/>
          <p:nvPr/>
        </p:nvSpPr>
        <p:spPr>
          <a:xfrm>
            <a:off x="10486726" y="972135"/>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94FBE4E7-3E2C-C165-8850-90622D8ADBDE}"/>
              </a:ext>
            </a:extLst>
          </p:cNvPr>
          <p:cNvCxnSpPr/>
          <p:nvPr/>
        </p:nvCxnSpPr>
        <p:spPr>
          <a:xfrm>
            <a:off x="9685902" y="856523"/>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08DDF5BD-20C8-CB7D-F958-E8129AEA0E47}"/>
              </a:ext>
            </a:extLst>
          </p:cNvPr>
          <p:cNvSpPr txBox="1"/>
          <p:nvPr/>
        </p:nvSpPr>
        <p:spPr>
          <a:xfrm>
            <a:off x="10331814" y="-51602"/>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54711F3B-67BC-F986-8359-65A5019956C0}"/>
              </a:ext>
            </a:extLst>
          </p:cNvPr>
          <p:cNvSpPr txBox="1"/>
          <p:nvPr/>
        </p:nvSpPr>
        <p:spPr>
          <a:xfrm>
            <a:off x="9211567" y="-51602"/>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3D3672B1-20F9-C0D0-8F17-66FEDAD5E2E2}"/>
              </a:ext>
            </a:extLst>
          </p:cNvPr>
          <p:cNvSpPr/>
          <p:nvPr/>
        </p:nvSpPr>
        <p:spPr>
          <a:xfrm>
            <a:off x="8504652" y="13669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2CE2CD7C-77FD-0ADE-3FE9-EBF956B1276B}"/>
              </a:ext>
            </a:extLst>
          </p:cNvPr>
          <p:cNvSpPr/>
          <p:nvPr/>
        </p:nvSpPr>
        <p:spPr>
          <a:xfrm>
            <a:off x="8504652" y="10615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167B2156-B273-8099-F4FD-20E7D6844984}"/>
              </a:ext>
            </a:extLst>
          </p:cNvPr>
          <p:cNvSpPr txBox="1"/>
          <p:nvPr/>
        </p:nvSpPr>
        <p:spPr>
          <a:xfrm>
            <a:off x="9768616" y="577474"/>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952F7E9E-D9E6-F611-4B42-8D5E8182F629}"/>
              </a:ext>
            </a:extLst>
          </p:cNvPr>
          <p:cNvSpPr/>
          <p:nvPr/>
        </p:nvSpPr>
        <p:spPr>
          <a:xfrm>
            <a:off x="10895014" y="1378552"/>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1B9F052A-001C-C9EF-A794-260ABA641EAB}"/>
              </a:ext>
            </a:extLst>
          </p:cNvPr>
          <p:cNvSpPr/>
          <p:nvPr/>
        </p:nvSpPr>
        <p:spPr>
          <a:xfrm>
            <a:off x="10895014" y="1073191"/>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4565AE45-5FE9-4FAE-7DEE-1E372D87AFE5}"/>
              </a:ext>
            </a:extLst>
          </p:cNvPr>
          <p:cNvSpPr/>
          <p:nvPr/>
        </p:nvSpPr>
        <p:spPr>
          <a:xfrm>
            <a:off x="10895013" y="77005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9CF41E22-AE70-73C5-174F-80F6C443781A}"/>
              </a:ext>
            </a:extLst>
          </p:cNvPr>
          <p:cNvCxnSpPr>
            <a:cxnSpLocks/>
            <a:endCxn id="61" idx="2"/>
          </p:cNvCxnSpPr>
          <p:nvPr/>
        </p:nvCxnSpPr>
        <p:spPr>
          <a:xfrm flipH="1" flipV="1">
            <a:off x="11452063" y="1683911"/>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7EA928DC-B005-969E-68A4-1D3D33CD2016}"/>
              </a:ext>
            </a:extLst>
          </p:cNvPr>
          <p:cNvSpPr txBox="1"/>
          <p:nvPr/>
        </p:nvSpPr>
        <p:spPr>
          <a:xfrm>
            <a:off x="9788202" y="2658030"/>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F56525BE-C8B8-436C-A0F7-9CC6D9BABA4E}"/>
              </a:ext>
            </a:extLst>
          </p:cNvPr>
          <p:cNvSpPr/>
          <p:nvPr/>
        </p:nvSpPr>
        <p:spPr>
          <a:xfrm>
            <a:off x="8505227" y="340669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3FD0073D-D558-BA52-2A0A-6ACF48951731}"/>
              </a:ext>
            </a:extLst>
          </p:cNvPr>
          <p:cNvSpPr/>
          <p:nvPr/>
        </p:nvSpPr>
        <p:spPr>
          <a:xfrm>
            <a:off x="8505227" y="312363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6A416A19-7F25-32D5-35B8-7DECE746AD97}"/>
              </a:ext>
            </a:extLst>
          </p:cNvPr>
          <p:cNvSpPr/>
          <p:nvPr/>
        </p:nvSpPr>
        <p:spPr>
          <a:xfrm>
            <a:off x="8505226" y="282050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CBAE0F89-5C3E-2A39-2895-3FEB91C8542B}"/>
              </a:ext>
            </a:extLst>
          </p:cNvPr>
          <p:cNvSpPr/>
          <p:nvPr/>
        </p:nvSpPr>
        <p:spPr>
          <a:xfrm>
            <a:off x="8509186" y="4120501"/>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7AA362B3-22F5-A684-31F2-D80DE62FC084}"/>
              </a:ext>
            </a:extLst>
          </p:cNvPr>
          <p:cNvSpPr/>
          <p:nvPr/>
        </p:nvSpPr>
        <p:spPr>
          <a:xfrm>
            <a:off x="8504652" y="3702873"/>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6" name="TextBox 5">
            <a:extLst>
              <a:ext uri="{FF2B5EF4-FFF2-40B4-BE49-F238E27FC236}">
                <a16:creationId xmlns:a16="http://schemas.microsoft.com/office/drawing/2014/main" id="{0F3B6BCB-139F-E83C-A841-CB9BF9AD8CD6}"/>
              </a:ext>
            </a:extLst>
          </p:cNvPr>
          <p:cNvSpPr txBox="1"/>
          <p:nvPr/>
        </p:nvSpPr>
        <p:spPr>
          <a:xfrm>
            <a:off x="5785" y="-7708"/>
            <a:ext cx="8447718" cy="3170099"/>
          </a:xfrm>
          <a:prstGeom prst="rect">
            <a:avLst/>
          </a:prstGeom>
          <a:solidFill>
            <a:schemeClr val="tx1"/>
          </a:solidFill>
        </p:spPr>
        <p:txBody>
          <a:bodyPr wrap="square">
            <a:spAutoFit/>
          </a:bodyPr>
          <a:lstStyle/>
          <a:p>
            <a:pPr>
              <a:buNone/>
            </a:pPr>
            <a:r>
              <a:rPr lang="en-US" sz="2500" dirty="0">
                <a:solidFill>
                  <a:srgbClr val="569CD6"/>
                </a:solidFill>
                <a:latin typeface="Consolas" panose="020B0609020204030204" pitchFamily="49" charset="0"/>
              </a:rPr>
              <a:t>class</a:t>
            </a:r>
            <a:r>
              <a:rPr lang="en-US" sz="2500" dirty="0">
                <a:solidFill>
                  <a:srgbClr val="CCCCCC"/>
                </a:solidFill>
                <a:latin typeface="Consolas" panose="020B0609020204030204" pitchFamily="49" charset="0"/>
              </a:rPr>
              <a:t> </a:t>
            </a:r>
            <a:r>
              <a:rPr lang="en-US" sz="2500" dirty="0">
                <a:solidFill>
                  <a:srgbClr val="4EC9B0"/>
                </a:solidFill>
                <a:latin typeface="Consolas" panose="020B0609020204030204" pitchFamily="49" charset="0"/>
              </a:rPr>
              <a:t>Library</a:t>
            </a:r>
            <a:r>
              <a:rPr lang="en-US" sz="2500" dirty="0">
                <a:solidFill>
                  <a:srgbClr val="CCCCCC"/>
                </a:solidFill>
                <a:latin typeface="Consolas" panose="020B0609020204030204" pitchFamily="49" charset="0"/>
              </a:rPr>
              <a:t>:</a:t>
            </a:r>
          </a:p>
          <a:p>
            <a:pPr>
              <a:buNone/>
            </a:pPr>
            <a:r>
              <a:rPr lang="en-US" sz="2500" dirty="0">
                <a:solidFill>
                  <a:srgbClr val="CCCCCC"/>
                </a:solidFill>
                <a:latin typeface="Consolas" panose="020B0609020204030204" pitchFamily="49" charset="0"/>
              </a:rPr>
              <a:t>    </a:t>
            </a:r>
            <a:r>
              <a:rPr lang="en-US" sz="2500" dirty="0">
                <a:solidFill>
                  <a:srgbClr val="569CD6"/>
                </a:solidFill>
                <a:latin typeface="Consolas" panose="020B0609020204030204" pitchFamily="49" charset="0"/>
              </a:rPr>
              <a:t>def</a:t>
            </a:r>
            <a:r>
              <a:rPr lang="en-US" sz="2500" dirty="0">
                <a:solidFill>
                  <a:srgbClr val="CCCCCC"/>
                </a:solidFill>
                <a:latin typeface="Consolas" panose="020B0609020204030204" pitchFamily="49" charset="0"/>
              </a:rPr>
              <a:t> </a:t>
            </a:r>
            <a:r>
              <a:rPr lang="en-US" sz="2500" dirty="0">
                <a:solidFill>
                  <a:srgbClr val="DCDCAA"/>
                </a:solidFill>
                <a:latin typeface="Consolas" panose="020B0609020204030204" pitchFamily="49" charset="0"/>
              </a:rPr>
              <a:t>__</a:t>
            </a:r>
            <a:r>
              <a:rPr lang="en-US" sz="2500" dirty="0" err="1">
                <a:solidFill>
                  <a:srgbClr val="DCDCAA"/>
                </a:solidFill>
                <a:latin typeface="Consolas" panose="020B0609020204030204" pitchFamily="49" charset="0"/>
              </a:rPr>
              <a:t>init</a:t>
            </a:r>
            <a:r>
              <a:rPr lang="en-US" sz="2500" dirty="0">
                <a:solidFill>
                  <a:srgbClr val="DCDCAA"/>
                </a:solidFill>
                <a:latin typeface="Consolas" panose="020B0609020204030204" pitchFamily="49" charset="0"/>
              </a:rPr>
              <a:t>__</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self</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name</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address</a:t>
            </a:r>
            <a:r>
              <a:rPr lang="en-US" sz="2500" dirty="0">
                <a:solidFill>
                  <a:srgbClr val="CCCCCC"/>
                </a:solidFill>
                <a:latin typeface="Consolas" panose="020B0609020204030204" pitchFamily="49" charset="0"/>
              </a:rPr>
              <a:t>):</a:t>
            </a:r>
          </a:p>
          <a:p>
            <a:pPr>
              <a:buNone/>
            </a:pP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self</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name</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name</a:t>
            </a:r>
            <a:endParaRPr lang="en-US" sz="2500" dirty="0">
              <a:solidFill>
                <a:srgbClr val="CCCCCC"/>
              </a:solidFill>
              <a:latin typeface="Consolas" panose="020B0609020204030204" pitchFamily="49" charset="0"/>
            </a:endParaRPr>
          </a:p>
          <a:p>
            <a:pPr>
              <a:buNone/>
            </a:pP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self</a:t>
            </a:r>
            <a:r>
              <a:rPr lang="en-US" sz="2500" dirty="0" err="1">
                <a:solidFill>
                  <a:srgbClr val="CCCCCC"/>
                </a:solidFill>
                <a:latin typeface="Consolas" panose="020B0609020204030204" pitchFamily="49" charset="0"/>
              </a:rPr>
              <a:t>.</a:t>
            </a:r>
            <a:r>
              <a:rPr lang="en-US" sz="2500" dirty="0" err="1">
                <a:solidFill>
                  <a:srgbClr val="9CDCFE"/>
                </a:solidFill>
                <a:latin typeface="Consolas" panose="020B0609020204030204" pitchFamily="49" charset="0"/>
              </a:rPr>
              <a:t>address</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address</a:t>
            </a:r>
            <a:endParaRPr lang="en-US" sz="2500" dirty="0">
              <a:solidFill>
                <a:srgbClr val="CCCCCC"/>
              </a:solidFill>
              <a:latin typeface="Consolas" panose="020B0609020204030204" pitchFamily="49" charset="0"/>
            </a:endParaRPr>
          </a:p>
          <a:p>
            <a:pPr>
              <a:buNone/>
            </a:pP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self</a:t>
            </a:r>
            <a:r>
              <a:rPr lang="en-US" sz="2500" dirty="0" err="1">
                <a:solidFill>
                  <a:srgbClr val="CCCCCC"/>
                </a:solidFill>
                <a:latin typeface="Consolas" panose="020B0609020204030204" pitchFamily="49" charset="0"/>
              </a:rPr>
              <a:t>.</a:t>
            </a:r>
            <a:r>
              <a:rPr lang="en-US" sz="2500" dirty="0" err="1">
                <a:solidFill>
                  <a:srgbClr val="9CDCFE"/>
                </a:solidFill>
                <a:latin typeface="Consolas" panose="020B0609020204030204" pitchFamily="49" charset="0"/>
              </a:rPr>
              <a:t>books</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p>
          <a:p>
            <a:pPr>
              <a:buNone/>
            </a:pPr>
            <a:br>
              <a:rPr lang="en-US" sz="2500" dirty="0">
                <a:solidFill>
                  <a:srgbClr val="CCCCCC"/>
                </a:solidFill>
                <a:latin typeface="Consolas" panose="020B0609020204030204" pitchFamily="49" charset="0"/>
              </a:rPr>
            </a:br>
            <a:r>
              <a:rPr lang="en-US" sz="2500" dirty="0">
                <a:solidFill>
                  <a:srgbClr val="CCCCCC"/>
                </a:solidFill>
                <a:latin typeface="Consolas" panose="020B0609020204030204" pitchFamily="49" charset="0"/>
              </a:rPr>
              <a:t>    </a:t>
            </a:r>
            <a:r>
              <a:rPr lang="en-US" sz="2500" dirty="0">
                <a:solidFill>
                  <a:srgbClr val="569CD6"/>
                </a:solidFill>
                <a:latin typeface="Consolas" panose="020B0609020204030204" pitchFamily="49" charset="0"/>
              </a:rPr>
              <a:t>def</a:t>
            </a:r>
            <a:r>
              <a:rPr lang="en-US" sz="2500" dirty="0">
                <a:solidFill>
                  <a:srgbClr val="CCCCCC"/>
                </a:solidFill>
                <a:latin typeface="Consolas" panose="020B0609020204030204" pitchFamily="49" charset="0"/>
              </a:rPr>
              <a:t> </a:t>
            </a:r>
            <a:r>
              <a:rPr lang="en-US" sz="2500" dirty="0" err="1">
                <a:solidFill>
                  <a:srgbClr val="DCDCAA"/>
                </a:solidFill>
                <a:latin typeface="Consolas" panose="020B0609020204030204" pitchFamily="49" charset="0"/>
              </a:rPr>
              <a:t>add_book</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self</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book</a:t>
            </a:r>
            <a:r>
              <a:rPr lang="en-US" sz="2500" dirty="0">
                <a:solidFill>
                  <a:srgbClr val="CCCCCC"/>
                </a:solidFill>
                <a:latin typeface="Consolas" panose="020B0609020204030204" pitchFamily="49" charset="0"/>
              </a:rPr>
              <a:t>):</a:t>
            </a:r>
          </a:p>
          <a:p>
            <a:pPr>
              <a:buNone/>
            </a:pP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self</a:t>
            </a:r>
            <a:r>
              <a:rPr lang="en-US" sz="2500" dirty="0" err="1">
                <a:solidFill>
                  <a:srgbClr val="CCCCCC"/>
                </a:solidFill>
                <a:latin typeface="Consolas" panose="020B0609020204030204" pitchFamily="49" charset="0"/>
              </a:rPr>
              <a:t>.</a:t>
            </a:r>
            <a:r>
              <a:rPr lang="en-US" sz="2500" dirty="0" err="1">
                <a:solidFill>
                  <a:srgbClr val="9CDCFE"/>
                </a:solidFill>
                <a:latin typeface="Consolas" panose="020B0609020204030204" pitchFamily="49" charset="0"/>
              </a:rPr>
              <a:t>books</a:t>
            </a:r>
            <a:r>
              <a:rPr lang="en-US" sz="2500" dirty="0" err="1">
                <a:solidFill>
                  <a:srgbClr val="CCCCCC"/>
                </a:solidFill>
                <a:latin typeface="Consolas" panose="020B0609020204030204" pitchFamily="49" charset="0"/>
              </a:rPr>
              <a:t>.</a:t>
            </a:r>
            <a:r>
              <a:rPr lang="en-US" sz="2500" dirty="0" err="1">
                <a:solidFill>
                  <a:srgbClr val="DCDCAA"/>
                </a:solidFill>
                <a:latin typeface="Consolas" panose="020B0609020204030204" pitchFamily="49" charset="0"/>
              </a:rPr>
              <a:t>append</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book</a:t>
            </a:r>
            <a:r>
              <a:rPr lang="en-US" sz="2500" dirty="0">
                <a:solidFill>
                  <a:srgbClr val="CCCCCC"/>
                </a:solidFill>
                <a:latin typeface="Consolas" panose="020B0609020204030204" pitchFamily="49" charset="0"/>
              </a:rPr>
              <a:t>)</a:t>
            </a:r>
          </a:p>
        </p:txBody>
      </p:sp>
      <p:sp>
        <p:nvSpPr>
          <p:cNvPr id="5" name="Rectangle 1">
            <a:extLst>
              <a:ext uri="{FF2B5EF4-FFF2-40B4-BE49-F238E27FC236}">
                <a16:creationId xmlns:a16="http://schemas.microsoft.com/office/drawing/2014/main" id="{73D444FB-B84E-A708-DFDA-33D38771290E}"/>
              </a:ext>
            </a:extLst>
          </p:cNvPr>
          <p:cNvSpPr>
            <a:spLocks noChangeArrowheads="1"/>
          </p:cNvSpPr>
          <p:nvPr/>
        </p:nvSpPr>
        <p:spPr bwMode="auto">
          <a:xfrm>
            <a:off x="0" y="3123639"/>
            <a:ext cx="8447719"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Library class</a:t>
            </a:r>
          </a:p>
          <a:p>
            <a:pPr marL="914400" lvl="1" indent="-457200" eaLnBrk="0" fontAlgn="base" hangingPunct="0">
              <a:lnSpc>
                <a:spcPct val="150000"/>
              </a:lnSpc>
              <a:spcBef>
                <a:spcPct val="0"/>
              </a:spcBef>
              <a:spcAft>
                <a:spcPct val="0"/>
              </a:spcAft>
              <a:buFont typeface="Arial" panose="020B0604020202020204" pitchFamily="34" charset="0"/>
              <a:buChar char="•"/>
            </a:pPr>
            <a:r>
              <a:rPr kumimoji="0" lang="en-US" altLang="en-US" sz="2800" i="0" u="none" strike="noStrike" cap="none" normalizeH="0" baseline="0" dirty="0">
                <a:ln>
                  <a:noFill/>
                </a:ln>
                <a:solidFill>
                  <a:schemeClr val="tx1"/>
                </a:solidFill>
                <a:effectLst/>
                <a:latin typeface="Calibir"/>
              </a:rPr>
              <a:t>Has a name, address, and a list of books.</a:t>
            </a:r>
          </a:p>
          <a:p>
            <a:pPr marL="914400" lvl="1" indent="-457200" eaLnBrk="0" fontAlgn="base" hangingPunct="0">
              <a:lnSpc>
                <a:spcPct val="150000"/>
              </a:lnSpc>
              <a:spcBef>
                <a:spcPct val="0"/>
              </a:spcBef>
              <a:spcAft>
                <a:spcPct val="0"/>
              </a:spcAft>
              <a:buFont typeface="Arial" panose="020B0604020202020204" pitchFamily="34" charset="0"/>
              <a:buChar char="•"/>
            </a:pPr>
            <a:r>
              <a:rPr kumimoji="0" lang="en-US" altLang="en-US" sz="2800" i="0" u="none" strike="noStrike" cap="none" normalizeH="0" baseline="0" dirty="0" err="1">
                <a:ln>
                  <a:noFill/>
                </a:ln>
                <a:solidFill>
                  <a:schemeClr val="tx1"/>
                </a:solidFill>
                <a:effectLst/>
                <a:latin typeface="Calibir"/>
              </a:rPr>
              <a:t>add_book</a:t>
            </a:r>
            <a:r>
              <a:rPr kumimoji="0" lang="en-US" altLang="en-US" sz="2800" i="0" u="none" strike="noStrike" cap="none" normalizeH="0" baseline="0" dirty="0">
                <a:ln>
                  <a:noFill/>
                </a:ln>
                <a:solidFill>
                  <a:schemeClr val="tx1"/>
                </a:solidFill>
                <a:effectLst/>
                <a:latin typeface="Calibir"/>
              </a:rPr>
              <a:t>(book) → puts new books into the library.</a:t>
            </a:r>
          </a:p>
        </p:txBody>
      </p:sp>
      <p:sp>
        <p:nvSpPr>
          <p:cNvPr id="2" name="Oval 1">
            <a:extLst>
              <a:ext uri="{FF2B5EF4-FFF2-40B4-BE49-F238E27FC236}">
                <a16:creationId xmlns:a16="http://schemas.microsoft.com/office/drawing/2014/main" id="{F232E33C-8364-A4EC-802C-CD51B5C368EF}"/>
              </a:ext>
            </a:extLst>
          </p:cNvPr>
          <p:cNvSpPr/>
          <p:nvPr/>
        </p:nvSpPr>
        <p:spPr>
          <a:xfrm>
            <a:off x="9754935" y="3112668"/>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53036470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3007E-4E35-0469-FDD0-767EB22BF7E4}"/>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BB991160-805A-D7B8-75DE-8A0CF31CBB90}"/>
              </a:ext>
            </a:extLst>
          </p:cNvPr>
          <p:cNvSpPr txBox="1"/>
          <p:nvPr/>
        </p:nvSpPr>
        <p:spPr>
          <a:xfrm>
            <a:off x="0" y="-8983"/>
            <a:ext cx="12192000" cy="5093702"/>
          </a:xfrm>
          <a:prstGeom prst="rect">
            <a:avLst/>
          </a:prstGeom>
          <a:solidFill>
            <a:schemeClr val="tx1"/>
          </a:solidFill>
        </p:spPr>
        <p:txBody>
          <a:bodyPr wrap="square">
            <a:spAutoFit/>
          </a:bodyPr>
          <a:lstStyle/>
          <a:p>
            <a:pPr>
              <a:buNone/>
            </a:pPr>
            <a:r>
              <a:rPr lang="en-US" sz="2500" dirty="0">
                <a:solidFill>
                  <a:srgbClr val="6A9955"/>
                </a:solidFill>
                <a:latin typeface="Consolas" panose="020B0609020204030204" pitchFamily="49" charset="0"/>
              </a:rPr>
              <a:t># --- Example usage ---</a:t>
            </a:r>
            <a:endParaRPr lang="en-US" sz="2500" dirty="0">
              <a:solidFill>
                <a:srgbClr val="CCCCCC"/>
              </a:solidFill>
              <a:latin typeface="Consolas" panose="020B0609020204030204" pitchFamily="49" charset="0"/>
            </a:endParaRPr>
          </a:p>
          <a:p>
            <a:pPr>
              <a:buNone/>
            </a:pPr>
            <a:r>
              <a:rPr lang="en-US" sz="2500" dirty="0">
                <a:solidFill>
                  <a:srgbClr val="9CDCFE"/>
                </a:solidFill>
                <a:latin typeface="Consolas" panose="020B0609020204030204" pitchFamily="49" charset="0"/>
              </a:rPr>
              <a:t>library</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4EC9B0"/>
                </a:solidFill>
                <a:latin typeface="Consolas" panose="020B0609020204030204" pitchFamily="49" charset="0"/>
              </a:rPr>
              <a:t>Library</a:t>
            </a:r>
            <a:r>
              <a:rPr lang="en-US" sz="2500" dirty="0">
                <a:solidFill>
                  <a:srgbClr val="CCCCCC"/>
                </a:solidFill>
                <a:latin typeface="Consolas" panose="020B0609020204030204" pitchFamily="49" charset="0"/>
              </a:rPr>
              <a:t>(</a:t>
            </a:r>
            <a:r>
              <a:rPr lang="en-US" sz="2500" dirty="0">
                <a:solidFill>
                  <a:srgbClr val="CE9178"/>
                </a:solidFill>
                <a:latin typeface="Consolas" panose="020B0609020204030204" pitchFamily="49" charset="0"/>
              </a:rPr>
              <a:t>"Sydney Library"</a:t>
            </a:r>
            <a:r>
              <a:rPr lang="en-US" sz="2500" dirty="0">
                <a:solidFill>
                  <a:srgbClr val="CCCCCC"/>
                </a:solidFill>
                <a:latin typeface="Consolas" panose="020B0609020204030204" pitchFamily="49" charset="0"/>
              </a:rPr>
              <a:t>, </a:t>
            </a:r>
            <a:r>
              <a:rPr lang="en-US" sz="2500" dirty="0">
                <a:solidFill>
                  <a:srgbClr val="CE9178"/>
                </a:solidFill>
                <a:latin typeface="Consolas" panose="020B0609020204030204" pitchFamily="49" charset="0"/>
              </a:rPr>
              <a:t>"123 George St"</a:t>
            </a:r>
            <a:r>
              <a:rPr lang="en-US" sz="2500" dirty="0">
                <a:solidFill>
                  <a:srgbClr val="CCCCCC"/>
                </a:solidFill>
                <a:latin typeface="Consolas" panose="020B0609020204030204" pitchFamily="49" charset="0"/>
              </a:rPr>
              <a:t>)</a:t>
            </a:r>
          </a:p>
          <a:p>
            <a:pPr>
              <a:buNone/>
            </a:pPr>
            <a:r>
              <a:rPr lang="en-US" sz="2500" dirty="0">
                <a:solidFill>
                  <a:srgbClr val="9CDCFE"/>
                </a:solidFill>
                <a:latin typeface="Consolas" panose="020B0609020204030204" pitchFamily="49" charset="0"/>
              </a:rPr>
              <a:t>book1</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4EC9B0"/>
                </a:solidFill>
                <a:latin typeface="Consolas" panose="020B0609020204030204" pitchFamily="49" charset="0"/>
              </a:rPr>
              <a:t>Book</a:t>
            </a:r>
            <a:r>
              <a:rPr lang="en-US" sz="2500" dirty="0">
                <a:solidFill>
                  <a:srgbClr val="CCCCCC"/>
                </a:solidFill>
                <a:latin typeface="Consolas" panose="020B0609020204030204" pitchFamily="49" charset="0"/>
              </a:rPr>
              <a:t>(</a:t>
            </a:r>
            <a:r>
              <a:rPr lang="en-US" sz="2500" dirty="0">
                <a:solidFill>
                  <a:srgbClr val="CE9178"/>
                </a:solidFill>
                <a:latin typeface="Consolas" panose="020B0609020204030204" pitchFamily="49" charset="0"/>
              </a:rPr>
              <a:t>"Python Basics"</a:t>
            </a:r>
            <a:r>
              <a:rPr lang="en-US" sz="2500" dirty="0">
                <a:solidFill>
                  <a:srgbClr val="CCCCCC"/>
                </a:solidFill>
                <a:latin typeface="Consolas" panose="020B0609020204030204" pitchFamily="49" charset="0"/>
              </a:rPr>
              <a:t>, </a:t>
            </a:r>
            <a:r>
              <a:rPr lang="en-US" sz="2500" dirty="0">
                <a:solidFill>
                  <a:srgbClr val="CE9178"/>
                </a:solidFill>
                <a:latin typeface="Consolas" panose="020B0609020204030204" pitchFamily="49" charset="0"/>
              </a:rPr>
              <a:t>"111"</a:t>
            </a:r>
            <a:r>
              <a:rPr lang="en-US" sz="2500" dirty="0">
                <a:solidFill>
                  <a:srgbClr val="CCCCCC"/>
                </a:solidFill>
                <a:latin typeface="Consolas" panose="020B0609020204030204" pitchFamily="49" charset="0"/>
              </a:rPr>
              <a:t>)</a:t>
            </a:r>
          </a:p>
          <a:p>
            <a:pPr>
              <a:buNone/>
            </a:pPr>
            <a:r>
              <a:rPr lang="en-US" sz="2500" dirty="0">
                <a:solidFill>
                  <a:srgbClr val="9CDCFE"/>
                </a:solidFill>
                <a:latin typeface="Consolas" panose="020B0609020204030204" pitchFamily="49" charset="0"/>
              </a:rPr>
              <a:t>book2</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4EC9B0"/>
                </a:solidFill>
                <a:latin typeface="Consolas" panose="020B0609020204030204" pitchFamily="49" charset="0"/>
              </a:rPr>
              <a:t>Book</a:t>
            </a:r>
            <a:r>
              <a:rPr lang="en-US" sz="2500" dirty="0">
                <a:solidFill>
                  <a:srgbClr val="CCCCCC"/>
                </a:solidFill>
                <a:latin typeface="Consolas" panose="020B0609020204030204" pitchFamily="49" charset="0"/>
              </a:rPr>
              <a:t>(</a:t>
            </a:r>
            <a:r>
              <a:rPr lang="en-US" sz="2500" dirty="0">
                <a:solidFill>
                  <a:srgbClr val="CE9178"/>
                </a:solidFill>
                <a:latin typeface="Consolas" panose="020B0609020204030204" pitchFamily="49" charset="0"/>
              </a:rPr>
              <a:t>"Java Programming"</a:t>
            </a:r>
            <a:r>
              <a:rPr lang="en-US" sz="2500" dirty="0">
                <a:solidFill>
                  <a:srgbClr val="CCCCCC"/>
                </a:solidFill>
                <a:latin typeface="Consolas" panose="020B0609020204030204" pitchFamily="49" charset="0"/>
              </a:rPr>
              <a:t>, </a:t>
            </a:r>
            <a:r>
              <a:rPr lang="en-US" sz="2500" dirty="0">
                <a:solidFill>
                  <a:srgbClr val="CE9178"/>
                </a:solidFill>
                <a:latin typeface="Consolas" panose="020B0609020204030204" pitchFamily="49" charset="0"/>
              </a:rPr>
              <a:t>"222"</a:t>
            </a:r>
            <a:r>
              <a:rPr lang="en-US" sz="2500" dirty="0">
                <a:solidFill>
                  <a:srgbClr val="CCCCCC"/>
                </a:solidFill>
                <a:latin typeface="Consolas" panose="020B0609020204030204" pitchFamily="49" charset="0"/>
              </a:rPr>
              <a:t>)</a:t>
            </a:r>
          </a:p>
          <a:p>
            <a:pPr>
              <a:buNone/>
            </a:pPr>
            <a:r>
              <a:rPr lang="en-US" sz="2500" dirty="0" err="1">
                <a:solidFill>
                  <a:srgbClr val="9CDCFE"/>
                </a:solidFill>
                <a:latin typeface="Consolas" panose="020B0609020204030204" pitchFamily="49" charset="0"/>
              </a:rPr>
              <a:t>library</a:t>
            </a:r>
            <a:r>
              <a:rPr lang="en-US" sz="2500" dirty="0" err="1">
                <a:solidFill>
                  <a:srgbClr val="CCCCCC"/>
                </a:solidFill>
                <a:latin typeface="Consolas" panose="020B0609020204030204" pitchFamily="49" charset="0"/>
              </a:rPr>
              <a:t>.</a:t>
            </a:r>
            <a:r>
              <a:rPr lang="en-US" sz="2500" dirty="0" err="1">
                <a:solidFill>
                  <a:srgbClr val="DCDCAA"/>
                </a:solidFill>
                <a:latin typeface="Consolas" panose="020B0609020204030204" pitchFamily="49" charset="0"/>
              </a:rPr>
              <a:t>add_book</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book1</a:t>
            </a:r>
            <a:r>
              <a:rPr lang="en-US" sz="2500" dirty="0">
                <a:solidFill>
                  <a:srgbClr val="CCCCCC"/>
                </a:solidFill>
                <a:latin typeface="Consolas" panose="020B0609020204030204" pitchFamily="49" charset="0"/>
              </a:rPr>
              <a:t>)</a:t>
            </a:r>
          </a:p>
          <a:p>
            <a:pPr>
              <a:buNone/>
            </a:pPr>
            <a:r>
              <a:rPr lang="en-US" sz="2500" dirty="0" err="1">
                <a:solidFill>
                  <a:srgbClr val="9CDCFE"/>
                </a:solidFill>
                <a:latin typeface="Consolas" panose="020B0609020204030204" pitchFamily="49" charset="0"/>
              </a:rPr>
              <a:t>library</a:t>
            </a:r>
            <a:r>
              <a:rPr lang="en-US" sz="2500" dirty="0" err="1">
                <a:solidFill>
                  <a:srgbClr val="CCCCCC"/>
                </a:solidFill>
                <a:latin typeface="Consolas" panose="020B0609020204030204" pitchFamily="49" charset="0"/>
              </a:rPr>
              <a:t>.</a:t>
            </a:r>
            <a:r>
              <a:rPr lang="en-US" sz="2500" dirty="0" err="1">
                <a:solidFill>
                  <a:srgbClr val="DCDCAA"/>
                </a:solidFill>
                <a:latin typeface="Consolas" panose="020B0609020204030204" pitchFamily="49" charset="0"/>
              </a:rPr>
              <a:t>add_book</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book2</a:t>
            </a:r>
            <a:r>
              <a:rPr lang="en-US" sz="2500" dirty="0">
                <a:solidFill>
                  <a:srgbClr val="CCCCCC"/>
                </a:solidFill>
                <a:latin typeface="Consolas" panose="020B0609020204030204" pitchFamily="49" charset="0"/>
              </a:rPr>
              <a:t>)</a:t>
            </a:r>
          </a:p>
          <a:p>
            <a:pPr>
              <a:buNone/>
            </a:pPr>
            <a:br>
              <a:rPr lang="en-US" sz="2500" dirty="0">
                <a:solidFill>
                  <a:srgbClr val="CCCCCC"/>
                </a:solidFill>
                <a:latin typeface="Consolas" panose="020B0609020204030204" pitchFamily="49" charset="0"/>
              </a:rPr>
            </a:br>
            <a:r>
              <a:rPr lang="en-US" sz="2500" dirty="0">
                <a:solidFill>
                  <a:srgbClr val="9CDCFE"/>
                </a:solidFill>
                <a:latin typeface="Consolas" panose="020B0609020204030204" pitchFamily="49" charset="0"/>
              </a:rPr>
              <a:t>member</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4EC9B0"/>
                </a:solidFill>
                <a:latin typeface="Consolas" panose="020B0609020204030204" pitchFamily="49" charset="0"/>
              </a:rPr>
              <a:t>Member</a:t>
            </a:r>
            <a:r>
              <a:rPr lang="en-US" sz="2500" dirty="0">
                <a:solidFill>
                  <a:srgbClr val="CCCCCC"/>
                </a:solidFill>
                <a:latin typeface="Consolas" panose="020B0609020204030204" pitchFamily="49" charset="0"/>
              </a:rPr>
              <a:t>(</a:t>
            </a:r>
            <a:r>
              <a:rPr lang="en-US" sz="2500" dirty="0">
                <a:solidFill>
                  <a:srgbClr val="B5CEA8"/>
                </a:solidFill>
                <a:latin typeface="Consolas" panose="020B0609020204030204" pitchFamily="49" charset="0"/>
              </a:rPr>
              <a:t>1</a:t>
            </a:r>
            <a:r>
              <a:rPr lang="en-US" sz="2500" dirty="0">
                <a:solidFill>
                  <a:srgbClr val="CCCCCC"/>
                </a:solidFill>
                <a:latin typeface="Consolas" panose="020B0609020204030204" pitchFamily="49" charset="0"/>
              </a:rPr>
              <a:t>, </a:t>
            </a:r>
            <a:r>
              <a:rPr lang="en-US" sz="2500" dirty="0">
                <a:solidFill>
                  <a:srgbClr val="CE9178"/>
                </a:solidFill>
                <a:latin typeface="Consolas" panose="020B0609020204030204" pitchFamily="49" charset="0"/>
              </a:rPr>
              <a:t>"Farshid Keivanian"</a:t>
            </a:r>
            <a:r>
              <a:rPr lang="en-US" sz="2500" dirty="0">
                <a:solidFill>
                  <a:srgbClr val="CCCCCC"/>
                </a:solidFill>
                <a:latin typeface="Consolas" panose="020B0609020204030204" pitchFamily="49" charset="0"/>
              </a:rPr>
              <a:t>, </a:t>
            </a:r>
            <a:r>
              <a:rPr lang="en-US" sz="2500" dirty="0">
                <a:solidFill>
                  <a:srgbClr val="CE9178"/>
                </a:solidFill>
                <a:latin typeface="Consolas" panose="020B0609020204030204" pitchFamily="49" charset="0"/>
              </a:rPr>
              <a:t>"Farshid.Keivanian@uts.edu.au"</a:t>
            </a:r>
            <a:r>
              <a:rPr lang="en-US" sz="2500" dirty="0">
                <a:solidFill>
                  <a:srgbClr val="CCCCCC"/>
                </a:solidFill>
                <a:latin typeface="Consolas" panose="020B0609020204030204" pitchFamily="49" charset="0"/>
              </a:rPr>
              <a:t>)</a:t>
            </a:r>
          </a:p>
          <a:p>
            <a:pPr>
              <a:buNone/>
            </a:pPr>
            <a:br>
              <a:rPr lang="en-US" sz="2500" dirty="0">
                <a:solidFill>
                  <a:srgbClr val="CCCCCC"/>
                </a:solidFill>
                <a:latin typeface="Consolas" panose="020B0609020204030204" pitchFamily="49" charset="0"/>
              </a:rPr>
            </a:br>
            <a:r>
              <a:rPr lang="en-US" sz="2500" dirty="0" err="1">
                <a:solidFill>
                  <a:srgbClr val="9CDCFE"/>
                </a:solidFill>
                <a:latin typeface="Consolas" panose="020B0609020204030204" pitchFamily="49" charset="0"/>
              </a:rPr>
              <a:t>member</a:t>
            </a:r>
            <a:r>
              <a:rPr lang="en-US" sz="2500" dirty="0" err="1">
                <a:solidFill>
                  <a:srgbClr val="CCCCCC"/>
                </a:solidFill>
                <a:latin typeface="Consolas" panose="020B0609020204030204" pitchFamily="49" charset="0"/>
              </a:rPr>
              <a:t>.</a:t>
            </a:r>
            <a:r>
              <a:rPr lang="en-US" sz="2500" dirty="0" err="1">
                <a:solidFill>
                  <a:srgbClr val="DCDCAA"/>
                </a:solidFill>
                <a:latin typeface="Consolas" panose="020B0609020204030204" pitchFamily="49" charset="0"/>
              </a:rPr>
              <a:t>borrow</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book1</a:t>
            </a:r>
            <a:r>
              <a:rPr lang="en-US" sz="2500" dirty="0">
                <a:solidFill>
                  <a:srgbClr val="CCCCCC"/>
                </a:solidFill>
                <a:latin typeface="Consolas" panose="020B0609020204030204" pitchFamily="49" charset="0"/>
              </a:rPr>
              <a:t>)   </a:t>
            </a:r>
            <a:r>
              <a:rPr lang="en-US" sz="2500" dirty="0">
                <a:solidFill>
                  <a:srgbClr val="6A9955"/>
                </a:solidFill>
                <a:latin typeface="Consolas" panose="020B0609020204030204" pitchFamily="49" charset="0"/>
              </a:rPr>
              <a:t>#  borrow success</a:t>
            </a:r>
            <a:endParaRPr lang="en-US" sz="2500" dirty="0">
              <a:solidFill>
                <a:srgbClr val="CCCCCC"/>
              </a:solidFill>
              <a:latin typeface="Consolas" panose="020B0609020204030204" pitchFamily="49" charset="0"/>
            </a:endParaRPr>
          </a:p>
          <a:p>
            <a:pPr>
              <a:buNone/>
            </a:pPr>
            <a:r>
              <a:rPr lang="en-US" sz="2500" dirty="0" err="1">
                <a:solidFill>
                  <a:srgbClr val="9CDCFE"/>
                </a:solidFill>
                <a:latin typeface="Consolas" panose="020B0609020204030204" pitchFamily="49" charset="0"/>
              </a:rPr>
              <a:t>member</a:t>
            </a:r>
            <a:r>
              <a:rPr lang="en-US" sz="2500" dirty="0" err="1">
                <a:solidFill>
                  <a:srgbClr val="CCCCCC"/>
                </a:solidFill>
                <a:latin typeface="Consolas" panose="020B0609020204030204" pitchFamily="49" charset="0"/>
              </a:rPr>
              <a:t>.</a:t>
            </a:r>
            <a:r>
              <a:rPr lang="en-US" sz="2500" dirty="0" err="1">
                <a:solidFill>
                  <a:srgbClr val="DCDCAA"/>
                </a:solidFill>
                <a:latin typeface="Consolas" panose="020B0609020204030204" pitchFamily="49" charset="0"/>
              </a:rPr>
              <a:t>borrow</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book1</a:t>
            </a:r>
            <a:r>
              <a:rPr lang="en-US" sz="2500" dirty="0">
                <a:solidFill>
                  <a:srgbClr val="CCCCCC"/>
                </a:solidFill>
                <a:latin typeface="Consolas" panose="020B0609020204030204" pitchFamily="49" charset="0"/>
              </a:rPr>
              <a:t>)   </a:t>
            </a:r>
            <a:r>
              <a:rPr lang="en-US" sz="2500" dirty="0">
                <a:solidFill>
                  <a:srgbClr val="6A9955"/>
                </a:solidFill>
                <a:latin typeface="Consolas" panose="020B0609020204030204" pitchFamily="49" charset="0"/>
              </a:rPr>
              <a:t>#  already borrowed</a:t>
            </a:r>
            <a:endParaRPr lang="en-US" sz="2500" dirty="0">
              <a:solidFill>
                <a:srgbClr val="CCCCCC"/>
              </a:solidFill>
              <a:latin typeface="Consolas" panose="020B0609020204030204" pitchFamily="49" charset="0"/>
            </a:endParaRPr>
          </a:p>
          <a:p>
            <a:pPr>
              <a:buNone/>
            </a:pPr>
            <a:r>
              <a:rPr lang="en-US" sz="2500" dirty="0" err="1">
                <a:solidFill>
                  <a:srgbClr val="9CDCFE"/>
                </a:solidFill>
                <a:latin typeface="Consolas" panose="020B0609020204030204" pitchFamily="49" charset="0"/>
              </a:rPr>
              <a:t>member</a:t>
            </a:r>
            <a:r>
              <a:rPr lang="en-US" sz="2500" dirty="0" err="1">
                <a:solidFill>
                  <a:srgbClr val="CCCCCC"/>
                </a:solidFill>
                <a:latin typeface="Consolas" panose="020B0609020204030204" pitchFamily="49" charset="0"/>
              </a:rPr>
              <a:t>.</a:t>
            </a:r>
            <a:r>
              <a:rPr lang="en-US" sz="2500" dirty="0" err="1">
                <a:solidFill>
                  <a:srgbClr val="DCDCAA"/>
                </a:solidFill>
                <a:latin typeface="Consolas" panose="020B0609020204030204" pitchFamily="49" charset="0"/>
              </a:rPr>
              <a:t>return_book</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book1</a:t>
            </a:r>
            <a:r>
              <a:rPr lang="en-US" sz="2500" dirty="0">
                <a:solidFill>
                  <a:srgbClr val="CCCCCC"/>
                </a:solidFill>
                <a:latin typeface="Consolas" panose="020B0609020204030204" pitchFamily="49" charset="0"/>
              </a:rPr>
              <a:t>)  </a:t>
            </a:r>
            <a:r>
              <a:rPr lang="en-US" sz="2500" dirty="0">
                <a:solidFill>
                  <a:srgbClr val="6A9955"/>
                </a:solidFill>
                <a:latin typeface="Consolas" panose="020B0609020204030204" pitchFamily="49" charset="0"/>
              </a:rPr>
              <a:t>#  return success</a:t>
            </a:r>
            <a:endParaRPr lang="en-US" sz="2500" dirty="0">
              <a:solidFill>
                <a:srgbClr val="CCCCCC"/>
              </a:solidFill>
              <a:latin typeface="Consolas" panose="020B0609020204030204" pitchFamily="49" charset="0"/>
            </a:endParaRPr>
          </a:p>
        </p:txBody>
      </p:sp>
      <p:sp>
        <p:nvSpPr>
          <p:cNvPr id="34" name="Rectangle 33">
            <a:extLst>
              <a:ext uri="{FF2B5EF4-FFF2-40B4-BE49-F238E27FC236}">
                <a16:creationId xmlns:a16="http://schemas.microsoft.com/office/drawing/2014/main" id="{93AF7043-6F30-1644-4EB1-9B757ABE53F4}"/>
              </a:ext>
            </a:extLst>
          </p:cNvPr>
          <p:cNvSpPr/>
          <p:nvPr/>
        </p:nvSpPr>
        <p:spPr>
          <a:xfrm>
            <a:off x="8651799" y="485647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BE43C95B-69AF-12FE-A327-4D2720AE8A26}"/>
              </a:ext>
            </a:extLst>
          </p:cNvPr>
          <p:cNvCxnSpPr>
            <a:cxnSpLocks/>
          </p:cNvCxnSpPr>
          <p:nvPr/>
        </p:nvCxnSpPr>
        <p:spPr>
          <a:xfrm>
            <a:off x="9777620" y="5493163"/>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5B622248-92F5-47D3-6E4F-71C922A42704}"/>
              </a:ext>
            </a:extLst>
          </p:cNvPr>
          <p:cNvCxnSpPr>
            <a:cxnSpLocks/>
          </p:cNvCxnSpPr>
          <p:nvPr/>
        </p:nvCxnSpPr>
        <p:spPr>
          <a:xfrm flipV="1">
            <a:off x="11593057" y="4022142"/>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402F79A2-F920-B129-F82F-493B9ABA33A3}"/>
              </a:ext>
            </a:extLst>
          </p:cNvPr>
          <p:cNvCxnSpPr>
            <a:cxnSpLocks/>
          </p:cNvCxnSpPr>
          <p:nvPr/>
        </p:nvCxnSpPr>
        <p:spPr>
          <a:xfrm>
            <a:off x="11371991" y="4033894"/>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A44F11D0-5FFD-A39F-F75E-F94481ECD7BB}"/>
              </a:ext>
            </a:extLst>
          </p:cNvPr>
          <p:cNvSpPr/>
          <p:nvPr/>
        </p:nvSpPr>
        <p:spPr>
          <a:xfrm>
            <a:off x="11526759" y="4201700"/>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327F5D9B-65C0-9E97-9511-4AE3FEA09E1B}"/>
              </a:ext>
            </a:extLst>
          </p:cNvPr>
          <p:cNvCxnSpPr/>
          <p:nvPr/>
        </p:nvCxnSpPr>
        <p:spPr>
          <a:xfrm>
            <a:off x="9833048" y="5312467"/>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865B3BE0-63D4-C2F4-0892-4BF913062F95}"/>
              </a:ext>
            </a:extLst>
          </p:cNvPr>
          <p:cNvSpPr txBox="1"/>
          <p:nvPr/>
        </p:nvSpPr>
        <p:spPr>
          <a:xfrm>
            <a:off x="10570316" y="4038112"/>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57F21134-7135-31D5-1B3C-F9F1B72AE9E4}"/>
              </a:ext>
            </a:extLst>
          </p:cNvPr>
          <p:cNvSpPr txBox="1"/>
          <p:nvPr/>
        </p:nvSpPr>
        <p:spPr>
          <a:xfrm>
            <a:off x="9358713" y="4404342"/>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590C6471-FF82-208B-F2E5-9B25FE0BA746}"/>
              </a:ext>
            </a:extLst>
          </p:cNvPr>
          <p:cNvSpPr/>
          <p:nvPr/>
        </p:nvSpPr>
        <p:spPr>
          <a:xfrm>
            <a:off x="8651798" y="2724597"/>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1361BF11-E39D-E753-A2E7-75A9D412BE65}"/>
              </a:ext>
            </a:extLst>
          </p:cNvPr>
          <p:cNvSpPr/>
          <p:nvPr/>
        </p:nvSpPr>
        <p:spPr>
          <a:xfrm>
            <a:off x="11047160" y="2735355"/>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6D2BB4B9-8AE9-BFEA-DE06-619AD13D6E24}"/>
              </a:ext>
            </a:extLst>
          </p:cNvPr>
          <p:cNvCxnSpPr/>
          <p:nvPr/>
        </p:nvCxnSpPr>
        <p:spPr>
          <a:xfrm>
            <a:off x="9765895" y="3367149"/>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6BDBEF55-2D8C-7B03-F110-84B0802F4771}"/>
              </a:ext>
            </a:extLst>
          </p:cNvPr>
          <p:cNvCxnSpPr>
            <a:cxnSpLocks/>
          </p:cNvCxnSpPr>
          <p:nvPr/>
        </p:nvCxnSpPr>
        <p:spPr>
          <a:xfrm flipV="1">
            <a:off x="10848460" y="3225258"/>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F243D194-32F0-EF94-C3F4-0B5AEF898A5B}"/>
              </a:ext>
            </a:extLst>
          </p:cNvPr>
          <p:cNvCxnSpPr>
            <a:cxnSpLocks/>
          </p:cNvCxnSpPr>
          <p:nvPr/>
        </p:nvCxnSpPr>
        <p:spPr>
          <a:xfrm>
            <a:off x="10848460" y="3367149"/>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EEE71CBC-A660-58C6-52ED-D9BF065D0A26}"/>
              </a:ext>
            </a:extLst>
          </p:cNvPr>
          <p:cNvSpPr/>
          <p:nvPr/>
        </p:nvSpPr>
        <p:spPr>
          <a:xfrm>
            <a:off x="10633871" y="3296203"/>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BA1995D7-CE21-739F-0977-8167FF47A26F}"/>
              </a:ext>
            </a:extLst>
          </p:cNvPr>
          <p:cNvCxnSpPr/>
          <p:nvPr/>
        </p:nvCxnSpPr>
        <p:spPr>
          <a:xfrm>
            <a:off x="9833047" y="3180591"/>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6E5A69A8-EB79-27AB-01D7-0AA6C05F8C93}"/>
              </a:ext>
            </a:extLst>
          </p:cNvPr>
          <p:cNvSpPr txBox="1"/>
          <p:nvPr/>
        </p:nvSpPr>
        <p:spPr>
          <a:xfrm>
            <a:off x="10693870" y="2090634"/>
            <a:ext cx="1114098" cy="523220"/>
          </a:xfrm>
          <a:prstGeom prst="rect">
            <a:avLst/>
          </a:prstGeom>
          <a:solidFill>
            <a:schemeClr val="bg1"/>
          </a:solid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F8194AEE-4EDE-558F-EE44-AEC520D6C329}"/>
              </a:ext>
            </a:extLst>
          </p:cNvPr>
          <p:cNvSpPr txBox="1"/>
          <p:nvPr/>
        </p:nvSpPr>
        <p:spPr>
          <a:xfrm>
            <a:off x="8990850" y="2050824"/>
            <a:ext cx="1114098" cy="523220"/>
          </a:xfrm>
          <a:prstGeom prst="rect">
            <a:avLst/>
          </a:prstGeom>
          <a:solidFill>
            <a:schemeClr val="bg1"/>
          </a:solid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ACC980BF-2885-7FE7-E0D3-13BE23FB6FA3}"/>
              </a:ext>
            </a:extLst>
          </p:cNvPr>
          <p:cNvSpPr/>
          <p:nvPr/>
        </p:nvSpPr>
        <p:spPr>
          <a:xfrm>
            <a:off x="8651797" y="369098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66675540-600A-5AA4-C5AF-93D70AF68C0A}"/>
              </a:ext>
            </a:extLst>
          </p:cNvPr>
          <p:cNvSpPr/>
          <p:nvPr/>
        </p:nvSpPr>
        <p:spPr>
          <a:xfrm>
            <a:off x="8651797" y="338562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9520E4D8-3921-7724-F2AE-773548F4BD5B}"/>
              </a:ext>
            </a:extLst>
          </p:cNvPr>
          <p:cNvSpPr txBox="1"/>
          <p:nvPr/>
        </p:nvSpPr>
        <p:spPr>
          <a:xfrm>
            <a:off x="9915761" y="2901542"/>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4326AA87-6AAC-12BF-E4AA-2350C3DB3C6B}"/>
              </a:ext>
            </a:extLst>
          </p:cNvPr>
          <p:cNvSpPr/>
          <p:nvPr/>
        </p:nvSpPr>
        <p:spPr>
          <a:xfrm>
            <a:off x="11042159" y="37026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75A16D15-E0EA-5CCB-EC0F-DF0FD6F33EBD}"/>
              </a:ext>
            </a:extLst>
          </p:cNvPr>
          <p:cNvSpPr/>
          <p:nvPr/>
        </p:nvSpPr>
        <p:spPr>
          <a:xfrm>
            <a:off x="11042159" y="33972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AF99E9D8-9873-BCDF-80EA-57431DEFD123}"/>
              </a:ext>
            </a:extLst>
          </p:cNvPr>
          <p:cNvSpPr/>
          <p:nvPr/>
        </p:nvSpPr>
        <p:spPr>
          <a:xfrm>
            <a:off x="11042158" y="309412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D1A7A69D-F58C-8F0F-4A21-BE0A26428C6A}"/>
              </a:ext>
            </a:extLst>
          </p:cNvPr>
          <p:cNvCxnSpPr>
            <a:cxnSpLocks/>
            <a:endCxn id="61" idx="2"/>
          </p:cNvCxnSpPr>
          <p:nvPr/>
        </p:nvCxnSpPr>
        <p:spPr>
          <a:xfrm flipH="1" flipV="1">
            <a:off x="11599208" y="4007979"/>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80C9D4F6-492E-9A5E-B60A-643CE9771352}"/>
              </a:ext>
            </a:extLst>
          </p:cNvPr>
          <p:cNvSpPr txBox="1"/>
          <p:nvPr/>
        </p:nvSpPr>
        <p:spPr>
          <a:xfrm>
            <a:off x="9935347" y="4982098"/>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A37C9499-4AA4-93D1-1FF3-A4602679FD96}"/>
              </a:ext>
            </a:extLst>
          </p:cNvPr>
          <p:cNvSpPr/>
          <p:nvPr/>
        </p:nvSpPr>
        <p:spPr>
          <a:xfrm>
            <a:off x="8652372" y="573076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9C4D9258-FCCE-94A8-238C-C605EF1FCE27}"/>
              </a:ext>
            </a:extLst>
          </p:cNvPr>
          <p:cNvSpPr/>
          <p:nvPr/>
        </p:nvSpPr>
        <p:spPr>
          <a:xfrm>
            <a:off x="8652372" y="544770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5302856C-A40D-C794-D712-C786E933BFCE}"/>
              </a:ext>
            </a:extLst>
          </p:cNvPr>
          <p:cNvSpPr/>
          <p:nvPr/>
        </p:nvSpPr>
        <p:spPr>
          <a:xfrm>
            <a:off x="8652371" y="5144574"/>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34674519-7E7E-6CE8-D86B-41C04295045E}"/>
              </a:ext>
            </a:extLst>
          </p:cNvPr>
          <p:cNvSpPr/>
          <p:nvPr/>
        </p:nvSpPr>
        <p:spPr>
          <a:xfrm>
            <a:off x="8656331" y="6444569"/>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AC103744-514F-9E89-1DDB-38D8348B7832}"/>
              </a:ext>
            </a:extLst>
          </p:cNvPr>
          <p:cNvSpPr/>
          <p:nvPr/>
        </p:nvSpPr>
        <p:spPr>
          <a:xfrm>
            <a:off x="8651797" y="6026941"/>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7" name="TextBox 6">
            <a:extLst>
              <a:ext uri="{FF2B5EF4-FFF2-40B4-BE49-F238E27FC236}">
                <a16:creationId xmlns:a16="http://schemas.microsoft.com/office/drawing/2014/main" id="{D7F14F2E-4533-B764-52B2-51389726F274}"/>
              </a:ext>
            </a:extLst>
          </p:cNvPr>
          <p:cNvSpPr txBox="1"/>
          <p:nvPr/>
        </p:nvSpPr>
        <p:spPr>
          <a:xfrm>
            <a:off x="58544" y="5169189"/>
            <a:ext cx="6209070" cy="1661993"/>
          </a:xfrm>
          <a:prstGeom prst="rect">
            <a:avLst/>
          </a:prstGeom>
          <a:noFill/>
        </p:spPr>
        <p:txBody>
          <a:bodyPr wrap="square">
            <a:spAutoFit/>
          </a:bodyPr>
          <a:lstStyle/>
          <a:p>
            <a:pPr>
              <a:buNone/>
            </a:pPr>
            <a:r>
              <a:rPr lang="en-US" sz="1700" b="1" dirty="0">
                <a:latin typeface="Calibir"/>
              </a:rPr>
              <a:t>Usage Example</a:t>
            </a:r>
            <a:endParaRPr lang="en-US" sz="1700" dirty="0">
              <a:latin typeface="Calibir"/>
            </a:endParaRPr>
          </a:p>
          <a:p>
            <a:pPr marL="633413" indent="-342900">
              <a:buFont typeface="+mj-lt"/>
              <a:buAutoNum type="arabicPeriod"/>
            </a:pPr>
            <a:r>
              <a:rPr lang="en-US" sz="1700" dirty="0">
                <a:latin typeface="Calibir"/>
              </a:rPr>
              <a:t>Create a library.</a:t>
            </a:r>
          </a:p>
          <a:p>
            <a:pPr marL="633413" indent="-342900">
              <a:buFont typeface="+mj-lt"/>
              <a:buAutoNum type="arabicPeriod"/>
            </a:pPr>
            <a:r>
              <a:rPr lang="en-US" sz="1700" dirty="0">
                <a:latin typeface="Calibir"/>
              </a:rPr>
              <a:t>Add some books.</a:t>
            </a:r>
          </a:p>
          <a:p>
            <a:pPr marL="633413" indent="-342900">
              <a:buFont typeface="+mj-lt"/>
              <a:buAutoNum type="arabicPeriod"/>
            </a:pPr>
            <a:r>
              <a:rPr lang="en-US" sz="1700" dirty="0">
                <a:latin typeface="Calibir"/>
              </a:rPr>
              <a:t>Create a member.</a:t>
            </a:r>
          </a:p>
          <a:p>
            <a:pPr marL="633413" indent="-342900">
              <a:buFont typeface="+mj-lt"/>
              <a:buAutoNum type="arabicPeriod"/>
            </a:pPr>
            <a:r>
              <a:rPr lang="en-US" sz="1700" dirty="0">
                <a:latin typeface="Calibir"/>
              </a:rPr>
              <a:t>Borrow and return books → see rules enforced (max 5, no double borrowing).</a:t>
            </a:r>
          </a:p>
        </p:txBody>
      </p:sp>
      <p:sp>
        <p:nvSpPr>
          <p:cNvPr id="2" name="Oval 1">
            <a:extLst>
              <a:ext uri="{FF2B5EF4-FFF2-40B4-BE49-F238E27FC236}">
                <a16:creationId xmlns:a16="http://schemas.microsoft.com/office/drawing/2014/main" id="{033F59AD-0DC7-C1C9-68EE-73D994219EBC}"/>
              </a:ext>
            </a:extLst>
          </p:cNvPr>
          <p:cNvSpPr/>
          <p:nvPr/>
        </p:nvSpPr>
        <p:spPr>
          <a:xfrm>
            <a:off x="9945446" y="5430798"/>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7368936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67B8C-9F76-70F7-CFAF-4D846F21C4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E7FDFB-755D-5EBD-D4DB-A68EC40A0573}"/>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sp>
        <p:nvSpPr>
          <p:cNvPr id="5" name="TextBox 4">
            <a:extLst>
              <a:ext uri="{FF2B5EF4-FFF2-40B4-BE49-F238E27FC236}">
                <a16:creationId xmlns:a16="http://schemas.microsoft.com/office/drawing/2014/main" id="{34E348AB-ED53-0831-92B5-6E505FDFF108}"/>
              </a:ext>
            </a:extLst>
          </p:cNvPr>
          <p:cNvSpPr txBox="1"/>
          <p:nvPr/>
        </p:nvSpPr>
        <p:spPr>
          <a:xfrm>
            <a:off x="21020" y="1020747"/>
            <a:ext cx="12170979" cy="1968103"/>
          </a:xfrm>
          <a:prstGeom prst="rect">
            <a:avLst/>
          </a:prstGeom>
          <a:noFill/>
        </p:spPr>
        <p:txBody>
          <a:bodyPr wrap="square">
            <a:spAutoFit/>
          </a:bodyPr>
          <a:lstStyle/>
          <a:p>
            <a:pPr>
              <a:lnSpc>
                <a:spcPct val="150000"/>
              </a:lnSpc>
              <a:buNone/>
            </a:pPr>
            <a:r>
              <a:rPr lang="en-US" sz="2800" dirty="0">
                <a:latin typeface="Calibir"/>
              </a:rPr>
              <a:t>Code is also Available on GitHub (Please download it; we will have activities to extend it)</a:t>
            </a:r>
          </a:p>
          <a:p>
            <a:pPr>
              <a:lnSpc>
                <a:spcPct val="150000"/>
              </a:lnSpc>
              <a:buNone/>
            </a:pPr>
            <a:r>
              <a:rPr lang="en-US" sz="2800" dirty="0">
                <a:highlight>
                  <a:srgbClr val="FFFF00"/>
                </a:highlight>
              </a:rPr>
              <a:t>library_system.py</a:t>
            </a:r>
            <a:endParaRPr lang="en-US" sz="2800" dirty="0">
              <a:highlight>
                <a:srgbClr val="FFFF00"/>
              </a:highlight>
              <a:latin typeface="Calibir"/>
            </a:endParaRPr>
          </a:p>
        </p:txBody>
      </p:sp>
      <p:pic>
        <p:nvPicPr>
          <p:cNvPr id="6" name="Picture 5">
            <a:extLst>
              <a:ext uri="{FF2B5EF4-FFF2-40B4-BE49-F238E27FC236}">
                <a16:creationId xmlns:a16="http://schemas.microsoft.com/office/drawing/2014/main" id="{DB0DA416-995D-B52E-2DCC-74B82998CE9E}"/>
              </a:ext>
            </a:extLst>
          </p:cNvPr>
          <p:cNvPicPr>
            <a:picLocks noChangeAspect="1"/>
          </p:cNvPicPr>
          <p:nvPr/>
        </p:nvPicPr>
        <p:blipFill>
          <a:blip r:embed="rId2"/>
          <a:srcRect t="16434" r="40753" b="43440"/>
          <a:stretch>
            <a:fillRect/>
          </a:stretch>
        </p:blipFill>
        <p:spPr>
          <a:xfrm>
            <a:off x="-1" y="3006084"/>
            <a:ext cx="9879725" cy="3763748"/>
          </a:xfrm>
          <a:prstGeom prst="rect">
            <a:avLst/>
          </a:prstGeom>
        </p:spPr>
      </p:pic>
    </p:spTree>
    <p:extLst>
      <p:ext uri="{BB962C8B-B14F-4D97-AF65-F5344CB8AC3E}">
        <p14:creationId xmlns:p14="http://schemas.microsoft.com/office/powerpoint/2010/main" val="16523191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2C9A-47FA-7678-4C71-D7524ABA8B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BB763E-3684-7C27-BFD4-E3DD62932AAB}"/>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pic>
        <p:nvPicPr>
          <p:cNvPr id="6" name="Picture 5">
            <a:extLst>
              <a:ext uri="{FF2B5EF4-FFF2-40B4-BE49-F238E27FC236}">
                <a16:creationId xmlns:a16="http://schemas.microsoft.com/office/drawing/2014/main" id="{65DFD99E-CA86-B423-00F0-5B69B9FF5CE1}"/>
              </a:ext>
            </a:extLst>
          </p:cNvPr>
          <p:cNvPicPr>
            <a:picLocks noChangeAspect="1"/>
          </p:cNvPicPr>
          <p:nvPr/>
        </p:nvPicPr>
        <p:blipFill>
          <a:blip r:embed="rId2"/>
          <a:srcRect l="31555" t="8359" r="9808" b="46210"/>
          <a:stretch>
            <a:fillRect/>
          </a:stretch>
        </p:blipFill>
        <p:spPr>
          <a:xfrm>
            <a:off x="23045" y="718014"/>
            <a:ext cx="12168956" cy="5303353"/>
          </a:xfrm>
          <a:prstGeom prst="rect">
            <a:avLst/>
          </a:prstGeom>
        </p:spPr>
      </p:pic>
    </p:spTree>
    <p:extLst>
      <p:ext uri="{BB962C8B-B14F-4D97-AF65-F5344CB8AC3E}">
        <p14:creationId xmlns:p14="http://schemas.microsoft.com/office/powerpoint/2010/main" val="376420795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7B6B2-7B3D-B8E2-9E67-5B6D6D3EA2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4AE690-A9B2-D11B-CDC7-4BEEB83945C0}"/>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sp>
        <p:nvSpPr>
          <p:cNvPr id="3" name="Rectangle 1">
            <a:extLst>
              <a:ext uri="{FF2B5EF4-FFF2-40B4-BE49-F238E27FC236}">
                <a16:creationId xmlns:a16="http://schemas.microsoft.com/office/drawing/2014/main" id="{B227A269-A0D5-B3C0-AD98-8A21B0B5C3E3}"/>
              </a:ext>
            </a:extLst>
          </p:cNvPr>
          <p:cNvSpPr>
            <a:spLocks noChangeArrowheads="1"/>
          </p:cNvSpPr>
          <p:nvPr/>
        </p:nvSpPr>
        <p:spPr bwMode="auto">
          <a:xfrm>
            <a:off x="0" y="1154083"/>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The Interactive Window option </a:t>
            </a:r>
            <a:br>
              <a:rPr kumimoji="0" lang="en-US" altLang="en-US" sz="2800" i="0" u="none" strike="noStrike" cap="none" normalizeH="0" baseline="0" dirty="0">
                <a:ln>
                  <a:noFill/>
                </a:ln>
                <a:solidFill>
                  <a:schemeClr val="tx1"/>
                </a:solidFill>
                <a:effectLst/>
                <a:latin typeface="Calibir"/>
              </a:rPr>
            </a:br>
            <a:r>
              <a:rPr kumimoji="0" lang="en-US" altLang="en-US" sz="2800" i="0" u="none" strike="noStrike" cap="none" normalizeH="0" baseline="0" dirty="0">
                <a:ln>
                  <a:noFill/>
                </a:ln>
                <a:solidFill>
                  <a:schemeClr val="tx1"/>
                </a:solidFill>
                <a:effectLst/>
                <a:latin typeface="Calibir"/>
              </a:rPr>
              <a:t>belongs to the Python extension + </a:t>
            </a:r>
            <a:br>
              <a:rPr kumimoji="0" lang="en-US" altLang="en-US" sz="2800" i="0" u="none" strike="noStrike" cap="none" normalizeH="0" baseline="0" dirty="0">
                <a:ln>
                  <a:noFill/>
                </a:ln>
                <a:solidFill>
                  <a:schemeClr val="tx1"/>
                </a:solidFill>
                <a:effectLst/>
                <a:latin typeface="Calibir"/>
              </a:rPr>
            </a:br>
            <a:r>
              <a:rPr kumimoji="0" lang="en-US" altLang="en-US" sz="2800" i="0" u="none" strike="noStrike" cap="none" normalizeH="0" baseline="0" dirty="0" err="1">
                <a:ln>
                  <a:noFill/>
                </a:ln>
                <a:solidFill>
                  <a:schemeClr val="tx1"/>
                </a:solidFill>
                <a:effectLst/>
                <a:latin typeface="Calibir"/>
              </a:rPr>
              <a:t>Jupyter</a:t>
            </a:r>
            <a:r>
              <a:rPr kumimoji="0" lang="en-US" altLang="en-US" sz="2800" i="0" u="none" strike="noStrike" cap="none" normalizeH="0" baseline="0" dirty="0">
                <a:ln>
                  <a:noFill/>
                </a:ln>
                <a:solidFill>
                  <a:schemeClr val="tx1"/>
                </a:solidFill>
                <a:effectLst/>
                <a:latin typeface="Calibir"/>
              </a:rPr>
              <a:t> extension in VS Code.</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If you only see “Run in Terminal”, it means either:</a:t>
            </a:r>
          </a:p>
          <a:p>
            <a:pPr marL="1166813" marR="0" lvl="1"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i="0" u="none" strike="noStrike" cap="none" normalizeH="0" baseline="0" dirty="0">
                <a:ln>
                  <a:noFill/>
                </a:ln>
                <a:solidFill>
                  <a:schemeClr val="tx1"/>
                </a:solidFill>
                <a:effectLst/>
                <a:latin typeface="Calibir"/>
              </a:rPr>
              <a:t>The </a:t>
            </a:r>
            <a:r>
              <a:rPr kumimoji="0" lang="en-US" altLang="en-US" sz="2800" i="0" u="none" strike="noStrike" cap="none" normalizeH="0" baseline="0" dirty="0" err="1">
                <a:ln>
                  <a:noFill/>
                </a:ln>
                <a:solidFill>
                  <a:schemeClr val="tx1"/>
                </a:solidFill>
                <a:effectLst/>
                <a:latin typeface="Calibir"/>
              </a:rPr>
              <a:t>Jupyter</a:t>
            </a:r>
            <a:r>
              <a:rPr kumimoji="0" lang="en-US" altLang="en-US" sz="2800" i="0" u="none" strike="noStrike" cap="none" normalizeH="0" baseline="0" dirty="0">
                <a:ln>
                  <a:noFill/>
                </a:ln>
                <a:solidFill>
                  <a:schemeClr val="tx1"/>
                </a:solidFill>
                <a:effectLst/>
                <a:latin typeface="Calibir"/>
              </a:rPr>
              <a:t> extension is not installed, or</a:t>
            </a:r>
          </a:p>
          <a:p>
            <a:pPr marL="1166813" marR="0" lvl="1"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i="0" u="none" strike="noStrike" cap="none" normalizeH="0" baseline="0" dirty="0">
                <a:ln>
                  <a:noFill/>
                </a:ln>
                <a:solidFill>
                  <a:schemeClr val="tx1"/>
                </a:solidFill>
                <a:effectLst/>
                <a:latin typeface="Calibir"/>
              </a:rPr>
              <a:t>The file is not saved as .</a:t>
            </a:r>
            <a:r>
              <a:rPr kumimoji="0" lang="en-US" altLang="en-US" sz="2800" i="0" u="none" strike="noStrike" cap="none" normalizeH="0" baseline="0" dirty="0" err="1">
                <a:ln>
                  <a:noFill/>
                </a:ln>
                <a:solidFill>
                  <a:schemeClr val="tx1"/>
                </a:solidFill>
                <a:effectLst/>
                <a:latin typeface="Calibir"/>
              </a:rPr>
              <a:t>py</a:t>
            </a:r>
            <a:r>
              <a:rPr kumimoji="0" lang="en-US" altLang="en-US" sz="2800" i="0" u="none" strike="noStrike" cap="none" normalizeH="0" baseline="0" dirty="0">
                <a:ln>
                  <a:noFill/>
                </a:ln>
                <a:solidFill>
                  <a:schemeClr val="tx1"/>
                </a:solidFill>
                <a:effectLst/>
                <a:latin typeface="Calibir"/>
              </a:rPr>
              <a:t>, or</a:t>
            </a:r>
          </a:p>
          <a:p>
            <a:pPr marL="1166813" marR="0" lvl="1"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i="0" u="none" strike="noStrike" cap="none" normalizeH="0" baseline="0" dirty="0">
                <a:ln>
                  <a:noFill/>
                </a:ln>
                <a:solidFill>
                  <a:schemeClr val="tx1"/>
                </a:solidFill>
                <a:effectLst/>
                <a:latin typeface="Calibir"/>
              </a:rPr>
              <a:t>They haven’t selected the right Python interpreter / kernel.</a:t>
            </a:r>
          </a:p>
        </p:txBody>
      </p:sp>
      <p:pic>
        <p:nvPicPr>
          <p:cNvPr id="4" name="Picture 3">
            <a:extLst>
              <a:ext uri="{FF2B5EF4-FFF2-40B4-BE49-F238E27FC236}">
                <a16:creationId xmlns:a16="http://schemas.microsoft.com/office/drawing/2014/main" id="{FC56400A-9EA1-0D07-35A3-A9276E421EBD}"/>
              </a:ext>
            </a:extLst>
          </p:cNvPr>
          <p:cNvPicPr>
            <a:picLocks noChangeAspect="1"/>
          </p:cNvPicPr>
          <p:nvPr/>
        </p:nvPicPr>
        <p:blipFill>
          <a:blip r:embed="rId2"/>
          <a:srcRect l="54096" t="8358" r="9808" b="67473"/>
          <a:stretch>
            <a:fillRect/>
          </a:stretch>
        </p:blipFill>
        <p:spPr>
          <a:xfrm>
            <a:off x="6096000" y="718015"/>
            <a:ext cx="6096000" cy="2295897"/>
          </a:xfrm>
          <a:prstGeom prst="rect">
            <a:avLst/>
          </a:prstGeom>
        </p:spPr>
      </p:pic>
    </p:spTree>
    <p:extLst>
      <p:ext uri="{BB962C8B-B14F-4D97-AF65-F5344CB8AC3E}">
        <p14:creationId xmlns:p14="http://schemas.microsoft.com/office/powerpoint/2010/main" val="386234519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92530-83AD-C693-807D-1CC050C187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2F1722-07FA-DD09-3410-4F7319B98590}"/>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sp>
        <p:nvSpPr>
          <p:cNvPr id="3" name="Rectangle 1">
            <a:extLst>
              <a:ext uri="{FF2B5EF4-FFF2-40B4-BE49-F238E27FC236}">
                <a16:creationId xmlns:a16="http://schemas.microsoft.com/office/drawing/2014/main" id="{06DACF1B-D61C-02DF-A529-61559571B014}"/>
              </a:ext>
            </a:extLst>
          </p:cNvPr>
          <p:cNvSpPr>
            <a:spLocks noChangeArrowheads="1"/>
          </p:cNvSpPr>
          <p:nvPr/>
        </p:nvSpPr>
        <p:spPr bwMode="auto">
          <a:xfrm>
            <a:off x="0" y="1154082"/>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Fix Steps:</a:t>
            </a:r>
          </a:p>
          <a:p>
            <a:pPr marL="514350" lvl="0" indent="-514350" eaLnBrk="0" fontAlgn="base" hangingPunct="0">
              <a:lnSpc>
                <a:spcPct val="150000"/>
              </a:lnSpc>
              <a:spcBef>
                <a:spcPct val="0"/>
              </a:spcBef>
              <a:spcAft>
                <a:spcPct val="0"/>
              </a:spcAft>
              <a:buFont typeface="+mj-lt"/>
              <a:buAutoNum type="arabicPeriod"/>
            </a:pPr>
            <a:r>
              <a:rPr lang="en-US" altLang="en-US" sz="2800" b="1" dirty="0">
                <a:latin typeface="Calibir"/>
              </a:rPr>
              <a:t>Check the file extension</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Save your file as something.py.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If it’s .txt or unsaved, VS Code won’t show Interactive Window.</a:t>
            </a:r>
          </a:p>
          <a:p>
            <a:pPr marL="514350" lvl="0" indent="-514350" eaLnBrk="0" fontAlgn="base" hangingPunct="0">
              <a:lnSpc>
                <a:spcPct val="150000"/>
              </a:lnSpc>
              <a:spcBef>
                <a:spcPct val="0"/>
              </a:spcBef>
              <a:spcAft>
                <a:spcPct val="0"/>
              </a:spcAft>
              <a:buFont typeface="+mj-lt"/>
              <a:buAutoNum type="arabicPeriod"/>
            </a:pPr>
            <a:r>
              <a:rPr lang="en-US" altLang="en-US" sz="2800" b="1" dirty="0">
                <a:latin typeface="Calibir"/>
              </a:rPr>
              <a:t>Install the </a:t>
            </a:r>
            <a:r>
              <a:rPr lang="en-US" altLang="en-US" sz="2800" b="1" dirty="0" err="1">
                <a:latin typeface="Calibir"/>
              </a:rPr>
              <a:t>Jupyter</a:t>
            </a:r>
            <a:r>
              <a:rPr lang="en-US" altLang="en-US" sz="2800" b="1" dirty="0">
                <a:latin typeface="Calibir"/>
              </a:rPr>
              <a:t> extension</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Go to the </a:t>
            </a:r>
            <a:r>
              <a:rPr lang="en-US" altLang="en-US" sz="2800" b="1" dirty="0">
                <a:latin typeface="Calibir"/>
              </a:rPr>
              <a:t>Extensions</a:t>
            </a:r>
            <a:r>
              <a:rPr lang="en-US" altLang="en-US" sz="2800" dirty="0">
                <a:latin typeface="Calibir"/>
              </a:rPr>
              <a:t> panel (</a:t>
            </a:r>
            <a:r>
              <a:rPr lang="en-US" altLang="en-US" sz="2800" dirty="0" err="1">
                <a:latin typeface="Calibir"/>
              </a:rPr>
              <a:t>Ctrl+Shift+X</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Search for </a:t>
            </a:r>
            <a:r>
              <a:rPr lang="en-US" altLang="en-US" sz="2800" b="1" dirty="0">
                <a:latin typeface="Calibir"/>
              </a:rPr>
              <a:t>“</a:t>
            </a:r>
            <a:r>
              <a:rPr lang="en-US" altLang="en-US" sz="2800" b="1" dirty="0" err="1">
                <a:latin typeface="Calibir"/>
              </a:rPr>
              <a:t>Jupyter</a:t>
            </a:r>
            <a:r>
              <a:rPr lang="en-US" altLang="en-US" sz="2800" b="1" dirty="0">
                <a:latin typeface="Calibir"/>
              </a:rPr>
              <a:t>”</a:t>
            </a:r>
            <a:r>
              <a:rPr lang="en-US" altLang="en-US" sz="2800" dirty="0">
                <a:latin typeface="Calibir"/>
              </a:rPr>
              <a:t> and install it (alongside Python extension).</a:t>
            </a:r>
          </a:p>
        </p:txBody>
      </p:sp>
    </p:spTree>
    <p:extLst>
      <p:ext uri="{BB962C8B-B14F-4D97-AF65-F5344CB8AC3E}">
        <p14:creationId xmlns:p14="http://schemas.microsoft.com/office/powerpoint/2010/main" val="19246074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60988-38B1-9D13-184D-A4BD26C72D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EDA508-750F-7D42-118C-148E67E79833}"/>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sp>
        <p:nvSpPr>
          <p:cNvPr id="3" name="Rectangle 1">
            <a:extLst>
              <a:ext uri="{FF2B5EF4-FFF2-40B4-BE49-F238E27FC236}">
                <a16:creationId xmlns:a16="http://schemas.microsoft.com/office/drawing/2014/main" id="{E180B502-61D3-A39E-8AA5-96FBFC9D3B81}"/>
              </a:ext>
            </a:extLst>
          </p:cNvPr>
          <p:cNvSpPr>
            <a:spLocks noChangeArrowheads="1"/>
          </p:cNvSpPr>
          <p:nvPr/>
        </p:nvSpPr>
        <p:spPr bwMode="auto">
          <a:xfrm>
            <a:off x="0" y="1478689"/>
            <a:ext cx="12192000" cy="39006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514350" lvl="0" indent="-514350" eaLnBrk="0" fontAlgn="base" hangingPunct="0">
              <a:lnSpc>
                <a:spcPct val="150000"/>
              </a:lnSpc>
              <a:spcBef>
                <a:spcPct val="0"/>
              </a:spcBef>
              <a:spcAft>
                <a:spcPct val="0"/>
              </a:spcAft>
              <a:buFont typeface="+mj-lt"/>
              <a:buAutoNum type="arabicPeriod" startAt="3"/>
            </a:pPr>
            <a:r>
              <a:rPr lang="en-US" altLang="en-US" sz="2800" b="1" dirty="0">
                <a:latin typeface="Calibir"/>
              </a:rPr>
              <a:t>Select Python interpreter</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Press </a:t>
            </a:r>
            <a:r>
              <a:rPr lang="en-US" altLang="en-US" sz="2800" b="1" dirty="0" err="1">
                <a:latin typeface="Calibir"/>
              </a:rPr>
              <a:t>Ctrl+Shift+P</a:t>
            </a:r>
            <a:r>
              <a:rPr lang="en-US" altLang="en-US" sz="2800" b="1" dirty="0">
                <a:latin typeface="Calibir"/>
              </a:rPr>
              <a:t> → Python: Select Interpreter</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Choose the one where you installed Python (or Anaconda if using it).</a:t>
            </a:r>
          </a:p>
          <a:p>
            <a:pPr marL="514350" lvl="0" indent="-514350" eaLnBrk="0" fontAlgn="base" hangingPunct="0">
              <a:lnSpc>
                <a:spcPct val="150000"/>
              </a:lnSpc>
              <a:spcBef>
                <a:spcPct val="0"/>
              </a:spcBef>
              <a:spcAft>
                <a:spcPct val="0"/>
              </a:spcAft>
              <a:buFont typeface="+mj-lt"/>
              <a:buAutoNum type="arabicPeriod" startAt="4"/>
            </a:pPr>
            <a:r>
              <a:rPr lang="en-US" altLang="en-US" sz="2800" b="1" dirty="0">
                <a:latin typeface="Calibir"/>
              </a:rPr>
              <a:t>Run with Interactive Window</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Right-click inside the code editor → </a:t>
            </a:r>
            <a:r>
              <a:rPr lang="en-US" altLang="en-US" sz="2800" b="1" dirty="0">
                <a:latin typeface="Calibir"/>
              </a:rPr>
              <a:t>Run Current File in Interactive Window</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Or use the top-right </a:t>
            </a:r>
            <a:r>
              <a:rPr lang="en-US" altLang="en-US" sz="2800" b="1" dirty="0">
                <a:latin typeface="Calibir"/>
              </a:rPr>
              <a:t>“Run” menu</a:t>
            </a:r>
            <a:r>
              <a:rPr lang="en-US" altLang="en-US" sz="2800" dirty="0">
                <a:latin typeface="Calibir"/>
              </a:rPr>
              <a:t>.</a:t>
            </a:r>
          </a:p>
        </p:txBody>
      </p:sp>
    </p:spTree>
    <p:extLst>
      <p:ext uri="{BB962C8B-B14F-4D97-AF65-F5344CB8AC3E}">
        <p14:creationId xmlns:p14="http://schemas.microsoft.com/office/powerpoint/2010/main" val="240713024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C8C48-13AA-5E2F-EFF1-6CE4A32779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0DAFDF-0D0B-F7C2-2AA3-FA5AEDBDFB54}"/>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sp>
        <p:nvSpPr>
          <p:cNvPr id="3" name="Rectangle 1">
            <a:extLst>
              <a:ext uri="{FF2B5EF4-FFF2-40B4-BE49-F238E27FC236}">
                <a16:creationId xmlns:a16="http://schemas.microsoft.com/office/drawing/2014/main" id="{022D210B-FAD1-DAFE-1896-872D533301DB}"/>
              </a:ext>
            </a:extLst>
          </p:cNvPr>
          <p:cNvSpPr>
            <a:spLocks noChangeArrowheads="1"/>
          </p:cNvSpPr>
          <p:nvPr/>
        </p:nvSpPr>
        <p:spPr bwMode="auto">
          <a:xfrm>
            <a:off x="0" y="2446744"/>
            <a:ext cx="12192000"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In short:</a:t>
            </a:r>
          </a:p>
          <a:p>
            <a:pPr lvl="0" eaLnBrk="0" fontAlgn="base" hangingPunct="0">
              <a:lnSpc>
                <a:spcPct val="150000"/>
              </a:lnSpc>
              <a:spcBef>
                <a:spcPct val="0"/>
              </a:spcBef>
              <a:spcAft>
                <a:spcPct val="0"/>
              </a:spcAft>
            </a:pPr>
            <a:r>
              <a:rPr lang="en-US" altLang="en-US" sz="2800" dirty="0">
                <a:latin typeface="Calibir"/>
              </a:rPr>
              <a:t>If you don’t see Interactive Window, don’t panic. Save your file as .</a:t>
            </a:r>
            <a:r>
              <a:rPr lang="en-US" altLang="en-US" sz="2800" dirty="0" err="1">
                <a:latin typeface="Calibir"/>
              </a:rPr>
              <a:t>py</a:t>
            </a:r>
            <a:r>
              <a:rPr lang="en-US" altLang="en-US" sz="2800" dirty="0">
                <a:latin typeface="Calibir"/>
              </a:rPr>
              <a:t>, install the </a:t>
            </a:r>
            <a:r>
              <a:rPr lang="en-US" altLang="en-US" sz="2800" dirty="0" err="1">
                <a:latin typeface="Calibir"/>
              </a:rPr>
              <a:t>Jupyter</a:t>
            </a:r>
            <a:r>
              <a:rPr lang="en-US" altLang="en-US" sz="2800" dirty="0">
                <a:latin typeface="Calibir"/>
              </a:rPr>
              <a:t> extension, and pick the right Python interpreter. Then it will appear </a:t>
            </a:r>
          </a:p>
        </p:txBody>
      </p:sp>
    </p:spTree>
    <p:extLst>
      <p:ext uri="{BB962C8B-B14F-4D97-AF65-F5344CB8AC3E}">
        <p14:creationId xmlns:p14="http://schemas.microsoft.com/office/powerpoint/2010/main" val="247753793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ED061-7801-8416-EF38-C6584D101A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5ED683-3999-5791-0D5B-961EAEA57B0D}"/>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pic>
        <p:nvPicPr>
          <p:cNvPr id="4" name="Picture 3">
            <a:extLst>
              <a:ext uri="{FF2B5EF4-FFF2-40B4-BE49-F238E27FC236}">
                <a16:creationId xmlns:a16="http://schemas.microsoft.com/office/drawing/2014/main" id="{1D78BB50-E31C-3B94-EBC4-C4804B5097CE}"/>
              </a:ext>
            </a:extLst>
          </p:cNvPr>
          <p:cNvPicPr>
            <a:picLocks noChangeAspect="1"/>
          </p:cNvPicPr>
          <p:nvPr/>
        </p:nvPicPr>
        <p:blipFill>
          <a:blip r:embed="rId2"/>
          <a:srcRect l="51895" b="42581"/>
          <a:stretch>
            <a:fillRect/>
          </a:stretch>
        </p:blipFill>
        <p:spPr>
          <a:xfrm>
            <a:off x="36973" y="672662"/>
            <a:ext cx="6447910" cy="4329233"/>
          </a:xfrm>
          <a:prstGeom prst="rect">
            <a:avLst/>
          </a:prstGeom>
        </p:spPr>
      </p:pic>
      <p:sp>
        <p:nvSpPr>
          <p:cNvPr id="3" name="Rectangle 1">
            <a:extLst>
              <a:ext uri="{FF2B5EF4-FFF2-40B4-BE49-F238E27FC236}">
                <a16:creationId xmlns:a16="http://schemas.microsoft.com/office/drawing/2014/main" id="{40BC1705-50A3-E656-8C59-5DE62757545E}"/>
              </a:ext>
            </a:extLst>
          </p:cNvPr>
          <p:cNvSpPr>
            <a:spLocks noChangeArrowheads="1"/>
          </p:cNvSpPr>
          <p:nvPr/>
        </p:nvSpPr>
        <p:spPr bwMode="auto">
          <a:xfrm>
            <a:off x="6521856" y="486760"/>
            <a:ext cx="5536814" cy="64888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Farshid Keivanian borrowed 'Python Basics'.</a:t>
            </a:r>
            <a:endParaRPr kumimoji="0" lang="en-US" altLang="en-US" sz="2800" b="0" i="0" u="none" strike="noStrike" cap="none" normalizeH="0" baseline="0" dirty="0">
              <a:ln>
                <a:noFill/>
              </a:ln>
              <a:solidFill>
                <a:schemeClr val="tx1"/>
              </a:solidFill>
              <a:effectLst/>
              <a:latin typeface="Calibir"/>
            </a:endParaRP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The member successfully borrowed the book.</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Conditions checked:</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He had fewer than 5 books.</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The book was available.</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So the book’s status changed to </a:t>
            </a:r>
            <a:r>
              <a:rPr kumimoji="0" lang="en-US" altLang="en-US" sz="2800" i="0" u="none" strike="noStrike" cap="none" normalizeH="0" baseline="0" dirty="0">
                <a:ln>
                  <a:noFill/>
                </a:ln>
                <a:solidFill>
                  <a:schemeClr val="tx1"/>
                </a:solidFill>
                <a:effectLst/>
                <a:latin typeface="Calibir"/>
              </a:rPr>
              <a:t>borrowed</a:t>
            </a:r>
            <a:r>
              <a:rPr kumimoji="0" lang="en-US" altLang="en-US" sz="2800" b="0" i="0" u="none" strike="noStrike" cap="none" normalizeH="0" baseline="0" dirty="0">
                <a:ln>
                  <a:noFill/>
                </a:ln>
                <a:solidFill>
                  <a:schemeClr val="tx1"/>
                </a:solidFill>
                <a:effectLst/>
                <a:latin typeface="Calibir"/>
              </a:rPr>
              <a:t>, and it was added to his borrowed list.</a:t>
            </a:r>
          </a:p>
        </p:txBody>
      </p:sp>
      <p:sp>
        <p:nvSpPr>
          <p:cNvPr id="5" name="Rectangle: Rounded Corners 4">
            <a:extLst>
              <a:ext uri="{FF2B5EF4-FFF2-40B4-BE49-F238E27FC236}">
                <a16:creationId xmlns:a16="http://schemas.microsoft.com/office/drawing/2014/main" id="{E34FA37D-1134-A63A-E586-F40BC85F57DF}"/>
              </a:ext>
            </a:extLst>
          </p:cNvPr>
          <p:cNvSpPr/>
          <p:nvPr/>
        </p:nvSpPr>
        <p:spPr>
          <a:xfrm>
            <a:off x="683172" y="3951890"/>
            <a:ext cx="5412828" cy="33633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98340928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F1AA2-AB93-9779-CFB5-BF8B5DDD42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D52ECA-FCA7-CE85-16CC-C5A9B9566BDB}"/>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pic>
        <p:nvPicPr>
          <p:cNvPr id="4" name="Picture 3">
            <a:extLst>
              <a:ext uri="{FF2B5EF4-FFF2-40B4-BE49-F238E27FC236}">
                <a16:creationId xmlns:a16="http://schemas.microsoft.com/office/drawing/2014/main" id="{8B57D749-3E68-0679-C304-60CB78DE6197}"/>
              </a:ext>
            </a:extLst>
          </p:cNvPr>
          <p:cNvPicPr>
            <a:picLocks noChangeAspect="1"/>
          </p:cNvPicPr>
          <p:nvPr/>
        </p:nvPicPr>
        <p:blipFill>
          <a:blip r:embed="rId2"/>
          <a:srcRect l="51895" b="42581"/>
          <a:stretch>
            <a:fillRect/>
          </a:stretch>
        </p:blipFill>
        <p:spPr>
          <a:xfrm>
            <a:off x="36973" y="672662"/>
            <a:ext cx="6447910" cy="4329233"/>
          </a:xfrm>
          <a:prstGeom prst="rect">
            <a:avLst/>
          </a:prstGeom>
        </p:spPr>
      </p:pic>
      <p:sp>
        <p:nvSpPr>
          <p:cNvPr id="3" name="Rectangle 1">
            <a:extLst>
              <a:ext uri="{FF2B5EF4-FFF2-40B4-BE49-F238E27FC236}">
                <a16:creationId xmlns:a16="http://schemas.microsoft.com/office/drawing/2014/main" id="{357C91D9-830F-FC8E-A59A-02ADAA89D3B7}"/>
              </a:ext>
            </a:extLst>
          </p:cNvPr>
          <p:cNvSpPr>
            <a:spLocks noChangeArrowheads="1"/>
          </p:cNvSpPr>
          <p:nvPr/>
        </p:nvSpPr>
        <p:spPr bwMode="auto">
          <a:xfrm>
            <a:off x="6484883" y="672662"/>
            <a:ext cx="5536814" cy="51961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Book 'Python Basics' is already borrowed.</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 member tried to borrow the same book again.</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 system detected the book’s status was already borrowed, so it blocked the action.</a:t>
            </a:r>
          </a:p>
        </p:txBody>
      </p:sp>
      <p:sp>
        <p:nvSpPr>
          <p:cNvPr id="5" name="Rectangle: Rounded Corners 4">
            <a:extLst>
              <a:ext uri="{FF2B5EF4-FFF2-40B4-BE49-F238E27FC236}">
                <a16:creationId xmlns:a16="http://schemas.microsoft.com/office/drawing/2014/main" id="{B2B15C08-636F-ED74-13FC-8C37576BB5A0}"/>
              </a:ext>
            </a:extLst>
          </p:cNvPr>
          <p:cNvSpPr/>
          <p:nvPr/>
        </p:nvSpPr>
        <p:spPr>
          <a:xfrm>
            <a:off x="683172" y="4277711"/>
            <a:ext cx="5412828" cy="33633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40848489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B35B2-3FDB-BAB7-010F-F879D89B3D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14F351-900C-42B5-3D1F-F42D3BB58D31}"/>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pic>
        <p:nvPicPr>
          <p:cNvPr id="4" name="Picture 3">
            <a:extLst>
              <a:ext uri="{FF2B5EF4-FFF2-40B4-BE49-F238E27FC236}">
                <a16:creationId xmlns:a16="http://schemas.microsoft.com/office/drawing/2014/main" id="{B3ABEF73-4C04-991B-1A2C-EA0235970EF6}"/>
              </a:ext>
            </a:extLst>
          </p:cNvPr>
          <p:cNvPicPr>
            <a:picLocks noChangeAspect="1"/>
          </p:cNvPicPr>
          <p:nvPr/>
        </p:nvPicPr>
        <p:blipFill>
          <a:blip r:embed="rId2"/>
          <a:srcRect l="51895" b="42581"/>
          <a:stretch>
            <a:fillRect/>
          </a:stretch>
        </p:blipFill>
        <p:spPr>
          <a:xfrm>
            <a:off x="36973" y="672662"/>
            <a:ext cx="6447910" cy="4329233"/>
          </a:xfrm>
          <a:prstGeom prst="rect">
            <a:avLst/>
          </a:prstGeom>
        </p:spPr>
      </p:pic>
      <p:sp>
        <p:nvSpPr>
          <p:cNvPr id="3" name="Rectangle 1">
            <a:extLst>
              <a:ext uri="{FF2B5EF4-FFF2-40B4-BE49-F238E27FC236}">
                <a16:creationId xmlns:a16="http://schemas.microsoft.com/office/drawing/2014/main" id="{0015447B-4A9B-022E-2DDE-3406E9EC29B0}"/>
              </a:ext>
            </a:extLst>
          </p:cNvPr>
          <p:cNvSpPr>
            <a:spLocks noChangeArrowheads="1"/>
          </p:cNvSpPr>
          <p:nvPr/>
        </p:nvSpPr>
        <p:spPr bwMode="auto">
          <a:xfrm>
            <a:off x="6484883" y="672662"/>
            <a:ext cx="5536814" cy="51961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Farshid Keivanian returned 'Python Basics'.</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 member returned the book successfully.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 book’s status changed back to available, and it was removed from his borrowed list.</a:t>
            </a:r>
          </a:p>
        </p:txBody>
      </p:sp>
      <p:sp>
        <p:nvSpPr>
          <p:cNvPr id="5" name="Rectangle: Rounded Corners 4">
            <a:extLst>
              <a:ext uri="{FF2B5EF4-FFF2-40B4-BE49-F238E27FC236}">
                <a16:creationId xmlns:a16="http://schemas.microsoft.com/office/drawing/2014/main" id="{4FE5568D-C47A-20A9-63A0-D8E7055FF07F}"/>
              </a:ext>
            </a:extLst>
          </p:cNvPr>
          <p:cNvSpPr/>
          <p:nvPr/>
        </p:nvSpPr>
        <p:spPr>
          <a:xfrm>
            <a:off x="683172" y="4582511"/>
            <a:ext cx="5412828" cy="33633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90818931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1FD43-667B-1C51-BB97-2755A0BFA8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C6CE2E-5840-2E30-291B-846DE855B689}"/>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pic>
        <p:nvPicPr>
          <p:cNvPr id="4" name="Picture 3">
            <a:extLst>
              <a:ext uri="{FF2B5EF4-FFF2-40B4-BE49-F238E27FC236}">
                <a16:creationId xmlns:a16="http://schemas.microsoft.com/office/drawing/2014/main" id="{8A9CCE29-84D8-A06C-3A3E-50B390847B1F}"/>
              </a:ext>
            </a:extLst>
          </p:cNvPr>
          <p:cNvPicPr>
            <a:picLocks noChangeAspect="1"/>
          </p:cNvPicPr>
          <p:nvPr/>
        </p:nvPicPr>
        <p:blipFill>
          <a:blip r:embed="rId2"/>
          <a:srcRect l="51895" b="42581"/>
          <a:stretch>
            <a:fillRect/>
          </a:stretch>
        </p:blipFill>
        <p:spPr>
          <a:xfrm>
            <a:off x="36973" y="672662"/>
            <a:ext cx="6447910" cy="4329233"/>
          </a:xfrm>
          <a:prstGeom prst="rect">
            <a:avLst/>
          </a:prstGeom>
        </p:spPr>
      </p:pic>
      <p:sp>
        <p:nvSpPr>
          <p:cNvPr id="3" name="Rectangle 1">
            <a:extLst>
              <a:ext uri="{FF2B5EF4-FFF2-40B4-BE49-F238E27FC236}">
                <a16:creationId xmlns:a16="http://schemas.microsoft.com/office/drawing/2014/main" id="{D210F3F8-CAA8-7969-4BDA-0388BCC2A9B5}"/>
              </a:ext>
            </a:extLst>
          </p:cNvPr>
          <p:cNvSpPr>
            <a:spLocks noChangeArrowheads="1"/>
          </p:cNvSpPr>
          <p:nvPr/>
        </p:nvSpPr>
        <p:spPr bwMode="auto">
          <a:xfrm>
            <a:off x="6484883" y="672662"/>
            <a:ext cx="5536814"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Final State After Code Runs</a:t>
            </a:r>
          </a:p>
          <a:p>
            <a:pPr marL="714375" indent="-457200">
              <a:lnSpc>
                <a:spcPct val="150000"/>
              </a:lnSpc>
              <a:buFont typeface="Arial" panose="020B0604020202020204" pitchFamily="34" charset="0"/>
              <a:buChar char="•"/>
            </a:pPr>
            <a:r>
              <a:rPr lang="en-US" sz="2800" dirty="0">
                <a:latin typeface="Calibir"/>
              </a:rPr>
              <a:t>Library: Still has the book.</a:t>
            </a:r>
          </a:p>
          <a:p>
            <a:pPr marL="714375" indent="-457200">
              <a:lnSpc>
                <a:spcPct val="150000"/>
              </a:lnSpc>
              <a:buFont typeface="Arial" panose="020B0604020202020204" pitchFamily="34" charset="0"/>
              <a:buChar char="•"/>
            </a:pPr>
            <a:r>
              <a:rPr lang="en-US" sz="2800" dirty="0">
                <a:latin typeface="Calibir"/>
              </a:rPr>
              <a:t>Book ("Python Basics"): Available again (not borrowed by anyone).</a:t>
            </a:r>
          </a:p>
          <a:p>
            <a:pPr marL="714375" indent="-457200">
              <a:lnSpc>
                <a:spcPct val="150000"/>
              </a:lnSpc>
              <a:buFont typeface="Arial" panose="020B0604020202020204" pitchFamily="34" charset="0"/>
              <a:buChar char="•"/>
            </a:pPr>
            <a:r>
              <a:rPr lang="en-US" sz="2800" dirty="0">
                <a:latin typeface="Calibir"/>
              </a:rPr>
              <a:t>Member (Farshid): Has no borrowed books.</a:t>
            </a:r>
          </a:p>
        </p:txBody>
      </p:sp>
      <p:sp>
        <p:nvSpPr>
          <p:cNvPr id="5" name="Rectangle: Rounded Corners 4">
            <a:extLst>
              <a:ext uri="{FF2B5EF4-FFF2-40B4-BE49-F238E27FC236}">
                <a16:creationId xmlns:a16="http://schemas.microsoft.com/office/drawing/2014/main" id="{7079DEAA-299C-7012-D80F-BA362EDC3591}"/>
              </a:ext>
            </a:extLst>
          </p:cNvPr>
          <p:cNvSpPr/>
          <p:nvPr/>
        </p:nvSpPr>
        <p:spPr>
          <a:xfrm>
            <a:off x="683172" y="4582511"/>
            <a:ext cx="5412828" cy="33633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4234207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85789-8E92-A1A1-25E9-C55BF4C45F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31627F-8055-8FBB-5F5A-667F13594D51}"/>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pic>
        <p:nvPicPr>
          <p:cNvPr id="4" name="Picture 3">
            <a:extLst>
              <a:ext uri="{FF2B5EF4-FFF2-40B4-BE49-F238E27FC236}">
                <a16:creationId xmlns:a16="http://schemas.microsoft.com/office/drawing/2014/main" id="{4404E7B6-FADA-7382-6655-D2335DE5DBCB}"/>
              </a:ext>
            </a:extLst>
          </p:cNvPr>
          <p:cNvPicPr>
            <a:picLocks noChangeAspect="1"/>
          </p:cNvPicPr>
          <p:nvPr/>
        </p:nvPicPr>
        <p:blipFill>
          <a:blip r:embed="rId2"/>
          <a:srcRect l="51895" b="42581"/>
          <a:stretch>
            <a:fillRect/>
          </a:stretch>
        </p:blipFill>
        <p:spPr>
          <a:xfrm>
            <a:off x="36973" y="672662"/>
            <a:ext cx="6447910" cy="4329233"/>
          </a:xfrm>
          <a:prstGeom prst="rect">
            <a:avLst/>
          </a:prstGeom>
        </p:spPr>
      </p:pic>
      <p:sp>
        <p:nvSpPr>
          <p:cNvPr id="3" name="Rectangle 1">
            <a:extLst>
              <a:ext uri="{FF2B5EF4-FFF2-40B4-BE49-F238E27FC236}">
                <a16:creationId xmlns:a16="http://schemas.microsoft.com/office/drawing/2014/main" id="{3E942744-21A1-0B08-1E11-B3020CD296BF}"/>
              </a:ext>
            </a:extLst>
          </p:cNvPr>
          <p:cNvSpPr>
            <a:spLocks noChangeArrowheads="1"/>
          </p:cNvSpPr>
          <p:nvPr/>
        </p:nvSpPr>
        <p:spPr bwMode="auto">
          <a:xfrm>
            <a:off x="6484883" y="679007"/>
            <a:ext cx="5536814"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In short: The code correctly enforces the borrowing rules:</a:t>
            </a:r>
          </a:p>
          <a:p>
            <a:pPr marL="714375" indent="-457200">
              <a:lnSpc>
                <a:spcPct val="150000"/>
              </a:lnSpc>
              <a:buFont typeface="Arial" panose="020B0604020202020204" pitchFamily="34" charset="0"/>
              <a:buChar char="•"/>
            </a:pPr>
            <a:r>
              <a:rPr lang="en-US" sz="2800" dirty="0">
                <a:latin typeface="Calibir"/>
              </a:rPr>
              <a:t>Borrow once works.</a:t>
            </a:r>
          </a:p>
          <a:p>
            <a:pPr marL="714375" indent="-457200">
              <a:lnSpc>
                <a:spcPct val="150000"/>
              </a:lnSpc>
              <a:buFont typeface="Arial" panose="020B0604020202020204" pitchFamily="34" charset="0"/>
              <a:buChar char="•"/>
            </a:pPr>
            <a:r>
              <a:rPr lang="en-US" sz="2800" dirty="0">
                <a:latin typeface="Calibir"/>
              </a:rPr>
              <a:t>Borrowing again is blocked.</a:t>
            </a:r>
          </a:p>
          <a:p>
            <a:pPr marL="714375" indent="-457200">
              <a:lnSpc>
                <a:spcPct val="150000"/>
              </a:lnSpc>
              <a:buFont typeface="Arial" panose="020B0604020202020204" pitchFamily="34" charset="0"/>
              <a:buChar char="•"/>
            </a:pPr>
            <a:r>
              <a:rPr lang="en-US" sz="2800" dirty="0">
                <a:latin typeface="Calibir"/>
              </a:rPr>
              <a:t>Returning resets the book’s status.</a:t>
            </a:r>
          </a:p>
        </p:txBody>
      </p:sp>
      <p:sp>
        <p:nvSpPr>
          <p:cNvPr id="5" name="Rectangle: Rounded Corners 4">
            <a:extLst>
              <a:ext uri="{FF2B5EF4-FFF2-40B4-BE49-F238E27FC236}">
                <a16:creationId xmlns:a16="http://schemas.microsoft.com/office/drawing/2014/main" id="{A03CC4D5-1ABE-81A7-7457-C87F297EC475}"/>
              </a:ext>
            </a:extLst>
          </p:cNvPr>
          <p:cNvSpPr/>
          <p:nvPr/>
        </p:nvSpPr>
        <p:spPr>
          <a:xfrm>
            <a:off x="683172" y="4582511"/>
            <a:ext cx="5412828" cy="33633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53946171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1 — Show the current count when limit blocks borrowing</a:t>
            </a:r>
            <a:endParaRPr lang="en-AU" sz="3600" b="1" dirty="0">
              <a:latin typeface="Calibir"/>
            </a:endParaRPr>
          </a:p>
        </p:txBody>
      </p:sp>
      <p:sp>
        <p:nvSpPr>
          <p:cNvPr id="6" name="Rectangle 1">
            <a:extLst>
              <a:ext uri="{FF2B5EF4-FFF2-40B4-BE49-F238E27FC236}">
                <a16:creationId xmlns:a16="http://schemas.microsoft.com/office/drawing/2014/main" id="{54232C39-4B67-B72F-D421-069ED2BA74CB}"/>
              </a:ext>
            </a:extLst>
          </p:cNvPr>
          <p:cNvSpPr>
            <a:spLocks noChangeArrowheads="1"/>
          </p:cNvSpPr>
          <p:nvPr/>
        </p:nvSpPr>
        <p:spPr bwMode="auto">
          <a:xfrm>
            <a:off x="0" y="567374"/>
            <a:ext cx="12192000"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Task:</a:t>
            </a:r>
            <a:r>
              <a:rPr kumimoji="0" lang="en-US" altLang="en-US" sz="2800" b="0" i="0" u="none" strike="noStrike" cap="none" normalizeH="0" baseline="0" dirty="0">
                <a:ln>
                  <a:noFill/>
                </a:ln>
                <a:solidFill>
                  <a:schemeClr val="tx1"/>
                </a:solidFill>
                <a:effectLst/>
                <a:latin typeface="Calibir"/>
              </a:rPr>
              <a:t> When a member hits the 5-book limit, show how many they already have.</a:t>
            </a:r>
            <a:br>
              <a:rPr kumimoji="0" lang="en-US" altLang="en-US" sz="2800" b="0" i="0" u="none" strike="noStrike" cap="none" normalizeH="0" baseline="0" dirty="0">
                <a:ln>
                  <a:noFill/>
                </a:ln>
                <a:solidFill>
                  <a:schemeClr val="tx1"/>
                </a:solidFill>
                <a:effectLst/>
                <a:latin typeface="Calibir"/>
              </a:rPr>
            </a:br>
            <a:r>
              <a:rPr kumimoji="0" lang="en-US" altLang="en-US" sz="2800" b="1" i="0" u="none" strike="noStrike" cap="none" normalizeH="0" baseline="0" dirty="0">
                <a:ln>
                  <a:noFill/>
                </a:ln>
                <a:solidFill>
                  <a:schemeClr val="tx1"/>
                </a:solidFill>
                <a:effectLst/>
                <a:latin typeface="Calibir"/>
              </a:rPr>
              <a:t>Hint for Python:</a:t>
            </a:r>
            <a:r>
              <a:rPr kumimoji="0" lang="en-US" altLang="en-US" sz="2800" b="0" i="0" u="none" strike="noStrike" cap="none" normalizeH="0" baseline="0" dirty="0">
                <a:ln>
                  <a:noFill/>
                </a:ln>
                <a:solidFill>
                  <a:schemeClr val="tx1"/>
                </a:solidFill>
                <a:effectLst/>
                <a:latin typeface="Calibir"/>
              </a:rPr>
              <a:t> Edit the </a:t>
            </a:r>
            <a:r>
              <a:rPr kumimoji="0" lang="en-US" altLang="en-US" sz="2800" i="0" u="none" strike="noStrike" cap="none" normalizeH="0" baseline="0" dirty="0">
                <a:ln>
                  <a:noFill/>
                </a:ln>
                <a:solidFill>
                  <a:schemeClr val="tx1"/>
                </a:solidFill>
                <a:effectLst/>
                <a:latin typeface="Calibir"/>
              </a:rPr>
              <a:t>first print(...) </a:t>
            </a:r>
            <a:r>
              <a:rPr kumimoji="0" lang="en-US" altLang="en-US" sz="2800" b="0" i="0" u="none" strike="noStrike" cap="none" normalizeH="0" baseline="0" dirty="0">
                <a:ln>
                  <a:noFill/>
                </a:ln>
                <a:solidFill>
                  <a:schemeClr val="tx1"/>
                </a:solidFill>
                <a:effectLst/>
                <a:latin typeface="Calibir"/>
              </a:rPr>
              <a:t>inside </a:t>
            </a:r>
            <a:r>
              <a:rPr kumimoji="0" lang="en-US" altLang="en-US" sz="2800" b="0" i="0" u="none" strike="noStrike" cap="none" normalizeH="0" baseline="0" dirty="0" err="1">
                <a:ln>
                  <a:noFill/>
                </a:ln>
                <a:solidFill>
                  <a:schemeClr val="tx1"/>
                </a:solidFill>
                <a:effectLst/>
                <a:latin typeface="Calibir"/>
              </a:rPr>
              <a:t>Member.borrow</a:t>
            </a:r>
            <a:r>
              <a:rPr kumimoji="0" lang="en-US" altLang="en-US" sz="2800" b="0" i="0" u="none" strike="noStrike" cap="none" normalizeH="0" baseline="0" dirty="0">
                <a:ln>
                  <a:noFill/>
                </a:ln>
                <a:solidFill>
                  <a:schemeClr val="tx1"/>
                </a:solidFill>
                <a:effectLst/>
                <a:latin typeface="Calibir"/>
              </a:rPr>
              <a:t>() where the limit is checked.</a:t>
            </a:r>
          </a:p>
          <a:p>
            <a:pPr lvl="0" eaLnBrk="0" fontAlgn="base" hangingPunct="0">
              <a:lnSpc>
                <a:spcPct val="150000"/>
              </a:lnSpc>
              <a:spcBef>
                <a:spcPct val="0"/>
              </a:spcBef>
              <a:spcAft>
                <a:spcPct val="0"/>
              </a:spcAft>
            </a:pPr>
            <a:r>
              <a:rPr lang="en-US" altLang="en-US" sz="2800" b="1" dirty="0">
                <a:latin typeface="Calibir"/>
              </a:rPr>
              <a:t>Hint for Java:</a:t>
            </a:r>
            <a:r>
              <a:rPr lang="en-US" altLang="en-US" sz="2800" dirty="0">
                <a:latin typeface="Calibir"/>
              </a:rPr>
              <a:t> Inside </a:t>
            </a:r>
            <a:r>
              <a:rPr lang="en-US" altLang="en-US" sz="2800" dirty="0" err="1">
                <a:latin typeface="Calibir"/>
              </a:rPr>
              <a:t>Member.borrow</a:t>
            </a:r>
            <a:r>
              <a:rPr lang="en-US" altLang="en-US" sz="2800" dirty="0">
                <a:latin typeface="Calibir"/>
              </a:rPr>
              <a:t>() in the limit check.</a:t>
            </a:r>
            <a:endParaRPr kumimoji="0" lang="en-US" altLang="en-US" sz="2800" i="0" u="none" strike="noStrike" cap="none" normalizeH="0" baseline="0" dirty="0">
              <a:ln>
                <a:noFill/>
              </a:ln>
              <a:solidFill>
                <a:schemeClr val="tx1"/>
              </a:solidFill>
              <a:effectLst/>
              <a:latin typeface="Calibir"/>
            </a:endParaRPr>
          </a:p>
        </p:txBody>
      </p:sp>
      <p:pic>
        <p:nvPicPr>
          <p:cNvPr id="7" name="Timer">
            <a:hlinkClick r:id="" action="ppaction://media"/>
            <a:extLst>
              <a:ext uri="{FF2B5EF4-FFF2-40B4-BE49-F238E27FC236}">
                <a16:creationId xmlns:a16="http://schemas.microsoft.com/office/drawing/2014/main" id="{F75AE076-77EE-2741-9F57-F1E400B635AA}"/>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87" t="44980" r="40986" b="40884"/>
          <a:stretch>
            <a:fillRect/>
          </a:stretch>
        </p:blipFill>
        <p:spPr>
          <a:xfrm>
            <a:off x="5097702" y="3463057"/>
            <a:ext cx="1996596" cy="857075"/>
          </a:xfrm>
          <a:prstGeom prst="rect">
            <a:avLst/>
          </a:prstGeom>
          <a:ln w="38100">
            <a:solidFill>
              <a:srgbClr val="FF0000"/>
            </a:solidFill>
          </a:ln>
        </p:spPr>
      </p:pic>
    </p:spTree>
    <p:extLst>
      <p:ext uri="{BB962C8B-B14F-4D97-AF65-F5344CB8AC3E}">
        <p14:creationId xmlns:p14="http://schemas.microsoft.com/office/powerpoint/2010/main" val="4269408483"/>
      </p:ext>
    </p:extLst>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1 — Show the current count when limit blocks borrowing</a:t>
            </a:r>
            <a:endParaRPr lang="en-AU" sz="3600" b="1" dirty="0">
              <a:latin typeface="Calibir"/>
            </a:endParaRPr>
          </a:p>
        </p:txBody>
      </p:sp>
      <p:sp>
        <p:nvSpPr>
          <p:cNvPr id="9" name="TextBox 8">
            <a:extLst>
              <a:ext uri="{FF2B5EF4-FFF2-40B4-BE49-F238E27FC236}">
                <a16:creationId xmlns:a16="http://schemas.microsoft.com/office/drawing/2014/main" id="{52683913-22CC-AEBE-EBB4-3B1AE2E12BD3}"/>
              </a:ext>
            </a:extLst>
          </p:cNvPr>
          <p:cNvSpPr txBox="1"/>
          <p:nvPr/>
        </p:nvSpPr>
        <p:spPr>
          <a:xfrm>
            <a:off x="77514" y="858438"/>
            <a:ext cx="12036972" cy="1053558"/>
          </a:xfrm>
          <a:prstGeom prst="rect">
            <a:avLst/>
          </a:prstGeom>
          <a:solidFill>
            <a:schemeClr val="tx1"/>
          </a:solidFill>
        </p:spPr>
        <p:txBody>
          <a:bodyPr wrap="square">
            <a:spAutoFit/>
          </a:bodyPr>
          <a:lstStyle/>
          <a:p>
            <a:pPr>
              <a:lnSpc>
                <a:spcPct val="150000"/>
              </a:lnSpc>
              <a:buNone/>
            </a:pP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print</a:t>
            </a:r>
            <a:r>
              <a:rPr lang="en-US" sz="2200" b="0" dirty="0">
                <a:solidFill>
                  <a:srgbClr val="CCCCCC"/>
                </a:solidFill>
                <a:effectLst/>
                <a:latin typeface="Consolas" panose="020B0609020204030204" pitchFamily="49" charset="0"/>
              </a:rPr>
              <a:t>(</a:t>
            </a:r>
            <a:r>
              <a:rPr lang="en-US" sz="2200" b="0" dirty="0">
                <a:solidFill>
                  <a:srgbClr val="569CD6"/>
                </a:solidFill>
                <a:effectLst/>
                <a:latin typeface="Consolas" panose="020B0609020204030204" pitchFamily="49" charset="0"/>
              </a:rPr>
              <a:t>f</a:t>
            </a:r>
            <a:r>
              <a:rPr lang="en-US" sz="2200" b="0" dirty="0">
                <a:solidFill>
                  <a:srgbClr val="CE9178"/>
                </a:solidFill>
                <a:effectLst/>
                <a:latin typeface="Consolas" panose="020B0609020204030204" pitchFamily="49" charset="0"/>
              </a:rPr>
              <a:t>"</a:t>
            </a:r>
            <a:r>
              <a:rPr lang="en-US" sz="2200" b="0" dirty="0">
                <a:solidFill>
                  <a:srgbClr val="569CD6"/>
                </a:solidFill>
                <a:effectLst/>
                <a:latin typeface="Consolas" panose="020B0609020204030204" pitchFamily="49" charset="0"/>
              </a:rPr>
              <a:t>{</a:t>
            </a:r>
            <a:r>
              <a:rPr lang="en-US" sz="2200" b="0" dirty="0">
                <a:solidFill>
                  <a:srgbClr val="9CDCFE"/>
                </a:solidFill>
                <a:effectLst/>
                <a:latin typeface="Consolas" panose="020B0609020204030204" pitchFamily="49" charset="0"/>
              </a:rPr>
              <a:t>self</a:t>
            </a:r>
            <a:r>
              <a:rPr lang="en-US" sz="2200" b="0" dirty="0">
                <a:solidFill>
                  <a:srgbClr val="CCCCCC"/>
                </a:solidFill>
                <a:effectLst/>
                <a:latin typeface="Consolas" panose="020B0609020204030204" pitchFamily="49" charset="0"/>
              </a:rPr>
              <a:t>.</a:t>
            </a:r>
            <a:r>
              <a:rPr lang="en-US" sz="2200" b="0" dirty="0">
                <a:solidFill>
                  <a:srgbClr val="9CDCFE"/>
                </a:solidFill>
                <a:effectLst/>
                <a:latin typeface="Consolas" panose="020B0609020204030204" pitchFamily="49" charset="0"/>
              </a:rPr>
              <a:t>name</a:t>
            </a:r>
            <a:r>
              <a:rPr lang="en-US" sz="2200" b="0" dirty="0">
                <a:solidFill>
                  <a:srgbClr val="569CD6"/>
                </a:solidFill>
                <a:effectLst/>
                <a:latin typeface="Consolas" panose="020B0609020204030204" pitchFamily="49" charset="0"/>
              </a:rPr>
              <a:t>}</a:t>
            </a:r>
            <a:r>
              <a:rPr lang="en-US" sz="2200" b="0" dirty="0">
                <a:solidFill>
                  <a:srgbClr val="CE9178"/>
                </a:solidFill>
                <a:effectLst/>
                <a:latin typeface="Consolas" panose="020B0609020204030204" pitchFamily="49" charset="0"/>
              </a:rPr>
              <a:t> cannot borrow more than 5 books (currently </a:t>
            </a:r>
            <a:r>
              <a:rPr lang="en-US" sz="2200" b="0" dirty="0">
                <a:solidFill>
                  <a:srgbClr val="569CD6"/>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len</a:t>
            </a:r>
            <a:r>
              <a:rPr lang="en-US" sz="2200" b="0" dirty="0">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self</a:t>
            </a:r>
            <a:r>
              <a:rPr lang="en-US" sz="2200" b="0" dirty="0" err="1">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borrowed_books</a:t>
            </a:r>
            <a:r>
              <a:rPr lang="en-US" sz="2200" b="0" dirty="0">
                <a:solidFill>
                  <a:srgbClr val="CCCCCC"/>
                </a:solidFill>
                <a:effectLst/>
                <a:latin typeface="Consolas" panose="020B0609020204030204" pitchFamily="49" charset="0"/>
              </a:rPr>
              <a:t>)</a:t>
            </a:r>
            <a:r>
              <a:rPr lang="en-US" sz="2200" b="0" dirty="0">
                <a:solidFill>
                  <a:srgbClr val="569CD6"/>
                </a:solidFill>
                <a:effectLst/>
                <a:latin typeface="Consolas" panose="020B0609020204030204" pitchFamily="49" charset="0"/>
              </a:rPr>
              <a:t>}</a:t>
            </a:r>
            <a:r>
              <a:rPr lang="en-US" sz="2200" b="0" dirty="0">
                <a:solidFill>
                  <a:srgbClr val="CE9178"/>
                </a:solidFill>
                <a:effectLst/>
                <a:latin typeface="Consolas" panose="020B0609020204030204" pitchFamily="49" charset="0"/>
              </a:rPr>
              <a:t>/5)."</a:t>
            </a:r>
            <a:r>
              <a:rPr lang="en-US" sz="2200" b="0" dirty="0">
                <a:solidFill>
                  <a:srgbClr val="CCCCCC"/>
                </a:solidFill>
                <a:effectLst/>
                <a:latin typeface="Consolas" panose="020B0609020204030204" pitchFamily="49" charset="0"/>
              </a:rPr>
              <a:t>)</a:t>
            </a:r>
          </a:p>
        </p:txBody>
      </p:sp>
      <p:sp>
        <p:nvSpPr>
          <p:cNvPr id="10" name="Rectangle 2">
            <a:extLst>
              <a:ext uri="{FF2B5EF4-FFF2-40B4-BE49-F238E27FC236}">
                <a16:creationId xmlns:a16="http://schemas.microsoft.com/office/drawing/2014/main" id="{A35F8984-4872-0204-3DEC-A48F5126577F}"/>
              </a:ext>
            </a:extLst>
          </p:cNvPr>
          <p:cNvSpPr>
            <a:spLocks noChangeArrowheads="1"/>
          </p:cNvSpPr>
          <p:nvPr/>
        </p:nvSpPr>
        <p:spPr bwMode="auto">
          <a:xfrm>
            <a:off x="0" y="1911996"/>
            <a:ext cx="12192000" cy="31441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700" i="0" u="none" strike="noStrike" cap="none" normalizeH="0" baseline="0" dirty="0">
                <a:ln>
                  <a:noFill/>
                </a:ln>
                <a:solidFill>
                  <a:schemeClr val="tx1"/>
                </a:solidFill>
                <a:effectLst/>
                <a:latin typeface="Calibir"/>
              </a:rPr>
              <a:t>For Python</a:t>
            </a: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700" i="0" u="none" strike="noStrike" cap="none" normalizeH="0" baseline="0" dirty="0" err="1">
                <a:ln>
                  <a:noFill/>
                </a:ln>
                <a:solidFill>
                  <a:schemeClr val="tx1"/>
                </a:solidFill>
                <a:effectLst/>
                <a:latin typeface="Calibir"/>
              </a:rPr>
              <a:t>len</a:t>
            </a:r>
            <a:r>
              <a:rPr kumimoji="0" lang="en-US" altLang="en-US" sz="2700" i="0" u="none" strike="noStrike" cap="none" normalizeH="0" baseline="0" dirty="0">
                <a:ln>
                  <a:noFill/>
                </a:ln>
                <a:solidFill>
                  <a:schemeClr val="tx1"/>
                </a:solidFill>
                <a:effectLst/>
                <a:latin typeface="Calibir"/>
              </a:rPr>
              <a:t>(</a:t>
            </a:r>
            <a:r>
              <a:rPr kumimoji="0" lang="en-US" altLang="en-US" sz="2700" i="0" u="none" strike="noStrike" cap="none" normalizeH="0" baseline="0" dirty="0" err="1">
                <a:ln>
                  <a:noFill/>
                </a:ln>
                <a:solidFill>
                  <a:schemeClr val="tx1"/>
                </a:solidFill>
                <a:effectLst/>
                <a:latin typeface="Calibir"/>
              </a:rPr>
              <a:t>self.borrowed_books</a:t>
            </a:r>
            <a:r>
              <a:rPr kumimoji="0" lang="en-US" altLang="en-US" sz="2700" i="0" u="none" strike="noStrike" cap="none" normalizeH="0" baseline="0" dirty="0">
                <a:ln>
                  <a:noFill/>
                </a:ln>
                <a:solidFill>
                  <a:schemeClr val="tx1"/>
                </a:solidFill>
                <a:effectLst/>
                <a:latin typeface="Calibir"/>
              </a:rPr>
              <a:t>) → this calculates the length of the list </a:t>
            </a:r>
            <a:r>
              <a:rPr kumimoji="0" lang="en-US" altLang="en-US" sz="2700" i="0" u="none" strike="noStrike" cap="none" normalizeH="0" baseline="0" dirty="0" err="1">
                <a:ln>
                  <a:noFill/>
                </a:ln>
                <a:solidFill>
                  <a:schemeClr val="tx1"/>
                </a:solidFill>
                <a:effectLst/>
                <a:latin typeface="Calibir"/>
              </a:rPr>
              <a:t>self.borrowed_books</a:t>
            </a:r>
            <a:r>
              <a:rPr kumimoji="0" lang="en-US" altLang="en-US" sz="2700" i="0" u="none" strike="noStrike" cap="none" normalizeH="0" baseline="0" dirty="0">
                <a:ln>
                  <a:noFill/>
                </a:ln>
                <a:solidFill>
                  <a:schemeClr val="tx1"/>
                </a:solidFill>
                <a:effectLst/>
                <a:latin typeface="Calibir"/>
              </a:rPr>
              <a:t>.</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700" i="0" u="none" strike="noStrike" cap="none" normalizeH="0" baseline="0" dirty="0">
                <a:ln>
                  <a:noFill/>
                </a:ln>
                <a:solidFill>
                  <a:schemeClr val="tx1"/>
                </a:solidFill>
                <a:effectLst/>
                <a:latin typeface="Calibir"/>
              </a:rPr>
              <a:t>In other words, it counts how many books the member has borrowed right now.</a:t>
            </a:r>
          </a:p>
          <a:p>
            <a:pPr marL="342900" lvl="0" indent="-342900" eaLnBrk="0" fontAlgn="base" hangingPunct="0">
              <a:lnSpc>
                <a:spcPct val="150000"/>
              </a:lnSpc>
              <a:spcBef>
                <a:spcPct val="0"/>
              </a:spcBef>
              <a:spcAft>
                <a:spcPct val="0"/>
              </a:spcAft>
              <a:buFont typeface="Arial" panose="020B0604020202020204" pitchFamily="34" charset="0"/>
              <a:buChar char="•"/>
            </a:pPr>
            <a:r>
              <a:rPr kumimoji="0" lang="en-US" altLang="en-US" sz="2700" i="0" u="none" strike="noStrike" cap="none" normalizeH="0" baseline="0" dirty="0">
                <a:ln>
                  <a:noFill/>
                </a:ln>
                <a:solidFill>
                  <a:schemeClr val="tx1"/>
                </a:solidFill>
                <a:effectLst/>
                <a:latin typeface="Calibir"/>
              </a:rPr>
              <a:t>Example: if the list has 3 books, then </a:t>
            </a:r>
            <a:r>
              <a:rPr kumimoji="0" lang="en-US" altLang="en-US" sz="2700" i="0" u="none" strike="noStrike" cap="none" normalizeH="0" baseline="0" dirty="0" err="1">
                <a:ln>
                  <a:noFill/>
                </a:ln>
                <a:solidFill>
                  <a:schemeClr val="tx1"/>
                </a:solidFill>
                <a:effectLst/>
                <a:latin typeface="Calibir"/>
              </a:rPr>
              <a:t>len</a:t>
            </a:r>
            <a:r>
              <a:rPr kumimoji="0" lang="en-US" altLang="en-US" sz="2700" i="0" u="none" strike="noStrike" cap="none" normalizeH="0" baseline="0" dirty="0">
                <a:ln>
                  <a:noFill/>
                </a:ln>
                <a:solidFill>
                  <a:schemeClr val="tx1"/>
                </a:solidFill>
                <a:effectLst/>
                <a:latin typeface="Calibir"/>
              </a:rPr>
              <a:t>(</a:t>
            </a:r>
            <a:r>
              <a:rPr kumimoji="0" lang="en-US" altLang="en-US" sz="2700" i="0" u="none" strike="noStrike" cap="none" normalizeH="0" baseline="0" dirty="0" err="1">
                <a:ln>
                  <a:noFill/>
                </a:ln>
                <a:solidFill>
                  <a:schemeClr val="tx1"/>
                </a:solidFill>
                <a:effectLst/>
                <a:latin typeface="Calibir"/>
              </a:rPr>
              <a:t>self.borrowed_books</a:t>
            </a:r>
            <a:r>
              <a:rPr kumimoji="0" lang="en-US" altLang="en-US" sz="2700" i="0" u="none" strike="noStrike" cap="none" normalizeH="0" baseline="0" dirty="0">
                <a:ln>
                  <a:noFill/>
                </a:ln>
                <a:solidFill>
                  <a:schemeClr val="tx1"/>
                </a:solidFill>
                <a:effectLst/>
                <a:latin typeface="Calibir"/>
              </a:rPr>
              <a:t>) = 3. </a:t>
            </a:r>
            <a:r>
              <a:rPr lang="en-US" sz="2700" dirty="0">
                <a:latin typeface="Calibir"/>
              </a:rPr>
              <a:t>Then the code prints it as: (currently 3/5) → which means 3 books out of the 5 allowed.</a:t>
            </a:r>
          </a:p>
        </p:txBody>
      </p:sp>
    </p:spTree>
    <p:extLst>
      <p:ext uri="{BB962C8B-B14F-4D97-AF65-F5344CB8AC3E}">
        <p14:creationId xmlns:p14="http://schemas.microsoft.com/office/powerpoint/2010/main" val="413090266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F80FE-7BE1-34C8-DADD-C2B05CF82F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4BDA8D-BB25-20C9-FF4F-321CE0129B76}"/>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1 — Show the current count when limit blocks borrowing</a:t>
            </a:r>
            <a:endParaRPr lang="en-AU" sz="3600" b="1" dirty="0">
              <a:latin typeface="Calibir"/>
            </a:endParaRPr>
          </a:p>
        </p:txBody>
      </p:sp>
      <p:sp>
        <p:nvSpPr>
          <p:cNvPr id="3" name="TextBox 2">
            <a:extLst>
              <a:ext uri="{FF2B5EF4-FFF2-40B4-BE49-F238E27FC236}">
                <a16:creationId xmlns:a16="http://schemas.microsoft.com/office/drawing/2014/main" id="{5BBCAAF1-E792-B9BB-F2AA-5312994B4895}"/>
              </a:ext>
            </a:extLst>
          </p:cNvPr>
          <p:cNvSpPr txBox="1"/>
          <p:nvPr/>
        </p:nvSpPr>
        <p:spPr>
          <a:xfrm>
            <a:off x="0" y="1059850"/>
            <a:ext cx="5250425" cy="523220"/>
          </a:xfrm>
          <a:prstGeom prst="rect">
            <a:avLst/>
          </a:prstGeom>
          <a:noFill/>
        </p:spPr>
        <p:txBody>
          <a:bodyPr wrap="square" rtlCol="0">
            <a:spAutoFit/>
          </a:bodyPr>
          <a:lstStyle/>
          <a:p>
            <a:r>
              <a:rPr lang="en-AU" sz="2800" dirty="0">
                <a:highlight>
                  <a:srgbClr val="FFFF00"/>
                </a:highlight>
                <a:latin typeface="Calibir"/>
              </a:rPr>
              <a:t>(Java) </a:t>
            </a:r>
            <a:r>
              <a:rPr lang="en-AU" sz="2800" dirty="0">
                <a:latin typeface="Calibir"/>
              </a:rPr>
              <a:t>Line 30:</a:t>
            </a:r>
          </a:p>
        </p:txBody>
      </p:sp>
      <p:sp>
        <p:nvSpPr>
          <p:cNvPr id="6" name="TextBox 5">
            <a:extLst>
              <a:ext uri="{FF2B5EF4-FFF2-40B4-BE49-F238E27FC236}">
                <a16:creationId xmlns:a16="http://schemas.microsoft.com/office/drawing/2014/main" id="{D56FCD97-DDCA-5925-5C97-5AD9BE97E642}"/>
              </a:ext>
            </a:extLst>
          </p:cNvPr>
          <p:cNvSpPr txBox="1"/>
          <p:nvPr/>
        </p:nvSpPr>
        <p:spPr>
          <a:xfrm>
            <a:off x="0" y="4715119"/>
            <a:ext cx="12088761" cy="738664"/>
          </a:xfrm>
          <a:prstGeom prst="rect">
            <a:avLst/>
          </a:prstGeom>
          <a:solidFill>
            <a:schemeClr val="tx1"/>
          </a:solidFill>
        </p:spPr>
        <p:txBody>
          <a:bodyPr wrap="square">
            <a:spAutoFit/>
          </a:bodyPr>
          <a:lstStyle/>
          <a:p>
            <a:pPr>
              <a:buNone/>
            </a:pPr>
            <a:r>
              <a:rPr lang="en-US" sz="2100" b="0" dirty="0" err="1">
                <a:solidFill>
                  <a:srgbClr val="4EC9B0"/>
                </a:solidFill>
                <a:effectLst/>
                <a:latin typeface="Consolas" panose="020B0609020204030204" pitchFamily="49" charset="0"/>
              </a:rPr>
              <a:t>System</a:t>
            </a:r>
            <a:r>
              <a:rPr lang="en-US" sz="2100" b="0" dirty="0" err="1">
                <a:solidFill>
                  <a:srgbClr val="CCCCCC"/>
                </a:solidFill>
                <a:effectLst/>
                <a:latin typeface="Consolas" panose="020B0609020204030204" pitchFamily="49" charset="0"/>
              </a:rPr>
              <a:t>.</a:t>
            </a:r>
            <a:r>
              <a:rPr lang="en-US" sz="2100" b="0" dirty="0" err="1">
                <a:solidFill>
                  <a:srgbClr val="4FC1FF"/>
                </a:solidFill>
                <a:effectLst/>
                <a:latin typeface="Consolas" panose="020B0609020204030204" pitchFamily="49" charset="0"/>
              </a:rPr>
              <a:t>out</a:t>
            </a:r>
            <a:r>
              <a:rPr lang="en-US" sz="2100" b="0" dirty="0" err="1">
                <a:solidFill>
                  <a:srgbClr val="CCCCCC"/>
                </a:solidFill>
                <a:effectLst/>
                <a:latin typeface="Consolas" panose="020B0609020204030204" pitchFamily="49" charset="0"/>
              </a:rPr>
              <a:t>.</a:t>
            </a:r>
            <a:r>
              <a:rPr lang="en-US" sz="2100" b="0" dirty="0" err="1">
                <a:solidFill>
                  <a:srgbClr val="DCDCAA"/>
                </a:solidFill>
                <a:effectLst/>
                <a:latin typeface="Consolas" panose="020B0609020204030204" pitchFamily="49" charset="0"/>
              </a:rPr>
              <a:t>println</a:t>
            </a:r>
            <a:r>
              <a:rPr lang="en-US" sz="2100" b="0" dirty="0">
                <a:solidFill>
                  <a:srgbClr val="CCCCCC"/>
                </a:solidFill>
                <a:effectLst/>
                <a:latin typeface="Consolas" panose="020B0609020204030204" pitchFamily="49" charset="0"/>
              </a:rPr>
              <a:t>(</a:t>
            </a:r>
            <a:r>
              <a:rPr lang="en-US" sz="2100" b="0" dirty="0">
                <a:solidFill>
                  <a:srgbClr val="9CDCFE"/>
                </a:solidFill>
                <a:effectLst/>
                <a:latin typeface="Consolas" panose="020B0609020204030204" pitchFamily="49" charset="0"/>
              </a:rPr>
              <a:t>name</a:t>
            </a:r>
            <a:r>
              <a:rPr lang="en-US" sz="2100" b="0" dirty="0">
                <a:solidFill>
                  <a:srgbClr val="CCCCCC"/>
                </a:solidFill>
                <a:effectLst/>
                <a:latin typeface="Consolas" panose="020B0609020204030204" pitchFamily="49" charset="0"/>
              </a:rPr>
              <a:t> </a:t>
            </a:r>
            <a:r>
              <a:rPr lang="en-US" sz="2100" b="0" dirty="0">
                <a:solidFill>
                  <a:srgbClr val="D4D4D4"/>
                </a:solidFill>
                <a:effectLst/>
                <a:latin typeface="Consolas" panose="020B0609020204030204" pitchFamily="49" charset="0"/>
              </a:rPr>
              <a:t>+</a:t>
            </a:r>
            <a:r>
              <a:rPr lang="en-US" sz="2100" b="0" dirty="0">
                <a:solidFill>
                  <a:srgbClr val="CCCCCC"/>
                </a:solidFill>
                <a:effectLst/>
                <a:latin typeface="Consolas" panose="020B0609020204030204" pitchFamily="49" charset="0"/>
              </a:rPr>
              <a:t> </a:t>
            </a:r>
            <a:r>
              <a:rPr lang="en-US" sz="2100" b="0" dirty="0">
                <a:solidFill>
                  <a:srgbClr val="CE9178"/>
                </a:solidFill>
                <a:effectLst/>
                <a:latin typeface="Consolas" panose="020B0609020204030204" pitchFamily="49" charset="0"/>
              </a:rPr>
              <a:t>" cannot borrow more than 5 books. You already have "</a:t>
            </a:r>
            <a:endParaRPr lang="en-US" sz="2100" b="0" dirty="0">
              <a:solidFill>
                <a:srgbClr val="CCCCCC"/>
              </a:solidFill>
              <a:effectLst/>
              <a:latin typeface="Consolas" panose="020B0609020204030204" pitchFamily="49" charset="0"/>
            </a:endParaRPr>
          </a:p>
          <a:p>
            <a:pPr>
              <a:buNone/>
            </a:pPr>
            <a:r>
              <a:rPr lang="en-US" sz="2100" b="0" dirty="0">
                <a:solidFill>
                  <a:srgbClr val="CCCCCC"/>
                </a:solidFill>
                <a:effectLst/>
                <a:latin typeface="Consolas" panose="020B0609020204030204" pitchFamily="49" charset="0"/>
              </a:rPr>
              <a:t>            </a:t>
            </a:r>
            <a:r>
              <a:rPr lang="en-US" sz="2100" b="0" dirty="0">
                <a:solidFill>
                  <a:srgbClr val="D4D4D4"/>
                </a:solidFill>
                <a:effectLst/>
                <a:latin typeface="Consolas" panose="020B0609020204030204" pitchFamily="49" charset="0"/>
              </a:rPr>
              <a:t>+</a:t>
            </a:r>
            <a:r>
              <a:rPr lang="en-US" sz="2100" b="0" dirty="0">
                <a:solidFill>
                  <a:srgbClr val="CCCCCC"/>
                </a:solidFill>
                <a:effectLst/>
                <a:latin typeface="Consolas" panose="020B0609020204030204" pitchFamily="49" charset="0"/>
              </a:rPr>
              <a:t> </a:t>
            </a:r>
            <a:r>
              <a:rPr lang="en-US" sz="2100" b="0" dirty="0" err="1">
                <a:solidFill>
                  <a:srgbClr val="9CDCFE"/>
                </a:solidFill>
                <a:effectLst/>
                <a:latin typeface="Consolas" panose="020B0609020204030204" pitchFamily="49" charset="0"/>
              </a:rPr>
              <a:t>borrowedBooks</a:t>
            </a:r>
            <a:r>
              <a:rPr lang="en-US" sz="2100" b="0" dirty="0" err="1">
                <a:solidFill>
                  <a:srgbClr val="CCCCCC"/>
                </a:solidFill>
                <a:effectLst/>
                <a:latin typeface="Consolas" panose="020B0609020204030204" pitchFamily="49" charset="0"/>
              </a:rPr>
              <a:t>.</a:t>
            </a:r>
            <a:r>
              <a:rPr lang="en-US" sz="2100" b="0" dirty="0" err="1">
                <a:solidFill>
                  <a:srgbClr val="DCDCAA"/>
                </a:solidFill>
                <a:effectLst/>
                <a:latin typeface="Consolas" panose="020B0609020204030204" pitchFamily="49" charset="0"/>
              </a:rPr>
              <a:t>size</a:t>
            </a:r>
            <a:r>
              <a:rPr lang="en-US" sz="2100" b="0" dirty="0">
                <a:solidFill>
                  <a:srgbClr val="CCCCCC"/>
                </a:solidFill>
                <a:effectLst/>
                <a:latin typeface="Consolas" panose="020B0609020204030204" pitchFamily="49" charset="0"/>
              </a:rPr>
              <a:t>() </a:t>
            </a:r>
            <a:r>
              <a:rPr lang="en-US" sz="2100" b="0" dirty="0">
                <a:solidFill>
                  <a:srgbClr val="D4D4D4"/>
                </a:solidFill>
                <a:effectLst/>
                <a:latin typeface="Consolas" panose="020B0609020204030204" pitchFamily="49" charset="0"/>
              </a:rPr>
              <a:t>+</a:t>
            </a:r>
            <a:r>
              <a:rPr lang="en-US" sz="2100" b="0" dirty="0">
                <a:solidFill>
                  <a:srgbClr val="CCCCCC"/>
                </a:solidFill>
                <a:effectLst/>
                <a:latin typeface="Consolas" panose="020B0609020204030204" pitchFamily="49" charset="0"/>
              </a:rPr>
              <a:t> </a:t>
            </a:r>
            <a:r>
              <a:rPr lang="en-US" sz="2100" b="0" dirty="0">
                <a:solidFill>
                  <a:srgbClr val="CE9178"/>
                </a:solidFill>
                <a:effectLst/>
                <a:latin typeface="Consolas" panose="020B0609020204030204" pitchFamily="49" charset="0"/>
              </a:rPr>
              <a:t>" book(s)."</a:t>
            </a:r>
            <a:r>
              <a:rPr lang="en-US" sz="2100" b="0" dirty="0">
                <a:solidFill>
                  <a:srgbClr val="CCCCCC"/>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5FCFA038-9532-06E4-25A5-C62D859F1E77}"/>
              </a:ext>
            </a:extLst>
          </p:cNvPr>
          <p:cNvSpPr txBox="1"/>
          <p:nvPr/>
        </p:nvSpPr>
        <p:spPr>
          <a:xfrm>
            <a:off x="0" y="1678715"/>
            <a:ext cx="12192000" cy="2610843"/>
          </a:xfrm>
          <a:prstGeom prst="rect">
            <a:avLst/>
          </a:prstGeom>
          <a:noFill/>
          <a:ln>
            <a:solidFill>
              <a:srgbClr val="FF0000"/>
            </a:solidFill>
          </a:ln>
        </p:spPr>
        <p:txBody>
          <a:bodyPr wrap="square">
            <a:spAutoFit/>
          </a:bodyPr>
          <a:lstStyle/>
          <a:p>
            <a:pPr>
              <a:lnSpc>
                <a:spcPct val="150000"/>
              </a:lnSpc>
            </a:pPr>
            <a:r>
              <a:rPr lang="en-AU" sz="2800" dirty="0">
                <a:latin typeface="Calibir"/>
              </a:rPr>
              <a:t>if (</a:t>
            </a:r>
            <a:r>
              <a:rPr lang="en-AU" sz="2800" dirty="0" err="1">
                <a:latin typeface="Calibir"/>
              </a:rPr>
              <a:t>borrowedBooks.size</a:t>
            </a:r>
            <a:r>
              <a:rPr lang="en-AU" sz="2800" dirty="0">
                <a:latin typeface="Calibir"/>
              </a:rPr>
              <a:t>() &gt;= 5) {</a:t>
            </a:r>
          </a:p>
          <a:p>
            <a:pPr>
              <a:lnSpc>
                <a:spcPct val="150000"/>
              </a:lnSpc>
            </a:pPr>
            <a:r>
              <a:rPr lang="en-AU" sz="2800" dirty="0">
                <a:latin typeface="Calibir"/>
              </a:rPr>
              <a:t>    </a:t>
            </a:r>
            <a:r>
              <a:rPr lang="en-AU" sz="2800" dirty="0" err="1">
                <a:latin typeface="Calibir"/>
              </a:rPr>
              <a:t>System.out.println</a:t>
            </a:r>
            <a:r>
              <a:rPr lang="en-AU" sz="2800" dirty="0">
                <a:latin typeface="Calibir"/>
              </a:rPr>
              <a:t>(name + " cannot borrow more than 5 books.");</a:t>
            </a:r>
          </a:p>
          <a:p>
            <a:pPr>
              <a:lnSpc>
                <a:spcPct val="150000"/>
              </a:lnSpc>
            </a:pPr>
            <a:r>
              <a:rPr lang="en-AU" sz="2800" dirty="0">
                <a:latin typeface="Calibir"/>
              </a:rPr>
              <a:t>    return;</a:t>
            </a:r>
          </a:p>
          <a:p>
            <a:pPr>
              <a:lnSpc>
                <a:spcPct val="150000"/>
              </a:lnSpc>
            </a:pPr>
            <a:r>
              <a:rPr lang="en-AU" sz="2800" dirty="0">
                <a:latin typeface="Calibir"/>
              </a:rPr>
              <a:t>}</a:t>
            </a:r>
          </a:p>
        </p:txBody>
      </p:sp>
      <p:cxnSp>
        <p:nvCxnSpPr>
          <p:cNvPr id="8" name="Connector: Elbow 7">
            <a:extLst>
              <a:ext uri="{FF2B5EF4-FFF2-40B4-BE49-F238E27FC236}">
                <a16:creationId xmlns:a16="http://schemas.microsoft.com/office/drawing/2014/main" id="{7CDF707B-26B3-2534-6926-BB3B7E4D85E1}"/>
              </a:ext>
            </a:extLst>
          </p:cNvPr>
          <p:cNvCxnSpPr>
            <a:stCxn id="5" idx="2"/>
            <a:endCxn id="6" idx="0"/>
          </p:cNvCxnSpPr>
          <p:nvPr/>
        </p:nvCxnSpPr>
        <p:spPr>
          <a:xfrm rot="5400000">
            <a:off x="5857411" y="4476529"/>
            <a:ext cx="425561" cy="51619"/>
          </a:xfrm>
          <a:prstGeom prst="bentConnector3">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3448780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2 — Show total borrowed after a successful borrow</a:t>
            </a:r>
            <a:endParaRPr lang="en-AU" sz="3600" b="1" dirty="0">
              <a:latin typeface="Calibir"/>
            </a:endParaRPr>
          </a:p>
        </p:txBody>
      </p:sp>
      <p:sp>
        <p:nvSpPr>
          <p:cNvPr id="6" name="Rectangle 1">
            <a:extLst>
              <a:ext uri="{FF2B5EF4-FFF2-40B4-BE49-F238E27FC236}">
                <a16:creationId xmlns:a16="http://schemas.microsoft.com/office/drawing/2014/main" id="{54232C39-4B67-B72F-D421-069ED2BA74CB}"/>
              </a:ext>
            </a:extLst>
          </p:cNvPr>
          <p:cNvSpPr>
            <a:spLocks noChangeArrowheads="1"/>
          </p:cNvSpPr>
          <p:nvPr/>
        </p:nvSpPr>
        <p:spPr bwMode="auto">
          <a:xfrm>
            <a:off x="0" y="741714"/>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Task: </a:t>
            </a:r>
            <a:r>
              <a:rPr lang="en-US" altLang="en-US" sz="2800" dirty="0">
                <a:latin typeface="Calibir"/>
              </a:rPr>
              <a:t>After borrowing succeeds, print how many books the member now has.</a:t>
            </a:r>
            <a:br>
              <a:rPr lang="en-US" altLang="en-US" sz="2800" dirty="0">
                <a:latin typeface="Calibir"/>
              </a:rPr>
            </a:br>
            <a:r>
              <a:rPr lang="en-US" altLang="en-US" sz="2800" b="1" dirty="0">
                <a:latin typeface="Calibir"/>
              </a:rPr>
              <a:t>Hint for Python: </a:t>
            </a:r>
            <a:r>
              <a:rPr lang="en-US" altLang="en-US" sz="2800" dirty="0">
                <a:latin typeface="Calibir"/>
              </a:rPr>
              <a:t>Edit the last print(...) in </a:t>
            </a:r>
            <a:r>
              <a:rPr lang="en-US" altLang="en-US" sz="2800" dirty="0" err="1">
                <a:latin typeface="Calibir"/>
              </a:rPr>
              <a:t>Member.borrow</a:t>
            </a:r>
            <a:r>
              <a:rPr lang="en-US" altLang="en-US" sz="2800" dirty="0">
                <a:latin typeface="Calibir"/>
              </a:rPr>
              <a:t>() Class Member &gt;&gt; borrow method (success branch). </a:t>
            </a:r>
          </a:p>
          <a:p>
            <a:pPr eaLnBrk="0" fontAlgn="base" hangingPunct="0">
              <a:lnSpc>
                <a:spcPct val="150000"/>
              </a:lnSpc>
              <a:spcBef>
                <a:spcPct val="0"/>
              </a:spcBef>
              <a:spcAft>
                <a:spcPct val="0"/>
              </a:spcAft>
            </a:pPr>
            <a:r>
              <a:rPr lang="en-US" altLang="en-US" sz="2800" b="1" dirty="0">
                <a:latin typeface="Calibir"/>
              </a:rPr>
              <a:t>Hint for Java: </a:t>
            </a:r>
            <a:r>
              <a:rPr lang="en-US" altLang="en-US" sz="2800" dirty="0">
                <a:latin typeface="Calibir"/>
              </a:rPr>
              <a:t>At the end of the success branch in </a:t>
            </a:r>
            <a:r>
              <a:rPr lang="en-US" altLang="en-US" sz="2800" dirty="0" err="1">
                <a:latin typeface="Calibir"/>
              </a:rPr>
              <a:t>Member.borrow</a:t>
            </a:r>
            <a:r>
              <a:rPr lang="en-US" altLang="en-US" sz="2800" dirty="0">
                <a:latin typeface="Calibir"/>
              </a:rPr>
              <a:t>() (after </a:t>
            </a:r>
            <a:r>
              <a:rPr lang="en-US" altLang="en-US" sz="2800" dirty="0" err="1">
                <a:latin typeface="Calibir"/>
              </a:rPr>
              <a:t>borrowedBooks.add</a:t>
            </a:r>
            <a:r>
              <a:rPr lang="en-US" altLang="en-US" sz="2800" dirty="0">
                <a:latin typeface="Calibir"/>
              </a:rPr>
              <a:t>(book);).</a:t>
            </a:r>
            <a:endParaRPr lang="en-US" altLang="en-US" sz="2800" b="1" dirty="0">
              <a:latin typeface="Calibir"/>
            </a:endParaRPr>
          </a:p>
        </p:txBody>
      </p:sp>
      <p:pic>
        <p:nvPicPr>
          <p:cNvPr id="7" name="Timer">
            <a:hlinkClick r:id="" action="ppaction://media"/>
            <a:extLst>
              <a:ext uri="{FF2B5EF4-FFF2-40B4-BE49-F238E27FC236}">
                <a16:creationId xmlns:a16="http://schemas.microsoft.com/office/drawing/2014/main" id="{F75AE076-77EE-2741-9F57-F1E400B635AA}"/>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87" t="44980" r="40986" b="40884"/>
          <a:stretch>
            <a:fillRect/>
          </a:stretch>
        </p:blipFill>
        <p:spPr>
          <a:xfrm>
            <a:off x="5097702" y="3998888"/>
            <a:ext cx="1996596" cy="857075"/>
          </a:xfrm>
          <a:prstGeom prst="rect">
            <a:avLst/>
          </a:prstGeom>
          <a:ln w="38100">
            <a:solidFill>
              <a:srgbClr val="FF0000"/>
            </a:solidFill>
          </a:ln>
        </p:spPr>
      </p:pic>
    </p:spTree>
    <p:extLst>
      <p:ext uri="{BB962C8B-B14F-4D97-AF65-F5344CB8AC3E}">
        <p14:creationId xmlns:p14="http://schemas.microsoft.com/office/powerpoint/2010/main" val="1534306740"/>
      </p:ext>
    </p:extLst>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2 — Show total borrowed after a successful borrow</a:t>
            </a:r>
            <a:endParaRPr lang="en-AU" sz="3600" b="1" dirty="0">
              <a:latin typeface="Calibir"/>
            </a:endParaRPr>
          </a:p>
        </p:txBody>
      </p:sp>
      <p:sp>
        <p:nvSpPr>
          <p:cNvPr id="10" name="Rectangle 2">
            <a:extLst>
              <a:ext uri="{FF2B5EF4-FFF2-40B4-BE49-F238E27FC236}">
                <a16:creationId xmlns:a16="http://schemas.microsoft.com/office/drawing/2014/main" id="{A35F8984-4872-0204-3DEC-A48F5126577F}"/>
              </a:ext>
            </a:extLst>
          </p:cNvPr>
          <p:cNvSpPr>
            <a:spLocks noChangeArrowheads="1"/>
          </p:cNvSpPr>
          <p:nvPr/>
        </p:nvSpPr>
        <p:spPr bwMode="auto">
          <a:xfrm>
            <a:off x="0" y="1982956"/>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This line prints a message when a member borrows a book.</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{self.name} → shows the member’s name.</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a:t>
            </a:r>
            <a:r>
              <a:rPr lang="en-US" altLang="en-US" sz="2800" dirty="0" err="1">
                <a:latin typeface="Calibir"/>
              </a:rPr>
              <a:t>book.title</a:t>
            </a:r>
            <a:r>
              <a:rPr lang="en-US" altLang="en-US" sz="2800" dirty="0">
                <a:latin typeface="Calibir"/>
              </a:rPr>
              <a:t>} → shows the book’s title.</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a:t>
            </a:r>
            <a:r>
              <a:rPr lang="en-US" altLang="en-US" sz="2800" dirty="0" err="1">
                <a:latin typeface="Calibir"/>
              </a:rPr>
              <a:t>len</a:t>
            </a:r>
            <a:r>
              <a:rPr lang="en-US" altLang="en-US" sz="2800" dirty="0">
                <a:latin typeface="Calibir"/>
              </a:rPr>
              <a:t>(</a:t>
            </a:r>
            <a:r>
              <a:rPr lang="en-US" altLang="en-US" sz="2800" dirty="0" err="1">
                <a:latin typeface="Calibir"/>
              </a:rPr>
              <a:t>self.borrowed_books</a:t>
            </a:r>
            <a:r>
              <a:rPr lang="en-US" altLang="en-US" sz="2800" dirty="0">
                <a:latin typeface="Calibir"/>
              </a:rPr>
              <a:t>)} → counts how many books the member has borrowed so far.</a:t>
            </a:r>
          </a:p>
        </p:txBody>
      </p:sp>
      <p:sp>
        <p:nvSpPr>
          <p:cNvPr id="5" name="TextBox 4">
            <a:extLst>
              <a:ext uri="{FF2B5EF4-FFF2-40B4-BE49-F238E27FC236}">
                <a16:creationId xmlns:a16="http://schemas.microsoft.com/office/drawing/2014/main" id="{B037B345-F67D-635A-5BDE-7B41B3B78806}"/>
              </a:ext>
            </a:extLst>
          </p:cNvPr>
          <p:cNvSpPr txBox="1"/>
          <p:nvPr/>
        </p:nvSpPr>
        <p:spPr>
          <a:xfrm>
            <a:off x="0" y="866514"/>
            <a:ext cx="12192000" cy="954107"/>
          </a:xfrm>
          <a:prstGeom prst="rect">
            <a:avLst/>
          </a:prstGeom>
          <a:solidFill>
            <a:schemeClr val="tx1"/>
          </a:solidFill>
        </p:spPr>
        <p:txBody>
          <a:bodyPr wrap="square">
            <a:spAutoFit/>
          </a:bodyPr>
          <a:lstStyle/>
          <a:p>
            <a:pPr>
              <a:buNone/>
            </a:pP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569CD6"/>
                </a:solidFill>
                <a:effectLst/>
                <a:latin typeface="Consolas" panose="020B0609020204030204" pitchFamily="49" charset="0"/>
              </a:rPr>
              <a:t>f</a:t>
            </a:r>
            <a:r>
              <a:rPr lang="en-US" sz="2800" b="0" dirty="0">
                <a:solidFill>
                  <a:srgbClr val="CE9178"/>
                </a:solidFill>
                <a:effectLst/>
                <a:latin typeface="Consolas" panose="020B0609020204030204" pitchFamily="49" charset="0"/>
              </a:rPr>
              <a:t>"</a:t>
            </a:r>
            <a:r>
              <a:rPr lang="en-US" sz="2800" b="0" dirty="0">
                <a:solidFill>
                  <a:srgbClr val="569CD6"/>
                </a:solidFill>
                <a:effectLst/>
                <a:latin typeface="Consolas" panose="020B0609020204030204" pitchFamily="49" charset="0"/>
              </a:rPr>
              <a:t>{</a:t>
            </a:r>
            <a:r>
              <a:rPr lang="en-US" sz="2800" b="0" dirty="0">
                <a:solidFill>
                  <a:srgbClr val="9CDCFE"/>
                </a:solidFill>
                <a:effectLst/>
                <a:latin typeface="Consolas" panose="020B0609020204030204" pitchFamily="49" charset="0"/>
              </a:rPr>
              <a:t>self</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name</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 borrowed '</a:t>
            </a:r>
            <a:r>
              <a:rPr lang="en-US" sz="2800" b="0" dirty="0">
                <a:solidFill>
                  <a:srgbClr val="569CD6"/>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book</a:t>
            </a:r>
            <a:r>
              <a:rPr lang="en-US" sz="2800" b="0" dirty="0" err="1">
                <a:solidFill>
                  <a:srgbClr val="CCCCCC"/>
                </a:solidFill>
                <a:effectLst/>
                <a:latin typeface="Consolas" panose="020B0609020204030204" pitchFamily="49" charset="0"/>
              </a:rPr>
              <a:t>.title</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 (now </a:t>
            </a:r>
            <a:r>
              <a:rPr lang="en-US" sz="2800" b="0" dirty="0">
                <a:solidFill>
                  <a:srgbClr val="569CD6"/>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len</a:t>
            </a:r>
            <a:r>
              <a:rPr lang="en-US" sz="2800" b="0" dirty="0">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self</a:t>
            </a:r>
            <a:r>
              <a:rPr lang="en-US" sz="2800" b="0" dirty="0" err="1">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borrowed_books</a:t>
            </a:r>
            <a:r>
              <a:rPr lang="en-US" sz="2800" b="0" dirty="0">
                <a:solidFill>
                  <a:srgbClr val="CCCCCC"/>
                </a:solidFill>
                <a:effectLst/>
                <a:latin typeface="Consolas" panose="020B0609020204030204" pitchFamily="49" charset="0"/>
              </a:rPr>
              <a:t>)</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 borrowed)."</a:t>
            </a:r>
            <a:r>
              <a:rPr lang="en-US" sz="2800" b="0" dirty="0">
                <a:solidFill>
                  <a:srgbClr val="CCCCCC"/>
                </a:solidFill>
                <a:effectLst/>
                <a:latin typeface="Consolas" panose="020B0609020204030204" pitchFamily="49" charset="0"/>
              </a:rPr>
              <a:t>)</a:t>
            </a:r>
          </a:p>
        </p:txBody>
      </p:sp>
      <p:sp>
        <p:nvSpPr>
          <p:cNvPr id="4" name="TextBox 3">
            <a:extLst>
              <a:ext uri="{FF2B5EF4-FFF2-40B4-BE49-F238E27FC236}">
                <a16:creationId xmlns:a16="http://schemas.microsoft.com/office/drawing/2014/main" id="{5B95E909-DC13-5763-1B24-35DB2C68AB85}"/>
              </a:ext>
            </a:extLst>
          </p:cNvPr>
          <p:cNvSpPr txBox="1"/>
          <p:nvPr/>
        </p:nvSpPr>
        <p:spPr>
          <a:xfrm>
            <a:off x="0" y="5402465"/>
            <a:ext cx="12192000" cy="671851"/>
          </a:xfrm>
          <a:prstGeom prst="rect">
            <a:avLst/>
          </a:prstGeom>
          <a:noFill/>
        </p:spPr>
        <p:txBody>
          <a:bodyPr wrap="square">
            <a:spAutoFit/>
          </a:bodyPr>
          <a:lstStyle/>
          <a:p>
            <a:pPr lvl="0" eaLnBrk="0" fontAlgn="base" hangingPunct="0">
              <a:lnSpc>
                <a:spcPct val="150000"/>
              </a:lnSpc>
              <a:spcBef>
                <a:spcPct val="0"/>
              </a:spcBef>
              <a:spcAft>
                <a:spcPct val="0"/>
              </a:spcAft>
            </a:pPr>
            <a:r>
              <a:rPr lang="en-US" sz="2800" dirty="0">
                <a:latin typeface="Calibir"/>
              </a:rPr>
              <a:t>In short: It tells who borrowed what book and how many books they now hold.</a:t>
            </a:r>
            <a:endParaRPr lang="en-US" altLang="en-US" sz="2800" dirty="0">
              <a:latin typeface="Calibir"/>
            </a:endParaRPr>
          </a:p>
        </p:txBody>
      </p:sp>
    </p:spTree>
    <p:extLst>
      <p:ext uri="{BB962C8B-B14F-4D97-AF65-F5344CB8AC3E}">
        <p14:creationId xmlns:p14="http://schemas.microsoft.com/office/powerpoint/2010/main" val="2462771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C5726-B784-3FE1-1279-E3FE8E2F64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AEBF7D-F526-8D2E-30C1-89075E6C4F05}"/>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2 — Show total borrowed after a successful borrow</a:t>
            </a:r>
            <a:endParaRPr lang="en-AU" sz="3600" b="1" dirty="0">
              <a:latin typeface="Calibir"/>
            </a:endParaRPr>
          </a:p>
        </p:txBody>
      </p:sp>
      <p:sp>
        <p:nvSpPr>
          <p:cNvPr id="3" name="TextBox 2">
            <a:extLst>
              <a:ext uri="{FF2B5EF4-FFF2-40B4-BE49-F238E27FC236}">
                <a16:creationId xmlns:a16="http://schemas.microsoft.com/office/drawing/2014/main" id="{5BFB72FA-79EA-2837-999A-B58875557ADB}"/>
              </a:ext>
            </a:extLst>
          </p:cNvPr>
          <p:cNvSpPr txBox="1"/>
          <p:nvPr/>
        </p:nvSpPr>
        <p:spPr>
          <a:xfrm>
            <a:off x="0" y="1059850"/>
            <a:ext cx="5250425" cy="523220"/>
          </a:xfrm>
          <a:prstGeom prst="rect">
            <a:avLst/>
          </a:prstGeom>
          <a:noFill/>
        </p:spPr>
        <p:txBody>
          <a:bodyPr wrap="square" rtlCol="0">
            <a:spAutoFit/>
          </a:bodyPr>
          <a:lstStyle/>
          <a:p>
            <a:r>
              <a:rPr lang="en-AU" sz="2800" dirty="0">
                <a:highlight>
                  <a:srgbClr val="FFFF00"/>
                </a:highlight>
                <a:latin typeface="Calibir"/>
              </a:rPr>
              <a:t>(Java) </a:t>
            </a:r>
            <a:r>
              <a:rPr lang="en-AU" sz="2800" dirty="0">
                <a:latin typeface="Calibir"/>
              </a:rPr>
              <a:t>Line 41 of modified version:</a:t>
            </a:r>
          </a:p>
        </p:txBody>
      </p:sp>
      <p:sp>
        <p:nvSpPr>
          <p:cNvPr id="5" name="TextBox 4">
            <a:extLst>
              <a:ext uri="{FF2B5EF4-FFF2-40B4-BE49-F238E27FC236}">
                <a16:creationId xmlns:a16="http://schemas.microsoft.com/office/drawing/2014/main" id="{CA109A3E-EB64-A194-C0A4-866088264628}"/>
              </a:ext>
            </a:extLst>
          </p:cNvPr>
          <p:cNvSpPr txBox="1"/>
          <p:nvPr/>
        </p:nvSpPr>
        <p:spPr>
          <a:xfrm>
            <a:off x="0" y="1678715"/>
            <a:ext cx="12192000" cy="671851"/>
          </a:xfrm>
          <a:prstGeom prst="rect">
            <a:avLst/>
          </a:prstGeom>
          <a:noFill/>
          <a:ln>
            <a:solidFill>
              <a:srgbClr val="FF0000"/>
            </a:solidFill>
          </a:ln>
        </p:spPr>
        <p:txBody>
          <a:bodyPr wrap="square">
            <a:spAutoFit/>
          </a:bodyPr>
          <a:lstStyle/>
          <a:p>
            <a:pPr>
              <a:lnSpc>
                <a:spcPct val="150000"/>
              </a:lnSpc>
            </a:pPr>
            <a:r>
              <a:rPr lang="en-US" sz="2800" dirty="0" err="1">
                <a:latin typeface="Calibir"/>
              </a:rPr>
              <a:t>System.out.println</a:t>
            </a:r>
            <a:r>
              <a:rPr lang="en-US" sz="2800" dirty="0">
                <a:latin typeface="Calibir"/>
              </a:rPr>
              <a:t>(name + " borrowed '" + </a:t>
            </a:r>
            <a:r>
              <a:rPr lang="en-US" sz="2800" dirty="0" err="1">
                <a:latin typeface="Calibir"/>
              </a:rPr>
              <a:t>book.title</a:t>
            </a:r>
            <a:r>
              <a:rPr lang="en-US" sz="2800" dirty="0">
                <a:latin typeface="Calibir"/>
              </a:rPr>
              <a:t> + "'.");</a:t>
            </a:r>
          </a:p>
        </p:txBody>
      </p:sp>
      <p:cxnSp>
        <p:nvCxnSpPr>
          <p:cNvPr id="8" name="Connector: Elbow 7">
            <a:extLst>
              <a:ext uri="{FF2B5EF4-FFF2-40B4-BE49-F238E27FC236}">
                <a16:creationId xmlns:a16="http://schemas.microsoft.com/office/drawing/2014/main" id="{75F51E04-2195-34BC-620B-3AA971B95285}"/>
              </a:ext>
            </a:extLst>
          </p:cNvPr>
          <p:cNvCxnSpPr>
            <a:cxnSpLocks/>
            <a:stCxn id="5" idx="2"/>
          </p:cNvCxnSpPr>
          <p:nvPr/>
        </p:nvCxnSpPr>
        <p:spPr>
          <a:xfrm rot="5400000">
            <a:off x="4887915" y="3507033"/>
            <a:ext cx="2364553" cy="51619"/>
          </a:xfrm>
          <a:prstGeom prst="bentConnector3">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0F16038A-AAC9-2CB1-8C8E-553C9D3000F4}"/>
              </a:ext>
            </a:extLst>
          </p:cNvPr>
          <p:cNvSpPr txBox="1"/>
          <p:nvPr/>
        </p:nvSpPr>
        <p:spPr>
          <a:xfrm>
            <a:off x="-2" y="4740639"/>
            <a:ext cx="12191999" cy="800219"/>
          </a:xfrm>
          <a:prstGeom prst="rect">
            <a:avLst/>
          </a:prstGeom>
          <a:solidFill>
            <a:schemeClr val="tx1"/>
          </a:solidFill>
        </p:spPr>
        <p:txBody>
          <a:bodyPr wrap="square">
            <a:spAutoFit/>
          </a:bodyPr>
          <a:lstStyle/>
          <a:p>
            <a:pPr>
              <a:buNone/>
            </a:pPr>
            <a:r>
              <a:rPr lang="en-US" sz="2300" b="0" dirty="0">
                <a:solidFill>
                  <a:srgbClr val="CCCCCC"/>
                </a:solidFill>
                <a:effectLst/>
                <a:latin typeface="Consolas" panose="020B0609020204030204" pitchFamily="49" charset="0"/>
              </a:rPr>
              <a:t> </a:t>
            </a:r>
            <a:r>
              <a:rPr lang="en-US" sz="2300" b="0" dirty="0" err="1">
                <a:solidFill>
                  <a:srgbClr val="4EC9B0"/>
                </a:solidFill>
                <a:effectLst/>
                <a:latin typeface="Consolas" panose="020B0609020204030204" pitchFamily="49" charset="0"/>
              </a:rPr>
              <a:t>System</a:t>
            </a:r>
            <a:r>
              <a:rPr lang="en-US" sz="2300" b="0" dirty="0" err="1">
                <a:solidFill>
                  <a:srgbClr val="CCCCCC"/>
                </a:solidFill>
                <a:effectLst/>
                <a:latin typeface="Consolas" panose="020B0609020204030204" pitchFamily="49" charset="0"/>
              </a:rPr>
              <a:t>.</a:t>
            </a:r>
            <a:r>
              <a:rPr lang="en-US" sz="2300" b="0" dirty="0" err="1">
                <a:solidFill>
                  <a:srgbClr val="4FC1FF"/>
                </a:solidFill>
                <a:effectLst/>
                <a:latin typeface="Consolas" panose="020B0609020204030204" pitchFamily="49" charset="0"/>
              </a:rPr>
              <a:t>out</a:t>
            </a:r>
            <a:r>
              <a:rPr lang="en-US" sz="2300" b="0" dirty="0" err="1">
                <a:solidFill>
                  <a:srgbClr val="CCCCCC"/>
                </a:solidFill>
                <a:effectLst/>
                <a:latin typeface="Consolas" panose="020B0609020204030204" pitchFamily="49" charset="0"/>
              </a:rPr>
              <a:t>.</a:t>
            </a:r>
            <a:r>
              <a:rPr lang="en-US" sz="2300" b="0" dirty="0" err="1">
                <a:solidFill>
                  <a:srgbClr val="DCDCAA"/>
                </a:solidFill>
                <a:effectLst/>
                <a:latin typeface="Consolas" panose="020B0609020204030204" pitchFamily="49" charset="0"/>
              </a:rPr>
              <a:t>println</a:t>
            </a:r>
            <a:r>
              <a:rPr lang="en-US" sz="2300" b="0" dirty="0">
                <a:solidFill>
                  <a:srgbClr val="CCCCCC"/>
                </a:solidFill>
                <a:effectLst/>
                <a:latin typeface="Consolas" panose="020B0609020204030204" pitchFamily="49" charset="0"/>
              </a:rPr>
              <a:t>(</a:t>
            </a:r>
            <a:r>
              <a:rPr lang="en-US" sz="2300" b="0" dirty="0">
                <a:solidFill>
                  <a:srgbClr val="9CDCFE"/>
                </a:solidFill>
                <a:effectLst/>
                <a:latin typeface="Consolas" panose="020B0609020204030204" pitchFamily="49" charset="0"/>
              </a:rPr>
              <a:t>name</a:t>
            </a:r>
            <a:r>
              <a:rPr lang="en-US" sz="2300" b="0" dirty="0">
                <a:solidFill>
                  <a:srgbClr val="CCCCCC"/>
                </a:solidFill>
                <a:effectLst/>
                <a:latin typeface="Consolas" panose="020B0609020204030204" pitchFamily="49" charset="0"/>
              </a:rPr>
              <a:t> </a:t>
            </a:r>
            <a:r>
              <a:rPr lang="en-US" sz="2300" b="0" dirty="0">
                <a:solidFill>
                  <a:srgbClr val="D4D4D4"/>
                </a:solidFill>
                <a:effectLst/>
                <a:latin typeface="Consolas" panose="020B0609020204030204" pitchFamily="49" charset="0"/>
              </a:rPr>
              <a:t>+</a:t>
            </a:r>
            <a:r>
              <a:rPr lang="en-US" sz="2300" b="0" dirty="0">
                <a:solidFill>
                  <a:srgbClr val="CCCCCC"/>
                </a:solidFill>
                <a:effectLst/>
                <a:latin typeface="Consolas" panose="020B0609020204030204" pitchFamily="49" charset="0"/>
              </a:rPr>
              <a:t> </a:t>
            </a:r>
            <a:r>
              <a:rPr lang="en-US" sz="2300" b="0" dirty="0">
                <a:solidFill>
                  <a:srgbClr val="CE9178"/>
                </a:solidFill>
                <a:effectLst/>
                <a:latin typeface="Consolas" panose="020B0609020204030204" pitchFamily="49" charset="0"/>
              </a:rPr>
              <a:t>" borrowed '"</a:t>
            </a:r>
            <a:r>
              <a:rPr lang="en-US" sz="2300" b="0" dirty="0">
                <a:solidFill>
                  <a:srgbClr val="CCCCCC"/>
                </a:solidFill>
                <a:effectLst/>
                <a:latin typeface="Consolas" panose="020B0609020204030204" pitchFamily="49" charset="0"/>
              </a:rPr>
              <a:t> </a:t>
            </a:r>
            <a:r>
              <a:rPr lang="en-US" sz="2300" b="0" dirty="0">
                <a:solidFill>
                  <a:srgbClr val="D4D4D4"/>
                </a:solidFill>
                <a:effectLst/>
                <a:latin typeface="Consolas" panose="020B0609020204030204" pitchFamily="49" charset="0"/>
              </a:rPr>
              <a:t>+</a:t>
            </a:r>
            <a:r>
              <a:rPr lang="en-US" sz="2300" b="0" dirty="0">
                <a:solidFill>
                  <a:srgbClr val="CCCCCC"/>
                </a:solidFill>
                <a:effectLst/>
                <a:latin typeface="Consolas" panose="020B0609020204030204" pitchFamily="49" charset="0"/>
              </a:rPr>
              <a:t> </a:t>
            </a:r>
            <a:r>
              <a:rPr lang="en-US" sz="2300" b="0" dirty="0" err="1">
                <a:solidFill>
                  <a:srgbClr val="9CDCFE"/>
                </a:solidFill>
                <a:effectLst/>
                <a:latin typeface="Consolas" panose="020B0609020204030204" pitchFamily="49" charset="0"/>
              </a:rPr>
              <a:t>book</a:t>
            </a:r>
            <a:r>
              <a:rPr lang="en-US" sz="2300" b="0" dirty="0" err="1">
                <a:solidFill>
                  <a:srgbClr val="CCCCCC"/>
                </a:solidFill>
                <a:effectLst/>
                <a:latin typeface="Consolas" panose="020B0609020204030204" pitchFamily="49" charset="0"/>
              </a:rPr>
              <a:t>.</a:t>
            </a:r>
            <a:r>
              <a:rPr lang="en-US" sz="2300" b="0" dirty="0" err="1">
                <a:solidFill>
                  <a:srgbClr val="9CDCFE"/>
                </a:solidFill>
                <a:effectLst/>
                <a:latin typeface="Consolas" panose="020B0609020204030204" pitchFamily="49" charset="0"/>
              </a:rPr>
              <a:t>title</a:t>
            </a:r>
            <a:r>
              <a:rPr lang="en-US" sz="2300" b="0" dirty="0">
                <a:solidFill>
                  <a:srgbClr val="CCCCCC"/>
                </a:solidFill>
                <a:effectLst/>
                <a:latin typeface="Consolas" panose="020B0609020204030204" pitchFamily="49" charset="0"/>
              </a:rPr>
              <a:t> </a:t>
            </a:r>
            <a:r>
              <a:rPr lang="en-US" sz="2300" b="0" dirty="0">
                <a:solidFill>
                  <a:srgbClr val="D4D4D4"/>
                </a:solidFill>
                <a:effectLst/>
                <a:latin typeface="Consolas" panose="020B0609020204030204" pitchFamily="49" charset="0"/>
              </a:rPr>
              <a:t>+</a:t>
            </a:r>
            <a:r>
              <a:rPr lang="en-US" sz="2300" b="0" dirty="0">
                <a:solidFill>
                  <a:srgbClr val="CCCCCC"/>
                </a:solidFill>
                <a:effectLst/>
                <a:latin typeface="Consolas" panose="020B0609020204030204" pitchFamily="49" charset="0"/>
              </a:rPr>
              <a:t> </a:t>
            </a:r>
            <a:r>
              <a:rPr lang="en-US" sz="2300" b="0" dirty="0">
                <a:solidFill>
                  <a:srgbClr val="CE9178"/>
                </a:solidFill>
                <a:effectLst/>
                <a:latin typeface="Consolas" panose="020B0609020204030204" pitchFamily="49" charset="0"/>
              </a:rPr>
              <a:t>"'. Now holding "</a:t>
            </a:r>
            <a:endParaRPr lang="en-US" sz="2300" b="0" dirty="0">
              <a:solidFill>
                <a:srgbClr val="CCCCCC"/>
              </a:solidFill>
              <a:effectLst/>
              <a:latin typeface="Consolas" panose="020B0609020204030204" pitchFamily="49" charset="0"/>
            </a:endParaRPr>
          </a:p>
          <a:p>
            <a:pPr>
              <a:buNone/>
            </a:pPr>
            <a:r>
              <a:rPr lang="en-US" sz="2300" b="0" dirty="0">
                <a:solidFill>
                  <a:srgbClr val="CCCCCC"/>
                </a:solidFill>
                <a:effectLst/>
                <a:latin typeface="Consolas" panose="020B0609020204030204" pitchFamily="49" charset="0"/>
              </a:rPr>
              <a:t>        </a:t>
            </a:r>
            <a:r>
              <a:rPr lang="en-US" sz="2300" b="0" dirty="0">
                <a:solidFill>
                  <a:srgbClr val="D4D4D4"/>
                </a:solidFill>
                <a:effectLst/>
                <a:latin typeface="Consolas" panose="020B0609020204030204" pitchFamily="49" charset="0"/>
              </a:rPr>
              <a:t>+</a:t>
            </a:r>
            <a:r>
              <a:rPr lang="en-US" sz="2300" b="0" dirty="0">
                <a:solidFill>
                  <a:srgbClr val="CCCCCC"/>
                </a:solidFill>
                <a:effectLst/>
                <a:latin typeface="Consolas" panose="020B0609020204030204" pitchFamily="49" charset="0"/>
              </a:rPr>
              <a:t> </a:t>
            </a:r>
            <a:r>
              <a:rPr lang="en-US" sz="2300" b="0" dirty="0" err="1">
                <a:solidFill>
                  <a:srgbClr val="9CDCFE"/>
                </a:solidFill>
                <a:effectLst/>
                <a:latin typeface="Consolas" panose="020B0609020204030204" pitchFamily="49" charset="0"/>
              </a:rPr>
              <a:t>borrowedBooks</a:t>
            </a:r>
            <a:r>
              <a:rPr lang="en-US" sz="2300" b="0" dirty="0" err="1">
                <a:solidFill>
                  <a:srgbClr val="CCCCCC"/>
                </a:solidFill>
                <a:effectLst/>
                <a:latin typeface="Consolas" panose="020B0609020204030204" pitchFamily="49" charset="0"/>
              </a:rPr>
              <a:t>.</a:t>
            </a:r>
            <a:r>
              <a:rPr lang="en-US" sz="2300" b="0" dirty="0" err="1">
                <a:solidFill>
                  <a:srgbClr val="DCDCAA"/>
                </a:solidFill>
                <a:effectLst/>
                <a:latin typeface="Consolas" panose="020B0609020204030204" pitchFamily="49" charset="0"/>
              </a:rPr>
              <a:t>size</a:t>
            </a:r>
            <a:r>
              <a:rPr lang="en-US" sz="2300" b="0" dirty="0">
                <a:solidFill>
                  <a:srgbClr val="CCCCCC"/>
                </a:solidFill>
                <a:effectLst/>
                <a:latin typeface="Consolas" panose="020B0609020204030204" pitchFamily="49" charset="0"/>
              </a:rPr>
              <a:t>() </a:t>
            </a:r>
            <a:r>
              <a:rPr lang="en-US" sz="2300" b="0" dirty="0">
                <a:solidFill>
                  <a:srgbClr val="D4D4D4"/>
                </a:solidFill>
                <a:effectLst/>
                <a:latin typeface="Consolas" panose="020B0609020204030204" pitchFamily="49" charset="0"/>
              </a:rPr>
              <a:t>+</a:t>
            </a:r>
            <a:r>
              <a:rPr lang="en-US" sz="2300" b="0" dirty="0">
                <a:solidFill>
                  <a:srgbClr val="CCCCCC"/>
                </a:solidFill>
                <a:effectLst/>
                <a:latin typeface="Consolas" panose="020B0609020204030204" pitchFamily="49" charset="0"/>
              </a:rPr>
              <a:t> </a:t>
            </a:r>
            <a:r>
              <a:rPr lang="en-US" sz="2300" b="0" dirty="0">
                <a:solidFill>
                  <a:srgbClr val="CE9178"/>
                </a:solidFill>
                <a:effectLst/>
                <a:latin typeface="Consolas" panose="020B0609020204030204" pitchFamily="49" charset="0"/>
              </a:rPr>
              <a:t>" book(s)."</a:t>
            </a:r>
            <a:r>
              <a:rPr lang="en-US" sz="23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3685272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3 — Show remaining count after a successful return</a:t>
            </a:r>
            <a:endParaRPr lang="en-AU" sz="3600" b="1" dirty="0">
              <a:latin typeface="Calibir"/>
            </a:endParaRPr>
          </a:p>
        </p:txBody>
      </p:sp>
      <p:sp>
        <p:nvSpPr>
          <p:cNvPr id="6" name="Rectangle 1">
            <a:extLst>
              <a:ext uri="{FF2B5EF4-FFF2-40B4-BE49-F238E27FC236}">
                <a16:creationId xmlns:a16="http://schemas.microsoft.com/office/drawing/2014/main" id="{54232C39-4B67-B72F-D421-069ED2BA74CB}"/>
              </a:ext>
            </a:extLst>
          </p:cNvPr>
          <p:cNvSpPr>
            <a:spLocks noChangeArrowheads="1"/>
          </p:cNvSpPr>
          <p:nvPr/>
        </p:nvSpPr>
        <p:spPr bwMode="auto">
          <a:xfrm>
            <a:off x="0" y="538655"/>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Task: </a:t>
            </a:r>
            <a:r>
              <a:rPr lang="en-US" altLang="en-US" sz="2800" dirty="0">
                <a:latin typeface="Calibir"/>
              </a:rPr>
              <a:t>After a return, display how many books the member still holds.</a:t>
            </a:r>
            <a:br>
              <a:rPr lang="en-US" altLang="en-US" sz="2800" dirty="0">
                <a:latin typeface="Calibir"/>
              </a:rPr>
            </a:br>
            <a:r>
              <a:rPr lang="en-US" altLang="en-US" sz="2800" b="1" dirty="0">
                <a:latin typeface="Calibir"/>
              </a:rPr>
              <a:t>Hint for Python: </a:t>
            </a:r>
            <a:r>
              <a:rPr lang="en-US" altLang="en-US" sz="2800" dirty="0">
                <a:latin typeface="Calibir"/>
              </a:rPr>
              <a:t>Edit the success print(...) inside </a:t>
            </a:r>
            <a:r>
              <a:rPr lang="en-US" altLang="en-US" sz="2800" dirty="0" err="1">
                <a:latin typeface="Calibir"/>
              </a:rPr>
              <a:t>Member.return_book</a:t>
            </a:r>
            <a:r>
              <a:rPr lang="en-US" altLang="en-US" sz="2800" dirty="0">
                <a:latin typeface="Calibir"/>
              </a:rPr>
              <a:t>(), where the if condition is true.</a:t>
            </a:r>
          </a:p>
          <a:p>
            <a:pPr eaLnBrk="0" fontAlgn="base" hangingPunct="0">
              <a:lnSpc>
                <a:spcPct val="150000"/>
              </a:lnSpc>
              <a:spcBef>
                <a:spcPct val="0"/>
              </a:spcBef>
              <a:spcAft>
                <a:spcPct val="0"/>
              </a:spcAft>
            </a:pPr>
            <a:r>
              <a:rPr lang="en-US" altLang="en-US" sz="2800" b="1" dirty="0">
                <a:latin typeface="Calibir"/>
              </a:rPr>
              <a:t>Hint for Java: </a:t>
            </a:r>
            <a:r>
              <a:rPr lang="en-US" altLang="en-US" sz="2800" dirty="0">
                <a:latin typeface="Calibir"/>
              </a:rPr>
              <a:t>Inside </a:t>
            </a:r>
            <a:r>
              <a:rPr lang="en-US" altLang="en-US" sz="2800" dirty="0" err="1">
                <a:latin typeface="Calibir"/>
              </a:rPr>
              <a:t>Member.returnBook</a:t>
            </a:r>
            <a:r>
              <a:rPr lang="en-US" altLang="en-US" sz="2800" dirty="0">
                <a:latin typeface="Calibir"/>
              </a:rPr>
              <a:t>() in the success part (inside the if (</a:t>
            </a:r>
            <a:r>
              <a:rPr lang="en-US" altLang="en-US" sz="2800" dirty="0" err="1">
                <a:latin typeface="Calibir"/>
              </a:rPr>
              <a:t>borrowedBooks.contains</a:t>
            </a:r>
            <a:r>
              <a:rPr lang="en-US" altLang="en-US" sz="2800" dirty="0">
                <a:latin typeface="Calibir"/>
              </a:rPr>
              <a:t>(book)) block), after you remove the book. </a:t>
            </a:r>
          </a:p>
        </p:txBody>
      </p:sp>
      <p:pic>
        <p:nvPicPr>
          <p:cNvPr id="7" name="Timer">
            <a:hlinkClick r:id="" action="ppaction://media"/>
            <a:extLst>
              <a:ext uri="{FF2B5EF4-FFF2-40B4-BE49-F238E27FC236}">
                <a16:creationId xmlns:a16="http://schemas.microsoft.com/office/drawing/2014/main" id="{F75AE076-77EE-2741-9F57-F1E400B635AA}"/>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87" t="44980" r="40986" b="40884"/>
          <a:stretch>
            <a:fillRect/>
          </a:stretch>
        </p:blipFill>
        <p:spPr>
          <a:xfrm>
            <a:off x="5097702" y="3999523"/>
            <a:ext cx="1996596" cy="857075"/>
          </a:xfrm>
          <a:prstGeom prst="rect">
            <a:avLst/>
          </a:prstGeom>
          <a:ln w="38100">
            <a:solidFill>
              <a:srgbClr val="FF0000"/>
            </a:solidFill>
          </a:ln>
        </p:spPr>
      </p:pic>
    </p:spTree>
    <p:extLst>
      <p:ext uri="{BB962C8B-B14F-4D97-AF65-F5344CB8AC3E}">
        <p14:creationId xmlns:p14="http://schemas.microsoft.com/office/powerpoint/2010/main" val="1696882854"/>
      </p:ext>
    </p:extLst>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3 — Show remaining count after a successful return</a:t>
            </a:r>
            <a:endParaRPr lang="en-AU" sz="3600" b="1" dirty="0">
              <a:latin typeface="Calibir"/>
            </a:endParaRPr>
          </a:p>
        </p:txBody>
      </p:sp>
      <p:pic>
        <p:nvPicPr>
          <p:cNvPr id="8" name="Picture 7">
            <a:extLst>
              <a:ext uri="{FF2B5EF4-FFF2-40B4-BE49-F238E27FC236}">
                <a16:creationId xmlns:a16="http://schemas.microsoft.com/office/drawing/2014/main" id="{4D65AF23-6DDA-F312-9C84-F7ECE9E5CF9F}"/>
              </a:ext>
            </a:extLst>
          </p:cNvPr>
          <p:cNvPicPr>
            <a:picLocks noChangeAspect="1"/>
          </p:cNvPicPr>
          <p:nvPr/>
        </p:nvPicPr>
        <p:blipFill>
          <a:blip r:embed="rId2"/>
          <a:srcRect l="29382" t="43808" r="8324" b="42799"/>
          <a:stretch>
            <a:fillRect/>
          </a:stretch>
        </p:blipFill>
        <p:spPr>
          <a:xfrm>
            <a:off x="-1" y="1691268"/>
            <a:ext cx="12192001" cy="1474363"/>
          </a:xfrm>
          <a:prstGeom prst="rect">
            <a:avLst/>
          </a:prstGeom>
        </p:spPr>
      </p:pic>
      <p:sp>
        <p:nvSpPr>
          <p:cNvPr id="11" name="TextBox 10">
            <a:extLst>
              <a:ext uri="{FF2B5EF4-FFF2-40B4-BE49-F238E27FC236}">
                <a16:creationId xmlns:a16="http://schemas.microsoft.com/office/drawing/2014/main" id="{00480F48-B47B-2F3B-E3A0-D9C324C55B9B}"/>
              </a:ext>
            </a:extLst>
          </p:cNvPr>
          <p:cNvSpPr txBox="1"/>
          <p:nvPr/>
        </p:nvSpPr>
        <p:spPr>
          <a:xfrm>
            <a:off x="0" y="603283"/>
            <a:ext cx="12192000" cy="954107"/>
          </a:xfrm>
          <a:prstGeom prst="rect">
            <a:avLst/>
          </a:prstGeom>
          <a:solidFill>
            <a:schemeClr val="tx1"/>
          </a:solidFill>
        </p:spPr>
        <p:txBody>
          <a:bodyPr wrap="square">
            <a:spAutoFit/>
          </a:bodyPr>
          <a:lstStyle/>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569CD6"/>
                </a:solidFill>
                <a:effectLst/>
                <a:latin typeface="Consolas" panose="020B0609020204030204" pitchFamily="49" charset="0"/>
              </a:rPr>
              <a:t>f</a:t>
            </a:r>
            <a:r>
              <a:rPr lang="en-US" sz="2800" b="0" dirty="0">
                <a:solidFill>
                  <a:srgbClr val="CE9178"/>
                </a:solidFill>
                <a:effectLst/>
                <a:latin typeface="Consolas" panose="020B0609020204030204" pitchFamily="49" charset="0"/>
              </a:rPr>
              <a:t>"</a:t>
            </a:r>
            <a:r>
              <a:rPr lang="en-US" sz="2800" b="0" dirty="0">
                <a:solidFill>
                  <a:srgbClr val="569CD6"/>
                </a:solidFill>
                <a:effectLst/>
                <a:latin typeface="Consolas" panose="020B0609020204030204" pitchFamily="49" charset="0"/>
              </a:rPr>
              <a:t>{</a:t>
            </a:r>
            <a:r>
              <a:rPr lang="en-US" sz="2800" b="0" dirty="0">
                <a:solidFill>
                  <a:srgbClr val="9CDCFE"/>
                </a:solidFill>
                <a:effectLst/>
                <a:latin typeface="Consolas" panose="020B0609020204030204" pitchFamily="49" charset="0"/>
              </a:rPr>
              <a:t>self</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name</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 returned '</a:t>
            </a:r>
            <a:r>
              <a:rPr lang="en-US" sz="2800" b="0" dirty="0">
                <a:solidFill>
                  <a:srgbClr val="569CD6"/>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book</a:t>
            </a:r>
            <a:r>
              <a:rPr lang="en-US" sz="2800" b="0" dirty="0" err="1">
                <a:solidFill>
                  <a:srgbClr val="CCCCCC"/>
                </a:solidFill>
                <a:effectLst/>
                <a:latin typeface="Consolas" panose="020B0609020204030204" pitchFamily="49" charset="0"/>
              </a:rPr>
              <a:t>.title</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 (now </a:t>
            </a:r>
            <a:r>
              <a:rPr lang="en-US" sz="2800" b="0" dirty="0">
                <a:solidFill>
                  <a:srgbClr val="569CD6"/>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len</a:t>
            </a:r>
            <a:r>
              <a:rPr lang="en-US" sz="2800" b="0" dirty="0">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self</a:t>
            </a:r>
            <a:r>
              <a:rPr lang="en-US" sz="2800" b="0" dirty="0" err="1">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borrowed_books</a:t>
            </a:r>
            <a:r>
              <a:rPr lang="en-US" sz="2800" b="0" dirty="0">
                <a:solidFill>
                  <a:srgbClr val="CCCCCC"/>
                </a:solidFill>
                <a:effectLst/>
                <a:latin typeface="Consolas" panose="020B0609020204030204" pitchFamily="49" charset="0"/>
              </a:rPr>
              <a:t>)</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 borrowed)."</a:t>
            </a:r>
            <a:r>
              <a:rPr lang="en-US" sz="2800" b="0" dirty="0">
                <a:solidFill>
                  <a:srgbClr val="CCCCCC"/>
                </a:solidFill>
                <a:effectLst/>
                <a:latin typeface="Consolas" panose="020B0609020204030204" pitchFamily="49" charset="0"/>
              </a:rPr>
              <a:t>)</a:t>
            </a:r>
          </a:p>
        </p:txBody>
      </p:sp>
      <p:sp>
        <p:nvSpPr>
          <p:cNvPr id="12" name="Rectangle 2">
            <a:extLst>
              <a:ext uri="{FF2B5EF4-FFF2-40B4-BE49-F238E27FC236}">
                <a16:creationId xmlns:a16="http://schemas.microsoft.com/office/drawing/2014/main" id="{094340F7-1E74-2B47-81D7-7B0DCE0C3B6A}"/>
              </a:ext>
            </a:extLst>
          </p:cNvPr>
          <p:cNvSpPr>
            <a:spLocks noChangeArrowheads="1"/>
          </p:cNvSpPr>
          <p:nvPr/>
        </p:nvSpPr>
        <p:spPr bwMode="auto">
          <a:xfrm>
            <a:off x="-1" y="3165631"/>
            <a:ext cx="9326720" cy="20712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200" i="0" u="none" strike="noStrike" cap="none" normalizeH="0" baseline="0" dirty="0">
                <a:ln>
                  <a:noFill/>
                </a:ln>
                <a:solidFill>
                  <a:schemeClr val="tx1"/>
                </a:solidFill>
                <a:effectLst/>
                <a:latin typeface="Calibir"/>
              </a:rPr>
              <a:t>(Python) When a member returns a book, this line prints:</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200" i="0" u="none" strike="noStrike" cap="none" normalizeH="0" baseline="0" dirty="0">
                <a:ln>
                  <a:noFill/>
                </a:ln>
                <a:solidFill>
                  <a:schemeClr val="tx1"/>
                </a:solidFill>
                <a:effectLst/>
                <a:latin typeface="Calibir"/>
              </a:rPr>
              <a:t>Who returned it (self.name).</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200" i="0" u="none" strike="noStrike" cap="none" normalizeH="0" baseline="0" dirty="0">
                <a:ln>
                  <a:noFill/>
                </a:ln>
                <a:solidFill>
                  <a:schemeClr val="tx1"/>
                </a:solidFill>
                <a:effectLst/>
                <a:latin typeface="Calibir"/>
              </a:rPr>
              <a:t>Which book was returned (</a:t>
            </a:r>
            <a:r>
              <a:rPr kumimoji="0" lang="en-US" altLang="en-US" sz="2200" i="0" u="none" strike="noStrike" cap="none" normalizeH="0" baseline="0" dirty="0" err="1">
                <a:ln>
                  <a:noFill/>
                </a:ln>
                <a:solidFill>
                  <a:schemeClr val="tx1"/>
                </a:solidFill>
                <a:effectLst/>
                <a:latin typeface="Calibir"/>
              </a:rPr>
              <a:t>book.title</a:t>
            </a:r>
            <a:r>
              <a:rPr kumimoji="0" lang="en-US" altLang="en-US" sz="2200" i="0" u="none" strike="noStrike" cap="none" normalizeH="0" baseline="0" dirty="0">
                <a:ln>
                  <a:noFill/>
                </a:ln>
                <a:solidFill>
                  <a:schemeClr val="tx1"/>
                </a:solidFill>
                <a:effectLst/>
                <a:latin typeface="Calibir"/>
              </a:rPr>
              <a:t>).</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200" i="0" u="none" strike="noStrike" cap="none" normalizeH="0" baseline="0" dirty="0">
                <a:ln>
                  <a:noFill/>
                </a:ln>
                <a:solidFill>
                  <a:schemeClr val="tx1"/>
                </a:solidFill>
                <a:effectLst/>
                <a:latin typeface="Calibir"/>
              </a:rPr>
              <a:t>How many books they still have after the return (</a:t>
            </a:r>
            <a:r>
              <a:rPr kumimoji="0" lang="en-US" altLang="en-US" sz="2200" i="0" u="none" strike="noStrike" cap="none" normalizeH="0" baseline="0" dirty="0" err="1">
                <a:ln>
                  <a:noFill/>
                </a:ln>
                <a:solidFill>
                  <a:schemeClr val="tx1"/>
                </a:solidFill>
                <a:effectLst/>
                <a:latin typeface="Calibir"/>
              </a:rPr>
              <a:t>len</a:t>
            </a:r>
            <a:r>
              <a:rPr kumimoji="0" lang="en-US" altLang="en-US" sz="2200" i="0" u="none" strike="noStrike" cap="none" normalizeH="0" baseline="0" dirty="0">
                <a:ln>
                  <a:noFill/>
                </a:ln>
                <a:solidFill>
                  <a:schemeClr val="tx1"/>
                </a:solidFill>
                <a:effectLst/>
                <a:latin typeface="Calibir"/>
              </a:rPr>
              <a:t>(</a:t>
            </a:r>
            <a:r>
              <a:rPr kumimoji="0" lang="en-US" altLang="en-US" sz="2200" i="0" u="none" strike="noStrike" cap="none" normalizeH="0" baseline="0" dirty="0" err="1">
                <a:ln>
                  <a:noFill/>
                </a:ln>
                <a:solidFill>
                  <a:schemeClr val="tx1"/>
                </a:solidFill>
                <a:effectLst/>
                <a:latin typeface="Calibir"/>
              </a:rPr>
              <a:t>self.borrowed_books</a:t>
            </a:r>
            <a:r>
              <a:rPr kumimoji="0" lang="en-US" altLang="en-US" sz="2200" i="0" u="none" strike="noStrike" cap="none" normalizeH="0" baseline="0" dirty="0">
                <a:ln>
                  <a:noFill/>
                </a:ln>
                <a:solidFill>
                  <a:schemeClr val="tx1"/>
                </a:solidFill>
                <a:effectLst/>
                <a:latin typeface="Calibir"/>
              </a:rPr>
              <a:t>)).</a:t>
            </a:r>
          </a:p>
        </p:txBody>
      </p:sp>
      <p:sp>
        <p:nvSpPr>
          <p:cNvPr id="3" name="Rectangle 2">
            <a:extLst>
              <a:ext uri="{FF2B5EF4-FFF2-40B4-BE49-F238E27FC236}">
                <a16:creationId xmlns:a16="http://schemas.microsoft.com/office/drawing/2014/main" id="{CD083504-1296-2156-B8FD-F79DF62FE742}"/>
              </a:ext>
            </a:extLst>
          </p:cNvPr>
          <p:cNvSpPr>
            <a:spLocks noChangeArrowheads="1"/>
          </p:cNvSpPr>
          <p:nvPr/>
        </p:nvSpPr>
        <p:spPr bwMode="auto">
          <a:xfrm>
            <a:off x="0" y="5411450"/>
            <a:ext cx="12192003"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2200" dirty="0">
                <a:latin typeface="Calibir"/>
              </a:rPr>
              <a:t>Suppose Farshid had 3 books and returned </a:t>
            </a:r>
            <a:r>
              <a:rPr lang="en-US" sz="2200" i="1" dirty="0">
                <a:latin typeface="Calibir"/>
              </a:rPr>
              <a:t>Python Basics</a:t>
            </a:r>
            <a:r>
              <a:rPr lang="en-US" sz="2200" dirty="0">
                <a:latin typeface="Calibir"/>
              </a:rPr>
              <a:t>. It will print Farshid returned 'Python Basics' (now 2 borrowed).</a:t>
            </a:r>
          </a:p>
          <a:p>
            <a:pPr marL="800100" lvl="1" indent="-342900">
              <a:buFont typeface="Arial" panose="020B0604020202020204" pitchFamily="34" charset="0"/>
              <a:buChar char="•"/>
            </a:pPr>
            <a:r>
              <a:rPr lang="en-US" sz="2200" dirty="0">
                <a:latin typeface="Calibir"/>
              </a:rPr>
              <a:t>Before return → 3 borrowed.</a:t>
            </a:r>
          </a:p>
          <a:p>
            <a:pPr marL="800100" lvl="1" indent="-342900">
              <a:buFont typeface="Arial" panose="020B0604020202020204" pitchFamily="34" charset="0"/>
              <a:buChar char="•"/>
            </a:pPr>
            <a:r>
              <a:rPr lang="en-US" sz="2200" dirty="0">
                <a:latin typeface="Calibir"/>
              </a:rPr>
              <a:t>After return → 2 borrowed.</a:t>
            </a:r>
          </a:p>
        </p:txBody>
      </p:sp>
    </p:spTree>
    <p:extLst>
      <p:ext uri="{BB962C8B-B14F-4D97-AF65-F5344CB8AC3E}">
        <p14:creationId xmlns:p14="http://schemas.microsoft.com/office/powerpoint/2010/main" val="382902910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1C63C9-272C-D5D9-C3E2-41A9DCDC85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481244-AEF5-FF35-1850-4B27FFC1C966}"/>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3 — Show remaining count after a successful return</a:t>
            </a:r>
            <a:endParaRPr lang="en-AU" sz="3600" b="1" dirty="0">
              <a:latin typeface="Calibir"/>
            </a:endParaRPr>
          </a:p>
        </p:txBody>
      </p:sp>
      <p:sp>
        <p:nvSpPr>
          <p:cNvPr id="3" name="TextBox 2">
            <a:extLst>
              <a:ext uri="{FF2B5EF4-FFF2-40B4-BE49-F238E27FC236}">
                <a16:creationId xmlns:a16="http://schemas.microsoft.com/office/drawing/2014/main" id="{5296B1F7-F7F7-2958-F0D7-5333C8C16228}"/>
              </a:ext>
            </a:extLst>
          </p:cNvPr>
          <p:cNvSpPr txBox="1"/>
          <p:nvPr/>
        </p:nvSpPr>
        <p:spPr>
          <a:xfrm>
            <a:off x="0" y="1059850"/>
            <a:ext cx="5250425" cy="523220"/>
          </a:xfrm>
          <a:prstGeom prst="rect">
            <a:avLst/>
          </a:prstGeom>
          <a:noFill/>
        </p:spPr>
        <p:txBody>
          <a:bodyPr wrap="square" rtlCol="0">
            <a:spAutoFit/>
          </a:bodyPr>
          <a:lstStyle/>
          <a:p>
            <a:r>
              <a:rPr lang="en-AU" sz="2800" dirty="0">
                <a:highlight>
                  <a:srgbClr val="FFFF00"/>
                </a:highlight>
                <a:latin typeface="Calibir"/>
              </a:rPr>
              <a:t>(Java) </a:t>
            </a:r>
            <a:r>
              <a:rPr lang="en-AU" sz="2800" dirty="0">
                <a:latin typeface="Calibir"/>
              </a:rPr>
              <a:t>Line 50 of modified version:</a:t>
            </a:r>
          </a:p>
        </p:txBody>
      </p:sp>
      <p:sp>
        <p:nvSpPr>
          <p:cNvPr id="5" name="TextBox 4">
            <a:extLst>
              <a:ext uri="{FF2B5EF4-FFF2-40B4-BE49-F238E27FC236}">
                <a16:creationId xmlns:a16="http://schemas.microsoft.com/office/drawing/2014/main" id="{27865748-7B77-E4E0-F878-B30CD328EED9}"/>
              </a:ext>
            </a:extLst>
          </p:cNvPr>
          <p:cNvSpPr txBox="1"/>
          <p:nvPr/>
        </p:nvSpPr>
        <p:spPr>
          <a:xfrm>
            <a:off x="0" y="1678715"/>
            <a:ext cx="12192000" cy="671851"/>
          </a:xfrm>
          <a:prstGeom prst="rect">
            <a:avLst/>
          </a:prstGeom>
          <a:noFill/>
          <a:ln>
            <a:solidFill>
              <a:srgbClr val="FF0000"/>
            </a:solidFill>
          </a:ln>
        </p:spPr>
        <p:txBody>
          <a:bodyPr wrap="square">
            <a:spAutoFit/>
          </a:bodyPr>
          <a:lstStyle/>
          <a:p>
            <a:pPr>
              <a:lnSpc>
                <a:spcPct val="150000"/>
              </a:lnSpc>
            </a:pPr>
            <a:r>
              <a:rPr lang="en-US" sz="2800" dirty="0" err="1">
                <a:latin typeface="Calibir"/>
              </a:rPr>
              <a:t>System.out.println</a:t>
            </a:r>
            <a:r>
              <a:rPr lang="en-US" sz="2800" dirty="0">
                <a:latin typeface="Calibir"/>
              </a:rPr>
              <a:t>(name + " returned '" + </a:t>
            </a:r>
            <a:r>
              <a:rPr lang="en-US" sz="2800" dirty="0" err="1">
                <a:latin typeface="Calibir"/>
              </a:rPr>
              <a:t>book.title</a:t>
            </a:r>
            <a:r>
              <a:rPr lang="en-US" sz="2800" dirty="0">
                <a:latin typeface="Calibir"/>
              </a:rPr>
              <a:t> + "'.");</a:t>
            </a:r>
          </a:p>
        </p:txBody>
      </p:sp>
      <p:cxnSp>
        <p:nvCxnSpPr>
          <p:cNvPr id="8" name="Connector: Elbow 7">
            <a:extLst>
              <a:ext uri="{FF2B5EF4-FFF2-40B4-BE49-F238E27FC236}">
                <a16:creationId xmlns:a16="http://schemas.microsoft.com/office/drawing/2014/main" id="{1FBF230B-5A95-B816-CFDE-AC492C403C63}"/>
              </a:ext>
            </a:extLst>
          </p:cNvPr>
          <p:cNvCxnSpPr>
            <a:cxnSpLocks/>
            <a:stCxn id="5" idx="2"/>
          </p:cNvCxnSpPr>
          <p:nvPr/>
        </p:nvCxnSpPr>
        <p:spPr>
          <a:xfrm rot="5400000">
            <a:off x="4887915" y="3507033"/>
            <a:ext cx="2364553" cy="51619"/>
          </a:xfrm>
          <a:prstGeom prst="bentConnector3">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A757647C-8203-8683-4D95-431018A12C21}"/>
              </a:ext>
            </a:extLst>
          </p:cNvPr>
          <p:cNvSpPr txBox="1"/>
          <p:nvPr/>
        </p:nvSpPr>
        <p:spPr>
          <a:xfrm>
            <a:off x="0" y="4717620"/>
            <a:ext cx="12192000" cy="861774"/>
          </a:xfrm>
          <a:prstGeom prst="rect">
            <a:avLst/>
          </a:prstGeom>
          <a:solidFill>
            <a:schemeClr val="tx1"/>
          </a:solidFill>
        </p:spPr>
        <p:txBody>
          <a:bodyPr wrap="square">
            <a:spAutoFit/>
          </a:bodyPr>
          <a:lstStyle/>
          <a:p>
            <a:pPr>
              <a:buNone/>
            </a:pPr>
            <a:r>
              <a:rPr lang="en-US" sz="2500" b="0" dirty="0" err="1">
                <a:solidFill>
                  <a:srgbClr val="4EC9B0"/>
                </a:solidFill>
                <a:effectLst/>
                <a:latin typeface="Consolas" panose="020B0609020204030204" pitchFamily="49" charset="0"/>
              </a:rPr>
              <a:t>System</a:t>
            </a:r>
            <a:r>
              <a:rPr lang="en-US" sz="2500" b="0" dirty="0" err="1">
                <a:solidFill>
                  <a:srgbClr val="CCCCCC"/>
                </a:solidFill>
                <a:effectLst/>
                <a:latin typeface="Consolas" panose="020B0609020204030204" pitchFamily="49" charset="0"/>
              </a:rPr>
              <a:t>.</a:t>
            </a:r>
            <a:r>
              <a:rPr lang="en-US" sz="2500" b="0" dirty="0" err="1">
                <a:solidFill>
                  <a:srgbClr val="4FC1FF"/>
                </a:solidFill>
                <a:effectLst/>
                <a:latin typeface="Consolas" panose="020B0609020204030204" pitchFamily="49" charset="0"/>
              </a:rPr>
              <a:t>out</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println</a:t>
            </a:r>
            <a:r>
              <a:rPr lang="en-US" sz="2500" b="0" dirty="0">
                <a:solidFill>
                  <a:srgbClr val="CCCCCC"/>
                </a:solidFill>
                <a:effectLst/>
                <a:latin typeface="Consolas" panose="020B0609020204030204" pitchFamily="49" charset="0"/>
              </a:rPr>
              <a:t>(</a:t>
            </a:r>
            <a:r>
              <a:rPr lang="en-US" sz="2500" b="0" dirty="0">
                <a:solidFill>
                  <a:srgbClr val="9CDCFE"/>
                </a:solidFill>
                <a:effectLst/>
                <a:latin typeface="Consolas" panose="020B0609020204030204" pitchFamily="49" charset="0"/>
              </a:rPr>
              <a:t>name</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CE9178"/>
                </a:solidFill>
                <a:effectLst/>
                <a:latin typeface="Consolas" panose="020B0609020204030204" pitchFamily="49" charset="0"/>
              </a:rPr>
              <a:t>" returned '"</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book</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title</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CE9178"/>
                </a:solidFill>
                <a:effectLst/>
                <a:latin typeface="Consolas" panose="020B0609020204030204" pitchFamily="49" charset="0"/>
              </a:rPr>
              <a:t>"'. Now holding "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borrowedBooks</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size</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CE9178"/>
                </a:solidFill>
                <a:effectLst/>
                <a:latin typeface="Consolas" panose="020B0609020204030204" pitchFamily="49" charset="0"/>
              </a:rPr>
              <a:t>" book(s)."</a:t>
            </a:r>
            <a:r>
              <a:rPr lang="en-US" sz="2500" b="0" dirty="0">
                <a:solidFill>
                  <a:srgbClr val="CCCCCC"/>
                </a:solidFill>
                <a:effectLst/>
                <a:latin typeface="Consolas" panose="020B0609020204030204" pitchFamily="49" charset="0"/>
              </a:rPr>
              <a:t>);</a:t>
            </a:r>
          </a:p>
        </p:txBody>
      </p:sp>
      <p:sp>
        <p:nvSpPr>
          <p:cNvPr id="9" name="Rectangle 1">
            <a:extLst>
              <a:ext uri="{FF2B5EF4-FFF2-40B4-BE49-F238E27FC236}">
                <a16:creationId xmlns:a16="http://schemas.microsoft.com/office/drawing/2014/main" id="{16052D97-FE78-DB12-FC9A-A0F029B28D36}"/>
              </a:ext>
            </a:extLst>
          </p:cNvPr>
          <p:cNvSpPr>
            <a:spLocks noChangeArrowheads="1"/>
          </p:cNvSpPr>
          <p:nvPr/>
        </p:nvSpPr>
        <p:spPr bwMode="auto">
          <a:xfrm>
            <a:off x="0" y="5798150"/>
            <a:ext cx="1001761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200" b="0" i="0" u="none" strike="noStrike" cap="none" normalizeH="0" baseline="0" dirty="0">
                <a:ln>
                  <a:noFill/>
                </a:ln>
                <a:solidFill>
                  <a:schemeClr val="tx1"/>
                </a:solidFill>
                <a:effectLst/>
                <a:latin typeface="Calibir"/>
              </a:rPr>
              <a:t>Note: </a:t>
            </a:r>
            <a:r>
              <a:rPr kumimoji="0" lang="en-US" altLang="en-US" sz="2200" b="0" i="0" u="none" strike="noStrike" cap="none" normalizeH="0" baseline="0" dirty="0" err="1">
                <a:ln>
                  <a:noFill/>
                </a:ln>
                <a:solidFill>
                  <a:schemeClr val="tx1"/>
                </a:solidFill>
                <a:effectLst/>
                <a:latin typeface="Calibir"/>
              </a:rPr>
              <a:t>borrowedBooks.size</a:t>
            </a:r>
            <a:r>
              <a:rPr kumimoji="0" lang="en-US" altLang="en-US" sz="2200" b="0" i="0" u="none" strike="noStrike" cap="none" normalizeH="0" baseline="0" dirty="0">
                <a:ln>
                  <a:noFill/>
                </a:ln>
                <a:solidFill>
                  <a:schemeClr val="tx1"/>
                </a:solidFill>
                <a:effectLst/>
                <a:latin typeface="Calibir"/>
              </a:rPr>
              <a:t>() already reflects the decreased count after remove(book). </a:t>
            </a:r>
          </a:p>
        </p:txBody>
      </p:sp>
    </p:spTree>
    <p:extLst>
      <p:ext uri="{BB962C8B-B14F-4D97-AF65-F5344CB8AC3E}">
        <p14:creationId xmlns:p14="http://schemas.microsoft.com/office/powerpoint/2010/main" val="69553941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4 — Track how many times a book has ever been borrowed</a:t>
            </a:r>
            <a:endParaRPr lang="en-AU" sz="3600" b="1" dirty="0">
              <a:latin typeface="Calibir"/>
            </a:endParaRPr>
          </a:p>
        </p:txBody>
      </p:sp>
      <p:sp>
        <p:nvSpPr>
          <p:cNvPr id="6" name="Rectangle 1">
            <a:extLst>
              <a:ext uri="{FF2B5EF4-FFF2-40B4-BE49-F238E27FC236}">
                <a16:creationId xmlns:a16="http://schemas.microsoft.com/office/drawing/2014/main" id="{54232C39-4B67-B72F-D421-069ED2BA74CB}"/>
              </a:ext>
            </a:extLst>
          </p:cNvPr>
          <p:cNvSpPr>
            <a:spLocks noChangeArrowheads="1"/>
          </p:cNvSpPr>
          <p:nvPr/>
        </p:nvSpPr>
        <p:spPr bwMode="auto">
          <a:xfrm>
            <a:off x="0" y="689926"/>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Task:</a:t>
            </a:r>
            <a:r>
              <a:rPr lang="en-US" altLang="en-US" sz="2800" dirty="0">
                <a:latin typeface="Calibir"/>
              </a:rPr>
              <a:t> Keep a running counter </a:t>
            </a:r>
            <a:r>
              <a:rPr lang="en-US" altLang="en-US" sz="2800" dirty="0" err="1">
                <a:latin typeface="Calibir"/>
              </a:rPr>
              <a:t>times_borrowed</a:t>
            </a:r>
            <a:r>
              <a:rPr lang="en-US" altLang="en-US" sz="2800" dirty="0">
                <a:latin typeface="Calibir"/>
              </a:rPr>
              <a:t> on each Book.</a:t>
            </a:r>
            <a:br>
              <a:rPr lang="en-US" altLang="en-US" sz="2800" dirty="0">
                <a:latin typeface="Calibir"/>
              </a:rPr>
            </a:br>
            <a:r>
              <a:rPr lang="en-US" altLang="en-US" sz="2800" b="1" dirty="0">
                <a:latin typeface="Calibir"/>
              </a:rPr>
              <a:t>Hint for Python:</a:t>
            </a:r>
            <a:r>
              <a:rPr lang="en-US" altLang="en-US" sz="2800" dirty="0">
                <a:latin typeface="Calibir"/>
              </a:rPr>
              <a:t> Add one new line in </a:t>
            </a:r>
            <a:r>
              <a:rPr lang="en-US" altLang="en-US" sz="2800" dirty="0" err="1">
                <a:latin typeface="Calibir"/>
              </a:rPr>
              <a:t>Member.borrow</a:t>
            </a:r>
            <a:r>
              <a:rPr lang="en-US" altLang="en-US" sz="2800" dirty="0">
                <a:latin typeface="Calibir"/>
              </a:rPr>
              <a:t>() right after setting </a:t>
            </a:r>
            <a:r>
              <a:rPr lang="en-US" altLang="en-US" sz="2800" dirty="0" err="1">
                <a:latin typeface="Calibir"/>
              </a:rPr>
              <a:t>book.borrowed_by</a:t>
            </a:r>
            <a:r>
              <a:rPr lang="en-US" altLang="en-US" sz="2800" dirty="0">
                <a:latin typeface="Calibir"/>
              </a:rPr>
              <a:t> = self (line 23), then display it</a:t>
            </a:r>
          </a:p>
          <a:p>
            <a:pPr eaLnBrk="0" fontAlgn="base" hangingPunct="0">
              <a:lnSpc>
                <a:spcPct val="150000"/>
              </a:lnSpc>
              <a:spcBef>
                <a:spcPct val="0"/>
              </a:spcBef>
              <a:spcAft>
                <a:spcPct val="0"/>
              </a:spcAft>
            </a:pPr>
            <a:r>
              <a:rPr lang="en-US" altLang="en-US" sz="2800" b="1" dirty="0">
                <a:latin typeface="Calibir"/>
              </a:rPr>
              <a:t>Hint for Java:</a:t>
            </a:r>
            <a:r>
              <a:rPr lang="en-US" altLang="en-US" sz="2800" dirty="0">
                <a:latin typeface="Calibir"/>
              </a:rPr>
              <a:t> </a:t>
            </a:r>
            <a:br>
              <a:rPr lang="en-US" altLang="en-US" sz="2800" dirty="0">
                <a:latin typeface="Calibir"/>
              </a:rPr>
            </a:br>
            <a:br>
              <a:rPr lang="en-US" altLang="en-US" sz="2800" dirty="0">
                <a:latin typeface="Calibir"/>
              </a:rPr>
            </a:br>
            <a:r>
              <a:rPr lang="en-US" altLang="en-US" sz="2800" b="1" dirty="0">
                <a:latin typeface="Calibir"/>
              </a:rPr>
              <a:t>Step 1 (new field):</a:t>
            </a:r>
            <a:r>
              <a:rPr lang="en-US" altLang="en-US" sz="2800" dirty="0">
                <a:latin typeface="Calibir"/>
              </a:rPr>
              <a:t> Add this inside class Book with the other fields (line 9). </a:t>
            </a:r>
          </a:p>
          <a:p>
            <a:pPr eaLnBrk="0" fontAlgn="base" hangingPunct="0">
              <a:lnSpc>
                <a:spcPct val="150000"/>
              </a:lnSpc>
              <a:spcBef>
                <a:spcPct val="0"/>
              </a:spcBef>
              <a:spcAft>
                <a:spcPct val="0"/>
              </a:spcAft>
            </a:pPr>
            <a:r>
              <a:rPr lang="en-US" altLang="en-US" sz="2800" dirty="0">
                <a:latin typeface="Calibir"/>
              </a:rPr>
              <a:t>int </a:t>
            </a:r>
            <a:r>
              <a:rPr lang="en-US" altLang="en-US" sz="2800" dirty="0" err="1">
                <a:latin typeface="Calibir"/>
              </a:rPr>
              <a:t>timesBorrowed</a:t>
            </a:r>
            <a:r>
              <a:rPr lang="en-US" altLang="en-US" sz="2800" dirty="0">
                <a:latin typeface="Calibir"/>
              </a:rPr>
              <a:t> = 0; // how many times this book has been borrowed (lifetime)</a:t>
            </a:r>
          </a:p>
        </p:txBody>
      </p:sp>
      <p:sp>
        <p:nvSpPr>
          <p:cNvPr id="11" name="TextBox 10">
            <a:extLst>
              <a:ext uri="{FF2B5EF4-FFF2-40B4-BE49-F238E27FC236}">
                <a16:creationId xmlns:a16="http://schemas.microsoft.com/office/drawing/2014/main" id="{77158667-5353-7E6B-BE62-5CA8BE61968D}"/>
              </a:ext>
            </a:extLst>
          </p:cNvPr>
          <p:cNvSpPr txBox="1"/>
          <p:nvPr/>
        </p:nvSpPr>
        <p:spPr>
          <a:xfrm>
            <a:off x="0" y="5372639"/>
            <a:ext cx="12192000" cy="1318181"/>
          </a:xfrm>
          <a:prstGeom prst="rect">
            <a:avLst/>
          </a:prstGeom>
          <a:noFill/>
        </p:spPr>
        <p:txBody>
          <a:bodyPr wrap="square">
            <a:spAutoFit/>
          </a:bodyPr>
          <a:lstStyle/>
          <a:p>
            <a:pPr eaLnBrk="0" fontAlgn="base" hangingPunct="0">
              <a:lnSpc>
                <a:spcPct val="150000"/>
              </a:lnSpc>
              <a:spcBef>
                <a:spcPct val="0"/>
              </a:spcBef>
              <a:spcAft>
                <a:spcPct val="0"/>
              </a:spcAft>
            </a:pPr>
            <a:r>
              <a:rPr lang="en-US" altLang="en-US" sz="2800" b="1" dirty="0">
                <a:latin typeface="Calibir"/>
              </a:rPr>
              <a:t>Step 2 (increment):</a:t>
            </a:r>
            <a:r>
              <a:rPr lang="en-US" altLang="en-US" sz="2800" dirty="0">
                <a:latin typeface="Calibir"/>
              </a:rPr>
              <a:t> In </a:t>
            </a:r>
            <a:r>
              <a:rPr lang="en-US" altLang="en-US" sz="2800" dirty="0" err="1">
                <a:latin typeface="Calibir"/>
              </a:rPr>
              <a:t>Member.borrow</a:t>
            </a:r>
            <a:r>
              <a:rPr lang="en-US" altLang="en-US" sz="2800" dirty="0">
                <a:latin typeface="Calibir"/>
              </a:rPr>
              <a:t>() after you mark the book borrowed and set the borrower, increment the counter. </a:t>
            </a:r>
          </a:p>
        </p:txBody>
      </p:sp>
      <p:pic>
        <p:nvPicPr>
          <p:cNvPr id="3" name="Timer">
            <a:hlinkClick r:id="" action="ppaction://media"/>
            <a:extLst>
              <a:ext uri="{FF2B5EF4-FFF2-40B4-BE49-F238E27FC236}">
                <a16:creationId xmlns:a16="http://schemas.microsoft.com/office/drawing/2014/main" id="{7983E6B8-208E-2366-FBF8-2A40C221B168}"/>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87" t="44980" r="40986" b="40884"/>
          <a:stretch>
            <a:fillRect/>
          </a:stretch>
        </p:blipFill>
        <p:spPr>
          <a:xfrm>
            <a:off x="5097702" y="2785011"/>
            <a:ext cx="1996596" cy="857075"/>
          </a:xfrm>
          <a:prstGeom prst="rect">
            <a:avLst/>
          </a:prstGeom>
          <a:ln w="38100">
            <a:solidFill>
              <a:srgbClr val="FF0000"/>
            </a:solidFill>
          </a:ln>
        </p:spPr>
      </p:pic>
    </p:spTree>
    <p:extLst>
      <p:ext uri="{BB962C8B-B14F-4D97-AF65-F5344CB8AC3E}">
        <p14:creationId xmlns:p14="http://schemas.microsoft.com/office/powerpoint/2010/main" val="689397706"/>
      </p:ext>
    </p:extLst>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4 — Track how many times a book has ever been borrowed</a:t>
            </a:r>
            <a:endParaRPr lang="en-AU" sz="3600" b="1" dirty="0">
              <a:latin typeface="Calibir"/>
            </a:endParaRPr>
          </a:p>
        </p:txBody>
      </p:sp>
      <p:sp>
        <p:nvSpPr>
          <p:cNvPr id="10" name="TextBox 9">
            <a:extLst>
              <a:ext uri="{FF2B5EF4-FFF2-40B4-BE49-F238E27FC236}">
                <a16:creationId xmlns:a16="http://schemas.microsoft.com/office/drawing/2014/main" id="{DB91D8F5-24C7-A750-5B31-0BAA64A713A1}"/>
              </a:ext>
            </a:extLst>
          </p:cNvPr>
          <p:cNvSpPr txBox="1"/>
          <p:nvPr/>
        </p:nvSpPr>
        <p:spPr>
          <a:xfrm>
            <a:off x="159834" y="557048"/>
            <a:ext cx="12032166" cy="1561389"/>
          </a:xfrm>
          <a:prstGeom prst="rect">
            <a:avLst/>
          </a:prstGeom>
          <a:solidFill>
            <a:schemeClr val="tx1"/>
          </a:solidFill>
        </p:spPr>
        <p:txBody>
          <a:bodyPr wrap="square">
            <a:spAutoFit/>
          </a:bodyPr>
          <a:lstStyle/>
          <a:p>
            <a:pPr>
              <a:lnSpc>
                <a:spcPct val="150000"/>
              </a:lnSpc>
              <a:buNone/>
            </a:pP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book</a:t>
            </a:r>
            <a:r>
              <a:rPr lang="en-US" sz="2200" b="0" dirty="0" err="1">
                <a:solidFill>
                  <a:srgbClr val="CCCCCC"/>
                </a:solidFill>
                <a:effectLst/>
                <a:latin typeface="Consolas" panose="020B0609020204030204" pitchFamily="49" charset="0"/>
              </a:rPr>
              <a:t>.times_borrowed</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getattr</a:t>
            </a:r>
            <a:r>
              <a:rPr lang="en-US" sz="2200" b="0" dirty="0">
                <a:solidFill>
                  <a:srgbClr val="CCCCCC"/>
                </a:solidFill>
                <a:effectLst/>
                <a:latin typeface="Consolas" panose="020B0609020204030204" pitchFamily="49" charset="0"/>
              </a:rPr>
              <a:t>(</a:t>
            </a:r>
            <a:r>
              <a:rPr lang="en-US" sz="2200" b="0" dirty="0">
                <a:solidFill>
                  <a:srgbClr val="9CDCFE"/>
                </a:solidFill>
                <a:effectLst/>
                <a:latin typeface="Consolas" panose="020B0609020204030204" pitchFamily="49" charset="0"/>
              </a:rPr>
              <a:t>book</a:t>
            </a:r>
            <a:r>
              <a:rPr lang="en-US" sz="2200" b="0" dirty="0">
                <a:solidFill>
                  <a:srgbClr val="CCCCCC"/>
                </a:solidFill>
                <a:effectLst/>
                <a:latin typeface="Consolas" panose="020B0609020204030204" pitchFamily="49" charset="0"/>
              </a:rPr>
              <a:t>, </a:t>
            </a:r>
            <a:r>
              <a:rPr lang="en-US" sz="2200" b="0" dirty="0">
                <a:solidFill>
                  <a:srgbClr val="CE9178"/>
                </a:solidFill>
                <a:effectLst/>
                <a:latin typeface="Consolas" panose="020B0609020204030204" pitchFamily="49" charset="0"/>
              </a:rPr>
              <a:t>"</a:t>
            </a:r>
            <a:r>
              <a:rPr lang="en-US" sz="2200" b="0" dirty="0" err="1">
                <a:solidFill>
                  <a:srgbClr val="CE9178"/>
                </a:solidFill>
                <a:effectLst/>
                <a:latin typeface="Consolas" panose="020B0609020204030204" pitchFamily="49" charset="0"/>
              </a:rPr>
              <a:t>times_borrowed</a:t>
            </a:r>
            <a:r>
              <a:rPr lang="en-US" sz="2200" b="0" dirty="0">
                <a:solidFill>
                  <a:srgbClr val="CE9178"/>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0</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1</a:t>
            </a:r>
            <a:endParaRPr lang="en-US" sz="2200" b="0" dirty="0">
              <a:solidFill>
                <a:srgbClr val="CCCCCC"/>
              </a:solidFill>
              <a:effectLst/>
              <a:latin typeface="Consolas" panose="020B0609020204030204" pitchFamily="49" charset="0"/>
            </a:endParaRPr>
          </a:p>
          <a:p>
            <a:pPr>
              <a:lnSpc>
                <a:spcPct val="150000"/>
              </a:lnSpc>
              <a:buNone/>
            </a:pP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print</a:t>
            </a:r>
            <a:r>
              <a:rPr lang="en-US" sz="2200" b="0" dirty="0">
                <a:solidFill>
                  <a:srgbClr val="CCCCCC"/>
                </a:solidFill>
                <a:effectLst/>
                <a:latin typeface="Consolas" panose="020B0609020204030204" pitchFamily="49" charset="0"/>
              </a:rPr>
              <a:t>(</a:t>
            </a:r>
            <a:r>
              <a:rPr lang="en-US" sz="2200" b="0" dirty="0">
                <a:solidFill>
                  <a:srgbClr val="569CD6"/>
                </a:solidFill>
                <a:effectLst/>
                <a:latin typeface="Consolas" panose="020B0609020204030204" pitchFamily="49" charset="0"/>
              </a:rPr>
              <a:t>f</a:t>
            </a:r>
            <a:r>
              <a:rPr lang="en-US" sz="2200" b="0" dirty="0">
                <a:solidFill>
                  <a:srgbClr val="CE9178"/>
                </a:solidFill>
                <a:effectLst/>
                <a:latin typeface="Consolas" panose="020B0609020204030204" pitchFamily="49" charset="0"/>
              </a:rPr>
              <a:t>"'</a:t>
            </a:r>
            <a:r>
              <a:rPr lang="en-US" sz="2200" b="0" dirty="0">
                <a:solidFill>
                  <a:srgbClr val="569CD6"/>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book</a:t>
            </a:r>
            <a:r>
              <a:rPr lang="en-US" sz="2200" b="0" dirty="0" err="1">
                <a:solidFill>
                  <a:srgbClr val="CCCCCC"/>
                </a:solidFill>
                <a:effectLst/>
                <a:latin typeface="Consolas" panose="020B0609020204030204" pitchFamily="49" charset="0"/>
              </a:rPr>
              <a:t>.title</a:t>
            </a:r>
            <a:r>
              <a:rPr lang="en-US" sz="2200" b="0" dirty="0">
                <a:solidFill>
                  <a:srgbClr val="569CD6"/>
                </a:solidFill>
                <a:effectLst/>
                <a:latin typeface="Consolas" panose="020B0609020204030204" pitchFamily="49" charset="0"/>
              </a:rPr>
              <a:t>}</a:t>
            </a:r>
            <a:r>
              <a:rPr lang="en-US" sz="2200" b="0" dirty="0">
                <a:solidFill>
                  <a:srgbClr val="CE9178"/>
                </a:solidFill>
                <a:effectLst/>
                <a:latin typeface="Consolas" panose="020B0609020204030204" pitchFamily="49" charset="0"/>
              </a:rPr>
              <a:t>' has been borrowed </a:t>
            </a:r>
            <a:r>
              <a:rPr lang="en-US" sz="2200" b="0" dirty="0">
                <a:solidFill>
                  <a:srgbClr val="569CD6"/>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book</a:t>
            </a:r>
            <a:r>
              <a:rPr lang="en-US" sz="2200" b="0" dirty="0" err="1">
                <a:solidFill>
                  <a:srgbClr val="CCCCCC"/>
                </a:solidFill>
                <a:effectLst/>
                <a:latin typeface="Consolas" panose="020B0609020204030204" pitchFamily="49" charset="0"/>
              </a:rPr>
              <a:t>.times_borrowed</a:t>
            </a:r>
            <a:r>
              <a:rPr lang="en-US" sz="2200" b="0" dirty="0">
                <a:solidFill>
                  <a:srgbClr val="569CD6"/>
                </a:solidFill>
                <a:effectLst/>
                <a:latin typeface="Consolas" panose="020B0609020204030204" pitchFamily="49" charset="0"/>
              </a:rPr>
              <a:t>}</a:t>
            </a:r>
            <a:r>
              <a:rPr lang="en-US" sz="2200" b="0" dirty="0">
                <a:solidFill>
                  <a:srgbClr val="CE9178"/>
                </a:solidFill>
                <a:effectLst/>
                <a:latin typeface="Consolas" panose="020B0609020204030204" pitchFamily="49" charset="0"/>
              </a:rPr>
              <a:t> times in total."</a:t>
            </a:r>
            <a:r>
              <a:rPr lang="en-US" sz="2200" b="0" dirty="0">
                <a:solidFill>
                  <a:srgbClr val="CCCCCC"/>
                </a:solidFill>
                <a:effectLst/>
                <a:latin typeface="Consolas" panose="020B0609020204030204" pitchFamily="49" charset="0"/>
              </a:rPr>
              <a:t>)  </a:t>
            </a:r>
            <a:r>
              <a:rPr lang="en-US" sz="2200" b="0" dirty="0">
                <a:solidFill>
                  <a:srgbClr val="6A9955"/>
                </a:solidFill>
                <a:effectLst/>
                <a:latin typeface="Consolas" panose="020B0609020204030204" pitchFamily="49" charset="0"/>
              </a:rPr>
              <a:t># NEW line</a:t>
            </a:r>
            <a:endParaRPr lang="en-US" sz="2200" b="0" dirty="0">
              <a:solidFill>
                <a:srgbClr val="CCCCCC"/>
              </a:solidFill>
              <a:effectLst/>
              <a:latin typeface="Consolas" panose="020B0609020204030204" pitchFamily="49" charset="0"/>
            </a:endParaRPr>
          </a:p>
        </p:txBody>
      </p:sp>
      <p:pic>
        <p:nvPicPr>
          <p:cNvPr id="14" name="Picture 13">
            <a:extLst>
              <a:ext uri="{FF2B5EF4-FFF2-40B4-BE49-F238E27FC236}">
                <a16:creationId xmlns:a16="http://schemas.microsoft.com/office/drawing/2014/main" id="{84099A62-F6FA-506A-318A-879CC69DF678}"/>
              </a:ext>
            </a:extLst>
          </p:cNvPr>
          <p:cNvPicPr>
            <a:picLocks noChangeAspect="1"/>
          </p:cNvPicPr>
          <p:nvPr/>
        </p:nvPicPr>
        <p:blipFill>
          <a:blip r:embed="rId2"/>
          <a:srcRect l="50862" t="20383" r="7500" b="44368"/>
          <a:stretch>
            <a:fillRect/>
          </a:stretch>
        </p:blipFill>
        <p:spPr>
          <a:xfrm>
            <a:off x="159834" y="2118437"/>
            <a:ext cx="4639171" cy="2209128"/>
          </a:xfrm>
          <a:prstGeom prst="rect">
            <a:avLst/>
          </a:prstGeom>
        </p:spPr>
      </p:pic>
      <p:sp>
        <p:nvSpPr>
          <p:cNvPr id="16" name="Rectangle: Rounded Corners 15">
            <a:extLst>
              <a:ext uri="{FF2B5EF4-FFF2-40B4-BE49-F238E27FC236}">
                <a16:creationId xmlns:a16="http://schemas.microsoft.com/office/drawing/2014/main" id="{89C91110-A23F-D75F-A7AC-61CF220C2130}"/>
              </a:ext>
            </a:extLst>
          </p:cNvPr>
          <p:cNvSpPr/>
          <p:nvPr/>
        </p:nvSpPr>
        <p:spPr>
          <a:xfrm>
            <a:off x="317489" y="2118437"/>
            <a:ext cx="4481516" cy="53272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 name="Rectangle 2">
            <a:extLst>
              <a:ext uri="{FF2B5EF4-FFF2-40B4-BE49-F238E27FC236}">
                <a16:creationId xmlns:a16="http://schemas.microsoft.com/office/drawing/2014/main" id="{38E14D3A-62B9-009F-0A3D-7F21E29C26EA}"/>
              </a:ext>
            </a:extLst>
          </p:cNvPr>
          <p:cNvSpPr>
            <a:spLocks noChangeArrowheads="1"/>
          </p:cNvSpPr>
          <p:nvPr/>
        </p:nvSpPr>
        <p:spPr bwMode="auto">
          <a:xfrm>
            <a:off x="4799005" y="2026421"/>
            <a:ext cx="7392995" cy="48315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600" b="0" i="0" u="none" strike="noStrike" cap="none" normalizeH="0" baseline="0" dirty="0">
                <a:ln>
                  <a:noFill/>
                </a:ln>
                <a:solidFill>
                  <a:schemeClr val="tx1"/>
                </a:solidFill>
                <a:effectLst/>
                <a:latin typeface="Calibir"/>
              </a:rPr>
              <a:t>(Python)</a:t>
            </a:r>
            <a:br>
              <a:rPr kumimoji="0" lang="en-US" altLang="en-US" sz="2600" b="0" i="0" u="none" strike="noStrike" cap="none" normalizeH="0" baseline="0" dirty="0">
                <a:ln>
                  <a:noFill/>
                </a:ln>
                <a:solidFill>
                  <a:schemeClr val="tx1"/>
                </a:solidFill>
                <a:effectLst/>
                <a:latin typeface="Calibir"/>
              </a:rPr>
            </a:br>
            <a:r>
              <a:rPr kumimoji="0" lang="en-US" altLang="en-US" sz="2600" b="0" i="0" u="none" strike="noStrike" cap="none" normalizeH="0" baseline="0" dirty="0">
                <a:ln>
                  <a:noFill/>
                </a:ln>
                <a:solidFill>
                  <a:schemeClr val="tx1"/>
                </a:solidFill>
                <a:effectLst/>
                <a:latin typeface="Calibir"/>
              </a:rPr>
              <a:t>If Farshid borrows </a:t>
            </a:r>
            <a:r>
              <a:rPr kumimoji="0" lang="en-US" altLang="en-US" sz="2600" b="0" i="1" u="none" strike="noStrike" cap="none" normalizeH="0" baseline="0" dirty="0">
                <a:ln>
                  <a:noFill/>
                </a:ln>
                <a:solidFill>
                  <a:schemeClr val="tx1"/>
                </a:solidFill>
                <a:effectLst/>
                <a:latin typeface="Calibir"/>
              </a:rPr>
              <a:t>Python Basics</a:t>
            </a:r>
            <a:r>
              <a:rPr kumimoji="0" lang="en-US" altLang="en-US" sz="2600" b="0" i="0" u="none" strike="noStrike" cap="none" normalizeH="0" baseline="0" dirty="0">
                <a:ln>
                  <a:noFill/>
                </a:ln>
                <a:solidFill>
                  <a:schemeClr val="tx1"/>
                </a:solidFill>
                <a:effectLst/>
                <a:latin typeface="Calibir"/>
              </a:rPr>
              <a:t> twice (with return in between):</a:t>
            </a:r>
          </a:p>
          <a:p>
            <a:pPr lvl="0" eaLnBrk="0" fontAlgn="base" hangingPunct="0">
              <a:lnSpc>
                <a:spcPct val="150000"/>
              </a:lnSpc>
              <a:spcBef>
                <a:spcPct val="0"/>
              </a:spcBef>
              <a:spcAft>
                <a:spcPct val="0"/>
              </a:spcAft>
            </a:pPr>
            <a:r>
              <a:rPr lang="en-US" altLang="en-US" sz="2600" dirty="0">
                <a:latin typeface="Calibir"/>
              </a:rPr>
              <a:t>Farshid</a:t>
            </a:r>
            <a:r>
              <a:rPr kumimoji="0" lang="en-US" altLang="en-US" sz="2600" b="0" i="0" u="none" strike="noStrike" cap="none" normalizeH="0" baseline="0" dirty="0">
                <a:ln>
                  <a:noFill/>
                </a:ln>
                <a:solidFill>
                  <a:schemeClr val="tx1"/>
                </a:solidFill>
                <a:effectLst/>
                <a:latin typeface="Calibir"/>
              </a:rPr>
              <a:t> borrowed 'Python Basics' (now 1 borrowed). 'Python Basics' has been borrowed 1 times in total. </a:t>
            </a:r>
            <a:r>
              <a:rPr lang="en-US" altLang="en-US" sz="2600" dirty="0">
                <a:latin typeface="Calibir"/>
              </a:rPr>
              <a:t>Farshid</a:t>
            </a:r>
            <a:r>
              <a:rPr kumimoji="0" lang="en-US" altLang="en-US" sz="2600" b="0" i="0" u="none" strike="noStrike" cap="none" normalizeH="0" baseline="0" dirty="0">
                <a:ln>
                  <a:noFill/>
                </a:ln>
                <a:solidFill>
                  <a:schemeClr val="tx1"/>
                </a:solidFill>
                <a:effectLst/>
                <a:latin typeface="Calibir"/>
              </a:rPr>
              <a:t> returned 'Python Basics' (now 0 borrowed). </a:t>
            </a:r>
            <a:r>
              <a:rPr kumimoji="0" lang="en-US" altLang="en-US" sz="2600" b="0" i="0" u="none" strike="noStrike" cap="none" normalizeH="0" baseline="0">
                <a:ln>
                  <a:noFill/>
                </a:ln>
                <a:solidFill>
                  <a:schemeClr val="tx1"/>
                </a:solidFill>
                <a:effectLst/>
                <a:latin typeface="Calibir"/>
              </a:rPr>
              <a:t>Farshid </a:t>
            </a:r>
            <a:r>
              <a:rPr kumimoji="0" lang="en-US" altLang="en-US" sz="2600" b="0" i="0" u="none" strike="noStrike" cap="none" normalizeH="0" baseline="0" dirty="0">
                <a:ln>
                  <a:noFill/>
                </a:ln>
                <a:solidFill>
                  <a:schemeClr val="tx1"/>
                </a:solidFill>
                <a:effectLst/>
                <a:latin typeface="Calibir"/>
              </a:rPr>
              <a:t>borrowed 'Python Basics' (now 1 borrowed). 'Python Basics' has been borrowed 2 times in total.</a:t>
            </a:r>
          </a:p>
        </p:txBody>
      </p:sp>
    </p:spTree>
    <p:extLst>
      <p:ext uri="{BB962C8B-B14F-4D97-AF65-F5344CB8AC3E}">
        <p14:creationId xmlns:p14="http://schemas.microsoft.com/office/powerpoint/2010/main" val="94686766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C634D-1514-D4A5-AEBF-A580E132CA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088495-F86A-0201-BC65-9BF5F2B2887F}"/>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4 — Track how many times a book has ever been borrowed</a:t>
            </a:r>
            <a:endParaRPr lang="en-AU" sz="3600" b="1" dirty="0">
              <a:latin typeface="Calibir"/>
            </a:endParaRPr>
          </a:p>
        </p:txBody>
      </p:sp>
      <p:sp>
        <p:nvSpPr>
          <p:cNvPr id="3" name="Rectangle 2">
            <a:extLst>
              <a:ext uri="{FF2B5EF4-FFF2-40B4-BE49-F238E27FC236}">
                <a16:creationId xmlns:a16="http://schemas.microsoft.com/office/drawing/2014/main" id="{0ED9DC0C-4BB1-65C2-E3DB-B4FDA2B10D54}"/>
              </a:ext>
            </a:extLst>
          </p:cNvPr>
          <p:cNvSpPr>
            <a:spLocks noChangeArrowheads="1"/>
          </p:cNvSpPr>
          <p:nvPr/>
        </p:nvSpPr>
        <p:spPr bwMode="auto">
          <a:xfrm>
            <a:off x="0" y="557048"/>
            <a:ext cx="7392995" cy="6304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600" b="0" i="0" u="none" strike="noStrike" cap="none" normalizeH="0" baseline="0" dirty="0">
                <a:ln>
                  <a:noFill/>
                </a:ln>
                <a:solidFill>
                  <a:schemeClr val="tx1"/>
                </a:solidFill>
                <a:effectLst/>
                <a:latin typeface="Calibir"/>
              </a:rPr>
              <a:t>(Java) line 9</a:t>
            </a:r>
          </a:p>
        </p:txBody>
      </p:sp>
      <p:sp>
        <p:nvSpPr>
          <p:cNvPr id="8" name="TextBox 7">
            <a:extLst>
              <a:ext uri="{FF2B5EF4-FFF2-40B4-BE49-F238E27FC236}">
                <a16:creationId xmlns:a16="http://schemas.microsoft.com/office/drawing/2014/main" id="{1738AA44-8967-C277-1DB6-EA90E1A33039}"/>
              </a:ext>
            </a:extLst>
          </p:cNvPr>
          <p:cNvSpPr txBox="1"/>
          <p:nvPr/>
        </p:nvSpPr>
        <p:spPr>
          <a:xfrm>
            <a:off x="0" y="1187860"/>
            <a:ext cx="12192000" cy="769441"/>
          </a:xfrm>
          <a:prstGeom prst="rect">
            <a:avLst/>
          </a:prstGeom>
          <a:solidFill>
            <a:schemeClr val="tx1"/>
          </a:solidFill>
        </p:spPr>
        <p:txBody>
          <a:bodyPr wrap="square">
            <a:spAutoFit/>
          </a:bodyPr>
          <a:lstStyle/>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int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timesBorrowed</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0</a:t>
            </a:r>
            <a:r>
              <a:rPr lang="en-US" sz="2200" b="0" dirty="0">
                <a:solidFill>
                  <a:srgbClr val="CCCCCC"/>
                </a:solidFill>
                <a:effectLst/>
                <a:latin typeface="Consolas" panose="020B0609020204030204" pitchFamily="49" charset="0"/>
              </a:rPr>
              <a:t>; </a:t>
            </a:r>
            <a:r>
              <a:rPr lang="en-US" sz="2200" b="0" dirty="0">
                <a:solidFill>
                  <a:srgbClr val="6A9955"/>
                </a:solidFill>
                <a:effectLst/>
                <a:latin typeface="Consolas" panose="020B0609020204030204" pitchFamily="49" charset="0"/>
              </a:rPr>
              <a:t>// how many times this book has been borrowed (lifetime)</a:t>
            </a:r>
            <a:endParaRPr lang="en-US" sz="2200" b="0" dirty="0">
              <a:solidFill>
                <a:srgbClr val="CCCCCC"/>
              </a:solidFill>
              <a:effectLst/>
              <a:latin typeface="Consolas" panose="020B0609020204030204" pitchFamily="49" charset="0"/>
            </a:endParaRPr>
          </a:p>
        </p:txBody>
      </p:sp>
      <p:sp>
        <p:nvSpPr>
          <p:cNvPr id="4" name="Rectangle 3">
            <a:extLst>
              <a:ext uri="{FF2B5EF4-FFF2-40B4-BE49-F238E27FC236}">
                <a16:creationId xmlns:a16="http://schemas.microsoft.com/office/drawing/2014/main" id="{12235325-F1F7-D93E-DB54-7617952884CF}"/>
              </a:ext>
            </a:extLst>
          </p:cNvPr>
          <p:cNvSpPr>
            <a:spLocks noChangeArrowheads="1"/>
          </p:cNvSpPr>
          <p:nvPr/>
        </p:nvSpPr>
        <p:spPr bwMode="auto">
          <a:xfrm>
            <a:off x="-1" y="2272898"/>
            <a:ext cx="7392995" cy="6304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600" b="0" i="0" u="none" strike="noStrike" cap="none" normalizeH="0" baseline="0" dirty="0">
                <a:ln>
                  <a:noFill/>
                </a:ln>
                <a:solidFill>
                  <a:schemeClr val="tx1"/>
                </a:solidFill>
                <a:effectLst/>
                <a:latin typeface="Calibir"/>
              </a:rPr>
              <a:t>Class Member &gt;&gt; borrow – line 39</a:t>
            </a:r>
          </a:p>
        </p:txBody>
      </p:sp>
      <p:sp>
        <p:nvSpPr>
          <p:cNvPr id="6" name="TextBox 5">
            <a:extLst>
              <a:ext uri="{FF2B5EF4-FFF2-40B4-BE49-F238E27FC236}">
                <a16:creationId xmlns:a16="http://schemas.microsoft.com/office/drawing/2014/main" id="{E77524D1-072A-E73C-A589-2CB558EE78A4}"/>
              </a:ext>
            </a:extLst>
          </p:cNvPr>
          <p:cNvSpPr txBox="1"/>
          <p:nvPr/>
        </p:nvSpPr>
        <p:spPr>
          <a:xfrm>
            <a:off x="0" y="3189935"/>
            <a:ext cx="6172200" cy="1384995"/>
          </a:xfrm>
          <a:prstGeom prst="rect">
            <a:avLst/>
          </a:prstGeom>
          <a:noFill/>
          <a:ln>
            <a:solidFill>
              <a:srgbClr val="FF0000"/>
            </a:solidFill>
          </a:ln>
        </p:spPr>
        <p:txBody>
          <a:bodyPr wrap="square">
            <a:spAutoFit/>
          </a:bodyPr>
          <a:lstStyle/>
          <a:p>
            <a:r>
              <a:rPr lang="en-AU" sz="2800" dirty="0" err="1">
                <a:latin typeface="Calibir"/>
              </a:rPr>
              <a:t>book.status</a:t>
            </a:r>
            <a:r>
              <a:rPr lang="en-AU" sz="2800" dirty="0">
                <a:latin typeface="Calibir"/>
              </a:rPr>
              <a:t> = "borrowed";</a:t>
            </a:r>
          </a:p>
          <a:p>
            <a:r>
              <a:rPr lang="en-AU" sz="2800" dirty="0" err="1">
                <a:latin typeface="Calibir"/>
              </a:rPr>
              <a:t>book.borrowedBy</a:t>
            </a:r>
            <a:r>
              <a:rPr lang="en-AU" sz="2800" dirty="0">
                <a:latin typeface="Calibir"/>
              </a:rPr>
              <a:t> = this;</a:t>
            </a:r>
          </a:p>
          <a:p>
            <a:r>
              <a:rPr lang="en-AU" sz="2800" dirty="0" err="1">
                <a:latin typeface="Calibir"/>
              </a:rPr>
              <a:t>borrowedBooks.add</a:t>
            </a:r>
            <a:r>
              <a:rPr lang="en-AU" sz="2800" dirty="0">
                <a:latin typeface="Calibir"/>
              </a:rPr>
              <a:t>(book);</a:t>
            </a:r>
          </a:p>
        </p:txBody>
      </p:sp>
      <p:pic>
        <p:nvPicPr>
          <p:cNvPr id="9" name="Picture 8">
            <a:extLst>
              <a:ext uri="{FF2B5EF4-FFF2-40B4-BE49-F238E27FC236}">
                <a16:creationId xmlns:a16="http://schemas.microsoft.com/office/drawing/2014/main" id="{763038DA-0E3B-AEB9-7A3A-0C0B909E2FEF}"/>
              </a:ext>
            </a:extLst>
          </p:cNvPr>
          <p:cNvPicPr>
            <a:picLocks noChangeAspect="1"/>
          </p:cNvPicPr>
          <p:nvPr/>
        </p:nvPicPr>
        <p:blipFill>
          <a:blip r:embed="rId2"/>
          <a:srcRect l="20214" t="36097" r="12653" b="42335"/>
          <a:stretch>
            <a:fillRect/>
          </a:stretch>
        </p:blipFill>
        <p:spPr>
          <a:xfrm>
            <a:off x="-1" y="4781254"/>
            <a:ext cx="11563816" cy="2089687"/>
          </a:xfrm>
          <a:prstGeom prst="rect">
            <a:avLst/>
          </a:prstGeom>
        </p:spPr>
      </p:pic>
      <p:cxnSp>
        <p:nvCxnSpPr>
          <p:cNvPr id="12" name="Connector: Elbow 11">
            <a:extLst>
              <a:ext uri="{FF2B5EF4-FFF2-40B4-BE49-F238E27FC236}">
                <a16:creationId xmlns:a16="http://schemas.microsoft.com/office/drawing/2014/main" id="{4EB87C3B-2D71-8DDA-7036-AEB06D40125A}"/>
              </a:ext>
            </a:extLst>
          </p:cNvPr>
          <p:cNvCxnSpPr>
            <a:stCxn id="6" idx="3"/>
          </p:cNvCxnSpPr>
          <p:nvPr/>
        </p:nvCxnSpPr>
        <p:spPr>
          <a:xfrm>
            <a:off x="6172200" y="3882433"/>
            <a:ext cx="752707" cy="890289"/>
          </a:xfrm>
          <a:prstGeom prst="bentConnector2">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1430136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13D06-513B-420C-25DC-FEA2E8DF52E6}"/>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E990024-9DA5-908D-59A9-E8C116AD9A31}"/>
              </a:ext>
            </a:extLst>
          </p:cNvPr>
          <p:cNvPicPr>
            <a:picLocks noChangeAspect="1"/>
          </p:cNvPicPr>
          <p:nvPr/>
        </p:nvPicPr>
        <p:blipFill>
          <a:blip r:embed="rId2"/>
          <a:srcRect b="36585"/>
          <a:stretch>
            <a:fillRect/>
          </a:stretch>
        </p:blipFill>
        <p:spPr>
          <a:xfrm>
            <a:off x="0" y="0"/>
            <a:ext cx="12192000" cy="4348976"/>
          </a:xfrm>
          <a:prstGeom prst="rect">
            <a:avLst/>
          </a:prstGeom>
        </p:spPr>
      </p:pic>
      <p:sp>
        <p:nvSpPr>
          <p:cNvPr id="11" name="Rectangle: Rounded Corners 10">
            <a:extLst>
              <a:ext uri="{FF2B5EF4-FFF2-40B4-BE49-F238E27FC236}">
                <a16:creationId xmlns:a16="http://schemas.microsoft.com/office/drawing/2014/main" id="{1C8C5A3F-CC0C-0DDA-B1A4-812F99F6C9B8}"/>
              </a:ext>
            </a:extLst>
          </p:cNvPr>
          <p:cNvSpPr/>
          <p:nvPr/>
        </p:nvSpPr>
        <p:spPr>
          <a:xfrm>
            <a:off x="4861932" y="3200400"/>
            <a:ext cx="6501160" cy="110954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 name="Rectangle 1">
            <a:extLst>
              <a:ext uri="{FF2B5EF4-FFF2-40B4-BE49-F238E27FC236}">
                <a16:creationId xmlns:a16="http://schemas.microsoft.com/office/drawing/2014/main" id="{B0DE7EA9-C68E-58A9-D875-EC0286E24BA1}"/>
              </a:ext>
            </a:extLst>
          </p:cNvPr>
          <p:cNvSpPr>
            <a:spLocks noChangeArrowheads="1"/>
          </p:cNvSpPr>
          <p:nvPr/>
        </p:nvSpPr>
        <p:spPr bwMode="auto">
          <a:xfrm>
            <a:off x="0" y="4148375"/>
            <a:ext cx="5898987" cy="27987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1700" b="1" i="0" u="none" strike="noStrike" cap="none" normalizeH="0" baseline="0" dirty="0">
                <a:ln>
                  <a:noFill/>
                </a:ln>
                <a:solidFill>
                  <a:schemeClr val="tx1"/>
                </a:solidFill>
                <a:effectLst/>
                <a:latin typeface="Calibir"/>
              </a:rPr>
              <a:t>First borrow</a:t>
            </a:r>
            <a:endParaRPr kumimoji="0" lang="en-US" altLang="en-US" sz="1700" b="0" i="0" u="none" strike="noStrike" cap="none" normalizeH="0" baseline="0" dirty="0">
              <a:ln>
                <a:noFill/>
              </a:ln>
              <a:solidFill>
                <a:schemeClr val="tx1"/>
              </a:solidFill>
              <a:effectLst/>
              <a:latin typeface="Calibir"/>
            </a:endParaRPr>
          </a:p>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700" b="0" i="0" u="none" strike="noStrike" cap="none" normalizeH="0" baseline="0" dirty="0">
                <a:ln>
                  <a:noFill/>
                </a:ln>
                <a:solidFill>
                  <a:schemeClr val="tx1"/>
                </a:solidFill>
                <a:effectLst/>
                <a:latin typeface="Calibir"/>
              </a:rPr>
              <a:t>borrow(book1) passed both checks (limit &lt; 5, book available).</a:t>
            </a:r>
          </a:p>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700" b="0" i="0" u="none" strike="noStrike" cap="none" normalizeH="0" baseline="0" dirty="0">
                <a:ln>
                  <a:noFill/>
                </a:ln>
                <a:solidFill>
                  <a:schemeClr val="tx1"/>
                </a:solidFill>
                <a:effectLst/>
                <a:latin typeface="Calibir"/>
              </a:rPr>
              <a:t>State changes:</a:t>
            </a:r>
          </a:p>
          <a:p>
            <a:pPr marL="742950" marR="0" lvl="1"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700" b="0" i="0" u="none" strike="noStrike" cap="none" normalizeH="0" baseline="0" dirty="0">
                <a:ln>
                  <a:noFill/>
                </a:ln>
                <a:solidFill>
                  <a:schemeClr val="tx1"/>
                </a:solidFill>
                <a:effectLst/>
                <a:latin typeface="Calibir"/>
              </a:rPr>
              <a:t>book1.status = "borrowed"</a:t>
            </a:r>
          </a:p>
          <a:p>
            <a:pPr marL="742950" marR="0" lvl="1"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700" b="0" i="0" u="none" strike="noStrike" cap="none" normalizeH="0" baseline="0" dirty="0">
                <a:ln>
                  <a:noFill/>
                </a:ln>
                <a:solidFill>
                  <a:schemeClr val="tx1"/>
                </a:solidFill>
                <a:effectLst/>
                <a:latin typeface="Calibir"/>
              </a:rPr>
              <a:t>book1.borrowedBy = Farshid</a:t>
            </a:r>
          </a:p>
          <a:p>
            <a:pPr marL="742950" marR="0" lvl="1"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700" b="0" i="0" u="none" strike="noStrike" cap="none" normalizeH="0" baseline="0" dirty="0" err="1">
                <a:ln>
                  <a:noFill/>
                </a:ln>
                <a:solidFill>
                  <a:schemeClr val="tx1"/>
                </a:solidFill>
                <a:effectLst/>
                <a:latin typeface="Calibir"/>
              </a:rPr>
              <a:t>member.borrowedBooks.size</a:t>
            </a:r>
            <a:r>
              <a:rPr kumimoji="0" lang="en-US" altLang="en-US" sz="1700" b="0" i="0" u="none" strike="noStrike" cap="none" normalizeH="0" baseline="0" dirty="0">
                <a:ln>
                  <a:noFill/>
                </a:ln>
                <a:solidFill>
                  <a:schemeClr val="tx1"/>
                </a:solidFill>
                <a:effectLst/>
                <a:latin typeface="Calibir"/>
              </a:rPr>
              <a:t>() → </a:t>
            </a:r>
            <a:r>
              <a:rPr kumimoji="0" lang="en-US" altLang="en-US" sz="1700" b="1" i="0" u="none" strike="noStrike" cap="none" normalizeH="0" baseline="0" dirty="0">
                <a:ln>
                  <a:noFill/>
                </a:ln>
                <a:solidFill>
                  <a:schemeClr val="tx1"/>
                </a:solidFill>
                <a:effectLst/>
                <a:latin typeface="Calibir"/>
              </a:rPr>
              <a:t>1</a:t>
            </a:r>
            <a:endParaRPr kumimoji="0" lang="en-US" altLang="en-US" sz="1700" b="0" i="0" u="none" strike="noStrike" cap="none" normalizeH="0" baseline="0" dirty="0">
              <a:ln>
                <a:noFill/>
              </a:ln>
              <a:solidFill>
                <a:schemeClr val="tx1"/>
              </a:solidFill>
              <a:effectLst/>
              <a:latin typeface="Calibir"/>
            </a:endParaRPr>
          </a:p>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700" b="0" i="0" u="none" strike="noStrike" cap="none" normalizeH="0" baseline="0" dirty="0">
                <a:ln>
                  <a:noFill/>
                </a:ln>
                <a:solidFill>
                  <a:schemeClr val="tx1"/>
                </a:solidFill>
                <a:effectLst/>
                <a:latin typeface="Calibir"/>
              </a:rPr>
              <a:t>We see the Activity-2 message: </a:t>
            </a:r>
            <a:r>
              <a:rPr kumimoji="0" lang="en-US" altLang="en-US" sz="1700" b="0" i="1" u="none" strike="noStrike" cap="none" normalizeH="0" baseline="0" dirty="0">
                <a:ln>
                  <a:noFill/>
                </a:ln>
                <a:solidFill>
                  <a:schemeClr val="tx1"/>
                </a:solidFill>
                <a:effectLst/>
                <a:latin typeface="Calibir"/>
              </a:rPr>
              <a:t>“Now holding 1 book(s).”</a:t>
            </a:r>
            <a:endParaRPr kumimoji="0" lang="en-US" altLang="en-US" sz="1700" b="0" i="0" u="none" strike="noStrike" cap="none" normalizeH="0" baseline="0" dirty="0">
              <a:ln>
                <a:noFill/>
              </a:ln>
              <a:solidFill>
                <a:schemeClr val="tx1"/>
              </a:solidFill>
              <a:effectLst/>
              <a:latin typeface="Calibir"/>
            </a:endParaRPr>
          </a:p>
        </p:txBody>
      </p:sp>
    </p:spTree>
    <p:extLst>
      <p:ext uri="{BB962C8B-B14F-4D97-AF65-F5344CB8AC3E}">
        <p14:creationId xmlns:p14="http://schemas.microsoft.com/office/powerpoint/2010/main" val="330177339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A328E-EFD6-6883-B853-5B61ED126F94}"/>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C02C67E3-6C62-030A-3174-90612D66493B}"/>
              </a:ext>
            </a:extLst>
          </p:cNvPr>
          <p:cNvPicPr>
            <a:picLocks noChangeAspect="1"/>
          </p:cNvPicPr>
          <p:nvPr/>
        </p:nvPicPr>
        <p:blipFill>
          <a:blip r:embed="rId2"/>
          <a:srcRect b="36585"/>
          <a:stretch>
            <a:fillRect/>
          </a:stretch>
        </p:blipFill>
        <p:spPr>
          <a:xfrm>
            <a:off x="0" y="0"/>
            <a:ext cx="12192000" cy="4348976"/>
          </a:xfrm>
          <a:prstGeom prst="rect">
            <a:avLst/>
          </a:prstGeom>
        </p:spPr>
      </p:pic>
      <p:sp>
        <p:nvSpPr>
          <p:cNvPr id="11" name="Rectangle: Rounded Corners 10">
            <a:extLst>
              <a:ext uri="{FF2B5EF4-FFF2-40B4-BE49-F238E27FC236}">
                <a16:creationId xmlns:a16="http://schemas.microsoft.com/office/drawing/2014/main" id="{0BBCFBA2-51EF-CA10-8949-C3A28BE34DD6}"/>
              </a:ext>
            </a:extLst>
          </p:cNvPr>
          <p:cNvSpPr/>
          <p:nvPr/>
        </p:nvSpPr>
        <p:spPr>
          <a:xfrm>
            <a:off x="4861932" y="3200400"/>
            <a:ext cx="6501160" cy="110954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 name="Rectangle 1">
            <a:extLst>
              <a:ext uri="{FF2B5EF4-FFF2-40B4-BE49-F238E27FC236}">
                <a16:creationId xmlns:a16="http://schemas.microsoft.com/office/drawing/2014/main" id="{89458727-2920-3618-2970-077B63960578}"/>
              </a:ext>
            </a:extLst>
          </p:cNvPr>
          <p:cNvSpPr>
            <a:spLocks noChangeArrowheads="1"/>
          </p:cNvSpPr>
          <p:nvPr/>
        </p:nvSpPr>
        <p:spPr bwMode="auto">
          <a:xfrm>
            <a:off x="0" y="4242311"/>
            <a:ext cx="11032187"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Second borrow (same book)</a:t>
            </a:r>
            <a:endParaRPr lang="en-US" altLang="en-US" sz="2800" dirty="0">
              <a:latin typeface="Calibir"/>
            </a:endParaRPr>
          </a:p>
          <a:p>
            <a:pPr marL="714375"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if ("</a:t>
            </a:r>
            <a:r>
              <a:rPr lang="en-US" altLang="en-US" sz="2800" dirty="0" err="1">
                <a:latin typeface="Calibir"/>
              </a:rPr>
              <a:t>borrowed".equals</a:t>
            </a:r>
            <a:r>
              <a:rPr lang="en-US" altLang="en-US" sz="2800" dirty="0">
                <a:latin typeface="Calibir"/>
              </a:rPr>
              <a:t>(</a:t>
            </a:r>
            <a:r>
              <a:rPr lang="en-US" altLang="en-US" sz="2800" dirty="0" err="1">
                <a:latin typeface="Calibir"/>
              </a:rPr>
              <a:t>book.status</a:t>
            </a:r>
            <a:r>
              <a:rPr lang="en-US" altLang="en-US" sz="2800" dirty="0">
                <a:latin typeface="Calibir"/>
              </a:rPr>
              <a:t>)) triggered.</a:t>
            </a:r>
          </a:p>
          <a:p>
            <a:pPr marL="714375"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No state changes (book already with Farshid).</a:t>
            </a:r>
          </a:p>
          <a:p>
            <a:pPr marL="714375"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Correct error line printed: </a:t>
            </a:r>
            <a:r>
              <a:rPr lang="en-US" altLang="en-US" sz="2800" i="1" dirty="0">
                <a:latin typeface="Calibir"/>
              </a:rPr>
              <a:t>“Book 'Python Basics' is already borrowed.”</a:t>
            </a:r>
            <a:endParaRPr lang="en-US" altLang="en-US" sz="2800" dirty="0">
              <a:latin typeface="Calibir"/>
            </a:endParaRPr>
          </a:p>
        </p:txBody>
      </p:sp>
    </p:spTree>
    <p:extLst>
      <p:ext uri="{BB962C8B-B14F-4D97-AF65-F5344CB8AC3E}">
        <p14:creationId xmlns:p14="http://schemas.microsoft.com/office/powerpoint/2010/main" val="377383853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C4D70-0CD0-1788-452C-B7A16D4FA16A}"/>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A95F5DE-C793-6692-10BB-754BF80D7288}"/>
              </a:ext>
            </a:extLst>
          </p:cNvPr>
          <p:cNvPicPr>
            <a:picLocks noChangeAspect="1"/>
          </p:cNvPicPr>
          <p:nvPr/>
        </p:nvPicPr>
        <p:blipFill>
          <a:blip r:embed="rId2"/>
          <a:srcRect b="36585"/>
          <a:stretch>
            <a:fillRect/>
          </a:stretch>
        </p:blipFill>
        <p:spPr>
          <a:xfrm>
            <a:off x="0" y="0"/>
            <a:ext cx="12192000" cy="4348976"/>
          </a:xfrm>
          <a:prstGeom prst="rect">
            <a:avLst/>
          </a:prstGeom>
        </p:spPr>
      </p:pic>
      <p:sp>
        <p:nvSpPr>
          <p:cNvPr id="11" name="Rectangle: Rounded Corners 10">
            <a:extLst>
              <a:ext uri="{FF2B5EF4-FFF2-40B4-BE49-F238E27FC236}">
                <a16:creationId xmlns:a16="http://schemas.microsoft.com/office/drawing/2014/main" id="{5CB1EBBD-872B-DF4C-9DC6-FAD5A49BF95F}"/>
              </a:ext>
            </a:extLst>
          </p:cNvPr>
          <p:cNvSpPr/>
          <p:nvPr/>
        </p:nvSpPr>
        <p:spPr>
          <a:xfrm>
            <a:off x="4861932" y="3200400"/>
            <a:ext cx="6501160" cy="110954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 name="Rectangle 1">
            <a:extLst>
              <a:ext uri="{FF2B5EF4-FFF2-40B4-BE49-F238E27FC236}">
                <a16:creationId xmlns:a16="http://schemas.microsoft.com/office/drawing/2014/main" id="{F6AB4E54-EF3D-2720-B3A9-7A973A041392}"/>
              </a:ext>
            </a:extLst>
          </p:cNvPr>
          <p:cNvSpPr>
            <a:spLocks noChangeArrowheads="1"/>
          </p:cNvSpPr>
          <p:nvPr/>
        </p:nvSpPr>
        <p:spPr bwMode="auto">
          <a:xfrm>
            <a:off x="0" y="4316626"/>
            <a:ext cx="8141203" cy="2462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en-US" altLang="en-US" sz="2200" b="1" dirty="0">
                <a:latin typeface="Calibir"/>
              </a:rPr>
              <a:t>Return</a:t>
            </a:r>
            <a:endParaRPr lang="en-US" altLang="en-US" sz="2200" dirty="0">
              <a:latin typeface="Calibir"/>
            </a:endParaRPr>
          </a:p>
          <a:p>
            <a:pPr marL="342900" lvl="0" indent="-342900" eaLnBrk="0" fontAlgn="base" hangingPunct="0">
              <a:spcBef>
                <a:spcPct val="0"/>
              </a:spcBef>
              <a:spcAft>
                <a:spcPct val="0"/>
              </a:spcAft>
              <a:buFont typeface="Arial" panose="020B0604020202020204" pitchFamily="34" charset="0"/>
              <a:buChar char="•"/>
            </a:pPr>
            <a:r>
              <a:rPr lang="en-US" altLang="en-US" sz="2200" dirty="0" err="1">
                <a:latin typeface="Calibir"/>
              </a:rPr>
              <a:t>returnBook</a:t>
            </a:r>
            <a:r>
              <a:rPr lang="en-US" altLang="en-US" sz="2200" dirty="0">
                <a:latin typeface="Calibir"/>
              </a:rPr>
              <a:t>(book1) found the book in </a:t>
            </a:r>
            <a:r>
              <a:rPr lang="en-US" altLang="en-US" sz="2200" dirty="0" err="1">
                <a:latin typeface="Calibir"/>
              </a:rPr>
              <a:t>borrowedBooks</a:t>
            </a:r>
            <a:r>
              <a:rPr lang="en-US" altLang="en-US" sz="2200" dirty="0">
                <a:latin typeface="Calibir"/>
              </a:rPr>
              <a:t>, removed it.</a:t>
            </a:r>
          </a:p>
          <a:p>
            <a:pPr marL="342900" lvl="0" indent="-342900" eaLnBrk="0" fontAlgn="base" hangingPunct="0">
              <a:spcBef>
                <a:spcPct val="0"/>
              </a:spcBef>
              <a:spcAft>
                <a:spcPct val="0"/>
              </a:spcAft>
              <a:buFont typeface="Arial" panose="020B0604020202020204" pitchFamily="34" charset="0"/>
              <a:buChar char="•"/>
            </a:pPr>
            <a:r>
              <a:rPr lang="en-US" altLang="en-US" sz="2200" dirty="0">
                <a:latin typeface="Calibir"/>
              </a:rPr>
              <a:t>State changes:</a:t>
            </a:r>
          </a:p>
          <a:p>
            <a:pPr marL="800100" lvl="1" indent="-342900" eaLnBrk="0" fontAlgn="base" hangingPunct="0">
              <a:spcBef>
                <a:spcPct val="0"/>
              </a:spcBef>
              <a:spcAft>
                <a:spcPct val="0"/>
              </a:spcAft>
              <a:buFont typeface="Arial" panose="020B0604020202020204" pitchFamily="34" charset="0"/>
              <a:buChar char="•"/>
            </a:pPr>
            <a:r>
              <a:rPr lang="en-US" altLang="en-US" sz="2200" dirty="0">
                <a:latin typeface="Calibir"/>
              </a:rPr>
              <a:t>book1.status = "available"</a:t>
            </a:r>
          </a:p>
          <a:p>
            <a:pPr marL="800100" lvl="1" indent="-342900" eaLnBrk="0" fontAlgn="base" hangingPunct="0">
              <a:spcBef>
                <a:spcPct val="0"/>
              </a:spcBef>
              <a:spcAft>
                <a:spcPct val="0"/>
              </a:spcAft>
              <a:buFont typeface="Arial" panose="020B0604020202020204" pitchFamily="34" charset="0"/>
              <a:buChar char="•"/>
            </a:pPr>
            <a:r>
              <a:rPr lang="en-US" altLang="en-US" sz="2200" dirty="0">
                <a:latin typeface="Calibir"/>
              </a:rPr>
              <a:t>book1.borrowedBy = null</a:t>
            </a:r>
          </a:p>
          <a:p>
            <a:pPr marL="800100" lvl="1" indent="-342900" eaLnBrk="0" fontAlgn="base" hangingPunct="0">
              <a:spcBef>
                <a:spcPct val="0"/>
              </a:spcBef>
              <a:spcAft>
                <a:spcPct val="0"/>
              </a:spcAft>
              <a:buFont typeface="Arial" panose="020B0604020202020204" pitchFamily="34" charset="0"/>
              <a:buChar char="•"/>
            </a:pPr>
            <a:r>
              <a:rPr lang="en-US" altLang="en-US" sz="2200" dirty="0" err="1">
                <a:latin typeface="Calibir"/>
              </a:rPr>
              <a:t>member.borrowedBooks.size</a:t>
            </a:r>
            <a:r>
              <a:rPr lang="en-US" altLang="en-US" sz="2200" dirty="0">
                <a:latin typeface="Calibir"/>
              </a:rPr>
              <a:t>() → </a:t>
            </a:r>
            <a:r>
              <a:rPr lang="en-US" altLang="en-US" sz="2200" b="1" dirty="0">
                <a:latin typeface="Calibir"/>
              </a:rPr>
              <a:t>0</a:t>
            </a:r>
            <a:endParaRPr lang="en-US" altLang="en-US" sz="2200" dirty="0">
              <a:latin typeface="Calibir"/>
            </a:endParaRPr>
          </a:p>
          <a:p>
            <a:pPr marL="342900" lvl="0" indent="-342900" eaLnBrk="0" fontAlgn="base" hangingPunct="0">
              <a:spcBef>
                <a:spcPct val="0"/>
              </a:spcBef>
              <a:spcAft>
                <a:spcPct val="0"/>
              </a:spcAft>
              <a:buFont typeface="Arial" panose="020B0604020202020204" pitchFamily="34" charset="0"/>
              <a:buChar char="•"/>
            </a:pPr>
            <a:r>
              <a:rPr lang="en-US" altLang="en-US" sz="2200" dirty="0">
                <a:latin typeface="Calibir"/>
              </a:rPr>
              <a:t>You see the Activity-3 message: </a:t>
            </a:r>
            <a:r>
              <a:rPr lang="en-US" altLang="en-US" sz="2200" i="1" dirty="0">
                <a:latin typeface="Calibir"/>
              </a:rPr>
              <a:t>“Now holding 0 book(s).”</a:t>
            </a:r>
            <a:endParaRPr lang="en-US" altLang="en-US" sz="2200" dirty="0">
              <a:latin typeface="Calibir"/>
            </a:endParaRPr>
          </a:p>
        </p:txBody>
      </p:sp>
    </p:spTree>
    <p:extLst>
      <p:ext uri="{BB962C8B-B14F-4D97-AF65-F5344CB8AC3E}">
        <p14:creationId xmlns:p14="http://schemas.microsoft.com/office/powerpoint/2010/main" val="399727531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95E65-F3CC-AD2B-B357-EEE8394D9B3B}"/>
            </a:ext>
          </a:extLst>
        </p:cNvPr>
        <p:cNvGrpSpPr/>
        <p:nvPr/>
      </p:nvGrpSpPr>
      <p:grpSpPr>
        <a:xfrm>
          <a:off x="0" y="0"/>
          <a:ext cx="0" cy="0"/>
          <a:chOff x="0" y="0"/>
          <a:chExt cx="0" cy="0"/>
        </a:xfrm>
      </p:grpSpPr>
      <p:sp>
        <p:nvSpPr>
          <p:cNvPr id="15" name="Rectangle 1">
            <a:extLst>
              <a:ext uri="{FF2B5EF4-FFF2-40B4-BE49-F238E27FC236}">
                <a16:creationId xmlns:a16="http://schemas.microsoft.com/office/drawing/2014/main" id="{F5A5F7A2-B350-AC29-A472-3384A4C355AE}"/>
              </a:ext>
            </a:extLst>
          </p:cNvPr>
          <p:cNvSpPr>
            <a:spLocks noChangeArrowheads="1"/>
          </p:cNvSpPr>
          <p:nvPr/>
        </p:nvSpPr>
        <p:spPr bwMode="auto">
          <a:xfrm>
            <a:off x="0" y="1191229"/>
            <a:ext cx="10852458"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First, download the complete file from GitHub and Apply these changes</a:t>
            </a:r>
            <a:endParaRPr lang="en-US" altLang="en-US" sz="2800" b="1" dirty="0">
              <a:latin typeface="Calibir"/>
              <a:hlinkClick r:id="rId2"/>
            </a:endParaRPr>
          </a:p>
          <a:p>
            <a:pPr lvl="0" eaLnBrk="0" fontAlgn="base" hangingPunct="0">
              <a:lnSpc>
                <a:spcPct val="150000"/>
              </a:lnSpc>
              <a:spcBef>
                <a:spcPct val="0"/>
              </a:spcBef>
              <a:spcAft>
                <a:spcPct val="0"/>
              </a:spcAft>
            </a:pPr>
            <a:r>
              <a:rPr lang="en-US" altLang="en-US" sz="2800" b="1" dirty="0">
                <a:latin typeface="Calibir"/>
                <a:hlinkClick r:id="rId2"/>
              </a:rPr>
              <a:t>Python and Java File Available on GitHub (With 4 Activities)</a:t>
            </a:r>
            <a:endParaRPr lang="en-US" altLang="en-US" sz="2800" dirty="0">
              <a:latin typeface="Calibir"/>
            </a:endParaRPr>
          </a:p>
        </p:txBody>
      </p:sp>
      <p:pic>
        <p:nvPicPr>
          <p:cNvPr id="8" name="Picture 7">
            <a:extLst>
              <a:ext uri="{FF2B5EF4-FFF2-40B4-BE49-F238E27FC236}">
                <a16:creationId xmlns:a16="http://schemas.microsoft.com/office/drawing/2014/main" id="{4CCECAD0-FC09-BD54-226B-8C7F9598F7F2}"/>
              </a:ext>
            </a:extLst>
          </p:cNvPr>
          <p:cNvPicPr>
            <a:picLocks noChangeAspect="1"/>
          </p:cNvPicPr>
          <p:nvPr/>
        </p:nvPicPr>
        <p:blipFill>
          <a:blip r:embed="rId3"/>
          <a:srcRect t="23415" b="31707"/>
          <a:stretch>
            <a:fillRect/>
          </a:stretch>
        </p:blipFill>
        <p:spPr>
          <a:xfrm>
            <a:off x="0" y="2669278"/>
            <a:ext cx="12192000" cy="3077736"/>
          </a:xfrm>
          <a:prstGeom prst="rect">
            <a:avLst/>
          </a:prstGeom>
        </p:spPr>
      </p:pic>
      <p:sp>
        <p:nvSpPr>
          <p:cNvPr id="9" name="Title 1">
            <a:extLst>
              <a:ext uri="{FF2B5EF4-FFF2-40B4-BE49-F238E27FC236}">
                <a16:creationId xmlns:a16="http://schemas.microsoft.com/office/drawing/2014/main" id="{8B5DA380-AB23-8C0E-50DD-E711CFA775A0}"/>
              </a:ext>
            </a:extLst>
          </p:cNvPr>
          <p:cNvSpPr>
            <a:spLocks noGrp="1"/>
          </p:cNvSpPr>
          <p:nvPr>
            <p:ph type="title"/>
          </p:nvPr>
        </p:nvSpPr>
        <p:spPr>
          <a:xfrm>
            <a:off x="0" y="0"/>
            <a:ext cx="12192000" cy="557048"/>
          </a:xfrm>
        </p:spPr>
        <p:txBody>
          <a:bodyPr anchor="b">
            <a:normAutofit fontScale="90000"/>
          </a:bodyPr>
          <a:lstStyle/>
          <a:p>
            <a:r>
              <a:rPr lang="en-US" sz="3600" b="1" dirty="0"/>
              <a:t>Activity 5 — Show who already has the book</a:t>
            </a:r>
            <a:endParaRPr lang="en-AU" sz="3600" b="1" dirty="0">
              <a:latin typeface="Calibir"/>
            </a:endParaRPr>
          </a:p>
        </p:txBody>
      </p:sp>
    </p:spTree>
    <p:extLst>
      <p:ext uri="{BB962C8B-B14F-4D97-AF65-F5344CB8AC3E}">
        <p14:creationId xmlns:p14="http://schemas.microsoft.com/office/powerpoint/2010/main" val="193333305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2B4AD-56B8-B551-A154-667839FDEE4E}"/>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B7751717-EA4F-071A-8D98-E63593CD989D}"/>
              </a:ext>
            </a:extLst>
          </p:cNvPr>
          <p:cNvSpPr>
            <a:spLocks noGrp="1"/>
          </p:cNvSpPr>
          <p:nvPr>
            <p:ph type="title"/>
          </p:nvPr>
        </p:nvSpPr>
        <p:spPr>
          <a:xfrm>
            <a:off x="0" y="0"/>
            <a:ext cx="12192000" cy="557048"/>
          </a:xfrm>
        </p:spPr>
        <p:txBody>
          <a:bodyPr anchor="b">
            <a:normAutofit fontScale="90000"/>
          </a:bodyPr>
          <a:lstStyle/>
          <a:p>
            <a:r>
              <a:rPr lang="en-US" sz="3600" b="1" dirty="0"/>
              <a:t>Activity 5 — Show who already has the book</a:t>
            </a:r>
            <a:endParaRPr lang="en-AU" sz="3600" b="1" dirty="0">
              <a:latin typeface="Calibir"/>
            </a:endParaRPr>
          </a:p>
        </p:txBody>
      </p:sp>
      <p:sp>
        <p:nvSpPr>
          <p:cNvPr id="2" name="Rectangle 1">
            <a:extLst>
              <a:ext uri="{FF2B5EF4-FFF2-40B4-BE49-F238E27FC236}">
                <a16:creationId xmlns:a16="http://schemas.microsoft.com/office/drawing/2014/main" id="{E939B4B1-B29C-362A-1A07-6FAF36905198}"/>
              </a:ext>
            </a:extLst>
          </p:cNvPr>
          <p:cNvSpPr>
            <a:spLocks noChangeArrowheads="1"/>
          </p:cNvSpPr>
          <p:nvPr/>
        </p:nvSpPr>
        <p:spPr bwMode="auto">
          <a:xfrm>
            <a:off x="-1" y="1650782"/>
            <a:ext cx="12192000"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Python — Hint:</a:t>
            </a:r>
            <a:r>
              <a:rPr kumimoji="0" lang="en-US" altLang="en-US" sz="2800" b="0" i="0" u="none" strike="noStrike" cap="none" normalizeH="0" baseline="0" dirty="0">
                <a:ln>
                  <a:noFill/>
                </a:ln>
                <a:solidFill>
                  <a:schemeClr val="tx1"/>
                </a:solidFill>
                <a:effectLst/>
                <a:latin typeface="Calibir"/>
              </a:rPr>
              <a:t> In </a:t>
            </a:r>
            <a:r>
              <a:rPr kumimoji="0" lang="en-US" altLang="en-US" sz="2800" b="0" i="0" u="none" strike="noStrike" cap="none" normalizeH="0" baseline="0" dirty="0" err="1">
                <a:ln>
                  <a:noFill/>
                </a:ln>
                <a:solidFill>
                  <a:schemeClr val="tx1"/>
                </a:solidFill>
                <a:effectLst/>
                <a:latin typeface="Calibir"/>
              </a:rPr>
              <a:t>Member.borrow</a:t>
            </a:r>
            <a:r>
              <a:rPr kumimoji="0" lang="en-US" altLang="en-US" sz="2800" b="0" i="0" u="none" strike="noStrike" cap="none" normalizeH="0" baseline="0" dirty="0">
                <a:ln>
                  <a:noFill/>
                </a:ln>
                <a:solidFill>
                  <a:schemeClr val="tx1"/>
                </a:solidFill>
                <a:effectLst/>
                <a:latin typeface="Calibir"/>
              </a:rPr>
              <a:t>(), in the if </a:t>
            </a:r>
            <a:r>
              <a:rPr kumimoji="0" lang="en-US" altLang="en-US" sz="2800" b="0" i="0" u="none" strike="noStrike" cap="none" normalizeH="0" baseline="0" dirty="0" err="1">
                <a:ln>
                  <a:noFill/>
                </a:ln>
                <a:solidFill>
                  <a:schemeClr val="tx1"/>
                </a:solidFill>
                <a:effectLst/>
                <a:latin typeface="Calibir"/>
              </a:rPr>
              <a:t>book.status</a:t>
            </a:r>
            <a:r>
              <a:rPr kumimoji="0" lang="en-US" altLang="en-US" sz="2800" b="0" i="0" u="none" strike="noStrike" cap="none" normalizeH="0" baseline="0" dirty="0">
                <a:ln>
                  <a:noFill/>
                </a:ln>
                <a:solidFill>
                  <a:schemeClr val="tx1"/>
                </a:solidFill>
                <a:effectLst/>
                <a:latin typeface="Calibir"/>
              </a:rPr>
              <a:t> == "borrowed": block, </a:t>
            </a:r>
            <a:r>
              <a:rPr kumimoji="0" lang="en-US" altLang="en-US" sz="2800" i="0" u="none" strike="noStrike" cap="none" normalizeH="0" baseline="0" dirty="0">
                <a:ln>
                  <a:noFill/>
                </a:ln>
                <a:solidFill>
                  <a:schemeClr val="tx1"/>
                </a:solidFill>
                <a:effectLst/>
                <a:latin typeface="Calibir"/>
              </a:rPr>
              <a:t>replace the print line.</a:t>
            </a:r>
          </a:p>
        </p:txBody>
      </p:sp>
      <p:sp>
        <p:nvSpPr>
          <p:cNvPr id="4" name="TextBox 3">
            <a:extLst>
              <a:ext uri="{FF2B5EF4-FFF2-40B4-BE49-F238E27FC236}">
                <a16:creationId xmlns:a16="http://schemas.microsoft.com/office/drawing/2014/main" id="{F1BD025A-6C2E-F9C6-1DEE-D67B0B36B7BA}"/>
              </a:ext>
            </a:extLst>
          </p:cNvPr>
          <p:cNvSpPr txBox="1"/>
          <p:nvPr/>
        </p:nvSpPr>
        <p:spPr>
          <a:xfrm>
            <a:off x="-1" y="3547195"/>
            <a:ext cx="12192000" cy="430887"/>
          </a:xfrm>
          <a:prstGeom prst="rect">
            <a:avLst/>
          </a:prstGeom>
          <a:solidFill>
            <a:schemeClr val="tx1"/>
          </a:solidFill>
        </p:spPr>
        <p:txBody>
          <a:bodyPr wrap="square">
            <a:spAutoFit/>
          </a:bodyPr>
          <a:lstStyle/>
          <a:p>
            <a:pPr>
              <a:buNone/>
            </a:pPr>
            <a:r>
              <a:rPr lang="en-US" sz="2200" b="0" dirty="0">
                <a:solidFill>
                  <a:srgbClr val="DCDCAA"/>
                </a:solidFill>
                <a:effectLst/>
                <a:latin typeface="Consolas" panose="020B0609020204030204" pitchFamily="49" charset="0"/>
              </a:rPr>
              <a:t>print</a:t>
            </a:r>
            <a:r>
              <a:rPr lang="en-US" sz="2200" b="0" dirty="0">
                <a:solidFill>
                  <a:srgbClr val="CCCCCC"/>
                </a:solidFill>
                <a:effectLst/>
                <a:latin typeface="Consolas" panose="020B0609020204030204" pitchFamily="49" charset="0"/>
              </a:rPr>
              <a:t>(</a:t>
            </a:r>
            <a:r>
              <a:rPr lang="en-US" sz="2200" b="0" dirty="0" err="1">
                <a:solidFill>
                  <a:srgbClr val="569CD6"/>
                </a:solidFill>
                <a:effectLst/>
                <a:latin typeface="Consolas" panose="020B0609020204030204" pitchFamily="49" charset="0"/>
              </a:rPr>
              <a:t>f</a:t>
            </a:r>
            <a:r>
              <a:rPr lang="en-US" sz="2200" b="0" dirty="0" err="1">
                <a:solidFill>
                  <a:srgbClr val="CE9178"/>
                </a:solidFill>
                <a:effectLst/>
                <a:latin typeface="Consolas" panose="020B0609020204030204" pitchFamily="49" charset="0"/>
              </a:rPr>
              <a:t>"Book</a:t>
            </a:r>
            <a:r>
              <a:rPr lang="en-US" sz="2200" b="0" dirty="0">
                <a:solidFill>
                  <a:srgbClr val="CE9178"/>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err="1">
                <a:solidFill>
                  <a:srgbClr val="CCCCCC"/>
                </a:solidFill>
                <a:effectLst/>
                <a:latin typeface="Consolas" panose="020B0609020204030204" pitchFamily="49" charset="0"/>
              </a:rPr>
              <a:t>book.title</a:t>
            </a:r>
            <a:r>
              <a:rPr lang="en-US" sz="2200" b="0" dirty="0">
                <a:solidFill>
                  <a:srgbClr val="569CD6"/>
                </a:solidFill>
                <a:effectLst/>
                <a:latin typeface="Consolas" panose="020B0609020204030204" pitchFamily="49" charset="0"/>
              </a:rPr>
              <a:t>}</a:t>
            </a:r>
            <a:r>
              <a:rPr lang="en-US" sz="2200" b="0" dirty="0">
                <a:solidFill>
                  <a:srgbClr val="CE9178"/>
                </a:solidFill>
                <a:effectLst/>
                <a:latin typeface="Consolas" panose="020B0609020204030204" pitchFamily="49" charset="0"/>
              </a:rPr>
              <a:t>' is already borrowed by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book.borrowed_by.name</a:t>
            </a:r>
            <a:r>
              <a:rPr lang="en-US" sz="2200" b="0" dirty="0">
                <a:solidFill>
                  <a:srgbClr val="569CD6"/>
                </a:solidFill>
                <a:effectLst/>
                <a:latin typeface="Consolas" panose="020B0609020204030204" pitchFamily="49" charset="0"/>
              </a:rPr>
              <a:t>}</a:t>
            </a:r>
            <a:r>
              <a:rPr lang="en-US" sz="2200" b="0" dirty="0">
                <a:solidFill>
                  <a:srgbClr val="CE9178"/>
                </a:solidFill>
                <a:effectLst/>
                <a:latin typeface="Consolas" panose="020B0609020204030204" pitchFamily="49" charset="0"/>
              </a:rPr>
              <a:t>."</a:t>
            </a:r>
            <a:r>
              <a:rPr lang="en-US" sz="2200" b="0" dirty="0">
                <a:solidFill>
                  <a:srgbClr val="CCCCCC"/>
                </a:solidFill>
                <a:effectLst/>
                <a:latin typeface="Consolas" panose="020B0609020204030204" pitchFamily="49" charset="0"/>
              </a:rPr>
              <a:t>)</a:t>
            </a:r>
          </a:p>
        </p:txBody>
      </p:sp>
      <p:sp>
        <p:nvSpPr>
          <p:cNvPr id="5" name="Rectangle 2">
            <a:extLst>
              <a:ext uri="{FF2B5EF4-FFF2-40B4-BE49-F238E27FC236}">
                <a16:creationId xmlns:a16="http://schemas.microsoft.com/office/drawing/2014/main" id="{8DC9E7D9-F67F-D94B-5F2F-DC0AC0C7E3D9}"/>
              </a:ext>
            </a:extLst>
          </p:cNvPr>
          <p:cNvSpPr>
            <a:spLocks noChangeArrowheads="1"/>
          </p:cNvSpPr>
          <p:nvPr/>
        </p:nvSpPr>
        <p:spPr bwMode="auto">
          <a:xfrm>
            <a:off x="-1" y="4181924"/>
            <a:ext cx="12192000"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Java — Hint: </a:t>
            </a:r>
            <a:r>
              <a:rPr kumimoji="0" lang="en-US" altLang="en-US" sz="2800" i="0" u="none" strike="noStrike" cap="none" normalizeH="0" baseline="0" dirty="0">
                <a:ln>
                  <a:noFill/>
                </a:ln>
                <a:solidFill>
                  <a:schemeClr val="tx1"/>
                </a:solidFill>
                <a:effectLst/>
                <a:latin typeface="Calibir"/>
              </a:rPr>
              <a:t>In </a:t>
            </a:r>
            <a:r>
              <a:rPr kumimoji="0" lang="en-US" altLang="en-US" sz="2800" i="0" u="none" strike="noStrike" cap="none" normalizeH="0" baseline="0" dirty="0" err="1">
                <a:ln>
                  <a:noFill/>
                </a:ln>
                <a:solidFill>
                  <a:schemeClr val="tx1"/>
                </a:solidFill>
                <a:effectLst/>
                <a:latin typeface="Calibir"/>
              </a:rPr>
              <a:t>Member.borrow</a:t>
            </a:r>
            <a:r>
              <a:rPr kumimoji="0" lang="en-US" altLang="en-US" sz="2800" i="0" u="none" strike="noStrike" cap="none" normalizeH="0" baseline="0" dirty="0">
                <a:ln>
                  <a:noFill/>
                </a:ln>
                <a:solidFill>
                  <a:schemeClr val="tx1"/>
                </a:solidFill>
                <a:effectLst/>
                <a:latin typeface="Calibir"/>
              </a:rPr>
              <a:t>(), inside if ("</a:t>
            </a:r>
            <a:r>
              <a:rPr kumimoji="0" lang="en-US" altLang="en-US" sz="2800" i="0" u="none" strike="noStrike" cap="none" normalizeH="0" baseline="0" dirty="0" err="1">
                <a:ln>
                  <a:noFill/>
                </a:ln>
                <a:solidFill>
                  <a:schemeClr val="tx1"/>
                </a:solidFill>
                <a:effectLst/>
                <a:latin typeface="Calibir"/>
              </a:rPr>
              <a:t>borrowed".equals</a:t>
            </a:r>
            <a:r>
              <a:rPr kumimoji="0" lang="en-US" altLang="en-US" sz="2800" i="0" u="none" strike="noStrike" cap="none" normalizeH="0" baseline="0" dirty="0">
                <a:ln>
                  <a:noFill/>
                </a:ln>
                <a:solidFill>
                  <a:schemeClr val="tx1"/>
                </a:solidFill>
                <a:effectLst/>
                <a:latin typeface="Calibir"/>
              </a:rPr>
              <a:t>(</a:t>
            </a:r>
            <a:r>
              <a:rPr kumimoji="0" lang="en-US" altLang="en-US" sz="2800" i="0" u="none" strike="noStrike" cap="none" normalizeH="0" baseline="0" dirty="0" err="1">
                <a:ln>
                  <a:noFill/>
                </a:ln>
                <a:solidFill>
                  <a:schemeClr val="tx1"/>
                </a:solidFill>
                <a:effectLst/>
                <a:latin typeface="Calibir"/>
              </a:rPr>
              <a:t>book.status</a:t>
            </a:r>
            <a:r>
              <a:rPr kumimoji="0" lang="en-US" altLang="en-US" sz="2800" i="0" u="none" strike="noStrike" cap="none" normalizeH="0" baseline="0" dirty="0">
                <a:ln>
                  <a:noFill/>
                </a:ln>
                <a:solidFill>
                  <a:schemeClr val="tx1"/>
                </a:solidFill>
                <a:effectLst/>
                <a:latin typeface="Calibir"/>
              </a:rPr>
              <a:t>)) { ... }, replace the </a:t>
            </a:r>
            <a:r>
              <a:rPr kumimoji="0" lang="en-US" altLang="en-US" sz="2800" i="0" u="none" strike="noStrike" cap="none" normalizeH="0" baseline="0" dirty="0" err="1">
                <a:ln>
                  <a:noFill/>
                </a:ln>
                <a:solidFill>
                  <a:schemeClr val="tx1"/>
                </a:solidFill>
                <a:effectLst/>
                <a:latin typeface="Calibir"/>
              </a:rPr>
              <a:t>println</a:t>
            </a:r>
            <a:r>
              <a:rPr kumimoji="0" lang="en-US" altLang="en-US" sz="2800" i="0" u="none" strike="noStrike" cap="none" normalizeH="0" baseline="0" dirty="0">
                <a:ln>
                  <a:noFill/>
                </a:ln>
                <a:solidFill>
                  <a:schemeClr val="tx1"/>
                </a:solidFill>
                <a:effectLst/>
                <a:latin typeface="Calibir"/>
              </a:rPr>
              <a:t>.</a:t>
            </a:r>
          </a:p>
        </p:txBody>
      </p:sp>
      <p:sp>
        <p:nvSpPr>
          <p:cNvPr id="7" name="TextBox 6">
            <a:extLst>
              <a:ext uri="{FF2B5EF4-FFF2-40B4-BE49-F238E27FC236}">
                <a16:creationId xmlns:a16="http://schemas.microsoft.com/office/drawing/2014/main" id="{DC444A0F-4CF8-C12B-D184-C19C6C6ED260}"/>
              </a:ext>
            </a:extLst>
          </p:cNvPr>
          <p:cNvSpPr txBox="1"/>
          <p:nvPr/>
        </p:nvSpPr>
        <p:spPr>
          <a:xfrm>
            <a:off x="-1" y="5718518"/>
            <a:ext cx="12192000" cy="646331"/>
          </a:xfrm>
          <a:prstGeom prst="rect">
            <a:avLst/>
          </a:prstGeom>
          <a:solidFill>
            <a:schemeClr val="tx1"/>
          </a:solidFill>
        </p:spPr>
        <p:txBody>
          <a:bodyPr wrap="square">
            <a:spAutoFit/>
          </a:bodyPr>
          <a:lstStyle/>
          <a:p>
            <a:pPr>
              <a:buNone/>
            </a:pPr>
            <a:r>
              <a:rPr lang="en-US" b="0" dirty="0" err="1">
                <a:solidFill>
                  <a:srgbClr val="9CDCFE"/>
                </a:solidFill>
                <a:effectLst/>
                <a:latin typeface="Consolas" panose="020B0609020204030204" pitchFamily="49" charset="0"/>
              </a:rPr>
              <a:t>System</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out</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println</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"Book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book</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title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is already borrowed by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book</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borrowedBy</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name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a:solidFill>
                  <a:srgbClr val="CCCCCC"/>
                </a:solidFill>
                <a:effectLst/>
                <a:latin typeface="Consolas" panose="020B0609020204030204" pitchFamily="49" charset="0"/>
              </a:rPr>
              <a:t>);</a:t>
            </a:r>
          </a:p>
        </p:txBody>
      </p:sp>
      <p:pic>
        <p:nvPicPr>
          <p:cNvPr id="14" name="Timer">
            <a:hlinkClick r:id="" action="ppaction://media"/>
            <a:extLst>
              <a:ext uri="{FF2B5EF4-FFF2-40B4-BE49-F238E27FC236}">
                <a16:creationId xmlns:a16="http://schemas.microsoft.com/office/drawing/2014/main" id="{C3BDF7E3-2215-6F51-FDA7-F258611AC718}"/>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993" r="40597" b="42149"/>
          <a:stretch>
            <a:fillRect/>
          </a:stretch>
        </p:blipFill>
        <p:spPr>
          <a:xfrm>
            <a:off x="4960372" y="2461633"/>
            <a:ext cx="2271253" cy="881720"/>
          </a:xfrm>
          <a:prstGeom prst="rect">
            <a:avLst/>
          </a:prstGeom>
          <a:ln w="38100">
            <a:solidFill>
              <a:srgbClr val="FF0000"/>
            </a:solidFill>
          </a:ln>
        </p:spPr>
      </p:pic>
      <p:sp>
        <p:nvSpPr>
          <p:cNvPr id="11" name="TextBox 10">
            <a:extLst>
              <a:ext uri="{FF2B5EF4-FFF2-40B4-BE49-F238E27FC236}">
                <a16:creationId xmlns:a16="http://schemas.microsoft.com/office/drawing/2014/main" id="{E2444B6E-E3F9-61E3-9883-D0F7180B2C3E}"/>
              </a:ext>
            </a:extLst>
          </p:cNvPr>
          <p:cNvSpPr txBox="1"/>
          <p:nvPr/>
        </p:nvSpPr>
        <p:spPr>
          <a:xfrm>
            <a:off x="0" y="377365"/>
            <a:ext cx="12192000" cy="1318181"/>
          </a:xfrm>
          <a:prstGeom prst="rect">
            <a:avLst/>
          </a:prstGeom>
          <a:noFill/>
        </p:spPr>
        <p:txBody>
          <a:bodyPr wrap="square">
            <a:spAutoFit/>
          </a:bodyPr>
          <a:lstStyle/>
          <a:p>
            <a:pPr>
              <a:lnSpc>
                <a:spcPct val="150000"/>
              </a:lnSpc>
            </a:pPr>
            <a:r>
              <a:rPr lang="en-US" sz="2800" b="1" dirty="0">
                <a:latin typeface="Calibir"/>
              </a:rPr>
              <a:t>Task:</a:t>
            </a:r>
            <a:r>
              <a:rPr lang="en-US" sz="2800" dirty="0">
                <a:latin typeface="Calibir"/>
              </a:rPr>
              <a:t> If borrowing is blocked because the book is taken, show the current borrower’s name.</a:t>
            </a:r>
            <a:endParaRPr lang="en-AU" sz="2800" dirty="0">
              <a:latin typeface="Calibir"/>
            </a:endParaRPr>
          </a:p>
        </p:txBody>
      </p:sp>
    </p:spTree>
    <p:extLst>
      <p:ext uri="{BB962C8B-B14F-4D97-AF65-F5344CB8AC3E}">
        <p14:creationId xmlns:p14="http://schemas.microsoft.com/office/powerpoint/2010/main" val="34384571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anim calcmode="lin" valueType="num">
                                      <p:cBhvr>
                                        <p:cTn id="13" dur="1000" fill="hold"/>
                                        <p:tgtEl>
                                          <p:spTgt spid="7"/>
                                        </p:tgtEl>
                                        <p:attrNameLst>
                                          <p:attrName>ppt_x</p:attrName>
                                        </p:attrNameLst>
                                      </p:cBhvr>
                                      <p:tavLst>
                                        <p:tav tm="0">
                                          <p:val>
                                            <p:strVal val="#ppt_x"/>
                                          </p:val>
                                        </p:tav>
                                        <p:tav tm="100000">
                                          <p:val>
                                            <p:strVal val="#ppt_x"/>
                                          </p:val>
                                        </p:tav>
                                      </p:tavLst>
                                    </p:anim>
                                    <p:anim calcmode="lin" valueType="num">
                                      <p:cBhvr>
                                        <p:cTn id="1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video>
              <p:cMediaNode vol="80000">
                <p:cTn id="15" fill="hold" display="0">
                  <p:stCondLst>
                    <p:cond delay="indefinite"/>
                  </p:stCondLst>
                </p:cTn>
                <p:tgtEl>
                  <p:spTgt spid="14"/>
                </p:tgtEl>
              </p:cMediaNode>
            </p:video>
          </p:childTnLst>
        </p:cTn>
      </p:par>
    </p:tnLst>
    <p:bldLst>
      <p:bldP spid="4" grpId="0" animBg="1"/>
      <p:bldP spid="7"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2DF25-74D5-6826-EB6F-161357B8FEC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B9DB864-F051-AC0A-9FEF-C72B59528246}"/>
              </a:ext>
            </a:extLst>
          </p:cNvPr>
          <p:cNvSpPr>
            <a:spLocks noGrp="1"/>
          </p:cNvSpPr>
          <p:nvPr>
            <p:ph type="title"/>
          </p:nvPr>
        </p:nvSpPr>
        <p:spPr>
          <a:xfrm>
            <a:off x="0" y="0"/>
            <a:ext cx="12192000" cy="557048"/>
          </a:xfrm>
        </p:spPr>
        <p:txBody>
          <a:bodyPr anchor="b">
            <a:normAutofit fontScale="90000"/>
          </a:bodyPr>
          <a:lstStyle/>
          <a:p>
            <a:r>
              <a:rPr lang="en-US" sz="3600" b="1" dirty="0"/>
              <a:t>Activity 6 — Show remaining slots after a successful borrow</a:t>
            </a:r>
            <a:endParaRPr lang="en-AU" sz="3600" b="1" dirty="0">
              <a:latin typeface="Calibir"/>
            </a:endParaRPr>
          </a:p>
        </p:txBody>
      </p:sp>
      <p:sp>
        <p:nvSpPr>
          <p:cNvPr id="2" name="Rectangle 1">
            <a:extLst>
              <a:ext uri="{FF2B5EF4-FFF2-40B4-BE49-F238E27FC236}">
                <a16:creationId xmlns:a16="http://schemas.microsoft.com/office/drawing/2014/main" id="{78D1F5CA-ADC3-5338-9BB7-B274764E80B4}"/>
              </a:ext>
            </a:extLst>
          </p:cNvPr>
          <p:cNvSpPr>
            <a:spLocks noChangeArrowheads="1"/>
          </p:cNvSpPr>
          <p:nvPr/>
        </p:nvSpPr>
        <p:spPr bwMode="auto">
          <a:xfrm>
            <a:off x="0" y="469075"/>
            <a:ext cx="12192000"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Task:</a:t>
            </a:r>
            <a:r>
              <a:rPr lang="en-US" sz="2800" dirty="0">
                <a:latin typeface="Calibir"/>
              </a:rPr>
              <a:t> After a successful borrow, also show </a:t>
            </a:r>
            <a:r>
              <a:rPr lang="en-US" sz="2800" b="1" dirty="0">
                <a:latin typeface="Calibir"/>
              </a:rPr>
              <a:t>how many slots remain</a:t>
            </a:r>
            <a:r>
              <a:rPr lang="en-US" sz="2800" dirty="0">
                <a:latin typeface="Calibir"/>
              </a:rPr>
              <a:t> (5 − current).</a:t>
            </a:r>
            <a:endParaRPr kumimoji="0" lang="en-US" altLang="en-US" sz="2800" b="0" i="0" u="none" strike="noStrike" cap="none" normalizeH="0" baseline="0" dirty="0">
              <a:ln>
                <a:noFill/>
              </a:ln>
              <a:solidFill>
                <a:schemeClr val="tx1"/>
              </a:solidFill>
              <a:effectLst/>
              <a:latin typeface="Calibir"/>
            </a:endParaRPr>
          </a:p>
        </p:txBody>
      </p:sp>
      <p:sp>
        <p:nvSpPr>
          <p:cNvPr id="3" name="Rectangle 1">
            <a:extLst>
              <a:ext uri="{FF2B5EF4-FFF2-40B4-BE49-F238E27FC236}">
                <a16:creationId xmlns:a16="http://schemas.microsoft.com/office/drawing/2014/main" id="{996DE38C-9B18-0348-F6EA-38E74E6EFCE5}"/>
              </a:ext>
            </a:extLst>
          </p:cNvPr>
          <p:cNvSpPr>
            <a:spLocks noChangeArrowheads="1"/>
          </p:cNvSpPr>
          <p:nvPr/>
        </p:nvSpPr>
        <p:spPr bwMode="auto">
          <a:xfrm>
            <a:off x="0" y="1224806"/>
            <a:ext cx="12192000"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Python — Hint: </a:t>
            </a:r>
            <a:r>
              <a:rPr kumimoji="0" lang="en-US" altLang="en-US" sz="2800" i="0" u="none" strike="noStrike" cap="none" normalizeH="0" baseline="0" dirty="0">
                <a:ln>
                  <a:noFill/>
                </a:ln>
                <a:solidFill>
                  <a:schemeClr val="tx1"/>
                </a:solidFill>
                <a:effectLst/>
                <a:latin typeface="Calibir"/>
              </a:rPr>
              <a:t>In </a:t>
            </a:r>
            <a:r>
              <a:rPr kumimoji="0" lang="en-US" altLang="en-US" sz="2800" i="0" u="none" strike="noStrike" cap="none" normalizeH="0" baseline="0" dirty="0" err="1">
                <a:ln>
                  <a:noFill/>
                </a:ln>
                <a:solidFill>
                  <a:schemeClr val="tx1"/>
                </a:solidFill>
                <a:effectLst/>
                <a:latin typeface="Calibir"/>
              </a:rPr>
              <a:t>Member.borrow</a:t>
            </a:r>
            <a:r>
              <a:rPr kumimoji="0" lang="en-US" altLang="en-US" sz="2800" i="0" u="none" strike="noStrike" cap="none" normalizeH="0" baseline="0" dirty="0">
                <a:ln>
                  <a:noFill/>
                </a:ln>
                <a:solidFill>
                  <a:schemeClr val="tx1"/>
                </a:solidFill>
                <a:effectLst/>
                <a:latin typeface="Calibir"/>
              </a:rPr>
              <a:t>(), replace the success print(...) at the end of the success path.</a:t>
            </a:r>
          </a:p>
        </p:txBody>
      </p:sp>
      <p:sp>
        <p:nvSpPr>
          <p:cNvPr id="8" name="TextBox 7">
            <a:extLst>
              <a:ext uri="{FF2B5EF4-FFF2-40B4-BE49-F238E27FC236}">
                <a16:creationId xmlns:a16="http://schemas.microsoft.com/office/drawing/2014/main" id="{846502EC-180E-09D6-F898-543B1920063B}"/>
              </a:ext>
            </a:extLst>
          </p:cNvPr>
          <p:cNvSpPr txBox="1"/>
          <p:nvPr/>
        </p:nvSpPr>
        <p:spPr>
          <a:xfrm>
            <a:off x="0" y="3051427"/>
            <a:ext cx="12192000" cy="923330"/>
          </a:xfrm>
          <a:prstGeom prst="rect">
            <a:avLst/>
          </a:prstGeom>
          <a:solidFill>
            <a:schemeClr val="tx1"/>
          </a:solidFill>
        </p:spPr>
        <p:txBody>
          <a:bodyPr wrap="square">
            <a:spAutoFit/>
          </a:bodyPr>
          <a:lstStyle/>
          <a:p>
            <a:pPr>
              <a:buNone/>
            </a:pPr>
            <a:r>
              <a:rPr lang="en-US" b="0" dirty="0">
                <a:solidFill>
                  <a:srgbClr val="DCDCAA"/>
                </a:solidFill>
                <a:effectLst/>
                <a:latin typeface="Consolas" panose="020B0609020204030204" pitchFamily="49" charset="0"/>
              </a:rPr>
              <a:t>print</a:t>
            </a:r>
            <a:r>
              <a:rPr lang="en-US" b="0" dirty="0">
                <a:solidFill>
                  <a:srgbClr val="CCCCCC"/>
                </a:solidFill>
                <a:effectLst/>
                <a:latin typeface="Consolas" panose="020B0609020204030204" pitchFamily="49" charset="0"/>
              </a:rPr>
              <a:t>(</a:t>
            </a:r>
            <a:r>
              <a:rPr lang="en-US" b="0" dirty="0">
                <a:solidFill>
                  <a:srgbClr val="569CD6"/>
                </a:solidFill>
                <a:effectLst/>
                <a:latin typeface="Consolas" panose="020B0609020204030204" pitchFamily="49" charset="0"/>
              </a:rPr>
              <a:t>f</a:t>
            </a:r>
            <a:r>
              <a:rPr lang="en-US" b="0" dirty="0">
                <a:solidFill>
                  <a:srgbClr val="CE9178"/>
                </a:solidFill>
                <a:effectLst/>
                <a:latin typeface="Consolas" panose="020B0609020204030204" pitchFamily="49" charset="0"/>
              </a:rPr>
              <a:t>"</a:t>
            </a:r>
            <a:r>
              <a:rPr lang="en-US" b="0" dirty="0">
                <a:solidFill>
                  <a:srgbClr val="569CD6"/>
                </a:solidFill>
                <a:effectLst/>
                <a:latin typeface="Consolas" panose="020B0609020204030204" pitchFamily="49" charset="0"/>
              </a:rPr>
              <a:t>{self</a:t>
            </a:r>
            <a:r>
              <a:rPr lang="en-US" b="0" dirty="0">
                <a:solidFill>
                  <a:srgbClr val="CCCCCC"/>
                </a:solidFill>
                <a:effectLst/>
                <a:latin typeface="Consolas" panose="020B0609020204030204" pitchFamily="49" charset="0"/>
              </a:rPr>
              <a:t>.name</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 borrowed '</a:t>
            </a:r>
            <a:r>
              <a:rPr lang="en-US" b="0" dirty="0">
                <a:solidFill>
                  <a:srgbClr val="569CD6"/>
                </a:solidFill>
                <a:effectLst/>
                <a:latin typeface="Consolas" panose="020B0609020204030204" pitchFamily="49" charset="0"/>
              </a:rPr>
              <a:t>{</a:t>
            </a:r>
            <a:r>
              <a:rPr lang="en-US" b="0" dirty="0" err="1">
                <a:solidFill>
                  <a:srgbClr val="CCCCCC"/>
                </a:solidFill>
                <a:effectLst/>
                <a:latin typeface="Consolas" panose="020B0609020204030204" pitchFamily="49" charset="0"/>
              </a:rPr>
              <a:t>book.title</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 (now </a:t>
            </a:r>
            <a:r>
              <a:rPr lang="en-US" b="0" dirty="0">
                <a:solidFill>
                  <a:srgbClr val="569CD6"/>
                </a:solidFill>
                <a:effectLst/>
                <a:latin typeface="Consolas" panose="020B0609020204030204" pitchFamily="49" charset="0"/>
              </a:rPr>
              <a:t>{</a:t>
            </a:r>
            <a:r>
              <a:rPr lang="en-US" b="0" dirty="0" err="1">
                <a:solidFill>
                  <a:srgbClr val="DCDCAA"/>
                </a:solidFill>
                <a:effectLst/>
                <a:latin typeface="Consolas" panose="020B0609020204030204" pitchFamily="49" charset="0"/>
              </a:rPr>
              <a:t>len</a:t>
            </a:r>
            <a:r>
              <a:rPr lang="en-US" b="0" dirty="0">
                <a:solidFill>
                  <a:srgbClr val="CCCCCC"/>
                </a:solidFill>
                <a:effectLst/>
                <a:latin typeface="Consolas" panose="020B0609020204030204" pitchFamily="49" charset="0"/>
              </a:rPr>
              <a:t>(</a:t>
            </a:r>
            <a:r>
              <a:rPr lang="en-US" b="0" dirty="0" err="1">
                <a:solidFill>
                  <a:srgbClr val="569CD6"/>
                </a:solidFill>
                <a:effectLst/>
                <a:latin typeface="Consolas" panose="020B0609020204030204" pitchFamily="49" charset="0"/>
              </a:rPr>
              <a:t>self</a:t>
            </a:r>
            <a:r>
              <a:rPr lang="en-US" b="0" dirty="0" err="1">
                <a:solidFill>
                  <a:srgbClr val="CCCCCC"/>
                </a:solidFill>
                <a:effectLst/>
                <a:latin typeface="Consolas" panose="020B0609020204030204" pitchFamily="49" charset="0"/>
              </a:rPr>
              <a:t>.borrowed_books</a:t>
            </a:r>
            <a:r>
              <a:rPr lang="en-US" b="0" dirty="0">
                <a:solidFill>
                  <a:srgbClr val="CCCCCC"/>
                </a:solidFill>
                <a:effectLst/>
                <a:latin typeface="Consolas" panose="020B0609020204030204" pitchFamily="49" charset="0"/>
              </a:rPr>
              <a:t>)</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/5; </a:t>
            </a:r>
            <a:r>
              <a:rPr lang="en-US" b="0" dirty="0">
                <a:solidFill>
                  <a:srgbClr val="569CD6"/>
                </a:solidFill>
                <a:effectLst/>
                <a:latin typeface="Consolas" panose="020B0609020204030204" pitchFamily="49" charset="0"/>
              </a:rPr>
              <a:t>{</a:t>
            </a:r>
            <a:r>
              <a:rPr lang="en-US" b="0" dirty="0">
                <a:solidFill>
                  <a:srgbClr val="B5CEA8"/>
                </a:solidFill>
                <a:effectLst/>
                <a:latin typeface="Consolas" panose="020B0609020204030204" pitchFamily="49" charset="0"/>
              </a:rPr>
              <a:t>5</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len</a:t>
            </a:r>
            <a:r>
              <a:rPr lang="en-US" b="0" dirty="0">
                <a:solidFill>
                  <a:srgbClr val="CCCCCC"/>
                </a:solidFill>
                <a:effectLst/>
                <a:latin typeface="Consolas" panose="020B0609020204030204" pitchFamily="49" charset="0"/>
              </a:rPr>
              <a:t>(</a:t>
            </a:r>
            <a:r>
              <a:rPr lang="en-US" b="0" dirty="0" err="1">
                <a:solidFill>
                  <a:srgbClr val="569CD6"/>
                </a:solidFill>
                <a:effectLst/>
                <a:latin typeface="Consolas" panose="020B0609020204030204" pitchFamily="49" charset="0"/>
              </a:rPr>
              <a:t>self</a:t>
            </a:r>
            <a:r>
              <a:rPr lang="en-US" b="0" dirty="0" err="1">
                <a:solidFill>
                  <a:srgbClr val="CCCCCC"/>
                </a:solidFill>
                <a:effectLst/>
                <a:latin typeface="Consolas" panose="020B0609020204030204" pitchFamily="49" charset="0"/>
              </a:rPr>
              <a:t>.borrowed_books</a:t>
            </a:r>
            <a:r>
              <a:rPr lang="en-US" b="0" dirty="0">
                <a:solidFill>
                  <a:srgbClr val="CCCCCC"/>
                </a:solidFill>
                <a:effectLst/>
                <a:latin typeface="Consolas" panose="020B0609020204030204" pitchFamily="49" charset="0"/>
              </a:rPr>
              <a:t>)</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 left). This book has been borrowed </a:t>
            </a:r>
            <a:r>
              <a:rPr lang="en-US" b="0" dirty="0">
                <a:solidFill>
                  <a:srgbClr val="569CD6"/>
                </a:solidFill>
                <a:effectLst/>
                <a:latin typeface="Consolas" panose="020B0609020204030204" pitchFamily="49" charset="0"/>
              </a:rPr>
              <a:t>{</a:t>
            </a:r>
            <a:r>
              <a:rPr lang="en-US" b="0" dirty="0" err="1">
                <a:solidFill>
                  <a:srgbClr val="CCCCCC"/>
                </a:solidFill>
                <a:effectLst/>
                <a:latin typeface="Consolas" panose="020B0609020204030204" pitchFamily="49" charset="0"/>
              </a:rPr>
              <a:t>book.times_borrowed</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 time(s) in total."</a:t>
            </a:r>
            <a:r>
              <a:rPr lang="en-US" b="0" dirty="0">
                <a:solidFill>
                  <a:srgbClr val="CCCCCC"/>
                </a:solidFill>
                <a:effectLst/>
                <a:latin typeface="Consolas" panose="020B0609020204030204" pitchFamily="49" charset="0"/>
              </a:rPr>
              <a:t>)</a:t>
            </a:r>
          </a:p>
        </p:txBody>
      </p:sp>
      <p:sp>
        <p:nvSpPr>
          <p:cNvPr id="10" name="Rectangle 2">
            <a:extLst>
              <a:ext uri="{FF2B5EF4-FFF2-40B4-BE49-F238E27FC236}">
                <a16:creationId xmlns:a16="http://schemas.microsoft.com/office/drawing/2014/main" id="{4ED3E5E5-CEF1-E414-E92C-6EC13C6CBA20}"/>
              </a:ext>
            </a:extLst>
          </p:cNvPr>
          <p:cNvSpPr>
            <a:spLocks noChangeArrowheads="1"/>
          </p:cNvSpPr>
          <p:nvPr/>
        </p:nvSpPr>
        <p:spPr bwMode="auto">
          <a:xfrm>
            <a:off x="0" y="4139152"/>
            <a:ext cx="12192000"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Java — Hint:</a:t>
            </a:r>
            <a:r>
              <a:rPr kumimoji="0" lang="en-US" altLang="en-US" sz="2800" b="0" i="0" u="none" strike="noStrike" cap="none" normalizeH="0" baseline="0" dirty="0">
                <a:ln>
                  <a:noFill/>
                </a:ln>
                <a:solidFill>
                  <a:schemeClr val="tx1"/>
                </a:solidFill>
                <a:effectLst/>
                <a:latin typeface="Calibir"/>
              </a:rPr>
              <a:t> In </a:t>
            </a:r>
            <a:r>
              <a:rPr kumimoji="0" lang="en-US" altLang="en-US" sz="2800" b="0" i="0" u="none" strike="noStrike" cap="none" normalizeH="0" baseline="0" dirty="0" err="1">
                <a:ln>
                  <a:noFill/>
                </a:ln>
                <a:solidFill>
                  <a:schemeClr val="tx1"/>
                </a:solidFill>
                <a:effectLst/>
                <a:latin typeface="Calibir"/>
              </a:rPr>
              <a:t>Member.borrow</a:t>
            </a:r>
            <a:r>
              <a:rPr kumimoji="0" lang="en-US" altLang="en-US" sz="2800" b="0" i="0" u="none" strike="noStrike" cap="none" normalizeH="0" baseline="0" dirty="0">
                <a:ln>
                  <a:noFill/>
                </a:ln>
                <a:solidFill>
                  <a:schemeClr val="tx1"/>
                </a:solidFill>
                <a:effectLst/>
                <a:latin typeface="Calibir"/>
              </a:rPr>
              <a:t>(), </a:t>
            </a:r>
            <a:r>
              <a:rPr kumimoji="0" lang="en-US" altLang="en-US" sz="2800" b="1" i="0" u="none" strike="noStrike" cap="none" normalizeH="0" baseline="0" dirty="0">
                <a:ln>
                  <a:noFill/>
                </a:ln>
                <a:solidFill>
                  <a:schemeClr val="tx1"/>
                </a:solidFill>
                <a:effectLst/>
                <a:latin typeface="Calibir"/>
              </a:rPr>
              <a:t>replace</a:t>
            </a:r>
            <a:r>
              <a:rPr kumimoji="0" lang="en-US" altLang="en-US" sz="2800" b="0" i="0" u="none" strike="noStrike" cap="none" normalizeH="0" baseline="0" dirty="0">
                <a:ln>
                  <a:noFill/>
                </a:ln>
                <a:solidFill>
                  <a:schemeClr val="tx1"/>
                </a:solidFill>
                <a:effectLst/>
                <a:latin typeface="Calibir"/>
              </a:rPr>
              <a:t> the success </a:t>
            </a:r>
            <a:r>
              <a:rPr kumimoji="0" lang="en-US" altLang="en-US" sz="2800" b="0" i="0" u="none" strike="noStrike" cap="none" normalizeH="0" baseline="0" dirty="0" err="1">
                <a:ln>
                  <a:noFill/>
                </a:ln>
                <a:solidFill>
                  <a:schemeClr val="tx1"/>
                </a:solidFill>
                <a:effectLst/>
                <a:latin typeface="Calibir"/>
              </a:rPr>
              <a:t>System.out.println</a:t>
            </a:r>
            <a:r>
              <a:rPr kumimoji="0" lang="en-US" altLang="en-US" sz="2800" b="0" i="0" u="none" strike="noStrike" cap="none" normalizeH="0" baseline="0" dirty="0">
                <a:ln>
                  <a:noFill/>
                </a:ln>
                <a:solidFill>
                  <a:schemeClr val="tx1"/>
                </a:solidFill>
                <a:effectLst/>
                <a:latin typeface="Calibir"/>
              </a:rPr>
              <a:t>(...) after </a:t>
            </a:r>
            <a:r>
              <a:rPr kumimoji="0" lang="en-US" altLang="en-US" sz="2800" b="0" i="0" u="none" strike="noStrike" cap="none" normalizeH="0" baseline="0" dirty="0" err="1">
                <a:ln>
                  <a:noFill/>
                </a:ln>
                <a:solidFill>
                  <a:schemeClr val="tx1"/>
                </a:solidFill>
                <a:effectLst/>
                <a:latin typeface="Calibir"/>
              </a:rPr>
              <a:t>borrowedBooks.add</a:t>
            </a:r>
            <a:r>
              <a:rPr kumimoji="0" lang="en-US" altLang="en-US" sz="2800" b="0" i="0" u="none" strike="noStrike" cap="none" normalizeH="0" baseline="0" dirty="0">
                <a:ln>
                  <a:noFill/>
                </a:ln>
                <a:solidFill>
                  <a:schemeClr val="tx1"/>
                </a:solidFill>
                <a:effectLst/>
                <a:latin typeface="Calibir"/>
              </a:rPr>
              <a:t>(book).</a:t>
            </a:r>
          </a:p>
        </p:txBody>
      </p:sp>
      <p:sp>
        <p:nvSpPr>
          <p:cNvPr id="12" name="TextBox 11">
            <a:extLst>
              <a:ext uri="{FF2B5EF4-FFF2-40B4-BE49-F238E27FC236}">
                <a16:creationId xmlns:a16="http://schemas.microsoft.com/office/drawing/2014/main" id="{48B0FC98-5177-C9CD-2F85-1E60E4AAFB92}"/>
              </a:ext>
            </a:extLst>
          </p:cNvPr>
          <p:cNvSpPr txBox="1"/>
          <p:nvPr/>
        </p:nvSpPr>
        <p:spPr>
          <a:xfrm>
            <a:off x="0" y="5621728"/>
            <a:ext cx="12191999" cy="923330"/>
          </a:xfrm>
          <a:prstGeom prst="rect">
            <a:avLst/>
          </a:prstGeom>
          <a:solidFill>
            <a:schemeClr val="tx1"/>
          </a:solidFill>
        </p:spPr>
        <p:txBody>
          <a:bodyPr wrap="square">
            <a:spAutoFit/>
          </a:bodyPr>
          <a:lstStyle/>
          <a:p>
            <a:pPr>
              <a:buNone/>
            </a:pPr>
            <a:r>
              <a:rPr lang="en-US" b="0" dirty="0" err="1">
                <a:solidFill>
                  <a:srgbClr val="9CDCFE"/>
                </a:solidFill>
                <a:effectLst/>
                <a:latin typeface="Consolas" panose="020B0609020204030204" pitchFamily="49" charset="0"/>
              </a:rPr>
              <a:t>System</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out</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println</a:t>
            </a:r>
            <a:r>
              <a:rPr lang="en-US" b="0" dirty="0">
                <a:solidFill>
                  <a:srgbClr val="CCCCCC"/>
                </a:solidFill>
                <a:effectLst/>
                <a:latin typeface="Consolas" panose="020B0609020204030204" pitchFamily="49" charset="0"/>
              </a:rPr>
              <a:t>(name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borrowed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book</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title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(now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borrowedBooks</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size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"/5;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B5CEA8"/>
                </a:solidFill>
                <a:effectLst/>
                <a:latin typeface="Consolas" panose="020B0609020204030204" pitchFamily="49" charset="0"/>
              </a:rPr>
              <a:t>5</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borrowedBooks</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size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left). This book has been borrowed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book</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timesBorrowed</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time(s) in total."</a:t>
            </a:r>
            <a:r>
              <a:rPr lang="en-US" b="0" dirty="0">
                <a:solidFill>
                  <a:srgbClr val="CCCCCC"/>
                </a:solidFill>
                <a:effectLst/>
                <a:latin typeface="Consolas" panose="020B0609020204030204" pitchFamily="49" charset="0"/>
              </a:rPr>
              <a:t>);</a:t>
            </a:r>
          </a:p>
        </p:txBody>
      </p:sp>
      <p:pic>
        <p:nvPicPr>
          <p:cNvPr id="13" name="Timer">
            <a:hlinkClick r:id="" action="ppaction://media"/>
            <a:extLst>
              <a:ext uri="{FF2B5EF4-FFF2-40B4-BE49-F238E27FC236}">
                <a16:creationId xmlns:a16="http://schemas.microsoft.com/office/drawing/2014/main" id="{E86ADEB7-5C66-FDD5-F8C1-0ABB180F33B1}"/>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993" r="40597" b="42149"/>
          <a:stretch>
            <a:fillRect/>
          </a:stretch>
        </p:blipFill>
        <p:spPr>
          <a:xfrm>
            <a:off x="4960372" y="2005312"/>
            <a:ext cx="2271253" cy="881720"/>
          </a:xfrm>
          <a:prstGeom prst="rect">
            <a:avLst/>
          </a:prstGeom>
          <a:ln w="38100">
            <a:solidFill>
              <a:srgbClr val="FF0000"/>
            </a:solidFill>
          </a:ln>
        </p:spPr>
      </p:pic>
    </p:spTree>
    <p:extLst>
      <p:ext uri="{BB962C8B-B14F-4D97-AF65-F5344CB8AC3E}">
        <p14:creationId xmlns:p14="http://schemas.microsoft.com/office/powerpoint/2010/main" val="3726340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barn(inVertical)">
                                      <p:cBhvr>
                                        <p:cTn id="1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13"/>
                </p:tgtEl>
              </p:cMediaNode>
            </p:video>
          </p:childTnLst>
        </p:cTn>
      </p:par>
    </p:tnLst>
    <p:bldLst>
      <p:bldP spid="8" grpId="0" animBg="1"/>
      <p:bldP spid="12"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2DF25-74D5-6826-EB6F-161357B8FEC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B9DB864-F051-AC0A-9FEF-C72B59528246}"/>
              </a:ext>
            </a:extLst>
          </p:cNvPr>
          <p:cNvSpPr>
            <a:spLocks noGrp="1"/>
          </p:cNvSpPr>
          <p:nvPr>
            <p:ph type="title"/>
          </p:nvPr>
        </p:nvSpPr>
        <p:spPr>
          <a:xfrm>
            <a:off x="0" y="-1"/>
            <a:ext cx="12192000" cy="1077501"/>
          </a:xfrm>
        </p:spPr>
        <p:txBody>
          <a:bodyPr anchor="b">
            <a:normAutofit fontScale="90000"/>
          </a:bodyPr>
          <a:lstStyle/>
          <a:p>
            <a:r>
              <a:rPr lang="en-US" sz="3600" b="1" dirty="0"/>
              <a:t>Activity 7 — When returning a book you don’t have, show who actually has it</a:t>
            </a:r>
            <a:endParaRPr lang="en-AU" sz="3600" b="1" dirty="0">
              <a:latin typeface="Calibir"/>
            </a:endParaRPr>
          </a:p>
        </p:txBody>
      </p:sp>
      <p:sp>
        <p:nvSpPr>
          <p:cNvPr id="2" name="Rectangle 1">
            <a:extLst>
              <a:ext uri="{FF2B5EF4-FFF2-40B4-BE49-F238E27FC236}">
                <a16:creationId xmlns:a16="http://schemas.microsoft.com/office/drawing/2014/main" id="{78D1F5CA-ADC3-5338-9BB7-B274764E80B4}"/>
              </a:ext>
            </a:extLst>
          </p:cNvPr>
          <p:cNvSpPr>
            <a:spLocks noChangeArrowheads="1"/>
          </p:cNvSpPr>
          <p:nvPr/>
        </p:nvSpPr>
        <p:spPr bwMode="auto">
          <a:xfrm>
            <a:off x="0" y="1025835"/>
            <a:ext cx="12192000" cy="13217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Task:</a:t>
            </a:r>
            <a:r>
              <a:rPr lang="en-US" sz="2800" dirty="0">
                <a:latin typeface="Calibir"/>
              </a:rPr>
              <a:t> If the member tries to return a book they </a:t>
            </a:r>
            <a:r>
              <a:rPr lang="en-US" sz="2800" b="1" dirty="0">
                <a:latin typeface="Calibir"/>
              </a:rPr>
              <a:t>don’t hold</a:t>
            </a:r>
            <a:r>
              <a:rPr lang="en-US" sz="2800" dirty="0">
                <a:latin typeface="Calibir"/>
              </a:rPr>
              <a:t>, show the </a:t>
            </a:r>
            <a:r>
              <a:rPr lang="en-US" sz="2800" b="1" dirty="0">
                <a:latin typeface="Calibir"/>
              </a:rPr>
              <a:t>current holder</a:t>
            </a:r>
            <a:r>
              <a:rPr lang="en-US" sz="2800" dirty="0">
                <a:latin typeface="Calibir"/>
              </a:rPr>
              <a:t> (or “nobody”).</a:t>
            </a:r>
            <a:endParaRPr kumimoji="0" lang="en-US" altLang="en-US" sz="2800" b="0" i="0" u="none" strike="noStrike" cap="none" normalizeH="0" baseline="0" dirty="0">
              <a:ln>
                <a:noFill/>
              </a:ln>
              <a:solidFill>
                <a:schemeClr val="tx1"/>
              </a:solidFill>
              <a:effectLst/>
              <a:latin typeface="Calibir"/>
            </a:endParaRPr>
          </a:p>
        </p:txBody>
      </p:sp>
      <p:pic>
        <p:nvPicPr>
          <p:cNvPr id="13" name="Timer">
            <a:hlinkClick r:id="" action="ppaction://media"/>
            <a:extLst>
              <a:ext uri="{FF2B5EF4-FFF2-40B4-BE49-F238E27FC236}">
                <a16:creationId xmlns:a16="http://schemas.microsoft.com/office/drawing/2014/main" id="{E86ADEB7-5C66-FDD5-F8C1-0ABB180F33B1}"/>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993" r="40597" b="42149"/>
          <a:stretch>
            <a:fillRect/>
          </a:stretch>
        </p:blipFill>
        <p:spPr>
          <a:xfrm>
            <a:off x="5093108" y="1767611"/>
            <a:ext cx="2271253" cy="881720"/>
          </a:xfrm>
          <a:prstGeom prst="rect">
            <a:avLst/>
          </a:prstGeom>
          <a:ln w="38100">
            <a:solidFill>
              <a:srgbClr val="FF0000"/>
            </a:solidFill>
          </a:ln>
        </p:spPr>
      </p:pic>
      <p:sp>
        <p:nvSpPr>
          <p:cNvPr id="4" name="Rectangle 1">
            <a:extLst>
              <a:ext uri="{FF2B5EF4-FFF2-40B4-BE49-F238E27FC236}">
                <a16:creationId xmlns:a16="http://schemas.microsoft.com/office/drawing/2014/main" id="{A9E75625-8163-589D-16E3-5982C99A5FEA}"/>
              </a:ext>
            </a:extLst>
          </p:cNvPr>
          <p:cNvSpPr>
            <a:spLocks noChangeArrowheads="1"/>
          </p:cNvSpPr>
          <p:nvPr/>
        </p:nvSpPr>
        <p:spPr bwMode="auto">
          <a:xfrm>
            <a:off x="0" y="2513979"/>
            <a:ext cx="12192000"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Python — Hint:</a:t>
            </a:r>
            <a:r>
              <a:rPr kumimoji="0" lang="en-US" altLang="en-US" sz="2800" b="0" i="0" u="none" strike="noStrike" cap="none" normalizeH="0" baseline="0" dirty="0">
                <a:ln>
                  <a:noFill/>
                </a:ln>
                <a:solidFill>
                  <a:schemeClr val="tx1"/>
                </a:solidFill>
                <a:effectLst/>
                <a:latin typeface="Calibir"/>
              </a:rPr>
              <a:t> In </a:t>
            </a:r>
            <a:r>
              <a:rPr kumimoji="0" lang="en-US" altLang="en-US" sz="2800" b="0" i="0" u="none" strike="noStrike" cap="none" normalizeH="0" baseline="0" dirty="0" err="1">
                <a:ln>
                  <a:noFill/>
                </a:ln>
                <a:solidFill>
                  <a:schemeClr val="tx1"/>
                </a:solidFill>
                <a:effectLst/>
                <a:latin typeface="Calibir"/>
              </a:rPr>
              <a:t>Member.return_book</a:t>
            </a:r>
            <a:r>
              <a:rPr kumimoji="0" lang="en-US" altLang="en-US" sz="2800" b="0" i="0" u="none" strike="noStrike" cap="none" normalizeH="0" baseline="0" dirty="0">
                <a:ln>
                  <a:noFill/>
                </a:ln>
                <a:solidFill>
                  <a:schemeClr val="tx1"/>
                </a:solidFill>
                <a:effectLst/>
                <a:latin typeface="Calibir"/>
              </a:rPr>
              <a:t>(), in the else: branch</a:t>
            </a:r>
            <a:r>
              <a:rPr kumimoji="0" lang="en-US" altLang="en-US" sz="2800" i="0" u="none" strike="noStrike" cap="none" normalizeH="0" baseline="0" dirty="0">
                <a:ln>
                  <a:noFill/>
                </a:ln>
                <a:solidFill>
                  <a:schemeClr val="tx1"/>
                </a:solidFill>
                <a:effectLst/>
                <a:latin typeface="Calibir"/>
              </a:rPr>
              <a:t>, replace the print line.</a:t>
            </a:r>
          </a:p>
        </p:txBody>
      </p:sp>
      <p:sp>
        <p:nvSpPr>
          <p:cNvPr id="6" name="TextBox 5">
            <a:extLst>
              <a:ext uri="{FF2B5EF4-FFF2-40B4-BE49-F238E27FC236}">
                <a16:creationId xmlns:a16="http://schemas.microsoft.com/office/drawing/2014/main" id="{A0152EA4-A9EE-8BE8-A98D-C5F540B82C66}"/>
              </a:ext>
            </a:extLst>
          </p:cNvPr>
          <p:cNvSpPr txBox="1"/>
          <p:nvPr/>
        </p:nvSpPr>
        <p:spPr>
          <a:xfrm>
            <a:off x="0" y="3864063"/>
            <a:ext cx="12192000" cy="646331"/>
          </a:xfrm>
          <a:prstGeom prst="rect">
            <a:avLst/>
          </a:prstGeom>
          <a:solidFill>
            <a:schemeClr val="tx1"/>
          </a:solidFill>
        </p:spPr>
        <p:txBody>
          <a:bodyPr wrap="square">
            <a:spAutoFit/>
          </a:bodyPr>
          <a:lstStyle/>
          <a:p>
            <a:pPr>
              <a:buNone/>
            </a:pPr>
            <a:r>
              <a:rPr lang="en-US" b="0" dirty="0">
                <a:solidFill>
                  <a:srgbClr val="DCDCAA"/>
                </a:solidFill>
                <a:effectLst/>
                <a:latin typeface="Consolas" panose="020B0609020204030204" pitchFamily="49" charset="0"/>
              </a:rPr>
              <a:t>print</a:t>
            </a:r>
            <a:r>
              <a:rPr lang="en-US" b="0" dirty="0">
                <a:solidFill>
                  <a:srgbClr val="CCCCCC"/>
                </a:solidFill>
                <a:effectLst/>
                <a:latin typeface="Consolas" panose="020B0609020204030204" pitchFamily="49" charset="0"/>
              </a:rPr>
              <a:t>(</a:t>
            </a:r>
            <a:r>
              <a:rPr lang="en-US" b="0" dirty="0">
                <a:solidFill>
                  <a:srgbClr val="569CD6"/>
                </a:solidFill>
                <a:effectLst/>
                <a:latin typeface="Consolas" panose="020B0609020204030204" pitchFamily="49" charset="0"/>
              </a:rPr>
              <a:t>f</a:t>
            </a:r>
            <a:r>
              <a:rPr lang="en-US" b="0" dirty="0">
                <a:solidFill>
                  <a:srgbClr val="CE9178"/>
                </a:solidFill>
                <a:effectLst/>
                <a:latin typeface="Consolas" panose="020B0609020204030204" pitchFamily="49" charset="0"/>
              </a:rPr>
              <a:t>"</a:t>
            </a:r>
            <a:r>
              <a:rPr lang="en-US" b="0" dirty="0">
                <a:solidFill>
                  <a:srgbClr val="569CD6"/>
                </a:solidFill>
                <a:effectLst/>
                <a:latin typeface="Consolas" panose="020B0609020204030204" pitchFamily="49" charset="0"/>
              </a:rPr>
              <a:t>{self</a:t>
            </a:r>
            <a:r>
              <a:rPr lang="en-US" b="0" dirty="0">
                <a:solidFill>
                  <a:srgbClr val="CCCCCC"/>
                </a:solidFill>
                <a:effectLst/>
                <a:latin typeface="Consolas" panose="020B0609020204030204" pitchFamily="49" charset="0"/>
              </a:rPr>
              <a:t>.name</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 does not have '</a:t>
            </a:r>
            <a:r>
              <a:rPr lang="en-US" b="0" dirty="0">
                <a:solidFill>
                  <a:srgbClr val="569CD6"/>
                </a:solidFill>
                <a:effectLst/>
                <a:latin typeface="Consolas" panose="020B0609020204030204" pitchFamily="49" charset="0"/>
              </a:rPr>
              <a:t>{</a:t>
            </a:r>
            <a:r>
              <a:rPr lang="en-US" b="0" dirty="0" err="1">
                <a:solidFill>
                  <a:srgbClr val="CCCCCC"/>
                </a:solidFill>
                <a:effectLst/>
                <a:latin typeface="Consolas" panose="020B0609020204030204" pitchFamily="49" charset="0"/>
              </a:rPr>
              <a:t>book.title</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 Currently with </a:t>
            </a:r>
            <a:r>
              <a:rPr lang="en-US" b="0" dirty="0">
                <a:solidFill>
                  <a:srgbClr val="569CD6"/>
                </a:solidFill>
                <a:effectLst/>
                <a:latin typeface="Consolas" panose="020B0609020204030204" pitchFamily="49" charset="0"/>
              </a:rPr>
              <a:t>{</a:t>
            </a:r>
            <a:r>
              <a:rPr lang="en-US" b="0" dirty="0">
                <a:solidFill>
                  <a:srgbClr val="CCCCCC"/>
                </a:solidFill>
                <a:effectLst/>
                <a:latin typeface="Consolas" panose="020B0609020204030204" pitchFamily="49" charset="0"/>
              </a:rPr>
              <a:t>book.borrowed_by.name </a:t>
            </a:r>
            <a:r>
              <a:rPr lang="en-US" b="0" dirty="0">
                <a:solidFill>
                  <a:srgbClr val="C586C0"/>
                </a:solidFill>
                <a:effectLst/>
                <a:latin typeface="Consolas" panose="020B0609020204030204" pitchFamily="49" charset="0"/>
              </a:rPr>
              <a:t>if</a:t>
            </a:r>
            <a:r>
              <a:rPr lang="en-US" b="0" dirty="0">
                <a:solidFill>
                  <a:srgbClr val="CCCCCC"/>
                </a:solidFill>
                <a:effectLst/>
                <a:latin typeface="Consolas" panose="020B0609020204030204" pitchFamily="49" charset="0"/>
              </a:rPr>
              <a:t> </a:t>
            </a:r>
            <a:r>
              <a:rPr lang="en-US" b="0" dirty="0" err="1">
                <a:solidFill>
                  <a:srgbClr val="CCCCCC"/>
                </a:solidFill>
                <a:effectLst/>
                <a:latin typeface="Consolas" panose="020B0609020204030204" pitchFamily="49" charset="0"/>
              </a:rPr>
              <a:t>book.borrowed_by</a:t>
            </a:r>
            <a:r>
              <a:rPr lang="en-US" b="0" dirty="0">
                <a:solidFill>
                  <a:srgbClr val="CCCCCC"/>
                </a:solidFill>
                <a:effectLst/>
                <a:latin typeface="Consolas" panose="020B0609020204030204" pitchFamily="49" charset="0"/>
              </a:rPr>
              <a:t> </a:t>
            </a:r>
            <a:r>
              <a:rPr lang="en-US" b="0" dirty="0">
                <a:solidFill>
                  <a:srgbClr val="C586C0"/>
                </a:solidFill>
                <a:effectLst/>
                <a:latin typeface="Consolas" panose="020B0609020204030204" pitchFamily="49" charset="0"/>
              </a:rPr>
              <a:t>else</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'nobody'</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a:t>
            </a:r>
            <a:r>
              <a:rPr lang="en-US" b="0" dirty="0">
                <a:solidFill>
                  <a:srgbClr val="CCCCCC"/>
                </a:solidFill>
                <a:effectLst/>
                <a:latin typeface="Consolas" panose="020B0609020204030204" pitchFamily="49" charset="0"/>
              </a:rPr>
              <a:t>)</a:t>
            </a:r>
          </a:p>
        </p:txBody>
      </p:sp>
      <p:sp>
        <p:nvSpPr>
          <p:cNvPr id="7" name="Rectangle 2">
            <a:extLst>
              <a:ext uri="{FF2B5EF4-FFF2-40B4-BE49-F238E27FC236}">
                <a16:creationId xmlns:a16="http://schemas.microsoft.com/office/drawing/2014/main" id="{31161A6E-7F50-CC60-C93B-9C7A2AD4E717}"/>
              </a:ext>
            </a:extLst>
          </p:cNvPr>
          <p:cNvSpPr>
            <a:spLocks noChangeArrowheads="1"/>
          </p:cNvSpPr>
          <p:nvPr/>
        </p:nvSpPr>
        <p:spPr bwMode="auto">
          <a:xfrm>
            <a:off x="0" y="4542297"/>
            <a:ext cx="12192000"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Java — Hint:</a:t>
            </a:r>
            <a:r>
              <a:rPr kumimoji="0" lang="en-US" altLang="en-US" sz="2800" b="0" i="0" u="none" strike="noStrike" cap="none" normalizeH="0" baseline="0" dirty="0">
                <a:ln>
                  <a:noFill/>
                </a:ln>
                <a:solidFill>
                  <a:schemeClr val="tx1"/>
                </a:solidFill>
                <a:effectLst/>
                <a:latin typeface="Calibir"/>
              </a:rPr>
              <a:t> In </a:t>
            </a:r>
            <a:r>
              <a:rPr kumimoji="0" lang="en-US" altLang="en-US" sz="2800" b="0" i="0" u="none" strike="noStrike" cap="none" normalizeH="0" baseline="0" dirty="0" err="1">
                <a:ln>
                  <a:noFill/>
                </a:ln>
                <a:solidFill>
                  <a:schemeClr val="tx1"/>
                </a:solidFill>
                <a:effectLst/>
                <a:latin typeface="Calibir"/>
              </a:rPr>
              <a:t>Member.returnBook</a:t>
            </a:r>
            <a:r>
              <a:rPr kumimoji="0" lang="en-US" altLang="en-US" sz="2800" b="0" i="0" u="none" strike="noStrike" cap="none" normalizeH="0" baseline="0" dirty="0">
                <a:ln>
                  <a:noFill/>
                </a:ln>
                <a:solidFill>
                  <a:schemeClr val="tx1"/>
                </a:solidFill>
                <a:effectLst/>
                <a:latin typeface="Calibir"/>
              </a:rPr>
              <a:t>(), in the else branch, </a:t>
            </a:r>
            <a:r>
              <a:rPr kumimoji="0" lang="en-US" altLang="en-US" sz="2800" b="1" i="0" u="none" strike="noStrike" cap="none" normalizeH="0" baseline="0" dirty="0">
                <a:ln>
                  <a:noFill/>
                </a:ln>
                <a:solidFill>
                  <a:schemeClr val="tx1"/>
                </a:solidFill>
                <a:effectLst/>
                <a:latin typeface="Calibir"/>
              </a:rPr>
              <a:t>replace the </a:t>
            </a:r>
            <a:r>
              <a:rPr kumimoji="0" lang="en-US" altLang="en-US" sz="2800" b="1" i="0" u="none" strike="noStrike" cap="none" normalizeH="0" baseline="0" dirty="0" err="1">
                <a:ln>
                  <a:noFill/>
                </a:ln>
                <a:solidFill>
                  <a:schemeClr val="tx1"/>
                </a:solidFill>
                <a:effectLst/>
                <a:latin typeface="Calibir"/>
              </a:rPr>
              <a:t>println</a:t>
            </a:r>
            <a:r>
              <a:rPr kumimoji="0" lang="en-US" altLang="en-US" sz="2800" b="0" i="0" u="none" strike="noStrike" cap="none" normalizeH="0" baseline="0" dirty="0">
                <a:ln>
                  <a:noFill/>
                </a:ln>
                <a:solidFill>
                  <a:schemeClr val="tx1"/>
                </a:solidFill>
                <a:effectLst/>
                <a:latin typeface="Calibir"/>
              </a:rPr>
              <a:t>.</a:t>
            </a:r>
          </a:p>
        </p:txBody>
      </p:sp>
      <p:sp>
        <p:nvSpPr>
          <p:cNvPr id="14" name="TextBox 13">
            <a:extLst>
              <a:ext uri="{FF2B5EF4-FFF2-40B4-BE49-F238E27FC236}">
                <a16:creationId xmlns:a16="http://schemas.microsoft.com/office/drawing/2014/main" id="{07407804-AEC4-5468-A63A-472FC0F718D7}"/>
              </a:ext>
            </a:extLst>
          </p:cNvPr>
          <p:cNvSpPr txBox="1"/>
          <p:nvPr/>
        </p:nvSpPr>
        <p:spPr>
          <a:xfrm>
            <a:off x="0" y="5246051"/>
            <a:ext cx="12192000" cy="646331"/>
          </a:xfrm>
          <a:prstGeom prst="rect">
            <a:avLst/>
          </a:prstGeom>
          <a:solidFill>
            <a:schemeClr val="tx1"/>
          </a:solidFill>
        </p:spPr>
        <p:txBody>
          <a:bodyPr wrap="square">
            <a:spAutoFit/>
          </a:bodyPr>
          <a:lstStyle/>
          <a:p>
            <a:pPr>
              <a:buNone/>
            </a:pPr>
            <a:r>
              <a:rPr lang="en-US" b="0" dirty="0" err="1">
                <a:solidFill>
                  <a:srgbClr val="9CDCFE"/>
                </a:solidFill>
                <a:effectLst/>
                <a:latin typeface="Consolas" panose="020B0609020204030204" pitchFamily="49" charset="0"/>
              </a:rPr>
              <a:t>System</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out</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println</a:t>
            </a:r>
            <a:r>
              <a:rPr lang="en-US" b="0" dirty="0">
                <a:solidFill>
                  <a:srgbClr val="CCCCCC"/>
                </a:solidFill>
                <a:effectLst/>
                <a:latin typeface="Consolas" panose="020B0609020204030204" pitchFamily="49" charset="0"/>
              </a:rPr>
              <a:t>(name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does not have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book</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title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Currently with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book</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borrowedBy</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null</a:t>
            </a:r>
            <a:r>
              <a:rPr lang="en-US" b="0" dirty="0">
                <a:solidFill>
                  <a:srgbClr val="CCCCCC"/>
                </a:solidFill>
                <a:effectLst/>
                <a:latin typeface="Consolas" panose="020B0609020204030204" pitchFamily="49" charset="0"/>
              </a:rPr>
              <a:t> </a:t>
            </a:r>
            <a:r>
              <a:rPr lang="en-US" b="0" dirty="0">
                <a:solidFill>
                  <a:srgbClr val="C586C0"/>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book</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borrowedBy</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name</a:t>
            </a:r>
            <a:r>
              <a:rPr lang="en-US" b="0" dirty="0">
                <a:solidFill>
                  <a:srgbClr val="CCCCCC"/>
                </a:solidFill>
                <a:effectLst/>
                <a:latin typeface="Consolas" panose="020B0609020204030204" pitchFamily="49" charset="0"/>
              </a:rPr>
              <a:t> </a:t>
            </a:r>
            <a:r>
              <a:rPr lang="en-US" b="0" dirty="0">
                <a:solidFill>
                  <a:srgbClr val="C586C0"/>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"nobody"</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173950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3"/>
                </p:tgtEl>
              </p:cMediaNode>
            </p:video>
          </p:childTnLst>
        </p:cTn>
      </p:par>
    </p:tnLst>
    <p:bldLst>
      <p:bldP spid="6" grpId="0" animBg="1"/>
      <p:bldP spid="14"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2DF25-74D5-6826-EB6F-161357B8FEC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B9DB864-F051-AC0A-9FEF-C72B59528246}"/>
              </a:ext>
            </a:extLst>
          </p:cNvPr>
          <p:cNvSpPr>
            <a:spLocks noGrp="1"/>
          </p:cNvSpPr>
          <p:nvPr>
            <p:ph type="title"/>
          </p:nvPr>
        </p:nvSpPr>
        <p:spPr>
          <a:xfrm>
            <a:off x="0" y="-1"/>
            <a:ext cx="12192000" cy="752169"/>
          </a:xfrm>
        </p:spPr>
        <p:txBody>
          <a:bodyPr anchor="b">
            <a:normAutofit/>
          </a:bodyPr>
          <a:lstStyle/>
          <a:p>
            <a:r>
              <a:rPr lang="en-US" sz="3600" b="1" dirty="0"/>
              <a:t>Activity 8 — Simple email sanity check on member creation</a:t>
            </a:r>
            <a:endParaRPr lang="en-AU" sz="3600" b="1" dirty="0">
              <a:latin typeface="Calibir"/>
            </a:endParaRPr>
          </a:p>
        </p:txBody>
      </p:sp>
      <p:sp>
        <p:nvSpPr>
          <p:cNvPr id="2" name="Rectangle 1">
            <a:extLst>
              <a:ext uri="{FF2B5EF4-FFF2-40B4-BE49-F238E27FC236}">
                <a16:creationId xmlns:a16="http://schemas.microsoft.com/office/drawing/2014/main" id="{78D1F5CA-ADC3-5338-9BB7-B274764E80B4}"/>
              </a:ext>
            </a:extLst>
          </p:cNvPr>
          <p:cNvSpPr>
            <a:spLocks noChangeArrowheads="1"/>
          </p:cNvSpPr>
          <p:nvPr/>
        </p:nvSpPr>
        <p:spPr bwMode="auto">
          <a:xfrm>
            <a:off x="0" y="752168"/>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Task:</a:t>
            </a:r>
            <a:r>
              <a:rPr lang="en-US" sz="2800" dirty="0">
                <a:latin typeface="Calibir"/>
              </a:rPr>
              <a:t> Warn if the email </a:t>
            </a:r>
            <a:r>
              <a:rPr lang="en-US" sz="2800" b="1" dirty="0">
                <a:latin typeface="Calibir"/>
              </a:rPr>
              <a:t>looks invalid</a:t>
            </a:r>
            <a:r>
              <a:rPr lang="en-US" sz="2800" dirty="0">
                <a:latin typeface="Calibir"/>
              </a:rPr>
              <a:t> (no “@”).</a:t>
            </a:r>
            <a:endParaRPr kumimoji="0" lang="en-US" altLang="en-US" sz="2800" b="0" i="0" u="none" strike="noStrike" cap="none" normalizeH="0" baseline="0" dirty="0">
              <a:ln>
                <a:noFill/>
              </a:ln>
              <a:solidFill>
                <a:schemeClr val="tx1"/>
              </a:solidFill>
              <a:effectLst/>
              <a:latin typeface="Calibir"/>
            </a:endParaRPr>
          </a:p>
        </p:txBody>
      </p:sp>
      <p:pic>
        <p:nvPicPr>
          <p:cNvPr id="13" name="Timer">
            <a:hlinkClick r:id="" action="ppaction://media"/>
            <a:extLst>
              <a:ext uri="{FF2B5EF4-FFF2-40B4-BE49-F238E27FC236}">
                <a16:creationId xmlns:a16="http://schemas.microsoft.com/office/drawing/2014/main" id="{E86ADEB7-5C66-FDD5-F8C1-0ABB180F33B1}"/>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993" r="40597" b="42149"/>
          <a:stretch>
            <a:fillRect/>
          </a:stretch>
        </p:blipFill>
        <p:spPr>
          <a:xfrm>
            <a:off x="5093108" y="1767611"/>
            <a:ext cx="2271253" cy="881720"/>
          </a:xfrm>
          <a:prstGeom prst="rect">
            <a:avLst/>
          </a:prstGeom>
          <a:ln w="38100">
            <a:solidFill>
              <a:srgbClr val="FF0000"/>
            </a:solidFill>
          </a:ln>
        </p:spPr>
      </p:pic>
      <p:sp>
        <p:nvSpPr>
          <p:cNvPr id="4" name="Rectangle 1">
            <a:extLst>
              <a:ext uri="{FF2B5EF4-FFF2-40B4-BE49-F238E27FC236}">
                <a16:creationId xmlns:a16="http://schemas.microsoft.com/office/drawing/2014/main" id="{A9E75625-8163-589D-16E3-5982C99A5FEA}"/>
              </a:ext>
            </a:extLst>
          </p:cNvPr>
          <p:cNvSpPr>
            <a:spLocks noChangeArrowheads="1"/>
          </p:cNvSpPr>
          <p:nvPr/>
        </p:nvSpPr>
        <p:spPr bwMode="auto">
          <a:xfrm>
            <a:off x="0" y="2837144"/>
            <a:ext cx="12192000"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Python — Hint:</a:t>
            </a:r>
            <a:r>
              <a:rPr lang="en-US" altLang="en-US" sz="2800" dirty="0">
                <a:latin typeface="Calibir"/>
              </a:rPr>
              <a:t> In Member.__</a:t>
            </a:r>
            <a:r>
              <a:rPr lang="en-US" altLang="en-US" sz="2800" dirty="0" err="1">
                <a:latin typeface="Calibir"/>
              </a:rPr>
              <a:t>init</a:t>
            </a:r>
            <a:r>
              <a:rPr lang="en-US" altLang="en-US" sz="2800" dirty="0">
                <a:latin typeface="Calibir"/>
              </a:rPr>
              <a:t>__, at the </a:t>
            </a:r>
            <a:r>
              <a:rPr lang="en-US" altLang="en-US" sz="2800" b="1" dirty="0">
                <a:latin typeface="Calibir"/>
              </a:rPr>
              <a:t>end of the constructor</a:t>
            </a:r>
            <a:r>
              <a:rPr lang="en-US" altLang="en-US" sz="2800" dirty="0">
                <a:latin typeface="Calibir"/>
              </a:rPr>
              <a:t>, </a:t>
            </a:r>
            <a:r>
              <a:rPr lang="en-US" altLang="en-US" sz="2800" b="1" dirty="0">
                <a:latin typeface="Calibir"/>
              </a:rPr>
              <a:t>add one line</a:t>
            </a:r>
            <a:r>
              <a:rPr lang="en-US" altLang="en-US" sz="2800" dirty="0">
                <a:latin typeface="Calibir"/>
              </a:rPr>
              <a:t>.</a:t>
            </a:r>
          </a:p>
        </p:txBody>
      </p:sp>
      <p:sp>
        <p:nvSpPr>
          <p:cNvPr id="7" name="Rectangle 2">
            <a:extLst>
              <a:ext uri="{FF2B5EF4-FFF2-40B4-BE49-F238E27FC236}">
                <a16:creationId xmlns:a16="http://schemas.microsoft.com/office/drawing/2014/main" id="{31161A6E-7F50-CC60-C93B-9C7A2AD4E717}"/>
              </a:ext>
            </a:extLst>
          </p:cNvPr>
          <p:cNvSpPr>
            <a:spLocks noChangeArrowheads="1"/>
          </p:cNvSpPr>
          <p:nvPr/>
        </p:nvSpPr>
        <p:spPr bwMode="auto">
          <a:xfrm>
            <a:off x="0" y="4348271"/>
            <a:ext cx="12192000"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Java — Hint:</a:t>
            </a:r>
            <a:r>
              <a:rPr lang="en-US" altLang="en-US" sz="2800" dirty="0">
                <a:latin typeface="Calibir"/>
              </a:rPr>
              <a:t> In Member constructor, at the </a:t>
            </a:r>
            <a:r>
              <a:rPr lang="en-US" altLang="en-US" sz="2800" b="1" dirty="0">
                <a:latin typeface="Calibir"/>
              </a:rPr>
              <a:t>end of the constructor</a:t>
            </a:r>
            <a:r>
              <a:rPr lang="en-US" altLang="en-US" sz="2800" dirty="0">
                <a:latin typeface="Calibir"/>
              </a:rPr>
              <a:t>, </a:t>
            </a:r>
            <a:r>
              <a:rPr lang="en-US" altLang="en-US" sz="2800" b="1" dirty="0">
                <a:latin typeface="Calibir"/>
              </a:rPr>
              <a:t>add one line</a:t>
            </a:r>
            <a:r>
              <a:rPr lang="en-US" altLang="en-US" sz="2800" dirty="0">
                <a:latin typeface="Calibir"/>
              </a:rPr>
              <a:t>. </a:t>
            </a:r>
          </a:p>
        </p:txBody>
      </p:sp>
      <p:sp>
        <p:nvSpPr>
          <p:cNvPr id="8" name="TextBox 7">
            <a:extLst>
              <a:ext uri="{FF2B5EF4-FFF2-40B4-BE49-F238E27FC236}">
                <a16:creationId xmlns:a16="http://schemas.microsoft.com/office/drawing/2014/main" id="{D2BA97B2-4C1E-5DF3-11BD-20ACD3E147FA}"/>
              </a:ext>
            </a:extLst>
          </p:cNvPr>
          <p:cNvSpPr txBox="1"/>
          <p:nvPr/>
        </p:nvSpPr>
        <p:spPr>
          <a:xfrm>
            <a:off x="0" y="3691455"/>
            <a:ext cx="12192000" cy="430887"/>
          </a:xfrm>
          <a:prstGeom prst="rect">
            <a:avLst/>
          </a:prstGeom>
          <a:solidFill>
            <a:schemeClr val="tx1"/>
          </a:solidFill>
        </p:spPr>
        <p:txBody>
          <a:bodyPr wrap="square">
            <a:spAutoFit/>
          </a:bodyPr>
          <a:lstStyle/>
          <a:p>
            <a:pPr>
              <a:buNone/>
            </a:pPr>
            <a:r>
              <a:rPr lang="en-US" sz="2200" b="0" dirty="0">
                <a:solidFill>
                  <a:srgbClr val="C586C0"/>
                </a:solidFill>
                <a:effectLst/>
                <a:latin typeface="Consolas" panose="020B0609020204030204" pitchFamily="49" charset="0"/>
              </a:rPr>
              <a:t>if</a:t>
            </a:r>
            <a:r>
              <a:rPr lang="en-US" sz="2200" b="0" dirty="0">
                <a:solidFill>
                  <a:srgbClr val="CCCCCC"/>
                </a:solidFill>
                <a:effectLst/>
                <a:latin typeface="Consolas" panose="020B0609020204030204" pitchFamily="49" charset="0"/>
              </a:rPr>
              <a:t> </a:t>
            </a:r>
            <a:r>
              <a:rPr lang="en-US" sz="2200" b="0" dirty="0">
                <a:solidFill>
                  <a:srgbClr val="CE9178"/>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not</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in</a:t>
            </a:r>
            <a:r>
              <a:rPr lang="en-US" sz="2200" b="0" dirty="0">
                <a:solidFill>
                  <a:srgbClr val="CCCCCC"/>
                </a:solidFill>
                <a:effectLst/>
                <a:latin typeface="Consolas" panose="020B0609020204030204" pitchFamily="49" charset="0"/>
              </a:rPr>
              <a:t> </a:t>
            </a:r>
            <a:r>
              <a:rPr lang="en-US" sz="2200" b="0" dirty="0" err="1">
                <a:solidFill>
                  <a:srgbClr val="569CD6"/>
                </a:solidFill>
                <a:effectLst/>
                <a:latin typeface="Consolas" panose="020B0609020204030204" pitchFamily="49" charset="0"/>
              </a:rPr>
              <a:t>self</a:t>
            </a:r>
            <a:r>
              <a:rPr lang="en-US" sz="2200" b="0" dirty="0" err="1">
                <a:solidFill>
                  <a:srgbClr val="CCCCCC"/>
                </a:solidFill>
                <a:effectLst/>
                <a:latin typeface="Consolas" panose="020B0609020204030204" pitchFamily="49" charset="0"/>
              </a:rPr>
              <a:t>.email</a:t>
            </a: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print</a:t>
            </a:r>
            <a:r>
              <a:rPr lang="en-US" sz="2200" b="0" dirty="0">
                <a:solidFill>
                  <a:srgbClr val="CCCCCC"/>
                </a:solidFill>
                <a:effectLst/>
                <a:latin typeface="Consolas" panose="020B0609020204030204" pitchFamily="49" charset="0"/>
              </a:rPr>
              <a:t>(</a:t>
            </a:r>
            <a:r>
              <a:rPr lang="en-US" sz="2200" b="0" dirty="0" err="1">
                <a:solidFill>
                  <a:srgbClr val="569CD6"/>
                </a:solidFill>
                <a:effectLst/>
                <a:latin typeface="Consolas" panose="020B0609020204030204" pitchFamily="49" charset="0"/>
              </a:rPr>
              <a:t>f</a:t>
            </a:r>
            <a:r>
              <a:rPr lang="en-US" sz="2200" b="0" dirty="0" err="1">
                <a:solidFill>
                  <a:srgbClr val="CE9178"/>
                </a:solidFill>
                <a:effectLst/>
                <a:latin typeface="Consolas" panose="020B0609020204030204" pitchFamily="49" charset="0"/>
              </a:rPr>
              <a:t>"Warning</a:t>
            </a:r>
            <a:r>
              <a:rPr lang="en-US" sz="2200" b="0" dirty="0">
                <a:solidFill>
                  <a:srgbClr val="CE9178"/>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err="1">
                <a:solidFill>
                  <a:srgbClr val="569CD6"/>
                </a:solidFill>
                <a:effectLst/>
                <a:latin typeface="Consolas" panose="020B0609020204030204" pitchFamily="49" charset="0"/>
              </a:rPr>
              <a:t>self</a:t>
            </a:r>
            <a:r>
              <a:rPr lang="en-US" sz="2200" b="0" dirty="0" err="1">
                <a:solidFill>
                  <a:srgbClr val="CCCCCC"/>
                </a:solidFill>
                <a:effectLst/>
                <a:latin typeface="Consolas" panose="020B0609020204030204" pitchFamily="49" charset="0"/>
              </a:rPr>
              <a:t>.email</a:t>
            </a:r>
            <a:r>
              <a:rPr lang="en-US" sz="2200" b="0" dirty="0">
                <a:solidFill>
                  <a:srgbClr val="569CD6"/>
                </a:solidFill>
                <a:effectLst/>
                <a:latin typeface="Consolas" panose="020B0609020204030204" pitchFamily="49" charset="0"/>
              </a:rPr>
              <a:t>}</a:t>
            </a:r>
            <a:r>
              <a:rPr lang="en-US" sz="2200" b="0" dirty="0">
                <a:solidFill>
                  <a:srgbClr val="CE9178"/>
                </a:solidFill>
                <a:effectLst/>
                <a:latin typeface="Consolas" panose="020B0609020204030204" pitchFamily="49" charset="0"/>
              </a:rPr>
              <a:t>' may be invalid."</a:t>
            </a:r>
            <a:r>
              <a:rPr lang="en-US" sz="2200" b="0" dirty="0">
                <a:solidFill>
                  <a:srgbClr val="CCCCCC"/>
                </a:solidFill>
                <a:effectLst/>
                <a:latin typeface="Consolas" panose="020B0609020204030204" pitchFamily="49" charset="0"/>
              </a:rPr>
              <a:t>)</a:t>
            </a:r>
          </a:p>
        </p:txBody>
      </p:sp>
      <p:sp>
        <p:nvSpPr>
          <p:cNvPr id="12" name="TextBox 11">
            <a:extLst>
              <a:ext uri="{FF2B5EF4-FFF2-40B4-BE49-F238E27FC236}">
                <a16:creationId xmlns:a16="http://schemas.microsoft.com/office/drawing/2014/main" id="{9894A6E2-77E4-0D3E-842A-AB26EFCD6101}"/>
              </a:ext>
            </a:extLst>
          </p:cNvPr>
          <p:cNvSpPr txBox="1"/>
          <p:nvPr/>
        </p:nvSpPr>
        <p:spPr>
          <a:xfrm>
            <a:off x="34412" y="5101326"/>
            <a:ext cx="12157588" cy="646331"/>
          </a:xfrm>
          <a:prstGeom prst="rect">
            <a:avLst/>
          </a:prstGeom>
          <a:solidFill>
            <a:schemeClr val="tx1"/>
          </a:solidFill>
        </p:spPr>
        <p:txBody>
          <a:bodyPr wrap="square">
            <a:spAutoFit/>
          </a:bodyPr>
          <a:lstStyle/>
          <a:p>
            <a:pPr>
              <a:buNone/>
            </a:pPr>
            <a:r>
              <a:rPr lang="en-US" b="0" dirty="0">
                <a:solidFill>
                  <a:srgbClr val="C586C0"/>
                </a:solidFill>
                <a:effectLst/>
                <a:latin typeface="Consolas" panose="020B0609020204030204" pitchFamily="49" charset="0"/>
              </a:rPr>
              <a:t>if</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err="1">
                <a:solidFill>
                  <a:srgbClr val="569CD6"/>
                </a:solidFill>
                <a:effectLst/>
                <a:latin typeface="Consolas" panose="020B0609020204030204" pitchFamily="49" charset="0"/>
              </a:rPr>
              <a:t>this</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email</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contains</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System</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out</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println</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"Warning: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569CD6"/>
                </a:solidFill>
                <a:effectLst/>
                <a:latin typeface="Consolas" panose="020B0609020204030204" pitchFamily="49" charset="0"/>
              </a:rPr>
              <a:t>this</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email</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may be invalid."</a:t>
            </a:r>
            <a:r>
              <a:rPr lang="en-US"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2791519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wheel(1)">
                                      <p:cBhvr>
                                        <p:cTn id="10"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13"/>
                </p:tgtEl>
              </p:cMediaNode>
            </p:video>
          </p:childTnLst>
        </p:cTn>
      </p:par>
    </p:tnLst>
    <p:bldLst>
      <p:bldP spid="8" grpId="0" animBg="1"/>
      <p:bldP spid="12"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2DF25-74D5-6826-EB6F-161357B8FEC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B9DB864-F051-AC0A-9FEF-C72B59528246}"/>
              </a:ext>
            </a:extLst>
          </p:cNvPr>
          <p:cNvSpPr>
            <a:spLocks noGrp="1"/>
          </p:cNvSpPr>
          <p:nvPr>
            <p:ph type="title"/>
          </p:nvPr>
        </p:nvSpPr>
        <p:spPr>
          <a:xfrm>
            <a:off x="0" y="-1"/>
            <a:ext cx="12192000" cy="752169"/>
          </a:xfrm>
        </p:spPr>
        <p:txBody>
          <a:bodyPr anchor="b">
            <a:normAutofit/>
          </a:bodyPr>
          <a:lstStyle/>
          <a:p>
            <a:r>
              <a:rPr lang="en-US" sz="3600" b="1" dirty="0"/>
              <a:t>Activity 9 — Tidy book titles on creation</a:t>
            </a:r>
            <a:endParaRPr lang="en-AU" sz="3600" b="1" dirty="0">
              <a:latin typeface="Calibir"/>
            </a:endParaRPr>
          </a:p>
        </p:txBody>
      </p:sp>
      <p:sp>
        <p:nvSpPr>
          <p:cNvPr id="2" name="Rectangle 1">
            <a:extLst>
              <a:ext uri="{FF2B5EF4-FFF2-40B4-BE49-F238E27FC236}">
                <a16:creationId xmlns:a16="http://schemas.microsoft.com/office/drawing/2014/main" id="{78D1F5CA-ADC3-5338-9BB7-B274764E80B4}"/>
              </a:ext>
            </a:extLst>
          </p:cNvPr>
          <p:cNvSpPr>
            <a:spLocks noChangeArrowheads="1"/>
          </p:cNvSpPr>
          <p:nvPr/>
        </p:nvSpPr>
        <p:spPr bwMode="auto">
          <a:xfrm>
            <a:off x="0" y="828278"/>
            <a:ext cx="121920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en-US" altLang="en-US" sz="2800" b="1" dirty="0">
                <a:latin typeface="Calibir"/>
              </a:rPr>
              <a:t>Task:</a:t>
            </a:r>
            <a:r>
              <a:rPr lang="en-US" altLang="en-US" sz="2800" dirty="0">
                <a:latin typeface="Calibir"/>
              </a:rPr>
              <a:t> </a:t>
            </a:r>
            <a:r>
              <a:rPr lang="en-US" altLang="en-US" sz="2800" dirty="0" err="1">
                <a:latin typeface="Calibir"/>
              </a:rPr>
              <a:t>Normalise</a:t>
            </a:r>
            <a:r>
              <a:rPr lang="en-US" altLang="en-US" sz="2800" dirty="0">
                <a:latin typeface="Calibir"/>
              </a:rPr>
              <a:t> book titles when creating a Book (nice </a:t>
            </a:r>
            <a:r>
              <a:rPr lang="en-US" altLang="en-US" sz="2800" dirty="0" err="1">
                <a:latin typeface="Calibir"/>
              </a:rPr>
              <a:t>capitalisation</a:t>
            </a:r>
            <a:r>
              <a:rPr lang="en-US" altLang="en-US" sz="2800" dirty="0">
                <a:latin typeface="Calibir"/>
              </a:rPr>
              <a:t>). </a:t>
            </a:r>
          </a:p>
        </p:txBody>
      </p:sp>
      <p:pic>
        <p:nvPicPr>
          <p:cNvPr id="13" name="Timer">
            <a:hlinkClick r:id="" action="ppaction://media"/>
            <a:extLst>
              <a:ext uri="{FF2B5EF4-FFF2-40B4-BE49-F238E27FC236}">
                <a16:creationId xmlns:a16="http://schemas.microsoft.com/office/drawing/2014/main" id="{E86ADEB7-5C66-FDD5-F8C1-0ABB180F33B1}"/>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993" r="40597" b="42149"/>
          <a:stretch>
            <a:fillRect/>
          </a:stretch>
        </p:blipFill>
        <p:spPr>
          <a:xfrm>
            <a:off x="5093108" y="1767611"/>
            <a:ext cx="2271253" cy="881720"/>
          </a:xfrm>
          <a:prstGeom prst="rect">
            <a:avLst/>
          </a:prstGeom>
          <a:ln w="38100">
            <a:solidFill>
              <a:srgbClr val="FF0000"/>
            </a:solidFill>
          </a:ln>
        </p:spPr>
      </p:pic>
      <p:sp>
        <p:nvSpPr>
          <p:cNvPr id="4" name="Rectangle 1">
            <a:extLst>
              <a:ext uri="{FF2B5EF4-FFF2-40B4-BE49-F238E27FC236}">
                <a16:creationId xmlns:a16="http://schemas.microsoft.com/office/drawing/2014/main" id="{A9E75625-8163-589D-16E3-5982C99A5FEA}"/>
              </a:ext>
            </a:extLst>
          </p:cNvPr>
          <p:cNvSpPr>
            <a:spLocks noChangeArrowheads="1"/>
          </p:cNvSpPr>
          <p:nvPr/>
        </p:nvSpPr>
        <p:spPr bwMode="auto">
          <a:xfrm>
            <a:off x="0" y="2911459"/>
            <a:ext cx="121920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en-US" altLang="en-US" sz="2800" b="1" dirty="0">
                <a:latin typeface="Calibir"/>
              </a:rPr>
              <a:t>Python — Hint:</a:t>
            </a:r>
            <a:r>
              <a:rPr lang="en-US" altLang="en-US" sz="2800" dirty="0">
                <a:latin typeface="Calibir"/>
              </a:rPr>
              <a:t> In Book.__</a:t>
            </a:r>
            <a:r>
              <a:rPr lang="en-US" altLang="en-US" sz="2800" dirty="0" err="1">
                <a:latin typeface="Calibir"/>
              </a:rPr>
              <a:t>init</a:t>
            </a:r>
            <a:r>
              <a:rPr lang="en-US" altLang="en-US" sz="2800" dirty="0">
                <a:latin typeface="Calibir"/>
              </a:rPr>
              <a:t>__, </a:t>
            </a:r>
            <a:r>
              <a:rPr lang="en-US" altLang="en-US" sz="2800" b="1" dirty="0">
                <a:latin typeface="Calibir"/>
              </a:rPr>
              <a:t>replace</a:t>
            </a:r>
            <a:r>
              <a:rPr lang="en-US" altLang="en-US" sz="2800" dirty="0">
                <a:latin typeface="Calibir"/>
              </a:rPr>
              <a:t> </a:t>
            </a:r>
            <a:r>
              <a:rPr lang="en-US" altLang="en-US" sz="2800" dirty="0" err="1">
                <a:latin typeface="Calibir"/>
              </a:rPr>
              <a:t>self.title</a:t>
            </a:r>
            <a:r>
              <a:rPr lang="en-US" altLang="en-US" sz="2800" dirty="0">
                <a:latin typeface="Calibir"/>
              </a:rPr>
              <a:t> = title. </a:t>
            </a:r>
          </a:p>
        </p:txBody>
      </p:sp>
      <p:sp>
        <p:nvSpPr>
          <p:cNvPr id="7" name="Rectangle 2">
            <a:extLst>
              <a:ext uri="{FF2B5EF4-FFF2-40B4-BE49-F238E27FC236}">
                <a16:creationId xmlns:a16="http://schemas.microsoft.com/office/drawing/2014/main" id="{31161A6E-7F50-CC60-C93B-9C7A2AD4E717}"/>
              </a:ext>
            </a:extLst>
          </p:cNvPr>
          <p:cNvSpPr>
            <a:spLocks noChangeArrowheads="1"/>
          </p:cNvSpPr>
          <p:nvPr/>
        </p:nvSpPr>
        <p:spPr bwMode="auto">
          <a:xfrm>
            <a:off x="0" y="4422586"/>
            <a:ext cx="121920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en-US" altLang="en-US" sz="2800" b="1" dirty="0">
                <a:latin typeface="Calibir"/>
              </a:rPr>
              <a:t>Java — Hint:</a:t>
            </a:r>
            <a:r>
              <a:rPr lang="en-US" altLang="en-US" sz="2800" dirty="0">
                <a:latin typeface="Calibir"/>
              </a:rPr>
              <a:t> In Book constructor, </a:t>
            </a:r>
            <a:r>
              <a:rPr lang="en-US" altLang="en-US" sz="2800" b="1" dirty="0">
                <a:latin typeface="Calibir"/>
              </a:rPr>
              <a:t>replace</a:t>
            </a:r>
            <a:r>
              <a:rPr lang="en-US" altLang="en-US" sz="2800" dirty="0">
                <a:latin typeface="Calibir"/>
              </a:rPr>
              <a:t> </a:t>
            </a:r>
            <a:r>
              <a:rPr lang="en-US" altLang="en-US" sz="2800" dirty="0" err="1">
                <a:latin typeface="Calibir"/>
              </a:rPr>
              <a:t>this.title</a:t>
            </a:r>
            <a:r>
              <a:rPr lang="en-US" altLang="en-US" sz="2800" dirty="0">
                <a:latin typeface="Calibir"/>
              </a:rPr>
              <a:t> = title;. </a:t>
            </a:r>
          </a:p>
        </p:txBody>
      </p:sp>
      <p:sp>
        <p:nvSpPr>
          <p:cNvPr id="10" name="TextBox 9">
            <a:extLst>
              <a:ext uri="{FF2B5EF4-FFF2-40B4-BE49-F238E27FC236}">
                <a16:creationId xmlns:a16="http://schemas.microsoft.com/office/drawing/2014/main" id="{DF870238-C645-34AF-46ED-C26FADD4B40E}"/>
              </a:ext>
            </a:extLst>
          </p:cNvPr>
          <p:cNvSpPr txBox="1"/>
          <p:nvPr/>
        </p:nvSpPr>
        <p:spPr>
          <a:xfrm>
            <a:off x="0" y="3740921"/>
            <a:ext cx="6371302" cy="523220"/>
          </a:xfrm>
          <a:prstGeom prst="rect">
            <a:avLst/>
          </a:prstGeom>
          <a:solidFill>
            <a:schemeClr val="tx1"/>
          </a:solidFill>
        </p:spPr>
        <p:txBody>
          <a:bodyPr wrap="square">
            <a:spAutoFit/>
          </a:bodyPr>
          <a:lstStyle/>
          <a:p>
            <a:pPr>
              <a:buNone/>
            </a:pPr>
            <a:r>
              <a:rPr lang="en-US" sz="2800" b="0" dirty="0" err="1">
                <a:solidFill>
                  <a:srgbClr val="569CD6"/>
                </a:solidFill>
                <a:effectLst/>
                <a:latin typeface="Consolas" panose="020B0609020204030204" pitchFamily="49" charset="0"/>
              </a:rPr>
              <a:t>self</a:t>
            </a:r>
            <a:r>
              <a:rPr lang="en-US" sz="2800" b="0" dirty="0" err="1">
                <a:solidFill>
                  <a:srgbClr val="CCCCCC"/>
                </a:solidFill>
                <a:effectLst/>
                <a:latin typeface="Consolas" panose="020B0609020204030204" pitchFamily="49" charset="0"/>
              </a:rPr>
              <a:t>.title</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title.title</a:t>
            </a:r>
            <a:r>
              <a:rPr lang="en-US" sz="2800" b="0" dirty="0">
                <a:solidFill>
                  <a:srgbClr val="CCCCCC"/>
                </a:solidFill>
                <a:effectLst/>
                <a:latin typeface="Consolas" panose="020B0609020204030204" pitchFamily="49" charset="0"/>
              </a:rPr>
              <a:t>()</a:t>
            </a:r>
          </a:p>
        </p:txBody>
      </p:sp>
      <p:sp>
        <p:nvSpPr>
          <p:cNvPr id="15" name="TextBox 14">
            <a:extLst>
              <a:ext uri="{FF2B5EF4-FFF2-40B4-BE49-F238E27FC236}">
                <a16:creationId xmlns:a16="http://schemas.microsoft.com/office/drawing/2014/main" id="{ECC9DD97-409A-4C13-ED5B-E126D54A1ED9}"/>
              </a:ext>
            </a:extLst>
          </p:cNvPr>
          <p:cNvSpPr txBox="1"/>
          <p:nvPr/>
        </p:nvSpPr>
        <p:spPr>
          <a:xfrm>
            <a:off x="0" y="5010383"/>
            <a:ext cx="12192000" cy="769441"/>
          </a:xfrm>
          <a:prstGeom prst="rect">
            <a:avLst/>
          </a:prstGeom>
          <a:solidFill>
            <a:schemeClr val="tx1"/>
          </a:solidFill>
        </p:spPr>
        <p:txBody>
          <a:bodyPr wrap="square">
            <a:spAutoFit/>
          </a:bodyPr>
          <a:lstStyle/>
          <a:p>
            <a:pPr>
              <a:buNone/>
            </a:pPr>
            <a:r>
              <a:rPr lang="en-US" sz="2200" b="0" dirty="0" err="1">
                <a:solidFill>
                  <a:srgbClr val="569CD6"/>
                </a:solidFill>
                <a:effectLst/>
                <a:latin typeface="Consolas" panose="020B0609020204030204" pitchFamily="49" charset="0"/>
              </a:rPr>
              <a:t>this</a:t>
            </a:r>
            <a:r>
              <a:rPr lang="en-US" sz="2200" b="0" dirty="0" err="1">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title</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title</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isEmpty</a:t>
            </a: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a:t>
            </a:r>
            <a:r>
              <a:rPr lang="en-US" sz="2200" b="0" dirty="0">
                <a:solidFill>
                  <a:srgbClr val="CCCCCC"/>
                </a:solidFill>
                <a:effectLst/>
                <a:latin typeface="Consolas" panose="020B0609020204030204" pitchFamily="49" charset="0"/>
              </a:rPr>
              <a:t> title </a:t>
            </a:r>
            <a:r>
              <a:rPr lang="en-US" sz="2200" b="0" dirty="0">
                <a:solidFill>
                  <a:srgbClr val="C586C0"/>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Character</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toUpperCase</a:t>
            </a:r>
            <a:r>
              <a:rPr lang="en-US" sz="2200" b="0" dirty="0">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title</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charAt</a:t>
            </a:r>
            <a:r>
              <a:rPr lang="en-US" sz="2200" b="0" dirty="0">
                <a:solidFill>
                  <a:srgbClr val="CCCCCC"/>
                </a:solidFill>
                <a:effectLst/>
                <a:latin typeface="Consolas" panose="020B0609020204030204" pitchFamily="49" charset="0"/>
              </a:rPr>
              <a:t>(</a:t>
            </a:r>
            <a:r>
              <a:rPr lang="en-US" sz="2200" b="0" dirty="0">
                <a:solidFill>
                  <a:srgbClr val="B5CEA8"/>
                </a:solidFill>
                <a:effectLst/>
                <a:latin typeface="Consolas" panose="020B0609020204030204" pitchFamily="49" charset="0"/>
              </a:rPr>
              <a:t>0</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title</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substring</a:t>
            </a:r>
            <a:r>
              <a:rPr lang="en-US" sz="2200" b="0" dirty="0">
                <a:solidFill>
                  <a:srgbClr val="CCCCCC"/>
                </a:solidFill>
                <a:effectLst/>
                <a:latin typeface="Consolas" panose="020B0609020204030204" pitchFamily="49" charset="0"/>
              </a:rPr>
              <a:t>(</a:t>
            </a:r>
            <a:r>
              <a:rPr lang="en-US" sz="2200" b="0" dirty="0">
                <a:solidFill>
                  <a:srgbClr val="B5CEA8"/>
                </a:solidFill>
                <a:effectLst/>
                <a:latin typeface="Consolas" panose="020B0609020204030204" pitchFamily="49" charset="0"/>
              </a:rPr>
              <a:t>1</a:t>
            </a:r>
            <a:r>
              <a:rPr lang="en-US" sz="22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928953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circle(in)">
                                      <p:cBhvr>
                                        <p:cTn id="7" dur="2000"/>
                                        <p:tgtEl>
                                          <p:spTgt spid="10"/>
                                        </p:tgtEl>
                                      </p:cBhvr>
                                    </p:animEffect>
                                  </p:childTnLst>
                                </p:cTn>
                              </p:par>
                              <p:par>
                                <p:cTn id="8" presetID="6" presetClass="entr" presetSubtype="16"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circle(in)">
                                      <p:cBhvr>
                                        <p:cTn id="10"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13"/>
                </p:tgtEl>
              </p:cMediaNode>
            </p:video>
          </p:childTnLst>
        </p:cTn>
      </p:par>
    </p:tnLst>
    <p:bldLst>
      <p:bldP spid="10" grpId="0" animBg="1"/>
      <p:bldP spid="15"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2DF25-74D5-6826-EB6F-161357B8FEC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B9DB864-F051-AC0A-9FEF-C72B59528246}"/>
              </a:ext>
            </a:extLst>
          </p:cNvPr>
          <p:cNvSpPr>
            <a:spLocks noGrp="1"/>
          </p:cNvSpPr>
          <p:nvPr>
            <p:ph type="title"/>
          </p:nvPr>
        </p:nvSpPr>
        <p:spPr>
          <a:xfrm>
            <a:off x="0" y="0"/>
            <a:ext cx="12192000" cy="653428"/>
          </a:xfrm>
        </p:spPr>
        <p:txBody>
          <a:bodyPr anchor="b">
            <a:normAutofit fontScale="90000"/>
          </a:bodyPr>
          <a:lstStyle/>
          <a:p>
            <a:r>
              <a:rPr lang="en-US" sz="3600" b="1" dirty="0"/>
              <a:t>Activity 10 — Warn on duplicate ISBN when adding to the library</a:t>
            </a:r>
            <a:endParaRPr lang="en-AU" sz="3600" b="1" dirty="0">
              <a:latin typeface="Calibir"/>
            </a:endParaRPr>
          </a:p>
        </p:txBody>
      </p:sp>
      <p:sp>
        <p:nvSpPr>
          <p:cNvPr id="2" name="Rectangle 1">
            <a:extLst>
              <a:ext uri="{FF2B5EF4-FFF2-40B4-BE49-F238E27FC236}">
                <a16:creationId xmlns:a16="http://schemas.microsoft.com/office/drawing/2014/main" id="{78D1F5CA-ADC3-5338-9BB7-B274764E80B4}"/>
              </a:ext>
            </a:extLst>
          </p:cNvPr>
          <p:cNvSpPr>
            <a:spLocks noChangeArrowheads="1"/>
          </p:cNvSpPr>
          <p:nvPr/>
        </p:nvSpPr>
        <p:spPr bwMode="auto">
          <a:xfrm>
            <a:off x="0" y="653427"/>
            <a:ext cx="12192000"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Task:</a:t>
            </a:r>
            <a:r>
              <a:rPr lang="en-US" sz="2800" dirty="0">
                <a:latin typeface="Calibir"/>
              </a:rPr>
              <a:t> If a book with the </a:t>
            </a:r>
            <a:r>
              <a:rPr lang="en-US" sz="2800" b="1" dirty="0">
                <a:latin typeface="Calibir"/>
              </a:rPr>
              <a:t>same ISBN</a:t>
            </a:r>
            <a:r>
              <a:rPr lang="en-US" sz="2800" dirty="0">
                <a:latin typeface="Calibir"/>
              </a:rPr>
              <a:t> already exists in the library, </a:t>
            </a:r>
            <a:r>
              <a:rPr lang="en-US" sz="2800" b="1" dirty="0">
                <a:latin typeface="Calibir"/>
              </a:rPr>
              <a:t>print a warning</a:t>
            </a:r>
            <a:r>
              <a:rPr lang="en-US" sz="2800" dirty="0">
                <a:latin typeface="Calibir"/>
              </a:rPr>
              <a:t> (still add it).</a:t>
            </a:r>
            <a:endParaRPr lang="en-US" altLang="en-US" sz="2800" dirty="0">
              <a:latin typeface="Calibir"/>
            </a:endParaRPr>
          </a:p>
        </p:txBody>
      </p:sp>
      <p:pic>
        <p:nvPicPr>
          <p:cNvPr id="13" name="Timer">
            <a:hlinkClick r:id="" action="ppaction://media"/>
            <a:extLst>
              <a:ext uri="{FF2B5EF4-FFF2-40B4-BE49-F238E27FC236}">
                <a16:creationId xmlns:a16="http://schemas.microsoft.com/office/drawing/2014/main" id="{E86ADEB7-5C66-FDD5-F8C1-0ABB180F33B1}"/>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993" r="40597" b="42149"/>
          <a:stretch>
            <a:fillRect/>
          </a:stretch>
        </p:blipFill>
        <p:spPr>
          <a:xfrm>
            <a:off x="5093108" y="1767611"/>
            <a:ext cx="2271253" cy="881720"/>
          </a:xfrm>
          <a:prstGeom prst="rect">
            <a:avLst/>
          </a:prstGeom>
          <a:ln w="38100">
            <a:solidFill>
              <a:srgbClr val="FF0000"/>
            </a:solidFill>
          </a:ln>
        </p:spPr>
      </p:pic>
      <p:sp>
        <p:nvSpPr>
          <p:cNvPr id="4" name="Rectangle 1">
            <a:extLst>
              <a:ext uri="{FF2B5EF4-FFF2-40B4-BE49-F238E27FC236}">
                <a16:creationId xmlns:a16="http://schemas.microsoft.com/office/drawing/2014/main" id="{A9E75625-8163-589D-16E3-5982C99A5FEA}"/>
              </a:ext>
            </a:extLst>
          </p:cNvPr>
          <p:cNvSpPr>
            <a:spLocks noChangeArrowheads="1"/>
          </p:cNvSpPr>
          <p:nvPr/>
        </p:nvSpPr>
        <p:spPr bwMode="auto">
          <a:xfrm>
            <a:off x="0" y="2911459"/>
            <a:ext cx="121920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en-US" altLang="en-US" sz="2800" b="1" dirty="0">
                <a:latin typeface="Calibir"/>
              </a:rPr>
              <a:t>Python — Hint:</a:t>
            </a:r>
            <a:r>
              <a:rPr lang="en-US" altLang="en-US" sz="2800" dirty="0">
                <a:latin typeface="Calibir"/>
              </a:rPr>
              <a:t> In </a:t>
            </a:r>
            <a:r>
              <a:rPr lang="en-US" altLang="en-US" sz="2800" dirty="0" err="1">
                <a:latin typeface="Calibir"/>
              </a:rPr>
              <a:t>Library.add_book</a:t>
            </a:r>
            <a:r>
              <a:rPr lang="en-US" altLang="en-US" sz="2800" dirty="0">
                <a:latin typeface="Calibir"/>
              </a:rPr>
              <a:t>(), at the </a:t>
            </a:r>
            <a:r>
              <a:rPr lang="en-US" altLang="en-US" sz="2800" b="1" dirty="0">
                <a:latin typeface="Calibir"/>
              </a:rPr>
              <a:t>very top</a:t>
            </a:r>
            <a:r>
              <a:rPr lang="en-US" altLang="en-US" sz="2800" dirty="0">
                <a:latin typeface="Calibir"/>
              </a:rPr>
              <a:t> of the method, </a:t>
            </a:r>
            <a:r>
              <a:rPr lang="en-US" altLang="en-US" sz="2800" b="1" dirty="0">
                <a:latin typeface="Calibir"/>
              </a:rPr>
              <a:t>add one line</a:t>
            </a:r>
            <a:r>
              <a:rPr lang="en-US" altLang="en-US" sz="2800" dirty="0">
                <a:latin typeface="Calibir"/>
              </a:rPr>
              <a:t>. </a:t>
            </a:r>
          </a:p>
        </p:txBody>
      </p:sp>
      <p:sp>
        <p:nvSpPr>
          <p:cNvPr id="7" name="Rectangle 2">
            <a:extLst>
              <a:ext uri="{FF2B5EF4-FFF2-40B4-BE49-F238E27FC236}">
                <a16:creationId xmlns:a16="http://schemas.microsoft.com/office/drawing/2014/main" id="{31161A6E-7F50-CC60-C93B-9C7A2AD4E717}"/>
              </a:ext>
            </a:extLst>
          </p:cNvPr>
          <p:cNvSpPr>
            <a:spLocks noChangeArrowheads="1"/>
          </p:cNvSpPr>
          <p:nvPr/>
        </p:nvSpPr>
        <p:spPr bwMode="auto">
          <a:xfrm>
            <a:off x="-1" y="4286227"/>
            <a:ext cx="12192000"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Java — Hint:</a:t>
            </a:r>
            <a:r>
              <a:rPr lang="en-US" altLang="en-US" sz="2800" dirty="0">
                <a:latin typeface="Calibir"/>
              </a:rPr>
              <a:t> In </a:t>
            </a:r>
            <a:r>
              <a:rPr lang="en-US" altLang="en-US" sz="2800" dirty="0" err="1">
                <a:latin typeface="Calibir"/>
              </a:rPr>
              <a:t>Library.addBook</a:t>
            </a:r>
            <a:r>
              <a:rPr lang="en-US" altLang="en-US" sz="2800" dirty="0">
                <a:latin typeface="Calibir"/>
              </a:rPr>
              <a:t>(Book book), at the </a:t>
            </a:r>
            <a:r>
              <a:rPr lang="en-US" altLang="en-US" sz="2800" b="1" dirty="0">
                <a:latin typeface="Calibir"/>
              </a:rPr>
              <a:t>very top</a:t>
            </a:r>
            <a:r>
              <a:rPr lang="en-US" altLang="en-US" sz="2800" dirty="0">
                <a:latin typeface="Calibir"/>
              </a:rPr>
              <a:t> of the method, </a:t>
            </a:r>
            <a:r>
              <a:rPr lang="en-US" altLang="en-US" sz="2800" b="1" dirty="0">
                <a:latin typeface="Calibir"/>
              </a:rPr>
              <a:t>add one line</a:t>
            </a:r>
            <a:r>
              <a:rPr lang="en-US" altLang="en-US" sz="2800" dirty="0">
                <a:latin typeface="Calibir"/>
              </a:rPr>
              <a:t>. </a:t>
            </a:r>
          </a:p>
        </p:txBody>
      </p:sp>
      <p:sp>
        <p:nvSpPr>
          <p:cNvPr id="6" name="TextBox 5">
            <a:extLst>
              <a:ext uri="{FF2B5EF4-FFF2-40B4-BE49-F238E27FC236}">
                <a16:creationId xmlns:a16="http://schemas.microsoft.com/office/drawing/2014/main" id="{A56E1D86-07C1-2EA8-1518-4513BF675ABB}"/>
              </a:ext>
            </a:extLst>
          </p:cNvPr>
          <p:cNvSpPr txBox="1"/>
          <p:nvPr/>
        </p:nvSpPr>
        <p:spPr>
          <a:xfrm>
            <a:off x="0" y="3655739"/>
            <a:ext cx="12191999" cy="646331"/>
          </a:xfrm>
          <a:prstGeom prst="rect">
            <a:avLst/>
          </a:prstGeom>
          <a:solidFill>
            <a:schemeClr val="tx1"/>
          </a:solidFill>
        </p:spPr>
        <p:txBody>
          <a:bodyPr wrap="square">
            <a:spAutoFit/>
          </a:bodyPr>
          <a:lstStyle/>
          <a:p>
            <a:pPr>
              <a:buNone/>
            </a:pPr>
            <a:r>
              <a:rPr lang="en-US" b="0" dirty="0">
                <a:solidFill>
                  <a:srgbClr val="C586C0"/>
                </a:solidFill>
                <a:effectLst/>
                <a:latin typeface="Consolas" panose="020B0609020204030204" pitchFamily="49" charset="0"/>
              </a:rPr>
              <a:t>if</a:t>
            </a:r>
            <a:r>
              <a:rPr lang="en-US" b="0" dirty="0">
                <a:solidFill>
                  <a:srgbClr val="CCCCCC"/>
                </a:solidFill>
                <a:effectLst/>
                <a:latin typeface="Consolas" panose="020B0609020204030204" pitchFamily="49" charset="0"/>
              </a:rPr>
              <a:t> </a:t>
            </a:r>
            <a:r>
              <a:rPr lang="en-US" b="0" dirty="0">
                <a:solidFill>
                  <a:srgbClr val="DCDCAA"/>
                </a:solidFill>
                <a:effectLst/>
                <a:latin typeface="Consolas" panose="020B0609020204030204" pitchFamily="49" charset="0"/>
              </a:rPr>
              <a:t>any</a:t>
            </a:r>
            <a:r>
              <a:rPr lang="en-US" b="0" dirty="0">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b</a:t>
            </a:r>
            <a:r>
              <a:rPr lang="en-US" b="0" dirty="0" err="1">
                <a:solidFill>
                  <a:srgbClr val="CCCCCC"/>
                </a:solidFill>
                <a:effectLst/>
                <a:latin typeface="Consolas" panose="020B0609020204030204" pitchFamily="49" charset="0"/>
              </a:rPr>
              <a:t>.isbn</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CCCCCC"/>
                </a:solidFill>
                <a:effectLst/>
                <a:latin typeface="Consolas" panose="020B0609020204030204" pitchFamily="49" charset="0"/>
              </a:rPr>
              <a:t>book.isbn</a:t>
            </a:r>
            <a:r>
              <a:rPr lang="en-US" b="0" dirty="0">
                <a:solidFill>
                  <a:srgbClr val="CCCCCC"/>
                </a:solidFill>
                <a:effectLst/>
                <a:latin typeface="Consolas" panose="020B0609020204030204" pitchFamily="49" charset="0"/>
              </a:rPr>
              <a:t> </a:t>
            </a:r>
            <a:r>
              <a:rPr lang="en-US" b="0" dirty="0">
                <a:solidFill>
                  <a:srgbClr val="C586C0"/>
                </a:solidFill>
                <a:effectLst/>
                <a:latin typeface="Consolas" panose="020B0609020204030204" pitchFamily="49" charset="0"/>
              </a:rPr>
              <a:t>for</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b</a:t>
            </a:r>
            <a:r>
              <a:rPr lang="en-US" b="0" dirty="0">
                <a:solidFill>
                  <a:srgbClr val="CCCCCC"/>
                </a:solidFill>
                <a:effectLst/>
                <a:latin typeface="Consolas" panose="020B0609020204030204" pitchFamily="49" charset="0"/>
              </a:rPr>
              <a:t> </a:t>
            </a:r>
            <a:r>
              <a:rPr lang="en-US" b="0" dirty="0">
                <a:solidFill>
                  <a:srgbClr val="C586C0"/>
                </a:solidFill>
                <a:effectLst/>
                <a:latin typeface="Consolas" panose="020B0609020204030204" pitchFamily="49" charset="0"/>
              </a:rPr>
              <a:t>in</a:t>
            </a:r>
            <a:r>
              <a:rPr lang="en-US" b="0" dirty="0">
                <a:solidFill>
                  <a:srgbClr val="CCCCCC"/>
                </a:solidFill>
                <a:effectLst/>
                <a:latin typeface="Consolas" panose="020B0609020204030204" pitchFamily="49" charset="0"/>
              </a:rPr>
              <a:t> </a:t>
            </a:r>
            <a:r>
              <a:rPr lang="en-US" b="0" dirty="0" err="1">
                <a:solidFill>
                  <a:srgbClr val="569CD6"/>
                </a:solidFill>
                <a:effectLst/>
                <a:latin typeface="Consolas" panose="020B0609020204030204" pitchFamily="49" charset="0"/>
              </a:rPr>
              <a:t>self</a:t>
            </a:r>
            <a:r>
              <a:rPr lang="en-US" b="0" dirty="0" err="1">
                <a:solidFill>
                  <a:srgbClr val="CCCCCC"/>
                </a:solidFill>
                <a:effectLst/>
                <a:latin typeface="Consolas" panose="020B0609020204030204" pitchFamily="49" charset="0"/>
              </a:rPr>
              <a:t>.books</a:t>
            </a:r>
            <a:r>
              <a:rPr lang="en-US" b="0" dirty="0">
                <a:solidFill>
                  <a:srgbClr val="CCCCCC"/>
                </a:solidFill>
                <a:effectLst/>
                <a:latin typeface="Consolas" panose="020B0609020204030204" pitchFamily="49" charset="0"/>
              </a:rPr>
              <a:t>): </a:t>
            </a:r>
            <a:r>
              <a:rPr lang="en-US" b="0" dirty="0">
                <a:solidFill>
                  <a:srgbClr val="DCDCAA"/>
                </a:solidFill>
                <a:effectLst/>
                <a:latin typeface="Consolas" panose="020B0609020204030204" pitchFamily="49" charset="0"/>
              </a:rPr>
              <a:t>print</a:t>
            </a:r>
            <a:r>
              <a:rPr lang="en-US" b="0" dirty="0">
                <a:solidFill>
                  <a:srgbClr val="CCCCCC"/>
                </a:solidFill>
                <a:effectLst/>
                <a:latin typeface="Consolas" panose="020B0609020204030204" pitchFamily="49" charset="0"/>
              </a:rPr>
              <a:t>(</a:t>
            </a:r>
            <a:r>
              <a:rPr lang="en-US" b="0" dirty="0" err="1">
                <a:solidFill>
                  <a:srgbClr val="569CD6"/>
                </a:solidFill>
                <a:effectLst/>
                <a:latin typeface="Consolas" panose="020B0609020204030204" pitchFamily="49" charset="0"/>
              </a:rPr>
              <a:t>f</a:t>
            </a:r>
            <a:r>
              <a:rPr lang="en-US" b="0" dirty="0" err="1">
                <a:solidFill>
                  <a:srgbClr val="CE9178"/>
                </a:solidFill>
                <a:effectLst/>
                <a:latin typeface="Consolas" panose="020B0609020204030204" pitchFamily="49" charset="0"/>
              </a:rPr>
              <a:t>"Warning</a:t>
            </a:r>
            <a:r>
              <a:rPr lang="en-US" b="0" dirty="0">
                <a:solidFill>
                  <a:srgbClr val="CE9178"/>
                </a:solidFill>
                <a:effectLst/>
                <a:latin typeface="Consolas" panose="020B0609020204030204" pitchFamily="49" charset="0"/>
              </a:rPr>
              <a:t>: ISBN </a:t>
            </a:r>
            <a:r>
              <a:rPr lang="en-US" b="0" dirty="0">
                <a:solidFill>
                  <a:srgbClr val="569CD6"/>
                </a:solidFill>
                <a:effectLst/>
                <a:latin typeface="Consolas" panose="020B0609020204030204" pitchFamily="49" charset="0"/>
              </a:rPr>
              <a:t>{</a:t>
            </a:r>
            <a:r>
              <a:rPr lang="en-US" b="0" dirty="0" err="1">
                <a:solidFill>
                  <a:srgbClr val="CCCCCC"/>
                </a:solidFill>
                <a:effectLst/>
                <a:latin typeface="Consolas" panose="020B0609020204030204" pitchFamily="49" charset="0"/>
              </a:rPr>
              <a:t>book.isbn</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 already exists."</a:t>
            </a:r>
            <a:r>
              <a:rPr lang="en-US" b="0" dirty="0">
                <a:solidFill>
                  <a:srgbClr val="CCCCCC"/>
                </a:solidFill>
                <a:effectLst/>
                <a:latin typeface="Consolas" panose="020B0609020204030204" pitchFamily="49" charset="0"/>
              </a:rPr>
              <a:t>)</a:t>
            </a:r>
          </a:p>
        </p:txBody>
      </p:sp>
      <p:sp>
        <p:nvSpPr>
          <p:cNvPr id="12" name="TextBox 11">
            <a:extLst>
              <a:ext uri="{FF2B5EF4-FFF2-40B4-BE49-F238E27FC236}">
                <a16:creationId xmlns:a16="http://schemas.microsoft.com/office/drawing/2014/main" id="{43D36051-E521-5083-4D67-C4D986EBFAB2}"/>
              </a:ext>
            </a:extLst>
          </p:cNvPr>
          <p:cNvSpPr txBox="1"/>
          <p:nvPr/>
        </p:nvSpPr>
        <p:spPr>
          <a:xfrm>
            <a:off x="1" y="5635799"/>
            <a:ext cx="12191999" cy="646331"/>
          </a:xfrm>
          <a:prstGeom prst="rect">
            <a:avLst/>
          </a:prstGeom>
          <a:solidFill>
            <a:schemeClr val="tx1"/>
          </a:solidFill>
        </p:spPr>
        <p:txBody>
          <a:bodyPr wrap="square">
            <a:spAutoFit/>
          </a:bodyPr>
          <a:lstStyle/>
          <a:p>
            <a:pPr>
              <a:buNone/>
            </a:pPr>
            <a:r>
              <a:rPr lang="en-US" b="0" dirty="0">
                <a:solidFill>
                  <a:srgbClr val="C586C0"/>
                </a:solidFill>
                <a:effectLst/>
                <a:latin typeface="Consolas" panose="020B0609020204030204" pitchFamily="49" charset="0"/>
              </a:rPr>
              <a:t>if</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books</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stream</a:t>
            </a:r>
            <a:r>
              <a:rPr lang="en-US" b="0" dirty="0">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anyMatch</a:t>
            </a:r>
            <a:r>
              <a:rPr lang="en-US" b="0" dirty="0">
                <a:solidFill>
                  <a:srgbClr val="CCCCCC"/>
                </a:solidFill>
                <a:effectLst/>
                <a:latin typeface="Consolas" panose="020B0609020204030204" pitchFamily="49" charset="0"/>
              </a:rPr>
              <a:t>(b </a:t>
            </a:r>
            <a:r>
              <a:rPr lang="en-US" b="0" dirty="0">
                <a:solidFill>
                  <a:srgbClr val="569CD6"/>
                </a:solidFill>
                <a:effectLst/>
                <a:latin typeface="Consolas" panose="020B0609020204030204" pitchFamily="49" charset="0"/>
              </a:rPr>
              <a:t>-&gt;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isbn</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equals</a:t>
            </a:r>
            <a:r>
              <a:rPr lang="en-US" b="0" dirty="0">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book</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isbn</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System</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out</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println</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"Warning: ISBN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book</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isbn</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already exists."</a:t>
            </a:r>
            <a:r>
              <a:rPr lang="en-US"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334341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anim calcmode="lin" valueType="num">
                                      <p:cBhvr>
                                        <p:cTn id="13" dur="1000" fill="hold"/>
                                        <p:tgtEl>
                                          <p:spTgt spid="12"/>
                                        </p:tgtEl>
                                        <p:attrNameLst>
                                          <p:attrName>ppt_x</p:attrName>
                                        </p:attrNameLst>
                                      </p:cBhvr>
                                      <p:tavLst>
                                        <p:tav tm="0">
                                          <p:val>
                                            <p:strVal val="#ppt_x"/>
                                          </p:val>
                                        </p:tav>
                                        <p:tav tm="100000">
                                          <p:val>
                                            <p:strVal val="#ppt_x"/>
                                          </p:val>
                                        </p:tav>
                                      </p:tavLst>
                                    </p:anim>
                                    <p:anim calcmode="lin" valueType="num">
                                      <p:cBhvr>
                                        <p:cTn id="14"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video>
              <p:cMediaNode vol="80000">
                <p:cTn id="15" fill="hold" display="0">
                  <p:stCondLst>
                    <p:cond delay="indefinite"/>
                  </p:stCondLst>
                </p:cTn>
                <p:tgtEl>
                  <p:spTgt spid="13"/>
                </p:tgtEl>
              </p:cMediaNode>
            </p:video>
          </p:childTnLst>
        </p:cTn>
      </p:par>
    </p:tnLst>
    <p:bldLst>
      <p:bldP spid="6" grpId="0" animBg="1"/>
      <p:bldP spid="12"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2DF25-74D5-6826-EB6F-161357B8FEC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B9DB864-F051-AC0A-9FEF-C72B59528246}"/>
              </a:ext>
            </a:extLst>
          </p:cNvPr>
          <p:cNvSpPr>
            <a:spLocks noGrp="1"/>
          </p:cNvSpPr>
          <p:nvPr>
            <p:ph type="title"/>
          </p:nvPr>
        </p:nvSpPr>
        <p:spPr>
          <a:xfrm>
            <a:off x="0" y="0"/>
            <a:ext cx="12192000" cy="653428"/>
          </a:xfrm>
        </p:spPr>
        <p:txBody>
          <a:bodyPr anchor="b">
            <a:normAutofit/>
          </a:bodyPr>
          <a:lstStyle/>
          <a:p>
            <a:r>
              <a:rPr lang="en-US" sz="3600" b="1" dirty="0"/>
              <a:t>Reference Note for Students</a:t>
            </a:r>
            <a:endParaRPr lang="en-AU" sz="3600" b="1" dirty="0">
              <a:latin typeface="Calibir"/>
            </a:endParaRPr>
          </a:p>
        </p:txBody>
      </p:sp>
      <p:sp>
        <p:nvSpPr>
          <p:cNvPr id="5" name="TextBox 4">
            <a:extLst>
              <a:ext uri="{FF2B5EF4-FFF2-40B4-BE49-F238E27FC236}">
                <a16:creationId xmlns:a16="http://schemas.microsoft.com/office/drawing/2014/main" id="{B16CA4C2-BCCC-2D6B-3331-1123316546C4}"/>
              </a:ext>
            </a:extLst>
          </p:cNvPr>
          <p:cNvSpPr txBox="1"/>
          <p:nvPr/>
        </p:nvSpPr>
        <p:spPr>
          <a:xfrm>
            <a:off x="0" y="1303283"/>
            <a:ext cx="12002814" cy="4549835"/>
          </a:xfrm>
          <a:prstGeom prst="rect">
            <a:avLst/>
          </a:prstGeom>
          <a:noFill/>
        </p:spPr>
        <p:txBody>
          <a:bodyPr wrap="square">
            <a:spAutoFit/>
          </a:bodyPr>
          <a:lstStyle/>
          <a:p>
            <a:pPr>
              <a:lnSpc>
                <a:spcPct val="150000"/>
              </a:lnSpc>
              <a:buNone/>
            </a:pPr>
            <a:r>
              <a:rPr lang="en-US" sz="2800" dirty="0">
                <a:latin typeface="Calibir"/>
              </a:rPr>
              <a:t>The main reference for this assignment is the official instructions provided on Canvas:</a:t>
            </a:r>
            <a:br>
              <a:rPr lang="en-US" sz="2800" dirty="0">
                <a:latin typeface="Calibir"/>
              </a:rPr>
            </a:br>
            <a:r>
              <a:rPr lang="en-US" sz="2800" dirty="0">
                <a:latin typeface="Calibir"/>
                <a:hlinkClick r:id="rId2"/>
              </a:rPr>
              <a:t>Assignments – Part 1: Analysis and Design</a:t>
            </a:r>
            <a:endParaRPr lang="en-US" sz="2800" dirty="0">
              <a:latin typeface="Calibir"/>
            </a:endParaRPr>
          </a:p>
          <a:p>
            <a:pPr>
              <a:lnSpc>
                <a:spcPct val="150000"/>
              </a:lnSpc>
              <a:buNone/>
            </a:pPr>
            <a:r>
              <a:rPr lang="en-US" sz="2800" dirty="0">
                <a:latin typeface="Calibir"/>
              </a:rPr>
              <a:t>This PowerPoint is designed to guide you and clarify the task where things might feel confusing.</a:t>
            </a:r>
            <a:br>
              <a:rPr lang="en-US" sz="2800" dirty="0">
                <a:latin typeface="Calibir"/>
              </a:rPr>
            </a:br>
            <a:r>
              <a:rPr lang="en-US" sz="2800" dirty="0">
                <a:latin typeface="Calibir"/>
              </a:rPr>
              <a:t>If you are ever unsure, please always go back to the official Canvas instructions as the source of truth.</a:t>
            </a:r>
          </a:p>
        </p:txBody>
      </p:sp>
    </p:spTree>
    <p:extLst>
      <p:ext uri="{BB962C8B-B14F-4D97-AF65-F5344CB8AC3E}">
        <p14:creationId xmlns:p14="http://schemas.microsoft.com/office/powerpoint/2010/main" val="261477970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9" name="Oval 38">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41"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4" cy="6651523"/>
          </a:xfrm>
          <a:prstGeom prst="rect">
            <a:avLst/>
          </a:prstGeom>
        </p:spPr>
        <p:txBody>
          <a:bodyPr vert="horz" lIns="91440" tIns="45720" rIns="91440" bIns="45720" rtlCol="0" anchor="t">
            <a:noAutofit/>
          </a:bodyPr>
          <a:lstStyle/>
          <a:p>
            <a:pPr marL="0" marR="0" lvl="0" indent="0" algn="l" defTabSz="914400" rtl="0" eaLnBrk="1" fontAlgn="auto" latinLnBrk="0" hangingPunct="1">
              <a:lnSpc>
                <a:spcPct val="150000"/>
              </a:lnSpc>
              <a:spcBef>
                <a:spcPts val="0"/>
              </a:spcBef>
              <a:spcAft>
                <a:spcPts val="60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228600" algn="l" defTabSz="914400" rtl="0" eaLnBrk="1" fontAlgn="auto" latinLnBrk="0" hangingPunct="1">
              <a:lnSpc>
                <a:spcPct val="150000"/>
              </a:lnSpc>
              <a:spcBef>
                <a:spcPts val="0"/>
              </a:spcBef>
              <a:spcAft>
                <a:spcPts val="60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
        <p:nvSpPr>
          <p:cNvPr id="45"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47"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08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1614</TotalTime>
  <Words>7634</Words>
  <Application>Microsoft Office PowerPoint</Application>
  <PresentationFormat>Widescreen</PresentationFormat>
  <Paragraphs>881</Paragraphs>
  <Slides>88</Slides>
  <Notes>0</Notes>
  <HiddenSlides>0</HiddenSlides>
  <MMClips>10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88</vt:i4>
      </vt:variant>
    </vt:vector>
  </HeadingPairs>
  <TitlesOfParts>
    <vt:vector size="97" baseType="lpstr">
      <vt:lpstr>Aptos</vt:lpstr>
      <vt:lpstr>Aptos Display</vt:lpstr>
      <vt:lpstr>Arial</vt:lpstr>
      <vt:lpstr>Calibir</vt:lpstr>
      <vt:lpstr>Calibri</vt:lpstr>
      <vt:lpstr>Calibri Light</vt:lpstr>
      <vt:lpstr>Consolas</vt:lpstr>
      <vt:lpstr>Office Theme</vt:lpstr>
      <vt:lpstr>1_Office Theme</vt:lpstr>
      <vt:lpstr>Introduction to Software Engineering (ISE102) Tutorial Week 5</vt:lpstr>
      <vt:lpstr>Week 5 Outline</vt:lpstr>
      <vt:lpstr>Week 5 Outline</vt:lpstr>
      <vt:lpstr>Have you formed your group?</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PowerPoint Presentation</vt:lpstr>
      <vt:lpstr>PowerPoint Presentation</vt:lpstr>
      <vt:lpstr>Preparation for Group Assignment – Part 1: Analysis and Design</vt:lpstr>
      <vt:lpstr>Preparation for Group Assignment – Part 1: Analysis and Design</vt:lpstr>
      <vt:lpstr>PowerPoint Presentation</vt:lpstr>
      <vt:lpstr>PowerPoint Presentation</vt:lpstr>
      <vt:lpstr>Preparation for Group Assignment – Part 1: Analysis and Design</vt:lpstr>
      <vt:lpstr>Preparation for Group Assignment – Part 1: Analysis and Design</vt:lpstr>
      <vt:lpstr>PowerPoint Presentation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PowerPoint Presentation</vt:lpstr>
      <vt:lpstr>Class Diagram Practice</vt:lpstr>
      <vt:lpstr>Class Diagram Practice</vt:lpstr>
      <vt:lpstr>Class Diagram Practice</vt:lpstr>
      <vt:lpstr>Class Diagram Practice</vt:lpstr>
      <vt:lpstr>Class Diagram Practice</vt:lpstr>
      <vt:lpstr>Class Diagram Practice</vt:lpstr>
      <vt:lpstr>Class Diagram Practice</vt:lpstr>
      <vt:lpstr>Class Diagram Practice</vt:lpstr>
      <vt:lpstr>Class Diagram Practice</vt:lpstr>
      <vt:lpstr>From UML Diagram to Code: Library Example (Java)</vt:lpstr>
      <vt:lpstr>From UML Diagram to Code: Library Example (Java)</vt:lpstr>
      <vt:lpstr>From UML Diagram to Code: Library Example (Java)</vt:lpstr>
      <vt:lpstr>From UML Diagram to Code: Library Example (Java)</vt:lpstr>
      <vt:lpstr>From UML Diagram to Code: Library Example (Java)</vt:lpstr>
      <vt:lpstr>From UML Diagram to Code: Library Example (Java)</vt:lpstr>
      <vt:lpstr>From UML Diagram to Code: Library Example (Java)</vt:lpstr>
      <vt:lpstr>From UML Diagram to Code: Library Example (Java)</vt:lpstr>
      <vt:lpstr>From UML Diagram to Code: Library Example (Python)</vt:lpstr>
      <vt:lpstr>From UML Diagram to Code: Library Example (Python)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Activity 1 — Show the current count when limit blocks borrowing</vt:lpstr>
      <vt:lpstr>Activity 1 — Show the current count when limit blocks borrowing</vt:lpstr>
      <vt:lpstr>Activity 1 — Show the current count when limit blocks borrowing</vt:lpstr>
      <vt:lpstr>Activity 2 — Show total borrowed after a successful borrow</vt:lpstr>
      <vt:lpstr>Activity 2 — Show total borrowed after a successful borrow</vt:lpstr>
      <vt:lpstr>Activity 2 — Show total borrowed after a successful borrow</vt:lpstr>
      <vt:lpstr>Activity 3 — Show remaining count after a successful return</vt:lpstr>
      <vt:lpstr>Activity 3 — Show remaining count after a successful return</vt:lpstr>
      <vt:lpstr>Activity 3 — Show remaining count after a successful return</vt:lpstr>
      <vt:lpstr>Activity 4 — Track how many times a book has ever been borrowed</vt:lpstr>
      <vt:lpstr>Activity 4 — Track how many times a book has ever been borrowed</vt:lpstr>
      <vt:lpstr>Activity 4 — Track how many times a book has ever been borrowed</vt:lpstr>
      <vt:lpstr>PowerPoint Presentation</vt:lpstr>
      <vt:lpstr>PowerPoint Presentation</vt:lpstr>
      <vt:lpstr>PowerPoint Presentation</vt:lpstr>
      <vt:lpstr>Activity 5 — Show who already has the book</vt:lpstr>
      <vt:lpstr>Activity 5 — Show who already has the book</vt:lpstr>
      <vt:lpstr>Activity 6 — Show remaining slots after a successful borrow</vt:lpstr>
      <vt:lpstr>Activity 7 — When returning a book you don’t have, show who actually has it</vt:lpstr>
      <vt:lpstr>Activity 8 — Simple email sanity check on member creation</vt:lpstr>
      <vt:lpstr>Activity 9 — Tidy book titles on creation</vt:lpstr>
      <vt:lpstr>Activity 10 — Warn on duplicate ISBN when adding to the library</vt:lpstr>
      <vt:lpstr>Reference Note for Students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490</cp:revision>
  <dcterms:created xsi:type="dcterms:W3CDTF">2025-07-28T16:39:25Z</dcterms:created>
  <dcterms:modified xsi:type="dcterms:W3CDTF">2025-09-08T11:23:25Z</dcterms:modified>
</cp:coreProperties>
</file>