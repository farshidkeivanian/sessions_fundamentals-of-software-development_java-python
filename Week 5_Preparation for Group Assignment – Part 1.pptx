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2"/>
  </p:notesMasterIdLst>
  <p:sldIdLst>
    <p:sldId id="256" r:id="rId3"/>
    <p:sldId id="2467" r:id="rId4"/>
    <p:sldId id="2731" r:id="rId5"/>
    <p:sldId id="2634" r:id="rId6"/>
    <p:sldId id="2592" r:id="rId7"/>
    <p:sldId id="2635" r:id="rId8"/>
    <p:sldId id="2637" r:id="rId9"/>
    <p:sldId id="2636" r:id="rId10"/>
    <p:sldId id="2640" r:id="rId11"/>
    <p:sldId id="2638" r:id="rId12"/>
    <p:sldId id="2639" r:id="rId13"/>
    <p:sldId id="2641" r:id="rId14"/>
    <p:sldId id="2648" r:id="rId15"/>
    <p:sldId id="2650" r:id="rId16"/>
    <p:sldId id="2649" r:id="rId17"/>
    <p:sldId id="2651" r:id="rId18"/>
    <p:sldId id="2652" r:id="rId19"/>
    <p:sldId id="2653" r:id="rId20"/>
    <p:sldId id="2660" r:id="rId21"/>
    <p:sldId id="2661" r:id="rId22"/>
    <p:sldId id="2654" r:id="rId23"/>
    <p:sldId id="2655" r:id="rId24"/>
    <p:sldId id="2656" r:id="rId25"/>
    <p:sldId id="2657" r:id="rId26"/>
    <p:sldId id="2658" r:id="rId27"/>
    <p:sldId id="2659" r:id="rId28"/>
    <p:sldId id="2663" r:id="rId29"/>
    <p:sldId id="2664" r:id="rId30"/>
    <p:sldId id="2665" r:id="rId31"/>
    <p:sldId id="2666" r:id="rId32"/>
    <p:sldId id="2668" r:id="rId33"/>
    <p:sldId id="2669" r:id="rId34"/>
    <p:sldId id="2667" r:id="rId35"/>
    <p:sldId id="2672" r:id="rId36"/>
    <p:sldId id="2671" r:id="rId37"/>
    <p:sldId id="2673" r:id="rId38"/>
    <p:sldId id="2674" r:id="rId39"/>
    <p:sldId id="2693" r:id="rId40"/>
    <p:sldId id="2707" r:id="rId41"/>
    <p:sldId id="2708" r:id="rId42"/>
    <p:sldId id="2710" r:id="rId43"/>
    <p:sldId id="2711" r:id="rId44"/>
    <p:sldId id="2709" r:id="rId45"/>
    <p:sldId id="2712" r:id="rId46"/>
    <p:sldId id="2706" r:id="rId47"/>
    <p:sldId id="2675" r:id="rId48"/>
    <p:sldId id="2676" r:id="rId49"/>
    <p:sldId id="2680" r:id="rId50"/>
    <p:sldId id="2686" r:id="rId51"/>
    <p:sldId id="2681" r:id="rId52"/>
    <p:sldId id="2687" r:id="rId53"/>
    <p:sldId id="2682" r:id="rId54"/>
    <p:sldId id="2688" r:id="rId55"/>
    <p:sldId id="2683" r:id="rId56"/>
    <p:sldId id="2684" r:id="rId57"/>
    <p:sldId id="2678" r:id="rId58"/>
    <p:sldId id="2677" r:id="rId59"/>
    <p:sldId id="2689" r:id="rId60"/>
    <p:sldId id="2691" r:id="rId61"/>
    <p:sldId id="2692" r:id="rId62"/>
    <p:sldId id="2690" r:id="rId63"/>
    <p:sldId id="2685" r:id="rId64"/>
    <p:sldId id="2694" r:id="rId65"/>
    <p:sldId id="2695" r:id="rId66"/>
    <p:sldId id="2696" r:id="rId67"/>
    <p:sldId id="2697" r:id="rId68"/>
    <p:sldId id="2698" r:id="rId69"/>
    <p:sldId id="2713" r:id="rId70"/>
    <p:sldId id="2714" r:id="rId71"/>
    <p:sldId id="2700" r:id="rId72"/>
    <p:sldId id="2715" r:id="rId73"/>
    <p:sldId id="2716" r:id="rId74"/>
    <p:sldId id="2702" r:id="rId75"/>
    <p:sldId id="2717" r:id="rId76"/>
    <p:sldId id="2718" r:id="rId77"/>
    <p:sldId id="2703" r:id="rId78"/>
    <p:sldId id="2719" r:id="rId79"/>
    <p:sldId id="2720" r:id="rId80"/>
    <p:sldId id="2721" r:id="rId81"/>
    <p:sldId id="2722" r:id="rId82"/>
    <p:sldId id="2723" r:id="rId83"/>
    <p:sldId id="2724" r:id="rId84"/>
    <p:sldId id="2725" r:id="rId85"/>
    <p:sldId id="2726" r:id="rId86"/>
    <p:sldId id="2727" r:id="rId87"/>
    <p:sldId id="2728" r:id="rId88"/>
    <p:sldId id="2729" r:id="rId89"/>
    <p:sldId id="2730" r:id="rId90"/>
    <p:sldId id="749"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95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github.com/FarshidKeivanian/Sessions_Fundamentals-of-Software-Development_Java-Python/blob/main/LibrarySystem_Java_4Activity.java"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23.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5</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52554"/>
            <a:ext cx="12192000" cy="4791055"/>
          </a:xfrm>
          <a:prstGeom prst="rect">
            <a:avLst/>
          </a:prstGeom>
          <a:noFill/>
        </p:spPr>
        <p:txBody>
          <a:bodyPr wrap="square">
            <a:spAutoFit/>
          </a:bodyPr>
          <a:lstStyle/>
          <a:p>
            <a:pPr marL="51435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2800" dirty="0">
                <a:latin typeface="Calibir"/>
              </a:rPr>
              <a:t>Preparation for Group Assignment – Part 1: Analysis and Design</a:t>
            </a:r>
            <a:endParaRPr lang="en-US" sz="2800" kern="100" dirty="0">
              <a:latin typeface="Calibir"/>
              <a:ea typeface="Aptos" panose="020B0004020202020204" pitchFamily="34" charset="0"/>
              <a:cs typeface="Arial" panose="020B0604020202020204" pitchFamily="34" charset="0"/>
            </a:endParaRPr>
          </a:p>
          <a:p>
            <a:pPr marL="514350" lvl="0" indent="-514350">
              <a:spcAft>
                <a:spcPts val="800"/>
              </a:spcAft>
              <a:buFont typeface="+mj-lt"/>
              <a:buAutoNum type="arabicPeriod"/>
            </a:pPr>
            <a:r>
              <a:rPr lang="en-US" sz="2800" dirty="0">
                <a:latin typeface="Calibir"/>
              </a:rPr>
              <a:t>Class Diagram Practice</a:t>
            </a:r>
          </a:p>
          <a:p>
            <a:pPr marL="514350" lvl="0" indent="-514350">
              <a:spcAft>
                <a:spcPts val="800"/>
              </a:spcAft>
              <a:buFont typeface="+mj-lt"/>
              <a:buAutoNum type="arabicPeriod"/>
            </a:pPr>
            <a:r>
              <a:rPr lang="en-US" sz="2800" dirty="0">
                <a:latin typeface="Calibir"/>
              </a:rPr>
              <a:t>From UML Diagram to Code: Library Example (Java)</a:t>
            </a:r>
          </a:p>
          <a:p>
            <a:pPr marL="514350" lvl="0" indent="-514350">
              <a:spcAft>
                <a:spcPts val="800"/>
              </a:spcAft>
              <a:buFont typeface="+mj-lt"/>
              <a:buAutoNum type="arabicPeriod"/>
            </a:pPr>
            <a:r>
              <a:rPr lang="en-US" sz="2800" dirty="0">
                <a:latin typeface="Calibir"/>
              </a:rPr>
              <a:t>From UML Diagram to Code: Library Example (Python)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1 — Show the current count when limit blocks borrowing</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2 — Show total borrowed after a successful borrow</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3 — Show remaining count after a successful return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4 — Track how many times a book has ever been borrowed</a:t>
            </a: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D336-7811-427D-8BC8-6D419505E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80BBD-6520-1EA8-3BDC-4FB8E90E7817}"/>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881795D0-7D2C-4583-4731-403F6499812A}"/>
              </a:ext>
            </a:extLst>
          </p:cNvPr>
          <p:cNvSpPr txBox="1"/>
          <p:nvPr/>
        </p:nvSpPr>
        <p:spPr>
          <a:xfrm>
            <a:off x="0" y="852554"/>
            <a:ext cx="12192000" cy="3190617"/>
          </a:xfrm>
          <a:prstGeom prst="rect">
            <a:avLst/>
          </a:prstGeom>
          <a:noFill/>
        </p:spPr>
        <p:txBody>
          <a:bodyPr wrap="square">
            <a:spAutoFit/>
          </a:bodyPr>
          <a:lstStyle/>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5 — Show who already has the book</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6 — Show remaining slots after a successful borrow	</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7 — When returning a book you don’t have, show who actually has it</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8 — Simple email sanity check on member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9 — Tidy book titles on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10 — Warn on duplicate ISBN when adding to the library</a:t>
            </a:r>
          </a:p>
        </p:txBody>
      </p:sp>
    </p:spTree>
    <p:extLst>
      <p:ext uri="{BB962C8B-B14F-4D97-AF65-F5344CB8AC3E}">
        <p14:creationId xmlns:p14="http://schemas.microsoft.com/office/powerpoint/2010/main" val="3578222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CD4C78DA-EA34-3EF7-4935-1E6251F4954C}"/>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CC20B5C0-803C-5E96-374C-6D1E59E4C47A}"/>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2746331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pic>
        <p:nvPicPr>
          <p:cNvPr id="5" name="Picture 4">
            <a:extLst>
              <a:ext uri="{FF2B5EF4-FFF2-40B4-BE49-F238E27FC236}">
                <a16:creationId xmlns:a16="http://schemas.microsoft.com/office/drawing/2014/main" id="{E7724CD8-1155-AA17-E5F3-ADDFF0AD433C}"/>
              </a:ext>
            </a:extLst>
          </p:cNvPr>
          <p:cNvPicPr>
            <a:picLocks noChangeAspect="1"/>
          </p:cNvPicPr>
          <p:nvPr/>
        </p:nvPicPr>
        <p:blipFill>
          <a:blip r:embed="rId2"/>
          <a:srcRect t="8193" b="12491"/>
          <a:stretch>
            <a:fillRect/>
          </a:stretch>
        </p:blipFill>
        <p:spPr>
          <a:xfrm>
            <a:off x="0" y="969484"/>
            <a:ext cx="12192000" cy="5439547"/>
          </a:xfrm>
          <a:prstGeom prst="rect">
            <a:avLst/>
          </a:prstGeom>
        </p:spPr>
      </p:pic>
      <p:sp>
        <p:nvSpPr>
          <p:cNvPr id="3" name="Rectangle: Rounded Corners 2">
            <a:extLst>
              <a:ext uri="{FF2B5EF4-FFF2-40B4-BE49-F238E27FC236}">
                <a16:creationId xmlns:a16="http://schemas.microsoft.com/office/drawing/2014/main" id="{695FC13A-F487-7323-3178-CC771C2AB050}"/>
              </a:ext>
            </a:extLst>
          </p:cNvPr>
          <p:cNvSpPr/>
          <p:nvPr/>
        </p:nvSpPr>
        <p:spPr>
          <a:xfrm>
            <a:off x="2352907" y="3880624"/>
            <a:ext cx="5229922" cy="52410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73199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2067269"/>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General admin (read first)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Groups: 3–4 students. Self-assign by end of Week 5 (Canvas group tool or tell your tutor in labs).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Submission: One group file for Assessment 1 – Part 1 (PDF or DOCX) by Sunday of Week 7.</a:t>
            </a:r>
          </a:p>
        </p:txBody>
      </p:sp>
    </p:spTree>
    <p:extLst>
      <p:ext uri="{BB962C8B-B14F-4D97-AF65-F5344CB8AC3E}">
        <p14:creationId xmlns:p14="http://schemas.microsoft.com/office/powerpoint/2010/main" val="799984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3E0A-D96A-46B7-2EF9-BD7619A3B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B334C-BEB6-EDEB-3A53-337DBBD81937}"/>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8586AA47-69D0-0332-FE83-4C875217C675}"/>
              </a:ext>
            </a:extLst>
          </p:cNvPr>
          <p:cNvSpPr>
            <a:spLocks noChangeArrowheads="1"/>
          </p:cNvSpPr>
          <p:nvPr/>
        </p:nvSpPr>
        <p:spPr bwMode="auto">
          <a:xfrm>
            <a:off x="0" y="2067269"/>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Filename: group&lt;group-number&gt;-Cmp1&lt;lab-number&gt;.&lt;</a:t>
            </a:r>
            <a:r>
              <a:rPr lang="en-US" altLang="en-US" sz="2800" dirty="0" err="1">
                <a:latin typeface="Calibir"/>
              </a:rPr>
              <a:t>pdf|docx</a:t>
            </a:r>
            <a:r>
              <a:rPr lang="en-US" altLang="en-US" sz="2800" dirty="0">
                <a:latin typeface="Calibir"/>
              </a:rPr>
              <a:t>&gt; (e.g., group07-Cmp103.pdf).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Peer rating (</a:t>
            </a:r>
            <a:r>
              <a:rPr lang="en-US" altLang="en-US" sz="2800" dirty="0" err="1">
                <a:latin typeface="Calibir"/>
              </a:rPr>
              <a:t>Sparkplus</a:t>
            </a:r>
            <a:r>
              <a:rPr lang="en-US" altLang="en-US" sz="2800" dirty="0">
                <a:latin typeface="Calibir"/>
              </a:rPr>
              <a:t>): 8 Sep 2025, 12:00 AM – 14 Sep 2025, 11:55 PM.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Scope: Part 1 is analysis &amp; design only (no code required). Part 2 is implementation; Part 3 is the showcase.</a:t>
            </a:r>
          </a:p>
        </p:txBody>
      </p:sp>
    </p:spTree>
    <p:extLst>
      <p:ext uri="{BB962C8B-B14F-4D97-AF65-F5344CB8AC3E}">
        <p14:creationId xmlns:p14="http://schemas.microsoft.com/office/powerpoint/2010/main" val="1051046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1CEA-0555-92C5-2F9A-9ABD90B54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38537-BF17-D778-1938-E5CC3BBD40B3}"/>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E1C11665-AEBC-8F0D-F17C-4954E4E90D9E}"/>
              </a:ext>
            </a:extLst>
          </p:cNvPr>
          <p:cNvSpPr>
            <a:spLocks noChangeArrowheads="1"/>
          </p:cNvSpPr>
          <p:nvPr/>
        </p:nvSpPr>
        <p:spPr bwMode="auto">
          <a:xfrm>
            <a:off x="0" y="1363939"/>
            <a:ext cx="12192000" cy="464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500" b="1" dirty="0">
                <a:latin typeface="Calibir"/>
              </a:rPr>
              <a:t>Step-by-Step Tasks</a:t>
            </a:r>
          </a:p>
          <a:p>
            <a:pPr lvl="0" eaLnBrk="0" fontAlgn="base" hangingPunct="0">
              <a:lnSpc>
                <a:spcPct val="150000"/>
              </a:lnSpc>
              <a:spcBef>
                <a:spcPct val="0"/>
              </a:spcBef>
              <a:spcAft>
                <a:spcPct val="0"/>
              </a:spcAft>
            </a:pPr>
            <a:r>
              <a:rPr lang="en-US" altLang="en-US" sz="2500" b="1" dirty="0">
                <a:latin typeface="Calibir"/>
              </a:rPr>
              <a:t>Step 1: Define the scope</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Actors:</a:t>
            </a:r>
            <a:r>
              <a:rPr lang="en-US" altLang="en-US" sz="2500" dirty="0">
                <a:latin typeface="Calibir"/>
              </a:rPr>
              <a:t> Student, Admin, System.</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Students can:</a:t>
            </a:r>
            <a:r>
              <a:rPr lang="en-US" altLang="en-US" sz="2500" dirty="0">
                <a:latin typeface="Calibir"/>
              </a:rPr>
              <a:t> Register, log in, </a:t>
            </a:r>
            <a:r>
              <a:rPr lang="en-US" altLang="en-US" sz="2500" dirty="0" err="1">
                <a:latin typeface="Calibir"/>
              </a:rPr>
              <a:t>enrol</a:t>
            </a:r>
            <a:r>
              <a:rPr lang="en-US" altLang="en-US" sz="2500" dirty="0">
                <a:latin typeface="Calibir"/>
              </a:rPr>
              <a:t> in max 4 subjects, drop subject, view enrolments, change password.</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Admins can:</a:t>
            </a:r>
            <a:r>
              <a:rPr lang="en-US" altLang="en-US" sz="2500" dirty="0">
                <a:latin typeface="Calibir"/>
              </a:rPr>
              <a:t> View students, group by grade, PASS/FAIL lists, delete student, clear data.</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System must:</a:t>
            </a:r>
            <a:r>
              <a:rPr lang="en-US" altLang="en-US" sz="2500" dirty="0">
                <a:latin typeface="Calibir"/>
              </a:rPr>
              <a:t> Generate IDs, save/load from </a:t>
            </a:r>
            <a:r>
              <a:rPr lang="en-US" altLang="en-US" sz="2500" dirty="0" err="1">
                <a:latin typeface="Calibir"/>
              </a:rPr>
              <a:t>students.data</a:t>
            </a:r>
            <a:r>
              <a:rPr lang="en-US" altLang="en-US" sz="2500" dirty="0">
                <a:latin typeface="Calibir"/>
              </a:rPr>
              <a:t>, auto-assign marks + grades.</a:t>
            </a:r>
          </a:p>
          <a:p>
            <a:pPr marL="714375"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Not included:</a:t>
            </a:r>
            <a:r>
              <a:rPr lang="en-US" altLang="en-US" sz="2500" dirty="0">
                <a:latin typeface="Calibir"/>
              </a:rPr>
              <a:t> GUI (that’s Part 2), multi-semester enrolments.</a:t>
            </a:r>
          </a:p>
        </p:txBody>
      </p:sp>
    </p:spTree>
    <p:extLst>
      <p:ext uri="{BB962C8B-B14F-4D97-AF65-F5344CB8AC3E}">
        <p14:creationId xmlns:p14="http://schemas.microsoft.com/office/powerpoint/2010/main" val="161972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D89F0-E11D-E273-3AF7-69D53CF9F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FE8D8-FCC2-29F3-68FC-EA7A03303AE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A813456E-6292-E96A-1A13-2E6AEDCE8B76}"/>
              </a:ext>
            </a:extLst>
          </p:cNvPr>
          <p:cNvSpPr>
            <a:spLocks noChangeArrowheads="1"/>
          </p:cNvSpPr>
          <p:nvPr/>
        </p:nvSpPr>
        <p:spPr bwMode="auto">
          <a:xfrm>
            <a:off x="0" y="1338655"/>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Example of scope in practice</a:t>
            </a:r>
            <a:endParaRPr lang="en-US" altLang="en-US" sz="2800" dirty="0">
              <a:latin typeface="Calibir"/>
            </a:endParaRPr>
          </a:p>
          <a:p>
            <a:pPr lvl="0" eaLnBrk="0" fontAlgn="base" hangingPunct="0">
              <a:lnSpc>
                <a:spcPct val="150000"/>
              </a:lnSpc>
              <a:spcBef>
                <a:spcPct val="0"/>
              </a:spcBef>
              <a:spcAft>
                <a:spcPct val="0"/>
              </a:spcAft>
            </a:pPr>
            <a:r>
              <a:rPr lang="en-US" altLang="en-US" sz="2800" dirty="0">
                <a:latin typeface="Calibir"/>
              </a:rPr>
              <a:t>A student named </a:t>
            </a:r>
            <a:r>
              <a:rPr lang="en-US" altLang="en-US" sz="2800" i="1" dirty="0">
                <a:latin typeface="Calibir"/>
              </a:rPr>
              <a:t>Leila</a:t>
            </a:r>
            <a:r>
              <a:rPr lang="en-US" altLang="en-US" sz="2800" dirty="0">
                <a:latin typeface="Calibir"/>
              </a:rPr>
              <a:t> registers with email + password → system gives her ID 000123.</a:t>
            </a:r>
            <a:br>
              <a:rPr lang="en-US" altLang="en-US" sz="2800" dirty="0">
                <a:latin typeface="Calibir"/>
              </a:rPr>
            </a:br>
            <a:r>
              <a:rPr lang="en-US" altLang="en-US" sz="2800" dirty="0">
                <a:latin typeface="Calibir"/>
              </a:rPr>
              <a:t>She logs in, </a:t>
            </a:r>
            <a:r>
              <a:rPr lang="en-US" altLang="en-US" sz="2800" dirty="0" err="1">
                <a:latin typeface="Calibir"/>
              </a:rPr>
              <a:t>enrols</a:t>
            </a:r>
            <a:r>
              <a:rPr lang="en-US" altLang="en-US" sz="2800" dirty="0">
                <a:latin typeface="Calibir"/>
              </a:rPr>
              <a:t> in 2 subjects. Each subject gets an ID (e.g., 005, 018) with marks (72 → C, 89 → HD).</a:t>
            </a:r>
            <a:br>
              <a:rPr lang="en-US" altLang="en-US" sz="2800" dirty="0">
                <a:latin typeface="Calibir"/>
              </a:rPr>
            </a:br>
            <a:r>
              <a:rPr lang="en-US" altLang="en-US" sz="2800" dirty="0">
                <a:latin typeface="Calibir"/>
              </a:rPr>
              <a:t>An admin later views all students and sees Leila grouped under </a:t>
            </a:r>
            <a:r>
              <a:rPr lang="en-US" altLang="en-US" sz="2800" b="1" dirty="0">
                <a:latin typeface="Calibir"/>
              </a:rPr>
              <a:t>PASS</a:t>
            </a:r>
            <a:r>
              <a:rPr lang="en-US" altLang="en-US" sz="2800" dirty="0">
                <a:latin typeface="Calibir"/>
              </a:rPr>
              <a:t>.</a:t>
            </a:r>
          </a:p>
        </p:txBody>
      </p:sp>
      <p:sp>
        <p:nvSpPr>
          <p:cNvPr id="6" name="TextBox 5">
            <a:extLst>
              <a:ext uri="{FF2B5EF4-FFF2-40B4-BE49-F238E27FC236}">
                <a16:creationId xmlns:a16="http://schemas.microsoft.com/office/drawing/2014/main" id="{4659DCE0-D8AE-D4A2-1A5E-2DEA172A749E}"/>
              </a:ext>
            </a:extLst>
          </p:cNvPr>
          <p:cNvSpPr txBox="1"/>
          <p:nvPr/>
        </p:nvSpPr>
        <p:spPr>
          <a:xfrm>
            <a:off x="0" y="5519345"/>
            <a:ext cx="12192000" cy="1318181"/>
          </a:xfrm>
          <a:prstGeom prst="rect">
            <a:avLst/>
          </a:prstGeom>
          <a:noFill/>
        </p:spPr>
        <p:txBody>
          <a:bodyPr wrap="square">
            <a:spAutoFit/>
          </a:bodyPr>
          <a:lstStyle/>
          <a:p>
            <a:pPr>
              <a:lnSpc>
                <a:spcPct val="150000"/>
              </a:lnSpc>
            </a:pPr>
            <a:r>
              <a:rPr lang="en-US" sz="2800" dirty="0">
                <a:latin typeface="Calibir"/>
              </a:rPr>
              <a:t>That little story makes it obvious what is in scope (IDs, enrolment, PASS/FAIL) and what is not (choosing subject names, GUI).</a:t>
            </a:r>
            <a:endParaRPr lang="en-AU" sz="2800" dirty="0">
              <a:latin typeface="Calibir"/>
            </a:endParaRPr>
          </a:p>
        </p:txBody>
      </p:sp>
    </p:spTree>
    <p:extLst>
      <p:ext uri="{BB962C8B-B14F-4D97-AF65-F5344CB8AC3E}">
        <p14:creationId xmlns:p14="http://schemas.microsoft.com/office/powerpoint/2010/main" val="3245972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8936D-F1F2-754E-D082-EB53EE364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502AC-2FD2-9867-2C26-FA3523CED949}"/>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EC4B0301-3162-C101-F639-52EB102FA1E7}"/>
              </a:ext>
            </a:extLst>
          </p:cNvPr>
          <p:cNvSpPr>
            <a:spLocks noChangeArrowheads="1"/>
          </p:cNvSpPr>
          <p:nvPr/>
        </p:nvSpPr>
        <p:spPr bwMode="auto">
          <a:xfrm>
            <a:off x="0" y="1413697"/>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Step 2: Write user stories (with IDs)</a:t>
            </a:r>
          </a:p>
          <a:p>
            <a:pPr marL="714375" indent="-457200">
              <a:lnSpc>
                <a:spcPct val="150000"/>
              </a:lnSpc>
              <a:buFont typeface="Arial" panose="020B0604020202020204" pitchFamily="34" charset="0"/>
              <a:buChar char="•"/>
            </a:pPr>
            <a:r>
              <a:rPr lang="en-US" sz="2800" dirty="0">
                <a:latin typeface="Calibir"/>
              </a:rPr>
              <a:t>Format: </a:t>
            </a:r>
            <a:r>
              <a:rPr lang="en-US" sz="2800" i="1" dirty="0">
                <a:latin typeface="Calibir"/>
              </a:rPr>
              <a:t>As a [user], I want to [do something] so that [result happens]</a:t>
            </a:r>
            <a:r>
              <a:rPr lang="en-US" sz="2800" dirty="0">
                <a:latin typeface="Calibir"/>
              </a:rPr>
              <a:t>.</a:t>
            </a:r>
          </a:p>
          <a:p>
            <a:pPr marL="714375" indent="-457200">
              <a:lnSpc>
                <a:spcPct val="150000"/>
              </a:lnSpc>
              <a:buFont typeface="Arial" panose="020B0604020202020204" pitchFamily="34" charset="0"/>
              <a:buChar char="•"/>
            </a:pPr>
            <a:r>
              <a:rPr lang="en-US" sz="2800" dirty="0">
                <a:latin typeface="Calibir"/>
              </a:rPr>
              <a:t>Use 3-digit IDs (group features: 1xx login, 2xx registration, 3xx enrolment…).</a:t>
            </a:r>
          </a:p>
          <a:p>
            <a:pPr>
              <a:lnSpc>
                <a:spcPct val="150000"/>
              </a:lnSpc>
            </a:pPr>
            <a:r>
              <a:rPr lang="en-US" sz="2800" dirty="0">
                <a:latin typeface="Calibir"/>
              </a:rPr>
              <a:t>Example:</a:t>
            </a:r>
          </a:p>
          <a:p>
            <a:pPr marL="714375" indent="-457200">
              <a:lnSpc>
                <a:spcPct val="150000"/>
              </a:lnSpc>
              <a:buFont typeface="Arial" panose="020B0604020202020204" pitchFamily="34" charset="0"/>
              <a:buChar char="•"/>
            </a:pPr>
            <a:r>
              <a:rPr lang="en-US" sz="2800" dirty="0">
                <a:latin typeface="Calibir"/>
              </a:rPr>
              <a:t>100 – </a:t>
            </a:r>
            <a:r>
              <a:rPr lang="en-US" sz="2800" i="1" dirty="0">
                <a:latin typeface="Calibir"/>
              </a:rPr>
              <a:t>As a student, I want to log in so that I can access my enrolment list.</a:t>
            </a:r>
            <a:endParaRPr lang="en-US" sz="2800" dirty="0">
              <a:latin typeface="Calibir"/>
            </a:endParaRPr>
          </a:p>
          <a:p>
            <a:pPr marL="714375" indent="-457200">
              <a:lnSpc>
                <a:spcPct val="150000"/>
              </a:lnSpc>
              <a:buFont typeface="Arial" panose="020B0604020202020204" pitchFamily="34" charset="0"/>
              <a:buChar char="•"/>
            </a:pPr>
            <a:r>
              <a:rPr lang="en-US" sz="2800" dirty="0">
                <a:latin typeface="Calibir"/>
              </a:rPr>
              <a:t>200 – </a:t>
            </a:r>
            <a:r>
              <a:rPr lang="en-US" sz="2800" i="1" dirty="0">
                <a:latin typeface="Calibir"/>
              </a:rPr>
              <a:t>As a student, I want to register with email/password so that I get a student ID.</a:t>
            </a:r>
            <a:endParaRPr lang="en-US" sz="2800" dirty="0">
              <a:latin typeface="Calibir"/>
            </a:endParaRPr>
          </a:p>
        </p:txBody>
      </p:sp>
    </p:spTree>
    <p:extLst>
      <p:ext uri="{BB962C8B-B14F-4D97-AF65-F5344CB8AC3E}">
        <p14:creationId xmlns:p14="http://schemas.microsoft.com/office/powerpoint/2010/main" val="186153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B473-B2E1-8B72-38BC-F13D1DA84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5E960-A483-4AE5-CB31-95D7E871E0D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graphicFrame>
        <p:nvGraphicFramePr>
          <p:cNvPr id="4" name="Table 3">
            <a:extLst>
              <a:ext uri="{FF2B5EF4-FFF2-40B4-BE49-F238E27FC236}">
                <a16:creationId xmlns:a16="http://schemas.microsoft.com/office/drawing/2014/main" id="{90AB15B8-0CE7-B531-D46D-32759B37B3F3}"/>
              </a:ext>
            </a:extLst>
          </p:cNvPr>
          <p:cNvGraphicFramePr>
            <a:graphicFrameLocks noGrp="1"/>
          </p:cNvGraphicFramePr>
          <p:nvPr>
            <p:extLst>
              <p:ext uri="{D42A27DB-BD31-4B8C-83A1-F6EECF244321}">
                <p14:modId xmlns:p14="http://schemas.microsoft.com/office/powerpoint/2010/main" val="347782419"/>
              </p:ext>
            </p:extLst>
          </p:nvPr>
        </p:nvGraphicFramePr>
        <p:xfrm>
          <a:off x="132735" y="2065814"/>
          <a:ext cx="11931446" cy="4297680"/>
        </p:xfrm>
        <a:graphic>
          <a:graphicData uri="http://schemas.openxmlformats.org/drawingml/2006/table">
            <a:tbl>
              <a:tblPr>
                <a:tableStyleId>{BDBED569-4797-4DF1-A0F4-6AAB3CD982D8}</a:tableStyleId>
              </a:tblPr>
              <a:tblGrid>
                <a:gridCol w="1283110">
                  <a:extLst>
                    <a:ext uri="{9D8B030D-6E8A-4147-A177-3AD203B41FA5}">
                      <a16:colId xmlns:a16="http://schemas.microsoft.com/office/drawing/2014/main" val="1797655095"/>
                    </a:ext>
                  </a:extLst>
                </a:gridCol>
                <a:gridCol w="1799303">
                  <a:extLst>
                    <a:ext uri="{9D8B030D-6E8A-4147-A177-3AD203B41FA5}">
                      <a16:colId xmlns:a16="http://schemas.microsoft.com/office/drawing/2014/main" val="2007027958"/>
                    </a:ext>
                  </a:extLst>
                </a:gridCol>
                <a:gridCol w="3701184">
                  <a:extLst>
                    <a:ext uri="{9D8B030D-6E8A-4147-A177-3AD203B41FA5}">
                      <a16:colId xmlns:a16="http://schemas.microsoft.com/office/drawing/2014/main" val="2184250353"/>
                    </a:ext>
                  </a:extLst>
                </a:gridCol>
                <a:gridCol w="2773358">
                  <a:extLst>
                    <a:ext uri="{9D8B030D-6E8A-4147-A177-3AD203B41FA5}">
                      <a16:colId xmlns:a16="http://schemas.microsoft.com/office/drawing/2014/main" val="2186771203"/>
                    </a:ext>
                  </a:extLst>
                </a:gridCol>
                <a:gridCol w="2374491">
                  <a:extLst>
                    <a:ext uri="{9D8B030D-6E8A-4147-A177-3AD203B41FA5}">
                      <a16:colId xmlns:a16="http://schemas.microsoft.com/office/drawing/2014/main" val="623296352"/>
                    </a:ext>
                  </a:extLst>
                </a:gridCol>
              </a:tblGrid>
              <a:tr h="0">
                <a:tc>
                  <a:txBody>
                    <a:bodyPr/>
                    <a:lstStyle/>
                    <a:p>
                      <a:pPr>
                        <a:buNone/>
                      </a:pPr>
                      <a:r>
                        <a:rPr lang="en-US" sz="2800" dirty="0">
                          <a:latin typeface="Calibir"/>
                        </a:rPr>
                        <a:t>ID</a:t>
                      </a:r>
                    </a:p>
                  </a:txBody>
                  <a:tcPr anchor="ctr">
                    <a:solidFill>
                      <a:schemeClr val="accent5">
                        <a:lumMod val="20000"/>
                        <a:lumOff val="80000"/>
                      </a:schemeClr>
                    </a:solidFill>
                  </a:tcPr>
                </a:tc>
                <a:tc>
                  <a:txBody>
                    <a:bodyPr/>
                    <a:lstStyle/>
                    <a:p>
                      <a:pPr>
                        <a:buNone/>
                      </a:pPr>
                      <a:r>
                        <a:rPr lang="en-US" sz="2800" dirty="0">
                          <a:latin typeface="Calibir"/>
                        </a:rPr>
                        <a:t>User</a:t>
                      </a:r>
                    </a:p>
                  </a:txBody>
                  <a:tcPr anchor="ctr">
                    <a:solidFill>
                      <a:schemeClr val="accent5">
                        <a:lumMod val="20000"/>
                        <a:lumOff val="80000"/>
                      </a:schemeClr>
                    </a:solidFill>
                  </a:tcPr>
                </a:tc>
                <a:tc>
                  <a:txBody>
                    <a:bodyPr/>
                    <a:lstStyle/>
                    <a:p>
                      <a:pPr>
                        <a:buNone/>
                      </a:pPr>
                      <a:r>
                        <a:rPr lang="en-US" sz="2800" dirty="0">
                          <a:latin typeface="Calibir"/>
                        </a:rPr>
                        <a:t>Action</a:t>
                      </a:r>
                    </a:p>
                  </a:txBody>
                  <a:tcPr anchor="ctr">
                    <a:solidFill>
                      <a:schemeClr val="accent5">
                        <a:lumMod val="20000"/>
                        <a:lumOff val="80000"/>
                      </a:schemeClr>
                    </a:solidFill>
                  </a:tcPr>
                </a:tc>
                <a:tc>
                  <a:txBody>
                    <a:bodyPr/>
                    <a:lstStyle/>
                    <a:p>
                      <a:pPr>
                        <a:buNone/>
                      </a:pPr>
                      <a:r>
                        <a:rPr lang="en-US" sz="2800" dirty="0">
                          <a:latin typeface="Calibir"/>
                        </a:rPr>
                        <a:t>Result</a:t>
                      </a:r>
                    </a:p>
                  </a:txBody>
                  <a:tcPr anchor="ctr">
                    <a:solidFill>
                      <a:schemeClr val="accent5">
                        <a:lumMod val="20000"/>
                        <a:lumOff val="80000"/>
                      </a:schemeClr>
                    </a:solidFill>
                  </a:tcPr>
                </a:tc>
                <a:tc>
                  <a:txBody>
                    <a:bodyPr/>
                    <a:lstStyle/>
                    <a:p>
                      <a:pPr>
                        <a:buNone/>
                      </a:pPr>
                      <a:r>
                        <a:rPr lang="en-US" sz="2800" dirty="0">
                          <a:latin typeface="Calibir"/>
                        </a:rPr>
                        <a:t>Function</a:t>
                      </a:r>
                    </a:p>
                  </a:txBody>
                  <a:tcPr anchor="ctr">
                    <a:solidFill>
                      <a:schemeClr val="accent5">
                        <a:lumMod val="20000"/>
                        <a:lumOff val="80000"/>
                      </a:schemeClr>
                    </a:solidFill>
                  </a:tcPr>
                </a:tc>
                <a:extLst>
                  <a:ext uri="{0D108BD9-81ED-4DB2-BD59-A6C34878D82A}">
                    <a16:rowId xmlns:a16="http://schemas.microsoft.com/office/drawing/2014/main" val="2943745044"/>
                  </a:ext>
                </a:extLst>
              </a:tr>
              <a:tr h="0">
                <a:tc>
                  <a:txBody>
                    <a:bodyPr/>
                    <a:lstStyle/>
                    <a:p>
                      <a:pPr>
                        <a:buNone/>
                      </a:pPr>
                      <a:r>
                        <a:rPr lang="en-US" sz="2800">
                          <a:latin typeface="Calibir"/>
                        </a:rPr>
                        <a:t>100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Enter email + password</a:t>
                      </a:r>
                    </a:p>
                  </a:txBody>
                  <a:tcPr anchor="ctr"/>
                </a:tc>
                <a:tc>
                  <a:txBody>
                    <a:bodyPr/>
                    <a:lstStyle/>
                    <a:p>
                      <a:pPr>
                        <a:buNone/>
                      </a:pPr>
                      <a:r>
                        <a:rPr lang="en-US" sz="2800">
                          <a:latin typeface="Calibir"/>
                        </a:rPr>
                        <a:t>Access student menu</a:t>
                      </a:r>
                    </a:p>
                  </a:txBody>
                  <a:tcPr anchor="ctr"/>
                </a:tc>
                <a:tc>
                  <a:txBody>
                    <a:bodyPr/>
                    <a:lstStyle/>
                    <a:p>
                      <a:pPr>
                        <a:buNone/>
                      </a:pPr>
                      <a:r>
                        <a:rPr lang="en-US" sz="2800">
                          <a:latin typeface="Calibir"/>
                        </a:rPr>
                        <a:t>login()</a:t>
                      </a:r>
                    </a:p>
                  </a:txBody>
                  <a:tcPr anchor="ctr"/>
                </a:tc>
                <a:extLst>
                  <a:ext uri="{0D108BD9-81ED-4DB2-BD59-A6C34878D82A}">
                    <a16:rowId xmlns:a16="http://schemas.microsoft.com/office/drawing/2014/main" val="1317374632"/>
                  </a:ext>
                </a:extLst>
              </a:tr>
              <a:tr h="0">
                <a:tc>
                  <a:txBody>
                    <a:bodyPr/>
                    <a:lstStyle/>
                    <a:p>
                      <a:pPr>
                        <a:buNone/>
                      </a:pPr>
                      <a:r>
                        <a:rPr lang="en-US" sz="2800">
                          <a:latin typeface="Calibir"/>
                        </a:rPr>
                        <a:t>200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Register account</a:t>
                      </a:r>
                    </a:p>
                  </a:txBody>
                  <a:tcPr anchor="ctr"/>
                </a:tc>
                <a:tc>
                  <a:txBody>
                    <a:bodyPr/>
                    <a:lstStyle/>
                    <a:p>
                      <a:pPr>
                        <a:buNone/>
                      </a:pPr>
                      <a:r>
                        <a:rPr lang="en-US" sz="2800">
                          <a:latin typeface="Calibir"/>
                        </a:rPr>
                        <a:t>New ID created (000123)</a:t>
                      </a:r>
                    </a:p>
                  </a:txBody>
                  <a:tcPr anchor="ctr"/>
                </a:tc>
                <a:tc>
                  <a:txBody>
                    <a:bodyPr/>
                    <a:lstStyle/>
                    <a:p>
                      <a:pPr>
                        <a:buNone/>
                      </a:pPr>
                      <a:r>
                        <a:rPr lang="en-US" sz="2800">
                          <a:latin typeface="Calibir"/>
                        </a:rPr>
                        <a:t>registerStudent()</a:t>
                      </a:r>
                    </a:p>
                  </a:txBody>
                  <a:tcPr anchor="ctr"/>
                </a:tc>
                <a:extLst>
                  <a:ext uri="{0D108BD9-81ED-4DB2-BD59-A6C34878D82A}">
                    <a16:rowId xmlns:a16="http://schemas.microsoft.com/office/drawing/2014/main" val="2604315146"/>
                  </a:ext>
                </a:extLst>
              </a:tr>
              <a:tr h="0">
                <a:tc>
                  <a:txBody>
                    <a:bodyPr/>
                    <a:lstStyle/>
                    <a:p>
                      <a:pPr>
                        <a:buNone/>
                      </a:pPr>
                      <a:r>
                        <a:rPr lang="en-US" sz="2800">
                          <a:latin typeface="Calibir"/>
                        </a:rPr>
                        <a:t>300</a:t>
                      </a:r>
                    </a:p>
                  </a:txBody>
                  <a:tcPr anchor="ctr"/>
                </a:tc>
                <a:tc>
                  <a:txBody>
                    <a:bodyPr/>
                    <a:lstStyle/>
                    <a:p>
                      <a:pPr>
                        <a:buNone/>
                      </a:pPr>
                      <a:r>
                        <a:rPr lang="en-US" sz="2800">
                          <a:latin typeface="Calibir"/>
                        </a:rPr>
                        <a:t>Student</a:t>
                      </a:r>
                    </a:p>
                  </a:txBody>
                  <a:tcPr anchor="ctr"/>
                </a:tc>
                <a:tc>
                  <a:txBody>
                    <a:bodyPr/>
                    <a:lstStyle/>
                    <a:p>
                      <a:pPr>
                        <a:buNone/>
                      </a:pPr>
                      <a:r>
                        <a:rPr lang="en-US" sz="2800">
                          <a:latin typeface="Calibir"/>
                        </a:rPr>
                        <a:t>Enrol in subject</a:t>
                      </a:r>
                    </a:p>
                  </a:txBody>
                  <a:tcPr anchor="ctr"/>
                </a:tc>
                <a:tc>
                  <a:txBody>
                    <a:bodyPr/>
                    <a:lstStyle/>
                    <a:p>
                      <a:pPr>
                        <a:buNone/>
                      </a:pPr>
                      <a:r>
                        <a:rPr lang="en-US" sz="2800">
                          <a:latin typeface="Calibir"/>
                        </a:rPr>
                        <a:t>Subject added with ID+grade</a:t>
                      </a:r>
                    </a:p>
                  </a:txBody>
                  <a:tcPr anchor="ctr"/>
                </a:tc>
                <a:tc>
                  <a:txBody>
                    <a:bodyPr/>
                    <a:lstStyle/>
                    <a:p>
                      <a:pPr>
                        <a:buNone/>
                      </a:pPr>
                      <a:r>
                        <a:rPr lang="en-US" sz="2800">
                          <a:latin typeface="Calibir"/>
                        </a:rPr>
                        <a:t>enrolSubject()</a:t>
                      </a:r>
                    </a:p>
                  </a:txBody>
                  <a:tcPr anchor="ctr"/>
                </a:tc>
                <a:extLst>
                  <a:ext uri="{0D108BD9-81ED-4DB2-BD59-A6C34878D82A}">
                    <a16:rowId xmlns:a16="http://schemas.microsoft.com/office/drawing/2014/main" val="3316141848"/>
                  </a:ext>
                </a:extLst>
              </a:tr>
              <a:tr h="0">
                <a:tc>
                  <a:txBody>
                    <a:bodyPr/>
                    <a:lstStyle/>
                    <a:p>
                      <a:pPr>
                        <a:buNone/>
                      </a:pPr>
                      <a:r>
                        <a:rPr lang="en-US" sz="2800">
                          <a:latin typeface="Calibir"/>
                        </a:rPr>
                        <a:t>700</a:t>
                      </a:r>
                    </a:p>
                  </a:txBody>
                  <a:tcPr anchor="ctr"/>
                </a:tc>
                <a:tc>
                  <a:txBody>
                    <a:bodyPr/>
                    <a:lstStyle/>
                    <a:p>
                      <a:pPr>
                        <a:buNone/>
                      </a:pPr>
                      <a:r>
                        <a:rPr lang="en-US" sz="2800">
                          <a:latin typeface="Calibir"/>
                        </a:rPr>
                        <a:t>Admin</a:t>
                      </a:r>
                    </a:p>
                  </a:txBody>
                  <a:tcPr anchor="ctr"/>
                </a:tc>
                <a:tc>
                  <a:txBody>
                    <a:bodyPr/>
                    <a:lstStyle/>
                    <a:p>
                      <a:pPr>
                        <a:buNone/>
                      </a:pPr>
                      <a:r>
                        <a:rPr lang="en-US" sz="2800">
                          <a:latin typeface="Calibir"/>
                        </a:rPr>
                        <a:t>View all students</a:t>
                      </a:r>
                    </a:p>
                  </a:txBody>
                  <a:tcPr anchor="ctr"/>
                </a:tc>
                <a:tc>
                  <a:txBody>
                    <a:bodyPr/>
                    <a:lstStyle/>
                    <a:p>
                      <a:pPr>
                        <a:buNone/>
                      </a:pPr>
                      <a:r>
                        <a:rPr lang="en-US" sz="2800">
                          <a:latin typeface="Calibir"/>
                        </a:rPr>
                        <a:t>List shown from file</a:t>
                      </a:r>
                    </a:p>
                  </a:txBody>
                  <a:tcPr anchor="ctr"/>
                </a:tc>
                <a:tc>
                  <a:txBody>
                    <a:bodyPr/>
                    <a:lstStyle/>
                    <a:p>
                      <a:pPr>
                        <a:buNone/>
                      </a:pPr>
                      <a:r>
                        <a:rPr lang="en-US" sz="2800" dirty="0" err="1">
                          <a:latin typeface="Calibir"/>
                        </a:rPr>
                        <a:t>adminListAll</a:t>
                      </a:r>
                      <a:r>
                        <a:rPr lang="en-US" sz="2800" dirty="0">
                          <a:latin typeface="Calibir"/>
                        </a:rPr>
                        <a:t>()</a:t>
                      </a:r>
                    </a:p>
                  </a:txBody>
                  <a:tcPr anchor="ctr"/>
                </a:tc>
                <a:extLst>
                  <a:ext uri="{0D108BD9-81ED-4DB2-BD59-A6C34878D82A}">
                    <a16:rowId xmlns:a16="http://schemas.microsoft.com/office/drawing/2014/main" val="1614846425"/>
                  </a:ext>
                </a:extLst>
              </a:tr>
            </a:tbl>
          </a:graphicData>
        </a:graphic>
      </p:graphicFrame>
      <p:sp>
        <p:nvSpPr>
          <p:cNvPr id="5" name="Rectangle 1">
            <a:extLst>
              <a:ext uri="{FF2B5EF4-FFF2-40B4-BE49-F238E27FC236}">
                <a16:creationId xmlns:a16="http://schemas.microsoft.com/office/drawing/2014/main" id="{2C228193-F0AF-9441-A070-4CB4C5241CB9}"/>
              </a:ext>
            </a:extLst>
          </p:cNvPr>
          <p:cNvSpPr>
            <a:spLocks noChangeArrowheads="1"/>
          </p:cNvSpPr>
          <p:nvPr/>
        </p:nvSpPr>
        <p:spPr bwMode="auto">
          <a:xfrm>
            <a:off x="0" y="1025382"/>
            <a:ext cx="44287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Then make a </a:t>
            </a:r>
            <a:r>
              <a:rPr kumimoji="0" lang="en-US" altLang="en-US" sz="2800" b="1" i="0" u="none" strike="noStrike" cap="none" normalizeH="0" baseline="0" dirty="0">
                <a:ln>
                  <a:noFill/>
                </a:ln>
                <a:solidFill>
                  <a:schemeClr val="tx1"/>
                </a:solidFill>
                <a:effectLst/>
                <a:latin typeface="Calibir"/>
              </a:rPr>
              <a:t>table (backlog)</a:t>
            </a:r>
            <a:r>
              <a:rPr kumimoji="0" lang="en-US" altLang="en-US" sz="2800" b="0" i="0" u="none" strike="noStrike" cap="none" normalizeH="0" baseline="0" dirty="0">
                <a:ln>
                  <a:noFill/>
                </a:ln>
                <a:solidFill>
                  <a:schemeClr val="tx1"/>
                </a:solidFill>
                <a:effectLst/>
                <a:latin typeface="Calibir"/>
              </a:rPr>
              <a:t>:</a:t>
            </a:r>
          </a:p>
        </p:txBody>
      </p:sp>
    </p:spTree>
    <p:extLst>
      <p:ext uri="{BB962C8B-B14F-4D97-AF65-F5344CB8AC3E}">
        <p14:creationId xmlns:p14="http://schemas.microsoft.com/office/powerpoint/2010/main" val="1662074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4EE80-B3E3-2398-0AEC-FF31CFFA4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A2D91-CE42-27A2-2D52-2149CB23568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8983BADB-811E-759B-E2F1-CAB0A822BDCF}"/>
              </a:ext>
            </a:extLst>
          </p:cNvPr>
          <p:cNvSpPr>
            <a:spLocks noChangeArrowheads="1"/>
          </p:cNvSpPr>
          <p:nvPr/>
        </p:nvSpPr>
        <p:spPr bwMode="auto">
          <a:xfrm>
            <a:off x="92337" y="956263"/>
            <a:ext cx="12289455"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Step 3: Draw a use case diagram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Show actors → connect to system use cases (ovals).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Add relationships: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include: always part of process (e.g., “Validate Email” included in “Register”).</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extend: only sometimes (e.g., “Show error” extends from “Login”).</a:t>
            </a:r>
          </a:p>
        </p:txBody>
      </p:sp>
    </p:spTree>
    <p:extLst>
      <p:ext uri="{BB962C8B-B14F-4D97-AF65-F5344CB8AC3E}">
        <p14:creationId xmlns:p14="http://schemas.microsoft.com/office/powerpoint/2010/main" val="3731537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45BC-537D-8498-C978-DCA391E7A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A30D2-13A1-683D-23A0-0C8EB4BF2826}"/>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4A9177E9-69F2-419E-1A2B-536BB9141183}"/>
              </a:ext>
            </a:extLst>
          </p:cNvPr>
          <p:cNvSpPr>
            <a:spLocks noChangeArrowheads="1"/>
          </p:cNvSpPr>
          <p:nvPr/>
        </p:nvSpPr>
        <p:spPr bwMode="auto">
          <a:xfrm>
            <a:off x="107085" y="672662"/>
            <a:ext cx="9514208"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4: Draw a class diagram</a:t>
            </a:r>
          </a:p>
          <a:p>
            <a:pPr marL="914400" lvl="1" indent="-457200">
              <a:lnSpc>
                <a:spcPct val="150000"/>
              </a:lnSpc>
              <a:buFont typeface="Arial" panose="020B0604020202020204" pitchFamily="34" charset="0"/>
              <a:buChar char="•"/>
            </a:pPr>
            <a:r>
              <a:rPr lang="en-US" sz="2800" dirty="0">
                <a:latin typeface="Calibir"/>
              </a:rPr>
              <a:t>Classes: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a:t>
            </a:r>
          </a:p>
          <a:p>
            <a:pPr marL="914400" lvl="1" indent="-457200">
              <a:lnSpc>
                <a:spcPct val="150000"/>
              </a:lnSpc>
              <a:buFont typeface="Arial" panose="020B0604020202020204" pitchFamily="34" charset="0"/>
              <a:buChar char="•"/>
            </a:pPr>
            <a:r>
              <a:rPr lang="en-US" sz="2800" dirty="0">
                <a:latin typeface="Calibir"/>
              </a:rPr>
              <a:t>Show attributes + methods.</a:t>
            </a:r>
          </a:p>
        </p:txBody>
      </p:sp>
    </p:spTree>
    <p:extLst>
      <p:ext uri="{BB962C8B-B14F-4D97-AF65-F5344CB8AC3E}">
        <p14:creationId xmlns:p14="http://schemas.microsoft.com/office/powerpoint/2010/main" val="4043767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FE3C-33E4-9EF6-77CF-7CEA66B9C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9FF9C-3FF3-2F0E-9897-16D0BB3E3B2E}"/>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2EB4A865-CE72-8D6F-CB03-69BDB97C0E12}"/>
              </a:ext>
            </a:extLst>
          </p:cNvPr>
          <p:cNvSpPr>
            <a:spLocks noChangeArrowheads="1"/>
          </p:cNvSpPr>
          <p:nvPr/>
        </p:nvSpPr>
        <p:spPr bwMode="auto">
          <a:xfrm>
            <a:off x="0" y="492081"/>
            <a:ext cx="6096000"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No coding is required</a:t>
            </a:r>
            <a:r>
              <a:rPr kumimoji="0" lang="en-US" altLang="en-US" sz="2800" b="0" i="0" u="none" strike="noStrike" cap="none" normalizeH="0" baseline="0" dirty="0">
                <a:ln>
                  <a:noFill/>
                </a:ln>
                <a:solidFill>
                  <a:schemeClr val="tx1"/>
                </a:solidFill>
                <a:effectLst/>
                <a:latin typeface="Calibir"/>
              </a:rPr>
              <a:t> in Part 1.</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This Python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example is just an </a:t>
            </a:r>
            <a:br>
              <a:rPr kumimoji="0" lang="en-US" altLang="en-US" sz="2800" b="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illustrative example t</a:t>
            </a:r>
            <a:r>
              <a:rPr kumimoji="0" lang="en-US" altLang="en-US" sz="2800" b="0" i="0" u="none" strike="noStrike" cap="none" normalizeH="0" baseline="0" dirty="0">
                <a:ln>
                  <a:noFill/>
                </a:ln>
                <a:solidFill>
                  <a:schemeClr val="tx1"/>
                </a:solidFill>
                <a:effectLst/>
                <a:latin typeface="Calibir"/>
              </a:rPr>
              <a:t>o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help you think about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what </a:t>
            </a:r>
            <a:r>
              <a:rPr kumimoji="0" lang="en-US" altLang="en-US" sz="2800" i="0" u="none" strike="noStrike" cap="none" normalizeH="0" baseline="0" dirty="0">
                <a:ln>
                  <a:noFill/>
                </a:ln>
                <a:solidFill>
                  <a:schemeClr val="tx1"/>
                </a:solidFill>
                <a:effectLst/>
                <a:latin typeface="Calibir"/>
              </a:rPr>
              <a:t>attributes</a:t>
            </a:r>
            <a:r>
              <a:rPr kumimoji="0" lang="en-US" altLang="en-US" sz="2800" b="0" i="0" u="none" strike="noStrike" cap="none" normalizeH="0" baseline="0" dirty="0">
                <a:ln>
                  <a:noFill/>
                </a:ln>
                <a:solidFill>
                  <a:schemeClr val="tx1"/>
                </a:solidFill>
                <a:effectLst/>
                <a:latin typeface="Calibir"/>
              </a:rPr>
              <a:t> (like id,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name, email) and </a:t>
            </a:r>
            <a:br>
              <a:rPr kumimoji="0" lang="en-US" altLang="en-US" sz="2800" b="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methods</a:t>
            </a:r>
            <a:r>
              <a:rPr kumimoji="0" lang="en-US" altLang="en-US" sz="2800" b="0" i="0" u="none" strike="noStrike" cap="none" normalizeH="0" baseline="0" dirty="0">
                <a:ln>
                  <a:noFill/>
                </a:ln>
                <a:solidFill>
                  <a:schemeClr val="tx1"/>
                </a:solidFill>
                <a:effectLst/>
                <a:latin typeface="Calibir"/>
              </a:rPr>
              <a:t> (like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err="1">
                <a:ln>
                  <a:noFill/>
                </a:ln>
                <a:solidFill>
                  <a:schemeClr val="tx1"/>
                </a:solidFill>
                <a:effectLst/>
                <a:latin typeface="Calibir"/>
              </a:rPr>
              <a:t>add_subject</a:t>
            </a:r>
            <a:r>
              <a:rPr kumimoji="0" lang="en-US" altLang="en-US" sz="2800" b="0" i="0" u="none" strike="noStrike" cap="none" normalizeH="0" baseline="0" dirty="0">
                <a:ln>
                  <a:noFill/>
                </a:ln>
                <a:solidFill>
                  <a:schemeClr val="tx1"/>
                </a:solidFill>
                <a:effectLst/>
                <a:latin typeface="Calibir"/>
              </a:rPr>
              <a:t>()) belong in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each class.</a:t>
            </a:r>
          </a:p>
        </p:txBody>
      </p:sp>
      <p:pic>
        <p:nvPicPr>
          <p:cNvPr id="6" name="Picture 5">
            <a:extLst>
              <a:ext uri="{FF2B5EF4-FFF2-40B4-BE49-F238E27FC236}">
                <a16:creationId xmlns:a16="http://schemas.microsoft.com/office/drawing/2014/main" id="{14E81B6E-9823-1F48-DB50-35D7D81D20E6}"/>
              </a:ext>
            </a:extLst>
          </p:cNvPr>
          <p:cNvPicPr>
            <a:picLocks noChangeAspect="1"/>
          </p:cNvPicPr>
          <p:nvPr/>
        </p:nvPicPr>
        <p:blipFill>
          <a:blip r:embed="rId2"/>
          <a:srcRect l="32903" t="13119" r="16775" b="32473"/>
          <a:stretch>
            <a:fillRect/>
          </a:stretch>
        </p:blipFill>
        <p:spPr>
          <a:xfrm>
            <a:off x="4232787" y="1316206"/>
            <a:ext cx="7959213" cy="4840579"/>
          </a:xfrm>
          <a:prstGeom prst="rect">
            <a:avLst/>
          </a:prstGeom>
        </p:spPr>
      </p:pic>
      <p:sp>
        <p:nvSpPr>
          <p:cNvPr id="8" name="TextBox 7">
            <a:extLst>
              <a:ext uri="{FF2B5EF4-FFF2-40B4-BE49-F238E27FC236}">
                <a16:creationId xmlns:a16="http://schemas.microsoft.com/office/drawing/2014/main" id="{85B7C594-2436-E3CC-013F-A53B97435E93}"/>
              </a:ext>
            </a:extLst>
          </p:cNvPr>
          <p:cNvSpPr txBox="1"/>
          <p:nvPr/>
        </p:nvSpPr>
        <p:spPr>
          <a:xfrm>
            <a:off x="4114800" y="6384181"/>
            <a:ext cx="6194322" cy="430887"/>
          </a:xfrm>
          <a:prstGeom prst="rect">
            <a:avLst/>
          </a:prstGeom>
          <a:noFill/>
        </p:spPr>
        <p:txBody>
          <a:bodyPr wrap="square">
            <a:spAutoFit/>
          </a:bodyPr>
          <a:lstStyle/>
          <a:p>
            <a:r>
              <a:rPr lang="en-US" sz="2200" dirty="0">
                <a:latin typeface="Calibir"/>
              </a:rPr>
              <a:t>JavaFX students can use similar class structure.</a:t>
            </a:r>
            <a:endParaRPr lang="en-AU" sz="2200" dirty="0">
              <a:latin typeface="Calibir"/>
            </a:endParaRPr>
          </a:p>
        </p:txBody>
      </p:sp>
    </p:spTree>
    <p:extLst>
      <p:ext uri="{BB962C8B-B14F-4D97-AF65-F5344CB8AC3E}">
        <p14:creationId xmlns:p14="http://schemas.microsoft.com/office/powerpoint/2010/main" val="3840210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5EDB9-DB8F-4FBE-2BD2-675CCF0D2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9424-762D-9FE2-FFE2-48FF6884689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1FC6391B-82D8-64AE-9672-2EFFC127AFD5}"/>
              </a:ext>
            </a:extLst>
          </p:cNvPr>
          <p:cNvSpPr>
            <a:spLocks noChangeArrowheads="1"/>
          </p:cNvSpPr>
          <p:nvPr/>
        </p:nvSpPr>
        <p:spPr bwMode="auto">
          <a:xfrm>
            <a:off x="53542" y="1374008"/>
            <a:ext cx="12084915"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For submission, students must present the </a:t>
            </a:r>
            <a:r>
              <a:rPr kumimoji="0" lang="en-US" altLang="en-US" sz="2800" i="0" u="none" strike="noStrike" cap="none" normalizeH="0" baseline="0" dirty="0">
                <a:ln>
                  <a:noFill/>
                </a:ln>
                <a:solidFill>
                  <a:schemeClr val="tx1"/>
                </a:solidFill>
                <a:effectLst/>
                <a:latin typeface="Calibir"/>
              </a:rPr>
              <a:t>UML class diagram </a:t>
            </a:r>
            <a:r>
              <a:rPr kumimoji="0" lang="en-US" altLang="en-US" sz="2800" b="0" i="0" u="none" strike="noStrike" cap="none" normalizeH="0" baseline="0" dirty="0">
                <a:ln>
                  <a:noFill/>
                </a:ln>
                <a:solidFill>
                  <a:schemeClr val="tx1"/>
                </a:solidFill>
                <a:effectLst/>
                <a:latin typeface="Calibir"/>
              </a:rPr>
              <a:t>(boxes with attributes + methods, plus relationships between classes).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They can draw it using:</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draw.io (diagrams.net)</a:t>
            </a:r>
            <a:r>
              <a:rPr kumimoji="0" lang="en-US" altLang="en-US" sz="2800" b="0" i="0" u="none" strike="noStrike" cap="none" normalizeH="0" baseline="0" dirty="0">
                <a:ln>
                  <a:noFill/>
                </a:ln>
                <a:solidFill>
                  <a:schemeClr val="tx1"/>
                </a:solidFill>
                <a:effectLst/>
                <a:latin typeface="Calibir"/>
              </a:rPr>
              <a:t> – free, easy, works in browser.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ir"/>
              </a:rPr>
              <a:t>Visio</a:t>
            </a:r>
            <a:r>
              <a:rPr kumimoji="0" lang="en-US" altLang="en-US" sz="2800" b="0" i="0" u="none" strike="noStrike" cap="none" normalizeH="0" baseline="0" dirty="0">
                <a:ln>
                  <a:noFill/>
                </a:ln>
                <a:solidFill>
                  <a:schemeClr val="tx1"/>
                </a:solidFill>
                <a:effectLst/>
                <a:latin typeface="Calibir"/>
              </a:rPr>
              <a:t> – good if they already have it.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err="1">
                <a:ln>
                  <a:noFill/>
                </a:ln>
                <a:solidFill>
                  <a:schemeClr val="tx1"/>
                </a:solidFill>
                <a:effectLst/>
                <a:latin typeface="Calibir"/>
              </a:rPr>
              <a:t>PlantUML</a:t>
            </a:r>
            <a:r>
              <a:rPr kumimoji="0" lang="en-US" altLang="en-US" sz="2800" b="0" i="0" u="none" strike="noStrike" cap="none" normalizeH="0" baseline="0" dirty="0">
                <a:ln>
                  <a:noFill/>
                </a:ln>
                <a:solidFill>
                  <a:schemeClr val="tx1"/>
                </a:solidFill>
                <a:effectLst/>
                <a:latin typeface="Calibir"/>
              </a:rPr>
              <a:t> – for those who like writing code-based diagrams.</a:t>
            </a:r>
          </a:p>
        </p:txBody>
      </p:sp>
    </p:spTree>
    <p:extLst>
      <p:ext uri="{BB962C8B-B14F-4D97-AF65-F5344CB8AC3E}">
        <p14:creationId xmlns:p14="http://schemas.microsoft.com/office/powerpoint/2010/main" val="2572291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68C8-9C1B-CB34-BF75-DCA97415C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08A62-EB1E-5DA4-9D32-BC16F18E5D5A}"/>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3" name="Rectangle 1">
            <a:extLst>
              <a:ext uri="{FF2B5EF4-FFF2-40B4-BE49-F238E27FC236}">
                <a16:creationId xmlns:a16="http://schemas.microsoft.com/office/drawing/2014/main" id="{45F257D2-EF40-0838-FE16-868F98EFBE43}"/>
              </a:ext>
            </a:extLst>
          </p:cNvPr>
          <p:cNvSpPr>
            <a:spLocks noChangeArrowheads="1"/>
          </p:cNvSpPr>
          <p:nvPr/>
        </p:nvSpPr>
        <p:spPr bwMode="auto">
          <a:xfrm>
            <a:off x="53542" y="1050842"/>
            <a:ext cx="12084915"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For All Steps</a:t>
            </a:r>
          </a:p>
          <a:p>
            <a:pPr>
              <a:lnSpc>
                <a:spcPct val="150000"/>
              </a:lnSpc>
            </a:pPr>
            <a:r>
              <a:rPr lang="en-US" sz="2800" dirty="0">
                <a:latin typeface="Calibir"/>
              </a:rPr>
              <a:t>Students can use drawing tools (draw.io, </a:t>
            </a:r>
            <a:r>
              <a:rPr lang="en-US" sz="2800" dirty="0" err="1">
                <a:latin typeface="Calibir"/>
              </a:rPr>
              <a:t>Lucidchart</a:t>
            </a:r>
            <a:r>
              <a:rPr lang="en-US" sz="2800" dirty="0">
                <a:latin typeface="Calibir"/>
              </a:rPr>
              <a:t>, Visio, or even Word’s SmartArt/shapes) for:</a:t>
            </a:r>
          </a:p>
          <a:p>
            <a:pPr>
              <a:lnSpc>
                <a:spcPct val="150000"/>
              </a:lnSpc>
            </a:pPr>
            <a:r>
              <a:rPr lang="en-US" sz="2800" b="1" dirty="0">
                <a:latin typeface="Calibir"/>
              </a:rPr>
              <a:t>Step 2:</a:t>
            </a:r>
            <a:r>
              <a:rPr lang="en-US" sz="2800" dirty="0">
                <a:latin typeface="Calibir"/>
              </a:rPr>
              <a:t> Backlog → table in Word/Excel (not a diagram).</a:t>
            </a:r>
          </a:p>
          <a:p>
            <a:pPr>
              <a:lnSpc>
                <a:spcPct val="150000"/>
              </a:lnSpc>
            </a:pPr>
            <a:r>
              <a:rPr lang="en-US" sz="2800" b="1" dirty="0">
                <a:latin typeface="Calibir"/>
              </a:rPr>
              <a:t>Step 3:</a:t>
            </a:r>
            <a:r>
              <a:rPr lang="en-US" sz="2800" dirty="0">
                <a:latin typeface="Calibir"/>
              </a:rPr>
              <a:t> Use case diagram → draw.io or </a:t>
            </a:r>
            <a:r>
              <a:rPr lang="en-US" sz="2800" dirty="0" err="1">
                <a:latin typeface="Calibir"/>
              </a:rPr>
              <a:t>PlantUML</a:t>
            </a:r>
            <a:r>
              <a:rPr lang="en-US" sz="2800" dirty="0">
                <a:latin typeface="Calibir"/>
              </a:rPr>
              <a:t>.</a:t>
            </a:r>
          </a:p>
          <a:p>
            <a:pPr>
              <a:lnSpc>
                <a:spcPct val="150000"/>
              </a:lnSpc>
            </a:pPr>
            <a:r>
              <a:rPr lang="en-US" sz="2800" b="1" dirty="0">
                <a:latin typeface="Calibir"/>
              </a:rPr>
              <a:t>Step 4:</a:t>
            </a:r>
            <a:r>
              <a:rPr lang="en-US" sz="2800" dirty="0">
                <a:latin typeface="Calibir"/>
              </a:rPr>
              <a:t> Class diagram → draw.io, Visio, or </a:t>
            </a:r>
            <a:r>
              <a:rPr lang="en-US" sz="2800" dirty="0" err="1">
                <a:latin typeface="Calibir"/>
              </a:rPr>
              <a:t>PlantUML</a:t>
            </a:r>
            <a:r>
              <a:rPr lang="en-US" sz="2800" dirty="0">
                <a:latin typeface="Calibir"/>
              </a:rPr>
              <a:t>.</a:t>
            </a:r>
          </a:p>
          <a:p>
            <a:pPr>
              <a:lnSpc>
                <a:spcPct val="150000"/>
              </a:lnSpc>
            </a:pPr>
            <a:r>
              <a:rPr lang="en-US" sz="2800" i="1" dirty="0">
                <a:latin typeface="Calibir"/>
              </a:rPr>
              <a:t>Students do not need to write code for diagrams. Coding only starts in Part 2.</a:t>
            </a:r>
            <a:endParaRPr lang="en-US" sz="2800" dirty="0">
              <a:latin typeface="Calibir"/>
            </a:endParaRPr>
          </a:p>
        </p:txBody>
      </p:sp>
    </p:spTree>
    <p:extLst>
      <p:ext uri="{BB962C8B-B14F-4D97-AF65-F5344CB8AC3E}">
        <p14:creationId xmlns:p14="http://schemas.microsoft.com/office/powerpoint/2010/main" val="4270468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4009-CC5F-97A1-CB73-1608C5242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D65B0-6E15-949D-3F58-D587BAA2BB28}"/>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3B291E29-CAE3-FEF4-A8E5-F7E93D00A5F9}"/>
              </a:ext>
            </a:extLst>
          </p:cNvPr>
          <p:cNvSpPr>
            <a:spLocks noChangeArrowheads="1"/>
          </p:cNvSpPr>
          <p:nvPr/>
        </p:nvSpPr>
        <p:spPr bwMode="auto">
          <a:xfrm>
            <a:off x="184731" y="1154082"/>
            <a:ext cx="11100539"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5: Write System Rules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Email must end with @university.com.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Password: Uppercase first, ≥5 letters, then ≥3 digits (e.g., TigerPass123).</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IDs: 6 digits (zero-padded). Example: 000045.</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Subject IDs: 3 digits (zero-padded). Example: 007.</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Grades: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Z (&lt;50), P (50–64), C (65–74), D (75–84), HD (≥85).</a:t>
            </a:r>
          </a:p>
        </p:txBody>
      </p:sp>
    </p:spTree>
    <p:extLst>
      <p:ext uri="{BB962C8B-B14F-4D97-AF65-F5344CB8AC3E}">
        <p14:creationId xmlns:p14="http://schemas.microsoft.com/office/powerpoint/2010/main" val="3713041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77572-6310-AF50-87E8-3A79485C3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1748D-7DCF-985E-70E2-E026B6519C2A}"/>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073BA4A6-0BCB-858E-7316-011BA1AAECB0}"/>
              </a:ext>
            </a:extLst>
          </p:cNvPr>
          <p:cNvSpPr>
            <a:spLocks noChangeArrowheads="1"/>
          </p:cNvSpPr>
          <p:nvPr/>
        </p:nvSpPr>
        <p:spPr bwMode="auto">
          <a:xfrm>
            <a:off x="95880" y="1314355"/>
            <a:ext cx="11602215"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Step 6 – Design the Data File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Part 1 is analysis &amp; design only.</a:t>
            </a:r>
            <a:br>
              <a:rPr lang="en-US" altLang="en-US" sz="2800" dirty="0">
                <a:latin typeface="Calibir"/>
              </a:rPr>
            </a:br>
            <a:r>
              <a:rPr lang="en-US" altLang="en-US" sz="2800" dirty="0">
                <a:latin typeface="Calibir"/>
              </a:rPr>
              <a:t>Students do not need to actually create or code a JSON/CSV file in VS Code.</a:t>
            </a:r>
          </a:p>
        </p:txBody>
      </p:sp>
      <p:sp>
        <p:nvSpPr>
          <p:cNvPr id="3" name="Rectangle 1">
            <a:extLst>
              <a:ext uri="{FF2B5EF4-FFF2-40B4-BE49-F238E27FC236}">
                <a16:creationId xmlns:a16="http://schemas.microsoft.com/office/drawing/2014/main" id="{6EEBBEDF-575F-093E-AA3A-6F170CD63CA8}"/>
              </a:ext>
            </a:extLst>
          </p:cNvPr>
          <p:cNvSpPr>
            <a:spLocks noChangeArrowheads="1"/>
          </p:cNvSpPr>
          <p:nvPr/>
        </p:nvSpPr>
        <p:spPr bwMode="auto">
          <a:xfrm>
            <a:off x="155234" y="3579134"/>
            <a:ext cx="12036766"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Students don’t need to </a:t>
            </a:r>
            <a:r>
              <a:rPr lang="en-US" altLang="en-US" sz="2800" i="1" dirty="0">
                <a:latin typeface="Calibir"/>
              </a:rPr>
              <a:t>code</a:t>
            </a:r>
            <a:r>
              <a:rPr lang="en-US" altLang="en-US" sz="2800" dirty="0">
                <a:latin typeface="Calibir"/>
              </a:rPr>
              <a:t> or </a:t>
            </a:r>
            <a:r>
              <a:rPr lang="en-US" altLang="en-US" sz="2800" i="1" dirty="0">
                <a:latin typeface="Calibir"/>
              </a:rPr>
              <a:t>save</a:t>
            </a:r>
            <a:r>
              <a:rPr lang="en-US" altLang="en-US" sz="2800" dirty="0">
                <a:latin typeface="Calibir"/>
              </a:rPr>
              <a:t> a .</a:t>
            </a:r>
            <a:r>
              <a:rPr lang="en-US" altLang="en-US" sz="2800" dirty="0" err="1">
                <a:latin typeface="Calibir"/>
              </a:rPr>
              <a:t>json</a:t>
            </a:r>
            <a:r>
              <a:rPr lang="en-US" altLang="en-US" sz="2800" dirty="0">
                <a:latin typeface="Calibir"/>
              </a:rPr>
              <a:t> file in VS Code.</a:t>
            </a:r>
            <a:br>
              <a:rPr lang="en-US" altLang="en-US" sz="2800" dirty="0">
                <a:latin typeface="Calibir"/>
              </a:rPr>
            </a:br>
            <a:r>
              <a:rPr lang="en-US" altLang="en-US" sz="2800" dirty="0">
                <a:latin typeface="Calibir"/>
              </a:rPr>
              <a:t>They just need to show an example format (like above) inside their report, so that later in Part 2 (implementation) they know what structure to use.</a:t>
            </a:r>
          </a:p>
        </p:txBody>
      </p:sp>
    </p:spTree>
    <p:extLst>
      <p:ext uri="{BB962C8B-B14F-4D97-AF65-F5344CB8AC3E}">
        <p14:creationId xmlns:p14="http://schemas.microsoft.com/office/powerpoint/2010/main" val="1397842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17155-EA43-3F47-BFF2-DB0159142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84D61-E6C5-4BA0-DB6A-39E10AAFB7C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F5AFD09-93B9-4858-6070-351A8E3DDC29}"/>
              </a:ext>
            </a:extLst>
          </p:cNvPr>
          <p:cNvSpPr>
            <a:spLocks noChangeArrowheads="1"/>
          </p:cNvSpPr>
          <p:nvPr/>
        </p:nvSpPr>
        <p:spPr bwMode="auto">
          <a:xfrm>
            <a:off x="155234" y="1677229"/>
            <a:ext cx="916456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dirty="0">
                <a:latin typeface="Calibir"/>
              </a:rPr>
              <a:t>Example they can include in their report: Sample JSON format</a:t>
            </a:r>
          </a:p>
        </p:txBody>
      </p:sp>
      <p:pic>
        <p:nvPicPr>
          <p:cNvPr id="7" name="Picture 6">
            <a:extLst>
              <a:ext uri="{FF2B5EF4-FFF2-40B4-BE49-F238E27FC236}">
                <a16:creationId xmlns:a16="http://schemas.microsoft.com/office/drawing/2014/main" id="{6108974D-1E73-B7C4-D1CB-B5A3A81A1991}"/>
              </a:ext>
            </a:extLst>
          </p:cNvPr>
          <p:cNvPicPr>
            <a:picLocks noChangeAspect="1"/>
          </p:cNvPicPr>
          <p:nvPr/>
        </p:nvPicPr>
        <p:blipFill>
          <a:blip r:embed="rId2"/>
          <a:srcRect l="30968" t="12473" r="11209" b="67312"/>
          <a:stretch>
            <a:fillRect/>
          </a:stretch>
        </p:blipFill>
        <p:spPr>
          <a:xfrm>
            <a:off x="0" y="2571664"/>
            <a:ext cx="12192000" cy="2397591"/>
          </a:xfrm>
          <a:prstGeom prst="rect">
            <a:avLst/>
          </a:prstGeom>
        </p:spPr>
      </p:pic>
    </p:spTree>
    <p:extLst>
      <p:ext uri="{BB962C8B-B14F-4D97-AF65-F5344CB8AC3E}">
        <p14:creationId xmlns:p14="http://schemas.microsoft.com/office/powerpoint/2010/main" val="2203609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E00F-7B62-A5FA-22E9-F65C2FD41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1F271-82F0-3166-539E-E326606984E1}"/>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E1BC4579-98E0-712E-8FA4-732ABFFCF239}"/>
              </a:ext>
            </a:extLst>
          </p:cNvPr>
          <p:cNvSpPr>
            <a:spLocks noChangeArrowheads="1"/>
          </p:cNvSpPr>
          <p:nvPr/>
        </p:nvSpPr>
        <p:spPr bwMode="auto">
          <a:xfrm>
            <a:off x="155234" y="1677229"/>
            <a:ext cx="4887556"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dirty="0">
                <a:latin typeface="Calibir"/>
              </a:rPr>
              <a:t>Alternative snippet (CSV format)</a:t>
            </a:r>
          </a:p>
        </p:txBody>
      </p:sp>
      <p:pic>
        <p:nvPicPr>
          <p:cNvPr id="8" name="Picture 7">
            <a:extLst>
              <a:ext uri="{FF2B5EF4-FFF2-40B4-BE49-F238E27FC236}">
                <a16:creationId xmlns:a16="http://schemas.microsoft.com/office/drawing/2014/main" id="{6FF9390F-B37F-AEE9-62DA-F97F99D8F038}"/>
              </a:ext>
            </a:extLst>
          </p:cNvPr>
          <p:cNvPicPr>
            <a:picLocks noChangeAspect="1"/>
          </p:cNvPicPr>
          <p:nvPr/>
        </p:nvPicPr>
        <p:blipFill>
          <a:blip r:embed="rId2"/>
          <a:srcRect l="26008" t="52473" r="50000" b="34624"/>
          <a:stretch>
            <a:fillRect/>
          </a:stretch>
        </p:blipFill>
        <p:spPr>
          <a:xfrm>
            <a:off x="155234" y="2808389"/>
            <a:ext cx="7369280" cy="2229364"/>
          </a:xfrm>
          <a:prstGeom prst="rect">
            <a:avLst/>
          </a:prstGeom>
        </p:spPr>
      </p:pic>
    </p:spTree>
    <p:extLst>
      <p:ext uri="{BB962C8B-B14F-4D97-AF65-F5344CB8AC3E}">
        <p14:creationId xmlns:p14="http://schemas.microsoft.com/office/powerpoint/2010/main" val="2255488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4D18E-640C-66E2-0B59-BB157F776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77ED6-5CD9-6C50-BA56-3FA2D285B22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94D09B78-8B4C-A4E5-D07E-5E3C89396C8B}"/>
              </a:ext>
            </a:extLst>
          </p:cNvPr>
          <p:cNvSpPr>
            <a:spLocks noChangeArrowheads="1"/>
          </p:cNvSpPr>
          <p:nvPr/>
        </p:nvSpPr>
        <p:spPr bwMode="auto">
          <a:xfrm>
            <a:off x="155234" y="707734"/>
            <a:ext cx="1199931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7: Check quality</a:t>
            </a:r>
          </a:p>
          <a:p>
            <a:pPr marL="722313" indent="-457200">
              <a:lnSpc>
                <a:spcPct val="150000"/>
              </a:lnSpc>
              <a:buFont typeface="Arial" panose="020B0604020202020204" pitchFamily="34" charset="0"/>
              <a:buChar char="•"/>
              <a:tabLst>
                <a:tab pos="722313" algn="l"/>
              </a:tabLst>
            </a:pPr>
            <a:r>
              <a:rPr lang="en-US" sz="2800" dirty="0">
                <a:latin typeface="Calibir"/>
              </a:rPr>
              <a:t>Does every requirement appear in your </a:t>
            </a:r>
            <a:r>
              <a:rPr lang="en-US" sz="2800" b="1" dirty="0">
                <a:latin typeface="Calibir"/>
              </a:rPr>
              <a:t>user stories → use cases → classes</a:t>
            </a:r>
            <a:r>
              <a:rPr lang="en-US" sz="2800" dirty="0">
                <a:latin typeface="Calibir"/>
              </a:rPr>
              <a:t>?</a:t>
            </a:r>
          </a:p>
          <a:p>
            <a:pPr marL="722313" indent="-457200">
              <a:lnSpc>
                <a:spcPct val="150000"/>
              </a:lnSpc>
              <a:buFont typeface="Arial" panose="020B0604020202020204" pitchFamily="34" charset="0"/>
              <a:buChar char="•"/>
              <a:tabLst>
                <a:tab pos="722313" algn="l"/>
              </a:tabLst>
            </a:pPr>
            <a:r>
              <a:rPr lang="en-US" sz="2800" dirty="0">
                <a:latin typeface="Calibir"/>
              </a:rPr>
              <a:t>Are diagrams labelled clearly (multiplicity, include/extend)?</a:t>
            </a:r>
          </a:p>
          <a:p>
            <a:pPr marL="722313" indent="-457200">
              <a:lnSpc>
                <a:spcPct val="150000"/>
              </a:lnSpc>
              <a:buFont typeface="Arial" panose="020B0604020202020204" pitchFamily="34" charset="0"/>
              <a:buChar char="•"/>
              <a:tabLst>
                <a:tab pos="722313" algn="l"/>
              </a:tabLst>
            </a:pPr>
            <a:r>
              <a:rPr lang="en-US" sz="2800" dirty="0">
                <a:latin typeface="Calibir"/>
              </a:rPr>
              <a:t>Keep names consistent (e.g., “</a:t>
            </a:r>
            <a:r>
              <a:rPr lang="en-US" sz="2800" dirty="0" err="1">
                <a:latin typeface="Calibir"/>
              </a:rPr>
              <a:t>Enrol</a:t>
            </a:r>
            <a:r>
              <a:rPr lang="en-US" sz="2800" dirty="0">
                <a:latin typeface="Calibir"/>
              </a:rPr>
              <a:t> Subject” not sometimes “Add Course”).</a:t>
            </a:r>
          </a:p>
        </p:txBody>
      </p:sp>
    </p:spTree>
    <p:extLst>
      <p:ext uri="{BB962C8B-B14F-4D97-AF65-F5344CB8AC3E}">
        <p14:creationId xmlns:p14="http://schemas.microsoft.com/office/powerpoint/2010/main" val="2544299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207C-AA5F-CDE0-FA92-47346B931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286CB-8E32-9A28-4823-E084E3BC168C}"/>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61EAD6AA-D084-14F4-C822-CE883BFDC06A}"/>
              </a:ext>
            </a:extLst>
          </p:cNvPr>
          <p:cNvSpPr>
            <a:spLocks noChangeArrowheads="1"/>
          </p:cNvSpPr>
          <p:nvPr/>
        </p:nvSpPr>
        <p:spPr bwMode="auto">
          <a:xfrm>
            <a:off x="140486" y="672662"/>
            <a:ext cx="5749587"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Step 8: Write group contribution plan</a:t>
            </a:r>
          </a:p>
          <a:p>
            <a:pPr>
              <a:lnSpc>
                <a:spcPct val="150000"/>
              </a:lnSpc>
            </a:pPr>
            <a:r>
              <a:rPr lang="en-US" sz="2800" dirty="0">
                <a:latin typeface="Calibir"/>
              </a:rPr>
              <a:t>Make a simple table:</a:t>
            </a:r>
          </a:p>
        </p:txBody>
      </p:sp>
      <p:graphicFrame>
        <p:nvGraphicFramePr>
          <p:cNvPr id="3" name="Table 2">
            <a:extLst>
              <a:ext uri="{FF2B5EF4-FFF2-40B4-BE49-F238E27FC236}">
                <a16:creationId xmlns:a16="http://schemas.microsoft.com/office/drawing/2014/main" id="{890E5166-BBDB-2F37-FF43-CF0EC4D72FD6}"/>
              </a:ext>
            </a:extLst>
          </p:cNvPr>
          <p:cNvGraphicFramePr>
            <a:graphicFrameLocks noGrp="1"/>
          </p:cNvGraphicFramePr>
          <p:nvPr>
            <p:extLst>
              <p:ext uri="{D42A27DB-BD31-4B8C-83A1-F6EECF244321}">
                <p14:modId xmlns:p14="http://schemas.microsoft.com/office/powerpoint/2010/main" val="620132103"/>
              </p:ext>
            </p:extLst>
          </p:nvPr>
        </p:nvGraphicFramePr>
        <p:xfrm>
          <a:off x="632273" y="2205746"/>
          <a:ext cx="10515600" cy="2661412"/>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32274373"/>
                    </a:ext>
                  </a:extLst>
                </a:gridCol>
                <a:gridCol w="3505200">
                  <a:extLst>
                    <a:ext uri="{9D8B030D-6E8A-4147-A177-3AD203B41FA5}">
                      <a16:colId xmlns:a16="http://schemas.microsoft.com/office/drawing/2014/main" val="1826405749"/>
                    </a:ext>
                  </a:extLst>
                </a:gridCol>
                <a:gridCol w="3505200">
                  <a:extLst>
                    <a:ext uri="{9D8B030D-6E8A-4147-A177-3AD203B41FA5}">
                      <a16:colId xmlns:a16="http://schemas.microsoft.com/office/drawing/2014/main" val="1076883493"/>
                    </a:ext>
                  </a:extLst>
                </a:gridCol>
              </a:tblGrid>
              <a:tr h="0">
                <a:tc>
                  <a:txBody>
                    <a:bodyPr/>
                    <a:lstStyle/>
                    <a:p>
                      <a:pPr>
                        <a:lnSpc>
                          <a:spcPct val="150000"/>
                        </a:lnSpc>
                        <a:buNone/>
                      </a:pPr>
                      <a:r>
                        <a:rPr lang="en-US" sz="2800" dirty="0">
                          <a:latin typeface="Calibir"/>
                        </a:rPr>
                        <a:t>Member</a:t>
                      </a:r>
                    </a:p>
                  </a:txBody>
                  <a:tcPr anchor="ctr">
                    <a:solidFill>
                      <a:schemeClr val="accent5">
                        <a:lumMod val="20000"/>
                        <a:lumOff val="80000"/>
                      </a:schemeClr>
                    </a:solidFill>
                  </a:tcPr>
                </a:tc>
                <a:tc>
                  <a:txBody>
                    <a:bodyPr/>
                    <a:lstStyle/>
                    <a:p>
                      <a:pPr>
                        <a:lnSpc>
                          <a:spcPct val="150000"/>
                        </a:lnSpc>
                        <a:buNone/>
                      </a:pPr>
                      <a:r>
                        <a:rPr lang="en-US" sz="2800" dirty="0">
                          <a:latin typeface="Calibir"/>
                        </a:rPr>
                        <a:t>Main Role</a:t>
                      </a:r>
                    </a:p>
                  </a:txBody>
                  <a:tcPr anchor="ctr">
                    <a:solidFill>
                      <a:schemeClr val="accent5">
                        <a:lumMod val="20000"/>
                        <a:lumOff val="80000"/>
                      </a:schemeClr>
                    </a:solidFill>
                  </a:tcPr>
                </a:tc>
                <a:tc>
                  <a:txBody>
                    <a:bodyPr/>
                    <a:lstStyle/>
                    <a:p>
                      <a:pPr>
                        <a:lnSpc>
                          <a:spcPct val="150000"/>
                        </a:lnSpc>
                        <a:buNone/>
                      </a:pPr>
                      <a:r>
                        <a:rPr lang="en-US" sz="2800" dirty="0">
                          <a:latin typeface="Calibir"/>
                        </a:rPr>
                        <a:t>Also helps with…</a:t>
                      </a:r>
                    </a:p>
                  </a:txBody>
                  <a:tcPr anchor="ctr">
                    <a:solidFill>
                      <a:schemeClr val="accent5">
                        <a:lumMod val="20000"/>
                        <a:lumOff val="80000"/>
                      </a:schemeClr>
                    </a:solidFill>
                  </a:tcPr>
                </a:tc>
                <a:extLst>
                  <a:ext uri="{0D108BD9-81ED-4DB2-BD59-A6C34878D82A}">
                    <a16:rowId xmlns:a16="http://schemas.microsoft.com/office/drawing/2014/main" val="4047359846"/>
                  </a:ext>
                </a:extLst>
              </a:tr>
              <a:tr h="0">
                <a:tc>
                  <a:txBody>
                    <a:bodyPr/>
                    <a:lstStyle/>
                    <a:p>
                      <a:pPr>
                        <a:lnSpc>
                          <a:spcPct val="150000"/>
                        </a:lnSpc>
                        <a:buNone/>
                      </a:pPr>
                      <a:r>
                        <a:rPr lang="en-US" sz="2800">
                          <a:latin typeface="Calibir"/>
                        </a:rPr>
                        <a:t>Asha</a:t>
                      </a:r>
                    </a:p>
                  </a:txBody>
                  <a:tcPr anchor="ctr"/>
                </a:tc>
                <a:tc>
                  <a:txBody>
                    <a:bodyPr/>
                    <a:lstStyle/>
                    <a:p>
                      <a:pPr>
                        <a:lnSpc>
                          <a:spcPct val="150000"/>
                        </a:lnSpc>
                        <a:buNone/>
                      </a:pPr>
                      <a:r>
                        <a:rPr lang="en-US" sz="2800">
                          <a:latin typeface="Calibir"/>
                        </a:rPr>
                        <a:t>User stories/backlog</a:t>
                      </a:r>
                    </a:p>
                  </a:txBody>
                  <a:tcPr anchor="ctr"/>
                </a:tc>
                <a:tc>
                  <a:txBody>
                    <a:bodyPr/>
                    <a:lstStyle/>
                    <a:p>
                      <a:pPr>
                        <a:lnSpc>
                          <a:spcPct val="150000"/>
                        </a:lnSpc>
                        <a:buNone/>
                      </a:pPr>
                      <a:r>
                        <a:rPr lang="en-US" sz="2800">
                          <a:latin typeface="Calibir"/>
                        </a:rPr>
                        <a:t>Use case diagram</a:t>
                      </a:r>
                    </a:p>
                  </a:txBody>
                  <a:tcPr anchor="ctr"/>
                </a:tc>
                <a:extLst>
                  <a:ext uri="{0D108BD9-81ED-4DB2-BD59-A6C34878D82A}">
                    <a16:rowId xmlns:a16="http://schemas.microsoft.com/office/drawing/2014/main" val="468563056"/>
                  </a:ext>
                </a:extLst>
              </a:tr>
              <a:tr h="0">
                <a:tc>
                  <a:txBody>
                    <a:bodyPr/>
                    <a:lstStyle/>
                    <a:p>
                      <a:pPr>
                        <a:lnSpc>
                          <a:spcPct val="150000"/>
                        </a:lnSpc>
                        <a:buNone/>
                      </a:pPr>
                      <a:r>
                        <a:rPr lang="en-US" sz="2800">
                          <a:latin typeface="Calibir"/>
                        </a:rPr>
                        <a:t>Liam</a:t>
                      </a:r>
                    </a:p>
                  </a:txBody>
                  <a:tcPr anchor="ctr"/>
                </a:tc>
                <a:tc>
                  <a:txBody>
                    <a:bodyPr/>
                    <a:lstStyle/>
                    <a:p>
                      <a:pPr>
                        <a:lnSpc>
                          <a:spcPct val="150000"/>
                        </a:lnSpc>
                        <a:buNone/>
                      </a:pPr>
                      <a:r>
                        <a:rPr lang="en-US" sz="2800">
                          <a:latin typeface="Calibir"/>
                        </a:rPr>
                        <a:t>Class diagram</a:t>
                      </a:r>
                    </a:p>
                  </a:txBody>
                  <a:tcPr anchor="ctr"/>
                </a:tc>
                <a:tc>
                  <a:txBody>
                    <a:bodyPr/>
                    <a:lstStyle/>
                    <a:p>
                      <a:pPr>
                        <a:lnSpc>
                          <a:spcPct val="150000"/>
                        </a:lnSpc>
                        <a:buNone/>
                      </a:pPr>
                      <a:r>
                        <a:rPr lang="en-US" sz="2800">
                          <a:latin typeface="Calibir"/>
                        </a:rPr>
                        <a:t>Report formatting</a:t>
                      </a:r>
                    </a:p>
                  </a:txBody>
                  <a:tcPr anchor="ctr"/>
                </a:tc>
                <a:extLst>
                  <a:ext uri="{0D108BD9-81ED-4DB2-BD59-A6C34878D82A}">
                    <a16:rowId xmlns:a16="http://schemas.microsoft.com/office/drawing/2014/main" val="2520536471"/>
                  </a:ext>
                </a:extLst>
              </a:tr>
              <a:tr h="0">
                <a:tc>
                  <a:txBody>
                    <a:bodyPr/>
                    <a:lstStyle/>
                    <a:p>
                      <a:pPr>
                        <a:lnSpc>
                          <a:spcPct val="150000"/>
                        </a:lnSpc>
                        <a:buNone/>
                      </a:pPr>
                      <a:r>
                        <a:rPr lang="en-US" sz="2800">
                          <a:latin typeface="Calibir"/>
                        </a:rPr>
                        <a:t>Chen</a:t>
                      </a:r>
                    </a:p>
                  </a:txBody>
                  <a:tcPr anchor="ctr"/>
                </a:tc>
                <a:tc>
                  <a:txBody>
                    <a:bodyPr/>
                    <a:lstStyle/>
                    <a:p>
                      <a:pPr>
                        <a:lnSpc>
                          <a:spcPct val="150000"/>
                        </a:lnSpc>
                        <a:buNone/>
                      </a:pPr>
                      <a:r>
                        <a:rPr lang="en-US" sz="2800">
                          <a:latin typeface="Calibir"/>
                        </a:rPr>
                        <a:t>Data file + rules</a:t>
                      </a:r>
                    </a:p>
                  </a:txBody>
                  <a:tcPr anchor="ctr"/>
                </a:tc>
                <a:tc>
                  <a:txBody>
                    <a:bodyPr/>
                    <a:lstStyle/>
                    <a:p>
                      <a:pPr>
                        <a:lnSpc>
                          <a:spcPct val="150000"/>
                        </a:lnSpc>
                        <a:buNone/>
                      </a:pPr>
                      <a:r>
                        <a:rPr lang="en-US" sz="2800" dirty="0">
                          <a:latin typeface="Calibir"/>
                        </a:rPr>
                        <a:t>Proofreading</a:t>
                      </a:r>
                    </a:p>
                  </a:txBody>
                  <a:tcPr anchor="ctr"/>
                </a:tc>
                <a:extLst>
                  <a:ext uri="{0D108BD9-81ED-4DB2-BD59-A6C34878D82A}">
                    <a16:rowId xmlns:a16="http://schemas.microsoft.com/office/drawing/2014/main" val="2601975655"/>
                  </a:ext>
                </a:extLst>
              </a:tr>
            </a:tbl>
          </a:graphicData>
        </a:graphic>
      </p:graphicFrame>
    </p:spTree>
    <p:extLst>
      <p:ext uri="{BB962C8B-B14F-4D97-AF65-F5344CB8AC3E}">
        <p14:creationId xmlns:p14="http://schemas.microsoft.com/office/powerpoint/2010/main" val="3760810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83C5C-B350-A4FF-1751-ADA95EE54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A2950-FA6A-AC2E-0DD7-7A0380B35E9D}"/>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9AD7E200-36A2-17D5-D45C-C841146B8736}"/>
              </a:ext>
            </a:extLst>
          </p:cNvPr>
          <p:cNvSpPr>
            <a:spLocks noChangeArrowheads="1"/>
          </p:cNvSpPr>
          <p:nvPr/>
        </p:nvSpPr>
        <p:spPr bwMode="auto">
          <a:xfrm>
            <a:off x="140486" y="672662"/>
            <a:ext cx="6115072" cy="583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Submission Checklist</a:t>
            </a:r>
          </a:p>
          <a:p>
            <a:pPr marL="265113">
              <a:lnSpc>
                <a:spcPct val="150000"/>
              </a:lnSpc>
            </a:pPr>
            <a:r>
              <a:rPr lang="en-US" sz="2800" dirty="0">
                <a:latin typeface="Calibir"/>
              </a:rPr>
              <a:t>✔ Cover page (unit, group, names, IDs)</a:t>
            </a:r>
            <a:br>
              <a:rPr lang="en-US" sz="2800" dirty="0">
                <a:latin typeface="Calibir"/>
              </a:rPr>
            </a:br>
            <a:r>
              <a:rPr lang="en-US" sz="2800" dirty="0">
                <a:latin typeface="Calibir"/>
              </a:rPr>
              <a:t>✔ Scope summary</a:t>
            </a:r>
            <a:br>
              <a:rPr lang="en-US" sz="2800" dirty="0">
                <a:latin typeface="Calibir"/>
              </a:rPr>
            </a:br>
            <a:r>
              <a:rPr lang="en-US" sz="2800" dirty="0">
                <a:latin typeface="Calibir"/>
              </a:rPr>
              <a:t>✔ User stories table (backlog)</a:t>
            </a:r>
            <a:br>
              <a:rPr lang="en-US" sz="2800" dirty="0">
                <a:latin typeface="Calibir"/>
              </a:rPr>
            </a:br>
            <a:r>
              <a:rPr lang="en-US" sz="2800" dirty="0">
                <a:latin typeface="Calibir"/>
              </a:rPr>
              <a:t>✔ Use case diagram + short notes</a:t>
            </a:r>
            <a:br>
              <a:rPr lang="en-US" sz="2800" dirty="0">
                <a:latin typeface="Calibir"/>
              </a:rPr>
            </a:br>
            <a:r>
              <a:rPr lang="en-US" sz="2800" dirty="0">
                <a:latin typeface="Calibir"/>
              </a:rPr>
              <a:t>✔ Class diagram + notes</a:t>
            </a:r>
            <a:br>
              <a:rPr lang="en-US" sz="2800" dirty="0">
                <a:latin typeface="Calibir"/>
              </a:rPr>
            </a:br>
            <a:r>
              <a:rPr lang="en-US" sz="2800" dirty="0">
                <a:latin typeface="Calibir"/>
              </a:rPr>
              <a:t>✔ Rules/constraints</a:t>
            </a:r>
            <a:br>
              <a:rPr lang="en-US" sz="2800" dirty="0">
                <a:latin typeface="Calibir"/>
              </a:rPr>
            </a:br>
            <a:r>
              <a:rPr lang="en-US" sz="2800" dirty="0">
                <a:latin typeface="Calibir"/>
              </a:rPr>
              <a:t>✔ Data file sample</a:t>
            </a:r>
            <a:br>
              <a:rPr lang="en-US" sz="2800" dirty="0">
                <a:latin typeface="Calibir"/>
              </a:rPr>
            </a:br>
            <a:r>
              <a:rPr lang="en-US" sz="2800" dirty="0">
                <a:latin typeface="Calibir"/>
              </a:rPr>
              <a:t>✔ Contribution table</a:t>
            </a:r>
          </a:p>
        </p:txBody>
      </p:sp>
    </p:spTree>
    <p:extLst>
      <p:ext uri="{BB962C8B-B14F-4D97-AF65-F5344CB8AC3E}">
        <p14:creationId xmlns:p14="http://schemas.microsoft.com/office/powerpoint/2010/main" val="49812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E9F6-1502-D79C-3B0E-B02B51807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DCFC2-FC8C-FC4B-0008-9B3F68078A74}"/>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34A5C82-67BB-4D02-D005-4C5BA7D7E0AE}"/>
              </a:ext>
            </a:extLst>
          </p:cNvPr>
          <p:cNvSpPr>
            <a:spLocks noChangeArrowheads="1"/>
          </p:cNvSpPr>
          <p:nvPr/>
        </p:nvSpPr>
        <p:spPr bwMode="auto">
          <a:xfrm>
            <a:off x="140486" y="1640716"/>
            <a:ext cx="9375452"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Don’ts</a:t>
            </a:r>
          </a:p>
          <a:p>
            <a:pPr marL="914400" lvl="1" indent="-457200">
              <a:lnSpc>
                <a:spcPct val="150000"/>
              </a:lnSpc>
              <a:buFont typeface="Arial" panose="020B0604020202020204" pitchFamily="34" charset="0"/>
              <a:buChar char="•"/>
            </a:pPr>
            <a:r>
              <a:rPr lang="en-US" sz="2800" dirty="0">
                <a:latin typeface="Calibir"/>
              </a:rPr>
              <a:t>Don’t write vague stories (e.g., “manage subjects”).</a:t>
            </a:r>
          </a:p>
          <a:p>
            <a:pPr marL="914400" lvl="1" indent="-457200">
              <a:lnSpc>
                <a:spcPct val="150000"/>
              </a:lnSpc>
              <a:buFont typeface="Arial" panose="020B0604020202020204" pitchFamily="34" charset="0"/>
              <a:buChar char="•"/>
            </a:pPr>
            <a:r>
              <a:rPr lang="en-US" sz="2800" dirty="0">
                <a:latin typeface="Calibir"/>
              </a:rPr>
              <a:t>Don’t skip multiplicities in class diagrams.</a:t>
            </a:r>
          </a:p>
          <a:p>
            <a:pPr marL="914400" lvl="1" indent="-457200">
              <a:lnSpc>
                <a:spcPct val="150000"/>
              </a:lnSpc>
              <a:buFont typeface="Arial" panose="020B0604020202020204" pitchFamily="34" charset="0"/>
              <a:buChar char="•"/>
            </a:pPr>
            <a:r>
              <a:rPr lang="en-US" sz="2800" dirty="0">
                <a:latin typeface="Calibir"/>
              </a:rPr>
              <a:t>Don’t design GUI in detail (CLI only).</a:t>
            </a:r>
          </a:p>
          <a:p>
            <a:pPr marL="914400" lvl="1" indent="-457200">
              <a:lnSpc>
                <a:spcPct val="150000"/>
              </a:lnSpc>
              <a:buFont typeface="Arial" panose="020B0604020202020204" pitchFamily="34" charset="0"/>
              <a:buChar char="•"/>
            </a:pPr>
            <a:r>
              <a:rPr lang="en-US" sz="2800" dirty="0">
                <a:latin typeface="Calibir"/>
              </a:rPr>
              <a:t>Don’t forget ID/grade rules.</a:t>
            </a:r>
          </a:p>
          <a:p>
            <a:pPr marL="914400" lvl="1" indent="-457200">
              <a:lnSpc>
                <a:spcPct val="150000"/>
              </a:lnSpc>
              <a:buFont typeface="Arial" panose="020B0604020202020204" pitchFamily="34" charset="0"/>
              <a:buChar char="•"/>
            </a:pPr>
            <a:r>
              <a:rPr lang="en-US" sz="2800" dirty="0">
                <a:latin typeface="Calibir"/>
              </a:rPr>
              <a:t>Don’t submit multiple files (group submits one file only).</a:t>
            </a:r>
          </a:p>
        </p:txBody>
      </p:sp>
    </p:spTree>
    <p:extLst>
      <p:ext uri="{BB962C8B-B14F-4D97-AF65-F5344CB8AC3E}">
        <p14:creationId xmlns:p14="http://schemas.microsoft.com/office/powerpoint/2010/main" val="2968607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AC6F3-2899-E085-6B85-8D9448C40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FD59F-D37A-0A80-55DA-2C4C4F5A3021}"/>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01C8A28C-EB3C-A9A4-F7F4-2496E78BCA0E}"/>
              </a:ext>
            </a:extLst>
          </p:cNvPr>
          <p:cNvSpPr>
            <a:spLocks noChangeArrowheads="1"/>
          </p:cNvSpPr>
          <p:nvPr/>
        </p:nvSpPr>
        <p:spPr bwMode="auto">
          <a:xfrm>
            <a:off x="140486" y="2287047"/>
            <a:ext cx="11890947"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US" sz="2800" b="1" dirty="0">
                <a:latin typeface="Calibir"/>
              </a:rPr>
              <a:t>Marking Made Simple (15 marks)</a:t>
            </a:r>
          </a:p>
          <a:p>
            <a:pPr marL="811213" indent="-457200">
              <a:lnSpc>
                <a:spcPct val="150000"/>
              </a:lnSpc>
              <a:buFont typeface="Arial" panose="020B0604020202020204" pitchFamily="34" charset="0"/>
              <a:buChar char="•"/>
            </a:pPr>
            <a:r>
              <a:rPr lang="en-US" sz="2800" dirty="0">
                <a:latin typeface="Calibir"/>
              </a:rPr>
              <a:t>5 marks → User stories + backlog.</a:t>
            </a:r>
          </a:p>
          <a:p>
            <a:pPr marL="811213" indent="-457200">
              <a:lnSpc>
                <a:spcPct val="150000"/>
              </a:lnSpc>
              <a:buFont typeface="Arial" panose="020B0604020202020204" pitchFamily="34" charset="0"/>
              <a:buChar char="•"/>
            </a:pPr>
            <a:r>
              <a:rPr lang="en-US" sz="2800" dirty="0">
                <a:latin typeface="Calibir"/>
              </a:rPr>
              <a:t>5 marks → Use case diagram (actors, actions, correct labels).</a:t>
            </a:r>
          </a:p>
          <a:p>
            <a:pPr marL="811213" indent="-457200">
              <a:lnSpc>
                <a:spcPct val="150000"/>
              </a:lnSpc>
              <a:buFont typeface="Arial" panose="020B0604020202020204" pitchFamily="34" charset="0"/>
              <a:buChar char="•"/>
            </a:pPr>
            <a:r>
              <a:rPr lang="en-US" sz="2800" dirty="0">
                <a:latin typeface="Calibir"/>
              </a:rPr>
              <a:t>5 marks → Class diagram (right classes, attributes/methods, relationships).</a:t>
            </a:r>
          </a:p>
        </p:txBody>
      </p:sp>
    </p:spTree>
    <p:extLst>
      <p:ext uri="{BB962C8B-B14F-4D97-AF65-F5344CB8AC3E}">
        <p14:creationId xmlns:p14="http://schemas.microsoft.com/office/powerpoint/2010/main" val="3776605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6A8A-8885-1F96-066E-57BA4F2B5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D11BD-5022-9CEA-3E77-E39207DFB6B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35265C51-2A89-0927-31AA-F4631B85DFFD}"/>
              </a:ext>
            </a:extLst>
          </p:cNvPr>
          <p:cNvSpPr>
            <a:spLocks noChangeArrowheads="1"/>
          </p:cNvSpPr>
          <p:nvPr/>
        </p:nvSpPr>
        <p:spPr bwMode="auto">
          <a:xfrm>
            <a:off x="140486" y="994386"/>
            <a:ext cx="10198369"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Quick mini examples</a:t>
            </a:r>
          </a:p>
          <a:p>
            <a:pPr lvl="0" eaLnBrk="0" fontAlgn="base" hangingPunct="0">
              <a:lnSpc>
                <a:spcPct val="150000"/>
              </a:lnSpc>
              <a:spcBef>
                <a:spcPct val="0"/>
              </a:spcBef>
              <a:spcAft>
                <a:spcPct val="0"/>
              </a:spcAft>
            </a:pPr>
            <a:r>
              <a:rPr lang="en-US" altLang="en-US" sz="2800" b="1" dirty="0">
                <a:latin typeface="Calibir"/>
              </a:rPr>
              <a:t>Login flow</a:t>
            </a:r>
            <a:endParaRPr lang="en-US" altLang="en-US" sz="2800" dirty="0">
              <a:latin typeface="Calibir"/>
            </a:endParaRP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enters maria@university.com, TigerPass123.</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System checks → OK → Student menu opens.</a:t>
            </a:r>
          </a:p>
          <a:p>
            <a:pPr lvl="0" eaLnBrk="0" fontAlgn="base" hangingPunct="0">
              <a:lnSpc>
                <a:spcPct val="150000"/>
              </a:lnSpc>
              <a:spcBef>
                <a:spcPct val="0"/>
              </a:spcBef>
              <a:spcAft>
                <a:spcPct val="0"/>
              </a:spcAft>
            </a:pPr>
            <a:r>
              <a:rPr lang="en-US" altLang="en-US" sz="2800" b="1" dirty="0" err="1">
                <a:latin typeface="Calibir"/>
              </a:rPr>
              <a:t>Enrol</a:t>
            </a:r>
            <a:r>
              <a:rPr lang="en-US" altLang="en-US" sz="2800" b="1" dirty="0">
                <a:latin typeface="Calibir"/>
              </a:rPr>
              <a:t> flow</a:t>
            </a:r>
            <a:endParaRPr lang="en-US" altLang="en-US" sz="2800" dirty="0">
              <a:latin typeface="Calibir"/>
            </a:endParaRP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 has 3 subjects.</a:t>
            </a: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Clicks “</a:t>
            </a:r>
            <a:r>
              <a:rPr lang="en-US" altLang="en-US" sz="2800" dirty="0" err="1">
                <a:latin typeface="Calibir"/>
              </a:rPr>
              <a:t>Enrol</a:t>
            </a:r>
            <a:r>
              <a:rPr lang="en-US" altLang="en-US" sz="2800" dirty="0">
                <a:latin typeface="Calibir"/>
              </a:rPr>
              <a:t>” → new subject ID 008 assigned, mark 74, grade C.</a:t>
            </a:r>
          </a:p>
          <a:p>
            <a:pPr marL="7223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Total = 4 subjects now.</a:t>
            </a:r>
          </a:p>
        </p:txBody>
      </p:sp>
    </p:spTree>
    <p:extLst>
      <p:ext uri="{BB962C8B-B14F-4D97-AF65-F5344CB8AC3E}">
        <p14:creationId xmlns:p14="http://schemas.microsoft.com/office/powerpoint/2010/main" val="453871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FBD2-B13B-8438-5F6C-66F947D4F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099F2-F462-1B6B-B3E7-CA99952DE61F}"/>
              </a:ext>
            </a:extLst>
          </p:cNvPr>
          <p:cNvSpPr>
            <a:spLocks noGrp="1"/>
          </p:cNvSpPr>
          <p:nvPr>
            <p:ph type="title"/>
          </p:nvPr>
        </p:nvSpPr>
        <p:spPr>
          <a:xfrm>
            <a:off x="0" y="0"/>
            <a:ext cx="12192000" cy="672662"/>
          </a:xfrm>
        </p:spPr>
        <p:txBody>
          <a:bodyPr anchor="b">
            <a:normAutofit fontScale="90000"/>
          </a:bodyPr>
          <a:lstStyle/>
          <a:p>
            <a:r>
              <a:rPr lang="en-US" sz="4000" dirty="0">
                <a:latin typeface="Calibir"/>
              </a:rPr>
              <a:t>Preparation for Group Assignment – Part 1: Analysis and Design</a:t>
            </a:r>
            <a:endParaRPr lang="en-AU" sz="4000" b="1" dirty="0">
              <a:latin typeface="Calibir"/>
            </a:endParaRPr>
          </a:p>
        </p:txBody>
      </p:sp>
      <p:sp>
        <p:nvSpPr>
          <p:cNvPr id="5" name="Rectangle 1">
            <a:extLst>
              <a:ext uri="{FF2B5EF4-FFF2-40B4-BE49-F238E27FC236}">
                <a16:creationId xmlns:a16="http://schemas.microsoft.com/office/drawing/2014/main" id="{C1C6551D-0A6A-014B-BA3E-D1744D37AE31}"/>
              </a:ext>
            </a:extLst>
          </p:cNvPr>
          <p:cNvSpPr>
            <a:spLocks noChangeArrowheads="1"/>
          </p:cNvSpPr>
          <p:nvPr/>
        </p:nvSpPr>
        <p:spPr bwMode="auto">
          <a:xfrm>
            <a:off x="77424" y="672662"/>
            <a:ext cx="7814383"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highlight>
                  <a:srgbClr val="FFFF00"/>
                </a:highlight>
                <a:latin typeface="Calibir"/>
              </a:rPr>
              <a:t>Question and Answer (Canvas Inbox, Live, or Email)</a:t>
            </a:r>
            <a:endParaRPr lang="en-US" altLang="en-US" sz="2800" dirty="0">
              <a:highlight>
                <a:srgbClr val="FFFF00"/>
              </a:highlight>
              <a:latin typeface="Calibir"/>
            </a:endParaRPr>
          </a:p>
        </p:txBody>
      </p:sp>
      <p:sp>
        <p:nvSpPr>
          <p:cNvPr id="4" name="TextBox 3">
            <a:extLst>
              <a:ext uri="{FF2B5EF4-FFF2-40B4-BE49-F238E27FC236}">
                <a16:creationId xmlns:a16="http://schemas.microsoft.com/office/drawing/2014/main" id="{53A3B9E9-40E2-F5BE-7D9D-FA25C77019F9}"/>
              </a:ext>
            </a:extLst>
          </p:cNvPr>
          <p:cNvSpPr txBox="1"/>
          <p:nvPr/>
        </p:nvSpPr>
        <p:spPr>
          <a:xfrm>
            <a:off x="0" y="1513491"/>
            <a:ext cx="12002814" cy="3257174"/>
          </a:xfrm>
          <a:prstGeom prst="rect">
            <a:avLst/>
          </a:prstGeom>
          <a:noFill/>
        </p:spPr>
        <p:txBody>
          <a:bodyPr wrap="square">
            <a:spAutoFit/>
          </a:bodyPr>
          <a:lstStyle/>
          <a:p>
            <a:pPr algn="l" rtl="0" fontAlgn="base">
              <a:lnSpc>
                <a:spcPct val="150000"/>
              </a:lnSpc>
              <a:buNone/>
            </a:pPr>
            <a:r>
              <a:rPr lang="en-US" sz="2800" b="0" i="0" dirty="0">
                <a:solidFill>
                  <a:srgbClr val="242424"/>
                </a:solidFill>
                <a:effectLst/>
                <a:latin typeface="Calibir"/>
              </a:rPr>
              <a:t>Good morning,</a:t>
            </a:r>
          </a:p>
          <a:p>
            <a:pPr algn="l" rtl="0" fontAlgn="base">
              <a:lnSpc>
                <a:spcPct val="150000"/>
              </a:lnSpc>
              <a:buNone/>
            </a:pPr>
            <a:r>
              <a:rPr lang="en-US" sz="2800" b="0" i="0" dirty="0">
                <a:solidFill>
                  <a:srgbClr val="242424"/>
                </a:solidFill>
                <a:effectLst/>
                <a:latin typeface="Calibir"/>
              </a:rPr>
              <a:t>Sir, I have a question for are we allowed to use other drawing app other than Visual diagrams? </a:t>
            </a:r>
          </a:p>
          <a:p>
            <a:pPr algn="l" rtl="0" fontAlgn="base">
              <a:lnSpc>
                <a:spcPct val="150000"/>
              </a:lnSpc>
              <a:buNone/>
            </a:pPr>
            <a:r>
              <a:rPr lang="en-US" sz="2800" b="0" i="0" dirty="0">
                <a:solidFill>
                  <a:srgbClr val="242424"/>
                </a:solidFill>
                <a:effectLst/>
                <a:latin typeface="Calibir"/>
              </a:rPr>
              <a:t>Hope you have a great day!</a:t>
            </a:r>
          </a:p>
          <a:p>
            <a:pPr algn="l" rtl="0" fontAlgn="base">
              <a:lnSpc>
                <a:spcPct val="150000"/>
              </a:lnSpc>
              <a:buNone/>
            </a:pPr>
            <a:r>
              <a:rPr lang="en-US" sz="2800" b="0" i="0" dirty="0">
                <a:solidFill>
                  <a:srgbClr val="242424"/>
                </a:solidFill>
                <a:effectLst/>
                <a:latin typeface="Calibir"/>
              </a:rPr>
              <a:t>Kind regards,</a:t>
            </a:r>
          </a:p>
        </p:txBody>
      </p:sp>
    </p:spTree>
    <p:extLst>
      <p:ext uri="{BB962C8B-B14F-4D97-AF65-F5344CB8AC3E}">
        <p14:creationId xmlns:p14="http://schemas.microsoft.com/office/powerpoint/2010/main" val="106322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7AF6E-9E28-FD0A-B5E9-E9FD538AD3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CB0F56F-8E70-2F56-46A5-E7330082D501}"/>
              </a:ext>
            </a:extLst>
          </p:cNvPr>
          <p:cNvSpPr txBox="1"/>
          <p:nvPr/>
        </p:nvSpPr>
        <p:spPr>
          <a:xfrm>
            <a:off x="0" y="-145761"/>
            <a:ext cx="12192000" cy="7149521"/>
          </a:xfrm>
          <a:prstGeom prst="rect">
            <a:avLst/>
          </a:prstGeom>
          <a:noFill/>
        </p:spPr>
        <p:txBody>
          <a:bodyPr wrap="square">
            <a:spAutoFit/>
          </a:bodyPr>
          <a:lstStyle/>
          <a:p>
            <a:pPr>
              <a:lnSpc>
                <a:spcPct val="150000"/>
              </a:lnSpc>
              <a:buNone/>
            </a:pPr>
            <a:r>
              <a:rPr lang="en-US" sz="2200" b="1" dirty="0">
                <a:latin typeface="Calibir"/>
              </a:rPr>
              <a:t>Answer:</a:t>
            </a:r>
          </a:p>
          <a:p>
            <a:pPr>
              <a:lnSpc>
                <a:spcPct val="150000"/>
              </a:lnSpc>
              <a:buNone/>
            </a:pPr>
            <a:r>
              <a:rPr lang="en-US" sz="2200" dirty="0">
                <a:latin typeface="Calibir"/>
              </a:rPr>
              <a:t>Thank you for your question. For Assessment 1 – Part 1, you are not limited to one specific drawing tool. You may use draw.io (diagrams.net), Microsoft Visio, </a:t>
            </a:r>
            <a:r>
              <a:rPr lang="en-US" sz="2200" dirty="0" err="1">
                <a:latin typeface="Calibir"/>
              </a:rPr>
              <a:t>Lucidchart</a:t>
            </a:r>
            <a:r>
              <a:rPr lang="en-US" sz="2200" dirty="0">
                <a:latin typeface="Calibir"/>
              </a:rPr>
              <a:t>, or any other appropriate software to create your Use Case Diagram and Class Diagram, as long as the diagrams are clear, properly labelled, and consistent with the requirements.</a:t>
            </a:r>
          </a:p>
          <a:p>
            <a:pPr>
              <a:lnSpc>
                <a:spcPct val="150000"/>
              </a:lnSpc>
              <a:buNone/>
            </a:pPr>
            <a:r>
              <a:rPr lang="en-US" sz="2200" dirty="0">
                <a:latin typeface="Calibir"/>
              </a:rPr>
              <a:t>Please remember that this part of the assessment focuses on analysis and design, so you are not required to write any code. What matters most is that your submission includes:</a:t>
            </a:r>
          </a:p>
          <a:p>
            <a:pPr marL="623888" indent="-342900">
              <a:lnSpc>
                <a:spcPct val="150000"/>
              </a:lnSpc>
              <a:buFont typeface="Arial" panose="020B0604020202020204" pitchFamily="34" charset="0"/>
              <a:buChar char="•"/>
            </a:pPr>
            <a:r>
              <a:rPr lang="en-US" sz="2200" dirty="0">
                <a:latin typeface="Calibir"/>
              </a:rPr>
              <a:t>A correct user-story backlog (in table format),</a:t>
            </a:r>
          </a:p>
          <a:p>
            <a:pPr marL="623888" indent="-342900">
              <a:lnSpc>
                <a:spcPct val="150000"/>
              </a:lnSpc>
              <a:buFont typeface="Arial" panose="020B0604020202020204" pitchFamily="34" charset="0"/>
              <a:buChar char="•"/>
            </a:pPr>
            <a:r>
              <a:rPr lang="en-US" sz="2200" dirty="0">
                <a:latin typeface="Calibir"/>
              </a:rPr>
              <a:t>A clear UML use case diagram with actors and relationships,</a:t>
            </a:r>
          </a:p>
          <a:p>
            <a:pPr marL="623888" indent="-342900">
              <a:lnSpc>
                <a:spcPct val="150000"/>
              </a:lnSpc>
              <a:buFont typeface="Arial" panose="020B0604020202020204" pitchFamily="34" charset="0"/>
              <a:buChar char="•"/>
            </a:pPr>
            <a:r>
              <a:rPr lang="en-US" sz="2200" dirty="0">
                <a:latin typeface="Calibir"/>
              </a:rPr>
              <a:t>A clear UML class diagram with attributes, methods, and relationships,</a:t>
            </a:r>
          </a:p>
          <a:p>
            <a:pPr marL="623888" indent="-342900">
              <a:lnSpc>
                <a:spcPct val="150000"/>
              </a:lnSpc>
              <a:buFont typeface="Arial" panose="020B0604020202020204" pitchFamily="34" charset="0"/>
              <a:buChar char="•"/>
            </a:pPr>
            <a:r>
              <a:rPr lang="en-US" sz="2200" dirty="0">
                <a:latin typeface="Calibir"/>
              </a:rPr>
              <a:t>Explanations for each part.</a:t>
            </a:r>
          </a:p>
          <a:p>
            <a:pPr>
              <a:lnSpc>
                <a:spcPct val="150000"/>
              </a:lnSpc>
              <a:buNone/>
            </a:pPr>
            <a:r>
              <a:rPr lang="en-US" sz="2200" dirty="0">
                <a:latin typeface="Calibir"/>
              </a:rPr>
              <a:t>You are free to choose whichever diagramming tool you are most comfortable with.</a:t>
            </a:r>
          </a:p>
          <a:p>
            <a:pPr>
              <a:lnSpc>
                <a:spcPct val="150000"/>
              </a:lnSpc>
              <a:buNone/>
            </a:pPr>
            <a:r>
              <a:rPr lang="en-US" sz="2200" dirty="0">
                <a:latin typeface="Calibir"/>
              </a:rPr>
              <a:t>Kind regards,</a:t>
            </a:r>
            <a:br>
              <a:rPr lang="en-US" sz="2200" dirty="0">
                <a:latin typeface="Calibir"/>
              </a:rPr>
            </a:br>
            <a:r>
              <a:rPr lang="en-US" sz="2200" dirty="0">
                <a:latin typeface="Calibir"/>
              </a:rPr>
              <a:t>Dr. Farshid Keivanian</a:t>
            </a:r>
          </a:p>
        </p:txBody>
      </p:sp>
    </p:spTree>
    <p:extLst>
      <p:ext uri="{BB962C8B-B14F-4D97-AF65-F5344CB8AC3E}">
        <p14:creationId xmlns:p14="http://schemas.microsoft.com/office/powerpoint/2010/main" val="3644107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1E6B-169D-BEED-9B43-9C96A3BF3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53BBD-9377-349F-BFDE-ADF185909C58}"/>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E78792C2-0C07-99F1-FDD5-5FB5F34DFABE}"/>
              </a:ext>
            </a:extLst>
          </p:cNvPr>
          <p:cNvSpPr>
            <a:spLocks noChangeArrowheads="1"/>
          </p:cNvSpPr>
          <p:nvPr/>
        </p:nvSpPr>
        <p:spPr bwMode="auto">
          <a:xfrm>
            <a:off x="109687" y="1154082"/>
            <a:ext cx="11972625"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Goal</a:t>
            </a:r>
          </a:p>
          <a:p>
            <a:pPr>
              <a:lnSpc>
                <a:spcPct val="150000"/>
              </a:lnSpc>
            </a:pPr>
            <a:r>
              <a:rPr lang="en-US" sz="2800" dirty="0">
                <a:latin typeface="Calibir"/>
              </a:rPr>
              <a:t>By the end of this lab, students should be able to:</a:t>
            </a:r>
          </a:p>
          <a:p>
            <a:pPr marL="806450" indent="-457200">
              <a:lnSpc>
                <a:spcPct val="150000"/>
              </a:lnSpc>
              <a:buFont typeface="Arial" panose="020B0604020202020204" pitchFamily="34" charset="0"/>
              <a:buChar char="•"/>
            </a:pPr>
            <a:r>
              <a:rPr lang="en-US" sz="2800" dirty="0">
                <a:latin typeface="Calibir"/>
              </a:rPr>
              <a:t>Identify classes, attributes, methods from a case description.</a:t>
            </a:r>
          </a:p>
          <a:p>
            <a:pPr marL="806450" indent="-457200">
              <a:lnSpc>
                <a:spcPct val="150000"/>
              </a:lnSpc>
              <a:buFont typeface="Arial" panose="020B0604020202020204" pitchFamily="34" charset="0"/>
              <a:buChar char="•"/>
            </a:pPr>
            <a:r>
              <a:rPr lang="en-US" sz="2800" dirty="0">
                <a:latin typeface="Calibir"/>
              </a:rPr>
              <a:t>Draw associations with multiplicity.</a:t>
            </a:r>
          </a:p>
          <a:p>
            <a:pPr marL="806450" indent="-457200">
              <a:lnSpc>
                <a:spcPct val="150000"/>
              </a:lnSpc>
              <a:buFont typeface="Arial" panose="020B0604020202020204" pitchFamily="34" charset="0"/>
              <a:buChar char="•"/>
            </a:pPr>
            <a:r>
              <a:rPr lang="en-US" sz="2800" dirty="0">
                <a:latin typeface="Calibir"/>
              </a:rPr>
              <a:t>Use generalization/specialization (inheritance).</a:t>
            </a:r>
          </a:p>
          <a:p>
            <a:pPr marL="806450" indent="-457200">
              <a:lnSpc>
                <a:spcPct val="150000"/>
              </a:lnSpc>
              <a:buFont typeface="Arial" panose="020B0604020202020204" pitchFamily="34" charset="0"/>
              <a:buChar char="•"/>
            </a:pPr>
            <a:r>
              <a:rPr lang="en-US" sz="2800" dirty="0">
                <a:latin typeface="Calibir"/>
              </a:rPr>
              <a:t>Design a small class diagram that mirrors the complexity of their group assignment.</a:t>
            </a:r>
          </a:p>
        </p:txBody>
      </p:sp>
    </p:spTree>
    <p:extLst>
      <p:ext uri="{BB962C8B-B14F-4D97-AF65-F5344CB8AC3E}">
        <p14:creationId xmlns:p14="http://schemas.microsoft.com/office/powerpoint/2010/main" val="2346074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36ACF-25CE-B156-698E-1F53E6FC2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77236-2049-C134-ED03-0774B3227797}"/>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1723229-A297-82FA-F984-11E9D12C4677}"/>
              </a:ext>
            </a:extLst>
          </p:cNvPr>
          <p:cNvSpPr>
            <a:spLocks noChangeArrowheads="1"/>
          </p:cNvSpPr>
          <p:nvPr/>
        </p:nvSpPr>
        <p:spPr bwMode="auto">
          <a:xfrm>
            <a:off x="0" y="801901"/>
            <a:ext cx="11972625"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Example 1 – Scenario: Library System</a:t>
            </a:r>
          </a:p>
          <a:p>
            <a:pPr lvl="0" eaLnBrk="0" fontAlgn="base" hangingPunct="0">
              <a:lnSpc>
                <a:spcPct val="150000"/>
              </a:lnSpc>
              <a:spcBef>
                <a:spcPct val="0"/>
              </a:spcBef>
              <a:spcAft>
                <a:spcPct val="0"/>
              </a:spcAft>
            </a:pPr>
            <a:r>
              <a:rPr lang="en-US" altLang="en-US" sz="2800" dirty="0">
                <a:latin typeface="Calibir"/>
              </a:rPr>
              <a:t>Scenario (mini case study)</a:t>
            </a:r>
          </a:p>
          <a:p>
            <a:pPr lvl="0" eaLnBrk="0" fontAlgn="base" hangingPunct="0">
              <a:lnSpc>
                <a:spcPct val="150000"/>
              </a:lnSpc>
              <a:spcBef>
                <a:spcPct val="0"/>
              </a:spcBef>
              <a:spcAft>
                <a:spcPct val="0"/>
              </a:spcAft>
            </a:pPr>
            <a:r>
              <a:rPr lang="en-US" altLang="en-US" sz="2800" dirty="0">
                <a:latin typeface="Calibir"/>
              </a:rPr>
              <a:t>A Library has many Books.</a:t>
            </a:r>
          </a:p>
          <a:p>
            <a:pPr lvl="0" eaLnBrk="0" fontAlgn="base" hangingPunct="0">
              <a:lnSpc>
                <a:spcPct val="150000"/>
              </a:lnSpc>
              <a:spcBef>
                <a:spcPct val="0"/>
              </a:spcBef>
              <a:spcAft>
                <a:spcPct val="0"/>
              </a:spcAft>
            </a:pPr>
            <a:r>
              <a:rPr lang="en-US" altLang="en-US" sz="2800" dirty="0">
                <a:latin typeface="Calibir"/>
              </a:rPr>
              <a:t>The Library has name and address</a:t>
            </a:r>
          </a:p>
        </p:txBody>
      </p:sp>
      <p:sp>
        <p:nvSpPr>
          <p:cNvPr id="4" name="Rectangle 2">
            <a:extLst>
              <a:ext uri="{FF2B5EF4-FFF2-40B4-BE49-F238E27FC236}">
                <a16:creationId xmlns:a16="http://schemas.microsoft.com/office/drawing/2014/main" id="{FA8F0D9F-6AD5-F719-CCB8-9A8ACEB2DA24}"/>
              </a:ext>
            </a:extLst>
          </p:cNvPr>
          <p:cNvSpPr>
            <a:spLocks noChangeArrowheads="1"/>
          </p:cNvSpPr>
          <p:nvPr/>
        </p:nvSpPr>
        <p:spPr bwMode="auto">
          <a:xfrm>
            <a:off x="0" y="3541983"/>
            <a:ext cx="4762522"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Library</a:t>
            </a:r>
          </a:p>
          <a:p>
            <a:pPr marL="80962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Attributes: name, address</a:t>
            </a:r>
          </a:p>
          <a:p>
            <a:pPr marL="80962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Relationships:</a:t>
            </a:r>
          </a:p>
          <a:p>
            <a:pPr marL="1166813"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has many Books → 1..*</a:t>
            </a:r>
          </a:p>
        </p:txBody>
      </p:sp>
    </p:spTree>
    <p:extLst>
      <p:ext uri="{BB962C8B-B14F-4D97-AF65-F5344CB8AC3E}">
        <p14:creationId xmlns:p14="http://schemas.microsoft.com/office/powerpoint/2010/main" val="1115555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AF58-9D93-B7F3-88F8-F5BDB044C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96FFE-1229-1B78-F30E-C2D79146F12F}"/>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D544860-04A1-9F93-4F5B-EA1F53212892}"/>
              </a:ext>
            </a:extLst>
          </p:cNvPr>
          <p:cNvSpPr>
            <a:spLocks noChangeArrowheads="1"/>
          </p:cNvSpPr>
          <p:nvPr/>
        </p:nvSpPr>
        <p:spPr bwMode="auto">
          <a:xfrm>
            <a:off x="0" y="897147"/>
            <a:ext cx="11972625"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Each Book can be borrowed by one Member at a time.</a:t>
            </a:r>
          </a:p>
          <a:p>
            <a:pPr lvl="0" eaLnBrk="0" fontAlgn="base" hangingPunct="0">
              <a:lnSpc>
                <a:spcPct val="150000"/>
              </a:lnSpc>
              <a:spcBef>
                <a:spcPct val="0"/>
              </a:spcBef>
              <a:spcAft>
                <a:spcPct val="0"/>
              </a:spcAft>
            </a:pPr>
            <a:r>
              <a:rPr lang="en-US" altLang="en-US" sz="2800" dirty="0">
                <a:latin typeface="Calibir"/>
              </a:rPr>
              <a:t>Each book has title, </a:t>
            </a:r>
            <a:r>
              <a:rPr lang="en-US" altLang="en-US" sz="2800" dirty="0" err="1">
                <a:latin typeface="Calibir"/>
              </a:rPr>
              <a:t>isbn</a:t>
            </a:r>
            <a:r>
              <a:rPr lang="en-US" altLang="en-US" sz="2800" dirty="0">
                <a:latin typeface="Calibir"/>
              </a:rPr>
              <a:t>, status.</a:t>
            </a:r>
          </a:p>
        </p:txBody>
      </p:sp>
      <p:sp>
        <p:nvSpPr>
          <p:cNvPr id="3" name="Rectangle 1">
            <a:extLst>
              <a:ext uri="{FF2B5EF4-FFF2-40B4-BE49-F238E27FC236}">
                <a16:creationId xmlns:a16="http://schemas.microsoft.com/office/drawing/2014/main" id="{0665AC4F-D9E8-7972-FE75-AA1A34D84796}"/>
              </a:ext>
            </a:extLst>
          </p:cNvPr>
          <p:cNvSpPr>
            <a:spLocks noChangeArrowheads="1"/>
          </p:cNvSpPr>
          <p:nvPr/>
        </p:nvSpPr>
        <p:spPr bwMode="auto">
          <a:xfrm>
            <a:off x="0" y="2439813"/>
            <a:ext cx="7599516"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Book</a:t>
            </a:r>
            <a:endParaRPr kumimoji="0" lang="en-US" altLang="en-US" sz="2800" b="0" i="0" u="none" strike="noStrike" cap="none" normalizeH="0" baseline="0" dirty="0">
              <a:ln>
                <a:noFill/>
              </a:ln>
              <a:solidFill>
                <a:schemeClr val="tx1"/>
              </a:solidFill>
              <a:effectLst/>
              <a:latin typeface="Calibir"/>
            </a:endParaRP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Attributes: title, </a:t>
            </a:r>
            <a:r>
              <a:rPr kumimoji="0" lang="en-US" altLang="en-US" sz="2800" b="0" i="0" u="none" strike="noStrike" cap="none" normalizeH="0" baseline="0" dirty="0" err="1">
                <a:ln>
                  <a:noFill/>
                </a:ln>
                <a:solidFill>
                  <a:schemeClr val="tx1"/>
                </a:solidFill>
                <a:effectLst/>
                <a:latin typeface="Calibir"/>
              </a:rPr>
              <a:t>isbn</a:t>
            </a:r>
            <a:r>
              <a:rPr kumimoji="0" lang="en-US" altLang="en-US" sz="2800" b="0" i="0" u="none" strike="noStrike" cap="none" normalizeH="0" baseline="0" dirty="0">
                <a:ln>
                  <a:noFill/>
                </a:ln>
                <a:solidFill>
                  <a:schemeClr val="tx1"/>
                </a:solidFill>
                <a:effectLst/>
                <a:latin typeface="Calibir"/>
              </a:rPr>
              <a:t>, status</a:t>
            </a: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Relationships:</a:t>
            </a:r>
          </a:p>
          <a:p>
            <a:pPr marL="1071563"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1071563" algn="l"/>
              </a:tabLst>
            </a:pPr>
            <a:r>
              <a:rPr kumimoji="0" lang="en-US" altLang="en-US" sz="2800" b="0" i="0" u="none" strike="noStrike" cap="none" normalizeH="0" baseline="0" dirty="0">
                <a:ln>
                  <a:noFill/>
                </a:ln>
                <a:solidFill>
                  <a:schemeClr val="tx1"/>
                </a:solidFill>
                <a:effectLst/>
                <a:latin typeface="Calibir"/>
              </a:rPr>
              <a:t>Borrowed by </a:t>
            </a:r>
            <a:r>
              <a:rPr kumimoji="0" lang="en-US" altLang="en-US" sz="2800" i="0" u="none" strike="noStrike" cap="none" normalizeH="0" baseline="0" dirty="0">
                <a:ln>
                  <a:noFill/>
                </a:ln>
                <a:solidFill>
                  <a:schemeClr val="tx1"/>
                </a:solidFill>
                <a:effectLst/>
                <a:latin typeface="Calibir"/>
              </a:rPr>
              <a:t>one Member at a time </a:t>
            </a:r>
            <a:r>
              <a:rPr kumimoji="0" lang="en-US" altLang="en-US" sz="2800" b="0" i="0" u="none" strike="noStrike" cap="none" normalizeH="0" baseline="0" dirty="0">
                <a:ln>
                  <a:noFill/>
                </a:ln>
                <a:solidFill>
                  <a:schemeClr val="tx1"/>
                </a:solidFill>
                <a:effectLst/>
                <a:latin typeface="Calibir"/>
              </a:rPr>
              <a:t>→ 0..1</a:t>
            </a:r>
          </a:p>
        </p:txBody>
      </p:sp>
    </p:spTree>
    <p:extLst>
      <p:ext uri="{BB962C8B-B14F-4D97-AF65-F5344CB8AC3E}">
        <p14:creationId xmlns:p14="http://schemas.microsoft.com/office/powerpoint/2010/main" val="3667599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50C43-24F0-5B14-BDBA-5B97762D6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F8EED-D331-2D61-B355-DD752D3425E8}"/>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50A3F843-6CE2-5A98-DF51-FB3F77A5D3D3}"/>
              </a:ext>
            </a:extLst>
          </p:cNvPr>
          <p:cNvSpPr>
            <a:spLocks noChangeArrowheads="1"/>
          </p:cNvSpPr>
          <p:nvPr/>
        </p:nvSpPr>
        <p:spPr bwMode="auto">
          <a:xfrm>
            <a:off x="109687" y="672662"/>
            <a:ext cx="11972625"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Members can borrow maximum 5 books.</a:t>
            </a:r>
          </a:p>
          <a:p>
            <a:pPr lvl="0" eaLnBrk="0" fontAlgn="base" hangingPunct="0">
              <a:lnSpc>
                <a:spcPct val="150000"/>
              </a:lnSpc>
              <a:spcBef>
                <a:spcPct val="0"/>
              </a:spcBef>
              <a:spcAft>
                <a:spcPct val="0"/>
              </a:spcAft>
            </a:pPr>
            <a:r>
              <a:rPr lang="en-US" altLang="en-US" sz="2800" dirty="0">
                <a:latin typeface="Calibir"/>
              </a:rPr>
              <a:t>Each member has id, name, email.</a:t>
            </a:r>
          </a:p>
        </p:txBody>
      </p:sp>
      <p:sp>
        <p:nvSpPr>
          <p:cNvPr id="3" name="Rectangle 1">
            <a:extLst>
              <a:ext uri="{FF2B5EF4-FFF2-40B4-BE49-F238E27FC236}">
                <a16:creationId xmlns:a16="http://schemas.microsoft.com/office/drawing/2014/main" id="{530BD86F-76A5-B41D-D1CF-E7B7066FB414}"/>
              </a:ext>
            </a:extLst>
          </p:cNvPr>
          <p:cNvSpPr>
            <a:spLocks noChangeArrowheads="1"/>
          </p:cNvSpPr>
          <p:nvPr/>
        </p:nvSpPr>
        <p:spPr bwMode="auto">
          <a:xfrm>
            <a:off x="109686" y="1990843"/>
            <a:ext cx="7919191"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Member</a:t>
            </a:r>
            <a:endParaRPr kumimoji="0" lang="en-US" altLang="en-US" sz="2800" b="0" i="0" u="none" strike="noStrike" cap="none" normalizeH="0" baseline="0" dirty="0">
              <a:ln>
                <a:noFill/>
              </a:ln>
              <a:solidFill>
                <a:schemeClr val="tx1"/>
              </a:solidFill>
              <a:effectLst/>
              <a:latin typeface="Calibir"/>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Attributes: id, name, email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Constraints: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Can borrow maximum 5 books </a:t>
            </a:r>
            <a:r>
              <a:rPr kumimoji="0" lang="en-US" altLang="en-US" sz="2800" b="0" i="0" u="none" strike="noStrike" cap="none" normalizeH="0" baseline="0" dirty="0">
                <a:ln>
                  <a:noFill/>
                </a:ln>
                <a:solidFill>
                  <a:schemeClr val="tx1"/>
                </a:solidFill>
                <a:effectLst/>
                <a:latin typeface="Calibir"/>
              </a:rPr>
              <a:t>→ 0..5</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Operations: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borrow(Book)</a:t>
            </a:r>
          </a:p>
          <a:p>
            <a:pPr marL="457200" marR="0" lvl="1"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return(Book)</a:t>
            </a:r>
          </a:p>
        </p:txBody>
      </p:sp>
    </p:spTree>
    <p:extLst>
      <p:ext uri="{BB962C8B-B14F-4D97-AF65-F5344CB8AC3E}">
        <p14:creationId xmlns:p14="http://schemas.microsoft.com/office/powerpoint/2010/main" val="3537411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2574-DF99-3036-43F3-DFCD202AB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4E39B-6042-585E-4603-2129178CD205}"/>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65E2B5D1-EE37-8BBC-AABF-D9924C657CB9}"/>
              </a:ext>
            </a:extLst>
          </p:cNvPr>
          <p:cNvSpPr>
            <a:spLocks noChangeArrowheads="1"/>
          </p:cNvSpPr>
          <p:nvPr/>
        </p:nvSpPr>
        <p:spPr bwMode="auto">
          <a:xfrm>
            <a:off x="0" y="672662"/>
            <a:ext cx="11972625"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Library “has many” Books (1..*).</a:t>
            </a:r>
          </a:p>
        </p:txBody>
      </p:sp>
      <p:sp>
        <p:nvSpPr>
          <p:cNvPr id="4" name="TextBox 3">
            <a:extLst>
              <a:ext uri="{FF2B5EF4-FFF2-40B4-BE49-F238E27FC236}">
                <a16:creationId xmlns:a16="http://schemas.microsoft.com/office/drawing/2014/main" id="{5826455C-B9A7-E8F5-A2A3-82960CE223F5}"/>
              </a:ext>
            </a:extLst>
          </p:cNvPr>
          <p:cNvSpPr txBox="1"/>
          <p:nvPr/>
        </p:nvSpPr>
        <p:spPr>
          <a:xfrm>
            <a:off x="0" y="1475204"/>
            <a:ext cx="12192000" cy="1964512"/>
          </a:xfrm>
          <a:prstGeom prst="rect">
            <a:avLst/>
          </a:prstGeom>
          <a:solidFill>
            <a:schemeClr val="bg1"/>
          </a:solidFill>
        </p:spPr>
        <p:txBody>
          <a:bodyPr wrap="square">
            <a:spAutoFit/>
          </a:bodyPr>
          <a:lstStyle/>
          <a:p>
            <a:pPr>
              <a:lnSpc>
                <a:spcPct val="150000"/>
              </a:lnSpc>
            </a:pPr>
            <a:r>
              <a:rPr lang="en-US" sz="2800" i="1" dirty="0">
                <a:latin typeface="Calibir"/>
              </a:rPr>
              <a:t>Library 1.. → Book</a:t>
            </a:r>
            <a:r>
              <a:rPr lang="en-US" sz="2800" dirty="0">
                <a:latin typeface="Calibir"/>
              </a:rPr>
              <a:t>*</a:t>
            </a:r>
          </a:p>
          <a:p>
            <a:pPr>
              <a:lnSpc>
                <a:spcPct val="150000"/>
              </a:lnSpc>
            </a:pPr>
            <a:r>
              <a:rPr lang="en-US" sz="2800" dirty="0">
                <a:latin typeface="Calibir"/>
              </a:rPr>
              <a:t>This means one library must have at least one book (and usually many).</a:t>
            </a:r>
          </a:p>
          <a:p>
            <a:pPr>
              <a:lnSpc>
                <a:spcPct val="150000"/>
              </a:lnSpc>
            </a:pPr>
            <a:r>
              <a:rPr lang="en-US" sz="2800" dirty="0">
                <a:latin typeface="Calibir"/>
              </a:rPr>
              <a:t>Example: The City of Sydney Library has thousands of books, not zero books.</a:t>
            </a:r>
          </a:p>
        </p:txBody>
      </p:sp>
      <p:pic>
        <p:nvPicPr>
          <p:cNvPr id="6" name="Picture 5">
            <a:extLst>
              <a:ext uri="{FF2B5EF4-FFF2-40B4-BE49-F238E27FC236}">
                <a16:creationId xmlns:a16="http://schemas.microsoft.com/office/drawing/2014/main" id="{FD4B852E-373E-CA61-C5A4-AC732A2270BE}"/>
              </a:ext>
            </a:extLst>
          </p:cNvPr>
          <p:cNvPicPr>
            <a:picLocks noChangeAspect="1"/>
          </p:cNvPicPr>
          <p:nvPr/>
        </p:nvPicPr>
        <p:blipFill>
          <a:blip r:embed="rId2"/>
          <a:srcRect t="79129" r="28726"/>
          <a:stretch>
            <a:fillRect/>
          </a:stretch>
        </p:blipFill>
        <p:spPr>
          <a:xfrm>
            <a:off x="8168323" y="6116032"/>
            <a:ext cx="4023677" cy="764870"/>
          </a:xfrm>
          <a:prstGeom prst="rect">
            <a:avLst/>
          </a:prstGeom>
        </p:spPr>
      </p:pic>
      <p:sp>
        <p:nvSpPr>
          <p:cNvPr id="7" name="Rectangle 6">
            <a:extLst>
              <a:ext uri="{FF2B5EF4-FFF2-40B4-BE49-F238E27FC236}">
                <a16:creationId xmlns:a16="http://schemas.microsoft.com/office/drawing/2014/main" id="{73D9D81C-B345-03A0-3249-93746229A6A2}"/>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8" name="Rectangle 7">
            <a:extLst>
              <a:ext uri="{FF2B5EF4-FFF2-40B4-BE49-F238E27FC236}">
                <a16:creationId xmlns:a16="http://schemas.microsoft.com/office/drawing/2014/main" id="{F5ECAC2B-6EF8-987D-5B0B-25E239E4F7EE}"/>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2E90DD2-43D8-C666-CB47-1DC421F34FE3}"/>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3D035F-FF6A-B417-C1F8-21D541E9FA30}"/>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C25728E-A7ED-203E-C940-4DA794F71730}"/>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0AD1824-F3B3-9037-FEFD-6AA11BCA6896}"/>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0984F0C-FF1E-C65A-5357-E715AC1C0BB9}"/>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AD8A7CE-06C5-5B9E-338B-9799065F13BF}"/>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(1, M)</a:t>
            </a:r>
          </a:p>
        </p:txBody>
      </p:sp>
      <p:sp>
        <p:nvSpPr>
          <p:cNvPr id="15" name="TextBox 14">
            <a:extLst>
              <a:ext uri="{FF2B5EF4-FFF2-40B4-BE49-F238E27FC236}">
                <a16:creationId xmlns:a16="http://schemas.microsoft.com/office/drawing/2014/main" id="{A943596D-26E3-F673-BF79-E441FFA630C0}"/>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(1, 1)</a:t>
            </a:r>
          </a:p>
        </p:txBody>
      </p:sp>
    </p:spTree>
    <p:extLst>
      <p:ext uri="{BB962C8B-B14F-4D97-AF65-F5344CB8AC3E}">
        <p14:creationId xmlns:p14="http://schemas.microsoft.com/office/powerpoint/2010/main" val="111398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1B00-DBFC-9733-3889-AD02388ED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CC4C0-31A4-AE82-700C-9353F23C2781}"/>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5" name="Rectangle 1">
            <a:extLst>
              <a:ext uri="{FF2B5EF4-FFF2-40B4-BE49-F238E27FC236}">
                <a16:creationId xmlns:a16="http://schemas.microsoft.com/office/drawing/2014/main" id="{2354F024-9C9D-2101-2F13-82695EC996ED}"/>
              </a:ext>
            </a:extLst>
          </p:cNvPr>
          <p:cNvSpPr>
            <a:spLocks noChangeArrowheads="1"/>
          </p:cNvSpPr>
          <p:nvPr/>
        </p:nvSpPr>
        <p:spPr bwMode="auto">
          <a:xfrm>
            <a:off x="0" y="672662"/>
            <a:ext cx="11972625"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Library “has many” Books (1..*).</a:t>
            </a:r>
          </a:p>
        </p:txBody>
      </p:sp>
      <p:sp>
        <p:nvSpPr>
          <p:cNvPr id="7" name="Rectangle 6">
            <a:extLst>
              <a:ext uri="{FF2B5EF4-FFF2-40B4-BE49-F238E27FC236}">
                <a16:creationId xmlns:a16="http://schemas.microsoft.com/office/drawing/2014/main" id="{FF2C6C1A-6EAD-D812-85BB-3656766A53B2}"/>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8" name="Rectangle 7">
            <a:extLst>
              <a:ext uri="{FF2B5EF4-FFF2-40B4-BE49-F238E27FC236}">
                <a16:creationId xmlns:a16="http://schemas.microsoft.com/office/drawing/2014/main" id="{374B378E-70B9-7247-37F5-188465626821}"/>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61405E3-6E24-9AD0-4485-001F01AEF458}"/>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D435DC-A381-AABE-F5DD-19C2208043FD}"/>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23B35D4-9491-9AD8-3B82-0C9F4103579F}"/>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6B911D10-E887-E64E-08B1-BC08B21E1F40}"/>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E768E33E-948B-846D-E587-ECBDBBC7B75B}"/>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F76EFF8-B72A-C349-0EA5-E493C948D858}"/>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(1, M)</a:t>
            </a:r>
          </a:p>
        </p:txBody>
      </p:sp>
      <p:sp>
        <p:nvSpPr>
          <p:cNvPr id="15" name="TextBox 14">
            <a:extLst>
              <a:ext uri="{FF2B5EF4-FFF2-40B4-BE49-F238E27FC236}">
                <a16:creationId xmlns:a16="http://schemas.microsoft.com/office/drawing/2014/main" id="{CD7FE772-2C06-E718-CADC-663744C5B7F0}"/>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(1, 1)</a:t>
            </a:r>
          </a:p>
        </p:txBody>
      </p:sp>
      <p:sp>
        <p:nvSpPr>
          <p:cNvPr id="17" name="TextBox 16">
            <a:extLst>
              <a:ext uri="{FF2B5EF4-FFF2-40B4-BE49-F238E27FC236}">
                <a16:creationId xmlns:a16="http://schemas.microsoft.com/office/drawing/2014/main" id="{4410B2F9-9EF2-05B6-0ABF-1F166257A2F8}"/>
              </a:ext>
            </a:extLst>
          </p:cNvPr>
          <p:cNvSpPr txBox="1"/>
          <p:nvPr/>
        </p:nvSpPr>
        <p:spPr>
          <a:xfrm>
            <a:off x="17294" y="1792407"/>
            <a:ext cx="12157411" cy="2610843"/>
          </a:xfrm>
          <a:prstGeom prst="rect">
            <a:avLst/>
          </a:prstGeom>
          <a:noFill/>
        </p:spPr>
        <p:txBody>
          <a:bodyPr wrap="square">
            <a:spAutoFit/>
          </a:bodyPr>
          <a:lstStyle/>
          <a:p>
            <a:pPr>
              <a:lnSpc>
                <a:spcPct val="150000"/>
              </a:lnSpc>
              <a:buNone/>
            </a:pPr>
            <a:r>
              <a:rPr lang="en-US" sz="2800" b="1" dirty="0">
                <a:latin typeface="Calibir"/>
              </a:rPr>
              <a:t>Each Book belongs to exactly one Library</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Every book is stored in one library only.</a:t>
            </a:r>
          </a:p>
          <a:p>
            <a:pPr marL="457200" indent="-457200">
              <a:lnSpc>
                <a:spcPct val="150000"/>
              </a:lnSpc>
              <a:buFont typeface="Arial" panose="020B0604020202020204" pitchFamily="34" charset="0"/>
              <a:buChar char="•"/>
            </a:pPr>
            <a:r>
              <a:rPr lang="en-US" sz="2800" dirty="0">
                <a:latin typeface="Calibir"/>
              </a:rPr>
              <a:t>Example: The book </a:t>
            </a:r>
            <a:r>
              <a:rPr lang="en-US" sz="2800" i="1" dirty="0">
                <a:latin typeface="Calibir"/>
              </a:rPr>
              <a:t>Harry Potter</a:t>
            </a:r>
            <a:r>
              <a:rPr lang="en-US" sz="2800" dirty="0">
                <a:latin typeface="Calibir"/>
              </a:rPr>
              <a:t> in the Kogarah Library is not also in the North Sydney Library’s system at the same time. Each copy belongs to one library.</a:t>
            </a:r>
          </a:p>
        </p:txBody>
      </p:sp>
    </p:spTree>
    <p:extLst>
      <p:ext uri="{BB962C8B-B14F-4D97-AF65-F5344CB8AC3E}">
        <p14:creationId xmlns:p14="http://schemas.microsoft.com/office/powerpoint/2010/main" val="3462405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AC760-3B08-2C69-94E9-3ECC449B5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E1FA2-247F-E60F-2252-9C0E5409EB03}"/>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4" name="TextBox 3">
            <a:extLst>
              <a:ext uri="{FF2B5EF4-FFF2-40B4-BE49-F238E27FC236}">
                <a16:creationId xmlns:a16="http://schemas.microsoft.com/office/drawing/2014/main" id="{83466F1C-03F9-3B85-829D-F90E52862D69}"/>
              </a:ext>
            </a:extLst>
          </p:cNvPr>
          <p:cNvSpPr txBox="1"/>
          <p:nvPr/>
        </p:nvSpPr>
        <p:spPr>
          <a:xfrm>
            <a:off x="0" y="873631"/>
            <a:ext cx="8146611" cy="4633790"/>
          </a:xfrm>
          <a:prstGeom prst="rect">
            <a:avLst/>
          </a:prstGeom>
          <a:solidFill>
            <a:schemeClr val="bg1"/>
          </a:solidFill>
        </p:spPr>
        <p:txBody>
          <a:bodyPr wrap="square">
            <a:spAutoFit/>
          </a:bodyPr>
          <a:lstStyle/>
          <a:p>
            <a:pPr>
              <a:lnSpc>
                <a:spcPct val="150000"/>
              </a:lnSpc>
            </a:pPr>
            <a:r>
              <a:rPr lang="en-US" sz="2800" dirty="0">
                <a:latin typeface="Calibir"/>
              </a:rPr>
              <a:t>Each Book can be borrowed by 0 or 1 Member at a time</a:t>
            </a:r>
          </a:p>
          <a:p>
            <a:pPr marL="714375" indent="-457200">
              <a:lnSpc>
                <a:spcPct val="150000"/>
              </a:lnSpc>
              <a:buFont typeface="Arial" panose="020B0604020202020204" pitchFamily="34" charset="0"/>
              <a:buChar char="•"/>
            </a:pPr>
            <a:r>
              <a:rPr lang="en-US" sz="2800" dirty="0">
                <a:latin typeface="Calibir"/>
              </a:rPr>
              <a:t>A book is either not borrowed (0) or borrowed by one member (1).</a:t>
            </a:r>
          </a:p>
          <a:p>
            <a:pPr marL="714375" indent="-457200">
              <a:lnSpc>
                <a:spcPct val="150000"/>
              </a:lnSpc>
              <a:buFont typeface="Arial" panose="020B0604020202020204" pitchFamily="34" charset="0"/>
              <a:buChar char="•"/>
            </a:pPr>
            <a:r>
              <a:rPr lang="en-US" sz="2800" dirty="0">
                <a:latin typeface="Calibir"/>
              </a:rPr>
              <a:t>Example: If John borrows </a:t>
            </a:r>
            <a:r>
              <a:rPr lang="en-US" sz="2800" i="1" dirty="0">
                <a:latin typeface="Calibir"/>
              </a:rPr>
              <a:t>The Hobbit</a:t>
            </a:r>
            <a:r>
              <a:rPr lang="en-US" sz="2800" dirty="0">
                <a:latin typeface="Calibir"/>
              </a:rPr>
              <a:t>, no other member can borrow that same copy until John returns it.</a:t>
            </a:r>
          </a:p>
        </p:txBody>
      </p:sp>
      <p:sp>
        <p:nvSpPr>
          <p:cNvPr id="7" name="Rectangle 6">
            <a:extLst>
              <a:ext uri="{FF2B5EF4-FFF2-40B4-BE49-F238E27FC236}">
                <a16:creationId xmlns:a16="http://schemas.microsoft.com/office/drawing/2014/main" id="{F7760A0B-77CB-6E1D-17D0-08C9B26739E8}"/>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sp>
        <p:nvSpPr>
          <p:cNvPr id="8" name="Rectangle 7">
            <a:extLst>
              <a:ext uri="{FF2B5EF4-FFF2-40B4-BE49-F238E27FC236}">
                <a16:creationId xmlns:a16="http://schemas.microsoft.com/office/drawing/2014/main" id="{81CD69F9-A286-CF05-4D69-89F666893030}"/>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9481E604-4F00-BEC2-CA3D-DA445D365AAD}"/>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A22A75-80F8-C3E1-F598-7090D02205F1}"/>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D08999E-0779-88E1-988B-17689C351D96}"/>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EC72E0E6-DC2B-292D-E039-E3CB0B1353C8}"/>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551E72C8-DBB9-9623-6920-3204104CF01A}"/>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07ECB15-C865-6E18-DD40-40417996D2C9}"/>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72B4455-A54C-11D4-A141-84326F1867A9}"/>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(0, 1)</a:t>
            </a:r>
          </a:p>
        </p:txBody>
      </p:sp>
      <p:sp>
        <p:nvSpPr>
          <p:cNvPr id="3" name="Oval 2">
            <a:extLst>
              <a:ext uri="{FF2B5EF4-FFF2-40B4-BE49-F238E27FC236}">
                <a16:creationId xmlns:a16="http://schemas.microsoft.com/office/drawing/2014/main" id="{21989780-AE75-CA5C-B9EE-997727B33481}"/>
              </a:ext>
            </a:extLst>
          </p:cNvPr>
          <p:cNvSpPr/>
          <p:nvPr/>
        </p:nvSpPr>
        <p:spPr>
          <a:xfrm>
            <a:off x="9440953" y="942897"/>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04403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CD77-C4FD-9935-22B3-FCA704628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FDF43-BB12-70F0-8E3C-13C461D0EFF0}"/>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4" name="TextBox 3">
            <a:extLst>
              <a:ext uri="{FF2B5EF4-FFF2-40B4-BE49-F238E27FC236}">
                <a16:creationId xmlns:a16="http://schemas.microsoft.com/office/drawing/2014/main" id="{93C77CDA-0706-3921-AFEE-0D1E9560F39F}"/>
              </a:ext>
            </a:extLst>
          </p:cNvPr>
          <p:cNvSpPr txBox="1"/>
          <p:nvPr/>
        </p:nvSpPr>
        <p:spPr>
          <a:xfrm>
            <a:off x="0" y="1287112"/>
            <a:ext cx="12192000" cy="2610843"/>
          </a:xfrm>
          <a:prstGeom prst="rect">
            <a:avLst/>
          </a:prstGeom>
          <a:solidFill>
            <a:schemeClr val="bg1"/>
          </a:solidFill>
        </p:spPr>
        <p:txBody>
          <a:bodyPr wrap="square">
            <a:spAutoFit/>
          </a:bodyPr>
          <a:lstStyle/>
          <a:p>
            <a:pPr>
              <a:lnSpc>
                <a:spcPct val="150000"/>
              </a:lnSpc>
            </a:pPr>
            <a:r>
              <a:rPr lang="en-US" sz="2800" dirty="0">
                <a:latin typeface="Calibir"/>
              </a:rPr>
              <a:t>Member 0..5 → Book</a:t>
            </a:r>
          </a:p>
          <a:p>
            <a:pPr marL="809625" indent="-457200">
              <a:lnSpc>
                <a:spcPct val="150000"/>
              </a:lnSpc>
              <a:buFont typeface="Arial" panose="020B0604020202020204" pitchFamily="34" charset="0"/>
              <a:buChar char="•"/>
            </a:pPr>
            <a:r>
              <a:rPr lang="en-US" sz="2800" dirty="0">
                <a:latin typeface="Calibir"/>
              </a:rPr>
              <a:t>A member can borrow between 0 and 5 books at a time.</a:t>
            </a:r>
          </a:p>
          <a:p>
            <a:pPr marL="809625" indent="-457200">
              <a:lnSpc>
                <a:spcPct val="150000"/>
              </a:lnSpc>
              <a:buFont typeface="Arial" panose="020B0604020202020204" pitchFamily="34" charset="0"/>
              <a:buChar char="•"/>
            </a:pPr>
            <a:r>
              <a:rPr lang="en-US" sz="2800" dirty="0">
                <a:latin typeface="Calibir"/>
              </a:rPr>
              <a:t>Example: Armin joins the library. Right now, he may borrow no books (0), or maximum 5 books, but not more.</a:t>
            </a:r>
          </a:p>
        </p:txBody>
      </p:sp>
      <p:sp>
        <p:nvSpPr>
          <p:cNvPr id="7" name="Rectangle 6">
            <a:extLst>
              <a:ext uri="{FF2B5EF4-FFF2-40B4-BE49-F238E27FC236}">
                <a16:creationId xmlns:a16="http://schemas.microsoft.com/office/drawing/2014/main" id="{597702CF-1F8E-8A70-DD3C-43BAEBD3D46C}"/>
              </a:ext>
            </a:extLst>
          </p:cNvPr>
          <p:cNvSpPr/>
          <p:nvPr/>
        </p:nvSpPr>
        <p:spPr>
          <a:xfrm>
            <a:off x="8168323"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sp>
        <p:nvSpPr>
          <p:cNvPr id="8" name="Rectangle 7">
            <a:extLst>
              <a:ext uri="{FF2B5EF4-FFF2-40B4-BE49-F238E27FC236}">
                <a16:creationId xmlns:a16="http://schemas.microsoft.com/office/drawing/2014/main" id="{47026A83-09FD-199F-461E-09BA77C62B7A}"/>
              </a:ext>
            </a:extLst>
          </p:cNvPr>
          <p:cNvSpPr/>
          <p:nvPr/>
        </p:nvSpPr>
        <p:spPr>
          <a:xfrm>
            <a:off x="10552534" y="366035"/>
            <a:ext cx="1114097" cy="127175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Books</a:t>
            </a:r>
          </a:p>
        </p:txBody>
      </p:sp>
      <p:cxnSp>
        <p:nvCxnSpPr>
          <p:cNvPr id="9" name="Straight Connector 8">
            <a:extLst>
              <a:ext uri="{FF2B5EF4-FFF2-40B4-BE49-F238E27FC236}">
                <a16:creationId xmlns:a16="http://schemas.microsoft.com/office/drawing/2014/main" id="{10F90C96-2397-E0EF-1C69-2908C7A1F58E}"/>
              </a:ext>
            </a:extLst>
          </p:cNvPr>
          <p:cNvCxnSpPr/>
          <p:nvPr/>
        </p:nvCxnSpPr>
        <p:spPr>
          <a:xfrm>
            <a:off x="9282420" y="1008587"/>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F74F4A5-114B-872C-E764-DDFF81819ECF}"/>
              </a:ext>
            </a:extLst>
          </p:cNvPr>
          <p:cNvCxnSpPr>
            <a:cxnSpLocks/>
          </p:cNvCxnSpPr>
          <p:nvPr/>
        </p:nvCxnSpPr>
        <p:spPr>
          <a:xfrm flipV="1">
            <a:off x="10364985" y="866696"/>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DA49CFB-2C78-F85E-7403-CFC1E0F03909}"/>
              </a:ext>
            </a:extLst>
          </p:cNvPr>
          <p:cNvCxnSpPr>
            <a:cxnSpLocks/>
          </p:cNvCxnSpPr>
          <p:nvPr/>
        </p:nvCxnSpPr>
        <p:spPr>
          <a:xfrm>
            <a:off x="10364985" y="1008587"/>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DAE6389-B9A9-AB8F-3172-6D865D7EF5B8}"/>
              </a:ext>
            </a:extLst>
          </p:cNvPr>
          <p:cNvSpPr/>
          <p:nvPr/>
        </p:nvSpPr>
        <p:spPr>
          <a:xfrm>
            <a:off x="10150396" y="937641"/>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976F0055-729C-35FC-43F4-0BD945886F1A}"/>
              </a:ext>
            </a:extLst>
          </p:cNvPr>
          <p:cNvCxnSpPr/>
          <p:nvPr/>
        </p:nvCxnSpPr>
        <p:spPr>
          <a:xfrm>
            <a:off x="9349572" y="82202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44D5228-39D3-C528-6DC0-D7345FCD7AE7}"/>
              </a:ext>
            </a:extLst>
          </p:cNvPr>
          <p:cNvSpPr txBox="1"/>
          <p:nvPr/>
        </p:nvSpPr>
        <p:spPr>
          <a:xfrm>
            <a:off x="9995484" y="-86096"/>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34A230E-90D4-A7F9-A1A8-38DC04F4EE75}"/>
              </a:ext>
            </a:extLst>
          </p:cNvPr>
          <p:cNvSpPr txBox="1"/>
          <p:nvPr/>
        </p:nvSpPr>
        <p:spPr>
          <a:xfrm>
            <a:off x="8875237" y="-86096"/>
            <a:ext cx="1114098" cy="523220"/>
          </a:xfrm>
          <a:prstGeom prst="rect">
            <a:avLst/>
          </a:prstGeom>
          <a:noFill/>
        </p:spPr>
        <p:txBody>
          <a:bodyPr wrap="square" rtlCol="0">
            <a:spAutoFit/>
          </a:bodyPr>
          <a:lstStyle/>
          <a:p>
            <a:r>
              <a:rPr lang="en-AU" sz="2800" dirty="0">
                <a:latin typeface="Calibir"/>
              </a:rPr>
              <a:t>(0, 1)</a:t>
            </a:r>
          </a:p>
        </p:txBody>
      </p:sp>
      <p:sp>
        <p:nvSpPr>
          <p:cNvPr id="3" name="Oval 2">
            <a:extLst>
              <a:ext uri="{FF2B5EF4-FFF2-40B4-BE49-F238E27FC236}">
                <a16:creationId xmlns:a16="http://schemas.microsoft.com/office/drawing/2014/main" id="{410736AE-AD0B-6621-999E-EA9FCCC7464B}"/>
              </a:ext>
            </a:extLst>
          </p:cNvPr>
          <p:cNvSpPr/>
          <p:nvPr/>
        </p:nvSpPr>
        <p:spPr>
          <a:xfrm>
            <a:off x="9440953" y="942897"/>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60384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D3C10-D819-B32D-F646-E95C04CAD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3A73D-0D97-4820-5082-7F2ACBCC6BFF}"/>
              </a:ext>
            </a:extLst>
          </p:cNvPr>
          <p:cNvSpPr>
            <a:spLocks noGrp="1"/>
          </p:cNvSpPr>
          <p:nvPr>
            <p:ph type="title"/>
          </p:nvPr>
        </p:nvSpPr>
        <p:spPr>
          <a:xfrm>
            <a:off x="0" y="0"/>
            <a:ext cx="12192000" cy="672662"/>
          </a:xfrm>
        </p:spPr>
        <p:txBody>
          <a:bodyPr anchor="b">
            <a:normAutofit/>
          </a:bodyPr>
          <a:lstStyle/>
          <a:p>
            <a:r>
              <a:rPr lang="en-US" sz="3600" b="1" dirty="0">
                <a:latin typeface="Calibir"/>
              </a:rPr>
              <a:t>Class Diagram Practice</a:t>
            </a:r>
            <a:endParaRPr lang="en-AU" sz="3600" b="1" dirty="0">
              <a:latin typeface="Calibir"/>
            </a:endParaRPr>
          </a:p>
        </p:txBody>
      </p:sp>
      <p:sp>
        <p:nvSpPr>
          <p:cNvPr id="7" name="Rectangle 6">
            <a:extLst>
              <a:ext uri="{FF2B5EF4-FFF2-40B4-BE49-F238E27FC236}">
                <a16:creationId xmlns:a16="http://schemas.microsoft.com/office/drawing/2014/main" id="{166A804F-76E1-F112-7406-1227FEDB346E}"/>
              </a:ext>
            </a:extLst>
          </p:cNvPr>
          <p:cNvSpPr/>
          <p:nvPr/>
        </p:nvSpPr>
        <p:spPr>
          <a:xfrm>
            <a:off x="8504654" y="253240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9" name="Straight Connector 8">
            <a:extLst>
              <a:ext uri="{FF2B5EF4-FFF2-40B4-BE49-F238E27FC236}">
                <a16:creationId xmlns:a16="http://schemas.microsoft.com/office/drawing/2014/main" id="{FCDADBA1-5A28-30FC-5F1B-D03165861BDC}"/>
              </a:ext>
            </a:extLst>
          </p:cNvPr>
          <p:cNvCxnSpPr>
            <a:cxnSpLocks/>
          </p:cNvCxnSpPr>
          <p:nvPr/>
        </p:nvCxnSpPr>
        <p:spPr>
          <a:xfrm>
            <a:off x="9630475" y="3169095"/>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CF493F4-CB9C-1846-4F69-BA396B16DA84}"/>
              </a:ext>
            </a:extLst>
          </p:cNvPr>
          <p:cNvCxnSpPr>
            <a:cxnSpLocks/>
          </p:cNvCxnSpPr>
          <p:nvPr/>
        </p:nvCxnSpPr>
        <p:spPr>
          <a:xfrm flipV="1">
            <a:off x="11445912" y="1698074"/>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4D1EE4-B0E3-789F-78A2-ED15FDE61344}"/>
              </a:ext>
            </a:extLst>
          </p:cNvPr>
          <p:cNvCxnSpPr>
            <a:cxnSpLocks/>
          </p:cNvCxnSpPr>
          <p:nvPr/>
        </p:nvCxnSpPr>
        <p:spPr>
          <a:xfrm>
            <a:off x="11224846" y="1709826"/>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5F354B7-7FBA-3716-2315-C5EFD1E7EECA}"/>
              </a:ext>
            </a:extLst>
          </p:cNvPr>
          <p:cNvSpPr/>
          <p:nvPr/>
        </p:nvSpPr>
        <p:spPr>
          <a:xfrm>
            <a:off x="11379614" y="187763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F2746AC8-0AC9-23E8-BB92-C6B3FCA050D6}"/>
              </a:ext>
            </a:extLst>
          </p:cNvPr>
          <p:cNvCxnSpPr/>
          <p:nvPr/>
        </p:nvCxnSpPr>
        <p:spPr>
          <a:xfrm>
            <a:off x="9685903" y="298839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A25955A-2609-EC76-E968-720F4572DBF5}"/>
              </a:ext>
            </a:extLst>
          </p:cNvPr>
          <p:cNvSpPr txBox="1"/>
          <p:nvPr/>
        </p:nvSpPr>
        <p:spPr>
          <a:xfrm>
            <a:off x="10423171" y="1714044"/>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ED7BE0D0-2946-A7B4-1737-91B18CB9E6A4}"/>
              </a:ext>
            </a:extLst>
          </p:cNvPr>
          <p:cNvSpPr txBox="1"/>
          <p:nvPr/>
        </p:nvSpPr>
        <p:spPr>
          <a:xfrm>
            <a:off x="9211568" y="2080274"/>
            <a:ext cx="1114098" cy="523220"/>
          </a:xfrm>
          <a:prstGeom prst="rect">
            <a:avLst/>
          </a:prstGeom>
          <a:noFill/>
        </p:spPr>
        <p:txBody>
          <a:bodyPr wrap="square" rtlCol="0">
            <a:spAutoFit/>
          </a:bodyPr>
          <a:lstStyle/>
          <a:p>
            <a:r>
              <a:rPr lang="en-AU" sz="2800" dirty="0">
                <a:latin typeface="Calibir"/>
              </a:rPr>
              <a:t>(0, 1)</a:t>
            </a:r>
          </a:p>
        </p:txBody>
      </p:sp>
      <p:sp>
        <p:nvSpPr>
          <p:cNvPr id="5" name="Rectangle 4">
            <a:extLst>
              <a:ext uri="{FF2B5EF4-FFF2-40B4-BE49-F238E27FC236}">
                <a16:creationId xmlns:a16="http://schemas.microsoft.com/office/drawing/2014/main" id="{1F268BB5-8E9A-7F70-5B69-CA863F85101B}"/>
              </a:ext>
            </a:extLst>
          </p:cNvPr>
          <p:cNvSpPr/>
          <p:nvPr/>
        </p:nvSpPr>
        <p:spPr>
          <a:xfrm>
            <a:off x="8504653" y="400529"/>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6" name="Rectangle 15">
            <a:extLst>
              <a:ext uri="{FF2B5EF4-FFF2-40B4-BE49-F238E27FC236}">
                <a16:creationId xmlns:a16="http://schemas.microsoft.com/office/drawing/2014/main" id="{570F0387-A0B8-18D2-C1C3-CE45D5B591EE}"/>
              </a:ext>
            </a:extLst>
          </p:cNvPr>
          <p:cNvSpPr/>
          <p:nvPr/>
        </p:nvSpPr>
        <p:spPr>
          <a:xfrm>
            <a:off x="10900015" y="411287"/>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7" name="Straight Connector 16">
            <a:extLst>
              <a:ext uri="{FF2B5EF4-FFF2-40B4-BE49-F238E27FC236}">
                <a16:creationId xmlns:a16="http://schemas.microsoft.com/office/drawing/2014/main" id="{57B94A9A-5484-195B-6D9A-8B7074B23EEA}"/>
              </a:ext>
            </a:extLst>
          </p:cNvPr>
          <p:cNvCxnSpPr/>
          <p:nvPr/>
        </p:nvCxnSpPr>
        <p:spPr>
          <a:xfrm>
            <a:off x="9618750" y="1043081"/>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6D43D41-689D-2B48-2106-A0F94DAA0CE5}"/>
              </a:ext>
            </a:extLst>
          </p:cNvPr>
          <p:cNvCxnSpPr>
            <a:cxnSpLocks/>
          </p:cNvCxnSpPr>
          <p:nvPr/>
        </p:nvCxnSpPr>
        <p:spPr>
          <a:xfrm flipV="1">
            <a:off x="10701315" y="901190"/>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9EBDF67-A8A2-44EC-9714-79694B438488}"/>
              </a:ext>
            </a:extLst>
          </p:cNvPr>
          <p:cNvCxnSpPr>
            <a:cxnSpLocks/>
          </p:cNvCxnSpPr>
          <p:nvPr/>
        </p:nvCxnSpPr>
        <p:spPr>
          <a:xfrm>
            <a:off x="10701315" y="1043081"/>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8CCDB006-C480-6AF4-1976-A4E27D397FC0}"/>
              </a:ext>
            </a:extLst>
          </p:cNvPr>
          <p:cNvSpPr/>
          <p:nvPr/>
        </p:nvSpPr>
        <p:spPr>
          <a:xfrm>
            <a:off x="10486726" y="972135"/>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96D18238-102B-8877-8EC4-0EE3EFCDCC47}"/>
              </a:ext>
            </a:extLst>
          </p:cNvPr>
          <p:cNvCxnSpPr/>
          <p:nvPr/>
        </p:nvCxnSpPr>
        <p:spPr>
          <a:xfrm>
            <a:off x="9685902" y="856523"/>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135BD5E-D768-66F5-A53F-26426D178FC8}"/>
              </a:ext>
            </a:extLst>
          </p:cNvPr>
          <p:cNvSpPr txBox="1"/>
          <p:nvPr/>
        </p:nvSpPr>
        <p:spPr>
          <a:xfrm>
            <a:off x="10331814" y="-51602"/>
            <a:ext cx="1114098" cy="523220"/>
          </a:xfrm>
          <a:prstGeom prst="rect">
            <a:avLst/>
          </a:prstGeom>
          <a:noFill/>
        </p:spPr>
        <p:txBody>
          <a:bodyPr wrap="square" rtlCol="0">
            <a:spAutoFit/>
          </a:bodyPr>
          <a:lstStyle/>
          <a:p>
            <a:r>
              <a:rPr lang="en-AU" sz="2800" dirty="0">
                <a:latin typeface="Calibir"/>
              </a:rPr>
              <a:t>(1, M)</a:t>
            </a:r>
          </a:p>
        </p:txBody>
      </p:sp>
      <p:sp>
        <p:nvSpPr>
          <p:cNvPr id="23" name="TextBox 22">
            <a:extLst>
              <a:ext uri="{FF2B5EF4-FFF2-40B4-BE49-F238E27FC236}">
                <a16:creationId xmlns:a16="http://schemas.microsoft.com/office/drawing/2014/main" id="{35F3CDC2-152D-C40B-E615-245A8B80A480}"/>
              </a:ext>
            </a:extLst>
          </p:cNvPr>
          <p:cNvSpPr txBox="1"/>
          <p:nvPr/>
        </p:nvSpPr>
        <p:spPr>
          <a:xfrm>
            <a:off x="9211567" y="-51602"/>
            <a:ext cx="1114098" cy="523220"/>
          </a:xfrm>
          <a:prstGeom prst="rect">
            <a:avLst/>
          </a:prstGeom>
          <a:noFill/>
        </p:spPr>
        <p:txBody>
          <a:bodyPr wrap="square" rtlCol="0">
            <a:spAutoFit/>
          </a:bodyPr>
          <a:lstStyle/>
          <a:p>
            <a:r>
              <a:rPr lang="en-AU" sz="2800" dirty="0">
                <a:latin typeface="Calibir"/>
              </a:rPr>
              <a:t>(1, 1)</a:t>
            </a:r>
          </a:p>
        </p:txBody>
      </p:sp>
      <p:sp>
        <p:nvSpPr>
          <p:cNvPr id="25" name="TextBox 24">
            <a:extLst>
              <a:ext uri="{FF2B5EF4-FFF2-40B4-BE49-F238E27FC236}">
                <a16:creationId xmlns:a16="http://schemas.microsoft.com/office/drawing/2014/main" id="{67D0178C-49A3-4D9D-B47E-7033C3F1F0FF}"/>
              </a:ext>
            </a:extLst>
          </p:cNvPr>
          <p:cNvSpPr txBox="1"/>
          <p:nvPr/>
        </p:nvSpPr>
        <p:spPr>
          <a:xfrm>
            <a:off x="21021" y="1020747"/>
            <a:ext cx="8288443" cy="5842497"/>
          </a:xfrm>
          <a:prstGeom prst="rect">
            <a:avLst/>
          </a:prstGeom>
          <a:noFill/>
        </p:spPr>
        <p:txBody>
          <a:bodyPr wrap="square">
            <a:spAutoFit/>
          </a:bodyPr>
          <a:lstStyle/>
          <a:p>
            <a:pPr>
              <a:lnSpc>
                <a:spcPct val="150000"/>
              </a:lnSpc>
              <a:buNone/>
            </a:pPr>
            <a:r>
              <a:rPr lang="en-US" sz="2800" dirty="0">
                <a:latin typeface="Calibir"/>
              </a:rPr>
              <a:t>In short:</a:t>
            </a:r>
          </a:p>
          <a:p>
            <a:pPr marL="809625" indent="-457200">
              <a:lnSpc>
                <a:spcPct val="150000"/>
              </a:lnSpc>
              <a:buFont typeface="Arial" panose="020B0604020202020204" pitchFamily="34" charset="0"/>
              <a:buChar char="•"/>
            </a:pPr>
            <a:r>
              <a:rPr lang="en-US" sz="2800" dirty="0">
                <a:latin typeface="Calibir"/>
              </a:rPr>
              <a:t>A library owns many books.</a:t>
            </a:r>
          </a:p>
          <a:p>
            <a:pPr marL="809625" indent="-457200">
              <a:lnSpc>
                <a:spcPct val="150000"/>
              </a:lnSpc>
              <a:buFont typeface="Arial" panose="020B0604020202020204" pitchFamily="34" charset="0"/>
              <a:buChar char="•"/>
            </a:pPr>
            <a:r>
              <a:rPr lang="en-US" sz="2800" dirty="0">
                <a:latin typeface="Calibir"/>
              </a:rPr>
              <a:t>A member can borrow minimum 0 and maximum 5 books.</a:t>
            </a:r>
          </a:p>
          <a:p>
            <a:pPr marL="809625" indent="-457200">
              <a:lnSpc>
                <a:spcPct val="150000"/>
              </a:lnSpc>
              <a:buFont typeface="Arial" panose="020B0604020202020204" pitchFamily="34" charset="0"/>
              <a:buChar char="•"/>
            </a:pPr>
            <a:r>
              <a:rPr lang="en-US" sz="2800" dirty="0">
                <a:latin typeface="Calibir"/>
              </a:rPr>
              <a:t>A book belongs to only one library.</a:t>
            </a:r>
          </a:p>
          <a:p>
            <a:pPr marL="809625" indent="-457200">
              <a:lnSpc>
                <a:spcPct val="150000"/>
              </a:lnSpc>
              <a:buFont typeface="Arial" panose="020B0604020202020204" pitchFamily="34" charset="0"/>
              <a:buChar char="•"/>
            </a:pPr>
            <a:r>
              <a:rPr lang="en-US" sz="2800" dirty="0">
                <a:latin typeface="Calibir"/>
              </a:rPr>
              <a:t>A book can be borrowed by only one member at a time (or by no one if it’s on the shelf).</a:t>
            </a:r>
          </a:p>
          <a:p>
            <a:pPr marL="809625" indent="-457200">
              <a:lnSpc>
                <a:spcPct val="150000"/>
              </a:lnSpc>
              <a:buFont typeface="Arial" panose="020B0604020202020204" pitchFamily="34" charset="0"/>
              <a:buChar char="•"/>
            </a:pPr>
            <a:r>
              <a:rPr lang="en-US" sz="2800" dirty="0">
                <a:latin typeface="Calibir"/>
              </a:rPr>
              <a:t>borrow() and return() are shown as operations in the Member class.</a:t>
            </a:r>
          </a:p>
        </p:txBody>
      </p:sp>
      <p:sp>
        <p:nvSpPr>
          <p:cNvPr id="27" name="Rectangle 26">
            <a:extLst>
              <a:ext uri="{FF2B5EF4-FFF2-40B4-BE49-F238E27FC236}">
                <a16:creationId xmlns:a16="http://schemas.microsoft.com/office/drawing/2014/main" id="{BC608CE7-5A5D-ED4B-D3AB-DC01B2CE3D96}"/>
              </a:ext>
            </a:extLst>
          </p:cNvPr>
          <p:cNvSpPr/>
          <p:nvPr/>
        </p:nvSpPr>
        <p:spPr>
          <a:xfrm>
            <a:off x="8504652" y="13669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8" name="Rectangle 27">
            <a:extLst>
              <a:ext uri="{FF2B5EF4-FFF2-40B4-BE49-F238E27FC236}">
                <a16:creationId xmlns:a16="http://schemas.microsoft.com/office/drawing/2014/main" id="{A95CBA26-4358-97B0-9BFB-876F6678F4CA}"/>
              </a:ext>
            </a:extLst>
          </p:cNvPr>
          <p:cNvSpPr/>
          <p:nvPr/>
        </p:nvSpPr>
        <p:spPr>
          <a:xfrm>
            <a:off x="8504652" y="10615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0" name="TextBox 29">
            <a:extLst>
              <a:ext uri="{FF2B5EF4-FFF2-40B4-BE49-F238E27FC236}">
                <a16:creationId xmlns:a16="http://schemas.microsoft.com/office/drawing/2014/main" id="{F0A65DB4-AE6A-3C7B-291B-F1F91D65128A}"/>
              </a:ext>
            </a:extLst>
          </p:cNvPr>
          <p:cNvSpPr txBox="1"/>
          <p:nvPr/>
        </p:nvSpPr>
        <p:spPr>
          <a:xfrm>
            <a:off x="9768616" y="577474"/>
            <a:ext cx="931209" cy="523220"/>
          </a:xfrm>
          <a:prstGeom prst="rect">
            <a:avLst/>
          </a:prstGeom>
          <a:noFill/>
        </p:spPr>
        <p:txBody>
          <a:bodyPr wrap="square" rtlCol="0">
            <a:spAutoFit/>
          </a:bodyPr>
          <a:lstStyle/>
          <a:p>
            <a:r>
              <a:rPr lang="en-AU" sz="2800" dirty="0">
                <a:latin typeface="Calibir"/>
              </a:rPr>
              <a:t>has</a:t>
            </a:r>
          </a:p>
        </p:txBody>
      </p:sp>
      <p:sp>
        <p:nvSpPr>
          <p:cNvPr id="31" name="Rectangle 30">
            <a:extLst>
              <a:ext uri="{FF2B5EF4-FFF2-40B4-BE49-F238E27FC236}">
                <a16:creationId xmlns:a16="http://schemas.microsoft.com/office/drawing/2014/main" id="{04006957-A3E7-4AAD-BCA7-82466CD52102}"/>
              </a:ext>
            </a:extLst>
          </p:cNvPr>
          <p:cNvSpPr/>
          <p:nvPr/>
        </p:nvSpPr>
        <p:spPr>
          <a:xfrm>
            <a:off x="10895014" y="137855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32" name="Rectangle 31">
            <a:extLst>
              <a:ext uri="{FF2B5EF4-FFF2-40B4-BE49-F238E27FC236}">
                <a16:creationId xmlns:a16="http://schemas.microsoft.com/office/drawing/2014/main" id="{1A836527-1B90-046D-E2EC-39FF8DF67879}"/>
              </a:ext>
            </a:extLst>
          </p:cNvPr>
          <p:cNvSpPr/>
          <p:nvPr/>
        </p:nvSpPr>
        <p:spPr>
          <a:xfrm>
            <a:off x="10895014" y="1073191"/>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33" name="Rectangle 32">
            <a:extLst>
              <a:ext uri="{FF2B5EF4-FFF2-40B4-BE49-F238E27FC236}">
                <a16:creationId xmlns:a16="http://schemas.microsoft.com/office/drawing/2014/main" id="{B8A8CFDF-3593-9E20-7471-6EA3976B786F}"/>
              </a:ext>
            </a:extLst>
          </p:cNvPr>
          <p:cNvSpPr/>
          <p:nvPr/>
        </p:nvSpPr>
        <p:spPr>
          <a:xfrm>
            <a:off x="10895013" y="77005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35" name="Straight Connector 34">
            <a:extLst>
              <a:ext uri="{FF2B5EF4-FFF2-40B4-BE49-F238E27FC236}">
                <a16:creationId xmlns:a16="http://schemas.microsoft.com/office/drawing/2014/main" id="{8B443DB3-ACC7-557E-933C-F4DA159A7B5E}"/>
              </a:ext>
            </a:extLst>
          </p:cNvPr>
          <p:cNvCxnSpPr>
            <a:cxnSpLocks/>
            <a:endCxn id="31" idx="2"/>
          </p:cNvCxnSpPr>
          <p:nvPr/>
        </p:nvCxnSpPr>
        <p:spPr>
          <a:xfrm flipH="1" flipV="1">
            <a:off x="11452063" y="1683911"/>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9EC4FBE-EC28-A748-FF24-849EB739C19B}"/>
              </a:ext>
            </a:extLst>
          </p:cNvPr>
          <p:cNvSpPr txBox="1"/>
          <p:nvPr/>
        </p:nvSpPr>
        <p:spPr>
          <a:xfrm>
            <a:off x="9788202" y="2658030"/>
            <a:ext cx="2382777" cy="523220"/>
          </a:xfrm>
          <a:prstGeom prst="rect">
            <a:avLst/>
          </a:prstGeom>
          <a:noFill/>
        </p:spPr>
        <p:txBody>
          <a:bodyPr wrap="square" rtlCol="0">
            <a:spAutoFit/>
          </a:bodyPr>
          <a:lstStyle/>
          <a:p>
            <a:r>
              <a:rPr lang="en-AU" sz="2800" dirty="0">
                <a:latin typeface="Calibir"/>
              </a:rPr>
              <a:t>Borrowed by</a:t>
            </a:r>
          </a:p>
        </p:txBody>
      </p:sp>
      <p:sp>
        <p:nvSpPr>
          <p:cNvPr id="46" name="Rectangle 45">
            <a:extLst>
              <a:ext uri="{FF2B5EF4-FFF2-40B4-BE49-F238E27FC236}">
                <a16:creationId xmlns:a16="http://schemas.microsoft.com/office/drawing/2014/main" id="{C5E9799C-053A-F232-2A3C-CC577506C008}"/>
              </a:ext>
            </a:extLst>
          </p:cNvPr>
          <p:cNvSpPr/>
          <p:nvPr/>
        </p:nvSpPr>
        <p:spPr>
          <a:xfrm>
            <a:off x="8505227" y="340669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47" name="Rectangle 46">
            <a:extLst>
              <a:ext uri="{FF2B5EF4-FFF2-40B4-BE49-F238E27FC236}">
                <a16:creationId xmlns:a16="http://schemas.microsoft.com/office/drawing/2014/main" id="{C57F5B30-D1E0-5E6A-757D-2CCD2A4C9BB6}"/>
              </a:ext>
            </a:extLst>
          </p:cNvPr>
          <p:cNvSpPr/>
          <p:nvPr/>
        </p:nvSpPr>
        <p:spPr>
          <a:xfrm>
            <a:off x="8505227" y="312363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48" name="Rectangle 47">
            <a:extLst>
              <a:ext uri="{FF2B5EF4-FFF2-40B4-BE49-F238E27FC236}">
                <a16:creationId xmlns:a16="http://schemas.microsoft.com/office/drawing/2014/main" id="{DDDF8622-F213-2715-3C24-DB43FF1F2352}"/>
              </a:ext>
            </a:extLst>
          </p:cNvPr>
          <p:cNvSpPr/>
          <p:nvPr/>
        </p:nvSpPr>
        <p:spPr>
          <a:xfrm>
            <a:off x="8505226" y="282050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49" name="Rectangle 48">
            <a:extLst>
              <a:ext uri="{FF2B5EF4-FFF2-40B4-BE49-F238E27FC236}">
                <a16:creationId xmlns:a16="http://schemas.microsoft.com/office/drawing/2014/main" id="{045D3DB6-EF75-80A2-EC62-06D77A1DC5BE}"/>
              </a:ext>
            </a:extLst>
          </p:cNvPr>
          <p:cNvSpPr/>
          <p:nvPr/>
        </p:nvSpPr>
        <p:spPr>
          <a:xfrm>
            <a:off x="8509186" y="4120501"/>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50" name="Rectangle 49">
            <a:extLst>
              <a:ext uri="{FF2B5EF4-FFF2-40B4-BE49-F238E27FC236}">
                <a16:creationId xmlns:a16="http://schemas.microsoft.com/office/drawing/2014/main" id="{F91546C6-AB6F-B2C2-6E57-0E162A666B93}"/>
              </a:ext>
            </a:extLst>
          </p:cNvPr>
          <p:cNvSpPr/>
          <p:nvPr/>
        </p:nvSpPr>
        <p:spPr>
          <a:xfrm>
            <a:off x="8504652" y="3702873"/>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 name="Oval 2">
            <a:extLst>
              <a:ext uri="{FF2B5EF4-FFF2-40B4-BE49-F238E27FC236}">
                <a16:creationId xmlns:a16="http://schemas.microsoft.com/office/drawing/2014/main" id="{15F2A8A3-0ED4-B593-E964-B8F79F4B5CC0}"/>
              </a:ext>
            </a:extLst>
          </p:cNvPr>
          <p:cNvSpPr/>
          <p:nvPr/>
        </p:nvSpPr>
        <p:spPr>
          <a:xfrm>
            <a:off x="9777279" y="3108024"/>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4691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0C073-B0C9-D650-83F5-D32F43EF7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4AF02-A200-8929-8208-9E05C007BFF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pic>
        <p:nvPicPr>
          <p:cNvPr id="5" name="Picture 4">
            <a:extLst>
              <a:ext uri="{FF2B5EF4-FFF2-40B4-BE49-F238E27FC236}">
                <a16:creationId xmlns:a16="http://schemas.microsoft.com/office/drawing/2014/main" id="{53D7FF9D-9ED9-5DDE-E417-9C1969DBF81C}"/>
              </a:ext>
            </a:extLst>
          </p:cNvPr>
          <p:cNvPicPr>
            <a:picLocks noChangeAspect="1"/>
          </p:cNvPicPr>
          <p:nvPr/>
        </p:nvPicPr>
        <p:blipFill>
          <a:blip r:embed="rId2"/>
          <a:srcRect t="1255" r="39655" b="81073"/>
          <a:stretch>
            <a:fillRect/>
          </a:stretch>
        </p:blipFill>
        <p:spPr>
          <a:xfrm>
            <a:off x="0" y="779743"/>
            <a:ext cx="7357242" cy="1211967"/>
          </a:xfrm>
          <a:prstGeom prst="rect">
            <a:avLst/>
          </a:prstGeom>
        </p:spPr>
      </p:pic>
      <p:cxnSp>
        <p:nvCxnSpPr>
          <p:cNvPr id="9" name="Connector: Elbow 8">
            <a:extLst>
              <a:ext uri="{FF2B5EF4-FFF2-40B4-BE49-F238E27FC236}">
                <a16:creationId xmlns:a16="http://schemas.microsoft.com/office/drawing/2014/main" id="{8BE8F323-1E05-B092-2615-BCDB8D8DFA70}"/>
              </a:ext>
            </a:extLst>
          </p:cNvPr>
          <p:cNvCxnSpPr>
            <a:cxnSpLocks/>
            <a:stCxn id="5" idx="2"/>
          </p:cNvCxnSpPr>
          <p:nvPr/>
        </p:nvCxnSpPr>
        <p:spPr>
          <a:xfrm rot="16200000" flipH="1">
            <a:off x="3665482" y="2004848"/>
            <a:ext cx="856594" cy="830317"/>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162FD776-0BE1-DBC3-E41E-7A429296608C}"/>
              </a:ext>
            </a:extLst>
          </p:cNvPr>
          <p:cNvPicPr>
            <a:picLocks noChangeAspect="1"/>
          </p:cNvPicPr>
          <p:nvPr/>
        </p:nvPicPr>
        <p:blipFill>
          <a:blip r:embed="rId3"/>
          <a:srcRect r="18449" b="70958"/>
          <a:stretch>
            <a:fillRect/>
          </a:stretch>
        </p:blipFill>
        <p:spPr>
          <a:xfrm>
            <a:off x="0" y="2848311"/>
            <a:ext cx="9942786" cy="1991708"/>
          </a:xfrm>
          <a:prstGeom prst="rect">
            <a:avLst/>
          </a:prstGeom>
        </p:spPr>
      </p:pic>
      <p:sp>
        <p:nvSpPr>
          <p:cNvPr id="12" name="Rectangle: Rounded Corners 11">
            <a:extLst>
              <a:ext uri="{FF2B5EF4-FFF2-40B4-BE49-F238E27FC236}">
                <a16:creationId xmlns:a16="http://schemas.microsoft.com/office/drawing/2014/main" id="{DAA96585-716D-1C0A-2C90-205882469B35}"/>
              </a:ext>
            </a:extLst>
          </p:cNvPr>
          <p:cNvSpPr/>
          <p:nvPr/>
        </p:nvSpPr>
        <p:spPr>
          <a:xfrm>
            <a:off x="2469931" y="4162098"/>
            <a:ext cx="4056993" cy="3153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Rounded Corners 13">
            <a:extLst>
              <a:ext uri="{FF2B5EF4-FFF2-40B4-BE49-F238E27FC236}">
                <a16:creationId xmlns:a16="http://schemas.microsoft.com/office/drawing/2014/main" id="{D3813637-1D7F-13D9-A59E-D8C4C981E7F9}"/>
              </a:ext>
            </a:extLst>
          </p:cNvPr>
          <p:cNvSpPr/>
          <p:nvPr/>
        </p:nvSpPr>
        <p:spPr>
          <a:xfrm>
            <a:off x="3179380" y="1529262"/>
            <a:ext cx="4056993" cy="37310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13652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90A3-EFF9-E3FC-D1D7-9737E62B1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C2C23-49F9-C77E-4C2C-72424AE3E744}"/>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 name="Rectangle 2">
            <a:extLst>
              <a:ext uri="{FF2B5EF4-FFF2-40B4-BE49-F238E27FC236}">
                <a16:creationId xmlns:a16="http://schemas.microsoft.com/office/drawing/2014/main" id="{2EAA9594-D5C0-2472-5912-8D8B54206B10}"/>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4" name="Straight Connector 3">
            <a:extLst>
              <a:ext uri="{FF2B5EF4-FFF2-40B4-BE49-F238E27FC236}">
                <a16:creationId xmlns:a16="http://schemas.microsoft.com/office/drawing/2014/main" id="{BA59D03D-B0A3-6B52-2996-428CC9714F79}"/>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4AA755C-63A8-0ACC-A758-AD64394E353A}"/>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A7674F1-A09E-2C3E-A59E-E85677766A19}"/>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E5952AD-2A37-B69A-71E6-49C24CE00843}"/>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4FE95B6C-26F0-B33E-684A-9EE16B594D95}"/>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CEE429-C86D-1AB3-6EE3-593F442EBE1F}"/>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15" name="TextBox 14">
            <a:extLst>
              <a:ext uri="{FF2B5EF4-FFF2-40B4-BE49-F238E27FC236}">
                <a16:creationId xmlns:a16="http://schemas.microsoft.com/office/drawing/2014/main" id="{37D9DAF0-2B7F-5C9B-6836-E91B42FF8C7A}"/>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16" name="Rectangle 15">
            <a:extLst>
              <a:ext uri="{FF2B5EF4-FFF2-40B4-BE49-F238E27FC236}">
                <a16:creationId xmlns:a16="http://schemas.microsoft.com/office/drawing/2014/main" id="{81C3FD58-BFC3-4C21-92D7-726E0AE54967}"/>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7" name="Rectangle 16">
            <a:extLst>
              <a:ext uri="{FF2B5EF4-FFF2-40B4-BE49-F238E27FC236}">
                <a16:creationId xmlns:a16="http://schemas.microsoft.com/office/drawing/2014/main" id="{E51EC461-98F8-A4F3-0499-C8B5694BA4CA}"/>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8" name="Straight Connector 17">
            <a:extLst>
              <a:ext uri="{FF2B5EF4-FFF2-40B4-BE49-F238E27FC236}">
                <a16:creationId xmlns:a16="http://schemas.microsoft.com/office/drawing/2014/main" id="{0BF28779-C50B-21D9-4DA7-4E347DD864CF}"/>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F2CF15-B22B-B923-6EB8-6BEA44C4653B}"/>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A85EDBC-FA97-78D9-6760-D3D73AF1898F}"/>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953B5875-6A04-6A80-BFB8-D16FDB0E1B5F}"/>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2" name="Straight Connector 21">
            <a:extLst>
              <a:ext uri="{FF2B5EF4-FFF2-40B4-BE49-F238E27FC236}">
                <a16:creationId xmlns:a16="http://schemas.microsoft.com/office/drawing/2014/main" id="{3607EF59-D3A2-B4BE-A0DB-EC127D978BCD}"/>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069DA9E-D588-764A-319C-D49A30BA9C99}"/>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24" name="TextBox 23">
            <a:extLst>
              <a:ext uri="{FF2B5EF4-FFF2-40B4-BE49-F238E27FC236}">
                <a16:creationId xmlns:a16="http://schemas.microsoft.com/office/drawing/2014/main" id="{6EDE36F9-6A4B-AD2D-F667-B41806267DE2}"/>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25" name="Rectangle 24">
            <a:extLst>
              <a:ext uri="{FF2B5EF4-FFF2-40B4-BE49-F238E27FC236}">
                <a16:creationId xmlns:a16="http://schemas.microsoft.com/office/drawing/2014/main" id="{CBD40DF4-7D6A-CE8A-F468-6145974FE7F7}"/>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6" name="Rectangle 25">
            <a:extLst>
              <a:ext uri="{FF2B5EF4-FFF2-40B4-BE49-F238E27FC236}">
                <a16:creationId xmlns:a16="http://schemas.microsoft.com/office/drawing/2014/main" id="{7FA36A24-801C-2C69-C0F0-294F0F03BB59}"/>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27" name="TextBox 26">
            <a:extLst>
              <a:ext uri="{FF2B5EF4-FFF2-40B4-BE49-F238E27FC236}">
                <a16:creationId xmlns:a16="http://schemas.microsoft.com/office/drawing/2014/main" id="{DFE00A9B-CF54-0506-795C-ACB8F48CC7E2}"/>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28" name="Rectangle 27">
            <a:extLst>
              <a:ext uri="{FF2B5EF4-FFF2-40B4-BE49-F238E27FC236}">
                <a16:creationId xmlns:a16="http://schemas.microsoft.com/office/drawing/2014/main" id="{19272036-B268-21EE-F9DC-3B432922A466}"/>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29" name="Rectangle 28">
            <a:extLst>
              <a:ext uri="{FF2B5EF4-FFF2-40B4-BE49-F238E27FC236}">
                <a16:creationId xmlns:a16="http://schemas.microsoft.com/office/drawing/2014/main" id="{4B3408AE-2E60-D6EA-EE1C-A864019B239F}"/>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30" name="Rectangle 29">
            <a:extLst>
              <a:ext uri="{FF2B5EF4-FFF2-40B4-BE49-F238E27FC236}">
                <a16:creationId xmlns:a16="http://schemas.microsoft.com/office/drawing/2014/main" id="{F311691E-DE14-ADA1-30E6-C8B79B6FA328}"/>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31" name="Straight Connector 30">
            <a:extLst>
              <a:ext uri="{FF2B5EF4-FFF2-40B4-BE49-F238E27FC236}">
                <a16:creationId xmlns:a16="http://schemas.microsoft.com/office/drawing/2014/main" id="{A3189CD5-D8F8-61A6-11E2-F412CFB8970A}"/>
              </a:ext>
            </a:extLst>
          </p:cNvPr>
          <p:cNvCxnSpPr>
            <a:cxnSpLocks/>
            <a:endCxn id="28"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D26E7E8-490E-2E5C-5490-CC2DFF536720}"/>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33" name="Rectangle 32">
            <a:extLst>
              <a:ext uri="{FF2B5EF4-FFF2-40B4-BE49-F238E27FC236}">
                <a16:creationId xmlns:a16="http://schemas.microsoft.com/office/drawing/2014/main" id="{DAFD0462-B532-E9AD-6A63-01137EC62919}"/>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34" name="Rectangle 33">
            <a:extLst>
              <a:ext uri="{FF2B5EF4-FFF2-40B4-BE49-F238E27FC236}">
                <a16:creationId xmlns:a16="http://schemas.microsoft.com/office/drawing/2014/main" id="{D4B931CD-829D-7C34-AFED-A1B9216F19CF}"/>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5" name="Rectangle 34">
            <a:extLst>
              <a:ext uri="{FF2B5EF4-FFF2-40B4-BE49-F238E27FC236}">
                <a16:creationId xmlns:a16="http://schemas.microsoft.com/office/drawing/2014/main" id="{D42E24E2-2488-8DA2-C9CB-AF7171FF085E}"/>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36" name="Rectangle 35">
            <a:extLst>
              <a:ext uri="{FF2B5EF4-FFF2-40B4-BE49-F238E27FC236}">
                <a16:creationId xmlns:a16="http://schemas.microsoft.com/office/drawing/2014/main" id="{162744A6-1648-F219-5954-10E1E7A65D1D}"/>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37" name="Rectangle 36">
            <a:extLst>
              <a:ext uri="{FF2B5EF4-FFF2-40B4-BE49-F238E27FC236}">
                <a16:creationId xmlns:a16="http://schemas.microsoft.com/office/drawing/2014/main" id="{7BC7B6A7-E226-3794-AAEE-DDED19725331}"/>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9" name="TextBox 38">
            <a:extLst>
              <a:ext uri="{FF2B5EF4-FFF2-40B4-BE49-F238E27FC236}">
                <a16:creationId xmlns:a16="http://schemas.microsoft.com/office/drawing/2014/main" id="{7D38CBD6-7E3B-2EE6-0095-8F88C31AFF19}"/>
              </a:ext>
            </a:extLst>
          </p:cNvPr>
          <p:cNvSpPr txBox="1"/>
          <p:nvPr/>
        </p:nvSpPr>
        <p:spPr>
          <a:xfrm>
            <a:off x="85755" y="672662"/>
            <a:ext cx="8346010" cy="3970318"/>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java</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util</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ArrayList</a:t>
            </a:r>
            <a:r>
              <a:rPr lang="en-US" b="0" dirty="0">
                <a:solidFill>
                  <a:srgbClr val="CCCCCC"/>
                </a:solidFill>
                <a:effectLst/>
                <a:latin typeface="Consolas" panose="020B0609020204030204" pitchFamily="49" charset="0"/>
              </a:rPr>
              <a:t>;</a:t>
            </a:r>
          </a:p>
          <a:p>
            <a:pPr>
              <a:buNone/>
            </a:pPr>
            <a:r>
              <a:rPr lang="en-US" b="0" dirty="0">
                <a:solidFill>
                  <a:srgbClr val="569CD6"/>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java</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util</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List</a:t>
            </a:r>
            <a:r>
              <a:rPr lang="en-US" b="0" dirty="0">
                <a:solidFill>
                  <a:srgbClr val="CCCCCC"/>
                </a:solidFill>
                <a:effectLst/>
                <a:latin typeface="Consolas" panose="020B0609020204030204" pitchFamily="49" charset="0"/>
              </a:rPr>
              <a:t>;</a:t>
            </a:r>
          </a:p>
          <a:p>
            <a:pPr>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Book</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status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"available"</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"available" or "borrowed"</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Member</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which Member has borrowed it</a:t>
            </a:r>
            <a:endParaRPr lang="en-US" b="0" dirty="0">
              <a:solidFill>
                <a:srgbClr val="CCCCCC"/>
              </a:solidFill>
              <a:effectLst/>
              <a:latin typeface="Consolas" panose="020B0609020204030204" pitchFamily="49" charset="0"/>
            </a:endParaRPr>
          </a:p>
          <a:p>
            <a:pPr>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a:t>
            </a:r>
          </a:p>
        </p:txBody>
      </p:sp>
      <p:sp>
        <p:nvSpPr>
          <p:cNvPr id="41" name="TextBox 40">
            <a:extLst>
              <a:ext uri="{FF2B5EF4-FFF2-40B4-BE49-F238E27FC236}">
                <a16:creationId xmlns:a16="http://schemas.microsoft.com/office/drawing/2014/main" id="{10CB3C05-BD4B-CFF8-9E00-EFAB3E918ACF}"/>
              </a:ext>
            </a:extLst>
          </p:cNvPr>
          <p:cNvSpPr txBox="1"/>
          <p:nvPr/>
        </p:nvSpPr>
        <p:spPr>
          <a:xfrm>
            <a:off x="3294" y="4642981"/>
            <a:ext cx="8352928" cy="1964512"/>
          </a:xfrm>
          <a:prstGeom prst="rect">
            <a:avLst/>
          </a:prstGeom>
          <a:noFill/>
        </p:spPr>
        <p:txBody>
          <a:bodyPr wrap="square">
            <a:spAutoFit/>
          </a:bodyPr>
          <a:lstStyle/>
          <a:p>
            <a:pPr>
              <a:lnSpc>
                <a:spcPct val="150000"/>
              </a:lnSpc>
              <a:buNone/>
            </a:pPr>
            <a:r>
              <a:rPr lang="en-US" sz="2800" b="1" dirty="0">
                <a:latin typeface="Calibir"/>
              </a:rPr>
              <a:t>Book</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Keeps the title, ISBN, whether it’s available or borrowed, and (if borrowed) which member has it.</a:t>
            </a:r>
          </a:p>
        </p:txBody>
      </p:sp>
      <p:sp>
        <p:nvSpPr>
          <p:cNvPr id="5" name="Oval 4">
            <a:extLst>
              <a:ext uri="{FF2B5EF4-FFF2-40B4-BE49-F238E27FC236}">
                <a16:creationId xmlns:a16="http://schemas.microsoft.com/office/drawing/2014/main" id="{96566C62-3BD4-C0CA-23F6-2D535296658C}"/>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59083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4483-44C9-5506-9363-180800DE2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1FB1C-FE34-9AA1-5D30-E3D1322157FC}"/>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62860A33-5421-BA5D-2F03-221E2955785D}"/>
              </a:ext>
            </a:extLst>
          </p:cNvPr>
          <p:cNvSpPr txBox="1"/>
          <p:nvPr/>
        </p:nvSpPr>
        <p:spPr>
          <a:xfrm>
            <a:off x="85754" y="672662"/>
            <a:ext cx="8299962" cy="3139321"/>
          </a:xfrm>
          <a:prstGeom prst="rect">
            <a:avLst/>
          </a:prstGeom>
          <a:solidFill>
            <a:schemeClr val="tx1"/>
          </a:solidFill>
        </p:spPr>
        <p:txBody>
          <a:bodyPr wrap="square">
            <a:spAutoFit/>
          </a:bodyPr>
          <a:lstStyle/>
          <a:p>
            <a:pPr>
              <a:buNone/>
            </a:pP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Member</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List</a:t>
            </a:r>
            <a:r>
              <a:rPr lang="en-US" b="0" dirty="0">
                <a:solidFill>
                  <a:srgbClr val="CCCCCC"/>
                </a:solidFill>
                <a:effectLst/>
                <a:latin typeface="Consolas" panose="020B0609020204030204" pitchFamily="49" charset="0"/>
              </a:rPr>
              <a:t>&lt;</a:t>
            </a:r>
            <a:r>
              <a:rPr lang="en-US" b="0" dirty="0">
                <a:solidFill>
                  <a:srgbClr val="4EC9B0"/>
                </a:solidFill>
                <a:effectLst/>
                <a:latin typeface="Consolas" panose="020B0609020204030204" pitchFamily="49" charset="0"/>
              </a:rPr>
              <a:t>Book</a:t>
            </a:r>
            <a:r>
              <a:rPr lang="en-US" b="0" dirty="0">
                <a:solidFill>
                  <a:srgbClr val="CCCCCC"/>
                </a:solidFill>
                <a:effectLst/>
                <a:latin typeface="Consolas" panose="020B0609020204030204" pitchFamily="49" charset="0"/>
              </a:rPr>
              <a:t>&gt; </a:t>
            </a:r>
            <a:r>
              <a:rPr lang="en-US" b="0" dirty="0" err="1">
                <a:solidFill>
                  <a:srgbClr val="9CDCFE"/>
                </a:solidFill>
                <a:effectLst/>
                <a:latin typeface="Consolas" panose="020B0609020204030204" pitchFamily="49" charset="0"/>
              </a:rPr>
              <a:t>borrowedBooks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new</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ArrayList</a:t>
            </a:r>
            <a:r>
              <a:rPr lang="en-US" b="0" dirty="0">
                <a:solidFill>
                  <a:srgbClr val="CCCCCC"/>
                </a:solidFill>
                <a:effectLst/>
                <a:latin typeface="Consolas" panose="020B0609020204030204" pitchFamily="49" charset="0"/>
              </a:rPr>
              <a:t>&lt;&gt;();</a:t>
            </a:r>
          </a:p>
          <a:p>
            <a:pPr>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Member</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String</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this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this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p>
        </p:txBody>
      </p:sp>
      <p:sp>
        <p:nvSpPr>
          <p:cNvPr id="5" name="Rectangle 1">
            <a:extLst>
              <a:ext uri="{FF2B5EF4-FFF2-40B4-BE49-F238E27FC236}">
                <a16:creationId xmlns:a16="http://schemas.microsoft.com/office/drawing/2014/main" id="{E21532FA-FF24-3D0A-C3DE-2A5C5C864681}"/>
              </a:ext>
            </a:extLst>
          </p:cNvPr>
          <p:cNvSpPr>
            <a:spLocks noChangeArrowheads="1"/>
          </p:cNvSpPr>
          <p:nvPr/>
        </p:nvSpPr>
        <p:spPr bwMode="auto">
          <a:xfrm>
            <a:off x="153649" y="3873916"/>
            <a:ext cx="5757746"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Member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Stores id, name, email, and a list of books they currently hold.</a:t>
            </a:r>
          </a:p>
        </p:txBody>
      </p:sp>
      <p:sp>
        <p:nvSpPr>
          <p:cNvPr id="3" name="Rectangle 2">
            <a:extLst>
              <a:ext uri="{FF2B5EF4-FFF2-40B4-BE49-F238E27FC236}">
                <a16:creationId xmlns:a16="http://schemas.microsoft.com/office/drawing/2014/main" id="{EAC59736-2463-BDC9-CE88-A9CB1AF2F813}"/>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4" name="Straight Connector 3">
            <a:extLst>
              <a:ext uri="{FF2B5EF4-FFF2-40B4-BE49-F238E27FC236}">
                <a16:creationId xmlns:a16="http://schemas.microsoft.com/office/drawing/2014/main" id="{C9EA9C18-BAA8-8908-DAE9-532D3D576BB8}"/>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613024-BC44-7601-31F3-869545672BD7}"/>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E90EF70-CF51-6B11-083A-723A8D1E3055}"/>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5B6E2996-02DC-9C66-49C5-C72908CE2052}"/>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4436B511-6CA5-3A03-CCF0-7E690767C1B6}"/>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1176AC7-1F1F-A0DE-0E86-5C7C61ABC5F7}"/>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11" name="TextBox 10">
            <a:extLst>
              <a:ext uri="{FF2B5EF4-FFF2-40B4-BE49-F238E27FC236}">
                <a16:creationId xmlns:a16="http://schemas.microsoft.com/office/drawing/2014/main" id="{E256B8FF-E644-062F-CE50-632D589D31AB}"/>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12" name="Rectangle 11">
            <a:extLst>
              <a:ext uri="{FF2B5EF4-FFF2-40B4-BE49-F238E27FC236}">
                <a16:creationId xmlns:a16="http://schemas.microsoft.com/office/drawing/2014/main" id="{ED4BA679-8EFA-92BC-A26E-B1416500A01D}"/>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13" name="Rectangle 12">
            <a:extLst>
              <a:ext uri="{FF2B5EF4-FFF2-40B4-BE49-F238E27FC236}">
                <a16:creationId xmlns:a16="http://schemas.microsoft.com/office/drawing/2014/main" id="{D835A30D-BFEA-2A76-DDC6-5943A3B3D85A}"/>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14" name="Straight Connector 13">
            <a:extLst>
              <a:ext uri="{FF2B5EF4-FFF2-40B4-BE49-F238E27FC236}">
                <a16:creationId xmlns:a16="http://schemas.microsoft.com/office/drawing/2014/main" id="{D14DD7B3-BAFB-B01C-FE5D-7D4F98939D80}"/>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988667-F573-4D67-6A83-AC4AA8162E7C}"/>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50E8058-DA9F-3EDB-F369-E404D38D0080}"/>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FB79533-F81B-9916-3950-E88D070CB706}"/>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8" name="Straight Connector 17">
            <a:extLst>
              <a:ext uri="{FF2B5EF4-FFF2-40B4-BE49-F238E27FC236}">
                <a16:creationId xmlns:a16="http://schemas.microsoft.com/office/drawing/2014/main" id="{3E527D46-E06F-FCBD-2E07-6058559F5CCA}"/>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73DA8CF-262C-DDBF-9982-9DA805CFF5BA}"/>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20" name="TextBox 19">
            <a:extLst>
              <a:ext uri="{FF2B5EF4-FFF2-40B4-BE49-F238E27FC236}">
                <a16:creationId xmlns:a16="http://schemas.microsoft.com/office/drawing/2014/main" id="{543ECC9C-43B4-EE61-35C8-78A90A2F4189}"/>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21" name="Rectangle 20">
            <a:extLst>
              <a:ext uri="{FF2B5EF4-FFF2-40B4-BE49-F238E27FC236}">
                <a16:creationId xmlns:a16="http://schemas.microsoft.com/office/drawing/2014/main" id="{E9977389-8C59-BE53-57BE-9A587C2F4352}"/>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22" name="Rectangle 21">
            <a:extLst>
              <a:ext uri="{FF2B5EF4-FFF2-40B4-BE49-F238E27FC236}">
                <a16:creationId xmlns:a16="http://schemas.microsoft.com/office/drawing/2014/main" id="{D60107EE-85A2-A86B-71DD-C8A7950D842B}"/>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23" name="TextBox 22">
            <a:extLst>
              <a:ext uri="{FF2B5EF4-FFF2-40B4-BE49-F238E27FC236}">
                <a16:creationId xmlns:a16="http://schemas.microsoft.com/office/drawing/2014/main" id="{EB552B75-5297-738D-E5F1-B85A1A97F5CC}"/>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24" name="Rectangle 23">
            <a:extLst>
              <a:ext uri="{FF2B5EF4-FFF2-40B4-BE49-F238E27FC236}">
                <a16:creationId xmlns:a16="http://schemas.microsoft.com/office/drawing/2014/main" id="{B3ECC944-9E00-5B1E-42D9-B296CAE28F0A}"/>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25" name="Rectangle 24">
            <a:extLst>
              <a:ext uri="{FF2B5EF4-FFF2-40B4-BE49-F238E27FC236}">
                <a16:creationId xmlns:a16="http://schemas.microsoft.com/office/drawing/2014/main" id="{1E04C264-5B5C-AC27-F4F9-BCD088D3F372}"/>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26" name="Rectangle 25">
            <a:extLst>
              <a:ext uri="{FF2B5EF4-FFF2-40B4-BE49-F238E27FC236}">
                <a16:creationId xmlns:a16="http://schemas.microsoft.com/office/drawing/2014/main" id="{2ED389BB-722D-F3FF-CE0D-4D39D08C5AB5}"/>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27" name="Straight Connector 26">
            <a:extLst>
              <a:ext uri="{FF2B5EF4-FFF2-40B4-BE49-F238E27FC236}">
                <a16:creationId xmlns:a16="http://schemas.microsoft.com/office/drawing/2014/main" id="{82B4AA52-0A48-4C9B-E7F9-7AA14A7B9CC8}"/>
              </a:ext>
            </a:extLst>
          </p:cNvPr>
          <p:cNvCxnSpPr>
            <a:cxnSpLocks/>
            <a:endCxn id="24"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078FA1E-689F-8834-842D-7FD4D671E0BB}"/>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29" name="Rectangle 28">
            <a:extLst>
              <a:ext uri="{FF2B5EF4-FFF2-40B4-BE49-F238E27FC236}">
                <a16:creationId xmlns:a16="http://schemas.microsoft.com/office/drawing/2014/main" id="{82DCC3C8-5CD3-2714-9AED-D51268325683}"/>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30" name="Rectangle 29">
            <a:extLst>
              <a:ext uri="{FF2B5EF4-FFF2-40B4-BE49-F238E27FC236}">
                <a16:creationId xmlns:a16="http://schemas.microsoft.com/office/drawing/2014/main" id="{BBDE59BB-4E10-632A-B706-B99F95C96392}"/>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31" name="Rectangle 30">
            <a:extLst>
              <a:ext uri="{FF2B5EF4-FFF2-40B4-BE49-F238E27FC236}">
                <a16:creationId xmlns:a16="http://schemas.microsoft.com/office/drawing/2014/main" id="{2ECBD4F7-AC86-2AA6-60E4-C4CECCA9DB8A}"/>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32" name="Rectangle 31">
            <a:extLst>
              <a:ext uri="{FF2B5EF4-FFF2-40B4-BE49-F238E27FC236}">
                <a16:creationId xmlns:a16="http://schemas.microsoft.com/office/drawing/2014/main" id="{0BC13D67-D020-E163-F5EB-7106D8E47592}"/>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33" name="Rectangle 32">
            <a:extLst>
              <a:ext uri="{FF2B5EF4-FFF2-40B4-BE49-F238E27FC236}">
                <a16:creationId xmlns:a16="http://schemas.microsoft.com/office/drawing/2014/main" id="{BD17644A-10BE-833B-8356-7FAFA07983FD}"/>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34" name="Oval 33">
            <a:extLst>
              <a:ext uri="{FF2B5EF4-FFF2-40B4-BE49-F238E27FC236}">
                <a16:creationId xmlns:a16="http://schemas.microsoft.com/office/drawing/2014/main" id="{61170931-3D7C-F824-3B7B-45D5BC590138}"/>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12379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F43E-DAE8-5580-A35F-2CD4F5D46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521AE-2316-A8D3-B5EF-5FD95232FB0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E0B79378-A833-BB2E-3266-E30C637BAA53}"/>
              </a:ext>
            </a:extLst>
          </p:cNvPr>
          <p:cNvSpPr txBox="1"/>
          <p:nvPr/>
        </p:nvSpPr>
        <p:spPr>
          <a:xfrm>
            <a:off x="85754" y="672662"/>
            <a:ext cx="12106245" cy="5693866"/>
          </a:xfrm>
          <a:prstGeom prst="rect">
            <a:avLst/>
          </a:prstGeom>
          <a:solidFill>
            <a:schemeClr val="tx1"/>
          </a:solidFill>
        </p:spPr>
        <p:txBody>
          <a:bodyPr wrap="square">
            <a:spAutoFit/>
          </a:bodyPr>
          <a:lstStyle/>
          <a:p>
            <a:pPr>
              <a:buNone/>
            </a:pP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borrow</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size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cannot borrow more than 5 books."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borrowed"</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equals</a:t>
            </a:r>
            <a:r>
              <a:rPr lang="en-US" sz="1400" dirty="0">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"Book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is already 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this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add</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borrowed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err="1">
                <a:solidFill>
                  <a:srgbClr val="DCDCAA"/>
                </a:solidFill>
                <a:latin typeface="Consolas" panose="020B0609020204030204" pitchFamily="49" charset="0"/>
              </a:rPr>
              <a:t>returnBook</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contains</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remove</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"available"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null</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returned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 </a:t>
            </a:r>
            <a:r>
              <a:rPr lang="en-US" sz="1400" dirty="0">
                <a:solidFill>
                  <a:srgbClr val="C586C0"/>
                </a:solidFill>
                <a:latin typeface="Consolas" panose="020B0609020204030204" pitchFamily="49" charset="0"/>
              </a:rPr>
              <a:t>else</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does not have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0A5E8AAF-9A66-FB61-0757-1F40C7F3389E}"/>
              </a:ext>
            </a:extLst>
          </p:cNvPr>
          <p:cNvSpPr>
            <a:spLocks noChangeArrowheads="1"/>
          </p:cNvSpPr>
          <p:nvPr/>
        </p:nvSpPr>
        <p:spPr bwMode="auto">
          <a:xfrm>
            <a:off x="8332499" y="672662"/>
            <a:ext cx="3969834" cy="6133859"/>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borrow(Book)</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Blocks if the member already has 5 books.</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Blocks if the book is already borrowed by someone else.</a:t>
            </a:r>
          </a:p>
          <a:p>
            <a:pPr marL="800100" lvl="1" indent="-342900" eaLnBrk="0" fontAlgn="base" hangingPunct="0">
              <a:lnSpc>
                <a:spcPct val="150000"/>
              </a:lnSpc>
              <a:spcBef>
                <a:spcPct val="0"/>
              </a:spcBef>
              <a:spcAft>
                <a:spcPct val="0"/>
              </a:spcAft>
              <a:buFont typeface="+mj-lt"/>
              <a:buAutoNum type="arabicPeriod"/>
            </a:pPr>
            <a:r>
              <a:rPr lang="en-US" altLang="en-US" sz="2200" dirty="0">
                <a:latin typeface="Calibir"/>
              </a:rPr>
              <a:t>Otherwise, marks the book as borrowed, remembers who borrowed it, adds it to the member’s list, and prints a message.</a:t>
            </a:r>
          </a:p>
        </p:txBody>
      </p:sp>
    </p:spTree>
    <p:extLst>
      <p:ext uri="{BB962C8B-B14F-4D97-AF65-F5344CB8AC3E}">
        <p14:creationId xmlns:p14="http://schemas.microsoft.com/office/powerpoint/2010/main" val="4190190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90F3E-E7EC-71E2-91EA-758B39939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175CA-DFDD-44CB-BFC8-3CB7C7AAC492}"/>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C7A613ED-729F-CC23-F45F-59E4C0E74A16}"/>
              </a:ext>
            </a:extLst>
          </p:cNvPr>
          <p:cNvSpPr txBox="1"/>
          <p:nvPr/>
        </p:nvSpPr>
        <p:spPr>
          <a:xfrm>
            <a:off x="85754" y="672662"/>
            <a:ext cx="12106245" cy="5693866"/>
          </a:xfrm>
          <a:prstGeom prst="rect">
            <a:avLst/>
          </a:prstGeom>
          <a:solidFill>
            <a:schemeClr val="tx1"/>
          </a:solidFill>
        </p:spPr>
        <p:txBody>
          <a:bodyPr wrap="square">
            <a:spAutoFit/>
          </a:bodyPr>
          <a:lstStyle/>
          <a:p>
            <a:pPr>
              <a:buNone/>
            </a:pP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a:solidFill>
                  <a:srgbClr val="DCDCAA"/>
                </a:solidFill>
                <a:latin typeface="Consolas" panose="020B0609020204030204" pitchFamily="49" charset="0"/>
              </a:rPr>
              <a:t>borrow</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size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&gt;=</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cannot borrow more than 5 books."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err="1">
                <a:solidFill>
                  <a:srgbClr val="CE9178"/>
                </a:solidFill>
                <a:latin typeface="Consolas" panose="020B0609020204030204" pitchFamily="49" charset="0"/>
              </a:rPr>
              <a:t>borrowed"</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equals</a:t>
            </a:r>
            <a:r>
              <a:rPr lang="en-US" sz="1400" dirty="0">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CE9178"/>
                </a:solidFill>
                <a:latin typeface="Consolas" panose="020B0609020204030204" pitchFamily="49" charset="0"/>
              </a:rPr>
              <a:t>"Book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is already 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return</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"borrowed"</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this</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add</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borrowed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br>
              <a:rPr lang="en-US" sz="1400" dirty="0">
                <a:solidFill>
                  <a:srgbClr val="CCCCCC"/>
                </a:solidFill>
                <a:latin typeface="Consolas" panose="020B0609020204030204" pitchFamily="49" charset="0"/>
              </a:rPr>
            </a:br>
            <a:r>
              <a:rPr lang="en-US" sz="1400" dirty="0">
                <a:solidFill>
                  <a:srgbClr val="CCCCCC"/>
                </a:solidFill>
                <a:latin typeface="Consolas" panose="020B0609020204030204" pitchFamily="49" charset="0"/>
              </a:rPr>
              <a:t>    </a:t>
            </a:r>
            <a:r>
              <a:rPr lang="en-US" sz="1400" dirty="0">
                <a:solidFill>
                  <a:srgbClr val="4EC9B0"/>
                </a:solidFill>
                <a:latin typeface="Consolas" panose="020B0609020204030204" pitchFamily="49" charset="0"/>
              </a:rPr>
              <a:t>void</a:t>
            </a:r>
            <a:r>
              <a:rPr lang="en-US" sz="1400" dirty="0">
                <a:solidFill>
                  <a:srgbClr val="CCCCCC"/>
                </a:solidFill>
                <a:latin typeface="Consolas" panose="020B0609020204030204" pitchFamily="49" charset="0"/>
              </a:rPr>
              <a:t> </a:t>
            </a:r>
            <a:r>
              <a:rPr lang="en-US" sz="1400" dirty="0" err="1">
                <a:solidFill>
                  <a:srgbClr val="DCDCAA"/>
                </a:solidFill>
                <a:latin typeface="Consolas" panose="020B0609020204030204" pitchFamily="49" charset="0"/>
              </a:rPr>
              <a:t>returnBook</a:t>
            </a:r>
            <a:r>
              <a:rPr lang="en-US" sz="1400" dirty="0">
                <a:solidFill>
                  <a:srgbClr val="CCCCCC"/>
                </a:solidFill>
                <a:latin typeface="Consolas" panose="020B0609020204030204" pitchFamily="49" charset="0"/>
              </a:rPr>
              <a:t>(</a:t>
            </a:r>
            <a:r>
              <a:rPr lang="en-US" sz="1400" dirty="0">
                <a:solidFill>
                  <a:srgbClr val="4EC9B0"/>
                </a:solidFill>
                <a:latin typeface="Consolas" panose="020B0609020204030204" pitchFamily="49" charset="0"/>
              </a:rPr>
              <a:t>Book</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C586C0"/>
                </a:solidFill>
                <a:latin typeface="Consolas" panose="020B0609020204030204" pitchFamily="49" charset="0"/>
              </a:rPr>
              <a:t>if</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contains</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borrowedBooks</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remove</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book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status</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"available"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borrowedBy</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569CD6"/>
                </a:solidFill>
                <a:latin typeface="Consolas" panose="020B0609020204030204" pitchFamily="49" charset="0"/>
              </a:rPr>
              <a:t>null</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returned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 </a:t>
            </a:r>
            <a:r>
              <a:rPr lang="en-US" sz="1400" dirty="0">
                <a:solidFill>
                  <a:srgbClr val="C586C0"/>
                </a:solidFill>
                <a:latin typeface="Consolas" panose="020B0609020204030204" pitchFamily="49" charset="0"/>
              </a:rPr>
              <a:t>else</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err="1">
                <a:solidFill>
                  <a:srgbClr val="4EC9B0"/>
                </a:solidFill>
                <a:latin typeface="Consolas" panose="020B0609020204030204" pitchFamily="49" charset="0"/>
              </a:rPr>
              <a:t>System</a:t>
            </a:r>
            <a:r>
              <a:rPr lang="en-US" sz="1400" dirty="0" err="1">
                <a:solidFill>
                  <a:srgbClr val="CCCCCC"/>
                </a:solidFill>
                <a:latin typeface="Consolas" panose="020B0609020204030204" pitchFamily="49" charset="0"/>
              </a:rPr>
              <a:t>.</a:t>
            </a:r>
            <a:r>
              <a:rPr lang="en-US" sz="1400" dirty="0" err="1">
                <a:solidFill>
                  <a:srgbClr val="4FC1FF"/>
                </a:solidFill>
                <a:latin typeface="Consolas" panose="020B0609020204030204" pitchFamily="49" charset="0"/>
              </a:rPr>
              <a:t>out</a:t>
            </a:r>
            <a:r>
              <a:rPr lang="en-US" sz="1400" dirty="0" err="1">
                <a:solidFill>
                  <a:srgbClr val="CCCCCC"/>
                </a:solidFill>
                <a:latin typeface="Consolas" panose="020B0609020204030204" pitchFamily="49" charset="0"/>
              </a:rPr>
              <a:t>.</a:t>
            </a:r>
            <a:r>
              <a:rPr lang="en-US" sz="1400" dirty="0" err="1">
                <a:solidFill>
                  <a:srgbClr val="DCDCAA"/>
                </a:solidFill>
                <a:latin typeface="Consolas" panose="020B0609020204030204" pitchFamily="49" charset="0"/>
              </a:rPr>
              <a:t>println</a:t>
            </a:r>
            <a:r>
              <a:rPr lang="en-US" sz="1400" dirty="0">
                <a:solidFill>
                  <a:srgbClr val="CCCCCC"/>
                </a:solidFill>
                <a:latin typeface="Consolas" panose="020B0609020204030204" pitchFamily="49" charset="0"/>
              </a:rPr>
              <a:t>(</a:t>
            </a:r>
            <a:r>
              <a:rPr lang="en-US" sz="1400" dirty="0">
                <a:solidFill>
                  <a:srgbClr val="9CDCFE"/>
                </a:solidFill>
                <a:latin typeface="Consolas" panose="020B0609020204030204" pitchFamily="49" charset="0"/>
              </a:rPr>
              <a:t>name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 does not have '"</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err="1">
                <a:solidFill>
                  <a:srgbClr val="9CDCFE"/>
                </a:solidFill>
                <a:latin typeface="Consolas" panose="020B0609020204030204" pitchFamily="49" charset="0"/>
              </a:rPr>
              <a:t>book</a:t>
            </a:r>
            <a:r>
              <a:rPr lang="en-US" sz="1400" dirty="0" err="1">
                <a:solidFill>
                  <a:srgbClr val="CCCCCC"/>
                </a:solidFill>
                <a:latin typeface="Consolas" panose="020B0609020204030204" pitchFamily="49" charset="0"/>
              </a:rPr>
              <a:t>.</a:t>
            </a:r>
            <a:r>
              <a:rPr lang="en-US" sz="1400" dirty="0" err="1">
                <a:solidFill>
                  <a:srgbClr val="9CDCFE"/>
                </a:solidFill>
                <a:latin typeface="Consolas" panose="020B0609020204030204" pitchFamily="49" charset="0"/>
              </a:rPr>
              <a:t>title</a:t>
            </a:r>
            <a:r>
              <a:rPr lang="en-US" sz="1400" dirty="0">
                <a:solidFill>
                  <a:srgbClr val="CCCCCC"/>
                </a:solidFill>
                <a:latin typeface="Consolas" panose="020B0609020204030204" pitchFamily="49" charset="0"/>
              </a:rPr>
              <a:t> </a:t>
            </a:r>
            <a:r>
              <a:rPr lang="en-US" sz="1400" dirty="0">
                <a:solidFill>
                  <a:srgbClr val="D4D4D4"/>
                </a:solidFill>
                <a:latin typeface="Consolas" panose="020B0609020204030204" pitchFamily="49" charset="0"/>
              </a:rPr>
              <a:t>+</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52B048BE-C035-9454-04A3-8E0F4BDA7857}"/>
              </a:ext>
            </a:extLst>
          </p:cNvPr>
          <p:cNvSpPr>
            <a:spLocks noChangeArrowheads="1"/>
          </p:cNvSpPr>
          <p:nvPr/>
        </p:nvSpPr>
        <p:spPr bwMode="auto">
          <a:xfrm>
            <a:off x="8222166" y="672662"/>
            <a:ext cx="3969834" cy="4072269"/>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500" dirty="0" err="1">
                <a:latin typeface="Calibir"/>
              </a:rPr>
              <a:t>returnBook</a:t>
            </a:r>
            <a:r>
              <a:rPr lang="en-US" altLang="en-US" sz="2500" dirty="0">
                <a:latin typeface="Calibir"/>
              </a:rPr>
              <a:t>(Book)</a:t>
            </a:r>
          </a:p>
          <a:p>
            <a:pPr marL="742950" lvl="1" indent="-28575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If the member has that book, it removes it from their list, marks it available, clears the borrower, and prints a message.</a:t>
            </a:r>
          </a:p>
        </p:txBody>
      </p:sp>
    </p:spTree>
    <p:extLst>
      <p:ext uri="{BB962C8B-B14F-4D97-AF65-F5344CB8AC3E}">
        <p14:creationId xmlns:p14="http://schemas.microsoft.com/office/powerpoint/2010/main" val="1759151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FD36-5AD5-8B40-76EF-85057DEEC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950C1-5065-2C9E-6266-513225E1FE3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C07146B6-E68F-D919-BF92-7B024F961507}"/>
              </a:ext>
            </a:extLst>
          </p:cNvPr>
          <p:cNvSpPr txBox="1"/>
          <p:nvPr/>
        </p:nvSpPr>
        <p:spPr>
          <a:xfrm>
            <a:off x="0" y="672662"/>
            <a:ext cx="8442962" cy="4832092"/>
          </a:xfrm>
          <a:prstGeom prst="rect">
            <a:avLst/>
          </a:prstGeom>
          <a:solidFill>
            <a:schemeClr val="tx1"/>
          </a:solidFill>
        </p:spPr>
        <p:txBody>
          <a:bodyPr wrap="square">
            <a:spAutoFit/>
          </a:bodyPr>
          <a:lstStyle/>
          <a:p>
            <a:pPr>
              <a:buNone/>
            </a:pPr>
            <a:r>
              <a:rPr lang="en-US" sz="2200" b="0" dirty="0">
                <a:solidFill>
                  <a:srgbClr val="569CD6"/>
                </a:solidFill>
                <a:effectLst/>
                <a:latin typeface="Consolas" panose="020B0609020204030204" pitchFamily="49" charset="0"/>
              </a:rPr>
              <a:t>class</a:t>
            </a: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Library</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List</a:t>
            </a:r>
            <a:r>
              <a:rPr lang="en-US" sz="2200" b="0" dirty="0">
                <a:solidFill>
                  <a:srgbClr val="CCCCCC"/>
                </a:solidFill>
                <a:effectLst/>
                <a:latin typeface="Consolas" panose="020B0609020204030204" pitchFamily="49" charset="0"/>
              </a:rPr>
              <a:t>&lt;</a:t>
            </a:r>
            <a:r>
              <a:rPr lang="en-US" sz="2200" b="0" dirty="0">
                <a:solidFill>
                  <a:srgbClr val="4EC9B0"/>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&gt; </a:t>
            </a:r>
            <a:r>
              <a:rPr lang="en-US" sz="2200" b="0" dirty="0">
                <a:solidFill>
                  <a:srgbClr val="9CDCFE"/>
                </a:solidFill>
                <a:effectLst/>
                <a:latin typeface="Consolas" panose="020B0609020204030204" pitchFamily="49" charset="0"/>
              </a:rPr>
              <a:t>books</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C586C0"/>
                </a:solidFill>
                <a:effectLst/>
                <a:latin typeface="Consolas" panose="020B0609020204030204" pitchFamily="49" charset="0"/>
              </a:rPr>
              <a:t>new</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ArrayList</a:t>
            </a:r>
            <a:r>
              <a:rPr lang="en-US" sz="2200" b="0" dirty="0">
                <a:solidFill>
                  <a:srgbClr val="CCCCCC"/>
                </a:solidFill>
                <a:effectLst/>
                <a:latin typeface="Consolas" panose="020B0609020204030204" pitchFamily="49" charset="0"/>
              </a:rPr>
              <a:t>&lt;&gt;();</a:t>
            </a:r>
          </a:p>
          <a:p>
            <a:pPr>
              <a:buNone/>
            </a:pPr>
            <a:br>
              <a:rPr lang="en-US" sz="2200" b="0" dirty="0">
                <a:solidFill>
                  <a:srgbClr val="CCCCCC"/>
                </a:solidFill>
                <a:effectLst/>
                <a:latin typeface="Consolas" panose="020B0609020204030204" pitchFamily="49" charset="0"/>
              </a:rPr>
            </a:b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Library</a:t>
            </a:r>
            <a:r>
              <a:rPr lang="en-US" sz="2200" b="0" dirty="0">
                <a:solidFill>
                  <a:srgbClr val="CCCCCC"/>
                </a:solidFill>
                <a:effectLst/>
                <a:latin typeface="Consolas" panose="020B0609020204030204" pitchFamily="49" charset="0"/>
              </a:rPr>
              <a:t>(</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String</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this</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name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r>
              <a:rPr lang="en-US" sz="2200" b="0" dirty="0" err="1">
                <a:solidFill>
                  <a:srgbClr val="569CD6"/>
                </a:solidFill>
                <a:effectLst/>
                <a:latin typeface="Consolas" panose="020B0609020204030204" pitchFamily="49" charset="0"/>
              </a:rPr>
              <a:t>this</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address</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p>
          <a:p>
            <a:pPr>
              <a:buNone/>
            </a:pPr>
            <a:br>
              <a:rPr lang="en-US" sz="2200" b="0" dirty="0">
                <a:solidFill>
                  <a:srgbClr val="CCCCCC"/>
                </a:solidFill>
                <a:effectLst/>
                <a:latin typeface="Consolas" panose="020B0609020204030204" pitchFamily="49" charset="0"/>
              </a:rPr>
            </a:b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void</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addBook</a:t>
            </a:r>
            <a:r>
              <a:rPr lang="en-US" sz="2200" b="0" dirty="0">
                <a:solidFill>
                  <a:srgbClr val="CCCCCC"/>
                </a:solidFill>
                <a:effectLst/>
                <a:latin typeface="Consolas" panose="020B0609020204030204" pitchFamily="49" charset="0"/>
              </a:rPr>
              <a:t>(</a:t>
            </a:r>
            <a:r>
              <a:rPr lang="en-US" sz="2200" b="0" dirty="0">
                <a:solidFill>
                  <a:srgbClr val="4EC9B0"/>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books</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add</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a:t>
            </a:r>
          </a:p>
          <a:p>
            <a:pPr>
              <a:buNone/>
            </a:pPr>
            <a:r>
              <a:rPr lang="en-US" sz="2200" b="0" dirty="0">
                <a:solidFill>
                  <a:srgbClr val="CCCCCC"/>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AFF3B6BF-EA8D-66F1-6DEB-D5045E324B2E}"/>
              </a:ext>
            </a:extLst>
          </p:cNvPr>
          <p:cNvSpPr txBox="1"/>
          <p:nvPr/>
        </p:nvSpPr>
        <p:spPr>
          <a:xfrm>
            <a:off x="8442962" y="672662"/>
            <a:ext cx="3749038" cy="3257174"/>
          </a:xfrm>
          <a:prstGeom prst="rect">
            <a:avLst/>
          </a:prstGeom>
          <a:noFill/>
        </p:spPr>
        <p:txBody>
          <a:bodyPr wrap="square">
            <a:spAutoFit/>
          </a:bodyPr>
          <a:lstStyle/>
          <a:p>
            <a:pPr>
              <a:lnSpc>
                <a:spcPct val="150000"/>
              </a:lnSpc>
              <a:buNone/>
            </a:pPr>
            <a:r>
              <a:rPr lang="en-US" sz="2800" b="1" dirty="0">
                <a:latin typeface="Calibir"/>
              </a:rPr>
              <a:t>Library</a:t>
            </a:r>
          </a:p>
          <a:p>
            <a:pPr marL="457200" indent="-457200">
              <a:lnSpc>
                <a:spcPct val="150000"/>
              </a:lnSpc>
              <a:buFont typeface="Arial" panose="020B0604020202020204" pitchFamily="34" charset="0"/>
              <a:buChar char="•"/>
            </a:pPr>
            <a:r>
              <a:rPr lang="en-US" sz="2800" dirty="0">
                <a:latin typeface="Calibir"/>
              </a:rPr>
              <a:t>Has a name, address, and a list of books, with a method to add books.</a:t>
            </a:r>
          </a:p>
        </p:txBody>
      </p:sp>
    </p:spTree>
    <p:extLst>
      <p:ext uri="{BB962C8B-B14F-4D97-AF65-F5344CB8AC3E}">
        <p14:creationId xmlns:p14="http://schemas.microsoft.com/office/powerpoint/2010/main" val="245259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52CF-8A46-8739-6F49-1DC469FDC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6546D-7468-B8D4-A047-6F6E3B606CA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sp>
        <p:nvSpPr>
          <p:cNvPr id="39" name="TextBox 38">
            <a:extLst>
              <a:ext uri="{FF2B5EF4-FFF2-40B4-BE49-F238E27FC236}">
                <a16:creationId xmlns:a16="http://schemas.microsoft.com/office/drawing/2014/main" id="{BD96F1EE-C422-A9FC-9DD5-6DE436E527DF}"/>
              </a:ext>
            </a:extLst>
          </p:cNvPr>
          <p:cNvSpPr txBox="1"/>
          <p:nvPr/>
        </p:nvSpPr>
        <p:spPr>
          <a:xfrm>
            <a:off x="0" y="672662"/>
            <a:ext cx="8442962" cy="5355312"/>
          </a:xfrm>
          <a:prstGeom prst="rect">
            <a:avLst/>
          </a:prstGeom>
          <a:solidFill>
            <a:schemeClr val="tx1"/>
          </a:solidFill>
        </p:spPr>
        <p:txBody>
          <a:bodyPr wrap="square">
            <a:spAutoFit/>
          </a:bodyPr>
          <a:lstStyle/>
          <a:p>
            <a:pPr>
              <a:buNone/>
            </a:pPr>
            <a:r>
              <a:rPr lang="en-US" sz="1900" dirty="0">
                <a:solidFill>
                  <a:srgbClr val="569CD6"/>
                </a:solidFill>
                <a:latin typeface="Consolas" panose="020B0609020204030204" pitchFamily="49" charset="0"/>
              </a:rPr>
              <a:t>public</a:t>
            </a: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class</a:t>
            </a:r>
            <a:r>
              <a:rPr lang="en-US" sz="1900" dirty="0">
                <a:solidFill>
                  <a:srgbClr val="CCCCCC"/>
                </a:solidFill>
                <a:latin typeface="Consolas" panose="020B0609020204030204" pitchFamily="49" charset="0"/>
              </a:rPr>
              <a:t> </a:t>
            </a:r>
            <a:r>
              <a:rPr lang="en-US" sz="1900" dirty="0" err="1">
                <a:solidFill>
                  <a:srgbClr val="4EC9B0"/>
                </a:solidFill>
                <a:latin typeface="Consolas" panose="020B0609020204030204" pitchFamily="49" charset="0"/>
              </a:rPr>
              <a:t>LibrarySystem_Java</a:t>
            </a: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public</a:t>
            </a:r>
            <a:r>
              <a:rPr lang="en-US" sz="1900" dirty="0">
                <a:solidFill>
                  <a:srgbClr val="CCCCCC"/>
                </a:solidFill>
                <a:latin typeface="Consolas" panose="020B0609020204030204" pitchFamily="49" charset="0"/>
              </a:rPr>
              <a:t> </a:t>
            </a:r>
            <a:r>
              <a:rPr lang="en-US" sz="1900" dirty="0">
                <a:solidFill>
                  <a:srgbClr val="569CD6"/>
                </a:solidFill>
                <a:latin typeface="Consolas" panose="020B0609020204030204" pitchFamily="49" charset="0"/>
              </a:rPr>
              <a:t>static</a:t>
            </a: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void</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main</a:t>
            </a:r>
            <a:r>
              <a:rPr lang="en-US" sz="1900" dirty="0">
                <a:solidFill>
                  <a:srgbClr val="CCCCCC"/>
                </a:solidFill>
                <a:latin typeface="Consolas" panose="020B0609020204030204" pitchFamily="49" charset="0"/>
              </a:rPr>
              <a:t>(</a:t>
            </a:r>
            <a:r>
              <a:rPr lang="en-US" sz="1900" dirty="0">
                <a:solidFill>
                  <a:srgbClr val="4EC9B0"/>
                </a:solidFill>
                <a:latin typeface="Consolas" panose="020B0609020204030204" pitchFamily="49" charset="0"/>
              </a:rPr>
              <a:t>String</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args</a:t>
            </a: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 Example usage (matches your Python flow) ---</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Library</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Library</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"Sydney Library"</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"123 George St"</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Book</a:t>
            </a:r>
            <a:r>
              <a:rPr lang="en-US" sz="1900" dirty="0">
                <a:solidFill>
                  <a:srgbClr val="CCCCCC"/>
                </a:solidFill>
                <a:latin typeface="Consolas" panose="020B0609020204030204" pitchFamily="49" charset="0"/>
              </a:rPr>
              <a:t> </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Book</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"Python Basics"</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"111"</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Book</a:t>
            </a:r>
            <a:r>
              <a:rPr lang="en-US" sz="1900" dirty="0">
                <a:solidFill>
                  <a:srgbClr val="CCCCCC"/>
                </a:solidFill>
                <a:latin typeface="Consolas" panose="020B0609020204030204" pitchFamily="49" charset="0"/>
              </a:rPr>
              <a:t> </a:t>
            </a:r>
            <a:r>
              <a:rPr lang="en-US" sz="1900" dirty="0">
                <a:solidFill>
                  <a:srgbClr val="9CDCFE"/>
                </a:solidFill>
                <a:latin typeface="Consolas" panose="020B0609020204030204" pitchFamily="49" charset="0"/>
              </a:rPr>
              <a:t>book2</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Book</a:t>
            </a:r>
            <a:r>
              <a:rPr lang="en-US" sz="1900" dirty="0">
                <a:solidFill>
                  <a:srgbClr val="CCCCCC"/>
                </a:solidFill>
                <a:latin typeface="Consolas" panose="020B0609020204030204" pitchFamily="49" charset="0"/>
              </a:rPr>
              <a:t>(</a:t>
            </a:r>
            <a:r>
              <a:rPr lang="en-US" sz="1900" dirty="0">
                <a:solidFill>
                  <a:srgbClr val="CE9178"/>
                </a:solidFill>
                <a:latin typeface="Consolas" panose="020B0609020204030204" pitchFamily="49" charset="0"/>
              </a:rPr>
              <a:t>"Java Programming"</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"222"</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addBook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a:t>
            </a: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library</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addBook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book2</a:t>
            </a:r>
            <a:r>
              <a:rPr lang="en-US" sz="1900" dirty="0">
                <a:solidFill>
                  <a:srgbClr val="CCCCCC"/>
                </a:solidFill>
                <a:latin typeface="Consolas" panose="020B0609020204030204" pitchFamily="49" charset="0"/>
              </a:rPr>
              <a:t>);</a:t>
            </a:r>
          </a:p>
          <a:p>
            <a:pPr>
              <a:buNone/>
            </a:pPr>
            <a:br>
              <a:rPr lang="en-US" sz="1900" dirty="0">
                <a:solidFill>
                  <a:srgbClr val="CCCCCC"/>
                </a:solidFill>
                <a:latin typeface="Consolas" panose="020B0609020204030204" pitchFamily="49" charset="0"/>
              </a:rPr>
            </a:br>
            <a:r>
              <a:rPr lang="en-US" sz="1900" dirty="0">
                <a:solidFill>
                  <a:srgbClr val="CCCCCC"/>
                </a:solidFill>
                <a:latin typeface="Consolas" panose="020B0609020204030204" pitchFamily="49" charset="0"/>
              </a:rPr>
              <a:t>        </a:t>
            </a:r>
            <a:r>
              <a:rPr lang="en-US" sz="1900" dirty="0">
                <a:solidFill>
                  <a:srgbClr val="4EC9B0"/>
                </a:solidFill>
                <a:latin typeface="Consolas" panose="020B0609020204030204" pitchFamily="49" charset="0"/>
              </a:rPr>
              <a:t>Member</a:t>
            </a: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a:solidFill>
                  <a:srgbClr val="CCCCCC"/>
                </a:solidFill>
                <a:latin typeface="Consolas" panose="020B0609020204030204" pitchFamily="49" charset="0"/>
              </a:rPr>
              <a:t> </a:t>
            </a:r>
            <a:r>
              <a:rPr lang="en-US" sz="1900" dirty="0">
                <a:solidFill>
                  <a:srgbClr val="D4D4D4"/>
                </a:solidFill>
                <a:latin typeface="Consolas" panose="020B0609020204030204" pitchFamily="49" charset="0"/>
              </a:rPr>
              <a:t>=</a:t>
            </a:r>
            <a:r>
              <a:rPr lang="en-US" sz="1900" dirty="0">
                <a:solidFill>
                  <a:srgbClr val="CCCCCC"/>
                </a:solidFill>
                <a:latin typeface="Consolas" panose="020B0609020204030204" pitchFamily="49" charset="0"/>
              </a:rPr>
              <a:t> </a:t>
            </a:r>
            <a:r>
              <a:rPr lang="en-US" sz="1900" dirty="0">
                <a:solidFill>
                  <a:srgbClr val="C586C0"/>
                </a:solidFill>
                <a:latin typeface="Consolas" panose="020B0609020204030204" pitchFamily="49" charset="0"/>
              </a:rPr>
              <a:t>new</a:t>
            </a:r>
            <a:r>
              <a:rPr lang="en-US" sz="1900" dirty="0">
                <a:solidFill>
                  <a:srgbClr val="CCCCCC"/>
                </a:solidFill>
                <a:latin typeface="Consolas" panose="020B0609020204030204" pitchFamily="49" charset="0"/>
              </a:rPr>
              <a:t> </a:t>
            </a:r>
            <a:r>
              <a:rPr lang="en-US" sz="1900" dirty="0">
                <a:solidFill>
                  <a:srgbClr val="DCDCAA"/>
                </a:solidFill>
                <a:latin typeface="Consolas" panose="020B0609020204030204" pitchFamily="49" charset="0"/>
              </a:rPr>
              <a:t>Member</a:t>
            </a:r>
            <a:r>
              <a:rPr lang="en-US" sz="1900" dirty="0">
                <a:solidFill>
                  <a:srgbClr val="CCCCCC"/>
                </a:solidFill>
                <a:latin typeface="Consolas" panose="020B0609020204030204" pitchFamily="49" charset="0"/>
              </a:rPr>
              <a:t>(</a:t>
            </a:r>
            <a:r>
              <a:rPr lang="en-US" sz="1900" dirty="0">
                <a:solidFill>
                  <a:srgbClr val="B5CEA8"/>
                </a:solidFill>
                <a:latin typeface="Consolas" panose="020B0609020204030204" pitchFamily="49" charset="0"/>
              </a:rPr>
              <a:t>1</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"Farshid"</a:t>
            </a:r>
            <a:r>
              <a:rPr lang="en-US" sz="1900" dirty="0">
                <a:solidFill>
                  <a:srgbClr val="CCCCCC"/>
                </a:solidFill>
                <a:latin typeface="Consolas" panose="020B0609020204030204" pitchFamily="49" charset="0"/>
              </a:rPr>
              <a:t>, </a:t>
            </a:r>
            <a:r>
              <a:rPr lang="en-US" sz="1900" dirty="0">
                <a:solidFill>
                  <a:srgbClr val="CE9178"/>
                </a:solidFill>
                <a:latin typeface="Consolas" panose="020B0609020204030204" pitchFamily="49" charset="0"/>
              </a:rPr>
              <a:t>"Farshid.Keivanian@uts.edu.au"</a:t>
            </a:r>
            <a:r>
              <a:rPr lang="en-US" sz="1900" dirty="0">
                <a:solidFill>
                  <a:srgbClr val="CCCCCC"/>
                </a:solidFill>
                <a:latin typeface="Consolas" panose="020B0609020204030204" pitchFamily="49" charset="0"/>
              </a:rPr>
              <a:t>);</a:t>
            </a:r>
          </a:p>
          <a:p>
            <a:pPr>
              <a:buNone/>
            </a:pPr>
            <a:br>
              <a:rPr lang="en-US" sz="1900" dirty="0">
                <a:solidFill>
                  <a:srgbClr val="CCCCCC"/>
                </a:solidFill>
                <a:latin typeface="Consolas" panose="020B0609020204030204" pitchFamily="49" charset="0"/>
              </a:rPr>
            </a:b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borrow</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borrow success</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borrow</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already borrowed</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r>
              <a:rPr lang="en-US" sz="1900" dirty="0" err="1">
                <a:solidFill>
                  <a:srgbClr val="9CDCFE"/>
                </a:solidFill>
                <a:latin typeface="Consolas" panose="020B0609020204030204" pitchFamily="49" charset="0"/>
              </a:rPr>
              <a:t>member</a:t>
            </a:r>
            <a:r>
              <a:rPr lang="en-US" sz="1900" dirty="0" err="1">
                <a:solidFill>
                  <a:srgbClr val="CCCCCC"/>
                </a:solidFill>
                <a:latin typeface="Consolas" panose="020B0609020204030204" pitchFamily="49" charset="0"/>
              </a:rPr>
              <a:t>.</a:t>
            </a:r>
            <a:r>
              <a:rPr lang="en-US" sz="1900" dirty="0" err="1">
                <a:solidFill>
                  <a:srgbClr val="DCDCAA"/>
                </a:solidFill>
                <a:latin typeface="Consolas" panose="020B0609020204030204" pitchFamily="49" charset="0"/>
              </a:rPr>
              <a:t>returnBook</a:t>
            </a:r>
            <a:r>
              <a:rPr lang="en-US" sz="1900" dirty="0">
                <a:solidFill>
                  <a:srgbClr val="CCCCCC"/>
                </a:solidFill>
                <a:latin typeface="Consolas" panose="020B0609020204030204" pitchFamily="49" charset="0"/>
              </a:rPr>
              <a:t>(</a:t>
            </a:r>
            <a:r>
              <a:rPr lang="en-US" sz="1900" dirty="0">
                <a:solidFill>
                  <a:srgbClr val="9CDCFE"/>
                </a:solidFill>
                <a:latin typeface="Consolas" panose="020B0609020204030204" pitchFamily="49" charset="0"/>
              </a:rPr>
              <a:t>book1</a:t>
            </a:r>
            <a:r>
              <a:rPr lang="en-US" sz="1900" dirty="0">
                <a:solidFill>
                  <a:srgbClr val="CCCCCC"/>
                </a:solidFill>
                <a:latin typeface="Consolas" panose="020B0609020204030204" pitchFamily="49" charset="0"/>
              </a:rPr>
              <a:t>); </a:t>
            </a:r>
            <a:r>
              <a:rPr lang="en-US" sz="1900" dirty="0">
                <a:solidFill>
                  <a:srgbClr val="6A9955"/>
                </a:solidFill>
                <a:latin typeface="Consolas" panose="020B0609020204030204" pitchFamily="49" charset="0"/>
              </a:rPr>
              <a:t>//  return success</a:t>
            </a:r>
            <a:endParaRPr lang="en-US" sz="1900" dirty="0">
              <a:solidFill>
                <a:srgbClr val="CCCCCC"/>
              </a:solidFill>
              <a:latin typeface="Consolas" panose="020B0609020204030204" pitchFamily="49" charset="0"/>
            </a:endParaRPr>
          </a:p>
          <a:p>
            <a:pPr>
              <a:buNone/>
            </a:pPr>
            <a:r>
              <a:rPr lang="en-US" sz="1900" dirty="0">
                <a:solidFill>
                  <a:srgbClr val="CCCCCC"/>
                </a:solidFill>
                <a:latin typeface="Consolas" panose="020B0609020204030204" pitchFamily="49" charset="0"/>
              </a:rPr>
              <a:t>    }</a:t>
            </a:r>
          </a:p>
          <a:p>
            <a:pPr>
              <a:buNone/>
            </a:pPr>
            <a:r>
              <a:rPr lang="en-US" sz="1900" dirty="0">
                <a:solidFill>
                  <a:srgbClr val="CCCCCC"/>
                </a:solidFill>
                <a:latin typeface="Consolas" panose="020B0609020204030204" pitchFamily="49" charset="0"/>
              </a:rPr>
              <a:t>}</a:t>
            </a:r>
          </a:p>
        </p:txBody>
      </p:sp>
      <p:sp>
        <p:nvSpPr>
          <p:cNvPr id="9" name="TextBox 8">
            <a:extLst>
              <a:ext uri="{FF2B5EF4-FFF2-40B4-BE49-F238E27FC236}">
                <a16:creationId xmlns:a16="http://schemas.microsoft.com/office/drawing/2014/main" id="{6EB1E490-72DC-8030-8EC5-1776AE025B62}"/>
              </a:ext>
            </a:extLst>
          </p:cNvPr>
          <p:cNvSpPr txBox="1"/>
          <p:nvPr/>
        </p:nvSpPr>
        <p:spPr>
          <a:xfrm>
            <a:off x="8442962" y="672662"/>
            <a:ext cx="3749038" cy="390350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main</a:t>
            </a:r>
            <a:r>
              <a:rPr lang="en-US" altLang="en-US" sz="2800" dirty="0">
                <a:latin typeface="Calibir"/>
              </a:rPr>
              <a:t> (in </a:t>
            </a:r>
            <a:r>
              <a:rPr lang="en-US" altLang="en-US" sz="2800" dirty="0" err="1">
                <a:latin typeface="Calibir"/>
              </a:rPr>
              <a:t>LibrarySystem_Java</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Creates a Library, some Books, one Member, then demo-borrows and returns.</a:t>
            </a:r>
          </a:p>
        </p:txBody>
      </p:sp>
    </p:spTree>
    <p:extLst>
      <p:ext uri="{BB962C8B-B14F-4D97-AF65-F5344CB8AC3E}">
        <p14:creationId xmlns:p14="http://schemas.microsoft.com/office/powerpoint/2010/main" val="2728883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CBA18-394E-3996-BAAC-C6E59A803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A4FEE-5BAF-303B-133A-252D70CA9D3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FFFF00"/>
                </a:highlight>
                <a:latin typeface="Calibir"/>
              </a:rPr>
              <a:t>Java</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041A5195-22C8-18D7-0D6D-9CCE144C2FD6}"/>
              </a:ext>
            </a:extLst>
          </p:cNvPr>
          <p:cNvPicPr>
            <a:picLocks noChangeAspect="1"/>
          </p:cNvPicPr>
          <p:nvPr/>
        </p:nvPicPr>
        <p:blipFill>
          <a:blip r:embed="rId2"/>
          <a:srcRect t="9809" r="28434" b="31084"/>
          <a:stretch>
            <a:fillRect/>
          </a:stretch>
        </p:blipFill>
        <p:spPr>
          <a:xfrm>
            <a:off x="0" y="2049771"/>
            <a:ext cx="8725359" cy="4053574"/>
          </a:xfrm>
          <a:prstGeom prst="rect">
            <a:avLst/>
          </a:prstGeom>
        </p:spPr>
      </p:pic>
      <p:sp>
        <p:nvSpPr>
          <p:cNvPr id="6" name="Rectangle 2">
            <a:extLst>
              <a:ext uri="{FF2B5EF4-FFF2-40B4-BE49-F238E27FC236}">
                <a16:creationId xmlns:a16="http://schemas.microsoft.com/office/drawing/2014/main" id="{CFA4528A-0CD4-47EB-DE1F-4D8171C66E08}"/>
              </a:ext>
            </a:extLst>
          </p:cNvPr>
          <p:cNvSpPr>
            <a:spLocks noChangeArrowheads="1"/>
          </p:cNvSpPr>
          <p:nvPr/>
        </p:nvSpPr>
        <p:spPr bwMode="auto">
          <a:xfrm>
            <a:off x="0" y="1422513"/>
            <a:ext cx="12192000" cy="547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ir"/>
              </a:rPr>
              <a:t>The </a:t>
            </a:r>
            <a:r>
              <a:rPr kumimoji="0" lang="en-US" altLang="en-US" sz="2200" b="0" i="0" u="none" strike="noStrike" cap="none" normalizeH="0" baseline="0" dirty="0">
                <a:ln>
                  <a:noFill/>
                </a:ln>
                <a:solidFill>
                  <a:schemeClr val="tx1"/>
                </a:solidFill>
                <a:effectLst/>
                <a:highlight>
                  <a:srgbClr val="FFFF00"/>
                </a:highlight>
                <a:latin typeface="Calibir"/>
              </a:rPr>
              <a:t>Java code </a:t>
            </a:r>
            <a:r>
              <a:rPr kumimoji="0" lang="en-US" altLang="en-US" sz="2200" b="0" i="0" u="none" strike="noStrike" cap="none" normalizeH="0" baseline="0" dirty="0">
                <a:ln>
                  <a:noFill/>
                </a:ln>
                <a:solidFill>
                  <a:schemeClr val="tx1"/>
                </a:solidFill>
                <a:effectLst/>
                <a:latin typeface="Calibir"/>
              </a:rPr>
              <a:t>is also available on GitHub</a:t>
            </a:r>
          </a:p>
        </p:txBody>
      </p:sp>
    </p:spTree>
    <p:extLst>
      <p:ext uri="{BB962C8B-B14F-4D97-AF65-F5344CB8AC3E}">
        <p14:creationId xmlns:p14="http://schemas.microsoft.com/office/powerpoint/2010/main" val="2287225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D73D-09D6-F218-35F2-12C6781AB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2F907-5EDC-ABF5-01E5-0858176E45A2}"/>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6" name="Picture 5">
            <a:extLst>
              <a:ext uri="{FF2B5EF4-FFF2-40B4-BE49-F238E27FC236}">
                <a16:creationId xmlns:a16="http://schemas.microsoft.com/office/drawing/2014/main" id="{D59CF10A-4D0C-C7D5-8AFC-0DEBA1D61F24}"/>
              </a:ext>
            </a:extLst>
          </p:cNvPr>
          <p:cNvPicPr>
            <a:picLocks noChangeAspect="1"/>
          </p:cNvPicPr>
          <p:nvPr/>
        </p:nvPicPr>
        <p:blipFill>
          <a:blip r:embed="rId2"/>
          <a:srcRect r="40712" b="75068"/>
          <a:stretch>
            <a:fillRect/>
          </a:stretch>
        </p:blipFill>
        <p:spPr>
          <a:xfrm>
            <a:off x="22588" y="1000700"/>
            <a:ext cx="7228387" cy="1709826"/>
          </a:xfrm>
          <a:prstGeom prst="rect">
            <a:avLst/>
          </a:prstGeom>
          <a:ln w="38100">
            <a:solidFill>
              <a:srgbClr val="FF0000"/>
            </a:solidFill>
          </a:ln>
        </p:spPr>
      </p:pic>
      <p:pic>
        <p:nvPicPr>
          <p:cNvPr id="24" name="Picture 23">
            <a:extLst>
              <a:ext uri="{FF2B5EF4-FFF2-40B4-BE49-F238E27FC236}">
                <a16:creationId xmlns:a16="http://schemas.microsoft.com/office/drawing/2014/main" id="{E8B9D81A-6906-14B1-D739-E4CA90184617}"/>
              </a:ext>
            </a:extLst>
          </p:cNvPr>
          <p:cNvPicPr>
            <a:picLocks noChangeAspect="1"/>
          </p:cNvPicPr>
          <p:nvPr/>
        </p:nvPicPr>
        <p:blipFill>
          <a:blip r:embed="rId3"/>
          <a:srcRect r="19815" b="71821"/>
          <a:stretch>
            <a:fillRect/>
          </a:stretch>
        </p:blipFill>
        <p:spPr>
          <a:xfrm>
            <a:off x="22588" y="4891039"/>
            <a:ext cx="9776149" cy="1932522"/>
          </a:xfrm>
          <a:prstGeom prst="rect">
            <a:avLst/>
          </a:prstGeom>
          <a:ln w="38100">
            <a:solidFill>
              <a:srgbClr val="FF0000"/>
            </a:solidFill>
          </a:ln>
        </p:spPr>
      </p:pic>
      <p:cxnSp>
        <p:nvCxnSpPr>
          <p:cNvPr id="29" name="Connector: Elbow 28">
            <a:extLst>
              <a:ext uri="{FF2B5EF4-FFF2-40B4-BE49-F238E27FC236}">
                <a16:creationId xmlns:a16="http://schemas.microsoft.com/office/drawing/2014/main" id="{AEBE0F51-4C47-30EC-4D56-181FA3D1415A}"/>
              </a:ext>
            </a:extLst>
          </p:cNvPr>
          <p:cNvCxnSpPr>
            <a:endCxn id="24" idx="0"/>
          </p:cNvCxnSpPr>
          <p:nvPr/>
        </p:nvCxnSpPr>
        <p:spPr>
          <a:xfrm rot="16200000" flipH="1">
            <a:off x="3247085" y="3227460"/>
            <a:ext cx="2053275" cy="1273882"/>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4080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8AA7E-30E2-55CD-1861-EB70339C4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0629A-0C93-F4CF-407C-C938EDF4AFCE}"/>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2280D1F9-860D-96E3-0392-D48F8CC1B070}"/>
              </a:ext>
            </a:extLst>
          </p:cNvPr>
          <p:cNvPicPr>
            <a:picLocks noChangeAspect="1"/>
          </p:cNvPicPr>
          <p:nvPr/>
        </p:nvPicPr>
        <p:blipFill>
          <a:blip r:embed="rId2"/>
          <a:srcRect l="968" t="60979" r="4182" b="19932"/>
          <a:stretch>
            <a:fillRect/>
          </a:stretch>
        </p:blipFill>
        <p:spPr>
          <a:xfrm>
            <a:off x="117986" y="4693311"/>
            <a:ext cx="11564060" cy="1309124"/>
          </a:xfrm>
          <a:prstGeom prst="rect">
            <a:avLst/>
          </a:prstGeom>
        </p:spPr>
      </p:pic>
      <p:sp>
        <p:nvSpPr>
          <p:cNvPr id="5" name="TextBox 4">
            <a:extLst>
              <a:ext uri="{FF2B5EF4-FFF2-40B4-BE49-F238E27FC236}">
                <a16:creationId xmlns:a16="http://schemas.microsoft.com/office/drawing/2014/main" id="{83A3D799-559F-4F00-6CFE-8AD4DDACD77E}"/>
              </a:ext>
            </a:extLst>
          </p:cNvPr>
          <p:cNvSpPr txBox="1"/>
          <p:nvPr/>
        </p:nvSpPr>
        <p:spPr>
          <a:xfrm>
            <a:off x="21021" y="1020747"/>
            <a:ext cx="8288443" cy="1321772"/>
          </a:xfrm>
          <a:prstGeom prst="rect">
            <a:avLst/>
          </a:prstGeom>
          <a:noFill/>
        </p:spPr>
        <p:txBody>
          <a:bodyPr wrap="square">
            <a:spAutoFit/>
          </a:bodyPr>
          <a:lstStyle/>
          <a:p>
            <a:pPr>
              <a:lnSpc>
                <a:spcPct val="150000"/>
              </a:lnSpc>
              <a:buNone/>
            </a:pPr>
            <a:r>
              <a:rPr lang="en-US" sz="2800" dirty="0">
                <a:latin typeface="Calibir"/>
              </a:rPr>
              <a:t>Save it as a library system:</a:t>
            </a:r>
          </a:p>
          <a:p>
            <a:pPr>
              <a:lnSpc>
                <a:spcPct val="150000"/>
              </a:lnSpc>
              <a:buNone/>
            </a:pPr>
            <a:r>
              <a:rPr lang="en-US" sz="2800" dirty="0">
                <a:highlight>
                  <a:srgbClr val="FFFF00"/>
                </a:highlight>
              </a:rPr>
              <a:t>library_system.py</a:t>
            </a:r>
            <a:endParaRPr lang="en-US" sz="2800" dirty="0">
              <a:highlight>
                <a:srgbClr val="FFFF00"/>
              </a:highlight>
              <a:latin typeface="Calibir"/>
            </a:endParaRPr>
          </a:p>
        </p:txBody>
      </p:sp>
    </p:spTree>
    <p:extLst>
      <p:ext uri="{BB962C8B-B14F-4D97-AF65-F5344CB8AC3E}">
        <p14:creationId xmlns:p14="http://schemas.microsoft.com/office/powerpoint/2010/main" val="1808550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558C-09C0-D0CE-97BA-92AF273A09A6}"/>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ABD5231D-3DD7-AC7D-FEFA-7F09CF795C04}"/>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0850B91A-7108-07BB-ED95-660442CEE311}"/>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CB331E-A527-D3C6-5FEB-1E7B08877AE4}"/>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FE423DC-295B-BA07-6394-EB6BC24C19A8}"/>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88EFA3-9088-2659-EB03-88F468349480}"/>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D19FA40B-F908-85AE-2783-D97292BFAB98}"/>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BF68D6C-7557-A424-F04A-7C8F9C161CF5}"/>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DCF221F5-05F3-2496-72D0-4A799E2AF2DA}"/>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045C1E7-07AE-12D2-1637-135985A2CB0D}"/>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FAAF5BCD-ABB2-7AFE-83FA-4596E14DD661}"/>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BDCBDDA1-E35F-8DC7-4B40-E18E1A6BD37A}"/>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0532C1B-10EF-636A-2FB9-2CAB783638B3}"/>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D8C7DB7-B76E-9023-2F8E-66AE99AA8DC6}"/>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B7B0BA8-01B4-0642-FEE2-40CEA047A15C}"/>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6F510A2C-88D2-01A9-E445-A9BC07D75265}"/>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D7ACF28-DE2F-65D5-0E8D-5B9F9C92E61C}"/>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B79A45D5-1820-0864-B142-340C3F059914}"/>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24C19122-568E-7C0C-CAD8-743896A7CA9D}"/>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C28BB61-7B7D-CED2-6907-E1324B12EE62}"/>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7087492E-BAAC-AF0C-0A7F-43816D176C9B}"/>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0653B096-5405-9544-BC58-40C65782E799}"/>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DF50D1A-D876-A6E0-B02F-21D74F58FD8D}"/>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5A468020-93C5-6675-0685-162C12F5720D}"/>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F958406E-603B-0780-FBE0-C3D8437F98F8}"/>
              </a:ext>
            </a:extLst>
          </p:cNvPr>
          <p:cNvCxnSpPr>
            <a:cxnSpLocks/>
            <a:endCxn id="61"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2211B5A-E2C6-9C36-2207-755D118083FE}"/>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216B84CC-AE6F-4038-1C21-BEA4696A07AC}"/>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68B7A9D3-044B-D683-521E-37F9BCD827C2}"/>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423C8F2F-59BB-70D8-7077-291491673EE5}"/>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63D59C3-7CF7-0CFF-8D0A-04F1246A0090}"/>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B84934F2-07BB-447F-C60E-C2E807E09B78}"/>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6" name="TextBox 5">
            <a:extLst>
              <a:ext uri="{FF2B5EF4-FFF2-40B4-BE49-F238E27FC236}">
                <a16:creationId xmlns:a16="http://schemas.microsoft.com/office/drawing/2014/main" id="{BE5E4221-1049-8554-D759-14762B830D75}"/>
              </a:ext>
            </a:extLst>
          </p:cNvPr>
          <p:cNvSpPr txBox="1"/>
          <p:nvPr/>
        </p:nvSpPr>
        <p:spPr>
          <a:xfrm>
            <a:off x="9607" y="0"/>
            <a:ext cx="12192000" cy="2400657"/>
          </a:xfrm>
          <a:prstGeom prst="rect">
            <a:avLst/>
          </a:prstGeom>
          <a:solidFill>
            <a:schemeClr val="tx1"/>
          </a:solidFill>
        </p:spPr>
        <p:txBody>
          <a:bodyPr wrap="square">
            <a:spAutoFit/>
          </a:bodyPr>
          <a:lstStyle/>
          <a:p>
            <a:pPr>
              <a:buNone/>
            </a:pPr>
            <a:r>
              <a:rPr lang="en-US" sz="2500" b="0" dirty="0">
                <a:solidFill>
                  <a:srgbClr val="569CD6"/>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Book</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def</a:t>
            </a:r>
            <a:r>
              <a:rPr lang="en-US" sz="2500" b="0" dirty="0">
                <a:solidFill>
                  <a:srgbClr val="CCCCCC"/>
                </a:solidFill>
                <a:effectLst/>
                <a:latin typeface="Consolas" panose="020B0609020204030204" pitchFamily="49" charset="0"/>
              </a:rPr>
              <a:t> </a:t>
            </a:r>
            <a:r>
              <a:rPr lang="en-US" sz="2500" b="0" dirty="0">
                <a:solidFill>
                  <a:srgbClr val="DCDCAA"/>
                </a:solidFill>
                <a:effectLst/>
                <a:latin typeface="Consolas" panose="020B0609020204030204" pitchFamily="49" charset="0"/>
              </a:rPr>
              <a:t>__</a:t>
            </a:r>
            <a:r>
              <a:rPr lang="en-US" sz="2500" b="0" dirty="0" err="1">
                <a:solidFill>
                  <a:srgbClr val="DCDCAA"/>
                </a:solidFill>
                <a:effectLst/>
                <a:latin typeface="Consolas" panose="020B0609020204030204" pitchFamily="49" charset="0"/>
              </a:rPr>
              <a:t>init</a:t>
            </a:r>
            <a:r>
              <a:rPr lang="en-US" sz="2500" b="0" dirty="0">
                <a:solidFill>
                  <a:srgbClr val="DCDCAA"/>
                </a:solidFill>
                <a:effectLst/>
                <a:latin typeface="Consolas" panose="020B0609020204030204" pitchFamily="49" charset="0"/>
              </a:rPr>
              <a:t>__</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self</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isbn</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title</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isbn</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isbn</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status</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"available"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available or borrowed</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self</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borrowed_by</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4FC1FF"/>
                </a:solidFill>
                <a:effectLst/>
                <a:latin typeface="Consolas" panose="020B0609020204030204" pitchFamily="49" charset="0"/>
              </a:rPr>
              <a:t>None</a:t>
            </a:r>
            <a:r>
              <a:rPr lang="en-US" sz="2500" b="0" dirty="0">
                <a:solidFill>
                  <a:srgbClr val="CCCCCC"/>
                </a:solidFill>
                <a:effectLst/>
                <a:latin typeface="Consolas" panose="020B0609020204030204" pitchFamily="49" charset="0"/>
              </a:rPr>
              <a:t>     </a:t>
            </a:r>
            <a:r>
              <a:rPr lang="en-US" sz="2500" b="0" dirty="0">
                <a:solidFill>
                  <a:srgbClr val="6A9955"/>
                </a:solidFill>
                <a:effectLst/>
                <a:latin typeface="Consolas" panose="020B0609020204030204" pitchFamily="49" charset="0"/>
              </a:rPr>
              <a:t># which Member has borrowed</a:t>
            </a:r>
            <a:endParaRPr lang="en-US" sz="2500" b="0" dirty="0">
              <a:solidFill>
                <a:srgbClr val="CCCCCC"/>
              </a:solidFill>
              <a:effectLst/>
              <a:latin typeface="Consolas" panose="020B0609020204030204" pitchFamily="49" charset="0"/>
            </a:endParaRPr>
          </a:p>
        </p:txBody>
      </p:sp>
      <p:sp>
        <p:nvSpPr>
          <p:cNvPr id="3" name="Rectangle 1">
            <a:extLst>
              <a:ext uri="{FF2B5EF4-FFF2-40B4-BE49-F238E27FC236}">
                <a16:creationId xmlns:a16="http://schemas.microsoft.com/office/drawing/2014/main" id="{DA909801-9E74-29FC-4513-7A29E461AEB5}"/>
              </a:ext>
            </a:extLst>
          </p:cNvPr>
          <p:cNvSpPr>
            <a:spLocks noChangeArrowheads="1"/>
          </p:cNvSpPr>
          <p:nvPr/>
        </p:nvSpPr>
        <p:spPr bwMode="auto">
          <a:xfrm>
            <a:off x="9607" y="2524384"/>
            <a:ext cx="8392747"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Book class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Has a title, </a:t>
            </a:r>
            <a:r>
              <a:rPr kumimoji="0" lang="en-US" altLang="en-US" sz="2800" i="0" u="none" strike="noStrike" cap="none" normalizeH="0" baseline="0" dirty="0" err="1">
                <a:ln>
                  <a:noFill/>
                </a:ln>
                <a:solidFill>
                  <a:schemeClr val="tx1"/>
                </a:solidFill>
                <a:effectLst/>
                <a:latin typeface="Calibir"/>
              </a:rPr>
              <a:t>isbn</a:t>
            </a:r>
            <a:r>
              <a:rPr kumimoji="0" lang="en-US" altLang="en-US" sz="2800" i="0" u="none" strike="noStrike" cap="none" normalizeH="0" baseline="0" dirty="0">
                <a:ln>
                  <a:noFill/>
                </a:ln>
                <a:solidFill>
                  <a:schemeClr val="tx1"/>
                </a:solidFill>
                <a:effectLst/>
                <a:latin typeface="Calibir"/>
              </a:rPr>
              <a:t>, and status (available or borrowed).</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Keeps track of who borrowed it (</a:t>
            </a:r>
            <a:r>
              <a:rPr kumimoji="0" lang="en-US" altLang="en-US" sz="2800" i="0" u="none" strike="noStrike" cap="none" normalizeH="0" baseline="0" dirty="0" err="1">
                <a:ln>
                  <a:noFill/>
                </a:ln>
                <a:solidFill>
                  <a:schemeClr val="tx1"/>
                </a:solidFill>
                <a:effectLst/>
                <a:latin typeface="Calibir"/>
              </a:rPr>
              <a:t>borrowed_by</a:t>
            </a:r>
            <a:r>
              <a:rPr kumimoji="0" lang="en-US" altLang="en-US" sz="2800" i="0" u="none" strike="noStrike" cap="none" normalizeH="0" baseline="0" dirty="0">
                <a:ln>
                  <a:noFill/>
                </a:ln>
                <a:solidFill>
                  <a:schemeClr val="tx1"/>
                </a:solidFill>
                <a:effectLst/>
                <a:latin typeface="Calibir"/>
              </a:rPr>
              <a:t>).</a:t>
            </a:r>
          </a:p>
        </p:txBody>
      </p:sp>
      <p:sp>
        <p:nvSpPr>
          <p:cNvPr id="2" name="Oval 1">
            <a:extLst>
              <a:ext uri="{FF2B5EF4-FFF2-40B4-BE49-F238E27FC236}">
                <a16:creationId xmlns:a16="http://schemas.microsoft.com/office/drawing/2014/main" id="{131CD46D-0CA6-339F-103D-BDB21EC45F15}"/>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630587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5D48F-0094-280F-C219-55067166D39D}"/>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F5A2EECE-0280-486F-75A9-E89B944E40C2}"/>
              </a:ext>
            </a:extLst>
          </p:cNvPr>
          <p:cNvSpPr/>
          <p:nvPr/>
        </p:nvSpPr>
        <p:spPr>
          <a:xfrm>
            <a:off x="8525675" y="488672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696E63DB-98A4-DD72-D27B-8EE18013FD53}"/>
              </a:ext>
            </a:extLst>
          </p:cNvPr>
          <p:cNvCxnSpPr>
            <a:cxnSpLocks/>
          </p:cNvCxnSpPr>
          <p:nvPr/>
        </p:nvCxnSpPr>
        <p:spPr>
          <a:xfrm>
            <a:off x="9651496" y="5523412"/>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9ECF884-D0C2-5E9F-7C87-2DAFD9361728}"/>
              </a:ext>
            </a:extLst>
          </p:cNvPr>
          <p:cNvCxnSpPr>
            <a:cxnSpLocks/>
          </p:cNvCxnSpPr>
          <p:nvPr/>
        </p:nvCxnSpPr>
        <p:spPr>
          <a:xfrm flipV="1">
            <a:off x="11466933" y="4052391"/>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279F337-E7C9-D57E-512A-3A644FB5044E}"/>
              </a:ext>
            </a:extLst>
          </p:cNvPr>
          <p:cNvCxnSpPr>
            <a:cxnSpLocks/>
          </p:cNvCxnSpPr>
          <p:nvPr/>
        </p:nvCxnSpPr>
        <p:spPr>
          <a:xfrm>
            <a:off x="11245867" y="4064143"/>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F820F96C-F4BF-E1F6-2C87-F44B1D97D5E9}"/>
              </a:ext>
            </a:extLst>
          </p:cNvPr>
          <p:cNvSpPr/>
          <p:nvPr/>
        </p:nvSpPr>
        <p:spPr>
          <a:xfrm>
            <a:off x="11400635" y="4231949"/>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C42703B1-856C-0263-F33A-3F04E1E26C3D}"/>
              </a:ext>
            </a:extLst>
          </p:cNvPr>
          <p:cNvCxnSpPr/>
          <p:nvPr/>
        </p:nvCxnSpPr>
        <p:spPr>
          <a:xfrm>
            <a:off x="9706924" y="5342716"/>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D1646A6-4AB6-ACD9-992D-3CEE78D76101}"/>
              </a:ext>
            </a:extLst>
          </p:cNvPr>
          <p:cNvSpPr txBox="1"/>
          <p:nvPr/>
        </p:nvSpPr>
        <p:spPr>
          <a:xfrm>
            <a:off x="10444192" y="4068361"/>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7434D800-D08D-8D47-D256-375EE2DA39D4}"/>
              </a:ext>
            </a:extLst>
          </p:cNvPr>
          <p:cNvSpPr txBox="1"/>
          <p:nvPr/>
        </p:nvSpPr>
        <p:spPr>
          <a:xfrm>
            <a:off x="9232589" y="4434591"/>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AB4B610-16AC-C81D-62EF-DBAFE88561B6}"/>
              </a:ext>
            </a:extLst>
          </p:cNvPr>
          <p:cNvSpPr/>
          <p:nvPr/>
        </p:nvSpPr>
        <p:spPr>
          <a:xfrm>
            <a:off x="8525674" y="2754846"/>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08387B47-A315-99BE-968B-F86111528D41}"/>
              </a:ext>
            </a:extLst>
          </p:cNvPr>
          <p:cNvSpPr/>
          <p:nvPr/>
        </p:nvSpPr>
        <p:spPr>
          <a:xfrm>
            <a:off x="10921036" y="2765604"/>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9B26CD0D-129C-AFEC-6873-F3D16DAA75AC}"/>
              </a:ext>
            </a:extLst>
          </p:cNvPr>
          <p:cNvCxnSpPr/>
          <p:nvPr/>
        </p:nvCxnSpPr>
        <p:spPr>
          <a:xfrm>
            <a:off x="9639771" y="3397398"/>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DFF4E6F-7A25-AF78-CEDB-D8C9093D8D1F}"/>
              </a:ext>
            </a:extLst>
          </p:cNvPr>
          <p:cNvCxnSpPr>
            <a:cxnSpLocks/>
          </p:cNvCxnSpPr>
          <p:nvPr/>
        </p:nvCxnSpPr>
        <p:spPr>
          <a:xfrm flipV="1">
            <a:off x="10722336" y="3255507"/>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D32B19E-7F16-823F-A747-72D0AE776FA1}"/>
              </a:ext>
            </a:extLst>
          </p:cNvPr>
          <p:cNvCxnSpPr>
            <a:cxnSpLocks/>
          </p:cNvCxnSpPr>
          <p:nvPr/>
        </p:nvCxnSpPr>
        <p:spPr>
          <a:xfrm>
            <a:off x="10722336" y="3397398"/>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0BAC4716-AFC3-B323-407C-77B30655D89B}"/>
              </a:ext>
            </a:extLst>
          </p:cNvPr>
          <p:cNvSpPr/>
          <p:nvPr/>
        </p:nvSpPr>
        <p:spPr>
          <a:xfrm>
            <a:off x="10507747" y="332645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44694CB8-4F16-D7F4-1255-8801A404E53E}"/>
              </a:ext>
            </a:extLst>
          </p:cNvPr>
          <p:cNvCxnSpPr/>
          <p:nvPr/>
        </p:nvCxnSpPr>
        <p:spPr>
          <a:xfrm>
            <a:off x="9706923" y="3210840"/>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0DBE21A-5778-EB5D-8C50-3F1250D4D05C}"/>
              </a:ext>
            </a:extLst>
          </p:cNvPr>
          <p:cNvSpPr txBox="1"/>
          <p:nvPr/>
        </p:nvSpPr>
        <p:spPr>
          <a:xfrm>
            <a:off x="10352835" y="2302715"/>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7FDCF30B-6EE9-336E-89B1-125A2524C7BB}"/>
              </a:ext>
            </a:extLst>
          </p:cNvPr>
          <p:cNvSpPr txBox="1"/>
          <p:nvPr/>
        </p:nvSpPr>
        <p:spPr>
          <a:xfrm>
            <a:off x="9232588" y="2302715"/>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74554CB7-6E82-FBA8-1168-1F27477D0238}"/>
              </a:ext>
            </a:extLst>
          </p:cNvPr>
          <p:cNvSpPr/>
          <p:nvPr/>
        </p:nvSpPr>
        <p:spPr>
          <a:xfrm>
            <a:off x="8525673" y="372123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8AA8A732-CEC2-1268-C453-D426CB0DBB90}"/>
              </a:ext>
            </a:extLst>
          </p:cNvPr>
          <p:cNvSpPr/>
          <p:nvPr/>
        </p:nvSpPr>
        <p:spPr>
          <a:xfrm>
            <a:off x="8525673" y="341587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F18BE188-83E1-225D-0C75-4A28F10E9543}"/>
              </a:ext>
            </a:extLst>
          </p:cNvPr>
          <p:cNvSpPr txBox="1"/>
          <p:nvPr/>
        </p:nvSpPr>
        <p:spPr>
          <a:xfrm>
            <a:off x="9789637" y="2931791"/>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D38E70E7-B707-406E-AB5F-7664251DA7FB}"/>
              </a:ext>
            </a:extLst>
          </p:cNvPr>
          <p:cNvSpPr/>
          <p:nvPr/>
        </p:nvSpPr>
        <p:spPr>
          <a:xfrm>
            <a:off x="10916035" y="373286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ECD6D8C3-4A5D-E9D2-6623-5C840BC9D209}"/>
              </a:ext>
            </a:extLst>
          </p:cNvPr>
          <p:cNvSpPr/>
          <p:nvPr/>
        </p:nvSpPr>
        <p:spPr>
          <a:xfrm>
            <a:off x="10916035" y="342750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B4B7EC65-5939-6144-CB5E-3137F7513794}"/>
              </a:ext>
            </a:extLst>
          </p:cNvPr>
          <p:cNvSpPr/>
          <p:nvPr/>
        </p:nvSpPr>
        <p:spPr>
          <a:xfrm>
            <a:off x="10916034" y="312437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331F5D3F-CD26-2AB5-EF91-FFF545E01A35}"/>
              </a:ext>
            </a:extLst>
          </p:cNvPr>
          <p:cNvCxnSpPr>
            <a:cxnSpLocks/>
            <a:endCxn id="61" idx="2"/>
          </p:cNvCxnSpPr>
          <p:nvPr/>
        </p:nvCxnSpPr>
        <p:spPr>
          <a:xfrm flipH="1" flipV="1">
            <a:off x="11473084" y="4038228"/>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08E4D83-1ECE-6861-415A-3BEAA65065E5}"/>
              </a:ext>
            </a:extLst>
          </p:cNvPr>
          <p:cNvSpPr txBox="1"/>
          <p:nvPr/>
        </p:nvSpPr>
        <p:spPr>
          <a:xfrm>
            <a:off x="9809223" y="5012347"/>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B2196BE1-B7A5-A28F-E76F-E5CD368064B0}"/>
              </a:ext>
            </a:extLst>
          </p:cNvPr>
          <p:cNvSpPr/>
          <p:nvPr/>
        </p:nvSpPr>
        <p:spPr>
          <a:xfrm>
            <a:off x="8526248" y="576101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1C88DA65-9F6F-4396-84F8-CDCB8F0F88C0}"/>
              </a:ext>
            </a:extLst>
          </p:cNvPr>
          <p:cNvSpPr/>
          <p:nvPr/>
        </p:nvSpPr>
        <p:spPr>
          <a:xfrm>
            <a:off x="8526248" y="547795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5BA26B53-1893-9AC5-5C57-A2284C9D65BE}"/>
              </a:ext>
            </a:extLst>
          </p:cNvPr>
          <p:cNvSpPr/>
          <p:nvPr/>
        </p:nvSpPr>
        <p:spPr>
          <a:xfrm>
            <a:off x="8526247" y="517482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CEFAD9CB-59DF-0D57-5845-08EAD31C15DB}"/>
              </a:ext>
            </a:extLst>
          </p:cNvPr>
          <p:cNvSpPr/>
          <p:nvPr/>
        </p:nvSpPr>
        <p:spPr>
          <a:xfrm>
            <a:off x="8530207" y="6474818"/>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F0FF139A-6E54-17A6-66DF-976D388938BE}"/>
              </a:ext>
            </a:extLst>
          </p:cNvPr>
          <p:cNvSpPr/>
          <p:nvPr/>
        </p:nvSpPr>
        <p:spPr>
          <a:xfrm>
            <a:off x="8525673" y="6057190"/>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2" name="TextBox 1">
            <a:extLst>
              <a:ext uri="{FF2B5EF4-FFF2-40B4-BE49-F238E27FC236}">
                <a16:creationId xmlns:a16="http://schemas.microsoft.com/office/drawing/2014/main" id="{770F1A67-7087-CD7E-DF27-B6D9E47F11D5}"/>
              </a:ext>
            </a:extLst>
          </p:cNvPr>
          <p:cNvSpPr txBox="1"/>
          <p:nvPr/>
        </p:nvSpPr>
        <p:spPr>
          <a:xfrm>
            <a:off x="9606" y="0"/>
            <a:ext cx="12182393" cy="2400657"/>
          </a:xfrm>
          <a:prstGeom prst="rect">
            <a:avLst/>
          </a:prstGeom>
          <a:solidFill>
            <a:schemeClr val="tx1"/>
          </a:solidFill>
        </p:spPr>
        <p:txBody>
          <a:bodyPr wrap="square">
            <a:spAutoFit/>
          </a:bodyPr>
          <a:lstStyle/>
          <a:p>
            <a:pPr>
              <a:buNone/>
            </a:pPr>
            <a:r>
              <a:rPr lang="en-US" sz="2500" dirty="0">
                <a:solidFill>
                  <a:srgbClr val="569CD6"/>
                </a:solidFill>
                <a:latin typeface="Consolas" panose="020B0609020204030204" pitchFamily="49" charset="0"/>
              </a:rPr>
              <a:t>class</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Member</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a:solidFill>
                  <a:srgbClr val="DCDCAA"/>
                </a:solidFill>
                <a:latin typeface="Consolas" panose="020B0609020204030204" pitchFamily="49" charset="0"/>
              </a:rPr>
              <a:t>__</a:t>
            </a:r>
            <a:r>
              <a:rPr lang="en-US" sz="2500" dirty="0" err="1">
                <a:solidFill>
                  <a:srgbClr val="DCDCAA"/>
                </a:solidFill>
                <a:latin typeface="Consolas" panose="020B0609020204030204" pitchFamily="49" charset="0"/>
              </a:rPr>
              <a:t>init</a:t>
            </a:r>
            <a:r>
              <a:rPr lang="en-US" sz="2500" dirty="0">
                <a:solidFill>
                  <a:srgbClr val="DCDCAA"/>
                </a:solidFill>
                <a:latin typeface="Consolas" panose="020B0609020204030204" pitchFamily="49" charset="0"/>
              </a:rPr>
              <a:t>__</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member_id</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email</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id</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member_id</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email</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email</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borrowed_books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p>
        </p:txBody>
      </p:sp>
      <p:sp>
        <p:nvSpPr>
          <p:cNvPr id="4" name="Rectangle 1">
            <a:extLst>
              <a:ext uri="{FF2B5EF4-FFF2-40B4-BE49-F238E27FC236}">
                <a16:creationId xmlns:a16="http://schemas.microsoft.com/office/drawing/2014/main" id="{2B630AC8-B321-EBE9-C2A4-630073DEF89B}"/>
              </a:ext>
            </a:extLst>
          </p:cNvPr>
          <p:cNvSpPr>
            <a:spLocks noChangeArrowheads="1"/>
          </p:cNvSpPr>
          <p:nvPr/>
        </p:nvSpPr>
        <p:spPr bwMode="auto">
          <a:xfrm>
            <a:off x="-4651" y="2355919"/>
            <a:ext cx="8493501" cy="4517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b="1" i="0" u="none" strike="noStrike" cap="none" normalizeH="0" baseline="0" dirty="0">
                <a:ln>
                  <a:noFill/>
                </a:ln>
                <a:solidFill>
                  <a:schemeClr val="tx1"/>
                </a:solidFill>
                <a:effectLst/>
                <a:latin typeface="Calibir"/>
              </a:rPr>
              <a:t>Member class</a:t>
            </a:r>
            <a:endParaRPr kumimoji="0" lang="en-US" altLang="en-US" sz="2700" b="0" i="0" u="none" strike="noStrike" cap="none" normalizeH="0" baseline="0" dirty="0">
              <a:ln>
                <a:noFill/>
              </a:ln>
              <a:solidFill>
                <a:schemeClr val="tx1"/>
              </a:solidFill>
              <a:effectLst/>
              <a:latin typeface="Calibir"/>
            </a:endParaRP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Has an id, name, email.</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Can borrow up to 5 books.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borrow(book) → checks if the member already has 5 or if the book is taken.</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err="1">
                <a:ln>
                  <a:noFill/>
                </a:ln>
                <a:solidFill>
                  <a:schemeClr val="tx1"/>
                </a:solidFill>
                <a:effectLst/>
                <a:latin typeface="Calibir"/>
              </a:rPr>
              <a:t>return_book</a:t>
            </a:r>
            <a:r>
              <a:rPr kumimoji="0" lang="en-US" altLang="en-US" sz="2700" i="0" u="none" strike="noStrike" cap="none" normalizeH="0" baseline="0" dirty="0">
                <a:ln>
                  <a:noFill/>
                </a:ln>
                <a:solidFill>
                  <a:schemeClr val="tx1"/>
                </a:solidFill>
                <a:effectLst/>
                <a:latin typeface="Calibir"/>
              </a:rPr>
              <a:t>(book) → removes the book from their list and makes it available again.</a:t>
            </a:r>
          </a:p>
        </p:txBody>
      </p:sp>
      <p:sp>
        <p:nvSpPr>
          <p:cNvPr id="3" name="Oval 2">
            <a:extLst>
              <a:ext uri="{FF2B5EF4-FFF2-40B4-BE49-F238E27FC236}">
                <a16:creationId xmlns:a16="http://schemas.microsoft.com/office/drawing/2014/main" id="{D9A47EA5-B915-303D-0953-E12CC455F843}"/>
              </a:ext>
            </a:extLst>
          </p:cNvPr>
          <p:cNvSpPr/>
          <p:nvPr/>
        </p:nvSpPr>
        <p:spPr>
          <a:xfrm>
            <a:off x="9798306" y="546232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37348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AB5C4-7B92-2866-D608-7B21560866B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86C4938-88EC-8B09-B0B6-91FCE8BB90CF}"/>
              </a:ext>
            </a:extLst>
          </p:cNvPr>
          <p:cNvSpPr txBox="1"/>
          <p:nvPr/>
        </p:nvSpPr>
        <p:spPr>
          <a:xfrm>
            <a:off x="-10220" y="81294"/>
            <a:ext cx="12187495" cy="3816429"/>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borrow</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len</a:t>
            </a:r>
            <a:r>
              <a:rPr lang="en-US" sz="2200" dirty="0">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&gt;=</a:t>
            </a:r>
            <a:r>
              <a:rPr lang="en-US" sz="2200" dirty="0">
                <a:solidFill>
                  <a:srgbClr val="CCCCCC"/>
                </a:solidFill>
                <a:latin typeface="Consolas" panose="020B0609020204030204" pitchFamily="49" charset="0"/>
              </a:rPr>
              <a:t> </a:t>
            </a:r>
            <a:r>
              <a:rPr lang="en-US" sz="2200" dirty="0">
                <a:solidFill>
                  <a:srgbClr val="B5CEA8"/>
                </a:solidFill>
                <a:latin typeface="Consolas" panose="020B0609020204030204" pitchFamily="49" charset="0"/>
              </a:rPr>
              <a:t>5</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cannot borrow more than 5 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err="1">
                <a:solidFill>
                  <a:srgbClr val="569CD6"/>
                </a:solidFill>
                <a:latin typeface="Consolas" panose="020B0609020204030204" pitchFamily="49" charset="0"/>
              </a:rPr>
              <a:t>f</a:t>
            </a:r>
            <a:r>
              <a:rPr lang="en-US" sz="2200" dirty="0" err="1">
                <a:solidFill>
                  <a:srgbClr val="CE9178"/>
                </a:solidFill>
                <a:latin typeface="Consolas" panose="020B0609020204030204" pitchFamily="49" charset="0"/>
              </a:rPr>
              <a:t>"Book</a:t>
            </a:r>
            <a:r>
              <a:rPr lang="en-US" sz="2200" dirty="0">
                <a:solidFill>
                  <a:srgbClr val="CE9178"/>
                </a:solidFill>
                <a:latin typeface="Consolas" panose="020B0609020204030204" pitchFamily="49" charset="0"/>
              </a:rPr>
              <a:t>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is already 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self</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append</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borrowed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710EBB58-214F-3F6E-B0FD-2A5B1363BB7F}"/>
              </a:ext>
            </a:extLst>
          </p:cNvPr>
          <p:cNvSpPr/>
          <p:nvPr/>
        </p:nvSpPr>
        <p:spPr>
          <a:xfrm>
            <a:off x="867282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AC0C8802-5F63-EBBA-14FD-7935489A6A0B}"/>
              </a:ext>
            </a:extLst>
          </p:cNvPr>
          <p:cNvCxnSpPr>
            <a:cxnSpLocks/>
          </p:cNvCxnSpPr>
          <p:nvPr/>
        </p:nvCxnSpPr>
        <p:spPr>
          <a:xfrm>
            <a:off x="979864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748FBE4-69C5-971D-967D-AACC4CCA3E36}"/>
              </a:ext>
            </a:extLst>
          </p:cNvPr>
          <p:cNvCxnSpPr>
            <a:cxnSpLocks/>
          </p:cNvCxnSpPr>
          <p:nvPr/>
        </p:nvCxnSpPr>
        <p:spPr>
          <a:xfrm flipV="1">
            <a:off x="1161407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4DD9F11-5BA4-3AA0-88E4-C28D40DE6DD9}"/>
              </a:ext>
            </a:extLst>
          </p:cNvPr>
          <p:cNvCxnSpPr>
            <a:cxnSpLocks/>
          </p:cNvCxnSpPr>
          <p:nvPr/>
        </p:nvCxnSpPr>
        <p:spPr>
          <a:xfrm>
            <a:off x="1139301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6F7B09E-3A24-68A9-025A-B674A57EA993}"/>
              </a:ext>
            </a:extLst>
          </p:cNvPr>
          <p:cNvSpPr/>
          <p:nvPr/>
        </p:nvSpPr>
        <p:spPr>
          <a:xfrm>
            <a:off x="1154778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8EAD4E0A-DDE1-1BE4-A2BF-3E9C85037AB7}"/>
              </a:ext>
            </a:extLst>
          </p:cNvPr>
          <p:cNvCxnSpPr/>
          <p:nvPr/>
        </p:nvCxnSpPr>
        <p:spPr>
          <a:xfrm>
            <a:off x="985406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4F25202-4B06-A7AA-5DDE-A93149E9059D}"/>
              </a:ext>
            </a:extLst>
          </p:cNvPr>
          <p:cNvSpPr txBox="1"/>
          <p:nvPr/>
        </p:nvSpPr>
        <p:spPr>
          <a:xfrm>
            <a:off x="1059133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0C762EC4-9A95-A3AF-3712-076AC694B95F}"/>
              </a:ext>
            </a:extLst>
          </p:cNvPr>
          <p:cNvSpPr txBox="1"/>
          <p:nvPr/>
        </p:nvSpPr>
        <p:spPr>
          <a:xfrm>
            <a:off x="937973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EA65E113-7592-7CED-B316-B3B02A884393}"/>
              </a:ext>
            </a:extLst>
          </p:cNvPr>
          <p:cNvSpPr/>
          <p:nvPr/>
        </p:nvSpPr>
        <p:spPr>
          <a:xfrm>
            <a:off x="867281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BC48580B-DEFE-FB7A-DA62-47499A5CB076}"/>
              </a:ext>
            </a:extLst>
          </p:cNvPr>
          <p:cNvSpPr/>
          <p:nvPr/>
        </p:nvSpPr>
        <p:spPr>
          <a:xfrm>
            <a:off x="1106818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8D4EC349-5EA2-FF6C-DCF1-FC9C362C72F2}"/>
              </a:ext>
            </a:extLst>
          </p:cNvPr>
          <p:cNvCxnSpPr/>
          <p:nvPr/>
        </p:nvCxnSpPr>
        <p:spPr>
          <a:xfrm>
            <a:off x="978691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38F0F2B-55A8-CA93-3D21-AC7F8FBF4B2B}"/>
              </a:ext>
            </a:extLst>
          </p:cNvPr>
          <p:cNvCxnSpPr>
            <a:cxnSpLocks/>
          </p:cNvCxnSpPr>
          <p:nvPr/>
        </p:nvCxnSpPr>
        <p:spPr>
          <a:xfrm flipV="1">
            <a:off x="1086948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6C87EC-F01C-BB99-2540-F69E936AD7B3}"/>
              </a:ext>
            </a:extLst>
          </p:cNvPr>
          <p:cNvCxnSpPr>
            <a:cxnSpLocks/>
          </p:cNvCxnSpPr>
          <p:nvPr/>
        </p:nvCxnSpPr>
        <p:spPr>
          <a:xfrm>
            <a:off x="1086948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7F57F8E2-4D76-D42C-709F-395F6A4CA930}"/>
              </a:ext>
            </a:extLst>
          </p:cNvPr>
          <p:cNvSpPr/>
          <p:nvPr/>
        </p:nvSpPr>
        <p:spPr>
          <a:xfrm>
            <a:off x="1065489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95657950-12F9-D960-0234-FA6FCE22BA63}"/>
              </a:ext>
            </a:extLst>
          </p:cNvPr>
          <p:cNvCxnSpPr/>
          <p:nvPr/>
        </p:nvCxnSpPr>
        <p:spPr>
          <a:xfrm>
            <a:off x="985406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F8B8FD3-E032-4134-0819-9F95B7ACAB07}"/>
              </a:ext>
            </a:extLst>
          </p:cNvPr>
          <p:cNvSpPr txBox="1"/>
          <p:nvPr/>
        </p:nvSpPr>
        <p:spPr>
          <a:xfrm>
            <a:off x="10499980" y="2272466"/>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2C02C82C-7792-F28F-67B5-892659A2F819}"/>
              </a:ext>
            </a:extLst>
          </p:cNvPr>
          <p:cNvSpPr txBox="1"/>
          <p:nvPr/>
        </p:nvSpPr>
        <p:spPr>
          <a:xfrm>
            <a:off x="9379733" y="2272466"/>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D9EF6527-FFDA-86CB-E171-06F2F46D0ED7}"/>
              </a:ext>
            </a:extLst>
          </p:cNvPr>
          <p:cNvSpPr/>
          <p:nvPr/>
        </p:nvSpPr>
        <p:spPr>
          <a:xfrm>
            <a:off x="867281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FE5297DF-C996-80B5-9425-54F996F414CA}"/>
              </a:ext>
            </a:extLst>
          </p:cNvPr>
          <p:cNvSpPr/>
          <p:nvPr/>
        </p:nvSpPr>
        <p:spPr>
          <a:xfrm>
            <a:off x="867281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6FC40B00-5C88-86FD-D938-308F5814B5EC}"/>
              </a:ext>
            </a:extLst>
          </p:cNvPr>
          <p:cNvSpPr txBox="1"/>
          <p:nvPr/>
        </p:nvSpPr>
        <p:spPr>
          <a:xfrm>
            <a:off x="993678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CFD34BAF-DD2C-0FA0-18EC-88F5BDDCE7BE}"/>
              </a:ext>
            </a:extLst>
          </p:cNvPr>
          <p:cNvSpPr/>
          <p:nvPr/>
        </p:nvSpPr>
        <p:spPr>
          <a:xfrm>
            <a:off x="1106318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E7198AA0-0300-5868-F3CD-F20B301BF156}"/>
              </a:ext>
            </a:extLst>
          </p:cNvPr>
          <p:cNvSpPr/>
          <p:nvPr/>
        </p:nvSpPr>
        <p:spPr>
          <a:xfrm>
            <a:off x="1106318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916D3D63-B7E7-A43A-D755-2D8FF8B59F55}"/>
              </a:ext>
            </a:extLst>
          </p:cNvPr>
          <p:cNvSpPr/>
          <p:nvPr/>
        </p:nvSpPr>
        <p:spPr>
          <a:xfrm>
            <a:off x="1106317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E2D8AEF1-1816-7C7A-6312-AAD5D4C760A3}"/>
              </a:ext>
            </a:extLst>
          </p:cNvPr>
          <p:cNvCxnSpPr>
            <a:cxnSpLocks/>
            <a:endCxn id="61" idx="2"/>
          </p:cNvCxnSpPr>
          <p:nvPr/>
        </p:nvCxnSpPr>
        <p:spPr>
          <a:xfrm flipH="1" flipV="1">
            <a:off x="1162022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BDEA89E-3F51-A220-E2AD-6CD9B4444A12}"/>
              </a:ext>
            </a:extLst>
          </p:cNvPr>
          <p:cNvSpPr txBox="1"/>
          <p:nvPr/>
        </p:nvSpPr>
        <p:spPr>
          <a:xfrm>
            <a:off x="995636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E2F54BD8-1190-A264-7279-F5ACC942FAF4}"/>
              </a:ext>
            </a:extLst>
          </p:cNvPr>
          <p:cNvSpPr/>
          <p:nvPr/>
        </p:nvSpPr>
        <p:spPr>
          <a:xfrm>
            <a:off x="867339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BC49638-46E0-688F-D32E-8EF6F7ED961B}"/>
              </a:ext>
            </a:extLst>
          </p:cNvPr>
          <p:cNvSpPr/>
          <p:nvPr/>
        </p:nvSpPr>
        <p:spPr>
          <a:xfrm>
            <a:off x="867339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24F13A12-BED0-271A-05A1-AB0182D139BF}"/>
              </a:ext>
            </a:extLst>
          </p:cNvPr>
          <p:cNvSpPr/>
          <p:nvPr/>
        </p:nvSpPr>
        <p:spPr>
          <a:xfrm>
            <a:off x="867339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C0B00D1-1685-8379-F16A-A6EE69734BCF}"/>
              </a:ext>
            </a:extLst>
          </p:cNvPr>
          <p:cNvSpPr/>
          <p:nvPr/>
        </p:nvSpPr>
        <p:spPr>
          <a:xfrm>
            <a:off x="867735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87BB8CF3-5705-DD3B-2EDC-A358999DC1AE}"/>
              </a:ext>
            </a:extLst>
          </p:cNvPr>
          <p:cNvSpPr/>
          <p:nvPr/>
        </p:nvSpPr>
        <p:spPr>
          <a:xfrm>
            <a:off x="867281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19BA3030-9EB1-8AF7-905C-B76D64EA9C89}"/>
              </a:ext>
            </a:extLst>
          </p:cNvPr>
          <p:cNvSpPr>
            <a:spLocks noChangeArrowheads="1"/>
          </p:cNvSpPr>
          <p:nvPr/>
        </p:nvSpPr>
        <p:spPr bwMode="auto">
          <a:xfrm>
            <a:off x="0" y="4363290"/>
            <a:ext cx="8646944"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This method lets a member borrow a book only if they haven’t reached the 5-book limit and the book isn’t already taken.</a:t>
            </a:r>
            <a:endParaRPr kumimoji="0" lang="en-US" altLang="en-US" sz="2800" i="0" u="none" strike="noStrike" cap="none" normalizeH="0" baseline="0" dirty="0">
              <a:ln>
                <a:noFill/>
              </a:ln>
              <a:solidFill>
                <a:schemeClr val="tx1"/>
              </a:solidFill>
              <a:effectLst/>
              <a:latin typeface="Calibir"/>
            </a:endParaRPr>
          </a:p>
        </p:txBody>
      </p:sp>
      <p:sp>
        <p:nvSpPr>
          <p:cNvPr id="2" name="Oval 1">
            <a:extLst>
              <a:ext uri="{FF2B5EF4-FFF2-40B4-BE49-F238E27FC236}">
                <a16:creationId xmlns:a16="http://schemas.microsoft.com/office/drawing/2014/main" id="{48E30828-4990-74DE-B28C-05F4DBF86324}"/>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78170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B1BF-72E0-4A21-C904-D5671FB10E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530C11-B424-6105-A2D2-2E80E3177501}"/>
              </a:ext>
            </a:extLst>
          </p:cNvPr>
          <p:cNvSpPr txBox="1"/>
          <p:nvPr/>
        </p:nvSpPr>
        <p:spPr>
          <a:xfrm>
            <a:off x="-10220" y="81294"/>
            <a:ext cx="12187495" cy="3816429"/>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borrow</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len</a:t>
            </a:r>
            <a:r>
              <a:rPr lang="en-US" sz="2200" dirty="0">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&gt;=</a:t>
            </a:r>
            <a:r>
              <a:rPr lang="en-US" sz="2200" dirty="0">
                <a:solidFill>
                  <a:srgbClr val="CCCCCC"/>
                </a:solidFill>
                <a:latin typeface="Consolas" panose="020B0609020204030204" pitchFamily="49" charset="0"/>
              </a:rPr>
              <a:t> </a:t>
            </a:r>
            <a:r>
              <a:rPr lang="en-US" sz="2200" dirty="0">
                <a:solidFill>
                  <a:srgbClr val="B5CEA8"/>
                </a:solidFill>
                <a:latin typeface="Consolas" panose="020B0609020204030204" pitchFamily="49" charset="0"/>
              </a:rPr>
              <a:t>5</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cannot borrow more than 5 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err="1">
                <a:solidFill>
                  <a:srgbClr val="569CD6"/>
                </a:solidFill>
                <a:latin typeface="Consolas" panose="020B0609020204030204" pitchFamily="49" charset="0"/>
              </a:rPr>
              <a:t>f</a:t>
            </a:r>
            <a:r>
              <a:rPr lang="en-US" sz="2200" dirty="0" err="1">
                <a:solidFill>
                  <a:srgbClr val="CE9178"/>
                </a:solidFill>
                <a:latin typeface="Consolas" panose="020B0609020204030204" pitchFamily="49" charset="0"/>
              </a:rPr>
              <a:t>"Book</a:t>
            </a:r>
            <a:r>
              <a:rPr lang="en-US" sz="2200" dirty="0">
                <a:solidFill>
                  <a:srgbClr val="CE9178"/>
                </a:solidFill>
                <a:latin typeface="Consolas" panose="020B0609020204030204" pitchFamily="49" charset="0"/>
              </a:rPr>
              <a:t>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is already borrowed."</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return</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"borrowed"</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self</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append</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borrowed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ECF46D7E-6B1D-11D9-B2F4-FEF82804BF26}"/>
              </a:ext>
            </a:extLst>
          </p:cNvPr>
          <p:cNvSpPr/>
          <p:nvPr/>
        </p:nvSpPr>
        <p:spPr>
          <a:xfrm>
            <a:off x="867282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FF12224E-C91E-CC10-5B9C-CA8BB50089BD}"/>
              </a:ext>
            </a:extLst>
          </p:cNvPr>
          <p:cNvCxnSpPr>
            <a:cxnSpLocks/>
          </p:cNvCxnSpPr>
          <p:nvPr/>
        </p:nvCxnSpPr>
        <p:spPr>
          <a:xfrm>
            <a:off x="979864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E7784AB-A591-5041-0C09-62D6A1E9F1EF}"/>
              </a:ext>
            </a:extLst>
          </p:cNvPr>
          <p:cNvCxnSpPr>
            <a:cxnSpLocks/>
          </p:cNvCxnSpPr>
          <p:nvPr/>
        </p:nvCxnSpPr>
        <p:spPr>
          <a:xfrm flipV="1">
            <a:off x="1161407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825AF36-8B64-8B75-529B-240D12EDCA0F}"/>
              </a:ext>
            </a:extLst>
          </p:cNvPr>
          <p:cNvCxnSpPr>
            <a:cxnSpLocks/>
          </p:cNvCxnSpPr>
          <p:nvPr/>
        </p:nvCxnSpPr>
        <p:spPr>
          <a:xfrm>
            <a:off x="1139301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4AFBAE57-4064-7AEC-AC1A-F55C315D0A1C}"/>
              </a:ext>
            </a:extLst>
          </p:cNvPr>
          <p:cNvSpPr/>
          <p:nvPr/>
        </p:nvSpPr>
        <p:spPr>
          <a:xfrm>
            <a:off x="1154778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F84F942A-587A-0479-75DC-C8B084C93E16}"/>
              </a:ext>
            </a:extLst>
          </p:cNvPr>
          <p:cNvCxnSpPr/>
          <p:nvPr/>
        </p:nvCxnSpPr>
        <p:spPr>
          <a:xfrm>
            <a:off x="985406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0427EC5-71E0-A619-B387-D5ABEA6F3F14}"/>
              </a:ext>
            </a:extLst>
          </p:cNvPr>
          <p:cNvSpPr txBox="1"/>
          <p:nvPr/>
        </p:nvSpPr>
        <p:spPr>
          <a:xfrm>
            <a:off x="1059133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EA556DF8-18D2-E2F1-5590-9C7D522E3906}"/>
              </a:ext>
            </a:extLst>
          </p:cNvPr>
          <p:cNvSpPr txBox="1"/>
          <p:nvPr/>
        </p:nvSpPr>
        <p:spPr>
          <a:xfrm>
            <a:off x="937973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2B7FE90D-E1A0-8A73-D29F-A271D9EBBFF5}"/>
              </a:ext>
            </a:extLst>
          </p:cNvPr>
          <p:cNvSpPr/>
          <p:nvPr/>
        </p:nvSpPr>
        <p:spPr>
          <a:xfrm>
            <a:off x="867281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3697BE71-2E02-F337-5E78-6BD00F91D2EC}"/>
              </a:ext>
            </a:extLst>
          </p:cNvPr>
          <p:cNvSpPr/>
          <p:nvPr/>
        </p:nvSpPr>
        <p:spPr>
          <a:xfrm>
            <a:off x="1106818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1BF9C7F4-FA50-C656-59AC-2BA07B8EA16B}"/>
              </a:ext>
            </a:extLst>
          </p:cNvPr>
          <p:cNvCxnSpPr/>
          <p:nvPr/>
        </p:nvCxnSpPr>
        <p:spPr>
          <a:xfrm>
            <a:off x="978691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FE92811-B663-C4F7-BDA6-83AA4666C5C3}"/>
              </a:ext>
            </a:extLst>
          </p:cNvPr>
          <p:cNvCxnSpPr>
            <a:cxnSpLocks/>
          </p:cNvCxnSpPr>
          <p:nvPr/>
        </p:nvCxnSpPr>
        <p:spPr>
          <a:xfrm flipV="1">
            <a:off x="1086948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3D061F4-420C-76E8-85C8-300CDB120CAF}"/>
              </a:ext>
            </a:extLst>
          </p:cNvPr>
          <p:cNvCxnSpPr>
            <a:cxnSpLocks/>
          </p:cNvCxnSpPr>
          <p:nvPr/>
        </p:nvCxnSpPr>
        <p:spPr>
          <a:xfrm>
            <a:off x="1086948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9C89BCB3-702D-0022-143B-95828F8D9955}"/>
              </a:ext>
            </a:extLst>
          </p:cNvPr>
          <p:cNvSpPr/>
          <p:nvPr/>
        </p:nvSpPr>
        <p:spPr>
          <a:xfrm>
            <a:off x="1065489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4D3F56B9-0852-934D-A3B7-70D9625C3649}"/>
              </a:ext>
            </a:extLst>
          </p:cNvPr>
          <p:cNvCxnSpPr/>
          <p:nvPr/>
        </p:nvCxnSpPr>
        <p:spPr>
          <a:xfrm>
            <a:off x="985406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F30A2EC-9607-E15D-B937-26E1207D49F1}"/>
              </a:ext>
            </a:extLst>
          </p:cNvPr>
          <p:cNvSpPr txBox="1"/>
          <p:nvPr/>
        </p:nvSpPr>
        <p:spPr>
          <a:xfrm>
            <a:off x="10499980" y="2272466"/>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8EE6B64F-8835-5A7D-CBB2-9AFE96CA0A8D}"/>
              </a:ext>
            </a:extLst>
          </p:cNvPr>
          <p:cNvSpPr txBox="1"/>
          <p:nvPr/>
        </p:nvSpPr>
        <p:spPr>
          <a:xfrm>
            <a:off x="9379733" y="2272466"/>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46A5D1FE-8480-9B70-FEB0-6E830FD9AE04}"/>
              </a:ext>
            </a:extLst>
          </p:cNvPr>
          <p:cNvSpPr/>
          <p:nvPr/>
        </p:nvSpPr>
        <p:spPr>
          <a:xfrm>
            <a:off x="867281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D4DE84A-40AD-FD6C-EB01-410D8825E2FD}"/>
              </a:ext>
            </a:extLst>
          </p:cNvPr>
          <p:cNvSpPr/>
          <p:nvPr/>
        </p:nvSpPr>
        <p:spPr>
          <a:xfrm>
            <a:off x="867281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1BAB20D3-B439-AB87-75AF-C2203F5AC9AC}"/>
              </a:ext>
            </a:extLst>
          </p:cNvPr>
          <p:cNvSpPr txBox="1"/>
          <p:nvPr/>
        </p:nvSpPr>
        <p:spPr>
          <a:xfrm>
            <a:off x="993678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7B70FFDF-EB0D-7DF1-1F97-01D48F5C2576}"/>
              </a:ext>
            </a:extLst>
          </p:cNvPr>
          <p:cNvSpPr/>
          <p:nvPr/>
        </p:nvSpPr>
        <p:spPr>
          <a:xfrm>
            <a:off x="1106318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0029C9E9-E9E4-C89A-92D2-CD0C973A8B1E}"/>
              </a:ext>
            </a:extLst>
          </p:cNvPr>
          <p:cNvSpPr/>
          <p:nvPr/>
        </p:nvSpPr>
        <p:spPr>
          <a:xfrm>
            <a:off x="1106318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2A950E3A-27D5-167F-E0A1-9CC6DF45CCAF}"/>
              </a:ext>
            </a:extLst>
          </p:cNvPr>
          <p:cNvSpPr/>
          <p:nvPr/>
        </p:nvSpPr>
        <p:spPr>
          <a:xfrm>
            <a:off x="1106317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ED839CC6-CE54-ADFD-00B8-20CA989EDEE0}"/>
              </a:ext>
            </a:extLst>
          </p:cNvPr>
          <p:cNvCxnSpPr>
            <a:cxnSpLocks/>
            <a:endCxn id="61" idx="2"/>
          </p:cNvCxnSpPr>
          <p:nvPr/>
        </p:nvCxnSpPr>
        <p:spPr>
          <a:xfrm flipH="1" flipV="1">
            <a:off x="1162022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68E4FCC-212C-92F2-BFCD-00B62A25C907}"/>
              </a:ext>
            </a:extLst>
          </p:cNvPr>
          <p:cNvSpPr txBox="1"/>
          <p:nvPr/>
        </p:nvSpPr>
        <p:spPr>
          <a:xfrm>
            <a:off x="995636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DF22471C-E4E6-196E-9EEC-C3A485BD13E0}"/>
              </a:ext>
            </a:extLst>
          </p:cNvPr>
          <p:cNvSpPr/>
          <p:nvPr/>
        </p:nvSpPr>
        <p:spPr>
          <a:xfrm>
            <a:off x="867339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D850B34-BF37-A11A-141B-7654C176BF0C}"/>
              </a:ext>
            </a:extLst>
          </p:cNvPr>
          <p:cNvSpPr/>
          <p:nvPr/>
        </p:nvSpPr>
        <p:spPr>
          <a:xfrm>
            <a:off x="867339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F364A28D-64EB-50F5-5441-9D1DF85395B5}"/>
              </a:ext>
            </a:extLst>
          </p:cNvPr>
          <p:cNvSpPr/>
          <p:nvPr/>
        </p:nvSpPr>
        <p:spPr>
          <a:xfrm>
            <a:off x="867339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508610D0-DA30-537C-A5E3-4E47678B5796}"/>
              </a:ext>
            </a:extLst>
          </p:cNvPr>
          <p:cNvSpPr/>
          <p:nvPr/>
        </p:nvSpPr>
        <p:spPr>
          <a:xfrm>
            <a:off x="867735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50D976D1-46E8-85D6-A878-60BC21C383B1}"/>
              </a:ext>
            </a:extLst>
          </p:cNvPr>
          <p:cNvSpPr/>
          <p:nvPr/>
        </p:nvSpPr>
        <p:spPr>
          <a:xfrm>
            <a:off x="867281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86EE9D3-38E5-9850-E6BD-8E6D6338C153}"/>
              </a:ext>
            </a:extLst>
          </p:cNvPr>
          <p:cNvSpPr>
            <a:spLocks noChangeArrowheads="1"/>
          </p:cNvSpPr>
          <p:nvPr/>
        </p:nvSpPr>
        <p:spPr bwMode="auto">
          <a:xfrm>
            <a:off x="0" y="3914384"/>
            <a:ext cx="86469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ir"/>
              </a:rPr>
              <a:t>What does borrow(self, book) do?</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Check limit</a:t>
            </a:r>
            <a:r>
              <a:rPr kumimoji="0" lang="en-US" altLang="en-US" sz="2000" b="0" i="0" u="none" strike="noStrike" cap="none" normalizeH="0" baseline="0" dirty="0">
                <a:ln>
                  <a:noFill/>
                </a:ln>
                <a:solidFill>
                  <a:schemeClr val="tx1"/>
                </a:solidFill>
                <a:effectLst/>
                <a:latin typeface="Calibir"/>
              </a:rPr>
              <a:t> → If the member already has 5 books, stop and show a message.</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Check book status</a:t>
            </a:r>
            <a:r>
              <a:rPr kumimoji="0" lang="en-US" altLang="en-US" sz="2000" b="0" i="0" u="none" strike="noStrike" cap="none" normalizeH="0" baseline="0" dirty="0">
                <a:ln>
                  <a:noFill/>
                </a:ln>
                <a:solidFill>
                  <a:schemeClr val="tx1"/>
                </a:solidFill>
                <a:effectLst/>
                <a:latin typeface="Calibir"/>
              </a:rPr>
              <a:t> → If the book is already borrowed by someone else, stop and show a message.</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Update book</a:t>
            </a:r>
            <a:r>
              <a:rPr kumimoji="0" lang="en-US" altLang="en-US" sz="2000" b="0" i="0" u="none" strike="noStrike" cap="none" normalizeH="0" baseline="0" dirty="0">
                <a:ln>
                  <a:noFill/>
                </a:ln>
                <a:solidFill>
                  <a:schemeClr val="tx1"/>
                </a:solidFill>
                <a:effectLst/>
                <a:latin typeface="Calibir"/>
              </a:rPr>
              <a:t> → Mark the book as "borrowed" and record that this member has it.</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Update member</a:t>
            </a:r>
            <a:r>
              <a:rPr kumimoji="0" lang="en-US" altLang="en-US" sz="2000" b="0" i="0" u="none" strike="noStrike" cap="none" normalizeH="0" baseline="0" dirty="0">
                <a:ln>
                  <a:noFill/>
                </a:ln>
                <a:solidFill>
                  <a:schemeClr val="tx1"/>
                </a:solidFill>
                <a:effectLst/>
                <a:latin typeface="Calibir"/>
              </a:rPr>
              <a:t> → Add the book to the member’s borrowed list.</a:t>
            </a:r>
          </a:p>
          <a:p>
            <a:pPr marL="457200" marR="0" lvl="0" indent="-457200" algn="l" defTabSz="914400" rtl="0" eaLnBrk="0" fontAlgn="base" latinLnBrk="0" hangingPunct="0">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Calibir"/>
              </a:rPr>
              <a:t>Confirm</a:t>
            </a:r>
            <a:r>
              <a:rPr kumimoji="0" lang="en-US" altLang="en-US" sz="2000" b="0" i="0" u="none" strike="noStrike" cap="none" normalizeH="0" baseline="0" dirty="0">
                <a:ln>
                  <a:noFill/>
                </a:ln>
                <a:solidFill>
                  <a:schemeClr val="tx1"/>
                </a:solidFill>
                <a:effectLst/>
                <a:latin typeface="Calibir"/>
              </a:rPr>
              <a:t> → Print a message that the member successfully borrowed the book.</a:t>
            </a:r>
          </a:p>
        </p:txBody>
      </p:sp>
      <p:sp>
        <p:nvSpPr>
          <p:cNvPr id="2" name="Oval 1">
            <a:extLst>
              <a:ext uri="{FF2B5EF4-FFF2-40B4-BE49-F238E27FC236}">
                <a16:creationId xmlns:a16="http://schemas.microsoft.com/office/drawing/2014/main" id="{4E698451-5B86-9F28-B6B9-E6EEF25FE959}"/>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29865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3DBFC-3C31-AA8E-5557-3F6BD938522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0B92F2E-65F9-8DFF-4345-B9B3948284F4}"/>
              </a:ext>
            </a:extLst>
          </p:cNvPr>
          <p:cNvSpPr txBox="1"/>
          <p:nvPr/>
        </p:nvSpPr>
        <p:spPr>
          <a:xfrm>
            <a:off x="-1" y="0"/>
            <a:ext cx="9941142" cy="2800767"/>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return_book</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in</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remove</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"available"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4FC1FF"/>
                </a:solidFill>
                <a:latin typeface="Consolas" panose="020B0609020204030204" pitchFamily="49" charset="0"/>
              </a:rPr>
              <a:t>None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returned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else</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does not have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C2E8474F-B4A0-B94C-BC3B-E325C20E201B}"/>
              </a:ext>
            </a:extLst>
          </p:cNvPr>
          <p:cNvSpPr/>
          <p:nvPr/>
        </p:nvSpPr>
        <p:spPr>
          <a:xfrm>
            <a:off x="868333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BD7F0444-E843-77E1-F23E-614E0580ADE3}"/>
              </a:ext>
            </a:extLst>
          </p:cNvPr>
          <p:cNvCxnSpPr>
            <a:cxnSpLocks/>
          </p:cNvCxnSpPr>
          <p:nvPr/>
        </p:nvCxnSpPr>
        <p:spPr>
          <a:xfrm>
            <a:off x="980915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169D41A-6540-0650-D7C3-4F4B743C4C0B}"/>
              </a:ext>
            </a:extLst>
          </p:cNvPr>
          <p:cNvCxnSpPr>
            <a:cxnSpLocks/>
          </p:cNvCxnSpPr>
          <p:nvPr/>
        </p:nvCxnSpPr>
        <p:spPr>
          <a:xfrm flipV="1">
            <a:off x="1162458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3788E74-B260-C9AB-2B89-BBF5CF463B18}"/>
              </a:ext>
            </a:extLst>
          </p:cNvPr>
          <p:cNvCxnSpPr>
            <a:cxnSpLocks/>
          </p:cNvCxnSpPr>
          <p:nvPr/>
        </p:nvCxnSpPr>
        <p:spPr>
          <a:xfrm>
            <a:off x="1140352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ECE0BA8-A449-BCAF-9A4C-20176CADCB71}"/>
              </a:ext>
            </a:extLst>
          </p:cNvPr>
          <p:cNvSpPr/>
          <p:nvPr/>
        </p:nvSpPr>
        <p:spPr>
          <a:xfrm>
            <a:off x="1155829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123B2C32-31BD-9AA7-2389-01AD65FEE1C0}"/>
              </a:ext>
            </a:extLst>
          </p:cNvPr>
          <p:cNvCxnSpPr/>
          <p:nvPr/>
        </p:nvCxnSpPr>
        <p:spPr>
          <a:xfrm>
            <a:off x="986457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AD07496-D772-2F83-B746-3F226C36D11D}"/>
              </a:ext>
            </a:extLst>
          </p:cNvPr>
          <p:cNvSpPr txBox="1"/>
          <p:nvPr/>
        </p:nvSpPr>
        <p:spPr>
          <a:xfrm>
            <a:off x="1060184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0956EB94-CCD2-91A1-885E-089E170392B8}"/>
              </a:ext>
            </a:extLst>
          </p:cNvPr>
          <p:cNvSpPr txBox="1"/>
          <p:nvPr/>
        </p:nvSpPr>
        <p:spPr>
          <a:xfrm>
            <a:off x="939024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81708831-9076-C709-C6D8-48B930D56022}"/>
              </a:ext>
            </a:extLst>
          </p:cNvPr>
          <p:cNvSpPr/>
          <p:nvPr/>
        </p:nvSpPr>
        <p:spPr>
          <a:xfrm>
            <a:off x="868332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398D9606-ED93-31E0-8949-020107A53F38}"/>
              </a:ext>
            </a:extLst>
          </p:cNvPr>
          <p:cNvSpPr/>
          <p:nvPr/>
        </p:nvSpPr>
        <p:spPr>
          <a:xfrm>
            <a:off x="1107869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E260E160-28DE-BC87-DAA6-560FC6F8BAF2}"/>
              </a:ext>
            </a:extLst>
          </p:cNvPr>
          <p:cNvCxnSpPr/>
          <p:nvPr/>
        </p:nvCxnSpPr>
        <p:spPr>
          <a:xfrm>
            <a:off x="979742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EC6E552-66E0-2F2B-49A0-28B1F21859AC}"/>
              </a:ext>
            </a:extLst>
          </p:cNvPr>
          <p:cNvCxnSpPr>
            <a:cxnSpLocks/>
          </p:cNvCxnSpPr>
          <p:nvPr/>
        </p:nvCxnSpPr>
        <p:spPr>
          <a:xfrm flipV="1">
            <a:off x="1087999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84724D4-8983-6E72-6439-7E5DC6997BC1}"/>
              </a:ext>
            </a:extLst>
          </p:cNvPr>
          <p:cNvCxnSpPr>
            <a:cxnSpLocks/>
          </p:cNvCxnSpPr>
          <p:nvPr/>
        </p:nvCxnSpPr>
        <p:spPr>
          <a:xfrm>
            <a:off x="1087999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C3D7D3D-9440-51B3-704F-E3F03B2A5AC5}"/>
              </a:ext>
            </a:extLst>
          </p:cNvPr>
          <p:cNvSpPr/>
          <p:nvPr/>
        </p:nvSpPr>
        <p:spPr>
          <a:xfrm>
            <a:off x="1066540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65F6520D-25F1-49D1-FDEC-720D26131BC0}"/>
              </a:ext>
            </a:extLst>
          </p:cNvPr>
          <p:cNvCxnSpPr/>
          <p:nvPr/>
        </p:nvCxnSpPr>
        <p:spPr>
          <a:xfrm>
            <a:off x="986457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CA0BE26-971E-C550-465A-391F0D0E4A73}"/>
              </a:ext>
            </a:extLst>
          </p:cNvPr>
          <p:cNvSpPr txBox="1"/>
          <p:nvPr/>
        </p:nvSpPr>
        <p:spPr>
          <a:xfrm>
            <a:off x="10722731" y="2230151"/>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C58F9EEC-93D4-AB54-67F1-E46C0C0084C6}"/>
              </a:ext>
            </a:extLst>
          </p:cNvPr>
          <p:cNvSpPr txBox="1"/>
          <p:nvPr/>
        </p:nvSpPr>
        <p:spPr>
          <a:xfrm>
            <a:off x="9875434" y="2240131"/>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178DD0EF-9C4A-18AC-1513-84DF00801263}"/>
              </a:ext>
            </a:extLst>
          </p:cNvPr>
          <p:cNvSpPr/>
          <p:nvPr/>
        </p:nvSpPr>
        <p:spPr>
          <a:xfrm>
            <a:off x="868332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136511D4-97D1-6088-1FB0-F58C3DC1F80E}"/>
              </a:ext>
            </a:extLst>
          </p:cNvPr>
          <p:cNvSpPr/>
          <p:nvPr/>
        </p:nvSpPr>
        <p:spPr>
          <a:xfrm>
            <a:off x="868332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99764105-B8A6-C5B2-A7C6-98558F4D0366}"/>
              </a:ext>
            </a:extLst>
          </p:cNvPr>
          <p:cNvSpPr txBox="1"/>
          <p:nvPr/>
        </p:nvSpPr>
        <p:spPr>
          <a:xfrm>
            <a:off x="994729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FB86AEBF-7F24-07EC-9DF2-EBF0FD393728}"/>
              </a:ext>
            </a:extLst>
          </p:cNvPr>
          <p:cNvSpPr/>
          <p:nvPr/>
        </p:nvSpPr>
        <p:spPr>
          <a:xfrm>
            <a:off x="1107369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DBCEAFBA-334B-7305-A168-E240CDDAE277}"/>
              </a:ext>
            </a:extLst>
          </p:cNvPr>
          <p:cNvSpPr/>
          <p:nvPr/>
        </p:nvSpPr>
        <p:spPr>
          <a:xfrm>
            <a:off x="1107369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BF31BF47-66ED-AE92-4FD5-1ECC9CB1AFFC}"/>
              </a:ext>
            </a:extLst>
          </p:cNvPr>
          <p:cNvSpPr/>
          <p:nvPr/>
        </p:nvSpPr>
        <p:spPr>
          <a:xfrm>
            <a:off x="1107368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754B24FF-5CE1-A373-BFF6-F01A52051B0A}"/>
              </a:ext>
            </a:extLst>
          </p:cNvPr>
          <p:cNvCxnSpPr>
            <a:cxnSpLocks/>
            <a:endCxn id="61" idx="2"/>
          </p:cNvCxnSpPr>
          <p:nvPr/>
        </p:nvCxnSpPr>
        <p:spPr>
          <a:xfrm flipH="1" flipV="1">
            <a:off x="1163073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2E90165-6E60-5BB2-2913-688CEB30004B}"/>
              </a:ext>
            </a:extLst>
          </p:cNvPr>
          <p:cNvSpPr txBox="1"/>
          <p:nvPr/>
        </p:nvSpPr>
        <p:spPr>
          <a:xfrm>
            <a:off x="996687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60B50BD5-4CDB-D882-D4A0-5AE26AA6C2F3}"/>
              </a:ext>
            </a:extLst>
          </p:cNvPr>
          <p:cNvSpPr/>
          <p:nvPr/>
        </p:nvSpPr>
        <p:spPr>
          <a:xfrm>
            <a:off x="868390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E9AB70D5-9B63-9E9A-B076-048226E35A42}"/>
              </a:ext>
            </a:extLst>
          </p:cNvPr>
          <p:cNvSpPr/>
          <p:nvPr/>
        </p:nvSpPr>
        <p:spPr>
          <a:xfrm>
            <a:off x="868390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CD33434E-0FFA-1071-415F-5EF5EFB2B063}"/>
              </a:ext>
            </a:extLst>
          </p:cNvPr>
          <p:cNvSpPr/>
          <p:nvPr/>
        </p:nvSpPr>
        <p:spPr>
          <a:xfrm>
            <a:off x="868390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048BC7CD-ADA3-73F9-D9BA-DA28F8F4BDEA}"/>
              </a:ext>
            </a:extLst>
          </p:cNvPr>
          <p:cNvSpPr/>
          <p:nvPr/>
        </p:nvSpPr>
        <p:spPr>
          <a:xfrm>
            <a:off x="868786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9EC4B2F2-2352-CAA9-B405-4B1F27400141}"/>
              </a:ext>
            </a:extLst>
          </p:cNvPr>
          <p:cNvSpPr/>
          <p:nvPr/>
        </p:nvSpPr>
        <p:spPr>
          <a:xfrm>
            <a:off x="868332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0A72AAD-B0DB-62BE-3880-576D0C21BFF9}"/>
              </a:ext>
            </a:extLst>
          </p:cNvPr>
          <p:cNvSpPr>
            <a:spLocks noChangeArrowheads="1"/>
          </p:cNvSpPr>
          <p:nvPr/>
        </p:nvSpPr>
        <p:spPr bwMode="auto">
          <a:xfrm>
            <a:off x="24696" y="2753371"/>
            <a:ext cx="8777275" cy="410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ir"/>
              </a:rPr>
              <a:t>What does </a:t>
            </a:r>
            <a:r>
              <a:rPr kumimoji="0" lang="en-US" altLang="en-US" sz="2200" b="1" i="0" u="none" strike="noStrike" cap="none" normalizeH="0" baseline="0" dirty="0" err="1">
                <a:ln>
                  <a:noFill/>
                </a:ln>
                <a:solidFill>
                  <a:schemeClr val="tx1"/>
                </a:solidFill>
                <a:effectLst/>
                <a:latin typeface="Calibir"/>
              </a:rPr>
              <a:t>return_book</a:t>
            </a:r>
            <a:r>
              <a:rPr kumimoji="0" lang="en-US" altLang="en-US" sz="2200" b="1" i="0" u="none" strike="noStrike" cap="none" normalizeH="0" baseline="0" dirty="0">
                <a:ln>
                  <a:noFill/>
                </a:ln>
                <a:solidFill>
                  <a:schemeClr val="tx1"/>
                </a:solidFill>
                <a:effectLst/>
                <a:latin typeface="Calibir"/>
              </a:rPr>
              <a:t>(self, book) do?</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Check ownership</a:t>
            </a:r>
            <a:r>
              <a:rPr kumimoji="0" lang="en-US" altLang="en-US" sz="2200" b="0" i="0" u="none" strike="noStrike" cap="none" normalizeH="0" baseline="0" dirty="0">
                <a:ln>
                  <a:noFill/>
                </a:ln>
                <a:solidFill>
                  <a:schemeClr val="tx1"/>
                </a:solidFill>
                <a:effectLst/>
                <a:latin typeface="Calibir"/>
              </a:rPr>
              <a:t> → See if the book is in the member’s borrowed list.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If yes</a:t>
            </a:r>
            <a:r>
              <a:rPr kumimoji="0" lang="en-US" altLang="en-US" sz="2200" b="0" i="0" u="none" strike="noStrike" cap="none" normalizeH="0" baseline="0" dirty="0">
                <a:ln>
                  <a:noFill/>
                </a:ln>
                <a:solidFill>
                  <a:schemeClr val="tx1"/>
                </a:solidFill>
                <a:effectLst/>
                <a:latin typeface="Calibir"/>
              </a:rPr>
              <a:t> →</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Remove the book from their list.</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Mark the book as "available".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Clear who borrowed it (None).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Show a message confirming the return.</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Calibir"/>
              </a:rPr>
              <a:t>If no</a:t>
            </a:r>
            <a:r>
              <a:rPr kumimoji="0" lang="en-US" altLang="en-US" sz="2200" b="0" i="0" u="none" strike="noStrike" cap="none" normalizeH="0" baseline="0" dirty="0">
                <a:ln>
                  <a:noFill/>
                </a:ln>
                <a:solidFill>
                  <a:schemeClr val="tx1"/>
                </a:solidFill>
                <a:effectLst/>
                <a:latin typeface="Calibir"/>
              </a:rPr>
              <a:t> → Print a message saying the member never borrowed that book.</a:t>
            </a:r>
          </a:p>
        </p:txBody>
      </p:sp>
      <p:sp>
        <p:nvSpPr>
          <p:cNvPr id="2" name="Oval 1">
            <a:extLst>
              <a:ext uri="{FF2B5EF4-FFF2-40B4-BE49-F238E27FC236}">
                <a16:creationId xmlns:a16="http://schemas.microsoft.com/office/drawing/2014/main" id="{E8CF3496-984A-B54D-5AF2-2518CCE86EF8}"/>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957297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D6FB1-06FE-2E39-61F5-ECFA794099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22E3E46-5536-068B-A464-CCF5162EB811}"/>
              </a:ext>
            </a:extLst>
          </p:cNvPr>
          <p:cNvSpPr txBox="1"/>
          <p:nvPr/>
        </p:nvSpPr>
        <p:spPr>
          <a:xfrm>
            <a:off x="-1" y="0"/>
            <a:ext cx="9941142" cy="2800767"/>
          </a:xfrm>
          <a:prstGeom prst="rect">
            <a:avLst/>
          </a:prstGeom>
          <a:solidFill>
            <a:schemeClr val="tx1"/>
          </a:solidFill>
        </p:spPr>
        <p:txBody>
          <a:bodyPr wrap="square">
            <a:spAutoFit/>
          </a:bodyPr>
          <a:lstStyle/>
          <a:p>
            <a:pPr>
              <a:buNone/>
            </a:pP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def</a:t>
            </a:r>
            <a:r>
              <a:rPr lang="en-US" sz="2200" dirty="0">
                <a:solidFill>
                  <a:srgbClr val="CCCCCC"/>
                </a:solidFill>
                <a:latin typeface="Consolas" panose="020B0609020204030204" pitchFamily="49" charset="0"/>
              </a:rPr>
              <a:t> </a:t>
            </a:r>
            <a:r>
              <a:rPr lang="en-US" sz="2200" dirty="0" err="1">
                <a:solidFill>
                  <a:srgbClr val="DCDCAA"/>
                </a:solidFill>
                <a:latin typeface="Consolas" panose="020B0609020204030204" pitchFamily="49" charset="0"/>
              </a:rPr>
              <a:t>return_book</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if</a:t>
            </a:r>
            <a:r>
              <a:rPr lang="en-US" sz="2200" dirty="0">
                <a:solidFill>
                  <a:srgbClr val="CCCCCC"/>
                </a:solidFill>
                <a:latin typeface="Consolas" panose="020B0609020204030204" pitchFamily="49" charset="0"/>
              </a:rPr>
              <a:t> </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 </a:t>
            </a:r>
            <a:r>
              <a:rPr lang="en-US" sz="2200" dirty="0">
                <a:solidFill>
                  <a:srgbClr val="569CD6"/>
                </a:solidFill>
                <a:latin typeface="Consolas" panose="020B0609020204030204" pitchFamily="49" charset="0"/>
              </a:rPr>
              <a:t>in</a:t>
            </a: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self</a:t>
            </a:r>
            <a:r>
              <a:rPr lang="en-US" sz="2200" dirty="0" err="1">
                <a:solidFill>
                  <a:srgbClr val="CCCCCC"/>
                </a:solidFill>
                <a:latin typeface="Consolas" panose="020B0609020204030204" pitchFamily="49" charset="0"/>
              </a:rPr>
              <a:t>.</a:t>
            </a:r>
            <a:r>
              <a:rPr lang="en-US" sz="2200" dirty="0" err="1">
                <a:solidFill>
                  <a:srgbClr val="9CDCFE"/>
                </a:solidFill>
                <a:latin typeface="Consolas" panose="020B0609020204030204" pitchFamily="49" charset="0"/>
              </a:rPr>
              <a:t>borrowed_books</a:t>
            </a:r>
            <a:r>
              <a:rPr lang="en-US" sz="2200" dirty="0" err="1">
                <a:solidFill>
                  <a:srgbClr val="CCCCCC"/>
                </a:solidFill>
                <a:latin typeface="Consolas" panose="020B0609020204030204" pitchFamily="49" charset="0"/>
              </a:rPr>
              <a:t>.</a:t>
            </a:r>
            <a:r>
              <a:rPr lang="en-US" sz="2200" dirty="0" err="1">
                <a:solidFill>
                  <a:srgbClr val="DCDCAA"/>
                </a:solidFill>
                <a:latin typeface="Consolas" panose="020B0609020204030204" pitchFamily="49" charset="0"/>
              </a:rPr>
              <a:t>remove</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book</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.status</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CE9178"/>
                </a:solidFill>
                <a:latin typeface="Consolas" panose="020B0609020204030204" pitchFamily="49" charset="0"/>
              </a:rPr>
              <a:t>"available"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.borrowed_by</a:t>
            </a:r>
            <a:r>
              <a:rPr lang="en-US" sz="2200" dirty="0">
                <a:solidFill>
                  <a:srgbClr val="CCCCCC"/>
                </a:solidFill>
                <a:latin typeface="Consolas" panose="020B0609020204030204" pitchFamily="49" charset="0"/>
              </a:rPr>
              <a:t> </a:t>
            </a:r>
            <a:r>
              <a:rPr lang="en-US" sz="2200" dirty="0">
                <a:solidFill>
                  <a:srgbClr val="D4D4D4"/>
                </a:solidFill>
                <a:latin typeface="Consolas" panose="020B0609020204030204" pitchFamily="49" charset="0"/>
              </a:rPr>
              <a:t>=</a:t>
            </a:r>
            <a:r>
              <a:rPr lang="en-US" sz="2200" dirty="0">
                <a:solidFill>
                  <a:srgbClr val="CCCCCC"/>
                </a:solidFill>
                <a:latin typeface="Consolas" panose="020B0609020204030204" pitchFamily="49" charset="0"/>
              </a:rPr>
              <a:t> </a:t>
            </a:r>
            <a:r>
              <a:rPr lang="en-US" sz="2200" dirty="0">
                <a:solidFill>
                  <a:srgbClr val="4FC1FF"/>
                </a:solidFill>
                <a:latin typeface="Consolas" panose="020B0609020204030204" pitchFamily="49" charset="0"/>
              </a:rPr>
              <a:t>None</a:t>
            </a:r>
            <a:endParaRPr lang="en-US" sz="2200" dirty="0">
              <a:solidFill>
                <a:srgbClr val="CCCCCC"/>
              </a:solidFill>
              <a:latin typeface="Consolas" panose="020B0609020204030204" pitchFamily="49" charset="0"/>
            </a:endParaRP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returned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C586C0"/>
                </a:solidFill>
                <a:latin typeface="Consolas" panose="020B0609020204030204" pitchFamily="49" charset="0"/>
              </a:rPr>
              <a:t>else</a:t>
            </a:r>
            <a:r>
              <a:rPr lang="en-US" sz="2200" dirty="0">
                <a:solidFill>
                  <a:srgbClr val="CCCCCC"/>
                </a:solidFill>
                <a:latin typeface="Consolas" panose="020B0609020204030204" pitchFamily="49" charset="0"/>
              </a:rPr>
              <a:t>:</a:t>
            </a:r>
          </a:p>
          <a:p>
            <a:pPr>
              <a:buNone/>
            </a:pPr>
            <a:r>
              <a:rPr lang="en-US" sz="2200" dirty="0">
                <a:solidFill>
                  <a:srgbClr val="CCCCCC"/>
                </a:solidFill>
                <a:latin typeface="Consolas" panose="020B0609020204030204" pitchFamily="49" charset="0"/>
              </a:rPr>
              <a:t>            </a:t>
            </a:r>
            <a:r>
              <a:rPr lang="en-US" sz="2200" dirty="0">
                <a:solidFill>
                  <a:srgbClr val="DCDCAA"/>
                </a:solidFill>
                <a:latin typeface="Consolas" panose="020B0609020204030204" pitchFamily="49" charset="0"/>
              </a:rPr>
              <a:t>print</a:t>
            </a:r>
            <a:r>
              <a:rPr lang="en-US" sz="2200" dirty="0">
                <a:solidFill>
                  <a:srgbClr val="CCCCCC"/>
                </a:solidFill>
                <a:latin typeface="Consolas" panose="020B0609020204030204" pitchFamily="49" charset="0"/>
              </a:rPr>
              <a:t>(</a:t>
            </a:r>
            <a:r>
              <a:rPr lang="en-US" sz="2200" dirty="0">
                <a:solidFill>
                  <a:srgbClr val="569CD6"/>
                </a:solidFill>
                <a:latin typeface="Consolas" panose="020B0609020204030204" pitchFamily="49" charset="0"/>
              </a:rPr>
              <a:t>f</a:t>
            </a:r>
            <a:r>
              <a:rPr lang="en-US" sz="2200" dirty="0">
                <a:solidFill>
                  <a:srgbClr val="CE9178"/>
                </a:solidFill>
                <a:latin typeface="Consolas" panose="020B0609020204030204" pitchFamily="49" charset="0"/>
              </a:rPr>
              <a:t>"</a:t>
            </a:r>
            <a:r>
              <a:rPr lang="en-US" sz="2200" dirty="0">
                <a:solidFill>
                  <a:srgbClr val="569CD6"/>
                </a:solidFill>
                <a:latin typeface="Consolas" panose="020B0609020204030204" pitchFamily="49" charset="0"/>
              </a:rPr>
              <a:t>{</a:t>
            </a:r>
            <a:r>
              <a:rPr lang="en-US" sz="2200" dirty="0">
                <a:solidFill>
                  <a:srgbClr val="9CDCFE"/>
                </a:solidFill>
                <a:latin typeface="Consolas" panose="020B0609020204030204" pitchFamily="49" charset="0"/>
              </a:rPr>
              <a:t>self</a:t>
            </a:r>
            <a:r>
              <a:rPr lang="en-US" sz="2200" dirty="0">
                <a:solidFill>
                  <a:srgbClr val="CCCCCC"/>
                </a:solidFill>
                <a:latin typeface="Consolas" panose="020B0609020204030204" pitchFamily="49" charset="0"/>
              </a:rPr>
              <a:t>.</a:t>
            </a:r>
            <a:r>
              <a:rPr lang="en-US" sz="2200" dirty="0">
                <a:solidFill>
                  <a:srgbClr val="9CDCFE"/>
                </a:solidFill>
                <a:latin typeface="Consolas" panose="020B0609020204030204" pitchFamily="49" charset="0"/>
              </a:rPr>
              <a:t>name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 does not have '</a:t>
            </a:r>
            <a:r>
              <a:rPr lang="en-US" sz="2200" dirty="0">
                <a:solidFill>
                  <a:srgbClr val="569CD6"/>
                </a:solidFill>
                <a:latin typeface="Consolas" panose="020B0609020204030204" pitchFamily="49" charset="0"/>
              </a:rPr>
              <a:t>{</a:t>
            </a:r>
            <a:r>
              <a:rPr lang="en-US" sz="2200" dirty="0" err="1">
                <a:solidFill>
                  <a:srgbClr val="9CDCFE"/>
                </a:solidFill>
                <a:latin typeface="Consolas" panose="020B0609020204030204" pitchFamily="49" charset="0"/>
              </a:rPr>
              <a:t>book</a:t>
            </a:r>
            <a:r>
              <a:rPr lang="en-US" sz="2200" dirty="0" err="1">
                <a:solidFill>
                  <a:srgbClr val="CCCCCC"/>
                </a:solidFill>
                <a:latin typeface="Consolas" panose="020B0609020204030204" pitchFamily="49" charset="0"/>
              </a:rPr>
              <a:t>.title</a:t>
            </a:r>
            <a:r>
              <a:rPr lang="en-US" sz="2200" dirty="0">
                <a:solidFill>
                  <a:srgbClr val="569CD6"/>
                </a:solidFill>
                <a:latin typeface="Consolas" panose="020B0609020204030204" pitchFamily="49" charset="0"/>
              </a:rPr>
              <a:t>}</a:t>
            </a:r>
            <a:r>
              <a:rPr lang="en-US" sz="2200" dirty="0">
                <a:solidFill>
                  <a:srgbClr val="CE9178"/>
                </a:solidFill>
                <a:latin typeface="Consolas" panose="020B0609020204030204" pitchFamily="49" charset="0"/>
              </a:rPr>
              <a:t>'."</a:t>
            </a:r>
            <a:r>
              <a:rPr lang="en-US" sz="2200" dirty="0">
                <a:solidFill>
                  <a:srgbClr val="CCCCCC"/>
                </a:solidFill>
                <a:latin typeface="Consolas" panose="020B0609020204030204" pitchFamily="49" charset="0"/>
              </a:rPr>
              <a:t>)</a:t>
            </a:r>
          </a:p>
        </p:txBody>
      </p:sp>
      <p:sp>
        <p:nvSpPr>
          <p:cNvPr id="34" name="Rectangle 33">
            <a:extLst>
              <a:ext uri="{FF2B5EF4-FFF2-40B4-BE49-F238E27FC236}">
                <a16:creationId xmlns:a16="http://schemas.microsoft.com/office/drawing/2014/main" id="{6F069926-0614-2AA1-A3FF-E5C8137A9133}"/>
              </a:ext>
            </a:extLst>
          </p:cNvPr>
          <p:cNvSpPr/>
          <p:nvPr/>
        </p:nvSpPr>
        <p:spPr>
          <a:xfrm>
            <a:off x="8683330"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9DF09C5E-98BD-9E3E-D6B8-E3EFB11E1EE0}"/>
              </a:ext>
            </a:extLst>
          </p:cNvPr>
          <p:cNvCxnSpPr>
            <a:cxnSpLocks/>
          </p:cNvCxnSpPr>
          <p:nvPr/>
        </p:nvCxnSpPr>
        <p:spPr>
          <a:xfrm>
            <a:off x="9809151"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7E5026A-9A5E-2A55-E18E-5C956F6B6C24}"/>
              </a:ext>
            </a:extLst>
          </p:cNvPr>
          <p:cNvCxnSpPr>
            <a:cxnSpLocks/>
          </p:cNvCxnSpPr>
          <p:nvPr/>
        </p:nvCxnSpPr>
        <p:spPr>
          <a:xfrm flipV="1">
            <a:off x="11624588"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2AE6128-DB9B-70A5-8D9C-5F88475DB61B}"/>
              </a:ext>
            </a:extLst>
          </p:cNvPr>
          <p:cNvCxnSpPr>
            <a:cxnSpLocks/>
          </p:cNvCxnSpPr>
          <p:nvPr/>
        </p:nvCxnSpPr>
        <p:spPr>
          <a:xfrm>
            <a:off x="11403522"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48DF6837-0E1C-D4C2-CEDC-3D8767018E68}"/>
              </a:ext>
            </a:extLst>
          </p:cNvPr>
          <p:cNvSpPr/>
          <p:nvPr/>
        </p:nvSpPr>
        <p:spPr>
          <a:xfrm>
            <a:off x="11558290"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E9A58D30-6B3C-2149-E883-0C08CAC03A76}"/>
              </a:ext>
            </a:extLst>
          </p:cNvPr>
          <p:cNvCxnSpPr/>
          <p:nvPr/>
        </p:nvCxnSpPr>
        <p:spPr>
          <a:xfrm>
            <a:off x="9864579"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413028A-C78B-03EE-7E0F-4081491B6C84}"/>
              </a:ext>
            </a:extLst>
          </p:cNvPr>
          <p:cNvSpPr txBox="1"/>
          <p:nvPr/>
        </p:nvSpPr>
        <p:spPr>
          <a:xfrm>
            <a:off x="10601847"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2604DB73-BEFC-EBFA-ADDC-9940CFF9C156}"/>
              </a:ext>
            </a:extLst>
          </p:cNvPr>
          <p:cNvSpPr txBox="1"/>
          <p:nvPr/>
        </p:nvSpPr>
        <p:spPr>
          <a:xfrm>
            <a:off x="9390244"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81432E6E-27AC-8034-12A2-1EAD66DC5233}"/>
              </a:ext>
            </a:extLst>
          </p:cNvPr>
          <p:cNvSpPr/>
          <p:nvPr/>
        </p:nvSpPr>
        <p:spPr>
          <a:xfrm>
            <a:off x="8683329"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9DC05545-5478-65BF-CFEF-E379007E3295}"/>
              </a:ext>
            </a:extLst>
          </p:cNvPr>
          <p:cNvSpPr/>
          <p:nvPr/>
        </p:nvSpPr>
        <p:spPr>
          <a:xfrm>
            <a:off x="11078691"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2017A991-2E55-EF3B-52DE-A97C89BE0E92}"/>
              </a:ext>
            </a:extLst>
          </p:cNvPr>
          <p:cNvCxnSpPr/>
          <p:nvPr/>
        </p:nvCxnSpPr>
        <p:spPr>
          <a:xfrm>
            <a:off x="9797426"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C2D3DD2-5251-92DD-0536-3C0A48C1A3E3}"/>
              </a:ext>
            </a:extLst>
          </p:cNvPr>
          <p:cNvCxnSpPr>
            <a:cxnSpLocks/>
          </p:cNvCxnSpPr>
          <p:nvPr/>
        </p:nvCxnSpPr>
        <p:spPr>
          <a:xfrm flipV="1">
            <a:off x="10879991"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900CA29-3AD6-1E47-891C-B3856F494794}"/>
              </a:ext>
            </a:extLst>
          </p:cNvPr>
          <p:cNvCxnSpPr>
            <a:cxnSpLocks/>
          </p:cNvCxnSpPr>
          <p:nvPr/>
        </p:nvCxnSpPr>
        <p:spPr>
          <a:xfrm>
            <a:off x="10879991"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A2C03C30-B440-4633-801C-C4A62D81F095}"/>
              </a:ext>
            </a:extLst>
          </p:cNvPr>
          <p:cNvSpPr/>
          <p:nvPr/>
        </p:nvSpPr>
        <p:spPr>
          <a:xfrm>
            <a:off x="10665402"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AD4C73E7-B6F8-2A23-B841-D753A443794E}"/>
              </a:ext>
            </a:extLst>
          </p:cNvPr>
          <p:cNvCxnSpPr/>
          <p:nvPr/>
        </p:nvCxnSpPr>
        <p:spPr>
          <a:xfrm>
            <a:off x="9864578"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193353BB-52EF-8A68-C9F5-F37560A6931F}"/>
              </a:ext>
            </a:extLst>
          </p:cNvPr>
          <p:cNvSpPr txBox="1"/>
          <p:nvPr/>
        </p:nvSpPr>
        <p:spPr>
          <a:xfrm>
            <a:off x="10722731" y="2230151"/>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296A3BE9-DDE4-C6F2-A1A6-71F394E49CF9}"/>
              </a:ext>
            </a:extLst>
          </p:cNvPr>
          <p:cNvSpPr txBox="1"/>
          <p:nvPr/>
        </p:nvSpPr>
        <p:spPr>
          <a:xfrm>
            <a:off x="9875434" y="2240131"/>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F95446F5-D274-16F2-81BB-D135E5B784EB}"/>
              </a:ext>
            </a:extLst>
          </p:cNvPr>
          <p:cNvSpPr/>
          <p:nvPr/>
        </p:nvSpPr>
        <p:spPr>
          <a:xfrm>
            <a:off x="8683328"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3E565067-04FF-C756-D17A-A6C9370B5E73}"/>
              </a:ext>
            </a:extLst>
          </p:cNvPr>
          <p:cNvSpPr/>
          <p:nvPr/>
        </p:nvSpPr>
        <p:spPr>
          <a:xfrm>
            <a:off x="8683328"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010F79EE-8DC2-8693-6B4B-589F291AE9CB}"/>
              </a:ext>
            </a:extLst>
          </p:cNvPr>
          <p:cNvSpPr txBox="1"/>
          <p:nvPr/>
        </p:nvSpPr>
        <p:spPr>
          <a:xfrm>
            <a:off x="9947292"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24E89F8A-1E4F-0DED-F48A-7223F7AC1ABE}"/>
              </a:ext>
            </a:extLst>
          </p:cNvPr>
          <p:cNvSpPr/>
          <p:nvPr/>
        </p:nvSpPr>
        <p:spPr>
          <a:xfrm>
            <a:off x="11073690"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88F4E5B-6621-A338-EB22-94130CB96961}"/>
              </a:ext>
            </a:extLst>
          </p:cNvPr>
          <p:cNvSpPr/>
          <p:nvPr/>
        </p:nvSpPr>
        <p:spPr>
          <a:xfrm>
            <a:off x="11073690"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AEEDB3A8-69A1-E1BA-BD90-B8BAF0694AC5}"/>
              </a:ext>
            </a:extLst>
          </p:cNvPr>
          <p:cNvSpPr/>
          <p:nvPr/>
        </p:nvSpPr>
        <p:spPr>
          <a:xfrm>
            <a:off x="11073689"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3E516BA5-7A24-E553-E250-EBF8D4B7C6E3}"/>
              </a:ext>
            </a:extLst>
          </p:cNvPr>
          <p:cNvCxnSpPr>
            <a:cxnSpLocks/>
            <a:endCxn id="61" idx="2"/>
          </p:cNvCxnSpPr>
          <p:nvPr/>
        </p:nvCxnSpPr>
        <p:spPr>
          <a:xfrm flipH="1" flipV="1">
            <a:off x="11630739"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FC77A53C-EB10-50B6-D8F9-BA7746B07C2F}"/>
              </a:ext>
            </a:extLst>
          </p:cNvPr>
          <p:cNvSpPr txBox="1"/>
          <p:nvPr/>
        </p:nvSpPr>
        <p:spPr>
          <a:xfrm>
            <a:off x="9966878"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D5BC7282-7F19-6A1B-F19A-CE5191B7C8AC}"/>
              </a:ext>
            </a:extLst>
          </p:cNvPr>
          <p:cNvSpPr/>
          <p:nvPr/>
        </p:nvSpPr>
        <p:spPr>
          <a:xfrm>
            <a:off x="8683903"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485B099C-D6B6-3D20-76B3-E28288C71A25}"/>
              </a:ext>
            </a:extLst>
          </p:cNvPr>
          <p:cNvSpPr/>
          <p:nvPr/>
        </p:nvSpPr>
        <p:spPr>
          <a:xfrm>
            <a:off x="8683903"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C8A21E7D-F531-FF4C-B650-3250650CF5FB}"/>
              </a:ext>
            </a:extLst>
          </p:cNvPr>
          <p:cNvSpPr/>
          <p:nvPr/>
        </p:nvSpPr>
        <p:spPr>
          <a:xfrm>
            <a:off x="8683902"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E360F4E6-ADFC-5B51-B641-CE0926D90806}"/>
              </a:ext>
            </a:extLst>
          </p:cNvPr>
          <p:cNvSpPr/>
          <p:nvPr/>
        </p:nvSpPr>
        <p:spPr>
          <a:xfrm>
            <a:off x="8687862"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9CD7DFAD-5C58-6A00-2068-1FB7228432E7}"/>
              </a:ext>
            </a:extLst>
          </p:cNvPr>
          <p:cNvSpPr/>
          <p:nvPr/>
        </p:nvSpPr>
        <p:spPr>
          <a:xfrm>
            <a:off x="8683328"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5" name="Rectangle 1">
            <a:extLst>
              <a:ext uri="{FF2B5EF4-FFF2-40B4-BE49-F238E27FC236}">
                <a16:creationId xmlns:a16="http://schemas.microsoft.com/office/drawing/2014/main" id="{24E984D3-79F7-8A21-28E0-C2FC6767C689}"/>
              </a:ext>
            </a:extLst>
          </p:cNvPr>
          <p:cNvSpPr>
            <a:spLocks noChangeArrowheads="1"/>
          </p:cNvSpPr>
          <p:nvPr/>
        </p:nvSpPr>
        <p:spPr bwMode="auto">
          <a:xfrm>
            <a:off x="10080" y="2813285"/>
            <a:ext cx="8663166"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This method lets a member return a book they borrowed. If they never borrowed it, the system warns them.</a:t>
            </a:r>
            <a:endParaRPr kumimoji="0" lang="en-US" altLang="en-US" sz="2800" i="0" u="none" strike="noStrike" cap="none" normalizeH="0" baseline="0" dirty="0">
              <a:ln>
                <a:noFill/>
              </a:ln>
              <a:solidFill>
                <a:schemeClr val="tx1"/>
              </a:solidFill>
              <a:effectLst/>
              <a:latin typeface="Calibir"/>
            </a:endParaRPr>
          </a:p>
        </p:txBody>
      </p:sp>
      <p:sp>
        <p:nvSpPr>
          <p:cNvPr id="2" name="Oval 1">
            <a:extLst>
              <a:ext uri="{FF2B5EF4-FFF2-40B4-BE49-F238E27FC236}">
                <a16:creationId xmlns:a16="http://schemas.microsoft.com/office/drawing/2014/main" id="{B11D97F3-3031-C98C-1660-725842D1BA98}"/>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172109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200A-DC1B-05BC-20B3-3D04C2BBECE1}"/>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4B9EC00C-6D37-FA13-7853-A838FB51B378}"/>
              </a:ext>
            </a:extLst>
          </p:cNvPr>
          <p:cNvSpPr/>
          <p:nvPr/>
        </p:nvSpPr>
        <p:spPr>
          <a:xfrm>
            <a:off x="8504654" y="2532405"/>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3ACB33B1-5612-B312-5E39-8403815E0E94}"/>
              </a:ext>
            </a:extLst>
          </p:cNvPr>
          <p:cNvCxnSpPr>
            <a:cxnSpLocks/>
          </p:cNvCxnSpPr>
          <p:nvPr/>
        </p:nvCxnSpPr>
        <p:spPr>
          <a:xfrm>
            <a:off x="9630475" y="3169095"/>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50D7A08-2FF3-533D-4DF8-35B4C5F26E8A}"/>
              </a:ext>
            </a:extLst>
          </p:cNvPr>
          <p:cNvCxnSpPr>
            <a:cxnSpLocks/>
          </p:cNvCxnSpPr>
          <p:nvPr/>
        </p:nvCxnSpPr>
        <p:spPr>
          <a:xfrm flipV="1">
            <a:off x="11445912" y="1698074"/>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1373365-211E-48C7-3CAC-34B098D8FAC9}"/>
              </a:ext>
            </a:extLst>
          </p:cNvPr>
          <p:cNvCxnSpPr>
            <a:cxnSpLocks/>
          </p:cNvCxnSpPr>
          <p:nvPr/>
        </p:nvCxnSpPr>
        <p:spPr>
          <a:xfrm>
            <a:off x="11224846" y="1709826"/>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0A9CAE87-1E9B-6084-458F-9DC121CD539A}"/>
              </a:ext>
            </a:extLst>
          </p:cNvPr>
          <p:cNvSpPr/>
          <p:nvPr/>
        </p:nvSpPr>
        <p:spPr>
          <a:xfrm>
            <a:off x="11379614" y="1877632"/>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649E9221-AC06-F42B-D6A0-69BC91329D8E}"/>
              </a:ext>
            </a:extLst>
          </p:cNvPr>
          <p:cNvCxnSpPr/>
          <p:nvPr/>
        </p:nvCxnSpPr>
        <p:spPr>
          <a:xfrm>
            <a:off x="9685903" y="2988399"/>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7E36402-706E-7999-339B-D208FE2726A7}"/>
              </a:ext>
            </a:extLst>
          </p:cNvPr>
          <p:cNvSpPr txBox="1"/>
          <p:nvPr/>
        </p:nvSpPr>
        <p:spPr>
          <a:xfrm>
            <a:off x="10423171" y="1714044"/>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D87EFD4F-CC3C-0C31-46E4-C38EBA84F082}"/>
              </a:ext>
            </a:extLst>
          </p:cNvPr>
          <p:cNvSpPr txBox="1"/>
          <p:nvPr/>
        </p:nvSpPr>
        <p:spPr>
          <a:xfrm>
            <a:off x="9211568" y="2080274"/>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EC26B549-9C4F-0CCA-BEAC-C8EFDBB7C1B6}"/>
              </a:ext>
            </a:extLst>
          </p:cNvPr>
          <p:cNvSpPr/>
          <p:nvPr/>
        </p:nvSpPr>
        <p:spPr>
          <a:xfrm>
            <a:off x="8504653" y="400529"/>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415D932F-BFD7-5BA8-5E50-D5B92AD3C93E}"/>
              </a:ext>
            </a:extLst>
          </p:cNvPr>
          <p:cNvSpPr/>
          <p:nvPr/>
        </p:nvSpPr>
        <p:spPr>
          <a:xfrm>
            <a:off x="10900015" y="411287"/>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F10122F2-DC16-EEB5-6893-DFB7C01A2780}"/>
              </a:ext>
            </a:extLst>
          </p:cNvPr>
          <p:cNvCxnSpPr/>
          <p:nvPr/>
        </p:nvCxnSpPr>
        <p:spPr>
          <a:xfrm>
            <a:off x="9618750" y="1043081"/>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5EA0829-B53E-961A-E023-B7E2AC2AED35}"/>
              </a:ext>
            </a:extLst>
          </p:cNvPr>
          <p:cNvCxnSpPr>
            <a:cxnSpLocks/>
          </p:cNvCxnSpPr>
          <p:nvPr/>
        </p:nvCxnSpPr>
        <p:spPr>
          <a:xfrm flipV="1">
            <a:off x="10701315" y="901190"/>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304888F-C086-9045-6BF2-618C5B9E196C}"/>
              </a:ext>
            </a:extLst>
          </p:cNvPr>
          <p:cNvCxnSpPr>
            <a:cxnSpLocks/>
          </p:cNvCxnSpPr>
          <p:nvPr/>
        </p:nvCxnSpPr>
        <p:spPr>
          <a:xfrm>
            <a:off x="10701315" y="1043081"/>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3A4F0F32-6525-9C9E-8E65-A6D3E36CB5E7}"/>
              </a:ext>
            </a:extLst>
          </p:cNvPr>
          <p:cNvSpPr/>
          <p:nvPr/>
        </p:nvSpPr>
        <p:spPr>
          <a:xfrm>
            <a:off x="10486726" y="972135"/>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94FBE4E7-3E2C-C165-8850-90622D8ADBDE}"/>
              </a:ext>
            </a:extLst>
          </p:cNvPr>
          <p:cNvCxnSpPr/>
          <p:nvPr/>
        </p:nvCxnSpPr>
        <p:spPr>
          <a:xfrm>
            <a:off x="9685902" y="856523"/>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DDF5BD-20C8-CB7D-F958-E8129AEA0E47}"/>
              </a:ext>
            </a:extLst>
          </p:cNvPr>
          <p:cNvSpPr txBox="1"/>
          <p:nvPr/>
        </p:nvSpPr>
        <p:spPr>
          <a:xfrm>
            <a:off x="10331814" y="-51602"/>
            <a:ext cx="1114098" cy="523220"/>
          </a:xfrm>
          <a:prstGeom prst="rect">
            <a:avLst/>
          </a:prstGeom>
          <a:no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54711F3B-67BC-F986-8359-65A5019956C0}"/>
              </a:ext>
            </a:extLst>
          </p:cNvPr>
          <p:cNvSpPr txBox="1"/>
          <p:nvPr/>
        </p:nvSpPr>
        <p:spPr>
          <a:xfrm>
            <a:off x="9211567" y="-51602"/>
            <a:ext cx="1114098" cy="523220"/>
          </a:xfrm>
          <a:prstGeom prst="rect">
            <a:avLst/>
          </a:prstGeom>
          <a:no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3D3672B1-20F9-C0D0-8F17-66FEDAD5E2E2}"/>
              </a:ext>
            </a:extLst>
          </p:cNvPr>
          <p:cNvSpPr/>
          <p:nvPr/>
        </p:nvSpPr>
        <p:spPr>
          <a:xfrm>
            <a:off x="8504652" y="13669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2CE2CD7C-77FD-0ADE-3FE9-EBF956B1276B}"/>
              </a:ext>
            </a:extLst>
          </p:cNvPr>
          <p:cNvSpPr/>
          <p:nvPr/>
        </p:nvSpPr>
        <p:spPr>
          <a:xfrm>
            <a:off x="8504652" y="10615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167B2156-B273-8099-F4FD-20E7D6844984}"/>
              </a:ext>
            </a:extLst>
          </p:cNvPr>
          <p:cNvSpPr txBox="1"/>
          <p:nvPr/>
        </p:nvSpPr>
        <p:spPr>
          <a:xfrm>
            <a:off x="9768616" y="577474"/>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952F7E9E-D9E6-F611-4B42-8D5E8182F629}"/>
              </a:ext>
            </a:extLst>
          </p:cNvPr>
          <p:cNvSpPr/>
          <p:nvPr/>
        </p:nvSpPr>
        <p:spPr>
          <a:xfrm>
            <a:off x="10895014" y="1378552"/>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1B9F052A-001C-C9EF-A794-260ABA641EAB}"/>
              </a:ext>
            </a:extLst>
          </p:cNvPr>
          <p:cNvSpPr/>
          <p:nvPr/>
        </p:nvSpPr>
        <p:spPr>
          <a:xfrm>
            <a:off x="10895014" y="1073191"/>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4565AE45-5FE9-4FAE-7DEE-1E372D87AFE5}"/>
              </a:ext>
            </a:extLst>
          </p:cNvPr>
          <p:cNvSpPr/>
          <p:nvPr/>
        </p:nvSpPr>
        <p:spPr>
          <a:xfrm>
            <a:off x="10895013" y="77005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9CF41E22-AE70-73C5-174F-80F6C443781A}"/>
              </a:ext>
            </a:extLst>
          </p:cNvPr>
          <p:cNvCxnSpPr>
            <a:cxnSpLocks/>
            <a:endCxn id="61" idx="2"/>
          </p:cNvCxnSpPr>
          <p:nvPr/>
        </p:nvCxnSpPr>
        <p:spPr>
          <a:xfrm flipH="1" flipV="1">
            <a:off x="11452063" y="1683911"/>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EA928DC-B005-969E-68A4-1D3D33CD2016}"/>
              </a:ext>
            </a:extLst>
          </p:cNvPr>
          <p:cNvSpPr txBox="1"/>
          <p:nvPr/>
        </p:nvSpPr>
        <p:spPr>
          <a:xfrm>
            <a:off x="9788202" y="2658030"/>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F56525BE-C8B8-436C-A0F7-9CC6D9BABA4E}"/>
              </a:ext>
            </a:extLst>
          </p:cNvPr>
          <p:cNvSpPr/>
          <p:nvPr/>
        </p:nvSpPr>
        <p:spPr>
          <a:xfrm>
            <a:off x="8505227" y="340669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3FD0073D-D558-BA52-2A0A-6ACF48951731}"/>
              </a:ext>
            </a:extLst>
          </p:cNvPr>
          <p:cNvSpPr/>
          <p:nvPr/>
        </p:nvSpPr>
        <p:spPr>
          <a:xfrm>
            <a:off x="8505227" y="312363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6A416A19-7F25-32D5-35B8-7DECE746AD97}"/>
              </a:ext>
            </a:extLst>
          </p:cNvPr>
          <p:cNvSpPr/>
          <p:nvPr/>
        </p:nvSpPr>
        <p:spPr>
          <a:xfrm>
            <a:off x="8505226" y="282050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CBAE0F89-5C3E-2A39-2895-3FEB91C8542B}"/>
              </a:ext>
            </a:extLst>
          </p:cNvPr>
          <p:cNvSpPr/>
          <p:nvPr/>
        </p:nvSpPr>
        <p:spPr>
          <a:xfrm>
            <a:off x="8509186" y="4120501"/>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7AA362B3-22F5-A684-31F2-D80DE62FC084}"/>
              </a:ext>
            </a:extLst>
          </p:cNvPr>
          <p:cNvSpPr/>
          <p:nvPr/>
        </p:nvSpPr>
        <p:spPr>
          <a:xfrm>
            <a:off x="8504652" y="3702873"/>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6" name="TextBox 5">
            <a:extLst>
              <a:ext uri="{FF2B5EF4-FFF2-40B4-BE49-F238E27FC236}">
                <a16:creationId xmlns:a16="http://schemas.microsoft.com/office/drawing/2014/main" id="{0F3B6BCB-139F-E83C-A841-CB9BF9AD8CD6}"/>
              </a:ext>
            </a:extLst>
          </p:cNvPr>
          <p:cNvSpPr txBox="1"/>
          <p:nvPr/>
        </p:nvSpPr>
        <p:spPr>
          <a:xfrm>
            <a:off x="5785" y="-7708"/>
            <a:ext cx="8447718" cy="3170099"/>
          </a:xfrm>
          <a:prstGeom prst="rect">
            <a:avLst/>
          </a:prstGeom>
          <a:solidFill>
            <a:schemeClr val="tx1"/>
          </a:solidFill>
        </p:spPr>
        <p:txBody>
          <a:bodyPr wrap="square">
            <a:spAutoFit/>
          </a:bodyPr>
          <a:lstStyle/>
          <a:p>
            <a:pPr>
              <a:buNone/>
            </a:pPr>
            <a:r>
              <a:rPr lang="en-US" sz="2500" dirty="0">
                <a:solidFill>
                  <a:srgbClr val="569CD6"/>
                </a:solidFill>
                <a:latin typeface="Consolas" panose="020B0609020204030204" pitchFamily="49" charset="0"/>
              </a:rPr>
              <a:t>class</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Library</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a:solidFill>
                  <a:srgbClr val="DCDCAA"/>
                </a:solidFill>
                <a:latin typeface="Consolas" panose="020B0609020204030204" pitchFamily="49" charset="0"/>
              </a:rPr>
              <a:t>__</a:t>
            </a:r>
            <a:r>
              <a:rPr lang="en-US" sz="2500" dirty="0" err="1">
                <a:solidFill>
                  <a:srgbClr val="DCDCAA"/>
                </a:solidFill>
                <a:latin typeface="Consolas" panose="020B0609020204030204" pitchFamily="49" charset="0"/>
              </a:rPr>
              <a:t>init</a:t>
            </a:r>
            <a:r>
              <a:rPr lang="en-US" sz="2500" dirty="0">
                <a:solidFill>
                  <a:srgbClr val="DCDCAA"/>
                </a:solidFill>
                <a:latin typeface="Consolas" panose="020B0609020204030204" pitchFamily="49" charset="0"/>
              </a:rPr>
              <a:t>__</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address</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name</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name</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address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address</a:t>
            </a:r>
            <a:endParaRPr lang="en-US" sz="2500" dirty="0">
              <a:solidFill>
                <a:srgbClr val="CCCCCC"/>
              </a:solidFill>
              <a:latin typeface="Consolas" panose="020B0609020204030204" pitchFamily="49" charset="0"/>
            </a:endParaRP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books</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p>
          <a:p>
            <a:pPr>
              <a:buNone/>
            </a:pPr>
            <a:br>
              <a:rPr lang="en-US" sz="2500" dirty="0">
                <a:solidFill>
                  <a:srgbClr val="CCCCCC"/>
                </a:solidFill>
                <a:latin typeface="Consolas" panose="020B0609020204030204" pitchFamily="49" charset="0"/>
              </a:rPr>
            </a:br>
            <a:r>
              <a:rPr lang="en-US" sz="2500" dirty="0">
                <a:solidFill>
                  <a:srgbClr val="CCCCCC"/>
                </a:solidFill>
                <a:latin typeface="Consolas" panose="020B0609020204030204" pitchFamily="49" charset="0"/>
              </a:rPr>
              <a:t>    </a:t>
            </a:r>
            <a:r>
              <a:rPr lang="en-US" sz="2500" dirty="0">
                <a:solidFill>
                  <a:srgbClr val="569CD6"/>
                </a:solidFill>
                <a:latin typeface="Consolas" panose="020B0609020204030204" pitchFamily="49" charset="0"/>
              </a:rPr>
              <a:t>def</a:t>
            </a:r>
            <a:r>
              <a:rPr lang="en-US" sz="2500" dirty="0">
                <a:solidFill>
                  <a:srgbClr val="CCCCCC"/>
                </a:solidFill>
                <a:latin typeface="Consolas" panose="020B0609020204030204" pitchFamily="49" charset="0"/>
              </a:rPr>
              <a:t> </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self</a:t>
            </a:r>
            <a:r>
              <a:rPr lang="en-US" sz="2500" dirty="0">
                <a:solidFill>
                  <a:srgbClr val="CCCCCC"/>
                </a:solidFill>
                <a:latin typeface="Consolas" panose="020B0609020204030204" pitchFamily="49" charset="0"/>
              </a:rPr>
              <a:t>, </a:t>
            </a:r>
            <a:r>
              <a:rPr lang="en-US" sz="2500" dirty="0">
                <a:solidFill>
                  <a:srgbClr val="9CDCFE"/>
                </a:solidFill>
                <a:latin typeface="Consolas" panose="020B0609020204030204" pitchFamily="49" charset="0"/>
              </a:rPr>
              <a:t>book</a:t>
            </a:r>
            <a:r>
              <a:rPr lang="en-US" sz="2500" dirty="0">
                <a:solidFill>
                  <a:srgbClr val="CCCCCC"/>
                </a:solidFill>
                <a:latin typeface="Consolas" panose="020B0609020204030204" pitchFamily="49" charset="0"/>
              </a:rPr>
              <a:t>):</a:t>
            </a:r>
          </a:p>
          <a:p>
            <a:pPr>
              <a:buNone/>
            </a:pPr>
            <a:r>
              <a:rPr lang="en-US" sz="2500" dirty="0">
                <a:solidFill>
                  <a:srgbClr val="CCCCCC"/>
                </a:solidFill>
                <a:latin typeface="Consolas" panose="020B0609020204030204" pitchFamily="49" charset="0"/>
              </a:rPr>
              <a:t>        </a:t>
            </a:r>
            <a:r>
              <a:rPr lang="en-US" sz="2500" dirty="0" err="1">
                <a:solidFill>
                  <a:srgbClr val="9CDCFE"/>
                </a:solidFill>
                <a:latin typeface="Consolas" panose="020B0609020204030204" pitchFamily="49" charset="0"/>
              </a:rPr>
              <a:t>self</a:t>
            </a:r>
            <a:r>
              <a:rPr lang="en-US" sz="2500" dirty="0" err="1">
                <a:solidFill>
                  <a:srgbClr val="CCCCCC"/>
                </a:solidFill>
                <a:latin typeface="Consolas" panose="020B0609020204030204" pitchFamily="49" charset="0"/>
              </a:rPr>
              <a:t>.</a:t>
            </a:r>
            <a:r>
              <a:rPr lang="en-US" sz="2500" dirty="0" err="1">
                <a:solidFill>
                  <a:srgbClr val="9CDCFE"/>
                </a:solidFill>
                <a:latin typeface="Consolas" panose="020B0609020204030204" pitchFamily="49" charset="0"/>
              </a:rPr>
              <a:t>books</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append</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a:t>
            </a:r>
            <a:r>
              <a:rPr lang="en-US" sz="2500" dirty="0">
                <a:solidFill>
                  <a:srgbClr val="CCCCCC"/>
                </a:solidFill>
                <a:latin typeface="Consolas" panose="020B0609020204030204" pitchFamily="49" charset="0"/>
              </a:rPr>
              <a:t>)</a:t>
            </a:r>
          </a:p>
        </p:txBody>
      </p:sp>
      <p:sp>
        <p:nvSpPr>
          <p:cNvPr id="5" name="Rectangle 1">
            <a:extLst>
              <a:ext uri="{FF2B5EF4-FFF2-40B4-BE49-F238E27FC236}">
                <a16:creationId xmlns:a16="http://schemas.microsoft.com/office/drawing/2014/main" id="{73D444FB-B84E-A708-DFDA-33D38771290E}"/>
              </a:ext>
            </a:extLst>
          </p:cNvPr>
          <p:cNvSpPr>
            <a:spLocks noChangeArrowheads="1"/>
          </p:cNvSpPr>
          <p:nvPr/>
        </p:nvSpPr>
        <p:spPr bwMode="auto">
          <a:xfrm>
            <a:off x="0" y="3123639"/>
            <a:ext cx="8447719"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Library class</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Calibir"/>
              </a:rPr>
              <a:t>Has a name, address, and a list of books.</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i="0" u="none" strike="noStrike" cap="none" normalizeH="0" baseline="0" dirty="0" err="1">
                <a:ln>
                  <a:noFill/>
                </a:ln>
                <a:solidFill>
                  <a:schemeClr val="tx1"/>
                </a:solidFill>
                <a:effectLst/>
                <a:latin typeface="Calibir"/>
              </a:rPr>
              <a:t>add_book</a:t>
            </a:r>
            <a:r>
              <a:rPr kumimoji="0" lang="en-US" altLang="en-US" sz="2800" i="0" u="none" strike="noStrike" cap="none" normalizeH="0" baseline="0" dirty="0">
                <a:ln>
                  <a:noFill/>
                </a:ln>
                <a:solidFill>
                  <a:schemeClr val="tx1"/>
                </a:solidFill>
                <a:effectLst/>
                <a:latin typeface="Calibir"/>
              </a:rPr>
              <a:t>(book) → puts new books into the library.</a:t>
            </a:r>
          </a:p>
        </p:txBody>
      </p:sp>
      <p:sp>
        <p:nvSpPr>
          <p:cNvPr id="2" name="Oval 1">
            <a:extLst>
              <a:ext uri="{FF2B5EF4-FFF2-40B4-BE49-F238E27FC236}">
                <a16:creationId xmlns:a16="http://schemas.microsoft.com/office/drawing/2014/main" id="{F232E33C-8364-A4EC-802C-CD51B5C368EF}"/>
              </a:ext>
            </a:extLst>
          </p:cNvPr>
          <p:cNvSpPr/>
          <p:nvPr/>
        </p:nvSpPr>
        <p:spPr>
          <a:xfrm>
            <a:off x="9754935" y="311266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30364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007E-4E35-0469-FDD0-767EB22BF7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B991160-805A-D7B8-75DE-8A0CF31CBB90}"/>
              </a:ext>
            </a:extLst>
          </p:cNvPr>
          <p:cNvSpPr txBox="1"/>
          <p:nvPr/>
        </p:nvSpPr>
        <p:spPr>
          <a:xfrm>
            <a:off x="0" y="-8983"/>
            <a:ext cx="12192000" cy="5093702"/>
          </a:xfrm>
          <a:prstGeom prst="rect">
            <a:avLst/>
          </a:prstGeom>
          <a:solidFill>
            <a:schemeClr val="tx1"/>
          </a:solidFill>
        </p:spPr>
        <p:txBody>
          <a:bodyPr wrap="square">
            <a:spAutoFit/>
          </a:bodyPr>
          <a:lstStyle/>
          <a:p>
            <a:pPr>
              <a:buNone/>
            </a:pPr>
            <a:r>
              <a:rPr lang="en-US" sz="2500" dirty="0">
                <a:solidFill>
                  <a:srgbClr val="6A9955"/>
                </a:solidFill>
                <a:latin typeface="Consolas" panose="020B0609020204030204" pitchFamily="49" charset="0"/>
              </a:rPr>
              <a:t># --- Example usage ---</a:t>
            </a:r>
            <a:endParaRPr lang="en-US" sz="2500" dirty="0">
              <a:solidFill>
                <a:srgbClr val="CCCCCC"/>
              </a:solidFill>
              <a:latin typeface="Consolas" panose="020B0609020204030204" pitchFamily="49" charset="0"/>
            </a:endParaRPr>
          </a:p>
          <a:p>
            <a:pPr>
              <a:buNone/>
            </a:pPr>
            <a:r>
              <a:rPr lang="en-US" sz="2500" dirty="0">
                <a:solidFill>
                  <a:srgbClr val="9CDCFE"/>
                </a:solidFill>
                <a:latin typeface="Consolas" panose="020B0609020204030204" pitchFamily="49" charset="0"/>
              </a:rPr>
              <a:t>library</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Library</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"Sydney Library"</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"123 George St"</a:t>
            </a:r>
            <a:r>
              <a:rPr lang="en-US" sz="2500" dirty="0">
                <a:solidFill>
                  <a:srgbClr val="CCCCCC"/>
                </a:solidFill>
                <a:latin typeface="Consolas" panose="020B0609020204030204" pitchFamily="49" charset="0"/>
              </a:rPr>
              <a:t>)</a:t>
            </a:r>
          </a:p>
          <a:p>
            <a:pPr>
              <a:buNone/>
            </a:pP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Book</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"Python Basics"</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"111"</a:t>
            </a:r>
            <a:r>
              <a:rPr lang="en-US" sz="2500" dirty="0">
                <a:solidFill>
                  <a:srgbClr val="CCCCCC"/>
                </a:solidFill>
                <a:latin typeface="Consolas" panose="020B0609020204030204" pitchFamily="49" charset="0"/>
              </a:rPr>
              <a:t>)</a:t>
            </a:r>
          </a:p>
          <a:p>
            <a:pPr>
              <a:buNone/>
            </a:pPr>
            <a:r>
              <a:rPr lang="en-US" sz="2500" dirty="0">
                <a:solidFill>
                  <a:srgbClr val="9CDCFE"/>
                </a:solidFill>
                <a:latin typeface="Consolas" panose="020B0609020204030204" pitchFamily="49" charset="0"/>
              </a:rPr>
              <a:t>book2</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Book</a:t>
            </a:r>
            <a:r>
              <a:rPr lang="en-US" sz="2500" dirty="0">
                <a:solidFill>
                  <a:srgbClr val="CCCCCC"/>
                </a:solidFill>
                <a:latin typeface="Consolas" panose="020B0609020204030204" pitchFamily="49" charset="0"/>
              </a:rPr>
              <a:t>(</a:t>
            </a:r>
            <a:r>
              <a:rPr lang="en-US" sz="2500" dirty="0">
                <a:solidFill>
                  <a:srgbClr val="CE9178"/>
                </a:solidFill>
                <a:latin typeface="Consolas" panose="020B0609020204030204" pitchFamily="49" charset="0"/>
              </a:rPr>
              <a:t>"Java Programming"</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"222"</a:t>
            </a:r>
            <a:r>
              <a:rPr lang="en-US" sz="2500" dirty="0">
                <a:solidFill>
                  <a:srgbClr val="CCCCCC"/>
                </a:solidFill>
                <a:latin typeface="Consolas" panose="020B0609020204030204" pitchFamily="49" charset="0"/>
              </a:rPr>
              <a:t>)</a:t>
            </a:r>
          </a:p>
          <a:p>
            <a:pPr>
              <a:buNone/>
            </a:pPr>
            <a:r>
              <a:rPr lang="en-US" sz="2500" dirty="0" err="1">
                <a:solidFill>
                  <a:srgbClr val="9CDCFE"/>
                </a:solidFill>
                <a:latin typeface="Consolas" panose="020B0609020204030204" pitchFamily="49" charset="0"/>
              </a:rPr>
              <a:t>library</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a:t>
            </a:r>
          </a:p>
          <a:p>
            <a:pPr>
              <a:buNone/>
            </a:pPr>
            <a:r>
              <a:rPr lang="en-US" sz="2500" dirty="0" err="1">
                <a:solidFill>
                  <a:srgbClr val="9CDCFE"/>
                </a:solidFill>
                <a:latin typeface="Consolas" panose="020B0609020204030204" pitchFamily="49" charset="0"/>
              </a:rPr>
              <a:t>library</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add_book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book2</a:t>
            </a:r>
            <a:r>
              <a:rPr lang="en-US" sz="2500" dirty="0">
                <a:solidFill>
                  <a:srgbClr val="CCCCCC"/>
                </a:solidFill>
                <a:latin typeface="Consolas" panose="020B0609020204030204" pitchFamily="49" charset="0"/>
              </a:rPr>
              <a:t>)</a:t>
            </a:r>
          </a:p>
          <a:p>
            <a:pPr>
              <a:buNone/>
            </a:pPr>
            <a:br>
              <a:rPr lang="en-US" sz="2500" dirty="0">
                <a:solidFill>
                  <a:srgbClr val="CCCCCC"/>
                </a:solidFill>
                <a:latin typeface="Consolas" panose="020B0609020204030204" pitchFamily="49" charset="0"/>
              </a:rPr>
            </a:br>
            <a:r>
              <a:rPr lang="en-US" sz="2500" dirty="0">
                <a:solidFill>
                  <a:srgbClr val="9CDCFE"/>
                </a:solidFill>
                <a:latin typeface="Consolas" panose="020B0609020204030204" pitchFamily="49" charset="0"/>
              </a:rPr>
              <a:t>member</a:t>
            </a:r>
            <a:r>
              <a:rPr lang="en-US" sz="2500" dirty="0">
                <a:solidFill>
                  <a:srgbClr val="CCCCCC"/>
                </a:solidFill>
                <a:latin typeface="Consolas" panose="020B0609020204030204" pitchFamily="49" charset="0"/>
              </a:rPr>
              <a:t> </a:t>
            </a:r>
            <a:r>
              <a:rPr lang="en-US" sz="2500" dirty="0">
                <a:solidFill>
                  <a:srgbClr val="D4D4D4"/>
                </a:solidFill>
                <a:latin typeface="Consolas" panose="020B0609020204030204" pitchFamily="49" charset="0"/>
              </a:rPr>
              <a:t>=</a:t>
            </a:r>
            <a:r>
              <a:rPr lang="en-US" sz="2500" dirty="0">
                <a:solidFill>
                  <a:srgbClr val="CCCCCC"/>
                </a:solidFill>
                <a:latin typeface="Consolas" panose="020B0609020204030204" pitchFamily="49" charset="0"/>
              </a:rPr>
              <a:t> </a:t>
            </a:r>
            <a:r>
              <a:rPr lang="en-US" sz="2500" dirty="0">
                <a:solidFill>
                  <a:srgbClr val="4EC9B0"/>
                </a:solidFill>
                <a:latin typeface="Consolas" panose="020B0609020204030204" pitchFamily="49" charset="0"/>
              </a:rPr>
              <a:t>Member</a:t>
            </a:r>
            <a:r>
              <a:rPr lang="en-US" sz="2500" dirty="0">
                <a:solidFill>
                  <a:srgbClr val="CCCCCC"/>
                </a:solidFill>
                <a:latin typeface="Consolas" panose="020B0609020204030204" pitchFamily="49" charset="0"/>
              </a:rPr>
              <a:t>(</a:t>
            </a:r>
            <a:r>
              <a:rPr lang="en-US" sz="2500" dirty="0">
                <a:solidFill>
                  <a:srgbClr val="B5CEA8"/>
                </a:solidFill>
                <a:latin typeface="Consolas" panose="020B0609020204030204" pitchFamily="49" charset="0"/>
              </a:rPr>
              <a:t>1</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"Farshid Keivanian"</a:t>
            </a:r>
            <a:r>
              <a:rPr lang="en-US" sz="2500" dirty="0">
                <a:solidFill>
                  <a:srgbClr val="CCCCCC"/>
                </a:solidFill>
                <a:latin typeface="Consolas" panose="020B0609020204030204" pitchFamily="49" charset="0"/>
              </a:rPr>
              <a:t>, </a:t>
            </a:r>
            <a:r>
              <a:rPr lang="en-US" sz="2500" dirty="0">
                <a:solidFill>
                  <a:srgbClr val="CE9178"/>
                </a:solidFill>
                <a:latin typeface="Consolas" panose="020B0609020204030204" pitchFamily="49" charset="0"/>
              </a:rPr>
              <a:t>"Farshid.Keivanian@uts.edu.au"</a:t>
            </a:r>
            <a:r>
              <a:rPr lang="en-US" sz="2500" dirty="0">
                <a:solidFill>
                  <a:srgbClr val="CCCCCC"/>
                </a:solidFill>
                <a:latin typeface="Consolas" panose="020B0609020204030204" pitchFamily="49" charset="0"/>
              </a:rPr>
              <a:t>)</a:t>
            </a:r>
          </a:p>
          <a:p>
            <a:pPr>
              <a:buNone/>
            </a:pPr>
            <a:br>
              <a:rPr lang="en-US" sz="2500" dirty="0">
                <a:solidFill>
                  <a:srgbClr val="CCCCCC"/>
                </a:solidFill>
                <a:latin typeface="Consolas" panose="020B0609020204030204" pitchFamily="49" charset="0"/>
              </a:rPr>
            </a:b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borrow</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borrow success</a:t>
            </a:r>
            <a:endParaRPr lang="en-US" sz="2500" dirty="0">
              <a:solidFill>
                <a:srgbClr val="CCCCCC"/>
              </a:solidFill>
              <a:latin typeface="Consolas" panose="020B0609020204030204" pitchFamily="49" charset="0"/>
            </a:endParaRPr>
          </a:p>
          <a:p>
            <a:pPr>
              <a:buNone/>
            </a:pP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borrow</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already borrowed</a:t>
            </a:r>
            <a:endParaRPr lang="en-US" sz="2500" dirty="0">
              <a:solidFill>
                <a:srgbClr val="CCCCCC"/>
              </a:solidFill>
              <a:latin typeface="Consolas" panose="020B0609020204030204" pitchFamily="49" charset="0"/>
            </a:endParaRPr>
          </a:p>
          <a:p>
            <a:pPr>
              <a:buNone/>
            </a:pPr>
            <a:r>
              <a:rPr lang="en-US" sz="2500" dirty="0" err="1">
                <a:solidFill>
                  <a:srgbClr val="9CDCFE"/>
                </a:solidFill>
                <a:latin typeface="Consolas" panose="020B0609020204030204" pitchFamily="49" charset="0"/>
              </a:rPr>
              <a:t>member</a:t>
            </a:r>
            <a:r>
              <a:rPr lang="en-US" sz="2500" dirty="0" err="1">
                <a:solidFill>
                  <a:srgbClr val="CCCCCC"/>
                </a:solidFill>
                <a:latin typeface="Consolas" panose="020B0609020204030204" pitchFamily="49" charset="0"/>
              </a:rPr>
              <a:t>.</a:t>
            </a:r>
            <a:r>
              <a:rPr lang="en-US" sz="2500" dirty="0" err="1">
                <a:solidFill>
                  <a:srgbClr val="DCDCAA"/>
                </a:solidFill>
                <a:latin typeface="Consolas" panose="020B0609020204030204" pitchFamily="49" charset="0"/>
              </a:rPr>
              <a:t>return_book</a:t>
            </a:r>
            <a:r>
              <a:rPr lang="en-US" sz="2500" dirty="0">
                <a:solidFill>
                  <a:srgbClr val="CCCCCC"/>
                </a:solidFill>
                <a:latin typeface="Consolas" panose="020B0609020204030204" pitchFamily="49" charset="0"/>
              </a:rPr>
              <a:t>(</a:t>
            </a:r>
            <a:r>
              <a:rPr lang="en-US" sz="2500" dirty="0">
                <a:solidFill>
                  <a:srgbClr val="9CDCFE"/>
                </a:solidFill>
                <a:latin typeface="Consolas" panose="020B0609020204030204" pitchFamily="49" charset="0"/>
              </a:rPr>
              <a:t>book1</a:t>
            </a:r>
            <a:r>
              <a:rPr lang="en-US" sz="2500" dirty="0">
                <a:solidFill>
                  <a:srgbClr val="CCCCCC"/>
                </a:solidFill>
                <a:latin typeface="Consolas" panose="020B0609020204030204" pitchFamily="49" charset="0"/>
              </a:rPr>
              <a:t>)  </a:t>
            </a:r>
            <a:r>
              <a:rPr lang="en-US" sz="2500" dirty="0">
                <a:solidFill>
                  <a:srgbClr val="6A9955"/>
                </a:solidFill>
                <a:latin typeface="Consolas" panose="020B0609020204030204" pitchFamily="49" charset="0"/>
              </a:rPr>
              <a:t>#  return success</a:t>
            </a:r>
            <a:endParaRPr lang="en-US" sz="2500" dirty="0">
              <a:solidFill>
                <a:srgbClr val="CCCCCC"/>
              </a:solidFill>
              <a:latin typeface="Consolas" panose="020B0609020204030204" pitchFamily="49" charset="0"/>
            </a:endParaRPr>
          </a:p>
        </p:txBody>
      </p:sp>
      <p:sp>
        <p:nvSpPr>
          <p:cNvPr id="34" name="Rectangle 33">
            <a:extLst>
              <a:ext uri="{FF2B5EF4-FFF2-40B4-BE49-F238E27FC236}">
                <a16:creationId xmlns:a16="http://schemas.microsoft.com/office/drawing/2014/main" id="{93AF7043-6F30-1644-4EB1-9B757ABE53F4}"/>
              </a:ext>
            </a:extLst>
          </p:cNvPr>
          <p:cNvSpPr/>
          <p:nvPr/>
        </p:nvSpPr>
        <p:spPr>
          <a:xfrm>
            <a:off x="8651799" y="4856473"/>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Member</a:t>
            </a:r>
          </a:p>
        </p:txBody>
      </p:sp>
      <p:cxnSp>
        <p:nvCxnSpPr>
          <p:cNvPr id="36" name="Straight Connector 35">
            <a:extLst>
              <a:ext uri="{FF2B5EF4-FFF2-40B4-BE49-F238E27FC236}">
                <a16:creationId xmlns:a16="http://schemas.microsoft.com/office/drawing/2014/main" id="{BE43C95B-69AF-12FE-A327-4D2720AE8A26}"/>
              </a:ext>
            </a:extLst>
          </p:cNvPr>
          <p:cNvCxnSpPr>
            <a:cxnSpLocks/>
          </p:cNvCxnSpPr>
          <p:nvPr/>
        </p:nvCxnSpPr>
        <p:spPr>
          <a:xfrm>
            <a:off x="9777620" y="5493163"/>
            <a:ext cx="18271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B622248-92F5-47D3-6E4F-71C922A42704}"/>
              </a:ext>
            </a:extLst>
          </p:cNvPr>
          <p:cNvCxnSpPr>
            <a:cxnSpLocks/>
          </p:cNvCxnSpPr>
          <p:nvPr/>
        </p:nvCxnSpPr>
        <p:spPr>
          <a:xfrm flipV="1">
            <a:off x="11593057" y="4022142"/>
            <a:ext cx="236134" cy="17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02F79A2-F920-B129-F82F-493B9ABA33A3}"/>
              </a:ext>
            </a:extLst>
          </p:cNvPr>
          <p:cNvCxnSpPr>
            <a:cxnSpLocks/>
          </p:cNvCxnSpPr>
          <p:nvPr/>
        </p:nvCxnSpPr>
        <p:spPr>
          <a:xfrm>
            <a:off x="11371991" y="4033894"/>
            <a:ext cx="221066" cy="159505"/>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4F11D0-5FFD-A39F-F75E-F94481ECD7BB}"/>
              </a:ext>
            </a:extLst>
          </p:cNvPr>
          <p:cNvSpPr/>
          <p:nvPr/>
        </p:nvSpPr>
        <p:spPr>
          <a:xfrm>
            <a:off x="11526759" y="4201700"/>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0" name="Straight Connector 39">
            <a:extLst>
              <a:ext uri="{FF2B5EF4-FFF2-40B4-BE49-F238E27FC236}">
                <a16:creationId xmlns:a16="http://schemas.microsoft.com/office/drawing/2014/main" id="{327F5D9B-65C0-9E97-9511-4AE3FEA09E1B}"/>
              </a:ext>
            </a:extLst>
          </p:cNvPr>
          <p:cNvCxnSpPr/>
          <p:nvPr/>
        </p:nvCxnSpPr>
        <p:spPr>
          <a:xfrm>
            <a:off x="9833048" y="5312467"/>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65B3BE0-63D4-C2F4-0892-4BF913062F95}"/>
              </a:ext>
            </a:extLst>
          </p:cNvPr>
          <p:cNvSpPr txBox="1"/>
          <p:nvPr/>
        </p:nvSpPr>
        <p:spPr>
          <a:xfrm>
            <a:off x="10570316" y="4038112"/>
            <a:ext cx="1114098" cy="523220"/>
          </a:xfrm>
          <a:prstGeom prst="rect">
            <a:avLst/>
          </a:prstGeom>
          <a:noFill/>
        </p:spPr>
        <p:txBody>
          <a:bodyPr wrap="square" rtlCol="0">
            <a:spAutoFit/>
          </a:bodyPr>
          <a:lstStyle/>
          <a:p>
            <a:r>
              <a:rPr lang="en-AU" sz="2800" dirty="0">
                <a:latin typeface="Calibir"/>
              </a:rPr>
              <a:t>(0, 5)</a:t>
            </a:r>
          </a:p>
        </p:txBody>
      </p:sp>
      <p:sp>
        <p:nvSpPr>
          <p:cNvPr id="42" name="TextBox 41">
            <a:extLst>
              <a:ext uri="{FF2B5EF4-FFF2-40B4-BE49-F238E27FC236}">
                <a16:creationId xmlns:a16="http://schemas.microsoft.com/office/drawing/2014/main" id="{57F21134-7135-31D5-1B3C-F9F1B72AE9E4}"/>
              </a:ext>
            </a:extLst>
          </p:cNvPr>
          <p:cNvSpPr txBox="1"/>
          <p:nvPr/>
        </p:nvSpPr>
        <p:spPr>
          <a:xfrm>
            <a:off x="9358713" y="4404342"/>
            <a:ext cx="1114098" cy="523220"/>
          </a:xfrm>
          <a:prstGeom prst="rect">
            <a:avLst/>
          </a:prstGeom>
          <a:noFill/>
        </p:spPr>
        <p:txBody>
          <a:bodyPr wrap="square" rtlCol="0">
            <a:spAutoFit/>
          </a:bodyPr>
          <a:lstStyle/>
          <a:p>
            <a:r>
              <a:rPr lang="en-AU" sz="2800" dirty="0">
                <a:latin typeface="Calibir"/>
              </a:rPr>
              <a:t>(0, 1)</a:t>
            </a:r>
          </a:p>
        </p:txBody>
      </p:sp>
      <p:sp>
        <p:nvSpPr>
          <p:cNvPr id="43" name="Rectangle 42">
            <a:extLst>
              <a:ext uri="{FF2B5EF4-FFF2-40B4-BE49-F238E27FC236}">
                <a16:creationId xmlns:a16="http://schemas.microsoft.com/office/drawing/2014/main" id="{590C6471-FF82-208B-F2E5-9B25FE0BA746}"/>
              </a:ext>
            </a:extLst>
          </p:cNvPr>
          <p:cNvSpPr/>
          <p:nvPr/>
        </p:nvSpPr>
        <p:spPr>
          <a:xfrm>
            <a:off x="8651798" y="2724597"/>
            <a:ext cx="1114097" cy="6610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Library</a:t>
            </a:r>
          </a:p>
        </p:txBody>
      </p:sp>
      <p:sp>
        <p:nvSpPr>
          <p:cNvPr id="44" name="Rectangle 43">
            <a:extLst>
              <a:ext uri="{FF2B5EF4-FFF2-40B4-BE49-F238E27FC236}">
                <a16:creationId xmlns:a16="http://schemas.microsoft.com/office/drawing/2014/main" id="{1361BF11-E39D-E753-A2E7-75A9D412BE65}"/>
              </a:ext>
            </a:extLst>
          </p:cNvPr>
          <p:cNvSpPr/>
          <p:nvPr/>
        </p:nvSpPr>
        <p:spPr>
          <a:xfrm>
            <a:off x="11047160" y="2735355"/>
            <a:ext cx="1109095" cy="35877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Book</a:t>
            </a:r>
          </a:p>
        </p:txBody>
      </p:sp>
      <p:cxnSp>
        <p:nvCxnSpPr>
          <p:cNvPr id="51" name="Straight Connector 50">
            <a:extLst>
              <a:ext uri="{FF2B5EF4-FFF2-40B4-BE49-F238E27FC236}">
                <a16:creationId xmlns:a16="http://schemas.microsoft.com/office/drawing/2014/main" id="{6D2BB4B9-8AE9-BFEA-DE06-619AD13D6E24}"/>
              </a:ext>
            </a:extLst>
          </p:cNvPr>
          <p:cNvCxnSpPr/>
          <p:nvPr/>
        </p:nvCxnSpPr>
        <p:spPr>
          <a:xfrm>
            <a:off x="9765895" y="3367149"/>
            <a:ext cx="1270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BDBEF55-2D8C-7B03-F110-84B0802F4771}"/>
              </a:ext>
            </a:extLst>
          </p:cNvPr>
          <p:cNvCxnSpPr>
            <a:cxnSpLocks/>
          </p:cNvCxnSpPr>
          <p:nvPr/>
        </p:nvCxnSpPr>
        <p:spPr>
          <a:xfrm flipV="1">
            <a:off x="10848460" y="3225258"/>
            <a:ext cx="187549" cy="141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243D194-32F0-EF94-C3F4-0B5AEF898A5B}"/>
              </a:ext>
            </a:extLst>
          </p:cNvPr>
          <p:cNvCxnSpPr>
            <a:cxnSpLocks/>
          </p:cNvCxnSpPr>
          <p:nvPr/>
        </p:nvCxnSpPr>
        <p:spPr>
          <a:xfrm>
            <a:off x="10848460" y="3367149"/>
            <a:ext cx="187549" cy="141891"/>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EEE71CBC-A660-58C6-52ED-D9BF065D0A26}"/>
              </a:ext>
            </a:extLst>
          </p:cNvPr>
          <p:cNvSpPr/>
          <p:nvPr/>
        </p:nvSpPr>
        <p:spPr>
          <a:xfrm>
            <a:off x="10633871" y="3296203"/>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5" name="Straight Connector 54">
            <a:extLst>
              <a:ext uri="{FF2B5EF4-FFF2-40B4-BE49-F238E27FC236}">
                <a16:creationId xmlns:a16="http://schemas.microsoft.com/office/drawing/2014/main" id="{BA1995D7-CE21-739F-0977-8167FF47A26F}"/>
              </a:ext>
            </a:extLst>
          </p:cNvPr>
          <p:cNvCxnSpPr/>
          <p:nvPr/>
        </p:nvCxnSpPr>
        <p:spPr>
          <a:xfrm>
            <a:off x="9833047" y="3180591"/>
            <a:ext cx="0" cy="32844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E5A69A8-EB79-27AB-01D7-0AA6C05F8C93}"/>
              </a:ext>
            </a:extLst>
          </p:cNvPr>
          <p:cNvSpPr txBox="1"/>
          <p:nvPr/>
        </p:nvSpPr>
        <p:spPr>
          <a:xfrm>
            <a:off x="10693870" y="2090634"/>
            <a:ext cx="1114098" cy="523220"/>
          </a:xfrm>
          <a:prstGeom prst="rect">
            <a:avLst/>
          </a:prstGeom>
          <a:solidFill>
            <a:schemeClr val="bg1"/>
          </a:solidFill>
        </p:spPr>
        <p:txBody>
          <a:bodyPr wrap="square" rtlCol="0">
            <a:spAutoFit/>
          </a:bodyPr>
          <a:lstStyle/>
          <a:p>
            <a:r>
              <a:rPr lang="en-AU" sz="2800" dirty="0">
                <a:latin typeface="Calibir"/>
              </a:rPr>
              <a:t>(1, M)</a:t>
            </a:r>
          </a:p>
        </p:txBody>
      </p:sp>
      <p:sp>
        <p:nvSpPr>
          <p:cNvPr id="57" name="TextBox 56">
            <a:extLst>
              <a:ext uri="{FF2B5EF4-FFF2-40B4-BE49-F238E27FC236}">
                <a16:creationId xmlns:a16="http://schemas.microsoft.com/office/drawing/2014/main" id="{F8194AEE-4EDE-558F-EE44-AEC520D6C329}"/>
              </a:ext>
            </a:extLst>
          </p:cNvPr>
          <p:cNvSpPr txBox="1"/>
          <p:nvPr/>
        </p:nvSpPr>
        <p:spPr>
          <a:xfrm>
            <a:off x="8990850" y="2050824"/>
            <a:ext cx="1114098" cy="523220"/>
          </a:xfrm>
          <a:prstGeom prst="rect">
            <a:avLst/>
          </a:prstGeom>
          <a:solidFill>
            <a:schemeClr val="bg1"/>
          </a:solidFill>
        </p:spPr>
        <p:txBody>
          <a:bodyPr wrap="square" rtlCol="0">
            <a:spAutoFit/>
          </a:bodyPr>
          <a:lstStyle/>
          <a:p>
            <a:r>
              <a:rPr lang="en-AU" sz="2800" dirty="0">
                <a:latin typeface="Calibir"/>
              </a:rPr>
              <a:t>(1, 1)</a:t>
            </a:r>
          </a:p>
        </p:txBody>
      </p:sp>
      <p:sp>
        <p:nvSpPr>
          <p:cNvPr id="58" name="Rectangle 57">
            <a:extLst>
              <a:ext uri="{FF2B5EF4-FFF2-40B4-BE49-F238E27FC236}">
                <a16:creationId xmlns:a16="http://schemas.microsoft.com/office/drawing/2014/main" id="{ACC980BF-2885-7FE7-E0D3-13BE23FB6FA3}"/>
              </a:ext>
            </a:extLst>
          </p:cNvPr>
          <p:cNvSpPr/>
          <p:nvPr/>
        </p:nvSpPr>
        <p:spPr>
          <a:xfrm>
            <a:off x="8651797" y="3690988"/>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address</a:t>
            </a:r>
          </a:p>
        </p:txBody>
      </p:sp>
      <p:sp>
        <p:nvSpPr>
          <p:cNvPr id="59" name="Rectangle 58">
            <a:extLst>
              <a:ext uri="{FF2B5EF4-FFF2-40B4-BE49-F238E27FC236}">
                <a16:creationId xmlns:a16="http://schemas.microsoft.com/office/drawing/2014/main" id="{66675540-600A-5AA4-C5AF-93D70AF68C0A}"/>
              </a:ext>
            </a:extLst>
          </p:cNvPr>
          <p:cNvSpPr/>
          <p:nvPr/>
        </p:nvSpPr>
        <p:spPr>
          <a:xfrm>
            <a:off x="8651797" y="338562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0" name="TextBox 59">
            <a:extLst>
              <a:ext uri="{FF2B5EF4-FFF2-40B4-BE49-F238E27FC236}">
                <a16:creationId xmlns:a16="http://schemas.microsoft.com/office/drawing/2014/main" id="{9520E4D8-3921-7724-F2AE-773548F4BD5B}"/>
              </a:ext>
            </a:extLst>
          </p:cNvPr>
          <p:cNvSpPr txBox="1"/>
          <p:nvPr/>
        </p:nvSpPr>
        <p:spPr>
          <a:xfrm>
            <a:off x="9915761" y="2901542"/>
            <a:ext cx="931209" cy="523220"/>
          </a:xfrm>
          <a:prstGeom prst="rect">
            <a:avLst/>
          </a:prstGeom>
          <a:noFill/>
        </p:spPr>
        <p:txBody>
          <a:bodyPr wrap="square" rtlCol="0">
            <a:spAutoFit/>
          </a:bodyPr>
          <a:lstStyle/>
          <a:p>
            <a:r>
              <a:rPr lang="en-AU" sz="2800" dirty="0">
                <a:latin typeface="Calibir"/>
              </a:rPr>
              <a:t>has</a:t>
            </a:r>
          </a:p>
        </p:txBody>
      </p:sp>
      <p:sp>
        <p:nvSpPr>
          <p:cNvPr id="61" name="Rectangle 60">
            <a:extLst>
              <a:ext uri="{FF2B5EF4-FFF2-40B4-BE49-F238E27FC236}">
                <a16:creationId xmlns:a16="http://schemas.microsoft.com/office/drawing/2014/main" id="{4326AA87-6AAC-12BF-E4AA-2350C3DB3C6B}"/>
              </a:ext>
            </a:extLst>
          </p:cNvPr>
          <p:cNvSpPr/>
          <p:nvPr/>
        </p:nvSpPr>
        <p:spPr>
          <a:xfrm>
            <a:off x="11042159" y="3702620"/>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status</a:t>
            </a:r>
          </a:p>
        </p:txBody>
      </p:sp>
      <p:sp>
        <p:nvSpPr>
          <p:cNvPr id="62" name="Rectangle 61">
            <a:extLst>
              <a:ext uri="{FF2B5EF4-FFF2-40B4-BE49-F238E27FC236}">
                <a16:creationId xmlns:a16="http://schemas.microsoft.com/office/drawing/2014/main" id="{75A16D15-E0EA-5CCB-EC0F-DF0FD6F33EBD}"/>
              </a:ext>
            </a:extLst>
          </p:cNvPr>
          <p:cNvSpPr/>
          <p:nvPr/>
        </p:nvSpPr>
        <p:spPr>
          <a:xfrm>
            <a:off x="11042159" y="3397259"/>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err="1"/>
              <a:t>isbn</a:t>
            </a:r>
            <a:endParaRPr lang="en-AU" dirty="0"/>
          </a:p>
        </p:txBody>
      </p:sp>
      <p:sp>
        <p:nvSpPr>
          <p:cNvPr id="63" name="Rectangle 62">
            <a:extLst>
              <a:ext uri="{FF2B5EF4-FFF2-40B4-BE49-F238E27FC236}">
                <a16:creationId xmlns:a16="http://schemas.microsoft.com/office/drawing/2014/main" id="{AF99E9D8-9873-BCDF-80EA-57431DEFD123}"/>
              </a:ext>
            </a:extLst>
          </p:cNvPr>
          <p:cNvSpPr/>
          <p:nvPr/>
        </p:nvSpPr>
        <p:spPr>
          <a:xfrm>
            <a:off x="11042158" y="309412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title</a:t>
            </a:r>
          </a:p>
        </p:txBody>
      </p:sp>
      <p:cxnSp>
        <p:nvCxnSpPr>
          <p:cNvPr id="64" name="Straight Connector 63">
            <a:extLst>
              <a:ext uri="{FF2B5EF4-FFF2-40B4-BE49-F238E27FC236}">
                <a16:creationId xmlns:a16="http://schemas.microsoft.com/office/drawing/2014/main" id="{D1A7A69D-F58C-8F0F-4A21-BE0A26428C6A}"/>
              </a:ext>
            </a:extLst>
          </p:cNvPr>
          <p:cNvCxnSpPr>
            <a:cxnSpLocks/>
            <a:endCxn id="61" idx="2"/>
          </p:cNvCxnSpPr>
          <p:nvPr/>
        </p:nvCxnSpPr>
        <p:spPr>
          <a:xfrm flipH="1" flipV="1">
            <a:off x="11599208" y="4007979"/>
            <a:ext cx="1383" cy="1481320"/>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C9D4F6-492E-9A5E-B60A-643CE9771352}"/>
              </a:ext>
            </a:extLst>
          </p:cNvPr>
          <p:cNvSpPr txBox="1"/>
          <p:nvPr/>
        </p:nvSpPr>
        <p:spPr>
          <a:xfrm>
            <a:off x="9935347" y="4982098"/>
            <a:ext cx="2382777" cy="523220"/>
          </a:xfrm>
          <a:prstGeom prst="rect">
            <a:avLst/>
          </a:prstGeom>
          <a:noFill/>
        </p:spPr>
        <p:txBody>
          <a:bodyPr wrap="square" rtlCol="0">
            <a:spAutoFit/>
          </a:bodyPr>
          <a:lstStyle/>
          <a:p>
            <a:r>
              <a:rPr lang="en-AU" sz="2800" dirty="0">
                <a:latin typeface="Calibir"/>
              </a:rPr>
              <a:t>Borrowed by</a:t>
            </a:r>
          </a:p>
        </p:txBody>
      </p:sp>
      <p:sp>
        <p:nvSpPr>
          <p:cNvPr id="66" name="Rectangle 65">
            <a:extLst>
              <a:ext uri="{FF2B5EF4-FFF2-40B4-BE49-F238E27FC236}">
                <a16:creationId xmlns:a16="http://schemas.microsoft.com/office/drawing/2014/main" id="{A37C9499-4AA4-93D1-1FF3-A4602679FD96}"/>
              </a:ext>
            </a:extLst>
          </p:cNvPr>
          <p:cNvSpPr/>
          <p:nvPr/>
        </p:nvSpPr>
        <p:spPr>
          <a:xfrm>
            <a:off x="8652372" y="5730766"/>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email</a:t>
            </a:r>
          </a:p>
        </p:txBody>
      </p:sp>
      <p:sp>
        <p:nvSpPr>
          <p:cNvPr id="67" name="Rectangle 66">
            <a:extLst>
              <a:ext uri="{FF2B5EF4-FFF2-40B4-BE49-F238E27FC236}">
                <a16:creationId xmlns:a16="http://schemas.microsoft.com/office/drawing/2014/main" id="{9C4D9258-FCCE-94A8-238C-C605EF1FCE27}"/>
              </a:ext>
            </a:extLst>
          </p:cNvPr>
          <p:cNvSpPr/>
          <p:nvPr/>
        </p:nvSpPr>
        <p:spPr>
          <a:xfrm>
            <a:off x="8652372" y="5447707"/>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name</a:t>
            </a:r>
          </a:p>
        </p:txBody>
      </p:sp>
      <p:sp>
        <p:nvSpPr>
          <p:cNvPr id="68" name="Rectangle 67">
            <a:extLst>
              <a:ext uri="{FF2B5EF4-FFF2-40B4-BE49-F238E27FC236}">
                <a16:creationId xmlns:a16="http://schemas.microsoft.com/office/drawing/2014/main" id="{5302856C-A40D-C794-D712-C786E933BFCE}"/>
              </a:ext>
            </a:extLst>
          </p:cNvPr>
          <p:cNvSpPr/>
          <p:nvPr/>
        </p:nvSpPr>
        <p:spPr>
          <a:xfrm>
            <a:off x="8652371" y="5144574"/>
            <a:ext cx="1114097" cy="30535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id</a:t>
            </a:r>
          </a:p>
        </p:txBody>
      </p:sp>
      <p:sp>
        <p:nvSpPr>
          <p:cNvPr id="69" name="Rectangle 68">
            <a:extLst>
              <a:ext uri="{FF2B5EF4-FFF2-40B4-BE49-F238E27FC236}">
                <a16:creationId xmlns:a16="http://schemas.microsoft.com/office/drawing/2014/main" id="{34674519-7E7E-6CE8-D86B-41C04295045E}"/>
              </a:ext>
            </a:extLst>
          </p:cNvPr>
          <p:cNvSpPr/>
          <p:nvPr/>
        </p:nvSpPr>
        <p:spPr>
          <a:xfrm>
            <a:off x="8656331" y="6444569"/>
            <a:ext cx="1109564" cy="41343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Return(Book)</a:t>
            </a:r>
          </a:p>
        </p:txBody>
      </p:sp>
      <p:sp>
        <p:nvSpPr>
          <p:cNvPr id="70" name="Rectangle 69">
            <a:extLst>
              <a:ext uri="{FF2B5EF4-FFF2-40B4-BE49-F238E27FC236}">
                <a16:creationId xmlns:a16="http://schemas.microsoft.com/office/drawing/2014/main" id="{AC103744-514F-9E89-1DDB-38D8348B7832}"/>
              </a:ext>
            </a:extLst>
          </p:cNvPr>
          <p:cNvSpPr/>
          <p:nvPr/>
        </p:nvSpPr>
        <p:spPr>
          <a:xfrm>
            <a:off x="8651797" y="6026941"/>
            <a:ext cx="1114097" cy="4134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Borrow(Book)</a:t>
            </a:r>
          </a:p>
        </p:txBody>
      </p:sp>
      <p:sp>
        <p:nvSpPr>
          <p:cNvPr id="7" name="TextBox 6">
            <a:extLst>
              <a:ext uri="{FF2B5EF4-FFF2-40B4-BE49-F238E27FC236}">
                <a16:creationId xmlns:a16="http://schemas.microsoft.com/office/drawing/2014/main" id="{D7F14F2E-4533-B764-52B2-51389726F274}"/>
              </a:ext>
            </a:extLst>
          </p:cNvPr>
          <p:cNvSpPr txBox="1"/>
          <p:nvPr/>
        </p:nvSpPr>
        <p:spPr>
          <a:xfrm>
            <a:off x="58544" y="5169189"/>
            <a:ext cx="6209070" cy="1661993"/>
          </a:xfrm>
          <a:prstGeom prst="rect">
            <a:avLst/>
          </a:prstGeom>
          <a:noFill/>
        </p:spPr>
        <p:txBody>
          <a:bodyPr wrap="square">
            <a:spAutoFit/>
          </a:bodyPr>
          <a:lstStyle/>
          <a:p>
            <a:pPr>
              <a:buNone/>
            </a:pPr>
            <a:r>
              <a:rPr lang="en-US" sz="1700" b="1" dirty="0">
                <a:latin typeface="Calibir"/>
              </a:rPr>
              <a:t>Usage Example</a:t>
            </a:r>
            <a:endParaRPr lang="en-US" sz="1700" dirty="0">
              <a:latin typeface="Calibir"/>
            </a:endParaRPr>
          </a:p>
          <a:p>
            <a:pPr marL="633413" indent="-342900">
              <a:buFont typeface="+mj-lt"/>
              <a:buAutoNum type="arabicPeriod"/>
            </a:pPr>
            <a:r>
              <a:rPr lang="en-US" sz="1700" dirty="0">
                <a:latin typeface="Calibir"/>
              </a:rPr>
              <a:t>Create a library.</a:t>
            </a:r>
          </a:p>
          <a:p>
            <a:pPr marL="633413" indent="-342900">
              <a:buFont typeface="+mj-lt"/>
              <a:buAutoNum type="arabicPeriod"/>
            </a:pPr>
            <a:r>
              <a:rPr lang="en-US" sz="1700" dirty="0">
                <a:latin typeface="Calibir"/>
              </a:rPr>
              <a:t>Add some books.</a:t>
            </a:r>
          </a:p>
          <a:p>
            <a:pPr marL="633413" indent="-342900">
              <a:buFont typeface="+mj-lt"/>
              <a:buAutoNum type="arabicPeriod"/>
            </a:pPr>
            <a:r>
              <a:rPr lang="en-US" sz="1700" dirty="0">
                <a:latin typeface="Calibir"/>
              </a:rPr>
              <a:t>Create a member.</a:t>
            </a:r>
          </a:p>
          <a:p>
            <a:pPr marL="633413" indent="-342900">
              <a:buFont typeface="+mj-lt"/>
              <a:buAutoNum type="arabicPeriod"/>
            </a:pPr>
            <a:r>
              <a:rPr lang="en-US" sz="1700" dirty="0">
                <a:latin typeface="Calibir"/>
              </a:rPr>
              <a:t>Borrow and return books → see rules enforced (max 5, no double borrowing).</a:t>
            </a:r>
          </a:p>
        </p:txBody>
      </p:sp>
      <p:sp>
        <p:nvSpPr>
          <p:cNvPr id="2" name="Oval 1">
            <a:extLst>
              <a:ext uri="{FF2B5EF4-FFF2-40B4-BE49-F238E27FC236}">
                <a16:creationId xmlns:a16="http://schemas.microsoft.com/office/drawing/2014/main" id="{033F59AD-0DC7-C1C9-68EE-73D994219EBC}"/>
              </a:ext>
            </a:extLst>
          </p:cNvPr>
          <p:cNvSpPr/>
          <p:nvPr/>
        </p:nvSpPr>
        <p:spPr>
          <a:xfrm>
            <a:off x="9945446" y="5430798"/>
            <a:ext cx="157655" cy="15489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36893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67B8C-9F76-70F7-CFAF-4D846F21C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7FDFB-755D-5EBD-D4DB-A68EC40A057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5" name="TextBox 4">
            <a:extLst>
              <a:ext uri="{FF2B5EF4-FFF2-40B4-BE49-F238E27FC236}">
                <a16:creationId xmlns:a16="http://schemas.microsoft.com/office/drawing/2014/main" id="{34E348AB-ED53-0831-92B5-6E505FDFF108}"/>
              </a:ext>
            </a:extLst>
          </p:cNvPr>
          <p:cNvSpPr txBox="1"/>
          <p:nvPr/>
        </p:nvSpPr>
        <p:spPr>
          <a:xfrm>
            <a:off x="21020" y="1020747"/>
            <a:ext cx="12170979" cy="1968103"/>
          </a:xfrm>
          <a:prstGeom prst="rect">
            <a:avLst/>
          </a:prstGeom>
          <a:noFill/>
        </p:spPr>
        <p:txBody>
          <a:bodyPr wrap="square">
            <a:spAutoFit/>
          </a:bodyPr>
          <a:lstStyle/>
          <a:p>
            <a:pPr>
              <a:lnSpc>
                <a:spcPct val="150000"/>
              </a:lnSpc>
              <a:buNone/>
            </a:pPr>
            <a:r>
              <a:rPr lang="en-US" sz="2800" dirty="0">
                <a:latin typeface="Calibir"/>
              </a:rPr>
              <a:t>Code is also Available on GitHub (Please download it; we will have activities to extend it)</a:t>
            </a:r>
          </a:p>
          <a:p>
            <a:pPr>
              <a:lnSpc>
                <a:spcPct val="150000"/>
              </a:lnSpc>
              <a:buNone/>
            </a:pPr>
            <a:r>
              <a:rPr lang="en-US" sz="2800" dirty="0">
                <a:highlight>
                  <a:srgbClr val="FFFF00"/>
                </a:highlight>
              </a:rPr>
              <a:t>library_system.py</a:t>
            </a:r>
            <a:endParaRPr lang="en-US" sz="2800" dirty="0">
              <a:highlight>
                <a:srgbClr val="FFFF00"/>
              </a:highlight>
              <a:latin typeface="Calibir"/>
            </a:endParaRPr>
          </a:p>
        </p:txBody>
      </p:sp>
      <p:pic>
        <p:nvPicPr>
          <p:cNvPr id="6" name="Picture 5">
            <a:extLst>
              <a:ext uri="{FF2B5EF4-FFF2-40B4-BE49-F238E27FC236}">
                <a16:creationId xmlns:a16="http://schemas.microsoft.com/office/drawing/2014/main" id="{DB0DA416-995D-B52E-2DCC-74B82998CE9E}"/>
              </a:ext>
            </a:extLst>
          </p:cNvPr>
          <p:cNvPicPr>
            <a:picLocks noChangeAspect="1"/>
          </p:cNvPicPr>
          <p:nvPr/>
        </p:nvPicPr>
        <p:blipFill>
          <a:blip r:embed="rId2"/>
          <a:srcRect t="16434" r="40753" b="43440"/>
          <a:stretch>
            <a:fillRect/>
          </a:stretch>
        </p:blipFill>
        <p:spPr>
          <a:xfrm>
            <a:off x="-1" y="3006084"/>
            <a:ext cx="9879725" cy="3763748"/>
          </a:xfrm>
          <a:prstGeom prst="rect">
            <a:avLst/>
          </a:prstGeom>
        </p:spPr>
      </p:pic>
    </p:spTree>
    <p:extLst>
      <p:ext uri="{BB962C8B-B14F-4D97-AF65-F5344CB8AC3E}">
        <p14:creationId xmlns:p14="http://schemas.microsoft.com/office/powerpoint/2010/main" val="16523191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2C9A-47FA-7678-4C71-D7524ABA8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B763E-3684-7C27-BFD4-E3DD62932AA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6" name="Picture 5">
            <a:extLst>
              <a:ext uri="{FF2B5EF4-FFF2-40B4-BE49-F238E27FC236}">
                <a16:creationId xmlns:a16="http://schemas.microsoft.com/office/drawing/2014/main" id="{65DFD99E-CA86-B423-00F0-5B69B9FF5CE1}"/>
              </a:ext>
            </a:extLst>
          </p:cNvPr>
          <p:cNvPicPr>
            <a:picLocks noChangeAspect="1"/>
          </p:cNvPicPr>
          <p:nvPr/>
        </p:nvPicPr>
        <p:blipFill>
          <a:blip r:embed="rId2"/>
          <a:srcRect l="31555" t="8359" r="9808" b="46210"/>
          <a:stretch>
            <a:fillRect/>
          </a:stretch>
        </p:blipFill>
        <p:spPr>
          <a:xfrm>
            <a:off x="23045" y="718014"/>
            <a:ext cx="12168956" cy="5303353"/>
          </a:xfrm>
          <a:prstGeom prst="rect">
            <a:avLst/>
          </a:prstGeom>
        </p:spPr>
      </p:pic>
    </p:spTree>
    <p:extLst>
      <p:ext uri="{BB962C8B-B14F-4D97-AF65-F5344CB8AC3E}">
        <p14:creationId xmlns:p14="http://schemas.microsoft.com/office/powerpoint/2010/main" val="3764207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B6B2-7B3D-B8E2-9E67-5B6D6D3EA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AE690-A9B2-D11B-CDC7-4BEEB83945C0}"/>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B227A269-A0D5-B3C0-AD98-8A21B0B5C3E3}"/>
              </a:ext>
            </a:extLst>
          </p:cNvPr>
          <p:cNvSpPr>
            <a:spLocks noChangeArrowheads="1"/>
          </p:cNvSpPr>
          <p:nvPr/>
        </p:nvSpPr>
        <p:spPr bwMode="auto">
          <a:xfrm>
            <a:off x="0" y="1154083"/>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The Interactive Window option </a:t>
            </a:r>
            <a:br>
              <a:rPr kumimoji="0" lang="en-US" altLang="en-US" sz="280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belongs to the Python extension + </a:t>
            </a:r>
            <a:br>
              <a:rPr kumimoji="0" lang="en-US" altLang="en-US" sz="2800" i="0" u="none" strike="noStrike" cap="none" normalizeH="0" baseline="0" dirty="0">
                <a:ln>
                  <a:noFill/>
                </a:ln>
                <a:solidFill>
                  <a:schemeClr val="tx1"/>
                </a:solidFill>
                <a:effectLst/>
                <a:latin typeface="Calibir"/>
              </a:rPr>
            </a:br>
            <a:r>
              <a:rPr kumimoji="0" lang="en-US" altLang="en-US" sz="2800" i="0" u="none" strike="noStrike" cap="none" normalizeH="0" baseline="0" dirty="0" err="1">
                <a:ln>
                  <a:noFill/>
                </a:ln>
                <a:solidFill>
                  <a:schemeClr val="tx1"/>
                </a:solidFill>
                <a:effectLst/>
                <a:latin typeface="Calibir"/>
              </a:rPr>
              <a:t>Jupyter</a:t>
            </a:r>
            <a:r>
              <a:rPr kumimoji="0" lang="en-US" altLang="en-US" sz="2800" i="0" u="none" strike="noStrike" cap="none" normalizeH="0" baseline="0" dirty="0">
                <a:ln>
                  <a:noFill/>
                </a:ln>
                <a:solidFill>
                  <a:schemeClr val="tx1"/>
                </a:solidFill>
                <a:effectLst/>
                <a:latin typeface="Calibir"/>
              </a:rPr>
              <a:t> extension in VS Code.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If you only see “Run in Terminal”, it means either: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 </a:t>
            </a:r>
            <a:r>
              <a:rPr kumimoji="0" lang="en-US" altLang="en-US" sz="2800" i="0" u="none" strike="noStrike" cap="none" normalizeH="0" baseline="0" dirty="0" err="1">
                <a:ln>
                  <a:noFill/>
                </a:ln>
                <a:solidFill>
                  <a:schemeClr val="tx1"/>
                </a:solidFill>
                <a:effectLst/>
                <a:latin typeface="Calibir"/>
              </a:rPr>
              <a:t>Jupyter</a:t>
            </a:r>
            <a:r>
              <a:rPr kumimoji="0" lang="en-US" altLang="en-US" sz="2800" i="0" u="none" strike="noStrike" cap="none" normalizeH="0" baseline="0" dirty="0">
                <a:ln>
                  <a:noFill/>
                </a:ln>
                <a:solidFill>
                  <a:schemeClr val="tx1"/>
                </a:solidFill>
                <a:effectLst/>
                <a:latin typeface="Calibir"/>
              </a:rPr>
              <a:t> extension is not installed, or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 file is not saved as .</a:t>
            </a:r>
            <a:r>
              <a:rPr kumimoji="0" lang="en-US" altLang="en-US" sz="2800" i="0" u="none" strike="noStrike" cap="none" normalizeH="0" baseline="0" dirty="0" err="1">
                <a:ln>
                  <a:noFill/>
                </a:ln>
                <a:solidFill>
                  <a:schemeClr val="tx1"/>
                </a:solidFill>
                <a:effectLst/>
                <a:latin typeface="Calibir"/>
              </a:rPr>
              <a:t>py</a:t>
            </a:r>
            <a:r>
              <a:rPr kumimoji="0" lang="en-US" altLang="en-US" sz="2800" i="0" u="none" strike="noStrike" cap="none" normalizeH="0" baseline="0" dirty="0">
                <a:ln>
                  <a:noFill/>
                </a:ln>
                <a:solidFill>
                  <a:schemeClr val="tx1"/>
                </a:solidFill>
                <a:effectLst/>
                <a:latin typeface="Calibir"/>
              </a:rPr>
              <a:t>, or</a:t>
            </a:r>
          </a:p>
          <a:p>
            <a:pPr marL="1166813"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i="0" u="none" strike="noStrike" cap="none" normalizeH="0" baseline="0" dirty="0">
                <a:ln>
                  <a:noFill/>
                </a:ln>
                <a:solidFill>
                  <a:schemeClr val="tx1"/>
                </a:solidFill>
                <a:effectLst/>
                <a:latin typeface="Calibir"/>
              </a:rPr>
              <a:t>They haven’t selected the right Python interpreter / kernel.</a:t>
            </a:r>
          </a:p>
        </p:txBody>
      </p:sp>
      <p:pic>
        <p:nvPicPr>
          <p:cNvPr id="4" name="Picture 3">
            <a:extLst>
              <a:ext uri="{FF2B5EF4-FFF2-40B4-BE49-F238E27FC236}">
                <a16:creationId xmlns:a16="http://schemas.microsoft.com/office/drawing/2014/main" id="{FC56400A-9EA1-0D07-35A3-A9276E421EBD}"/>
              </a:ext>
            </a:extLst>
          </p:cNvPr>
          <p:cNvPicPr>
            <a:picLocks noChangeAspect="1"/>
          </p:cNvPicPr>
          <p:nvPr/>
        </p:nvPicPr>
        <p:blipFill>
          <a:blip r:embed="rId2"/>
          <a:srcRect l="54096" t="8358" r="9808" b="67473"/>
          <a:stretch>
            <a:fillRect/>
          </a:stretch>
        </p:blipFill>
        <p:spPr>
          <a:xfrm>
            <a:off x="6096000" y="718015"/>
            <a:ext cx="6096000" cy="2295897"/>
          </a:xfrm>
          <a:prstGeom prst="rect">
            <a:avLst/>
          </a:prstGeom>
        </p:spPr>
      </p:pic>
    </p:spTree>
    <p:extLst>
      <p:ext uri="{BB962C8B-B14F-4D97-AF65-F5344CB8AC3E}">
        <p14:creationId xmlns:p14="http://schemas.microsoft.com/office/powerpoint/2010/main" val="3862345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2530-83AD-C693-807D-1CC050C18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F1722-07FA-DD09-3410-4F7319B98590}"/>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06DACF1B-D61C-02DF-A529-61559571B014}"/>
              </a:ext>
            </a:extLst>
          </p:cNvPr>
          <p:cNvSpPr>
            <a:spLocks noChangeArrowheads="1"/>
          </p:cNvSpPr>
          <p:nvPr/>
        </p:nvSpPr>
        <p:spPr bwMode="auto">
          <a:xfrm>
            <a:off x="0" y="1154082"/>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Fix Steps:</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Check the file extension</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Save your file as something.py.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it’s .txt or unsaved, VS Code won’t show Interactive Window.</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Install the </a:t>
            </a:r>
            <a:r>
              <a:rPr lang="en-US" altLang="en-US" sz="2800" b="1" dirty="0" err="1">
                <a:latin typeface="Calibir"/>
              </a:rPr>
              <a:t>Jupyter</a:t>
            </a:r>
            <a:r>
              <a:rPr lang="en-US" altLang="en-US" sz="2800" b="1" dirty="0">
                <a:latin typeface="Calibir"/>
              </a:rPr>
              <a:t> extension</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Go to the </a:t>
            </a:r>
            <a:r>
              <a:rPr lang="en-US" altLang="en-US" sz="2800" b="1" dirty="0">
                <a:latin typeface="Calibir"/>
              </a:rPr>
              <a:t>Extensions</a:t>
            </a:r>
            <a:r>
              <a:rPr lang="en-US" altLang="en-US" sz="2800" dirty="0">
                <a:latin typeface="Calibir"/>
              </a:rPr>
              <a:t> panel (</a:t>
            </a:r>
            <a:r>
              <a:rPr lang="en-US" altLang="en-US" sz="2800" dirty="0" err="1">
                <a:latin typeface="Calibir"/>
              </a:rPr>
              <a:t>Ctrl+Shift+X</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Search for </a:t>
            </a:r>
            <a:r>
              <a:rPr lang="en-US" altLang="en-US" sz="2800" b="1" dirty="0">
                <a:latin typeface="Calibir"/>
              </a:rPr>
              <a:t>“</a:t>
            </a:r>
            <a:r>
              <a:rPr lang="en-US" altLang="en-US" sz="2800" b="1" dirty="0" err="1">
                <a:latin typeface="Calibir"/>
              </a:rPr>
              <a:t>Jupyter</a:t>
            </a:r>
            <a:r>
              <a:rPr lang="en-US" altLang="en-US" sz="2800" b="1" dirty="0">
                <a:latin typeface="Calibir"/>
              </a:rPr>
              <a:t>”</a:t>
            </a:r>
            <a:r>
              <a:rPr lang="en-US" altLang="en-US" sz="2800" dirty="0">
                <a:latin typeface="Calibir"/>
              </a:rPr>
              <a:t> and install it (alongside Python extension).</a:t>
            </a:r>
          </a:p>
        </p:txBody>
      </p:sp>
    </p:spTree>
    <p:extLst>
      <p:ext uri="{BB962C8B-B14F-4D97-AF65-F5344CB8AC3E}">
        <p14:creationId xmlns:p14="http://schemas.microsoft.com/office/powerpoint/2010/main" val="192460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0988-38B1-9D13-184D-A4BD26C72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DA508-750F-7D42-118C-148E67E79833}"/>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E180B502-61D3-A39E-8AA5-96FBFC9D3B81}"/>
              </a:ext>
            </a:extLst>
          </p:cNvPr>
          <p:cNvSpPr>
            <a:spLocks noChangeArrowheads="1"/>
          </p:cNvSpPr>
          <p:nvPr/>
        </p:nvSpPr>
        <p:spPr bwMode="auto">
          <a:xfrm>
            <a:off x="0" y="1478689"/>
            <a:ext cx="12192000" cy="39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50000"/>
              </a:lnSpc>
              <a:spcBef>
                <a:spcPct val="0"/>
              </a:spcBef>
              <a:spcAft>
                <a:spcPct val="0"/>
              </a:spcAft>
              <a:buFont typeface="+mj-lt"/>
              <a:buAutoNum type="arabicPeriod" startAt="3"/>
            </a:pPr>
            <a:r>
              <a:rPr lang="en-US" altLang="en-US" sz="2800" b="1" dirty="0">
                <a:latin typeface="Calibir"/>
              </a:rPr>
              <a:t>Select Python interpreter</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Press </a:t>
            </a:r>
            <a:r>
              <a:rPr lang="en-US" altLang="en-US" sz="2800" b="1" dirty="0" err="1">
                <a:latin typeface="Calibir"/>
              </a:rPr>
              <a:t>Ctrl+Shift+P</a:t>
            </a:r>
            <a:r>
              <a:rPr lang="en-US" altLang="en-US" sz="2800" b="1" dirty="0">
                <a:latin typeface="Calibir"/>
              </a:rPr>
              <a:t> → Python: Select Interpreter</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Choose the one where you installed Python (or Anaconda if using it).</a:t>
            </a:r>
          </a:p>
          <a:p>
            <a:pPr marL="514350" lvl="0" indent="-514350" eaLnBrk="0" fontAlgn="base" hangingPunct="0">
              <a:lnSpc>
                <a:spcPct val="150000"/>
              </a:lnSpc>
              <a:spcBef>
                <a:spcPct val="0"/>
              </a:spcBef>
              <a:spcAft>
                <a:spcPct val="0"/>
              </a:spcAft>
              <a:buFont typeface="+mj-lt"/>
              <a:buAutoNum type="arabicPeriod" startAt="4"/>
            </a:pPr>
            <a:r>
              <a:rPr lang="en-US" altLang="en-US" sz="2800" b="1" dirty="0">
                <a:latin typeface="Calibir"/>
              </a:rPr>
              <a:t>Run with Interactive Window</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Right-click inside the code editor → </a:t>
            </a:r>
            <a:r>
              <a:rPr lang="en-US" altLang="en-US" sz="2800" b="1" dirty="0">
                <a:latin typeface="Calibir"/>
              </a:rPr>
              <a:t>Run Current File in Interactive Window</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Or use the top-right </a:t>
            </a:r>
            <a:r>
              <a:rPr lang="en-US" altLang="en-US" sz="2800" b="1" dirty="0">
                <a:latin typeface="Calibir"/>
              </a:rPr>
              <a:t>“Run” menu</a:t>
            </a:r>
            <a:r>
              <a:rPr lang="en-US" altLang="en-US" sz="2800" dirty="0">
                <a:latin typeface="Calibir"/>
              </a:rPr>
              <a:t>.</a:t>
            </a:r>
          </a:p>
        </p:txBody>
      </p:sp>
    </p:spTree>
    <p:extLst>
      <p:ext uri="{BB962C8B-B14F-4D97-AF65-F5344CB8AC3E}">
        <p14:creationId xmlns:p14="http://schemas.microsoft.com/office/powerpoint/2010/main" val="24071302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C8C48-13AA-5E2F-EFF1-6CE4A3277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DAFDF-0D0B-F7C2-2AA3-FA5AEDBDFB54}"/>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sp>
        <p:nvSpPr>
          <p:cNvPr id="3" name="Rectangle 1">
            <a:extLst>
              <a:ext uri="{FF2B5EF4-FFF2-40B4-BE49-F238E27FC236}">
                <a16:creationId xmlns:a16="http://schemas.microsoft.com/office/drawing/2014/main" id="{022D210B-FAD1-DAFE-1896-872D533301DB}"/>
              </a:ext>
            </a:extLst>
          </p:cNvPr>
          <p:cNvSpPr>
            <a:spLocks noChangeArrowheads="1"/>
          </p:cNvSpPr>
          <p:nvPr/>
        </p:nvSpPr>
        <p:spPr bwMode="auto">
          <a:xfrm>
            <a:off x="0" y="2446744"/>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In short:</a:t>
            </a:r>
          </a:p>
          <a:p>
            <a:pPr lvl="0" eaLnBrk="0" fontAlgn="base" hangingPunct="0">
              <a:lnSpc>
                <a:spcPct val="150000"/>
              </a:lnSpc>
              <a:spcBef>
                <a:spcPct val="0"/>
              </a:spcBef>
              <a:spcAft>
                <a:spcPct val="0"/>
              </a:spcAft>
            </a:pPr>
            <a:r>
              <a:rPr lang="en-US" altLang="en-US" sz="2800" dirty="0">
                <a:latin typeface="Calibir"/>
              </a:rPr>
              <a:t>If you don’t see Interactive Window, don’t panic. Save your file as .</a:t>
            </a:r>
            <a:r>
              <a:rPr lang="en-US" altLang="en-US" sz="2800" dirty="0" err="1">
                <a:latin typeface="Calibir"/>
              </a:rPr>
              <a:t>py</a:t>
            </a:r>
            <a:r>
              <a:rPr lang="en-US" altLang="en-US" sz="2800" dirty="0">
                <a:latin typeface="Calibir"/>
              </a:rPr>
              <a:t>, install the </a:t>
            </a:r>
            <a:r>
              <a:rPr lang="en-US" altLang="en-US" sz="2800" dirty="0" err="1">
                <a:latin typeface="Calibir"/>
              </a:rPr>
              <a:t>Jupyter</a:t>
            </a:r>
            <a:r>
              <a:rPr lang="en-US" altLang="en-US" sz="2800" dirty="0">
                <a:latin typeface="Calibir"/>
              </a:rPr>
              <a:t> extension, and pick the right Python interpreter. Then it will appear </a:t>
            </a:r>
          </a:p>
        </p:txBody>
      </p:sp>
    </p:spTree>
    <p:extLst>
      <p:ext uri="{BB962C8B-B14F-4D97-AF65-F5344CB8AC3E}">
        <p14:creationId xmlns:p14="http://schemas.microsoft.com/office/powerpoint/2010/main" val="2477537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D061-7801-8416-EF38-C6584D101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ED683-3999-5791-0D5B-961EAEA57B0D}"/>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1D78BB50-E31C-3B94-EBC4-C4804B5097CE}"/>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40BC1705-50A3-E656-8C59-5DE62757545E}"/>
              </a:ext>
            </a:extLst>
          </p:cNvPr>
          <p:cNvSpPr>
            <a:spLocks noChangeArrowheads="1"/>
          </p:cNvSpPr>
          <p:nvPr/>
        </p:nvSpPr>
        <p:spPr bwMode="auto">
          <a:xfrm>
            <a:off x="6521856" y="486760"/>
            <a:ext cx="5536814" cy="64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Farshid Keivanian borrowed 'Python Basics'.</a:t>
            </a:r>
            <a:endParaRPr kumimoji="0" lang="en-US" altLang="en-US" sz="2800" b="0" i="0" u="none" strike="noStrike" cap="none" normalizeH="0" baseline="0" dirty="0">
              <a:ln>
                <a:noFill/>
              </a:ln>
              <a:solidFill>
                <a:schemeClr val="tx1"/>
              </a:solidFill>
              <a:effectLst/>
              <a:latin typeface="Calibir"/>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The member successfully borrowed the book.</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Conditions checked:</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He had fewer than 5 books.</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The book was available.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So the book’s status changed to </a:t>
            </a:r>
            <a:r>
              <a:rPr kumimoji="0" lang="en-US" altLang="en-US" sz="2800" i="0" u="none" strike="noStrike" cap="none" normalizeH="0" baseline="0" dirty="0">
                <a:ln>
                  <a:noFill/>
                </a:ln>
                <a:solidFill>
                  <a:schemeClr val="tx1"/>
                </a:solidFill>
                <a:effectLst/>
                <a:latin typeface="Calibir"/>
              </a:rPr>
              <a:t>borrowed</a:t>
            </a:r>
            <a:r>
              <a:rPr kumimoji="0" lang="en-US" altLang="en-US" sz="2800" b="0" i="0" u="none" strike="noStrike" cap="none" normalizeH="0" baseline="0" dirty="0">
                <a:ln>
                  <a:noFill/>
                </a:ln>
                <a:solidFill>
                  <a:schemeClr val="tx1"/>
                </a:solidFill>
                <a:effectLst/>
                <a:latin typeface="Calibir"/>
              </a:rPr>
              <a:t>, and it was added to his borrowed list.</a:t>
            </a:r>
          </a:p>
        </p:txBody>
      </p:sp>
      <p:sp>
        <p:nvSpPr>
          <p:cNvPr id="5" name="Rectangle: Rounded Corners 4">
            <a:extLst>
              <a:ext uri="{FF2B5EF4-FFF2-40B4-BE49-F238E27FC236}">
                <a16:creationId xmlns:a16="http://schemas.microsoft.com/office/drawing/2014/main" id="{E34FA37D-1134-A63A-E586-F40BC85F57DF}"/>
              </a:ext>
            </a:extLst>
          </p:cNvPr>
          <p:cNvSpPr/>
          <p:nvPr/>
        </p:nvSpPr>
        <p:spPr>
          <a:xfrm>
            <a:off x="683172" y="3951890"/>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834092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1AA2-AB93-9779-CFB5-BF8B5DDD4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52ECA-FCA7-CE85-16CC-C5A9B9566BDB}"/>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8B57D749-3E68-0679-C304-60CB78DE6197}"/>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357C91D9-830F-FC8E-A59A-02ADAA89D3B7}"/>
              </a:ext>
            </a:extLst>
          </p:cNvPr>
          <p:cNvSpPr>
            <a:spLocks noChangeArrowheads="1"/>
          </p:cNvSpPr>
          <p:nvPr/>
        </p:nvSpPr>
        <p:spPr bwMode="auto">
          <a:xfrm>
            <a:off x="6484883" y="672662"/>
            <a:ext cx="5536814"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Book 'Python Basics' is already borrowed.</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member tried to borrow the same book again.</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system detected the book’s status was already borrowed, so it blocked the action.</a:t>
            </a:r>
          </a:p>
        </p:txBody>
      </p:sp>
      <p:sp>
        <p:nvSpPr>
          <p:cNvPr id="5" name="Rectangle: Rounded Corners 4">
            <a:extLst>
              <a:ext uri="{FF2B5EF4-FFF2-40B4-BE49-F238E27FC236}">
                <a16:creationId xmlns:a16="http://schemas.microsoft.com/office/drawing/2014/main" id="{B2B15C08-636F-ED74-13FC-8C37576BB5A0}"/>
              </a:ext>
            </a:extLst>
          </p:cNvPr>
          <p:cNvSpPr/>
          <p:nvPr/>
        </p:nvSpPr>
        <p:spPr>
          <a:xfrm>
            <a:off x="683172" y="42777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08484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35B2-3FDB-BAB7-010F-F879D89B3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4F351-900C-42B5-3D1F-F42D3BB58D3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B3ABEF73-4C04-991B-1A2C-EA0235970EF6}"/>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0015447B-4A9B-022E-2DDE-3406E9EC29B0}"/>
              </a:ext>
            </a:extLst>
          </p:cNvPr>
          <p:cNvSpPr>
            <a:spLocks noChangeArrowheads="1"/>
          </p:cNvSpPr>
          <p:nvPr/>
        </p:nvSpPr>
        <p:spPr bwMode="auto">
          <a:xfrm>
            <a:off x="6484883" y="672662"/>
            <a:ext cx="5536814"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Farshid Keivanian returned 'Python Basics'.</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member returned the book successfully.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book’s status changed back to available, and it was removed from his borrowed list.</a:t>
            </a:r>
          </a:p>
        </p:txBody>
      </p:sp>
      <p:sp>
        <p:nvSpPr>
          <p:cNvPr id="5" name="Rectangle: Rounded Corners 4">
            <a:extLst>
              <a:ext uri="{FF2B5EF4-FFF2-40B4-BE49-F238E27FC236}">
                <a16:creationId xmlns:a16="http://schemas.microsoft.com/office/drawing/2014/main" id="{4FE5568D-C47A-20A9-63A0-D8E7055FF07F}"/>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081893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1FD43-667B-1C51-BB97-2755A0BFA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6CE2E-5840-2E30-291B-846DE855B689}"/>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8A9CCE29-84D8-A06C-3A3E-50B390847B1F}"/>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D210F3F8-CAA8-7969-4BDA-0388BCC2A9B5}"/>
              </a:ext>
            </a:extLst>
          </p:cNvPr>
          <p:cNvSpPr>
            <a:spLocks noChangeArrowheads="1"/>
          </p:cNvSpPr>
          <p:nvPr/>
        </p:nvSpPr>
        <p:spPr bwMode="auto">
          <a:xfrm>
            <a:off x="6484883" y="672662"/>
            <a:ext cx="5536814"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Final State After Code Runs</a:t>
            </a:r>
          </a:p>
          <a:p>
            <a:pPr marL="714375" indent="-457200">
              <a:lnSpc>
                <a:spcPct val="150000"/>
              </a:lnSpc>
              <a:buFont typeface="Arial" panose="020B0604020202020204" pitchFamily="34" charset="0"/>
              <a:buChar char="•"/>
            </a:pPr>
            <a:r>
              <a:rPr lang="en-US" sz="2800" dirty="0">
                <a:latin typeface="Calibir"/>
              </a:rPr>
              <a:t>Library: Still has the book.</a:t>
            </a:r>
          </a:p>
          <a:p>
            <a:pPr marL="714375" indent="-457200">
              <a:lnSpc>
                <a:spcPct val="150000"/>
              </a:lnSpc>
              <a:buFont typeface="Arial" panose="020B0604020202020204" pitchFamily="34" charset="0"/>
              <a:buChar char="•"/>
            </a:pPr>
            <a:r>
              <a:rPr lang="en-US" sz="2800" dirty="0">
                <a:latin typeface="Calibir"/>
              </a:rPr>
              <a:t>Book ("Python Basics"): Available again (not borrowed by anyone).</a:t>
            </a:r>
          </a:p>
          <a:p>
            <a:pPr marL="714375" indent="-457200">
              <a:lnSpc>
                <a:spcPct val="150000"/>
              </a:lnSpc>
              <a:buFont typeface="Arial" panose="020B0604020202020204" pitchFamily="34" charset="0"/>
              <a:buChar char="•"/>
            </a:pPr>
            <a:r>
              <a:rPr lang="en-US" sz="2800" dirty="0">
                <a:latin typeface="Calibir"/>
              </a:rPr>
              <a:t>Member (Farshid): Has no borrowed books.</a:t>
            </a:r>
          </a:p>
        </p:txBody>
      </p:sp>
      <p:sp>
        <p:nvSpPr>
          <p:cNvPr id="5" name="Rectangle: Rounded Corners 4">
            <a:extLst>
              <a:ext uri="{FF2B5EF4-FFF2-40B4-BE49-F238E27FC236}">
                <a16:creationId xmlns:a16="http://schemas.microsoft.com/office/drawing/2014/main" id="{7079DEAA-299C-7012-D80F-BA362EDC3591}"/>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23420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5789-8E92-A1A1-25E9-C55BF4C45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1627F-8055-8FBB-5F5A-667F13594D51}"/>
              </a:ext>
            </a:extLst>
          </p:cNvPr>
          <p:cNvSpPr>
            <a:spLocks noGrp="1"/>
          </p:cNvSpPr>
          <p:nvPr>
            <p:ph type="title"/>
          </p:nvPr>
        </p:nvSpPr>
        <p:spPr>
          <a:xfrm>
            <a:off x="0" y="0"/>
            <a:ext cx="12192000" cy="672662"/>
          </a:xfrm>
        </p:spPr>
        <p:txBody>
          <a:bodyPr anchor="b">
            <a:normAutofit/>
          </a:bodyPr>
          <a:lstStyle/>
          <a:p>
            <a:r>
              <a:rPr lang="en-US" sz="3600" b="1" dirty="0">
                <a:latin typeface="Calibir"/>
              </a:rPr>
              <a:t>From UML Diagram to Code: Library Example (</a:t>
            </a:r>
            <a:r>
              <a:rPr lang="en-US" sz="3600" b="1" dirty="0">
                <a:highlight>
                  <a:srgbClr val="00FF00"/>
                </a:highlight>
                <a:latin typeface="Calibir"/>
              </a:rPr>
              <a:t>Python</a:t>
            </a:r>
            <a:r>
              <a:rPr lang="en-US" sz="3600" b="1" dirty="0">
                <a:latin typeface="Calibir"/>
              </a:rPr>
              <a:t>)</a:t>
            </a:r>
            <a:endParaRPr lang="en-AU" sz="3600" b="1" dirty="0">
              <a:latin typeface="Calibir"/>
            </a:endParaRPr>
          </a:p>
        </p:txBody>
      </p:sp>
      <p:pic>
        <p:nvPicPr>
          <p:cNvPr id="4" name="Picture 3">
            <a:extLst>
              <a:ext uri="{FF2B5EF4-FFF2-40B4-BE49-F238E27FC236}">
                <a16:creationId xmlns:a16="http://schemas.microsoft.com/office/drawing/2014/main" id="{4404E7B6-FADA-7382-6655-D2335DE5DBCB}"/>
              </a:ext>
            </a:extLst>
          </p:cNvPr>
          <p:cNvPicPr>
            <a:picLocks noChangeAspect="1"/>
          </p:cNvPicPr>
          <p:nvPr/>
        </p:nvPicPr>
        <p:blipFill>
          <a:blip r:embed="rId2"/>
          <a:srcRect l="51895" b="42581"/>
          <a:stretch>
            <a:fillRect/>
          </a:stretch>
        </p:blipFill>
        <p:spPr>
          <a:xfrm>
            <a:off x="36973" y="672662"/>
            <a:ext cx="6447910" cy="4329233"/>
          </a:xfrm>
          <a:prstGeom prst="rect">
            <a:avLst/>
          </a:prstGeom>
        </p:spPr>
      </p:pic>
      <p:sp>
        <p:nvSpPr>
          <p:cNvPr id="3" name="Rectangle 1">
            <a:extLst>
              <a:ext uri="{FF2B5EF4-FFF2-40B4-BE49-F238E27FC236}">
                <a16:creationId xmlns:a16="http://schemas.microsoft.com/office/drawing/2014/main" id="{3E942744-21A1-0B08-1E11-B3020CD296BF}"/>
              </a:ext>
            </a:extLst>
          </p:cNvPr>
          <p:cNvSpPr>
            <a:spLocks noChangeArrowheads="1"/>
          </p:cNvSpPr>
          <p:nvPr/>
        </p:nvSpPr>
        <p:spPr bwMode="auto">
          <a:xfrm>
            <a:off x="6484883" y="679007"/>
            <a:ext cx="553681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In short: The code correctly enforces the borrowing rules:</a:t>
            </a:r>
          </a:p>
          <a:p>
            <a:pPr marL="714375" indent="-457200">
              <a:lnSpc>
                <a:spcPct val="150000"/>
              </a:lnSpc>
              <a:buFont typeface="Arial" panose="020B0604020202020204" pitchFamily="34" charset="0"/>
              <a:buChar char="•"/>
            </a:pPr>
            <a:r>
              <a:rPr lang="en-US" sz="2800" dirty="0">
                <a:latin typeface="Calibir"/>
              </a:rPr>
              <a:t>Borrow once works.</a:t>
            </a:r>
          </a:p>
          <a:p>
            <a:pPr marL="714375" indent="-457200">
              <a:lnSpc>
                <a:spcPct val="150000"/>
              </a:lnSpc>
              <a:buFont typeface="Arial" panose="020B0604020202020204" pitchFamily="34" charset="0"/>
              <a:buChar char="•"/>
            </a:pPr>
            <a:r>
              <a:rPr lang="en-US" sz="2800" dirty="0">
                <a:latin typeface="Calibir"/>
              </a:rPr>
              <a:t>Borrowing again is blocked.</a:t>
            </a:r>
          </a:p>
          <a:p>
            <a:pPr marL="714375" indent="-457200">
              <a:lnSpc>
                <a:spcPct val="150000"/>
              </a:lnSpc>
              <a:buFont typeface="Arial" panose="020B0604020202020204" pitchFamily="34" charset="0"/>
              <a:buChar char="•"/>
            </a:pPr>
            <a:r>
              <a:rPr lang="en-US" sz="2800" dirty="0">
                <a:latin typeface="Calibir"/>
              </a:rPr>
              <a:t>Returning resets the book’s status.</a:t>
            </a:r>
          </a:p>
        </p:txBody>
      </p:sp>
      <p:sp>
        <p:nvSpPr>
          <p:cNvPr id="5" name="Rectangle: Rounded Corners 4">
            <a:extLst>
              <a:ext uri="{FF2B5EF4-FFF2-40B4-BE49-F238E27FC236}">
                <a16:creationId xmlns:a16="http://schemas.microsoft.com/office/drawing/2014/main" id="{A03CC4D5-1ABE-81A7-7457-C87F297EC475}"/>
              </a:ext>
            </a:extLst>
          </p:cNvPr>
          <p:cNvSpPr/>
          <p:nvPr/>
        </p:nvSpPr>
        <p:spPr>
          <a:xfrm>
            <a:off x="683172" y="4582511"/>
            <a:ext cx="5412828" cy="3363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394617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567374"/>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Task:</a:t>
            </a:r>
            <a:r>
              <a:rPr kumimoji="0" lang="en-US" altLang="en-US" sz="2800" b="0" i="0" u="none" strike="noStrike" cap="none" normalizeH="0" baseline="0" dirty="0">
                <a:ln>
                  <a:noFill/>
                </a:ln>
                <a:solidFill>
                  <a:schemeClr val="tx1"/>
                </a:solidFill>
                <a:effectLst/>
                <a:latin typeface="Calibir"/>
              </a:rPr>
              <a:t> When a member hits the 5-book limit, show how many they already have.</a:t>
            </a:r>
            <a:br>
              <a:rPr kumimoji="0" lang="en-US" altLang="en-US" sz="2800" b="0" i="0" u="none" strike="noStrike" cap="none" normalizeH="0" baseline="0" dirty="0">
                <a:ln>
                  <a:noFill/>
                </a:ln>
                <a:solidFill>
                  <a:schemeClr val="tx1"/>
                </a:solidFill>
                <a:effectLst/>
                <a:latin typeface="Calibir"/>
              </a:rPr>
            </a:br>
            <a:r>
              <a:rPr kumimoji="0" lang="en-US" altLang="en-US" sz="2800" b="1" i="0" u="none" strike="noStrike" cap="none" normalizeH="0" baseline="0" dirty="0">
                <a:ln>
                  <a:noFill/>
                </a:ln>
                <a:solidFill>
                  <a:schemeClr val="tx1"/>
                </a:solidFill>
                <a:effectLst/>
                <a:latin typeface="Calibir"/>
              </a:rPr>
              <a:t>Hint for Python:</a:t>
            </a:r>
            <a:r>
              <a:rPr kumimoji="0" lang="en-US" altLang="en-US" sz="2800" b="0" i="0" u="none" strike="noStrike" cap="none" normalizeH="0" baseline="0" dirty="0">
                <a:ln>
                  <a:noFill/>
                </a:ln>
                <a:solidFill>
                  <a:schemeClr val="tx1"/>
                </a:solidFill>
                <a:effectLst/>
                <a:latin typeface="Calibir"/>
              </a:rPr>
              <a:t> Edit the </a:t>
            </a:r>
            <a:r>
              <a:rPr kumimoji="0" lang="en-US" altLang="en-US" sz="2800" i="0" u="none" strike="noStrike" cap="none" normalizeH="0" baseline="0" dirty="0">
                <a:ln>
                  <a:noFill/>
                </a:ln>
                <a:solidFill>
                  <a:schemeClr val="tx1"/>
                </a:solidFill>
                <a:effectLst/>
                <a:latin typeface="Calibir"/>
              </a:rPr>
              <a:t>first print(...) </a:t>
            </a:r>
            <a:r>
              <a:rPr kumimoji="0" lang="en-US" altLang="en-US" sz="2800" b="0" i="0" u="none" strike="noStrike" cap="none" normalizeH="0" baseline="0" dirty="0">
                <a:ln>
                  <a:noFill/>
                </a:ln>
                <a:solidFill>
                  <a:schemeClr val="tx1"/>
                </a:solidFill>
                <a:effectLst/>
                <a:latin typeface="Calibir"/>
              </a:rPr>
              <a:t>inside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where the limit is checked.</a:t>
            </a:r>
          </a:p>
          <a:p>
            <a:pPr lvl="0" eaLnBrk="0" fontAlgn="base" hangingPunct="0">
              <a:lnSpc>
                <a:spcPct val="150000"/>
              </a:lnSpc>
              <a:spcBef>
                <a:spcPct val="0"/>
              </a:spcBef>
              <a:spcAft>
                <a:spcPct val="0"/>
              </a:spcAft>
            </a:pPr>
            <a:r>
              <a:rPr lang="en-US" altLang="en-US" sz="2800" b="1" dirty="0">
                <a:latin typeface="Calibir"/>
              </a:rPr>
              <a:t>Hint for Java:</a:t>
            </a:r>
            <a:r>
              <a:rPr lang="en-US" altLang="en-US" sz="2800" dirty="0">
                <a:latin typeface="Calibir"/>
              </a:rPr>
              <a:t> Inside </a:t>
            </a:r>
            <a:r>
              <a:rPr lang="en-US" altLang="en-US" sz="2800" dirty="0" err="1">
                <a:latin typeface="Calibir"/>
              </a:rPr>
              <a:t>Member.borrow</a:t>
            </a:r>
            <a:r>
              <a:rPr lang="en-US" altLang="en-US" sz="2800" dirty="0">
                <a:latin typeface="Calibir"/>
              </a:rPr>
              <a:t>() in the limit check.</a:t>
            </a:r>
            <a:endParaRPr kumimoji="0" lang="en-US" altLang="en-US" sz="2800" i="0" u="none" strike="noStrike" cap="none" normalizeH="0" baseline="0" dirty="0">
              <a:ln>
                <a:noFill/>
              </a:ln>
              <a:solidFill>
                <a:schemeClr val="tx1"/>
              </a:solidFill>
              <a:effectLst/>
              <a:latin typeface="Calibir"/>
            </a:endParaRP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463057"/>
            <a:ext cx="1996596" cy="857075"/>
          </a:xfrm>
          <a:prstGeom prst="rect">
            <a:avLst/>
          </a:prstGeom>
          <a:ln w="38100">
            <a:solidFill>
              <a:srgbClr val="FF0000"/>
            </a:solidFill>
          </a:ln>
        </p:spPr>
      </p:pic>
    </p:spTree>
    <p:extLst>
      <p:ext uri="{BB962C8B-B14F-4D97-AF65-F5344CB8AC3E}">
        <p14:creationId xmlns:p14="http://schemas.microsoft.com/office/powerpoint/2010/main" val="4269408483"/>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9" name="TextBox 8">
            <a:extLst>
              <a:ext uri="{FF2B5EF4-FFF2-40B4-BE49-F238E27FC236}">
                <a16:creationId xmlns:a16="http://schemas.microsoft.com/office/drawing/2014/main" id="{52683913-22CC-AEBE-EBB4-3B1AE2E12BD3}"/>
              </a:ext>
            </a:extLst>
          </p:cNvPr>
          <p:cNvSpPr txBox="1"/>
          <p:nvPr/>
        </p:nvSpPr>
        <p:spPr>
          <a:xfrm>
            <a:off x="77514" y="858438"/>
            <a:ext cx="12036972" cy="1053558"/>
          </a:xfrm>
          <a:prstGeom prst="rect">
            <a:avLst/>
          </a:prstGeom>
          <a:solidFill>
            <a:schemeClr val="tx1"/>
          </a:solidFill>
        </p:spPr>
        <p:txBody>
          <a:bodyPr wrap="square">
            <a:spAutoFit/>
          </a:bodyPr>
          <a:lstStyle/>
          <a:p>
            <a:pPr>
              <a:lnSpc>
                <a:spcPct val="150000"/>
              </a:lnSpc>
              <a:buNone/>
            </a:pP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f</a:t>
            </a:r>
            <a:r>
              <a:rPr lang="en-US" sz="2200" b="0" dirty="0">
                <a:solidFill>
                  <a:srgbClr val="CE9178"/>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a:solidFill>
                  <a:srgbClr val="9CDCFE"/>
                </a:solidFill>
                <a:effectLst/>
                <a:latin typeface="Consolas" panose="020B0609020204030204" pitchFamily="49" charset="0"/>
              </a:rPr>
              <a:t>self</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name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cannot borrow more than 5 books (currently </a:t>
            </a:r>
            <a:r>
              <a:rPr lang="en-US" sz="2200" b="0" dirty="0">
                <a:solidFill>
                  <a:srgbClr val="569CD6"/>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len</a:t>
            </a:r>
            <a:r>
              <a:rPr lang="en-US" sz="2200" b="0" dirty="0">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borrowed_books</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/5)."</a:t>
            </a:r>
            <a:r>
              <a:rPr lang="en-US" sz="2200" b="0" dirty="0">
                <a:solidFill>
                  <a:srgbClr val="CCCCCC"/>
                </a:solidFill>
                <a:effectLst/>
                <a:latin typeface="Consolas" panose="020B0609020204030204" pitchFamily="49" charset="0"/>
              </a:rPr>
              <a:t>)</a:t>
            </a:r>
          </a:p>
        </p:txBody>
      </p:sp>
      <p:sp>
        <p:nvSpPr>
          <p:cNvPr id="10" name="Rectangle 2">
            <a:extLst>
              <a:ext uri="{FF2B5EF4-FFF2-40B4-BE49-F238E27FC236}">
                <a16:creationId xmlns:a16="http://schemas.microsoft.com/office/drawing/2014/main" id="{A35F8984-4872-0204-3DEC-A48F5126577F}"/>
              </a:ext>
            </a:extLst>
          </p:cNvPr>
          <p:cNvSpPr>
            <a:spLocks noChangeArrowheads="1"/>
          </p:cNvSpPr>
          <p:nvPr/>
        </p:nvSpPr>
        <p:spPr bwMode="auto">
          <a:xfrm>
            <a:off x="0" y="1911996"/>
            <a:ext cx="12192000" cy="3144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i="0" u="none" strike="noStrike" cap="none" normalizeH="0" baseline="0" dirty="0">
                <a:ln>
                  <a:noFill/>
                </a:ln>
                <a:solidFill>
                  <a:schemeClr val="tx1"/>
                </a:solidFill>
                <a:effectLst/>
                <a:latin typeface="Calibir"/>
              </a:rPr>
              <a:t>For Python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700" i="0" u="none" strike="noStrike" cap="none" normalizeH="0" baseline="0" dirty="0" err="1">
                <a:ln>
                  <a:noFill/>
                </a:ln>
                <a:solidFill>
                  <a:schemeClr val="tx1"/>
                </a:solidFill>
                <a:effectLst/>
                <a:latin typeface="Calibir"/>
              </a:rPr>
              <a:t>len</a:t>
            </a:r>
            <a:r>
              <a:rPr kumimoji="0" lang="en-US" altLang="en-US" sz="2700" i="0" u="none" strike="noStrike" cap="none" normalizeH="0" baseline="0" dirty="0">
                <a:ln>
                  <a:noFill/>
                </a:ln>
                <a:solidFill>
                  <a:schemeClr val="tx1"/>
                </a:solidFill>
                <a:effectLst/>
                <a:latin typeface="Calibir"/>
              </a:rPr>
              <a:t>(</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 → this calculates the length of the list </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700" i="0" u="none" strike="noStrike" cap="none" normalizeH="0" baseline="0" dirty="0">
                <a:ln>
                  <a:noFill/>
                </a:ln>
                <a:solidFill>
                  <a:schemeClr val="tx1"/>
                </a:solidFill>
                <a:effectLst/>
                <a:latin typeface="Calibir"/>
              </a:rPr>
              <a:t>In other words, it counts how many books the member has borrowed right now.</a:t>
            </a:r>
          </a:p>
          <a:p>
            <a:pPr marL="342900" lvl="0" indent="-342900" eaLnBrk="0" fontAlgn="base" hangingPunct="0">
              <a:lnSpc>
                <a:spcPct val="150000"/>
              </a:lnSpc>
              <a:spcBef>
                <a:spcPct val="0"/>
              </a:spcBef>
              <a:spcAft>
                <a:spcPct val="0"/>
              </a:spcAft>
              <a:buFont typeface="Arial" panose="020B0604020202020204" pitchFamily="34" charset="0"/>
              <a:buChar char="•"/>
            </a:pPr>
            <a:r>
              <a:rPr kumimoji="0" lang="en-US" altLang="en-US" sz="2700" i="0" u="none" strike="noStrike" cap="none" normalizeH="0" baseline="0" dirty="0">
                <a:ln>
                  <a:noFill/>
                </a:ln>
                <a:solidFill>
                  <a:schemeClr val="tx1"/>
                </a:solidFill>
                <a:effectLst/>
                <a:latin typeface="Calibir"/>
              </a:rPr>
              <a:t>Example: if the list has 3 books, then </a:t>
            </a:r>
            <a:r>
              <a:rPr kumimoji="0" lang="en-US" altLang="en-US" sz="2700" i="0" u="none" strike="noStrike" cap="none" normalizeH="0" baseline="0" dirty="0" err="1">
                <a:ln>
                  <a:noFill/>
                </a:ln>
                <a:solidFill>
                  <a:schemeClr val="tx1"/>
                </a:solidFill>
                <a:effectLst/>
                <a:latin typeface="Calibir"/>
              </a:rPr>
              <a:t>len</a:t>
            </a:r>
            <a:r>
              <a:rPr kumimoji="0" lang="en-US" altLang="en-US" sz="2700" i="0" u="none" strike="noStrike" cap="none" normalizeH="0" baseline="0" dirty="0">
                <a:ln>
                  <a:noFill/>
                </a:ln>
                <a:solidFill>
                  <a:schemeClr val="tx1"/>
                </a:solidFill>
                <a:effectLst/>
                <a:latin typeface="Calibir"/>
              </a:rPr>
              <a:t>(</a:t>
            </a:r>
            <a:r>
              <a:rPr kumimoji="0" lang="en-US" altLang="en-US" sz="2700" i="0" u="none" strike="noStrike" cap="none" normalizeH="0" baseline="0" dirty="0" err="1">
                <a:ln>
                  <a:noFill/>
                </a:ln>
                <a:solidFill>
                  <a:schemeClr val="tx1"/>
                </a:solidFill>
                <a:effectLst/>
                <a:latin typeface="Calibir"/>
              </a:rPr>
              <a:t>self.borrowed_books</a:t>
            </a:r>
            <a:r>
              <a:rPr kumimoji="0" lang="en-US" altLang="en-US" sz="2700" i="0" u="none" strike="noStrike" cap="none" normalizeH="0" baseline="0" dirty="0">
                <a:ln>
                  <a:noFill/>
                </a:ln>
                <a:solidFill>
                  <a:schemeClr val="tx1"/>
                </a:solidFill>
                <a:effectLst/>
                <a:latin typeface="Calibir"/>
              </a:rPr>
              <a:t>) = 3. </a:t>
            </a:r>
            <a:r>
              <a:rPr lang="en-US" sz="2700" dirty="0">
                <a:latin typeface="Calibir"/>
              </a:rPr>
              <a:t>Then the code prints it as: (currently 3/5) → which means 3 books out of the 5 allowed.</a:t>
            </a:r>
          </a:p>
        </p:txBody>
      </p:sp>
    </p:spTree>
    <p:extLst>
      <p:ext uri="{BB962C8B-B14F-4D97-AF65-F5344CB8AC3E}">
        <p14:creationId xmlns:p14="http://schemas.microsoft.com/office/powerpoint/2010/main" val="41309026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F80FE-7BE1-34C8-DADD-C2B05CF82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BDA8D-BB25-20C9-FF4F-321CE0129B76}"/>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1 — Show the current count when limit blocks borrowing</a:t>
            </a:r>
            <a:endParaRPr lang="en-AU" sz="3600" b="1" dirty="0">
              <a:latin typeface="Calibir"/>
            </a:endParaRPr>
          </a:p>
        </p:txBody>
      </p:sp>
      <p:sp>
        <p:nvSpPr>
          <p:cNvPr id="3" name="TextBox 2">
            <a:extLst>
              <a:ext uri="{FF2B5EF4-FFF2-40B4-BE49-F238E27FC236}">
                <a16:creationId xmlns:a16="http://schemas.microsoft.com/office/drawing/2014/main" id="{5BBCAAF1-E792-B9BB-F2AA-5312994B4895}"/>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30:</a:t>
            </a:r>
          </a:p>
        </p:txBody>
      </p:sp>
      <p:sp>
        <p:nvSpPr>
          <p:cNvPr id="6" name="TextBox 5">
            <a:extLst>
              <a:ext uri="{FF2B5EF4-FFF2-40B4-BE49-F238E27FC236}">
                <a16:creationId xmlns:a16="http://schemas.microsoft.com/office/drawing/2014/main" id="{D56FCD97-DDCA-5925-5C97-5AD9BE97E642}"/>
              </a:ext>
            </a:extLst>
          </p:cNvPr>
          <p:cNvSpPr txBox="1"/>
          <p:nvPr/>
        </p:nvSpPr>
        <p:spPr>
          <a:xfrm>
            <a:off x="0" y="4715119"/>
            <a:ext cx="12088761" cy="738664"/>
          </a:xfrm>
          <a:prstGeom prst="rect">
            <a:avLst/>
          </a:prstGeom>
          <a:solidFill>
            <a:schemeClr val="tx1"/>
          </a:solidFill>
        </p:spPr>
        <p:txBody>
          <a:bodyPr wrap="square">
            <a:spAutoFit/>
          </a:bodyPr>
          <a:lstStyle/>
          <a:p>
            <a:pPr>
              <a:buNone/>
            </a:pPr>
            <a:r>
              <a:rPr lang="en-US" sz="2100" b="0" dirty="0" err="1">
                <a:solidFill>
                  <a:srgbClr val="4EC9B0"/>
                </a:solidFill>
                <a:effectLst/>
                <a:latin typeface="Consolas" panose="020B0609020204030204" pitchFamily="49" charset="0"/>
              </a:rPr>
              <a:t>System</a:t>
            </a:r>
            <a:r>
              <a:rPr lang="en-US" sz="2100" b="0" dirty="0" err="1">
                <a:solidFill>
                  <a:srgbClr val="CCCCCC"/>
                </a:solidFill>
                <a:effectLst/>
                <a:latin typeface="Consolas" panose="020B0609020204030204" pitchFamily="49" charset="0"/>
              </a:rPr>
              <a:t>.</a:t>
            </a:r>
            <a:r>
              <a:rPr lang="en-US" sz="2100" b="0" dirty="0" err="1">
                <a:solidFill>
                  <a:srgbClr val="4FC1FF"/>
                </a:solidFill>
                <a:effectLst/>
                <a:latin typeface="Consolas" panose="020B0609020204030204" pitchFamily="49" charset="0"/>
              </a:rPr>
              <a:t>out</a:t>
            </a:r>
            <a:r>
              <a:rPr lang="en-US" sz="2100" b="0" dirty="0" err="1">
                <a:solidFill>
                  <a:srgbClr val="CCCCCC"/>
                </a:solidFill>
                <a:effectLst/>
                <a:latin typeface="Consolas" panose="020B0609020204030204" pitchFamily="49" charset="0"/>
              </a:rPr>
              <a:t>.</a:t>
            </a:r>
            <a:r>
              <a:rPr lang="en-US" sz="2100" b="0" dirty="0" err="1">
                <a:solidFill>
                  <a:srgbClr val="DCDCAA"/>
                </a:solidFill>
                <a:effectLst/>
                <a:latin typeface="Consolas" panose="020B0609020204030204" pitchFamily="49" charset="0"/>
              </a:rPr>
              <a:t>println</a:t>
            </a:r>
            <a:r>
              <a:rPr lang="en-US" sz="2100" b="0" dirty="0">
                <a:solidFill>
                  <a:srgbClr val="CCCCCC"/>
                </a:solidFill>
                <a:effectLst/>
                <a:latin typeface="Consolas" panose="020B0609020204030204" pitchFamily="49" charset="0"/>
              </a:rPr>
              <a:t>(</a:t>
            </a:r>
            <a:r>
              <a:rPr lang="en-US" sz="2100" b="0" dirty="0">
                <a:solidFill>
                  <a:srgbClr val="9CDCFE"/>
                </a:solidFill>
                <a:effectLst/>
                <a:latin typeface="Consolas" panose="020B0609020204030204" pitchFamily="49" charset="0"/>
              </a:rPr>
              <a:t>name</a:t>
            </a: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a:solidFill>
                  <a:srgbClr val="CE9178"/>
                </a:solidFill>
                <a:effectLst/>
                <a:latin typeface="Consolas" panose="020B0609020204030204" pitchFamily="49" charset="0"/>
              </a:rPr>
              <a:t>" cannot borrow more than 5 books. You already have "</a:t>
            </a:r>
            <a:endParaRPr lang="en-US" sz="2100" b="0" dirty="0">
              <a:solidFill>
                <a:srgbClr val="CCCCCC"/>
              </a:solidFill>
              <a:effectLst/>
              <a:latin typeface="Consolas" panose="020B0609020204030204" pitchFamily="49" charset="0"/>
            </a:endParaRPr>
          </a:p>
          <a:p>
            <a:pPr>
              <a:buNone/>
            </a:pP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err="1">
                <a:solidFill>
                  <a:srgbClr val="9CDCFE"/>
                </a:solidFill>
                <a:effectLst/>
                <a:latin typeface="Consolas" panose="020B0609020204030204" pitchFamily="49" charset="0"/>
              </a:rPr>
              <a:t>borrowedBooks</a:t>
            </a:r>
            <a:r>
              <a:rPr lang="en-US" sz="2100" b="0" dirty="0" err="1">
                <a:solidFill>
                  <a:srgbClr val="CCCCCC"/>
                </a:solidFill>
                <a:effectLst/>
                <a:latin typeface="Consolas" panose="020B0609020204030204" pitchFamily="49" charset="0"/>
              </a:rPr>
              <a:t>.</a:t>
            </a:r>
            <a:r>
              <a:rPr lang="en-US" sz="2100" b="0" dirty="0" err="1">
                <a:solidFill>
                  <a:srgbClr val="DCDCAA"/>
                </a:solidFill>
                <a:effectLst/>
                <a:latin typeface="Consolas" panose="020B0609020204030204" pitchFamily="49" charset="0"/>
              </a:rPr>
              <a:t>size</a:t>
            </a:r>
            <a:r>
              <a:rPr lang="en-US" sz="2100" b="0" dirty="0">
                <a:solidFill>
                  <a:srgbClr val="CCCCCC"/>
                </a:solidFill>
                <a:effectLst/>
                <a:latin typeface="Consolas" panose="020B0609020204030204" pitchFamily="49" charset="0"/>
              </a:rPr>
              <a:t>() </a:t>
            </a:r>
            <a:r>
              <a:rPr lang="en-US" sz="2100" b="0" dirty="0">
                <a:solidFill>
                  <a:srgbClr val="D4D4D4"/>
                </a:solidFill>
                <a:effectLst/>
                <a:latin typeface="Consolas" panose="020B0609020204030204" pitchFamily="49" charset="0"/>
              </a:rPr>
              <a:t>+</a:t>
            </a:r>
            <a:r>
              <a:rPr lang="en-US" sz="2100" b="0" dirty="0">
                <a:solidFill>
                  <a:srgbClr val="CCCCCC"/>
                </a:solidFill>
                <a:effectLst/>
                <a:latin typeface="Consolas" panose="020B0609020204030204" pitchFamily="49" charset="0"/>
              </a:rPr>
              <a:t> </a:t>
            </a:r>
            <a:r>
              <a:rPr lang="en-US" sz="2100" b="0" dirty="0">
                <a:solidFill>
                  <a:srgbClr val="CE9178"/>
                </a:solidFill>
                <a:effectLst/>
                <a:latin typeface="Consolas" panose="020B0609020204030204" pitchFamily="49" charset="0"/>
              </a:rPr>
              <a:t>" book(s)."</a:t>
            </a:r>
            <a:r>
              <a:rPr lang="en-US" sz="2100" b="0" dirty="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5FCFA038-9532-06E4-25A5-C62D859F1E77}"/>
              </a:ext>
            </a:extLst>
          </p:cNvPr>
          <p:cNvSpPr txBox="1"/>
          <p:nvPr/>
        </p:nvSpPr>
        <p:spPr>
          <a:xfrm>
            <a:off x="0" y="1678715"/>
            <a:ext cx="12192000" cy="2610843"/>
          </a:xfrm>
          <a:prstGeom prst="rect">
            <a:avLst/>
          </a:prstGeom>
          <a:noFill/>
          <a:ln>
            <a:solidFill>
              <a:srgbClr val="FF0000"/>
            </a:solidFill>
          </a:ln>
        </p:spPr>
        <p:txBody>
          <a:bodyPr wrap="square">
            <a:spAutoFit/>
          </a:bodyPr>
          <a:lstStyle/>
          <a:p>
            <a:pPr>
              <a:lnSpc>
                <a:spcPct val="150000"/>
              </a:lnSpc>
            </a:pPr>
            <a:r>
              <a:rPr lang="en-AU" sz="2800" dirty="0">
                <a:latin typeface="Calibir"/>
              </a:rPr>
              <a:t>if (</a:t>
            </a:r>
            <a:r>
              <a:rPr lang="en-AU" sz="2800" dirty="0" err="1">
                <a:latin typeface="Calibir"/>
              </a:rPr>
              <a:t>borrowedBooks.size</a:t>
            </a:r>
            <a:r>
              <a:rPr lang="en-AU" sz="2800" dirty="0">
                <a:latin typeface="Calibir"/>
              </a:rPr>
              <a:t>() &gt;= 5) {</a:t>
            </a:r>
          </a:p>
          <a:p>
            <a:pPr>
              <a:lnSpc>
                <a:spcPct val="150000"/>
              </a:lnSpc>
            </a:pPr>
            <a:r>
              <a:rPr lang="en-AU" sz="2800" dirty="0">
                <a:latin typeface="Calibir"/>
              </a:rPr>
              <a:t>    </a:t>
            </a:r>
            <a:r>
              <a:rPr lang="en-AU" sz="2800" dirty="0" err="1">
                <a:latin typeface="Calibir"/>
              </a:rPr>
              <a:t>System.out.println</a:t>
            </a:r>
            <a:r>
              <a:rPr lang="en-AU" sz="2800" dirty="0">
                <a:latin typeface="Calibir"/>
              </a:rPr>
              <a:t>(name + " cannot borrow more than 5 books.");</a:t>
            </a:r>
          </a:p>
          <a:p>
            <a:pPr>
              <a:lnSpc>
                <a:spcPct val="150000"/>
              </a:lnSpc>
            </a:pPr>
            <a:r>
              <a:rPr lang="en-AU" sz="2800" dirty="0">
                <a:latin typeface="Calibir"/>
              </a:rPr>
              <a:t>    return;</a:t>
            </a:r>
          </a:p>
          <a:p>
            <a:pPr>
              <a:lnSpc>
                <a:spcPct val="150000"/>
              </a:lnSpc>
            </a:pPr>
            <a:r>
              <a:rPr lang="en-AU" sz="2800" dirty="0">
                <a:latin typeface="Calibir"/>
              </a:rPr>
              <a:t>}</a:t>
            </a:r>
          </a:p>
        </p:txBody>
      </p:sp>
      <p:cxnSp>
        <p:nvCxnSpPr>
          <p:cNvPr id="8" name="Connector: Elbow 7">
            <a:extLst>
              <a:ext uri="{FF2B5EF4-FFF2-40B4-BE49-F238E27FC236}">
                <a16:creationId xmlns:a16="http://schemas.microsoft.com/office/drawing/2014/main" id="{7CDF707B-26B3-2534-6926-BB3B7E4D85E1}"/>
              </a:ext>
            </a:extLst>
          </p:cNvPr>
          <p:cNvCxnSpPr>
            <a:stCxn id="5" idx="2"/>
            <a:endCxn id="6" idx="0"/>
          </p:cNvCxnSpPr>
          <p:nvPr/>
        </p:nvCxnSpPr>
        <p:spPr>
          <a:xfrm rot="5400000">
            <a:off x="5857411" y="4476529"/>
            <a:ext cx="425561"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4487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741714"/>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 </a:t>
            </a:r>
            <a:r>
              <a:rPr lang="en-US" altLang="en-US" sz="2800" dirty="0">
                <a:latin typeface="Calibir"/>
              </a:rPr>
              <a:t>After borrowing succeeds, print how many books the member now has.</a:t>
            </a:r>
            <a:br>
              <a:rPr lang="en-US" altLang="en-US" sz="2800" dirty="0">
                <a:latin typeface="Calibir"/>
              </a:rPr>
            </a:br>
            <a:r>
              <a:rPr lang="en-US" altLang="en-US" sz="2800" b="1" dirty="0">
                <a:latin typeface="Calibir"/>
              </a:rPr>
              <a:t>Hint for Python: </a:t>
            </a:r>
            <a:r>
              <a:rPr lang="en-US" altLang="en-US" sz="2800" dirty="0">
                <a:latin typeface="Calibir"/>
              </a:rPr>
              <a:t>Edit the last print(...) in </a:t>
            </a:r>
            <a:r>
              <a:rPr lang="en-US" altLang="en-US" sz="2800" dirty="0" err="1">
                <a:latin typeface="Calibir"/>
              </a:rPr>
              <a:t>Member.borrow</a:t>
            </a:r>
            <a:r>
              <a:rPr lang="en-US" altLang="en-US" sz="2800" dirty="0">
                <a:latin typeface="Calibir"/>
              </a:rPr>
              <a:t>() Class Member &gt;&gt; borrow method (success branch). </a:t>
            </a:r>
          </a:p>
          <a:p>
            <a:pPr eaLnBrk="0" fontAlgn="base" hangingPunct="0">
              <a:lnSpc>
                <a:spcPct val="150000"/>
              </a:lnSpc>
              <a:spcBef>
                <a:spcPct val="0"/>
              </a:spcBef>
              <a:spcAft>
                <a:spcPct val="0"/>
              </a:spcAft>
            </a:pPr>
            <a:r>
              <a:rPr lang="en-US" altLang="en-US" sz="2800" b="1" dirty="0">
                <a:latin typeface="Calibir"/>
              </a:rPr>
              <a:t>Hint for Java: </a:t>
            </a:r>
            <a:r>
              <a:rPr lang="en-US" altLang="en-US" sz="2800" dirty="0">
                <a:latin typeface="Calibir"/>
              </a:rPr>
              <a:t>At the end of the success branch in </a:t>
            </a:r>
            <a:r>
              <a:rPr lang="en-US" altLang="en-US" sz="2800" dirty="0" err="1">
                <a:latin typeface="Calibir"/>
              </a:rPr>
              <a:t>Member.borrow</a:t>
            </a:r>
            <a:r>
              <a:rPr lang="en-US" altLang="en-US" sz="2800" dirty="0">
                <a:latin typeface="Calibir"/>
              </a:rPr>
              <a:t>() (after </a:t>
            </a:r>
            <a:r>
              <a:rPr lang="en-US" altLang="en-US" sz="2800" dirty="0" err="1">
                <a:latin typeface="Calibir"/>
              </a:rPr>
              <a:t>borrowedBooks.add</a:t>
            </a:r>
            <a:r>
              <a:rPr lang="en-US" altLang="en-US" sz="2800" dirty="0">
                <a:latin typeface="Calibir"/>
              </a:rPr>
              <a:t>(book);).</a:t>
            </a:r>
            <a:endParaRPr lang="en-US" altLang="en-US" sz="2800" b="1" dirty="0">
              <a:latin typeface="Calibir"/>
            </a:endParaRP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998888"/>
            <a:ext cx="1996596" cy="857075"/>
          </a:xfrm>
          <a:prstGeom prst="rect">
            <a:avLst/>
          </a:prstGeom>
          <a:ln w="38100">
            <a:solidFill>
              <a:srgbClr val="FF0000"/>
            </a:solidFill>
          </a:ln>
        </p:spPr>
      </p:pic>
    </p:spTree>
    <p:extLst>
      <p:ext uri="{BB962C8B-B14F-4D97-AF65-F5344CB8AC3E}">
        <p14:creationId xmlns:p14="http://schemas.microsoft.com/office/powerpoint/2010/main" val="1534306740"/>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10" name="Rectangle 2">
            <a:extLst>
              <a:ext uri="{FF2B5EF4-FFF2-40B4-BE49-F238E27FC236}">
                <a16:creationId xmlns:a16="http://schemas.microsoft.com/office/drawing/2014/main" id="{A35F8984-4872-0204-3DEC-A48F5126577F}"/>
              </a:ext>
            </a:extLst>
          </p:cNvPr>
          <p:cNvSpPr>
            <a:spLocks noChangeArrowheads="1"/>
          </p:cNvSpPr>
          <p:nvPr/>
        </p:nvSpPr>
        <p:spPr bwMode="auto">
          <a:xfrm>
            <a:off x="0" y="1982956"/>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This line prints a message when a member borrows a book.</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{self.name} → shows the member’s name.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t>
            </a:r>
            <a:r>
              <a:rPr lang="en-US" altLang="en-US" sz="2800" dirty="0" err="1">
                <a:latin typeface="Calibir"/>
              </a:rPr>
              <a:t>book.title</a:t>
            </a:r>
            <a:r>
              <a:rPr lang="en-US" altLang="en-US" sz="2800" dirty="0">
                <a:latin typeface="Calibir"/>
              </a:rPr>
              <a:t>} → shows the book’s title.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t>
            </a:r>
            <a:r>
              <a:rPr lang="en-US" altLang="en-US" sz="2800" dirty="0" err="1">
                <a:latin typeface="Calibir"/>
              </a:rPr>
              <a:t>len</a:t>
            </a:r>
            <a:r>
              <a:rPr lang="en-US" altLang="en-US" sz="2800" dirty="0">
                <a:latin typeface="Calibir"/>
              </a:rPr>
              <a:t>(</a:t>
            </a:r>
            <a:r>
              <a:rPr lang="en-US" altLang="en-US" sz="2800" dirty="0" err="1">
                <a:latin typeface="Calibir"/>
              </a:rPr>
              <a:t>self.borrowed_books</a:t>
            </a:r>
            <a:r>
              <a:rPr lang="en-US" altLang="en-US" sz="2800" dirty="0">
                <a:latin typeface="Calibir"/>
              </a:rPr>
              <a:t>)} → counts how many books the member has borrowed so far.</a:t>
            </a:r>
          </a:p>
        </p:txBody>
      </p:sp>
      <p:sp>
        <p:nvSpPr>
          <p:cNvPr id="5" name="TextBox 4">
            <a:extLst>
              <a:ext uri="{FF2B5EF4-FFF2-40B4-BE49-F238E27FC236}">
                <a16:creationId xmlns:a16="http://schemas.microsoft.com/office/drawing/2014/main" id="{B037B345-F67D-635A-5BDE-7B41B3B78806}"/>
              </a:ext>
            </a:extLst>
          </p:cNvPr>
          <p:cNvSpPr txBox="1"/>
          <p:nvPr/>
        </p:nvSpPr>
        <p:spPr>
          <a:xfrm>
            <a:off x="0" y="866514"/>
            <a:ext cx="12192000" cy="954107"/>
          </a:xfrm>
          <a:prstGeom prst="rect">
            <a:avLst/>
          </a:prstGeom>
          <a:solidFill>
            <a:schemeClr val="tx1"/>
          </a:solidFill>
        </p:spPr>
        <p:txBody>
          <a:bodyPr wrap="square">
            <a:spAutoFit/>
          </a:bodyPr>
          <a:lstStyle/>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a:t>
            </a:r>
            <a:r>
              <a:rPr lang="en-US" sz="2800" b="0" dirty="0">
                <a:solidFill>
                  <a:srgbClr val="CE9178"/>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 '</a:t>
            </a:r>
            <a:r>
              <a:rPr lang="en-US" sz="2800" b="0" dirty="0">
                <a:solidFill>
                  <a:srgbClr val="569CD6"/>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book</a:t>
            </a:r>
            <a:r>
              <a:rPr lang="en-US" sz="2800" b="0" dirty="0" err="1">
                <a:solidFill>
                  <a:srgbClr val="CCCCCC"/>
                </a:solidFill>
                <a:effectLst/>
                <a:latin typeface="Consolas" panose="020B0609020204030204" pitchFamily="49" charset="0"/>
              </a:rPr>
              <a:t>.title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(now </a:t>
            </a:r>
            <a:r>
              <a:rPr lang="en-US" sz="2800" b="0" dirty="0">
                <a:solidFill>
                  <a:srgbClr val="569CD6"/>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len</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borrowed_books</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a:t>
            </a:r>
            <a:r>
              <a:rPr lang="en-US" sz="2800" b="0" dirty="0">
                <a:solidFill>
                  <a:srgbClr val="CCCCCC"/>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5B95E909-DC13-5763-1B24-35DB2C68AB85}"/>
              </a:ext>
            </a:extLst>
          </p:cNvPr>
          <p:cNvSpPr txBox="1"/>
          <p:nvPr/>
        </p:nvSpPr>
        <p:spPr>
          <a:xfrm>
            <a:off x="0" y="5402465"/>
            <a:ext cx="12192000" cy="671851"/>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dirty="0">
                <a:latin typeface="Calibir"/>
              </a:rPr>
              <a:t>In short: It tells who borrowed what book and how many books they now hold.</a:t>
            </a:r>
            <a:endParaRPr lang="en-US" altLang="en-US" sz="2800" dirty="0">
              <a:latin typeface="Calibir"/>
            </a:endParaRPr>
          </a:p>
        </p:txBody>
      </p:sp>
    </p:spTree>
    <p:extLst>
      <p:ext uri="{BB962C8B-B14F-4D97-AF65-F5344CB8AC3E}">
        <p14:creationId xmlns:p14="http://schemas.microsoft.com/office/powerpoint/2010/main" val="24627712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5726-B784-3FE1-1279-E3FE8E2F6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EBF7D-F526-8D2E-30C1-89075E6C4F05}"/>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2 — Show total borrowed after a successful borrow</a:t>
            </a:r>
            <a:endParaRPr lang="en-AU" sz="3600" b="1" dirty="0">
              <a:latin typeface="Calibir"/>
            </a:endParaRPr>
          </a:p>
        </p:txBody>
      </p:sp>
      <p:sp>
        <p:nvSpPr>
          <p:cNvPr id="3" name="TextBox 2">
            <a:extLst>
              <a:ext uri="{FF2B5EF4-FFF2-40B4-BE49-F238E27FC236}">
                <a16:creationId xmlns:a16="http://schemas.microsoft.com/office/drawing/2014/main" id="{5BFB72FA-79EA-2837-999A-B58875557ADB}"/>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41 of modified version:</a:t>
            </a:r>
          </a:p>
        </p:txBody>
      </p:sp>
      <p:sp>
        <p:nvSpPr>
          <p:cNvPr id="5" name="TextBox 4">
            <a:extLst>
              <a:ext uri="{FF2B5EF4-FFF2-40B4-BE49-F238E27FC236}">
                <a16:creationId xmlns:a16="http://schemas.microsoft.com/office/drawing/2014/main" id="{CA109A3E-EB64-A194-C0A4-866088264628}"/>
              </a:ext>
            </a:extLst>
          </p:cNvPr>
          <p:cNvSpPr txBox="1"/>
          <p:nvPr/>
        </p:nvSpPr>
        <p:spPr>
          <a:xfrm>
            <a:off x="0" y="1678715"/>
            <a:ext cx="12192000" cy="671851"/>
          </a:xfrm>
          <a:prstGeom prst="rect">
            <a:avLst/>
          </a:prstGeom>
          <a:noFill/>
          <a:ln>
            <a:solidFill>
              <a:srgbClr val="FF0000"/>
            </a:solidFill>
          </a:ln>
        </p:spPr>
        <p:txBody>
          <a:bodyPr wrap="square">
            <a:spAutoFit/>
          </a:bodyPr>
          <a:lstStyle/>
          <a:p>
            <a:pPr>
              <a:lnSpc>
                <a:spcPct val="150000"/>
              </a:lnSpc>
            </a:pPr>
            <a:r>
              <a:rPr lang="en-US" sz="2800" dirty="0" err="1">
                <a:latin typeface="Calibir"/>
              </a:rPr>
              <a:t>System.out.println</a:t>
            </a:r>
            <a:r>
              <a:rPr lang="en-US" sz="2800" dirty="0">
                <a:latin typeface="Calibir"/>
              </a:rPr>
              <a:t>(name + " borrowed '" + </a:t>
            </a:r>
            <a:r>
              <a:rPr lang="en-US" sz="2800" dirty="0" err="1">
                <a:latin typeface="Calibir"/>
              </a:rPr>
              <a:t>book.title</a:t>
            </a:r>
            <a:r>
              <a:rPr lang="en-US" sz="2800" dirty="0">
                <a:latin typeface="Calibir"/>
              </a:rPr>
              <a:t> + "'.");</a:t>
            </a:r>
          </a:p>
        </p:txBody>
      </p:sp>
      <p:cxnSp>
        <p:nvCxnSpPr>
          <p:cNvPr id="8" name="Connector: Elbow 7">
            <a:extLst>
              <a:ext uri="{FF2B5EF4-FFF2-40B4-BE49-F238E27FC236}">
                <a16:creationId xmlns:a16="http://schemas.microsoft.com/office/drawing/2014/main" id="{75F51E04-2195-34BC-620B-3AA971B95285}"/>
              </a:ext>
            </a:extLst>
          </p:cNvPr>
          <p:cNvCxnSpPr>
            <a:cxnSpLocks/>
            <a:stCxn id="5" idx="2"/>
          </p:cNvCxnSpPr>
          <p:nvPr/>
        </p:nvCxnSpPr>
        <p:spPr>
          <a:xfrm rot="5400000">
            <a:off x="4887915" y="3507033"/>
            <a:ext cx="2364553"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F16038A-AAC9-2CB1-8C8E-553C9D3000F4}"/>
              </a:ext>
            </a:extLst>
          </p:cNvPr>
          <p:cNvSpPr txBox="1"/>
          <p:nvPr/>
        </p:nvSpPr>
        <p:spPr>
          <a:xfrm>
            <a:off x="-2" y="4740639"/>
            <a:ext cx="12191999" cy="800219"/>
          </a:xfrm>
          <a:prstGeom prst="rect">
            <a:avLst/>
          </a:prstGeom>
          <a:solidFill>
            <a:schemeClr val="tx1"/>
          </a:solidFill>
        </p:spPr>
        <p:txBody>
          <a:bodyPr wrap="square">
            <a:spAutoFit/>
          </a:bodyPr>
          <a:lstStyle/>
          <a:p>
            <a:pPr>
              <a:buNone/>
            </a:pPr>
            <a:r>
              <a:rPr lang="en-US" sz="2300" b="0" dirty="0">
                <a:solidFill>
                  <a:srgbClr val="CCCCCC"/>
                </a:solidFill>
                <a:effectLst/>
                <a:latin typeface="Consolas" panose="020B0609020204030204" pitchFamily="49" charset="0"/>
              </a:rPr>
              <a:t> </a:t>
            </a:r>
            <a:r>
              <a:rPr lang="en-US" sz="2300" b="0" dirty="0" err="1">
                <a:solidFill>
                  <a:srgbClr val="4EC9B0"/>
                </a:solidFill>
                <a:effectLst/>
                <a:latin typeface="Consolas" panose="020B0609020204030204" pitchFamily="49" charset="0"/>
              </a:rPr>
              <a:t>System</a:t>
            </a:r>
            <a:r>
              <a:rPr lang="en-US" sz="2300" b="0" dirty="0" err="1">
                <a:solidFill>
                  <a:srgbClr val="CCCCCC"/>
                </a:solidFill>
                <a:effectLst/>
                <a:latin typeface="Consolas" panose="020B0609020204030204" pitchFamily="49" charset="0"/>
              </a:rPr>
              <a:t>.</a:t>
            </a:r>
            <a:r>
              <a:rPr lang="en-US" sz="2300" b="0" dirty="0" err="1">
                <a:solidFill>
                  <a:srgbClr val="4FC1FF"/>
                </a:solidFill>
                <a:effectLst/>
                <a:latin typeface="Consolas" panose="020B0609020204030204" pitchFamily="49" charset="0"/>
              </a:rPr>
              <a:t>out</a:t>
            </a:r>
            <a:r>
              <a:rPr lang="en-US" sz="2300" b="0" dirty="0" err="1">
                <a:solidFill>
                  <a:srgbClr val="CCCCCC"/>
                </a:solidFill>
                <a:effectLst/>
                <a:latin typeface="Consolas" panose="020B0609020204030204" pitchFamily="49" charset="0"/>
              </a:rPr>
              <a:t>.</a:t>
            </a:r>
            <a:r>
              <a:rPr lang="en-US" sz="2300" b="0" dirty="0" err="1">
                <a:solidFill>
                  <a:srgbClr val="DCDCAA"/>
                </a:solidFill>
                <a:effectLst/>
                <a:latin typeface="Consolas" panose="020B0609020204030204" pitchFamily="49" charset="0"/>
              </a:rPr>
              <a:t>println</a:t>
            </a:r>
            <a:r>
              <a:rPr lang="en-US" sz="2300" b="0" dirty="0">
                <a:solidFill>
                  <a:srgbClr val="CCCCCC"/>
                </a:solidFill>
                <a:effectLst/>
                <a:latin typeface="Consolas" panose="020B0609020204030204" pitchFamily="49" charset="0"/>
              </a:rPr>
              <a:t>(</a:t>
            </a:r>
            <a:r>
              <a:rPr lang="en-US" sz="2300" b="0" dirty="0">
                <a:solidFill>
                  <a:srgbClr val="9CDCFE"/>
                </a:solidFill>
                <a:effectLst/>
                <a:latin typeface="Consolas" panose="020B0609020204030204" pitchFamily="49" charset="0"/>
              </a:rPr>
              <a:t>name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borrowed '"</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err="1">
                <a:solidFill>
                  <a:srgbClr val="9CDCFE"/>
                </a:solidFill>
                <a:effectLst/>
                <a:latin typeface="Consolas" panose="020B0609020204030204" pitchFamily="49" charset="0"/>
              </a:rPr>
              <a:t>book</a:t>
            </a:r>
            <a:r>
              <a:rPr lang="en-US" sz="2300" b="0" dirty="0" err="1">
                <a:solidFill>
                  <a:srgbClr val="CCCCCC"/>
                </a:solidFill>
                <a:effectLst/>
                <a:latin typeface="Consolas" panose="020B0609020204030204" pitchFamily="49" charset="0"/>
              </a:rPr>
              <a:t>.</a:t>
            </a:r>
            <a:r>
              <a:rPr lang="en-US" sz="2300" b="0" dirty="0" err="1">
                <a:solidFill>
                  <a:srgbClr val="9CDCFE"/>
                </a:solidFill>
                <a:effectLst/>
                <a:latin typeface="Consolas" panose="020B0609020204030204" pitchFamily="49" charset="0"/>
              </a:rPr>
              <a:t>title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Now holding "</a:t>
            </a:r>
            <a:endParaRPr lang="en-US" sz="2300" b="0" dirty="0">
              <a:solidFill>
                <a:srgbClr val="CCCCCC"/>
              </a:solidFill>
              <a:effectLst/>
              <a:latin typeface="Consolas" panose="020B0609020204030204" pitchFamily="49" charset="0"/>
            </a:endParaRPr>
          </a:p>
          <a:p>
            <a:pPr>
              <a:buNone/>
            </a:pP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err="1">
                <a:solidFill>
                  <a:srgbClr val="9CDCFE"/>
                </a:solidFill>
                <a:effectLst/>
                <a:latin typeface="Consolas" panose="020B0609020204030204" pitchFamily="49" charset="0"/>
              </a:rPr>
              <a:t>borrowedBooks</a:t>
            </a:r>
            <a:r>
              <a:rPr lang="en-US" sz="2300" b="0" dirty="0" err="1">
                <a:solidFill>
                  <a:srgbClr val="CCCCCC"/>
                </a:solidFill>
                <a:effectLst/>
                <a:latin typeface="Consolas" panose="020B0609020204030204" pitchFamily="49" charset="0"/>
              </a:rPr>
              <a:t>.</a:t>
            </a:r>
            <a:r>
              <a:rPr lang="en-US" sz="2300" b="0" dirty="0" err="1">
                <a:solidFill>
                  <a:srgbClr val="DCDCAA"/>
                </a:solidFill>
                <a:effectLst/>
                <a:latin typeface="Consolas" panose="020B0609020204030204" pitchFamily="49" charset="0"/>
              </a:rPr>
              <a:t>size</a:t>
            </a:r>
            <a:r>
              <a:rPr lang="en-US" sz="2300" b="0" dirty="0">
                <a:solidFill>
                  <a:srgbClr val="CCCCCC"/>
                </a:solidFill>
                <a:effectLst/>
                <a:latin typeface="Consolas" panose="020B0609020204030204" pitchFamily="49" charset="0"/>
              </a:rPr>
              <a:t>() </a:t>
            </a:r>
            <a:r>
              <a:rPr lang="en-US" sz="2300" b="0" dirty="0">
                <a:solidFill>
                  <a:srgbClr val="D4D4D4"/>
                </a:solidFill>
                <a:effectLst/>
                <a:latin typeface="Consolas" panose="020B0609020204030204" pitchFamily="49" charset="0"/>
              </a:rPr>
              <a:t>+</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 book(s)."</a:t>
            </a:r>
            <a:r>
              <a:rPr lang="en-US" sz="23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68527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538655"/>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 </a:t>
            </a:r>
            <a:r>
              <a:rPr lang="en-US" altLang="en-US" sz="2800" dirty="0">
                <a:latin typeface="Calibir"/>
              </a:rPr>
              <a:t>After a return, display how many books the member still holds.</a:t>
            </a:r>
            <a:br>
              <a:rPr lang="en-US" altLang="en-US" sz="2800" dirty="0">
                <a:latin typeface="Calibir"/>
              </a:rPr>
            </a:br>
            <a:r>
              <a:rPr lang="en-US" altLang="en-US" sz="2800" b="1" dirty="0">
                <a:latin typeface="Calibir"/>
              </a:rPr>
              <a:t>Hint for Python: </a:t>
            </a:r>
            <a:r>
              <a:rPr lang="en-US" altLang="en-US" sz="2800" dirty="0">
                <a:latin typeface="Calibir"/>
              </a:rPr>
              <a:t>Edit the success print(...) inside </a:t>
            </a:r>
            <a:r>
              <a:rPr lang="en-US" altLang="en-US" sz="2800" dirty="0" err="1">
                <a:latin typeface="Calibir"/>
              </a:rPr>
              <a:t>Member.return_book</a:t>
            </a:r>
            <a:r>
              <a:rPr lang="en-US" altLang="en-US" sz="2800" dirty="0">
                <a:latin typeface="Calibir"/>
              </a:rPr>
              <a:t>(), where the if condition is true.</a:t>
            </a:r>
          </a:p>
          <a:p>
            <a:pPr eaLnBrk="0" fontAlgn="base" hangingPunct="0">
              <a:lnSpc>
                <a:spcPct val="150000"/>
              </a:lnSpc>
              <a:spcBef>
                <a:spcPct val="0"/>
              </a:spcBef>
              <a:spcAft>
                <a:spcPct val="0"/>
              </a:spcAft>
            </a:pPr>
            <a:r>
              <a:rPr lang="en-US" altLang="en-US" sz="2800" b="1" dirty="0">
                <a:latin typeface="Calibir"/>
              </a:rPr>
              <a:t>Hint for Java: </a:t>
            </a:r>
            <a:r>
              <a:rPr lang="en-US" altLang="en-US" sz="2800" dirty="0">
                <a:latin typeface="Calibir"/>
              </a:rPr>
              <a:t>Inside </a:t>
            </a:r>
            <a:r>
              <a:rPr lang="en-US" altLang="en-US" sz="2800" dirty="0" err="1">
                <a:latin typeface="Calibir"/>
              </a:rPr>
              <a:t>Member.returnBook</a:t>
            </a:r>
            <a:r>
              <a:rPr lang="en-US" altLang="en-US" sz="2800" dirty="0">
                <a:latin typeface="Calibir"/>
              </a:rPr>
              <a:t>() in the success part (inside the if (</a:t>
            </a:r>
            <a:r>
              <a:rPr lang="en-US" altLang="en-US" sz="2800" dirty="0" err="1">
                <a:latin typeface="Calibir"/>
              </a:rPr>
              <a:t>borrowedBooks.contains</a:t>
            </a:r>
            <a:r>
              <a:rPr lang="en-US" altLang="en-US" sz="2800" dirty="0">
                <a:latin typeface="Calibir"/>
              </a:rPr>
              <a:t>(book)) block), after you remove the book. </a:t>
            </a:r>
          </a:p>
        </p:txBody>
      </p:sp>
      <p:pic>
        <p:nvPicPr>
          <p:cNvPr id="7" name="Timer">
            <a:hlinkClick r:id="" action="ppaction://media"/>
            <a:extLst>
              <a:ext uri="{FF2B5EF4-FFF2-40B4-BE49-F238E27FC236}">
                <a16:creationId xmlns:a16="http://schemas.microsoft.com/office/drawing/2014/main" id="{F75AE076-77EE-2741-9F57-F1E400B635A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3999523"/>
            <a:ext cx="1996596" cy="857075"/>
          </a:xfrm>
          <a:prstGeom prst="rect">
            <a:avLst/>
          </a:prstGeom>
          <a:ln w="38100">
            <a:solidFill>
              <a:srgbClr val="FF0000"/>
            </a:solidFill>
          </a:ln>
        </p:spPr>
      </p:pic>
    </p:spTree>
    <p:extLst>
      <p:ext uri="{BB962C8B-B14F-4D97-AF65-F5344CB8AC3E}">
        <p14:creationId xmlns:p14="http://schemas.microsoft.com/office/powerpoint/2010/main" val="1696882854"/>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pic>
        <p:nvPicPr>
          <p:cNvPr id="8" name="Picture 7">
            <a:extLst>
              <a:ext uri="{FF2B5EF4-FFF2-40B4-BE49-F238E27FC236}">
                <a16:creationId xmlns:a16="http://schemas.microsoft.com/office/drawing/2014/main" id="{4D65AF23-6DDA-F312-9C84-F7ECE9E5CF9F}"/>
              </a:ext>
            </a:extLst>
          </p:cNvPr>
          <p:cNvPicPr>
            <a:picLocks noChangeAspect="1"/>
          </p:cNvPicPr>
          <p:nvPr/>
        </p:nvPicPr>
        <p:blipFill>
          <a:blip r:embed="rId2"/>
          <a:srcRect l="29382" t="43808" r="8324" b="42799"/>
          <a:stretch>
            <a:fillRect/>
          </a:stretch>
        </p:blipFill>
        <p:spPr>
          <a:xfrm>
            <a:off x="-1" y="1691268"/>
            <a:ext cx="12192001" cy="1474363"/>
          </a:xfrm>
          <a:prstGeom prst="rect">
            <a:avLst/>
          </a:prstGeom>
        </p:spPr>
      </p:pic>
      <p:sp>
        <p:nvSpPr>
          <p:cNvPr id="11" name="TextBox 10">
            <a:extLst>
              <a:ext uri="{FF2B5EF4-FFF2-40B4-BE49-F238E27FC236}">
                <a16:creationId xmlns:a16="http://schemas.microsoft.com/office/drawing/2014/main" id="{00480F48-B47B-2F3B-E3A0-D9C324C55B9B}"/>
              </a:ext>
            </a:extLst>
          </p:cNvPr>
          <p:cNvSpPr txBox="1"/>
          <p:nvPr/>
        </p:nvSpPr>
        <p:spPr>
          <a:xfrm>
            <a:off x="0" y="603283"/>
            <a:ext cx="12192000" cy="954107"/>
          </a:xfrm>
          <a:prstGeom prst="rect">
            <a:avLst/>
          </a:prstGeom>
          <a:solidFill>
            <a:schemeClr val="tx1"/>
          </a:solidFill>
        </p:spPr>
        <p:txBody>
          <a:bodyPr wrap="square">
            <a:spAutoFit/>
          </a:bodyPr>
          <a:lstStyle/>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a:t>
            </a:r>
            <a:r>
              <a:rPr lang="en-US" sz="2800" b="0" dirty="0">
                <a:solidFill>
                  <a:srgbClr val="CE9178"/>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name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returned '</a:t>
            </a:r>
            <a:r>
              <a:rPr lang="en-US" sz="2800" b="0" dirty="0">
                <a:solidFill>
                  <a:srgbClr val="569CD6"/>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book</a:t>
            </a:r>
            <a:r>
              <a:rPr lang="en-US" sz="2800" b="0" dirty="0" err="1">
                <a:solidFill>
                  <a:srgbClr val="CCCCCC"/>
                </a:solidFill>
                <a:effectLst/>
                <a:latin typeface="Consolas" panose="020B0609020204030204" pitchFamily="49" charset="0"/>
              </a:rPr>
              <a:t>.title</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(now </a:t>
            </a:r>
            <a:r>
              <a:rPr lang="en-US" sz="2800" b="0" dirty="0">
                <a:solidFill>
                  <a:srgbClr val="569CD6"/>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len</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borrowed_books</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a:t>
            </a:r>
            <a:r>
              <a:rPr lang="en-US" sz="2800" b="0" dirty="0">
                <a:solidFill>
                  <a:srgbClr val="CE9178"/>
                </a:solidFill>
                <a:effectLst/>
                <a:latin typeface="Consolas" panose="020B0609020204030204" pitchFamily="49" charset="0"/>
              </a:rPr>
              <a:t> borrowed)."</a:t>
            </a:r>
            <a:r>
              <a:rPr lang="en-US" sz="2800" b="0" dirty="0">
                <a:solidFill>
                  <a:srgbClr val="CCCCCC"/>
                </a:solidFill>
                <a:effectLst/>
                <a:latin typeface="Consolas" panose="020B0609020204030204" pitchFamily="49" charset="0"/>
              </a:rPr>
              <a:t>)</a:t>
            </a:r>
          </a:p>
        </p:txBody>
      </p:sp>
      <p:sp>
        <p:nvSpPr>
          <p:cNvPr id="12" name="Rectangle 2">
            <a:extLst>
              <a:ext uri="{FF2B5EF4-FFF2-40B4-BE49-F238E27FC236}">
                <a16:creationId xmlns:a16="http://schemas.microsoft.com/office/drawing/2014/main" id="{094340F7-1E74-2B47-81D7-7B0DCE0C3B6A}"/>
              </a:ext>
            </a:extLst>
          </p:cNvPr>
          <p:cNvSpPr>
            <a:spLocks noChangeArrowheads="1"/>
          </p:cNvSpPr>
          <p:nvPr/>
        </p:nvSpPr>
        <p:spPr bwMode="auto">
          <a:xfrm>
            <a:off x="-1" y="3165631"/>
            <a:ext cx="9326720" cy="207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Calibir"/>
              </a:rPr>
              <a:t>(Python) When a member returns a book, this line prints: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Who returned it (self.name).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Which book was returned (</a:t>
            </a:r>
            <a:r>
              <a:rPr kumimoji="0" lang="en-US" altLang="en-US" sz="2200" i="0" u="none" strike="noStrike" cap="none" normalizeH="0" baseline="0" dirty="0" err="1">
                <a:ln>
                  <a:noFill/>
                </a:ln>
                <a:solidFill>
                  <a:schemeClr val="tx1"/>
                </a:solidFill>
                <a:effectLst/>
                <a:latin typeface="Calibir"/>
              </a:rPr>
              <a:t>book.title</a:t>
            </a:r>
            <a:r>
              <a:rPr kumimoji="0" lang="en-US" altLang="en-US" sz="2200" i="0" u="none" strike="noStrike" cap="none" normalizeH="0" baseline="0" dirty="0">
                <a:ln>
                  <a:noFill/>
                </a:ln>
                <a:solidFill>
                  <a:schemeClr val="tx1"/>
                </a:solidFill>
                <a:effectLst/>
                <a:latin typeface="Calibir"/>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Calibir"/>
              </a:rPr>
              <a:t>How many books they still have after the return (</a:t>
            </a:r>
            <a:r>
              <a:rPr kumimoji="0" lang="en-US" altLang="en-US" sz="2200" i="0" u="none" strike="noStrike" cap="none" normalizeH="0" baseline="0" dirty="0" err="1">
                <a:ln>
                  <a:noFill/>
                </a:ln>
                <a:solidFill>
                  <a:schemeClr val="tx1"/>
                </a:solidFill>
                <a:effectLst/>
                <a:latin typeface="Calibir"/>
              </a:rPr>
              <a:t>len</a:t>
            </a:r>
            <a:r>
              <a:rPr kumimoji="0" lang="en-US" altLang="en-US" sz="2200" i="0" u="none" strike="noStrike" cap="none" normalizeH="0" baseline="0" dirty="0">
                <a:ln>
                  <a:noFill/>
                </a:ln>
                <a:solidFill>
                  <a:schemeClr val="tx1"/>
                </a:solidFill>
                <a:effectLst/>
                <a:latin typeface="Calibir"/>
              </a:rPr>
              <a:t>(</a:t>
            </a:r>
            <a:r>
              <a:rPr kumimoji="0" lang="en-US" altLang="en-US" sz="2200" i="0" u="none" strike="noStrike" cap="none" normalizeH="0" baseline="0" dirty="0" err="1">
                <a:ln>
                  <a:noFill/>
                </a:ln>
                <a:solidFill>
                  <a:schemeClr val="tx1"/>
                </a:solidFill>
                <a:effectLst/>
                <a:latin typeface="Calibir"/>
              </a:rPr>
              <a:t>self.borrowed_books</a:t>
            </a:r>
            <a:r>
              <a:rPr kumimoji="0" lang="en-US" altLang="en-US" sz="2200" i="0" u="none" strike="noStrike" cap="none" normalizeH="0" baseline="0" dirty="0">
                <a:ln>
                  <a:noFill/>
                </a:ln>
                <a:solidFill>
                  <a:schemeClr val="tx1"/>
                </a:solidFill>
                <a:effectLst/>
                <a:latin typeface="Calibir"/>
              </a:rPr>
              <a:t>)).</a:t>
            </a:r>
          </a:p>
        </p:txBody>
      </p:sp>
      <p:sp>
        <p:nvSpPr>
          <p:cNvPr id="3" name="Rectangle 2">
            <a:extLst>
              <a:ext uri="{FF2B5EF4-FFF2-40B4-BE49-F238E27FC236}">
                <a16:creationId xmlns:a16="http://schemas.microsoft.com/office/drawing/2014/main" id="{CD083504-1296-2156-B8FD-F79DF62FE742}"/>
              </a:ext>
            </a:extLst>
          </p:cNvPr>
          <p:cNvSpPr>
            <a:spLocks noChangeArrowheads="1"/>
          </p:cNvSpPr>
          <p:nvPr/>
        </p:nvSpPr>
        <p:spPr bwMode="auto">
          <a:xfrm>
            <a:off x="0" y="5411450"/>
            <a:ext cx="12192003"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Calibir"/>
              </a:rPr>
              <a:t>Suppose Farshid had 3 books and returned </a:t>
            </a:r>
            <a:r>
              <a:rPr lang="en-US" sz="2200" i="1" dirty="0">
                <a:latin typeface="Calibir"/>
              </a:rPr>
              <a:t>Python Basics</a:t>
            </a:r>
            <a:r>
              <a:rPr lang="en-US" sz="2200" dirty="0">
                <a:latin typeface="Calibir"/>
              </a:rPr>
              <a:t>. It will print Farshid returned 'Python Basics' (now 2 borrowed).</a:t>
            </a:r>
          </a:p>
          <a:p>
            <a:pPr marL="800100" lvl="1" indent="-342900">
              <a:buFont typeface="Arial" panose="020B0604020202020204" pitchFamily="34" charset="0"/>
              <a:buChar char="•"/>
            </a:pPr>
            <a:r>
              <a:rPr lang="en-US" sz="2200" dirty="0">
                <a:latin typeface="Calibir"/>
              </a:rPr>
              <a:t>Before return → 3 borrowed.</a:t>
            </a:r>
          </a:p>
          <a:p>
            <a:pPr marL="800100" lvl="1" indent="-342900">
              <a:buFont typeface="Arial" panose="020B0604020202020204" pitchFamily="34" charset="0"/>
              <a:buChar char="•"/>
            </a:pPr>
            <a:r>
              <a:rPr lang="en-US" sz="2200" dirty="0">
                <a:latin typeface="Calibir"/>
              </a:rPr>
              <a:t>After return → 2 borrowed.</a:t>
            </a:r>
          </a:p>
        </p:txBody>
      </p:sp>
    </p:spTree>
    <p:extLst>
      <p:ext uri="{BB962C8B-B14F-4D97-AF65-F5344CB8AC3E}">
        <p14:creationId xmlns:p14="http://schemas.microsoft.com/office/powerpoint/2010/main" val="3829029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63C9-272C-D5D9-C3E2-41A9DCDC8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81244-AEF5-FF35-1850-4B27FFC1C966}"/>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3 — Show remaining count after a successful return</a:t>
            </a:r>
            <a:endParaRPr lang="en-AU" sz="3600" b="1" dirty="0">
              <a:latin typeface="Calibir"/>
            </a:endParaRPr>
          </a:p>
        </p:txBody>
      </p:sp>
      <p:sp>
        <p:nvSpPr>
          <p:cNvPr id="3" name="TextBox 2">
            <a:extLst>
              <a:ext uri="{FF2B5EF4-FFF2-40B4-BE49-F238E27FC236}">
                <a16:creationId xmlns:a16="http://schemas.microsoft.com/office/drawing/2014/main" id="{5296B1F7-F7F7-2958-F0D7-5333C8C16228}"/>
              </a:ext>
            </a:extLst>
          </p:cNvPr>
          <p:cNvSpPr txBox="1"/>
          <p:nvPr/>
        </p:nvSpPr>
        <p:spPr>
          <a:xfrm>
            <a:off x="0" y="1059850"/>
            <a:ext cx="5250425" cy="523220"/>
          </a:xfrm>
          <a:prstGeom prst="rect">
            <a:avLst/>
          </a:prstGeom>
          <a:noFill/>
        </p:spPr>
        <p:txBody>
          <a:bodyPr wrap="square" rtlCol="0">
            <a:spAutoFit/>
          </a:bodyPr>
          <a:lstStyle/>
          <a:p>
            <a:r>
              <a:rPr lang="en-AU" sz="2800" dirty="0">
                <a:highlight>
                  <a:srgbClr val="FFFF00"/>
                </a:highlight>
                <a:latin typeface="Calibir"/>
              </a:rPr>
              <a:t>(Java) </a:t>
            </a:r>
            <a:r>
              <a:rPr lang="en-AU" sz="2800" dirty="0">
                <a:latin typeface="Calibir"/>
              </a:rPr>
              <a:t>Line 50 of modified version:</a:t>
            </a:r>
          </a:p>
        </p:txBody>
      </p:sp>
      <p:sp>
        <p:nvSpPr>
          <p:cNvPr id="5" name="TextBox 4">
            <a:extLst>
              <a:ext uri="{FF2B5EF4-FFF2-40B4-BE49-F238E27FC236}">
                <a16:creationId xmlns:a16="http://schemas.microsoft.com/office/drawing/2014/main" id="{27865748-7B77-E4E0-F878-B30CD328EED9}"/>
              </a:ext>
            </a:extLst>
          </p:cNvPr>
          <p:cNvSpPr txBox="1"/>
          <p:nvPr/>
        </p:nvSpPr>
        <p:spPr>
          <a:xfrm>
            <a:off x="0" y="1678715"/>
            <a:ext cx="12192000" cy="671851"/>
          </a:xfrm>
          <a:prstGeom prst="rect">
            <a:avLst/>
          </a:prstGeom>
          <a:noFill/>
          <a:ln>
            <a:solidFill>
              <a:srgbClr val="FF0000"/>
            </a:solidFill>
          </a:ln>
        </p:spPr>
        <p:txBody>
          <a:bodyPr wrap="square">
            <a:spAutoFit/>
          </a:bodyPr>
          <a:lstStyle/>
          <a:p>
            <a:pPr>
              <a:lnSpc>
                <a:spcPct val="150000"/>
              </a:lnSpc>
            </a:pPr>
            <a:r>
              <a:rPr lang="en-US" sz="2800" dirty="0" err="1">
                <a:latin typeface="Calibir"/>
              </a:rPr>
              <a:t>System.out.println</a:t>
            </a:r>
            <a:r>
              <a:rPr lang="en-US" sz="2800" dirty="0">
                <a:latin typeface="Calibir"/>
              </a:rPr>
              <a:t>(name + " returned '" + </a:t>
            </a:r>
            <a:r>
              <a:rPr lang="en-US" sz="2800" dirty="0" err="1">
                <a:latin typeface="Calibir"/>
              </a:rPr>
              <a:t>book.title</a:t>
            </a:r>
            <a:r>
              <a:rPr lang="en-US" sz="2800" dirty="0">
                <a:latin typeface="Calibir"/>
              </a:rPr>
              <a:t> + "'.");</a:t>
            </a:r>
          </a:p>
        </p:txBody>
      </p:sp>
      <p:cxnSp>
        <p:nvCxnSpPr>
          <p:cNvPr id="8" name="Connector: Elbow 7">
            <a:extLst>
              <a:ext uri="{FF2B5EF4-FFF2-40B4-BE49-F238E27FC236}">
                <a16:creationId xmlns:a16="http://schemas.microsoft.com/office/drawing/2014/main" id="{1FBF230B-5A95-B816-CFDE-AC492C403C63}"/>
              </a:ext>
            </a:extLst>
          </p:cNvPr>
          <p:cNvCxnSpPr>
            <a:cxnSpLocks/>
            <a:stCxn id="5" idx="2"/>
          </p:cNvCxnSpPr>
          <p:nvPr/>
        </p:nvCxnSpPr>
        <p:spPr>
          <a:xfrm rot="5400000">
            <a:off x="4887915" y="3507033"/>
            <a:ext cx="2364553" cy="51619"/>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757647C-8203-8683-4D95-431018A12C21}"/>
              </a:ext>
            </a:extLst>
          </p:cNvPr>
          <p:cNvSpPr txBox="1"/>
          <p:nvPr/>
        </p:nvSpPr>
        <p:spPr>
          <a:xfrm>
            <a:off x="0" y="4717620"/>
            <a:ext cx="12192000" cy="861774"/>
          </a:xfrm>
          <a:prstGeom prst="rect">
            <a:avLst/>
          </a:prstGeom>
          <a:solidFill>
            <a:schemeClr val="tx1"/>
          </a:solidFill>
        </p:spPr>
        <p:txBody>
          <a:bodyPr wrap="square">
            <a:spAutoFit/>
          </a:bodyPr>
          <a:lstStyle/>
          <a:p>
            <a:pPr>
              <a:buNone/>
            </a:pPr>
            <a:r>
              <a:rPr lang="en-US" sz="2500" b="0" dirty="0" err="1">
                <a:solidFill>
                  <a:srgbClr val="4EC9B0"/>
                </a:solidFill>
                <a:effectLst/>
                <a:latin typeface="Consolas" panose="020B0609020204030204" pitchFamily="49" charset="0"/>
              </a:rPr>
              <a:t>System</a:t>
            </a:r>
            <a:r>
              <a:rPr lang="en-US" sz="2500" b="0" dirty="0" err="1">
                <a:solidFill>
                  <a:srgbClr val="CCCCCC"/>
                </a:solidFill>
                <a:effectLst/>
                <a:latin typeface="Consolas" panose="020B0609020204030204" pitchFamily="49" charset="0"/>
              </a:rPr>
              <a:t>.</a:t>
            </a:r>
            <a:r>
              <a:rPr lang="en-US" sz="2500" b="0" dirty="0" err="1">
                <a:solidFill>
                  <a:srgbClr val="4FC1FF"/>
                </a:solidFill>
                <a:effectLst/>
                <a:latin typeface="Consolas" panose="020B0609020204030204" pitchFamily="49" charset="0"/>
              </a:rPr>
              <a:t>out</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println</a:t>
            </a:r>
            <a:r>
              <a:rPr lang="en-US" sz="2500" b="0" dirty="0">
                <a:solidFill>
                  <a:srgbClr val="CCCCCC"/>
                </a:solidFill>
                <a:effectLst/>
                <a:latin typeface="Consolas" panose="020B0609020204030204" pitchFamily="49" charset="0"/>
              </a:rPr>
              <a:t>(</a:t>
            </a:r>
            <a:r>
              <a:rPr lang="en-US" sz="2500" b="0" dirty="0">
                <a:solidFill>
                  <a:srgbClr val="9CDCFE"/>
                </a:solidFill>
                <a:effectLst/>
                <a:latin typeface="Consolas" panose="020B0609020204030204" pitchFamily="49" charset="0"/>
              </a:rPr>
              <a:t>name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returned '"</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book</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title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Now holding "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borrowedBooks</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size</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CE9178"/>
                </a:solidFill>
                <a:effectLst/>
                <a:latin typeface="Consolas" panose="020B0609020204030204" pitchFamily="49" charset="0"/>
              </a:rPr>
              <a:t>" book(s)."</a:t>
            </a:r>
            <a:r>
              <a:rPr lang="en-US" sz="2500" b="0" dirty="0">
                <a:solidFill>
                  <a:srgbClr val="CCCCCC"/>
                </a:solidFill>
                <a:effectLst/>
                <a:latin typeface="Consolas" panose="020B0609020204030204" pitchFamily="49" charset="0"/>
              </a:rPr>
              <a:t>);</a:t>
            </a:r>
          </a:p>
        </p:txBody>
      </p:sp>
      <p:sp>
        <p:nvSpPr>
          <p:cNvPr id="9" name="Rectangle 1">
            <a:extLst>
              <a:ext uri="{FF2B5EF4-FFF2-40B4-BE49-F238E27FC236}">
                <a16:creationId xmlns:a16="http://schemas.microsoft.com/office/drawing/2014/main" id="{16052D97-FE78-DB12-FC9A-A0F029B28D36}"/>
              </a:ext>
            </a:extLst>
          </p:cNvPr>
          <p:cNvSpPr>
            <a:spLocks noChangeArrowheads="1"/>
          </p:cNvSpPr>
          <p:nvPr/>
        </p:nvSpPr>
        <p:spPr bwMode="auto">
          <a:xfrm>
            <a:off x="0" y="5798150"/>
            <a:ext cx="1001761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ir"/>
              </a:rPr>
              <a:t>Note: </a:t>
            </a:r>
            <a:r>
              <a:rPr kumimoji="0" lang="en-US" altLang="en-US" sz="2200" b="0" i="0" u="none" strike="noStrike" cap="none" normalizeH="0" baseline="0" dirty="0" err="1">
                <a:ln>
                  <a:noFill/>
                </a:ln>
                <a:solidFill>
                  <a:schemeClr val="tx1"/>
                </a:solidFill>
                <a:effectLst/>
                <a:latin typeface="Calibir"/>
              </a:rPr>
              <a:t>borrowedBooks.size</a:t>
            </a:r>
            <a:r>
              <a:rPr kumimoji="0" lang="en-US" altLang="en-US" sz="2200" b="0" i="0" u="none" strike="noStrike" cap="none" normalizeH="0" baseline="0" dirty="0">
                <a:ln>
                  <a:noFill/>
                </a:ln>
                <a:solidFill>
                  <a:schemeClr val="tx1"/>
                </a:solidFill>
                <a:effectLst/>
                <a:latin typeface="Calibir"/>
              </a:rPr>
              <a:t>() already reflects the decreased count after remove(book). </a:t>
            </a:r>
          </a:p>
        </p:txBody>
      </p:sp>
    </p:spTree>
    <p:extLst>
      <p:ext uri="{BB962C8B-B14F-4D97-AF65-F5344CB8AC3E}">
        <p14:creationId xmlns:p14="http://schemas.microsoft.com/office/powerpoint/2010/main" val="695539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6" name="Rectangle 1">
            <a:extLst>
              <a:ext uri="{FF2B5EF4-FFF2-40B4-BE49-F238E27FC236}">
                <a16:creationId xmlns:a16="http://schemas.microsoft.com/office/drawing/2014/main" id="{54232C39-4B67-B72F-D421-069ED2BA74CB}"/>
              </a:ext>
            </a:extLst>
          </p:cNvPr>
          <p:cNvSpPr>
            <a:spLocks noChangeArrowheads="1"/>
          </p:cNvSpPr>
          <p:nvPr/>
        </p:nvSpPr>
        <p:spPr bwMode="auto">
          <a:xfrm>
            <a:off x="0" y="689926"/>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Task:</a:t>
            </a:r>
            <a:r>
              <a:rPr lang="en-US" altLang="en-US" sz="2800" dirty="0">
                <a:latin typeface="Calibir"/>
              </a:rPr>
              <a:t> Keep a running counter </a:t>
            </a:r>
            <a:r>
              <a:rPr lang="en-US" altLang="en-US" sz="2800" dirty="0" err="1">
                <a:latin typeface="Calibir"/>
              </a:rPr>
              <a:t>times_borrowed</a:t>
            </a:r>
            <a:r>
              <a:rPr lang="en-US" altLang="en-US" sz="2800" dirty="0">
                <a:latin typeface="Calibir"/>
              </a:rPr>
              <a:t> on each Book.</a:t>
            </a:r>
            <a:br>
              <a:rPr lang="en-US" altLang="en-US" sz="2800" dirty="0">
                <a:latin typeface="Calibir"/>
              </a:rPr>
            </a:br>
            <a:r>
              <a:rPr lang="en-US" altLang="en-US" sz="2800" b="1" dirty="0">
                <a:latin typeface="Calibir"/>
              </a:rPr>
              <a:t>Hint for Python:</a:t>
            </a:r>
            <a:r>
              <a:rPr lang="en-US" altLang="en-US" sz="2800" dirty="0">
                <a:latin typeface="Calibir"/>
              </a:rPr>
              <a:t> Add one new line in </a:t>
            </a:r>
            <a:r>
              <a:rPr lang="en-US" altLang="en-US" sz="2800" dirty="0" err="1">
                <a:latin typeface="Calibir"/>
              </a:rPr>
              <a:t>Member.borrow</a:t>
            </a:r>
            <a:r>
              <a:rPr lang="en-US" altLang="en-US" sz="2800" dirty="0">
                <a:latin typeface="Calibir"/>
              </a:rPr>
              <a:t>() right after setting </a:t>
            </a:r>
            <a:r>
              <a:rPr lang="en-US" altLang="en-US" sz="2800" dirty="0" err="1">
                <a:latin typeface="Calibir"/>
              </a:rPr>
              <a:t>book.borrowed_by</a:t>
            </a:r>
            <a:r>
              <a:rPr lang="en-US" altLang="en-US" sz="2800" dirty="0">
                <a:latin typeface="Calibir"/>
              </a:rPr>
              <a:t> = self (line 23), then display it</a:t>
            </a:r>
          </a:p>
          <a:p>
            <a:pPr eaLnBrk="0" fontAlgn="base" hangingPunct="0">
              <a:lnSpc>
                <a:spcPct val="150000"/>
              </a:lnSpc>
              <a:spcBef>
                <a:spcPct val="0"/>
              </a:spcBef>
              <a:spcAft>
                <a:spcPct val="0"/>
              </a:spcAft>
            </a:pPr>
            <a:r>
              <a:rPr lang="en-US" altLang="en-US" sz="2800" b="1" dirty="0">
                <a:latin typeface="Calibir"/>
              </a:rPr>
              <a:t>Hint for Java:</a:t>
            </a:r>
            <a:r>
              <a:rPr lang="en-US" altLang="en-US" sz="2800" dirty="0">
                <a:latin typeface="Calibir"/>
              </a:rPr>
              <a:t> </a:t>
            </a:r>
            <a:br>
              <a:rPr lang="en-US" altLang="en-US" sz="2800" dirty="0">
                <a:latin typeface="Calibir"/>
              </a:rPr>
            </a:br>
            <a:br>
              <a:rPr lang="en-US" altLang="en-US" sz="2800" dirty="0">
                <a:latin typeface="Calibir"/>
              </a:rPr>
            </a:br>
            <a:r>
              <a:rPr lang="en-US" altLang="en-US" sz="2800" b="1" dirty="0">
                <a:latin typeface="Calibir"/>
              </a:rPr>
              <a:t>Step 1 (new field):</a:t>
            </a:r>
            <a:r>
              <a:rPr lang="en-US" altLang="en-US" sz="2800" dirty="0">
                <a:latin typeface="Calibir"/>
              </a:rPr>
              <a:t> Add this inside class Book with the other fields (line 9). </a:t>
            </a:r>
          </a:p>
          <a:p>
            <a:pPr eaLnBrk="0" fontAlgn="base" hangingPunct="0">
              <a:lnSpc>
                <a:spcPct val="150000"/>
              </a:lnSpc>
              <a:spcBef>
                <a:spcPct val="0"/>
              </a:spcBef>
              <a:spcAft>
                <a:spcPct val="0"/>
              </a:spcAft>
            </a:pPr>
            <a:r>
              <a:rPr lang="en-US" altLang="en-US" sz="2800" dirty="0">
                <a:latin typeface="Calibir"/>
              </a:rPr>
              <a:t>int </a:t>
            </a:r>
            <a:r>
              <a:rPr lang="en-US" altLang="en-US" sz="2800" dirty="0" err="1">
                <a:latin typeface="Calibir"/>
              </a:rPr>
              <a:t>timesBorrowed</a:t>
            </a:r>
            <a:r>
              <a:rPr lang="en-US" altLang="en-US" sz="2800" dirty="0">
                <a:latin typeface="Calibir"/>
              </a:rPr>
              <a:t> = 0; // how many times this book has been borrowed (lifetime)</a:t>
            </a:r>
          </a:p>
        </p:txBody>
      </p:sp>
      <p:sp>
        <p:nvSpPr>
          <p:cNvPr id="11" name="TextBox 10">
            <a:extLst>
              <a:ext uri="{FF2B5EF4-FFF2-40B4-BE49-F238E27FC236}">
                <a16:creationId xmlns:a16="http://schemas.microsoft.com/office/drawing/2014/main" id="{77158667-5353-7E6B-BE62-5CA8BE61968D}"/>
              </a:ext>
            </a:extLst>
          </p:cNvPr>
          <p:cNvSpPr txBox="1"/>
          <p:nvPr/>
        </p:nvSpPr>
        <p:spPr>
          <a:xfrm>
            <a:off x="0" y="5372639"/>
            <a:ext cx="12192000" cy="1318181"/>
          </a:xfrm>
          <a:prstGeom prst="rect">
            <a:avLst/>
          </a:prstGeom>
          <a:noFill/>
        </p:spPr>
        <p:txBody>
          <a:bodyPr wrap="square">
            <a:spAutoFit/>
          </a:bodyPr>
          <a:lstStyle/>
          <a:p>
            <a:pPr eaLnBrk="0" fontAlgn="base" hangingPunct="0">
              <a:lnSpc>
                <a:spcPct val="150000"/>
              </a:lnSpc>
              <a:spcBef>
                <a:spcPct val="0"/>
              </a:spcBef>
              <a:spcAft>
                <a:spcPct val="0"/>
              </a:spcAft>
            </a:pPr>
            <a:r>
              <a:rPr lang="en-US" altLang="en-US" sz="2800" b="1" dirty="0">
                <a:latin typeface="Calibir"/>
              </a:rPr>
              <a:t>Step 2 (increment):</a:t>
            </a:r>
            <a:r>
              <a:rPr lang="en-US" altLang="en-US" sz="2800" dirty="0">
                <a:latin typeface="Calibir"/>
              </a:rPr>
              <a:t> In </a:t>
            </a:r>
            <a:r>
              <a:rPr lang="en-US" altLang="en-US" sz="2800" dirty="0" err="1">
                <a:latin typeface="Calibir"/>
              </a:rPr>
              <a:t>Member.borrow</a:t>
            </a:r>
            <a:r>
              <a:rPr lang="en-US" altLang="en-US" sz="2800" dirty="0">
                <a:latin typeface="Calibir"/>
              </a:rPr>
              <a:t>() after you mark the book borrowed and set the borrower, increment the counter. </a:t>
            </a:r>
          </a:p>
        </p:txBody>
      </p:sp>
      <p:pic>
        <p:nvPicPr>
          <p:cNvPr id="3" name="Timer">
            <a:hlinkClick r:id="" action="ppaction://media"/>
            <a:extLst>
              <a:ext uri="{FF2B5EF4-FFF2-40B4-BE49-F238E27FC236}">
                <a16:creationId xmlns:a16="http://schemas.microsoft.com/office/drawing/2014/main" id="{7983E6B8-208E-2366-FBF8-2A40C221B16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87" t="44980" r="40986" b="40884"/>
          <a:stretch>
            <a:fillRect/>
          </a:stretch>
        </p:blipFill>
        <p:spPr>
          <a:xfrm>
            <a:off x="5097702" y="2785011"/>
            <a:ext cx="1996596" cy="857075"/>
          </a:xfrm>
          <a:prstGeom prst="rect">
            <a:avLst/>
          </a:prstGeom>
          <a:ln w="38100">
            <a:solidFill>
              <a:srgbClr val="FF0000"/>
            </a:solidFill>
          </a:ln>
        </p:spPr>
      </p:pic>
    </p:spTree>
    <p:extLst>
      <p:ext uri="{BB962C8B-B14F-4D97-AF65-F5344CB8AC3E}">
        <p14:creationId xmlns:p14="http://schemas.microsoft.com/office/powerpoint/2010/main" val="689397706"/>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8CF6-BC19-4BB3-7CCC-95100F8DD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1523-2FA2-B23E-5014-41D398913CD9}"/>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10" name="TextBox 9">
            <a:extLst>
              <a:ext uri="{FF2B5EF4-FFF2-40B4-BE49-F238E27FC236}">
                <a16:creationId xmlns:a16="http://schemas.microsoft.com/office/drawing/2014/main" id="{DB91D8F5-24C7-A750-5B31-0BAA64A713A1}"/>
              </a:ext>
            </a:extLst>
          </p:cNvPr>
          <p:cNvSpPr txBox="1"/>
          <p:nvPr/>
        </p:nvSpPr>
        <p:spPr>
          <a:xfrm>
            <a:off x="159834" y="557048"/>
            <a:ext cx="12032166" cy="1561389"/>
          </a:xfrm>
          <a:prstGeom prst="rect">
            <a:avLst/>
          </a:prstGeom>
          <a:solidFill>
            <a:schemeClr val="tx1"/>
          </a:solidFill>
        </p:spPr>
        <p:txBody>
          <a:bodyPr wrap="square">
            <a:spAutoFit/>
          </a:bodyPr>
          <a:lstStyle/>
          <a:p>
            <a:pPr>
              <a:lnSpc>
                <a:spcPct val="150000"/>
              </a:lnSpc>
              <a:buNone/>
            </a:pP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.times_borrowed</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DCDCAA"/>
                </a:solidFill>
                <a:effectLst/>
                <a:latin typeface="Consolas" panose="020B0609020204030204" pitchFamily="49" charset="0"/>
              </a:rPr>
              <a:t>getattr</a:t>
            </a:r>
            <a:r>
              <a:rPr lang="en-US" sz="2200" b="0" dirty="0">
                <a:solidFill>
                  <a:srgbClr val="CCCCCC"/>
                </a:solidFill>
                <a:effectLst/>
                <a:latin typeface="Consolas" panose="020B0609020204030204" pitchFamily="49" charset="0"/>
              </a:rPr>
              <a:t>(</a:t>
            </a:r>
            <a:r>
              <a:rPr lang="en-US" sz="2200" b="0" dirty="0">
                <a:solidFill>
                  <a:srgbClr val="9CDCFE"/>
                </a:solidFill>
                <a:effectLst/>
                <a:latin typeface="Consolas" panose="020B0609020204030204" pitchFamily="49" charset="0"/>
              </a:rPr>
              <a:t>book</a:t>
            </a:r>
            <a:r>
              <a:rPr lang="en-US" sz="2200" b="0" dirty="0">
                <a:solidFill>
                  <a:srgbClr val="CCCCCC"/>
                </a:solidFill>
                <a:effectLst/>
                <a:latin typeface="Consolas" panose="020B0609020204030204" pitchFamily="49" charset="0"/>
              </a:rPr>
              <a:t>, </a:t>
            </a:r>
            <a:r>
              <a:rPr lang="en-US" sz="2200" b="0" dirty="0">
                <a:solidFill>
                  <a:srgbClr val="CE9178"/>
                </a:solidFill>
                <a:effectLst/>
                <a:latin typeface="Consolas" panose="020B0609020204030204" pitchFamily="49" charset="0"/>
              </a:rPr>
              <a:t>"</a:t>
            </a:r>
            <a:r>
              <a:rPr lang="en-US" sz="2200" b="0" dirty="0" err="1">
                <a:solidFill>
                  <a:srgbClr val="CE9178"/>
                </a:solidFill>
                <a:effectLst/>
                <a:latin typeface="Consolas" panose="020B0609020204030204" pitchFamily="49" charset="0"/>
              </a:rPr>
              <a:t>times_borrowed</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1</a:t>
            </a:r>
            <a:endParaRPr lang="en-US" sz="2200" b="0" dirty="0">
              <a:solidFill>
                <a:srgbClr val="CCCCCC"/>
              </a:solidFill>
              <a:effectLst/>
              <a:latin typeface="Consolas" panose="020B0609020204030204" pitchFamily="49" charset="0"/>
            </a:endParaRPr>
          </a:p>
          <a:p>
            <a:pPr>
              <a:lnSpc>
                <a:spcPct val="150000"/>
              </a:lnSpc>
              <a:buNone/>
            </a:pP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a:solidFill>
                  <a:srgbClr val="569CD6"/>
                </a:solidFill>
                <a:effectLst/>
                <a:latin typeface="Consolas" panose="020B0609020204030204" pitchFamily="49" charset="0"/>
              </a:rPr>
              <a:t>f</a:t>
            </a:r>
            <a:r>
              <a:rPr lang="en-US" sz="2200" b="0" dirty="0">
                <a:solidFill>
                  <a:srgbClr val="CE9178"/>
                </a:solidFill>
                <a:effectLst/>
                <a:latin typeface="Consolas" panose="020B0609020204030204" pitchFamily="49" charset="0"/>
              </a:rPr>
              <a:t>"'</a:t>
            </a:r>
            <a:r>
              <a:rPr lang="en-US" sz="2200" b="0" dirty="0">
                <a:solidFill>
                  <a:srgbClr val="569CD6"/>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.title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has been borrowed </a:t>
            </a:r>
            <a:r>
              <a:rPr lang="en-US" sz="2200" b="0" dirty="0">
                <a:solidFill>
                  <a:srgbClr val="569CD6"/>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book</a:t>
            </a:r>
            <a:r>
              <a:rPr lang="en-US" sz="2200" b="0" dirty="0" err="1">
                <a:solidFill>
                  <a:srgbClr val="CCCCCC"/>
                </a:solidFill>
                <a:effectLst/>
                <a:latin typeface="Consolas" panose="020B0609020204030204" pitchFamily="49" charset="0"/>
              </a:rPr>
              <a:t>.times_borrowed</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times in total."</a:t>
            </a:r>
            <a:r>
              <a:rPr lang="en-US" sz="2200" b="0" dirty="0">
                <a:solidFill>
                  <a:srgbClr val="CCCCCC"/>
                </a:solidFill>
                <a:effectLst/>
                <a:latin typeface="Consolas" panose="020B0609020204030204" pitchFamily="49" charset="0"/>
              </a:rPr>
              <a:t>)  </a:t>
            </a:r>
            <a:r>
              <a:rPr lang="en-US" sz="2200" b="0" dirty="0">
                <a:solidFill>
                  <a:srgbClr val="6A9955"/>
                </a:solidFill>
                <a:effectLst/>
                <a:latin typeface="Consolas" panose="020B0609020204030204" pitchFamily="49" charset="0"/>
              </a:rPr>
              <a:t># NEW line</a:t>
            </a:r>
            <a:endParaRPr lang="en-US" sz="2200" b="0" dirty="0">
              <a:solidFill>
                <a:srgbClr val="CCCCCC"/>
              </a:solidFill>
              <a:effectLst/>
              <a:latin typeface="Consolas" panose="020B0609020204030204" pitchFamily="49" charset="0"/>
            </a:endParaRPr>
          </a:p>
        </p:txBody>
      </p:sp>
      <p:pic>
        <p:nvPicPr>
          <p:cNvPr id="14" name="Picture 13">
            <a:extLst>
              <a:ext uri="{FF2B5EF4-FFF2-40B4-BE49-F238E27FC236}">
                <a16:creationId xmlns:a16="http://schemas.microsoft.com/office/drawing/2014/main" id="{84099A62-F6FA-506A-318A-879CC69DF678}"/>
              </a:ext>
            </a:extLst>
          </p:cNvPr>
          <p:cNvPicPr>
            <a:picLocks noChangeAspect="1"/>
          </p:cNvPicPr>
          <p:nvPr/>
        </p:nvPicPr>
        <p:blipFill>
          <a:blip r:embed="rId2"/>
          <a:srcRect l="50862" t="20383" r="7500" b="44368"/>
          <a:stretch>
            <a:fillRect/>
          </a:stretch>
        </p:blipFill>
        <p:spPr>
          <a:xfrm>
            <a:off x="159834" y="2118437"/>
            <a:ext cx="4639171" cy="2209128"/>
          </a:xfrm>
          <a:prstGeom prst="rect">
            <a:avLst/>
          </a:prstGeom>
        </p:spPr>
      </p:pic>
      <p:sp>
        <p:nvSpPr>
          <p:cNvPr id="16" name="Rectangle: Rounded Corners 15">
            <a:extLst>
              <a:ext uri="{FF2B5EF4-FFF2-40B4-BE49-F238E27FC236}">
                <a16:creationId xmlns:a16="http://schemas.microsoft.com/office/drawing/2014/main" id="{89C91110-A23F-D75F-A7AC-61CF220C2130}"/>
              </a:ext>
            </a:extLst>
          </p:cNvPr>
          <p:cNvSpPr/>
          <p:nvPr/>
        </p:nvSpPr>
        <p:spPr>
          <a:xfrm>
            <a:off x="317489" y="2118437"/>
            <a:ext cx="4481516" cy="53272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38E14D3A-62B9-009F-0A3D-7F21E29C26EA}"/>
              </a:ext>
            </a:extLst>
          </p:cNvPr>
          <p:cNvSpPr>
            <a:spLocks noChangeArrowheads="1"/>
          </p:cNvSpPr>
          <p:nvPr/>
        </p:nvSpPr>
        <p:spPr bwMode="auto">
          <a:xfrm>
            <a:off x="4799005" y="2026421"/>
            <a:ext cx="7392995" cy="4831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(Python)</a:t>
            </a:r>
            <a:br>
              <a:rPr kumimoji="0" lang="en-US" altLang="en-US" sz="2600" b="0" i="0" u="none" strike="noStrike" cap="none" normalizeH="0" baseline="0" dirty="0">
                <a:ln>
                  <a:noFill/>
                </a:ln>
                <a:solidFill>
                  <a:schemeClr val="tx1"/>
                </a:solidFill>
                <a:effectLst/>
                <a:latin typeface="Calibir"/>
              </a:rPr>
            </a:br>
            <a:r>
              <a:rPr kumimoji="0" lang="en-US" altLang="en-US" sz="2600" b="0" i="0" u="none" strike="noStrike" cap="none" normalizeH="0" baseline="0" dirty="0">
                <a:ln>
                  <a:noFill/>
                </a:ln>
                <a:solidFill>
                  <a:schemeClr val="tx1"/>
                </a:solidFill>
                <a:effectLst/>
                <a:latin typeface="Calibir"/>
              </a:rPr>
              <a:t>If Farshid borrows </a:t>
            </a:r>
            <a:r>
              <a:rPr kumimoji="0" lang="en-US" altLang="en-US" sz="2600" b="0" i="1" u="none" strike="noStrike" cap="none" normalizeH="0" baseline="0" dirty="0">
                <a:ln>
                  <a:noFill/>
                </a:ln>
                <a:solidFill>
                  <a:schemeClr val="tx1"/>
                </a:solidFill>
                <a:effectLst/>
                <a:latin typeface="Calibir"/>
              </a:rPr>
              <a:t>Python Basics</a:t>
            </a:r>
            <a:r>
              <a:rPr kumimoji="0" lang="en-US" altLang="en-US" sz="2600" b="0" i="0" u="none" strike="noStrike" cap="none" normalizeH="0" baseline="0" dirty="0">
                <a:ln>
                  <a:noFill/>
                </a:ln>
                <a:solidFill>
                  <a:schemeClr val="tx1"/>
                </a:solidFill>
                <a:effectLst/>
                <a:latin typeface="Calibir"/>
              </a:rPr>
              <a:t> twice (with return in between):</a:t>
            </a:r>
          </a:p>
          <a:p>
            <a:pPr lvl="0" eaLnBrk="0" fontAlgn="base" hangingPunct="0">
              <a:lnSpc>
                <a:spcPct val="150000"/>
              </a:lnSpc>
              <a:spcBef>
                <a:spcPct val="0"/>
              </a:spcBef>
              <a:spcAft>
                <a:spcPct val="0"/>
              </a:spcAft>
            </a:pPr>
            <a:r>
              <a:rPr lang="en-US" altLang="en-US" sz="2600" dirty="0">
                <a:latin typeface="Calibir"/>
              </a:rPr>
              <a:t>Farshid</a:t>
            </a:r>
            <a:r>
              <a:rPr kumimoji="0" lang="en-US" altLang="en-US" sz="2600" b="0" i="0" u="none" strike="noStrike" cap="none" normalizeH="0" baseline="0" dirty="0">
                <a:ln>
                  <a:noFill/>
                </a:ln>
                <a:solidFill>
                  <a:schemeClr val="tx1"/>
                </a:solidFill>
                <a:effectLst/>
                <a:latin typeface="Calibir"/>
              </a:rPr>
              <a:t> borrowed 'Python Basics' (now 1 borrowed). 'Python Basics' has been borrowed 1 times in total. </a:t>
            </a:r>
            <a:r>
              <a:rPr lang="en-US" altLang="en-US" sz="2600" dirty="0">
                <a:latin typeface="Calibir"/>
              </a:rPr>
              <a:t>Farshid</a:t>
            </a:r>
            <a:r>
              <a:rPr kumimoji="0" lang="en-US" altLang="en-US" sz="2600" b="0" i="0" u="none" strike="noStrike" cap="none" normalizeH="0" baseline="0" dirty="0">
                <a:ln>
                  <a:noFill/>
                </a:ln>
                <a:solidFill>
                  <a:schemeClr val="tx1"/>
                </a:solidFill>
                <a:effectLst/>
                <a:latin typeface="Calibir"/>
              </a:rPr>
              <a:t> returned 'Python Basics' (now 0 borrowed). </a:t>
            </a:r>
            <a:r>
              <a:rPr kumimoji="0" lang="en-US" altLang="en-US" sz="2600" b="0" i="0" u="none" strike="noStrike" cap="none" normalizeH="0" baseline="0">
                <a:ln>
                  <a:noFill/>
                </a:ln>
                <a:solidFill>
                  <a:schemeClr val="tx1"/>
                </a:solidFill>
                <a:effectLst/>
                <a:latin typeface="Calibir"/>
              </a:rPr>
              <a:t>Farshid </a:t>
            </a:r>
            <a:r>
              <a:rPr kumimoji="0" lang="en-US" altLang="en-US" sz="2600" b="0" i="0" u="none" strike="noStrike" cap="none" normalizeH="0" baseline="0" dirty="0">
                <a:ln>
                  <a:noFill/>
                </a:ln>
                <a:solidFill>
                  <a:schemeClr val="tx1"/>
                </a:solidFill>
                <a:effectLst/>
                <a:latin typeface="Calibir"/>
              </a:rPr>
              <a:t>borrowed 'Python Basics' (now 1 borrowed). 'Python Basics' has been borrowed 2 times in total.</a:t>
            </a:r>
          </a:p>
        </p:txBody>
      </p:sp>
    </p:spTree>
    <p:extLst>
      <p:ext uri="{BB962C8B-B14F-4D97-AF65-F5344CB8AC3E}">
        <p14:creationId xmlns:p14="http://schemas.microsoft.com/office/powerpoint/2010/main" val="946867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634D-1514-D4A5-AEBF-A580E132C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88495-F86A-0201-BC65-9BF5F2B2887F}"/>
              </a:ext>
            </a:extLst>
          </p:cNvPr>
          <p:cNvSpPr>
            <a:spLocks noGrp="1"/>
          </p:cNvSpPr>
          <p:nvPr>
            <p:ph type="title"/>
          </p:nvPr>
        </p:nvSpPr>
        <p:spPr>
          <a:xfrm>
            <a:off x="0" y="0"/>
            <a:ext cx="12192000" cy="557048"/>
          </a:xfrm>
        </p:spPr>
        <p:txBody>
          <a:bodyPr anchor="b">
            <a:normAutofit fontScale="90000"/>
          </a:bodyPr>
          <a:lstStyle/>
          <a:p>
            <a:r>
              <a:rPr lang="en-US" sz="3600" b="1" dirty="0">
                <a:latin typeface="Calibir"/>
              </a:rPr>
              <a:t>Activity 4 — Track how many times a book has ever been borrowed</a:t>
            </a:r>
            <a:endParaRPr lang="en-AU" sz="3600" b="1" dirty="0">
              <a:latin typeface="Calibir"/>
            </a:endParaRPr>
          </a:p>
        </p:txBody>
      </p:sp>
      <p:sp>
        <p:nvSpPr>
          <p:cNvPr id="3" name="Rectangle 2">
            <a:extLst>
              <a:ext uri="{FF2B5EF4-FFF2-40B4-BE49-F238E27FC236}">
                <a16:creationId xmlns:a16="http://schemas.microsoft.com/office/drawing/2014/main" id="{0ED9DC0C-4BB1-65C2-E3DB-B4FDA2B10D54}"/>
              </a:ext>
            </a:extLst>
          </p:cNvPr>
          <p:cNvSpPr>
            <a:spLocks noChangeArrowheads="1"/>
          </p:cNvSpPr>
          <p:nvPr/>
        </p:nvSpPr>
        <p:spPr bwMode="auto">
          <a:xfrm>
            <a:off x="0" y="557048"/>
            <a:ext cx="7392995" cy="630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(Java) line 9</a:t>
            </a:r>
          </a:p>
        </p:txBody>
      </p:sp>
      <p:sp>
        <p:nvSpPr>
          <p:cNvPr id="8" name="TextBox 7">
            <a:extLst>
              <a:ext uri="{FF2B5EF4-FFF2-40B4-BE49-F238E27FC236}">
                <a16:creationId xmlns:a16="http://schemas.microsoft.com/office/drawing/2014/main" id="{1738AA44-8967-C277-1DB6-EA90E1A33039}"/>
              </a:ext>
            </a:extLst>
          </p:cNvPr>
          <p:cNvSpPr txBox="1"/>
          <p:nvPr/>
        </p:nvSpPr>
        <p:spPr>
          <a:xfrm>
            <a:off x="0" y="1187860"/>
            <a:ext cx="12192000" cy="769441"/>
          </a:xfrm>
          <a:prstGeom prst="rect">
            <a:avLst/>
          </a:prstGeom>
          <a:solidFill>
            <a:schemeClr val="tx1"/>
          </a:solidFill>
        </p:spPr>
        <p:txBody>
          <a:bodyPr wrap="square">
            <a:spAutoFit/>
          </a:bodyPr>
          <a:lstStyle/>
          <a:p>
            <a:pPr>
              <a:buNone/>
            </a:pPr>
            <a:r>
              <a:rPr lang="en-US" sz="2200" b="0" dirty="0">
                <a:solidFill>
                  <a:srgbClr val="CCCCCC"/>
                </a:solidFill>
                <a:effectLst/>
                <a:latin typeface="Consolas" panose="020B0609020204030204" pitchFamily="49" charset="0"/>
              </a:rPr>
              <a:t>    </a:t>
            </a:r>
            <a:r>
              <a:rPr lang="en-US" sz="2200" b="0" dirty="0">
                <a:solidFill>
                  <a:srgbClr val="4EC9B0"/>
                </a:solidFill>
                <a:effectLst/>
                <a:latin typeface="Consolas" panose="020B0609020204030204" pitchFamily="49" charset="0"/>
              </a:rPr>
              <a:t>int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timesBorrowed</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6A9955"/>
                </a:solidFill>
                <a:effectLst/>
                <a:latin typeface="Consolas" panose="020B0609020204030204" pitchFamily="49" charset="0"/>
              </a:rPr>
              <a:t>// how many times this book has been borrowed (lifetime)</a:t>
            </a:r>
            <a:endParaRPr lang="en-US" sz="2200" b="0" dirty="0">
              <a:solidFill>
                <a:srgbClr val="CCCCCC"/>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12235325-F1F7-D93E-DB54-7617952884CF}"/>
              </a:ext>
            </a:extLst>
          </p:cNvPr>
          <p:cNvSpPr>
            <a:spLocks noChangeArrowheads="1"/>
          </p:cNvSpPr>
          <p:nvPr/>
        </p:nvSpPr>
        <p:spPr bwMode="auto">
          <a:xfrm>
            <a:off x="-1" y="2272898"/>
            <a:ext cx="7392995" cy="630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Calibir"/>
              </a:rPr>
              <a:t>Class Member &gt;&gt; borrow – line 39</a:t>
            </a:r>
          </a:p>
        </p:txBody>
      </p:sp>
      <p:sp>
        <p:nvSpPr>
          <p:cNvPr id="6" name="TextBox 5">
            <a:extLst>
              <a:ext uri="{FF2B5EF4-FFF2-40B4-BE49-F238E27FC236}">
                <a16:creationId xmlns:a16="http://schemas.microsoft.com/office/drawing/2014/main" id="{E77524D1-072A-E73C-A589-2CB558EE78A4}"/>
              </a:ext>
            </a:extLst>
          </p:cNvPr>
          <p:cNvSpPr txBox="1"/>
          <p:nvPr/>
        </p:nvSpPr>
        <p:spPr>
          <a:xfrm>
            <a:off x="0" y="3189935"/>
            <a:ext cx="6172200" cy="1384995"/>
          </a:xfrm>
          <a:prstGeom prst="rect">
            <a:avLst/>
          </a:prstGeom>
          <a:noFill/>
          <a:ln>
            <a:solidFill>
              <a:srgbClr val="FF0000"/>
            </a:solidFill>
          </a:ln>
        </p:spPr>
        <p:txBody>
          <a:bodyPr wrap="square">
            <a:spAutoFit/>
          </a:bodyPr>
          <a:lstStyle/>
          <a:p>
            <a:r>
              <a:rPr lang="en-AU" sz="2800" dirty="0" err="1">
                <a:latin typeface="Calibir"/>
              </a:rPr>
              <a:t>book.status</a:t>
            </a:r>
            <a:r>
              <a:rPr lang="en-AU" sz="2800" dirty="0">
                <a:latin typeface="Calibir"/>
              </a:rPr>
              <a:t> = "borrowed";</a:t>
            </a:r>
          </a:p>
          <a:p>
            <a:r>
              <a:rPr lang="en-AU" sz="2800" dirty="0" err="1">
                <a:latin typeface="Calibir"/>
              </a:rPr>
              <a:t>book.borrowedBy</a:t>
            </a:r>
            <a:r>
              <a:rPr lang="en-AU" sz="2800" dirty="0">
                <a:latin typeface="Calibir"/>
              </a:rPr>
              <a:t> = this;</a:t>
            </a:r>
          </a:p>
          <a:p>
            <a:r>
              <a:rPr lang="en-AU" sz="2800" dirty="0" err="1">
                <a:latin typeface="Calibir"/>
              </a:rPr>
              <a:t>borrowedBooks.add</a:t>
            </a:r>
            <a:r>
              <a:rPr lang="en-AU" sz="2800" dirty="0">
                <a:latin typeface="Calibir"/>
              </a:rPr>
              <a:t>(book);</a:t>
            </a:r>
          </a:p>
        </p:txBody>
      </p:sp>
      <p:pic>
        <p:nvPicPr>
          <p:cNvPr id="9" name="Picture 8">
            <a:extLst>
              <a:ext uri="{FF2B5EF4-FFF2-40B4-BE49-F238E27FC236}">
                <a16:creationId xmlns:a16="http://schemas.microsoft.com/office/drawing/2014/main" id="{763038DA-0E3B-AEB9-7A3A-0C0B909E2FEF}"/>
              </a:ext>
            </a:extLst>
          </p:cNvPr>
          <p:cNvPicPr>
            <a:picLocks noChangeAspect="1"/>
          </p:cNvPicPr>
          <p:nvPr/>
        </p:nvPicPr>
        <p:blipFill>
          <a:blip r:embed="rId2"/>
          <a:srcRect l="20214" t="36097" r="12653" b="42335"/>
          <a:stretch>
            <a:fillRect/>
          </a:stretch>
        </p:blipFill>
        <p:spPr>
          <a:xfrm>
            <a:off x="-1" y="4781254"/>
            <a:ext cx="11563816" cy="2089687"/>
          </a:xfrm>
          <a:prstGeom prst="rect">
            <a:avLst/>
          </a:prstGeom>
        </p:spPr>
      </p:pic>
      <p:cxnSp>
        <p:nvCxnSpPr>
          <p:cNvPr id="12" name="Connector: Elbow 11">
            <a:extLst>
              <a:ext uri="{FF2B5EF4-FFF2-40B4-BE49-F238E27FC236}">
                <a16:creationId xmlns:a16="http://schemas.microsoft.com/office/drawing/2014/main" id="{4EB87C3B-2D71-8DDA-7036-AEB06D40125A}"/>
              </a:ext>
            </a:extLst>
          </p:cNvPr>
          <p:cNvCxnSpPr>
            <a:stCxn id="6" idx="3"/>
          </p:cNvCxnSpPr>
          <p:nvPr/>
        </p:nvCxnSpPr>
        <p:spPr>
          <a:xfrm>
            <a:off x="6172200" y="3882433"/>
            <a:ext cx="752707" cy="890289"/>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3013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3D06-513B-420C-25DC-FEA2E8DF52E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990024-9DA5-908D-59A9-E8C116AD9A31}"/>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1C8C5A3F-CC0C-0DDA-B1A4-812F99F6C9B8}"/>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B0DE7EA9-C68E-58A9-D875-EC0286E24BA1}"/>
              </a:ext>
            </a:extLst>
          </p:cNvPr>
          <p:cNvSpPr>
            <a:spLocks noChangeArrowheads="1"/>
          </p:cNvSpPr>
          <p:nvPr/>
        </p:nvSpPr>
        <p:spPr bwMode="auto">
          <a:xfrm>
            <a:off x="0" y="4148375"/>
            <a:ext cx="5898987" cy="2798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Calibir"/>
              </a:rPr>
              <a:t>First borrow</a:t>
            </a:r>
            <a:endParaRPr kumimoji="0" lang="en-US" altLang="en-US" sz="1700" b="0" i="0" u="none" strike="noStrike" cap="none" normalizeH="0" baseline="0" dirty="0">
              <a:ln>
                <a:noFill/>
              </a:ln>
              <a:solidFill>
                <a:schemeClr val="tx1"/>
              </a:solidFill>
              <a:effectLst/>
              <a:latin typeface="Calibir"/>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borrow(book1) passed both checks (limit &lt; 5, book available).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State changes:</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book1.status = "borrowed"</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book1.borrowedBy = Farshid</a:t>
            </a: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err="1">
                <a:ln>
                  <a:noFill/>
                </a:ln>
                <a:solidFill>
                  <a:schemeClr val="tx1"/>
                </a:solidFill>
                <a:effectLst/>
                <a:latin typeface="Calibir"/>
              </a:rPr>
              <a:t>member.borrowedBooks.size</a:t>
            </a:r>
            <a:r>
              <a:rPr kumimoji="0" lang="en-US" altLang="en-US" sz="1700" b="0" i="0" u="none" strike="noStrike" cap="none" normalizeH="0" baseline="0" dirty="0">
                <a:ln>
                  <a:noFill/>
                </a:ln>
                <a:solidFill>
                  <a:schemeClr val="tx1"/>
                </a:solidFill>
                <a:effectLst/>
                <a:latin typeface="Calibir"/>
              </a:rPr>
              <a:t>() → </a:t>
            </a:r>
            <a:r>
              <a:rPr kumimoji="0" lang="en-US" altLang="en-US" sz="1700" b="1" i="0" u="none" strike="noStrike" cap="none" normalizeH="0" baseline="0" dirty="0">
                <a:ln>
                  <a:noFill/>
                </a:ln>
                <a:solidFill>
                  <a:schemeClr val="tx1"/>
                </a:solidFill>
                <a:effectLst/>
                <a:latin typeface="Calibir"/>
              </a:rPr>
              <a:t>1</a:t>
            </a:r>
            <a:endParaRPr kumimoji="0" lang="en-US" altLang="en-US" sz="1700" b="0" i="0" u="none" strike="noStrike" cap="none" normalizeH="0" baseline="0" dirty="0">
              <a:ln>
                <a:noFill/>
              </a:ln>
              <a:solidFill>
                <a:schemeClr val="tx1"/>
              </a:solidFill>
              <a:effectLst/>
              <a:latin typeface="Calibir"/>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Calibir"/>
              </a:rPr>
              <a:t>We see the Activity-2 message: </a:t>
            </a:r>
            <a:r>
              <a:rPr kumimoji="0" lang="en-US" altLang="en-US" sz="1700" b="0" i="1" u="none" strike="noStrike" cap="none" normalizeH="0" baseline="0" dirty="0">
                <a:ln>
                  <a:noFill/>
                </a:ln>
                <a:solidFill>
                  <a:schemeClr val="tx1"/>
                </a:solidFill>
                <a:effectLst/>
                <a:latin typeface="Calibir"/>
              </a:rPr>
              <a:t>“Now holding 1 book(s).”</a:t>
            </a:r>
            <a:endParaRPr kumimoji="0" lang="en-US" altLang="en-US" sz="17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33017733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328E-EFD6-6883-B853-5B61ED126F9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02C67E3-6C62-030A-3174-90612D66493B}"/>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0BBCFBA2-51EF-CA10-8949-C3A28BE34DD6}"/>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89458727-2920-3618-2970-077B63960578}"/>
              </a:ext>
            </a:extLst>
          </p:cNvPr>
          <p:cNvSpPr>
            <a:spLocks noChangeArrowheads="1"/>
          </p:cNvSpPr>
          <p:nvPr/>
        </p:nvSpPr>
        <p:spPr bwMode="auto">
          <a:xfrm>
            <a:off x="0" y="4242311"/>
            <a:ext cx="11032187"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Second borrow (same book)</a:t>
            </a:r>
            <a:endParaRPr lang="en-US" altLang="en-US" sz="2800" dirty="0">
              <a:latin typeface="Calibir"/>
            </a:endParaRP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a:t>
            </a:r>
            <a:r>
              <a:rPr lang="en-US" altLang="en-US" sz="2800" dirty="0" err="1">
                <a:latin typeface="Calibir"/>
              </a:rPr>
              <a:t>borrowed".equals</a:t>
            </a:r>
            <a:r>
              <a:rPr lang="en-US" altLang="en-US" sz="2800" dirty="0">
                <a:latin typeface="Calibir"/>
              </a:rPr>
              <a:t>(</a:t>
            </a:r>
            <a:r>
              <a:rPr lang="en-US" altLang="en-US" sz="2800" dirty="0" err="1">
                <a:latin typeface="Calibir"/>
              </a:rPr>
              <a:t>book.status</a:t>
            </a:r>
            <a:r>
              <a:rPr lang="en-US" altLang="en-US" sz="2800" dirty="0">
                <a:latin typeface="Calibir"/>
              </a:rPr>
              <a:t>)) triggered.</a:t>
            </a: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No state changes (book already with Farshid).</a:t>
            </a:r>
          </a:p>
          <a:p>
            <a:pPr marL="714375"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Correct error line printed: </a:t>
            </a:r>
            <a:r>
              <a:rPr lang="en-US" altLang="en-US" sz="2800" i="1" dirty="0">
                <a:latin typeface="Calibir"/>
              </a:rPr>
              <a:t>“Book 'Python Basics' is already borrowed.”</a:t>
            </a:r>
            <a:endParaRPr lang="en-US" altLang="en-US" sz="2800" dirty="0">
              <a:latin typeface="Calibir"/>
            </a:endParaRPr>
          </a:p>
        </p:txBody>
      </p:sp>
    </p:spTree>
    <p:extLst>
      <p:ext uri="{BB962C8B-B14F-4D97-AF65-F5344CB8AC3E}">
        <p14:creationId xmlns:p14="http://schemas.microsoft.com/office/powerpoint/2010/main" val="37738385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4D70-0CD0-1788-452C-B7A16D4FA16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A95F5DE-C793-6692-10BB-754BF80D7288}"/>
              </a:ext>
            </a:extLst>
          </p:cNvPr>
          <p:cNvPicPr>
            <a:picLocks noChangeAspect="1"/>
          </p:cNvPicPr>
          <p:nvPr/>
        </p:nvPicPr>
        <p:blipFill>
          <a:blip r:embed="rId2"/>
          <a:srcRect b="36585"/>
          <a:stretch>
            <a:fillRect/>
          </a:stretch>
        </p:blipFill>
        <p:spPr>
          <a:xfrm>
            <a:off x="0" y="0"/>
            <a:ext cx="12192000" cy="4348976"/>
          </a:xfrm>
          <a:prstGeom prst="rect">
            <a:avLst/>
          </a:prstGeom>
        </p:spPr>
      </p:pic>
      <p:sp>
        <p:nvSpPr>
          <p:cNvPr id="11" name="Rectangle: Rounded Corners 10">
            <a:extLst>
              <a:ext uri="{FF2B5EF4-FFF2-40B4-BE49-F238E27FC236}">
                <a16:creationId xmlns:a16="http://schemas.microsoft.com/office/drawing/2014/main" id="{5CB1EBBD-872B-DF4C-9DC6-FAD5A49BF95F}"/>
              </a:ext>
            </a:extLst>
          </p:cNvPr>
          <p:cNvSpPr/>
          <p:nvPr/>
        </p:nvSpPr>
        <p:spPr>
          <a:xfrm>
            <a:off x="4861932" y="3200400"/>
            <a:ext cx="6501160" cy="11095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
            <a:extLst>
              <a:ext uri="{FF2B5EF4-FFF2-40B4-BE49-F238E27FC236}">
                <a16:creationId xmlns:a16="http://schemas.microsoft.com/office/drawing/2014/main" id="{F6AB4E54-EF3D-2720-B3A9-7A973A041392}"/>
              </a:ext>
            </a:extLst>
          </p:cNvPr>
          <p:cNvSpPr>
            <a:spLocks noChangeArrowheads="1"/>
          </p:cNvSpPr>
          <p:nvPr/>
        </p:nvSpPr>
        <p:spPr bwMode="auto">
          <a:xfrm>
            <a:off x="0" y="4316626"/>
            <a:ext cx="8141203"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200" b="1" dirty="0">
                <a:latin typeface="Calibir"/>
              </a:rPr>
              <a:t>Return</a:t>
            </a:r>
            <a:endParaRPr lang="en-US" altLang="en-US" sz="2200" dirty="0">
              <a:latin typeface="Calibir"/>
            </a:endParaRPr>
          </a:p>
          <a:p>
            <a:pPr marL="342900" lvl="0" indent="-342900" eaLnBrk="0" fontAlgn="base" hangingPunct="0">
              <a:spcBef>
                <a:spcPct val="0"/>
              </a:spcBef>
              <a:spcAft>
                <a:spcPct val="0"/>
              </a:spcAft>
              <a:buFont typeface="Arial" panose="020B0604020202020204" pitchFamily="34" charset="0"/>
              <a:buChar char="•"/>
            </a:pPr>
            <a:r>
              <a:rPr lang="en-US" altLang="en-US" sz="2200" dirty="0" err="1">
                <a:latin typeface="Calibir"/>
              </a:rPr>
              <a:t>returnBook</a:t>
            </a:r>
            <a:r>
              <a:rPr lang="en-US" altLang="en-US" sz="2200" dirty="0">
                <a:latin typeface="Calibir"/>
              </a:rPr>
              <a:t>(book1) found the book in </a:t>
            </a:r>
            <a:r>
              <a:rPr lang="en-US" altLang="en-US" sz="2200" dirty="0" err="1">
                <a:latin typeface="Calibir"/>
              </a:rPr>
              <a:t>borrowedBooks</a:t>
            </a:r>
            <a:r>
              <a:rPr lang="en-US" altLang="en-US" sz="2200" dirty="0">
                <a:latin typeface="Calibir"/>
              </a:rPr>
              <a:t>, removed it.</a:t>
            </a:r>
          </a:p>
          <a:p>
            <a:pPr marL="342900" lvl="0" indent="-342900" eaLnBrk="0" fontAlgn="base" hangingPunct="0">
              <a:spcBef>
                <a:spcPct val="0"/>
              </a:spcBef>
              <a:spcAft>
                <a:spcPct val="0"/>
              </a:spcAft>
              <a:buFont typeface="Arial" panose="020B0604020202020204" pitchFamily="34" charset="0"/>
              <a:buChar char="•"/>
            </a:pPr>
            <a:r>
              <a:rPr lang="en-US" altLang="en-US" sz="2200" dirty="0">
                <a:latin typeface="Calibir"/>
              </a:rPr>
              <a:t>State changes:</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book1.status = "available"</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book1.borrowedBy = null</a:t>
            </a:r>
          </a:p>
          <a:p>
            <a:pPr marL="800100" lvl="1" indent="-342900" eaLnBrk="0" fontAlgn="base" hangingPunct="0">
              <a:spcBef>
                <a:spcPct val="0"/>
              </a:spcBef>
              <a:spcAft>
                <a:spcPct val="0"/>
              </a:spcAft>
              <a:buFont typeface="Arial" panose="020B0604020202020204" pitchFamily="34" charset="0"/>
              <a:buChar char="•"/>
            </a:pPr>
            <a:r>
              <a:rPr lang="en-US" altLang="en-US" sz="2200" dirty="0" err="1">
                <a:latin typeface="Calibir"/>
              </a:rPr>
              <a:t>member.borrowedBooks.size</a:t>
            </a:r>
            <a:r>
              <a:rPr lang="en-US" altLang="en-US" sz="2200" dirty="0">
                <a:latin typeface="Calibir"/>
              </a:rPr>
              <a:t>() → </a:t>
            </a:r>
            <a:r>
              <a:rPr lang="en-US" altLang="en-US" sz="2200" b="1" dirty="0">
                <a:latin typeface="Calibir"/>
              </a:rPr>
              <a:t>0</a:t>
            </a:r>
            <a:endParaRPr lang="en-US" altLang="en-US" sz="2200" dirty="0">
              <a:latin typeface="Calibir"/>
            </a:endParaRPr>
          </a:p>
          <a:p>
            <a:pPr marL="342900" lvl="0" indent="-342900" eaLnBrk="0" fontAlgn="base" hangingPunct="0">
              <a:spcBef>
                <a:spcPct val="0"/>
              </a:spcBef>
              <a:spcAft>
                <a:spcPct val="0"/>
              </a:spcAft>
              <a:buFont typeface="Arial" panose="020B0604020202020204" pitchFamily="34" charset="0"/>
              <a:buChar char="•"/>
            </a:pPr>
            <a:r>
              <a:rPr lang="en-US" altLang="en-US" sz="2200" dirty="0">
                <a:latin typeface="Calibir"/>
              </a:rPr>
              <a:t>You see the Activity-3 message: </a:t>
            </a:r>
            <a:r>
              <a:rPr lang="en-US" altLang="en-US" sz="2200" i="1" dirty="0">
                <a:latin typeface="Calibir"/>
              </a:rPr>
              <a:t>“Now holding 0 book(s).”</a:t>
            </a:r>
            <a:endParaRPr lang="en-US" altLang="en-US" sz="2200" dirty="0">
              <a:latin typeface="Calibir"/>
            </a:endParaRPr>
          </a:p>
        </p:txBody>
      </p:sp>
    </p:spTree>
    <p:extLst>
      <p:ext uri="{BB962C8B-B14F-4D97-AF65-F5344CB8AC3E}">
        <p14:creationId xmlns:p14="http://schemas.microsoft.com/office/powerpoint/2010/main" val="39972753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5E65-F3CC-AD2B-B357-EEE8394D9B3B}"/>
            </a:ext>
          </a:extLst>
        </p:cNvPr>
        <p:cNvGrpSpPr/>
        <p:nvPr/>
      </p:nvGrpSpPr>
      <p:grpSpPr>
        <a:xfrm>
          <a:off x="0" y="0"/>
          <a:ext cx="0" cy="0"/>
          <a:chOff x="0" y="0"/>
          <a:chExt cx="0" cy="0"/>
        </a:xfrm>
      </p:grpSpPr>
      <p:sp>
        <p:nvSpPr>
          <p:cNvPr id="15" name="Rectangle 1">
            <a:extLst>
              <a:ext uri="{FF2B5EF4-FFF2-40B4-BE49-F238E27FC236}">
                <a16:creationId xmlns:a16="http://schemas.microsoft.com/office/drawing/2014/main" id="{F5A5F7A2-B350-AC29-A472-3384A4C355AE}"/>
              </a:ext>
            </a:extLst>
          </p:cNvPr>
          <p:cNvSpPr>
            <a:spLocks noChangeArrowheads="1"/>
          </p:cNvSpPr>
          <p:nvPr/>
        </p:nvSpPr>
        <p:spPr bwMode="auto">
          <a:xfrm>
            <a:off x="0" y="1191229"/>
            <a:ext cx="10852458"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First, download the complete file from GitHub and Apply these changes</a:t>
            </a:r>
            <a:endParaRPr lang="en-US" altLang="en-US" sz="2800" b="1" dirty="0">
              <a:latin typeface="Calibir"/>
              <a:hlinkClick r:id="rId2"/>
            </a:endParaRPr>
          </a:p>
          <a:p>
            <a:pPr lvl="0" eaLnBrk="0" fontAlgn="base" hangingPunct="0">
              <a:lnSpc>
                <a:spcPct val="150000"/>
              </a:lnSpc>
              <a:spcBef>
                <a:spcPct val="0"/>
              </a:spcBef>
              <a:spcAft>
                <a:spcPct val="0"/>
              </a:spcAft>
            </a:pPr>
            <a:r>
              <a:rPr lang="en-US" altLang="en-US" sz="2800" b="1" dirty="0">
                <a:latin typeface="Calibir"/>
                <a:hlinkClick r:id="rId2"/>
              </a:rPr>
              <a:t>Python and Java File Available on GitHub (With 4 Activities)</a:t>
            </a:r>
            <a:endParaRPr lang="en-US" altLang="en-US" sz="2800" dirty="0">
              <a:latin typeface="Calibir"/>
            </a:endParaRPr>
          </a:p>
        </p:txBody>
      </p:sp>
      <p:pic>
        <p:nvPicPr>
          <p:cNvPr id="8" name="Picture 7">
            <a:extLst>
              <a:ext uri="{FF2B5EF4-FFF2-40B4-BE49-F238E27FC236}">
                <a16:creationId xmlns:a16="http://schemas.microsoft.com/office/drawing/2014/main" id="{4CCECAD0-FC09-BD54-226B-8C7F9598F7F2}"/>
              </a:ext>
            </a:extLst>
          </p:cNvPr>
          <p:cNvPicPr>
            <a:picLocks noChangeAspect="1"/>
          </p:cNvPicPr>
          <p:nvPr/>
        </p:nvPicPr>
        <p:blipFill>
          <a:blip r:embed="rId3"/>
          <a:srcRect t="23415" b="31707"/>
          <a:stretch>
            <a:fillRect/>
          </a:stretch>
        </p:blipFill>
        <p:spPr>
          <a:xfrm>
            <a:off x="0" y="2669278"/>
            <a:ext cx="12192000" cy="3077736"/>
          </a:xfrm>
          <a:prstGeom prst="rect">
            <a:avLst/>
          </a:prstGeom>
        </p:spPr>
      </p:pic>
      <p:sp>
        <p:nvSpPr>
          <p:cNvPr id="9" name="Title 1">
            <a:extLst>
              <a:ext uri="{FF2B5EF4-FFF2-40B4-BE49-F238E27FC236}">
                <a16:creationId xmlns:a16="http://schemas.microsoft.com/office/drawing/2014/main" id="{8B5DA380-AB23-8C0E-50DD-E711CFA775A0}"/>
              </a:ext>
            </a:extLst>
          </p:cNvPr>
          <p:cNvSpPr>
            <a:spLocks noGrp="1"/>
          </p:cNvSpPr>
          <p:nvPr>
            <p:ph type="title"/>
          </p:nvPr>
        </p:nvSpPr>
        <p:spPr>
          <a:xfrm>
            <a:off x="0" y="0"/>
            <a:ext cx="12192000" cy="557048"/>
          </a:xfrm>
        </p:spPr>
        <p:txBody>
          <a:bodyPr anchor="b">
            <a:normAutofit fontScale="90000"/>
          </a:bodyPr>
          <a:lstStyle/>
          <a:p>
            <a:r>
              <a:rPr lang="en-US" sz="3600" b="1" dirty="0"/>
              <a:t>Activity 5 — Show who already has the book</a:t>
            </a:r>
            <a:endParaRPr lang="en-AU" sz="3600" b="1" dirty="0">
              <a:latin typeface="Calibir"/>
            </a:endParaRPr>
          </a:p>
        </p:txBody>
      </p:sp>
    </p:spTree>
    <p:extLst>
      <p:ext uri="{BB962C8B-B14F-4D97-AF65-F5344CB8AC3E}">
        <p14:creationId xmlns:p14="http://schemas.microsoft.com/office/powerpoint/2010/main" val="19333330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B4AD-56B8-B551-A154-667839FDEE4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7751717-EA4F-071A-8D98-E63593CD989D}"/>
              </a:ext>
            </a:extLst>
          </p:cNvPr>
          <p:cNvSpPr>
            <a:spLocks noGrp="1"/>
          </p:cNvSpPr>
          <p:nvPr>
            <p:ph type="title"/>
          </p:nvPr>
        </p:nvSpPr>
        <p:spPr>
          <a:xfrm>
            <a:off x="0" y="0"/>
            <a:ext cx="12192000" cy="557048"/>
          </a:xfrm>
        </p:spPr>
        <p:txBody>
          <a:bodyPr anchor="b">
            <a:normAutofit fontScale="90000"/>
          </a:bodyPr>
          <a:lstStyle/>
          <a:p>
            <a:r>
              <a:rPr lang="en-US" sz="3600" b="1" dirty="0"/>
              <a:t>Activity 5 — Show who already has the book</a:t>
            </a:r>
            <a:endParaRPr lang="en-AU" sz="3600" b="1" dirty="0">
              <a:latin typeface="Calibir"/>
            </a:endParaRPr>
          </a:p>
        </p:txBody>
      </p:sp>
      <p:sp>
        <p:nvSpPr>
          <p:cNvPr id="2" name="Rectangle 1">
            <a:extLst>
              <a:ext uri="{FF2B5EF4-FFF2-40B4-BE49-F238E27FC236}">
                <a16:creationId xmlns:a16="http://schemas.microsoft.com/office/drawing/2014/main" id="{E939B4B1-B29C-362A-1A07-6FAF36905198}"/>
              </a:ext>
            </a:extLst>
          </p:cNvPr>
          <p:cNvSpPr>
            <a:spLocks noChangeArrowheads="1"/>
          </p:cNvSpPr>
          <p:nvPr/>
        </p:nvSpPr>
        <p:spPr bwMode="auto">
          <a:xfrm>
            <a:off x="-1" y="165078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in the if </a:t>
            </a:r>
            <a:r>
              <a:rPr kumimoji="0" lang="en-US" altLang="en-US" sz="2800" b="0" i="0" u="none" strike="noStrike" cap="none" normalizeH="0" baseline="0" dirty="0" err="1">
                <a:ln>
                  <a:noFill/>
                </a:ln>
                <a:solidFill>
                  <a:schemeClr val="tx1"/>
                </a:solidFill>
                <a:effectLst/>
                <a:latin typeface="Calibir"/>
              </a:rPr>
              <a:t>book.status</a:t>
            </a:r>
            <a:r>
              <a:rPr kumimoji="0" lang="en-US" altLang="en-US" sz="2800" b="0" i="0" u="none" strike="noStrike" cap="none" normalizeH="0" baseline="0" dirty="0">
                <a:ln>
                  <a:noFill/>
                </a:ln>
                <a:solidFill>
                  <a:schemeClr val="tx1"/>
                </a:solidFill>
                <a:effectLst/>
                <a:latin typeface="Calibir"/>
              </a:rPr>
              <a:t> == "borrowed": block, </a:t>
            </a:r>
            <a:r>
              <a:rPr kumimoji="0" lang="en-US" altLang="en-US" sz="2800" i="0" u="none" strike="noStrike" cap="none" normalizeH="0" baseline="0" dirty="0">
                <a:ln>
                  <a:noFill/>
                </a:ln>
                <a:solidFill>
                  <a:schemeClr val="tx1"/>
                </a:solidFill>
                <a:effectLst/>
                <a:latin typeface="Calibir"/>
              </a:rPr>
              <a:t>replace the print line.</a:t>
            </a:r>
          </a:p>
        </p:txBody>
      </p:sp>
      <p:sp>
        <p:nvSpPr>
          <p:cNvPr id="4" name="TextBox 3">
            <a:extLst>
              <a:ext uri="{FF2B5EF4-FFF2-40B4-BE49-F238E27FC236}">
                <a16:creationId xmlns:a16="http://schemas.microsoft.com/office/drawing/2014/main" id="{F1BD025A-6C2E-F9C6-1DEE-D67B0B36B7BA}"/>
              </a:ext>
            </a:extLst>
          </p:cNvPr>
          <p:cNvSpPr txBox="1"/>
          <p:nvPr/>
        </p:nvSpPr>
        <p:spPr>
          <a:xfrm>
            <a:off x="-1" y="3547195"/>
            <a:ext cx="12192000" cy="430887"/>
          </a:xfrm>
          <a:prstGeom prst="rect">
            <a:avLst/>
          </a:prstGeom>
          <a:solidFill>
            <a:schemeClr val="tx1"/>
          </a:solidFill>
        </p:spPr>
        <p:txBody>
          <a:bodyPr wrap="square">
            <a:spAutoFit/>
          </a:bodyPr>
          <a:lstStyle/>
          <a:p>
            <a:pPr>
              <a:buNone/>
            </a:pP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f</a:t>
            </a:r>
            <a:r>
              <a:rPr lang="en-US" sz="2200" b="0" dirty="0" err="1">
                <a:solidFill>
                  <a:srgbClr val="CE9178"/>
                </a:solidFill>
                <a:effectLst/>
                <a:latin typeface="Consolas" panose="020B0609020204030204" pitchFamily="49" charset="0"/>
              </a:rPr>
              <a:t>"Book</a:t>
            </a:r>
            <a:r>
              <a:rPr lang="en-US" sz="2200" b="0" dirty="0">
                <a:solidFill>
                  <a:srgbClr val="CE9178"/>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err="1">
                <a:solidFill>
                  <a:srgbClr val="CCCCCC"/>
                </a:solidFill>
                <a:effectLst/>
                <a:latin typeface="Consolas" panose="020B0609020204030204" pitchFamily="49" charset="0"/>
              </a:rPr>
              <a:t>book.title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is already borrowed by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book.borrowed_by.name</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a:t>
            </a:r>
          </a:p>
        </p:txBody>
      </p:sp>
      <p:sp>
        <p:nvSpPr>
          <p:cNvPr id="5" name="Rectangle 2">
            <a:extLst>
              <a:ext uri="{FF2B5EF4-FFF2-40B4-BE49-F238E27FC236}">
                <a16:creationId xmlns:a16="http://schemas.microsoft.com/office/drawing/2014/main" id="{8DC9E7D9-F67F-D94B-5F2F-DC0AC0C7E3D9}"/>
              </a:ext>
            </a:extLst>
          </p:cNvPr>
          <p:cNvSpPr>
            <a:spLocks noChangeArrowheads="1"/>
          </p:cNvSpPr>
          <p:nvPr/>
        </p:nvSpPr>
        <p:spPr bwMode="auto">
          <a:xfrm>
            <a:off x="-1" y="4181924"/>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 </a:t>
            </a:r>
            <a:r>
              <a:rPr kumimoji="0" lang="en-US" altLang="en-US" sz="2800" i="0" u="none" strike="noStrike" cap="none" normalizeH="0" baseline="0" dirty="0">
                <a:ln>
                  <a:noFill/>
                </a:ln>
                <a:solidFill>
                  <a:schemeClr val="tx1"/>
                </a:solidFill>
                <a:effectLst/>
                <a:latin typeface="Calibir"/>
              </a:rPr>
              <a:t>In </a:t>
            </a:r>
            <a:r>
              <a:rPr kumimoji="0" lang="en-US" altLang="en-US" sz="2800" i="0" u="none" strike="noStrike" cap="none" normalizeH="0" baseline="0" dirty="0" err="1">
                <a:ln>
                  <a:noFill/>
                </a:ln>
                <a:solidFill>
                  <a:schemeClr val="tx1"/>
                </a:solidFill>
                <a:effectLst/>
                <a:latin typeface="Calibir"/>
              </a:rPr>
              <a:t>Member.borrow</a:t>
            </a:r>
            <a:r>
              <a:rPr kumimoji="0" lang="en-US" altLang="en-US" sz="2800" i="0" u="none" strike="noStrike" cap="none" normalizeH="0" baseline="0" dirty="0">
                <a:ln>
                  <a:noFill/>
                </a:ln>
                <a:solidFill>
                  <a:schemeClr val="tx1"/>
                </a:solidFill>
                <a:effectLst/>
                <a:latin typeface="Calibir"/>
              </a:rPr>
              <a:t>(), inside if ("</a:t>
            </a:r>
            <a:r>
              <a:rPr kumimoji="0" lang="en-US" altLang="en-US" sz="2800" i="0" u="none" strike="noStrike" cap="none" normalizeH="0" baseline="0" dirty="0" err="1">
                <a:ln>
                  <a:noFill/>
                </a:ln>
                <a:solidFill>
                  <a:schemeClr val="tx1"/>
                </a:solidFill>
                <a:effectLst/>
                <a:latin typeface="Calibir"/>
              </a:rPr>
              <a:t>borrowed".equals</a:t>
            </a:r>
            <a:r>
              <a:rPr kumimoji="0" lang="en-US" altLang="en-US" sz="2800" i="0" u="none" strike="noStrike" cap="none" normalizeH="0" baseline="0" dirty="0">
                <a:ln>
                  <a:noFill/>
                </a:ln>
                <a:solidFill>
                  <a:schemeClr val="tx1"/>
                </a:solidFill>
                <a:effectLst/>
                <a:latin typeface="Calibir"/>
              </a:rPr>
              <a:t>(</a:t>
            </a:r>
            <a:r>
              <a:rPr kumimoji="0" lang="en-US" altLang="en-US" sz="2800" i="0" u="none" strike="noStrike" cap="none" normalizeH="0" baseline="0" dirty="0" err="1">
                <a:ln>
                  <a:noFill/>
                </a:ln>
                <a:solidFill>
                  <a:schemeClr val="tx1"/>
                </a:solidFill>
                <a:effectLst/>
                <a:latin typeface="Calibir"/>
              </a:rPr>
              <a:t>book.status</a:t>
            </a:r>
            <a:r>
              <a:rPr kumimoji="0" lang="en-US" altLang="en-US" sz="2800" i="0" u="none" strike="noStrike" cap="none" normalizeH="0" baseline="0" dirty="0">
                <a:ln>
                  <a:noFill/>
                </a:ln>
                <a:solidFill>
                  <a:schemeClr val="tx1"/>
                </a:solidFill>
                <a:effectLst/>
                <a:latin typeface="Calibir"/>
              </a:rPr>
              <a:t>)) { ... }, replace the </a:t>
            </a:r>
            <a:r>
              <a:rPr kumimoji="0" lang="en-US" altLang="en-US" sz="2800" i="0" u="none" strike="noStrike" cap="none" normalizeH="0" baseline="0" dirty="0" err="1">
                <a:ln>
                  <a:noFill/>
                </a:ln>
                <a:solidFill>
                  <a:schemeClr val="tx1"/>
                </a:solidFill>
                <a:effectLst/>
                <a:latin typeface="Calibir"/>
              </a:rPr>
              <a:t>println</a:t>
            </a:r>
            <a:r>
              <a:rPr kumimoji="0" lang="en-US" altLang="en-US" sz="2800" i="0" u="none" strike="noStrike" cap="none" normalizeH="0" baseline="0" dirty="0">
                <a:ln>
                  <a:noFill/>
                </a:ln>
                <a:solidFill>
                  <a:schemeClr val="tx1"/>
                </a:solidFill>
                <a:effectLst/>
                <a:latin typeface="Calibir"/>
              </a:rPr>
              <a:t>.</a:t>
            </a:r>
          </a:p>
        </p:txBody>
      </p:sp>
      <p:sp>
        <p:nvSpPr>
          <p:cNvPr id="7" name="TextBox 6">
            <a:extLst>
              <a:ext uri="{FF2B5EF4-FFF2-40B4-BE49-F238E27FC236}">
                <a16:creationId xmlns:a16="http://schemas.microsoft.com/office/drawing/2014/main" id="{DC444A0F-4CF8-C12B-D184-C19C6C6ED260}"/>
              </a:ext>
            </a:extLst>
          </p:cNvPr>
          <p:cNvSpPr txBox="1"/>
          <p:nvPr/>
        </p:nvSpPr>
        <p:spPr>
          <a:xfrm>
            <a:off x="-1" y="5718518"/>
            <a:ext cx="12192000" cy="646331"/>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"Book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is already borrowed by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pic>
        <p:nvPicPr>
          <p:cNvPr id="14" name="Timer">
            <a:hlinkClick r:id="" action="ppaction://media"/>
            <a:extLst>
              <a:ext uri="{FF2B5EF4-FFF2-40B4-BE49-F238E27FC236}">
                <a16:creationId xmlns:a16="http://schemas.microsoft.com/office/drawing/2014/main" id="{C3BDF7E3-2215-6F51-FDA7-F258611AC71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4960372" y="2461633"/>
            <a:ext cx="2271253" cy="881720"/>
          </a:xfrm>
          <a:prstGeom prst="rect">
            <a:avLst/>
          </a:prstGeom>
          <a:ln w="38100">
            <a:solidFill>
              <a:srgbClr val="FF0000"/>
            </a:solidFill>
          </a:ln>
        </p:spPr>
      </p:pic>
      <p:sp>
        <p:nvSpPr>
          <p:cNvPr id="11" name="TextBox 10">
            <a:extLst>
              <a:ext uri="{FF2B5EF4-FFF2-40B4-BE49-F238E27FC236}">
                <a16:creationId xmlns:a16="http://schemas.microsoft.com/office/drawing/2014/main" id="{E2444B6E-E3F9-61E3-9883-D0F7180B2C3E}"/>
              </a:ext>
            </a:extLst>
          </p:cNvPr>
          <p:cNvSpPr txBox="1"/>
          <p:nvPr/>
        </p:nvSpPr>
        <p:spPr>
          <a:xfrm>
            <a:off x="0" y="377365"/>
            <a:ext cx="12192000" cy="1318181"/>
          </a:xfrm>
          <a:prstGeom prst="rect">
            <a:avLst/>
          </a:prstGeom>
          <a:noFill/>
        </p:spPr>
        <p:txBody>
          <a:bodyPr wrap="square">
            <a:spAutoFit/>
          </a:bodyPr>
          <a:lstStyle/>
          <a:p>
            <a:pPr>
              <a:lnSpc>
                <a:spcPct val="150000"/>
              </a:lnSpc>
            </a:pPr>
            <a:r>
              <a:rPr lang="en-US" sz="2800" b="1" dirty="0">
                <a:latin typeface="Calibir"/>
              </a:rPr>
              <a:t>Task:</a:t>
            </a:r>
            <a:r>
              <a:rPr lang="en-US" sz="2800" dirty="0">
                <a:latin typeface="Calibir"/>
              </a:rPr>
              <a:t> If borrowing is blocked because the book is taken, show the current borrower’s name.</a:t>
            </a:r>
            <a:endParaRPr lang="en-AU" sz="2800" dirty="0">
              <a:latin typeface="Calibir"/>
            </a:endParaRPr>
          </a:p>
        </p:txBody>
      </p:sp>
    </p:spTree>
    <p:extLst>
      <p:ext uri="{BB962C8B-B14F-4D97-AF65-F5344CB8AC3E}">
        <p14:creationId xmlns:p14="http://schemas.microsoft.com/office/powerpoint/2010/main" val="343845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4"/>
                </p:tgtEl>
              </p:cMediaNode>
            </p:video>
          </p:childTnLst>
        </p:cTn>
      </p:par>
    </p:tnLst>
    <p:bldLst>
      <p:bldP spid="4" grpId="0" animBg="1"/>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557048"/>
          </a:xfrm>
        </p:spPr>
        <p:txBody>
          <a:bodyPr anchor="b">
            <a:normAutofit fontScale="90000"/>
          </a:bodyPr>
          <a:lstStyle/>
          <a:p>
            <a:r>
              <a:rPr lang="en-US" sz="3600" b="1" dirty="0"/>
              <a:t>Activity 6 — Show remaining slots after a successful borrow</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469075"/>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After a successful borrow, also show </a:t>
            </a:r>
            <a:r>
              <a:rPr lang="en-US" sz="2800" b="1" dirty="0">
                <a:latin typeface="Calibir"/>
              </a:rPr>
              <a:t>how many slots remain</a:t>
            </a:r>
            <a:r>
              <a:rPr lang="en-US" sz="2800" dirty="0">
                <a:latin typeface="Calibir"/>
              </a:rPr>
              <a:t> (5 − current).</a:t>
            </a:r>
            <a:endParaRPr kumimoji="0" lang="en-US" altLang="en-US" sz="2800" b="0" i="0" u="none" strike="noStrike" cap="none" normalizeH="0" baseline="0" dirty="0">
              <a:ln>
                <a:noFill/>
              </a:ln>
              <a:solidFill>
                <a:schemeClr val="tx1"/>
              </a:solidFill>
              <a:effectLst/>
              <a:latin typeface="Calibir"/>
            </a:endParaRPr>
          </a:p>
        </p:txBody>
      </p:sp>
      <p:sp>
        <p:nvSpPr>
          <p:cNvPr id="3" name="Rectangle 1">
            <a:extLst>
              <a:ext uri="{FF2B5EF4-FFF2-40B4-BE49-F238E27FC236}">
                <a16:creationId xmlns:a16="http://schemas.microsoft.com/office/drawing/2014/main" id="{996DE38C-9B18-0348-F6EA-38E74E6EFCE5}"/>
              </a:ext>
            </a:extLst>
          </p:cNvPr>
          <p:cNvSpPr>
            <a:spLocks noChangeArrowheads="1"/>
          </p:cNvSpPr>
          <p:nvPr/>
        </p:nvSpPr>
        <p:spPr bwMode="auto">
          <a:xfrm>
            <a:off x="0" y="1224806"/>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 </a:t>
            </a:r>
            <a:r>
              <a:rPr kumimoji="0" lang="en-US" altLang="en-US" sz="2800" i="0" u="none" strike="noStrike" cap="none" normalizeH="0" baseline="0" dirty="0">
                <a:ln>
                  <a:noFill/>
                </a:ln>
                <a:solidFill>
                  <a:schemeClr val="tx1"/>
                </a:solidFill>
                <a:effectLst/>
                <a:latin typeface="Calibir"/>
              </a:rPr>
              <a:t>In </a:t>
            </a:r>
            <a:r>
              <a:rPr kumimoji="0" lang="en-US" altLang="en-US" sz="2800" i="0" u="none" strike="noStrike" cap="none" normalizeH="0" baseline="0" dirty="0" err="1">
                <a:ln>
                  <a:noFill/>
                </a:ln>
                <a:solidFill>
                  <a:schemeClr val="tx1"/>
                </a:solidFill>
                <a:effectLst/>
                <a:latin typeface="Calibir"/>
              </a:rPr>
              <a:t>Member.borrow</a:t>
            </a:r>
            <a:r>
              <a:rPr kumimoji="0" lang="en-US" altLang="en-US" sz="2800" i="0" u="none" strike="noStrike" cap="none" normalizeH="0" baseline="0" dirty="0">
                <a:ln>
                  <a:noFill/>
                </a:ln>
                <a:solidFill>
                  <a:schemeClr val="tx1"/>
                </a:solidFill>
                <a:effectLst/>
                <a:latin typeface="Calibir"/>
              </a:rPr>
              <a:t>(), replace the success print(...) at the end of the success path.</a:t>
            </a:r>
          </a:p>
        </p:txBody>
      </p:sp>
      <p:sp>
        <p:nvSpPr>
          <p:cNvPr id="8" name="TextBox 7">
            <a:extLst>
              <a:ext uri="{FF2B5EF4-FFF2-40B4-BE49-F238E27FC236}">
                <a16:creationId xmlns:a16="http://schemas.microsoft.com/office/drawing/2014/main" id="{846502EC-180E-09D6-F898-543B1920063B}"/>
              </a:ext>
            </a:extLst>
          </p:cNvPr>
          <p:cNvSpPr txBox="1"/>
          <p:nvPr/>
        </p:nvSpPr>
        <p:spPr>
          <a:xfrm>
            <a:off x="0" y="3051427"/>
            <a:ext cx="12192000" cy="923330"/>
          </a:xfrm>
          <a:prstGeom prst="rect">
            <a:avLst/>
          </a:prstGeom>
          <a:solidFill>
            <a:schemeClr val="tx1"/>
          </a:solidFill>
        </p:spPr>
        <p:txBody>
          <a:bodyPr wrap="square">
            <a:spAutoFit/>
          </a:bodyPr>
          <a:lstStyle/>
          <a:p>
            <a:pPr>
              <a:buNone/>
            </a:pP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f</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{self</a:t>
            </a:r>
            <a:r>
              <a:rPr lang="en-US" b="0" dirty="0">
                <a:solidFill>
                  <a:srgbClr val="CCCCCC"/>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borrowed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book.title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(now </a:t>
            </a:r>
            <a:r>
              <a:rPr lang="en-US" b="0" dirty="0">
                <a:solidFill>
                  <a:srgbClr val="569CD6"/>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.borrowed_books</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/5; </a:t>
            </a:r>
            <a:r>
              <a:rPr lang="en-US" b="0" dirty="0">
                <a:solidFill>
                  <a:srgbClr val="569CD6"/>
                </a:solidFill>
                <a:effectLst/>
                <a:latin typeface="Consolas" panose="020B0609020204030204" pitchFamily="49" charset="0"/>
              </a:rPr>
              <a:t>{</a:t>
            </a:r>
            <a:r>
              <a:rPr lang="en-US" b="0" dirty="0">
                <a:solidFill>
                  <a:srgbClr val="B5CEA8"/>
                </a:solidFill>
                <a:effectLst/>
                <a:latin typeface="Consolas" panose="020B0609020204030204" pitchFamily="49" charset="0"/>
              </a:rPr>
              <a:t>5</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.borrowed_books</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left). This book has been borrowed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book.times_borrowed</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time(s) in total."</a:t>
            </a:r>
            <a:r>
              <a:rPr lang="en-US" b="0" dirty="0">
                <a:solidFill>
                  <a:srgbClr val="CCCCCC"/>
                </a:solidFill>
                <a:effectLst/>
                <a:latin typeface="Consolas" panose="020B0609020204030204" pitchFamily="49" charset="0"/>
              </a:rPr>
              <a:t>)</a:t>
            </a:r>
          </a:p>
        </p:txBody>
      </p:sp>
      <p:sp>
        <p:nvSpPr>
          <p:cNvPr id="10" name="Rectangle 2">
            <a:extLst>
              <a:ext uri="{FF2B5EF4-FFF2-40B4-BE49-F238E27FC236}">
                <a16:creationId xmlns:a16="http://schemas.microsoft.com/office/drawing/2014/main" id="{4ED3E5E5-CEF1-E414-E92C-6EC13C6CBA20}"/>
              </a:ext>
            </a:extLst>
          </p:cNvPr>
          <p:cNvSpPr>
            <a:spLocks noChangeArrowheads="1"/>
          </p:cNvSpPr>
          <p:nvPr/>
        </p:nvSpPr>
        <p:spPr bwMode="auto">
          <a:xfrm>
            <a:off x="0" y="413915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Member.borrow</a:t>
            </a:r>
            <a:r>
              <a:rPr kumimoji="0" lang="en-US" altLang="en-US" sz="2800" b="0" i="0" u="none" strike="noStrike" cap="none" normalizeH="0" baseline="0" dirty="0">
                <a:ln>
                  <a:noFill/>
                </a:ln>
                <a:solidFill>
                  <a:schemeClr val="tx1"/>
                </a:solidFill>
                <a:effectLst/>
                <a:latin typeface="Calibir"/>
              </a:rPr>
              <a:t>(), </a:t>
            </a:r>
            <a:r>
              <a:rPr kumimoji="0" lang="en-US" altLang="en-US" sz="2800" b="1" i="0" u="none" strike="noStrike" cap="none" normalizeH="0" baseline="0" dirty="0">
                <a:ln>
                  <a:noFill/>
                </a:ln>
                <a:solidFill>
                  <a:schemeClr val="tx1"/>
                </a:solidFill>
                <a:effectLst/>
                <a:latin typeface="Calibir"/>
              </a:rPr>
              <a:t>replace</a:t>
            </a:r>
            <a:r>
              <a:rPr kumimoji="0" lang="en-US" altLang="en-US" sz="2800" b="0" i="0" u="none" strike="noStrike" cap="none" normalizeH="0" baseline="0" dirty="0">
                <a:ln>
                  <a:noFill/>
                </a:ln>
                <a:solidFill>
                  <a:schemeClr val="tx1"/>
                </a:solidFill>
                <a:effectLst/>
                <a:latin typeface="Calibir"/>
              </a:rPr>
              <a:t> the success </a:t>
            </a:r>
            <a:r>
              <a:rPr kumimoji="0" lang="en-US" altLang="en-US" sz="2800" b="0" i="0" u="none" strike="noStrike" cap="none" normalizeH="0" baseline="0" dirty="0" err="1">
                <a:ln>
                  <a:noFill/>
                </a:ln>
                <a:solidFill>
                  <a:schemeClr val="tx1"/>
                </a:solidFill>
                <a:effectLst/>
                <a:latin typeface="Calibir"/>
              </a:rPr>
              <a:t>System.out.println</a:t>
            </a:r>
            <a:r>
              <a:rPr kumimoji="0" lang="en-US" altLang="en-US" sz="2800" b="0" i="0" u="none" strike="noStrike" cap="none" normalizeH="0" baseline="0" dirty="0">
                <a:ln>
                  <a:noFill/>
                </a:ln>
                <a:solidFill>
                  <a:schemeClr val="tx1"/>
                </a:solidFill>
                <a:effectLst/>
                <a:latin typeface="Calibir"/>
              </a:rPr>
              <a:t>(...) after </a:t>
            </a:r>
            <a:r>
              <a:rPr kumimoji="0" lang="en-US" altLang="en-US" sz="2800" b="0" i="0" u="none" strike="noStrike" cap="none" normalizeH="0" baseline="0" dirty="0" err="1">
                <a:ln>
                  <a:noFill/>
                </a:ln>
                <a:solidFill>
                  <a:schemeClr val="tx1"/>
                </a:solidFill>
                <a:effectLst/>
                <a:latin typeface="Calibir"/>
              </a:rPr>
              <a:t>borrowedBooks.add</a:t>
            </a:r>
            <a:r>
              <a:rPr kumimoji="0" lang="en-US" altLang="en-US" sz="2800" b="0" i="0" u="none" strike="noStrike" cap="none" normalizeH="0" baseline="0" dirty="0">
                <a:ln>
                  <a:noFill/>
                </a:ln>
                <a:solidFill>
                  <a:schemeClr val="tx1"/>
                </a:solidFill>
                <a:effectLst/>
                <a:latin typeface="Calibir"/>
              </a:rPr>
              <a:t>(book).</a:t>
            </a:r>
          </a:p>
        </p:txBody>
      </p:sp>
      <p:sp>
        <p:nvSpPr>
          <p:cNvPr id="12" name="TextBox 11">
            <a:extLst>
              <a:ext uri="{FF2B5EF4-FFF2-40B4-BE49-F238E27FC236}">
                <a16:creationId xmlns:a16="http://schemas.microsoft.com/office/drawing/2014/main" id="{48B0FC98-5177-C9CD-2F85-1E60E4AAFB92}"/>
              </a:ext>
            </a:extLst>
          </p:cNvPr>
          <p:cNvSpPr txBox="1"/>
          <p:nvPr/>
        </p:nvSpPr>
        <p:spPr>
          <a:xfrm>
            <a:off x="0" y="5621728"/>
            <a:ext cx="12191999" cy="923330"/>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borrowed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(now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size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"/5;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5</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borrowedBooks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size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left). This book has been borrowed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timesBorrowed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time(s) in total."</a:t>
            </a:r>
            <a:r>
              <a:rPr lang="en-US" b="0" dirty="0">
                <a:solidFill>
                  <a:srgbClr val="CCCCCC"/>
                </a:solidFill>
                <a:effectLst/>
                <a:latin typeface="Consolas" panose="020B0609020204030204" pitchFamily="49" charset="0"/>
              </a:rPr>
              <a:t>);</a:t>
            </a: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4960372" y="2005312"/>
            <a:ext cx="2271253" cy="881720"/>
          </a:xfrm>
          <a:prstGeom prst="rect">
            <a:avLst/>
          </a:prstGeom>
          <a:ln w="38100">
            <a:solidFill>
              <a:srgbClr val="FF0000"/>
            </a:solidFill>
          </a:ln>
        </p:spPr>
      </p:pic>
    </p:spTree>
    <p:extLst>
      <p:ext uri="{BB962C8B-B14F-4D97-AF65-F5344CB8AC3E}">
        <p14:creationId xmlns:p14="http://schemas.microsoft.com/office/powerpoint/2010/main" val="372634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8" grpId="0" animBg="1"/>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1077501"/>
          </a:xfrm>
        </p:spPr>
        <p:txBody>
          <a:bodyPr anchor="b">
            <a:normAutofit fontScale="90000"/>
          </a:bodyPr>
          <a:lstStyle/>
          <a:p>
            <a:r>
              <a:rPr lang="en-US" sz="3600" b="1" dirty="0"/>
              <a:t>Activity 7 — When returning a book you don’t have, show who actually has it</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1025835"/>
            <a:ext cx="12192000" cy="1321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If the member tries to return a book they </a:t>
            </a:r>
            <a:r>
              <a:rPr lang="en-US" sz="2800" b="1" dirty="0">
                <a:latin typeface="Calibir"/>
              </a:rPr>
              <a:t>don’t hold</a:t>
            </a:r>
            <a:r>
              <a:rPr lang="en-US" sz="2800" dirty="0">
                <a:latin typeface="Calibir"/>
              </a:rPr>
              <a:t>, show the </a:t>
            </a:r>
            <a:r>
              <a:rPr lang="en-US" sz="2800" b="1" dirty="0">
                <a:latin typeface="Calibir"/>
              </a:rPr>
              <a:t>current holder</a:t>
            </a:r>
            <a:r>
              <a:rPr lang="en-US" sz="2800" dirty="0">
                <a:latin typeface="Calibir"/>
              </a:rPr>
              <a:t> (or “nobody”).</a:t>
            </a:r>
            <a:endParaRPr kumimoji="0" lang="en-US" altLang="en-US" sz="2800" b="0" i="0" u="none" strike="noStrike" cap="none" normalizeH="0" baseline="0" dirty="0">
              <a:ln>
                <a:noFill/>
              </a:ln>
              <a:solidFill>
                <a:schemeClr val="tx1"/>
              </a:solidFill>
              <a:effectLst/>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513979"/>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Python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Member.return_book</a:t>
            </a:r>
            <a:r>
              <a:rPr kumimoji="0" lang="en-US" altLang="en-US" sz="2800" b="0" i="0" u="none" strike="noStrike" cap="none" normalizeH="0" baseline="0" dirty="0">
                <a:ln>
                  <a:noFill/>
                </a:ln>
                <a:solidFill>
                  <a:schemeClr val="tx1"/>
                </a:solidFill>
                <a:effectLst/>
                <a:latin typeface="Calibir"/>
              </a:rPr>
              <a:t>(), in the else: branch</a:t>
            </a:r>
            <a:r>
              <a:rPr kumimoji="0" lang="en-US" altLang="en-US" sz="2800" i="0" u="none" strike="noStrike" cap="none" normalizeH="0" baseline="0" dirty="0">
                <a:ln>
                  <a:noFill/>
                </a:ln>
                <a:solidFill>
                  <a:schemeClr val="tx1"/>
                </a:solidFill>
                <a:effectLst/>
                <a:latin typeface="Calibir"/>
              </a:rPr>
              <a:t>, replace the print line.</a:t>
            </a:r>
          </a:p>
        </p:txBody>
      </p:sp>
      <p:sp>
        <p:nvSpPr>
          <p:cNvPr id="6" name="TextBox 5">
            <a:extLst>
              <a:ext uri="{FF2B5EF4-FFF2-40B4-BE49-F238E27FC236}">
                <a16:creationId xmlns:a16="http://schemas.microsoft.com/office/drawing/2014/main" id="{A0152EA4-A9EE-8BE8-A98D-C5F540B82C66}"/>
              </a:ext>
            </a:extLst>
          </p:cNvPr>
          <p:cNvSpPr txBox="1"/>
          <p:nvPr/>
        </p:nvSpPr>
        <p:spPr>
          <a:xfrm>
            <a:off x="0" y="3864063"/>
            <a:ext cx="12192000" cy="646331"/>
          </a:xfrm>
          <a:prstGeom prst="rect">
            <a:avLst/>
          </a:prstGeom>
          <a:solidFill>
            <a:schemeClr val="tx1"/>
          </a:solidFill>
        </p:spPr>
        <p:txBody>
          <a:bodyPr wrap="square">
            <a:spAutoFit/>
          </a:bodyPr>
          <a:lstStyle/>
          <a:p>
            <a:pPr>
              <a:buNone/>
            </a:pP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f</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{self</a:t>
            </a:r>
            <a:r>
              <a:rPr lang="en-US" b="0" dirty="0">
                <a:solidFill>
                  <a:srgbClr val="CCCCCC"/>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does not have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book.title</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Currently with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book.borrowed_by.name </a:t>
            </a: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book.borrowed_by</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'nobody'</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542297"/>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Java — Hint:</a:t>
            </a:r>
            <a:r>
              <a:rPr kumimoji="0" lang="en-US" altLang="en-US" sz="2800" b="0" i="0" u="none" strike="noStrike" cap="none" normalizeH="0" baseline="0" dirty="0">
                <a:ln>
                  <a:noFill/>
                </a:ln>
                <a:solidFill>
                  <a:schemeClr val="tx1"/>
                </a:solidFill>
                <a:effectLst/>
                <a:latin typeface="Calibir"/>
              </a:rPr>
              <a:t> In </a:t>
            </a:r>
            <a:r>
              <a:rPr kumimoji="0" lang="en-US" altLang="en-US" sz="2800" b="0" i="0" u="none" strike="noStrike" cap="none" normalizeH="0" baseline="0" dirty="0" err="1">
                <a:ln>
                  <a:noFill/>
                </a:ln>
                <a:solidFill>
                  <a:schemeClr val="tx1"/>
                </a:solidFill>
                <a:effectLst/>
                <a:latin typeface="Calibir"/>
              </a:rPr>
              <a:t>Member.returnBook</a:t>
            </a:r>
            <a:r>
              <a:rPr kumimoji="0" lang="en-US" altLang="en-US" sz="2800" b="0" i="0" u="none" strike="noStrike" cap="none" normalizeH="0" baseline="0" dirty="0">
                <a:ln>
                  <a:noFill/>
                </a:ln>
                <a:solidFill>
                  <a:schemeClr val="tx1"/>
                </a:solidFill>
                <a:effectLst/>
                <a:latin typeface="Calibir"/>
              </a:rPr>
              <a:t>(), in the else branch, </a:t>
            </a:r>
            <a:r>
              <a:rPr kumimoji="0" lang="en-US" altLang="en-US" sz="2800" b="1" i="0" u="none" strike="noStrike" cap="none" normalizeH="0" baseline="0" dirty="0">
                <a:ln>
                  <a:noFill/>
                </a:ln>
                <a:solidFill>
                  <a:schemeClr val="tx1"/>
                </a:solidFill>
                <a:effectLst/>
                <a:latin typeface="Calibir"/>
              </a:rPr>
              <a:t>replace the </a:t>
            </a:r>
            <a:r>
              <a:rPr kumimoji="0" lang="en-US" altLang="en-US" sz="2800" b="1" i="0" u="none" strike="noStrike" cap="none" normalizeH="0" baseline="0" dirty="0" err="1">
                <a:ln>
                  <a:noFill/>
                </a:ln>
                <a:solidFill>
                  <a:schemeClr val="tx1"/>
                </a:solidFill>
                <a:effectLst/>
                <a:latin typeface="Calibir"/>
              </a:rPr>
              <a:t>println</a:t>
            </a:r>
            <a:r>
              <a:rPr kumimoji="0" lang="en-US" altLang="en-US" sz="2800" b="0" i="0" u="none" strike="noStrike" cap="none" normalizeH="0" baseline="0" dirty="0">
                <a:ln>
                  <a:noFill/>
                </a:ln>
                <a:solidFill>
                  <a:schemeClr val="tx1"/>
                </a:solidFill>
                <a:effectLst/>
                <a:latin typeface="Calibir"/>
              </a:rPr>
              <a:t>.</a:t>
            </a:r>
          </a:p>
        </p:txBody>
      </p:sp>
      <p:sp>
        <p:nvSpPr>
          <p:cNvPr id="14" name="TextBox 13">
            <a:extLst>
              <a:ext uri="{FF2B5EF4-FFF2-40B4-BE49-F238E27FC236}">
                <a16:creationId xmlns:a16="http://schemas.microsoft.com/office/drawing/2014/main" id="{07407804-AEC4-5468-A63A-472FC0F718D7}"/>
              </a:ext>
            </a:extLst>
          </p:cNvPr>
          <p:cNvSpPr txBox="1"/>
          <p:nvPr/>
        </p:nvSpPr>
        <p:spPr>
          <a:xfrm>
            <a:off x="0" y="5246051"/>
            <a:ext cx="12192000" cy="646331"/>
          </a:xfrm>
          <a:prstGeom prst="rect">
            <a:avLst/>
          </a:prstGeom>
          <a:solidFill>
            <a:schemeClr val="tx1"/>
          </a:solidFill>
        </p:spPr>
        <p:txBody>
          <a:bodyPr wrap="square">
            <a:spAutoFit/>
          </a:bodyPr>
          <a:lstStyle/>
          <a:p>
            <a:pPr>
              <a:buNone/>
            </a:pP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(name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does not have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title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Currently with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book</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borrowedBy</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"nobody"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73950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13"/>
                </p:tgtEl>
              </p:cMediaNode>
            </p:video>
          </p:childTnLst>
        </p:cTn>
      </p:par>
    </p:tnLst>
    <p:bldLst>
      <p:bldP spid="6"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752169"/>
          </a:xfrm>
        </p:spPr>
        <p:txBody>
          <a:bodyPr anchor="b">
            <a:normAutofit/>
          </a:bodyPr>
          <a:lstStyle/>
          <a:p>
            <a:r>
              <a:rPr lang="en-US" sz="3600" b="1" dirty="0"/>
              <a:t>Activity 8 — Simple email sanity check on member creation</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75216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Warn if the email </a:t>
            </a:r>
            <a:r>
              <a:rPr lang="en-US" sz="2800" b="1" dirty="0">
                <a:latin typeface="Calibir"/>
              </a:rPr>
              <a:t>looks invalid</a:t>
            </a:r>
            <a:r>
              <a:rPr lang="en-US" sz="2800" dirty="0">
                <a:latin typeface="Calibir"/>
              </a:rPr>
              <a:t> (no “@”).</a:t>
            </a:r>
            <a:endParaRPr kumimoji="0" lang="en-US" altLang="en-US" sz="2800" b="0" i="0" u="none" strike="noStrike" cap="none" normalizeH="0" baseline="0" dirty="0">
              <a:ln>
                <a:noFill/>
              </a:ln>
              <a:solidFill>
                <a:schemeClr val="tx1"/>
              </a:solidFill>
              <a:effectLst/>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837144"/>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Python — Hint:</a:t>
            </a:r>
            <a:r>
              <a:rPr lang="en-US" altLang="en-US" sz="2800" dirty="0">
                <a:latin typeface="Calibir"/>
              </a:rPr>
              <a:t> In Member.__</a:t>
            </a:r>
            <a:r>
              <a:rPr lang="en-US" altLang="en-US" sz="2800" dirty="0" err="1">
                <a:latin typeface="Calibir"/>
              </a:rPr>
              <a:t>init</a:t>
            </a:r>
            <a:r>
              <a:rPr lang="en-US" altLang="en-US" sz="2800" dirty="0">
                <a:latin typeface="Calibir"/>
              </a:rPr>
              <a:t>__, at the </a:t>
            </a:r>
            <a:r>
              <a:rPr lang="en-US" altLang="en-US" sz="2800" b="1" dirty="0">
                <a:latin typeface="Calibir"/>
              </a:rPr>
              <a:t>end of the constructor</a:t>
            </a:r>
            <a:r>
              <a:rPr lang="en-US" altLang="en-US" sz="2800" dirty="0">
                <a:latin typeface="Calibir"/>
              </a:rPr>
              <a:t>, </a:t>
            </a:r>
            <a:r>
              <a:rPr lang="en-US" altLang="en-US" sz="2800" b="1" dirty="0">
                <a:latin typeface="Calibir"/>
              </a:rPr>
              <a:t>add one line</a:t>
            </a:r>
            <a:r>
              <a:rPr lang="en-US" altLang="en-US" sz="2800" dirty="0">
                <a:latin typeface="Calibir"/>
              </a:rPr>
              <a:t>.</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348271"/>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Java — Hint:</a:t>
            </a:r>
            <a:r>
              <a:rPr lang="en-US" altLang="en-US" sz="2800" dirty="0">
                <a:latin typeface="Calibir"/>
              </a:rPr>
              <a:t> In Member constructor, at the </a:t>
            </a:r>
            <a:r>
              <a:rPr lang="en-US" altLang="en-US" sz="2800" b="1" dirty="0">
                <a:latin typeface="Calibir"/>
              </a:rPr>
              <a:t>end of the constructor</a:t>
            </a:r>
            <a:r>
              <a:rPr lang="en-US" altLang="en-US" sz="2800" dirty="0">
                <a:latin typeface="Calibir"/>
              </a:rPr>
              <a:t>, </a:t>
            </a:r>
            <a:r>
              <a:rPr lang="en-US" altLang="en-US" sz="2800" b="1" dirty="0">
                <a:latin typeface="Calibir"/>
              </a:rPr>
              <a:t>add one line</a:t>
            </a:r>
            <a:r>
              <a:rPr lang="en-US" altLang="en-US" sz="2800" dirty="0">
                <a:latin typeface="Calibir"/>
              </a:rPr>
              <a:t>. </a:t>
            </a:r>
          </a:p>
        </p:txBody>
      </p:sp>
      <p:sp>
        <p:nvSpPr>
          <p:cNvPr id="8" name="TextBox 7">
            <a:extLst>
              <a:ext uri="{FF2B5EF4-FFF2-40B4-BE49-F238E27FC236}">
                <a16:creationId xmlns:a16="http://schemas.microsoft.com/office/drawing/2014/main" id="{D2BA97B2-4C1E-5DF3-11BD-20ACD3E147FA}"/>
              </a:ext>
            </a:extLst>
          </p:cNvPr>
          <p:cNvSpPr txBox="1"/>
          <p:nvPr/>
        </p:nvSpPr>
        <p:spPr>
          <a:xfrm>
            <a:off x="0" y="3691455"/>
            <a:ext cx="12192000" cy="430887"/>
          </a:xfrm>
          <a:prstGeom prst="rect">
            <a:avLst/>
          </a:prstGeom>
          <a:solidFill>
            <a:schemeClr val="tx1"/>
          </a:solidFill>
        </p:spPr>
        <p:txBody>
          <a:bodyPr wrap="square">
            <a:spAutoFit/>
          </a:bodyPr>
          <a:lstStyle/>
          <a:p>
            <a:pPr>
              <a:buNone/>
            </a:pPr>
            <a:r>
              <a:rPr lang="en-US" sz="2200" b="0" dirty="0">
                <a:solidFill>
                  <a:srgbClr val="C586C0"/>
                </a:solidFill>
                <a:effectLst/>
                <a:latin typeface="Consolas" panose="020B0609020204030204" pitchFamily="49" charset="0"/>
              </a:rPr>
              <a:t>if</a:t>
            </a:r>
            <a:r>
              <a:rPr lang="en-US" sz="2200" b="0" dirty="0">
                <a:solidFill>
                  <a:srgbClr val="CCCCCC"/>
                </a:solidFill>
                <a:effectLst/>
                <a:latin typeface="Consolas" panose="020B0609020204030204" pitchFamily="49" charset="0"/>
              </a:rPr>
              <a:t> </a:t>
            </a:r>
            <a:r>
              <a:rPr lang="en-US" sz="2200" b="0" dirty="0">
                <a:solidFill>
                  <a:srgbClr val="CE9178"/>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not</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in</a:t>
            </a:r>
            <a:r>
              <a:rPr lang="en-US" sz="2200" b="0" dirty="0">
                <a:solidFill>
                  <a:srgbClr val="CCCCCC"/>
                </a:solidFill>
                <a:effectLst/>
                <a:latin typeface="Consolas" panose="020B0609020204030204" pitchFamily="49" charset="0"/>
              </a:rPr>
              <a:t> </a:t>
            </a:r>
            <a:r>
              <a:rPr lang="en-US" sz="2200" b="0" dirty="0" err="1">
                <a:solidFill>
                  <a:srgbClr val="569CD6"/>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.email</a:t>
            </a:r>
            <a:r>
              <a:rPr lang="en-US" sz="2200" b="0" dirty="0">
                <a:solidFill>
                  <a:srgbClr val="CCCCCC"/>
                </a:solidFill>
                <a:effectLst/>
                <a:latin typeface="Consolas" panose="020B0609020204030204" pitchFamily="49" charset="0"/>
              </a:rPr>
              <a:t>: </a:t>
            </a:r>
            <a:r>
              <a:rPr lang="en-US" sz="2200" b="0" dirty="0">
                <a:solidFill>
                  <a:srgbClr val="DCDCAA"/>
                </a:solidFill>
                <a:effectLst/>
                <a:latin typeface="Consolas" panose="020B0609020204030204" pitchFamily="49" charset="0"/>
              </a:rPr>
              <a:t>print</a:t>
            </a:r>
            <a:r>
              <a:rPr lang="en-US" sz="2200" b="0" dirty="0">
                <a:solidFill>
                  <a:srgbClr val="CCCCCC"/>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f</a:t>
            </a:r>
            <a:r>
              <a:rPr lang="en-US" sz="2200" b="0" dirty="0" err="1">
                <a:solidFill>
                  <a:srgbClr val="CE9178"/>
                </a:solidFill>
                <a:effectLst/>
                <a:latin typeface="Consolas" panose="020B0609020204030204" pitchFamily="49" charset="0"/>
              </a:rPr>
              <a:t>"Warning</a:t>
            </a:r>
            <a:r>
              <a:rPr lang="en-US" sz="2200" b="0" dirty="0">
                <a:solidFill>
                  <a:srgbClr val="CE9178"/>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err="1">
                <a:solidFill>
                  <a:srgbClr val="569CD6"/>
                </a:solidFill>
                <a:effectLst/>
                <a:latin typeface="Consolas" panose="020B0609020204030204" pitchFamily="49" charset="0"/>
              </a:rPr>
              <a:t>self</a:t>
            </a:r>
            <a:r>
              <a:rPr lang="en-US" sz="2200" b="0" dirty="0" err="1">
                <a:solidFill>
                  <a:srgbClr val="CCCCCC"/>
                </a:solidFill>
                <a:effectLst/>
                <a:latin typeface="Consolas" panose="020B0609020204030204" pitchFamily="49" charset="0"/>
              </a:rPr>
              <a:t>.email</a:t>
            </a:r>
            <a:r>
              <a:rPr lang="en-US" sz="2200" b="0" dirty="0">
                <a:solidFill>
                  <a:srgbClr val="569CD6"/>
                </a:solidFill>
                <a:effectLst/>
                <a:latin typeface="Consolas" panose="020B0609020204030204" pitchFamily="49" charset="0"/>
              </a:rPr>
              <a:t>}</a:t>
            </a:r>
            <a:r>
              <a:rPr lang="en-US" sz="2200" b="0" dirty="0">
                <a:solidFill>
                  <a:srgbClr val="CE9178"/>
                </a:solidFill>
                <a:effectLst/>
                <a:latin typeface="Consolas" panose="020B0609020204030204" pitchFamily="49" charset="0"/>
              </a:rPr>
              <a:t>' may be invalid."</a:t>
            </a:r>
            <a:r>
              <a:rPr lang="en-US" sz="2200"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9894A6E2-77E4-0D3E-842A-AB26EFCD6101}"/>
              </a:ext>
            </a:extLst>
          </p:cNvPr>
          <p:cNvSpPr txBox="1"/>
          <p:nvPr/>
        </p:nvSpPr>
        <p:spPr>
          <a:xfrm>
            <a:off x="34412" y="5101326"/>
            <a:ext cx="12157588"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contains</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"Warning: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email</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may be invalid."</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79151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heel(1)">
                                      <p:cBhvr>
                                        <p:cTn id="1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8" grpId="0" animBg="1"/>
      <p:bldP spid="1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1"/>
            <a:ext cx="12192000" cy="752169"/>
          </a:xfrm>
        </p:spPr>
        <p:txBody>
          <a:bodyPr anchor="b">
            <a:normAutofit/>
          </a:bodyPr>
          <a:lstStyle/>
          <a:p>
            <a:r>
              <a:rPr lang="en-US" sz="3600" b="1" dirty="0"/>
              <a:t>Activity 9 — Tidy book titles on creation</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828278"/>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Task:</a:t>
            </a:r>
            <a:r>
              <a:rPr lang="en-US" altLang="en-US" sz="2800" dirty="0">
                <a:latin typeface="Calibir"/>
              </a:rPr>
              <a:t> </a:t>
            </a:r>
            <a:r>
              <a:rPr lang="en-US" altLang="en-US" sz="2800" dirty="0" err="1">
                <a:latin typeface="Calibir"/>
              </a:rPr>
              <a:t>Normalise</a:t>
            </a:r>
            <a:r>
              <a:rPr lang="en-US" altLang="en-US" sz="2800" dirty="0">
                <a:latin typeface="Calibir"/>
              </a:rPr>
              <a:t> book titles when creating a Book (nice </a:t>
            </a:r>
            <a:r>
              <a:rPr lang="en-US" altLang="en-US" sz="2800" dirty="0" err="1">
                <a:latin typeface="Calibir"/>
              </a:rPr>
              <a:t>capitalisation</a:t>
            </a:r>
            <a:r>
              <a:rPr lang="en-US" altLang="en-US" sz="2800" dirty="0">
                <a:latin typeface="Calibir"/>
              </a:rPr>
              <a:t>). </a:t>
            </a: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911459"/>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Python — Hint:</a:t>
            </a:r>
            <a:r>
              <a:rPr lang="en-US" altLang="en-US" sz="2800" dirty="0">
                <a:latin typeface="Calibir"/>
              </a:rPr>
              <a:t> In Book.__</a:t>
            </a:r>
            <a:r>
              <a:rPr lang="en-US" altLang="en-US" sz="2800" dirty="0" err="1">
                <a:latin typeface="Calibir"/>
              </a:rPr>
              <a:t>init</a:t>
            </a:r>
            <a:r>
              <a:rPr lang="en-US" altLang="en-US" sz="2800" dirty="0">
                <a:latin typeface="Calibir"/>
              </a:rPr>
              <a:t>__, </a:t>
            </a:r>
            <a:r>
              <a:rPr lang="en-US" altLang="en-US" sz="2800" b="1" dirty="0">
                <a:latin typeface="Calibir"/>
              </a:rPr>
              <a:t>replace</a:t>
            </a:r>
            <a:r>
              <a:rPr lang="en-US" altLang="en-US" sz="2800" dirty="0">
                <a:latin typeface="Calibir"/>
              </a:rPr>
              <a:t> </a:t>
            </a:r>
            <a:r>
              <a:rPr lang="en-US" altLang="en-US" sz="2800" dirty="0" err="1">
                <a:latin typeface="Calibir"/>
              </a:rPr>
              <a:t>self.title</a:t>
            </a:r>
            <a:r>
              <a:rPr lang="en-US" altLang="en-US" sz="2800" dirty="0">
                <a:latin typeface="Calibir"/>
              </a:rPr>
              <a:t> = title. </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0" y="4422586"/>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Java — Hint:</a:t>
            </a:r>
            <a:r>
              <a:rPr lang="en-US" altLang="en-US" sz="2800" dirty="0">
                <a:latin typeface="Calibir"/>
              </a:rPr>
              <a:t> In Book constructor, </a:t>
            </a:r>
            <a:r>
              <a:rPr lang="en-US" altLang="en-US" sz="2800" b="1" dirty="0">
                <a:latin typeface="Calibir"/>
              </a:rPr>
              <a:t>replace</a:t>
            </a:r>
            <a:r>
              <a:rPr lang="en-US" altLang="en-US" sz="2800" dirty="0">
                <a:latin typeface="Calibir"/>
              </a:rPr>
              <a:t> </a:t>
            </a:r>
            <a:r>
              <a:rPr lang="en-US" altLang="en-US" sz="2800" dirty="0" err="1">
                <a:latin typeface="Calibir"/>
              </a:rPr>
              <a:t>this.title</a:t>
            </a:r>
            <a:r>
              <a:rPr lang="en-US" altLang="en-US" sz="2800" dirty="0">
                <a:latin typeface="Calibir"/>
              </a:rPr>
              <a:t> = title;. </a:t>
            </a:r>
          </a:p>
        </p:txBody>
      </p:sp>
      <p:sp>
        <p:nvSpPr>
          <p:cNvPr id="10" name="TextBox 9">
            <a:extLst>
              <a:ext uri="{FF2B5EF4-FFF2-40B4-BE49-F238E27FC236}">
                <a16:creationId xmlns:a16="http://schemas.microsoft.com/office/drawing/2014/main" id="{DF870238-C645-34AF-46ED-C26FADD4B40E}"/>
              </a:ext>
            </a:extLst>
          </p:cNvPr>
          <p:cNvSpPr txBox="1"/>
          <p:nvPr/>
        </p:nvSpPr>
        <p:spPr>
          <a:xfrm>
            <a:off x="0" y="3740921"/>
            <a:ext cx="6371302" cy="523220"/>
          </a:xfrm>
          <a:prstGeom prst="rect">
            <a:avLst/>
          </a:prstGeom>
          <a:solidFill>
            <a:schemeClr val="tx1"/>
          </a:solidFill>
        </p:spPr>
        <p:txBody>
          <a:bodyPr wrap="square">
            <a:spAutoFit/>
          </a:bodyPr>
          <a:lstStyle/>
          <a:p>
            <a:pPr>
              <a:buNone/>
            </a:pPr>
            <a:r>
              <a:rPr lang="en-US" sz="2800" b="0" dirty="0" err="1">
                <a:solidFill>
                  <a:srgbClr val="569CD6"/>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.title</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title.title</a:t>
            </a:r>
            <a:r>
              <a:rPr lang="en-US" sz="2800" b="0" dirty="0">
                <a:solidFill>
                  <a:srgbClr val="CCCCCC"/>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ECC9DD97-409A-4C13-ED5B-E126D54A1ED9}"/>
              </a:ext>
            </a:extLst>
          </p:cNvPr>
          <p:cNvSpPr txBox="1"/>
          <p:nvPr/>
        </p:nvSpPr>
        <p:spPr>
          <a:xfrm>
            <a:off x="0" y="5010383"/>
            <a:ext cx="12192000" cy="769441"/>
          </a:xfrm>
          <a:prstGeom prst="rect">
            <a:avLst/>
          </a:prstGeom>
          <a:solidFill>
            <a:schemeClr val="tx1"/>
          </a:solidFill>
        </p:spPr>
        <p:txBody>
          <a:bodyPr wrap="square">
            <a:spAutoFit/>
          </a:bodyPr>
          <a:lstStyle/>
          <a:p>
            <a:pPr>
              <a:buNone/>
            </a:pPr>
            <a:r>
              <a:rPr lang="en-US" sz="2200" b="0" dirty="0" err="1">
                <a:solidFill>
                  <a:srgbClr val="569CD6"/>
                </a:solidFill>
                <a:effectLst/>
                <a:latin typeface="Consolas" panose="020B0609020204030204" pitchFamily="49" charset="0"/>
              </a:rPr>
              <a:t>this</a:t>
            </a:r>
            <a:r>
              <a:rPr lang="en-US" sz="2200" b="0" dirty="0" err="1">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title</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isEmpty</a:t>
            </a:r>
            <a:r>
              <a:rPr lang="en-US" sz="2200" b="0" dirty="0">
                <a:solidFill>
                  <a:srgbClr val="CCCCCC"/>
                </a:solidFill>
                <a:effectLst/>
                <a:latin typeface="Consolas" panose="020B0609020204030204" pitchFamily="49" charset="0"/>
              </a:rPr>
              <a:t>() </a:t>
            </a:r>
            <a:r>
              <a:rPr lang="en-US" sz="2200" b="0" dirty="0">
                <a:solidFill>
                  <a:srgbClr val="C586C0"/>
                </a:solidFill>
                <a:effectLst/>
                <a:latin typeface="Consolas" panose="020B0609020204030204" pitchFamily="49" charset="0"/>
              </a:rPr>
              <a:t>?</a:t>
            </a:r>
            <a:r>
              <a:rPr lang="en-US" sz="2200" b="0" dirty="0">
                <a:solidFill>
                  <a:srgbClr val="CCCCCC"/>
                </a:solidFill>
                <a:effectLst/>
                <a:latin typeface="Consolas" panose="020B0609020204030204" pitchFamily="49" charset="0"/>
              </a:rPr>
              <a:t> title </a:t>
            </a:r>
            <a:r>
              <a:rPr lang="en-US" sz="2200" b="0" dirty="0">
                <a:solidFill>
                  <a:srgbClr val="C586C0"/>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Character</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toUpperCase</a:t>
            </a:r>
            <a:r>
              <a:rPr lang="en-US" sz="2200" b="0" dirty="0">
                <a:solidFill>
                  <a:srgbClr val="CCCCCC"/>
                </a:solidFill>
                <a:effectLst/>
                <a:latin typeface="Consolas" panose="020B0609020204030204" pitchFamily="49" charset="0"/>
              </a:rPr>
              <a:t>(</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charAt</a:t>
            </a:r>
            <a:r>
              <a:rPr lang="en-US" sz="2200" b="0" dirty="0">
                <a:solidFill>
                  <a:srgbClr val="CCCCCC"/>
                </a:solidFill>
                <a:effectLst/>
                <a:latin typeface="Consolas" panose="020B0609020204030204" pitchFamily="49" charset="0"/>
              </a:rPr>
              <a:t>(</a:t>
            </a:r>
            <a:r>
              <a:rPr lang="en-US" sz="2200" b="0" dirty="0">
                <a:solidFill>
                  <a:srgbClr val="B5CEA8"/>
                </a:solidFill>
                <a:effectLst/>
                <a:latin typeface="Consolas" panose="020B0609020204030204" pitchFamily="49" charset="0"/>
              </a:rPr>
              <a:t>0</a:t>
            </a:r>
            <a:r>
              <a:rPr lang="en-US" sz="2200" b="0" dirty="0">
                <a:solidFill>
                  <a:srgbClr val="CCCCCC"/>
                </a:solidFill>
                <a:effectLst/>
                <a:latin typeface="Consolas" panose="020B0609020204030204" pitchFamily="49" charset="0"/>
              </a:rPr>
              <a:t>)) </a:t>
            </a:r>
            <a:r>
              <a:rPr lang="en-US" sz="2200" b="0" dirty="0">
                <a:solidFill>
                  <a:srgbClr val="D4D4D4"/>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9CDCFE"/>
                </a:solidFill>
                <a:effectLst/>
                <a:latin typeface="Consolas" panose="020B0609020204030204" pitchFamily="49" charset="0"/>
              </a:rPr>
              <a:t>title</a:t>
            </a:r>
            <a:r>
              <a:rPr lang="en-US" sz="2200" b="0" dirty="0" err="1">
                <a:solidFill>
                  <a:srgbClr val="CCCCCC"/>
                </a:solidFill>
                <a:effectLst/>
                <a:latin typeface="Consolas" panose="020B0609020204030204" pitchFamily="49" charset="0"/>
              </a:rPr>
              <a:t>.</a:t>
            </a:r>
            <a:r>
              <a:rPr lang="en-US" sz="2200" b="0" dirty="0" err="1">
                <a:solidFill>
                  <a:srgbClr val="DCDCAA"/>
                </a:solidFill>
                <a:effectLst/>
                <a:latin typeface="Consolas" panose="020B0609020204030204" pitchFamily="49" charset="0"/>
              </a:rPr>
              <a:t>substring</a:t>
            </a:r>
            <a:r>
              <a:rPr lang="en-US" sz="2200" b="0" dirty="0">
                <a:solidFill>
                  <a:srgbClr val="CCCCCC"/>
                </a:solidFill>
                <a:effectLst/>
                <a:latin typeface="Consolas" panose="020B0609020204030204" pitchFamily="49" charset="0"/>
              </a:rPr>
              <a:t>(</a:t>
            </a:r>
            <a:r>
              <a:rPr lang="en-US" sz="2200" b="0" dirty="0">
                <a:solidFill>
                  <a:srgbClr val="B5CEA8"/>
                </a:solidFill>
                <a:effectLst/>
                <a:latin typeface="Consolas" panose="020B0609020204030204" pitchFamily="49" charset="0"/>
              </a:rPr>
              <a:t>1</a:t>
            </a:r>
            <a:r>
              <a:rPr lang="en-US" sz="22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2895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3"/>
                </p:tgtEl>
              </p:cMediaNode>
            </p:video>
          </p:childTnLst>
        </p:cTn>
      </p:par>
    </p:tnLst>
    <p:bldLst>
      <p:bldP spid="10" grpId="0" animBg="1"/>
      <p:bldP spid="1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fontScale="90000"/>
          </a:bodyPr>
          <a:lstStyle/>
          <a:p>
            <a:r>
              <a:rPr lang="en-US" sz="3600" b="1" dirty="0"/>
              <a:t>Activity 10 — Warn on duplicate ISBN when adding to the library</a:t>
            </a:r>
            <a:endParaRPr lang="en-AU" sz="3600" b="1" dirty="0">
              <a:latin typeface="Calibir"/>
            </a:endParaRPr>
          </a:p>
        </p:txBody>
      </p:sp>
      <p:sp>
        <p:nvSpPr>
          <p:cNvPr id="2" name="Rectangle 1">
            <a:extLst>
              <a:ext uri="{FF2B5EF4-FFF2-40B4-BE49-F238E27FC236}">
                <a16:creationId xmlns:a16="http://schemas.microsoft.com/office/drawing/2014/main" id="{78D1F5CA-ADC3-5338-9BB7-B274764E80B4}"/>
              </a:ext>
            </a:extLst>
          </p:cNvPr>
          <p:cNvSpPr>
            <a:spLocks noChangeArrowheads="1"/>
          </p:cNvSpPr>
          <p:nvPr/>
        </p:nvSpPr>
        <p:spPr bwMode="auto">
          <a:xfrm>
            <a:off x="0" y="653427"/>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If a book with the </a:t>
            </a:r>
            <a:r>
              <a:rPr lang="en-US" sz="2800" b="1" dirty="0">
                <a:latin typeface="Calibir"/>
              </a:rPr>
              <a:t>same ISBN</a:t>
            </a:r>
            <a:r>
              <a:rPr lang="en-US" sz="2800" dirty="0">
                <a:latin typeface="Calibir"/>
              </a:rPr>
              <a:t> already exists in the library, </a:t>
            </a:r>
            <a:r>
              <a:rPr lang="en-US" sz="2800" b="1" dirty="0">
                <a:latin typeface="Calibir"/>
              </a:rPr>
              <a:t>print a warning</a:t>
            </a:r>
            <a:r>
              <a:rPr lang="en-US" sz="2800" dirty="0">
                <a:latin typeface="Calibir"/>
              </a:rPr>
              <a:t> (still add it).</a:t>
            </a:r>
            <a:endParaRPr lang="en-US" altLang="en-US" sz="2800" dirty="0">
              <a:latin typeface="Calibir"/>
            </a:endParaRPr>
          </a:p>
        </p:txBody>
      </p:sp>
      <p:pic>
        <p:nvPicPr>
          <p:cNvPr id="13" name="Timer">
            <a:hlinkClick r:id="" action="ppaction://media"/>
            <a:extLst>
              <a:ext uri="{FF2B5EF4-FFF2-40B4-BE49-F238E27FC236}">
                <a16:creationId xmlns:a16="http://schemas.microsoft.com/office/drawing/2014/main" id="{E86ADEB7-5C66-FDD5-F8C1-0ABB180F33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993" r="40597" b="42149"/>
          <a:stretch>
            <a:fillRect/>
          </a:stretch>
        </p:blipFill>
        <p:spPr>
          <a:xfrm>
            <a:off x="5093108" y="1767611"/>
            <a:ext cx="2271253" cy="881720"/>
          </a:xfrm>
          <a:prstGeom prst="rect">
            <a:avLst/>
          </a:prstGeom>
          <a:ln w="38100">
            <a:solidFill>
              <a:srgbClr val="FF0000"/>
            </a:solidFill>
          </a:ln>
        </p:spPr>
      </p:pic>
      <p:sp>
        <p:nvSpPr>
          <p:cNvPr id="4" name="Rectangle 1">
            <a:extLst>
              <a:ext uri="{FF2B5EF4-FFF2-40B4-BE49-F238E27FC236}">
                <a16:creationId xmlns:a16="http://schemas.microsoft.com/office/drawing/2014/main" id="{A9E75625-8163-589D-16E3-5982C99A5FEA}"/>
              </a:ext>
            </a:extLst>
          </p:cNvPr>
          <p:cNvSpPr>
            <a:spLocks noChangeArrowheads="1"/>
          </p:cNvSpPr>
          <p:nvPr/>
        </p:nvSpPr>
        <p:spPr bwMode="auto">
          <a:xfrm>
            <a:off x="0" y="2911459"/>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latin typeface="Calibir"/>
              </a:rPr>
              <a:t>Python — Hint:</a:t>
            </a:r>
            <a:r>
              <a:rPr lang="en-US" altLang="en-US" sz="2800" dirty="0">
                <a:latin typeface="Calibir"/>
              </a:rPr>
              <a:t> In </a:t>
            </a:r>
            <a:r>
              <a:rPr lang="en-US" altLang="en-US" sz="2800" dirty="0" err="1">
                <a:latin typeface="Calibir"/>
              </a:rPr>
              <a:t>Library.add_book</a:t>
            </a:r>
            <a:r>
              <a:rPr lang="en-US" altLang="en-US" sz="2800" dirty="0">
                <a:latin typeface="Calibir"/>
              </a:rPr>
              <a:t>(), at the </a:t>
            </a:r>
            <a:r>
              <a:rPr lang="en-US" altLang="en-US" sz="2800" b="1" dirty="0">
                <a:latin typeface="Calibir"/>
              </a:rPr>
              <a:t>very top</a:t>
            </a:r>
            <a:r>
              <a:rPr lang="en-US" altLang="en-US" sz="2800" dirty="0">
                <a:latin typeface="Calibir"/>
              </a:rPr>
              <a:t> of the method, </a:t>
            </a:r>
            <a:r>
              <a:rPr lang="en-US" altLang="en-US" sz="2800" b="1" dirty="0">
                <a:latin typeface="Calibir"/>
              </a:rPr>
              <a:t>add one line</a:t>
            </a:r>
            <a:r>
              <a:rPr lang="en-US" altLang="en-US" sz="2800" dirty="0">
                <a:latin typeface="Calibir"/>
              </a:rPr>
              <a:t>. </a:t>
            </a:r>
          </a:p>
        </p:txBody>
      </p:sp>
      <p:sp>
        <p:nvSpPr>
          <p:cNvPr id="7" name="Rectangle 2">
            <a:extLst>
              <a:ext uri="{FF2B5EF4-FFF2-40B4-BE49-F238E27FC236}">
                <a16:creationId xmlns:a16="http://schemas.microsoft.com/office/drawing/2014/main" id="{31161A6E-7F50-CC60-C93B-9C7A2AD4E717}"/>
              </a:ext>
            </a:extLst>
          </p:cNvPr>
          <p:cNvSpPr>
            <a:spLocks noChangeArrowheads="1"/>
          </p:cNvSpPr>
          <p:nvPr/>
        </p:nvSpPr>
        <p:spPr bwMode="auto">
          <a:xfrm>
            <a:off x="-1" y="4286227"/>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Java — Hint:</a:t>
            </a:r>
            <a:r>
              <a:rPr lang="en-US" altLang="en-US" sz="2800" dirty="0">
                <a:latin typeface="Calibir"/>
              </a:rPr>
              <a:t> In </a:t>
            </a:r>
            <a:r>
              <a:rPr lang="en-US" altLang="en-US" sz="2800" dirty="0" err="1">
                <a:latin typeface="Calibir"/>
              </a:rPr>
              <a:t>Library.addBook</a:t>
            </a:r>
            <a:r>
              <a:rPr lang="en-US" altLang="en-US" sz="2800" dirty="0">
                <a:latin typeface="Calibir"/>
              </a:rPr>
              <a:t>(Book book), at the </a:t>
            </a:r>
            <a:r>
              <a:rPr lang="en-US" altLang="en-US" sz="2800" b="1" dirty="0">
                <a:latin typeface="Calibir"/>
              </a:rPr>
              <a:t>very top</a:t>
            </a:r>
            <a:r>
              <a:rPr lang="en-US" altLang="en-US" sz="2800" dirty="0">
                <a:latin typeface="Calibir"/>
              </a:rPr>
              <a:t> of the method, </a:t>
            </a:r>
            <a:r>
              <a:rPr lang="en-US" altLang="en-US" sz="2800" b="1" dirty="0">
                <a:latin typeface="Calibir"/>
              </a:rPr>
              <a:t>add one line</a:t>
            </a:r>
            <a:r>
              <a:rPr lang="en-US" altLang="en-US" sz="2800" dirty="0">
                <a:latin typeface="Calibir"/>
              </a:rPr>
              <a:t>. </a:t>
            </a:r>
          </a:p>
        </p:txBody>
      </p:sp>
      <p:sp>
        <p:nvSpPr>
          <p:cNvPr id="6" name="TextBox 5">
            <a:extLst>
              <a:ext uri="{FF2B5EF4-FFF2-40B4-BE49-F238E27FC236}">
                <a16:creationId xmlns:a16="http://schemas.microsoft.com/office/drawing/2014/main" id="{A56E1D86-07C1-2EA8-1518-4513BF675ABB}"/>
              </a:ext>
            </a:extLst>
          </p:cNvPr>
          <p:cNvSpPr txBox="1"/>
          <p:nvPr/>
        </p:nvSpPr>
        <p:spPr>
          <a:xfrm>
            <a:off x="0" y="3655739"/>
            <a:ext cx="12191999"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any</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a:t>
            </a:r>
            <a:r>
              <a:rPr lang="en-US" b="0" dirty="0" err="1">
                <a:solidFill>
                  <a:srgbClr val="CCCCCC"/>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book.isbn</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b</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self</a:t>
            </a:r>
            <a:r>
              <a:rPr lang="en-US" b="0" dirty="0" err="1">
                <a:solidFill>
                  <a:srgbClr val="CCCCCC"/>
                </a:solidFill>
                <a:effectLst/>
                <a:latin typeface="Consolas" panose="020B0609020204030204" pitchFamily="49" charset="0"/>
              </a:rPr>
              <a:t>.books</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"Warning</a:t>
            </a:r>
            <a:r>
              <a:rPr lang="en-US" b="0" dirty="0">
                <a:solidFill>
                  <a:srgbClr val="CE9178"/>
                </a:solidFill>
                <a:effectLst/>
                <a:latin typeface="Consolas" panose="020B0609020204030204" pitchFamily="49" charset="0"/>
              </a:rPr>
              <a:t>: ISBN </a:t>
            </a:r>
            <a:r>
              <a:rPr lang="en-US" b="0" dirty="0">
                <a:solidFill>
                  <a:srgbClr val="569CD6"/>
                </a:solidFill>
                <a:effectLst/>
                <a:latin typeface="Consolas" panose="020B0609020204030204" pitchFamily="49" charset="0"/>
              </a:rPr>
              <a:t>{</a:t>
            </a:r>
            <a:r>
              <a:rPr lang="en-US" b="0" dirty="0" err="1">
                <a:solidFill>
                  <a:srgbClr val="CCCCCC"/>
                </a:solidFill>
                <a:effectLst/>
                <a:latin typeface="Consolas" panose="020B0609020204030204" pitchFamily="49" charset="0"/>
              </a:rPr>
              <a:t>book.isbn</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 already exists."</a:t>
            </a:r>
            <a:r>
              <a:rPr lang="en-US"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43D36051-E521-5083-4D67-C4D986EBFAB2}"/>
              </a:ext>
            </a:extLst>
          </p:cNvPr>
          <p:cNvSpPr txBox="1"/>
          <p:nvPr/>
        </p:nvSpPr>
        <p:spPr>
          <a:xfrm>
            <a:off x="1" y="5635799"/>
            <a:ext cx="12191999" cy="646331"/>
          </a:xfrm>
          <a:prstGeom prst="rect">
            <a:avLst/>
          </a:prstGeom>
          <a:solidFill>
            <a:schemeClr val="tx1"/>
          </a:solidFill>
        </p:spPr>
        <p:txBody>
          <a:bodyPr wrap="square">
            <a:spAutoFit/>
          </a:bodyPr>
          <a:lstStyle/>
          <a:p>
            <a:pPr>
              <a:buNone/>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books</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stream</a:t>
            </a: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anyMatch</a:t>
            </a:r>
            <a:r>
              <a:rPr lang="en-US" b="0" dirty="0">
                <a:solidFill>
                  <a:srgbClr val="CCCCCC"/>
                </a:solidFill>
                <a:effectLst/>
                <a:latin typeface="Consolas" panose="020B0609020204030204" pitchFamily="49" charset="0"/>
              </a:rPr>
              <a:t>(b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equals</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System</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out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println</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"Warning: ISBN "</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book</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isbn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already exists."</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3434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3"/>
                </p:tgtEl>
              </p:cMediaNode>
            </p:video>
          </p:childTnLst>
        </p:cTn>
      </p:par>
    </p:tnLst>
    <p:bldLst>
      <p:bldP spid="6" grpId="0" animBg="1"/>
      <p:bldP spid="1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1518</TotalTime>
  <Words>7633</Words>
  <Application>Microsoft Office PowerPoint</Application>
  <PresentationFormat>Widescreen</PresentationFormat>
  <Paragraphs>863</Paragraphs>
  <Slides>89</Slides>
  <Notes>0</Notes>
  <HiddenSlides>0</HiddenSlides>
  <MMClips>10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89</vt:i4>
      </vt:variant>
    </vt:vector>
  </HeadingPairs>
  <TitlesOfParts>
    <vt:vector size="98" baseType="lpstr">
      <vt:lpstr>Aptos</vt:lpstr>
      <vt:lpstr>Aptos Display</vt:lpstr>
      <vt:lpstr>Arial</vt:lpstr>
      <vt:lpstr>Calibir</vt:lpstr>
      <vt:lpstr>Calibri</vt:lpstr>
      <vt:lpstr>Calibri Light</vt:lpstr>
      <vt:lpstr>Consolas</vt:lpstr>
      <vt:lpstr>Office Theme</vt:lpstr>
      <vt:lpstr>1_Office Theme</vt:lpstr>
      <vt:lpstr>Introduction to Software Engineering (ISE102) Tutorial Week 5</vt:lpstr>
      <vt:lpstr>Week 5 Outline</vt:lpstr>
      <vt:lpstr>Week 5 Outline</vt:lpstr>
      <vt:lpstr>Have you formed your group?</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Preparation for Group Assignment – Part 1: Analysis and Design</vt:lpstr>
      <vt:lpstr>PowerPoint Presentation</vt:lpstr>
      <vt:lpstr>Class Diagram Practice</vt:lpstr>
      <vt:lpstr>Class Diagram Practice</vt:lpstr>
      <vt:lpstr>Class Diagram Practice</vt:lpstr>
      <vt:lpstr>Class Diagram Practice</vt:lpstr>
      <vt:lpstr>Class Diagram Practice</vt:lpstr>
      <vt:lpstr>Class Diagram Practice</vt:lpstr>
      <vt:lpstr>Class Diagram Practice</vt:lpstr>
      <vt:lpstr>Class Diagram Practice</vt:lpstr>
      <vt:lpstr>Class Diagram Practice</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(Java)</vt:lpstr>
      <vt:lpstr>From UML Diagram to Code: Library Example (Python)</vt:lpstr>
      <vt:lpstr>From UML Diagram to Code: Library Example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From UML Diagram to Code: Library Example (Python)</vt:lpstr>
      <vt:lpstr>Activity 1 — Show the current count when limit blocks borrowing</vt:lpstr>
      <vt:lpstr>Activity 1 — Show the current count when limit blocks borrowing</vt:lpstr>
      <vt:lpstr>Activity 1 — Show the current count when limit blocks borrowing</vt:lpstr>
      <vt:lpstr>Activity 2 — Show total borrowed after a successful borrow</vt:lpstr>
      <vt:lpstr>Activity 2 — Show total borrowed after a successful borrow</vt:lpstr>
      <vt:lpstr>Activity 2 — Show total borrowed after a successful borrow</vt:lpstr>
      <vt:lpstr>Activity 3 — Show remaining count after a successful return</vt:lpstr>
      <vt:lpstr>Activity 3 — Show remaining count after a successful return</vt:lpstr>
      <vt:lpstr>Activity 3 — Show remaining count after a successful return</vt:lpstr>
      <vt:lpstr>Activity 4 — Track how many times a book has ever been borrowed</vt:lpstr>
      <vt:lpstr>Activity 4 — Track how many times a book has ever been borrowed</vt:lpstr>
      <vt:lpstr>Activity 4 — Track how many times a book has ever been borrowed</vt:lpstr>
      <vt:lpstr>PowerPoint Presentation</vt:lpstr>
      <vt:lpstr>PowerPoint Presentation</vt:lpstr>
      <vt:lpstr>PowerPoint Presentation</vt:lpstr>
      <vt:lpstr>Activity 5 — Show who already has the book</vt:lpstr>
      <vt:lpstr>Activity 5 — Show who already has the book</vt:lpstr>
      <vt:lpstr>Activity 6 — Show remaining slots after a successful borrow</vt:lpstr>
      <vt:lpstr>Activity 7 — When returning a book you don’t have, show who actually has it</vt:lpstr>
      <vt:lpstr>Activity 8 — Simple email sanity check on member creation</vt:lpstr>
      <vt:lpstr>Activity 9 — Tidy book titles on creation</vt:lpstr>
      <vt:lpstr>Activity 10 — Warn on duplicate ISBN when adding to the library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479</cp:revision>
  <dcterms:created xsi:type="dcterms:W3CDTF">2025-07-28T16:39:25Z</dcterms:created>
  <dcterms:modified xsi:type="dcterms:W3CDTF">2025-09-05T02:08:50Z</dcterms:modified>
</cp:coreProperties>
</file>