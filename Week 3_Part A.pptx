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</p:sldMasterIdLst>
  <p:notesMasterIdLst>
    <p:notesMasterId r:id="rId124"/>
  </p:notesMasterIdLst>
  <p:sldIdLst>
    <p:sldId id="2522" r:id="rId3"/>
    <p:sldId id="2443" r:id="rId4"/>
    <p:sldId id="2592" r:id="rId5"/>
    <p:sldId id="2467" r:id="rId6"/>
    <p:sldId id="2590" r:id="rId7"/>
    <p:sldId id="257" r:id="rId8"/>
    <p:sldId id="352" r:id="rId9"/>
    <p:sldId id="2593" r:id="rId10"/>
    <p:sldId id="2596" r:id="rId11"/>
    <p:sldId id="2597" r:id="rId12"/>
    <p:sldId id="2624" r:id="rId13"/>
    <p:sldId id="2625" r:id="rId14"/>
    <p:sldId id="2626" r:id="rId15"/>
    <p:sldId id="2622" r:id="rId16"/>
    <p:sldId id="2627" r:id="rId17"/>
    <p:sldId id="2629" r:id="rId18"/>
    <p:sldId id="2635" r:id="rId19"/>
    <p:sldId id="2636" r:id="rId20"/>
    <p:sldId id="2637" r:id="rId21"/>
    <p:sldId id="2638" r:id="rId22"/>
    <p:sldId id="2631" r:id="rId23"/>
    <p:sldId id="2630" r:id="rId24"/>
    <p:sldId id="2632" r:id="rId25"/>
    <p:sldId id="2639" r:id="rId26"/>
    <p:sldId id="2640" r:id="rId27"/>
    <p:sldId id="2641" r:id="rId28"/>
    <p:sldId id="2642" r:id="rId29"/>
    <p:sldId id="2643" r:id="rId30"/>
    <p:sldId id="2644" r:id="rId31"/>
    <p:sldId id="2645" r:id="rId32"/>
    <p:sldId id="2646" r:id="rId33"/>
    <p:sldId id="2647" r:id="rId34"/>
    <p:sldId id="2648" r:id="rId35"/>
    <p:sldId id="2649" r:id="rId36"/>
    <p:sldId id="2651" r:id="rId37"/>
    <p:sldId id="2650" r:id="rId38"/>
    <p:sldId id="2654" r:id="rId39"/>
    <p:sldId id="2655" r:id="rId40"/>
    <p:sldId id="2657" r:id="rId41"/>
    <p:sldId id="2656" r:id="rId42"/>
    <p:sldId id="2658" r:id="rId43"/>
    <p:sldId id="2652" r:id="rId44"/>
    <p:sldId id="2653" r:id="rId45"/>
    <p:sldId id="2633" r:id="rId46"/>
    <p:sldId id="2634" r:id="rId47"/>
    <p:sldId id="2613" r:id="rId48"/>
    <p:sldId id="2599" r:id="rId49"/>
    <p:sldId id="2600" r:id="rId50"/>
    <p:sldId id="2601" r:id="rId51"/>
    <p:sldId id="2602" r:id="rId52"/>
    <p:sldId id="2603" r:id="rId53"/>
    <p:sldId id="2604" r:id="rId54"/>
    <p:sldId id="2605" r:id="rId55"/>
    <p:sldId id="2606" r:id="rId56"/>
    <p:sldId id="2607" r:id="rId57"/>
    <p:sldId id="2608" r:id="rId58"/>
    <p:sldId id="2609" r:id="rId59"/>
    <p:sldId id="2610" r:id="rId60"/>
    <p:sldId id="2611" r:id="rId61"/>
    <p:sldId id="2612" r:id="rId62"/>
    <p:sldId id="2614" r:id="rId63"/>
    <p:sldId id="2615" r:id="rId64"/>
    <p:sldId id="2616" r:id="rId65"/>
    <p:sldId id="2617" r:id="rId66"/>
    <p:sldId id="2619" r:id="rId67"/>
    <p:sldId id="2620" r:id="rId68"/>
    <p:sldId id="2621" r:id="rId69"/>
    <p:sldId id="2594" r:id="rId70"/>
    <p:sldId id="2595" r:id="rId71"/>
    <p:sldId id="2623" r:id="rId72"/>
    <p:sldId id="2628" r:id="rId73"/>
    <p:sldId id="341" r:id="rId74"/>
    <p:sldId id="342" r:id="rId75"/>
    <p:sldId id="2659" r:id="rId76"/>
    <p:sldId id="2660" r:id="rId77"/>
    <p:sldId id="2661" r:id="rId78"/>
    <p:sldId id="2662" r:id="rId79"/>
    <p:sldId id="2663" r:id="rId80"/>
    <p:sldId id="2664" r:id="rId81"/>
    <p:sldId id="2665" r:id="rId82"/>
    <p:sldId id="348" r:id="rId83"/>
    <p:sldId id="2666" r:id="rId84"/>
    <p:sldId id="2667" r:id="rId85"/>
    <p:sldId id="2668" r:id="rId86"/>
    <p:sldId id="2669" r:id="rId87"/>
    <p:sldId id="2670" r:id="rId88"/>
    <p:sldId id="349" r:id="rId89"/>
    <p:sldId id="2671" r:id="rId90"/>
    <p:sldId id="2672" r:id="rId91"/>
    <p:sldId id="2673" r:id="rId92"/>
    <p:sldId id="2674" r:id="rId93"/>
    <p:sldId id="2675" r:id="rId94"/>
    <p:sldId id="2676" r:id="rId95"/>
    <p:sldId id="350" r:id="rId96"/>
    <p:sldId id="2677" r:id="rId97"/>
    <p:sldId id="2678" r:id="rId98"/>
    <p:sldId id="2679" r:id="rId99"/>
    <p:sldId id="2680" r:id="rId100"/>
    <p:sldId id="2681" r:id="rId101"/>
    <p:sldId id="2682" r:id="rId102"/>
    <p:sldId id="351" r:id="rId103"/>
    <p:sldId id="2683" r:id="rId104"/>
    <p:sldId id="2684" r:id="rId105"/>
    <p:sldId id="2685" r:id="rId106"/>
    <p:sldId id="2686" r:id="rId107"/>
    <p:sldId id="2687" r:id="rId108"/>
    <p:sldId id="2688" r:id="rId109"/>
    <p:sldId id="2689" r:id="rId110"/>
    <p:sldId id="2690" r:id="rId111"/>
    <p:sldId id="2691" r:id="rId112"/>
    <p:sldId id="2692" r:id="rId113"/>
    <p:sldId id="353" r:id="rId114"/>
    <p:sldId id="2693" r:id="rId115"/>
    <p:sldId id="2694" r:id="rId116"/>
    <p:sldId id="2695" r:id="rId117"/>
    <p:sldId id="2696" r:id="rId118"/>
    <p:sldId id="2697" r:id="rId119"/>
    <p:sldId id="2698" r:id="rId120"/>
    <p:sldId id="2699" r:id="rId121"/>
    <p:sldId id="2700" r:id="rId122"/>
    <p:sldId id="2701" r:id="rId1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-279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tableStyles" Target="tableStyles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notesMaster" Target="notesMasters/notesMaster1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4768A3-CE1D-4B38-9DB7-258A20660199}" type="datetimeFigureOut">
              <a:rPr lang="en-AU" smtClean="0"/>
              <a:t>12/08/2026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ED24F3-C88E-4C15-8193-4E111B80EC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1419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ef0b59b6e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ef0b59b6e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0536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751F86EE-642B-F2C2-B31F-2FB74269A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4679C6B4-F541-6714-7169-FDA3F6D23C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9A0EF01F-A688-2722-14F4-0EA03CD64C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3883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07D7E7D6-773A-B54F-7A2D-96F9A84A9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317ECF79-34E7-DB87-262A-D01FE597B8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2AA5B19B-5794-F01A-BFC9-8D894E4412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45503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27CB04F1-9997-A299-6B2A-E1E7432E8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7DA238F3-BFF0-62D4-0B47-97488A23ED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025F8C8B-3BD3-D95C-BF55-26AE7A6210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1103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FD8423A8-1F5E-C59E-46D4-0BA37D57C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D3C0907A-98E4-B65E-7807-20D5388226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2BE5792F-0EBE-288E-A09E-0B409CD0B9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07280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9803BDC4-E4F7-B547-F06C-91E541C3A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B83D2257-5830-B3BB-E5A4-5842BF9306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D58D4CC7-F6B5-4E56-FD5F-DE108AA41C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34851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4258A94A-E6A1-3461-6FC2-C6BC42C69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9DA97509-ACDF-AB08-DED2-13C5A7ECCE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15A0999F-2B57-6F2A-1284-588B187693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67695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06DF8D28-4938-4635-CC34-C146EFC5A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7D57630A-0769-8A79-3F78-0A74CC81C1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56F4D295-7E00-874F-B2A1-0FA5E85448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62528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B69DAAF8-2957-EEBD-45E5-9336EBD4A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62BB4406-B2B6-CD6C-64C6-E57EFE8C17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5125859A-00D4-F587-8D47-9BD8287E57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74936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2561EF24-5968-8164-3FD6-64ED9AFDD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F44EFBB8-5B77-9103-7AE9-35FFB76531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F5F2935A-E9B2-26E8-7B6D-949F56C6A3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29360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4BC16071-81A2-9908-CCCA-AE05C54EF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0A0A2936-A504-A334-B29B-E51C957C56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237912BE-1C4B-FA78-A1A2-8F1E5F10E0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53420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71B050E0-3790-F4C3-1CEA-E45327A0B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010BA763-99D1-8270-5BCA-0936BDDD1D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E94E98C3-D8A3-1953-30D1-BEBA3F09C2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34352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C1898F31-D4B2-9D62-DED0-E1707AACE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E206FD96-D7BB-69F4-D48D-2563E976B9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5FF10673-6D08-95EF-C6C9-4087206D24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96058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29DCE72A-F5CB-4FB6-5573-AD6AA0916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08DB964E-6C53-52CA-0134-C51DD9B971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8EF3B02A-EFAA-D162-E829-2F0025565C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3369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1E2FE37B-F96C-842B-1DEF-9E8A0C796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26BCD62B-1F1D-B733-7DE5-CF0422F10D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C5EA4988-C87F-6D17-23F3-78A45F221F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67734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A5D459B0-FE23-BF92-ABCC-42C77C831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28E23295-D881-04DC-13CB-0588CDA471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227D56C3-C8DB-19D5-CCBB-E95CB98F50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34420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0A03F8BF-9E03-9631-1708-F078BDFD8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768D623F-635B-61FC-8B25-FC5307D07A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D55B4034-B6EB-5F42-0069-604FE313A2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00450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E9C14EBB-37CB-08CC-1A02-D02A5CB2F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591054E0-655E-79E3-501F-C460FC4ACB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0E1C7836-D953-970A-0235-28388736E9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05623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A5B46CF3-A3D9-C6E5-0F26-6CA0CCB13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6F253D3C-12B7-B3C2-7824-F964583EC4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E3FF8DB2-07BF-856D-6098-DEAC4238FB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49035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5D858E40-B29D-1E0D-A6A8-6516BB1FC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71BDBCAE-184E-D5F8-1901-4D559A6839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6FC18084-4B99-4BBA-7489-C864FC4349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94123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E8B164DC-E21B-68B2-0581-791365D66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F8B7F19C-94BF-D77B-79AB-FB2566402C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CFA5BD0A-9FC6-29A1-CE44-B91145C66D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67832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5C7795D0-7F01-C61B-AEAC-DD6720527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853828CF-202E-CC69-362E-3A329E4AC7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04ACB663-0B1B-2EB3-FAA8-3B0775AFE8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92248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19619D06-3B01-41DA-37D3-A8B4913AD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1193A488-410B-A531-9B49-F68512EC6D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2A8D6189-707F-24E7-2B44-E9B14FB4FC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99438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5BEE400D-4916-84BA-55C7-F84AADCD2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4054B22E-F8FA-C9BF-1CF1-295BB8D236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574391B3-6691-CA09-9D63-30871D96BD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59086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254B57EA-E8B9-D540-E9C5-14E28119C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A35EEF10-5163-E510-8442-8F24CD7949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D99C5F9C-B511-3614-2953-0C2D1C0C2F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19145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7AF06B60-6CA2-D17C-EDA9-69C63DABE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D3537B7F-7816-DE0D-AA04-4497EEFC78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22FE3D36-C850-1318-7F31-7B66677BE7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39358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85AF02E4-1563-D9A6-AE4B-604140885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116D7D10-FA32-B502-D8F6-518D41CA9C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69011349-3DEC-4B8F-CC8A-299AC261E0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74936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58C2915D-7AD2-C58F-BB71-3D8C87BB5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3174B355-8F83-943E-F2A5-9505012904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4670CE51-79A2-44FA-E6D7-D8F94C9F55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99435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A86B5253-EAB4-9EC4-B520-705D4F129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7EC24373-BCF5-BF54-21AB-E11E27C2D8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758EDFE5-4A4E-49BB-C173-C3BC8D1DE1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23979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58C4D7F4-DB58-89FD-34C2-F9A2843FB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96DF3508-7CE4-E545-72B2-29C6B656E5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A84562A7-56F8-1B8B-F346-F02B941416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927463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09F07B38-05CE-2AE3-6669-C1DA3FCE9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7DCCB73A-5E66-CB81-567B-83E350734D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987942BA-422C-3D1D-AFA1-B0C9B5BB84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29908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38379C75-E791-8D3C-A413-3F1540E5A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1392F094-2730-6038-5517-B8C969DAC0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BDB70237-A35D-F0F3-F19A-313DD32E5C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82476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18160B81-A188-73A7-91ED-6BEF69E44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84559A2A-6965-2781-4616-F246AB9679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1D2D621B-F3A7-3731-A367-A278AB9724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340356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4C10605B-6E09-93E7-24A1-5C97F44DE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243FC7CF-5B64-28E4-6B6B-EBE0F53484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D35474A7-DC09-FFC0-C596-3C5782DFDB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593203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7C3FAACA-3E73-78A6-222C-8B9DEE52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69513DF9-268F-2B60-1A75-2E0C28BCDC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74176C21-F57C-48FC-F859-EC654378EA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5042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90EB0DD1-AFFA-FA9E-E86F-B0C21E89D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CB9651BC-432F-5A97-95AF-E52F41A6E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4CC6374C-A61B-A9E3-4DA8-F5FB4F3E85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473933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767202FB-C92D-C819-2705-5DE457E0B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98284028-A1BC-C54B-FC23-D3A59CFFF5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93AED0AC-59E7-FE33-C08C-E4D8200414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933097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3463DF89-1249-7EB3-13E1-BC4A11D31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C68BCF3B-9E62-1D41-429A-A635196D13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FB5F900B-D117-688E-DCFF-024200C4CC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729188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A8545A54-C51A-BA88-D97C-9EC67A3BD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26EB97D9-720D-F327-43CB-14B10BBF08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F6DD22AF-4FE5-3C07-3FB7-7EC210218A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726659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7BD7C8D7-C2F9-7764-9E90-619FA1F8B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31B79758-8BAC-0202-4727-74BCC10D71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0A0A0C58-A95D-2D57-33F9-06470C32CE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898454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9B03A292-5719-D863-349E-F7A3984BB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4A5477C0-62FB-518E-F0F0-432D36C657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6473122F-754B-1FEA-C47C-D7AD887F6C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115231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95A5F8D2-855A-7EEF-9666-81C173D90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A388490A-905D-C87A-D92B-DE294669B1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6AF610EE-13C3-791F-3EC1-9CBAEF94A8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640043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0F2E078B-A6AB-204A-F189-5A67BFD6B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7C64E8C1-858B-C122-8F08-DAACB52BCC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6B719F0C-3071-B209-0D3F-F1A6AE067E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972224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8631F61B-061A-F899-E395-16F0B30B6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8CF00AFA-DD33-D28B-D0F3-BE444D3F0A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A001FCF3-018C-5925-7241-CC77D9339A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991200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0BBBCAA4-B1B0-980D-33C1-F0DE8329D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A44A463E-E4ED-A7DD-9F57-30AAA8542A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F3EB0411-FA7A-72F8-EE6B-26CFBBC8D9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343488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6D0100DF-8D2A-24D2-E394-CA46795A3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082A3924-AC8C-7EEB-647E-D6F43B06EF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7DC858A0-DEFE-704F-767F-8A320C8571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865258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945A38C5-446F-B22B-0121-4F9E8E85A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AE0A1CCB-4E10-C272-0808-8D720E7AC4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40056478-E9A6-953C-B8BE-DF5950DAD5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592781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FD446A21-2249-E22D-1FFA-B06786C1E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0BF20467-8875-7206-B17B-5B66CC5446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0F9902AF-B45A-F374-1451-B09CA68F3D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819936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C55EE002-FA4F-35A1-7FCE-03AB4D94B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08460A0D-D95C-945F-9B55-6DB6DF9BA1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AA435619-E927-0C8D-CD0F-9D100325C3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349427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6EDE056D-0A3A-EBB4-ED46-C9B789E10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7EEAACD8-05D7-88BC-810E-578F59F005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036DB843-4207-F853-003B-9D37EF354A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89874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7A3EC3DC-71FA-CA3D-6106-6D5AFC60B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902C2893-2C12-C89B-6595-A684FA5607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173B5F12-EE2C-3CE0-10CA-9079B2ED3E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361739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8CABBDAC-4AC2-3380-13E2-2ECE46B58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AB9BD224-4BC2-8421-863E-E619B04850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6B186610-52D7-40EF-4749-EDD86CE22F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221673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7F33C23D-0D58-C243-C008-B36524338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1164D9EB-AD05-158F-23EC-375FA650A1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F05D9D01-D041-DD0F-90A5-72816689B7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402342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EF9C546F-6C82-8A31-214B-5A014950D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A6B9CAE1-5415-8E01-B533-882978D2E6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15240A91-A781-4560-2B5D-A2C811BAFD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558721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8C59209A-8930-84D2-5967-8F8AEFFF0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AA7D6A07-6F25-543D-335A-6D9C2F4034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EB7B476A-9CB7-5372-92B0-34AFBF4992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969510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DF70694B-566B-A622-9943-66484001D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3F169531-EBF8-DA89-08AD-3D97C84F50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B75E54AF-28D4-C37E-7E2B-8561FFDCB4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586205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32200D3B-0E95-CCF4-7629-99915A7E2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6A234395-64B1-BAAA-6577-7C115AAB02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E23BB67A-004F-2B6E-300D-DF56F0A1F7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513453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75723CC3-7F25-DF76-0308-799410F0B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00EB6D41-FB84-E4F5-7B18-0E7D35B3F3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C2AD389E-77B5-5B61-7B44-66EA3F958A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355187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B9888318-FEDE-C4E6-876F-D3978D6B4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204E693F-5F1A-03CB-337B-C556309B35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14BDA184-E2DE-DD2F-B59E-1B5A51780F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956052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6D329B5D-1409-9DF3-E12F-60D30F532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66191951-D287-8625-8BD6-5D4317AFA4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3ED317CF-D8C8-2480-F198-4C3CADA41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683230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E7B07328-7EC5-4203-D77B-730B5E5A8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D82E99C0-78DD-D018-9319-BAA7F6F973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0F889A6C-2EF4-ACD9-01BF-A51AD67522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449129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C03E3CD5-50CC-E4EC-AE52-2E3E74BF0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916151E1-B225-2D69-8B1A-07DC8A908A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C66C21DB-A50C-9F8F-2EF7-143D0C80B0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449175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A5F163B6-B190-1744-CAC6-945B169DB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F5710758-F59F-BF50-E725-322846CE57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551BC8C6-0CD5-6F7A-6C8E-19151A28C3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910571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C3D32FF5-CFD2-628F-CCD8-28C55C5DD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A5C16223-90D0-E893-584C-882D8CDFC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C7A516FD-5596-0331-8C27-F2123FCFE7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983315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280EE1FC-E9F2-3E92-6250-6B9F61ED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9C6B6BD5-7663-780A-6E95-4381436F00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A95A8612-33FA-6EC0-69AF-BE14FA0E73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824528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381659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59343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0EFDA623-EE52-1830-72D2-89FAE01CE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EE403DFD-4857-1D4C-2725-B1838106D4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B9C6E11C-AF3F-46EF-0374-40CA9AB00C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298680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D57917C1-D232-18BD-4F44-A79E11582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B411B88E-F803-E50C-1075-82E3EF9A95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80D25781-CB71-92A5-7AB5-D7914B184B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859685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52F255C9-F325-B7F1-4596-A1456FBD1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25D45CBC-44CA-395A-3175-78D4BB9C89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AAF1AF4A-6C07-3C0E-7B22-93C5DFE12F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947658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FD38C38B-AD50-4BA6-5AE3-E6DCB4148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30CB9AAD-9049-4EB8-F9B2-5A0DC24522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0F1875DD-05DD-37C0-5D25-EE62EEE674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678959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0AF9A811-DC6F-C424-F906-8EF6673A9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F93D1D86-0EBC-9349-606B-8A232F38D6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E30B21A0-4D83-4A97-8E47-A0EECF2CE2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951936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F69C5D1E-D2A9-C2C3-3DDF-38AB1E2D7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0D8BE4C5-05A5-628B-4FEB-1822DA711E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12E21CF9-7A93-9AF9-6016-38D05F9BED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841363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92A06EC3-1998-3B65-ADE2-C54724E98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558783E3-FED1-A4A0-8469-BE0C130551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CD270B99-92DF-EA26-BA45-A072E9CD03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061450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251940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0B9EC4DF-12C4-86CA-F36D-243FF7B0B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59FC0619-58C8-DA8A-0FBD-866BE50532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A478EB8A-3A47-8814-E4CF-F89E7F491E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087325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0516B533-9A72-F66B-D905-44084CD47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40185368-24F1-C27D-8E74-F030665524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C48EB5E0-89C7-4986-412A-4A0ACE90F1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1413453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492E192C-6F8D-9228-BD32-4CE5E8804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CBA1D193-D13E-1BD1-D5FE-E2F943AE14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6A0727C0-DD7E-6D6E-B5DF-98088E51F5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003305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180FBEF2-CC0D-608C-7203-B0F649C19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64FF98DA-8173-305B-FB54-E0B2A2EDA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6667AF0F-67FE-A7E2-8DBE-DC887118C9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141725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D93B1D48-846D-A491-C0C4-8D99DCB36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31C1F4F7-25E3-6FC8-90E4-E87CE185A9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CBD67C53-C74D-34F3-E1A3-D5C57FA9AC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505948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6664376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AC70F8A3-3AC5-D804-3830-CB92702C4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C03EEEB6-841F-A52D-06EE-226F4F52C5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5C0BBA88-226B-AC8E-46B1-FDC0307B5D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668233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7FC2365B-E1F7-5F68-8CBA-C783D9404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26F66CDF-2E0B-09BE-6772-6F3E37DB8A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88D716A6-CC52-5174-771F-CB8A5FAD2C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7789312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0C9EC8E7-88B6-767B-8D22-884D777B1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8F4979A9-8DAE-35F9-AD8F-46D35AE66D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E2E94712-E37B-1EBB-AC1A-F2648A86B5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5585033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8B93157F-BBBD-1A86-DBE5-9010598B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15FAA08D-0A58-7E58-F2FF-F65AD7875C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35FE3356-6D00-225F-592D-BDBB0A3741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2514800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EDB153A0-1168-9E4C-61BA-CF35FF8FB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4FF0FCA7-ACB9-64CA-6FDE-A26C9947BB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7A1BF293-ACAB-4B4D-ABDA-74312749BE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534827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148B64FA-84B7-BEDC-C661-971423C36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C2F04A62-B6A7-4BC3-F24D-AA092D36DF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778BFCAE-95DE-F7ED-AE5B-CC6CED3C75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5219514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649049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BA0C804B-0FE7-E8A9-47E2-9C8C3E619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FD4C84B8-F187-6A98-3A02-EE6466E33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5EC67401-8353-505A-8557-3E3B29F005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7980862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CDBB1D8C-0A08-707C-D447-9495517F5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57D08C6C-493D-C4E0-6902-FFB2DB5EDF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CC1C2A5D-8DB6-CE72-8720-07B9C97909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7048640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53BFC07D-7364-3B86-09ED-0D1F7D9C0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37A06103-347A-B194-0C5C-9B9E4E00E5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1CCF1B1E-C061-5AC3-865D-C12323FB90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1472873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D772F113-6612-AAE6-B77B-D476DE5A7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8143D66F-CB7E-AB2E-68FD-B133DDF247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6E144D36-05A9-4CD6-C279-5FD733B4AE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3237716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66B5288A-15B9-4B78-56B9-75CDBFF7C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A58997D4-85CE-1E42-9660-16196BF7CC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AA247E29-DDF3-734C-A929-395FF6CDA4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7133923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DBDB10B6-8161-E97A-7F10-7D1128F0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C0DBB711-99EA-BF4E-4ABD-953922D3D9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203EF1A0-C09A-8BBE-39B2-93EDF20540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9801907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666208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FAC01BE6-2731-8B60-4875-BA0ABCF6A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47853B07-A85A-020E-4077-437288F504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5F173792-3225-0149-02DF-41C75AFDF8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0007365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B3A0485F-47DF-B13F-8216-6A5E862B9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B8CE3289-03C5-A5F5-18FC-CCB06BD559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0529477E-2A82-D353-1CD4-3FEBD2AB60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0864927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F0915E98-7250-B910-776E-1E00D3FE6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CC0C110D-79BA-6CD8-6038-6D3D88FB45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157BA4BE-F90D-1091-AF4A-03EE8434CA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580746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93921D89-9A2D-0F92-9AF6-4879CB47C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75E5E5FF-3A57-0937-B4C6-C0CB90A5EC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E8451235-36F0-5B8B-15E3-6D5FD547CB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6618024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71184D94-E760-345F-1EEE-168E632D6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91F2CE5C-0D7E-9AF7-9D7C-155615273E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92392877-7501-F3A3-1C37-7F012F0128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8103254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A7D8E4DE-3807-660F-4559-0A7FFCCF8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302C4AED-8A36-CE57-BC17-DE1329D75B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EA1D8F5B-D334-FADA-CB7F-35E4029525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235124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95162192-3443-BEEB-3211-87346674B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37E80AC6-AACD-BE2B-9409-FEEEAC6B8C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DB22BCC9-2CC4-BEE0-DBDA-73555E289B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3149528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58581881-1852-743F-433E-2D3F92CB0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20430DC4-2ED2-B3EA-6F58-2638057DDF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15485F95-EF7F-6376-6112-AF611B1599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405662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021F63B8-532B-19DE-9EAB-92953C07A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379E798D-8FC8-BEF4-1290-BB3AED4BFA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7C91AFF6-2F5D-8D4B-D390-45311A2474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3206665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AD569874-F031-0D01-DF83-AD9DA5A17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79A830E2-715F-C513-4E81-FCE4A6A39A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7EB1AA86-3DAF-4076-629B-9C5E756862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2618038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018442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F40F3929-FB25-A393-4E2E-4BC5A0089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781A956D-F76B-2E40-875D-6D31C5F9A9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2EE5B203-8FD2-9589-D5C5-344059365E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4823152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EA6385BB-D06F-ED6E-B8C8-96900CA71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37776A90-22F5-0E4E-3F6F-57D7B75BB9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F3AB37D0-84BB-22D2-DAD6-D5A8E2DC96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188580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31F386DD-64C2-9682-6259-3519FDA73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F9DEF8BB-24AA-3E30-692D-D05FB9EB48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133C8F3C-8457-F12A-C467-BA6FB0915B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3395594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FDB61703-365D-7581-758A-1B509B3C5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DD46FB05-EB62-49C4-F3C7-C8DC23AEC7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9366E310-3C58-0D37-77E9-791158E795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4330664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5B741444-B20F-F5E5-0F2C-A03AF5515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206C2376-8B5F-8FB2-BA8B-92EFFD971E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4DF01345-A97C-EB59-A80F-5D8893C8ED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3774474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44C1AD74-4F5F-99F9-027E-1835CCC09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27414669-AFF9-3B0B-387C-52F4A121B5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88E887C2-9254-4899-45F9-36517D4950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1667399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E680FA2D-4A33-0953-E28C-F0DA66A83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366BE292-40CF-482C-990E-4BA0FC84BD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E974C888-36BD-CD7D-FCA3-D42E446132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1679323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CE61D37E-2D60-C119-33D9-AAEAFD7C5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4F95C7DA-B670-A2E9-9586-B7D242B5C5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514F4B19-5CC6-FC16-6356-2A25B85A43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6927558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9BA1AB51-46C9-4AB0-601D-E220EF39E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A640273B-6D67-A992-826C-1E7AB23EDB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F9D4EA90-3F9C-9DA7-5D41-36D1F6DCB4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4216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7A289-FF3D-6221-0919-52B01AA8C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94B72A-F72E-6F44-5F03-1418A0B231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6A39C-6018-18E9-5F8D-4A1EC20EB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12/08/2026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20D52-2FFC-C9DF-2C1D-0D71439D0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06BD1-0781-7498-CBE7-882C85BC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5949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06307-42D9-B52A-3FDF-879E60F0F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A6530-A555-4496-8091-721D1F881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4BAD6-101F-B851-1C08-7D894720D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12/08/2026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BE63D-2BAC-0771-6CDD-E58CA768C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2B1F2-308D-04CF-0533-43636B44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1116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51970-B490-B69E-FCBD-212BA0910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EDBB8-F6B9-F902-DDF8-399BEAD5F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A61F5-3BD9-1364-E269-EA50C8D5E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12/08/2026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1C5DD-8DE3-E3A8-9502-3A87814DB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7EB9C-AF45-B217-1DA1-31C1499BA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447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B327E-C2D8-2826-AC41-CBF55C1F5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1C1C5-C310-D6F8-E733-80DC724D8F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B3D25-4FAE-3121-CD93-0C49A108A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4EAB2-5E1A-8619-3057-C3A1AB5D1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12/08/2026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9F5A9-2584-E93E-6A0F-A4794EE1D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7E2D3-3374-99CB-1920-B67380A0E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972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6ED3B-21CA-4495-94A5-BF0A07143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25D24-B245-8441-06C8-6FC24B1D7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0E5481-DAD5-42E9-A05C-FE17FB031D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EBF7B5-BC72-38B3-02F0-7BB1BC9D07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271FD1-022B-B62F-16CD-57BC6B42D6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1968B3-4251-2756-4B56-73ADD5061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12/08/2026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7B1F6D-47C2-CAE3-A4E5-9BBEA2718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390004-77A4-C994-6377-2D03957A9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7843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029FA-C545-B505-6C82-069457BDA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BCBFB8-D61F-8DA0-01D0-D4ABB1784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12/08/2026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2936ED-D26E-6CDD-AE85-E69826C2B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0F5E15-D044-ACA4-4FF1-4403C9CB1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0804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00D06D-3A18-FF5D-39C8-EC1AC6D1C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12/08/2026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041F04-363D-EF82-F43A-1F8511337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072FA-339B-371C-0059-8970DEB1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0544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B85B4-BB2F-E262-E02E-C1DC1BF00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14E00-FACA-AA09-85E5-E01105E85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4EE9D-4DB5-87C6-C68D-3C076EA32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8988F-CF28-82C0-CDE6-5940AF6AD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12/08/2026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6275B-7D78-C2DE-31FE-0C2CC2479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A9313-C86F-F87B-3741-AEE3F072D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4448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15856-F0AB-56B5-BD98-57810EED5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7A74BD-4349-19E0-431D-8899C9B137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9018E4-FE4E-963A-A372-8FF2993F1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71D85-A2C7-2BA8-45B6-F761AF790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12/08/2026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167D4-1A0A-BA70-330D-3FF1004FE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2802A-72F4-775F-7C84-9B2F5770F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132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CF791-333B-3959-5EB7-74857A081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30ACA7-4517-BC5B-569C-29CDA754F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72832-7FB6-BE62-8AC6-AC4630D92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12/08/2026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D29DE-BC8E-969C-246D-FAB1068D1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5BE22-884E-FBF3-A25E-96D418634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5697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444B66-AC16-CCAB-AFE8-29D6415A76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ACECC-B4A9-B0D4-C662-26E490713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00766-BA84-C9DB-9E6F-3B62FB470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12/08/2026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61B9B-7BB2-B7BE-929B-53D8853D7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AB2A3-A938-DC24-C96A-DF2004F89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2973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658685" y="1008934"/>
            <a:ext cx="1442167" cy="1499933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Google Shape;11;p2"/>
          <p:cNvSpPr/>
          <p:nvPr/>
        </p:nvSpPr>
        <p:spPr>
          <a:xfrm rot="10800000">
            <a:off x="7091134" y="4355634"/>
            <a:ext cx="1442167" cy="1499933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4059600" y="1925673"/>
            <a:ext cx="40728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059600" y="4155440"/>
            <a:ext cx="4072800" cy="9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33673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10127918" y="613634"/>
            <a:ext cx="1442167" cy="1499933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621901" y="4744434"/>
            <a:ext cx="1442167" cy="1499933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1031600" y="2408600"/>
            <a:ext cx="10128800" cy="20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83778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800" cy="110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11360800" cy="44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08484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800" cy="110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5333200" cy="44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6443200" y="1633633"/>
            <a:ext cx="5333200" cy="44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6272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800" cy="110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37044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415600" y="1865867"/>
            <a:ext cx="3744000" cy="37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65741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7838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67221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6096000" y="-33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43" name="Google Shape;43;p9"/>
          <p:cNvCxnSpPr/>
          <p:nvPr/>
        </p:nvCxnSpPr>
        <p:spPr>
          <a:xfrm>
            <a:off x="6706233" y="5994000"/>
            <a:ext cx="624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354000" y="1239033"/>
            <a:ext cx="5393600" cy="23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354000" y="3692001"/>
            <a:ext cx="5393600" cy="20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30279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426000" y="5625233"/>
            <a:ext cx="79984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9459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276167"/>
            <a:ext cx="11360800" cy="28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415600" y="4216000"/>
            <a:ext cx="11360800" cy="1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39717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784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CC3005-B647-9E32-CC60-519127703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7C51E-6DC2-39F3-9212-D582E0A9B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B9BBC-D295-7A76-2B27-6B12AD3F6F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B67406-7D6A-427B-AE15-EA86D49A46C9}" type="datetimeFigureOut">
              <a:rPr lang="en-AU" smtClean="0"/>
              <a:t>12/08/2026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185DA-FDEE-FA5B-E9B0-C02631270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860BB-9B5C-C732-6BD6-2C0DFC8EE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46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800" cy="11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11360800" cy="44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34494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876F03-8BAA-72AB-E62A-1CEA6868C9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8454" y="1360481"/>
            <a:ext cx="4605340" cy="2387600"/>
          </a:xfrm>
        </p:spPr>
        <p:txBody>
          <a:bodyPr>
            <a:normAutofit/>
          </a:bodyPr>
          <a:lstStyle/>
          <a:p>
            <a:pPr algn="l"/>
            <a:r>
              <a:rPr lang="en-US" sz="3900">
                <a:solidFill>
                  <a:schemeClr val="bg1"/>
                </a:solidFill>
                <a:latin typeface="Calibir"/>
              </a:rPr>
              <a:t>32555 – Fundamentals of Software Development</a:t>
            </a:r>
            <a:endParaRPr lang="en-AU" sz="3900">
              <a:solidFill>
                <a:schemeClr val="bg1"/>
              </a:solidFill>
              <a:latin typeface="Calibir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8A4EEB-3C3C-78E4-5144-CBDE3AFA8C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7" r="98" b="1"/>
          <a:stretch>
            <a:fillRect/>
          </a:stretch>
        </p:blipFill>
        <p:spPr>
          <a:xfrm>
            <a:off x="5800734" y="1057275"/>
            <a:ext cx="5917401" cy="47434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84C2E9E-0B5D-4B5F-9A1F-70EBDCE39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2461" y="1197769"/>
            <a:ext cx="10987078" cy="4462463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4851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7A11-47AE-C133-8206-569A0BB07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E1848-8E74-13DF-C09C-3CC64A48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Welcome to 32555 – Fundamentals of Software Development</a:t>
            </a:r>
            <a:endParaRPr lang="en-AU" sz="4000" b="1" dirty="0">
              <a:latin typeface="Calibir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5185FC6-5CEA-DC1B-A1DF-D2D8A8948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7669"/>
            <a:ext cx="12192000" cy="5963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Your Teaching Team: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 Yining Hu | Subject Coordinator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Yining is a Lecturer in Software Engineering. She works with many SMEs to develop software and AI solutions through student and research projects at UTS.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 yining.hu@uts.edu.au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 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 Xiaojie (Zoe) Lin | Tutor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Zoe is a full-stack software engineer with an interest in data analysis, specializing in JAVA, R, Python, JavaScript, PHP, Bash, and MATLAB; familiar with AWS.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  Xiaojie.Lin@uts.edu.au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 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 Farshid Keivanian | Tutor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 Farshid Keivanian is an experienced university lecturer and researcher with a PhD in Information Technology. He has over 15 years of teaching experience across Australian institutions,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specialising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in software engineering, data science, AI, and cybersecurity.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 Farshid.Keivanian@uts.edu.au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 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Yong Pov | Tutor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Yong is a full-stack software engineer with experience in React, JavaScript, TypeScript, Java, Python, SQL, and AI-assisted learning platforms.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 Yong.Pov@uts.edu.au</a:t>
            </a:r>
          </a:p>
        </p:txBody>
      </p:sp>
    </p:spTree>
    <p:extLst>
      <p:ext uri="{BB962C8B-B14F-4D97-AF65-F5344CB8AC3E}">
        <p14:creationId xmlns:p14="http://schemas.microsoft.com/office/powerpoint/2010/main" val="794337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96DC6-424A-EAE3-87C1-E5765B094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E5FDA-B4C2-6DD5-17BE-680D62858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Welcome to 32555 – Fundamentals of Software Development</a:t>
            </a:r>
            <a:endParaRPr lang="en-AU" sz="4000" b="1" dirty="0">
              <a:latin typeface="Calibir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E98AB95-B27E-184F-3760-418B8D55B79F}"/>
              </a:ext>
            </a:extLst>
          </p:cNvPr>
          <p:cNvGraphicFramePr>
            <a:graphicFrameLocks noGrp="1"/>
          </p:cNvGraphicFramePr>
          <p:nvPr/>
        </p:nvGraphicFramePr>
        <p:xfrm>
          <a:off x="722671" y="1816610"/>
          <a:ext cx="9792928" cy="368121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13329">
                  <a:extLst>
                    <a:ext uri="{9D8B030D-6E8A-4147-A177-3AD203B41FA5}">
                      <a16:colId xmlns:a16="http://schemas.microsoft.com/office/drawing/2014/main" val="79494275"/>
                    </a:ext>
                  </a:extLst>
                </a:gridCol>
                <a:gridCol w="2230244">
                  <a:extLst>
                    <a:ext uri="{9D8B030D-6E8A-4147-A177-3AD203B41FA5}">
                      <a16:colId xmlns:a16="http://schemas.microsoft.com/office/drawing/2014/main" val="2506284612"/>
                    </a:ext>
                  </a:extLst>
                </a:gridCol>
                <a:gridCol w="2864347">
                  <a:extLst>
                    <a:ext uri="{9D8B030D-6E8A-4147-A177-3AD203B41FA5}">
                      <a16:colId xmlns:a16="http://schemas.microsoft.com/office/drawing/2014/main" val="2357989121"/>
                    </a:ext>
                  </a:extLst>
                </a:gridCol>
                <a:gridCol w="3085008">
                  <a:extLst>
                    <a:ext uri="{9D8B030D-6E8A-4147-A177-3AD203B41FA5}">
                      <a16:colId xmlns:a16="http://schemas.microsoft.com/office/drawing/2014/main" val="192731506"/>
                    </a:ext>
                  </a:extLst>
                </a:gridCol>
              </a:tblGrid>
              <a:tr h="3706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Cmp1 #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Location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Time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Tutor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461216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01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CB11.B1.400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Fri 16:00-18:00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Xiaojie (Zoe) Lin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extLst>
                  <a:ext uri="{0D108BD9-81ED-4DB2-BD59-A6C34878D82A}">
                    <a16:rowId xmlns:a16="http://schemas.microsoft.com/office/drawing/2014/main" val="3707997205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07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CB11.B1.401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Wed 10:00-12:00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Farshid Keivanian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27887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08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CB11.B1.400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Fri 12:00-14:00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Yong Pov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extLst>
                  <a:ext uri="{0D108BD9-81ED-4DB2-BD59-A6C34878D82A}">
                    <a16:rowId xmlns:a16="http://schemas.microsoft.com/office/drawing/2014/main" val="1335921487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09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CB11.B1.103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Wed 16:00-18:00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Farshid Keivanian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187035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10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CB11.B1.401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Wed 12:00-14:00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Farshid Keivanian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140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4682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DA366-6BE2-EF72-FFA9-3FC1C60CA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B7095-A95E-A4AA-C9AB-75AB5D7B3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3 Outline</a:t>
            </a:r>
            <a:endParaRPr lang="en-AU" sz="4000" b="1" dirty="0">
              <a:latin typeface="Calibir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FC1A8C-D064-CC28-D14C-1486BE507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65" y="672662"/>
            <a:ext cx="12007269" cy="586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Calibir"/>
              </a:rPr>
              <a:t>Lab 3 Exercises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Calibir"/>
              </a:rPr>
              <a:t>Object-Oriented Programming (OOP)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AU" dirty="0">
                <a:latin typeface="Calibir"/>
              </a:rPr>
              <a:t>Hands-On Activity 1 (</a:t>
            </a:r>
            <a:r>
              <a:rPr lang="en-AU" dirty="0" err="1">
                <a:latin typeface="Calibir"/>
              </a:rPr>
              <a:t>CBA_BankAccount_Deposit</a:t>
            </a:r>
            <a:r>
              <a:rPr lang="en-AU" dirty="0">
                <a:latin typeface="Calibir"/>
              </a:rPr>
              <a:t>)</a:t>
            </a:r>
            <a:endParaRPr lang="en-US" dirty="0">
              <a:latin typeface="Calibir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AU" dirty="0">
                <a:latin typeface="Calibir"/>
              </a:rPr>
              <a:t>Hands-On Activity 2 (Create Multiple Bank Accounts and Call Their Methods) – Python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AU" dirty="0">
                <a:latin typeface="Calibir"/>
              </a:rPr>
              <a:t>Hands-On Activity 3 (OOP Example – Train Class) in Python</a:t>
            </a:r>
            <a:endParaRPr lang="en-US" dirty="0">
              <a:latin typeface="Calibir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AU" dirty="0">
                <a:latin typeface="Calibir"/>
              </a:rPr>
              <a:t>Hands-On Activity 4 (Create Your Favourite Aussie Sport Class) in Python</a:t>
            </a:r>
            <a:endParaRPr lang="en-US" dirty="0">
              <a:latin typeface="Calibir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Calibir"/>
              </a:rPr>
              <a:t>Data Types, Variables, and Operators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Calibir"/>
              </a:rPr>
              <a:t>Hands-On Activity 5: Data Types, Variables, and Operators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Calibir"/>
              </a:rPr>
              <a:t>Strings &amp; String Formatting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Calibir"/>
              </a:rPr>
              <a:t>Arrays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Calibir"/>
              </a:rPr>
              <a:t>Java Arrays in Eclipse — </a:t>
            </a:r>
            <a:r>
              <a:rPr lang="en-US" dirty="0" err="1">
                <a:latin typeface="Calibir"/>
              </a:rPr>
              <a:t>StationsApp</a:t>
            </a:r>
            <a:r>
              <a:rPr lang="en-US" dirty="0">
                <a:latin typeface="Calibir"/>
              </a:rPr>
              <a:t> Demo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Calibir"/>
              </a:rPr>
              <a:t>Array Example in Java (Visual Studio Code)- Necessary Package in Visual Studio Code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Calibir"/>
              </a:rPr>
              <a:t>Input/Output (I/O)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Calibir"/>
              </a:rPr>
              <a:t>Input/Output (I/O) – Java Example in Eclipse</a:t>
            </a:r>
          </a:p>
        </p:txBody>
      </p:sp>
    </p:spTree>
    <p:extLst>
      <p:ext uri="{BB962C8B-B14F-4D97-AF65-F5344CB8AC3E}">
        <p14:creationId xmlns:p14="http://schemas.microsoft.com/office/powerpoint/2010/main" val="3000910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514A2-3A4F-C9A5-F7B0-66A3D1045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8D37AD-7F01-80AA-AC68-2D414D2497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432" b="8129"/>
          <a:stretch>
            <a:fillRect/>
          </a:stretch>
        </p:blipFill>
        <p:spPr>
          <a:xfrm>
            <a:off x="0" y="925551"/>
            <a:ext cx="12192000" cy="56536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59B394-8FFB-693C-34C8-433562A9D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r>
              <a:rPr lang="en-US" sz="4000">
                <a:latin typeface="Calibir"/>
              </a:rPr>
              <a:t>Lab 3 Exercises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3365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/>
        </p:nvSpPr>
        <p:spPr>
          <a:xfrm>
            <a:off x="0" y="0"/>
            <a:ext cx="10409433" cy="725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US" sz="3200" kern="0" dirty="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Lab 3 exercises	</a:t>
            </a:r>
            <a:r>
              <a:rPr lang="en-US" sz="3200" kern="0" dirty="0">
                <a:solidFill>
                  <a:srgbClr val="F79646">
                    <a:lumMod val="75000"/>
                  </a:srgbClr>
                </a:solidFill>
                <a:latin typeface="Economica"/>
                <a:ea typeface="Economica"/>
                <a:cs typeface="Economica"/>
                <a:sym typeface="Economica"/>
              </a:rPr>
              <a:t>lab time: 120 minutes</a:t>
            </a:r>
            <a:endParaRPr sz="3200" kern="0" dirty="0">
              <a:solidFill>
                <a:srgbClr val="F79646">
                  <a:lumMod val="75000"/>
                </a:srgbClr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0F1F70-F36A-7BAC-66A6-6BA207139BBF}"/>
              </a:ext>
            </a:extLst>
          </p:cNvPr>
          <p:cNvSpPr txBox="1"/>
          <p:nvPr/>
        </p:nvSpPr>
        <p:spPr>
          <a:xfrm>
            <a:off x="1625600" y="1102711"/>
            <a:ext cx="8940800" cy="5142305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defTabSz="1219170">
              <a:lnSpc>
                <a:spcPct val="200000"/>
              </a:lnSpc>
              <a:buClr>
                <a:srgbClr val="000000"/>
              </a:buClr>
            </a:pPr>
            <a:r>
              <a:rPr lang="en-US" sz="2800" kern="0" dirty="0">
                <a:solidFill>
                  <a:srgbClr val="000000"/>
                </a:solidFill>
                <a:latin typeface="Calibir"/>
                <a:cs typeface="Arial"/>
                <a:sym typeface="Arial"/>
              </a:rPr>
              <a:t>Lab 3 has two objectives:</a:t>
            </a:r>
          </a:p>
          <a:p>
            <a:pPr marL="380990" indent="-380990" defTabSz="1219170">
              <a:lnSpc>
                <a:spcPct val="2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kern="0" dirty="0">
                <a:solidFill>
                  <a:srgbClr val="000000"/>
                </a:solidFill>
                <a:latin typeface="Calibir"/>
                <a:cs typeface="Arial"/>
                <a:sym typeface="Arial"/>
              </a:rPr>
              <a:t>Primary: Implement the </a:t>
            </a:r>
            <a:r>
              <a:rPr lang="en-US" sz="2800" kern="0" dirty="0" err="1">
                <a:solidFill>
                  <a:srgbClr val="000000"/>
                </a:solidFill>
                <a:latin typeface="Calibir"/>
                <a:cs typeface="Arial"/>
                <a:sym typeface="Arial"/>
              </a:rPr>
              <a:t>DeskBankApp</a:t>
            </a:r>
            <a:r>
              <a:rPr lang="en-US" sz="2800" kern="0" dirty="0">
                <a:solidFill>
                  <a:srgbClr val="000000"/>
                </a:solidFill>
                <a:latin typeface="Calibir"/>
                <a:cs typeface="Arial"/>
                <a:sym typeface="Arial"/>
              </a:rPr>
              <a:t> [refer to Lab 2 class diagram]</a:t>
            </a:r>
          </a:p>
          <a:p>
            <a:pPr marL="380990" indent="-380990" defTabSz="1219170">
              <a:lnSpc>
                <a:spcPct val="2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kern="0" dirty="0">
                <a:solidFill>
                  <a:srgbClr val="000000"/>
                </a:solidFill>
                <a:latin typeface="Calibir"/>
                <a:cs typeface="Arial"/>
                <a:sym typeface="Arial"/>
              </a:rPr>
              <a:t>Secondary: Complete the practice exercises [ 1 to 7] </a:t>
            </a:r>
          </a:p>
          <a:p>
            <a:pPr defTabSz="1219170">
              <a:lnSpc>
                <a:spcPct val="200000"/>
              </a:lnSpc>
              <a:buClr>
                <a:srgbClr val="000000"/>
              </a:buClr>
            </a:pPr>
            <a:r>
              <a:rPr lang="en-US" sz="2800" kern="0" dirty="0">
                <a:solidFill>
                  <a:srgbClr val="000000"/>
                </a:solidFill>
                <a:latin typeface="Calibir"/>
                <a:cs typeface="Arial"/>
                <a:sym typeface="Arial"/>
              </a:rPr>
              <a:t>Complete the Lab 3 exercises using either Java or Python.</a:t>
            </a:r>
          </a:p>
          <a:p>
            <a:pPr defTabSz="1219170">
              <a:lnSpc>
                <a:spcPct val="200000"/>
              </a:lnSpc>
              <a:buClr>
                <a:srgbClr val="000000"/>
              </a:buClr>
            </a:pPr>
            <a:r>
              <a:rPr lang="en-US" sz="2800" kern="0" dirty="0">
                <a:solidFill>
                  <a:srgbClr val="000000"/>
                </a:solidFill>
                <a:latin typeface="Calibir"/>
                <a:cs typeface="Arial"/>
                <a:sym typeface="Arial"/>
              </a:rPr>
              <a:t>Recommended IDE for Java and Python:  </a:t>
            </a:r>
            <a:r>
              <a:rPr lang="en-US" sz="2800" kern="0" dirty="0" err="1">
                <a:solidFill>
                  <a:srgbClr val="00B0F0"/>
                </a:solidFill>
                <a:latin typeface="Calibir"/>
                <a:cs typeface="Arial"/>
                <a:sym typeface="Arial"/>
              </a:rPr>
              <a:t>vscode</a:t>
            </a:r>
            <a:endParaRPr lang="en-US" sz="2800" kern="0" dirty="0">
              <a:solidFill>
                <a:srgbClr val="00B0F0"/>
              </a:solidFill>
              <a:latin typeface="Calibir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3FE0C017-4F14-E49E-A1AB-D1A1AE7B21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9613"/>
            <a:ext cx="11362267" cy="1109133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GB" dirty="0"/>
              <a:t>Lab 3</a:t>
            </a:r>
            <a:endParaRPr dirty="0"/>
          </a:p>
        </p:txBody>
      </p:sp>
      <p:sp>
        <p:nvSpPr>
          <p:cNvPr id="13" name="Google Shape;351;p45">
            <a:extLst>
              <a:ext uri="{FF2B5EF4-FFF2-40B4-BE49-F238E27FC236}">
                <a16:creationId xmlns:a16="http://schemas.microsoft.com/office/drawing/2014/main" id="{A54F7399-0325-D592-E3BD-B74B580D26E3}"/>
              </a:ext>
            </a:extLst>
          </p:cNvPr>
          <p:cNvSpPr/>
          <p:nvPr/>
        </p:nvSpPr>
        <p:spPr>
          <a:xfrm>
            <a:off x="609600" y="2413001"/>
            <a:ext cx="7721600" cy="348874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lnSpc>
                <a:spcPct val="150000"/>
              </a:lnSpc>
              <a:buClr>
                <a:srgbClr val="000000"/>
              </a:buClr>
            </a:pPr>
            <a:r>
              <a:rPr lang="en-GB" sz="2133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1 - Create a main class called Bank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</a:pPr>
            <a:r>
              <a:rPr lang="en-GB" sz="2133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2 - Define main() method in Bank with the following operations:</a:t>
            </a:r>
          </a:p>
          <a:p>
            <a:pPr defTabSz="609585">
              <a:lnSpc>
                <a:spcPct val="150000"/>
              </a:lnSpc>
              <a:buClr>
                <a:srgbClr val="000000"/>
              </a:buClr>
            </a:pPr>
            <a:r>
              <a:rPr lang="en-GB" sz="2133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	- make a deposit (read amount from STDIN) and display the amount deposited</a:t>
            </a:r>
          </a:p>
          <a:p>
            <a:pPr defTabSz="609585">
              <a:lnSpc>
                <a:spcPct val="150000"/>
              </a:lnSpc>
              <a:buClr>
                <a:srgbClr val="000000"/>
              </a:buClr>
            </a:pPr>
            <a:r>
              <a:rPr lang="en-GB" sz="2133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	- make a withdraw (read amount from STDIN) and display the amount withdrawn</a:t>
            </a:r>
            <a:endParaRPr lang="en-GB" sz="2133" kern="0" dirty="0">
              <a:solidFill>
                <a:srgbClr val="F79646">
                  <a:lumMod val="75000"/>
                </a:srgbClr>
              </a:solidFill>
              <a:latin typeface="Economica" panose="020B0604020202020204" charset="0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980C27-948C-5A74-3794-543E81ADB7CC}"/>
              </a:ext>
            </a:extLst>
          </p:cNvPr>
          <p:cNvSpPr txBox="1"/>
          <p:nvPr/>
        </p:nvSpPr>
        <p:spPr>
          <a:xfrm>
            <a:off x="406401" y="1089520"/>
            <a:ext cx="11004265" cy="1131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lnSpc>
                <a:spcPct val="150000"/>
              </a:lnSpc>
              <a:buClr>
                <a:srgbClr val="000000"/>
              </a:buClr>
            </a:pPr>
            <a:r>
              <a:rPr lang="en-US" sz="2400" b="1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Case Study: </a:t>
            </a: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Develop the </a:t>
            </a:r>
            <a:r>
              <a:rPr lang="en-GB" sz="2400" kern="0" dirty="0" err="1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DeskBankApp</a:t>
            </a: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 system – First Implementation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</a:pP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This exercise is the first implementation of the </a:t>
            </a:r>
            <a:r>
              <a:rPr lang="en-GB" sz="2400" kern="0" dirty="0" err="1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DeskBankApp</a:t>
            </a: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 case study</a:t>
            </a:r>
            <a:endParaRPr lang="en-US" sz="2400" kern="0" dirty="0">
              <a:solidFill>
                <a:srgbClr val="000000"/>
              </a:solidFill>
              <a:latin typeface="Economica" panose="020B0604020202020204" charset="0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2E4BF9-C7FD-E400-D7FD-DF1253F29C44}"/>
              </a:ext>
            </a:extLst>
          </p:cNvPr>
          <p:cNvSpPr txBox="1"/>
          <p:nvPr/>
        </p:nvSpPr>
        <p:spPr>
          <a:xfrm>
            <a:off x="8839201" y="3260671"/>
            <a:ext cx="3041217" cy="1763175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none" rtlCol="0">
            <a:spAutoFit/>
          </a:bodyPr>
          <a:lstStyle/>
          <a:p>
            <a:pPr defTabSz="1219170">
              <a:lnSpc>
                <a:spcPct val="150000"/>
              </a:lnSpc>
              <a:buClr>
                <a:srgbClr val="000000"/>
              </a:buClr>
            </a:pPr>
            <a:r>
              <a:rPr lang="en-GB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Amount to deposit $ </a:t>
            </a:r>
            <a:r>
              <a:rPr lang="en-GB" sz="1867" kern="0" dirty="0">
                <a:solidFill>
                  <a:srgbClr val="F79646">
                    <a:lumMod val="75000"/>
                  </a:srgbClr>
                </a:solidFill>
                <a:latin typeface="Arial"/>
                <a:cs typeface="Arial"/>
                <a:sym typeface="Arial"/>
              </a:rPr>
              <a:t>200.2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</a:pPr>
            <a:r>
              <a:rPr lang="en-GB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Amount $200.20 deposited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</a:pPr>
            <a:r>
              <a:rPr lang="en-GB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Amount to withdraw $ </a:t>
            </a:r>
            <a:r>
              <a:rPr lang="en-GB" sz="1867" kern="0" dirty="0">
                <a:solidFill>
                  <a:srgbClr val="F79646">
                    <a:lumMod val="75000"/>
                  </a:srgbClr>
                </a:solidFill>
                <a:latin typeface="Arial"/>
                <a:cs typeface="Arial"/>
                <a:sym typeface="Arial"/>
              </a:rPr>
              <a:t>50.5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</a:pPr>
            <a:r>
              <a:rPr lang="en-GB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Amount $50.50 withdrawn</a:t>
            </a:r>
            <a:endParaRPr lang="en-US"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4BD407-337B-2AED-2239-16486355E6B8}"/>
              </a:ext>
            </a:extLst>
          </p:cNvPr>
          <p:cNvSpPr txBox="1"/>
          <p:nvPr/>
        </p:nvSpPr>
        <p:spPr>
          <a:xfrm>
            <a:off x="9550401" y="2717801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Sample I/O</a:t>
            </a:r>
          </a:p>
        </p:txBody>
      </p:sp>
    </p:spTree>
    <p:extLst>
      <p:ext uri="{BB962C8B-B14F-4D97-AF65-F5344CB8AC3E}">
        <p14:creationId xmlns:p14="http://schemas.microsoft.com/office/powerpoint/2010/main" val="1737195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6336A93F-CFE1-BFB5-DC92-F238E419E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036451D-500D-0E15-C1CC-9B10D88AF916}"/>
              </a:ext>
            </a:extLst>
          </p:cNvPr>
          <p:cNvSpPr txBox="1"/>
          <p:nvPr/>
        </p:nvSpPr>
        <p:spPr>
          <a:xfrm>
            <a:off x="102220" y="507751"/>
            <a:ext cx="1198756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Objective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Lab 3 starts turning the UML design from Lab 2 into working code.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For this first implementation, we are not building the entire </a:t>
            </a:r>
            <a:r>
              <a:rPr lang="en-US" sz="2800" dirty="0" err="1">
                <a:latin typeface="Calibir"/>
              </a:rPr>
              <a:t>DeskBankApp</a:t>
            </a:r>
            <a:r>
              <a:rPr lang="en-US" sz="2800" dirty="0">
                <a:latin typeface="Calibir"/>
              </a:rPr>
              <a:t> yet.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We only need to:</a:t>
            </a:r>
          </a:p>
          <a:p>
            <a:pPr marL="623888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Create a Bank main class. </a:t>
            </a:r>
          </a:p>
          <a:p>
            <a:pPr marL="623888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Read a deposit amount from the keyboard. </a:t>
            </a:r>
          </a:p>
          <a:p>
            <a:pPr marL="623888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Display the deposited amount. </a:t>
            </a:r>
          </a:p>
          <a:p>
            <a:pPr marL="623888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Read a withdrawal amount. </a:t>
            </a:r>
          </a:p>
          <a:p>
            <a:pPr marL="623888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Display the withdrawn amount.</a:t>
            </a:r>
          </a:p>
        </p:txBody>
      </p:sp>
    </p:spTree>
    <p:extLst>
      <p:ext uri="{BB962C8B-B14F-4D97-AF65-F5344CB8AC3E}">
        <p14:creationId xmlns:p14="http://schemas.microsoft.com/office/powerpoint/2010/main" val="4104938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3EDE6F4E-EA52-9B0B-73A3-218BBF271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1D708-E73D-13F9-72B5-F781ED249238}"/>
              </a:ext>
            </a:extLst>
          </p:cNvPr>
          <p:cNvSpPr txBox="1"/>
          <p:nvPr/>
        </p:nvSpPr>
        <p:spPr>
          <a:xfrm>
            <a:off x="0" y="0"/>
            <a:ext cx="11987560" cy="6770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Lab 3 — </a:t>
            </a:r>
            <a:r>
              <a:rPr lang="en-US" sz="2800" b="1" dirty="0" err="1">
                <a:latin typeface="Calibir"/>
              </a:rPr>
              <a:t>DeskBankApp</a:t>
            </a:r>
            <a:r>
              <a:rPr lang="en-US" sz="2800" b="1" dirty="0">
                <a:latin typeface="Calibir"/>
              </a:rPr>
              <a:t>: First Implementation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Task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Create the first simple implementation of </a:t>
            </a:r>
            <a:r>
              <a:rPr lang="en-US" sz="2800" dirty="0" err="1">
                <a:latin typeface="Calibir"/>
              </a:rPr>
              <a:t>DeskBankApp</a:t>
            </a:r>
            <a:r>
              <a:rPr lang="en-US" sz="2800" dirty="0">
                <a:latin typeface="Calibir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Calibir"/>
              </a:rPr>
              <a:t>The program must:</a:t>
            </a:r>
          </a:p>
          <a:p>
            <a:pPr marL="714375" lvl="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Calibir"/>
              </a:rPr>
              <a:t>Create a main Bank class. </a:t>
            </a:r>
          </a:p>
          <a:p>
            <a:pPr marL="714375" lvl="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Calibir"/>
              </a:rPr>
              <a:t>Start the program. </a:t>
            </a:r>
          </a:p>
          <a:p>
            <a:pPr marL="714375" lvl="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Calibir"/>
              </a:rPr>
              <a:t>Read a deposit amount from STDIN. </a:t>
            </a:r>
          </a:p>
          <a:p>
            <a:pPr marL="714375" lvl="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Calibir"/>
              </a:rPr>
              <a:t>Display the deposited amount. </a:t>
            </a:r>
          </a:p>
          <a:p>
            <a:pPr marL="714375" lvl="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Calibir"/>
              </a:rPr>
              <a:t>Read a withdrawal amount from STDIN. </a:t>
            </a:r>
          </a:p>
          <a:p>
            <a:pPr marL="714375" lvl="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Calibir"/>
              </a:rPr>
              <a:t>Display the withdrawn amount. </a:t>
            </a:r>
          </a:p>
          <a:p>
            <a:pPr marL="714375" lvl="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Calibir"/>
              </a:rPr>
              <a:t>Format monetary values to 2 decimal places.</a:t>
            </a:r>
          </a:p>
        </p:txBody>
      </p:sp>
    </p:spTree>
    <p:extLst>
      <p:ext uri="{BB962C8B-B14F-4D97-AF65-F5344CB8AC3E}">
        <p14:creationId xmlns:p14="http://schemas.microsoft.com/office/powerpoint/2010/main" val="4200810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6100EB7A-1B1B-10BB-8C92-5F3520DD2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A448B2A-D04F-2FA7-5D4A-7385DFE2E82D}"/>
              </a:ext>
            </a:extLst>
          </p:cNvPr>
          <p:cNvSpPr txBox="1"/>
          <p:nvPr/>
        </p:nvSpPr>
        <p:spPr>
          <a:xfrm>
            <a:off x="0" y="0"/>
            <a:ext cx="1198756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What is STDIN?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STDIN = Standard Input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 this exercise, STDIN simply means: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Input entered by the user using the keyboard.</a:t>
            </a:r>
          </a:p>
        </p:txBody>
      </p:sp>
    </p:spTree>
    <p:extLst>
      <p:ext uri="{BB962C8B-B14F-4D97-AF65-F5344CB8AC3E}">
        <p14:creationId xmlns:p14="http://schemas.microsoft.com/office/powerpoint/2010/main" val="1008440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C317D41A-E188-F49F-2D2F-0296B4BE9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DDF5DB-759A-8855-0A61-AFDF13C38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1" t="11393" r="53000" b="45690"/>
          <a:stretch>
            <a:fillRect/>
          </a:stretch>
        </p:blipFill>
        <p:spPr>
          <a:xfrm>
            <a:off x="0" y="-4791"/>
            <a:ext cx="10738624" cy="6862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025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68F5CAB9-C3FC-D2D9-BE47-E82E1D8B2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5E9203-5633-DDF6-2D8B-EEDF6318D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70" r="533" b="46179"/>
          <a:stretch>
            <a:fillRect/>
          </a:stretch>
        </p:blipFill>
        <p:spPr>
          <a:xfrm>
            <a:off x="0" y="-1"/>
            <a:ext cx="9411629" cy="689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410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63834238-03B5-D852-487C-76C88BD73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159F21-F00A-184E-B609-4D5018A392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" t="55935" r="50397" b="1138"/>
          <a:stretch>
            <a:fillRect/>
          </a:stretch>
        </p:blipFill>
        <p:spPr>
          <a:xfrm>
            <a:off x="211393" y="0"/>
            <a:ext cx="11769213" cy="685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39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6818FE2F-8DCE-DD2C-7E85-7CF6B77E0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338B53-AFC8-2ACF-01CD-81D2E760A954}"/>
              </a:ext>
            </a:extLst>
          </p:cNvPr>
          <p:cNvSpPr txBox="1"/>
          <p:nvPr/>
        </p:nvSpPr>
        <p:spPr>
          <a:xfrm>
            <a:off x="0" y="184586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libir"/>
              </a:rPr>
              <a:t>Step 11 — Connect Lab 2 UML to Lab 3 Code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66EF13-E762-5FD6-9997-8906A2B5F4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6" t="13256" r="6597" b="9518"/>
          <a:stretch>
            <a:fillRect/>
          </a:stretch>
        </p:blipFill>
        <p:spPr>
          <a:xfrm>
            <a:off x="629265" y="1125111"/>
            <a:ext cx="10933470" cy="525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30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6DEC0932-35A2-E57D-5B45-40E21197A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F9E5E9-2CB3-35FA-E3CD-1963CE500E31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ir"/>
              </a:rPr>
              <a:t>Group Project Workflow in VS Code (Python) Using GitHub</a:t>
            </a:r>
            <a:endParaRPr lang="en-US" sz="3000" dirty="0">
              <a:latin typeface="Calibi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45E5FA-E9EF-DA20-558F-D958CD1EE2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" t="29838" r="444" b="1935"/>
          <a:stretch>
            <a:fillRect/>
          </a:stretch>
        </p:blipFill>
        <p:spPr>
          <a:xfrm>
            <a:off x="56535" y="1349477"/>
            <a:ext cx="12078929" cy="4159045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2145678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364881E1-402C-79B8-3896-5F415CF93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F1538D-988E-4F9B-F5E1-7E56059C0E47}"/>
              </a:ext>
            </a:extLst>
          </p:cNvPr>
          <p:cNvSpPr txBox="1"/>
          <p:nvPr/>
        </p:nvSpPr>
        <p:spPr>
          <a:xfrm>
            <a:off x="0" y="918472"/>
            <a:ext cx="12192000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Lab 3 — Group Coding Workflow in VS Code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A simple workflow for your group of 3–4 students is: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alibir"/>
              </a:rPr>
              <a:t>One student creates a project folder, for example: 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 err="1">
                <a:latin typeface="Calibir"/>
              </a:rPr>
              <a:t>DeskBankApp</a:t>
            </a:r>
            <a:r>
              <a:rPr lang="en-US" sz="2400" dirty="0">
                <a:latin typeface="Calibir"/>
              </a:rPr>
              <a:t>/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2400" dirty="0">
                <a:latin typeface="Calibir"/>
              </a:rPr>
              <a:t>Open the project folder in VS Code: 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File → Open Folder → </a:t>
            </a:r>
            <a:r>
              <a:rPr lang="en-US" sz="2400" dirty="0" err="1">
                <a:latin typeface="Calibir"/>
              </a:rPr>
              <a:t>DeskBankApp</a:t>
            </a:r>
            <a:endParaRPr lang="en-US" sz="2400" dirty="0">
              <a:latin typeface="Calibir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Opening the whole folder is important because </a:t>
            </a:r>
            <a:br>
              <a:rPr lang="en-US" sz="2400" dirty="0">
                <a:latin typeface="Calibir"/>
              </a:rPr>
            </a:br>
            <a:r>
              <a:rPr lang="en-US" sz="2400" dirty="0">
                <a:latin typeface="Calibir"/>
              </a:rPr>
              <a:t>all program files should belong to the same </a:t>
            </a:r>
            <a:br>
              <a:rPr lang="en-US" sz="2400" dirty="0">
                <a:latin typeface="Calibir"/>
              </a:rPr>
            </a:br>
            <a:r>
              <a:rPr lang="en-US" sz="2400" dirty="0">
                <a:latin typeface="Calibir"/>
              </a:rPr>
              <a:t>project.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859CEA-1583-D9BE-B3D4-E10C357A9F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537"/>
          <a:stretch>
            <a:fillRect/>
          </a:stretch>
        </p:blipFill>
        <p:spPr>
          <a:xfrm>
            <a:off x="5928852" y="2536722"/>
            <a:ext cx="6233840" cy="3137029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668AF56-6F28-ED5A-ED22-09B35693D9C8}"/>
              </a:ext>
            </a:extLst>
          </p:cNvPr>
          <p:cNvSpPr/>
          <p:nvPr/>
        </p:nvSpPr>
        <p:spPr>
          <a:xfrm>
            <a:off x="6769510" y="3790335"/>
            <a:ext cx="884903" cy="25072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37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1DE75103-738F-D0A8-DF98-A82D59139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1D8C1EF-E6C2-0492-7CEB-4E70B38E90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65" t="3871" r="8065" b="22022"/>
          <a:stretch>
            <a:fillRect/>
          </a:stretch>
        </p:blipFill>
        <p:spPr>
          <a:xfrm>
            <a:off x="0" y="399199"/>
            <a:ext cx="12192000" cy="605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602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583CC5E5-F8EE-3CE8-A6B1-0932B8BE8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5C7D231-334B-821F-CC12-3E59D110F2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666"/>
          <a:stretch>
            <a:fillRect/>
          </a:stretch>
        </p:blipFill>
        <p:spPr>
          <a:xfrm>
            <a:off x="0" y="228600"/>
            <a:ext cx="12192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42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133CDFA7-493D-F76A-AFA5-564C5DE6F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F2B68A-BBA2-5F67-DA7C-656FEC1CF0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032" b="9033"/>
          <a:stretch>
            <a:fillRect/>
          </a:stretch>
        </p:blipFill>
        <p:spPr>
          <a:xfrm>
            <a:off x="1465006" y="309716"/>
            <a:ext cx="9261987" cy="6238568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1FBED4D-E62D-0684-ADD8-C7C973C00DB8}"/>
              </a:ext>
            </a:extLst>
          </p:cNvPr>
          <p:cNvSpPr/>
          <p:nvPr/>
        </p:nvSpPr>
        <p:spPr>
          <a:xfrm>
            <a:off x="3524865" y="1932039"/>
            <a:ext cx="575187" cy="36870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511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F078B818-8177-0C8A-84F1-41C882CD8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E00869-93A0-FF8A-5666-841A7610F2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40" b="8172"/>
          <a:stretch>
            <a:fillRect/>
          </a:stretch>
        </p:blipFill>
        <p:spPr>
          <a:xfrm>
            <a:off x="-4916" y="280219"/>
            <a:ext cx="12196916" cy="629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211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21A71DE1-BB6D-8B47-E57D-C7476B8A4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D29F4D-490F-3E23-39F4-6F735AAE343D}"/>
              </a:ext>
            </a:extLst>
          </p:cNvPr>
          <p:cNvSpPr txBox="1"/>
          <p:nvPr/>
        </p:nvSpPr>
        <p:spPr>
          <a:xfrm>
            <a:off x="0" y="918472"/>
            <a:ext cx="12192000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Inside the folder, create the required program files. 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For the first implementation, start simply: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Calibir"/>
              </a:rPr>
              <a:t>DeskBankApp</a:t>
            </a:r>
            <a:r>
              <a:rPr lang="en-US" sz="2400" dirty="0">
                <a:latin typeface="Calibir"/>
              </a:rPr>
              <a:t>/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├ bank.py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└─ README.md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Use: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File → New File → Python File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and save the file as: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bank.py</a:t>
            </a:r>
          </a:p>
        </p:txBody>
      </p:sp>
    </p:spTree>
    <p:extLst>
      <p:ext uri="{BB962C8B-B14F-4D97-AF65-F5344CB8AC3E}">
        <p14:creationId xmlns:p14="http://schemas.microsoft.com/office/powerpoint/2010/main" val="18574930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D8CFDA9A-6C10-2977-1448-381C0A685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E5F04A-3CAE-16F1-01D0-0486AE473EE2}"/>
              </a:ext>
            </a:extLst>
          </p:cNvPr>
          <p:cNvSpPr txBox="1"/>
          <p:nvPr/>
        </p:nvSpPr>
        <p:spPr>
          <a:xfrm>
            <a:off x="0" y="160654"/>
            <a:ext cx="12192000" cy="612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As the </a:t>
            </a:r>
            <a:r>
              <a:rPr lang="en-US" sz="2400" dirty="0" err="1">
                <a:latin typeface="Calibir"/>
              </a:rPr>
              <a:t>DeskBankApp</a:t>
            </a:r>
            <a:r>
              <a:rPr lang="en-US" sz="2400" dirty="0">
                <a:latin typeface="Calibir"/>
              </a:rPr>
              <a:t> is developed further using the Lab 2 UML class design, the project can gradually grow to include files such as: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Calibir"/>
              </a:rPr>
              <a:t>DeskBankApp</a:t>
            </a:r>
            <a:r>
              <a:rPr lang="en-US" sz="2400" dirty="0">
                <a:latin typeface="Calibir"/>
              </a:rPr>
              <a:t>/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├ bank.py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├ customer.py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├ account.py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├ transaction.py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└── README.md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Do not create all these classes immediately just because they appear in the UML. For the first Lab 3 implementation, complete the required Bank program first and extend the project as later tasks require.</a:t>
            </a:r>
          </a:p>
        </p:txBody>
      </p:sp>
    </p:spTree>
    <p:extLst>
      <p:ext uri="{BB962C8B-B14F-4D97-AF65-F5344CB8AC3E}">
        <p14:creationId xmlns:p14="http://schemas.microsoft.com/office/powerpoint/2010/main" val="36935570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041A418F-45F0-503C-617B-BB7FCD457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DC3988-1064-449C-2CB9-4B107D5315CB}"/>
              </a:ext>
            </a:extLst>
          </p:cNvPr>
          <p:cNvSpPr txBox="1"/>
          <p:nvPr/>
        </p:nvSpPr>
        <p:spPr>
          <a:xfrm>
            <a:off x="0" y="160654"/>
            <a:ext cx="12192000" cy="668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en-US" sz="2400" b="1" dirty="0">
                <a:latin typeface="Calibir"/>
              </a:rPr>
              <a:t>One student creates a GitHub repository</a:t>
            </a:r>
            <a:r>
              <a:rPr lang="en-US" sz="2400" dirty="0">
                <a:latin typeface="Calibir"/>
              </a:rPr>
              <a:t> for the group, for example: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DeskBankApp-Group3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Add the other 2–3 group members as collaborators.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5"/>
            </a:pPr>
            <a:r>
              <a:rPr lang="en-US" sz="2400" b="1" dirty="0">
                <a:latin typeface="Calibir"/>
              </a:rPr>
              <a:t>Each group member clones </a:t>
            </a:r>
            <a:r>
              <a:rPr lang="en-US" sz="2400" dirty="0">
                <a:latin typeface="Calibir"/>
              </a:rPr>
              <a:t>the same GitHub repository onto their computer and opens the cloned project folder in VS Code. 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This means everyone is working with the same group project.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6"/>
            </a:pPr>
            <a:r>
              <a:rPr lang="en-US" sz="2400" b="1" dirty="0">
                <a:latin typeface="Calibir"/>
              </a:rPr>
              <a:t>Divide the work between group members as the </a:t>
            </a:r>
            <a:br>
              <a:rPr lang="en-US" sz="2400" b="1" dirty="0">
                <a:latin typeface="Calibir"/>
              </a:rPr>
            </a:br>
            <a:r>
              <a:rPr lang="en-US" sz="2400" b="1" dirty="0">
                <a:latin typeface="Calibir"/>
              </a:rPr>
              <a:t>project develops. For example: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Student 1 → Bank / main program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Student 2 → Customer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Student 3 → Account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Student 4 → Transaction + integration/testing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623F88-D20F-7D4A-FEB8-FA974EC62C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645" b="50000"/>
          <a:stretch>
            <a:fillRect/>
          </a:stretch>
        </p:blipFill>
        <p:spPr>
          <a:xfrm>
            <a:off x="6784258" y="3429000"/>
            <a:ext cx="5407742" cy="3429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65CCDB8-6151-871B-52D1-55DBF14A8456}"/>
              </a:ext>
            </a:extLst>
          </p:cNvPr>
          <p:cNvSpPr/>
          <p:nvPr/>
        </p:nvSpPr>
        <p:spPr>
          <a:xfrm>
            <a:off x="9350478" y="5206179"/>
            <a:ext cx="1312606" cy="25072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0639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BE61E4B7-F543-B428-8D80-BDDF765F8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31D2E1F-97CB-AB38-8DCD-BC45EBC687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238"/>
          <a:stretch>
            <a:fillRect/>
          </a:stretch>
        </p:blipFill>
        <p:spPr>
          <a:xfrm>
            <a:off x="0" y="213851"/>
            <a:ext cx="12192000" cy="6430297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093E618-B4E8-1BBB-95E4-B51E04B7C7C1}"/>
              </a:ext>
            </a:extLst>
          </p:cNvPr>
          <p:cNvSpPr/>
          <p:nvPr/>
        </p:nvSpPr>
        <p:spPr>
          <a:xfrm>
            <a:off x="4925962" y="3052915"/>
            <a:ext cx="1312606" cy="25072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8155243-705B-F48C-A6A7-D4AE262F7D8B}"/>
              </a:ext>
            </a:extLst>
          </p:cNvPr>
          <p:cNvSpPr/>
          <p:nvPr/>
        </p:nvSpPr>
        <p:spPr>
          <a:xfrm>
            <a:off x="3421626" y="4011560"/>
            <a:ext cx="2816941" cy="25072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EC71F51-2FEE-0D11-43C1-A171CAF5DD71}"/>
              </a:ext>
            </a:extLst>
          </p:cNvPr>
          <p:cNvSpPr/>
          <p:nvPr/>
        </p:nvSpPr>
        <p:spPr>
          <a:xfrm>
            <a:off x="7580672" y="4955457"/>
            <a:ext cx="929147" cy="2802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9259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6CB558D3-0901-D517-022E-01791A39D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3A9AEC-13B9-94DC-9FC3-B1540F4294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95" b="17634"/>
          <a:stretch>
            <a:fillRect/>
          </a:stretch>
        </p:blipFill>
        <p:spPr>
          <a:xfrm>
            <a:off x="0" y="604684"/>
            <a:ext cx="11960942" cy="564863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A00F69A-663E-DEAF-D45D-8DAF002997EF}"/>
              </a:ext>
            </a:extLst>
          </p:cNvPr>
          <p:cNvSpPr/>
          <p:nvPr/>
        </p:nvSpPr>
        <p:spPr>
          <a:xfrm>
            <a:off x="7580672" y="5855109"/>
            <a:ext cx="929147" cy="2802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387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7A01749E-570F-6954-90A0-4CAFD7136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F46C65B-4CCC-5910-4647-5999C7AD99EE}"/>
              </a:ext>
            </a:extLst>
          </p:cNvPr>
          <p:cNvSpPr txBox="1"/>
          <p:nvPr/>
        </p:nvSpPr>
        <p:spPr>
          <a:xfrm>
            <a:off x="0" y="87476"/>
            <a:ext cx="12196916" cy="612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Add group members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Inside the new repository, go to: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Settings </a:t>
            </a:r>
            <a:r>
              <a:rPr lang="en-US" sz="2400" dirty="0">
                <a:latin typeface="Calibir"/>
                <a:sym typeface="Wingdings" panose="05000000000000000000" pitchFamily="2" charset="2"/>
              </a:rPr>
              <a:t> </a:t>
            </a:r>
            <a:r>
              <a:rPr lang="en-US" sz="2400" dirty="0">
                <a:latin typeface="Calibir"/>
              </a:rPr>
              <a:t>Collaborators </a:t>
            </a:r>
            <a:r>
              <a:rPr lang="en-US" sz="2400" dirty="0">
                <a:latin typeface="Calibir"/>
                <a:sym typeface="Wingdings" panose="05000000000000000000" pitchFamily="2" charset="2"/>
              </a:rPr>
              <a:t> </a:t>
            </a:r>
            <a:r>
              <a:rPr lang="en-US" sz="2400" dirty="0">
                <a:latin typeface="Calibir"/>
              </a:rPr>
              <a:t>Add people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Suppose the group has four students: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Student 1: Alice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Student 2: Ben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Student 3: Sara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Student 4: John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Add their GitHub usernames. They will need to accept the invitations.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"There is only one GitHub repository for your group. You do not create four separate copies on GitHub."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FE7806-9E58-3380-B878-A7488456B7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839" b="44731"/>
          <a:stretch>
            <a:fillRect/>
          </a:stretch>
        </p:blipFill>
        <p:spPr>
          <a:xfrm>
            <a:off x="5058697" y="1"/>
            <a:ext cx="7133303" cy="260406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E9F6AA4-6642-2102-AB73-0262A9555DAC}"/>
              </a:ext>
            </a:extLst>
          </p:cNvPr>
          <p:cNvSpPr/>
          <p:nvPr/>
        </p:nvSpPr>
        <p:spPr>
          <a:xfrm>
            <a:off x="9707270" y="1046074"/>
            <a:ext cx="468173" cy="18288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531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3F51039A-455F-D44C-C5D3-36CE15EC6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CE3B4F-7B9C-B8E4-1AFD-DC6B6B00D2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253"/>
          <a:stretch>
            <a:fillRect/>
          </a:stretch>
        </p:blipFill>
        <p:spPr>
          <a:xfrm>
            <a:off x="5160578" y="0"/>
            <a:ext cx="7031421" cy="33518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9A1E27-015A-6C9C-1E01-D3AFCF253FBE}"/>
              </a:ext>
            </a:extLst>
          </p:cNvPr>
          <p:cNvSpPr txBox="1"/>
          <p:nvPr/>
        </p:nvSpPr>
        <p:spPr>
          <a:xfrm>
            <a:off x="0" y="87476"/>
            <a:ext cx="12196916" cy="612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Add group members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Inside the new repository, go to: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Settings </a:t>
            </a:r>
            <a:r>
              <a:rPr lang="en-US" sz="2400" dirty="0">
                <a:latin typeface="Calibir"/>
                <a:sym typeface="Wingdings" panose="05000000000000000000" pitchFamily="2" charset="2"/>
              </a:rPr>
              <a:t> </a:t>
            </a:r>
            <a:r>
              <a:rPr lang="en-US" sz="2400" dirty="0">
                <a:latin typeface="Calibir"/>
              </a:rPr>
              <a:t>Collaborators </a:t>
            </a:r>
            <a:r>
              <a:rPr lang="en-US" sz="2400" dirty="0">
                <a:latin typeface="Calibir"/>
                <a:sym typeface="Wingdings" panose="05000000000000000000" pitchFamily="2" charset="2"/>
              </a:rPr>
              <a:t> </a:t>
            </a:r>
            <a:r>
              <a:rPr lang="en-US" sz="2400" dirty="0">
                <a:latin typeface="Calibir"/>
              </a:rPr>
              <a:t>Add people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Suppose the group has four students: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Student 1: Alice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Student 2: Ben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Student 3: Sara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Student 4: John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Add their GitHub usernames. They will need to accept the invitations.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"There is only one GitHub repository for your group. You do not create four separate copies on GitHub."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2BCFF83-2C00-37A8-1F40-41CE07F7814B}"/>
              </a:ext>
            </a:extLst>
          </p:cNvPr>
          <p:cNvSpPr/>
          <p:nvPr/>
        </p:nvSpPr>
        <p:spPr>
          <a:xfrm>
            <a:off x="8992566" y="3043040"/>
            <a:ext cx="468173" cy="18288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9253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3BF21A4F-8367-50D3-490C-D375C347A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0701AD0-3A7F-D800-A04E-F1B0C04F3B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21" t="7355" r="16120" b="22606"/>
          <a:stretch>
            <a:fillRect/>
          </a:stretch>
        </p:blipFill>
        <p:spPr>
          <a:xfrm>
            <a:off x="5259312" y="0"/>
            <a:ext cx="6932687" cy="33002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6D4CD1-0F7C-E9F3-6133-C7940888350D}"/>
              </a:ext>
            </a:extLst>
          </p:cNvPr>
          <p:cNvSpPr txBox="1"/>
          <p:nvPr/>
        </p:nvSpPr>
        <p:spPr>
          <a:xfrm>
            <a:off x="0" y="87476"/>
            <a:ext cx="10195034" cy="612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Add group members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Inside the new repository, go to: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Settings </a:t>
            </a:r>
            <a:r>
              <a:rPr lang="en-US" sz="2400" dirty="0">
                <a:latin typeface="Calibir"/>
                <a:sym typeface="Wingdings" panose="05000000000000000000" pitchFamily="2" charset="2"/>
              </a:rPr>
              <a:t> </a:t>
            </a:r>
            <a:r>
              <a:rPr lang="en-US" sz="2400" dirty="0">
                <a:latin typeface="Calibir"/>
              </a:rPr>
              <a:t>Collaborators </a:t>
            </a:r>
            <a:r>
              <a:rPr lang="en-US" sz="2400" dirty="0">
                <a:latin typeface="Calibir"/>
                <a:sym typeface="Wingdings" panose="05000000000000000000" pitchFamily="2" charset="2"/>
              </a:rPr>
              <a:t> </a:t>
            </a:r>
            <a:r>
              <a:rPr lang="en-US" sz="2400" dirty="0">
                <a:latin typeface="Calibir"/>
              </a:rPr>
              <a:t>Add people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Suppose the group has four students: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Student 1: Alice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Student 2: Ben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Student 3: Sara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Student 4: John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Add their GitHub usernames. They will need to accept the invitations.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"There is only one GitHub repository for your group. You do not create four separate copies on GitHub."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7F5B8E5-D7A7-634E-98E3-675790CAA6BF}"/>
              </a:ext>
            </a:extLst>
          </p:cNvPr>
          <p:cNvSpPr/>
          <p:nvPr/>
        </p:nvSpPr>
        <p:spPr>
          <a:xfrm>
            <a:off x="7858877" y="1558684"/>
            <a:ext cx="1369206" cy="18288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F62C09A-69A4-DBFB-71E1-EC8291A24F9A}"/>
              </a:ext>
            </a:extLst>
          </p:cNvPr>
          <p:cNvSpPr/>
          <p:nvPr/>
        </p:nvSpPr>
        <p:spPr>
          <a:xfrm>
            <a:off x="10195034" y="3060560"/>
            <a:ext cx="672663" cy="23968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2616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201B58F1-517F-FCF6-0A9D-00B299F9B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75B72B-3718-0607-80E4-CFCD2F3C5805}"/>
              </a:ext>
            </a:extLst>
          </p:cNvPr>
          <p:cNvSpPr txBox="1"/>
          <p:nvPr/>
        </p:nvSpPr>
        <p:spPr>
          <a:xfrm>
            <a:off x="0" y="0"/>
            <a:ext cx="12192000" cy="6133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Clone the repository into VS Code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In VS Code press: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Ctrl + Shift + P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Type: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Git: Clone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Select: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Git: Clone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Paste the repository URL from GitHub, choose where to save it, and then select: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Open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The Explorer should now show: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DESKBANKAPP-GROUP3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Now the local VS Code project is connected to the group's GitHub repository.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FDF8CE-E4D4-2057-31B8-E3E36F0935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2912"/>
          <a:stretch>
            <a:fillRect/>
          </a:stretch>
        </p:blipFill>
        <p:spPr>
          <a:xfrm>
            <a:off x="4080794" y="0"/>
            <a:ext cx="8111206" cy="169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7025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4ADF9689-73B9-0F13-652B-8997AC0C7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1587B62-C3D2-749A-0068-FA51E1D7096A}"/>
              </a:ext>
            </a:extLst>
          </p:cNvPr>
          <p:cNvSpPr txBox="1"/>
          <p:nvPr/>
        </p:nvSpPr>
        <p:spPr>
          <a:xfrm>
            <a:off x="0" y="0"/>
            <a:ext cx="12192000" cy="6133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Clone the repository into VS Code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In VS Code press: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Ctrl + Shift + P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Type: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Git: Clone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Select: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Git: Clone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Paste the repository URL from GitHub, choose where to save it, and then select: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Open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The Explorer should now show: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DESKBANKAPP-GROUP3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Now the local VS Code project is connected to the group's GitHub repository.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2D66CF-5665-47EE-D06F-C31F2BABE6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500" b="64904"/>
          <a:stretch>
            <a:fillRect/>
          </a:stretch>
        </p:blipFill>
        <p:spPr>
          <a:xfrm>
            <a:off x="4154065" y="0"/>
            <a:ext cx="8037935" cy="1923393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5ECA31C-D95D-F03F-D0DC-97CBABD9B331}"/>
              </a:ext>
            </a:extLst>
          </p:cNvPr>
          <p:cNvSpPr/>
          <p:nvPr/>
        </p:nvSpPr>
        <p:spPr>
          <a:xfrm>
            <a:off x="6074979" y="777766"/>
            <a:ext cx="3289738" cy="25224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00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BD6BC593-9130-FE42-0E7F-FC9FEC775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E1AB0D-EE40-E7B5-6688-0737A690B8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810" t="4139" r="21810" b="35000"/>
          <a:stretch>
            <a:fillRect/>
          </a:stretch>
        </p:blipFill>
        <p:spPr>
          <a:xfrm>
            <a:off x="6495392" y="0"/>
            <a:ext cx="5696607" cy="34591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93C4EB-C3C8-8372-0DBB-A72CEA46AD69}"/>
              </a:ext>
            </a:extLst>
          </p:cNvPr>
          <p:cNvSpPr txBox="1"/>
          <p:nvPr/>
        </p:nvSpPr>
        <p:spPr>
          <a:xfrm>
            <a:off x="0" y="0"/>
            <a:ext cx="12192000" cy="6133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Clone the repository into VS Code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In VS Code press: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Ctrl + Shift + P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Type: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Git: Clone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Select: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Git: Clone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Paste the repository URL from GitHub, choose where to save it, and then select: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Open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The Explorer should now show: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DESKBANKAPP-GROUP3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Now the local VS Code project is connected to the group's GitHub repository.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E272178-7054-DF02-42DA-B5CBFD9E737B}"/>
              </a:ext>
            </a:extLst>
          </p:cNvPr>
          <p:cNvSpPr/>
          <p:nvPr/>
        </p:nvSpPr>
        <p:spPr>
          <a:xfrm>
            <a:off x="9343695" y="2438399"/>
            <a:ext cx="620112" cy="26275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234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34C04C80-0B49-D9A5-90F4-F7BB444D1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7BD641-A7FF-4ED2-3FF6-30F3C31691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276" r="28965" b="15556"/>
          <a:stretch>
            <a:fillRect/>
          </a:stretch>
        </p:blipFill>
        <p:spPr>
          <a:xfrm>
            <a:off x="6903712" y="0"/>
            <a:ext cx="5288287" cy="47611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32929B-F4FB-E3CE-320D-27A1853BC24E}"/>
              </a:ext>
            </a:extLst>
          </p:cNvPr>
          <p:cNvSpPr txBox="1"/>
          <p:nvPr/>
        </p:nvSpPr>
        <p:spPr>
          <a:xfrm>
            <a:off x="0" y="0"/>
            <a:ext cx="10993821" cy="6641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Clone the repository into VS Code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In VS Code press: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Ctrl + Shift + P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Type: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Git: Clone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Select: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Git: Clone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Paste the repository URL from GitHub, choose where to </a:t>
            </a:r>
            <a:br>
              <a:rPr lang="en-US" sz="2200" dirty="0">
                <a:latin typeface="Calibir"/>
              </a:rPr>
            </a:br>
            <a:r>
              <a:rPr lang="en-US" sz="2200" dirty="0">
                <a:latin typeface="Calibir"/>
              </a:rPr>
              <a:t>save it, and then select: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Open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The Explorer should now show: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DESKBANKAPP-GROUP3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Now the local VS Code project is connected to the group's GitHub repository.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7FD3B6F-8340-A3F3-CBE9-47F8CB372B93}"/>
              </a:ext>
            </a:extLst>
          </p:cNvPr>
          <p:cNvSpPr/>
          <p:nvPr/>
        </p:nvSpPr>
        <p:spPr>
          <a:xfrm>
            <a:off x="10205544" y="2259723"/>
            <a:ext cx="620112" cy="26275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DA94BA-66C8-12D7-7D9B-08A654E4BDA8}"/>
              </a:ext>
            </a:extLst>
          </p:cNvPr>
          <p:cNvSpPr/>
          <p:nvPr/>
        </p:nvSpPr>
        <p:spPr>
          <a:xfrm>
            <a:off x="7388772" y="42041"/>
            <a:ext cx="2532994" cy="4309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6456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6335EEFE-B694-84D0-604B-8EBCA36D9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594F21-82BB-F05C-A04A-2023C8D90515}"/>
              </a:ext>
            </a:extLst>
          </p:cNvPr>
          <p:cNvSpPr txBox="1"/>
          <p:nvPr/>
        </p:nvSpPr>
        <p:spPr>
          <a:xfrm>
            <a:off x="1" y="-1"/>
            <a:ext cx="4070554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Create the first Python program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Inside the cloned project folder, create: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bank.py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gives you a very small OOP example before writing multiple classes.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F46F94-0471-942C-63AB-3FA31E6905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032" b="8387"/>
          <a:stretch>
            <a:fillRect/>
          </a:stretch>
        </p:blipFill>
        <p:spPr>
          <a:xfrm>
            <a:off x="4115527" y="0"/>
            <a:ext cx="8011835" cy="543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2030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F0B6E610-EF33-50A0-2B62-D049C4B10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09A77A1-2D00-EE3B-6B0C-2D40DF31FA55}"/>
              </a:ext>
            </a:extLst>
          </p:cNvPr>
          <p:cNvSpPr txBox="1"/>
          <p:nvPr/>
        </p:nvSpPr>
        <p:spPr>
          <a:xfrm>
            <a:off x="1" y="-1"/>
            <a:ext cx="4070554" cy="6641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CTRL + SHIFT + G</a:t>
            </a:r>
            <a:br>
              <a:rPr lang="en-US" sz="2200" dirty="0">
                <a:latin typeface="Calibir"/>
              </a:rPr>
            </a:br>
            <a:r>
              <a:rPr lang="en-US" sz="2200" dirty="0">
                <a:latin typeface="Calibir"/>
              </a:rPr>
              <a:t>Then select Commit and Push/Sync Changes.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Return to GitHub and refresh DeskBankApp-Group3.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Students will see: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DeskBankApp-Group3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    └── bank.py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This is a useful point in the demonstration because you can physically see that the code written in VS Code has appeared on GitHub.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F5E30D-261D-0F0A-7A03-C60DD4184F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653" b="8387"/>
          <a:stretch>
            <a:fillRect/>
          </a:stretch>
        </p:blipFill>
        <p:spPr>
          <a:xfrm>
            <a:off x="4070555" y="0"/>
            <a:ext cx="8217311" cy="6195707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B32CF9-BDFD-2B2C-108B-FD90DEC25365}"/>
              </a:ext>
            </a:extLst>
          </p:cNvPr>
          <p:cNvSpPr/>
          <p:nvPr/>
        </p:nvSpPr>
        <p:spPr>
          <a:xfrm>
            <a:off x="4911213" y="5560142"/>
            <a:ext cx="2595716" cy="47194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C0B91D2-03E1-3AC0-A731-D4B703923869}"/>
              </a:ext>
            </a:extLst>
          </p:cNvPr>
          <p:cNvSpPr/>
          <p:nvPr/>
        </p:nvSpPr>
        <p:spPr>
          <a:xfrm>
            <a:off x="4070555" y="1767328"/>
            <a:ext cx="647442" cy="79145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8513B3-B0C2-30AA-52DE-2C112FC34C69}"/>
              </a:ext>
            </a:extLst>
          </p:cNvPr>
          <p:cNvCxnSpPr/>
          <p:nvPr/>
        </p:nvCxnSpPr>
        <p:spPr>
          <a:xfrm flipV="1">
            <a:off x="4579684" y="891348"/>
            <a:ext cx="430306" cy="8759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2A95923-2E23-636F-624C-2718C082F5A6}"/>
              </a:ext>
            </a:extLst>
          </p:cNvPr>
          <p:cNvSpPr/>
          <p:nvPr/>
        </p:nvSpPr>
        <p:spPr>
          <a:xfrm>
            <a:off x="4911213" y="453358"/>
            <a:ext cx="1620216" cy="4456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15950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32950BD8-86F9-68A7-C5E4-67FADB362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E650A2-5E27-5090-6D48-49ADBC2C68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806"/>
          <a:stretch>
            <a:fillRect/>
          </a:stretch>
        </p:blipFill>
        <p:spPr>
          <a:xfrm>
            <a:off x="0" y="199103"/>
            <a:ext cx="12192000" cy="645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0147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B60E9C5E-1F40-BA21-4FF8-214187F26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2A1425-1A75-1741-7F9D-808C9AE382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666"/>
          <a:stretch>
            <a:fillRect/>
          </a:stretch>
        </p:blipFill>
        <p:spPr>
          <a:xfrm>
            <a:off x="0" y="125116"/>
            <a:ext cx="12192000" cy="64008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5799BD1-62D0-92BD-125B-98BA57F34507}"/>
              </a:ext>
            </a:extLst>
          </p:cNvPr>
          <p:cNvSpPr/>
          <p:nvPr/>
        </p:nvSpPr>
        <p:spPr>
          <a:xfrm>
            <a:off x="5751870" y="5692877"/>
            <a:ext cx="6440129" cy="67842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4780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79785438-C8D1-EB90-ED66-C714A0348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8B4A8E4-56A8-CD45-3CC7-5269CF6F75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26" t="4300" r="8186" b="16559"/>
          <a:stretch>
            <a:fillRect/>
          </a:stretch>
        </p:blipFill>
        <p:spPr>
          <a:xfrm>
            <a:off x="186813" y="281995"/>
            <a:ext cx="11818374" cy="629401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C3C5846-3961-DC03-E26F-69F82F64AE20}"/>
              </a:ext>
            </a:extLst>
          </p:cNvPr>
          <p:cNvSpPr/>
          <p:nvPr/>
        </p:nvSpPr>
        <p:spPr>
          <a:xfrm>
            <a:off x="3864077" y="3288890"/>
            <a:ext cx="4424517" cy="48669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3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3D2EF22F-C7D8-A8F7-6206-EE414F0A3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81D5B2-D8F2-D971-AE67-DD750B3436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677" r="29718" b="5591"/>
          <a:stretch>
            <a:fillRect/>
          </a:stretch>
        </p:blipFill>
        <p:spPr>
          <a:xfrm>
            <a:off x="1425676" y="261861"/>
            <a:ext cx="9340648" cy="6334278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CFCE346-93EA-3BE7-0DEF-4F88914C0247}"/>
              </a:ext>
            </a:extLst>
          </p:cNvPr>
          <p:cNvSpPr/>
          <p:nvPr/>
        </p:nvSpPr>
        <p:spPr>
          <a:xfrm>
            <a:off x="8214851" y="5191432"/>
            <a:ext cx="1489587" cy="30971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3506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2A6573E1-8012-982B-BA2A-A74478788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FD1924-D2A2-D32B-1C92-109F302275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463" r="20766" b="40215"/>
          <a:stretch>
            <a:fillRect/>
          </a:stretch>
        </p:blipFill>
        <p:spPr>
          <a:xfrm>
            <a:off x="0" y="1251191"/>
            <a:ext cx="12192000" cy="4355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0343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353A8450-C6D3-9A67-9A1C-13C2F1E5C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3B219C-0C25-83A8-B06F-13BA6D7AA9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387"/>
          <a:stretch>
            <a:fillRect/>
          </a:stretch>
        </p:blipFill>
        <p:spPr>
          <a:xfrm>
            <a:off x="0" y="287593"/>
            <a:ext cx="12192000" cy="6282813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15C8565-5282-4E01-8EF4-A6652E27E50A}"/>
              </a:ext>
            </a:extLst>
          </p:cNvPr>
          <p:cNvSpPr/>
          <p:nvPr/>
        </p:nvSpPr>
        <p:spPr>
          <a:xfrm>
            <a:off x="9468465" y="5604387"/>
            <a:ext cx="693174" cy="85540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4627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F17854D2-FE9D-2130-BCA3-1F67E6082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8752B8-AC57-3593-F732-20EA7472C9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032" b="6237"/>
          <a:stretch>
            <a:fillRect/>
          </a:stretch>
        </p:blipFill>
        <p:spPr>
          <a:xfrm>
            <a:off x="0" y="523567"/>
            <a:ext cx="12192000" cy="5810865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0A6D28B-6CF3-42F9-4E11-016342F09575}"/>
              </a:ext>
            </a:extLst>
          </p:cNvPr>
          <p:cNvSpPr/>
          <p:nvPr/>
        </p:nvSpPr>
        <p:spPr>
          <a:xfrm>
            <a:off x="1755058" y="3215148"/>
            <a:ext cx="1002890" cy="28021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862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611BC98C-FF49-B27E-0F96-023EF9D91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D2BB07-3D9D-2120-669E-8F14D00857B7}"/>
              </a:ext>
            </a:extLst>
          </p:cNvPr>
          <p:cNvSpPr txBox="1"/>
          <p:nvPr/>
        </p:nvSpPr>
        <p:spPr>
          <a:xfrm>
            <a:off x="0" y="-58991"/>
            <a:ext cx="12196916" cy="7061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Demonstrate what another student does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"Now imagine I am Student 2."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Student 2 does not create another repository.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They clone: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DeskBankApp-Group3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Then they can add another class, for example: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customer.py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Their commit could be: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Added Customer class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and they push it.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Now GitHub contains: 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DeskBankApp-Group3/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 │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├ bank.py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 └─ customer.py</a:t>
            </a:r>
          </a:p>
        </p:txBody>
      </p:sp>
    </p:spTree>
    <p:extLst>
      <p:ext uri="{BB962C8B-B14F-4D97-AF65-F5344CB8AC3E}">
        <p14:creationId xmlns:p14="http://schemas.microsoft.com/office/powerpoint/2010/main" val="5065430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B48330ED-F74D-BD49-26AE-E4DDC056F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27ED92-DC4A-2A6F-281C-9E465BD0DE36}"/>
              </a:ext>
            </a:extLst>
          </p:cNvPr>
          <p:cNvSpPr txBox="1"/>
          <p:nvPr/>
        </p:nvSpPr>
        <p:spPr>
          <a:xfrm>
            <a:off x="0" y="-117983"/>
            <a:ext cx="12196916" cy="7061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Show how the project grows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Later, the four-person project might look like: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DeskBankApp-Group3/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 │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├ main.py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├ bank.py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├ customer.py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├ account.py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├ transaction.py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 └─ README.md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The responsibilities could be: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Student 1 → bank.py + main.py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Student 2 → customer.py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Student 3 → account.py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Student 4 → transaction.py + testing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7A0FAA-ED0F-05C4-CC94-23D963B36426}"/>
              </a:ext>
            </a:extLst>
          </p:cNvPr>
          <p:cNvSpPr txBox="1"/>
          <p:nvPr/>
        </p:nvSpPr>
        <p:spPr>
          <a:xfrm>
            <a:off x="6096000" y="2307934"/>
            <a:ext cx="6142702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is where the advantage of OOP becomes very clear: different students can develop different classes while contributing to the same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3217487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1086440D-4669-CC48-F86E-E51B187B9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A6C91D-1EA7-2E70-CE4C-D9594605D38A}"/>
              </a:ext>
            </a:extLst>
          </p:cNvPr>
          <p:cNvSpPr txBox="1"/>
          <p:nvPr/>
        </p:nvSpPr>
        <p:spPr>
          <a:xfrm>
            <a:off x="0" y="160654"/>
            <a:ext cx="12192000" cy="612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For the first implementation, because the task is small, students should work together to understand and test the Bank program rather than artificially creating unnecessary classes.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7"/>
            </a:pPr>
            <a:r>
              <a:rPr lang="en-US" sz="2400" dirty="0">
                <a:latin typeface="Calibir"/>
              </a:rPr>
              <a:t>Before making changes, each student should get the latest version from GitHub. A simple routine is: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Pull </a:t>
            </a:r>
            <a:r>
              <a:rPr lang="en-US" sz="2400" dirty="0">
                <a:latin typeface="Calibir"/>
                <a:sym typeface="Wingdings" panose="05000000000000000000" pitchFamily="2" charset="2"/>
              </a:rPr>
              <a:t> </a:t>
            </a:r>
            <a:r>
              <a:rPr lang="en-US" sz="2400" dirty="0">
                <a:latin typeface="Calibir"/>
              </a:rPr>
              <a:t>Edit / Write Code </a:t>
            </a:r>
            <a:r>
              <a:rPr lang="en-US" sz="2400" dirty="0">
                <a:latin typeface="Calibir"/>
                <a:sym typeface="Wingdings" panose="05000000000000000000" pitchFamily="2" charset="2"/>
              </a:rPr>
              <a:t> </a:t>
            </a:r>
            <a:r>
              <a:rPr lang="en-US" sz="2400" dirty="0">
                <a:latin typeface="Calibir"/>
              </a:rPr>
              <a:t>Run and Test </a:t>
            </a:r>
            <a:r>
              <a:rPr lang="en-US" sz="2400" dirty="0">
                <a:latin typeface="Calibir"/>
                <a:sym typeface="Wingdings" panose="05000000000000000000" pitchFamily="2" charset="2"/>
              </a:rPr>
              <a:t> </a:t>
            </a:r>
            <a:r>
              <a:rPr lang="en-US" sz="2400" dirty="0">
                <a:latin typeface="Calibir"/>
              </a:rPr>
              <a:t>Commit </a:t>
            </a:r>
            <a:r>
              <a:rPr lang="en-US" sz="2400" dirty="0">
                <a:latin typeface="Calibir"/>
                <a:sym typeface="Wingdings" panose="05000000000000000000" pitchFamily="2" charset="2"/>
              </a:rPr>
              <a:t> </a:t>
            </a:r>
            <a:r>
              <a:rPr lang="en-US" sz="2400" dirty="0">
                <a:latin typeface="Calibir"/>
              </a:rPr>
              <a:t>Push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8"/>
            </a:pPr>
            <a:r>
              <a:rPr lang="en-US" sz="2400" dirty="0">
                <a:latin typeface="Calibir"/>
              </a:rPr>
              <a:t>Use clear commit messages so the group member can understand what was changed: </a:t>
            </a:r>
          </a:p>
          <a:p>
            <a:pPr marL="72231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Created Bank program</a:t>
            </a:r>
          </a:p>
          <a:p>
            <a:pPr marL="72231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Added deposit input</a:t>
            </a:r>
          </a:p>
          <a:p>
            <a:pPr marL="72231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Added withdrawal input</a:t>
            </a:r>
          </a:p>
          <a:p>
            <a:pPr marL="72231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Formatted amounts to two decimal places</a:t>
            </a:r>
          </a:p>
          <a:p>
            <a:pPr marL="72231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Tested deposit and withdrawal</a:t>
            </a:r>
          </a:p>
        </p:txBody>
      </p:sp>
    </p:spTree>
    <p:extLst>
      <p:ext uri="{BB962C8B-B14F-4D97-AF65-F5344CB8AC3E}">
        <p14:creationId xmlns:p14="http://schemas.microsoft.com/office/powerpoint/2010/main" val="11989387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0771ED6E-1057-993F-FB7C-FEA1D6506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480D55-146B-1B30-BCFA-E74EDE68632A}"/>
              </a:ext>
            </a:extLst>
          </p:cNvPr>
          <p:cNvSpPr txBox="1"/>
          <p:nvPr/>
        </p:nvSpPr>
        <p:spPr>
          <a:xfrm>
            <a:off x="0" y="160654"/>
            <a:ext cx="12192000" cy="668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 startAt="9"/>
            </a:pPr>
            <a:r>
              <a:rPr lang="en-US" sz="2400" dirty="0">
                <a:latin typeface="Calibir"/>
              </a:rPr>
              <a:t>Avoid editing the same file at the same time where possible. As the project becomes larger, divide the classes/files among group members and then integrate and test the complete application together. 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Key idea for students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VS Code is where you write, run, and test the code.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GitHub is where your group shares and </a:t>
            </a:r>
            <a:r>
              <a:rPr lang="en-US" sz="2400" dirty="0" err="1">
                <a:latin typeface="Calibir"/>
              </a:rPr>
              <a:t>synchronises</a:t>
            </a:r>
            <a:r>
              <a:rPr lang="en-US" sz="2400" dirty="0">
                <a:latin typeface="Calibir"/>
              </a:rPr>
              <a:t> the project and records contributions.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So: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VS Code) </a:t>
            </a:r>
            <a:r>
              <a:rPr lang="en-US" sz="2400" dirty="0">
                <a:latin typeface="Calibir"/>
              </a:rPr>
              <a:t>Write + Run + Test </a:t>
            </a:r>
            <a:r>
              <a:rPr lang="en-US" sz="2400" dirty="0">
                <a:latin typeface="Calibir"/>
                <a:sym typeface="Wingdings" panose="05000000000000000000" pitchFamily="2" charset="2"/>
              </a:rPr>
              <a:t> </a:t>
            </a:r>
            <a:r>
              <a:rPr lang="en-US" sz="2400" dirty="0">
                <a:latin typeface="Calibir"/>
              </a:rPr>
              <a:t>Git Commit changes </a:t>
            </a:r>
            <a:r>
              <a:rPr lang="en-US" sz="2400" dirty="0">
                <a:latin typeface="Calibir"/>
                <a:sym typeface="Wingdings" panose="05000000000000000000" pitchFamily="2" charset="2"/>
              </a:rPr>
              <a:t> </a:t>
            </a:r>
            <a:r>
              <a:rPr lang="en-US" sz="2400" dirty="0">
                <a:latin typeface="Calibir"/>
              </a:rPr>
              <a:t> GitHub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Share with the group </a:t>
            </a:r>
            <a:r>
              <a:rPr lang="en-US" sz="2400" dirty="0">
                <a:latin typeface="Calibir"/>
                <a:sym typeface="Wingdings" panose="05000000000000000000" pitchFamily="2" charset="2"/>
              </a:rPr>
              <a:t> </a:t>
            </a:r>
            <a:r>
              <a:rPr lang="en-US" sz="2400" dirty="0">
                <a:latin typeface="Calibir"/>
              </a:rPr>
              <a:t>Other students Pull </a:t>
            </a:r>
            <a:r>
              <a:rPr lang="en-US" sz="2400" dirty="0">
                <a:latin typeface="Calibir"/>
                <a:sym typeface="Wingdings" panose="05000000000000000000" pitchFamily="2" charset="2"/>
              </a:rPr>
              <a:t> </a:t>
            </a:r>
            <a:r>
              <a:rPr lang="en-US" sz="2400" dirty="0">
                <a:latin typeface="Calibir"/>
              </a:rPr>
              <a:t>Continue development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For Lab 3, I recommend one GitHub repository per group of 3–4 students. This is much better than emailing or sending .</a:t>
            </a:r>
            <a:r>
              <a:rPr lang="en-US" sz="2400" dirty="0" err="1">
                <a:latin typeface="Calibir"/>
              </a:rPr>
              <a:t>py</a:t>
            </a:r>
            <a:r>
              <a:rPr lang="en-US" sz="2400" dirty="0">
                <a:latin typeface="Calibir"/>
              </a:rPr>
              <a:t> files to each other, and the Git history also provides useful evidence of each student's contribution.</a:t>
            </a:r>
          </a:p>
        </p:txBody>
      </p:sp>
    </p:spTree>
    <p:extLst>
      <p:ext uri="{BB962C8B-B14F-4D97-AF65-F5344CB8AC3E}">
        <p14:creationId xmlns:p14="http://schemas.microsoft.com/office/powerpoint/2010/main" val="6198447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F629DB7B-E9C3-B602-6E25-4E0E49098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E2F8E3-A014-F02C-988C-DD9231152BEE}"/>
              </a:ext>
            </a:extLst>
          </p:cNvPr>
          <p:cNvSpPr txBox="1"/>
          <p:nvPr/>
        </p:nvSpPr>
        <p:spPr>
          <a:xfrm>
            <a:off x="0" y="0"/>
            <a:ext cx="1198756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1 — Create the Bank class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Start with the smallest possible program structure.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Python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class Bank: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pass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7DD83A-5083-412F-BFDF-A399906D1C35}"/>
              </a:ext>
            </a:extLst>
          </p:cNvPr>
          <p:cNvSpPr txBox="1"/>
          <p:nvPr/>
        </p:nvSpPr>
        <p:spPr>
          <a:xfrm>
            <a:off x="5822736" y="1628587"/>
            <a:ext cx="6164824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class Bank: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creates a class called Bank.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pass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means: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class is currently empty, but Python accepts it.</a:t>
            </a:r>
          </a:p>
        </p:txBody>
      </p:sp>
    </p:spTree>
    <p:extLst>
      <p:ext uri="{BB962C8B-B14F-4D97-AF65-F5344CB8AC3E}">
        <p14:creationId xmlns:p14="http://schemas.microsoft.com/office/powerpoint/2010/main" val="3578221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2010D3F3-6414-5E10-BBDD-E1581D2D9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65EE0C5-7FB0-C055-836D-ABD58542402D}"/>
              </a:ext>
            </a:extLst>
          </p:cNvPr>
          <p:cNvSpPr txBox="1"/>
          <p:nvPr/>
        </p:nvSpPr>
        <p:spPr>
          <a:xfrm>
            <a:off x="0" y="0"/>
            <a:ext cx="1198756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Java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public class Bank {</a:t>
            </a:r>
          </a:p>
          <a:p>
            <a:pPr>
              <a:lnSpc>
                <a:spcPct val="150000"/>
              </a:lnSpc>
            </a:pPr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public class Bank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creates a Java class called Bank.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For Java, save the file as: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Bank.java</a:t>
            </a:r>
          </a:p>
        </p:txBody>
      </p:sp>
    </p:spTree>
    <p:extLst>
      <p:ext uri="{BB962C8B-B14F-4D97-AF65-F5344CB8AC3E}">
        <p14:creationId xmlns:p14="http://schemas.microsoft.com/office/powerpoint/2010/main" val="2259237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525DA739-40EA-10BD-7E36-6C8F06BA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6B54B17-B8B4-8D76-D626-049E9B91D0E9}"/>
              </a:ext>
            </a:extLst>
          </p:cNvPr>
          <p:cNvSpPr txBox="1"/>
          <p:nvPr/>
        </p:nvSpPr>
        <p:spPr>
          <a:xfrm>
            <a:off x="0" y="0"/>
            <a:ext cx="11987560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2 — Add the program starting point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Now we need somewhere for the program to start.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Python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class Bank:</a:t>
            </a:r>
          </a:p>
          <a:p>
            <a:pPr>
              <a:lnSpc>
                <a:spcPct val="150000"/>
              </a:lnSpc>
            </a:pPr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@staticmethod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def main():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    print("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DeskBankApp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started")</a:t>
            </a:r>
          </a:p>
          <a:p>
            <a:pPr>
              <a:lnSpc>
                <a:spcPct val="150000"/>
              </a:lnSpc>
            </a:pPr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 err="1">
                <a:highlight>
                  <a:srgbClr val="FFFF00"/>
                </a:highlight>
                <a:latin typeface="Calibir"/>
              </a:rPr>
              <a:t>Bank.main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40F199-AF70-F9BB-2E31-0299CB2A05B4}"/>
              </a:ext>
            </a:extLst>
          </p:cNvPr>
          <p:cNvSpPr txBox="1"/>
          <p:nvPr/>
        </p:nvSpPr>
        <p:spPr>
          <a:xfrm>
            <a:off x="5515898" y="1661834"/>
            <a:ext cx="6676102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def main():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defines the main() method.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Calibir"/>
              </a:rPr>
              <a:t>Bank.main</a:t>
            </a:r>
            <a:r>
              <a:rPr lang="en-US" sz="2800" dirty="0">
                <a:latin typeface="Calibir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calls the method and starts our program.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Python does not require a main() method, but we are using one here so that the program structure is similar to Java.</a:t>
            </a:r>
          </a:p>
        </p:txBody>
      </p:sp>
    </p:spTree>
    <p:extLst>
      <p:ext uri="{BB962C8B-B14F-4D97-AF65-F5344CB8AC3E}">
        <p14:creationId xmlns:p14="http://schemas.microsoft.com/office/powerpoint/2010/main" val="3624963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E8B9B9B2-673A-C7D6-EFBB-35210EB59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4E0F220-8881-A953-B84A-68A18F9119FE}"/>
              </a:ext>
            </a:extLst>
          </p:cNvPr>
          <p:cNvSpPr txBox="1"/>
          <p:nvPr/>
        </p:nvSpPr>
        <p:spPr>
          <a:xfrm>
            <a:off x="0" y="0"/>
            <a:ext cx="1198756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Java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public class Bank {</a:t>
            </a:r>
          </a:p>
          <a:p>
            <a:pPr>
              <a:lnSpc>
                <a:spcPct val="150000"/>
              </a:lnSpc>
            </a:pPr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public static void main(String[]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args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) {</a:t>
            </a:r>
          </a:p>
          <a:p>
            <a:pPr>
              <a:lnSpc>
                <a:spcPct val="150000"/>
              </a:lnSpc>
            </a:pPr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System.out.println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("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DeskBankApp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started");</a:t>
            </a:r>
          </a:p>
          <a:p>
            <a:pPr>
              <a:lnSpc>
                <a:spcPct val="150000"/>
              </a:lnSpc>
            </a:pPr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ECDCDF-D47C-BFEF-8AD0-D96D011D2FD2}"/>
              </a:ext>
            </a:extLst>
          </p:cNvPr>
          <p:cNvSpPr txBox="1"/>
          <p:nvPr/>
        </p:nvSpPr>
        <p:spPr>
          <a:xfrm>
            <a:off x="4247535" y="4247157"/>
            <a:ext cx="7944465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public static void main(String[]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args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is the standard starting point of a Java application.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When Java runs Bank, execution begins inside main().</a:t>
            </a:r>
          </a:p>
        </p:txBody>
      </p:sp>
    </p:spTree>
    <p:extLst>
      <p:ext uri="{BB962C8B-B14F-4D97-AF65-F5344CB8AC3E}">
        <p14:creationId xmlns:p14="http://schemas.microsoft.com/office/powerpoint/2010/main" val="4450114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26AAA10F-DF65-0549-E42F-441CCCDC9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3756ED4-63B8-2C9A-2184-5DF2DEE108CB}"/>
              </a:ext>
            </a:extLst>
          </p:cNvPr>
          <p:cNvSpPr txBox="1"/>
          <p:nvPr/>
        </p:nvSpPr>
        <p:spPr>
          <a:xfrm>
            <a:off x="0" y="-191724"/>
            <a:ext cx="11987560" cy="7135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3 — Ask the user for a deposit amount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Now we need keyboard input.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Python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Python has a built-in input() function.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class Bank: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@staticmethod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def main():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deposit_amount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= float(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        input("Amount to deposit $ ")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    )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highlight>
                  <a:srgbClr val="FFFF00"/>
                </a:highlight>
                <a:latin typeface="Calibir"/>
              </a:rPr>
              <a:t>Bank.main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()</a:t>
            </a:r>
            <a:endParaRPr lang="en-US" sz="2800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D5846A-5945-9FD5-B59F-1EE4DF2B736A}"/>
              </a:ext>
            </a:extLst>
          </p:cNvPr>
          <p:cNvSpPr txBox="1"/>
          <p:nvPr/>
        </p:nvSpPr>
        <p:spPr>
          <a:xfrm>
            <a:off x="7536426" y="63827"/>
            <a:ext cx="4655574" cy="668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Explanation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input("Amount to deposit $ ")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displays the message and waits for the user to type something.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If the user enters: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200.2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input() initially reads it as text.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Therefore we use: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float(...)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to convert it into a decimal number.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The result is stored in: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highlight>
                  <a:srgbClr val="FFFF00"/>
                </a:highlight>
                <a:latin typeface="Calibir"/>
              </a:rPr>
              <a:t>deposit_amount</a:t>
            </a:r>
            <a:endParaRPr lang="en-US" sz="2400" dirty="0">
              <a:highlight>
                <a:srgbClr val="FFFF00"/>
              </a:highlight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206952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2A54635A-125C-442D-EA36-8E66B4796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F33694E-D0A8-1A23-532E-67F1E7798B8E}"/>
              </a:ext>
            </a:extLst>
          </p:cNvPr>
          <p:cNvSpPr txBox="1"/>
          <p:nvPr/>
        </p:nvSpPr>
        <p:spPr>
          <a:xfrm>
            <a:off x="0" y="63827"/>
            <a:ext cx="6577781" cy="5759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Java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Java uses Scanner to read keyboard input.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import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java.util.Scanner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public class Bank {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public static void main(String[]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args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    Scanner input = new Scanner(System.in);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System.out.print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("Amount to deposit $ ");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    double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depositAmount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 =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input.nextDouble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E9CCE1-661D-BCC4-6AF4-EC2E126B3A0E}"/>
              </a:ext>
            </a:extLst>
          </p:cNvPr>
          <p:cNvSpPr txBox="1"/>
          <p:nvPr/>
        </p:nvSpPr>
        <p:spPr>
          <a:xfrm>
            <a:off x="6695768" y="63827"/>
            <a:ext cx="5496232" cy="562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Explanation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First: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import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java.util.Scanner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allows us to use Java's Scanner class.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Then: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Scanner input = new Scanner(System.in);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creates a Scanner that reads from the keyboard.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double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depositAmount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 =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input.nextDouble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reads a decimal number and stores it in </a:t>
            </a:r>
            <a:r>
              <a:rPr lang="en-US" sz="2200" dirty="0" err="1">
                <a:latin typeface="Calibir"/>
              </a:rPr>
              <a:t>depositAmount</a:t>
            </a:r>
            <a:r>
              <a:rPr lang="en-US" sz="2200" dirty="0">
                <a:latin typeface="Calibi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2327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A241B10C-B8AF-79D4-D908-0E97AE760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838CF3E-B463-204E-0C62-F840ABE648D1}"/>
              </a:ext>
            </a:extLst>
          </p:cNvPr>
          <p:cNvSpPr txBox="1"/>
          <p:nvPr/>
        </p:nvSpPr>
        <p:spPr>
          <a:xfrm>
            <a:off x="0" y="63827"/>
            <a:ext cx="6577781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4 — Display the deposited amount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requirement says the deposited amount should be displayed.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It should have exactly two decimal places.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Python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Add: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print(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f"Amount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${deposit_amount:.2f} deposited")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B2FFD8-BD39-70AA-A77D-9991859FB4A6}"/>
              </a:ext>
            </a:extLst>
          </p:cNvPr>
          <p:cNvSpPr txBox="1"/>
          <p:nvPr/>
        </p:nvSpPr>
        <p:spPr>
          <a:xfrm>
            <a:off x="6695768" y="63827"/>
            <a:ext cx="5496232" cy="668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Our program is now: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class Bank: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@staticmethod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def main():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deposit_amount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 = float(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        input("Amount to deposit $ ")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    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    print(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f"Amount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 ${deposit_amount:.2f} deposited"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    )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highlight>
                  <a:srgbClr val="FFFF00"/>
                </a:highlight>
                <a:latin typeface="Calibir"/>
              </a:rPr>
              <a:t>Bank.main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()</a:t>
            </a:r>
            <a:endParaRPr lang="en-US" sz="24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666451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79BB0FE5-1BD8-F26B-AEAF-A79ED291C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FAEE44C-310C-F901-4F93-31F8A2E189ED}"/>
              </a:ext>
            </a:extLst>
          </p:cNvPr>
          <p:cNvSpPr txBox="1"/>
          <p:nvPr/>
        </p:nvSpPr>
        <p:spPr>
          <a:xfrm>
            <a:off x="0" y="63827"/>
            <a:ext cx="6577781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What does .2f mean?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:.2f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means: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Display the floating-point number using exactly 2 decimal places.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For example: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200.2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becomes: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200.20</a:t>
            </a:r>
          </a:p>
        </p:txBody>
      </p:sp>
    </p:spTree>
    <p:extLst>
      <p:ext uri="{BB962C8B-B14F-4D97-AF65-F5344CB8AC3E}">
        <p14:creationId xmlns:p14="http://schemas.microsoft.com/office/powerpoint/2010/main" val="285363912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4A061B72-B1FB-EFB9-2ECA-FD736E5F2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A527594-5607-0A0C-78D3-B87F40DD1835}"/>
              </a:ext>
            </a:extLst>
          </p:cNvPr>
          <p:cNvSpPr txBox="1"/>
          <p:nvPr/>
        </p:nvSpPr>
        <p:spPr>
          <a:xfrm>
            <a:off x="0" y="63827"/>
            <a:ext cx="501804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Java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Add: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highlight>
                  <a:srgbClr val="FFFF00"/>
                </a:highlight>
                <a:latin typeface="Calibir"/>
              </a:rPr>
              <a:t>System.out.printf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"Amount $%.2f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deposited%n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",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depositAmount</a:t>
            </a:r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DD4497-E645-8E65-E32F-9CDA22246327}"/>
              </a:ext>
            </a:extLst>
          </p:cNvPr>
          <p:cNvSpPr txBox="1"/>
          <p:nvPr/>
        </p:nvSpPr>
        <p:spPr>
          <a:xfrm>
            <a:off x="6096000" y="0"/>
            <a:ext cx="6095999" cy="6641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Program so far: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import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java.util.Scanner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public class Bank {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    public static void main(String[]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args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        Scanner input = new Scanner(System.in);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System.out.print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("Amount to deposit $ ");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        double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depositAmount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 =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input.nextDouble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System.out.printf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"Amount $%.2f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deposited%n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",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depositAmount</a:t>
            </a:r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        );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14388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5BE078FF-E235-1E29-29C9-BCF1D8DB9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9AA0A52-FAFC-F264-82D9-BF6811C36E4C}"/>
              </a:ext>
            </a:extLst>
          </p:cNvPr>
          <p:cNvSpPr txBox="1"/>
          <p:nvPr/>
        </p:nvSpPr>
        <p:spPr>
          <a:xfrm>
            <a:off x="0" y="1154082"/>
            <a:ext cx="12192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What does %.2f mean?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%.2f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means: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Display a decimal number using exactly 2 decimal places.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And: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%n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moves the output to the next line.</a:t>
            </a:r>
          </a:p>
        </p:txBody>
      </p:sp>
    </p:spTree>
    <p:extLst>
      <p:ext uri="{BB962C8B-B14F-4D97-AF65-F5344CB8AC3E}">
        <p14:creationId xmlns:p14="http://schemas.microsoft.com/office/powerpoint/2010/main" val="3607742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5533053E-DFA3-D436-FF4D-D26D0CA37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D508734-4D76-B420-9B10-E5F622D31964}"/>
              </a:ext>
            </a:extLst>
          </p:cNvPr>
          <p:cNvSpPr txBox="1"/>
          <p:nvPr/>
        </p:nvSpPr>
        <p:spPr>
          <a:xfrm>
            <a:off x="0" y="0"/>
            <a:ext cx="5352585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5 — Ask for the withdrawal amount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We now repeat the same idea for a withdrawal.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Python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highlight>
                  <a:srgbClr val="FFFF00"/>
                </a:highlight>
                <a:latin typeface="Calibir"/>
              </a:rPr>
              <a:t>withdraw_amount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= float(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input("Amount to withdraw $ ")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90CE5F-DF25-C736-46D2-75B7259E0476}"/>
              </a:ext>
            </a:extLst>
          </p:cNvPr>
          <p:cNvSpPr txBox="1"/>
          <p:nvPr/>
        </p:nvSpPr>
        <p:spPr>
          <a:xfrm>
            <a:off x="5603486" y="-178416"/>
            <a:ext cx="6588513" cy="719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Full program so far: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class Bank: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    @staticmethod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    def main():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        </a:t>
            </a:r>
            <a:r>
              <a:rPr lang="en-US" sz="2200" dirty="0" err="1">
                <a:latin typeface="Calibir"/>
              </a:rPr>
              <a:t>deposit_amount</a:t>
            </a:r>
            <a:r>
              <a:rPr lang="en-US" sz="2200" dirty="0">
                <a:latin typeface="Calibir"/>
              </a:rPr>
              <a:t> = float(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            input("Amount to deposit $ ")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        )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        print(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            </a:t>
            </a:r>
            <a:r>
              <a:rPr lang="en-US" sz="2200" dirty="0" err="1">
                <a:latin typeface="Calibir"/>
              </a:rPr>
              <a:t>f"Amount</a:t>
            </a:r>
            <a:r>
              <a:rPr lang="en-US" sz="2200" dirty="0">
                <a:latin typeface="Calibir"/>
              </a:rPr>
              <a:t> ${deposit_amount:.2f} deposited"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        )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        </a:t>
            </a:r>
            <a:r>
              <a:rPr lang="en-US" sz="2200" dirty="0" err="1">
                <a:latin typeface="Calibir"/>
              </a:rPr>
              <a:t>withdraw_amount</a:t>
            </a:r>
            <a:r>
              <a:rPr lang="en-US" sz="2200" dirty="0">
                <a:latin typeface="Calibir"/>
              </a:rPr>
              <a:t> = float(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            input("Amount to withdraw $ ")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        )</a:t>
            </a:r>
          </a:p>
          <a:p>
            <a:pPr>
              <a:lnSpc>
                <a:spcPct val="150000"/>
              </a:lnSpc>
            </a:pPr>
            <a:r>
              <a:rPr lang="en-US" sz="2200" dirty="0" err="1">
                <a:latin typeface="Calibir"/>
              </a:rPr>
              <a:t>Bank.main</a:t>
            </a:r>
            <a:r>
              <a:rPr lang="en-US" sz="2200" dirty="0">
                <a:latin typeface="Calibir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48926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7B086CC7-5FA6-0083-8581-3A86B01A7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EAC556C-FBB6-19F8-26A0-C6985FCB6B4E}"/>
              </a:ext>
            </a:extLst>
          </p:cNvPr>
          <p:cNvSpPr txBox="1"/>
          <p:nvPr/>
        </p:nvSpPr>
        <p:spPr>
          <a:xfrm>
            <a:off x="0" y="0"/>
            <a:ext cx="6601523" cy="2523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Java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Add:</a:t>
            </a:r>
          </a:p>
          <a:p>
            <a:pPr>
              <a:lnSpc>
                <a:spcPct val="150000"/>
              </a:lnSpc>
            </a:pPr>
            <a:r>
              <a:rPr lang="en-US" sz="2600" dirty="0" err="1">
                <a:highlight>
                  <a:srgbClr val="FFFF00"/>
                </a:highlight>
                <a:latin typeface="Calibir"/>
              </a:rPr>
              <a:t>System.out.print</a:t>
            </a:r>
            <a:r>
              <a:rPr lang="en-US" sz="2600" dirty="0">
                <a:highlight>
                  <a:srgbClr val="FFFF00"/>
                </a:highlight>
                <a:latin typeface="Calibir"/>
              </a:rPr>
              <a:t>("Amount to withdraw $ ");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highlight>
                  <a:srgbClr val="FFFF00"/>
                </a:highlight>
                <a:latin typeface="Calibir"/>
              </a:rPr>
              <a:t>double </a:t>
            </a:r>
            <a:r>
              <a:rPr lang="en-US" sz="2600" dirty="0" err="1">
                <a:highlight>
                  <a:srgbClr val="FFFF00"/>
                </a:highlight>
                <a:latin typeface="Calibir"/>
              </a:rPr>
              <a:t>withdrawAmount</a:t>
            </a:r>
            <a:r>
              <a:rPr lang="en-US" sz="2600" dirty="0">
                <a:highlight>
                  <a:srgbClr val="FFFF00"/>
                </a:highlight>
                <a:latin typeface="Calibir"/>
              </a:rPr>
              <a:t> = </a:t>
            </a:r>
            <a:r>
              <a:rPr lang="en-US" sz="2600" dirty="0" err="1">
                <a:highlight>
                  <a:srgbClr val="FFFF00"/>
                </a:highlight>
                <a:latin typeface="Calibir"/>
              </a:rPr>
              <a:t>input.nextDouble</a:t>
            </a:r>
            <a:r>
              <a:rPr lang="en-US" sz="2600" dirty="0">
                <a:highlight>
                  <a:srgbClr val="FFFF00"/>
                </a:highlight>
                <a:latin typeface="Calibir"/>
              </a:rPr>
              <a:t>();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61A7D9-1BE9-AA55-687C-33041EFA196B}"/>
              </a:ext>
            </a:extLst>
          </p:cNvPr>
          <p:cNvSpPr txBox="1"/>
          <p:nvPr/>
        </p:nvSpPr>
        <p:spPr>
          <a:xfrm>
            <a:off x="6601523" y="-44604"/>
            <a:ext cx="5590477" cy="7061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Program so far: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import </a:t>
            </a:r>
            <a:r>
              <a:rPr lang="en-US" sz="2000" dirty="0" err="1">
                <a:latin typeface="Calibir"/>
              </a:rPr>
              <a:t>java.util.Scanner</a:t>
            </a:r>
            <a:r>
              <a:rPr lang="en-US" sz="2000" dirty="0">
                <a:latin typeface="Calibir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public class Bank {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    public static void main(String[] </a:t>
            </a:r>
            <a:r>
              <a:rPr lang="en-US" sz="2000" dirty="0" err="1">
                <a:latin typeface="Calibir"/>
              </a:rPr>
              <a:t>args</a:t>
            </a:r>
            <a:r>
              <a:rPr lang="en-US" sz="2000" dirty="0">
                <a:latin typeface="Calibir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        Scanner input = new Scanner(System.in);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        </a:t>
            </a:r>
            <a:r>
              <a:rPr lang="en-US" sz="2000" dirty="0" err="1">
                <a:latin typeface="Calibir"/>
              </a:rPr>
              <a:t>System.out.print</a:t>
            </a:r>
            <a:r>
              <a:rPr lang="en-US" sz="2000" dirty="0">
                <a:latin typeface="Calibir"/>
              </a:rPr>
              <a:t>("Amount to deposit $ ");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        double </a:t>
            </a:r>
            <a:r>
              <a:rPr lang="en-US" sz="2000" dirty="0" err="1">
                <a:latin typeface="Calibir"/>
              </a:rPr>
              <a:t>depositAmount</a:t>
            </a:r>
            <a:r>
              <a:rPr lang="en-US" sz="2000" dirty="0">
                <a:latin typeface="Calibir"/>
              </a:rPr>
              <a:t> = </a:t>
            </a:r>
            <a:r>
              <a:rPr lang="en-US" sz="2000" dirty="0" err="1">
                <a:latin typeface="Calibir"/>
              </a:rPr>
              <a:t>input.nextDouble</a:t>
            </a:r>
            <a:r>
              <a:rPr lang="en-US" sz="2000" dirty="0"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        </a:t>
            </a:r>
            <a:r>
              <a:rPr lang="en-US" sz="2000" dirty="0" err="1">
                <a:latin typeface="Calibir"/>
              </a:rPr>
              <a:t>System.out.printf</a:t>
            </a:r>
            <a:r>
              <a:rPr lang="en-US" sz="2000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            "Amount $%.2f </a:t>
            </a:r>
            <a:r>
              <a:rPr lang="en-US" sz="2000" dirty="0" err="1">
                <a:latin typeface="Calibir"/>
              </a:rPr>
              <a:t>deposited%n</a:t>
            </a:r>
            <a:r>
              <a:rPr lang="en-US" sz="2000" dirty="0">
                <a:latin typeface="Calibir"/>
              </a:rPr>
              <a:t>",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            </a:t>
            </a:r>
            <a:r>
              <a:rPr lang="en-US" sz="2000" dirty="0" err="1">
                <a:latin typeface="Calibir"/>
              </a:rPr>
              <a:t>depositAmount</a:t>
            </a:r>
            <a:endParaRPr lang="en-US" sz="20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        );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        </a:t>
            </a:r>
            <a:r>
              <a:rPr lang="en-US" sz="2000" dirty="0" err="1">
                <a:latin typeface="Calibir"/>
              </a:rPr>
              <a:t>System.out.print</a:t>
            </a:r>
            <a:r>
              <a:rPr lang="en-US" sz="2000" dirty="0">
                <a:latin typeface="Calibir"/>
              </a:rPr>
              <a:t>("Amount to withdraw $ ");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        double </a:t>
            </a:r>
            <a:r>
              <a:rPr lang="en-US" sz="2000" dirty="0" err="1">
                <a:latin typeface="Calibir"/>
              </a:rPr>
              <a:t>withdrawAmount</a:t>
            </a:r>
            <a:r>
              <a:rPr lang="en-US" sz="2000" dirty="0">
                <a:latin typeface="Calibir"/>
              </a:rPr>
              <a:t> = </a:t>
            </a:r>
            <a:r>
              <a:rPr lang="en-US" sz="2000" dirty="0" err="1">
                <a:latin typeface="Calibir"/>
              </a:rPr>
              <a:t>input.nextDouble</a:t>
            </a:r>
            <a:r>
              <a:rPr lang="en-US" sz="2000" dirty="0"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95410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593C8259-F16C-B170-8341-CF95ABB96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9F4C4A9-5CBB-C8B4-18D5-2819FBE47639}"/>
              </a:ext>
            </a:extLst>
          </p:cNvPr>
          <p:cNvSpPr txBox="1"/>
          <p:nvPr/>
        </p:nvSpPr>
        <p:spPr>
          <a:xfrm>
            <a:off x="0" y="0"/>
            <a:ext cx="6601523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6 — Display the withdrawn amount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Now display the withdrawal using two decimal places.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Python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print(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f"Amount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${withdraw_amount:.2f} withdrawn"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)</a:t>
            </a:r>
            <a:endParaRPr lang="en-US" sz="2800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2408C7-0EC4-9472-5F59-7B414B50C4CF}"/>
              </a:ext>
            </a:extLst>
          </p:cNvPr>
          <p:cNvSpPr txBox="1"/>
          <p:nvPr/>
        </p:nvSpPr>
        <p:spPr>
          <a:xfrm>
            <a:off x="6601523" y="-44604"/>
            <a:ext cx="5822706" cy="3733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Completed logic: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latin typeface="Calibir"/>
              </a:rPr>
              <a:t>class Bank: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latin typeface="Calibir"/>
              </a:rPr>
              <a:t>    @staticmethod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latin typeface="Calibir"/>
              </a:rPr>
              <a:t>    def main():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latin typeface="Calibir"/>
              </a:rPr>
              <a:t>        </a:t>
            </a:r>
            <a:r>
              <a:rPr lang="en-US" sz="1700" dirty="0" err="1">
                <a:latin typeface="Calibir"/>
              </a:rPr>
              <a:t>deposit_amount</a:t>
            </a:r>
            <a:r>
              <a:rPr lang="en-US" sz="1700" dirty="0">
                <a:latin typeface="Calibir"/>
              </a:rPr>
              <a:t> = float(input("Amount to deposit $ "))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latin typeface="Calibir"/>
              </a:rPr>
              <a:t>        print(</a:t>
            </a:r>
            <a:r>
              <a:rPr lang="en-US" sz="1700" dirty="0" err="1">
                <a:latin typeface="Calibir"/>
              </a:rPr>
              <a:t>f"Amount</a:t>
            </a:r>
            <a:r>
              <a:rPr lang="en-US" sz="1700" dirty="0">
                <a:latin typeface="Calibir"/>
              </a:rPr>
              <a:t> ${deposit_amount:.2f} deposited")</a:t>
            </a:r>
          </a:p>
          <a:p>
            <a:pPr>
              <a:lnSpc>
                <a:spcPct val="150000"/>
              </a:lnSpc>
            </a:pPr>
            <a:r>
              <a:rPr lang="en-US" sz="1650" dirty="0">
                <a:latin typeface="Calibir"/>
              </a:rPr>
              <a:t>        </a:t>
            </a:r>
            <a:r>
              <a:rPr lang="en-US" sz="1650" dirty="0" err="1">
                <a:latin typeface="Calibir"/>
              </a:rPr>
              <a:t>withdraw_amount</a:t>
            </a:r>
            <a:r>
              <a:rPr lang="en-US" sz="1650" dirty="0">
                <a:latin typeface="Calibir"/>
              </a:rPr>
              <a:t> = float(input("Amount to withdraw $ "))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latin typeface="Calibir"/>
              </a:rPr>
              <a:t>        print(</a:t>
            </a:r>
            <a:r>
              <a:rPr lang="en-US" sz="1700" dirty="0" err="1">
                <a:latin typeface="Calibir"/>
              </a:rPr>
              <a:t>f"Amount</a:t>
            </a:r>
            <a:r>
              <a:rPr lang="en-US" sz="1700" dirty="0">
                <a:latin typeface="Calibir"/>
              </a:rPr>
              <a:t> ${withdraw_amount:.2f} </a:t>
            </a:r>
            <a:r>
              <a:rPr lang="en-US" sz="1700">
                <a:latin typeface="Calibir"/>
              </a:rPr>
              <a:t>withdrawn")</a:t>
            </a:r>
            <a:endParaRPr lang="en-US" sz="17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1700" dirty="0" err="1">
                <a:latin typeface="Calibir"/>
              </a:rPr>
              <a:t>Bank.main</a:t>
            </a:r>
            <a:r>
              <a:rPr lang="en-US" sz="1700" dirty="0">
                <a:latin typeface="Calibir"/>
              </a:rPr>
              <a:t>()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48D9C7A-F659-7AAF-24DF-132308304628}"/>
              </a:ext>
            </a:extLst>
          </p:cNvPr>
          <p:cNvCxnSpPr/>
          <p:nvPr/>
        </p:nvCxnSpPr>
        <p:spPr>
          <a:xfrm>
            <a:off x="6669741" y="1206393"/>
            <a:ext cx="222837" cy="0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1087F0F-ECA2-4E5E-0066-72BC5B29C995}"/>
              </a:ext>
            </a:extLst>
          </p:cNvPr>
          <p:cNvCxnSpPr/>
          <p:nvPr/>
        </p:nvCxnSpPr>
        <p:spPr>
          <a:xfrm>
            <a:off x="6669741" y="1547478"/>
            <a:ext cx="222837" cy="0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ABBD3BA-A741-2A39-1984-55E5C230F639}"/>
              </a:ext>
            </a:extLst>
          </p:cNvPr>
          <p:cNvCxnSpPr/>
          <p:nvPr/>
        </p:nvCxnSpPr>
        <p:spPr>
          <a:xfrm>
            <a:off x="6892578" y="1975650"/>
            <a:ext cx="222837" cy="0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D9D8A8F-9B74-F2D0-9695-631693FA22B3}"/>
              </a:ext>
            </a:extLst>
          </p:cNvPr>
          <p:cNvCxnSpPr/>
          <p:nvPr/>
        </p:nvCxnSpPr>
        <p:spPr>
          <a:xfrm>
            <a:off x="6892578" y="2331250"/>
            <a:ext cx="222837" cy="0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5534ABF-66D1-537A-84D5-B321AED5B200}"/>
              </a:ext>
            </a:extLst>
          </p:cNvPr>
          <p:cNvCxnSpPr/>
          <p:nvPr/>
        </p:nvCxnSpPr>
        <p:spPr>
          <a:xfrm>
            <a:off x="6892578" y="2737650"/>
            <a:ext cx="222837" cy="0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6B06D90-5F65-5E61-25C4-A2B9F7EC9A8D}"/>
              </a:ext>
            </a:extLst>
          </p:cNvPr>
          <p:cNvCxnSpPr/>
          <p:nvPr/>
        </p:nvCxnSpPr>
        <p:spPr>
          <a:xfrm>
            <a:off x="6892578" y="3107764"/>
            <a:ext cx="222837" cy="0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0515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06250E76-3221-1443-E6A5-8968158D3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9812C25-1944-BBBC-2A88-55978D5BB799}"/>
              </a:ext>
            </a:extLst>
          </p:cNvPr>
          <p:cNvSpPr txBox="1"/>
          <p:nvPr/>
        </p:nvSpPr>
        <p:spPr>
          <a:xfrm>
            <a:off x="1" y="0"/>
            <a:ext cx="5084956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Java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Add: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highlight>
                  <a:srgbClr val="FFFF00"/>
                </a:highlight>
                <a:latin typeface="Calibir"/>
              </a:rPr>
              <a:t>System.out.printf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"Amount $%.2f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withdrawn%n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",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withdrawAmount</a:t>
            </a:r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19A63D-479C-C309-07C1-145D9923D297}"/>
              </a:ext>
            </a:extLst>
          </p:cNvPr>
          <p:cNvSpPr txBox="1"/>
          <p:nvPr/>
        </p:nvSpPr>
        <p:spPr>
          <a:xfrm>
            <a:off x="7828156" y="-44604"/>
            <a:ext cx="4363844" cy="6843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Program: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Calibir"/>
              </a:rPr>
              <a:t>import </a:t>
            </a:r>
            <a:r>
              <a:rPr lang="en-US" sz="1500" dirty="0" err="1">
                <a:latin typeface="Calibir"/>
              </a:rPr>
              <a:t>java.util.Scanner</a:t>
            </a:r>
            <a:r>
              <a:rPr lang="en-US" sz="1500" dirty="0">
                <a:latin typeface="Calibir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Calibir"/>
              </a:rPr>
              <a:t>public class Bank {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Calibir"/>
              </a:rPr>
              <a:t>    public static void main(String[] </a:t>
            </a:r>
            <a:r>
              <a:rPr lang="en-US" sz="1500" dirty="0" err="1">
                <a:latin typeface="Calibir"/>
              </a:rPr>
              <a:t>args</a:t>
            </a:r>
            <a:r>
              <a:rPr lang="en-US" sz="1500" dirty="0">
                <a:latin typeface="Calibir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Calibir"/>
              </a:rPr>
              <a:t>        Scanner input = new Scanner(System.in);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Calibir"/>
              </a:rPr>
              <a:t>        </a:t>
            </a:r>
            <a:r>
              <a:rPr lang="en-US" sz="1500" dirty="0" err="1">
                <a:latin typeface="Calibir"/>
              </a:rPr>
              <a:t>System.out.print</a:t>
            </a:r>
            <a:r>
              <a:rPr lang="en-US" sz="1500" dirty="0">
                <a:latin typeface="Calibir"/>
              </a:rPr>
              <a:t>("Amount to deposit $ ");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Calibir"/>
              </a:rPr>
              <a:t>        double </a:t>
            </a:r>
            <a:r>
              <a:rPr lang="en-US" sz="1500" dirty="0" err="1">
                <a:latin typeface="Calibir"/>
              </a:rPr>
              <a:t>depositAmount</a:t>
            </a:r>
            <a:r>
              <a:rPr lang="en-US" sz="1500" dirty="0">
                <a:latin typeface="Calibir"/>
              </a:rPr>
              <a:t> = </a:t>
            </a:r>
            <a:r>
              <a:rPr lang="en-US" sz="1500" dirty="0" err="1">
                <a:latin typeface="Calibir"/>
              </a:rPr>
              <a:t>input.nextDouble</a:t>
            </a:r>
            <a:r>
              <a:rPr lang="en-US" sz="1500" dirty="0"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Calibir"/>
              </a:rPr>
              <a:t>        </a:t>
            </a:r>
            <a:r>
              <a:rPr lang="en-US" sz="1500" dirty="0" err="1">
                <a:latin typeface="Calibir"/>
              </a:rPr>
              <a:t>System.out.printf</a:t>
            </a:r>
            <a:r>
              <a:rPr lang="en-US" sz="1500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Calibir"/>
              </a:rPr>
              <a:t>            "Amount $%.2f </a:t>
            </a:r>
            <a:r>
              <a:rPr lang="en-US" sz="1500" dirty="0" err="1">
                <a:latin typeface="Calibir"/>
              </a:rPr>
              <a:t>deposited%n</a:t>
            </a:r>
            <a:r>
              <a:rPr lang="en-US" sz="1500" dirty="0">
                <a:latin typeface="Calibir"/>
              </a:rPr>
              <a:t>",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Calibir"/>
              </a:rPr>
              <a:t>            </a:t>
            </a:r>
            <a:r>
              <a:rPr lang="en-US" sz="1500" dirty="0" err="1">
                <a:latin typeface="Calibir"/>
              </a:rPr>
              <a:t>depositAmount</a:t>
            </a:r>
            <a:endParaRPr lang="en-US" sz="15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1500" dirty="0">
                <a:latin typeface="Calibir"/>
              </a:rPr>
              <a:t>        );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Calibir"/>
              </a:rPr>
              <a:t>        </a:t>
            </a:r>
            <a:r>
              <a:rPr lang="en-US" sz="1500" dirty="0" err="1">
                <a:latin typeface="Calibir"/>
              </a:rPr>
              <a:t>System.out.print</a:t>
            </a:r>
            <a:r>
              <a:rPr lang="en-US" sz="1500" dirty="0">
                <a:latin typeface="Calibir"/>
              </a:rPr>
              <a:t>("Amount to withdraw $ ");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Calibir"/>
              </a:rPr>
              <a:t>        double </a:t>
            </a:r>
            <a:r>
              <a:rPr lang="en-US" sz="1500" dirty="0" err="1">
                <a:latin typeface="Calibir"/>
              </a:rPr>
              <a:t>withdrawAmount</a:t>
            </a:r>
            <a:r>
              <a:rPr lang="en-US" sz="1500" dirty="0">
                <a:latin typeface="Calibir"/>
              </a:rPr>
              <a:t> = </a:t>
            </a:r>
            <a:r>
              <a:rPr lang="en-US" sz="1500" dirty="0" err="1">
                <a:latin typeface="Calibir"/>
              </a:rPr>
              <a:t>input.nextDouble</a:t>
            </a:r>
            <a:r>
              <a:rPr lang="en-US" sz="1500" dirty="0"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Calibir"/>
              </a:rPr>
              <a:t>        </a:t>
            </a:r>
            <a:r>
              <a:rPr lang="en-US" sz="1500" dirty="0" err="1">
                <a:latin typeface="Calibir"/>
              </a:rPr>
              <a:t>System.out.printf</a:t>
            </a:r>
            <a:r>
              <a:rPr lang="en-US" sz="1500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Calibir"/>
              </a:rPr>
              <a:t>            "Amount $%.2f </a:t>
            </a:r>
            <a:r>
              <a:rPr lang="en-US" sz="1500" dirty="0" err="1">
                <a:latin typeface="Calibir"/>
              </a:rPr>
              <a:t>withdrawn%n</a:t>
            </a:r>
            <a:r>
              <a:rPr lang="en-US" sz="1500" dirty="0">
                <a:latin typeface="Calibir"/>
              </a:rPr>
              <a:t>",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Calibir"/>
              </a:rPr>
              <a:t>            </a:t>
            </a:r>
            <a:r>
              <a:rPr lang="en-US" sz="1500" dirty="0" err="1">
                <a:latin typeface="Calibir"/>
              </a:rPr>
              <a:t>withdrawAmount</a:t>
            </a:r>
            <a:endParaRPr lang="en-US" sz="15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1500" dirty="0">
                <a:latin typeface="Calibir"/>
              </a:rPr>
              <a:t>        );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70018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BBD2FCE5-5F4C-8CFD-37DE-D67AE0048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0A7B26E-B770-19A1-042D-BECED409FD26}"/>
              </a:ext>
            </a:extLst>
          </p:cNvPr>
          <p:cNvSpPr txBox="1"/>
          <p:nvPr/>
        </p:nvSpPr>
        <p:spPr>
          <a:xfrm>
            <a:off x="1" y="0"/>
            <a:ext cx="4572000" cy="689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Step 7 — Finish the program properly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Python — Final Version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class Bank: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@staticmethod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def main():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# Read deposit amount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deposit_amount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 = float(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input("Amount to deposit $ ")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)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# Display deposited amount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print(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f"Amount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 ${deposit_amount:.2f} deposited"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)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# Read withdrawal amount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withdraw_amount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 = float(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input("Amount to withdraw $ ")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)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# Display withdrawn amount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print(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f"Amount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 ${withdraw_amount:.2f} withdrawn"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)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if __name__ == "__main__":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Bank.main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AC0037-299C-C275-7A94-665F72927D79}"/>
              </a:ext>
            </a:extLst>
          </p:cNvPr>
          <p:cNvSpPr txBox="1"/>
          <p:nvPr/>
        </p:nvSpPr>
        <p:spPr>
          <a:xfrm>
            <a:off x="6096000" y="184586"/>
            <a:ext cx="6144322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What does this mean?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if __name__ == "__main__":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means: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Run the following code when this Python file is executed directly.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Then: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highlight>
                  <a:srgbClr val="FFFF00"/>
                </a:highlight>
                <a:latin typeface="Calibir"/>
              </a:rPr>
              <a:t>Bank.main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starts our banking program.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It is the standard Python way of controlling where a program starts.</a:t>
            </a:r>
          </a:p>
        </p:txBody>
      </p:sp>
    </p:spTree>
    <p:extLst>
      <p:ext uri="{BB962C8B-B14F-4D97-AF65-F5344CB8AC3E}">
        <p14:creationId xmlns:p14="http://schemas.microsoft.com/office/powerpoint/2010/main" val="3782270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E0B77A80-6B8F-E2E7-E09A-D538EEF0C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9EC82DE-DEF9-95FA-FE84-BB11A11B0DA4}"/>
              </a:ext>
            </a:extLst>
          </p:cNvPr>
          <p:cNvSpPr txBox="1"/>
          <p:nvPr/>
        </p:nvSpPr>
        <p:spPr>
          <a:xfrm>
            <a:off x="0" y="0"/>
            <a:ext cx="12192000" cy="6942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Java — Final Version) </a:t>
            </a:r>
            <a:r>
              <a:rPr lang="en-US" sz="2200" dirty="0">
                <a:latin typeface="Calibir"/>
              </a:rPr>
              <a:t>We should close the Scanner when finished.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import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java.util.Scanner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public class Bank {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public static void main(String[]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args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Scanner input = new Scanner(System.in);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// Read deposit amount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System.out.print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("Amount to deposit $ ");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double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depositAmount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 =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input.nextDouble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// Display deposited amount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System.out.printf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"Amount $%.2f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deposited%n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",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depositAmount</a:t>
            </a:r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);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// Read withdrawal amount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System.out.print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("Amount to withdraw $ ");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double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withdrawAmount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 =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input.nextDouble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// Display withdrawn amount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System.out.printf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"Amount $%.2f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withdrawn%n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",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withdrawAmount</a:t>
            </a:r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);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input.close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F38770-89CF-C6AF-2323-6B5BDC79D660}"/>
              </a:ext>
            </a:extLst>
          </p:cNvPr>
          <p:cNvSpPr txBox="1"/>
          <p:nvPr/>
        </p:nvSpPr>
        <p:spPr>
          <a:xfrm>
            <a:off x="6096000" y="2365517"/>
            <a:ext cx="6144322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Why do we use this?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Calibir"/>
              </a:rPr>
              <a:t>input.close</a:t>
            </a:r>
            <a:r>
              <a:rPr lang="en-US" sz="2800" dirty="0"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We have finished reading keyboard input, so we close the Scanner.</a:t>
            </a:r>
          </a:p>
        </p:txBody>
      </p:sp>
    </p:spTree>
    <p:extLst>
      <p:ext uri="{BB962C8B-B14F-4D97-AF65-F5344CB8AC3E}">
        <p14:creationId xmlns:p14="http://schemas.microsoft.com/office/powerpoint/2010/main" val="3718405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5AF78605-AA94-E697-E3A6-D873E6C47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77823BB-6811-ADA8-9F65-917B3A66B7CB}"/>
              </a:ext>
            </a:extLst>
          </p:cNvPr>
          <p:cNvSpPr txBox="1"/>
          <p:nvPr/>
        </p:nvSpPr>
        <p:spPr>
          <a:xfrm>
            <a:off x="0" y="-178416"/>
            <a:ext cx="12192000" cy="7135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8 — Test the program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Students should test the program using the values from the lab.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Python) </a:t>
            </a:r>
            <a:r>
              <a:rPr lang="en-US" sz="2800" dirty="0">
                <a:latin typeface="Calibir"/>
              </a:rPr>
              <a:t>Run the program and enter: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200.2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and then: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50.5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Result: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Amount to deposit $ 200.2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Amount $200.20 deposited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Amount to withdraw $ 50.5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Amount $50.50 withdrawn</a:t>
            </a:r>
          </a:p>
        </p:txBody>
      </p:sp>
    </p:spTree>
    <p:extLst>
      <p:ext uri="{BB962C8B-B14F-4D97-AF65-F5344CB8AC3E}">
        <p14:creationId xmlns:p14="http://schemas.microsoft.com/office/powerpoint/2010/main" val="142172265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C05C98D0-5E49-CACF-BFEF-6CCC72C29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54100B6-9205-6D84-E7F3-F66C29717CCF}"/>
              </a:ext>
            </a:extLst>
          </p:cNvPr>
          <p:cNvSpPr txBox="1"/>
          <p:nvPr/>
        </p:nvSpPr>
        <p:spPr>
          <a:xfrm>
            <a:off x="0" y="830917"/>
            <a:ext cx="121920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Java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Use the same input: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Amount to deposit $ 200.2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Amount $200.20 deposited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Amount to withdraw $ 50.5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Amount $50.50 withdrawn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Python and Java versions should therefore produce essentially the same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185860734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F3273089-56B7-6C6D-6BD8-F1C736DBA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A0DF0C-B382-14A7-BFBE-5C35AC2FDE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141446"/>
              </p:ext>
            </p:extLst>
          </p:nvPr>
        </p:nvGraphicFramePr>
        <p:xfrm>
          <a:off x="415924" y="1643190"/>
          <a:ext cx="11360151" cy="457200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786717">
                  <a:extLst>
                    <a:ext uri="{9D8B030D-6E8A-4147-A177-3AD203B41FA5}">
                      <a16:colId xmlns:a16="http://schemas.microsoft.com/office/drawing/2014/main" val="242449739"/>
                    </a:ext>
                  </a:extLst>
                </a:gridCol>
                <a:gridCol w="3786717">
                  <a:extLst>
                    <a:ext uri="{9D8B030D-6E8A-4147-A177-3AD203B41FA5}">
                      <a16:colId xmlns:a16="http://schemas.microsoft.com/office/drawing/2014/main" val="220290897"/>
                    </a:ext>
                  </a:extLst>
                </a:gridCol>
                <a:gridCol w="3786717">
                  <a:extLst>
                    <a:ext uri="{9D8B030D-6E8A-4147-A177-3AD203B41FA5}">
                      <a16:colId xmlns:a16="http://schemas.microsoft.com/office/drawing/2014/main" val="3852102321"/>
                    </a:ext>
                  </a:extLst>
                </a:gridCol>
              </a:tblGrid>
              <a:tr h="375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Task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Python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Java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833684"/>
                  </a:ext>
                </a:extLst>
              </a:tr>
              <a:tr h="375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Create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class Bank: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public class Bank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2168158"/>
                  </a:ext>
                </a:extLst>
              </a:tr>
              <a:tr h="660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Main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def main():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public static void main(...)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4337867"/>
                  </a:ext>
                </a:extLst>
              </a:tr>
              <a:tr h="375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Keyboard 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input()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Scanner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9063474"/>
                  </a:ext>
                </a:extLst>
              </a:tr>
              <a:tr h="375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Decimal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double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352788"/>
                  </a:ext>
                </a:extLst>
              </a:tr>
              <a:tr h="375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Convert 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float(...)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nextDouble()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5622154"/>
                  </a:ext>
                </a:extLst>
              </a:tr>
              <a:tr h="375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Print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print()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System.out.print()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8634567"/>
                  </a:ext>
                </a:extLst>
              </a:tr>
              <a:tr h="375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Formatted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:.2f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%.2f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0032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70985EC-96C3-9D52-088B-A09A56BE5C46}"/>
              </a:ext>
            </a:extLst>
          </p:cNvPr>
          <p:cNvSpPr txBox="1"/>
          <p:nvPr/>
        </p:nvSpPr>
        <p:spPr>
          <a:xfrm>
            <a:off x="0" y="0"/>
            <a:ext cx="121920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9 — Compare Python and Java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is a useful discussion slide after completing the program.</a:t>
            </a:r>
          </a:p>
        </p:txBody>
      </p:sp>
    </p:spTree>
    <p:extLst>
      <p:ext uri="{BB962C8B-B14F-4D97-AF65-F5344CB8AC3E}">
        <p14:creationId xmlns:p14="http://schemas.microsoft.com/office/powerpoint/2010/main" val="5268450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25BDC1A9-208A-39E1-ADFC-9DC1878A7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8BE79D-0EA2-52DF-621F-F5B6112A6AD3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ir"/>
              </a:rPr>
              <a:t>Key idea</a:t>
            </a:r>
            <a:endParaRPr lang="en-US" sz="3000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C9DAC6-6200-ECB5-37CC-F86DC6D34C2C}"/>
              </a:ext>
            </a:extLst>
          </p:cNvPr>
          <p:cNvSpPr txBox="1"/>
          <p:nvPr/>
        </p:nvSpPr>
        <p:spPr>
          <a:xfrm>
            <a:off x="-70624" y="841245"/>
            <a:ext cx="6166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latin typeface="Calibir"/>
              </a:rPr>
              <a:t>Although the syntax looks different: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3917F8-0E49-9F64-9E7B-F3803B42DE89}"/>
              </a:ext>
            </a:extLst>
          </p:cNvPr>
          <p:cNvSpPr txBox="1"/>
          <p:nvPr/>
        </p:nvSpPr>
        <p:spPr>
          <a:xfrm>
            <a:off x="0" y="6334780"/>
            <a:ext cx="62000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alibir"/>
              </a:rPr>
              <a:t>The programming logic is the same.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910167-ACFC-34B4-76D9-0CC9AA2013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16" t="58279" r="2593" b="1720"/>
          <a:stretch>
            <a:fillRect/>
          </a:stretch>
        </p:blipFill>
        <p:spPr>
          <a:xfrm>
            <a:off x="1973046" y="1364465"/>
            <a:ext cx="8454064" cy="494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7855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0FEE8A74-F1D4-C7A0-39C3-EA78D5485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61A230-6C1A-3579-DC7A-7F8DFE3835C6}"/>
              </a:ext>
            </a:extLst>
          </p:cNvPr>
          <p:cNvSpPr txBox="1"/>
          <p:nvPr/>
        </p:nvSpPr>
        <p:spPr>
          <a:xfrm>
            <a:off x="0" y="0"/>
            <a:ext cx="12192000" cy="3254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10 — What has the program actually implemented?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Have we now created a complete banking system?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No. </a:t>
            </a:r>
            <a:r>
              <a:rPr lang="en-US" sz="2800" dirty="0">
                <a:latin typeface="Calibir"/>
              </a:rPr>
              <a:t>At this stage, the program only performs: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Keyboard Input </a:t>
            </a:r>
            <a:r>
              <a:rPr lang="en-US" sz="2800" dirty="0">
                <a:latin typeface="Calibir"/>
                <a:sym typeface="Wingdings" panose="05000000000000000000" pitchFamily="2" charset="2"/>
              </a:rPr>
              <a:t> </a:t>
            </a:r>
            <a:r>
              <a:rPr lang="en-US" sz="2800" dirty="0">
                <a:latin typeface="Calibir"/>
              </a:rPr>
              <a:t>Store the number </a:t>
            </a:r>
            <a:r>
              <a:rPr lang="en-US" sz="2800" dirty="0">
                <a:latin typeface="Calibir"/>
                <a:sym typeface="Wingdings" panose="05000000000000000000" pitchFamily="2" charset="2"/>
              </a:rPr>
              <a:t> </a:t>
            </a:r>
            <a:r>
              <a:rPr lang="en-US" sz="2800" dirty="0">
                <a:latin typeface="Calibir"/>
              </a:rPr>
              <a:t>Display the number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For example: 200.2 </a:t>
            </a:r>
            <a:r>
              <a:rPr lang="en-US" sz="2800" dirty="0">
                <a:latin typeface="Calibir"/>
                <a:sym typeface="Wingdings" panose="05000000000000000000" pitchFamily="2" charset="2"/>
              </a:rPr>
              <a:t> </a:t>
            </a:r>
            <a:r>
              <a:rPr lang="en-US" sz="2800" dirty="0" err="1">
                <a:latin typeface="Calibir"/>
              </a:rPr>
              <a:t>depositAmount</a:t>
            </a:r>
            <a:r>
              <a:rPr lang="en-US" sz="2800" dirty="0">
                <a:latin typeface="Calibir"/>
              </a:rPr>
              <a:t> </a:t>
            </a:r>
            <a:r>
              <a:rPr lang="en-US" sz="2800" dirty="0">
                <a:latin typeface="Calibir"/>
                <a:sym typeface="Wingdings" panose="05000000000000000000" pitchFamily="2" charset="2"/>
              </a:rPr>
              <a:t> </a:t>
            </a:r>
            <a:r>
              <a:rPr lang="en-US" sz="2800" dirty="0">
                <a:latin typeface="Calibir"/>
              </a:rPr>
              <a:t>Amount $200.20 deposited</a:t>
            </a:r>
          </a:p>
        </p:txBody>
      </p:sp>
    </p:spTree>
    <p:extLst>
      <p:ext uri="{BB962C8B-B14F-4D97-AF65-F5344CB8AC3E}">
        <p14:creationId xmlns:p14="http://schemas.microsoft.com/office/powerpoint/2010/main" val="3236492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DA91DE06-E3C0-C182-2022-38D11D39F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3800A1-4A7B-0432-0303-489495C8641D}"/>
              </a:ext>
            </a:extLst>
          </p:cNvPr>
          <p:cNvSpPr txBox="1"/>
          <p:nvPr/>
        </p:nvSpPr>
        <p:spPr>
          <a:xfrm>
            <a:off x="0" y="184586"/>
            <a:ext cx="12192000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program does not yet </a:t>
            </a:r>
          </a:p>
          <a:p>
            <a:pPr marL="714375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maintain an account balance </a:t>
            </a:r>
          </a:p>
          <a:p>
            <a:pPr marL="714375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check whether enough money exists before withdrawal </a:t>
            </a:r>
          </a:p>
          <a:p>
            <a:pPr marL="714375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create Customer objects </a:t>
            </a:r>
          </a:p>
          <a:p>
            <a:pPr marL="714375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create Account objects </a:t>
            </a:r>
          </a:p>
          <a:p>
            <a:pPr marL="714375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record transactions </a:t>
            </a:r>
          </a:p>
          <a:p>
            <a:pPr marL="714375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save information to files </a:t>
            </a:r>
          </a:p>
          <a:p>
            <a:pPr marL="714375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provide a CLI menu </a:t>
            </a:r>
          </a:p>
          <a:p>
            <a:pPr marL="714375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provide a GUI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Those features can be introduced gradually.</a:t>
            </a:r>
          </a:p>
        </p:txBody>
      </p:sp>
    </p:spTree>
    <p:extLst>
      <p:ext uri="{BB962C8B-B14F-4D97-AF65-F5344CB8AC3E}">
        <p14:creationId xmlns:p14="http://schemas.microsoft.com/office/powerpoint/2010/main" val="32213627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D83DC5D0-BA70-AAEC-1E21-A78011335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921805-F7E4-577B-95FC-7619A18B52EE}"/>
              </a:ext>
            </a:extLst>
          </p:cNvPr>
          <p:cNvSpPr txBox="1"/>
          <p:nvPr/>
        </p:nvSpPr>
        <p:spPr>
          <a:xfrm>
            <a:off x="0" y="1"/>
            <a:ext cx="12188282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Short Student Q&amp;A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Q1. Why do we use float in Python and double in Java?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Because the amount may contain decimal values, such as $200.20.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Q2. Why don't we use an integer?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An integer cannot directly represent values such as 50.75.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Q3. What does STDIN mean?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Standard Input—the information entered through the keyboard in this exercise.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Q4. Why do we use two decimal places?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Money is normally displayed using two decimal places.</a:t>
            </a:r>
          </a:p>
        </p:txBody>
      </p:sp>
    </p:spTree>
    <p:extLst>
      <p:ext uri="{BB962C8B-B14F-4D97-AF65-F5344CB8AC3E}">
        <p14:creationId xmlns:p14="http://schemas.microsoft.com/office/powerpoint/2010/main" val="129845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E2E90C87-1EF8-E43F-3B24-18AF70951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EF400A-FEBD-243E-6F78-47F1D7191350}"/>
              </a:ext>
            </a:extLst>
          </p:cNvPr>
          <p:cNvSpPr txBox="1"/>
          <p:nvPr/>
        </p:nvSpPr>
        <p:spPr>
          <a:xfrm>
            <a:off x="3718" y="507751"/>
            <a:ext cx="12188282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Q5. What does .2f mean in Python?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Display a floating-point value to two decimal places.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Q6. What does %.2f mean in Java?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It also displays a floating-point value to two decimal places.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Q7. Does the current program actually deposit money into an account?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No. It currently reads and displays the amount only.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Q8. Why are we starting with such a simple program?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Because good software is normally developed incrementally: start with a small working solution, test it, and then add more functionality.</a:t>
            </a:r>
          </a:p>
        </p:txBody>
      </p:sp>
    </p:spTree>
    <p:extLst>
      <p:ext uri="{BB962C8B-B14F-4D97-AF65-F5344CB8AC3E}">
        <p14:creationId xmlns:p14="http://schemas.microsoft.com/office/powerpoint/2010/main" val="192427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91314F44-9204-B3F6-B9DE-C3D33119F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3771D3-575E-9B4B-2ABC-F7C926D9F651}"/>
              </a:ext>
            </a:extLst>
          </p:cNvPr>
          <p:cNvSpPr txBox="1"/>
          <p:nvPr/>
        </p:nvSpPr>
        <p:spPr>
          <a:xfrm>
            <a:off x="0" y="184586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libir"/>
              </a:rPr>
              <a:t>Lab 3 Key Takeaways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7909455-3832-B8D0-D372-2A1050812E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71"/>
          <a:stretch>
            <a:fillRect/>
          </a:stretch>
        </p:blipFill>
        <p:spPr>
          <a:xfrm>
            <a:off x="0" y="1011286"/>
            <a:ext cx="12192000" cy="5846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50191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A2D4ADB1-3A73-847E-D583-2F8E64AC7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74E422-4599-93E8-5C98-7FE8A3C198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09" t="57204" r="10335" b="1720"/>
          <a:stretch>
            <a:fillRect/>
          </a:stretch>
        </p:blipFill>
        <p:spPr>
          <a:xfrm>
            <a:off x="20258" y="1342102"/>
            <a:ext cx="12171742" cy="41737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72AB9A-C78F-CEA3-FF7E-C959FCD83594}"/>
              </a:ext>
            </a:extLst>
          </p:cNvPr>
          <p:cNvSpPr txBox="1"/>
          <p:nvPr/>
        </p:nvSpPr>
        <p:spPr>
          <a:xfrm>
            <a:off x="0" y="184586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libir"/>
              </a:rPr>
              <a:t>Lab 3 Key Takeaways</a:t>
            </a:r>
          </a:p>
        </p:txBody>
      </p:sp>
    </p:spTree>
    <p:extLst>
      <p:ext uri="{BB962C8B-B14F-4D97-AF65-F5344CB8AC3E}">
        <p14:creationId xmlns:p14="http://schemas.microsoft.com/office/powerpoint/2010/main" val="376602730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3FE0C017-4F14-E49E-A1AB-D1A1AE7B21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1130" y="0"/>
            <a:ext cx="11362267" cy="1109133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GB" dirty="0"/>
              <a:t>Lab 3 Exercises</a:t>
            </a:r>
            <a:endParaRPr dirty="0"/>
          </a:p>
        </p:txBody>
      </p:sp>
      <p:sp>
        <p:nvSpPr>
          <p:cNvPr id="13" name="Google Shape;351;p45">
            <a:extLst>
              <a:ext uri="{FF2B5EF4-FFF2-40B4-BE49-F238E27FC236}">
                <a16:creationId xmlns:a16="http://schemas.microsoft.com/office/drawing/2014/main" id="{A54F7399-0325-D592-E3BD-B74B580D26E3}"/>
              </a:ext>
            </a:extLst>
          </p:cNvPr>
          <p:cNvSpPr/>
          <p:nvPr/>
        </p:nvSpPr>
        <p:spPr>
          <a:xfrm>
            <a:off x="2744944" y="2956729"/>
            <a:ext cx="5870117" cy="3556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s-ES" sz="2400" kern="0" dirty="0">
                <a:solidFill>
                  <a:srgbClr val="000000"/>
                </a:solidFill>
                <a:latin typeface="Economica" panose="020B0604020202020204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x + y</a:t>
            </a:r>
          </a:p>
          <a:p>
            <a:pPr algn="ctr" defTabSz="1219170">
              <a:buClr>
                <a:srgbClr val="000000"/>
              </a:buClr>
            </a:pPr>
            <a:r>
              <a:rPr lang="es-ES" sz="2400" kern="0" dirty="0">
                <a:solidFill>
                  <a:srgbClr val="000000"/>
                </a:solidFill>
                <a:latin typeface="Economica" panose="020B0604020202020204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x - y   </a:t>
            </a:r>
          </a:p>
          <a:p>
            <a:pPr algn="ctr" defTabSz="1219170">
              <a:buClr>
                <a:srgbClr val="000000"/>
              </a:buClr>
            </a:pPr>
            <a:r>
              <a:rPr lang="es-ES" sz="2400" kern="0" dirty="0">
                <a:solidFill>
                  <a:srgbClr val="000000"/>
                </a:solidFill>
                <a:latin typeface="Economica" panose="020B0604020202020204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x / y</a:t>
            </a:r>
          </a:p>
          <a:p>
            <a:pPr algn="ctr" defTabSz="1219170">
              <a:buClr>
                <a:srgbClr val="000000"/>
              </a:buClr>
            </a:pPr>
            <a:r>
              <a:rPr lang="es-ES" sz="2400" kern="0" dirty="0">
                <a:solidFill>
                  <a:srgbClr val="000000"/>
                </a:solidFill>
                <a:latin typeface="Economica" panose="020B0604020202020204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x * y</a:t>
            </a:r>
          </a:p>
          <a:p>
            <a:pPr algn="ctr" defTabSz="1219170">
              <a:buClr>
                <a:srgbClr val="000000"/>
              </a:buClr>
            </a:pPr>
            <a:r>
              <a:rPr lang="es-ES" sz="2400" kern="0" dirty="0">
                <a:solidFill>
                  <a:srgbClr val="000000"/>
                </a:solidFill>
                <a:latin typeface="Economica" panose="020B0604020202020204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x % y + x / y</a:t>
            </a:r>
          </a:p>
          <a:p>
            <a:pPr algn="ctr" defTabSz="1219170">
              <a:buClr>
                <a:srgbClr val="000000"/>
              </a:buClr>
            </a:pP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(y</a:t>
            </a:r>
            <a:r>
              <a:rPr lang="en-GB" sz="2400" kern="0" baseline="3000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7 </a:t>
            </a: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+ 7/(√5 +x)) * (x</a:t>
            </a:r>
            <a:r>
              <a:rPr lang="en-GB" sz="2400" kern="0" baseline="3000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4 </a:t>
            </a: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% 5  + 2)</a:t>
            </a:r>
            <a:r>
              <a:rPr lang="es-ES" sz="2400" kern="0" dirty="0">
                <a:solidFill>
                  <a:srgbClr val="000000"/>
                </a:solidFill>
                <a:latin typeface="Economica" panose="020B0604020202020204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 </a:t>
            </a:r>
            <a:br>
              <a:rPr lang="en-GB" sz="1867" b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</a:br>
            <a:endParaRPr lang="en-GB" sz="1867" b="1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980C27-948C-5A74-3794-543E81ADB7CC}"/>
              </a:ext>
            </a:extLst>
          </p:cNvPr>
          <p:cNvSpPr txBox="1"/>
          <p:nvPr/>
        </p:nvSpPr>
        <p:spPr>
          <a:xfrm>
            <a:off x="508001" y="1109134"/>
            <a:ext cx="11004265" cy="1685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lnSpc>
                <a:spcPct val="150000"/>
              </a:lnSpc>
              <a:buClr>
                <a:srgbClr val="000000"/>
              </a:buClr>
            </a:pPr>
            <a:r>
              <a:rPr lang="en-US" sz="2400" b="1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Exercise: </a:t>
            </a: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Write a program to initialize two variables x to 4 and y to 2. Then print out the results of the following operations (format each result to 3 decimal points and print each result on a new line). </a:t>
            </a:r>
            <a:endParaRPr lang="en-US" sz="2400" kern="0" dirty="0">
              <a:solidFill>
                <a:srgbClr val="000000"/>
              </a:solidFill>
              <a:latin typeface="Economica" panose="020B060402020202020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767538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3FE0C017-4F14-E49E-A1AB-D1A1AE7B21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1109133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GB" dirty="0"/>
              <a:t>Lab 3 Exercises</a:t>
            </a:r>
            <a:endParaRPr dirty="0"/>
          </a:p>
        </p:txBody>
      </p:sp>
      <p:sp>
        <p:nvSpPr>
          <p:cNvPr id="13" name="Google Shape;351;p45">
            <a:extLst>
              <a:ext uri="{FF2B5EF4-FFF2-40B4-BE49-F238E27FC236}">
                <a16:creationId xmlns:a16="http://schemas.microsoft.com/office/drawing/2014/main" id="{A54F7399-0325-D592-E3BD-B74B580D26E3}"/>
              </a:ext>
            </a:extLst>
          </p:cNvPr>
          <p:cNvSpPr/>
          <p:nvPr/>
        </p:nvSpPr>
        <p:spPr>
          <a:xfrm>
            <a:off x="1641333" y="2199640"/>
            <a:ext cx="8737600" cy="3566069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457189" indent="-457189" defTabSz="1219170">
              <a:buClr>
                <a:srgbClr val="000000"/>
              </a:buClr>
              <a:buFont typeface="+mj-lt"/>
              <a:buAutoNum type="arabicPeriod"/>
            </a:pP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Read in the integer values of x and y from STDIN</a:t>
            </a:r>
          </a:p>
          <a:p>
            <a:pPr marL="457189" indent="-457189" defTabSz="1219170">
              <a:buClr>
                <a:srgbClr val="000000"/>
              </a:buClr>
              <a:buFont typeface="+mj-lt"/>
              <a:buAutoNum type="arabicPeriod"/>
            </a:pP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declare a variable z, and assign the result of x to the power of y to it </a:t>
            </a:r>
          </a:p>
          <a:p>
            <a:pPr marL="457189" indent="-457189" defTabSz="1219170">
              <a:buClr>
                <a:srgbClr val="000000"/>
              </a:buClr>
              <a:buFont typeface="+mj-lt"/>
              <a:buAutoNum type="arabicPeriod"/>
            </a:pP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declare a variable called ‘result’ and assign the square-root of z to it</a:t>
            </a:r>
          </a:p>
          <a:p>
            <a:pPr marL="457189" indent="-457189" defTabSz="1219170">
              <a:buClr>
                <a:srgbClr val="000000"/>
              </a:buClr>
              <a:buFont typeface="+mj-lt"/>
              <a:buAutoNum type="arabicPeriod"/>
            </a:pP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print the above results each on a new line (formatted to 2 decimal points) </a:t>
            </a:r>
            <a:br>
              <a:rPr lang="en-GB" sz="1867" b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</a:br>
            <a:endParaRPr lang="en-GB" sz="1867" b="1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980C27-948C-5A74-3794-543E81ADB7CC}"/>
              </a:ext>
            </a:extLst>
          </p:cNvPr>
          <p:cNvSpPr txBox="1"/>
          <p:nvPr/>
        </p:nvSpPr>
        <p:spPr>
          <a:xfrm>
            <a:off x="508001" y="1090507"/>
            <a:ext cx="11004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2400" b="1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Exercise: </a:t>
            </a: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Write a program that completes the following operations:</a:t>
            </a:r>
            <a:endParaRPr lang="en-US" sz="2400" kern="0" dirty="0">
              <a:solidFill>
                <a:srgbClr val="000000"/>
              </a:solidFill>
              <a:latin typeface="Economica" panose="020B060402020202020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644033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FBB9D489-3E13-DB79-69C3-94FD147FC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EAF31B-AD36-261A-8C47-E363BABB8C4C}"/>
              </a:ext>
            </a:extLst>
          </p:cNvPr>
          <p:cNvSpPr txBox="1"/>
          <p:nvPr/>
        </p:nvSpPr>
        <p:spPr>
          <a:xfrm>
            <a:off x="0" y="0"/>
            <a:ext cx="12192000" cy="455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Powers and Square Roots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What are we trying to do?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The program should: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alibir"/>
              </a:rPr>
              <a:t>Read integer x.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alibir"/>
              </a:rPr>
              <a:t>Read integer y.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alibir"/>
              </a:rPr>
              <a:t>Calculate </a:t>
            </a:r>
            <a:r>
              <a:rPr lang="en-US" sz="2400" dirty="0" err="1">
                <a:latin typeface="Calibir"/>
              </a:rPr>
              <a:t>xy</a:t>
            </a:r>
            <a:r>
              <a:rPr lang="en-US" sz="2400" dirty="0">
                <a:latin typeface="Calibir"/>
              </a:rPr>
              <a:t> and store it in z.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alibir"/>
              </a:rPr>
              <a:t>Calculate z​ and store it in result.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alibir"/>
              </a:rPr>
              <a:t>Print z and result to 2 decimal places. </a:t>
            </a:r>
          </a:p>
        </p:txBody>
      </p:sp>
    </p:spTree>
    <p:extLst>
      <p:ext uri="{BB962C8B-B14F-4D97-AF65-F5344CB8AC3E}">
        <p14:creationId xmlns:p14="http://schemas.microsoft.com/office/powerpoint/2010/main" val="132331463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EF6B1C1E-71C1-D7B6-53CA-58A85C22A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C9F5EB-747B-5589-6BC6-08B93ECA894A}"/>
              </a:ext>
            </a:extLst>
          </p:cNvPr>
          <p:cNvSpPr txBox="1"/>
          <p:nvPr/>
        </p:nvSpPr>
        <p:spPr>
          <a:xfrm>
            <a:off x="0" y="-221226"/>
            <a:ext cx="12192000" cy="7241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For example, if: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x = 4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 = 2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then: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z = 4² = 16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result = √16 = 4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Python)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1 — Start with the basic input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x = int(input("Enter x: "))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y = int(input("Enter y: "))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Calibir"/>
              </a:rPr>
              <a:t>input() reads what the user types.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Calibir"/>
              </a:rPr>
              <a:t>int() converts the input to an integer.</a:t>
            </a:r>
            <a:endParaRPr 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36077847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81CF45D8-BCAC-BEAB-B115-5BCF050B2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2E80F3-FE81-8847-42E3-439CC02CDF5E}"/>
              </a:ext>
            </a:extLst>
          </p:cNvPr>
          <p:cNvSpPr txBox="1"/>
          <p:nvPr/>
        </p:nvSpPr>
        <p:spPr>
          <a:xfrm>
            <a:off x="0" y="0"/>
            <a:ext cx="12192000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2 — Calculate x to the power of y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Python uses ** for powers: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z = x ** y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For example: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4 ** 2 = 16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3 — Calculate the square root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First import the math module: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import math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Then: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result = </a:t>
            </a:r>
            <a:r>
              <a:rPr lang="en-US" sz="2800" dirty="0" err="1">
                <a:latin typeface="Calibir"/>
              </a:rPr>
              <a:t>math.sqrt</a:t>
            </a:r>
            <a:r>
              <a:rPr lang="en-US" sz="2800" dirty="0">
                <a:latin typeface="Calibir"/>
              </a:rPr>
              <a:t>(z)</a:t>
            </a:r>
          </a:p>
        </p:txBody>
      </p:sp>
    </p:spTree>
    <p:extLst>
      <p:ext uri="{BB962C8B-B14F-4D97-AF65-F5344CB8AC3E}">
        <p14:creationId xmlns:p14="http://schemas.microsoft.com/office/powerpoint/2010/main" val="202832668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24E024D7-5382-66D2-518F-4CD59FA33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35D686-E3DC-5EEB-FC21-687874E8D89A}"/>
              </a:ext>
            </a:extLst>
          </p:cNvPr>
          <p:cNvSpPr txBox="1"/>
          <p:nvPr/>
        </p:nvSpPr>
        <p:spPr>
          <a:xfrm>
            <a:off x="0" y="0"/>
            <a:ext cx="12192000" cy="6826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4 — Format the output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print(f"{z:.2f}")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print(f"{result:.2f}")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.2f means 2 decimal places.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5 — Completed Python solution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import math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x = int(input("Enter x: "))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y = int(input("Enter y: "))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z = x ** y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result = </a:t>
            </a:r>
            <a:r>
              <a:rPr lang="en-US" sz="2200" dirty="0" err="1">
                <a:latin typeface="Calibir"/>
              </a:rPr>
              <a:t>math.sqrt</a:t>
            </a:r>
            <a:r>
              <a:rPr lang="en-US" sz="2200" dirty="0">
                <a:latin typeface="Calibir"/>
              </a:rPr>
              <a:t>(z)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print(f"{z:.2f}")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print(f"{result:.2f}")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5F5B39-47CF-FDF8-B58F-2B0D27986B3B}"/>
              </a:ext>
            </a:extLst>
          </p:cNvPr>
          <p:cNvSpPr txBox="1"/>
          <p:nvPr/>
        </p:nvSpPr>
        <p:spPr>
          <a:xfrm>
            <a:off x="9807678" y="3569182"/>
            <a:ext cx="2384322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Enter x: 4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Enter y: 2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16.00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4.00</a:t>
            </a:r>
          </a:p>
        </p:txBody>
      </p:sp>
    </p:spTree>
    <p:extLst>
      <p:ext uri="{BB962C8B-B14F-4D97-AF65-F5344CB8AC3E}">
        <p14:creationId xmlns:p14="http://schemas.microsoft.com/office/powerpoint/2010/main" val="115255957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4C53AF79-3501-7896-6219-4F8D9E5DB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9672AA-BF2A-FE36-9BE4-24503FD1ECD4}"/>
              </a:ext>
            </a:extLst>
          </p:cNvPr>
          <p:cNvSpPr txBox="1"/>
          <p:nvPr/>
        </p:nvSpPr>
        <p:spPr>
          <a:xfrm>
            <a:off x="0" y="0"/>
            <a:ext cx="12192000" cy="668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highlight>
                  <a:srgbClr val="FFFF00"/>
                </a:highlight>
                <a:latin typeface="Calibir"/>
              </a:rPr>
              <a:t>JAVA) </a:t>
            </a:r>
            <a:r>
              <a:rPr lang="en-US" sz="2400" b="1" dirty="0">
                <a:latin typeface="Calibir"/>
              </a:rPr>
              <a:t>Step 1 — Create the program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import </a:t>
            </a:r>
            <a:r>
              <a:rPr lang="en-US" sz="2400" dirty="0" err="1">
                <a:latin typeface="Calibir"/>
              </a:rPr>
              <a:t>java.util.Scanner</a:t>
            </a:r>
            <a:r>
              <a:rPr lang="en-US" sz="2400" dirty="0">
                <a:latin typeface="Calibir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public class Exercise2 {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public static void main(String[] </a:t>
            </a:r>
            <a:r>
              <a:rPr lang="en-US" sz="2400" dirty="0" err="1">
                <a:latin typeface="Calibir"/>
              </a:rPr>
              <a:t>args</a:t>
            </a:r>
            <a:r>
              <a:rPr lang="en-US" sz="2400" dirty="0">
                <a:latin typeface="Calibir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    Scanner input = new Scanner(System.in);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Step 2 — Read x and y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Calibir"/>
              </a:rPr>
              <a:t>System.out.print</a:t>
            </a:r>
            <a:r>
              <a:rPr lang="en-US" sz="2400" dirty="0">
                <a:latin typeface="Calibir"/>
              </a:rPr>
              <a:t>("Enter x: ");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int x = </a:t>
            </a:r>
            <a:r>
              <a:rPr lang="en-US" sz="2400" dirty="0" err="1">
                <a:latin typeface="Calibir"/>
              </a:rPr>
              <a:t>input.nextInt</a:t>
            </a:r>
            <a:r>
              <a:rPr lang="en-US" sz="2400" dirty="0"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Calibir"/>
              </a:rPr>
              <a:t>System.out.print</a:t>
            </a:r>
            <a:r>
              <a:rPr lang="en-US" sz="2400" dirty="0">
                <a:latin typeface="Calibir"/>
              </a:rPr>
              <a:t>("Enter y: ");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int y = </a:t>
            </a:r>
            <a:r>
              <a:rPr lang="en-US" sz="2400" dirty="0" err="1">
                <a:latin typeface="Calibir"/>
              </a:rPr>
              <a:t>input.nextInt</a:t>
            </a:r>
            <a:r>
              <a:rPr lang="en-US" sz="2400" dirty="0">
                <a:latin typeface="Calibir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87524783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44935953-D6B7-EF01-DAC8-486442D32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28AEBA-E958-E3B2-EABE-858360724C6B}"/>
              </a:ext>
            </a:extLst>
          </p:cNvPr>
          <p:cNvSpPr txBox="1"/>
          <p:nvPr/>
        </p:nvSpPr>
        <p:spPr>
          <a:xfrm>
            <a:off x="0" y="0"/>
            <a:ext cx="12192000" cy="612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Step 3 — Calculate the power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Java uses </a:t>
            </a:r>
            <a:r>
              <a:rPr lang="en-US" sz="2400" dirty="0" err="1">
                <a:latin typeface="Calibir"/>
              </a:rPr>
              <a:t>Math.pow</a:t>
            </a:r>
            <a:r>
              <a:rPr lang="en-US" sz="2400" dirty="0">
                <a:latin typeface="Calibir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double z = </a:t>
            </a:r>
            <a:r>
              <a:rPr lang="en-US" sz="2400" dirty="0" err="1">
                <a:latin typeface="Calibir"/>
              </a:rPr>
              <a:t>Math.pow</a:t>
            </a:r>
            <a:r>
              <a:rPr lang="en-US" sz="2400" dirty="0">
                <a:latin typeface="Calibir"/>
              </a:rPr>
              <a:t>(x, y);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Remember: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x ^ y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does not mean power in Java.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Step 4 — Calculate the square root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double result = </a:t>
            </a:r>
            <a:r>
              <a:rPr lang="en-US" sz="2400" dirty="0" err="1">
                <a:latin typeface="Calibir"/>
              </a:rPr>
              <a:t>Math.sqrt</a:t>
            </a:r>
            <a:r>
              <a:rPr lang="en-US" sz="2400" dirty="0">
                <a:latin typeface="Calibir"/>
              </a:rPr>
              <a:t>(z);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Step 5 — Print to 2 decimal places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Calibir"/>
              </a:rPr>
              <a:t>System.out.printf</a:t>
            </a:r>
            <a:r>
              <a:rPr lang="en-US" sz="2400" dirty="0">
                <a:latin typeface="Calibir"/>
              </a:rPr>
              <a:t>("%.2f%n", z);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Calibir"/>
              </a:rPr>
              <a:t>System.out.printf</a:t>
            </a:r>
            <a:r>
              <a:rPr lang="en-US" sz="2400" dirty="0">
                <a:latin typeface="Calibir"/>
              </a:rPr>
              <a:t>("%.2f%n", result);</a:t>
            </a:r>
          </a:p>
        </p:txBody>
      </p:sp>
    </p:spTree>
    <p:extLst>
      <p:ext uri="{BB962C8B-B14F-4D97-AF65-F5344CB8AC3E}">
        <p14:creationId xmlns:p14="http://schemas.microsoft.com/office/powerpoint/2010/main" val="197790807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9BA78BEA-B5D8-51A3-77F1-567EB9A36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CFC0AA-464A-9087-297B-90D0EBD816E5}"/>
              </a:ext>
            </a:extLst>
          </p:cNvPr>
          <p:cNvSpPr txBox="1"/>
          <p:nvPr/>
        </p:nvSpPr>
        <p:spPr>
          <a:xfrm>
            <a:off x="0" y="-147480"/>
            <a:ext cx="12192000" cy="7133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Step 6 — Completed Java solution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Calibir"/>
              </a:rPr>
              <a:t>import </a:t>
            </a:r>
            <a:r>
              <a:rPr lang="en-US" sz="1900" dirty="0" err="1">
                <a:latin typeface="Calibir"/>
              </a:rPr>
              <a:t>java.util.Scanner</a:t>
            </a:r>
            <a:r>
              <a:rPr lang="en-US" sz="1900" dirty="0">
                <a:latin typeface="Calibir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Calibir"/>
              </a:rPr>
              <a:t>public class Exercise2 {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Calibir"/>
              </a:rPr>
              <a:t>    public static void main(String[] </a:t>
            </a:r>
            <a:r>
              <a:rPr lang="en-US" sz="1900" dirty="0" err="1">
                <a:latin typeface="Calibir"/>
              </a:rPr>
              <a:t>args</a:t>
            </a:r>
            <a:r>
              <a:rPr lang="en-US" sz="1900" dirty="0">
                <a:latin typeface="Calibir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Calibir"/>
              </a:rPr>
              <a:t>        Scanner input = new Scanner(System.in);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Calibir"/>
              </a:rPr>
              <a:t>        </a:t>
            </a:r>
            <a:r>
              <a:rPr lang="en-US" sz="1900" dirty="0" err="1">
                <a:latin typeface="Calibir"/>
              </a:rPr>
              <a:t>System.out.print</a:t>
            </a:r>
            <a:r>
              <a:rPr lang="en-US" sz="1900" dirty="0">
                <a:latin typeface="Calibir"/>
              </a:rPr>
              <a:t>("Enter x: ");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Calibir"/>
              </a:rPr>
              <a:t>        int x = </a:t>
            </a:r>
            <a:r>
              <a:rPr lang="en-US" sz="1900" dirty="0" err="1">
                <a:latin typeface="Calibir"/>
              </a:rPr>
              <a:t>input.nextInt</a:t>
            </a:r>
            <a:r>
              <a:rPr lang="en-US" sz="1900" dirty="0"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Calibir"/>
              </a:rPr>
              <a:t>        </a:t>
            </a:r>
            <a:r>
              <a:rPr lang="en-US" sz="1900" dirty="0" err="1">
                <a:latin typeface="Calibir"/>
              </a:rPr>
              <a:t>System.out.print</a:t>
            </a:r>
            <a:r>
              <a:rPr lang="en-US" sz="1900" dirty="0">
                <a:latin typeface="Calibir"/>
              </a:rPr>
              <a:t>("Enter y: ");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Calibir"/>
              </a:rPr>
              <a:t>        int y = </a:t>
            </a:r>
            <a:r>
              <a:rPr lang="en-US" sz="1900" dirty="0" err="1">
                <a:latin typeface="Calibir"/>
              </a:rPr>
              <a:t>input.nextInt</a:t>
            </a:r>
            <a:r>
              <a:rPr lang="en-US" sz="1900" dirty="0"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Calibir"/>
              </a:rPr>
              <a:t>        double z = </a:t>
            </a:r>
            <a:r>
              <a:rPr lang="en-US" sz="1900" dirty="0" err="1">
                <a:latin typeface="Calibir"/>
              </a:rPr>
              <a:t>Math.pow</a:t>
            </a:r>
            <a:r>
              <a:rPr lang="en-US" sz="1900" dirty="0">
                <a:latin typeface="Calibir"/>
              </a:rPr>
              <a:t>(x, y);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Calibir"/>
              </a:rPr>
              <a:t>        double result = </a:t>
            </a:r>
            <a:r>
              <a:rPr lang="en-US" sz="1900" dirty="0" err="1">
                <a:latin typeface="Calibir"/>
              </a:rPr>
              <a:t>Math.sqrt</a:t>
            </a:r>
            <a:r>
              <a:rPr lang="en-US" sz="1900" dirty="0">
                <a:latin typeface="Calibir"/>
              </a:rPr>
              <a:t>(z);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Calibir"/>
              </a:rPr>
              <a:t>        </a:t>
            </a:r>
            <a:r>
              <a:rPr lang="en-US" sz="1900" dirty="0" err="1">
                <a:latin typeface="Calibir"/>
              </a:rPr>
              <a:t>System.out.printf</a:t>
            </a:r>
            <a:r>
              <a:rPr lang="en-US" sz="1900" dirty="0">
                <a:latin typeface="Calibir"/>
              </a:rPr>
              <a:t>("%.2f%n", z);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Calibir"/>
              </a:rPr>
              <a:t>        </a:t>
            </a:r>
            <a:r>
              <a:rPr lang="en-US" sz="1900" dirty="0" err="1">
                <a:latin typeface="Calibir"/>
              </a:rPr>
              <a:t>System.out.printf</a:t>
            </a:r>
            <a:r>
              <a:rPr lang="en-US" sz="1900" dirty="0">
                <a:latin typeface="Calibir"/>
              </a:rPr>
              <a:t>("%.2f%n", result);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Calibir"/>
              </a:rPr>
              <a:t>        </a:t>
            </a:r>
            <a:r>
              <a:rPr lang="en-US" sz="1900" dirty="0" err="1">
                <a:latin typeface="Calibir"/>
              </a:rPr>
              <a:t>input.close</a:t>
            </a:r>
            <a:r>
              <a:rPr lang="en-US" sz="1900" dirty="0"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Calibir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6CFF26-E22C-1ED8-6564-4F7FC841BF34}"/>
              </a:ext>
            </a:extLst>
          </p:cNvPr>
          <p:cNvSpPr txBox="1"/>
          <p:nvPr/>
        </p:nvSpPr>
        <p:spPr>
          <a:xfrm>
            <a:off x="5298359" y="2129810"/>
            <a:ext cx="6142702" cy="207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Q: What is the difference between </a:t>
            </a:r>
            <a:r>
              <a:rPr lang="en-US" sz="2200" b="1" dirty="0" err="1">
                <a:latin typeface="Calibir"/>
              </a:rPr>
              <a:t>Math.pow</a:t>
            </a:r>
            <a:r>
              <a:rPr lang="en-US" sz="2200" b="1" dirty="0">
                <a:latin typeface="Calibir"/>
              </a:rPr>
              <a:t>() and </a:t>
            </a:r>
            <a:r>
              <a:rPr lang="en-US" sz="2200" b="1" dirty="0" err="1">
                <a:latin typeface="Calibir"/>
              </a:rPr>
              <a:t>Math.sqrt</a:t>
            </a:r>
            <a:r>
              <a:rPr lang="en-US" sz="2200" b="1" dirty="0">
                <a:latin typeface="Calibir"/>
              </a:rPr>
              <a:t>()?</a:t>
            </a:r>
          </a:p>
          <a:p>
            <a:pPr>
              <a:lnSpc>
                <a:spcPct val="150000"/>
              </a:lnSpc>
            </a:pPr>
            <a:r>
              <a:rPr lang="en-US" sz="2200" dirty="0" err="1">
                <a:latin typeface="Calibir"/>
              </a:rPr>
              <a:t>Math.pow</a:t>
            </a:r>
            <a:r>
              <a:rPr lang="en-US" sz="2200" dirty="0">
                <a:latin typeface="Calibir"/>
              </a:rPr>
              <a:t>() calculates a power, while </a:t>
            </a:r>
            <a:r>
              <a:rPr lang="en-US" sz="2200" dirty="0" err="1">
                <a:latin typeface="Calibir"/>
              </a:rPr>
              <a:t>Math.sqrt</a:t>
            </a:r>
            <a:r>
              <a:rPr lang="en-US" sz="2200" dirty="0">
                <a:latin typeface="Calibir"/>
              </a:rPr>
              <a:t>() calculates a square root.</a:t>
            </a:r>
          </a:p>
        </p:txBody>
      </p:sp>
    </p:spTree>
    <p:extLst>
      <p:ext uri="{BB962C8B-B14F-4D97-AF65-F5344CB8AC3E}">
        <p14:creationId xmlns:p14="http://schemas.microsoft.com/office/powerpoint/2010/main" val="4007480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3FE0C017-4F14-E49E-A1AB-D1A1AE7B21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6933" y="0"/>
            <a:ext cx="11362267" cy="1109133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GB" dirty="0"/>
              <a:t>Lab 3 Exercises</a:t>
            </a:r>
            <a:endParaRPr dirty="0"/>
          </a:p>
        </p:txBody>
      </p:sp>
      <p:sp>
        <p:nvSpPr>
          <p:cNvPr id="13" name="Google Shape;351;p45">
            <a:extLst>
              <a:ext uri="{FF2B5EF4-FFF2-40B4-BE49-F238E27FC236}">
                <a16:creationId xmlns:a16="http://schemas.microsoft.com/office/drawing/2014/main" id="{A54F7399-0325-D592-E3BD-B74B580D26E3}"/>
              </a:ext>
            </a:extLst>
          </p:cNvPr>
          <p:cNvSpPr/>
          <p:nvPr/>
        </p:nvSpPr>
        <p:spPr>
          <a:xfrm>
            <a:off x="1930400" y="2683461"/>
            <a:ext cx="8026400" cy="2361505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457189" indent="-457189" defTabSz="1219170">
              <a:buClr>
                <a:srgbClr val="000000"/>
              </a:buClr>
              <a:buFont typeface="+mj-lt"/>
              <a:buAutoNum type="arabicPeriod"/>
            </a:pP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Enter circle radius:  </a:t>
            </a:r>
            <a:r>
              <a:rPr lang="en-GB" sz="2400" kern="0" dirty="0">
                <a:solidFill>
                  <a:srgbClr val="F79646">
                    <a:lumMod val="75000"/>
                  </a:srgbClr>
                </a:solidFill>
                <a:latin typeface="Economica" panose="020B0604020202020204" charset="0"/>
                <a:cs typeface="Arial"/>
                <a:sym typeface="Arial"/>
              </a:rPr>
              <a:t>r</a:t>
            </a:r>
          </a:p>
          <a:p>
            <a:pPr marL="457189" indent="-457189" defTabSz="1219170">
              <a:buClr>
                <a:srgbClr val="000000"/>
              </a:buClr>
              <a:buFont typeface="+mj-lt"/>
              <a:buAutoNum type="arabicPeriod"/>
            </a:pPr>
            <a:r>
              <a:rPr lang="en-GB" sz="2400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Circumference of radius “</a:t>
            </a:r>
            <a:r>
              <a:rPr lang="en-GB" sz="2400" kern="0" dirty="0">
                <a:solidFill>
                  <a:srgbClr val="F79646">
                    <a:lumMod val="75000"/>
                  </a:srgbClr>
                </a:solidFill>
                <a:latin typeface="Economica" panose="020B0604020202020204" charset="0"/>
                <a:cs typeface="Arial"/>
                <a:sym typeface="Arial"/>
              </a:rPr>
              <a:t>value of radius</a:t>
            </a:r>
            <a:r>
              <a:rPr lang="en-GB" sz="2400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” is: </a:t>
            </a:r>
            <a:r>
              <a:rPr lang="en-GB" sz="2400" kern="0" dirty="0">
                <a:solidFill>
                  <a:srgbClr val="F79646">
                    <a:lumMod val="75000"/>
                  </a:srgbClr>
                </a:solidFill>
                <a:latin typeface="Economica" panose="020B0604020202020204" charset="0"/>
                <a:cs typeface="Arial"/>
                <a:sym typeface="Arial"/>
              </a:rPr>
              <a:t>circumference</a:t>
            </a:r>
          </a:p>
          <a:p>
            <a:pPr marL="457189" indent="-457189" defTabSz="1219170">
              <a:buClr>
                <a:srgbClr val="000000"/>
              </a:buClr>
              <a:buFont typeface="+mj-lt"/>
              <a:buAutoNum type="arabicPeriod"/>
            </a:pP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Circle area of radius “</a:t>
            </a:r>
            <a:r>
              <a:rPr lang="en-GB" sz="2400" kern="0" dirty="0">
                <a:solidFill>
                  <a:srgbClr val="F79646">
                    <a:lumMod val="75000"/>
                  </a:srgbClr>
                </a:solidFill>
                <a:latin typeface="Economica" panose="020B0604020202020204" charset="0"/>
                <a:cs typeface="Arial"/>
                <a:sym typeface="Arial"/>
              </a:rPr>
              <a:t>value of radius</a:t>
            </a: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” </a:t>
            </a:r>
            <a:r>
              <a:rPr lang="en-GB" sz="2400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is:</a:t>
            </a:r>
            <a:r>
              <a:rPr lang="en-GB" sz="2400" kern="0" dirty="0">
                <a:solidFill>
                  <a:srgbClr val="F79646">
                    <a:lumMod val="75000"/>
                  </a:srgbClr>
                </a:solidFill>
                <a:latin typeface="Economica" panose="020B0604020202020204" charset="0"/>
                <a:cs typeface="Arial"/>
                <a:sym typeface="Arial"/>
              </a:rPr>
              <a:t> area</a:t>
            </a:r>
          </a:p>
          <a:p>
            <a:pPr marL="457189" indent="-457189" defTabSz="1219170">
              <a:buClr>
                <a:srgbClr val="000000"/>
              </a:buClr>
              <a:buFont typeface="+mj-lt"/>
              <a:buAutoNum type="arabicPeriod"/>
            </a:pP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Sphere volume of radius “</a:t>
            </a:r>
            <a:r>
              <a:rPr lang="en-GB" sz="2400" kern="0" dirty="0">
                <a:solidFill>
                  <a:srgbClr val="F79646">
                    <a:lumMod val="75000"/>
                  </a:srgbClr>
                </a:solidFill>
                <a:latin typeface="Economica" panose="020B0604020202020204" charset="0"/>
                <a:cs typeface="Arial"/>
                <a:sym typeface="Arial"/>
              </a:rPr>
              <a:t>value of radius</a:t>
            </a: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” is: </a:t>
            </a:r>
            <a:r>
              <a:rPr lang="en-GB" sz="2400" kern="0" dirty="0">
                <a:solidFill>
                  <a:srgbClr val="F79646">
                    <a:lumMod val="75000"/>
                  </a:srgbClr>
                </a:solidFill>
                <a:latin typeface="Economica" panose="020B0604020202020204" charset="0"/>
                <a:cs typeface="Arial"/>
                <a:sym typeface="Arial"/>
              </a:rPr>
              <a:t>volume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980C27-948C-5A74-3794-543E81ADB7CC}"/>
              </a:ext>
            </a:extLst>
          </p:cNvPr>
          <p:cNvSpPr txBox="1"/>
          <p:nvPr/>
        </p:nvSpPr>
        <p:spPr>
          <a:xfrm>
            <a:off x="374936" y="1316715"/>
            <a:ext cx="110042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2400" b="1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Exercise: </a:t>
            </a: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Write a program that outputs the following and determines the area and volume:</a:t>
            </a:r>
            <a:endParaRPr lang="en-US" sz="2400" kern="0" dirty="0">
              <a:solidFill>
                <a:srgbClr val="000000"/>
              </a:solidFill>
              <a:latin typeface="Economica" panose="020B0604020202020204" charset="0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58D7DF-A085-4A5D-7FAE-9F586F3D94A5}"/>
              </a:ext>
            </a:extLst>
          </p:cNvPr>
          <p:cNvSpPr txBox="1"/>
          <p:nvPr/>
        </p:nvSpPr>
        <p:spPr>
          <a:xfrm>
            <a:off x="688428" y="5267352"/>
            <a:ext cx="10815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2400" b="1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NOTE: </a:t>
            </a: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The value of the radius must be printed between double quotes</a:t>
            </a:r>
          </a:p>
          <a:p>
            <a:pPr defTabSz="1219170">
              <a:buClr>
                <a:srgbClr val="000000"/>
              </a:buClr>
            </a:pPr>
            <a:r>
              <a:rPr lang="en-GB" sz="2400" b="1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NOTE: </a:t>
            </a: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all values should be formatted to 2 decimal points </a:t>
            </a:r>
            <a:endParaRPr lang="en-US" sz="2400" kern="0" dirty="0">
              <a:solidFill>
                <a:srgbClr val="000000"/>
              </a:solidFill>
              <a:latin typeface="Economica" panose="020B060402020202020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977789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FFCD500C-0843-6F97-9577-724306E8D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D4BCDE-08FF-75D8-BB29-EF35FF5D8DE2}"/>
              </a:ext>
            </a:extLst>
          </p:cNvPr>
          <p:cNvSpPr txBox="1"/>
          <p:nvPr/>
        </p:nvSpPr>
        <p:spPr>
          <a:xfrm>
            <a:off x="0" y="-1"/>
            <a:ext cx="12192000" cy="612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Circle and Sphere Calculations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What are we trying to calculate?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For radius r: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Circumference=2πr    Area=πr^2   Volume=4/3​πr^3 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The radius must also appear inside double quotation marks in the output.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Python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Step 1 — Import math and read the radius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import math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r = float(input("Enter circle radius: "))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We use float because the radius might be: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2.5</a:t>
            </a:r>
          </a:p>
        </p:txBody>
      </p:sp>
    </p:spTree>
    <p:extLst>
      <p:ext uri="{BB962C8B-B14F-4D97-AF65-F5344CB8AC3E}">
        <p14:creationId xmlns:p14="http://schemas.microsoft.com/office/powerpoint/2010/main" val="180854347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AB4A87C7-217E-FDAB-3CA1-97DC81433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A46170-4E83-8A97-1A6B-5D9CCCB5FDFF}"/>
              </a:ext>
            </a:extLst>
          </p:cNvPr>
          <p:cNvSpPr txBox="1"/>
          <p:nvPr/>
        </p:nvSpPr>
        <p:spPr>
          <a:xfrm>
            <a:off x="0" y="641474"/>
            <a:ext cx="12192000" cy="5575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Step 2 — Calculate circumference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circumference = 2 * </a:t>
            </a:r>
            <a:r>
              <a:rPr lang="en-US" sz="2400" dirty="0" err="1">
                <a:latin typeface="Calibir"/>
              </a:rPr>
              <a:t>math.pi</a:t>
            </a:r>
            <a:r>
              <a:rPr lang="en-US" sz="2400" dirty="0">
                <a:latin typeface="Calibir"/>
              </a:rPr>
              <a:t> * r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Step 3 — Calculate area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area = </a:t>
            </a:r>
            <a:r>
              <a:rPr lang="en-US" sz="2400" dirty="0" err="1">
                <a:latin typeface="Calibir"/>
              </a:rPr>
              <a:t>math.pi</a:t>
            </a:r>
            <a:r>
              <a:rPr lang="en-US" sz="2400" dirty="0">
                <a:latin typeface="Calibir"/>
              </a:rPr>
              <a:t> * r ** 2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Step 4 — Calculate sphere volume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volume = (4 / 3) * </a:t>
            </a:r>
            <a:r>
              <a:rPr lang="en-US" sz="2400" dirty="0" err="1">
                <a:latin typeface="Calibir"/>
              </a:rPr>
              <a:t>math.pi</a:t>
            </a:r>
            <a:r>
              <a:rPr lang="en-US" sz="2400" dirty="0">
                <a:latin typeface="Calibir"/>
              </a:rPr>
              <a:t> * r ** 3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Step 5 — Produce the required output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To put the radius inside quotation marks: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print(</a:t>
            </a:r>
            <a:r>
              <a:rPr lang="en-US" sz="2400" dirty="0" err="1">
                <a:latin typeface="Calibir"/>
              </a:rPr>
              <a:t>f'Circumference</a:t>
            </a:r>
            <a:r>
              <a:rPr lang="en-US" sz="2400" dirty="0">
                <a:latin typeface="Calibir"/>
              </a:rPr>
              <a:t> of radius "{r:.2f}" is: {circumference:.2f}')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Notice that the outer quotation marks are ' ' so we can easily display " " inside them.</a:t>
            </a:r>
          </a:p>
        </p:txBody>
      </p:sp>
    </p:spTree>
    <p:extLst>
      <p:ext uri="{BB962C8B-B14F-4D97-AF65-F5344CB8AC3E}">
        <p14:creationId xmlns:p14="http://schemas.microsoft.com/office/powerpoint/2010/main" val="415413433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7FA91E74-DCD9-3554-8C7F-5307A6A78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0EBC2B-3CE1-D9CB-0FCE-DDE91788FB0F}"/>
              </a:ext>
            </a:extLst>
          </p:cNvPr>
          <p:cNvSpPr txBox="1"/>
          <p:nvPr/>
        </p:nvSpPr>
        <p:spPr>
          <a:xfrm>
            <a:off x="0" y="641474"/>
            <a:ext cx="8185355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Step 6 — Completed Python solution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import math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r = float(input("Enter circle radius: "))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circumference = 2 *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math.pi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 * r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area =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math.pi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 * r ** 2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volume = (4 / 3) *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math.pi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 * r ** 3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print(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f'Circumference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 of radius "{r:.2f}" is: {circumference:.2f}')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print(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f'Circle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 area of radius "{r:.2f}" is: {area:.2f}')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print(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f'Sphere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 volume of radius "{r:.2f}" is: {volume:.2f}')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6E6B2F-06D0-5461-0D56-06A566DC277A}"/>
              </a:ext>
            </a:extLst>
          </p:cNvPr>
          <p:cNvSpPr txBox="1"/>
          <p:nvPr/>
        </p:nvSpPr>
        <p:spPr>
          <a:xfrm>
            <a:off x="8185355" y="1195472"/>
            <a:ext cx="4006645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For radius 2: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Enter circle radius: 2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Circumference of radius "2.00" is: 12.57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Circle area of radius "2.00" is: 12.57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Sphere volume of radius "2.00" is: 33.51</a:t>
            </a:r>
          </a:p>
        </p:txBody>
      </p:sp>
    </p:spTree>
    <p:extLst>
      <p:ext uri="{BB962C8B-B14F-4D97-AF65-F5344CB8AC3E}">
        <p14:creationId xmlns:p14="http://schemas.microsoft.com/office/powerpoint/2010/main" val="275826514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86951DB1-295B-33D5-990C-6EB15832F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218B6C-E847-41A9-4A21-B10773A1A3C7}"/>
              </a:ext>
            </a:extLst>
          </p:cNvPr>
          <p:cNvSpPr txBox="1"/>
          <p:nvPr/>
        </p:nvSpPr>
        <p:spPr>
          <a:xfrm>
            <a:off x="0" y="0"/>
            <a:ext cx="7433187" cy="668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Java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Step 1 — Read the radius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Scanner input = new Scanner(System.in);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Calibir"/>
              </a:rPr>
              <a:t>System.out.print</a:t>
            </a:r>
            <a:r>
              <a:rPr lang="en-US" sz="2400" dirty="0">
                <a:latin typeface="Calibir"/>
              </a:rPr>
              <a:t>("Enter circle radius: ");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double r = </a:t>
            </a:r>
            <a:r>
              <a:rPr lang="en-US" sz="2400" dirty="0" err="1">
                <a:latin typeface="Calibir"/>
              </a:rPr>
              <a:t>input.nextDouble</a:t>
            </a:r>
            <a:r>
              <a:rPr lang="en-US" sz="2400" dirty="0"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Step 2 — Calculate the three values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double circumference = 2 * </a:t>
            </a:r>
            <a:r>
              <a:rPr lang="en-US" sz="2400" dirty="0" err="1">
                <a:latin typeface="Calibir"/>
              </a:rPr>
              <a:t>Math.PI</a:t>
            </a:r>
            <a:r>
              <a:rPr lang="en-US" sz="2400" dirty="0">
                <a:latin typeface="Calibir"/>
              </a:rPr>
              <a:t> * r;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double area = </a:t>
            </a:r>
            <a:r>
              <a:rPr lang="en-US" sz="2400" dirty="0" err="1">
                <a:latin typeface="Calibir"/>
              </a:rPr>
              <a:t>Math.PI</a:t>
            </a:r>
            <a:r>
              <a:rPr lang="en-US" sz="2400" dirty="0">
                <a:latin typeface="Calibir"/>
              </a:rPr>
              <a:t> * </a:t>
            </a:r>
            <a:r>
              <a:rPr lang="en-US" sz="2400" dirty="0" err="1">
                <a:latin typeface="Calibir"/>
              </a:rPr>
              <a:t>Math.pow</a:t>
            </a:r>
            <a:r>
              <a:rPr lang="en-US" sz="2400" dirty="0">
                <a:latin typeface="Calibir"/>
              </a:rPr>
              <a:t>(r, 2);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double volume = (4.0 / 3.0) * </a:t>
            </a:r>
            <a:r>
              <a:rPr lang="en-US" sz="2400" dirty="0" err="1">
                <a:latin typeface="Calibir"/>
              </a:rPr>
              <a:t>Math.PI</a:t>
            </a:r>
            <a:r>
              <a:rPr lang="en-US" sz="2400" dirty="0">
                <a:latin typeface="Calibir"/>
              </a:rPr>
              <a:t> * </a:t>
            </a:r>
            <a:r>
              <a:rPr lang="en-US" sz="2400" dirty="0" err="1">
                <a:latin typeface="Calibir"/>
              </a:rPr>
              <a:t>Math.pow</a:t>
            </a:r>
            <a:r>
              <a:rPr lang="en-US" sz="2400" dirty="0">
                <a:latin typeface="Calibir"/>
              </a:rPr>
              <a:t>(r, 3);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A useful point is: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4.0 / 3.0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rather than relying on integer division.</a:t>
            </a:r>
          </a:p>
        </p:txBody>
      </p:sp>
    </p:spTree>
    <p:extLst>
      <p:ext uri="{BB962C8B-B14F-4D97-AF65-F5344CB8AC3E}">
        <p14:creationId xmlns:p14="http://schemas.microsoft.com/office/powerpoint/2010/main" val="100905622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BF4398B2-16A2-8CF0-6FCB-EE570BA00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3EC807-B93F-7F50-0F37-DE6D5145F87F}"/>
              </a:ext>
            </a:extLst>
          </p:cNvPr>
          <p:cNvSpPr txBox="1"/>
          <p:nvPr/>
        </p:nvSpPr>
        <p:spPr>
          <a:xfrm>
            <a:off x="0" y="-221943"/>
            <a:ext cx="7787148" cy="7265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Step 3 — Completed Java solution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import </a:t>
            </a:r>
            <a:r>
              <a:rPr lang="en-US" sz="1200" dirty="0" err="1">
                <a:latin typeface="Calibir"/>
              </a:rPr>
              <a:t>java.util.Scanner</a:t>
            </a:r>
            <a:r>
              <a:rPr lang="en-US" sz="1200" dirty="0">
                <a:latin typeface="Calibir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public class Exercise3 {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public static void main(String[] </a:t>
            </a:r>
            <a:r>
              <a:rPr lang="en-US" sz="1200" dirty="0" err="1">
                <a:latin typeface="Calibir"/>
              </a:rPr>
              <a:t>args</a:t>
            </a:r>
            <a:r>
              <a:rPr lang="en-US" sz="1200" dirty="0">
                <a:latin typeface="Calibir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    Scanner input = new Scanner(System.in);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    </a:t>
            </a:r>
            <a:r>
              <a:rPr lang="en-US" sz="1200" dirty="0" err="1">
                <a:latin typeface="Calibir"/>
              </a:rPr>
              <a:t>System.out.print</a:t>
            </a:r>
            <a:r>
              <a:rPr lang="en-US" sz="1200" dirty="0">
                <a:latin typeface="Calibir"/>
              </a:rPr>
              <a:t>("Enter circle radius: ");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    double r = </a:t>
            </a:r>
            <a:r>
              <a:rPr lang="en-US" sz="1200" dirty="0" err="1">
                <a:latin typeface="Calibir"/>
              </a:rPr>
              <a:t>input.nextDouble</a:t>
            </a:r>
            <a:r>
              <a:rPr lang="en-US" sz="1200" dirty="0"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    double circumference = 2 * </a:t>
            </a:r>
            <a:r>
              <a:rPr lang="en-US" sz="1200" dirty="0" err="1">
                <a:latin typeface="Calibir"/>
              </a:rPr>
              <a:t>Math.PI</a:t>
            </a:r>
            <a:r>
              <a:rPr lang="en-US" sz="1200" dirty="0">
                <a:latin typeface="Calibir"/>
              </a:rPr>
              <a:t> * r;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    double area = </a:t>
            </a:r>
            <a:r>
              <a:rPr lang="en-US" sz="1200" dirty="0" err="1">
                <a:latin typeface="Calibir"/>
              </a:rPr>
              <a:t>Math.PI</a:t>
            </a:r>
            <a:r>
              <a:rPr lang="en-US" sz="1200" dirty="0">
                <a:latin typeface="Calibir"/>
              </a:rPr>
              <a:t> * </a:t>
            </a:r>
            <a:r>
              <a:rPr lang="en-US" sz="1200" dirty="0" err="1">
                <a:latin typeface="Calibir"/>
              </a:rPr>
              <a:t>Math.pow</a:t>
            </a:r>
            <a:r>
              <a:rPr lang="en-US" sz="1200" dirty="0">
                <a:latin typeface="Calibir"/>
              </a:rPr>
              <a:t>(r, 2);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    double volume = (4.0 / 3.0) * </a:t>
            </a:r>
            <a:r>
              <a:rPr lang="en-US" sz="1200" dirty="0" err="1">
                <a:latin typeface="Calibir"/>
              </a:rPr>
              <a:t>Math.PI</a:t>
            </a:r>
            <a:r>
              <a:rPr lang="en-US" sz="1200" dirty="0">
                <a:latin typeface="Calibir"/>
              </a:rPr>
              <a:t> * </a:t>
            </a:r>
            <a:r>
              <a:rPr lang="en-US" sz="1200" dirty="0" err="1">
                <a:latin typeface="Calibir"/>
              </a:rPr>
              <a:t>Math.pow</a:t>
            </a:r>
            <a:r>
              <a:rPr lang="en-US" sz="1200" dirty="0">
                <a:latin typeface="Calibir"/>
              </a:rPr>
              <a:t>(r, 3);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    </a:t>
            </a:r>
            <a:r>
              <a:rPr lang="en-US" sz="1200" dirty="0" err="1">
                <a:latin typeface="Calibir"/>
              </a:rPr>
              <a:t>System.out.printf</a:t>
            </a:r>
            <a:r>
              <a:rPr lang="en-US" sz="1200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        "Circumference of radius \"%.2f\" is: %.2f%n",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        r, circumference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    );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    </a:t>
            </a:r>
            <a:r>
              <a:rPr lang="en-US" sz="1200" dirty="0" err="1">
                <a:latin typeface="Calibir"/>
              </a:rPr>
              <a:t>System.out.printf</a:t>
            </a:r>
            <a:r>
              <a:rPr lang="en-US" sz="1200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        "Circle area of radius \"%.2f\" is: %.2f%n",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        r, area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    );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    </a:t>
            </a:r>
            <a:r>
              <a:rPr lang="en-US" sz="1200" dirty="0" err="1">
                <a:latin typeface="Calibir"/>
              </a:rPr>
              <a:t>System.out.printf</a:t>
            </a:r>
            <a:r>
              <a:rPr lang="en-US" sz="1200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        "Sphere volume of radius \"%.2f\" is: %.2f%n",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        r, volume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    );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    </a:t>
            </a:r>
            <a:r>
              <a:rPr lang="en-US" sz="1200" dirty="0" err="1">
                <a:latin typeface="Calibir"/>
              </a:rPr>
              <a:t>input.close</a:t>
            </a:r>
            <a:r>
              <a:rPr lang="en-US" sz="1200" dirty="0"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E128A4-3B85-5A99-4D22-B0529743F1B8}"/>
              </a:ext>
            </a:extLst>
          </p:cNvPr>
          <p:cNvSpPr txBox="1"/>
          <p:nvPr/>
        </p:nvSpPr>
        <p:spPr>
          <a:xfrm>
            <a:off x="6556917" y="1784195"/>
            <a:ext cx="5635082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Q: Why do we use </a:t>
            </a:r>
            <a:r>
              <a:rPr lang="en-US" sz="2800" b="1" dirty="0" err="1">
                <a:latin typeface="Calibir"/>
              </a:rPr>
              <a:t>Math.PI</a:t>
            </a:r>
            <a:r>
              <a:rPr lang="en-US" sz="2800" b="1" dirty="0">
                <a:latin typeface="Calibir"/>
              </a:rPr>
              <a:t> rather than typing 3.14?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Because </a:t>
            </a:r>
            <a:r>
              <a:rPr lang="en-US" sz="2800" dirty="0" err="1">
                <a:latin typeface="Calibir"/>
              </a:rPr>
              <a:t>Math.PI</a:t>
            </a:r>
            <a:r>
              <a:rPr lang="en-US" sz="2800" dirty="0">
                <a:latin typeface="Calibir"/>
              </a:rPr>
              <a:t> provides a more accurate value of π.</a:t>
            </a:r>
          </a:p>
        </p:txBody>
      </p:sp>
    </p:spTree>
    <p:extLst>
      <p:ext uri="{BB962C8B-B14F-4D97-AF65-F5344CB8AC3E}">
        <p14:creationId xmlns:p14="http://schemas.microsoft.com/office/powerpoint/2010/main" val="861084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3FE0C017-4F14-E49E-A1AB-D1A1AE7B21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6933" y="0"/>
            <a:ext cx="11362267" cy="1109133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GB" dirty="0"/>
              <a:t>Lab 3 Exercises</a:t>
            </a:r>
            <a:endParaRPr dirty="0"/>
          </a:p>
        </p:txBody>
      </p:sp>
      <p:sp>
        <p:nvSpPr>
          <p:cNvPr id="13" name="Google Shape;351;p45">
            <a:extLst>
              <a:ext uri="{FF2B5EF4-FFF2-40B4-BE49-F238E27FC236}">
                <a16:creationId xmlns:a16="http://schemas.microsoft.com/office/drawing/2014/main" id="{A54F7399-0325-D592-E3BD-B74B580D26E3}"/>
              </a:ext>
            </a:extLst>
          </p:cNvPr>
          <p:cNvSpPr/>
          <p:nvPr/>
        </p:nvSpPr>
        <p:spPr>
          <a:xfrm>
            <a:off x="1930400" y="2683461"/>
            <a:ext cx="8026400" cy="287914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457189" indent="-457189" defTabSz="1219170">
              <a:buClr>
                <a:srgbClr val="000000"/>
              </a:buClr>
              <a:buFont typeface="+mj-lt"/>
              <a:buAutoNum type="arabicPeriod"/>
            </a:pP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Please enter the x1 coordinate of point A: 1.0</a:t>
            </a:r>
          </a:p>
          <a:p>
            <a:pPr marL="457189" indent="-457189" defTabSz="1219170">
              <a:buClr>
                <a:srgbClr val="000000"/>
              </a:buClr>
              <a:buFont typeface="+mj-lt"/>
              <a:buAutoNum type="arabicPeriod"/>
            </a:pP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Please enter the y1 coordinate of point A: 2.0</a:t>
            </a:r>
          </a:p>
          <a:p>
            <a:pPr marL="457189" indent="-457189" defTabSz="1219170">
              <a:buClr>
                <a:srgbClr val="000000"/>
              </a:buClr>
              <a:buFont typeface="+mj-lt"/>
              <a:buAutoNum type="arabicPeriod"/>
            </a:pP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Please enter the x2 coordinate of point B: 3.0</a:t>
            </a:r>
          </a:p>
          <a:p>
            <a:pPr marL="457189" indent="-457189" defTabSz="1219170">
              <a:buClr>
                <a:srgbClr val="000000"/>
              </a:buClr>
              <a:buFont typeface="+mj-lt"/>
              <a:buAutoNum type="arabicPeriod"/>
            </a:pP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Please enter the y2 coordinate of point B: 4.0</a:t>
            </a:r>
          </a:p>
          <a:p>
            <a:pPr marL="457189" indent="-457189" defTabSz="1219170">
              <a:buClr>
                <a:srgbClr val="000000"/>
              </a:buClr>
              <a:buFont typeface="+mj-lt"/>
              <a:buAutoNum type="arabicPeriod"/>
            </a:pP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The distance between A(</a:t>
            </a:r>
            <a:r>
              <a:rPr lang="en-GB" sz="2400" kern="0" dirty="0">
                <a:solidFill>
                  <a:srgbClr val="F79646">
                    <a:lumMod val="75000"/>
                  </a:srgbClr>
                </a:solidFill>
                <a:latin typeface="Economica" panose="020B0604020202020204" charset="0"/>
                <a:cs typeface="Arial"/>
                <a:sym typeface="Arial"/>
              </a:rPr>
              <a:t>x1</a:t>
            </a: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,</a:t>
            </a:r>
            <a:r>
              <a:rPr lang="en-GB" sz="2400" kern="0" dirty="0">
                <a:solidFill>
                  <a:srgbClr val="F79646">
                    <a:lumMod val="75000"/>
                  </a:srgbClr>
                </a:solidFill>
                <a:latin typeface="Economica" panose="020B0604020202020204" charset="0"/>
                <a:cs typeface="Arial"/>
                <a:sym typeface="Arial"/>
              </a:rPr>
              <a:t>y1</a:t>
            </a: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) and B(</a:t>
            </a:r>
            <a:r>
              <a:rPr lang="en-GB" sz="2400" kern="0" dirty="0">
                <a:solidFill>
                  <a:srgbClr val="F79646">
                    <a:lumMod val="75000"/>
                  </a:srgbClr>
                </a:solidFill>
                <a:latin typeface="Economica" panose="020B0604020202020204" charset="0"/>
                <a:cs typeface="Arial"/>
                <a:sym typeface="Arial"/>
              </a:rPr>
              <a:t>x2</a:t>
            </a: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,</a:t>
            </a:r>
            <a:r>
              <a:rPr lang="en-GB" sz="2400" kern="0" dirty="0">
                <a:solidFill>
                  <a:srgbClr val="F79646">
                    <a:lumMod val="75000"/>
                  </a:srgbClr>
                </a:solidFill>
                <a:latin typeface="Economica" panose="020B0604020202020204" charset="0"/>
                <a:cs typeface="Arial"/>
                <a:sym typeface="Arial"/>
              </a:rPr>
              <a:t>y2</a:t>
            </a: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) is </a:t>
            </a:r>
            <a:r>
              <a:rPr lang="en-GB" sz="2400" kern="0" dirty="0">
                <a:solidFill>
                  <a:srgbClr val="F79646">
                    <a:lumMod val="75000"/>
                  </a:srgbClr>
                </a:solidFill>
                <a:latin typeface="Economica" panose="020B0604020202020204" charset="0"/>
                <a:cs typeface="Arial"/>
                <a:sym typeface="Arial"/>
              </a:rPr>
              <a:t>distance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980C27-948C-5A74-3794-543E81ADB7CC}"/>
              </a:ext>
            </a:extLst>
          </p:cNvPr>
          <p:cNvSpPr txBox="1"/>
          <p:nvPr/>
        </p:nvSpPr>
        <p:spPr>
          <a:xfrm>
            <a:off x="441468" y="1319671"/>
            <a:ext cx="110042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2400" b="1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Exercise 4: </a:t>
            </a: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Write a program that reads the coordinates of A and B from STDIN and calculates the distance between A and B:</a:t>
            </a:r>
            <a:endParaRPr lang="en-US" sz="2400" kern="0" dirty="0">
              <a:solidFill>
                <a:srgbClr val="000000"/>
              </a:solidFill>
              <a:latin typeface="Economica" panose="020B0604020202020204" charset="0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58D7DF-A085-4A5D-7FAE-9F586F3D94A5}"/>
              </a:ext>
            </a:extLst>
          </p:cNvPr>
          <p:cNvSpPr txBox="1"/>
          <p:nvPr/>
        </p:nvSpPr>
        <p:spPr>
          <a:xfrm>
            <a:off x="662152" y="5770181"/>
            <a:ext cx="105628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2400" b="1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NOTE: </a:t>
            </a: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The values x1, y1, x2, y2 must be formatted into the output</a:t>
            </a:r>
          </a:p>
          <a:p>
            <a:pPr defTabSz="1219170">
              <a:buClr>
                <a:srgbClr val="000000"/>
              </a:buClr>
            </a:pPr>
            <a:r>
              <a:rPr lang="en-GB" sz="2400" b="1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NOTE: </a:t>
            </a: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format the distance to 2 decimal points</a:t>
            </a:r>
            <a:endParaRPr lang="en-US" sz="2400" kern="0" dirty="0">
              <a:solidFill>
                <a:srgbClr val="000000"/>
              </a:solidFill>
              <a:latin typeface="Economica" panose="020B060402020202020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0242494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9838411A-30D9-8FBD-83BB-40A63DD66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981ECE-AF32-F028-9482-D6B4EFE37B1A}"/>
              </a:ext>
            </a:extLst>
          </p:cNvPr>
          <p:cNvSpPr txBox="1"/>
          <p:nvPr/>
        </p:nvSpPr>
        <p:spPr>
          <a:xfrm>
            <a:off x="-3716" y="-1"/>
            <a:ext cx="12195716" cy="612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Distance Between Two Points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We have: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A(x1, y1)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B(x2, y2)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The distance formula is: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distance=sqrt((x2​−x1​)^2+(y2​−y1​)^2​)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For: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A(1,2)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B(3,4)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the distance is approximately: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2.83</a:t>
            </a:r>
          </a:p>
        </p:txBody>
      </p:sp>
    </p:spTree>
    <p:extLst>
      <p:ext uri="{BB962C8B-B14F-4D97-AF65-F5344CB8AC3E}">
        <p14:creationId xmlns:p14="http://schemas.microsoft.com/office/powerpoint/2010/main" val="232763040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39DE8605-B38A-71EA-25A1-917F3E1EB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C7A8FC-6E47-558D-7A6F-AE595792DAC3}"/>
              </a:ext>
            </a:extLst>
          </p:cNvPr>
          <p:cNvSpPr txBox="1"/>
          <p:nvPr/>
        </p:nvSpPr>
        <p:spPr>
          <a:xfrm>
            <a:off x="0" y="-147485"/>
            <a:ext cx="12195716" cy="7237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Python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Step 1 — Read the coordinates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x1 = float(input("Please enter the x1 coordinate of point A: "))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y1 = float(input("Please enter the y1 coordinate of point A: "))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x2 = float(input("Please enter the x2 coordinate of point B: "))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y2 = float(input("Please enter the y2 coordinate of point B: "))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Step 2 — Break the calculation into parts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Calibir"/>
              </a:rPr>
              <a:t>x_difference</a:t>
            </a:r>
            <a:r>
              <a:rPr lang="en-US" sz="2400" dirty="0">
                <a:latin typeface="Calibir"/>
              </a:rPr>
              <a:t> = x2 - x1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Calibir"/>
              </a:rPr>
              <a:t>y_difference</a:t>
            </a:r>
            <a:r>
              <a:rPr lang="en-US" sz="2400" dirty="0">
                <a:latin typeface="Calibir"/>
              </a:rPr>
              <a:t> = y2 - y1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Then: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distance = </a:t>
            </a:r>
            <a:r>
              <a:rPr lang="en-US" sz="2400" dirty="0" err="1">
                <a:latin typeface="Calibir"/>
              </a:rPr>
              <a:t>math.sqrt</a:t>
            </a:r>
            <a:r>
              <a:rPr lang="en-US" sz="2400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</a:t>
            </a:r>
            <a:r>
              <a:rPr lang="en-US" sz="2400" dirty="0" err="1">
                <a:latin typeface="Calibir"/>
              </a:rPr>
              <a:t>x_difference</a:t>
            </a:r>
            <a:r>
              <a:rPr lang="en-US" sz="2400" dirty="0">
                <a:latin typeface="Calibir"/>
              </a:rPr>
              <a:t> ** 2 + </a:t>
            </a:r>
            <a:r>
              <a:rPr lang="en-US" sz="2400" dirty="0" err="1">
                <a:latin typeface="Calibir"/>
              </a:rPr>
              <a:t>y_difference</a:t>
            </a:r>
            <a:r>
              <a:rPr lang="en-US" sz="2400" dirty="0">
                <a:latin typeface="Calibir"/>
              </a:rPr>
              <a:t> ** 2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0200248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EFB1EA77-5501-E381-1242-7A541F384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3CB081-706B-E5BA-7098-6094830D7407}"/>
              </a:ext>
            </a:extLst>
          </p:cNvPr>
          <p:cNvSpPr txBox="1"/>
          <p:nvPr/>
        </p:nvSpPr>
        <p:spPr>
          <a:xfrm>
            <a:off x="0" y="-147485"/>
            <a:ext cx="12195716" cy="7179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Step 3 — Completed Python solution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Calibir"/>
              </a:rPr>
              <a:t>import math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Calibir"/>
              </a:rPr>
              <a:t>x1 = float(input("Please enter the x1 coordinate of point A: "))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Calibir"/>
              </a:rPr>
              <a:t>y1 = float(input("Please enter the y1 coordinate of point A: "))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Calibir"/>
              </a:rPr>
              <a:t>x2 = float(input("Please enter the x2 coordinate of point B: "))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Calibir"/>
              </a:rPr>
              <a:t>y2 = float(input("Please enter the y2 coordinate of point B: "))</a:t>
            </a:r>
          </a:p>
          <a:p>
            <a:pPr>
              <a:lnSpc>
                <a:spcPct val="150000"/>
              </a:lnSpc>
            </a:pPr>
            <a:r>
              <a:rPr lang="en-US" sz="1900" dirty="0" err="1">
                <a:latin typeface="Calibir"/>
              </a:rPr>
              <a:t>x_difference</a:t>
            </a:r>
            <a:r>
              <a:rPr lang="en-US" sz="1900" dirty="0">
                <a:latin typeface="Calibir"/>
              </a:rPr>
              <a:t> = x2 - x1</a:t>
            </a:r>
          </a:p>
          <a:p>
            <a:pPr>
              <a:lnSpc>
                <a:spcPct val="150000"/>
              </a:lnSpc>
            </a:pPr>
            <a:r>
              <a:rPr lang="en-US" sz="1900" dirty="0" err="1">
                <a:latin typeface="Calibir"/>
              </a:rPr>
              <a:t>y_difference</a:t>
            </a:r>
            <a:r>
              <a:rPr lang="en-US" sz="1900" dirty="0">
                <a:latin typeface="Calibir"/>
              </a:rPr>
              <a:t> = y2 - y1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Calibir"/>
              </a:rPr>
              <a:t>distance = </a:t>
            </a:r>
            <a:r>
              <a:rPr lang="en-US" sz="1900" dirty="0" err="1">
                <a:latin typeface="Calibir"/>
              </a:rPr>
              <a:t>math.sqrt</a:t>
            </a:r>
            <a:r>
              <a:rPr lang="en-US" sz="1900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Calibir"/>
              </a:rPr>
              <a:t>    </a:t>
            </a:r>
            <a:r>
              <a:rPr lang="en-US" sz="1900" dirty="0" err="1">
                <a:latin typeface="Calibir"/>
              </a:rPr>
              <a:t>x_difference</a:t>
            </a:r>
            <a:r>
              <a:rPr lang="en-US" sz="1900" dirty="0">
                <a:latin typeface="Calibir"/>
              </a:rPr>
              <a:t> ** 2 + </a:t>
            </a:r>
            <a:r>
              <a:rPr lang="en-US" sz="1900" dirty="0" err="1">
                <a:latin typeface="Calibir"/>
              </a:rPr>
              <a:t>y_difference</a:t>
            </a:r>
            <a:r>
              <a:rPr lang="en-US" sz="1900" dirty="0">
                <a:latin typeface="Calibir"/>
              </a:rPr>
              <a:t> ** 2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Calibir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Calibir"/>
              </a:rPr>
              <a:t>print(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Calibir"/>
              </a:rPr>
              <a:t>    </a:t>
            </a:r>
            <a:r>
              <a:rPr lang="en-US" sz="1900" dirty="0" err="1">
                <a:latin typeface="Calibir"/>
              </a:rPr>
              <a:t>f"The</a:t>
            </a:r>
            <a:r>
              <a:rPr lang="en-US" sz="1900" dirty="0">
                <a:latin typeface="Calibir"/>
              </a:rPr>
              <a:t> distance between "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Calibir"/>
              </a:rPr>
              <a:t>    </a:t>
            </a:r>
            <a:r>
              <a:rPr lang="en-US" sz="1900" dirty="0" err="1">
                <a:latin typeface="Calibir"/>
              </a:rPr>
              <a:t>f"A</a:t>
            </a:r>
            <a:r>
              <a:rPr lang="en-US" sz="1900" dirty="0">
                <a:latin typeface="Calibir"/>
              </a:rPr>
              <a:t>({x1},{y1}) and B({x2},{y2}) "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Calibir"/>
              </a:rPr>
              <a:t>    </a:t>
            </a:r>
            <a:r>
              <a:rPr lang="en-US" sz="1900" dirty="0" err="1">
                <a:latin typeface="Calibir"/>
              </a:rPr>
              <a:t>f"is</a:t>
            </a:r>
            <a:r>
              <a:rPr lang="en-US" sz="1900" dirty="0">
                <a:latin typeface="Calibir"/>
              </a:rPr>
              <a:t> {distance:.2f}"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Calibir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5B827-FA9E-9983-9B32-FC414908C47A}"/>
              </a:ext>
            </a:extLst>
          </p:cNvPr>
          <p:cNvSpPr txBox="1"/>
          <p:nvPr/>
        </p:nvSpPr>
        <p:spPr>
          <a:xfrm>
            <a:off x="5770756" y="2944941"/>
            <a:ext cx="6144322" cy="391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Please enter the x1 coordinate of point A: 1.0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Please enter the y1 coordinate of point A: 2.0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Please enter the x2 coordinate of point B: 3.0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Please enter the y2 coordinate of point B: 4.0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The distance between A(1.0,2.0) and B(3.0,4.0) is 2.83</a:t>
            </a:r>
          </a:p>
        </p:txBody>
      </p:sp>
    </p:spTree>
    <p:extLst>
      <p:ext uri="{BB962C8B-B14F-4D97-AF65-F5344CB8AC3E}">
        <p14:creationId xmlns:p14="http://schemas.microsoft.com/office/powerpoint/2010/main" val="420916333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4388EA40-C71C-E386-C3D2-ABD0B468C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1451E7-E23A-593A-DB4B-F44ABCBE8BF8}"/>
              </a:ext>
            </a:extLst>
          </p:cNvPr>
          <p:cNvSpPr txBox="1"/>
          <p:nvPr/>
        </p:nvSpPr>
        <p:spPr>
          <a:xfrm>
            <a:off x="0" y="-147485"/>
            <a:ext cx="12195716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Java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1 — Read coordinates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double x1 = </a:t>
            </a:r>
            <a:r>
              <a:rPr lang="en-US" sz="2800" dirty="0" err="1">
                <a:latin typeface="Calibir"/>
              </a:rPr>
              <a:t>input.nextDouble</a:t>
            </a:r>
            <a:r>
              <a:rPr lang="en-US" sz="2800" dirty="0"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double y1 = </a:t>
            </a:r>
            <a:r>
              <a:rPr lang="en-US" sz="2800" dirty="0" err="1">
                <a:latin typeface="Calibir"/>
              </a:rPr>
              <a:t>input.nextDouble</a:t>
            </a:r>
            <a:r>
              <a:rPr lang="en-US" sz="2800" dirty="0"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double x2 = </a:t>
            </a:r>
            <a:r>
              <a:rPr lang="en-US" sz="2800" dirty="0" err="1">
                <a:latin typeface="Calibir"/>
              </a:rPr>
              <a:t>input.nextDouble</a:t>
            </a:r>
            <a:r>
              <a:rPr lang="en-US" sz="2800" dirty="0"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double y2 = </a:t>
            </a:r>
            <a:r>
              <a:rPr lang="en-US" sz="2800" dirty="0" err="1">
                <a:latin typeface="Calibir"/>
              </a:rPr>
              <a:t>input.nextDouble</a:t>
            </a:r>
            <a:r>
              <a:rPr lang="en-US" sz="2800" dirty="0"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2 — Find the differences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double </a:t>
            </a:r>
            <a:r>
              <a:rPr lang="en-US" sz="2800" dirty="0" err="1">
                <a:latin typeface="Calibir"/>
              </a:rPr>
              <a:t>xDifference</a:t>
            </a:r>
            <a:r>
              <a:rPr lang="en-US" sz="2800" dirty="0">
                <a:latin typeface="Calibir"/>
              </a:rPr>
              <a:t> = x2 - x1;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double </a:t>
            </a:r>
            <a:r>
              <a:rPr lang="en-US" sz="2800" dirty="0" err="1">
                <a:latin typeface="Calibir"/>
              </a:rPr>
              <a:t>yDifference</a:t>
            </a:r>
            <a:r>
              <a:rPr lang="en-US" sz="2800" dirty="0">
                <a:latin typeface="Calibir"/>
              </a:rPr>
              <a:t> = y2 - y1;</a:t>
            </a:r>
          </a:p>
        </p:txBody>
      </p:sp>
    </p:spTree>
    <p:extLst>
      <p:ext uri="{BB962C8B-B14F-4D97-AF65-F5344CB8AC3E}">
        <p14:creationId xmlns:p14="http://schemas.microsoft.com/office/powerpoint/2010/main" val="304517833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35374FAC-2FC7-B8C2-779A-7AAC50F40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57947D-941D-ED22-6B5F-C10444A43E6F}"/>
              </a:ext>
            </a:extLst>
          </p:cNvPr>
          <p:cNvSpPr txBox="1"/>
          <p:nvPr/>
        </p:nvSpPr>
        <p:spPr>
          <a:xfrm>
            <a:off x="-3716" y="171826"/>
            <a:ext cx="12195716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3 — Calculate distance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double distance = </a:t>
            </a:r>
            <a:r>
              <a:rPr lang="en-US" sz="2800" dirty="0" err="1">
                <a:latin typeface="Calibir"/>
              </a:rPr>
              <a:t>Math.sqrt</a:t>
            </a:r>
            <a:r>
              <a:rPr lang="en-US" sz="2800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</a:t>
            </a:r>
            <a:r>
              <a:rPr lang="en-US" sz="2800" dirty="0" err="1">
                <a:latin typeface="Calibir"/>
              </a:rPr>
              <a:t>Math.pow</a:t>
            </a:r>
            <a:r>
              <a:rPr lang="en-US" sz="2800" dirty="0">
                <a:latin typeface="Calibir"/>
              </a:rPr>
              <a:t>(</a:t>
            </a:r>
            <a:r>
              <a:rPr lang="en-US" sz="2800" dirty="0" err="1">
                <a:latin typeface="Calibir"/>
              </a:rPr>
              <a:t>xDifference</a:t>
            </a:r>
            <a:r>
              <a:rPr lang="en-US" sz="2800" dirty="0">
                <a:latin typeface="Calibir"/>
              </a:rPr>
              <a:t>, 2)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+ </a:t>
            </a:r>
            <a:r>
              <a:rPr lang="en-US" sz="2800" dirty="0" err="1">
                <a:latin typeface="Calibir"/>
              </a:rPr>
              <a:t>Math.pow</a:t>
            </a:r>
            <a:r>
              <a:rPr lang="en-US" sz="2800" dirty="0">
                <a:latin typeface="Calibir"/>
              </a:rPr>
              <a:t>(</a:t>
            </a:r>
            <a:r>
              <a:rPr lang="en-US" sz="2800" dirty="0" err="1">
                <a:latin typeface="Calibir"/>
              </a:rPr>
              <a:t>yDifference</a:t>
            </a:r>
            <a:r>
              <a:rPr lang="en-US" sz="2800" dirty="0">
                <a:latin typeface="Calibir"/>
              </a:rPr>
              <a:t>, 2)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83074242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5270651F-3F76-8707-15E2-7A50CD2C8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D28A94-EC4C-9B23-3DAA-A656C95A4294}"/>
              </a:ext>
            </a:extLst>
          </p:cNvPr>
          <p:cNvSpPr txBox="1"/>
          <p:nvPr/>
        </p:nvSpPr>
        <p:spPr>
          <a:xfrm>
            <a:off x="0" y="0"/>
            <a:ext cx="12195716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4 — Completed Java solution</a:t>
            </a:r>
          </a:p>
          <a:p>
            <a:r>
              <a:rPr lang="en-US" sz="1200" dirty="0">
                <a:latin typeface="Calibir"/>
              </a:rPr>
              <a:t>import </a:t>
            </a:r>
            <a:r>
              <a:rPr lang="en-US" sz="1200" dirty="0" err="1">
                <a:latin typeface="Calibir"/>
              </a:rPr>
              <a:t>java.util.Scanner</a:t>
            </a:r>
            <a:r>
              <a:rPr lang="en-US" sz="1200" dirty="0">
                <a:latin typeface="Calibir"/>
              </a:rPr>
              <a:t>;</a:t>
            </a:r>
          </a:p>
          <a:p>
            <a:r>
              <a:rPr lang="en-US" sz="1200" dirty="0">
                <a:latin typeface="Calibir"/>
              </a:rPr>
              <a:t>public class Exercise4 {</a:t>
            </a:r>
          </a:p>
          <a:p>
            <a:r>
              <a:rPr lang="en-US" sz="1200" dirty="0">
                <a:latin typeface="Calibir"/>
              </a:rPr>
              <a:t>    public static void main(String[] </a:t>
            </a:r>
            <a:r>
              <a:rPr lang="en-US" sz="1200" dirty="0" err="1">
                <a:latin typeface="Calibir"/>
              </a:rPr>
              <a:t>args</a:t>
            </a:r>
            <a:r>
              <a:rPr lang="en-US" sz="1200" dirty="0">
                <a:latin typeface="Calibir"/>
              </a:rPr>
              <a:t>) {</a:t>
            </a:r>
          </a:p>
          <a:p>
            <a:r>
              <a:rPr lang="en-US" sz="1200" dirty="0">
                <a:latin typeface="Calibir"/>
              </a:rPr>
              <a:t>        Scanner input = new Scanner(System.in);</a:t>
            </a:r>
          </a:p>
          <a:p>
            <a:r>
              <a:rPr lang="en-US" sz="1200" dirty="0">
                <a:latin typeface="Calibir"/>
              </a:rPr>
              <a:t>        </a:t>
            </a:r>
            <a:r>
              <a:rPr lang="en-US" sz="1200" dirty="0" err="1">
                <a:latin typeface="Calibir"/>
              </a:rPr>
              <a:t>System.out.print</a:t>
            </a:r>
            <a:r>
              <a:rPr lang="en-US" sz="1200" dirty="0">
                <a:latin typeface="Calibir"/>
              </a:rPr>
              <a:t>(</a:t>
            </a:r>
          </a:p>
          <a:p>
            <a:r>
              <a:rPr lang="en-US" sz="1200" dirty="0">
                <a:latin typeface="Calibir"/>
              </a:rPr>
              <a:t>            "Please enter the x1 coordinate of point A: "</a:t>
            </a:r>
          </a:p>
          <a:p>
            <a:r>
              <a:rPr lang="en-US" sz="1200" dirty="0">
                <a:latin typeface="Calibir"/>
              </a:rPr>
              <a:t>        );</a:t>
            </a:r>
          </a:p>
          <a:p>
            <a:r>
              <a:rPr lang="en-US" sz="1200" dirty="0">
                <a:latin typeface="Calibir"/>
              </a:rPr>
              <a:t>        double x1 = </a:t>
            </a:r>
            <a:r>
              <a:rPr lang="en-US" sz="1200" dirty="0" err="1">
                <a:latin typeface="Calibir"/>
              </a:rPr>
              <a:t>input.nextDouble</a:t>
            </a:r>
            <a:r>
              <a:rPr lang="en-US" sz="1200" dirty="0">
                <a:latin typeface="Calibir"/>
              </a:rPr>
              <a:t>();</a:t>
            </a:r>
          </a:p>
          <a:p>
            <a:r>
              <a:rPr lang="en-US" sz="1200" dirty="0">
                <a:latin typeface="Calibir"/>
              </a:rPr>
              <a:t>        </a:t>
            </a:r>
            <a:r>
              <a:rPr lang="en-US" sz="1200" dirty="0" err="1">
                <a:latin typeface="Calibir"/>
              </a:rPr>
              <a:t>System.out.print</a:t>
            </a:r>
            <a:r>
              <a:rPr lang="en-US" sz="1200" dirty="0">
                <a:latin typeface="Calibir"/>
              </a:rPr>
              <a:t>(</a:t>
            </a:r>
          </a:p>
          <a:p>
            <a:r>
              <a:rPr lang="en-US" sz="1200" dirty="0">
                <a:latin typeface="Calibir"/>
              </a:rPr>
              <a:t>            "Please enter the y1 coordinate of point A: "</a:t>
            </a:r>
          </a:p>
          <a:p>
            <a:r>
              <a:rPr lang="en-US" sz="1200" dirty="0">
                <a:latin typeface="Calibir"/>
              </a:rPr>
              <a:t>        );</a:t>
            </a:r>
          </a:p>
          <a:p>
            <a:r>
              <a:rPr lang="en-US" sz="1200" dirty="0">
                <a:latin typeface="Calibir"/>
              </a:rPr>
              <a:t>        double y1 = </a:t>
            </a:r>
            <a:r>
              <a:rPr lang="en-US" sz="1200" dirty="0" err="1">
                <a:latin typeface="Calibir"/>
              </a:rPr>
              <a:t>input.nextDouble</a:t>
            </a:r>
            <a:r>
              <a:rPr lang="en-US" sz="1200" dirty="0">
                <a:latin typeface="Calibir"/>
              </a:rPr>
              <a:t>();</a:t>
            </a:r>
          </a:p>
          <a:p>
            <a:r>
              <a:rPr lang="en-US" sz="1200" dirty="0">
                <a:latin typeface="Calibir"/>
              </a:rPr>
              <a:t>        </a:t>
            </a:r>
            <a:r>
              <a:rPr lang="en-US" sz="1200" dirty="0" err="1">
                <a:latin typeface="Calibir"/>
              </a:rPr>
              <a:t>System.out.print</a:t>
            </a:r>
            <a:r>
              <a:rPr lang="en-US" sz="1200" dirty="0">
                <a:latin typeface="Calibir"/>
              </a:rPr>
              <a:t>(</a:t>
            </a:r>
          </a:p>
          <a:p>
            <a:r>
              <a:rPr lang="en-US" sz="1200" dirty="0">
                <a:latin typeface="Calibir"/>
              </a:rPr>
              <a:t>            "Please enter the x2 coordinate of point B: "</a:t>
            </a:r>
          </a:p>
          <a:p>
            <a:r>
              <a:rPr lang="en-US" sz="1200" dirty="0">
                <a:latin typeface="Calibir"/>
              </a:rPr>
              <a:t>        );</a:t>
            </a:r>
          </a:p>
          <a:p>
            <a:r>
              <a:rPr lang="en-US" sz="1200" dirty="0">
                <a:latin typeface="Calibir"/>
              </a:rPr>
              <a:t>        double x2 = </a:t>
            </a:r>
            <a:r>
              <a:rPr lang="en-US" sz="1200" dirty="0" err="1">
                <a:latin typeface="Calibir"/>
              </a:rPr>
              <a:t>input.nextDouble</a:t>
            </a:r>
            <a:r>
              <a:rPr lang="en-US" sz="1200" dirty="0">
                <a:latin typeface="Calibir"/>
              </a:rPr>
              <a:t>();</a:t>
            </a:r>
          </a:p>
          <a:p>
            <a:r>
              <a:rPr lang="en-US" sz="1200" dirty="0">
                <a:latin typeface="Calibir"/>
              </a:rPr>
              <a:t>        </a:t>
            </a:r>
            <a:r>
              <a:rPr lang="en-US" sz="1200" dirty="0" err="1">
                <a:latin typeface="Calibir"/>
              </a:rPr>
              <a:t>System.out.print</a:t>
            </a:r>
            <a:r>
              <a:rPr lang="en-US" sz="1200" dirty="0">
                <a:latin typeface="Calibir"/>
              </a:rPr>
              <a:t>(</a:t>
            </a:r>
          </a:p>
          <a:p>
            <a:r>
              <a:rPr lang="en-US" sz="1200" dirty="0">
                <a:latin typeface="Calibir"/>
              </a:rPr>
              <a:t>            "Please enter the y2 coordinate of point B: "</a:t>
            </a:r>
          </a:p>
          <a:p>
            <a:r>
              <a:rPr lang="en-US" sz="1200" dirty="0">
                <a:latin typeface="Calibir"/>
              </a:rPr>
              <a:t>        );</a:t>
            </a:r>
          </a:p>
          <a:p>
            <a:r>
              <a:rPr lang="en-US" sz="1200" dirty="0">
                <a:latin typeface="Calibir"/>
              </a:rPr>
              <a:t>        double y2 = </a:t>
            </a:r>
            <a:r>
              <a:rPr lang="en-US" sz="1200" dirty="0" err="1">
                <a:latin typeface="Calibir"/>
              </a:rPr>
              <a:t>input.nextDouble</a:t>
            </a:r>
            <a:r>
              <a:rPr lang="en-US" sz="1200" dirty="0">
                <a:latin typeface="Calibir"/>
              </a:rPr>
              <a:t>();</a:t>
            </a:r>
          </a:p>
          <a:p>
            <a:r>
              <a:rPr lang="en-US" sz="1200" dirty="0">
                <a:latin typeface="Calibir"/>
              </a:rPr>
              <a:t>        double </a:t>
            </a:r>
            <a:r>
              <a:rPr lang="en-US" sz="1200" dirty="0" err="1">
                <a:latin typeface="Calibir"/>
              </a:rPr>
              <a:t>xDifference</a:t>
            </a:r>
            <a:r>
              <a:rPr lang="en-US" sz="1200" dirty="0">
                <a:latin typeface="Calibir"/>
              </a:rPr>
              <a:t> = x2 - x1;</a:t>
            </a:r>
          </a:p>
          <a:p>
            <a:r>
              <a:rPr lang="en-US" sz="1200" dirty="0">
                <a:latin typeface="Calibir"/>
              </a:rPr>
              <a:t>        double </a:t>
            </a:r>
            <a:r>
              <a:rPr lang="en-US" sz="1200" dirty="0" err="1">
                <a:latin typeface="Calibir"/>
              </a:rPr>
              <a:t>yDifference</a:t>
            </a:r>
            <a:r>
              <a:rPr lang="en-US" sz="1200" dirty="0">
                <a:latin typeface="Calibir"/>
              </a:rPr>
              <a:t> = y2 - y1;</a:t>
            </a:r>
          </a:p>
          <a:p>
            <a:r>
              <a:rPr lang="en-US" sz="1200" dirty="0">
                <a:latin typeface="Calibir"/>
              </a:rPr>
              <a:t>        double distance = </a:t>
            </a:r>
            <a:r>
              <a:rPr lang="en-US" sz="1200" dirty="0" err="1">
                <a:latin typeface="Calibir"/>
              </a:rPr>
              <a:t>Math.sqrt</a:t>
            </a:r>
            <a:r>
              <a:rPr lang="en-US" sz="1200" dirty="0">
                <a:latin typeface="Calibir"/>
              </a:rPr>
              <a:t>(</a:t>
            </a:r>
          </a:p>
          <a:p>
            <a:r>
              <a:rPr lang="en-US" sz="1200" dirty="0">
                <a:latin typeface="Calibir"/>
              </a:rPr>
              <a:t>            </a:t>
            </a:r>
            <a:r>
              <a:rPr lang="en-US" sz="1200" dirty="0" err="1">
                <a:latin typeface="Calibir"/>
              </a:rPr>
              <a:t>Math.pow</a:t>
            </a:r>
            <a:r>
              <a:rPr lang="en-US" sz="1200" dirty="0">
                <a:latin typeface="Calibir"/>
              </a:rPr>
              <a:t>(</a:t>
            </a:r>
            <a:r>
              <a:rPr lang="en-US" sz="1200" dirty="0" err="1">
                <a:latin typeface="Calibir"/>
              </a:rPr>
              <a:t>xDifference</a:t>
            </a:r>
            <a:r>
              <a:rPr lang="en-US" sz="1200" dirty="0">
                <a:latin typeface="Calibir"/>
              </a:rPr>
              <a:t>, 2)</a:t>
            </a:r>
          </a:p>
          <a:p>
            <a:r>
              <a:rPr lang="en-US" sz="1200" dirty="0">
                <a:latin typeface="Calibir"/>
              </a:rPr>
              <a:t>            + </a:t>
            </a:r>
            <a:r>
              <a:rPr lang="en-US" sz="1200" dirty="0" err="1">
                <a:latin typeface="Calibir"/>
              </a:rPr>
              <a:t>Math.pow</a:t>
            </a:r>
            <a:r>
              <a:rPr lang="en-US" sz="1200" dirty="0">
                <a:latin typeface="Calibir"/>
              </a:rPr>
              <a:t>(</a:t>
            </a:r>
            <a:r>
              <a:rPr lang="en-US" sz="1200" dirty="0" err="1">
                <a:latin typeface="Calibir"/>
              </a:rPr>
              <a:t>yDifference</a:t>
            </a:r>
            <a:r>
              <a:rPr lang="en-US" sz="1200" dirty="0">
                <a:latin typeface="Calibir"/>
              </a:rPr>
              <a:t>, 2)</a:t>
            </a:r>
          </a:p>
          <a:p>
            <a:r>
              <a:rPr lang="en-US" sz="1200" dirty="0">
                <a:latin typeface="Calibir"/>
              </a:rPr>
              <a:t>        );</a:t>
            </a:r>
          </a:p>
          <a:p>
            <a:r>
              <a:rPr lang="en-US" sz="1200" dirty="0">
                <a:latin typeface="Calibir"/>
              </a:rPr>
              <a:t>        </a:t>
            </a:r>
            <a:r>
              <a:rPr lang="en-US" sz="1200" dirty="0" err="1">
                <a:latin typeface="Calibir"/>
              </a:rPr>
              <a:t>System.out.printf</a:t>
            </a:r>
            <a:r>
              <a:rPr lang="en-US" sz="1200" dirty="0">
                <a:latin typeface="Calibir"/>
              </a:rPr>
              <a:t>(</a:t>
            </a:r>
          </a:p>
          <a:p>
            <a:r>
              <a:rPr lang="en-US" sz="1200" dirty="0">
                <a:latin typeface="Calibir"/>
              </a:rPr>
              <a:t>            "The distance between A(%.1f,%.1f) and B(%.1f,%.1f) is %.2f%n",</a:t>
            </a:r>
          </a:p>
          <a:p>
            <a:r>
              <a:rPr lang="en-US" sz="1200" dirty="0">
                <a:latin typeface="Calibir"/>
              </a:rPr>
              <a:t>            x1, y1, x2, y2, distance</a:t>
            </a:r>
          </a:p>
          <a:p>
            <a:r>
              <a:rPr lang="en-US" sz="1200" dirty="0">
                <a:latin typeface="Calibir"/>
              </a:rPr>
              <a:t>        );</a:t>
            </a:r>
          </a:p>
          <a:p>
            <a:r>
              <a:rPr lang="en-US" sz="1200" dirty="0">
                <a:latin typeface="Calibir"/>
              </a:rPr>
              <a:t>        </a:t>
            </a:r>
            <a:r>
              <a:rPr lang="en-US" sz="1200" dirty="0" err="1">
                <a:latin typeface="Calibir"/>
              </a:rPr>
              <a:t>input.close</a:t>
            </a:r>
            <a:r>
              <a:rPr lang="en-US" sz="1200" dirty="0">
                <a:latin typeface="Calibir"/>
              </a:rPr>
              <a:t>();</a:t>
            </a:r>
          </a:p>
          <a:p>
            <a:r>
              <a:rPr lang="en-US" sz="1200" dirty="0">
                <a:latin typeface="Calibir"/>
              </a:rPr>
              <a:t>    }</a:t>
            </a:r>
          </a:p>
          <a:p>
            <a:r>
              <a:rPr lang="en-US" sz="1200" dirty="0">
                <a:latin typeface="Calibir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ADB19F-2B18-9585-31AA-CC611FE259FE}"/>
              </a:ext>
            </a:extLst>
          </p:cNvPr>
          <p:cNvSpPr txBox="1"/>
          <p:nvPr/>
        </p:nvSpPr>
        <p:spPr>
          <a:xfrm>
            <a:off x="6025376" y="2151457"/>
            <a:ext cx="6166624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Q: Why do we square the differences?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Because the distance formula comes from the Pythagorean theorem.</a:t>
            </a:r>
          </a:p>
        </p:txBody>
      </p:sp>
    </p:spTree>
    <p:extLst>
      <p:ext uri="{BB962C8B-B14F-4D97-AF65-F5344CB8AC3E}">
        <p14:creationId xmlns:p14="http://schemas.microsoft.com/office/powerpoint/2010/main" val="2768001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3FE0C017-4F14-E49E-A1AB-D1A1AE7B21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1109133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GB" dirty="0"/>
              <a:t>Lab 3 Exercises</a:t>
            </a:r>
            <a:endParaRPr dirty="0"/>
          </a:p>
        </p:txBody>
      </p:sp>
      <p:sp>
        <p:nvSpPr>
          <p:cNvPr id="13" name="Google Shape;351;p45">
            <a:extLst>
              <a:ext uri="{FF2B5EF4-FFF2-40B4-BE49-F238E27FC236}">
                <a16:creationId xmlns:a16="http://schemas.microsoft.com/office/drawing/2014/main" id="{A54F7399-0325-D592-E3BD-B74B580D26E3}"/>
              </a:ext>
            </a:extLst>
          </p:cNvPr>
          <p:cNvSpPr/>
          <p:nvPr/>
        </p:nvSpPr>
        <p:spPr>
          <a:xfrm>
            <a:off x="1930400" y="2683461"/>
            <a:ext cx="8026400" cy="287914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457189" indent="-457189" defTabSz="1219170">
              <a:buClr>
                <a:srgbClr val="000000"/>
              </a:buClr>
              <a:buFont typeface="+mj-lt"/>
              <a:buAutoNum type="arabicPeriod"/>
            </a:pP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Please enter a string: </a:t>
            </a:r>
            <a:r>
              <a:rPr lang="en-GB" sz="2400" i="1" kern="0" dirty="0">
                <a:solidFill>
                  <a:srgbClr val="F79646">
                    <a:lumMod val="75000"/>
                  </a:srgbClr>
                </a:solidFill>
                <a:latin typeface="Economica" panose="020B0604020202020204" charset="0"/>
                <a:cs typeface="Arial"/>
                <a:sym typeface="Arial"/>
              </a:rPr>
              <a:t>type your input here</a:t>
            </a:r>
          </a:p>
          <a:p>
            <a:pPr marL="457189" indent="-457189" defTabSz="1219170">
              <a:buClr>
                <a:srgbClr val="000000"/>
              </a:buClr>
              <a:buFont typeface="+mj-lt"/>
              <a:buAutoNum type="arabicPeriod"/>
            </a:pP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First character: </a:t>
            </a:r>
            <a:r>
              <a:rPr lang="en-GB" sz="2400" i="1" kern="0" dirty="0">
                <a:solidFill>
                  <a:srgbClr val="F79646">
                    <a:lumMod val="75000"/>
                  </a:srgbClr>
                </a:solidFill>
                <a:latin typeface="Economica" panose="020B0604020202020204" charset="0"/>
                <a:cs typeface="Arial"/>
                <a:sym typeface="Arial"/>
              </a:rPr>
              <a:t>display first character of the string</a:t>
            </a:r>
          </a:p>
          <a:p>
            <a:pPr marL="457189" indent="-457189" defTabSz="1219170">
              <a:buClr>
                <a:srgbClr val="000000"/>
              </a:buClr>
              <a:buFont typeface="+mj-lt"/>
              <a:buAutoNum type="arabicPeriod"/>
            </a:pP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Last character: </a:t>
            </a:r>
            <a:r>
              <a:rPr lang="en-GB" sz="2400" i="1" kern="0" dirty="0">
                <a:solidFill>
                  <a:srgbClr val="F79646">
                    <a:lumMod val="75000"/>
                  </a:srgbClr>
                </a:solidFill>
                <a:latin typeface="Economica" panose="020B0604020202020204" charset="0"/>
                <a:cs typeface="Arial"/>
                <a:sym typeface="Arial"/>
              </a:rPr>
              <a:t>display last character of the string</a:t>
            </a:r>
          </a:p>
          <a:p>
            <a:pPr marL="457189" indent="-457189" defTabSz="1219170">
              <a:buClr>
                <a:srgbClr val="000000"/>
              </a:buClr>
              <a:buFont typeface="+mj-lt"/>
              <a:buAutoNum type="arabicPeriod"/>
            </a:pP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Lower-case string: </a:t>
            </a:r>
            <a:r>
              <a:rPr lang="en-GB" sz="2400" i="1" kern="0" dirty="0">
                <a:solidFill>
                  <a:srgbClr val="F79646">
                    <a:lumMod val="75000"/>
                  </a:srgbClr>
                </a:solidFill>
                <a:latin typeface="Economica" panose="020B0604020202020204" charset="0"/>
                <a:cs typeface="Arial"/>
                <a:sym typeface="Arial"/>
              </a:rPr>
              <a:t>convert and display the string in lower-case</a:t>
            </a:r>
          </a:p>
          <a:p>
            <a:pPr marL="457189" indent="-457189" defTabSz="1219170">
              <a:buClr>
                <a:srgbClr val="000000"/>
              </a:buClr>
              <a:buFont typeface="+mj-lt"/>
              <a:buAutoNum type="arabicPeriod"/>
            </a:pP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String length: </a:t>
            </a:r>
            <a:r>
              <a:rPr lang="en-GB" sz="2400" i="1" kern="0" dirty="0">
                <a:solidFill>
                  <a:srgbClr val="F79646">
                    <a:lumMod val="75000"/>
                  </a:srgbClr>
                </a:solidFill>
                <a:latin typeface="Economica" panose="020B0604020202020204" charset="0"/>
                <a:cs typeface="Arial"/>
                <a:sym typeface="Arial"/>
              </a:rPr>
              <a:t>display the length of the string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980C27-948C-5A74-3794-543E81ADB7CC}"/>
              </a:ext>
            </a:extLst>
          </p:cNvPr>
          <p:cNvSpPr txBox="1"/>
          <p:nvPr/>
        </p:nvSpPr>
        <p:spPr>
          <a:xfrm>
            <a:off x="441468" y="1295401"/>
            <a:ext cx="110042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2400" b="1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Exercise: </a:t>
            </a: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Write a program that reads a string from STDIN and print out the following:</a:t>
            </a:r>
            <a:endParaRPr lang="en-US" sz="2400" kern="0" dirty="0">
              <a:solidFill>
                <a:srgbClr val="000000"/>
              </a:solidFill>
              <a:latin typeface="Economica" panose="020B060402020202020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712538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BC539192-1318-668F-B2FA-26DB6849F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67CDC1-DFE8-33E3-EA58-5E0A9197E0F7}"/>
              </a:ext>
            </a:extLst>
          </p:cNvPr>
          <p:cNvSpPr txBox="1"/>
          <p:nvPr/>
        </p:nvSpPr>
        <p:spPr>
          <a:xfrm>
            <a:off x="0" y="0"/>
            <a:ext cx="9149575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Working with Strings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exercise introduces some very useful string operations.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We need: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Original string </a:t>
            </a:r>
            <a:r>
              <a:rPr lang="en-US" sz="2800" dirty="0">
                <a:latin typeface="Calibir"/>
                <a:sym typeface="Wingdings" panose="05000000000000000000" pitchFamily="2" charset="2"/>
              </a:rPr>
              <a:t> </a:t>
            </a:r>
            <a:r>
              <a:rPr lang="en-US" sz="2800" dirty="0">
                <a:latin typeface="Calibir"/>
              </a:rPr>
              <a:t>First character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Last character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Lower-case version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Length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Python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1 — Read the string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text = input("Please enter a string: ")</a:t>
            </a:r>
          </a:p>
        </p:txBody>
      </p:sp>
    </p:spTree>
    <p:extLst>
      <p:ext uri="{BB962C8B-B14F-4D97-AF65-F5344CB8AC3E}">
        <p14:creationId xmlns:p14="http://schemas.microsoft.com/office/powerpoint/2010/main" val="327438130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0CACF386-0A0C-5562-C8D0-EF6C0EF17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47DB2E-C870-B4FA-3344-CDD8C549D842}"/>
              </a:ext>
            </a:extLst>
          </p:cNvPr>
          <p:cNvSpPr txBox="1"/>
          <p:nvPr/>
        </p:nvSpPr>
        <p:spPr>
          <a:xfrm>
            <a:off x="0" y="0"/>
            <a:ext cx="9149575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2 — Find the first character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Python starts counting positions from 0: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Calibir"/>
              </a:rPr>
              <a:t>first_character</a:t>
            </a:r>
            <a:r>
              <a:rPr lang="en-US" sz="2800" dirty="0">
                <a:latin typeface="Calibir"/>
              </a:rPr>
              <a:t> = text[0]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3 — Find the last character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Python provides a convenient shortcut: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Calibir"/>
              </a:rPr>
              <a:t>last_character</a:t>
            </a:r>
            <a:r>
              <a:rPr lang="en-US" sz="2800" dirty="0">
                <a:latin typeface="Calibir"/>
              </a:rPr>
              <a:t> = text[-1]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-1 means the last character.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4 — Convert to lowercase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Calibir"/>
              </a:rPr>
              <a:t>lower_string</a:t>
            </a:r>
            <a:r>
              <a:rPr lang="en-US" sz="2800" dirty="0">
                <a:latin typeface="Calibir"/>
              </a:rPr>
              <a:t> = </a:t>
            </a:r>
            <a:r>
              <a:rPr lang="en-US" sz="2800" dirty="0" err="1">
                <a:latin typeface="Calibir"/>
              </a:rPr>
              <a:t>text.lower</a:t>
            </a:r>
            <a:r>
              <a:rPr lang="en-US" sz="2800" dirty="0">
                <a:latin typeface="Calibir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54777794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8CE7673B-6CC7-9919-16BC-93CE03709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FCA467-9ADE-035C-3A10-B9CA443520E2}"/>
              </a:ext>
            </a:extLst>
          </p:cNvPr>
          <p:cNvSpPr txBox="1"/>
          <p:nvPr/>
        </p:nvSpPr>
        <p:spPr>
          <a:xfrm>
            <a:off x="0" y="0"/>
            <a:ext cx="9149575" cy="6960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5 — Find the length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length = </a:t>
            </a:r>
            <a:r>
              <a:rPr lang="en-US" sz="2800" dirty="0" err="1">
                <a:latin typeface="Calibir"/>
              </a:rPr>
              <a:t>len</a:t>
            </a:r>
            <a:r>
              <a:rPr lang="en-US" sz="2800" dirty="0">
                <a:latin typeface="Calibir"/>
              </a:rPr>
              <a:t>(text)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6 — Completed Python solution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text = input("Please enter a string: ")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Calibir"/>
              </a:rPr>
              <a:t>first_character</a:t>
            </a:r>
            <a:r>
              <a:rPr lang="en-US" sz="2400" dirty="0">
                <a:latin typeface="Calibir"/>
              </a:rPr>
              <a:t> = text[0]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Calibir"/>
              </a:rPr>
              <a:t>last_character</a:t>
            </a:r>
            <a:r>
              <a:rPr lang="en-US" sz="2400" dirty="0">
                <a:latin typeface="Calibir"/>
              </a:rPr>
              <a:t> = text[-1]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Calibir"/>
              </a:rPr>
              <a:t>lower_string</a:t>
            </a:r>
            <a:r>
              <a:rPr lang="en-US" sz="2400" dirty="0">
                <a:latin typeface="Calibir"/>
              </a:rPr>
              <a:t> = </a:t>
            </a:r>
            <a:r>
              <a:rPr lang="en-US" sz="2400" dirty="0" err="1">
                <a:latin typeface="Calibir"/>
              </a:rPr>
              <a:t>text.lower</a:t>
            </a:r>
            <a:r>
              <a:rPr lang="en-US" sz="2400" dirty="0">
                <a:latin typeface="Calibir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length = </a:t>
            </a:r>
            <a:r>
              <a:rPr lang="en-US" sz="2400" dirty="0" err="1">
                <a:latin typeface="Calibir"/>
              </a:rPr>
              <a:t>len</a:t>
            </a:r>
            <a:r>
              <a:rPr lang="en-US" sz="2400" dirty="0">
                <a:latin typeface="Calibir"/>
              </a:rPr>
              <a:t>(text)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print("First character:", </a:t>
            </a:r>
            <a:r>
              <a:rPr lang="en-US" sz="2400" dirty="0" err="1">
                <a:latin typeface="Calibir"/>
              </a:rPr>
              <a:t>first_character</a:t>
            </a:r>
            <a:r>
              <a:rPr lang="en-US" sz="2400" dirty="0">
                <a:latin typeface="Calibir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print("Last character:", </a:t>
            </a:r>
            <a:r>
              <a:rPr lang="en-US" sz="2400" dirty="0" err="1">
                <a:latin typeface="Calibir"/>
              </a:rPr>
              <a:t>last_character</a:t>
            </a:r>
            <a:r>
              <a:rPr lang="en-US" sz="2400" dirty="0">
                <a:latin typeface="Calibir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print("Lower-case string:", </a:t>
            </a:r>
            <a:r>
              <a:rPr lang="en-US" sz="2400" dirty="0" err="1">
                <a:latin typeface="Calibir"/>
              </a:rPr>
              <a:t>lower_string</a:t>
            </a:r>
            <a:r>
              <a:rPr lang="en-US" sz="2400" dirty="0">
                <a:latin typeface="Calibir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print("String length:", length)</a:t>
            </a:r>
            <a:endParaRPr lang="en-US" sz="2800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74D6D6-E6C6-74D2-AC05-D97C1C904541}"/>
              </a:ext>
            </a:extLst>
          </p:cNvPr>
          <p:cNvSpPr txBox="1"/>
          <p:nvPr/>
        </p:nvSpPr>
        <p:spPr>
          <a:xfrm>
            <a:off x="6450980" y="2164829"/>
            <a:ext cx="574102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Please enter a string: </a:t>
            </a:r>
            <a:r>
              <a:rPr lang="en-US" sz="2800" dirty="0" err="1">
                <a:latin typeface="Calibir"/>
              </a:rPr>
              <a:t>DeskBankApp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First character: D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Last character: p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Lower-case string: </a:t>
            </a:r>
            <a:r>
              <a:rPr lang="en-US" sz="2800" dirty="0" err="1">
                <a:latin typeface="Calibir"/>
              </a:rPr>
              <a:t>deskbankapp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String length: 11</a:t>
            </a:r>
          </a:p>
        </p:txBody>
      </p:sp>
    </p:spTree>
    <p:extLst>
      <p:ext uri="{BB962C8B-B14F-4D97-AF65-F5344CB8AC3E}">
        <p14:creationId xmlns:p14="http://schemas.microsoft.com/office/powerpoint/2010/main" val="117131923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275777AC-CD43-BEED-A4D3-7CC340A65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9623DF-6A3F-72A0-73C5-8B0A595175A0}"/>
              </a:ext>
            </a:extLst>
          </p:cNvPr>
          <p:cNvSpPr txBox="1"/>
          <p:nvPr/>
        </p:nvSpPr>
        <p:spPr>
          <a:xfrm>
            <a:off x="0" y="0"/>
            <a:ext cx="12192000" cy="612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Java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Step 1 — Read the complete line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String text = </a:t>
            </a:r>
            <a:r>
              <a:rPr lang="en-US" sz="2400" dirty="0" err="1">
                <a:latin typeface="Calibir"/>
              </a:rPr>
              <a:t>input.nextLine</a:t>
            </a:r>
            <a:r>
              <a:rPr lang="en-US" sz="2400" dirty="0"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Step 2 — First character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char </a:t>
            </a:r>
            <a:r>
              <a:rPr lang="en-US" sz="2400" dirty="0" err="1">
                <a:latin typeface="Calibir"/>
              </a:rPr>
              <a:t>firstCharacter</a:t>
            </a:r>
            <a:r>
              <a:rPr lang="en-US" sz="2400" dirty="0">
                <a:latin typeface="Calibir"/>
              </a:rPr>
              <a:t> = </a:t>
            </a:r>
            <a:r>
              <a:rPr lang="en-US" sz="2400" dirty="0" err="1">
                <a:latin typeface="Calibir"/>
              </a:rPr>
              <a:t>text.charAt</a:t>
            </a:r>
            <a:r>
              <a:rPr lang="en-US" sz="2400" dirty="0">
                <a:latin typeface="Calibir"/>
              </a:rPr>
              <a:t>(0);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Step 3 — Last character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The last position is: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Calibir"/>
              </a:rPr>
              <a:t>text.length</a:t>
            </a:r>
            <a:r>
              <a:rPr lang="en-US" sz="2400" dirty="0">
                <a:latin typeface="Calibir"/>
              </a:rPr>
              <a:t>() - 1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Therefore: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char </a:t>
            </a:r>
            <a:r>
              <a:rPr lang="en-US" sz="2400" dirty="0" err="1">
                <a:latin typeface="Calibir"/>
              </a:rPr>
              <a:t>lastCharacter</a:t>
            </a:r>
            <a:r>
              <a:rPr lang="en-US" sz="2400" dirty="0">
                <a:latin typeface="Calibir"/>
              </a:rPr>
              <a:t> =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</a:t>
            </a:r>
            <a:r>
              <a:rPr lang="en-US" sz="2400" dirty="0" err="1">
                <a:latin typeface="Calibir"/>
              </a:rPr>
              <a:t>text.charAt</a:t>
            </a:r>
            <a:r>
              <a:rPr lang="en-US" sz="2400" dirty="0">
                <a:latin typeface="Calibir"/>
              </a:rPr>
              <a:t>(</a:t>
            </a:r>
            <a:r>
              <a:rPr lang="en-US" sz="2400" dirty="0" err="1">
                <a:latin typeface="Calibir"/>
              </a:rPr>
              <a:t>text.length</a:t>
            </a:r>
            <a:r>
              <a:rPr lang="en-US" sz="2400" dirty="0">
                <a:latin typeface="Calibir"/>
              </a:rPr>
              <a:t>() - 1);</a:t>
            </a:r>
          </a:p>
        </p:txBody>
      </p:sp>
    </p:spTree>
    <p:extLst>
      <p:ext uri="{BB962C8B-B14F-4D97-AF65-F5344CB8AC3E}">
        <p14:creationId xmlns:p14="http://schemas.microsoft.com/office/powerpoint/2010/main" val="172357329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5F18EE89-1ED9-0D8C-EF66-62378BD08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6021AD-7881-E769-346B-86175C757724}"/>
              </a:ext>
            </a:extLst>
          </p:cNvPr>
          <p:cNvSpPr txBox="1"/>
          <p:nvPr/>
        </p:nvSpPr>
        <p:spPr>
          <a:xfrm>
            <a:off x="0" y="0"/>
            <a:ext cx="12192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4 — Lowercase and length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String </a:t>
            </a:r>
            <a:r>
              <a:rPr lang="en-US" sz="2800" dirty="0" err="1">
                <a:latin typeface="Calibir"/>
              </a:rPr>
              <a:t>lowerString</a:t>
            </a:r>
            <a:r>
              <a:rPr lang="en-US" sz="2800" dirty="0">
                <a:latin typeface="Calibir"/>
              </a:rPr>
              <a:t> = </a:t>
            </a:r>
            <a:r>
              <a:rPr lang="en-US" sz="2800" dirty="0" err="1">
                <a:latin typeface="Calibir"/>
              </a:rPr>
              <a:t>text.toLowerCase</a:t>
            </a:r>
            <a:r>
              <a:rPr lang="en-US" sz="2800" dirty="0"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int length = </a:t>
            </a:r>
            <a:r>
              <a:rPr lang="en-US" sz="2800" dirty="0" err="1">
                <a:latin typeface="Calibir"/>
              </a:rPr>
              <a:t>text.length</a:t>
            </a:r>
            <a:r>
              <a:rPr lang="en-US" sz="2800" dirty="0">
                <a:latin typeface="Calibir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27930486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138EEC2B-5AB5-2D39-2BAF-506EFC0C4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B160B3-2AF4-A72B-D263-BC43EF676CA3}"/>
              </a:ext>
            </a:extLst>
          </p:cNvPr>
          <p:cNvSpPr txBox="1"/>
          <p:nvPr/>
        </p:nvSpPr>
        <p:spPr>
          <a:xfrm>
            <a:off x="0" y="0"/>
            <a:ext cx="12192000" cy="6808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Calibir"/>
              </a:rPr>
              <a:t>Step 5 — Completed Java solution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import </a:t>
            </a:r>
            <a:r>
              <a:rPr lang="en-US" sz="1000" dirty="0" err="1">
                <a:latin typeface="Calibir"/>
              </a:rPr>
              <a:t>java.util.Scanner</a:t>
            </a:r>
            <a:r>
              <a:rPr lang="en-US" sz="1000" dirty="0">
                <a:latin typeface="Calibir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public class Exercise5 {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public static void main(String[] </a:t>
            </a:r>
            <a:r>
              <a:rPr lang="en-US" sz="1000" dirty="0" err="1">
                <a:latin typeface="Calibir"/>
              </a:rPr>
              <a:t>args</a:t>
            </a:r>
            <a:r>
              <a:rPr lang="en-US" sz="1000" dirty="0">
                <a:latin typeface="Calibir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Scanner input = new Scanner(System.in);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</a:t>
            </a:r>
            <a:r>
              <a:rPr lang="en-US" sz="1000" dirty="0" err="1">
                <a:latin typeface="Calibir"/>
              </a:rPr>
              <a:t>System.out.print</a:t>
            </a:r>
            <a:r>
              <a:rPr lang="en-US" sz="1000" dirty="0">
                <a:latin typeface="Calibir"/>
              </a:rPr>
              <a:t>("Please enter a string: ");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String text = </a:t>
            </a:r>
            <a:r>
              <a:rPr lang="en-US" sz="1000" dirty="0" err="1">
                <a:latin typeface="Calibir"/>
              </a:rPr>
              <a:t>input.nextLine</a:t>
            </a:r>
            <a:r>
              <a:rPr lang="en-US" sz="1000" dirty="0"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char </a:t>
            </a:r>
            <a:r>
              <a:rPr lang="en-US" sz="1000" dirty="0" err="1">
                <a:latin typeface="Calibir"/>
              </a:rPr>
              <a:t>firstCharacter</a:t>
            </a:r>
            <a:r>
              <a:rPr lang="en-US" sz="1000" dirty="0">
                <a:latin typeface="Calibir"/>
              </a:rPr>
              <a:t> = </a:t>
            </a:r>
            <a:r>
              <a:rPr lang="en-US" sz="1000" dirty="0" err="1">
                <a:latin typeface="Calibir"/>
              </a:rPr>
              <a:t>text.charAt</a:t>
            </a:r>
            <a:r>
              <a:rPr lang="en-US" sz="1000" dirty="0">
                <a:latin typeface="Calibir"/>
              </a:rPr>
              <a:t>(0);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char </a:t>
            </a:r>
            <a:r>
              <a:rPr lang="en-US" sz="1000" dirty="0" err="1">
                <a:latin typeface="Calibir"/>
              </a:rPr>
              <a:t>lastCharacter</a:t>
            </a:r>
            <a:r>
              <a:rPr lang="en-US" sz="1000" dirty="0">
                <a:latin typeface="Calibir"/>
              </a:rPr>
              <a:t> =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    </a:t>
            </a:r>
            <a:r>
              <a:rPr lang="en-US" sz="1000" dirty="0" err="1">
                <a:latin typeface="Calibir"/>
              </a:rPr>
              <a:t>text.charAt</a:t>
            </a:r>
            <a:r>
              <a:rPr lang="en-US" sz="1000" dirty="0">
                <a:latin typeface="Calibir"/>
              </a:rPr>
              <a:t>(</a:t>
            </a:r>
            <a:r>
              <a:rPr lang="en-US" sz="1000" dirty="0" err="1">
                <a:latin typeface="Calibir"/>
              </a:rPr>
              <a:t>text.length</a:t>
            </a:r>
            <a:r>
              <a:rPr lang="en-US" sz="1000" dirty="0">
                <a:latin typeface="Calibir"/>
              </a:rPr>
              <a:t>() - 1);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String </a:t>
            </a:r>
            <a:r>
              <a:rPr lang="en-US" sz="1000" dirty="0" err="1">
                <a:latin typeface="Calibir"/>
              </a:rPr>
              <a:t>lowerString</a:t>
            </a:r>
            <a:r>
              <a:rPr lang="en-US" sz="1000" dirty="0">
                <a:latin typeface="Calibir"/>
              </a:rPr>
              <a:t> = </a:t>
            </a:r>
            <a:r>
              <a:rPr lang="en-US" sz="1000" dirty="0" err="1">
                <a:latin typeface="Calibir"/>
              </a:rPr>
              <a:t>text.toLowerCase</a:t>
            </a:r>
            <a:r>
              <a:rPr lang="en-US" sz="1000" dirty="0"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int length = </a:t>
            </a:r>
            <a:r>
              <a:rPr lang="en-US" sz="1000" dirty="0" err="1">
                <a:latin typeface="Calibir"/>
              </a:rPr>
              <a:t>text.length</a:t>
            </a:r>
            <a:r>
              <a:rPr lang="en-US" sz="1000" dirty="0"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</a:t>
            </a:r>
            <a:r>
              <a:rPr lang="en-US" sz="1000" dirty="0" err="1">
                <a:latin typeface="Calibir"/>
              </a:rPr>
              <a:t>System.out.println</a:t>
            </a:r>
            <a:r>
              <a:rPr lang="en-US" sz="1000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    "First character: " + </a:t>
            </a:r>
            <a:r>
              <a:rPr lang="en-US" sz="1000" dirty="0" err="1">
                <a:latin typeface="Calibir"/>
              </a:rPr>
              <a:t>firstCharacter</a:t>
            </a:r>
            <a:endParaRPr lang="en-US" sz="10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);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</a:t>
            </a:r>
            <a:r>
              <a:rPr lang="en-US" sz="1000" dirty="0" err="1">
                <a:latin typeface="Calibir"/>
              </a:rPr>
              <a:t>System.out.println</a:t>
            </a:r>
            <a:r>
              <a:rPr lang="en-US" sz="1000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    "Last character: " + </a:t>
            </a:r>
            <a:r>
              <a:rPr lang="en-US" sz="1000" dirty="0" err="1">
                <a:latin typeface="Calibir"/>
              </a:rPr>
              <a:t>lastCharacter</a:t>
            </a:r>
            <a:endParaRPr lang="en-US" sz="10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);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</a:t>
            </a:r>
            <a:r>
              <a:rPr lang="en-US" sz="1000" dirty="0" err="1">
                <a:latin typeface="Calibir"/>
              </a:rPr>
              <a:t>System.out.println</a:t>
            </a:r>
            <a:r>
              <a:rPr lang="en-US" sz="1000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    "Lower-case string: " + </a:t>
            </a:r>
            <a:r>
              <a:rPr lang="en-US" sz="1000" dirty="0" err="1">
                <a:latin typeface="Calibir"/>
              </a:rPr>
              <a:t>lowerString</a:t>
            </a:r>
            <a:endParaRPr lang="en-US" sz="10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);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</a:t>
            </a:r>
            <a:r>
              <a:rPr lang="en-US" sz="1000" dirty="0" err="1">
                <a:latin typeface="Calibir"/>
              </a:rPr>
              <a:t>System.out.println</a:t>
            </a:r>
            <a:r>
              <a:rPr lang="en-US" sz="1000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    "String length: " + length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);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</a:t>
            </a:r>
            <a:r>
              <a:rPr lang="en-US" sz="1000" dirty="0" err="1">
                <a:latin typeface="Calibir"/>
              </a:rPr>
              <a:t>input.close</a:t>
            </a:r>
            <a:r>
              <a:rPr lang="en-US" sz="1000" dirty="0"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1EF7E9-E0F0-6084-D321-11257BC30911}"/>
              </a:ext>
            </a:extLst>
          </p:cNvPr>
          <p:cNvSpPr txBox="1"/>
          <p:nvPr/>
        </p:nvSpPr>
        <p:spPr>
          <a:xfrm>
            <a:off x="4917688" y="1180386"/>
            <a:ext cx="6177774" cy="4448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Calibir"/>
              </a:rPr>
              <a:t>Both versions assume the user enters at least one character.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Calibir"/>
              </a:rPr>
              <a:t>Q: If a string contains 10 characters, what is the index of its last character?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Calibir"/>
              </a:rPr>
              <a:t>9, because indexing starts from 0.</a:t>
            </a:r>
          </a:p>
        </p:txBody>
      </p:sp>
    </p:spTree>
    <p:extLst>
      <p:ext uri="{BB962C8B-B14F-4D97-AF65-F5344CB8AC3E}">
        <p14:creationId xmlns:p14="http://schemas.microsoft.com/office/powerpoint/2010/main" val="358983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3FE0C017-4F14-E49E-A1AB-D1A1AE7B21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9613"/>
            <a:ext cx="11362267" cy="1109133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GB" dirty="0"/>
              <a:t>Lab 3 Exercises</a:t>
            </a:r>
            <a:endParaRPr dirty="0"/>
          </a:p>
        </p:txBody>
      </p:sp>
      <p:sp>
        <p:nvSpPr>
          <p:cNvPr id="13" name="Google Shape;351;p45">
            <a:extLst>
              <a:ext uri="{FF2B5EF4-FFF2-40B4-BE49-F238E27FC236}">
                <a16:creationId xmlns:a16="http://schemas.microsoft.com/office/drawing/2014/main" id="{A54F7399-0325-D592-E3BD-B74B580D26E3}"/>
              </a:ext>
            </a:extLst>
          </p:cNvPr>
          <p:cNvSpPr/>
          <p:nvPr/>
        </p:nvSpPr>
        <p:spPr>
          <a:xfrm>
            <a:off x="754566" y="2104662"/>
            <a:ext cx="10682868" cy="348874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GB" sz="2400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1- The class should have two fields: make and </a:t>
            </a:r>
            <a:r>
              <a:rPr lang="en-GB" sz="2400" kern="0" dirty="0" err="1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pos</a:t>
            </a:r>
            <a:endParaRPr lang="en-GB" sz="2400" kern="0" dirty="0">
              <a:solidFill>
                <a:prstClr val="black"/>
              </a:solidFill>
              <a:latin typeface="Economica" panose="020B0604020202020204" charset="0"/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-GB" sz="2400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2- Define a constructor that initializes the fields</a:t>
            </a:r>
          </a:p>
          <a:p>
            <a:pPr defTabSz="1219170">
              <a:buClr>
                <a:srgbClr val="000000"/>
              </a:buClr>
            </a:pPr>
            <a:r>
              <a:rPr lang="en-GB" sz="2400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3- Define a function to move the position by distance</a:t>
            </a:r>
          </a:p>
          <a:p>
            <a:pPr defTabSz="1219170">
              <a:buClr>
                <a:srgbClr val="000000"/>
              </a:buClr>
            </a:pPr>
            <a:r>
              <a:rPr lang="en-GB" sz="2400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4- Define the object descriptive function that returns: </a:t>
            </a:r>
            <a:r>
              <a:rPr lang="en-GB" sz="2400" kern="0" dirty="0">
                <a:solidFill>
                  <a:srgbClr val="F79646">
                    <a:lumMod val="75000"/>
                  </a:srgbClr>
                </a:solidFill>
                <a:latin typeface="Economica" panose="020B0604020202020204" charset="0"/>
                <a:cs typeface="Arial"/>
                <a:sym typeface="Arial"/>
              </a:rPr>
              <a:t>&lt;make&gt; is at position &lt;</a:t>
            </a:r>
            <a:r>
              <a:rPr lang="en-GB" sz="2400" kern="0" dirty="0" err="1">
                <a:solidFill>
                  <a:srgbClr val="F79646">
                    <a:lumMod val="75000"/>
                  </a:srgbClr>
                </a:solidFill>
                <a:latin typeface="Economica" panose="020B0604020202020204" charset="0"/>
                <a:cs typeface="Arial"/>
                <a:sym typeface="Arial"/>
              </a:rPr>
              <a:t>pos</a:t>
            </a:r>
            <a:r>
              <a:rPr lang="en-GB" sz="2400" kern="0" dirty="0">
                <a:solidFill>
                  <a:srgbClr val="F79646">
                    <a:lumMod val="75000"/>
                  </a:srgbClr>
                </a:solidFill>
                <a:latin typeface="Economica" panose="020B0604020202020204" charset="0"/>
                <a:cs typeface="Arial"/>
                <a:sym typeface="Arial"/>
              </a:rPr>
              <a:t> value&gt;</a:t>
            </a:r>
          </a:p>
          <a:p>
            <a:pPr defTabSz="1219170">
              <a:buClr>
                <a:srgbClr val="000000"/>
              </a:buClr>
            </a:pPr>
            <a:r>
              <a:rPr lang="en-GB" sz="2400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5- Create an object of Type Car and initialize the fields to “BMW” and 0</a:t>
            </a:r>
          </a:p>
          <a:p>
            <a:pPr defTabSz="1219170">
              <a:buClr>
                <a:srgbClr val="000000"/>
              </a:buClr>
            </a:pPr>
            <a:r>
              <a:rPr lang="en-GB" sz="2400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6- Print the current position</a:t>
            </a:r>
          </a:p>
          <a:p>
            <a:pPr defTabSz="1219170">
              <a:buClr>
                <a:srgbClr val="000000"/>
              </a:buClr>
            </a:pPr>
            <a:r>
              <a:rPr lang="en-GB" sz="2400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7- Move the car by 15</a:t>
            </a:r>
            <a:br>
              <a:rPr lang="en-GB" sz="2400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</a:br>
            <a:r>
              <a:rPr lang="en-GB" sz="2400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8- Print the new position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980C27-948C-5A74-3794-543E81ADB7CC}"/>
              </a:ext>
            </a:extLst>
          </p:cNvPr>
          <p:cNvSpPr txBox="1"/>
          <p:nvPr/>
        </p:nvSpPr>
        <p:spPr>
          <a:xfrm>
            <a:off x="508001" y="1089521"/>
            <a:ext cx="11004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2400" b="1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Exercise: </a:t>
            </a: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Develop a class called Car as follows</a:t>
            </a:r>
            <a:endParaRPr lang="en-US" sz="2400" kern="0" dirty="0">
              <a:solidFill>
                <a:srgbClr val="000000"/>
              </a:solidFill>
              <a:latin typeface="Economica" panose="020B060402020202020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087240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0B1FE804-4BEF-092A-36E6-CB9B940D3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0D8D39-E0C1-054B-242A-8D35B5C3CB76}"/>
              </a:ext>
            </a:extLst>
          </p:cNvPr>
          <p:cNvSpPr txBox="1"/>
          <p:nvPr/>
        </p:nvSpPr>
        <p:spPr>
          <a:xfrm>
            <a:off x="0" y="0"/>
            <a:ext cx="12192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Creating a Car Class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is particularly important because you now move into object-oriented programming.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6A7C01-D4DD-890D-D14C-801B9ED661A5}"/>
              </a:ext>
            </a:extLst>
          </p:cNvPr>
          <p:cNvSpPr txBox="1"/>
          <p:nvPr/>
        </p:nvSpPr>
        <p:spPr>
          <a:xfrm>
            <a:off x="0" y="2163337"/>
            <a:ext cx="121920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Python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1 — Create an empty class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Start with: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class Car: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 pass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creates the basic class.</a:t>
            </a:r>
          </a:p>
        </p:txBody>
      </p:sp>
    </p:spTree>
    <p:extLst>
      <p:ext uri="{BB962C8B-B14F-4D97-AF65-F5344CB8AC3E}">
        <p14:creationId xmlns:p14="http://schemas.microsoft.com/office/powerpoint/2010/main" val="68011945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B1204587-2AD1-BE1D-3F9C-65A32E155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64FBC6-FA02-0D2C-0D60-039FA70B3FD4}"/>
              </a:ext>
            </a:extLst>
          </p:cNvPr>
          <p:cNvSpPr txBox="1"/>
          <p:nvPr/>
        </p:nvSpPr>
        <p:spPr>
          <a:xfrm>
            <a:off x="0" y="0"/>
            <a:ext cx="12192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2 — Add the constructor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class Car: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def __</a:t>
            </a:r>
            <a:r>
              <a:rPr lang="en-US" sz="2800" dirty="0" err="1">
                <a:latin typeface="Calibir"/>
              </a:rPr>
              <a:t>init</a:t>
            </a:r>
            <a:r>
              <a:rPr lang="en-US" sz="2800" dirty="0">
                <a:latin typeface="Calibir"/>
              </a:rPr>
              <a:t>__(self, make, pos):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</a:t>
            </a:r>
            <a:r>
              <a:rPr lang="en-US" sz="2800" dirty="0" err="1">
                <a:latin typeface="Calibir"/>
              </a:rPr>
              <a:t>self.make</a:t>
            </a:r>
            <a:r>
              <a:rPr lang="en-US" sz="2800" dirty="0">
                <a:latin typeface="Calibir"/>
              </a:rPr>
              <a:t> = make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</a:t>
            </a:r>
            <a:r>
              <a:rPr lang="en-US" sz="2800" dirty="0" err="1">
                <a:latin typeface="Calibir"/>
              </a:rPr>
              <a:t>self.pos</a:t>
            </a:r>
            <a:r>
              <a:rPr lang="en-US" sz="2800" dirty="0">
                <a:latin typeface="Calibir"/>
              </a:rPr>
              <a:t> = pos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__</a:t>
            </a:r>
            <a:r>
              <a:rPr lang="en-US" sz="2800" dirty="0" err="1">
                <a:latin typeface="Calibir"/>
              </a:rPr>
              <a:t>init</a:t>
            </a:r>
            <a:r>
              <a:rPr lang="en-US" sz="2800" dirty="0">
                <a:latin typeface="Calibir"/>
              </a:rPr>
              <a:t>__ is Python's constructor.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When we create a car, it initializes its data.</a:t>
            </a:r>
          </a:p>
        </p:txBody>
      </p:sp>
    </p:spTree>
    <p:extLst>
      <p:ext uri="{BB962C8B-B14F-4D97-AF65-F5344CB8AC3E}">
        <p14:creationId xmlns:p14="http://schemas.microsoft.com/office/powerpoint/2010/main" val="17389460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24DBADE6-4DE7-A3F8-12A5-0A29798EE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F12B89-4059-A3C8-76AA-10EE8F03F949}"/>
              </a:ext>
            </a:extLst>
          </p:cNvPr>
          <p:cNvSpPr txBox="1"/>
          <p:nvPr/>
        </p:nvSpPr>
        <p:spPr>
          <a:xfrm>
            <a:off x="0" y="0"/>
            <a:ext cx="121920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3 — Add move()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 requirement says: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Move the position by distance.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Therefore: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def move(self, distance):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</a:t>
            </a:r>
            <a:r>
              <a:rPr lang="en-US" sz="2800" dirty="0" err="1">
                <a:latin typeface="Calibir"/>
              </a:rPr>
              <a:t>self.pos</a:t>
            </a:r>
            <a:r>
              <a:rPr lang="en-US" sz="2800" dirty="0">
                <a:latin typeface="Calibir"/>
              </a:rPr>
              <a:t> = </a:t>
            </a:r>
            <a:r>
              <a:rPr lang="en-US" sz="2800" dirty="0" err="1">
                <a:latin typeface="Calibir"/>
              </a:rPr>
              <a:t>self.pos</a:t>
            </a:r>
            <a:r>
              <a:rPr lang="en-US" sz="2800" dirty="0">
                <a:latin typeface="Calibir"/>
              </a:rPr>
              <a:t> + distance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We can also write: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Calibir"/>
              </a:rPr>
              <a:t>self.pos</a:t>
            </a:r>
            <a:r>
              <a:rPr lang="en-US" sz="2800" dirty="0">
                <a:latin typeface="Calibir"/>
              </a:rPr>
              <a:t> += distance</a:t>
            </a:r>
          </a:p>
        </p:txBody>
      </p:sp>
    </p:spTree>
    <p:extLst>
      <p:ext uri="{BB962C8B-B14F-4D97-AF65-F5344CB8AC3E}">
        <p14:creationId xmlns:p14="http://schemas.microsoft.com/office/powerpoint/2010/main" val="99439572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B7084C03-13AB-AA6A-5883-26C3D48E5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B9DB61-06BF-BBB8-CDF5-FE81C3ABB659}"/>
              </a:ext>
            </a:extLst>
          </p:cNvPr>
          <p:cNvSpPr txBox="1"/>
          <p:nvPr/>
        </p:nvSpPr>
        <p:spPr>
          <a:xfrm>
            <a:off x="0" y="0"/>
            <a:ext cx="1219200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4 — Add the descriptive function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In Python, __str__() is normally used to describe an object as text: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def __str__(self):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return f"{</a:t>
            </a:r>
            <a:r>
              <a:rPr lang="en-US" sz="2800" dirty="0" err="1">
                <a:latin typeface="Calibir"/>
              </a:rPr>
              <a:t>self.make</a:t>
            </a:r>
            <a:r>
              <a:rPr lang="en-US" sz="2800" dirty="0">
                <a:latin typeface="Calibir"/>
              </a:rPr>
              <a:t>} is at position {</a:t>
            </a:r>
            <a:r>
              <a:rPr lang="en-US" sz="2800" dirty="0" err="1">
                <a:latin typeface="Calibir"/>
              </a:rPr>
              <a:t>self.pos</a:t>
            </a:r>
            <a:r>
              <a:rPr lang="en-US" sz="2800" dirty="0">
                <a:latin typeface="Calibir"/>
              </a:rPr>
              <a:t>}"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5 — Create the BMW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car = Car("BMW", 0)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means: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make = BMW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pos  = 0</a:t>
            </a:r>
          </a:p>
        </p:txBody>
      </p:sp>
    </p:spTree>
    <p:extLst>
      <p:ext uri="{BB962C8B-B14F-4D97-AF65-F5344CB8AC3E}">
        <p14:creationId xmlns:p14="http://schemas.microsoft.com/office/powerpoint/2010/main" val="25930707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561B4728-5D02-16D8-31EB-D6F59BA8A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2094BE-C411-D71F-5E5B-2E52A05CB697}"/>
              </a:ext>
            </a:extLst>
          </p:cNvPr>
          <p:cNvSpPr txBox="1"/>
          <p:nvPr/>
        </p:nvSpPr>
        <p:spPr>
          <a:xfrm>
            <a:off x="0" y="0"/>
            <a:ext cx="12192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6 — Print, move, and print again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print(car)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Calibir"/>
              </a:rPr>
              <a:t>car.move</a:t>
            </a:r>
            <a:r>
              <a:rPr lang="en-US" sz="2800" dirty="0">
                <a:latin typeface="Calibir"/>
              </a:rPr>
              <a:t>(15)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print(car)</a:t>
            </a:r>
          </a:p>
        </p:txBody>
      </p:sp>
    </p:spTree>
    <p:extLst>
      <p:ext uri="{BB962C8B-B14F-4D97-AF65-F5344CB8AC3E}">
        <p14:creationId xmlns:p14="http://schemas.microsoft.com/office/powerpoint/2010/main" val="292206424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6D1A4ABA-A0FF-19BF-DAA7-7CFC52126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208226-6781-A96C-5E00-386871E25013}"/>
              </a:ext>
            </a:extLst>
          </p:cNvPr>
          <p:cNvSpPr txBox="1"/>
          <p:nvPr/>
        </p:nvSpPr>
        <p:spPr>
          <a:xfrm>
            <a:off x="0" y="0"/>
            <a:ext cx="12192000" cy="6780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7 — Completed Python solution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class Car: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    def __</a:t>
            </a:r>
            <a:r>
              <a:rPr lang="en-US" sz="2200" dirty="0" err="1">
                <a:latin typeface="Calibir"/>
              </a:rPr>
              <a:t>init</a:t>
            </a:r>
            <a:r>
              <a:rPr lang="en-US" sz="2200" dirty="0">
                <a:latin typeface="Calibir"/>
              </a:rPr>
              <a:t>__(self, make, pos):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        </a:t>
            </a:r>
            <a:r>
              <a:rPr lang="en-US" sz="2200" dirty="0" err="1">
                <a:latin typeface="Calibir"/>
              </a:rPr>
              <a:t>self.make</a:t>
            </a:r>
            <a:r>
              <a:rPr lang="en-US" sz="2200" dirty="0">
                <a:latin typeface="Calibir"/>
              </a:rPr>
              <a:t> = make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        </a:t>
            </a:r>
            <a:r>
              <a:rPr lang="en-US" sz="2200" dirty="0" err="1">
                <a:latin typeface="Calibir"/>
              </a:rPr>
              <a:t>self.pos</a:t>
            </a:r>
            <a:r>
              <a:rPr lang="en-US" sz="2200" dirty="0">
                <a:latin typeface="Calibir"/>
              </a:rPr>
              <a:t> = pos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    def move(self, distance):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        </a:t>
            </a:r>
            <a:r>
              <a:rPr lang="en-US" sz="2200" dirty="0" err="1">
                <a:latin typeface="Calibir"/>
              </a:rPr>
              <a:t>self.pos</a:t>
            </a:r>
            <a:r>
              <a:rPr lang="en-US" sz="2200" dirty="0">
                <a:latin typeface="Calibir"/>
              </a:rPr>
              <a:t> += distance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    def __str__(self):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        return f"{</a:t>
            </a:r>
            <a:r>
              <a:rPr lang="en-US" sz="2200" dirty="0" err="1">
                <a:latin typeface="Calibir"/>
              </a:rPr>
              <a:t>self.make</a:t>
            </a:r>
            <a:r>
              <a:rPr lang="en-US" sz="2200" dirty="0">
                <a:latin typeface="Calibir"/>
              </a:rPr>
              <a:t>} is at position {</a:t>
            </a:r>
            <a:r>
              <a:rPr lang="en-US" sz="2200" dirty="0" err="1">
                <a:latin typeface="Calibir"/>
              </a:rPr>
              <a:t>self.pos</a:t>
            </a:r>
            <a:r>
              <a:rPr lang="en-US" sz="2200" dirty="0">
                <a:latin typeface="Calibir"/>
              </a:rPr>
              <a:t>}"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car = Car("BMW", 0)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print(car)</a:t>
            </a:r>
          </a:p>
          <a:p>
            <a:pPr>
              <a:lnSpc>
                <a:spcPct val="150000"/>
              </a:lnSpc>
            </a:pPr>
            <a:r>
              <a:rPr lang="en-US" sz="2200" dirty="0" err="1">
                <a:latin typeface="Calibir"/>
              </a:rPr>
              <a:t>car.move</a:t>
            </a:r>
            <a:r>
              <a:rPr lang="en-US" sz="2200" dirty="0">
                <a:latin typeface="Calibir"/>
              </a:rPr>
              <a:t>(15)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print(car)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39D02F-389D-0ED4-5431-DA750518A34A}"/>
              </a:ext>
            </a:extLst>
          </p:cNvPr>
          <p:cNvSpPr txBox="1"/>
          <p:nvPr/>
        </p:nvSpPr>
        <p:spPr>
          <a:xfrm>
            <a:off x="6294863" y="4815677"/>
            <a:ext cx="6166624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Output: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BMW is at position 0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BMW is at position 15</a:t>
            </a:r>
          </a:p>
        </p:txBody>
      </p:sp>
    </p:spTree>
    <p:extLst>
      <p:ext uri="{BB962C8B-B14F-4D97-AF65-F5344CB8AC3E}">
        <p14:creationId xmlns:p14="http://schemas.microsoft.com/office/powerpoint/2010/main" val="51228033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7982744E-570A-FAFF-7FD4-D0210E84E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E6181E-C0EA-E426-E173-D246CC0D1400}"/>
              </a:ext>
            </a:extLst>
          </p:cNvPr>
          <p:cNvSpPr txBox="1"/>
          <p:nvPr/>
        </p:nvSpPr>
        <p:spPr>
          <a:xfrm>
            <a:off x="0" y="-223020"/>
            <a:ext cx="12192000" cy="7237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Java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Step 1 — Create the class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public class Car {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private String make;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private int pos;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These are the two required fields.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Step 2 — Add the constructor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public Car(String make, int pos) {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</a:t>
            </a:r>
            <a:r>
              <a:rPr lang="en-US" sz="2400" dirty="0" err="1">
                <a:latin typeface="Calibir"/>
              </a:rPr>
              <a:t>this.make</a:t>
            </a:r>
            <a:r>
              <a:rPr lang="en-US" sz="2400" dirty="0">
                <a:latin typeface="Calibir"/>
              </a:rPr>
              <a:t> = make;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</a:t>
            </a:r>
            <a:r>
              <a:rPr lang="en-US" sz="2400" dirty="0" err="1">
                <a:latin typeface="Calibir"/>
              </a:rPr>
              <a:t>this.pos</a:t>
            </a:r>
            <a:r>
              <a:rPr lang="en-US" sz="2400" dirty="0">
                <a:latin typeface="Calibir"/>
              </a:rPr>
              <a:t> = pos;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Calibir"/>
              </a:rPr>
              <a:t>this.make</a:t>
            </a:r>
            <a:r>
              <a:rPr lang="en-US" sz="2400" dirty="0">
                <a:latin typeface="Calibir"/>
              </a:rPr>
              <a:t> means the object's make field.</a:t>
            </a:r>
          </a:p>
        </p:txBody>
      </p:sp>
    </p:spTree>
    <p:extLst>
      <p:ext uri="{BB962C8B-B14F-4D97-AF65-F5344CB8AC3E}">
        <p14:creationId xmlns:p14="http://schemas.microsoft.com/office/powerpoint/2010/main" val="322709131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11422A6C-7FF6-2137-74A8-F0E374AE0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D4418D-5E70-AF8F-8678-37242D9DED3F}"/>
              </a:ext>
            </a:extLst>
          </p:cNvPr>
          <p:cNvSpPr txBox="1"/>
          <p:nvPr/>
        </p:nvSpPr>
        <p:spPr>
          <a:xfrm>
            <a:off x="0" y="184586"/>
            <a:ext cx="12192000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3 — Add move()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public void move(int distance) {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pos += distance;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4 — Add the descriptive method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Java normally uses </a:t>
            </a:r>
            <a:r>
              <a:rPr lang="en-US" sz="2800" dirty="0" err="1">
                <a:latin typeface="Calibir"/>
              </a:rPr>
              <a:t>toString</a:t>
            </a:r>
            <a:r>
              <a:rPr lang="en-US" sz="2800" dirty="0">
                <a:latin typeface="Calibir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@Override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public String </a:t>
            </a:r>
            <a:r>
              <a:rPr lang="en-US" sz="2800" dirty="0" err="1">
                <a:latin typeface="Calibir"/>
              </a:rPr>
              <a:t>toString</a:t>
            </a:r>
            <a:r>
              <a:rPr lang="en-US" sz="2800" dirty="0">
                <a:latin typeface="Calibir"/>
              </a:rPr>
              <a:t>() {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return make + " is at position " + pos;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4796177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BA8B32E6-E34F-45D1-5FAE-184495D74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4D8E7B-106A-2137-07F4-999A38AA165C}"/>
              </a:ext>
            </a:extLst>
          </p:cNvPr>
          <p:cNvSpPr txBox="1"/>
          <p:nvPr/>
        </p:nvSpPr>
        <p:spPr>
          <a:xfrm>
            <a:off x="0" y="184586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5 — Create and test the object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Car </a:t>
            </a:r>
            <a:r>
              <a:rPr lang="en-US" sz="2800" dirty="0" err="1">
                <a:latin typeface="Calibir"/>
              </a:rPr>
              <a:t>car</a:t>
            </a:r>
            <a:r>
              <a:rPr lang="en-US" sz="2800" dirty="0">
                <a:latin typeface="Calibir"/>
              </a:rPr>
              <a:t> = new Car("BMW", 0);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Calibir"/>
              </a:rPr>
              <a:t>System.out.println</a:t>
            </a:r>
            <a:r>
              <a:rPr lang="en-US" sz="2800" dirty="0">
                <a:latin typeface="Calibir"/>
              </a:rPr>
              <a:t>(car);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Calibir"/>
              </a:rPr>
              <a:t>car.move</a:t>
            </a:r>
            <a:r>
              <a:rPr lang="en-US" sz="2800" dirty="0">
                <a:latin typeface="Calibir"/>
              </a:rPr>
              <a:t>(15);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Calibir"/>
              </a:rPr>
              <a:t>System.out.println</a:t>
            </a:r>
            <a:r>
              <a:rPr lang="en-US" sz="2800" dirty="0">
                <a:latin typeface="Calibir"/>
              </a:rPr>
              <a:t>(car);</a:t>
            </a:r>
          </a:p>
        </p:txBody>
      </p:sp>
    </p:spTree>
    <p:extLst>
      <p:ext uri="{BB962C8B-B14F-4D97-AF65-F5344CB8AC3E}">
        <p14:creationId xmlns:p14="http://schemas.microsoft.com/office/powerpoint/2010/main" val="368940415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ADAC6120-175D-C52B-3887-DB985798F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540889-C238-796C-ED6A-DFF997E474EF}"/>
              </a:ext>
            </a:extLst>
          </p:cNvPr>
          <p:cNvSpPr txBox="1"/>
          <p:nvPr/>
        </p:nvSpPr>
        <p:spPr>
          <a:xfrm>
            <a:off x="0" y="184586"/>
            <a:ext cx="12192000" cy="652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6 — Completed Java solution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public class Car {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private String make;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private int pos;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public Car(String make, int pos) {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    </a:t>
            </a:r>
            <a:r>
              <a:rPr lang="en-US" sz="1200" dirty="0" err="1">
                <a:latin typeface="Calibir"/>
              </a:rPr>
              <a:t>this.make</a:t>
            </a:r>
            <a:r>
              <a:rPr lang="en-US" sz="1200" dirty="0">
                <a:latin typeface="Calibir"/>
              </a:rPr>
              <a:t> = make;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    </a:t>
            </a:r>
            <a:r>
              <a:rPr lang="en-US" sz="1200" dirty="0" err="1">
                <a:latin typeface="Calibir"/>
              </a:rPr>
              <a:t>this.pos</a:t>
            </a:r>
            <a:r>
              <a:rPr lang="en-US" sz="1200" dirty="0">
                <a:latin typeface="Calibir"/>
              </a:rPr>
              <a:t> = pos;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public void move(int distance) {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    pos += distance;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@Override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public String </a:t>
            </a:r>
            <a:r>
              <a:rPr lang="en-US" sz="1200" dirty="0" err="1">
                <a:latin typeface="Calibir"/>
              </a:rPr>
              <a:t>toString</a:t>
            </a:r>
            <a:r>
              <a:rPr lang="en-US" sz="1200" dirty="0">
                <a:latin typeface="Calibir"/>
              </a:rPr>
              <a:t>() {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    return make + " is at position " + pos;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public static void main(String[] </a:t>
            </a:r>
            <a:r>
              <a:rPr lang="en-US" sz="1200" dirty="0" err="1">
                <a:latin typeface="Calibir"/>
              </a:rPr>
              <a:t>args</a:t>
            </a:r>
            <a:r>
              <a:rPr lang="en-US" sz="1200" dirty="0">
                <a:latin typeface="Calibir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    Car </a:t>
            </a:r>
            <a:r>
              <a:rPr lang="en-US" sz="1200" dirty="0" err="1">
                <a:latin typeface="Calibir"/>
              </a:rPr>
              <a:t>car</a:t>
            </a:r>
            <a:r>
              <a:rPr lang="en-US" sz="1200" dirty="0">
                <a:latin typeface="Calibir"/>
              </a:rPr>
              <a:t> = new Car("BMW", 0);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    </a:t>
            </a:r>
            <a:r>
              <a:rPr lang="en-US" sz="1200" dirty="0" err="1">
                <a:latin typeface="Calibir"/>
              </a:rPr>
              <a:t>System.out.println</a:t>
            </a:r>
            <a:r>
              <a:rPr lang="en-US" sz="1200" dirty="0">
                <a:latin typeface="Calibir"/>
              </a:rPr>
              <a:t>(car);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    </a:t>
            </a:r>
            <a:r>
              <a:rPr lang="en-US" sz="1200" dirty="0" err="1">
                <a:latin typeface="Calibir"/>
              </a:rPr>
              <a:t>car.move</a:t>
            </a:r>
            <a:r>
              <a:rPr lang="en-US" sz="1200" dirty="0">
                <a:latin typeface="Calibir"/>
              </a:rPr>
              <a:t>(15);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    </a:t>
            </a:r>
            <a:r>
              <a:rPr lang="en-US" sz="1200" dirty="0" err="1">
                <a:latin typeface="Calibir"/>
              </a:rPr>
              <a:t>System.out.println</a:t>
            </a:r>
            <a:r>
              <a:rPr lang="en-US" sz="1200" dirty="0">
                <a:latin typeface="Calibir"/>
              </a:rPr>
              <a:t>(car);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Calibir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5CC358-4BBF-6D86-90D2-7C72DB346DFA}"/>
              </a:ext>
            </a:extLst>
          </p:cNvPr>
          <p:cNvSpPr txBox="1"/>
          <p:nvPr/>
        </p:nvSpPr>
        <p:spPr>
          <a:xfrm>
            <a:off x="8401665" y="4526267"/>
            <a:ext cx="3790335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Output: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BMW is at position 0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BMW is at position 15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197F5D-F9B7-B00D-D7BD-02DD4BF992A9}"/>
              </a:ext>
            </a:extLst>
          </p:cNvPr>
          <p:cNvSpPr txBox="1"/>
          <p:nvPr/>
        </p:nvSpPr>
        <p:spPr>
          <a:xfrm>
            <a:off x="5884607" y="1349477"/>
            <a:ext cx="6164824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 UML class diagram is a design. The class code is an implementation of that design</a:t>
            </a:r>
          </a:p>
        </p:txBody>
      </p:sp>
    </p:spTree>
    <p:extLst>
      <p:ext uri="{BB962C8B-B14F-4D97-AF65-F5344CB8AC3E}">
        <p14:creationId xmlns:p14="http://schemas.microsoft.com/office/powerpoint/2010/main" val="107158953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3FE0C017-4F14-E49E-A1AB-D1A1AE7B21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9613"/>
            <a:ext cx="11362267" cy="1109133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GB" dirty="0"/>
              <a:t>Lab 3 Exercises</a:t>
            </a:r>
            <a:endParaRPr dirty="0"/>
          </a:p>
        </p:txBody>
      </p:sp>
      <p:sp>
        <p:nvSpPr>
          <p:cNvPr id="13" name="Google Shape;351;p45">
            <a:extLst>
              <a:ext uri="{FF2B5EF4-FFF2-40B4-BE49-F238E27FC236}">
                <a16:creationId xmlns:a16="http://schemas.microsoft.com/office/drawing/2014/main" id="{A54F7399-0325-D592-E3BD-B74B580D26E3}"/>
              </a:ext>
            </a:extLst>
          </p:cNvPr>
          <p:cNvSpPr/>
          <p:nvPr/>
        </p:nvSpPr>
        <p:spPr>
          <a:xfrm>
            <a:off x="508001" y="2271930"/>
            <a:ext cx="11173522" cy="2523094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GB" sz="2400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1- Create an array of integers called ‘numbers’ of size n, n is read from STDIN</a:t>
            </a:r>
          </a:p>
          <a:p>
            <a:pPr defTabSz="1219170">
              <a:buClr>
                <a:srgbClr val="000000"/>
              </a:buClr>
            </a:pPr>
            <a:r>
              <a:rPr lang="en-GB" sz="2400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2- Display the array</a:t>
            </a:r>
          </a:p>
          <a:p>
            <a:pPr defTabSz="1219170">
              <a:buClr>
                <a:srgbClr val="000000"/>
              </a:buClr>
            </a:pPr>
            <a:r>
              <a:rPr lang="en-GB" sz="2400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3- Change the first element to 10</a:t>
            </a:r>
          </a:p>
          <a:p>
            <a:pPr defTabSz="1219170">
              <a:buClr>
                <a:srgbClr val="000000"/>
              </a:buClr>
            </a:pPr>
            <a:r>
              <a:rPr lang="en-GB" sz="2400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4- Change the last element to -5</a:t>
            </a:r>
          </a:p>
          <a:p>
            <a:pPr defTabSz="1219170">
              <a:buClr>
                <a:srgbClr val="000000"/>
              </a:buClr>
            </a:pPr>
            <a:r>
              <a:rPr lang="en-GB" sz="2400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5- Change the middle element to 3</a:t>
            </a:r>
          </a:p>
          <a:p>
            <a:pPr defTabSz="1219170">
              <a:buClr>
                <a:srgbClr val="000000"/>
              </a:buClr>
            </a:pPr>
            <a:r>
              <a:rPr lang="en-GB" sz="2400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6- Display the array again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980C27-948C-5A74-3794-543E81ADB7CC}"/>
              </a:ext>
            </a:extLst>
          </p:cNvPr>
          <p:cNvSpPr txBox="1"/>
          <p:nvPr/>
        </p:nvSpPr>
        <p:spPr>
          <a:xfrm>
            <a:off x="508001" y="1089521"/>
            <a:ext cx="11004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2400" b="1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Exercise: </a:t>
            </a: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Develop a class called Numbers as follows</a:t>
            </a:r>
            <a:endParaRPr lang="en-US" sz="2400" kern="0" dirty="0">
              <a:solidFill>
                <a:srgbClr val="000000"/>
              </a:solidFill>
              <a:latin typeface="Economica" panose="020B060402020202020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788890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EAD28568-BEA3-86DD-8D99-1D83BC4F8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DA9A37-939D-7D25-4AAA-D4BBBD4FB7AF}"/>
              </a:ext>
            </a:extLst>
          </p:cNvPr>
          <p:cNvSpPr txBox="1"/>
          <p:nvPr/>
        </p:nvSpPr>
        <p:spPr>
          <a:xfrm>
            <a:off x="-2458" y="0"/>
            <a:ext cx="6098458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Numbers Class and Arrays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exercise combines classes + arrays.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28353F-1302-8BA5-D19E-E41613DF1AFA}"/>
              </a:ext>
            </a:extLst>
          </p:cNvPr>
          <p:cNvSpPr txBox="1"/>
          <p:nvPr/>
        </p:nvSpPr>
        <p:spPr>
          <a:xfrm>
            <a:off x="0" y="1318181"/>
            <a:ext cx="6164824" cy="5676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Python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Step 1 — Create the class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class Numbers: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    pass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Step 2 — Create the array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We need n zeros: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000" dirty="0" err="1">
                <a:latin typeface="Calibir"/>
              </a:rPr>
              <a:t>self.numbers</a:t>
            </a:r>
            <a:r>
              <a:rPr lang="en-US" sz="2000" dirty="0">
                <a:latin typeface="Calibir"/>
              </a:rPr>
              <a:t> = [0] * n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For: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n = 5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this produces: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[0, 0, 0, 0, 0]</a:t>
            </a:r>
            <a:endParaRPr lang="en-US" sz="24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99235372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61D59B9C-C1DF-9AE8-88FD-7BA978850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EE6226-2E1F-1CE6-F7CE-E4182308C1BD}"/>
              </a:ext>
            </a:extLst>
          </p:cNvPr>
          <p:cNvSpPr txBox="1"/>
          <p:nvPr/>
        </p:nvSpPr>
        <p:spPr>
          <a:xfrm>
            <a:off x="-2458" y="507751"/>
            <a:ext cx="6098458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3 — Add a display method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def display(self):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 print(</a:t>
            </a:r>
            <a:r>
              <a:rPr lang="en-US" sz="2800" dirty="0" err="1">
                <a:latin typeface="Calibir"/>
              </a:rPr>
              <a:t>self.numbers</a:t>
            </a:r>
            <a:r>
              <a:rPr lang="en-US" sz="2800" dirty="0">
                <a:latin typeface="Calibir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4 — Change the first element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 err="1">
                <a:latin typeface="Calibir"/>
              </a:rPr>
              <a:t>self.numbers</a:t>
            </a:r>
            <a:r>
              <a:rPr lang="en-US" sz="2800" dirty="0">
                <a:latin typeface="Calibir"/>
              </a:rPr>
              <a:t>[0] = 10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Remember: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 first array position is index 0.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5 — Change the last element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 err="1">
                <a:latin typeface="Calibir"/>
              </a:rPr>
              <a:t>self.numbers</a:t>
            </a:r>
            <a:r>
              <a:rPr lang="en-US" sz="2800" dirty="0">
                <a:latin typeface="Calibir"/>
              </a:rPr>
              <a:t>[-1] = -5</a:t>
            </a:r>
          </a:p>
        </p:txBody>
      </p:sp>
    </p:spTree>
    <p:extLst>
      <p:ext uri="{BB962C8B-B14F-4D97-AF65-F5344CB8AC3E}">
        <p14:creationId xmlns:p14="http://schemas.microsoft.com/office/powerpoint/2010/main" val="2159507584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A8B139F9-D690-E39D-B2B5-9979EEBCB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E54E2B-BAD2-E8B5-0AE8-5E054C7AF240}"/>
              </a:ext>
            </a:extLst>
          </p:cNvPr>
          <p:cNvSpPr txBox="1"/>
          <p:nvPr/>
        </p:nvSpPr>
        <p:spPr>
          <a:xfrm>
            <a:off x="0" y="0"/>
            <a:ext cx="6098458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6 — Find and change the middle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We can calculate: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middle = </a:t>
            </a:r>
            <a:r>
              <a:rPr lang="en-US" sz="2800" dirty="0" err="1">
                <a:latin typeface="Calibir"/>
              </a:rPr>
              <a:t>len</a:t>
            </a:r>
            <a:r>
              <a:rPr lang="en-US" sz="2800" dirty="0">
                <a:latin typeface="Calibir"/>
              </a:rPr>
              <a:t>(</a:t>
            </a:r>
            <a:r>
              <a:rPr lang="en-US" sz="2800" dirty="0" err="1">
                <a:latin typeface="Calibir"/>
              </a:rPr>
              <a:t>self.numbers</a:t>
            </a:r>
            <a:r>
              <a:rPr lang="en-US" sz="2800" dirty="0">
                <a:latin typeface="Calibir"/>
              </a:rPr>
              <a:t>) // 2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Then: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Calibir"/>
              </a:rPr>
              <a:t>self.numbers</a:t>
            </a:r>
            <a:r>
              <a:rPr lang="en-US" sz="2800" dirty="0">
                <a:latin typeface="Calibir"/>
              </a:rPr>
              <a:t>[middle] = 3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For 5 elements: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Index:   0  1  2  3  4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       ↑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     middle</a:t>
            </a:r>
          </a:p>
        </p:txBody>
      </p:sp>
    </p:spTree>
    <p:extLst>
      <p:ext uri="{BB962C8B-B14F-4D97-AF65-F5344CB8AC3E}">
        <p14:creationId xmlns:p14="http://schemas.microsoft.com/office/powerpoint/2010/main" val="14623882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EBAFB8CC-CCF0-9D5E-7060-7DDF6D171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D74D77-2649-AE5F-5524-E60999274B16}"/>
              </a:ext>
            </a:extLst>
          </p:cNvPr>
          <p:cNvSpPr txBox="1"/>
          <p:nvPr/>
        </p:nvSpPr>
        <p:spPr>
          <a:xfrm>
            <a:off x="0" y="0"/>
            <a:ext cx="12192000" cy="6979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7 — Completed Python solution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class Numbers: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    def __</a:t>
            </a:r>
            <a:r>
              <a:rPr lang="en-US" sz="1600" dirty="0" err="1">
                <a:latin typeface="Calibir"/>
              </a:rPr>
              <a:t>init</a:t>
            </a:r>
            <a:r>
              <a:rPr lang="en-US" sz="1600" dirty="0">
                <a:latin typeface="Calibir"/>
              </a:rPr>
              <a:t>__(self, n):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        </a:t>
            </a:r>
            <a:r>
              <a:rPr lang="en-US" sz="1600" dirty="0" err="1">
                <a:latin typeface="Calibir"/>
              </a:rPr>
              <a:t>self.numbers</a:t>
            </a:r>
            <a:r>
              <a:rPr lang="en-US" sz="1600" dirty="0">
                <a:latin typeface="Calibir"/>
              </a:rPr>
              <a:t> = [0] * n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    def display(self):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        print(</a:t>
            </a:r>
            <a:r>
              <a:rPr lang="en-US" sz="1600" dirty="0" err="1">
                <a:latin typeface="Calibir"/>
              </a:rPr>
              <a:t>self.numbers</a:t>
            </a:r>
            <a:r>
              <a:rPr lang="en-US" sz="1600" dirty="0">
                <a:latin typeface="Calibir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    def </a:t>
            </a:r>
            <a:r>
              <a:rPr lang="en-US" sz="1600" dirty="0" err="1">
                <a:latin typeface="Calibir"/>
              </a:rPr>
              <a:t>change_values</a:t>
            </a:r>
            <a:r>
              <a:rPr lang="en-US" sz="1600" dirty="0">
                <a:latin typeface="Calibir"/>
              </a:rPr>
              <a:t>(self):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        </a:t>
            </a:r>
            <a:r>
              <a:rPr lang="en-US" sz="1600" dirty="0" err="1">
                <a:latin typeface="Calibir"/>
              </a:rPr>
              <a:t>self.numbers</a:t>
            </a:r>
            <a:r>
              <a:rPr lang="en-US" sz="1600" dirty="0">
                <a:latin typeface="Calibir"/>
              </a:rPr>
              <a:t>[0] = 10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        </a:t>
            </a:r>
            <a:r>
              <a:rPr lang="en-US" sz="1600" dirty="0" err="1">
                <a:latin typeface="Calibir"/>
              </a:rPr>
              <a:t>self.numbers</a:t>
            </a:r>
            <a:r>
              <a:rPr lang="en-US" sz="1600" dirty="0">
                <a:latin typeface="Calibir"/>
              </a:rPr>
              <a:t>[-1] = -5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        middle = </a:t>
            </a:r>
            <a:r>
              <a:rPr lang="en-US" sz="1600" dirty="0" err="1">
                <a:latin typeface="Calibir"/>
              </a:rPr>
              <a:t>len</a:t>
            </a:r>
            <a:r>
              <a:rPr lang="en-US" sz="1600" dirty="0">
                <a:latin typeface="Calibir"/>
              </a:rPr>
              <a:t>(</a:t>
            </a:r>
            <a:r>
              <a:rPr lang="en-US" sz="1600" dirty="0" err="1">
                <a:latin typeface="Calibir"/>
              </a:rPr>
              <a:t>self.numbers</a:t>
            </a:r>
            <a:r>
              <a:rPr lang="en-US" sz="1600" dirty="0">
                <a:latin typeface="Calibir"/>
              </a:rPr>
              <a:t>) // 2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        </a:t>
            </a:r>
            <a:r>
              <a:rPr lang="en-US" sz="1600" dirty="0" err="1">
                <a:latin typeface="Calibir"/>
              </a:rPr>
              <a:t>self.numbers</a:t>
            </a:r>
            <a:r>
              <a:rPr lang="en-US" sz="1600" dirty="0">
                <a:latin typeface="Calibir"/>
              </a:rPr>
              <a:t>[middle] = 3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n = int(input("Enter the size of the array: "))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Calibir"/>
              </a:rPr>
              <a:t>numbers_object</a:t>
            </a:r>
            <a:r>
              <a:rPr lang="en-US" sz="1600" dirty="0">
                <a:latin typeface="Calibir"/>
              </a:rPr>
              <a:t> = Numbers(n)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print("Original array:")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Calibir"/>
              </a:rPr>
              <a:t>numbers_object.display</a:t>
            </a:r>
            <a:r>
              <a:rPr lang="en-US" sz="1600" dirty="0">
                <a:latin typeface="Calibir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Calibir"/>
              </a:rPr>
              <a:t>numbers_object.change_values</a:t>
            </a:r>
            <a:r>
              <a:rPr lang="en-US" sz="1600" dirty="0">
                <a:latin typeface="Calibir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print("Modified array:")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Calibir"/>
              </a:rPr>
              <a:t>numbers_object.display</a:t>
            </a:r>
            <a:r>
              <a:rPr lang="en-US" sz="1600" dirty="0">
                <a:latin typeface="Calibir"/>
              </a:rPr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AB2324-6E4D-4F99-B1A4-A1383CB0D470}"/>
              </a:ext>
            </a:extLst>
          </p:cNvPr>
          <p:cNvSpPr txBox="1"/>
          <p:nvPr/>
        </p:nvSpPr>
        <p:spPr>
          <a:xfrm>
            <a:off x="6607097" y="1477248"/>
            <a:ext cx="6166624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For n = 5: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Enter the size of the array: 5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Original array: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[0, 0, 0, 0, 0]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Modified array: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[10, 0, 3, 0, -5]</a:t>
            </a:r>
          </a:p>
        </p:txBody>
      </p:sp>
    </p:spTree>
    <p:extLst>
      <p:ext uri="{BB962C8B-B14F-4D97-AF65-F5344CB8AC3E}">
        <p14:creationId xmlns:p14="http://schemas.microsoft.com/office/powerpoint/2010/main" val="180918137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5976B0DC-6B16-017E-7052-11AF3CB81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5B098D-D3A4-BD7C-8D90-4CF85E0369B7}"/>
              </a:ext>
            </a:extLst>
          </p:cNvPr>
          <p:cNvSpPr txBox="1"/>
          <p:nvPr/>
        </p:nvSpPr>
        <p:spPr>
          <a:xfrm>
            <a:off x="0" y="0"/>
            <a:ext cx="12192000" cy="6964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Java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Step 1 — Create the class and field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public class Numbers {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    private int[] numbers;</a:t>
            </a:r>
          </a:p>
          <a:p>
            <a:pPr>
              <a:lnSpc>
                <a:spcPct val="150000"/>
              </a:lnSpc>
            </a:pPr>
            <a:endParaRPr lang="en-US" sz="22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int[] means: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an array containing integers.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Step 2 — Constructor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public Numbers(int n) {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    numbers = new int[n];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If n = 5, Java creates: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[0, 0, 0, 0, 0]  </a:t>
            </a:r>
            <a:r>
              <a:rPr lang="en-US" sz="2200" dirty="0">
                <a:latin typeface="Calibir"/>
              </a:rPr>
              <a:t>Java automatically initializes an int array with zeros.</a:t>
            </a:r>
          </a:p>
        </p:txBody>
      </p:sp>
    </p:spTree>
    <p:extLst>
      <p:ext uri="{BB962C8B-B14F-4D97-AF65-F5344CB8AC3E}">
        <p14:creationId xmlns:p14="http://schemas.microsoft.com/office/powerpoint/2010/main" val="189684454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C644FBFA-B178-A831-14BD-B0A2B549A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71D951-56E8-D346-BFE9-5D9E091A602F}"/>
              </a:ext>
            </a:extLst>
          </p:cNvPr>
          <p:cNvSpPr txBox="1"/>
          <p:nvPr/>
        </p:nvSpPr>
        <p:spPr>
          <a:xfrm>
            <a:off x="0" y="0"/>
            <a:ext cx="1219200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3 — Display the array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We can use: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Calibir"/>
              </a:rPr>
              <a:t>Arrays.toString</a:t>
            </a:r>
            <a:r>
              <a:rPr lang="en-US" sz="2800" dirty="0">
                <a:latin typeface="Calibir"/>
              </a:rPr>
              <a:t>(numbers)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So first import: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import </a:t>
            </a:r>
            <a:r>
              <a:rPr lang="en-US" sz="2800" dirty="0" err="1">
                <a:latin typeface="Calibir"/>
              </a:rPr>
              <a:t>java.util.Arrays</a:t>
            </a:r>
            <a:r>
              <a:rPr lang="en-US" sz="2800" dirty="0">
                <a:latin typeface="Calibir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Then: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public void display() {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</a:t>
            </a:r>
            <a:r>
              <a:rPr lang="en-US" sz="2800" dirty="0" err="1">
                <a:latin typeface="Calibir"/>
              </a:rPr>
              <a:t>System.out.println</a:t>
            </a:r>
            <a:r>
              <a:rPr lang="en-US" sz="2800" dirty="0">
                <a:latin typeface="Calibir"/>
              </a:rPr>
              <a:t>(</a:t>
            </a:r>
            <a:r>
              <a:rPr lang="en-US" sz="2800" dirty="0" err="1">
                <a:latin typeface="Calibir"/>
              </a:rPr>
              <a:t>Arrays.toString</a:t>
            </a:r>
            <a:r>
              <a:rPr lang="en-US" sz="2800" dirty="0">
                <a:latin typeface="Calibir"/>
              </a:rPr>
              <a:t>(numbers));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122166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61635EB5-D05B-0373-C032-EA787D2BC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C223CF-8055-D629-F182-BDC42D0C8B5A}"/>
              </a:ext>
            </a:extLst>
          </p:cNvPr>
          <p:cNvSpPr txBox="1"/>
          <p:nvPr/>
        </p:nvSpPr>
        <p:spPr>
          <a:xfrm>
            <a:off x="0" y="0"/>
            <a:ext cx="121920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4 — Change the values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First: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numbers[0] = 10;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Last: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numbers[</a:t>
            </a:r>
            <a:r>
              <a:rPr lang="en-US" sz="2800" dirty="0" err="1">
                <a:latin typeface="Calibir"/>
              </a:rPr>
              <a:t>numbers.length</a:t>
            </a:r>
            <a:r>
              <a:rPr lang="en-US" sz="2800" dirty="0">
                <a:latin typeface="Calibir"/>
              </a:rPr>
              <a:t> - 1] = -5;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Middle: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int middle = </a:t>
            </a:r>
            <a:r>
              <a:rPr lang="en-US" sz="2800" dirty="0" err="1">
                <a:latin typeface="Calibir"/>
              </a:rPr>
              <a:t>numbers.length</a:t>
            </a:r>
            <a:r>
              <a:rPr lang="en-US" sz="2800" dirty="0">
                <a:latin typeface="Calibir"/>
              </a:rPr>
              <a:t> / 2;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numbers[middle] = 3;</a:t>
            </a:r>
          </a:p>
        </p:txBody>
      </p:sp>
    </p:spTree>
    <p:extLst>
      <p:ext uri="{BB962C8B-B14F-4D97-AF65-F5344CB8AC3E}">
        <p14:creationId xmlns:p14="http://schemas.microsoft.com/office/powerpoint/2010/main" val="58998966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8725B059-DE38-DE1D-ABF4-D32DF662A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34F8BF-5F91-3D19-84D7-D78344691946}"/>
              </a:ext>
            </a:extLst>
          </p:cNvPr>
          <p:cNvSpPr txBox="1"/>
          <p:nvPr/>
        </p:nvSpPr>
        <p:spPr>
          <a:xfrm>
            <a:off x="0" y="-178420"/>
            <a:ext cx="5709424" cy="7408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5 — Completed Java solution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import </a:t>
            </a:r>
            <a:r>
              <a:rPr lang="en-US" sz="1000" dirty="0" err="1">
                <a:latin typeface="Calibir"/>
              </a:rPr>
              <a:t>java.util.Arrays</a:t>
            </a:r>
            <a:r>
              <a:rPr lang="en-US" sz="1000" dirty="0">
                <a:latin typeface="Calibir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import </a:t>
            </a:r>
            <a:r>
              <a:rPr lang="en-US" sz="1000" dirty="0" err="1">
                <a:latin typeface="Calibir"/>
              </a:rPr>
              <a:t>java.util.Scanner</a:t>
            </a:r>
            <a:r>
              <a:rPr lang="en-US" sz="1000" dirty="0">
                <a:latin typeface="Calibir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public class Numbers {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private int[] numbers;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public Numbers(int n) {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numbers = new int[n];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public void display() {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</a:t>
            </a:r>
            <a:r>
              <a:rPr lang="en-US" sz="1000" dirty="0" err="1">
                <a:latin typeface="Calibir"/>
              </a:rPr>
              <a:t>System.out.println</a:t>
            </a:r>
            <a:r>
              <a:rPr lang="en-US" sz="1000" dirty="0">
                <a:latin typeface="Calibir"/>
              </a:rPr>
              <a:t>(</a:t>
            </a:r>
            <a:r>
              <a:rPr lang="en-US" sz="1000" dirty="0" err="1">
                <a:latin typeface="Calibir"/>
              </a:rPr>
              <a:t>Arrays.toString</a:t>
            </a:r>
            <a:r>
              <a:rPr lang="en-US" sz="1000" dirty="0">
                <a:latin typeface="Calibir"/>
              </a:rPr>
              <a:t>(numbers));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public void </a:t>
            </a:r>
            <a:r>
              <a:rPr lang="en-US" sz="1000" dirty="0" err="1">
                <a:latin typeface="Calibir"/>
              </a:rPr>
              <a:t>changeValues</a:t>
            </a:r>
            <a:r>
              <a:rPr lang="en-US" sz="1000" dirty="0">
                <a:latin typeface="Calibir"/>
              </a:rPr>
              <a:t>() {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numbers[0] = 10;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numbers[</a:t>
            </a:r>
            <a:r>
              <a:rPr lang="en-US" sz="1000" dirty="0" err="1">
                <a:latin typeface="Calibir"/>
              </a:rPr>
              <a:t>numbers.length</a:t>
            </a:r>
            <a:r>
              <a:rPr lang="en-US" sz="1000" dirty="0">
                <a:latin typeface="Calibir"/>
              </a:rPr>
              <a:t> - 1] = -5;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int middle = </a:t>
            </a:r>
            <a:r>
              <a:rPr lang="en-US" sz="1000" dirty="0" err="1">
                <a:latin typeface="Calibir"/>
              </a:rPr>
              <a:t>numbers.length</a:t>
            </a:r>
            <a:r>
              <a:rPr lang="en-US" sz="1000" dirty="0">
                <a:latin typeface="Calibir"/>
              </a:rPr>
              <a:t> / 2;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numbers[middle] = 3;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public static void main(String[] </a:t>
            </a:r>
            <a:r>
              <a:rPr lang="en-US" sz="1000" dirty="0" err="1">
                <a:latin typeface="Calibir"/>
              </a:rPr>
              <a:t>args</a:t>
            </a:r>
            <a:r>
              <a:rPr lang="en-US" sz="1000" dirty="0">
                <a:latin typeface="Calibir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Scanner input = new Scanner(System.in);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</a:t>
            </a:r>
            <a:r>
              <a:rPr lang="en-US" sz="1000" dirty="0" err="1">
                <a:latin typeface="Calibir"/>
              </a:rPr>
              <a:t>System.out.print</a:t>
            </a:r>
            <a:r>
              <a:rPr lang="en-US" sz="1000" dirty="0">
                <a:latin typeface="Calibir"/>
              </a:rPr>
              <a:t>("Enter the size of the array: ");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int n = </a:t>
            </a:r>
            <a:r>
              <a:rPr lang="en-US" sz="1000" dirty="0" err="1">
                <a:latin typeface="Calibir"/>
              </a:rPr>
              <a:t>input.nextInt</a:t>
            </a:r>
            <a:r>
              <a:rPr lang="en-US" sz="1000" dirty="0"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Numbers </a:t>
            </a:r>
            <a:r>
              <a:rPr lang="en-US" sz="1000" dirty="0" err="1">
                <a:latin typeface="Calibir"/>
              </a:rPr>
              <a:t>numbersObject</a:t>
            </a:r>
            <a:r>
              <a:rPr lang="en-US" sz="1000" dirty="0">
                <a:latin typeface="Calibir"/>
              </a:rPr>
              <a:t> = new Numbers(n);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</a:t>
            </a:r>
            <a:r>
              <a:rPr lang="en-US" sz="1000" dirty="0" err="1">
                <a:latin typeface="Calibir"/>
              </a:rPr>
              <a:t>System.out.println</a:t>
            </a:r>
            <a:r>
              <a:rPr lang="en-US" sz="1000" dirty="0">
                <a:latin typeface="Calibir"/>
              </a:rPr>
              <a:t>("Original array:");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</a:t>
            </a:r>
            <a:r>
              <a:rPr lang="en-US" sz="1000" dirty="0" err="1">
                <a:latin typeface="Calibir"/>
              </a:rPr>
              <a:t>numbersObject.display</a:t>
            </a:r>
            <a:r>
              <a:rPr lang="en-US" sz="1000" dirty="0"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</a:t>
            </a:r>
            <a:r>
              <a:rPr lang="en-US" sz="1000" dirty="0" err="1">
                <a:latin typeface="Calibir"/>
              </a:rPr>
              <a:t>numbersObject.changeValues</a:t>
            </a:r>
            <a:r>
              <a:rPr lang="en-US" sz="1000" dirty="0"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</a:t>
            </a:r>
            <a:r>
              <a:rPr lang="en-US" sz="1000" dirty="0" err="1">
                <a:latin typeface="Calibir"/>
              </a:rPr>
              <a:t>System.out.println</a:t>
            </a:r>
            <a:r>
              <a:rPr lang="en-US" sz="1000" dirty="0">
                <a:latin typeface="Calibir"/>
              </a:rPr>
              <a:t>("Modified array:");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</a:t>
            </a:r>
            <a:r>
              <a:rPr lang="en-US" sz="1000" dirty="0" err="1">
                <a:latin typeface="Calibir"/>
              </a:rPr>
              <a:t>numbersObject.display</a:t>
            </a:r>
            <a:r>
              <a:rPr lang="en-US" sz="1000" dirty="0"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    </a:t>
            </a:r>
            <a:r>
              <a:rPr lang="en-US" sz="1000" dirty="0" err="1">
                <a:latin typeface="Calibir"/>
              </a:rPr>
              <a:t>input.close</a:t>
            </a:r>
            <a:r>
              <a:rPr lang="en-US" sz="1000" dirty="0"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Calibir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5A1C80-AA5D-EAA8-F500-4D96D6F51638}"/>
              </a:ext>
            </a:extLst>
          </p:cNvPr>
          <p:cNvSpPr txBox="1"/>
          <p:nvPr/>
        </p:nvSpPr>
        <p:spPr>
          <a:xfrm>
            <a:off x="6025376" y="1574303"/>
            <a:ext cx="6166624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For n = 5: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Enter the size of the array: 5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Original array: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[0, 0, 0, 0, 0]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Modified array: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[10, 0, 3, 0, -5]</a:t>
            </a:r>
          </a:p>
        </p:txBody>
      </p:sp>
    </p:spTree>
    <p:extLst>
      <p:ext uri="{BB962C8B-B14F-4D97-AF65-F5344CB8AC3E}">
        <p14:creationId xmlns:p14="http://schemas.microsoft.com/office/powerpoint/2010/main" val="134500185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C5B64FDE-5F85-0D86-33F4-822614BE3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E51456-BCAF-4197-96B1-1EC07286D69A}"/>
              </a:ext>
            </a:extLst>
          </p:cNvPr>
          <p:cNvSpPr txBox="1"/>
          <p:nvPr/>
        </p:nvSpPr>
        <p:spPr>
          <a:xfrm>
            <a:off x="0" y="507751"/>
            <a:ext cx="12192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Q: Why is the last element </a:t>
            </a:r>
            <a:r>
              <a:rPr lang="en-US" sz="2800" b="1" dirty="0" err="1">
                <a:latin typeface="Calibir"/>
              </a:rPr>
              <a:t>numbers.length</a:t>
            </a:r>
            <a:r>
              <a:rPr lang="en-US" sz="2800" b="1" dirty="0">
                <a:latin typeface="Calibir"/>
              </a:rPr>
              <a:t> - 1 rather than </a:t>
            </a:r>
            <a:r>
              <a:rPr lang="en-US" sz="2800" b="1" dirty="0" err="1">
                <a:latin typeface="Calibir"/>
              </a:rPr>
              <a:t>numbers.length</a:t>
            </a:r>
            <a:r>
              <a:rPr lang="en-US" sz="2800" b="1" dirty="0">
                <a:latin typeface="Calibir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Because array indexing starts at 0.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For five elements: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Element:   1   2   3   4   5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Index:        0   1   2   3   4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                               ↑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                              last</a:t>
            </a:r>
          </a:p>
        </p:txBody>
      </p:sp>
    </p:spTree>
    <p:extLst>
      <p:ext uri="{BB962C8B-B14F-4D97-AF65-F5344CB8AC3E}">
        <p14:creationId xmlns:p14="http://schemas.microsoft.com/office/powerpoint/2010/main" val="1548244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Lux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878</TotalTime>
  <Words>8554</Words>
  <Application>Microsoft Office PowerPoint</Application>
  <PresentationFormat>Widescreen</PresentationFormat>
  <Paragraphs>1258</Paragraphs>
  <Slides>121</Slides>
  <Notes>116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121</vt:i4>
      </vt:variant>
    </vt:vector>
  </HeadingPairs>
  <TitlesOfParts>
    <vt:vector size="129" baseType="lpstr">
      <vt:lpstr>Aptos</vt:lpstr>
      <vt:lpstr>Aptos Display</vt:lpstr>
      <vt:lpstr>Arial</vt:lpstr>
      <vt:lpstr>Calibir</vt:lpstr>
      <vt:lpstr>Economica</vt:lpstr>
      <vt:lpstr>Open Sans</vt:lpstr>
      <vt:lpstr>Office Theme</vt:lpstr>
      <vt:lpstr>Luxe</vt:lpstr>
      <vt:lpstr>32555 – Fundamentals of Software Development</vt:lpstr>
      <vt:lpstr>Welcome to 32555 – Fundamentals of Software Development</vt:lpstr>
      <vt:lpstr>Welcome to 32555 – Fundamentals of Software Development</vt:lpstr>
      <vt:lpstr>Week 3 Outline</vt:lpstr>
      <vt:lpstr>Lab 3 Exercises</vt:lpstr>
      <vt:lpstr>PowerPoint Presentation</vt:lpstr>
      <vt:lpstr>Lab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Lab 3 Exercises</vt:lpstr>
      <vt:lpstr>Lab 3 Exercises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Lab 3 Exercises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Lab 3 Exercises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Lab 3 Exercises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Lab 3 Exercises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Lab 3 Exercises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Farshid Keivanian</dc:creator>
  <cp:lastModifiedBy>Farshid Keivanian</cp:lastModifiedBy>
  <cp:revision>353</cp:revision>
  <dcterms:created xsi:type="dcterms:W3CDTF">2025-07-28T16:39:25Z</dcterms:created>
  <dcterms:modified xsi:type="dcterms:W3CDTF">2026-08-12T03:23:43Z</dcterms:modified>
</cp:coreProperties>
</file>