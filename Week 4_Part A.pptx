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4"/>
  </p:notesMasterIdLst>
  <p:sldIdLst>
    <p:sldId id="2522" r:id="rId2"/>
    <p:sldId id="2443" r:id="rId3"/>
    <p:sldId id="2633" r:id="rId4"/>
    <p:sldId id="2467" r:id="rId5"/>
    <p:sldId id="2630" r:id="rId6"/>
    <p:sldId id="2634" r:id="rId7"/>
    <p:sldId id="2632" r:id="rId8"/>
    <p:sldId id="2637" r:id="rId9"/>
    <p:sldId id="2638" r:id="rId10"/>
    <p:sldId id="2639" r:id="rId11"/>
    <p:sldId id="2640" r:id="rId12"/>
    <p:sldId id="2641" r:id="rId13"/>
    <p:sldId id="2582" r:id="rId14"/>
    <p:sldId id="2636" r:id="rId15"/>
    <p:sldId id="2642" r:id="rId16"/>
    <p:sldId id="2681" r:id="rId17"/>
    <p:sldId id="2643" r:id="rId18"/>
    <p:sldId id="2644" r:id="rId19"/>
    <p:sldId id="2645" r:id="rId20"/>
    <p:sldId id="2646" r:id="rId21"/>
    <p:sldId id="2647" r:id="rId22"/>
    <p:sldId id="2648" r:id="rId23"/>
    <p:sldId id="2649" r:id="rId24"/>
    <p:sldId id="2650" r:id="rId25"/>
    <p:sldId id="2651" r:id="rId26"/>
    <p:sldId id="2652" r:id="rId27"/>
    <p:sldId id="2653" r:id="rId28"/>
    <p:sldId id="2654" r:id="rId29"/>
    <p:sldId id="2655" r:id="rId30"/>
    <p:sldId id="2656" r:id="rId31"/>
    <p:sldId id="2657" r:id="rId32"/>
    <p:sldId id="2658" r:id="rId33"/>
    <p:sldId id="2659" r:id="rId34"/>
    <p:sldId id="2660" r:id="rId35"/>
    <p:sldId id="2661" r:id="rId36"/>
    <p:sldId id="2662" r:id="rId37"/>
    <p:sldId id="2663" r:id="rId38"/>
    <p:sldId id="2664" r:id="rId39"/>
    <p:sldId id="2665" r:id="rId40"/>
    <p:sldId id="2666" r:id="rId41"/>
    <p:sldId id="2682" r:id="rId42"/>
    <p:sldId id="2667" r:id="rId43"/>
    <p:sldId id="2678" r:id="rId44"/>
    <p:sldId id="2679" r:id="rId45"/>
    <p:sldId id="2680" r:id="rId46"/>
    <p:sldId id="2668" r:id="rId47"/>
    <p:sldId id="2669" r:id="rId48"/>
    <p:sldId id="2670" r:id="rId49"/>
    <p:sldId id="2671" r:id="rId50"/>
    <p:sldId id="2672" r:id="rId51"/>
    <p:sldId id="2673" r:id="rId52"/>
    <p:sldId id="2674" r:id="rId53"/>
    <p:sldId id="2675" r:id="rId54"/>
    <p:sldId id="2676" r:id="rId55"/>
    <p:sldId id="2677" r:id="rId56"/>
    <p:sldId id="257" r:id="rId57"/>
    <p:sldId id="352" r:id="rId58"/>
    <p:sldId id="2683" r:id="rId59"/>
    <p:sldId id="2684" r:id="rId60"/>
    <p:sldId id="2685" r:id="rId61"/>
    <p:sldId id="2686" r:id="rId62"/>
    <p:sldId id="2687" r:id="rId63"/>
    <p:sldId id="2688" r:id="rId64"/>
    <p:sldId id="2689" r:id="rId65"/>
    <p:sldId id="2690" r:id="rId66"/>
    <p:sldId id="2691" r:id="rId67"/>
    <p:sldId id="2692" r:id="rId68"/>
    <p:sldId id="2693" r:id="rId69"/>
    <p:sldId id="2694" r:id="rId70"/>
    <p:sldId id="341" r:id="rId71"/>
    <p:sldId id="2695" r:id="rId72"/>
    <p:sldId id="2696" r:id="rId73"/>
    <p:sldId id="2697" r:id="rId74"/>
    <p:sldId id="2698" r:id="rId75"/>
    <p:sldId id="2699" r:id="rId76"/>
    <p:sldId id="2700" r:id="rId77"/>
    <p:sldId id="2701" r:id="rId78"/>
    <p:sldId id="342" r:id="rId79"/>
    <p:sldId id="2702" r:id="rId80"/>
    <p:sldId id="2703" r:id="rId81"/>
    <p:sldId id="2704" r:id="rId82"/>
    <p:sldId id="2705" r:id="rId83"/>
    <p:sldId id="2706" r:id="rId84"/>
    <p:sldId id="2707" r:id="rId85"/>
    <p:sldId id="2708" r:id="rId86"/>
    <p:sldId id="343" r:id="rId87"/>
    <p:sldId id="2709" r:id="rId88"/>
    <p:sldId id="2710" r:id="rId89"/>
    <p:sldId id="2711" r:id="rId90"/>
    <p:sldId id="2712" r:id="rId91"/>
    <p:sldId id="2713" r:id="rId92"/>
    <p:sldId id="344" r:id="rId93"/>
    <p:sldId id="2714" r:id="rId94"/>
    <p:sldId id="2715" r:id="rId95"/>
    <p:sldId id="2716" r:id="rId96"/>
    <p:sldId id="2717" r:id="rId97"/>
    <p:sldId id="2718" r:id="rId98"/>
    <p:sldId id="345" r:id="rId99"/>
    <p:sldId id="2719" r:id="rId100"/>
    <p:sldId id="2720" r:id="rId101"/>
    <p:sldId id="2721" r:id="rId102"/>
    <p:sldId id="2722" r:id="rId103"/>
    <p:sldId id="346" r:id="rId104"/>
    <p:sldId id="2723" r:id="rId105"/>
    <p:sldId id="2724" r:id="rId106"/>
    <p:sldId id="2725" r:id="rId107"/>
    <p:sldId id="2726" r:id="rId108"/>
    <p:sldId id="347" r:id="rId109"/>
    <p:sldId id="2727" r:id="rId110"/>
    <p:sldId id="2728" r:id="rId111"/>
    <p:sldId id="2729" r:id="rId112"/>
    <p:sldId id="2730" r:id="rId113"/>
    <p:sldId id="2731" r:id="rId114"/>
    <p:sldId id="348" r:id="rId115"/>
    <p:sldId id="2732" r:id="rId116"/>
    <p:sldId id="2733" r:id="rId117"/>
    <p:sldId id="2734" r:id="rId118"/>
    <p:sldId id="2735" r:id="rId119"/>
    <p:sldId id="349" r:id="rId120"/>
    <p:sldId id="2736" r:id="rId121"/>
    <p:sldId id="2737" r:id="rId122"/>
    <p:sldId id="2738" r:id="rId123"/>
    <p:sldId id="2739" r:id="rId124"/>
    <p:sldId id="2740" r:id="rId125"/>
    <p:sldId id="350" r:id="rId126"/>
    <p:sldId id="2741" r:id="rId127"/>
    <p:sldId id="2742" r:id="rId128"/>
    <p:sldId id="2743" r:id="rId129"/>
    <p:sldId id="2744" r:id="rId130"/>
    <p:sldId id="2745" r:id="rId131"/>
    <p:sldId id="1889" r:id="rId132"/>
    <p:sldId id="2524" r:id="rId1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954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notesMaster" Target="notesMasters/notesMaster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presProps" Target="pres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4768A3-CE1D-4B38-9DB7-258A20660199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ED24F3-C88E-4C15-8193-4E111B80EC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1419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ef0b59b6e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ef0b59b6e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0536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66E7B921-8755-E451-A997-163A011F8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C6BECB2F-ACAF-A3A0-D0BD-E65DCF7F0C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70A7D90F-9D6A-646D-95E0-F62D297491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65772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28E6AB90-AD08-6849-8B43-B4E521268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B4DF8386-43B2-5738-D537-8E56F4CF3D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8C30EB74-E0D1-5ABC-9B24-FB04CDEC6E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86190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CE51D22A-7841-84B2-657A-170E76996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1F7583B7-1B40-0A49-622C-FF7AEC0DB8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A9A1434B-A9BA-9C25-A532-3CC0278FC6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4154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F21EB34B-AF5A-B1BC-A424-25AED8799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79BE3408-23BE-1319-BDD2-95B200CDC4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DFA2E104-C847-0D42-9867-ADA4D45F22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53395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4EA48CF7-00A5-0DDD-761D-0A4E6CFBC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610DB245-466D-660E-D727-D55C35B1B6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2E54AEC1-F9AB-C127-AD3B-17E7F1857F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50799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40EA6382-E398-F5A0-6D1A-31656FCB1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0C878845-6BE8-AEC9-C5E6-BDA20ADB9F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450C40B0-4F87-41D6-9C20-EDF3E4770D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25958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1EDF3D96-E1C2-168B-CAED-51AD9FDEC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A73456A6-98FE-DBE1-4C10-27C2AB93E6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EAD76BF8-B157-7117-F3B5-F9B518DA91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61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39AA5D83-90B1-85A9-E2A1-8E599C3EE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1091B112-8D75-663D-6BE3-583D16375C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4F849FA4-3801-A53C-FCD0-A59989B87B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99792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A1DD268B-90AA-AE2C-9559-7A582AEAD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FFBC866E-D9E4-4852-09E4-935B167C42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88221566-5277-FA57-0C5D-40FA821360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39484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A4486333-89BA-41B1-76DC-257E38977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983C78FC-6E7D-A0DC-F2FC-E024F34642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26F62B4B-5793-C092-CD27-1FDB400A2A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70832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9DE6D5F3-A854-1F24-217C-02247574A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B37D4B6D-35EA-71B1-8469-B17A333333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8CB22C05-849E-D6BB-B211-DD5521EF4D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12231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B57C0CC0-C241-C433-85C1-6B1255FF4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6B4D2010-6DA9-B81E-981E-0E1E1B2B30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19F1AF4B-49F8-3FFD-FDBD-95C91ACE8F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26126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35380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EB566C3A-22A0-2B4A-7E98-06377650E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EB748744-F93A-E8A0-A978-5D3B041DCD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27463694-DB2C-635E-3B89-FC7931F603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30118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BCBC4531-9F07-E5CD-0484-4C19E3D4F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75E9CF16-B18F-903F-253E-FFB59E096F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02A1D93D-AEC0-8720-2AC8-C445CE74DE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40340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5B8A1BA5-04BE-55DE-9980-CEF3B77FF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AE8E717F-FE00-CE09-43A9-0CFA3E7145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51076005-173B-28EB-805E-1AFAD07FCC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42059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1CBDD637-A425-B358-C41D-A81C24B01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07C0AEC1-4A64-034E-13CA-D99CB3CA5C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D04DCF5E-3F84-6437-472B-30EB9FF24B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79586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C54010C9-B684-2FF5-4AB2-5885729ED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A30FC136-586C-4969-CAA9-70071D3F1C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495BF65B-1A02-A97F-8F30-C2067C3496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84046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0BD51AEE-749E-0531-44A6-4B3EADB3B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1723F1AA-94F5-153C-638F-59EE9C253E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A928C0A0-4878-D38A-D31B-710C0B2EB5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63468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FF9423C5-9557-A517-6351-885748B66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43E95C0E-F344-65A5-A89F-BDEA3567AB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3AF3D833-15D5-D611-9772-148D2E3B1F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27084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69534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22DDB225-7FC1-B802-CEC3-01DD43211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CA9FEFDF-AA24-4563-A18B-FFD7B9F1A0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59CA9E4A-3BD9-E8CB-0F15-BBD27FEF38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56565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A6163A33-1DEE-0EE4-4741-A92BCC057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3C795CF2-63C8-C967-D751-CAF6677263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C12E3491-3AEC-DE30-9A7B-931E741939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82221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1705A97C-143A-D8A4-4D3A-1ABF18584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E9A0D86C-945F-48F7-DB7D-837C0E027A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596D531C-056C-570F-562D-8040ACB465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1379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256F6653-6A17-AAAB-208E-DAC68D151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CF6BDC56-A47A-D880-CB3D-D5EC3AF28E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44EBCD61-3D40-F997-AF22-F4D5190369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147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F9714942-B5AA-5296-CA83-6A034D8AA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2623FCA2-8B64-E631-C779-C8EE0EE560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1F00367C-0FF3-B747-DB65-832FCF4CBD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20270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A42B87D4-C29A-13B0-1A8C-6DB4CF923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25EE7E03-CCBC-6265-BA4C-820FBD715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DF1F4FE3-9506-5650-9DAD-AEACFEACDA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88414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89ED470A-9B0A-3116-AA86-6EF326C99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C4458F3C-8828-7375-C88D-F4677269C4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3B2DB50E-8A59-0E8F-8F65-72B8930D48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045826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79983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B9EB001B-849D-B2B3-F313-6A927D83D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259ECA12-5EFB-865D-3B38-4E8CCE4CD3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5446A658-3A47-2560-6DE1-834BDC8747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912195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F08966E5-70CD-4DBF-3788-5AC5BA39B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9F0CA768-C010-D69A-A314-437589E6AB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F99DE16D-7A55-C256-3E11-FCFEBCAC73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879653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6D1E17FE-6969-86B3-E36D-F9649B491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3168418C-B7AD-74A7-5CFA-5B8FF7C419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A5B7EA77-E0CE-919B-3BF3-76C20F3C4B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70254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6E82E94A-B3E6-D5A1-0F30-143158485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D0016FA5-4059-533B-1DF3-A02BF834A0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8FB9739B-821D-178A-3DBA-D8A146893F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021160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E5E94B66-A288-81F5-6F66-5D31F1D82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1E7D6D37-0E25-4E55-8E15-B7F2AFEAC2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64466BC4-54D0-F855-68B2-3A99A41521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349666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083928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3155CA39-47D8-AA41-EEC8-51C356F82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E655EC28-2ACC-34B2-C7F8-01BB551151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1BF1B3F5-1D3D-4E85-2590-9BF00D98E2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921038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159C363F-0FC5-F9F8-E6B1-9A9519B4F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BBDC5B00-5187-569A-F614-25E375FE51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AEA7ECA5-369F-79D7-EF8A-D9DE84644D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83714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E651FB12-C6AA-29E3-2226-E8EB8A37B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C83407D0-9BE6-07F6-CFD6-B66157A760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08AF2FEF-A73D-C7BF-055A-ED345B6CF0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065153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85A9ADBD-626E-48CB-E2AF-F0C734199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A07B3EE9-7690-730F-4CBB-4994121D4F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6A9F3A04-5E2B-9846-678A-4BF10CE25F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915264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37BB5AE5-D2C7-4FD2-B0FE-6D2972D44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EB66F828-590A-040E-086B-85964EFD5A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C9558C83-2831-E541-33AC-9DE41827D1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851562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377563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6CDE4EAA-0C68-A354-3F9D-ED4546607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C1E1B936-09D0-3263-A165-A24211F4DD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79AA1D2A-8287-3D6F-0B63-24D323C2B6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093449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759A14DD-42E8-F194-7CD4-A51EF7010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A6594CFF-BD5A-311E-6BB3-BF6D34FDE3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4B337153-4835-88B5-6A4A-DB6E063781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22145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FBC16734-706B-2BEA-96C7-FB8CD1BF9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D808DC48-1DB0-817D-3E16-404948C84B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F18ED1D3-BD3C-0CD7-93F3-32BDCB399A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227209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2916A888-E933-5B8C-6EC0-92D5B5F35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4E3C9F7D-4652-77DA-37ED-886B7F0D73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791F76AA-0A78-B768-6D54-3662EB533C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933031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737900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B0EA2AD2-C9B6-91B0-5472-4D99D9E04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04630020-3D65-1DC0-4BC7-EDEC5DDF4A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6357464A-1ED0-5879-18C1-CA6C3D1FFD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334593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86D76795-C387-234D-3AE0-0FC49970E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E3EB6E68-F923-C9FF-50F9-CEC21FE7E6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DC88222C-0C7C-0663-38BF-DF656D7967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459436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49C4CCCC-E24B-7D04-25CF-AE2FE5725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632D9AE0-404D-68C9-9E20-C1AC56896E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1FFFBD65-81DC-383E-5752-604598F532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286623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E73A88F3-FC52-4F00-38BD-7FE9D31A4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6E0E8A90-1C87-E7DE-94E2-EE78E3D8CC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BFBDB572-D7A1-CDF9-E26B-EF650CA9AA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335269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129649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5889A4D3-6A09-37F6-699A-2E56F097B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EC7E8A2A-27FF-61EB-D3C0-9563F5C904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C94EEF23-5826-BF7A-3F34-C714C815BA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893284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CDCB87A0-D45E-5534-4376-2B9F77AD7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02CB364D-DF9B-0103-7E07-6007A3B0AD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DFC54D6A-F0C5-6A49-4BC1-CF1129424F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102861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1C833BAA-292B-9191-92AB-A01E10861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6143CF6D-F287-DEA2-2FCC-A8DAA59288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55F69221-BC0D-2F13-EBCA-4B456B9B07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411406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5F311975-76E3-795F-F772-C2AB3CA87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E4F995A6-73A9-5A69-F38E-FF6004E5A3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282B319E-76C6-81F5-14D3-7BD9E3CBAA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70202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C51A6B08-35E8-38C9-B6FC-C13A3EB5F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081F37F7-8D6A-4BA9-251E-DB73C21529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588EC8BC-AA48-2523-AFD7-1A0343B6AA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60381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119414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DF660F3C-31BA-F794-6526-712443B11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D7482280-9ABE-7FA2-45BB-AA9314A3EC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A6225079-0BBD-496D-A98A-F643CBF62A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780041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8326C1AB-CF41-98DA-4606-8E5D1E91D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A0481847-2C0C-EE7A-26DE-5C472AC7FC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F525E37E-7FDD-6C1B-E146-7F516A840A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876429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1DEAB75C-A7E6-1B64-10DA-A8754A24F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9BC32DC5-272C-B62D-5B06-B2BCADD787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12C260CA-0820-51BB-006D-997FB0B7A2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687771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493FBEC9-FFA0-7139-1DCC-3F880EE9F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D6168E68-5006-7DA7-4F14-0F147C0A59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1104DE71-5C60-AD8A-2EDA-B3C1C11A01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608737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666437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2BC8606B-2319-BC16-573E-7F48CAA08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89C2863E-1718-D13B-DDDA-96640F2E0C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7E3F1EF9-6B22-537A-38AA-C58334BD3D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880831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70B72B8A-6733-F6AE-9194-BDE87B3F9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FDD04066-CB92-DFBD-D63F-9EFEA889E0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A28041D5-BF65-418A-3CDB-09F7AB30E6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757028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2DCB7B1A-EA76-95CB-1EE1-14C0C2280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D265C498-1EBD-8909-CFE9-74612E5FB8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A73D258F-6CB2-76D3-A015-2FA82CF827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213560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87745C3C-60E0-5BA2-2166-3EFEF8CDB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78BC14A4-77B2-97B0-21E1-22F42B81A2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173BF2C0-D7CA-734F-F323-C6A73C7B1D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536708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8776B81F-1110-E0F0-5927-E90D37467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31CC297F-2736-FCBF-9C09-C545896171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8C83BB44-D087-566C-A03F-9E29027629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1537254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Calculate and print each subsequent number in the series until the next number would be greater </a:t>
            </a:r>
            <a:r>
              <a:rPr lang="en-US"/>
              <a:t>than n.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264904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C7E1E23F-9F91-C476-3FCE-6C56267B2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824405B7-19C9-3EA9-DBBD-152DBC94A1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78218EF9-5C9A-EB4A-369D-2FFD35187B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074384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764B4B25-853E-1874-BD35-F03BC5E02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DE11AE1E-446F-5176-0DF1-2E0BE2CE69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336E16BE-3E71-D27E-5C41-0AC348E527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08726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E73E399A-A871-05C8-58F2-4E32828BC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CBFFDA0C-F9D3-D394-2962-43AC8960D1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78CCF1D0-C5B8-ACBF-3F53-15A0D1376F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4260956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C0AEE990-66E8-28F3-9774-AD3F5246A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41BC3C73-1A5D-6BAD-1B9C-8236C7F74D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CE8F92CA-CD15-53C8-04C4-014FB5D687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178796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CA5B25AF-9B0F-D3B3-5F90-EDE724F22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B7EB7191-A62D-8744-1D12-78CC799930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68A0D038-B2A5-AF77-9A25-F5E33F3678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0464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7A289-FF3D-6221-0919-52B01AA8C7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94B72A-F72E-6F44-5F03-1418A0B231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6A39C-6018-18E9-5F8D-4A1EC20EB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20D52-2FFC-C9DF-2C1D-0D71439D0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06BD1-0781-7498-CBE7-882C85BC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5949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06307-42D9-B52A-3FDF-879E60F0F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A6530-A555-4496-8091-721D1F881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4BAD6-101F-B851-1C08-7D894720D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BE63D-2BAC-0771-6CDD-E58CA768C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2B1F2-308D-04CF-0533-43636B44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1116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51970-B490-B69E-FCBD-212BA0910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EDBB8-F6B9-F902-DDF8-399BEAD5F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A61F5-3BD9-1364-E269-EA50C8D5E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1C5DD-8DE3-E3A8-9502-3A87814DB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7EB9C-AF45-B217-1DA1-31C1499BA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447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B327E-C2D8-2826-AC41-CBF55C1F5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1C1C5-C310-D6F8-E733-80DC724D8F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EB3D25-4FAE-3121-CD93-0C49A108A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4EAB2-5E1A-8619-3057-C3A1AB5D1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B9F5A9-2584-E93E-6A0F-A4794EE1D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7E2D3-3374-99CB-1920-B67380A0E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972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6ED3B-21CA-4495-94A5-BF0A07143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25D24-B245-8441-06C8-6FC24B1D7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0E5481-DAD5-42E9-A05C-FE17FB031D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EBF7B5-BC72-38B3-02F0-7BB1BC9D07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271FD1-022B-B62F-16CD-57BC6B42D6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1968B3-4251-2756-4B56-73ADD5061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7B1F6D-47C2-CAE3-A4E5-9BBEA2718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390004-77A4-C994-6377-2D03957A9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7843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029FA-C545-B505-6C82-069457BDA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BCBFB8-D61F-8DA0-01D0-D4ABB1784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2936ED-D26E-6CDD-AE85-E69826C2B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0F5E15-D044-ACA4-4FF1-4403C9CB1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0804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00D06D-3A18-FF5D-39C8-EC1AC6D1C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041F04-363D-EF82-F43A-1F8511337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072FA-339B-371C-0059-8970DEB10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0544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B85B4-BB2F-E262-E02E-C1DC1BF00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14E00-FACA-AA09-85E5-E01105E85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4EE9D-4DB5-87C6-C68D-3C076EA32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8988F-CF28-82C0-CDE6-5940AF6AD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D6275B-7D78-C2DE-31FE-0C2CC2479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BA9313-C86F-F87B-3741-AEE3F072D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4448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15856-F0AB-56B5-BD98-57810EED5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7A74BD-4349-19E0-431D-8899C9B137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9018E4-FE4E-963A-A372-8FF2993F1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71D85-A2C7-2BA8-45B6-F761AF790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167D4-1A0A-BA70-330D-3FF1004FE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2802A-72F4-775F-7C84-9B2F5770F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132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CF791-333B-3959-5EB7-74857A081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30ACA7-4517-BC5B-569C-29CDA754F2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72832-7FB6-BE62-8AC6-AC4630D92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D29DE-BC8E-969C-246D-FAB1068D1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5BE22-884E-FBF3-A25E-96D418634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5697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444B66-AC16-CCAB-AFE8-29D6415A76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1ACECC-B4A9-B0D4-C662-26E490713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00766-BA84-C9DB-9E6F-3B62FB470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61B9B-7BB2-B7BE-929B-53D8853D7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AB2A3-A938-DC24-C96A-DF2004F89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2973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CC3005-B647-9E32-CC60-519127703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7C51E-6DC2-39F3-9212-D582E0A9B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B9BBC-D295-7A76-2B27-6B12AD3F6F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B67406-7D6A-427B-AE15-EA86D49A46C9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185DA-FDEE-FA5B-E9B0-C02631270C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860BB-9B5C-C732-6BD6-2C0DFC8EE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46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mailto:hani.allam@student.uts.edu.au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farshid-keivanian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FarshidKeivania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876F03-8BAA-72AB-E62A-1CEA6868C9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8454" y="1360481"/>
            <a:ext cx="4605340" cy="2387600"/>
          </a:xfrm>
        </p:spPr>
        <p:txBody>
          <a:bodyPr>
            <a:normAutofit/>
          </a:bodyPr>
          <a:lstStyle/>
          <a:p>
            <a:pPr algn="l"/>
            <a:r>
              <a:rPr lang="en-US" sz="3900">
                <a:solidFill>
                  <a:schemeClr val="bg1"/>
                </a:solidFill>
                <a:latin typeface="Calibir"/>
              </a:rPr>
              <a:t>32555 – Fundamentals of Software Development</a:t>
            </a:r>
            <a:endParaRPr lang="en-AU" sz="3900">
              <a:solidFill>
                <a:schemeClr val="bg1"/>
              </a:solidFill>
              <a:latin typeface="Calibir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8A4EEB-3C3C-78E4-5144-CBDE3AFA8C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7" r="98" b="1"/>
          <a:stretch>
            <a:fillRect/>
          </a:stretch>
        </p:blipFill>
        <p:spPr>
          <a:xfrm>
            <a:off x="5800734" y="1057275"/>
            <a:ext cx="5917401" cy="47434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84C2E9E-0B5D-4B5F-9A1F-70EBDCE39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2461" y="1197769"/>
            <a:ext cx="10987078" cy="4462463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4851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D7A11-47AE-C133-8206-569A0BB07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E1848-8E74-13DF-C09C-3CC64A48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Welcome to 32555 – Fundamentals of Software Development</a:t>
            </a:r>
            <a:endParaRPr lang="en-AU" sz="4000" b="1" dirty="0">
              <a:latin typeface="Calibir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5185FC6-5CEA-DC1B-A1DF-D2D8A8948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7669"/>
            <a:ext cx="12192000" cy="5963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Your Teaching Team: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Dr. Yining Hu | Subject Coordinator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Yining is a Lecturer in Software Engineering. She works with many SMEs to develop software and AI solutions through student and research projects at UTS.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Contact: yining.hu@uts.edu.au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 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Dr. Xiaojie (Zoe) Lin | Tutor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Zoe is a full-stack software engineer with an interest in data analysis, specializing in JAVA, R, Python, JavaScript, PHP, Bash, and MATLAB; familiar with AWS.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Contact:  Xiaojie.Lin@uts.edu.au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 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Dr. Farshid Keivanian | Tutor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Dr. Farshid Keivanian is an experienced university lecturer and researcher with a PhD in Information Technology. He has over 15 years of teaching experience across Australian institutions,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specialising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in software engineering, data science, AI, and cybersecurity.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Contact: Farshid.Keivanian@uts.edu.au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 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Yong Pov | Tutor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Yong is a full-stack software engineer with experience in React, JavaScript, TypeScript, Java, Python, SQL, and AI-assisted learning platforms.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Contact: Yong.Pov@uts.edu.au</a:t>
            </a:r>
          </a:p>
        </p:txBody>
      </p:sp>
    </p:spTree>
    <p:extLst>
      <p:ext uri="{BB962C8B-B14F-4D97-AF65-F5344CB8AC3E}">
        <p14:creationId xmlns:p14="http://schemas.microsoft.com/office/powerpoint/2010/main" val="794337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96DC6-424A-EAE3-87C1-E5765B094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E5FDA-B4C2-6DD5-17BE-680D62858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Welcome to 32555 – Fundamentals of Software Development</a:t>
            </a:r>
            <a:endParaRPr lang="en-AU" sz="4000" b="1" dirty="0">
              <a:latin typeface="Calibir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E98AB95-B27E-184F-3760-418B8D55B79F}"/>
              </a:ext>
            </a:extLst>
          </p:cNvPr>
          <p:cNvGraphicFramePr>
            <a:graphicFrameLocks noGrp="1"/>
          </p:cNvGraphicFramePr>
          <p:nvPr/>
        </p:nvGraphicFramePr>
        <p:xfrm>
          <a:off x="722671" y="1816610"/>
          <a:ext cx="9792928" cy="368121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613329">
                  <a:extLst>
                    <a:ext uri="{9D8B030D-6E8A-4147-A177-3AD203B41FA5}">
                      <a16:colId xmlns:a16="http://schemas.microsoft.com/office/drawing/2014/main" val="79494275"/>
                    </a:ext>
                  </a:extLst>
                </a:gridCol>
                <a:gridCol w="2230244">
                  <a:extLst>
                    <a:ext uri="{9D8B030D-6E8A-4147-A177-3AD203B41FA5}">
                      <a16:colId xmlns:a16="http://schemas.microsoft.com/office/drawing/2014/main" val="2506284612"/>
                    </a:ext>
                  </a:extLst>
                </a:gridCol>
                <a:gridCol w="2864347">
                  <a:extLst>
                    <a:ext uri="{9D8B030D-6E8A-4147-A177-3AD203B41FA5}">
                      <a16:colId xmlns:a16="http://schemas.microsoft.com/office/drawing/2014/main" val="2357989121"/>
                    </a:ext>
                  </a:extLst>
                </a:gridCol>
                <a:gridCol w="3085008">
                  <a:extLst>
                    <a:ext uri="{9D8B030D-6E8A-4147-A177-3AD203B41FA5}">
                      <a16:colId xmlns:a16="http://schemas.microsoft.com/office/drawing/2014/main" val="192731506"/>
                    </a:ext>
                  </a:extLst>
                </a:gridCol>
              </a:tblGrid>
              <a:tr h="3706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Cmp1 #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Location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Time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Tutor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0461216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01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CB11.B1.400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Fri 16:00-18:00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Xiaojie (Zoe) Lin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extLst>
                  <a:ext uri="{0D108BD9-81ED-4DB2-BD59-A6C34878D82A}">
                    <a16:rowId xmlns:a16="http://schemas.microsoft.com/office/drawing/2014/main" val="3707997205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07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CB11.B1.401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Wed 10:00-12:00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Farshid Keivanian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27887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08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CB11.B1.400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Fri 12:00-14:00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Yong Pov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extLst>
                  <a:ext uri="{0D108BD9-81ED-4DB2-BD59-A6C34878D82A}">
                    <a16:rowId xmlns:a16="http://schemas.microsoft.com/office/drawing/2014/main" val="1335921487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09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CB11.B1.103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Wed 16:00-18:00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Farshid Keivanian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187035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10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CB11.B1.401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Wed 12:00-14:00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Farshid Keivanian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140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4682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DA366-6BE2-EF72-FFA9-3FC1C60CA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B7095-A95E-A4AA-C9AB-75AB5D7B3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4 Outline</a:t>
            </a:r>
            <a:endParaRPr lang="en-AU" sz="40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F7037C-CC18-B6E2-C69F-FD0450DC4355}"/>
              </a:ext>
            </a:extLst>
          </p:cNvPr>
          <p:cNvSpPr txBox="1"/>
          <p:nvPr/>
        </p:nvSpPr>
        <p:spPr>
          <a:xfrm>
            <a:off x="0" y="672662"/>
            <a:ext cx="6223818" cy="6126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rtl="0">
              <a:lnSpc>
                <a:spcPct val="115000"/>
              </a:lnSpc>
              <a:buFont typeface="+mj-lt"/>
              <a:buAutoNum type="arabicPeriod"/>
            </a:pPr>
            <a:r>
              <a:rPr lang="en-US" kern="100" dirty="0">
                <a:effectLst/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Have you formed your group?</a:t>
            </a:r>
          </a:p>
          <a:p>
            <a:pPr marL="342900" lvl="0" indent="-342900" rtl="0">
              <a:lnSpc>
                <a:spcPct val="115000"/>
              </a:lnSpc>
              <a:buFont typeface="+mj-lt"/>
              <a:buAutoNum type="arabicPeriod"/>
            </a:pPr>
            <a:r>
              <a:rPr lang="en-US" kern="100" dirty="0">
                <a:effectLst/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What Are Control Statements?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kern="100" dirty="0">
                <a:effectLst/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Conditional Statements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kern="100" dirty="0">
                <a:effectLst/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If-Else Example: Voting Eligibility in Python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kern="100" dirty="0">
                <a:effectLst/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Activity 1: Try Different Ages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kern="100" dirty="0">
                <a:effectLst/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If-Else Example: Voting Eligibility in Java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kern="100" dirty="0">
                <a:effectLst/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Activity 2: Add a Second Condition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kern="100" dirty="0">
                <a:effectLst/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Looping Statements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kern="100" dirty="0">
                <a:effectLst/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Jump Statements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kern="100" dirty="0">
                <a:effectLst/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Bank Case Study (Link to Lab 4)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kern="100" dirty="0">
                <a:effectLst/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Activity 3: Try Different Transactions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kern="100" dirty="0">
                <a:effectLst/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Activity 4: Simulate a Blocked Account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kern="100" dirty="0">
                <a:effectLst/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Learning Reinforcement (2 min)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kern="100" dirty="0">
                <a:effectLst/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Activities 5 and 6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kern="100" dirty="0">
                <a:effectLst/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Problem-Solving Example (Factorial – Lab 4 Ex.8) – Python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kern="100" dirty="0">
                <a:effectLst/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Problem-Solving Example (Factorial – Lab 4 Ex.8) – Java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kern="100" dirty="0">
                <a:effectLst/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Activity 7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kern="100" dirty="0">
                <a:effectLst/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Role-Playing Debate Questions (2 min)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kern="100" dirty="0">
                <a:effectLst/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Lab 4 Exercises</a:t>
            </a:r>
          </a:p>
        </p:txBody>
      </p:sp>
    </p:spTree>
    <p:extLst>
      <p:ext uri="{BB962C8B-B14F-4D97-AF65-F5344CB8AC3E}">
        <p14:creationId xmlns:p14="http://schemas.microsoft.com/office/powerpoint/2010/main" val="3000910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5C6CB-FEC9-98EC-F828-6EAEB12B7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BB340-6835-8309-7909-DA36086D3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Have you formed your group?</a:t>
            </a:r>
            <a:endParaRPr lang="en-AU" sz="4000" b="1" dirty="0">
              <a:latin typeface="Calibir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FD7A1A7-28B1-725E-601F-8F38C18BCBAD}"/>
              </a:ext>
            </a:extLst>
          </p:cNvPr>
          <p:cNvSpPr/>
          <p:nvPr/>
        </p:nvSpPr>
        <p:spPr>
          <a:xfrm>
            <a:off x="2443277" y="4553249"/>
            <a:ext cx="5442509" cy="13898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C5698A-9953-B54A-CCC4-A69D4ECB70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18" b="13410"/>
          <a:stretch>
            <a:fillRect/>
          </a:stretch>
        </p:blipFill>
        <p:spPr>
          <a:xfrm>
            <a:off x="0" y="919654"/>
            <a:ext cx="11824138" cy="5938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757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246C-D4B9-654C-D8DC-EB8D43EEB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84768-F26B-4145-EBA9-02C8F2257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Have you formed your group?</a:t>
            </a:r>
            <a:endParaRPr lang="en-AU" sz="4000" b="1" dirty="0">
              <a:latin typeface="Calibir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859394-A88F-9766-114F-07852444D482}"/>
              </a:ext>
            </a:extLst>
          </p:cNvPr>
          <p:cNvSpPr/>
          <p:nvPr/>
        </p:nvSpPr>
        <p:spPr>
          <a:xfrm>
            <a:off x="2443277" y="4553249"/>
            <a:ext cx="5442509" cy="13898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F6272D-B179-6F91-70F7-657460199C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15" b="9732"/>
          <a:stretch>
            <a:fillRect/>
          </a:stretch>
        </p:blipFill>
        <p:spPr>
          <a:xfrm>
            <a:off x="0" y="840828"/>
            <a:ext cx="12192000" cy="565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326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90291-F964-A60C-1C6B-2F570C4BC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76A87E-9903-BA3A-FBCA-E4C7EDCD1F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122" b="5594"/>
          <a:stretch>
            <a:fillRect/>
          </a:stretch>
        </p:blipFill>
        <p:spPr>
          <a:xfrm>
            <a:off x="0" y="830317"/>
            <a:ext cx="12192000" cy="591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3BC193-02BF-4E2A-AFEE-B5DEE45B2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Have you formed your group?</a:t>
            </a:r>
            <a:endParaRPr lang="en-AU" sz="4000" b="1" dirty="0">
              <a:latin typeface="Calibir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7E66896-DE0D-56C1-372D-2A4F8BAFCFCA}"/>
              </a:ext>
            </a:extLst>
          </p:cNvPr>
          <p:cNvSpPr/>
          <p:nvPr/>
        </p:nvSpPr>
        <p:spPr>
          <a:xfrm>
            <a:off x="772132" y="5404586"/>
            <a:ext cx="531151" cy="20793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9189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36946-0843-C9B9-DCED-CDC511E88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AE874-9E6A-1320-3793-FD91F7AA3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Have you formed your group?</a:t>
            </a:r>
            <a:endParaRPr lang="en-AU" sz="40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8E0092-4E59-24EF-B4C3-A037A8E865F5}"/>
              </a:ext>
            </a:extLst>
          </p:cNvPr>
          <p:cNvSpPr txBox="1"/>
          <p:nvPr/>
        </p:nvSpPr>
        <p:spPr>
          <a:xfrm>
            <a:off x="273268" y="798786"/>
            <a:ext cx="11918731" cy="6133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fontAlgn="base">
              <a:lnSpc>
                <a:spcPct val="150000"/>
              </a:lnSpc>
              <a:buNone/>
            </a:pPr>
            <a:r>
              <a:rPr lang="en-US" sz="2200" b="0" i="0" dirty="0">
                <a:solidFill>
                  <a:srgbClr val="000000"/>
                </a:solidFill>
                <a:effectLst/>
                <a:latin typeface="Calibir"/>
              </a:rPr>
              <a:t>Dear Dr. Keivanian,</a:t>
            </a:r>
          </a:p>
          <a:p>
            <a:pPr marL="0" marR="0" indent="0" algn="l" fontAlgn="base">
              <a:lnSpc>
                <a:spcPct val="150000"/>
              </a:lnSpc>
              <a:buNone/>
            </a:pPr>
            <a:r>
              <a:rPr lang="en-US" sz="2200" b="0" i="0" dirty="0">
                <a:solidFill>
                  <a:srgbClr val="000000"/>
                </a:solidFill>
                <a:effectLst/>
                <a:latin typeface="Calibir"/>
              </a:rPr>
              <a:t>I hope you are doing well.</a:t>
            </a:r>
          </a:p>
          <a:p>
            <a:pPr marL="0" marR="0" indent="0" algn="l" fontAlgn="base">
              <a:lnSpc>
                <a:spcPct val="150000"/>
              </a:lnSpc>
              <a:buNone/>
            </a:pPr>
            <a:r>
              <a:rPr lang="en-US" sz="2200" b="0" i="0" dirty="0">
                <a:solidFill>
                  <a:srgbClr val="000000"/>
                </a:solidFill>
                <a:effectLst/>
                <a:latin typeface="Calibir"/>
              </a:rPr>
              <a:t>I am writing to follow up and ask whether there are any students in the other sections who are currently without a group for the Java project.</a:t>
            </a:r>
          </a:p>
          <a:p>
            <a:pPr marL="0" marR="0" indent="0" algn="l" fontAlgn="base">
              <a:lnSpc>
                <a:spcPct val="150000"/>
              </a:lnSpc>
              <a:buNone/>
            </a:pPr>
            <a:r>
              <a:rPr lang="en-US" sz="2200" b="0" i="0" dirty="0">
                <a:solidFill>
                  <a:srgbClr val="000000"/>
                </a:solidFill>
                <a:effectLst/>
                <a:latin typeface="Calibir"/>
              </a:rPr>
              <a:t>I am Hani Allam from Section 09, on Wednesdays from 16:00–18:00. I have good experience with Java and JavaFX, as Java was the main programming language used during my bachelor's degree.</a:t>
            </a:r>
          </a:p>
          <a:p>
            <a:pPr marL="0" marR="0" indent="0" algn="l" fontAlgn="base">
              <a:lnSpc>
                <a:spcPct val="150000"/>
              </a:lnSpc>
              <a:buNone/>
            </a:pPr>
            <a:r>
              <a:rPr lang="en-US" sz="2200" b="0" i="0" dirty="0">
                <a:solidFill>
                  <a:srgbClr val="000000"/>
                </a:solidFill>
                <a:effectLst/>
                <a:latin typeface="Calibir"/>
              </a:rPr>
              <a:t>I would appreciate it if you could let me know if there are any students currently looking for a group to work on the project in Java.</a:t>
            </a:r>
          </a:p>
          <a:p>
            <a:pPr marL="0" marR="0" indent="0" algn="l" fontAlgn="base">
              <a:lnSpc>
                <a:spcPct val="150000"/>
              </a:lnSpc>
              <a:buNone/>
            </a:pPr>
            <a:r>
              <a:rPr lang="en-US" sz="2200" b="0" i="0" dirty="0">
                <a:solidFill>
                  <a:srgbClr val="000000"/>
                </a:solidFill>
                <a:effectLst/>
                <a:latin typeface="Calibir"/>
              </a:rPr>
              <a:t>If there are any students interested, they can contact me at 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alibir"/>
                <a:hlinkClick r:id="rId2" tooltip="mailto:hani.allam@student.uts.edu.au"/>
              </a:rPr>
              <a:t>hani.allam@student.uts.edu.au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alibir"/>
              </a:rPr>
              <a:t> to discuss forming a group.</a:t>
            </a:r>
          </a:p>
          <a:p>
            <a:pPr marL="0" marR="0" indent="0" algn="l" fontAlgn="base">
              <a:lnSpc>
                <a:spcPct val="150000"/>
              </a:lnSpc>
              <a:buNone/>
            </a:pPr>
            <a:r>
              <a:rPr lang="en-US" sz="2200" b="0" i="0" dirty="0">
                <a:solidFill>
                  <a:srgbClr val="000000"/>
                </a:solidFill>
                <a:effectLst/>
                <a:latin typeface="Calibir"/>
              </a:rPr>
              <a:t>Kind regards,</a:t>
            </a:r>
            <a:br>
              <a:rPr lang="en-US" sz="2200" b="0" i="0" dirty="0">
                <a:solidFill>
                  <a:srgbClr val="000000"/>
                </a:solidFill>
                <a:effectLst/>
                <a:latin typeface="Calibir"/>
              </a:rPr>
            </a:br>
            <a:r>
              <a:rPr lang="en-US" sz="2200" b="0" i="0" dirty="0">
                <a:solidFill>
                  <a:srgbClr val="000000"/>
                </a:solidFill>
                <a:effectLst/>
                <a:latin typeface="Calibir"/>
              </a:rPr>
              <a:t>Hani Allam</a:t>
            </a:r>
          </a:p>
        </p:txBody>
      </p:sp>
    </p:spTree>
    <p:extLst>
      <p:ext uri="{BB962C8B-B14F-4D97-AF65-F5344CB8AC3E}">
        <p14:creationId xmlns:p14="http://schemas.microsoft.com/office/powerpoint/2010/main" val="2955326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5F0F5-FD53-CE0F-13C1-2880609F5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B4B8F-1BBF-5623-ECC2-397852ABF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257539-71F5-F965-827D-7B64105E5A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229" r="17229" b="13735"/>
          <a:stretch>
            <a:fillRect/>
          </a:stretch>
        </p:blipFill>
        <p:spPr>
          <a:xfrm>
            <a:off x="1050274" y="1057618"/>
            <a:ext cx="10091451" cy="542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616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25420-0A41-2424-857F-599ED55F1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9F222-81A7-4885-FE28-EFF606B8F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DDDF36-B7D3-B940-B81E-FFAF7E00BBEC}"/>
              </a:ext>
            </a:extLst>
          </p:cNvPr>
          <p:cNvSpPr txBox="1"/>
          <p:nvPr/>
        </p:nvSpPr>
        <p:spPr>
          <a:xfrm>
            <a:off x="126124" y="2880624"/>
            <a:ext cx="11750566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For this assessment, your diagram should be based directly on the project requirements. Do not add functions that are not required by the case study.</a:t>
            </a:r>
          </a:p>
        </p:txBody>
      </p:sp>
    </p:spTree>
    <p:extLst>
      <p:ext uri="{BB962C8B-B14F-4D97-AF65-F5344CB8AC3E}">
        <p14:creationId xmlns:p14="http://schemas.microsoft.com/office/powerpoint/2010/main" val="4264798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07527-B0EA-4291-8CF8-1897FACB5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86AB1-D18D-4C22-FBE5-1FC9C83F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C0991C-066D-8254-21F8-3CF3AB469C31}"/>
              </a:ext>
            </a:extLst>
          </p:cNvPr>
          <p:cNvSpPr txBox="1"/>
          <p:nvPr/>
        </p:nvSpPr>
        <p:spPr>
          <a:xfrm>
            <a:off x="0" y="1057617"/>
            <a:ext cx="11750566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Before You Start: What Are You Trying to Show?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 use case diagram answers three simple questions: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Who uses the system?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These are called actors.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What can they do?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These are called use cases.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How are they connected?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These are shown using relationships.</a:t>
            </a:r>
          </a:p>
        </p:txBody>
      </p:sp>
    </p:spTree>
    <p:extLst>
      <p:ext uri="{BB962C8B-B14F-4D97-AF65-F5344CB8AC3E}">
        <p14:creationId xmlns:p14="http://schemas.microsoft.com/office/powerpoint/2010/main" val="1596118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BF7C2-3640-0F25-833B-983E223A9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D3C0E-16D7-E0F2-931A-C7B4E8F88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87A5F-CEDE-5DA8-F645-9D6C2972911E}"/>
              </a:ext>
            </a:extLst>
          </p:cNvPr>
          <p:cNvSpPr txBox="1"/>
          <p:nvPr/>
        </p:nvSpPr>
        <p:spPr>
          <a:xfrm>
            <a:off x="0" y="1057617"/>
            <a:ext cx="11750566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For this project, the main actors are: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Student</a:t>
            </a:r>
            <a:r>
              <a:rPr lang="en-US" sz="2800" dirty="0">
                <a:latin typeface="Calibir"/>
              </a:rPr>
              <a:t> – a person who registers and uses the student enrolment functions.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Admin</a:t>
            </a:r>
            <a:r>
              <a:rPr lang="en-US" sz="2800" dirty="0">
                <a:latin typeface="Calibir"/>
              </a:rPr>
              <a:t> – an existing university staff member who manages registered students.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system itself can be represented by a large rectangle called: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University Self-Enrolment System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Student and Admin actors stay outside this rectangle, while the use cases stay inside it.</a:t>
            </a:r>
          </a:p>
        </p:txBody>
      </p:sp>
    </p:spTree>
    <p:extLst>
      <p:ext uri="{BB962C8B-B14F-4D97-AF65-F5344CB8AC3E}">
        <p14:creationId xmlns:p14="http://schemas.microsoft.com/office/powerpoint/2010/main" val="2308778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38528-87AF-7129-060C-DE790DB4C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AF254F-AB63-28F3-F755-37CA5E9C27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362" t="14618" r="44428" b="24659"/>
          <a:stretch>
            <a:fillRect/>
          </a:stretch>
        </p:blipFill>
        <p:spPr>
          <a:xfrm>
            <a:off x="0" y="1057617"/>
            <a:ext cx="3955055" cy="53584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B0344D-E86E-2DDF-C345-8E7CCE853BBE}"/>
              </a:ext>
            </a:extLst>
          </p:cNvPr>
          <p:cNvSpPr txBox="1"/>
          <p:nvPr/>
        </p:nvSpPr>
        <p:spPr>
          <a:xfrm>
            <a:off x="4151670" y="825911"/>
            <a:ext cx="8040329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1. Open the Use Case Diagram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In Visual Paradigm, create a new project or open your Assessment 1 project.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Select: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Diagram → New → UML → Use Case Diagram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If you already see a blank page similar to the screenshot provided, you are ready to continue.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9449701-BB74-5FC9-8CFB-024AC3FF7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565443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459D1-56A0-6BEF-08B4-D65E3E36B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32B541-4161-BB7B-58A6-DD6A9AD140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" t="-321" r="30873" b="7952"/>
          <a:stretch>
            <a:fillRect/>
          </a:stretch>
        </p:blipFill>
        <p:spPr>
          <a:xfrm>
            <a:off x="0" y="1057617"/>
            <a:ext cx="7676681" cy="580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EDA501-354C-FD7C-8D10-FFDF14B998D4}"/>
              </a:ext>
            </a:extLst>
          </p:cNvPr>
          <p:cNvSpPr txBox="1"/>
          <p:nvPr/>
        </p:nvSpPr>
        <p:spPr>
          <a:xfrm>
            <a:off x="5982930" y="1661834"/>
            <a:ext cx="6209070" cy="5196166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Why do we do this?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 Use Case Diagram is the correct UML diagram for representing interactions between users and system functionality.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Skill developed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You learn how to select the correct UML modelling technique for a software requirement.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15A139F-6FDF-D8CB-9265-CC31CC4E0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3862737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755BD-900E-AFD0-CCF6-39840EAB8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C58451-B928-B81A-A5DA-4D8B0471F9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" t="-321" r="30873" b="7952"/>
          <a:stretch>
            <a:fillRect/>
          </a:stretch>
        </p:blipFill>
        <p:spPr>
          <a:xfrm>
            <a:off x="0" y="1057616"/>
            <a:ext cx="7676681" cy="580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ED0D1F-D48A-0F1B-A4E5-762CC9D1FA86}"/>
              </a:ext>
            </a:extLst>
          </p:cNvPr>
          <p:cNvSpPr txBox="1"/>
          <p:nvPr/>
        </p:nvSpPr>
        <p:spPr>
          <a:xfrm>
            <a:off x="4144297" y="1167248"/>
            <a:ext cx="8047703" cy="3903504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2 – Create the System Boundary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From the toolbox on the left side of Visual Paradigm, select System.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Click and drag on the blank diagram area to create a large rectangle.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Rename it: University Self-Enrolment System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B1BF792-D93E-5EFE-2B1E-412A8FE53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688605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17FF7-5401-4582-8EF3-F0A53336C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2B1A28-D421-4A72-8D42-5CE9B7F8E4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" t="-321" r="30873" b="7952"/>
          <a:stretch>
            <a:fillRect/>
          </a:stretch>
        </p:blipFill>
        <p:spPr>
          <a:xfrm>
            <a:off x="0" y="1057616"/>
            <a:ext cx="7676681" cy="580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3355AF-7564-BDAA-2933-FC22D6F43B10}"/>
              </a:ext>
            </a:extLst>
          </p:cNvPr>
          <p:cNvSpPr txBox="1"/>
          <p:nvPr/>
        </p:nvSpPr>
        <p:spPr>
          <a:xfrm>
            <a:off x="4144297" y="1167248"/>
            <a:ext cx="8047703" cy="3257174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Q: What defines the scope of our system?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A: The system boundary.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Now do: Select System from the left toolbar, draw the rectangle, and name it University Self-Enrolment System.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080B4F1-637A-7984-8AD7-6D64F8B6B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094218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51ABE-47AB-80F9-8F79-41351BB63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E479CA-1982-A6AC-D7AC-EC6F86511E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" t="-321" r="30873" b="7952"/>
          <a:stretch>
            <a:fillRect/>
          </a:stretch>
        </p:blipFill>
        <p:spPr>
          <a:xfrm>
            <a:off x="0" y="1057616"/>
            <a:ext cx="7676681" cy="580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A93FD6-05E9-6D3C-9260-FEC6B97C1DCE}"/>
              </a:ext>
            </a:extLst>
          </p:cNvPr>
          <p:cNvSpPr txBox="1"/>
          <p:nvPr/>
        </p:nvSpPr>
        <p:spPr>
          <a:xfrm>
            <a:off x="4144297" y="1167248"/>
            <a:ext cx="8047703" cy="5196166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Make the rectangle large enough to place all the required use cases inside it.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Why do we do this?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system boundary tells the reader which functions belong to the application.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Anything inside the rectangle is functionality provided by the university application.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actors remain outside the rectangle.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0A79B8A-99A5-5736-1EED-C89EADEE5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81753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54826-D890-E7A6-B682-9E565D39A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121418-149A-1E9E-E4E0-AAE43D57A3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" t="-321" r="30873" b="7952"/>
          <a:stretch>
            <a:fillRect/>
          </a:stretch>
        </p:blipFill>
        <p:spPr>
          <a:xfrm>
            <a:off x="0" y="1057616"/>
            <a:ext cx="7676681" cy="580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F119BD-9EE2-AEFE-C01A-9AD4101B37AA}"/>
              </a:ext>
            </a:extLst>
          </p:cNvPr>
          <p:cNvSpPr txBox="1"/>
          <p:nvPr/>
        </p:nvSpPr>
        <p:spPr>
          <a:xfrm>
            <a:off x="4144297" y="1167248"/>
            <a:ext cx="8047703" cy="2610843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Skill developed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You learn how to define the scope of a software system and distinguish between the system and its users.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A9E0755-D76B-E8C3-1053-26270DAE9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0984902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7F88D-2705-981F-394B-197DC9715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1D095D-55A5-A17F-ACAE-700302013F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" t="-321" r="30873" b="7952"/>
          <a:stretch>
            <a:fillRect/>
          </a:stretch>
        </p:blipFill>
        <p:spPr>
          <a:xfrm>
            <a:off x="0" y="1057616"/>
            <a:ext cx="7676681" cy="580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7E9B01-355B-54BB-6FFD-40915D2C1F4C}"/>
              </a:ext>
            </a:extLst>
          </p:cNvPr>
          <p:cNvSpPr txBox="1"/>
          <p:nvPr/>
        </p:nvSpPr>
        <p:spPr>
          <a:xfrm>
            <a:off x="4144297" y="1167248"/>
            <a:ext cx="8047703" cy="3257174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3 – Add the Student Actor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Locate the Actor tool in the Visual Paradigm toolbox. Select Actor, then click on the left side outside the system rectangle.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Rename the actor: Student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75FE395-2B92-9D70-00AA-D09C82CBB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668496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FD98A-7509-A629-8AAF-19983B174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CDCC89-0B92-6173-F7B9-312D35B1DA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" t="-321" r="30873" b="7952"/>
          <a:stretch>
            <a:fillRect/>
          </a:stretch>
        </p:blipFill>
        <p:spPr>
          <a:xfrm>
            <a:off x="0" y="1057616"/>
            <a:ext cx="7676681" cy="580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F3DD9D-7705-AD87-9F8C-2BF992C2336C}"/>
              </a:ext>
            </a:extLst>
          </p:cNvPr>
          <p:cNvSpPr txBox="1"/>
          <p:nvPr/>
        </p:nvSpPr>
        <p:spPr>
          <a:xfrm>
            <a:off x="4144297" y="1167248"/>
            <a:ext cx="8047703" cy="3903504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Why do we do this?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Student is one of the main users interacting with the system.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Student should be shown as an actor rather than as part of the system because the Student is an external user.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2D15E45-FE6D-1783-24DD-83A193B24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129744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848D5-B4A9-73B0-D8E8-BD9D2697B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B97011-1587-6ACC-D63F-170A9E1DDF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" t="-321" r="30873" b="7952"/>
          <a:stretch>
            <a:fillRect/>
          </a:stretch>
        </p:blipFill>
        <p:spPr>
          <a:xfrm>
            <a:off x="0" y="1057616"/>
            <a:ext cx="7676681" cy="580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EFD696-A912-3038-965C-F02DA606CA57}"/>
              </a:ext>
            </a:extLst>
          </p:cNvPr>
          <p:cNvSpPr txBox="1"/>
          <p:nvPr/>
        </p:nvSpPr>
        <p:spPr>
          <a:xfrm>
            <a:off x="4144297" y="1167248"/>
            <a:ext cx="8047703" cy="5196166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Skill developed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You learn how to identify actors from written software requirements.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 useful question is: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“Who is asking the system to perform something?”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For example, when the requirement says that students can </a:t>
            </a:r>
            <a:r>
              <a:rPr lang="en-US" sz="2800" dirty="0" err="1">
                <a:latin typeface="Calibir"/>
              </a:rPr>
              <a:t>enrol</a:t>
            </a:r>
            <a:r>
              <a:rPr lang="en-US" sz="2800" dirty="0">
                <a:latin typeface="Calibir"/>
              </a:rPr>
              <a:t> in subjects, the Student is the actor.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2791574-131C-DC2C-5D7B-1FFA6FEA6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33866670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6717-2E79-057B-4331-699566CCA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DA29FF-7024-442F-11AE-1609D9D923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" t="-321" r="30873" b="7952"/>
          <a:stretch>
            <a:fillRect/>
          </a:stretch>
        </p:blipFill>
        <p:spPr>
          <a:xfrm>
            <a:off x="0" y="1057616"/>
            <a:ext cx="7676681" cy="580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8784C2-3E0A-F3B7-EBCB-C77587F46E30}"/>
              </a:ext>
            </a:extLst>
          </p:cNvPr>
          <p:cNvSpPr txBox="1"/>
          <p:nvPr/>
        </p:nvSpPr>
        <p:spPr>
          <a:xfrm>
            <a:off x="4144297" y="1167248"/>
            <a:ext cx="8047703" cy="3903504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4 – Add the Admin Actor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Create another actor outside the system boundary, preferably on the right side.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Rename it: Admin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Remember that the case study states that Admins are existing university staff and do not need to register.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DDE0ED6-9DDC-6ECC-8E08-D57CED96D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6984706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46505-7AB0-51FC-5532-C5B7C65A1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620E61-80A7-914E-81D7-57863AEF14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" t="-321" r="30873" b="7952"/>
          <a:stretch>
            <a:fillRect/>
          </a:stretch>
        </p:blipFill>
        <p:spPr>
          <a:xfrm>
            <a:off x="0" y="1057616"/>
            <a:ext cx="7676681" cy="580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BA4CD0-34FD-AE60-4401-1F7FD9209E66}"/>
              </a:ext>
            </a:extLst>
          </p:cNvPr>
          <p:cNvSpPr txBox="1"/>
          <p:nvPr/>
        </p:nvSpPr>
        <p:spPr>
          <a:xfrm>
            <a:off x="4144297" y="1167248"/>
            <a:ext cx="8047703" cy="4549835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Why do we do this?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Student and Admin have different responsibilities.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Keeping them as separate actors makes the system requirements easier to understand.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Skill developed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You </a:t>
            </a:r>
            <a:r>
              <a:rPr lang="en-US" sz="2800" dirty="0" err="1">
                <a:latin typeface="Calibir"/>
              </a:rPr>
              <a:t>practise</a:t>
            </a:r>
            <a:r>
              <a:rPr lang="en-US" sz="2800" dirty="0">
                <a:latin typeface="Calibir"/>
              </a:rPr>
              <a:t> separating different user roles and responsibilities.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ACC5C2-5EEF-43A9-2E20-7B13AE1BC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492462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015C7-BC62-7888-FF13-2533B8188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D575D6-6BA2-18A2-2FE6-CF3A146B83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" t="-321" r="30873" b="7952"/>
          <a:stretch>
            <a:fillRect/>
          </a:stretch>
        </p:blipFill>
        <p:spPr>
          <a:xfrm>
            <a:off x="0" y="1057616"/>
            <a:ext cx="7676681" cy="580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35C6BB-F9E8-890A-A5B3-94F41CD74938}"/>
              </a:ext>
            </a:extLst>
          </p:cNvPr>
          <p:cNvSpPr txBox="1"/>
          <p:nvPr/>
        </p:nvSpPr>
        <p:spPr>
          <a:xfrm>
            <a:off x="4144297" y="1167248"/>
            <a:ext cx="8047703" cy="4549835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5 – Create the Student Registration Use Cases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Inside the system boundary, create use cases for the registration process.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 use case is normally shown as an oval.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Read the Requirements and create them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You can position these near the upper-left area of the system.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7D90145-5011-0CE3-0ECE-7D7B66735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5362476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17189-17E3-8DB2-6FB2-74D268003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4462CC-546F-ACA4-4BCA-6F43915C98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" t="-321" r="30873" b="7952"/>
          <a:stretch>
            <a:fillRect/>
          </a:stretch>
        </p:blipFill>
        <p:spPr>
          <a:xfrm>
            <a:off x="0" y="1057616"/>
            <a:ext cx="7676681" cy="580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036F1F-BF42-E63B-A5FD-B50E55A6BEF6}"/>
              </a:ext>
            </a:extLst>
          </p:cNvPr>
          <p:cNvSpPr txBox="1"/>
          <p:nvPr/>
        </p:nvSpPr>
        <p:spPr>
          <a:xfrm>
            <a:off x="4144297" y="1167248"/>
            <a:ext cx="8047703" cy="5196166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Why do we do this?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project requires students to register before accessing the system.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Registration involves several important </a:t>
            </a:r>
            <a:r>
              <a:rPr lang="en-US" sz="2800" dirty="0" err="1">
                <a:latin typeface="Calibir"/>
              </a:rPr>
              <a:t>behaviours</a:t>
            </a:r>
            <a:r>
              <a:rPr lang="en-US" sz="2800" dirty="0">
                <a:latin typeface="Calibir"/>
              </a:rPr>
              <a:t>: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entering registration information;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checking the email;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checking the password;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generating the six-digit student ID.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9B4B527-D808-E648-6176-26BB8A8DA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39466565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D7D11-7B25-7506-10EE-C90D7B602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B27601-D919-D930-5D41-C23D46B615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" t="-321" r="30873" b="7952"/>
          <a:stretch>
            <a:fillRect/>
          </a:stretch>
        </p:blipFill>
        <p:spPr>
          <a:xfrm>
            <a:off x="0" y="1057616"/>
            <a:ext cx="7676681" cy="580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BA0D26-478A-968E-0015-D2E57577E2FF}"/>
              </a:ext>
            </a:extLst>
          </p:cNvPr>
          <p:cNvSpPr txBox="1"/>
          <p:nvPr/>
        </p:nvSpPr>
        <p:spPr>
          <a:xfrm>
            <a:off x="4144297" y="1167248"/>
            <a:ext cx="8047703" cy="3257174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Breaking the requirement into meaningful use cases makes the design clearer.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Skill developed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You learn how to decompose a large requirement into smaller system functions.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783853C-D5EF-2679-0EF7-FA488233E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8509330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63AB1-214C-C3EF-71D4-39A343AEA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F339D6-55BF-62BF-DB3F-202EC48252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" t="-321" r="30873" b="7952"/>
          <a:stretch>
            <a:fillRect/>
          </a:stretch>
        </p:blipFill>
        <p:spPr>
          <a:xfrm>
            <a:off x="0" y="1057616"/>
            <a:ext cx="7676681" cy="580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7662C4-8B53-1696-979F-FC1E824695D1}"/>
              </a:ext>
            </a:extLst>
          </p:cNvPr>
          <p:cNvSpPr txBox="1"/>
          <p:nvPr/>
        </p:nvSpPr>
        <p:spPr>
          <a:xfrm>
            <a:off x="4144297" y="1167248"/>
            <a:ext cx="8047703" cy="4549835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5 – Create the Student Registration Use Cases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Inside the system boundary, create use cases for the registration process.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 use case is normally shown as an oval.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Read the Requirements and create them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You can position these near the upper-left area of the system.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D49811E-DC45-ED46-C948-09F00A70D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41133203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5F3B0-C4E2-4F63-CA49-B64CEB0F6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DAA08F-1FA8-3CFF-5CB4-D3327A78BF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" t="-321" r="30873" b="7952"/>
          <a:stretch>
            <a:fillRect/>
          </a:stretch>
        </p:blipFill>
        <p:spPr>
          <a:xfrm>
            <a:off x="0" y="1057616"/>
            <a:ext cx="7676681" cy="580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5F94AF-11D7-E80F-E12C-9DB2CDED4DAF}"/>
              </a:ext>
            </a:extLst>
          </p:cNvPr>
          <p:cNvSpPr txBox="1"/>
          <p:nvPr/>
        </p:nvSpPr>
        <p:spPr>
          <a:xfrm>
            <a:off x="4144297" y="1015502"/>
            <a:ext cx="8047703" cy="5842497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6. Create the Student Login Use Cases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Why do we do this?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Only registered students should be able to access the Student subsystem.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Login therefore represents an important interaction between the Student and the application.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Skill developed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You learn how authentication requirements are represented in system modelling.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FF69307-308E-A752-7204-6266CBB2C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586232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4C3F6-0434-B58D-AD50-5AB09827B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AA08A7-E7DE-D984-A646-8485F92EE4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" t="-321" r="30873" b="7952"/>
          <a:stretch>
            <a:fillRect/>
          </a:stretch>
        </p:blipFill>
        <p:spPr>
          <a:xfrm>
            <a:off x="0" y="1057616"/>
            <a:ext cx="7676681" cy="580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892523-7A7B-5083-5082-F864397008A4}"/>
              </a:ext>
            </a:extLst>
          </p:cNvPr>
          <p:cNvSpPr txBox="1"/>
          <p:nvPr/>
        </p:nvSpPr>
        <p:spPr>
          <a:xfrm>
            <a:off x="4144297" y="1015502"/>
            <a:ext cx="8047703" cy="3257174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7 – Add the Main Student Functions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Create required use cases inside the system: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Connect the Student actor to each of those use cases you add.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These are directly stated in the project brief.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EBDEEC7-2F0A-9662-2CDB-004C1FC7D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30566835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1025F-C4D2-694A-9C88-C8E013B55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DAEAF2-6BDF-3F44-A444-2EFC8C5B18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" t="-321" r="30873" b="7952"/>
          <a:stretch>
            <a:fillRect/>
          </a:stretch>
        </p:blipFill>
        <p:spPr>
          <a:xfrm>
            <a:off x="0" y="1057616"/>
            <a:ext cx="7676681" cy="580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0B4551-03B8-F336-CB6B-FB8DEC73522F}"/>
              </a:ext>
            </a:extLst>
          </p:cNvPr>
          <p:cNvSpPr txBox="1"/>
          <p:nvPr/>
        </p:nvSpPr>
        <p:spPr>
          <a:xfrm>
            <a:off x="4144297" y="1015502"/>
            <a:ext cx="8047703" cy="5196166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Why do we do this?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Use case diagrams should be based on actual requirements, not assumptions.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These four actions are specifically listed as operations available to registered students.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Skill developed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You </a:t>
            </a:r>
            <a:r>
              <a:rPr lang="en-US" sz="2800" dirty="0" err="1">
                <a:latin typeface="Calibir"/>
              </a:rPr>
              <a:t>practise</a:t>
            </a:r>
            <a:r>
              <a:rPr lang="en-US" sz="2800" dirty="0">
                <a:latin typeface="Calibir"/>
              </a:rPr>
              <a:t> converting written customer requirements into UML use cases.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DF9F46D-ACD6-F4BD-957D-8600E6BBA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3334384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99B41-C88C-7B59-935A-18FD8E1E8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05362E-6DE5-D72D-F01E-1318C250C0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" t="-321" r="30873" b="7952"/>
          <a:stretch>
            <a:fillRect/>
          </a:stretch>
        </p:blipFill>
        <p:spPr>
          <a:xfrm>
            <a:off x="0" y="1057616"/>
            <a:ext cx="7676681" cy="580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824F28-17ED-50E9-6ABC-E5F6AA16C24E}"/>
              </a:ext>
            </a:extLst>
          </p:cNvPr>
          <p:cNvSpPr txBox="1"/>
          <p:nvPr/>
        </p:nvSpPr>
        <p:spPr>
          <a:xfrm>
            <a:off x="4144297" y="1015502"/>
            <a:ext cx="8047703" cy="5842497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8 – Add the Supporting Enrolment Functions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enrolment process has several automatic system </a:t>
            </a:r>
            <a:r>
              <a:rPr lang="en-US" sz="2800" dirty="0" err="1">
                <a:latin typeface="Calibir"/>
              </a:rPr>
              <a:t>behaviours</a:t>
            </a:r>
            <a:r>
              <a:rPr lang="en-US" sz="2800" dirty="0">
                <a:latin typeface="Calibir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Create required actions. These support the main </a:t>
            </a:r>
            <a:r>
              <a:rPr lang="en-US" sz="2800" dirty="0" err="1">
                <a:latin typeface="Calibir"/>
              </a:rPr>
              <a:t>Enrol</a:t>
            </a:r>
            <a:r>
              <a:rPr lang="en-US" sz="2800" dirty="0">
                <a:latin typeface="Calibir"/>
              </a:rPr>
              <a:t> in Subject use case.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system must make sure that the Student has no more than four subjects.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When enrolment is successful, the system automatically do required actions.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206FB53-BD92-C3B1-239C-6891E25FA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060235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2150E-2E75-D79A-C3A8-E2AE81751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074FBE5-1320-238B-0457-28453BE85B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" t="-321" r="30873" b="7952"/>
          <a:stretch>
            <a:fillRect/>
          </a:stretch>
        </p:blipFill>
        <p:spPr>
          <a:xfrm>
            <a:off x="0" y="1057616"/>
            <a:ext cx="7676681" cy="580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EAE981-0EF6-E06F-65E3-036F65607D47}"/>
              </a:ext>
            </a:extLst>
          </p:cNvPr>
          <p:cNvSpPr txBox="1"/>
          <p:nvPr/>
        </p:nvSpPr>
        <p:spPr>
          <a:xfrm>
            <a:off x="4144297" y="1015502"/>
            <a:ext cx="8047703" cy="4549835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Why do we do this?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These functions happen as part of enrolment even though the Student does not manually request each one.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Skill developed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You learn the difference between a user goal and an internal function required to complete that goal.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C850AFE-ED23-60FA-456C-47934BC87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4113415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43D4A-C9D0-7787-CA66-FB6DFAC32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5B7528-ABD1-7E47-C2DD-27C5ABD695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" t="-321" r="30873" b="7952"/>
          <a:stretch>
            <a:fillRect/>
          </a:stretch>
        </p:blipFill>
        <p:spPr>
          <a:xfrm>
            <a:off x="0" y="1057616"/>
            <a:ext cx="7676681" cy="580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7C15EE-B0E5-541E-F654-89FB48E2A7D2}"/>
              </a:ext>
            </a:extLst>
          </p:cNvPr>
          <p:cNvSpPr txBox="1"/>
          <p:nvPr/>
        </p:nvSpPr>
        <p:spPr>
          <a:xfrm>
            <a:off x="4144297" y="1015502"/>
            <a:ext cx="8047703" cy="5842497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9 – Add the Admin Use Cases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Create the required use cases on the Admin side of the system: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Connect the Admin actor to each of them.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Why do we do this?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They will be the student-management functions explicitly assigned to Admins in the project brief.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Admin does not use the Student registration process.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22B8659-9CD2-A4A8-40DD-3ED7171B5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220001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80C58-D337-CAAC-83A8-C76BD423F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930E55-A54F-1592-DF06-65F0782CD7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" t="-321" r="30873" b="7952"/>
          <a:stretch>
            <a:fillRect/>
          </a:stretch>
        </p:blipFill>
        <p:spPr>
          <a:xfrm>
            <a:off x="0" y="1057616"/>
            <a:ext cx="7676681" cy="580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59B10F-A103-E085-9DE7-561CD0FA9D91}"/>
              </a:ext>
            </a:extLst>
          </p:cNvPr>
          <p:cNvSpPr txBox="1"/>
          <p:nvPr/>
        </p:nvSpPr>
        <p:spPr>
          <a:xfrm>
            <a:off x="4144297" y="1015502"/>
            <a:ext cx="8047703" cy="1964512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Skill developed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You </a:t>
            </a:r>
            <a:r>
              <a:rPr lang="en-US" sz="2800" dirty="0" err="1">
                <a:latin typeface="Calibir"/>
              </a:rPr>
              <a:t>practise</a:t>
            </a:r>
            <a:r>
              <a:rPr lang="en-US" sz="2800" dirty="0">
                <a:latin typeface="Calibir"/>
              </a:rPr>
              <a:t> mapping permissions and functionality to the correct user role.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82A0E7B-FC55-D12E-141A-FEF08FF2B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5116825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66658-F580-0E64-21B1-372B23DF6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BE6A3EB-7C20-A703-E590-8413F0D957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" t="-321" r="30873" b="7952"/>
          <a:stretch>
            <a:fillRect/>
          </a:stretch>
        </p:blipFill>
        <p:spPr>
          <a:xfrm>
            <a:off x="0" y="1057616"/>
            <a:ext cx="7676681" cy="580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939EE3-3C77-78CD-496E-62ECD3CCFDE6}"/>
              </a:ext>
            </a:extLst>
          </p:cNvPr>
          <p:cNvSpPr txBox="1"/>
          <p:nvPr/>
        </p:nvSpPr>
        <p:spPr>
          <a:xfrm>
            <a:off x="4144297" y="1015502"/>
            <a:ext cx="8047703" cy="4549835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10 – Add Relationships Between Actors and Use Cases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You may think if it is correct to use a normal Association line for connecting an actor to a use case that the actor directly performs.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If correct, an association is normally drawn as a solid line without an arrow.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F873065-91CA-9A3C-D286-6C5265539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1151636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C6E0B-727D-1F34-8022-14D8626C5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2B5171-B35B-5ECD-2883-ED94A7D3D6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" t="-321" r="30873" b="7952"/>
          <a:stretch>
            <a:fillRect/>
          </a:stretch>
        </p:blipFill>
        <p:spPr>
          <a:xfrm>
            <a:off x="0" y="1057616"/>
            <a:ext cx="7676681" cy="580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7240A6-0173-ED6F-686F-A1AD606915FE}"/>
              </a:ext>
            </a:extLst>
          </p:cNvPr>
          <p:cNvSpPr txBox="1"/>
          <p:nvPr/>
        </p:nvSpPr>
        <p:spPr>
          <a:xfrm>
            <a:off x="4144297" y="1015502"/>
            <a:ext cx="8047703" cy="3903504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Why do we do this?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association tells the reader which actor initiates or participates in a use case.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Skill developed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You learn how to communicate user-system interactions using standard UML notation.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85AC22-8210-F31C-706D-E02B07B66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857577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CE25A-0F3E-9221-B2D0-071136E6D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06A519-F81B-63E9-9547-F7C764212B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" t="-321" r="30873" b="7952"/>
          <a:stretch>
            <a:fillRect/>
          </a:stretch>
        </p:blipFill>
        <p:spPr>
          <a:xfrm>
            <a:off x="0" y="1057616"/>
            <a:ext cx="7676681" cy="580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B8D541-0C60-F4AC-1F37-E191BDF73552}"/>
              </a:ext>
            </a:extLst>
          </p:cNvPr>
          <p:cNvSpPr txBox="1"/>
          <p:nvPr/>
        </p:nvSpPr>
        <p:spPr>
          <a:xfrm>
            <a:off x="4144297" y="1015502"/>
            <a:ext cx="8047703" cy="4549835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11 – Use &lt;&lt;include&gt;&gt; Where the Function Must Always Occur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Use &lt;&lt;include&gt;&gt; when one use case must perform another use case every time.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When drawing &lt;&lt;include&gt;&gt;, the dashed arrow should point towards the included use case.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For example: Register → Validate Email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7883718-EF35-4795-6083-630B7B100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164402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0FEB3-091D-71CB-B314-2A50E7A7A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D7976D-6F61-2DD2-12DB-4CBB3DC33E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" t="-321" r="30873" b="7952"/>
          <a:stretch>
            <a:fillRect/>
          </a:stretch>
        </p:blipFill>
        <p:spPr>
          <a:xfrm>
            <a:off x="0" y="1057616"/>
            <a:ext cx="7676681" cy="580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537A9E-29CC-9F80-44CA-0061C34CB68D}"/>
              </a:ext>
            </a:extLst>
          </p:cNvPr>
          <p:cNvSpPr txBox="1"/>
          <p:nvPr/>
        </p:nvSpPr>
        <p:spPr>
          <a:xfrm>
            <a:off x="4144297" y="1015502"/>
            <a:ext cx="8047703" cy="4549835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Why do we do this?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Email validation is not optional during registration. Therefore, it is something the Register use case must include.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Skill developed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You learn to </a:t>
            </a:r>
            <a:r>
              <a:rPr lang="en-US" sz="2800" dirty="0" err="1">
                <a:latin typeface="Calibir"/>
              </a:rPr>
              <a:t>recognise</a:t>
            </a:r>
            <a:r>
              <a:rPr lang="en-US" sz="2800" dirty="0">
                <a:latin typeface="Calibir"/>
              </a:rPr>
              <a:t> mandatory reusable system </a:t>
            </a:r>
            <a:r>
              <a:rPr lang="en-US" sz="2800" dirty="0" err="1">
                <a:latin typeface="Calibir"/>
              </a:rPr>
              <a:t>behaviour</a:t>
            </a:r>
            <a:r>
              <a:rPr lang="en-US" sz="2800" dirty="0">
                <a:latin typeface="Calibir"/>
              </a:rPr>
              <a:t>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E14E9B8-0C83-CF86-1FEB-60DB0406A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37806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E2476-1DC3-26E3-6136-8ED749D31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A1E98F-4E8F-1AB9-8E30-DD67DEF39A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" t="-321" r="30873" b="7952"/>
          <a:stretch>
            <a:fillRect/>
          </a:stretch>
        </p:blipFill>
        <p:spPr>
          <a:xfrm>
            <a:off x="0" y="1057616"/>
            <a:ext cx="7676681" cy="580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2D29B8-D49D-406B-C707-E776AA8BCA2F}"/>
              </a:ext>
            </a:extLst>
          </p:cNvPr>
          <p:cNvSpPr txBox="1"/>
          <p:nvPr/>
        </p:nvSpPr>
        <p:spPr>
          <a:xfrm>
            <a:off x="4144297" y="1015502"/>
            <a:ext cx="8047703" cy="5842497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12 – Be Careful with &lt;&lt;extend&gt;&gt;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Use &lt;&lt;extend&gt;&gt; only where extra </a:t>
            </a:r>
            <a:r>
              <a:rPr lang="en-US" sz="2800" dirty="0" err="1">
                <a:latin typeface="Calibir"/>
              </a:rPr>
              <a:t>behaviour</a:t>
            </a:r>
            <a:r>
              <a:rPr lang="en-US" sz="2800" dirty="0">
                <a:latin typeface="Calibir"/>
              </a:rPr>
              <a:t> happens under a particular condition.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For this project, do not add &lt;&lt;extend&gt;&gt; simply because the tool is available.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For example, attempting to </a:t>
            </a:r>
            <a:r>
              <a:rPr lang="en-US" sz="2800" dirty="0" err="1">
                <a:latin typeface="Calibir"/>
              </a:rPr>
              <a:t>enrol</a:t>
            </a:r>
            <a:r>
              <a:rPr lang="en-US" sz="2800" dirty="0">
                <a:latin typeface="Calibir"/>
              </a:rPr>
              <a:t> in a fifth subject causes the system to notify the Student. This can be represented as conditional </a:t>
            </a:r>
            <a:r>
              <a:rPr lang="en-US" sz="2800" dirty="0" err="1">
                <a:latin typeface="Calibir"/>
              </a:rPr>
              <a:t>behaviour</a:t>
            </a:r>
            <a:r>
              <a:rPr lang="en-US" sz="2800" dirty="0">
                <a:latin typeface="Calibir"/>
              </a:rPr>
              <a:t> associated with checking the enrolment limit.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FA141D6-9C88-D4B5-43A2-44D641210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4943706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A2258-1608-9500-7563-48EA9B015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8444C4-61C6-8D46-842C-DF95FF13DF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" t="-321" r="30873" b="7952"/>
          <a:stretch>
            <a:fillRect/>
          </a:stretch>
        </p:blipFill>
        <p:spPr>
          <a:xfrm>
            <a:off x="0" y="1057616"/>
            <a:ext cx="7676681" cy="580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650FF6-C6A2-CCFE-3617-C2BB5CCD9246}"/>
              </a:ext>
            </a:extLst>
          </p:cNvPr>
          <p:cNvSpPr txBox="1"/>
          <p:nvPr/>
        </p:nvSpPr>
        <p:spPr>
          <a:xfrm>
            <a:off x="4144297" y="1015502"/>
            <a:ext cx="8047703" cy="4549835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If you model it separately, you could create: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Display Maximum Enrolment Error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and use an extension associated with the enrolment process.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However, it is also acceptable to explain the error as part of the Check Enrolment Limit use case rather than overcrowding the diagram.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B8395CB-E0B9-F064-ED80-47CDF41C1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9476649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5ECDC-E705-7651-7131-9CF0393F9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4A646A-B2F4-0A7F-D7B9-006E092749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" t="-321" r="30873" b="7952"/>
          <a:stretch>
            <a:fillRect/>
          </a:stretch>
        </p:blipFill>
        <p:spPr>
          <a:xfrm>
            <a:off x="0" y="1057616"/>
            <a:ext cx="7676681" cy="580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9930C5-0391-4695-F6CD-58E9543FD50C}"/>
              </a:ext>
            </a:extLst>
          </p:cNvPr>
          <p:cNvSpPr txBox="1"/>
          <p:nvPr/>
        </p:nvSpPr>
        <p:spPr>
          <a:xfrm>
            <a:off x="3598607" y="1015502"/>
            <a:ext cx="8593394" cy="5196166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Read: “A student can </a:t>
            </a:r>
            <a:r>
              <a:rPr lang="en-US" sz="2800" b="1" dirty="0" err="1">
                <a:latin typeface="Calibir"/>
              </a:rPr>
              <a:t>enrol</a:t>
            </a:r>
            <a:r>
              <a:rPr lang="en-US" sz="2800" b="1" dirty="0">
                <a:latin typeface="Calibir"/>
              </a:rPr>
              <a:t> in a maximum of four subjects.”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Think: What system </a:t>
            </a:r>
            <a:r>
              <a:rPr lang="en-US" sz="2800" dirty="0" err="1">
                <a:latin typeface="Calibir"/>
              </a:rPr>
              <a:t>behaviour</a:t>
            </a:r>
            <a:r>
              <a:rPr lang="en-US" sz="2800" dirty="0">
                <a:latin typeface="Calibir"/>
              </a:rPr>
              <a:t> does this requirement imply?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Answer: The system needs to check the enrolment limit.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Model: Add Check Enrolment Limit.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It supports </a:t>
            </a:r>
            <a:r>
              <a:rPr lang="en-US" sz="2800" dirty="0" err="1">
                <a:latin typeface="Calibir"/>
              </a:rPr>
              <a:t>Enrol</a:t>
            </a:r>
            <a:r>
              <a:rPr lang="en-US" sz="2800" dirty="0">
                <a:latin typeface="Calibir"/>
              </a:rPr>
              <a:t> in Subject because the system must check the limit before accepting another subject.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AFBE877-D90C-8C8D-00CA-0DF7BBE7C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845779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8138E-3B99-F963-513A-642BFBBB6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3065BD-6614-3A31-8B52-11748ADCF8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" t="-321" r="30873" b="7952"/>
          <a:stretch>
            <a:fillRect/>
          </a:stretch>
        </p:blipFill>
        <p:spPr>
          <a:xfrm>
            <a:off x="0" y="1057616"/>
            <a:ext cx="7676681" cy="580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9ED764-27ED-90AE-B681-67F45CF4FA42}"/>
              </a:ext>
            </a:extLst>
          </p:cNvPr>
          <p:cNvSpPr txBox="1"/>
          <p:nvPr/>
        </p:nvSpPr>
        <p:spPr>
          <a:xfrm>
            <a:off x="3834581" y="1015502"/>
            <a:ext cx="8357419" cy="5842497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Why do we do this?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 common mistake is using &lt;&lt;include&gt;&gt; and &lt;&lt;extend&gt;&gt; without understanding them.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Remember: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&lt;&lt;include&gt;&gt; = always required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&lt;&lt;extend&gt;&gt; = happens only under a condition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Skill developed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You develop stronger understanding of UML relationship semantics rather than simply drawing lines.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7D0494-742F-F4E4-FA38-5A73A6F9B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827950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3DF51-2573-3AE7-1163-10DC74249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4B4DCE-A2A0-E9A9-10AE-F5B193E26A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" t="-321" r="30873" b="7952"/>
          <a:stretch>
            <a:fillRect/>
          </a:stretch>
        </p:blipFill>
        <p:spPr>
          <a:xfrm>
            <a:off x="0" y="1057616"/>
            <a:ext cx="7676681" cy="580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FEEC81-8FAA-FE8A-39C1-04F17CEEFF0E}"/>
              </a:ext>
            </a:extLst>
          </p:cNvPr>
          <p:cNvSpPr txBox="1"/>
          <p:nvPr/>
        </p:nvSpPr>
        <p:spPr>
          <a:xfrm>
            <a:off x="3834581" y="1015502"/>
            <a:ext cx="8357419" cy="5196166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Question: During registration, can the system skip email validation?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Answer: No.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Question: Can it skip password validation?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Answer: No.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Question: So are these mandatory parts of registration?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Answer: Yes.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56CE7D5-54E5-1BF5-F562-9ACD6C91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3615872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46992-FAB7-650D-1E55-4505FB961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D9B05C9-4ABF-CC0E-9AD2-51E0DBB409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" t="-321" r="30873" b="7952"/>
          <a:stretch>
            <a:fillRect/>
          </a:stretch>
        </p:blipFill>
        <p:spPr>
          <a:xfrm>
            <a:off x="0" y="1057616"/>
            <a:ext cx="7676681" cy="580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84DEE85-0EAF-0AE3-CB19-8D627B7E9048}"/>
              </a:ext>
            </a:extLst>
          </p:cNvPr>
          <p:cNvSpPr txBox="1"/>
          <p:nvPr/>
        </p:nvSpPr>
        <p:spPr>
          <a:xfrm>
            <a:off x="3834581" y="1015502"/>
            <a:ext cx="8357419" cy="4549835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Conclusion: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We use &lt;&lt;include&gt;&gt; because these actions must happen every time registration occurs.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Question: Does the system display a maximum-enrolment error every time a Student </a:t>
            </a:r>
            <a:r>
              <a:rPr lang="en-US" sz="2800" b="1" dirty="0" err="1">
                <a:latin typeface="Calibir"/>
              </a:rPr>
              <a:t>enrols</a:t>
            </a:r>
            <a:r>
              <a:rPr lang="en-US" sz="2800" b="1" dirty="0">
                <a:latin typeface="Calibir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Answer: No. It happens only when the Student tries to exceed four subjects.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89B29B4-2B74-2911-90E0-613F84FF1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500205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964C9-EDEA-4DCB-A719-CF6218F08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E13B8C-7237-9FDC-006C-D73214EA14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" t="-321" r="30873" b="7952"/>
          <a:stretch>
            <a:fillRect/>
          </a:stretch>
        </p:blipFill>
        <p:spPr>
          <a:xfrm>
            <a:off x="0" y="1057616"/>
            <a:ext cx="7676681" cy="580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5255E1-177C-E2BB-D100-DBA1DD165B5A}"/>
              </a:ext>
            </a:extLst>
          </p:cNvPr>
          <p:cNvSpPr txBox="1"/>
          <p:nvPr/>
        </p:nvSpPr>
        <p:spPr>
          <a:xfrm>
            <a:off x="3834581" y="1015502"/>
            <a:ext cx="8357419" cy="3257174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Conclusion: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This is conditional </a:t>
            </a:r>
            <a:r>
              <a:rPr lang="en-US" sz="2800" dirty="0" err="1">
                <a:latin typeface="Calibir"/>
              </a:rPr>
              <a:t>behaviour</a:t>
            </a:r>
            <a:r>
              <a:rPr lang="en-US" sz="2800" dirty="0">
                <a:latin typeface="Calibir"/>
              </a:rPr>
              <a:t>, so it may be represented using &lt;&lt;extend&gt;&gt;, or explained as an alternative flow without adding another oval if you want to keep the diagram simple.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84C7F09-BD9C-62D4-7BC4-F1B09EC0B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1401623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D9AEC-0DA0-640A-331E-390486A51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601C63-9D2E-251F-8BBF-FC74F6997D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" t="-321" r="30873" b="7952"/>
          <a:stretch>
            <a:fillRect/>
          </a:stretch>
        </p:blipFill>
        <p:spPr>
          <a:xfrm>
            <a:off x="0" y="1057616"/>
            <a:ext cx="7676681" cy="580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4428BC-FBCA-4B6C-DFA2-B3B64C0EF752}"/>
              </a:ext>
            </a:extLst>
          </p:cNvPr>
          <p:cNvSpPr txBox="1"/>
          <p:nvPr/>
        </p:nvSpPr>
        <p:spPr>
          <a:xfrm>
            <a:off x="3834581" y="1015502"/>
            <a:ext cx="8357419" cy="5196166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13 – Do Not Put </a:t>
            </a:r>
            <a:r>
              <a:rPr lang="en-US" sz="2800" b="1" dirty="0" err="1">
                <a:latin typeface="Calibir"/>
              </a:rPr>
              <a:t>students.data</a:t>
            </a:r>
            <a:r>
              <a:rPr lang="en-US" sz="2800" b="1" dirty="0">
                <a:latin typeface="Calibir"/>
              </a:rPr>
              <a:t> as an Actor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application stores student and enrolment information in: </a:t>
            </a:r>
            <a:r>
              <a:rPr lang="en-US" sz="2800" dirty="0" err="1">
                <a:latin typeface="Calibir"/>
              </a:rPr>
              <a:t>students.data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However, for this assessment, it normally does not need to be shown as a human actor.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You can explain in the accompanying text that </a:t>
            </a:r>
            <a:r>
              <a:rPr lang="en-US" sz="2800" dirty="0" err="1">
                <a:latin typeface="Calibir"/>
              </a:rPr>
              <a:t>CLIUniApp</a:t>
            </a:r>
            <a:r>
              <a:rPr lang="en-US" sz="2800" dirty="0">
                <a:latin typeface="Calibir"/>
              </a:rPr>
              <a:t> operations read and write student information using </a:t>
            </a:r>
            <a:r>
              <a:rPr lang="en-US" sz="2800" dirty="0" err="1">
                <a:latin typeface="Calibir"/>
              </a:rPr>
              <a:t>students.data</a:t>
            </a:r>
            <a:r>
              <a:rPr lang="en-US" sz="2800" dirty="0">
                <a:latin typeface="Calibir"/>
              </a:rPr>
              <a:t>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DC1EF1D-1E91-8315-7BD7-79D6E9820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31588406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13EFF-DC7C-5790-CD25-1BC1FDBAC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7B5162-23B9-CFD1-4E61-1EFD592008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" t="-321" r="30873" b="7952"/>
          <a:stretch>
            <a:fillRect/>
          </a:stretch>
        </p:blipFill>
        <p:spPr>
          <a:xfrm>
            <a:off x="0" y="1057616"/>
            <a:ext cx="7676681" cy="580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8A2AC6-0053-E7FA-74FB-088DFF9202DE}"/>
              </a:ext>
            </a:extLst>
          </p:cNvPr>
          <p:cNvSpPr txBox="1"/>
          <p:nvPr/>
        </p:nvSpPr>
        <p:spPr>
          <a:xfrm>
            <a:off x="3834581" y="1015502"/>
            <a:ext cx="8357419" cy="5196166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Why do we do this?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 use case diagram should focus mainly on external users and their goals.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Technical implementation details are better represented later in the class diagram and implementation.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Skill developed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You learn to distinguish between functional requirements and implementation details.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59C2C4E-BE9E-5D67-E66B-21F1EA7FE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424291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C79DD-F2E0-6A36-5DDF-C2CADEEBA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2D791-63EF-C47D-5439-7A58AD4D8A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" t="-321" r="30873" b="7952"/>
          <a:stretch>
            <a:fillRect/>
          </a:stretch>
        </p:blipFill>
        <p:spPr>
          <a:xfrm>
            <a:off x="0" y="1057616"/>
            <a:ext cx="7676681" cy="580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1D56A0-3350-A49B-FE8C-190E46E73113}"/>
              </a:ext>
            </a:extLst>
          </p:cNvPr>
          <p:cNvSpPr txBox="1"/>
          <p:nvPr/>
        </p:nvSpPr>
        <p:spPr>
          <a:xfrm>
            <a:off x="3834581" y="1015502"/>
            <a:ext cx="8357419" cy="5196166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14 – Keep </a:t>
            </a:r>
            <a:r>
              <a:rPr lang="en-US" sz="2800" b="1" dirty="0" err="1">
                <a:latin typeface="Calibir"/>
              </a:rPr>
              <a:t>CLIUniApp</a:t>
            </a:r>
            <a:r>
              <a:rPr lang="en-US" sz="2800" b="1" dirty="0">
                <a:latin typeface="Calibir"/>
              </a:rPr>
              <a:t> and </a:t>
            </a:r>
            <a:r>
              <a:rPr lang="en-US" sz="2800" b="1" dirty="0" err="1">
                <a:latin typeface="Calibir"/>
              </a:rPr>
              <a:t>GUIUniApp</a:t>
            </a:r>
            <a:r>
              <a:rPr lang="en-US" sz="2800" b="1" dirty="0">
                <a:latin typeface="Calibir"/>
              </a:rPr>
              <a:t> in Perspective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Part 1 describes the complete university application, while </a:t>
            </a:r>
            <a:r>
              <a:rPr lang="en-US" sz="2800" dirty="0" err="1">
                <a:latin typeface="Calibir"/>
              </a:rPr>
              <a:t>GUIUniApp</a:t>
            </a:r>
            <a:r>
              <a:rPr lang="en-US" sz="2800" dirty="0">
                <a:latin typeface="Calibir"/>
              </a:rPr>
              <a:t> is identified as a smaller challenge component for Part 2.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Your main Use Case Diagram should therefore focus on the required system </a:t>
            </a:r>
            <a:r>
              <a:rPr lang="en-US" sz="2800" dirty="0" err="1">
                <a:latin typeface="Calibir"/>
              </a:rPr>
              <a:t>behaviour</a:t>
            </a:r>
            <a:r>
              <a:rPr lang="en-US" sz="2800" dirty="0">
                <a:latin typeface="Calibir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Student and Admin functionality described in the project requirements should be clearly represented.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EB24A1B-B7A7-4CB4-CAE5-26FB33ADB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9971146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B62FF-0F78-CF2D-33B4-3A331755F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7A33AC-E2BC-D59E-8AD7-56BE598757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" t="-321" r="30873" b="7952"/>
          <a:stretch>
            <a:fillRect/>
          </a:stretch>
        </p:blipFill>
        <p:spPr>
          <a:xfrm>
            <a:off x="0" y="1057616"/>
            <a:ext cx="7676681" cy="580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7B2D2E-E685-6D47-DCBC-B67F101E43C8}"/>
              </a:ext>
            </a:extLst>
          </p:cNvPr>
          <p:cNvSpPr txBox="1"/>
          <p:nvPr/>
        </p:nvSpPr>
        <p:spPr>
          <a:xfrm>
            <a:off x="3834581" y="1015502"/>
            <a:ext cx="8357419" cy="5842497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You do not need to duplicate every use case simply because </a:t>
            </a:r>
            <a:r>
              <a:rPr lang="en-US" sz="2800" dirty="0" err="1">
                <a:latin typeface="Calibir"/>
              </a:rPr>
              <a:t>CLIUniApp</a:t>
            </a:r>
            <a:r>
              <a:rPr lang="en-US" sz="2800" dirty="0">
                <a:latin typeface="Calibir"/>
              </a:rPr>
              <a:t> and </a:t>
            </a:r>
            <a:r>
              <a:rPr lang="en-US" sz="2800" dirty="0" err="1">
                <a:latin typeface="Calibir"/>
              </a:rPr>
              <a:t>GUIUniApp</a:t>
            </a:r>
            <a:r>
              <a:rPr lang="en-US" sz="2800" dirty="0">
                <a:latin typeface="Calibir"/>
              </a:rPr>
              <a:t> both access some Student functionality.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Why do we do this?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Use case diagrams represent what the system does, rather than which Java screen or class performs the task.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Skill developed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You learn to separate requirements analysis from implementation design.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8E58D08-9C7A-0698-F76E-F04A324ED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967465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16F42-C18E-B908-34BC-D03162074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E9C2BA-DAF3-4E8F-3670-78CB3D25C3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" t="-321" r="30873" b="7952"/>
          <a:stretch>
            <a:fillRect/>
          </a:stretch>
        </p:blipFill>
        <p:spPr>
          <a:xfrm>
            <a:off x="0" y="1057616"/>
            <a:ext cx="7676681" cy="580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166B41-B776-B431-10F7-7CABB80A9BBE}"/>
              </a:ext>
            </a:extLst>
          </p:cNvPr>
          <p:cNvSpPr txBox="1"/>
          <p:nvPr/>
        </p:nvSpPr>
        <p:spPr>
          <a:xfrm>
            <a:off x="3834581" y="1015502"/>
            <a:ext cx="8357419" cy="5842497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15 – Arrange the Diagram Clearly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After creating all elements: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Place Student on the left.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Place Admin on the right.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Keep Student-related use cases mainly on the left or </a:t>
            </a:r>
            <a:r>
              <a:rPr lang="en-US" sz="2800" dirty="0" err="1">
                <a:latin typeface="Calibir"/>
              </a:rPr>
              <a:t>centre</a:t>
            </a:r>
            <a:r>
              <a:rPr lang="en-US" sz="2800" dirty="0">
                <a:latin typeface="Calibir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Keep Admin-related use cases mainly on the right.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Place supporting use cases close to the main use case they support.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B8534B6-02EB-165B-9D4A-FA3088908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35172478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FBB4D-B6B3-EA7E-9056-5FEA1B97B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33D53A-84BD-B188-FBAF-1CF9375F25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" t="-321" r="30873" b="7952"/>
          <a:stretch>
            <a:fillRect/>
          </a:stretch>
        </p:blipFill>
        <p:spPr>
          <a:xfrm>
            <a:off x="0" y="1057616"/>
            <a:ext cx="7676681" cy="580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3DE2C6-A268-174E-A2E6-0ECAECE1E83D}"/>
              </a:ext>
            </a:extLst>
          </p:cNvPr>
          <p:cNvSpPr txBox="1"/>
          <p:nvPr/>
        </p:nvSpPr>
        <p:spPr>
          <a:xfrm>
            <a:off x="3834581" y="1015502"/>
            <a:ext cx="8357419" cy="5196166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Avoid crossing lines whenever possible.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Keep sufficient spacing between ovals.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Why do we do this?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 technically correct UML diagram can still lose clarity if its lines overlap or objects are poorly arranged.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Skill developed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You develop professional technical communication and modelling presentation skills.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8CC9A15-1911-5990-0BBD-19D9E3D7F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3595074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256D1-FE6A-C9AF-C5DB-873EE73A5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63D08B-B852-792C-DCCD-70991F3E83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" t="-321" r="30873" b="7952"/>
          <a:stretch>
            <a:fillRect/>
          </a:stretch>
        </p:blipFill>
        <p:spPr>
          <a:xfrm>
            <a:off x="0" y="1057616"/>
            <a:ext cx="7676681" cy="580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899F6F-2435-64E0-55E3-097BB5409C2C}"/>
              </a:ext>
            </a:extLst>
          </p:cNvPr>
          <p:cNvSpPr txBox="1"/>
          <p:nvPr/>
        </p:nvSpPr>
        <p:spPr>
          <a:xfrm>
            <a:off x="3834581" y="1015502"/>
            <a:ext cx="8357419" cy="3257174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16 – Write the Explanation Below the Diagram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Do not submit only the picture.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assessment specifically asks students to provide explanations for actors, goals, use cases and relationships.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A9AEAEF-6A37-2224-F316-22C8B89CC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1944330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B1E2D-E07A-9D86-8EB4-91160EB68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4E3751-1177-9354-5C07-792A361E34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" t="-321" r="30873" b="7952"/>
          <a:stretch>
            <a:fillRect/>
          </a:stretch>
        </p:blipFill>
        <p:spPr>
          <a:xfrm>
            <a:off x="0" y="1057616"/>
            <a:ext cx="7676681" cy="5800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013BBC-1A34-9C20-2912-8AC9D2F0A645}"/>
              </a:ext>
            </a:extLst>
          </p:cNvPr>
          <p:cNvSpPr txBox="1"/>
          <p:nvPr/>
        </p:nvSpPr>
        <p:spPr>
          <a:xfrm>
            <a:off x="3834581" y="1015502"/>
            <a:ext cx="8357419" cy="5842497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 simple explanation can follow this style: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Student Actor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Student represents …..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Admin Actor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Admin represents …..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Calibir"/>
              </a:rPr>
              <a:t>Enrol</a:t>
            </a:r>
            <a:r>
              <a:rPr lang="en-US" sz="2800" dirty="0">
                <a:latin typeface="Calibir"/>
              </a:rPr>
              <a:t> in Subject Use Case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This use case allows ….. 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&lt;&lt;include&gt;&gt; Relationship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&lt;&lt;include&gt;&gt; relationship represents ….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C9B990B-F2A5-65FA-CFD9-0669DB4A8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0941821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A3E62-D9B6-0207-05DD-3E3DE54E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CAA599-A76E-D1B5-BBA9-5897B4F0735E}"/>
              </a:ext>
            </a:extLst>
          </p:cNvPr>
          <p:cNvSpPr txBox="1"/>
          <p:nvPr/>
        </p:nvSpPr>
        <p:spPr>
          <a:xfrm>
            <a:off x="5997678" y="117693"/>
            <a:ext cx="6194322" cy="6740307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Final Student Checklist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dirty="0">
                <a:latin typeface="Calibir"/>
              </a:rPr>
              <a:t>I created a system boundary named University Self-Enrolment System.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dirty="0">
                <a:latin typeface="Calibir"/>
              </a:rPr>
              <a:t>I included the Student actor.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dirty="0">
                <a:latin typeface="Calibir"/>
              </a:rPr>
              <a:t>I included the Admin actor.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dirty="0">
                <a:latin typeface="Calibir"/>
              </a:rPr>
              <a:t>My Student use cases come directly from the project requirements.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dirty="0">
                <a:latin typeface="Calibir"/>
              </a:rPr>
              <a:t>My Admin use cases come directly from the project requirements.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dirty="0">
                <a:latin typeface="Calibir"/>
              </a:rPr>
              <a:t>Student and Admin are connected only to appropriate use cases.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dirty="0">
                <a:latin typeface="Calibir"/>
              </a:rPr>
              <a:t>I used normal association lines for actor-use case interactions.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dirty="0">
                <a:latin typeface="Calibir"/>
              </a:rPr>
              <a:t>I used &lt;&lt;include&gt;&gt; only for required supporting </a:t>
            </a:r>
            <a:r>
              <a:rPr lang="en-US" dirty="0" err="1">
                <a:latin typeface="Calibir"/>
              </a:rPr>
              <a:t>behaviour</a:t>
            </a:r>
            <a:r>
              <a:rPr lang="en-US" dirty="0">
                <a:latin typeface="Calibir"/>
              </a:rPr>
              <a:t>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dirty="0">
                <a:latin typeface="Calibir"/>
              </a:rPr>
              <a:t>I used &lt;&lt;extend&gt;&gt; only where </a:t>
            </a:r>
            <a:r>
              <a:rPr lang="en-US" dirty="0" err="1">
                <a:latin typeface="Calibir"/>
              </a:rPr>
              <a:t>behaviour</a:t>
            </a:r>
            <a:r>
              <a:rPr lang="en-US" dirty="0">
                <a:latin typeface="Calibir"/>
              </a:rPr>
              <a:t> is genuinely conditional.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dirty="0">
                <a:latin typeface="Calibir"/>
              </a:rPr>
              <a:t>My relationship labels use correct UML notation.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dirty="0">
                <a:latin typeface="Calibir"/>
              </a:rPr>
              <a:t>My diagram is neat and lines do not unnecessarily cross.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dirty="0">
                <a:latin typeface="Calibir"/>
              </a:rPr>
              <a:t>I have explained the actors.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dirty="0">
                <a:latin typeface="Calibir"/>
              </a:rPr>
              <a:t>I have explained important use cases.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dirty="0">
                <a:latin typeface="Calibir"/>
              </a:rPr>
              <a:t>I have explained the relationships.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dirty="0">
                <a:latin typeface="Calibir"/>
              </a:rPr>
              <a:t>My written explanation and diagram are consistent.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dirty="0">
                <a:latin typeface="Calibir"/>
              </a:rPr>
              <a:t>My diagram addresses all five criteria in the Use Case Diagram marking rubric.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AD23465-BB40-E5B4-EF68-CCB66BB81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46839" cy="1666568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30207001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2395D-EA1A-FBAC-33C8-46F0D4062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A7796D8-3544-C95A-81F3-3B4B545590A3}"/>
              </a:ext>
            </a:extLst>
          </p:cNvPr>
          <p:cNvSpPr txBox="1"/>
          <p:nvPr/>
        </p:nvSpPr>
        <p:spPr>
          <a:xfrm>
            <a:off x="10511" y="1015503"/>
            <a:ext cx="12192000" cy="5842497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What Students Learn from This Activity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By completing this task, students are not simply learning how to operate Visual Paradigm. They are </a:t>
            </a:r>
            <a:r>
              <a:rPr lang="en-US" sz="2800" dirty="0" err="1">
                <a:latin typeface="Calibir"/>
              </a:rPr>
              <a:t>practising</a:t>
            </a:r>
            <a:r>
              <a:rPr lang="en-US" sz="2800" dirty="0">
                <a:latin typeface="Calibir"/>
              </a:rPr>
              <a:t> how to read a real customer description, identify users and requirements, separate major goals from supporting functions, model relationships correctly, define system boundaries, and communicate a software design visually.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These skills are important because the Use Case Diagram becomes a bridge between the written requirements in Part 1 and the software implementation developed in Part 2.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F58FF96-6C90-DDC6-5AA6-F855F65A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7617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Assessment Task 1: Case Study – Part 1: Analysis and Design Preparation Guide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92564443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11091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 dirty="0"/>
              <a:t>Contents</a:t>
            </a:r>
            <a:endParaRPr dirty="0"/>
          </a:p>
        </p:txBody>
      </p:sp>
      <p:sp>
        <p:nvSpPr>
          <p:cNvPr id="70" name="Google Shape;70;p14"/>
          <p:cNvSpPr txBox="1"/>
          <p:nvPr/>
        </p:nvSpPr>
        <p:spPr>
          <a:xfrm>
            <a:off x="563366" y="1440933"/>
            <a:ext cx="10409433" cy="50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3200" dirty="0">
                <a:latin typeface="Economica"/>
                <a:ea typeface="Economica"/>
                <a:cs typeface="Economica"/>
                <a:sym typeface="Economica"/>
              </a:rPr>
              <a:t>Lab 4 exercises			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Economica"/>
                <a:ea typeface="Economica"/>
                <a:cs typeface="Economica"/>
                <a:sym typeface="Economica"/>
              </a:rPr>
              <a:t>lab time: 120 minutes</a:t>
            </a:r>
            <a:endParaRPr sz="3200" dirty="0">
              <a:solidFill>
                <a:schemeClr val="accent6">
                  <a:lumMod val="75000"/>
                </a:schemeClr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0F1F70-F36A-7BAC-66A6-6BA207139BBF}"/>
              </a:ext>
            </a:extLst>
          </p:cNvPr>
          <p:cNvSpPr txBox="1"/>
          <p:nvPr/>
        </p:nvSpPr>
        <p:spPr>
          <a:xfrm>
            <a:off x="1625600" y="2514600"/>
            <a:ext cx="8940800" cy="3671133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dirty="0">
                <a:latin typeface="Economica" panose="020B0604020202020204" charset="0"/>
              </a:rPr>
              <a:t>Lab 4 has two objectives:</a:t>
            </a:r>
          </a:p>
          <a:p>
            <a:pPr marL="380990" indent="-38099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Economica" panose="020B0604020202020204" charset="0"/>
              </a:rPr>
              <a:t>Primary: Implement the </a:t>
            </a:r>
            <a:r>
              <a:rPr lang="en-US" sz="2400" dirty="0" err="1">
                <a:latin typeface="Economica" panose="020B0604020202020204" charset="0"/>
              </a:rPr>
              <a:t>DeskBankApp</a:t>
            </a:r>
            <a:r>
              <a:rPr lang="en-US" sz="2400" dirty="0">
                <a:latin typeface="Economica" panose="020B0604020202020204" charset="0"/>
              </a:rPr>
              <a:t> [refer to Lab 3]</a:t>
            </a:r>
          </a:p>
          <a:p>
            <a:pPr marL="380990" indent="-38099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Economica" panose="020B0604020202020204" charset="0"/>
              </a:rPr>
              <a:t>Secondary: Complete the practice exercises [1 to 10] 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Economica" panose="020B0604020202020204" charset="0"/>
              </a:rPr>
              <a:t>Complete the Lab 4 exercises using either Java or Python.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Economica" panose="020B0604020202020204" charset="0"/>
              </a:rPr>
              <a:t>Recommended IDE for Java and Python:  </a:t>
            </a:r>
            <a:r>
              <a:rPr lang="en-US" sz="2400" dirty="0" err="1">
                <a:solidFill>
                  <a:srgbClr val="00B0F0"/>
                </a:solidFill>
                <a:latin typeface="Economica" panose="020B0604020202020204" charset="0"/>
              </a:rPr>
              <a:t>vscode</a:t>
            </a:r>
            <a:endParaRPr lang="en-US" sz="2400" dirty="0">
              <a:solidFill>
                <a:srgbClr val="00B0F0"/>
              </a:solidFill>
              <a:latin typeface="Economica" panose="020B0604020202020204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3FE0C017-4F14-E49E-A1AB-D1A1AE7B21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19613"/>
            <a:ext cx="11362267" cy="11091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 dirty="0"/>
              <a:t>Lab 4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980C27-948C-5A74-3794-543E81ADB7CC}"/>
              </a:ext>
            </a:extLst>
          </p:cNvPr>
          <p:cNvSpPr txBox="1"/>
          <p:nvPr/>
        </p:nvSpPr>
        <p:spPr>
          <a:xfrm>
            <a:off x="406401" y="1089520"/>
            <a:ext cx="11004265" cy="1685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Economica" panose="020B0604020202020204" charset="0"/>
              </a:rPr>
              <a:t>Case Study: </a:t>
            </a:r>
            <a:r>
              <a:rPr lang="en-GB" sz="2400" dirty="0">
                <a:latin typeface="Economica" panose="020B0604020202020204" charset="0"/>
              </a:rPr>
              <a:t>Develop the </a:t>
            </a:r>
            <a:r>
              <a:rPr lang="en-GB" sz="2400" dirty="0" err="1">
                <a:latin typeface="Economica" panose="020B0604020202020204" charset="0"/>
              </a:rPr>
              <a:t>DeskBankApp</a:t>
            </a:r>
            <a:r>
              <a:rPr lang="en-GB" sz="2400" dirty="0">
                <a:latin typeface="Economica" panose="020B0604020202020204" charset="0"/>
              </a:rPr>
              <a:t> system – Second Implementation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Economica" panose="020B0604020202020204" charset="0"/>
              </a:rPr>
              <a:t>This exercise is the second implementation of the </a:t>
            </a:r>
            <a:r>
              <a:rPr lang="en-GB" sz="2400" dirty="0" err="1">
                <a:latin typeface="Economica" panose="020B0604020202020204" charset="0"/>
              </a:rPr>
              <a:t>DeskBankApp</a:t>
            </a:r>
            <a:r>
              <a:rPr lang="en-GB" sz="2400" dirty="0">
                <a:latin typeface="Economica" panose="020B0604020202020204" charset="0"/>
              </a:rPr>
              <a:t> case study [refer to Lab3]</a:t>
            </a:r>
            <a:endParaRPr lang="en-US" sz="2400" dirty="0">
              <a:latin typeface="Economica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2E4BF9-C7FD-E400-D7FD-DF1253F29C44}"/>
              </a:ext>
            </a:extLst>
          </p:cNvPr>
          <p:cNvSpPr txBox="1"/>
          <p:nvPr/>
        </p:nvSpPr>
        <p:spPr>
          <a:xfrm>
            <a:off x="8839200" y="2506592"/>
            <a:ext cx="3097429" cy="4173608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none" rtlCol="0">
            <a:noAutofit/>
          </a:bodyPr>
          <a:lstStyle/>
          <a:p>
            <a:r>
              <a:rPr lang="en-GB" sz="1600" dirty="0">
                <a:latin typeface="Economica" panose="020B0604020202020204" charset="0"/>
              </a:rPr>
              <a:t>Start banking (d/w/s/x): s</a:t>
            </a:r>
          </a:p>
          <a:p>
            <a:r>
              <a:rPr lang="en-GB" sz="1600" dirty="0">
                <a:latin typeface="Economica" panose="020B0604020202020204" charset="0"/>
              </a:rPr>
              <a:t>Starting balance: $1000.00</a:t>
            </a:r>
          </a:p>
          <a:p>
            <a:r>
              <a:rPr lang="en-GB" sz="1600" dirty="0">
                <a:latin typeface="Economica" panose="020B0604020202020204" charset="0"/>
              </a:rPr>
              <a:t>Continue banking (d/w/s/x): d</a:t>
            </a:r>
          </a:p>
          <a:p>
            <a:r>
              <a:rPr lang="en-GB" sz="1600" dirty="0">
                <a:latin typeface="Economica" panose="020B0604020202020204" charset="0"/>
              </a:rPr>
              <a:t>Amount to deposit: $1000</a:t>
            </a:r>
          </a:p>
          <a:p>
            <a:r>
              <a:rPr lang="en-GB" sz="1600" dirty="0">
                <a:latin typeface="Economica" panose="020B0604020202020204" charset="0"/>
              </a:rPr>
              <a:t>Amount deposited: $1000.00</a:t>
            </a:r>
          </a:p>
          <a:p>
            <a:r>
              <a:rPr lang="en-GB" sz="1600" dirty="0">
                <a:latin typeface="Economica" panose="020B0604020202020204" charset="0"/>
              </a:rPr>
              <a:t>Continue banking (d/w/s/x): s</a:t>
            </a:r>
          </a:p>
          <a:p>
            <a:r>
              <a:rPr lang="en-GB" sz="1600" dirty="0">
                <a:latin typeface="Economica" panose="020B0604020202020204" charset="0"/>
              </a:rPr>
              <a:t>Starting balance: $2000.00</a:t>
            </a:r>
          </a:p>
          <a:p>
            <a:r>
              <a:rPr lang="en-GB" sz="1600" dirty="0">
                <a:latin typeface="Economica" panose="020B0604020202020204" charset="0"/>
              </a:rPr>
              <a:t>Continue banking (d/w/s/x): w</a:t>
            </a:r>
          </a:p>
          <a:p>
            <a:r>
              <a:rPr lang="en-GB" sz="1600" dirty="0">
                <a:latin typeface="Economica" panose="020B0604020202020204" charset="0"/>
              </a:rPr>
              <a:t>Amount to withdraw: $5000</a:t>
            </a:r>
          </a:p>
          <a:p>
            <a:r>
              <a:rPr lang="en-GB" sz="1600" dirty="0">
                <a:latin typeface="Economica" panose="020B0604020202020204" charset="0"/>
              </a:rPr>
              <a:t>Insufficient funds</a:t>
            </a:r>
          </a:p>
          <a:p>
            <a:r>
              <a:rPr lang="en-GB" sz="1600" dirty="0">
                <a:latin typeface="Economica" panose="020B0604020202020204" charset="0"/>
              </a:rPr>
              <a:t>Continue banking (d/w/s/x): w</a:t>
            </a:r>
          </a:p>
          <a:p>
            <a:r>
              <a:rPr lang="en-GB" sz="1600" dirty="0">
                <a:latin typeface="Economica" panose="020B0604020202020204" charset="0"/>
              </a:rPr>
              <a:t>Amount to withdraw: $500</a:t>
            </a:r>
          </a:p>
          <a:p>
            <a:r>
              <a:rPr lang="en-GB" sz="1600" dirty="0">
                <a:latin typeface="Economica" panose="020B0604020202020204" charset="0"/>
              </a:rPr>
              <a:t>Amount withdrawn: $500.00</a:t>
            </a:r>
          </a:p>
          <a:p>
            <a:r>
              <a:rPr lang="en-GB" sz="1600" dirty="0">
                <a:latin typeface="Economica" panose="020B0604020202020204" charset="0"/>
              </a:rPr>
              <a:t>Continue banking (d/w/s/x): s</a:t>
            </a:r>
          </a:p>
          <a:p>
            <a:r>
              <a:rPr lang="en-GB" sz="1600" dirty="0">
                <a:latin typeface="Economica" panose="020B0604020202020204" charset="0"/>
              </a:rPr>
              <a:t>Starting balance: $1500.00</a:t>
            </a:r>
          </a:p>
          <a:p>
            <a:r>
              <a:rPr lang="en-GB" sz="1600" dirty="0">
                <a:latin typeface="Economica" panose="020B0604020202020204" charset="0"/>
              </a:rPr>
              <a:t>Continue banking (d/w/s/x): x</a:t>
            </a:r>
            <a:endParaRPr lang="en-US" sz="1600" dirty="0">
              <a:latin typeface="Economica" panose="020B0604020202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4BD407-337B-2AED-2239-16486355E6B8}"/>
              </a:ext>
            </a:extLst>
          </p:cNvPr>
          <p:cNvSpPr txBox="1"/>
          <p:nvPr/>
        </p:nvSpPr>
        <p:spPr>
          <a:xfrm>
            <a:off x="9725126" y="201415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Economica" panose="020B0604020202020204" charset="0"/>
              </a:rPr>
              <a:t>Sample I/O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5930FF-896D-3C89-A9F3-683F6473B8F5}"/>
              </a:ext>
            </a:extLst>
          </p:cNvPr>
          <p:cNvSpPr txBox="1"/>
          <p:nvPr/>
        </p:nvSpPr>
        <p:spPr>
          <a:xfrm>
            <a:off x="609600" y="2858814"/>
            <a:ext cx="7721600" cy="38213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GB" sz="1900" dirty="0">
                <a:latin typeface="Calibir"/>
              </a:rPr>
              <a:t>1- The Bank class is the main system class</a:t>
            </a:r>
          </a:p>
          <a:p>
            <a:r>
              <a:rPr lang="en-GB" sz="1900" dirty="0">
                <a:latin typeface="Calibir"/>
              </a:rPr>
              <a:t>2- Ensure that current balance is $1000, and show the current balance</a:t>
            </a:r>
          </a:p>
          <a:p>
            <a:r>
              <a:rPr lang="en-GB" sz="1900" dirty="0">
                <a:latin typeface="Calibir"/>
              </a:rPr>
              <a:t>3- Update the main( ) method in Bank to perform the following actions:</a:t>
            </a:r>
          </a:p>
          <a:p>
            <a:pPr defTabSz="609585"/>
            <a:r>
              <a:rPr lang="en-GB" sz="1900" dirty="0">
                <a:latin typeface="Calibir"/>
              </a:rPr>
              <a:t>	(d) make a deposit (read amount from STDIN)</a:t>
            </a:r>
          </a:p>
          <a:p>
            <a:pPr defTabSz="609585"/>
            <a:r>
              <a:rPr lang="en-GB" sz="1900" dirty="0">
                <a:latin typeface="Calibir"/>
              </a:rPr>
              <a:t>	(w) make a withdraw (read amount from STDIN)</a:t>
            </a:r>
          </a:p>
          <a:p>
            <a:pPr defTabSz="609585"/>
            <a:r>
              <a:rPr lang="en-GB" sz="1900" dirty="0">
                <a:latin typeface="Calibir"/>
              </a:rPr>
              <a:t>	(s) show balance</a:t>
            </a:r>
          </a:p>
          <a:p>
            <a:pPr defTabSz="609585"/>
            <a:r>
              <a:rPr lang="en-GB" sz="1900" dirty="0">
                <a:latin typeface="Calibir"/>
              </a:rPr>
              <a:t>	(x) exit the system</a:t>
            </a:r>
          </a:p>
          <a:p>
            <a:pPr defTabSz="609585"/>
            <a:endParaRPr lang="en-GB" sz="1900" dirty="0">
              <a:latin typeface="Calibir"/>
            </a:endParaRPr>
          </a:p>
          <a:p>
            <a:pPr defTabSz="609585"/>
            <a:r>
              <a:rPr lang="en-GB" sz="1900" dirty="0">
                <a:latin typeface="Calibir"/>
              </a:rPr>
              <a:t>NOTE:</a:t>
            </a:r>
          </a:p>
          <a:p>
            <a:pPr marL="380990" indent="-380990" defTabSz="609585">
              <a:buFont typeface="Arial" panose="020B0604020202020204" pitchFamily="34" charset="0"/>
              <a:buChar char="•"/>
            </a:pPr>
            <a:r>
              <a:rPr lang="en-GB" sz="1900" dirty="0">
                <a:latin typeface="Calibir"/>
              </a:rPr>
              <a:t>Handle exceptions related to funds availability in the withdraw action</a:t>
            </a:r>
          </a:p>
          <a:p>
            <a:pPr marL="380990" indent="-380990" defTabSz="609585">
              <a:buFont typeface="Arial" panose="020B0604020202020204" pitchFamily="34" charset="0"/>
              <a:buChar char="•"/>
            </a:pPr>
            <a:r>
              <a:rPr lang="en-GB" sz="1900" dirty="0">
                <a:latin typeface="Calibir"/>
              </a:rPr>
              <a:t>The Bank system should offer repeatedly the choices to customers until x is entered</a:t>
            </a:r>
            <a:endParaRPr lang="en-US" sz="19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7371955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4FDA2E96-1096-2ABD-623F-BA71BD4C9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8CBCF5D4-1D9A-0CA5-415B-2A39B9CE672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19613"/>
            <a:ext cx="11362267" cy="11091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fr-FR" dirty="0" err="1"/>
              <a:t>Lab</a:t>
            </a:r>
            <a:r>
              <a:rPr lang="fr-FR" dirty="0"/>
              <a:t> 4 — </a:t>
            </a:r>
            <a:r>
              <a:rPr lang="fr-FR" dirty="0" err="1"/>
              <a:t>DeskBankApp</a:t>
            </a:r>
            <a:r>
              <a:rPr lang="fr-FR" dirty="0"/>
              <a:t> Second </a:t>
            </a:r>
            <a:r>
              <a:rPr lang="fr-FR" dirty="0" err="1"/>
              <a:t>Implementation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80A971-371A-E2E2-2D61-655F68BB9114}"/>
              </a:ext>
            </a:extLst>
          </p:cNvPr>
          <p:cNvSpPr txBox="1"/>
          <p:nvPr/>
        </p:nvSpPr>
        <p:spPr>
          <a:xfrm>
            <a:off x="0" y="1250731"/>
            <a:ext cx="121920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Understand → Start with a small template → Add one requirement at a time → Test → Complete solution.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8E8553-9091-ACDE-FF27-113D7808CE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184" y="2568912"/>
            <a:ext cx="6433632" cy="4289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358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29C950E7-5C80-10FD-5A7B-647CA5040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84B605C0-BD15-E09A-8ECB-084590AE6EA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19613"/>
            <a:ext cx="11362267" cy="11091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fr-FR" dirty="0" err="1"/>
              <a:t>Lab</a:t>
            </a:r>
            <a:r>
              <a:rPr lang="fr-FR" dirty="0"/>
              <a:t> 4 — </a:t>
            </a:r>
            <a:r>
              <a:rPr lang="fr-FR" dirty="0" err="1"/>
              <a:t>DeskBankApp</a:t>
            </a:r>
            <a:r>
              <a:rPr lang="fr-FR" dirty="0"/>
              <a:t> Second </a:t>
            </a:r>
            <a:r>
              <a:rPr lang="fr-FR" dirty="0" err="1"/>
              <a:t>Implementation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C7DC84-A8BC-27A0-CE1B-DAB7986974BF}"/>
              </a:ext>
            </a:extLst>
          </p:cNvPr>
          <p:cNvSpPr txBox="1"/>
          <p:nvPr/>
        </p:nvSpPr>
        <p:spPr>
          <a:xfrm>
            <a:off x="0" y="1187670"/>
            <a:ext cx="11971282" cy="5575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Case Study — </a:t>
            </a:r>
            <a:r>
              <a:rPr lang="en-US" sz="2400" b="1" dirty="0" err="1">
                <a:latin typeface="Calibir"/>
              </a:rPr>
              <a:t>DeskBankApp</a:t>
            </a:r>
            <a:r>
              <a:rPr lang="en-US" sz="2400" b="1" dirty="0">
                <a:latin typeface="Calibir"/>
              </a:rPr>
              <a:t> Second Implementation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Requirement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The Bank system must:</a:t>
            </a:r>
          </a:p>
          <a:p>
            <a:pPr marL="630238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start with $1000.00 </a:t>
            </a:r>
          </a:p>
          <a:p>
            <a:pPr marL="630238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repeatedly ask for d, w, s, or x </a:t>
            </a:r>
          </a:p>
          <a:p>
            <a:pPr marL="630238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deposit money </a:t>
            </a:r>
          </a:p>
          <a:p>
            <a:pPr marL="630238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withdraw money </a:t>
            </a:r>
          </a:p>
          <a:p>
            <a:pPr marL="630238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prevent withdrawals greater than the balance </a:t>
            </a:r>
          </a:p>
          <a:p>
            <a:pPr marL="630238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show the current balance </a:t>
            </a:r>
          </a:p>
          <a:p>
            <a:pPr marL="630238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stop only when x is entered</a:t>
            </a:r>
          </a:p>
        </p:txBody>
      </p:sp>
    </p:spTree>
    <p:extLst>
      <p:ext uri="{BB962C8B-B14F-4D97-AF65-F5344CB8AC3E}">
        <p14:creationId xmlns:p14="http://schemas.microsoft.com/office/powerpoint/2010/main" val="135079116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4436B102-3999-6DE7-B79A-86F9962DF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561335F6-5850-39F8-F2E8-748501EF4CE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19613"/>
            <a:ext cx="11362267" cy="11091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fr-FR" dirty="0" err="1"/>
              <a:t>Lab</a:t>
            </a:r>
            <a:r>
              <a:rPr lang="fr-FR" dirty="0"/>
              <a:t> 4 — </a:t>
            </a:r>
            <a:r>
              <a:rPr lang="fr-FR" dirty="0" err="1"/>
              <a:t>DeskBankApp</a:t>
            </a:r>
            <a:r>
              <a:rPr lang="fr-FR" dirty="0"/>
              <a:t> Second </a:t>
            </a:r>
            <a:r>
              <a:rPr lang="fr-FR" dirty="0" err="1"/>
              <a:t>Implementation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7E7BB2-153F-6307-CE0F-431D088E5138}"/>
              </a:ext>
            </a:extLst>
          </p:cNvPr>
          <p:cNvSpPr txBox="1"/>
          <p:nvPr/>
        </p:nvSpPr>
        <p:spPr>
          <a:xfrm>
            <a:off x="0" y="1187670"/>
            <a:ext cx="5612524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1 — Create the Bank structure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Python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class Bank: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pass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This creates the Bank class.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944BD8-7ADD-4A90-BEC6-D31C6EE15F4E}"/>
              </a:ext>
            </a:extLst>
          </p:cNvPr>
          <p:cNvSpPr txBox="1"/>
          <p:nvPr/>
        </p:nvSpPr>
        <p:spPr>
          <a:xfrm>
            <a:off x="5985642" y="1471899"/>
            <a:ext cx="6206358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Java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public class Bank {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}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creates the Java Bank class.</a:t>
            </a:r>
          </a:p>
        </p:txBody>
      </p:sp>
    </p:spTree>
    <p:extLst>
      <p:ext uri="{BB962C8B-B14F-4D97-AF65-F5344CB8AC3E}">
        <p14:creationId xmlns:p14="http://schemas.microsoft.com/office/powerpoint/2010/main" val="211601483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C9C4C2D5-2515-8354-383E-27B07379E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D99B60C4-A85E-9353-E952-4B5108EDDCE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19613"/>
            <a:ext cx="11362267" cy="11091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fr-FR" dirty="0" err="1"/>
              <a:t>Lab</a:t>
            </a:r>
            <a:r>
              <a:rPr lang="fr-FR" dirty="0"/>
              <a:t> 4 — </a:t>
            </a:r>
            <a:r>
              <a:rPr lang="fr-FR" dirty="0" err="1"/>
              <a:t>DeskBankApp</a:t>
            </a:r>
            <a:r>
              <a:rPr lang="fr-FR" dirty="0"/>
              <a:t> Second </a:t>
            </a:r>
            <a:r>
              <a:rPr lang="fr-FR" dirty="0" err="1"/>
              <a:t>Implementation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BAFEF1-6E4B-33D6-8DA9-2415F967F89A}"/>
              </a:ext>
            </a:extLst>
          </p:cNvPr>
          <p:cNvSpPr txBox="1"/>
          <p:nvPr/>
        </p:nvSpPr>
        <p:spPr>
          <a:xfrm>
            <a:off x="0" y="1187670"/>
            <a:ext cx="5612524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2 — Add the starting balance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Python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class Bank: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def __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init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__(self):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self.balance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= 1000.0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Calibir"/>
              </a:rPr>
              <a:t>self.balance</a:t>
            </a:r>
            <a:r>
              <a:rPr lang="en-US" sz="2800" dirty="0">
                <a:latin typeface="Calibir"/>
              </a:rPr>
              <a:t> stores the current account balance.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3AEEBC-D18E-CA5F-BFF9-4FFAC91264E4}"/>
              </a:ext>
            </a:extLst>
          </p:cNvPr>
          <p:cNvSpPr txBox="1"/>
          <p:nvPr/>
        </p:nvSpPr>
        <p:spPr>
          <a:xfrm>
            <a:off x="5985642" y="1471899"/>
            <a:ext cx="6206358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Java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public class Bank {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private double balance = 1000.0;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private means the balance belongs to the Bank object and should not be directly changed from outside.</a:t>
            </a:r>
          </a:p>
        </p:txBody>
      </p:sp>
    </p:spTree>
    <p:extLst>
      <p:ext uri="{BB962C8B-B14F-4D97-AF65-F5344CB8AC3E}">
        <p14:creationId xmlns:p14="http://schemas.microsoft.com/office/powerpoint/2010/main" val="385131547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3AAFA169-49C5-F3DC-46C6-AADF1A331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12B4C274-84A7-2762-D904-F4302BA530B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19613"/>
            <a:ext cx="11362267" cy="11091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fr-FR" dirty="0" err="1"/>
              <a:t>Lab</a:t>
            </a:r>
            <a:r>
              <a:rPr lang="fr-FR" dirty="0"/>
              <a:t> 4 — </a:t>
            </a:r>
            <a:r>
              <a:rPr lang="fr-FR" dirty="0" err="1"/>
              <a:t>DeskBankApp</a:t>
            </a:r>
            <a:r>
              <a:rPr lang="fr-FR" dirty="0"/>
              <a:t> Second </a:t>
            </a:r>
            <a:r>
              <a:rPr lang="fr-FR" dirty="0" err="1"/>
              <a:t>Implementation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A8B29C-2787-9BA8-B686-661EF728C977}"/>
              </a:ext>
            </a:extLst>
          </p:cNvPr>
          <p:cNvSpPr txBox="1"/>
          <p:nvPr/>
        </p:nvSpPr>
        <p:spPr>
          <a:xfrm>
            <a:off x="0" y="1187670"/>
            <a:ext cx="5612524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3 — Add deposit </a:t>
            </a:r>
            <a:r>
              <a:rPr lang="en-US" sz="2800" b="1" dirty="0" err="1">
                <a:latin typeface="Calibir"/>
              </a:rPr>
              <a:t>behaviour</a:t>
            </a:r>
            <a:endParaRPr lang="en-US" sz="2800" b="1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Python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def deposit(self, amount):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self.balance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+= amount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If the balance is $1000 and we deposit $500: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1000 + 500 = 1500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8F32B8-1696-9488-5481-5FB05FD351DD}"/>
              </a:ext>
            </a:extLst>
          </p:cNvPr>
          <p:cNvSpPr txBox="1"/>
          <p:nvPr/>
        </p:nvSpPr>
        <p:spPr>
          <a:xfrm>
            <a:off x="5985642" y="1471899"/>
            <a:ext cx="6206358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Java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public void deposit(double amount) {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balance += amount;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void means the method performs an action and does not return a value.</a:t>
            </a:r>
          </a:p>
        </p:txBody>
      </p:sp>
    </p:spTree>
    <p:extLst>
      <p:ext uri="{BB962C8B-B14F-4D97-AF65-F5344CB8AC3E}">
        <p14:creationId xmlns:p14="http://schemas.microsoft.com/office/powerpoint/2010/main" val="378181115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422A0C54-16A0-7477-844F-444920CE2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D4AEE3C3-0A13-2A02-416D-EACC754AE57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19613"/>
            <a:ext cx="11362267" cy="11091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fr-FR" dirty="0" err="1"/>
              <a:t>Lab</a:t>
            </a:r>
            <a:r>
              <a:rPr lang="fr-FR" dirty="0"/>
              <a:t> 4 — </a:t>
            </a:r>
            <a:r>
              <a:rPr lang="fr-FR" dirty="0" err="1"/>
              <a:t>DeskBankApp</a:t>
            </a:r>
            <a:r>
              <a:rPr lang="fr-FR" dirty="0"/>
              <a:t> Second </a:t>
            </a:r>
            <a:r>
              <a:rPr lang="fr-FR" dirty="0" err="1"/>
              <a:t>Implementation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1F76DE-719E-894C-F9C8-34D6E6E46BD9}"/>
              </a:ext>
            </a:extLst>
          </p:cNvPr>
          <p:cNvSpPr txBox="1"/>
          <p:nvPr/>
        </p:nvSpPr>
        <p:spPr>
          <a:xfrm>
            <a:off x="0" y="1089520"/>
            <a:ext cx="5612524" cy="5859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b="1" dirty="0">
                <a:latin typeface="Calibir"/>
              </a:rPr>
              <a:t>Step 4 — Add withdrawal </a:t>
            </a:r>
            <a:r>
              <a:rPr lang="en-US" sz="2100" b="1" dirty="0" err="1">
                <a:latin typeface="Calibir"/>
              </a:rPr>
              <a:t>behaviour</a:t>
            </a:r>
            <a:endParaRPr lang="en-US" sz="2100" b="1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100" dirty="0">
                <a:latin typeface="Calibir"/>
              </a:rPr>
              <a:t>We must prevent customers from withdrawing more money than they have.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latin typeface="Calibir"/>
              </a:rPr>
              <a:t>Python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highlight>
                  <a:srgbClr val="FFFF00"/>
                </a:highlight>
                <a:latin typeface="Calibir"/>
              </a:rPr>
              <a:t>def withdraw(self, amount):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highlight>
                  <a:srgbClr val="FFFF00"/>
                </a:highlight>
                <a:latin typeface="Calibir"/>
              </a:rPr>
              <a:t>    if amount &gt; </a:t>
            </a:r>
            <a:r>
              <a:rPr lang="en-US" sz="2100" dirty="0" err="1">
                <a:highlight>
                  <a:srgbClr val="FFFF00"/>
                </a:highlight>
                <a:latin typeface="Calibir"/>
              </a:rPr>
              <a:t>self.balance</a:t>
            </a:r>
            <a:r>
              <a:rPr lang="en-US" sz="2100" dirty="0">
                <a:highlight>
                  <a:srgbClr val="FFFF00"/>
                </a:highlight>
                <a:latin typeface="Calibir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highlight>
                  <a:srgbClr val="FFFF00"/>
                </a:highlight>
                <a:latin typeface="Calibir"/>
              </a:rPr>
              <a:t>        raise </a:t>
            </a:r>
            <a:r>
              <a:rPr lang="en-US" sz="2100" dirty="0" err="1">
                <a:highlight>
                  <a:srgbClr val="FFFF00"/>
                </a:highlight>
                <a:latin typeface="Calibir"/>
              </a:rPr>
              <a:t>ValueError</a:t>
            </a:r>
            <a:r>
              <a:rPr lang="en-US" sz="2100" dirty="0">
                <a:highlight>
                  <a:srgbClr val="FFFF00"/>
                </a:highlight>
                <a:latin typeface="Calibir"/>
              </a:rPr>
              <a:t>("Insufficient funds")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highlight>
                  <a:srgbClr val="FFFF00"/>
                </a:highlight>
                <a:latin typeface="Calibir"/>
              </a:rPr>
              <a:t>    </a:t>
            </a:r>
            <a:r>
              <a:rPr lang="en-US" sz="2100" dirty="0" err="1">
                <a:highlight>
                  <a:srgbClr val="FFFF00"/>
                </a:highlight>
                <a:latin typeface="Calibir"/>
              </a:rPr>
              <a:t>self.balance</a:t>
            </a:r>
            <a:r>
              <a:rPr lang="en-US" sz="2100" dirty="0">
                <a:highlight>
                  <a:srgbClr val="FFFF00"/>
                </a:highlight>
                <a:latin typeface="Calibir"/>
              </a:rPr>
              <a:t> -= amount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Calibir"/>
              </a:rPr>
              <a:t>If: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Calibir"/>
              </a:rPr>
              <a:t>Balance = $1000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Calibir"/>
              </a:rPr>
              <a:t>Withdraw = $5000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Calibir"/>
              </a:rPr>
              <a:t>the program raises an exception.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6DF758-532B-1FA5-3A2C-6BB7830E8C67}"/>
              </a:ext>
            </a:extLst>
          </p:cNvPr>
          <p:cNvSpPr txBox="1"/>
          <p:nvPr/>
        </p:nvSpPr>
        <p:spPr>
          <a:xfrm>
            <a:off x="5985642" y="1471899"/>
            <a:ext cx="620635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Calibir"/>
              </a:rPr>
              <a:t>Java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public void withdraw(double amount) {</a:t>
            </a:r>
          </a:p>
          <a:p>
            <a:br>
              <a:rPr lang="en-US" sz="2200" dirty="0">
                <a:highlight>
                  <a:srgbClr val="FFFF00"/>
                </a:highlight>
                <a:latin typeface="Calibir"/>
              </a:rPr>
            </a:br>
            <a:endParaRPr lang="en-US" sz="2200" dirty="0">
              <a:highlight>
                <a:srgbClr val="FFFF00"/>
              </a:highlight>
              <a:latin typeface="Calibir"/>
            </a:endParaRP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if (amount &gt; balance) {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throw new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IllegalArgumentException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("Insufficient funds");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}</a:t>
            </a:r>
          </a:p>
          <a:p>
            <a:br>
              <a:rPr lang="en-US" sz="2200" dirty="0">
                <a:highlight>
                  <a:srgbClr val="FFFF00"/>
                </a:highlight>
                <a:latin typeface="Calibir"/>
              </a:rPr>
            </a:br>
            <a:endParaRPr lang="en-US" sz="2200" dirty="0">
              <a:highlight>
                <a:srgbClr val="FFFF00"/>
              </a:highlight>
              <a:latin typeface="Calibir"/>
            </a:endParaRP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balance -= amount;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}</a:t>
            </a:r>
          </a:p>
          <a:p>
            <a:r>
              <a:rPr lang="en-US" sz="2200" dirty="0">
                <a:latin typeface="Calibir"/>
              </a:rPr>
              <a:t>The exception can then be handled using try and catch.</a:t>
            </a:r>
          </a:p>
        </p:txBody>
      </p:sp>
    </p:spTree>
    <p:extLst>
      <p:ext uri="{BB962C8B-B14F-4D97-AF65-F5344CB8AC3E}">
        <p14:creationId xmlns:p14="http://schemas.microsoft.com/office/powerpoint/2010/main" val="135474338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57BBAD19-E996-B850-5896-359BA0BD5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45142657-1C53-7B15-81C6-636BE1B3716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19613"/>
            <a:ext cx="11362267" cy="11091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fr-FR" dirty="0" err="1"/>
              <a:t>Lab</a:t>
            </a:r>
            <a:r>
              <a:rPr lang="fr-FR" dirty="0"/>
              <a:t> 4 — </a:t>
            </a:r>
            <a:r>
              <a:rPr lang="fr-FR" dirty="0" err="1"/>
              <a:t>DeskBankApp</a:t>
            </a:r>
            <a:r>
              <a:rPr lang="fr-FR" dirty="0"/>
              <a:t> Second </a:t>
            </a:r>
            <a:r>
              <a:rPr lang="fr-FR" dirty="0" err="1"/>
              <a:t>Implementation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20A28E-8143-C84D-E352-5982B62B25F2}"/>
              </a:ext>
            </a:extLst>
          </p:cNvPr>
          <p:cNvSpPr txBox="1"/>
          <p:nvPr/>
        </p:nvSpPr>
        <p:spPr>
          <a:xfrm>
            <a:off x="-1" y="1089520"/>
            <a:ext cx="11362267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5 — Add show balance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Python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def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show_balance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(self):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print(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f"Starting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balance: ${self.balance:.2f}")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46BDA8-62D0-3630-6CDD-9C1E8D5C42A5}"/>
              </a:ext>
            </a:extLst>
          </p:cNvPr>
          <p:cNvSpPr txBox="1"/>
          <p:nvPr/>
        </p:nvSpPr>
        <p:spPr>
          <a:xfrm>
            <a:off x="-2" y="3700363"/>
            <a:ext cx="12192002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Java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public void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showBalance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() {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System.out.printf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("Starting balance: $%.2f%n", balance);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9539517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1C85D148-A0DD-E9B4-3CD3-E0F254729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02A52413-6F72-1066-008A-E6EE40169F3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19613"/>
            <a:ext cx="11362267" cy="11091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fr-FR" dirty="0" err="1"/>
              <a:t>Lab</a:t>
            </a:r>
            <a:r>
              <a:rPr lang="fr-FR" dirty="0"/>
              <a:t> 4 — </a:t>
            </a:r>
            <a:r>
              <a:rPr lang="fr-FR" dirty="0" err="1"/>
              <a:t>DeskBankApp</a:t>
            </a:r>
            <a:r>
              <a:rPr lang="fr-FR" dirty="0"/>
              <a:t> Second </a:t>
            </a:r>
            <a:r>
              <a:rPr lang="fr-FR" dirty="0" err="1"/>
              <a:t>Implementation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27AC62-5F0F-A006-72BA-C304BAB451CE}"/>
              </a:ext>
            </a:extLst>
          </p:cNvPr>
          <p:cNvSpPr txBox="1"/>
          <p:nvPr/>
        </p:nvSpPr>
        <p:spPr>
          <a:xfrm>
            <a:off x="-1" y="1089520"/>
            <a:ext cx="11362267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6 — Build the repeated menu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We need a loop.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Python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while True: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choice = input("Continue banking (d/w/s/x): ").lower()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while True means: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Keep repeating until we explicitly stop the loop.</a:t>
            </a:r>
          </a:p>
        </p:txBody>
      </p:sp>
    </p:spTree>
    <p:extLst>
      <p:ext uri="{BB962C8B-B14F-4D97-AF65-F5344CB8AC3E}">
        <p14:creationId xmlns:p14="http://schemas.microsoft.com/office/powerpoint/2010/main" val="213553400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0D4EE1D8-A1BB-6730-B36C-98275A2B5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D1FFC438-2FE4-13E3-EB78-80331B58139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19613"/>
            <a:ext cx="11362267" cy="11091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fr-FR" dirty="0" err="1"/>
              <a:t>Lab</a:t>
            </a:r>
            <a:r>
              <a:rPr lang="fr-FR" dirty="0"/>
              <a:t> 4 — </a:t>
            </a:r>
            <a:r>
              <a:rPr lang="fr-FR" dirty="0" err="1"/>
              <a:t>DeskBankApp</a:t>
            </a:r>
            <a:r>
              <a:rPr lang="fr-FR" dirty="0"/>
              <a:t> Second </a:t>
            </a:r>
            <a:r>
              <a:rPr lang="fr-FR" dirty="0" err="1"/>
              <a:t>Implementation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CE52D8-54CD-D15C-77D5-1D38DD2A88F0}"/>
              </a:ext>
            </a:extLst>
          </p:cNvPr>
          <p:cNvSpPr txBox="1"/>
          <p:nvPr/>
        </p:nvSpPr>
        <p:spPr>
          <a:xfrm>
            <a:off x="-1" y="1089520"/>
            <a:ext cx="11362267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Java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while (true) {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System.out.print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("Continue banking (d/w/s/x): ");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Again, this repeats until break is executed.</a:t>
            </a:r>
          </a:p>
        </p:txBody>
      </p:sp>
    </p:spTree>
    <p:extLst>
      <p:ext uri="{BB962C8B-B14F-4D97-AF65-F5344CB8AC3E}">
        <p14:creationId xmlns:p14="http://schemas.microsoft.com/office/powerpoint/2010/main" val="43472205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AF230A53-6481-87D9-D67C-4ADC593D9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029D6F92-A3A1-4F13-D6A3-4784A064B97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19613"/>
            <a:ext cx="11362267" cy="11091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fr-FR" dirty="0" err="1"/>
              <a:t>Lab</a:t>
            </a:r>
            <a:r>
              <a:rPr lang="fr-FR" dirty="0"/>
              <a:t> 4 — </a:t>
            </a:r>
            <a:r>
              <a:rPr lang="fr-FR" dirty="0" err="1"/>
              <a:t>DeskBankApp</a:t>
            </a:r>
            <a:r>
              <a:rPr lang="fr-FR" dirty="0"/>
              <a:t> Second </a:t>
            </a:r>
            <a:r>
              <a:rPr lang="fr-FR" dirty="0" err="1"/>
              <a:t>Implementation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B15538-9FFB-AD96-7657-0147094C3837}"/>
              </a:ext>
            </a:extLst>
          </p:cNvPr>
          <p:cNvSpPr txBox="1"/>
          <p:nvPr/>
        </p:nvSpPr>
        <p:spPr>
          <a:xfrm>
            <a:off x="-1" y="1089520"/>
            <a:ext cx="5538953" cy="5759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7 — Process each menu choice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Python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if choice == "d":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# deposit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highlight>
                  <a:srgbClr val="FFFF00"/>
                </a:highlight>
                <a:latin typeface="Calibir"/>
              </a:rPr>
              <a:t>elif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 choice == "w":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# withdraw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highlight>
                  <a:srgbClr val="FFFF00"/>
                </a:highlight>
                <a:latin typeface="Calibir"/>
              </a:rPr>
              <a:t>elif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 choice == "s":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# show balance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highlight>
                  <a:srgbClr val="FFFF00"/>
                </a:highlight>
                <a:latin typeface="Calibir"/>
              </a:rPr>
              <a:t>elif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 choice == "x":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break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0FB9F1-27C3-CA70-87B4-BC4E5C11ECA9}"/>
              </a:ext>
            </a:extLst>
          </p:cNvPr>
          <p:cNvSpPr txBox="1"/>
          <p:nvPr/>
        </p:nvSpPr>
        <p:spPr>
          <a:xfrm>
            <a:off x="6096000" y="1156365"/>
            <a:ext cx="6096000" cy="562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b="1" dirty="0">
                <a:latin typeface="Calibir"/>
              </a:rPr>
              <a:t>Java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switch (choice) {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    case "d":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        break;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    case "w":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        break;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    case "s":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        break;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    case "x":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        break;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9609281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57851026-BB77-8026-5F30-41D12B82C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798028-CFDC-4929-312C-B0EC2086F93D}"/>
              </a:ext>
            </a:extLst>
          </p:cNvPr>
          <p:cNvSpPr txBox="1"/>
          <p:nvPr/>
        </p:nvSpPr>
        <p:spPr>
          <a:xfrm>
            <a:off x="0" y="0"/>
            <a:ext cx="5538953" cy="675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latin typeface="Calibir"/>
              </a:rPr>
              <a:t>Step 8 — Completed Python Bank solution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class Bank: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def __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init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__(self):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self.balance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 = 1000.0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def deposit(self, amount):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self.balance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 += amount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def withdraw(self, amount):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if amount &gt;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self.balance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: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raise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ValueError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("Insufficient funds")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self.balance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 -= amount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def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show_balance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(self):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print(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f"Starting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 balance: ${self.balance:.2f}")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def main():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bank = Bank()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choice = input("Start banking (d/w/s/x): ").lower()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while choice != "x":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if choice == "d":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amount = float(input("Amount to deposit: $"))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bank.deposit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(amount)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print(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f"Amount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 deposited: ${amount:.2f}")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elif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 choice == "w":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amount = float(input("Amount to withdraw: $"))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try: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bank.withdraw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(amount)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    print(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f"Amount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 withdrawn: ${amount:.2f}")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except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ValueError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 as error: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    print(error)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elif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 choice == "s":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bank.show_balance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else: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print("Invalid choice")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choice = input(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"Continue banking (d/w/s/x): "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).lower()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if __name__ == "__main__":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main()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63CBB5-C9AC-4ED5-FB25-3DE0ACF8E2D2}"/>
              </a:ext>
            </a:extLst>
          </p:cNvPr>
          <p:cNvSpPr txBox="1"/>
          <p:nvPr/>
        </p:nvSpPr>
        <p:spPr>
          <a:xfrm>
            <a:off x="6096000" y="362070"/>
            <a:ext cx="6096000" cy="6133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Important parts</a:t>
            </a:r>
          </a:p>
          <a:p>
            <a:pPr>
              <a:lnSpc>
                <a:spcPct val="150000"/>
              </a:lnSpc>
            </a:pPr>
            <a:r>
              <a:rPr lang="en-US" sz="2200" dirty="0" err="1">
                <a:highlight>
                  <a:srgbClr val="FFFF00"/>
                </a:highlight>
                <a:latin typeface="Calibir"/>
              </a:rPr>
              <a:t>self.balance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 = 1000.0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sets the initial balance.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while choice != "x":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keeps the banking system running.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raise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ValueError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("Insufficient funds")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creates an exception if the customer tries to withdraw too much.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try: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attempts the withdrawal.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except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ValueError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handles the problem without crashing the program.</a:t>
            </a:r>
          </a:p>
        </p:txBody>
      </p:sp>
    </p:spTree>
    <p:extLst>
      <p:ext uri="{BB962C8B-B14F-4D97-AF65-F5344CB8AC3E}">
        <p14:creationId xmlns:p14="http://schemas.microsoft.com/office/powerpoint/2010/main" val="39892597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52CB298D-D92F-1838-C3EF-5C3DDEA20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F38A5E-BA81-EB8C-1BD0-C5F1EAFB4098}"/>
              </a:ext>
            </a:extLst>
          </p:cNvPr>
          <p:cNvSpPr txBox="1"/>
          <p:nvPr/>
        </p:nvSpPr>
        <p:spPr>
          <a:xfrm>
            <a:off x="0" y="0"/>
            <a:ext cx="5330283" cy="6909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latin typeface="Calibir"/>
              </a:rPr>
              <a:t>Step 9 — Completed Java Bank solution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import </a:t>
            </a:r>
            <a:r>
              <a:rPr lang="en-US" sz="1000" dirty="0" err="1">
                <a:highlight>
                  <a:srgbClr val="FFFF00"/>
                </a:highlight>
                <a:latin typeface="Calibir"/>
              </a:rPr>
              <a:t>java.util.Scanner</a:t>
            </a:r>
            <a:r>
              <a:rPr lang="en-US" sz="1000" dirty="0">
                <a:highlight>
                  <a:srgbClr val="FFFF00"/>
                </a:highlight>
                <a:latin typeface="Calibir"/>
              </a:rPr>
              <a:t>;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                "Amount deposited: $%.2f%n",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                </a:t>
            </a:r>
            <a:r>
              <a:rPr lang="en-US" sz="1000" dirty="0" err="1">
                <a:highlight>
                  <a:srgbClr val="FFFF00"/>
                </a:highlight>
                <a:latin typeface="Calibir"/>
              </a:rPr>
              <a:t>depositAmount</a:t>
            </a:r>
            <a:endParaRPr lang="en-US" sz="1000" dirty="0">
              <a:highlight>
                <a:srgbClr val="FFFF00"/>
              </a:highlight>
              <a:latin typeface="Calibir"/>
            </a:endParaRP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            );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            break;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        case "w":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            </a:t>
            </a:r>
            <a:r>
              <a:rPr lang="en-US" sz="1000" dirty="0" err="1">
                <a:highlight>
                  <a:srgbClr val="FFFF00"/>
                </a:highlight>
                <a:latin typeface="Calibir"/>
              </a:rPr>
              <a:t>System.out.print</a:t>
            </a:r>
            <a:r>
              <a:rPr lang="en-US" sz="10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                "Amount to withdraw: $"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            );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            double </a:t>
            </a:r>
            <a:r>
              <a:rPr lang="en-US" sz="1000" dirty="0" err="1">
                <a:highlight>
                  <a:srgbClr val="FFFF00"/>
                </a:highlight>
                <a:latin typeface="Calibir"/>
              </a:rPr>
              <a:t>withdrawAmount</a:t>
            </a:r>
            <a:r>
              <a:rPr lang="en-US" sz="1000" dirty="0">
                <a:highlight>
                  <a:srgbClr val="FFFF00"/>
                </a:highlight>
                <a:latin typeface="Calibir"/>
              </a:rPr>
              <a:t> =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                </a:t>
            </a:r>
            <a:r>
              <a:rPr lang="en-US" sz="1000" dirty="0" err="1">
                <a:highlight>
                  <a:srgbClr val="FFFF00"/>
                </a:highlight>
                <a:latin typeface="Calibir"/>
              </a:rPr>
              <a:t>input.nextDouble</a:t>
            </a:r>
            <a:r>
              <a:rPr lang="en-US" sz="1000" dirty="0">
                <a:highlight>
                  <a:srgbClr val="FFFF00"/>
                </a:highlight>
                <a:latin typeface="Calibir"/>
              </a:rPr>
              <a:t>();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            </a:t>
            </a:r>
            <a:r>
              <a:rPr lang="en-US" sz="1000" dirty="0" err="1">
                <a:highlight>
                  <a:srgbClr val="FFFF00"/>
                </a:highlight>
                <a:latin typeface="Calibir"/>
              </a:rPr>
              <a:t>input.nextLine</a:t>
            </a:r>
            <a:r>
              <a:rPr lang="en-US" sz="1000" dirty="0">
                <a:highlight>
                  <a:srgbClr val="FFFF00"/>
                </a:highlight>
                <a:latin typeface="Calibir"/>
              </a:rPr>
              <a:t>();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            try {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                </a:t>
            </a:r>
            <a:r>
              <a:rPr lang="en-US" sz="1000" dirty="0" err="1">
                <a:highlight>
                  <a:srgbClr val="FFFF00"/>
                </a:highlight>
                <a:latin typeface="Calibir"/>
              </a:rPr>
              <a:t>bank.withdraw</a:t>
            </a:r>
            <a:r>
              <a:rPr lang="en-US" sz="1000" dirty="0">
                <a:highlight>
                  <a:srgbClr val="FFFF00"/>
                </a:highlight>
                <a:latin typeface="Calibir"/>
              </a:rPr>
              <a:t>(</a:t>
            </a:r>
            <a:r>
              <a:rPr lang="en-US" sz="1000" dirty="0" err="1">
                <a:highlight>
                  <a:srgbClr val="FFFF00"/>
                </a:highlight>
                <a:latin typeface="Calibir"/>
              </a:rPr>
              <a:t>withdrawAmount</a:t>
            </a:r>
            <a:r>
              <a:rPr lang="en-US" sz="1000" dirty="0">
                <a:highlight>
                  <a:srgbClr val="FFFF00"/>
                </a:highlight>
                <a:latin typeface="Calibir"/>
              </a:rPr>
              <a:t>);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                </a:t>
            </a:r>
            <a:r>
              <a:rPr lang="en-US" sz="1000" dirty="0" err="1">
                <a:highlight>
                  <a:srgbClr val="FFFF00"/>
                </a:highlight>
                <a:latin typeface="Calibir"/>
              </a:rPr>
              <a:t>System.out.printf</a:t>
            </a:r>
            <a:r>
              <a:rPr lang="en-US" sz="10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                    "Amount withdrawn: $%.2f%n",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                    </a:t>
            </a:r>
            <a:r>
              <a:rPr lang="en-US" sz="1000" dirty="0" err="1">
                <a:highlight>
                  <a:srgbClr val="FFFF00"/>
                </a:highlight>
                <a:latin typeface="Calibir"/>
              </a:rPr>
              <a:t>withdrawAmount</a:t>
            </a:r>
            <a:endParaRPr lang="en-US" sz="1000" dirty="0">
              <a:highlight>
                <a:srgbClr val="FFFF00"/>
              </a:highlight>
              <a:latin typeface="Calibir"/>
            </a:endParaRP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                );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            } catch (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                </a:t>
            </a:r>
            <a:r>
              <a:rPr lang="en-US" sz="1000" dirty="0" err="1">
                <a:highlight>
                  <a:srgbClr val="FFFF00"/>
                </a:highlight>
                <a:latin typeface="Calibir"/>
              </a:rPr>
              <a:t>IllegalArgumentException</a:t>
            </a:r>
            <a:r>
              <a:rPr lang="en-US" sz="1000" dirty="0">
                <a:highlight>
                  <a:srgbClr val="FFFF00"/>
                </a:highlight>
                <a:latin typeface="Calibir"/>
              </a:rPr>
              <a:t> error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            ) {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                </a:t>
            </a:r>
            <a:r>
              <a:rPr lang="en-US" sz="1000" dirty="0" err="1">
                <a:highlight>
                  <a:srgbClr val="FFFF00"/>
                </a:highlight>
                <a:latin typeface="Calibir"/>
              </a:rPr>
              <a:t>System.out.println</a:t>
            </a:r>
            <a:r>
              <a:rPr lang="en-US" sz="10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                    </a:t>
            </a:r>
            <a:r>
              <a:rPr lang="en-US" sz="1000" dirty="0" err="1">
                <a:highlight>
                  <a:srgbClr val="FFFF00"/>
                </a:highlight>
                <a:latin typeface="Calibir"/>
              </a:rPr>
              <a:t>error.getMessage</a:t>
            </a:r>
            <a:r>
              <a:rPr lang="en-US" sz="1000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                );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            }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            break;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        case "s":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            </a:t>
            </a:r>
            <a:r>
              <a:rPr lang="en-US" sz="1000" dirty="0" err="1">
                <a:highlight>
                  <a:srgbClr val="FFFF00"/>
                </a:highlight>
                <a:latin typeface="Calibir"/>
              </a:rPr>
              <a:t>bank.showBalance</a:t>
            </a:r>
            <a:r>
              <a:rPr lang="en-US" sz="1000" dirty="0">
                <a:highlight>
                  <a:srgbClr val="FFFF00"/>
                </a:highlight>
                <a:latin typeface="Calibir"/>
              </a:rPr>
              <a:t>();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            break;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        default: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            </a:t>
            </a:r>
            <a:r>
              <a:rPr lang="en-US" sz="1000" dirty="0" err="1">
                <a:highlight>
                  <a:srgbClr val="FFFF00"/>
                </a:highlight>
                <a:latin typeface="Calibir"/>
              </a:rPr>
              <a:t>System.out.println</a:t>
            </a:r>
            <a:r>
              <a:rPr lang="en-US" sz="10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                "Invalid choice"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            );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    }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1000" dirty="0" err="1">
                <a:highlight>
                  <a:srgbClr val="FFFF00"/>
                </a:highlight>
                <a:latin typeface="Calibir"/>
              </a:rPr>
              <a:t>System.out.print</a:t>
            </a:r>
            <a:r>
              <a:rPr lang="en-US" sz="10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        "Continue banking (d/w/s/x): "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    );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    choice =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        </a:t>
            </a:r>
            <a:r>
              <a:rPr lang="en-US" sz="1000" dirty="0" err="1">
                <a:highlight>
                  <a:srgbClr val="FFFF00"/>
                </a:highlight>
                <a:latin typeface="Calibir"/>
              </a:rPr>
              <a:t>input.nextLine</a:t>
            </a:r>
            <a:r>
              <a:rPr lang="en-US" sz="1000" dirty="0">
                <a:highlight>
                  <a:srgbClr val="FFFF00"/>
                </a:highlight>
                <a:latin typeface="Calibir"/>
              </a:rPr>
              <a:t>().</a:t>
            </a:r>
            <a:r>
              <a:rPr lang="en-US" sz="1000" dirty="0" err="1">
                <a:highlight>
                  <a:srgbClr val="FFFF00"/>
                </a:highlight>
                <a:latin typeface="Calibir"/>
              </a:rPr>
              <a:t>toLowerCase</a:t>
            </a:r>
            <a:r>
              <a:rPr lang="en-US" sz="1000" dirty="0">
                <a:highlight>
                  <a:srgbClr val="FFFF00"/>
                </a:highlight>
                <a:latin typeface="Calibir"/>
              </a:rPr>
              <a:t>();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}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000" dirty="0" err="1">
                <a:highlight>
                  <a:srgbClr val="FFFF00"/>
                </a:highlight>
                <a:latin typeface="Calibir"/>
              </a:rPr>
              <a:t>input.close</a:t>
            </a:r>
            <a:r>
              <a:rPr lang="en-US" sz="1000" dirty="0">
                <a:highlight>
                  <a:srgbClr val="FFFF00"/>
                </a:highlight>
                <a:latin typeface="Calibir"/>
              </a:rPr>
              <a:t>();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}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2272461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3FE0C017-4F14-E49E-A1AB-D1A1AE7B21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6933" y="0"/>
            <a:ext cx="11362267" cy="11091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 dirty="0"/>
              <a:t>Lab 4 Exercises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D980C27-948C-5A74-3794-543E81ADB7CC}"/>
                  </a:ext>
                </a:extLst>
              </p:cNvPr>
              <p:cNvSpPr txBox="1"/>
              <p:nvPr/>
            </p:nvSpPr>
            <p:spPr>
              <a:xfrm>
                <a:off x="711201" y="1109134"/>
                <a:ext cx="11004265" cy="33479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b="1" dirty="0">
                    <a:latin typeface="Economica" panose="020B0604020202020204" charset="0"/>
                  </a:rPr>
                  <a:t>Exercise 1: 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sz="2400" dirty="0">
                    <a:latin typeface="Economica" panose="020B0604020202020204" charset="0"/>
                  </a:rPr>
                  <a:t>Write a program called </a:t>
                </a:r>
                <a:r>
                  <a:rPr lang="en-GB" sz="2400" b="1" dirty="0">
                    <a:latin typeface="Economica" panose="020B0604020202020204" charset="0"/>
                  </a:rPr>
                  <a:t>Lab4Exc1</a:t>
                </a:r>
                <a:r>
                  <a:rPr lang="en-GB" sz="2400" dirty="0">
                    <a:latin typeface="Economica" panose="020B0604020202020204" charset="0"/>
                  </a:rPr>
                  <a:t> with the following operations:</a:t>
                </a:r>
              </a:p>
              <a:p>
                <a:pPr marL="380990" indent="-38099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Economica" panose="020B0604020202020204" charset="0"/>
                  </a:rPr>
                  <a:t>Display all numbers from 1 to 10</a:t>
                </a:r>
              </a:p>
              <a:p>
                <a:pPr marL="380990" indent="-38099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Economica" panose="020B0604020202020204" charset="0"/>
                  </a:rPr>
                  <a:t>Display the square root of each number</a:t>
                </a:r>
              </a:p>
              <a:p>
                <a:pPr marL="380990" indent="-38099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Economica" panose="020B0604020202020204" charset="0"/>
                  </a:rPr>
                  <a:t>Display the exponential of each number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2400" dirty="0">
                    <a:latin typeface="Economica" panose="020B0604020202020204" charset="0"/>
                  </a:rPr>
                  <a:t>)</a:t>
                </a:r>
              </a:p>
              <a:p>
                <a:pPr marL="380990" indent="-38099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Economica" panose="020B0604020202020204" charset="0"/>
                  </a:rPr>
                  <a:t>Use a tabular format to display the above (refer to Lecture 4)</a:t>
                </a:r>
                <a:endParaRPr lang="en-US" sz="2400" dirty="0">
                  <a:latin typeface="Economica" panose="020B060402020202020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D980C27-948C-5A74-3794-543E81ADB7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1" y="1109134"/>
                <a:ext cx="11004265" cy="3347968"/>
              </a:xfrm>
              <a:prstGeom prst="rect">
                <a:avLst/>
              </a:prstGeom>
              <a:blipFill>
                <a:blip r:embed="rId3"/>
                <a:stretch>
                  <a:fillRect l="-886" b="-36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032509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2CEED1AC-9F07-01D2-F73E-FD0373A99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684F628C-5A06-D692-F93F-9BAF97D6A10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6933" y="1"/>
            <a:ext cx="12175067" cy="766916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900" b="1" dirty="0">
                <a:latin typeface="Calibir"/>
              </a:rPr>
              <a:t>Exercise 1 — Numbers, Square Roots and Exponentials</a:t>
            </a:r>
            <a:endParaRPr sz="39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F21556-0032-2769-90A3-58F9B2CBA4D4}"/>
              </a:ext>
            </a:extLst>
          </p:cNvPr>
          <p:cNvSpPr txBox="1"/>
          <p:nvPr/>
        </p:nvSpPr>
        <p:spPr>
          <a:xfrm>
            <a:off x="0" y="516195"/>
            <a:ext cx="12000818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We need to display: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Number    Square Root    </a:t>
            </a:r>
            <a:r>
              <a:rPr lang="en-US" sz="2800" dirty="0" err="1">
                <a:latin typeface="Calibir"/>
              </a:rPr>
              <a:t>e^x</a:t>
            </a:r>
            <a:endParaRPr lang="en-US" sz="2800" dirty="0">
              <a:latin typeface="Calibir"/>
            </a:endParaRP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1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2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...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10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1 — Understand the mathematics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For every number x from 1 to 10: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Square root = √x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Exponential =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e^x</a:t>
            </a:r>
            <a:endParaRPr lang="en-US" sz="2800" b="1" dirty="0">
              <a:highlight>
                <a:srgbClr val="FFFF00"/>
              </a:highlight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30892900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6CC9B8BE-1DA7-1B5A-3E0D-C574639B0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648F21AD-FA4A-8B75-85ED-74596423205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6933" y="1"/>
            <a:ext cx="12175067" cy="766916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900" b="1" dirty="0">
                <a:latin typeface="Calibir"/>
              </a:rPr>
              <a:t>Exercise 1 — Numbers, Square Roots and Exponentials</a:t>
            </a:r>
            <a:endParaRPr sz="39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E2F609-D1E0-69B3-EEE4-DBB814749865}"/>
              </a:ext>
            </a:extLst>
          </p:cNvPr>
          <p:cNvSpPr txBox="1"/>
          <p:nvPr/>
        </p:nvSpPr>
        <p:spPr>
          <a:xfrm>
            <a:off x="0" y="516195"/>
            <a:ext cx="12000818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2 — Python loop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for x in range(1, 11):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print(x)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range(1, 11) produces: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1 2 3 4 5 6 7 8 9 10</a:t>
            </a:r>
          </a:p>
        </p:txBody>
      </p:sp>
    </p:spTree>
    <p:extLst>
      <p:ext uri="{BB962C8B-B14F-4D97-AF65-F5344CB8AC3E}">
        <p14:creationId xmlns:p14="http://schemas.microsoft.com/office/powerpoint/2010/main" val="107081646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5A237768-1A2E-C64B-3ED6-8C28855FA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7F765E49-C77B-B9F1-E954-4239B8A1B7A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6933" y="1"/>
            <a:ext cx="12175067" cy="766916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900" b="1" dirty="0">
                <a:latin typeface="Calibir"/>
              </a:rPr>
              <a:t>Exercise 1 — Numbers, Square Roots and Exponentials</a:t>
            </a:r>
            <a:endParaRPr sz="39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85B6D7-3822-8687-976C-84A007243BCD}"/>
              </a:ext>
            </a:extLst>
          </p:cNvPr>
          <p:cNvSpPr txBox="1"/>
          <p:nvPr/>
        </p:nvSpPr>
        <p:spPr>
          <a:xfrm>
            <a:off x="0" y="516195"/>
            <a:ext cx="12000818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3 — Python calculations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highlight>
                  <a:srgbClr val="FFFF00"/>
                </a:highlight>
                <a:latin typeface="Calibir"/>
              </a:rPr>
              <a:t>square_root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=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math.sqrt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(x)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exponential =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math.exp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(x)</a:t>
            </a:r>
          </a:p>
        </p:txBody>
      </p:sp>
    </p:spTree>
    <p:extLst>
      <p:ext uri="{BB962C8B-B14F-4D97-AF65-F5344CB8AC3E}">
        <p14:creationId xmlns:p14="http://schemas.microsoft.com/office/powerpoint/2010/main" val="174849047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E5CD7C7B-F662-67C0-4DFD-673F046E7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7CD3AA1E-AAAB-9D11-6530-D1CC0DE4C37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6933" y="1"/>
            <a:ext cx="12175067" cy="766916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900" b="1" dirty="0">
                <a:latin typeface="Calibir"/>
              </a:rPr>
              <a:t>Exercise 1 — Numbers, Square Roots and Exponentials</a:t>
            </a:r>
            <a:endParaRPr sz="39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DACF78-5887-406C-7A45-CA1876B84319}"/>
              </a:ext>
            </a:extLst>
          </p:cNvPr>
          <p:cNvSpPr txBox="1"/>
          <p:nvPr/>
        </p:nvSpPr>
        <p:spPr>
          <a:xfrm>
            <a:off x="95591" y="843677"/>
            <a:ext cx="12000818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Calibir"/>
              </a:rPr>
              <a:t>Completed Python — Lab4Exc1.py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import math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print(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f"{'Number':&lt;10}"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f"{'Square Root':&lt;15}"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f"{'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e^x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':&lt;15}"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)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for x in range(1, 11):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square_root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 =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math.sqrt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(x)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exponential =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math.exp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(x)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print(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f"{x:&lt;10}"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f"{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square_root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:&lt;15.2f}"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f"{exponential:&lt;15.2f}"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)</a:t>
            </a:r>
          </a:p>
        </p:txBody>
      </p:sp>
    </p:spTree>
    <p:extLst>
      <p:ext uri="{BB962C8B-B14F-4D97-AF65-F5344CB8AC3E}">
        <p14:creationId xmlns:p14="http://schemas.microsoft.com/office/powerpoint/2010/main" val="43153410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C96742E2-9B91-BC50-C80C-574A31E87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725BC826-75C0-AF13-3354-970DA5BCEA8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6933" y="1"/>
            <a:ext cx="12175067" cy="766916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900" b="1" dirty="0">
                <a:latin typeface="Calibir"/>
              </a:rPr>
              <a:t>Exercise 1 — Numbers, Square Roots and Exponentials</a:t>
            </a:r>
            <a:endParaRPr sz="39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2DE7EC-5703-C4C9-705F-FB96D347A2B4}"/>
              </a:ext>
            </a:extLst>
          </p:cNvPr>
          <p:cNvSpPr txBox="1"/>
          <p:nvPr/>
        </p:nvSpPr>
        <p:spPr>
          <a:xfrm>
            <a:off x="95591" y="843677"/>
            <a:ext cx="12000818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Java — Step 1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Use a for loop: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for (int x = 1; x &lt;= 10; x++) {</a:t>
            </a:r>
          </a:p>
          <a:p>
            <a:pPr>
              <a:lnSpc>
                <a:spcPct val="150000"/>
              </a:lnSpc>
            </a:pPr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4014295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645E4C63-3EA2-CC9A-6DC9-50463285E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8F153AD2-730D-FA1A-6FB0-93D1E865864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6933" y="1"/>
            <a:ext cx="12175067" cy="766916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900" b="1" dirty="0">
                <a:latin typeface="Calibir"/>
              </a:rPr>
              <a:t>Exercise 1 — Numbers, Square Roots and Exponentials</a:t>
            </a:r>
            <a:endParaRPr sz="39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900EF7-2FF5-6FB5-5226-B1B6890BD9D0}"/>
              </a:ext>
            </a:extLst>
          </p:cNvPr>
          <p:cNvSpPr txBox="1"/>
          <p:nvPr/>
        </p:nvSpPr>
        <p:spPr>
          <a:xfrm>
            <a:off x="95591" y="843677"/>
            <a:ext cx="12000818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Java — Step 2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double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squareRoot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=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Math.sqrt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(x);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double exponential =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Math.exp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(x);</a:t>
            </a:r>
          </a:p>
        </p:txBody>
      </p:sp>
    </p:spTree>
    <p:extLst>
      <p:ext uri="{BB962C8B-B14F-4D97-AF65-F5344CB8AC3E}">
        <p14:creationId xmlns:p14="http://schemas.microsoft.com/office/powerpoint/2010/main" val="403558018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10582E4A-9CFA-8481-D534-45480F136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47145F65-6FD9-5869-D271-460229908EA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6933" y="1"/>
            <a:ext cx="12175067" cy="766916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900" b="1" dirty="0">
                <a:latin typeface="Calibir"/>
              </a:rPr>
              <a:t>Exercise 1 — Numbers, Square Roots and Exponentials</a:t>
            </a:r>
            <a:endParaRPr sz="39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ADDCD5-3757-D70E-88B1-9F1F5104C85D}"/>
              </a:ext>
            </a:extLst>
          </p:cNvPr>
          <p:cNvSpPr txBox="1"/>
          <p:nvPr/>
        </p:nvSpPr>
        <p:spPr>
          <a:xfrm>
            <a:off x="95591" y="748634"/>
            <a:ext cx="12000818" cy="6109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1" dirty="0">
                <a:latin typeface="Calibir"/>
              </a:rPr>
              <a:t>Completed Java — Lab4Exc1.java</a:t>
            </a:r>
          </a:p>
          <a:p>
            <a:r>
              <a:rPr lang="en-US" sz="1700" dirty="0">
                <a:highlight>
                  <a:srgbClr val="FFFF00"/>
                </a:highlight>
                <a:latin typeface="Calibir"/>
              </a:rPr>
              <a:t>public class Lab4Exc1 {</a:t>
            </a:r>
          </a:p>
          <a:p>
            <a:r>
              <a:rPr lang="en-US" sz="1700" dirty="0">
                <a:highlight>
                  <a:srgbClr val="FFFF00"/>
                </a:highlight>
                <a:latin typeface="Calibir"/>
              </a:rPr>
              <a:t>    public static void main(String[] </a:t>
            </a:r>
            <a:r>
              <a:rPr lang="en-US" sz="1700" dirty="0" err="1">
                <a:highlight>
                  <a:srgbClr val="FFFF00"/>
                </a:highlight>
                <a:latin typeface="Calibir"/>
              </a:rPr>
              <a:t>args</a:t>
            </a:r>
            <a:r>
              <a:rPr lang="en-US" sz="1700" dirty="0">
                <a:highlight>
                  <a:srgbClr val="FFFF00"/>
                </a:highlight>
                <a:latin typeface="Calibir"/>
              </a:rPr>
              <a:t>) {</a:t>
            </a:r>
          </a:p>
          <a:p>
            <a:r>
              <a:rPr lang="en-US" sz="17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700" dirty="0" err="1">
                <a:highlight>
                  <a:srgbClr val="FFFF00"/>
                </a:highlight>
                <a:latin typeface="Calibir"/>
              </a:rPr>
              <a:t>System.out.printf</a:t>
            </a:r>
            <a:r>
              <a:rPr lang="en-US" sz="17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1700" dirty="0">
                <a:highlight>
                  <a:srgbClr val="FFFF00"/>
                </a:highlight>
                <a:latin typeface="Calibir"/>
              </a:rPr>
              <a:t>            "%-10s %-15s %-15s%n",</a:t>
            </a:r>
          </a:p>
          <a:p>
            <a:r>
              <a:rPr lang="en-US" sz="1700" dirty="0">
                <a:highlight>
                  <a:srgbClr val="FFFF00"/>
                </a:highlight>
                <a:latin typeface="Calibir"/>
              </a:rPr>
              <a:t>            "Number",</a:t>
            </a:r>
          </a:p>
          <a:p>
            <a:r>
              <a:rPr lang="en-US" sz="1700" dirty="0">
                <a:highlight>
                  <a:srgbClr val="FFFF00"/>
                </a:highlight>
                <a:latin typeface="Calibir"/>
              </a:rPr>
              <a:t>            "Square Root",</a:t>
            </a:r>
          </a:p>
          <a:p>
            <a:r>
              <a:rPr lang="en-US" sz="1700" dirty="0">
                <a:highlight>
                  <a:srgbClr val="FFFF00"/>
                </a:highlight>
                <a:latin typeface="Calibir"/>
              </a:rPr>
              <a:t>            "</a:t>
            </a:r>
            <a:r>
              <a:rPr lang="en-US" sz="1700" dirty="0" err="1">
                <a:highlight>
                  <a:srgbClr val="FFFF00"/>
                </a:highlight>
                <a:latin typeface="Calibir"/>
              </a:rPr>
              <a:t>e^x</a:t>
            </a:r>
            <a:r>
              <a:rPr lang="en-US" sz="1700" dirty="0">
                <a:highlight>
                  <a:srgbClr val="FFFF00"/>
                </a:highlight>
                <a:latin typeface="Calibir"/>
              </a:rPr>
              <a:t>"</a:t>
            </a:r>
          </a:p>
          <a:p>
            <a:r>
              <a:rPr lang="en-US" sz="1700" dirty="0">
                <a:highlight>
                  <a:srgbClr val="FFFF00"/>
                </a:highlight>
                <a:latin typeface="Calibir"/>
              </a:rPr>
              <a:t>        );</a:t>
            </a:r>
          </a:p>
          <a:p>
            <a:r>
              <a:rPr lang="en-US" sz="1700" dirty="0">
                <a:highlight>
                  <a:srgbClr val="FFFF00"/>
                </a:highlight>
                <a:latin typeface="Calibir"/>
              </a:rPr>
              <a:t>        for (int x = 1; x &lt;= 10; x++) {</a:t>
            </a:r>
          </a:p>
          <a:p>
            <a:r>
              <a:rPr lang="en-US" sz="1700" dirty="0">
                <a:highlight>
                  <a:srgbClr val="FFFF00"/>
                </a:highlight>
                <a:latin typeface="Calibir"/>
              </a:rPr>
              <a:t>            double </a:t>
            </a:r>
            <a:r>
              <a:rPr lang="en-US" sz="1700" dirty="0" err="1">
                <a:highlight>
                  <a:srgbClr val="FFFF00"/>
                </a:highlight>
                <a:latin typeface="Calibir"/>
              </a:rPr>
              <a:t>squareRoot</a:t>
            </a:r>
            <a:r>
              <a:rPr lang="en-US" sz="1700" dirty="0">
                <a:highlight>
                  <a:srgbClr val="FFFF00"/>
                </a:highlight>
                <a:latin typeface="Calibir"/>
              </a:rPr>
              <a:t> =</a:t>
            </a:r>
          </a:p>
          <a:p>
            <a:r>
              <a:rPr lang="en-US" sz="1700" dirty="0">
                <a:highlight>
                  <a:srgbClr val="FFFF00"/>
                </a:highlight>
                <a:latin typeface="Calibir"/>
              </a:rPr>
              <a:t>                </a:t>
            </a:r>
            <a:r>
              <a:rPr lang="en-US" sz="1700" dirty="0" err="1">
                <a:highlight>
                  <a:srgbClr val="FFFF00"/>
                </a:highlight>
                <a:latin typeface="Calibir"/>
              </a:rPr>
              <a:t>Math.sqrt</a:t>
            </a:r>
            <a:r>
              <a:rPr lang="en-US" sz="1700" dirty="0">
                <a:highlight>
                  <a:srgbClr val="FFFF00"/>
                </a:highlight>
                <a:latin typeface="Calibir"/>
              </a:rPr>
              <a:t>(x);</a:t>
            </a:r>
          </a:p>
          <a:p>
            <a:r>
              <a:rPr lang="en-US" sz="1700" dirty="0">
                <a:highlight>
                  <a:srgbClr val="FFFF00"/>
                </a:highlight>
                <a:latin typeface="Calibir"/>
              </a:rPr>
              <a:t>            double exponential =</a:t>
            </a:r>
          </a:p>
          <a:p>
            <a:r>
              <a:rPr lang="en-US" sz="1700" dirty="0">
                <a:highlight>
                  <a:srgbClr val="FFFF00"/>
                </a:highlight>
                <a:latin typeface="Calibir"/>
              </a:rPr>
              <a:t>                </a:t>
            </a:r>
            <a:r>
              <a:rPr lang="en-US" sz="1700" dirty="0" err="1">
                <a:highlight>
                  <a:srgbClr val="FFFF00"/>
                </a:highlight>
                <a:latin typeface="Calibir"/>
              </a:rPr>
              <a:t>Math.exp</a:t>
            </a:r>
            <a:r>
              <a:rPr lang="en-US" sz="1700" dirty="0">
                <a:highlight>
                  <a:srgbClr val="FFFF00"/>
                </a:highlight>
                <a:latin typeface="Calibir"/>
              </a:rPr>
              <a:t>(x);</a:t>
            </a:r>
          </a:p>
          <a:p>
            <a:r>
              <a:rPr lang="en-US" sz="17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1700" dirty="0" err="1">
                <a:highlight>
                  <a:srgbClr val="FFFF00"/>
                </a:highlight>
                <a:latin typeface="Calibir"/>
              </a:rPr>
              <a:t>System.out.printf</a:t>
            </a:r>
            <a:r>
              <a:rPr lang="en-US" sz="17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1700" dirty="0">
                <a:highlight>
                  <a:srgbClr val="FFFF00"/>
                </a:highlight>
                <a:latin typeface="Calibir"/>
              </a:rPr>
              <a:t>                "%-10d %-15.2f %-15.2f%n",</a:t>
            </a:r>
          </a:p>
          <a:p>
            <a:r>
              <a:rPr lang="en-US" sz="1700" dirty="0">
                <a:highlight>
                  <a:srgbClr val="FFFF00"/>
                </a:highlight>
                <a:latin typeface="Calibir"/>
              </a:rPr>
              <a:t>                x,</a:t>
            </a:r>
          </a:p>
          <a:p>
            <a:r>
              <a:rPr lang="en-US" sz="1700" dirty="0">
                <a:highlight>
                  <a:srgbClr val="FFFF00"/>
                </a:highlight>
                <a:latin typeface="Calibir"/>
              </a:rPr>
              <a:t>                </a:t>
            </a:r>
            <a:r>
              <a:rPr lang="en-US" sz="1700" dirty="0" err="1">
                <a:highlight>
                  <a:srgbClr val="FFFF00"/>
                </a:highlight>
                <a:latin typeface="Calibir"/>
              </a:rPr>
              <a:t>squareRoot</a:t>
            </a:r>
            <a:r>
              <a:rPr lang="en-US" sz="1700" dirty="0">
                <a:highlight>
                  <a:srgbClr val="FFFF00"/>
                </a:highlight>
                <a:latin typeface="Calibir"/>
              </a:rPr>
              <a:t>,</a:t>
            </a:r>
          </a:p>
          <a:p>
            <a:r>
              <a:rPr lang="en-US" sz="1700" dirty="0">
                <a:highlight>
                  <a:srgbClr val="FFFF00"/>
                </a:highlight>
                <a:latin typeface="Calibir"/>
              </a:rPr>
              <a:t>                exponential</a:t>
            </a:r>
          </a:p>
          <a:p>
            <a:r>
              <a:rPr lang="en-US" sz="1700" dirty="0">
                <a:highlight>
                  <a:srgbClr val="FFFF00"/>
                </a:highlight>
                <a:latin typeface="Calibir"/>
              </a:rPr>
              <a:t>            );</a:t>
            </a:r>
          </a:p>
          <a:p>
            <a:r>
              <a:rPr lang="en-US" sz="1700" dirty="0">
                <a:highlight>
                  <a:srgbClr val="FFFF00"/>
                </a:highlight>
                <a:latin typeface="Calibir"/>
              </a:rPr>
              <a:t>        }</a:t>
            </a:r>
          </a:p>
          <a:p>
            <a:r>
              <a:rPr lang="en-US" sz="1700" dirty="0">
                <a:highlight>
                  <a:srgbClr val="FFFF00"/>
                </a:highlight>
                <a:latin typeface="Calibir"/>
              </a:rPr>
              <a:t>    }</a:t>
            </a:r>
          </a:p>
          <a:p>
            <a:r>
              <a:rPr lang="en-US" sz="1700" dirty="0">
                <a:highlight>
                  <a:srgbClr val="FFFF00"/>
                </a:highlight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6560466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3FE0C017-4F14-E49E-A1AB-D1A1AE7B21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11091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 dirty="0"/>
              <a:t>Lab 4 Exercises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980C27-948C-5A74-3794-543E81ADB7CC}"/>
              </a:ext>
            </a:extLst>
          </p:cNvPr>
          <p:cNvSpPr txBox="1"/>
          <p:nvPr/>
        </p:nvSpPr>
        <p:spPr>
          <a:xfrm>
            <a:off x="711201" y="1109134"/>
            <a:ext cx="11004265" cy="3347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Economica" panose="020B0604020202020204" charset="0"/>
              </a:rPr>
              <a:t>Exercise 2 (Java): 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Economica" panose="020B0604020202020204" charset="0"/>
              </a:rPr>
              <a:t>Write a program called </a:t>
            </a:r>
            <a:r>
              <a:rPr lang="en-GB" sz="2400" b="1" dirty="0">
                <a:latin typeface="Economica" panose="020B0604020202020204" charset="0"/>
              </a:rPr>
              <a:t>Lab4Exc2</a:t>
            </a:r>
            <a:r>
              <a:rPr lang="en-GB" sz="2400" dirty="0">
                <a:latin typeface="Economica" panose="020B0604020202020204" charset="0"/>
              </a:rPr>
              <a:t> with the following operations:</a:t>
            </a:r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Economica" panose="020B0604020202020204" charset="0"/>
              </a:rPr>
              <a:t>Generate 20 random integers</a:t>
            </a:r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Economica" panose="020B0604020202020204" charset="0"/>
              </a:rPr>
              <a:t>Store the values into an array</a:t>
            </a:r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Economica" panose="020B0604020202020204" charset="0"/>
              </a:rPr>
              <a:t>Display the array</a:t>
            </a:r>
          </a:p>
          <a:p>
            <a:pPr>
              <a:lnSpc>
                <a:spcPct val="150000"/>
              </a:lnSpc>
            </a:pPr>
            <a:endParaRPr lang="en-GB" sz="2400" u="sng" dirty="0">
              <a:latin typeface="Economic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30680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B5649438-317A-863B-A87A-52513D1C6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43E7A3F9-DD32-331B-FF8A-B5E7700FFF2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79641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 sz="3900" b="1" dirty="0">
                <a:latin typeface="Calibir"/>
              </a:rPr>
              <a:t>Exercise 2 — Generate 20 Random Integers</a:t>
            </a:r>
            <a:endParaRPr sz="3900" b="1" dirty="0">
              <a:latin typeface="Calibi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B9B93F-4BC5-7EE4-8DEC-94102B56B36F}"/>
              </a:ext>
            </a:extLst>
          </p:cNvPr>
          <p:cNvSpPr txBox="1"/>
          <p:nvPr/>
        </p:nvSpPr>
        <p:spPr>
          <a:xfrm>
            <a:off x="711201" y="1109134"/>
            <a:ext cx="11004265" cy="3903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supplied exercise says Java, but below is also the Python equivalent for comparison.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random-number range is not specified. The examples below use 0–99.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Python — Step 1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Create an empty list: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numbers = []</a:t>
            </a:r>
          </a:p>
        </p:txBody>
      </p:sp>
    </p:spTree>
    <p:extLst>
      <p:ext uri="{BB962C8B-B14F-4D97-AF65-F5344CB8AC3E}">
        <p14:creationId xmlns:p14="http://schemas.microsoft.com/office/powerpoint/2010/main" val="99900915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B860CC1E-95EA-B509-B090-5C4D606AF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6AEE4EBC-AA2F-2EC2-2BA8-452B14F5F8D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79641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 sz="3900" b="1" dirty="0">
                <a:latin typeface="Calibir"/>
              </a:rPr>
              <a:t>Exercise 2 — Generate 20 Random Integers</a:t>
            </a:r>
            <a:endParaRPr sz="3900" b="1" dirty="0">
              <a:latin typeface="Calibi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2B935C-E071-84A5-91D0-90DDAAB63593}"/>
              </a:ext>
            </a:extLst>
          </p:cNvPr>
          <p:cNvSpPr txBox="1"/>
          <p:nvPr/>
        </p:nvSpPr>
        <p:spPr>
          <a:xfrm>
            <a:off x="711201" y="1109134"/>
            <a:ext cx="11004265" cy="32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2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Generate twenty random numbers: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for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i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in range(20):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number =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random.randint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(0, 99)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numbers.append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(number)</a:t>
            </a:r>
          </a:p>
        </p:txBody>
      </p:sp>
    </p:spTree>
    <p:extLst>
      <p:ext uri="{BB962C8B-B14F-4D97-AF65-F5344CB8AC3E}">
        <p14:creationId xmlns:p14="http://schemas.microsoft.com/office/powerpoint/2010/main" val="340522359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CF4F2A6F-F64D-799B-86EA-9D7CD072A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FF06F113-43CE-32AE-3AD8-838262ACB90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79641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 sz="3900" b="1" dirty="0">
                <a:latin typeface="Calibir"/>
              </a:rPr>
              <a:t>Exercise 2 — Generate 20 Random Integers</a:t>
            </a:r>
            <a:endParaRPr sz="3900" b="1" dirty="0">
              <a:latin typeface="Calibi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8E0012-07CF-DE52-A42A-3C4894D42B6E}"/>
              </a:ext>
            </a:extLst>
          </p:cNvPr>
          <p:cNvSpPr txBox="1"/>
          <p:nvPr/>
        </p:nvSpPr>
        <p:spPr>
          <a:xfrm>
            <a:off x="711201" y="1109134"/>
            <a:ext cx="11004265" cy="4549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Completed Python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import random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numbers = []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for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i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in range(20):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number =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random.randint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(0, 99)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numbers.append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(number)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print(numbers)</a:t>
            </a:r>
          </a:p>
        </p:txBody>
      </p:sp>
    </p:spTree>
    <p:extLst>
      <p:ext uri="{BB962C8B-B14F-4D97-AF65-F5344CB8AC3E}">
        <p14:creationId xmlns:p14="http://schemas.microsoft.com/office/powerpoint/2010/main" val="38645278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C3697E8E-0422-E86D-F3A9-1F2AB6CFB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4AC10758-A747-3945-AC1D-B4ABAE42902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79641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 sz="3900" b="1" dirty="0">
                <a:latin typeface="Calibir"/>
              </a:rPr>
              <a:t>Exercise 2 — Generate 20 Random Integers</a:t>
            </a:r>
            <a:endParaRPr sz="3900" b="1" dirty="0">
              <a:latin typeface="Calibi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E0B069-50A0-E776-BEDE-7909A21DDB73}"/>
              </a:ext>
            </a:extLst>
          </p:cNvPr>
          <p:cNvSpPr txBox="1"/>
          <p:nvPr/>
        </p:nvSpPr>
        <p:spPr>
          <a:xfrm>
            <a:off x="711201" y="1109134"/>
            <a:ext cx="11004265" cy="1964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Java — Step 1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Create an array: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int[] numbers = new int[20];</a:t>
            </a:r>
          </a:p>
        </p:txBody>
      </p:sp>
    </p:spTree>
    <p:extLst>
      <p:ext uri="{BB962C8B-B14F-4D97-AF65-F5344CB8AC3E}">
        <p14:creationId xmlns:p14="http://schemas.microsoft.com/office/powerpoint/2010/main" val="325317836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E5F9312D-5763-C007-7457-EF6007105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029BB0AC-64DD-6627-232F-DF6EC8E7CDD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79641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 sz="3900" b="1" dirty="0">
                <a:latin typeface="Calibir"/>
              </a:rPr>
              <a:t>Exercise 2 — Generate 20 Random Integers</a:t>
            </a:r>
            <a:endParaRPr sz="3900" b="1" dirty="0">
              <a:latin typeface="Calibi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2DC875-C12D-2461-EBF6-F5D4C37BF6DB}"/>
              </a:ext>
            </a:extLst>
          </p:cNvPr>
          <p:cNvSpPr txBox="1"/>
          <p:nvPr/>
        </p:nvSpPr>
        <p:spPr>
          <a:xfrm>
            <a:off x="711201" y="1109134"/>
            <a:ext cx="11004265" cy="1964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2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Create a random-number generator: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Random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random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= new Random();</a:t>
            </a:r>
          </a:p>
        </p:txBody>
      </p:sp>
    </p:spTree>
    <p:extLst>
      <p:ext uri="{BB962C8B-B14F-4D97-AF65-F5344CB8AC3E}">
        <p14:creationId xmlns:p14="http://schemas.microsoft.com/office/powerpoint/2010/main" val="9038541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34C1C8EF-550B-F39D-92C5-B5C6FF77F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F547691C-FD2B-7839-12BF-CFA223AD4B1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79641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 sz="3900" b="1" dirty="0">
                <a:latin typeface="Calibir"/>
              </a:rPr>
              <a:t>Exercise 2 — Generate 20 Random Integers</a:t>
            </a:r>
            <a:endParaRPr sz="3900" b="1" dirty="0">
              <a:latin typeface="Calibi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D5522E-0732-A93B-EBFE-BC1CF7CA1BBC}"/>
              </a:ext>
            </a:extLst>
          </p:cNvPr>
          <p:cNvSpPr txBox="1"/>
          <p:nvPr/>
        </p:nvSpPr>
        <p:spPr>
          <a:xfrm>
            <a:off x="711201" y="1109134"/>
            <a:ext cx="11004265" cy="32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3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Fill the array: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for (int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i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= 0;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i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&lt;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numbers.length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;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i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++) {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numbers[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i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] =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random.nextInt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(100);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5562478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6C20FFAF-E74C-39C7-FC19-E4BE4AAC5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CF2DFC66-324C-B797-0BDF-6CA3DA95BE8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79641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 sz="3900" b="1" dirty="0">
                <a:latin typeface="Calibir"/>
              </a:rPr>
              <a:t>Exercise 2 — Generate 20 Random Integers</a:t>
            </a:r>
            <a:endParaRPr sz="3900" b="1" dirty="0">
              <a:latin typeface="Calibi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8039B2-3482-ECE0-1257-FC168BA8F108}"/>
              </a:ext>
            </a:extLst>
          </p:cNvPr>
          <p:cNvSpPr txBox="1"/>
          <p:nvPr/>
        </p:nvSpPr>
        <p:spPr>
          <a:xfrm>
            <a:off x="358002" y="796413"/>
            <a:ext cx="11004265" cy="6062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00" b="1" dirty="0">
                <a:latin typeface="Calibir"/>
              </a:rPr>
              <a:t>Completed Java — Lab4Exc2.java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import </a:t>
            </a:r>
            <a:r>
              <a:rPr lang="en-US" sz="1300" dirty="0" err="1">
                <a:highlight>
                  <a:srgbClr val="FFFF00"/>
                </a:highlight>
                <a:latin typeface="Calibir"/>
              </a:rPr>
              <a:t>java.util.Arrays</a:t>
            </a:r>
            <a:r>
              <a:rPr lang="en-US" sz="1300" dirty="0">
                <a:highlight>
                  <a:srgbClr val="FFFF00"/>
                </a:highlight>
                <a:latin typeface="Calibir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import </a:t>
            </a:r>
            <a:r>
              <a:rPr lang="en-US" sz="1300" dirty="0" err="1">
                <a:highlight>
                  <a:srgbClr val="FFFF00"/>
                </a:highlight>
                <a:latin typeface="Calibir"/>
              </a:rPr>
              <a:t>java.util.Random</a:t>
            </a:r>
            <a:r>
              <a:rPr lang="en-US" sz="1300" dirty="0">
                <a:highlight>
                  <a:srgbClr val="FFFF00"/>
                </a:highlight>
                <a:latin typeface="Calibir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public class Lab4Exc2 {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public static void main(String[] </a:t>
            </a:r>
            <a:r>
              <a:rPr lang="en-US" sz="1300" dirty="0" err="1">
                <a:highlight>
                  <a:srgbClr val="FFFF00"/>
                </a:highlight>
                <a:latin typeface="Calibir"/>
              </a:rPr>
              <a:t>args</a:t>
            </a:r>
            <a:r>
              <a:rPr lang="en-US" sz="1300" dirty="0">
                <a:highlight>
                  <a:srgbClr val="FFFF00"/>
                </a:highlight>
                <a:latin typeface="Calibir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int[] numbers = new int[20];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Random </a:t>
            </a:r>
            <a:r>
              <a:rPr lang="en-US" sz="1300" dirty="0" err="1">
                <a:highlight>
                  <a:srgbClr val="FFFF00"/>
                </a:highlight>
                <a:latin typeface="Calibir"/>
              </a:rPr>
              <a:t>random</a:t>
            </a:r>
            <a:r>
              <a:rPr lang="en-US" sz="1300" dirty="0">
                <a:highlight>
                  <a:srgbClr val="FFFF00"/>
                </a:highlight>
                <a:latin typeface="Calibir"/>
              </a:rPr>
              <a:t> = new Random();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for (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    int </a:t>
            </a:r>
            <a:r>
              <a:rPr lang="en-US" sz="1300" dirty="0" err="1">
                <a:highlight>
                  <a:srgbClr val="FFFF00"/>
                </a:highlight>
                <a:latin typeface="Calibir"/>
              </a:rPr>
              <a:t>i</a:t>
            </a:r>
            <a:r>
              <a:rPr lang="en-US" sz="1300" dirty="0">
                <a:highlight>
                  <a:srgbClr val="FFFF00"/>
                </a:highlight>
                <a:latin typeface="Calibir"/>
              </a:rPr>
              <a:t> = 0;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1300" dirty="0" err="1">
                <a:highlight>
                  <a:srgbClr val="FFFF00"/>
                </a:highlight>
                <a:latin typeface="Calibir"/>
              </a:rPr>
              <a:t>i</a:t>
            </a:r>
            <a:r>
              <a:rPr lang="en-US" sz="1300" dirty="0">
                <a:highlight>
                  <a:srgbClr val="FFFF00"/>
                </a:highlight>
                <a:latin typeface="Calibir"/>
              </a:rPr>
              <a:t> &lt; </a:t>
            </a:r>
            <a:r>
              <a:rPr lang="en-US" sz="1300" dirty="0" err="1">
                <a:highlight>
                  <a:srgbClr val="FFFF00"/>
                </a:highlight>
                <a:latin typeface="Calibir"/>
              </a:rPr>
              <a:t>numbers.length</a:t>
            </a:r>
            <a:r>
              <a:rPr lang="en-US" sz="1300" dirty="0">
                <a:highlight>
                  <a:srgbClr val="FFFF00"/>
                </a:highlight>
                <a:latin typeface="Calibir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1300" dirty="0" err="1">
                <a:highlight>
                  <a:srgbClr val="FFFF00"/>
                </a:highlight>
                <a:latin typeface="Calibir"/>
              </a:rPr>
              <a:t>i</a:t>
            </a:r>
            <a:r>
              <a:rPr lang="en-US" sz="1300" dirty="0">
                <a:highlight>
                  <a:srgbClr val="FFFF00"/>
                </a:highlight>
                <a:latin typeface="Calibir"/>
              </a:rPr>
              <a:t>++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) {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    numbers[</a:t>
            </a:r>
            <a:r>
              <a:rPr lang="en-US" sz="1300" dirty="0" err="1">
                <a:highlight>
                  <a:srgbClr val="FFFF00"/>
                </a:highlight>
                <a:latin typeface="Calibir"/>
              </a:rPr>
              <a:t>i</a:t>
            </a:r>
            <a:r>
              <a:rPr lang="en-US" sz="1300" dirty="0">
                <a:highlight>
                  <a:srgbClr val="FFFF00"/>
                </a:highlight>
                <a:latin typeface="Calibir"/>
              </a:rPr>
              <a:t>] =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        </a:t>
            </a:r>
            <a:r>
              <a:rPr lang="en-US" sz="1300" dirty="0" err="1">
                <a:highlight>
                  <a:srgbClr val="FFFF00"/>
                </a:highlight>
                <a:latin typeface="Calibir"/>
              </a:rPr>
              <a:t>random.nextInt</a:t>
            </a:r>
            <a:r>
              <a:rPr lang="en-US" sz="1300" dirty="0">
                <a:highlight>
                  <a:srgbClr val="FFFF00"/>
                </a:highlight>
                <a:latin typeface="Calibir"/>
              </a:rPr>
              <a:t>(100);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}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300" dirty="0" err="1">
                <a:highlight>
                  <a:srgbClr val="FFFF00"/>
                </a:highlight>
                <a:latin typeface="Calibir"/>
              </a:rPr>
              <a:t>System.out.println</a:t>
            </a:r>
            <a:r>
              <a:rPr lang="en-US" sz="13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1300" dirty="0" err="1">
                <a:highlight>
                  <a:srgbClr val="FFFF00"/>
                </a:highlight>
                <a:latin typeface="Calibir"/>
              </a:rPr>
              <a:t>Arrays.toString</a:t>
            </a:r>
            <a:r>
              <a:rPr lang="en-US" sz="1300" dirty="0">
                <a:highlight>
                  <a:srgbClr val="FFFF00"/>
                </a:highlight>
                <a:latin typeface="Calibir"/>
              </a:rPr>
              <a:t>(numbers)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);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6112114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3FE0C017-4F14-E49E-A1AB-D1A1AE7B21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3628"/>
            <a:ext cx="11362267" cy="11091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 dirty="0"/>
              <a:t>Lab 4 Exercises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980C27-948C-5A74-3794-543E81ADB7CC}"/>
              </a:ext>
            </a:extLst>
          </p:cNvPr>
          <p:cNvSpPr txBox="1"/>
          <p:nvPr/>
        </p:nvSpPr>
        <p:spPr>
          <a:xfrm>
            <a:off x="593868" y="1105506"/>
            <a:ext cx="11004265" cy="3901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Economica" panose="020B0604020202020204" charset="0"/>
              </a:rPr>
              <a:t>Exercise 3: 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Economica" panose="020B0604020202020204" charset="0"/>
              </a:rPr>
              <a:t>Write a program called </a:t>
            </a:r>
            <a:r>
              <a:rPr lang="en-GB" sz="2400" b="1" dirty="0">
                <a:latin typeface="Economica" panose="020B0604020202020204" charset="0"/>
              </a:rPr>
              <a:t>Lab4Exc3</a:t>
            </a:r>
            <a:r>
              <a:rPr lang="en-GB" sz="2400" dirty="0">
                <a:latin typeface="Economica" panose="020B0604020202020204" charset="0"/>
              </a:rPr>
              <a:t> with the following operations:</a:t>
            </a:r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Economica" panose="020B0604020202020204" charset="0"/>
              </a:rPr>
              <a:t>Repeatedly print out n stars in one line, where the value of n is captured from the keyboard. </a:t>
            </a:r>
          </a:p>
          <a:p>
            <a:pPr>
              <a:lnSpc>
                <a:spcPct val="150000"/>
              </a:lnSpc>
            </a:pPr>
            <a:r>
              <a:rPr lang="en-GB" sz="2400" u="sng" dirty="0">
                <a:latin typeface="Economica" panose="020B0604020202020204" charset="0"/>
              </a:rPr>
              <a:t>NOTES:</a:t>
            </a:r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Economica" panose="020B0604020202020204" charset="0"/>
              </a:rPr>
              <a:t>Don't forget to terminate the previous line. </a:t>
            </a:r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Economica" panose="020B0604020202020204" charset="0"/>
              </a:rPr>
              <a:t>The program should terminate when n is zero.</a:t>
            </a:r>
            <a:endParaRPr lang="en-US" sz="2400" dirty="0">
              <a:latin typeface="Economic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14698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E176E9A6-E4AA-5FDF-E56D-3CFF1228B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35AD7D6E-25C7-B211-5F32-D423F46664B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79641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900" b="1" dirty="0">
                <a:latin typeface="Calibir"/>
              </a:rPr>
              <a:t>Exercise 3 — Print n Stars Until 0</a:t>
            </a:r>
            <a:endParaRPr sz="3900" b="1" dirty="0">
              <a:latin typeface="Calibi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BF8E01-9A6B-B712-FF39-32FECF9A5EB9}"/>
              </a:ext>
            </a:extLst>
          </p:cNvPr>
          <p:cNvSpPr txBox="1"/>
          <p:nvPr/>
        </p:nvSpPr>
        <p:spPr>
          <a:xfrm>
            <a:off x="358002" y="796413"/>
            <a:ext cx="11004265" cy="584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If the user enters: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5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print: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*****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If the user enters: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3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print: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***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Entering 0 stops the program.</a:t>
            </a:r>
          </a:p>
        </p:txBody>
      </p:sp>
    </p:spTree>
    <p:extLst>
      <p:ext uri="{BB962C8B-B14F-4D97-AF65-F5344CB8AC3E}">
        <p14:creationId xmlns:p14="http://schemas.microsoft.com/office/powerpoint/2010/main" val="421670038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171B1DDD-2868-3FFB-D3A2-C1CBBAF48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6B76750A-5DA0-7A0D-D814-5D10B04DF50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79641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900" b="1" dirty="0">
                <a:latin typeface="Calibir"/>
              </a:rPr>
              <a:t>Exercise 3 — Print n Stars Until 0</a:t>
            </a:r>
            <a:endParaRPr sz="3900" b="1" dirty="0">
              <a:latin typeface="Calibi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BE95E6-9DAC-B276-1EC2-9952A7ACB7D7}"/>
              </a:ext>
            </a:extLst>
          </p:cNvPr>
          <p:cNvSpPr txBox="1"/>
          <p:nvPr/>
        </p:nvSpPr>
        <p:spPr>
          <a:xfrm>
            <a:off x="358002" y="796413"/>
            <a:ext cx="11004265" cy="5196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Python — Step 1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n = int(input("Enter n: "))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2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Repeat until zero: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while n != 0: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3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Python can repeat a string: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print("*" * n)</a:t>
            </a:r>
          </a:p>
        </p:txBody>
      </p:sp>
    </p:spTree>
    <p:extLst>
      <p:ext uri="{BB962C8B-B14F-4D97-AF65-F5344CB8AC3E}">
        <p14:creationId xmlns:p14="http://schemas.microsoft.com/office/powerpoint/2010/main" val="77765247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4FEC7359-C6D4-AE9E-38A6-B6769098E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1C575FDE-EBF8-BC87-8EB7-0103EF46B51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79641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900" b="1" dirty="0">
                <a:latin typeface="Calibir"/>
              </a:rPr>
              <a:t>Exercise 3 — Print n Stars Until 0</a:t>
            </a:r>
            <a:endParaRPr sz="3900" b="1" dirty="0">
              <a:latin typeface="Calibi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F1F534-FF45-27F0-EF9D-6CA00CF643F2}"/>
              </a:ext>
            </a:extLst>
          </p:cNvPr>
          <p:cNvSpPr txBox="1"/>
          <p:nvPr/>
        </p:nvSpPr>
        <p:spPr>
          <a:xfrm>
            <a:off x="358002" y="796413"/>
            <a:ext cx="11004265" cy="32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Completed Python — Lab4Exc3.py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n = int(input("Enter n: "))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while n != 0: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print("*" * n)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n = int(input("Enter n: "))</a:t>
            </a:r>
          </a:p>
        </p:txBody>
      </p:sp>
    </p:spTree>
    <p:extLst>
      <p:ext uri="{BB962C8B-B14F-4D97-AF65-F5344CB8AC3E}">
        <p14:creationId xmlns:p14="http://schemas.microsoft.com/office/powerpoint/2010/main" val="8443644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6EEBF20D-9BCB-515D-C7FF-21D3CC8F2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DC6F4E54-A729-920F-1296-FF506B67D55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79641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900" b="1" dirty="0">
                <a:latin typeface="Calibir"/>
              </a:rPr>
              <a:t>Exercise 3 — Print n Stars Until 0</a:t>
            </a:r>
            <a:endParaRPr sz="3900" b="1" dirty="0">
              <a:latin typeface="Calibi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87B247-7550-7BFA-B6F1-FE0D88F75C47}"/>
              </a:ext>
            </a:extLst>
          </p:cNvPr>
          <p:cNvSpPr txBox="1"/>
          <p:nvPr/>
        </p:nvSpPr>
        <p:spPr>
          <a:xfrm>
            <a:off x="358002" y="1076632"/>
            <a:ext cx="11004265" cy="5626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Java — Step 1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Read n: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int n =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input.nextInt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Step 2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Nested loop: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while (n != 0) {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    for (int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i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 = 0;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i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 &lt; n;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i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++) {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System.out.print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("*");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   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System.out.println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1245712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CA31A23C-8926-0722-D9EF-B61B37EE6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6F104FD7-37F8-26B5-38D7-B29B4E3C4B7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79641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900" b="1" dirty="0">
                <a:latin typeface="Calibir"/>
              </a:rPr>
              <a:t>Exercise 3 — Print n Stars Until 0</a:t>
            </a:r>
            <a:endParaRPr sz="3900" b="1" dirty="0">
              <a:latin typeface="Calibi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EE243F-B03D-BB35-7E61-520359FE4DB7}"/>
              </a:ext>
            </a:extLst>
          </p:cNvPr>
          <p:cNvSpPr txBox="1"/>
          <p:nvPr/>
        </p:nvSpPr>
        <p:spPr>
          <a:xfrm>
            <a:off x="358002" y="796413"/>
            <a:ext cx="11004265" cy="5968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Calibir"/>
              </a:rPr>
              <a:t>Completed Java — Lab4Exc3.java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highlight>
                  <a:srgbClr val="FFFF00"/>
                </a:highlight>
                <a:latin typeface="Calibir"/>
              </a:rPr>
              <a:t>import </a:t>
            </a:r>
            <a:r>
              <a:rPr lang="en-US" sz="1400" dirty="0" err="1">
                <a:highlight>
                  <a:srgbClr val="FFFF00"/>
                </a:highlight>
                <a:latin typeface="Calibir"/>
              </a:rPr>
              <a:t>java.util.Scanner</a:t>
            </a:r>
            <a:r>
              <a:rPr lang="en-US" sz="1400" dirty="0">
                <a:highlight>
                  <a:srgbClr val="FFFF00"/>
                </a:highlight>
                <a:latin typeface="Calibir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highlight>
                  <a:srgbClr val="FFFF00"/>
                </a:highlight>
                <a:latin typeface="Calibir"/>
              </a:rPr>
              <a:t>public class Lab4Exc3 {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highlight>
                  <a:srgbClr val="FFFF00"/>
                </a:highlight>
                <a:latin typeface="Calibir"/>
              </a:rPr>
              <a:t>    public static void main(String[] </a:t>
            </a:r>
            <a:r>
              <a:rPr lang="en-US" sz="1400" dirty="0" err="1">
                <a:highlight>
                  <a:srgbClr val="FFFF00"/>
                </a:highlight>
                <a:latin typeface="Calibir"/>
              </a:rPr>
              <a:t>args</a:t>
            </a:r>
            <a:r>
              <a:rPr lang="en-US" sz="1400" dirty="0">
                <a:highlight>
                  <a:srgbClr val="FFFF00"/>
                </a:highlight>
                <a:latin typeface="Calibir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highlight>
                  <a:srgbClr val="FFFF00"/>
                </a:highlight>
                <a:latin typeface="Calibir"/>
              </a:rPr>
              <a:t>        Scanner input = new Scanner(System.in);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400" dirty="0" err="1">
                <a:highlight>
                  <a:srgbClr val="FFFF00"/>
                </a:highlight>
                <a:latin typeface="Calibir"/>
              </a:rPr>
              <a:t>System.out.print</a:t>
            </a:r>
            <a:r>
              <a:rPr lang="en-US" sz="1400" dirty="0">
                <a:highlight>
                  <a:srgbClr val="FFFF00"/>
                </a:highlight>
                <a:latin typeface="Calibir"/>
              </a:rPr>
              <a:t>("Enter n: ");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highlight>
                  <a:srgbClr val="FFFF00"/>
                </a:highlight>
                <a:latin typeface="Calibir"/>
              </a:rPr>
              <a:t>        int n = </a:t>
            </a:r>
            <a:r>
              <a:rPr lang="en-US" sz="1400" dirty="0" err="1">
                <a:highlight>
                  <a:srgbClr val="FFFF00"/>
                </a:highlight>
                <a:latin typeface="Calibir"/>
              </a:rPr>
              <a:t>input.nextInt</a:t>
            </a:r>
            <a:r>
              <a:rPr lang="en-US" sz="1400" dirty="0">
                <a:highlight>
                  <a:srgbClr val="FFFF00"/>
                </a:highlight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highlight>
                  <a:srgbClr val="FFFF00"/>
                </a:highlight>
                <a:latin typeface="Calibir"/>
              </a:rPr>
              <a:t>        while (n != 0) {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highlight>
                  <a:srgbClr val="FFFF00"/>
                </a:highlight>
                <a:latin typeface="Calibir"/>
              </a:rPr>
              <a:t>            for (int </a:t>
            </a:r>
            <a:r>
              <a:rPr lang="en-US" sz="1400" dirty="0" err="1">
                <a:highlight>
                  <a:srgbClr val="FFFF00"/>
                </a:highlight>
                <a:latin typeface="Calibir"/>
              </a:rPr>
              <a:t>i</a:t>
            </a:r>
            <a:r>
              <a:rPr lang="en-US" sz="1400" dirty="0">
                <a:highlight>
                  <a:srgbClr val="FFFF00"/>
                </a:highlight>
                <a:latin typeface="Calibir"/>
              </a:rPr>
              <a:t> = 0; </a:t>
            </a:r>
            <a:r>
              <a:rPr lang="en-US" sz="1400" dirty="0" err="1">
                <a:highlight>
                  <a:srgbClr val="FFFF00"/>
                </a:highlight>
                <a:latin typeface="Calibir"/>
              </a:rPr>
              <a:t>i</a:t>
            </a:r>
            <a:r>
              <a:rPr lang="en-US" sz="1400" dirty="0">
                <a:highlight>
                  <a:srgbClr val="FFFF00"/>
                </a:highlight>
                <a:latin typeface="Calibir"/>
              </a:rPr>
              <a:t> &lt; n; </a:t>
            </a:r>
            <a:r>
              <a:rPr lang="en-US" sz="1400" dirty="0" err="1">
                <a:highlight>
                  <a:srgbClr val="FFFF00"/>
                </a:highlight>
                <a:latin typeface="Calibir"/>
              </a:rPr>
              <a:t>i</a:t>
            </a:r>
            <a:r>
              <a:rPr lang="en-US" sz="1400" dirty="0">
                <a:highlight>
                  <a:srgbClr val="FFFF00"/>
                </a:highlight>
                <a:latin typeface="Calibir"/>
              </a:rPr>
              <a:t>++) {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highlight>
                  <a:srgbClr val="FFFF00"/>
                </a:highlight>
                <a:latin typeface="Calibir"/>
              </a:rPr>
              <a:t>                </a:t>
            </a:r>
            <a:r>
              <a:rPr lang="en-US" sz="1400" dirty="0" err="1">
                <a:highlight>
                  <a:srgbClr val="FFFF00"/>
                </a:highlight>
                <a:latin typeface="Calibir"/>
              </a:rPr>
              <a:t>System.out.print</a:t>
            </a:r>
            <a:r>
              <a:rPr lang="en-US" sz="1400" dirty="0">
                <a:highlight>
                  <a:srgbClr val="FFFF00"/>
                </a:highlight>
                <a:latin typeface="Calibir"/>
              </a:rPr>
              <a:t>("*");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highlight>
                  <a:srgbClr val="FFFF00"/>
                </a:highlight>
                <a:latin typeface="Calibir"/>
              </a:rPr>
              <a:t>            }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1400" dirty="0" err="1">
                <a:highlight>
                  <a:srgbClr val="FFFF00"/>
                </a:highlight>
                <a:latin typeface="Calibir"/>
              </a:rPr>
              <a:t>System.out.println</a:t>
            </a:r>
            <a:r>
              <a:rPr lang="en-US" sz="1400" dirty="0">
                <a:highlight>
                  <a:srgbClr val="FFFF00"/>
                </a:highlight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1400" dirty="0" err="1">
                <a:highlight>
                  <a:srgbClr val="FFFF00"/>
                </a:highlight>
                <a:latin typeface="Calibir"/>
              </a:rPr>
              <a:t>System.out.print</a:t>
            </a:r>
            <a:r>
              <a:rPr lang="en-US" sz="1400" dirty="0">
                <a:highlight>
                  <a:srgbClr val="FFFF00"/>
                </a:highlight>
                <a:latin typeface="Calibir"/>
              </a:rPr>
              <a:t>("Enter n: ");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highlight>
                  <a:srgbClr val="FFFF00"/>
                </a:highlight>
                <a:latin typeface="Calibir"/>
              </a:rPr>
              <a:t>            n = </a:t>
            </a:r>
            <a:r>
              <a:rPr lang="en-US" sz="1400" dirty="0" err="1">
                <a:highlight>
                  <a:srgbClr val="FFFF00"/>
                </a:highlight>
                <a:latin typeface="Calibir"/>
              </a:rPr>
              <a:t>input.nextInt</a:t>
            </a:r>
            <a:r>
              <a:rPr lang="en-US" sz="1400" dirty="0">
                <a:highlight>
                  <a:srgbClr val="FFFF00"/>
                </a:highlight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highlight>
                  <a:srgbClr val="FFFF00"/>
                </a:highlight>
                <a:latin typeface="Calibir"/>
              </a:rPr>
              <a:t>        }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400" dirty="0" err="1">
                <a:highlight>
                  <a:srgbClr val="FFFF00"/>
                </a:highlight>
                <a:latin typeface="Calibir"/>
              </a:rPr>
              <a:t>input.close</a:t>
            </a:r>
            <a:r>
              <a:rPr lang="en-US" sz="1400" dirty="0">
                <a:highlight>
                  <a:srgbClr val="FFFF00"/>
                </a:highlight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highlight>
                  <a:srgbClr val="FFFF00"/>
                </a:highlight>
                <a:latin typeface="Calibir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highlight>
                  <a:srgbClr val="FFFF00"/>
                </a:highlight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3615538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3FE0C017-4F14-E49E-A1AB-D1A1AE7B21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8467" y="0"/>
            <a:ext cx="11362267" cy="11091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 dirty="0"/>
              <a:t>Lab 4 Exercises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980C27-948C-5A74-3794-543E81ADB7CC}"/>
              </a:ext>
            </a:extLst>
          </p:cNvPr>
          <p:cNvSpPr txBox="1"/>
          <p:nvPr/>
        </p:nvSpPr>
        <p:spPr>
          <a:xfrm>
            <a:off x="593868" y="1109134"/>
            <a:ext cx="11004265" cy="3347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Economica" panose="020B0604020202020204" charset="0"/>
              </a:rPr>
              <a:t>Exercise 4: 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Economica" panose="020B0604020202020204" charset="0"/>
              </a:rPr>
              <a:t>Write a program called </a:t>
            </a:r>
            <a:r>
              <a:rPr lang="en-GB" sz="2400" b="1" dirty="0">
                <a:latin typeface="Economica" panose="020B0604020202020204" charset="0"/>
              </a:rPr>
              <a:t>Lab4Exc4</a:t>
            </a:r>
            <a:r>
              <a:rPr lang="en-GB" sz="2400" dirty="0">
                <a:latin typeface="Economica" panose="020B0604020202020204" charset="0"/>
              </a:rPr>
              <a:t> with the following operations :</a:t>
            </a:r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Economica" panose="020B0604020202020204" charset="0"/>
              </a:rPr>
              <a:t>Repeatedly read an integer n from the keyboard. </a:t>
            </a:r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Economica" panose="020B0604020202020204" charset="0"/>
              </a:rPr>
              <a:t>Display the min and max values entered. </a:t>
            </a:r>
          </a:p>
          <a:p>
            <a:pPr>
              <a:lnSpc>
                <a:spcPct val="150000"/>
              </a:lnSpc>
            </a:pPr>
            <a:r>
              <a:rPr lang="en-GB" sz="2400" u="sng" dirty="0">
                <a:latin typeface="Economica" panose="020B0604020202020204" charset="0"/>
              </a:rPr>
              <a:t>NOTE:</a:t>
            </a:r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Economica" panose="020B0604020202020204" charset="0"/>
              </a:rPr>
              <a:t>The program stops taking inputs from keyboard when -1 is entered.</a:t>
            </a:r>
          </a:p>
        </p:txBody>
      </p:sp>
    </p:spTree>
    <p:extLst>
      <p:ext uri="{BB962C8B-B14F-4D97-AF65-F5344CB8AC3E}">
        <p14:creationId xmlns:p14="http://schemas.microsoft.com/office/powerpoint/2010/main" val="396196315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822C7348-783B-F4F9-0300-2F31868DC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7004B1E8-EB14-1506-45F0-133049111C3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79641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900" b="1" dirty="0">
                <a:latin typeface="Calibir"/>
              </a:rPr>
              <a:t>Exercise 4 — Find Minimum and Maximum</a:t>
            </a:r>
            <a:endParaRPr sz="3900" b="1" dirty="0">
              <a:latin typeface="Calibi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BEF6FA-0C04-97DF-2687-DB56940E9474}"/>
              </a:ext>
            </a:extLst>
          </p:cNvPr>
          <p:cNvSpPr txBox="1"/>
          <p:nvPr/>
        </p:nvSpPr>
        <p:spPr>
          <a:xfrm>
            <a:off x="358002" y="1076632"/>
            <a:ext cx="11004265" cy="5196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user repeatedly enters numbers.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-1 means stop.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Important idea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We should not automatically set: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min = 0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max = 0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because all entered numbers could be positive or negative.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 simple solution is to use the first valid number to initialize both.</a:t>
            </a:r>
          </a:p>
        </p:txBody>
      </p:sp>
    </p:spTree>
    <p:extLst>
      <p:ext uri="{BB962C8B-B14F-4D97-AF65-F5344CB8AC3E}">
        <p14:creationId xmlns:p14="http://schemas.microsoft.com/office/powerpoint/2010/main" val="140784880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5AFAE033-3F12-1ED8-F947-A55700472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A5A921F1-9C8C-7E7C-570B-0A0CFC2CAC9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79641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900" b="1" dirty="0">
                <a:latin typeface="Calibir"/>
              </a:rPr>
              <a:t>Exercise 4 — Find Minimum and Maximum</a:t>
            </a:r>
            <a:endParaRPr sz="3900" b="1" dirty="0">
              <a:latin typeface="Calibi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8763F0-98B0-1E57-FEB6-C2E3F73F3053}"/>
              </a:ext>
            </a:extLst>
          </p:cNvPr>
          <p:cNvSpPr txBox="1"/>
          <p:nvPr/>
        </p:nvSpPr>
        <p:spPr>
          <a:xfrm>
            <a:off x="358002" y="1076632"/>
            <a:ext cx="11004265" cy="32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Python — Step 1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minimum = None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maximum = None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None means: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We do not have a value yet.</a:t>
            </a:r>
          </a:p>
        </p:txBody>
      </p:sp>
    </p:spTree>
    <p:extLst>
      <p:ext uri="{BB962C8B-B14F-4D97-AF65-F5344CB8AC3E}">
        <p14:creationId xmlns:p14="http://schemas.microsoft.com/office/powerpoint/2010/main" val="427486747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3D9AA420-07F2-B886-4642-36C60D777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4BADD0BC-1CDD-55CE-2A44-4A8836C82ED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79641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900" b="1" dirty="0">
                <a:latin typeface="Calibir"/>
              </a:rPr>
              <a:t>Exercise 4 — Find Minimum and Maximum</a:t>
            </a:r>
            <a:endParaRPr sz="3900" b="1" dirty="0">
              <a:latin typeface="Calibi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6097E1-778C-0DD0-62E0-E34C18796C17}"/>
              </a:ext>
            </a:extLst>
          </p:cNvPr>
          <p:cNvSpPr txBox="1"/>
          <p:nvPr/>
        </p:nvSpPr>
        <p:spPr>
          <a:xfrm>
            <a:off x="358002" y="1076632"/>
            <a:ext cx="11004265" cy="1964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2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Read repeatedly: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while True:</a:t>
            </a:r>
          </a:p>
        </p:txBody>
      </p:sp>
    </p:spTree>
    <p:extLst>
      <p:ext uri="{BB962C8B-B14F-4D97-AF65-F5344CB8AC3E}">
        <p14:creationId xmlns:p14="http://schemas.microsoft.com/office/powerpoint/2010/main" val="100585361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9655DA88-2782-B099-5C44-B81FCA4FE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5F9FE6AB-E222-CC2E-7F48-3CE3B9A99F2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79641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900" b="1" dirty="0">
                <a:latin typeface="Calibir"/>
              </a:rPr>
              <a:t>Exercise 4 — Find Minimum and Maximum</a:t>
            </a:r>
            <a:endParaRPr sz="3900" b="1" dirty="0">
              <a:latin typeface="Calibi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3FAD0A-A066-0BEF-0E8B-9F8E5F33F0B4}"/>
              </a:ext>
            </a:extLst>
          </p:cNvPr>
          <p:cNvSpPr txBox="1"/>
          <p:nvPr/>
        </p:nvSpPr>
        <p:spPr>
          <a:xfrm>
            <a:off x="0" y="796413"/>
            <a:ext cx="11004265" cy="6086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latin typeface="Calibir"/>
              </a:rPr>
              <a:t>Completed Python — Lab4Exc4.py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minimum = None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maximum = None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while True: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n = int(input("Enter an integer (-1 to stop): "))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if n == -1: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break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if minimum is None: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minimum = n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maximum = n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else: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if n &lt; minimum: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    minimum = n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if n &gt; maximum: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    maximum = n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if minimum is not None: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print("Minimum:", minimum)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print("Maximum:", maximum)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else: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print("No values entered.")</a:t>
            </a:r>
          </a:p>
        </p:txBody>
      </p:sp>
    </p:spTree>
    <p:extLst>
      <p:ext uri="{BB962C8B-B14F-4D97-AF65-F5344CB8AC3E}">
        <p14:creationId xmlns:p14="http://schemas.microsoft.com/office/powerpoint/2010/main" val="59564680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FF538E4D-E85F-5F75-4CF4-AD720A414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997021-59D2-31D8-7823-BC28D09DC4AE}"/>
              </a:ext>
            </a:extLst>
          </p:cNvPr>
          <p:cNvSpPr txBox="1"/>
          <p:nvPr/>
        </p:nvSpPr>
        <p:spPr>
          <a:xfrm>
            <a:off x="0" y="0"/>
            <a:ext cx="11004265" cy="1964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Java — Step 1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Use a Boolean variable: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highlight>
                  <a:srgbClr val="FFFF00"/>
                </a:highlight>
                <a:latin typeface="Calibir"/>
              </a:rPr>
              <a:t>boolean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firstValue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= true;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568D47-9139-5172-F3EF-7739A516FE00}"/>
              </a:ext>
            </a:extLst>
          </p:cNvPr>
          <p:cNvSpPr txBox="1"/>
          <p:nvPr/>
        </p:nvSpPr>
        <p:spPr>
          <a:xfrm>
            <a:off x="4812890" y="81930"/>
            <a:ext cx="3210233" cy="6694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latin typeface="Calibir"/>
              </a:rPr>
              <a:t>Completed Java — Lab4Exc4.java</a:t>
            </a:r>
          </a:p>
          <a:p>
            <a:r>
              <a:rPr lang="en-US" sz="1100" dirty="0">
                <a:highlight>
                  <a:srgbClr val="FFFF00"/>
                </a:highlight>
                <a:latin typeface="Calibir"/>
              </a:rPr>
              <a:t>import </a:t>
            </a:r>
            <a:r>
              <a:rPr lang="en-US" sz="1100" dirty="0" err="1">
                <a:highlight>
                  <a:srgbClr val="FFFF00"/>
                </a:highlight>
                <a:latin typeface="Calibir"/>
              </a:rPr>
              <a:t>java.util.Scanner</a:t>
            </a:r>
            <a:r>
              <a:rPr lang="en-US" sz="1100" dirty="0">
                <a:highlight>
                  <a:srgbClr val="FFFF00"/>
                </a:highlight>
                <a:latin typeface="Calibir"/>
              </a:rPr>
              <a:t>;</a:t>
            </a:r>
          </a:p>
          <a:p>
            <a:r>
              <a:rPr lang="en-US" sz="11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100" dirty="0" err="1">
                <a:highlight>
                  <a:srgbClr val="FFFF00"/>
                </a:highlight>
                <a:latin typeface="Calibir"/>
              </a:rPr>
              <a:t>boolean</a:t>
            </a:r>
            <a:r>
              <a:rPr lang="en-US" sz="1100" dirty="0">
                <a:highlight>
                  <a:srgbClr val="FFFF00"/>
                </a:highlight>
                <a:latin typeface="Calibir"/>
              </a:rPr>
              <a:t> </a:t>
            </a:r>
            <a:r>
              <a:rPr lang="en-US" sz="1100" dirty="0" err="1">
                <a:highlight>
                  <a:srgbClr val="FFFF00"/>
                </a:highlight>
                <a:latin typeface="Calibir"/>
              </a:rPr>
              <a:t>firstValue</a:t>
            </a:r>
            <a:r>
              <a:rPr lang="en-US" sz="1100" dirty="0">
                <a:highlight>
                  <a:srgbClr val="FFFF00"/>
                </a:highlight>
                <a:latin typeface="Calibir"/>
              </a:rPr>
              <a:t> = true;</a:t>
            </a:r>
          </a:p>
          <a:p>
            <a:r>
              <a:rPr lang="en-US" sz="1100" dirty="0">
                <a:highlight>
                  <a:srgbClr val="FFFF00"/>
                </a:highlight>
                <a:latin typeface="Calibir"/>
              </a:rPr>
              <a:t>        while (true) {</a:t>
            </a:r>
          </a:p>
          <a:p>
            <a:r>
              <a:rPr lang="en-US" sz="11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1100" dirty="0" err="1">
                <a:highlight>
                  <a:srgbClr val="FFFF00"/>
                </a:highlight>
                <a:latin typeface="Calibir"/>
              </a:rPr>
              <a:t>System.out.print</a:t>
            </a:r>
            <a:r>
              <a:rPr lang="en-US" sz="11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1100" dirty="0">
                <a:highlight>
                  <a:srgbClr val="FFFF00"/>
                </a:highlight>
                <a:latin typeface="Calibir"/>
              </a:rPr>
              <a:t>                "Enter an integer (-1 to stop): "</a:t>
            </a:r>
          </a:p>
          <a:p>
            <a:r>
              <a:rPr lang="en-US" sz="1100" dirty="0">
                <a:highlight>
                  <a:srgbClr val="FFFF00"/>
                </a:highlight>
                <a:latin typeface="Calibir"/>
              </a:rPr>
              <a:t>            );</a:t>
            </a:r>
          </a:p>
          <a:p>
            <a:r>
              <a:rPr lang="en-US" sz="1100" dirty="0">
                <a:highlight>
                  <a:srgbClr val="FFFF00"/>
                </a:highlight>
                <a:latin typeface="Calibir"/>
              </a:rPr>
              <a:t>            int n = </a:t>
            </a:r>
            <a:r>
              <a:rPr lang="en-US" sz="1100" dirty="0" err="1">
                <a:highlight>
                  <a:srgbClr val="FFFF00"/>
                </a:highlight>
                <a:latin typeface="Calibir"/>
              </a:rPr>
              <a:t>input.nextInt</a:t>
            </a:r>
            <a:r>
              <a:rPr lang="en-US" sz="1100" dirty="0">
                <a:highlight>
                  <a:srgbClr val="FFFF00"/>
                </a:highlight>
                <a:latin typeface="Calibir"/>
              </a:rPr>
              <a:t>();</a:t>
            </a:r>
          </a:p>
          <a:p>
            <a:r>
              <a:rPr lang="en-US" sz="1100" dirty="0">
                <a:highlight>
                  <a:srgbClr val="FFFF00"/>
                </a:highlight>
                <a:latin typeface="Calibir"/>
              </a:rPr>
              <a:t>            if (n == -1) {</a:t>
            </a:r>
          </a:p>
          <a:p>
            <a:r>
              <a:rPr lang="en-US" sz="1100" dirty="0">
                <a:highlight>
                  <a:srgbClr val="FFFF00"/>
                </a:highlight>
                <a:latin typeface="Calibir"/>
              </a:rPr>
              <a:t>                break;</a:t>
            </a:r>
          </a:p>
          <a:p>
            <a:r>
              <a:rPr lang="en-US" sz="1100" dirty="0">
                <a:highlight>
                  <a:srgbClr val="FFFF00"/>
                </a:highlight>
                <a:latin typeface="Calibir"/>
              </a:rPr>
              <a:t>            }</a:t>
            </a:r>
          </a:p>
          <a:p>
            <a:r>
              <a:rPr lang="en-US" sz="1100" dirty="0">
                <a:highlight>
                  <a:srgbClr val="FFFF00"/>
                </a:highlight>
                <a:latin typeface="Calibir"/>
              </a:rPr>
              <a:t>            if (</a:t>
            </a:r>
            <a:r>
              <a:rPr lang="en-US" sz="1100" dirty="0" err="1">
                <a:highlight>
                  <a:srgbClr val="FFFF00"/>
                </a:highlight>
                <a:latin typeface="Calibir"/>
              </a:rPr>
              <a:t>firstValue</a:t>
            </a:r>
            <a:r>
              <a:rPr lang="en-US" sz="1100" dirty="0">
                <a:highlight>
                  <a:srgbClr val="FFFF00"/>
                </a:highlight>
                <a:latin typeface="Calibir"/>
              </a:rPr>
              <a:t>) {</a:t>
            </a:r>
          </a:p>
          <a:p>
            <a:r>
              <a:rPr lang="en-US" sz="1100" dirty="0">
                <a:highlight>
                  <a:srgbClr val="FFFF00"/>
                </a:highlight>
                <a:latin typeface="Calibir"/>
              </a:rPr>
              <a:t>                minimum = n;</a:t>
            </a:r>
          </a:p>
          <a:p>
            <a:r>
              <a:rPr lang="en-US" sz="1100" dirty="0">
                <a:highlight>
                  <a:srgbClr val="FFFF00"/>
                </a:highlight>
                <a:latin typeface="Calibir"/>
              </a:rPr>
              <a:t>                maximum = n;</a:t>
            </a:r>
          </a:p>
          <a:p>
            <a:r>
              <a:rPr lang="en-US" sz="1100" dirty="0">
                <a:highlight>
                  <a:srgbClr val="FFFF00"/>
                </a:highlight>
                <a:latin typeface="Calibir"/>
              </a:rPr>
              <a:t>                </a:t>
            </a:r>
            <a:r>
              <a:rPr lang="en-US" sz="1100" dirty="0" err="1">
                <a:highlight>
                  <a:srgbClr val="FFFF00"/>
                </a:highlight>
                <a:latin typeface="Calibir"/>
              </a:rPr>
              <a:t>firstValue</a:t>
            </a:r>
            <a:r>
              <a:rPr lang="en-US" sz="1100" dirty="0">
                <a:highlight>
                  <a:srgbClr val="FFFF00"/>
                </a:highlight>
                <a:latin typeface="Calibir"/>
              </a:rPr>
              <a:t> = false;</a:t>
            </a:r>
          </a:p>
          <a:p>
            <a:r>
              <a:rPr lang="en-US" sz="1100" dirty="0">
                <a:highlight>
                  <a:srgbClr val="FFFF00"/>
                </a:highlight>
                <a:latin typeface="Calibir"/>
              </a:rPr>
              <a:t>            } else {</a:t>
            </a:r>
          </a:p>
          <a:p>
            <a:r>
              <a:rPr lang="en-US" sz="1100" dirty="0">
                <a:highlight>
                  <a:srgbClr val="FFFF00"/>
                </a:highlight>
                <a:latin typeface="Calibir"/>
              </a:rPr>
              <a:t>                if (n &lt; minimum) {</a:t>
            </a:r>
          </a:p>
          <a:p>
            <a:r>
              <a:rPr lang="en-US" sz="1100" dirty="0">
                <a:highlight>
                  <a:srgbClr val="FFFF00"/>
                </a:highlight>
                <a:latin typeface="Calibir"/>
              </a:rPr>
              <a:t>                    minimum = n;</a:t>
            </a:r>
          </a:p>
          <a:p>
            <a:r>
              <a:rPr lang="en-US" sz="1100" dirty="0">
                <a:highlight>
                  <a:srgbClr val="FFFF00"/>
                </a:highlight>
                <a:latin typeface="Calibir"/>
              </a:rPr>
              <a:t>                }</a:t>
            </a:r>
          </a:p>
          <a:p>
            <a:r>
              <a:rPr lang="en-US" sz="1100" dirty="0">
                <a:highlight>
                  <a:srgbClr val="FFFF00"/>
                </a:highlight>
                <a:latin typeface="Calibir"/>
              </a:rPr>
              <a:t>                if (n &gt; maximum) {</a:t>
            </a:r>
          </a:p>
          <a:p>
            <a:r>
              <a:rPr lang="en-US" sz="1100" dirty="0">
                <a:highlight>
                  <a:srgbClr val="FFFF00"/>
                </a:highlight>
                <a:latin typeface="Calibir"/>
              </a:rPr>
              <a:t>                    maximum = n;</a:t>
            </a:r>
          </a:p>
          <a:p>
            <a:r>
              <a:rPr lang="en-US" sz="1100" dirty="0">
                <a:highlight>
                  <a:srgbClr val="FFFF00"/>
                </a:highlight>
                <a:latin typeface="Calibir"/>
              </a:rPr>
              <a:t>                }</a:t>
            </a:r>
          </a:p>
          <a:p>
            <a:r>
              <a:rPr lang="en-US" sz="1100" dirty="0">
                <a:highlight>
                  <a:srgbClr val="FFFF00"/>
                </a:highlight>
                <a:latin typeface="Calibir"/>
              </a:rPr>
              <a:t>            }</a:t>
            </a:r>
          </a:p>
          <a:p>
            <a:r>
              <a:rPr lang="en-US" sz="1100" dirty="0">
                <a:highlight>
                  <a:srgbClr val="FFFF00"/>
                </a:highlight>
                <a:latin typeface="Calibir"/>
              </a:rPr>
              <a:t>        }</a:t>
            </a:r>
          </a:p>
          <a:p>
            <a:r>
              <a:rPr lang="en-US" sz="1100" dirty="0">
                <a:highlight>
                  <a:srgbClr val="FFFF00"/>
                </a:highlight>
                <a:latin typeface="Calibir"/>
              </a:rPr>
              <a:t>        if (!</a:t>
            </a:r>
            <a:r>
              <a:rPr lang="en-US" sz="1100" dirty="0" err="1">
                <a:highlight>
                  <a:srgbClr val="FFFF00"/>
                </a:highlight>
                <a:latin typeface="Calibir"/>
              </a:rPr>
              <a:t>firstValue</a:t>
            </a:r>
            <a:r>
              <a:rPr lang="en-US" sz="1100" dirty="0">
                <a:highlight>
                  <a:srgbClr val="FFFF00"/>
                </a:highlight>
                <a:latin typeface="Calibir"/>
              </a:rPr>
              <a:t>) {</a:t>
            </a:r>
          </a:p>
          <a:p>
            <a:r>
              <a:rPr lang="en-US" sz="11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1100" dirty="0" err="1">
                <a:highlight>
                  <a:srgbClr val="FFFF00"/>
                </a:highlight>
                <a:latin typeface="Calibir"/>
              </a:rPr>
              <a:t>System.out.println</a:t>
            </a:r>
            <a:r>
              <a:rPr lang="en-US" sz="11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1100" dirty="0">
                <a:highlight>
                  <a:srgbClr val="FFFF00"/>
                </a:highlight>
                <a:latin typeface="Calibir"/>
              </a:rPr>
              <a:t>                "Minimum: " + minimum</a:t>
            </a:r>
          </a:p>
          <a:p>
            <a:r>
              <a:rPr lang="en-US" sz="1100" dirty="0">
                <a:highlight>
                  <a:srgbClr val="FFFF00"/>
                </a:highlight>
                <a:latin typeface="Calibir"/>
              </a:rPr>
              <a:t>            );</a:t>
            </a:r>
          </a:p>
          <a:p>
            <a:r>
              <a:rPr lang="en-US" sz="11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1100" dirty="0" err="1">
                <a:highlight>
                  <a:srgbClr val="FFFF00"/>
                </a:highlight>
                <a:latin typeface="Calibir"/>
              </a:rPr>
              <a:t>System.out.println</a:t>
            </a:r>
            <a:r>
              <a:rPr lang="en-US" sz="11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1100" dirty="0">
                <a:highlight>
                  <a:srgbClr val="FFFF00"/>
                </a:highlight>
                <a:latin typeface="Calibir"/>
              </a:rPr>
              <a:t>                "Maximum: " + maximum</a:t>
            </a:r>
          </a:p>
          <a:p>
            <a:r>
              <a:rPr lang="en-US" sz="1100" dirty="0">
                <a:highlight>
                  <a:srgbClr val="FFFF00"/>
                </a:highlight>
                <a:latin typeface="Calibir"/>
              </a:rPr>
              <a:t>            );</a:t>
            </a:r>
          </a:p>
          <a:p>
            <a:r>
              <a:rPr lang="en-US" sz="1100" dirty="0">
                <a:highlight>
                  <a:srgbClr val="FFFF00"/>
                </a:highlight>
                <a:latin typeface="Calibir"/>
              </a:rPr>
              <a:t>        } else {</a:t>
            </a:r>
          </a:p>
          <a:p>
            <a:r>
              <a:rPr lang="en-US" sz="11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1100" dirty="0" err="1">
                <a:highlight>
                  <a:srgbClr val="FFFF00"/>
                </a:highlight>
                <a:latin typeface="Calibir"/>
              </a:rPr>
              <a:t>System.out.println</a:t>
            </a:r>
            <a:r>
              <a:rPr lang="en-US" sz="11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1100" dirty="0">
                <a:highlight>
                  <a:srgbClr val="FFFF00"/>
                </a:highlight>
                <a:latin typeface="Calibir"/>
              </a:rPr>
              <a:t>                "No values entered."</a:t>
            </a:r>
          </a:p>
          <a:p>
            <a:r>
              <a:rPr lang="en-US" sz="1100" dirty="0">
                <a:highlight>
                  <a:srgbClr val="FFFF00"/>
                </a:highlight>
                <a:latin typeface="Calibir"/>
              </a:rPr>
              <a:t>            );</a:t>
            </a:r>
          </a:p>
          <a:p>
            <a:r>
              <a:rPr lang="en-US" sz="1100" dirty="0">
                <a:highlight>
                  <a:srgbClr val="FFFF00"/>
                </a:highlight>
                <a:latin typeface="Calibir"/>
              </a:rPr>
              <a:t>        }</a:t>
            </a:r>
          </a:p>
          <a:p>
            <a:r>
              <a:rPr lang="en-US" sz="11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100" dirty="0" err="1">
                <a:highlight>
                  <a:srgbClr val="FFFF00"/>
                </a:highlight>
                <a:latin typeface="Calibir"/>
              </a:rPr>
              <a:t>input.close</a:t>
            </a:r>
            <a:r>
              <a:rPr lang="en-US" sz="1100" dirty="0">
                <a:highlight>
                  <a:srgbClr val="FFFF00"/>
                </a:highlight>
                <a:latin typeface="Calibir"/>
              </a:rPr>
              <a:t>();</a:t>
            </a:r>
          </a:p>
          <a:p>
            <a:r>
              <a:rPr lang="en-US" sz="1100" dirty="0">
                <a:highlight>
                  <a:srgbClr val="FFFF00"/>
                </a:highlight>
                <a:latin typeface="Calibir"/>
              </a:rPr>
              <a:t>    }</a:t>
            </a:r>
          </a:p>
          <a:p>
            <a:r>
              <a:rPr lang="en-US" sz="1100" dirty="0">
                <a:highlight>
                  <a:srgbClr val="FFFF00"/>
                </a:highlight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6322236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3FE0C017-4F14-E49E-A1AB-D1A1AE7B21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3628"/>
            <a:ext cx="11362267" cy="11091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 dirty="0"/>
              <a:t>Lab 4 Exercises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980C27-948C-5A74-3794-543E81ADB7CC}"/>
              </a:ext>
            </a:extLst>
          </p:cNvPr>
          <p:cNvSpPr txBox="1"/>
          <p:nvPr/>
        </p:nvSpPr>
        <p:spPr>
          <a:xfrm>
            <a:off x="829734" y="1105506"/>
            <a:ext cx="11004265" cy="3901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Economica" panose="020B0604020202020204" charset="0"/>
              </a:rPr>
              <a:t>Exercise 5: 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Economica" panose="020B0604020202020204" charset="0"/>
              </a:rPr>
              <a:t>Write a program called </a:t>
            </a:r>
            <a:r>
              <a:rPr lang="en-GB" sz="2400" b="1" dirty="0">
                <a:latin typeface="Economica" panose="020B0604020202020204" charset="0"/>
              </a:rPr>
              <a:t>Lab4Exc5</a:t>
            </a:r>
            <a:r>
              <a:rPr lang="en-GB" sz="2400" dirty="0">
                <a:latin typeface="Economica" panose="020B0604020202020204" charset="0"/>
              </a:rPr>
              <a:t> with the following operations:</a:t>
            </a:r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Economica" panose="020B0604020202020204" charset="0"/>
              </a:rPr>
              <a:t>Add all even numbers from 1 up to n and print the sum, where the value of n is entered from keyboard. </a:t>
            </a:r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Economica" panose="020B0604020202020204" charset="0"/>
              </a:rPr>
              <a:t>The program should print the even-sum of every entered n.</a:t>
            </a:r>
          </a:p>
          <a:p>
            <a:pPr>
              <a:lnSpc>
                <a:spcPct val="150000"/>
              </a:lnSpc>
            </a:pPr>
            <a:r>
              <a:rPr lang="en-GB" sz="2400" u="sng" dirty="0">
                <a:latin typeface="Economica" panose="020B0604020202020204" charset="0"/>
              </a:rPr>
              <a:t>NOTE:</a:t>
            </a:r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Economica" panose="020B0604020202020204" charset="0"/>
              </a:rPr>
              <a:t>The program stops taking inputs from keyboard when -1 is entered.</a:t>
            </a:r>
          </a:p>
        </p:txBody>
      </p:sp>
    </p:spTree>
    <p:extLst>
      <p:ext uri="{BB962C8B-B14F-4D97-AF65-F5344CB8AC3E}">
        <p14:creationId xmlns:p14="http://schemas.microsoft.com/office/powerpoint/2010/main" val="178714813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8263C649-CE7D-D326-4CE1-B0AD202DF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B31E8A6E-6AFD-6F6F-610E-32E89A10132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79641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900" b="1" dirty="0">
                <a:latin typeface="Calibir"/>
              </a:rPr>
              <a:t>Exercise 5 — Sum Even Numbers from 1 to n</a:t>
            </a:r>
            <a:endParaRPr sz="3900" b="1" dirty="0">
              <a:latin typeface="Calibi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BCFDA4-9166-1D41-7BD6-B7E39325CAAB}"/>
              </a:ext>
            </a:extLst>
          </p:cNvPr>
          <p:cNvSpPr txBox="1"/>
          <p:nvPr/>
        </p:nvSpPr>
        <p:spPr>
          <a:xfrm>
            <a:off x="0" y="796413"/>
            <a:ext cx="11004265" cy="4549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For example: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n = 10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Even numbers are: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2 + 4 + 6 + 8 + 10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Result: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30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program repeats until -1.</a:t>
            </a:r>
          </a:p>
        </p:txBody>
      </p:sp>
    </p:spTree>
    <p:extLst>
      <p:ext uri="{BB962C8B-B14F-4D97-AF65-F5344CB8AC3E}">
        <p14:creationId xmlns:p14="http://schemas.microsoft.com/office/powerpoint/2010/main" val="101864854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174E4A09-53CA-3123-258D-A2243D733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EA5C8379-97DD-B183-4470-2DF530CA92F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79641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900" b="1" dirty="0">
                <a:latin typeface="Calibir"/>
              </a:rPr>
              <a:t>Exercise 5 — Sum Even Numbers from 1 to n</a:t>
            </a:r>
            <a:endParaRPr sz="3900" b="1" dirty="0">
              <a:latin typeface="Calibi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A02F0D-C565-9863-C4D8-5F40B485F892}"/>
              </a:ext>
            </a:extLst>
          </p:cNvPr>
          <p:cNvSpPr txBox="1"/>
          <p:nvPr/>
        </p:nvSpPr>
        <p:spPr>
          <a:xfrm>
            <a:off x="0" y="796413"/>
            <a:ext cx="11004265" cy="4549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Python — Step 1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total = 0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2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Visit only even values: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for number in range(2, n + 1, 2):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final 2 means: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Increase by 2 each time.</a:t>
            </a:r>
          </a:p>
        </p:txBody>
      </p:sp>
    </p:spTree>
    <p:extLst>
      <p:ext uri="{BB962C8B-B14F-4D97-AF65-F5344CB8AC3E}">
        <p14:creationId xmlns:p14="http://schemas.microsoft.com/office/powerpoint/2010/main" val="142821267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F54378EF-457E-8496-4BE9-70A2E90D8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3D0EBFA1-018B-D4D3-3AC3-D3C3A666A34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79641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900" b="1" dirty="0">
                <a:latin typeface="Calibir"/>
              </a:rPr>
              <a:t>Exercise 5 — Sum Even Numbers from 1 to n</a:t>
            </a:r>
            <a:endParaRPr sz="3900" b="1" dirty="0">
              <a:latin typeface="Calibi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89DE97-2A75-44CC-DE78-28EE104D3191}"/>
              </a:ext>
            </a:extLst>
          </p:cNvPr>
          <p:cNvSpPr txBox="1"/>
          <p:nvPr/>
        </p:nvSpPr>
        <p:spPr>
          <a:xfrm>
            <a:off x="0" y="796413"/>
            <a:ext cx="11004265" cy="5450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Calibir"/>
              </a:rPr>
              <a:t>Completed Python — Lab4Exc5.py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while True: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n = int(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input("Enter n (-1 to stop): ")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)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if n == -1: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break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even_sum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 = 0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for number in range(2, n + 1, 2):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even_sum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 += number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print(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f"Even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 sum up to {n}: {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even_sum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}"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)</a:t>
            </a:r>
          </a:p>
        </p:txBody>
      </p:sp>
    </p:spTree>
    <p:extLst>
      <p:ext uri="{BB962C8B-B14F-4D97-AF65-F5344CB8AC3E}">
        <p14:creationId xmlns:p14="http://schemas.microsoft.com/office/powerpoint/2010/main" val="124637635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B433CBFD-F581-4E37-339B-7224C6DB5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6A5D7006-1C86-A834-C3D1-ED6270B162C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79641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900" b="1" dirty="0">
                <a:latin typeface="Calibir"/>
              </a:rPr>
              <a:t>Exercise 5 — Sum Even Numbers from 1 to n</a:t>
            </a:r>
            <a:endParaRPr sz="3900" b="1" dirty="0">
              <a:latin typeface="Calibi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CB38C0-50BA-0682-DDE0-9FCD238E2B07}"/>
              </a:ext>
            </a:extLst>
          </p:cNvPr>
          <p:cNvSpPr txBox="1"/>
          <p:nvPr/>
        </p:nvSpPr>
        <p:spPr>
          <a:xfrm>
            <a:off x="0" y="899652"/>
            <a:ext cx="11004265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ir"/>
              </a:rPr>
              <a:t>Java — Completed Solution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import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java.util.Scanner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;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public class Lab4Exc5 {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public static void main(String[]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args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) {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Scanner input = new Scanner(System.in);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while (true) {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System.out.print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    "Enter n (-1 to stop): "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);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int n =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input.nextInt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();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if (n == -1) {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    break;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}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int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evenSum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 = 0;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for (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    int number = 2;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    number &lt;= n;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    number += 2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) {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evenSum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 += number;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}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System.out.println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    "Even sum up to "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    + n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    + ": "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    +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evenSum</a:t>
            </a:r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);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}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input.close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();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}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5342200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3FE0C017-4F14-E49E-A1AB-D1A1AE7B21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11091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 dirty="0"/>
              <a:t>Lab 4 Exercises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980C27-948C-5A74-3794-543E81ADB7CC}"/>
              </a:ext>
            </a:extLst>
          </p:cNvPr>
          <p:cNvSpPr txBox="1"/>
          <p:nvPr/>
        </p:nvSpPr>
        <p:spPr>
          <a:xfrm>
            <a:off x="593868" y="1109134"/>
            <a:ext cx="11004265" cy="2793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Economica" panose="020B0604020202020204" charset="0"/>
              </a:rPr>
              <a:t>Exercise 6: 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Economica" panose="020B0604020202020204" charset="0"/>
              </a:rPr>
              <a:t>Write a program called </a:t>
            </a:r>
            <a:r>
              <a:rPr lang="en-GB" sz="2400" b="1" dirty="0">
                <a:latin typeface="Economica" panose="020B0604020202020204" charset="0"/>
              </a:rPr>
              <a:t>Lab4Exc6</a:t>
            </a:r>
            <a:r>
              <a:rPr lang="en-GB" sz="2400" dirty="0">
                <a:latin typeface="Economica" panose="020B0604020202020204" charset="0"/>
              </a:rPr>
              <a:t> with the following operations:</a:t>
            </a:r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Economica" panose="020B0604020202020204" charset="0"/>
              </a:rPr>
              <a:t>Generate a random number of seed 10, n times (n is entered from keyboard). </a:t>
            </a:r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Economica" panose="020B0604020202020204" charset="0"/>
              </a:rPr>
              <a:t>Calculate and show the even-sum of the random numbers.</a:t>
            </a:r>
          </a:p>
          <a:p>
            <a:pPr>
              <a:lnSpc>
                <a:spcPct val="150000"/>
              </a:lnSpc>
            </a:pPr>
            <a:endParaRPr lang="en-GB" sz="2400" dirty="0">
              <a:solidFill>
                <a:schemeClr val="accent6">
                  <a:lumMod val="75000"/>
                </a:schemeClr>
              </a:solidFill>
              <a:latin typeface="Economic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24355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71A12DDB-328B-AAF1-EAA8-069D9D741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4BF97FE5-90E8-693B-BBEE-01710262D5D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79641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900" b="1" dirty="0">
                <a:latin typeface="Calibir"/>
              </a:rPr>
              <a:t>Exercise 6 — Seeded Random Numbers and Even Sum</a:t>
            </a:r>
            <a:endParaRPr sz="3900" b="1" dirty="0">
              <a:latin typeface="Calibi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7338F6-AAA3-5CA3-8D4D-5C7441513601}"/>
              </a:ext>
            </a:extLst>
          </p:cNvPr>
          <p:cNvSpPr txBox="1"/>
          <p:nvPr/>
        </p:nvSpPr>
        <p:spPr>
          <a:xfrm>
            <a:off x="0" y="899652"/>
            <a:ext cx="11004265" cy="584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Important clarification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task says: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Generate a random number of seed 10, n times.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This normally means: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Create a random-number generator using </a:t>
            </a:r>
            <a:r>
              <a:rPr lang="en-US" sz="2800" b="1" dirty="0">
                <a:latin typeface="Calibir"/>
              </a:rPr>
              <a:t>seed 10</a:t>
            </a:r>
            <a:r>
              <a:rPr lang="en-US" sz="2800" dirty="0">
                <a:latin typeface="Calibir"/>
              </a:rPr>
              <a:t>, then generate n random numbers.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 seed makes the random sequence repeatable.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range was not supplied, so below I use: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0–99</a:t>
            </a:r>
          </a:p>
        </p:txBody>
      </p:sp>
    </p:spTree>
    <p:extLst>
      <p:ext uri="{BB962C8B-B14F-4D97-AF65-F5344CB8AC3E}">
        <p14:creationId xmlns:p14="http://schemas.microsoft.com/office/powerpoint/2010/main" val="78784111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67CF99D3-18D2-D7D2-B574-97EC1BF7E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05450709-8D80-3696-A7B1-F85D54AB515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79641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900" b="1" dirty="0">
                <a:latin typeface="Calibir"/>
              </a:rPr>
              <a:t>Exercise 6 — Seeded Random Numbers and Even Sum</a:t>
            </a:r>
            <a:endParaRPr sz="3900" b="1" dirty="0">
              <a:latin typeface="Calibi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D3FB35-9133-24CB-DDD1-0FACE65D885E}"/>
              </a:ext>
            </a:extLst>
          </p:cNvPr>
          <p:cNvSpPr txBox="1"/>
          <p:nvPr/>
        </p:nvSpPr>
        <p:spPr>
          <a:xfrm>
            <a:off x="0" y="899652"/>
            <a:ext cx="11004265" cy="584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Python — Step 1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highlight>
                  <a:srgbClr val="FFFF00"/>
                </a:highlight>
                <a:latin typeface="Calibir"/>
              </a:rPr>
              <a:t>random.seed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(10)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This initializes the generator with seed 10.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2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number =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random.randint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(0, 99)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3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Check whether it is even: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if number % 2 == 0: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even_sum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+= number</a:t>
            </a:r>
          </a:p>
        </p:txBody>
      </p:sp>
    </p:spTree>
    <p:extLst>
      <p:ext uri="{BB962C8B-B14F-4D97-AF65-F5344CB8AC3E}">
        <p14:creationId xmlns:p14="http://schemas.microsoft.com/office/powerpoint/2010/main" val="341218832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FEEBAAB1-0B6B-D623-4AF0-574A3A695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B4B375E6-5A99-002D-7B2C-E6976742CD2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79641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900" b="1" dirty="0">
                <a:latin typeface="Calibir"/>
              </a:rPr>
              <a:t>Exercise 6 — Seeded Random Numbers and Even Sum</a:t>
            </a:r>
            <a:endParaRPr sz="3900" b="1" dirty="0">
              <a:latin typeface="Calibi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AA2336-3A5D-A7DA-7C97-828765ADD441}"/>
              </a:ext>
            </a:extLst>
          </p:cNvPr>
          <p:cNvSpPr txBox="1"/>
          <p:nvPr/>
        </p:nvSpPr>
        <p:spPr>
          <a:xfrm>
            <a:off x="0" y="899652"/>
            <a:ext cx="11004265" cy="5961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Calibir"/>
              </a:rPr>
              <a:t>Completed Python — Lab4Exc6.py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highlight>
                  <a:srgbClr val="FFFF00"/>
                </a:highlight>
                <a:latin typeface="Calibir"/>
              </a:rPr>
              <a:t>import random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highlight>
                  <a:srgbClr val="FFFF00"/>
                </a:highlight>
                <a:latin typeface="Calibir"/>
              </a:rPr>
              <a:t>n = int(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highlight>
                  <a:srgbClr val="FFFF00"/>
                </a:highlight>
                <a:latin typeface="Calibir"/>
              </a:rPr>
              <a:t>    input("How many random numbers? ")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highlight>
                  <a:srgbClr val="FFFF00"/>
                </a:highlight>
                <a:latin typeface="Calibir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700" dirty="0" err="1">
                <a:highlight>
                  <a:srgbClr val="FFFF00"/>
                </a:highlight>
                <a:latin typeface="Calibir"/>
              </a:rPr>
              <a:t>random.seed</a:t>
            </a:r>
            <a:r>
              <a:rPr lang="en-US" sz="1700" dirty="0">
                <a:highlight>
                  <a:srgbClr val="FFFF00"/>
                </a:highlight>
                <a:latin typeface="Calibir"/>
              </a:rPr>
              <a:t>(10)</a:t>
            </a:r>
          </a:p>
          <a:p>
            <a:pPr>
              <a:lnSpc>
                <a:spcPct val="150000"/>
              </a:lnSpc>
            </a:pPr>
            <a:r>
              <a:rPr lang="en-US" sz="1700" dirty="0" err="1">
                <a:highlight>
                  <a:srgbClr val="FFFF00"/>
                </a:highlight>
                <a:latin typeface="Calibir"/>
              </a:rPr>
              <a:t>even_sum</a:t>
            </a:r>
            <a:r>
              <a:rPr lang="en-US" sz="1700" dirty="0">
                <a:highlight>
                  <a:srgbClr val="FFFF00"/>
                </a:highlight>
                <a:latin typeface="Calibir"/>
              </a:rPr>
              <a:t> = 0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highlight>
                  <a:srgbClr val="FFFF00"/>
                </a:highlight>
                <a:latin typeface="Calibir"/>
              </a:rPr>
              <a:t>for </a:t>
            </a:r>
            <a:r>
              <a:rPr lang="en-US" sz="1700" dirty="0" err="1">
                <a:highlight>
                  <a:srgbClr val="FFFF00"/>
                </a:highlight>
                <a:latin typeface="Calibir"/>
              </a:rPr>
              <a:t>i</a:t>
            </a:r>
            <a:r>
              <a:rPr lang="en-US" sz="1700" dirty="0">
                <a:highlight>
                  <a:srgbClr val="FFFF00"/>
                </a:highlight>
                <a:latin typeface="Calibir"/>
              </a:rPr>
              <a:t> in range(n):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highlight>
                  <a:srgbClr val="FFFF00"/>
                </a:highlight>
                <a:latin typeface="Calibir"/>
              </a:rPr>
              <a:t>    number = </a:t>
            </a:r>
            <a:r>
              <a:rPr lang="en-US" sz="1700" dirty="0" err="1">
                <a:highlight>
                  <a:srgbClr val="FFFF00"/>
                </a:highlight>
                <a:latin typeface="Calibir"/>
              </a:rPr>
              <a:t>random.randint</a:t>
            </a:r>
            <a:r>
              <a:rPr lang="en-US" sz="1700" dirty="0">
                <a:highlight>
                  <a:srgbClr val="FFFF00"/>
                </a:highlight>
                <a:latin typeface="Calibir"/>
              </a:rPr>
              <a:t>(0, 99)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highlight>
                  <a:srgbClr val="FFFF00"/>
                </a:highlight>
                <a:latin typeface="Calibir"/>
              </a:rPr>
              <a:t>    print(number)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highlight>
                  <a:srgbClr val="FFFF00"/>
                </a:highlight>
                <a:latin typeface="Calibir"/>
              </a:rPr>
              <a:t>    if number % 2 == 0: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700" dirty="0" err="1">
                <a:highlight>
                  <a:srgbClr val="FFFF00"/>
                </a:highlight>
                <a:latin typeface="Calibir"/>
              </a:rPr>
              <a:t>even_sum</a:t>
            </a:r>
            <a:r>
              <a:rPr lang="en-US" sz="1700" dirty="0">
                <a:highlight>
                  <a:srgbClr val="FFFF00"/>
                </a:highlight>
                <a:latin typeface="Calibir"/>
              </a:rPr>
              <a:t> += number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highlight>
                  <a:srgbClr val="FFFF00"/>
                </a:highlight>
                <a:latin typeface="Calibir"/>
              </a:rPr>
              <a:t>print(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highlight>
                  <a:srgbClr val="FFFF00"/>
                </a:highlight>
                <a:latin typeface="Calibir"/>
              </a:rPr>
              <a:t>    "Even sum:", </a:t>
            </a:r>
            <a:r>
              <a:rPr lang="en-US" sz="1700" dirty="0" err="1">
                <a:highlight>
                  <a:srgbClr val="FFFF00"/>
                </a:highlight>
                <a:latin typeface="Calibir"/>
              </a:rPr>
              <a:t>even_sum</a:t>
            </a:r>
            <a:endParaRPr lang="en-US" sz="1700" dirty="0">
              <a:highlight>
                <a:srgbClr val="FFFF00"/>
              </a:highlight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highlight>
                  <a:srgbClr val="FFFF00"/>
                </a:highlight>
                <a:latin typeface="Calibir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2322670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642A3E5A-92E7-C318-250B-AA66CF7FE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CC0FFC-38A8-980E-1A00-A3F44E70CCEA}"/>
              </a:ext>
            </a:extLst>
          </p:cNvPr>
          <p:cNvSpPr txBox="1"/>
          <p:nvPr/>
        </p:nvSpPr>
        <p:spPr>
          <a:xfrm>
            <a:off x="0" y="899652"/>
            <a:ext cx="3790335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Calibir"/>
              </a:rPr>
              <a:t>Java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alibir"/>
              </a:rPr>
              <a:t>Create the seeded generator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Random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random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 = new Random(10);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FD375B-0935-8F69-4996-CA928E94BF9A}"/>
              </a:ext>
            </a:extLst>
          </p:cNvPr>
          <p:cNvSpPr txBox="1"/>
          <p:nvPr/>
        </p:nvSpPr>
        <p:spPr>
          <a:xfrm>
            <a:off x="6315816" y="234689"/>
            <a:ext cx="6186948" cy="6667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>
                <a:latin typeface="Calibir"/>
              </a:rPr>
              <a:t>import </a:t>
            </a:r>
            <a:r>
              <a:rPr lang="en-US" sz="1100" dirty="0" err="1">
                <a:latin typeface="Calibir"/>
              </a:rPr>
              <a:t>java.util.Random</a:t>
            </a:r>
            <a:r>
              <a:rPr lang="en-US" sz="1100" dirty="0">
                <a:latin typeface="Calibir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latin typeface="Calibir"/>
              </a:rPr>
              <a:t>import </a:t>
            </a:r>
            <a:r>
              <a:rPr lang="en-US" sz="1100" dirty="0" err="1">
                <a:latin typeface="Calibir"/>
              </a:rPr>
              <a:t>java.util.Scanner</a:t>
            </a:r>
            <a:r>
              <a:rPr lang="en-US" sz="1100" dirty="0">
                <a:latin typeface="Calibir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latin typeface="Calibir"/>
              </a:rPr>
              <a:t>public class Lab4Exc6 {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latin typeface="Calibir"/>
              </a:rPr>
              <a:t>    public static void main(String[] </a:t>
            </a:r>
            <a:r>
              <a:rPr lang="en-US" sz="1100" dirty="0" err="1">
                <a:latin typeface="Calibir"/>
              </a:rPr>
              <a:t>args</a:t>
            </a:r>
            <a:r>
              <a:rPr lang="en-US" sz="1100" dirty="0">
                <a:latin typeface="Calibir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latin typeface="Calibir"/>
              </a:rPr>
              <a:t>        Scanner input = new Scanner(System.in);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latin typeface="Calibir"/>
              </a:rPr>
              <a:t>        </a:t>
            </a:r>
            <a:r>
              <a:rPr lang="en-US" sz="1100" dirty="0" err="1">
                <a:latin typeface="Calibir"/>
              </a:rPr>
              <a:t>System.out.print</a:t>
            </a:r>
            <a:r>
              <a:rPr lang="en-US" sz="1100" dirty="0"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latin typeface="Calibir"/>
              </a:rPr>
              <a:t>            "How many random numbers? "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latin typeface="Calibir"/>
              </a:rPr>
              <a:t>        );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latin typeface="Calibir"/>
              </a:rPr>
              <a:t>        int n = </a:t>
            </a:r>
            <a:r>
              <a:rPr lang="en-US" sz="1100" dirty="0" err="1">
                <a:latin typeface="Calibir"/>
              </a:rPr>
              <a:t>input.nextInt</a:t>
            </a:r>
            <a:r>
              <a:rPr lang="en-US" sz="1100" dirty="0"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latin typeface="Calibir"/>
              </a:rPr>
              <a:t>        Random </a:t>
            </a:r>
            <a:r>
              <a:rPr lang="en-US" sz="1100" dirty="0" err="1">
                <a:latin typeface="Calibir"/>
              </a:rPr>
              <a:t>random</a:t>
            </a:r>
            <a:r>
              <a:rPr lang="en-US" sz="1100" dirty="0">
                <a:latin typeface="Calibir"/>
              </a:rPr>
              <a:t> =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latin typeface="Calibir"/>
              </a:rPr>
              <a:t>            new Random(10);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latin typeface="Calibir"/>
              </a:rPr>
              <a:t>        int </a:t>
            </a:r>
            <a:r>
              <a:rPr lang="en-US" sz="1100" dirty="0" err="1">
                <a:latin typeface="Calibir"/>
              </a:rPr>
              <a:t>evenSum</a:t>
            </a:r>
            <a:r>
              <a:rPr lang="en-US" sz="1100" dirty="0">
                <a:latin typeface="Calibir"/>
              </a:rPr>
              <a:t> = 0;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latin typeface="Calibir"/>
              </a:rPr>
              <a:t>        for (int </a:t>
            </a:r>
            <a:r>
              <a:rPr lang="en-US" sz="1100" dirty="0" err="1">
                <a:latin typeface="Calibir"/>
              </a:rPr>
              <a:t>i</a:t>
            </a:r>
            <a:r>
              <a:rPr lang="en-US" sz="1100" dirty="0">
                <a:latin typeface="Calibir"/>
              </a:rPr>
              <a:t> = 0; </a:t>
            </a:r>
            <a:r>
              <a:rPr lang="en-US" sz="1100" dirty="0" err="1">
                <a:latin typeface="Calibir"/>
              </a:rPr>
              <a:t>i</a:t>
            </a:r>
            <a:r>
              <a:rPr lang="en-US" sz="1100" dirty="0">
                <a:latin typeface="Calibir"/>
              </a:rPr>
              <a:t> &lt; n; </a:t>
            </a:r>
            <a:r>
              <a:rPr lang="en-US" sz="1100" dirty="0" err="1">
                <a:latin typeface="Calibir"/>
              </a:rPr>
              <a:t>i</a:t>
            </a:r>
            <a:r>
              <a:rPr lang="en-US" sz="1100" dirty="0">
                <a:latin typeface="Calibir"/>
              </a:rPr>
              <a:t>++) {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latin typeface="Calibir"/>
              </a:rPr>
              <a:t>            int number =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latin typeface="Calibir"/>
              </a:rPr>
              <a:t>                </a:t>
            </a:r>
            <a:r>
              <a:rPr lang="en-US" sz="1100" dirty="0" err="1">
                <a:latin typeface="Calibir"/>
              </a:rPr>
              <a:t>random.nextInt</a:t>
            </a:r>
            <a:r>
              <a:rPr lang="en-US" sz="1100" dirty="0">
                <a:latin typeface="Calibir"/>
              </a:rPr>
              <a:t>(100);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latin typeface="Calibir"/>
              </a:rPr>
              <a:t>            </a:t>
            </a:r>
            <a:r>
              <a:rPr lang="en-US" sz="1100" dirty="0" err="1">
                <a:latin typeface="Calibir"/>
              </a:rPr>
              <a:t>System.out.println</a:t>
            </a:r>
            <a:r>
              <a:rPr lang="en-US" sz="1100" dirty="0">
                <a:latin typeface="Calibir"/>
              </a:rPr>
              <a:t>(number);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latin typeface="Calibir"/>
              </a:rPr>
              <a:t>            if (number % 2 == 0) {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latin typeface="Calibir"/>
              </a:rPr>
              <a:t>                </a:t>
            </a:r>
            <a:r>
              <a:rPr lang="en-US" sz="1100" dirty="0" err="1">
                <a:latin typeface="Calibir"/>
              </a:rPr>
              <a:t>evenSum</a:t>
            </a:r>
            <a:r>
              <a:rPr lang="en-US" sz="1100" dirty="0">
                <a:latin typeface="Calibir"/>
              </a:rPr>
              <a:t> += number;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latin typeface="Calibir"/>
              </a:rPr>
              <a:t>            }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latin typeface="Calibir"/>
              </a:rPr>
              <a:t>        }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latin typeface="Calibir"/>
              </a:rPr>
              <a:t>        </a:t>
            </a:r>
            <a:r>
              <a:rPr lang="en-US" sz="1100" dirty="0" err="1">
                <a:latin typeface="Calibir"/>
              </a:rPr>
              <a:t>System.out.println</a:t>
            </a:r>
            <a:r>
              <a:rPr lang="en-US" sz="1100" dirty="0"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latin typeface="Calibir"/>
              </a:rPr>
              <a:t>            "Even sum: " + </a:t>
            </a:r>
            <a:r>
              <a:rPr lang="en-US" sz="1100" dirty="0" err="1">
                <a:latin typeface="Calibir"/>
              </a:rPr>
              <a:t>evenSum</a:t>
            </a:r>
            <a:endParaRPr lang="en-US" sz="11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latin typeface="Calibir"/>
              </a:rPr>
              <a:t>        );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latin typeface="Calibir"/>
              </a:rPr>
              <a:t>        </a:t>
            </a:r>
            <a:r>
              <a:rPr lang="en-US" sz="1100" dirty="0" err="1">
                <a:latin typeface="Calibir"/>
              </a:rPr>
              <a:t>input.close</a:t>
            </a:r>
            <a:r>
              <a:rPr lang="en-US" sz="1100" dirty="0"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latin typeface="Calibir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latin typeface="Calibir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09E680-9602-B652-FF8D-E0C604BDA7B1}"/>
              </a:ext>
            </a:extLst>
          </p:cNvPr>
          <p:cNvSpPr txBox="1"/>
          <p:nvPr/>
        </p:nvSpPr>
        <p:spPr>
          <a:xfrm>
            <a:off x="8750109" y="0"/>
            <a:ext cx="627813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latin typeface="Calibir"/>
              </a:rPr>
              <a:t>Completed Java — Lab4Exc6.java</a:t>
            </a:r>
          </a:p>
        </p:txBody>
      </p:sp>
    </p:spTree>
    <p:extLst>
      <p:ext uri="{BB962C8B-B14F-4D97-AF65-F5344CB8AC3E}">
        <p14:creationId xmlns:p14="http://schemas.microsoft.com/office/powerpoint/2010/main" val="264111987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3FE0C017-4F14-E49E-A1AB-D1A1AE7B21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11091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 dirty="0"/>
              <a:t>Lab 4 Exercises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980C27-948C-5A74-3794-543E81ADB7CC}"/>
              </a:ext>
            </a:extLst>
          </p:cNvPr>
          <p:cNvSpPr txBox="1"/>
          <p:nvPr/>
        </p:nvSpPr>
        <p:spPr>
          <a:xfrm>
            <a:off x="593868" y="1109134"/>
            <a:ext cx="11004265" cy="5009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Economica" panose="020B0604020202020204" charset="0"/>
              </a:rPr>
              <a:t>Exercise 7: 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Economica" panose="020B0604020202020204" charset="0"/>
              </a:rPr>
              <a:t>Write a program called </a:t>
            </a:r>
            <a:r>
              <a:rPr lang="en-GB" sz="2400" b="1" dirty="0">
                <a:latin typeface="Economica" panose="020B0604020202020204" charset="0"/>
              </a:rPr>
              <a:t>Lab4Exc7</a:t>
            </a:r>
            <a:r>
              <a:rPr lang="en-GB" sz="2400" dirty="0">
                <a:latin typeface="Economica" panose="020B0604020202020204" charset="0"/>
              </a:rPr>
              <a:t> with the following operations:</a:t>
            </a:r>
          </a:p>
          <a:p>
            <a:pPr marL="457189" indent="-45718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Economica" panose="020B0604020202020204" charset="0"/>
              </a:rPr>
              <a:t>Read characters from keyboard until dot (.) is entered</a:t>
            </a:r>
          </a:p>
          <a:p>
            <a:pPr marL="457189" indent="-45718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Economica" panose="020B0604020202020204" charset="0"/>
              </a:rPr>
              <a:t>Count the number of vowels entered</a:t>
            </a:r>
          </a:p>
          <a:p>
            <a:pPr marL="457189" indent="-45718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Economica" panose="020B0604020202020204" charset="0"/>
              </a:rPr>
              <a:t>Both uppercase and lowercase vowels should be counted</a:t>
            </a:r>
          </a:p>
          <a:p>
            <a:pPr marL="457189" indent="-45718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Economica" panose="020B0604020202020204" charset="0"/>
              </a:rPr>
              <a:t>Display the total vowel count</a:t>
            </a:r>
          </a:p>
          <a:p>
            <a:pPr>
              <a:lnSpc>
                <a:spcPct val="150000"/>
              </a:lnSpc>
            </a:pPr>
            <a:r>
              <a:rPr lang="en-US" sz="2400" u="sng" dirty="0">
                <a:latin typeface="Economica" panose="020B0604020202020204" charset="0"/>
              </a:rPr>
              <a:t>NOTE:</a:t>
            </a:r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Economica" panose="020B0604020202020204" charset="0"/>
              </a:rPr>
              <a:t>The program stops when . is entered from keyboard</a:t>
            </a:r>
          </a:p>
          <a:p>
            <a:pPr marL="457189" indent="-457189">
              <a:lnSpc>
                <a:spcPct val="150000"/>
              </a:lnSpc>
              <a:buFont typeface="+mj-lt"/>
              <a:buAutoNum type="arabicPeriod"/>
            </a:pPr>
            <a:endParaRPr lang="en-US" sz="2400" dirty="0">
              <a:latin typeface="Economic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55183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899EFC8D-BFB2-96AE-00DA-3A7719524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10C0544E-7463-33BB-3F05-A9B4D9FD138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79641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900" b="1" dirty="0">
                <a:latin typeface="Calibir"/>
              </a:rPr>
              <a:t>Exercise 7 — Count Vowels Until Dot</a:t>
            </a:r>
            <a:endParaRPr sz="3900" b="1" dirty="0">
              <a:latin typeface="Calibi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1EECE0-586E-4411-D8BA-83307C6864AC}"/>
              </a:ext>
            </a:extLst>
          </p:cNvPr>
          <p:cNvSpPr txBox="1"/>
          <p:nvPr/>
        </p:nvSpPr>
        <p:spPr>
          <a:xfrm>
            <a:off x="0" y="899652"/>
            <a:ext cx="11004265" cy="261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Vowels are: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a e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i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o u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A E I O U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. </a:t>
            </a:r>
            <a:r>
              <a:rPr lang="en-US" sz="2800" dirty="0">
                <a:latin typeface="Calibir"/>
              </a:rPr>
              <a:t>terminates the program and should not be counted.</a:t>
            </a:r>
          </a:p>
        </p:txBody>
      </p:sp>
    </p:spTree>
    <p:extLst>
      <p:ext uri="{BB962C8B-B14F-4D97-AF65-F5344CB8AC3E}">
        <p14:creationId xmlns:p14="http://schemas.microsoft.com/office/powerpoint/2010/main" val="393185239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E4E92354-437D-7FFC-F361-B67A4CDBE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2F7423C5-0AD4-2604-A0A5-825361A1AB2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79641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900" b="1" dirty="0">
                <a:latin typeface="Calibir"/>
              </a:rPr>
              <a:t>Exercise 7 — Count Vowels Until Dot</a:t>
            </a:r>
            <a:endParaRPr sz="3900" b="1" dirty="0">
              <a:latin typeface="Calibi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66E80A-FA22-ED3E-B04B-44BB807895BC}"/>
              </a:ext>
            </a:extLst>
          </p:cNvPr>
          <p:cNvSpPr txBox="1"/>
          <p:nvPr/>
        </p:nvSpPr>
        <p:spPr>
          <a:xfrm>
            <a:off x="0" y="899652"/>
            <a:ext cx="11004265" cy="584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Python — Step 1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Create a counter: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highlight>
                  <a:srgbClr val="FFFF00"/>
                </a:highlight>
                <a:latin typeface="Calibir"/>
              </a:rPr>
              <a:t>vowel_count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= 0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2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Read a character: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character = input("Enter a character: ")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3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Check vowels: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if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character.lower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() in "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aeiou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":</a:t>
            </a:r>
          </a:p>
        </p:txBody>
      </p:sp>
    </p:spTree>
    <p:extLst>
      <p:ext uri="{BB962C8B-B14F-4D97-AF65-F5344CB8AC3E}">
        <p14:creationId xmlns:p14="http://schemas.microsoft.com/office/powerpoint/2010/main" val="318297994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4925C98A-E6C7-C297-8BD5-A9A7E3AC8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114F3652-A12D-8A32-9ECA-421B27F8642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79641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900" b="1" dirty="0">
                <a:latin typeface="Calibir"/>
              </a:rPr>
              <a:t>Exercise 7 — Count Vowels Until Dot</a:t>
            </a:r>
            <a:endParaRPr sz="3900" b="1" dirty="0">
              <a:latin typeface="Calibi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D651A1-74C8-C825-198D-98CA9DEA0E92}"/>
              </a:ext>
            </a:extLst>
          </p:cNvPr>
          <p:cNvSpPr txBox="1"/>
          <p:nvPr/>
        </p:nvSpPr>
        <p:spPr>
          <a:xfrm>
            <a:off x="0" y="899652"/>
            <a:ext cx="11004265" cy="6012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Calibir"/>
              </a:rPr>
              <a:t>Completed Python — Lab4Exc7.py</a:t>
            </a:r>
          </a:p>
          <a:p>
            <a:pPr>
              <a:lnSpc>
                <a:spcPct val="150000"/>
              </a:lnSpc>
            </a:pPr>
            <a:r>
              <a:rPr lang="en-US" sz="1500" dirty="0" err="1">
                <a:highlight>
                  <a:srgbClr val="FFFF00"/>
                </a:highlight>
                <a:latin typeface="Calibir"/>
              </a:rPr>
              <a:t>vowel_count</a:t>
            </a:r>
            <a:r>
              <a:rPr lang="en-US" sz="1500" dirty="0">
                <a:highlight>
                  <a:srgbClr val="FFFF00"/>
                </a:highlight>
                <a:latin typeface="Calibir"/>
              </a:rPr>
              <a:t> = 0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highlight>
                  <a:srgbClr val="FFFF00"/>
                </a:highlight>
                <a:latin typeface="Calibir"/>
              </a:rPr>
              <a:t>while True: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highlight>
                  <a:srgbClr val="FFFF00"/>
                </a:highlight>
                <a:latin typeface="Calibir"/>
              </a:rPr>
              <a:t>    character = input(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highlight>
                  <a:srgbClr val="FFFF00"/>
                </a:highlight>
                <a:latin typeface="Calibir"/>
              </a:rPr>
              <a:t>        "Enter a character (. to stop): "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highlight>
                  <a:srgbClr val="FFFF00"/>
                </a:highlight>
                <a:latin typeface="Calibir"/>
              </a:rPr>
              <a:t>    )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highlight>
                  <a:srgbClr val="FFFF00"/>
                </a:highlight>
                <a:latin typeface="Calibir"/>
              </a:rPr>
              <a:t>    if character == ".":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highlight>
                  <a:srgbClr val="FFFF00"/>
                </a:highlight>
                <a:latin typeface="Calibir"/>
              </a:rPr>
              <a:t>        break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highlight>
                  <a:srgbClr val="FFFF00"/>
                </a:highlight>
                <a:latin typeface="Calibir"/>
              </a:rPr>
              <a:t>    if (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500" dirty="0" err="1">
                <a:highlight>
                  <a:srgbClr val="FFFF00"/>
                </a:highlight>
                <a:latin typeface="Calibir"/>
              </a:rPr>
              <a:t>len</a:t>
            </a:r>
            <a:r>
              <a:rPr lang="en-US" sz="1500" dirty="0">
                <a:highlight>
                  <a:srgbClr val="FFFF00"/>
                </a:highlight>
                <a:latin typeface="Calibir"/>
              </a:rPr>
              <a:t>(character) &gt; 0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highlight>
                  <a:srgbClr val="FFFF00"/>
                </a:highlight>
                <a:latin typeface="Calibir"/>
              </a:rPr>
              <a:t>        and character[0].lower() in "</a:t>
            </a:r>
            <a:r>
              <a:rPr lang="en-US" sz="1500" dirty="0" err="1">
                <a:highlight>
                  <a:srgbClr val="FFFF00"/>
                </a:highlight>
                <a:latin typeface="Calibir"/>
              </a:rPr>
              <a:t>aeiou</a:t>
            </a:r>
            <a:r>
              <a:rPr lang="en-US" sz="1500" dirty="0">
                <a:highlight>
                  <a:srgbClr val="FFFF00"/>
                </a:highlight>
                <a:latin typeface="Calibir"/>
              </a:rPr>
              <a:t>"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highlight>
                  <a:srgbClr val="FFFF00"/>
                </a:highlight>
                <a:latin typeface="Calibir"/>
              </a:rPr>
              <a:t>    ):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500" dirty="0" err="1">
                <a:highlight>
                  <a:srgbClr val="FFFF00"/>
                </a:highlight>
                <a:latin typeface="Calibir"/>
              </a:rPr>
              <a:t>vowel_count</a:t>
            </a:r>
            <a:r>
              <a:rPr lang="en-US" sz="1500" dirty="0">
                <a:highlight>
                  <a:srgbClr val="FFFF00"/>
                </a:highlight>
                <a:latin typeface="Calibir"/>
              </a:rPr>
              <a:t> += 1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highlight>
                  <a:srgbClr val="FFFF00"/>
                </a:highlight>
                <a:latin typeface="Calibir"/>
              </a:rPr>
              <a:t>print(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highlight>
                  <a:srgbClr val="FFFF00"/>
                </a:highlight>
                <a:latin typeface="Calibir"/>
              </a:rPr>
              <a:t>    "Total vowel count:",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highlight>
                  <a:srgbClr val="FFFF00"/>
                </a:highlight>
                <a:latin typeface="Calibir"/>
              </a:rPr>
              <a:t>    </a:t>
            </a:r>
            <a:r>
              <a:rPr lang="en-US" sz="1500" dirty="0" err="1">
                <a:highlight>
                  <a:srgbClr val="FFFF00"/>
                </a:highlight>
                <a:latin typeface="Calibir"/>
              </a:rPr>
              <a:t>vowel_count</a:t>
            </a:r>
            <a:endParaRPr lang="en-US" sz="1500" dirty="0">
              <a:highlight>
                <a:srgbClr val="FFFF00"/>
              </a:highlight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1500" dirty="0">
                <a:highlight>
                  <a:srgbClr val="FFFF00"/>
                </a:highlight>
                <a:latin typeface="Calibir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9999176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A13D5803-0D30-1686-6674-20D5DE289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7EAB3632-38F5-2A3B-3897-C297C522461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79641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900" b="1" dirty="0">
                <a:latin typeface="Calibir"/>
              </a:rPr>
              <a:t>Exercise 7 — Count Vowels Until Dot</a:t>
            </a:r>
            <a:endParaRPr sz="3900" b="1" dirty="0">
              <a:latin typeface="Calibi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97C8A9-9D49-4EFC-C1BA-CBE2067D00DD}"/>
              </a:ext>
            </a:extLst>
          </p:cNvPr>
          <p:cNvSpPr txBox="1"/>
          <p:nvPr/>
        </p:nvSpPr>
        <p:spPr>
          <a:xfrm>
            <a:off x="0" y="899652"/>
            <a:ext cx="11004265" cy="3903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Java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Convert the character to lowercase: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char ch =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Character.toLowerCase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input.next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().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charAt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(0)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);</a:t>
            </a:r>
          </a:p>
        </p:txBody>
      </p:sp>
    </p:spTree>
    <p:extLst>
      <p:ext uri="{BB962C8B-B14F-4D97-AF65-F5344CB8AC3E}">
        <p14:creationId xmlns:p14="http://schemas.microsoft.com/office/powerpoint/2010/main" val="3280373401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C20C6C96-7B9A-4A17-9DE1-B4E2BA287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7FA3F2-F67E-50B3-DCD1-4C06F84F822B}"/>
              </a:ext>
            </a:extLst>
          </p:cNvPr>
          <p:cNvSpPr txBox="1"/>
          <p:nvPr/>
        </p:nvSpPr>
        <p:spPr>
          <a:xfrm>
            <a:off x="0" y="112707"/>
            <a:ext cx="11004265" cy="6632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Completed Java — </a:t>
            </a:r>
            <a:r>
              <a:rPr lang="en-US" b="1" dirty="0"/>
              <a:t>Lab4Exc7.java</a:t>
            </a:r>
            <a:endParaRPr lang="en-US" sz="2800" b="1" dirty="0"/>
          </a:p>
          <a:p>
            <a:r>
              <a:rPr lang="en-US" sz="1200" dirty="0">
                <a:highlight>
                  <a:srgbClr val="FFFF00"/>
                </a:highlight>
              </a:rPr>
              <a:t>import </a:t>
            </a:r>
            <a:r>
              <a:rPr lang="en-US" sz="1200" dirty="0" err="1">
                <a:highlight>
                  <a:srgbClr val="FFFF00"/>
                </a:highlight>
              </a:rPr>
              <a:t>java.util.Scanner</a:t>
            </a:r>
            <a:r>
              <a:rPr lang="en-US" sz="1200" dirty="0">
                <a:highlight>
                  <a:srgbClr val="FFFF00"/>
                </a:highlight>
              </a:rPr>
              <a:t>;</a:t>
            </a:r>
          </a:p>
          <a:p>
            <a:r>
              <a:rPr lang="en-US" sz="1200" dirty="0">
                <a:highlight>
                  <a:srgbClr val="FFFF00"/>
                </a:highlight>
              </a:rPr>
              <a:t>public class Lab4Exc7 {</a:t>
            </a:r>
          </a:p>
          <a:p>
            <a:r>
              <a:rPr lang="en-US" sz="1200" dirty="0">
                <a:highlight>
                  <a:srgbClr val="FFFF00"/>
                </a:highlight>
              </a:rPr>
              <a:t>    public static void main(String[] </a:t>
            </a:r>
            <a:r>
              <a:rPr lang="en-US" sz="1200" dirty="0" err="1">
                <a:highlight>
                  <a:srgbClr val="FFFF00"/>
                </a:highlight>
              </a:rPr>
              <a:t>args</a:t>
            </a:r>
            <a:r>
              <a:rPr lang="en-US" sz="1200" dirty="0">
                <a:highlight>
                  <a:srgbClr val="FFFF00"/>
                </a:highlight>
              </a:rPr>
              <a:t>) {</a:t>
            </a:r>
          </a:p>
          <a:p>
            <a:r>
              <a:rPr lang="en-US" sz="1200" dirty="0">
                <a:highlight>
                  <a:srgbClr val="FFFF00"/>
                </a:highlight>
              </a:rPr>
              <a:t>        Scanner input = new Scanner(System.in);</a:t>
            </a:r>
          </a:p>
          <a:p>
            <a:r>
              <a:rPr lang="en-US" sz="1200" dirty="0">
                <a:highlight>
                  <a:srgbClr val="FFFF00"/>
                </a:highlight>
              </a:rPr>
              <a:t>        int </a:t>
            </a:r>
            <a:r>
              <a:rPr lang="en-US" sz="1200" dirty="0" err="1">
                <a:highlight>
                  <a:srgbClr val="FFFF00"/>
                </a:highlight>
              </a:rPr>
              <a:t>vowelCount</a:t>
            </a:r>
            <a:r>
              <a:rPr lang="en-US" sz="1200" dirty="0">
                <a:highlight>
                  <a:srgbClr val="FFFF00"/>
                </a:highlight>
              </a:rPr>
              <a:t> = 0;</a:t>
            </a:r>
          </a:p>
          <a:p>
            <a:r>
              <a:rPr lang="en-US" sz="1200" dirty="0">
                <a:highlight>
                  <a:srgbClr val="FFFF00"/>
                </a:highlight>
              </a:rPr>
              <a:t>        while (true) {</a:t>
            </a:r>
          </a:p>
          <a:p>
            <a:r>
              <a:rPr lang="en-US" sz="1200" dirty="0">
                <a:highlight>
                  <a:srgbClr val="FFFF00"/>
                </a:highlight>
              </a:rPr>
              <a:t>            </a:t>
            </a:r>
            <a:r>
              <a:rPr lang="en-US" sz="1200" dirty="0" err="1">
                <a:highlight>
                  <a:srgbClr val="FFFF00"/>
                </a:highlight>
              </a:rPr>
              <a:t>System.out.print</a:t>
            </a:r>
            <a:r>
              <a:rPr lang="en-US" sz="1200" dirty="0">
                <a:highlight>
                  <a:srgbClr val="FFFF00"/>
                </a:highlight>
              </a:rPr>
              <a:t>(</a:t>
            </a:r>
          </a:p>
          <a:p>
            <a:r>
              <a:rPr lang="en-US" sz="1200" dirty="0">
                <a:highlight>
                  <a:srgbClr val="FFFF00"/>
                </a:highlight>
              </a:rPr>
              <a:t>                "Enter a character (. to stop): "</a:t>
            </a:r>
          </a:p>
          <a:p>
            <a:r>
              <a:rPr lang="en-US" sz="1200" dirty="0">
                <a:highlight>
                  <a:srgbClr val="FFFF00"/>
                </a:highlight>
              </a:rPr>
              <a:t>            );</a:t>
            </a:r>
          </a:p>
          <a:p>
            <a:r>
              <a:rPr lang="en-US" sz="1200" dirty="0">
                <a:highlight>
                  <a:srgbClr val="FFFF00"/>
                </a:highlight>
              </a:rPr>
              <a:t>            char ch =</a:t>
            </a:r>
          </a:p>
          <a:p>
            <a:r>
              <a:rPr lang="en-US" sz="1200" dirty="0">
                <a:highlight>
                  <a:srgbClr val="FFFF00"/>
                </a:highlight>
              </a:rPr>
              <a:t>                </a:t>
            </a:r>
            <a:r>
              <a:rPr lang="en-US" sz="1200" dirty="0" err="1">
                <a:highlight>
                  <a:srgbClr val="FFFF00"/>
                </a:highlight>
              </a:rPr>
              <a:t>input.next</a:t>
            </a:r>
            <a:r>
              <a:rPr lang="en-US" sz="1200" dirty="0">
                <a:highlight>
                  <a:srgbClr val="FFFF00"/>
                </a:highlight>
              </a:rPr>
              <a:t>().</a:t>
            </a:r>
            <a:r>
              <a:rPr lang="en-US" sz="1200" dirty="0" err="1">
                <a:highlight>
                  <a:srgbClr val="FFFF00"/>
                </a:highlight>
              </a:rPr>
              <a:t>charAt</a:t>
            </a:r>
            <a:r>
              <a:rPr lang="en-US" sz="1200" dirty="0">
                <a:highlight>
                  <a:srgbClr val="FFFF00"/>
                </a:highlight>
              </a:rPr>
              <a:t>(0);</a:t>
            </a:r>
          </a:p>
          <a:p>
            <a:r>
              <a:rPr lang="en-US" sz="1200" dirty="0">
                <a:highlight>
                  <a:srgbClr val="FFFF00"/>
                </a:highlight>
              </a:rPr>
              <a:t>            if (ch == '.') {</a:t>
            </a:r>
          </a:p>
          <a:p>
            <a:r>
              <a:rPr lang="en-US" sz="1200" dirty="0">
                <a:highlight>
                  <a:srgbClr val="FFFF00"/>
                </a:highlight>
              </a:rPr>
              <a:t>                break;</a:t>
            </a:r>
          </a:p>
          <a:p>
            <a:r>
              <a:rPr lang="en-US" sz="1200" dirty="0">
                <a:highlight>
                  <a:srgbClr val="FFFF00"/>
                </a:highlight>
              </a:rPr>
              <a:t>            }</a:t>
            </a:r>
          </a:p>
          <a:p>
            <a:r>
              <a:rPr lang="en-US" sz="1200" dirty="0">
                <a:highlight>
                  <a:srgbClr val="FFFF00"/>
                </a:highlight>
              </a:rPr>
              <a:t>            ch =</a:t>
            </a:r>
          </a:p>
          <a:p>
            <a:r>
              <a:rPr lang="en-US" sz="1200" dirty="0">
                <a:highlight>
                  <a:srgbClr val="FFFF00"/>
                </a:highlight>
              </a:rPr>
              <a:t>                </a:t>
            </a:r>
            <a:r>
              <a:rPr lang="en-US" sz="1200" dirty="0" err="1">
                <a:highlight>
                  <a:srgbClr val="FFFF00"/>
                </a:highlight>
              </a:rPr>
              <a:t>Character.toLowerCase</a:t>
            </a:r>
            <a:r>
              <a:rPr lang="en-US" sz="1200" dirty="0">
                <a:highlight>
                  <a:srgbClr val="FFFF00"/>
                </a:highlight>
              </a:rPr>
              <a:t>(ch);</a:t>
            </a:r>
          </a:p>
          <a:p>
            <a:r>
              <a:rPr lang="en-US" sz="1200" dirty="0">
                <a:highlight>
                  <a:srgbClr val="FFFF00"/>
                </a:highlight>
              </a:rPr>
              <a:t>            if (</a:t>
            </a:r>
          </a:p>
          <a:p>
            <a:r>
              <a:rPr lang="en-US" sz="1200" dirty="0">
                <a:highlight>
                  <a:srgbClr val="FFFF00"/>
                </a:highlight>
              </a:rPr>
              <a:t>                ch == 'a'</a:t>
            </a:r>
          </a:p>
          <a:p>
            <a:r>
              <a:rPr lang="en-US" sz="1200" dirty="0">
                <a:highlight>
                  <a:srgbClr val="FFFF00"/>
                </a:highlight>
              </a:rPr>
              <a:t>                || ch == 'e'</a:t>
            </a:r>
          </a:p>
          <a:p>
            <a:r>
              <a:rPr lang="en-US" sz="1200" dirty="0">
                <a:highlight>
                  <a:srgbClr val="FFFF00"/>
                </a:highlight>
              </a:rPr>
              <a:t>                || ch == '</a:t>
            </a:r>
            <a:r>
              <a:rPr lang="en-US" sz="1200" dirty="0" err="1">
                <a:highlight>
                  <a:srgbClr val="FFFF00"/>
                </a:highlight>
              </a:rPr>
              <a:t>i</a:t>
            </a:r>
            <a:r>
              <a:rPr lang="en-US" sz="1200" dirty="0">
                <a:highlight>
                  <a:srgbClr val="FFFF00"/>
                </a:highlight>
              </a:rPr>
              <a:t>'</a:t>
            </a:r>
          </a:p>
          <a:p>
            <a:r>
              <a:rPr lang="en-US" sz="1200" dirty="0">
                <a:highlight>
                  <a:srgbClr val="FFFF00"/>
                </a:highlight>
              </a:rPr>
              <a:t>                || ch == 'o'</a:t>
            </a:r>
          </a:p>
          <a:p>
            <a:r>
              <a:rPr lang="en-US" sz="1200" dirty="0">
                <a:highlight>
                  <a:srgbClr val="FFFF00"/>
                </a:highlight>
              </a:rPr>
              <a:t>                || ch == 'u'</a:t>
            </a:r>
          </a:p>
          <a:p>
            <a:r>
              <a:rPr lang="en-US" sz="1200" dirty="0">
                <a:highlight>
                  <a:srgbClr val="FFFF00"/>
                </a:highlight>
              </a:rPr>
              <a:t>            ) {</a:t>
            </a:r>
          </a:p>
          <a:p>
            <a:r>
              <a:rPr lang="en-US" sz="1200" dirty="0">
                <a:highlight>
                  <a:srgbClr val="FFFF00"/>
                </a:highlight>
              </a:rPr>
              <a:t>                </a:t>
            </a:r>
            <a:r>
              <a:rPr lang="en-US" sz="1200" dirty="0" err="1">
                <a:highlight>
                  <a:srgbClr val="FFFF00"/>
                </a:highlight>
              </a:rPr>
              <a:t>vowelCount</a:t>
            </a:r>
            <a:r>
              <a:rPr lang="en-US" sz="1200" dirty="0">
                <a:highlight>
                  <a:srgbClr val="FFFF00"/>
                </a:highlight>
              </a:rPr>
              <a:t>++;</a:t>
            </a:r>
          </a:p>
          <a:p>
            <a:r>
              <a:rPr lang="en-US" sz="1200" dirty="0">
                <a:highlight>
                  <a:srgbClr val="FFFF00"/>
                </a:highlight>
              </a:rPr>
              <a:t>            }</a:t>
            </a:r>
          </a:p>
          <a:p>
            <a:r>
              <a:rPr lang="en-US" sz="1200" dirty="0">
                <a:highlight>
                  <a:srgbClr val="FFFF00"/>
                </a:highlight>
              </a:rPr>
              <a:t>        }</a:t>
            </a:r>
          </a:p>
          <a:p>
            <a:r>
              <a:rPr lang="en-US" sz="1200" dirty="0">
                <a:highlight>
                  <a:srgbClr val="FFFF00"/>
                </a:highlight>
              </a:rPr>
              <a:t>        </a:t>
            </a:r>
            <a:r>
              <a:rPr lang="en-US" sz="1200" dirty="0" err="1">
                <a:highlight>
                  <a:srgbClr val="FFFF00"/>
                </a:highlight>
              </a:rPr>
              <a:t>System.out.println</a:t>
            </a:r>
            <a:r>
              <a:rPr lang="en-US" sz="1200" dirty="0">
                <a:highlight>
                  <a:srgbClr val="FFFF00"/>
                </a:highlight>
              </a:rPr>
              <a:t>(</a:t>
            </a:r>
          </a:p>
          <a:p>
            <a:r>
              <a:rPr lang="en-US" sz="1200" dirty="0">
                <a:highlight>
                  <a:srgbClr val="FFFF00"/>
                </a:highlight>
              </a:rPr>
              <a:t>            "Total vowel count: "</a:t>
            </a:r>
          </a:p>
          <a:p>
            <a:r>
              <a:rPr lang="en-US" sz="1200" dirty="0">
                <a:highlight>
                  <a:srgbClr val="FFFF00"/>
                </a:highlight>
              </a:rPr>
              <a:t>            + </a:t>
            </a:r>
            <a:r>
              <a:rPr lang="en-US" sz="1200" dirty="0" err="1">
                <a:highlight>
                  <a:srgbClr val="FFFF00"/>
                </a:highlight>
              </a:rPr>
              <a:t>vowelCount</a:t>
            </a:r>
            <a:endParaRPr lang="en-US" sz="1200" dirty="0">
              <a:highlight>
                <a:srgbClr val="FFFF00"/>
              </a:highlight>
            </a:endParaRPr>
          </a:p>
          <a:p>
            <a:r>
              <a:rPr lang="en-US" sz="1200" dirty="0">
                <a:highlight>
                  <a:srgbClr val="FFFF00"/>
                </a:highlight>
              </a:rPr>
              <a:t>        );</a:t>
            </a:r>
          </a:p>
          <a:p>
            <a:r>
              <a:rPr lang="en-US" sz="1200" dirty="0">
                <a:highlight>
                  <a:srgbClr val="FFFF00"/>
                </a:highlight>
              </a:rPr>
              <a:t>        </a:t>
            </a:r>
            <a:r>
              <a:rPr lang="en-US" sz="1200" dirty="0" err="1">
                <a:highlight>
                  <a:srgbClr val="FFFF00"/>
                </a:highlight>
              </a:rPr>
              <a:t>input.close</a:t>
            </a:r>
            <a:r>
              <a:rPr lang="en-US" sz="1200" dirty="0">
                <a:highlight>
                  <a:srgbClr val="FFFF00"/>
                </a:highlight>
              </a:rPr>
              <a:t>();</a:t>
            </a:r>
          </a:p>
          <a:p>
            <a:r>
              <a:rPr lang="en-US" sz="1200" dirty="0">
                <a:highlight>
                  <a:srgbClr val="FFFF00"/>
                </a:highlight>
              </a:rPr>
              <a:t>    }</a:t>
            </a:r>
          </a:p>
          <a:p>
            <a:r>
              <a:rPr lang="en-US" sz="13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910104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3FE0C017-4F14-E49E-A1AB-D1A1AE7B21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11091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 dirty="0"/>
              <a:t>Lab 4 Exercises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980C27-948C-5A74-3794-543E81ADB7CC}"/>
              </a:ext>
            </a:extLst>
          </p:cNvPr>
          <p:cNvSpPr txBox="1"/>
          <p:nvPr/>
        </p:nvSpPr>
        <p:spPr>
          <a:xfrm>
            <a:off x="812801" y="1109134"/>
            <a:ext cx="11004265" cy="3347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Economica" panose="020B0604020202020204" charset="0"/>
              </a:rPr>
              <a:t>Exercise 8: 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Economica" panose="020B0604020202020204" charset="0"/>
              </a:rPr>
              <a:t>Write a program called </a:t>
            </a:r>
            <a:r>
              <a:rPr lang="en-GB" sz="2400" b="1" dirty="0">
                <a:latin typeface="Economica" panose="020B0604020202020204" charset="0"/>
              </a:rPr>
              <a:t>Lab4Exc8</a:t>
            </a:r>
            <a:r>
              <a:rPr lang="en-GB" sz="2400" dirty="0">
                <a:latin typeface="Economica" panose="020B0604020202020204" charset="0"/>
              </a:rPr>
              <a:t> with the following operations:</a:t>
            </a:r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Economica" panose="020B0604020202020204" charset="0"/>
              </a:rPr>
              <a:t>Calculate the factorial of n (where n is entered from keyboard) </a:t>
            </a:r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Economica" panose="020B0604020202020204" charset="0"/>
              </a:rPr>
              <a:t>Show the factorial of n</a:t>
            </a:r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400" dirty="0">
              <a:latin typeface="Economica" panose="020B0604020202020204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Economic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763664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34FBBE10-56BD-855F-0F5D-9F0DFA309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46E1331F-2798-8471-C540-262604BBDAD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79641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900" b="1" dirty="0">
                <a:latin typeface="Calibir"/>
              </a:rPr>
              <a:t>Exercise 8 — Factorial</a:t>
            </a:r>
            <a:endParaRPr sz="3900" b="1" dirty="0">
              <a:latin typeface="Calibi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E409ED-511C-5937-B022-C5E1A813935C}"/>
              </a:ext>
            </a:extLst>
          </p:cNvPr>
          <p:cNvSpPr txBox="1"/>
          <p:nvPr/>
        </p:nvSpPr>
        <p:spPr>
          <a:xfrm>
            <a:off x="0" y="899652"/>
            <a:ext cx="11004265" cy="32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Factorial is: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5! = 5 × 4 × 3 × 2 × 1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= 120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Also: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0! = 1</a:t>
            </a:r>
          </a:p>
        </p:txBody>
      </p:sp>
    </p:spTree>
    <p:extLst>
      <p:ext uri="{BB962C8B-B14F-4D97-AF65-F5344CB8AC3E}">
        <p14:creationId xmlns:p14="http://schemas.microsoft.com/office/powerpoint/2010/main" val="271649690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4C573298-6F10-3D42-8A3F-B645273E3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5A475812-8F73-B5B4-D970-A292C3E4442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79641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900" b="1" dirty="0">
                <a:latin typeface="Calibir"/>
              </a:rPr>
              <a:t>Exercise 8 — Factorial</a:t>
            </a:r>
            <a:endParaRPr sz="3900" b="1" dirty="0">
              <a:latin typeface="Calibi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D9A41B-7A12-D37C-AC69-097239C470D9}"/>
              </a:ext>
            </a:extLst>
          </p:cNvPr>
          <p:cNvSpPr txBox="1"/>
          <p:nvPr/>
        </p:nvSpPr>
        <p:spPr>
          <a:xfrm>
            <a:off x="0" y="899652"/>
            <a:ext cx="11004265" cy="32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Python — Step 1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factorial = 1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2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for number in range(1, n + 1):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factorial *= number</a:t>
            </a:r>
          </a:p>
        </p:txBody>
      </p:sp>
    </p:spTree>
    <p:extLst>
      <p:ext uri="{BB962C8B-B14F-4D97-AF65-F5344CB8AC3E}">
        <p14:creationId xmlns:p14="http://schemas.microsoft.com/office/powerpoint/2010/main" val="189503769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B86CD0ED-585E-1361-72E3-58AE714EE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81D97D-958C-D938-86C6-5F57BD08E84E}"/>
              </a:ext>
            </a:extLst>
          </p:cNvPr>
          <p:cNvSpPr txBox="1"/>
          <p:nvPr/>
        </p:nvSpPr>
        <p:spPr>
          <a:xfrm>
            <a:off x="0" y="160654"/>
            <a:ext cx="11004265" cy="6697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Calibir"/>
              </a:rPr>
              <a:t>Completed Python — Lab4Exc8.py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n = int(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input("Enter n: ")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if n &lt; 0: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print(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"Factorial is not defined "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"for negative numbers."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)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else: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factorial = 1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for number in range(1, n + 1):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factorial *= number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print(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f"{n}! = {factorial}"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)</a:t>
            </a:r>
          </a:p>
        </p:txBody>
      </p:sp>
    </p:spTree>
    <p:extLst>
      <p:ext uri="{BB962C8B-B14F-4D97-AF65-F5344CB8AC3E}">
        <p14:creationId xmlns:p14="http://schemas.microsoft.com/office/powerpoint/2010/main" val="4190989236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ED1C7F69-0E81-5016-6929-D7D4ED6C0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6F96A0-A0D0-9778-DD51-8E84C403C57B}"/>
              </a:ext>
            </a:extLst>
          </p:cNvPr>
          <p:cNvSpPr txBox="1"/>
          <p:nvPr/>
        </p:nvSpPr>
        <p:spPr>
          <a:xfrm>
            <a:off x="0" y="382012"/>
            <a:ext cx="6099716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300" b="1" dirty="0">
                <a:latin typeface="Calibir"/>
              </a:rPr>
              <a:t>Java — Completed Solution</a:t>
            </a:r>
          </a:p>
          <a:p>
            <a:pPr>
              <a:buNone/>
            </a:pPr>
            <a:r>
              <a:rPr lang="en-US" sz="1300" dirty="0">
                <a:latin typeface="Calibir"/>
              </a:rPr>
              <a:t>Using long allows somewhat larger results than int.</a:t>
            </a:r>
          </a:p>
          <a:p>
            <a:pPr rtl="0">
              <a:buNone/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import </a:t>
            </a:r>
            <a:r>
              <a:rPr lang="en-US" sz="1300" dirty="0" err="1">
                <a:highlight>
                  <a:srgbClr val="FFFF00"/>
                </a:highlight>
                <a:latin typeface="Calibir"/>
              </a:rPr>
              <a:t>java.util.Scanner</a:t>
            </a:r>
            <a:r>
              <a:rPr lang="en-US" sz="1300" dirty="0">
                <a:highlight>
                  <a:srgbClr val="FFFF00"/>
                </a:highlight>
                <a:latin typeface="Calibir"/>
              </a:rPr>
              <a:t>;</a:t>
            </a:r>
          </a:p>
          <a:p>
            <a:pPr rtl="0">
              <a:buNone/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public class Lab4Exc8 {</a:t>
            </a:r>
          </a:p>
          <a:p>
            <a:pPr rtl="0">
              <a:buNone/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public static void main(String[] </a:t>
            </a:r>
            <a:r>
              <a:rPr lang="en-US" sz="1300" dirty="0" err="1">
                <a:highlight>
                  <a:srgbClr val="FFFF00"/>
                </a:highlight>
                <a:latin typeface="Calibir"/>
              </a:rPr>
              <a:t>args</a:t>
            </a:r>
            <a:r>
              <a:rPr lang="en-US" sz="1300" dirty="0">
                <a:highlight>
                  <a:srgbClr val="FFFF00"/>
                </a:highlight>
                <a:latin typeface="Calibir"/>
              </a:rPr>
              <a:t>) {</a:t>
            </a:r>
          </a:p>
          <a:p>
            <a:pPr rtl="0">
              <a:buNone/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Scanner input = new Scanner(System.in);</a:t>
            </a:r>
          </a:p>
          <a:p>
            <a:pPr rtl="0">
              <a:buNone/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300" dirty="0" err="1">
                <a:highlight>
                  <a:srgbClr val="FFFF00"/>
                </a:highlight>
                <a:latin typeface="Calibir"/>
              </a:rPr>
              <a:t>System.out.print</a:t>
            </a:r>
            <a:r>
              <a:rPr lang="en-US" sz="1300" dirty="0">
                <a:highlight>
                  <a:srgbClr val="FFFF00"/>
                </a:highlight>
                <a:latin typeface="Calibir"/>
              </a:rPr>
              <a:t>("Enter n: ");</a:t>
            </a:r>
          </a:p>
          <a:p>
            <a:pPr rtl="0">
              <a:buNone/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int n = </a:t>
            </a:r>
            <a:r>
              <a:rPr lang="en-US" sz="1300" dirty="0" err="1">
                <a:highlight>
                  <a:srgbClr val="FFFF00"/>
                </a:highlight>
                <a:latin typeface="Calibir"/>
              </a:rPr>
              <a:t>input.nextInt</a:t>
            </a:r>
            <a:r>
              <a:rPr lang="en-US" sz="1300" dirty="0">
                <a:highlight>
                  <a:srgbClr val="FFFF00"/>
                </a:highlight>
                <a:latin typeface="Calibir"/>
              </a:rPr>
              <a:t>();</a:t>
            </a:r>
          </a:p>
          <a:p>
            <a:pPr rtl="0">
              <a:buNone/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if (n &lt; 0) {</a:t>
            </a:r>
          </a:p>
          <a:p>
            <a:pPr rtl="0">
              <a:buNone/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1300" dirty="0" err="1">
                <a:highlight>
                  <a:srgbClr val="FFFF00"/>
                </a:highlight>
                <a:latin typeface="Calibir"/>
              </a:rPr>
              <a:t>System.out.println</a:t>
            </a:r>
            <a:r>
              <a:rPr lang="en-US" sz="13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pPr rtl="0">
              <a:buNone/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        "Factorial is not defined "</a:t>
            </a:r>
          </a:p>
          <a:p>
            <a:pPr rtl="0">
              <a:buNone/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        + "for negative numbers."</a:t>
            </a:r>
          </a:p>
          <a:p>
            <a:pPr rtl="0">
              <a:buNone/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    );</a:t>
            </a:r>
          </a:p>
          <a:p>
            <a:pPr rtl="0">
              <a:buNone/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} else {</a:t>
            </a:r>
          </a:p>
          <a:p>
            <a:pPr rtl="0">
              <a:buNone/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    long factorial = 1;</a:t>
            </a:r>
          </a:p>
          <a:p>
            <a:pPr rtl="0">
              <a:buNone/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    for (</a:t>
            </a:r>
          </a:p>
          <a:p>
            <a:pPr rtl="0">
              <a:buNone/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        int number = 1;</a:t>
            </a:r>
          </a:p>
          <a:p>
            <a:pPr rtl="0">
              <a:buNone/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        number &lt;= n;</a:t>
            </a:r>
          </a:p>
          <a:p>
            <a:pPr rtl="0">
              <a:buNone/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        number++</a:t>
            </a:r>
          </a:p>
          <a:p>
            <a:pPr rtl="0">
              <a:buNone/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    ) {</a:t>
            </a:r>
          </a:p>
          <a:p>
            <a:pPr rtl="0">
              <a:buNone/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        factorial *= number;</a:t>
            </a:r>
          </a:p>
          <a:p>
            <a:pPr rtl="0">
              <a:buNone/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    }</a:t>
            </a:r>
          </a:p>
          <a:p>
            <a:pPr rtl="0">
              <a:buNone/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1300" dirty="0" err="1">
                <a:highlight>
                  <a:srgbClr val="FFFF00"/>
                </a:highlight>
                <a:latin typeface="Calibir"/>
              </a:rPr>
              <a:t>System.out.println</a:t>
            </a:r>
            <a:r>
              <a:rPr lang="en-US" sz="13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pPr rtl="0">
              <a:buNone/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        n + "! = " + factorial</a:t>
            </a:r>
          </a:p>
          <a:p>
            <a:pPr rtl="0">
              <a:buNone/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    );</a:t>
            </a:r>
          </a:p>
          <a:p>
            <a:pPr rtl="0">
              <a:buNone/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}</a:t>
            </a:r>
          </a:p>
          <a:p>
            <a:pPr rtl="0">
              <a:buNone/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300" dirty="0" err="1">
                <a:highlight>
                  <a:srgbClr val="FFFF00"/>
                </a:highlight>
                <a:latin typeface="Calibir"/>
              </a:rPr>
              <a:t>input.close</a:t>
            </a:r>
            <a:r>
              <a:rPr lang="en-US" sz="1300" dirty="0">
                <a:highlight>
                  <a:srgbClr val="FFFF00"/>
                </a:highlight>
                <a:latin typeface="Calibir"/>
              </a:rPr>
              <a:t>();</a:t>
            </a:r>
          </a:p>
          <a:p>
            <a:pPr rtl="0">
              <a:buNone/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}</a:t>
            </a:r>
          </a:p>
          <a:p>
            <a:pPr rtl="0">
              <a:buNone/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8344963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3FE0C017-4F14-E49E-A1AB-D1A1AE7B21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11091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 dirty="0"/>
              <a:t>Lab 4 Exercises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980C27-948C-5A74-3794-543E81ADB7CC}"/>
              </a:ext>
            </a:extLst>
          </p:cNvPr>
          <p:cNvSpPr txBox="1"/>
          <p:nvPr/>
        </p:nvSpPr>
        <p:spPr>
          <a:xfrm>
            <a:off x="805996" y="1109134"/>
            <a:ext cx="10496265" cy="4455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Economica" panose="020B0604020202020204" charset="0"/>
              </a:rPr>
              <a:t>Exercise 9: 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Economica" panose="020B0604020202020204" charset="0"/>
              </a:rPr>
              <a:t>Write a program called </a:t>
            </a:r>
            <a:r>
              <a:rPr lang="en-GB" sz="2400" b="1" dirty="0">
                <a:latin typeface="Economica" panose="020B0604020202020204" charset="0"/>
              </a:rPr>
              <a:t>Lab4Exc9</a:t>
            </a:r>
            <a:r>
              <a:rPr lang="en-GB" sz="2400" dirty="0">
                <a:latin typeface="Economica" panose="020B0604020202020204" charset="0"/>
              </a:rPr>
              <a:t> with the following operations:</a:t>
            </a:r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Economica" panose="020B0604020202020204" charset="0"/>
              </a:rPr>
              <a:t>Generates a random integer between 1 and 10 (inclusive). [Never print this number]</a:t>
            </a:r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Economica" panose="020B0604020202020204" charset="0"/>
              </a:rPr>
              <a:t>Keep guessing the correct random integer.</a:t>
            </a:r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Economica" panose="020B0604020202020204" charset="0"/>
              </a:rPr>
              <a:t>If your guess is correct, print “Success, secret number =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Economica" panose="020B0604020202020204" charset="0"/>
              </a:rPr>
              <a:t>&lt;the number value&gt;</a:t>
            </a:r>
            <a:r>
              <a:rPr lang="en-US" sz="2400" dirty="0">
                <a:latin typeface="Economica" panose="020B0604020202020204" charset="0"/>
              </a:rPr>
              <a:t>” and terminate the program</a:t>
            </a:r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Economica" panose="020B0604020202020204" charset="0"/>
              </a:rPr>
              <a:t>If your guess is incorrect print “Sorry – try again!”, then keep trying.</a:t>
            </a:r>
          </a:p>
        </p:txBody>
      </p:sp>
    </p:spTree>
    <p:extLst>
      <p:ext uri="{BB962C8B-B14F-4D97-AF65-F5344CB8AC3E}">
        <p14:creationId xmlns:p14="http://schemas.microsoft.com/office/powerpoint/2010/main" val="300242494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9680022D-90D4-34F2-ED40-84F3BC2CF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DEA8850C-7DEF-F57B-2F2D-99AE1712DD2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79641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900" b="1" dirty="0">
                <a:latin typeface="Calibir"/>
              </a:rPr>
              <a:t>Exercise 9 — Guess the Secret Number</a:t>
            </a:r>
            <a:endParaRPr sz="39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14182902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FC5673D9-CA3F-B376-D58D-AA53EA32D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4A373541-74EE-83D2-C8BE-18AD8CD5B0B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79641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900" b="1" dirty="0">
                <a:latin typeface="Calibir"/>
              </a:rPr>
              <a:t>Exercise 9 — Guess the Secret Number</a:t>
            </a:r>
            <a:endParaRPr sz="3900" b="1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0A1699-CDB8-03DC-7542-917F65DEF867}"/>
              </a:ext>
            </a:extLst>
          </p:cNvPr>
          <p:cNvSpPr txBox="1"/>
          <p:nvPr/>
        </p:nvSpPr>
        <p:spPr>
          <a:xfrm>
            <a:off x="0" y="1032387"/>
            <a:ext cx="12019934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Python — Step 1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 err="1">
                <a:highlight>
                  <a:srgbClr val="FFFF00"/>
                </a:highlight>
                <a:latin typeface="Calibir"/>
              </a:rPr>
              <a:t>secret_number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=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random.randint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(1, 10)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Do not print this value.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2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Repeat guesses: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while True:</a:t>
            </a:r>
          </a:p>
        </p:txBody>
      </p:sp>
    </p:spTree>
    <p:extLst>
      <p:ext uri="{BB962C8B-B14F-4D97-AF65-F5344CB8AC3E}">
        <p14:creationId xmlns:p14="http://schemas.microsoft.com/office/powerpoint/2010/main" val="8952118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FA308291-CBCE-5603-BFDA-F92CDB359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923938AE-1142-4524-C1E8-21809D6926F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79641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900" b="1" dirty="0">
                <a:latin typeface="Calibir"/>
              </a:rPr>
              <a:t>Exercise 9 — Guess the Secret Number</a:t>
            </a:r>
            <a:endParaRPr sz="3900" b="1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747547-022B-DD67-36F3-B142303A889B}"/>
              </a:ext>
            </a:extLst>
          </p:cNvPr>
          <p:cNvSpPr txBox="1"/>
          <p:nvPr/>
        </p:nvSpPr>
        <p:spPr>
          <a:xfrm>
            <a:off x="0" y="796413"/>
            <a:ext cx="12019934" cy="6062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00" b="1" dirty="0">
                <a:latin typeface="Calibir"/>
              </a:rPr>
              <a:t>Completed Python — Lab4Exc9.py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import random</a:t>
            </a:r>
          </a:p>
          <a:p>
            <a:pPr>
              <a:lnSpc>
                <a:spcPct val="150000"/>
              </a:lnSpc>
            </a:pPr>
            <a:r>
              <a:rPr lang="en-US" sz="1300" dirty="0" err="1">
                <a:highlight>
                  <a:srgbClr val="FFFF00"/>
                </a:highlight>
                <a:latin typeface="Calibir"/>
              </a:rPr>
              <a:t>secret_number</a:t>
            </a:r>
            <a:r>
              <a:rPr lang="en-US" sz="1300" dirty="0">
                <a:highlight>
                  <a:srgbClr val="FFFF00"/>
                </a:highlight>
                <a:latin typeface="Calibir"/>
              </a:rPr>
              <a:t> =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</a:t>
            </a:r>
            <a:r>
              <a:rPr lang="en-US" sz="1300" dirty="0" err="1">
                <a:highlight>
                  <a:srgbClr val="FFFF00"/>
                </a:highlight>
                <a:latin typeface="Calibir"/>
              </a:rPr>
              <a:t>random.randint</a:t>
            </a:r>
            <a:r>
              <a:rPr lang="en-US" sz="1300" dirty="0">
                <a:highlight>
                  <a:srgbClr val="FFFF00"/>
                </a:highlight>
                <a:latin typeface="Calibir"/>
              </a:rPr>
              <a:t>(1, 10)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while True: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guess = int(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input(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    "Guess the secret number (1-10): "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)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)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if guess == </a:t>
            </a:r>
            <a:r>
              <a:rPr lang="en-US" sz="1300" dirty="0" err="1">
                <a:highlight>
                  <a:srgbClr val="FFFF00"/>
                </a:highlight>
                <a:latin typeface="Calibir"/>
              </a:rPr>
              <a:t>secret_number</a:t>
            </a:r>
            <a:r>
              <a:rPr lang="en-US" sz="1300" dirty="0">
                <a:highlight>
                  <a:srgbClr val="FFFF00"/>
                </a:highlight>
                <a:latin typeface="Calibir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print(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    "Success, secret number =",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1300" dirty="0" err="1">
                <a:highlight>
                  <a:srgbClr val="FFFF00"/>
                </a:highlight>
                <a:latin typeface="Calibir"/>
              </a:rPr>
              <a:t>secret_number</a:t>
            </a:r>
            <a:endParaRPr lang="en-US" sz="1300" dirty="0">
              <a:highlight>
                <a:srgbClr val="FFFF00"/>
              </a:highlight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)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break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else: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print(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    "Sorry - try again!"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highlight>
                  <a:srgbClr val="FFFF00"/>
                </a:highlight>
                <a:latin typeface="Calibir"/>
              </a:rPr>
              <a:t>        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DC5D11-5FC9-EA28-7028-37BB78673092}"/>
              </a:ext>
            </a:extLst>
          </p:cNvPr>
          <p:cNvSpPr txBox="1"/>
          <p:nvPr/>
        </p:nvSpPr>
        <p:spPr>
          <a:xfrm>
            <a:off x="4509319" y="2635496"/>
            <a:ext cx="6186948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The first assignment should be written on one line in an actual Python file: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 err="1">
                <a:latin typeface="Calibir"/>
              </a:rPr>
              <a:t>secret_number</a:t>
            </a:r>
            <a:r>
              <a:rPr lang="en-US" sz="2800" dirty="0">
                <a:latin typeface="Calibir"/>
              </a:rPr>
              <a:t> = </a:t>
            </a:r>
            <a:r>
              <a:rPr lang="en-US" sz="2800" dirty="0" err="1">
                <a:latin typeface="Calibir"/>
              </a:rPr>
              <a:t>random.randint</a:t>
            </a:r>
            <a:r>
              <a:rPr lang="en-US" sz="2800" dirty="0">
                <a:latin typeface="Calibir"/>
              </a:rPr>
              <a:t>(1, 10)</a:t>
            </a:r>
          </a:p>
        </p:txBody>
      </p:sp>
    </p:spTree>
    <p:extLst>
      <p:ext uri="{BB962C8B-B14F-4D97-AF65-F5344CB8AC3E}">
        <p14:creationId xmlns:p14="http://schemas.microsoft.com/office/powerpoint/2010/main" val="102589843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864CDE6E-DD26-1094-20B0-00E312AA2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2FB8B16E-3700-4817-91C3-B38552FC3AD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79641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900" b="1" dirty="0">
                <a:latin typeface="Calibir"/>
              </a:rPr>
              <a:t>Exercise 9 — Guess the Secret Number</a:t>
            </a:r>
            <a:endParaRPr sz="3900" b="1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7DC9CF-B1A9-A501-E64E-1FDDE59B5CD0}"/>
              </a:ext>
            </a:extLst>
          </p:cNvPr>
          <p:cNvSpPr txBox="1"/>
          <p:nvPr/>
        </p:nvSpPr>
        <p:spPr>
          <a:xfrm>
            <a:off x="0" y="796413"/>
            <a:ext cx="12019934" cy="5866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Complete Python Code: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import random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highlight>
                  <a:srgbClr val="FFFF00"/>
                </a:highlight>
                <a:latin typeface="Calibir"/>
              </a:rPr>
              <a:t>secret_number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 =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random.randint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(1, 10)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while True: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guess = int(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input("Guess the secret number (1-10): ")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)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if guess ==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secret_number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print(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f"Success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, secret number = {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secret_number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}"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)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break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else: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print("Sorry - try again!")</a:t>
            </a:r>
          </a:p>
        </p:txBody>
      </p:sp>
    </p:spTree>
    <p:extLst>
      <p:ext uri="{BB962C8B-B14F-4D97-AF65-F5344CB8AC3E}">
        <p14:creationId xmlns:p14="http://schemas.microsoft.com/office/powerpoint/2010/main" val="82077729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7265A483-7AE4-3E32-4873-5B090BF26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C5374D13-DEE1-7618-6738-4D528C57E52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79641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900" b="1" dirty="0">
                <a:latin typeface="Calibir"/>
              </a:rPr>
              <a:t>Exercise 9 — Guess the Secret Number</a:t>
            </a:r>
            <a:endParaRPr sz="3900" b="1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F57B88-12E8-7315-0B57-E6947B1B2DC3}"/>
              </a:ext>
            </a:extLst>
          </p:cNvPr>
          <p:cNvSpPr txBox="1"/>
          <p:nvPr/>
        </p:nvSpPr>
        <p:spPr>
          <a:xfrm>
            <a:off x="0" y="796413"/>
            <a:ext cx="12019934" cy="5866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So the complete code is: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import random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highlight>
                  <a:srgbClr val="FFFF00"/>
                </a:highlight>
                <a:latin typeface="Calibir"/>
              </a:rPr>
              <a:t>secret_number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 =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random.randint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(1, 10)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while True: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guess = int(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input("Guess the secret number (1-10): ")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)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if guess ==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secret_number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print(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f"Success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, secret number = {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secret_number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}"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)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break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else: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print("Sorry - try again!")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F08460-1F19-314E-07A0-55F4CB2D169A}"/>
              </a:ext>
            </a:extLst>
          </p:cNvPr>
          <p:cNvSpPr txBox="1"/>
          <p:nvPr/>
        </p:nvSpPr>
        <p:spPr>
          <a:xfrm>
            <a:off x="7654414" y="1356852"/>
            <a:ext cx="420329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Why + 1?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Calibir"/>
              </a:rPr>
              <a:t>random.nextInt</a:t>
            </a:r>
            <a:r>
              <a:rPr lang="en-US" sz="2800" dirty="0">
                <a:latin typeface="Calibir"/>
              </a:rPr>
              <a:t>(10)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produces: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0–9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Therefore: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Calibir"/>
              </a:rPr>
              <a:t>random.nextInt</a:t>
            </a:r>
            <a:r>
              <a:rPr lang="en-US" sz="2800" dirty="0">
                <a:latin typeface="Calibir"/>
              </a:rPr>
              <a:t>(10) + 1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produces: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1–10</a:t>
            </a:r>
          </a:p>
        </p:txBody>
      </p:sp>
    </p:spTree>
    <p:extLst>
      <p:ext uri="{BB962C8B-B14F-4D97-AF65-F5344CB8AC3E}">
        <p14:creationId xmlns:p14="http://schemas.microsoft.com/office/powerpoint/2010/main" val="2504308538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3FE0C017-4F14-E49E-A1AB-D1A1AE7B21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11091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 dirty="0"/>
              <a:t>Lab 4 Exercises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980C27-948C-5A74-3794-543E81ADB7CC}"/>
              </a:ext>
            </a:extLst>
          </p:cNvPr>
          <p:cNvSpPr txBox="1"/>
          <p:nvPr/>
        </p:nvSpPr>
        <p:spPr>
          <a:xfrm>
            <a:off x="833533" y="990601"/>
            <a:ext cx="10902665" cy="3901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Economica" panose="020B0604020202020204" charset="0"/>
              </a:rPr>
              <a:t>Exercise 10: 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Economica" panose="020B0604020202020204" charset="0"/>
              </a:rPr>
              <a:t>Write a program called </a:t>
            </a:r>
            <a:r>
              <a:rPr lang="en-GB" sz="2400" b="1" dirty="0">
                <a:latin typeface="Economica" panose="020B0604020202020204" charset="0"/>
              </a:rPr>
              <a:t>Lab4Exc10</a:t>
            </a:r>
            <a:r>
              <a:rPr lang="en-GB" sz="2400" dirty="0">
                <a:latin typeface="Economica" panose="020B0604020202020204" charset="0"/>
              </a:rPr>
              <a:t> with the following operations:</a:t>
            </a:r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Economica" panose="020B0604020202020204" charset="0"/>
              </a:rPr>
              <a:t>Calculate and print the values of a Fibonacci series on separate lines. </a:t>
            </a:r>
          </a:p>
          <a:p>
            <a:pPr>
              <a:lnSpc>
                <a:spcPct val="150000"/>
              </a:lnSpc>
            </a:pPr>
            <a:r>
              <a:rPr lang="en-GB" sz="2400" u="sng" dirty="0">
                <a:latin typeface="Economica" panose="020B0604020202020204" charset="0"/>
              </a:rPr>
              <a:t>NOTE:</a:t>
            </a:r>
          </a:p>
          <a:p>
            <a:pPr marL="380990" lvl="3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Economica" panose="020B0604020202020204" charset="0"/>
              </a:rPr>
              <a:t>First number is 1</a:t>
            </a:r>
          </a:p>
          <a:p>
            <a:pPr marL="380990" lvl="2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Economica" panose="020B0604020202020204" charset="0"/>
              </a:rPr>
              <a:t>Second number is 1 </a:t>
            </a:r>
          </a:p>
          <a:p>
            <a:pPr marL="380990" lvl="2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Economica" panose="020B0604020202020204" charset="0"/>
              </a:rPr>
              <a:t>Last Fibonacci number n  [n is entered from keyboard]</a:t>
            </a:r>
          </a:p>
        </p:txBody>
      </p:sp>
    </p:spTree>
    <p:extLst>
      <p:ext uri="{BB962C8B-B14F-4D97-AF65-F5344CB8AC3E}">
        <p14:creationId xmlns:p14="http://schemas.microsoft.com/office/powerpoint/2010/main" val="296712538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782D0157-6DD7-0375-E2A4-F44D9FA4C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4177AD31-2C82-0AF3-1FF3-A1555D52A30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79641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900" b="1" dirty="0">
                <a:latin typeface="Calibir"/>
              </a:rPr>
              <a:t>Exercise 10 — Fibonacci Series</a:t>
            </a:r>
            <a:endParaRPr sz="3900" b="1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59AC7E-C1A4-403D-4E85-0101D0CE7664}"/>
              </a:ext>
            </a:extLst>
          </p:cNvPr>
          <p:cNvSpPr txBox="1"/>
          <p:nvPr/>
        </p:nvSpPr>
        <p:spPr>
          <a:xfrm>
            <a:off x="0" y="796413"/>
            <a:ext cx="12019934" cy="5963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The first two values are: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highlight>
                  <a:srgbClr val="FFFF00"/>
                </a:highlight>
                <a:latin typeface="Calibir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highlight>
                  <a:srgbClr val="FFFF00"/>
                </a:highlight>
                <a:latin typeface="Calibir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After that: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next = previous + current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So: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highlight>
                  <a:srgbClr val="FFFF00"/>
                </a:highlight>
                <a:latin typeface="Calibir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highlight>
                  <a:srgbClr val="FFFF00"/>
                </a:highlight>
                <a:latin typeface="Calibir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highlight>
                  <a:srgbClr val="FFFF00"/>
                </a:highlight>
                <a:latin typeface="Calibir"/>
              </a:rPr>
              <a:t>2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highlight>
                  <a:srgbClr val="FFFF00"/>
                </a:highlight>
                <a:latin typeface="Calibir"/>
              </a:rPr>
              <a:t>3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highlight>
                  <a:srgbClr val="FFFF00"/>
                </a:highlight>
                <a:latin typeface="Calibir"/>
              </a:rPr>
              <a:t>5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highlight>
                  <a:srgbClr val="FFFF00"/>
                </a:highlight>
                <a:latin typeface="Calibir"/>
              </a:rPr>
              <a:t>8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highlight>
                  <a:srgbClr val="FFFF00"/>
                </a:highlight>
                <a:latin typeface="Calibir"/>
              </a:rPr>
              <a:t>13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highlight>
                  <a:srgbClr val="FFFF00"/>
                </a:highlight>
                <a:latin typeface="Calibir"/>
              </a:rPr>
              <a:t>21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highlight>
                  <a:srgbClr val="FFFF00"/>
                </a:highlight>
                <a:latin typeface="Calibir"/>
              </a:rPr>
              <a:t>...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I interpret n as the number of Fibonacci values to display.</a:t>
            </a:r>
          </a:p>
        </p:txBody>
      </p:sp>
    </p:spTree>
    <p:extLst>
      <p:ext uri="{BB962C8B-B14F-4D97-AF65-F5344CB8AC3E}">
        <p14:creationId xmlns:p14="http://schemas.microsoft.com/office/powerpoint/2010/main" val="4074889279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86001284-BAB5-FDAA-BAAF-0F2D374D1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2BE26EFE-ADE1-D1DC-0237-CE89E7EEDBB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79641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900" b="1" dirty="0">
                <a:latin typeface="Calibir"/>
              </a:rPr>
              <a:t>Exercise 10 — Fibonacci Series</a:t>
            </a:r>
            <a:endParaRPr sz="3900" b="1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3FAEB1-D895-BEA7-9A28-15A31F684608}"/>
              </a:ext>
            </a:extLst>
          </p:cNvPr>
          <p:cNvSpPr txBox="1"/>
          <p:nvPr/>
        </p:nvSpPr>
        <p:spPr>
          <a:xfrm>
            <a:off x="0" y="915219"/>
            <a:ext cx="12019934" cy="5942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>
                <a:latin typeface="Calibir"/>
              </a:rPr>
              <a:t>Python — Step 1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Calibir"/>
              </a:rPr>
              <a:t>first = 1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Calibir"/>
              </a:rPr>
              <a:t>second = 1</a:t>
            </a:r>
          </a:p>
          <a:p>
            <a:pPr>
              <a:lnSpc>
                <a:spcPct val="150000"/>
              </a:lnSpc>
            </a:pPr>
            <a:r>
              <a:rPr lang="en-US" sz="1500" b="1" dirty="0">
                <a:latin typeface="Calibir"/>
              </a:rPr>
              <a:t>Step 2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Calibir"/>
              </a:rPr>
              <a:t>Handle small values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Calibir"/>
              </a:rPr>
              <a:t>If: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Calibir"/>
              </a:rPr>
              <a:t>n = 1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Calibir"/>
              </a:rPr>
              <a:t>only print: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Calibir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Calibir"/>
              </a:rPr>
              <a:t>If: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Calibir"/>
              </a:rPr>
              <a:t>n &gt;= 2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Calibir"/>
              </a:rPr>
              <a:t>print both starting values.</a:t>
            </a:r>
          </a:p>
          <a:p>
            <a:pPr>
              <a:lnSpc>
                <a:spcPct val="150000"/>
              </a:lnSpc>
            </a:pPr>
            <a:r>
              <a:rPr lang="en-US" sz="1500" b="1" dirty="0">
                <a:latin typeface="Calibir"/>
              </a:rPr>
              <a:t>Step 3 — Calculate the next value</a:t>
            </a:r>
          </a:p>
          <a:p>
            <a:pPr>
              <a:lnSpc>
                <a:spcPct val="150000"/>
              </a:lnSpc>
            </a:pPr>
            <a:r>
              <a:rPr lang="en-US" sz="1500" dirty="0" err="1">
                <a:latin typeface="Calibir"/>
              </a:rPr>
              <a:t>next_number</a:t>
            </a:r>
            <a:r>
              <a:rPr lang="en-US" sz="1500" dirty="0">
                <a:latin typeface="Calibir"/>
              </a:rPr>
              <a:t> = first + second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Calibir"/>
              </a:rPr>
              <a:t>Then shift: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Calibir"/>
              </a:rPr>
              <a:t>first = second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Calibir"/>
              </a:rPr>
              <a:t>second = </a:t>
            </a:r>
            <a:r>
              <a:rPr lang="en-US" sz="1500" dirty="0" err="1">
                <a:latin typeface="Calibir"/>
              </a:rPr>
              <a:t>next_number</a:t>
            </a:r>
            <a:endParaRPr lang="en-US" sz="15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141566106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ADCA81A1-CFF4-7191-66E6-B0000DDB9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E60902-7807-D125-80CA-9622F555B1E6}"/>
              </a:ext>
            </a:extLst>
          </p:cNvPr>
          <p:cNvSpPr txBox="1"/>
          <p:nvPr/>
        </p:nvSpPr>
        <p:spPr>
          <a:xfrm>
            <a:off x="0" y="181957"/>
            <a:ext cx="12019934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latin typeface="Calibir"/>
              </a:rPr>
              <a:t>Completed Python — Lab4Exc10.py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n = int(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input(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"How many Fibonacci numbers? "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)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)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if n &lt;= 0: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print(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"Please enter a positive number."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)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else: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first = 1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second = 1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if n &gt;= 1: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print(first)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if n &gt;= 2: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print(second)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for </a:t>
            </a:r>
            <a:r>
              <a:rPr lang="en-US" sz="1000" dirty="0" err="1">
                <a:highlight>
                  <a:srgbClr val="FFFF00"/>
                </a:highlight>
                <a:latin typeface="Calibir"/>
              </a:rPr>
              <a:t>i</a:t>
            </a:r>
            <a:r>
              <a:rPr lang="en-US" sz="1000" dirty="0">
                <a:highlight>
                  <a:srgbClr val="FFFF00"/>
                </a:highlight>
                <a:latin typeface="Calibir"/>
              </a:rPr>
              <a:t> in range(3, n + 1):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000" dirty="0" err="1">
                <a:highlight>
                  <a:srgbClr val="FFFF00"/>
                </a:highlight>
                <a:latin typeface="Calibir"/>
              </a:rPr>
              <a:t>next_number</a:t>
            </a:r>
            <a:r>
              <a:rPr lang="en-US" sz="1000" dirty="0">
                <a:highlight>
                  <a:srgbClr val="FFFF00"/>
                </a:highlight>
                <a:latin typeface="Calibir"/>
              </a:rPr>
              <a:t> =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    first + second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print(</a:t>
            </a:r>
            <a:r>
              <a:rPr lang="en-US" sz="1000" dirty="0" err="1">
                <a:highlight>
                  <a:srgbClr val="FFFF00"/>
                </a:highlight>
                <a:latin typeface="Calibir"/>
              </a:rPr>
              <a:t>next_number</a:t>
            </a:r>
            <a:r>
              <a:rPr lang="en-US" sz="1000" dirty="0">
                <a:highlight>
                  <a:srgbClr val="FFFF00"/>
                </a:highlight>
                <a:latin typeface="Calibir"/>
              </a:rPr>
              <a:t>)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first = second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second = </a:t>
            </a:r>
            <a:r>
              <a:rPr lang="en-US" sz="1000" dirty="0" err="1">
                <a:highlight>
                  <a:srgbClr val="FFFF00"/>
                </a:highlight>
                <a:latin typeface="Calibir"/>
              </a:rPr>
              <a:t>next_number</a:t>
            </a:r>
            <a:endParaRPr lang="en-US" sz="1000" dirty="0">
              <a:highlight>
                <a:srgbClr val="FFFF00"/>
              </a:highlight>
              <a:latin typeface="Calibir"/>
            </a:endParaRP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The assignment line must appear on one line in Python:</a:t>
            </a:r>
          </a:p>
          <a:p>
            <a:r>
              <a:rPr lang="en-US" sz="1000" dirty="0" err="1">
                <a:highlight>
                  <a:srgbClr val="FFFF00"/>
                </a:highlight>
                <a:latin typeface="Calibir"/>
              </a:rPr>
              <a:t>next_number</a:t>
            </a:r>
            <a:r>
              <a:rPr lang="en-US" sz="1000" dirty="0">
                <a:highlight>
                  <a:srgbClr val="FFFF00"/>
                </a:highlight>
                <a:latin typeface="Calibir"/>
              </a:rPr>
              <a:t> = first + second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So the copy-ready version is: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n = int(input("How many Fibonacci numbers? "))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if n &lt;= 0: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print("Please enter a positive number.")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else: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first = 1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second = 1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if n &gt;= 1: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print(first)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if n &gt;= 2: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print(second)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for </a:t>
            </a:r>
            <a:r>
              <a:rPr lang="en-US" sz="1000" dirty="0" err="1">
                <a:highlight>
                  <a:srgbClr val="FFFF00"/>
                </a:highlight>
                <a:latin typeface="Calibir"/>
              </a:rPr>
              <a:t>i</a:t>
            </a:r>
            <a:r>
              <a:rPr lang="en-US" sz="1000" dirty="0">
                <a:highlight>
                  <a:srgbClr val="FFFF00"/>
                </a:highlight>
                <a:latin typeface="Calibir"/>
              </a:rPr>
              <a:t> in range(3, n + 1):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000" dirty="0" err="1">
                <a:highlight>
                  <a:srgbClr val="FFFF00"/>
                </a:highlight>
                <a:latin typeface="Calibir"/>
              </a:rPr>
              <a:t>next_number</a:t>
            </a:r>
            <a:r>
              <a:rPr lang="en-US" sz="1000" dirty="0">
                <a:highlight>
                  <a:srgbClr val="FFFF00"/>
                </a:highlight>
                <a:latin typeface="Calibir"/>
              </a:rPr>
              <a:t> = first + second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print(</a:t>
            </a:r>
            <a:r>
              <a:rPr lang="en-US" sz="1000" dirty="0" err="1">
                <a:highlight>
                  <a:srgbClr val="FFFF00"/>
                </a:highlight>
                <a:latin typeface="Calibir"/>
              </a:rPr>
              <a:t>next_number</a:t>
            </a:r>
            <a:r>
              <a:rPr lang="en-US" sz="1000" dirty="0">
                <a:highlight>
                  <a:srgbClr val="FFFF00"/>
                </a:highlight>
                <a:latin typeface="Calibir"/>
              </a:rPr>
              <a:t>)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first = second</a:t>
            </a:r>
          </a:p>
          <a:p>
            <a:r>
              <a:rPr lang="en-US" sz="1000" dirty="0">
                <a:highlight>
                  <a:srgbClr val="FFFF00"/>
                </a:highlight>
                <a:latin typeface="Calibir"/>
              </a:rPr>
              <a:t>        second = </a:t>
            </a:r>
            <a:r>
              <a:rPr lang="en-US" sz="1000" dirty="0" err="1">
                <a:highlight>
                  <a:srgbClr val="FFFF00"/>
                </a:highlight>
                <a:latin typeface="Calibir"/>
              </a:rPr>
              <a:t>next_number</a:t>
            </a:r>
            <a:endParaRPr lang="en-US" sz="1000" dirty="0">
              <a:highlight>
                <a:srgbClr val="FFFF00"/>
              </a:highlight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719952404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20963DC9-73D0-9ABD-9464-5B5C16B90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DE709C-D6A0-4750-912F-018C488B2866}"/>
              </a:ext>
            </a:extLst>
          </p:cNvPr>
          <p:cNvSpPr txBox="1"/>
          <p:nvPr/>
        </p:nvSpPr>
        <p:spPr>
          <a:xfrm>
            <a:off x="0" y="181957"/>
            <a:ext cx="12019934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Java — Step 1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long first = 1;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long second = 1;</a:t>
            </a:r>
          </a:p>
        </p:txBody>
      </p:sp>
    </p:spTree>
    <p:extLst>
      <p:ext uri="{BB962C8B-B14F-4D97-AF65-F5344CB8AC3E}">
        <p14:creationId xmlns:p14="http://schemas.microsoft.com/office/powerpoint/2010/main" val="2776270208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A48C262F-82CF-F8BE-700B-3007FA28E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572A8B-997D-1536-7709-AAED1B491EF6}"/>
              </a:ext>
            </a:extLst>
          </p:cNvPr>
          <p:cNvSpPr txBox="1"/>
          <p:nvPr/>
        </p:nvSpPr>
        <p:spPr>
          <a:xfrm>
            <a:off x="0" y="108215"/>
            <a:ext cx="12019934" cy="6709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Calibir"/>
              </a:rPr>
              <a:t>Completed Java — Lab4Exc10.java</a:t>
            </a:r>
          </a:p>
          <a:p>
            <a:r>
              <a:rPr lang="en-US" sz="1100" dirty="0">
                <a:latin typeface="Calibir"/>
              </a:rPr>
              <a:t>import </a:t>
            </a:r>
            <a:r>
              <a:rPr lang="en-US" sz="1100" dirty="0" err="1">
                <a:latin typeface="Calibir"/>
              </a:rPr>
              <a:t>java.util.Scanner</a:t>
            </a:r>
            <a:r>
              <a:rPr lang="en-US" sz="1100" dirty="0">
                <a:latin typeface="Calibir"/>
              </a:rPr>
              <a:t>;</a:t>
            </a:r>
          </a:p>
          <a:p>
            <a:r>
              <a:rPr lang="en-US" sz="1100" dirty="0">
                <a:latin typeface="Calibir"/>
              </a:rPr>
              <a:t>public class Lab4Exc10 {</a:t>
            </a:r>
          </a:p>
          <a:p>
            <a:r>
              <a:rPr lang="en-US" sz="1100" dirty="0">
                <a:latin typeface="Calibir"/>
              </a:rPr>
              <a:t>    public static void main(String[] </a:t>
            </a:r>
            <a:r>
              <a:rPr lang="en-US" sz="1100" dirty="0" err="1">
                <a:latin typeface="Calibir"/>
              </a:rPr>
              <a:t>args</a:t>
            </a:r>
            <a:r>
              <a:rPr lang="en-US" sz="1100" dirty="0">
                <a:latin typeface="Calibir"/>
              </a:rPr>
              <a:t>) {</a:t>
            </a:r>
          </a:p>
          <a:p>
            <a:r>
              <a:rPr lang="en-US" sz="1100" dirty="0">
                <a:latin typeface="Calibir"/>
              </a:rPr>
              <a:t>        Scanner input = new Scanner(System.in);</a:t>
            </a:r>
          </a:p>
          <a:p>
            <a:r>
              <a:rPr lang="en-US" sz="1100" dirty="0">
                <a:latin typeface="Calibir"/>
              </a:rPr>
              <a:t>        </a:t>
            </a:r>
            <a:r>
              <a:rPr lang="en-US" sz="1100" dirty="0" err="1">
                <a:latin typeface="Calibir"/>
              </a:rPr>
              <a:t>System.out.print</a:t>
            </a:r>
            <a:r>
              <a:rPr lang="en-US" sz="1100" dirty="0">
                <a:latin typeface="Calibir"/>
              </a:rPr>
              <a:t>(</a:t>
            </a:r>
          </a:p>
          <a:p>
            <a:r>
              <a:rPr lang="en-US" sz="1100" dirty="0">
                <a:latin typeface="Calibir"/>
              </a:rPr>
              <a:t>            "How many Fibonacci numbers? "</a:t>
            </a:r>
          </a:p>
          <a:p>
            <a:r>
              <a:rPr lang="en-US" sz="1100" dirty="0">
                <a:latin typeface="Calibir"/>
              </a:rPr>
              <a:t>        );</a:t>
            </a:r>
          </a:p>
          <a:p>
            <a:r>
              <a:rPr lang="en-US" sz="1100" dirty="0">
                <a:latin typeface="Calibir"/>
              </a:rPr>
              <a:t>        int n = </a:t>
            </a:r>
            <a:r>
              <a:rPr lang="en-US" sz="1100" dirty="0" err="1">
                <a:latin typeface="Calibir"/>
              </a:rPr>
              <a:t>input.nextInt</a:t>
            </a:r>
            <a:r>
              <a:rPr lang="en-US" sz="1100" dirty="0">
                <a:latin typeface="Calibir"/>
              </a:rPr>
              <a:t>();</a:t>
            </a:r>
          </a:p>
          <a:p>
            <a:r>
              <a:rPr lang="en-US" sz="1100" dirty="0">
                <a:latin typeface="Calibir"/>
              </a:rPr>
              <a:t>        if (n &lt;= 0) {</a:t>
            </a:r>
          </a:p>
          <a:p>
            <a:r>
              <a:rPr lang="en-US" sz="1100" dirty="0">
                <a:latin typeface="Calibir"/>
              </a:rPr>
              <a:t>            </a:t>
            </a:r>
            <a:r>
              <a:rPr lang="en-US" sz="1100" dirty="0" err="1">
                <a:latin typeface="Calibir"/>
              </a:rPr>
              <a:t>System.out.println</a:t>
            </a:r>
            <a:r>
              <a:rPr lang="en-US" sz="1100" dirty="0">
                <a:latin typeface="Calibir"/>
              </a:rPr>
              <a:t>(</a:t>
            </a:r>
          </a:p>
          <a:p>
            <a:r>
              <a:rPr lang="en-US" sz="1100" dirty="0">
                <a:latin typeface="Calibir"/>
              </a:rPr>
              <a:t>                "Please enter a positive number."</a:t>
            </a:r>
          </a:p>
          <a:p>
            <a:r>
              <a:rPr lang="en-US" sz="1100" dirty="0">
                <a:latin typeface="Calibir"/>
              </a:rPr>
              <a:t>            );</a:t>
            </a:r>
          </a:p>
          <a:p>
            <a:r>
              <a:rPr lang="en-US" sz="1100" dirty="0">
                <a:latin typeface="Calibir"/>
              </a:rPr>
              <a:t>        } else {</a:t>
            </a:r>
          </a:p>
          <a:p>
            <a:r>
              <a:rPr lang="en-US" sz="1100" dirty="0">
                <a:latin typeface="Calibir"/>
              </a:rPr>
              <a:t>            long first = 1;</a:t>
            </a:r>
          </a:p>
          <a:p>
            <a:r>
              <a:rPr lang="en-US" sz="1100" dirty="0">
                <a:latin typeface="Calibir"/>
              </a:rPr>
              <a:t>            long second = 1;</a:t>
            </a:r>
          </a:p>
          <a:p>
            <a:r>
              <a:rPr lang="en-US" sz="1100" dirty="0">
                <a:latin typeface="Calibir"/>
              </a:rPr>
              <a:t>            if (n &gt;= 1) {</a:t>
            </a:r>
          </a:p>
          <a:p>
            <a:r>
              <a:rPr lang="en-US" sz="1100" dirty="0">
                <a:latin typeface="Calibir"/>
              </a:rPr>
              <a:t>                </a:t>
            </a:r>
            <a:r>
              <a:rPr lang="en-US" sz="1100" dirty="0" err="1">
                <a:latin typeface="Calibir"/>
              </a:rPr>
              <a:t>System.out.println</a:t>
            </a:r>
            <a:r>
              <a:rPr lang="en-US" sz="1100" dirty="0">
                <a:latin typeface="Calibir"/>
              </a:rPr>
              <a:t>(first);</a:t>
            </a:r>
          </a:p>
          <a:p>
            <a:r>
              <a:rPr lang="en-US" sz="1100" dirty="0">
                <a:latin typeface="Calibir"/>
              </a:rPr>
              <a:t>            }</a:t>
            </a:r>
          </a:p>
          <a:p>
            <a:r>
              <a:rPr lang="en-US" sz="1100" dirty="0">
                <a:latin typeface="Calibir"/>
              </a:rPr>
              <a:t>            if (n &gt;= 2) {</a:t>
            </a:r>
          </a:p>
          <a:p>
            <a:r>
              <a:rPr lang="en-US" sz="1100" dirty="0">
                <a:latin typeface="Calibir"/>
              </a:rPr>
              <a:t>                </a:t>
            </a:r>
            <a:r>
              <a:rPr lang="en-US" sz="1100" dirty="0" err="1">
                <a:latin typeface="Calibir"/>
              </a:rPr>
              <a:t>System.out.println</a:t>
            </a:r>
            <a:r>
              <a:rPr lang="en-US" sz="1100" dirty="0">
                <a:latin typeface="Calibir"/>
              </a:rPr>
              <a:t>(second);</a:t>
            </a:r>
          </a:p>
          <a:p>
            <a:r>
              <a:rPr lang="en-US" sz="1100" dirty="0">
                <a:latin typeface="Calibir"/>
              </a:rPr>
              <a:t>            }</a:t>
            </a:r>
          </a:p>
          <a:p>
            <a:r>
              <a:rPr lang="en-US" sz="1100" dirty="0">
                <a:latin typeface="Calibir"/>
              </a:rPr>
              <a:t>            for (</a:t>
            </a:r>
          </a:p>
          <a:p>
            <a:r>
              <a:rPr lang="en-US" sz="1100" dirty="0">
                <a:latin typeface="Calibir"/>
              </a:rPr>
              <a:t>                int </a:t>
            </a:r>
            <a:r>
              <a:rPr lang="en-US" sz="1100" dirty="0" err="1">
                <a:latin typeface="Calibir"/>
              </a:rPr>
              <a:t>i</a:t>
            </a:r>
            <a:r>
              <a:rPr lang="en-US" sz="1100" dirty="0">
                <a:latin typeface="Calibir"/>
              </a:rPr>
              <a:t> = 3;</a:t>
            </a:r>
          </a:p>
          <a:p>
            <a:r>
              <a:rPr lang="en-US" sz="1100" dirty="0">
                <a:latin typeface="Calibir"/>
              </a:rPr>
              <a:t>                </a:t>
            </a:r>
            <a:r>
              <a:rPr lang="en-US" sz="1100" dirty="0" err="1">
                <a:latin typeface="Calibir"/>
              </a:rPr>
              <a:t>i</a:t>
            </a:r>
            <a:r>
              <a:rPr lang="en-US" sz="1100" dirty="0">
                <a:latin typeface="Calibir"/>
              </a:rPr>
              <a:t> &lt;= n;</a:t>
            </a:r>
          </a:p>
          <a:p>
            <a:r>
              <a:rPr lang="en-US" sz="1100" dirty="0">
                <a:latin typeface="Calibir"/>
              </a:rPr>
              <a:t>                </a:t>
            </a:r>
            <a:r>
              <a:rPr lang="en-US" sz="1100" dirty="0" err="1">
                <a:latin typeface="Calibir"/>
              </a:rPr>
              <a:t>i</a:t>
            </a:r>
            <a:r>
              <a:rPr lang="en-US" sz="1100" dirty="0">
                <a:latin typeface="Calibir"/>
              </a:rPr>
              <a:t>++</a:t>
            </a:r>
          </a:p>
          <a:p>
            <a:r>
              <a:rPr lang="en-US" sz="1100" dirty="0">
                <a:latin typeface="Calibir"/>
              </a:rPr>
              <a:t>            ) {</a:t>
            </a:r>
          </a:p>
          <a:p>
            <a:r>
              <a:rPr lang="en-US" sz="1100" dirty="0">
                <a:latin typeface="Calibir"/>
              </a:rPr>
              <a:t>                long </a:t>
            </a:r>
            <a:r>
              <a:rPr lang="en-US" sz="1100" dirty="0" err="1">
                <a:latin typeface="Calibir"/>
              </a:rPr>
              <a:t>nextNumber</a:t>
            </a:r>
            <a:r>
              <a:rPr lang="en-US" sz="1100" dirty="0">
                <a:latin typeface="Calibir"/>
              </a:rPr>
              <a:t> =</a:t>
            </a:r>
          </a:p>
          <a:p>
            <a:r>
              <a:rPr lang="en-US" sz="1100" dirty="0">
                <a:latin typeface="Calibir"/>
              </a:rPr>
              <a:t>                    first + second;</a:t>
            </a:r>
          </a:p>
          <a:p>
            <a:r>
              <a:rPr lang="en-US" sz="1100" dirty="0">
                <a:latin typeface="Calibir"/>
              </a:rPr>
              <a:t>                </a:t>
            </a:r>
            <a:r>
              <a:rPr lang="en-US" sz="1100" dirty="0" err="1">
                <a:latin typeface="Calibir"/>
              </a:rPr>
              <a:t>System.out.println</a:t>
            </a:r>
            <a:r>
              <a:rPr lang="en-US" sz="1100" dirty="0">
                <a:latin typeface="Calibir"/>
              </a:rPr>
              <a:t>(</a:t>
            </a:r>
          </a:p>
          <a:p>
            <a:r>
              <a:rPr lang="en-US" sz="1100" dirty="0">
                <a:latin typeface="Calibir"/>
              </a:rPr>
              <a:t>                    </a:t>
            </a:r>
            <a:r>
              <a:rPr lang="en-US" sz="1100" dirty="0" err="1">
                <a:latin typeface="Calibir"/>
              </a:rPr>
              <a:t>nextNumber</a:t>
            </a:r>
            <a:endParaRPr lang="en-US" sz="1100" dirty="0">
              <a:latin typeface="Calibir"/>
            </a:endParaRPr>
          </a:p>
          <a:p>
            <a:r>
              <a:rPr lang="en-US" sz="1100" dirty="0">
                <a:latin typeface="Calibir"/>
              </a:rPr>
              <a:t>                );</a:t>
            </a:r>
          </a:p>
          <a:p>
            <a:r>
              <a:rPr lang="en-US" sz="1100" dirty="0">
                <a:latin typeface="Calibir"/>
              </a:rPr>
              <a:t>                first = second;</a:t>
            </a:r>
          </a:p>
          <a:p>
            <a:r>
              <a:rPr lang="en-US" sz="1100" dirty="0">
                <a:latin typeface="Calibir"/>
              </a:rPr>
              <a:t>                second = </a:t>
            </a:r>
            <a:r>
              <a:rPr lang="en-US" sz="1100" dirty="0" err="1">
                <a:latin typeface="Calibir"/>
              </a:rPr>
              <a:t>nextNumber</a:t>
            </a:r>
            <a:r>
              <a:rPr lang="en-US" sz="1100" dirty="0">
                <a:latin typeface="Calibir"/>
              </a:rPr>
              <a:t>;</a:t>
            </a:r>
          </a:p>
          <a:p>
            <a:r>
              <a:rPr lang="en-US" sz="1100" dirty="0">
                <a:latin typeface="Calibir"/>
              </a:rPr>
              <a:t>            }</a:t>
            </a:r>
          </a:p>
          <a:p>
            <a:r>
              <a:rPr lang="en-US" sz="1100" dirty="0">
                <a:latin typeface="Calibir"/>
              </a:rPr>
              <a:t>        }</a:t>
            </a:r>
          </a:p>
          <a:p>
            <a:r>
              <a:rPr lang="en-US" sz="1100" dirty="0">
                <a:latin typeface="Calibir"/>
              </a:rPr>
              <a:t>        </a:t>
            </a:r>
            <a:r>
              <a:rPr lang="en-US" sz="1100" dirty="0" err="1">
                <a:latin typeface="Calibir"/>
              </a:rPr>
              <a:t>input.close</a:t>
            </a:r>
            <a:r>
              <a:rPr lang="en-US" sz="1100" dirty="0">
                <a:latin typeface="Calibir"/>
              </a:rPr>
              <a:t>();</a:t>
            </a:r>
          </a:p>
          <a:p>
            <a:r>
              <a:rPr lang="en-US" sz="1100" dirty="0">
                <a:latin typeface="Calibir"/>
              </a:rPr>
              <a:t>    }</a:t>
            </a:r>
          </a:p>
          <a:p>
            <a:r>
              <a:rPr lang="en-US" sz="1100" dirty="0"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41233971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BCADA-C2BC-8C89-F224-6C84B30E1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E8AB4A3-BE79-06FA-AC7C-BEC57E783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042"/>
            <a:ext cx="9144000" cy="57751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  <a:latin typeface="Calibir"/>
                <a:cs typeface="Arial" panose="020B0604020202020204" pitchFamily="34" charset="0"/>
              </a:rPr>
              <a:t>Let’s Answer Your Questions</a:t>
            </a:r>
            <a:endParaRPr lang="en-AU" dirty="0">
              <a:solidFill>
                <a:schemeClr val="tx1"/>
              </a:solidFill>
              <a:latin typeface="Calibir"/>
              <a:cs typeface="Arial" panose="020B0604020202020204" pitchFamily="34" charset="0"/>
            </a:endParaRPr>
          </a:p>
        </p:txBody>
      </p:sp>
      <p:pic>
        <p:nvPicPr>
          <p:cNvPr id="1028" name="Picture 4" descr="Answering Questions In Complete Sentences">
            <a:extLst>
              <a:ext uri="{FF2B5EF4-FFF2-40B4-BE49-F238E27FC236}">
                <a16:creationId xmlns:a16="http://schemas.microsoft.com/office/drawing/2014/main" id="{84E5527E-4D0B-667B-4471-EFDB8B314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245" y="1041882"/>
            <a:ext cx="3385511" cy="2115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0BBB43-1E60-3AC7-6893-6AAB3EFF1E14}"/>
              </a:ext>
            </a:extLst>
          </p:cNvPr>
          <p:cNvSpPr txBox="1"/>
          <p:nvPr/>
        </p:nvSpPr>
        <p:spPr>
          <a:xfrm>
            <a:off x="49443" y="3572103"/>
            <a:ext cx="12093114" cy="3261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Canvas Inbox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– For academic queries. </a:t>
            </a: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Email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– For formal communication and attachments. </a:t>
            </a: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Canvas Discussion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– For academic discussions and general queries. </a:t>
            </a: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Reminder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– Please follow up if you do not receive a response within 3 business days.</a:t>
            </a:r>
          </a:p>
        </p:txBody>
      </p:sp>
    </p:spTree>
    <p:extLst>
      <p:ext uri="{BB962C8B-B14F-4D97-AF65-F5344CB8AC3E}">
        <p14:creationId xmlns:p14="http://schemas.microsoft.com/office/powerpoint/2010/main" val="2191223589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C101F-C65F-1D84-0824-C2471518F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Tying a bow in an arrangment of presents">
            <a:extLst>
              <a:ext uri="{FF2B5EF4-FFF2-40B4-BE49-F238E27FC236}">
                <a16:creationId xmlns:a16="http://schemas.microsoft.com/office/drawing/2014/main" id="{E6D721DE-1453-5AA6-9447-209B227E21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081" r="16168" b="-2"/>
          <a:stretch/>
        </p:blipFill>
        <p:spPr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845029-98A4-9C92-04B4-320B6AFDD1B8}"/>
              </a:ext>
            </a:extLst>
          </p:cNvPr>
          <p:cNvSpPr txBox="1"/>
          <p:nvPr/>
        </p:nvSpPr>
        <p:spPr>
          <a:xfrm>
            <a:off x="6388119" y="99483"/>
            <a:ext cx="5198044" cy="665152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Happy Learning and Bright Futures Ahead!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Dr. Farshid Keivanian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Stay Connected: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linkedin.com/in/farshid-keivanian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github.com/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FarshidKeivanian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Education is the most powerful weapon you can use to change the world.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— Nelson Mandela</a:t>
            </a:r>
          </a:p>
        </p:txBody>
      </p:sp>
    </p:spTree>
    <p:extLst>
      <p:ext uri="{BB962C8B-B14F-4D97-AF65-F5344CB8AC3E}">
        <p14:creationId xmlns:p14="http://schemas.microsoft.com/office/powerpoint/2010/main" val="2540710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992</TotalTime>
  <Words>9436</Words>
  <Application>Microsoft Office PowerPoint</Application>
  <PresentationFormat>Widescreen</PresentationFormat>
  <Paragraphs>1359</Paragraphs>
  <Slides>132</Slides>
  <Notes>75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132</vt:i4>
      </vt:variant>
    </vt:vector>
  </HeadingPairs>
  <TitlesOfParts>
    <vt:vector size="141" baseType="lpstr">
      <vt:lpstr>Aptos</vt:lpstr>
      <vt:lpstr>Aptos Display</vt:lpstr>
      <vt:lpstr>Arial</vt:lpstr>
      <vt:lpstr>Calibir</vt:lpstr>
      <vt:lpstr>Calibri</vt:lpstr>
      <vt:lpstr>Cambria Math</vt:lpstr>
      <vt:lpstr>Economica</vt:lpstr>
      <vt:lpstr>Wingdings</vt:lpstr>
      <vt:lpstr>Office Theme</vt:lpstr>
      <vt:lpstr>32555 – Fundamentals of Software Development</vt:lpstr>
      <vt:lpstr>Welcome to 32555 – Fundamentals of Software Development</vt:lpstr>
      <vt:lpstr>Welcome to 32555 – Fundamentals of Software Development</vt:lpstr>
      <vt:lpstr>Week 4 Outline</vt:lpstr>
      <vt:lpstr>Have you formed your group?</vt:lpstr>
      <vt:lpstr>Have you formed your group?</vt:lpstr>
      <vt:lpstr>Have you formed your group?</vt:lpstr>
      <vt:lpstr>Have you formed your group?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Assessment Task 1: Case Study – Part 1: Analysis and Design Preparation Guide</vt:lpstr>
      <vt:lpstr>Contents</vt:lpstr>
      <vt:lpstr>Lab 4</vt:lpstr>
      <vt:lpstr>Lab 4 — DeskBankApp Second Implementation</vt:lpstr>
      <vt:lpstr>Lab 4 — DeskBankApp Second Implementation</vt:lpstr>
      <vt:lpstr>Lab 4 — DeskBankApp Second Implementation</vt:lpstr>
      <vt:lpstr>Lab 4 — DeskBankApp Second Implementation</vt:lpstr>
      <vt:lpstr>Lab 4 — DeskBankApp Second Implementation</vt:lpstr>
      <vt:lpstr>Lab 4 — DeskBankApp Second Implementation</vt:lpstr>
      <vt:lpstr>Lab 4 — DeskBankApp Second Implementation</vt:lpstr>
      <vt:lpstr>Lab 4 — DeskBankApp Second Implementation</vt:lpstr>
      <vt:lpstr>Lab 4 — DeskBankApp Second Implementation</vt:lpstr>
      <vt:lpstr>Lab 4 — DeskBankApp Second Implementation</vt:lpstr>
      <vt:lpstr>PowerPoint Presentation</vt:lpstr>
      <vt:lpstr>PowerPoint Presentation</vt:lpstr>
      <vt:lpstr>Lab 4 Exercises</vt:lpstr>
      <vt:lpstr>Exercise 1 — Numbers, Square Roots and Exponentials</vt:lpstr>
      <vt:lpstr>Exercise 1 — Numbers, Square Roots and Exponentials</vt:lpstr>
      <vt:lpstr>Exercise 1 — Numbers, Square Roots and Exponentials</vt:lpstr>
      <vt:lpstr>Exercise 1 — Numbers, Square Roots and Exponentials</vt:lpstr>
      <vt:lpstr>Exercise 1 — Numbers, Square Roots and Exponentials</vt:lpstr>
      <vt:lpstr>Exercise 1 — Numbers, Square Roots and Exponentials</vt:lpstr>
      <vt:lpstr>Exercise 1 — Numbers, Square Roots and Exponentials</vt:lpstr>
      <vt:lpstr>Lab 4 Exercises</vt:lpstr>
      <vt:lpstr>Exercise 2 — Generate 20 Random Integers</vt:lpstr>
      <vt:lpstr>Exercise 2 — Generate 20 Random Integers</vt:lpstr>
      <vt:lpstr>Exercise 2 — Generate 20 Random Integers</vt:lpstr>
      <vt:lpstr>Exercise 2 — Generate 20 Random Integers</vt:lpstr>
      <vt:lpstr>Exercise 2 — Generate 20 Random Integers</vt:lpstr>
      <vt:lpstr>Exercise 2 — Generate 20 Random Integers</vt:lpstr>
      <vt:lpstr>Exercise 2 — Generate 20 Random Integers</vt:lpstr>
      <vt:lpstr>Lab 4 Exercises</vt:lpstr>
      <vt:lpstr>Exercise 3 — Print n Stars Until 0</vt:lpstr>
      <vt:lpstr>Exercise 3 — Print n Stars Until 0</vt:lpstr>
      <vt:lpstr>Exercise 3 — Print n Stars Until 0</vt:lpstr>
      <vt:lpstr>Exercise 3 — Print n Stars Until 0</vt:lpstr>
      <vt:lpstr>Exercise 3 — Print n Stars Until 0</vt:lpstr>
      <vt:lpstr>Lab 4 Exercises</vt:lpstr>
      <vt:lpstr>Exercise 4 — Find Minimum and Maximum</vt:lpstr>
      <vt:lpstr>Exercise 4 — Find Minimum and Maximum</vt:lpstr>
      <vt:lpstr>Exercise 4 — Find Minimum and Maximum</vt:lpstr>
      <vt:lpstr>Exercise 4 — Find Minimum and Maximum</vt:lpstr>
      <vt:lpstr>PowerPoint Presentation</vt:lpstr>
      <vt:lpstr>Lab 4 Exercises</vt:lpstr>
      <vt:lpstr>Exercise 5 — Sum Even Numbers from 1 to n</vt:lpstr>
      <vt:lpstr>Exercise 5 — Sum Even Numbers from 1 to n</vt:lpstr>
      <vt:lpstr>Exercise 5 — Sum Even Numbers from 1 to n</vt:lpstr>
      <vt:lpstr>Exercise 5 — Sum Even Numbers from 1 to n</vt:lpstr>
      <vt:lpstr>Lab 4 Exercises</vt:lpstr>
      <vt:lpstr>Exercise 6 — Seeded Random Numbers and Even Sum</vt:lpstr>
      <vt:lpstr>Exercise 6 — Seeded Random Numbers and Even Sum</vt:lpstr>
      <vt:lpstr>Exercise 6 — Seeded Random Numbers and Even Sum</vt:lpstr>
      <vt:lpstr>PowerPoint Presentation</vt:lpstr>
      <vt:lpstr>Lab 4 Exercises</vt:lpstr>
      <vt:lpstr>Exercise 7 — Count Vowels Until Dot</vt:lpstr>
      <vt:lpstr>Exercise 7 — Count Vowels Until Dot</vt:lpstr>
      <vt:lpstr>Exercise 7 — Count Vowels Until Dot</vt:lpstr>
      <vt:lpstr>Exercise 7 — Count Vowels Until Dot</vt:lpstr>
      <vt:lpstr>PowerPoint Presentation</vt:lpstr>
      <vt:lpstr>Lab 4 Exercises</vt:lpstr>
      <vt:lpstr>Exercise 8 — Factorial</vt:lpstr>
      <vt:lpstr>Exercise 8 — Factorial</vt:lpstr>
      <vt:lpstr>PowerPoint Presentation</vt:lpstr>
      <vt:lpstr>PowerPoint Presentation</vt:lpstr>
      <vt:lpstr>Lab 4 Exercises</vt:lpstr>
      <vt:lpstr>Exercise 9 — Guess the Secret Number</vt:lpstr>
      <vt:lpstr>Exercise 9 — Guess the Secret Number</vt:lpstr>
      <vt:lpstr>Exercise 9 — Guess the Secret Number</vt:lpstr>
      <vt:lpstr>Exercise 9 — Guess the Secret Number</vt:lpstr>
      <vt:lpstr>Exercise 9 — Guess the Secret Number</vt:lpstr>
      <vt:lpstr>Lab 4 Exercises</vt:lpstr>
      <vt:lpstr>Exercise 10 — Fibonacci Series</vt:lpstr>
      <vt:lpstr>Exercise 10 — Fibonacci Series</vt:lpstr>
      <vt:lpstr>PowerPoint Presentation</vt:lpstr>
      <vt:lpstr>PowerPoint Presentation</vt:lpstr>
      <vt:lpstr>PowerPoint Presentation</vt:lpstr>
      <vt:lpstr>Let’s Answer Your Questions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Farshid Keivanian</dc:creator>
  <cp:lastModifiedBy>Farshid Keivanian</cp:lastModifiedBy>
  <cp:revision>395</cp:revision>
  <dcterms:created xsi:type="dcterms:W3CDTF">2025-07-28T16:39:25Z</dcterms:created>
  <dcterms:modified xsi:type="dcterms:W3CDTF">2026-08-18T17:53:28Z</dcterms:modified>
</cp:coreProperties>
</file>