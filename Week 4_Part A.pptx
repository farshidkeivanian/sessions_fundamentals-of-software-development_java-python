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6"/>
  </p:notesMasterIdLst>
  <p:sldIdLst>
    <p:sldId id="2522" r:id="rId2"/>
    <p:sldId id="2443" r:id="rId3"/>
    <p:sldId id="2633" r:id="rId4"/>
    <p:sldId id="2467" r:id="rId5"/>
    <p:sldId id="2630" r:id="rId6"/>
    <p:sldId id="2634" r:id="rId7"/>
    <p:sldId id="2632" r:id="rId8"/>
    <p:sldId id="2637" r:id="rId9"/>
    <p:sldId id="2638" r:id="rId10"/>
    <p:sldId id="2639" r:id="rId11"/>
    <p:sldId id="2640" r:id="rId12"/>
    <p:sldId id="2641" r:id="rId13"/>
    <p:sldId id="2746" r:id="rId14"/>
    <p:sldId id="2747" r:id="rId15"/>
    <p:sldId id="2582" r:id="rId16"/>
    <p:sldId id="2636" r:id="rId17"/>
    <p:sldId id="2642" r:id="rId18"/>
    <p:sldId id="2681" r:id="rId19"/>
    <p:sldId id="2643" r:id="rId20"/>
    <p:sldId id="2644" r:id="rId21"/>
    <p:sldId id="2645" r:id="rId22"/>
    <p:sldId id="2646" r:id="rId23"/>
    <p:sldId id="2647" r:id="rId24"/>
    <p:sldId id="2648" r:id="rId25"/>
    <p:sldId id="2649" r:id="rId26"/>
    <p:sldId id="2650" r:id="rId27"/>
    <p:sldId id="2651" r:id="rId28"/>
    <p:sldId id="2652" r:id="rId29"/>
    <p:sldId id="2653" r:id="rId30"/>
    <p:sldId id="2654" r:id="rId31"/>
    <p:sldId id="2655" r:id="rId32"/>
    <p:sldId id="2656" r:id="rId33"/>
    <p:sldId id="2657" r:id="rId34"/>
    <p:sldId id="2658" r:id="rId35"/>
    <p:sldId id="2659" r:id="rId36"/>
    <p:sldId id="2660" r:id="rId37"/>
    <p:sldId id="2661" r:id="rId38"/>
    <p:sldId id="2662" r:id="rId39"/>
    <p:sldId id="2663" r:id="rId40"/>
    <p:sldId id="2664" r:id="rId41"/>
    <p:sldId id="2665" r:id="rId42"/>
    <p:sldId id="2666" r:id="rId43"/>
    <p:sldId id="2682" r:id="rId44"/>
    <p:sldId id="2667" r:id="rId45"/>
    <p:sldId id="2678" r:id="rId46"/>
    <p:sldId id="2679" r:id="rId47"/>
    <p:sldId id="2680" r:id="rId48"/>
    <p:sldId id="2668" r:id="rId49"/>
    <p:sldId id="2669" r:id="rId50"/>
    <p:sldId id="2670" r:id="rId51"/>
    <p:sldId id="2671" r:id="rId52"/>
    <p:sldId id="2672" r:id="rId53"/>
    <p:sldId id="2673" r:id="rId54"/>
    <p:sldId id="2674" r:id="rId55"/>
    <p:sldId id="2675" r:id="rId56"/>
    <p:sldId id="2676" r:id="rId57"/>
    <p:sldId id="2677" r:id="rId58"/>
    <p:sldId id="257" r:id="rId59"/>
    <p:sldId id="352" r:id="rId60"/>
    <p:sldId id="2683" r:id="rId61"/>
    <p:sldId id="2684" r:id="rId62"/>
    <p:sldId id="2685" r:id="rId63"/>
    <p:sldId id="2686" r:id="rId64"/>
    <p:sldId id="2687" r:id="rId65"/>
    <p:sldId id="2688" r:id="rId66"/>
    <p:sldId id="2689" r:id="rId67"/>
    <p:sldId id="2690" r:id="rId68"/>
    <p:sldId id="2691" r:id="rId69"/>
    <p:sldId id="2692" r:id="rId70"/>
    <p:sldId id="2693" r:id="rId71"/>
    <p:sldId id="2694" r:id="rId72"/>
    <p:sldId id="341" r:id="rId73"/>
    <p:sldId id="2695" r:id="rId74"/>
    <p:sldId id="2696" r:id="rId75"/>
    <p:sldId id="2697" r:id="rId76"/>
    <p:sldId id="2698" r:id="rId77"/>
    <p:sldId id="2699" r:id="rId78"/>
    <p:sldId id="2700" r:id="rId79"/>
    <p:sldId id="2701" r:id="rId80"/>
    <p:sldId id="342" r:id="rId81"/>
    <p:sldId id="2702" r:id="rId82"/>
    <p:sldId id="2703" r:id="rId83"/>
    <p:sldId id="2704" r:id="rId84"/>
    <p:sldId id="2705" r:id="rId85"/>
    <p:sldId id="2706" r:id="rId86"/>
    <p:sldId id="2707" r:id="rId87"/>
    <p:sldId id="2708" r:id="rId88"/>
    <p:sldId id="343" r:id="rId89"/>
    <p:sldId id="2709" r:id="rId90"/>
    <p:sldId id="2710" r:id="rId91"/>
    <p:sldId id="2711" r:id="rId92"/>
    <p:sldId id="2712" r:id="rId93"/>
    <p:sldId id="2713" r:id="rId94"/>
    <p:sldId id="344" r:id="rId95"/>
    <p:sldId id="2714" r:id="rId96"/>
    <p:sldId id="2715" r:id="rId97"/>
    <p:sldId id="2716" r:id="rId98"/>
    <p:sldId id="2717" r:id="rId99"/>
    <p:sldId id="2718" r:id="rId100"/>
    <p:sldId id="345" r:id="rId101"/>
    <p:sldId id="2719" r:id="rId102"/>
    <p:sldId id="2720" r:id="rId103"/>
    <p:sldId id="2721" r:id="rId104"/>
    <p:sldId id="2722" r:id="rId105"/>
    <p:sldId id="346" r:id="rId106"/>
    <p:sldId id="2723" r:id="rId107"/>
    <p:sldId id="2724" r:id="rId108"/>
    <p:sldId id="2725" r:id="rId109"/>
    <p:sldId id="2726" r:id="rId110"/>
    <p:sldId id="347" r:id="rId111"/>
    <p:sldId id="2727" r:id="rId112"/>
    <p:sldId id="2728" r:id="rId113"/>
    <p:sldId id="2729" r:id="rId114"/>
    <p:sldId id="2730" r:id="rId115"/>
    <p:sldId id="2731" r:id="rId116"/>
    <p:sldId id="348" r:id="rId117"/>
    <p:sldId id="2732" r:id="rId118"/>
    <p:sldId id="2733" r:id="rId119"/>
    <p:sldId id="2734" r:id="rId120"/>
    <p:sldId id="2735" r:id="rId121"/>
    <p:sldId id="349" r:id="rId122"/>
    <p:sldId id="2736" r:id="rId123"/>
    <p:sldId id="2737" r:id="rId124"/>
    <p:sldId id="2738" r:id="rId125"/>
    <p:sldId id="2739" r:id="rId126"/>
    <p:sldId id="2740" r:id="rId127"/>
    <p:sldId id="350" r:id="rId128"/>
    <p:sldId id="2741" r:id="rId129"/>
    <p:sldId id="2742" r:id="rId130"/>
    <p:sldId id="2743" r:id="rId131"/>
    <p:sldId id="2744" r:id="rId132"/>
    <p:sldId id="2745" r:id="rId133"/>
    <p:sldId id="1889" r:id="rId134"/>
    <p:sldId id="2524" r:id="rId1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253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ef0b59b6e_1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ef0b59b6e_1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0536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6E7B921-8755-E451-A997-163A011F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6BECB2F-ACAF-A3A0-D0BD-E65DCF7F0C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0A7D90F-9D6A-646D-95E0-F62D29749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6577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8E6AB90-AD08-6849-8B43-B4E521268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4DF8386-43B2-5738-D537-8E56F4CF3D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C30EB74-E0D1-5ABC-9B24-FB04CDEC6E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8619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E51D22A-7841-84B2-657A-170E76996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F7583B7-1B40-0A49-622C-FF7AEC0DB8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9A1434B-A9BA-9C25-A532-3CC0278FC6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4154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21EB34B-AF5A-B1BC-A424-25AED8799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9BE3408-23BE-1319-BDD2-95B200CDC4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FA2E104-C847-0D42-9867-ADA4D45F2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53395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EA48CF7-00A5-0DDD-761D-0A4E6CFBC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10DB245-466D-660E-D727-D55C35B1B6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E54AEC1-F9AB-C127-AD3B-17E7F185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50799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0EA6382-E398-F5A0-6D1A-31656FCB1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C878845-6BE8-AEC9-C5E6-BDA20ADB9F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50C40B0-4F87-41D6-9C20-EDF3E4770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2595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EDF3D96-E1C2-168B-CAED-51AD9FDEC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73456A6-98FE-DBE1-4C10-27C2AB93E6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AD76BF8-B157-7117-F3B5-F9B518DA91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61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9AA5D83-90B1-85A9-E2A1-8E599C3EE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091B112-8D75-663D-6BE3-583D16375C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F849FA4-3801-A53C-FCD0-A59989B87B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99792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1DD268B-90AA-AE2C-9559-7A582AEAD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FBC866E-D9E4-4852-09E4-935B167C42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8221566-5277-FA57-0C5D-40FA82136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39484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4486333-89BA-41B1-76DC-257E38977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83C78FC-6E7D-A0DC-F2FC-E024F34642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6F62B4B-5793-C092-CD27-1FDB400A2A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7083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DE6D5F3-A854-1F24-217C-02247574A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37D4B6D-35EA-71B1-8469-B17A333333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CB22C05-849E-D6BB-B211-DD5521EF4D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12231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57C0CC0-C241-C433-85C1-6B1255FF4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B4D2010-6DA9-B81E-981E-0E1E1B2B3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9F1AF4B-49F8-3FFD-FDBD-95C91ACE8F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26126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35380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B566C3A-22A0-2B4A-7E98-06377650E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B748744-F93A-E8A0-A978-5D3B041DC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7463694-DB2C-635E-3B89-FC7931F603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30118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CBC4531-9F07-E5CD-0484-4C19E3D4F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5E9CF16-B18F-903F-253E-FFB59E096F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2A1D93D-AEC0-8720-2AC8-C445CE74D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0340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B8A1BA5-04BE-55DE-9980-CEF3B77FF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E8E717F-FE00-CE09-43A9-0CFA3E714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1076005-173B-28EB-805E-1AFAD07FC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42059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CBDD637-A425-B358-C41D-A81C24B01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7C0AEC1-4A64-034E-13CA-D99CB3CA5C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04DCF5E-3F84-6437-472B-30EB9FF24B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79586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54010C9-B684-2FF5-4AB2-5885729ED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30FC136-586C-4969-CAA9-70071D3F1C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95BF65B-1A02-A97F-8F30-C2067C3496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84046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BD51AEE-749E-0531-44A6-4B3EADB3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723F1AA-94F5-153C-638F-59EE9C253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928C0A0-4878-D38A-D31B-710C0B2EB5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3468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F9423C5-9557-A517-6351-885748B66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3E95C0E-F344-65A5-A89F-BDEA3567AB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3AF3D833-15D5-D611-9772-148D2E3B1F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27084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69534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2DDB225-7FC1-B802-CEC3-01DD43211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A9FEFDF-AA24-4563-A18B-FFD7B9F1A0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9CA9E4A-3BD9-E8CB-0F15-BBD27FEF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56565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6163A33-1DEE-0EE4-4741-A92BCC057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C795CF2-63C8-C967-D751-CAF6677263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12E3491-3AEC-DE30-9A7B-931E741939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82221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705A97C-143A-D8A4-4D3A-1ABF1858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9A0D86C-945F-48F7-DB7D-837C0E027A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96D531C-056C-570F-562D-8040ACB465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1379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56F6653-6A17-AAAB-208E-DAC68D151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F6BDC56-A47A-D880-CB3D-D5EC3AF28E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4EBCD61-3D40-F997-AF22-F4D519036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85147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9714942-B5AA-5296-CA83-6A034D8AA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623FCA2-8B64-E631-C779-C8EE0EE560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F00367C-0FF3-B747-DB65-832FCF4CBD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202706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42B87D4-C29A-13B0-1A8C-6DB4CF923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5EE7E03-CCBC-6265-BA4C-820FBD7155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F1F4FE3-9506-5650-9DAD-AEACFEACDA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8414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9ED470A-9B0A-3116-AA86-6EF326C99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4458F3C-8828-7375-C88D-F4677269C4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3B2DB50E-8A59-0E8F-8F65-72B8930D48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04582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79983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9EB001B-849D-B2B3-F313-6A927D83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59ECA12-5EFB-865D-3B38-4E8CCE4CD3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446A658-3A47-2560-6DE1-834BDC874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9121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08966E5-70CD-4DBF-3788-5AC5BA39B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F0CA768-C010-D69A-A314-437589E6A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99DE16D-7A55-C256-3E11-FCFEBCAC73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79653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D1E17FE-6969-86B3-E36D-F9649B491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168418C-B7AD-74A7-5CFA-5B8FF7C419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5B7EA77-E0CE-919B-3BF3-76C20F3C4B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7025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E82E94A-B3E6-D5A1-0F30-143158485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0016FA5-4059-533B-1DF3-A02BF834A0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FB9739B-821D-178A-3DBA-D8A146893F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02116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5E94B66-A288-81F5-6F66-5D31F1D8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E7D6D37-0E25-4E55-8E15-B7F2AFEAC2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4466BC4-54D0-F855-68B2-3A99A41521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34966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08392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155CA39-47D8-AA41-EEC8-51C356F82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655EC28-2ACC-34B2-C7F8-01BB55115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BF1B3F5-1D3D-4E85-2590-9BF00D98E2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21038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59C363F-0FC5-F9F8-E6B1-9A9519B4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BDC5B00-5187-569A-F614-25E375FE5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EA7ECA5-369F-79D7-EF8A-D9DE84644D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83714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651FB12-C6AA-29E3-2226-E8EB8A37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83407D0-9BE6-07F6-CFD6-B66157A760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8AF2FEF-A73D-C7BF-055A-ED345B6CF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06515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5A9ADBD-626E-48CB-E2AF-F0C734199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07B3EE9-7690-730F-4CBB-4994121D4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A9F3A04-5E2B-9846-678A-4BF10CE25F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915264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7BB5AE5-D2C7-4FD2-B0FE-6D2972D44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B66F828-590A-040E-086B-85964EFD5A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9558C83-2831-E541-33AC-9DE41827D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851562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7756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CDE4EAA-0C68-A354-3F9D-ED4546607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1E1B936-09D0-3263-A165-A24211F4D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9AA1D2A-8287-3D6F-0B63-24D323C2B6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09344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59A14DD-42E8-F194-7CD4-A51EF7010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6594CFF-BD5A-311E-6BB3-BF6D34FDE3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B337153-4835-88B5-6A4A-DB6E063781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2214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BC16734-706B-2BEA-96C7-FB8CD1BF9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808DC48-1DB0-817D-3E16-404948C84B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18ED1D3-BD3C-0CD7-93F3-32BDCB399A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227209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916A888-E933-5B8C-6EC0-92D5B5F35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E3C9F7D-4652-77DA-37ED-886B7F0D73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91F76AA-0A78-B768-6D54-3662EB533C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933031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737900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0EA2AD2-C9B6-91B0-5472-4D99D9E04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4630020-3D65-1DC0-4BC7-EDEC5DDF4A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357464A-1ED0-5879-18C1-CA6C3D1FFD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33459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6D76795-C387-234D-3AE0-0FC49970E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3EB6E68-F923-C9FF-50F9-CEC21FE7E6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C88222C-0C7C-0663-38BF-DF656D7967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59436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9C4CCCC-E24B-7D04-25CF-AE2FE5725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32D9AE0-404D-68C9-9E20-C1AC56896E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FFFBD65-81DC-383E-5752-604598F532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286623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73A88F3-FC52-4F00-38BD-7FE9D31A4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E0E8A90-1C87-E7DE-94E2-EE78E3D8CC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BFBDB572-D7A1-CDF9-E26B-EF650CA9AA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335269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129649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889A4D3-6A09-37F6-699A-2E56F097B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C7E8A2A-27FF-61EB-D3C0-9563F5C904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94EEF23-5826-BF7A-3F34-C714C815BA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893284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DCB87A0-D45E-5534-4376-2B9F77AD7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2CB364D-DF9B-0103-7E07-6007A3B0AD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FC54D6A-F0C5-6A49-4BC1-CF1129424F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102861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C833BAA-292B-9191-92AB-A01E1086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143CF6D-F287-DEA2-2FCC-A8DAA59288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5F69221-BC0D-2F13-EBCA-4B456B9B07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411406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F311975-76E3-795F-F772-C2AB3CA8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4F995A6-73A9-5A69-F38E-FF6004E5A3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82B319E-76C6-81F5-14D3-7BD9E3CBAA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70202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51A6B08-35E8-38C9-B6FC-C13A3EB5F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81F37F7-8D6A-4BA9-251E-DB73C21529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88EC8BC-AA48-2523-AFD7-1A0343B6AA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6038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119414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DF660F3C-31BA-F794-6526-712443B11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7482280-9ABE-7FA2-45BB-AA9314A3EC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6225079-0BBD-496D-A98A-F643CBF62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80041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326C1AB-CF41-98DA-4606-8E5D1E91D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0481847-2C0C-EE7A-26DE-5C472AC7FC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525E37E-7FDD-6C1B-E146-7F516A840A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876429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DEAB75C-A7E6-1B64-10DA-A8754A24F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BC32DC5-272C-B62D-5B06-B2BCADD787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2C260CA-0820-51BB-006D-997FB0B7A2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687771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93FBEC9-FFA0-7139-1DCC-3F880EE9F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6168E68-5006-7DA7-4F14-0F147C0A59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104DE71-5C60-AD8A-2EDA-B3C1C11A01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608737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666437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BC8606B-2319-BC16-573E-7F48CAA08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89C2863E-1718-D13B-DDDA-96640F2E0C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E3F1EF9-6B22-537A-38AA-C58334BD3D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880831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0B72B8A-6733-F6AE-9194-BDE87B3F9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DD04066-CB92-DFBD-D63F-9EFEA889E0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28041D5-BF65-418A-3CDB-09F7AB30E6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57028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DCB7B1A-EA76-95CB-1EE1-14C0C2280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265C498-1EBD-8909-CFE9-74612E5FB8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73D258F-6CB2-76D3-A015-2FA82CF82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213560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7745C3C-60E0-5BA2-2166-3EFEF8CDB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8BC14A4-77B2-97B0-21E1-22F42B81A2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73BF2C0-D7CA-734F-F323-C6A73C7B1D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36708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776B81F-1110-E0F0-5927-E90D3746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1CC297F-2736-FCBF-9C09-C545896171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C83BB44-D087-566C-A03F-9E29027629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53725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Calculate and print each subsequent number in the series until the next number would be greater </a:t>
            </a:r>
            <a:r>
              <a:rPr lang="en-US"/>
              <a:t>than n.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264904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7E1E23F-9F91-C476-3FCE-6C56267B2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824405B7-19C9-3EA9-DBBD-152DBC94A1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8218EF9-5C9A-EB4A-369D-2FFD35187B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074384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64B4B25-853E-1874-BD35-F03BC5E02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E11AE1E-446F-5176-0DF1-2E0BE2CE69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336E16BE-3E71-D27E-5C41-0AC348E527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08726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73E399A-A871-05C8-58F2-4E32828BC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BFFDA0C-F9D3-D394-2962-43AC8960D1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8CCF1D0-C5B8-ACBF-3F53-15A0D1376F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426095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0AEE990-66E8-28F3-9774-AD3F5246A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1BC3C73-1A5D-6BAD-1B9C-8236C7F74D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E8F92CA-CD15-53C8-04C4-014FB5D687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178796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A5B25AF-9B0F-D3B3-5F90-EDE724F22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7EB7191-A62D-8744-1D12-78CC799930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8A0D038-B2A5-AF77-9A25-F5E33F3678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0464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31/08/2026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hani.allam@student.uts.edu.au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454" y="1360481"/>
            <a:ext cx="4605340" cy="2387600"/>
          </a:xfrm>
        </p:spPr>
        <p:txBody>
          <a:bodyPr>
            <a:normAutofit/>
          </a:bodyPr>
          <a:lstStyle/>
          <a:p>
            <a:pPr algn="l"/>
            <a:r>
              <a:rPr lang="en-US" sz="3900">
                <a:solidFill>
                  <a:schemeClr val="bg1"/>
                </a:solidFill>
                <a:latin typeface="Calibir"/>
              </a:rPr>
              <a:t>32555 – Fundamentals of Software Development</a:t>
            </a:r>
            <a:endParaRPr lang="en-AU" sz="3900">
              <a:solidFill>
                <a:schemeClr val="bg1"/>
              </a:solidFill>
              <a:latin typeface="Calibi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8A4EEB-3C3C-78E4-5144-CBDE3AFA8C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7" r="98" b="1"/>
          <a:stretch>
            <a:fillRect/>
          </a:stretch>
        </p:blipFill>
        <p:spPr>
          <a:xfrm>
            <a:off x="5800734" y="1057275"/>
            <a:ext cx="5917401" cy="47434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84C2E9E-0B5D-4B5F-9A1F-70EBDCE39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977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4851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7A11-47AE-C133-8206-569A0BB0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E1848-8E74-13DF-C09C-3CC64A483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5185FC6-5CEA-DC1B-A1DF-D2D8A89484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37669"/>
            <a:ext cx="12192000" cy="5963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Your Teaching Team: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 Yining Hu | Subject Coordinator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Yining is a Lecturer in Software Engineering. She works with many SMEs to develop software and AI solutions through student and research projects at UTS.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 yining.hu@uts.edu.au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 Xiaojie (Zoe) Lin | Tutor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Zoe is a full-stack software engineer with an interest in data analysis, specializing in JAVA, R, Python, JavaScript, PHP, Bash, and MATLAB; familiar with AWS.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  Xiaojie.Lin@uts.edu.au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 Farshid Keivanian | Tutor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 Farshid Keivanian is an experienced university lecturer and researcher with a PhD in Information Technology. He has over 15 years of teaching experience across Australian institutions,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specialising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in software engineering, data science, AI, and cybersecurity.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 Farshid.Keivanian@uts.edu.au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Yong Pov | Tutor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Yong is a full-stack software engineer with experience in React, JavaScript, TypeScript, Java, Python, SQL, and AI-assisted learning platforms.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 Yong.Pov@uts.edu.au</a:t>
            </a:r>
          </a:p>
        </p:txBody>
      </p:sp>
    </p:spTree>
    <p:extLst>
      <p:ext uri="{BB962C8B-B14F-4D97-AF65-F5344CB8AC3E}">
        <p14:creationId xmlns:p14="http://schemas.microsoft.com/office/powerpoint/2010/main" val="79433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96DC6-424A-EAE3-87C1-E5765B09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5FDA-B4C2-6DD5-17BE-680D6285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E98AB95-B27E-184F-3760-418B8D55B79F}"/>
              </a:ext>
            </a:extLst>
          </p:cNvPr>
          <p:cNvGraphicFramePr>
            <a:graphicFrameLocks noGrp="1"/>
          </p:cNvGraphicFramePr>
          <p:nvPr/>
        </p:nvGraphicFramePr>
        <p:xfrm>
          <a:off x="722671" y="1816610"/>
          <a:ext cx="9792928" cy="3681218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613329">
                  <a:extLst>
                    <a:ext uri="{9D8B030D-6E8A-4147-A177-3AD203B41FA5}">
                      <a16:colId xmlns:a16="http://schemas.microsoft.com/office/drawing/2014/main" val="79494275"/>
                    </a:ext>
                  </a:extLst>
                </a:gridCol>
                <a:gridCol w="2230244">
                  <a:extLst>
                    <a:ext uri="{9D8B030D-6E8A-4147-A177-3AD203B41FA5}">
                      <a16:colId xmlns:a16="http://schemas.microsoft.com/office/drawing/2014/main" val="2506284612"/>
                    </a:ext>
                  </a:extLst>
                </a:gridCol>
                <a:gridCol w="2864347">
                  <a:extLst>
                    <a:ext uri="{9D8B030D-6E8A-4147-A177-3AD203B41FA5}">
                      <a16:colId xmlns:a16="http://schemas.microsoft.com/office/drawing/2014/main" val="2357989121"/>
                    </a:ext>
                  </a:extLst>
                </a:gridCol>
                <a:gridCol w="3085008">
                  <a:extLst>
                    <a:ext uri="{9D8B030D-6E8A-4147-A177-3AD203B41FA5}">
                      <a16:colId xmlns:a16="http://schemas.microsoft.com/office/drawing/2014/main" val="192731506"/>
                    </a:ext>
                  </a:extLst>
                </a:gridCol>
              </a:tblGrid>
              <a:tr h="37063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Cmp1 #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Location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Time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Tutor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461216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01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Xiaojie (Zoe) Lin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370799720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07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CB11.B1.401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10:00-12:00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278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08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Yong Pov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13359214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09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18703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10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CB11.B1.401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40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4682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4 Outline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F7037C-CC18-B6E2-C69F-FD0450DC4355}"/>
              </a:ext>
            </a:extLst>
          </p:cNvPr>
          <p:cNvSpPr txBox="1"/>
          <p:nvPr/>
        </p:nvSpPr>
        <p:spPr>
          <a:xfrm>
            <a:off x="0" y="1029850"/>
            <a:ext cx="11358563" cy="573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rtl="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Have you formed your group?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Assessment Task 1: Case Study – Part 1: Analysis and Design Preparation Guide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Lab 4 Exercises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Are Control Statements?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Conditional Statements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If-Else Example: Voting Eligibility in Python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1: Try Different Ages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If-Else Example: Voting Eligibility in Java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2: Add a Second Condition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Looping Statements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Jump Statements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Bank Case Study (Link to Lab 4)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3: Try Different Transactions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4: Simulate a Blocked Account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Learning Reinforcement (2 min)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Activities 5 and 6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Problem-Solving Example (Factorial – Lab 4 Ex.8) – Python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Problem-Solving Example (Factorial – Lab 4 Ex.8) – Java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7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Role-Playing Debate Questions (2 </a:t>
            </a:r>
            <a:r>
              <a:rPr lang="en-US" sz="1600" kern="10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min)</a:t>
            </a:r>
            <a:endParaRPr lang="en-US" sz="1600" kern="100" dirty="0">
              <a:effectLst/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C6CB-FEC9-98EC-F828-6EAEB12B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BB340-6835-8309-7909-DA36086D3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Have you formed your group?</a:t>
            </a:r>
            <a:endParaRPr lang="en-AU" sz="4000" b="1" dirty="0">
              <a:latin typeface="Calibir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FD7A1A7-28B1-725E-601F-8F38C18BCBAD}"/>
              </a:ext>
            </a:extLst>
          </p:cNvPr>
          <p:cNvSpPr/>
          <p:nvPr/>
        </p:nvSpPr>
        <p:spPr>
          <a:xfrm>
            <a:off x="2443277" y="4553249"/>
            <a:ext cx="5442509" cy="13898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5698A-9953-B54A-CCC4-A69D4ECB70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018" b="13410"/>
          <a:stretch>
            <a:fillRect/>
          </a:stretch>
        </p:blipFill>
        <p:spPr>
          <a:xfrm>
            <a:off x="0" y="919654"/>
            <a:ext cx="11824138" cy="593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757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C246C-D4B9-654C-D8DC-EB8D43EEB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84768-F26B-4145-EBA9-02C8F2257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Have you formed your group?</a:t>
            </a:r>
            <a:endParaRPr lang="en-AU" sz="4000" b="1" dirty="0">
              <a:latin typeface="Calibir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859394-A88F-9766-114F-07852444D482}"/>
              </a:ext>
            </a:extLst>
          </p:cNvPr>
          <p:cNvSpPr/>
          <p:nvPr/>
        </p:nvSpPr>
        <p:spPr>
          <a:xfrm>
            <a:off x="2443277" y="4553249"/>
            <a:ext cx="5442509" cy="13898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F6272D-B179-6F91-70F7-657460199C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15" b="9732"/>
          <a:stretch>
            <a:fillRect/>
          </a:stretch>
        </p:blipFill>
        <p:spPr>
          <a:xfrm>
            <a:off x="0" y="840828"/>
            <a:ext cx="12192000" cy="565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326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90291-F964-A60C-1C6B-2F570C4BC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76A87E-9903-BA3A-FBCA-E4C7EDCD1F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122" b="5594"/>
          <a:stretch>
            <a:fillRect/>
          </a:stretch>
        </p:blipFill>
        <p:spPr>
          <a:xfrm>
            <a:off x="0" y="830317"/>
            <a:ext cx="12192000" cy="591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3BC193-02BF-4E2A-AFEE-B5DEE45B2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Have you formed your group?</a:t>
            </a:r>
            <a:endParaRPr lang="en-AU" sz="4000" b="1" dirty="0">
              <a:latin typeface="Calibir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E66896-DE0D-56C1-372D-2A4F8BAFCFCA}"/>
              </a:ext>
            </a:extLst>
          </p:cNvPr>
          <p:cNvSpPr/>
          <p:nvPr/>
        </p:nvSpPr>
        <p:spPr>
          <a:xfrm>
            <a:off x="772132" y="5404586"/>
            <a:ext cx="531151" cy="20793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9189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36946-0843-C9B9-DCED-CDC511E88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AE874-9E6A-1320-3793-FD91F7AA3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Have you formed your group?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E0092-4E59-24EF-B4C3-A037A8E865F5}"/>
              </a:ext>
            </a:extLst>
          </p:cNvPr>
          <p:cNvSpPr txBox="1"/>
          <p:nvPr/>
        </p:nvSpPr>
        <p:spPr>
          <a:xfrm>
            <a:off x="273268" y="798786"/>
            <a:ext cx="11918731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Dear Dr. Keivanian,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 hope you are doing well.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 am writing to follow up and ask whether there are any students in the other sections who are currently without a group for the Java project.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 am Hani Allam from Section 09, on Wednesdays from 16:00–18:00. I have good experience with Java and JavaFX, as Java was the main programming language used during my bachelor's degree.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 would appreciate it if you could let me know if there are any students currently looking for a group to work on the project in Java.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If there are any students interested, they can contact me at </a:t>
            </a: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  <a:hlinkClick r:id="rId2" tooltip="mailto:hani.allam@student.uts.edu.au"/>
              </a:rPr>
              <a:t>hani.allam@student.uts.edu.au</a:t>
            </a: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 to discuss forming a group.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Kind regards,</a:t>
            </a:r>
            <a:b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</a:b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Hani Allam</a:t>
            </a:r>
          </a:p>
        </p:txBody>
      </p:sp>
    </p:spTree>
    <p:extLst>
      <p:ext uri="{BB962C8B-B14F-4D97-AF65-F5344CB8AC3E}">
        <p14:creationId xmlns:p14="http://schemas.microsoft.com/office/powerpoint/2010/main" val="2955326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5F0F5-FD53-CE0F-13C1-2880609F5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B4B8F-1BBF-5623-ECC2-397852ABF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257539-71F5-F965-827D-7B64105E5A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29" r="17229" b="13735"/>
          <a:stretch>
            <a:fillRect/>
          </a:stretch>
        </p:blipFill>
        <p:spPr>
          <a:xfrm>
            <a:off x="1050274" y="1057618"/>
            <a:ext cx="10091451" cy="542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16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25420-0A41-2424-857F-599ED55F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9F222-81A7-4885-FE28-EFF606B8F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DDDF36-B7D3-B940-B81E-FFAF7E00BBEC}"/>
              </a:ext>
            </a:extLst>
          </p:cNvPr>
          <p:cNvSpPr txBox="1"/>
          <p:nvPr/>
        </p:nvSpPr>
        <p:spPr>
          <a:xfrm>
            <a:off x="126124" y="2880624"/>
            <a:ext cx="11750566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this assessment, your diagram should be based directly on the project requirements. Do not add functions that are not required by the case study.</a:t>
            </a:r>
          </a:p>
        </p:txBody>
      </p:sp>
    </p:spTree>
    <p:extLst>
      <p:ext uri="{BB962C8B-B14F-4D97-AF65-F5344CB8AC3E}">
        <p14:creationId xmlns:p14="http://schemas.microsoft.com/office/powerpoint/2010/main" val="4264798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07527-B0EA-4291-8CF8-1897FACB5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86AB1-D18D-4C22-FBE5-1FC9C83F6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C0991C-066D-8254-21F8-3CF3AB469C31}"/>
              </a:ext>
            </a:extLst>
          </p:cNvPr>
          <p:cNvSpPr txBox="1"/>
          <p:nvPr/>
        </p:nvSpPr>
        <p:spPr>
          <a:xfrm>
            <a:off x="0" y="1057617"/>
            <a:ext cx="11750566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Before You Start: What Are You Trying to Show?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 case diagram answers three simple questions: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Who uses the system?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are called actors.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can they do?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are called use cases.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are they connected?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are shown using relationships.</a:t>
            </a:r>
          </a:p>
        </p:txBody>
      </p:sp>
    </p:spTree>
    <p:extLst>
      <p:ext uri="{BB962C8B-B14F-4D97-AF65-F5344CB8AC3E}">
        <p14:creationId xmlns:p14="http://schemas.microsoft.com/office/powerpoint/2010/main" val="1596118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BF7C2-3640-0F25-833B-983E223A9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D3C0E-16D7-E0F2-931A-C7B4E8F88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87A5F-CEDE-5DA8-F645-9D6C2972911E}"/>
              </a:ext>
            </a:extLst>
          </p:cNvPr>
          <p:cNvSpPr txBox="1"/>
          <p:nvPr/>
        </p:nvSpPr>
        <p:spPr>
          <a:xfrm>
            <a:off x="0" y="1057617"/>
            <a:ext cx="11750566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this project, the main actors are: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Student</a:t>
            </a:r>
            <a:r>
              <a:rPr lang="en-US" sz="2800" dirty="0">
                <a:latin typeface="Calibir"/>
              </a:rPr>
              <a:t> – a person who registers and uses the student enrolment functions.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Admin</a:t>
            </a:r>
            <a:r>
              <a:rPr lang="en-US" sz="2800" dirty="0">
                <a:latin typeface="Calibir"/>
              </a:rPr>
              <a:t> – an existing university staff member who manages registered students.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system itself can be represented by a large rectangle called: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University Self-Enrolment System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and Admin actors stay outside this rectangle, while the use cases stay inside it.</a:t>
            </a:r>
          </a:p>
        </p:txBody>
      </p:sp>
    </p:spTree>
    <p:extLst>
      <p:ext uri="{BB962C8B-B14F-4D97-AF65-F5344CB8AC3E}">
        <p14:creationId xmlns:p14="http://schemas.microsoft.com/office/powerpoint/2010/main" val="23087789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7F053-972F-91E1-E72D-0801611DC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CCF4F-5D64-0D08-BB20-0D66DA616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14C6B0-1FF8-3472-9A08-2034E9C3C60A}"/>
              </a:ext>
            </a:extLst>
          </p:cNvPr>
          <p:cNvSpPr txBox="1"/>
          <p:nvPr/>
        </p:nvSpPr>
        <p:spPr>
          <a:xfrm>
            <a:off x="0" y="1057617"/>
            <a:ext cx="1175056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For the UML Use Case Diagram in this project, the external actors are Student and Admin.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system itself is not an actor in its own use case diagram. It is represented by the system boundary, and the use cases are placed inside that boundary.</a:t>
            </a:r>
          </a:p>
        </p:txBody>
      </p:sp>
    </p:spTree>
    <p:extLst>
      <p:ext uri="{BB962C8B-B14F-4D97-AF65-F5344CB8AC3E}">
        <p14:creationId xmlns:p14="http://schemas.microsoft.com/office/powerpoint/2010/main" val="3456417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00009-8275-B787-D347-98198D57B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3CD3B-8952-DFA9-62CB-EB13A8694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6ECBE4-D30E-5641-A821-2E05F81AAF6B}"/>
              </a:ext>
            </a:extLst>
          </p:cNvPr>
          <p:cNvSpPr txBox="1"/>
          <p:nvPr/>
        </p:nvSpPr>
        <p:spPr>
          <a:xfrm>
            <a:off x="0" y="1057617"/>
            <a:ext cx="1175056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Important: </a:t>
            </a:r>
            <a:r>
              <a:rPr lang="en-US" sz="2800" dirty="0">
                <a:latin typeface="Calibir"/>
              </a:rPr>
              <a:t>This is different from the User-Story Backlog. In the backlog, the User column can represent a person or entity taking the action, so System may appear there for an automatic system action. Do not confuse a backlog “User” with a UML “Actor”.</a:t>
            </a:r>
          </a:p>
        </p:txBody>
      </p:sp>
    </p:spTree>
    <p:extLst>
      <p:ext uri="{BB962C8B-B14F-4D97-AF65-F5344CB8AC3E}">
        <p14:creationId xmlns:p14="http://schemas.microsoft.com/office/powerpoint/2010/main" val="10983618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38528-87AF-7129-060C-DE790DB4C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AF254F-AB63-28F3-F755-37CA5E9C27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362" t="14618" r="44428" b="24659"/>
          <a:stretch>
            <a:fillRect/>
          </a:stretch>
        </p:blipFill>
        <p:spPr>
          <a:xfrm>
            <a:off x="0" y="1057617"/>
            <a:ext cx="3955055" cy="5358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0344D-E86E-2DDF-C345-8E7CCE853BBE}"/>
              </a:ext>
            </a:extLst>
          </p:cNvPr>
          <p:cNvSpPr txBox="1"/>
          <p:nvPr/>
        </p:nvSpPr>
        <p:spPr>
          <a:xfrm>
            <a:off x="4151670" y="825911"/>
            <a:ext cx="804032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1. Open the Use Case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Visual Paradigm, create a new project or open your Assessment 1 project.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Select: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Diagram → New → UML → Use Case Diagram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already see a blank page similar to the screenshot provided, you are ready to continue.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9449701-BB74-5FC9-8CFB-024AC3FF7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565443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459D1-56A0-6BEF-08B4-D65E3E36B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32B541-4161-BB7B-58A6-DD6A9AD140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7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AEDA501-354C-FD7C-8D10-FFDF14B998D4}"/>
              </a:ext>
            </a:extLst>
          </p:cNvPr>
          <p:cNvSpPr txBox="1"/>
          <p:nvPr/>
        </p:nvSpPr>
        <p:spPr>
          <a:xfrm>
            <a:off x="5982930" y="1661834"/>
            <a:ext cx="6209070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Use Case Diagram is the correct UML diagram for representing interactions between users and system functionality.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You learn how to select the correct UML modelling technique for a software requirement.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15A139F-6FDF-D8CB-9265-CC31CC4E0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86273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755BD-900E-AFD0-CCF6-39840EAB8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DC58451-B928-B81A-A5DA-4D8B0471F9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ED0D1F-D48A-0F1B-A4E5-762CC9D1FA86}"/>
              </a:ext>
            </a:extLst>
          </p:cNvPr>
          <p:cNvSpPr txBox="1"/>
          <p:nvPr/>
        </p:nvSpPr>
        <p:spPr>
          <a:xfrm>
            <a:off x="4144297" y="1167248"/>
            <a:ext cx="8047703" cy="390350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2 – Create the System Boundary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the toolbox on the left side of Visual Paradigm, select 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and drag on the blank diagram area to create a large rectangle.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Rename it: University Self-Enrolment System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B1BF792-D93E-5EFE-2B1E-412A8FE53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688605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7FF7-5401-4582-8EF3-F0A53336C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2B1A28-D421-4A72-8D42-5CE9B7F8E4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3355AF-7564-BDAA-2933-FC22D6F43B10}"/>
              </a:ext>
            </a:extLst>
          </p:cNvPr>
          <p:cNvSpPr txBox="1"/>
          <p:nvPr/>
        </p:nvSpPr>
        <p:spPr>
          <a:xfrm>
            <a:off x="4144297" y="1167248"/>
            <a:ext cx="8047703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Q: What defines the scope of our system?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A: The system boundary.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Now do: Select System from the left toolbar, draw the rectangle, and name it University Self-Enrolment System.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080B4F1-637A-7984-8AD7-6D64F8B6B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094218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51ABE-47AB-80F9-8F79-41351BB63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E479CA-1982-A6AC-D7AC-EC6F86511E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A93FD6-05E9-6D3C-9260-FEC6B97C1DCE}"/>
              </a:ext>
            </a:extLst>
          </p:cNvPr>
          <p:cNvSpPr txBox="1"/>
          <p:nvPr/>
        </p:nvSpPr>
        <p:spPr>
          <a:xfrm>
            <a:off x="4144297" y="1167248"/>
            <a:ext cx="8047703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Make the rectangle large enough to place all the required use cases inside it.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system boundary tells the reader which functions belong to the application.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Anything inside the rectangle is functionality provided by the university application.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actors remain outside the rectangle.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A79B8A-99A5-5736-1EED-C89EADEE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8175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4826-D890-E7A6-B682-9E565D39A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121418-149A-1E9E-E4E0-AAE43D57A3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F119BD-9EE2-AEFE-C01A-9AD4101B37AA}"/>
              </a:ext>
            </a:extLst>
          </p:cNvPr>
          <p:cNvSpPr txBox="1"/>
          <p:nvPr/>
        </p:nvSpPr>
        <p:spPr>
          <a:xfrm>
            <a:off x="4144297" y="1167248"/>
            <a:ext cx="8047703" cy="2610843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to define the scope of a software system and distinguish between the system and its users.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A9E0755-D76B-E8C3-1053-26270DAE9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98490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7F88D-2705-981F-394B-197DC9715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1D095D-55A5-A17F-ACAE-700302013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7E9B01-355B-54BB-6FFD-40915D2C1F4C}"/>
              </a:ext>
            </a:extLst>
          </p:cNvPr>
          <p:cNvSpPr txBox="1"/>
          <p:nvPr/>
        </p:nvSpPr>
        <p:spPr>
          <a:xfrm>
            <a:off x="4144297" y="1167248"/>
            <a:ext cx="8047703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 – Add the Student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Locate the Actor tool in the Visual Paradigm toolbox. Select Actor, then click on the left side outside the system rectangle.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Rename the actor: Student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75FE395-2B92-9D70-00AA-D09C82CBB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668496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FD98A-7509-A629-8AAF-19983B174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CDCC89-0B92-6173-F7B9-312D35B1D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F3DD9D-7705-AD87-9F8C-2BF992C2336C}"/>
              </a:ext>
            </a:extLst>
          </p:cNvPr>
          <p:cNvSpPr txBox="1"/>
          <p:nvPr/>
        </p:nvSpPr>
        <p:spPr>
          <a:xfrm>
            <a:off x="4144297" y="1167248"/>
            <a:ext cx="8047703" cy="390350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is one of the main users interacting with the 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should be shown as an actor rather than as part of the system because the Student is an external user.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2D15E45-FE6D-1783-24DD-83A193B24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29744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848D5-B4A9-73B0-D8E8-BD9D2697B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B97011-1587-6ACC-D63F-170A9E1D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CEFD696-A912-3038-965C-F02DA606CA57}"/>
              </a:ext>
            </a:extLst>
          </p:cNvPr>
          <p:cNvSpPr txBox="1"/>
          <p:nvPr/>
        </p:nvSpPr>
        <p:spPr>
          <a:xfrm>
            <a:off x="4144297" y="1167248"/>
            <a:ext cx="8047703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to identify actors from written software requirements.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useful question is: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“Who is asking the system to perform something?”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example, when the requirement says that students can </a:t>
            </a:r>
            <a:r>
              <a:rPr lang="en-US" sz="2800" dirty="0" err="1">
                <a:latin typeface="Calibir"/>
              </a:rPr>
              <a:t>enrol</a:t>
            </a:r>
            <a:r>
              <a:rPr lang="en-US" sz="2800" dirty="0">
                <a:latin typeface="Calibir"/>
              </a:rPr>
              <a:t> in subjects, the Student is the actor.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791574-131C-DC2C-5D7B-1FFA6FEA6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3866670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96717-2E79-057B-4331-699566CCA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DA29FF-7024-442F-11AE-1609D9D923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8784C2-3E0A-F3B7-EBCB-C77587F46E30}"/>
              </a:ext>
            </a:extLst>
          </p:cNvPr>
          <p:cNvSpPr txBox="1"/>
          <p:nvPr/>
        </p:nvSpPr>
        <p:spPr>
          <a:xfrm>
            <a:off x="4144297" y="1167248"/>
            <a:ext cx="8047703" cy="390350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 – Add the Admin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another actor outside the system boundary, preferably on the right side.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Rename it: Admin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Remember that the case study states that Admins are existing university staff and do not need to register.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DE0ED6-9DDC-6ECC-8E08-D57CED96D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6984706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6505-7AB0-51FC-5532-C5B7C65A1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620E61-80A7-914E-81D7-57863AEF14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BA4CD0-34FD-AE60-4401-1F7FD9209E66}"/>
              </a:ext>
            </a:extLst>
          </p:cNvPr>
          <p:cNvSpPr txBox="1"/>
          <p:nvPr/>
        </p:nvSpPr>
        <p:spPr>
          <a:xfrm>
            <a:off x="4144297" y="1167248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 and Admin have different responsibilities.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Keeping them as separate actors makes the system requirements easier to understand.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separating different user roles and responsibilities.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8ACC5C2-5EEF-43A9-2E20-7B13AE1BC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492462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15C7-BC62-7888-FF13-2533B8188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8D575D6-6BA2-18A2-2FE6-CF3A146B83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35C6BB-F9E8-890A-A5B3-94F41CD74938}"/>
              </a:ext>
            </a:extLst>
          </p:cNvPr>
          <p:cNvSpPr txBox="1"/>
          <p:nvPr/>
        </p:nvSpPr>
        <p:spPr>
          <a:xfrm>
            <a:off x="4144297" y="1167248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5 – Create the Student Registration Use Cases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Inside the system boundary, create use cases for the registration process.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 case is normally shown as an oval.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the Requirements and create them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can position these near the upper-left area of the system.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7D90145-5011-0CE3-0ECE-7D7B66735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5362476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17189-17E3-8DB2-6FB2-74D268003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54462CC-546F-ACA4-4BCA-6F43915C98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7036F1F-BF42-E63B-A5FD-B50E55A6BEF6}"/>
              </a:ext>
            </a:extLst>
          </p:cNvPr>
          <p:cNvSpPr txBox="1"/>
          <p:nvPr/>
        </p:nvSpPr>
        <p:spPr>
          <a:xfrm>
            <a:off x="4144297" y="1167248"/>
            <a:ext cx="8047703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project requires students to register before accessing the 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Registration involves several important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: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entering registration information;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checking the email;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checking the password;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generating the six-digit student ID.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4B527-D808-E648-6176-26BB8A8DA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9466565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D7D11-7B25-7506-10EE-C90D7B602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B27601-D919-D930-5D41-C23D46B6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BA0D26-478A-968E-0015-D2E57577E2FF}"/>
              </a:ext>
            </a:extLst>
          </p:cNvPr>
          <p:cNvSpPr txBox="1"/>
          <p:nvPr/>
        </p:nvSpPr>
        <p:spPr>
          <a:xfrm>
            <a:off x="4144297" y="1167248"/>
            <a:ext cx="8047703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Breaking the requirement into meaningful use cases makes the design clearer.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to decompose a large requirement into smaller system functions.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783853C-D5EF-2679-0EF7-FA488233E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8509330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63AB1-214C-C3EF-71D4-39A343AEA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F339D6-55BF-62BF-DB3F-202EC48252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7662C4-8B53-1696-979F-FC1E824695D1}"/>
              </a:ext>
            </a:extLst>
          </p:cNvPr>
          <p:cNvSpPr txBox="1"/>
          <p:nvPr/>
        </p:nvSpPr>
        <p:spPr>
          <a:xfrm>
            <a:off x="4144297" y="1167248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5 – Create the Student Registration Use Cases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Inside the system boundary, create use cases for the registration process.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 case is normally shown as an oval.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the Requirements and create them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can position these near the upper-left area of the system.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49811E-DC45-ED46-C948-09F00A70D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133203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5F3B0-C4E2-4F63-CA49-B64CEB0F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DAA08F-1FA8-3CFF-5CB4-D3327A78BF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5F94AF-11D7-E80F-E12C-9DB2CDED4DAF}"/>
              </a:ext>
            </a:extLst>
          </p:cNvPr>
          <p:cNvSpPr txBox="1"/>
          <p:nvPr/>
        </p:nvSpPr>
        <p:spPr>
          <a:xfrm>
            <a:off x="4144297" y="1015502"/>
            <a:ext cx="8047703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6. Create the Student Login Use Cases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Only registered students should be able to access the Student subsystem.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Login therefore represents an important interaction between the Student and the application.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authentication requirements are represented in system modelling.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FF69307-308E-A752-7204-6266CBB2C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586232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4C3F6-0434-B58D-AD50-5AB09827B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AA08A7-E7DE-D984-A646-8485F92EE4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892523-7A7B-5083-5082-F864397008A4}"/>
              </a:ext>
            </a:extLst>
          </p:cNvPr>
          <p:cNvSpPr txBox="1"/>
          <p:nvPr/>
        </p:nvSpPr>
        <p:spPr>
          <a:xfrm>
            <a:off x="4144297" y="1015502"/>
            <a:ext cx="8047703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7 – Add the Main Student Functions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required use cases inside the system: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Connect the Student actor to each of those use cases you add.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are directly stated in the project brief.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EBDEEC7-2F0A-9662-2CDB-004C1FC7D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566835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1025F-C4D2-694A-9C88-C8E013B55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DAEAF2-6BDF-3F44-A444-2EFC8C5B18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30B4551-03B8-F336-CB6B-FB8DEC73522F}"/>
              </a:ext>
            </a:extLst>
          </p:cNvPr>
          <p:cNvSpPr txBox="1"/>
          <p:nvPr/>
        </p:nvSpPr>
        <p:spPr>
          <a:xfrm>
            <a:off x="4144297" y="1015502"/>
            <a:ext cx="8047703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case diagrams should be based on actual requirements, not assumptions.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four actions are specifically listed as operations available to registered students.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converting written customer requirements into UML use cases.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DF9F46D-ACD6-F4BD-957D-8600E6BB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33438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99B41-C88C-7B59-935A-18FD8E1E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05362E-6DE5-D72D-F01E-1318C250C0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824F28-17ED-50E9-6ABC-E5F6AA16C24E}"/>
              </a:ext>
            </a:extLst>
          </p:cNvPr>
          <p:cNvSpPr txBox="1"/>
          <p:nvPr/>
        </p:nvSpPr>
        <p:spPr>
          <a:xfrm>
            <a:off x="4144297" y="1015502"/>
            <a:ext cx="8047703" cy="562602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8 – Add the Supporting Enrolment Functions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 enrolment process has several automatic system </a:t>
            </a:r>
            <a:r>
              <a:rPr lang="en-US" sz="2200" dirty="0" err="1">
                <a:latin typeface="Calibir"/>
              </a:rPr>
              <a:t>behaviours</a:t>
            </a:r>
            <a:r>
              <a:rPr lang="en-US" sz="22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Identify the automatic </a:t>
            </a:r>
            <a:r>
              <a:rPr lang="en-US" sz="2200" dirty="0" err="1">
                <a:latin typeface="Calibir"/>
              </a:rPr>
              <a:t>behaviours</a:t>
            </a:r>
            <a:r>
              <a:rPr lang="en-US" sz="2200" dirty="0">
                <a:latin typeface="Calibir"/>
              </a:rPr>
              <a:t> required to complete enrolment. Decide whether they need to appear as supporting use cases or whether they are better explained as rules/steps within the main use case. Do not turn every programming operation into a separate use case. These support the main </a:t>
            </a:r>
            <a:r>
              <a:rPr lang="en-US" sz="2200" dirty="0" err="1">
                <a:latin typeface="Calibir"/>
              </a:rPr>
              <a:t>Enrol</a:t>
            </a:r>
            <a:r>
              <a:rPr lang="en-US" sz="2200" dirty="0">
                <a:latin typeface="Calibir"/>
              </a:rPr>
              <a:t> in Subject use case.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 system must make sure that the Student has no more than four subjects.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When enrolment is successful, the system automatically do required actions.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206FB53-BD92-C3B1-239C-6891E25FA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60235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2150E-2E75-D79A-C3A8-E2AE81751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074FBE5-1320-238B-0457-28453BE85B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EAE981-0EF6-E06F-65E3-036F65607D47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functions happen as part of enrolment even though the Student does not manually request each one.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the difference between a user goal and an internal function required to complete that goal.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C850AFE-ED23-60FA-456C-47934BC87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13415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3D4A-C9D0-7787-CA66-FB6DFAC3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35B7528-ABD1-7E47-C2DD-27C5ABD69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7C15EE-B0E5-541E-F654-89FB48E2A7D2}"/>
              </a:ext>
            </a:extLst>
          </p:cNvPr>
          <p:cNvSpPr txBox="1"/>
          <p:nvPr/>
        </p:nvSpPr>
        <p:spPr>
          <a:xfrm>
            <a:off x="4144297" y="1015502"/>
            <a:ext cx="8047703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9 – Add the Admin Use Cases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the required use cases on the Admin side of the system: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Connect the Admin actor to each of them.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They will be the student-management functions explicitly assigned to Admins in the project brief.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Admin does not use the Student registration process.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22B8659-9CD2-A4A8-40DD-3ED7171B5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220001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80C58-D337-CAAC-83A8-C76BD423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930E55-A54F-1592-DF06-65F0782CD7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59B10F-A103-E085-9DE7-561CD0FA9D91}"/>
              </a:ext>
            </a:extLst>
          </p:cNvPr>
          <p:cNvSpPr txBox="1"/>
          <p:nvPr/>
        </p:nvSpPr>
        <p:spPr>
          <a:xfrm>
            <a:off x="4144297" y="1015502"/>
            <a:ext cx="8047703" cy="1964512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mapping permissions and functionality to the correct user role.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82A0E7B-FC55-D12E-141A-FEF08FF2B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5116825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66658-F580-0E64-21B1-372B23DF6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E6A3EB-7C20-A703-E590-8413F0D95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939EE3-3C77-78CD-496E-62ECD3CCFDE6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10 – Add Relationships Between Actors and Use Cases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may think if it is correct to use a normal Association line for connecting an actor to a use case that the actor directly performs.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correct, an association is normally drawn as a solid line without an arrow.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873065-91CA-9A3C-D286-6C5265539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151636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C6E0B-727D-1F34-8022-14D8626C5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2B5171-B35B-5ECD-2883-ED94A7D3D6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7240A6-0173-ED6F-686F-A1AD606915FE}"/>
              </a:ext>
            </a:extLst>
          </p:cNvPr>
          <p:cNvSpPr txBox="1"/>
          <p:nvPr/>
        </p:nvSpPr>
        <p:spPr>
          <a:xfrm>
            <a:off x="4144297" y="1015502"/>
            <a:ext cx="8047703" cy="390350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association tells the reader which actor initiates or participates in a use case.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to communicate user-system interactions using standard UML notation.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A85AC22-8210-F31C-706D-E02B07B66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857577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CE25A-0F3E-9221-B2D0-071136E6D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06A519-F81B-63E9-9547-F7C764212B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B8D541-0C60-F4AC-1F37-E191BDF73552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11 – Use &lt;&lt;include&gt;&gt; Where the Function Must Always Occur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&lt;&lt;include&gt;&gt; when one use case must perform another use case every time.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When drawing &lt;&lt;include&gt;&gt;, the dashed arrow should point towards the included use case.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example: Register → Validate Email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7883718-EF35-4795-6083-630B7B100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64402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0FEB3-091D-71CB-B314-2A50E7A7A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D7976D-6F61-2DD2-12DB-4CBB3DC33E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537A9E-29CC-9F80-44CA-0061C34CB68D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Email validation is not optional during registration. Therefore, it is something the Register use case must include.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to </a:t>
            </a:r>
            <a:r>
              <a:rPr lang="en-US" sz="2800" dirty="0" err="1">
                <a:latin typeface="Calibir"/>
              </a:rPr>
              <a:t>recognise</a:t>
            </a:r>
            <a:r>
              <a:rPr lang="en-US" sz="2800" dirty="0">
                <a:latin typeface="Calibir"/>
              </a:rPr>
              <a:t> mandatory reusable system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E14E9B8-0C83-CF86-1FEB-60DB0406A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7806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E2476-1DC3-26E3-6136-8ED749D31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A1E98F-4E8F-1AB9-8E30-DD67DEF39A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12D29B8-D49D-406B-C707-E776AA8BCA2F}"/>
              </a:ext>
            </a:extLst>
          </p:cNvPr>
          <p:cNvSpPr txBox="1"/>
          <p:nvPr/>
        </p:nvSpPr>
        <p:spPr>
          <a:xfrm>
            <a:off x="4144297" y="1015502"/>
            <a:ext cx="8047703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12 – Be Careful with &lt;&lt;extend&gt;&gt;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&lt;&lt;extend&gt;&gt; only where extra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happens under a particular condition.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this project, do not add &lt;&lt;extend&gt;&gt; simply because the tool is available.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example, attempting to </a:t>
            </a:r>
            <a:r>
              <a:rPr lang="en-US" sz="2800" dirty="0" err="1">
                <a:latin typeface="Calibir"/>
              </a:rPr>
              <a:t>enrol</a:t>
            </a:r>
            <a:r>
              <a:rPr lang="en-US" sz="2800" dirty="0">
                <a:latin typeface="Calibir"/>
              </a:rPr>
              <a:t> in a fifth subject causes the system to notify the Student. This can be represented as conditional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associated with checking the enrolment limit.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FA141D6-9C88-D4B5-43A2-44D641210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943706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A2258-1608-9500-7563-48EA9B015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8444C4-61C6-8D46-842C-DF95FF13DF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A650FF6-C6A2-CCFE-3617-C2BB5CCD9246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model it separately, you could create: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Display Maximum Enrolment Error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and use an extension associated with the enrolment process.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However, it is also acceptable to explain the error as part of the Check Enrolment Limit use case rather than overcrowding the diagram.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B8395CB-E0B9-F064-ED80-47CDF41C1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9476649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5ECDC-E705-7651-7131-9CF0393F9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A646A-B2F4-0A7F-D7B9-006E092749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9930C5-0391-4695-F6CD-58E9543FD50C}"/>
              </a:ext>
            </a:extLst>
          </p:cNvPr>
          <p:cNvSpPr txBox="1"/>
          <p:nvPr/>
        </p:nvSpPr>
        <p:spPr>
          <a:xfrm>
            <a:off x="3598607" y="1015502"/>
            <a:ext cx="8593394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Read: “A student can </a:t>
            </a:r>
            <a:r>
              <a:rPr lang="en-US" sz="2800" b="1" dirty="0" err="1">
                <a:latin typeface="Calibir"/>
              </a:rPr>
              <a:t>enrol</a:t>
            </a:r>
            <a:r>
              <a:rPr lang="en-US" sz="2800" b="1" dirty="0">
                <a:latin typeface="Calibir"/>
              </a:rPr>
              <a:t> in a maximum of four subjects.”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Think: What system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does this requirement imply?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The system needs to check the enrolment limit.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Model: Add Check Enrolment Limit.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It supports </a:t>
            </a:r>
            <a:r>
              <a:rPr lang="en-US" sz="2800" dirty="0" err="1">
                <a:latin typeface="Calibir"/>
              </a:rPr>
              <a:t>Enrol</a:t>
            </a:r>
            <a:r>
              <a:rPr lang="en-US" sz="2800" dirty="0">
                <a:latin typeface="Calibir"/>
              </a:rPr>
              <a:t> in Subject because the system must check the limit before accepting another subject.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FBE877-D90C-8C8D-00CA-0DF7BBE7C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84577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8138E-3B99-F963-513A-642BFBBB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3065BD-6614-3A31-8B52-11748ADCF8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9ED764-27ED-90AE-B681-67F45CF4FA42}"/>
              </a:ext>
            </a:extLst>
          </p:cNvPr>
          <p:cNvSpPr txBox="1"/>
          <p:nvPr/>
        </p:nvSpPr>
        <p:spPr>
          <a:xfrm>
            <a:off x="3834581" y="1015502"/>
            <a:ext cx="8357419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common mistake is using &lt;&lt;include&gt;&gt; and &lt;&lt;extend&gt;&gt; without understanding them.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Remember: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&lt;&lt;include&gt;&gt; = always required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&lt;&lt;extend&gt;&gt; = happens only under a condition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develop stronger understanding of UML relationship semantics rather than simply drawing lines.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E7D0494-742F-F4E4-FA38-5A73A6F9B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82795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3DF51-2573-3AE7-1163-10DC74249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4B4DCE-A2A0-E9A9-10AE-F5B193E26A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FEEC81-8FAA-FE8A-39C1-04F17CEEFF0E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 During registration, can the system skip email validation?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No.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 Can it skip password validation?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No.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 So are these mandatory parts of registration?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Yes.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6CE7D5-54E5-1BF5-F562-9ACD6C91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615872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6992-FAB7-650D-1E55-4505FB9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D9B05C9-4ABF-CC0E-9AD2-51E0DBB409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4DEE85-0EAF-0AE3-CB19-8D627B7E9048}"/>
              </a:ext>
            </a:extLst>
          </p:cNvPr>
          <p:cNvSpPr txBox="1"/>
          <p:nvPr/>
        </p:nvSpPr>
        <p:spPr>
          <a:xfrm>
            <a:off x="3834581" y="1015502"/>
            <a:ext cx="8357419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Conclusion: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We use &lt;&lt;include&gt;&gt; because these actions must happen every time registration occurs.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 Does the system display a maximum-enrolment error every time a Student </a:t>
            </a:r>
            <a:r>
              <a:rPr lang="en-US" sz="2800" b="1" dirty="0" err="1">
                <a:latin typeface="Calibir"/>
              </a:rPr>
              <a:t>enrols</a:t>
            </a:r>
            <a:r>
              <a:rPr lang="en-US" sz="2800" b="1" dirty="0">
                <a:latin typeface="Calibi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No. It happens only when the Student tries to exceed four subjects.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89B29B4-2B74-2911-90E0-613F84FF1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00205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964C9-EDEA-4DCB-A719-CF6218F08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E13B8C-7237-9FDC-006C-D73214EA14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5255E1-177C-E2BB-D100-DBA1DD165B5A}"/>
              </a:ext>
            </a:extLst>
          </p:cNvPr>
          <p:cNvSpPr txBox="1"/>
          <p:nvPr/>
        </p:nvSpPr>
        <p:spPr>
          <a:xfrm>
            <a:off x="3834581" y="1015502"/>
            <a:ext cx="8357419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Conclusion: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This is conditional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, so it may be represented using &lt;&lt;extend&gt;&gt;, or explained as an alternative flow without adding another oval if you want to keep the diagram simple.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84C7F09-BD9C-62D4-7BC4-F1B09EC0B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40162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D9AEC-0DA0-640A-331E-390486A51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601C63-9D2E-251F-8BBF-FC74F6997D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4428BC-FBCA-4B6C-DFA2-B3B64C0EF752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13 – Do Not Put </a:t>
            </a:r>
            <a:r>
              <a:rPr lang="en-US" sz="2800" b="1" dirty="0" err="1">
                <a:latin typeface="Calibir"/>
              </a:rPr>
              <a:t>students.data</a:t>
            </a:r>
            <a:r>
              <a:rPr lang="en-US" sz="2800" b="1" dirty="0">
                <a:latin typeface="Calibir"/>
              </a:rPr>
              <a:t> as an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application stores student and enrolment information in: </a:t>
            </a:r>
            <a:r>
              <a:rPr lang="en-US" sz="2800" dirty="0" err="1">
                <a:latin typeface="Calibir"/>
              </a:rPr>
              <a:t>students.data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However, for this assessment, it normally does not need to be shown as a human actor.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can explain in the accompanying text that 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 operations read and write student information using </a:t>
            </a:r>
            <a:r>
              <a:rPr lang="en-US" sz="2800" dirty="0" err="1">
                <a:latin typeface="Calibir"/>
              </a:rPr>
              <a:t>students.data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C1EF1D-1E91-8315-7BD7-79D6E9820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1588406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13EFF-DC7C-5790-CD25-1BC1FDBAC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7B5162-23B9-CFD1-4E61-1EFD592008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8A2AC6-0053-E7FA-74FB-088DFF9202DE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 case diagram should focus mainly on external users and their goals.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Technical implementation details are better represented later in the class diagram and implementation.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to distinguish between functional requirements and implementation details.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59C2C4E-BE9E-5D67-E66B-21F1EA7FE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24291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C79DD-F2E0-6A36-5DDF-C2CADEEBA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692D791-63EF-C47D-5439-7A58AD4D8A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1D56A0-3350-A49B-FE8C-190E46E73113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14 – Keep </a:t>
            </a:r>
            <a:r>
              <a:rPr lang="en-US" sz="2800" b="1" dirty="0" err="1">
                <a:latin typeface="Calibir"/>
              </a:rPr>
              <a:t>CLIUniApp</a:t>
            </a:r>
            <a:r>
              <a:rPr lang="en-US" sz="2800" b="1" dirty="0">
                <a:latin typeface="Calibir"/>
              </a:rPr>
              <a:t> and </a:t>
            </a:r>
            <a:r>
              <a:rPr lang="en-US" sz="2800" b="1" dirty="0" err="1">
                <a:latin typeface="Calibir"/>
              </a:rPr>
              <a:t>GUIUniApp</a:t>
            </a:r>
            <a:r>
              <a:rPr lang="en-US" sz="2800" b="1" dirty="0">
                <a:latin typeface="Calibir"/>
              </a:rPr>
              <a:t> in Perspective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 1 describes the complete university application, while 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 is identified as a smaller challenge component for Part 2.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main Use Case Diagram should therefore focus on the required system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and Admin functionality described in the project requirements should be clearly represented.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EB24A1B-B7A7-4CB4-CAE5-26FB33ADB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9971146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B62FF-0F78-CF2D-33B4-3A331755F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7A33AC-E2BC-D59E-8AD7-56BE598757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7B2D2E-E685-6D47-DCBC-B67F101E43C8}"/>
              </a:ext>
            </a:extLst>
          </p:cNvPr>
          <p:cNvSpPr txBox="1"/>
          <p:nvPr/>
        </p:nvSpPr>
        <p:spPr>
          <a:xfrm>
            <a:off x="3834581" y="1015502"/>
            <a:ext cx="8357419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do not need to duplicate every use case simply because 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 and 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 both access some Student functionality.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case diagrams represent what the system does, rather than which Java screen or class performs the task.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to separate requirements analysis from implementation design.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8E58D08-9C7A-0698-F76E-F04A324ED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967465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16F42-C18E-B908-34BC-D03162074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4E9C2BA-DAF3-4E8F-3670-78CB3D25C3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166B41-B776-B431-10F7-7CABB80A9BBE}"/>
              </a:ext>
            </a:extLst>
          </p:cNvPr>
          <p:cNvSpPr txBox="1"/>
          <p:nvPr/>
        </p:nvSpPr>
        <p:spPr>
          <a:xfrm>
            <a:off x="3834581" y="1015502"/>
            <a:ext cx="8357419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15 – Arrange the Diagram Clearly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After creating all elements: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Place Student on the left.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Place Admin on the right.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Student-related use cases mainly on the left or </a:t>
            </a:r>
            <a:r>
              <a:rPr lang="en-US" sz="2800" dirty="0" err="1">
                <a:latin typeface="Calibir"/>
              </a:rPr>
              <a:t>centre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Admin-related use cases mainly on the right.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Place supporting use cases close to the main use case they support.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8534B6-02EB-165B-9D4A-FA3088908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5172478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BB4D-B6B3-EA7E-9056-5FEA1B97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33D53A-84BD-B188-FBAF-1CF9375F25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3DE2C6-A268-174E-A2E6-0ECAECE1E83D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Avoid crossing lines whenever possible.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sufficient spacing between ovals.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technically correct UML diagram can still lose clarity if its lines overlap or objects are poorly arranged.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develop professional technical communication and modelling presentation skills.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8CC9A15-1911-5990-0BBD-19D9E3D7F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595074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256D1-FE6A-C9AF-C5DB-873EE73A5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63D08B-B852-792C-DCCD-70991F3E83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899F6F-2435-64E0-55E3-097BB5409C2C}"/>
              </a:ext>
            </a:extLst>
          </p:cNvPr>
          <p:cNvSpPr txBox="1"/>
          <p:nvPr/>
        </p:nvSpPr>
        <p:spPr>
          <a:xfrm>
            <a:off x="3834581" y="1015502"/>
            <a:ext cx="8357419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16 – Write the Explanation Below the Diagram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 not submit only the picture.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assessment specifically asks students to provide explanations for actors, goals, use cases and relationships.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9AEAEF-6A37-2224-F316-22C8B89CC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944330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B1E2D-E07A-9D86-8EB4-91160EB68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4E3751-1177-9354-5C07-792A361E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013BBC-1A34-9C20-2912-8AC9D2F0A645}"/>
              </a:ext>
            </a:extLst>
          </p:cNvPr>
          <p:cNvSpPr txBox="1"/>
          <p:nvPr/>
        </p:nvSpPr>
        <p:spPr>
          <a:xfrm>
            <a:off x="3834581" y="1015502"/>
            <a:ext cx="8357419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simple explanation can follow this style: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represents …..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Admin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Admin represents …..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Enrol</a:t>
            </a:r>
            <a:r>
              <a:rPr lang="en-US" sz="2800" dirty="0">
                <a:latin typeface="Calibir"/>
              </a:rPr>
              <a:t> in Subject Use Case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use case allows …..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&lt;&lt;include&gt;&gt; Relationship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&lt;&lt;include&gt;&gt; relationship represents ….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C9B990B-F2A5-65FA-CFD9-0669DB4A8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941821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A3E62-D9B6-0207-05DD-3E3DE54E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CAA599-A76E-D1B5-BBA9-5897B4F0735E}"/>
              </a:ext>
            </a:extLst>
          </p:cNvPr>
          <p:cNvSpPr txBox="1"/>
          <p:nvPr/>
        </p:nvSpPr>
        <p:spPr>
          <a:xfrm>
            <a:off x="5997678" y="117693"/>
            <a:ext cx="6194322" cy="674030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Final Student Checklist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created a system boundary named University Self-Enrolment System.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included the Student actor.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included the Admin actor.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Student use cases come directly from the project requirements.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Admin use cases come directly from the project requirements.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Student and Admin are connected only to appropriate use cases.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used normal association lines for actor-use case interactions.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used &lt;&lt;include&gt;&gt; only for required supporting </a:t>
            </a:r>
            <a:r>
              <a:rPr lang="en-US" dirty="0" err="1">
                <a:latin typeface="Calibir"/>
              </a:rPr>
              <a:t>behaviour</a:t>
            </a:r>
            <a:r>
              <a:rPr lang="en-US" dirty="0">
                <a:latin typeface="Calibir"/>
              </a:rPr>
              <a:t>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used &lt;&lt;extend&gt;&gt; only where </a:t>
            </a:r>
            <a:r>
              <a:rPr lang="en-US" dirty="0" err="1">
                <a:latin typeface="Calibir"/>
              </a:rPr>
              <a:t>behaviour</a:t>
            </a:r>
            <a:r>
              <a:rPr lang="en-US" dirty="0">
                <a:latin typeface="Calibir"/>
              </a:rPr>
              <a:t> is genuinely conditional.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relationship labels use correct UML notation.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diagram is neat and lines do not unnecessarily cross.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have explained the actors.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have explained important use cases.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have explained the relationships.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written explanation and diagram are consistent.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diagram addresses all five criteria in the Use Case Diagram marking rubric.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AD23465-BB40-E5B4-EF68-CCB66BB81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046839" cy="1666568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207001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2395D-EA1A-FBAC-33C8-46F0D4062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A7796D8-3544-C95A-81F3-3B4B545590A3}"/>
              </a:ext>
            </a:extLst>
          </p:cNvPr>
          <p:cNvSpPr txBox="1"/>
          <p:nvPr/>
        </p:nvSpPr>
        <p:spPr>
          <a:xfrm>
            <a:off x="10511" y="1015503"/>
            <a:ext cx="12192000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Students Learn from This Activity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By completing this task, students are not simply learning how to operate Visual Paradigm. They are </a:t>
            </a:r>
            <a:r>
              <a:rPr lang="en-US" sz="2800" dirty="0" err="1">
                <a:latin typeface="Calibir"/>
              </a:rPr>
              <a:t>practising</a:t>
            </a:r>
            <a:r>
              <a:rPr lang="en-US" sz="2800" dirty="0">
                <a:latin typeface="Calibir"/>
              </a:rPr>
              <a:t> how to read a real customer description, identify users and requirements, separate major goals from supporting functions, model relationships correctly, define system boundaries, and communicate a software design visually.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skills are important because the Use Case Diagram becomes a bridge between the written requirements in Part 1 and the software implementation developed in Part 2.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F58FF96-6C90-DDC6-5AA6-F855F65AB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9256444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Contents</a:t>
            </a:r>
            <a:endParaRPr dirty="0"/>
          </a:p>
        </p:txBody>
      </p:sp>
      <p:sp>
        <p:nvSpPr>
          <p:cNvPr id="70" name="Google Shape;70;p14"/>
          <p:cNvSpPr txBox="1"/>
          <p:nvPr/>
        </p:nvSpPr>
        <p:spPr>
          <a:xfrm>
            <a:off x="563366" y="1440933"/>
            <a:ext cx="10409433" cy="5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200" dirty="0">
                <a:latin typeface="Economica"/>
                <a:ea typeface="Economica"/>
                <a:cs typeface="Economica"/>
                <a:sym typeface="Economica"/>
              </a:rPr>
              <a:t>Lab 4 exercises			</a:t>
            </a:r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Economica"/>
                <a:ea typeface="Economica"/>
                <a:cs typeface="Economica"/>
                <a:sym typeface="Economica"/>
              </a:rPr>
              <a:t>lab time: 120 minutes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0F1F70-F36A-7BAC-66A6-6BA207139BBF}"/>
              </a:ext>
            </a:extLst>
          </p:cNvPr>
          <p:cNvSpPr txBox="1"/>
          <p:nvPr/>
        </p:nvSpPr>
        <p:spPr>
          <a:xfrm>
            <a:off x="1625600" y="2514600"/>
            <a:ext cx="8940800" cy="3671133"/>
          </a:xfrm>
          <a:prstGeom prst="rect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2400" dirty="0">
                <a:latin typeface="Economica" panose="020B0604020202020204" charset="0"/>
              </a:rPr>
              <a:t>Lab 4 has two objectives:</a:t>
            </a:r>
          </a:p>
          <a:p>
            <a:pPr marL="380990" indent="-38099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Primary: Implement the </a:t>
            </a:r>
            <a:r>
              <a:rPr lang="en-US" sz="2400" dirty="0" err="1">
                <a:latin typeface="Economica" panose="020B0604020202020204" charset="0"/>
              </a:rPr>
              <a:t>DeskBankApp</a:t>
            </a:r>
            <a:r>
              <a:rPr lang="en-US" sz="2400" dirty="0">
                <a:latin typeface="Economica" panose="020B0604020202020204" charset="0"/>
              </a:rPr>
              <a:t> [refer to Lab 3]</a:t>
            </a:r>
          </a:p>
          <a:p>
            <a:pPr marL="380990" indent="-38099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Secondary: Complete the practice exercises [1 to 10] 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latin typeface="Economica" panose="020B0604020202020204" charset="0"/>
              </a:rPr>
              <a:t>Complete the Lab 4 exercises using either Java or Python.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latin typeface="Economica" panose="020B0604020202020204" charset="0"/>
              </a:rPr>
              <a:t>Recommended IDE for Java and Python:  </a:t>
            </a:r>
            <a:r>
              <a:rPr lang="en-US" sz="2400" dirty="0" err="1">
                <a:solidFill>
                  <a:srgbClr val="00B0F0"/>
                </a:solidFill>
                <a:latin typeface="Economica" panose="020B0604020202020204" charset="0"/>
              </a:rPr>
              <a:t>vscode</a:t>
            </a:r>
            <a:endParaRPr lang="en-US" sz="2400" dirty="0">
              <a:solidFill>
                <a:srgbClr val="00B0F0"/>
              </a:solidFill>
              <a:latin typeface="Economica" panose="020B0604020202020204" charset="0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406401" y="1089520"/>
            <a:ext cx="11004265" cy="1685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Case Study: </a:t>
            </a:r>
            <a:r>
              <a:rPr lang="en-GB" sz="2400" dirty="0">
                <a:latin typeface="Economica" panose="020B0604020202020204" charset="0"/>
              </a:rPr>
              <a:t>Develop the </a:t>
            </a:r>
            <a:r>
              <a:rPr lang="en-GB" sz="2400" dirty="0" err="1">
                <a:latin typeface="Economica" panose="020B0604020202020204" charset="0"/>
              </a:rPr>
              <a:t>DeskBankApp</a:t>
            </a:r>
            <a:r>
              <a:rPr lang="en-GB" sz="2400" dirty="0">
                <a:latin typeface="Economica" panose="020B0604020202020204" charset="0"/>
              </a:rPr>
              <a:t> system – Second Implementation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This exercise is the second implementation of the </a:t>
            </a:r>
            <a:r>
              <a:rPr lang="en-GB" sz="2400" dirty="0" err="1">
                <a:latin typeface="Economica" panose="020B0604020202020204" charset="0"/>
              </a:rPr>
              <a:t>DeskBankApp</a:t>
            </a:r>
            <a:r>
              <a:rPr lang="en-GB" sz="2400" dirty="0">
                <a:latin typeface="Economica" panose="020B0604020202020204" charset="0"/>
              </a:rPr>
              <a:t> case study [refer to Lab3]</a:t>
            </a:r>
            <a:endParaRPr lang="en-US" sz="2400" dirty="0">
              <a:latin typeface="Economica" panose="020B060402020202020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2E4BF9-C7FD-E400-D7FD-DF1253F29C44}"/>
              </a:ext>
            </a:extLst>
          </p:cNvPr>
          <p:cNvSpPr txBox="1"/>
          <p:nvPr/>
        </p:nvSpPr>
        <p:spPr>
          <a:xfrm>
            <a:off x="8839200" y="2506592"/>
            <a:ext cx="3097429" cy="4173608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</p:spPr>
        <p:txBody>
          <a:bodyPr wrap="none" rtlCol="0">
            <a:noAutofit/>
          </a:bodyPr>
          <a:lstStyle/>
          <a:p>
            <a:r>
              <a:rPr lang="en-GB" sz="1600" dirty="0">
                <a:latin typeface="Economica" panose="020B0604020202020204" charset="0"/>
              </a:rPr>
              <a:t>Start banking (d/w/s/x): s</a:t>
            </a:r>
          </a:p>
          <a:p>
            <a:r>
              <a:rPr lang="en-GB" sz="1600" dirty="0">
                <a:latin typeface="Economica" panose="020B0604020202020204" charset="0"/>
              </a:rPr>
              <a:t>Starting balance: $1000.00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d</a:t>
            </a:r>
          </a:p>
          <a:p>
            <a:r>
              <a:rPr lang="en-GB" sz="1600" dirty="0">
                <a:latin typeface="Economica" panose="020B0604020202020204" charset="0"/>
              </a:rPr>
              <a:t>Amount to deposit: $1000</a:t>
            </a:r>
          </a:p>
          <a:p>
            <a:r>
              <a:rPr lang="en-GB" sz="1600" dirty="0">
                <a:latin typeface="Economica" panose="020B0604020202020204" charset="0"/>
              </a:rPr>
              <a:t>Amount deposited: $1000.00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s</a:t>
            </a:r>
          </a:p>
          <a:p>
            <a:r>
              <a:rPr lang="en-GB" sz="1600" dirty="0">
                <a:latin typeface="Economica" panose="020B0604020202020204" charset="0"/>
              </a:rPr>
              <a:t>Starting balance: $2000.00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w</a:t>
            </a:r>
          </a:p>
          <a:p>
            <a:r>
              <a:rPr lang="en-GB" sz="1600" dirty="0">
                <a:latin typeface="Economica" panose="020B0604020202020204" charset="0"/>
              </a:rPr>
              <a:t>Amount to withdraw: $5000</a:t>
            </a:r>
          </a:p>
          <a:p>
            <a:r>
              <a:rPr lang="en-GB" sz="1600" dirty="0">
                <a:latin typeface="Economica" panose="020B0604020202020204" charset="0"/>
              </a:rPr>
              <a:t>Insufficient funds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w</a:t>
            </a:r>
          </a:p>
          <a:p>
            <a:r>
              <a:rPr lang="en-GB" sz="1600" dirty="0">
                <a:latin typeface="Economica" panose="020B0604020202020204" charset="0"/>
              </a:rPr>
              <a:t>Amount to withdraw: $500</a:t>
            </a:r>
          </a:p>
          <a:p>
            <a:r>
              <a:rPr lang="en-GB" sz="1600" dirty="0">
                <a:latin typeface="Economica" panose="020B0604020202020204" charset="0"/>
              </a:rPr>
              <a:t>Amount withdrawn: $500.00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s</a:t>
            </a:r>
          </a:p>
          <a:p>
            <a:r>
              <a:rPr lang="en-GB" sz="1600" dirty="0">
                <a:latin typeface="Economica" panose="020B0604020202020204" charset="0"/>
              </a:rPr>
              <a:t>Starting balance: $1500.00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x</a:t>
            </a:r>
            <a:endParaRPr lang="en-US" sz="1600" dirty="0">
              <a:latin typeface="Economica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4BD407-337B-2AED-2239-16486355E6B8}"/>
              </a:ext>
            </a:extLst>
          </p:cNvPr>
          <p:cNvSpPr txBox="1"/>
          <p:nvPr/>
        </p:nvSpPr>
        <p:spPr>
          <a:xfrm>
            <a:off x="9725126" y="201415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Economica" panose="020B0604020202020204" charset="0"/>
              </a:rPr>
              <a:t>Sample I/O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930FF-896D-3C89-A9F3-683F6473B8F5}"/>
              </a:ext>
            </a:extLst>
          </p:cNvPr>
          <p:cNvSpPr txBox="1"/>
          <p:nvPr/>
        </p:nvSpPr>
        <p:spPr>
          <a:xfrm>
            <a:off x="609600" y="2858814"/>
            <a:ext cx="7721600" cy="382138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GB" sz="1900" dirty="0">
                <a:latin typeface="Calibir"/>
              </a:rPr>
              <a:t>1- The Bank class is the main system class</a:t>
            </a:r>
          </a:p>
          <a:p>
            <a:r>
              <a:rPr lang="en-GB" sz="1900" dirty="0">
                <a:latin typeface="Calibir"/>
              </a:rPr>
              <a:t>2- Ensure that current balance is $1000, and show the current balance</a:t>
            </a:r>
          </a:p>
          <a:p>
            <a:r>
              <a:rPr lang="en-GB" sz="1900" dirty="0">
                <a:latin typeface="Calibir"/>
              </a:rPr>
              <a:t>3- Update the main( ) method in Bank to perform the following actions:</a:t>
            </a:r>
          </a:p>
          <a:p>
            <a:pPr defTabSz="609585"/>
            <a:r>
              <a:rPr lang="en-GB" sz="1900" dirty="0">
                <a:latin typeface="Calibir"/>
              </a:rPr>
              <a:t>	(d) make a deposit (read amount from STDIN)</a:t>
            </a:r>
          </a:p>
          <a:p>
            <a:pPr defTabSz="609585"/>
            <a:r>
              <a:rPr lang="en-GB" sz="1900" dirty="0">
                <a:latin typeface="Calibir"/>
              </a:rPr>
              <a:t>	(w) make a withdraw (read amount from STDIN)</a:t>
            </a:r>
          </a:p>
          <a:p>
            <a:pPr defTabSz="609585"/>
            <a:r>
              <a:rPr lang="en-GB" sz="1900" dirty="0">
                <a:latin typeface="Calibir"/>
              </a:rPr>
              <a:t>	(s) show balance</a:t>
            </a:r>
          </a:p>
          <a:p>
            <a:pPr defTabSz="609585"/>
            <a:r>
              <a:rPr lang="en-GB" sz="1900" dirty="0">
                <a:latin typeface="Calibir"/>
              </a:rPr>
              <a:t>	(x) exit the system</a:t>
            </a:r>
          </a:p>
          <a:p>
            <a:pPr defTabSz="609585"/>
            <a:endParaRPr lang="en-GB" sz="1900" dirty="0">
              <a:latin typeface="Calibir"/>
            </a:endParaRPr>
          </a:p>
          <a:p>
            <a:pPr defTabSz="609585"/>
            <a:r>
              <a:rPr lang="en-GB" sz="1900" dirty="0">
                <a:latin typeface="Calibir"/>
              </a:rPr>
              <a:t>NOTE:</a:t>
            </a:r>
          </a:p>
          <a:p>
            <a:pPr marL="380990" indent="-380990" defTabSz="609585">
              <a:buFont typeface="Arial" panose="020B0604020202020204" pitchFamily="34" charset="0"/>
              <a:buChar char="•"/>
            </a:pPr>
            <a:r>
              <a:rPr lang="en-GB" sz="1900" dirty="0">
                <a:latin typeface="Calibir"/>
              </a:rPr>
              <a:t>Handle exceptions related to funds availability in the withdraw action</a:t>
            </a:r>
          </a:p>
          <a:p>
            <a:pPr marL="380990" indent="-380990" defTabSz="609585">
              <a:buFont typeface="Arial" panose="020B0604020202020204" pitchFamily="34" charset="0"/>
              <a:buChar char="•"/>
            </a:pPr>
            <a:r>
              <a:rPr lang="en-GB" sz="1900" dirty="0">
                <a:latin typeface="Calibir"/>
              </a:rPr>
              <a:t>The Bank system should offer repeatedly the choices to customers until x is entered</a:t>
            </a:r>
            <a:endParaRPr lang="en-US" sz="19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7371955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FDA2E96-1096-2ABD-623F-BA71BD4C9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8CBCF5D4-1D9A-0CA5-415B-2A39B9CE672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80A971-371A-E2E2-2D61-655F68BB9114}"/>
              </a:ext>
            </a:extLst>
          </p:cNvPr>
          <p:cNvSpPr txBox="1"/>
          <p:nvPr/>
        </p:nvSpPr>
        <p:spPr>
          <a:xfrm>
            <a:off x="0" y="1250731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Understand → Start with a small template → Add one requirement at a time → Test → Complete solution.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8E8553-9091-ACDE-FF27-113D7808CE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184" y="2568912"/>
            <a:ext cx="6433632" cy="428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358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9C950E7-5C80-10FD-5A7B-647CA504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84B605C0-BD15-E09A-8ECB-084590AE6EA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7DC84-A8BC-27A0-CE1B-DAB7986974BF}"/>
              </a:ext>
            </a:extLst>
          </p:cNvPr>
          <p:cNvSpPr txBox="1"/>
          <p:nvPr/>
        </p:nvSpPr>
        <p:spPr>
          <a:xfrm>
            <a:off x="0" y="1187670"/>
            <a:ext cx="11971282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Case Study — </a:t>
            </a:r>
            <a:r>
              <a:rPr lang="en-US" sz="2400" b="1" dirty="0" err="1">
                <a:latin typeface="Calibir"/>
              </a:rPr>
              <a:t>DeskBankApp</a:t>
            </a:r>
            <a:r>
              <a:rPr lang="en-US" sz="2400" b="1" dirty="0">
                <a:latin typeface="Calibir"/>
              </a:rPr>
              <a:t> Second Implementation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Requirement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The Bank system must: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start with $1000.00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repeatedly ask for d, w, s, or x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deposit money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withdraw money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prevent withdrawals greater than the balance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show the current balance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stop only when x is entered</a:t>
            </a:r>
          </a:p>
        </p:txBody>
      </p:sp>
    </p:spTree>
    <p:extLst>
      <p:ext uri="{BB962C8B-B14F-4D97-AF65-F5344CB8AC3E}">
        <p14:creationId xmlns:p14="http://schemas.microsoft.com/office/powerpoint/2010/main" val="13507911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436B102-3999-6DE7-B79A-86F9962D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561335F6-5850-39F8-F2E8-748501EF4CE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7E7BB2-153F-6307-CE0F-431D088E5138}"/>
              </a:ext>
            </a:extLst>
          </p:cNvPr>
          <p:cNvSpPr txBox="1"/>
          <p:nvPr/>
        </p:nvSpPr>
        <p:spPr>
          <a:xfrm>
            <a:off x="0" y="1187670"/>
            <a:ext cx="561252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 — Create the Bank structure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pass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creates the Bank class.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944BD8-7ADD-4A90-BEC6-D31C6EE15F4E}"/>
              </a:ext>
            </a:extLst>
          </p:cNvPr>
          <p:cNvSpPr txBox="1"/>
          <p:nvPr/>
        </p:nvSpPr>
        <p:spPr>
          <a:xfrm>
            <a:off x="5985642" y="1471899"/>
            <a:ext cx="620635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Java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class Bank {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creates the Java Bank class.</a:t>
            </a:r>
          </a:p>
        </p:txBody>
      </p:sp>
    </p:spTree>
    <p:extLst>
      <p:ext uri="{BB962C8B-B14F-4D97-AF65-F5344CB8AC3E}">
        <p14:creationId xmlns:p14="http://schemas.microsoft.com/office/powerpoint/2010/main" val="21160148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9C4C2D5-2515-8354-383E-27B07379E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99B60C4-A85E-9353-E952-4B5108EDDCE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BAFEF1-6E4B-33D6-8DA9-2415F967F89A}"/>
              </a:ext>
            </a:extLst>
          </p:cNvPr>
          <p:cNvSpPr txBox="1"/>
          <p:nvPr/>
        </p:nvSpPr>
        <p:spPr>
          <a:xfrm>
            <a:off x="0" y="1187670"/>
            <a:ext cx="56125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 — Add the starting balance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def __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init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__(self):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1000.0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self.balance</a:t>
            </a:r>
            <a:r>
              <a:rPr lang="en-US" sz="2800" dirty="0">
                <a:latin typeface="Calibir"/>
              </a:rPr>
              <a:t> stores the current account balance.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3AEEBC-D18E-CA5F-BFF9-4FFAC91264E4}"/>
              </a:ext>
            </a:extLst>
          </p:cNvPr>
          <p:cNvSpPr txBox="1"/>
          <p:nvPr/>
        </p:nvSpPr>
        <p:spPr>
          <a:xfrm>
            <a:off x="5985642" y="1471899"/>
            <a:ext cx="6206358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class Bank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private double balance = 1000.0;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private means the balance belongs to the Bank object and should not be directly changed from outside.</a:t>
            </a:r>
          </a:p>
        </p:txBody>
      </p:sp>
    </p:spTree>
    <p:extLst>
      <p:ext uri="{BB962C8B-B14F-4D97-AF65-F5344CB8AC3E}">
        <p14:creationId xmlns:p14="http://schemas.microsoft.com/office/powerpoint/2010/main" val="38513154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AAFA169-49C5-F3DC-46C6-AADF1A331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12B4C274-84A7-2762-D904-F4302BA530B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A8B29C-2787-9BA8-B686-661EF728C977}"/>
              </a:ext>
            </a:extLst>
          </p:cNvPr>
          <p:cNvSpPr txBox="1"/>
          <p:nvPr/>
        </p:nvSpPr>
        <p:spPr>
          <a:xfrm>
            <a:off x="0" y="1187670"/>
            <a:ext cx="56125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 — Add deposit </a:t>
            </a:r>
            <a:r>
              <a:rPr lang="en-US" sz="2800" b="1" dirty="0" err="1">
                <a:latin typeface="Calibir"/>
              </a:rPr>
              <a:t>behaviour</a:t>
            </a:r>
            <a:endParaRPr lang="en-US" sz="2800" b="1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def deposit(self, amount):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+= amount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the balance is $1000 and we deposit $500: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1000 + 500 = 1500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8F32B8-1696-9488-5481-5FB05FD351DD}"/>
              </a:ext>
            </a:extLst>
          </p:cNvPr>
          <p:cNvSpPr txBox="1"/>
          <p:nvPr/>
        </p:nvSpPr>
        <p:spPr>
          <a:xfrm>
            <a:off x="5985642" y="1471899"/>
            <a:ext cx="6206358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void deposit(double amount)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balance += amount;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void means the method performs an action and does not return a value.</a:t>
            </a:r>
          </a:p>
        </p:txBody>
      </p:sp>
    </p:spTree>
    <p:extLst>
      <p:ext uri="{BB962C8B-B14F-4D97-AF65-F5344CB8AC3E}">
        <p14:creationId xmlns:p14="http://schemas.microsoft.com/office/powerpoint/2010/main" val="37818111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22A0C54-16A0-7477-844F-444920CE2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4AEE3C3-0A13-2A02-416D-EACC754AE57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1F76DE-719E-894C-F9C8-34D6E6E46BD9}"/>
              </a:ext>
            </a:extLst>
          </p:cNvPr>
          <p:cNvSpPr txBox="1"/>
          <p:nvPr/>
        </p:nvSpPr>
        <p:spPr>
          <a:xfrm>
            <a:off x="0" y="1089520"/>
            <a:ext cx="5612524" cy="5859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100" b="1" dirty="0">
                <a:latin typeface="Calibir"/>
              </a:rPr>
              <a:t>Step 4 — Add withdrawal </a:t>
            </a:r>
            <a:r>
              <a:rPr lang="en-US" sz="2100" b="1" dirty="0" err="1">
                <a:latin typeface="Calibir"/>
              </a:rPr>
              <a:t>behaviour</a:t>
            </a:r>
            <a:endParaRPr lang="en-US" sz="2100" b="1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We must prevent customers from withdrawing more money than they have.</a:t>
            </a:r>
          </a:p>
          <a:p>
            <a:pPr>
              <a:lnSpc>
                <a:spcPct val="150000"/>
              </a:lnSpc>
            </a:pPr>
            <a:r>
              <a:rPr lang="en-US" sz="21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highlight>
                  <a:srgbClr val="FFFF00"/>
                </a:highlight>
                <a:latin typeface="Calibir"/>
              </a:rPr>
              <a:t>def withdraw(self, amount):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highlight>
                  <a:srgbClr val="FFFF00"/>
                </a:highlight>
                <a:latin typeface="Calibir"/>
              </a:rPr>
              <a:t>    if amount &gt; </a:t>
            </a:r>
            <a:r>
              <a:rPr lang="en-US" sz="21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100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highlight>
                  <a:srgbClr val="FFFF00"/>
                </a:highlight>
                <a:latin typeface="Calibir"/>
              </a:rPr>
              <a:t>        raise </a:t>
            </a:r>
            <a:r>
              <a:rPr lang="en-US" sz="21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2100" dirty="0">
                <a:highlight>
                  <a:srgbClr val="FFFF00"/>
                </a:highlight>
                <a:latin typeface="Calibir"/>
              </a:rPr>
              <a:t>("Insufficient funds")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1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100" dirty="0">
                <a:highlight>
                  <a:srgbClr val="FFFF00"/>
                </a:highlight>
                <a:latin typeface="Calibir"/>
              </a:rPr>
              <a:t> -= amount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If: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Balance = $1000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Withdraw = $5000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the program raises an exception.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6DF758-532B-1FA5-3A2C-6BB7830E8C67}"/>
              </a:ext>
            </a:extLst>
          </p:cNvPr>
          <p:cNvSpPr txBox="1"/>
          <p:nvPr/>
        </p:nvSpPr>
        <p:spPr>
          <a:xfrm>
            <a:off x="5985642" y="1471899"/>
            <a:ext cx="620635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latin typeface="Calibir"/>
              </a:rPr>
              <a:t>Java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public void withdraw(double amount) {</a:t>
            </a:r>
          </a:p>
          <a:p>
            <a:br>
              <a:rPr lang="en-US" sz="2200" dirty="0">
                <a:highlight>
                  <a:srgbClr val="FFFF00"/>
                </a:highlight>
                <a:latin typeface="Calibir"/>
              </a:rPr>
            </a:br>
            <a:endParaRPr lang="en-US" sz="2200" dirty="0">
              <a:highlight>
                <a:srgbClr val="FFFF00"/>
              </a:highlight>
              <a:latin typeface="Calibir"/>
            </a:endParaRP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if (amount &gt; balance) {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    throw new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IllegalArgumentException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("Insufficient funds");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br>
              <a:rPr lang="en-US" sz="2200" dirty="0">
                <a:highlight>
                  <a:srgbClr val="FFFF00"/>
                </a:highlight>
                <a:latin typeface="Calibir"/>
              </a:rPr>
            </a:br>
            <a:endParaRPr lang="en-US" sz="2200" dirty="0">
              <a:highlight>
                <a:srgbClr val="FFFF00"/>
              </a:highlight>
              <a:latin typeface="Calibir"/>
            </a:endParaRP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balance -= amount;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r>
              <a:rPr lang="en-US" sz="2200" dirty="0">
                <a:latin typeface="Calibir"/>
              </a:rPr>
              <a:t>The exception can then be handled using try and catch.</a:t>
            </a:r>
          </a:p>
        </p:txBody>
      </p:sp>
    </p:spTree>
    <p:extLst>
      <p:ext uri="{BB962C8B-B14F-4D97-AF65-F5344CB8AC3E}">
        <p14:creationId xmlns:p14="http://schemas.microsoft.com/office/powerpoint/2010/main" val="13547433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7BBAD19-E996-B850-5896-359BA0BD5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5142657-1C53-7B15-81C6-636BE1B3716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20A28E-8143-C84D-E352-5982B62B25F2}"/>
              </a:ext>
            </a:extLst>
          </p:cNvPr>
          <p:cNvSpPr txBox="1"/>
          <p:nvPr/>
        </p:nvSpPr>
        <p:spPr>
          <a:xfrm>
            <a:off x="-1" y="1089520"/>
            <a:ext cx="11362267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5 — Add show balance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def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show_balance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(self):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print(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f"Starting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balance: ${self.balance:.2f}")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46BDA8-62D0-3630-6CDD-9C1E8D5C42A5}"/>
              </a:ext>
            </a:extLst>
          </p:cNvPr>
          <p:cNvSpPr txBox="1"/>
          <p:nvPr/>
        </p:nvSpPr>
        <p:spPr>
          <a:xfrm>
            <a:off x="-2" y="3700363"/>
            <a:ext cx="1219200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void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showBalance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("Starting balance: $%.2f%n", balance);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953951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C85D148-A0DD-E9B4-3CD3-E0F25472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02A52413-6F72-1066-008A-E6EE40169F3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27AC62-5F0F-A006-72BA-C304BAB451CE}"/>
              </a:ext>
            </a:extLst>
          </p:cNvPr>
          <p:cNvSpPr txBox="1"/>
          <p:nvPr/>
        </p:nvSpPr>
        <p:spPr>
          <a:xfrm>
            <a:off x="-1" y="1089520"/>
            <a:ext cx="11362267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6 — Build the repeated menu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need a loop.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choice = input("Continue banking (d/w/s/x): ").lower()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while True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repeating until we explicitly stop the loop.</a:t>
            </a:r>
          </a:p>
        </p:txBody>
      </p:sp>
    </p:spTree>
    <p:extLst>
      <p:ext uri="{BB962C8B-B14F-4D97-AF65-F5344CB8AC3E}">
        <p14:creationId xmlns:p14="http://schemas.microsoft.com/office/powerpoint/2010/main" val="21355340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0D4EE1D8-A1BB-6730-B36C-98275A2B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1FFC438-2FE4-13E3-EB78-80331B58139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E52D8-54CD-D15C-77D5-1D38DD2A88F0}"/>
              </a:ext>
            </a:extLst>
          </p:cNvPr>
          <p:cNvSpPr txBox="1"/>
          <p:nvPr/>
        </p:nvSpPr>
        <p:spPr>
          <a:xfrm>
            <a:off x="-1" y="1089520"/>
            <a:ext cx="11362267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(true)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("Continue banking (d/w/s/x): ");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Again, this repeats until break is executed.</a:t>
            </a:r>
          </a:p>
        </p:txBody>
      </p:sp>
    </p:spTree>
    <p:extLst>
      <p:ext uri="{BB962C8B-B14F-4D97-AF65-F5344CB8AC3E}">
        <p14:creationId xmlns:p14="http://schemas.microsoft.com/office/powerpoint/2010/main" val="43472205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F230A53-6481-87D9-D67C-4ADC593D9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029D6F92-A3A1-4F13-D6A3-4784A064B97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B15538-9FFB-AD96-7657-0147094C3837}"/>
              </a:ext>
            </a:extLst>
          </p:cNvPr>
          <p:cNvSpPr txBox="1"/>
          <p:nvPr/>
        </p:nvSpPr>
        <p:spPr>
          <a:xfrm>
            <a:off x="-1" y="1089520"/>
            <a:ext cx="5538953" cy="575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7 — Process each menu choice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if choice == "d":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# deposit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choice == "w":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# withdraw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choice == "s":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# show balance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choice == "x":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break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FB9F1-27C3-CA70-87B4-BC4E5C11ECA9}"/>
              </a:ext>
            </a:extLst>
          </p:cNvPr>
          <p:cNvSpPr txBox="1"/>
          <p:nvPr/>
        </p:nvSpPr>
        <p:spPr>
          <a:xfrm>
            <a:off x="6096000" y="1156365"/>
            <a:ext cx="6096000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b="1" dirty="0">
                <a:latin typeface="Calibir"/>
              </a:rPr>
              <a:t>Java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switch (choice) {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case "d":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break;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case "w":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break;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case "s":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break;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case "x":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break;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9609281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7851026-BB77-8026-5F30-41D12B82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798028-CFDC-4929-312C-B0EC2086F93D}"/>
              </a:ext>
            </a:extLst>
          </p:cNvPr>
          <p:cNvSpPr txBox="1"/>
          <p:nvPr/>
        </p:nvSpPr>
        <p:spPr>
          <a:xfrm>
            <a:off x="0" y="0"/>
            <a:ext cx="5538953" cy="675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dirty="0">
                <a:latin typeface="Calibir"/>
              </a:rPr>
              <a:t>Step 8 — Completed Python Bank solution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def __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init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__(self):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= 1000.0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def deposit(self, amount):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+= amount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def withdraw(self, amount):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if amount &gt;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raise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("Insufficient funds")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-= amount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def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show_balance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(self):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print(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f"Starting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balance: ${self.balance:.2f}")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def main():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bank = Bank()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choice = input("Start banking (d/w/s/x): ").lower()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while choice != "x":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if choice == "d":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amount = float(input("Amount to deposit: $"))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bank.deposit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(amount)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print(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f"Amount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deposited: ${amount:.2f}")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choice == "w":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amount = float(input("Amount to withdraw: $"))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try: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bank.withdraw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(amount)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print(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f"Amount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withdrawn: ${amount:.2f}")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except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as error: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print(error)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choice == "s":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bank.show_balance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else: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print("Invalid choice")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choice = input(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"Continue banking (d/w/s/x): "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).lower()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if __name__ == "__main__":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main()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3CBB5-C9AC-4ED5-FB25-3DE0ACF8E2D2}"/>
              </a:ext>
            </a:extLst>
          </p:cNvPr>
          <p:cNvSpPr txBox="1"/>
          <p:nvPr/>
        </p:nvSpPr>
        <p:spPr>
          <a:xfrm>
            <a:off x="6096000" y="362070"/>
            <a:ext cx="6096000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Important parts</a:t>
            </a:r>
          </a:p>
          <a:p>
            <a:pPr>
              <a:lnSpc>
                <a:spcPct val="150000"/>
              </a:lnSpc>
            </a:pPr>
            <a:r>
              <a:rPr lang="en-US" sz="2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1000.0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sets the initial balance.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while choice != "x":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keeps the banking system running.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raise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("Insufficient funds")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creates an exception if the customer tries to withdraw too much.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try: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attempts the withdrawal.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except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handles the problem without crashing the program.</a:t>
            </a:r>
          </a:p>
        </p:txBody>
      </p:sp>
    </p:spTree>
    <p:extLst>
      <p:ext uri="{BB962C8B-B14F-4D97-AF65-F5344CB8AC3E}">
        <p14:creationId xmlns:p14="http://schemas.microsoft.com/office/powerpoint/2010/main" val="39892597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2CB298D-D92F-1838-C3EF-5C3DDEA20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F38A5E-BA81-EB8C-1BD0-C5F1EAFB4098}"/>
              </a:ext>
            </a:extLst>
          </p:cNvPr>
          <p:cNvSpPr txBox="1"/>
          <p:nvPr/>
        </p:nvSpPr>
        <p:spPr>
          <a:xfrm>
            <a:off x="0" y="0"/>
            <a:ext cx="5330283" cy="6909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dirty="0">
                <a:latin typeface="Calibir"/>
              </a:rPr>
              <a:t>Step 9 — Completed Java Bank solution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"Amount deposited: $%.2f%n",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depositAmount</a:t>
            </a:r>
            <a:endParaRPr lang="en-US" sz="1000" dirty="0">
              <a:highlight>
                <a:srgbClr val="FFFF00"/>
              </a:highlight>
              <a:latin typeface="Calibir"/>
            </a:endParaRP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break;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case "w":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"Amount to withdraw: $"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double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withdrawAmount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=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input.nextDouble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input.nextLine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try {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bank.withdraw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withdrawAmount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    "Amount withdrawn: $%.2f%n",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withdrawAmount</a:t>
            </a:r>
            <a:endParaRPr lang="en-US" sz="1000" dirty="0">
              <a:highlight>
                <a:srgbClr val="FFFF00"/>
              </a:highlight>
              <a:latin typeface="Calibir"/>
            </a:endParaRP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} catch 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IllegalArgumentException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error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) {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error.getMessage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}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break;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case "s":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bank.showBalance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break;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default: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"Invalid choice"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"Continue banking (d/w/s/x): 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choice =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input.nextLine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().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toLowerCase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227246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980C27-948C-5A74-3794-543E81ADB7CC}"/>
                  </a:ext>
                </a:extLst>
              </p:cNvPr>
              <p:cNvSpPr txBox="1"/>
              <p:nvPr/>
            </p:nvSpPr>
            <p:spPr>
              <a:xfrm>
                <a:off x="711201" y="1109134"/>
                <a:ext cx="11004265" cy="33479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400" b="1" dirty="0">
                    <a:latin typeface="Economica" panose="020B0604020202020204" charset="0"/>
                  </a:rPr>
                  <a:t>Exercise 1: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2400" dirty="0">
                    <a:latin typeface="Economica" panose="020B0604020202020204" charset="0"/>
                  </a:rPr>
                  <a:t>Write a program called </a:t>
                </a:r>
                <a:r>
                  <a:rPr lang="en-GB" sz="2400" b="1" dirty="0">
                    <a:latin typeface="Economica" panose="020B0604020202020204" charset="0"/>
                  </a:rPr>
                  <a:t>Lab4Exc1</a:t>
                </a:r>
                <a:r>
                  <a:rPr lang="en-GB" sz="2400" dirty="0">
                    <a:latin typeface="Economica" panose="020B0604020202020204" charset="0"/>
                  </a:rPr>
                  <a:t> with the following operations:</a:t>
                </a:r>
              </a:p>
              <a:p>
                <a:pPr marL="380990" indent="-38099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Economica" panose="020B0604020202020204" charset="0"/>
                  </a:rPr>
                  <a:t>Display all numbers from 1 to 10</a:t>
                </a:r>
              </a:p>
              <a:p>
                <a:pPr marL="380990" indent="-38099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Economica" panose="020B0604020202020204" charset="0"/>
                  </a:rPr>
                  <a:t>Display the square root of each number</a:t>
                </a:r>
              </a:p>
              <a:p>
                <a:pPr marL="380990" indent="-38099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Economica" panose="020B0604020202020204" charset="0"/>
                  </a:rPr>
                  <a:t>Display the exponential of each number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GB" sz="2400" dirty="0">
                    <a:latin typeface="Economica" panose="020B0604020202020204" charset="0"/>
                  </a:rPr>
                  <a:t>)</a:t>
                </a:r>
              </a:p>
              <a:p>
                <a:pPr marL="380990" indent="-38099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Economica" panose="020B0604020202020204" charset="0"/>
                  </a:rPr>
                  <a:t>Use a tabular format to display the above (refer to Lecture 4)</a:t>
                </a:r>
                <a:endParaRPr lang="en-US" sz="2400" dirty="0">
                  <a:latin typeface="Economica" panose="020B060402020202020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980C27-948C-5A74-3794-543E81ADB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1" y="1109134"/>
                <a:ext cx="11004265" cy="3347968"/>
              </a:xfrm>
              <a:prstGeom prst="rect">
                <a:avLst/>
              </a:prstGeom>
              <a:blipFill>
                <a:blip r:embed="rId3"/>
                <a:stretch>
                  <a:fillRect l="-886" b="-3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032509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CEED1AC-9F07-01D2-F73E-FD0373A99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84F628C-5A06-D692-F93F-9BAF97D6A10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F21556-0032-2769-90A3-58F9B2CBA4D4}"/>
              </a:ext>
            </a:extLst>
          </p:cNvPr>
          <p:cNvSpPr txBox="1"/>
          <p:nvPr/>
        </p:nvSpPr>
        <p:spPr>
          <a:xfrm>
            <a:off x="0" y="516195"/>
            <a:ext cx="1200081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 need to display: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Number    Square Root    </a:t>
            </a:r>
            <a:r>
              <a:rPr lang="en-US" sz="2800" dirty="0" err="1">
                <a:latin typeface="Calibir"/>
              </a:rPr>
              <a:t>e^x</a:t>
            </a:r>
            <a:endParaRPr lang="en-US" sz="2800" dirty="0">
              <a:latin typeface="Calibir"/>
            </a:endParaRP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1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2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...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10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1 — Understand the mathematics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every number x from 1 to 10: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Square root = √x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Exponential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e^x</a:t>
            </a:r>
            <a:endParaRPr lang="en-US" sz="2800" b="1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3089290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CC9B8BE-1DA7-1B5A-3E0D-C574639B0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48F21AD-FA4A-8B75-85ED-74596423205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E2F609-D1E0-69B3-EEE4-DBB814749865}"/>
              </a:ext>
            </a:extLst>
          </p:cNvPr>
          <p:cNvSpPr txBox="1"/>
          <p:nvPr/>
        </p:nvSpPr>
        <p:spPr>
          <a:xfrm>
            <a:off x="0" y="516195"/>
            <a:ext cx="1200081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 — Python loop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x in range(1, 11):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print(x)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range(1, 11) produces: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1 2 3 4 5 6 7 8 9 10</a:t>
            </a:r>
          </a:p>
        </p:txBody>
      </p:sp>
    </p:spTree>
    <p:extLst>
      <p:ext uri="{BB962C8B-B14F-4D97-AF65-F5344CB8AC3E}">
        <p14:creationId xmlns:p14="http://schemas.microsoft.com/office/powerpoint/2010/main" val="10708164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A237768-1A2E-C64B-3ED6-8C28855F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F765E49-C77B-B9F1-E954-4239B8A1B7A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5B6D7-3822-8687-976C-84A007243BCD}"/>
              </a:ext>
            </a:extLst>
          </p:cNvPr>
          <p:cNvSpPr txBox="1"/>
          <p:nvPr/>
        </p:nvSpPr>
        <p:spPr>
          <a:xfrm>
            <a:off x="0" y="516195"/>
            <a:ext cx="1200081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 — Python calculations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square_root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math.sqrt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(x)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exponential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math.exp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(x)</a:t>
            </a:r>
          </a:p>
        </p:txBody>
      </p:sp>
    </p:spTree>
    <p:extLst>
      <p:ext uri="{BB962C8B-B14F-4D97-AF65-F5344CB8AC3E}">
        <p14:creationId xmlns:p14="http://schemas.microsoft.com/office/powerpoint/2010/main" val="17484904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5CD7C7B-F662-67C0-4DFD-673F046E7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CD3AA1E-AAAB-9D11-6530-D1CC0DE4C37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DACF78-5887-406C-7A45-CA1876B84319}"/>
              </a:ext>
            </a:extLst>
          </p:cNvPr>
          <p:cNvSpPr txBox="1"/>
          <p:nvPr/>
        </p:nvSpPr>
        <p:spPr>
          <a:xfrm>
            <a:off x="95591" y="843677"/>
            <a:ext cx="12000818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latin typeface="Calibir"/>
              </a:rPr>
              <a:t>Completed Python — Lab4Exc1.py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import math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print(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f"{'Number':&lt;10}"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f"{'Square Root':&lt;15}"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f"{'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e^x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':&lt;15}"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)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for x in range(1, 11):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square_root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math.sqrt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(x)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exponential =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math.exp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(x)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print(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    f"{x:&lt;10}"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    f"{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square_root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:&lt;15.2f}"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    f"{exponential:&lt;15.2f}"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43153410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96742E2-9B91-BC50-C80C-574A31E87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25BC826-75C0-AF13-3354-970DA5BCEA8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2DE7EC-5703-C4C9-705F-FB96D347A2B4}"/>
              </a:ext>
            </a:extLst>
          </p:cNvPr>
          <p:cNvSpPr txBox="1"/>
          <p:nvPr/>
        </p:nvSpPr>
        <p:spPr>
          <a:xfrm>
            <a:off x="95591" y="843677"/>
            <a:ext cx="1200081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a for loop: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(int x = 1; x &lt;= 10; x++) {</a:t>
            </a:r>
          </a:p>
          <a:p>
            <a:pPr>
              <a:lnSpc>
                <a:spcPct val="150000"/>
              </a:lnSpc>
            </a:pP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4014295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45E4C63-3EA2-CC9A-6DC9-50463285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8F153AD2-730D-FA1A-6FB0-93D1E86586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900EF7-2FF5-6FB5-5226-B1B6890BD9D0}"/>
              </a:ext>
            </a:extLst>
          </p:cNvPr>
          <p:cNvSpPr txBox="1"/>
          <p:nvPr/>
        </p:nvSpPr>
        <p:spPr>
          <a:xfrm>
            <a:off x="95591" y="843677"/>
            <a:ext cx="1200081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double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squareRoot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Math.sqrt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(x);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double exponential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Math.exp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(x);</a:t>
            </a:r>
          </a:p>
        </p:txBody>
      </p:sp>
    </p:spTree>
    <p:extLst>
      <p:ext uri="{BB962C8B-B14F-4D97-AF65-F5344CB8AC3E}">
        <p14:creationId xmlns:p14="http://schemas.microsoft.com/office/powerpoint/2010/main" val="403558018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0582E4A-9CFA-8481-D534-45480F13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7145F65-6FD9-5869-D271-460229908EA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ADDCD5-3757-D70E-88B1-9F1F5104C85D}"/>
              </a:ext>
            </a:extLst>
          </p:cNvPr>
          <p:cNvSpPr txBox="1"/>
          <p:nvPr/>
        </p:nvSpPr>
        <p:spPr>
          <a:xfrm>
            <a:off x="95591" y="748634"/>
            <a:ext cx="12000818" cy="6109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latin typeface="Calibir"/>
              </a:rPr>
              <a:t>Completed Java — Lab4Exc1.java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public class Lab4Exc1 {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"%-10s %-15s %-15s%n",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"Number",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"Square Root",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"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e^x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"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);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for (int x = 1; x &lt;= 10; x++) {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double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squareRoot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 =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Math.sqrt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(x);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double exponential =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Math.exp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(x);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"%-10d %-15.2f %-15.2f%n",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x,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squareRoot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exponential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56046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711201" y="1109134"/>
            <a:ext cx="11004265" cy="3347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2 (Java):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Lab4Exc2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Generate 20 random integers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Store the values into an array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Display the array</a:t>
            </a:r>
          </a:p>
          <a:p>
            <a:pPr>
              <a:lnSpc>
                <a:spcPct val="150000"/>
              </a:lnSpc>
            </a:pPr>
            <a:endParaRPr lang="en-GB" sz="2400" u="sng" dirty="0"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0680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5649438-317A-863B-A87A-52513D1C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3E7A3F9-DD32-331B-FF8A-B5E7700FFF2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B9B93F-4BC5-7EE4-8DEC-94102B56B36F}"/>
              </a:ext>
            </a:extLst>
          </p:cNvPr>
          <p:cNvSpPr txBox="1"/>
          <p:nvPr/>
        </p:nvSpPr>
        <p:spPr>
          <a:xfrm>
            <a:off x="711201" y="1109134"/>
            <a:ext cx="11004265" cy="3903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supplied exercise says Java, but below is also the Python equivalent for comparison.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random-number range is not specified. The examples below use 0–99.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Create an empty list: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numbers = []</a:t>
            </a:r>
          </a:p>
        </p:txBody>
      </p:sp>
    </p:spTree>
    <p:extLst>
      <p:ext uri="{BB962C8B-B14F-4D97-AF65-F5344CB8AC3E}">
        <p14:creationId xmlns:p14="http://schemas.microsoft.com/office/powerpoint/2010/main" val="99900915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860CC1E-95EA-B509-B090-5C4D606AF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AEE4EBC-AA2F-2EC2-2BA8-452B14F5F8D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2B935C-E071-84A5-91D0-90DDAAB63593}"/>
              </a:ext>
            </a:extLst>
          </p:cNvPr>
          <p:cNvSpPr txBox="1"/>
          <p:nvPr/>
        </p:nvSpPr>
        <p:spPr>
          <a:xfrm>
            <a:off x="711201" y="1109134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Generate twenty random numbers: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in range(20):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number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(0, 99)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numbers.append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(number)</a:t>
            </a:r>
          </a:p>
        </p:txBody>
      </p:sp>
    </p:spTree>
    <p:extLst>
      <p:ext uri="{BB962C8B-B14F-4D97-AF65-F5344CB8AC3E}">
        <p14:creationId xmlns:p14="http://schemas.microsoft.com/office/powerpoint/2010/main" val="340522359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F4F2A6F-F64D-799B-86EA-9D7CD072A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FF06F113-43CE-32AE-3AD8-838262ACB90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8E0012-07CF-DE52-A42A-3C4894D42B6E}"/>
              </a:ext>
            </a:extLst>
          </p:cNvPr>
          <p:cNvSpPr txBox="1"/>
          <p:nvPr/>
        </p:nvSpPr>
        <p:spPr>
          <a:xfrm>
            <a:off x="711201" y="1109134"/>
            <a:ext cx="110042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Completed 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numbers = []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in range(20):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number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(0, 99)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numbers.append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(number)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print(numbers)</a:t>
            </a:r>
          </a:p>
        </p:txBody>
      </p:sp>
    </p:spTree>
    <p:extLst>
      <p:ext uri="{BB962C8B-B14F-4D97-AF65-F5344CB8AC3E}">
        <p14:creationId xmlns:p14="http://schemas.microsoft.com/office/powerpoint/2010/main" val="38645278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3697E8E-0422-E86D-F3A9-1F2AB6CFB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AC10758-A747-3945-AC1D-B4ABAE42902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E0B069-50A0-E776-BEDE-7909A21DDB73}"/>
              </a:ext>
            </a:extLst>
          </p:cNvPr>
          <p:cNvSpPr txBox="1"/>
          <p:nvPr/>
        </p:nvSpPr>
        <p:spPr>
          <a:xfrm>
            <a:off x="711201" y="1109134"/>
            <a:ext cx="11004265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an array: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int[] numbers = new int[20];</a:t>
            </a:r>
          </a:p>
        </p:txBody>
      </p:sp>
    </p:spTree>
    <p:extLst>
      <p:ext uri="{BB962C8B-B14F-4D97-AF65-F5344CB8AC3E}">
        <p14:creationId xmlns:p14="http://schemas.microsoft.com/office/powerpoint/2010/main" val="32531783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5F9312D-5763-C007-7457-EF600710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029BB0AC-64DD-6627-232F-DF6EC8E7CDD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2DC875-C12D-2461-EBF6-F5D4C37BF6DB}"/>
              </a:ext>
            </a:extLst>
          </p:cNvPr>
          <p:cNvSpPr txBox="1"/>
          <p:nvPr/>
        </p:nvSpPr>
        <p:spPr>
          <a:xfrm>
            <a:off x="711201" y="1109134"/>
            <a:ext cx="11004265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 random-number generator: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Random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new Random();</a:t>
            </a:r>
          </a:p>
        </p:txBody>
      </p:sp>
    </p:spTree>
    <p:extLst>
      <p:ext uri="{BB962C8B-B14F-4D97-AF65-F5344CB8AC3E}">
        <p14:creationId xmlns:p14="http://schemas.microsoft.com/office/powerpoint/2010/main" val="9038541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4C1C8EF-550B-F39D-92C5-B5C6FF77F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F547691C-FD2B-7839-12BF-CFA223AD4B1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D5522E-0732-A93B-EBFE-BC1CF7CA1BBC}"/>
              </a:ext>
            </a:extLst>
          </p:cNvPr>
          <p:cNvSpPr txBox="1"/>
          <p:nvPr/>
        </p:nvSpPr>
        <p:spPr>
          <a:xfrm>
            <a:off x="711201" y="1109134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Fill the array: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(int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0;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&lt;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numbers.length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;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++)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numbers[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]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random.nextInt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(100);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5562478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C20FFAF-E74C-39C7-FC19-E4BE4AAC5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CF2DFC66-324C-B797-0BDF-6CA3DA95BE8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8039B2-3482-ECE0-1257-FC168BA8F108}"/>
              </a:ext>
            </a:extLst>
          </p:cNvPr>
          <p:cNvSpPr txBox="1"/>
          <p:nvPr/>
        </p:nvSpPr>
        <p:spPr>
          <a:xfrm>
            <a:off x="358002" y="796413"/>
            <a:ext cx="11004265" cy="6062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300" b="1" dirty="0">
                <a:latin typeface="Calibir"/>
              </a:rPr>
              <a:t>Completed Java — Lab4Exc2.java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java.util.Arrays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java.util.Random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public class Lab4Exc2 {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int[] numbers = new int[20];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Random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random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 = new Random();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for 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int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 = 0;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 &lt;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numbers.length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++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 {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numbers[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] =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random.nextInt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(100);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Arrays.toString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(numbers)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6112114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3628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93868" y="1105506"/>
            <a:ext cx="11004265" cy="390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3: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Lab4Exc3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Repeatedly print out n stars in one line, where the value of n is captured from the keyboard. </a:t>
            </a:r>
          </a:p>
          <a:p>
            <a:pPr>
              <a:lnSpc>
                <a:spcPct val="150000"/>
              </a:lnSpc>
            </a:pPr>
            <a:r>
              <a:rPr lang="en-GB" sz="2400" u="sng" dirty="0">
                <a:latin typeface="Economica" panose="020B0604020202020204" charset="0"/>
              </a:rPr>
              <a:t>NOTES: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Don't forget to terminate the previous line.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The program should terminate when n is zero.</a:t>
            </a:r>
            <a:endParaRPr lang="en-US" sz="2400" dirty="0"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714698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176E9A6-E4AA-5FDF-E56D-3CFF1228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5AD7D6E-25C7-B211-5F32-D423F46664B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BF8E01-9A6B-B712-FF39-32FECF9A5EB9}"/>
              </a:ext>
            </a:extLst>
          </p:cNvPr>
          <p:cNvSpPr txBox="1"/>
          <p:nvPr/>
        </p:nvSpPr>
        <p:spPr>
          <a:xfrm>
            <a:off x="358002" y="796413"/>
            <a:ext cx="11004265" cy="584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the user enters: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*****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the user enters: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***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Entering 0 stops the program.</a:t>
            </a:r>
          </a:p>
        </p:txBody>
      </p:sp>
    </p:spTree>
    <p:extLst>
      <p:ext uri="{BB962C8B-B14F-4D97-AF65-F5344CB8AC3E}">
        <p14:creationId xmlns:p14="http://schemas.microsoft.com/office/powerpoint/2010/main" val="421670038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71B1DDD-2868-3FFB-D3A2-C1CBBAF48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B76750A-5DA0-7A0D-D814-5D10B04DF50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BE95E6-9DAC-B276-1EC2-9952A7ACB7D7}"/>
              </a:ext>
            </a:extLst>
          </p:cNvPr>
          <p:cNvSpPr txBox="1"/>
          <p:nvPr/>
        </p:nvSpPr>
        <p:spPr>
          <a:xfrm>
            <a:off x="358002" y="796413"/>
            <a:ext cx="11004265" cy="5196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 = int(input("Enter n: "))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Repeat until zero: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n != 0: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Python can repeat a string: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print("*" * n)</a:t>
            </a:r>
          </a:p>
        </p:txBody>
      </p:sp>
    </p:spTree>
    <p:extLst>
      <p:ext uri="{BB962C8B-B14F-4D97-AF65-F5344CB8AC3E}">
        <p14:creationId xmlns:p14="http://schemas.microsoft.com/office/powerpoint/2010/main" val="77765247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FEC7359-C6D4-AE9E-38A6-B6769098E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1C575FDE-EBF8-BC87-8EB7-0103EF46B51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F1F534-FF45-27F0-EF9D-6CA00CF643F2}"/>
              </a:ext>
            </a:extLst>
          </p:cNvPr>
          <p:cNvSpPr txBox="1"/>
          <p:nvPr/>
        </p:nvSpPr>
        <p:spPr>
          <a:xfrm>
            <a:off x="358002" y="796413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Completed Python — Lab4Exc3.py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 = int(input("Enter n: "))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n != 0: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print("*" * n)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n = int(input("Enter n: "))</a:t>
            </a:r>
          </a:p>
        </p:txBody>
      </p:sp>
    </p:spTree>
    <p:extLst>
      <p:ext uri="{BB962C8B-B14F-4D97-AF65-F5344CB8AC3E}">
        <p14:creationId xmlns:p14="http://schemas.microsoft.com/office/powerpoint/2010/main" val="84436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EEBF20D-9BCB-515D-C7FF-21D3CC8F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C6F4E54-A729-920F-1296-FF506B67D55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87B247-7550-7BFA-B6F1-FE0D88F75C47}"/>
              </a:ext>
            </a:extLst>
          </p:cNvPr>
          <p:cNvSpPr txBox="1"/>
          <p:nvPr/>
        </p:nvSpPr>
        <p:spPr>
          <a:xfrm>
            <a:off x="358002" y="1076632"/>
            <a:ext cx="11004265" cy="5626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Read n: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int n =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Nested loop: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while (n != 0)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for (int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0;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&lt; n;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++)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("*");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245712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A31A23C-8926-0722-D9EF-B61B37EE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F104FD7-37F8-26B5-38D7-B29B4E3C4B7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EE243F-B03D-BB35-7E61-520359FE4DB7}"/>
              </a:ext>
            </a:extLst>
          </p:cNvPr>
          <p:cNvSpPr txBox="1"/>
          <p:nvPr/>
        </p:nvSpPr>
        <p:spPr>
          <a:xfrm>
            <a:off x="358002" y="796413"/>
            <a:ext cx="11004265" cy="5968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Completed Java — Lab4Exc3.java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public class Lab4Exc3 {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("Enter n: ");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int n =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while (n != 0) {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for (int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 = 0;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 &lt; n;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++) {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("*");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("Enter n: ");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n =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615538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8467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93868" y="1109134"/>
            <a:ext cx="11004265" cy="3347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4: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Lab4Exc4</a:t>
            </a:r>
            <a:r>
              <a:rPr lang="en-GB" sz="2400" dirty="0">
                <a:latin typeface="Economica" panose="020B0604020202020204" charset="0"/>
              </a:rPr>
              <a:t> with the following operations 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Repeatedly read an integer n from the keyboard.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Display the min and max values entered. </a:t>
            </a:r>
          </a:p>
          <a:p>
            <a:pPr>
              <a:lnSpc>
                <a:spcPct val="150000"/>
              </a:lnSpc>
            </a:pPr>
            <a:r>
              <a:rPr lang="en-GB" sz="2400" u="sng" dirty="0">
                <a:latin typeface="Economica" panose="020B0604020202020204" charset="0"/>
              </a:rPr>
              <a:t>NOTE: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The program stops taking inputs from keyboard when -1 is entered.</a:t>
            </a:r>
          </a:p>
        </p:txBody>
      </p:sp>
    </p:spTree>
    <p:extLst>
      <p:ext uri="{BB962C8B-B14F-4D97-AF65-F5344CB8AC3E}">
        <p14:creationId xmlns:p14="http://schemas.microsoft.com/office/powerpoint/2010/main" val="396196315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22C7348-783B-F4F9-0300-2F31868DC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004B1E8-EB14-1506-45F0-133049111C3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4 — Find Minimum and Maximum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EF6FA-0C04-97DF-2687-DB56940E9474}"/>
              </a:ext>
            </a:extLst>
          </p:cNvPr>
          <p:cNvSpPr txBox="1"/>
          <p:nvPr/>
        </p:nvSpPr>
        <p:spPr>
          <a:xfrm>
            <a:off x="358002" y="1076632"/>
            <a:ext cx="11004265" cy="5196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user repeatedly enters numbers.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-1 means stop.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Important idea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should not automatically set: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min = 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max = 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because all entered numbers could be positive or negative.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simple solution is to use the first valid number to initialize both.</a:t>
            </a:r>
          </a:p>
        </p:txBody>
      </p:sp>
    </p:spTree>
    <p:extLst>
      <p:ext uri="{BB962C8B-B14F-4D97-AF65-F5344CB8AC3E}">
        <p14:creationId xmlns:p14="http://schemas.microsoft.com/office/powerpoint/2010/main" val="140784880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AFAE033-3F12-1ED8-F947-A55700472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A5A921F1-9C8C-7E7C-570B-0A0CFC2CAC9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4 — Find Minimum and Maximum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8763F0-98B0-1E57-FEB6-C2E3F73F3053}"/>
              </a:ext>
            </a:extLst>
          </p:cNvPr>
          <p:cNvSpPr txBox="1"/>
          <p:nvPr/>
        </p:nvSpPr>
        <p:spPr>
          <a:xfrm>
            <a:off x="358002" y="1076632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minimum = None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maximum = None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None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do not have a value yet.</a:t>
            </a:r>
          </a:p>
        </p:txBody>
      </p:sp>
    </p:spTree>
    <p:extLst>
      <p:ext uri="{BB962C8B-B14F-4D97-AF65-F5344CB8AC3E}">
        <p14:creationId xmlns:p14="http://schemas.microsoft.com/office/powerpoint/2010/main" val="427486747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D9AA420-07F2-B886-4642-36C60D777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BADD0BC-1CDD-55CE-2A44-4A8836C82ED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4 — Find Minimum and Maximum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6097E1-778C-0DD0-62E0-E34C18796C17}"/>
              </a:ext>
            </a:extLst>
          </p:cNvPr>
          <p:cNvSpPr txBox="1"/>
          <p:nvPr/>
        </p:nvSpPr>
        <p:spPr>
          <a:xfrm>
            <a:off x="358002" y="1076632"/>
            <a:ext cx="11004265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repeatedly: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True:</a:t>
            </a:r>
          </a:p>
        </p:txBody>
      </p:sp>
    </p:spTree>
    <p:extLst>
      <p:ext uri="{BB962C8B-B14F-4D97-AF65-F5344CB8AC3E}">
        <p14:creationId xmlns:p14="http://schemas.microsoft.com/office/powerpoint/2010/main" val="100585361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9655DA88-2782-B099-5C44-B81FCA4FE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5F9FE6AB-E222-CC2E-7F48-3CE3B9A99F2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4 — Find Minimum and Maximum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3FAD0A-A066-0BEF-0E8B-9F8E5F33F0B4}"/>
              </a:ext>
            </a:extLst>
          </p:cNvPr>
          <p:cNvSpPr txBox="1"/>
          <p:nvPr/>
        </p:nvSpPr>
        <p:spPr>
          <a:xfrm>
            <a:off x="0" y="796413"/>
            <a:ext cx="11004265" cy="6086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>
                <a:latin typeface="Calibir"/>
              </a:rPr>
              <a:t>Completed Python — Lab4Exc4.py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minimum = None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maximum = None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n = int(input("Enter an integer (-1 to stop): "))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if n == -1: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if minimum is None: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minimum = n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maximum = n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else: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if n &lt; minimum: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minimum = n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if n &gt; maximum: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maximum = n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if minimum is not None: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print("Minimum:", minimum)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print("Maximum:", maximum)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else: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print("No values entered.")</a:t>
            </a:r>
          </a:p>
        </p:txBody>
      </p:sp>
    </p:spTree>
    <p:extLst>
      <p:ext uri="{BB962C8B-B14F-4D97-AF65-F5344CB8AC3E}">
        <p14:creationId xmlns:p14="http://schemas.microsoft.com/office/powerpoint/2010/main" val="5956468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F538E4D-E85F-5F75-4CF4-AD720A414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997021-59D2-31D8-7823-BC28D09DC4AE}"/>
              </a:ext>
            </a:extLst>
          </p:cNvPr>
          <p:cNvSpPr txBox="1"/>
          <p:nvPr/>
        </p:nvSpPr>
        <p:spPr>
          <a:xfrm>
            <a:off x="0" y="0"/>
            <a:ext cx="11004265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a Boolean variable: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boolean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true;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568D47-9139-5172-F3EF-7739A516FE00}"/>
              </a:ext>
            </a:extLst>
          </p:cNvPr>
          <p:cNvSpPr txBox="1"/>
          <p:nvPr/>
        </p:nvSpPr>
        <p:spPr>
          <a:xfrm>
            <a:off x="4812890" y="81930"/>
            <a:ext cx="3210233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alibir"/>
              </a:rPr>
              <a:t>Completed Java — Lab4Exc4.java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boolean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 = true;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while (true)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"Enter an integer (-1 to stop): "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int n =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if (n == -1)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break;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if (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minimum = n;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maximum = n;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 = false;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} else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if (n &lt; minimum)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    minimum = n;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if (n &gt; maximum)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    maximum = n;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if (!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"Minimum: " + minimum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"Maximum: " + maximum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} else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"No values entered."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6322236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3628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829734" y="1105506"/>
            <a:ext cx="11004265" cy="390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5: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Lab4Exc5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Add all even numbers from 1 up to n and print the sum, where the value of n is entered from keyboard.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The program should print the even-sum of every entered n.</a:t>
            </a:r>
          </a:p>
          <a:p>
            <a:pPr>
              <a:lnSpc>
                <a:spcPct val="150000"/>
              </a:lnSpc>
            </a:pPr>
            <a:r>
              <a:rPr lang="en-GB" sz="2400" u="sng" dirty="0">
                <a:latin typeface="Economica" panose="020B0604020202020204" charset="0"/>
              </a:rPr>
              <a:t>NOTE: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The program stops taking inputs from keyboard when -1 is entered.</a:t>
            </a:r>
          </a:p>
        </p:txBody>
      </p:sp>
    </p:spTree>
    <p:extLst>
      <p:ext uri="{BB962C8B-B14F-4D97-AF65-F5344CB8AC3E}">
        <p14:creationId xmlns:p14="http://schemas.microsoft.com/office/powerpoint/2010/main" val="178714813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263C649-CE7D-D326-4CE1-B0AD202DF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B31E8A6E-6AFD-6F6F-610E-32E89A10132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5 — Sum Even Numbers from 1 to n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CFDA4-9166-1D41-7BD6-B7E39325CAAB}"/>
              </a:ext>
            </a:extLst>
          </p:cNvPr>
          <p:cNvSpPr txBox="1"/>
          <p:nvPr/>
        </p:nvSpPr>
        <p:spPr>
          <a:xfrm>
            <a:off x="0" y="796413"/>
            <a:ext cx="110042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 = 10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Even numbers are: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 + 4 + 6 + 8 + 10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Result: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program repeats until -1.</a:t>
            </a:r>
          </a:p>
        </p:txBody>
      </p:sp>
    </p:spTree>
    <p:extLst>
      <p:ext uri="{BB962C8B-B14F-4D97-AF65-F5344CB8AC3E}">
        <p14:creationId xmlns:p14="http://schemas.microsoft.com/office/powerpoint/2010/main" val="101864854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74E4A09-53CA-3123-258D-A2243D733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EA5C8379-97DD-B183-4470-2DF530CA92F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5 — Sum Even Numbers from 1 to n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A02F0D-C565-9863-C4D8-5F40B485F892}"/>
              </a:ext>
            </a:extLst>
          </p:cNvPr>
          <p:cNvSpPr txBox="1"/>
          <p:nvPr/>
        </p:nvSpPr>
        <p:spPr>
          <a:xfrm>
            <a:off x="0" y="796413"/>
            <a:ext cx="110042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total = 0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Visit only even values: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number in range(2, n + 1, 2):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final 2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Increase by 2 each time.</a:t>
            </a:r>
          </a:p>
        </p:txBody>
      </p:sp>
    </p:spTree>
    <p:extLst>
      <p:ext uri="{BB962C8B-B14F-4D97-AF65-F5344CB8AC3E}">
        <p14:creationId xmlns:p14="http://schemas.microsoft.com/office/powerpoint/2010/main" val="142821267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54378EF-457E-8496-4BE9-70A2E90D8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D0EBFA1-018B-D4D3-3AC3-D3C3A666A34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5 — Sum Even Numbers from 1 to n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89DE97-2A75-44CC-DE78-28EE104D3191}"/>
              </a:ext>
            </a:extLst>
          </p:cNvPr>
          <p:cNvSpPr txBox="1"/>
          <p:nvPr/>
        </p:nvSpPr>
        <p:spPr>
          <a:xfrm>
            <a:off x="0" y="796413"/>
            <a:ext cx="11004265" cy="3788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Completed Python — Lab4Exc5.py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n = int(input("Enter n (-1 to stop): "))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if n == -1: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= 0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for number in range(2, n + 1, 2):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+= number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print(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f"Even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sum up to {n}: {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124637635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433CBFD-F581-4E37-339B-7224C6DB5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A5D7006-1C86-A834-C3D1-ED6270B162C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5 — Sum Even Numbers from 1 to n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B38C0-50BA-0682-DDE0-9FCD238E2B07}"/>
              </a:ext>
            </a:extLst>
          </p:cNvPr>
          <p:cNvSpPr txBox="1"/>
          <p:nvPr/>
        </p:nvSpPr>
        <p:spPr>
          <a:xfrm>
            <a:off x="0" y="899652"/>
            <a:ext cx="11004265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bir"/>
              </a:rPr>
              <a:t>Java — Completed Solution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public class Lab4Exc5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Scanner input = new Scanner(System.in);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while (true)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"Enter n (-1 to stop): "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int n =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if (n == -1)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break;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int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evenSum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= 0;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for (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int number = 2;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number &lt;= n;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number += 2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)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evenSum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+= number;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"Even sum up to "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+ n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+ ": "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+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evenSum</a:t>
            </a:r>
            <a:endParaRPr lang="en-US" sz="1200" dirty="0">
              <a:highlight>
                <a:srgbClr val="FFFF00"/>
              </a:highlight>
              <a:latin typeface="Calibir"/>
            </a:endParaRP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342200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93868" y="1109134"/>
            <a:ext cx="11004265" cy="2793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6: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Lab4Exc6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Generate a random number of seed 10, n times (n is entered from keyboard).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Calculate and show the even-sum of the random numbers.</a:t>
            </a:r>
          </a:p>
          <a:p>
            <a:pPr>
              <a:lnSpc>
                <a:spcPct val="150000"/>
              </a:lnSpc>
            </a:pPr>
            <a:endParaRPr lang="en-GB" sz="2400" dirty="0">
              <a:solidFill>
                <a:schemeClr val="accent6">
                  <a:lumMod val="75000"/>
                </a:schemeClr>
              </a:solidFill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24355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1A12DDB-328B-AAF1-EAA8-069D9D741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BF97FE5-90E8-693B-BBEE-01710262D5D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6 — Seeded Random Numbers and Even Sum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7338F6-AAA3-5CA3-8D4D-5C7441513601}"/>
              </a:ext>
            </a:extLst>
          </p:cNvPr>
          <p:cNvSpPr txBox="1"/>
          <p:nvPr/>
        </p:nvSpPr>
        <p:spPr>
          <a:xfrm>
            <a:off x="0" y="899652"/>
            <a:ext cx="11004265" cy="584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Important clarification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task says: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Generate a random number of seed 10, n times.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normally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 random-number generator using </a:t>
            </a:r>
            <a:r>
              <a:rPr lang="en-US" sz="2800" b="1" dirty="0">
                <a:latin typeface="Calibir"/>
              </a:rPr>
              <a:t>seed 10</a:t>
            </a:r>
            <a:r>
              <a:rPr lang="en-US" sz="2800" dirty="0">
                <a:latin typeface="Calibir"/>
              </a:rPr>
              <a:t>, then generate n random numbers.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seed makes the random sequence repeatable.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range was not supplied, so below I use: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0–99</a:t>
            </a:r>
          </a:p>
        </p:txBody>
      </p:sp>
    </p:spTree>
    <p:extLst>
      <p:ext uri="{BB962C8B-B14F-4D97-AF65-F5344CB8AC3E}">
        <p14:creationId xmlns:p14="http://schemas.microsoft.com/office/powerpoint/2010/main" val="78784111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7CF99D3-18D2-D7D2-B574-97EC1BF7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05450709-8D80-3696-A7B1-F85D54AB515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6 — Seeded Random Numbers and Even Sum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D3FB35-9133-24CB-DDD1-0FACE65D885E}"/>
              </a:ext>
            </a:extLst>
          </p:cNvPr>
          <p:cNvSpPr txBox="1"/>
          <p:nvPr/>
        </p:nvSpPr>
        <p:spPr>
          <a:xfrm>
            <a:off x="0" y="899652"/>
            <a:ext cx="11004265" cy="584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random.seed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(10)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initializes the generator with seed 10.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number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(0, 99)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Check whether it is even: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if number % 2 == 0: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+= number</a:t>
            </a:r>
          </a:p>
        </p:txBody>
      </p:sp>
    </p:spTree>
    <p:extLst>
      <p:ext uri="{BB962C8B-B14F-4D97-AF65-F5344CB8AC3E}">
        <p14:creationId xmlns:p14="http://schemas.microsoft.com/office/powerpoint/2010/main" val="341218832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EEBAAB1-0B6B-D623-4AF0-574A3A695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B4B375E6-5A99-002D-7B2C-E6976742CD2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6 — Seeded Random Numbers and Even Sum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AA2336-3A5D-A7DA-7C97-828765ADD441}"/>
              </a:ext>
            </a:extLst>
          </p:cNvPr>
          <p:cNvSpPr txBox="1"/>
          <p:nvPr/>
        </p:nvSpPr>
        <p:spPr>
          <a:xfrm>
            <a:off x="0" y="899652"/>
            <a:ext cx="11004265" cy="4391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Completed Python — Lab4Exc6.py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n = int(input("How many random numbers? "))</a:t>
            </a:r>
          </a:p>
          <a:p>
            <a:pPr>
              <a:lnSpc>
                <a:spcPct val="150000"/>
              </a:lnSpc>
            </a:pPr>
            <a:r>
              <a:rPr lang="en-US" sz="1700" dirty="0" err="1">
                <a:highlight>
                  <a:srgbClr val="FFFF00"/>
                </a:highlight>
                <a:latin typeface="Calibir"/>
              </a:rPr>
              <a:t>random.seed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(10)</a:t>
            </a:r>
          </a:p>
          <a:p>
            <a:pPr>
              <a:lnSpc>
                <a:spcPct val="150000"/>
              </a:lnSpc>
            </a:pPr>
            <a:r>
              <a:rPr lang="en-US" sz="1700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 = 0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for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 in range(n):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    number =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(0, 99)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    print(number)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    if number % 2 == 0: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 += number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print("Even sum:",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2322670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42A3E5A-92E7-C318-250B-AA66CF7F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CC0FFC-38A8-980E-1A00-A3F44E70CCEA}"/>
              </a:ext>
            </a:extLst>
          </p:cNvPr>
          <p:cNvSpPr txBox="1"/>
          <p:nvPr/>
        </p:nvSpPr>
        <p:spPr>
          <a:xfrm>
            <a:off x="0" y="899652"/>
            <a:ext cx="379033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Create the seeded generator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Random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random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= new Random(10);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D375B-0935-8F69-4996-CA928E94BF9A}"/>
              </a:ext>
            </a:extLst>
          </p:cNvPr>
          <p:cNvSpPr txBox="1"/>
          <p:nvPr/>
        </p:nvSpPr>
        <p:spPr>
          <a:xfrm>
            <a:off x="6315816" y="234689"/>
            <a:ext cx="6186948" cy="6667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import </a:t>
            </a:r>
            <a:r>
              <a:rPr lang="en-US" sz="1100" dirty="0" err="1">
                <a:latin typeface="Calibir"/>
              </a:rPr>
              <a:t>java.util.Random</a:t>
            </a:r>
            <a:r>
              <a:rPr lang="en-US" sz="11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import </a:t>
            </a:r>
            <a:r>
              <a:rPr lang="en-US" sz="1100" dirty="0" err="1">
                <a:latin typeface="Calibir"/>
              </a:rPr>
              <a:t>java.util.Scanner</a:t>
            </a:r>
            <a:r>
              <a:rPr lang="en-US" sz="11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public class Lab4Exc6 {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public static void main(String[] </a:t>
            </a:r>
            <a:r>
              <a:rPr lang="en-US" sz="1100" dirty="0" err="1">
                <a:latin typeface="Calibir"/>
              </a:rPr>
              <a:t>args</a:t>
            </a:r>
            <a:r>
              <a:rPr lang="en-US" sz="11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System.out.print</a:t>
            </a:r>
            <a:r>
              <a:rPr lang="en-US" sz="11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"How many random numbers? "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int n = </a:t>
            </a:r>
            <a:r>
              <a:rPr lang="en-US" sz="1100" dirty="0" err="1">
                <a:latin typeface="Calibir"/>
              </a:rPr>
              <a:t>input.nextInt</a:t>
            </a:r>
            <a:r>
              <a:rPr lang="en-US" sz="11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Random </a:t>
            </a:r>
            <a:r>
              <a:rPr lang="en-US" sz="1100" dirty="0" err="1">
                <a:latin typeface="Calibir"/>
              </a:rPr>
              <a:t>random</a:t>
            </a:r>
            <a:r>
              <a:rPr lang="en-US" sz="1100" dirty="0">
                <a:latin typeface="Calibir"/>
              </a:rPr>
              <a:t> =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new Random(10);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int </a:t>
            </a:r>
            <a:r>
              <a:rPr lang="en-US" sz="1100" dirty="0" err="1">
                <a:latin typeface="Calibir"/>
              </a:rPr>
              <a:t>evenSum</a:t>
            </a:r>
            <a:r>
              <a:rPr lang="en-US" sz="1100" dirty="0">
                <a:latin typeface="Calibir"/>
              </a:rPr>
              <a:t> = 0;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for (int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 = 0;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 &lt; n;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++) {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int number =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random.nextInt</a:t>
            </a:r>
            <a:r>
              <a:rPr lang="en-US" sz="1100" dirty="0">
                <a:latin typeface="Calibir"/>
              </a:rPr>
              <a:t>(100);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(number);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if (number % 2 == 0) {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evenSum</a:t>
            </a:r>
            <a:r>
              <a:rPr lang="en-US" sz="1100" dirty="0">
                <a:latin typeface="Calibir"/>
              </a:rPr>
              <a:t> += number;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"Even sum: " + </a:t>
            </a:r>
            <a:r>
              <a:rPr lang="en-US" sz="1100" dirty="0" err="1">
                <a:latin typeface="Calibir"/>
              </a:rPr>
              <a:t>evenSum</a:t>
            </a:r>
            <a:endParaRPr lang="en-US" sz="11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input.close</a:t>
            </a:r>
            <a:r>
              <a:rPr lang="en-US" sz="11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09E680-9602-B652-FF8D-E0C604BDA7B1}"/>
              </a:ext>
            </a:extLst>
          </p:cNvPr>
          <p:cNvSpPr txBox="1"/>
          <p:nvPr/>
        </p:nvSpPr>
        <p:spPr>
          <a:xfrm>
            <a:off x="8750109" y="0"/>
            <a:ext cx="627813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b="1" dirty="0">
                <a:latin typeface="Calibir"/>
              </a:rPr>
              <a:t>Completed Java — Lab4Exc6.java</a:t>
            </a:r>
          </a:p>
        </p:txBody>
      </p:sp>
    </p:spTree>
    <p:extLst>
      <p:ext uri="{BB962C8B-B14F-4D97-AF65-F5344CB8AC3E}">
        <p14:creationId xmlns:p14="http://schemas.microsoft.com/office/powerpoint/2010/main" val="264111987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93868" y="1109134"/>
            <a:ext cx="11004265" cy="5009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7: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Lab4Exc7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457189" indent="-457189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Read characters from keyboard until dot (.) is entered</a:t>
            </a:r>
          </a:p>
          <a:p>
            <a:pPr marL="457189" indent="-457189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Count the number of vowels entered</a:t>
            </a:r>
          </a:p>
          <a:p>
            <a:pPr marL="457189" indent="-457189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Both uppercase and lowercase vowels should be counted</a:t>
            </a:r>
          </a:p>
          <a:p>
            <a:pPr marL="457189" indent="-457189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Display the total vowel count</a:t>
            </a:r>
          </a:p>
          <a:p>
            <a:pPr>
              <a:lnSpc>
                <a:spcPct val="150000"/>
              </a:lnSpc>
            </a:pPr>
            <a:r>
              <a:rPr lang="en-US" sz="2400" u="sng" dirty="0">
                <a:latin typeface="Economica" panose="020B0604020202020204" charset="0"/>
              </a:rPr>
              <a:t>NOTE: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The program stops when . is entered from keyboard</a:t>
            </a:r>
          </a:p>
          <a:p>
            <a:pPr marL="457189" indent="-457189">
              <a:lnSpc>
                <a:spcPct val="150000"/>
              </a:lnSpc>
              <a:buFont typeface="+mj-lt"/>
              <a:buAutoNum type="arabicPeriod"/>
            </a:pPr>
            <a:endParaRPr lang="en-US" sz="2400" dirty="0"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55183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99EFC8D-BFB2-96AE-00DA-3A771952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10C0544E-7463-33BB-3F05-A9B4D9FD138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7 — Count Vowels Until Dot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1EECE0-586E-4411-D8BA-83307C6864AC}"/>
              </a:ext>
            </a:extLst>
          </p:cNvPr>
          <p:cNvSpPr txBox="1"/>
          <p:nvPr/>
        </p:nvSpPr>
        <p:spPr>
          <a:xfrm>
            <a:off x="0" y="899652"/>
            <a:ext cx="11004265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Vowels are: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 e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o u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 E I O U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. </a:t>
            </a:r>
            <a:r>
              <a:rPr lang="en-US" sz="2800" dirty="0">
                <a:latin typeface="Calibir"/>
              </a:rPr>
              <a:t>terminates the program and should not be counted.</a:t>
            </a:r>
          </a:p>
        </p:txBody>
      </p:sp>
    </p:spTree>
    <p:extLst>
      <p:ext uri="{BB962C8B-B14F-4D97-AF65-F5344CB8AC3E}">
        <p14:creationId xmlns:p14="http://schemas.microsoft.com/office/powerpoint/2010/main" val="393185239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4E92354-437D-7FFC-F361-B67A4CDB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2F7423C5-0AD4-2604-A0A5-825361A1AB2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7 — Count Vowels Until Dot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66E80A-FA22-ED3E-B04B-44BB807895BC}"/>
              </a:ext>
            </a:extLst>
          </p:cNvPr>
          <p:cNvSpPr txBox="1"/>
          <p:nvPr/>
        </p:nvSpPr>
        <p:spPr>
          <a:xfrm>
            <a:off x="0" y="899652"/>
            <a:ext cx="11004265" cy="584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 counter: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vowel_count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0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a character: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character = input("Enter a character: ")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Check vowels: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if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character.lower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() in "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aeiou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":</a:t>
            </a:r>
          </a:p>
        </p:txBody>
      </p:sp>
    </p:spTree>
    <p:extLst>
      <p:ext uri="{BB962C8B-B14F-4D97-AF65-F5344CB8AC3E}">
        <p14:creationId xmlns:p14="http://schemas.microsoft.com/office/powerpoint/2010/main" val="318297994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925C98A-E6C7-C297-8BD5-A9A7E3AC8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114F3652-A12D-8A32-9ECA-421B27F8642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7 — Count Vowels Until Dot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D651A1-74C8-C825-198D-98CA9DEA0E92}"/>
              </a:ext>
            </a:extLst>
          </p:cNvPr>
          <p:cNvSpPr txBox="1"/>
          <p:nvPr/>
        </p:nvSpPr>
        <p:spPr>
          <a:xfrm>
            <a:off x="0" y="796413"/>
            <a:ext cx="8029815" cy="4610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Completed Python — Lab4Exc7.py</a:t>
            </a:r>
          </a:p>
          <a:p>
            <a:pPr>
              <a:lnSpc>
                <a:spcPct val="150000"/>
              </a:lnSpc>
            </a:pPr>
            <a:r>
              <a:rPr lang="en-US" sz="2200" dirty="0" err="1">
                <a:highlight>
                  <a:srgbClr val="FFFF00"/>
                </a:highlight>
                <a:latin typeface="Calibir"/>
              </a:rPr>
              <a:t>vowel_count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0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character = input("Enter a character (. to stop): ")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if character == ".":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if (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len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(character) &gt; 0 and character[0].lower() in "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aeiou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"):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vowel_count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+= 1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print("Total vowel count:",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vowel_count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159999176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13D5803-0D30-1686-6674-20D5DE289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EAB3632-38F5-2A3B-3897-C297C522461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7 — Count Vowels Until Dot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97C8A9-9D49-4EFC-C1BA-CBE2067D00DD}"/>
              </a:ext>
            </a:extLst>
          </p:cNvPr>
          <p:cNvSpPr txBox="1"/>
          <p:nvPr/>
        </p:nvSpPr>
        <p:spPr>
          <a:xfrm>
            <a:off x="0" y="899652"/>
            <a:ext cx="11004265" cy="3903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Convert the character to lowercase: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char ch =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Character.toLowerCase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input.next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().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charAt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(0)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);</a:t>
            </a:r>
          </a:p>
        </p:txBody>
      </p:sp>
    </p:spTree>
    <p:extLst>
      <p:ext uri="{BB962C8B-B14F-4D97-AF65-F5344CB8AC3E}">
        <p14:creationId xmlns:p14="http://schemas.microsoft.com/office/powerpoint/2010/main" val="328037340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20C6C96-7B9A-4A17-9DE1-B4E2BA28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7FA3F2-F67E-50B3-DCD1-4C06F84F822B}"/>
              </a:ext>
            </a:extLst>
          </p:cNvPr>
          <p:cNvSpPr txBox="1"/>
          <p:nvPr/>
        </p:nvSpPr>
        <p:spPr>
          <a:xfrm>
            <a:off x="0" y="112707"/>
            <a:ext cx="11004265" cy="6632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Completed Java — </a:t>
            </a:r>
            <a:r>
              <a:rPr lang="en-US" b="1" dirty="0"/>
              <a:t>Lab4Exc7.java</a:t>
            </a:r>
            <a:endParaRPr lang="en-US" sz="2800" b="1" dirty="0"/>
          </a:p>
          <a:p>
            <a:r>
              <a:rPr lang="en-US" sz="1200" dirty="0">
                <a:highlight>
                  <a:srgbClr val="FFFF00"/>
                </a:highlight>
              </a:rPr>
              <a:t>import </a:t>
            </a:r>
            <a:r>
              <a:rPr lang="en-US" sz="1200" dirty="0" err="1">
                <a:highlight>
                  <a:srgbClr val="FFFF00"/>
                </a:highlight>
              </a:rPr>
              <a:t>java.util.Scanner</a:t>
            </a:r>
            <a:r>
              <a:rPr lang="en-US" sz="1200" dirty="0">
                <a:highlight>
                  <a:srgbClr val="FFFF00"/>
                </a:highlight>
              </a:rPr>
              <a:t>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public class Lab4Exc7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public static void main(String[] </a:t>
            </a:r>
            <a:r>
              <a:rPr lang="en-US" sz="1200" dirty="0" err="1">
                <a:highlight>
                  <a:srgbClr val="FFFF00"/>
                </a:highlight>
              </a:rPr>
              <a:t>args</a:t>
            </a:r>
            <a:r>
              <a:rPr lang="en-US" sz="1200" dirty="0">
                <a:highlight>
                  <a:srgbClr val="FFFF00"/>
                </a:highlight>
              </a:rPr>
              <a:t>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Scanner input = new Scanner(System.in);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int </a:t>
            </a:r>
            <a:r>
              <a:rPr lang="en-US" sz="1200" dirty="0" err="1">
                <a:highlight>
                  <a:srgbClr val="FFFF00"/>
                </a:highlight>
              </a:rPr>
              <a:t>vowelCount</a:t>
            </a:r>
            <a:r>
              <a:rPr lang="en-US" sz="1200" dirty="0">
                <a:highlight>
                  <a:srgbClr val="FFFF00"/>
                </a:highlight>
              </a:rPr>
              <a:t> = 0;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while (true)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</a:rPr>
              <a:t>System.out.print</a:t>
            </a:r>
            <a:r>
              <a:rPr lang="en-US" sz="1200" dirty="0">
                <a:highlight>
                  <a:srgbClr val="FFFF00"/>
                </a:highlight>
              </a:rPr>
              <a:t>(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"Enter a character (. to stop): "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char ch =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</a:rPr>
              <a:t>input.next</a:t>
            </a:r>
            <a:r>
              <a:rPr lang="en-US" sz="1200" dirty="0">
                <a:highlight>
                  <a:srgbClr val="FFFF00"/>
                </a:highlight>
              </a:rPr>
              <a:t>().</a:t>
            </a:r>
            <a:r>
              <a:rPr lang="en-US" sz="1200" dirty="0" err="1">
                <a:highlight>
                  <a:srgbClr val="FFFF00"/>
                </a:highlight>
              </a:rPr>
              <a:t>charAt</a:t>
            </a:r>
            <a:r>
              <a:rPr lang="en-US" sz="1200" dirty="0">
                <a:highlight>
                  <a:srgbClr val="FFFF00"/>
                </a:highlight>
              </a:rPr>
              <a:t>(0);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if (ch == '.')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break;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}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ch =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</a:rPr>
              <a:t>Character.toLowerCase</a:t>
            </a:r>
            <a:r>
              <a:rPr lang="en-US" sz="1200" dirty="0">
                <a:highlight>
                  <a:srgbClr val="FFFF00"/>
                </a:highlight>
              </a:rPr>
              <a:t>(ch);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if (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ch == 'a'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|| ch == 'e'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|| ch == '</a:t>
            </a:r>
            <a:r>
              <a:rPr lang="en-US" sz="1200" dirty="0" err="1">
                <a:highlight>
                  <a:srgbClr val="FFFF00"/>
                </a:highlight>
              </a:rPr>
              <a:t>i</a:t>
            </a:r>
            <a:r>
              <a:rPr lang="en-US" sz="1200" dirty="0">
                <a:highlight>
                  <a:srgbClr val="FFFF00"/>
                </a:highlight>
              </a:rPr>
              <a:t>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|| ch == 'o'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|| ch == 'u'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</a:rPr>
              <a:t>vowelCount</a:t>
            </a:r>
            <a:r>
              <a:rPr lang="en-US" sz="1200" dirty="0">
                <a:highlight>
                  <a:srgbClr val="FFFF00"/>
                </a:highlight>
              </a:rPr>
              <a:t>++;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}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}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</a:t>
            </a:r>
            <a:r>
              <a:rPr lang="en-US" sz="1200" dirty="0" err="1">
                <a:highlight>
                  <a:srgbClr val="FFFF00"/>
                </a:highlight>
              </a:rPr>
              <a:t>System.out.println</a:t>
            </a:r>
            <a:r>
              <a:rPr lang="en-US" sz="1200" dirty="0">
                <a:highlight>
                  <a:srgbClr val="FFFF00"/>
                </a:highlight>
              </a:rPr>
              <a:t>(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"Total vowel count: "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+ </a:t>
            </a:r>
            <a:r>
              <a:rPr lang="en-US" sz="1200" dirty="0" err="1">
                <a:highlight>
                  <a:srgbClr val="FFFF00"/>
                </a:highlight>
              </a:rPr>
              <a:t>vowelCount</a:t>
            </a:r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        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</a:t>
            </a:r>
            <a:r>
              <a:rPr lang="en-US" sz="1200" dirty="0" err="1">
                <a:highlight>
                  <a:srgbClr val="FFFF00"/>
                </a:highlight>
              </a:rPr>
              <a:t>input.close</a:t>
            </a:r>
            <a:r>
              <a:rPr lang="en-US" sz="1200" dirty="0">
                <a:highlight>
                  <a:srgbClr val="FFFF00"/>
                </a:highlight>
              </a:rPr>
              <a:t>();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}</a:t>
            </a:r>
          </a:p>
          <a:p>
            <a:r>
              <a:rPr lang="en-US" sz="13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91010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812801" y="1109134"/>
            <a:ext cx="11004265" cy="3347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8: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Lab4Exc8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Calculate the factorial of n (where n is entered from keyboard)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Show the factorial of n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dirty="0">
              <a:latin typeface="Economica" panose="020B060402020202020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87636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4FBBE10-56BD-855F-0F5D-9F0DFA309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6E1331F-2798-8471-C540-262604BBDAD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8 — Factorial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E409ED-511C-5937-B022-C5E1A813935C}"/>
              </a:ext>
            </a:extLst>
          </p:cNvPr>
          <p:cNvSpPr txBox="1"/>
          <p:nvPr/>
        </p:nvSpPr>
        <p:spPr>
          <a:xfrm>
            <a:off x="0" y="899652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Factorial is: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5! = 5 × 4 × 3 × 2 ×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= 120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Also: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0! = 1</a:t>
            </a:r>
          </a:p>
        </p:txBody>
      </p:sp>
    </p:spTree>
    <p:extLst>
      <p:ext uri="{BB962C8B-B14F-4D97-AF65-F5344CB8AC3E}">
        <p14:creationId xmlns:p14="http://schemas.microsoft.com/office/powerpoint/2010/main" val="271649690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C573298-6F10-3D42-8A3F-B645273E3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5A475812-8F73-B5B4-D970-A292C3E4442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8 — Factorial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D9A41B-7A12-D37C-AC69-097239C470D9}"/>
              </a:ext>
            </a:extLst>
          </p:cNvPr>
          <p:cNvSpPr txBox="1"/>
          <p:nvPr/>
        </p:nvSpPr>
        <p:spPr>
          <a:xfrm>
            <a:off x="0" y="899652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factorial = 1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number in range(1, n + 1):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factorial *= number</a:t>
            </a:r>
          </a:p>
        </p:txBody>
      </p:sp>
    </p:spTree>
    <p:extLst>
      <p:ext uri="{BB962C8B-B14F-4D97-AF65-F5344CB8AC3E}">
        <p14:creationId xmlns:p14="http://schemas.microsoft.com/office/powerpoint/2010/main" val="189503769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86CD0ED-585E-1361-72E3-58AE714E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81D97D-958C-D938-86C6-5F57BD08E84E}"/>
              </a:ext>
            </a:extLst>
          </p:cNvPr>
          <p:cNvSpPr txBox="1"/>
          <p:nvPr/>
        </p:nvSpPr>
        <p:spPr>
          <a:xfrm>
            <a:off x="0" y="160654"/>
            <a:ext cx="11004265" cy="5035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Completed Python — Lab4Exc8.py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n = int(input("Enter n: "))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if n &lt; 0: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print(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"Factorial is not defined "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"for negative numbers."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else: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factorial = 1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for number in range(1, n + 1):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factorial *= number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print( f"{n}! = {</a:t>
            </a:r>
            <a:r>
              <a:rPr lang="en-US">
                <a:highlight>
                  <a:srgbClr val="FFFF00"/>
                </a:highlight>
                <a:latin typeface="Calibir"/>
              </a:rPr>
              <a:t>factorial}")</a:t>
            </a:r>
            <a:endParaRPr lang="en-US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9098923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D1C7F69-0E81-5016-6929-D7D4ED6C0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6F96A0-A0D0-9778-DD51-8E84C403C57B}"/>
              </a:ext>
            </a:extLst>
          </p:cNvPr>
          <p:cNvSpPr txBox="1"/>
          <p:nvPr/>
        </p:nvSpPr>
        <p:spPr>
          <a:xfrm>
            <a:off x="0" y="382012"/>
            <a:ext cx="6099716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300" b="1" dirty="0">
                <a:latin typeface="Calibir"/>
              </a:rPr>
              <a:t>Java — Completed Solution</a:t>
            </a:r>
          </a:p>
          <a:p>
            <a:pPr>
              <a:buNone/>
            </a:pPr>
            <a:r>
              <a:rPr lang="en-US" sz="1300" dirty="0">
                <a:latin typeface="Calibir"/>
              </a:rPr>
              <a:t>Using long allows somewhat larger results than int.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public class Lab4Exc8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Scanner input = new Scanner(System.in);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("Enter n: ");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int n =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if (n &lt; 0)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"Factorial is not defined "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+ "for negative numbers."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} else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long factorial = 1;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for (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int number = 1;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number &lt;= n;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number++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)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factorial *= number;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n + "! = " + factorial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8344963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805996" y="1109134"/>
            <a:ext cx="10496265" cy="4455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9: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Lab4Exc9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Generates a random integer between 1 and 10 (inclusive). [Never print this number]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Keep guessing the correct random integer.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If your guess is correct, print “Success, secret number =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Economica" panose="020B0604020202020204" charset="0"/>
              </a:rPr>
              <a:t>&lt;the number value&gt;</a:t>
            </a:r>
            <a:r>
              <a:rPr lang="en-US" sz="2400" dirty="0">
                <a:latin typeface="Economica" panose="020B0604020202020204" charset="0"/>
              </a:rPr>
              <a:t>” and terminate the program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If your guess is incorrect print “Sorry – try again!”, then keep trying.</a:t>
            </a:r>
          </a:p>
        </p:txBody>
      </p:sp>
    </p:spTree>
    <p:extLst>
      <p:ext uri="{BB962C8B-B14F-4D97-AF65-F5344CB8AC3E}">
        <p14:creationId xmlns:p14="http://schemas.microsoft.com/office/powerpoint/2010/main" val="300242494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9680022D-90D4-34F2-ED40-84F3BC2CF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EA8850C-7DEF-F57B-2F2D-99AE1712DD2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4182902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C5673D9-CA3F-B376-D58D-AA53EA32D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A373541-74EE-83D2-C8BE-18AD8CD5B0B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0A1699-CDB8-03DC-7542-917F65DEF867}"/>
              </a:ext>
            </a:extLst>
          </p:cNvPr>
          <p:cNvSpPr txBox="1"/>
          <p:nvPr/>
        </p:nvSpPr>
        <p:spPr>
          <a:xfrm>
            <a:off x="0" y="1032387"/>
            <a:ext cx="1201993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(1, 10)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Do not print this value.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Repeat guesses: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True:</a:t>
            </a:r>
          </a:p>
        </p:txBody>
      </p:sp>
    </p:spTree>
    <p:extLst>
      <p:ext uri="{BB962C8B-B14F-4D97-AF65-F5344CB8AC3E}">
        <p14:creationId xmlns:p14="http://schemas.microsoft.com/office/powerpoint/2010/main" val="895211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A308291-CBCE-5603-BFDA-F92CDB359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923938AE-1142-4524-C1E8-21809D6926F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747547-022B-DD67-36F3-B142303A889B}"/>
              </a:ext>
            </a:extLst>
          </p:cNvPr>
          <p:cNvSpPr txBox="1"/>
          <p:nvPr/>
        </p:nvSpPr>
        <p:spPr>
          <a:xfrm>
            <a:off x="0" y="796413"/>
            <a:ext cx="12019934" cy="6062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300" b="1" dirty="0">
                <a:latin typeface="Calibir"/>
              </a:rPr>
              <a:t>Completed Python — Lab4Exc9.py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sz="1300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 =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(1, 10)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guess = int(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input(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"Guess the secret number (1-10): "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if guess ==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"Success, secret number =",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secret_number</a:t>
            </a:r>
            <a:endParaRPr lang="en-US" sz="13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else: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"Sorry - try again!"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DC5D11-5FC9-EA28-7028-37BB78673092}"/>
              </a:ext>
            </a:extLst>
          </p:cNvPr>
          <p:cNvSpPr txBox="1"/>
          <p:nvPr/>
        </p:nvSpPr>
        <p:spPr>
          <a:xfrm>
            <a:off x="4509319" y="2635496"/>
            <a:ext cx="618694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first assignment should be written on one line in an actual Python file: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 err="1">
                <a:latin typeface="Calibir"/>
              </a:rPr>
              <a:t>secret_number</a:t>
            </a:r>
            <a:r>
              <a:rPr lang="en-US" sz="2800" dirty="0">
                <a:latin typeface="Calibir"/>
              </a:rPr>
              <a:t> = </a:t>
            </a:r>
            <a:r>
              <a:rPr lang="en-US" sz="2800" dirty="0" err="1">
                <a:latin typeface="Calibir"/>
              </a:rPr>
              <a:t>random.randint</a:t>
            </a:r>
            <a:r>
              <a:rPr lang="en-US" sz="2800" dirty="0">
                <a:latin typeface="Calibir"/>
              </a:rPr>
              <a:t>(1, 10)</a:t>
            </a:r>
          </a:p>
        </p:txBody>
      </p:sp>
    </p:spTree>
    <p:extLst>
      <p:ext uri="{BB962C8B-B14F-4D97-AF65-F5344CB8AC3E}">
        <p14:creationId xmlns:p14="http://schemas.microsoft.com/office/powerpoint/2010/main" val="10258984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64CDE6E-DD26-1094-20B0-00E312AA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2FB8B16E-3700-4817-91C3-B38552FC3AD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7DC9CF-B1A9-A501-E64E-1FDDE59B5CD0}"/>
              </a:ext>
            </a:extLst>
          </p:cNvPr>
          <p:cNvSpPr txBox="1"/>
          <p:nvPr/>
        </p:nvSpPr>
        <p:spPr>
          <a:xfrm>
            <a:off x="0" y="796413"/>
            <a:ext cx="12019934" cy="5866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Complete Python Code: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(1, 10)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guess = 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input("Guess the secret number (1-10): ")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if guess ==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f"Success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, secret number = {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}"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else: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print("Sorry - try again!")</a:t>
            </a:r>
          </a:p>
        </p:txBody>
      </p:sp>
    </p:spTree>
    <p:extLst>
      <p:ext uri="{BB962C8B-B14F-4D97-AF65-F5344CB8AC3E}">
        <p14:creationId xmlns:p14="http://schemas.microsoft.com/office/powerpoint/2010/main" val="820777290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265A483-7AE4-3E32-4873-5B090BF26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C5374D13-DEE1-7618-6738-4D528C57E52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F57B88-12E8-7315-0B57-E6947B1B2DC3}"/>
              </a:ext>
            </a:extLst>
          </p:cNvPr>
          <p:cNvSpPr txBox="1"/>
          <p:nvPr/>
        </p:nvSpPr>
        <p:spPr>
          <a:xfrm>
            <a:off x="0" y="796413"/>
            <a:ext cx="12019934" cy="5866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So the complete code is: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(1, 10)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guess = 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input("Guess the secret number (1-10): ")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if guess ==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f"Success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, secret number = {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}"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else: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print("Sorry - try again!")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F08460-1F19-314E-07A0-55F4CB2D169A}"/>
              </a:ext>
            </a:extLst>
          </p:cNvPr>
          <p:cNvSpPr txBox="1"/>
          <p:nvPr/>
        </p:nvSpPr>
        <p:spPr>
          <a:xfrm>
            <a:off x="7654414" y="1356852"/>
            <a:ext cx="420329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+ 1?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random.nextInt</a:t>
            </a:r>
            <a:r>
              <a:rPr lang="en-US" sz="2800" dirty="0">
                <a:latin typeface="Calibir"/>
              </a:rPr>
              <a:t>(10)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produces: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0–9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Therefore: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random.nextInt</a:t>
            </a:r>
            <a:r>
              <a:rPr lang="en-US" sz="2800" dirty="0">
                <a:latin typeface="Calibir"/>
              </a:rPr>
              <a:t>(10) + 1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produces: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1–10</a:t>
            </a:r>
          </a:p>
        </p:txBody>
      </p:sp>
    </p:spTree>
    <p:extLst>
      <p:ext uri="{BB962C8B-B14F-4D97-AF65-F5344CB8AC3E}">
        <p14:creationId xmlns:p14="http://schemas.microsoft.com/office/powerpoint/2010/main" val="250430853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833533" y="990601"/>
            <a:ext cx="10902665" cy="390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10: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Lab4Exc10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Calculate and print the values of a Fibonacci series on separate lines. </a:t>
            </a:r>
          </a:p>
          <a:p>
            <a:pPr>
              <a:lnSpc>
                <a:spcPct val="150000"/>
              </a:lnSpc>
            </a:pPr>
            <a:r>
              <a:rPr lang="en-GB" sz="2400" u="sng" dirty="0">
                <a:latin typeface="Economica" panose="020B0604020202020204" charset="0"/>
              </a:rPr>
              <a:t>NOTE:</a:t>
            </a:r>
          </a:p>
          <a:p>
            <a:pPr marL="380990" lvl="3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First number is 1</a:t>
            </a:r>
          </a:p>
          <a:p>
            <a:pPr marL="380990" lvl="2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Second number is 1 </a:t>
            </a:r>
          </a:p>
          <a:p>
            <a:pPr marL="380990" lvl="2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Last Fibonacci number n  [n is entered from keyboard]</a:t>
            </a:r>
          </a:p>
        </p:txBody>
      </p:sp>
    </p:spTree>
    <p:extLst>
      <p:ext uri="{BB962C8B-B14F-4D97-AF65-F5344CB8AC3E}">
        <p14:creationId xmlns:p14="http://schemas.microsoft.com/office/powerpoint/2010/main" val="296712538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82D0157-6DD7-0375-E2A4-F44D9FA4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177AD31-2C82-0AF3-1FF3-A1555D52A30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10 — Fibonacci Series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9AC7E-C1A4-403D-4E85-0101D0CE7664}"/>
              </a:ext>
            </a:extLst>
          </p:cNvPr>
          <p:cNvSpPr txBox="1"/>
          <p:nvPr/>
        </p:nvSpPr>
        <p:spPr>
          <a:xfrm>
            <a:off x="0" y="796413"/>
            <a:ext cx="12019934" cy="5963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The first two values are: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After that: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next = previous + current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So: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2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3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5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8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13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21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...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I interpret n as the number of Fibonacci values to display.</a:t>
            </a:r>
          </a:p>
        </p:txBody>
      </p:sp>
    </p:spTree>
    <p:extLst>
      <p:ext uri="{BB962C8B-B14F-4D97-AF65-F5344CB8AC3E}">
        <p14:creationId xmlns:p14="http://schemas.microsoft.com/office/powerpoint/2010/main" val="407488927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6001284-BAB5-FDAA-BAAF-0F2D374D1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2BE26EFE-ADE1-D1DC-0237-CE89E7EEDB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10 — Fibonacci Series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3FAEB1-D895-BEA7-9A28-15A31F684608}"/>
              </a:ext>
            </a:extLst>
          </p:cNvPr>
          <p:cNvSpPr txBox="1"/>
          <p:nvPr/>
        </p:nvSpPr>
        <p:spPr>
          <a:xfrm>
            <a:off x="0" y="915219"/>
            <a:ext cx="12019934" cy="5942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5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first = 1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second = 1</a:t>
            </a:r>
          </a:p>
          <a:p>
            <a:pPr>
              <a:lnSpc>
                <a:spcPct val="150000"/>
              </a:lnSpc>
            </a:pPr>
            <a:r>
              <a:rPr lang="en-US" sz="15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Handle small values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If: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n = 1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only print: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If: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n &gt;= 2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print both starting values.</a:t>
            </a:r>
          </a:p>
          <a:p>
            <a:pPr>
              <a:lnSpc>
                <a:spcPct val="150000"/>
              </a:lnSpc>
            </a:pPr>
            <a:r>
              <a:rPr lang="en-US" sz="1500" b="1" dirty="0">
                <a:latin typeface="Calibir"/>
              </a:rPr>
              <a:t>Step 3 — Calculate the next value</a:t>
            </a:r>
          </a:p>
          <a:p>
            <a:pPr>
              <a:lnSpc>
                <a:spcPct val="150000"/>
              </a:lnSpc>
            </a:pPr>
            <a:r>
              <a:rPr lang="en-US" sz="1500" dirty="0" err="1">
                <a:latin typeface="Calibir"/>
              </a:rPr>
              <a:t>next_number</a:t>
            </a:r>
            <a:r>
              <a:rPr lang="en-US" sz="1500" dirty="0">
                <a:latin typeface="Calibir"/>
              </a:rPr>
              <a:t> = first + second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Then shift: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first = second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second = </a:t>
            </a:r>
            <a:r>
              <a:rPr lang="en-US" sz="1500" dirty="0" err="1">
                <a:latin typeface="Calibir"/>
              </a:rPr>
              <a:t>next_number</a:t>
            </a:r>
            <a:endParaRPr lang="en-US" sz="15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4156610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DCA81A1-CFF4-7191-66E6-B0000DDB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E60902-7807-D125-80CA-9622F555B1E6}"/>
              </a:ext>
            </a:extLst>
          </p:cNvPr>
          <p:cNvSpPr txBox="1"/>
          <p:nvPr/>
        </p:nvSpPr>
        <p:spPr>
          <a:xfrm>
            <a:off x="0" y="181957"/>
            <a:ext cx="12019934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dirty="0">
                <a:latin typeface="Calibir"/>
              </a:rPr>
              <a:t>Completed Python — Lab4Exc10.py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n = int(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input(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"How many Fibonacci numbers? 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if n &lt;= 0: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print(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"Please enter a positive number."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else: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first = 1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second = 1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if n &gt;= 1: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print(first)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if n &gt;= 2: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print(second)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for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in range(3, n + 1):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=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first +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first =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second =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endParaRPr lang="en-US" sz="1000" dirty="0">
              <a:highlight>
                <a:srgbClr val="FFFF00"/>
              </a:highlight>
              <a:latin typeface="Calibir"/>
            </a:endParaRP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The assignment line must appear on one line in Python:</a:t>
            </a:r>
          </a:p>
          <a:p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= first +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So the copy-ready version is: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n = int(input("How many Fibonacci numbers? "))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if n &lt;= 0: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print("Please enter a positive number.")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else: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first = 1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second = 1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if n &gt;= 1: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print(first)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if n &gt;= 2: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print(second)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for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in range(3, n + 1):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= first +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first =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second =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endParaRPr lang="en-US" sz="10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71995240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0963DC9-73D0-9ABD-9464-5B5C16B90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DE709C-D6A0-4750-912F-018C488B2866}"/>
              </a:ext>
            </a:extLst>
          </p:cNvPr>
          <p:cNvSpPr txBox="1"/>
          <p:nvPr/>
        </p:nvSpPr>
        <p:spPr>
          <a:xfrm>
            <a:off x="0" y="181957"/>
            <a:ext cx="1201993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long first = 1;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long second = 1;</a:t>
            </a:r>
          </a:p>
        </p:txBody>
      </p:sp>
    </p:spTree>
    <p:extLst>
      <p:ext uri="{BB962C8B-B14F-4D97-AF65-F5344CB8AC3E}">
        <p14:creationId xmlns:p14="http://schemas.microsoft.com/office/powerpoint/2010/main" val="27762702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48C262F-82CF-F8BE-700B-3007FA28E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A572A8B-997D-1536-7709-AAED1B491EF6}"/>
              </a:ext>
            </a:extLst>
          </p:cNvPr>
          <p:cNvSpPr txBox="1"/>
          <p:nvPr/>
        </p:nvSpPr>
        <p:spPr>
          <a:xfrm>
            <a:off x="0" y="108215"/>
            <a:ext cx="12019934" cy="670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latin typeface="Calibir"/>
              </a:rPr>
              <a:t>Completed Java — Lab4Exc10.java</a:t>
            </a:r>
          </a:p>
          <a:p>
            <a:r>
              <a:rPr lang="en-US" sz="1100" dirty="0">
                <a:latin typeface="Calibir"/>
              </a:rPr>
              <a:t>import </a:t>
            </a:r>
            <a:r>
              <a:rPr lang="en-US" sz="1100" dirty="0" err="1">
                <a:latin typeface="Calibir"/>
              </a:rPr>
              <a:t>java.util.Scanner</a:t>
            </a:r>
            <a:r>
              <a:rPr lang="en-US" sz="1100" dirty="0">
                <a:latin typeface="Calibir"/>
              </a:rPr>
              <a:t>;</a:t>
            </a:r>
          </a:p>
          <a:p>
            <a:r>
              <a:rPr lang="en-US" sz="1100" dirty="0">
                <a:latin typeface="Calibir"/>
              </a:rPr>
              <a:t>public class Lab4Exc10 {</a:t>
            </a:r>
          </a:p>
          <a:p>
            <a:r>
              <a:rPr lang="en-US" sz="1100" dirty="0">
                <a:latin typeface="Calibir"/>
              </a:rPr>
              <a:t>    public static void main(String[] </a:t>
            </a:r>
            <a:r>
              <a:rPr lang="en-US" sz="1100" dirty="0" err="1">
                <a:latin typeface="Calibir"/>
              </a:rPr>
              <a:t>args</a:t>
            </a:r>
            <a:r>
              <a:rPr lang="en-US" sz="1100" dirty="0">
                <a:latin typeface="Calibir"/>
              </a:rPr>
              <a:t>) {</a:t>
            </a:r>
          </a:p>
          <a:p>
            <a:r>
              <a:rPr lang="en-US" sz="1100" dirty="0">
                <a:latin typeface="Calibir"/>
              </a:rPr>
              <a:t>        Scanner input = new Scanner(System.in);</a:t>
            </a:r>
          </a:p>
          <a:p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System.out.print</a:t>
            </a:r>
            <a:r>
              <a:rPr lang="en-US" sz="1100" dirty="0">
                <a:latin typeface="Calibir"/>
              </a:rPr>
              <a:t>(</a:t>
            </a:r>
          </a:p>
          <a:p>
            <a:r>
              <a:rPr lang="en-US" sz="1100" dirty="0">
                <a:latin typeface="Calibir"/>
              </a:rPr>
              <a:t>            "How many Fibonacci numbers? "</a:t>
            </a:r>
          </a:p>
          <a:p>
            <a:r>
              <a:rPr lang="en-US" sz="1100" dirty="0">
                <a:latin typeface="Calibir"/>
              </a:rPr>
              <a:t>        );</a:t>
            </a:r>
          </a:p>
          <a:p>
            <a:r>
              <a:rPr lang="en-US" sz="1100" dirty="0">
                <a:latin typeface="Calibir"/>
              </a:rPr>
              <a:t>        int n = </a:t>
            </a:r>
            <a:r>
              <a:rPr lang="en-US" sz="1100" dirty="0" err="1">
                <a:latin typeface="Calibir"/>
              </a:rPr>
              <a:t>input.nextInt</a:t>
            </a:r>
            <a:r>
              <a:rPr lang="en-US" sz="1100" dirty="0">
                <a:latin typeface="Calibir"/>
              </a:rPr>
              <a:t>();</a:t>
            </a:r>
          </a:p>
          <a:p>
            <a:r>
              <a:rPr lang="en-US" sz="1100" dirty="0">
                <a:latin typeface="Calibir"/>
              </a:rPr>
              <a:t>        if (n &lt;= 0) {</a:t>
            </a:r>
          </a:p>
          <a:p>
            <a:r>
              <a:rPr lang="en-US" sz="1100" dirty="0">
                <a:latin typeface="Calibir"/>
              </a:rPr>
              <a:t>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</a:t>
            </a:r>
          </a:p>
          <a:p>
            <a:r>
              <a:rPr lang="en-US" sz="1100" dirty="0">
                <a:latin typeface="Calibir"/>
              </a:rPr>
              <a:t>                "Please enter a positive number."</a:t>
            </a:r>
          </a:p>
          <a:p>
            <a:r>
              <a:rPr lang="en-US" sz="1100" dirty="0">
                <a:latin typeface="Calibir"/>
              </a:rPr>
              <a:t>            );</a:t>
            </a:r>
          </a:p>
          <a:p>
            <a:r>
              <a:rPr lang="en-US" sz="1100" dirty="0">
                <a:latin typeface="Calibir"/>
              </a:rPr>
              <a:t>        } else {</a:t>
            </a:r>
          </a:p>
          <a:p>
            <a:r>
              <a:rPr lang="en-US" sz="1100" dirty="0">
                <a:latin typeface="Calibir"/>
              </a:rPr>
              <a:t>            long first = 1;</a:t>
            </a:r>
          </a:p>
          <a:p>
            <a:r>
              <a:rPr lang="en-US" sz="1100" dirty="0">
                <a:latin typeface="Calibir"/>
              </a:rPr>
              <a:t>            long second = 1;</a:t>
            </a:r>
          </a:p>
          <a:p>
            <a:r>
              <a:rPr lang="en-US" sz="1100" dirty="0">
                <a:latin typeface="Calibir"/>
              </a:rPr>
              <a:t>            if (n &gt;= 1) {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(first);</a:t>
            </a:r>
          </a:p>
          <a:p>
            <a:r>
              <a:rPr lang="en-US" sz="1100" dirty="0">
                <a:latin typeface="Calibir"/>
              </a:rPr>
              <a:t>            }</a:t>
            </a:r>
          </a:p>
          <a:p>
            <a:r>
              <a:rPr lang="en-US" sz="1100" dirty="0">
                <a:latin typeface="Calibir"/>
              </a:rPr>
              <a:t>            if (n &gt;= 2) {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(second);</a:t>
            </a:r>
          </a:p>
          <a:p>
            <a:r>
              <a:rPr lang="en-US" sz="1100" dirty="0">
                <a:latin typeface="Calibir"/>
              </a:rPr>
              <a:t>            }</a:t>
            </a:r>
          </a:p>
          <a:p>
            <a:r>
              <a:rPr lang="en-US" sz="1100" dirty="0">
                <a:latin typeface="Calibir"/>
              </a:rPr>
              <a:t>            for (</a:t>
            </a:r>
          </a:p>
          <a:p>
            <a:r>
              <a:rPr lang="en-US" sz="1100" dirty="0">
                <a:latin typeface="Calibir"/>
              </a:rPr>
              <a:t>                int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 = 3;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 &lt;= n;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++</a:t>
            </a:r>
          </a:p>
          <a:p>
            <a:r>
              <a:rPr lang="en-US" sz="1100" dirty="0">
                <a:latin typeface="Calibir"/>
              </a:rPr>
              <a:t>            ) {</a:t>
            </a:r>
          </a:p>
          <a:p>
            <a:r>
              <a:rPr lang="en-US" sz="1100" dirty="0">
                <a:latin typeface="Calibir"/>
              </a:rPr>
              <a:t>                long </a:t>
            </a:r>
            <a:r>
              <a:rPr lang="en-US" sz="1100" dirty="0" err="1">
                <a:latin typeface="Calibir"/>
              </a:rPr>
              <a:t>nextNumber</a:t>
            </a:r>
            <a:r>
              <a:rPr lang="en-US" sz="1100" dirty="0">
                <a:latin typeface="Calibir"/>
              </a:rPr>
              <a:t> =</a:t>
            </a:r>
          </a:p>
          <a:p>
            <a:r>
              <a:rPr lang="en-US" sz="1100" dirty="0">
                <a:latin typeface="Calibir"/>
              </a:rPr>
              <a:t>                    first + second;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</a:t>
            </a:r>
          </a:p>
          <a:p>
            <a:r>
              <a:rPr lang="en-US" sz="1100" dirty="0">
                <a:latin typeface="Calibir"/>
              </a:rPr>
              <a:t>                    </a:t>
            </a:r>
            <a:r>
              <a:rPr lang="en-US" sz="1100" dirty="0" err="1">
                <a:latin typeface="Calibir"/>
              </a:rPr>
              <a:t>nextNumber</a:t>
            </a:r>
            <a:endParaRPr lang="en-US" sz="1100" dirty="0">
              <a:latin typeface="Calibir"/>
            </a:endParaRPr>
          </a:p>
          <a:p>
            <a:r>
              <a:rPr lang="en-US" sz="1100" dirty="0">
                <a:latin typeface="Calibir"/>
              </a:rPr>
              <a:t>                );</a:t>
            </a:r>
          </a:p>
          <a:p>
            <a:r>
              <a:rPr lang="en-US" sz="1100" dirty="0">
                <a:latin typeface="Calibir"/>
              </a:rPr>
              <a:t>                first = second;</a:t>
            </a:r>
          </a:p>
          <a:p>
            <a:r>
              <a:rPr lang="en-US" sz="1100" dirty="0">
                <a:latin typeface="Calibir"/>
              </a:rPr>
              <a:t>                second = </a:t>
            </a:r>
            <a:r>
              <a:rPr lang="en-US" sz="1100" dirty="0" err="1">
                <a:latin typeface="Calibir"/>
              </a:rPr>
              <a:t>nextNumber</a:t>
            </a:r>
            <a:r>
              <a:rPr lang="en-US" sz="1100" dirty="0">
                <a:latin typeface="Calibir"/>
              </a:rPr>
              <a:t>;</a:t>
            </a:r>
          </a:p>
          <a:p>
            <a:r>
              <a:rPr lang="en-US" sz="1100" dirty="0">
                <a:latin typeface="Calibir"/>
              </a:rPr>
              <a:t>            }</a:t>
            </a:r>
          </a:p>
          <a:p>
            <a:r>
              <a:rPr lang="en-US" sz="1100" dirty="0">
                <a:latin typeface="Calibir"/>
              </a:rPr>
              <a:t>        }</a:t>
            </a:r>
          </a:p>
          <a:p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input.close</a:t>
            </a:r>
            <a:r>
              <a:rPr lang="en-US" sz="1100" dirty="0">
                <a:latin typeface="Calibir"/>
              </a:rPr>
              <a:t>();</a:t>
            </a:r>
          </a:p>
          <a:p>
            <a:r>
              <a:rPr lang="en-US" sz="1100" dirty="0">
                <a:latin typeface="Calibir"/>
              </a:rPr>
              <a:t>    }</a:t>
            </a:r>
          </a:p>
          <a:p>
            <a:r>
              <a:rPr lang="en-US" sz="1100" dirty="0"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4123397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BCADA-C2BC-8C89-F224-6C84B30E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E8AB4A3-BE79-06FA-AC7C-BEC57E783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042"/>
            <a:ext cx="9144000" cy="57751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  <a:latin typeface="Calibir"/>
                <a:cs typeface="Arial" panose="020B0604020202020204" pitchFamily="34" charset="0"/>
              </a:rPr>
              <a:t>Let’s Answer Your Questions</a:t>
            </a:r>
            <a:endParaRPr lang="en-AU" dirty="0">
              <a:solidFill>
                <a:schemeClr val="tx1"/>
              </a:solidFill>
              <a:latin typeface="Calibir"/>
              <a:cs typeface="Arial" panose="020B0604020202020204" pitchFamily="34" charset="0"/>
            </a:endParaRPr>
          </a:p>
        </p:txBody>
      </p:sp>
      <p:pic>
        <p:nvPicPr>
          <p:cNvPr id="1028" name="Picture 4" descr="Answering Questions In Complete Sentences">
            <a:extLst>
              <a:ext uri="{FF2B5EF4-FFF2-40B4-BE49-F238E27FC236}">
                <a16:creationId xmlns:a16="http://schemas.microsoft.com/office/drawing/2014/main" id="{84E5527E-4D0B-667B-4471-EFDB8B314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3245" y="1041882"/>
            <a:ext cx="3385511" cy="2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BBB43-1E60-3AC7-6893-6AAB3EFF1E14}"/>
              </a:ext>
            </a:extLst>
          </p:cNvPr>
          <p:cNvSpPr txBox="1"/>
          <p:nvPr/>
        </p:nvSpPr>
        <p:spPr>
          <a:xfrm>
            <a:off x="49443" y="3572103"/>
            <a:ext cx="12093114" cy="3261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Canvas Inbox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– For academic queries. 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Email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– For formal communication and attachments. 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Canvas Discussion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– For academic discussions and general queries. 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Reminder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– Please follow up if you do not receive a response within 3 business days.</a:t>
            </a:r>
          </a:p>
        </p:txBody>
      </p:sp>
    </p:spTree>
    <p:extLst>
      <p:ext uri="{BB962C8B-B14F-4D97-AF65-F5344CB8AC3E}">
        <p14:creationId xmlns:p14="http://schemas.microsoft.com/office/powerpoint/2010/main" val="219122358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</p:spTree>
    <p:extLst>
      <p:ext uri="{BB962C8B-B14F-4D97-AF65-F5344CB8AC3E}">
        <p14:creationId xmlns:p14="http://schemas.microsoft.com/office/powerpoint/2010/main" val="2540710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1227</TotalTime>
  <Words>9601</Words>
  <Application>Microsoft Office PowerPoint</Application>
  <PresentationFormat>Widescreen</PresentationFormat>
  <Paragraphs>1344</Paragraphs>
  <Slides>134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134</vt:i4>
      </vt:variant>
    </vt:vector>
  </HeadingPairs>
  <TitlesOfParts>
    <vt:vector size="143" baseType="lpstr">
      <vt:lpstr>Aptos</vt:lpstr>
      <vt:lpstr>Aptos Display</vt:lpstr>
      <vt:lpstr>Arial</vt:lpstr>
      <vt:lpstr>Calibir</vt:lpstr>
      <vt:lpstr>Calibri</vt:lpstr>
      <vt:lpstr>Cambria Math</vt:lpstr>
      <vt:lpstr>Economica</vt:lpstr>
      <vt:lpstr>Wingdings</vt:lpstr>
      <vt:lpstr>Office Theme</vt:lpstr>
      <vt:lpstr>32555 – Fundamentals of Software Development</vt:lpstr>
      <vt:lpstr>Welcome to 32555 – Fundamentals of Software Development</vt:lpstr>
      <vt:lpstr>Welcome to 32555 – Fundamentals of Software Development</vt:lpstr>
      <vt:lpstr>Week 4 Outline</vt:lpstr>
      <vt:lpstr>Have you formed your group?</vt:lpstr>
      <vt:lpstr>Have you formed your group?</vt:lpstr>
      <vt:lpstr>Have you formed your group?</vt:lpstr>
      <vt:lpstr>Have you formed your group?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Contents</vt:lpstr>
      <vt:lpstr>Lab 4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PowerPoint Presentation</vt:lpstr>
      <vt:lpstr>PowerPoint Presentation</vt:lpstr>
      <vt:lpstr>Lab 4 Exercises</vt:lpstr>
      <vt:lpstr>Exercise 1 — Numbers, Square Roots and Exponentials</vt:lpstr>
      <vt:lpstr>Exercise 1 — Numbers, Square Roots and Exponentials</vt:lpstr>
      <vt:lpstr>Exercise 1 — Numbers, Square Roots and Exponentials</vt:lpstr>
      <vt:lpstr>Exercise 1 — Numbers, Square Roots and Exponentials</vt:lpstr>
      <vt:lpstr>Exercise 1 — Numbers, Square Roots and Exponentials</vt:lpstr>
      <vt:lpstr>Exercise 1 — Numbers, Square Roots and Exponentials</vt:lpstr>
      <vt:lpstr>Exercise 1 — Numbers, Square Roots and Exponentials</vt:lpstr>
      <vt:lpstr>Lab 4 Exercises</vt:lpstr>
      <vt:lpstr>Exercise 2 — Generate 20 Random Integers</vt:lpstr>
      <vt:lpstr>Exercise 2 — Generate 20 Random Integers</vt:lpstr>
      <vt:lpstr>Exercise 2 — Generate 20 Random Integers</vt:lpstr>
      <vt:lpstr>Exercise 2 — Generate 20 Random Integers</vt:lpstr>
      <vt:lpstr>Exercise 2 — Generate 20 Random Integers</vt:lpstr>
      <vt:lpstr>Exercise 2 — Generate 20 Random Integers</vt:lpstr>
      <vt:lpstr>Exercise 2 — Generate 20 Random Integers</vt:lpstr>
      <vt:lpstr>Lab 4 Exercises</vt:lpstr>
      <vt:lpstr>Exercise 3 — Print n Stars Until 0</vt:lpstr>
      <vt:lpstr>Exercise 3 — Print n Stars Until 0</vt:lpstr>
      <vt:lpstr>Exercise 3 — Print n Stars Until 0</vt:lpstr>
      <vt:lpstr>Exercise 3 — Print n Stars Until 0</vt:lpstr>
      <vt:lpstr>Exercise 3 — Print n Stars Until 0</vt:lpstr>
      <vt:lpstr>Lab 4 Exercises</vt:lpstr>
      <vt:lpstr>Exercise 4 — Find Minimum and Maximum</vt:lpstr>
      <vt:lpstr>Exercise 4 — Find Minimum and Maximum</vt:lpstr>
      <vt:lpstr>Exercise 4 — Find Minimum and Maximum</vt:lpstr>
      <vt:lpstr>Exercise 4 — Find Minimum and Maximum</vt:lpstr>
      <vt:lpstr>PowerPoint Presentation</vt:lpstr>
      <vt:lpstr>Lab 4 Exercises</vt:lpstr>
      <vt:lpstr>Exercise 5 — Sum Even Numbers from 1 to n</vt:lpstr>
      <vt:lpstr>Exercise 5 — Sum Even Numbers from 1 to n</vt:lpstr>
      <vt:lpstr>Exercise 5 — Sum Even Numbers from 1 to n</vt:lpstr>
      <vt:lpstr>Exercise 5 — Sum Even Numbers from 1 to n</vt:lpstr>
      <vt:lpstr>Lab 4 Exercises</vt:lpstr>
      <vt:lpstr>Exercise 6 — Seeded Random Numbers and Even Sum</vt:lpstr>
      <vt:lpstr>Exercise 6 — Seeded Random Numbers and Even Sum</vt:lpstr>
      <vt:lpstr>Exercise 6 — Seeded Random Numbers and Even Sum</vt:lpstr>
      <vt:lpstr>PowerPoint Presentation</vt:lpstr>
      <vt:lpstr>Lab 4 Exercises</vt:lpstr>
      <vt:lpstr>Exercise 7 — Count Vowels Until Dot</vt:lpstr>
      <vt:lpstr>Exercise 7 — Count Vowels Until Dot</vt:lpstr>
      <vt:lpstr>Exercise 7 — Count Vowels Until Dot</vt:lpstr>
      <vt:lpstr>Exercise 7 — Count Vowels Until Dot</vt:lpstr>
      <vt:lpstr>PowerPoint Presentation</vt:lpstr>
      <vt:lpstr>Lab 4 Exercises</vt:lpstr>
      <vt:lpstr>Exercise 8 — Factorial</vt:lpstr>
      <vt:lpstr>Exercise 8 — Factorial</vt:lpstr>
      <vt:lpstr>PowerPoint Presentation</vt:lpstr>
      <vt:lpstr>PowerPoint Presentation</vt:lpstr>
      <vt:lpstr>Lab 4 Exercises</vt:lpstr>
      <vt:lpstr>Exercise 9 — Guess the Secret Number</vt:lpstr>
      <vt:lpstr>Exercise 9 — Guess the Secret Number</vt:lpstr>
      <vt:lpstr>Exercise 9 — Guess the Secret Number</vt:lpstr>
      <vt:lpstr>Exercise 9 — Guess the Secret Number</vt:lpstr>
      <vt:lpstr>Exercise 9 — Guess the Secret Number</vt:lpstr>
      <vt:lpstr>Lab 4 Exercises</vt:lpstr>
      <vt:lpstr>Exercise 10 — Fibonacci Series</vt:lpstr>
      <vt:lpstr>Exercise 10 — Fibonacci Series</vt:lpstr>
      <vt:lpstr>PowerPoint Presentation</vt:lpstr>
      <vt:lpstr>PowerPoint Presentation</vt:lpstr>
      <vt:lpstr>PowerPoint Presentation</vt:lpstr>
      <vt:lpstr>Let’s Answer Your Questions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409</cp:revision>
  <dcterms:created xsi:type="dcterms:W3CDTF">2025-07-28T16:39:25Z</dcterms:created>
  <dcterms:modified xsi:type="dcterms:W3CDTF">2026-08-31T02:35:25Z</dcterms:modified>
</cp:coreProperties>
</file>