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22"/>
  </p:notesMasterIdLst>
  <p:sldIdLst>
    <p:sldId id="2522" r:id="rId4"/>
    <p:sldId id="2443" r:id="rId5"/>
    <p:sldId id="2523" r:id="rId6"/>
    <p:sldId id="2467" r:id="rId7"/>
    <p:sldId id="2476" r:id="rId8"/>
    <p:sldId id="2477" r:id="rId9"/>
    <p:sldId id="2478" r:id="rId10"/>
    <p:sldId id="2479" r:id="rId11"/>
    <p:sldId id="2481" r:id="rId12"/>
    <p:sldId id="2480" r:id="rId13"/>
    <p:sldId id="2484" r:id="rId14"/>
    <p:sldId id="2482" r:id="rId15"/>
    <p:sldId id="2485" r:id="rId16"/>
    <p:sldId id="2483" r:id="rId17"/>
    <p:sldId id="2486" r:id="rId18"/>
    <p:sldId id="2488" r:id="rId19"/>
    <p:sldId id="2489" r:id="rId20"/>
    <p:sldId id="2490" r:id="rId21"/>
    <p:sldId id="2491" r:id="rId22"/>
    <p:sldId id="2492" r:id="rId23"/>
    <p:sldId id="2493" r:id="rId24"/>
    <p:sldId id="2494" r:id="rId25"/>
    <p:sldId id="2495" r:id="rId26"/>
    <p:sldId id="2496" r:id="rId27"/>
    <p:sldId id="2497" r:id="rId28"/>
    <p:sldId id="2579" r:id="rId29"/>
    <p:sldId id="2498" r:id="rId30"/>
    <p:sldId id="2499" r:id="rId31"/>
    <p:sldId id="2500" r:id="rId32"/>
    <p:sldId id="2501" r:id="rId33"/>
    <p:sldId id="2502" r:id="rId34"/>
    <p:sldId id="2503" r:id="rId35"/>
    <p:sldId id="2504" r:id="rId36"/>
    <p:sldId id="2505" r:id="rId37"/>
    <p:sldId id="2506" r:id="rId38"/>
    <p:sldId id="2507" r:id="rId39"/>
    <p:sldId id="2508" r:id="rId40"/>
    <p:sldId id="2509" r:id="rId41"/>
    <p:sldId id="2510" r:id="rId42"/>
    <p:sldId id="2518" r:id="rId43"/>
    <p:sldId id="2519" r:id="rId44"/>
    <p:sldId id="2512" r:id="rId45"/>
    <p:sldId id="2513" r:id="rId46"/>
    <p:sldId id="2515" r:id="rId47"/>
    <p:sldId id="2516" r:id="rId48"/>
    <p:sldId id="2517" r:id="rId49"/>
    <p:sldId id="257" r:id="rId50"/>
    <p:sldId id="2525" r:id="rId51"/>
    <p:sldId id="2526" r:id="rId52"/>
    <p:sldId id="2527" r:id="rId53"/>
    <p:sldId id="2528" r:id="rId54"/>
    <p:sldId id="341" r:id="rId55"/>
    <p:sldId id="352" r:id="rId56"/>
    <p:sldId id="351" r:id="rId57"/>
    <p:sldId id="353" r:id="rId58"/>
    <p:sldId id="2529" r:id="rId59"/>
    <p:sldId id="2530" r:id="rId60"/>
    <p:sldId id="2531" r:id="rId61"/>
    <p:sldId id="2532" r:id="rId62"/>
    <p:sldId id="2533" r:id="rId63"/>
    <p:sldId id="2534" r:id="rId64"/>
    <p:sldId id="2535" r:id="rId65"/>
    <p:sldId id="2536" r:id="rId66"/>
    <p:sldId id="2537" r:id="rId67"/>
    <p:sldId id="2538" r:id="rId68"/>
    <p:sldId id="2539" r:id="rId69"/>
    <p:sldId id="2540" r:id="rId70"/>
    <p:sldId id="2541" r:id="rId71"/>
    <p:sldId id="2542" r:id="rId72"/>
    <p:sldId id="2543" r:id="rId73"/>
    <p:sldId id="2544" r:id="rId74"/>
    <p:sldId id="2545" r:id="rId75"/>
    <p:sldId id="2546" r:id="rId76"/>
    <p:sldId id="2553" r:id="rId77"/>
    <p:sldId id="2554" r:id="rId78"/>
    <p:sldId id="2555" r:id="rId79"/>
    <p:sldId id="2556" r:id="rId80"/>
    <p:sldId id="2557" r:id="rId81"/>
    <p:sldId id="2580" r:id="rId82"/>
    <p:sldId id="2581" r:id="rId83"/>
    <p:sldId id="2582" r:id="rId84"/>
    <p:sldId id="2583" r:id="rId85"/>
    <p:sldId id="2584" r:id="rId86"/>
    <p:sldId id="2585" r:id="rId87"/>
    <p:sldId id="2586" r:id="rId88"/>
    <p:sldId id="2587" r:id="rId89"/>
    <p:sldId id="2559" r:id="rId90"/>
    <p:sldId id="2560" r:id="rId91"/>
    <p:sldId id="2588" r:id="rId92"/>
    <p:sldId id="2561" r:id="rId93"/>
    <p:sldId id="2558" r:id="rId94"/>
    <p:sldId id="2589" r:id="rId95"/>
    <p:sldId id="2590" r:id="rId96"/>
    <p:sldId id="2578" r:id="rId97"/>
    <p:sldId id="2562" r:id="rId98"/>
    <p:sldId id="2563" r:id="rId99"/>
    <p:sldId id="2564" r:id="rId100"/>
    <p:sldId id="2565" r:id="rId101"/>
    <p:sldId id="2566" r:id="rId102"/>
    <p:sldId id="2567" r:id="rId103"/>
    <p:sldId id="2568" r:id="rId104"/>
    <p:sldId id="2569" r:id="rId105"/>
    <p:sldId id="2570" r:id="rId106"/>
    <p:sldId id="2571" r:id="rId107"/>
    <p:sldId id="2572" r:id="rId108"/>
    <p:sldId id="2573" r:id="rId109"/>
    <p:sldId id="2574" r:id="rId110"/>
    <p:sldId id="2575" r:id="rId111"/>
    <p:sldId id="2576" r:id="rId112"/>
    <p:sldId id="2577" r:id="rId113"/>
    <p:sldId id="2547" r:id="rId114"/>
    <p:sldId id="2552" r:id="rId115"/>
    <p:sldId id="2548" r:id="rId116"/>
    <p:sldId id="2549" r:id="rId117"/>
    <p:sldId id="2550" r:id="rId118"/>
    <p:sldId id="2551" r:id="rId119"/>
    <p:sldId id="1889" r:id="rId120"/>
    <p:sldId id="2524"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831" autoAdjust="0"/>
  </p:normalViewPr>
  <p:slideViewPr>
    <p:cSldViewPr snapToGrid="0">
      <p:cViewPr varScale="1">
        <p:scale>
          <a:sx n="56" d="100"/>
          <a:sy n="56" d="100"/>
        </p:scale>
        <p:origin x="1479"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6/08/2026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ED24F3-C88E-4C15-8193-4E111B80EC59}" type="slidenum">
              <a:rPr lang="en-AU" smtClean="0"/>
              <a:t>28</a:t>
            </a:fld>
            <a:endParaRPr lang="en-AU"/>
          </a:p>
        </p:txBody>
      </p:sp>
    </p:spTree>
    <p:extLst>
      <p:ext uri="{BB962C8B-B14F-4D97-AF65-F5344CB8AC3E}">
        <p14:creationId xmlns:p14="http://schemas.microsoft.com/office/powerpoint/2010/main" val="222375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2ED24F3-C88E-4C15-8193-4E111B80EC59}" type="slidenum">
              <a:rPr lang="en-AU" smtClean="0"/>
              <a:t>31</a:t>
            </a:fld>
            <a:endParaRPr lang="en-AU"/>
          </a:p>
        </p:txBody>
      </p:sp>
    </p:spTree>
    <p:extLst>
      <p:ext uri="{BB962C8B-B14F-4D97-AF65-F5344CB8AC3E}">
        <p14:creationId xmlns:p14="http://schemas.microsoft.com/office/powerpoint/2010/main" val="221111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8F357-CFF7-57E7-DC9F-DA34D668A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EC405-B173-D2AA-3287-34270018F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C9064-1BBD-4590-E125-D924821D36A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54862B3-F83C-C8CB-9064-123E3E695CFC}"/>
              </a:ext>
            </a:extLst>
          </p:cNvPr>
          <p:cNvSpPr>
            <a:spLocks noGrp="1"/>
          </p:cNvSpPr>
          <p:nvPr>
            <p:ph type="sldNum" sz="quarter" idx="5"/>
          </p:nvPr>
        </p:nvSpPr>
        <p:spPr/>
        <p:txBody>
          <a:bodyPr/>
          <a:lstStyle/>
          <a:p>
            <a:fld id="{42ED24F3-C88E-4C15-8193-4E111B80EC59}" type="slidenum">
              <a:rPr lang="en-AU" smtClean="0"/>
              <a:t>32</a:t>
            </a:fld>
            <a:endParaRPr lang="en-AU"/>
          </a:p>
        </p:txBody>
      </p:sp>
    </p:spTree>
    <p:extLst>
      <p:ext uri="{BB962C8B-B14F-4D97-AF65-F5344CB8AC3E}">
        <p14:creationId xmlns:p14="http://schemas.microsoft.com/office/powerpoint/2010/main" val="1059710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5DA8-CF42-873F-3A8B-C60FA0ADD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38425-D67C-CB67-986D-46890C8D8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CEC84-B207-EAA1-E441-FEB5593F4FF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51FAC88-2854-3D83-51B5-248977CA843A}"/>
              </a:ext>
            </a:extLst>
          </p:cNvPr>
          <p:cNvSpPr>
            <a:spLocks noGrp="1"/>
          </p:cNvSpPr>
          <p:nvPr>
            <p:ph type="sldNum" sz="quarter" idx="5"/>
          </p:nvPr>
        </p:nvSpPr>
        <p:spPr/>
        <p:txBody>
          <a:bodyPr/>
          <a:lstStyle/>
          <a:p>
            <a:fld id="{42ED24F3-C88E-4C15-8193-4E111B80EC59}" type="slidenum">
              <a:rPr lang="en-AU" smtClean="0"/>
              <a:t>33</a:t>
            </a:fld>
            <a:endParaRPr lang="en-AU"/>
          </a:p>
        </p:txBody>
      </p:sp>
    </p:spTree>
    <p:extLst>
      <p:ext uri="{BB962C8B-B14F-4D97-AF65-F5344CB8AC3E}">
        <p14:creationId xmlns:p14="http://schemas.microsoft.com/office/powerpoint/2010/main" val="3391756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57B77-D910-F09B-7D67-D079EC63B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EE621-F069-C04E-FC18-E873668D6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D8B29-1B55-E3C7-5292-4F4C15C7956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EF88E8E-F60A-DC7B-3A91-277C6155D4EB}"/>
              </a:ext>
            </a:extLst>
          </p:cNvPr>
          <p:cNvSpPr>
            <a:spLocks noGrp="1"/>
          </p:cNvSpPr>
          <p:nvPr>
            <p:ph type="sldNum" sz="quarter" idx="5"/>
          </p:nvPr>
        </p:nvSpPr>
        <p:spPr/>
        <p:txBody>
          <a:bodyPr/>
          <a:lstStyle/>
          <a:p>
            <a:fld id="{42ED24F3-C88E-4C15-8193-4E111B80EC59}" type="slidenum">
              <a:rPr lang="en-AU" smtClean="0"/>
              <a:t>34</a:t>
            </a:fld>
            <a:endParaRPr lang="en-AU"/>
          </a:p>
        </p:txBody>
      </p:sp>
    </p:spTree>
    <p:extLst>
      <p:ext uri="{BB962C8B-B14F-4D97-AF65-F5344CB8AC3E}">
        <p14:creationId xmlns:p14="http://schemas.microsoft.com/office/powerpoint/2010/main" val="2352991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EDF2-E76D-4CCA-9389-8B3FA7D9C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B924E-FB41-7AAD-A06A-C8FBF1492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47870-3D18-FED5-DF47-9D161FC8E96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A96C6F5-48C1-9052-D71A-E6EEA85AAF49}"/>
              </a:ext>
            </a:extLst>
          </p:cNvPr>
          <p:cNvSpPr>
            <a:spLocks noGrp="1"/>
          </p:cNvSpPr>
          <p:nvPr>
            <p:ph type="sldNum" sz="quarter" idx="5"/>
          </p:nvPr>
        </p:nvSpPr>
        <p:spPr/>
        <p:txBody>
          <a:bodyPr/>
          <a:lstStyle/>
          <a:p>
            <a:fld id="{42ED24F3-C88E-4C15-8193-4E111B80EC59}" type="slidenum">
              <a:rPr lang="en-AU" smtClean="0"/>
              <a:t>35</a:t>
            </a:fld>
            <a:endParaRPr lang="en-AU"/>
          </a:p>
        </p:txBody>
      </p:sp>
    </p:spTree>
    <p:extLst>
      <p:ext uri="{BB962C8B-B14F-4D97-AF65-F5344CB8AC3E}">
        <p14:creationId xmlns:p14="http://schemas.microsoft.com/office/powerpoint/2010/main" val="3998128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B5375-D5AF-DBA1-0EA7-BF1520280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F6F17-6324-C52D-4778-8A46FEE2B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00618-E595-57EC-1949-867526C52FB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CD5B3F0-6EF0-D5FD-E7A8-3AD6CCACBB61}"/>
              </a:ext>
            </a:extLst>
          </p:cNvPr>
          <p:cNvSpPr>
            <a:spLocks noGrp="1"/>
          </p:cNvSpPr>
          <p:nvPr>
            <p:ph type="sldNum" sz="quarter" idx="5"/>
          </p:nvPr>
        </p:nvSpPr>
        <p:spPr/>
        <p:txBody>
          <a:bodyPr/>
          <a:lstStyle/>
          <a:p>
            <a:fld id="{42ED24F3-C88E-4C15-8193-4E111B80EC59}" type="slidenum">
              <a:rPr lang="en-AU" smtClean="0"/>
              <a:t>36</a:t>
            </a:fld>
            <a:endParaRPr lang="en-AU"/>
          </a:p>
        </p:txBody>
      </p:sp>
    </p:spTree>
    <p:extLst>
      <p:ext uri="{BB962C8B-B14F-4D97-AF65-F5344CB8AC3E}">
        <p14:creationId xmlns:p14="http://schemas.microsoft.com/office/powerpoint/2010/main" val="3929833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8DF8-BB2F-09A2-A168-4A12F719B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AB37A-446B-6247-7790-DE419F00B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16BB9-4363-F12D-89C5-F4125C3B1D8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DF989BD-AFB2-0F66-7507-D80B476BC87D}"/>
              </a:ext>
            </a:extLst>
          </p:cNvPr>
          <p:cNvSpPr>
            <a:spLocks noGrp="1"/>
          </p:cNvSpPr>
          <p:nvPr>
            <p:ph type="sldNum" sz="quarter" idx="5"/>
          </p:nvPr>
        </p:nvSpPr>
        <p:spPr/>
        <p:txBody>
          <a:bodyPr/>
          <a:lstStyle/>
          <a:p>
            <a:fld id="{42ED24F3-C88E-4C15-8193-4E111B80EC59}" type="slidenum">
              <a:rPr lang="en-AU" smtClean="0"/>
              <a:t>37</a:t>
            </a:fld>
            <a:endParaRPr lang="en-AU"/>
          </a:p>
        </p:txBody>
      </p:sp>
    </p:spTree>
    <p:extLst>
      <p:ext uri="{BB962C8B-B14F-4D97-AF65-F5344CB8AC3E}">
        <p14:creationId xmlns:p14="http://schemas.microsoft.com/office/powerpoint/2010/main" val="505602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E4F8-9CF2-CDB7-2CDB-0FF03358A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8C7BD-D68A-E6E4-9AEE-C96DBA84B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D119B-A1D3-39A7-DA18-BE708D8E8E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0C84781-5136-BD42-2452-2B5F2C7A8B5B}"/>
              </a:ext>
            </a:extLst>
          </p:cNvPr>
          <p:cNvSpPr>
            <a:spLocks noGrp="1"/>
          </p:cNvSpPr>
          <p:nvPr>
            <p:ph type="sldNum" sz="quarter" idx="5"/>
          </p:nvPr>
        </p:nvSpPr>
        <p:spPr/>
        <p:txBody>
          <a:bodyPr/>
          <a:lstStyle/>
          <a:p>
            <a:fld id="{42ED24F3-C88E-4C15-8193-4E111B80EC59}" type="slidenum">
              <a:rPr lang="en-AU" smtClean="0"/>
              <a:t>38</a:t>
            </a:fld>
            <a:endParaRPr lang="en-AU"/>
          </a:p>
        </p:txBody>
      </p:sp>
    </p:spTree>
    <p:extLst>
      <p:ext uri="{BB962C8B-B14F-4D97-AF65-F5344CB8AC3E}">
        <p14:creationId xmlns:p14="http://schemas.microsoft.com/office/powerpoint/2010/main" val="3883299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43568-2FD4-8D2E-376B-E26A0E552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2F887-6179-3A03-D6DA-9D99D55AC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06F5B-4B5E-54F6-84DD-28BA9717649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BD6486-F489-9FA8-F344-B5446B72E167}"/>
              </a:ext>
            </a:extLst>
          </p:cNvPr>
          <p:cNvSpPr>
            <a:spLocks noGrp="1"/>
          </p:cNvSpPr>
          <p:nvPr>
            <p:ph type="sldNum" sz="quarter" idx="5"/>
          </p:nvPr>
        </p:nvSpPr>
        <p:spPr/>
        <p:txBody>
          <a:bodyPr/>
          <a:lstStyle/>
          <a:p>
            <a:fld id="{42ED24F3-C88E-4C15-8193-4E111B80EC59}" type="slidenum">
              <a:rPr lang="en-AU" smtClean="0"/>
              <a:t>39</a:t>
            </a:fld>
            <a:endParaRPr lang="en-AU"/>
          </a:p>
        </p:txBody>
      </p:sp>
    </p:spTree>
    <p:extLst>
      <p:ext uri="{BB962C8B-B14F-4D97-AF65-F5344CB8AC3E}">
        <p14:creationId xmlns:p14="http://schemas.microsoft.com/office/powerpoint/2010/main" val="1202902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F8D91-6191-D01F-5CE2-6AC590525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0D699-9F5E-7C23-8126-154FD132A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50C57-6BF3-4816-53D8-A6F89DE4884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D0DB442-1F79-C334-2C45-B4C4C57E5014}"/>
              </a:ext>
            </a:extLst>
          </p:cNvPr>
          <p:cNvSpPr>
            <a:spLocks noGrp="1"/>
          </p:cNvSpPr>
          <p:nvPr>
            <p:ph type="sldNum" sz="quarter" idx="5"/>
          </p:nvPr>
        </p:nvSpPr>
        <p:spPr/>
        <p:txBody>
          <a:bodyPr/>
          <a:lstStyle/>
          <a:p>
            <a:fld id="{42ED24F3-C88E-4C15-8193-4E111B80EC59}" type="slidenum">
              <a:rPr lang="en-AU" smtClean="0"/>
              <a:t>40</a:t>
            </a:fld>
            <a:endParaRPr lang="en-AU"/>
          </a:p>
        </p:txBody>
      </p:sp>
    </p:spTree>
    <p:extLst>
      <p:ext uri="{BB962C8B-B14F-4D97-AF65-F5344CB8AC3E}">
        <p14:creationId xmlns:p14="http://schemas.microsoft.com/office/powerpoint/2010/main" val="4165196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F450-95BE-0761-9D5B-2F5A83AFF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3ABBF-553C-268C-01F4-AF7804A41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E87DF-B257-B843-08EF-DAAE530ADD7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8304A7A-0EB1-6C7F-07A1-66B8DDF9207C}"/>
              </a:ext>
            </a:extLst>
          </p:cNvPr>
          <p:cNvSpPr>
            <a:spLocks noGrp="1"/>
          </p:cNvSpPr>
          <p:nvPr>
            <p:ph type="sldNum" sz="quarter" idx="5"/>
          </p:nvPr>
        </p:nvSpPr>
        <p:spPr/>
        <p:txBody>
          <a:bodyPr/>
          <a:lstStyle/>
          <a:p>
            <a:fld id="{42ED24F3-C88E-4C15-8193-4E111B80EC59}" type="slidenum">
              <a:rPr lang="en-AU" smtClean="0"/>
              <a:t>41</a:t>
            </a:fld>
            <a:endParaRPr lang="en-AU"/>
          </a:p>
        </p:txBody>
      </p:sp>
    </p:spTree>
    <p:extLst>
      <p:ext uri="{BB962C8B-B14F-4D97-AF65-F5344CB8AC3E}">
        <p14:creationId xmlns:p14="http://schemas.microsoft.com/office/powerpoint/2010/main" val="854460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CF3C4-C7DD-566A-FEA0-52618EBEC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A2754-DF9F-2483-DA12-B5A5EDA7D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90C5E-3235-BF38-43C3-8D817CC9E78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5750F20-E764-D2A4-CC8F-050118952942}"/>
              </a:ext>
            </a:extLst>
          </p:cNvPr>
          <p:cNvSpPr>
            <a:spLocks noGrp="1"/>
          </p:cNvSpPr>
          <p:nvPr>
            <p:ph type="sldNum" sz="quarter" idx="5"/>
          </p:nvPr>
        </p:nvSpPr>
        <p:spPr/>
        <p:txBody>
          <a:bodyPr/>
          <a:lstStyle/>
          <a:p>
            <a:fld id="{42ED24F3-C88E-4C15-8193-4E111B80EC59}" type="slidenum">
              <a:rPr lang="en-AU" smtClean="0"/>
              <a:t>42</a:t>
            </a:fld>
            <a:endParaRPr lang="en-AU"/>
          </a:p>
        </p:txBody>
      </p:sp>
    </p:spTree>
    <p:extLst>
      <p:ext uri="{BB962C8B-B14F-4D97-AF65-F5344CB8AC3E}">
        <p14:creationId xmlns:p14="http://schemas.microsoft.com/office/powerpoint/2010/main" val="3250066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FA894-1F59-A5F6-F32D-12E6A8D89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608A-3F6C-7612-63E5-AA05BAC79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388F4-7E05-95A3-83C1-0700330BF7F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C1D2A27-6E90-CB95-BAEF-998AC3E26253}"/>
              </a:ext>
            </a:extLst>
          </p:cNvPr>
          <p:cNvSpPr>
            <a:spLocks noGrp="1"/>
          </p:cNvSpPr>
          <p:nvPr>
            <p:ph type="sldNum" sz="quarter" idx="5"/>
          </p:nvPr>
        </p:nvSpPr>
        <p:spPr/>
        <p:txBody>
          <a:bodyPr/>
          <a:lstStyle/>
          <a:p>
            <a:fld id="{42ED24F3-C88E-4C15-8193-4E111B80EC59}" type="slidenum">
              <a:rPr lang="en-AU" smtClean="0"/>
              <a:t>43</a:t>
            </a:fld>
            <a:endParaRPr lang="en-AU"/>
          </a:p>
        </p:txBody>
      </p:sp>
    </p:spTree>
    <p:extLst>
      <p:ext uri="{BB962C8B-B14F-4D97-AF65-F5344CB8AC3E}">
        <p14:creationId xmlns:p14="http://schemas.microsoft.com/office/powerpoint/2010/main" val="220462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60A12-C78F-7605-E07B-EAC4090C1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FB47C-D306-9D43-51D3-F9DCDFD4B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B83C7-10E6-751E-48E7-8776D486224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5DBAAE7-D273-75B0-19A8-277D3B23E22B}"/>
              </a:ext>
            </a:extLst>
          </p:cNvPr>
          <p:cNvSpPr>
            <a:spLocks noGrp="1"/>
          </p:cNvSpPr>
          <p:nvPr>
            <p:ph type="sldNum" sz="quarter" idx="5"/>
          </p:nvPr>
        </p:nvSpPr>
        <p:spPr/>
        <p:txBody>
          <a:bodyPr/>
          <a:lstStyle/>
          <a:p>
            <a:fld id="{42ED24F3-C88E-4C15-8193-4E111B80EC59}" type="slidenum">
              <a:rPr lang="en-AU" smtClean="0"/>
              <a:t>44</a:t>
            </a:fld>
            <a:endParaRPr lang="en-AU"/>
          </a:p>
        </p:txBody>
      </p:sp>
    </p:spTree>
    <p:extLst>
      <p:ext uri="{BB962C8B-B14F-4D97-AF65-F5344CB8AC3E}">
        <p14:creationId xmlns:p14="http://schemas.microsoft.com/office/powerpoint/2010/main" val="585408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6836-3B03-308B-22CB-D1E5E570D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890E4-1A34-9D37-1111-5C286692C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4C4C4-7779-D317-377E-3F71C9B4FE6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E1D5B54-5A18-FDB8-E16B-2322CD210359}"/>
              </a:ext>
            </a:extLst>
          </p:cNvPr>
          <p:cNvSpPr>
            <a:spLocks noGrp="1"/>
          </p:cNvSpPr>
          <p:nvPr>
            <p:ph type="sldNum" sz="quarter" idx="5"/>
          </p:nvPr>
        </p:nvSpPr>
        <p:spPr/>
        <p:txBody>
          <a:bodyPr/>
          <a:lstStyle/>
          <a:p>
            <a:fld id="{42ED24F3-C88E-4C15-8193-4E111B80EC59}" type="slidenum">
              <a:rPr lang="en-AU" smtClean="0"/>
              <a:t>45</a:t>
            </a:fld>
            <a:endParaRPr lang="en-AU"/>
          </a:p>
        </p:txBody>
      </p:sp>
    </p:spTree>
    <p:extLst>
      <p:ext uri="{BB962C8B-B14F-4D97-AF65-F5344CB8AC3E}">
        <p14:creationId xmlns:p14="http://schemas.microsoft.com/office/powerpoint/2010/main" val="1145011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E6D56-0BA4-DB4B-7AF3-97F7269B6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CF45B-186F-2F6B-66C2-E61AA86E7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7B018-A59F-03D1-2F46-93453BAFEDD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2773A5C-2E97-162E-ECCF-D7194F1EC735}"/>
              </a:ext>
            </a:extLst>
          </p:cNvPr>
          <p:cNvSpPr>
            <a:spLocks noGrp="1"/>
          </p:cNvSpPr>
          <p:nvPr>
            <p:ph type="sldNum" sz="quarter" idx="5"/>
          </p:nvPr>
        </p:nvSpPr>
        <p:spPr/>
        <p:txBody>
          <a:bodyPr/>
          <a:lstStyle/>
          <a:p>
            <a:fld id="{42ED24F3-C88E-4C15-8193-4E111B80EC59}" type="slidenum">
              <a:rPr lang="en-AU" smtClean="0"/>
              <a:t>46</a:t>
            </a:fld>
            <a:endParaRPr lang="en-AU"/>
          </a:p>
        </p:txBody>
      </p:sp>
    </p:spTree>
    <p:extLst>
      <p:ext uri="{BB962C8B-B14F-4D97-AF65-F5344CB8AC3E}">
        <p14:creationId xmlns:p14="http://schemas.microsoft.com/office/powerpoint/2010/main" val="1454979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ef0b59b6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F06084AA-B3D0-2C78-E6C1-F7B9D4C55B10}"/>
            </a:ext>
          </a:extLst>
        </p:cNvPr>
        <p:cNvGrpSpPr/>
        <p:nvPr/>
      </p:nvGrpSpPr>
      <p:grpSpPr>
        <a:xfrm>
          <a:off x="0" y="0"/>
          <a:ext cx="0" cy="0"/>
          <a:chOff x="0" y="0"/>
          <a:chExt cx="0" cy="0"/>
        </a:xfrm>
      </p:grpSpPr>
      <p:sp>
        <p:nvSpPr>
          <p:cNvPr id="66" name="Google Shape;66;g1ef0b59b6e_1_3:notes">
            <a:extLst>
              <a:ext uri="{FF2B5EF4-FFF2-40B4-BE49-F238E27FC236}">
                <a16:creationId xmlns:a16="http://schemas.microsoft.com/office/drawing/2014/main" id="{B26F794E-6133-E7B4-A0F1-8984ADF020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a:extLst>
              <a:ext uri="{FF2B5EF4-FFF2-40B4-BE49-F238E27FC236}">
                <a16:creationId xmlns:a16="http://schemas.microsoft.com/office/drawing/2014/main" id="{0A31A09C-DB8E-6627-B267-DD96237855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719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734383A4-7071-3B83-F0E0-2C5F3FAB2AEC}"/>
            </a:ext>
          </a:extLst>
        </p:cNvPr>
        <p:cNvGrpSpPr/>
        <p:nvPr/>
      </p:nvGrpSpPr>
      <p:grpSpPr>
        <a:xfrm>
          <a:off x="0" y="0"/>
          <a:ext cx="0" cy="0"/>
          <a:chOff x="0" y="0"/>
          <a:chExt cx="0" cy="0"/>
        </a:xfrm>
      </p:grpSpPr>
      <p:sp>
        <p:nvSpPr>
          <p:cNvPr id="66" name="Google Shape;66;g1ef0b59b6e_1_3:notes">
            <a:extLst>
              <a:ext uri="{FF2B5EF4-FFF2-40B4-BE49-F238E27FC236}">
                <a16:creationId xmlns:a16="http://schemas.microsoft.com/office/drawing/2014/main" id="{7C330AC0-FF6B-D5AC-88DE-D3BAA93C8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a:extLst>
              <a:ext uri="{FF2B5EF4-FFF2-40B4-BE49-F238E27FC236}">
                <a16:creationId xmlns:a16="http://schemas.microsoft.com/office/drawing/2014/main" id="{0773D517-BBC9-0771-1415-8C62BF4E5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548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509AEFDC-6E0E-221C-B385-4887F5345B65}"/>
            </a:ext>
          </a:extLst>
        </p:cNvPr>
        <p:cNvGrpSpPr/>
        <p:nvPr/>
      </p:nvGrpSpPr>
      <p:grpSpPr>
        <a:xfrm>
          <a:off x="0" y="0"/>
          <a:ext cx="0" cy="0"/>
          <a:chOff x="0" y="0"/>
          <a:chExt cx="0" cy="0"/>
        </a:xfrm>
      </p:grpSpPr>
      <p:sp>
        <p:nvSpPr>
          <p:cNvPr id="66" name="Google Shape;66;g1ef0b59b6e_1_3:notes">
            <a:extLst>
              <a:ext uri="{FF2B5EF4-FFF2-40B4-BE49-F238E27FC236}">
                <a16:creationId xmlns:a16="http://schemas.microsoft.com/office/drawing/2014/main" id="{D6597511-FE26-2A5C-FB6D-B870B33D09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a:extLst>
              <a:ext uri="{FF2B5EF4-FFF2-40B4-BE49-F238E27FC236}">
                <a16:creationId xmlns:a16="http://schemas.microsoft.com/office/drawing/2014/main" id="{A26A2396-D134-1DC0-EE87-046E25EC11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5912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CEF64849-3A33-CEF6-3499-788503D3CC22}"/>
            </a:ext>
          </a:extLst>
        </p:cNvPr>
        <p:cNvGrpSpPr/>
        <p:nvPr/>
      </p:nvGrpSpPr>
      <p:grpSpPr>
        <a:xfrm>
          <a:off x="0" y="0"/>
          <a:ext cx="0" cy="0"/>
          <a:chOff x="0" y="0"/>
          <a:chExt cx="0" cy="0"/>
        </a:xfrm>
      </p:grpSpPr>
      <p:sp>
        <p:nvSpPr>
          <p:cNvPr id="66" name="Google Shape;66;g1ef0b59b6e_1_3:notes">
            <a:extLst>
              <a:ext uri="{FF2B5EF4-FFF2-40B4-BE49-F238E27FC236}">
                <a16:creationId xmlns:a16="http://schemas.microsoft.com/office/drawing/2014/main" id="{DDE424A7-4568-C38E-16A3-149D6BA653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a:extLst>
              <a:ext uri="{FF2B5EF4-FFF2-40B4-BE49-F238E27FC236}">
                <a16:creationId xmlns:a16="http://schemas.microsoft.com/office/drawing/2014/main" id="{917EDC81-7BDD-6B50-B51F-96C8E4A48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055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35380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320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666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84B6927-BE1D-A838-A05B-FE47909A772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B1C7546-26CC-2D9C-44A9-82E272104A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61E39B4-1831-7521-25E2-28A1E97CC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Each use case often maps to one or more methods in a class</a:t>
            </a:r>
          </a:p>
          <a:p>
            <a:pPr marL="0" lvl="0" indent="0" algn="l" rtl="0">
              <a:spcBef>
                <a:spcPts val="0"/>
              </a:spcBef>
              <a:spcAft>
                <a:spcPts val="0"/>
              </a:spcAft>
              <a:buNone/>
            </a:pPr>
            <a:r>
              <a:rPr lang="en-US" dirty="0"/>
              <a:t>If we look at the make a payment use case, as the payment is made from an account to another one, it makes sense to implement the pay method in the account class.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599597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4056685-4462-8402-B540-F630FD104B1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EDF9E86-14A8-252C-AC35-FC49F27754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CF90F53-9243-B37E-1542-78375FC175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69476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A63325D-F5EA-C30D-F4B8-F776CA09DFE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74E5D2B-80F0-F187-5549-24A5BAD62D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78F799B-BDDF-941D-4A2B-5D80AF98D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050682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D6BB7D0-D83C-26DB-8103-D0EA03F0E6F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48321CF-A5CA-B760-969C-FFF1C29691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ADA59BB-633C-A205-2805-B75CD73BA5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0021477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898FC83-7BE6-0221-4B30-25E189AADD2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8CBF275-0D48-CDA7-0C1F-6D83698312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A702418-5744-32FA-7BBF-D6B7CC262C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5217336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F90CE15-C40A-E039-B410-672E5AF12C7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F6C96C7-0A26-96A5-9022-8FF607D871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3F7340D-2528-3DB2-816B-3B77637FB6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898990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7D34852-517D-4180-0E37-01E2131CFB9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7303108-9320-F518-25C4-279574AE1F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5552399-16D4-A7AB-531D-0DC617434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31116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B83DD7F-6CD1-E3FA-F078-CEE61DB0698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37A1DED-9FF8-AA00-E758-DD7B9EF33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14C2318-CCB2-B915-868F-3AB350FEE1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114667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72724B2-6996-D945-BB91-DCDF2EE4674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5B2F0C9-7F24-DF75-4506-CF83ED7F5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588560A-F518-1BB0-E07F-0263CD477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012823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A1E8E38-271F-AFD7-1214-948F36D2572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86D81C3-9EA1-A660-1E20-E7FC2FAFC3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3F49E1F-2B16-DBBD-8B67-E34DCB1B1C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5915442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D01A798-B440-300C-A216-B2C0CF5825D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F61CDB6-B19A-CC4A-525F-788C7F481E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9E11EE4-7B40-D540-F13C-9754BAA33F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069826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034B25E-DDC6-D748-5767-08F073781DB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71D90B1-85DA-8E92-733A-D550223A7D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89E1A91-2F5B-AEAA-42FA-E6151BAC67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171690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9A2DA9C-9DC3-0463-63E9-92974C65305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A45517C-A3C6-E191-9DB9-DA866FB9B2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B05B252-7719-B8FC-00E3-62131DAB57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274514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EFAC40F-09E6-BA6B-B7DE-EA236C27D6D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14E4A03-5E3F-95CF-4AD9-A06C38482C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1E88163-BA8C-9FC2-9A4A-1E6472DCA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805388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F4B5118-F5B4-8677-74C7-CE042095F1C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6E9BDC8-C2E6-6D74-6C7C-733D2A8A2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CD3FA41-B928-8954-4E92-38464748D8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44665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D0E183E-BEB2-371D-6774-25F563E87D2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DDFB85A-2A7E-A513-085D-49E94DB27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9298F85-93E6-E63B-6BF4-BB7C682928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0440253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102F785-3810-819F-4447-F34C010A3C9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47B0012-F9A1-1B32-120E-D9F0E94798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ACC199B-76D5-B7C2-6E55-292EA4CB60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2037817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EDFEAE7-C8EC-3FAA-F5F8-B2F5CA74AD6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F62BCDA-1850-EDEC-B287-340878AA32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04EBBF9-CF1A-BC62-DF82-F2AB0E3682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6197365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719335C-B171-7192-AB29-063432FFA4C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ADBCD09-1B6E-0F51-F3F8-73662208EF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5D9A29E-9AE7-7A07-F019-9B52AA5D08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478749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3EF139D-72B9-12FF-45C4-F39153F1158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4B75557-4A44-C4D2-D6DB-4EF283A1D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4499DCC-5DF0-0363-FA16-FAD605F859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591433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20001C7-51BF-B8E0-CD35-A4DDBB838F2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7F98B7E-5730-35DB-C3D4-F7BA96D1DC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B04A4AF-CF6B-408B-9E17-0B145BF12A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45970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4C9BF5D-5219-2931-0993-FFA4B4CC407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0E4DAE4-0082-F4CB-60D1-2F00526814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0F70F29-9897-74E0-E66B-A2BC441176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8929444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2789E5F-1933-E4E3-B2B5-C4BE1A9BFE9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9E90EF9-AF46-BC8C-5FFA-F3124D9BFF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2C830FB-EB8C-B074-E3D8-AA08AAAF2E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54741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82ABD2C-D767-6E51-02C8-E74F14FFE1F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43D1FBB-0C57-22D3-B830-F116DC7939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6D77439-EBE2-E263-680C-BEBA67A403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295897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76114E4-C5B5-2F60-062F-2FE1FB1B765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54EAB5D-4A83-161F-460A-64E67F63D5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BF32E28-149F-011D-59D6-304DDC5F46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0542520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E42FD46-49B7-9618-2942-303FF86DD24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D4EB24B-14FC-28C4-9321-C050B0C781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E29F443-3381-DA7F-5E83-A2508F1C4B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674819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C2BFD0E-081F-F056-986E-8A8BAF83A00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4D87C78-BFAC-E0CD-BD52-FB91A2350F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E8961BC-1D3D-4EDA-81A5-51AA7ED89A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447965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563836E-FE73-BA83-C535-72EFB7E1DBA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8266ED6-7E4B-5F0B-8EB9-E51FF37C7A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8CE22E0-9F20-623F-91C3-718F130F0B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5856711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1C09A41-0EFF-D5E7-FC78-1D57CAA6F64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15A1D7B-1371-0ED2-8A48-6A5150E66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B0D73E2-A577-3017-88B4-9B5F45C046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513788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7BDB929-93DF-B807-B195-37BFAA1A727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9966E39-F2AD-174F-6B52-9FCCDB8913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4CD522C-835F-032C-5DFD-DFC600A152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62896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EC0A937-5F12-1DEC-D736-B4D128447EC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85F17D1-70D3-2B17-C666-8B06233729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4646138-B299-46A5-816E-5EE1A65E25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654282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2816732-5672-E0B2-1AE4-6E225A4DABE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DD0A192-89A1-3F76-BAB9-C3201F922C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8A72316-94C7-6D82-EB49-430A0BA97E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7209366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6647D7B-0DB5-E73F-6080-F40EFF53284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59733DF-0F90-A92D-6931-B831CB2D83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4D9CF2D-EC5D-F865-B8AC-564051BDF4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9218472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04BFADF-5CC5-8FAA-957D-D0100FF4933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8376088-5F35-51DF-9E37-C14577E16D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1AEBE3B-3D3E-6643-268A-624CABC514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926189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7CBAADB-6016-638A-6C44-0BCC53D1AE9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380802E-4F44-0A3E-0DB0-D48FF1D7F6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FF744B5-00EB-3D9D-2294-1B47D86203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03537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F0165AA-9A5F-B039-716E-86E4E3985DA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5934E5B-EEDC-B1E1-4A69-6DF7E618D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5359BE5-BD79-D699-89EC-4A61C6D13A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258050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D658BEE-0EF6-A1A4-1B07-D984C14E6EB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E380F47-17F0-522C-9FC1-4E68510234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AEEFEFD-8493-3039-0BE6-B81B6D7630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8252058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E7A7DC5-C075-46F0-1FDC-AC0062BA199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6DD69DE-6F23-E2BA-2F40-C4DFD0FD09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1F905E0-0D65-A965-83D0-01FABBB259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7840353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048977D-8E92-BD59-3F25-27A66F67BAB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38ED86F-F942-77B4-2326-F16EAF08A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60DAD5B-E1E4-31E5-9AEA-5EFB373786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6104445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49830F2-DE5C-00E2-90A0-0F078C105C9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BC0BDF3-DF2B-C67D-AED4-DA374BAA4A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A1EA0C9-D6AB-AEF4-1ADA-B7AC35154D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1916257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57C3DA3-8BF1-1716-17E1-EB32589B113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9D455FD-61FA-C903-0414-F451E97C5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347E8D6-1D27-34C1-CBCD-92B26A2A30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3190227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AB515DC-EB4F-7E60-70EE-4A81E75DB68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730319E-3FAC-48E3-F621-47B9947245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B0D6369-DE4F-C559-6D9A-570806199A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490689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95890E4-E3B2-15E9-B272-87572099C5C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29C54FC-581E-6192-59AA-3F322DDF0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7690421-3EC4-B735-1478-184986B4DA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683186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769D9E4-028D-BAF1-B280-DC43C95FBE4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C255983-48A9-859D-85A8-409D7E65D8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4BE4668-D880-6868-8692-ABAB96ED2F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9234138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F710FDA-3457-C3F0-ED3E-C02A52652DA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3041041-532F-9F53-5A38-16DBD6BBF7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C38D70F-3FE6-42EA-52ED-960D496A43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951441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D920C5F-3159-74FF-EF57-265123731A8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833CC04-BB47-A616-FEAA-BA697AC2B4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649D744-E64B-53DA-49F1-55470362E9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71631608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97E1307-B89D-6A34-3467-1D986F72192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08E3969-BCE9-7591-17E3-8FAFFB001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200B250-9721-3420-91C9-F73FE8174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7734901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B790187-48B6-3442-307B-B3C531829ED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BB99B68-3D6E-C496-8419-18293D7DDD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2183171-CE34-359E-3979-899381E5B2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631332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9718AC8-19AE-575B-AFD0-C803316E98B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118B6A2-0B9E-8803-D58F-2C89C1C9D7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27B50B6-9E2E-73E4-8F52-D5207039D3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882073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D7FC228-542C-DBC8-1F4E-45A133D1EC4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9DBE064-82A5-78C8-D24A-CDA4CFFE76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71E1506-70A7-B37B-D969-00D751D411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5748708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BEC68EA-2A64-8BE2-0D4C-D7206498B24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36FEBB1-67F5-F020-26E4-F67600C315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D211BCE-1D42-79DE-5CC6-C6B3163460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95496140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115795F-5D35-01E3-A359-BF7C02F5598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C8C7DDE-DAF8-905A-E154-A2EC0E6664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94CA6E9-7DDA-2FC2-241D-DB39BEBCCF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5920125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AAA08F0-4B7F-A062-D643-C78E49AF288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316707D-8981-3172-1565-7B0DB590B7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32D7D12-F14D-2109-E4EC-83874EB2FA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81283220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6ED8C78-1A4C-22DF-C381-FF409BB5C54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3A04401-CBFC-5066-A4C7-5B89D11223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C11817F-D5C8-7A7F-8616-36DB97C49E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5760553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15C5BA1-722C-D9E4-56D0-A24EA329C6B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8F96588-ED71-AC01-CEC4-45FD09790F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6042ABF-959E-A655-42CE-C72292A812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3515827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D1C7F88-019F-C0E1-A2A5-6A79347F8BE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F538C9D-D90E-0499-6411-76D063723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528E8AD-40CF-1216-EA77-D3B0B1D0A5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7465133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BB46B9E-2B11-E9CC-4C7D-BD442E06819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CFE56E4-B3FB-8A3E-1B16-814575E0E4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0DB1EF9-BD72-6B56-6B17-C78B225357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8380259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D70DF92-1C67-172F-2BFB-485F06F960F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9C88750-4FF5-6378-3C8E-A0E801E50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3828055-76A0-9C93-485E-8AB9531ECB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1328856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A45BF4A-F5CB-662C-2E60-90DF3CBA8FF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7303D9B-249C-49CE-4250-9F83C78751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ACA6085-7CFC-6E98-3502-0437269D76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27127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38F5C87-53CA-12EA-FB2F-88FF3981175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7E5F7AA-FDA1-A27B-43F6-5A514EFD7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51E3E80-691F-F274-1EC1-FF9A8298A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2906558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524AF86-D65A-3631-1CBA-FDE1A139D43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A3E88C5-4760-FE74-EE51-D6C0CA6F5C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9240054-3D95-3E01-C7F6-D521FEEE1E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68209741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E22399B-6051-B1C1-1124-CCBFE3B0EC9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C4416A3-D4E1-CE0F-511E-EABE283A35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E08E48A-292B-A543-B1A8-1463BBE882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916714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p:nvPr/>
        </p:nvSpPr>
        <p:spPr>
          <a:xfrm>
            <a:off x="3658685" y="1008934"/>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sz="2400"/>
          </a:p>
        </p:txBody>
      </p:sp>
      <p:sp>
        <p:nvSpPr>
          <p:cNvPr id="11" name="Google Shape;11;p2"/>
          <p:cNvSpPr/>
          <p:nvPr/>
        </p:nvSpPr>
        <p:spPr>
          <a:xfrm rot="10800000">
            <a:off x="7091134" y="4355634"/>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sz="2400"/>
          </a:p>
        </p:txBody>
      </p:sp>
      <p:sp>
        <p:nvSpPr>
          <p:cNvPr id="12" name="Google Shape;12;p2"/>
          <p:cNvSpPr txBox="1">
            <a:spLocks noGrp="1"/>
          </p:cNvSpPr>
          <p:nvPr>
            <p:ph type="ctrTitle"/>
          </p:nvPr>
        </p:nvSpPr>
        <p:spPr>
          <a:xfrm>
            <a:off x="4059600" y="1925673"/>
            <a:ext cx="40728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4059600" y="4155440"/>
            <a:ext cx="4072800" cy="935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8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735206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p:nvPr/>
        </p:nvSpPr>
        <p:spPr>
          <a:xfrm flipH="1">
            <a:off x="10127918" y="613634"/>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621901" y="4744434"/>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1031600" y="2408600"/>
            <a:ext cx="10128800" cy="204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9350193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4"/>
          <p:cNvSpPr txBox="1">
            <a:spLocks noGrp="1"/>
          </p:cNvSpPr>
          <p:nvPr>
            <p:ph type="title"/>
          </p:nvPr>
        </p:nvSpPr>
        <p:spPr>
          <a:xfrm>
            <a:off x="415600" y="421233"/>
            <a:ext cx="11360800" cy="1108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415600" y="1633633"/>
            <a:ext cx="11360800" cy="4472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4" name="Google Shape;24;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327900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415600" y="421233"/>
            <a:ext cx="11360800" cy="1108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415600" y="1633633"/>
            <a:ext cx="5333200" cy="44720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5"/>
          <p:cNvSpPr txBox="1">
            <a:spLocks noGrp="1"/>
          </p:cNvSpPr>
          <p:nvPr>
            <p:ph type="body" idx="2"/>
          </p:nvPr>
        </p:nvSpPr>
        <p:spPr>
          <a:xfrm>
            <a:off x="6443200" y="1633633"/>
            <a:ext cx="5333200" cy="44720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026230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415600" y="421233"/>
            <a:ext cx="11360800" cy="1108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635619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35" name="Google Shape;35;p7"/>
          <p:cNvSpPr txBox="1">
            <a:spLocks noGrp="1"/>
          </p:cNvSpPr>
          <p:nvPr>
            <p:ph type="body" idx="1"/>
          </p:nvPr>
        </p:nvSpPr>
        <p:spPr>
          <a:xfrm>
            <a:off x="415600" y="1865867"/>
            <a:ext cx="3744000" cy="3713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6" name="Google Shape;36;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999613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7"/>
        <p:cNvGrpSpPr/>
        <p:nvPr/>
      </p:nvGrpSpPr>
      <p:grpSpPr>
        <a:xfrm>
          <a:off x="0" y="0"/>
          <a:ext cx="0" cy="0"/>
          <a:chOff x="0" y="0"/>
          <a:chExt cx="0" cy="0"/>
        </a:xfrm>
      </p:grpSpPr>
      <p:sp>
        <p:nvSpPr>
          <p:cNvPr id="38" name="Google Shape;38;p8"/>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8"/>
          <p:cNvSpPr txBox="1">
            <a:spLocks noGrp="1"/>
          </p:cNvSpPr>
          <p:nvPr>
            <p:ph type="title"/>
          </p:nvPr>
        </p:nvSpPr>
        <p:spPr>
          <a:xfrm>
            <a:off x="653667" y="600200"/>
            <a:ext cx="7838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40" name="Google Shape;40;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5575800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1"/>
        <p:cNvGrpSpPr/>
        <p:nvPr/>
      </p:nvGrpSpPr>
      <p:grpSpPr>
        <a:xfrm>
          <a:off x="0" y="0"/>
          <a:ext cx="0" cy="0"/>
          <a:chOff x="0" y="0"/>
          <a:chExt cx="0" cy="0"/>
        </a:xfrm>
      </p:grpSpPr>
      <p:sp>
        <p:nvSpPr>
          <p:cNvPr id="42" name="Google Shape;42;p9"/>
          <p:cNvSpPr/>
          <p:nvPr/>
        </p:nvSpPr>
        <p:spPr>
          <a:xfrm>
            <a:off x="6096000" y="-33"/>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3" name="Google Shape;43;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354000" y="1239033"/>
            <a:ext cx="5393600" cy="2381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354000" y="3692001"/>
            <a:ext cx="53936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32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6124969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426000" y="5625233"/>
            <a:ext cx="7998400" cy="7984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2400"/>
              <a:buFont typeface="Economica"/>
              <a:buNone/>
              <a:defRPr sz="32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656332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1"/>
        <p:cNvGrpSpPr/>
        <p:nvPr/>
      </p:nvGrpSpPr>
      <p:grpSpPr>
        <a:xfrm>
          <a:off x="0" y="0"/>
          <a:ext cx="0" cy="0"/>
          <a:chOff x="0" y="0"/>
          <a:chExt cx="0" cy="0"/>
        </a:xfrm>
      </p:grpSpPr>
      <p:sp>
        <p:nvSpPr>
          <p:cNvPr id="52" name="Google Shape;52;p11"/>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 name="Google Shape;53;p11"/>
          <p:cNvSpPr txBox="1">
            <a:spLocks noGrp="1"/>
          </p:cNvSpPr>
          <p:nvPr>
            <p:ph type="title" hasCustomPrompt="1"/>
          </p:nvPr>
        </p:nvSpPr>
        <p:spPr>
          <a:xfrm>
            <a:off x="415600" y="1276167"/>
            <a:ext cx="11360800" cy="28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21333">
                <a:solidFill>
                  <a:schemeClr val="lt2"/>
                </a:solidFill>
              </a:defRPr>
            </a:lvl1pPr>
            <a:lvl2pPr lvl="1" algn="ctr">
              <a:spcBef>
                <a:spcPts val="0"/>
              </a:spcBef>
              <a:spcAft>
                <a:spcPts val="0"/>
              </a:spcAft>
              <a:buClr>
                <a:schemeClr val="lt2"/>
              </a:buClr>
              <a:buSzPts val="16000"/>
              <a:buNone/>
              <a:defRPr sz="21333">
                <a:solidFill>
                  <a:schemeClr val="lt2"/>
                </a:solidFill>
              </a:defRPr>
            </a:lvl2pPr>
            <a:lvl3pPr lvl="2" algn="ctr">
              <a:spcBef>
                <a:spcPts val="0"/>
              </a:spcBef>
              <a:spcAft>
                <a:spcPts val="0"/>
              </a:spcAft>
              <a:buClr>
                <a:schemeClr val="lt2"/>
              </a:buClr>
              <a:buSzPts val="16000"/>
              <a:buNone/>
              <a:defRPr sz="21333">
                <a:solidFill>
                  <a:schemeClr val="lt2"/>
                </a:solidFill>
              </a:defRPr>
            </a:lvl3pPr>
            <a:lvl4pPr lvl="3" algn="ctr">
              <a:spcBef>
                <a:spcPts val="0"/>
              </a:spcBef>
              <a:spcAft>
                <a:spcPts val="0"/>
              </a:spcAft>
              <a:buClr>
                <a:schemeClr val="lt2"/>
              </a:buClr>
              <a:buSzPts val="16000"/>
              <a:buNone/>
              <a:defRPr sz="21333">
                <a:solidFill>
                  <a:schemeClr val="lt2"/>
                </a:solidFill>
              </a:defRPr>
            </a:lvl4pPr>
            <a:lvl5pPr lvl="4" algn="ctr">
              <a:spcBef>
                <a:spcPts val="0"/>
              </a:spcBef>
              <a:spcAft>
                <a:spcPts val="0"/>
              </a:spcAft>
              <a:buClr>
                <a:schemeClr val="lt2"/>
              </a:buClr>
              <a:buSzPts val="16000"/>
              <a:buNone/>
              <a:defRPr sz="21333">
                <a:solidFill>
                  <a:schemeClr val="lt2"/>
                </a:solidFill>
              </a:defRPr>
            </a:lvl5pPr>
            <a:lvl6pPr lvl="5" algn="ctr">
              <a:spcBef>
                <a:spcPts val="0"/>
              </a:spcBef>
              <a:spcAft>
                <a:spcPts val="0"/>
              </a:spcAft>
              <a:buClr>
                <a:schemeClr val="lt2"/>
              </a:buClr>
              <a:buSzPts val="16000"/>
              <a:buNone/>
              <a:defRPr sz="21333">
                <a:solidFill>
                  <a:schemeClr val="lt2"/>
                </a:solidFill>
              </a:defRPr>
            </a:lvl6pPr>
            <a:lvl7pPr lvl="6" algn="ctr">
              <a:spcBef>
                <a:spcPts val="0"/>
              </a:spcBef>
              <a:spcAft>
                <a:spcPts val="0"/>
              </a:spcAft>
              <a:buClr>
                <a:schemeClr val="lt2"/>
              </a:buClr>
              <a:buSzPts val="16000"/>
              <a:buNone/>
              <a:defRPr sz="21333">
                <a:solidFill>
                  <a:schemeClr val="lt2"/>
                </a:solidFill>
              </a:defRPr>
            </a:lvl7pPr>
            <a:lvl8pPr lvl="7" algn="ctr">
              <a:spcBef>
                <a:spcPts val="0"/>
              </a:spcBef>
              <a:spcAft>
                <a:spcPts val="0"/>
              </a:spcAft>
              <a:buClr>
                <a:schemeClr val="lt2"/>
              </a:buClr>
              <a:buSzPts val="16000"/>
              <a:buNone/>
              <a:defRPr sz="21333">
                <a:solidFill>
                  <a:schemeClr val="lt2"/>
                </a:solidFill>
              </a:defRPr>
            </a:lvl8pPr>
            <a:lvl9pPr lvl="8" algn="ctr">
              <a:spcBef>
                <a:spcPts val="0"/>
              </a:spcBef>
              <a:spcAft>
                <a:spcPts val="0"/>
              </a:spcAft>
              <a:buClr>
                <a:schemeClr val="lt2"/>
              </a:buClr>
              <a:buSzPts val="16000"/>
              <a:buNone/>
              <a:defRPr sz="21333">
                <a:solidFill>
                  <a:schemeClr val="lt2"/>
                </a:solidFill>
              </a:defRPr>
            </a:lvl9pPr>
          </a:lstStyle>
          <a:p>
            <a:r>
              <a:t>xx%</a:t>
            </a:r>
          </a:p>
        </p:txBody>
      </p:sp>
      <p:sp>
        <p:nvSpPr>
          <p:cNvPr id="54" name="Google Shape;54;p11"/>
          <p:cNvSpPr txBox="1">
            <a:spLocks noGrp="1"/>
          </p:cNvSpPr>
          <p:nvPr>
            <p:ph type="body" idx="1"/>
          </p:nvPr>
        </p:nvSpPr>
        <p:spPr>
          <a:xfrm>
            <a:off x="415600" y="4216000"/>
            <a:ext cx="11360800" cy="14288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55" name="Google Shape;55;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1641524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17078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6/08/2026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6/08/2026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421233"/>
            <a:ext cx="11360800" cy="1108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415600" y="1633633"/>
            <a:ext cx="11360800" cy="4472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dk1"/>
                </a:solidFill>
                <a:latin typeface="Economica"/>
                <a:ea typeface="Economica"/>
                <a:cs typeface="Economica"/>
                <a:sym typeface="Economica"/>
              </a:defRPr>
            </a:lvl1pPr>
            <a:lvl2pPr lvl="1" algn="r">
              <a:buNone/>
              <a:defRPr sz="1333">
                <a:solidFill>
                  <a:schemeClr val="dk1"/>
                </a:solidFill>
                <a:latin typeface="Economica"/>
                <a:ea typeface="Economica"/>
                <a:cs typeface="Economica"/>
                <a:sym typeface="Economica"/>
              </a:defRPr>
            </a:lvl2pPr>
            <a:lvl3pPr lvl="2" algn="r">
              <a:buNone/>
              <a:defRPr sz="1333">
                <a:solidFill>
                  <a:schemeClr val="dk1"/>
                </a:solidFill>
                <a:latin typeface="Economica"/>
                <a:ea typeface="Economica"/>
                <a:cs typeface="Economica"/>
                <a:sym typeface="Economica"/>
              </a:defRPr>
            </a:lvl3pPr>
            <a:lvl4pPr lvl="3" algn="r">
              <a:buNone/>
              <a:defRPr sz="1333">
                <a:solidFill>
                  <a:schemeClr val="dk1"/>
                </a:solidFill>
                <a:latin typeface="Economica"/>
                <a:ea typeface="Economica"/>
                <a:cs typeface="Economica"/>
                <a:sym typeface="Economica"/>
              </a:defRPr>
            </a:lvl4pPr>
            <a:lvl5pPr lvl="4" algn="r">
              <a:buNone/>
              <a:defRPr sz="1333">
                <a:solidFill>
                  <a:schemeClr val="dk1"/>
                </a:solidFill>
                <a:latin typeface="Economica"/>
                <a:ea typeface="Economica"/>
                <a:cs typeface="Economica"/>
                <a:sym typeface="Economica"/>
              </a:defRPr>
            </a:lvl5pPr>
            <a:lvl6pPr lvl="5" algn="r">
              <a:buNone/>
              <a:defRPr sz="1333">
                <a:solidFill>
                  <a:schemeClr val="dk1"/>
                </a:solidFill>
                <a:latin typeface="Economica"/>
                <a:ea typeface="Economica"/>
                <a:cs typeface="Economica"/>
                <a:sym typeface="Economica"/>
              </a:defRPr>
            </a:lvl6pPr>
            <a:lvl7pPr lvl="6" algn="r">
              <a:buNone/>
              <a:defRPr sz="1333">
                <a:solidFill>
                  <a:schemeClr val="dk1"/>
                </a:solidFill>
                <a:latin typeface="Economica"/>
                <a:ea typeface="Economica"/>
                <a:cs typeface="Economica"/>
                <a:sym typeface="Economica"/>
              </a:defRPr>
            </a:lvl7pPr>
            <a:lvl8pPr lvl="7" algn="r">
              <a:buNone/>
              <a:defRPr sz="1333">
                <a:solidFill>
                  <a:schemeClr val="dk1"/>
                </a:solidFill>
                <a:latin typeface="Economica"/>
                <a:ea typeface="Economica"/>
                <a:cs typeface="Economica"/>
                <a:sym typeface="Economica"/>
              </a:defRPr>
            </a:lvl8pPr>
            <a:lvl9pPr lvl="8" algn="r">
              <a:buNone/>
              <a:defRPr sz="1333">
                <a:solidFill>
                  <a:schemeClr val="dk1"/>
                </a:solidFill>
                <a:latin typeface="Economica"/>
                <a:ea typeface="Economica"/>
                <a:cs typeface="Economica"/>
                <a:sym typeface="Economica"/>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182246144"/>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raw.io/" TargetMode="External"/><Relationship Id="rId7" Type="http://schemas.openxmlformats.org/officeDocument/2006/relationships/hyperlink" Target="https://creately.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staruml.io/" TargetMode="External"/><Relationship Id="rId5" Type="http://schemas.openxmlformats.org/officeDocument/2006/relationships/hyperlink" Target="https://www.visual-paradigm.com/download/community.jsp" TargetMode="External"/><Relationship Id="rId4" Type="http://schemas.openxmlformats.org/officeDocument/2006/relationships/hyperlink" Target="https://www.lucidchart.com/"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office.co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microsoft.com/en-au/microsoft-365/visio/flowchart-softwar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3" Type="http://schemas.openxmlformats.org/officeDocument/2006/relationships/hyperlink" Target="https://www.visual-paradigm.com/download/community.jsp" TargetMode="External"/><Relationship Id="rId2" Type="http://schemas.openxmlformats.org/officeDocument/2006/relationships/notesSlide" Target="../notesSlides/notesSlide23.xml"/><Relationship Id="rId1" Type="http://schemas.openxmlformats.org/officeDocument/2006/relationships/slideLayout" Target="../slideLayouts/slideLayout33.xml"/><Relationship Id="rId4" Type="http://schemas.openxmlformats.org/officeDocument/2006/relationships/hyperlink" Target="https://app.diagrams.net/"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3.xml"/></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33.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3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33.xml"/><Relationship Id="rId4" Type="http://schemas.openxmlformats.org/officeDocument/2006/relationships/image" Target="../media/image16.png"/></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33.xml"/></Relationships>
</file>

<file path=ppt/slides/_rels/slide7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33.xml"/></Relationships>
</file>

<file path=ppt/slides/_rels/slide7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33.xml"/></Relationships>
</file>

<file path=ppt/slides/_rels/slide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33.xml"/></Relationships>
</file>

<file path=ppt/slides/_rels/slide8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33.xml"/></Relationships>
</file>

<file path=ppt/slides/_rels/slide8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33.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3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3.xml"/></Relationships>
</file>

<file path=ppt/slides/_rels/slide8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33.xml"/></Relationships>
</file>

<file path=ppt/slides/_rels/slide8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33.xml"/></Relationships>
</file>

<file path=ppt/slides/_rels/slide8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33.xml"/></Relationships>
</file>

<file path=ppt/slides/_rels/slide9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33.xml"/></Relationships>
</file>

<file path=ppt/slides/_rels/slide9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3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3.xml"/></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3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3.xml"/></Relationships>
</file>

<file path=ppt/slides/_rels/slide1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23.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a:solidFill>
                  <a:schemeClr val="bg1"/>
                </a:solidFill>
                <a:latin typeface="Calibir"/>
              </a:rPr>
              <a:t>32555 – Fundamentals of Software Development</a:t>
            </a:r>
            <a:endParaRPr lang="en-AU" sz="390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extLst>
              <p:ext uri="{D42A27DB-BD31-4B8C-83A1-F6EECF244321}">
                <p14:modId xmlns:p14="http://schemas.microsoft.com/office/powerpoint/2010/main" val="2756935771"/>
              </p:ext>
            </p:extLst>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Classes and Objects</a:t>
            </a:r>
            <a:endParaRPr lang="en-AU" sz="4000" b="1" dirty="0">
              <a:latin typeface="Calibir"/>
            </a:endParaRPr>
          </a:p>
        </p:txBody>
      </p:sp>
      <p:sp>
        <p:nvSpPr>
          <p:cNvPr id="4" name="Rectangle 1">
            <a:extLst>
              <a:ext uri="{FF2B5EF4-FFF2-40B4-BE49-F238E27FC236}">
                <a16:creationId xmlns:a16="http://schemas.microsoft.com/office/drawing/2014/main" id="{38FC1A8C-D064-CC28-D14C-1486BE507C26}"/>
              </a:ext>
            </a:extLst>
          </p:cNvPr>
          <p:cNvSpPr>
            <a:spLocks noChangeArrowheads="1"/>
          </p:cNvSpPr>
          <p:nvPr/>
        </p:nvSpPr>
        <p:spPr bwMode="auto">
          <a:xfrm>
            <a:off x="184731" y="2123580"/>
            <a:ext cx="12007269"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What is a Class?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 class is a blueprint for creating objects.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 defines attributes (data) and methods (</a:t>
            </a:r>
            <a:r>
              <a:rPr lang="en-US" altLang="en-US" sz="2800" dirty="0" err="1">
                <a:latin typeface="Calibir"/>
              </a:rPr>
              <a:t>behaviours</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Class names are nouns (e.g., Student, Account, </a:t>
            </a:r>
            <a:r>
              <a:rPr lang="en-US" altLang="en-US" sz="2800" dirty="0" err="1">
                <a:latin typeface="Calibir"/>
              </a:rPr>
              <a:t>CreditCard</a:t>
            </a:r>
            <a:r>
              <a:rPr lang="en-US" altLang="en-US" sz="2800" dirty="0">
                <a:latin typeface="Calibir"/>
              </a:rPr>
              <a:t>).</a:t>
            </a:r>
          </a:p>
        </p:txBody>
      </p:sp>
    </p:spTree>
    <p:extLst>
      <p:ext uri="{BB962C8B-B14F-4D97-AF65-F5344CB8AC3E}">
        <p14:creationId xmlns:p14="http://schemas.microsoft.com/office/powerpoint/2010/main" val="300091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0DF8-6542-CE2A-99AB-153CAF131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D9838-F076-17A7-5F0D-13233FB5B62F}"/>
              </a:ext>
            </a:extLst>
          </p:cNvPr>
          <p:cNvSpPr>
            <a:spLocks noGrp="1"/>
          </p:cNvSpPr>
          <p:nvPr>
            <p:ph type="title"/>
          </p:nvPr>
        </p:nvSpPr>
        <p:spPr>
          <a:xfrm>
            <a:off x="0" y="1"/>
            <a:ext cx="12192000" cy="672661"/>
          </a:xfrm>
        </p:spPr>
        <p:txBody>
          <a:bodyPr anchor="b">
            <a:normAutofit/>
          </a:bodyPr>
          <a:lstStyle/>
          <a:p>
            <a:r>
              <a:rPr lang="en-US" sz="4000" dirty="0">
                <a:latin typeface="Calibir"/>
              </a:rPr>
              <a:t>Classes and Objects</a:t>
            </a:r>
            <a:endParaRPr lang="en-AU" sz="4000" b="1" dirty="0">
              <a:latin typeface="Calibir"/>
            </a:endParaRPr>
          </a:p>
        </p:txBody>
      </p:sp>
      <p:sp>
        <p:nvSpPr>
          <p:cNvPr id="4" name="Rectangle 1">
            <a:extLst>
              <a:ext uri="{FF2B5EF4-FFF2-40B4-BE49-F238E27FC236}">
                <a16:creationId xmlns:a16="http://schemas.microsoft.com/office/drawing/2014/main" id="{374CF4B1-6578-F16F-FEE3-0DA0A8AE0212}"/>
              </a:ext>
            </a:extLst>
          </p:cNvPr>
          <p:cNvSpPr>
            <a:spLocks noChangeArrowheads="1"/>
          </p:cNvSpPr>
          <p:nvPr/>
        </p:nvSpPr>
        <p:spPr bwMode="auto">
          <a:xfrm>
            <a:off x="184731" y="2446746"/>
            <a:ext cx="12007269"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an Object?</a:t>
            </a:r>
          </a:p>
          <a:p>
            <a:pPr marL="457200" indent="-457200">
              <a:lnSpc>
                <a:spcPct val="150000"/>
              </a:lnSpc>
              <a:buFont typeface="Arial" panose="020B0604020202020204" pitchFamily="34" charset="0"/>
              <a:buChar char="•"/>
            </a:pPr>
            <a:r>
              <a:rPr lang="en-US" sz="2800" dirty="0">
                <a:latin typeface="Calibir"/>
              </a:rPr>
              <a:t>An object is a real-world instance of a class.</a:t>
            </a:r>
          </a:p>
          <a:p>
            <a:pPr marL="457200" indent="-457200">
              <a:lnSpc>
                <a:spcPct val="150000"/>
              </a:lnSpc>
              <a:buFont typeface="Arial" panose="020B0604020202020204" pitchFamily="34" charset="0"/>
              <a:buChar char="•"/>
            </a:pPr>
            <a:r>
              <a:rPr lang="en-US" sz="2800" dirty="0">
                <a:latin typeface="Calibir"/>
              </a:rPr>
              <a:t>Objects exist at runtime and store their own data.</a:t>
            </a:r>
          </a:p>
        </p:txBody>
      </p:sp>
    </p:spTree>
    <p:extLst>
      <p:ext uri="{BB962C8B-B14F-4D97-AF65-F5344CB8AC3E}">
        <p14:creationId xmlns:p14="http://schemas.microsoft.com/office/powerpoint/2010/main" val="346796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930A-2AF8-8312-E344-B86B1266B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6C689-A81A-A3A3-D4CC-B6C7A53B395D}"/>
              </a:ext>
            </a:extLst>
          </p:cNvPr>
          <p:cNvSpPr>
            <a:spLocks noGrp="1"/>
          </p:cNvSpPr>
          <p:nvPr>
            <p:ph type="title"/>
          </p:nvPr>
        </p:nvSpPr>
        <p:spPr>
          <a:xfrm>
            <a:off x="0" y="1"/>
            <a:ext cx="12192000" cy="672661"/>
          </a:xfrm>
        </p:spPr>
        <p:txBody>
          <a:bodyPr anchor="b">
            <a:normAutofit/>
          </a:bodyPr>
          <a:lstStyle/>
          <a:p>
            <a:r>
              <a:rPr lang="en-US" sz="4000" dirty="0">
                <a:latin typeface="Calibir"/>
              </a:rPr>
              <a:t>Classes and Objects</a:t>
            </a:r>
            <a:endParaRPr lang="en-AU" sz="4000" b="1" dirty="0">
              <a:latin typeface="Calibir"/>
            </a:endParaRPr>
          </a:p>
        </p:txBody>
      </p:sp>
      <p:sp>
        <p:nvSpPr>
          <p:cNvPr id="4" name="Rectangle 1">
            <a:extLst>
              <a:ext uri="{FF2B5EF4-FFF2-40B4-BE49-F238E27FC236}">
                <a16:creationId xmlns:a16="http://schemas.microsoft.com/office/drawing/2014/main" id="{75D9ED48-D219-8844-96B4-4193B99ED3F3}"/>
              </a:ext>
            </a:extLst>
          </p:cNvPr>
          <p:cNvSpPr>
            <a:spLocks noChangeArrowheads="1"/>
          </p:cNvSpPr>
          <p:nvPr/>
        </p:nvSpPr>
        <p:spPr bwMode="auto">
          <a:xfrm>
            <a:off x="184731" y="1154084"/>
            <a:ext cx="12007269"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Real-World Analogy:</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Class</a:t>
            </a:r>
            <a:r>
              <a:rPr lang="en-US" altLang="en-US" sz="2800" dirty="0">
                <a:latin typeface="Calibir"/>
              </a:rPr>
              <a:t> = Recipe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Object</a:t>
            </a:r>
            <a:r>
              <a:rPr lang="en-US" altLang="en-US" sz="2800" dirty="0">
                <a:latin typeface="Calibir"/>
              </a:rPr>
              <a:t> = Cake made using that recipe</a:t>
            </a:r>
          </a:p>
          <a:p>
            <a:pPr lvl="0" eaLnBrk="0" fontAlgn="base" hangingPunct="0">
              <a:lnSpc>
                <a:spcPct val="150000"/>
              </a:lnSpc>
              <a:spcBef>
                <a:spcPct val="0"/>
              </a:spcBef>
              <a:spcAft>
                <a:spcPct val="0"/>
              </a:spcAft>
            </a:pPr>
            <a:endParaRPr lang="en-US" altLang="en-US" sz="2800" b="1" dirty="0">
              <a:latin typeface="Calibir"/>
            </a:endParaRPr>
          </a:p>
          <a:p>
            <a:pPr lvl="0" eaLnBrk="0" fontAlgn="base" hangingPunct="0">
              <a:lnSpc>
                <a:spcPct val="150000"/>
              </a:lnSpc>
              <a:spcBef>
                <a:spcPct val="0"/>
              </a:spcBef>
              <a:spcAft>
                <a:spcPct val="0"/>
              </a:spcAft>
            </a:pPr>
            <a:r>
              <a:rPr lang="en-US" altLang="en-US" sz="2800" b="1" dirty="0">
                <a:latin typeface="Calibir"/>
              </a:rPr>
              <a:t>Australian Example: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Class</a:t>
            </a:r>
            <a:r>
              <a:rPr lang="en-US" altLang="en-US" sz="2800" dirty="0">
                <a:latin typeface="Calibir"/>
              </a:rPr>
              <a:t>: Koala</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Object</a:t>
            </a:r>
            <a:r>
              <a:rPr lang="en-US" altLang="en-US" sz="2800" dirty="0">
                <a:latin typeface="Calibir"/>
              </a:rPr>
              <a:t>: A koala named “Koko” at </a:t>
            </a:r>
            <a:r>
              <a:rPr lang="en-US" altLang="en-US" sz="2800" dirty="0" err="1">
                <a:latin typeface="Calibir"/>
              </a:rPr>
              <a:t>Taronga</a:t>
            </a:r>
            <a:r>
              <a:rPr lang="en-US" altLang="en-US" sz="2800" dirty="0">
                <a:latin typeface="Calibir"/>
              </a:rPr>
              <a:t> Zoo</a:t>
            </a:r>
          </a:p>
        </p:txBody>
      </p:sp>
    </p:spTree>
    <p:extLst>
      <p:ext uri="{BB962C8B-B14F-4D97-AF65-F5344CB8AC3E}">
        <p14:creationId xmlns:p14="http://schemas.microsoft.com/office/powerpoint/2010/main" val="165641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E3AD-31BF-288C-0FC9-4D7E7D879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2A20B-078F-3A97-D586-FFF55C31D16C}"/>
              </a:ext>
            </a:extLst>
          </p:cNvPr>
          <p:cNvSpPr>
            <a:spLocks noGrp="1"/>
          </p:cNvSpPr>
          <p:nvPr>
            <p:ph type="title"/>
          </p:nvPr>
        </p:nvSpPr>
        <p:spPr>
          <a:xfrm>
            <a:off x="0" y="1"/>
            <a:ext cx="12192000" cy="672661"/>
          </a:xfrm>
        </p:spPr>
        <p:txBody>
          <a:bodyPr anchor="b">
            <a:normAutofit/>
          </a:bodyPr>
          <a:lstStyle/>
          <a:p>
            <a:r>
              <a:rPr lang="en-US" sz="4000" dirty="0">
                <a:latin typeface="Calibir"/>
              </a:rPr>
              <a:t>Koala Class Example in Python</a:t>
            </a:r>
            <a:endParaRPr lang="en-AU" sz="4000" b="1" dirty="0">
              <a:latin typeface="Calibir"/>
            </a:endParaRPr>
          </a:p>
        </p:txBody>
      </p:sp>
      <p:pic>
        <p:nvPicPr>
          <p:cNvPr id="5" name="Picture 4">
            <a:extLst>
              <a:ext uri="{FF2B5EF4-FFF2-40B4-BE49-F238E27FC236}">
                <a16:creationId xmlns:a16="http://schemas.microsoft.com/office/drawing/2014/main" id="{701F6D2B-4577-E53A-875C-E32F3F4A4DC1}"/>
              </a:ext>
            </a:extLst>
          </p:cNvPr>
          <p:cNvPicPr>
            <a:picLocks noChangeAspect="1"/>
          </p:cNvPicPr>
          <p:nvPr/>
        </p:nvPicPr>
        <p:blipFill>
          <a:blip r:embed="rId2"/>
          <a:srcRect r="52470" b="54377"/>
          <a:stretch>
            <a:fillRect/>
          </a:stretch>
        </p:blipFill>
        <p:spPr>
          <a:xfrm>
            <a:off x="0" y="848298"/>
            <a:ext cx="8681292" cy="4687237"/>
          </a:xfrm>
          <a:prstGeom prst="rect">
            <a:avLst/>
          </a:prstGeom>
        </p:spPr>
      </p:pic>
      <p:sp>
        <p:nvSpPr>
          <p:cNvPr id="6" name="Rectangle 1">
            <a:extLst>
              <a:ext uri="{FF2B5EF4-FFF2-40B4-BE49-F238E27FC236}">
                <a16:creationId xmlns:a16="http://schemas.microsoft.com/office/drawing/2014/main" id="{92F77190-FE73-FE20-3196-192548142DDD}"/>
              </a:ext>
            </a:extLst>
          </p:cNvPr>
          <p:cNvSpPr>
            <a:spLocks noChangeArrowheads="1"/>
          </p:cNvSpPr>
          <p:nvPr/>
        </p:nvSpPr>
        <p:spPr bwMode="auto">
          <a:xfrm>
            <a:off x="0" y="5535535"/>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This code defines a class called Koala with a name attribute. It then creates an object </a:t>
            </a:r>
            <a:r>
              <a:rPr kumimoji="0" lang="en-US" altLang="en-US" sz="2800" b="0" i="0" u="none" strike="noStrike" cap="none" normalizeH="0" baseline="0" dirty="0" err="1">
                <a:ln>
                  <a:noFill/>
                </a:ln>
                <a:solidFill>
                  <a:schemeClr val="tx1"/>
                </a:solidFill>
                <a:effectLst/>
                <a:latin typeface="Calibir"/>
              </a:rPr>
              <a:t>koko</a:t>
            </a:r>
            <a:r>
              <a:rPr kumimoji="0" lang="en-US" altLang="en-US" sz="2800" b="0" i="0" u="none" strike="noStrike" cap="none" normalizeH="0" baseline="0" dirty="0">
                <a:ln>
                  <a:noFill/>
                </a:ln>
                <a:solidFill>
                  <a:schemeClr val="tx1"/>
                </a:solidFill>
                <a:effectLst/>
                <a:latin typeface="Calibir"/>
              </a:rPr>
              <a:t> from the class and prints its name. </a:t>
            </a:r>
          </a:p>
        </p:txBody>
      </p:sp>
      <p:pic>
        <p:nvPicPr>
          <p:cNvPr id="8" name="Picture 7">
            <a:extLst>
              <a:ext uri="{FF2B5EF4-FFF2-40B4-BE49-F238E27FC236}">
                <a16:creationId xmlns:a16="http://schemas.microsoft.com/office/drawing/2014/main" id="{190774D4-B601-1213-BF10-E9F71AA9464A}"/>
              </a:ext>
            </a:extLst>
          </p:cNvPr>
          <p:cNvPicPr>
            <a:picLocks noChangeAspect="1"/>
          </p:cNvPicPr>
          <p:nvPr/>
        </p:nvPicPr>
        <p:blipFill>
          <a:blip r:embed="rId3"/>
          <a:srcRect l="54678" t="22796" r="16653" b="50000"/>
          <a:stretch>
            <a:fillRect/>
          </a:stretch>
        </p:blipFill>
        <p:spPr>
          <a:xfrm>
            <a:off x="8696632" y="2496164"/>
            <a:ext cx="3495368" cy="1898855"/>
          </a:xfrm>
          <a:prstGeom prst="rect">
            <a:avLst/>
          </a:prstGeom>
        </p:spPr>
      </p:pic>
      <p:cxnSp>
        <p:nvCxnSpPr>
          <p:cNvPr id="11" name="Connector: Elbow 10">
            <a:extLst>
              <a:ext uri="{FF2B5EF4-FFF2-40B4-BE49-F238E27FC236}">
                <a16:creationId xmlns:a16="http://schemas.microsoft.com/office/drawing/2014/main" id="{B9CE645A-D225-6945-ACE1-53C3595C8BFC}"/>
              </a:ext>
            </a:extLst>
          </p:cNvPr>
          <p:cNvCxnSpPr>
            <a:cxnSpLocks/>
            <a:stCxn id="5" idx="0"/>
            <a:endCxn id="8" idx="0"/>
          </p:cNvCxnSpPr>
          <p:nvPr/>
        </p:nvCxnSpPr>
        <p:spPr>
          <a:xfrm rot="16200000" flipH="1">
            <a:off x="6568548" y="-1379604"/>
            <a:ext cx="1647866" cy="6103670"/>
          </a:xfrm>
          <a:prstGeom prst="bentConnector3">
            <a:avLst>
              <a:gd name="adj1" fmla="val -1387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4182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F56D-9E29-8BD9-E515-7DAEC0779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32437-BBCC-038F-5993-0DED264FF928}"/>
              </a:ext>
            </a:extLst>
          </p:cNvPr>
          <p:cNvSpPr>
            <a:spLocks noGrp="1"/>
          </p:cNvSpPr>
          <p:nvPr>
            <p:ph type="title"/>
          </p:nvPr>
        </p:nvSpPr>
        <p:spPr>
          <a:xfrm>
            <a:off x="0" y="1"/>
            <a:ext cx="12192000" cy="672661"/>
          </a:xfrm>
        </p:spPr>
        <p:txBody>
          <a:bodyPr anchor="b">
            <a:normAutofit/>
          </a:bodyPr>
          <a:lstStyle/>
          <a:p>
            <a:r>
              <a:rPr lang="en-US" sz="4000" dirty="0">
                <a:latin typeface="Calibir"/>
              </a:rPr>
              <a:t>Activity 1: Add a New Attribute and Print It</a:t>
            </a:r>
            <a:endParaRPr lang="en-AU" sz="4000" b="1" dirty="0">
              <a:latin typeface="Calibir"/>
            </a:endParaRPr>
          </a:p>
        </p:txBody>
      </p:sp>
      <p:sp>
        <p:nvSpPr>
          <p:cNvPr id="6" name="Rectangle 1">
            <a:extLst>
              <a:ext uri="{FF2B5EF4-FFF2-40B4-BE49-F238E27FC236}">
                <a16:creationId xmlns:a16="http://schemas.microsoft.com/office/drawing/2014/main" id="{748C66EE-A45F-C4BC-E70D-A7F7532BC7C3}"/>
              </a:ext>
            </a:extLst>
          </p:cNvPr>
          <p:cNvSpPr>
            <a:spLocks noChangeArrowheads="1"/>
          </p:cNvSpPr>
          <p:nvPr/>
        </p:nvSpPr>
        <p:spPr bwMode="auto">
          <a:xfrm>
            <a:off x="0" y="672662"/>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a:t>
            </a:r>
            <a:br>
              <a:rPr lang="en-US" altLang="en-US" sz="2800" dirty="0">
                <a:latin typeface="Calibir"/>
              </a:rPr>
            </a:br>
            <a:r>
              <a:rPr lang="en-US" altLang="en-US" sz="2800" dirty="0">
                <a:latin typeface="Calibir"/>
              </a:rPr>
              <a:t>Modify the Koala class to include an additional attribute called age. When creating a koala object, assign both name and age, and then print both. </a:t>
            </a:r>
          </a:p>
        </p:txBody>
      </p:sp>
      <p:sp>
        <p:nvSpPr>
          <p:cNvPr id="7" name="TextBox 6">
            <a:extLst>
              <a:ext uri="{FF2B5EF4-FFF2-40B4-BE49-F238E27FC236}">
                <a16:creationId xmlns:a16="http://schemas.microsoft.com/office/drawing/2014/main" id="{1EDBC41A-2984-7A5E-6343-683C860C221F}"/>
              </a:ext>
            </a:extLst>
          </p:cNvPr>
          <p:cNvSpPr txBox="1"/>
          <p:nvPr/>
        </p:nvSpPr>
        <p:spPr>
          <a:xfrm>
            <a:off x="0" y="2816942"/>
            <a:ext cx="12192000" cy="3108543"/>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Koala</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__</a:t>
            </a:r>
            <a:r>
              <a:rPr lang="en-US" sz="2800" b="0" dirty="0" err="1">
                <a:solidFill>
                  <a:srgbClr val="DCDCAA"/>
                </a:solidFill>
                <a:effectLst/>
                <a:latin typeface="Consolas" panose="020B0609020204030204" pitchFamily="49" charset="0"/>
              </a:rPr>
              <a:t>init</a:t>
            </a:r>
            <a:r>
              <a:rPr lang="en-US" sz="2800" b="0" dirty="0">
                <a:solidFill>
                  <a:srgbClr val="DCDCAA"/>
                </a:solidFill>
                <a:effectLst/>
                <a:latin typeface="Consolas" panose="020B0609020204030204" pitchFamily="49" charset="0"/>
              </a:rPr>
              <a:t>__</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name</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age</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name</a:t>
            </a:r>
            <a:endParaRPr lang="en-US" sz="2800" b="0" dirty="0">
              <a:solidFill>
                <a:srgbClr val="CCCCCC"/>
              </a:solidFill>
              <a:effectLst/>
              <a:latin typeface="Consolas" panose="020B0609020204030204" pitchFamily="49" charset="0"/>
            </a:endParaRPr>
          </a:p>
          <a:p>
            <a:pPr>
              <a:buNone/>
            </a:pP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age</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age</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err="1">
                <a:solidFill>
                  <a:srgbClr val="9CDCFE"/>
                </a:solidFill>
                <a:effectLst/>
                <a:latin typeface="Consolas" panose="020B0609020204030204" pitchFamily="49" charset="0"/>
              </a:rPr>
              <a:t>koko</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Koala</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"Koko"</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4</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err="1">
                <a:solidFill>
                  <a:srgbClr val="569CD6"/>
                </a:solidFill>
                <a:effectLst/>
                <a:latin typeface="Consolas" panose="020B0609020204030204" pitchFamily="49" charset="0"/>
              </a:rPr>
              <a:t>f</a:t>
            </a:r>
            <a:r>
              <a:rPr lang="en-US" sz="2800" b="0" dirty="0" err="1">
                <a:solidFill>
                  <a:srgbClr val="CE9178"/>
                </a:solidFill>
                <a:effectLst/>
                <a:latin typeface="Consolas" panose="020B0609020204030204" pitchFamily="49" charset="0"/>
              </a:rPr>
              <a:t>"Name</a:t>
            </a:r>
            <a:r>
              <a:rPr lang="en-US" sz="2800" b="0" dirty="0">
                <a:solidFill>
                  <a:srgbClr val="CE9178"/>
                </a:solidFill>
                <a:effectLst/>
                <a:latin typeface="Consolas" panose="020B0609020204030204" pitchFamily="49" charset="0"/>
              </a:rPr>
              <a:t>: </a:t>
            </a:r>
            <a:r>
              <a:rPr lang="en-US" sz="2800" b="0" dirty="0">
                <a:solidFill>
                  <a:srgbClr val="569CD6"/>
                </a:solidFill>
                <a:effectLst/>
                <a:latin typeface="Consolas" panose="020B0609020204030204" pitchFamily="49" charset="0"/>
              </a:rPr>
              <a:t>{</a:t>
            </a:r>
            <a:r>
              <a:rPr lang="en-US" sz="2800" b="0" dirty="0">
                <a:solidFill>
                  <a:srgbClr val="9CDCFE"/>
                </a:solidFill>
                <a:effectLst/>
                <a:latin typeface="Consolas" panose="020B0609020204030204" pitchFamily="49" charset="0"/>
              </a:rPr>
              <a:t>koko</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Age: </a:t>
            </a:r>
            <a:r>
              <a:rPr lang="en-US" sz="2800" b="0" dirty="0">
                <a:solidFill>
                  <a:srgbClr val="569CD6"/>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koko</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age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a:t>
            </a:r>
            <a:r>
              <a:rPr lang="en-US" sz="2800" b="0" dirty="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5085FA1C-F767-CD24-2C32-0009B4EB5EF8}"/>
              </a:ext>
            </a:extLst>
          </p:cNvPr>
          <p:cNvSpPr txBox="1"/>
          <p:nvPr/>
        </p:nvSpPr>
        <p:spPr>
          <a:xfrm>
            <a:off x="0" y="6105253"/>
            <a:ext cx="12192000" cy="523220"/>
          </a:xfrm>
          <a:prstGeom prst="rect">
            <a:avLst/>
          </a:prstGeom>
          <a:noFill/>
        </p:spPr>
        <p:txBody>
          <a:bodyPr wrap="square">
            <a:spAutoFit/>
          </a:bodyPr>
          <a:lstStyle/>
          <a:p>
            <a:r>
              <a:rPr lang="en-US" sz="2800" i="1" dirty="0">
                <a:latin typeface="Calibir"/>
              </a:rPr>
              <a:t>Learning Outcome:</a:t>
            </a:r>
            <a:r>
              <a:rPr lang="en-US" sz="2800" dirty="0">
                <a:latin typeface="Calibir"/>
              </a:rPr>
              <a:t> Understanding how to add and initialize multiple attributes.</a:t>
            </a:r>
            <a:endParaRPr lang="en-AU" sz="2800" dirty="0">
              <a:latin typeface="Calibir"/>
            </a:endParaRPr>
          </a:p>
        </p:txBody>
      </p:sp>
    </p:spTree>
    <p:extLst>
      <p:ext uri="{BB962C8B-B14F-4D97-AF65-F5344CB8AC3E}">
        <p14:creationId xmlns:p14="http://schemas.microsoft.com/office/powerpoint/2010/main" val="153032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5EED-8D14-4EED-6BA2-E6608B4CC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1E120-2EC4-5920-D7BA-3FB42AB9C0F1}"/>
              </a:ext>
            </a:extLst>
          </p:cNvPr>
          <p:cNvSpPr>
            <a:spLocks noGrp="1"/>
          </p:cNvSpPr>
          <p:nvPr>
            <p:ph type="title"/>
          </p:nvPr>
        </p:nvSpPr>
        <p:spPr>
          <a:xfrm>
            <a:off x="0" y="1"/>
            <a:ext cx="12192000" cy="672661"/>
          </a:xfrm>
        </p:spPr>
        <p:txBody>
          <a:bodyPr anchor="b">
            <a:normAutofit/>
          </a:bodyPr>
          <a:lstStyle/>
          <a:p>
            <a:r>
              <a:rPr lang="en-US" sz="4000" dirty="0">
                <a:latin typeface="Calibir"/>
              </a:rPr>
              <a:t>Activity 2: Add a Method to Display a Greeting</a:t>
            </a:r>
            <a:endParaRPr lang="en-AU" sz="4000" b="1" dirty="0">
              <a:latin typeface="Calibir"/>
            </a:endParaRPr>
          </a:p>
        </p:txBody>
      </p:sp>
      <p:sp>
        <p:nvSpPr>
          <p:cNvPr id="6" name="Rectangle 1">
            <a:extLst>
              <a:ext uri="{FF2B5EF4-FFF2-40B4-BE49-F238E27FC236}">
                <a16:creationId xmlns:a16="http://schemas.microsoft.com/office/drawing/2014/main" id="{2310ACD8-AC51-A3E5-C5CA-41B85BCCA5E1}"/>
              </a:ext>
            </a:extLst>
          </p:cNvPr>
          <p:cNvSpPr>
            <a:spLocks noChangeArrowheads="1"/>
          </p:cNvSpPr>
          <p:nvPr/>
        </p:nvSpPr>
        <p:spPr bwMode="auto">
          <a:xfrm>
            <a:off x="0" y="672662"/>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a:t>
            </a:r>
            <a:br>
              <a:rPr lang="en-US" altLang="en-US" sz="2800" dirty="0">
                <a:latin typeface="Calibir"/>
              </a:rPr>
            </a:br>
            <a:r>
              <a:rPr lang="en-US" altLang="en-US" sz="2800" dirty="0">
                <a:latin typeface="Calibir"/>
              </a:rPr>
              <a:t>Add a method to the Koala class called greet() that prints a custom message using the koala’s name. Then call this method on an object. </a:t>
            </a:r>
          </a:p>
        </p:txBody>
      </p:sp>
      <p:sp>
        <p:nvSpPr>
          <p:cNvPr id="5" name="TextBox 4">
            <a:extLst>
              <a:ext uri="{FF2B5EF4-FFF2-40B4-BE49-F238E27FC236}">
                <a16:creationId xmlns:a16="http://schemas.microsoft.com/office/drawing/2014/main" id="{797E41ED-5FB7-25A1-2A8B-B7B0AC1DD82F}"/>
              </a:ext>
            </a:extLst>
          </p:cNvPr>
          <p:cNvSpPr txBox="1"/>
          <p:nvPr/>
        </p:nvSpPr>
        <p:spPr>
          <a:xfrm>
            <a:off x="0" y="2799406"/>
            <a:ext cx="12192000" cy="3554819"/>
          </a:xfrm>
          <a:prstGeom prst="rect">
            <a:avLst/>
          </a:prstGeom>
          <a:solidFill>
            <a:schemeClr val="tx1"/>
          </a:solidFill>
        </p:spPr>
        <p:txBody>
          <a:bodyPr wrap="square">
            <a:spAutoFit/>
          </a:bodyPr>
          <a:lstStyle/>
          <a:p>
            <a:pPr>
              <a:buNone/>
            </a:pPr>
            <a:r>
              <a:rPr lang="en-US" sz="2500" b="0" dirty="0">
                <a:solidFill>
                  <a:srgbClr val="569CD6"/>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Koala</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__</a:t>
            </a:r>
            <a:r>
              <a:rPr lang="en-US" sz="2500" b="0" dirty="0" err="1">
                <a:solidFill>
                  <a:srgbClr val="DCDCAA"/>
                </a:solidFill>
                <a:effectLst/>
                <a:latin typeface="Consolas" panose="020B0609020204030204" pitchFamily="49" charset="0"/>
              </a:rPr>
              <a:t>init</a:t>
            </a:r>
            <a:r>
              <a:rPr lang="en-US" sz="2500" b="0" dirty="0">
                <a:solidFill>
                  <a:srgbClr val="DCDCAA"/>
                </a:solidFill>
                <a:effectLst/>
                <a:latin typeface="Consolas" panose="020B0609020204030204" pitchFamily="49" charset="0"/>
              </a:rPr>
              <a:t>__</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name</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name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name</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greet</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print</a:t>
            </a:r>
            <a:r>
              <a:rPr lang="en-US" sz="2500" b="0" dirty="0">
                <a:solidFill>
                  <a:srgbClr val="CCCCCC"/>
                </a:solidFill>
                <a:effectLst/>
                <a:latin typeface="Consolas" panose="020B0609020204030204" pitchFamily="49" charset="0"/>
              </a:rPr>
              <a:t>(</a:t>
            </a:r>
            <a:r>
              <a:rPr lang="en-US" sz="2500" b="0" dirty="0" err="1">
                <a:solidFill>
                  <a:srgbClr val="569CD6"/>
                </a:solidFill>
                <a:effectLst/>
                <a:latin typeface="Consolas" panose="020B0609020204030204" pitchFamily="49" charset="0"/>
              </a:rPr>
              <a:t>f</a:t>
            </a:r>
            <a:r>
              <a:rPr lang="en-US" sz="2500" b="0" dirty="0" err="1">
                <a:solidFill>
                  <a:srgbClr val="CE9178"/>
                </a:solidFill>
                <a:effectLst/>
                <a:latin typeface="Consolas" panose="020B0609020204030204" pitchFamily="49" charset="0"/>
              </a:rPr>
              <a:t>"G'day</a:t>
            </a:r>
            <a:r>
              <a:rPr lang="en-US" sz="2500" b="0" dirty="0">
                <a:solidFill>
                  <a:srgbClr val="CE9178"/>
                </a:solidFill>
                <a:effectLst/>
                <a:latin typeface="Consolas" panose="020B0609020204030204" pitchFamily="49" charset="0"/>
              </a:rPr>
              <a:t>! I'm </a:t>
            </a:r>
            <a:r>
              <a:rPr lang="en-US" sz="2500" b="0" dirty="0">
                <a:solidFill>
                  <a:srgbClr val="569CD6"/>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name</a:t>
            </a:r>
            <a:r>
              <a:rPr lang="en-US" sz="2500" b="0" dirty="0">
                <a:solidFill>
                  <a:srgbClr val="569CD6"/>
                </a:solidFill>
                <a:effectLst/>
                <a:latin typeface="Consolas" panose="020B0609020204030204" pitchFamily="49" charset="0"/>
              </a:rPr>
              <a:t>}</a:t>
            </a:r>
            <a:r>
              <a:rPr lang="en-US" sz="2500" b="0" dirty="0">
                <a:solidFill>
                  <a:srgbClr val="CE9178"/>
                </a:solidFill>
                <a:effectLst/>
                <a:latin typeface="Consolas" panose="020B0609020204030204" pitchFamily="49" charset="0"/>
              </a:rPr>
              <a:t>, the koala."</a:t>
            </a:r>
            <a:r>
              <a:rPr lang="en-US" sz="2500" b="0" dirty="0">
                <a:solidFill>
                  <a:srgbClr val="CCCCCC"/>
                </a:solidFill>
                <a:effectLst/>
                <a:latin typeface="Consolas" panose="020B0609020204030204" pitchFamily="49" charset="0"/>
              </a:rPr>
              <a:t>)</a:t>
            </a:r>
          </a:p>
          <a:p>
            <a:pPr>
              <a:buNone/>
            </a:pPr>
            <a:br>
              <a:rPr lang="en-US" sz="2500" b="0" dirty="0">
                <a:solidFill>
                  <a:srgbClr val="CCCCCC"/>
                </a:solidFill>
                <a:effectLst/>
                <a:latin typeface="Consolas" panose="020B0609020204030204" pitchFamily="49" charset="0"/>
              </a:rPr>
            </a:br>
            <a:r>
              <a:rPr lang="en-US" sz="2500" b="0" dirty="0" err="1">
                <a:solidFill>
                  <a:srgbClr val="9CDCFE"/>
                </a:solidFill>
                <a:effectLst/>
                <a:latin typeface="Consolas" panose="020B0609020204030204" pitchFamily="49" charset="0"/>
              </a:rPr>
              <a:t>koko</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Koala</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"Koko"</a:t>
            </a:r>
            <a:r>
              <a:rPr lang="en-US" sz="2500" b="0" dirty="0">
                <a:solidFill>
                  <a:srgbClr val="CCCCCC"/>
                </a:solidFill>
                <a:effectLst/>
                <a:latin typeface="Consolas" panose="020B0609020204030204" pitchFamily="49" charset="0"/>
              </a:rPr>
              <a:t>)</a:t>
            </a:r>
          </a:p>
          <a:p>
            <a:pPr>
              <a:buNone/>
            </a:pPr>
            <a:r>
              <a:rPr lang="en-US" sz="2500" b="0" dirty="0" err="1">
                <a:solidFill>
                  <a:srgbClr val="9CDCFE"/>
                </a:solidFill>
                <a:effectLst/>
                <a:latin typeface="Consolas" panose="020B0609020204030204" pitchFamily="49" charset="0"/>
              </a:rPr>
              <a:t>koko</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greet</a:t>
            </a:r>
            <a:r>
              <a:rPr lang="en-US" sz="2500" b="0" dirty="0">
                <a:solidFill>
                  <a:srgbClr val="CCCCCC"/>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81469957-667F-BDB8-A0F0-B82D235900D9}"/>
              </a:ext>
            </a:extLst>
          </p:cNvPr>
          <p:cNvSpPr txBox="1"/>
          <p:nvPr/>
        </p:nvSpPr>
        <p:spPr>
          <a:xfrm>
            <a:off x="3716594" y="5526247"/>
            <a:ext cx="8475406" cy="1318181"/>
          </a:xfrm>
          <a:prstGeom prst="rect">
            <a:avLst/>
          </a:prstGeom>
          <a:solidFill>
            <a:schemeClr val="bg1"/>
          </a:solidFill>
        </p:spPr>
        <p:txBody>
          <a:bodyPr wrap="square">
            <a:spAutoFit/>
          </a:bodyPr>
          <a:lstStyle/>
          <a:p>
            <a:pPr>
              <a:lnSpc>
                <a:spcPct val="150000"/>
              </a:lnSpc>
            </a:pPr>
            <a:r>
              <a:rPr lang="en-US" sz="2800" i="1" dirty="0">
                <a:latin typeface="Calibir"/>
              </a:rPr>
              <a:t>Learning Outcome:</a:t>
            </a:r>
            <a:r>
              <a:rPr lang="en-US" sz="2800" dirty="0">
                <a:latin typeface="Calibir"/>
              </a:rPr>
              <a:t> Understanding how to define and use instance methods.</a:t>
            </a:r>
            <a:endParaRPr lang="en-AU" sz="2800" dirty="0">
              <a:latin typeface="Calibir"/>
            </a:endParaRPr>
          </a:p>
        </p:txBody>
      </p:sp>
    </p:spTree>
    <p:extLst>
      <p:ext uri="{BB962C8B-B14F-4D97-AF65-F5344CB8AC3E}">
        <p14:creationId xmlns:p14="http://schemas.microsoft.com/office/powerpoint/2010/main" val="16039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6F96-C756-4601-15A2-64A187A68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9FD16-8FBB-6BDF-F1F3-51C9276E25BE}"/>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Paradigm Principles</a:t>
            </a:r>
            <a:endParaRPr lang="en-AU" sz="4000" b="1" dirty="0">
              <a:latin typeface="Calibir"/>
            </a:endParaRPr>
          </a:p>
        </p:txBody>
      </p:sp>
      <p:sp>
        <p:nvSpPr>
          <p:cNvPr id="6" name="Rectangle 1">
            <a:extLst>
              <a:ext uri="{FF2B5EF4-FFF2-40B4-BE49-F238E27FC236}">
                <a16:creationId xmlns:a16="http://schemas.microsoft.com/office/drawing/2014/main" id="{564F2C1B-BCB7-F5A3-F945-94A5F59BB360}"/>
              </a:ext>
            </a:extLst>
          </p:cNvPr>
          <p:cNvSpPr>
            <a:spLocks noChangeArrowheads="1"/>
          </p:cNvSpPr>
          <p:nvPr/>
        </p:nvSpPr>
        <p:spPr bwMode="auto">
          <a:xfrm>
            <a:off x="0" y="857329"/>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OOP?</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It’s a way of writing code by thinking in terms of real-world objects.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These objects can have data (like properties) and actions (like </a:t>
            </a:r>
            <a:r>
              <a:rPr lang="en-US" altLang="en-US" sz="2800" dirty="0" err="1">
                <a:latin typeface="Calibir"/>
              </a:rPr>
              <a:t>behaviours</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OOP helps us build programs that are easier to understand and maintain.</a:t>
            </a:r>
          </a:p>
        </p:txBody>
      </p:sp>
    </p:spTree>
    <p:extLst>
      <p:ext uri="{BB962C8B-B14F-4D97-AF65-F5344CB8AC3E}">
        <p14:creationId xmlns:p14="http://schemas.microsoft.com/office/powerpoint/2010/main" val="192653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B0A0-F011-5A5C-63AD-D63B0C128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32E62-AFF2-3FBB-6343-9A1006B0D9A8}"/>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Paradigm Principles</a:t>
            </a:r>
            <a:endParaRPr lang="en-AU" sz="4000" b="1" dirty="0">
              <a:latin typeface="Calibir"/>
            </a:endParaRPr>
          </a:p>
        </p:txBody>
      </p:sp>
      <p:sp>
        <p:nvSpPr>
          <p:cNvPr id="6" name="Rectangle 1">
            <a:extLst>
              <a:ext uri="{FF2B5EF4-FFF2-40B4-BE49-F238E27FC236}">
                <a16:creationId xmlns:a16="http://schemas.microsoft.com/office/drawing/2014/main" id="{5F4BE853-36C5-71AF-FB2F-32B97778F8D6}"/>
              </a:ext>
            </a:extLst>
          </p:cNvPr>
          <p:cNvSpPr>
            <a:spLocks noChangeArrowheads="1"/>
          </p:cNvSpPr>
          <p:nvPr/>
        </p:nvSpPr>
        <p:spPr bwMode="auto">
          <a:xfrm>
            <a:off x="0" y="672662"/>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4 Main Ideas in OOP (AEIP)</a:t>
            </a:r>
            <a:endParaRPr lang="en-US" altLang="en-US" sz="2800" b="1" dirty="0">
              <a:latin typeface="Calibir"/>
            </a:endParaRPr>
          </a:p>
        </p:txBody>
      </p:sp>
      <p:graphicFrame>
        <p:nvGraphicFramePr>
          <p:cNvPr id="3" name="Table 2">
            <a:extLst>
              <a:ext uri="{FF2B5EF4-FFF2-40B4-BE49-F238E27FC236}">
                <a16:creationId xmlns:a16="http://schemas.microsoft.com/office/drawing/2014/main" id="{4D29D83A-7BF7-3371-3E4E-242E6DFF3753}"/>
              </a:ext>
            </a:extLst>
          </p:cNvPr>
          <p:cNvGraphicFramePr>
            <a:graphicFrameLocks noGrp="1"/>
          </p:cNvGraphicFramePr>
          <p:nvPr>
            <p:extLst>
              <p:ext uri="{D42A27DB-BD31-4B8C-83A1-F6EECF244321}">
                <p14:modId xmlns:p14="http://schemas.microsoft.com/office/powerpoint/2010/main" val="943078162"/>
              </p:ext>
            </p:extLst>
          </p:nvPr>
        </p:nvGraphicFramePr>
        <p:xfrm>
          <a:off x="483009" y="1712503"/>
          <a:ext cx="11225981" cy="4723765"/>
        </p:xfrm>
        <a:graphic>
          <a:graphicData uri="http://schemas.openxmlformats.org/drawingml/2006/table">
            <a:tbl>
              <a:tblPr>
                <a:tableStyleId>{FABFCF23-3B69-468F-B69F-88F6DE6A72F2}</a:tableStyleId>
              </a:tblPr>
              <a:tblGrid>
                <a:gridCol w="1875503">
                  <a:extLst>
                    <a:ext uri="{9D8B030D-6E8A-4147-A177-3AD203B41FA5}">
                      <a16:colId xmlns:a16="http://schemas.microsoft.com/office/drawing/2014/main" val="133691857"/>
                    </a:ext>
                  </a:extLst>
                </a:gridCol>
                <a:gridCol w="5134897">
                  <a:extLst>
                    <a:ext uri="{9D8B030D-6E8A-4147-A177-3AD203B41FA5}">
                      <a16:colId xmlns:a16="http://schemas.microsoft.com/office/drawing/2014/main" val="3159615484"/>
                    </a:ext>
                  </a:extLst>
                </a:gridCol>
                <a:gridCol w="4215581">
                  <a:extLst>
                    <a:ext uri="{9D8B030D-6E8A-4147-A177-3AD203B41FA5}">
                      <a16:colId xmlns:a16="http://schemas.microsoft.com/office/drawing/2014/main" val="2200280273"/>
                    </a:ext>
                  </a:extLst>
                </a:gridCol>
              </a:tblGrid>
              <a:tr h="0">
                <a:tc>
                  <a:txBody>
                    <a:bodyPr/>
                    <a:lstStyle/>
                    <a:p>
                      <a:pPr>
                        <a:lnSpc>
                          <a:spcPct val="150000"/>
                        </a:lnSpc>
                      </a:pPr>
                      <a:r>
                        <a:rPr lang="en-US" sz="2200" dirty="0">
                          <a:latin typeface="Calibir"/>
                        </a:rPr>
                        <a:t>Principle</a:t>
                      </a:r>
                    </a:p>
                  </a:txBody>
                  <a:tcPr anchor="ctr"/>
                </a:tc>
                <a:tc>
                  <a:txBody>
                    <a:bodyPr/>
                    <a:lstStyle/>
                    <a:p>
                      <a:pPr>
                        <a:lnSpc>
                          <a:spcPct val="150000"/>
                        </a:lnSpc>
                      </a:pPr>
                      <a:r>
                        <a:rPr lang="en-US" sz="2200" dirty="0">
                          <a:latin typeface="Calibir"/>
                        </a:rPr>
                        <a:t>What it Means (Simple)</a:t>
                      </a:r>
                    </a:p>
                  </a:txBody>
                  <a:tcPr anchor="ctr"/>
                </a:tc>
                <a:tc>
                  <a:txBody>
                    <a:bodyPr/>
                    <a:lstStyle/>
                    <a:p>
                      <a:pPr>
                        <a:lnSpc>
                          <a:spcPct val="150000"/>
                        </a:lnSpc>
                      </a:pPr>
                      <a:r>
                        <a:rPr lang="en-US" sz="2200">
                          <a:latin typeface="Calibir"/>
                        </a:rPr>
                        <a:t>Real-Life Example</a:t>
                      </a:r>
                    </a:p>
                  </a:txBody>
                  <a:tcPr anchor="ctr"/>
                </a:tc>
                <a:extLst>
                  <a:ext uri="{0D108BD9-81ED-4DB2-BD59-A6C34878D82A}">
                    <a16:rowId xmlns:a16="http://schemas.microsoft.com/office/drawing/2014/main" val="834508745"/>
                  </a:ext>
                </a:extLst>
              </a:tr>
              <a:tr h="0">
                <a:tc>
                  <a:txBody>
                    <a:bodyPr/>
                    <a:lstStyle/>
                    <a:p>
                      <a:pPr>
                        <a:lnSpc>
                          <a:spcPct val="150000"/>
                        </a:lnSpc>
                      </a:pPr>
                      <a:r>
                        <a:rPr lang="en-US" sz="2200" b="1">
                          <a:latin typeface="Calibir"/>
                        </a:rPr>
                        <a:t>Abstraction</a:t>
                      </a:r>
                      <a:endParaRPr lang="en-US" sz="2200">
                        <a:latin typeface="Calibir"/>
                      </a:endParaRPr>
                    </a:p>
                  </a:txBody>
                  <a:tcPr anchor="ctr"/>
                </a:tc>
                <a:tc>
                  <a:txBody>
                    <a:bodyPr/>
                    <a:lstStyle/>
                    <a:p>
                      <a:pPr>
                        <a:lnSpc>
                          <a:spcPct val="150000"/>
                        </a:lnSpc>
                      </a:pPr>
                      <a:r>
                        <a:rPr lang="en-US" sz="2200">
                          <a:latin typeface="Calibir"/>
                        </a:rPr>
                        <a:t>Hide the messy stuff and show only the basics</a:t>
                      </a:r>
                    </a:p>
                  </a:txBody>
                  <a:tcPr anchor="ctr"/>
                </a:tc>
                <a:tc>
                  <a:txBody>
                    <a:bodyPr/>
                    <a:lstStyle/>
                    <a:p>
                      <a:pPr>
                        <a:lnSpc>
                          <a:spcPct val="150000"/>
                        </a:lnSpc>
                      </a:pPr>
                      <a:r>
                        <a:rPr lang="en-US" sz="2200">
                          <a:latin typeface="Calibir"/>
                        </a:rPr>
                        <a:t>Coffee machine – you press a button, not worry how it works</a:t>
                      </a:r>
                    </a:p>
                  </a:txBody>
                  <a:tcPr anchor="ctr"/>
                </a:tc>
                <a:extLst>
                  <a:ext uri="{0D108BD9-81ED-4DB2-BD59-A6C34878D82A}">
                    <a16:rowId xmlns:a16="http://schemas.microsoft.com/office/drawing/2014/main" val="183331664"/>
                  </a:ext>
                </a:extLst>
              </a:tr>
              <a:tr h="0">
                <a:tc>
                  <a:txBody>
                    <a:bodyPr/>
                    <a:lstStyle/>
                    <a:p>
                      <a:pPr>
                        <a:lnSpc>
                          <a:spcPct val="150000"/>
                        </a:lnSpc>
                      </a:pPr>
                      <a:r>
                        <a:rPr lang="en-US" sz="2200" b="1" dirty="0">
                          <a:latin typeface="Calibir"/>
                        </a:rPr>
                        <a:t>Encapsulation</a:t>
                      </a:r>
                      <a:endParaRPr lang="en-US" sz="2200" dirty="0">
                        <a:latin typeface="Calibir"/>
                      </a:endParaRPr>
                    </a:p>
                  </a:txBody>
                  <a:tcPr anchor="ctr"/>
                </a:tc>
                <a:tc>
                  <a:txBody>
                    <a:bodyPr/>
                    <a:lstStyle/>
                    <a:p>
                      <a:pPr>
                        <a:lnSpc>
                          <a:spcPct val="150000"/>
                        </a:lnSpc>
                      </a:pPr>
                      <a:r>
                        <a:rPr lang="en-US" sz="2200">
                          <a:latin typeface="Calibir"/>
                        </a:rPr>
                        <a:t>Lock the data inside and control who sees or changes it</a:t>
                      </a:r>
                    </a:p>
                  </a:txBody>
                  <a:tcPr anchor="ctr"/>
                </a:tc>
                <a:tc>
                  <a:txBody>
                    <a:bodyPr/>
                    <a:lstStyle/>
                    <a:p>
                      <a:pPr>
                        <a:lnSpc>
                          <a:spcPct val="150000"/>
                        </a:lnSpc>
                      </a:pPr>
                      <a:r>
                        <a:rPr lang="en-US" sz="2200">
                          <a:latin typeface="Calibir"/>
                        </a:rPr>
                        <a:t>Medicine sealed in a capsule</a:t>
                      </a:r>
                    </a:p>
                  </a:txBody>
                  <a:tcPr anchor="ctr"/>
                </a:tc>
                <a:extLst>
                  <a:ext uri="{0D108BD9-81ED-4DB2-BD59-A6C34878D82A}">
                    <a16:rowId xmlns:a16="http://schemas.microsoft.com/office/drawing/2014/main" val="2411271997"/>
                  </a:ext>
                </a:extLst>
              </a:tr>
              <a:tr h="0">
                <a:tc>
                  <a:txBody>
                    <a:bodyPr/>
                    <a:lstStyle/>
                    <a:p>
                      <a:pPr>
                        <a:lnSpc>
                          <a:spcPct val="150000"/>
                        </a:lnSpc>
                      </a:pPr>
                      <a:r>
                        <a:rPr lang="en-US" sz="2200" b="1" dirty="0">
                          <a:latin typeface="Calibir"/>
                        </a:rPr>
                        <a:t>Inheritance</a:t>
                      </a:r>
                      <a:endParaRPr lang="en-US" sz="2200" dirty="0">
                        <a:latin typeface="Calibir"/>
                      </a:endParaRPr>
                    </a:p>
                  </a:txBody>
                  <a:tcPr anchor="ctr"/>
                </a:tc>
                <a:tc>
                  <a:txBody>
                    <a:bodyPr/>
                    <a:lstStyle/>
                    <a:p>
                      <a:pPr>
                        <a:lnSpc>
                          <a:spcPct val="150000"/>
                        </a:lnSpc>
                      </a:pPr>
                      <a:r>
                        <a:rPr lang="en-US" sz="2200">
                          <a:latin typeface="Calibir"/>
                        </a:rPr>
                        <a:t>Share code from one class to another</a:t>
                      </a:r>
                    </a:p>
                  </a:txBody>
                  <a:tcPr anchor="ctr"/>
                </a:tc>
                <a:tc>
                  <a:txBody>
                    <a:bodyPr/>
                    <a:lstStyle/>
                    <a:p>
                      <a:pPr>
                        <a:lnSpc>
                          <a:spcPct val="150000"/>
                        </a:lnSpc>
                      </a:pPr>
                      <a:r>
                        <a:rPr lang="en-US" sz="2200">
                          <a:latin typeface="Calibir"/>
                        </a:rPr>
                        <a:t>Kids inherit their parents’ eye colour</a:t>
                      </a:r>
                    </a:p>
                  </a:txBody>
                  <a:tcPr anchor="ctr"/>
                </a:tc>
                <a:extLst>
                  <a:ext uri="{0D108BD9-81ED-4DB2-BD59-A6C34878D82A}">
                    <a16:rowId xmlns:a16="http://schemas.microsoft.com/office/drawing/2014/main" val="1555457844"/>
                  </a:ext>
                </a:extLst>
              </a:tr>
              <a:tr h="0">
                <a:tc>
                  <a:txBody>
                    <a:bodyPr/>
                    <a:lstStyle/>
                    <a:p>
                      <a:pPr>
                        <a:lnSpc>
                          <a:spcPct val="150000"/>
                        </a:lnSpc>
                      </a:pPr>
                      <a:r>
                        <a:rPr lang="en-US" sz="2200" b="1" dirty="0">
                          <a:latin typeface="Calibir"/>
                        </a:rPr>
                        <a:t>Polymorphism</a:t>
                      </a:r>
                      <a:endParaRPr lang="en-US" sz="2200" dirty="0">
                        <a:latin typeface="Calibir"/>
                      </a:endParaRPr>
                    </a:p>
                  </a:txBody>
                  <a:tcPr anchor="ctr"/>
                </a:tc>
                <a:tc>
                  <a:txBody>
                    <a:bodyPr/>
                    <a:lstStyle/>
                    <a:p>
                      <a:pPr>
                        <a:lnSpc>
                          <a:spcPct val="150000"/>
                        </a:lnSpc>
                      </a:pPr>
                      <a:r>
                        <a:rPr lang="en-US" sz="2200">
                          <a:latin typeface="Calibir"/>
                        </a:rPr>
                        <a:t>One word, different actions depending on the object</a:t>
                      </a:r>
                    </a:p>
                  </a:txBody>
                  <a:tcPr anchor="ctr"/>
                </a:tc>
                <a:tc>
                  <a:txBody>
                    <a:bodyPr/>
                    <a:lstStyle/>
                    <a:p>
                      <a:pPr>
                        <a:lnSpc>
                          <a:spcPct val="150000"/>
                        </a:lnSpc>
                      </a:pPr>
                      <a:r>
                        <a:rPr lang="en-US" sz="2200" dirty="0">
                          <a:latin typeface="Calibir"/>
                        </a:rPr>
                        <a:t>“Play” button on Spotify vs. radio</a:t>
                      </a:r>
                    </a:p>
                  </a:txBody>
                  <a:tcPr anchor="ctr"/>
                </a:tc>
                <a:extLst>
                  <a:ext uri="{0D108BD9-81ED-4DB2-BD59-A6C34878D82A}">
                    <a16:rowId xmlns:a16="http://schemas.microsoft.com/office/drawing/2014/main" val="3183620186"/>
                  </a:ext>
                </a:extLst>
              </a:tr>
            </a:tbl>
          </a:graphicData>
        </a:graphic>
      </p:graphicFrame>
    </p:spTree>
    <p:extLst>
      <p:ext uri="{BB962C8B-B14F-4D97-AF65-F5344CB8AC3E}">
        <p14:creationId xmlns:p14="http://schemas.microsoft.com/office/powerpoint/2010/main" val="335848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5956F-4875-18FB-0705-77F42FFC7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2D0CF-58D3-98BF-14A6-096EA366331B}"/>
              </a:ext>
            </a:extLst>
          </p:cNvPr>
          <p:cNvSpPr>
            <a:spLocks noGrp="1"/>
          </p:cNvSpPr>
          <p:nvPr>
            <p:ph type="title"/>
          </p:nvPr>
        </p:nvSpPr>
        <p:spPr>
          <a:xfrm>
            <a:off x="0" y="1"/>
            <a:ext cx="12192000" cy="672661"/>
          </a:xfrm>
        </p:spPr>
        <p:txBody>
          <a:bodyPr anchor="b">
            <a:normAutofit/>
          </a:bodyPr>
          <a:lstStyle/>
          <a:p>
            <a:r>
              <a:rPr lang="en-US" sz="4000" dirty="0">
                <a:latin typeface="Calibir"/>
              </a:rPr>
              <a:t>Abstraction</a:t>
            </a:r>
            <a:endParaRPr lang="en-AU" sz="4000" b="1" dirty="0">
              <a:latin typeface="Calibir"/>
            </a:endParaRPr>
          </a:p>
        </p:txBody>
      </p:sp>
      <p:sp>
        <p:nvSpPr>
          <p:cNvPr id="6" name="Rectangle 1">
            <a:extLst>
              <a:ext uri="{FF2B5EF4-FFF2-40B4-BE49-F238E27FC236}">
                <a16:creationId xmlns:a16="http://schemas.microsoft.com/office/drawing/2014/main" id="{1E3053E8-4E93-2425-32CC-63359B1D43F4}"/>
              </a:ext>
            </a:extLst>
          </p:cNvPr>
          <p:cNvSpPr>
            <a:spLocks noChangeArrowheads="1"/>
          </p:cNvSpPr>
          <p:nvPr/>
        </p:nvSpPr>
        <p:spPr bwMode="auto">
          <a:xfrm>
            <a:off x="0" y="672662"/>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Abstraction?</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It means hiding the complicated parts of something.</a:t>
            </a:r>
          </a:p>
          <a:p>
            <a:pPr marL="914400" lvl="1" indent="-457200">
              <a:lnSpc>
                <a:spcPct val="150000"/>
              </a:lnSpc>
              <a:buFont typeface="Arial" panose="020B0604020202020204" pitchFamily="34" charset="0"/>
              <a:buChar char="•"/>
            </a:pPr>
            <a:r>
              <a:rPr lang="en-US" sz="2800" dirty="0">
                <a:latin typeface="Calibir"/>
              </a:rPr>
              <a:t>You only show what’s needed, not how it works inside.</a:t>
            </a:r>
          </a:p>
          <a:p>
            <a:pPr marL="914400" lvl="1" indent="-457200">
              <a:lnSpc>
                <a:spcPct val="150000"/>
              </a:lnSpc>
              <a:buFont typeface="Arial" panose="020B0604020202020204" pitchFamily="34" charset="0"/>
              <a:buChar char="•"/>
            </a:pPr>
            <a:r>
              <a:rPr lang="en-US" sz="2800" dirty="0">
                <a:latin typeface="Calibir"/>
              </a:rPr>
              <a:t>It helps people use things easily without getting confused by the details</a:t>
            </a:r>
          </a:p>
        </p:txBody>
      </p:sp>
    </p:spTree>
    <p:extLst>
      <p:ext uri="{BB962C8B-B14F-4D97-AF65-F5344CB8AC3E}">
        <p14:creationId xmlns:p14="http://schemas.microsoft.com/office/powerpoint/2010/main" val="229814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3DEEE-1266-8394-2E0B-A1F83A9B3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728FB-028F-72F2-8AC2-CA112433B7D9}"/>
              </a:ext>
            </a:extLst>
          </p:cNvPr>
          <p:cNvSpPr>
            <a:spLocks noGrp="1"/>
          </p:cNvSpPr>
          <p:nvPr>
            <p:ph type="title"/>
          </p:nvPr>
        </p:nvSpPr>
        <p:spPr>
          <a:xfrm>
            <a:off x="0" y="1"/>
            <a:ext cx="12192000" cy="672661"/>
          </a:xfrm>
        </p:spPr>
        <p:txBody>
          <a:bodyPr anchor="b">
            <a:normAutofit/>
          </a:bodyPr>
          <a:lstStyle/>
          <a:p>
            <a:r>
              <a:rPr lang="en-US" sz="4000" dirty="0">
                <a:latin typeface="Calibir"/>
              </a:rPr>
              <a:t>Abstraction</a:t>
            </a:r>
            <a:endParaRPr lang="en-AU" sz="4000" b="1" dirty="0">
              <a:latin typeface="Calibir"/>
            </a:endParaRPr>
          </a:p>
        </p:txBody>
      </p:sp>
      <p:sp>
        <p:nvSpPr>
          <p:cNvPr id="6" name="Rectangle 1">
            <a:extLst>
              <a:ext uri="{FF2B5EF4-FFF2-40B4-BE49-F238E27FC236}">
                <a16:creationId xmlns:a16="http://schemas.microsoft.com/office/drawing/2014/main" id="{D6F133D3-57FA-6D9D-4150-5F143872D48F}"/>
              </a:ext>
            </a:extLst>
          </p:cNvPr>
          <p:cNvSpPr>
            <a:spLocks noChangeArrowheads="1"/>
          </p:cNvSpPr>
          <p:nvPr/>
        </p:nvSpPr>
        <p:spPr bwMode="auto">
          <a:xfrm>
            <a:off x="0" y="1800413"/>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Two Types of Abstraction:</a:t>
            </a:r>
            <a:endParaRPr lang="en-US" altLang="en-US" sz="2800" dirty="0">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Data abstraction</a:t>
            </a:r>
            <a:r>
              <a:rPr lang="en-US" altLang="en-US" sz="2800" dirty="0">
                <a:latin typeface="Calibir"/>
              </a:rPr>
              <a:t> → Hide the variable itself, just show the value</a:t>
            </a:r>
            <a:br>
              <a:rPr lang="en-US" altLang="en-US" sz="2800" dirty="0">
                <a:latin typeface="Calibir"/>
              </a:rPr>
            </a:br>
            <a:r>
              <a:rPr lang="en-US" altLang="en-US" sz="2800" i="1" dirty="0">
                <a:latin typeface="Calibir"/>
              </a:rPr>
              <a:t>(e.g., you see your bank balance, not how it's stored in code)</a:t>
            </a:r>
            <a:endParaRPr lang="en-US" altLang="en-US" sz="2800" dirty="0">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Function abstraction</a:t>
            </a:r>
            <a:r>
              <a:rPr lang="en-US" altLang="en-US" sz="2800" dirty="0">
                <a:latin typeface="Calibir"/>
              </a:rPr>
              <a:t> → Hide the code, just use the function</a:t>
            </a:r>
            <a:br>
              <a:rPr lang="en-US" altLang="en-US" sz="2800" dirty="0">
                <a:latin typeface="Calibir"/>
              </a:rPr>
            </a:br>
            <a:r>
              <a:rPr lang="en-US" altLang="en-US" sz="2800" i="1" dirty="0">
                <a:latin typeface="Calibir"/>
              </a:rPr>
              <a:t>(e.g., use withdraw() without seeing how it works inside)</a:t>
            </a:r>
            <a:endParaRPr lang="en-US" altLang="en-US" sz="2800" dirty="0">
              <a:latin typeface="Calibir"/>
            </a:endParaRPr>
          </a:p>
        </p:txBody>
      </p:sp>
    </p:spTree>
    <p:extLst>
      <p:ext uri="{BB962C8B-B14F-4D97-AF65-F5344CB8AC3E}">
        <p14:creationId xmlns:p14="http://schemas.microsoft.com/office/powerpoint/2010/main" val="3531573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5F263-594B-787F-8500-320D22B36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D6ED4-5728-41FB-1D3A-6B9380A658EE}"/>
              </a:ext>
            </a:extLst>
          </p:cNvPr>
          <p:cNvSpPr>
            <a:spLocks noGrp="1"/>
          </p:cNvSpPr>
          <p:nvPr>
            <p:ph type="title"/>
          </p:nvPr>
        </p:nvSpPr>
        <p:spPr>
          <a:xfrm>
            <a:off x="0" y="1"/>
            <a:ext cx="12192000" cy="672661"/>
          </a:xfrm>
        </p:spPr>
        <p:txBody>
          <a:bodyPr anchor="b">
            <a:normAutofit/>
          </a:bodyPr>
          <a:lstStyle/>
          <a:p>
            <a:r>
              <a:rPr lang="en-US" sz="4000" dirty="0">
                <a:latin typeface="Calibir"/>
              </a:rPr>
              <a:t>Abstraction</a:t>
            </a:r>
            <a:endParaRPr lang="en-AU" sz="4000" b="1" dirty="0">
              <a:latin typeface="Calibir"/>
            </a:endParaRPr>
          </a:p>
        </p:txBody>
      </p:sp>
      <p:sp>
        <p:nvSpPr>
          <p:cNvPr id="6" name="Rectangle 1">
            <a:extLst>
              <a:ext uri="{FF2B5EF4-FFF2-40B4-BE49-F238E27FC236}">
                <a16:creationId xmlns:a16="http://schemas.microsoft.com/office/drawing/2014/main" id="{69DE5EB5-56A3-0CF7-EC6D-8B8326D4EE73}"/>
              </a:ext>
            </a:extLst>
          </p:cNvPr>
          <p:cNvSpPr>
            <a:spLocks noChangeArrowheads="1"/>
          </p:cNvSpPr>
          <p:nvPr/>
        </p:nvSpPr>
        <p:spPr bwMode="auto">
          <a:xfrm>
            <a:off x="0" y="2123578"/>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Real-World Example (Australia):</a:t>
            </a:r>
          </a:p>
          <a:p>
            <a:pPr lvl="0" eaLnBrk="0" fontAlgn="base" hangingPunct="0">
              <a:lnSpc>
                <a:spcPct val="150000"/>
              </a:lnSpc>
              <a:spcBef>
                <a:spcPct val="0"/>
              </a:spcBef>
              <a:spcAft>
                <a:spcPct val="0"/>
              </a:spcAft>
            </a:pPr>
            <a:r>
              <a:rPr lang="en-US" altLang="en-US" sz="2800" dirty="0">
                <a:latin typeface="Calibir"/>
              </a:rPr>
              <a:t>When you use an ATM, you don’t care how it connects to your bank.</a:t>
            </a:r>
            <a:br>
              <a:rPr lang="en-US" altLang="en-US" sz="2800" dirty="0">
                <a:latin typeface="Calibir"/>
              </a:rPr>
            </a:br>
            <a:r>
              <a:rPr lang="en-US" altLang="en-US" sz="2800" dirty="0">
                <a:latin typeface="Calibir"/>
              </a:rPr>
              <a:t>You just enter your PIN, choose an amount, and get your cash.</a:t>
            </a:r>
            <a:br>
              <a:rPr lang="en-US" altLang="en-US" sz="2800" dirty="0">
                <a:latin typeface="Calibir"/>
              </a:rPr>
            </a:br>
            <a:r>
              <a:rPr lang="en-US" altLang="en-US" sz="2800" dirty="0">
                <a:latin typeface="Calibir"/>
              </a:rPr>
              <a:t>That’s abstraction — using it without knowing the details.</a:t>
            </a:r>
          </a:p>
        </p:txBody>
      </p:sp>
    </p:spTree>
    <p:extLst>
      <p:ext uri="{BB962C8B-B14F-4D97-AF65-F5344CB8AC3E}">
        <p14:creationId xmlns:p14="http://schemas.microsoft.com/office/powerpoint/2010/main" val="290181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B914-7014-3BD6-1AA2-B9BBD6333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60B01-E78F-CA77-5751-8C915AB2F059}"/>
              </a:ext>
            </a:extLst>
          </p:cNvPr>
          <p:cNvSpPr>
            <a:spLocks noGrp="1"/>
          </p:cNvSpPr>
          <p:nvPr>
            <p:ph type="title"/>
          </p:nvPr>
        </p:nvSpPr>
        <p:spPr>
          <a:xfrm>
            <a:off x="0" y="1"/>
            <a:ext cx="12192000" cy="672661"/>
          </a:xfrm>
        </p:spPr>
        <p:txBody>
          <a:bodyPr anchor="b">
            <a:normAutofit/>
          </a:bodyPr>
          <a:lstStyle/>
          <a:p>
            <a:r>
              <a:rPr lang="en-US" sz="4000" dirty="0">
                <a:latin typeface="Calibir"/>
              </a:rPr>
              <a:t>Using Abstraction in Java with Animal Example</a:t>
            </a:r>
            <a:endParaRPr lang="en-AU" sz="4000" b="1" dirty="0">
              <a:latin typeface="Calibir"/>
            </a:endParaRPr>
          </a:p>
        </p:txBody>
      </p:sp>
      <p:sp>
        <p:nvSpPr>
          <p:cNvPr id="6" name="Rectangle 1">
            <a:extLst>
              <a:ext uri="{FF2B5EF4-FFF2-40B4-BE49-F238E27FC236}">
                <a16:creationId xmlns:a16="http://schemas.microsoft.com/office/drawing/2014/main" id="{FDADA05F-2AE9-1FA2-8CEE-11444ABB4499}"/>
              </a:ext>
            </a:extLst>
          </p:cNvPr>
          <p:cNvSpPr>
            <a:spLocks noChangeArrowheads="1"/>
          </p:cNvSpPr>
          <p:nvPr/>
        </p:nvSpPr>
        <p:spPr bwMode="auto">
          <a:xfrm>
            <a:off x="7905135" y="818157"/>
            <a:ext cx="4286865"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This code shows how abstraction works in Java using an abstract class called Animal.</a:t>
            </a:r>
          </a:p>
        </p:txBody>
      </p:sp>
      <p:sp>
        <p:nvSpPr>
          <p:cNvPr id="7" name="TextBox 6">
            <a:extLst>
              <a:ext uri="{FF2B5EF4-FFF2-40B4-BE49-F238E27FC236}">
                <a16:creationId xmlns:a16="http://schemas.microsoft.com/office/drawing/2014/main" id="{7AC0996E-557C-C9E1-7310-4C219C1F924C}"/>
              </a:ext>
            </a:extLst>
          </p:cNvPr>
          <p:cNvSpPr txBox="1"/>
          <p:nvPr/>
        </p:nvSpPr>
        <p:spPr>
          <a:xfrm>
            <a:off x="0" y="786367"/>
            <a:ext cx="7905135" cy="3416320"/>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abstract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Animal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abstract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extends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Animal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4FC1FF"/>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"Bark!"</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static</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main</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args</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new</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Create an object of Dog</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dog</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Call the method</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D18C671E-38D7-B9C9-BC24-5EA6338254DA}"/>
              </a:ext>
            </a:extLst>
          </p:cNvPr>
          <p:cNvSpPr txBox="1"/>
          <p:nvPr/>
        </p:nvSpPr>
        <p:spPr>
          <a:xfrm>
            <a:off x="0" y="4202687"/>
            <a:ext cx="9419303"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The Dog class extends Animal and provides its own version of the </a:t>
            </a:r>
            <a:r>
              <a:rPr lang="en-US" altLang="en-US" sz="2800" dirty="0" err="1">
                <a:latin typeface="Calibir"/>
              </a:rPr>
              <a:t>makeSound</a:t>
            </a:r>
            <a:r>
              <a:rPr lang="en-US" altLang="en-US" sz="2800" dirty="0">
                <a:latin typeface="Calibir"/>
              </a:rPr>
              <a:t>() method.</a:t>
            </a:r>
            <a:br>
              <a:rPr lang="en-US" altLang="en-US" sz="2800" dirty="0">
                <a:latin typeface="Calibir"/>
              </a:rPr>
            </a:br>
            <a:r>
              <a:rPr lang="en-US" altLang="en-US" sz="2800" dirty="0">
                <a:latin typeface="Calibir"/>
              </a:rPr>
              <a:t>The main() method creates a Dog object and calls its sound method to print "Bark!". </a:t>
            </a:r>
          </a:p>
        </p:txBody>
      </p:sp>
      <p:pic>
        <p:nvPicPr>
          <p:cNvPr id="10" name="Picture 9">
            <a:extLst>
              <a:ext uri="{FF2B5EF4-FFF2-40B4-BE49-F238E27FC236}">
                <a16:creationId xmlns:a16="http://schemas.microsoft.com/office/drawing/2014/main" id="{7F0CDEEA-EB04-10C1-8414-FD8AD2104F95}"/>
              </a:ext>
            </a:extLst>
          </p:cNvPr>
          <p:cNvPicPr>
            <a:picLocks noChangeAspect="1"/>
          </p:cNvPicPr>
          <p:nvPr/>
        </p:nvPicPr>
        <p:blipFill>
          <a:blip r:embed="rId2"/>
          <a:srcRect l="53105" t="58064" r="24153" b="13549"/>
          <a:stretch>
            <a:fillRect/>
          </a:stretch>
        </p:blipFill>
        <p:spPr>
          <a:xfrm>
            <a:off x="9419303" y="4866743"/>
            <a:ext cx="2772697" cy="1946787"/>
          </a:xfrm>
          <a:prstGeom prst="rect">
            <a:avLst/>
          </a:prstGeom>
        </p:spPr>
      </p:pic>
      <p:cxnSp>
        <p:nvCxnSpPr>
          <p:cNvPr id="12" name="Connector: Elbow 11">
            <a:extLst>
              <a:ext uri="{FF2B5EF4-FFF2-40B4-BE49-F238E27FC236}">
                <a16:creationId xmlns:a16="http://schemas.microsoft.com/office/drawing/2014/main" id="{F16F7A99-5036-2BE5-6F23-5493C37C704D}"/>
              </a:ext>
            </a:extLst>
          </p:cNvPr>
          <p:cNvCxnSpPr>
            <a:endCxn id="10" idx="0"/>
          </p:cNvCxnSpPr>
          <p:nvPr/>
        </p:nvCxnSpPr>
        <p:spPr>
          <a:xfrm>
            <a:off x="7905135" y="3893574"/>
            <a:ext cx="2900517" cy="973169"/>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738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818B-CEFB-AE7C-CD89-5CBCA9D9F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AD771-0363-A929-4D5B-5ED1DCF6DAFB}"/>
              </a:ext>
            </a:extLst>
          </p:cNvPr>
          <p:cNvSpPr>
            <a:spLocks noGrp="1"/>
          </p:cNvSpPr>
          <p:nvPr>
            <p:ph type="title"/>
          </p:nvPr>
        </p:nvSpPr>
        <p:spPr>
          <a:xfrm>
            <a:off x="0" y="1"/>
            <a:ext cx="12192000" cy="672661"/>
          </a:xfrm>
        </p:spPr>
        <p:txBody>
          <a:bodyPr anchor="b">
            <a:normAutofit/>
          </a:bodyPr>
          <a:lstStyle/>
          <a:p>
            <a:r>
              <a:rPr lang="en-US" sz="4000" dirty="0">
                <a:latin typeface="Calibir"/>
              </a:rPr>
              <a:t>Using Abstraction in Java with Animal Example</a:t>
            </a:r>
            <a:endParaRPr lang="en-AU" sz="4000" b="1" dirty="0">
              <a:latin typeface="Calibir"/>
            </a:endParaRPr>
          </a:p>
        </p:txBody>
      </p:sp>
      <p:sp>
        <p:nvSpPr>
          <p:cNvPr id="7" name="TextBox 6">
            <a:extLst>
              <a:ext uri="{FF2B5EF4-FFF2-40B4-BE49-F238E27FC236}">
                <a16:creationId xmlns:a16="http://schemas.microsoft.com/office/drawing/2014/main" id="{DD8CB699-E4CF-962F-DF1D-5DAF79266B96}"/>
              </a:ext>
            </a:extLst>
          </p:cNvPr>
          <p:cNvSpPr txBox="1"/>
          <p:nvPr/>
        </p:nvSpPr>
        <p:spPr>
          <a:xfrm>
            <a:off x="0" y="786367"/>
            <a:ext cx="7905135" cy="3416320"/>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abstract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Animal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abstract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extends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Animal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4FC1FF"/>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"Bark!"</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static</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main</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args</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new</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Dog</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Create an object of Dog</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dog</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makeSound</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Call the method</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BDFDC60A-6C56-DDF8-ECAA-4851220368AF}"/>
              </a:ext>
            </a:extLst>
          </p:cNvPr>
          <p:cNvSpPr txBox="1"/>
          <p:nvPr/>
        </p:nvSpPr>
        <p:spPr>
          <a:xfrm>
            <a:off x="0" y="4202687"/>
            <a:ext cx="9419303"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i="1" dirty="0">
                <a:latin typeface="Calibir"/>
              </a:rPr>
              <a:t>In short:</a:t>
            </a:r>
            <a:br>
              <a:rPr lang="en-US" altLang="en-US" sz="2800" dirty="0">
                <a:latin typeface="Calibir"/>
              </a:rPr>
            </a:br>
            <a:r>
              <a:rPr lang="en-US" altLang="en-US" sz="2800" dirty="0">
                <a:latin typeface="Calibir"/>
              </a:rPr>
              <a:t>It hides the general idea (</a:t>
            </a:r>
            <a:r>
              <a:rPr lang="en-US" altLang="en-US" sz="2800" dirty="0" err="1">
                <a:latin typeface="Calibir"/>
              </a:rPr>
              <a:t>makeSound</a:t>
            </a:r>
            <a:r>
              <a:rPr lang="en-US" altLang="en-US" sz="2800" dirty="0">
                <a:latin typeface="Calibir"/>
              </a:rPr>
              <a:t>) in the Animal class and lets the Dog class decide how to make the sound — this is abstraction in action. </a:t>
            </a:r>
          </a:p>
        </p:txBody>
      </p:sp>
      <p:pic>
        <p:nvPicPr>
          <p:cNvPr id="10" name="Picture 9">
            <a:extLst>
              <a:ext uri="{FF2B5EF4-FFF2-40B4-BE49-F238E27FC236}">
                <a16:creationId xmlns:a16="http://schemas.microsoft.com/office/drawing/2014/main" id="{D2270B01-F3C6-D71C-36DF-FFBE26E57F27}"/>
              </a:ext>
            </a:extLst>
          </p:cNvPr>
          <p:cNvPicPr>
            <a:picLocks noChangeAspect="1"/>
          </p:cNvPicPr>
          <p:nvPr/>
        </p:nvPicPr>
        <p:blipFill>
          <a:blip r:embed="rId2"/>
          <a:srcRect l="53105" t="58064" r="24153" b="13549"/>
          <a:stretch>
            <a:fillRect/>
          </a:stretch>
        </p:blipFill>
        <p:spPr>
          <a:xfrm>
            <a:off x="9419303" y="4866743"/>
            <a:ext cx="2772697" cy="1946787"/>
          </a:xfrm>
          <a:prstGeom prst="rect">
            <a:avLst/>
          </a:prstGeom>
        </p:spPr>
      </p:pic>
      <p:cxnSp>
        <p:nvCxnSpPr>
          <p:cNvPr id="12" name="Connector: Elbow 11">
            <a:extLst>
              <a:ext uri="{FF2B5EF4-FFF2-40B4-BE49-F238E27FC236}">
                <a16:creationId xmlns:a16="http://schemas.microsoft.com/office/drawing/2014/main" id="{84F25A60-B477-C33C-D38C-B9E5732CFCA2}"/>
              </a:ext>
            </a:extLst>
          </p:cNvPr>
          <p:cNvCxnSpPr>
            <a:endCxn id="10" idx="0"/>
          </p:cNvCxnSpPr>
          <p:nvPr/>
        </p:nvCxnSpPr>
        <p:spPr>
          <a:xfrm>
            <a:off x="7905135" y="3893574"/>
            <a:ext cx="2900517" cy="973169"/>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217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C91D1-929E-F829-74A5-6821F9955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69D4B-D061-9EAF-7AC5-CE0D41BE5929}"/>
              </a:ext>
            </a:extLst>
          </p:cNvPr>
          <p:cNvSpPr>
            <a:spLocks noGrp="1"/>
          </p:cNvSpPr>
          <p:nvPr>
            <p:ph type="title"/>
          </p:nvPr>
        </p:nvSpPr>
        <p:spPr>
          <a:xfrm>
            <a:off x="0" y="1"/>
            <a:ext cx="12192000" cy="672661"/>
          </a:xfrm>
        </p:spPr>
        <p:txBody>
          <a:bodyPr anchor="b">
            <a:normAutofit/>
          </a:bodyPr>
          <a:lstStyle/>
          <a:p>
            <a:r>
              <a:rPr lang="en-US" sz="4000" dirty="0">
                <a:latin typeface="Calibir"/>
              </a:rPr>
              <a:t>Encapsulation</a:t>
            </a:r>
            <a:endParaRPr lang="en-AU" sz="4000" b="1" dirty="0">
              <a:latin typeface="Calibir"/>
            </a:endParaRPr>
          </a:p>
        </p:txBody>
      </p:sp>
      <p:sp>
        <p:nvSpPr>
          <p:cNvPr id="4" name="TextBox 3">
            <a:extLst>
              <a:ext uri="{FF2B5EF4-FFF2-40B4-BE49-F238E27FC236}">
                <a16:creationId xmlns:a16="http://schemas.microsoft.com/office/drawing/2014/main" id="{0BC98F7B-415B-79A3-A9BA-2C28A4E2B8D2}"/>
              </a:ext>
            </a:extLst>
          </p:cNvPr>
          <p:cNvSpPr txBox="1"/>
          <p:nvPr/>
        </p:nvSpPr>
        <p:spPr>
          <a:xfrm>
            <a:off x="0" y="1150374"/>
            <a:ext cx="11975690" cy="3257174"/>
          </a:xfrm>
          <a:prstGeom prst="rect">
            <a:avLst/>
          </a:prstGeom>
          <a:noFill/>
        </p:spPr>
        <p:txBody>
          <a:bodyPr wrap="square">
            <a:spAutoFit/>
          </a:bodyPr>
          <a:lstStyle/>
          <a:p>
            <a:pPr>
              <a:lnSpc>
                <a:spcPct val="150000"/>
              </a:lnSpc>
              <a:buNone/>
            </a:pPr>
            <a:r>
              <a:rPr lang="en-US" sz="2800" b="1" dirty="0">
                <a:latin typeface="Calibir"/>
              </a:rPr>
              <a:t>What is Encapsulation?</a:t>
            </a:r>
          </a:p>
          <a:p>
            <a:pPr marL="457200" indent="-457200">
              <a:lnSpc>
                <a:spcPct val="150000"/>
              </a:lnSpc>
              <a:buFont typeface="Arial" panose="020B0604020202020204" pitchFamily="34" charset="0"/>
              <a:buChar char="•"/>
            </a:pPr>
            <a:r>
              <a:rPr lang="en-US" sz="2800" dirty="0">
                <a:latin typeface="Calibir"/>
              </a:rPr>
              <a:t>Put data and functions together in one class</a:t>
            </a:r>
          </a:p>
          <a:p>
            <a:pPr marL="457200" indent="-457200">
              <a:lnSpc>
                <a:spcPct val="150000"/>
              </a:lnSpc>
              <a:buFont typeface="Arial" panose="020B0604020202020204" pitchFamily="34" charset="0"/>
              <a:buChar char="•"/>
            </a:pPr>
            <a:r>
              <a:rPr lang="en-US" sz="2800" dirty="0">
                <a:latin typeface="Calibir"/>
              </a:rPr>
              <a:t>Hide the details (like private variables)</a:t>
            </a:r>
          </a:p>
          <a:p>
            <a:pPr marL="457200" indent="-457200">
              <a:lnSpc>
                <a:spcPct val="150000"/>
              </a:lnSpc>
              <a:buFont typeface="Arial" panose="020B0604020202020204" pitchFamily="34" charset="0"/>
              <a:buChar char="•"/>
            </a:pPr>
            <a:r>
              <a:rPr lang="en-US" sz="2800" dirty="0">
                <a:latin typeface="Calibir"/>
              </a:rPr>
              <a:t>Let other parts of the program access the data safely using public methods</a:t>
            </a:r>
          </a:p>
          <a:p>
            <a:pPr marL="457200" indent="-457200">
              <a:lnSpc>
                <a:spcPct val="150000"/>
              </a:lnSpc>
              <a:buFont typeface="Arial" panose="020B0604020202020204" pitchFamily="34" charset="0"/>
              <a:buChar char="•"/>
            </a:pPr>
            <a:r>
              <a:rPr lang="en-US" sz="2800" dirty="0">
                <a:latin typeface="Calibir"/>
              </a:rPr>
              <a:t>Keeps things safe, simple, and easy to manage</a:t>
            </a:r>
          </a:p>
        </p:txBody>
      </p:sp>
    </p:spTree>
    <p:extLst>
      <p:ext uri="{BB962C8B-B14F-4D97-AF65-F5344CB8AC3E}">
        <p14:creationId xmlns:p14="http://schemas.microsoft.com/office/powerpoint/2010/main" val="54137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4B70C-A362-5241-7B7A-8A738868B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5A332-F5E6-0AEA-4FA9-70C7DE9296C0}"/>
              </a:ext>
            </a:extLst>
          </p:cNvPr>
          <p:cNvSpPr>
            <a:spLocks noGrp="1"/>
          </p:cNvSpPr>
          <p:nvPr>
            <p:ph type="title"/>
          </p:nvPr>
        </p:nvSpPr>
        <p:spPr>
          <a:xfrm>
            <a:off x="0" y="1"/>
            <a:ext cx="12192000" cy="672661"/>
          </a:xfrm>
        </p:spPr>
        <p:txBody>
          <a:bodyPr anchor="b">
            <a:normAutofit/>
          </a:bodyPr>
          <a:lstStyle/>
          <a:p>
            <a:r>
              <a:rPr lang="en-US" sz="4000" dirty="0">
                <a:latin typeface="Calibir"/>
              </a:rPr>
              <a:t>Encapsulation</a:t>
            </a:r>
            <a:endParaRPr lang="en-AU" sz="4000" b="1" dirty="0">
              <a:latin typeface="Calibir"/>
            </a:endParaRPr>
          </a:p>
        </p:txBody>
      </p:sp>
      <p:sp>
        <p:nvSpPr>
          <p:cNvPr id="4" name="TextBox 3">
            <a:extLst>
              <a:ext uri="{FF2B5EF4-FFF2-40B4-BE49-F238E27FC236}">
                <a16:creationId xmlns:a16="http://schemas.microsoft.com/office/drawing/2014/main" id="{3DA48B3F-6F8F-521C-DCA4-77EBE135039E}"/>
              </a:ext>
            </a:extLst>
          </p:cNvPr>
          <p:cNvSpPr txBox="1"/>
          <p:nvPr/>
        </p:nvSpPr>
        <p:spPr>
          <a:xfrm>
            <a:off x="0" y="1150374"/>
            <a:ext cx="11975690"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Real-Life Analogy:</a:t>
            </a:r>
          </a:p>
          <a:p>
            <a:pPr lvl="0" eaLnBrk="0" fontAlgn="base" hangingPunct="0">
              <a:lnSpc>
                <a:spcPct val="150000"/>
              </a:lnSpc>
              <a:spcBef>
                <a:spcPct val="0"/>
              </a:spcBef>
              <a:spcAft>
                <a:spcPct val="0"/>
              </a:spcAft>
            </a:pPr>
            <a:r>
              <a:rPr lang="en-US" altLang="en-US" sz="2800" dirty="0">
                <a:latin typeface="Calibir"/>
              </a:rPr>
              <a:t>A capsule pill hides the medicine inside. You can take it, but not open or change it.</a:t>
            </a:r>
          </a:p>
          <a:p>
            <a:pPr lvl="0" eaLnBrk="0" fontAlgn="base" hangingPunct="0">
              <a:lnSpc>
                <a:spcPct val="150000"/>
              </a:lnSpc>
              <a:spcBef>
                <a:spcPct val="0"/>
              </a:spcBef>
              <a:spcAft>
                <a:spcPct val="0"/>
              </a:spcAft>
            </a:pPr>
            <a:r>
              <a:rPr lang="en-US" altLang="en-US" sz="2800" dirty="0">
                <a:latin typeface="Calibir"/>
              </a:rPr>
              <a:t>Australian Example:</a:t>
            </a:r>
          </a:p>
          <a:p>
            <a:pPr lvl="0" eaLnBrk="0" fontAlgn="base" hangingPunct="0">
              <a:lnSpc>
                <a:spcPct val="150000"/>
              </a:lnSpc>
              <a:spcBef>
                <a:spcPct val="0"/>
              </a:spcBef>
              <a:spcAft>
                <a:spcPct val="0"/>
              </a:spcAft>
            </a:pPr>
            <a:r>
              <a:rPr lang="en-US" altLang="en-US" sz="2800" dirty="0">
                <a:latin typeface="Calibir"/>
              </a:rPr>
              <a:t>You can see your Opal card balance — but you can't change the balance yourself.</a:t>
            </a:r>
          </a:p>
        </p:txBody>
      </p:sp>
    </p:spTree>
    <p:extLst>
      <p:ext uri="{BB962C8B-B14F-4D97-AF65-F5344CB8AC3E}">
        <p14:creationId xmlns:p14="http://schemas.microsoft.com/office/powerpoint/2010/main" val="2111883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2C3C2-69F6-1866-B82F-7FE62D14A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7F378-050E-784A-0C2A-AA7E5F00843B}"/>
              </a:ext>
            </a:extLst>
          </p:cNvPr>
          <p:cNvSpPr>
            <a:spLocks noGrp="1"/>
          </p:cNvSpPr>
          <p:nvPr>
            <p:ph type="title"/>
          </p:nvPr>
        </p:nvSpPr>
        <p:spPr>
          <a:xfrm>
            <a:off x="0" y="1"/>
            <a:ext cx="12192000" cy="672661"/>
          </a:xfrm>
        </p:spPr>
        <p:txBody>
          <a:bodyPr anchor="b">
            <a:normAutofit/>
          </a:bodyPr>
          <a:lstStyle/>
          <a:p>
            <a:r>
              <a:rPr lang="en-US" sz="4000" dirty="0">
                <a:latin typeface="Calibir"/>
              </a:rPr>
              <a:t>Encapsulation Example Account in Python</a:t>
            </a:r>
            <a:endParaRPr lang="en-AU" sz="4000" b="1" dirty="0">
              <a:latin typeface="Calibir"/>
            </a:endParaRPr>
          </a:p>
        </p:txBody>
      </p:sp>
      <p:sp>
        <p:nvSpPr>
          <p:cNvPr id="5" name="TextBox 4">
            <a:extLst>
              <a:ext uri="{FF2B5EF4-FFF2-40B4-BE49-F238E27FC236}">
                <a16:creationId xmlns:a16="http://schemas.microsoft.com/office/drawing/2014/main" id="{62B73F49-3B8A-356B-B40B-BE0E1927951A}"/>
              </a:ext>
            </a:extLst>
          </p:cNvPr>
          <p:cNvSpPr txBox="1"/>
          <p:nvPr/>
        </p:nvSpPr>
        <p:spPr>
          <a:xfrm>
            <a:off x="0" y="1209369"/>
            <a:ext cx="12192000" cy="2400657"/>
          </a:xfrm>
          <a:prstGeom prst="rect">
            <a:avLst/>
          </a:prstGeom>
          <a:solidFill>
            <a:schemeClr val="tx1"/>
          </a:solidFill>
        </p:spPr>
        <p:txBody>
          <a:bodyPr wrap="square">
            <a:spAutoFit/>
          </a:bodyPr>
          <a:lstStyle/>
          <a:p>
            <a:pPr>
              <a:buNone/>
            </a:pPr>
            <a:r>
              <a:rPr lang="en-US" sz="2500" b="0" dirty="0">
                <a:solidFill>
                  <a:srgbClr val="569CD6"/>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Account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__</a:t>
            </a:r>
            <a:r>
              <a:rPr lang="en-US" sz="2500" b="0" dirty="0" err="1">
                <a:solidFill>
                  <a:srgbClr val="DCDCAA"/>
                </a:solidFill>
                <a:effectLst/>
                <a:latin typeface="Consolas" panose="020B0609020204030204" pitchFamily="49" charset="0"/>
              </a:rPr>
              <a:t>init</a:t>
            </a:r>
            <a:r>
              <a:rPr lang="en-US" sz="2500" b="0" dirty="0">
                <a:solidFill>
                  <a:srgbClr val="DCDCAA"/>
                </a:solidFill>
                <a:effectLst/>
                <a:latin typeface="Consolas" panose="020B0609020204030204" pitchFamily="49" charset="0"/>
              </a:rPr>
              <a:t>__</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balance</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__balance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balance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Hidden (private)</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get_balance</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C586C0"/>
                </a:solidFill>
                <a:effectLst/>
                <a:latin typeface="Consolas" panose="020B0609020204030204" pitchFamily="49" charset="0"/>
              </a:rPr>
              <a:t>return</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__balance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Safe way to access balance</a:t>
            </a:r>
            <a:endParaRPr lang="en-US" sz="2500" b="0" dirty="0">
              <a:solidFill>
                <a:srgbClr val="CCCCCC"/>
              </a:solidFill>
              <a:effectLst/>
              <a:latin typeface="Consolas" panose="020B0609020204030204" pitchFamily="49" charset="0"/>
            </a:endParaRPr>
          </a:p>
        </p:txBody>
      </p:sp>
      <p:sp>
        <p:nvSpPr>
          <p:cNvPr id="6" name="Rectangle 1">
            <a:extLst>
              <a:ext uri="{FF2B5EF4-FFF2-40B4-BE49-F238E27FC236}">
                <a16:creationId xmlns:a16="http://schemas.microsoft.com/office/drawing/2014/main" id="{24679DE7-AA13-E2D7-36BD-215E096972F3}"/>
              </a:ext>
            </a:extLst>
          </p:cNvPr>
          <p:cNvSpPr>
            <a:spLocks noChangeArrowheads="1"/>
          </p:cNvSpPr>
          <p:nvPr/>
        </p:nvSpPr>
        <p:spPr bwMode="auto">
          <a:xfrm>
            <a:off x="0" y="3610026"/>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This code shows </a:t>
            </a:r>
            <a:r>
              <a:rPr kumimoji="0" lang="en-US" altLang="en-US" sz="2800" b="1" i="0" u="none" strike="noStrike" cap="none" normalizeH="0" baseline="0" dirty="0">
                <a:ln>
                  <a:noFill/>
                </a:ln>
                <a:solidFill>
                  <a:schemeClr val="tx1"/>
                </a:solidFill>
                <a:effectLst/>
                <a:latin typeface="Calibir"/>
              </a:rPr>
              <a:t>encapsulation</a:t>
            </a:r>
            <a:r>
              <a:rPr kumimoji="0" lang="en-US" altLang="en-US" sz="2800" b="0" i="0" u="none" strike="noStrike" cap="none" normalizeH="0" baseline="0" dirty="0">
                <a:ln>
                  <a:noFill/>
                </a:ln>
                <a:solidFill>
                  <a:schemeClr val="tx1"/>
                </a:solidFill>
                <a:effectLst/>
                <a:latin typeface="Calibir"/>
              </a:rPr>
              <a:t> by keeping the balance private and allowing access through a safe </a:t>
            </a:r>
            <a:r>
              <a:rPr kumimoji="0" lang="en-US" altLang="en-US" sz="2800" b="0" i="0" u="none" strike="noStrike" cap="none" normalizeH="0" baseline="0" dirty="0" err="1">
                <a:ln>
                  <a:noFill/>
                </a:ln>
                <a:solidFill>
                  <a:schemeClr val="tx1"/>
                </a:solidFill>
                <a:effectLst/>
                <a:latin typeface="Calibir"/>
              </a:rPr>
              <a:t>get_balance</a:t>
            </a:r>
            <a:r>
              <a:rPr kumimoji="0" lang="en-US" altLang="en-US" sz="2800" b="0" i="0" u="none" strike="noStrike" cap="none" normalizeH="0" baseline="0" dirty="0">
                <a:ln>
                  <a:noFill/>
                </a:ln>
                <a:solidFill>
                  <a:schemeClr val="tx1"/>
                </a:solidFill>
                <a:effectLst/>
                <a:latin typeface="Calibir"/>
              </a:rPr>
              <a:t>() method. </a:t>
            </a:r>
          </a:p>
        </p:txBody>
      </p:sp>
    </p:spTree>
    <p:extLst>
      <p:ext uri="{BB962C8B-B14F-4D97-AF65-F5344CB8AC3E}">
        <p14:creationId xmlns:p14="http://schemas.microsoft.com/office/powerpoint/2010/main" val="766416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8A178-1172-2869-9A12-E9A43ED95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46FFD-7EBD-7EC5-3F6A-58D19DDD7BD7}"/>
              </a:ext>
            </a:extLst>
          </p:cNvPr>
          <p:cNvSpPr>
            <a:spLocks noGrp="1"/>
          </p:cNvSpPr>
          <p:nvPr>
            <p:ph type="title"/>
          </p:nvPr>
        </p:nvSpPr>
        <p:spPr>
          <a:xfrm>
            <a:off x="0" y="1"/>
            <a:ext cx="12192000" cy="672661"/>
          </a:xfrm>
        </p:spPr>
        <p:txBody>
          <a:bodyPr anchor="b">
            <a:normAutofit/>
          </a:bodyPr>
          <a:lstStyle/>
          <a:p>
            <a:r>
              <a:rPr lang="en-US" sz="4000" dirty="0">
                <a:latin typeface="Calibir"/>
              </a:rPr>
              <a:t>Inheritance</a:t>
            </a:r>
            <a:endParaRPr lang="en-AU" sz="4000" b="1" dirty="0">
              <a:latin typeface="Calibir"/>
            </a:endParaRPr>
          </a:p>
        </p:txBody>
      </p:sp>
      <p:sp>
        <p:nvSpPr>
          <p:cNvPr id="4" name="TextBox 3">
            <a:extLst>
              <a:ext uri="{FF2B5EF4-FFF2-40B4-BE49-F238E27FC236}">
                <a16:creationId xmlns:a16="http://schemas.microsoft.com/office/drawing/2014/main" id="{FCA36C47-49A8-DA2B-0CB0-7232C6D834CA}"/>
              </a:ext>
            </a:extLst>
          </p:cNvPr>
          <p:cNvSpPr txBox="1"/>
          <p:nvPr/>
        </p:nvSpPr>
        <p:spPr>
          <a:xfrm>
            <a:off x="0" y="1578078"/>
            <a:ext cx="11975690" cy="2610843"/>
          </a:xfrm>
          <a:prstGeom prst="rect">
            <a:avLst/>
          </a:prstGeom>
          <a:noFill/>
        </p:spPr>
        <p:txBody>
          <a:bodyPr wrap="square">
            <a:spAutoFit/>
          </a:bodyPr>
          <a:lstStyle/>
          <a:p>
            <a:pPr>
              <a:lnSpc>
                <a:spcPct val="150000"/>
              </a:lnSpc>
              <a:buNone/>
            </a:pPr>
            <a:r>
              <a:rPr lang="en-US" sz="2800" b="1" dirty="0">
                <a:latin typeface="Calibir"/>
              </a:rPr>
              <a:t>What is Inheritance?</a:t>
            </a:r>
          </a:p>
          <a:p>
            <a:pPr marL="457200" indent="-457200">
              <a:lnSpc>
                <a:spcPct val="150000"/>
              </a:lnSpc>
              <a:buFont typeface="Arial" panose="020B0604020202020204" pitchFamily="34" charset="0"/>
              <a:buChar char="•"/>
            </a:pPr>
            <a:r>
              <a:rPr lang="en-US" sz="2800" dirty="0">
                <a:latin typeface="Calibir"/>
              </a:rPr>
              <a:t>One class gets features (methods and variables) from another</a:t>
            </a:r>
          </a:p>
          <a:p>
            <a:pPr marL="457200" indent="-457200">
              <a:lnSpc>
                <a:spcPct val="150000"/>
              </a:lnSpc>
              <a:buFont typeface="Arial" panose="020B0604020202020204" pitchFamily="34" charset="0"/>
              <a:buChar char="•"/>
            </a:pPr>
            <a:r>
              <a:rPr lang="en-US" sz="2800" dirty="0">
                <a:latin typeface="Calibir"/>
              </a:rPr>
              <a:t>Helps you reuse code instead of writing it again</a:t>
            </a:r>
          </a:p>
          <a:p>
            <a:pPr marL="457200" indent="-457200">
              <a:lnSpc>
                <a:spcPct val="150000"/>
              </a:lnSpc>
              <a:buFont typeface="Arial" panose="020B0604020202020204" pitchFamily="34" charset="0"/>
              <a:buChar char="•"/>
            </a:pPr>
            <a:r>
              <a:rPr lang="en-US" sz="2800" dirty="0">
                <a:latin typeface="Calibir"/>
              </a:rPr>
              <a:t>Makes programs easier to manage and extend</a:t>
            </a:r>
          </a:p>
        </p:txBody>
      </p:sp>
    </p:spTree>
    <p:extLst>
      <p:ext uri="{BB962C8B-B14F-4D97-AF65-F5344CB8AC3E}">
        <p14:creationId xmlns:p14="http://schemas.microsoft.com/office/powerpoint/2010/main" val="357711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B3DE-5C3F-A2AB-5AB1-391F6A7C5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BFE6C-1E8C-1229-E826-8C5E7C2BFF44}"/>
              </a:ext>
            </a:extLst>
          </p:cNvPr>
          <p:cNvSpPr>
            <a:spLocks noGrp="1"/>
          </p:cNvSpPr>
          <p:nvPr>
            <p:ph type="title"/>
          </p:nvPr>
        </p:nvSpPr>
        <p:spPr>
          <a:xfrm>
            <a:off x="0" y="1"/>
            <a:ext cx="12192000" cy="672661"/>
          </a:xfrm>
        </p:spPr>
        <p:txBody>
          <a:bodyPr anchor="b">
            <a:normAutofit/>
          </a:bodyPr>
          <a:lstStyle/>
          <a:p>
            <a:r>
              <a:rPr lang="en-US" sz="4000" dirty="0">
                <a:latin typeface="Calibir"/>
              </a:rPr>
              <a:t>Inheritance</a:t>
            </a:r>
            <a:endParaRPr lang="en-AU" sz="4000" b="1" dirty="0">
              <a:latin typeface="Calibir"/>
            </a:endParaRPr>
          </a:p>
        </p:txBody>
      </p:sp>
      <p:sp>
        <p:nvSpPr>
          <p:cNvPr id="4" name="TextBox 3">
            <a:extLst>
              <a:ext uri="{FF2B5EF4-FFF2-40B4-BE49-F238E27FC236}">
                <a16:creationId xmlns:a16="http://schemas.microsoft.com/office/drawing/2014/main" id="{AAA4F8A9-6E0A-72C7-13CF-4E99653438D0}"/>
              </a:ext>
            </a:extLst>
          </p:cNvPr>
          <p:cNvSpPr txBox="1"/>
          <p:nvPr/>
        </p:nvSpPr>
        <p:spPr>
          <a:xfrm>
            <a:off x="0" y="1106129"/>
            <a:ext cx="11975690" cy="1964512"/>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Real-Life Analogy:</a:t>
            </a:r>
          </a:p>
          <a:p>
            <a:pPr lvl="0" eaLnBrk="0" fontAlgn="base" hangingPunct="0">
              <a:lnSpc>
                <a:spcPct val="150000"/>
              </a:lnSpc>
              <a:spcBef>
                <a:spcPct val="0"/>
              </a:spcBef>
              <a:spcAft>
                <a:spcPct val="0"/>
              </a:spcAft>
            </a:pPr>
            <a:r>
              <a:rPr lang="en-US" altLang="en-US" sz="2800" dirty="0">
                <a:latin typeface="Calibir"/>
              </a:rPr>
              <a:t>A Cashier is a Person. A Manager is also a Person.</a:t>
            </a:r>
            <a:br>
              <a:rPr lang="en-US" altLang="en-US" sz="2800" dirty="0">
                <a:latin typeface="Calibir"/>
              </a:rPr>
            </a:br>
            <a:r>
              <a:rPr lang="en-US" altLang="en-US" sz="2800" dirty="0">
                <a:latin typeface="Calibir"/>
              </a:rPr>
              <a:t>They all share things like name and age but have their own tasks too.</a:t>
            </a:r>
          </a:p>
        </p:txBody>
      </p:sp>
      <p:sp>
        <p:nvSpPr>
          <p:cNvPr id="6" name="TextBox 5">
            <a:extLst>
              <a:ext uri="{FF2B5EF4-FFF2-40B4-BE49-F238E27FC236}">
                <a16:creationId xmlns:a16="http://schemas.microsoft.com/office/drawing/2014/main" id="{A44D4A25-E485-3E5A-B640-5D74532672C3}"/>
              </a:ext>
            </a:extLst>
          </p:cNvPr>
          <p:cNvSpPr txBox="1"/>
          <p:nvPr/>
        </p:nvSpPr>
        <p:spPr>
          <a:xfrm>
            <a:off x="0" y="3504108"/>
            <a:ext cx="11975690" cy="1964512"/>
          </a:xfrm>
          <a:prstGeom prst="rect">
            <a:avLst/>
          </a:prstGeom>
          <a:noFill/>
        </p:spPr>
        <p:txBody>
          <a:bodyPr wrap="square">
            <a:spAutoFit/>
          </a:bodyPr>
          <a:lstStyle/>
          <a:p>
            <a:pPr>
              <a:lnSpc>
                <a:spcPct val="150000"/>
              </a:lnSpc>
              <a:buNone/>
            </a:pPr>
            <a:r>
              <a:rPr lang="en-US" sz="2800" b="1" dirty="0">
                <a:latin typeface="Calibir"/>
              </a:rPr>
              <a:t>Rules:</a:t>
            </a:r>
          </a:p>
          <a:p>
            <a:pPr marL="457200" indent="-457200">
              <a:lnSpc>
                <a:spcPct val="150000"/>
              </a:lnSpc>
              <a:buFont typeface="Arial" panose="020B0604020202020204" pitchFamily="34" charset="0"/>
              <a:buChar char="•"/>
            </a:pPr>
            <a:r>
              <a:rPr lang="en-US" sz="2800" dirty="0">
                <a:latin typeface="Calibir"/>
              </a:rPr>
              <a:t>A child class can use everything from its parent class</a:t>
            </a:r>
          </a:p>
          <a:p>
            <a:pPr marL="457200" indent="-457200">
              <a:lnSpc>
                <a:spcPct val="150000"/>
              </a:lnSpc>
              <a:buFont typeface="Arial" panose="020B0604020202020204" pitchFamily="34" charset="0"/>
              <a:buChar char="•"/>
            </a:pPr>
            <a:r>
              <a:rPr lang="en-US" sz="2800" dirty="0">
                <a:latin typeface="Calibir"/>
              </a:rPr>
              <a:t>It can also change or add its own methods</a:t>
            </a:r>
          </a:p>
        </p:txBody>
      </p:sp>
    </p:spTree>
    <p:extLst>
      <p:ext uri="{BB962C8B-B14F-4D97-AF65-F5344CB8AC3E}">
        <p14:creationId xmlns:p14="http://schemas.microsoft.com/office/powerpoint/2010/main" val="87321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6F86B-3F63-33E6-3858-EC49F626F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D943A-68FE-E602-C331-533B79C7A8C4}"/>
              </a:ext>
            </a:extLst>
          </p:cNvPr>
          <p:cNvSpPr>
            <a:spLocks noGrp="1"/>
          </p:cNvSpPr>
          <p:nvPr>
            <p:ph type="title"/>
          </p:nvPr>
        </p:nvSpPr>
        <p:spPr>
          <a:xfrm>
            <a:off x="0" y="1"/>
            <a:ext cx="12192000" cy="672661"/>
          </a:xfrm>
        </p:spPr>
        <p:txBody>
          <a:bodyPr anchor="b">
            <a:normAutofit/>
          </a:bodyPr>
          <a:lstStyle/>
          <a:p>
            <a:r>
              <a:rPr lang="en-US" sz="4000" dirty="0">
                <a:latin typeface="Calibir"/>
              </a:rPr>
              <a:t>Inheritance kangaroo example in Java</a:t>
            </a:r>
            <a:endParaRPr lang="en-AU" sz="4000" b="1" dirty="0">
              <a:latin typeface="Calibir"/>
            </a:endParaRPr>
          </a:p>
        </p:txBody>
      </p:sp>
      <p:sp>
        <p:nvSpPr>
          <p:cNvPr id="5" name="TextBox 4">
            <a:extLst>
              <a:ext uri="{FF2B5EF4-FFF2-40B4-BE49-F238E27FC236}">
                <a16:creationId xmlns:a16="http://schemas.microsoft.com/office/drawing/2014/main" id="{7AC1D6C7-E3B7-BFE1-BDB5-20819E4F0776}"/>
              </a:ext>
            </a:extLst>
          </p:cNvPr>
          <p:cNvSpPr txBox="1"/>
          <p:nvPr/>
        </p:nvSpPr>
        <p:spPr>
          <a:xfrm>
            <a:off x="-1" y="1032387"/>
            <a:ext cx="12191999" cy="4832092"/>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Animal</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eat</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"Eating..."</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Kangaroo</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extends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Animal</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jump</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"Jumping..."</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C09E9268-42F8-5CD0-CCF1-B6C49B942466}"/>
              </a:ext>
            </a:extLst>
          </p:cNvPr>
          <p:cNvSpPr>
            <a:spLocks noChangeArrowheads="1"/>
          </p:cNvSpPr>
          <p:nvPr/>
        </p:nvSpPr>
        <p:spPr bwMode="auto">
          <a:xfrm>
            <a:off x="8586438" y="1477248"/>
            <a:ext cx="3605562" cy="390350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Calibir"/>
              </a:rPr>
              <a:t>This Java code shows </a:t>
            </a:r>
            <a:r>
              <a:rPr kumimoji="0" lang="en-US" altLang="en-US" sz="2800" b="1" i="0" u="none" strike="noStrike" cap="none" normalizeH="0" baseline="0" dirty="0">
                <a:ln>
                  <a:noFill/>
                </a:ln>
                <a:solidFill>
                  <a:schemeClr val="tx1"/>
                </a:solidFill>
                <a:effectLst/>
                <a:latin typeface="Calibir"/>
              </a:rPr>
              <a:t>inheritance</a:t>
            </a:r>
            <a:r>
              <a:rPr kumimoji="0" lang="en-US" altLang="en-US" sz="2800" i="0" u="none" strike="noStrike" cap="none" normalizeH="0" baseline="0" dirty="0">
                <a:ln>
                  <a:noFill/>
                </a:ln>
                <a:solidFill>
                  <a:schemeClr val="tx1"/>
                </a:solidFill>
                <a:effectLst/>
                <a:latin typeface="Calibir"/>
              </a:rPr>
              <a:t>, where Kangaroo inherits the eat() method from the Animal class and adds its own jump() method. </a:t>
            </a:r>
          </a:p>
        </p:txBody>
      </p:sp>
    </p:spTree>
    <p:extLst>
      <p:ext uri="{BB962C8B-B14F-4D97-AF65-F5344CB8AC3E}">
        <p14:creationId xmlns:p14="http://schemas.microsoft.com/office/powerpoint/2010/main" val="2642076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D8FFB-C7AB-5CC0-99C9-613310CCF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CFD20-15D5-B7F4-50BF-BA8AF3A187DB}"/>
              </a:ext>
            </a:extLst>
          </p:cNvPr>
          <p:cNvSpPr>
            <a:spLocks noGrp="1"/>
          </p:cNvSpPr>
          <p:nvPr>
            <p:ph type="title"/>
          </p:nvPr>
        </p:nvSpPr>
        <p:spPr>
          <a:xfrm>
            <a:off x="0" y="1"/>
            <a:ext cx="12192000" cy="672661"/>
          </a:xfrm>
        </p:spPr>
        <p:txBody>
          <a:bodyPr anchor="b">
            <a:normAutofit/>
          </a:bodyPr>
          <a:lstStyle/>
          <a:p>
            <a:r>
              <a:rPr lang="en-US" sz="4000" dirty="0">
                <a:latin typeface="Calibir"/>
              </a:rPr>
              <a:t>Inheritance kangaroo example in Java</a:t>
            </a:r>
            <a:endParaRPr lang="en-AU" sz="4000" b="1" dirty="0">
              <a:latin typeface="Calibir"/>
            </a:endParaRPr>
          </a:p>
        </p:txBody>
      </p:sp>
      <p:sp>
        <p:nvSpPr>
          <p:cNvPr id="5" name="TextBox 4">
            <a:extLst>
              <a:ext uri="{FF2B5EF4-FFF2-40B4-BE49-F238E27FC236}">
                <a16:creationId xmlns:a16="http://schemas.microsoft.com/office/drawing/2014/main" id="{7F773313-E756-7053-0869-E81E475A8300}"/>
              </a:ext>
            </a:extLst>
          </p:cNvPr>
          <p:cNvSpPr txBox="1"/>
          <p:nvPr/>
        </p:nvSpPr>
        <p:spPr>
          <a:xfrm>
            <a:off x="-1" y="1032387"/>
            <a:ext cx="12191999" cy="4832092"/>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Animal</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eat</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"Eating..."</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Kangaroo</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extends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Animal</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jump</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"Jumping..."</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EB4822F8-9D0F-FBE8-9476-CBD102C74451}"/>
              </a:ext>
            </a:extLst>
          </p:cNvPr>
          <p:cNvSpPr>
            <a:spLocks noChangeArrowheads="1"/>
          </p:cNvSpPr>
          <p:nvPr/>
        </p:nvSpPr>
        <p:spPr bwMode="auto">
          <a:xfrm>
            <a:off x="8586438" y="1800413"/>
            <a:ext cx="3605562"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This code defines the classes, but does not run anything because there’s no main() method.</a:t>
            </a:r>
            <a:endParaRPr kumimoji="0" lang="en-US" altLang="en-US" sz="28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1410150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7BBA6-C599-7F94-20BC-FD7278D7F3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990910-A3E7-8C95-FD6D-E2A83479F0DA}"/>
              </a:ext>
            </a:extLst>
          </p:cNvPr>
          <p:cNvSpPr txBox="1"/>
          <p:nvPr/>
        </p:nvSpPr>
        <p:spPr>
          <a:xfrm>
            <a:off x="0" y="1682269"/>
            <a:ext cx="12192000" cy="3108543"/>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static</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String</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args</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Kangaroo</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new</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Kangaroo</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k</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eat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k</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jump</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r>
              <a:rPr lang="en-US" sz="2800" b="0" dirty="0">
                <a:solidFill>
                  <a:srgbClr val="CCCCCC"/>
                </a:solidFill>
                <a:effectLst/>
                <a:latin typeface="Consolas" panose="020B0609020204030204" pitchFamily="49" charset="0"/>
              </a:rPr>
              <a:t>}</a:t>
            </a:r>
          </a:p>
        </p:txBody>
      </p:sp>
      <p:sp>
        <p:nvSpPr>
          <p:cNvPr id="2" name="Title 1">
            <a:extLst>
              <a:ext uri="{FF2B5EF4-FFF2-40B4-BE49-F238E27FC236}">
                <a16:creationId xmlns:a16="http://schemas.microsoft.com/office/drawing/2014/main" id="{9D3351AA-7A8D-7045-3FE6-B408EBAEC172}"/>
              </a:ext>
            </a:extLst>
          </p:cNvPr>
          <p:cNvSpPr>
            <a:spLocks noGrp="1"/>
          </p:cNvSpPr>
          <p:nvPr>
            <p:ph type="title"/>
          </p:nvPr>
        </p:nvSpPr>
        <p:spPr>
          <a:xfrm>
            <a:off x="0" y="1"/>
            <a:ext cx="12192000" cy="672661"/>
          </a:xfrm>
        </p:spPr>
        <p:txBody>
          <a:bodyPr anchor="b">
            <a:normAutofit/>
          </a:bodyPr>
          <a:lstStyle/>
          <a:p>
            <a:r>
              <a:rPr lang="en-US" sz="4000" dirty="0">
                <a:latin typeface="Calibir"/>
              </a:rPr>
              <a:t>Inheritance kangaroo example in Java</a:t>
            </a:r>
            <a:endParaRPr lang="en-AU" sz="4000" b="1" dirty="0">
              <a:latin typeface="Calibir"/>
            </a:endParaRPr>
          </a:p>
        </p:txBody>
      </p:sp>
      <p:sp>
        <p:nvSpPr>
          <p:cNvPr id="7" name="Rectangle 1">
            <a:extLst>
              <a:ext uri="{FF2B5EF4-FFF2-40B4-BE49-F238E27FC236}">
                <a16:creationId xmlns:a16="http://schemas.microsoft.com/office/drawing/2014/main" id="{E1E81B48-159A-6304-F7BA-C94DA527979D}"/>
              </a:ext>
            </a:extLst>
          </p:cNvPr>
          <p:cNvSpPr>
            <a:spLocks noChangeArrowheads="1"/>
          </p:cNvSpPr>
          <p:nvPr/>
        </p:nvSpPr>
        <p:spPr bwMode="auto">
          <a:xfrm>
            <a:off x="8586438" y="2769910"/>
            <a:ext cx="3605562" cy="131818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To Produce Output, Add a main() Method: </a:t>
            </a:r>
          </a:p>
        </p:txBody>
      </p:sp>
    </p:spTree>
    <p:extLst>
      <p:ext uri="{BB962C8B-B14F-4D97-AF65-F5344CB8AC3E}">
        <p14:creationId xmlns:p14="http://schemas.microsoft.com/office/powerpoint/2010/main" val="3821648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BF332-3A42-E2E3-9F31-091EBE52A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162E7-D755-4E8E-3895-7925166C7F0B}"/>
              </a:ext>
            </a:extLst>
          </p:cNvPr>
          <p:cNvSpPr>
            <a:spLocks noGrp="1"/>
          </p:cNvSpPr>
          <p:nvPr>
            <p:ph type="title"/>
          </p:nvPr>
        </p:nvSpPr>
        <p:spPr>
          <a:xfrm>
            <a:off x="0" y="1"/>
            <a:ext cx="12192000" cy="1092819"/>
          </a:xfrm>
        </p:spPr>
        <p:txBody>
          <a:bodyPr anchor="b">
            <a:normAutofit fontScale="90000"/>
          </a:bodyPr>
          <a:lstStyle/>
          <a:p>
            <a:r>
              <a:rPr lang="en-US" sz="4000" dirty="0">
                <a:latin typeface="Calibir"/>
              </a:rPr>
              <a:t>UML Class Diagram for the Java inheritance example with Animal and Kangaroo</a:t>
            </a:r>
            <a:endParaRPr lang="en-AU" sz="4000" b="1" dirty="0">
              <a:latin typeface="Calibir"/>
            </a:endParaRPr>
          </a:p>
        </p:txBody>
      </p:sp>
      <p:pic>
        <p:nvPicPr>
          <p:cNvPr id="20" name="Picture 19">
            <a:extLst>
              <a:ext uri="{FF2B5EF4-FFF2-40B4-BE49-F238E27FC236}">
                <a16:creationId xmlns:a16="http://schemas.microsoft.com/office/drawing/2014/main" id="{C56F5ECC-A06B-C8CD-EA20-0CAC601CA98E}"/>
              </a:ext>
            </a:extLst>
          </p:cNvPr>
          <p:cNvPicPr>
            <a:picLocks noChangeAspect="1"/>
          </p:cNvPicPr>
          <p:nvPr/>
        </p:nvPicPr>
        <p:blipFill>
          <a:blip r:embed="rId2">
            <a:extLst>
              <a:ext uri="{28A0092B-C50C-407E-A947-70E740481C1C}">
                <a14:useLocalDpi xmlns:a14="http://schemas.microsoft.com/office/drawing/2010/main" val="0"/>
              </a:ext>
            </a:extLst>
          </a:blip>
          <a:srcRect l="63503" t="52572" r="1069" b="16381"/>
          <a:stretch>
            <a:fillRect/>
          </a:stretch>
        </p:blipFill>
        <p:spPr>
          <a:xfrm>
            <a:off x="1164771" y="1096062"/>
            <a:ext cx="9862458" cy="5761938"/>
          </a:xfrm>
          <a:prstGeom prst="rect">
            <a:avLst/>
          </a:prstGeom>
        </p:spPr>
      </p:pic>
    </p:spTree>
    <p:extLst>
      <p:ext uri="{BB962C8B-B14F-4D97-AF65-F5344CB8AC3E}">
        <p14:creationId xmlns:p14="http://schemas.microsoft.com/office/powerpoint/2010/main" val="2787009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CE47-2062-5376-1C18-0EFCF3A3A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8CF8A-C0F8-7537-0E92-78F419471244}"/>
              </a:ext>
            </a:extLst>
          </p:cNvPr>
          <p:cNvSpPr>
            <a:spLocks noGrp="1"/>
          </p:cNvSpPr>
          <p:nvPr>
            <p:ph type="title"/>
          </p:nvPr>
        </p:nvSpPr>
        <p:spPr>
          <a:xfrm>
            <a:off x="0" y="1"/>
            <a:ext cx="12192000" cy="1092819"/>
          </a:xfrm>
        </p:spPr>
        <p:txBody>
          <a:bodyPr anchor="b">
            <a:normAutofit fontScale="90000"/>
          </a:bodyPr>
          <a:lstStyle/>
          <a:p>
            <a:r>
              <a:rPr lang="en-US" sz="4000" dirty="0">
                <a:latin typeface="Calibir"/>
              </a:rPr>
              <a:t>UML Class Diagram for the Java inheritance example with Animal and Kangaroo</a:t>
            </a:r>
            <a:endParaRPr lang="en-AU" sz="4000" b="1" dirty="0">
              <a:latin typeface="Calibir"/>
            </a:endParaRPr>
          </a:p>
        </p:txBody>
      </p:sp>
      <p:sp>
        <p:nvSpPr>
          <p:cNvPr id="13" name="TextBox 12">
            <a:extLst>
              <a:ext uri="{FF2B5EF4-FFF2-40B4-BE49-F238E27FC236}">
                <a16:creationId xmlns:a16="http://schemas.microsoft.com/office/drawing/2014/main" id="{D09E6437-8AE0-BB1E-0ED5-907F139F87F3}"/>
              </a:ext>
            </a:extLst>
          </p:cNvPr>
          <p:cNvSpPr txBox="1"/>
          <p:nvPr/>
        </p:nvSpPr>
        <p:spPr>
          <a:xfrm>
            <a:off x="0" y="1684251"/>
            <a:ext cx="7034981" cy="1964512"/>
          </a:xfrm>
          <a:prstGeom prst="rect">
            <a:avLst/>
          </a:prstGeom>
          <a:noFill/>
        </p:spPr>
        <p:txBody>
          <a:bodyPr wrap="square">
            <a:spAutoFit/>
          </a:bodyPr>
          <a:lstStyle/>
          <a:p>
            <a:pPr>
              <a:lnSpc>
                <a:spcPct val="150000"/>
              </a:lnSpc>
            </a:pPr>
            <a:r>
              <a:rPr lang="en-US" sz="2800" dirty="0">
                <a:latin typeface="Calibir"/>
              </a:rPr>
              <a:t>In UML class diagrams, it is better to include the method name, its parameters, and its return type using this format:</a:t>
            </a:r>
            <a:endParaRPr lang="en-AU" sz="2800" dirty="0">
              <a:latin typeface="Calibir"/>
            </a:endParaRPr>
          </a:p>
        </p:txBody>
      </p:sp>
      <p:sp>
        <p:nvSpPr>
          <p:cNvPr id="15" name="TextBox 14">
            <a:extLst>
              <a:ext uri="{FF2B5EF4-FFF2-40B4-BE49-F238E27FC236}">
                <a16:creationId xmlns:a16="http://schemas.microsoft.com/office/drawing/2014/main" id="{C1177818-3DE5-1BD8-9BB6-D4E5AD82E7A8}"/>
              </a:ext>
            </a:extLst>
          </p:cNvPr>
          <p:cNvSpPr txBox="1"/>
          <p:nvPr/>
        </p:nvSpPr>
        <p:spPr>
          <a:xfrm>
            <a:off x="7502479" y="2297175"/>
            <a:ext cx="4421459" cy="369332"/>
          </a:xfrm>
          <a:prstGeom prst="rect">
            <a:avLst/>
          </a:prstGeom>
          <a:noFill/>
        </p:spPr>
        <p:txBody>
          <a:bodyPr wrap="square">
            <a:spAutoFit/>
          </a:bodyPr>
          <a:lstStyle/>
          <a:p>
            <a:r>
              <a:rPr lang="en-AU" dirty="0">
                <a:latin typeface="Calibir"/>
              </a:rPr>
              <a:t>+ </a:t>
            </a:r>
            <a:r>
              <a:rPr lang="en-AU" dirty="0" err="1">
                <a:latin typeface="Calibir"/>
              </a:rPr>
              <a:t>methodName</a:t>
            </a:r>
            <a:r>
              <a:rPr lang="en-AU" dirty="0">
                <a:latin typeface="Calibir"/>
              </a:rPr>
              <a:t>(</a:t>
            </a:r>
            <a:r>
              <a:rPr lang="en-AU" dirty="0" err="1">
                <a:latin typeface="Calibir"/>
              </a:rPr>
              <a:t>parameterList</a:t>
            </a:r>
            <a:r>
              <a:rPr lang="en-AU" dirty="0">
                <a:latin typeface="Calibir"/>
              </a:rPr>
              <a:t>): </a:t>
            </a:r>
            <a:r>
              <a:rPr lang="en-AU" dirty="0" err="1">
                <a:latin typeface="Calibir"/>
              </a:rPr>
              <a:t>returnType</a:t>
            </a:r>
            <a:endParaRPr lang="en-AU" dirty="0">
              <a:latin typeface="Calibir"/>
            </a:endParaRPr>
          </a:p>
        </p:txBody>
      </p:sp>
      <p:sp>
        <p:nvSpPr>
          <p:cNvPr id="17" name="TextBox 16">
            <a:extLst>
              <a:ext uri="{FF2B5EF4-FFF2-40B4-BE49-F238E27FC236}">
                <a16:creationId xmlns:a16="http://schemas.microsoft.com/office/drawing/2014/main" id="{412BEB72-293F-A4DF-023D-74282EFB9282}"/>
              </a:ext>
            </a:extLst>
          </p:cNvPr>
          <p:cNvSpPr txBox="1"/>
          <p:nvPr/>
        </p:nvSpPr>
        <p:spPr>
          <a:xfrm>
            <a:off x="7580529" y="2737767"/>
            <a:ext cx="6333892" cy="1055545"/>
          </a:xfrm>
          <a:prstGeom prst="rect">
            <a:avLst/>
          </a:prstGeom>
          <a:noFill/>
        </p:spPr>
        <p:txBody>
          <a:bodyPr wrap="square">
            <a:spAutoFit/>
          </a:bodyPr>
          <a:lstStyle/>
          <a:p>
            <a:pPr>
              <a:lnSpc>
                <a:spcPct val="150000"/>
              </a:lnSpc>
            </a:pPr>
            <a:r>
              <a:rPr lang="en-AU" sz="2200" dirty="0">
                <a:latin typeface="Calibir"/>
              </a:rPr>
              <a:t>So we write</a:t>
            </a:r>
          </a:p>
          <a:p>
            <a:pPr>
              <a:lnSpc>
                <a:spcPct val="150000"/>
              </a:lnSpc>
            </a:pPr>
            <a:r>
              <a:rPr lang="en-AU" sz="2200" dirty="0">
                <a:latin typeface="Calibir"/>
              </a:rPr>
              <a:t>+ jump(): void</a:t>
            </a:r>
          </a:p>
        </p:txBody>
      </p:sp>
      <p:pic>
        <p:nvPicPr>
          <p:cNvPr id="7" name="Picture 6">
            <a:extLst>
              <a:ext uri="{FF2B5EF4-FFF2-40B4-BE49-F238E27FC236}">
                <a16:creationId xmlns:a16="http://schemas.microsoft.com/office/drawing/2014/main" id="{F5EC0E61-B3F0-9E44-88CD-F3BFF4CD3694}"/>
              </a:ext>
            </a:extLst>
          </p:cNvPr>
          <p:cNvPicPr>
            <a:picLocks noChangeAspect="1"/>
          </p:cNvPicPr>
          <p:nvPr/>
        </p:nvPicPr>
        <p:blipFill>
          <a:blip r:embed="rId2">
            <a:extLst>
              <a:ext uri="{28A0092B-C50C-407E-A947-70E740481C1C}">
                <a14:useLocalDpi xmlns:a14="http://schemas.microsoft.com/office/drawing/2010/main" val="0"/>
              </a:ext>
            </a:extLst>
          </a:blip>
          <a:srcRect l="63503" t="52572" r="1069" b="16381"/>
          <a:stretch>
            <a:fillRect/>
          </a:stretch>
        </p:blipFill>
        <p:spPr>
          <a:xfrm>
            <a:off x="7034981" y="3845118"/>
            <a:ext cx="5157018" cy="3012882"/>
          </a:xfrm>
          <a:prstGeom prst="rect">
            <a:avLst/>
          </a:prstGeom>
        </p:spPr>
      </p:pic>
    </p:spTree>
    <p:extLst>
      <p:ext uri="{BB962C8B-B14F-4D97-AF65-F5344CB8AC3E}">
        <p14:creationId xmlns:p14="http://schemas.microsoft.com/office/powerpoint/2010/main" val="3051626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9DC1E-BCA9-DEBD-B71F-24B2C9BEF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8B83E-A9A6-8ABF-4616-EB99941D52BF}"/>
              </a:ext>
            </a:extLst>
          </p:cNvPr>
          <p:cNvSpPr>
            <a:spLocks noGrp="1"/>
          </p:cNvSpPr>
          <p:nvPr>
            <p:ph type="title"/>
          </p:nvPr>
        </p:nvSpPr>
        <p:spPr>
          <a:xfrm>
            <a:off x="0" y="1"/>
            <a:ext cx="12192000" cy="1092819"/>
          </a:xfrm>
        </p:spPr>
        <p:txBody>
          <a:bodyPr anchor="b">
            <a:normAutofit fontScale="90000"/>
          </a:bodyPr>
          <a:lstStyle/>
          <a:p>
            <a:r>
              <a:rPr lang="en-US" sz="4000" dirty="0">
                <a:latin typeface="Calibir"/>
              </a:rPr>
              <a:t>UML Class Diagram for the Java inheritance example with Animal and Kangaroo</a:t>
            </a:r>
            <a:endParaRPr lang="en-AU" sz="4000" b="1" dirty="0">
              <a:latin typeface="Calibir"/>
            </a:endParaRPr>
          </a:p>
        </p:txBody>
      </p:sp>
      <p:sp>
        <p:nvSpPr>
          <p:cNvPr id="11" name="Rectangle 1">
            <a:extLst>
              <a:ext uri="{FF2B5EF4-FFF2-40B4-BE49-F238E27FC236}">
                <a16:creationId xmlns:a16="http://schemas.microsoft.com/office/drawing/2014/main" id="{4D12401B-D271-09B0-9154-3D8749804092}"/>
              </a:ext>
            </a:extLst>
          </p:cNvPr>
          <p:cNvSpPr>
            <a:spLocks noChangeArrowheads="1"/>
          </p:cNvSpPr>
          <p:nvPr/>
        </p:nvSpPr>
        <p:spPr bwMode="auto">
          <a:xfrm>
            <a:off x="0" y="904662"/>
            <a:ext cx="4361792"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It means: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 The method is public (accessible from outside the class)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jump() → This is the method name with no parameters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void → The method does not return any value</a:t>
            </a:r>
          </a:p>
        </p:txBody>
      </p:sp>
      <p:sp>
        <p:nvSpPr>
          <p:cNvPr id="13" name="TextBox 12">
            <a:extLst>
              <a:ext uri="{FF2B5EF4-FFF2-40B4-BE49-F238E27FC236}">
                <a16:creationId xmlns:a16="http://schemas.microsoft.com/office/drawing/2014/main" id="{F577C8A3-9741-29E1-EAD8-DB4BE2DF1396}"/>
              </a:ext>
            </a:extLst>
          </p:cNvPr>
          <p:cNvSpPr txBox="1"/>
          <p:nvPr/>
        </p:nvSpPr>
        <p:spPr>
          <a:xfrm>
            <a:off x="4572001" y="611704"/>
            <a:ext cx="7619999"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Same for eat():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 just prints "Eating...", it doesn’t return anything.</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So we label it void (same as in Java code).</a:t>
            </a:r>
          </a:p>
        </p:txBody>
      </p:sp>
      <p:sp>
        <p:nvSpPr>
          <p:cNvPr id="15" name="TextBox 14">
            <a:extLst>
              <a:ext uri="{FF2B5EF4-FFF2-40B4-BE49-F238E27FC236}">
                <a16:creationId xmlns:a16="http://schemas.microsoft.com/office/drawing/2014/main" id="{D629280F-25F3-624F-3C8C-62B12BCEAD59}"/>
              </a:ext>
            </a:extLst>
          </p:cNvPr>
          <p:cNvSpPr txBox="1"/>
          <p:nvPr/>
        </p:nvSpPr>
        <p:spPr>
          <a:xfrm>
            <a:off x="4713833" y="3296143"/>
            <a:ext cx="4421459" cy="369332"/>
          </a:xfrm>
          <a:prstGeom prst="rect">
            <a:avLst/>
          </a:prstGeom>
          <a:noFill/>
        </p:spPr>
        <p:txBody>
          <a:bodyPr wrap="square">
            <a:spAutoFit/>
          </a:bodyPr>
          <a:lstStyle/>
          <a:p>
            <a:r>
              <a:rPr lang="en-AU" dirty="0">
                <a:latin typeface="Calibir"/>
              </a:rPr>
              <a:t>+ </a:t>
            </a:r>
            <a:r>
              <a:rPr lang="en-AU" dirty="0" err="1">
                <a:latin typeface="Calibir"/>
              </a:rPr>
              <a:t>methodName</a:t>
            </a:r>
            <a:r>
              <a:rPr lang="en-AU" dirty="0">
                <a:latin typeface="Calibir"/>
              </a:rPr>
              <a:t>(</a:t>
            </a:r>
            <a:r>
              <a:rPr lang="en-AU" dirty="0" err="1">
                <a:latin typeface="Calibir"/>
              </a:rPr>
              <a:t>parameterList</a:t>
            </a:r>
            <a:r>
              <a:rPr lang="en-AU" dirty="0">
                <a:latin typeface="Calibir"/>
              </a:rPr>
              <a:t>): </a:t>
            </a:r>
            <a:r>
              <a:rPr lang="en-AU" dirty="0" err="1">
                <a:latin typeface="Calibir"/>
              </a:rPr>
              <a:t>returnType</a:t>
            </a:r>
            <a:endParaRPr lang="en-AU" dirty="0">
              <a:latin typeface="Calibir"/>
            </a:endParaRPr>
          </a:p>
        </p:txBody>
      </p:sp>
      <p:sp>
        <p:nvSpPr>
          <p:cNvPr id="17" name="TextBox 16">
            <a:extLst>
              <a:ext uri="{FF2B5EF4-FFF2-40B4-BE49-F238E27FC236}">
                <a16:creationId xmlns:a16="http://schemas.microsoft.com/office/drawing/2014/main" id="{FBB27CC8-C67E-9F9D-4067-D5A6A4CBB64C}"/>
              </a:ext>
            </a:extLst>
          </p:cNvPr>
          <p:cNvSpPr txBox="1"/>
          <p:nvPr/>
        </p:nvSpPr>
        <p:spPr>
          <a:xfrm>
            <a:off x="4676053" y="3635453"/>
            <a:ext cx="8918478" cy="1055545"/>
          </a:xfrm>
          <a:prstGeom prst="rect">
            <a:avLst/>
          </a:prstGeom>
          <a:noFill/>
        </p:spPr>
        <p:txBody>
          <a:bodyPr wrap="square">
            <a:spAutoFit/>
          </a:bodyPr>
          <a:lstStyle/>
          <a:p>
            <a:pPr>
              <a:lnSpc>
                <a:spcPct val="150000"/>
              </a:lnSpc>
            </a:pPr>
            <a:r>
              <a:rPr lang="en-AU" sz="2200" dirty="0">
                <a:latin typeface="Calibir"/>
              </a:rPr>
              <a:t>So we write</a:t>
            </a:r>
          </a:p>
          <a:p>
            <a:pPr>
              <a:lnSpc>
                <a:spcPct val="150000"/>
              </a:lnSpc>
            </a:pPr>
            <a:r>
              <a:rPr lang="en-AU" sz="2200" dirty="0">
                <a:latin typeface="Calibir"/>
              </a:rPr>
              <a:t>+ jump(): void</a:t>
            </a:r>
          </a:p>
        </p:txBody>
      </p:sp>
      <p:pic>
        <p:nvPicPr>
          <p:cNvPr id="18" name="Picture 17">
            <a:extLst>
              <a:ext uri="{FF2B5EF4-FFF2-40B4-BE49-F238E27FC236}">
                <a16:creationId xmlns:a16="http://schemas.microsoft.com/office/drawing/2014/main" id="{F83FB8BE-2043-48A1-7B36-828911FE84F1}"/>
              </a:ext>
            </a:extLst>
          </p:cNvPr>
          <p:cNvPicPr>
            <a:picLocks noChangeAspect="1"/>
          </p:cNvPicPr>
          <p:nvPr/>
        </p:nvPicPr>
        <p:blipFill>
          <a:blip r:embed="rId2">
            <a:extLst>
              <a:ext uri="{28A0092B-C50C-407E-A947-70E740481C1C}">
                <a14:useLocalDpi xmlns:a14="http://schemas.microsoft.com/office/drawing/2010/main" val="0"/>
              </a:ext>
            </a:extLst>
          </a:blip>
          <a:srcRect l="63503" t="52572" r="1069" b="16381"/>
          <a:stretch>
            <a:fillRect/>
          </a:stretch>
        </p:blipFill>
        <p:spPr>
          <a:xfrm>
            <a:off x="7034981" y="3845118"/>
            <a:ext cx="5157018" cy="3012882"/>
          </a:xfrm>
          <a:prstGeom prst="rect">
            <a:avLst/>
          </a:prstGeom>
        </p:spPr>
      </p:pic>
    </p:spTree>
    <p:extLst>
      <p:ext uri="{BB962C8B-B14F-4D97-AF65-F5344CB8AC3E}">
        <p14:creationId xmlns:p14="http://schemas.microsoft.com/office/powerpoint/2010/main" val="3181901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5D413-67ED-42AC-00CA-950F1C993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4814F-16F5-5733-85C4-1717B12BC41C}"/>
              </a:ext>
            </a:extLst>
          </p:cNvPr>
          <p:cNvSpPr>
            <a:spLocks noGrp="1"/>
          </p:cNvSpPr>
          <p:nvPr>
            <p:ph type="title"/>
          </p:nvPr>
        </p:nvSpPr>
        <p:spPr>
          <a:xfrm>
            <a:off x="0" y="1"/>
            <a:ext cx="12192000" cy="1092819"/>
          </a:xfrm>
        </p:spPr>
        <p:txBody>
          <a:bodyPr anchor="b">
            <a:normAutofit fontScale="90000"/>
          </a:bodyPr>
          <a:lstStyle/>
          <a:p>
            <a:r>
              <a:rPr lang="en-US" sz="4000" dirty="0">
                <a:latin typeface="Calibir"/>
              </a:rPr>
              <a:t>UML Class Diagram for the Java inheritance example with Animal and Kangaroo</a:t>
            </a:r>
            <a:endParaRPr lang="en-AU" sz="4000" b="1" dirty="0">
              <a:latin typeface="Calibir"/>
            </a:endParaRPr>
          </a:p>
        </p:txBody>
      </p:sp>
      <p:sp>
        <p:nvSpPr>
          <p:cNvPr id="11" name="Rectangle 1">
            <a:extLst>
              <a:ext uri="{FF2B5EF4-FFF2-40B4-BE49-F238E27FC236}">
                <a16:creationId xmlns:a16="http://schemas.microsoft.com/office/drawing/2014/main" id="{533EF1E8-085E-85AB-E880-16BE04CE6B66}"/>
              </a:ext>
            </a:extLst>
          </p:cNvPr>
          <p:cNvSpPr>
            <a:spLocks noChangeArrowheads="1"/>
          </p:cNvSpPr>
          <p:nvPr/>
        </p:nvSpPr>
        <p:spPr bwMode="auto">
          <a:xfrm>
            <a:off x="0" y="1880606"/>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Summary: We use void in UML for the same reason we use it in Java — to show that the method does something but does not give anything back (like a number or string). </a:t>
            </a:r>
          </a:p>
        </p:txBody>
      </p:sp>
      <p:pic>
        <p:nvPicPr>
          <p:cNvPr id="15" name="Picture 14">
            <a:extLst>
              <a:ext uri="{FF2B5EF4-FFF2-40B4-BE49-F238E27FC236}">
                <a16:creationId xmlns:a16="http://schemas.microsoft.com/office/drawing/2014/main" id="{9DFA7F89-B393-41A5-9D87-A880967920EA}"/>
              </a:ext>
            </a:extLst>
          </p:cNvPr>
          <p:cNvPicPr>
            <a:picLocks noChangeAspect="1"/>
          </p:cNvPicPr>
          <p:nvPr/>
        </p:nvPicPr>
        <p:blipFill>
          <a:blip r:embed="rId3">
            <a:extLst>
              <a:ext uri="{28A0092B-C50C-407E-A947-70E740481C1C}">
                <a14:useLocalDpi xmlns:a14="http://schemas.microsoft.com/office/drawing/2010/main" val="0"/>
              </a:ext>
            </a:extLst>
          </a:blip>
          <a:srcRect l="63503" t="52572" r="1069" b="16381"/>
          <a:stretch>
            <a:fillRect/>
          </a:stretch>
        </p:blipFill>
        <p:spPr>
          <a:xfrm>
            <a:off x="7034981" y="3845118"/>
            <a:ext cx="5157018" cy="3012882"/>
          </a:xfrm>
          <a:prstGeom prst="rect">
            <a:avLst/>
          </a:prstGeom>
        </p:spPr>
      </p:pic>
    </p:spTree>
    <p:extLst>
      <p:ext uri="{BB962C8B-B14F-4D97-AF65-F5344CB8AC3E}">
        <p14:creationId xmlns:p14="http://schemas.microsoft.com/office/powerpoint/2010/main" val="1252710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39BA4-4B79-BE7C-5370-0996E0EF3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8A0A8-1DA6-7915-F3F8-EE738E2CEF7C}"/>
              </a:ext>
            </a:extLst>
          </p:cNvPr>
          <p:cNvSpPr>
            <a:spLocks noGrp="1"/>
          </p:cNvSpPr>
          <p:nvPr>
            <p:ph type="title"/>
          </p:nvPr>
        </p:nvSpPr>
        <p:spPr>
          <a:xfrm>
            <a:off x="0" y="1"/>
            <a:ext cx="12192000" cy="735979"/>
          </a:xfrm>
        </p:spPr>
        <p:txBody>
          <a:bodyPr anchor="b">
            <a:normAutofit/>
          </a:bodyPr>
          <a:lstStyle/>
          <a:p>
            <a:r>
              <a:rPr lang="en-US" sz="4000" dirty="0">
                <a:latin typeface="Calibir"/>
              </a:rPr>
              <a:t>Key Differences in UML When Representing Python</a:t>
            </a:r>
            <a:endParaRPr lang="en-AU" sz="4000" b="1" dirty="0">
              <a:latin typeface="Calibir"/>
            </a:endParaRPr>
          </a:p>
        </p:txBody>
      </p:sp>
      <p:graphicFrame>
        <p:nvGraphicFramePr>
          <p:cNvPr id="6" name="Table 5">
            <a:extLst>
              <a:ext uri="{FF2B5EF4-FFF2-40B4-BE49-F238E27FC236}">
                <a16:creationId xmlns:a16="http://schemas.microsoft.com/office/drawing/2014/main" id="{AC02D423-4B5F-6FA2-2CCB-EF74AB34472E}"/>
              </a:ext>
            </a:extLst>
          </p:cNvPr>
          <p:cNvGraphicFramePr>
            <a:graphicFrameLocks noGrp="1"/>
          </p:cNvGraphicFramePr>
          <p:nvPr>
            <p:extLst>
              <p:ext uri="{D42A27DB-BD31-4B8C-83A1-F6EECF244321}">
                <p14:modId xmlns:p14="http://schemas.microsoft.com/office/powerpoint/2010/main" val="846469998"/>
              </p:ext>
            </p:extLst>
          </p:nvPr>
        </p:nvGraphicFramePr>
        <p:xfrm>
          <a:off x="838200" y="2917395"/>
          <a:ext cx="10515600" cy="381000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542342917"/>
                    </a:ext>
                  </a:extLst>
                </a:gridCol>
                <a:gridCol w="3505200">
                  <a:extLst>
                    <a:ext uri="{9D8B030D-6E8A-4147-A177-3AD203B41FA5}">
                      <a16:colId xmlns:a16="http://schemas.microsoft.com/office/drawing/2014/main" val="2396490502"/>
                    </a:ext>
                  </a:extLst>
                </a:gridCol>
                <a:gridCol w="3505200">
                  <a:extLst>
                    <a:ext uri="{9D8B030D-6E8A-4147-A177-3AD203B41FA5}">
                      <a16:colId xmlns:a16="http://schemas.microsoft.com/office/drawing/2014/main" val="2931742261"/>
                    </a:ext>
                  </a:extLst>
                </a:gridCol>
              </a:tblGrid>
              <a:tr h="0">
                <a:tc>
                  <a:txBody>
                    <a:bodyPr/>
                    <a:lstStyle/>
                    <a:p>
                      <a:r>
                        <a:rPr lang="en-US" sz="2200" b="0" dirty="0">
                          <a:latin typeface="Calibir"/>
                        </a:rPr>
                        <a:t>Feature</a:t>
                      </a:r>
                    </a:p>
                  </a:txBody>
                  <a:tcPr anchor="ctr"/>
                </a:tc>
                <a:tc>
                  <a:txBody>
                    <a:bodyPr/>
                    <a:lstStyle/>
                    <a:p>
                      <a:r>
                        <a:rPr lang="en-US" sz="2200" b="0" dirty="0">
                          <a:latin typeface="Calibir"/>
                        </a:rPr>
                        <a:t>Java Style</a:t>
                      </a:r>
                    </a:p>
                  </a:txBody>
                  <a:tcPr anchor="ctr"/>
                </a:tc>
                <a:tc>
                  <a:txBody>
                    <a:bodyPr/>
                    <a:lstStyle/>
                    <a:p>
                      <a:r>
                        <a:rPr lang="en-US" sz="2200" b="0">
                          <a:latin typeface="Calibir"/>
                        </a:rPr>
                        <a:t>Python Style</a:t>
                      </a:r>
                    </a:p>
                  </a:txBody>
                  <a:tcPr anchor="ctr"/>
                </a:tc>
                <a:extLst>
                  <a:ext uri="{0D108BD9-81ED-4DB2-BD59-A6C34878D82A}">
                    <a16:rowId xmlns:a16="http://schemas.microsoft.com/office/drawing/2014/main" val="1179305762"/>
                  </a:ext>
                </a:extLst>
              </a:tr>
              <a:tr h="0">
                <a:tc>
                  <a:txBody>
                    <a:bodyPr/>
                    <a:lstStyle/>
                    <a:p>
                      <a:r>
                        <a:rPr lang="en-US" sz="2200" b="0">
                          <a:latin typeface="Calibir"/>
                        </a:rPr>
                        <a:t>Access modifiers</a:t>
                      </a:r>
                    </a:p>
                  </a:txBody>
                  <a:tcPr anchor="ctr"/>
                </a:tc>
                <a:tc>
                  <a:txBody>
                    <a:bodyPr/>
                    <a:lstStyle/>
                    <a:p>
                      <a:r>
                        <a:rPr lang="en-US" sz="2200" b="0" dirty="0">
                          <a:latin typeface="Calibir"/>
                        </a:rPr>
                        <a:t>+ (public), - (private), # (protected)</a:t>
                      </a:r>
                    </a:p>
                  </a:txBody>
                  <a:tcPr anchor="ctr"/>
                </a:tc>
                <a:tc>
                  <a:txBody>
                    <a:bodyPr/>
                    <a:lstStyle/>
                    <a:p>
                      <a:r>
                        <a:rPr lang="en-US" sz="2200" b="0" dirty="0">
                          <a:latin typeface="Calibir"/>
                        </a:rPr>
                        <a:t>Python has no true enforcement — use _ (protected), __ (private by convention)</a:t>
                      </a:r>
                    </a:p>
                  </a:txBody>
                  <a:tcPr anchor="ctr"/>
                </a:tc>
                <a:extLst>
                  <a:ext uri="{0D108BD9-81ED-4DB2-BD59-A6C34878D82A}">
                    <a16:rowId xmlns:a16="http://schemas.microsoft.com/office/drawing/2014/main" val="2486025758"/>
                  </a:ext>
                </a:extLst>
              </a:tr>
              <a:tr h="0">
                <a:tc>
                  <a:txBody>
                    <a:bodyPr/>
                    <a:lstStyle/>
                    <a:p>
                      <a:r>
                        <a:rPr lang="en-US" sz="2200" b="0">
                          <a:latin typeface="Calibir"/>
                        </a:rPr>
                        <a:t>Return types</a:t>
                      </a:r>
                    </a:p>
                  </a:txBody>
                  <a:tcPr anchor="ctr"/>
                </a:tc>
                <a:tc>
                  <a:txBody>
                    <a:bodyPr/>
                    <a:lstStyle/>
                    <a:p>
                      <a:r>
                        <a:rPr lang="en-US" sz="2200" b="0">
                          <a:latin typeface="Calibir"/>
                        </a:rPr>
                        <a:t>Required (e.g., : void, : int)</a:t>
                      </a:r>
                    </a:p>
                  </a:txBody>
                  <a:tcPr anchor="ctr"/>
                </a:tc>
                <a:tc>
                  <a:txBody>
                    <a:bodyPr/>
                    <a:lstStyle/>
                    <a:p>
                      <a:r>
                        <a:rPr lang="en-US" sz="2200" b="0">
                          <a:latin typeface="Calibir"/>
                        </a:rPr>
                        <a:t>Optional — Python is dynamically typed</a:t>
                      </a:r>
                    </a:p>
                  </a:txBody>
                  <a:tcPr anchor="ctr"/>
                </a:tc>
                <a:extLst>
                  <a:ext uri="{0D108BD9-81ED-4DB2-BD59-A6C34878D82A}">
                    <a16:rowId xmlns:a16="http://schemas.microsoft.com/office/drawing/2014/main" val="875130857"/>
                  </a:ext>
                </a:extLst>
              </a:tr>
              <a:tr h="0">
                <a:tc>
                  <a:txBody>
                    <a:bodyPr/>
                    <a:lstStyle/>
                    <a:p>
                      <a:r>
                        <a:rPr lang="en-US" sz="2200" b="0">
                          <a:latin typeface="Calibir"/>
                        </a:rPr>
                        <a:t>Constructor name</a:t>
                      </a:r>
                    </a:p>
                  </a:txBody>
                  <a:tcPr anchor="ctr"/>
                </a:tc>
                <a:tc>
                  <a:txBody>
                    <a:bodyPr/>
                    <a:lstStyle/>
                    <a:p>
                      <a:r>
                        <a:rPr lang="en-US" sz="2200" b="0">
                          <a:latin typeface="Calibir"/>
                        </a:rPr>
                        <a:t>ClassName()</a:t>
                      </a:r>
                    </a:p>
                  </a:txBody>
                  <a:tcPr anchor="ctr"/>
                </a:tc>
                <a:tc>
                  <a:txBody>
                    <a:bodyPr/>
                    <a:lstStyle/>
                    <a:p>
                      <a:r>
                        <a:rPr lang="en-US" sz="2200" b="0">
                          <a:latin typeface="Calibir"/>
                        </a:rPr>
                        <a:t>__init__()</a:t>
                      </a:r>
                    </a:p>
                  </a:txBody>
                  <a:tcPr anchor="ctr"/>
                </a:tc>
                <a:extLst>
                  <a:ext uri="{0D108BD9-81ED-4DB2-BD59-A6C34878D82A}">
                    <a16:rowId xmlns:a16="http://schemas.microsoft.com/office/drawing/2014/main" val="3235081789"/>
                  </a:ext>
                </a:extLst>
              </a:tr>
              <a:tr h="0">
                <a:tc>
                  <a:txBody>
                    <a:bodyPr/>
                    <a:lstStyle/>
                    <a:p>
                      <a:r>
                        <a:rPr lang="en-US" sz="2200" b="0">
                          <a:latin typeface="Calibir"/>
                        </a:rPr>
                        <a:t>Static vs instance</a:t>
                      </a:r>
                    </a:p>
                  </a:txBody>
                  <a:tcPr anchor="ctr"/>
                </a:tc>
                <a:tc>
                  <a:txBody>
                    <a:bodyPr/>
                    <a:lstStyle/>
                    <a:p>
                      <a:r>
                        <a:rPr lang="en-US" sz="2200" b="0">
                          <a:latin typeface="Calibir"/>
                        </a:rPr>
                        <a:t>Explicit in Java (static)</a:t>
                      </a:r>
                    </a:p>
                  </a:txBody>
                  <a:tcPr anchor="ctr"/>
                </a:tc>
                <a:tc>
                  <a:txBody>
                    <a:bodyPr/>
                    <a:lstStyle/>
                    <a:p>
                      <a:r>
                        <a:rPr lang="en-US" sz="2200" b="0" dirty="0">
                          <a:latin typeface="Calibir"/>
                        </a:rPr>
                        <a:t>Not shown in UML for Python unless needed</a:t>
                      </a:r>
                    </a:p>
                  </a:txBody>
                  <a:tcPr anchor="ctr"/>
                </a:tc>
                <a:extLst>
                  <a:ext uri="{0D108BD9-81ED-4DB2-BD59-A6C34878D82A}">
                    <a16:rowId xmlns:a16="http://schemas.microsoft.com/office/drawing/2014/main" val="2816715344"/>
                  </a:ext>
                </a:extLst>
              </a:tr>
            </a:tbl>
          </a:graphicData>
        </a:graphic>
      </p:graphicFrame>
      <p:sp>
        <p:nvSpPr>
          <p:cNvPr id="12" name="TextBox 11">
            <a:extLst>
              <a:ext uri="{FF2B5EF4-FFF2-40B4-BE49-F238E27FC236}">
                <a16:creationId xmlns:a16="http://schemas.microsoft.com/office/drawing/2014/main" id="{0B7DFCE4-5E21-9CED-A85C-5DDAA425B85E}"/>
              </a:ext>
            </a:extLst>
          </p:cNvPr>
          <p:cNvSpPr txBox="1"/>
          <p:nvPr/>
        </p:nvSpPr>
        <p:spPr>
          <a:xfrm>
            <a:off x="0" y="903370"/>
            <a:ext cx="12192000" cy="1964512"/>
          </a:xfrm>
          <a:prstGeom prst="rect">
            <a:avLst/>
          </a:prstGeom>
          <a:noFill/>
        </p:spPr>
        <p:txBody>
          <a:bodyPr wrap="square">
            <a:spAutoFit/>
          </a:bodyPr>
          <a:lstStyle/>
          <a:p>
            <a:pPr>
              <a:lnSpc>
                <a:spcPct val="150000"/>
              </a:lnSpc>
            </a:pPr>
            <a:r>
              <a:rPr lang="en-US" sz="2800" dirty="0">
                <a:latin typeface="Calibir"/>
              </a:rPr>
              <a:t>The structure of a UML class diagram is the same, whether we're using Java, Python, or another object-oriented language.</a:t>
            </a:r>
          </a:p>
          <a:p>
            <a:pPr>
              <a:lnSpc>
                <a:spcPct val="150000"/>
              </a:lnSpc>
            </a:pPr>
            <a:r>
              <a:rPr lang="en-US" sz="2800" dirty="0">
                <a:latin typeface="Calibir"/>
              </a:rPr>
              <a:t>Key differences in UML when representing Python:</a:t>
            </a:r>
            <a:endParaRPr lang="en-AU" sz="2800" dirty="0">
              <a:latin typeface="Calibir"/>
            </a:endParaRPr>
          </a:p>
        </p:txBody>
      </p:sp>
    </p:spTree>
    <p:extLst>
      <p:ext uri="{BB962C8B-B14F-4D97-AF65-F5344CB8AC3E}">
        <p14:creationId xmlns:p14="http://schemas.microsoft.com/office/powerpoint/2010/main" val="391369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07938-B9D1-CA14-C362-14AE792F4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42156-D5C3-0910-3356-897BEAF6262E}"/>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UML Class Diagram (Python-style, simplified)</a:t>
            </a:r>
            <a:endParaRPr lang="en-AU" sz="4000" b="1" dirty="0">
              <a:latin typeface="Calibir"/>
            </a:endParaRPr>
          </a:p>
        </p:txBody>
      </p:sp>
      <p:sp>
        <p:nvSpPr>
          <p:cNvPr id="11" name="Rectangle 1">
            <a:extLst>
              <a:ext uri="{FF2B5EF4-FFF2-40B4-BE49-F238E27FC236}">
                <a16:creationId xmlns:a16="http://schemas.microsoft.com/office/drawing/2014/main" id="{09CA23FE-2718-F519-5E34-9FEC22A7EBDE}"/>
              </a:ext>
            </a:extLst>
          </p:cNvPr>
          <p:cNvSpPr>
            <a:spLocks noChangeArrowheads="1"/>
          </p:cNvSpPr>
          <p:nvPr/>
        </p:nvSpPr>
        <p:spPr bwMode="auto">
          <a:xfrm>
            <a:off x="0" y="1234275"/>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UML diagrams work across all languages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You can keep using the same diagrams for Python, just ignore strict return types or access modifiers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__</a:t>
            </a:r>
            <a:r>
              <a:rPr lang="en-US" altLang="en-US" sz="2800" dirty="0" err="1">
                <a:latin typeface="Calibir"/>
              </a:rPr>
              <a:t>init</a:t>
            </a:r>
            <a:r>
              <a:rPr lang="en-US" altLang="en-US" sz="2800" dirty="0">
                <a:latin typeface="Calibir"/>
              </a:rPr>
              <a:t>__() to represent constructors in Python</a:t>
            </a:r>
          </a:p>
        </p:txBody>
      </p:sp>
      <p:pic>
        <p:nvPicPr>
          <p:cNvPr id="15" name="Picture 14">
            <a:extLst>
              <a:ext uri="{FF2B5EF4-FFF2-40B4-BE49-F238E27FC236}">
                <a16:creationId xmlns:a16="http://schemas.microsoft.com/office/drawing/2014/main" id="{960641DA-3376-6E2A-E086-9B32753CA4F8}"/>
              </a:ext>
            </a:extLst>
          </p:cNvPr>
          <p:cNvPicPr>
            <a:picLocks noChangeAspect="1"/>
          </p:cNvPicPr>
          <p:nvPr/>
        </p:nvPicPr>
        <p:blipFill>
          <a:blip r:embed="rId2">
            <a:extLst>
              <a:ext uri="{28A0092B-C50C-407E-A947-70E740481C1C}">
                <a14:useLocalDpi xmlns:a14="http://schemas.microsoft.com/office/drawing/2010/main" val="0"/>
              </a:ext>
            </a:extLst>
          </a:blip>
          <a:srcRect l="63503" t="52572" r="1069" b="16381"/>
          <a:stretch>
            <a:fillRect/>
          </a:stretch>
        </p:blipFill>
        <p:spPr>
          <a:xfrm>
            <a:off x="7034981" y="3845118"/>
            <a:ext cx="5157018" cy="3012882"/>
          </a:xfrm>
          <a:prstGeom prst="rect">
            <a:avLst/>
          </a:prstGeom>
        </p:spPr>
      </p:pic>
    </p:spTree>
    <p:extLst>
      <p:ext uri="{BB962C8B-B14F-4D97-AF65-F5344CB8AC3E}">
        <p14:creationId xmlns:p14="http://schemas.microsoft.com/office/powerpoint/2010/main" val="1899582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C899-5BD9-F3ED-44EF-A5DAABDC9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DA4DD-2007-39E2-5982-E5702AD123BA}"/>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Polymorphism</a:t>
            </a:r>
            <a:endParaRPr lang="en-AU" sz="4000" b="1" dirty="0">
              <a:latin typeface="Calibir"/>
            </a:endParaRPr>
          </a:p>
        </p:txBody>
      </p:sp>
      <p:sp>
        <p:nvSpPr>
          <p:cNvPr id="11" name="Rectangle 1">
            <a:extLst>
              <a:ext uri="{FF2B5EF4-FFF2-40B4-BE49-F238E27FC236}">
                <a16:creationId xmlns:a16="http://schemas.microsoft.com/office/drawing/2014/main" id="{1F9419AD-6949-27D0-6080-F834EC501B05}"/>
              </a:ext>
            </a:extLst>
          </p:cNvPr>
          <p:cNvSpPr>
            <a:spLocks noChangeArrowheads="1"/>
          </p:cNvSpPr>
          <p:nvPr/>
        </p:nvSpPr>
        <p:spPr bwMode="auto">
          <a:xfrm>
            <a:off x="0" y="1911850"/>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Polymorphism?</a:t>
            </a:r>
          </a:p>
          <a:p>
            <a:pPr marL="914400" lvl="1" indent="-457200">
              <a:lnSpc>
                <a:spcPct val="150000"/>
              </a:lnSpc>
              <a:buFont typeface="Arial" panose="020B0604020202020204" pitchFamily="34" charset="0"/>
              <a:buChar char="•"/>
            </a:pPr>
            <a:r>
              <a:rPr lang="en-US" sz="2800" dirty="0">
                <a:latin typeface="Calibir"/>
              </a:rPr>
              <a:t>One function, many </a:t>
            </a:r>
            <a:r>
              <a:rPr lang="en-US" sz="2800" dirty="0" err="1">
                <a:latin typeface="Calibir"/>
              </a:rPr>
              <a:t>behaviours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The same method name does different things depending on which object calls it</a:t>
            </a:r>
          </a:p>
          <a:p>
            <a:pPr marL="914400" lvl="1" indent="-457200">
              <a:lnSpc>
                <a:spcPct val="150000"/>
              </a:lnSpc>
              <a:buFont typeface="Arial" panose="020B0604020202020204" pitchFamily="34" charset="0"/>
              <a:buChar char="•"/>
            </a:pPr>
            <a:r>
              <a:rPr lang="en-US" sz="2800" dirty="0">
                <a:latin typeface="Calibir"/>
              </a:rPr>
              <a:t>Helps write flexible and reusable code</a:t>
            </a:r>
          </a:p>
        </p:txBody>
      </p:sp>
    </p:spTree>
    <p:extLst>
      <p:ext uri="{BB962C8B-B14F-4D97-AF65-F5344CB8AC3E}">
        <p14:creationId xmlns:p14="http://schemas.microsoft.com/office/powerpoint/2010/main" val="346269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1000"/>
                                        <p:tgtEl>
                                          <p:spTgt spid="11">
                                            <p:txEl>
                                              <p:pRg st="2" end="2"/>
                                            </p:txEl>
                                          </p:spTgt>
                                        </p:tgtEl>
                                      </p:cBhvr>
                                    </p:animEffect>
                                    <p:anim calcmode="lin" valueType="num">
                                      <p:cBhvr>
                                        <p:cTn id="1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fade">
                                      <p:cBhvr>
                                        <p:cTn id="17" dur="1000"/>
                                        <p:tgtEl>
                                          <p:spTgt spid="11">
                                            <p:txEl>
                                              <p:pRg st="3" end="3"/>
                                            </p:txEl>
                                          </p:spTgt>
                                        </p:tgtEl>
                                      </p:cBhvr>
                                    </p:animEffect>
                                    <p:anim calcmode="lin" valueType="num">
                                      <p:cBhvr>
                                        <p:cTn id="1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838A5-BBAF-F519-7649-A8BE89C65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DE145-147C-5883-CF82-68E8C830B45C}"/>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Polymorphism</a:t>
            </a:r>
            <a:endParaRPr lang="en-AU" sz="4000" b="1" dirty="0">
              <a:latin typeface="Calibir"/>
            </a:endParaRPr>
          </a:p>
        </p:txBody>
      </p:sp>
      <p:sp>
        <p:nvSpPr>
          <p:cNvPr id="11" name="Rectangle 1">
            <a:extLst>
              <a:ext uri="{FF2B5EF4-FFF2-40B4-BE49-F238E27FC236}">
                <a16:creationId xmlns:a16="http://schemas.microsoft.com/office/drawing/2014/main" id="{B5C74B1E-3BF5-86F8-48AB-298CE544CA77}"/>
              </a:ext>
            </a:extLst>
          </p:cNvPr>
          <p:cNvSpPr>
            <a:spLocks noChangeArrowheads="1"/>
          </p:cNvSpPr>
          <p:nvPr/>
        </p:nvSpPr>
        <p:spPr bwMode="auto">
          <a:xfrm>
            <a:off x="0" y="1030244"/>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Real-Life Analogy:</a:t>
            </a:r>
          </a:p>
          <a:p>
            <a:pPr lvl="0" eaLnBrk="0" fontAlgn="base" hangingPunct="0">
              <a:lnSpc>
                <a:spcPct val="150000"/>
              </a:lnSpc>
              <a:spcBef>
                <a:spcPct val="0"/>
              </a:spcBef>
              <a:spcAft>
                <a:spcPct val="0"/>
              </a:spcAft>
            </a:pPr>
            <a:r>
              <a:rPr lang="en-US" altLang="en-US" sz="2800" dirty="0">
                <a:latin typeface="Calibir"/>
              </a:rPr>
              <a:t>You say “Open” — a fridge, a file, and a door will all open, but in different ways</a:t>
            </a:r>
          </a:p>
        </p:txBody>
      </p:sp>
      <p:sp>
        <p:nvSpPr>
          <p:cNvPr id="4" name="Rectangle 2">
            <a:extLst>
              <a:ext uri="{FF2B5EF4-FFF2-40B4-BE49-F238E27FC236}">
                <a16:creationId xmlns:a16="http://schemas.microsoft.com/office/drawing/2014/main" id="{4E547E6E-7CD9-41B2-264C-DA481B1304DC}"/>
              </a:ext>
            </a:extLst>
          </p:cNvPr>
          <p:cNvSpPr>
            <a:spLocks noChangeArrowheads="1"/>
          </p:cNvSpPr>
          <p:nvPr/>
        </p:nvSpPr>
        <p:spPr bwMode="auto">
          <a:xfrm>
            <a:off x="0" y="3070100"/>
            <a:ext cx="8468729"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Calibir"/>
              </a:rPr>
              <a:t>Australian Example: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Calibir"/>
              </a:rPr>
              <a:t>The method </a:t>
            </a:r>
            <a:r>
              <a:rPr kumimoji="0" lang="en-US" altLang="en-US" sz="2800" i="0" u="none" strike="noStrike" cap="none" normalizeH="0" baseline="0" dirty="0" err="1">
                <a:ln>
                  <a:noFill/>
                </a:ln>
                <a:solidFill>
                  <a:schemeClr val="tx1"/>
                </a:solidFill>
                <a:effectLst/>
                <a:latin typeface="Calibir"/>
              </a:rPr>
              <a:t>calculateInterest</a:t>
            </a:r>
            <a:r>
              <a:rPr kumimoji="0" lang="en-US" altLang="en-US" sz="2800" i="0" u="none" strike="noStrike" cap="none" normalizeH="0" baseline="0" dirty="0">
                <a:ln>
                  <a:noFill/>
                </a:ln>
                <a:solidFill>
                  <a:schemeClr val="tx1"/>
                </a:solidFill>
                <a:effectLst/>
                <a:latin typeface="Calibir"/>
              </a:rPr>
              <a:t>() gives different results for:</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Calibir"/>
              </a:rPr>
              <a:t>A MyGov savings account</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Calibir"/>
              </a:rPr>
              <a:t>A Centrelink credit benefit</a:t>
            </a:r>
          </a:p>
        </p:txBody>
      </p:sp>
    </p:spTree>
    <p:extLst>
      <p:ext uri="{BB962C8B-B14F-4D97-AF65-F5344CB8AC3E}">
        <p14:creationId xmlns:p14="http://schemas.microsoft.com/office/powerpoint/2010/main" val="188704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7A68-5429-4CF0-73AD-7E267B3E8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C9AAC-EE04-7610-002B-24155B4342C3}"/>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Polymorphism Bird Example in Python</a:t>
            </a:r>
            <a:endParaRPr lang="en-AU" sz="4000" b="1" dirty="0">
              <a:latin typeface="Calibir"/>
            </a:endParaRPr>
          </a:p>
        </p:txBody>
      </p:sp>
      <p:sp>
        <p:nvSpPr>
          <p:cNvPr id="5" name="TextBox 4">
            <a:extLst>
              <a:ext uri="{FF2B5EF4-FFF2-40B4-BE49-F238E27FC236}">
                <a16:creationId xmlns:a16="http://schemas.microsoft.com/office/drawing/2014/main" id="{F0A0F3A2-04E2-D0EB-87E8-A2F0706A2071}"/>
              </a:ext>
            </a:extLst>
          </p:cNvPr>
          <p:cNvSpPr txBox="1"/>
          <p:nvPr/>
        </p:nvSpPr>
        <p:spPr>
          <a:xfrm>
            <a:off x="0" y="1137425"/>
            <a:ext cx="12192000" cy="5693866"/>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Bird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make_sound</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"Tweet!"</a:t>
            </a: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Emu</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Bird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make_sound</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"Grunt!"</a:t>
            </a: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speak</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bird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bird</a:t>
            </a:r>
            <a:r>
              <a:rPr lang="en-US" sz="2800" b="0" dirty="0" err="1">
                <a:solidFill>
                  <a:srgbClr val="CCCCCC"/>
                </a:solidFill>
                <a:effectLst/>
                <a:latin typeface="Consolas" panose="020B0609020204030204" pitchFamily="49" charset="0"/>
              </a:rPr>
              <a:t>.make_sound</a:t>
            </a:r>
            <a:r>
              <a:rPr lang="en-US" sz="2800" b="0" dirty="0">
                <a:solidFill>
                  <a:srgbClr val="CCCCCC"/>
                </a:solidFill>
                <a:effectLst/>
                <a:latin typeface="Consolas" panose="020B0609020204030204" pitchFamily="49" charset="0"/>
              </a:rPr>
              <a:t>()</a:t>
            </a:r>
          </a:p>
          <a:p>
            <a:pPr>
              <a:buNone/>
            </a:pPr>
            <a:br>
              <a:rPr lang="en-US" sz="2800" b="0" dirty="0">
                <a:solidFill>
                  <a:srgbClr val="CCCCCC"/>
                </a:solidFill>
                <a:effectLst/>
                <a:latin typeface="Consolas" panose="020B0609020204030204" pitchFamily="49" charset="0"/>
              </a:rPr>
            </a:br>
            <a:r>
              <a:rPr lang="en-US" sz="2800" b="0" dirty="0">
                <a:solidFill>
                  <a:srgbClr val="DCDCAA"/>
                </a:solidFill>
                <a:effectLst/>
                <a:latin typeface="Consolas" panose="020B0609020204030204" pitchFamily="49" charset="0"/>
              </a:rPr>
              <a:t>speak</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Bird</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Output: Tweet!</a:t>
            </a:r>
            <a:endParaRPr lang="en-US" sz="2800" b="0" dirty="0">
              <a:solidFill>
                <a:srgbClr val="CCCCCC"/>
              </a:solidFill>
              <a:effectLst/>
              <a:latin typeface="Consolas" panose="020B0609020204030204" pitchFamily="49" charset="0"/>
            </a:endParaRPr>
          </a:p>
          <a:p>
            <a:pPr>
              <a:buNone/>
            </a:pPr>
            <a:r>
              <a:rPr lang="en-US" sz="2800" b="0" dirty="0">
                <a:solidFill>
                  <a:srgbClr val="DCDCAA"/>
                </a:solidFill>
                <a:effectLst/>
                <a:latin typeface="Consolas" panose="020B0609020204030204" pitchFamily="49" charset="0"/>
              </a:rPr>
              <a:t>speak</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Emu</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Output: Grunt!</a:t>
            </a:r>
            <a:endParaRPr lang="en-US" sz="2800" b="0" dirty="0">
              <a:solidFill>
                <a:srgbClr val="CCCCCC"/>
              </a:solidFill>
              <a:effectLst/>
              <a:latin typeface="Consolas" panose="020B0609020204030204" pitchFamily="49" charset="0"/>
            </a:endParaRPr>
          </a:p>
        </p:txBody>
      </p:sp>
      <p:sp>
        <p:nvSpPr>
          <p:cNvPr id="6" name="Rectangle 1">
            <a:extLst>
              <a:ext uri="{FF2B5EF4-FFF2-40B4-BE49-F238E27FC236}">
                <a16:creationId xmlns:a16="http://schemas.microsoft.com/office/drawing/2014/main" id="{4C3F0542-AD1F-2603-FDB4-C964493A96CC}"/>
              </a:ext>
            </a:extLst>
          </p:cNvPr>
          <p:cNvSpPr>
            <a:spLocks noChangeArrowheads="1"/>
          </p:cNvSpPr>
          <p:nvPr/>
        </p:nvSpPr>
        <p:spPr bwMode="auto">
          <a:xfrm>
            <a:off x="7672038" y="1137425"/>
            <a:ext cx="4519962" cy="390350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Calibir"/>
              </a:rPr>
              <a:t>This Python code shows polymorphism, where different bird objects respond to the same </a:t>
            </a:r>
            <a:r>
              <a:rPr kumimoji="0" lang="en-US" altLang="en-US" sz="2800" i="0" u="none" strike="noStrike" cap="none" normalizeH="0" baseline="0" dirty="0" err="1">
                <a:ln>
                  <a:noFill/>
                </a:ln>
                <a:solidFill>
                  <a:schemeClr val="tx1"/>
                </a:solidFill>
                <a:effectLst/>
                <a:latin typeface="Calibir"/>
              </a:rPr>
              <a:t>make_sound</a:t>
            </a:r>
            <a:r>
              <a:rPr kumimoji="0" lang="en-US" altLang="en-US" sz="2800" i="0" u="none" strike="noStrike" cap="none" normalizeH="0" baseline="0" dirty="0">
                <a:ln>
                  <a:noFill/>
                </a:ln>
                <a:solidFill>
                  <a:schemeClr val="tx1"/>
                </a:solidFill>
                <a:effectLst/>
                <a:latin typeface="Calibir"/>
              </a:rPr>
              <a:t>() method in their own unique way. </a:t>
            </a:r>
          </a:p>
        </p:txBody>
      </p:sp>
      <p:pic>
        <p:nvPicPr>
          <p:cNvPr id="8" name="Picture 7">
            <a:extLst>
              <a:ext uri="{FF2B5EF4-FFF2-40B4-BE49-F238E27FC236}">
                <a16:creationId xmlns:a16="http://schemas.microsoft.com/office/drawing/2014/main" id="{604FD24E-8C88-3BF3-195C-3E123DA2D1AD}"/>
              </a:ext>
            </a:extLst>
          </p:cNvPr>
          <p:cNvPicPr>
            <a:picLocks noChangeAspect="1"/>
          </p:cNvPicPr>
          <p:nvPr/>
        </p:nvPicPr>
        <p:blipFill>
          <a:blip r:embed="rId3"/>
          <a:srcRect l="54878" t="16586" b="62276"/>
          <a:stretch>
            <a:fillRect/>
          </a:stretch>
        </p:blipFill>
        <p:spPr>
          <a:xfrm>
            <a:off x="6690732" y="5381633"/>
            <a:ext cx="5501268" cy="1449658"/>
          </a:xfrm>
          <a:prstGeom prst="rect">
            <a:avLst/>
          </a:prstGeom>
        </p:spPr>
      </p:pic>
      <p:cxnSp>
        <p:nvCxnSpPr>
          <p:cNvPr id="10" name="Connector: Elbow 9">
            <a:extLst>
              <a:ext uri="{FF2B5EF4-FFF2-40B4-BE49-F238E27FC236}">
                <a16:creationId xmlns:a16="http://schemas.microsoft.com/office/drawing/2014/main" id="{20CE109B-9534-F170-22A9-2B2DAE748710}"/>
              </a:ext>
            </a:extLst>
          </p:cNvPr>
          <p:cNvCxnSpPr/>
          <p:nvPr/>
        </p:nvCxnSpPr>
        <p:spPr>
          <a:xfrm>
            <a:off x="5161935" y="4159045"/>
            <a:ext cx="1519084" cy="1238865"/>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8177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7F554-E07E-18F4-DBBE-5BA72691F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D5693-0072-CB13-6854-1F971F96A5C5}"/>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Object-Oriented Design (OOD)</a:t>
            </a:r>
            <a:endParaRPr lang="en-AU" sz="4000" b="1" dirty="0">
              <a:latin typeface="Calibir"/>
            </a:endParaRPr>
          </a:p>
        </p:txBody>
      </p:sp>
      <p:sp>
        <p:nvSpPr>
          <p:cNvPr id="6" name="Rectangle 1">
            <a:extLst>
              <a:ext uri="{FF2B5EF4-FFF2-40B4-BE49-F238E27FC236}">
                <a16:creationId xmlns:a16="http://schemas.microsoft.com/office/drawing/2014/main" id="{E77D9A83-9C2E-F3D6-BE79-7F4C06325DA6}"/>
              </a:ext>
            </a:extLst>
          </p:cNvPr>
          <p:cNvSpPr>
            <a:spLocks noChangeArrowheads="1"/>
          </p:cNvSpPr>
          <p:nvPr/>
        </p:nvSpPr>
        <p:spPr bwMode="auto">
          <a:xfrm>
            <a:off x="0" y="1988034"/>
            <a:ext cx="12192000"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OOD?</a:t>
            </a:r>
          </a:p>
          <a:p>
            <a:pPr marL="457200" indent="-457200">
              <a:lnSpc>
                <a:spcPct val="150000"/>
              </a:lnSpc>
              <a:buFont typeface="Arial" panose="020B0604020202020204" pitchFamily="34" charset="0"/>
              <a:buChar char="•"/>
            </a:pPr>
            <a:r>
              <a:rPr lang="en-US" sz="2800" dirty="0">
                <a:latin typeface="Calibir"/>
              </a:rPr>
              <a:t>It’s how we plan software using objects, their data, and their actions</a:t>
            </a:r>
          </a:p>
          <a:p>
            <a:pPr marL="457200" indent="-457200">
              <a:lnSpc>
                <a:spcPct val="150000"/>
              </a:lnSpc>
              <a:buFont typeface="Arial" panose="020B0604020202020204" pitchFamily="34" charset="0"/>
              <a:buChar char="•"/>
            </a:pPr>
            <a:r>
              <a:rPr lang="en-US" sz="2800" dirty="0">
                <a:latin typeface="Calibir"/>
              </a:rPr>
              <a:t>Helps make code easier to build, test, and maintain</a:t>
            </a:r>
          </a:p>
        </p:txBody>
      </p:sp>
    </p:spTree>
    <p:extLst>
      <p:ext uri="{BB962C8B-B14F-4D97-AF65-F5344CB8AC3E}">
        <p14:creationId xmlns:p14="http://schemas.microsoft.com/office/powerpoint/2010/main" val="11939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4F67-7ABA-9FCB-4477-EAA852D8A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7EE43-D89A-E0D8-BD18-BC4329E9FFAD}"/>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Object-Oriented Design (OOD)</a:t>
            </a:r>
            <a:endParaRPr lang="en-AU" sz="4000" b="1" dirty="0">
              <a:latin typeface="Calibir"/>
            </a:endParaRPr>
          </a:p>
        </p:txBody>
      </p:sp>
      <p:sp>
        <p:nvSpPr>
          <p:cNvPr id="6" name="Rectangle 1">
            <a:extLst>
              <a:ext uri="{FF2B5EF4-FFF2-40B4-BE49-F238E27FC236}">
                <a16:creationId xmlns:a16="http://schemas.microsoft.com/office/drawing/2014/main" id="{7CAC59CE-424E-270A-8D14-96363B27A802}"/>
              </a:ext>
            </a:extLst>
          </p:cNvPr>
          <p:cNvSpPr>
            <a:spLocks noChangeArrowheads="1"/>
          </p:cNvSpPr>
          <p:nvPr/>
        </p:nvSpPr>
        <p:spPr bwMode="auto">
          <a:xfrm>
            <a:off x="0" y="1341704"/>
            <a:ext cx="12192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Key Steps:</a:t>
            </a:r>
          </a:p>
          <a:p>
            <a:pPr marL="971550" lvl="1" indent="-514350">
              <a:lnSpc>
                <a:spcPct val="150000"/>
              </a:lnSpc>
              <a:buFont typeface="+mj-lt"/>
              <a:buAutoNum type="arabicPeriod"/>
            </a:pPr>
            <a:r>
              <a:rPr lang="en-US" sz="2800" dirty="0">
                <a:latin typeface="Calibir"/>
              </a:rPr>
              <a:t>Find the classes (from real use cases)</a:t>
            </a:r>
          </a:p>
          <a:p>
            <a:pPr marL="971550" lvl="1" indent="-514350">
              <a:lnSpc>
                <a:spcPct val="150000"/>
              </a:lnSpc>
              <a:buFont typeface="+mj-lt"/>
              <a:buAutoNum type="arabicPeriod"/>
            </a:pPr>
            <a:r>
              <a:rPr lang="en-US" sz="2800" dirty="0">
                <a:latin typeface="Calibir"/>
              </a:rPr>
              <a:t>List their attributes (nouns) and methods (verbs)</a:t>
            </a:r>
          </a:p>
          <a:p>
            <a:pPr marL="971550" lvl="1" indent="-514350">
              <a:lnSpc>
                <a:spcPct val="150000"/>
              </a:lnSpc>
              <a:buFont typeface="+mj-lt"/>
              <a:buAutoNum type="arabicPeriod"/>
            </a:pPr>
            <a:r>
              <a:rPr lang="en-US" sz="2800" dirty="0">
                <a:latin typeface="Calibir"/>
              </a:rPr>
              <a:t>Show how they relate</a:t>
            </a:r>
          </a:p>
          <a:p>
            <a:pPr marL="971550" lvl="1" indent="-514350">
              <a:lnSpc>
                <a:spcPct val="150000"/>
              </a:lnSpc>
              <a:buFont typeface="+mj-lt"/>
              <a:buAutoNum type="arabicPeriod"/>
            </a:pPr>
            <a:r>
              <a:rPr lang="en-US" sz="2800" dirty="0">
                <a:latin typeface="Calibir"/>
              </a:rPr>
              <a:t>Draw a UML class diagram</a:t>
            </a:r>
          </a:p>
        </p:txBody>
      </p:sp>
    </p:spTree>
    <p:extLst>
      <p:ext uri="{BB962C8B-B14F-4D97-AF65-F5344CB8AC3E}">
        <p14:creationId xmlns:p14="http://schemas.microsoft.com/office/powerpoint/2010/main" val="681414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7980-D4EB-6B4F-2167-F2CF296EE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9A952-8CC5-7FF4-0BA8-8B2A0C012DF3}"/>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Object-Oriented Design (OOD)</a:t>
            </a:r>
            <a:endParaRPr lang="en-AU" sz="4000" b="1" dirty="0">
              <a:latin typeface="Calibir"/>
            </a:endParaRPr>
          </a:p>
        </p:txBody>
      </p:sp>
      <p:sp>
        <p:nvSpPr>
          <p:cNvPr id="6" name="Rectangle 1">
            <a:extLst>
              <a:ext uri="{FF2B5EF4-FFF2-40B4-BE49-F238E27FC236}">
                <a16:creationId xmlns:a16="http://schemas.microsoft.com/office/drawing/2014/main" id="{0C92776A-B57A-6D6F-5AA4-2648F9E9F75F}"/>
              </a:ext>
            </a:extLst>
          </p:cNvPr>
          <p:cNvSpPr>
            <a:spLocks noChangeArrowheads="1"/>
          </p:cNvSpPr>
          <p:nvPr/>
        </p:nvSpPr>
        <p:spPr bwMode="auto">
          <a:xfrm>
            <a:off x="0" y="1341704"/>
            <a:ext cx="12192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Australian Example:</a:t>
            </a:r>
          </a:p>
          <a:p>
            <a:pPr lvl="0" eaLnBrk="0" fontAlgn="base" hangingPunct="0">
              <a:lnSpc>
                <a:spcPct val="150000"/>
              </a:lnSpc>
              <a:spcBef>
                <a:spcPct val="0"/>
              </a:spcBef>
              <a:spcAft>
                <a:spcPct val="0"/>
              </a:spcAft>
            </a:pPr>
            <a:r>
              <a:rPr lang="en-US" altLang="en-US" sz="2800" dirty="0">
                <a:latin typeface="Calibir"/>
              </a:rPr>
              <a:t>Designing a MyGov login system: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Classes: User, Account, Authenticator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Methods: login(), </a:t>
            </a:r>
            <a:r>
              <a:rPr lang="en-US" altLang="en-US" sz="2800" dirty="0" err="1">
                <a:latin typeface="Calibir"/>
              </a:rPr>
              <a:t>validateOTP</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"A Customer uses the deposit() method, but it's defined in the Account class."</a:t>
            </a:r>
          </a:p>
        </p:txBody>
      </p:sp>
    </p:spTree>
    <p:extLst>
      <p:ext uri="{BB962C8B-B14F-4D97-AF65-F5344CB8AC3E}">
        <p14:creationId xmlns:p14="http://schemas.microsoft.com/office/powerpoint/2010/main" val="3552327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8D276-EFB1-5777-9231-0CF759F24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543D6-6232-EAA1-851B-CEEC995ACACC}"/>
              </a:ext>
            </a:extLst>
          </p:cNvPr>
          <p:cNvSpPr>
            <a:spLocks noGrp="1"/>
          </p:cNvSpPr>
          <p:nvPr>
            <p:ph type="title"/>
          </p:nvPr>
        </p:nvSpPr>
        <p:spPr>
          <a:xfrm>
            <a:off x="0" y="2"/>
            <a:ext cx="12192000" cy="631732"/>
          </a:xfrm>
        </p:spPr>
        <p:txBody>
          <a:bodyPr anchor="b">
            <a:normAutofit fontScale="90000"/>
          </a:bodyPr>
          <a:lstStyle/>
          <a:p>
            <a:r>
              <a:rPr lang="en-US" sz="4000" dirty="0">
                <a:latin typeface="Calibir"/>
              </a:rPr>
              <a:t>Object-Oriented Design (OOD)</a:t>
            </a:r>
            <a:endParaRPr lang="en-AU" sz="4000" b="1" dirty="0">
              <a:latin typeface="Calibir"/>
            </a:endParaRPr>
          </a:p>
        </p:txBody>
      </p:sp>
      <p:sp>
        <p:nvSpPr>
          <p:cNvPr id="6" name="Rectangle 1">
            <a:extLst>
              <a:ext uri="{FF2B5EF4-FFF2-40B4-BE49-F238E27FC236}">
                <a16:creationId xmlns:a16="http://schemas.microsoft.com/office/drawing/2014/main" id="{4F23CE75-CC74-2692-5160-CCF9312FE4F2}"/>
              </a:ext>
            </a:extLst>
          </p:cNvPr>
          <p:cNvSpPr>
            <a:spLocks noChangeArrowheads="1"/>
          </p:cNvSpPr>
          <p:nvPr/>
        </p:nvSpPr>
        <p:spPr bwMode="auto">
          <a:xfrm>
            <a:off x="0" y="1341704"/>
            <a:ext cx="12192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Australian Example:</a:t>
            </a:r>
          </a:p>
          <a:p>
            <a:pPr lvl="0" eaLnBrk="0" fontAlgn="base" hangingPunct="0">
              <a:lnSpc>
                <a:spcPct val="150000"/>
              </a:lnSpc>
              <a:spcBef>
                <a:spcPct val="0"/>
              </a:spcBef>
              <a:spcAft>
                <a:spcPct val="0"/>
              </a:spcAft>
            </a:pPr>
            <a:r>
              <a:rPr lang="en-US" altLang="en-US" sz="2800" dirty="0">
                <a:latin typeface="Calibir"/>
              </a:rPr>
              <a:t>Designing a MyGov login system: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Classes: User, Account, Authenticator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Methods: login(), </a:t>
            </a:r>
            <a:r>
              <a:rPr lang="en-US" altLang="en-US" sz="2800" dirty="0" err="1">
                <a:latin typeface="Calibir"/>
              </a:rPr>
              <a:t>validateOTP</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"A Customer uses the deposit() method, but it's defined in the Account class."</a:t>
            </a:r>
          </a:p>
        </p:txBody>
      </p:sp>
    </p:spTree>
    <p:extLst>
      <p:ext uri="{BB962C8B-B14F-4D97-AF65-F5344CB8AC3E}">
        <p14:creationId xmlns:p14="http://schemas.microsoft.com/office/powerpoint/2010/main" val="622536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8348-45C2-D397-240C-6B221B806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C8361-6BDF-2E4E-FFED-2FA1805146DD}"/>
              </a:ext>
            </a:extLst>
          </p:cNvPr>
          <p:cNvSpPr>
            <a:spLocks noGrp="1"/>
          </p:cNvSpPr>
          <p:nvPr>
            <p:ph type="title"/>
          </p:nvPr>
        </p:nvSpPr>
        <p:spPr>
          <a:xfrm>
            <a:off x="0" y="1"/>
            <a:ext cx="12192000" cy="1019831"/>
          </a:xfrm>
        </p:spPr>
        <p:txBody>
          <a:bodyPr anchor="b">
            <a:normAutofit fontScale="90000"/>
          </a:bodyPr>
          <a:lstStyle/>
          <a:p>
            <a:r>
              <a:rPr lang="en-US" sz="4000" dirty="0"/>
              <a:t>Understanding UML Class Diagrams (Account Example) – Java Style Notation</a:t>
            </a:r>
            <a:endParaRPr lang="en-AU" sz="4000" b="1" dirty="0">
              <a:latin typeface="Calibir"/>
            </a:endParaRPr>
          </a:p>
        </p:txBody>
      </p:sp>
      <p:sp>
        <p:nvSpPr>
          <p:cNvPr id="6" name="Rectangle 1">
            <a:extLst>
              <a:ext uri="{FF2B5EF4-FFF2-40B4-BE49-F238E27FC236}">
                <a16:creationId xmlns:a16="http://schemas.microsoft.com/office/drawing/2014/main" id="{E7943C91-D10F-5574-CAE4-D369E701A14C}"/>
              </a:ext>
            </a:extLst>
          </p:cNvPr>
          <p:cNvSpPr>
            <a:spLocks noChangeArrowheads="1"/>
          </p:cNvSpPr>
          <p:nvPr/>
        </p:nvSpPr>
        <p:spPr bwMode="auto">
          <a:xfrm>
            <a:off x="1" y="1233328"/>
            <a:ext cx="12192000"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What is UML?</a:t>
            </a:r>
          </a:p>
          <a:p>
            <a:pPr marL="457200" indent="-457200">
              <a:lnSpc>
                <a:spcPct val="150000"/>
              </a:lnSpc>
              <a:buFont typeface="Arial" panose="020B0604020202020204" pitchFamily="34" charset="0"/>
              <a:buChar char="•"/>
            </a:pPr>
            <a:r>
              <a:rPr lang="en-US" sz="2800" dirty="0">
                <a:latin typeface="Calibir"/>
              </a:rPr>
              <a:t>UML = Unified Modeling Language</a:t>
            </a:r>
          </a:p>
          <a:p>
            <a:pPr marL="457200" indent="-457200">
              <a:lnSpc>
                <a:spcPct val="150000"/>
              </a:lnSpc>
              <a:buFont typeface="Arial" panose="020B0604020202020204" pitchFamily="34" charset="0"/>
              <a:buChar char="•"/>
            </a:pPr>
            <a:r>
              <a:rPr lang="en-US" sz="2800" dirty="0">
                <a:latin typeface="Calibir"/>
              </a:rPr>
              <a:t>Used to draw diagrams that show how classes are built and how they relate</a:t>
            </a:r>
          </a:p>
        </p:txBody>
      </p:sp>
      <p:sp>
        <p:nvSpPr>
          <p:cNvPr id="10" name="Rectangle 1">
            <a:extLst>
              <a:ext uri="{FF2B5EF4-FFF2-40B4-BE49-F238E27FC236}">
                <a16:creationId xmlns:a16="http://schemas.microsoft.com/office/drawing/2014/main" id="{820D2F81-BA55-1478-BEDE-0A5919B52F05}"/>
              </a:ext>
            </a:extLst>
          </p:cNvPr>
          <p:cNvSpPr>
            <a:spLocks noChangeArrowheads="1"/>
          </p:cNvSpPr>
          <p:nvPr/>
        </p:nvSpPr>
        <p:spPr bwMode="auto">
          <a:xfrm>
            <a:off x="131220" y="4074665"/>
            <a:ext cx="2440476"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Calibir"/>
              </a:rPr>
              <a:t>- means private</a:t>
            </a:r>
          </a:p>
          <a:p>
            <a:pPr marL="0" marR="0" lvl="0" indent="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Calibir"/>
              </a:rPr>
              <a:t>+ means public</a:t>
            </a:r>
          </a:p>
        </p:txBody>
      </p:sp>
      <p:pic>
        <p:nvPicPr>
          <p:cNvPr id="17" name="Picture 16">
            <a:extLst>
              <a:ext uri="{FF2B5EF4-FFF2-40B4-BE49-F238E27FC236}">
                <a16:creationId xmlns:a16="http://schemas.microsoft.com/office/drawing/2014/main" id="{8C8105F7-D9B2-6824-9FCC-0245574EA5D7}"/>
              </a:ext>
            </a:extLst>
          </p:cNvPr>
          <p:cNvPicPr>
            <a:picLocks noChangeAspect="1"/>
          </p:cNvPicPr>
          <p:nvPr/>
        </p:nvPicPr>
        <p:blipFill>
          <a:blip r:embed="rId3">
            <a:extLst>
              <a:ext uri="{28A0092B-C50C-407E-A947-70E740481C1C}">
                <a14:useLocalDpi xmlns:a14="http://schemas.microsoft.com/office/drawing/2010/main" val="0"/>
              </a:ext>
            </a:extLst>
          </a:blip>
          <a:srcRect l="63429" t="53505" r="1876" b="20215"/>
          <a:stretch>
            <a:fillRect/>
          </a:stretch>
        </p:blipFill>
        <p:spPr>
          <a:xfrm>
            <a:off x="5366362" y="3411336"/>
            <a:ext cx="6825638" cy="3446663"/>
          </a:xfrm>
          <a:prstGeom prst="rect">
            <a:avLst/>
          </a:prstGeom>
        </p:spPr>
      </p:pic>
    </p:spTree>
    <p:extLst>
      <p:ext uri="{BB962C8B-B14F-4D97-AF65-F5344CB8AC3E}">
        <p14:creationId xmlns:p14="http://schemas.microsoft.com/office/powerpoint/2010/main" val="40418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6D6A-A1ED-FAF6-6866-DEE1B165906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3BB3959-09F6-F14A-A1E2-45D77C107381}"/>
              </a:ext>
            </a:extLst>
          </p:cNvPr>
          <p:cNvSpPr>
            <a:spLocks noChangeArrowheads="1"/>
          </p:cNvSpPr>
          <p:nvPr/>
        </p:nvSpPr>
        <p:spPr bwMode="auto">
          <a:xfrm>
            <a:off x="0" y="1165010"/>
            <a:ext cx="5648631"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Tools You Can Use:</a:t>
            </a:r>
          </a:p>
          <a:p>
            <a:pPr marL="457200" indent="-457200">
              <a:lnSpc>
                <a:spcPct val="150000"/>
              </a:lnSpc>
              <a:buFont typeface="Arial" panose="020B0604020202020204" pitchFamily="34" charset="0"/>
              <a:buChar char="•"/>
            </a:pPr>
            <a:r>
              <a:rPr lang="en-US" sz="2800" dirty="0">
                <a:latin typeface="Calibir"/>
                <a:hlinkClick r:id="rId3"/>
              </a:rPr>
              <a:t>Draw.io</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Visual Paradigm (free)</a:t>
            </a:r>
          </a:p>
          <a:p>
            <a:pPr marL="457200" indent="-457200">
              <a:lnSpc>
                <a:spcPct val="150000"/>
              </a:lnSpc>
              <a:buFont typeface="Arial" panose="020B0604020202020204" pitchFamily="34" charset="0"/>
              <a:buChar char="•"/>
            </a:pPr>
            <a:r>
              <a:rPr lang="en-US" sz="2800" dirty="0" err="1">
                <a:latin typeface="Calibir"/>
              </a:rPr>
              <a:t>Lucidchart</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Microsoft Visio</a:t>
            </a:r>
          </a:p>
        </p:txBody>
      </p:sp>
      <p:sp>
        <p:nvSpPr>
          <p:cNvPr id="11" name="Title 1">
            <a:extLst>
              <a:ext uri="{FF2B5EF4-FFF2-40B4-BE49-F238E27FC236}">
                <a16:creationId xmlns:a16="http://schemas.microsoft.com/office/drawing/2014/main" id="{1E5F7545-9FFD-A630-DFDA-DEE942D1DE72}"/>
              </a:ext>
            </a:extLst>
          </p:cNvPr>
          <p:cNvSpPr>
            <a:spLocks noGrp="1"/>
          </p:cNvSpPr>
          <p:nvPr>
            <p:ph type="title"/>
          </p:nvPr>
        </p:nvSpPr>
        <p:spPr>
          <a:xfrm>
            <a:off x="0" y="2"/>
            <a:ext cx="12192000" cy="707922"/>
          </a:xfrm>
        </p:spPr>
        <p:txBody>
          <a:bodyPr anchor="b">
            <a:normAutofit/>
          </a:bodyPr>
          <a:lstStyle/>
          <a:p>
            <a:r>
              <a:rPr lang="en-US" sz="4000" dirty="0"/>
              <a:t>Recommended Tools for Drawing UML Diagrams</a:t>
            </a:r>
            <a:endParaRPr lang="en-AU" sz="4000" b="1" dirty="0">
              <a:latin typeface="Calibir"/>
            </a:endParaRPr>
          </a:p>
        </p:txBody>
      </p:sp>
      <p:sp>
        <p:nvSpPr>
          <p:cNvPr id="13" name="TextBox 12">
            <a:extLst>
              <a:ext uri="{FF2B5EF4-FFF2-40B4-BE49-F238E27FC236}">
                <a16:creationId xmlns:a16="http://schemas.microsoft.com/office/drawing/2014/main" id="{D633BCF2-8668-D7EC-96DD-2CCBCA20828A}"/>
              </a:ext>
            </a:extLst>
          </p:cNvPr>
          <p:cNvSpPr txBox="1"/>
          <p:nvPr/>
        </p:nvSpPr>
        <p:spPr>
          <a:xfrm>
            <a:off x="0" y="4352073"/>
            <a:ext cx="11975690" cy="1318181"/>
          </a:xfrm>
          <a:prstGeom prst="rect">
            <a:avLst/>
          </a:prstGeom>
          <a:noFill/>
        </p:spPr>
        <p:txBody>
          <a:bodyPr wrap="square">
            <a:spAutoFit/>
          </a:bodyPr>
          <a:lstStyle/>
          <a:p>
            <a:pPr>
              <a:lnSpc>
                <a:spcPct val="150000"/>
              </a:lnSpc>
            </a:pPr>
            <a:r>
              <a:rPr lang="en-US" sz="2800" dirty="0">
                <a:latin typeface="Calibir"/>
              </a:rPr>
              <a:t>These tools help you create class diagrams, use case diagrams, and more—free and beginner-friendly.</a:t>
            </a:r>
            <a:endParaRPr lang="en-AU" sz="2800" dirty="0">
              <a:latin typeface="Calibir"/>
            </a:endParaRPr>
          </a:p>
        </p:txBody>
      </p:sp>
    </p:spTree>
    <p:extLst>
      <p:ext uri="{BB962C8B-B14F-4D97-AF65-F5344CB8AC3E}">
        <p14:creationId xmlns:p14="http://schemas.microsoft.com/office/powerpoint/2010/main" val="4060189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3D01-4CB2-5356-182F-EE8A0B4E044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8984DA-461F-F226-F552-6D9251540C42}"/>
              </a:ext>
            </a:extLst>
          </p:cNvPr>
          <p:cNvGraphicFramePr>
            <a:graphicFrameLocks noGrp="1"/>
          </p:cNvGraphicFramePr>
          <p:nvPr>
            <p:extLst>
              <p:ext uri="{D42A27DB-BD31-4B8C-83A1-F6EECF244321}">
                <p14:modId xmlns:p14="http://schemas.microsoft.com/office/powerpoint/2010/main" val="206483614"/>
              </p:ext>
            </p:extLst>
          </p:nvPr>
        </p:nvGraphicFramePr>
        <p:xfrm>
          <a:off x="351503" y="707520"/>
          <a:ext cx="11488993" cy="5442960"/>
        </p:xfrm>
        <a:graphic>
          <a:graphicData uri="http://schemas.openxmlformats.org/drawingml/2006/table">
            <a:tbl>
              <a:tblPr>
                <a:tableStyleId>{BDBED569-4797-4DF1-A0F4-6AAB3CD982D8}</a:tableStyleId>
              </a:tblPr>
              <a:tblGrid>
                <a:gridCol w="3156155">
                  <a:extLst>
                    <a:ext uri="{9D8B030D-6E8A-4147-A177-3AD203B41FA5}">
                      <a16:colId xmlns:a16="http://schemas.microsoft.com/office/drawing/2014/main" val="1931691816"/>
                    </a:ext>
                  </a:extLst>
                </a:gridCol>
                <a:gridCol w="1982849">
                  <a:extLst>
                    <a:ext uri="{9D8B030D-6E8A-4147-A177-3AD203B41FA5}">
                      <a16:colId xmlns:a16="http://schemas.microsoft.com/office/drawing/2014/main" val="668206716"/>
                    </a:ext>
                  </a:extLst>
                </a:gridCol>
                <a:gridCol w="2058209">
                  <a:extLst>
                    <a:ext uri="{9D8B030D-6E8A-4147-A177-3AD203B41FA5}">
                      <a16:colId xmlns:a16="http://schemas.microsoft.com/office/drawing/2014/main" val="1326575257"/>
                    </a:ext>
                  </a:extLst>
                </a:gridCol>
                <a:gridCol w="1548580">
                  <a:extLst>
                    <a:ext uri="{9D8B030D-6E8A-4147-A177-3AD203B41FA5}">
                      <a16:colId xmlns:a16="http://schemas.microsoft.com/office/drawing/2014/main" val="2969895302"/>
                    </a:ext>
                  </a:extLst>
                </a:gridCol>
                <a:gridCol w="2743200">
                  <a:extLst>
                    <a:ext uri="{9D8B030D-6E8A-4147-A177-3AD203B41FA5}">
                      <a16:colId xmlns:a16="http://schemas.microsoft.com/office/drawing/2014/main" val="3126578611"/>
                    </a:ext>
                  </a:extLst>
                </a:gridCol>
              </a:tblGrid>
              <a:tr h="214881">
                <a:tc>
                  <a:txBody>
                    <a:bodyPr/>
                    <a:lstStyle/>
                    <a:p>
                      <a:r>
                        <a:rPr lang="en-US" sz="1600" dirty="0">
                          <a:latin typeface="Calibir"/>
                        </a:rPr>
                        <a:t>Tool</a:t>
                      </a:r>
                    </a:p>
                  </a:txBody>
                  <a:tcPr marL="53720" marR="53720" marT="26860" marB="26860" anchor="ctr"/>
                </a:tc>
                <a:tc>
                  <a:txBody>
                    <a:bodyPr/>
                    <a:lstStyle/>
                    <a:p>
                      <a:r>
                        <a:rPr lang="en-US" sz="1600">
                          <a:latin typeface="Calibir"/>
                        </a:rPr>
                        <a:t>Description</a:t>
                      </a:r>
                    </a:p>
                  </a:txBody>
                  <a:tcPr marL="53720" marR="53720" marT="26860" marB="26860" anchor="ctr"/>
                </a:tc>
                <a:tc>
                  <a:txBody>
                    <a:bodyPr/>
                    <a:lstStyle/>
                    <a:p>
                      <a:r>
                        <a:rPr lang="en-US" sz="1600">
                          <a:latin typeface="Calibir"/>
                        </a:rPr>
                        <a:t>Platform</a:t>
                      </a:r>
                    </a:p>
                  </a:txBody>
                  <a:tcPr marL="53720" marR="53720" marT="26860" marB="26860" anchor="ctr"/>
                </a:tc>
                <a:tc>
                  <a:txBody>
                    <a:bodyPr/>
                    <a:lstStyle/>
                    <a:p>
                      <a:r>
                        <a:rPr lang="en-US" sz="1600">
                          <a:latin typeface="Calibir"/>
                        </a:rPr>
                        <a:t>Best For</a:t>
                      </a:r>
                    </a:p>
                  </a:txBody>
                  <a:tcPr marL="53720" marR="53720" marT="26860" marB="26860" anchor="ctr"/>
                </a:tc>
                <a:tc>
                  <a:txBody>
                    <a:bodyPr/>
                    <a:lstStyle/>
                    <a:p>
                      <a:r>
                        <a:rPr lang="en-US" sz="1600">
                          <a:latin typeface="Calibir"/>
                        </a:rPr>
                        <a:t>Link</a:t>
                      </a:r>
                    </a:p>
                  </a:txBody>
                  <a:tcPr marL="53720" marR="53720" marT="26860" marB="26860" anchor="ctr"/>
                </a:tc>
                <a:extLst>
                  <a:ext uri="{0D108BD9-81ED-4DB2-BD59-A6C34878D82A}">
                    <a16:rowId xmlns:a16="http://schemas.microsoft.com/office/drawing/2014/main" val="3414072182"/>
                  </a:ext>
                </a:extLst>
              </a:tr>
              <a:tr h="859524">
                <a:tc>
                  <a:txBody>
                    <a:bodyPr/>
                    <a:lstStyle/>
                    <a:p>
                      <a:r>
                        <a:rPr lang="en-US" sz="1600" b="1">
                          <a:latin typeface="Calibir"/>
                        </a:rPr>
                        <a:t>Draw.io (diagrams.net)</a:t>
                      </a:r>
                      <a:endParaRPr lang="en-US" sz="1600">
                        <a:latin typeface="Calibir"/>
                      </a:endParaRPr>
                    </a:p>
                  </a:txBody>
                  <a:tcPr marL="53720" marR="53720" marT="26860" marB="26860" anchor="ctr"/>
                </a:tc>
                <a:tc>
                  <a:txBody>
                    <a:bodyPr/>
                    <a:lstStyle/>
                    <a:p>
                      <a:r>
                        <a:rPr lang="en-US" sz="1600" dirty="0">
                          <a:latin typeface="Calibir"/>
                        </a:rPr>
                        <a:t>Intuitive, browser-based diagramming tool with UML templates.</a:t>
                      </a:r>
                    </a:p>
                  </a:txBody>
                  <a:tcPr marL="53720" marR="53720" marT="26860" marB="26860" anchor="ctr"/>
                </a:tc>
                <a:tc>
                  <a:txBody>
                    <a:bodyPr/>
                    <a:lstStyle/>
                    <a:p>
                      <a:r>
                        <a:rPr lang="en-US" sz="1600">
                          <a:latin typeface="Calibir"/>
                        </a:rPr>
                        <a:t>Web, Desktop</a:t>
                      </a:r>
                    </a:p>
                  </a:txBody>
                  <a:tcPr marL="53720" marR="53720" marT="26860" marB="26860" anchor="ctr"/>
                </a:tc>
                <a:tc>
                  <a:txBody>
                    <a:bodyPr/>
                    <a:lstStyle/>
                    <a:p>
                      <a:r>
                        <a:rPr lang="en-US" sz="1600">
                          <a:latin typeface="Calibir"/>
                        </a:rPr>
                        <a:t>Class Diagrams, Use Case Diagrams, Flowcharts</a:t>
                      </a:r>
                    </a:p>
                  </a:txBody>
                  <a:tcPr marL="53720" marR="53720" marT="26860" marB="26860" anchor="ctr"/>
                </a:tc>
                <a:tc>
                  <a:txBody>
                    <a:bodyPr/>
                    <a:lstStyle/>
                    <a:p>
                      <a:r>
                        <a:rPr lang="en-US" sz="1600" dirty="0">
                          <a:latin typeface="Calibir"/>
                          <a:hlinkClick r:id="rId3"/>
                        </a:rPr>
                        <a:t>https://draw.io</a:t>
                      </a:r>
                      <a:endParaRPr lang="en-US" sz="1600" dirty="0">
                        <a:latin typeface="Calibir"/>
                      </a:endParaRPr>
                    </a:p>
                  </a:txBody>
                  <a:tcPr marL="53720" marR="53720" marT="26860" marB="26860" anchor="ctr"/>
                </a:tc>
                <a:extLst>
                  <a:ext uri="{0D108BD9-81ED-4DB2-BD59-A6C34878D82A}">
                    <a16:rowId xmlns:a16="http://schemas.microsoft.com/office/drawing/2014/main" val="1132463714"/>
                  </a:ext>
                </a:extLst>
              </a:tr>
              <a:tr h="859524">
                <a:tc>
                  <a:txBody>
                    <a:bodyPr/>
                    <a:lstStyle/>
                    <a:p>
                      <a:r>
                        <a:rPr lang="en-US" sz="1600" b="1">
                          <a:latin typeface="Calibir"/>
                        </a:rPr>
                        <a:t>Lucidchart (Free Plan)</a:t>
                      </a:r>
                      <a:endParaRPr lang="en-US" sz="1600">
                        <a:latin typeface="Calibir"/>
                      </a:endParaRPr>
                    </a:p>
                  </a:txBody>
                  <a:tcPr marL="53720" marR="53720" marT="26860" marB="26860" anchor="ctr"/>
                </a:tc>
                <a:tc>
                  <a:txBody>
                    <a:bodyPr/>
                    <a:lstStyle/>
                    <a:p>
                      <a:r>
                        <a:rPr lang="en-US" sz="1600">
                          <a:latin typeface="Calibir"/>
                        </a:rPr>
                        <a:t>Easy-to-use interface with real-time collaboration and UML templates.</a:t>
                      </a:r>
                    </a:p>
                  </a:txBody>
                  <a:tcPr marL="53720" marR="53720" marT="26860" marB="26860" anchor="ctr"/>
                </a:tc>
                <a:tc>
                  <a:txBody>
                    <a:bodyPr/>
                    <a:lstStyle/>
                    <a:p>
                      <a:r>
                        <a:rPr lang="en-US" sz="1600" dirty="0">
                          <a:latin typeface="Calibir"/>
                        </a:rPr>
                        <a:t>Web</a:t>
                      </a:r>
                    </a:p>
                  </a:txBody>
                  <a:tcPr marL="53720" marR="53720" marT="26860" marB="26860" anchor="ctr"/>
                </a:tc>
                <a:tc>
                  <a:txBody>
                    <a:bodyPr/>
                    <a:lstStyle/>
                    <a:p>
                      <a:r>
                        <a:rPr lang="en-US" sz="1600" dirty="0">
                          <a:latin typeface="Calibir"/>
                        </a:rPr>
                        <a:t>UML diagrams, Use Case design, Group work</a:t>
                      </a:r>
                    </a:p>
                  </a:txBody>
                  <a:tcPr marL="53720" marR="53720" marT="26860" marB="26860" anchor="ctr"/>
                </a:tc>
                <a:tc>
                  <a:txBody>
                    <a:bodyPr/>
                    <a:lstStyle/>
                    <a:p>
                      <a:r>
                        <a:rPr lang="en-US" sz="1600" dirty="0">
                          <a:latin typeface="Calibir"/>
                          <a:hlinkClick r:id="rId4"/>
                        </a:rPr>
                        <a:t>https://www.lucidchart.com</a:t>
                      </a:r>
                      <a:endParaRPr lang="en-US" sz="1600" dirty="0">
                        <a:latin typeface="Calibir"/>
                      </a:endParaRPr>
                    </a:p>
                  </a:txBody>
                  <a:tcPr marL="53720" marR="53720" marT="26860" marB="26860" anchor="ctr"/>
                </a:tc>
                <a:extLst>
                  <a:ext uri="{0D108BD9-81ED-4DB2-BD59-A6C34878D82A}">
                    <a16:rowId xmlns:a16="http://schemas.microsoft.com/office/drawing/2014/main" val="3736296214"/>
                  </a:ext>
                </a:extLst>
              </a:tr>
              <a:tr h="859524">
                <a:tc>
                  <a:txBody>
                    <a:bodyPr/>
                    <a:lstStyle/>
                    <a:p>
                      <a:r>
                        <a:rPr lang="en-US" sz="1600" b="1" dirty="0">
                          <a:latin typeface="Calibir"/>
                        </a:rPr>
                        <a:t>Visual Paradigm (Community Edition)</a:t>
                      </a:r>
                      <a:endParaRPr lang="en-US" sz="1600" dirty="0">
                        <a:latin typeface="Calibir"/>
                      </a:endParaRPr>
                    </a:p>
                  </a:txBody>
                  <a:tcPr marL="53720" marR="53720" marT="26860" marB="26860" anchor="ctr"/>
                </a:tc>
                <a:tc>
                  <a:txBody>
                    <a:bodyPr/>
                    <a:lstStyle/>
                    <a:p>
                      <a:r>
                        <a:rPr lang="en-US" sz="1600">
                          <a:latin typeface="Calibir"/>
                        </a:rPr>
                        <a:t>Professional UML and system modeling tool with rich diagram support.</a:t>
                      </a:r>
                    </a:p>
                  </a:txBody>
                  <a:tcPr marL="53720" marR="53720" marT="26860" marB="26860" anchor="ctr"/>
                </a:tc>
                <a:tc>
                  <a:txBody>
                    <a:bodyPr/>
                    <a:lstStyle/>
                    <a:p>
                      <a:r>
                        <a:rPr lang="en-US" sz="1600">
                          <a:latin typeface="Calibir"/>
                        </a:rPr>
                        <a:t>Desktop (Windows/macOS/Linux)</a:t>
                      </a:r>
                    </a:p>
                  </a:txBody>
                  <a:tcPr marL="53720" marR="53720" marT="26860" marB="26860" anchor="ctr"/>
                </a:tc>
                <a:tc>
                  <a:txBody>
                    <a:bodyPr/>
                    <a:lstStyle/>
                    <a:p>
                      <a:r>
                        <a:rPr lang="en-US" sz="1600">
                          <a:latin typeface="Calibir"/>
                        </a:rPr>
                        <a:t>Class Diagrams, Sequence Diagrams, DFDs</a:t>
                      </a:r>
                    </a:p>
                  </a:txBody>
                  <a:tcPr marL="53720" marR="53720" marT="26860" marB="26860" anchor="ctr"/>
                </a:tc>
                <a:tc>
                  <a:txBody>
                    <a:bodyPr/>
                    <a:lstStyle/>
                    <a:p>
                      <a:r>
                        <a:rPr lang="en-US" sz="1600" dirty="0">
                          <a:latin typeface="Calibir"/>
                          <a:hlinkClick r:id="rId5"/>
                        </a:rPr>
                        <a:t>https://www.visual-paradigm.com/download/community.jsp</a:t>
                      </a:r>
                      <a:endParaRPr lang="en-US" sz="1600" dirty="0">
                        <a:latin typeface="Calibir"/>
                      </a:endParaRPr>
                    </a:p>
                  </a:txBody>
                  <a:tcPr marL="53720" marR="53720" marT="26860" marB="26860" anchor="ctr"/>
                </a:tc>
                <a:extLst>
                  <a:ext uri="{0D108BD9-81ED-4DB2-BD59-A6C34878D82A}">
                    <a16:rowId xmlns:a16="http://schemas.microsoft.com/office/drawing/2014/main" val="4204469160"/>
                  </a:ext>
                </a:extLst>
              </a:tr>
              <a:tr h="859524">
                <a:tc>
                  <a:txBody>
                    <a:bodyPr/>
                    <a:lstStyle/>
                    <a:p>
                      <a:r>
                        <a:rPr lang="en-US" sz="1600" b="1">
                          <a:latin typeface="Calibir"/>
                        </a:rPr>
                        <a:t>StarUML (Free Trial or License)</a:t>
                      </a:r>
                      <a:endParaRPr lang="en-US" sz="1600">
                        <a:latin typeface="Calibir"/>
                      </a:endParaRPr>
                    </a:p>
                  </a:txBody>
                  <a:tcPr marL="53720" marR="53720" marT="26860" marB="26860" anchor="ctr"/>
                </a:tc>
                <a:tc>
                  <a:txBody>
                    <a:bodyPr/>
                    <a:lstStyle/>
                    <a:p>
                      <a:r>
                        <a:rPr lang="en-US" sz="1600">
                          <a:latin typeface="Calibir"/>
                        </a:rPr>
                        <a:t>Designed for software engineering students and professionals.</a:t>
                      </a:r>
                    </a:p>
                  </a:txBody>
                  <a:tcPr marL="53720" marR="53720" marT="26860" marB="26860" anchor="ctr"/>
                </a:tc>
                <a:tc>
                  <a:txBody>
                    <a:bodyPr/>
                    <a:lstStyle/>
                    <a:p>
                      <a:r>
                        <a:rPr lang="en-US" sz="1600">
                          <a:latin typeface="Calibir"/>
                        </a:rPr>
                        <a:t>Desktop</a:t>
                      </a:r>
                    </a:p>
                  </a:txBody>
                  <a:tcPr marL="53720" marR="53720" marT="26860" marB="26860" anchor="ctr"/>
                </a:tc>
                <a:tc>
                  <a:txBody>
                    <a:bodyPr/>
                    <a:lstStyle/>
                    <a:p>
                      <a:r>
                        <a:rPr lang="en-US" sz="1600">
                          <a:latin typeface="Calibir"/>
                        </a:rPr>
                        <a:t>Full UML diagram suite (recommended in course)</a:t>
                      </a:r>
                    </a:p>
                  </a:txBody>
                  <a:tcPr marL="53720" marR="53720" marT="26860" marB="26860" anchor="ctr"/>
                </a:tc>
                <a:tc>
                  <a:txBody>
                    <a:bodyPr/>
                    <a:lstStyle/>
                    <a:p>
                      <a:r>
                        <a:rPr lang="en-US" sz="1600" dirty="0">
                          <a:latin typeface="Calibir"/>
                          <a:hlinkClick r:id="rId6"/>
                        </a:rPr>
                        <a:t>https://staruml.io</a:t>
                      </a:r>
                      <a:endParaRPr lang="en-US" sz="1600" dirty="0">
                        <a:latin typeface="Calibir"/>
                      </a:endParaRPr>
                    </a:p>
                  </a:txBody>
                  <a:tcPr marL="53720" marR="53720" marT="26860" marB="26860" anchor="ctr"/>
                </a:tc>
                <a:extLst>
                  <a:ext uri="{0D108BD9-81ED-4DB2-BD59-A6C34878D82A}">
                    <a16:rowId xmlns:a16="http://schemas.microsoft.com/office/drawing/2014/main" val="2258441048"/>
                  </a:ext>
                </a:extLst>
              </a:tr>
              <a:tr h="698363">
                <a:tc>
                  <a:txBody>
                    <a:bodyPr/>
                    <a:lstStyle/>
                    <a:p>
                      <a:r>
                        <a:rPr lang="en-US" sz="1600" b="1">
                          <a:latin typeface="Calibir"/>
                        </a:rPr>
                        <a:t>Creately (Free Tier)</a:t>
                      </a:r>
                      <a:endParaRPr lang="en-US" sz="1600">
                        <a:latin typeface="Calibir"/>
                      </a:endParaRPr>
                    </a:p>
                  </a:txBody>
                  <a:tcPr marL="53720" marR="53720" marT="26860" marB="26860" anchor="ctr"/>
                </a:tc>
                <a:tc>
                  <a:txBody>
                    <a:bodyPr/>
                    <a:lstStyle/>
                    <a:p>
                      <a:r>
                        <a:rPr lang="en-US" sz="1600" dirty="0">
                          <a:latin typeface="Calibir"/>
                        </a:rPr>
                        <a:t>Collaborative visual workspace with multiple UML templates.</a:t>
                      </a:r>
                    </a:p>
                  </a:txBody>
                  <a:tcPr marL="53720" marR="53720" marT="26860" marB="26860" anchor="ctr"/>
                </a:tc>
                <a:tc>
                  <a:txBody>
                    <a:bodyPr/>
                    <a:lstStyle/>
                    <a:p>
                      <a:r>
                        <a:rPr lang="en-US" sz="1600">
                          <a:latin typeface="Calibir"/>
                        </a:rPr>
                        <a:t>Web</a:t>
                      </a:r>
                    </a:p>
                  </a:txBody>
                  <a:tcPr marL="53720" marR="53720" marT="26860" marB="26860" anchor="ctr"/>
                </a:tc>
                <a:tc>
                  <a:txBody>
                    <a:bodyPr/>
                    <a:lstStyle/>
                    <a:p>
                      <a:r>
                        <a:rPr lang="en-US" sz="1600">
                          <a:latin typeface="Calibir"/>
                        </a:rPr>
                        <a:t>Use Cases, Class Diagrams, ERDs</a:t>
                      </a:r>
                    </a:p>
                  </a:txBody>
                  <a:tcPr marL="53720" marR="53720" marT="26860" marB="26860" anchor="ctr"/>
                </a:tc>
                <a:tc>
                  <a:txBody>
                    <a:bodyPr/>
                    <a:lstStyle/>
                    <a:p>
                      <a:r>
                        <a:rPr lang="en-US" sz="1600" dirty="0">
                          <a:latin typeface="Calibir"/>
                          <a:hlinkClick r:id="rId7"/>
                        </a:rPr>
                        <a:t>https://creately.com</a:t>
                      </a:r>
                      <a:endParaRPr lang="en-US" sz="1600" dirty="0">
                        <a:latin typeface="Calibir"/>
                      </a:endParaRPr>
                    </a:p>
                  </a:txBody>
                  <a:tcPr marL="53720" marR="53720" marT="26860" marB="26860" anchor="ctr"/>
                </a:tc>
                <a:extLst>
                  <a:ext uri="{0D108BD9-81ED-4DB2-BD59-A6C34878D82A}">
                    <a16:rowId xmlns:a16="http://schemas.microsoft.com/office/drawing/2014/main" val="2728068856"/>
                  </a:ext>
                </a:extLst>
              </a:tr>
            </a:tbl>
          </a:graphicData>
        </a:graphic>
      </p:graphicFrame>
    </p:spTree>
    <p:extLst>
      <p:ext uri="{BB962C8B-B14F-4D97-AF65-F5344CB8AC3E}">
        <p14:creationId xmlns:p14="http://schemas.microsoft.com/office/powerpoint/2010/main" val="3490354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54E22-EAA4-69F0-FFB5-8F5A6F308B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FE3838-9CAE-C979-E426-AA8BC6CA3893}"/>
              </a:ext>
            </a:extLst>
          </p:cNvPr>
          <p:cNvSpPr txBox="1"/>
          <p:nvPr/>
        </p:nvSpPr>
        <p:spPr>
          <a:xfrm>
            <a:off x="309716" y="722672"/>
            <a:ext cx="11577484" cy="3903504"/>
          </a:xfrm>
          <a:prstGeom prst="rect">
            <a:avLst/>
          </a:prstGeom>
          <a:noFill/>
        </p:spPr>
        <p:txBody>
          <a:bodyPr wrap="square">
            <a:spAutoFit/>
          </a:bodyPr>
          <a:lstStyle/>
          <a:p>
            <a:pPr>
              <a:lnSpc>
                <a:spcPct val="150000"/>
              </a:lnSpc>
              <a:buNone/>
            </a:pPr>
            <a:r>
              <a:rPr lang="en-US" sz="2800" b="1" dirty="0">
                <a:latin typeface="Calibir"/>
              </a:rPr>
              <a:t>Recommendation for Students</a:t>
            </a:r>
          </a:p>
          <a:p>
            <a:pPr marL="457200" indent="-457200">
              <a:lnSpc>
                <a:spcPct val="150000"/>
              </a:lnSpc>
              <a:buFont typeface="Arial" panose="020B0604020202020204" pitchFamily="34" charset="0"/>
              <a:buChar char="•"/>
            </a:pPr>
            <a:r>
              <a:rPr lang="en-US" sz="2800" dirty="0">
                <a:latin typeface="Calibir"/>
              </a:rPr>
              <a:t>Beginner-friendly: Start with Draw.io or </a:t>
            </a:r>
            <a:r>
              <a:rPr lang="en-US" sz="2800" dirty="0" err="1">
                <a:latin typeface="Calibir"/>
              </a:rPr>
              <a:t>Lucidchart</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Professional-level UML modelling: Use </a:t>
            </a:r>
            <a:r>
              <a:rPr lang="en-US" sz="2800" dirty="0" err="1">
                <a:latin typeface="Calibir"/>
              </a:rPr>
              <a:t>StarUML</a:t>
            </a:r>
            <a:r>
              <a:rPr lang="en-US" sz="2800" dirty="0">
                <a:latin typeface="Calibir"/>
              </a:rPr>
              <a:t> or Visual Paradigm.</a:t>
            </a:r>
          </a:p>
          <a:p>
            <a:pPr marL="457200" indent="-457200">
              <a:lnSpc>
                <a:spcPct val="150000"/>
              </a:lnSpc>
              <a:buFont typeface="Arial" panose="020B0604020202020204" pitchFamily="34" charset="0"/>
              <a:buChar char="•"/>
            </a:pPr>
            <a:r>
              <a:rPr lang="en-US" sz="2800" dirty="0">
                <a:latin typeface="Calibir"/>
              </a:rPr>
              <a:t>Offline work: Prefer Visual Paradigm or </a:t>
            </a:r>
            <a:r>
              <a:rPr lang="en-US" sz="2800" dirty="0" err="1">
                <a:latin typeface="Calibir"/>
              </a:rPr>
              <a:t>StarUML</a:t>
            </a:r>
            <a:r>
              <a:rPr lang="en-US" sz="2800" dirty="0">
                <a:latin typeface="Calibir"/>
              </a:rPr>
              <a:t> desktop versions.</a:t>
            </a:r>
          </a:p>
          <a:p>
            <a:pPr marL="457200" indent="-457200">
              <a:lnSpc>
                <a:spcPct val="150000"/>
              </a:lnSpc>
              <a:buFont typeface="Arial" panose="020B0604020202020204" pitchFamily="34" charset="0"/>
              <a:buChar char="•"/>
            </a:pPr>
            <a:r>
              <a:rPr lang="en-US" sz="2800" dirty="0">
                <a:latin typeface="Calibir"/>
              </a:rPr>
              <a:t>Collaboration features: Use </a:t>
            </a:r>
            <a:r>
              <a:rPr lang="en-US" sz="2800" dirty="0" err="1">
                <a:latin typeface="Calibir"/>
              </a:rPr>
              <a:t>Lucidchart</a:t>
            </a:r>
            <a:r>
              <a:rPr lang="en-US" sz="2800" dirty="0">
                <a:latin typeface="Calibir"/>
              </a:rPr>
              <a:t> or </a:t>
            </a:r>
            <a:r>
              <a:rPr lang="en-US" sz="2800" dirty="0" err="1">
                <a:latin typeface="Calibir"/>
              </a:rPr>
              <a:t>Creately</a:t>
            </a:r>
            <a:r>
              <a:rPr lang="en-US" sz="2800" dirty="0">
                <a:latin typeface="Calibir"/>
              </a:rPr>
              <a:t> (great for group projects).</a:t>
            </a:r>
          </a:p>
        </p:txBody>
      </p:sp>
    </p:spTree>
    <p:extLst>
      <p:ext uri="{BB962C8B-B14F-4D97-AF65-F5344CB8AC3E}">
        <p14:creationId xmlns:p14="http://schemas.microsoft.com/office/powerpoint/2010/main" val="3649242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6D665-713A-AA04-D500-DA67AEBB9FB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81728D8-0923-769D-3A17-DF9F8F7A4B36}"/>
              </a:ext>
            </a:extLst>
          </p:cNvPr>
          <p:cNvSpPr>
            <a:spLocks noChangeArrowheads="1"/>
          </p:cNvSpPr>
          <p:nvPr/>
        </p:nvSpPr>
        <p:spPr bwMode="auto">
          <a:xfrm>
            <a:off x="0" y="1154082"/>
            <a:ext cx="12192000" cy="4549835"/>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Microsoft Visio is a powerful diagramming tool that can be used to draw a variety of system and software models, including UML diagrams.</a:t>
            </a:r>
          </a:p>
          <a:p>
            <a:pPr>
              <a:lnSpc>
                <a:spcPct val="150000"/>
              </a:lnSpc>
            </a:pPr>
            <a:r>
              <a:rPr lang="en-US" sz="2800" dirty="0">
                <a:latin typeface="Calibir"/>
              </a:rPr>
              <a:t>Visio is suitable for creating:</a:t>
            </a:r>
          </a:p>
          <a:p>
            <a:pPr marL="914400" lvl="1" indent="-457200">
              <a:lnSpc>
                <a:spcPct val="150000"/>
              </a:lnSpc>
              <a:buFont typeface="Arial" panose="020B0604020202020204" pitchFamily="34" charset="0"/>
              <a:buChar char="•"/>
            </a:pPr>
            <a:r>
              <a:rPr lang="en-US" sz="2800" dirty="0">
                <a:latin typeface="Calibir"/>
              </a:rPr>
              <a:t>Use Case Diagrams</a:t>
            </a:r>
          </a:p>
          <a:p>
            <a:pPr marL="914400" lvl="1" indent="-457200">
              <a:lnSpc>
                <a:spcPct val="150000"/>
              </a:lnSpc>
              <a:buFont typeface="Arial" panose="020B0604020202020204" pitchFamily="34" charset="0"/>
              <a:buChar char="•"/>
            </a:pPr>
            <a:r>
              <a:rPr lang="en-US" sz="2800" dirty="0">
                <a:latin typeface="Calibir"/>
              </a:rPr>
              <a:t>Class Diagrams</a:t>
            </a:r>
          </a:p>
          <a:p>
            <a:pPr marL="914400" lvl="1" indent="-457200">
              <a:lnSpc>
                <a:spcPct val="150000"/>
              </a:lnSpc>
              <a:buFont typeface="Arial" panose="020B0604020202020204" pitchFamily="34" charset="0"/>
              <a:buChar char="•"/>
            </a:pPr>
            <a:r>
              <a:rPr lang="en-US" sz="2800" dirty="0">
                <a:latin typeface="Calibir"/>
              </a:rPr>
              <a:t>Activity Diagrams</a:t>
            </a:r>
          </a:p>
          <a:p>
            <a:pPr marL="914400" lvl="1" indent="-457200">
              <a:lnSpc>
                <a:spcPct val="150000"/>
              </a:lnSpc>
              <a:buFont typeface="Arial" panose="020B0604020202020204" pitchFamily="34" charset="0"/>
              <a:buChar char="•"/>
            </a:pPr>
            <a:r>
              <a:rPr lang="en-US" sz="2800" dirty="0">
                <a:latin typeface="Calibir"/>
              </a:rPr>
              <a:t>Sequence Diagrams</a:t>
            </a:r>
          </a:p>
        </p:txBody>
      </p:sp>
      <p:sp>
        <p:nvSpPr>
          <p:cNvPr id="11" name="Title 1">
            <a:extLst>
              <a:ext uri="{FF2B5EF4-FFF2-40B4-BE49-F238E27FC236}">
                <a16:creationId xmlns:a16="http://schemas.microsoft.com/office/drawing/2014/main" id="{B924B742-A4CB-FE1B-2BF4-C1A3625F6745}"/>
              </a:ext>
            </a:extLst>
          </p:cNvPr>
          <p:cNvSpPr>
            <a:spLocks noGrp="1"/>
          </p:cNvSpPr>
          <p:nvPr>
            <p:ph type="title"/>
          </p:nvPr>
        </p:nvSpPr>
        <p:spPr>
          <a:xfrm>
            <a:off x="0" y="2"/>
            <a:ext cx="12192000" cy="707922"/>
          </a:xfrm>
        </p:spPr>
        <p:txBody>
          <a:bodyPr anchor="b">
            <a:normAutofit/>
          </a:bodyPr>
          <a:lstStyle/>
          <a:p>
            <a:r>
              <a:rPr lang="en-US" sz="4000" dirty="0"/>
              <a:t>Using Microsoft Visio for UML Diagrams</a:t>
            </a:r>
            <a:endParaRPr lang="en-AU" sz="4000" b="1" dirty="0">
              <a:latin typeface="Calibir"/>
            </a:endParaRPr>
          </a:p>
        </p:txBody>
      </p:sp>
    </p:spTree>
    <p:extLst>
      <p:ext uri="{BB962C8B-B14F-4D97-AF65-F5344CB8AC3E}">
        <p14:creationId xmlns:p14="http://schemas.microsoft.com/office/powerpoint/2010/main" val="922388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73B2A-7AD3-4DAB-C7A1-A372FBB9362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8C4693A-6ADB-0F32-B2A5-1259F9310D48}"/>
              </a:ext>
            </a:extLst>
          </p:cNvPr>
          <p:cNvSpPr>
            <a:spLocks noGrp="1"/>
          </p:cNvSpPr>
          <p:nvPr>
            <p:ph type="title"/>
          </p:nvPr>
        </p:nvSpPr>
        <p:spPr>
          <a:xfrm>
            <a:off x="0" y="2"/>
            <a:ext cx="12192000" cy="707922"/>
          </a:xfrm>
        </p:spPr>
        <p:txBody>
          <a:bodyPr anchor="b">
            <a:normAutofit/>
          </a:bodyPr>
          <a:lstStyle/>
          <a:p>
            <a:r>
              <a:rPr lang="en-US" sz="4000" dirty="0"/>
              <a:t>Using Microsoft Visio for UML Diagrams</a:t>
            </a:r>
            <a:endParaRPr lang="en-AU" sz="4000" b="1" dirty="0">
              <a:latin typeface="Calibir"/>
            </a:endParaRPr>
          </a:p>
        </p:txBody>
      </p:sp>
      <p:graphicFrame>
        <p:nvGraphicFramePr>
          <p:cNvPr id="2" name="Table 1">
            <a:extLst>
              <a:ext uri="{FF2B5EF4-FFF2-40B4-BE49-F238E27FC236}">
                <a16:creationId xmlns:a16="http://schemas.microsoft.com/office/drawing/2014/main" id="{B600FDFF-B877-4632-3C87-034915F2D09E}"/>
              </a:ext>
            </a:extLst>
          </p:cNvPr>
          <p:cNvGraphicFramePr>
            <a:graphicFrameLocks noGrp="1"/>
          </p:cNvGraphicFramePr>
          <p:nvPr>
            <p:extLst>
              <p:ext uri="{D42A27DB-BD31-4B8C-83A1-F6EECF244321}">
                <p14:modId xmlns:p14="http://schemas.microsoft.com/office/powerpoint/2010/main" val="2386948911"/>
              </p:ext>
            </p:extLst>
          </p:nvPr>
        </p:nvGraphicFramePr>
        <p:xfrm>
          <a:off x="838200" y="1526803"/>
          <a:ext cx="10515600" cy="4389120"/>
        </p:xfrm>
        <a:graphic>
          <a:graphicData uri="http://schemas.openxmlformats.org/drawingml/2006/table">
            <a:tbl>
              <a:tblPr>
                <a:tableStyleId>{BDBED569-4797-4DF1-A0F4-6AAB3CD982D8}</a:tableStyleId>
              </a:tblPr>
              <a:tblGrid>
                <a:gridCol w="3023795">
                  <a:extLst>
                    <a:ext uri="{9D8B030D-6E8A-4147-A177-3AD203B41FA5}">
                      <a16:colId xmlns:a16="http://schemas.microsoft.com/office/drawing/2014/main" val="721472708"/>
                    </a:ext>
                  </a:extLst>
                </a:gridCol>
                <a:gridCol w="7491805">
                  <a:extLst>
                    <a:ext uri="{9D8B030D-6E8A-4147-A177-3AD203B41FA5}">
                      <a16:colId xmlns:a16="http://schemas.microsoft.com/office/drawing/2014/main" val="4255420040"/>
                    </a:ext>
                  </a:extLst>
                </a:gridCol>
              </a:tblGrid>
              <a:tr h="0">
                <a:tc>
                  <a:txBody>
                    <a:bodyPr/>
                    <a:lstStyle/>
                    <a:p>
                      <a:r>
                        <a:rPr lang="en-US" sz="2800" dirty="0">
                          <a:latin typeface="Calibir"/>
                        </a:rPr>
                        <a:t>Feature</a:t>
                      </a:r>
                    </a:p>
                  </a:txBody>
                  <a:tcPr anchor="ctr">
                    <a:solidFill>
                      <a:schemeClr val="accent5">
                        <a:lumMod val="20000"/>
                        <a:lumOff val="80000"/>
                      </a:schemeClr>
                    </a:solidFill>
                  </a:tcPr>
                </a:tc>
                <a:tc>
                  <a:txBody>
                    <a:bodyPr/>
                    <a:lstStyle/>
                    <a:p>
                      <a:r>
                        <a:rPr lang="en-US" sz="2800" dirty="0">
                          <a:latin typeface="Calibir"/>
                        </a:rPr>
                        <a:t>Details</a:t>
                      </a:r>
                    </a:p>
                  </a:txBody>
                  <a:tcPr anchor="ctr">
                    <a:solidFill>
                      <a:schemeClr val="accent5">
                        <a:lumMod val="20000"/>
                        <a:lumOff val="80000"/>
                      </a:schemeClr>
                    </a:solidFill>
                  </a:tcPr>
                </a:tc>
                <a:extLst>
                  <a:ext uri="{0D108BD9-81ED-4DB2-BD59-A6C34878D82A}">
                    <a16:rowId xmlns:a16="http://schemas.microsoft.com/office/drawing/2014/main" val="1917625848"/>
                  </a:ext>
                </a:extLst>
              </a:tr>
              <a:tr h="0">
                <a:tc>
                  <a:txBody>
                    <a:bodyPr/>
                    <a:lstStyle/>
                    <a:p>
                      <a:r>
                        <a:rPr lang="en-US" sz="2800" dirty="0">
                          <a:latin typeface="Calibir"/>
                        </a:rPr>
                        <a:t> Installation</a:t>
                      </a:r>
                    </a:p>
                  </a:txBody>
                  <a:tcPr anchor="ctr"/>
                </a:tc>
                <a:tc>
                  <a:txBody>
                    <a:bodyPr/>
                    <a:lstStyle/>
                    <a:p>
                      <a:r>
                        <a:rPr lang="en-US" sz="2800" dirty="0">
                          <a:latin typeface="Calibir"/>
                        </a:rPr>
                        <a:t>Part of Microsoft 365 (Pro Plus or Enterprise editions)</a:t>
                      </a:r>
                    </a:p>
                  </a:txBody>
                  <a:tcPr anchor="ctr"/>
                </a:tc>
                <a:extLst>
                  <a:ext uri="{0D108BD9-81ED-4DB2-BD59-A6C34878D82A}">
                    <a16:rowId xmlns:a16="http://schemas.microsoft.com/office/drawing/2014/main" val="3656938583"/>
                  </a:ext>
                </a:extLst>
              </a:tr>
              <a:tr h="0">
                <a:tc>
                  <a:txBody>
                    <a:bodyPr/>
                    <a:lstStyle/>
                    <a:p>
                      <a:r>
                        <a:rPr lang="en-US" sz="2800" dirty="0">
                          <a:latin typeface="Calibir"/>
                        </a:rPr>
                        <a:t> License</a:t>
                      </a:r>
                    </a:p>
                  </a:txBody>
                  <a:tcPr anchor="ctr"/>
                </a:tc>
                <a:tc>
                  <a:txBody>
                    <a:bodyPr/>
                    <a:lstStyle/>
                    <a:p>
                      <a:r>
                        <a:rPr lang="en-US" sz="2800">
                          <a:latin typeface="Calibir"/>
                        </a:rPr>
                        <a:t>May require separate license or institutional access</a:t>
                      </a:r>
                    </a:p>
                  </a:txBody>
                  <a:tcPr anchor="ctr"/>
                </a:tc>
                <a:extLst>
                  <a:ext uri="{0D108BD9-81ED-4DB2-BD59-A6C34878D82A}">
                    <a16:rowId xmlns:a16="http://schemas.microsoft.com/office/drawing/2014/main" val="3436961105"/>
                  </a:ext>
                </a:extLst>
              </a:tr>
              <a:tr h="0">
                <a:tc>
                  <a:txBody>
                    <a:bodyPr/>
                    <a:lstStyle/>
                    <a:p>
                      <a:r>
                        <a:rPr lang="en-US" sz="2800" dirty="0">
                          <a:latin typeface="Calibir"/>
                        </a:rPr>
                        <a:t> Suitability for Beginners</a:t>
                      </a:r>
                    </a:p>
                  </a:txBody>
                  <a:tcPr anchor="ctr"/>
                </a:tc>
                <a:tc>
                  <a:txBody>
                    <a:bodyPr/>
                    <a:lstStyle/>
                    <a:p>
                      <a:r>
                        <a:rPr lang="en-US" sz="2800">
                          <a:latin typeface="Calibir"/>
                        </a:rPr>
                        <a:t>Moderate (not as intuitive as Draw.io or StarUML)</a:t>
                      </a:r>
                    </a:p>
                  </a:txBody>
                  <a:tcPr anchor="ctr"/>
                </a:tc>
                <a:extLst>
                  <a:ext uri="{0D108BD9-81ED-4DB2-BD59-A6C34878D82A}">
                    <a16:rowId xmlns:a16="http://schemas.microsoft.com/office/drawing/2014/main" val="2965262477"/>
                  </a:ext>
                </a:extLst>
              </a:tr>
              <a:tr h="0">
                <a:tc>
                  <a:txBody>
                    <a:bodyPr/>
                    <a:lstStyle/>
                    <a:p>
                      <a:r>
                        <a:rPr lang="en-US" sz="2800" dirty="0">
                          <a:latin typeface="Calibir"/>
                        </a:rPr>
                        <a:t> Export Options</a:t>
                      </a:r>
                    </a:p>
                  </a:txBody>
                  <a:tcPr anchor="ctr"/>
                </a:tc>
                <a:tc>
                  <a:txBody>
                    <a:bodyPr/>
                    <a:lstStyle/>
                    <a:p>
                      <a:r>
                        <a:rPr lang="en-US" sz="2800">
                          <a:latin typeface="Calibir"/>
                        </a:rPr>
                        <a:t>Easily export to PDF or image formats</a:t>
                      </a:r>
                    </a:p>
                  </a:txBody>
                  <a:tcPr anchor="ctr"/>
                </a:tc>
                <a:extLst>
                  <a:ext uri="{0D108BD9-81ED-4DB2-BD59-A6C34878D82A}">
                    <a16:rowId xmlns:a16="http://schemas.microsoft.com/office/drawing/2014/main" val="2744624427"/>
                  </a:ext>
                </a:extLst>
              </a:tr>
              <a:tr h="0">
                <a:tc>
                  <a:txBody>
                    <a:bodyPr/>
                    <a:lstStyle/>
                    <a:p>
                      <a:r>
                        <a:rPr lang="en-US" sz="2800" dirty="0">
                          <a:latin typeface="Calibir"/>
                        </a:rPr>
                        <a:t> UML Templates</a:t>
                      </a:r>
                    </a:p>
                  </a:txBody>
                  <a:tcPr anchor="ctr"/>
                </a:tc>
                <a:tc>
                  <a:txBody>
                    <a:bodyPr/>
                    <a:lstStyle/>
                    <a:p>
                      <a:r>
                        <a:rPr lang="en-US" sz="2800" dirty="0">
                          <a:latin typeface="Calibir"/>
                        </a:rPr>
                        <a:t>Available via built-in or downloadable stencils</a:t>
                      </a:r>
                    </a:p>
                  </a:txBody>
                  <a:tcPr anchor="ctr"/>
                </a:tc>
                <a:extLst>
                  <a:ext uri="{0D108BD9-81ED-4DB2-BD59-A6C34878D82A}">
                    <a16:rowId xmlns:a16="http://schemas.microsoft.com/office/drawing/2014/main" val="2411871347"/>
                  </a:ext>
                </a:extLst>
              </a:tr>
            </a:tbl>
          </a:graphicData>
        </a:graphic>
      </p:graphicFrame>
      <p:sp>
        <p:nvSpPr>
          <p:cNvPr id="3" name="Rectangle 1">
            <a:extLst>
              <a:ext uri="{FF2B5EF4-FFF2-40B4-BE49-F238E27FC236}">
                <a16:creationId xmlns:a16="http://schemas.microsoft.com/office/drawing/2014/main" id="{2E20C42B-C60F-B7CB-47C7-34D2E31DA31F}"/>
              </a:ext>
            </a:extLst>
          </p:cNvPr>
          <p:cNvSpPr>
            <a:spLocks noChangeArrowheads="1"/>
          </p:cNvSpPr>
          <p:nvPr/>
        </p:nvSpPr>
        <p:spPr bwMode="auto">
          <a:xfrm>
            <a:off x="0" y="707924"/>
            <a:ext cx="341830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However, please note:</a:t>
            </a:r>
          </a:p>
        </p:txBody>
      </p:sp>
    </p:spTree>
    <p:extLst>
      <p:ext uri="{BB962C8B-B14F-4D97-AF65-F5344CB8AC3E}">
        <p14:creationId xmlns:p14="http://schemas.microsoft.com/office/powerpoint/2010/main" val="10660022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9BB3-F052-0885-7A9C-C50FCCA067BA}"/>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CB9FA926-1A00-BBD4-B566-2E0F3388D6B0}"/>
              </a:ext>
            </a:extLst>
          </p:cNvPr>
          <p:cNvSpPr>
            <a:spLocks noGrp="1"/>
          </p:cNvSpPr>
          <p:nvPr>
            <p:ph type="title"/>
          </p:nvPr>
        </p:nvSpPr>
        <p:spPr>
          <a:xfrm>
            <a:off x="0" y="2"/>
            <a:ext cx="12192000" cy="707922"/>
          </a:xfrm>
        </p:spPr>
        <p:txBody>
          <a:bodyPr anchor="b">
            <a:normAutofit/>
          </a:bodyPr>
          <a:lstStyle/>
          <a:p>
            <a:r>
              <a:rPr lang="en-US" sz="4000" dirty="0"/>
              <a:t>Using Microsoft Visio for UML Diagrams</a:t>
            </a:r>
            <a:endParaRPr lang="en-AU" sz="4000" b="1" dirty="0">
              <a:latin typeface="Calibir"/>
            </a:endParaRPr>
          </a:p>
        </p:txBody>
      </p:sp>
      <p:sp>
        <p:nvSpPr>
          <p:cNvPr id="5" name="TextBox 4">
            <a:extLst>
              <a:ext uri="{FF2B5EF4-FFF2-40B4-BE49-F238E27FC236}">
                <a16:creationId xmlns:a16="http://schemas.microsoft.com/office/drawing/2014/main" id="{1686843C-4478-5B88-7E97-619B90F8453E}"/>
              </a:ext>
            </a:extLst>
          </p:cNvPr>
          <p:cNvSpPr txBox="1"/>
          <p:nvPr/>
        </p:nvSpPr>
        <p:spPr>
          <a:xfrm>
            <a:off x="0" y="857026"/>
            <a:ext cx="11973260" cy="5842497"/>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If your university provides Microsoft 365 for Education:</a:t>
            </a:r>
          </a:p>
          <a:p>
            <a:pPr marL="514350" lvl="0" indent="-514350" eaLnBrk="0" fontAlgn="base" hangingPunct="0">
              <a:lnSpc>
                <a:spcPct val="150000"/>
              </a:lnSpc>
              <a:spcBef>
                <a:spcPct val="0"/>
              </a:spcBef>
              <a:spcAft>
                <a:spcPct val="0"/>
              </a:spcAft>
              <a:buFont typeface="+mj-lt"/>
              <a:buAutoNum type="arabicPeriod"/>
            </a:pPr>
            <a:r>
              <a:rPr lang="en-US" altLang="en-US" sz="2800" dirty="0">
                <a:latin typeface="Calibir"/>
              </a:rPr>
              <a:t>Visit your university's Office 365 portal, e.g.</a:t>
            </a:r>
            <a:br>
              <a:rPr lang="en-US" altLang="en-US" sz="2800" dirty="0">
                <a:latin typeface="Calibir"/>
              </a:rPr>
            </a:br>
            <a:r>
              <a:rPr lang="en-US" altLang="en-US" sz="2800" dirty="0">
                <a:latin typeface="Calibir"/>
                <a:hlinkClick r:id="rId3"/>
              </a:rPr>
              <a:t>https://www.office.com</a:t>
            </a:r>
            <a:r>
              <a:rPr lang="en-US" altLang="en-US" sz="2800" dirty="0">
                <a:latin typeface="Calibir"/>
              </a:rPr>
              <a:t> </a:t>
            </a:r>
          </a:p>
          <a:p>
            <a:pPr marL="514350" lvl="0" indent="-514350" eaLnBrk="0" fontAlgn="base" hangingPunct="0">
              <a:lnSpc>
                <a:spcPct val="150000"/>
              </a:lnSpc>
              <a:spcBef>
                <a:spcPct val="0"/>
              </a:spcBef>
              <a:spcAft>
                <a:spcPct val="0"/>
              </a:spcAft>
              <a:buFont typeface="+mj-lt"/>
              <a:buAutoNum type="arabicPeriod"/>
            </a:pPr>
            <a:r>
              <a:rPr lang="en-US" altLang="en-US" sz="2800" dirty="0">
                <a:latin typeface="Calibir"/>
              </a:rPr>
              <a:t>Sign in using your University email.</a:t>
            </a:r>
          </a:p>
          <a:p>
            <a:pPr marL="514350" lvl="0" indent="-514350" eaLnBrk="0" fontAlgn="base" hangingPunct="0">
              <a:lnSpc>
                <a:spcPct val="150000"/>
              </a:lnSpc>
              <a:spcBef>
                <a:spcPct val="0"/>
              </a:spcBef>
              <a:spcAft>
                <a:spcPct val="0"/>
              </a:spcAft>
              <a:buFont typeface="+mj-lt"/>
              <a:buAutoNum type="arabicPeriod"/>
            </a:pPr>
            <a:r>
              <a:rPr lang="en-US" altLang="en-US" sz="2800" dirty="0">
                <a:latin typeface="Calibir"/>
              </a:rPr>
              <a:t>Click on "Install Office".</a:t>
            </a:r>
          </a:p>
          <a:p>
            <a:pPr marL="514350" lvl="0" indent="-514350" eaLnBrk="0" fontAlgn="base" hangingPunct="0">
              <a:lnSpc>
                <a:spcPct val="150000"/>
              </a:lnSpc>
              <a:spcBef>
                <a:spcPct val="0"/>
              </a:spcBef>
              <a:spcAft>
                <a:spcPct val="0"/>
              </a:spcAft>
              <a:buFont typeface="+mj-lt"/>
              <a:buAutoNum type="arabicPeriod"/>
            </a:pPr>
            <a:r>
              <a:rPr lang="en-US" altLang="en-US" sz="2800" dirty="0">
                <a:latin typeface="Calibir"/>
              </a:rPr>
              <a:t>If Visio is included in your license, you will see an option to install Visio under “Other installs”.</a:t>
            </a:r>
          </a:p>
          <a:p>
            <a:pPr lvl="0" eaLnBrk="0" fontAlgn="base" hangingPunct="0">
              <a:lnSpc>
                <a:spcPct val="150000"/>
              </a:lnSpc>
              <a:spcBef>
                <a:spcPct val="0"/>
              </a:spcBef>
              <a:spcAft>
                <a:spcPct val="0"/>
              </a:spcAft>
            </a:pPr>
            <a:r>
              <a:rPr lang="en-US" altLang="en-US" sz="2800" dirty="0">
                <a:latin typeface="Calibir"/>
              </a:rPr>
              <a:t>Not all student accounts include Visio by default. Check with your university IT or library services.</a:t>
            </a:r>
          </a:p>
        </p:txBody>
      </p:sp>
    </p:spTree>
    <p:extLst>
      <p:ext uri="{BB962C8B-B14F-4D97-AF65-F5344CB8AC3E}">
        <p14:creationId xmlns:p14="http://schemas.microsoft.com/office/powerpoint/2010/main" val="2150038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7E8B8-943A-9A3F-974E-2E21B9802AA8}"/>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B81884B-979E-3357-70D0-FEF24F51D4B9}"/>
              </a:ext>
            </a:extLst>
          </p:cNvPr>
          <p:cNvSpPr>
            <a:spLocks noGrp="1"/>
          </p:cNvSpPr>
          <p:nvPr>
            <p:ph type="title"/>
          </p:nvPr>
        </p:nvSpPr>
        <p:spPr>
          <a:xfrm>
            <a:off x="0" y="2"/>
            <a:ext cx="12192000" cy="707922"/>
          </a:xfrm>
        </p:spPr>
        <p:txBody>
          <a:bodyPr anchor="b">
            <a:normAutofit/>
          </a:bodyPr>
          <a:lstStyle/>
          <a:p>
            <a:r>
              <a:rPr lang="en-US" sz="4000" dirty="0"/>
              <a:t>Using Microsoft Visio for UML Diagrams</a:t>
            </a:r>
            <a:endParaRPr lang="en-AU" sz="4000" b="1" dirty="0">
              <a:latin typeface="Calibir"/>
            </a:endParaRPr>
          </a:p>
        </p:txBody>
      </p:sp>
      <p:sp>
        <p:nvSpPr>
          <p:cNvPr id="5" name="TextBox 4">
            <a:extLst>
              <a:ext uri="{FF2B5EF4-FFF2-40B4-BE49-F238E27FC236}">
                <a16:creationId xmlns:a16="http://schemas.microsoft.com/office/drawing/2014/main" id="{FE3481CD-7CEC-DC59-719E-8BA802EC6735}"/>
              </a:ext>
            </a:extLst>
          </p:cNvPr>
          <p:cNvSpPr txBox="1"/>
          <p:nvPr/>
        </p:nvSpPr>
        <p:spPr>
          <a:xfrm>
            <a:off x="0" y="857026"/>
            <a:ext cx="11973260"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To download Visio as a standalone app (if not included in your student license):</a:t>
            </a:r>
          </a:p>
          <a:p>
            <a:pPr lvl="0" eaLnBrk="0" fontAlgn="base" hangingPunct="0">
              <a:lnSpc>
                <a:spcPct val="150000"/>
              </a:lnSpc>
              <a:spcBef>
                <a:spcPct val="0"/>
              </a:spcBef>
              <a:spcAft>
                <a:spcPct val="0"/>
              </a:spcAft>
            </a:pPr>
            <a:r>
              <a:rPr lang="en-US" altLang="en-US" sz="2800" dirty="0">
                <a:latin typeface="Calibir"/>
                <a:hlinkClick r:id="rId3"/>
              </a:rPr>
              <a:t>https://www.microsoft.com/en-au/microsoft-365/visio/flowchart-software</a:t>
            </a:r>
            <a:endParaRPr lang="en-US" altLang="en-US" sz="2800" dirty="0">
              <a:latin typeface="Calibir"/>
            </a:endParaRPr>
          </a:p>
          <a:p>
            <a:pPr lvl="0" eaLnBrk="0" fontAlgn="base" hangingPunct="0">
              <a:lnSpc>
                <a:spcPct val="150000"/>
              </a:lnSpc>
              <a:spcBef>
                <a:spcPct val="0"/>
              </a:spcBef>
              <a:spcAft>
                <a:spcPct val="0"/>
              </a:spcAft>
            </a:pPr>
            <a:r>
              <a:rPr lang="en-US" altLang="en-US" sz="2800" dirty="0">
                <a:latin typeface="Calibir"/>
              </a:rPr>
              <a:t>This is the official Microsoft Visio page. Scroll down to compare Visio Plan 1 (web only) and Plan 2 (includes desktop app).</a:t>
            </a:r>
          </a:p>
        </p:txBody>
      </p:sp>
      <p:pic>
        <p:nvPicPr>
          <p:cNvPr id="4" name="Picture 3">
            <a:extLst>
              <a:ext uri="{FF2B5EF4-FFF2-40B4-BE49-F238E27FC236}">
                <a16:creationId xmlns:a16="http://schemas.microsoft.com/office/drawing/2014/main" id="{BA02477A-10C7-D4EB-0DBA-98E5BB49C5E0}"/>
              </a:ext>
            </a:extLst>
          </p:cNvPr>
          <p:cNvPicPr>
            <a:picLocks noChangeAspect="1"/>
          </p:cNvPicPr>
          <p:nvPr/>
        </p:nvPicPr>
        <p:blipFill>
          <a:blip r:embed="rId4"/>
          <a:srcRect t="8674" b="16305"/>
          <a:stretch>
            <a:fillRect/>
          </a:stretch>
        </p:blipFill>
        <p:spPr>
          <a:xfrm>
            <a:off x="4066180" y="3429000"/>
            <a:ext cx="8125820" cy="3428998"/>
          </a:xfrm>
          <a:prstGeom prst="rect">
            <a:avLst/>
          </a:prstGeom>
        </p:spPr>
      </p:pic>
    </p:spTree>
    <p:extLst>
      <p:ext uri="{BB962C8B-B14F-4D97-AF65-F5344CB8AC3E}">
        <p14:creationId xmlns:p14="http://schemas.microsoft.com/office/powerpoint/2010/main" val="29566926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944A1-7F14-B0DB-6023-864DCDBA299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F45902B-233D-D7C9-E6E7-010D1DDFB99C}"/>
              </a:ext>
            </a:extLst>
          </p:cNvPr>
          <p:cNvSpPr>
            <a:spLocks noGrp="1"/>
          </p:cNvSpPr>
          <p:nvPr>
            <p:ph type="title"/>
          </p:nvPr>
        </p:nvSpPr>
        <p:spPr>
          <a:xfrm>
            <a:off x="0" y="2"/>
            <a:ext cx="12192000" cy="707922"/>
          </a:xfrm>
        </p:spPr>
        <p:txBody>
          <a:bodyPr anchor="b">
            <a:normAutofit/>
          </a:bodyPr>
          <a:lstStyle/>
          <a:p>
            <a:r>
              <a:rPr lang="en-US" sz="4000" dirty="0"/>
              <a:t>Using Microsoft Visio for UML Diagrams</a:t>
            </a:r>
            <a:endParaRPr lang="en-AU" sz="4000" b="1" dirty="0">
              <a:latin typeface="Calibir"/>
            </a:endParaRPr>
          </a:p>
        </p:txBody>
      </p:sp>
      <p:sp>
        <p:nvSpPr>
          <p:cNvPr id="5" name="TextBox 4">
            <a:extLst>
              <a:ext uri="{FF2B5EF4-FFF2-40B4-BE49-F238E27FC236}">
                <a16:creationId xmlns:a16="http://schemas.microsoft.com/office/drawing/2014/main" id="{5F08E5BE-5104-A449-5317-61B068F774DB}"/>
              </a:ext>
            </a:extLst>
          </p:cNvPr>
          <p:cNvSpPr txBox="1"/>
          <p:nvPr/>
        </p:nvSpPr>
        <p:spPr>
          <a:xfrm>
            <a:off x="0" y="857026"/>
            <a:ext cx="11973260" cy="2610843"/>
          </a:xfrm>
          <a:prstGeom prst="rect">
            <a:avLst/>
          </a:prstGeom>
          <a:noFill/>
        </p:spPr>
        <p:txBody>
          <a:bodyPr wrap="square">
            <a:spAutoFit/>
          </a:bodyPr>
          <a:lstStyle/>
          <a:p>
            <a:pPr>
              <a:lnSpc>
                <a:spcPct val="150000"/>
              </a:lnSpc>
            </a:pPr>
            <a:r>
              <a:rPr lang="en-US" sz="2800" b="1" dirty="0">
                <a:latin typeface="Calibir"/>
              </a:rPr>
              <a:t>Tip for Students</a:t>
            </a:r>
          </a:p>
          <a:p>
            <a:pPr marL="457200" indent="-457200">
              <a:lnSpc>
                <a:spcPct val="150000"/>
              </a:lnSpc>
              <a:buFont typeface="Arial" panose="020B0604020202020204" pitchFamily="34" charset="0"/>
              <a:buChar char="•"/>
            </a:pPr>
            <a:r>
              <a:rPr lang="en-US" sz="2800" dirty="0">
                <a:latin typeface="Calibir"/>
              </a:rPr>
              <a:t>Visio Plan 1 is browser-based and lightweight (monthly subscription).</a:t>
            </a:r>
          </a:p>
          <a:p>
            <a:pPr marL="457200" indent="-457200">
              <a:lnSpc>
                <a:spcPct val="150000"/>
              </a:lnSpc>
              <a:buFont typeface="Arial" panose="020B0604020202020204" pitchFamily="34" charset="0"/>
              <a:buChar char="•"/>
            </a:pPr>
            <a:r>
              <a:rPr lang="en-US" sz="2800" dirty="0">
                <a:latin typeface="Calibir"/>
              </a:rPr>
              <a:t>Visio Plan 2 includes the full desktop version and is ideal for UML diagrams and complex modelling tasks.</a:t>
            </a:r>
          </a:p>
        </p:txBody>
      </p:sp>
    </p:spTree>
    <p:extLst>
      <p:ext uri="{BB962C8B-B14F-4D97-AF65-F5344CB8AC3E}">
        <p14:creationId xmlns:p14="http://schemas.microsoft.com/office/powerpoint/2010/main" val="2249421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idx="4294967295"/>
          </p:nvPr>
        </p:nvSpPr>
        <p:spPr>
          <a:xfrm>
            <a:off x="0" y="0"/>
            <a:ext cx="11362267" cy="809297"/>
          </a:xfrm>
          <a:prstGeom prst="rect">
            <a:avLst/>
          </a:prstGeom>
        </p:spPr>
        <p:txBody>
          <a:bodyPr spcFirstLastPara="1" wrap="square" lIns="121900" tIns="121900" rIns="121900" bIns="121900" anchor="b" anchorCtr="0">
            <a:noAutofit/>
          </a:bodyPr>
          <a:lstStyle/>
          <a:p>
            <a:r>
              <a:rPr lang="en-GB" sz="4000" dirty="0"/>
              <a:t>Lab 2 Exercises</a:t>
            </a:r>
            <a:endParaRPr sz="4000" dirty="0"/>
          </a:p>
        </p:txBody>
      </p:sp>
      <p:sp>
        <p:nvSpPr>
          <p:cNvPr id="2" name="TextBox 1">
            <a:extLst>
              <a:ext uri="{FF2B5EF4-FFF2-40B4-BE49-F238E27FC236}">
                <a16:creationId xmlns:a16="http://schemas.microsoft.com/office/drawing/2014/main" id="{9D0F1F70-F36A-7BAC-66A6-6BA207139BBF}"/>
              </a:ext>
            </a:extLst>
          </p:cNvPr>
          <p:cNvSpPr txBox="1"/>
          <p:nvPr/>
        </p:nvSpPr>
        <p:spPr>
          <a:xfrm>
            <a:off x="3098800" y="2332097"/>
            <a:ext cx="5994400" cy="2193806"/>
          </a:xfrm>
          <a:prstGeom prst="rect">
            <a:avLst/>
          </a:prstGeom>
          <a:noFill/>
          <a:ln w="19050">
            <a:solidFill>
              <a:schemeClr val="accent6">
                <a:lumMod val="75000"/>
              </a:schemeClr>
            </a:solidFill>
          </a:ln>
        </p:spPr>
        <p:txBody>
          <a:bodyPr wrap="square" rtlCol="0">
            <a:spAutoFit/>
          </a:bodyPr>
          <a:lstStyle/>
          <a:p>
            <a:pPr algn="ctr" defTabSz="1219170">
              <a:lnSpc>
                <a:spcPct val="200000"/>
              </a:lnSpc>
              <a:buClr>
                <a:srgbClr val="000000"/>
              </a:buClr>
            </a:pPr>
            <a:r>
              <a:rPr lang="en-US" sz="2400" kern="0" dirty="0">
                <a:solidFill>
                  <a:srgbClr val="000000"/>
                </a:solidFill>
                <a:latin typeface="Economica" panose="020B0604020202020204" charset="0"/>
                <a:cs typeface="Arial"/>
                <a:sym typeface="Arial"/>
              </a:rPr>
              <a:t>Complete the Lab 2 exercises as a team </a:t>
            </a:r>
          </a:p>
          <a:p>
            <a:pPr algn="ctr" defTabSz="1219170">
              <a:lnSpc>
                <a:spcPct val="200000"/>
              </a:lnSpc>
              <a:buClr>
                <a:srgbClr val="000000"/>
              </a:buClr>
            </a:pPr>
            <a:r>
              <a:rPr lang="en-US" sz="2400" kern="0" dirty="0">
                <a:solidFill>
                  <a:srgbClr val="000000"/>
                </a:solidFill>
                <a:latin typeface="Economica" panose="020B0604020202020204" charset="0"/>
                <a:cs typeface="Arial"/>
                <a:sym typeface="Arial"/>
              </a:rPr>
              <a:t>(form groups of 3-4 students) </a:t>
            </a:r>
          </a:p>
          <a:p>
            <a:pPr algn="ctr" defTabSz="1219170">
              <a:lnSpc>
                <a:spcPct val="200000"/>
              </a:lnSpc>
              <a:buClr>
                <a:srgbClr val="000000"/>
              </a:buClr>
            </a:pPr>
            <a:r>
              <a:rPr lang="en-US" sz="2400" kern="0" dirty="0">
                <a:solidFill>
                  <a:srgbClr val="00B0F0"/>
                </a:solidFill>
                <a:latin typeface="Economica" panose="020B0604020202020204" charset="0"/>
                <a:cs typeface="Arial"/>
                <a:sym typeface="Arial"/>
              </a:rPr>
              <a:t>Lab 2 continues from Lab 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A44B9F44-4162-E1E1-74AF-67B57708D1D0}"/>
            </a:ext>
          </a:extLst>
        </p:cNvPr>
        <p:cNvGrpSpPr/>
        <p:nvPr/>
      </p:nvGrpSpPr>
      <p:grpSpPr>
        <a:xfrm>
          <a:off x="0" y="0"/>
          <a:ext cx="0" cy="0"/>
          <a:chOff x="0" y="0"/>
          <a:chExt cx="0" cy="0"/>
        </a:xfrm>
      </p:grpSpPr>
      <p:sp>
        <p:nvSpPr>
          <p:cNvPr id="69" name="Google Shape;69;p14">
            <a:extLst>
              <a:ext uri="{FF2B5EF4-FFF2-40B4-BE49-F238E27FC236}">
                <a16:creationId xmlns:a16="http://schemas.microsoft.com/office/drawing/2014/main" id="{3205EBE7-2BCF-2560-9C9E-8F8416C98B93}"/>
              </a:ext>
            </a:extLst>
          </p:cNvPr>
          <p:cNvSpPr txBox="1">
            <a:spLocks noGrp="1"/>
          </p:cNvSpPr>
          <p:nvPr>
            <p:ph type="title" idx="4294967295"/>
          </p:nvPr>
        </p:nvSpPr>
        <p:spPr>
          <a:xfrm>
            <a:off x="0" y="0"/>
            <a:ext cx="11362267" cy="809297"/>
          </a:xfrm>
          <a:prstGeom prst="rect">
            <a:avLst/>
          </a:prstGeom>
        </p:spPr>
        <p:txBody>
          <a:bodyPr spcFirstLastPara="1" wrap="square" lIns="121900" tIns="121900" rIns="121900" bIns="121900" anchor="b" anchorCtr="0">
            <a:noAutofit/>
          </a:bodyPr>
          <a:lstStyle/>
          <a:p>
            <a:r>
              <a:rPr lang="en-GB" sz="4000" dirty="0"/>
              <a:t>Lab 2 Exercises</a:t>
            </a:r>
            <a:endParaRPr sz="4000" dirty="0"/>
          </a:p>
        </p:txBody>
      </p:sp>
      <p:sp>
        <p:nvSpPr>
          <p:cNvPr id="5" name="TextBox 4">
            <a:extLst>
              <a:ext uri="{FF2B5EF4-FFF2-40B4-BE49-F238E27FC236}">
                <a16:creationId xmlns:a16="http://schemas.microsoft.com/office/drawing/2014/main" id="{411E96EA-8720-6A4F-00E5-576062A6F1A4}"/>
              </a:ext>
            </a:extLst>
          </p:cNvPr>
          <p:cNvSpPr txBox="1"/>
          <p:nvPr/>
        </p:nvSpPr>
        <p:spPr>
          <a:xfrm>
            <a:off x="-1" y="809297"/>
            <a:ext cx="8019393" cy="523220"/>
          </a:xfrm>
          <a:prstGeom prst="rect">
            <a:avLst/>
          </a:prstGeom>
          <a:noFill/>
        </p:spPr>
        <p:txBody>
          <a:bodyPr wrap="square" rtlCol="0">
            <a:spAutoFit/>
          </a:bodyPr>
          <a:lstStyle/>
          <a:p>
            <a:r>
              <a:rPr lang="en-US" sz="2800" dirty="0">
                <a:highlight>
                  <a:srgbClr val="00FF00"/>
                </a:highlight>
                <a:latin typeface="Calibir"/>
              </a:rPr>
              <a:t>Canvas &gt;&gt; Modules &gt;&gt; Lab 2: Object-Oriented Design</a:t>
            </a:r>
          </a:p>
        </p:txBody>
      </p:sp>
      <p:sp>
        <p:nvSpPr>
          <p:cNvPr id="7" name="TextBox 6">
            <a:extLst>
              <a:ext uri="{FF2B5EF4-FFF2-40B4-BE49-F238E27FC236}">
                <a16:creationId xmlns:a16="http://schemas.microsoft.com/office/drawing/2014/main" id="{C3D2F8DA-408D-96A7-ECE9-BE0194F38EB3}"/>
              </a:ext>
            </a:extLst>
          </p:cNvPr>
          <p:cNvSpPr txBox="1"/>
          <p:nvPr/>
        </p:nvSpPr>
        <p:spPr>
          <a:xfrm>
            <a:off x="168165" y="1438871"/>
            <a:ext cx="11855670" cy="5295680"/>
          </a:xfrm>
          <a:prstGeom prst="rect">
            <a:avLst/>
          </a:prstGeom>
          <a:noFill/>
        </p:spPr>
        <p:txBody>
          <a:bodyPr wrap="square">
            <a:spAutoFit/>
          </a:bodyPr>
          <a:lstStyle/>
          <a:p>
            <a:pPr>
              <a:lnSpc>
                <a:spcPct val="150000"/>
              </a:lnSpc>
              <a:buNone/>
            </a:pPr>
            <a:r>
              <a:rPr lang="en-US" sz="2800" b="1" dirty="0">
                <a:latin typeface="Calibir"/>
              </a:rPr>
              <a:t>Lab 2: Object-Oriented Design</a:t>
            </a:r>
          </a:p>
          <a:p>
            <a:pPr>
              <a:lnSpc>
                <a:spcPct val="150000"/>
              </a:lnSpc>
              <a:buNone/>
            </a:pPr>
            <a:r>
              <a:rPr lang="en-US" sz="2500" dirty="0">
                <a:latin typeface="Calibir"/>
              </a:rPr>
              <a:t>Lab 2 aims to further enhance your software design knowledge through activities that cover the following key topics:</a:t>
            </a:r>
          </a:p>
          <a:p>
            <a:pPr marL="342900" lvl="0" indent="-342900">
              <a:lnSpc>
                <a:spcPct val="150000"/>
              </a:lnSpc>
              <a:buFont typeface="Arial" panose="020B0604020202020204" pitchFamily="34" charset="0"/>
              <a:buChar char="•"/>
            </a:pPr>
            <a:r>
              <a:rPr lang="en-US" sz="2500" dirty="0">
                <a:latin typeface="Calibir"/>
              </a:rPr>
              <a:t>Object-oriented design </a:t>
            </a:r>
          </a:p>
          <a:p>
            <a:pPr marL="742950" lvl="1" indent="-285750">
              <a:lnSpc>
                <a:spcPct val="150000"/>
              </a:lnSpc>
              <a:buFont typeface="Arial" panose="020B0604020202020204" pitchFamily="34" charset="0"/>
              <a:buChar char="•"/>
            </a:pPr>
            <a:r>
              <a:rPr lang="en-US" sz="2500" dirty="0">
                <a:latin typeface="Calibir"/>
              </a:rPr>
              <a:t>Organizing a program into classes </a:t>
            </a:r>
          </a:p>
          <a:p>
            <a:pPr marL="742950" lvl="1" indent="-285750">
              <a:lnSpc>
                <a:spcPct val="150000"/>
              </a:lnSpc>
              <a:buFont typeface="Arial" panose="020B0604020202020204" pitchFamily="34" charset="0"/>
              <a:buChar char="•"/>
            </a:pPr>
            <a:r>
              <a:rPr lang="en-US" sz="2500" dirty="0">
                <a:latin typeface="Calibir"/>
              </a:rPr>
              <a:t>Identify the design layers (abstraction, implementation, interactions) </a:t>
            </a:r>
          </a:p>
          <a:p>
            <a:pPr marL="742950" lvl="1" indent="-285750">
              <a:lnSpc>
                <a:spcPct val="150000"/>
              </a:lnSpc>
              <a:buFont typeface="Arial" panose="020B0604020202020204" pitchFamily="34" charset="0"/>
              <a:buChar char="•"/>
            </a:pPr>
            <a:r>
              <a:rPr lang="en-US" sz="2500" dirty="0">
                <a:latin typeface="Calibir"/>
              </a:rPr>
              <a:t>Identify inheritance within the system </a:t>
            </a:r>
          </a:p>
          <a:p>
            <a:pPr marL="342900" lvl="0" indent="-342900">
              <a:lnSpc>
                <a:spcPct val="150000"/>
              </a:lnSpc>
              <a:buFont typeface="Arial" panose="020B0604020202020204" pitchFamily="34" charset="0"/>
              <a:buChar char="•"/>
            </a:pPr>
            <a:r>
              <a:rPr lang="en-US" sz="2500" dirty="0">
                <a:latin typeface="Calibir"/>
              </a:rPr>
              <a:t>Class diagram </a:t>
            </a:r>
          </a:p>
          <a:p>
            <a:pPr marL="742950" lvl="1" indent="-285750">
              <a:lnSpc>
                <a:spcPct val="150000"/>
              </a:lnSpc>
              <a:buFont typeface="Arial" panose="020B0604020202020204" pitchFamily="34" charset="0"/>
              <a:buChar char="•"/>
            </a:pPr>
            <a:r>
              <a:rPr lang="en-US" sz="2500" dirty="0">
                <a:latin typeface="Calibir"/>
              </a:rPr>
              <a:t>Visual the OO Design into UML class diagram representation </a:t>
            </a:r>
          </a:p>
        </p:txBody>
      </p:sp>
    </p:spTree>
    <p:extLst>
      <p:ext uri="{BB962C8B-B14F-4D97-AF65-F5344CB8AC3E}">
        <p14:creationId xmlns:p14="http://schemas.microsoft.com/office/powerpoint/2010/main" val="696956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EE1A8550-64C7-D0D3-2673-E4231D5D733D}"/>
            </a:ext>
          </a:extLst>
        </p:cNvPr>
        <p:cNvGrpSpPr/>
        <p:nvPr/>
      </p:nvGrpSpPr>
      <p:grpSpPr>
        <a:xfrm>
          <a:off x="0" y="0"/>
          <a:ext cx="0" cy="0"/>
          <a:chOff x="0" y="0"/>
          <a:chExt cx="0" cy="0"/>
        </a:xfrm>
      </p:grpSpPr>
      <p:sp>
        <p:nvSpPr>
          <p:cNvPr id="69" name="Google Shape;69;p14">
            <a:extLst>
              <a:ext uri="{FF2B5EF4-FFF2-40B4-BE49-F238E27FC236}">
                <a16:creationId xmlns:a16="http://schemas.microsoft.com/office/drawing/2014/main" id="{C40CE1E9-8E6C-8882-A9FF-1E7D474F3797}"/>
              </a:ext>
            </a:extLst>
          </p:cNvPr>
          <p:cNvSpPr txBox="1">
            <a:spLocks noGrp="1"/>
          </p:cNvSpPr>
          <p:nvPr>
            <p:ph type="title" idx="4294967295"/>
          </p:nvPr>
        </p:nvSpPr>
        <p:spPr>
          <a:xfrm>
            <a:off x="0" y="0"/>
            <a:ext cx="11362267" cy="809297"/>
          </a:xfrm>
          <a:prstGeom prst="rect">
            <a:avLst/>
          </a:prstGeom>
        </p:spPr>
        <p:txBody>
          <a:bodyPr spcFirstLastPara="1" wrap="square" lIns="121900" tIns="121900" rIns="121900" bIns="121900" anchor="b" anchorCtr="0">
            <a:noAutofit/>
          </a:bodyPr>
          <a:lstStyle/>
          <a:p>
            <a:r>
              <a:rPr lang="en-GB" sz="4000" dirty="0"/>
              <a:t>Lab 2 Exercises</a:t>
            </a:r>
            <a:endParaRPr sz="4000" dirty="0"/>
          </a:p>
        </p:txBody>
      </p:sp>
      <p:pic>
        <p:nvPicPr>
          <p:cNvPr id="7" name="Picture 6">
            <a:extLst>
              <a:ext uri="{FF2B5EF4-FFF2-40B4-BE49-F238E27FC236}">
                <a16:creationId xmlns:a16="http://schemas.microsoft.com/office/drawing/2014/main" id="{29AA13C1-AEB9-5ECA-5E6D-A5C4BB59C644}"/>
              </a:ext>
            </a:extLst>
          </p:cNvPr>
          <p:cNvPicPr>
            <a:picLocks noChangeAspect="1"/>
          </p:cNvPicPr>
          <p:nvPr/>
        </p:nvPicPr>
        <p:blipFill>
          <a:blip r:embed="rId3"/>
          <a:srcRect l="8965" t="32644" r="37932" b="46360"/>
          <a:stretch>
            <a:fillRect/>
          </a:stretch>
        </p:blipFill>
        <p:spPr>
          <a:xfrm>
            <a:off x="42041" y="2082583"/>
            <a:ext cx="12107917" cy="2692834"/>
          </a:xfrm>
          <a:prstGeom prst="rect">
            <a:avLst/>
          </a:prstGeom>
        </p:spPr>
      </p:pic>
    </p:spTree>
    <p:extLst>
      <p:ext uri="{BB962C8B-B14F-4D97-AF65-F5344CB8AC3E}">
        <p14:creationId xmlns:p14="http://schemas.microsoft.com/office/powerpoint/2010/main" val="1262737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8F63AD53-135D-ED1D-CB6D-C9EDFB114CA7}"/>
            </a:ext>
          </a:extLst>
        </p:cNvPr>
        <p:cNvGrpSpPr/>
        <p:nvPr/>
      </p:nvGrpSpPr>
      <p:grpSpPr>
        <a:xfrm>
          <a:off x="0" y="0"/>
          <a:ext cx="0" cy="0"/>
          <a:chOff x="0" y="0"/>
          <a:chExt cx="0" cy="0"/>
        </a:xfrm>
      </p:grpSpPr>
      <p:sp>
        <p:nvSpPr>
          <p:cNvPr id="69" name="Google Shape;69;p14">
            <a:extLst>
              <a:ext uri="{FF2B5EF4-FFF2-40B4-BE49-F238E27FC236}">
                <a16:creationId xmlns:a16="http://schemas.microsoft.com/office/drawing/2014/main" id="{376C1D50-538B-3058-6943-0134C0113A76}"/>
              </a:ext>
            </a:extLst>
          </p:cNvPr>
          <p:cNvSpPr txBox="1">
            <a:spLocks noGrp="1"/>
          </p:cNvSpPr>
          <p:nvPr>
            <p:ph type="title" idx="4294967295"/>
          </p:nvPr>
        </p:nvSpPr>
        <p:spPr>
          <a:xfrm>
            <a:off x="0" y="0"/>
            <a:ext cx="11362267" cy="809297"/>
          </a:xfrm>
          <a:prstGeom prst="rect">
            <a:avLst/>
          </a:prstGeom>
        </p:spPr>
        <p:txBody>
          <a:bodyPr spcFirstLastPara="1" wrap="square" lIns="121900" tIns="121900" rIns="121900" bIns="121900" anchor="b" anchorCtr="0">
            <a:noAutofit/>
          </a:bodyPr>
          <a:lstStyle/>
          <a:p>
            <a:r>
              <a:rPr lang="en-GB" sz="4000" dirty="0"/>
              <a:t>Lab 2 Exercises</a:t>
            </a:r>
            <a:endParaRPr sz="4000" dirty="0"/>
          </a:p>
        </p:txBody>
      </p:sp>
      <p:pic>
        <p:nvPicPr>
          <p:cNvPr id="3" name="Picture 2">
            <a:extLst>
              <a:ext uri="{FF2B5EF4-FFF2-40B4-BE49-F238E27FC236}">
                <a16:creationId xmlns:a16="http://schemas.microsoft.com/office/drawing/2014/main" id="{2630CA65-9F64-DCF8-FD70-DFB2BD3EA54C}"/>
              </a:ext>
            </a:extLst>
          </p:cNvPr>
          <p:cNvPicPr>
            <a:picLocks noChangeAspect="1"/>
          </p:cNvPicPr>
          <p:nvPr/>
        </p:nvPicPr>
        <p:blipFill>
          <a:blip r:embed="rId3"/>
          <a:srcRect l="9137" t="32030" r="36553" b="20614"/>
          <a:stretch>
            <a:fillRect/>
          </a:stretch>
        </p:blipFill>
        <p:spPr>
          <a:xfrm>
            <a:off x="829733" y="809297"/>
            <a:ext cx="10689021" cy="5242711"/>
          </a:xfrm>
          <a:prstGeom prst="rect">
            <a:avLst/>
          </a:prstGeom>
        </p:spPr>
      </p:pic>
    </p:spTree>
    <p:extLst>
      <p:ext uri="{BB962C8B-B14F-4D97-AF65-F5344CB8AC3E}">
        <p14:creationId xmlns:p14="http://schemas.microsoft.com/office/powerpoint/2010/main" val="5835360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D3B00A61-01D7-870F-D578-B1FD930F34C3}"/>
            </a:ext>
          </a:extLst>
        </p:cNvPr>
        <p:cNvGrpSpPr/>
        <p:nvPr/>
      </p:nvGrpSpPr>
      <p:grpSpPr>
        <a:xfrm>
          <a:off x="0" y="0"/>
          <a:ext cx="0" cy="0"/>
          <a:chOff x="0" y="0"/>
          <a:chExt cx="0" cy="0"/>
        </a:xfrm>
      </p:grpSpPr>
      <p:sp>
        <p:nvSpPr>
          <p:cNvPr id="69" name="Google Shape;69;p14">
            <a:extLst>
              <a:ext uri="{FF2B5EF4-FFF2-40B4-BE49-F238E27FC236}">
                <a16:creationId xmlns:a16="http://schemas.microsoft.com/office/drawing/2014/main" id="{86026502-A46F-35F6-6845-FAABE0BC6F43}"/>
              </a:ext>
            </a:extLst>
          </p:cNvPr>
          <p:cNvSpPr txBox="1">
            <a:spLocks noGrp="1"/>
          </p:cNvSpPr>
          <p:nvPr>
            <p:ph type="title" idx="4294967295"/>
          </p:nvPr>
        </p:nvSpPr>
        <p:spPr>
          <a:xfrm>
            <a:off x="0" y="0"/>
            <a:ext cx="11362267" cy="809297"/>
          </a:xfrm>
          <a:prstGeom prst="rect">
            <a:avLst/>
          </a:prstGeom>
        </p:spPr>
        <p:txBody>
          <a:bodyPr spcFirstLastPara="1" wrap="square" lIns="121900" tIns="121900" rIns="121900" bIns="121900" anchor="b" anchorCtr="0">
            <a:noAutofit/>
          </a:bodyPr>
          <a:lstStyle/>
          <a:p>
            <a:r>
              <a:rPr lang="en-GB" sz="4000" dirty="0"/>
              <a:t>Lab 2 Exercises</a:t>
            </a:r>
            <a:endParaRPr sz="4000" dirty="0"/>
          </a:p>
        </p:txBody>
      </p:sp>
      <p:pic>
        <p:nvPicPr>
          <p:cNvPr id="4" name="Picture 3">
            <a:extLst>
              <a:ext uri="{FF2B5EF4-FFF2-40B4-BE49-F238E27FC236}">
                <a16:creationId xmlns:a16="http://schemas.microsoft.com/office/drawing/2014/main" id="{C8AFC291-D935-F4F1-7940-74DC79811B59}"/>
              </a:ext>
            </a:extLst>
          </p:cNvPr>
          <p:cNvPicPr>
            <a:picLocks noChangeAspect="1"/>
          </p:cNvPicPr>
          <p:nvPr/>
        </p:nvPicPr>
        <p:blipFill>
          <a:blip r:embed="rId3"/>
          <a:srcRect l="9224" t="32250" r="46638" b="39157"/>
          <a:stretch>
            <a:fillRect/>
          </a:stretch>
        </p:blipFill>
        <p:spPr>
          <a:xfrm>
            <a:off x="147145" y="1261265"/>
            <a:ext cx="11897710" cy="4335470"/>
          </a:xfrm>
          <a:prstGeom prst="rect">
            <a:avLst/>
          </a:prstGeom>
        </p:spPr>
      </p:pic>
    </p:spTree>
    <p:extLst>
      <p:ext uri="{BB962C8B-B14F-4D97-AF65-F5344CB8AC3E}">
        <p14:creationId xmlns:p14="http://schemas.microsoft.com/office/powerpoint/2010/main" val="3986936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1130" y="0"/>
            <a:ext cx="11362267" cy="1109133"/>
          </a:xfrm>
          <a:prstGeom prst="rect">
            <a:avLst/>
          </a:prstGeom>
        </p:spPr>
        <p:txBody>
          <a:bodyPr spcFirstLastPara="1" wrap="square" lIns="121900" tIns="121900" rIns="121900" bIns="121900" anchor="b" anchorCtr="0">
            <a:noAutofit/>
          </a:bodyPr>
          <a:lstStyle/>
          <a:p>
            <a:r>
              <a:rPr lang="en-GB" dirty="0"/>
              <a:t>Lab 2 Exercises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508001" y="1295401"/>
            <a:ext cx="11004265" cy="4647811"/>
          </a:xfrm>
          <a:prstGeom prst="rect">
            <a:avLst/>
          </a:prstGeom>
          <a:noFill/>
        </p:spPr>
        <p:txBody>
          <a:bodyPr wrap="square" rtlCol="0">
            <a:spAutoFit/>
          </a:bodyPr>
          <a:lstStyle/>
          <a:p>
            <a:pPr defTabSz="1219170">
              <a:lnSpc>
                <a:spcPct val="150000"/>
              </a:lnSpc>
              <a:buClr>
                <a:srgbClr val="000000"/>
              </a:buClr>
            </a:pPr>
            <a:r>
              <a:rPr lang="en-US" sz="2400" b="1" kern="0" dirty="0">
                <a:solidFill>
                  <a:srgbClr val="000000"/>
                </a:solidFill>
                <a:latin typeface="Economica" panose="020B0604020202020204" charset="0"/>
                <a:cs typeface="Arial"/>
                <a:sym typeface="Arial"/>
              </a:rPr>
              <a:t>Lab Tools:</a:t>
            </a:r>
          </a:p>
          <a:p>
            <a:pPr defTabSz="1219170">
              <a:lnSpc>
                <a:spcPct val="150000"/>
              </a:lnSpc>
              <a:buClr>
                <a:srgbClr val="000000"/>
              </a:buClr>
            </a:pPr>
            <a:endParaRPr lang="en-US" sz="2400" b="1" kern="0" dirty="0">
              <a:solidFill>
                <a:srgbClr val="000000"/>
              </a:solidFill>
              <a:latin typeface="Economica" panose="020B0604020202020204" charset="0"/>
              <a:cs typeface="Arial"/>
              <a:sym typeface="Arial"/>
            </a:endParaRPr>
          </a:p>
          <a:p>
            <a:pPr defTabSz="1219170">
              <a:lnSpc>
                <a:spcPct val="150000"/>
              </a:lnSpc>
              <a:buClr>
                <a:srgbClr val="000000"/>
              </a:buClr>
            </a:pPr>
            <a:r>
              <a:rPr lang="en-US" sz="2400" kern="0" dirty="0">
                <a:solidFill>
                  <a:srgbClr val="000000"/>
                </a:solidFill>
                <a:latin typeface="Economica" panose="020B0604020202020204" charset="0"/>
                <a:cs typeface="Arial"/>
                <a:sym typeface="Arial"/>
              </a:rPr>
              <a:t>The following tools are recommended to complete lab 2 activities:</a:t>
            </a:r>
          </a:p>
          <a:p>
            <a:pPr marL="380990" indent="-380990" defTabSz="1219170">
              <a:lnSpc>
                <a:spcPct val="150000"/>
              </a:lnSpc>
              <a:buClr>
                <a:srgbClr val="000000"/>
              </a:buClr>
              <a:buFont typeface="Arial" panose="020B0604020202020204" pitchFamily="34" charset="0"/>
              <a:buChar char="•"/>
            </a:pPr>
            <a:r>
              <a:rPr lang="en-AU" sz="2133" kern="0" dirty="0">
                <a:solidFill>
                  <a:srgbClr val="000000"/>
                </a:solidFill>
                <a:latin typeface="Economica" panose="020B0604020202020204" charset="0"/>
                <a:ea typeface="Times New Roman" panose="02020603050405020304" pitchFamily="18" charset="0"/>
                <a:cs typeface="Arial"/>
                <a:sym typeface="Arial"/>
              </a:rPr>
              <a:t>Download and use </a:t>
            </a:r>
            <a:r>
              <a:rPr lang="en-AU" sz="2133" u="sng" kern="0" dirty="0">
                <a:solidFill>
                  <a:srgbClr val="00B050"/>
                </a:solidFill>
                <a:latin typeface="Economica" panose="020B0604020202020204" charset="0"/>
                <a:ea typeface="Times New Roman" panose="02020603050405020304" pitchFamily="18" charset="0"/>
                <a:cs typeface="Arial"/>
                <a:sym typeface="Arial"/>
                <a:hlinkClick r:id="rId3">
                  <a:extLst>
                    <a:ext uri="{A12FA001-AC4F-418D-AE19-62706E023703}">
                      <ahyp:hlinkClr xmlns:ahyp="http://schemas.microsoft.com/office/drawing/2018/hyperlinkcolor" val="tx"/>
                    </a:ext>
                  </a:extLst>
                </a:hlinkClick>
              </a:rPr>
              <a:t>Visual Paradigm Community Edition</a:t>
            </a:r>
            <a:endParaRPr lang="en-AU" sz="2133" u="sng" kern="0" dirty="0">
              <a:solidFill>
                <a:srgbClr val="00B050"/>
              </a:solidFill>
              <a:latin typeface="Economica" panose="020B0604020202020204" charset="0"/>
              <a:ea typeface="Times New Roman" panose="02020603050405020304" pitchFamily="18" charset="0"/>
              <a:cs typeface="Arial"/>
              <a:sym typeface="Arial"/>
            </a:endParaRPr>
          </a:p>
          <a:p>
            <a:pPr marL="380990" indent="-380990" defTabSz="1219170">
              <a:lnSpc>
                <a:spcPct val="150000"/>
              </a:lnSpc>
              <a:buClr>
                <a:srgbClr val="000000"/>
              </a:buClr>
              <a:buFont typeface="Arial" panose="020B0604020202020204" pitchFamily="34" charset="0"/>
              <a:buChar char="•"/>
            </a:pPr>
            <a:r>
              <a:rPr lang="en-AU" sz="2133" kern="0" dirty="0">
                <a:solidFill>
                  <a:srgbClr val="000000"/>
                </a:solidFill>
                <a:latin typeface="Economica" panose="020B0604020202020204" charset="0"/>
                <a:cs typeface="Arial"/>
                <a:sym typeface="Arial"/>
              </a:rPr>
              <a:t>Use the </a:t>
            </a:r>
            <a:r>
              <a:rPr lang="en-AU" sz="2133" kern="0" dirty="0">
                <a:solidFill>
                  <a:srgbClr val="000000"/>
                </a:solidFill>
                <a:latin typeface="Economica" panose="020B0604020202020204" charset="0"/>
                <a:ea typeface="Times New Roman" panose="02020603050405020304" pitchFamily="18" charset="0"/>
                <a:cs typeface="Arial"/>
                <a:sym typeface="Arial"/>
              </a:rPr>
              <a:t>online drawing tool: </a:t>
            </a:r>
            <a:r>
              <a:rPr lang="en-AU" sz="2133" kern="0" dirty="0">
                <a:solidFill>
                  <a:srgbClr val="00B050"/>
                </a:solidFill>
                <a:latin typeface="Economica" panose="020B0604020202020204" charset="0"/>
                <a:ea typeface="Times New Roman" panose="02020603050405020304" pitchFamily="18" charset="0"/>
                <a:cs typeface="Arial"/>
                <a:sym typeface="Arial"/>
                <a:hlinkClick r:id="rId4">
                  <a:extLst>
                    <a:ext uri="{A12FA001-AC4F-418D-AE19-62706E023703}">
                      <ahyp:hlinkClr xmlns:ahyp="http://schemas.microsoft.com/office/drawing/2018/hyperlinkcolor" val="tx"/>
                    </a:ext>
                  </a:extLst>
                </a:hlinkClick>
              </a:rPr>
              <a:t>draw.io</a:t>
            </a:r>
            <a:endParaRPr lang="en-AU" sz="2133" kern="0" dirty="0">
              <a:solidFill>
                <a:srgbClr val="00B050"/>
              </a:solidFill>
              <a:latin typeface="Economica" panose="020B0604020202020204" charset="0"/>
              <a:ea typeface="Times New Roman" panose="02020603050405020304" pitchFamily="18" charset="0"/>
              <a:cs typeface="Arial"/>
              <a:sym typeface="Arial"/>
            </a:endParaRPr>
          </a:p>
          <a:p>
            <a:pPr marL="380990" indent="-380990" defTabSz="1219170">
              <a:lnSpc>
                <a:spcPct val="150000"/>
              </a:lnSpc>
              <a:buClr>
                <a:srgbClr val="000000"/>
              </a:buClr>
              <a:buFont typeface="Arial" panose="020B0604020202020204" pitchFamily="34" charset="0"/>
              <a:buChar char="•"/>
            </a:pPr>
            <a:endParaRPr lang="en-AU" sz="2133" kern="0" dirty="0">
              <a:solidFill>
                <a:srgbClr val="000000"/>
              </a:solidFill>
              <a:latin typeface="Economica" panose="020B0604020202020204" charset="0"/>
              <a:cs typeface="Arial"/>
              <a:sym typeface="Arial"/>
            </a:endParaRPr>
          </a:p>
          <a:p>
            <a:pPr marL="380990" indent="-380990" defTabSz="1219170">
              <a:lnSpc>
                <a:spcPct val="150000"/>
              </a:lnSpc>
              <a:buClr>
                <a:srgbClr val="000000"/>
              </a:buClr>
              <a:buFont typeface="Arial" panose="020B0604020202020204" pitchFamily="34" charset="0"/>
              <a:buChar char="•"/>
            </a:pPr>
            <a:endParaRPr lang="en-AU" sz="2133" kern="0" dirty="0">
              <a:solidFill>
                <a:srgbClr val="000000"/>
              </a:solidFill>
              <a:latin typeface="Economica" panose="020B0604020202020204" charset="0"/>
              <a:cs typeface="Arial"/>
              <a:sym typeface="Arial"/>
            </a:endParaRPr>
          </a:p>
          <a:p>
            <a:pPr defTabSz="1219170">
              <a:lnSpc>
                <a:spcPct val="150000"/>
              </a:lnSpc>
              <a:buClr>
                <a:srgbClr val="000000"/>
              </a:buClr>
            </a:pPr>
            <a:endParaRPr lang="en-AU" sz="2133" kern="0" dirty="0">
              <a:solidFill>
                <a:srgbClr val="000000"/>
              </a:solidFill>
              <a:latin typeface="Economica" panose="020B0604020202020204" charset="0"/>
              <a:cs typeface="Arial"/>
              <a:sym typeface="Arial"/>
            </a:endParaRPr>
          </a:p>
          <a:p>
            <a:pPr defTabSz="1219170">
              <a:lnSpc>
                <a:spcPct val="150000"/>
              </a:lnSpc>
              <a:buClr>
                <a:srgbClr val="000000"/>
              </a:buClr>
            </a:pPr>
            <a:r>
              <a:rPr lang="en-AU" sz="2133" i="1" kern="0" dirty="0">
                <a:solidFill>
                  <a:prstClr val="black">
                    <a:lumMod val="50000"/>
                    <a:lumOff val="50000"/>
                  </a:prstClr>
                </a:solidFill>
                <a:latin typeface="Economica" panose="020B0604020202020204" charset="0"/>
                <a:cs typeface="Arial"/>
                <a:sym typeface="Arial"/>
              </a:rPr>
              <a:t>Feel free to use other tools of choice!</a:t>
            </a:r>
            <a:endParaRPr lang="en-US" sz="2133" i="1" kern="0" dirty="0">
              <a:solidFill>
                <a:prstClr val="black">
                  <a:lumMod val="50000"/>
                  <a:lumOff val="50000"/>
                </a:prstClr>
              </a:solidFill>
              <a:latin typeface="Economica" panose="020B0604020202020204" charset="0"/>
              <a:cs typeface="Arial"/>
              <a:sym typeface="Arial"/>
            </a:endParaRPr>
          </a:p>
        </p:txBody>
      </p:sp>
    </p:spTree>
    <p:extLst>
      <p:ext uri="{BB962C8B-B14F-4D97-AF65-F5344CB8AC3E}">
        <p14:creationId xmlns:p14="http://schemas.microsoft.com/office/powerpoint/2010/main" val="1240325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1130" y="0"/>
            <a:ext cx="11362267" cy="1109133"/>
          </a:xfrm>
          <a:prstGeom prst="rect">
            <a:avLst/>
          </a:prstGeom>
        </p:spPr>
        <p:txBody>
          <a:bodyPr spcFirstLastPara="1" wrap="square" lIns="121900" tIns="121900" rIns="121900" bIns="121900" anchor="b" anchorCtr="0">
            <a:noAutofit/>
          </a:bodyPr>
          <a:lstStyle/>
          <a:p>
            <a:r>
              <a:rPr lang="en-GB" dirty="0"/>
              <a:t>Lab 2 Exercises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593868" y="1109134"/>
            <a:ext cx="11004265" cy="2793970"/>
          </a:xfrm>
          <a:prstGeom prst="rect">
            <a:avLst/>
          </a:prstGeom>
          <a:noFill/>
        </p:spPr>
        <p:txBody>
          <a:bodyPr wrap="square" rtlCol="0">
            <a:spAutoFit/>
          </a:bodyPr>
          <a:lstStyle/>
          <a:p>
            <a:pPr algn="just" defTabSz="1219170">
              <a:lnSpc>
                <a:spcPct val="150000"/>
              </a:lnSpc>
              <a:buClr>
                <a:srgbClr val="000000"/>
              </a:buClr>
            </a:pPr>
            <a:r>
              <a:rPr lang="en-US" sz="2400" b="1" kern="0" dirty="0">
                <a:solidFill>
                  <a:srgbClr val="000000"/>
                </a:solidFill>
                <a:latin typeface="Economica" panose="020B0604020202020204" charset="0"/>
                <a:cs typeface="Arial"/>
                <a:sym typeface="Arial"/>
              </a:rPr>
              <a:t>Lab Case Study: </a:t>
            </a:r>
            <a:r>
              <a:rPr lang="en-US" sz="2400" b="1" kern="0" dirty="0">
                <a:solidFill>
                  <a:srgbClr val="F79646">
                    <a:lumMod val="75000"/>
                  </a:srgbClr>
                </a:solidFill>
                <a:latin typeface="Economica" panose="020B0604020202020204" charset="0"/>
                <a:cs typeface="Arial"/>
                <a:sym typeface="Arial"/>
              </a:rPr>
              <a:t>The </a:t>
            </a:r>
            <a:r>
              <a:rPr lang="en-US" sz="2400" b="1" kern="0" dirty="0" err="1">
                <a:solidFill>
                  <a:srgbClr val="F79646">
                    <a:lumMod val="75000"/>
                  </a:srgbClr>
                </a:solidFill>
                <a:latin typeface="Economica" panose="020B0604020202020204" charset="0"/>
                <a:cs typeface="Arial"/>
                <a:sym typeface="Arial"/>
              </a:rPr>
              <a:t>DeskBankApp</a:t>
            </a:r>
            <a:r>
              <a:rPr lang="en-US" sz="2400" b="1" kern="0" dirty="0">
                <a:solidFill>
                  <a:srgbClr val="F79646">
                    <a:lumMod val="75000"/>
                  </a:srgbClr>
                </a:solidFill>
                <a:latin typeface="Economica" panose="020B0604020202020204" charset="0"/>
                <a:cs typeface="Arial"/>
                <a:sym typeface="Arial"/>
              </a:rPr>
              <a:t> system</a:t>
            </a:r>
          </a:p>
          <a:p>
            <a:pPr algn="just" defTabSz="1219170">
              <a:lnSpc>
                <a:spcPct val="150000"/>
              </a:lnSpc>
              <a:buClr>
                <a:srgbClr val="000000"/>
              </a:buClr>
            </a:pPr>
            <a:r>
              <a:rPr lang="en-US" sz="2400" kern="0" dirty="0">
                <a:solidFill>
                  <a:srgbClr val="000000"/>
                </a:solidFill>
                <a:latin typeface="Economica" panose="020B0604020202020204" charset="0"/>
                <a:cs typeface="Arial"/>
                <a:sym typeface="Arial"/>
              </a:rPr>
              <a:t>Your team has now completed the requirements analysis for the new Desk Banking System (lab 1) which includes requirements analysis and testing and use case modelling. The next step is to conduct object-oriented design and develop a UML class diagram for the </a:t>
            </a:r>
            <a:r>
              <a:rPr lang="en-US" sz="2400" kern="0" dirty="0" err="1">
                <a:solidFill>
                  <a:srgbClr val="000000"/>
                </a:solidFill>
                <a:latin typeface="Economica" panose="020B0604020202020204" charset="0"/>
                <a:cs typeface="Arial"/>
                <a:sym typeface="Arial"/>
              </a:rPr>
              <a:t>DeskBankApp</a:t>
            </a:r>
            <a:r>
              <a:rPr lang="en-US" sz="2400" kern="0" dirty="0">
                <a:solidFill>
                  <a:srgbClr val="000000"/>
                </a:solidFill>
                <a:latin typeface="Economica" panose="020B0604020202020204" charset="0"/>
                <a:cs typeface="Arial"/>
                <a:sym typeface="Arial"/>
              </a:rPr>
              <a:t>.</a:t>
            </a:r>
          </a:p>
        </p:txBody>
      </p:sp>
    </p:spTree>
    <p:extLst>
      <p:ext uri="{BB962C8B-B14F-4D97-AF65-F5344CB8AC3E}">
        <p14:creationId xmlns:p14="http://schemas.microsoft.com/office/powerpoint/2010/main" val="1505808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0" y="-19613"/>
            <a:ext cx="11362267" cy="1109133"/>
          </a:xfrm>
          <a:prstGeom prst="rect">
            <a:avLst/>
          </a:prstGeom>
        </p:spPr>
        <p:txBody>
          <a:bodyPr spcFirstLastPara="1" wrap="square" lIns="121900" tIns="121900" rIns="121900" bIns="121900" anchor="b" anchorCtr="0">
            <a:noAutofit/>
          </a:bodyPr>
          <a:lstStyle/>
          <a:p>
            <a:r>
              <a:rPr lang="en-GB" dirty="0"/>
              <a:t>Lab 2 Exercises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593868" y="1089521"/>
            <a:ext cx="11004265" cy="461665"/>
          </a:xfrm>
          <a:prstGeom prst="rect">
            <a:avLst/>
          </a:prstGeom>
          <a:noFill/>
        </p:spPr>
        <p:txBody>
          <a:bodyPr wrap="square" rtlCol="0">
            <a:spAutoFit/>
          </a:bodyPr>
          <a:lstStyle/>
          <a:p>
            <a:pPr defTabSz="1219170">
              <a:buClr>
                <a:srgbClr val="000000"/>
              </a:buClr>
            </a:pPr>
            <a:r>
              <a:rPr lang="en-US" sz="2400" b="1" kern="0" dirty="0">
                <a:solidFill>
                  <a:srgbClr val="000000"/>
                </a:solidFill>
                <a:latin typeface="Economica" panose="020B0604020202020204" charset="0"/>
                <a:cs typeface="Arial"/>
                <a:sym typeface="Arial"/>
              </a:rPr>
              <a:t>Lab Activities: </a:t>
            </a:r>
            <a:r>
              <a:rPr lang="en-GB" sz="2400" b="1" kern="0" dirty="0">
                <a:solidFill>
                  <a:srgbClr val="F79646">
                    <a:lumMod val="75000"/>
                  </a:srgbClr>
                </a:solidFill>
                <a:latin typeface="Economica" panose="020B0604020202020204" charset="0"/>
                <a:cs typeface="Arial"/>
                <a:sym typeface="Arial"/>
              </a:rPr>
              <a:t>OOD – </a:t>
            </a:r>
            <a:r>
              <a:rPr lang="en-GB" sz="2400" b="1" kern="0" dirty="0" err="1">
                <a:solidFill>
                  <a:srgbClr val="F79646">
                    <a:lumMod val="75000"/>
                  </a:srgbClr>
                </a:solidFill>
                <a:latin typeface="Economica" panose="020B0604020202020204" charset="0"/>
                <a:cs typeface="Arial"/>
                <a:sym typeface="Arial"/>
              </a:rPr>
              <a:t>DeskBankApp</a:t>
            </a:r>
            <a:r>
              <a:rPr lang="en-GB" sz="2400" b="1" kern="0" dirty="0">
                <a:solidFill>
                  <a:srgbClr val="F79646">
                    <a:lumMod val="75000"/>
                  </a:srgbClr>
                </a:solidFill>
                <a:latin typeface="Economica" panose="020B0604020202020204" charset="0"/>
                <a:cs typeface="Arial"/>
                <a:sym typeface="Arial"/>
              </a:rPr>
              <a:t> system</a:t>
            </a:r>
            <a:endParaRPr lang="en-US" sz="2400" b="1" kern="0" dirty="0">
              <a:solidFill>
                <a:srgbClr val="F79646">
                  <a:lumMod val="75000"/>
                </a:srgbClr>
              </a:solidFill>
              <a:latin typeface="Economica" panose="020B0604020202020204" charset="0"/>
              <a:cs typeface="Arial"/>
              <a:sym typeface="Arial"/>
            </a:endParaRPr>
          </a:p>
        </p:txBody>
      </p:sp>
      <p:sp>
        <p:nvSpPr>
          <p:cNvPr id="3" name="TextBox 2">
            <a:extLst>
              <a:ext uri="{FF2B5EF4-FFF2-40B4-BE49-F238E27FC236}">
                <a16:creationId xmlns:a16="http://schemas.microsoft.com/office/drawing/2014/main" id="{10AEFC6E-1C3E-8F77-42A0-AE19F0C27E14}"/>
              </a:ext>
            </a:extLst>
          </p:cNvPr>
          <p:cNvSpPr txBox="1"/>
          <p:nvPr/>
        </p:nvSpPr>
        <p:spPr>
          <a:xfrm>
            <a:off x="1231399" y="1905000"/>
            <a:ext cx="10363200" cy="4470400"/>
          </a:xfrm>
          <a:prstGeom prst="rect">
            <a:avLst/>
          </a:prstGeom>
          <a:solidFill>
            <a:schemeClr val="bg1">
              <a:lumMod val="75000"/>
            </a:schemeClr>
          </a:solidFill>
          <a:ln>
            <a:solidFill>
              <a:schemeClr val="tx1"/>
            </a:solidFill>
            <a:extLst>
              <a:ext uri="{C807C97D-BFC1-408E-A445-0C87EB9F89A2}">
                <ask:lineSketchStyleProps xmlns:ask="http://schemas.microsoft.com/office/drawing/2018/sketchyshapes">
                  <ask:type>
                    <ask:lineSketchNone/>
                  </ask:type>
                </ask:lineSketchStyleProps>
              </a:ext>
            </a:extLst>
          </a:ln>
        </p:spPr>
        <p:txBody>
          <a:bodyPr wrap="square" rtlCol="0">
            <a:noAutofit/>
          </a:bodyPr>
          <a:lstStyle/>
          <a:p>
            <a:pPr defTabSz="1219170">
              <a:lnSpc>
                <a:spcPct val="150000"/>
              </a:lnSpc>
              <a:buClr>
                <a:srgbClr val="000000"/>
              </a:buClr>
            </a:pPr>
            <a:r>
              <a:rPr lang="en-GB" sz="2400" kern="0" dirty="0">
                <a:solidFill>
                  <a:prstClr val="black"/>
                </a:solidFill>
                <a:latin typeface="Economica" panose="020B0604020202020204" charset="0"/>
                <a:cs typeface="Arial"/>
                <a:sym typeface="Arial"/>
              </a:rPr>
              <a:t>Use Lab 1 requirements analysis and user case modelling to:</a:t>
            </a:r>
          </a:p>
          <a:p>
            <a:pPr marL="457189" lvl="7" indent="-457189" defTabSz="1219170">
              <a:lnSpc>
                <a:spcPct val="150000"/>
              </a:lnSpc>
              <a:buClr>
                <a:srgbClr val="000000"/>
              </a:buClr>
              <a:buFont typeface="Arial" panose="020B0604020202020204" pitchFamily="34" charset="0"/>
              <a:buChar char="•"/>
            </a:pPr>
            <a:r>
              <a:rPr lang="en-GB" sz="2400" kern="0" dirty="0">
                <a:solidFill>
                  <a:prstClr val="black"/>
                </a:solidFill>
                <a:latin typeface="Economica" panose="020B0604020202020204" charset="0"/>
                <a:cs typeface="Arial"/>
                <a:sym typeface="Arial"/>
              </a:rPr>
              <a:t>Identify the classes and provide a list of the classes and explain in detail your classes selection. </a:t>
            </a:r>
          </a:p>
          <a:p>
            <a:pPr marL="457189" lvl="7" indent="-457189" defTabSz="1219170">
              <a:lnSpc>
                <a:spcPct val="150000"/>
              </a:lnSpc>
              <a:buClr>
                <a:srgbClr val="000000"/>
              </a:buClr>
              <a:buFont typeface="Arial" panose="020B0604020202020204" pitchFamily="34" charset="0"/>
              <a:buChar char="•"/>
            </a:pPr>
            <a:r>
              <a:rPr lang="en-GB" sz="2400" kern="0" dirty="0">
                <a:solidFill>
                  <a:prstClr val="black"/>
                </a:solidFill>
                <a:latin typeface="Economica" panose="020B0604020202020204" charset="0"/>
                <a:cs typeface="Arial"/>
                <a:sym typeface="Arial"/>
              </a:rPr>
              <a:t>Identify the attributes of each class (attribute names, types, visibilities). </a:t>
            </a:r>
          </a:p>
          <a:p>
            <a:pPr marL="457189" lvl="7" indent="-457189" defTabSz="1219170">
              <a:lnSpc>
                <a:spcPct val="150000"/>
              </a:lnSpc>
              <a:buClr>
                <a:srgbClr val="000000"/>
              </a:buClr>
              <a:buFont typeface="Arial" panose="020B0604020202020204" pitchFamily="34" charset="0"/>
              <a:buChar char="•"/>
            </a:pPr>
            <a:r>
              <a:rPr lang="en-GB" sz="2400" kern="0" dirty="0">
                <a:solidFill>
                  <a:prstClr val="black"/>
                </a:solidFill>
                <a:latin typeface="Economica" panose="020B0604020202020204" charset="0"/>
                <a:cs typeface="Arial"/>
                <a:sym typeface="Arial"/>
              </a:rPr>
              <a:t>Identify the operations (visibilities and potentially with input and output types).</a:t>
            </a:r>
          </a:p>
          <a:p>
            <a:pPr defTabSz="1219170">
              <a:lnSpc>
                <a:spcPct val="150000"/>
              </a:lnSpc>
              <a:buClr>
                <a:srgbClr val="000000"/>
              </a:buClr>
            </a:pPr>
            <a:r>
              <a:rPr lang="en-GB" sz="2400" kern="0" dirty="0">
                <a:solidFill>
                  <a:prstClr val="black"/>
                </a:solidFill>
                <a:latin typeface="Economica" panose="020B0604020202020204" charset="0"/>
                <a:cs typeface="Arial"/>
                <a:sym typeface="Arial"/>
              </a:rPr>
              <a:t>Create a UML class diagram and concisely denote the follow:</a:t>
            </a:r>
          </a:p>
          <a:p>
            <a:pPr marL="457189" indent="-457189" defTabSz="1219170">
              <a:lnSpc>
                <a:spcPct val="150000"/>
              </a:lnSpc>
              <a:buClr>
                <a:srgbClr val="000000"/>
              </a:buClr>
              <a:buFont typeface="Arial" panose="020B0604020202020204" pitchFamily="34" charset="0"/>
              <a:buChar char="•"/>
            </a:pPr>
            <a:r>
              <a:rPr lang="en-GB" sz="2400" kern="0" dirty="0">
                <a:solidFill>
                  <a:prstClr val="black"/>
                </a:solidFill>
                <a:latin typeface="Economica" panose="020B0604020202020204" charset="0"/>
                <a:cs typeface="Arial"/>
                <a:sym typeface="Arial"/>
              </a:rPr>
              <a:t>Class relationships and multiplicity.</a:t>
            </a:r>
          </a:p>
          <a:p>
            <a:pPr marL="457189" indent="-457189" defTabSz="1219170">
              <a:lnSpc>
                <a:spcPct val="150000"/>
              </a:lnSpc>
              <a:buClr>
                <a:srgbClr val="000000"/>
              </a:buClr>
              <a:buFont typeface="Arial" panose="020B0604020202020204" pitchFamily="34" charset="0"/>
              <a:buChar char="•"/>
            </a:pPr>
            <a:r>
              <a:rPr lang="en-GB" sz="2400" kern="0" dirty="0">
                <a:solidFill>
                  <a:prstClr val="black"/>
                </a:solidFill>
                <a:latin typeface="Economica" panose="020B0604020202020204" charset="0"/>
                <a:cs typeface="Arial"/>
                <a:sym typeface="Arial"/>
              </a:rPr>
              <a:t>Attributes and operations and their visibility of each class.</a:t>
            </a:r>
          </a:p>
          <a:p>
            <a:pPr defTabSz="1219170">
              <a:lnSpc>
                <a:spcPct val="150000"/>
              </a:lnSpc>
              <a:buClr>
                <a:srgbClr val="000000"/>
              </a:buClr>
            </a:pPr>
            <a:endParaRPr lang="en-US" sz="2400" kern="0" dirty="0">
              <a:solidFill>
                <a:srgbClr val="000000"/>
              </a:solidFill>
              <a:latin typeface="Arial"/>
              <a:cs typeface="Arial"/>
              <a:sym typeface="Arial"/>
            </a:endParaRPr>
          </a:p>
        </p:txBody>
      </p:sp>
    </p:spTree>
    <p:extLst>
      <p:ext uri="{BB962C8B-B14F-4D97-AF65-F5344CB8AC3E}">
        <p14:creationId xmlns:p14="http://schemas.microsoft.com/office/powerpoint/2010/main" val="2408724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1B419C2-95B3-9AAC-6BF9-E39B83A758B1}"/>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D5317E9C-F238-DFEA-1EB9-D73131123D6C}"/>
              </a:ext>
            </a:extLst>
          </p:cNvPr>
          <p:cNvSpPr txBox="1">
            <a:spLocks noGrp="1"/>
          </p:cNvSpPr>
          <p:nvPr>
            <p:ph type="title" idx="4294967295"/>
          </p:nvPr>
        </p:nvSpPr>
        <p:spPr>
          <a:xfrm>
            <a:off x="0" y="-19613"/>
            <a:ext cx="11362267" cy="1109133"/>
          </a:xfrm>
          <a:prstGeom prst="rect">
            <a:avLst/>
          </a:prstGeom>
        </p:spPr>
        <p:txBody>
          <a:bodyPr spcFirstLastPara="1" wrap="square" lIns="121900" tIns="121900" rIns="121900" bIns="121900" anchor="b" anchorCtr="0">
            <a:noAutofit/>
          </a:bodyPr>
          <a:lstStyle/>
          <a:p>
            <a:r>
              <a:rPr lang="en-GB" dirty="0"/>
              <a:t>Lab 2 Practical Steps</a:t>
            </a:r>
            <a:endParaRPr dirty="0"/>
          </a:p>
        </p:txBody>
      </p:sp>
      <p:sp>
        <p:nvSpPr>
          <p:cNvPr id="2" name="TextBox 1">
            <a:extLst>
              <a:ext uri="{FF2B5EF4-FFF2-40B4-BE49-F238E27FC236}">
                <a16:creationId xmlns:a16="http://schemas.microsoft.com/office/drawing/2014/main" id="{7DBEACB1-5377-93CD-6FC0-CAE1BA9B9D28}"/>
              </a:ext>
            </a:extLst>
          </p:cNvPr>
          <p:cNvSpPr txBox="1"/>
          <p:nvPr/>
        </p:nvSpPr>
        <p:spPr>
          <a:xfrm>
            <a:off x="593868" y="1089521"/>
            <a:ext cx="11004265" cy="4154984"/>
          </a:xfrm>
          <a:prstGeom prst="rect">
            <a:avLst/>
          </a:prstGeom>
          <a:noFill/>
        </p:spPr>
        <p:txBody>
          <a:bodyPr wrap="square" rtlCol="0">
            <a:spAutoFit/>
          </a:bodyPr>
          <a:lstStyle/>
          <a:p>
            <a:pPr defTabSz="1219170">
              <a:buClr>
                <a:srgbClr val="000000"/>
              </a:buClr>
            </a:pPr>
            <a:r>
              <a:rPr lang="en-US" sz="2400" b="1" kern="0" dirty="0">
                <a:solidFill>
                  <a:prstClr val="black"/>
                </a:solidFill>
                <a:latin typeface="Economica" panose="020B0604020202020204" charset="0"/>
                <a:cs typeface="Arial"/>
                <a:sym typeface="Arial"/>
              </a:rPr>
              <a:t>Transforming a use case diagram into a class diagram</a:t>
            </a:r>
          </a:p>
          <a:p>
            <a:pPr defTabSz="1219170">
              <a:buClr>
                <a:srgbClr val="000000"/>
              </a:buClr>
            </a:pPr>
            <a:r>
              <a:rPr lang="en-US" sz="2400" b="1" kern="0" dirty="0">
                <a:solidFill>
                  <a:prstClr val="black"/>
                </a:solidFill>
                <a:latin typeface="Economica" panose="020B0604020202020204" charset="0"/>
                <a:cs typeface="Arial"/>
                <a:sym typeface="Arial"/>
              </a:rPr>
              <a:t>“What data and operations are needed to support a certain user interaction?”:</a:t>
            </a:r>
          </a:p>
          <a:p>
            <a:pPr defTabSz="1219170">
              <a:buClr>
                <a:srgbClr val="000000"/>
              </a:buClr>
            </a:pPr>
            <a:endParaRPr lang="en-US" sz="2400" b="1" kern="0" dirty="0">
              <a:solidFill>
                <a:prstClr val="black"/>
              </a:solidFill>
              <a:latin typeface="Economica" panose="020B0604020202020204" charset="0"/>
              <a:cs typeface="Arial"/>
              <a:sym typeface="Arial"/>
            </a:endParaRPr>
          </a:p>
          <a:p>
            <a:pPr marL="457189" indent="-457189" defTabSz="1219170">
              <a:buClr>
                <a:srgbClr val="000000"/>
              </a:buClr>
              <a:buFont typeface="Arial"/>
              <a:buAutoNum type="arabicPeriod"/>
            </a:pPr>
            <a:r>
              <a:rPr lang="en-US" sz="2400" kern="0" dirty="0">
                <a:solidFill>
                  <a:prstClr val="black"/>
                </a:solidFill>
                <a:latin typeface="Economica" panose="020B0604020202020204" charset="0"/>
                <a:cs typeface="Arial"/>
                <a:sym typeface="Arial"/>
              </a:rPr>
              <a:t>Identify key nouns (things, roles, data entities) -&gt; potential classes</a:t>
            </a:r>
          </a:p>
          <a:p>
            <a:pPr marL="457189" indent="-457189" defTabSz="1219170">
              <a:buClr>
                <a:srgbClr val="000000"/>
              </a:buClr>
              <a:buFont typeface="Arial"/>
              <a:buAutoNum type="arabicPeriod"/>
            </a:pPr>
            <a:r>
              <a:rPr lang="en-US" sz="2400" kern="0" dirty="0">
                <a:solidFill>
                  <a:prstClr val="black"/>
                </a:solidFill>
                <a:latin typeface="Economica" panose="020B0604020202020204" charset="0"/>
                <a:cs typeface="Arial"/>
                <a:sym typeface="Arial"/>
              </a:rPr>
              <a:t>Identify actors -&gt; potential classes</a:t>
            </a:r>
          </a:p>
          <a:p>
            <a:pPr marL="457189" indent="-457189" defTabSz="1219170">
              <a:buClr>
                <a:srgbClr val="000000"/>
              </a:buClr>
              <a:buFont typeface="Arial"/>
              <a:buAutoNum type="arabicPeriod"/>
            </a:pPr>
            <a:r>
              <a:rPr lang="en-US" sz="2400" kern="0" dirty="0">
                <a:solidFill>
                  <a:prstClr val="black"/>
                </a:solidFill>
                <a:latin typeface="Economica" panose="020B0604020202020204" charset="0"/>
                <a:cs typeface="Arial"/>
                <a:sym typeface="Arial"/>
              </a:rPr>
              <a:t>Identify behaviors -&gt; methods</a:t>
            </a:r>
          </a:p>
          <a:p>
            <a:pPr marL="457189" indent="-457189" defTabSz="1219170">
              <a:buClr>
                <a:srgbClr val="000000"/>
              </a:buClr>
              <a:buFont typeface="Arial"/>
              <a:buAutoNum type="arabicPeriod"/>
            </a:pPr>
            <a:r>
              <a:rPr lang="en-US" sz="2400" kern="0" dirty="0">
                <a:solidFill>
                  <a:prstClr val="black"/>
                </a:solidFill>
                <a:latin typeface="Economica" panose="020B0604020202020204" charset="0"/>
                <a:cs typeface="Arial"/>
                <a:sym typeface="Arial"/>
              </a:rPr>
              <a:t>Group related use cases -&gt; distribute methods to the identified classes</a:t>
            </a:r>
          </a:p>
          <a:p>
            <a:pPr marL="457189" indent="-457189" defTabSz="1219170">
              <a:buClr>
                <a:srgbClr val="000000"/>
              </a:buClr>
              <a:buFont typeface="Arial"/>
              <a:buAutoNum type="arabicPeriod"/>
            </a:pPr>
            <a:r>
              <a:rPr lang="en-US" sz="2400" kern="0" dirty="0">
                <a:solidFill>
                  <a:prstClr val="black"/>
                </a:solidFill>
                <a:latin typeface="Economica" panose="020B0604020202020204" charset="0"/>
                <a:cs typeface="Arial"/>
                <a:sym typeface="Arial"/>
              </a:rPr>
              <a:t>Identify class relationships -&gt; think about the interactions between actors and use cases</a:t>
            </a:r>
          </a:p>
          <a:p>
            <a:pPr marL="457189" indent="-457189" defTabSz="1219170">
              <a:buClr>
                <a:srgbClr val="000000"/>
              </a:buClr>
              <a:buFont typeface="Arial"/>
              <a:buAutoNum type="arabicPeriod"/>
            </a:pPr>
            <a:endParaRPr lang="en-US" sz="2400" b="1" kern="0" dirty="0">
              <a:solidFill>
                <a:srgbClr val="F79646">
                  <a:lumMod val="75000"/>
                </a:srgbClr>
              </a:solidFill>
              <a:latin typeface="Economica" panose="020B0604020202020204" charset="0"/>
              <a:cs typeface="Arial"/>
              <a:sym typeface="Arial"/>
            </a:endParaRPr>
          </a:p>
        </p:txBody>
      </p:sp>
    </p:spTree>
    <p:extLst>
      <p:ext uri="{BB962C8B-B14F-4D97-AF65-F5344CB8AC3E}">
        <p14:creationId xmlns:p14="http://schemas.microsoft.com/office/powerpoint/2010/main" val="216212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6AFED09-67E9-D28F-FCF5-4D30098B8753}"/>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50A353CC-1FD9-B592-31D6-C979035AA5B3}"/>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7A7570B9-A48B-51B3-18DF-D24F8A7F95FA}"/>
              </a:ext>
            </a:extLst>
          </p:cNvPr>
          <p:cNvSpPr txBox="1"/>
          <p:nvPr/>
        </p:nvSpPr>
        <p:spPr>
          <a:xfrm>
            <a:off x="0" y="587830"/>
            <a:ext cx="11978640" cy="6406049"/>
          </a:xfrm>
          <a:prstGeom prst="rect">
            <a:avLst/>
          </a:prstGeom>
          <a:noFill/>
        </p:spPr>
        <p:txBody>
          <a:bodyPr wrap="square">
            <a:spAutoFit/>
          </a:bodyPr>
          <a:lstStyle/>
          <a:p>
            <a:pPr>
              <a:lnSpc>
                <a:spcPct val="150000"/>
              </a:lnSpc>
              <a:buNone/>
            </a:pPr>
            <a:r>
              <a:rPr lang="en-US" sz="2800" b="1" dirty="0">
                <a:latin typeface="Calibir"/>
              </a:rPr>
              <a:t>Question 1) What is the goal of Lab 2?</a:t>
            </a:r>
          </a:p>
          <a:p>
            <a:pPr>
              <a:lnSpc>
                <a:spcPct val="150000"/>
              </a:lnSpc>
              <a:buNone/>
            </a:pPr>
            <a:r>
              <a:rPr lang="en-US" sz="2800" dirty="0">
                <a:latin typeface="Calibir"/>
              </a:rPr>
              <a:t>Think about what we are trying to achieve after completing the requirements analysis.</a:t>
            </a:r>
          </a:p>
          <a:p>
            <a:pPr>
              <a:lnSpc>
                <a:spcPct val="150000"/>
              </a:lnSpc>
              <a:buNone/>
            </a:pPr>
            <a:r>
              <a:rPr lang="en-US" sz="2400" dirty="0">
                <a:latin typeface="Calibir"/>
              </a:rPr>
              <a:t>The goal of Lab 2 is to convert the requirements and use case diagram into an Object-Oriented Design (OOD).</a:t>
            </a:r>
          </a:p>
          <a:p>
            <a:pPr>
              <a:lnSpc>
                <a:spcPct val="150000"/>
              </a:lnSpc>
              <a:buNone/>
            </a:pPr>
            <a:r>
              <a:rPr lang="en-US" sz="2400" dirty="0">
                <a:latin typeface="Calibir"/>
              </a:rPr>
              <a:t>By the end of this lab, you should be able to:</a:t>
            </a:r>
          </a:p>
          <a:p>
            <a:pPr marL="342900" lvl="0" indent="-342900">
              <a:lnSpc>
                <a:spcPct val="150000"/>
              </a:lnSpc>
              <a:buFont typeface="Arial" panose="020B0604020202020204" pitchFamily="34" charset="0"/>
              <a:buChar char="•"/>
            </a:pPr>
            <a:r>
              <a:rPr lang="en-US" sz="2400" dirty="0">
                <a:latin typeface="Calibir"/>
              </a:rPr>
              <a:t>Identify classes </a:t>
            </a:r>
          </a:p>
          <a:p>
            <a:pPr marL="342900" lvl="0" indent="-342900">
              <a:lnSpc>
                <a:spcPct val="150000"/>
              </a:lnSpc>
              <a:buFont typeface="Arial" panose="020B0604020202020204" pitchFamily="34" charset="0"/>
              <a:buChar char="•"/>
            </a:pPr>
            <a:r>
              <a:rPr lang="en-US" sz="2400" dirty="0">
                <a:latin typeface="Calibir"/>
              </a:rPr>
              <a:t>Identify attributes </a:t>
            </a:r>
          </a:p>
          <a:p>
            <a:pPr marL="342900" lvl="0" indent="-342900">
              <a:lnSpc>
                <a:spcPct val="150000"/>
              </a:lnSpc>
              <a:buFont typeface="Arial" panose="020B0604020202020204" pitchFamily="34" charset="0"/>
              <a:buChar char="•"/>
            </a:pPr>
            <a:r>
              <a:rPr lang="en-US" sz="2400" dirty="0">
                <a:latin typeface="Calibir"/>
              </a:rPr>
              <a:t>Identify operations (methods) </a:t>
            </a:r>
          </a:p>
          <a:p>
            <a:pPr marL="342900" lvl="0" indent="-342900">
              <a:lnSpc>
                <a:spcPct val="150000"/>
              </a:lnSpc>
              <a:buFont typeface="Arial" panose="020B0604020202020204" pitchFamily="34" charset="0"/>
              <a:buChar char="•"/>
            </a:pPr>
            <a:r>
              <a:rPr lang="en-US" sz="2400" dirty="0">
                <a:latin typeface="Calibir"/>
              </a:rPr>
              <a:t>Identify relationships </a:t>
            </a:r>
          </a:p>
          <a:p>
            <a:pPr marL="342900" lvl="0" indent="-342900">
              <a:lnSpc>
                <a:spcPct val="150000"/>
              </a:lnSpc>
              <a:buFont typeface="Arial" panose="020B0604020202020204" pitchFamily="34" charset="0"/>
              <a:buChar char="•"/>
            </a:pPr>
            <a:r>
              <a:rPr lang="en-US" sz="2400" dirty="0">
                <a:latin typeface="Calibir"/>
              </a:rPr>
              <a:t>Draw a UML Class Diagram</a:t>
            </a:r>
          </a:p>
        </p:txBody>
      </p:sp>
    </p:spTree>
    <p:extLst>
      <p:ext uri="{BB962C8B-B14F-4D97-AF65-F5344CB8AC3E}">
        <p14:creationId xmlns:p14="http://schemas.microsoft.com/office/powerpoint/2010/main" val="117060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1000"/>
                                        <p:tgtEl>
                                          <p:spTgt spid="4">
                                            <p:txEl>
                                              <p:pRg st="5" end="5"/>
                                            </p:txEl>
                                          </p:spTgt>
                                        </p:tgtEl>
                                      </p:cBhvr>
                                    </p:animEffect>
                                    <p:anim calcmode="lin" valueType="num">
                                      <p:cBhvr>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1000"/>
                                        <p:tgtEl>
                                          <p:spTgt spid="4">
                                            <p:txEl>
                                              <p:pRg st="6" end="6"/>
                                            </p:txEl>
                                          </p:spTgt>
                                        </p:tgtEl>
                                      </p:cBhvr>
                                    </p:animEffect>
                                    <p:anim calcmode="lin" valueType="num">
                                      <p:cBhvr>
                                        <p:cTn id="2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1000"/>
                                        <p:tgtEl>
                                          <p:spTgt spid="4">
                                            <p:txEl>
                                              <p:pRg st="7" end="7"/>
                                            </p:txEl>
                                          </p:spTgt>
                                        </p:tgtEl>
                                      </p:cBhvr>
                                    </p:animEffect>
                                    <p:anim calcmode="lin" valueType="num">
                                      <p:cBhvr>
                                        <p:cTn id="3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1000"/>
                                        <p:tgtEl>
                                          <p:spTgt spid="4">
                                            <p:txEl>
                                              <p:pRg st="8" end="8"/>
                                            </p:txEl>
                                          </p:spTgt>
                                        </p:tgtEl>
                                      </p:cBhvr>
                                    </p:animEffect>
                                    <p:anim calcmode="lin" valueType="num">
                                      <p:cBhvr>
                                        <p:cTn id="3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C51D670-095C-0B60-AE5A-2D409E4761B8}"/>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725FEC8D-A7FD-2765-B18D-4622100E63E8}"/>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E66906A0-0CE0-7012-BDB6-6B3E45FAF790}"/>
              </a:ext>
            </a:extLst>
          </p:cNvPr>
          <p:cNvSpPr txBox="1"/>
          <p:nvPr/>
        </p:nvSpPr>
        <p:spPr>
          <a:xfrm>
            <a:off x="0" y="725219"/>
            <a:ext cx="11978640" cy="6097182"/>
          </a:xfrm>
          <a:prstGeom prst="rect">
            <a:avLst/>
          </a:prstGeom>
          <a:noFill/>
        </p:spPr>
        <p:txBody>
          <a:bodyPr wrap="square">
            <a:spAutoFit/>
          </a:bodyPr>
          <a:lstStyle/>
          <a:p>
            <a:pPr>
              <a:lnSpc>
                <a:spcPct val="150000"/>
              </a:lnSpc>
              <a:buNone/>
            </a:pPr>
            <a:r>
              <a:rPr lang="en-US" sz="2800" b="1" dirty="0">
                <a:latin typeface="Calibir"/>
              </a:rPr>
              <a:t>Question 2) What is Object-Oriented Design (OOD)?</a:t>
            </a:r>
          </a:p>
          <a:p>
            <a:pPr>
              <a:lnSpc>
                <a:spcPct val="150000"/>
              </a:lnSpc>
              <a:buNone/>
            </a:pPr>
            <a:r>
              <a:rPr lang="en-US" dirty="0">
                <a:latin typeface="Calibir"/>
              </a:rPr>
              <a:t>Object-Oriented Design (OOD) is the process of designing software using objects and classes.</a:t>
            </a:r>
          </a:p>
          <a:p>
            <a:pPr>
              <a:lnSpc>
                <a:spcPct val="150000"/>
              </a:lnSpc>
              <a:buNone/>
            </a:pPr>
            <a:r>
              <a:rPr lang="en-US" dirty="0">
                <a:latin typeface="Calibir"/>
              </a:rPr>
              <a:t>Instead of thinking about individual functions, we think about:</a:t>
            </a:r>
          </a:p>
          <a:p>
            <a:pPr marL="342900" lvl="0" indent="-342900">
              <a:lnSpc>
                <a:spcPct val="150000"/>
              </a:lnSpc>
              <a:buFont typeface="Arial" panose="020B0604020202020204" pitchFamily="34" charset="0"/>
              <a:buChar char="•"/>
            </a:pPr>
            <a:r>
              <a:rPr lang="en-US" dirty="0">
                <a:latin typeface="Calibir"/>
              </a:rPr>
              <a:t>Objects </a:t>
            </a:r>
          </a:p>
          <a:p>
            <a:pPr marL="342900" lvl="0" indent="-342900">
              <a:lnSpc>
                <a:spcPct val="150000"/>
              </a:lnSpc>
              <a:buFont typeface="Arial" panose="020B0604020202020204" pitchFamily="34" charset="0"/>
              <a:buChar char="•"/>
            </a:pPr>
            <a:r>
              <a:rPr lang="en-US" dirty="0">
                <a:latin typeface="Calibir"/>
              </a:rPr>
              <a:t>Their data (attributes) </a:t>
            </a:r>
          </a:p>
          <a:p>
            <a:pPr marL="342900" lvl="0" indent="-342900">
              <a:lnSpc>
                <a:spcPct val="150000"/>
              </a:lnSpc>
              <a:buFont typeface="Arial" panose="020B0604020202020204" pitchFamily="34" charset="0"/>
              <a:buChar char="•"/>
            </a:pPr>
            <a:r>
              <a:rPr lang="en-US" dirty="0">
                <a:latin typeface="Calibir"/>
              </a:rPr>
              <a:t>Their </a:t>
            </a:r>
            <a:r>
              <a:rPr lang="en-US" dirty="0" err="1">
                <a:latin typeface="Calibir"/>
              </a:rPr>
              <a:t>behaviour</a:t>
            </a:r>
            <a:r>
              <a:rPr lang="en-US" dirty="0">
                <a:latin typeface="Calibir"/>
              </a:rPr>
              <a:t> (methods) </a:t>
            </a:r>
          </a:p>
          <a:p>
            <a:pPr marL="342900" lvl="0" indent="-342900">
              <a:lnSpc>
                <a:spcPct val="150000"/>
              </a:lnSpc>
              <a:buFont typeface="Arial" panose="020B0604020202020204" pitchFamily="34" charset="0"/>
              <a:buChar char="•"/>
            </a:pPr>
            <a:r>
              <a:rPr lang="en-US" dirty="0">
                <a:latin typeface="Calibir"/>
              </a:rPr>
              <a:t>How they work together </a:t>
            </a:r>
          </a:p>
          <a:p>
            <a:pPr>
              <a:lnSpc>
                <a:spcPct val="150000"/>
              </a:lnSpc>
              <a:buNone/>
            </a:pPr>
            <a:r>
              <a:rPr lang="en-US" dirty="0">
                <a:latin typeface="Calibir"/>
              </a:rPr>
              <a:t>Example:</a:t>
            </a:r>
          </a:p>
          <a:p>
            <a:pPr>
              <a:lnSpc>
                <a:spcPct val="150000"/>
              </a:lnSpc>
              <a:buNone/>
            </a:pPr>
            <a:r>
              <a:rPr lang="en-US" dirty="0">
                <a:latin typeface="Calibir"/>
              </a:rPr>
              <a:t>Instead of writing one large banking program,</a:t>
            </a:r>
          </a:p>
          <a:p>
            <a:pPr>
              <a:lnSpc>
                <a:spcPct val="150000"/>
              </a:lnSpc>
              <a:buNone/>
            </a:pPr>
            <a:r>
              <a:rPr lang="en-US" dirty="0">
                <a:latin typeface="Calibir"/>
              </a:rPr>
              <a:t>we divide it into classes such as:</a:t>
            </a:r>
          </a:p>
          <a:p>
            <a:pPr marL="342900" lvl="0" indent="-342900">
              <a:lnSpc>
                <a:spcPct val="150000"/>
              </a:lnSpc>
              <a:buFont typeface="Arial" panose="020B0604020202020204" pitchFamily="34" charset="0"/>
              <a:buChar char="•"/>
            </a:pPr>
            <a:r>
              <a:rPr lang="en-US" dirty="0">
                <a:latin typeface="Calibir"/>
              </a:rPr>
              <a:t>Customer </a:t>
            </a:r>
          </a:p>
          <a:p>
            <a:pPr marL="342900" lvl="0" indent="-342900">
              <a:lnSpc>
                <a:spcPct val="150000"/>
              </a:lnSpc>
              <a:buFont typeface="Arial" panose="020B0604020202020204" pitchFamily="34" charset="0"/>
              <a:buChar char="•"/>
            </a:pPr>
            <a:r>
              <a:rPr lang="en-US" dirty="0">
                <a:latin typeface="Calibir"/>
              </a:rPr>
              <a:t>Account </a:t>
            </a:r>
          </a:p>
          <a:p>
            <a:pPr marL="342900" lvl="0" indent="-342900">
              <a:lnSpc>
                <a:spcPct val="150000"/>
              </a:lnSpc>
              <a:buFont typeface="Arial" panose="020B0604020202020204" pitchFamily="34" charset="0"/>
              <a:buChar char="•"/>
            </a:pPr>
            <a:r>
              <a:rPr lang="en-US" dirty="0">
                <a:latin typeface="Calibir"/>
              </a:rPr>
              <a:t>Transaction </a:t>
            </a:r>
          </a:p>
          <a:p>
            <a:pPr marL="342900" lvl="0" indent="-342900">
              <a:lnSpc>
                <a:spcPct val="150000"/>
              </a:lnSpc>
              <a:buFont typeface="Arial" panose="020B0604020202020204" pitchFamily="34" charset="0"/>
              <a:buChar char="•"/>
            </a:pPr>
            <a:r>
              <a:rPr lang="en-US" dirty="0">
                <a:latin typeface="Calibir"/>
              </a:rPr>
              <a:t>Manager</a:t>
            </a:r>
          </a:p>
        </p:txBody>
      </p:sp>
    </p:spTree>
    <p:extLst>
      <p:ext uri="{BB962C8B-B14F-4D97-AF65-F5344CB8AC3E}">
        <p14:creationId xmlns:p14="http://schemas.microsoft.com/office/powerpoint/2010/main" val="131261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1000"/>
                                        <p:tgtEl>
                                          <p:spTgt spid="3">
                                            <p:txEl>
                                              <p:pRg st="11" end="11"/>
                                            </p:txEl>
                                          </p:spTgt>
                                        </p:tgtEl>
                                      </p:cBhvr>
                                    </p:animEffect>
                                    <p:anim calcmode="lin" valueType="num">
                                      <p:cBhvr>
                                        <p:cTn id="5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1000"/>
                                        <p:tgtEl>
                                          <p:spTgt spid="3">
                                            <p:txEl>
                                              <p:pRg st="12" end="12"/>
                                            </p:txEl>
                                          </p:spTgt>
                                        </p:tgtEl>
                                      </p:cBhvr>
                                    </p:animEffect>
                                    <p:anim calcmode="lin" valueType="num">
                                      <p:cBhvr>
                                        <p:cTn id="6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1000"/>
                                        <p:tgtEl>
                                          <p:spTgt spid="3">
                                            <p:txEl>
                                              <p:pRg st="13" end="13"/>
                                            </p:txEl>
                                          </p:spTgt>
                                        </p:tgtEl>
                                      </p:cBhvr>
                                    </p:animEffect>
                                    <p:anim calcmode="lin" valueType="num">
                                      <p:cBhvr>
                                        <p:cTn id="6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DE42055-48AF-43D0-1F71-EA1CB641040C}"/>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9CBA3947-E608-F74A-2EA5-FF1283D5C7E3}"/>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F68CDF0B-E517-FE6D-8435-9BD37B34351C}"/>
              </a:ext>
            </a:extLst>
          </p:cNvPr>
          <p:cNvSpPr txBox="1"/>
          <p:nvPr/>
        </p:nvSpPr>
        <p:spPr>
          <a:xfrm>
            <a:off x="0" y="1140717"/>
            <a:ext cx="11978640" cy="5681684"/>
          </a:xfrm>
          <a:prstGeom prst="rect">
            <a:avLst/>
          </a:prstGeom>
          <a:noFill/>
        </p:spPr>
        <p:txBody>
          <a:bodyPr wrap="square">
            <a:spAutoFit/>
          </a:bodyPr>
          <a:lstStyle/>
          <a:p>
            <a:pPr>
              <a:lnSpc>
                <a:spcPct val="150000"/>
              </a:lnSpc>
              <a:buNone/>
            </a:pPr>
            <a:r>
              <a:rPr lang="en-US" sz="2800" b="1" dirty="0">
                <a:latin typeface="Calibir"/>
              </a:rPr>
              <a:t>Question 3) Why do we </a:t>
            </a:r>
            <a:r>
              <a:rPr lang="en-US" sz="2800" b="1" dirty="0" err="1">
                <a:latin typeface="Calibir"/>
              </a:rPr>
              <a:t>organise</a:t>
            </a:r>
            <a:r>
              <a:rPr lang="en-US" sz="2800" b="1" dirty="0">
                <a:latin typeface="Calibir"/>
              </a:rPr>
              <a:t> a program into classes?</a:t>
            </a:r>
          </a:p>
          <a:p>
            <a:pPr>
              <a:lnSpc>
                <a:spcPct val="150000"/>
              </a:lnSpc>
              <a:buNone/>
            </a:pPr>
            <a:r>
              <a:rPr lang="en-US" dirty="0" err="1">
                <a:latin typeface="Calibir"/>
              </a:rPr>
              <a:t>Organising</a:t>
            </a:r>
            <a:r>
              <a:rPr lang="en-US" dirty="0">
                <a:latin typeface="Calibir"/>
              </a:rPr>
              <a:t> a program into classes makes software:</a:t>
            </a:r>
          </a:p>
          <a:p>
            <a:pPr marL="342900" lvl="0" indent="-342900">
              <a:lnSpc>
                <a:spcPct val="150000"/>
              </a:lnSpc>
              <a:buFont typeface="Arial" panose="020B0604020202020204" pitchFamily="34" charset="0"/>
              <a:buChar char="•"/>
            </a:pPr>
            <a:r>
              <a:rPr lang="en-US" dirty="0">
                <a:latin typeface="Calibir"/>
              </a:rPr>
              <a:t>Easier to understand </a:t>
            </a:r>
          </a:p>
          <a:p>
            <a:pPr marL="342900" lvl="0" indent="-342900">
              <a:lnSpc>
                <a:spcPct val="150000"/>
              </a:lnSpc>
              <a:buFont typeface="Arial" panose="020B0604020202020204" pitchFamily="34" charset="0"/>
              <a:buChar char="•"/>
            </a:pPr>
            <a:r>
              <a:rPr lang="en-US" dirty="0">
                <a:latin typeface="Calibir"/>
              </a:rPr>
              <a:t>Easier to maintain </a:t>
            </a:r>
          </a:p>
          <a:p>
            <a:pPr marL="342900" lvl="0" indent="-342900">
              <a:lnSpc>
                <a:spcPct val="150000"/>
              </a:lnSpc>
              <a:buFont typeface="Arial" panose="020B0604020202020204" pitchFamily="34" charset="0"/>
              <a:buChar char="•"/>
            </a:pPr>
            <a:r>
              <a:rPr lang="en-US" dirty="0">
                <a:latin typeface="Calibir"/>
              </a:rPr>
              <a:t>Easier to reuse </a:t>
            </a:r>
          </a:p>
          <a:p>
            <a:pPr marL="342900" lvl="0" indent="-342900">
              <a:lnSpc>
                <a:spcPct val="150000"/>
              </a:lnSpc>
              <a:buFont typeface="Arial" panose="020B0604020202020204" pitchFamily="34" charset="0"/>
              <a:buChar char="•"/>
            </a:pPr>
            <a:r>
              <a:rPr lang="en-US" dirty="0">
                <a:latin typeface="Calibir"/>
              </a:rPr>
              <a:t>Easier to test </a:t>
            </a:r>
          </a:p>
          <a:p>
            <a:pPr marL="342900" lvl="0" indent="-342900">
              <a:lnSpc>
                <a:spcPct val="150000"/>
              </a:lnSpc>
              <a:buFont typeface="Arial" panose="020B0604020202020204" pitchFamily="34" charset="0"/>
              <a:buChar char="•"/>
            </a:pPr>
            <a:r>
              <a:rPr lang="en-US" dirty="0">
                <a:latin typeface="Calibir"/>
              </a:rPr>
              <a:t>Easier to extend </a:t>
            </a:r>
          </a:p>
          <a:p>
            <a:pPr>
              <a:lnSpc>
                <a:spcPct val="150000"/>
              </a:lnSpc>
              <a:buNone/>
            </a:pPr>
            <a:r>
              <a:rPr lang="en-US" dirty="0">
                <a:latin typeface="Calibir"/>
              </a:rPr>
              <a:t>Example</a:t>
            </a:r>
          </a:p>
          <a:p>
            <a:pPr>
              <a:lnSpc>
                <a:spcPct val="150000"/>
              </a:lnSpc>
              <a:buNone/>
            </a:pPr>
            <a:r>
              <a:rPr lang="en-US" dirty="0">
                <a:latin typeface="Calibir"/>
              </a:rPr>
              <a:t>Instead of storing everything in one program,</a:t>
            </a:r>
          </a:p>
          <a:p>
            <a:pPr>
              <a:lnSpc>
                <a:spcPct val="150000"/>
              </a:lnSpc>
              <a:buNone/>
            </a:pPr>
            <a:r>
              <a:rPr lang="en-US" dirty="0">
                <a:latin typeface="Calibir"/>
              </a:rPr>
              <a:t>we separate responsibilities.</a:t>
            </a:r>
          </a:p>
          <a:p>
            <a:pPr>
              <a:lnSpc>
                <a:spcPct val="150000"/>
              </a:lnSpc>
              <a:buNone/>
            </a:pPr>
            <a:r>
              <a:rPr lang="en-US" dirty="0">
                <a:latin typeface="Calibir"/>
              </a:rPr>
              <a:t>Customer manages customer information.</a:t>
            </a:r>
          </a:p>
          <a:p>
            <a:pPr>
              <a:lnSpc>
                <a:spcPct val="150000"/>
              </a:lnSpc>
              <a:buNone/>
            </a:pPr>
            <a:r>
              <a:rPr lang="en-US" dirty="0">
                <a:latin typeface="Calibir"/>
              </a:rPr>
              <a:t>Account manages account information.</a:t>
            </a:r>
          </a:p>
          <a:p>
            <a:pPr>
              <a:lnSpc>
                <a:spcPct val="150000"/>
              </a:lnSpc>
              <a:buNone/>
            </a:pPr>
            <a:r>
              <a:rPr lang="en-US" dirty="0">
                <a:latin typeface="Calibir"/>
              </a:rPr>
              <a:t>Transaction manages banking transactions.</a:t>
            </a:r>
          </a:p>
        </p:txBody>
      </p:sp>
    </p:spTree>
    <p:extLst>
      <p:ext uri="{BB962C8B-B14F-4D97-AF65-F5344CB8AC3E}">
        <p14:creationId xmlns:p14="http://schemas.microsoft.com/office/powerpoint/2010/main" val="13696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anim calcmode="lin" valueType="num">
                                      <p:cBhvr>
                                        <p:cTn id="3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1000"/>
                                        <p:tgtEl>
                                          <p:spTgt spid="4">
                                            <p:txEl>
                                              <p:pRg st="7" end="7"/>
                                            </p:txEl>
                                          </p:spTgt>
                                        </p:tgtEl>
                                      </p:cBhvr>
                                    </p:animEffect>
                                    <p:anim calcmode="lin" valueType="num">
                                      <p:cBhvr>
                                        <p:cTn id="3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1000"/>
                                        <p:tgtEl>
                                          <p:spTgt spid="4">
                                            <p:txEl>
                                              <p:pRg st="9" end="9"/>
                                            </p:txEl>
                                          </p:spTgt>
                                        </p:tgtEl>
                                      </p:cBhvr>
                                    </p:animEffect>
                                    <p:anim calcmode="lin" valueType="num">
                                      <p:cBhvr>
                                        <p:cTn id="48"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fade">
                                      <p:cBhvr>
                                        <p:cTn id="52" dur="1000"/>
                                        <p:tgtEl>
                                          <p:spTgt spid="4">
                                            <p:txEl>
                                              <p:pRg st="10" end="10"/>
                                            </p:txEl>
                                          </p:spTgt>
                                        </p:tgtEl>
                                      </p:cBhvr>
                                    </p:animEffect>
                                    <p:anim calcmode="lin" valueType="num">
                                      <p:cBhvr>
                                        <p:cTn id="5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Effect transition="in" filter="fade">
                                      <p:cBhvr>
                                        <p:cTn id="57" dur="1000"/>
                                        <p:tgtEl>
                                          <p:spTgt spid="4">
                                            <p:txEl>
                                              <p:pRg st="11" end="11"/>
                                            </p:txEl>
                                          </p:spTgt>
                                        </p:tgtEl>
                                      </p:cBhvr>
                                    </p:animEffect>
                                    <p:anim calcmode="lin" valueType="num">
                                      <p:cBhvr>
                                        <p:cTn id="58"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
                                            <p:txEl>
                                              <p:pRg st="12" end="12"/>
                                            </p:txEl>
                                          </p:spTgt>
                                        </p:tgtEl>
                                        <p:attrNameLst>
                                          <p:attrName>style.visibility</p:attrName>
                                        </p:attrNameLst>
                                      </p:cBhvr>
                                      <p:to>
                                        <p:strVal val="visible"/>
                                      </p:to>
                                    </p:set>
                                    <p:animEffect transition="in" filter="fade">
                                      <p:cBhvr>
                                        <p:cTn id="62" dur="1000"/>
                                        <p:tgtEl>
                                          <p:spTgt spid="4">
                                            <p:txEl>
                                              <p:pRg st="12" end="12"/>
                                            </p:txEl>
                                          </p:spTgt>
                                        </p:tgtEl>
                                      </p:cBhvr>
                                    </p:animEffect>
                                    <p:anim calcmode="lin" valueType="num">
                                      <p:cBhvr>
                                        <p:cTn id="63"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ACA0FA4-3249-5D77-B6E8-EDFF4635D187}"/>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BAC74F8B-4875-56EC-02C0-8139E210557E}"/>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B46FF1E5-8AAD-729B-3497-34C749EF1BBE}"/>
              </a:ext>
            </a:extLst>
          </p:cNvPr>
          <p:cNvSpPr txBox="1"/>
          <p:nvPr/>
        </p:nvSpPr>
        <p:spPr>
          <a:xfrm>
            <a:off x="0" y="1140717"/>
            <a:ext cx="11978640" cy="5196166"/>
          </a:xfrm>
          <a:prstGeom prst="rect">
            <a:avLst/>
          </a:prstGeom>
          <a:noFill/>
        </p:spPr>
        <p:txBody>
          <a:bodyPr wrap="square">
            <a:spAutoFit/>
          </a:bodyPr>
          <a:lstStyle/>
          <a:p>
            <a:pPr>
              <a:lnSpc>
                <a:spcPct val="150000"/>
              </a:lnSpc>
            </a:pPr>
            <a:r>
              <a:rPr lang="en-US" sz="2800" b="1" dirty="0">
                <a:latin typeface="Calibir"/>
              </a:rPr>
              <a:t>Question 4) What are the design layers?</a:t>
            </a:r>
          </a:p>
          <a:p>
            <a:pPr>
              <a:lnSpc>
                <a:spcPct val="150000"/>
              </a:lnSpc>
            </a:pPr>
            <a:r>
              <a:rPr lang="en-US" sz="2800" dirty="0">
                <a:latin typeface="Calibir"/>
              </a:rPr>
              <a:t>Software can be viewed in three design layers.</a:t>
            </a:r>
          </a:p>
          <a:p>
            <a:pPr>
              <a:lnSpc>
                <a:spcPct val="150000"/>
              </a:lnSpc>
            </a:pPr>
            <a:r>
              <a:rPr lang="en-US" sz="2800" b="1" dirty="0">
                <a:latin typeface="Calibir"/>
              </a:rPr>
              <a:t>1. Abstraction</a:t>
            </a:r>
          </a:p>
          <a:p>
            <a:pPr>
              <a:lnSpc>
                <a:spcPct val="150000"/>
              </a:lnSpc>
            </a:pPr>
            <a:r>
              <a:rPr lang="en-US" sz="2800" dirty="0">
                <a:latin typeface="Calibir"/>
              </a:rPr>
              <a:t>"What should the system do?"</a:t>
            </a:r>
          </a:p>
          <a:p>
            <a:pPr>
              <a:lnSpc>
                <a:spcPct val="150000"/>
              </a:lnSpc>
            </a:pPr>
            <a:r>
              <a:rPr lang="en-US" sz="2800" dirty="0">
                <a:latin typeface="Calibir"/>
              </a:rPr>
              <a:t>Example</a:t>
            </a:r>
          </a:p>
          <a:p>
            <a:pPr>
              <a:lnSpc>
                <a:spcPct val="150000"/>
              </a:lnSpc>
            </a:pPr>
            <a:r>
              <a:rPr lang="en-US" sz="2800" dirty="0">
                <a:latin typeface="Calibir"/>
              </a:rPr>
              <a:t>Customer</a:t>
            </a:r>
          </a:p>
          <a:p>
            <a:pPr>
              <a:lnSpc>
                <a:spcPct val="150000"/>
              </a:lnSpc>
            </a:pPr>
            <a:r>
              <a:rPr lang="en-US" sz="2800" dirty="0">
                <a:latin typeface="Calibir"/>
              </a:rPr>
              <a:t>Account</a:t>
            </a:r>
          </a:p>
          <a:p>
            <a:pPr>
              <a:lnSpc>
                <a:spcPct val="150000"/>
              </a:lnSpc>
            </a:pPr>
            <a:r>
              <a:rPr lang="en-US" sz="2800" dirty="0">
                <a:latin typeface="Calibir"/>
              </a:rPr>
              <a:t>Transaction</a:t>
            </a:r>
          </a:p>
        </p:txBody>
      </p:sp>
    </p:spTree>
    <p:extLst>
      <p:ext uri="{BB962C8B-B14F-4D97-AF65-F5344CB8AC3E}">
        <p14:creationId xmlns:p14="http://schemas.microsoft.com/office/powerpoint/2010/main" val="173805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anim calcmode="lin" valueType="num">
                                      <p:cBhvr>
                                        <p:cTn id="3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1000"/>
                                        <p:tgtEl>
                                          <p:spTgt spid="4">
                                            <p:txEl>
                                              <p:pRg st="7" end="7"/>
                                            </p:txEl>
                                          </p:spTgt>
                                        </p:tgtEl>
                                      </p:cBhvr>
                                    </p:animEffect>
                                    <p:anim calcmode="lin" valueType="num">
                                      <p:cBhvr>
                                        <p:cTn id="3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A6F7B64-ABD3-6A55-14DB-0367A0B9FB21}"/>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40EAA8BE-7795-97BA-C98D-D3B32F687B2B}"/>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5FE51672-D02D-18F4-EB96-1EA3837AF997}"/>
              </a:ext>
            </a:extLst>
          </p:cNvPr>
          <p:cNvSpPr txBox="1"/>
          <p:nvPr/>
        </p:nvSpPr>
        <p:spPr>
          <a:xfrm>
            <a:off x="0" y="1140717"/>
            <a:ext cx="11978640" cy="4549835"/>
          </a:xfrm>
          <a:prstGeom prst="rect">
            <a:avLst/>
          </a:prstGeom>
          <a:noFill/>
        </p:spPr>
        <p:txBody>
          <a:bodyPr wrap="square">
            <a:spAutoFit/>
          </a:bodyPr>
          <a:lstStyle/>
          <a:p>
            <a:pPr>
              <a:lnSpc>
                <a:spcPct val="150000"/>
              </a:lnSpc>
            </a:pPr>
            <a:r>
              <a:rPr lang="en-US" sz="2800" b="1" dirty="0">
                <a:latin typeface="Calibir"/>
              </a:rPr>
              <a:t>2. Implementation</a:t>
            </a:r>
          </a:p>
          <a:p>
            <a:pPr>
              <a:lnSpc>
                <a:spcPct val="150000"/>
              </a:lnSpc>
            </a:pPr>
            <a:r>
              <a:rPr lang="en-US" sz="2800" dirty="0">
                <a:latin typeface="Calibir"/>
              </a:rPr>
              <a:t>"How is it programmed?"</a:t>
            </a:r>
          </a:p>
          <a:p>
            <a:pPr>
              <a:lnSpc>
                <a:spcPct val="150000"/>
              </a:lnSpc>
            </a:pPr>
            <a:r>
              <a:rPr lang="en-US" sz="2800" dirty="0">
                <a:latin typeface="Calibir"/>
              </a:rPr>
              <a:t>Example</a:t>
            </a:r>
          </a:p>
          <a:p>
            <a:pPr>
              <a:lnSpc>
                <a:spcPct val="150000"/>
              </a:lnSpc>
            </a:pPr>
            <a:r>
              <a:rPr lang="en-US" sz="2800" dirty="0">
                <a:latin typeface="Calibir"/>
              </a:rPr>
              <a:t>Java</a:t>
            </a:r>
          </a:p>
          <a:p>
            <a:pPr>
              <a:lnSpc>
                <a:spcPct val="150000"/>
              </a:lnSpc>
            </a:pPr>
            <a:r>
              <a:rPr lang="en-US" sz="2800" dirty="0">
                <a:latin typeface="Calibir"/>
              </a:rPr>
              <a:t>Python</a:t>
            </a:r>
          </a:p>
          <a:p>
            <a:pPr>
              <a:lnSpc>
                <a:spcPct val="150000"/>
              </a:lnSpc>
            </a:pPr>
            <a:r>
              <a:rPr lang="en-US" sz="2800" dirty="0">
                <a:latin typeface="Calibir"/>
              </a:rPr>
              <a:t>Methods</a:t>
            </a:r>
          </a:p>
          <a:p>
            <a:pPr>
              <a:lnSpc>
                <a:spcPct val="150000"/>
              </a:lnSpc>
            </a:pPr>
            <a:r>
              <a:rPr lang="en-US" sz="2800" dirty="0">
                <a:latin typeface="Calibir"/>
              </a:rPr>
              <a:t>Variables</a:t>
            </a:r>
          </a:p>
        </p:txBody>
      </p:sp>
    </p:spTree>
    <p:extLst>
      <p:ext uri="{BB962C8B-B14F-4D97-AF65-F5344CB8AC3E}">
        <p14:creationId xmlns:p14="http://schemas.microsoft.com/office/powerpoint/2010/main" val="24454593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19111C1-6BFB-09AA-42BE-4B9E4E20893B}"/>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79DF4100-F0BA-BDED-36DF-ED8FB96CACAB}"/>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7AA97CCF-18CF-736D-98BE-DA7E3514279D}"/>
              </a:ext>
            </a:extLst>
          </p:cNvPr>
          <p:cNvSpPr txBox="1"/>
          <p:nvPr/>
        </p:nvSpPr>
        <p:spPr>
          <a:xfrm>
            <a:off x="0" y="1140717"/>
            <a:ext cx="11978640" cy="2608086"/>
          </a:xfrm>
          <a:prstGeom prst="rect">
            <a:avLst/>
          </a:prstGeom>
          <a:noFill/>
        </p:spPr>
        <p:txBody>
          <a:bodyPr wrap="square">
            <a:spAutoFit/>
          </a:bodyPr>
          <a:lstStyle/>
          <a:p>
            <a:pPr>
              <a:lnSpc>
                <a:spcPct val="150000"/>
              </a:lnSpc>
            </a:pPr>
            <a:r>
              <a:rPr lang="en-US" sz="2800" b="1" dirty="0">
                <a:latin typeface="Calibir"/>
              </a:rPr>
              <a:t>3. Interaction</a:t>
            </a:r>
          </a:p>
          <a:p>
            <a:pPr>
              <a:lnSpc>
                <a:spcPct val="150000"/>
              </a:lnSpc>
            </a:pPr>
            <a:r>
              <a:rPr lang="en-US" sz="2800" dirty="0">
                <a:latin typeface="Calibir"/>
              </a:rPr>
              <a:t>"How do the objects communicate?"</a:t>
            </a:r>
          </a:p>
          <a:p>
            <a:pPr>
              <a:lnSpc>
                <a:spcPct val="150000"/>
              </a:lnSpc>
            </a:pPr>
            <a:r>
              <a:rPr lang="en-US" sz="2800" dirty="0">
                <a:latin typeface="Calibir"/>
              </a:rPr>
              <a:t>Example</a:t>
            </a:r>
          </a:p>
          <a:p>
            <a:pPr>
              <a:lnSpc>
                <a:spcPct val="150000"/>
              </a:lnSpc>
            </a:pPr>
            <a:r>
              <a:rPr lang="en-US" sz="2800" dirty="0">
                <a:latin typeface="Calibir"/>
              </a:rPr>
              <a:t>Customer </a:t>
            </a:r>
            <a:r>
              <a:rPr lang="en-US" sz="2800" dirty="0">
                <a:latin typeface="Calibir"/>
                <a:sym typeface="Wingdings" panose="05000000000000000000" pitchFamily="2" charset="2"/>
              </a:rPr>
              <a:t> </a:t>
            </a:r>
            <a:r>
              <a:rPr lang="en-US" sz="2800" dirty="0">
                <a:latin typeface="Calibir"/>
              </a:rPr>
              <a:t>Account </a:t>
            </a:r>
            <a:r>
              <a:rPr lang="en-US" sz="2800" dirty="0">
                <a:latin typeface="Calibir"/>
                <a:sym typeface="Wingdings" panose="05000000000000000000" pitchFamily="2" charset="2"/>
              </a:rPr>
              <a:t> </a:t>
            </a:r>
            <a:r>
              <a:rPr lang="en-US" sz="2800" dirty="0">
                <a:latin typeface="Calibir"/>
              </a:rPr>
              <a:t>Transaction</a:t>
            </a:r>
          </a:p>
        </p:txBody>
      </p:sp>
    </p:spTree>
    <p:extLst>
      <p:ext uri="{BB962C8B-B14F-4D97-AF65-F5344CB8AC3E}">
        <p14:creationId xmlns:p14="http://schemas.microsoft.com/office/powerpoint/2010/main" val="18232395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35DA18F-11F4-54C3-15F6-0C85FD989AAC}"/>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1842C1B3-519D-1863-CE64-0489CC12C4A1}"/>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5134AB22-5CDE-CAB9-A75E-04183DA895A9}"/>
              </a:ext>
            </a:extLst>
          </p:cNvPr>
          <p:cNvSpPr txBox="1"/>
          <p:nvPr/>
        </p:nvSpPr>
        <p:spPr>
          <a:xfrm>
            <a:off x="0" y="757646"/>
            <a:ext cx="12192000" cy="5820183"/>
          </a:xfrm>
          <a:prstGeom prst="rect">
            <a:avLst/>
          </a:prstGeom>
          <a:noFill/>
        </p:spPr>
        <p:txBody>
          <a:bodyPr wrap="square">
            <a:spAutoFit/>
          </a:bodyPr>
          <a:lstStyle/>
          <a:p>
            <a:pPr>
              <a:lnSpc>
                <a:spcPct val="150000"/>
              </a:lnSpc>
              <a:buNone/>
            </a:pPr>
            <a:r>
              <a:rPr lang="en-US" sz="2800" b="1" dirty="0">
                <a:latin typeface="Calibir"/>
              </a:rPr>
              <a:t>Question 5) What is a class?</a:t>
            </a:r>
          </a:p>
          <a:p>
            <a:pPr>
              <a:lnSpc>
                <a:spcPct val="150000"/>
              </a:lnSpc>
              <a:buNone/>
            </a:pPr>
            <a:r>
              <a:rPr lang="en-US" sz="1700" dirty="0">
                <a:latin typeface="Calibir"/>
              </a:rPr>
              <a:t>A class is a blueprint for creating objects.</a:t>
            </a:r>
          </a:p>
          <a:p>
            <a:pPr>
              <a:lnSpc>
                <a:spcPct val="150000"/>
              </a:lnSpc>
              <a:buNone/>
            </a:pPr>
            <a:r>
              <a:rPr lang="en-US" sz="1700" dirty="0">
                <a:latin typeface="Calibir"/>
              </a:rPr>
              <a:t>A class contains:</a:t>
            </a:r>
          </a:p>
          <a:p>
            <a:pPr marL="342900" lvl="0" indent="-342900">
              <a:lnSpc>
                <a:spcPct val="150000"/>
              </a:lnSpc>
              <a:buFont typeface="Arial" panose="020B0604020202020204" pitchFamily="34" charset="0"/>
              <a:buChar char="•"/>
            </a:pPr>
            <a:r>
              <a:rPr lang="en-US" sz="1700" dirty="0">
                <a:latin typeface="Calibir"/>
              </a:rPr>
              <a:t>Attributes (data) </a:t>
            </a:r>
          </a:p>
          <a:p>
            <a:pPr marL="342900" lvl="0" indent="-342900">
              <a:lnSpc>
                <a:spcPct val="150000"/>
              </a:lnSpc>
              <a:buFont typeface="Arial" panose="020B0604020202020204" pitchFamily="34" charset="0"/>
              <a:buChar char="•"/>
            </a:pPr>
            <a:r>
              <a:rPr lang="en-US" sz="1700" dirty="0">
                <a:latin typeface="Calibir"/>
              </a:rPr>
              <a:t>Operations (methods) </a:t>
            </a:r>
          </a:p>
          <a:p>
            <a:pPr>
              <a:lnSpc>
                <a:spcPct val="150000"/>
              </a:lnSpc>
              <a:buNone/>
            </a:pPr>
            <a:r>
              <a:rPr lang="en-US" sz="1700" dirty="0">
                <a:latin typeface="Calibir"/>
              </a:rPr>
              <a:t>Example: Customer</a:t>
            </a:r>
          </a:p>
          <a:p>
            <a:pPr>
              <a:lnSpc>
                <a:spcPct val="150000"/>
              </a:lnSpc>
              <a:buNone/>
            </a:pPr>
            <a:r>
              <a:rPr lang="en-US" sz="1700" dirty="0">
                <a:latin typeface="Calibir"/>
              </a:rPr>
              <a:t>Attributes</a:t>
            </a:r>
          </a:p>
          <a:p>
            <a:pPr marL="342900" lvl="0" indent="-342900">
              <a:lnSpc>
                <a:spcPct val="150000"/>
              </a:lnSpc>
              <a:buFont typeface="Arial" panose="020B0604020202020204" pitchFamily="34" charset="0"/>
              <a:buChar char="•"/>
            </a:pPr>
            <a:r>
              <a:rPr lang="en-US" sz="1700" dirty="0" err="1">
                <a:latin typeface="Calibir"/>
              </a:rPr>
              <a:t>customerID</a:t>
            </a:r>
            <a:r>
              <a:rPr lang="en-US" sz="1700" dirty="0">
                <a:latin typeface="Calibir"/>
              </a:rPr>
              <a:t> </a:t>
            </a:r>
          </a:p>
          <a:p>
            <a:pPr marL="342900" lvl="0" indent="-342900">
              <a:lnSpc>
                <a:spcPct val="150000"/>
              </a:lnSpc>
              <a:buFont typeface="Arial" panose="020B0604020202020204" pitchFamily="34" charset="0"/>
              <a:buChar char="•"/>
            </a:pPr>
            <a:r>
              <a:rPr lang="en-US" sz="1700" dirty="0">
                <a:latin typeface="Calibir"/>
              </a:rPr>
              <a:t>name </a:t>
            </a:r>
          </a:p>
          <a:p>
            <a:pPr marL="342900" lvl="0" indent="-342900">
              <a:lnSpc>
                <a:spcPct val="150000"/>
              </a:lnSpc>
              <a:buFont typeface="Arial" panose="020B0604020202020204" pitchFamily="34" charset="0"/>
              <a:buChar char="•"/>
            </a:pPr>
            <a:r>
              <a:rPr lang="en-US" sz="1700" dirty="0">
                <a:latin typeface="Calibir"/>
              </a:rPr>
              <a:t>email </a:t>
            </a:r>
          </a:p>
          <a:p>
            <a:pPr>
              <a:lnSpc>
                <a:spcPct val="150000"/>
              </a:lnSpc>
              <a:buNone/>
            </a:pPr>
            <a:r>
              <a:rPr lang="en-US" sz="1700" dirty="0">
                <a:latin typeface="Calibir"/>
              </a:rPr>
              <a:t>Methods</a:t>
            </a:r>
          </a:p>
          <a:p>
            <a:pPr marL="342900" lvl="0" indent="-342900">
              <a:lnSpc>
                <a:spcPct val="150000"/>
              </a:lnSpc>
              <a:buFont typeface="Arial" panose="020B0604020202020204" pitchFamily="34" charset="0"/>
              <a:buChar char="•"/>
            </a:pPr>
            <a:r>
              <a:rPr lang="en-US" sz="1700" dirty="0">
                <a:latin typeface="Calibir"/>
              </a:rPr>
              <a:t>login() </a:t>
            </a:r>
          </a:p>
          <a:p>
            <a:pPr marL="342900" lvl="0" indent="-342900">
              <a:lnSpc>
                <a:spcPct val="150000"/>
              </a:lnSpc>
              <a:buFont typeface="Arial" panose="020B0604020202020204" pitchFamily="34" charset="0"/>
              <a:buChar char="•"/>
            </a:pPr>
            <a:r>
              <a:rPr lang="en-US" sz="1700" dirty="0">
                <a:latin typeface="Calibir"/>
              </a:rPr>
              <a:t>logout() </a:t>
            </a:r>
          </a:p>
          <a:p>
            <a:pPr marL="342900" lvl="0" indent="-342900">
              <a:lnSpc>
                <a:spcPct val="150000"/>
              </a:lnSpc>
              <a:buFont typeface="Arial" panose="020B0604020202020204" pitchFamily="34" charset="0"/>
              <a:buChar char="•"/>
            </a:pPr>
            <a:r>
              <a:rPr lang="en-US" dirty="0" err="1">
                <a:latin typeface="Calibir"/>
              </a:rPr>
              <a:t>viewAccounts</a:t>
            </a:r>
            <a:r>
              <a:rPr lang="en-US" dirty="0">
                <a:latin typeface="Calibir"/>
              </a:rPr>
              <a:t>()</a:t>
            </a:r>
          </a:p>
        </p:txBody>
      </p:sp>
    </p:spTree>
    <p:extLst>
      <p:ext uri="{BB962C8B-B14F-4D97-AF65-F5344CB8AC3E}">
        <p14:creationId xmlns:p14="http://schemas.microsoft.com/office/powerpoint/2010/main" val="183020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1000"/>
                                        <p:tgtEl>
                                          <p:spTgt spid="3">
                                            <p:txEl>
                                              <p:pRg st="11" end="11"/>
                                            </p:txEl>
                                          </p:spTgt>
                                        </p:tgtEl>
                                      </p:cBhvr>
                                    </p:animEffect>
                                    <p:anim calcmode="lin" valueType="num">
                                      <p:cBhvr>
                                        <p:cTn id="5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1000"/>
                                        <p:tgtEl>
                                          <p:spTgt spid="3">
                                            <p:txEl>
                                              <p:pRg st="12" end="12"/>
                                            </p:txEl>
                                          </p:spTgt>
                                        </p:tgtEl>
                                      </p:cBhvr>
                                    </p:animEffect>
                                    <p:anim calcmode="lin" valueType="num">
                                      <p:cBhvr>
                                        <p:cTn id="6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1000"/>
                                        <p:tgtEl>
                                          <p:spTgt spid="3">
                                            <p:txEl>
                                              <p:pRg st="13" end="13"/>
                                            </p:txEl>
                                          </p:spTgt>
                                        </p:tgtEl>
                                      </p:cBhvr>
                                    </p:animEffect>
                                    <p:anim calcmode="lin" valueType="num">
                                      <p:cBhvr>
                                        <p:cTn id="6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41EC368-9486-5874-1A1F-3DF53AA606DB}"/>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213489DA-4A2B-BA10-80A1-9EEBD7ABA087}"/>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6" name="TextBox 5">
            <a:extLst>
              <a:ext uri="{FF2B5EF4-FFF2-40B4-BE49-F238E27FC236}">
                <a16:creationId xmlns:a16="http://schemas.microsoft.com/office/drawing/2014/main" id="{C04563E3-5BBE-F9DE-9E00-2E9E3329B97F}"/>
              </a:ext>
            </a:extLst>
          </p:cNvPr>
          <p:cNvSpPr txBox="1"/>
          <p:nvPr/>
        </p:nvSpPr>
        <p:spPr>
          <a:xfrm>
            <a:off x="0" y="875213"/>
            <a:ext cx="11990438" cy="6078074"/>
          </a:xfrm>
          <a:prstGeom prst="rect">
            <a:avLst/>
          </a:prstGeom>
          <a:noFill/>
        </p:spPr>
        <p:txBody>
          <a:bodyPr wrap="square">
            <a:spAutoFit/>
          </a:bodyPr>
          <a:lstStyle/>
          <a:p>
            <a:pPr>
              <a:lnSpc>
                <a:spcPct val="150000"/>
              </a:lnSpc>
              <a:buNone/>
            </a:pPr>
            <a:r>
              <a:rPr lang="en-US" sz="2800" b="1" dirty="0">
                <a:latin typeface="Calibir"/>
              </a:rPr>
              <a:t>Question 7) How do we identify classes?</a:t>
            </a:r>
          </a:p>
          <a:p>
            <a:pPr>
              <a:lnSpc>
                <a:spcPct val="150000"/>
              </a:lnSpc>
              <a:buNone/>
            </a:pPr>
            <a:r>
              <a:rPr lang="en-US" sz="2600" dirty="0">
                <a:latin typeface="Calibir"/>
              </a:rPr>
              <a:t>Read the requirements carefully.</a:t>
            </a:r>
          </a:p>
          <a:p>
            <a:pPr>
              <a:lnSpc>
                <a:spcPct val="150000"/>
              </a:lnSpc>
              <a:buNone/>
            </a:pPr>
            <a:r>
              <a:rPr lang="en-US" sz="2600" dirty="0">
                <a:latin typeface="Calibir"/>
              </a:rPr>
              <a:t>Look for important nouns.</a:t>
            </a:r>
          </a:p>
          <a:p>
            <a:pPr>
              <a:lnSpc>
                <a:spcPct val="150000"/>
              </a:lnSpc>
              <a:buNone/>
            </a:pPr>
            <a:r>
              <a:rPr lang="en-US" sz="2600" dirty="0">
                <a:latin typeface="Calibir"/>
              </a:rPr>
              <a:t>Example</a:t>
            </a:r>
          </a:p>
          <a:p>
            <a:pPr>
              <a:lnSpc>
                <a:spcPct val="150000"/>
              </a:lnSpc>
              <a:buNone/>
            </a:pPr>
            <a:r>
              <a:rPr lang="en-US" sz="2600" dirty="0">
                <a:latin typeface="Calibir"/>
              </a:rPr>
              <a:t>Requirement: Customer can deposit money into an account.</a:t>
            </a:r>
          </a:p>
          <a:p>
            <a:pPr>
              <a:lnSpc>
                <a:spcPct val="150000"/>
              </a:lnSpc>
              <a:buNone/>
            </a:pPr>
            <a:r>
              <a:rPr lang="en-US" sz="2600" dirty="0">
                <a:latin typeface="Calibir"/>
              </a:rPr>
              <a:t>Possible classes</a:t>
            </a:r>
          </a:p>
          <a:p>
            <a:pPr marL="342900" lvl="0" indent="-342900">
              <a:lnSpc>
                <a:spcPct val="150000"/>
              </a:lnSpc>
              <a:buFont typeface="Arial" panose="020B0604020202020204" pitchFamily="34" charset="0"/>
              <a:buChar char="•"/>
            </a:pPr>
            <a:r>
              <a:rPr lang="en-US" sz="2600" dirty="0">
                <a:latin typeface="Calibir"/>
              </a:rPr>
              <a:t>Customer </a:t>
            </a:r>
          </a:p>
          <a:p>
            <a:pPr marL="342900" lvl="0" indent="-342900">
              <a:lnSpc>
                <a:spcPct val="150000"/>
              </a:lnSpc>
              <a:buFont typeface="Arial" panose="020B0604020202020204" pitchFamily="34" charset="0"/>
              <a:buChar char="•"/>
            </a:pPr>
            <a:r>
              <a:rPr lang="en-US" sz="2600" dirty="0">
                <a:latin typeface="Calibir"/>
              </a:rPr>
              <a:t>Account </a:t>
            </a:r>
          </a:p>
          <a:p>
            <a:pPr marL="342900" lvl="0" indent="-342900">
              <a:lnSpc>
                <a:spcPct val="150000"/>
              </a:lnSpc>
              <a:buFont typeface="Arial" panose="020B0604020202020204" pitchFamily="34" charset="0"/>
              <a:buChar char="•"/>
            </a:pPr>
            <a:r>
              <a:rPr lang="en-US" sz="2600" dirty="0">
                <a:latin typeface="Calibir"/>
              </a:rPr>
              <a:t>Transaction </a:t>
            </a:r>
          </a:p>
          <a:p>
            <a:pPr>
              <a:lnSpc>
                <a:spcPct val="150000"/>
              </a:lnSpc>
              <a:buNone/>
            </a:pPr>
            <a:r>
              <a:rPr lang="en-US" sz="2600" dirty="0">
                <a:latin typeface="Calibir"/>
              </a:rPr>
              <a:t>Nouns often become classes.</a:t>
            </a:r>
          </a:p>
        </p:txBody>
      </p:sp>
    </p:spTree>
    <p:extLst>
      <p:ext uri="{BB962C8B-B14F-4D97-AF65-F5344CB8AC3E}">
        <p14:creationId xmlns:p14="http://schemas.microsoft.com/office/powerpoint/2010/main" val="184488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1000"/>
                                        <p:tgtEl>
                                          <p:spTgt spid="6">
                                            <p:txEl>
                                              <p:pRg st="4" end="4"/>
                                            </p:txEl>
                                          </p:spTgt>
                                        </p:tgtEl>
                                      </p:cBhvr>
                                    </p:animEffect>
                                    <p:anim calcmode="lin" valueType="num">
                                      <p:cBhvr>
                                        <p:cTn id="2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1000"/>
                                        <p:tgtEl>
                                          <p:spTgt spid="6">
                                            <p:txEl>
                                              <p:pRg st="5" end="5"/>
                                            </p:txEl>
                                          </p:spTgt>
                                        </p:tgtEl>
                                      </p:cBhvr>
                                    </p:animEffect>
                                    <p:anim calcmode="lin" valueType="num">
                                      <p:cBhvr>
                                        <p:cTn id="2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1000"/>
                                        <p:tgtEl>
                                          <p:spTgt spid="6">
                                            <p:txEl>
                                              <p:pRg st="6" end="6"/>
                                            </p:txEl>
                                          </p:spTgt>
                                        </p:tgtEl>
                                      </p:cBhvr>
                                    </p:animEffect>
                                    <p:anim calcmode="lin" valueType="num">
                                      <p:cBhvr>
                                        <p:cTn id="3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1000"/>
                                        <p:tgtEl>
                                          <p:spTgt spid="6">
                                            <p:txEl>
                                              <p:pRg st="7" end="7"/>
                                            </p:txEl>
                                          </p:spTgt>
                                        </p:tgtEl>
                                      </p:cBhvr>
                                    </p:animEffect>
                                    <p:anim calcmode="lin" valueType="num">
                                      <p:cBhvr>
                                        <p:cTn id="38"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1000"/>
                                        <p:tgtEl>
                                          <p:spTgt spid="6">
                                            <p:txEl>
                                              <p:pRg st="8" end="8"/>
                                            </p:txEl>
                                          </p:spTgt>
                                        </p:tgtEl>
                                      </p:cBhvr>
                                    </p:animEffect>
                                    <p:anim calcmode="lin" valueType="num">
                                      <p:cBhvr>
                                        <p:cTn id="43"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fade">
                                      <p:cBhvr>
                                        <p:cTn id="47" dur="1000"/>
                                        <p:tgtEl>
                                          <p:spTgt spid="6">
                                            <p:txEl>
                                              <p:pRg st="9" end="9"/>
                                            </p:txEl>
                                          </p:spTgt>
                                        </p:tgtEl>
                                      </p:cBhvr>
                                    </p:animEffect>
                                    <p:anim calcmode="lin" valueType="num">
                                      <p:cBhvr>
                                        <p:cTn id="48"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1F9A16D-CB2B-2F8F-2966-A65427E24B5E}"/>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DEDDADAB-169F-C40A-E0FD-1F0BC80B5831}"/>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AD3685C4-00B2-C6C4-ECEE-8098CBDBC4BE}"/>
              </a:ext>
            </a:extLst>
          </p:cNvPr>
          <p:cNvSpPr txBox="1"/>
          <p:nvPr/>
        </p:nvSpPr>
        <p:spPr>
          <a:xfrm>
            <a:off x="0" y="875212"/>
            <a:ext cx="11990438" cy="5842497"/>
          </a:xfrm>
          <a:prstGeom prst="rect">
            <a:avLst/>
          </a:prstGeom>
          <a:noFill/>
        </p:spPr>
        <p:txBody>
          <a:bodyPr wrap="square">
            <a:spAutoFit/>
          </a:bodyPr>
          <a:lstStyle/>
          <a:p>
            <a:pPr>
              <a:lnSpc>
                <a:spcPct val="150000"/>
              </a:lnSpc>
              <a:buNone/>
            </a:pPr>
            <a:r>
              <a:rPr lang="en-US" sz="2800" b="1" dirty="0">
                <a:latin typeface="Calibir"/>
              </a:rPr>
              <a:t>Question 8) Which classes can we identify for </a:t>
            </a:r>
            <a:r>
              <a:rPr lang="en-US" sz="2800" b="1" dirty="0" err="1">
                <a:latin typeface="Calibir"/>
              </a:rPr>
              <a:t>DeskBankApp</a:t>
            </a:r>
            <a:r>
              <a:rPr lang="en-US" sz="2800" b="1" dirty="0">
                <a:latin typeface="Calibir"/>
              </a:rPr>
              <a:t>?</a:t>
            </a:r>
          </a:p>
          <a:p>
            <a:pPr>
              <a:lnSpc>
                <a:spcPct val="150000"/>
              </a:lnSpc>
              <a:buNone/>
            </a:pPr>
            <a:r>
              <a:rPr lang="en-US" sz="2800" dirty="0">
                <a:latin typeface="Calibir"/>
              </a:rPr>
              <a:t>Possible classes include:</a:t>
            </a:r>
          </a:p>
          <a:p>
            <a:pPr marL="342900" lvl="0" indent="-342900">
              <a:lnSpc>
                <a:spcPct val="150000"/>
              </a:lnSpc>
              <a:buFont typeface="Arial" panose="020B0604020202020204" pitchFamily="34" charset="0"/>
              <a:buChar char="•"/>
            </a:pPr>
            <a:r>
              <a:rPr lang="en-US" sz="2800" dirty="0">
                <a:latin typeface="Calibir"/>
              </a:rPr>
              <a:t>Customer </a:t>
            </a:r>
          </a:p>
          <a:p>
            <a:pPr marL="342900" lvl="0" indent="-342900">
              <a:lnSpc>
                <a:spcPct val="150000"/>
              </a:lnSpc>
              <a:buFont typeface="Arial" panose="020B0604020202020204" pitchFamily="34" charset="0"/>
              <a:buChar char="•"/>
            </a:pPr>
            <a:r>
              <a:rPr lang="en-US" sz="2800" dirty="0">
                <a:latin typeface="Calibir"/>
              </a:rPr>
              <a:t>Account </a:t>
            </a:r>
          </a:p>
          <a:p>
            <a:pPr marL="342900" lvl="0" indent="-342900">
              <a:lnSpc>
                <a:spcPct val="150000"/>
              </a:lnSpc>
              <a:buFont typeface="Arial" panose="020B0604020202020204" pitchFamily="34" charset="0"/>
              <a:buChar char="•"/>
            </a:pPr>
            <a:r>
              <a:rPr lang="en-US" sz="2800" dirty="0">
                <a:latin typeface="Calibir"/>
              </a:rPr>
              <a:t>Transaction </a:t>
            </a:r>
          </a:p>
          <a:p>
            <a:pPr marL="342900" lvl="0" indent="-342900">
              <a:lnSpc>
                <a:spcPct val="150000"/>
              </a:lnSpc>
              <a:buFont typeface="Arial" panose="020B0604020202020204" pitchFamily="34" charset="0"/>
              <a:buChar char="•"/>
            </a:pPr>
            <a:r>
              <a:rPr lang="en-US" sz="2800" dirty="0">
                <a:latin typeface="Calibir"/>
              </a:rPr>
              <a:t>Manager </a:t>
            </a:r>
          </a:p>
          <a:p>
            <a:pPr marL="342900" lvl="0" indent="-342900">
              <a:lnSpc>
                <a:spcPct val="150000"/>
              </a:lnSpc>
              <a:buFont typeface="Arial" panose="020B0604020202020204" pitchFamily="34" charset="0"/>
              <a:buChar char="•"/>
            </a:pPr>
            <a:r>
              <a:rPr lang="en-US" sz="2800" dirty="0">
                <a:latin typeface="Calibir"/>
              </a:rPr>
              <a:t>Employee </a:t>
            </a:r>
          </a:p>
          <a:p>
            <a:pPr marL="342900" lvl="0" indent="-342900">
              <a:lnSpc>
                <a:spcPct val="150000"/>
              </a:lnSpc>
              <a:buFont typeface="Arial" panose="020B0604020202020204" pitchFamily="34" charset="0"/>
              <a:buChar char="•"/>
            </a:pPr>
            <a:r>
              <a:rPr lang="en-US" sz="2800" dirty="0">
                <a:latin typeface="Calibir"/>
              </a:rPr>
              <a:t>Branch </a:t>
            </a:r>
          </a:p>
          <a:p>
            <a:pPr>
              <a:lnSpc>
                <a:spcPct val="150000"/>
              </a:lnSpc>
              <a:buNone/>
            </a:pPr>
            <a:r>
              <a:rPr lang="en-US" sz="2800" dirty="0">
                <a:latin typeface="Calibir"/>
              </a:rPr>
              <a:t>Depending on the design, additional supporting classes may also be identified.</a:t>
            </a:r>
          </a:p>
        </p:txBody>
      </p:sp>
    </p:spTree>
    <p:extLst>
      <p:ext uri="{BB962C8B-B14F-4D97-AF65-F5344CB8AC3E}">
        <p14:creationId xmlns:p14="http://schemas.microsoft.com/office/powerpoint/2010/main" val="369497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ABAF9FB-44B9-A940-CF92-FEC9747A2D40}"/>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289F40AA-4E8A-6DDE-574A-F8600741EA18}"/>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63CD1809-6B6C-00F2-A8E5-7C81065ADB60}"/>
              </a:ext>
            </a:extLst>
          </p:cNvPr>
          <p:cNvSpPr txBox="1"/>
          <p:nvPr/>
        </p:nvSpPr>
        <p:spPr>
          <a:xfrm>
            <a:off x="0" y="757228"/>
            <a:ext cx="11990438" cy="6221383"/>
          </a:xfrm>
          <a:prstGeom prst="rect">
            <a:avLst/>
          </a:prstGeom>
          <a:noFill/>
        </p:spPr>
        <p:txBody>
          <a:bodyPr wrap="square">
            <a:spAutoFit/>
          </a:bodyPr>
          <a:lstStyle/>
          <a:p>
            <a:pPr>
              <a:lnSpc>
                <a:spcPct val="150000"/>
              </a:lnSpc>
              <a:buNone/>
            </a:pPr>
            <a:r>
              <a:rPr lang="en-US" sz="2800" b="1" dirty="0">
                <a:latin typeface="Calibir"/>
              </a:rPr>
              <a:t>Question 9) Why is "Deposit" not a class?</a:t>
            </a:r>
          </a:p>
          <a:p>
            <a:pPr>
              <a:lnSpc>
                <a:spcPct val="150000"/>
              </a:lnSpc>
            </a:pPr>
            <a:r>
              <a:rPr lang="en-US" sz="2400" dirty="0">
                <a:latin typeface="Calibir"/>
              </a:rPr>
              <a:t>A deposit is an action, not a thing.</a:t>
            </a:r>
          </a:p>
          <a:p>
            <a:pPr lvl="0">
              <a:lnSpc>
                <a:spcPct val="150000"/>
              </a:lnSpc>
            </a:pPr>
            <a:r>
              <a:rPr lang="en-US" sz="2400" dirty="0">
                <a:latin typeface="Calibir"/>
              </a:rPr>
              <a:t>Classes usually represent things. </a:t>
            </a:r>
          </a:p>
          <a:p>
            <a:pPr lvl="0">
              <a:lnSpc>
                <a:spcPct val="150000"/>
              </a:lnSpc>
            </a:pPr>
            <a:r>
              <a:rPr lang="en-US" sz="2400" dirty="0">
                <a:latin typeface="Calibir"/>
              </a:rPr>
              <a:t>Methods usually represent actions. </a:t>
            </a:r>
          </a:p>
          <a:p>
            <a:pPr>
              <a:lnSpc>
                <a:spcPct val="150000"/>
              </a:lnSpc>
            </a:pPr>
            <a:r>
              <a:rPr lang="en-US" sz="2400" dirty="0">
                <a:latin typeface="Calibir"/>
              </a:rPr>
              <a:t>Java example</a:t>
            </a:r>
          </a:p>
          <a:p>
            <a:pPr>
              <a:lnSpc>
                <a:spcPct val="150000"/>
              </a:lnSpc>
            </a:pPr>
            <a:r>
              <a:rPr lang="en-US" sz="2400" dirty="0">
                <a:solidFill>
                  <a:schemeClr val="bg1"/>
                </a:solidFill>
                <a:highlight>
                  <a:srgbClr val="000080"/>
                </a:highlight>
                <a:latin typeface="Calibir"/>
              </a:rPr>
              <a:t>public void deposit(double amount) {</a:t>
            </a:r>
          </a:p>
          <a:p>
            <a:pPr>
              <a:lnSpc>
                <a:spcPct val="150000"/>
              </a:lnSpc>
            </a:pPr>
            <a:r>
              <a:rPr lang="en-US" sz="2400" dirty="0">
                <a:solidFill>
                  <a:schemeClr val="bg1"/>
                </a:solidFill>
                <a:highlight>
                  <a:srgbClr val="000080"/>
                </a:highlight>
                <a:latin typeface="Calibir"/>
              </a:rPr>
              <a:t>    balance = balance + amount;</a:t>
            </a:r>
          </a:p>
          <a:p>
            <a:pPr>
              <a:lnSpc>
                <a:spcPct val="150000"/>
              </a:lnSpc>
            </a:pPr>
            <a:r>
              <a:rPr lang="en-US" sz="2400" dirty="0">
                <a:solidFill>
                  <a:schemeClr val="bg1"/>
                </a:solidFill>
                <a:highlight>
                  <a:srgbClr val="000080"/>
                </a:highlight>
                <a:latin typeface="Calibir"/>
              </a:rPr>
              <a:t>}</a:t>
            </a:r>
          </a:p>
          <a:p>
            <a:pPr>
              <a:lnSpc>
                <a:spcPct val="150000"/>
              </a:lnSpc>
            </a:pPr>
            <a:r>
              <a:rPr lang="en-US" sz="2400" dirty="0">
                <a:latin typeface="Calibir"/>
              </a:rPr>
              <a:t>Python example</a:t>
            </a:r>
          </a:p>
          <a:p>
            <a:pPr>
              <a:lnSpc>
                <a:spcPct val="150000"/>
              </a:lnSpc>
            </a:pPr>
            <a:r>
              <a:rPr lang="en-US" sz="2400" dirty="0">
                <a:solidFill>
                  <a:schemeClr val="bg1"/>
                </a:solidFill>
                <a:highlight>
                  <a:srgbClr val="000080"/>
                </a:highlight>
                <a:latin typeface="Calibir"/>
              </a:rPr>
              <a:t>def deposit(self, amount):</a:t>
            </a:r>
          </a:p>
          <a:p>
            <a:pPr>
              <a:lnSpc>
                <a:spcPct val="150000"/>
              </a:lnSpc>
            </a:pPr>
            <a:r>
              <a:rPr lang="en-US" sz="2400" dirty="0">
                <a:solidFill>
                  <a:schemeClr val="bg1"/>
                </a:solidFill>
                <a:highlight>
                  <a:srgbClr val="000080"/>
                </a:highlight>
                <a:latin typeface="Calibir"/>
              </a:rPr>
              <a:t>    </a:t>
            </a:r>
            <a:r>
              <a:rPr lang="en-US" sz="2400" dirty="0" err="1">
                <a:solidFill>
                  <a:schemeClr val="bg1"/>
                </a:solidFill>
                <a:highlight>
                  <a:srgbClr val="000080"/>
                </a:highlight>
                <a:latin typeface="Calibir"/>
              </a:rPr>
              <a:t>self.balance</a:t>
            </a:r>
            <a:r>
              <a:rPr lang="en-US" sz="2400" dirty="0">
                <a:solidFill>
                  <a:schemeClr val="bg1"/>
                </a:solidFill>
                <a:highlight>
                  <a:srgbClr val="000080"/>
                </a:highlight>
                <a:latin typeface="Calibir"/>
              </a:rPr>
              <a:t> = </a:t>
            </a:r>
            <a:r>
              <a:rPr lang="en-US" sz="2400" dirty="0" err="1">
                <a:solidFill>
                  <a:schemeClr val="bg1"/>
                </a:solidFill>
                <a:highlight>
                  <a:srgbClr val="000080"/>
                </a:highlight>
                <a:latin typeface="Calibir"/>
              </a:rPr>
              <a:t>self.balance</a:t>
            </a:r>
            <a:r>
              <a:rPr lang="en-US" sz="2400" dirty="0">
                <a:solidFill>
                  <a:schemeClr val="bg1"/>
                </a:solidFill>
                <a:highlight>
                  <a:srgbClr val="000080"/>
                </a:highlight>
                <a:latin typeface="Calibir"/>
              </a:rPr>
              <a:t> + amount</a:t>
            </a:r>
            <a:endParaRPr lang="en-US" sz="2400" dirty="0">
              <a:latin typeface="Calibir"/>
            </a:endParaRPr>
          </a:p>
        </p:txBody>
      </p:sp>
      <p:sp>
        <p:nvSpPr>
          <p:cNvPr id="6" name="TextBox 5">
            <a:extLst>
              <a:ext uri="{FF2B5EF4-FFF2-40B4-BE49-F238E27FC236}">
                <a16:creationId xmlns:a16="http://schemas.microsoft.com/office/drawing/2014/main" id="{1F96DD87-E526-B6C1-5311-6712E39AEFD5}"/>
              </a:ext>
            </a:extLst>
          </p:cNvPr>
          <p:cNvSpPr txBox="1"/>
          <p:nvPr/>
        </p:nvSpPr>
        <p:spPr>
          <a:xfrm>
            <a:off x="5220930" y="3429000"/>
            <a:ext cx="6971070" cy="2805063"/>
          </a:xfrm>
          <a:prstGeom prst="rect">
            <a:avLst/>
          </a:prstGeom>
          <a:noFill/>
        </p:spPr>
        <p:txBody>
          <a:bodyPr wrap="square">
            <a:spAutoFit/>
          </a:bodyPr>
          <a:lstStyle/>
          <a:p>
            <a:pPr>
              <a:lnSpc>
                <a:spcPct val="150000"/>
              </a:lnSpc>
            </a:pPr>
            <a:r>
              <a:rPr lang="en-US" sz="2400" dirty="0">
                <a:latin typeface="Calibir"/>
              </a:rPr>
              <a:t>Here, deposit() is a method inside the Account class.</a:t>
            </a:r>
          </a:p>
          <a:p>
            <a:pPr>
              <a:lnSpc>
                <a:spcPct val="150000"/>
              </a:lnSpc>
            </a:pPr>
            <a:r>
              <a:rPr lang="en-US" sz="2400" dirty="0">
                <a:latin typeface="Calibir"/>
              </a:rPr>
              <a:t>Remember:</a:t>
            </a:r>
          </a:p>
          <a:p>
            <a:pPr marL="342900" lvl="0" indent="-342900">
              <a:lnSpc>
                <a:spcPct val="150000"/>
              </a:lnSpc>
              <a:buFont typeface="Arial" panose="020B0604020202020204" pitchFamily="34" charset="0"/>
              <a:buChar char="•"/>
            </a:pPr>
            <a:r>
              <a:rPr lang="en-US" sz="2400" dirty="0">
                <a:latin typeface="Calibir"/>
              </a:rPr>
              <a:t>Account → class (thing) </a:t>
            </a:r>
          </a:p>
          <a:p>
            <a:pPr marL="342900" lvl="0" indent="-342900">
              <a:lnSpc>
                <a:spcPct val="150000"/>
              </a:lnSpc>
              <a:buFont typeface="Arial" panose="020B0604020202020204" pitchFamily="34" charset="0"/>
              <a:buChar char="•"/>
            </a:pPr>
            <a:r>
              <a:rPr lang="en-US" sz="2400" dirty="0">
                <a:latin typeface="Calibir"/>
              </a:rPr>
              <a:t>deposit() → method (action) </a:t>
            </a:r>
          </a:p>
          <a:p>
            <a:pPr marL="342900" lvl="0" indent="-342900">
              <a:lnSpc>
                <a:spcPct val="150000"/>
              </a:lnSpc>
              <a:buFont typeface="Arial" panose="020B0604020202020204" pitchFamily="34" charset="0"/>
              <a:buChar char="•"/>
            </a:pPr>
            <a:r>
              <a:rPr lang="en-US" sz="2400" dirty="0">
                <a:latin typeface="Calibir"/>
              </a:rPr>
              <a:t>amount → method parameter (input)</a:t>
            </a:r>
          </a:p>
        </p:txBody>
      </p:sp>
    </p:spTree>
    <p:extLst>
      <p:ext uri="{BB962C8B-B14F-4D97-AF65-F5344CB8AC3E}">
        <p14:creationId xmlns:p14="http://schemas.microsoft.com/office/powerpoint/2010/main" val="348090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down)">
                                      <p:cBhvr>
                                        <p:cTn id="10" dur="500"/>
                                        <p:tgtEl>
                                          <p:spTgt spid="4">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down)">
                                      <p:cBhvr>
                                        <p:cTn id="13" dur="500"/>
                                        <p:tgtEl>
                                          <p:spTgt spid="4">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wipe(down)">
                                      <p:cBhvr>
                                        <p:cTn id="16" dur="500"/>
                                        <p:tgtEl>
                                          <p:spTgt spid="4">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wipe(down)">
                                      <p:cBhvr>
                                        <p:cTn id="19" dur="500"/>
                                        <p:tgtEl>
                                          <p:spTgt spid="4">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down)">
                                      <p:cBhvr>
                                        <p:cTn id="22" dur="500"/>
                                        <p:tgtEl>
                                          <p:spTgt spid="4">
                                            <p:txEl>
                                              <p:pRg st="6" end="6"/>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wipe(down)">
                                      <p:cBhvr>
                                        <p:cTn id="25" dur="500"/>
                                        <p:tgtEl>
                                          <p:spTgt spid="4">
                                            <p:txEl>
                                              <p:pRg st="7" end="7"/>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wipe(down)">
                                      <p:cBhvr>
                                        <p:cTn id="28" dur="500"/>
                                        <p:tgtEl>
                                          <p:spTgt spid="4">
                                            <p:txEl>
                                              <p:pRg st="8" end="8"/>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wipe(down)">
                                      <p:cBhvr>
                                        <p:cTn id="31" dur="500"/>
                                        <p:tgtEl>
                                          <p:spTgt spid="4">
                                            <p:txEl>
                                              <p:pRg st="9" end="9"/>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wipe(down)">
                                      <p:cBhvr>
                                        <p:cTn id="34" dur="500"/>
                                        <p:tgtEl>
                                          <p:spTgt spid="4">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wipe(down)">
                                      <p:cBhvr>
                                        <p:cTn id="39" dur="500"/>
                                        <p:tgtEl>
                                          <p:spTgt spid="6">
                                            <p:txEl>
                                              <p:pRg st="0" end="0"/>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Effect transition="in" filter="wipe(down)">
                                      <p:cBhvr>
                                        <p:cTn id="42" dur="500"/>
                                        <p:tgtEl>
                                          <p:spTgt spid="6">
                                            <p:txEl>
                                              <p:pRg st="1" end="1"/>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Effect transition="in" filter="wipe(down)">
                                      <p:cBhvr>
                                        <p:cTn id="45" dur="500"/>
                                        <p:tgtEl>
                                          <p:spTgt spid="6">
                                            <p:txEl>
                                              <p:pRg st="2" end="2"/>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wipe(down)">
                                      <p:cBhvr>
                                        <p:cTn id="48" dur="500"/>
                                        <p:tgtEl>
                                          <p:spTgt spid="6">
                                            <p:txEl>
                                              <p:pRg st="3" end="3"/>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animEffect transition="in" filter="wipe(down)">
                                      <p:cBhvr>
                                        <p:cTn id="5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8FAB9DF-7761-C2C8-2AC8-A20E80E9C31D}"/>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7DD0AD6B-8304-9C51-A47F-E957284FD7C0}"/>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73DDAA87-3AC9-B017-9AA2-FF80AF0AAF15}"/>
              </a:ext>
            </a:extLst>
          </p:cNvPr>
          <p:cNvSpPr txBox="1"/>
          <p:nvPr/>
        </p:nvSpPr>
        <p:spPr>
          <a:xfrm>
            <a:off x="0" y="585642"/>
            <a:ext cx="11990438" cy="6272358"/>
          </a:xfrm>
          <a:prstGeom prst="rect">
            <a:avLst/>
          </a:prstGeom>
          <a:noFill/>
        </p:spPr>
        <p:txBody>
          <a:bodyPr wrap="square">
            <a:spAutoFit/>
          </a:bodyPr>
          <a:lstStyle/>
          <a:p>
            <a:pPr>
              <a:lnSpc>
                <a:spcPct val="150000"/>
              </a:lnSpc>
              <a:buNone/>
            </a:pPr>
            <a:r>
              <a:rPr lang="en-US" sz="2800" b="1" dirty="0">
                <a:latin typeface="Calibir"/>
              </a:rPr>
              <a:t>Question 10) How do we identify attributes?</a:t>
            </a:r>
          </a:p>
          <a:p>
            <a:pPr>
              <a:lnSpc>
                <a:spcPct val="150000"/>
              </a:lnSpc>
              <a:buNone/>
            </a:pPr>
            <a:r>
              <a:rPr lang="en-US" sz="2200" dirty="0">
                <a:latin typeface="Calibir"/>
              </a:rPr>
              <a:t>Think about the information each class needs.</a:t>
            </a:r>
          </a:p>
          <a:p>
            <a:pPr>
              <a:lnSpc>
                <a:spcPct val="150000"/>
              </a:lnSpc>
              <a:buNone/>
            </a:pPr>
            <a:r>
              <a:rPr lang="en-US" sz="2200" dirty="0">
                <a:latin typeface="Calibir"/>
              </a:rPr>
              <a:t>Example</a:t>
            </a:r>
          </a:p>
          <a:p>
            <a:pPr>
              <a:lnSpc>
                <a:spcPct val="150000"/>
              </a:lnSpc>
              <a:buNone/>
            </a:pPr>
            <a:r>
              <a:rPr lang="en-US" sz="2200" dirty="0">
                <a:latin typeface="Calibir"/>
              </a:rPr>
              <a:t>Customer</a:t>
            </a:r>
          </a:p>
          <a:p>
            <a:pPr marL="342900" lvl="0" indent="-342900">
              <a:lnSpc>
                <a:spcPct val="150000"/>
              </a:lnSpc>
              <a:buFont typeface="Arial" panose="020B0604020202020204" pitchFamily="34" charset="0"/>
              <a:buChar char="•"/>
            </a:pPr>
            <a:r>
              <a:rPr lang="en-US" sz="2200" dirty="0" err="1">
                <a:latin typeface="Calibir"/>
              </a:rPr>
              <a:t>customerID</a:t>
            </a:r>
            <a:r>
              <a:rPr lang="en-US" sz="2200" dirty="0">
                <a:latin typeface="Calibir"/>
              </a:rPr>
              <a:t> </a:t>
            </a:r>
          </a:p>
          <a:p>
            <a:pPr marL="342900" lvl="0" indent="-342900">
              <a:lnSpc>
                <a:spcPct val="150000"/>
              </a:lnSpc>
              <a:buFont typeface="Arial" panose="020B0604020202020204" pitchFamily="34" charset="0"/>
              <a:buChar char="•"/>
            </a:pPr>
            <a:r>
              <a:rPr lang="en-US" sz="2200" dirty="0" err="1">
                <a:latin typeface="Calibir"/>
              </a:rPr>
              <a:t>fullName</a:t>
            </a:r>
            <a:r>
              <a:rPr lang="en-US" sz="2200" dirty="0">
                <a:latin typeface="Calibir"/>
              </a:rPr>
              <a:t> </a:t>
            </a:r>
          </a:p>
          <a:p>
            <a:pPr marL="342900" lvl="0" indent="-342900">
              <a:lnSpc>
                <a:spcPct val="150000"/>
              </a:lnSpc>
              <a:buFont typeface="Arial" panose="020B0604020202020204" pitchFamily="34" charset="0"/>
              <a:buChar char="•"/>
            </a:pPr>
            <a:r>
              <a:rPr lang="en-US" sz="2200" dirty="0">
                <a:latin typeface="Calibir"/>
              </a:rPr>
              <a:t>email </a:t>
            </a:r>
          </a:p>
          <a:p>
            <a:pPr marL="342900" lvl="0" indent="-342900">
              <a:lnSpc>
                <a:spcPct val="150000"/>
              </a:lnSpc>
              <a:buFont typeface="Arial" panose="020B0604020202020204" pitchFamily="34" charset="0"/>
              <a:buChar char="•"/>
            </a:pPr>
            <a:r>
              <a:rPr lang="en-US" sz="2200" dirty="0">
                <a:latin typeface="Calibir"/>
              </a:rPr>
              <a:t>phone </a:t>
            </a:r>
          </a:p>
          <a:p>
            <a:pPr>
              <a:lnSpc>
                <a:spcPct val="150000"/>
              </a:lnSpc>
              <a:buNone/>
            </a:pPr>
            <a:r>
              <a:rPr lang="en-US" sz="2200" dirty="0">
                <a:latin typeface="Calibir"/>
              </a:rPr>
              <a:t>Account</a:t>
            </a:r>
          </a:p>
          <a:p>
            <a:pPr marL="342900" lvl="0" indent="-342900">
              <a:lnSpc>
                <a:spcPct val="150000"/>
              </a:lnSpc>
              <a:buFont typeface="Arial" panose="020B0604020202020204" pitchFamily="34" charset="0"/>
              <a:buChar char="•"/>
            </a:pPr>
            <a:r>
              <a:rPr lang="en-US" sz="2200" dirty="0" err="1">
                <a:latin typeface="Calibir"/>
              </a:rPr>
              <a:t>accountNumber</a:t>
            </a:r>
            <a:r>
              <a:rPr lang="en-US" sz="2200" dirty="0">
                <a:latin typeface="Calibir"/>
              </a:rPr>
              <a:t> </a:t>
            </a:r>
          </a:p>
          <a:p>
            <a:pPr marL="342900" lvl="0" indent="-342900">
              <a:lnSpc>
                <a:spcPct val="150000"/>
              </a:lnSpc>
              <a:buFont typeface="Arial" panose="020B0604020202020204" pitchFamily="34" charset="0"/>
              <a:buChar char="•"/>
            </a:pPr>
            <a:r>
              <a:rPr lang="en-US" sz="2200" dirty="0">
                <a:latin typeface="Calibir"/>
              </a:rPr>
              <a:t>balance </a:t>
            </a:r>
          </a:p>
          <a:p>
            <a:pPr marL="342900" lvl="0" indent="-342900">
              <a:lnSpc>
                <a:spcPct val="150000"/>
              </a:lnSpc>
              <a:buFont typeface="Arial" panose="020B0604020202020204" pitchFamily="34" charset="0"/>
              <a:buChar char="•"/>
            </a:pPr>
            <a:r>
              <a:rPr lang="en-US" sz="2200" dirty="0" err="1">
                <a:latin typeface="Calibir"/>
              </a:rPr>
              <a:t>accountType</a:t>
            </a:r>
            <a:endParaRPr lang="en-US" sz="2200" dirty="0">
              <a:latin typeface="Calibir"/>
            </a:endParaRPr>
          </a:p>
        </p:txBody>
      </p:sp>
    </p:spTree>
    <p:extLst>
      <p:ext uri="{BB962C8B-B14F-4D97-AF65-F5344CB8AC3E}">
        <p14:creationId xmlns:p14="http://schemas.microsoft.com/office/powerpoint/2010/main" val="120817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1000"/>
                                        <p:tgtEl>
                                          <p:spTgt spid="3">
                                            <p:txEl>
                                              <p:pRg st="11" end="11"/>
                                            </p:txEl>
                                          </p:spTgt>
                                        </p:tgtEl>
                                      </p:cBhvr>
                                    </p:animEffect>
                                    <p:anim calcmode="lin" valueType="num">
                                      <p:cBhvr>
                                        <p:cTn id="5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7858F2B-B6EF-D50C-1E1A-832576A40C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D205CA-AFE3-DE9B-E213-8AA2D11E92A3}"/>
              </a:ext>
            </a:extLst>
          </p:cNvPr>
          <p:cNvSpPr txBox="1"/>
          <p:nvPr/>
        </p:nvSpPr>
        <p:spPr>
          <a:xfrm>
            <a:off x="0" y="-257992"/>
            <a:ext cx="7047571" cy="7329379"/>
          </a:xfrm>
          <a:prstGeom prst="rect">
            <a:avLst/>
          </a:prstGeom>
          <a:noFill/>
        </p:spPr>
        <p:txBody>
          <a:bodyPr wrap="square">
            <a:spAutoFit/>
          </a:bodyPr>
          <a:lstStyle/>
          <a:p>
            <a:pPr>
              <a:lnSpc>
                <a:spcPct val="150000"/>
              </a:lnSpc>
              <a:buNone/>
            </a:pPr>
            <a:r>
              <a:rPr lang="en-US" sz="2800" b="1" dirty="0">
                <a:latin typeface="Calibir"/>
              </a:rPr>
              <a:t>Question 11) What is an attribute?</a:t>
            </a:r>
          </a:p>
          <a:p>
            <a:pPr>
              <a:lnSpc>
                <a:spcPct val="150000"/>
              </a:lnSpc>
            </a:pPr>
            <a:r>
              <a:rPr lang="en-US" sz="2400" dirty="0">
                <a:latin typeface="Calibir"/>
              </a:rPr>
              <a:t>An attribute is data stored inside a class.</a:t>
            </a:r>
          </a:p>
          <a:p>
            <a:pPr>
              <a:lnSpc>
                <a:spcPct val="150000"/>
              </a:lnSpc>
            </a:pPr>
            <a:r>
              <a:rPr lang="en-US" sz="2400" dirty="0">
                <a:latin typeface="Calibir"/>
              </a:rPr>
              <a:t>Attributes describe the objects created from the class.</a:t>
            </a:r>
          </a:p>
          <a:p>
            <a:pPr>
              <a:lnSpc>
                <a:spcPct val="150000"/>
              </a:lnSpc>
            </a:pPr>
            <a:r>
              <a:rPr lang="en-US" sz="2400" dirty="0">
                <a:latin typeface="Calibir"/>
              </a:rPr>
              <a:t>Java example</a:t>
            </a:r>
          </a:p>
          <a:p>
            <a:pPr>
              <a:lnSpc>
                <a:spcPct val="150000"/>
              </a:lnSpc>
            </a:pPr>
            <a:r>
              <a:rPr lang="en-US" sz="2400" dirty="0">
                <a:solidFill>
                  <a:schemeClr val="bg1"/>
                </a:solidFill>
                <a:highlight>
                  <a:srgbClr val="000080"/>
                </a:highlight>
                <a:latin typeface="Calibir"/>
              </a:rPr>
              <a:t>class Account {</a:t>
            </a:r>
          </a:p>
          <a:p>
            <a:pPr>
              <a:lnSpc>
                <a:spcPct val="150000"/>
              </a:lnSpc>
            </a:pPr>
            <a:r>
              <a:rPr lang="en-US" sz="2400" dirty="0">
                <a:solidFill>
                  <a:schemeClr val="bg1"/>
                </a:solidFill>
                <a:highlight>
                  <a:srgbClr val="000080"/>
                </a:highlight>
                <a:latin typeface="Calibir"/>
              </a:rPr>
              <a:t>    private String name;</a:t>
            </a:r>
          </a:p>
          <a:p>
            <a:pPr>
              <a:lnSpc>
                <a:spcPct val="150000"/>
              </a:lnSpc>
            </a:pPr>
            <a:r>
              <a:rPr lang="en-US" sz="2400" dirty="0">
                <a:solidFill>
                  <a:schemeClr val="bg1"/>
                </a:solidFill>
                <a:highlight>
                  <a:srgbClr val="000080"/>
                </a:highlight>
                <a:latin typeface="Calibir"/>
              </a:rPr>
              <a:t>    private double balance;</a:t>
            </a:r>
          </a:p>
          <a:p>
            <a:pPr>
              <a:lnSpc>
                <a:spcPct val="150000"/>
              </a:lnSpc>
            </a:pPr>
            <a:r>
              <a:rPr lang="en-US" sz="2400" dirty="0">
                <a:solidFill>
                  <a:schemeClr val="bg1"/>
                </a:solidFill>
                <a:highlight>
                  <a:srgbClr val="000080"/>
                </a:highlight>
                <a:latin typeface="Calibir"/>
              </a:rPr>
              <a:t>}</a:t>
            </a:r>
          </a:p>
          <a:p>
            <a:pPr>
              <a:lnSpc>
                <a:spcPct val="150000"/>
              </a:lnSpc>
            </a:pPr>
            <a:r>
              <a:rPr lang="en-US" sz="2400" dirty="0">
                <a:latin typeface="Calibir"/>
              </a:rPr>
              <a:t>Python example</a:t>
            </a:r>
          </a:p>
          <a:p>
            <a:pPr>
              <a:lnSpc>
                <a:spcPct val="150000"/>
              </a:lnSpc>
            </a:pPr>
            <a:r>
              <a:rPr lang="en-US" sz="2400" dirty="0">
                <a:solidFill>
                  <a:schemeClr val="bg1"/>
                </a:solidFill>
                <a:highlight>
                  <a:srgbClr val="000080"/>
                </a:highlight>
                <a:latin typeface="Calibir"/>
              </a:rPr>
              <a:t>class Account:</a:t>
            </a:r>
          </a:p>
          <a:p>
            <a:pPr>
              <a:lnSpc>
                <a:spcPct val="150000"/>
              </a:lnSpc>
            </a:pPr>
            <a:r>
              <a:rPr lang="en-US" sz="2400" dirty="0">
                <a:solidFill>
                  <a:schemeClr val="bg1"/>
                </a:solidFill>
                <a:highlight>
                  <a:srgbClr val="000080"/>
                </a:highlight>
                <a:latin typeface="Calibir"/>
              </a:rPr>
              <a:t>    def __</a:t>
            </a:r>
            <a:r>
              <a:rPr lang="en-US" sz="2400" dirty="0" err="1">
                <a:solidFill>
                  <a:schemeClr val="bg1"/>
                </a:solidFill>
                <a:highlight>
                  <a:srgbClr val="000080"/>
                </a:highlight>
                <a:latin typeface="Calibir"/>
              </a:rPr>
              <a:t>init</a:t>
            </a:r>
            <a:r>
              <a:rPr lang="en-US" sz="2400" dirty="0">
                <a:solidFill>
                  <a:schemeClr val="bg1"/>
                </a:solidFill>
                <a:highlight>
                  <a:srgbClr val="000080"/>
                </a:highlight>
                <a:latin typeface="Calibir"/>
              </a:rPr>
              <a:t>__(self, name, balance):</a:t>
            </a:r>
          </a:p>
          <a:p>
            <a:pPr>
              <a:lnSpc>
                <a:spcPct val="150000"/>
              </a:lnSpc>
            </a:pPr>
            <a:r>
              <a:rPr lang="en-US" sz="2400" dirty="0">
                <a:solidFill>
                  <a:schemeClr val="bg1"/>
                </a:solidFill>
                <a:highlight>
                  <a:srgbClr val="000080"/>
                </a:highlight>
                <a:latin typeface="Calibir"/>
              </a:rPr>
              <a:t>        self.name = name</a:t>
            </a:r>
          </a:p>
          <a:p>
            <a:pPr>
              <a:lnSpc>
                <a:spcPct val="150000"/>
              </a:lnSpc>
            </a:pPr>
            <a:r>
              <a:rPr lang="en-US" sz="2400" dirty="0">
                <a:solidFill>
                  <a:schemeClr val="bg1"/>
                </a:solidFill>
                <a:highlight>
                  <a:srgbClr val="000080"/>
                </a:highlight>
                <a:latin typeface="Calibir"/>
              </a:rPr>
              <a:t>        </a:t>
            </a:r>
            <a:r>
              <a:rPr lang="en-US" sz="2400" dirty="0" err="1">
                <a:solidFill>
                  <a:schemeClr val="bg1"/>
                </a:solidFill>
                <a:highlight>
                  <a:srgbClr val="000080"/>
                </a:highlight>
                <a:latin typeface="Calibir"/>
              </a:rPr>
              <a:t>self.balance</a:t>
            </a:r>
            <a:r>
              <a:rPr lang="en-US" sz="2400" dirty="0">
                <a:solidFill>
                  <a:schemeClr val="bg1"/>
                </a:solidFill>
                <a:highlight>
                  <a:srgbClr val="000080"/>
                </a:highlight>
                <a:latin typeface="Calibir"/>
              </a:rPr>
              <a:t> = balance</a:t>
            </a:r>
            <a:endParaRPr lang="en-US" sz="2800" dirty="0">
              <a:latin typeface="Calibir"/>
            </a:endParaRPr>
          </a:p>
        </p:txBody>
      </p:sp>
      <p:sp>
        <p:nvSpPr>
          <p:cNvPr id="6" name="TextBox 5">
            <a:extLst>
              <a:ext uri="{FF2B5EF4-FFF2-40B4-BE49-F238E27FC236}">
                <a16:creationId xmlns:a16="http://schemas.microsoft.com/office/drawing/2014/main" id="{D694BEBC-B332-E25B-52F3-AF2DB2CAC43C}"/>
              </a:ext>
            </a:extLst>
          </p:cNvPr>
          <p:cNvSpPr txBox="1"/>
          <p:nvPr/>
        </p:nvSpPr>
        <p:spPr>
          <a:xfrm>
            <a:off x="4616604" y="1926478"/>
            <a:ext cx="7575395" cy="3903504"/>
          </a:xfrm>
          <a:prstGeom prst="rect">
            <a:avLst/>
          </a:prstGeom>
          <a:noFill/>
        </p:spPr>
        <p:txBody>
          <a:bodyPr wrap="square">
            <a:spAutoFit/>
          </a:bodyPr>
          <a:lstStyle/>
          <a:p>
            <a:pPr>
              <a:lnSpc>
                <a:spcPct val="150000"/>
              </a:lnSpc>
              <a:buNone/>
            </a:pPr>
            <a:r>
              <a:rPr lang="en-US" sz="2800" dirty="0">
                <a:latin typeface="Calibir"/>
              </a:rPr>
              <a:t>In both examples:</a:t>
            </a:r>
          </a:p>
          <a:p>
            <a:pPr marL="623888" lvl="0" indent="-342900">
              <a:lnSpc>
                <a:spcPct val="150000"/>
              </a:lnSpc>
              <a:buFont typeface="Arial" panose="020B0604020202020204" pitchFamily="34" charset="0"/>
              <a:buChar char="•"/>
            </a:pPr>
            <a:r>
              <a:rPr lang="en-US" sz="2800" dirty="0">
                <a:latin typeface="Calibir"/>
              </a:rPr>
              <a:t>name stores the account holder’s name. </a:t>
            </a:r>
          </a:p>
          <a:p>
            <a:pPr marL="623888" lvl="0" indent="-342900">
              <a:lnSpc>
                <a:spcPct val="150000"/>
              </a:lnSpc>
              <a:buFont typeface="Arial" panose="020B0604020202020204" pitchFamily="34" charset="0"/>
              <a:buChar char="•"/>
            </a:pPr>
            <a:r>
              <a:rPr lang="en-US" sz="2800" dirty="0">
                <a:latin typeface="Calibir"/>
              </a:rPr>
              <a:t>balance stores the amount of money in the account. </a:t>
            </a:r>
          </a:p>
          <a:p>
            <a:pPr>
              <a:lnSpc>
                <a:spcPct val="150000"/>
              </a:lnSpc>
              <a:buNone/>
            </a:pPr>
            <a:r>
              <a:rPr lang="en-US" sz="2800" dirty="0">
                <a:latin typeface="Calibir"/>
              </a:rPr>
              <a:t>Each Account object can have a different name and balance.</a:t>
            </a:r>
          </a:p>
        </p:txBody>
      </p:sp>
    </p:spTree>
    <p:extLst>
      <p:ext uri="{BB962C8B-B14F-4D97-AF65-F5344CB8AC3E}">
        <p14:creationId xmlns:p14="http://schemas.microsoft.com/office/powerpoint/2010/main" val="36146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arn(inVertical)">
                                      <p:cBhvr>
                                        <p:cTn id="10" dur="500"/>
                                        <p:tgtEl>
                                          <p:spTgt spid="4">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arn(inVertical)">
                                      <p:cBhvr>
                                        <p:cTn id="13" dur="500"/>
                                        <p:tgtEl>
                                          <p:spTgt spid="4">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arn(inVertical)">
                                      <p:cBhvr>
                                        <p:cTn id="16" dur="500"/>
                                        <p:tgtEl>
                                          <p:spTgt spid="4">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arn(inVertical)">
                                      <p:cBhvr>
                                        <p:cTn id="19" dur="500"/>
                                        <p:tgtEl>
                                          <p:spTgt spid="4">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arn(inVertical)">
                                      <p:cBhvr>
                                        <p:cTn id="22" dur="500"/>
                                        <p:tgtEl>
                                          <p:spTgt spid="4">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barn(inVertical)">
                                      <p:cBhvr>
                                        <p:cTn id="25" dur="500"/>
                                        <p:tgtEl>
                                          <p:spTgt spid="4">
                                            <p:txEl>
                                              <p:pRg st="7" end="7"/>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barn(inVertical)">
                                      <p:cBhvr>
                                        <p:cTn id="28" dur="500"/>
                                        <p:tgtEl>
                                          <p:spTgt spid="4">
                                            <p:txEl>
                                              <p:pRg st="8" end="8"/>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barn(inVertical)">
                                      <p:cBhvr>
                                        <p:cTn id="31" dur="500"/>
                                        <p:tgtEl>
                                          <p:spTgt spid="4">
                                            <p:txEl>
                                              <p:pRg st="9" end="9"/>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barn(inVertical)">
                                      <p:cBhvr>
                                        <p:cTn id="34" dur="500"/>
                                        <p:tgtEl>
                                          <p:spTgt spid="4">
                                            <p:txEl>
                                              <p:pRg st="10" end="10"/>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Effect transition="in" filter="barn(inVertical)">
                                      <p:cBhvr>
                                        <p:cTn id="37" dur="500"/>
                                        <p:tgtEl>
                                          <p:spTgt spid="4">
                                            <p:txEl>
                                              <p:pRg st="11" end="11"/>
                                            </p:txEl>
                                          </p:spTgt>
                                        </p:tgtEl>
                                      </p:cBhvr>
                                    </p:animEffect>
                                  </p:childTnLst>
                                </p:cTn>
                              </p:par>
                              <p:par>
                                <p:cTn id="38" presetID="16" presetClass="entr" presetSubtype="21" fill="hold" nodeType="withEffect">
                                  <p:stCondLst>
                                    <p:cond delay="0"/>
                                  </p:stCondLst>
                                  <p:childTnLst>
                                    <p:set>
                                      <p:cBhvr>
                                        <p:cTn id="39" dur="1" fill="hold">
                                          <p:stCondLst>
                                            <p:cond delay="0"/>
                                          </p:stCondLst>
                                        </p:cTn>
                                        <p:tgtEl>
                                          <p:spTgt spid="4">
                                            <p:txEl>
                                              <p:pRg st="12" end="12"/>
                                            </p:txEl>
                                          </p:spTgt>
                                        </p:tgtEl>
                                        <p:attrNameLst>
                                          <p:attrName>style.visibility</p:attrName>
                                        </p:attrNameLst>
                                      </p:cBhvr>
                                      <p:to>
                                        <p:strVal val="visible"/>
                                      </p:to>
                                    </p:set>
                                    <p:animEffect transition="in" filter="barn(inVertical)">
                                      <p:cBhvr>
                                        <p:cTn id="40" dur="500"/>
                                        <p:tgtEl>
                                          <p:spTgt spid="4">
                                            <p:txEl>
                                              <p:pRg st="12" end="1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down)">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3A1132B-42AA-1035-6262-DD11BF7C2CAD}"/>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60E64DB5-4956-49D5-E48A-6E292F633E3B}"/>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BE9D95F0-93DA-2C79-5416-16581C4C2C56}"/>
              </a:ext>
            </a:extLst>
          </p:cNvPr>
          <p:cNvSpPr txBox="1"/>
          <p:nvPr/>
        </p:nvSpPr>
        <p:spPr>
          <a:xfrm>
            <a:off x="0" y="634181"/>
            <a:ext cx="12192000" cy="6272358"/>
          </a:xfrm>
          <a:prstGeom prst="rect">
            <a:avLst/>
          </a:prstGeom>
          <a:noFill/>
        </p:spPr>
        <p:txBody>
          <a:bodyPr wrap="square">
            <a:spAutoFit/>
          </a:bodyPr>
          <a:lstStyle/>
          <a:p>
            <a:pPr>
              <a:lnSpc>
                <a:spcPct val="150000"/>
              </a:lnSpc>
              <a:buNone/>
            </a:pPr>
            <a:r>
              <a:rPr lang="en-US" sz="2800" b="1" dirty="0">
                <a:latin typeface="Calibir"/>
              </a:rPr>
              <a:t>Question 12) What is a method (operation)?</a:t>
            </a:r>
          </a:p>
          <a:p>
            <a:pPr>
              <a:lnSpc>
                <a:spcPct val="150000"/>
              </a:lnSpc>
              <a:buNone/>
            </a:pPr>
            <a:r>
              <a:rPr lang="en-US" sz="2200" dirty="0">
                <a:latin typeface="Calibir"/>
              </a:rPr>
              <a:t>A method describes what an object can do.</a:t>
            </a:r>
          </a:p>
          <a:p>
            <a:pPr>
              <a:lnSpc>
                <a:spcPct val="150000"/>
              </a:lnSpc>
              <a:buNone/>
            </a:pPr>
            <a:r>
              <a:rPr lang="en-US" sz="2200" dirty="0">
                <a:latin typeface="Calibir"/>
              </a:rPr>
              <a:t>Example</a:t>
            </a:r>
          </a:p>
          <a:p>
            <a:pPr>
              <a:lnSpc>
                <a:spcPct val="150000"/>
              </a:lnSpc>
              <a:buNone/>
            </a:pPr>
            <a:r>
              <a:rPr lang="en-US" sz="2200" dirty="0">
                <a:latin typeface="Calibir"/>
              </a:rPr>
              <a:t>Customer</a:t>
            </a:r>
          </a:p>
          <a:p>
            <a:pPr rtl="0">
              <a:lnSpc>
                <a:spcPct val="150000"/>
              </a:lnSpc>
              <a:buNone/>
            </a:pPr>
            <a:r>
              <a:rPr lang="en-US" sz="2200" dirty="0">
                <a:solidFill>
                  <a:schemeClr val="bg1"/>
                </a:solidFill>
                <a:highlight>
                  <a:srgbClr val="000080"/>
                </a:highlight>
                <a:latin typeface="Calibir"/>
              </a:rPr>
              <a:t>login()</a:t>
            </a:r>
          </a:p>
          <a:p>
            <a:pPr rtl="0">
              <a:lnSpc>
                <a:spcPct val="150000"/>
              </a:lnSpc>
              <a:buNone/>
            </a:pPr>
            <a:r>
              <a:rPr lang="en-US" sz="2200" dirty="0">
                <a:solidFill>
                  <a:schemeClr val="bg1"/>
                </a:solidFill>
                <a:highlight>
                  <a:srgbClr val="000080"/>
                </a:highlight>
                <a:latin typeface="Calibir"/>
              </a:rPr>
              <a:t>logout()</a:t>
            </a:r>
          </a:p>
          <a:p>
            <a:pPr rtl="0">
              <a:lnSpc>
                <a:spcPct val="150000"/>
              </a:lnSpc>
              <a:buNone/>
            </a:pPr>
            <a:r>
              <a:rPr lang="en-US" sz="2200" dirty="0" err="1">
                <a:solidFill>
                  <a:schemeClr val="bg1"/>
                </a:solidFill>
                <a:highlight>
                  <a:srgbClr val="000080"/>
                </a:highlight>
                <a:latin typeface="Calibir"/>
              </a:rPr>
              <a:t>viewAccounts</a:t>
            </a:r>
            <a:r>
              <a:rPr lang="en-US" sz="2200" dirty="0">
                <a:solidFill>
                  <a:schemeClr val="bg1"/>
                </a:solidFill>
                <a:highlight>
                  <a:srgbClr val="000080"/>
                </a:highlight>
                <a:latin typeface="Calibir"/>
              </a:rPr>
              <a:t>()</a:t>
            </a:r>
          </a:p>
          <a:p>
            <a:pPr>
              <a:lnSpc>
                <a:spcPct val="150000"/>
              </a:lnSpc>
              <a:buNone/>
            </a:pPr>
            <a:r>
              <a:rPr lang="en-US" sz="2200" dirty="0">
                <a:latin typeface="Calibir"/>
              </a:rPr>
              <a:t>Account</a:t>
            </a:r>
          </a:p>
          <a:p>
            <a:pPr rtl="0">
              <a:lnSpc>
                <a:spcPct val="150000"/>
              </a:lnSpc>
              <a:buNone/>
            </a:pPr>
            <a:r>
              <a:rPr lang="en-US" sz="2200" dirty="0">
                <a:solidFill>
                  <a:schemeClr val="bg1"/>
                </a:solidFill>
                <a:highlight>
                  <a:srgbClr val="000080"/>
                </a:highlight>
                <a:latin typeface="Calibir"/>
              </a:rPr>
              <a:t>deposit()</a:t>
            </a:r>
          </a:p>
          <a:p>
            <a:pPr rtl="0">
              <a:lnSpc>
                <a:spcPct val="150000"/>
              </a:lnSpc>
              <a:buNone/>
            </a:pPr>
            <a:r>
              <a:rPr lang="en-US" sz="2200" dirty="0">
                <a:solidFill>
                  <a:schemeClr val="bg1"/>
                </a:solidFill>
                <a:highlight>
                  <a:srgbClr val="000080"/>
                </a:highlight>
                <a:latin typeface="Calibir"/>
              </a:rPr>
              <a:t>withdraw()</a:t>
            </a:r>
          </a:p>
          <a:p>
            <a:pPr rtl="0">
              <a:lnSpc>
                <a:spcPct val="150000"/>
              </a:lnSpc>
              <a:buNone/>
            </a:pPr>
            <a:r>
              <a:rPr lang="en-US" sz="2200" dirty="0" err="1">
                <a:solidFill>
                  <a:schemeClr val="bg1"/>
                </a:solidFill>
                <a:highlight>
                  <a:srgbClr val="000080"/>
                </a:highlight>
                <a:latin typeface="Calibir"/>
              </a:rPr>
              <a:t>getBalance</a:t>
            </a:r>
            <a:r>
              <a:rPr lang="en-US" sz="2200" dirty="0">
                <a:solidFill>
                  <a:schemeClr val="bg1"/>
                </a:solidFill>
                <a:highlight>
                  <a:srgbClr val="000080"/>
                </a:highlight>
                <a:latin typeface="Calibir"/>
              </a:rPr>
              <a:t>()</a:t>
            </a:r>
          </a:p>
          <a:p>
            <a:pPr>
              <a:lnSpc>
                <a:spcPct val="150000"/>
              </a:lnSpc>
              <a:buNone/>
            </a:pPr>
            <a:r>
              <a:rPr lang="en-US" sz="2200" dirty="0">
                <a:latin typeface="Calibir"/>
              </a:rPr>
              <a:t>Methods are usually written using verbs.</a:t>
            </a:r>
          </a:p>
        </p:txBody>
      </p:sp>
    </p:spTree>
    <p:extLst>
      <p:ext uri="{BB962C8B-B14F-4D97-AF65-F5344CB8AC3E}">
        <p14:creationId xmlns:p14="http://schemas.microsoft.com/office/powerpoint/2010/main" val="257767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1000"/>
                                        <p:tgtEl>
                                          <p:spTgt spid="3">
                                            <p:txEl>
                                              <p:pRg st="11" end="11"/>
                                            </p:txEl>
                                          </p:spTgt>
                                        </p:tgtEl>
                                      </p:cBhvr>
                                    </p:animEffect>
                                    <p:anim calcmode="lin" valueType="num">
                                      <p:cBhvr>
                                        <p:cTn id="5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A33F792-4C67-5A79-D84A-91EB9F9731E3}"/>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377BD8FD-D87F-770A-AD0D-212A65D4C0FE}"/>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graphicFrame>
        <p:nvGraphicFramePr>
          <p:cNvPr id="2" name="Table 1">
            <a:extLst>
              <a:ext uri="{FF2B5EF4-FFF2-40B4-BE49-F238E27FC236}">
                <a16:creationId xmlns:a16="http://schemas.microsoft.com/office/drawing/2014/main" id="{F6FEC914-DFE7-5C11-BD09-E7E74B12E5BD}"/>
              </a:ext>
            </a:extLst>
          </p:cNvPr>
          <p:cNvGraphicFramePr>
            <a:graphicFrameLocks noGrp="1"/>
          </p:cNvGraphicFramePr>
          <p:nvPr>
            <p:extLst>
              <p:ext uri="{D42A27DB-BD31-4B8C-83A1-F6EECF244321}">
                <p14:modId xmlns:p14="http://schemas.microsoft.com/office/powerpoint/2010/main" val="4064617903"/>
              </p:ext>
            </p:extLst>
          </p:nvPr>
        </p:nvGraphicFramePr>
        <p:xfrm>
          <a:off x="8311376" y="1356360"/>
          <a:ext cx="3791414" cy="2072640"/>
        </p:xfrm>
        <a:graphic>
          <a:graphicData uri="http://schemas.openxmlformats.org/drawingml/2006/table">
            <a:tbl>
              <a:tblPr>
                <a:tableStyleId>{ED083AE6-46FA-4A59-8FB0-9F97EB10719F}</a:tableStyleId>
              </a:tblPr>
              <a:tblGrid>
                <a:gridCol w="1784195">
                  <a:extLst>
                    <a:ext uri="{9D8B030D-6E8A-4147-A177-3AD203B41FA5}">
                      <a16:colId xmlns:a16="http://schemas.microsoft.com/office/drawing/2014/main" val="2851540547"/>
                    </a:ext>
                  </a:extLst>
                </a:gridCol>
                <a:gridCol w="2007219">
                  <a:extLst>
                    <a:ext uri="{9D8B030D-6E8A-4147-A177-3AD203B41FA5}">
                      <a16:colId xmlns:a16="http://schemas.microsoft.com/office/drawing/2014/main" val="1081676167"/>
                    </a:ext>
                  </a:extLst>
                </a:gridCol>
              </a:tblGrid>
              <a:tr h="0">
                <a:tc>
                  <a:txBody>
                    <a:bodyPr/>
                    <a:lstStyle/>
                    <a:p>
                      <a:pPr>
                        <a:buNone/>
                      </a:pPr>
                      <a:r>
                        <a:rPr lang="en-US" sz="2800" dirty="0">
                          <a:latin typeface="Calibir"/>
                        </a:rPr>
                        <a:t>Symbol</a:t>
                      </a:r>
                    </a:p>
                  </a:txBody>
                  <a:tcPr anchor="ctr"/>
                </a:tc>
                <a:tc>
                  <a:txBody>
                    <a:bodyPr/>
                    <a:lstStyle/>
                    <a:p>
                      <a:pPr>
                        <a:buNone/>
                      </a:pPr>
                      <a:r>
                        <a:rPr lang="en-US" sz="2800">
                          <a:latin typeface="Calibir"/>
                        </a:rPr>
                        <a:t>Meaning</a:t>
                      </a:r>
                    </a:p>
                  </a:txBody>
                  <a:tcPr anchor="ctr"/>
                </a:tc>
                <a:extLst>
                  <a:ext uri="{0D108BD9-81ED-4DB2-BD59-A6C34878D82A}">
                    <a16:rowId xmlns:a16="http://schemas.microsoft.com/office/drawing/2014/main" val="76955"/>
                  </a:ext>
                </a:extLst>
              </a:tr>
              <a:tr h="0">
                <a:tc>
                  <a:txBody>
                    <a:bodyPr/>
                    <a:lstStyle/>
                    <a:p>
                      <a:pPr>
                        <a:buNone/>
                      </a:pPr>
                      <a:r>
                        <a:rPr lang="en-US" sz="2800">
                          <a:latin typeface="Calibir"/>
                        </a:rPr>
                        <a:t>+</a:t>
                      </a:r>
                    </a:p>
                  </a:txBody>
                  <a:tcPr anchor="ctr"/>
                </a:tc>
                <a:tc>
                  <a:txBody>
                    <a:bodyPr/>
                    <a:lstStyle/>
                    <a:p>
                      <a:pPr>
                        <a:buNone/>
                      </a:pPr>
                      <a:r>
                        <a:rPr lang="en-US" sz="2800">
                          <a:latin typeface="Calibir"/>
                        </a:rPr>
                        <a:t>Public</a:t>
                      </a:r>
                    </a:p>
                  </a:txBody>
                  <a:tcPr anchor="ctr"/>
                </a:tc>
                <a:extLst>
                  <a:ext uri="{0D108BD9-81ED-4DB2-BD59-A6C34878D82A}">
                    <a16:rowId xmlns:a16="http://schemas.microsoft.com/office/drawing/2014/main" val="2867296821"/>
                  </a:ext>
                </a:extLst>
              </a:tr>
              <a:tr h="0">
                <a:tc>
                  <a:txBody>
                    <a:bodyPr/>
                    <a:lstStyle/>
                    <a:p>
                      <a:pPr>
                        <a:buNone/>
                      </a:pPr>
                      <a:r>
                        <a:rPr lang="en-US" sz="2800">
                          <a:latin typeface="Calibir"/>
                        </a:rPr>
                        <a:t>-</a:t>
                      </a:r>
                    </a:p>
                  </a:txBody>
                  <a:tcPr anchor="ctr"/>
                </a:tc>
                <a:tc>
                  <a:txBody>
                    <a:bodyPr/>
                    <a:lstStyle/>
                    <a:p>
                      <a:pPr>
                        <a:buNone/>
                      </a:pPr>
                      <a:r>
                        <a:rPr lang="en-US" sz="2800">
                          <a:latin typeface="Calibir"/>
                        </a:rPr>
                        <a:t>Private</a:t>
                      </a:r>
                    </a:p>
                  </a:txBody>
                  <a:tcPr anchor="ctr"/>
                </a:tc>
                <a:extLst>
                  <a:ext uri="{0D108BD9-81ED-4DB2-BD59-A6C34878D82A}">
                    <a16:rowId xmlns:a16="http://schemas.microsoft.com/office/drawing/2014/main" val="225770305"/>
                  </a:ext>
                </a:extLst>
              </a:tr>
              <a:tr h="0">
                <a:tc>
                  <a:txBody>
                    <a:bodyPr/>
                    <a:lstStyle/>
                    <a:p>
                      <a:pPr>
                        <a:buNone/>
                      </a:pPr>
                      <a:r>
                        <a:rPr lang="en-US" sz="2800">
                          <a:latin typeface="Calibir"/>
                        </a:rPr>
                        <a:t>#</a:t>
                      </a:r>
                    </a:p>
                  </a:txBody>
                  <a:tcPr anchor="ctr"/>
                </a:tc>
                <a:tc>
                  <a:txBody>
                    <a:bodyPr/>
                    <a:lstStyle/>
                    <a:p>
                      <a:pPr>
                        <a:buNone/>
                      </a:pPr>
                      <a:r>
                        <a:rPr lang="en-US" sz="2800" dirty="0">
                          <a:latin typeface="Calibir"/>
                        </a:rPr>
                        <a:t>Protected</a:t>
                      </a:r>
                    </a:p>
                  </a:txBody>
                  <a:tcPr anchor="ctr"/>
                </a:tc>
                <a:extLst>
                  <a:ext uri="{0D108BD9-81ED-4DB2-BD59-A6C34878D82A}">
                    <a16:rowId xmlns:a16="http://schemas.microsoft.com/office/drawing/2014/main" val="1065057563"/>
                  </a:ext>
                </a:extLst>
              </a:tr>
            </a:tbl>
          </a:graphicData>
        </a:graphic>
      </p:graphicFrame>
      <p:sp>
        <p:nvSpPr>
          <p:cNvPr id="5" name="TextBox 4">
            <a:extLst>
              <a:ext uri="{FF2B5EF4-FFF2-40B4-BE49-F238E27FC236}">
                <a16:creationId xmlns:a16="http://schemas.microsoft.com/office/drawing/2014/main" id="{93D4E705-01D6-3D36-09DE-083BC28D2769}"/>
              </a:ext>
            </a:extLst>
          </p:cNvPr>
          <p:cNvSpPr txBox="1"/>
          <p:nvPr/>
        </p:nvSpPr>
        <p:spPr>
          <a:xfrm>
            <a:off x="0" y="875213"/>
            <a:ext cx="11976410" cy="1318181"/>
          </a:xfrm>
          <a:prstGeom prst="rect">
            <a:avLst/>
          </a:prstGeom>
          <a:noFill/>
        </p:spPr>
        <p:txBody>
          <a:bodyPr wrap="square">
            <a:spAutoFit/>
          </a:bodyPr>
          <a:lstStyle/>
          <a:p>
            <a:pPr>
              <a:lnSpc>
                <a:spcPct val="150000"/>
              </a:lnSpc>
              <a:buNone/>
            </a:pPr>
            <a:r>
              <a:rPr lang="en-US" sz="2800" b="1" dirty="0">
                <a:latin typeface="Calibir"/>
              </a:rPr>
              <a:t>Question 13) What is visibility?</a:t>
            </a:r>
          </a:p>
          <a:p>
            <a:pPr>
              <a:lnSpc>
                <a:spcPct val="150000"/>
              </a:lnSpc>
              <a:buNone/>
            </a:pPr>
            <a:r>
              <a:rPr lang="en-US" sz="2800" dirty="0">
                <a:latin typeface="Calibir"/>
              </a:rPr>
              <a:t>Visibility controls who can access data or methods.</a:t>
            </a:r>
          </a:p>
        </p:txBody>
      </p:sp>
      <p:sp>
        <p:nvSpPr>
          <p:cNvPr id="7" name="TextBox 6">
            <a:extLst>
              <a:ext uri="{FF2B5EF4-FFF2-40B4-BE49-F238E27FC236}">
                <a16:creationId xmlns:a16="http://schemas.microsoft.com/office/drawing/2014/main" id="{76487AD7-8837-8CD1-2EB6-F1F1940B3B75}"/>
              </a:ext>
            </a:extLst>
          </p:cNvPr>
          <p:cNvSpPr txBox="1"/>
          <p:nvPr/>
        </p:nvSpPr>
        <p:spPr>
          <a:xfrm>
            <a:off x="89210" y="3197345"/>
            <a:ext cx="6512312" cy="3257174"/>
          </a:xfrm>
          <a:prstGeom prst="rect">
            <a:avLst/>
          </a:prstGeom>
          <a:noFill/>
        </p:spPr>
        <p:txBody>
          <a:bodyPr wrap="square">
            <a:spAutoFit/>
          </a:bodyPr>
          <a:lstStyle/>
          <a:p>
            <a:pPr>
              <a:lnSpc>
                <a:spcPct val="150000"/>
              </a:lnSpc>
              <a:buNone/>
            </a:pPr>
            <a:r>
              <a:rPr lang="en-US" sz="2800" dirty="0">
                <a:latin typeface="Calibir"/>
              </a:rPr>
              <a:t>Example</a:t>
            </a:r>
          </a:p>
          <a:p>
            <a:pPr rtl="0">
              <a:lnSpc>
                <a:spcPct val="150000"/>
              </a:lnSpc>
              <a:buNone/>
            </a:pPr>
            <a:r>
              <a:rPr lang="en-US" sz="2800" dirty="0">
                <a:solidFill>
                  <a:schemeClr val="bg1"/>
                </a:solidFill>
                <a:highlight>
                  <a:srgbClr val="000080"/>
                </a:highlight>
                <a:latin typeface="Calibir"/>
              </a:rPr>
              <a:t>- balance : double</a:t>
            </a:r>
          </a:p>
          <a:p>
            <a:pPr rtl="0">
              <a:lnSpc>
                <a:spcPct val="150000"/>
              </a:lnSpc>
              <a:buNone/>
            </a:pPr>
            <a:r>
              <a:rPr lang="en-US" sz="2800" dirty="0">
                <a:solidFill>
                  <a:schemeClr val="bg1"/>
                </a:solidFill>
                <a:highlight>
                  <a:srgbClr val="000080"/>
                </a:highlight>
                <a:latin typeface="Calibir"/>
              </a:rPr>
              <a:t>+ deposit()</a:t>
            </a:r>
          </a:p>
          <a:p>
            <a:pPr rtl="0">
              <a:lnSpc>
                <a:spcPct val="150000"/>
              </a:lnSpc>
              <a:buNone/>
            </a:pPr>
            <a:r>
              <a:rPr lang="en-US" sz="2800" dirty="0">
                <a:solidFill>
                  <a:schemeClr val="bg1"/>
                </a:solidFill>
                <a:highlight>
                  <a:srgbClr val="000080"/>
                </a:highlight>
                <a:latin typeface="Calibir"/>
              </a:rPr>
              <a:t>+ withdraw()</a:t>
            </a:r>
          </a:p>
          <a:p>
            <a:pPr>
              <a:lnSpc>
                <a:spcPct val="150000"/>
              </a:lnSpc>
              <a:buNone/>
            </a:pPr>
            <a:r>
              <a:rPr lang="en-US" sz="2800" dirty="0">
                <a:latin typeface="Calibir"/>
              </a:rPr>
              <a:t>Private data protects the object.</a:t>
            </a:r>
          </a:p>
        </p:txBody>
      </p:sp>
    </p:spTree>
    <p:extLst>
      <p:ext uri="{BB962C8B-B14F-4D97-AF65-F5344CB8AC3E}">
        <p14:creationId xmlns:p14="http://schemas.microsoft.com/office/powerpoint/2010/main" val="135495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E000243-F324-0ACA-A261-0FAF009124E9}"/>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0891FCD8-AA3C-7F1D-F3A4-039AE199A211}"/>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4" name="TextBox 3">
            <a:extLst>
              <a:ext uri="{FF2B5EF4-FFF2-40B4-BE49-F238E27FC236}">
                <a16:creationId xmlns:a16="http://schemas.microsoft.com/office/drawing/2014/main" id="{AFDF00F2-F5C5-83CF-6594-43DD7E167E4C}"/>
              </a:ext>
            </a:extLst>
          </p:cNvPr>
          <p:cNvSpPr txBox="1"/>
          <p:nvPr/>
        </p:nvSpPr>
        <p:spPr>
          <a:xfrm>
            <a:off x="0" y="875213"/>
            <a:ext cx="11976410" cy="3903504"/>
          </a:xfrm>
          <a:prstGeom prst="rect">
            <a:avLst/>
          </a:prstGeom>
          <a:noFill/>
        </p:spPr>
        <p:txBody>
          <a:bodyPr wrap="square">
            <a:spAutoFit/>
          </a:bodyPr>
          <a:lstStyle/>
          <a:p>
            <a:pPr>
              <a:lnSpc>
                <a:spcPct val="150000"/>
              </a:lnSpc>
              <a:buNone/>
            </a:pPr>
            <a:r>
              <a:rPr lang="en-US" sz="2800" b="1" dirty="0">
                <a:latin typeface="Calibir"/>
              </a:rPr>
              <a:t>Question 14) What is inheritance?</a:t>
            </a:r>
          </a:p>
          <a:p>
            <a:pPr>
              <a:lnSpc>
                <a:spcPct val="150000"/>
              </a:lnSpc>
              <a:buNone/>
            </a:pPr>
            <a:r>
              <a:rPr lang="en-US" sz="2800" dirty="0">
                <a:latin typeface="Calibir"/>
              </a:rPr>
              <a:t>Inheritance allows one class to reuse another class.</a:t>
            </a:r>
          </a:p>
          <a:p>
            <a:pPr>
              <a:lnSpc>
                <a:spcPct val="150000"/>
              </a:lnSpc>
              <a:buNone/>
            </a:pPr>
            <a:r>
              <a:rPr lang="en-US" sz="2800" dirty="0">
                <a:latin typeface="Calibir"/>
              </a:rPr>
              <a:t>Example</a:t>
            </a:r>
          </a:p>
          <a:p>
            <a:pPr>
              <a:lnSpc>
                <a:spcPct val="150000"/>
              </a:lnSpc>
              <a:buNone/>
            </a:pPr>
            <a:r>
              <a:rPr lang="en-US" sz="2800" dirty="0">
                <a:latin typeface="Calibir"/>
              </a:rPr>
              <a:t>Employee </a:t>
            </a:r>
            <a:r>
              <a:rPr lang="en-US" sz="2800" dirty="0">
                <a:latin typeface="Calibir"/>
                <a:sym typeface="Wingdings" panose="05000000000000000000" pitchFamily="2" charset="2"/>
              </a:rPr>
              <a:t> </a:t>
            </a:r>
            <a:r>
              <a:rPr lang="en-US" sz="2800" dirty="0">
                <a:latin typeface="Calibir"/>
              </a:rPr>
              <a:t>Manager</a:t>
            </a:r>
          </a:p>
          <a:p>
            <a:pPr>
              <a:lnSpc>
                <a:spcPct val="150000"/>
              </a:lnSpc>
              <a:buNone/>
            </a:pPr>
            <a:r>
              <a:rPr lang="en-US" sz="2800" dirty="0">
                <a:latin typeface="Calibir"/>
              </a:rPr>
              <a:t>A Manager is an Employee.</a:t>
            </a:r>
          </a:p>
          <a:p>
            <a:pPr>
              <a:lnSpc>
                <a:spcPct val="150000"/>
              </a:lnSpc>
              <a:buNone/>
            </a:pPr>
            <a:r>
              <a:rPr lang="en-US" sz="2800" dirty="0">
                <a:latin typeface="Calibir"/>
              </a:rPr>
              <a:t>The Manager inherits common attributes and methods from Employee.</a:t>
            </a:r>
          </a:p>
        </p:txBody>
      </p:sp>
    </p:spTree>
    <p:extLst>
      <p:ext uri="{BB962C8B-B14F-4D97-AF65-F5344CB8AC3E}">
        <p14:creationId xmlns:p14="http://schemas.microsoft.com/office/powerpoint/2010/main" val="719749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arn(inVertical)">
                                      <p:cBhvr>
                                        <p:cTn id="10" dur="500"/>
                                        <p:tgtEl>
                                          <p:spTgt spid="4">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arn(inVertical)">
                                      <p:cBhvr>
                                        <p:cTn id="13" dur="500"/>
                                        <p:tgtEl>
                                          <p:spTgt spid="4">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arn(inVertical)">
                                      <p:cBhvr>
                                        <p:cTn id="16" dur="500"/>
                                        <p:tgtEl>
                                          <p:spTgt spid="4">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arn(inVertical)">
                                      <p:cBhvr>
                                        <p:cTn id="1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DBD69E1-BA6A-68E1-D98C-45CA0B7CE39F}"/>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6DA6D685-BF4C-35E0-5597-C8E69B8E6739}"/>
              </a:ext>
            </a:extLst>
          </p:cNvPr>
          <p:cNvSpPr txBox="1">
            <a:spLocks noGrp="1"/>
          </p:cNvSpPr>
          <p:nvPr>
            <p:ph type="title" idx="4294967295"/>
          </p:nvPr>
        </p:nvSpPr>
        <p:spPr>
          <a:xfrm>
            <a:off x="0" y="-19612"/>
            <a:ext cx="11362267" cy="894824"/>
          </a:xfrm>
          <a:prstGeom prst="rect">
            <a:avLst/>
          </a:prstGeom>
        </p:spPr>
        <p:txBody>
          <a:bodyPr spcFirstLastPara="1" wrap="square" lIns="121900" tIns="121900" rIns="121900" bIns="121900" anchor="b" anchorCtr="0">
            <a:noAutofit/>
          </a:bodyPr>
          <a:lstStyle/>
          <a:p>
            <a:r>
              <a:rPr lang="en-US" dirty="0"/>
              <a:t>Lab 2: Interactive Questions</a:t>
            </a:r>
            <a:endParaRPr dirty="0"/>
          </a:p>
        </p:txBody>
      </p:sp>
      <p:sp>
        <p:nvSpPr>
          <p:cNvPr id="3" name="TextBox 2">
            <a:extLst>
              <a:ext uri="{FF2B5EF4-FFF2-40B4-BE49-F238E27FC236}">
                <a16:creationId xmlns:a16="http://schemas.microsoft.com/office/drawing/2014/main" id="{6753F509-DE4A-622F-7836-58B4CC0554C3}"/>
              </a:ext>
            </a:extLst>
          </p:cNvPr>
          <p:cNvSpPr txBox="1"/>
          <p:nvPr/>
        </p:nvSpPr>
        <p:spPr>
          <a:xfrm>
            <a:off x="0" y="861967"/>
            <a:ext cx="11976410" cy="1964512"/>
          </a:xfrm>
          <a:prstGeom prst="rect">
            <a:avLst/>
          </a:prstGeom>
          <a:noFill/>
        </p:spPr>
        <p:txBody>
          <a:bodyPr wrap="square">
            <a:spAutoFit/>
          </a:bodyPr>
          <a:lstStyle/>
          <a:p>
            <a:pPr>
              <a:lnSpc>
                <a:spcPct val="150000"/>
              </a:lnSpc>
              <a:buNone/>
            </a:pPr>
            <a:r>
              <a:rPr lang="en-US" sz="2800" b="1" dirty="0">
                <a:latin typeface="Calibir"/>
              </a:rPr>
              <a:t>Question 15) What is a class relationship?</a:t>
            </a:r>
          </a:p>
          <a:p>
            <a:pPr>
              <a:lnSpc>
                <a:spcPct val="150000"/>
              </a:lnSpc>
              <a:buNone/>
            </a:pPr>
            <a:r>
              <a:rPr lang="en-US" sz="2800" dirty="0">
                <a:latin typeface="Calibir"/>
              </a:rPr>
              <a:t>Classes communicate with one another.</a:t>
            </a:r>
          </a:p>
          <a:p>
            <a:pPr>
              <a:lnSpc>
                <a:spcPct val="150000"/>
              </a:lnSpc>
              <a:buNone/>
            </a:pPr>
            <a:r>
              <a:rPr lang="en-US" sz="2800" dirty="0">
                <a:latin typeface="Calibir"/>
              </a:rPr>
              <a:t>Example</a:t>
            </a:r>
          </a:p>
        </p:txBody>
      </p:sp>
      <p:pic>
        <p:nvPicPr>
          <p:cNvPr id="6" name="Picture 5">
            <a:extLst>
              <a:ext uri="{FF2B5EF4-FFF2-40B4-BE49-F238E27FC236}">
                <a16:creationId xmlns:a16="http://schemas.microsoft.com/office/drawing/2014/main" id="{5D6EED33-47A0-FCB9-B2A9-53DDB26081F3}"/>
              </a:ext>
            </a:extLst>
          </p:cNvPr>
          <p:cNvPicPr>
            <a:picLocks noChangeAspect="1"/>
          </p:cNvPicPr>
          <p:nvPr/>
        </p:nvPicPr>
        <p:blipFill>
          <a:blip r:embed="rId3">
            <a:extLst>
              <a:ext uri="{28A0092B-C50C-407E-A947-70E740481C1C}">
                <a14:useLocalDpi xmlns:a14="http://schemas.microsoft.com/office/drawing/2010/main" val="0"/>
              </a:ext>
            </a:extLst>
          </a:blip>
          <a:srcRect l="7626" t="19378" r="10013" b="10303"/>
          <a:stretch>
            <a:fillRect/>
          </a:stretch>
        </p:blipFill>
        <p:spPr>
          <a:xfrm>
            <a:off x="3211550" y="2542818"/>
            <a:ext cx="8980449" cy="4315182"/>
          </a:xfrm>
          <a:prstGeom prst="rect">
            <a:avLst/>
          </a:prstGeom>
        </p:spPr>
      </p:pic>
      <p:sp>
        <p:nvSpPr>
          <p:cNvPr id="8" name="TextBox 7">
            <a:extLst>
              <a:ext uri="{FF2B5EF4-FFF2-40B4-BE49-F238E27FC236}">
                <a16:creationId xmlns:a16="http://schemas.microsoft.com/office/drawing/2014/main" id="{7069B57F-68C2-1AEA-5E7E-DA9E6E7C0D46}"/>
              </a:ext>
            </a:extLst>
          </p:cNvPr>
          <p:cNvSpPr txBox="1"/>
          <p:nvPr/>
        </p:nvSpPr>
        <p:spPr>
          <a:xfrm>
            <a:off x="7214012" y="1185132"/>
            <a:ext cx="5055220" cy="1318181"/>
          </a:xfrm>
          <a:prstGeom prst="rect">
            <a:avLst/>
          </a:prstGeom>
          <a:noFill/>
        </p:spPr>
        <p:txBody>
          <a:bodyPr wrap="square">
            <a:spAutoFit/>
          </a:bodyPr>
          <a:lstStyle/>
          <a:p>
            <a:pPr>
              <a:lnSpc>
                <a:spcPct val="150000"/>
              </a:lnSpc>
              <a:buNone/>
            </a:pPr>
            <a:r>
              <a:rPr lang="en-US" sz="2800" dirty="0">
                <a:latin typeface="Calibir"/>
              </a:rPr>
              <a:t>Relationships help describe how objects interact.</a:t>
            </a:r>
          </a:p>
        </p:txBody>
      </p:sp>
    </p:spTree>
    <p:extLst>
      <p:ext uri="{BB962C8B-B14F-4D97-AF65-F5344CB8AC3E}">
        <p14:creationId xmlns:p14="http://schemas.microsoft.com/office/powerpoint/2010/main" val="250651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43A64A9-A4A9-6139-DB48-E17D7E8A39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A89393-C1A5-9129-0B7D-A3F5995C2D59}"/>
              </a:ext>
            </a:extLst>
          </p:cNvPr>
          <p:cNvSpPr txBox="1"/>
          <p:nvPr/>
        </p:nvSpPr>
        <p:spPr>
          <a:xfrm>
            <a:off x="0" y="0"/>
            <a:ext cx="12191999" cy="4549835"/>
          </a:xfrm>
          <a:prstGeom prst="rect">
            <a:avLst/>
          </a:prstGeom>
          <a:noFill/>
        </p:spPr>
        <p:txBody>
          <a:bodyPr wrap="square">
            <a:spAutoFit/>
          </a:bodyPr>
          <a:lstStyle/>
          <a:p>
            <a:pPr>
              <a:lnSpc>
                <a:spcPct val="150000"/>
              </a:lnSpc>
              <a:buNone/>
            </a:pPr>
            <a:r>
              <a:rPr lang="en-US" sz="2800" b="1" dirty="0">
                <a:latin typeface="Calibir"/>
              </a:rPr>
              <a:t>Question 16) What is multiplicity?</a:t>
            </a:r>
          </a:p>
          <a:p>
            <a:pPr>
              <a:lnSpc>
                <a:spcPct val="150000"/>
              </a:lnSpc>
              <a:buNone/>
            </a:pPr>
            <a:r>
              <a:rPr lang="en-US" sz="2800" dirty="0">
                <a:latin typeface="Calibir"/>
              </a:rPr>
              <a:t>Multiplicity tells us how many objects participate in a relationship.</a:t>
            </a:r>
          </a:p>
          <a:p>
            <a:pPr>
              <a:lnSpc>
                <a:spcPct val="150000"/>
              </a:lnSpc>
              <a:buNone/>
            </a:pPr>
            <a:r>
              <a:rPr lang="en-US" sz="2800" dirty="0">
                <a:latin typeface="Calibir"/>
              </a:rPr>
              <a:t>Example</a:t>
            </a:r>
          </a:p>
          <a:p>
            <a:pPr>
              <a:lnSpc>
                <a:spcPct val="150000"/>
              </a:lnSpc>
              <a:buNone/>
            </a:pPr>
            <a:endParaRPr lang="en-US" sz="2800" dirty="0">
              <a:latin typeface="Calibir"/>
            </a:endParaRPr>
          </a:p>
          <a:p>
            <a:pPr>
              <a:lnSpc>
                <a:spcPct val="150000"/>
              </a:lnSpc>
              <a:buNone/>
            </a:pPr>
            <a:endParaRPr lang="en-US" sz="2800" dirty="0">
              <a:latin typeface="Calibir"/>
            </a:endParaRPr>
          </a:p>
          <a:p>
            <a:pPr>
              <a:lnSpc>
                <a:spcPct val="150000"/>
              </a:lnSpc>
              <a:buNone/>
            </a:pPr>
            <a:endParaRPr lang="en-US" sz="2800" dirty="0">
              <a:latin typeface="Calibir"/>
            </a:endParaRPr>
          </a:p>
          <a:p>
            <a:pPr>
              <a:lnSpc>
                <a:spcPct val="150000"/>
              </a:lnSpc>
              <a:buNone/>
            </a:pPr>
            <a:endParaRPr lang="en-US" sz="2800" dirty="0">
              <a:latin typeface="Calibir"/>
            </a:endParaRPr>
          </a:p>
        </p:txBody>
      </p:sp>
      <p:pic>
        <p:nvPicPr>
          <p:cNvPr id="6" name="Picture 5">
            <a:extLst>
              <a:ext uri="{FF2B5EF4-FFF2-40B4-BE49-F238E27FC236}">
                <a16:creationId xmlns:a16="http://schemas.microsoft.com/office/drawing/2014/main" id="{78BEBBC4-0F51-6C69-D1D9-6D867220A527}"/>
              </a:ext>
            </a:extLst>
          </p:cNvPr>
          <p:cNvPicPr>
            <a:picLocks noChangeAspect="1"/>
          </p:cNvPicPr>
          <p:nvPr/>
        </p:nvPicPr>
        <p:blipFill>
          <a:blip r:embed="rId3">
            <a:extLst>
              <a:ext uri="{28A0092B-C50C-407E-A947-70E740481C1C}">
                <a14:useLocalDpi xmlns:a14="http://schemas.microsoft.com/office/drawing/2010/main" val="0"/>
              </a:ext>
            </a:extLst>
          </a:blip>
          <a:srcRect l="6013" t="24232" r="6013"/>
          <a:stretch>
            <a:fillRect/>
          </a:stretch>
        </p:blipFill>
        <p:spPr>
          <a:xfrm>
            <a:off x="1471961" y="1897045"/>
            <a:ext cx="9248076" cy="4482684"/>
          </a:xfrm>
          <a:prstGeom prst="rect">
            <a:avLst/>
          </a:prstGeom>
        </p:spPr>
      </p:pic>
    </p:spTree>
    <p:extLst>
      <p:ext uri="{BB962C8B-B14F-4D97-AF65-F5344CB8AC3E}">
        <p14:creationId xmlns:p14="http://schemas.microsoft.com/office/powerpoint/2010/main" val="418151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16" presetClass="entr" presetSubtype="21"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0A1074A-60CA-64D6-F4D7-991B289555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D06BB9-E7E0-F25C-ECDB-15A23CC9F87E}"/>
              </a:ext>
            </a:extLst>
          </p:cNvPr>
          <p:cNvSpPr txBox="1"/>
          <p:nvPr/>
        </p:nvSpPr>
        <p:spPr>
          <a:xfrm>
            <a:off x="39329" y="875212"/>
            <a:ext cx="12192000" cy="5667385"/>
          </a:xfrm>
          <a:prstGeom prst="rect">
            <a:avLst/>
          </a:prstGeom>
          <a:noFill/>
        </p:spPr>
        <p:txBody>
          <a:bodyPr wrap="square">
            <a:spAutoFit/>
          </a:bodyPr>
          <a:lstStyle/>
          <a:p>
            <a:pPr>
              <a:lnSpc>
                <a:spcPct val="150000"/>
              </a:lnSpc>
              <a:buNone/>
            </a:pPr>
            <a:r>
              <a:rPr lang="en-US" sz="2800" b="1" dirty="0">
                <a:latin typeface="Calibir"/>
              </a:rPr>
              <a:t>Question 17) How do we transform a Use Case Diagram into a Class Diagram?</a:t>
            </a:r>
          </a:p>
          <a:p>
            <a:pPr>
              <a:lnSpc>
                <a:spcPct val="150000"/>
              </a:lnSpc>
            </a:pPr>
            <a:r>
              <a:rPr lang="en-US" sz="2400" dirty="0">
                <a:latin typeface="Calibir"/>
              </a:rPr>
              <a:t>Show the transformation steps:</a:t>
            </a:r>
          </a:p>
          <a:p>
            <a:pPr marL="514350" lvl="0" indent="-514350">
              <a:lnSpc>
                <a:spcPct val="150000"/>
              </a:lnSpc>
              <a:buFont typeface="+mj-lt"/>
              <a:buAutoNum type="arabicPeriod"/>
            </a:pPr>
            <a:r>
              <a:rPr lang="en-US" sz="2400" dirty="0">
                <a:latin typeface="Calibir"/>
              </a:rPr>
              <a:t>Read the use cases. </a:t>
            </a:r>
          </a:p>
          <a:p>
            <a:pPr marL="514350" lvl="0" indent="-514350">
              <a:lnSpc>
                <a:spcPct val="150000"/>
              </a:lnSpc>
              <a:buFont typeface="+mj-lt"/>
              <a:buAutoNum type="arabicPeriod"/>
            </a:pPr>
            <a:r>
              <a:rPr lang="en-US" sz="2400" dirty="0">
                <a:latin typeface="Calibir"/>
              </a:rPr>
              <a:t>Identify nouns → potential classes. </a:t>
            </a:r>
          </a:p>
          <a:p>
            <a:pPr marL="514350" lvl="0" indent="-514350">
              <a:lnSpc>
                <a:spcPct val="150000"/>
              </a:lnSpc>
              <a:buFont typeface="+mj-lt"/>
              <a:buAutoNum type="arabicPeriod"/>
            </a:pPr>
            <a:r>
              <a:rPr lang="en-US" sz="2400" dirty="0">
                <a:latin typeface="Calibir"/>
              </a:rPr>
              <a:t>Identify actors → potential classes. </a:t>
            </a:r>
          </a:p>
          <a:p>
            <a:pPr marL="514350" lvl="0" indent="-514350">
              <a:lnSpc>
                <a:spcPct val="150000"/>
              </a:lnSpc>
              <a:buFont typeface="+mj-lt"/>
              <a:buAutoNum type="arabicPeriod"/>
            </a:pPr>
            <a:r>
              <a:rPr lang="en-US" sz="2400" dirty="0">
                <a:latin typeface="Calibir"/>
              </a:rPr>
              <a:t>Identify </a:t>
            </a:r>
            <a:r>
              <a:rPr lang="en-US" sz="2400" dirty="0" err="1">
                <a:latin typeface="Calibir"/>
              </a:rPr>
              <a:t>behaviours</a:t>
            </a:r>
            <a:r>
              <a:rPr lang="en-US" sz="2400" dirty="0">
                <a:latin typeface="Calibir"/>
              </a:rPr>
              <a:t> → methods. </a:t>
            </a:r>
          </a:p>
          <a:p>
            <a:pPr marL="514350" lvl="0" indent="-514350">
              <a:lnSpc>
                <a:spcPct val="150000"/>
              </a:lnSpc>
              <a:buFont typeface="+mj-lt"/>
              <a:buAutoNum type="arabicPeriod"/>
            </a:pPr>
            <a:r>
              <a:rPr lang="en-US" sz="2400" dirty="0">
                <a:latin typeface="Calibir"/>
              </a:rPr>
              <a:t>Identify data → attributes. </a:t>
            </a:r>
          </a:p>
          <a:p>
            <a:pPr marL="514350" lvl="0" indent="-514350">
              <a:lnSpc>
                <a:spcPct val="150000"/>
              </a:lnSpc>
              <a:buFont typeface="+mj-lt"/>
              <a:buAutoNum type="arabicPeriod"/>
            </a:pPr>
            <a:r>
              <a:rPr lang="en-US" sz="2400" dirty="0">
                <a:latin typeface="Calibir"/>
              </a:rPr>
              <a:t>Identify relationships. </a:t>
            </a:r>
          </a:p>
          <a:p>
            <a:pPr marL="514350" lvl="0" indent="-514350">
              <a:lnSpc>
                <a:spcPct val="150000"/>
              </a:lnSpc>
              <a:buFont typeface="+mj-lt"/>
              <a:buAutoNum type="arabicPeriod"/>
            </a:pPr>
            <a:r>
              <a:rPr lang="en-US" sz="2400" dirty="0">
                <a:latin typeface="Calibir"/>
              </a:rPr>
              <a:t>Add multiplicity. </a:t>
            </a:r>
          </a:p>
          <a:p>
            <a:pPr marL="514350" lvl="0" indent="-514350">
              <a:lnSpc>
                <a:spcPct val="150000"/>
              </a:lnSpc>
              <a:buFont typeface="+mj-lt"/>
              <a:buAutoNum type="arabicPeriod"/>
            </a:pPr>
            <a:r>
              <a:rPr lang="en-US" sz="2400" dirty="0">
                <a:latin typeface="Calibir"/>
              </a:rPr>
              <a:t>Draw and review the UML class diagram.</a:t>
            </a:r>
          </a:p>
        </p:txBody>
      </p:sp>
      <p:sp>
        <p:nvSpPr>
          <p:cNvPr id="5" name="Google Shape;101;p19">
            <a:extLst>
              <a:ext uri="{FF2B5EF4-FFF2-40B4-BE49-F238E27FC236}">
                <a16:creationId xmlns:a16="http://schemas.microsoft.com/office/drawing/2014/main" id="{6DFA78D7-BCF1-DDF5-B788-52D7E0DCF225}"/>
              </a:ext>
            </a:extLst>
          </p:cNvPr>
          <p:cNvSpPr txBox="1">
            <a:spLocks/>
          </p:cNvSpPr>
          <p:nvPr/>
        </p:nvSpPr>
        <p:spPr>
          <a:xfrm>
            <a:off x="0" y="-19612"/>
            <a:ext cx="11362267" cy="89482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kern="0"/>
              <a:t>Lab 2: Interactive Questions</a:t>
            </a:r>
            <a:endParaRPr lang="en-US" kern="0" dirty="0"/>
          </a:p>
        </p:txBody>
      </p:sp>
    </p:spTree>
    <p:extLst>
      <p:ext uri="{BB962C8B-B14F-4D97-AF65-F5344CB8AC3E}">
        <p14:creationId xmlns:p14="http://schemas.microsoft.com/office/powerpoint/2010/main" val="708358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C969E73-99CF-5845-FE00-E0FBDF5FEC7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90E45F0-1E11-C63E-17D6-7A9FA3B43904}"/>
              </a:ext>
            </a:extLst>
          </p:cNvPr>
          <p:cNvSpPr/>
          <p:nvPr/>
        </p:nvSpPr>
        <p:spPr>
          <a:xfrm>
            <a:off x="3005931" y="744583"/>
            <a:ext cx="650383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61CD0EA-1C7F-0AE5-37F8-993FEB408186}"/>
              </a:ext>
            </a:extLst>
          </p:cNvPr>
          <p:cNvPicPr>
            <a:picLocks noChangeAspect="1"/>
          </p:cNvPicPr>
          <p:nvPr/>
        </p:nvPicPr>
        <p:blipFill>
          <a:blip r:embed="rId3"/>
          <a:srcRect l="28072" t="381" r="24655" b="17142"/>
          <a:stretch>
            <a:fillRect/>
          </a:stretch>
        </p:blipFill>
        <p:spPr>
          <a:xfrm>
            <a:off x="3214200" y="600891"/>
            <a:ext cx="5763600" cy="5656217"/>
          </a:xfrm>
          <a:prstGeom prst="rect">
            <a:avLst/>
          </a:prstGeom>
        </p:spPr>
      </p:pic>
    </p:spTree>
    <p:extLst>
      <p:ext uri="{BB962C8B-B14F-4D97-AF65-F5344CB8AC3E}">
        <p14:creationId xmlns:p14="http://schemas.microsoft.com/office/powerpoint/2010/main" val="2798053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CE27EE8-CF74-415F-4800-18ECC0BB6B3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87200F-84EE-D750-CB4D-2C87096E5FC0}"/>
              </a:ext>
            </a:extLst>
          </p:cNvPr>
          <p:cNvPicPr>
            <a:picLocks noChangeAspect="1"/>
          </p:cNvPicPr>
          <p:nvPr/>
        </p:nvPicPr>
        <p:blipFill>
          <a:blip r:embed="rId3"/>
          <a:srcRect r="31774" b="31398"/>
          <a:stretch>
            <a:fillRect/>
          </a:stretch>
        </p:blipFill>
        <p:spPr>
          <a:xfrm>
            <a:off x="0" y="0"/>
            <a:ext cx="6753559" cy="3819832"/>
          </a:xfrm>
          <a:prstGeom prst="rect">
            <a:avLst/>
          </a:prstGeom>
        </p:spPr>
      </p:pic>
      <p:pic>
        <p:nvPicPr>
          <p:cNvPr id="12" name="Picture 11">
            <a:extLst>
              <a:ext uri="{FF2B5EF4-FFF2-40B4-BE49-F238E27FC236}">
                <a16:creationId xmlns:a16="http://schemas.microsoft.com/office/drawing/2014/main" id="{AC7369D5-1FAA-A774-46F3-B344834555C4}"/>
              </a:ext>
            </a:extLst>
          </p:cNvPr>
          <p:cNvPicPr>
            <a:picLocks noChangeAspect="1"/>
          </p:cNvPicPr>
          <p:nvPr/>
        </p:nvPicPr>
        <p:blipFill>
          <a:blip r:embed="rId4"/>
          <a:srcRect l="15363" t="38279" r="40967" b="16775"/>
          <a:stretch>
            <a:fillRect/>
          </a:stretch>
        </p:blipFill>
        <p:spPr>
          <a:xfrm>
            <a:off x="6753559" y="3819832"/>
            <a:ext cx="5324168" cy="3082413"/>
          </a:xfrm>
          <a:prstGeom prst="rect">
            <a:avLst/>
          </a:prstGeom>
        </p:spPr>
      </p:pic>
    </p:spTree>
    <p:extLst>
      <p:ext uri="{BB962C8B-B14F-4D97-AF65-F5344CB8AC3E}">
        <p14:creationId xmlns:p14="http://schemas.microsoft.com/office/powerpoint/2010/main" val="21446792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749BB02-94D3-15F8-6426-4DB2366EB1D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F823946-A44C-3E42-9526-03C6408E7A61}"/>
              </a:ext>
            </a:extLst>
          </p:cNvPr>
          <p:cNvPicPr>
            <a:picLocks noChangeAspect="1"/>
          </p:cNvPicPr>
          <p:nvPr/>
        </p:nvPicPr>
        <p:blipFill>
          <a:blip r:embed="rId3">
            <a:extLst>
              <a:ext uri="{28A0092B-C50C-407E-A947-70E740481C1C}">
                <a14:useLocalDpi xmlns:a14="http://schemas.microsoft.com/office/drawing/2010/main" val="0"/>
              </a:ext>
            </a:extLst>
          </a:blip>
          <a:srcRect l="40900" t="8387" r="29894" b="59552"/>
          <a:stretch>
            <a:fillRect/>
          </a:stretch>
        </p:blipFill>
        <p:spPr>
          <a:xfrm>
            <a:off x="2207342" y="583136"/>
            <a:ext cx="7777316" cy="5691728"/>
          </a:xfrm>
          <a:prstGeom prst="rect">
            <a:avLst/>
          </a:prstGeom>
        </p:spPr>
      </p:pic>
    </p:spTree>
    <p:extLst>
      <p:ext uri="{BB962C8B-B14F-4D97-AF65-F5344CB8AC3E}">
        <p14:creationId xmlns:p14="http://schemas.microsoft.com/office/powerpoint/2010/main" val="6280718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7F0C07E-C1D1-C0F1-92B5-2E2CA83BAA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AC0CE7-E78D-4CB2-CFEF-2BF49D92A03E}"/>
              </a:ext>
            </a:extLst>
          </p:cNvPr>
          <p:cNvPicPr>
            <a:picLocks noChangeAspect="1"/>
          </p:cNvPicPr>
          <p:nvPr/>
        </p:nvPicPr>
        <p:blipFill>
          <a:blip r:embed="rId3">
            <a:extLst>
              <a:ext uri="{28A0092B-C50C-407E-A947-70E740481C1C}">
                <a14:useLocalDpi xmlns:a14="http://schemas.microsoft.com/office/drawing/2010/main" val="0"/>
              </a:ext>
            </a:extLst>
          </a:blip>
          <a:srcRect l="70614" t="8000" r="1449" b="60190"/>
          <a:stretch>
            <a:fillRect/>
          </a:stretch>
        </p:blipFill>
        <p:spPr>
          <a:xfrm>
            <a:off x="1586048" y="11074"/>
            <a:ext cx="9019903" cy="6846926"/>
          </a:xfrm>
          <a:prstGeom prst="rect">
            <a:avLst/>
          </a:prstGeom>
        </p:spPr>
      </p:pic>
    </p:spTree>
    <p:extLst>
      <p:ext uri="{BB962C8B-B14F-4D97-AF65-F5344CB8AC3E}">
        <p14:creationId xmlns:p14="http://schemas.microsoft.com/office/powerpoint/2010/main" val="25056993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005D14B-1E10-8655-6CE1-38F053C926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4B4E24-3756-5909-FB40-64024D0B699E}"/>
              </a:ext>
            </a:extLst>
          </p:cNvPr>
          <p:cNvPicPr>
            <a:picLocks noChangeAspect="1"/>
          </p:cNvPicPr>
          <p:nvPr/>
        </p:nvPicPr>
        <p:blipFill>
          <a:blip r:embed="rId3">
            <a:extLst>
              <a:ext uri="{28A0092B-C50C-407E-A947-70E740481C1C}">
                <a14:useLocalDpi xmlns:a14="http://schemas.microsoft.com/office/drawing/2010/main" val="0"/>
              </a:ext>
            </a:extLst>
          </a:blip>
          <a:srcRect l="776" t="41290" r="78292" b="36989"/>
          <a:stretch>
            <a:fillRect/>
          </a:stretch>
        </p:blipFill>
        <p:spPr>
          <a:xfrm>
            <a:off x="1853380" y="715264"/>
            <a:ext cx="8485240" cy="5869924"/>
          </a:xfrm>
          <a:prstGeom prst="rect">
            <a:avLst/>
          </a:prstGeom>
        </p:spPr>
      </p:pic>
    </p:spTree>
    <p:extLst>
      <p:ext uri="{BB962C8B-B14F-4D97-AF65-F5344CB8AC3E}">
        <p14:creationId xmlns:p14="http://schemas.microsoft.com/office/powerpoint/2010/main" val="2410369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D385EED-B6C5-5AA4-2FCD-0E07B64A2D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5EE6D9-A73A-B622-2FC5-E5598C679515}"/>
              </a:ext>
            </a:extLst>
          </p:cNvPr>
          <p:cNvSpPr txBox="1"/>
          <p:nvPr/>
        </p:nvSpPr>
        <p:spPr>
          <a:xfrm>
            <a:off x="-2458" y="0"/>
            <a:ext cx="12194458" cy="6734023"/>
          </a:xfrm>
          <a:prstGeom prst="rect">
            <a:avLst/>
          </a:prstGeom>
          <a:noFill/>
        </p:spPr>
        <p:txBody>
          <a:bodyPr wrap="square">
            <a:spAutoFit/>
          </a:bodyPr>
          <a:lstStyle/>
          <a:p>
            <a:pPr>
              <a:lnSpc>
                <a:spcPct val="150000"/>
              </a:lnSpc>
              <a:buNone/>
            </a:pPr>
            <a:r>
              <a:rPr lang="en-US" sz="2400" b="1" dirty="0">
                <a:latin typeface="Calibir"/>
              </a:rPr>
              <a:t>1. Association</a:t>
            </a:r>
          </a:p>
          <a:p>
            <a:pPr>
              <a:lnSpc>
                <a:spcPct val="150000"/>
              </a:lnSpc>
              <a:buNone/>
            </a:pPr>
            <a:r>
              <a:rPr lang="en-US" sz="2400" b="1" dirty="0">
                <a:latin typeface="Calibir"/>
              </a:rPr>
              <a:t>What is it?</a:t>
            </a:r>
          </a:p>
          <a:p>
            <a:pPr>
              <a:lnSpc>
                <a:spcPct val="150000"/>
              </a:lnSpc>
              <a:buNone/>
            </a:pPr>
            <a:r>
              <a:rPr lang="en-US" sz="2200" dirty="0">
                <a:latin typeface="Calibir"/>
              </a:rPr>
              <a:t>An association means that two classes are connected or work together.</a:t>
            </a:r>
          </a:p>
          <a:p>
            <a:pPr>
              <a:lnSpc>
                <a:spcPct val="150000"/>
              </a:lnSpc>
              <a:buNone/>
            </a:pPr>
            <a:r>
              <a:rPr lang="en-US" sz="2200" dirty="0">
                <a:latin typeface="Calibir"/>
              </a:rPr>
              <a:t>They know about each other, but one does not own the other.</a:t>
            </a:r>
          </a:p>
          <a:p>
            <a:pPr>
              <a:lnSpc>
                <a:spcPct val="150000"/>
              </a:lnSpc>
              <a:buNone/>
            </a:pPr>
            <a:r>
              <a:rPr lang="en-US" sz="2200" dirty="0">
                <a:latin typeface="Calibir"/>
              </a:rPr>
              <a:t>Example) Customer  --------  Account</a:t>
            </a:r>
          </a:p>
          <a:p>
            <a:pPr>
              <a:lnSpc>
                <a:spcPct val="150000"/>
              </a:lnSpc>
              <a:buNone/>
            </a:pPr>
            <a:r>
              <a:rPr lang="en-US" sz="2200" dirty="0">
                <a:latin typeface="Calibir"/>
              </a:rPr>
              <a:t>Meaning</a:t>
            </a:r>
          </a:p>
          <a:p>
            <a:pPr>
              <a:lnSpc>
                <a:spcPct val="150000"/>
              </a:lnSpc>
              <a:buNone/>
            </a:pPr>
            <a:r>
              <a:rPr lang="en-US" sz="2200" dirty="0">
                <a:latin typeface="Calibir"/>
              </a:rPr>
              <a:t>A customer owns or uses an account.</a:t>
            </a:r>
          </a:p>
          <a:p>
            <a:pPr>
              <a:lnSpc>
                <a:spcPct val="150000"/>
              </a:lnSpc>
              <a:buNone/>
            </a:pPr>
            <a:r>
              <a:rPr lang="en-US" sz="2200" dirty="0">
                <a:latin typeface="Calibir"/>
              </a:rPr>
              <a:t>The customer and account are related.</a:t>
            </a:r>
          </a:p>
          <a:p>
            <a:pPr>
              <a:lnSpc>
                <a:spcPct val="150000"/>
              </a:lnSpc>
              <a:buNone/>
            </a:pPr>
            <a:r>
              <a:rPr lang="en-US" sz="2200" dirty="0">
                <a:latin typeface="Calibir"/>
              </a:rPr>
              <a:t>Real-world example</a:t>
            </a:r>
          </a:p>
          <a:p>
            <a:pPr marL="342900" lvl="0" indent="-342900">
              <a:lnSpc>
                <a:spcPct val="150000"/>
              </a:lnSpc>
              <a:buFont typeface="Arial" panose="020B0604020202020204" pitchFamily="34" charset="0"/>
              <a:buChar char="•"/>
            </a:pPr>
            <a:r>
              <a:rPr lang="en-US" sz="2200" dirty="0">
                <a:latin typeface="Calibir"/>
              </a:rPr>
              <a:t>Teacher ↔ Student </a:t>
            </a:r>
          </a:p>
          <a:p>
            <a:pPr marL="342900" lvl="0" indent="-342900">
              <a:lnSpc>
                <a:spcPct val="150000"/>
              </a:lnSpc>
              <a:buFont typeface="Arial" panose="020B0604020202020204" pitchFamily="34" charset="0"/>
              <a:buChar char="•"/>
            </a:pPr>
            <a:r>
              <a:rPr lang="en-US" sz="2200" dirty="0">
                <a:latin typeface="Calibir"/>
              </a:rPr>
              <a:t>Doctor ↔ Patient </a:t>
            </a:r>
          </a:p>
          <a:p>
            <a:pPr marL="342900" lvl="0" indent="-342900">
              <a:lnSpc>
                <a:spcPct val="150000"/>
              </a:lnSpc>
              <a:buFont typeface="Arial" panose="020B0604020202020204" pitchFamily="34" charset="0"/>
              <a:buChar char="•"/>
            </a:pPr>
            <a:r>
              <a:rPr lang="en-US" sz="2200" dirty="0">
                <a:latin typeface="Calibir"/>
              </a:rPr>
              <a:t>Customer ↔ Account </a:t>
            </a:r>
          </a:p>
          <a:p>
            <a:pPr>
              <a:lnSpc>
                <a:spcPct val="150000"/>
              </a:lnSpc>
              <a:buNone/>
            </a:pPr>
            <a:r>
              <a:rPr lang="en-US" sz="2200" dirty="0">
                <a:latin typeface="Calibir"/>
              </a:rPr>
              <a:t>Easy way to remember Association = "works with" or "uses".</a:t>
            </a:r>
            <a:endParaRPr lang="en-US" sz="2400" dirty="0">
              <a:latin typeface="Calibir"/>
            </a:endParaRPr>
          </a:p>
        </p:txBody>
      </p:sp>
      <p:pic>
        <p:nvPicPr>
          <p:cNvPr id="6" name="Picture 5">
            <a:extLst>
              <a:ext uri="{FF2B5EF4-FFF2-40B4-BE49-F238E27FC236}">
                <a16:creationId xmlns:a16="http://schemas.microsoft.com/office/drawing/2014/main" id="{B42F8BDA-42BE-D5E1-5FF0-6C4DCB91CB50}"/>
              </a:ext>
            </a:extLst>
          </p:cNvPr>
          <p:cNvPicPr>
            <a:picLocks noChangeAspect="1"/>
          </p:cNvPicPr>
          <p:nvPr/>
        </p:nvPicPr>
        <p:blipFill>
          <a:blip r:embed="rId3">
            <a:extLst>
              <a:ext uri="{28A0092B-C50C-407E-A947-70E740481C1C}">
                <a14:useLocalDpi xmlns:a14="http://schemas.microsoft.com/office/drawing/2010/main" val="0"/>
              </a:ext>
            </a:extLst>
          </a:blip>
          <a:srcRect l="1596" t="52013" r="80138" b="37919"/>
          <a:stretch>
            <a:fillRect/>
          </a:stretch>
        </p:blipFill>
        <p:spPr>
          <a:xfrm>
            <a:off x="5212437" y="3233854"/>
            <a:ext cx="6979563" cy="2564780"/>
          </a:xfrm>
          <a:prstGeom prst="rect">
            <a:avLst/>
          </a:prstGeom>
        </p:spPr>
      </p:pic>
    </p:spTree>
    <p:extLst>
      <p:ext uri="{BB962C8B-B14F-4D97-AF65-F5344CB8AC3E}">
        <p14:creationId xmlns:p14="http://schemas.microsoft.com/office/powerpoint/2010/main" val="294762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1000"/>
                                        <p:tgtEl>
                                          <p:spTgt spid="4">
                                            <p:txEl>
                                              <p:pRg st="5" end="5"/>
                                            </p:txEl>
                                          </p:spTgt>
                                        </p:tgtEl>
                                      </p:cBhvr>
                                    </p:animEffect>
                                    <p:anim calcmode="lin" valueType="num">
                                      <p:cBhvr>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1000"/>
                                        <p:tgtEl>
                                          <p:spTgt spid="4">
                                            <p:txEl>
                                              <p:pRg st="6" end="6"/>
                                            </p:txEl>
                                          </p:spTgt>
                                        </p:tgtEl>
                                      </p:cBhvr>
                                    </p:animEffect>
                                    <p:anim calcmode="lin" valueType="num">
                                      <p:cBhvr>
                                        <p:cTn id="2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1000"/>
                                        <p:tgtEl>
                                          <p:spTgt spid="4">
                                            <p:txEl>
                                              <p:pRg st="7" end="7"/>
                                            </p:txEl>
                                          </p:spTgt>
                                        </p:tgtEl>
                                      </p:cBhvr>
                                    </p:animEffect>
                                    <p:anim calcmode="lin" valueType="num">
                                      <p:cBhvr>
                                        <p:cTn id="3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1000"/>
                                        <p:tgtEl>
                                          <p:spTgt spid="4">
                                            <p:txEl>
                                              <p:pRg st="8" end="8"/>
                                            </p:txEl>
                                          </p:spTgt>
                                        </p:tgtEl>
                                      </p:cBhvr>
                                    </p:animEffect>
                                    <p:anim calcmode="lin" valueType="num">
                                      <p:cBhvr>
                                        <p:cTn id="3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1000"/>
                                        <p:tgtEl>
                                          <p:spTgt spid="4">
                                            <p:txEl>
                                              <p:pRg st="9" end="9"/>
                                            </p:txEl>
                                          </p:spTgt>
                                        </p:tgtEl>
                                      </p:cBhvr>
                                    </p:animEffect>
                                    <p:anim calcmode="lin" valueType="num">
                                      <p:cBhvr>
                                        <p:cTn id="4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1000"/>
                                        <p:tgtEl>
                                          <p:spTgt spid="4">
                                            <p:txEl>
                                              <p:pRg st="10" end="10"/>
                                            </p:txEl>
                                          </p:spTgt>
                                        </p:tgtEl>
                                      </p:cBhvr>
                                    </p:animEffect>
                                    <p:anim calcmode="lin" valueType="num">
                                      <p:cBhvr>
                                        <p:cTn id="48"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
                                            <p:txEl>
                                              <p:pRg st="11" end="11"/>
                                            </p:txEl>
                                          </p:spTgt>
                                        </p:tgtEl>
                                        <p:attrNameLst>
                                          <p:attrName>style.visibility</p:attrName>
                                        </p:attrNameLst>
                                      </p:cBhvr>
                                      <p:to>
                                        <p:strVal val="visible"/>
                                      </p:to>
                                    </p:set>
                                    <p:animEffect transition="in" filter="fade">
                                      <p:cBhvr>
                                        <p:cTn id="52" dur="1000"/>
                                        <p:tgtEl>
                                          <p:spTgt spid="4">
                                            <p:txEl>
                                              <p:pRg st="11" end="11"/>
                                            </p:txEl>
                                          </p:spTgt>
                                        </p:tgtEl>
                                      </p:cBhvr>
                                    </p:animEffect>
                                    <p:anim calcmode="lin" valueType="num">
                                      <p:cBhvr>
                                        <p:cTn id="53"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
                                            <p:txEl>
                                              <p:pRg st="12" end="12"/>
                                            </p:txEl>
                                          </p:spTgt>
                                        </p:tgtEl>
                                        <p:attrNameLst>
                                          <p:attrName>style.visibility</p:attrName>
                                        </p:attrNameLst>
                                      </p:cBhvr>
                                      <p:to>
                                        <p:strVal val="visible"/>
                                      </p:to>
                                    </p:set>
                                    <p:animEffect transition="in" filter="fade">
                                      <p:cBhvr>
                                        <p:cTn id="57" dur="1000"/>
                                        <p:tgtEl>
                                          <p:spTgt spid="4">
                                            <p:txEl>
                                              <p:pRg st="12" end="12"/>
                                            </p:txEl>
                                          </p:spTgt>
                                        </p:tgtEl>
                                      </p:cBhvr>
                                    </p:animEffect>
                                    <p:anim calcmode="lin" valueType="num">
                                      <p:cBhvr>
                                        <p:cTn id="58"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6BF7FB9-ECE4-C824-6D03-DC59E3A67A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28C943-C19C-05CE-21E5-BD52D8E2188B}"/>
              </a:ext>
            </a:extLst>
          </p:cNvPr>
          <p:cNvSpPr txBox="1"/>
          <p:nvPr/>
        </p:nvSpPr>
        <p:spPr>
          <a:xfrm>
            <a:off x="-2458" y="-178416"/>
            <a:ext cx="12194458" cy="7154266"/>
          </a:xfrm>
          <a:prstGeom prst="rect">
            <a:avLst/>
          </a:prstGeom>
          <a:noFill/>
        </p:spPr>
        <p:txBody>
          <a:bodyPr wrap="square">
            <a:spAutoFit/>
          </a:bodyPr>
          <a:lstStyle/>
          <a:p>
            <a:pPr>
              <a:lnSpc>
                <a:spcPct val="150000"/>
              </a:lnSpc>
              <a:buNone/>
            </a:pPr>
            <a:r>
              <a:rPr lang="en-US" sz="2400" b="1" dirty="0">
                <a:latin typeface="Calibir"/>
              </a:rPr>
              <a:t>2. Aggregation</a:t>
            </a:r>
          </a:p>
          <a:p>
            <a:pPr>
              <a:lnSpc>
                <a:spcPct val="150000"/>
              </a:lnSpc>
              <a:buNone/>
            </a:pPr>
            <a:r>
              <a:rPr lang="en-US" sz="2400" b="1" dirty="0">
                <a:latin typeface="Calibir"/>
              </a:rPr>
              <a:t>What is it?</a:t>
            </a:r>
          </a:p>
          <a:p>
            <a:pPr>
              <a:lnSpc>
                <a:spcPct val="150000"/>
              </a:lnSpc>
              <a:buNone/>
            </a:pPr>
            <a:r>
              <a:rPr lang="en-US" sz="2000" dirty="0">
                <a:latin typeface="Calibir"/>
              </a:rPr>
              <a:t>An aggregation means one object has another object, but the second object can still exist on its own.</a:t>
            </a:r>
          </a:p>
          <a:p>
            <a:pPr>
              <a:lnSpc>
                <a:spcPct val="150000"/>
              </a:lnSpc>
              <a:buNone/>
            </a:pPr>
            <a:r>
              <a:rPr lang="en-US" sz="2000" dirty="0">
                <a:latin typeface="Calibir"/>
              </a:rPr>
              <a:t>This is a weak "has-a" relationship.</a:t>
            </a:r>
          </a:p>
          <a:p>
            <a:pPr>
              <a:lnSpc>
                <a:spcPct val="150000"/>
              </a:lnSpc>
              <a:buNone/>
            </a:pPr>
            <a:r>
              <a:rPr lang="en-US" sz="2000" dirty="0">
                <a:latin typeface="Calibir"/>
              </a:rPr>
              <a:t>Example</a:t>
            </a:r>
          </a:p>
          <a:p>
            <a:pPr>
              <a:lnSpc>
                <a:spcPct val="150000"/>
              </a:lnSpc>
            </a:pPr>
            <a:r>
              <a:rPr lang="en-US" sz="2000" dirty="0">
                <a:latin typeface="Calibir"/>
              </a:rPr>
              <a:t>Branch ◇──────── Customer</a:t>
            </a:r>
          </a:p>
          <a:p>
            <a:pPr>
              <a:lnSpc>
                <a:spcPct val="150000"/>
              </a:lnSpc>
              <a:buNone/>
            </a:pPr>
            <a:r>
              <a:rPr lang="en-US" sz="2000" dirty="0">
                <a:latin typeface="Calibir"/>
              </a:rPr>
              <a:t>Meaning</a:t>
            </a:r>
          </a:p>
          <a:p>
            <a:pPr>
              <a:lnSpc>
                <a:spcPct val="150000"/>
              </a:lnSpc>
              <a:buNone/>
            </a:pPr>
            <a:r>
              <a:rPr lang="en-US" sz="2000" dirty="0">
                <a:latin typeface="Calibir"/>
              </a:rPr>
              <a:t>A branch has many customers.</a:t>
            </a:r>
          </a:p>
          <a:p>
            <a:pPr>
              <a:lnSpc>
                <a:spcPct val="150000"/>
              </a:lnSpc>
              <a:buNone/>
            </a:pPr>
            <a:r>
              <a:rPr lang="en-US" sz="2000" dirty="0">
                <a:latin typeface="Calibir"/>
              </a:rPr>
              <a:t>If the branch closes, the customers still exist.</a:t>
            </a:r>
          </a:p>
          <a:p>
            <a:pPr>
              <a:lnSpc>
                <a:spcPct val="150000"/>
              </a:lnSpc>
              <a:buNone/>
            </a:pPr>
            <a:r>
              <a:rPr lang="en-US" sz="2000" dirty="0">
                <a:latin typeface="Calibir"/>
              </a:rPr>
              <a:t>Another example</a:t>
            </a:r>
          </a:p>
          <a:p>
            <a:pPr>
              <a:lnSpc>
                <a:spcPct val="150000"/>
              </a:lnSpc>
              <a:buNone/>
            </a:pPr>
            <a:r>
              <a:rPr lang="en-US" sz="2000" dirty="0">
                <a:latin typeface="Calibir"/>
              </a:rPr>
              <a:t>University ◇── Student</a:t>
            </a:r>
          </a:p>
          <a:p>
            <a:pPr>
              <a:lnSpc>
                <a:spcPct val="150000"/>
              </a:lnSpc>
              <a:buNone/>
            </a:pPr>
            <a:r>
              <a:rPr lang="en-US" sz="2000" dirty="0">
                <a:latin typeface="Calibir"/>
              </a:rPr>
              <a:t>If the university closes,</a:t>
            </a:r>
          </a:p>
          <a:p>
            <a:pPr>
              <a:lnSpc>
                <a:spcPct val="150000"/>
              </a:lnSpc>
              <a:buNone/>
            </a:pPr>
            <a:r>
              <a:rPr lang="en-US" sz="2000" dirty="0">
                <a:latin typeface="Calibir"/>
              </a:rPr>
              <a:t>the students still exist.</a:t>
            </a:r>
          </a:p>
          <a:p>
            <a:pPr>
              <a:lnSpc>
                <a:spcPct val="150000"/>
              </a:lnSpc>
              <a:buNone/>
            </a:pPr>
            <a:r>
              <a:rPr lang="en-US" sz="2000" dirty="0">
                <a:latin typeface="Calibir"/>
              </a:rPr>
              <a:t>Easy way to remember</a:t>
            </a:r>
          </a:p>
          <a:p>
            <a:pPr>
              <a:lnSpc>
                <a:spcPct val="150000"/>
              </a:lnSpc>
              <a:buNone/>
            </a:pPr>
            <a:r>
              <a:rPr lang="en-US" sz="2000" dirty="0">
                <a:latin typeface="Calibir"/>
              </a:rPr>
              <a:t>Aggregation = "has-a" (weak ownership). The part can live without the whole.</a:t>
            </a:r>
            <a:endParaRPr lang="en-US" sz="2400" dirty="0">
              <a:latin typeface="Calibir"/>
            </a:endParaRPr>
          </a:p>
        </p:txBody>
      </p:sp>
      <p:pic>
        <p:nvPicPr>
          <p:cNvPr id="3" name="Picture 2">
            <a:extLst>
              <a:ext uri="{FF2B5EF4-FFF2-40B4-BE49-F238E27FC236}">
                <a16:creationId xmlns:a16="http://schemas.microsoft.com/office/drawing/2014/main" id="{ED2EA860-D044-A275-1B37-0C3B11DC58F7}"/>
              </a:ext>
            </a:extLst>
          </p:cNvPr>
          <p:cNvPicPr>
            <a:picLocks noChangeAspect="1"/>
          </p:cNvPicPr>
          <p:nvPr/>
        </p:nvPicPr>
        <p:blipFill>
          <a:blip r:embed="rId3">
            <a:extLst>
              <a:ext uri="{28A0092B-C50C-407E-A947-70E740481C1C}">
                <a14:useLocalDpi xmlns:a14="http://schemas.microsoft.com/office/drawing/2010/main" val="0"/>
              </a:ext>
            </a:extLst>
          </a:blip>
          <a:srcRect l="1596" t="52013" r="80138" b="37919"/>
          <a:stretch>
            <a:fillRect/>
          </a:stretch>
        </p:blipFill>
        <p:spPr>
          <a:xfrm>
            <a:off x="5212437" y="3233854"/>
            <a:ext cx="6979563" cy="2564780"/>
          </a:xfrm>
          <a:prstGeom prst="rect">
            <a:avLst/>
          </a:prstGeom>
        </p:spPr>
      </p:pic>
    </p:spTree>
    <p:extLst>
      <p:ext uri="{BB962C8B-B14F-4D97-AF65-F5344CB8AC3E}">
        <p14:creationId xmlns:p14="http://schemas.microsoft.com/office/powerpoint/2010/main" val="422368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Effect transition="in" filter="fade">
                                      <p:cBhvr>
                                        <p:cTn id="19" dur="500"/>
                                        <p:tgtEl>
                                          <p:spTgt spid="4">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500"/>
                                        <p:tgtEl>
                                          <p:spTgt spid="4">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animEffect transition="in" filter="fade">
                                      <p:cBhvr>
                                        <p:cTn id="25" dur="500"/>
                                        <p:tgtEl>
                                          <p:spTgt spid="4">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9" end="9"/>
                                            </p:txEl>
                                          </p:spTgt>
                                        </p:tgtEl>
                                        <p:attrNameLst>
                                          <p:attrName>style.visibility</p:attrName>
                                        </p:attrNameLst>
                                      </p:cBhvr>
                                      <p:to>
                                        <p:strVal val="visible"/>
                                      </p:to>
                                    </p:set>
                                    <p:animEffect transition="in" filter="fade">
                                      <p:cBhvr>
                                        <p:cTn id="28" dur="500"/>
                                        <p:tgtEl>
                                          <p:spTgt spid="4">
                                            <p:txEl>
                                              <p:pRg st="9" end="9"/>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animEffect transition="in" filter="fade">
                                      <p:cBhvr>
                                        <p:cTn id="31" dur="500"/>
                                        <p:tgtEl>
                                          <p:spTgt spid="4">
                                            <p:txEl>
                                              <p:pRg st="10" end="1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1" end="11"/>
                                            </p:txEl>
                                          </p:spTgt>
                                        </p:tgtEl>
                                        <p:attrNameLst>
                                          <p:attrName>style.visibility</p:attrName>
                                        </p:attrNameLst>
                                      </p:cBhvr>
                                      <p:to>
                                        <p:strVal val="visible"/>
                                      </p:to>
                                    </p:set>
                                    <p:animEffect transition="in" filter="fade">
                                      <p:cBhvr>
                                        <p:cTn id="34" dur="500"/>
                                        <p:tgtEl>
                                          <p:spTgt spid="4">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fade">
                                      <p:cBhvr>
                                        <p:cTn id="37" dur="500"/>
                                        <p:tgtEl>
                                          <p:spTgt spid="4">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3" end="13"/>
                                            </p:txEl>
                                          </p:spTgt>
                                        </p:tgtEl>
                                        <p:attrNameLst>
                                          <p:attrName>style.visibility</p:attrName>
                                        </p:attrNameLst>
                                      </p:cBhvr>
                                      <p:to>
                                        <p:strVal val="visible"/>
                                      </p:to>
                                    </p:set>
                                    <p:animEffect transition="in" filter="fade">
                                      <p:cBhvr>
                                        <p:cTn id="40" dur="500"/>
                                        <p:tgtEl>
                                          <p:spTgt spid="4">
                                            <p:txEl>
                                              <p:pRg st="13" end="13"/>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animEffect transition="in" filter="fade">
                                      <p:cBhvr>
                                        <p:cTn id="43"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E938FF2-8D25-AFB2-3487-244D915922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FF8170-85EB-97D1-23B3-891A2E5F023D}"/>
              </a:ext>
            </a:extLst>
          </p:cNvPr>
          <p:cNvSpPr txBox="1"/>
          <p:nvPr/>
        </p:nvSpPr>
        <p:spPr>
          <a:xfrm>
            <a:off x="-2458" y="-178416"/>
            <a:ext cx="12194458" cy="7237046"/>
          </a:xfrm>
          <a:prstGeom prst="rect">
            <a:avLst/>
          </a:prstGeom>
          <a:noFill/>
        </p:spPr>
        <p:txBody>
          <a:bodyPr wrap="square">
            <a:spAutoFit/>
          </a:bodyPr>
          <a:lstStyle/>
          <a:p>
            <a:pPr>
              <a:lnSpc>
                <a:spcPct val="150000"/>
              </a:lnSpc>
              <a:buNone/>
            </a:pPr>
            <a:r>
              <a:rPr lang="en-US" sz="2400" b="1" dirty="0">
                <a:latin typeface="Calibir"/>
              </a:rPr>
              <a:t>3. Generalization (Inheritance)</a:t>
            </a:r>
          </a:p>
          <a:p>
            <a:pPr>
              <a:lnSpc>
                <a:spcPct val="150000"/>
              </a:lnSpc>
              <a:buNone/>
            </a:pPr>
            <a:r>
              <a:rPr lang="en-US" sz="2400" b="1" dirty="0">
                <a:latin typeface="Calibir"/>
              </a:rPr>
              <a:t>What is it?</a:t>
            </a:r>
          </a:p>
          <a:p>
            <a:pPr>
              <a:lnSpc>
                <a:spcPct val="150000"/>
              </a:lnSpc>
              <a:buNone/>
            </a:pPr>
            <a:r>
              <a:rPr lang="en-US" sz="2400" dirty="0">
                <a:latin typeface="Calibir"/>
              </a:rPr>
              <a:t>Generalization means one class inherits from another class.</a:t>
            </a:r>
          </a:p>
          <a:p>
            <a:pPr>
              <a:lnSpc>
                <a:spcPct val="150000"/>
              </a:lnSpc>
              <a:buNone/>
            </a:pPr>
            <a:r>
              <a:rPr lang="en-US" sz="2400" dirty="0">
                <a:latin typeface="Calibir"/>
              </a:rPr>
              <a:t>The child class automatically receives the parent's attributes and methods.</a:t>
            </a:r>
          </a:p>
          <a:p>
            <a:pPr>
              <a:lnSpc>
                <a:spcPct val="150000"/>
              </a:lnSpc>
              <a:buNone/>
            </a:pPr>
            <a:r>
              <a:rPr lang="en-US" sz="2400" dirty="0">
                <a:latin typeface="Calibir"/>
              </a:rPr>
              <a:t>Example: Kangaroo -- Animal</a:t>
            </a:r>
          </a:p>
          <a:p>
            <a:pPr>
              <a:lnSpc>
                <a:spcPct val="150000"/>
              </a:lnSpc>
              <a:buNone/>
            </a:pPr>
            <a:r>
              <a:rPr lang="en-US" sz="2400" dirty="0">
                <a:latin typeface="Calibir"/>
              </a:rPr>
              <a:t>Meaning</a:t>
            </a:r>
          </a:p>
          <a:p>
            <a:pPr>
              <a:lnSpc>
                <a:spcPct val="150000"/>
              </a:lnSpc>
              <a:buNone/>
            </a:pPr>
            <a:r>
              <a:rPr lang="en-US" sz="2400" dirty="0">
                <a:latin typeface="Calibir"/>
              </a:rPr>
              <a:t>A Kangaroo is an Animal.</a:t>
            </a:r>
          </a:p>
          <a:p>
            <a:pPr>
              <a:lnSpc>
                <a:spcPct val="150000"/>
              </a:lnSpc>
              <a:buNone/>
            </a:pPr>
            <a:r>
              <a:rPr lang="en-US" sz="2400" dirty="0">
                <a:latin typeface="Calibir"/>
              </a:rPr>
              <a:t>Kangaroo inherits:</a:t>
            </a:r>
          </a:p>
          <a:p>
            <a:pPr marL="342900" lvl="0" indent="-342900">
              <a:lnSpc>
                <a:spcPct val="150000"/>
              </a:lnSpc>
              <a:buFont typeface="Arial" panose="020B0604020202020204" pitchFamily="34" charset="0"/>
              <a:buChar char="•"/>
            </a:pPr>
            <a:r>
              <a:rPr lang="en-US" sz="2400" dirty="0">
                <a:latin typeface="Calibir"/>
              </a:rPr>
              <a:t>eat() </a:t>
            </a:r>
          </a:p>
          <a:p>
            <a:pPr marL="342900" lvl="0" indent="-342900">
              <a:lnSpc>
                <a:spcPct val="150000"/>
              </a:lnSpc>
              <a:buFont typeface="Arial" panose="020B0604020202020204" pitchFamily="34" charset="0"/>
              <a:buChar char="•"/>
            </a:pPr>
            <a:r>
              <a:rPr lang="en-US" sz="2400" dirty="0">
                <a:latin typeface="Calibir"/>
              </a:rPr>
              <a:t>breathe() </a:t>
            </a:r>
          </a:p>
          <a:p>
            <a:pPr marL="342900" lvl="0" indent="-342900">
              <a:lnSpc>
                <a:spcPct val="150000"/>
              </a:lnSpc>
              <a:buFont typeface="Arial" panose="020B0604020202020204" pitchFamily="34" charset="0"/>
              <a:buChar char="•"/>
            </a:pPr>
            <a:r>
              <a:rPr lang="en-US" sz="2400" dirty="0">
                <a:latin typeface="Calibir"/>
              </a:rPr>
              <a:t>sleep() </a:t>
            </a:r>
          </a:p>
          <a:p>
            <a:pPr>
              <a:lnSpc>
                <a:spcPct val="150000"/>
              </a:lnSpc>
              <a:buNone/>
            </a:pPr>
            <a:r>
              <a:rPr lang="en-US" sz="2400" dirty="0">
                <a:latin typeface="Calibir"/>
              </a:rPr>
              <a:t>and adds its own method:</a:t>
            </a:r>
          </a:p>
          <a:p>
            <a:pPr marL="342900" lvl="0" indent="-342900">
              <a:lnSpc>
                <a:spcPct val="150000"/>
              </a:lnSpc>
              <a:buFont typeface="Arial" panose="020B0604020202020204" pitchFamily="34" charset="0"/>
              <a:buChar char="•"/>
            </a:pPr>
            <a:r>
              <a:rPr lang="en-US" sz="2400" dirty="0">
                <a:latin typeface="Calibir"/>
              </a:rPr>
              <a:t>jump()</a:t>
            </a:r>
          </a:p>
        </p:txBody>
      </p:sp>
      <p:pic>
        <p:nvPicPr>
          <p:cNvPr id="3" name="Picture 2">
            <a:extLst>
              <a:ext uri="{FF2B5EF4-FFF2-40B4-BE49-F238E27FC236}">
                <a16:creationId xmlns:a16="http://schemas.microsoft.com/office/drawing/2014/main" id="{8FAB5446-25B8-F12F-C921-B94B44C7A5A1}"/>
              </a:ext>
            </a:extLst>
          </p:cNvPr>
          <p:cNvPicPr>
            <a:picLocks noChangeAspect="1"/>
          </p:cNvPicPr>
          <p:nvPr/>
        </p:nvPicPr>
        <p:blipFill>
          <a:blip r:embed="rId3">
            <a:extLst>
              <a:ext uri="{28A0092B-C50C-407E-A947-70E740481C1C}">
                <a14:useLocalDpi xmlns:a14="http://schemas.microsoft.com/office/drawing/2010/main" val="0"/>
              </a:ext>
            </a:extLst>
          </a:blip>
          <a:srcRect l="1596" t="52013" r="80138" b="37919"/>
          <a:stretch>
            <a:fillRect/>
          </a:stretch>
        </p:blipFill>
        <p:spPr>
          <a:xfrm>
            <a:off x="5212437" y="3233854"/>
            <a:ext cx="6979563" cy="2564780"/>
          </a:xfrm>
          <a:prstGeom prst="rect">
            <a:avLst/>
          </a:prstGeom>
        </p:spPr>
      </p:pic>
    </p:spTree>
    <p:extLst>
      <p:ext uri="{BB962C8B-B14F-4D97-AF65-F5344CB8AC3E}">
        <p14:creationId xmlns:p14="http://schemas.microsoft.com/office/powerpoint/2010/main" val="30824630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BEF1AB7-1F7F-FE7C-08E9-B0D198CADD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18AF1F-68C3-2BAA-B7A7-81F3DB924A0E}"/>
              </a:ext>
            </a:extLst>
          </p:cNvPr>
          <p:cNvSpPr txBox="1"/>
          <p:nvPr/>
        </p:nvSpPr>
        <p:spPr>
          <a:xfrm>
            <a:off x="0" y="641474"/>
            <a:ext cx="12194458" cy="5575052"/>
          </a:xfrm>
          <a:prstGeom prst="rect">
            <a:avLst/>
          </a:prstGeom>
          <a:noFill/>
        </p:spPr>
        <p:txBody>
          <a:bodyPr wrap="square">
            <a:spAutoFit/>
          </a:bodyPr>
          <a:lstStyle/>
          <a:p>
            <a:pPr>
              <a:lnSpc>
                <a:spcPct val="150000"/>
              </a:lnSpc>
              <a:buNone/>
            </a:pPr>
            <a:r>
              <a:rPr lang="en-US" sz="2400" dirty="0">
                <a:latin typeface="Calibir"/>
              </a:rPr>
              <a:t>Another example</a:t>
            </a:r>
          </a:p>
          <a:p>
            <a:pPr>
              <a:lnSpc>
                <a:spcPct val="150000"/>
              </a:lnSpc>
            </a:pPr>
            <a:r>
              <a:rPr lang="en-US" sz="2400" dirty="0">
                <a:latin typeface="Calibir"/>
              </a:rPr>
              <a:t>Employee – Manager</a:t>
            </a:r>
          </a:p>
          <a:p>
            <a:pPr>
              <a:lnSpc>
                <a:spcPct val="150000"/>
              </a:lnSpc>
            </a:pPr>
            <a:r>
              <a:rPr lang="en-US" sz="2400" dirty="0">
                <a:latin typeface="Calibir"/>
              </a:rPr>
              <a:t>Meaning</a:t>
            </a:r>
          </a:p>
          <a:p>
            <a:pPr>
              <a:lnSpc>
                <a:spcPct val="150000"/>
              </a:lnSpc>
              <a:buNone/>
            </a:pPr>
            <a:r>
              <a:rPr lang="en-US" sz="2400" dirty="0">
                <a:latin typeface="Calibir"/>
              </a:rPr>
              <a:t>A Manager is an Employee.</a:t>
            </a:r>
          </a:p>
          <a:p>
            <a:pPr>
              <a:lnSpc>
                <a:spcPct val="150000"/>
              </a:lnSpc>
              <a:buNone/>
            </a:pPr>
            <a:r>
              <a:rPr lang="en-US" sz="2400" dirty="0">
                <a:latin typeface="Calibir"/>
              </a:rPr>
              <a:t>The Manager inherits employee information and can also perform additional tasks.</a:t>
            </a:r>
          </a:p>
          <a:p>
            <a:pPr>
              <a:lnSpc>
                <a:spcPct val="150000"/>
              </a:lnSpc>
              <a:buNone/>
            </a:pPr>
            <a:r>
              <a:rPr lang="en-US" sz="2400" dirty="0">
                <a:latin typeface="Calibir"/>
              </a:rPr>
              <a:t>Easy way to remember</a:t>
            </a:r>
          </a:p>
          <a:p>
            <a:pPr>
              <a:lnSpc>
                <a:spcPct val="150000"/>
              </a:lnSpc>
              <a:buNone/>
            </a:pPr>
            <a:r>
              <a:rPr lang="en-US" sz="2400" dirty="0">
                <a:latin typeface="Calibir"/>
              </a:rPr>
              <a:t>Inheritance = "is-a".</a:t>
            </a:r>
          </a:p>
          <a:p>
            <a:pPr>
              <a:lnSpc>
                <a:spcPct val="150000"/>
              </a:lnSpc>
              <a:buNone/>
            </a:pPr>
            <a:r>
              <a:rPr lang="en-US" sz="2400" dirty="0">
                <a:latin typeface="Calibir"/>
              </a:rPr>
              <a:t>A Manager is an Employee.</a:t>
            </a:r>
          </a:p>
          <a:p>
            <a:pPr>
              <a:lnSpc>
                <a:spcPct val="150000"/>
              </a:lnSpc>
              <a:buNone/>
            </a:pPr>
            <a:r>
              <a:rPr lang="en-US" sz="2400" dirty="0">
                <a:latin typeface="Calibir"/>
              </a:rPr>
              <a:t>A Dog is an Animal.</a:t>
            </a:r>
          </a:p>
          <a:p>
            <a:pPr>
              <a:lnSpc>
                <a:spcPct val="150000"/>
              </a:lnSpc>
              <a:buNone/>
            </a:pPr>
            <a:r>
              <a:rPr lang="en-US" sz="2400" dirty="0">
                <a:latin typeface="Calibir"/>
              </a:rPr>
              <a:t>A Kangaroo is an Animal.</a:t>
            </a:r>
          </a:p>
        </p:txBody>
      </p:sp>
      <p:pic>
        <p:nvPicPr>
          <p:cNvPr id="3" name="Picture 2">
            <a:extLst>
              <a:ext uri="{FF2B5EF4-FFF2-40B4-BE49-F238E27FC236}">
                <a16:creationId xmlns:a16="http://schemas.microsoft.com/office/drawing/2014/main" id="{743CA025-6BF7-28FE-326F-C11C72CABA6F}"/>
              </a:ext>
            </a:extLst>
          </p:cNvPr>
          <p:cNvPicPr>
            <a:picLocks noChangeAspect="1"/>
          </p:cNvPicPr>
          <p:nvPr/>
        </p:nvPicPr>
        <p:blipFill>
          <a:blip r:embed="rId3">
            <a:extLst>
              <a:ext uri="{28A0092B-C50C-407E-A947-70E740481C1C}">
                <a14:useLocalDpi xmlns:a14="http://schemas.microsoft.com/office/drawing/2010/main" val="0"/>
              </a:ext>
            </a:extLst>
          </a:blip>
          <a:srcRect l="1596" t="52013" r="80138" b="37919"/>
          <a:stretch>
            <a:fillRect/>
          </a:stretch>
        </p:blipFill>
        <p:spPr>
          <a:xfrm>
            <a:off x="5212437" y="3512356"/>
            <a:ext cx="6979563" cy="2564780"/>
          </a:xfrm>
          <a:prstGeom prst="rect">
            <a:avLst/>
          </a:prstGeom>
        </p:spPr>
      </p:pic>
    </p:spTree>
    <p:extLst>
      <p:ext uri="{BB962C8B-B14F-4D97-AF65-F5344CB8AC3E}">
        <p14:creationId xmlns:p14="http://schemas.microsoft.com/office/powerpoint/2010/main" val="34497414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9180C2B-617A-57F2-7931-572C04D5F01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0433763-BD56-E037-800D-D8151FB8FB6D}"/>
              </a:ext>
            </a:extLst>
          </p:cNvPr>
          <p:cNvGraphicFramePr>
            <a:graphicFrameLocks noGrp="1"/>
          </p:cNvGraphicFramePr>
          <p:nvPr>
            <p:extLst>
              <p:ext uri="{D42A27DB-BD31-4B8C-83A1-F6EECF244321}">
                <p14:modId xmlns:p14="http://schemas.microsoft.com/office/powerpoint/2010/main" val="893793566"/>
              </p:ext>
            </p:extLst>
          </p:nvPr>
        </p:nvGraphicFramePr>
        <p:xfrm>
          <a:off x="415924" y="2380726"/>
          <a:ext cx="11360151" cy="3301492"/>
        </p:xfrm>
        <a:graphic>
          <a:graphicData uri="http://schemas.openxmlformats.org/drawingml/2006/table">
            <a:tbl>
              <a:tblPr>
                <a:tableStyleId>{ED083AE6-46FA-4A59-8FB0-9F97EB10719F}</a:tableStyleId>
              </a:tblPr>
              <a:tblGrid>
                <a:gridCol w="3786717">
                  <a:extLst>
                    <a:ext uri="{9D8B030D-6E8A-4147-A177-3AD203B41FA5}">
                      <a16:colId xmlns:a16="http://schemas.microsoft.com/office/drawing/2014/main" val="164856812"/>
                    </a:ext>
                  </a:extLst>
                </a:gridCol>
                <a:gridCol w="3786717">
                  <a:extLst>
                    <a:ext uri="{9D8B030D-6E8A-4147-A177-3AD203B41FA5}">
                      <a16:colId xmlns:a16="http://schemas.microsoft.com/office/drawing/2014/main" val="1674682519"/>
                    </a:ext>
                  </a:extLst>
                </a:gridCol>
                <a:gridCol w="3786717">
                  <a:extLst>
                    <a:ext uri="{9D8B030D-6E8A-4147-A177-3AD203B41FA5}">
                      <a16:colId xmlns:a16="http://schemas.microsoft.com/office/drawing/2014/main" val="1463874099"/>
                    </a:ext>
                  </a:extLst>
                </a:gridCol>
              </a:tblGrid>
              <a:tr h="375984">
                <a:tc>
                  <a:txBody>
                    <a:bodyPr/>
                    <a:lstStyle/>
                    <a:p>
                      <a:pPr>
                        <a:lnSpc>
                          <a:spcPct val="150000"/>
                        </a:lnSpc>
                        <a:buNone/>
                      </a:pPr>
                      <a:r>
                        <a:rPr lang="en-US" sz="2800">
                          <a:latin typeface="Calibir"/>
                        </a:rPr>
                        <a:t>Relationship</a:t>
                      </a:r>
                    </a:p>
                  </a:txBody>
                  <a:tcPr anchor="ctr">
                    <a:solidFill>
                      <a:schemeClr val="accent4">
                        <a:lumMod val="20000"/>
                        <a:lumOff val="80000"/>
                      </a:schemeClr>
                    </a:solidFill>
                  </a:tcPr>
                </a:tc>
                <a:tc>
                  <a:txBody>
                    <a:bodyPr/>
                    <a:lstStyle/>
                    <a:p>
                      <a:pPr>
                        <a:lnSpc>
                          <a:spcPct val="150000"/>
                        </a:lnSpc>
                        <a:buNone/>
                      </a:pPr>
                      <a:r>
                        <a:rPr lang="en-US" sz="2800">
                          <a:latin typeface="Calibir"/>
                        </a:rPr>
                        <a:t>Meaning</a:t>
                      </a:r>
                    </a:p>
                  </a:txBody>
                  <a:tcPr anchor="ctr">
                    <a:solidFill>
                      <a:schemeClr val="accent4">
                        <a:lumMod val="20000"/>
                        <a:lumOff val="80000"/>
                      </a:schemeClr>
                    </a:solidFill>
                  </a:tcPr>
                </a:tc>
                <a:tc>
                  <a:txBody>
                    <a:bodyPr/>
                    <a:lstStyle/>
                    <a:p>
                      <a:pPr>
                        <a:lnSpc>
                          <a:spcPct val="150000"/>
                        </a:lnSpc>
                        <a:buNone/>
                      </a:pPr>
                      <a:r>
                        <a:rPr lang="en-US" sz="2800" dirty="0">
                          <a:latin typeface="Calibir"/>
                        </a:rPr>
                        <a:t>Example</a:t>
                      </a:r>
                    </a:p>
                  </a:txBody>
                  <a:tcPr anchor="ctr">
                    <a:solidFill>
                      <a:schemeClr val="accent4">
                        <a:lumMod val="20000"/>
                        <a:lumOff val="80000"/>
                      </a:schemeClr>
                    </a:solidFill>
                  </a:tcPr>
                </a:tc>
                <a:extLst>
                  <a:ext uri="{0D108BD9-81ED-4DB2-BD59-A6C34878D82A}">
                    <a16:rowId xmlns:a16="http://schemas.microsoft.com/office/drawing/2014/main" val="2777195840"/>
                  </a:ext>
                </a:extLst>
              </a:tr>
              <a:tr h="375984">
                <a:tc>
                  <a:txBody>
                    <a:bodyPr/>
                    <a:lstStyle/>
                    <a:p>
                      <a:pPr>
                        <a:lnSpc>
                          <a:spcPct val="150000"/>
                        </a:lnSpc>
                        <a:buNone/>
                      </a:pPr>
                      <a:r>
                        <a:rPr lang="en-US" sz="2800" b="1">
                          <a:latin typeface="Calibir"/>
                        </a:rPr>
                        <a:t>Association</a:t>
                      </a:r>
                      <a:endParaRPr lang="en-US" sz="2800">
                        <a:latin typeface="Calibir"/>
                      </a:endParaRPr>
                    </a:p>
                  </a:txBody>
                  <a:tcPr anchor="ctr"/>
                </a:tc>
                <a:tc>
                  <a:txBody>
                    <a:bodyPr/>
                    <a:lstStyle/>
                    <a:p>
                      <a:pPr>
                        <a:lnSpc>
                          <a:spcPct val="150000"/>
                        </a:lnSpc>
                        <a:buNone/>
                      </a:pPr>
                      <a:r>
                        <a:rPr lang="en-US" sz="2800">
                          <a:latin typeface="Calibir"/>
                        </a:rPr>
                        <a:t>Works with</a:t>
                      </a:r>
                    </a:p>
                  </a:txBody>
                  <a:tcPr anchor="ctr"/>
                </a:tc>
                <a:tc>
                  <a:txBody>
                    <a:bodyPr/>
                    <a:lstStyle/>
                    <a:p>
                      <a:pPr>
                        <a:lnSpc>
                          <a:spcPct val="150000"/>
                        </a:lnSpc>
                        <a:buNone/>
                      </a:pPr>
                      <a:r>
                        <a:rPr lang="en-US" sz="2800">
                          <a:latin typeface="Calibir"/>
                        </a:rPr>
                        <a:t>Customer ↔ Account</a:t>
                      </a:r>
                    </a:p>
                  </a:txBody>
                  <a:tcPr anchor="ctr"/>
                </a:tc>
                <a:extLst>
                  <a:ext uri="{0D108BD9-81ED-4DB2-BD59-A6C34878D82A}">
                    <a16:rowId xmlns:a16="http://schemas.microsoft.com/office/drawing/2014/main" val="2318717787"/>
                  </a:ext>
                </a:extLst>
              </a:tr>
              <a:tr h="375984">
                <a:tc>
                  <a:txBody>
                    <a:bodyPr/>
                    <a:lstStyle/>
                    <a:p>
                      <a:pPr>
                        <a:lnSpc>
                          <a:spcPct val="150000"/>
                        </a:lnSpc>
                        <a:buNone/>
                      </a:pPr>
                      <a:r>
                        <a:rPr lang="en-US" sz="2800" b="1">
                          <a:latin typeface="Calibir"/>
                        </a:rPr>
                        <a:t>Aggregation</a:t>
                      </a:r>
                      <a:endParaRPr lang="en-US" sz="2800">
                        <a:latin typeface="Calibir"/>
                      </a:endParaRPr>
                    </a:p>
                  </a:txBody>
                  <a:tcPr anchor="ctr"/>
                </a:tc>
                <a:tc>
                  <a:txBody>
                    <a:bodyPr/>
                    <a:lstStyle/>
                    <a:p>
                      <a:pPr>
                        <a:lnSpc>
                          <a:spcPct val="150000"/>
                        </a:lnSpc>
                        <a:buNone/>
                      </a:pPr>
                      <a:r>
                        <a:rPr lang="en-US" sz="2800">
                          <a:latin typeface="Calibir"/>
                        </a:rPr>
                        <a:t>Has a (weak ownership)</a:t>
                      </a:r>
                    </a:p>
                  </a:txBody>
                  <a:tcPr anchor="ctr"/>
                </a:tc>
                <a:tc>
                  <a:txBody>
                    <a:bodyPr/>
                    <a:lstStyle/>
                    <a:p>
                      <a:pPr>
                        <a:lnSpc>
                          <a:spcPct val="150000"/>
                        </a:lnSpc>
                        <a:buNone/>
                      </a:pPr>
                      <a:r>
                        <a:rPr lang="en-US" sz="2800">
                          <a:latin typeface="Calibir"/>
                        </a:rPr>
                        <a:t>Branch ◇── Customer</a:t>
                      </a:r>
                    </a:p>
                  </a:txBody>
                  <a:tcPr anchor="ctr"/>
                </a:tc>
                <a:extLst>
                  <a:ext uri="{0D108BD9-81ED-4DB2-BD59-A6C34878D82A}">
                    <a16:rowId xmlns:a16="http://schemas.microsoft.com/office/drawing/2014/main" val="1619665501"/>
                  </a:ext>
                </a:extLst>
              </a:tr>
              <a:tr h="375984">
                <a:tc>
                  <a:txBody>
                    <a:bodyPr/>
                    <a:lstStyle/>
                    <a:p>
                      <a:pPr>
                        <a:lnSpc>
                          <a:spcPct val="150000"/>
                        </a:lnSpc>
                        <a:buNone/>
                      </a:pPr>
                      <a:r>
                        <a:rPr lang="en-US" sz="2800" b="1" dirty="0">
                          <a:latin typeface="Calibir"/>
                        </a:rPr>
                        <a:t>Generalization (Inheritance)</a:t>
                      </a:r>
                      <a:endParaRPr lang="en-US" sz="2800" dirty="0">
                        <a:latin typeface="Calibir"/>
                      </a:endParaRPr>
                    </a:p>
                  </a:txBody>
                  <a:tcPr anchor="ctr"/>
                </a:tc>
                <a:tc>
                  <a:txBody>
                    <a:bodyPr/>
                    <a:lstStyle/>
                    <a:p>
                      <a:pPr>
                        <a:lnSpc>
                          <a:spcPct val="150000"/>
                        </a:lnSpc>
                        <a:buNone/>
                      </a:pPr>
                      <a:r>
                        <a:rPr lang="en-US" sz="2800">
                          <a:latin typeface="Calibir"/>
                        </a:rPr>
                        <a:t>Is a</a:t>
                      </a:r>
                    </a:p>
                  </a:txBody>
                  <a:tcPr anchor="ctr"/>
                </a:tc>
                <a:tc>
                  <a:txBody>
                    <a:bodyPr/>
                    <a:lstStyle/>
                    <a:p>
                      <a:pPr>
                        <a:lnSpc>
                          <a:spcPct val="150000"/>
                        </a:lnSpc>
                        <a:buNone/>
                      </a:pPr>
                      <a:r>
                        <a:rPr lang="en-US" sz="2800" dirty="0">
                          <a:latin typeface="Calibir"/>
                        </a:rPr>
                        <a:t>Manager △ Employee</a:t>
                      </a:r>
                    </a:p>
                  </a:txBody>
                  <a:tcPr anchor="ctr"/>
                </a:tc>
                <a:extLst>
                  <a:ext uri="{0D108BD9-81ED-4DB2-BD59-A6C34878D82A}">
                    <a16:rowId xmlns:a16="http://schemas.microsoft.com/office/drawing/2014/main" val="3794491264"/>
                  </a:ext>
                </a:extLst>
              </a:tr>
            </a:tbl>
          </a:graphicData>
        </a:graphic>
      </p:graphicFrame>
      <p:sp>
        <p:nvSpPr>
          <p:cNvPr id="5" name="TextBox 4">
            <a:extLst>
              <a:ext uri="{FF2B5EF4-FFF2-40B4-BE49-F238E27FC236}">
                <a16:creationId xmlns:a16="http://schemas.microsoft.com/office/drawing/2014/main" id="{A4F62539-6A37-96DA-9696-74A8DB6E1AD2}"/>
              </a:ext>
            </a:extLst>
          </p:cNvPr>
          <p:cNvSpPr txBox="1"/>
          <p:nvPr/>
        </p:nvSpPr>
        <p:spPr>
          <a:xfrm>
            <a:off x="0" y="1175782"/>
            <a:ext cx="6099716" cy="523220"/>
          </a:xfrm>
          <a:prstGeom prst="rect">
            <a:avLst/>
          </a:prstGeom>
          <a:noFill/>
        </p:spPr>
        <p:txBody>
          <a:bodyPr wrap="square">
            <a:spAutoFit/>
          </a:bodyPr>
          <a:lstStyle/>
          <a:p>
            <a:pPr>
              <a:buNone/>
            </a:pPr>
            <a:r>
              <a:rPr lang="en-US" sz="2800" b="1" dirty="0">
                <a:latin typeface="Calibir"/>
              </a:rPr>
              <a:t>Quick Comparison</a:t>
            </a:r>
          </a:p>
        </p:txBody>
      </p:sp>
    </p:spTree>
    <p:extLst>
      <p:ext uri="{BB962C8B-B14F-4D97-AF65-F5344CB8AC3E}">
        <p14:creationId xmlns:p14="http://schemas.microsoft.com/office/powerpoint/2010/main" val="458227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3BC1BD7-4796-A64C-FF6F-65ABB394A71E}"/>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BEBB829-808D-2843-2F8D-4F48F506632C}"/>
              </a:ext>
            </a:extLst>
          </p:cNvPr>
          <p:cNvGraphicFramePr>
            <a:graphicFrameLocks noGrp="1"/>
          </p:cNvGraphicFramePr>
          <p:nvPr>
            <p:extLst>
              <p:ext uri="{D42A27DB-BD31-4B8C-83A1-F6EECF244321}">
                <p14:modId xmlns:p14="http://schemas.microsoft.com/office/powerpoint/2010/main" val="2997328611"/>
              </p:ext>
            </p:extLst>
          </p:nvPr>
        </p:nvGraphicFramePr>
        <p:xfrm>
          <a:off x="2516264" y="2103754"/>
          <a:ext cx="7300719" cy="2650492"/>
        </p:xfrm>
        <a:graphic>
          <a:graphicData uri="http://schemas.openxmlformats.org/drawingml/2006/table">
            <a:tbl>
              <a:tblPr>
                <a:tableStyleId>{ED083AE6-46FA-4A59-8FB0-9F97EB10719F}</a:tableStyleId>
              </a:tblPr>
              <a:tblGrid>
                <a:gridCol w="3353187">
                  <a:extLst>
                    <a:ext uri="{9D8B030D-6E8A-4147-A177-3AD203B41FA5}">
                      <a16:colId xmlns:a16="http://schemas.microsoft.com/office/drawing/2014/main" val="200866272"/>
                    </a:ext>
                  </a:extLst>
                </a:gridCol>
                <a:gridCol w="3947532">
                  <a:extLst>
                    <a:ext uri="{9D8B030D-6E8A-4147-A177-3AD203B41FA5}">
                      <a16:colId xmlns:a16="http://schemas.microsoft.com/office/drawing/2014/main" val="2514440023"/>
                    </a:ext>
                  </a:extLst>
                </a:gridCol>
              </a:tblGrid>
              <a:tr h="0">
                <a:tc>
                  <a:txBody>
                    <a:bodyPr/>
                    <a:lstStyle/>
                    <a:p>
                      <a:pPr>
                        <a:lnSpc>
                          <a:spcPct val="150000"/>
                        </a:lnSpc>
                        <a:buNone/>
                      </a:pPr>
                      <a:r>
                        <a:rPr lang="en-US" sz="2800" dirty="0"/>
                        <a:t>Relationship</a:t>
                      </a:r>
                      <a:endParaRPr lang="en-US" sz="2800" dirty="0">
                        <a:latin typeface="Calibir"/>
                      </a:endParaRPr>
                    </a:p>
                  </a:txBody>
                  <a:tcPr anchor="ctr"/>
                </a:tc>
                <a:tc>
                  <a:txBody>
                    <a:bodyPr/>
                    <a:lstStyle/>
                    <a:p>
                      <a:pPr>
                        <a:lnSpc>
                          <a:spcPct val="150000"/>
                        </a:lnSpc>
                        <a:buNone/>
                      </a:pPr>
                      <a:r>
                        <a:rPr lang="en-US" sz="2800" dirty="0"/>
                        <a:t>Remember this phrase</a:t>
                      </a:r>
                      <a:endParaRPr lang="en-US" sz="2800" dirty="0">
                        <a:latin typeface="Calibir"/>
                      </a:endParaRPr>
                    </a:p>
                  </a:txBody>
                  <a:tcPr anchor="ctr"/>
                </a:tc>
                <a:extLst>
                  <a:ext uri="{0D108BD9-81ED-4DB2-BD59-A6C34878D82A}">
                    <a16:rowId xmlns:a16="http://schemas.microsoft.com/office/drawing/2014/main" val="2632329196"/>
                  </a:ext>
                </a:extLst>
              </a:tr>
              <a:tr h="0">
                <a:tc>
                  <a:txBody>
                    <a:bodyPr/>
                    <a:lstStyle/>
                    <a:p>
                      <a:pPr>
                        <a:lnSpc>
                          <a:spcPct val="150000"/>
                        </a:lnSpc>
                        <a:buNone/>
                      </a:pPr>
                      <a:r>
                        <a:rPr lang="en-US" sz="2800" dirty="0"/>
                        <a:t>Association</a:t>
                      </a:r>
                      <a:endParaRPr lang="en-US" sz="2800" dirty="0">
                        <a:latin typeface="Calibir"/>
                      </a:endParaRPr>
                    </a:p>
                  </a:txBody>
                  <a:tcPr anchor="ctr"/>
                </a:tc>
                <a:tc>
                  <a:txBody>
                    <a:bodyPr/>
                    <a:lstStyle/>
                    <a:p>
                      <a:pPr>
                        <a:lnSpc>
                          <a:spcPct val="150000"/>
                        </a:lnSpc>
                        <a:buNone/>
                      </a:pPr>
                      <a:r>
                        <a:rPr lang="en-US" sz="2800" b="0" dirty="0"/>
                        <a:t>Works with</a:t>
                      </a:r>
                      <a:endParaRPr lang="en-US" sz="2800" b="0" dirty="0">
                        <a:latin typeface="Calibir"/>
                      </a:endParaRPr>
                    </a:p>
                  </a:txBody>
                  <a:tcPr anchor="ctr"/>
                </a:tc>
                <a:extLst>
                  <a:ext uri="{0D108BD9-81ED-4DB2-BD59-A6C34878D82A}">
                    <a16:rowId xmlns:a16="http://schemas.microsoft.com/office/drawing/2014/main" val="3723933557"/>
                  </a:ext>
                </a:extLst>
              </a:tr>
              <a:tr h="0">
                <a:tc>
                  <a:txBody>
                    <a:bodyPr/>
                    <a:lstStyle/>
                    <a:p>
                      <a:pPr>
                        <a:lnSpc>
                          <a:spcPct val="150000"/>
                        </a:lnSpc>
                        <a:buNone/>
                      </a:pPr>
                      <a:r>
                        <a:rPr lang="en-US" sz="2800" dirty="0"/>
                        <a:t>Aggregation</a:t>
                      </a:r>
                      <a:endParaRPr lang="en-US" sz="2800" dirty="0">
                        <a:latin typeface="Calibir"/>
                      </a:endParaRPr>
                    </a:p>
                  </a:txBody>
                  <a:tcPr anchor="ctr"/>
                </a:tc>
                <a:tc>
                  <a:txBody>
                    <a:bodyPr/>
                    <a:lstStyle/>
                    <a:p>
                      <a:pPr>
                        <a:lnSpc>
                          <a:spcPct val="150000"/>
                        </a:lnSpc>
                        <a:buNone/>
                      </a:pPr>
                      <a:r>
                        <a:rPr lang="en-US" sz="2800" b="0" dirty="0"/>
                        <a:t>Has a</a:t>
                      </a:r>
                      <a:endParaRPr lang="en-US" sz="2800" b="0" dirty="0">
                        <a:latin typeface="Calibir"/>
                      </a:endParaRPr>
                    </a:p>
                  </a:txBody>
                  <a:tcPr anchor="ctr"/>
                </a:tc>
                <a:extLst>
                  <a:ext uri="{0D108BD9-81ED-4DB2-BD59-A6C34878D82A}">
                    <a16:rowId xmlns:a16="http://schemas.microsoft.com/office/drawing/2014/main" val="3652705270"/>
                  </a:ext>
                </a:extLst>
              </a:tr>
              <a:tr h="0">
                <a:tc>
                  <a:txBody>
                    <a:bodyPr/>
                    <a:lstStyle/>
                    <a:p>
                      <a:pPr>
                        <a:lnSpc>
                          <a:spcPct val="150000"/>
                        </a:lnSpc>
                        <a:buNone/>
                      </a:pPr>
                      <a:r>
                        <a:rPr lang="en-US" sz="2800"/>
                        <a:t>Generalization</a:t>
                      </a:r>
                      <a:endParaRPr lang="en-US" sz="2800">
                        <a:latin typeface="Calibir"/>
                      </a:endParaRPr>
                    </a:p>
                  </a:txBody>
                  <a:tcPr anchor="ctr"/>
                </a:tc>
                <a:tc>
                  <a:txBody>
                    <a:bodyPr/>
                    <a:lstStyle/>
                    <a:p>
                      <a:pPr>
                        <a:lnSpc>
                          <a:spcPct val="150000"/>
                        </a:lnSpc>
                        <a:buNone/>
                      </a:pPr>
                      <a:r>
                        <a:rPr lang="en-US" sz="2800" b="0" dirty="0"/>
                        <a:t>Is a</a:t>
                      </a:r>
                      <a:endParaRPr lang="en-US" sz="2800" b="0" dirty="0">
                        <a:latin typeface="Calibir"/>
                      </a:endParaRPr>
                    </a:p>
                  </a:txBody>
                  <a:tcPr anchor="ctr"/>
                </a:tc>
                <a:extLst>
                  <a:ext uri="{0D108BD9-81ED-4DB2-BD59-A6C34878D82A}">
                    <a16:rowId xmlns:a16="http://schemas.microsoft.com/office/drawing/2014/main" val="4012632415"/>
                  </a:ext>
                </a:extLst>
              </a:tr>
            </a:tbl>
          </a:graphicData>
        </a:graphic>
      </p:graphicFrame>
      <p:sp>
        <p:nvSpPr>
          <p:cNvPr id="6" name="TextBox 5">
            <a:extLst>
              <a:ext uri="{FF2B5EF4-FFF2-40B4-BE49-F238E27FC236}">
                <a16:creationId xmlns:a16="http://schemas.microsoft.com/office/drawing/2014/main" id="{F6C05694-5BB6-AEA0-3302-CBE04674F085}"/>
              </a:ext>
            </a:extLst>
          </p:cNvPr>
          <p:cNvSpPr txBox="1"/>
          <p:nvPr/>
        </p:nvSpPr>
        <p:spPr>
          <a:xfrm>
            <a:off x="0" y="856921"/>
            <a:ext cx="6166624" cy="523220"/>
          </a:xfrm>
          <a:prstGeom prst="rect">
            <a:avLst/>
          </a:prstGeom>
          <a:noFill/>
        </p:spPr>
        <p:txBody>
          <a:bodyPr wrap="square">
            <a:spAutoFit/>
          </a:bodyPr>
          <a:lstStyle/>
          <a:p>
            <a:pPr>
              <a:buNone/>
            </a:pPr>
            <a:r>
              <a:rPr lang="en-US" sz="2800" b="1" dirty="0">
                <a:latin typeface="Calibir"/>
              </a:rPr>
              <a:t>Simple Memory Trick</a:t>
            </a:r>
          </a:p>
        </p:txBody>
      </p:sp>
    </p:spTree>
    <p:extLst>
      <p:ext uri="{BB962C8B-B14F-4D97-AF65-F5344CB8AC3E}">
        <p14:creationId xmlns:p14="http://schemas.microsoft.com/office/powerpoint/2010/main" val="10191021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BEF5C33-75BD-7FBC-A4C0-9764610F4A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52A8E3-3F2D-16D5-BB4A-7BFDDF60393C}"/>
              </a:ext>
            </a:extLst>
          </p:cNvPr>
          <p:cNvSpPr txBox="1"/>
          <p:nvPr/>
        </p:nvSpPr>
        <p:spPr>
          <a:xfrm>
            <a:off x="0" y="507751"/>
            <a:ext cx="12192000" cy="5842497"/>
          </a:xfrm>
          <a:prstGeom prst="rect">
            <a:avLst/>
          </a:prstGeom>
          <a:noFill/>
        </p:spPr>
        <p:txBody>
          <a:bodyPr wrap="square">
            <a:spAutoFit/>
          </a:bodyPr>
          <a:lstStyle/>
          <a:p>
            <a:pPr>
              <a:lnSpc>
                <a:spcPct val="150000"/>
              </a:lnSpc>
              <a:buNone/>
            </a:pPr>
            <a:r>
              <a:rPr lang="en-US" sz="2800" b="1" dirty="0">
                <a:latin typeface="Calibir"/>
              </a:rPr>
              <a:t>Q1. Which relationship should be used between Customer and Account?</a:t>
            </a:r>
          </a:p>
          <a:p>
            <a:pPr>
              <a:lnSpc>
                <a:spcPct val="150000"/>
              </a:lnSpc>
              <a:buNone/>
            </a:pPr>
            <a:r>
              <a:rPr lang="en-US" sz="2800" dirty="0">
                <a:latin typeface="Calibir"/>
              </a:rPr>
              <a:t>Association</a:t>
            </a:r>
          </a:p>
          <a:p>
            <a:pPr>
              <a:lnSpc>
                <a:spcPct val="150000"/>
              </a:lnSpc>
              <a:buNone/>
            </a:pPr>
            <a:r>
              <a:rPr lang="en-US" sz="2800" dirty="0">
                <a:latin typeface="Calibir"/>
              </a:rPr>
              <a:t>Because a customer uses or owns an account.</a:t>
            </a:r>
          </a:p>
          <a:p>
            <a:pPr>
              <a:lnSpc>
                <a:spcPct val="150000"/>
              </a:lnSpc>
              <a:buNone/>
            </a:pPr>
            <a:r>
              <a:rPr lang="en-US" sz="2800" b="1" dirty="0">
                <a:latin typeface="Calibir"/>
              </a:rPr>
              <a:t>Q2. Which relationship should be used between Branch and Customer?</a:t>
            </a:r>
          </a:p>
          <a:p>
            <a:pPr>
              <a:lnSpc>
                <a:spcPct val="150000"/>
              </a:lnSpc>
              <a:buNone/>
            </a:pPr>
            <a:r>
              <a:rPr lang="en-US" sz="2800" dirty="0">
                <a:latin typeface="Calibir"/>
              </a:rPr>
              <a:t>Aggregation</a:t>
            </a:r>
          </a:p>
          <a:p>
            <a:pPr>
              <a:lnSpc>
                <a:spcPct val="150000"/>
              </a:lnSpc>
              <a:buNone/>
            </a:pPr>
            <a:r>
              <a:rPr lang="en-US" sz="2800" dirty="0">
                <a:latin typeface="Calibir"/>
              </a:rPr>
              <a:t>A branch has many customers, but customers still exist even if the branch closes.</a:t>
            </a:r>
          </a:p>
          <a:p>
            <a:pPr>
              <a:lnSpc>
                <a:spcPct val="150000"/>
              </a:lnSpc>
              <a:buNone/>
            </a:pPr>
            <a:r>
              <a:rPr lang="en-US" sz="2800" b="1" dirty="0">
                <a:latin typeface="Calibir"/>
              </a:rPr>
              <a:t>Q3. Which relationship should be used between Manager and Employee?</a:t>
            </a:r>
          </a:p>
          <a:p>
            <a:pPr>
              <a:lnSpc>
                <a:spcPct val="150000"/>
              </a:lnSpc>
              <a:buNone/>
            </a:pPr>
            <a:r>
              <a:rPr lang="en-US" sz="2800" dirty="0">
                <a:latin typeface="Calibir"/>
              </a:rPr>
              <a:t>Generalization (Inheritance)</a:t>
            </a:r>
          </a:p>
          <a:p>
            <a:pPr>
              <a:lnSpc>
                <a:spcPct val="150000"/>
              </a:lnSpc>
              <a:buNone/>
            </a:pPr>
            <a:r>
              <a:rPr lang="en-US" sz="2800" dirty="0">
                <a:latin typeface="Calibir"/>
              </a:rPr>
              <a:t>A manager is a </a:t>
            </a:r>
            <a:r>
              <a:rPr lang="en-US" sz="2800" dirty="0" err="1">
                <a:latin typeface="Calibir"/>
              </a:rPr>
              <a:t>specialised</a:t>
            </a:r>
            <a:r>
              <a:rPr lang="en-US" sz="2800" dirty="0">
                <a:latin typeface="Calibir"/>
              </a:rPr>
              <a:t> employee.</a:t>
            </a:r>
          </a:p>
        </p:txBody>
      </p:sp>
    </p:spTree>
    <p:extLst>
      <p:ext uri="{BB962C8B-B14F-4D97-AF65-F5344CB8AC3E}">
        <p14:creationId xmlns:p14="http://schemas.microsoft.com/office/powerpoint/2010/main" val="349178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1000"/>
                                        <p:tgtEl>
                                          <p:spTgt spid="4">
                                            <p:txEl>
                                              <p:pRg st="5" end="5"/>
                                            </p:txEl>
                                          </p:spTgt>
                                        </p:tgtEl>
                                      </p:cBhvr>
                                    </p:animEffect>
                                    <p:anim calcmode="lin" valueType="num">
                                      <p:cBhvr>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1000"/>
                                        <p:tgtEl>
                                          <p:spTgt spid="4">
                                            <p:txEl>
                                              <p:pRg st="7" end="7"/>
                                            </p:txEl>
                                          </p:spTgt>
                                        </p:tgtEl>
                                      </p:cBhvr>
                                    </p:animEffect>
                                    <p:anim calcmode="lin" valueType="num">
                                      <p:cBhvr>
                                        <p:cTn id="2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1000"/>
                                        <p:tgtEl>
                                          <p:spTgt spid="4">
                                            <p:txEl>
                                              <p:pRg st="8" end="8"/>
                                            </p:txEl>
                                          </p:spTgt>
                                        </p:tgtEl>
                                      </p:cBhvr>
                                    </p:animEffect>
                                    <p:anim calcmode="lin" valueType="num">
                                      <p:cBhvr>
                                        <p:cTn id="3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A577A70-F6AD-1034-501A-A8D638D71A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7319CE-4FAB-330A-E6ED-15D5B6990559}"/>
              </a:ext>
            </a:extLst>
          </p:cNvPr>
          <p:cNvSpPr txBox="1"/>
          <p:nvPr/>
        </p:nvSpPr>
        <p:spPr>
          <a:xfrm>
            <a:off x="0" y="595307"/>
            <a:ext cx="12192000" cy="5842497"/>
          </a:xfrm>
          <a:prstGeom prst="rect">
            <a:avLst/>
          </a:prstGeom>
          <a:noFill/>
        </p:spPr>
        <p:txBody>
          <a:bodyPr wrap="square">
            <a:spAutoFit/>
          </a:bodyPr>
          <a:lstStyle/>
          <a:p>
            <a:pPr>
              <a:lnSpc>
                <a:spcPct val="150000"/>
              </a:lnSpc>
              <a:buNone/>
            </a:pPr>
            <a:r>
              <a:rPr lang="en-US" sz="2800" b="1" dirty="0">
                <a:latin typeface="Calibir"/>
              </a:rPr>
              <a:t>Q4. Which relationship should be used between Kangaroo and Animal?</a:t>
            </a:r>
          </a:p>
          <a:p>
            <a:pPr>
              <a:lnSpc>
                <a:spcPct val="150000"/>
              </a:lnSpc>
              <a:buNone/>
            </a:pPr>
            <a:r>
              <a:rPr lang="en-US" sz="2800" dirty="0">
                <a:latin typeface="Calibir"/>
              </a:rPr>
              <a:t>Generalization (Inheritance)</a:t>
            </a:r>
          </a:p>
          <a:p>
            <a:pPr>
              <a:lnSpc>
                <a:spcPct val="150000"/>
              </a:lnSpc>
              <a:buNone/>
            </a:pPr>
            <a:r>
              <a:rPr lang="en-US" sz="2800" dirty="0">
                <a:latin typeface="Calibir"/>
              </a:rPr>
              <a:t>A kangaroo is an animal.</a:t>
            </a:r>
          </a:p>
          <a:p>
            <a:pPr>
              <a:lnSpc>
                <a:spcPct val="150000"/>
              </a:lnSpc>
              <a:buNone/>
            </a:pPr>
            <a:r>
              <a:rPr lang="en-US" sz="2800" b="1" dirty="0">
                <a:latin typeface="Calibir"/>
              </a:rPr>
              <a:t>Key Takeaway</a:t>
            </a:r>
          </a:p>
          <a:p>
            <a:pPr marL="342900" lvl="0" indent="-342900">
              <a:lnSpc>
                <a:spcPct val="150000"/>
              </a:lnSpc>
              <a:buFont typeface="Arial" panose="020B0604020202020204" pitchFamily="34" charset="0"/>
              <a:buChar char="•"/>
            </a:pPr>
            <a:r>
              <a:rPr lang="en-US" sz="2800" dirty="0">
                <a:latin typeface="Calibir"/>
              </a:rPr>
              <a:t>Association → Classes work together. </a:t>
            </a:r>
          </a:p>
          <a:p>
            <a:pPr marL="342900" lvl="0" indent="-342900">
              <a:lnSpc>
                <a:spcPct val="150000"/>
              </a:lnSpc>
              <a:buFont typeface="Arial" panose="020B0604020202020204" pitchFamily="34" charset="0"/>
              <a:buChar char="•"/>
            </a:pPr>
            <a:r>
              <a:rPr lang="en-US" sz="2800" dirty="0">
                <a:latin typeface="Calibir"/>
              </a:rPr>
              <a:t>Aggregation → One class has another class, but the second class can exist independently. </a:t>
            </a:r>
          </a:p>
          <a:p>
            <a:pPr marL="342900" lvl="0" indent="-342900">
              <a:lnSpc>
                <a:spcPct val="150000"/>
              </a:lnSpc>
              <a:buFont typeface="Arial" panose="020B0604020202020204" pitchFamily="34" charset="0"/>
              <a:buChar char="•"/>
            </a:pPr>
            <a:r>
              <a:rPr lang="en-US" sz="2800" dirty="0">
                <a:latin typeface="Calibir"/>
              </a:rPr>
              <a:t>Generalization (Inheritance) → One class is a </a:t>
            </a:r>
            <a:r>
              <a:rPr lang="en-US" sz="2800" dirty="0" err="1">
                <a:latin typeface="Calibir"/>
              </a:rPr>
              <a:t>specialised</a:t>
            </a:r>
            <a:r>
              <a:rPr lang="en-US" sz="2800" dirty="0">
                <a:latin typeface="Calibir"/>
              </a:rPr>
              <a:t> version of another class and inherits its attributes and methods. </a:t>
            </a:r>
          </a:p>
        </p:txBody>
      </p:sp>
    </p:spTree>
    <p:extLst>
      <p:ext uri="{BB962C8B-B14F-4D97-AF65-F5344CB8AC3E}">
        <p14:creationId xmlns:p14="http://schemas.microsoft.com/office/powerpoint/2010/main" val="148669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arn(inVertical)">
                                      <p:cBhvr>
                                        <p:cTn id="10" dur="500"/>
                                        <p:tgtEl>
                                          <p:spTgt spid="4">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arn(inVertical)">
                                      <p:cBhvr>
                                        <p:cTn id="13" dur="500"/>
                                        <p:tgtEl>
                                          <p:spTgt spid="4">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arn(inVertical)">
                                      <p:cBhvr>
                                        <p:cTn id="16" dur="500"/>
                                        <p:tgtEl>
                                          <p:spTgt spid="4">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arn(inVertical)">
                                      <p:cBhvr>
                                        <p:cTn id="19" dur="500"/>
                                        <p:tgtEl>
                                          <p:spTgt spid="4">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arn(inVertical)">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60D2F7A-3D51-5041-E485-775798EAA1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C2E897-7442-74E7-15C6-FE97A10AE318}"/>
              </a:ext>
            </a:extLst>
          </p:cNvPr>
          <p:cNvPicPr>
            <a:picLocks noChangeAspect="1"/>
          </p:cNvPicPr>
          <p:nvPr/>
        </p:nvPicPr>
        <p:blipFill>
          <a:blip r:embed="rId3">
            <a:extLst>
              <a:ext uri="{28A0092B-C50C-407E-A947-70E740481C1C}">
                <a14:useLocalDpi xmlns:a14="http://schemas.microsoft.com/office/drawing/2010/main" val="0"/>
              </a:ext>
            </a:extLst>
          </a:blip>
          <a:srcRect l="23122" t="76381" r="53190" b="3810"/>
          <a:stretch>
            <a:fillRect/>
          </a:stretch>
        </p:blipFill>
        <p:spPr>
          <a:xfrm>
            <a:off x="1420761" y="822507"/>
            <a:ext cx="9350477" cy="5212985"/>
          </a:xfrm>
          <a:prstGeom prst="rect">
            <a:avLst/>
          </a:prstGeom>
        </p:spPr>
      </p:pic>
    </p:spTree>
    <p:extLst>
      <p:ext uri="{BB962C8B-B14F-4D97-AF65-F5344CB8AC3E}">
        <p14:creationId xmlns:p14="http://schemas.microsoft.com/office/powerpoint/2010/main" val="36846578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0D46F50-4F4B-8B89-7FE6-7B64F31117C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F4219AD-52A3-F5E1-C5AF-8CB115DF6E39}"/>
              </a:ext>
            </a:extLst>
          </p:cNvPr>
          <p:cNvPicPr>
            <a:picLocks noChangeAspect="1"/>
          </p:cNvPicPr>
          <p:nvPr/>
        </p:nvPicPr>
        <p:blipFill>
          <a:blip r:embed="rId3"/>
          <a:srcRect b="4947"/>
          <a:stretch>
            <a:fillRect/>
          </a:stretch>
        </p:blipFill>
        <p:spPr>
          <a:xfrm>
            <a:off x="1533150" y="989347"/>
            <a:ext cx="9125699" cy="4879305"/>
          </a:xfrm>
          <a:prstGeom prst="rect">
            <a:avLst/>
          </a:prstGeom>
        </p:spPr>
      </p:pic>
      <p:sp>
        <p:nvSpPr>
          <p:cNvPr id="7" name="TextBox 6">
            <a:extLst>
              <a:ext uri="{FF2B5EF4-FFF2-40B4-BE49-F238E27FC236}">
                <a16:creationId xmlns:a16="http://schemas.microsoft.com/office/drawing/2014/main" id="{FA277178-3905-535F-6FAD-5D518B95EBF1}"/>
              </a:ext>
            </a:extLst>
          </p:cNvPr>
          <p:cNvSpPr txBox="1"/>
          <p:nvPr/>
        </p:nvSpPr>
        <p:spPr>
          <a:xfrm>
            <a:off x="0" y="265471"/>
            <a:ext cx="9202993" cy="523220"/>
          </a:xfrm>
          <a:prstGeom prst="rect">
            <a:avLst/>
          </a:prstGeom>
          <a:noFill/>
        </p:spPr>
        <p:txBody>
          <a:bodyPr wrap="square" rtlCol="0">
            <a:spAutoFit/>
          </a:bodyPr>
          <a:lstStyle/>
          <a:p>
            <a:r>
              <a:rPr lang="en-US" sz="2800" dirty="0">
                <a:latin typeface="Calibir"/>
              </a:rPr>
              <a:t>Alternative tool: Visual Paradigm Community Edition</a:t>
            </a:r>
          </a:p>
        </p:txBody>
      </p:sp>
    </p:spTree>
    <p:extLst>
      <p:ext uri="{BB962C8B-B14F-4D97-AF65-F5344CB8AC3E}">
        <p14:creationId xmlns:p14="http://schemas.microsoft.com/office/powerpoint/2010/main" val="11801036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DE3C499-1B05-CF11-70F2-1B8B6B26CAB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435B9B2-35DB-80E1-2CB3-9A46941AA0D9}"/>
              </a:ext>
            </a:extLst>
          </p:cNvPr>
          <p:cNvSpPr txBox="1"/>
          <p:nvPr/>
        </p:nvSpPr>
        <p:spPr>
          <a:xfrm>
            <a:off x="0" y="265471"/>
            <a:ext cx="9202993" cy="523220"/>
          </a:xfrm>
          <a:prstGeom prst="rect">
            <a:avLst/>
          </a:prstGeom>
          <a:noFill/>
        </p:spPr>
        <p:txBody>
          <a:bodyPr wrap="square" rtlCol="0">
            <a:spAutoFit/>
          </a:bodyPr>
          <a:lstStyle/>
          <a:p>
            <a:r>
              <a:rPr lang="en-US" sz="2800" dirty="0">
                <a:latin typeface="Calibir"/>
              </a:rPr>
              <a:t>Alternative tool: Visual Paradigm Community Edition</a:t>
            </a:r>
          </a:p>
        </p:txBody>
      </p:sp>
      <p:pic>
        <p:nvPicPr>
          <p:cNvPr id="3" name="Picture 2">
            <a:extLst>
              <a:ext uri="{FF2B5EF4-FFF2-40B4-BE49-F238E27FC236}">
                <a16:creationId xmlns:a16="http://schemas.microsoft.com/office/drawing/2014/main" id="{5083D9E4-74DD-20A6-D512-E213D37B0702}"/>
              </a:ext>
            </a:extLst>
          </p:cNvPr>
          <p:cNvPicPr>
            <a:picLocks noChangeAspect="1"/>
          </p:cNvPicPr>
          <p:nvPr/>
        </p:nvPicPr>
        <p:blipFill>
          <a:blip r:embed="rId3"/>
          <a:srcRect r="20427" b="62276"/>
          <a:stretch>
            <a:fillRect/>
          </a:stretch>
        </p:blipFill>
        <p:spPr>
          <a:xfrm>
            <a:off x="0" y="1803399"/>
            <a:ext cx="12192000" cy="3251202"/>
          </a:xfrm>
          <a:prstGeom prst="rect">
            <a:avLst/>
          </a:prstGeom>
        </p:spPr>
      </p:pic>
    </p:spTree>
    <p:extLst>
      <p:ext uri="{BB962C8B-B14F-4D97-AF65-F5344CB8AC3E}">
        <p14:creationId xmlns:p14="http://schemas.microsoft.com/office/powerpoint/2010/main" val="3276470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5AD422F-8F1E-FC3E-002E-00EA8A17B64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FAA3E76-8DA3-CD44-369F-780B7DB229B1}"/>
              </a:ext>
            </a:extLst>
          </p:cNvPr>
          <p:cNvSpPr txBox="1"/>
          <p:nvPr/>
        </p:nvSpPr>
        <p:spPr>
          <a:xfrm>
            <a:off x="0" y="265471"/>
            <a:ext cx="9202993" cy="523220"/>
          </a:xfrm>
          <a:prstGeom prst="rect">
            <a:avLst/>
          </a:prstGeom>
          <a:noFill/>
        </p:spPr>
        <p:txBody>
          <a:bodyPr wrap="square" rtlCol="0">
            <a:spAutoFit/>
          </a:bodyPr>
          <a:lstStyle/>
          <a:p>
            <a:r>
              <a:rPr lang="en-US" sz="2800" dirty="0">
                <a:latin typeface="Calibir"/>
              </a:rPr>
              <a:t>Alternative tool: Visual Paradigm Community Edition</a:t>
            </a:r>
          </a:p>
        </p:txBody>
      </p:sp>
      <p:pic>
        <p:nvPicPr>
          <p:cNvPr id="3" name="Picture 2">
            <a:extLst>
              <a:ext uri="{FF2B5EF4-FFF2-40B4-BE49-F238E27FC236}">
                <a16:creationId xmlns:a16="http://schemas.microsoft.com/office/drawing/2014/main" id="{788823C4-DAB0-E63D-5116-254724D3BDB3}"/>
              </a:ext>
            </a:extLst>
          </p:cNvPr>
          <p:cNvPicPr>
            <a:picLocks noChangeAspect="1"/>
          </p:cNvPicPr>
          <p:nvPr/>
        </p:nvPicPr>
        <p:blipFill>
          <a:blip r:embed="rId3">
            <a:extLst>
              <a:ext uri="{28A0092B-C50C-407E-A947-70E740481C1C}">
                <a14:useLocalDpi xmlns:a14="http://schemas.microsoft.com/office/drawing/2010/main" val="0"/>
              </a:ext>
            </a:extLst>
          </a:blip>
          <a:srcRect l="57629" t="77059" r="1296" b="4855"/>
          <a:stretch>
            <a:fillRect/>
          </a:stretch>
        </p:blipFill>
        <p:spPr>
          <a:xfrm>
            <a:off x="0" y="1639482"/>
            <a:ext cx="12192000" cy="3579036"/>
          </a:xfrm>
          <a:prstGeom prst="rect">
            <a:avLst/>
          </a:prstGeom>
        </p:spPr>
      </p:pic>
    </p:spTree>
    <p:extLst>
      <p:ext uri="{BB962C8B-B14F-4D97-AF65-F5344CB8AC3E}">
        <p14:creationId xmlns:p14="http://schemas.microsoft.com/office/powerpoint/2010/main" val="36714578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F9776A9-7A42-DFE1-1DAA-73AFEC2AA64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466991B-74A3-1051-4024-DC85D9027591}"/>
              </a:ext>
            </a:extLst>
          </p:cNvPr>
          <p:cNvPicPr>
            <a:picLocks noChangeAspect="1"/>
          </p:cNvPicPr>
          <p:nvPr/>
        </p:nvPicPr>
        <p:blipFill>
          <a:blip r:embed="rId3">
            <a:extLst>
              <a:ext uri="{28A0092B-C50C-407E-A947-70E740481C1C}">
                <a14:useLocalDpi xmlns:a14="http://schemas.microsoft.com/office/drawing/2010/main" val="0"/>
              </a:ext>
            </a:extLst>
          </a:blip>
          <a:srcRect l="19792" t="22439" r="3676" b="53171"/>
          <a:stretch>
            <a:fillRect/>
          </a:stretch>
        </p:blipFill>
        <p:spPr>
          <a:xfrm>
            <a:off x="0" y="1418904"/>
            <a:ext cx="11532093" cy="2450161"/>
          </a:xfrm>
          <a:prstGeom prst="rect">
            <a:avLst/>
          </a:prstGeom>
        </p:spPr>
      </p:pic>
      <p:sp>
        <p:nvSpPr>
          <p:cNvPr id="5" name="TextBox 4">
            <a:extLst>
              <a:ext uri="{FF2B5EF4-FFF2-40B4-BE49-F238E27FC236}">
                <a16:creationId xmlns:a16="http://schemas.microsoft.com/office/drawing/2014/main" id="{B3270786-B09B-E1B1-3A7A-43BA2108D53F}"/>
              </a:ext>
            </a:extLst>
          </p:cNvPr>
          <p:cNvSpPr txBox="1"/>
          <p:nvPr/>
        </p:nvSpPr>
        <p:spPr>
          <a:xfrm>
            <a:off x="0" y="0"/>
            <a:ext cx="12192000" cy="1318181"/>
          </a:xfrm>
          <a:prstGeom prst="rect">
            <a:avLst/>
          </a:prstGeom>
          <a:noFill/>
        </p:spPr>
        <p:txBody>
          <a:bodyPr wrap="square">
            <a:spAutoFit/>
          </a:bodyPr>
          <a:lstStyle/>
          <a:p>
            <a:pPr>
              <a:lnSpc>
                <a:spcPct val="150000"/>
              </a:lnSpc>
              <a:buNone/>
            </a:pPr>
            <a:r>
              <a:rPr lang="en-AU" sz="2800" b="1" dirty="0">
                <a:latin typeface="Calibir"/>
              </a:rPr>
              <a:t>Partial UML Class Diagram – Group Design Challenge</a:t>
            </a:r>
          </a:p>
          <a:p>
            <a:pPr>
              <a:lnSpc>
                <a:spcPct val="150000"/>
              </a:lnSpc>
              <a:buNone/>
            </a:pPr>
            <a:r>
              <a:rPr lang="en-AU" sz="2800" dirty="0">
                <a:latin typeface="Calibir"/>
              </a:rPr>
              <a:t>Complete the classes and critically review the proposed relationships.</a:t>
            </a:r>
          </a:p>
        </p:txBody>
      </p:sp>
      <p:sp>
        <p:nvSpPr>
          <p:cNvPr id="9" name="TextBox 8">
            <a:extLst>
              <a:ext uri="{FF2B5EF4-FFF2-40B4-BE49-F238E27FC236}">
                <a16:creationId xmlns:a16="http://schemas.microsoft.com/office/drawing/2014/main" id="{C545DB8D-F670-C353-B71A-D5417D9EB5F9}"/>
              </a:ext>
            </a:extLst>
          </p:cNvPr>
          <p:cNvSpPr txBox="1"/>
          <p:nvPr/>
        </p:nvSpPr>
        <p:spPr>
          <a:xfrm>
            <a:off x="63623" y="3701274"/>
            <a:ext cx="12064754" cy="3254417"/>
          </a:xfrm>
          <a:prstGeom prst="rect">
            <a:avLst/>
          </a:prstGeom>
          <a:noFill/>
        </p:spPr>
        <p:txBody>
          <a:bodyPr wrap="square">
            <a:spAutoFit/>
          </a:bodyPr>
          <a:lstStyle/>
          <a:p>
            <a:pPr>
              <a:lnSpc>
                <a:spcPct val="150000"/>
              </a:lnSpc>
            </a:pPr>
            <a:r>
              <a:rPr lang="en-AU" sz="2800" dirty="0">
                <a:latin typeface="Calibir"/>
              </a:rPr>
              <a:t>This diagram is intentionally incomplete, and some relationships may need to be changed or removed. Do not assume that everything shown is correct. Use the </a:t>
            </a:r>
            <a:r>
              <a:rPr lang="en-AU" sz="2800" dirty="0" err="1">
                <a:latin typeface="Calibir"/>
              </a:rPr>
              <a:t>DeskBankApp</a:t>
            </a:r>
            <a:r>
              <a:rPr lang="en-AU" sz="2800" dirty="0">
                <a:latin typeface="Calibir"/>
              </a:rPr>
              <a:t> requirements to justify your design decisions.</a:t>
            </a:r>
          </a:p>
          <a:p>
            <a:pPr>
              <a:lnSpc>
                <a:spcPct val="150000"/>
              </a:lnSpc>
            </a:pPr>
            <a:r>
              <a:rPr lang="en-AU" sz="2800" dirty="0">
                <a:latin typeface="Calibir"/>
              </a:rPr>
              <a:t>Your task is not only to fill in the class boxes. You must also decide whether each class, relationship and multiplicity is justified.</a:t>
            </a:r>
          </a:p>
        </p:txBody>
      </p:sp>
    </p:spTree>
    <p:extLst>
      <p:ext uri="{BB962C8B-B14F-4D97-AF65-F5344CB8AC3E}">
        <p14:creationId xmlns:p14="http://schemas.microsoft.com/office/powerpoint/2010/main" val="30049080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88AD994-FAA8-614E-014A-D3D7B7D3B00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E01A666-D909-D714-A19F-AB5C52ACA130}"/>
              </a:ext>
            </a:extLst>
          </p:cNvPr>
          <p:cNvSpPr txBox="1"/>
          <p:nvPr/>
        </p:nvSpPr>
        <p:spPr>
          <a:xfrm>
            <a:off x="0" y="0"/>
            <a:ext cx="12192000" cy="6488828"/>
          </a:xfrm>
          <a:prstGeom prst="rect">
            <a:avLst/>
          </a:prstGeom>
          <a:noFill/>
        </p:spPr>
        <p:txBody>
          <a:bodyPr wrap="square">
            <a:spAutoFit/>
          </a:bodyPr>
          <a:lstStyle/>
          <a:p>
            <a:pPr>
              <a:lnSpc>
                <a:spcPct val="150000"/>
              </a:lnSpc>
              <a:buNone/>
            </a:pPr>
            <a:r>
              <a:rPr lang="en-AU" sz="2800" b="1" dirty="0">
                <a:latin typeface="Calibir"/>
              </a:rPr>
              <a:t>Your Group Task — 10–15 Minutes</a:t>
            </a:r>
          </a:p>
          <a:p>
            <a:pPr>
              <a:lnSpc>
                <a:spcPct val="150000"/>
              </a:lnSpc>
              <a:buNone/>
            </a:pPr>
            <a:r>
              <a:rPr lang="en-AU" sz="2800" dirty="0">
                <a:latin typeface="Calibir"/>
              </a:rPr>
              <a:t>Using the partial UML class diagram and the </a:t>
            </a:r>
            <a:r>
              <a:rPr lang="en-AU" sz="2800" dirty="0" err="1">
                <a:latin typeface="Calibir"/>
              </a:rPr>
              <a:t>DeskBankApp</a:t>
            </a:r>
            <a:r>
              <a:rPr lang="en-AU" sz="2800" dirty="0">
                <a:latin typeface="Calibir"/>
              </a:rPr>
              <a:t> requirements, work with your group to:</a:t>
            </a:r>
          </a:p>
          <a:p>
            <a:pPr marL="457200" indent="-457200">
              <a:lnSpc>
                <a:spcPct val="150000"/>
              </a:lnSpc>
              <a:buFont typeface="Arial" panose="020B0604020202020204" pitchFamily="34" charset="0"/>
              <a:buChar char="•"/>
            </a:pPr>
            <a:r>
              <a:rPr lang="en-AU" sz="2800" dirty="0">
                <a:latin typeface="Calibir"/>
              </a:rPr>
              <a:t>Add suitable attributes and data types to each class. </a:t>
            </a:r>
          </a:p>
          <a:p>
            <a:pPr marL="457200" indent="-457200">
              <a:lnSpc>
                <a:spcPct val="150000"/>
              </a:lnSpc>
              <a:buFont typeface="Arial" panose="020B0604020202020204" pitchFamily="34" charset="0"/>
              <a:buChar char="•"/>
            </a:pPr>
            <a:r>
              <a:rPr lang="en-AU" sz="2800" dirty="0">
                <a:latin typeface="Calibir"/>
              </a:rPr>
              <a:t>Add appropriate operations (methods), including parameters and return types where needed. </a:t>
            </a:r>
          </a:p>
          <a:p>
            <a:pPr marL="457200" indent="-457200">
              <a:lnSpc>
                <a:spcPct val="150000"/>
              </a:lnSpc>
              <a:buFont typeface="Arial" panose="020B0604020202020204" pitchFamily="34" charset="0"/>
              <a:buChar char="•"/>
            </a:pPr>
            <a:r>
              <a:rPr lang="en-AU" sz="2800" dirty="0">
                <a:latin typeface="Calibir"/>
              </a:rPr>
              <a:t>Apply UML visibility symbols: </a:t>
            </a:r>
          </a:p>
          <a:p>
            <a:pPr marL="742950" lvl="1" indent="-285750">
              <a:lnSpc>
                <a:spcPct val="150000"/>
              </a:lnSpc>
              <a:buFont typeface="Arial" panose="020B0604020202020204" pitchFamily="34" charset="0"/>
              <a:buChar char="•"/>
            </a:pPr>
            <a:r>
              <a:rPr lang="en-AU" sz="2800" dirty="0">
                <a:latin typeface="Calibir"/>
              </a:rPr>
              <a:t>- private </a:t>
            </a:r>
          </a:p>
          <a:p>
            <a:pPr marL="742950" lvl="1" indent="-285750">
              <a:lnSpc>
                <a:spcPct val="150000"/>
              </a:lnSpc>
              <a:buFont typeface="Arial" panose="020B0604020202020204" pitchFamily="34" charset="0"/>
              <a:buChar char="•"/>
            </a:pPr>
            <a:r>
              <a:rPr lang="en-AU" sz="2800" dirty="0">
                <a:latin typeface="Calibir"/>
              </a:rPr>
              <a:t>+ public </a:t>
            </a:r>
          </a:p>
          <a:p>
            <a:pPr marL="742950" lvl="1" indent="-285750">
              <a:lnSpc>
                <a:spcPct val="150000"/>
              </a:lnSpc>
              <a:buFont typeface="Arial" panose="020B0604020202020204" pitchFamily="34" charset="0"/>
              <a:buChar char="•"/>
            </a:pPr>
            <a:r>
              <a:rPr lang="en-AU" sz="2800" dirty="0">
                <a:latin typeface="Calibir"/>
              </a:rPr>
              <a:t># protected </a:t>
            </a:r>
          </a:p>
        </p:txBody>
      </p:sp>
    </p:spTree>
    <p:extLst>
      <p:ext uri="{BB962C8B-B14F-4D97-AF65-F5344CB8AC3E}">
        <p14:creationId xmlns:p14="http://schemas.microsoft.com/office/powerpoint/2010/main" val="9790669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2055603-1773-FD33-DE51-6F9E5DDEF43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9319C4-8E76-5CD3-F1A7-8B1C02AA0E9D}"/>
              </a:ext>
            </a:extLst>
          </p:cNvPr>
          <p:cNvSpPr txBox="1"/>
          <p:nvPr/>
        </p:nvSpPr>
        <p:spPr>
          <a:xfrm>
            <a:off x="0" y="184586"/>
            <a:ext cx="12192000" cy="6488828"/>
          </a:xfrm>
          <a:prstGeom prst="rect">
            <a:avLst/>
          </a:prstGeom>
          <a:noFill/>
        </p:spPr>
        <p:txBody>
          <a:bodyPr wrap="square">
            <a:spAutoFit/>
          </a:bodyPr>
          <a:lstStyle/>
          <a:p>
            <a:pPr marL="714375" indent="-457200">
              <a:lnSpc>
                <a:spcPct val="150000"/>
              </a:lnSpc>
              <a:buFont typeface="Arial" panose="020B0604020202020204" pitchFamily="34" charset="0"/>
              <a:buChar char="•"/>
            </a:pPr>
            <a:r>
              <a:rPr lang="en-AU" sz="2800" dirty="0">
                <a:latin typeface="Calibir"/>
              </a:rPr>
              <a:t>Review the proposed relationships and decide whether any should be added, changed, or removed. </a:t>
            </a:r>
          </a:p>
          <a:p>
            <a:pPr marL="714375" indent="-457200">
              <a:lnSpc>
                <a:spcPct val="150000"/>
              </a:lnSpc>
              <a:buFont typeface="Arial" panose="020B0604020202020204" pitchFamily="34" charset="0"/>
              <a:buChar char="•"/>
            </a:pPr>
            <a:r>
              <a:rPr lang="en-AU" sz="2800" dirty="0">
                <a:latin typeface="Calibir"/>
              </a:rPr>
              <a:t>Add suitable multiplicities, such as 1, 0..*, or 1..*. </a:t>
            </a:r>
          </a:p>
          <a:p>
            <a:pPr marL="714375" indent="-457200">
              <a:lnSpc>
                <a:spcPct val="150000"/>
              </a:lnSpc>
              <a:buFont typeface="Arial" panose="020B0604020202020204" pitchFamily="34" charset="0"/>
              <a:buChar char="•"/>
            </a:pPr>
            <a:r>
              <a:rPr lang="en-AU" sz="2800" dirty="0">
                <a:latin typeface="Calibir"/>
              </a:rPr>
              <a:t>Check that every design decision is supported by the requirements. </a:t>
            </a:r>
          </a:p>
          <a:p>
            <a:pPr>
              <a:lnSpc>
                <a:spcPct val="150000"/>
              </a:lnSpc>
            </a:pPr>
            <a:r>
              <a:rPr lang="en-AU" sz="2800" b="1" dirty="0">
                <a:latin typeface="Calibir"/>
              </a:rPr>
              <a:t>Be ready to explain</a:t>
            </a:r>
          </a:p>
          <a:p>
            <a:pPr marL="714375" indent="-457200">
              <a:lnSpc>
                <a:spcPct val="150000"/>
              </a:lnSpc>
              <a:buFont typeface="Arial" panose="020B0604020202020204" pitchFamily="34" charset="0"/>
              <a:buChar char="•"/>
            </a:pPr>
            <a:r>
              <a:rPr lang="en-AU" sz="2800" dirty="0">
                <a:latin typeface="Calibir"/>
              </a:rPr>
              <a:t>Why you selected each class. </a:t>
            </a:r>
          </a:p>
          <a:p>
            <a:pPr marL="714375" indent="-457200">
              <a:lnSpc>
                <a:spcPct val="150000"/>
              </a:lnSpc>
              <a:buFont typeface="Arial" panose="020B0604020202020204" pitchFamily="34" charset="0"/>
              <a:buChar char="•"/>
            </a:pPr>
            <a:r>
              <a:rPr lang="en-AU" sz="2800" dirty="0">
                <a:latin typeface="Calibir"/>
              </a:rPr>
              <a:t>Why each attribute and method belongs in that class. </a:t>
            </a:r>
          </a:p>
          <a:p>
            <a:pPr marL="714375" indent="-457200">
              <a:lnSpc>
                <a:spcPct val="150000"/>
              </a:lnSpc>
              <a:buFont typeface="Arial" panose="020B0604020202020204" pitchFamily="34" charset="0"/>
              <a:buChar char="•"/>
            </a:pPr>
            <a:r>
              <a:rPr lang="en-AU" sz="2800" dirty="0">
                <a:latin typeface="Calibir"/>
              </a:rPr>
              <a:t>Why each relationship and multiplicity is appropriate. </a:t>
            </a:r>
          </a:p>
          <a:p>
            <a:pPr marL="714375" indent="-457200">
              <a:lnSpc>
                <a:spcPct val="150000"/>
              </a:lnSpc>
              <a:buFont typeface="Arial" panose="020B0604020202020204" pitchFamily="34" charset="0"/>
              <a:buChar char="•"/>
            </a:pPr>
            <a:r>
              <a:rPr lang="en-AU" sz="2800" dirty="0">
                <a:latin typeface="Calibir"/>
              </a:rPr>
              <a:t>There may be more than one acceptable design, but your decisions must be clearly justified.</a:t>
            </a:r>
          </a:p>
        </p:txBody>
      </p:sp>
    </p:spTree>
    <p:extLst>
      <p:ext uri="{BB962C8B-B14F-4D97-AF65-F5344CB8AC3E}">
        <p14:creationId xmlns:p14="http://schemas.microsoft.com/office/powerpoint/2010/main" val="40283003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02B1279-92B4-2979-F70B-F090D8C199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51298DB-4F56-28B6-D265-358D8466E3BA}"/>
              </a:ext>
            </a:extLst>
          </p:cNvPr>
          <p:cNvSpPr txBox="1"/>
          <p:nvPr/>
        </p:nvSpPr>
        <p:spPr>
          <a:xfrm>
            <a:off x="-1" y="147173"/>
            <a:ext cx="9733935" cy="553998"/>
          </a:xfrm>
          <a:prstGeom prst="rect">
            <a:avLst/>
          </a:prstGeom>
          <a:noFill/>
        </p:spPr>
        <p:txBody>
          <a:bodyPr wrap="square">
            <a:spAutoFit/>
          </a:bodyPr>
          <a:lstStyle/>
          <a:p>
            <a:r>
              <a:rPr lang="en-US" sz="3000" b="1" dirty="0">
                <a:latin typeface="Calibir"/>
              </a:rPr>
              <a:t>Worked Example: UML Class Diagram for </a:t>
            </a:r>
            <a:r>
              <a:rPr lang="en-US" sz="3000" b="1" dirty="0" err="1">
                <a:latin typeface="Calibir"/>
              </a:rPr>
              <a:t>DeskBankApp</a:t>
            </a:r>
            <a:endParaRPr lang="en-US" sz="3000" b="1" dirty="0">
              <a:latin typeface="Calibir"/>
            </a:endParaRPr>
          </a:p>
        </p:txBody>
      </p:sp>
      <p:pic>
        <p:nvPicPr>
          <p:cNvPr id="3" name="Picture 2" descr="A UML diagram illustrating the relationships between entities like Customer, Account, Transaction, Employee, and Branch, showing their attributes and operations.&#10;&#10;AI-generated content may be incorrect.">
            <a:extLst>
              <a:ext uri="{FF2B5EF4-FFF2-40B4-BE49-F238E27FC236}">
                <a16:creationId xmlns:a16="http://schemas.microsoft.com/office/drawing/2014/main" id="{32FFC2B0-AA8D-EEBD-4A67-7269D6C4EC0D}"/>
              </a:ext>
            </a:extLst>
          </p:cNvPr>
          <p:cNvPicPr>
            <a:picLocks noChangeAspect="1"/>
          </p:cNvPicPr>
          <p:nvPr/>
        </p:nvPicPr>
        <p:blipFill>
          <a:blip r:embed="rId3">
            <a:extLst>
              <a:ext uri="{28A0092B-C50C-407E-A947-70E740481C1C}">
                <a14:useLocalDpi xmlns:a14="http://schemas.microsoft.com/office/drawing/2010/main" val="0"/>
              </a:ext>
            </a:extLst>
          </a:blip>
          <a:srcRect l="1410" t="7208" r="1724"/>
          <a:stretch>
            <a:fillRect/>
          </a:stretch>
        </p:blipFill>
        <p:spPr>
          <a:xfrm>
            <a:off x="1532877" y="882637"/>
            <a:ext cx="9126245" cy="5828190"/>
          </a:xfrm>
          <a:prstGeom prst="rect">
            <a:avLst/>
          </a:prstGeom>
          <a:ln>
            <a:solidFill>
              <a:srgbClr val="7030A0"/>
            </a:solidFill>
          </a:ln>
        </p:spPr>
      </p:pic>
    </p:spTree>
    <p:extLst>
      <p:ext uri="{BB962C8B-B14F-4D97-AF65-F5344CB8AC3E}">
        <p14:creationId xmlns:p14="http://schemas.microsoft.com/office/powerpoint/2010/main" val="7691178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8C6E1F8-265C-411F-9ADD-CF1DF2C0C7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7A7595-E00E-28D4-3ADD-B1AB21E62887}"/>
              </a:ext>
            </a:extLst>
          </p:cNvPr>
          <p:cNvSpPr txBox="1"/>
          <p:nvPr/>
        </p:nvSpPr>
        <p:spPr>
          <a:xfrm>
            <a:off x="1860" y="-66906"/>
            <a:ext cx="6094140" cy="7112845"/>
          </a:xfrm>
          <a:prstGeom prst="rect">
            <a:avLst/>
          </a:prstGeom>
          <a:noFill/>
        </p:spPr>
        <p:txBody>
          <a:bodyPr wrap="square">
            <a:spAutoFit/>
          </a:bodyPr>
          <a:lstStyle/>
          <a:p>
            <a:pPr>
              <a:lnSpc>
                <a:spcPct val="150000"/>
              </a:lnSpc>
              <a:buNone/>
            </a:pPr>
            <a:r>
              <a:rPr lang="en-US" b="1" dirty="0">
                <a:latin typeface="Calibir"/>
              </a:rPr>
              <a:t>Customer Class</a:t>
            </a:r>
          </a:p>
          <a:p>
            <a:pPr>
              <a:lnSpc>
                <a:spcPct val="150000"/>
              </a:lnSpc>
              <a:buNone/>
            </a:pPr>
            <a:r>
              <a:rPr lang="en-US" b="1" dirty="0">
                <a:latin typeface="Calibir"/>
              </a:rPr>
              <a:t>Question) What does the Customer class represent?</a:t>
            </a:r>
            <a:endParaRPr lang="en-US" dirty="0">
              <a:latin typeface="Calibir"/>
            </a:endParaRPr>
          </a:p>
          <a:p>
            <a:pPr>
              <a:lnSpc>
                <a:spcPct val="150000"/>
              </a:lnSpc>
              <a:buNone/>
            </a:pPr>
            <a:r>
              <a:rPr lang="en-US" dirty="0">
                <a:latin typeface="Calibir"/>
              </a:rPr>
              <a:t>The Customer class stores information about each bank customer.</a:t>
            </a:r>
          </a:p>
          <a:p>
            <a:pPr>
              <a:lnSpc>
                <a:spcPct val="150000"/>
              </a:lnSpc>
              <a:buNone/>
            </a:pPr>
            <a:r>
              <a:rPr lang="en-US" dirty="0">
                <a:latin typeface="Calibir"/>
              </a:rPr>
              <a:t>Attributes (Data)</a:t>
            </a:r>
          </a:p>
          <a:p>
            <a:pPr marL="342900" lvl="0" indent="-342900">
              <a:lnSpc>
                <a:spcPct val="150000"/>
              </a:lnSpc>
              <a:buFont typeface="Arial" panose="020B0604020202020204" pitchFamily="34" charset="0"/>
              <a:buChar char="•"/>
            </a:pPr>
            <a:r>
              <a:rPr lang="en-US" dirty="0" err="1">
                <a:latin typeface="Calibir"/>
              </a:rPr>
              <a:t>customerId</a:t>
            </a:r>
            <a:r>
              <a:rPr lang="en-US" dirty="0">
                <a:latin typeface="Calibir"/>
              </a:rPr>
              <a:t> </a:t>
            </a:r>
          </a:p>
          <a:p>
            <a:pPr marL="342900" lvl="0" indent="-342900">
              <a:lnSpc>
                <a:spcPct val="150000"/>
              </a:lnSpc>
              <a:buFont typeface="Arial" panose="020B0604020202020204" pitchFamily="34" charset="0"/>
              <a:buChar char="•"/>
            </a:pPr>
            <a:r>
              <a:rPr lang="en-US" dirty="0" err="1">
                <a:latin typeface="Calibir"/>
              </a:rPr>
              <a:t>fullName</a:t>
            </a:r>
            <a:r>
              <a:rPr lang="en-US" dirty="0">
                <a:latin typeface="Calibir"/>
              </a:rPr>
              <a:t> </a:t>
            </a:r>
          </a:p>
          <a:p>
            <a:pPr marL="342900" lvl="0" indent="-342900">
              <a:lnSpc>
                <a:spcPct val="150000"/>
              </a:lnSpc>
              <a:buFont typeface="Arial" panose="020B0604020202020204" pitchFamily="34" charset="0"/>
              <a:buChar char="•"/>
            </a:pPr>
            <a:r>
              <a:rPr lang="en-US" dirty="0">
                <a:latin typeface="Calibir"/>
              </a:rPr>
              <a:t>email </a:t>
            </a:r>
          </a:p>
          <a:p>
            <a:pPr marL="342900" lvl="0" indent="-342900">
              <a:lnSpc>
                <a:spcPct val="150000"/>
              </a:lnSpc>
              <a:buFont typeface="Arial" panose="020B0604020202020204" pitchFamily="34" charset="0"/>
              <a:buChar char="•"/>
            </a:pPr>
            <a:r>
              <a:rPr lang="en-US" dirty="0">
                <a:latin typeface="Calibir"/>
              </a:rPr>
              <a:t>phone </a:t>
            </a:r>
          </a:p>
          <a:p>
            <a:pPr>
              <a:lnSpc>
                <a:spcPct val="150000"/>
              </a:lnSpc>
              <a:buNone/>
            </a:pPr>
            <a:r>
              <a:rPr lang="en-US" dirty="0">
                <a:latin typeface="Calibir"/>
              </a:rPr>
              <a:t>These attributes describe a customer.</a:t>
            </a:r>
          </a:p>
          <a:p>
            <a:pPr>
              <a:lnSpc>
                <a:spcPct val="150000"/>
              </a:lnSpc>
              <a:buNone/>
            </a:pPr>
            <a:r>
              <a:rPr lang="en-US" dirty="0">
                <a:latin typeface="Calibir"/>
              </a:rPr>
              <a:t>Operations (Methods)</a:t>
            </a:r>
          </a:p>
          <a:p>
            <a:pPr marL="342900" lvl="0" indent="-342900">
              <a:lnSpc>
                <a:spcPct val="150000"/>
              </a:lnSpc>
              <a:buFont typeface="Arial" panose="020B0604020202020204" pitchFamily="34" charset="0"/>
              <a:buChar char="•"/>
            </a:pPr>
            <a:r>
              <a:rPr lang="en-US" dirty="0">
                <a:latin typeface="Calibir"/>
              </a:rPr>
              <a:t>login() </a:t>
            </a:r>
          </a:p>
          <a:p>
            <a:pPr marL="342900" lvl="0" indent="-342900">
              <a:lnSpc>
                <a:spcPct val="150000"/>
              </a:lnSpc>
              <a:buFont typeface="Arial" panose="020B0604020202020204" pitchFamily="34" charset="0"/>
              <a:buChar char="•"/>
            </a:pPr>
            <a:r>
              <a:rPr lang="en-US" dirty="0" err="1">
                <a:latin typeface="Calibir"/>
              </a:rPr>
              <a:t>viewAccounts</a:t>
            </a:r>
            <a:r>
              <a:rPr lang="en-US" dirty="0">
                <a:latin typeface="Calibir"/>
              </a:rPr>
              <a:t>() </a:t>
            </a:r>
          </a:p>
          <a:p>
            <a:pPr marL="342900" lvl="0" indent="-342900">
              <a:lnSpc>
                <a:spcPct val="150000"/>
              </a:lnSpc>
              <a:buFont typeface="Arial" panose="020B0604020202020204" pitchFamily="34" charset="0"/>
              <a:buChar char="•"/>
            </a:pPr>
            <a:r>
              <a:rPr lang="en-US" dirty="0" err="1">
                <a:latin typeface="Calibir"/>
              </a:rPr>
              <a:t>makeDeposit</a:t>
            </a:r>
            <a:r>
              <a:rPr lang="en-US" dirty="0">
                <a:latin typeface="Calibir"/>
              </a:rPr>
              <a:t>() </a:t>
            </a:r>
          </a:p>
          <a:p>
            <a:pPr marL="342900" lvl="0" indent="-342900">
              <a:lnSpc>
                <a:spcPct val="150000"/>
              </a:lnSpc>
              <a:buFont typeface="Arial" panose="020B0604020202020204" pitchFamily="34" charset="0"/>
              <a:buChar char="•"/>
            </a:pPr>
            <a:r>
              <a:rPr lang="en-US" dirty="0">
                <a:latin typeface="Calibir"/>
              </a:rPr>
              <a:t>pay() </a:t>
            </a:r>
          </a:p>
          <a:p>
            <a:pPr marL="342900" lvl="0" indent="-342900">
              <a:lnSpc>
                <a:spcPct val="150000"/>
              </a:lnSpc>
              <a:buFont typeface="Arial" panose="020B0604020202020204" pitchFamily="34" charset="0"/>
              <a:buChar char="•"/>
            </a:pPr>
            <a:r>
              <a:rPr lang="en-US" dirty="0">
                <a:latin typeface="Calibir"/>
              </a:rPr>
              <a:t>withdraw() </a:t>
            </a:r>
          </a:p>
          <a:p>
            <a:pPr>
              <a:lnSpc>
                <a:spcPct val="150000"/>
              </a:lnSpc>
              <a:buNone/>
            </a:pPr>
            <a:r>
              <a:rPr lang="en-US" dirty="0">
                <a:latin typeface="Calibir"/>
              </a:rPr>
              <a:t>These methods describe what a customer can do.</a:t>
            </a:r>
          </a:p>
        </p:txBody>
      </p:sp>
    </p:spTree>
    <p:extLst>
      <p:ext uri="{BB962C8B-B14F-4D97-AF65-F5344CB8AC3E}">
        <p14:creationId xmlns:p14="http://schemas.microsoft.com/office/powerpoint/2010/main" val="257463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1000"/>
                                        <p:tgtEl>
                                          <p:spTgt spid="3">
                                            <p:txEl>
                                              <p:pRg st="8" end="8"/>
                                            </p:txEl>
                                          </p:spTgt>
                                        </p:tgtEl>
                                      </p:cBhvr>
                                    </p:animEffect>
                                    <p:anim calcmode="lin" valueType="num">
                                      <p:cBhvr>
                                        <p:cTn id="3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1000"/>
                                        <p:tgtEl>
                                          <p:spTgt spid="3">
                                            <p:txEl>
                                              <p:pRg st="10" end="10"/>
                                            </p:txEl>
                                          </p:spTgt>
                                        </p:tgtEl>
                                      </p:cBhvr>
                                    </p:animEffect>
                                    <p:anim calcmode="lin" valueType="num">
                                      <p:cBhvr>
                                        <p:cTn id="4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1000"/>
                                        <p:tgtEl>
                                          <p:spTgt spid="3">
                                            <p:txEl>
                                              <p:pRg st="11" end="11"/>
                                            </p:txEl>
                                          </p:spTgt>
                                        </p:tgtEl>
                                      </p:cBhvr>
                                    </p:animEffect>
                                    <p:anim calcmode="lin" valueType="num">
                                      <p:cBhvr>
                                        <p:cTn id="5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1000"/>
                                        <p:tgtEl>
                                          <p:spTgt spid="3">
                                            <p:txEl>
                                              <p:pRg st="12" end="12"/>
                                            </p:txEl>
                                          </p:spTgt>
                                        </p:tgtEl>
                                      </p:cBhvr>
                                    </p:animEffect>
                                    <p:anim calcmode="lin" valueType="num">
                                      <p:cBhvr>
                                        <p:cTn id="5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1000"/>
                                        <p:tgtEl>
                                          <p:spTgt spid="3">
                                            <p:txEl>
                                              <p:pRg st="13" end="13"/>
                                            </p:txEl>
                                          </p:spTgt>
                                        </p:tgtEl>
                                      </p:cBhvr>
                                    </p:animEffect>
                                    <p:anim calcmode="lin" valueType="num">
                                      <p:cBhvr>
                                        <p:cTn id="63"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fade">
                                      <p:cBhvr>
                                        <p:cTn id="67" dur="1000"/>
                                        <p:tgtEl>
                                          <p:spTgt spid="3">
                                            <p:txEl>
                                              <p:pRg st="14" end="14"/>
                                            </p:txEl>
                                          </p:spTgt>
                                        </p:tgtEl>
                                      </p:cBhvr>
                                    </p:animEffect>
                                    <p:anim calcmode="lin" valueType="num">
                                      <p:cBhvr>
                                        <p:cTn id="6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
                                            <p:txEl>
                                              <p:pRg st="15" end="15"/>
                                            </p:txEl>
                                          </p:spTgt>
                                        </p:tgtEl>
                                        <p:attrNameLst>
                                          <p:attrName>style.visibility</p:attrName>
                                        </p:attrNameLst>
                                      </p:cBhvr>
                                      <p:to>
                                        <p:strVal val="visible"/>
                                      </p:to>
                                    </p:set>
                                    <p:animEffect transition="in" filter="fade">
                                      <p:cBhvr>
                                        <p:cTn id="72" dur="1000"/>
                                        <p:tgtEl>
                                          <p:spTgt spid="3">
                                            <p:txEl>
                                              <p:pRg st="15" end="15"/>
                                            </p:txEl>
                                          </p:spTgt>
                                        </p:tgtEl>
                                      </p:cBhvr>
                                    </p:animEffect>
                                    <p:anim calcmode="lin" valueType="num">
                                      <p:cBhvr>
                                        <p:cTn id="73"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DB9E2C9-F93B-7348-039A-88A8F0DEA6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8482F4-B59A-A1C3-1751-A6CF21747179}"/>
              </a:ext>
            </a:extLst>
          </p:cNvPr>
          <p:cNvSpPr txBox="1"/>
          <p:nvPr/>
        </p:nvSpPr>
        <p:spPr>
          <a:xfrm>
            <a:off x="0" y="918472"/>
            <a:ext cx="6094140" cy="5205720"/>
          </a:xfrm>
          <a:prstGeom prst="rect">
            <a:avLst/>
          </a:prstGeom>
          <a:noFill/>
        </p:spPr>
        <p:txBody>
          <a:bodyPr wrap="square">
            <a:spAutoFit/>
          </a:bodyPr>
          <a:lstStyle/>
          <a:p>
            <a:pPr>
              <a:lnSpc>
                <a:spcPct val="150000"/>
              </a:lnSpc>
              <a:buNone/>
            </a:pPr>
            <a:r>
              <a:rPr lang="en-US" sz="2800" b="1" dirty="0">
                <a:latin typeface="Calibir"/>
              </a:rPr>
              <a:t>Which of these are data?</a:t>
            </a:r>
            <a:endParaRPr lang="en-US" sz="2800" dirty="0">
              <a:latin typeface="Calibir"/>
            </a:endParaRPr>
          </a:p>
          <a:p>
            <a:pPr marL="342900" lvl="0" indent="-342900">
              <a:lnSpc>
                <a:spcPct val="150000"/>
              </a:lnSpc>
              <a:buFont typeface="Arial" panose="020B0604020202020204" pitchFamily="34" charset="0"/>
              <a:buChar char="•"/>
            </a:pPr>
            <a:r>
              <a:rPr lang="en-US" sz="2400" dirty="0" err="1">
                <a:latin typeface="Calibir"/>
              </a:rPr>
              <a:t>customerId</a:t>
            </a:r>
            <a:r>
              <a:rPr lang="en-US" sz="2400" dirty="0">
                <a:latin typeface="Calibir"/>
              </a:rPr>
              <a:t> </a:t>
            </a:r>
          </a:p>
          <a:p>
            <a:pPr marL="342900" lvl="0" indent="-342900">
              <a:lnSpc>
                <a:spcPct val="150000"/>
              </a:lnSpc>
              <a:buFont typeface="Arial" panose="020B0604020202020204" pitchFamily="34" charset="0"/>
              <a:buChar char="•"/>
            </a:pPr>
            <a:r>
              <a:rPr lang="en-US" sz="2400" dirty="0" err="1">
                <a:latin typeface="Calibir"/>
              </a:rPr>
              <a:t>fullName</a:t>
            </a:r>
            <a:r>
              <a:rPr lang="en-US" sz="2400" dirty="0">
                <a:latin typeface="Calibir"/>
              </a:rPr>
              <a:t> </a:t>
            </a:r>
          </a:p>
          <a:p>
            <a:pPr marL="342900" lvl="0" indent="-342900">
              <a:lnSpc>
                <a:spcPct val="150000"/>
              </a:lnSpc>
              <a:buFont typeface="Arial" panose="020B0604020202020204" pitchFamily="34" charset="0"/>
              <a:buChar char="•"/>
            </a:pPr>
            <a:r>
              <a:rPr lang="en-US" sz="2400" dirty="0">
                <a:latin typeface="Calibir"/>
              </a:rPr>
              <a:t>email </a:t>
            </a:r>
          </a:p>
          <a:p>
            <a:pPr marL="342900" lvl="0" indent="-342900">
              <a:lnSpc>
                <a:spcPct val="150000"/>
              </a:lnSpc>
              <a:buFont typeface="Arial" panose="020B0604020202020204" pitchFamily="34" charset="0"/>
              <a:buChar char="•"/>
            </a:pPr>
            <a:r>
              <a:rPr lang="en-US" sz="2400" dirty="0">
                <a:latin typeface="Calibir"/>
              </a:rPr>
              <a:t>phone </a:t>
            </a:r>
          </a:p>
          <a:p>
            <a:pPr>
              <a:lnSpc>
                <a:spcPct val="150000"/>
              </a:lnSpc>
              <a:buNone/>
            </a:pPr>
            <a:r>
              <a:rPr lang="en-US" sz="2800" b="1" dirty="0">
                <a:latin typeface="Calibir"/>
              </a:rPr>
              <a:t>Which are actions?</a:t>
            </a:r>
            <a:endParaRPr lang="en-US" sz="2800" dirty="0">
              <a:latin typeface="Calibir"/>
            </a:endParaRPr>
          </a:p>
          <a:p>
            <a:pPr marL="342900" lvl="0" indent="-342900">
              <a:lnSpc>
                <a:spcPct val="150000"/>
              </a:lnSpc>
              <a:buFont typeface="Arial" panose="020B0604020202020204" pitchFamily="34" charset="0"/>
              <a:buChar char="•"/>
            </a:pPr>
            <a:r>
              <a:rPr lang="en-US" sz="2400" dirty="0">
                <a:latin typeface="Calibir"/>
              </a:rPr>
              <a:t>login() </a:t>
            </a:r>
          </a:p>
          <a:p>
            <a:pPr marL="342900" lvl="0" indent="-342900">
              <a:lnSpc>
                <a:spcPct val="150000"/>
              </a:lnSpc>
              <a:buFont typeface="Arial" panose="020B0604020202020204" pitchFamily="34" charset="0"/>
              <a:buChar char="•"/>
            </a:pPr>
            <a:r>
              <a:rPr lang="en-US" sz="2400" dirty="0">
                <a:latin typeface="Calibir"/>
              </a:rPr>
              <a:t>withdraw() </a:t>
            </a:r>
          </a:p>
          <a:p>
            <a:pPr marL="342900" lvl="0" indent="-342900">
              <a:lnSpc>
                <a:spcPct val="150000"/>
              </a:lnSpc>
              <a:buFont typeface="Arial" panose="020B0604020202020204" pitchFamily="34" charset="0"/>
              <a:buChar char="•"/>
            </a:pPr>
            <a:r>
              <a:rPr lang="en-US" sz="2400" dirty="0">
                <a:latin typeface="Calibir"/>
              </a:rPr>
              <a:t>deposit() </a:t>
            </a:r>
          </a:p>
        </p:txBody>
      </p:sp>
    </p:spTree>
    <p:extLst>
      <p:ext uri="{BB962C8B-B14F-4D97-AF65-F5344CB8AC3E}">
        <p14:creationId xmlns:p14="http://schemas.microsoft.com/office/powerpoint/2010/main" val="207802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B5BF3C5-AE8F-946D-164A-9BC46A88AD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30B37D-3ACE-EAC3-0E71-CBA369A4C41A}"/>
              </a:ext>
            </a:extLst>
          </p:cNvPr>
          <p:cNvSpPr txBox="1"/>
          <p:nvPr/>
        </p:nvSpPr>
        <p:spPr>
          <a:xfrm>
            <a:off x="0" y="89213"/>
            <a:ext cx="12192000" cy="6918689"/>
          </a:xfrm>
          <a:prstGeom prst="rect">
            <a:avLst/>
          </a:prstGeom>
          <a:noFill/>
        </p:spPr>
        <p:txBody>
          <a:bodyPr wrap="square">
            <a:spAutoFit/>
          </a:bodyPr>
          <a:lstStyle/>
          <a:p>
            <a:pPr>
              <a:lnSpc>
                <a:spcPct val="150000"/>
              </a:lnSpc>
              <a:buNone/>
            </a:pPr>
            <a:r>
              <a:rPr lang="en-US" sz="2800" b="1" dirty="0">
                <a:latin typeface="Calibir"/>
              </a:rPr>
              <a:t>2. Account Class</a:t>
            </a:r>
          </a:p>
          <a:p>
            <a:pPr>
              <a:lnSpc>
                <a:spcPct val="150000"/>
              </a:lnSpc>
              <a:buNone/>
            </a:pPr>
            <a:r>
              <a:rPr lang="en-US" sz="2800" b="1" dirty="0">
                <a:latin typeface="Calibir"/>
              </a:rPr>
              <a:t>Question) Why do we need an Account class?</a:t>
            </a:r>
            <a:endParaRPr lang="en-US" sz="2800" dirty="0">
              <a:latin typeface="Calibir"/>
            </a:endParaRPr>
          </a:p>
          <a:p>
            <a:pPr>
              <a:lnSpc>
                <a:spcPct val="150000"/>
              </a:lnSpc>
              <a:buNone/>
            </a:pPr>
            <a:r>
              <a:rPr lang="en-US" sz="2200" dirty="0">
                <a:latin typeface="Calibir"/>
              </a:rPr>
              <a:t>A customer can own one or more bank accounts.</a:t>
            </a:r>
          </a:p>
          <a:p>
            <a:pPr>
              <a:lnSpc>
                <a:spcPct val="150000"/>
              </a:lnSpc>
              <a:buNone/>
            </a:pPr>
            <a:r>
              <a:rPr lang="en-US" sz="2200" dirty="0">
                <a:latin typeface="Calibir"/>
              </a:rPr>
              <a:t>The Account class stores information about each account.</a:t>
            </a:r>
          </a:p>
          <a:p>
            <a:pPr>
              <a:lnSpc>
                <a:spcPct val="150000"/>
              </a:lnSpc>
              <a:buNone/>
            </a:pPr>
            <a:r>
              <a:rPr lang="en-US" sz="2200" b="1" dirty="0">
                <a:latin typeface="Calibir"/>
              </a:rPr>
              <a:t>Attributes</a:t>
            </a:r>
          </a:p>
          <a:p>
            <a:pPr marL="342900" lvl="0" indent="-342900">
              <a:lnSpc>
                <a:spcPct val="150000"/>
              </a:lnSpc>
              <a:buFont typeface="Arial" panose="020B0604020202020204" pitchFamily="34" charset="0"/>
              <a:buChar char="•"/>
            </a:pPr>
            <a:r>
              <a:rPr lang="en-US" sz="2200" dirty="0" err="1">
                <a:latin typeface="Calibir"/>
              </a:rPr>
              <a:t>accountId</a:t>
            </a:r>
            <a:r>
              <a:rPr lang="en-US" sz="2200" dirty="0">
                <a:latin typeface="Calibir"/>
              </a:rPr>
              <a:t> </a:t>
            </a:r>
          </a:p>
          <a:p>
            <a:pPr marL="342900" lvl="0" indent="-342900">
              <a:lnSpc>
                <a:spcPct val="150000"/>
              </a:lnSpc>
              <a:buFont typeface="Arial" panose="020B0604020202020204" pitchFamily="34" charset="0"/>
              <a:buChar char="•"/>
            </a:pPr>
            <a:r>
              <a:rPr lang="en-US" sz="2200" dirty="0" err="1">
                <a:latin typeface="Calibir"/>
              </a:rPr>
              <a:t>accountNumber</a:t>
            </a:r>
            <a:r>
              <a:rPr lang="en-US" sz="2200" dirty="0">
                <a:latin typeface="Calibir"/>
              </a:rPr>
              <a:t> </a:t>
            </a:r>
          </a:p>
          <a:p>
            <a:pPr marL="342900" lvl="0" indent="-342900">
              <a:lnSpc>
                <a:spcPct val="150000"/>
              </a:lnSpc>
              <a:buFont typeface="Arial" panose="020B0604020202020204" pitchFamily="34" charset="0"/>
              <a:buChar char="•"/>
            </a:pPr>
            <a:r>
              <a:rPr lang="en-US" sz="2200" dirty="0" err="1">
                <a:latin typeface="Calibir"/>
              </a:rPr>
              <a:t>accountType</a:t>
            </a:r>
            <a:r>
              <a:rPr lang="en-US" sz="2200" dirty="0">
                <a:latin typeface="Calibir"/>
              </a:rPr>
              <a:t> </a:t>
            </a:r>
          </a:p>
          <a:p>
            <a:pPr marL="342900" lvl="0" indent="-342900">
              <a:lnSpc>
                <a:spcPct val="150000"/>
              </a:lnSpc>
              <a:buFont typeface="Arial" panose="020B0604020202020204" pitchFamily="34" charset="0"/>
              <a:buChar char="•"/>
            </a:pPr>
            <a:r>
              <a:rPr lang="en-US" sz="2200" dirty="0">
                <a:latin typeface="Calibir"/>
              </a:rPr>
              <a:t>balance </a:t>
            </a:r>
          </a:p>
          <a:p>
            <a:pPr>
              <a:lnSpc>
                <a:spcPct val="150000"/>
              </a:lnSpc>
              <a:buNone/>
            </a:pPr>
            <a:r>
              <a:rPr lang="en-US" sz="2200" b="1" dirty="0">
                <a:latin typeface="Calibir"/>
              </a:rPr>
              <a:t>Methods</a:t>
            </a:r>
          </a:p>
          <a:p>
            <a:pPr marL="342900" lvl="0" indent="-342900">
              <a:lnSpc>
                <a:spcPct val="150000"/>
              </a:lnSpc>
              <a:buFont typeface="Arial" panose="020B0604020202020204" pitchFamily="34" charset="0"/>
              <a:buChar char="•"/>
            </a:pPr>
            <a:r>
              <a:rPr lang="en-US" sz="2200" dirty="0">
                <a:latin typeface="Calibir"/>
              </a:rPr>
              <a:t>deposit() </a:t>
            </a:r>
          </a:p>
          <a:p>
            <a:pPr marL="342900" lvl="0" indent="-342900">
              <a:lnSpc>
                <a:spcPct val="150000"/>
              </a:lnSpc>
              <a:buFont typeface="Arial" panose="020B0604020202020204" pitchFamily="34" charset="0"/>
              <a:buChar char="•"/>
            </a:pPr>
            <a:r>
              <a:rPr lang="en-US" sz="2200" dirty="0">
                <a:latin typeface="Calibir"/>
              </a:rPr>
              <a:t>withdraw() </a:t>
            </a:r>
          </a:p>
          <a:p>
            <a:pPr marL="342900" lvl="0" indent="-342900">
              <a:lnSpc>
                <a:spcPct val="150000"/>
              </a:lnSpc>
              <a:buFont typeface="Arial" panose="020B0604020202020204" pitchFamily="34" charset="0"/>
              <a:buChar char="•"/>
            </a:pPr>
            <a:r>
              <a:rPr lang="en-US" sz="2200" dirty="0" err="1">
                <a:latin typeface="Calibir"/>
              </a:rPr>
              <a:t>getBalance</a:t>
            </a:r>
            <a:r>
              <a:rPr lang="en-US" sz="2200" dirty="0">
                <a:latin typeface="Calibir"/>
              </a:rPr>
              <a:t>()</a:t>
            </a:r>
            <a:endParaRPr lang="en-US" sz="2800" dirty="0">
              <a:latin typeface="Calibir"/>
            </a:endParaRPr>
          </a:p>
        </p:txBody>
      </p:sp>
    </p:spTree>
    <p:extLst>
      <p:ext uri="{BB962C8B-B14F-4D97-AF65-F5344CB8AC3E}">
        <p14:creationId xmlns:p14="http://schemas.microsoft.com/office/powerpoint/2010/main" val="124755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1000"/>
                                        <p:tgtEl>
                                          <p:spTgt spid="3">
                                            <p:txEl>
                                              <p:pRg st="8" end="8"/>
                                            </p:txEl>
                                          </p:spTgt>
                                        </p:tgtEl>
                                      </p:cBhvr>
                                    </p:animEffect>
                                    <p:anim calcmode="lin" valueType="num">
                                      <p:cBhvr>
                                        <p:cTn id="3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1000"/>
                                        <p:tgtEl>
                                          <p:spTgt spid="3">
                                            <p:txEl>
                                              <p:pRg st="10" end="10"/>
                                            </p:txEl>
                                          </p:spTgt>
                                        </p:tgtEl>
                                      </p:cBhvr>
                                    </p:animEffect>
                                    <p:anim calcmode="lin" valueType="num">
                                      <p:cBhvr>
                                        <p:cTn id="4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1000"/>
                                        <p:tgtEl>
                                          <p:spTgt spid="3">
                                            <p:txEl>
                                              <p:pRg st="11" end="11"/>
                                            </p:txEl>
                                          </p:spTgt>
                                        </p:tgtEl>
                                      </p:cBhvr>
                                    </p:animEffect>
                                    <p:anim calcmode="lin" valueType="num">
                                      <p:cBhvr>
                                        <p:cTn id="5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1000"/>
                                        <p:tgtEl>
                                          <p:spTgt spid="3">
                                            <p:txEl>
                                              <p:pRg st="12" end="12"/>
                                            </p:txEl>
                                          </p:spTgt>
                                        </p:tgtEl>
                                      </p:cBhvr>
                                    </p:animEffect>
                                    <p:anim calcmode="lin" valueType="num">
                                      <p:cBhvr>
                                        <p:cTn id="5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174488D-391B-C124-2EC4-3DD41A0791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540B64-9670-07F4-08B6-58B7B4B4FD63}"/>
              </a:ext>
            </a:extLst>
          </p:cNvPr>
          <p:cNvSpPr txBox="1"/>
          <p:nvPr/>
        </p:nvSpPr>
        <p:spPr>
          <a:xfrm>
            <a:off x="0" y="-133807"/>
            <a:ext cx="12192000" cy="7161448"/>
          </a:xfrm>
          <a:prstGeom prst="rect">
            <a:avLst/>
          </a:prstGeom>
          <a:noFill/>
        </p:spPr>
        <p:txBody>
          <a:bodyPr wrap="square">
            <a:spAutoFit/>
          </a:bodyPr>
          <a:lstStyle/>
          <a:p>
            <a:pPr>
              <a:lnSpc>
                <a:spcPct val="150000"/>
              </a:lnSpc>
              <a:buNone/>
            </a:pPr>
            <a:r>
              <a:rPr lang="en-US" sz="2800" b="1" dirty="0">
                <a:latin typeface="Calibir"/>
              </a:rPr>
              <a:t>Where should the balance be stored?</a:t>
            </a:r>
            <a:endParaRPr lang="en-US" sz="2800" dirty="0">
              <a:latin typeface="Calibir"/>
            </a:endParaRPr>
          </a:p>
          <a:p>
            <a:pPr>
              <a:lnSpc>
                <a:spcPct val="150000"/>
              </a:lnSpc>
              <a:buNone/>
            </a:pPr>
            <a:r>
              <a:rPr lang="en-US" sz="2000" dirty="0">
                <a:latin typeface="Calibir"/>
              </a:rPr>
              <a:t>Inside the Account class.</a:t>
            </a:r>
          </a:p>
          <a:p>
            <a:pPr>
              <a:lnSpc>
                <a:spcPct val="150000"/>
              </a:lnSpc>
              <a:buNone/>
            </a:pPr>
            <a:r>
              <a:rPr lang="en-US" sz="2800" b="1" dirty="0">
                <a:latin typeface="Calibir"/>
              </a:rPr>
              <a:t>3. Transaction Class</a:t>
            </a:r>
          </a:p>
          <a:p>
            <a:pPr>
              <a:lnSpc>
                <a:spcPct val="150000"/>
              </a:lnSpc>
              <a:buNone/>
            </a:pPr>
            <a:r>
              <a:rPr lang="en-US" sz="2800" b="1" dirty="0">
                <a:latin typeface="Calibir"/>
              </a:rPr>
              <a:t>Question) Why do we need a Transaction class?</a:t>
            </a:r>
            <a:endParaRPr lang="en-US" sz="2800" dirty="0">
              <a:latin typeface="Calibir"/>
            </a:endParaRPr>
          </a:p>
          <a:p>
            <a:pPr>
              <a:lnSpc>
                <a:spcPct val="150000"/>
              </a:lnSpc>
              <a:buNone/>
            </a:pPr>
            <a:r>
              <a:rPr lang="en-US" sz="1700" dirty="0">
                <a:latin typeface="Calibir"/>
              </a:rPr>
              <a:t>Every banking activity should be recorded.</a:t>
            </a:r>
          </a:p>
          <a:p>
            <a:pPr>
              <a:lnSpc>
                <a:spcPct val="150000"/>
              </a:lnSpc>
              <a:buNone/>
            </a:pPr>
            <a:r>
              <a:rPr lang="en-US" sz="1700" dirty="0">
                <a:latin typeface="Calibir"/>
              </a:rPr>
              <a:t>Examples</a:t>
            </a:r>
          </a:p>
          <a:p>
            <a:pPr marL="342900" lvl="0" indent="-342900">
              <a:lnSpc>
                <a:spcPct val="150000"/>
              </a:lnSpc>
              <a:buFont typeface="Arial" panose="020B0604020202020204" pitchFamily="34" charset="0"/>
              <a:buChar char="•"/>
            </a:pPr>
            <a:r>
              <a:rPr lang="en-US" sz="1700" dirty="0">
                <a:latin typeface="Calibir"/>
              </a:rPr>
              <a:t>Deposit </a:t>
            </a:r>
          </a:p>
          <a:p>
            <a:pPr marL="342900" lvl="0" indent="-342900">
              <a:lnSpc>
                <a:spcPct val="150000"/>
              </a:lnSpc>
              <a:buFont typeface="Arial" panose="020B0604020202020204" pitchFamily="34" charset="0"/>
              <a:buChar char="•"/>
            </a:pPr>
            <a:r>
              <a:rPr lang="en-US" sz="1700" dirty="0">
                <a:latin typeface="Calibir"/>
              </a:rPr>
              <a:t>Withdrawal </a:t>
            </a:r>
          </a:p>
          <a:p>
            <a:pPr marL="342900" lvl="0" indent="-342900">
              <a:lnSpc>
                <a:spcPct val="150000"/>
              </a:lnSpc>
              <a:buFont typeface="Arial" panose="020B0604020202020204" pitchFamily="34" charset="0"/>
              <a:buChar char="•"/>
            </a:pPr>
            <a:r>
              <a:rPr lang="en-US" sz="1700" dirty="0">
                <a:latin typeface="Calibir"/>
              </a:rPr>
              <a:t>Payment </a:t>
            </a:r>
          </a:p>
          <a:p>
            <a:pPr>
              <a:lnSpc>
                <a:spcPct val="150000"/>
              </a:lnSpc>
              <a:buNone/>
            </a:pPr>
            <a:r>
              <a:rPr lang="en-US" sz="1700" dirty="0">
                <a:latin typeface="Calibir"/>
              </a:rPr>
              <a:t>The Transaction class stores these records.</a:t>
            </a:r>
          </a:p>
          <a:p>
            <a:pPr>
              <a:lnSpc>
                <a:spcPct val="150000"/>
              </a:lnSpc>
              <a:buNone/>
            </a:pPr>
            <a:r>
              <a:rPr lang="en-US" sz="1700" b="1" dirty="0">
                <a:latin typeface="Calibir"/>
              </a:rPr>
              <a:t>Attributes</a:t>
            </a:r>
          </a:p>
          <a:p>
            <a:pPr marL="342900" lvl="0" indent="-342900">
              <a:lnSpc>
                <a:spcPct val="150000"/>
              </a:lnSpc>
              <a:buFont typeface="Arial" panose="020B0604020202020204" pitchFamily="34" charset="0"/>
              <a:buChar char="•"/>
            </a:pPr>
            <a:r>
              <a:rPr lang="en-US" sz="1700" dirty="0" err="1">
                <a:latin typeface="Calibir"/>
              </a:rPr>
              <a:t>transactionId</a:t>
            </a:r>
            <a:r>
              <a:rPr lang="en-US" sz="1700" dirty="0">
                <a:latin typeface="Calibir"/>
              </a:rPr>
              <a:t> </a:t>
            </a:r>
          </a:p>
          <a:p>
            <a:pPr marL="342900" lvl="0" indent="-342900">
              <a:lnSpc>
                <a:spcPct val="150000"/>
              </a:lnSpc>
              <a:buFont typeface="Arial" panose="020B0604020202020204" pitchFamily="34" charset="0"/>
              <a:buChar char="•"/>
            </a:pPr>
            <a:r>
              <a:rPr lang="en-US" sz="1700" dirty="0">
                <a:latin typeface="Calibir"/>
              </a:rPr>
              <a:t>date </a:t>
            </a:r>
          </a:p>
          <a:p>
            <a:pPr marL="342900" lvl="0" indent="-342900">
              <a:lnSpc>
                <a:spcPct val="150000"/>
              </a:lnSpc>
              <a:buFont typeface="Arial" panose="020B0604020202020204" pitchFamily="34" charset="0"/>
              <a:buChar char="•"/>
            </a:pPr>
            <a:r>
              <a:rPr lang="en-US" sz="1700" dirty="0">
                <a:latin typeface="Calibir"/>
              </a:rPr>
              <a:t>type </a:t>
            </a:r>
          </a:p>
          <a:p>
            <a:pPr marL="342900" lvl="0" indent="-342900">
              <a:lnSpc>
                <a:spcPct val="150000"/>
              </a:lnSpc>
              <a:buFont typeface="Arial" panose="020B0604020202020204" pitchFamily="34" charset="0"/>
              <a:buChar char="•"/>
            </a:pPr>
            <a:r>
              <a:rPr lang="en-US" sz="1700" dirty="0">
                <a:latin typeface="Calibir"/>
              </a:rPr>
              <a:t>amount </a:t>
            </a:r>
          </a:p>
          <a:p>
            <a:pPr marL="342900" lvl="0" indent="-342900">
              <a:lnSpc>
                <a:spcPct val="150000"/>
              </a:lnSpc>
              <a:buFont typeface="Arial" panose="020B0604020202020204" pitchFamily="34" charset="0"/>
              <a:buChar char="•"/>
            </a:pPr>
            <a:r>
              <a:rPr lang="en-US" sz="1700" dirty="0">
                <a:latin typeface="Calibir"/>
              </a:rPr>
              <a:t>description</a:t>
            </a:r>
            <a:endParaRPr lang="en-US" sz="2800" dirty="0">
              <a:latin typeface="Calibir"/>
            </a:endParaRPr>
          </a:p>
        </p:txBody>
      </p:sp>
    </p:spTree>
    <p:extLst>
      <p:ext uri="{BB962C8B-B14F-4D97-AF65-F5344CB8AC3E}">
        <p14:creationId xmlns:p14="http://schemas.microsoft.com/office/powerpoint/2010/main" val="399868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1000"/>
                                        <p:tgtEl>
                                          <p:spTgt spid="3">
                                            <p:txEl>
                                              <p:pRg st="9" end="9"/>
                                            </p:txEl>
                                          </p:spTgt>
                                        </p:tgtEl>
                                      </p:cBhvr>
                                    </p:animEffect>
                                    <p:anim calcmode="lin" valueType="num">
                                      <p:cBhvr>
                                        <p:cTn id="3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1000"/>
                                        <p:tgtEl>
                                          <p:spTgt spid="3">
                                            <p:txEl>
                                              <p:pRg st="10" end="10"/>
                                            </p:txEl>
                                          </p:spTgt>
                                        </p:tgtEl>
                                      </p:cBhvr>
                                    </p:animEffect>
                                    <p:anim calcmode="lin" valueType="num">
                                      <p:cBhvr>
                                        <p:cTn id="3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1000"/>
                                        <p:tgtEl>
                                          <p:spTgt spid="3">
                                            <p:txEl>
                                              <p:pRg st="11" end="11"/>
                                            </p:txEl>
                                          </p:spTgt>
                                        </p:tgtEl>
                                      </p:cBhvr>
                                    </p:animEffect>
                                    <p:anim calcmode="lin" valueType="num">
                                      <p:cBhvr>
                                        <p:cTn id="4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1000"/>
                                        <p:tgtEl>
                                          <p:spTgt spid="3">
                                            <p:txEl>
                                              <p:pRg st="12" end="12"/>
                                            </p:txEl>
                                          </p:spTgt>
                                        </p:tgtEl>
                                      </p:cBhvr>
                                    </p:animEffect>
                                    <p:anim calcmode="lin" valueType="num">
                                      <p:cBhvr>
                                        <p:cTn id="4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1000"/>
                                        <p:tgtEl>
                                          <p:spTgt spid="3">
                                            <p:txEl>
                                              <p:pRg st="13" end="13"/>
                                            </p:txEl>
                                          </p:spTgt>
                                        </p:tgtEl>
                                      </p:cBhvr>
                                    </p:animEffect>
                                    <p:anim calcmode="lin" valueType="num">
                                      <p:cBhvr>
                                        <p:cTn id="53"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1000"/>
                                        <p:tgtEl>
                                          <p:spTgt spid="3">
                                            <p:txEl>
                                              <p:pRg st="14" end="14"/>
                                            </p:txEl>
                                          </p:spTgt>
                                        </p:tgtEl>
                                      </p:cBhvr>
                                    </p:animEffect>
                                    <p:anim calcmode="lin" valueType="num">
                                      <p:cBhvr>
                                        <p:cTn id="5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5" end="15"/>
                                            </p:txEl>
                                          </p:spTgt>
                                        </p:tgtEl>
                                        <p:attrNameLst>
                                          <p:attrName>style.visibility</p:attrName>
                                        </p:attrNameLst>
                                      </p:cBhvr>
                                      <p:to>
                                        <p:strVal val="visible"/>
                                      </p:to>
                                    </p:set>
                                    <p:animEffect transition="in" filter="fade">
                                      <p:cBhvr>
                                        <p:cTn id="62" dur="1000"/>
                                        <p:tgtEl>
                                          <p:spTgt spid="3">
                                            <p:txEl>
                                              <p:pRg st="15" end="15"/>
                                            </p:txEl>
                                          </p:spTgt>
                                        </p:tgtEl>
                                      </p:cBhvr>
                                    </p:animEffect>
                                    <p:anim calcmode="lin" valueType="num">
                                      <p:cBhvr>
                                        <p:cTn id="63"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 end="1"/>
                                            </p:txEl>
                                          </p:spTgt>
                                        </p:tgtEl>
                                        <p:attrNameLst>
                                          <p:attrName>style.visibility</p:attrName>
                                        </p:attrNameLst>
                                      </p:cBhvr>
                                      <p:to>
                                        <p:strVal val="visible"/>
                                      </p:to>
                                    </p:set>
                                    <p:animEffect transition="in" filter="fade">
                                      <p:cBhvr>
                                        <p:cTn id="67" dur="1000"/>
                                        <p:tgtEl>
                                          <p:spTgt spid="3">
                                            <p:txEl>
                                              <p:pRg st="1" end="1"/>
                                            </p:txEl>
                                          </p:spTgt>
                                        </p:tgtEl>
                                      </p:cBhvr>
                                    </p:animEffect>
                                    <p:anim calcmode="lin" valueType="num">
                                      <p:cBhvr>
                                        <p:cTn id="6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46DAF6E-B64E-D7FB-8D0A-8BD5D506AF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C5715C-E9C3-E831-62CC-0666CE31404C}"/>
              </a:ext>
            </a:extLst>
          </p:cNvPr>
          <p:cNvSpPr txBox="1"/>
          <p:nvPr/>
        </p:nvSpPr>
        <p:spPr>
          <a:xfrm>
            <a:off x="0" y="-133807"/>
            <a:ext cx="12192000" cy="5842497"/>
          </a:xfrm>
          <a:prstGeom prst="rect">
            <a:avLst/>
          </a:prstGeom>
          <a:noFill/>
        </p:spPr>
        <p:txBody>
          <a:bodyPr wrap="square">
            <a:spAutoFit/>
          </a:bodyPr>
          <a:lstStyle/>
          <a:p>
            <a:pPr>
              <a:lnSpc>
                <a:spcPct val="150000"/>
              </a:lnSpc>
              <a:buNone/>
            </a:pPr>
            <a:r>
              <a:rPr lang="en-US" sz="2800" b="1" dirty="0">
                <a:latin typeface="Calibir"/>
              </a:rPr>
              <a:t>Can one account have many transactions?</a:t>
            </a:r>
            <a:endParaRPr lang="en-US" sz="2800" dirty="0">
              <a:latin typeface="Calibir"/>
            </a:endParaRPr>
          </a:p>
          <a:p>
            <a:pPr>
              <a:lnSpc>
                <a:spcPct val="150000"/>
              </a:lnSpc>
              <a:buNone/>
            </a:pPr>
            <a:r>
              <a:rPr lang="en-US" sz="2800" dirty="0">
                <a:latin typeface="Calibir"/>
              </a:rPr>
              <a:t>Yes.</a:t>
            </a:r>
          </a:p>
          <a:p>
            <a:pPr>
              <a:lnSpc>
                <a:spcPct val="150000"/>
              </a:lnSpc>
              <a:buNone/>
            </a:pPr>
            <a:r>
              <a:rPr lang="en-US" sz="2800" b="1" dirty="0">
                <a:latin typeface="Calibir"/>
              </a:rPr>
              <a:t>4. Employee Class</a:t>
            </a:r>
          </a:p>
          <a:p>
            <a:pPr>
              <a:lnSpc>
                <a:spcPct val="150000"/>
              </a:lnSpc>
              <a:buNone/>
            </a:pPr>
            <a:r>
              <a:rPr lang="en-US" sz="2800" b="1" dirty="0">
                <a:latin typeface="Calibir"/>
              </a:rPr>
              <a:t>Question) Why is Employee a separate class?</a:t>
            </a:r>
            <a:endParaRPr lang="en-US" sz="2800" dirty="0">
              <a:latin typeface="Calibir"/>
            </a:endParaRPr>
          </a:p>
          <a:p>
            <a:pPr>
              <a:lnSpc>
                <a:spcPct val="150000"/>
              </a:lnSpc>
              <a:buNone/>
            </a:pPr>
            <a:r>
              <a:rPr lang="en-US" sz="2800" dirty="0">
                <a:latin typeface="Calibir"/>
              </a:rPr>
              <a:t>Employees use the system differently from customers.</a:t>
            </a:r>
          </a:p>
          <a:p>
            <a:pPr>
              <a:lnSpc>
                <a:spcPct val="150000"/>
              </a:lnSpc>
              <a:buNone/>
            </a:pPr>
            <a:r>
              <a:rPr lang="en-US" sz="2800" dirty="0">
                <a:latin typeface="Calibir"/>
              </a:rPr>
              <a:t>Employees can</a:t>
            </a:r>
          </a:p>
          <a:p>
            <a:pPr marL="342900" lvl="0" indent="-342900">
              <a:lnSpc>
                <a:spcPct val="150000"/>
              </a:lnSpc>
              <a:buFont typeface="Arial" panose="020B0604020202020204" pitchFamily="34" charset="0"/>
              <a:buChar char="•"/>
            </a:pPr>
            <a:r>
              <a:rPr lang="en-US" sz="2800" dirty="0">
                <a:latin typeface="Calibir"/>
              </a:rPr>
              <a:t>log in </a:t>
            </a:r>
          </a:p>
          <a:p>
            <a:pPr marL="342900" lvl="0" indent="-342900">
              <a:lnSpc>
                <a:spcPct val="150000"/>
              </a:lnSpc>
              <a:buFont typeface="Arial" panose="020B0604020202020204" pitchFamily="34" charset="0"/>
              <a:buChar char="•"/>
            </a:pPr>
            <a:r>
              <a:rPr lang="en-US" sz="2800" dirty="0">
                <a:latin typeface="Calibir"/>
              </a:rPr>
              <a:t>log out </a:t>
            </a:r>
          </a:p>
          <a:p>
            <a:pPr>
              <a:lnSpc>
                <a:spcPct val="150000"/>
              </a:lnSpc>
              <a:buNone/>
            </a:pPr>
            <a:r>
              <a:rPr lang="en-US" sz="2800" dirty="0">
                <a:latin typeface="Calibir"/>
              </a:rPr>
              <a:t>The Employee class stores employee information.</a:t>
            </a:r>
          </a:p>
        </p:txBody>
      </p:sp>
    </p:spTree>
    <p:extLst>
      <p:ext uri="{BB962C8B-B14F-4D97-AF65-F5344CB8AC3E}">
        <p14:creationId xmlns:p14="http://schemas.microsoft.com/office/powerpoint/2010/main" val="423743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1000"/>
                                        <p:tgtEl>
                                          <p:spTgt spid="3">
                                            <p:txEl>
                                              <p:pRg st="1" end="1"/>
                                            </p:txEl>
                                          </p:spTgt>
                                        </p:tgtEl>
                                      </p:cBhvr>
                                    </p:animEffect>
                                    <p:anim calcmode="lin" valueType="num">
                                      <p:cBhvr>
                                        <p:cTn id="3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56E9635-ADE5-FBBC-528A-A035F414B0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B39C84-BC02-705A-6272-D328B9DAE26F}"/>
              </a:ext>
            </a:extLst>
          </p:cNvPr>
          <p:cNvSpPr txBox="1"/>
          <p:nvPr/>
        </p:nvSpPr>
        <p:spPr>
          <a:xfrm>
            <a:off x="0" y="-133807"/>
            <a:ext cx="12192000" cy="5196166"/>
          </a:xfrm>
          <a:prstGeom prst="rect">
            <a:avLst/>
          </a:prstGeom>
          <a:noFill/>
        </p:spPr>
        <p:txBody>
          <a:bodyPr wrap="square">
            <a:spAutoFit/>
          </a:bodyPr>
          <a:lstStyle/>
          <a:p>
            <a:pPr>
              <a:lnSpc>
                <a:spcPct val="150000"/>
              </a:lnSpc>
              <a:buNone/>
            </a:pPr>
            <a:r>
              <a:rPr lang="en-US" sz="2800" b="1" dirty="0">
                <a:latin typeface="Calibir"/>
              </a:rPr>
              <a:t>5. Manager Class</a:t>
            </a:r>
          </a:p>
          <a:p>
            <a:pPr>
              <a:lnSpc>
                <a:spcPct val="150000"/>
              </a:lnSpc>
              <a:buNone/>
            </a:pPr>
            <a:r>
              <a:rPr lang="en-US" sz="2800" b="1" dirty="0">
                <a:latin typeface="Calibir"/>
              </a:rPr>
              <a:t>Question) What is special about the Manager class?</a:t>
            </a:r>
            <a:endParaRPr lang="en-US" sz="2800" dirty="0">
              <a:latin typeface="Calibir"/>
            </a:endParaRPr>
          </a:p>
          <a:p>
            <a:pPr>
              <a:lnSpc>
                <a:spcPct val="150000"/>
              </a:lnSpc>
              <a:buNone/>
            </a:pPr>
            <a:r>
              <a:rPr lang="en-US" sz="2800" dirty="0">
                <a:latin typeface="Calibir"/>
              </a:rPr>
              <a:t>A manager is a </a:t>
            </a:r>
            <a:r>
              <a:rPr lang="en-US" sz="2800" dirty="0" err="1">
                <a:latin typeface="Calibir"/>
              </a:rPr>
              <a:t>specialised</a:t>
            </a:r>
            <a:r>
              <a:rPr lang="en-US" sz="2800" dirty="0">
                <a:latin typeface="Calibir"/>
              </a:rPr>
              <a:t> employee.</a:t>
            </a:r>
          </a:p>
          <a:p>
            <a:pPr>
              <a:lnSpc>
                <a:spcPct val="150000"/>
              </a:lnSpc>
              <a:buNone/>
            </a:pPr>
            <a:r>
              <a:rPr lang="en-US" sz="2800" dirty="0">
                <a:latin typeface="Calibir"/>
              </a:rPr>
              <a:t>Managers can</a:t>
            </a:r>
          </a:p>
          <a:p>
            <a:pPr marL="342900" lvl="0" indent="-342900">
              <a:lnSpc>
                <a:spcPct val="150000"/>
              </a:lnSpc>
              <a:buFont typeface="Arial" panose="020B0604020202020204" pitchFamily="34" charset="0"/>
              <a:buChar char="•"/>
            </a:pPr>
            <a:r>
              <a:rPr lang="en-US" sz="2800" dirty="0">
                <a:latin typeface="Calibir"/>
              </a:rPr>
              <a:t>View all customers </a:t>
            </a:r>
          </a:p>
          <a:p>
            <a:pPr marL="342900" lvl="0" indent="-342900">
              <a:lnSpc>
                <a:spcPct val="150000"/>
              </a:lnSpc>
              <a:buFont typeface="Arial" panose="020B0604020202020204" pitchFamily="34" charset="0"/>
              <a:buChar char="•"/>
            </a:pPr>
            <a:r>
              <a:rPr lang="en-US" sz="2800" dirty="0">
                <a:latin typeface="Calibir"/>
              </a:rPr>
              <a:t>Add customers </a:t>
            </a:r>
          </a:p>
          <a:p>
            <a:pPr marL="342900" lvl="0" indent="-342900">
              <a:lnSpc>
                <a:spcPct val="150000"/>
              </a:lnSpc>
              <a:buFont typeface="Arial" panose="020B0604020202020204" pitchFamily="34" charset="0"/>
              <a:buChar char="•"/>
            </a:pPr>
            <a:r>
              <a:rPr lang="en-US" sz="2800" dirty="0">
                <a:latin typeface="Calibir"/>
              </a:rPr>
              <a:t>Remove customers </a:t>
            </a:r>
          </a:p>
          <a:p>
            <a:pPr>
              <a:lnSpc>
                <a:spcPct val="150000"/>
              </a:lnSpc>
              <a:buNone/>
            </a:pPr>
            <a:r>
              <a:rPr lang="en-US" sz="2800" dirty="0">
                <a:latin typeface="Calibir"/>
              </a:rPr>
              <a:t>Managers have more permissions than ordinary employees.</a:t>
            </a:r>
          </a:p>
        </p:txBody>
      </p:sp>
    </p:spTree>
    <p:extLst>
      <p:ext uri="{BB962C8B-B14F-4D97-AF65-F5344CB8AC3E}">
        <p14:creationId xmlns:p14="http://schemas.microsoft.com/office/powerpoint/2010/main" val="76701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5C90253-312C-69C1-999B-9A9DD9BFC7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597D15-479E-A087-5EEE-831CDAA6719A}"/>
              </a:ext>
            </a:extLst>
          </p:cNvPr>
          <p:cNvSpPr txBox="1"/>
          <p:nvPr/>
        </p:nvSpPr>
        <p:spPr>
          <a:xfrm>
            <a:off x="0" y="-133807"/>
            <a:ext cx="12192000" cy="6488828"/>
          </a:xfrm>
          <a:prstGeom prst="rect">
            <a:avLst/>
          </a:prstGeom>
          <a:noFill/>
        </p:spPr>
        <p:txBody>
          <a:bodyPr wrap="square">
            <a:spAutoFit/>
          </a:bodyPr>
          <a:lstStyle/>
          <a:p>
            <a:pPr>
              <a:lnSpc>
                <a:spcPct val="150000"/>
              </a:lnSpc>
              <a:buNone/>
            </a:pPr>
            <a:r>
              <a:rPr lang="en-US" sz="2800" b="1" dirty="0">
                <a:latin typeface="Calibir"/>
              </a:rPr>
              <a:t>Can every employee remove customers?</a:t>
            </a:r>
            <a:endParaRPr lang="en-US" sz="2800" dirty="0">
              <a:latin typeface="Calibir"/>
            </a:endParaRPr>
          </a:p>
          <a:p>
            <a:pPr>
              <a:lnSpc>
                <a:spcPct val="150000"/>
              </a:lnSpc>
              <a:buNone/>
            </a:pPr>
            <a:r>
              <a:rPr lang="en-US" sz="2800" dirty="0">
                <a:latin typeface="Calibir"/>
              </a:rPr>
              <a:t>No.</a:t>
            </a:r>
          </a:p>
          <a:p>
            <a:pPr>
              <a:lnSpc>
                <a:spcPct val="150000"/>
              </a:lnSpc>
              <a:buNone/>
            </a:pPr>
            <a:r>
              <a:rPr lang="en-US" sz="2800" dirty="0">
                <a:latin typeface="Calibir"/>
              </a:rPr>
              <a:t>Only the Manager.</a:t>
            </a:r>
          </a:p>
          <a:p>
            <a:pPr>
              <a:lnSpc>
                <a:spcPct val="150000"/>
              </a:lnSpc>
              <a:buNone/>
            </a:pPr>
            <a:r>
              <a:rPr lang="en-US" sz="2800" b="1" dirty="0">
                <a:latin typeface="Calibir"/>
              </a:rPr>
              <a:t>6. Branch Class</a:t>
            </a:r>
          </a:p>
          <a:p>
            <a:pPr>
              <a:lnSpc>
                <a:spcPct val="150000"/>
              </a:lnSpc>
              <a:buNone/>
            </a:pPr>
            <a:r>
              <a:rPr lang="en-US" sz="2800" b="1" dirty="0">
                <a:latin typeface="Calibir"/>
              </a:rPr>
              <a:t>Question) Why do we need a Branch class?</a:t>
            </a:r>
            <a:endParaRPr lang="en-US" sz="2800" dirty="0">
              <a:latin typeface="Calibir"/>
            </a:endParaRPr>
          </a:p>
          <a:p>
            <a:pPr>
              <a:lnSpc>
                <a:spcPct val="150000"/>
              </a:lnSpc>
              <a:buNone/>
            </a:pPr>
            <a:r>
              <a:rPr lang="en-US" sz="2800" dirty="0">
                <a:latin typeface="Calibir"/>
              </a:rPr>
              <a:t>The system is installed in bank branches.</a:t>
            </a:r>
          </a:p>
          <a:p>
            <a:pPr>
              <a:lnSpc>
                <a:spcPct val="150000"/>
              </a:lnSpc>
              <a:buNone/>
            </a:pPr>
            <a:r>
              <a:rPr lang="en-US" sz="2800" dirty="0">
                <a:latin typeface="Calibir"/>
              </a:rPr>
              <a:t>Each branch stores</a:t>
            </a:r>
          </a:p>
          <a:p>
            <a:pPr marL="342900" lvl="0" indent="-342900">
              <a:lnSpc>
                <a:spcPct val="150000"/>
              </a:lnSpc>
              <a:buFont typeface="Arial" panose="020B0604020202020204" pitchFamily="34" charset="0"/>
              <a:buChar char="•"/>
            </a:pPr>
            <a:r>
              <a:rPr lang="en-US" sz="2800" dirty="0" err="1">
                <a:latin typeface="Calibir"/>
              </a:rPr>
              <a:t>branchId</a:t>
            </a:r>
            <a:r>
              <a:rPr lang="en-US" sz="2800" dirty="0">
                <a:latin typeface="Calibir"/>
              </a:rPr>
              <a:t> </a:t>
            </a:r>
          </a:p>
          <a:p>
            <a:pPr marL="342900" lvl="0" indent="-342900">
              <a:lnSpc>
                <a:spcPct val="150000"/>
              </a:lnSpc>
              <a:buFont typeface="Arial" panose="020B0604020202020204" pitchFamily="34" charset="0"/>
              <a:buChar char="•"/>
            </a:pPr>
            <a:r>
              <a:rPr lang="en-US" sz="2800" dirty="0" err="1">
                <a:latin typeface="Calibir"/>
              </a:rPr>
              <a:t>branchName</a:t>
            </a:r>
            <a:r>
              <a:rPr lang="en-US" sz="2800" dirty="0">
                <a:latin typeface="Calibir"/>
              </a:rPr>
              <a:t> </a:t>
            </a:r>
          </a:p>
          <a:p>
            <a:pPr marL="342900" lvl="0" indent="-342900">
              <a:lnSpc>
                <a:spcPct val="150000"/>
              </a:lnSpc>
              <a:buFont typeface="Arial" panose="020B0604020202020204" pitchFamily="34" charset="0"/>
              <a:buChar char="•"/>
            </a:pPr>
            <a:r>
              <a:rPr lang="en-US" sz="2800" dirty="0">
                <a:latin typeface="Calibir"/>
              </a:rPr>
              <a:t>address</a:t>
            </a:r>
          </a:p>
        </p:txBody>
      </p:sp>
    </p:spTree>
    <p:extLst>
      <p:ext uri="{BB962C8B-B14F-4D97-AF65-F5344CB8AC3E}">
        <p14:creationId xmlns:p14="http://schemas.microsoft.com/office/powerpoint/2010/main" val="2867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5F6E9C5-B68B-6BA6-61E6-F3A491A9E7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C683E7-168D-EC60-2648-D21C445771B1}"/>
              </a:ext>
            </a:extLst>
          </p:cNvPr>
          <p:cNvSpPr txBox="1"/>
          <p:nvPr/>
        </p:nvSpPr>
        <p:spPr>
          <a:xfrm>
            <a:off x="0" y="-133807"/>
            <a:ext cx="12192000" cy="5842497"/>
          </a:xfrm>
          <a:prstGeom prst="rect">
            <a:avLst/>
          </a:prstGeom>
          <a:noFill/>
        </p:spPr>
        <p:txBody>
          <a:bodyPr wrap="square">
            <a:spAutoFit/>
          </a:bodyPr>
          <a:lstStyle/>
          <a:p>
            <a:pPr>
              <a:lnSpc>
                <a:spcPct val="150000"/>
              </a:lnSpc>
              <a:buNone/>
            </a:pPr>
            <a:r>
              <a:rPr lang="en-US" sz="2800" b="1" dirty="0">
                <a:latin typeface="Calibir"/>
              </a:rPr>
              <a:t>Understanding the Relationships</a:t>
            </a:r>
          </a:p>
          <a:p>
            <a:pPr>
              <a:lnSpc>
                <a:spcPct val="150000"/>
              </a:lnSpc>
              <a:buNone/>
            </a:pPr>
            <a:r>
              <a:rPr lang="en-US" sz="2800" b="1" dirty="0">
                <a:latin typeface="Calibir"/>
              </a:rPr>
              <a:t>Relationship 1</a:t>
            </a:r>
          </a:p>
          <a:p>
            <a:pPr>
              <a:lnSpc>
                <a:spcPct val="150000"/>
              </a:lnSpc>
              <a:buNone/>
            </a:pPr>
            <a:r>
              <a:rPr lang="en-US" sz="2800" b="1" dirty="0">
                <a:latin typeface="Calibir"/>
              </a:rPr>
              <a:t>Customer → Account</a:t>
            </a:r>
          </a:p>
          <a:p>
            <a:pPr>
              <a:lnSpc>
                <a:spcPct val="150000"/>
              </a:lnSpc>
              <a:buNone/>
            </a:pPr>
            <a:r>
              <a:rPr lang="en-US" sz="2800" b="1" dirty="0">
                <a:latin typeface="Calibir"/>
              </a:rPr>
              <a:t>Question) What does this relationship mean?</a:t>
            </a:r>
            <a:endParaRPr lang="en-US" sz="2800" dirty="0">
              <a:latin typeface="Calibir"/>
            </a:endParaRPr>
          </a:p>
          <a:p>
            <a:pPr>
              <a:lnSpc>
                <a:spcPct val="150000"/>
              </a:lnSpc>
              <a:buNone/>
            </a:pPr>
            <a:r>
              <a:rPr lang="en-US" sz="2800" dirty="0">
                <a:latin typeface="Calibir"/>
              </a:rPr>
              <a:t>A customer owns one or more accounts.</a:t>
            </a:r>
          </a:p>
          <a:p>
            <a:pPr>
              <a:lnSpc>
                <a:spcPct val="150000"/>
              </a:lnSpc>
              <a:buNone/>
            </a:pPr>
            <a:r>
              <a:rPr lang="en-US" sz="2800" dirty="0">
                <a:latin typeface="Calibir"/>
              </a:rPr>
              <a:t>Multiplicity</a:t>
            </a:r>
          </a:p>
          <a:p>
            <a:pPr>
              <a:lnSpc>
                <a:spcPct val="150000"/>
              </a:lnSpc>
            </a:pPr>
            <a:r>
              <a:rPr lang="en-US" sz="2800" dirty="0">
                <a:latin typeface="Calibir"/>
              </a:rPr>
              <a:t>1 -------- 1..*</a:t>
            </a:r>
          </a:p>
          <a:p>
            <a:pPr>
              <a:lnSpc>
                <a:spcPct val="150000"/>
              </a:lnSpc>
              <a:buNone/>
            </a:pPr>
            <a:r>
              <a:rPr lang="en-US" sz="2800" dirty="0">
                <a:latin typeface="Calibir"/>
              </a:rPr>
              <a:t>Meaning</a:t>
            </a:r>
          </a:p>
          <a:p>
            <a:pPr>
              <a:lnSpc>
                <a:spcPct val="150000"/>
              </a:lnSpc>
              <a:buNone/>
            </a:pPr>
            <a:r>
              <a:rPr lang="en-US" sz="2800" dirty="0">
                <a:latin typeface="Calibir"/>
              </a:rPr>
              <a:t>One customer has one or many accounts.</a:t>
            </a:r>
          </a:p>
        </p:txBody>
      </p:sp>
    </p:spTree>
    <p:extLst>
      <p:ext uri="{BB962C8B-B14F-4D97-AF65-F5344CB8AC3E}">
        <p14:creationId xmlns:p14="http://schemas.microsoft.com/office/powerpoint/2010/main" val="172506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4392E36-4637-5801-378E-C495BA4949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58F7E3-0C4F-6B2E-4913-54B604AA32E8}"/>
              </a:ext>
            </a:extLst>
          </p:cNvPr>
          <p:cNvSpPr txBox="1"/>
          <p:nvPr/>
        </p:nvSpPr>
        <p:spPr>
          <a:xfrm>
            <a:off x="0" y="-133807"/>
            <a:ext cx="12192000" cy="3903504"/>
          </a:xfrm>
          <a:prstGeom prst="rect">
            <a:avLst/>
          </a:prstGeom>
          <a:noFill/>
        </p:spPr>
        <p:txBody>
          <a:bodyPr wrap="square">
            <a:spAutoFit/>
          </a:bodyPr>
          <a:lstStyle/>
          <a:p>
            <a:pPr>
              <a:lnSpc>
                <a:spcPct val="150000"/>
              </a:lnSpc>
              <a:buNone/>
            </a:pPr>
            <a:r>
              <a:rPr lang="en-US" sz="2800" b="1" dirty="0">
                <a:latin typeface="Calibir"/>
              </a:rPr>
              <a:t>Can two customers share one account?</a:t>
            </a:r>
          </a:p>
          <a:p>
            <a:pPr>
              <a:lnSpc>
                <a:spcPct val="150000"/>
              </a:lnSpc>
              <a:buNone/>
            </a:pPr>
            <a:r>
              <a:rPr lang="en-US" sz="2800" dirty="0">
                <a:latin typeface="Calibir"/>
              </a:rPr>
              <a:t>Depending on the system design,</a:t>
            </a:r>
          </a:p>
          <a:p>
            <a:pPr>
              <a:lnSpc>
                <a:spcPct val="150000"/>
              </a:lnSpc>
              <a:buNone/>
            </a:pPr>
            <a:r>
              <a:rPr lang="en-US" sz="2800" dirty="0">
                <a:latin typeface="Calibir"/>
              </a:rPr>
              <a:t>Yes (joint account)</a:t>
            </a:r>
          </a:p>
          <a:p>
            <a:pPr>
              <a:lnSpc>
                <a:spcPct val="150000"/>
              </a:lnSpc>
              <a:buNone/>
            </a:pPr>
            <a:r>
              <a:rPr lang="en-US" sz="2800" dirty="0">
                <a:latin typeface="Calibir"/>
              </a:rPr>
              <a:t>or</a:t>
            </a:r>
          </a:p>
          <a:p>
            <a:pPr>
              <a:lnSpc>
                <a:spcPct val="150000"/>
              </a:lnSpc>
              <a:buNone/>
            </a:pPr>
            <a:r>
              <a:rPr lang="en-US" sz="2800" dirty="0">
                <a:latin typeface="Calibir"/>
              </a:rPr>
              <a:t>No</a:t>
            </a:r>
          </a:p>
          <a:p>
            <a:pPr>
              <a:lnSpc>
                <a:spcPct val="150000"/>
              </a:lnSpc>
              <a:buNone/>
            </a:pPr>
            <a:r>
              <a:rPr lang="en-US" sz="2800" dirty="0">
                <a:latin typeface="Calibir"/>
              </a:rPr>
              <a:t>Always check the requirements.</a:t>
            </a:r>
          </a:p>
        </p:txBody>
      </p:sp>
    </p:spTree>
    <p:extLst>
      <p:ext uri="{BB962C8B-B14F-4D97-AF65-F5344CB8AC3E}">
        <p14:creationId xmlns:p14="http://schemas.microsoft.com/office/powerpoint/2010/main" val="306256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AFB38FE-8231-D337-F9BF-FDC580BF25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C2CE74-0330-0171-14AD-D2A68319FA0B}"/>
              </a:ext>
            </a:extLst>
          </p:cNvPr>
          <p:cNvSpPr txBox="1"/>
          <p:nvPr/>
        </p:nvSpPr>
        <p:spPr>
          <a:xfrm>
            <a:off x="0" y="-133807"/>
            <a:ext cx="12192000" cy="7135158"/>
          </a:xfrm>
          <a:prstGeom prst="rect">
            <a:avLst/>
          </a:prstGeom>
          <a:noFill/>
        </p:spPr>
        <p:txBody>
          <a:bodyPr wrap="square">
            <a:spAutoFit/>
          </a:bodyPr>
          <a:lstStyle/>
          <a:p>
            <a:pPr>
              <a:lnSpc>
                <a:spcPct val="150000"/>
              </a:lnSpc>
              <a:buNone/>
            </a:pPr>
            <a:r>
              <a:rPr lang="en-US" sz="2800" b="1" dirty="0">
                <a:latin typeface="Calibir"/>
              </a:rPr>
              <a:t>Relationship 2</a:t>
            </a:r>
          </a:p>
          <a:p>
            <a:pPr>
              <a:lnSpc>
                <a:spcPct val="150000"/>
              </a:lnSpc>
              <a:buNone/>
            </a:pPr>
            <a:r>
              <a:rPr lang="en-US" sz="2800" b="1" dirty="0">
                <a:latin typeface="Calibir"/>
              </a:rPr>
              <a:t>Account → Transaction</a:t>
            </a:r>
          </a:p>
          <a:p>
            <a:pPr>
              <a:lnSpc>
                <a:spcPct val="150000"/>
              </a:lnSpc>
              <a:buNone/>
            </a:pPr>
            <a:r>
              <a:rPr lang="en-US" sz="2800" b="1" dirty="0">
                <a:latin typeface="Calibir"/>
              </a:rPr>
              <a:t>Question) Why is Account connected to Transaction?</a:t>
            </a:r>
            <a:endParaRPr lang="en-US" sz="2800" dirty="0">
              <a:latin typeface="Calibir"/>
            </a:endParaRPr>
          </a:p>
          <a:p>
            <a:pPr>
              <a:lnSpc>
                <a:spcPct val="150000"/>
              </a:lnSpc>
              <a:buNone/>
            </a:pPr>
            <a:r>
              <a:rPr lang="en-US" sz="2800" dirty="0">
                <a:latin typeface="Calibir"/>
              </a:rPr>
              <a:t>Each account keeps a history of transactions.</a:t>
            </a:r>
          </a:p>
          <a:p>
            <a:pPr>
              <a:lnSpc>
                <a:spcPct val="150000"/>
              </a:lnSpc>
              <a:buNone/>
            </a:pPr>
            <a:r>
              <a:rPr lang="en-US" sz="2800" dirty="0">
                <a:latin typeface="Calibir"/>
              </a:rPr>
              <a:t>Examples</a:t>
            </a:r>
          </a:p>
          <a:p>
            <a:pPr>
              <a:lnSpc>
                <a:spcPct val="150000"/>
              </a:lnSpc>
              <a:buNone/>
            </a:pPr>
            <a:r>
              <a:rPr lang="en-US" sz="2800" dirty="0">
                <a:latin typeface="Calibir"/>
              </a:rPr>
              <a:t>Deposit </a:t>
            </a:r>
            <a:r>
              <a:rPr lang="en-US" sz="2800" dirty="0">
                <a:latin typeface="Calibir"/>
                <a:sym typeface="Wingdings" panose="05000000000000000000" pitchFamily="2" charset="2"/>
              </a:rPr>
              <a:t> </a:t>
            </a:r>
            <a:r>
              <a:rPr lang="en-US" sz="2800" dirty="0">
                <a:latin typeface="Calibir"/>
              </a:rPr>
              <a:t>Transaction</a:t>
            </a:r>
          </a:p>
          <a:p>
            <a:pPr>
              <a:lnSpc>
                <a:spcPct val="150000"/>
              </a:lnSpc>
              <a:buNone/>
            </a:pPr>
            <a:r>
              <a:rPr lang="en-US" sz="2800" dirty="0">
                <a:latin typeface="Calibir"/>
              </a:rPr>
              <a:t>Withdraw </a:t>
            </a:r>
            <a:r>
              <a:rPr lang="en-US" sz="2800" dirty="0">
                <a:latin typeface="Calibir"/>
                <a:sym typeface="Wingdings" panose="05000000000000000000" pitchFamily="2" charset="2"/>
              </a:rPr>
              <a:t> </a:t>
            </a:r>
            <a:r>
              <a:rPr lang="en-US" sz="2800" dirty="0">
                <a:latin typeface="Calibir"/>
              </a:rPr>
              <a:t>Transaction</a:t>
            </a:r>
          </a:p>
          <a:p>
            <a:pPr>
              <a:lnSpc>
                <a:spcPct val="150000"/>
              </a:lnSpc>
              <a:buNone/>
            </a:pPr>
            <a:r>
              <a:rPr lang="en-US" sz="2800" dirty="0">
                <a:latin typeface="Calibir"/>
              </a:rPr>
              <a:t>Payment </a:t>
            </a:r>
            <a:r>
              <a:rPr lang="en-US" sz="2800" dirty="0">
                <a:latin typeface="Calibir"/>
                <a:sym typeface="Wingdings" panose="05000000000000000000" pitchFamily="2" charset="2"/>
              </a:rPr>
              <a:t> </a:t>
            </a:r>
            <a:r>
              <a:rPr lang="en-US" sz="2800" dirty="0">
                <a:latin typeface="Calibir"/>
              </a:rPr>
              <a:t>Transaction</a:t>
            </a:r>
          </a:p>
          <a:p>
            <a:pPr>
              <a:lnSpc>
                <a:spcPct val="150000"/>
              </a:lnSpc>
              <a:buNone/>
            </a:pPr>
            <a:r>
              <a:rPr lang="en-US" sz="2800" dirty="0">
                <a:latin typeface="Calibir"/>
              </a:rPr>
              <a:t>Multiplicity</a:t>
            </a:r>
          </a:p>
          <a:p>
            <a:pPr>
              <a:lnSpc>
                <a:spcPct val="150000"/>
              </a:lnSpc>
            </a:pPr>
            <a:r>
              <a:rPr lang="en-US" sz="2800" dirty="0">
                <a:latin typeface="Calibir"/>
              </a:rPr>
              <a:t>1 -------- 0..*</a:t>
            </a:r>
          </a:p>
          <a:p>
            <a:pPr>
              <a:lnSpc>
                <a:spcPct val="150000"/>
              </a:lnSpc>
              <a:buNone/>
            </a:pPr>
            <a:r>
              <a:rPr lang="en-US" sz="2800" dirty="0">
                <a:latin typeface="Calibir"/>
              </a:rPr>
              <a:t>Meaning: One account may have many transactions.</a:t>
            </a:r>
          </a:p>
        </p:txBody>
      </p:sp>
    </p:spTree>
    <p:extLst>
      <p:ext uri="{BB962C8B-B14F-4D97-AF65-F5344CB8AC3E}">
        <p14:creationId xmlns:p14="http://schemas.microsoft.com/office/powerpoint/2010/main" val="191399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1000"/>
                                        <p:tgtEl>
                                          <p:spTgt spid="3">
                                            <p:txEl>
                                              <p:pRg st="10" end="10"/>
                                            </p:txEl>
                                          </p:spTgt>
                                        </p:tgtEl>
                                      </p:cBhvr>
                                    </p:animEffect>
                                    <p:anim calcmode="lin" valueType="num">
                                      <p:cBhvr>
                                        <p:cTn id="4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436CBCB-99D9-219F-06B2-31D21525DF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51432C-4FCE-C77B-8602-4F5916810376}"/>
              </a:ext>
            </a:extLst>
          </p:cNvPr>
          <p:cNvSpPr txBox="1"/>
          <p:nvPr/>
        </p:nvSpPr>
        <p:spPr>
          <a:xfrm>
            <a:off x="0" y="-133807"/>
            <a:ext cx="12192000" cy="3903504"/>
          </a:xfrm>
          <a:prstGeom prst="rect">
            <a:avLst/>
          </a:prstGeom>
          <a:noFill/>
        </p:spPr>
        <p:txBody>
          <a:bodyPr wrap="square">
            <a:spAutoFit/>
          </a:bodyPr>
          <a:lstStyle/>
          <a:p>
            <a:pPr>
              <a:lnSpc>
                <a:spcPct val="150000"/>
              </a:lnSpc>
              <a:buNone/>
            </a:pPr>
            <a:r>
              <a:rPr lang="en-US" sz="2800" b="1" dirty="0">
                <a:latin typeface="Calibir"/>
              </a:rPr>
              <a:t>Relationship 3</a:t>
            </a:r>
          </a:p>
          <a:p>
            <a:pPr>
              <a:lnSpc>
                <a:spcPct val="150000"/>
              </a:lnSpc>
              <a:buNone/>
            </a:pPr>
            <a:r>
              <a:rPr lang="en-US" sz="2800" dirty="0">
                <a:latin typeface="Calibir"/>
              </a:rPr>
              <a:t>Employee ← Manager</a:t>
            </a:r>
          </a:p>
          <a:p>
            <a:pPr>
              <a:lnSpc>
                <a:spcPct val="150000"/>
              </a:lnSpc>
              <a:buNone/>
            </a:pPr>
            <a:r>
              <a:rPr lang="en-US" sz="2800" b="1" dirty="0">
                <a:latin typeface="Calibir"/>
              </a:rPr>
              <a:t>Question) What does the triangle mean?</a:t>
            </a:r>
            <a:endParaRPr lang="en-US" sz="2800" dirty="0">
              <a:latin typeface="Calibir"/>
            </a:endParaRPr>
          </a:p>
          <a:p>
            <a:pPr>
              <a:lnSpc>
                <a:spcPct val="150000"/>
              </a:lnSpc>
              <a:buNone/>
            </a:pPr>
            <a:r>
              <a:rPr lang="en-US" sz="2800" dirty="0">
                <a:latin typeface="Calibir"/>
              </a:rPr>
              <a:t>It represents Inheritance.</a:t>
            </a:r>
          </a:p>
          <a:p>
            <a:pPr>
              <a:lnSpc>
                <a:spcPct val="150000"/>
              </a:lnSpc>
              <a:buNone/>
            </a:pPr>
            <a:r>
              <a:rPr lang="en-US" sz="2800" dirty="0">
                <a:latin typeface="Calibir"/>
              </a:rPr>
              <a:t>Manager </a:t>
            </a:r>
            <a:r>
              <a:rPr lang="en-US" sz="2800" dirty="0">
                <a:latin typeface="Calibir"/>
                <a:sym typeface="Wingdings" panose="05000000000000000000" pitchFamily="2" charset="2"/>
              </a:rPr>
              <a:t> </a:t>
            </a:r>
            <a:r>
              <a:rPr lang="en-US" sz="2800" dirty="0">
                <a:latin typeface="Calibir"/>
              </a:rPr>
              <a:t>is an </a:t>
            </a:r>
            <a:r>
              <a:rPr lang="en-US" sz="2800" dirty="0">
                <a:latin typeface="Calibir"/>
                <a:sym typeface="Wingdings" panose="05000000000000000000" pitchFamily="2" charset="2"/>
              </a:rPr>
              <a:t> </a:t>
            </a:r>
            <a:r>
              <a:rPr lang="en-US" sz="2800" dirty="0">
                <a:latin typeface="Calibir"/>
              </a:rPr>
              <a:t>Employee</a:t>
            </a:r>
          </a:p>
          <a:p>
            <a:pPr>
              <a:lnSpc>
                <a:spcPct val="150000"/>
              </a:lnSpc>
              <a:buNone/>
            </a:pPr>
            <a:r>
              <a:rPr lang="en-US" sz="2800" dirty="0">
                <a:latin typeface="Calibir"/>
              </a:rPr>
              <a:t>A manager inherits common employee information.</a:t>
            </a:r>
          </a:p>
        </p:txBody>
      </p:sp>
    </p:spTree>
    <p:extLst>
      <p:ext uri="{BB962C8B-B14F-4D97-AF65-F5344CB8AC3E}">
        <p14:creationId xmlns:p14="http://schemas.microsoft.com/office/powerpoint/2010/main" val="390684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68DA6E8-BED8-7FBC-536B-BB35910FAA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43819C-9C3F-8A98-0B62-362C6C358951}"/>
              </a:ext>
            </a:extLst>
          </p:cNvPr>
          <p:cNvSpPr txBox="1"/>
          <p:nvPr/>
        </p:nvSpPr>
        <p:spPr>
          <a:xfrm>
            <a:off x="0" y="-133807"/>
            <a:ext cx="12192000" cy="7135158"/>
          </a:xfrm>
          <a:prstGeom prst="rect">
            <a:avLst/>
          </a:prstGeom>
          <a:noFill/>
        </p:spPr>
        <p:txBody>
          <a:bodyPr wrap="square">
            <a:spAutoFit/>
          </a:bodyPr>
          <a:lstStyle/>
          <a:p>
            <a:pPr>
              <a:lnSpc>
                <a:spcPct val="150000"/>
              </a:lnSpc>
              <a:buNone/>
            </a:pPr>
            <a:r>
              <a:rPr lang="en-US" sz="2800" b="1" dirty="0">
                <a:latin typeface="Calibir"/>
              </a:rPr>
              <a:t>What information can Manager inherit?</a:t>
            </a:r>
          </a:p>
          <a:p>
            <a:pPr marL="342900" lvl="0" indent="-342900">
              <a:lnSpc>
                <a:spcPct val="150000"/>
              </a:lnSpc>
              <a:buFont typeface="Arial" panose="020B0604020202020204" pitchFamily="34" charset="0"/>
              <a:buChar char="•"/>
            </a:pPr>
            <a:r>
              <a:rPr lang="en-US" sz="2800" dirty="0" err="1">
                <a:latin typeface="Calibir"/>
              </a:rPr>
              <a:t>employeeId</a:t>
            </a:r>
            <a:r>
              <a:rPr lang="en-US" sz="2800" dirty="0">
                <a:latin typeface="Calibir"/>
              </a:rPr>
              <a:t> </a:t>
            </a:r>
          </a:p>
          <a:p>
            <a:pPr marL="342900" lvl="0" indent="-342900">
              <a:lnSpc>
                <a:spcPct val="150000"/>
              </a:lnSpc>
              <a:buFont typeface="Arial" panose="020B0604020202020204" pitchFamily="34" charset="0"/>
              <a:buChar char="•"/>
            </a:pPr>
            <a:r>
              <a:rPr lang="en-US" sz="2800" dirty="0" err="1">
                <a:latin typeface="Calibir"/>
              </a:rPr>
              <a:t>fullName</a:t>
            </a:r>
            <a:r>
              <a:rPr lang="en-US" sz="2800" dirty="0">
                <a:latin typeface="Calibir"/>
              </a:rPr>
              <a:t> </a:t>
            </a:r>
          </a:p>
          <a:p>
            <a:pPr marL="342900" lvl="0" indent="-342900">
              <a:lnSpc>
                <a:spcPct val="150000"/>
              </a:lnSpc>
              <a:buFont typeface="Arial" panose="020B0604020202020204" pitchFamily="34" charset="0"/>
              <a:buChar char="•"/>
            </a:pPr>
            <a:r>
              <a:rPr lang="en-US" sz="2800" dirty="0">
                <a:latin typeface="Calibir"/>
              </a:rPr>
              <a:t>email </a:t>
            </a:r>
          </a:p>
          <a:p>
            <a:pPr marL="342900" lvl="0" indent="-342900">
              <a:lnSpc>
                <a:spcPct val="150000"/>
              </a:lnSpc>
              <a:buFont typeface="Arial" panose="020B0604020202020204" pitchFamily="34" charset="0"/>
              <a:buChar char="•"/>
            </a:pPr>
            <a:r>
              <a:rPr lang="en-US" sz="2800" dirty="0">
                <a:latin typeface="Calibir"/>
              </a:rPr>
              <a:t>phone </a:t>
            </a:r>
          </a:p>
          <a:p>
            <a:pPr>
              <a:lnSpc>
                <a:spcPct val="150000"/>
              </a:lnSpc>
              <a:buNone/>
            </a:pPr>
            <a:r>
              <a:rPr lang="en-US" sz="2800" b="1" dirty="0">
                <a:latin typeface="Calibir"/>
              </a:rPr>
              <a:t>Relationship 4) Manager → Branch</a:t>
            </a:r>
          </a:p>
          <a:p>
            <a:pPr>
              <a:lnSpc>
                <a:spcPct val="150000"/>
              </a:lnSpc>
              <a:buNone/>
            </a:pPr>
            <a:r>
              <a:rPr lang="en-US" sz="2800" b="1" dirty="0">
                <a:latin typeface="Calibir"/>
              </a:rPr>
              <a:t>Question) Why is Manager connected to Branch?</a:t>
            </a:r>
            <a:endParaRPr lang="en-US" sz="2800" dirty="0">
              <a:latin typeface="Calibir"/>
            </a:endParaRPr>
          </a:p>
          <a:p>
            <a:pPr>
              <a:lnSpc>
                <a:spcPct val="150000"/>
              </a:lnSpc>
              <a:buNone/>
            </a:pPr>
            <a:r>
              <a:rPr lang="en-US" sz="2800" dirty="0">
                <a:latin typeface="Calibir"/>
              </a:rPr>
              <a:t>A manager works at a branch.</a:t>
            </a:r>
          </a:p>
          <a:p>
            <a:pPr>
              <a:lnSpc>
                <a:spcPct val="150000"/>
              </a:lnSpc>
              <a:buNone/>
            </a:pPr>
            <a:r>
              <a:rPr lang="en-US" sz="2800" dirty="0">
                <a:latin typeface="Calibir"/>
              </a:rPr>
              <a:t>One manager manages one branch.</a:t>
            </a:r>
          </a:p>
          <a:p>
            <a:pPr>
              <a:lnSpc>
                <a:spcPct val="150000"/>
              </a:lnSpc>
              <a:buNone/>
            </a:pPr>
            <a:r>
              <a:rPr lang="en-US" sz="2800" dirty="0">
                <a:latin typeface="Calibir"/>
              </a:rPr>
              <a:t>One branch has one manager.</a:t>
            </a:r>
          </a:p>
          <a:p>
            <a:pPr>
              <a:lnSpc>
                <a:spcPct val="150000"/>
              </a:lnSpc>
              <a:buNone/>
            </a:pPr>
            <a:r>
              <a:rPr lang="en-US" sz="2800" dirty="0">
                <a:latin typeface="Calibir"/>
              </a:rPr>
              <a:t>(Depending on the system design.)</a:t>
            </a:r>
          </a:p>
        </p:txBody>
      </p:sp>
    </p:spTree>
    <p:extLst>
      <p:ext uri="{BB962C8B-B14F-4D97-AF65-F5344CB8AC3E}">
        <p14:creationId xmlns:p14="http://schemas.microsoft.com/office/powerpoint/2010/main" val="190635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1000"/>
                                        <p:tgtEl>
                                          <p:spTgt spid="3">
                                            <p:txEl>
                                              <p:pRg st="8" end="8"/>
                                            </p:txEl>
                                          </p:spTgt>
                                        </p:tgtEl>
                                      </p:cBhvr>
                                    </p:animEffect>
                                    <p:anim calcmode="lin" valueType="num">
                                      <p:cBhvr>
                                        <p:cTn id="2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8" end="8"/>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1000"/>
                                        <p:tgtEl>
                                          <p:spTgt spid="3">
                                            <p:txEl>
                                              <p:pRg st="9" end="9"/>
                                            </p:txEl>
                                          </p:spTgt>
                                        </p:tgtEl>
                                      </p:cBhvr>
                                    </p:animEffect>
                                    <p:anim calcmode="lin" valueType="num">
                                      <p:cBhvr>
                                        <p:cTn id="3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1000"/>
                                        <p:tgtEl>
                                          <p:spTgt spid="3">
                                            <p:txEl>
                                              <p:pRg st="10" end="10"/>
                                            </p:txEl>
                                          </p:spTgt>
                                        </p:tgtEl>
                                      </p:cBhvr>
                                    </p:animEffect>
                                    <p:anim calcmode="lin" valueType="num">
                                      <p:cBhvr>
                                        <p:cTn id="3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017BBE4-D974-3BDB-F18C-8EA389DD4F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FC0602-73CF-AB7B-1212-F8152052759D}"/>
              </a:ext>
            </a:extLst>
          </p:cNvPr>
          <p:cNvSpPr txBox="1"/>
          <p:nvPr/>
        </p:nvSpPr>
        <p:spPr>
          <a:xfrm>
            <a:off x="0" y="-133807"/>
            <a:ext cx="12192000" cy="5842497"/>
          </a:xfrm>
          <a:prstGeom prst="rect">
            <a:avLst/>
          </a:prstGeom>
          <a:noFill/>
        </p:spPr>
        <p:txBody>
          <a:bodyPr wrap="square">
            <a:spAutoFit/>
          </a:bodyPr>
          <a:lstStyle/>
          <a:p>
            <a:pPr>
              <a:lnSpc>
                <a:spcPct val="150000"/>
              </a:lnSpc>
              <a:buNone/>
            </a:pPr>
            <a:r>
              <a:rPr lang="en-US" sz="2800" b="1" dirty="0">
                <a:latin typeface="Calibir"/>
              </a:rPr>
              <a:t>Relationship 5</a:t>
            </a:r>
          </a:p>
          <a:p>
            <a:pPr>
              <a:lnSpc>
                <a:spcPct val="150000"/>
              </a:lnSpc>
              <a:buNone/>
            </a:pPr>
            <a:r>
              <a:rPr lang="en-US" sz="2800" b="1" dirty="0">
                <a:latin typeface="Calibir"/>
              </a:rPr>
              <a:t>Branch ◇── Transaction</a:t>
            </a:r>
          </a:p>
          <a:p>
            <a:pPr>
              <a:lnSpc>
                <a:spcPct val="150000"/>
              </a:lnSpc>
              <a:buNone/>
            </a:pPr>
            <a:r>
              <a:rPr lang="en-US" sz="2800" b="1" dirty="0">
                <a:latin typeface="Calibir"/>
              </a:rPr>
              <a:t>Question) What does the white diamond mean?</a:t>
            </a:r>
            <a:endParaRPr lang="en-US" sz="2800" dirty="0">
              <a:latin typeface="Calibir"/>
            </a:endParaRPr>
          </a:p>
          <a:p>
            <a:pPr>
              <a:lnSpc>
                <a:spcPct val="150000"/>
              </a:lnSpc>
              <a:buNone/>
            </a:pPr>
            <a:r>
              <a:rPr lang="en-US" sz="2800" dirty="0">
                <a:latin typeface="Calibir"/>
              </a:rPr>
              <a:t>The white diamond represents aggregation.</a:t>
            </a:r>
          </a:p>
          <a:p>
            <a:pPr>
              <a:lnSpc>
                <a:spcPct val="150000"/>
              </a:lnSpc>
              <a:buNone/>
            </a:pPr>
            <a:r>
              <a:rPr lang="en-US" sz="2800" dirty="0">
                <a:latin typeface="Calibir"/>
              </a:rPr>
              <a:t>Aggregation means a has-a relationship with weak ownership.</a:t>
            </a:r>
          </a:p>
          <a:p>
            <a:pPr>
              <a:lnSpc>
                <a:spcPct val="150000"/>
              </a:lnSpc>
              <a:buNone/>
            </a:pPr>
            <a:r>
              <a:rPr lang="en-US" sz="2800" dirty="0">
                <a:latin typeface="Calibir"/>
              </a:rPr>
              <a:t>Example</a:t>
            </a:r>
          </a:p>
          <a:p>
            <a:pPr>
              <a:lnSpc>
                <a:spcPct val="150000"/>
              </a:lnSpc>
              <a:buNone/>
            </a:pPr>
            <a:r>
              <a:rPr lang="en-US" sz="2800" dirty="0">
                <a:latin typeface="Calibir"/>
              </a:rPr>
              <a:t>A branch has many transactions.</a:t>
            </a:r>
          </a:p>
          <a:p>
            <a:pPr>
              <a:lnSpc>
                <a:spcPct val="150000"/>
              </a:lnSpc>
              <a:buNone/>
            </a:pPr>
            <a:r>
              <a:rPr lang="en-US" sz="2800" dirty="0">
                <a:latin typeface="Calibir"/>
              </a:rPr>
              <a:t>If the branch is removed from the diagram, the transaction records may still exist independently.</a:t>
            </a:r>
          </a:p>
        </p:txBody>
      </p:sp>
    </p:spTree>
    <p:extLst>
      <p:ext uri="{BB962C8B-B14F-4D97-AF65-F5344CB8AC3E}">
        <p14:creationId xmlns:p14="http://schemas.microsoft.com/office/powerpoint/2010/main" val="181638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7B50B33-674F-C436-DB9A-1C2B7E4129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87D809-18C8-0368-A269-0BA58D20A457}"/>
              </a:ext>
            </a:extLst>
          </p:cNvPr>
          <p:cNvSpPr txBox="1"/>
          <p:nvPr/>
        </p:nvSpPr>
        <p:spPr>
          <a:xfrm>
            <a:off x="0" y="-133807"/>
            <a:ext cx="12192000" cy="7135158"/>
          </a:xfrm>
          <a:prstGeom prst="rect">
            <a:avLst/>
          </a:prstGeom>
          <a:noFill/>
        </p:spPr>
        <p:txBody>
          <a:bodyPr wrap="square">
            <a:spAutoFit/>
          </a:bodyPr>
          <a:lstStyle/>
          <a:p>
            <a:pPr>
              <a:lnSpc>
                <a:spcPct val="150000"/>
              </a:lnSpc>
              <a:buNone/>
            </a:pPr>
            <a:r>
              <a:rPr lang="en-US" sz="2800" b="1" dirty="0">
                <a:latin typeface="Calibir"/>
              </a:rPr>
              <a:t>Understanding Multiplicity</a:t>
            </a:r>
          </a:p>
          <a:p>
            <a:pPr>
              <a:lnSpc>
                <a:spcPct val="150000"/>
              </a:lnSpc>
              <a:buNone/>
            </a:pPr>
            <a:r>
              <a:rPr lang="en-US" sz="2800" b="1" dirty="0">
                <a:latin typeface="Calibir"/>
              </a:rPr>
              <a:t>Question) What do these numbers mean?</a:t>
            </a:r>
            <a:endParaRPr lang="en-US" sz="2800" dirty="0">
              <a:latin typeface="Calibir"/>
            </a:endParaRPr>
          </a:p>
          <a:p>
            <a:pPr>
              <a:lnSpc>
                <a:spcPct val="150000"/>
              </a:lnSpc>
            </a:pPr>
            <a:r>
              <a:rPr lang="en-US" sz="2800" dirty="0">
                <a:latin typeface="Calibir"/>
              </a:rPr>
              <a:t>1</a:t>
            </a:r>
          </a:p>
          <a:p>
            <a:pPr>
              <a:lnSpc>
                <a:spcPct val="150000"/>
              </a:lnSpc>
              <a:buNone/>
            </a:pPr>
            <a:r>
              <a:rPr lang="en-US" sz="2800" dirty="0">
                <a:latin typeface="Calibir"/>
              </a:rPr>
              <a:t>Exactly one.</a:t>
            </a:r>
          </a:p>
          <a:p>
            <a:pPr>
              <a:lnSpc>
                <a:spcPct val="150000"/>
              </a:lnSpc>
            </a:pPr>
            <a:r>
              <a:rPr lang="en-US" sz="2800" dirty="0">
                <a:latin typeface="Calibir"/>
              </a:rPr>
              <a:t>0..*</a:t>
            </a:r>
          </a:p>
          <a:p>
            <a:pPr>
              <a:lnSpc>
                <a:spcPct val="150000"/>
              </a:lnSpc>
              <a:buNone/>
            </a:pPr>
            <a:r>
              <a:rPr lang="en-US" sz="2800" dirty="0">
                <a:latin typeface="Calibir"/>
              </a:rPr>
              <a:t>Zero or many.</a:t>
            </a:r>
          </a:p>
          <a:p>
            <a:pPr>
              <a:lnSpc>
                <a:spcPct val="150000"/>
              </a:lnSpc>
            </a:pPr>
            <a:r>
              <a:rPr lang="en-US" sz="2800" dirty="0">
                <a:latin typeface="Calibir"/>
              </a:rPr>
              <a:t>1..*</a:t>
            </a:r>
          </a:p>
          <a:p>
            <a:pPr>
              <a:lnSpc>
                <a:spcPct val="150000"/>
              </a:lnSpc>
              <a:buNone/>
            </a:pPr>
            <a:r>
              <a:rPr lang="en-US" sz="2800" dirty="0">
                <a:latin typeface="Calibir"/>
              </a:rPr>
              <a:t>One or many.</a:t>
            </a:r>
          </a:p>
          <a:p>
            <a:pPr>
              <a:lnSpc>
                <a:spcPct val="150000"/>
              </a:lnSpc>
              <a:buNone/>
            </a:pPr>
            <a:r>
              <a:rPr lang="en-US" sz="2800" b="1" dirty="0">
                <a:latin typeface="Calibir"/>
              </a:rPr>
              <a:t>Example</a:t>
            </a:r>
          </a:p>
          <a:p>
            <a:pPr>
              <a:lnSpc>
                <a:spcPct val="150000"/>
              </a:lnSpc>
              <a:buNone/>
            </a:pPr>
            <a:r>
              <a:rPr lang="en-US" sz="2800" dirty="0">
                <a:latin typeface="Calibir"/>
              </a:rPr>
              <a:t>Customer -&gt; 1 -&gt; Account -&gt; 1..*</a:t>
            </a:r>
          </a:p>
          <a:p>
            <a:pPr>
              <a:lnSpc>
                <a:spcPct val="150000"/>
              </a:lnSpc>
              <a:buNone/>
            </a:pPr>
            <a:r>
              <a:rPr lang="en-US" sz="2800" dirty="0">
                <a:latin typeface="Calibir"/>
              </a:rPr>
              <a:t>Meaning: One customer owns one or more accounts.</a:t>
            </a:r>
          </a:p>
        </p:txBody>
      </p:sp>
    </p:spTree>
    <p:extLst>
      <p:ext uri="{BB962C8B-B14F-4D97-AF65-F5344CB8AC3E}">
        <p14:creationId xmlns:p14="http://schemas.microsoft.com/office/powerpoint/2010/main" val="272940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barn(inVertical)">
                                      <p:cBhvr>
                                        <p:cTn id="25" dur="500"/>
                                        <p:tgtEl>
                                          <p:spTgt spid="3">
                                            <p:txEl>
                                              <p:pRg st="8" end="8"/>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barn(inVertical)">
                                      <p:cBhvr>
                                        <p:cTn id="28" dur="500"/>
                                        <p:tgtEl>
                                          <p:spTgt spid="3">
                                            <p:txEl>
                                              <p:pRg st="9" end="9"/>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Effect transition="in" filter="barn(inVertical)">
                                      <p:cBhvr>
                                        <p:cTn id="3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021D3AB-E7EA-ADEF-9AD4-3EE8696A94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F79505-0EDA-0D12-8C35-4B186317BC1D}"/>
              </a:ext>
            </a:extLst>
          </p:cNvPr>
          <p:cNvSpPr txBox="1"/>
          <p:nvPr/>
        </p:nvSpPr>
        <p:spPr>
          <a:xfrm>
            <a:off x="0" y="-133807"/>
            <a:ext cx="12192000" cy="7135158"/>
          </a:xfrm>
          <a:prstGeom prst="rect">
            <a:avLst/>
          </a:prstGeom>
          <a:noFill/>
        </p:spPr>
        <p:txBody>
          <a:bodyPr wrap="square">
            <a:spAutoFit/>
          </a:bodyPr>
          <a:lstStyle/>
          <a:p>
            <a:pPr>
              <a:lnSpc>
                <a:spcPct val="150000"/>
              </a:lnSpc>
              <a:buNone/>
            </a:pPr>
            <a:r>
              <a:rPr lang="en-US" sz="2800" b="1" dirty="0">
                <a:latin typeface="Calibir"/>
              </a:rPr>
              <a:t>Review Questions) Q1</a:t>
            </a:r>
          </a:p>
          <a:p>
            <a:pPr>
              <a:lnSpc>
                <a:spcPct val="150000"/>
              </a:lnSpc>
              <a:buNone/>
            </a:pPr>
            <a:r>
              <a:rPr lang="en-US" sz="2800" dirty="0">
                <a:latin typeface="Calibir"/>
              </a:rPr>
              <a:t>Which class stores the customer's balance?</a:t>
            </a:r>
          </a:p>
          <a:p>
            <a:pPr>
              <a:lnSpc>
                <a:spcPct val="150000"/>
              </a:lnSpc>
              <a:buNone/>
            </a:pPr>
            <a:r>
              <a:rPr lang="en-US" sz="2800" dirty="0">
                <a:latin typeface="Calibir"/>
              </a:rPr>
              <a:t>Account</a:t>
            </a:r>
          </a:p>
          <a:p>
            <a:pPr>
              <a:lnSpc>
                <a:spcPct val="150000"/>
              </a:lnSpc>
              <a:buNone/>
            </a:pPr>
            <a:r>
              <a:rPr lang="en-US" sz="2800" b="1" dirty="0">
                <a:latin typeface="Calibir"/>
              </a:rPr>
              <a:t>Q2) Which class stores deposits and withdrawals?</a:t>
            </a:r>
          </a:p>
          <a:p>
            <a:pPr>
              <a:lnSpc>
                <a:spcPct val="150000"/>
              </a:lnSpc>
              <a:buNone/>
            </a:pPr>
            <a:r>
              <a:rPr lang="en-US" sz="2800" dirty="0">
                <a:latin typeface="Calibir"/>
              </a:rPr>
              <a:t>Transaction</a:t>
            </a:r>
          </a:p>
          <a:p>
            <a:pPr>
              <a:lnSpc>
                <a:spcPct val="150000"/>
              </a:lnSpc>
              <a:buNone/>
            </a:pPr>
            <a:r>
              <a:rPr lang="en-US" sz="2800" b="1" dirty="0">
                <a:latin typeface="Calibir"/>
              </a:rPr>
              <a:t>Q3) Which class has methods such as deposit()?</a:t>
            </a:r>
          </a:p>
          <a:p>
            <a:pPr>
              <a:lnSpc>
                <a:spcPct val="150000"/>
              </a:lnSpc>
              <a:buNone/>
            </a:pPr>
            <a:r>
              <a:rPr lang="en-US" sz="2800" dirty="0">
                <a:latin typeface="Calibir"/>
              </a:rPr>
              <a:t>Account</a:t>
            </a:r>
          </a:p>
          <a:p>
            <a:pPr>
              <a:lnSpc>
                <a:spcPct val="150000"/>
              </a:lnSpc>
              <a:buNone/>
            </a:pPr>
            <a:r>
              <a:rPr lang="en-US" sz="2800" b="1" dirty="0">
                <a:latin typeface="Calibir"/>
              </a:rPr>
              <a:t>Q4) Which class can add customers?</a:t>
            </a:r>
          </a:p>
          <a:p>
            <a:pPr>
              <a:lnSpc>
                <a:spcPct val="150000"/>
              </a:lnSpc>
              <a:buNone/>
            </a:pPr>
            <a:r>
              <a:rPr lang="en-US" sz="2800" dirty="0">
                <a:latin typeface="Calibir"/>
              </a:rPr>
              <a:t>Manager</a:t>
            </a:r>
          </a:p>
          <a:p>
            <a:pPr>
              <a:lnSpc>
                <a:spcPct val="150000"/>
              </a:lnSpc>
              <a:buNone/>
            </a:pPr>
            <a:r>
              <a:rPr lang="en-US" sz="2800" b="1" dirty="0">
                <a:latin typeface="Calibir"/>
              </a:rPr>
              <a:t>Q5) Which relationship represents inheritance?</a:t>
            </a:r>
          </a:p>
          <a:p>
            <a:pPr>
              <a:lnSpc>
                <a:spcPct val="150000"/>
              </a:lnSpc>
              <a:buNone/>
            </a:pPr>
            <a:r>
              <a:rPr lang="en-US" sz="2800" dirty="0">
                <a:latin typeface="Calibir"/>
              </a:rPr>
              <a:t>Manager → Employee</a:t>
            </a:r>
          </a:p>
        </p:txBody>
      </p:sp>
    </p:spTree>
    <p:extLst>
      <p:ext uri="{BB962C8B-B14F-4D97-AF65-F5344CB8AC3E}">
        <p14:creationId xmlns:p14="http://schemas.microsoft.com/office/powerpoint/2010/main" val="14756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1000"/>
                                        <p:tgtEl>
                                          <p:spTgt spid="3">
                                            <p:txEl>
                                              <p:pRg st="8" end="8"/>
                                            </p:txEl>
                                          </p:spTgt>
                                        </p:tgtEl>
                                      </p:cBhvr>
                                    </p:animEffect>
                                    <p:anim calcmode="lin" valueType="num">
                                      <p:cBhvr>
                                        <p:cTn id="2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1000"/>
                                        <p:tgtEl>
                                          <p:spTgt spid="3">
                                            <p:txEl>
                                              <p:pRg st="10" end="10"/>
                                            </p:txEl>
                                          </p:spTgt>
                                        </p:tgtEl>
                                      </p:cBhvr>
                                    </p:animEffect>
                                    <p:anim calcmode="lin" valueType="num">
                                      <p:cBhvr>
                                        <p:cTn id="2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4C27446-ECCC-52B6-4A8B-F993C49D5B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7B757F-1E8A-DDDF-99C9-6650CD88222F}"/>
              </a:ext>
            </a:extLst>
          </p:cNvPr>
          <p:cNvSpPr txBox="1"/>
          <p:nvPr/>
        </p:nvSpPr>
        <p:spPr>
          <a:xfrm>
            <a:off x="0" y="-133807"/>
            <a:ext cx="12192000" cy="6960047"/>
          </a:xfrm>
          <a:prstGeom prst="rect">
            <a:avLst/>
          </a:prstGeom>
          <a:noFill/>
        </p:spPr>
        <p:txBody>
          <a:bodyPr wrap="square">
            <a:spAutoFit/>
          </a:bodyPr>
          <a:lstStyle/>
          <a:p>
            <a:pPr>
              <a:lnSpc>
                <a:spcPct val="150000"/>
              </a:lnSpc>
              <a:buNone/>
            </a:pPr>
            <a:r>
              <a:rPr lang="en-US" sz="2800" b="1" dirty="0">
                <a:latin typeface="Calibir"/>
              </a:rPr>
              <a:t>Q6) What does 1..* mean?</a:t>
            </a:r>
          </a:p>
          <a:p>
            <a:pPr>
              <a:lnSpc>
                <a:spcPct val="150000"/>
              </a:lnSpc>
              <a:buNone/>
            </a:pPr>
            <a:r>
              <a:rPr lang="en-US" sz="2800" dirty="0">
                <a:latin typeface="Calibir"/>
              </a:rPr>
              <a:t>One or many.</a:t>
            </a:r>
          </a:p>
          <a:p>
            <a:pPr>
              <a:lnSpc>
                <a:spcPct val="150000"/>
              </a:lnSpc>
              <a:buNone/>
            </a:pPr>
            <a:r>
              <a:rPr lang="en-US" sz="2800" b="1" dirty="0">
                <a:latin typeface="Calibir"/>
              </a:rPr>
              <a:t>Final Discussion) Is this the only correct UML Class Diagram?</a:t>
            </a:r>
          </a:p>
          <a:p>
            <a:pPr>
              <a:lnSpc>
                <a:spcPct val="150000"/>
              </a:lnSpc>
              <a:buNone/>
            </a:pPr>
            <a:r>
              <a:rPr lang="en-US" sz="2400" dirty="0">
                <a:latin typeface="Calibir"/>
              </a:rPr>
              <a:t>No.</a:t>
            </a:r>
          </a:p>
          <a:p>
            <a:pPr>
              <a:lnSpc>
                <a:spcPct val="150000"/>
              </a:lnSpc>
              <a:buNone/>
            </a:pPr>
            <a:r>
              <a:rPr lang="en-US" sz="2400" dirty="0">
                <a:latin typeface="Calibir"/>
              </a:rPr>
              <a:t>Software design is not always unique.</a:t>
            </a:r>
          </a:p>
          <a:p>
            <a:pPr>
              <a:lnSpc>
                <a:spcPct val="150000"/>
              </a:lnSpc>
              <a:buNone/>
            </a:pPr>
            <a:r>
              <a:rPr lang="en-US" sz="2400" dirty="0">
                <a:latin typeface="Calibir"/>
              </a:rPr>
              <a:t>Different teams may produce different class diagrams.</a:t>
            </a:r>
          </a:p>
          <a:p>
            <a:pPr>
              <a:lnSpc>
                <a:spcPct val="150000"/>
              </a:lnSpc>
              <a:buNone/>
            </a:pPr>
            <a:r>
              <a:rPr lang="en-US" sz="2400" dirty="0">
                <a:latin typeface="Calibir"/>
              </a:rPr>
              <a:t>As long as the design:</a:t>
            </a:r>
          </a:p>
          <a:p>
            <a:pPr marL="342900" lvl="0" indent="-342900">
              <a:lnSpc>
                <a:spcPct val="150000"/>
              </a:lnSpc>
              <a:buFont typeface="Arial" panose="020B0604020202020204" pitchFamily="34" charset="0"/>
              <a:buChar char="•"/>
            </a:pPr>
            <a:r>
              <a:rPr lang="en-US" sz="2400" dirty="0">
                <a:latin typeface="Calibir"/>
              </a:rPr>
              <a:t>satisfies the requirements, </a:t>
            </a:r>
          </a:p>
          <a:p>
            <a:pPr marL="342900" lvl="0" indent="-342900">
              <a:lnSpc>
                <a:spcPct val="150000"/>
              </a:lnSpc>
              <a:buFont typeface="Arial" panose="020B0604020202020204" pitchFamily="34" charset="0"/>
              <a:buChar char="•"/>
            </a:pPr>
            <a:r>
              <a:rPr lang="en-US" sz="2400" dirty="0">
                <a:latin typeface="Calibir"/>
              </a:rPr>
              <a:t>uses appropriate classes, </a:t>
            </a:r>
          </a:p>
          <a:p>
            <a:pPr marL="342900" lvl="0" indent="-342900">
              <a:lnSpc>
                <a:spcPct val="150000"/>
              </a:lnSpc>
              <a:buFont typeface="Arial" panose="020B0604020202020204" pitchFamily="34" charset="0"/>
              <a:buChar char="•"/>
            </a:pPr>
            <a:r>
              <a:rPr lang="en-US" sz="2400" dirty="0">
                <a:latin typeface="Calibir"/>
              </a:rPr>
              <a:t>defines sensible relationships, </a:t>
            </a:r>
          </a:p>
          <a:p>
            <a:pPr marL="342900" lvl="0" indent="-342900">
              <a:lnSpc>
                <a:spcPct val="150000"/>
              </a:lnSpc>
              <a:buFont typeface="Arial" panose="020B0604020202020204" pitchFamily="34" charset="0"/>
              <a:buChar char="•"/>
            </a:pPr>
            <a:r>
              <a:rPr lang="en-US" sz="2400" dirty="0">
                <a:latin typeface="Calibir"/>
              </a:rPr>
              <a:t>and can be justified, </a:t>
            </a:r>
          </a:p>
          <a:p>
            <a:pPr>
              <a:lnSpc>
                <a:spcPct val="150000"/>
              </a:lnSpc>
              <a:buNone/>
            </a:pPr>
            <a:r>
              <a:rPr lang="en-US" sz="2400" dirty="0">
                <a:latin typeface="Calibir"/>
              </a:rPr>
              <a:t>it may still be a correct solution.</a:t>
            </a:r>
          </a:p>
        </p:txBody>
      </p:sp>
    </p:spTree>
    <p:extLst>
      <p:ext uri="{BB962C8B-B14F-4D97-AF65-F5344CB8AC3E}">
        <p14:creationId xmlns:p14="http://schemas.microsoft.com/office/powerpoint/2010/main" val="294158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1000"/>
                                        <p:tgtEl>
                                          <p:spTgt spid="3">
                                            <p:txEl>
                                              <p:pRg st="10" end="10"/>
                                            </p:txEl>
                                          </p:spTgt>
                                        </p:tgtEl>
                                      </p:cBhvr>
                                    </p:animEffect>
                                    <p:anim calcmode="lin" valueType="num">
                                      <p:cBhvr>
                                        <p:cTn id="4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1000"/>
                                        <p:tgtEl>
                                          <p:spTgt spid="3">
                                            <p:txEl>
                                              <p:pRg st="11" end="11"/>
                                            </p:txEl>
                                          </p:spTgt>
                                        </p:tgtEl>
                                      </p:cBhvr>
                                    </p:animEffect>
                                    <p:anim calcmode="lin" valueType="num">
                                      <p:cBhvr>
                                        <p:cTn id="4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Effect transition="in" filter="fade">
                                      <p:cBhvr>
                                        <p:cTn id="52" dur="1000"/>
                                        <p:tgtEl>
                                          <p:spTgt spid="3">
                                            <p:txEl>
                                              <p:pRg st="1" end="1"/>
                                            </p:txEl>
                                          </p:spTgt>
                                        </p:tgtEl>
                                      </p:cBhvr>
                                    </p:animEffect>
                                    <p:anim calcmode="lin" valueType="num">
                                      <p:cBhvr>
                                        <p:cTn id="5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0CE4B23-E79F-17E1-DD67-7B2C080BE5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252EE6-0906-047F-B1C4-ACA9FCF3E50B}"/>
              </a:ext>
            </a:extLst>
          </p:cNvPr>
          <p:cNvSpPr txBox="1"/>
          <p:nvPr/>
        </p:nvSpPr>
        <p:spPr>
          <a:xfrm>
            <a:off x="801644" y="1800413"/>
            <a:ext cx="10588712" cy="4549835"/>
          </a:xfrm>
          <a:prstGeom prst="rect">
            <a:avLst/>
          </a:prstGeom>
          <a:noFill/>
        </p:spPr>
        <p:txBody>
          <a:bodyPr wrap="square">
            <a:spAutoFit/>
          </a:bodyPr>
          <a:lstStyle/>
          <a:p>
            <a:pPr>
              <a:lnSpc>
                <a:spcPct val="150000"/>
              </a:lnSpc>
              <a:buNone/>
            </a:pPr>
            <a:r>
              <a:rPr lang="en-US" sz="2800" b="1" dirty="0">
                <a:latin typeface="Calibir"/>
              </a:rPr>
              <a:t>Question 18) Which use case creates the method deposit()?</a:t>
            </a:r>
          </a:p>
          <a:p>
            <a:pPr>
              <a:lnSpc>
                <a:spcPct val="150000"/>
              </a:lnSpc>
              <a:buNone/>
            </a:pPr>
            <a:r>
              <a:rPr lang="en-US" sz="2800" dirty="0">
                <a:latin typeface="Calibir"/>
              </a:rPr>
              <a:t>Use case</a:t>
            </a:r>
          </a:p>
          <a:p>
            <a:pPr>
              <a:lnSpc>
                <a:spcPct val="150000"/>
              </a:lnSpc>
              <a:buNone/>
            </a:pPr>
            <a:r>
              <a:rPr lang="en-US" sz="2800" dirty="0">
                <a:latin typeface="Calibir"/>
              </a:rPr>
              <a:t>Make Deposit </a:t>
            </a:r>
            <a:r>
              <a:rPr lang="en-US" sz="2800" dirty="0">
                <a:latin typeface="Calibir"/>
                <a:sym typeface="Wingdings" panose="05000000000000000000" pitchFamily="2" charset="2"/>
              </a:rPr>
              <a:t> </a:t>
            </a:r>
            <a:r>
              <a:rPr lang="en-US" sz="2800" dirty="0">
                <a:latin typeface="Calibir"/>
              </a:rPr>
              <a:t>Method</a:t>
            </a:r>
          </a:p>
          <a:p>
            <a:pPr rtl="0">
              <a:lnSpc>
                <a:spcPct val="150000"/>
              </a:lnSpc>
              <a:buNone/>
            </a:pPr>
            <a:r>
              <a:rPr lang="en-US" sz="2800" dirty="0">
                <a:solidFill>
                  <a:schemeClr val="bg1"/>
                </a:solidFill>
                <a:highlight>
                  <a:srgbClr val="000080"/>
                </a:highlight>
                <a:latin typeface="Calibir"/>
              </a:rPr>
              <a:t>deposit(amount)</a:t>
            </a:r>
          </a:p>
          <a:p>
            <a:pPr>
              <a:lnSpc>
                <a:spcPct val="150000"/>
              </a:lnSpc>
              <a:buNone/>
            </a:pPr>
            <a:r>
              <a:rPr lang="en-US" sz="2800" dirty="0">
                <a:latin typeface="Calibir"/>
              </a:rPr>
              <a:t>The use case becomes </a:t>
            </a:r>
            <a:r>
              <a:rPr lang="en-US" sz="2800" dirty="0" err="1">
                <a:latin typeface="Calibir"/>
              </a:rPr>
              <a:t>behaviour</a:t>
            </a:r>
            <a:r>
              <a:rPr lang="en-US" sz="2800" dirty="0">
                <a:latin typeface="Calibir"/>
              </a:rPr>
              <a:t> inside the Account class.</a:t>
            </a:r>
          </a:p>
          <a:p>
            <a:pPr>
              <a:lnSpc>
                <a:spcPct val="150000"/>
              </a:lnSpc>
            </a:pPr>
            <a:r>
              <a:rPr lang="en-US" sz="2800" dirty="0">
                <a:latin typeface="Calibir"/>
              </a:rPr>
              <a:t>The Make Deposit use case describes an action performed by the user. This action becomes a method inside the Account class.</a:t>
            </a:r>
          </a:p>
        </p:txBody>
      </p:sp>
      <p:sp>
        <p:nvSpPr>
          <p:cNvPr id="5" name="Google Shape;101;p19">
            <a:extLst>
              <a:ext uri="{FF2B5EF4-FFF2-40B4-BE49-F238E27FC236}">
                <a16:creationId xmlns:a16="http://schemas.microsoft.com/office/drawing/2014/main" id="{907928A9-E2DE-48B2-0ECF-A8AEECCFB4FB}"/>
              </a:ext>
            </a:extLst>
          </p:cNvPr>
          <p:cNvSpPr txBox="1">
            <a:spLocks/>
          </p:cNvSpPr>
          <p:nvPr/>
        </p:nvSpPr>
        <p:spPr>
          <a:xfrm>
            <a:off x="0" y="-19612"/>
            <a:ext cx="11362267" cy="89482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kern="0"/>
              <a:t>Lab 2: Interactive Questions</a:t>
            </a:r>
            <a:endParaRPr lang="en-US" kern="0" dirty="0"/>
          </a:p>
        </p:txBody>
      </p:sp>
    </p:spTree>
    <p:extLst>
      <p:ext uri="{BB962C8B-B14F-4D97-AF65-F5344CB8AC3E}">
        <p14:creationId xmlns:p14="http://schemas.microsoft.com/office/powerpoint/2010/main" val="12007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784D700-19B7-79D2-E984-511F5FA886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66F7AD-F4F8-08AC-A186-B3E4CF6534FA}"/>
              </a:ext>
            </a:extLst>
          </p:cNvPr>
          <p:cNvSpPr txBox="1"/>
          <p:nvPr/>
        </p:nvSpPr>
        <p:spPr>
          <a:xfrm>
            <a:off x="0" y="0"/>
            <a:ext cx="6211228" cy="6488828"/>
          </a:xfrm>
          <a:prstGeom prst="rect">
            <a:avLst/>
          </a:prstGeom>
          <a:noFill/>
        </p:spPr>
        <p:txBody>
          <a:bodyPr wrap="square">
            <a:spAutoFit/>
          </a:bodyPr>
          <a:lstStyle/>
          <a:p>
            <a:pPr>
              <a:lnSpc>
                <a:spcPct val="150000"/>
              </a:lnSpc>
              <a:buNone/>
            </a:pPr>
            <a:r>
              <a:rPr lang="en-US" sz="2800" dirty="0">
                <a:latin typeface="Calibir"/>
              </a:rPr>
              <a:t>Java example</a:t>
            </a:r>
          </a:p>
          <a:p>
            <a:pPr rtl="0">
              <a:lnSpc>
                <a:spcPct val="150000"/>
              </a:lnSpc>
              <a:buNone/>
            </a:pPr>
            <a:r>
              <a:rPr lang="en-US" sz="2800" dirty="0">
                <a:solidFill>
                  <a:schemeClr val="bg1"/>
                </a:solidFill>
                <a:highlight>
                  <a:srgbClr val="000080"/>
                </a:highlight>
                <a:latin typeface="Calibir"/>
              </a:rPr>
              <a:t>class Account {</a:t>
            </a:r>
          </a:p>
          <a:p>
            <a:pPr rtl="0">
              <a:lnSpc>
                <a:spcPct val="150000"/>
              </a:lnSpc>
              <a:buNone/>
            </a:pPr>
            <a:r>
              <a:rPr lang="en-US" sz="2800" dirty="0">
                <a:solidFill>
                  <a:schemeClr val="bg1"/>
                </a:solidFill>
                <a:highlight>
                  <a:srgbClr val="000080"/>
                </a:highlight>
                <a:latin typeface="Calibir"/>
              </a:rPr>
              <a:t>    private double balance;</a:t>
            </a:r>
          </a:p>
          <a:p>
            <a:pPr rtl="0">
              <a:lnSpc>
                <a:spcPct val="150000"/>
              </a:lnSpc>
              <a:buNone/>
            </a:pPr>
            <a:r>
              <a:rPr lang="en-US" sz="2800" dirty="0">
                <a:solidFill>
                  <a:schemeClr val="bg1"/>
                </a:solidFill>
                <a:highlight>
                  <a:srgbClr val="000080"/>
                </a:highlight>
                <a:latin typeface="Calibir"/>
              </a:rPr>
              <a:t>    public void deposit(double amount) {</a:t>
            </a:r>
          </a:p>
          <a:p>
            <a:pPr rtl="0">
              <a:lnSpc>
                <a:spcPct val="150000"/>
              </a:lnSpc>
              <a:buNone/>
            </a:pPr>
            <a:r>
              <a:rPr lang="en-US" sz="2800" dirty="0">
                <a:solidFill>
                  <a:schemeClr val="bg1"/>
                </a:solidFill>
                <a:highlight>
                  <a:srgbClr val="000080"/>
                </a:highlight>
                <a:latin typeface="Calibir"/>
              </a:rPr>
              <a:t>        balance = balance + amount;</a:t>
            </a:r>
          </a:p>
          <a:p>
            <a:pPr rtl="0">
              <a:lnSpc>
                <a:spcPct val="150000"/>
              </a:lnSpc>
              <a:buNone/>
            </a:pPr>
            <a:r>
              <a:rPr lang="en-US" sz="2800" dirty="0">
                <a:solidFill>
                  <a:schemeClr val="bg1"/>
                </a:solidFill>
                <a:highlight>
                  <a:srgbClr val="000080"/>
                </a:highlight>
                <a:latin typeface="Calibir"/>
              </a:rPr>
              <a:t>    }</a:t>
            </a:r>
          </a:p>
          <a:p>
            <a:pPr rtl="0">
              <a:lnSpc>
                <a:spcPct val="150000"/>
              </a:lnSpc>
              <a:buNone/>
            </a:pPr>
            <a:r>
              <a:rPr lang="en-US" sz="2800" dirty="0">
                <a:solidFill>
                  <a:schemeClr val="bg1"/>
                </a:solidFill>
                <a:highlight>
                  <a:srgbClr val="000080"/>
                </a:highlight>
                <a:latin typeface="Calibir"/>
              </a:rPr>
              <a:t>}</a:t>
            </a:r>
          </a:p>
          <a:p>
            <a:pPr>
              <a:lnSpc>
                <a:spcPct val="150000"/>
              </a:lnSpc>
              <a:buNone/>
            </a:pPr>
            <a:r>
              <a:rPr lang="en-US" sz="2800" dirty="0">
                <a:latin typeface="Calibir"/>
              </a:rPr>
              <a:t>Example use</a:t>
            </a:r>
          </a:p>
          <a:p>
            <a:pPr>
              <a:lnSpc>
                <a:spcPct val="150000"/>
              </a:lnSpc>
              <a:buNone/>
            </a:pPr>
            <a:r>
              <a:rPr lang="en-US" sz="2800" dirty="0">
                <a:latin typeface="Calibir"/>
              </a:rPr>
              <a:t>Java</a:t>
            </a:r>
          </a:p>
          <a:p>
            <a:pPr rtl="0">
              <a:lnSpc>
                <a:spcPct val="150000"/>
              </a:lnSpc>
              <a:buNone/>
            </a:pPr>
            <a:r>
              <a:rPr lang="en-US" sz="2800" dirty="0" err="1">
                <a:solidFill>
                  <a:schemeClr val="bg1"/>
                </a:solidFill>
                <a:highlight>
                  <a:srgbClr val="000080"/>
                </a:highlight>
                <a:latin typeface="Calibir"/>
              </a:rPr>
              <a:t>account.deposit</a:t>
            </a:r>
            <a:r>
              <a:rPr lang="en-US" sz="2800" dirty="0">
                <a:solidFill>
                  <a:schemeClr val="bg1"/>
                </a:solidFill>
                <a:highlight>
                  <a:srgbClr val="000080"/>
                </a:highlight>
                <a:latin typeface="Calibir"/>
              </a:rPr>
              <a:t>(100.00);</a:t>
            </a:r>
          </a:p>
        </p:txBody>
      </p:sp>
      <p:sp>
        <p:nvSpPr>
          <p:cNvPr id="7" name="TextBox 6">
            <a:extLst>
              <a:ext uri="{FF2B5EF4-FFF2-40B4-BE49-F238E27FC236}">
                <a16:creationId xmlns:a16="http://schemas.microsoft.com/office/drawing/2014/main" id="{76A4B99C-0A3B-377A-57A6-5561A98D7975}"/>
              </a:ext>
            </a:extLst>
          </p:cNvPr>
          <p:cNvSpPr txBox="1"/>
          <p:nvPr/>
        </p:nvSpPr>
        <p:spPr>
          <a:xfrm>
            <a:off x="5980772" y="-12760"/>
            <a:ext cx="6211228" cy="4549835"/>
          </a:xfrm>
          <a:prstGeom prst="rect">
            <a:avLst/>
          </a:prstGeom>
          <a:noFill/>
        </p:spPr>
        <p:txBody>
          <a:bodyPr wrap="square">
            <a:spAutoFit/>
          </a:bodyPr>
          <a:lstStyle/>
          <a:p>
            <a:pPr>
              <a:lnSpc>
                <a:spcPct val="150000"/>
              </a:lnSpc>
              <a:buNone/>
            </a:pPr>
            <a:r>
              <a:rPr lang="en-US" sz="2800" dirty="0">
                <a:latin typeface="Calibir"/>
              </a:rPr>
              <a:t>Python example</a:t>
            </a:r>
          </a:p>
          <a:p>
            <a:pPr rtl="0">
              <a:lnSpc>
                <a:spcPct val="150000"/>
              </a:lnSpc>
              <a:buNone/>
            </a:pPr>
            <a:r>
              <a:rPr lang="en-US" sz="2800" dirty="0">
                <a:solidFill>
                  <a:schemeClr val="bg1"/>
                </a:solidFill>
                <a:highlight>
                  <a:srgbClr val="000080"/>
                </a:highlight>
                <a:latin typeface="Calibir"/>
              </a:rPr>
              <a:t>class Account:</a:t>
            </a:r>
          </a:p>
          <a:p>
            <a:pPr rtl="0">
              <a:lnSpc>
                <a:spcPct val="150000"/>
              </a:lnSpc>
              <a:buNone/>
            </a:pPr>
            <a:r>
              <a:rPr lang="en-US" sz="2800" dirty="0">
                <a:solidFill>
                  <a:schemeClr val="bg1"/>
                </a:solidFill>
                <a:highlight>
                  <a:srgbClr val="000080"/>
                </a:highlight>
                <a:latin typeface="Calibir"/>
              </a:rPr>
              <a:t>    def __</a:t>
            </a:r>
            <a:r>
              <a:rPr lang="en-US" sz="2800" dirty="0" err="1">
                <a:solidFill>
                  <a:schemeClr val="bg1"/>
                </a:solidFill>
                <a:highlight>
                  <a:srgbClr val="000080"/>
                </a:highlight>
                <a:latin typeface="Calibir"/>
              </a:rPr>
              <a:t>init</a:t>
            </a:r>
            <a:r>
              <a:rPr lang="en-US" sz="2800" dirty="0">
                <a:solidFill>
                  <a:schemeClr val="bg1"/>
                </a:solidFill>
                <a:highlight>
                  <a:srgbClr val="000080"/>
                </a:highlight>
                <a:latin typeface="Calibir"/>
              </a:rPr>
              <a:t>__(self):</a:t>
            </a:r>
          </a:p>
          <a:p>
            <a:pPr rtl="0">
              <a:lnSpc>
                <a:spcPct val="150000"/>
              </a:lnSpc>
              <a:buNone/>
            </a:pPr>
            <a:r>
              <a:rPr lang="en-US" sz="2800" dirty="0">
                <a:solidFill>
                  <a:schemeClr val="bg1"/>
                </a:solidFill>
                <a:highlight>
                  <a:srgbClr val="000080"/>
                </a:highlight>
                <a:latin typeface="Calibir"/>
              </a:rPr>
              <a:t>        </a:t>
            </a:r>
            <a:r>
              <a:rPr lang="en-US" sz="2800" dirty="0" err="1">
                <a:solidFill>
                  <a:schemeClr val="bg1"/>
                </a:solidFill>
                <a:highlight>
                  <a:srgbClr val="000080"/>
                </a:highlight>
                <a:latin typeface="Calibir"/>
              </a:rPr>
              <a:t>self.balance</a:t>
            </a:r>
            <a:r>
              <a:rPr lang="en-US" sz="2800" dirty="0">
                <a:solidFill>
                  <a:schemeClr val="bg1"/>
                </a:solidFill>
                <a:highlight>
                  <a:srgbClr val="000080"/>
                </a:highlight>
                <a:latin typeface="Calibir"/>
              </a:rPr>
              <a:t> = 0.0</a:t>
            </a:r>
          </a:p>
          <a:p>
            <a:pPr rtl="0">
              <a:lnSpc>
                <a:spcPct val="150000"/>
              </a:lnSpc>
              <a:buNone/>
            </a:pPr>
            <a:endParaRPr lang="en-US" sz="2800" dirty="0">
              <a:solidFill>
                <a:schemeClr val="bg1"/>
              </a:solidFill>
              <a:highlight>
                <a:srgbClr val="000080"/>
              </a:highlight>
              <a:latin typeface="Calibir"/>
            </a:endParaRPr>
          </a:p>
          <a:p>
            <a:pPr rtl="0">
              <a:lnSpc>
                <a:spcPct val="150000"/>
              </a:lnSpc>
              <a:buNone/>
            </a:pPr>
            <a:r>
              <a:rPr lang="en-US" sz="2800" dirty="0">
                <a:solidFill>
                  <a:schemeClr val="bg1"/>
                </a:solidFill>
                <a:highlight>
                  <a:srgbClr val="000080"/>
                </a:highlight>
                <a:latin typeface="Calibir"/>
              </a:rPr>
              <a:t>    def deposit(self, amount):</a:t>
            </a:r>
          </a:p>
          <a:p>
            <a:pPr rtl="0">
              <a:lnSpc>
                <a:spcPct val="150000"/>
              </a:lnSpc>
              <a:buNone/>
            </a:pPr>
            <a:r>
              <a:rPr lang="en-US" sz="2800" dirty="0">
                <a:solidFill>
                  <a:schemeClr val="bg1"/>
                </a:solidFill>
                <a:highlight>
                  <a:srgbClr val="000080"/>
                </a:highlight>
                <a:latin typeface="Calibir"/>
              </a:rPr>
              <a:t>        </a:t>
            </a:r>
            <a:r>
              <a:rPr lang="en-US" sz="2800" dirty="0" err="1">
                <a:solidFill>
                  <a:schemeClr val="bg1"/>
                </a:solidFill>
                <a:highlight>
                  <a:srgbClr val="000080"/>
                </a:highlight>
                <a:latin typeface="Calibir"/>
              </a:rPr>
              <a:t>self.balance</a:t>
            </a:r>
            <a:r>
              <a:rPr lang="en-US" sz="2800" dirty="0">
                <a:solidFill>
                  <a:schemeClr val="bg1"/>
                </a:solidFill>
                <a:highlight>
                  <a:srgbClr val="000080"/>
                </a:highlight>
                <a:latin typeface="Calibir"/>
              </a:rPr>
              <a:t> = </a:t>
            </a:r>
            <a:r>
              <a:rPr lang="en-US" sz="2800" dirty="0" err="1">
                <a:solidFill>
                  <a:schemeClr val="bg1"/>
                </a:solidFill>
                <a:highlight>
                  <a:srgbClr val="000080"/>
                </a:highlight>
                <a:latin typeface="Calibir"/>
              </a:rPr>
              <a:t>self.balance</a:t>
            </a:r>
            <a:r>
              <a:rPr lang="en-US" sz="2800" dirty="0">
                <a:solidFill>
                  <a:schemeClr val="bg1"/>
                </a:solidFill>
                <a:highlight>
                  <a:srgbClr val="000080"/>
                </a:highlight>
                <a:latin typeface="Calibir"/>
              </a:rPr>
              <a:t> + amount</a:t>
            </a:r>
          </a:p>
        </p:txBody>
      </p:sp>
      <p:sp>
        <p:nvSpPr>
          <p:cNvPr id="9" name="TextBox 8">
            <a:extLst>
              <a:ext uri="{FF2B5EF4-FFF2-40B4-BE49-F238E27FC236}">
                <a16:creationId xmlns:a16="http://schemas.microsoft.com/office/drawing/2014/main" id="{B1D5DC5B-C99E-85ED-A589-55BFD233BF2D}"/>
              </a:ext>
            </a:extLst>
          </p:cNvPr>
          <p:cNvSpPr txBox="1"/>
          <p:nvPr/>
        </p:nvSpPr>
        <p:spPr>
          <a:xfrm>
            <a:off x="6025376" y="4549835"/>
            <a:ext cx="6166624" cy="1318181"/>
          </a:xfrm>
          <a:prstGeom prst="rect">
            <a:avLst/>
          </a:prstGeom>
          <a:noFill/>
        </p:spPr>
        <p:txBody>
          <a:bodyPr wrap="square">
            <a:spAutoFit/>
          </a:bodyPr>
          <a:lstStyle/>
          <a:p>
            <a:pPr>
              <a:lnSpc>
                <a:spcPct val="150000"/>
              </a:lnSpc>
              <a:buNone/>
            </a:pPr>
            <a:r>
              <a:rPr lang="en-US" sz="2800" dirty="0">
                <a:latin typeface="Calibir"/>
              </a:rPr>
              <a:t>Python</a:t>
            </a:r>
          </a:p>
          <a:p>
            <a:pPr rtl="0">
              <a:lnSpc>
                <a:spcPct val="150000"/>
              </a:lnSpc>
              <a:buNone/>
            </a:pPr>
            <a:r>
              <a:rPr lang="en-US" sz="2800" dirty="0" err="1">
                <a:solidFill>
                  <a:schemeClr val="bg1"/>
                </a:solidFill>
                <a:highlight>
                  <a:srgbClr val="000080"/>
                </a:highlight>
                <a:latin typeface="Calibir"/>
              </a:rPr>
              <a:t>account.deposit</a:t>
            </a:r>
            <a:r>
              <a:rPr lang="en-US" sz="2800" dirty="0">
                <a:solidFill>
                  <a:schemeClr val="bg1"/>
                </a:solidFill>
                <a:highlight>
                  <a:srgbClr val="000080"/>
                </a:highlight>
                <a:latin typeface="Calibir"/>
              </a:rPr>
              <a:t>(100.00)</a:t>
            </a:r>
          </a:p>
        </p:txBody>
      </p:sp>
      <p:sp>
        <p:nvSpPr>
          <p:cNvPr id="11" name="TextBox 10">
            <a:extLst>
              <a:ext uri="{FF2B5EF4-FFF2-40B4-BE49-F238E27FC236}">
                <a16:creationId xmlns:a16="http://schemas.microsoft.com/office/drawing/2014/main" id="{1F15F987-676F-4AC4-276F-F6AA4070A91A}"/>
              </a:ext>
            </a:extLst>
          </p:cNvPr>
          <p:cNvSpPr txBox="1"/>
          <p:nvPr/>
        </p:nvSpPr>
        <p:spPr>
          <a:xfrm>
            <a:off x="4527395" y="6154281"/>
            <a:ext cx="8112511" cy="669094"/>
          </a:xfrm>
          <a:prstGeom prst="rect">
            <a:avLst/>
          </a:prstGeom>
          <a:noFill/>
        </p:spPr>
        <p:txBody>
          <a:bodyPr wrap="square">
            <a:spAutoFit/>
          </a:bodyPr>
          <a:lstStyle/>
          <a:p>
            <a:pPr>
              <a:lnSpc>
                <a:spcPct val="150000"/>
              </a:lnSpc>
              <a:buNone/>
            </a:pPr>
            <a:r>
              <a:rPr lang="en-US" sz="2800" dirty="0">
                <a:latin typeface="Calibir"/>
              </a:rPr>
              <a:t>Both examples add $100.00 to the account balance.</a:t>
            </a:r>
            <a:endParaRPr lang="en-US" sz="1800" dirty="0"/>
          </a:p>
        </p:txBody>
      </p:sp>
    </p:spTree>
    <p:extLst>
      <p:ext uri="{BB962C8B-B14F-4D97-AF65-F5344CB8AC3E}">
        <p14:creationId xmlns:p14="http://schemas.microsoft.com/office/powerpoint/2010/main" val="217369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barn(inVertical)">
                                      <p:cBhvr>
                                        <p:cTn id="10" dur="500"/>
                                        <p:tgtEl>
                                          <p:spTgt spid="3">
                                            <p:txEl>
                                              <p:pRg st="7" end="7"/>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barn(inVertical)">
                                      <p:cBhvr>
                                        <p:cTn id="13" dur="500"/>
                                        <p:tgtEl>
                                          <p:spTgt spid="3">
                                            <p:txEl>
                                              <p:pRg st="8" end="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barn(inVertical)">
                                      <p:cBhvr>
                                        <p:cTn id="16" dur="500"/>
                                        <p:tgtEl>
                                          <p:spTgt spid="3">
                                            <p:txEl>
                                              <p:pRg st="9" end="9"/>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circle(in)">
                                      <p:cBhvr>
                                        <p:cTn id="19" dur="2000"/>
                                        <p:tgtEl>
                                          <p:spTgt spid="9">
                                            <p:txEl>
                                              <p:pRg st="0" end="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circle(in)">
                                      <p:cBhvr>
                                        <p:cTn id="22"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54AB492-52FF-ACCC-5D80-9B03AC5C85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911350-35A4-F331-F395-59A77049C306}"/>
              </a:ext>
            </a:extLst>
          </p:cNvPr>
          <p:cNvSpPr txBox="1"/>
          <p:nvPr/>
        </p:nvSpPr>
        <p:spPr>
          <a:xfrm>
            <a:off x="0" y="2123578"/>
            <a:ext cx="12192000" cy="2610843"/>
          </a:xfrm>
          <a:prstGeom prst="rect">
            <a:avLst/>
          </a:prstGeom>
          <a:noFill/>
        </p:spPr>
        <p:txBody>
          <a:bodyPr wrap="square">
            <a:spAutoFit/>
          </a:bodyPr>
          <a:lstStyle/>
          <a:p>
            <a:pPr>
              <a:lnSpc>
                <a:spcPct val="150000"/>
              </a:lnSpc>
              <a:buNone/>
            </a:pPr>
            <a:r>
              <a:rPr lang="en-US" sz="2800" b="1" dirty="0">
                <a:latin typeface="Calibir"/>
              </a:rPr>
              <a:t>Question 19) Why don't we copy the Use Case Diagram directly?</a:t>
            </a:r>
          </a:p>
          <a:p>
            <a:pPr>
              <a:lnSpc>
                <a:spcPct val="150000"/>
              </a:lnSpc>
              <a:buNone/>
            </a:pPr>
            <a:r>
              <a:rPr lang="en-US" sz="2800" dirty="0">
                <a:latin typeface="Calibir"/>
              </a:rPr>
              <a:t>A Use Case Diagram answers: What should the system do?</a:t>
            </a:r>
          </a:p>
          <a:p>
            <a:pPr>
              <a:lnSpc>
                <a:spcPct val="150000"/>
              </a:lnSpc>
              <a:buNone/>
            </a:pPr>
            <a:r>
              <a:rPr lang="en-US" sz="2800" dirty="0">
                <a:latin typeface="Calibir"/>
              </a:rPr>
              <a:t>A Class Diagram answers: How is the software </a:t>
            </a:r>
            <a:r>
              <a:rPr lang="en-US" sz="2800" dirty="0" err="1">
                <a:latin typeface="Calibir"/>
              </a:rPr>
              <a:t>organised</a:t>
            </a:r>
            <a:r>
              <a:rPr lang="en-US" sz="2800" dirty="0">
                <a:latin typeface="Calibir"/>
              </a:rPr>
              <a:t>?</a:t>
            </a:r>
          </a:p>
          <a:p>
            <a:pPr>
              <a:lnSpc>
                <a:spcPct val="150000"/>
              </a:lnSpc>
              <a:buNone/>
            </a:pPr>
            <a:r>
              <a:rPr lang="en-US" sz="2800" dirty="0">
                <a:latin typeface="Calibir"/>
              </a:rPr>
              <a:t>They represent different views of the same system.</a:t>
            </a:r>
          </a:p>
        </p:txBody>
      </p:sp>
      <p:sp>
        <p:nvSpPr>
          <p:cNvPr id="5" name="Google Shape;101;p19">
            <a:extLst>
              <a:ext uri="{FF2B5EF4-FFF2-40B4-BE49-F238E27FC236}">
                <a16:creationId xmlns:a16="http://schemas.microsoft.com/office/drawing/2014/main" id="{D2C256A4-47D1-B7A8-C0B2-6C9196CF89B4}"/>
              </a:ext>
            </a:extLst>
          </p:cNvPr>
          <p:cNvSpPr txBox="1">
            <a:spLocks/>
          </p:cNvSpPr>
          <p:nvPr/>
        </p:nvSpPr>
        <p:spPr>
          <a:xfrm>
            <a:off x="0" y="-19612"/>
            <a:ext cx="11362267" cy="89482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kern="0"/>
              <a:t>Lab 2: Interactive Questions</a:t>
            </a:r>
            <a:endParaRPr lang="en-US" kern="0" dirty="0"/>
          </a:p>
        </p:txBody>
      </p:sp>
    </p:spTree>
    <p:extLst>
      <p:ext uri="{BB962C8B-B14F-4D97-AF65-F5344CB8AC3E}">
        <p14:creationId xmlns:p14="http://schemas.microsoft.com/office/powerpoint/2010/main" val="325799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C8AD35D-1ABB-923F-0A04-4A3CD55D47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F9312E-7DEE-2428-25D8-C4D3CE0C30C7}"/>
              </a:ext>
            </a:extLst>
          </p:cNvPr>
          <p:cNvSpPr txBox="1"/>
          <p:nvPr/>
        </p:nvSpPr>
        <p:spPr>
          <a:xfrm>
            <a:off x="0" y="875212"/>
            <a:ext cx="12192000" cy="5839612"/>
          </a:xfrm>
          <a:prstGeom prst="rect">
            <a:avLst/>
          </a:prstGeom>
          <a:noFill/>
        </p:spPr>
        <p:txBody>
          <a:bodyPr wrap="square">
            <a:spAutoFit/>
          </a:bodyPr>
          <a:lstStyle/>
          <a:p>
            <a:pPr>
              <a:lnSpc>
                <a:spcPct val="150000"/>
              </a:lnSpc>
              <a:buNone/>
            </a:pPr>
            <a:r>
              <a:rPr lang="en-US" sz="2800" b="1" dirty="0">
                <a:latin typeface="Calibir"/>
              </a:rPr>
              <a:t>Question 20) Before submitting your UML Class Diagram, what should you check?</a:t>
            </a:r>
          </a:p>
          <a:p>
            <a:pPr marL="354013">
              <a:lnSpc>
                <a:spcPct val="150000"/>
              </a:lnSpc>
              <a:buNone/>
            </a:pPr>
            <a:r>
              <a:rPr lang="en-US" sz="2800" dirty="0">
                <a:latin typeface="Calibir"/>
              </a:rPr>
              <a:t>✔ Have you identified all important classes?</a:t>
            </a:r>
          </a:p>
          <a:p>
            <a:pPr marL="354013">
              <a:lnSpc>
                <a:spcPct val="150000"/>
              </a:lnSpc>
              <a:buNone/>
            </a:pPr>
            <a:r>
              <a:rPr lang="en-US" sz="2800" dirty="0">
                <a:latin typeface="Calibir"/>
              </a:rPr>
              <a:t>✔ Does every class have meaningful attributes?</a:t>
            </a:r>
          </a:p>
          <a:p>
            <a:pPr marL="354013">
              <a:lnSpc>
                <a:spcPct val="150000"/>
              </a:lnSpc>
              <a:buNone/>
            </a:pPr>
            <a:r>
              <a:rPr lang="en-US" sz="2800" dirty="0">
                <a:latin typeface="Calibir"/>
              </a:rPr>
              <a:t>✔ Does every class have useful methods?</a:t>
            </a:r>
          </a:p>
          <a:p>
            <a:pPr marL="354013">
              <a:lnSpc>
                <a:spcPct val="150000"/>
              </a:lnSpc>
              <a:buNone/>
            </a:pPr>
            <a:r>
              <a:rPr lang="en-US" sz="2800" dirty="0">
                <a:latin typeface="Calibir"/>
              </a:rPr>
              <a:t>✔ Are visibility symbols included?</a:t>
            </a:r>
          </a:p>
          <a:p>
            <a:pPr marL="354013">
              <a:lnSpc>
                <a:spcPct val="150000"/>
              </a:lnSpc>
              <a:buNone/>
            </a:pPr>
            <a:r>
              <a:rPr lang="en-US" sz="2800" dirty="0">
                <a:latin typeface="Calibir"/>
              </a:rPr>
              <a:t>✔ Are relationships shown?</a:t>
            </a:r>
          </a:p>
          <a:p>
            <a:pPr marL="354013">
              <a:lnSpc>
                <a:spcPct val="150000"/>
              </a:lnSpc>
              <a:buNone/>
            </a:pPr>
            <a:r>
              <a:rPr lang="en-US" sz="2800" dirty="0">
                <a:latin typeface="Calibir"/>
              </a:rPr>
              <a:t>✔ Are multiplicities included?</a:t>
            </a:r>
          </a:p>
          <a:p>
            <a:pPr marL="354013">
              <a:lnSpc>
                <a:spcPct val="150000"/>
              </a:lnSpc>
              <a:buNone/>
            </a:pPr>
            <a:r>
              <a:rPr lang="en-US" sz="2800" dirty="0">
                <a:latin typeface="Calibir"/>
              </a:rPr>
              <a:t>✔ Are inheritance relationships shown where appropriate?</a:t>
            </a:r>
          </a:p>
          <a:p>
            <a:pPr marL="354013">
              <a:lnSpc>
                <a:spcPct val="150000"/>
              </a:lnSpc>
              <a:buNone/>
            </a:pPr>
            <a:r>
              <a:rPr lang="en-US" sz="2800" dirty="0">
                <a:latin typeface="Calibir"/>
              </a:rPr>
              <a:t>✔ Is the diagram neat and easy to read?</a:t>
            </a:r>
          </a:p>
        </p:txBody>
      </p:sp>
      <p:sp>
        <p:nvSpPr>
          <p:cNvPr id="2" name="Google Shape;101;p19">
            <a:extLst>
              <a:ext uri="{FF2B5EF4-FFF2-40B4-BE49-F238E27FC236}">
                <a16:creationId xmlns:a16="http://schemas.microsoft.com/office/drawing/2014/main" id="{95E34208-9A4E-B067-F0AB-96E57466F3CA}"/>
              </a:ext>
            </a:extLst>
          </p:cNvPr>
          <p:cNvSpPr txBox="1">
            <a:spLocks/>
          </p:cNvSpPr>
          <p:nvPr/>
        </p:nvSpPr>
        <p:spPr>
          <a:xfrm>
            <a:off x="0" y="-19612"/>
            <a:ext cx="11362267" cy="89482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kern="0"/>
              <a:t>Lab 2: Interactive Questions</a:t>
            </a:r>
            <a:endParaRPr lang="en-US" kern="0" dirty="0"/>
          </a:p>
        </p:txBody>
      </p:sp>
    </p:spTree>
    <p:extLst>
      <p:ext uri="{BB962C8B-B14F-4D97-AF65-F5344CB8AC3E}">
        <p14:creationId xmlns:p14="http://schemas.microsoft.com/office/powerpoint/2010/main" val="259440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5FB454A-E27B-201E-B935-CBB6E373DC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87B282-8A82-2146-E5F6-93801329F9BA}"/>
              </a:ext>
            </a:extLst>
          </p:cNvPr>
          <p:cNvSpPr txBox="1"/>
          <p:nvPr/>
        </p:nvSpPr>
        <p:spPr>
          <a:xfrm>
            <a:off x="0" y="0"/>
            <a:ext cx="12192000" cy="6918689"/>
          </a:xfrm>
          <a:prstGeom prst="rect">
            <a:avLst/>
          </a:prstGeom>
          <a:noFill/>
        </p:spPr>
        <p:txBody>
          <a:bodyPr wrap="square">
            <a:spAutoFit/>
          </a:bodyPr>
          <a:lstStyle/>
          <a:p>
            <a:pPr>
              <a:lnSpc>
                <a:spcPct val="150000"/>
              </a:lnSpc>
              <a:buNone/>
            </a:pPr>
            <a:r>
              <a:rPr lang="en-US" sz="2800" b="1" dirty="0">
                <a:latin typeface="Calibir"/>
              </a:rPr>
              <a:t>Final Discussion Question) Imagine you are the software architect.</a:t>
            </a:r>
          </a:p>
          <a:p>
            <a:pPr>
              <a:lnSpc>
                <a:spcPct val="150000"/>
              </a:lnSpc>
              <a:buNone/>
            </a:pPr>
            <a:r>
              <a:rPr lang="en-US" sz="2800" b="1" dirty="0">
                <a:latin typeface="Calibir"/>
              </a:rPr>
              <a:t>Can you think of any additional classes that would improve </a:t>
            </a:r>
            <a:r>
              <a:rPr lang="en-US" sz="2800" b="1" dirty="0" err="1">
                <a:latin typeface="Calibir"/>
              </a:rPr>
              <a:t>DeskBankApp</a:t>
            </a:r>
            <a:r>
              <a:rPr lang="en-US" sz="2800" b="1" dirty="0">
                <a:latin typeface="Calibir"/>
              </a:rPr>
              <a:t>?</a:t>
            </a:r>
            <a:endParaRPr lang="en-US" sz="2800" dirty="0">
              <a:latin typeface="Calibir"/>
            </a:endParaRPr>
          </a:p>
          <a:p>
            <a:pPr>
              <a:lnSpc>
                <a:spcPct val="150000"/>
              </a:lnSpc>
              <a:buNone/>
            </a:pPr>
            <a:r>
              <a:rPr lang="en-US" sz="2200" dirty="0">
                <a:latin typeface="Calibir"/>
              </a:rPr>
              <a:t>Possible ideas:</a:t>
            </a:r>
          </a:p>
          <a:p>
            <a:pPr marL="342900" lvl="0" indent="-342900">
              <a:lnSpc>
                <a:spcPct val="150000"/>
              </a:lnSpc>
              <a:buFont typeface="Arial" panose="020B0604020202020204" pitchFamily="34" charset="0"/>
              <a:buChar char="•"/>
            </a:pPr>
            <a:r>
              <a:rPr lang="en-US" sz="2200" dirty="0">
                <a:latin typeface="Calibir"/>
              </a:rPr>
              <a:t>Loan </a:t>
            </a:r>
          </a:p>
          <a:p>
            <a:pPr marL="342900" lvl="0" indent="-342900">
              <a:lnSpc>
                <a:spcPct val="150000"/>
              </a:lnSpc>
              <a:buFont typeface="Arial" panose="020B0604020202020204" pitchFamily="34" charset="0"/>
              <a:buChar char="•"/>
            </a:pPr>
            <a:r>
              <a:rPr lang="en-US" sz="2200" dirty="0" err="1">
                <a:latin typeface="Calibir"/>
              </a:rPr>
              <a:t>CreditCard</a:t>
            </a:r>
            <a:r>
              <a:rPr lang="en-US" sz="2200" dirty="0">
                <a:latin typeface="Calibir"/>
              </a:rPr>
              <a:t> </a:t>
            </a:r>
          </a:p>
          <a:p>
            <a:pPr marL="342900" lvl="0" indent="-342900">
              <a:lnSpc>
                <a:spcPct val="150000"/>
              </a:lnSpc>
              <a:buFont typeface="Arial" panose="020B0604020202020204" pitchFamily="34" charset="0"/>
              <a:buChar char="•"/>
            </a:pPr>
            <a:r>
              <a:rPr lang="en-US" sz="2200" dirty="0">
                <a:latin typeface="Calibir"/>
              </a:rPr>
              <a:t>ATM </a:t>
            </a:r>
          </a:p>
          <a:p>
            <a:pPr marL="342900" lvl="0" indent="-342900">
              <a:lnSpc>
                <a:spcPct val="150000"/>
              </a:lnSpc>
              <a:buFont typeface="Arial" panose="020B0604020202020204" pitchFamily="34" charset="0"/>
              <a:buChar char="•"/>
            </a:pPr>
            <a:r>
              <a:rPr lang="en-US" sz="2200" dirty="0">
                <a:latin typeface="Calibir"/>
              </a:rPr>
              <a:t>LoginService </a:t>
            </a:r>
          </a:p>
          <a:p>
            <a:pPr marL="342900" lvl="0" indent="-342900">
              <a:lnSpc>
                <a:spcPct val="150000"/>
              </a:lnSpc>
              <a:buFont typeface="Arial" panose="020B0604020202020204" pitchFamily="34" charset="0"/>
              <a:buChar char="•"/>
            </a:pPr>
            <a:r>
              <a:rPr lang="en-US" sz="2200" dirty="0">
                <a:latin typeface="Calibir"/>
              </a:rPr>
              <a:t>Authentication </a:t>
            </a:r>
          </a:p>
          <a:p>
            <a:pPr marL="342900" lvl="0" indent="-342900">
              <a:lnSpc>
                <a:spcPct val="150000"/>
              </a:lnSpc>
              <a:buFont typeface="Arial" panose="020B0604020202020204" pitchFamily="34" charset="0"/>
              <a:buChar char="•"/>
            </a:pPr>
            <a:r>
              <a:rPr lang="en-US" sz="2200" dirty="0">
                <a:latin typeface="Calibir"/>
              </a:rPr>
              <a:t>Receipt </a:t>
            </a:r>
          </a:p>
          <a:p>
            <a:pPr marL="342900" lvl="0" indent="-342900">
              <a:lnSpc>
                <a:spcPct val="150000"/>
              </a:lnSpc>
              <a:buFont typeface="Arial" panose="020B0604020202020204" pitchFamily="34" charset="0"/>
              <a:buChar char="•"/>
            </a:pPr>
            <a:r>
              <a:rPr lang="en-US" sz="2200" dirty="0">
                <a:latin typeface="Calibir"/>
              </a:rPr>
              <a:t>Payment </a:t>
            </a:r>
          </a:p>
          <a:p>
            <a:pPr marL="342900" lvl="0" indent="-342900">
              <a:lnSpc>
                <a:spcPct val="150000"/>
              </a:lnSpc>
              <a:buFont typeface="Arial" panose="020B0604020202020204" pitchFamily="34" charset="0"/>
              <a:buChar char="•"/>
            </a:pPr>
            <a:r>
              <a:rPr lang="en-US" sz="2200" dirty="0">
                <a:latin typeface="Calibir"/>
              </a:rPr>
              <a:t>Notification </a:t>
            </a:r>
          </a:p>
          <a:p>
            <a:pPr>
              <a:lnSpc>
                <a:spcPct val="150000"/>
              </a:lnSpc>
              <a:buNone/>
            </a:pPr>
            <a:r>
              <a:rPr lang="en-US" sz="2200" dirty="0">
                <a:latin typeface="Calibir"/>
              </a:rPr>
              <a:t>There may be multiple correct answers, provided students can justify why the class is needed and how it supports the system requirements.</a:t>
            </a:r>
            <a:endParaRPr lang="en-US" sz="2800" dirty="0">
              <a:latin typeface="Calibir"/>
            </a:endParaRPr>
          </a:p>
        </p:txBody>
      </p:sp>
    </p:spTree>
    <p:extLst>
      <p:ext uri="{BB962C8B-B14F-4D97-AF65-F5344CB8AC3E}">
        <p14:creationId xmlns:p14="http://schemas.microsoft.com/office/powerpoint/2010/main" val="167972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1000"/>
                                        <p:tgtEl>
                                          <p:spTgt spid="3">
                                            <p:txEl>
                                              <p:pRg st="8" end="8"/>
                                            </p:txEl>
                                          </p:spTgt>
                                        </p:tgtEl>
                                      </p:cBhvr>
                                    </p:animEffect>
                                    <p:anim calcmode="lin" valueType="num">
                                      <p:cBhvr>
                                        <p:cTn id="3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1000"/>
                                        <p:tgtEl>
                                          <p:spTgt spid="3">
                                            <p:txEl>
                                              <p:pRg st="10" end="10"/>
                                            </p:txEl>
                                          </p:spTgt>
                                        </p:tgtEl>
                                      </p:cBhvr>
                                    </p:animEffect>
                                    <p:anim calcmode="lin" valueType="num">
                                      <p:cBhvr>
                                        <p:cTn id="4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1000"/>
                                        <p:tgtEl>
                                          <p:spTgt spid="3">
                                            <p:txEl>
                                              <p:pRg st="11" end="11"/>
                                            </p:txEl>
                                          </p:spTgt>
                                        </p:tgtEl>
                                      </p:cBhvr>
                                    </p:animEffect>
                                    <p:anim calcmode="lin" valueType="num">
                                      <p:cBhvr>
                                        <p:cTn id="5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77421F4-4045-0FB4-F2FB-19BC5614EF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510D44-6E83-409E-A6DF-E694202E8351}"/>
              </a:ext>
            </a:extLst>
          </p:cNvPr>
          <p:cNvSpPr txBox="1"/>
          <p:nvPr/>
        </p:nvSpPr>
        <p:spPr>
          <a:xfrm>
            <a:off x="0" y="1154082"/>
            <a:ext cx="12192000" cy="4549835"/>
          </a:xfrm>
          <a:prstGeom prst="rect">
            <a:avLst/>
          </a:prstGeom>
          <a:noFill/>
        </p:spPr>
        <p:txBody>
          <a:bodyPr wrap="square">
            <a:spAutoFit/>
          </a:bodyPr>
          <a:lstStyle/>
          <a:p>
            <a:pPr>
              <a:lnSpc>
                <a:spcPct val="150000"/>
              </a:lnSpc>
              <a:buNone/>
            </a:pPr>
            <a:r>
              <a:rPr lang="en-US" sz="2800" b="1" dirty="0">
                <a:latin typeface="Calibir"/>
              </a:rPr>
              <a:t>Reflection Question) Wrap-Up</a:t>
            </a:r>
          </a:p>
          <a:p>
            <a:pPr marL="342900" lvl="0" indent="-342900">
              <a:lnSpc>
                <a:spcPct val="150000"/>
              </a:lnSpc>
              <a:buFont typeface="+mj-lt"/>
              <a:buAutoNum type="arabicPeriod"/>
            </a:pPr>
            <a:r>
              <a:rPr lang="en-US" sz="2800" dirty="0">
                <a:latin typeface="Calibir"/>
              </a:rPr>
              <a:t>What is the difference between a class and an object? </a:t>
            </a:r>
          </a:p>
          <a:p>
            <a:pPr marL="342900" lvl="0" indent="-342900">
              <a:lnSpc>
                <a:spcPct val="150000"/>
              </a:lnSpc>
              <a:buFont typeface="+mj-lt"/>
              <a:buAutoNum type="arabicPeriod"/>
            </a:pPr>
            <a:r>
              <a:rPr lang="en-US" sz="2800" dirty="0">
                <a:latin typeface="Calibir"/>
              </a:rPr>
              <a:t>Why do we use classes instead of one large program? </a:t>
            </a:r>
          </a:p>
          <a:p>
            <a:pPr marL="342900" lvl="0" indent="-342900">
              <a:lnSpc>
                <a:spcPct val="150000"/>
              </a:lnSpc>
              <a:buFont typeface="+mj-lt"/>
              <a:buAutoNum type="arabicPeriod"/>
            </a:pPr>
            <a:r>
              <a:rPr lang="en-US" sz="2800" dirty="0">
                <a:latin typeface="Calibir"/>
              </a:rPr>
              <a:t>How do use cases help us identify classes? </a:t>
            </a:r>
          </a:p>
          <a:p>
            <a:pPr marL="342900" lvl="0" indent="-342900">
              <a:lnSpc>
                <a:spcPct val="150000"/>
              </a:lnSpc>
              <a:buFont typeface="+mj-lt"/>
              <a:buAutoNum type="arabicPeriod"/>
            </a:pPr>
            <a:r>
              <a:rPr lang="en-US" sz="2800" dirty="0">
                <a:latin typeface="Calibir"/>
              </a:rPr>
              <a:t>What is the purpose of attributes and methods? </a:t>
            </a:r>
          </a:p>
          <a:p>
            <a:pPr marL="342900" lvl="0" indent="-342900">
              <a:lnSpc>
                <a:spcPct val="150000"/>
              </a:lnSpc>
              <a:buFont typeface="+mj-lt"/>
              <a:buAutoNum type="arabicPeriod"/>
            </a:pPr>
            <a:r>
              <a:rPr lang="en-US" sz="2800" dirty="0">
                <a:latin typeface="Calibir"/>
              </a:rPr>
              <a:t>Why are relationships and multiplicity important in a UML class diagram? </a:t>
            </a:r>
          </a:p>
          <a:p>
            <a:pPr marL="342900" lvl="0" indent="-342900">
              <a:lnSpc>
                <a:spcPct val="150000"/>
              </a:lnSpc>
              <a:buFont typeface="+mj-lt"/>
              <a:buAutoNum type="arabicPeriod"/>
            </a:pPr>
            <a:r>
              <a:rPr lang="en-US" sz="2800" dirty="0">
                <a:latin typeface="Calibir"/>
              </a:rPr>
              <a:t>If the bank later adds a Loan feature, which new classes might you introduce?</a:t>
            </a:r>
          </a:p>
        </p:txBody>
      </p:sp>
      <p:sp>
        <p:nvSpPr>
          <p:cNvPr id="2" name="Google Shape;101;p19">
            <a:extLst>
              <a:ext uri="{FF2B5EF4-FFF2-40B4-BE49-F238E27FC236}">
                <a16:creationId xmlns:a16="http://schemas.microsoft.com/office/drawing/2014/main" id="{7CA192BD-8DF4-9C95-6AC2-10B8CF068352}"/>
              </a:ext>
            </a:extLst>
          </p:cNvPr>
          <p:cNvSpPr txBox="1">
            <a:spLocks/>
          </p:cNvSpPr>
          <p:nvPr/>
        </p:nvSpPr>
        <p:spPr>
          <a:xfrm>
            <a:off x="0" y="-19612"/>
            <a:ext cx="11362267" cy="89482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kern="0"/>
              <a:t>Lab 2: Interactive Questions</a:t>
            </a:r>
            <a:endParaRPr lang="en-US" kern="0" dirty="0"/>
          </a:p>
        </p:txBody>
      </p:sp>
    </p:spTree>
    <p:extLst>
      <p:ext uri="{BB962C8B-B14F-4D97-AF65-F5344CB8AC3E}">
        <p14:creationId xmlns:p14="http://schemas.microsoft.com/office/powerpoint/2010/main" val="16388819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24042"/>
            <a:ext cx="9144000" cy="577517"/>
          </a:xfrm>
        </p:spPr>
        <p:txBody>
          <a:bodyPr>
            <a:normAutofit fontScale="90000"/>
          </a:bodyPr>
          <a:lstStyle/>
          <a:p>
            <a:r>
              <a:rPr lang="en-US" dirty="0">
                <a:solidFill>
                  <a:schemeClr val="tx1"/>
                </a:solidFill>
                <a:latin typeface="Calibir"/>
                <a:cs typeface="Arial" panose="020B0604020202020204" pitchFamily="34" charset="0"/>
              </a:rPr>
              <a:t>Let’s Answer Your Questions</a:t>
            </a:r>
            <a:endParaRPr lang="en-AU" dirty="0">
              <a:solidFill>
                <a:schemeClr val="tx1"/>
              </a:solidFill>
              <a:latin typeface="Calibir"/>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041882"/>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49443" y="3572103"/>
            <a:ext cx="12093114" cy="3261855"/>
          </a:xfrm>
          <a:prstGeom prst="rect">
            <a:avLst/>
          </a:prstGeom>
          <a:noFill/>
        </p:spPr>
        <p:txBody>
          <a:bodyPr wrap="square" rtlCol="0">
            <a:spAutoFit/>
          </a:bodyPr>
          <a:lstStyle/>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Inbox</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Email</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formal communication and attachments.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Discussion</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discussions and general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Reminder</a:t>
            </a:r>
            <a:r>
              <a:rPr kumimoji="0" lang="en-US" sz="2800" b="0" i="0" u="none" strike="noStrike" kern="1200" cap="none" spc="0" normalizeH="0" baseline="0" noProof="0" dirty="0">
                <a:ln>
                  <a:noFill/>
                </a:ln>
                <a:solidFill>
                  <a:prstClr val="black"/>
                </a:solidFill>
                <a:effectLst/>
                <a:uLnTx/>
                <a:uFillTx/>
                <a:latin typeface="Calibir"/>
                <a:ea typeface="+mn-ea"/>
                <a:cs typeface="+mn-cs"/>
              </a:rPr>
              <a:t> – Please follow up if you do not receive a response within 3 business days.</a:t>
            </a:r>
          </a:p>
        </p:txBody>
      </p:sp>
    </p:spTree>
    <p:extLst>
      <p:ext uri="{BB962C8B-B14F-4D97-AF65-F5344CB8AC3E}">
        <p14:creationId xmlns:p14="http://schemas.microsoft.com/office/powerpoint/2010/main" val="21912235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a:t>
            </a:r>
            <a:r>
              <a:rPr kumimoji="0" lang="en-US" sz="2800" b="0" i="0" u="none" strike="noStrike" kern="1200" cap="none" spc="0" normalizeH="0" baseline="0" noProof="0" dirty="0" err="1">
                <a:ln>
                  <a:noFill/>
                </a:ln>
                <a:solidFill>
                  <a:prstClr val="black">
                    <a:alpha val="80000"/>
                  </a:prstClr>
                </a:solidFill>
                <a:effectLst/>
                <a:uLnTx/>
                <a:uFillTx/>
                <a:latin typeface="Calibri" panose="020F0502020204030204"/>
                <a:ea typeface="+mn-ea"/>
                <a:cs typeface="+mn-cs"/>
                <a:hlinkClick r:id="rId4"/>
              </a:rPr>
              <a:t>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710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ux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522</TotalTime>
  <Words>6171</Words>
  <Application>Microsoft Office PowerPoint</Application>
  <PresentationFormat>Widescreen</PresentationFormat>
  <Paragraphs>988</Paragraphs>
  <Slides>118</Slides>
  <Notes>87</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118</vt:i4>
      </vt:variant>
    </vt:vector>
  </HeadingPairs>
  <TitlesOfParts>
    <vt:vector size="130" baseType="lpstr">
      <vt:lpstr>Aptos</vt:lpstr>
      <vt:lpstr>Aptos Display</vt:lpstr>
      <vt:lpstr>Arial</vt:lpstr>
      <vt:lpstr>Calibir</vt:lpstr>
      <vt:lpstr>Calibri</vt:lpstr>
      <vt:lpstr>Calibri Light</vt:lpstr>
      <vt:lpstr>Consolas</vt:lpstr>
      <vt:lpstr>Economica</vt:lpstr>
      <vt:lpstr>Open Sans</vt:lpstr>
      <vt:lpstr>Office Theme</vt:lpstr>
      <vt:lpstr>1_Office Theme</vt:lpstr>
      <vt:lpstr>Luxe</vt:lpstr>
      <vt:lpstr>32555 – Fundamentals of Software Development</vt:lpstr>
      <vt:lpstr>Welcome to 32555 – Fundamentals of Software Development</vt:lpstr>
      <vt:lpstr>Welcome to 32555 – Fundamentals of Software Development</vt:lpstr>
      <vt:lpstr>Classes and Objects</vt:lpstr>
      <vt:lpstr>Classes and Objects</vt:lpstr>
      <vt:lpstr>Classes and Objects</vt:lpstr>
      <vt:lpstr>Koala Class Example in Python</vt:lpstr>
      <vt:lpstr>Activity 1: Add a New Attribute and Print It</vt:lpstr>
      <vt:lpstr>Activity 2: Add a Method to Display a Greeting</vt:lpstr>
      <vt:lpstr>Object-Oriented Paradigm Principles</vt:lpstr>
      <vt:lpstr>Object-Oriented Paradigm Principles</vt:lpstr>
      <vt:lpstr>Abstraction</vt:lpstr>
      <vt:lpstr>Abstraction</vt:lpstr>
      <vt:lpstr>Abstraction</vt:lpstr>
      <vt:lpstr>Using Abstraction in Java with Animal Example</vt:lpstr>
      <vt:lpstr>Using Abstraction in Java with Animal Example</vt:lpstr>
      <vt:lpstr>Encapsulation</vt:lpstr>
      <vt:lpstr>Encapsulation</vt:lpstr>
      <vt:lpstr>Encapsulation Example Account in Python</vt:lpstr>
      <vt:lpstr>Inheritance</vt:lpstr>
      <vt:lpstr>Inheritance</vt:lpstr>
      <vt:lpstr>Inheritance kangaroo example in Java</vt:lpstr>
      <vt:lpstr>Inheritance kangaroo example in Java</vt:lpstr>
      <vt:lpstr>Inheritance kangaroo example in Java</vt:lpstr>
      <vt:lpstr>UML Class Diagram for the Java inheritance example with Animal and Kangaroo</vt:lpstr>
      <vt:lpstr>UML Class Diagram for the Java inheritance example with Animal and Kangaroo</vt:lpstr>
      <vt:lpstr>UML Class Diagram for the Java inheritance example with Animal and Kangaroo</vt:lpstr>
      <vt:lpstr>UML Class Diagram for the Java inheritance example with Animal and Kangaroo</vt:lpstr>
      <vt:lpstr>Key Differences in UML When Representing Python</vt:lpstr>
      <vt:lpstr>UML Class Diagram (Python-style, simplified)</vt:lpstr>
      <vt:lpstr>Polymorphism</vt:lpstr>
      <vt:lpstr>Polymorphism</vt:lpstr>
      <vt:lpstr>Polymorphism Bird Example in Python</vt:lpstr>
      <vt:lpstr>Object-Oriented Design (OOD)</vt:lpstr>
      <vt:lpstr>Object-Oriented Design (OOD)</vt:lpstr>
      <vt:lpstr>Object-Oriented Design (OOD)</vt:lpstr>
      <vt:lpstr>Object-Oriented Design (OOD)</vt:lpstr>
      <vt:lpstr>Understanding UML Class Diagrams (Account Example) – Java Style Notation</vt:lpstr>
      <vt:lpstr>Recommended Tools for Drawing UML Diagrams</vt:lpstr>
      <vt:lpstr>PowerPoint Presentation</vt:lpstr>
      <vt:lpstr>PowerPoint Presentation</vt:lpstr>
      <vt:lpstr>Using Microsoft Visio for UML Diagrams</vt:lpstr>
      <vt:lpstr>Using Microsoft Visio for UML Diagrams</vt:lpstr>
      <vt:lpstr>Using Microsoft Visio for UML Diagrams</vt:lpstr>
      <vt:lpstr>Using Microsoft Visio for UML Diagrams</vt:lpstr>
      <vt:lpstr>Using Microsoft Visio for UML Diagrams</vt:lpstr>
      <vt:lpstr>Lab 2 Exercises</vt:lpstr>
      <vt:lpstr>Lab 2 Exercises</vt:lpstr>
      <vt:lpstr>Lab 2 Exercises</vt:lpstr>
      <vt:lpstr>Lab 2 Exercises</vt:lpstr>
      <vt:lpstr>Lab 2 Exercises</vt:lpstr>
      <vt:lpstr>Lab 2 Exercises</vt:lpstr>
      <vt:lpstr>Lab 2 Exercises</vt:lpstr>
      <vt:lpstr>Lab 2 Exercises</vt:lpstr>
      <vt:lpstr>Lab 2 Practical Steps</vt:lpstr>
      <vt:lpstr>Lab 2: Interactive Questions</vt:lpstr>
      <vt:lpstr>Lab 2: Interactive Questions</vt:lpstr>
      <vt:lpstr>Lab 2: Interactive Questions</vt:lpstr>
      <vt:lpstr>Lab 2: Interactive Questions</vt:lpstr>
      <vt:lpstr>Lab 2: Interactive Questions</vt:lpstr>
      <vt:lpstr>Lab 2: Interactive Questions</vt:lpstr>
      <vt:lpstr>Lab 2: Interactive Questions</vt:lpstr>
      <vt:lpstr>Lab 2: Interactive Questions</vt:lpstr>
      <vt:lpstr>Lab 2: Interactive Questions</vt:lpstr>
      <vt:lpstr>Lab 2: Interactive Questions</vt:lpstr>
      <vt:lpstr>Lab 2: Interactive Questions</vt:lpstr>
      <vt:lpstr>PowerPoint Presentation</vt:lpstr>
      <vt:lpstr>Lab 2: Interactive Questions</vt:lpstr>
      <vt:lpstr>Lab 2: Interactive Questions</vt:lpstr>
      <vt:lpstr>Lab 2: Interactive Questions</vt:lpstr>
      <vt:lpstr>Lab 2: Interactive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169</cp:revision>
  <dcterms:created xsi:type="dcterms:W3CDTF">2025-07-28T16:39:25Z</dcterms:created>
  <dcterms:modified xsi:type="dcterms:W3CDTF">2026-08-06T02:03:05Z</dcterms:modified>
</cp:coreProperties>
</file>